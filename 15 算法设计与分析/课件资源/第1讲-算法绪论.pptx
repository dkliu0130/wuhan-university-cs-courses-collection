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wav" ContentType="audio/x-wav"/>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Lst>
  <p:notesMasterIdLst>
    <p:notesMasterId r:id="rId215"/>
  </p:notesMasterIdLst>
  <p:sldIdLst>
    <p:sldId id="258" r:id="rId2"/>
    <p:sldId id="259" r:id="rId3"/>
    <p:sldId id="261" r:id="rId4"/>
    <p:sldId id="269" r:id="rId5"/>
    <p:sldId id="262" r:id="rId6"/>
    <p:sldId id="263" r:id="rId7"/>
    <p:sldId id="264" r:id="rId8"/>
    <p:sldId id="265" r:id="rId9"/>
    <p:sldId id="266" r:id="rId10"/>
    <p:sldId id="267" r:id="rId11"/>
    <p:sldId id="268" r:id="rId12"/>
    <p:sldId id="494" r:id="rId13"/>
    <p:sldId id="270" r:id="rId14"/>
    <p:sldId id="271" r:id="rId15"/>
    <p:sldId id="272" r:id="rId16"/>
    <p:sldId id="277" r:id="rId17"/>
    <p:sldId id="278" r:id="rId18"/>
    <p:sldId id="279" r:id="rId19"/>
    <p:sldId id="280" r:id="rId20"/>
    <p:sldId id="281" r:id="rId21"/>
    <p:sldId id="282" r:id="rId22"/>
    <p:sldId id="283" r:id="rId23"/>
    <p:sldId id="284" r:id="rId24"/>
    <p:sldId id="285" r:id="rId25"/>
    <p:sldId id="286" r:id="rId26"/>
    <p:sldId id="287" r:id="rId27"/>
    <p:sldId id="288" r:id="rId28"/>
    <p:sldId id="289" r:id="rId29"/>
    <p:sldId id="290" r:id="rId30"/>
    <p:sldId id="291" r:id="rId31"/>
    <p:sldId id="292" r:id="rId32"/>
    <p:sldId id="293" r:id="rId33"/>
    <p:sldId id="294" r:id="rId34"/>
    <p:sldId id="295" r:id="rId35"/>
    <p:sldId id="296" r:id="rId36"/>
    <p:sldId id="297" r:id="rId37"/>
    <p:sldId id="300" r:id="rId38"/>
    <p:sldId id="301" r:id="rId39"/>
    <p:sldId id="302" r:id="rId40"/>
    <p:sldId id="303" r:id="rId41"/>
    <p:sldId id="304" r:id="rId42"/>
    <p:sldId id="305" r:id="rId43"/>
    <p:sldId id="306" r:id="rId44"/>
    <p:sldId id="307" r:id="rId45"/>
    <p:sldId id="308" r:id="rId46"/>
    <p:sldId id="309" r:id="rId47"/>
    <p:sldId id="310" r:id="rId48"/>
    <p:sldId id="311" r:id="rId49"/>
    <p:sldId id="312" r:id="rId50"/>
    <p:sldId id="313" r:id="rId51"/>
    <p:sldId id="314" r:id="rId52"/>
    <p:sldId id="315" r:id="rId53"/>
    <p:sldId id="316" r:id="rId54"/>
    <p:sldId id="317" r:id="rId55"/>
    <p:sldId id="318" r:id="rId56"/>
    <p:sldId id="319" r:id="rId57"/>
    <p:sldId id="320" r:id="rId58"/>
    <p:sldId id="321" r:id="rId59"/>
    <p:sldId id="322" r:id="rId60"/>
    <p:sldId id="323" r:id="rId61"/>
    <p:sldId id="324" r:id="rId62"/>
    <p:sldId id="274" r:id="rId63"/>
    <p:sldId id="275" r:id="rId64"/>
    <p:sldId id="276" r:id="rId65"/>
    <p:sldId id="325" r:id="rId66"/>
    <p:sldId id="326" r:id="rId67"/>
    <p:sldId id="495" r:id="rId68"/>
    <p:sldId id="329" r:id="rId69"/>
    <p:sldId id="330" r:id="rId70"/>
    <p:sldId id="349" r:id="rId71"/>
    <p:sldId id="350" r:id="rId72"/>
    <p:sldId id="351" r:id="rId73"/>
    <p:sldId id="352" r:id="rId74"/>
    <p:sldId id="353" r:id="rId75"/>
    <p:sldId id="354" r:id="rId76"/>
    <p:sldId id="355" r:id="rId77"/>
    <p:sldId id="356" r:id="rId78"/>
    <p:sldId id="357" r:id="rId79"/>
    <p:sldId id="358" r:id="rId80"/>
    <p:sldId id="359" r:id="rId81"/>
    <p:sldId id="360" r:id="rId82"/>
    <p:sldId id="361" r:id="rId83"/>
    <p:sldId id="362" r:id="rId84"/>
    <p:sldId id="363" r:id="rId85"/>
    <p:sldId id="364" r:id="rId86"/>
    <p:sldId id="365" r:id="rId87"/>
    <p:sldId id="366" r:id="rId88"/>
    <p:sldId id="367" r:id="rId89"/>
    <p:sldId id="368" r:id="rId90"/>
    <p:sldId id="369" r:id="rId91"/>
    <p:sldId id="370" r:id="rId92"/>
    <p:sldId id="371" r:id="rId93"/>
    <p:sldId id="372" r:id="rId94"/>
    <p:sldId id="373" r:id="rId95"/>
    <p:sldId id="374" r:id="rId96"/>
    <p:sldId id="375" r:id="rId97"/>
    <p:sldId id="377" r:id="rId98"/>
    <p:sldId id="378" r:id="rId99"/>
    <p:sldId id="379" r:id="rId100"/>
    <p:sldId id="380" r:id="rId101"/>
    <p:sldId id="381" r:id="rId102"/>
    <p:sldId id="382" r:id="rId103"/>
    <p:sldId id="383" r:id="rId104"/>
    <p:sldId id="384" r:id="rId105"/>
    <p:sldId id="385" r:id="rId106"/>
    <p:sldId id="386" r:id="rId107"/>
    <p:sldId id="387" r:id="rId108"/>
    <p:sldId id="388" r:id="rId109"/>
    <p:sldId id="389" r:id="rId110"/>
    <p:sldId id="390" r:id="rId111"/>
    <p:sldId id="391" r:id="rId112"/>
    <p:sldId id="392" r:id="rId113"/>
    <p:sldId id="393" r:id="rId114"/>
    <p:sldId id="394" r:id="rId115"/>
    <p:sldId id="395" r:id="rId116"/>
    <p:sldId id="396" r:id="rId117"/>
    <p:sldId id="397" r:id="rId118"/>
    <p:sldId id="398" r:id="rId119"/>
    <p:sldId id="399" r:id="rId120"/>
    <p:sldId id="400" r:id="rId121"/>
    <p:sldId id="401" r:id="rId122"/>
    <p:sldId id="402" r:id="rId123"/>
    <p:sldId id="403" r:id="rId124"/>
    <p:sldId id="404" r:id="rId125"/>
    <p:sldId id="405" r:id="rId126"/>
    <p:sldId id="406" r:id="rId127"/>
    <p:sldId id="407" r:id="rId128"/>
    <p:sldId id="408" r:id="rId129"/>
    <p:sldId id="409" r:id="rId130"/>
    <p:sldId id="410" r:id="rId131"/>
    <p:sldId id="411" r:id="rId132"/>
    <p:sldId id="412" r:id="rId133"/>
    <p:sldId id="496" r:id="rId134"/>
    <p:sldId id="414" r:id="rId135"/>
    <p:sldId id="415" r:id="rId136"/>
    <p:sldId id="416" r:id="rId137"/>
    <p:sldId id="417" r:id="rId138"/>
    <p:sldId id="418" r:id="rId139"/>
    <p:sldId id="419" r:id="rId140"/>
    <p:sldId id="420" r:id="rId141"/>
    <p:sldId id="421" r:id="rId142"/>
    <p:sldId id="422" r:id="rId143"/>
    <p:sldId id="423" r:id="rId144"/>
    <p:sldId id="424" r:id="rId145"/>
    <p:sldId id="425" r:id="rId146"/>
    <p:sldId id="426" r:id="rId147"/>
    <p:sldId id="427" r:id="rId148"/>
    <p:sldId id="428" r:id="rId149"/>
    <p:sldId id="429" r:id="rId150"/>
    <p:sldId id="430" r:id="rId151"/>
    <p:sldId id="431" r:id="rId152"/>
    <p:sldId id="432" r:id="rId153"/>
    <p:sldId id="433" r:id="rId154"/>
    <p:sldId id="434" r:id="rId155"/>
    <p:sldId id="435" r:id="rId156"/>
    <p:sldId id="436" r:id="rId157"/>
    <p:sldId id="437" r:id="rId158"/>
    <p:sldId id="438" r:id="rId159"/>
    <p:sldId id="439" r:id="rId160"/>
    <p:sldId id="440" r:id="rId161"/>
    <p:sldId id="441" r:id="rId162"/>
    <p:sldId id="442" r:id="rId163"/>
    <p:sldId id="443" r:id="rId164"/>
    <p:sldId id="444" r:id="rId165"/>
    <p:sldId id="445" r:id="rId166"/>
    <p:sldId id="446" r:id="rId167"/>
    <p:sldId id="447" r:id="rId168"/>
    <p:sldId id="448" r:id="rId169"/>
    <p:sldId id="449" r:id="rId170"/>
    <p:sldId id="450" r:id="rId171"/>
    <p:sldId id="451" r:id="rId172"/>
    <p:sldId id="452" r:id="rId173"/>
    <p:sldId id="453" r:id="rId174"/>
    <p:sldId id="454" r:id="rId175"/>
    <p:sldId id="455" r:id="rId176"/>
    <p:sldId id="456" r:id="rId177"/>
    <p:sldId id="457" r:id="rId178"/>
    <p:sldId id="458" r:id="rId179"/>
    <p:sldId id="459" r:id="rId180"/>
    <p:sldId id="460" r:id="rId181"/>
    <p:sldId id="461" r:id="rId182"/>
    <p:sldId id="462" r:id="rId183"/>
    <p:sldId id="463" r:id="rId184"/>
    <p:sldId id="464" r:id="rId185"/>
    <p:sldId id="465" r:id="rId186"/>
    <p:sldId id="466" r:id="rId187"/>
    <p:sldId id="467" r:id="rId188"/>
    <p:sldId id="468" r:id="rId189"/>
    <p:sldId id="469" r:id="rId190"/>
    <p:sldId id="470" r:id="rId191"/>
    <p:sldId id="471" r:id="rId192"/>
    <p:sldId id="472" r:id="rId193"/>
    <p:sldId id="473" r:id="rId194"/>
    <p:sldId id="474" r:id="rId195"/>
    <p:sldId id="475" r:id="rId196"/>
    <p:sldId id="476" r:id="rId197"/>
    <p:sldId id="477" r:id="rId198"/>
    <p:sldId id="478" r:id="rId199"/>
    <p:sldId id="479" r:id="rId200"/>
    <p:sldId id="480" r:id="rId201"/>
    <p:sldId id="481" r:id="rId202"/>
    <p:sldId id="482" r:id="rId203"/>
    <p:sldId id="483" r:id="rId204"/>
    <p:sldId id="484" r:id="rId205"/>
    <p:sldId id="485" r:id="rId206"/>
    <p:sldId id="486" r:id="rId207"/>
    <p:sldId id="487" r:id="rId208"/>
    <p:sldId id="488" r:id="rId209"/>
    <p:sldId id="489" r:id="rId210"/>
    <p:sldId id="490" r:id="rId211"/>
    <p:sldId id="491" r:id="rId212"/>
    <p:sldId id="492" r:id="rId213"/>
    <p:sldId id="493" r:id="rId214"/>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170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presProps" Target="presProps.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viewProps" Target="viewProps.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theme" Target="theme/theme1.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219" Type="http://schemas.openxmlformats.org/officeDocument/2006/relationships/tableStyles" Target="tableStyles.xml"/><Relationship Id="rId3" Type="http://schemas.openxmlformats.org/officeDocument/2006/relationships/slide" Target="slides/slide2.xml"/><Relationship Id="rId214" Type="http://schemas.openxmlformats.org/officeDocument/2006/relationships/slide" Target="slides/slide213.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notesMaster" Target="notesMasters/notesMaster1.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 Id="rId6" Type="http://schemas.openxmlformats.org/officeDocument/2006/relationships/image" Target="../media/image11.wmf"/><Relationship Id="rId5" Type="http://schemas.openxmlformats.org/officeDocument/2006/relationships/image" Target="../media/image10.wmf"/><Relationship Id="rId4"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2.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7.emf"/><Relationship Id="rId1" Type="http://schemas.openxmlformats.org/officeDocument/2006/relationships/image" Target="../media/image16.emf"/><Relationship Id="rId5" Type="http://schemas.openxmlformats.org/officeDocument/2006/relationships/image" Target="../media/image20.emf"/><Relationship Id="rId4" Type="http://schemas.openxmlformats.org/officeDocument/2006/relationships/image" Target="../media/image19.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image" Target="../media/image32.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38.wmf"/><Relationship Id="rId1" Type="http://schemas.openxmlformats.org/officeDocument/2006/relationships/image" Target="../media/image37.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2.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image" Target="../media/image44.wmf"/><Relationship Id="rId1" Type="http://schemas.openxmlformats.org/officeDocument/2006/relationships/image" Target="../media/image43.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image" Target="../media/image53.wmf"/><Relationship Id="rId1" Type="http://schemas.openxmlformats.org/officeDocument/2006/relationships/image" Target="../media/image52.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58.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60.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62.wmf"/><Relationship Id="rId1" Type="http://schemas.openxmlformats.org/officeDocument/2006/relationships/image" Target="../media/image61.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65.wmf"/><Relationship Id="rId1" Type="http://schemas.openxmlformats.org/officeDocument/2006/relationships/image" Target="../media/image64.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68.wmf"/><Relationship Id="rId1" Type="http://schemas.openxmlformats.org/officeDocument/2006/relationships/image" Target="../media/image67.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71.wmf"/><Relationship Id="rId1" Type="http://schemas.openxmlformats.org/officeDocument/2006/relationships/image" Target="../media/image70.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74.wmf"/><Relationship Id="rId2" Type="http://schemas.openxmlformats.org/officeDocument/2006/relationships/image" Target="../media/image73.wmf"/><Relationship Id="rId1" Type="http://schemas.openxmlformats.org/officeDocument/2006/relationships/image" Target="../media/image72.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75.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78.wmf"/><Relationship Id="rId1" Type="http://schemas.openxmlformats.org/officeDocument/2006/relationships/image" Target="../media/image77.w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80.wmf"/><Relationship Id="rId1" Type="http://schemas.openxmlformats.org/officeDocument/2006/relationships/image" Target="../media/image79.w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82.wmf"/><Relationship Id="rId1" Type="http://schemas.openxmlformats.org/officeDocument/2006/relationships/image" Target="../media/image81.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83.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87.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88.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89.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90.e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91.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93.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94.w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95.w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96.w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97.e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98.e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99.emf"/></Relationships>
</file>

<file path=ppt/drawings/_rels/vmlDrawing35.vml.rels><?xml version="1.0" encoding="UTF-8" standalone="yes"?>
<Relationships xmlns="http://schemas.openxmlformats.org/package/2006/relationships"><Relationship Id="rId2" Type="http://schemas.openxmlformats.org/officeDocument/2006/relationships/image" Target="../media/image101.emf"/><Relationship Id="rId1" Type="http://schemas.openxmlformats.org/officeDocument/2006/relationships/image" Target="../media/image100.e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104.emf"/></Relationships>
</file>

<file path=ppt/drawings/_rels/vmlDrawing37.vml.rels><?xml version="1.0" encoding="UTF-8" standalone="yes"?>
<Relationships xmlns="http://schemas.openxmlformats.org/package/2006/relationships"><Relationship Id="rId2" Type="http://schemas.openxmlformats.org/officeDocument/2006/relationships/image" Target="../media/image106.emf"/><Relationship Id="rId1" Type="http://schemas.openxmlformats.org/officeDocument/2006/relationships/image" Target="../media/image105.emf"/></Relationships>
</file>

<file path=ppt/drawings/_rels/vmlDrawing38.vml.rels><?xml version="1.0" encoding="UTF-8" standalone="yes"?>
<Relationships xmlns="http://schemas.openxmlformats.org/package/2006/relationships"><Relationship Id="rId2" Type="http://schemas.openxmlformats.org/officeDocument/2006/relationships/image" Target="../media/image108.emf"/><Relationship Id="rId1" Type="http://schemas.openxmlformats.org/officeDocument/2006/relationships/image" Target="../media/image107.emf"/></Relationships>
</file>

<file path=ppt/drawings/_rels/vmlDrawing39.vml.rels><?xml version="1.0" encoding="UTF-8" standalone="yes"?>
<Relationships xmlns="http://schemas.openxmlformats.org/package/2006/relationships"><Relationship Id="rId2" Type="http://schemas.openxmlformats.org/officeDocument/2006/relationships/image" Target="../media/image111.emf"/><Relationship Id="rId1" Type="http://schemas.openxmlformats.org/officeDocument/2006/relationships/image" Target="../media/image110.e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112.emf"/></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113.e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117.png"/></Relationships>
</file>

<file path=ppt/drawings/_rels/vmlDrawing43.v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image" Target="../media/image118.wmf"/></Relationships>
</file>

<file path=ppt/drawings/_rels/vmlDrawing44.v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image" Target="../media/image120.png"/></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122.wmf"/></Relationships>
</file>

<file path=ppt/drawings/_rels/vmlDrawing46.vml.rels><?xml version="1.0" encoding="UTF-8" standalone="yes"?>
<Relationships xmlns="http://schemas.openxmlformats.org/package/2006/relationships"><Relationship Id="rId1" Type="http://schemas.openxmlformats.org/officeDocument/2006/relationships/image" Target="../media/image124.wmf"/></Relationships>
</file>

<file path=ppt/drawings/_rels/vmlDrawing47.v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image" Target="../media/image125.png"/></Relationships>
</file>

<file path=ppt/drawings/_rels/vmlDrawing48.vml.rels><?xml version="1.0" encoding="UTF-8" standalone="yes"?>
<Relationships xmlns="http://schemas.openxmlformats.org/package/2006/relationships"><Relationship Id="rId1" Type="http://schemas.openxmlformats.org/officeDocument/2006/relationships/image" Target="../media/image127.wmf"/></Relationships>
</file>

<file path=ppt/drawings/_rels/vmlDrawing49.vml.rels><?xml version="1.0" encoding="UTF-8" standalone="yes"?>
<Relationships xmlns="http://schemas.openxmlformats.org/package/2006/relationships"><Relationship Id="rId1" Type="http://schemas.openxmlformats.org/officeDocument/2006/relationships/image" Target="../media/image12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89F19D-0058-496E-8BF7-3344A0807233}" type="datetimeFigureOut">
              <a:rPr lang="zh-CN" altLang="en-US" smtClean="0"/>
              <a:t>2022/11/20</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CAF01E-7A43-4B96-A15F-ED8F987B5B79}" type="slidenum">
              <a:rPr lang="zh-CN" altLang="en-US" smtClean="0"/>
              <a:t>‹#›</a:t>
            </a:fld>
            <a:endParaRPr lang="zh-CN" altLang="en-US"/>
          </a:p>
        </p:txBody>
      </p:sp>
    </p:spTree>
    <p:extLst>
      <p:ext uri="{BB962C8B-B14F-4D97-AF65-F5344CB8AC3E}">
        <p14:creationId xmlns:p14="http://schemas.microsoft.com/office/powerpoint/2010/main" val="6990825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3" Type="http://schemas.openxmlformats.org/officeDocument/2006/relationships/hyperlink" Target="http://baike.baidu.com/view/3762.htm" TargetMode="External"/><Relationship Id="rId2" Type="http://schemas.openxmlformats.org/officeDocument/2006/relationships/slide" Target="../slides/slide34.xml"/><Relationship Id="rId1" Type="http://schemas.openxmlformats.org/officeDocument/2006/relationships/notesMaster" Target="../notesMasters/notesMaster1.xml"/><Relationship Id="rId4" Type="http://schemas.openxmlformats.org/officeDocument/2006/relationships/hyperlink" Target="http://baike.baidu.com/view/17568.htm" TargetMode="Externa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3" Type="http://schemas.openxmlformats.org/officeDocument/2006/relationships/hyperlink" Target="http://baike.baidu.com/view/544149.htm" TargetMode="External"/><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3" Type="http://schemas.openxmlformats.org/officeDocument/2006/relationships/hyperlink" Target="http://baike.baidu.com/view/47398.htm" TargetMode="External"/><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EF52B9F-4347-4430-A465-487979D9E780}" type="slidenum">
              <a:rPr kumimoji="0" lang="en-US"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0" lang="en-US"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20428158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8744D54-9FC5-4719-B01B-95FD5CF38F57}" type="slidenum">
              <a:rPr lang="en-US" altLang="zh-CN" smtClean="0"/>
              <a:pPr>
                <a:spcBef>
                  <a:spcPct val="0"/>
                </a:spcBef>
              </a:pPr>
              <a:t>2</a:t>
            </a:fld>
            <a:endParaRPr lang="en-US" altLang="zh-CN" smtClean="0"/>
          </a:p>
        </p:txBody>
      </p:sp>
      <p:sp>
        <p:nvSpPr>
          <p:cNvPr id="8195" name="Rectangle 2"/>
          <p:cNvSpPr>
            <a:spLocks noGrp="1" noRot="1" noChangeAspect="1" noChangeArrowheads="1" noTextEdit="1"/>
          </p:cNvSpPr>
          <p:nvPr>
            <p:ph type="sldImg"/>
          </p:nvPr>
        </p:nvSpPr>
        <p:spPr>
          <a:ln/>
        </p:spPr>
      </p:sp>
      <p:sp>
        <p:nvSpPr>
          <p:cNvPr id="81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5855796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DFFB665-101B-46AD-8E4C-5AE93ADC48FB}" type="slidenum">
              <a:rPr lang="en-US" altLang="zh-CN" smtClean="0"/>
              <a:pPr>
                <a:spcBef>
                  <a:spcPct val="0"/>
                </a:spcBef>
              </a:pPr>
              <a:t>3</a:t>
            </a:fld>
            <a:endParaRPr lang="en-US" altLang="zh-CN" smtClean="0"/>
          </a:p>
        </p:txBody>
      </p:sp>
      <p:sp>
        <p:nvSpPr>
          <p:cNvPr id="12291" name="Rectangle 2"/>
          <p:cNvSpPr>
            <a:spLocks noGrp="1" noRot="1" noChangeAspect="1" noChangeArrowheads="1" noTextEdit="1"/>
          </p:cNvSpPr>
          <p:nvPr>
            <p:ph type="sldImg"/>
          </p:nvPr>
        </p:nvSpPr>
        <p:spPr>
          <a:ln/>
        </p:spPr>
      </p:sp>
      <p:sp>
        <p:nvSpPr>
          <p:cNvPr id="122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26677897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DFFB665-101B-46AD-8E4C-5AE93ADC48FB}" type="slidenum">
              <a:rPr lang="en-US" altLang="zh-CN" smtClean="0"/>
              <a:pPr>
                <a:spcBef>
                  <a:spcPct val="0"/>
                </a:spcBef>
              </a:pPr>
              <a:t>4</a:t>
            </a:fld>
            <a:endParaRPr lang="en-US" altLang="zh-CN" smtClean="0"/>
          </a:p>
        </p:txBody>
      </p:sp>
      <p:sp>
        <p:nvSpPr>
          <p:cNvPr id="12291" name="Rectangle 2"/>
          <p:cNvSpPr>
            <a:spLocks noGrp="1" noRot="1" noChangeAspect="1" noChangeArrowheads="1" noTextEdit="1"/>
          </p:cNvSpPr>
          <p:nvPr>
            <p:ph type="sldImg"/>
          </p:nvPr>
        </p:nvSpPr>
        <p:spPr>
          <a:ln/>
        </p:spPr>
      </p:sp>
      <p:sp>
        <p:nvSpPr>
          <p:cNvPr id="122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5083069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120FB34-A19C-4EC3-A31A-87D7C89C8626}" type="slidenum">
              <a:rPr lang="en-US" altLang="zh-CN" smtClean="0"/>
              <a:pPr>
                <a:spcBef>
                  <a:spcPct val="0"/>
                </a:spcBef>
              </a:pPr>
              <a:t>5</a:t>
            </a:fld>
            <a:endParaRPr lang="en-US" altLang="zh-CN" smtClean="0"/>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数据结构</a:t>
            </a:r>
            <a:r>
              <a:rPr lang="en-US" altLang="zh-CN" smtClean="0">
                <a:latin typeface="Arial" panose="020B0604020202020204" pitchFamily="34" charset="0"/>
              </a:rPr>
              <a:t>+</a:t>
            </a:r>
            <a:r>
              <a:rPr lang="zh-CN" altLang="en-US" smtClean="0">
                <a:latin typeface="Arial" panose="020B0604020202020204" pitchFamily="34" charset="0"/>
              </a:rPr>
              <a:t>算法</a:t>
            </a:r>
            <a:r>
              <a:rPr lang="en-US" altLang="zh-CN" smtClean="0">
                <a:latin typeface="Arial" panose="020B0604020202020204" pitchFamily="34" charset="0"/>
              </a:rPr>
              <a:t>=</a:t>
            </a:r>
            <a:r>
              <a:rPr lang="zh-CN" altLang="en-US" smtClean="0">
                <a:latin typeface="Arial" panose="020B0604020202020204" pitchFamily="34" charset="0"/>
              </a:rPr>
              <a:t>程序</a:t>
            </a:r>
            <a:endParaRPr lang="en-US" altLang="zh-CN" smtClean="0">
              <a:latin typeface="Arial" panose="020B0604020202020204" pitchFamily="34" charset="0"/>
            </a:endParaRPr>
          </a:p>
          <a:p>
            <a:pPr eaLnBrk="1" hangingPunct="1"/>
            <a:r>
              <a:rPr lang="zh-CN" altLang="en-US" smtClean="0">
                <a:latin typeface="Arial" panose="020B0604020202020204" pitchFamily="34" charset="0"/>
              </a:rPr>
              <a:t>算法是计算机软件的灵魂</a:t>
            </a:r>
            <a:endParaRPr lang="en-US" altLang="zh-CN" smtClean="0">
              <a:latin typeface="Arial" panose="020B0604020202020204" pitchFamily="34" charset="0"/>
            </a:endParaRPr>
          </a:p>
          <a:p>
            <a:pPr eaLnBrk="1" hangingPunct="1"/>
            <a:r>
              <a:rPr lang="en-US" altLang="zh-CN" smtClean="0">
                <a:latin typeface="Arial" panose="020B0604020202020204" pitchFamily="34" charset="0"/>
              </a:rPr>
              <a:t>1</a:t>
            </a:r>
            <a:r>
              <a:rPr lang="zh-CN" altLang="en-US" smtClean="0">
                <a:latin typeface="Arial" panose="020B0604020202020204" pitchFamily="34" charset="0"/>
              </a:rPr>
              <a:t>、在计算机科学领域，算法设计与分析是十分重要，正如</a:t>
            </a:r>
            <a:r>
              <a:rPr lang="en-US" altLang="zh-CN" smtClean="0">
                <a:latin typeface="Arial" panose="020B0604020202020204" pitchFamily="34" charset="0"/>
              </a:rPr>
              <a:t>Donald E.Knuth</a:t>
            </a:r>
            <a:r>
              <a:rPr lang="zh-CN" altLang="en-US" smtClean="0">
                <a:latin typeface="Arial" panose="020B0604020202020204" pitchFamily="34" charset="0"/>
              </a:rPr>
              <a:t>所说：“计算机科学就是算法的研究”。</a:t>
            </a:r>
            <a:endParaRPr lang="en-US" altLang="zh-CN" smtClean="0">
              <a:latin typeface="Arial" panose="020B0604020202020204" pitchFamily="34" charset="0"/>
            </a:endParaRPr>
          </a:p>
          <a:p>
            <a:pPr eaLnBrk="1" hangingPunct="1"/>
            <a:r>
              <a:rPr lang="en-US" altLang="zh-CN" smtClean="0">
                <a:latin typeface="Arial" panose="020B0604020202020204" pitchFamily="34" charset="0"/>
              </a:rPr>
              <a:t>2</a:t>
            </a:r>
            <a:r>
              <a:rPr lang="zh-CN" altLang="en-US" smtClean="0">
                <a:latin typeface="Arial" panose="020B0604020202020204" pitchFamily="34" charset="0"/>
              </a:rPr>
              <a:t>、例子：</a:t>
            </a:r>
            <a:r>
              <a:rPr lang="en-US" altLang="zh-CN" smtClean="0">
                <a:latin typeface="Arial" panose="020B0604020202020204" pitchFamily="34" charset="0"/>
              </a:rPr>
              <a:t>1+1=2</a:t>
            </a:r>
            <a:r>
              <a:rPr lang="zh-CN" altLang="en-US" smtClean="0">
                <a:latin typeface="Arial" panose="020B0604020202020204" pitchFamily="34" charset="0"/>
              </a:rPr>
              <a:t>，解一个方程式，一组数字的排序，寻找最佳路径、寻找班级的最高最低平均分数等。</a:t>
            </a:r>
            <a:endParaRPr lang="en-US" altLang="zh-CN" smtClean="0">
              <a:latin typeface="Arial" panose="020B0604020202020204" pitchFamily="34" charset="0"/>
            </a:endParaRPr>
          </a:p>
          <a:p>
            <a:pPr eaLnBrk="1" hangingPunct="1"/>
            <a:r>
              <a:rPr lang="en-US" altLang="zh-CN" smtClean="0">
                <a:latin typeface="Arial" panose="020B0604020202020204" pitchFamily="34" charset="0"/>
              </a:rPr>
              <a:t>3</a:t>
            </a:r>
            <a:r>
              <a:rPr lang="zh-CN" altLang="en-US" smtClean="0">
                <a:latin typeface="Arial" panose="020B0604020202020204" pitchFamily="34" charset="0"/>
              </a:rPr>
              <a:t>、可解的问题，不可解的问题，需要耗费大量计算的问题等，需要寻找最优算法。</a:t>
            </a:r>
            <a:endParaRPr lang="en-US" altLang="zh-CN" smtClean="0">
              <a:latin typeface="Arial" panose="020B0604020202020204" pitchFamily="34" charset="0"/>
            </a:endParaRPr>
          </a:p>
          <a:p>
            <a:pPr eaLnBrk="1" hangingPunct="1"/>
            <a:r>
              <a:rPr lang="en-US" altLang="zh-CN" smtClean="0">
                <a:latin typeface="Arial" panose="020B0604020202020204" pitchFamily="34" charset="0"/>
              </a:rPr>
              <a:t>4</a:t>
            </a:r>
            <a:r>
              <a:rPr lang="zh-CN" altLang="en-US" smtClean="0">
                <a:latin typeface="Arial" panose="020B0604020202020204" pitchFamily="34" charset="0"/>
              </a:rPr>
              <a:t>、一个问题是否只有一种算法？相似的问题用某一相似算法进行计算，就得到某一类算法。</a:t>
            </a:r>
            <a:endParaRPr lang="zh-CN" altLang="zh-CN" smtClean="0">
              <a:latin typeface="Arial" panose="020B0604020202020204" pitchFamily="34" charset="0"/>
            </a:endParaRPr>
          </a:p>
        </p:txBody>
      </p:sp>
    </p:spTree>
    <p:extLst>
      <p:ext uri="{BB962C8B-B14F-4D97-AF65-F5344CB8AC3E}">
        <p14:creationId xmlns:p14="http://schemas.microsoft.com/office/powerpoint/2010/main" val="32778591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幻灯片图像占位符 1"/>
          <p:cNvSpPr>
            <a:spLocks noGrp="1" noRot="1" noChangeAspect="1" noTextEdit="1"/>
          </p:cNvSpPr>
          <p:nvPr>
            <p:ph type="sldImg"/>
          </p:nvPr>
        </p:nvSpPr>
        <p:spPr>
          <a:ln/>
        </p:spPr>
      </p:sp>
      <p:sp>
        <p:nvSpPr>
          <p:cNvPr id="1741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可行性：整数算术运算能行，实数算术运算不能行；</a:t>
            </a:r>
            <a:r>
              <a:rPr lang="zh-CN" altLang="zh-CN" smtClean="0">
                <a:latin typeface="Arial" panose="020B0604020202020204" pitchFamily="34" charset="0"/>
              </a:rPr>
              <a:t/>
            </a:r>
            <a:br>
              <a:rPr lang="zh-CN" altLang="zh-CN" smtClean="0">
                <a:latin typeface="Arial" panose="020B0604020202020204" pitchFamily="34" charset="0"/>
              </a:rPr>
            </a:br>
            <a:r>
              <a:rPr lang="zh-CN" altLang="en-US" smtClean="0">
                <a:latin typeface="Arial" panose="020B0604020202020204" pitchFamily="34" charset="0"/>
              </a:rPr>
              <a:t>明确性：不能有二义，如</a:t>
            </a:r>
            <a:r>
              <a:rPr lang="en-US" altLang="zh-CN" smtClean="0">
                <a:latin typeface="Arial" panose="020B0604020202020204" pitchFamily="34" charset="0"/>
              </a:rPr>
              <a:t>5/0</a:t>
            </a:r>
            <a:r>
              <a:rPr lang="zh-CN" altLang="en-US" smtClean="0">
                <a:latin typeface="Arial" panose="020B0604020202020204" pitchFamily="34" charset="0"/>
              </a:rPr>
              <a:t>，</a:t>
            </a:r>
            <a:r>
              <a:rPr lang="en-US" altLang="zh-CN" smtClean="0">
                <a:latin typeface="Arial" panose="020B0604020202020204" pitchFamily="34" charset="0"/>
              </a:rPr>
              <a:t>6+x,x</a:t>
            </a:r>
            <a:r>
              <a:rPr lang="zh-CN" altLang="en-US" smtClean="0">
                <a:latin typeface="Arial" panose="020B0604020202020204" pitchFamily="34" charset="0"/>
              </a:rPr>
              <a:t>为未赋值变量</a:t>
            </a:r>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zh-CN" altLang="en-US" smtClean="0">
              <a:latin typeface="Arial" panose="020B0604020202020204" pitchFamily="34" charset="0"/>
            </a:endParaRPr>
          </a:p>
        </p:txBody>
      </p:sp>
      <p:sp>
        <p:nvSpPr>
          <p:cNvPr id="1741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49DAB55-748C-453A-85D8-714EC285ED41}" type="slidenum">
              <a:rPr lang="en-US" altLang="zh-CN" smtClean="0"/>
              <a:pPr>
                <a:spcBef>
                  <a:spcPct val="0"/>
                </a:spcBef>
              </a:pPr>
              <a:t>7</a:t>
            </a:fld>
            <a:endParaRPr lang="en-US" altLang="zh-CN" smtClean="0"/>
          </a:p>
        </p:txBody>
      </p:sp>
    </p:spTree>
    <p:extLst>
      <p:ext uri="{BB962C8B-B14F-4D97-AF65-F5344CB8AC3E}">
        <p14:creationId xmlns:p14="http://schemas.microsoft.com/office/powerpoint/2010/main" val="20223598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A343E13-E282-46A0-9E2B-CC09F1FE2F05}" type="slidenum">
              <a:rPr lang="en-US" altLang="zh-CN" smtClean="0"/>
              <a:pPr>
                <a:spcBef>
                  <a:spcPct val="0"/>
                </a:spcBef>
              </a:pPr>
              <a:t>8</a:t>
            </a:fld>
            <a:endParaRPr lang="en-US" altLang="zh-CN" smtClean="0"/>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35112031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67FED01-0D76-48FE-818B-E747B9A61F64}" type="slidenum">
              <a:rPr lang="en-US" altLang="zh-CN" smtClean="0"/>
              <a:pPr>
                <a:spcBef>
                  <a:spcPct val="0"/>
                </a:spcBef>
              </a:pPr>
              <a:t>9</a:t>
            </a:fld>
            <a:endParaRPr lang="en-US" altLang="zh-CN" smtClean="0"/>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21165350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4D17D5E-A89E-44CB-A16F-614473B47611}" type="slidenum">
              <a:rPr lang="en-US" altLang="zh-CN" smtClean="0"/>
              <a:pPr>
                <a:spcBef>
                  <a:spcPct val="0"/>
                </a:spcBef>
              </a:pPr>
              <a:t>10</a:t>
            </a:fld>
            <a:endParaRPr lang="en-US" altLang="zh-CN" smtClean="0"/>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30136750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DFFB665-101B-46AD-8E4C-5AE93ADC48FB}" type="slidenum">
              <a:rPr lang="en-US" altLang="zh-CN" smtClean="0"/>
              <a:pPr>
                <a:spcBef>
                  <a:spcPct val="0"/>
                </a:spcBef>
              </a:pPr>
              <a:t>12</a:t>
            </a:fld>
            <a:endParaRPr lang="en-US" altLang="zh-CN" smtClean="0"/>
          </a:p>
        </p:txBody>
      </p:sp>
      <p:sp>
        <p:nvSpPr>
          <p:cNvPr id="12291" name="Rectangle 2"/>
          <p:cNvSpPr>
            <a:spLocks noGrp="1" noRot="1" noChangeAspect="1" noChangeArrowheads="1" noTextEdit="1"/>
          </p:cNvSpPr>
          <p:nvPr>
            <p:ph type="sldImg"/>
          </p:nvPr>
        </p:nvSpPr>
        <p:spPr>
          <a:ln/>
        </p:spPr>
      </p:sp>
      <p:sp>
        <p:nvSpPr>
          <p:cNvPr id="122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29934462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DFFB665-101B-46AD-8E4C-5AE93ADC48FB}" type="slidenum">
              <a:rPr lang="en-US" altLang="zh-CN" smtClean="0"/>
              <a:pPr>
                <a:spcBef>
                  <a:spcPct val="0"/>
                </a:spcBef>
              </a:pPr>
              <a:t>13</a:t>
            </a:fld>
            <a:endParaRPr lang="en-US" altLang="zh-CN" smtClean="0"/>
          </a:p>
        </p:txBody>
      </p:sp>
      <p:sp>
        <p:nvSpPr>
          <p:cNvPr id="12291" name="Rectangle 2"/>
          <p:cNvSpPr>
            <a:spLocks noGrp="1" noRot="1" noChangeAspect="1" noChangeArrowheads="1" noTextEdit="1"/>
          </p:cNvSpPr>
          <p:nvPr>
            <p:ph type="sldImg"/>
          </p:nvPr>
        </p:nvSpPr>
        <p:spPr>
          <a:ln/>
        </p:spPr>
      </p:sp>
      <p:sp>
        <p:nvSpPr>
          <p:cNvPr id="122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smtClean="0">
              <a:latin typeface="Arial" panose="020B0604020202020204" pitchFamily="34" charset="0"/>
            </a:endParaRPr>
          </a:p>
        </p:txBody>
      </p:sp>
    </p:spTree>
    <p:extLst>
      <p:ext uri="{BB962C8B-B14F-4D97-AF65-F5344CB8AC3E}">
        <p14:creationId xmlns:p14="http://schemas.microsoft.com/office/powerpoint/2010/main" val="702232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02652BD-7F84-49D3-8392-D8249103B65A}" type="slidenum">
              <a:rPr lang="en-US" altLang="zh-CN"/>
              <a:pPr eaLnBrk="1" hangingPunct="1"/>
              <a:t>16</a:t>
            </a:fld>
            <a:endParaRPr lang="en-US" altLang="zh-CN"/>
          </a:p>
        </p:txBody>
      </p:sp>
      <p:sp>
        <p:nvSpPr>
          <p:cNvPr id="140291" name="Rectangle 2"/>
          <p:cNvSpPr>
            <a:spLocks noGrp="1" noRot="1" noChangeAspect="1" noChangeArrowheads="1" noTextEdit="1"/>
          </p:cNvSpPr>
          <p:nvPr>
            <p:ph type="sldImg"/>
          </p:nvPr>
        </p:nvSpPr>
        <p:spPr>
          <a:ln/>
        </p:spPr>
      </p:sp>
      <p:sp>
        <p:nvSpPr>
          <p:cNvPr id="1402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40144507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390840E-0028-434D-BF69-729EB7C29424}" type="slidenum">
              <a:rPr lang="en-US" altLang="zh-CN"/>
              <a:pPr eaLnBrk="1" hangingPunct="1"/>
              <a:t>17</a:t>
            </a:fld>
            <a:endParaRPr lang="en-US" altLang="zh-CN"/>
          </a:p>
        </p:txBody>
      </p:sp>
      <p:sp>
        <p:nvSpPr>
          <p:cNvPr id="141315" name="Rectangle 2"/>
          <p:cNvSpPr>
            <a:spLocks noGrp="1" noRot="1" noChangeAspect="1" noChangeArrowheads="1" noTextEdit="1"/>
          </p:cNvSpPr>
          <p:nvPr>
            <p:ph type="sldImg"/>
          </p:nvPr>
        </p:nvSpPr>
        <p:spPr>
          <a:ln/>
        </p:spPr>
      </p:sp>
      <p:sp>
        <p:nvSpPr>
          <p:cNvPr id="1413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11417341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8A7307D-DDFA-454E-BBD4-33F15872B1CE}" type="slidenum">
              <a:rPr lang="en-US" altLang="zh-CN"/>
              <a:pPr eaLnBrk="1" hangingPunct="1"/>
              <a:t>18</a:t>
            </a:fld>
            <a:endParaRPr lang="en-US" altLang="zh-CN"/>
          </a:p>
        </p:txBody>
      </p:sp>
      <p:sp>
        <p:nvSpPr>
          <p:cNvPr id="142339" name="Rectangle 2"/>
          <p:cNvSpPr>
            <a:spLocks noGrp="1" noRot="1" noChangeAspect="1" noChangeArrowheads="1" noTextEdit="1"/>
          </p:cNvSpPr>
          <p:nvPr>
            <p:ph type="sldImg"/>
          </p:nvPr>
        </p:nvSpPr>
        <p:spPr>
          <a:ln/>
        </p:spPr>
      </p:sp>
      <p:sp>
        <p:nvSpPr>
          <p:cNvPr id="142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39038419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D426CC6-B2F2-433F-89D5-93B587FBE09B}" type="slidenum">
              <a:rPr lang="en-US" altLang="zh-CN"/>
              <a:pPr eaLnBrk="1" hangingPunct="1"/>
              <a:t>19</a:t>
            </a:fld>
            <a:endParaRPr lang="en-US" altLang="zh-CN"/>
          </a:p>
        </p:txBody>
      </p:sp>
      <p:sp>
        <p:nvSpPr>
          <p:cNvPr id="143363" name="Rectangle 2"/>
          <p:cNvSpPr>
            <a:spLocks noGrp="1" noRot="1" noChangeAspect="1" noChangeArrowheads="1" noTextEdit="1"/>
          </p:cNvSpPr>
          <p:nvPr>
            <p:ph type="sldImg"/>
          </p:nvPr>
        </p:nvSpPr>
        <p:spPr>
          <a:ln/>
        </p:spPr>
      </p:sp>
      <p:sp>
        <p:nvSpPr>
          <p:cNvPr id="1433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18446192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46A1E6E-D33F-4F96-9720-0BBD9528853B}" type="slidenum">
              <a:rPr lang="en-US" altLang="zh-CN"/>
              <a:pPr eaLnBrk="1" hangingPunct="1"/>
              <a:t>20</a:t>
            </a:fld>
            <a:endParaRPr lang="en-US" altLang="zh-CN"/>
          </a:p>
        </p:txBody>
      </p:sp>
      <p:sp>
        <p:nvSpPr>
          <p:cNvPr id="144387" name="Rectangle 2"/>
          <p:cNvSpPr>
            <a:spLocks noGrp="1" noRot="1" noChangeAspect="1" noChangeArrowheads="1" noTextEdit="1"/>
          </p:cNvSpPr>
          <p:nvPr>
            <p:ph type="sldImg"/>
          </p:nvPr>
        </p:nvSpPr>
        <p:spPr>
          <a:ln/>
        </p:spPr>
      </p:sp>
      <p:sp>
        <p:nvSpPr>
          <p:cNvPr id="144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28512746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2B55FE9-1356-4B7B-8015-B3A9E0C9A5F0}" type="slidenum">
              <a:rPr lang="en-US" altLang="zh-CN"/>
              <a:pPr eaLnBrk="1" hangingPunct="1"/>
              <a:t>21</a:t>
            </a:fld>
            <a:endParaRPr lang="en-US" altLang="zh-CN"/>
          </a:p>
        </p:txBody>
      </p:sp>
      <p:sp>
        <p:nvSpPr>
          <p:cNvPr id="145411" name="Rectangle 2"/>
          <p:cNvSpPr>
            <a:spLocks noGrp="1" noRot="1" noChangeAspect="1" noChangeArrowheads="1" noTextEdit="1"/>
          </p:cNvSpPr>
          <p:nvPr>
            <p:ph type="sldImg"/>
          </p:nvPr>
        </p:nvSpPr>
        <p:spPr>
          <a:ln/>
        </p:spPr>
      </p:sp>
      <p:sp>
        <p:nvSpPr>
          <p:cNvPr id="145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37137072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C4E7C26-F2E3-4EB3-811F-31ABB2ABA3B3}" type="slidenum">
              <a:rPr lang="en-US" altLang="zh-CN"/>
              <a:pPr eaLnBrk="1" hangingPunct="1"/>
              <a:t>22</a:t>
            </a:fld>
            <a:endParaRPr lang="en-US" altLang="zh-CN"/>
          </a:p>
        </p:txBody>
      </p:sp>
      <p:sp>
        <p:nvSpPr>
          <p:cNvPr id="146435" name="Rectangle 2"/>
          <p:cNvSpPr>
            <a:spLocks noGrp="1" noRot="1" noChangeAspect="1" noChangeArrowheads="1" noTextEdit="1"/>
          </p:cNvSpPr>
          <p:nvPr>
            <p:ph type="sldImg"/>
          </p:nvPr>
        </p:nvSpPr>
        <p:spPr>
          <a:ln/>
        </p:spPr>
      </p:sp>
      <p:sp>
        <p:nvSpPr>
          <p:cNvPr id="146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37525093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11F2989-819D-4A9D-A8D3-DF6E0B259D22}" type="slidenum">
              <a:rPr lang="en-US" altLang="zh-CN"/>
              <a:pPr eaLnBrk="1" hangingPunct="1"/>
              <a:t>23</a:t>
            </a:fld>
            <a:endParaRPr lang="en-US" altLang="zh-CN"/>
          </a:p>
        </p:txBody>
      </p:sp>
      <p:sp>
        <p:nvSpPr>
          <p:cNvPr id="147459" name="Rectangle 2"/>
          <p:cNvSpPr>
            <a:spLocks noGrp="1" noRot="1" noChangeAspect="1" noChangeArrowheads="1" noTextEdit="1"/>
          </p:cNvSpPr>
          <p:nvPr>
            <p:ph type="sldImg"/>
          </p:nvPr>
        </p:nvSpPr>
        <p:spPr>
          <a:ln/>
        </p:spPr>
      </p:sp>
      <p:sp>
        <p:nvSpPr>
          <p:cNvPr id="147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7912764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0A064A1-8181-4AD9-AEA5-379023E92106}" type="slidenum">
              <a:rPr lang="en-US" altLang="zh-CN"/>
              <a:pPr eaLnBrk="1" hangingPunct="1"/>
              <a:t>24</a:t>
            </a:fld>
            <a:endParaRPr lang="en-US" altLang="zh-CN"/>
          </a:p>
        </p:txBody>
      </p:sp>
      <p:sp>
        <p:nvSpPr>
          <p:cNvPr id="148483" name="Rectangle 2"/>
          <p:cNvSpPr>
            <a:spLocks noGrp="1" noRot="1" noChangeAspect="1" noChangeArrowheads="1" noTextEdit="1"/>
          </p:cNvSpPr>
          <p:nvPr>
            <p:ph type="sldImg"/>
          </p:nvPr>
        </p:nvSpPr>
        <p:spPr>
          <a:ln/>
        </p:spPr>
      </p:sp>
      <p:sp>
        <p:nvSpPr>
          <p:cNvPr id="148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10007543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41CC19F-C5C4-4C72-8384-3E31E0A4B5ED}" type="slidenum">
              <a:rPr lang="en-US" altLang="zh-CN"/>
              <a:pPr eaLnBrk="1" hangingPunct="1"/>
              <a:t>25</a:t>
            </a:fld>
            <a:endParaRPr lang="en-US" altLang="zh-CN"/>
          </a:p>
        </p:txBody>
      </p:sp>
      <p:sp>
        <p:nvSpPr>
          <p:cNvPr id="149507" name="Rectangle 2"/>
          <p:cNvSpPr>
            <a:spLocks noGrp="1" noRot="1" noChangeAspect="1" noChangeArrowheads="1" noTextEdit="1"/>
          </p:cNvSpPr>
          <p:nvPr>
            <p:ph type="sldImg"/>
          </p:nvPr>
        </p:nvSpPr>
        <p:spPr>
          <a:ln/>
        </p:spPr>
      </p:sp>
      <p:sp>
        <p:nvSpPr>
          <p:cNvPr id="149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5759838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CDE3BC9-65C6-4683-A47C-591FEB27616E}" type="slidenum">
              <a:rPr lang="en-US" altLang="zh-CN"/>
              <a:pPr eaLnBrk="1" hangingPunct="1"/>
              <a:t>26</a:t>
            </a:fld>
            <a:endParaRPr lang="en-US" altLang="zh-CN"/>
          </a:p>
        </p:txBody>
      </p:sp>
      <p:sp>
        <p:nvSpPr>
          <p:cNvPr id="150531" name="Rectangle 2"/>
          <p:cNvSpPr>
            <a:spLocks noGrp="1" noRot="1" noChangeAspect="1" noChangeArrowheads="1" noTextEdit="1"/>
          </p:cNvSpPr>
          <p:nvPr>
            <p:ph type="sldImg"/>
          </p:nvPr>
        </p:nvSpPr>
        <p:spPr>
          <a:ln/>
        </p:spPr>
      </p:sp>
      <p:sp>
        <p:nvSpPr>
          <p:cNvPr id="1505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25520832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054C16F-6B3F-47C6-8B2C-6DC44675DA41}" type="slidenum">
              <a:rPr lang="en-US" altLang="zh-CN"/>
              <a:pPr eaLnBrk="1" hangingPunct="1"/>
              <a:t>27</a:t>
            </a:fld>
            <a:endParaRPr lang="en-US" altLang="zh-CN"/>
          </a:p>
        </p:txBody>
      </p:sp>
      <p:sp>
        <p:nvSpPr>
          <p:cNvPr id="151555" name="Rectangle 2"/>
          <p:cNvSpPr>
            <a:spLocks noGrp="1" noRot="1" noChangeAspect="1" noChangeArrowheads="1" noTextEdit="1"/>
          </p:cNvSpPr>
          <p:nvPr>
            <p:ph type="sldImg"/>
          </p:nvPr>
        </p:nvSpPr>
        <p:spPr>
          <a:ln/>
        </p:spPr>
      </p:sp>
      <p:sp>
        <p:nvSpPr>
          <p:cNvPr id="1515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22070941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CD3D68D-583F-4293-9EC7-C27B8FB73F6A}" type="slidenum">
              <a:rPr lang="en-US" altLang="zh-CN"/>
              <a:pPr eaLnBrk="1" hangingPunct="1"/>
              <a:t>28</a:t>
            </a:fld>
            <a:endParaRPr lang="en-US" altLang="zh-CN"/>
          </a:p>
        </p:txBody>
      </p:sp>
      <p:sp>
        <p:nvSpPr>
          <p:cNvPr id="152579" name="Rectangle 2"/>
          <p:cNvSpPr>
            <a:spLocks noGrp="1" noRot="1" noChangeAspect="1" noChangeArrowheads="1" noTextEdit="1"/>
          </p:cNvSpPr>
          <p:nvPr>
            <p:ph type="sldImg"/>
          </p:nvPr>
        </p:nvSpPr>
        <p:spPr>
          <a:ln/>
        </p:spPr>
      </p:sp>
      <p:sp>
        <p:nvSpPr>
          <p:cNvPr id="1525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1909020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68115C4-33BE-4340-BEF9-D8AF424B6481}" type="slidenum">
              <a:rPr lang="en-US" altLang="zh-CN"/>
              <a:pPr eaLnBrk="1" hangingPunct="1"/>
              <a:t>29</a:t>
            </a:fld>
            <a:endParaRPr lang="en-US" altLang="zh-CN"/>
          </a:p>
        </p:txBody>
      </p:sp>
      <p:sp>
        <p:nvSpPr>
          <p:cNvPr id="153603" name="Rectangle 2"/>
          <p:cNvSpPr>
            <a:spLocks noGrp="1" noRot="1" noChangeAspect="1" noChangeArrowheads="1" noTextEdit="1"/>
          </p:cNvSpPr>
          <p:nvPr>
            <p:ph type="sldImg"/>
          </p:nvPr>
        </p:nvSpPr>
        <p:spPr>
          <a:ln/>
        </p:spPr>
      </p:sp>
      <p:sp>
        <p:nvSpPr>
          <p:cNvPr id="153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小</a:t>
            </a:r>
            <a:r>
              <a:rPr lang="en-US" altLang="zh-CN" smtClean="0">
                <a:latin typeface="Arial" panose="020B0604020202020204" pitchFamily="34" charset="0"/>
              </a:rPr>
              <a:t>o</a:t>
            </a:r>
            <a:r>
              <a:rPr lang="zh-CN" altLang="en-US" smtClean="0">
                <a:latin typeface="Arial" panose="020B0604020202020204" pitchFamily="34" charset="0"/>
              </a:rPr>
              <a:t>记法（非渐进紧确上界）</a:t>
            </a:r>
            <a:endParaRPr lang="zh-CN" altLang="zh-CN" smtClean="0">
              <a:latin typeface="Arial" panose="020B0604020202020204" pitchFamily="34" charset="0"/>
            </a:endParaRPr>
          </a:p>
        </p:txBody>
      </p:sp>
    </p:spTree>
    <p:extLst>
      <p:ext uri="{BB962C8B-B14F-4D97-AF65-F5344CB8AC3E}">
        <p14:creationId xmlns:p14="http://schemas.microsoft.com/office/powerpoint/2010/main" val="33835481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188D89F-BDEA-4447-AEB8-B2193623819B}" type="slidenum">
              <a:rPr lang="en-US" altLang="zh-CN"/>
              <a:pPr eaLnBrk="1" hangingPunct="1"/>
              <a:t>30</a:t>
            </a:fld>
            <a:endParaRPr lang="en-US" altLang="zh-CN"/>
          </a:p>
        </p:txBody>
      </p:sp>
      <p:sp>
        <p:nvSpPr>
          <p:cNvPr id="154627" name="Rectangle 2"/>
          <p:cNvSpPr>
            <a:spLocks noGrp="1" noRot="1" noChangeAspect="1" noChangeArrowheads="1" noTextEdit="1"/>
          </p:cNvSpPr>
          <p:nvPr>
            <p:ph type="sldImg"/>
          </p:nvPr>
        </p:nvSpPr>
        <p:spPr>
          <a:ln/>
        </p:spPr>
      </p:sp>
      <p:sp>
        <p:nvSpPr>
          <p:cNvPr id="1546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41401563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CF04399-72DB-4109-88BB-500EDA6619C5}" type="slidenum">
              <a:rPr lang="en-US" altLang="zh-CN"/>
              <a:pPr eaLnBrk="1" hangingPunct="1"/>
              <a:t>31</a:t>
            </a:fld>
            <a:endParaRPr lang="en-US" altLang="zh-CN"/>
          </a:p>
        </p:txBody>
      </p:sp>
      <p:sp>
        <p:nvSpPr>
          <p:cNvPr id="155651" name="Rectangle 2"/>
          <p:cNvSpPr>
            <a:spLocks noGrp="1" noRot="1" noChangeAspect="1" noChangeArrowheads="1" noTextEdit="1"/>
          </p:cNvSpPr>
          <p:nvPr>
            <p:ph type="sldImg"/>
          </p:nvPr>
        </p:nvSpPr>
        <p:spPr>
          <a:ln/>
        </p:spPr>
      </p:sp>
      <p:sp>
        <p:nvSpPr>
          <p:cNvPr id="1556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14831274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4B156A8-127D-411A-8F9E-63E90BCC0C20}" type="slidenum">
              <a:rPr lang="en-US" altLang="zh-CN"/>
              <a:pPr eaLnBrk="1" hangingPunct="1"/>
              <a:t>32</a:t>
            </a:fld>
            <a:endParaRPr lang="en-US" altLang="zh-CN"/>
          </a:p>
        </p:txBody>
      </p:sp>
      <p:sp>
        <p:nvSpPr>
          <p:cNvPr id="156675" name="Rectangle 2"/>
          <p:cNvSpPr>
            <a:spLocks noGrp="1" noRot="1" noChangeAspect="1" noChangeArrowheads="1" noTextEdit="1"/>
          </p:cNvSpPr>
          <p:nvPr>
            <p:ph type="sldImg"/>
          </p:nvPr>
        </p:nvSpPr>
        <p:spPr>
          <a:ln/>
        </p:spPr>
      </p:sp>
      <p:sp>
        <p:nvSpPr>
          <p:cNvPr id="1566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37122015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F98CA7E-4FA2-49E1-B8D6-B2FFB15145CF}" type="slidenum">
              <a:rPr lang="en-US" altLang="zh-CN"/>
              <a:pPr eaLnBrk="1" hangingPunct="1"/>
              <a:t>33</a:t>
            </a:fld>
            <a:endParaRPr lang="en-US" altLang="zh-CN"/>
          </a:p>
        </p:txBody>
      </p:sp>
      <p:sp>
        <p:nvSpPr>
          <p:cNvPr id="157699" name="Rectangle 2"/>
          <p:cNvSpPr>
            <a:spLocks noGrp="1" noRot="1" noChangeAspect="1" noChangeArrowheads="1" noTextEdit="1"/>
          </p:cNvSpPr>
          <p:nvPr>
            <p:ph type="sldImg"/>
          </p:nvPr>
        </p:nvSpPr>
        <p:spPr>
          <a:ln/>
        </p:spPr>
      </p:sp>
      <p:sp>
        <p:nvSpPr>
          <p:cNvPr id="1577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mtClean="0">
              <a:latin typeface="Arial" panose="020B0604020202020204" pitchFamily="34" charset="0"/>
            </a:endParaRPr>
          </a:p>
        </p:txBody>
      </p:sp>
    </p:spTree>
    <p:extLst>
      <p:ext uri="{BB962C8B-B14F-4D97-AF65-F5344CB8AC3E}">
        <p14:creationId xmlns:p14="http://schemas.microsoft.com/office/powerpoint/2010/main" val="359120814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7B95EE5-A396-4203-B93F-552E065B6922}" type="slidenum">
              <a:rPr lang="en-US" altLang="zh-CN"/>
              <a:pPr eaLnBrk="1" hangingPunct="1"/>
              <a:t>34</a:t>
            </a:fld>
            <a:endParaRPr lang="en-US" altLang="zh-CN"/>
          </a:p>
        </p:txBody>
      </p:sp>
      <p:sp>
        <p:nvSpPr>
          <p:cNvPr id="158723" name="Rectangle 2"/>
          <p:cNvSpPr>
            <a:spLocks noGrp="1" noRot="1" noChangeAspect="1" noChangeArrowheads="1" noTextEdit="1"/>
          </p:cNvSpPr>
          <p:nvPr>
            <p:ph type="sldImg"/>
          </p:nvPr>
        </p:nvSpPr>
        <p:spPr>
          <a:ln/>
        </p:spPr>
      </p:sp>
      <p:sp>
        <p:nvSpPr>
          <p:cNvPr id="1587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大</a:t>
            </a:r>
            <a:r>
              <a:rPr lang="en-US" altLang="zh-CN" smtClean="0">
                <a:latin typeface="Arial" panose="020B0604020202020204" pitchFamily="34" charset="0"/>
              </a:rPr>
              <a:t>O</a:t>
            </a:r>
            <a:r>
              <a:rPr lang="zh-CN" altLang="en-US" smtClean="0">
                <a:latin typeface="Arial" panose="020B0604020202020204" pitchFamily="34" charset="0"/>
              </a:rPr>
              <a:t>符号是由</a:t>
            </a:r>
            <a:r>
              <a:rPr lang="zh-CN" altLang="en-US" smtClean="0">
                <a:latin typeface="Arial" panose="020B0604020202020204" pitchFamily="34" charset="0"/>
                <a:hlinkClick r:id="rId3"/>
              </a:rPr>
              <a:t>德国</a:t>
            </a:r>
            <a:r>
              <a:rPr lang="zh-CN" altLang="en-US" smtClean="0">
                <a:latin typeface="Arial" panose="020B0604020202020204" pitchFamily="34" charset="0"/>
                <a:hlinkClick r:id="rId4"/>
              </a:rPr>
              <a:t>数论</a:t>
            </a:r>
            <a:r>
              <a:rPr lang="zh-CN" altLang="en-US" smtClean="0">
                <a:latin typeface="Arial" panose="020B0604020202020204" pitchFamily="34" charset="0"/>
              </a:rPr>
              <a:t>学家保罗</a:t>
            </a:r>
            <a:r>
              <a:rPr lang="en-US" altLang="zh-CN" smtClean="0">
                <a:latin typeface="Arial" panose="020B0604020202020204" pitchFamily="34" charset="0"/>
              </a:rPr>
              <a:t>·</a:t>
            </a:r>
            <a:r>
              <a:rPr lang="zh-CN" altLang="en-US" smtClean="0">
                <a:latin typeface="Arial" panose="020B0604020202020204" pitchFamily="34" charset="0"/>
              </a:rPr>
              <a:t>巴赫曼（</a:t>
            </a:r>
            <a:r>
              <a:rPr lang="en-US" altLang="zh-CN" smtClean="0">
                <a:latin typeface="Arial" panose="020B0604020202020204" pitchFamily="34" charset="0"/>
              </a:rPr>
              <a:t>Paul Bachmann</a:t>
            </a:r>
            <a:r>
              <a:rPr lang="zh-CN" altLang="en-US" smtClean="0">
                <a:latin typeface="Arial" panose="020B0604020202020204" pitchFamily="34" charset="0"/>
              </a:rPr>
              <a:t>）在其</a:t>
            </a:r>
            <a:r>
              <a:rPr lang="en-US" altLang="zh-CN" smtClean="0">
                <a:latin typeface="Arial" panose="020B0604020202020204" pitchFamily="34" charset="0"/>
              </a:rPr>
              <a:t>1892</a:t>
            </a:r>
            <a:r>
              <a:rPr lang="zh-CN" altLang="en-US" smtClean="0">
                <a:latin typeface="Arial" panose="020B0604020202020204" pitchFamily="34" charset="0"/>
              </a:rPr>
              <a:t>年的著作</a:t>
            </a:r>
            <a:r>
              <a:rPr lang="en-US" altLang="zh-CN" smtClean="0">
                <a:latin typeface="Arial" panose="020B0604020202020204" pitchFamily="34" charset="0"/>
              </a:rPr>
              <a:t>《</a:t>
            </a:r>
            <a:r>
              <a:rPr lang="zh-CN" altLang="en-US" smtClean="0">
                <a:latin typeface="Arial" panose="020B0604020202020204" pitchFamily="34" charset="0"/>
              </a:rPr>
              <a:t>解析数论</a:t>
            </a:r>
            <a:r>
              <a:rPr lang="en-US" altLang="zh-CN" smtClean="0">
                <a:latin typeface="Arial" panose="020B0604020202020204" pitchFamily="34" charset="0"/>
              </a:rPr>
              <a:t>》</a:t>
            </a:r>
            <a:r>
              <a:rPr lang="zh-CN" altLang="en-US" smtClean="0">
                <a:latin typeface="Arial" panose="020B0604020202020204" pitchFamily="34" charset="0"/>
              </a:rPr>
              <a:t>（</a:t>
            </a:r>
            <a:r>
              <a:rPr lang="en-US" altLang="zh-CN" i="1" smtClean="0">
                <a:latin typeface="Arial" panose="020B0604020202020204" pitchFamily="34" charset="0"/>
              </a:rPr>
              <a:t>Analytische Zahlentheorie</a:t>
            </a:r>
            <a:r>
              <a:rPr lang="zh-CN" altLang="en-US" smtClean="0">
                <a:latin typeface="Arial" panose="020B0604020202020204" pitchFamily="34" charset="0"/>
              </a:rPr>
              <a:t>）首先引入的。</a:t>
            </a:r>
            <a:endParaRPr lang="zh-CN" altLang="zh-CN" smtClean="0">
              <a:latin typeface="Arial" panose="020B0604020202020204" pitchFamily="34" charset="0"/>
            </a:endParaRPr>
          </a:p>
        </p:txBody>
      </p:sp>
    </p:spTree>
    <p:extLst>
      <p:ext uri="{BB962C8B-B14F-4D97-AF65-F5344CB8AC3E}">
        <p14:creationId xmlns:p14="http://schemas.microsoft.com/office/powerpoint/2010/main" val="308071565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56EDAEB-7B93-465C-B905-966DF23B41BB}" type="slidenum">
              <a:rPr lang="en-US" altLang="zh-CN"/>
              <a:pPr eaLnBrk="1" hangingPunct="1"/>
              <a:t>35</a:t>
            </a:fld>
            <a:endParaRPr lang="en-US" altLang="zh-CN"/>
          </a:p>
        </p:txBody>
      </p:sp>
      <p:sp>
        <p:nvSpPr>
          <p:cNvPr id="159747" name="Rectangle 2"/>
          <p:cNvSpPr>
            <a:spLocks noGrp="1" noRot="1" noChangeAspect="1" noChangeArrowheads="1" noTextEdit="1"/>
          </p:cNvSpPr>
          <p:nvPr>
            <p:ph type="sldImg"/>
          </p:nvPr>
        </p:nvSpPr>
        <p:spPr>
          <a:ln/>
        </p:spPr>
      </p:sp>
      <p:sp>
        <p:nvSpPr>
          <p:cNvPr id="1597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400737615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B03B915-10C5-4FFC-B8F4-5ABA83F2E2C2}" type="slidenum">
              <a:rPr lang="en-US" altLang="zh-CN"/>
              <a:pPr eaLnBrk="1" hangingPunct="1"/>
              <a:t>36</a:t>
            </a:fld>
            <a:endParaRPr lang="en-US" altLang="zh-CN"/>
          </a:p>
        </p:txBody>
      </p:sp>
      <p:sp>
        <p:nvSpPr>
          <p:cNvPr id="160771" name="Rectangle 2"/>
          <p:cNvSpPr>
            <a:spLocks noGrp="1" noRot="1" noChangeAspect="1" noChangeArrowheads="1" noTextEdit="1"/>
          </p:cNvSpPr>
          <p:nvPr>
            <p:ph type="sldImg"/>
          </p:nvPr>
        </p:nvSpPr>
        <p:spPr>
          <a:ln/>
        </p:spPr>
      </p:sp>
      <p:sp>
        <p:nvSpPr>
          <p:cNvPr id="1607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smtClean="0">
                <a:latin typeface="Arial" panose="020B0604020202020204" pitchFamily="34" charset="0"/>
              </a:rPr>
              <a:t>O(g(n))</a:t>
            </a:r>
            <a:r>
              <a:rPr lang="zh-CN" altLang="en-US" smtClean="0">
                <a:latin typeface="Arial" panose="020B0604020202020204" pitchFamily="34" charset="0"/>
              </a:rPr>
              <a:t>表示以</a:t>
            </a:r>
            <a:r>
              <a:rPr lang="en-US" altLang="zh-CN" smtClean="0">
                <a:latin typeface="Arial" panose="020B0604020202020204" pitchFamily="34" charset="0"/>
              </a:rPr>
              <a:t>g(n)</a:t>
            </a:r>
            <a:r>
              <a:rPr lang="zh-CN" altLang="en-US" smtClean="0">
                <a:latin typeface="Arial" panose="020B0604020202020204" pitchFamily="34" charset="0"/>
              </a:rPr>
              <a:t>为上界的函数集合。</a:t>
            </a:r>
            <a:r>
              <a:rPr lang="en-US" altLang="zh-CN" smtClean="0">
                <a:latin typeface="Arial" panose="020B0604020202020204" pitchFamily="34" charset="0"/>
              </a:rPr>
              <a:t>f(n)</a:t>
            </a:r>
            <a:r>
              <a:rPr lang="zh-CN" altLang="en-US" smtClean="0">
                <a:latin typeface="Arial" panose="020B0604020202020204" pitchFamily="34" charset="0"/>
              </a:rPr>
              <a:t>为其中之一。</a:t>
            </a:r>
            <a:endParaRPr lang="en-US" altLang="zh-CN" smtClean="0">
              <a:latin typeface="Arial" panose="020B0604020202020204" pitchFamily="34" charset="0"/>
            </a:endParaRPr>
          </a:p>
          <a:p>
            <a:pPr eaLnBrk="1" hangingPunct="1"/>
            <a:r>
              <a:rPr lang="zh-CN" altLang="en-US" smtClean="0">
                <a:latin typeface="Arial" panose="020B0604020202020204" pitchFamily="34" charset="0"/>
              </a:rPr>
              <a:t>错误的表示</a:t>
            </a:r>
            <a:r>
              <a:rPr lang="en-US" altLang="zh-CN" smtClean="0">
                <a:latin typeface="Arial" panose="020B0604020202020204" pitchFamily="34" charset="0"/>
              </a:rPr>
              <a:t>O(g(n))=f(n)</a:t>
            </a:r>
            <a:endParaRPr lang="zh-CN" altLang="zh-CN" smtClean="0">
              <a:latin typeface="Arial" panose="020B0604020202020204" pitchFamily="34" charset="0"/>
            </a:endParaRPr>
          </a:p>
        </p:txBody>
      </p:sp>
    </p:spTree>
    <p:extLst>
      <p:ext uri="{BB962C8B-B14F-4D97-AF65-F5344CB8AC3E}">
        <p14:creationId xmlns:p14="http://schemas.microsoft.com/office/powerpoint/2010/main" val="358188789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BE4487D-A92F-4244-A5A8-2C64649BDB8A}" type="slidenum">
              <a:rPr lang="en-US" altLang="zh-CN"/>
              <a:pPr eaLnBrk="1" hangingPunct="1"/>
              <a:t>37</a:t>
            </a:fld>
            <a:endParaRPr lang="en-US" altLang="zh-CN"/>
          </a:p>
        </p:txBody>
      </p:sp>
      <p:sp>
        <p:nvSpPr>
          <p:cNvPr id="163843" name="Rectangle 2"/>
          <p:cNvSpPr>
            <a:spLocks noGrp="1" noRot="1" noChangeAspect="1" noChangeArrowheads="1" noTextEdit="1"/>
          </p:cNvSpPr>
          <p:nvPr>
            <p:ph type="sldImg"/>
          </p:nvPr>
        </p:nvSpPr>
        <p:spPr>
          <a:ln/>
        </p:spPr>
      </p:sp>
      <p:sp>
        <p:nvSpPr>
          <p:cNvPr id="1638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一个问题本身也有它的</a:t>
            </a:r>
            <a:r>
              <a:rPr lang="zh-CN" altLang="en-US" smtClean="0">
                <a:latin typeface="Arial" panose="020B0604020202020204" pitchFamily="34" charset="0"/>
                <a:hlinkClick r:id="rId3"/>
              </a:rPr>
              <a:t>复杂度</a:t>
            </a:r>
            <a:r>
              <a:rPr lang="zh-CN" altLang="en-US" smtClean="0">
                <a:latin typeface="Arial" panose="020B0604020202020204" pitchFamily="34" charset="0"/>
              </a:rPr>
              <a:t>，如果某个算法的复杂度到达了这个问题复杂度的下界，那就称这样的算法是最佳算法。</a:t>
            </a:r>
            <a:endParaRPr lang="en-US" altLang="zh-CN" i="1" smtClean="0">
              <a:latin typeface="Arial" panose="020B0604020202020204" pitchFamily="34" charset="0"/>
              <a:sym typeface="Symbol" panose="05050102010706020507" pitchFamily="18" charset="2"/>
            </a:endParaRPr>
          </a:p>
        </p:txBody>
      </p:sp>
    </p:spTree>
    <p:extLst>
      <p:ext uri="{BB962C8B-B14F-4D97-AF65-F5344CB8AC3E}">
        <p14:creationId xmlns:p14="http://schemas.microsoft.com/office/powerpoint/2010/main" val="215349239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99639DB-CEF2-464B-B9B1-098EF127D537}" type="slidenum">
              <a:rPr lang="en-US" altLang="zh-CN"/>
              <a:pPr eaLnBrk="1" hangingPunct="1"/>
              <a:t>38</a:t>
            </a:fld>
            <a:endParaRPr lang="en-US" altLang="zh-CN"/>
          </a:p>
        </p:txBody>
      </p:sp>
      <p:sp>
        <p:nvSpPr>
          <p:cNvPr id="164867" name="Rectangle 2"/>
          <p:cNvSpPr>
            <a:spLocks noGrp="1" noRot="1" noChangeAspect="1" noChangeArrowheads="1" noTextEdit="1"/>
          </p:cNvSpPr>
          <p:nvPr>
            <p:ph type="sldImg"/>
          </p:nvPr>
        </p:nvSpPr>
        <p:spPr>
          <a:ln/>
        </p:spPr>
      </p:sp>
      <p:sp>
        <p:nvSpPr>
          <p:cNvPr id="1648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i="1" smtClean="0">
              <a:latin typeface="Arial" panose="020B0604020202020204" pitchFamily="34" charset="0"/>
              <a:sym typeface="Symbol" panose="05050102010706020507" pitchFamily="18" charset="2"/>
            </a:endParaRPr>
          </a:p>
        </p:txBody>
      </p:sp>
    </p:spTree>
    <p:extLst>
      <p:ext uri="{BB962C8B-B14F-4D97-AF65-F5344CB8AC3E}">
        <p14:creationId xmlns:p14="http://schemas.microsoft.com/office/powerpoint/2010/main" val="410038552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5A164CE-23BC-4180-8D76-52C4CE834F49}" type="slidenum">
              <a:rPr lang="en-US" altLang="zh-CN"/>
              <a:pPr eaLnBrk="1" hangingPunct="1"/>
              <a:t>39</a:t>
            </a:fld>
            <a:endParaRPr lang="en-US" altLang="zh-CN"/>
          </a:p>
        </p:txBody>
      </p:sp>
      <p:sp>
        <p:nvSpPr>
          <p:cNvPr id="165891" name="Rectangle 2"/>
          <p:cNvSpPr>
            <a:spLocks noGrp="1" noRot="1" noChangeAspect="1" noChangeArrowheads="1" noTextEdit="1"/>
          </p:cNvSpPr>
          <p:nvPr>
            <p:ph type="sldImg"/>
          </p:nvPr>
        </p:nvSpPr>
        <p:spPr>
          <a:ln/>
        </p:spPr>
      </p:sp>
      <p:sp>
        <p:nvSpPr>
          <p:cNvPr id="1658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i="1" smtClean="0">
                <a:latin typeface="Arial" panose="020B0604020202020204" pitchFamily="34" charset="0"/>
                <a:sym typeface="Symbol" panose="05050102010706020507" pitchFamily="18" charset="2"/>
              </a:rPr>
              <a:t>用曲线说明</a:t>
            </a:r>
            <a:r>
              <a:rPr lang="en-US" altLang="zh-CN" i="1" smtClean="0">
                <a:latin typeface="Arial" panose="020B0604020202020204" pitchFamily="34" charset="0"/>
                <a:sym typeface="Symbol" panose="05050102010706020507" pitchFamily="18" charset="2"/>
              </a:rPr>
              <a:t>3</a:t>
            </a:r>
            <a:r>
              <a:rPr lang="zh-CN" altLang="en-US" i="1" smtClean="0">
                <a:latin typeface="Arial" panose="020B0604020202020204" pitchFamily="34" charset="0"/>
                <a:sym typeface="Symbol" panose="05050102010706020507" pitchFamily="18" charset="2"/>
              </a:rPr>
              <a:t>种记号的关系</a:t>
            </a:r>
            <a:endParaRPr lang="en-US" altLang="zh-CN" i="1" smtClean="0">
              <a:latin typeface="Arial" panose="020B0604020202020204" pitchFamily="34" charset="0"/>
              <a:sym typeface="Symbol" panose="05050102010706020507" pitchFamily="18" charset="2"/>
            </a:endParaRPr>
          </a:p>
        </p:txBody>
      </p:sp>
    </p:spTree>
    <p:extLst>
      <p:ext uri="{BB962C8B-B14F-4D97-AF65-F5344CB8AC3E}">
        <p14:creationId xmlns:p14="http://schemas.microsoft.com/office/powerpoint/2010/main" val="121090203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幻灯片图像占位符 1"/>
          <p:cNvSpPr>
            <a:spLocks noGrp="1" noRot="1" noChangeAspect="1" noTextEdit="1"/>
          </p:cNvSpPr>
          <p:nvPr>
            <p:ph type="sldImg"/>
          </p:nvPr>
        </p:nvSpPr>
        <p:spPr>
          <a:ln/>
        </p:spPr>
      </p:sp>
      <p:sp>
        <p:nvSpPr>
          <p:cNvPr id="16691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latin typeface="Arial" panose="020B0604020202020204" pitchFamily="34" charset="0"/>
              </a:rPr>
              <a:t>从曲线上看，结合大</a:t>
            </a:r>
            <a:r>
              <a:rPr lang="en-US" altLang="zh-CN" smtClean="0">
                <a:latin typeface="Arial" panose="020B0604020202020204" pitchFamily="34" charset="0"/>
              </a:rPr>
              <a:t>O</a:t>
            </a:r>
            <a:r>
              <a:rPr lang="zh-CN" altLang="en-US" smtClean="0">
                <a:latin typeface="Arial" panose="020B0604020202020204" pitchFamily="34" charset="0"/>
              </a:rPr>
              <a:t>计数的</a:t>
            </a:r>
            <a:r>
              <a:rPr lang="en-US" altLang="zh-CN" smtClean="0">
                <a:latin typeface="Arial" panose="020B0604020202020204" pitchFamily="34" charset="0"/>
              </a:rPr>
              <a:t>lim</a:t>
            </a:r>
            <a:r>
              <a:rPr lang="zh-CN" altLang="en-US" smtClean="0">
                <a:latin typeface="Arial" panose="020B0604020202020204" pitchFamily="34" charset="0"/>
              </a:rPr>
              <a:t>定义，说明</a:t>
            </a:r>
            <a:r>
              <a:rPr lang="en-US" altLang="zh-CN" smtClean="0">
                <a:latin typeface="Arial" panose="020B0604020202020204" pitchFamily="34" charset="0"/>
              </a:rPr>
              <a:t>f</a:t>
            </a:r>
            <a:r>
              <a:rPr lang="zh-CN" altLang="en-US" smtClean="0">
                <a:latin typeface="Arial" panose="020B0604020202020204" pitchFamily="34" charset="0"/>
              </a:rPr>
              <a:t>（</a:t>
            </a:r>
            <a:r>
              <a:rPr lang="en-US" altLang="zh-CN" smtClean="0">
                <a:latin typeface="Arial" panose="020B0604020202020204" pitchFamily="34" charset="0"/>
              </a:rPr>
              <a:t>n</a:t>
            </a:r>
            <a:r>
              <a:rPr lang="zh-CN" altLang="en-US" smtClean="0">
                <a:latin typeface="Arial" panose="020B0604020202020204" pitchFamily="34" charset="0"/>
              </a:rPr>
              <a:t>）与</a:t>
            </a:r>
            <a:r>
              <a:rPr lang="en-US" altLang="zh-CN" smtClean="0">
                <a:latin typeface="Arial" panose="020B0604020202020204" pitchFamily="34" charset="0"/>
              </a:rPr>
              <a:t>g(n)</a:t>
            </a:r>
            <a:r>
              <a:rPr lang="zh-CN" altLang="en-US" smtClean="0">
                <a:latin typeface="Arial" panose="020B0604020202020204" pitchFamily="34" charset="0"/>
              </a:rPr>
              <a:t>曲线之间的关系，</a:t>
            </a:r>
            <a:r>
              <a:rPr lang="en-US" altLang="zh-CN" smtClean="0">
                <a:latin typeface="Arial" panose="020B0604020202020204" pitchFamily="34" charset="0"/>
              </a:rPr>
              <a:t>fn </a:t>
            </a:r>
            <a:r>
              <a:rPr lang="zh-CN" altLang="en-US" smtClean="0">
                <a:latin typeface="Arial" panose="020B0604020202020204" pitchFamily="34" charset="0"/>
              </a:rPr>
              <a:t>不能在</a:t>
            </a:r>
            <a:r>
              <a:rPr lang="en-US" altLang="zh-CN" smtClean="0">
                <a:latin typeface="Arial" panose="020B0604020202020204" pitchFamily="34" charset="0"/>
              </a:rPr>
              <a:t>n-&gt;</a:t>
            </a:r>
            <a:r>
              <a:rPr lang="zh-CN" altLang="en-US" smtClean="0">
                <a:latin typeface="Arial" panose="020B0604020202020204" pitchFamily="34" charset="0"/>
              </a:rPr>
              <a:t>无穷大时，</a:t>
            </a:r>
            <a:r>
              <a:rPr lang="en-US" altLang="zh-CN" smtClean="0">
                <a:latin typeface="Arial" panose="020B0604020202020204" pitchFamily="34" charset="0"/>
              </a:rPr>
              <a:t>f(n)</a:t>
            </a:r>
            <a:r>
              <a:rPr lang="zh-CN" altLang="en-US" smtClean="0">
                <a:latin typeface="Arial" panose="020B0604020202020204" pitchFamily="34" charset="0"/>
              </a:rPr>
              <a:t>超过曲线</a:t>
            </a:r>
            <a:r>
              <a:rPr lang="en-US" altLang="zh-CN" smtClean="0">
                <a:latin typeface="Arial" panose="020B0604020202020204" pitchFamily="34" charset="0"/>
              </a:rPr>
              <a:t>g(n)</a:t>
            </a:r>
            <a:r>
              <a:rPr lang="zh-CN" altLang="en-US" smtClean="0">
                <a:latin typeface="Arial" panose="020B0604020202020204" pitchFamily="34" charset="0"/>
              </a:rPr>
              <a:t>，否则</a:t>
            </a:r>
            <a:r>
              <a:rPr lang="en-US" altLang="zh-CN" smtClean="0">
                <a:latin typeface="Arial" panose="020B0604020202020204" pitchFamily="34" charset="0"/>
              </a:rPr>
              <a:t>lim</a:t>
            </a:r>
            <a:r>
              <a:rPr lang="zh-CN" altLang="en-US" smtClean="0">
                <a:latin typeface="Arial" panose="020B0604020202020204" pitchFamily="34" charset="0"/>
              </a:rPr>
              <a:t>极限</a:t>
            </a:r>
            <a:r>
              <a:rPr lang="en-US" altLang="zh-CN" smtClean="0">
                <a:latin typeface="Arial" panose="020B0604020202020204" pitchFamily="34" charset="0"/>
              </a:rPr>
              <a:t>-&gt;</a:t>
            </a:r>
            <a:r>
              <a:rPr lang="zh-CN" altLang="en-US" smtClean="0">
                <a:latin typeface="Arial" panose="020B0604020202020204" pitchFamily="34" charset="0"/>
              </a:rPr>
              <a:t>无穷大。</a:t>
            </a:r>
            <a:endParaRPr lang="en-US" altLang="zh-CN" smtClean="0">
              <a:latin typeface="Arial" panose="020B0604020202020204" pitchFamily="34" charset="0"/>
            </a:endParaRPr>
          </a:p>
          <a:p>
            <a:endParaRPr lang="zh-CN" altLang="en-US" smtClean="0">
              <a:latin typeface="Arial" panose="020B0604020202020204" pitchFamily="34" charset="0"/>
            </a:endParaRPr>
          </a:p>
        </p:txBody>
      </p:sp>
      <p:sp>
        <p:nvSpPr>
          <p:cNvPr id="16691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01EC531-8676-406E-9399-F12A415AB8AA}" type="slidenum">
              <a:rPr lang="en-US" altLang="zh-CN"/>
              <a:pPr eaLnBrk="1" hangingPunct="1"/>
              <a:t>40</a:t>
            </a:fld>
            <a:endParaRPr lang="en-US" altLang="zh-CN"/>
          </a:p>
        </p:txBody>
      </p:sp>
    </p:spTree>
    <p:extLst>
      <p:ext uri="{BB962C8B-B14F-4D97-AF65-F5344CB8AC3E}">
        <p14:creationId xmlns:p14="http://schemas.microsoft.com/office/powerpoint/2010/main" val="233828330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7DD0258-E265-475F-878C-1071BB2D1408}" type="slidenum">
              <a:rPr lang="en-US" altLang="zh-CN"/>
              <a:pPr eaLnBrk="1" hangingPunct="1"/>
              <a:t>41</a:t>
            </a:fld>
            <a:endParaRPr lang="en-US" altLang="zh-CN"/>
          </a:p>
        </p:txBody>
      </p:sp>
      <p:sp>
        <p:nvSpPr>
          <p:cNvPr id="167939" name="Rectangle 2"/>
          <p:cNvSpPr>
            <a:spLocks noGrp="1" noRot="1" noChangeAspect="1" noChangeArrowheads="1" noTextEdit="1"/>
          </p:cNvSpPr>
          <p:nvPr>
            <p:ph type="sldImg"/>
          </p:nvPr>
        </p:nvSpPr>
        <p:spPr>
          <a:ln/>
        </p:spPr>
      </p:sp>
      <p:sp>
        <p:nvSpPr>
          <p:cNvPr id="1679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i="1" smtClean="0">
              <a:latin typeface="Arial" panose="020B0604020202020204" pitchFamily="34" charset="0"/>
              <a:sym typeface="Symbol" panose="05050102010706020507" pitchFamily="18" charset="2"/>
            </a:endParaRPr>
          </a:p>
        </p:txBody>
      </p:sp>
    </p:spTree>
    <p:extLst>
      <p:ext uri="{BB962C8B-B14F-4D97-AF65-F5344CB8AC3E}">
        <p14:creationId xmlns:p14="http://schemas.microsoft.com/office/powerpoint/2010/main" val="24278392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543D7A6-EBE6-46E5-BD9F-7D7B715C8DD7}" type="slidenum">
              <a:rPr lang="en-US" altLang="zh-CN"/>
              <a:pPr eaLnBrk="1" hangingPunct="1"/>
              <a:t>42</a:t>
            </a:fld>
            <a:endParaRPr lang="en-US" altLang="zh-CN"/>
          </a:p>
        </p:txBody>
      </p:sp>
      <p:sp>
        <p:nvSpPr>
          <p:cNvPr id="168963" name="Rectangle 2"/>
          <p:cNvSpPr>
            <a:spLocks noGrp="1" noRot="1" noChangeAspect="1" noChangeArrowheads="1" noTextEdit="1"/>
          </p:cNvSpPr>
          <p:nvPr>
            <p:ph type="sldImg"/>
          </p:nvPr>
        </p:nvSpPr>
        <p:spPr>
          <a:ln/>
        </p:spPr>
      </p:sp>
      <p:sp>
        <p:nvSpPr>
          <p:cNvPr id="168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i="1" smtClean="0">
              <a:latin typeface="Arial" panose="020B0604020202020204" pitchFamily="34" charset="0"/>
              <a:sym typeface="Symbol" panose="05050102010706020507" pitchFamily="18" charset="2"/>
            </a:endParaRPr>
          </a:p>
        </p:txBody>
      </p:sp>
    </p:spTree>
    <p:extLst>
      <p:ext uri="{BB962C8B-B14F-4D97-AF65-F5344CB8AC3E}">
        <p14:creationId xmlns:p14="http://schemas.microsoft.com/office/powerpoint/2010/main" val="132414560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6DD2D1B-F85F-4638-BB3C-5CB00E311F3F}" type="slidenum">
              <a:rPr lang="en-US" altLang="zh-CN"/>
              <a:pPr eaLnBrk="1" hangingPunct="1"/>
              <a:t>43</a:t>
            </a:fld>
            <a:endParaRPr lang="en-US" altLang="zh-CN"/>
          </a:p>
        </p:txBody>
      </p:sp>
      <p:sp>
        <p:nvSpPr>
          <p:cNvPr id="169987" name="Rectangle 2"/>
          <p:cNvSpPr>
            <a:spLocks noGrp="1" noRot="1" noChangeAspect="1" noChangeArrowheads="1" noTextEdit="1"/>
          </p:cNvSpPr>
          <p:nvPr>
            <p:ph type="sldImg"/>
          </p:nvPr>
        </p:nvSpPr>
        <p:spPr>
          <a:ln/>
        </p:spPr>
      </p:sp>
      <p:sp>
        <p:nvSpPr>
          <p:cNvPr id="1699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例如：</a:t>
            </a:r>
            <a:r>
              <a:rPr lang="en-US" altLang="zh-CN" smtClean="0">
                <a:latin typeface="Arial" panose="020B0604020202020204" pitchFamily="34" charset="0"/>
              </a:rPr>
              <a:t>n =o(n</a:t>
            </a:r>
            <a:r>
              <a:rPr lang="en-US" altLang="zh-CN" baseline="30000" smtClean="0">
                <a:latin typeface="Arial" panose="020B0604020202020204" pitchFamily="34" charset="0"/>
              </a:rPr>
              <a:t>2</a:t>
            </a:r>
            <a:r>
              <a:rPr lang="en-US" altLang="zh-CN" smtClean="0">
                <a:latin typeface="Arial" panose="020B0604020202020204" pitchFamily="34" charset="0"/>
              </a:rPr>
              <a:t> )</a:t>
            </a:r>
            <a:endParaRPr lang="zh-CN" altLang="zh-CN" baseline="30000" smtClean="0">
              <a:latin typeface="Arial" panose="020B0604020202020204" pitchFamily="34" charset="0"/>
            </a:endParaRPr>
          </a:p>
          <a:p>
            <a:pPr eaLnBrk="1" hangingPunct="1"/>
            <a:endParaRPr lang="zh-CN" altLang="zh-CN" baseline="30000" smtClean="0">
              <a:latin typeface="Arial" panose="020B0604020202020204" pitchFamily="34" charset="0"/>
            </a:endParaRPr>
          </a:p>
        </p:txBody>
      </p:sp>
    </p:spTree>
    <p:extLst>
      <p:ext uri="{BB962C8B-B14F-4D97-AF65-F5344CB8AC3E}">
        <p14:creationId xmlns:p14="http://schemas.microsoft.com/office/powerpoint/2010/main" val="388180552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6584C6A-33DB-4DB5-8115-F51175163C5A}" type="slidenum">
              <a:rPr lang="en-US" altLang="zh-CN"/>
              <a:pPr eaLnBrk="1" hangingPunct="1"/>
              <a:t>44</a:t>
            </a:fld>
            <a:endParaRPr lang="en-US" altLang="zh-CN"/>
          </a:p>
        </p:txBody>
      </p:sp>
      <p:sp>
        <p:nvSpPr>
          <p:cNvPr id="171011" name="Rectangle 2"/>
          <p:cNvSpPr>
            <a:spLocks noGrp="1" noRot="1" noChangeAspect="1" noChangeArrowheads="1" noTextEdit="1"/>
          </p:cNvSpPr>
          <p:nvPr>
            <p:ph type="sldImg"/>
          </p:nvPr>
        </p:nvSpPr>
        <p:spPr>
          <a:ln/>
        </p:spPr>
      </p:sp>
      <p:sp>
        <p:nvSpPr>
          <p:cNvPr id="1710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例如：</a:t>
            </a:r>
            <a:r>
              <a:rPr lang="en-US" altLang="zh-CN" smtClean="0">
                <a:latin typeface="Arial" panose="020B0604020202020204" pitchFamily="34" charset="0"/>
              </a:rPr>
              <a:t>n</a:t>
            </a:r>
            <a:r>
              <a:rPr lang="en-US" altLang="zh-CN" baseline="30000" smtClean="0">
                <a:latin typeface="Arial" panose="020B0604020202020204" pitchFamily="34" charset="0"/>
              </a:rPr>
              <a:t>2</a:t>
            </a:r>
            <a:r>
              <a:rPr lang="en-US" altLang="zh-CN" smtClean="0">
                <a:latin typeface="Arial" panose="020B0604020202020204" pitchFamily="34" charset="0"/>
              </a:rPr>
              <a:t> =w(n)</a:t>
            </a:r>
          </a:p>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130430728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69757D5-48F4-414D-B769-A6E29A501C0E}" type="slidenum">
              <a:rPr lang="en-US" altLang="zh-CN"/>
              <a:pPr eaLnBrk="1" hangingPunct="1"/>
              <a:t>45</a:t>
            </a:fld>
            <a:endParaRPr lang="en-US" altLang="zh-CN"/>
          </a:p>
        </p:txBody>
      </p:sp>
      <p:sp>
        <p:nvSpPr>
          <p:cNvPr id="172035" name="Rectangle 2"/>
          <p:cNvSpPr>
            <a:spLocks noGrp="1" noRot="1" noChangeAspect="1" noChangeArrowheads="1" noTextEdit="1"/>
          </p:cNvSpPr>
          <p:nvPr>
            <p:ph type="sldImg"/>
          </p:nvPr>
        </p:nvSpPr>
        <p:spPr>
          <a:ln/>
        </p:spPr>
      </p:sp>
      <p:sp>
        <p:nvSpPr>
          <p:cNvPr id="172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294650594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0B4B220-3C41-4589-A3EA-AFF52918684A}" type="slidenum">
              <a:rPr lang="en-US" altLang="zh-CN"/>
              <a:pPr eaLnBrk="1" hangingPunct="1"/>
              <a:t>46</a:t>
            </a:fld>
            <a:endParaRPr lang="en-US" altLang="zh-CN"/>
          </a:p>
        </p:txBody>
      </p:sp>
      <p:sp>
        <p:nvSpPr>
          <p:cNvPr id="173059" name="Rectangle 2"/>
          <p:cNvSpPr>
            <a:spLocks noGrp="1" noRot="1" noChangeAspect="1" noChangeArrowheads="1" noTextEdit="1"/>
          </p:cNvSpPr>
          <p:nvPr>
            <p:ph type="sldImg"/>
          </p:nvPr>
        </p:nvSpPr>
        <p:spPr>
          <a:ln/>
        </p:spPr>
      </p:sp>
      <p:sp>
        <p:nvSpPr>
          <p:cNvPr id="1730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43348562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DC5480A-1FB5-4905-866E-7ED4DFB6A2D2}" type="slidenum">
              <a:rPr lang="en-US" altLang="zh-CN"/>
              <a:pPr eaLnBrk="1" hangingPunct="1"/>
              <a:t>47</a:t>
            </a:fld>
            <a:endParaRPr lang="en-US" altLang="zh-CN"/>
          </a:p>
        </p:txBody>
      </p:sp>
      <p:sp>
        <p:nvSpPr>
          <p:cNvPr id="174083" name="Rectangle 2"/>
          <p:cNvSpPr>
            <a:spLocks noGrp="1" noRot="1" noChangeAspect="1" noChangeArrowheads="1" noTextEdit="1"/>
          </p:cNvSpPr>
          <p:nvPr>
            <p:ph type="sldImg"/>
          </p:nvPr>
        </p:nvSpPr>
        <p:spPr>
          <a:ln/>
        </p:spPr>
      </p:sp>
      <p:sp>
        <p:nvSpPr>
          <p:cNvPr id="1740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255804952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DB2D590-3797-433F-8980-438BB34AD2C5}" type="slidenum">
              <a:rPr lang="en-US" altLang="zh-CN"/>
              <a:pPr eaLnBrk="1" hangingPunct="1"/>
              <a:t>48</a:t>
            </a:fld>
            <a:endParaRPr lang="en-US" altLang="zh-CN"/>
          </a:p>
        </p:txBody>
      </p:sp>
      <p:sp>
        <p:nvSpPr>
          <p:cNvPr id="175107" name="Rectangle 2"/>
          <p:cNvSpPr>
            <a:spLocks noGrp="1" noRot="1" noChangeAspect="1" noChangeArrowheads="1" noTextEdit="1"/>
          </p:cNvSpPr>
          <p:nvPr>
            <p:ph type="sldImg"/>
          </p:nvPr>
        </p:nvSpPr>
        <p:spPr>
          <a:ln/>
        </p:spPr>
      </p:sp>
      <p:sp>
        <p:nvSpPr>
          <p:cNvPr id="1751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170694315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743E3C1-CCFF-435B-AC27-5670DC3933C2}" type="slidenum">
              <a:rPr lang="en-US" altLang="zh-CN"/>
              <a:pPr eaLnBrk="1" hangingPunct="1"/>
              <a:t>49</a:t>
            </a:fld>
            <a:endParaRPr lang="en-US" altLang="zh-CN"/>
          </a:p>
        </p:txBody>
      </p:sp>
      <p:sp>
        <p:nvSpPr>
          <p:cNvPr id="176131" name="Rectangle 2"/>
          <p:cNvSpPr>
            <a:spLocks noGrp="1" noRot="1" noChangeAspect="1" noChangeArrowheads="1" noTextEdit="1"/>
          </p:cNvSpPr>
          <p:nvPr>
            <p:ph type="sldImg"/>
          </p:nvPr>
        </p:nvSpPr>
        <p:spPr>
          <a:ln/>
        </p:spPr>
      </p:sp>
      <p:sp>
        <p:nvSpPr>
          <p:cNvPr id="176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235990467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A7B0291-47E2-490F-98B6-F6CFFEF9BB08}" type="slidenum">
              <a:rPr lang="en-US" altLang="zh-CN"/>
              <a:pPr eaLnBrk="1" hangingPunct="1"/>
              <a:t>50</a:t>
            </a:fld>
            <a:endParaRPr lang="en-US" altLang="zh-CN"/>
          </a:p>
        </p:txBody>
      </p:sp>
      <p:sp>
        <p:nvSpPr>
          <p:cNvPr id="177155" name="Rectangle 2"/>
          <p:cNvSpPr>
            <a:spLocks noGrp="1" noRot="1" noChangeAspect="1" noChangeArrowheads="1" noTextEdit="1"/>
          </p:cNvSpPr>
          <p:nvPr>
            <p:ph type="sldImg"/>
          </p:nvPr>
        </p:nvSpPr>
        <p:spPr>
          <a:ln/>
        </p:spPr>
      </p:sp>
      <p:sp>
        <p:nvSpPr>
          <p:cNvPr id="1771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272618749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0F8AB9A-1D54-4BFF-B468-19CC310E294B}" type="slidenum">
              <a:rPr lang="en-US" altLang="zh-CN"/>
              <a:pPr eaLnBrk="1" hangingPunct="1"/>
              <a:t>51</a:t>
            </a:fld>
            <a:endParaRPr lang="en-US" altLang="zh-CN"/>
          </a:p>
        </p:txBody>
      </p:sp>
      <p:sp>
        <p:nvSpPr>
          <p:cNvPr id="178179" name="Rectangle 2"/>
          <p:cNvSpPr>
            <a:spLocks noGrp="1" noRot="1" noChangeAspect="1" noChangeArrowheads="1" noTextEdit="1"/>
          </p:cNvSpPr>
          <p:nvPr>
            <p:ph type="sldImg"/>
          </p:nvPr>
        </p:nvSpPr>
        <p:spPr>
          <a:ln/>
        </p:spPr>
      </p:sp>
      <p:sp>
        <p:nvSpPr>
          <p:cNvPr id="1781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27179768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6E81DC7-6A0C-4671-921D-8B01A8AD1B04}" type="slidenum">
              <a:rPr lang="en-US" altLang="zh-CN"/>
              <a:pPr eaLnBrk="1" hangingPunct="1"/>
              <a:t>52</a:t>
            </a:fld>
            <a:endParaRPr lang="en-US" altLang="zh-CN"/>
          </a:p>
        </p:txBody>
      </p:sp>
      <p:sp>
        <p:nvSpPr>
          <p:cNvPr id="179203" name="Rectangle 2"/>
          <p:cNvSpPr>
            <a:spLocks noGrp="1" noRot="1" noChangeAspect="1" noChangeArrowheads="1" noTextEdit="1"/>
          </p:cNvSpPr>
          <p:nvPr>
            <p:ph type="sldImg"/>
          </p:nvPr>
        </p:nvSpPr>
        <p:spPr>
          <a:ln/>
        </p:spPr>
      </p:sp>
      <p:sp>
        <p:nvSpPr>
          <p:cNvPr id="179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164127558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50B531B-5DB8-496D-B46B-6D425E6753F7}" type="slidenum">
              <a:rPr lang="en-US" altLang="zh-CN"/>
              <a:pPr eaLnBrk="1" hangingPunct="1"/>
              <a:t>53</a:t>
            </a:fld>
            <a:endParaRPr lang="en-US" altLang="zh-CN"/>
          </a:p>
        </p:txBody>
      </p:sp>
      <p:sp>
        <p:nvSpPr>
          <p:cNvPr id="180227" name="Rectangle 2"/>
          <p:cNvSpPr>
            <a:spLocks noGrp="1" noRot="1" noChangeAspect="1" noChangeArrowheads="1" noTextEdit="1"/>
          </p:cNvSpPr>
          <p:nvPr>
            <p:ph type="sldImg"/>
          </p:nvPr>
        </p:nvSpPr>
        <p:spPr>
          <a:ln/>
        </p:spPr>
      </p:sp>
      <p:sp>
        <p:nvSpPr>
          <p:cNvPr id="180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201367055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5E3AF36-6A92-4AD2-89D7-E5EF9F1A02CB}" type="slidenum">
              <a:rPr lang="en-US" altLang="zh-CN"/>
              <a:pPr eaLnBrk="1" hangingPunct="1"/>
              <a:t>54</a:t>
            </a:fld>
            <a:endParaRPr lang="en-US" altLang="zh-CN"/>
          </a:p>
        </p:txBody>
      </p:sp>
      <p:sp>
        <p:nvSpPr>
          <p:cNvPr id="181251" name="Rectangle 2"/>
          <p:cNvSpPr>
            <a:spLocks noGrp="1" noRot="1" noChangeAspect="1" noChangeArrowheads="1" noTextEdit="1"/>
          </p:cNvSpPr>
          <p:nvPr>
            <p:ph type="sldImg"/>
          </p:nvPr>
        </p:nvSpPr>
        <p:spPr>
          <a:ln/>
        </p:spPr>
      </p:sp>
      <p:sp>
        <p:nvSpPr>
          <p:cNvPr id="181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105595350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64F89CC-5DFF-4A67-ABE7-D669CF8345C9}" type="slidenum">
              <a:rPr lang="en-US" altLang="zh-CN"/>
              <a:pPr eaLnBrk="1" hangingPunct="1"/>
              <a:t>55</a:t>
            </a:fld>
            <a:endParaRPr lang="en-US" altLang="zh-CN"/>
          </a:p>
        </p:txBody>
      </p:sp>
      <p:sp>
        <p:nvSpPr>
          <p:cNvPr id="182275" name="Rectangle 2"/>
          <p:cNvSpPr>
            <a:spLocks noGrp="1" noRot="1" noChangeAspect="1" noChangeArrowheads="1" noTextEdit="1"/>
          </p:cNvSpPr>
          <p:nvPr>
            <p:ph type="sldImg"/>
          </p:nvPr>
        </p:nvSpPr>
        <p:spPr>
          <a:ln/>
        </p:spPr>
      </p:sp>
      <p:sp>
        <p:nvSpPr>
          <p:cNvPr id="182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280227465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4940EDB-3B74-40D8-8243-611D371E050D}" type="slidenum">
              <a:rPr lang="en-US" altLang="zh-CN"/>
              <a:pPr eaLnBrk="1" hangingPunct="1"/>
              <a:t>56</a:t>
            </a:fld>
            <a:endParaRPr lang="en-US" altLang="zh-CN"/>
          </a:p>
        </p:txBody>
      </p:sp>
      <p:sp>
        <p:nvSpPr>
          <p:cNvPr id="183299" name="Rectangle 2"/>
          <p:cNvSpPr>
            <a:spLocks noGrp="1" noRot="1" noChangeAspect="1" noChangeArrowheads="1" noTextEdit="1"/>
          </p:cNvSpPr>
          <p:nvPr>
            <p:ph type="sldImg"/>
          </p:nvPr>
        </p:nvSpPr>
        <p:spPr>
          <a:ln/>
        </p:spPr>
      </p:sp>
      <p:sp>
        <p:nvSpPr>
          <p:cNvPr id="1833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427621763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29C55F4-5F8B-4627-8D32-7DE27E599F3C}" type="slidenum">
              <a:rPr lang="en-US" altLang="zh-CN"/>
              <a:pPr eaLnBrk="1" hangingPunct="1"/>
              <a:t>57</a:t>
            </a:fld>
            <a:endParaRPr lang="en-US" altLang="zh-CN"/>
          </a:p>
        </p:txBody>
      </p:sp>
      <p:sp>
        <p:nvSpPr>
          <p:cNvPr id="184323" name="Rectangle 2"/>
          <p:cNvSpPr>
            <a:spLocks noGrp="1" noRot="1" noChangeAspect="1" noChangeArrowheads="1" noTextEdit="1"/>
          </p:cNvSpPr>
          <p:nvPr>
            <p:ph type="sldImg"/>
          </p:nvPr>
        </p:nvSpPr>
        <p:spPr>
          <a:ln/>
        </p:spPr>
      </p:sp>
      <p:sp>
        <p:nvSpPr>
          <p:cNvPr id="184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279005566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2ECC1C6-401E-4BAF-A212-5F1FD1C3FC36}" type="slidenum">
              <a:rPr lang="en-US" altLang="zh-CN"/>
              <a:pPr eaLnBrk="1" hangingPunct="1"/>
              <a:t>58</a:t>
            </a:fld>
            <a:endParaRPr lang="en-US" altLang="zh-CN"/>
          </a:p>
        </p:txBody>
      </p:sp>
      <p:sp>
        <p:nvSpPr>
          <p:cNvPr id="185347" name="Rectangle 2"/>
          <p:cNvSpPr>
            <a:spLocks noGrp="1" noRot="1" noChangeAspect="1" noChangeArrowheads="1" noTextEdit="1"/>
          </p:cNvSpPr>
          <p:nvPr>
            <p:ph type="sldImg"/>
          </p:nvPr>
        </p:nvSpPr>
        <p:spPr>
          <a:ln/>
        </p:spPr>
      </p:sp>
      <p:sp>
        <p:nvSpPr>
          <p:cNvPr id="185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241055009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402E15C-B906-4238-B41D-9688B5BB6992}" type="slidenum">
              <a:rPr lang="en-US" altLang="zh-CN"/>
              <a:pPr eaLnBrk="1" hangingPunct="1"/>
              <a:t>59</a:t>
            </a:fld>
            <a:endParaRPr lang="en-US" altLang="zh-CN"/>
          </a:p>
        </p:txBody>
      </p:sp>
      <p:sp>
        <p:nvSpPr>
          <p:cNvPr id="186371" name="Rectangle 2"/>
          <p:cNvSpPr>
            <a:spLocks noGrp="1" noRot="1" noChangeAspect="1" noChangeArrowheads="1" noTextEdit="1"/>
          </p:cNvSpPr>
          <p:nvPr>
            <p:ph type="sldImg"/>
          </p:nvPr>
        </p:nvSpPr>
        <p:spPr>
          <a:ln/>
        </p:spPr>
      </p:sp>
      <p:sp>
        <p:nvSpPr>
          <p:cNvPr id="186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31124630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3E05437-9E2C-451F-87DD-64D715051AC8}" type="slidenum">
              <a:rPr lang="en-US" altLang="zh-CN"/>
              <a:pPr eaLnBrk="1" hangingPunct="1"/>
              <a:t>60</a:t>
            </a:fld>
            <a:endParaRPr lang="en-US" altLang="zh-CN"/>
          </a:p>
        </p:txBody>
      </p:sp>
      <p:sp>
        <p:nvSpPr>
          <p:cNvPr id="187395" name="Rectangle 2"/>
          <p:cNvSpPr>
            <a:spLocks noGrp="1" noRot="1" noChangeAspect="1" noChangeArrowheads="1" noTextEdit="1"/>
          </p:cNvSpPr>
          <p:nvPr>
            <p:ph type="sldImg"/>
          </p:nvPr>
        </p:nvSpPr>
        <p:spPr>
          <a:ln/>
        </p:spPr>
      </p:sp>
      <p:sp>
        <p:nvSpPr>
          <p:cNvPr id="1873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217958661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305FD6A-94FB-486A-807B-1317130147E9}" type="slidenum">
              <a:rPr lang="en-US" altLang="zh-CN" smtClean="0"/>
              <a:pPr>
                <a:spcBef>
                  <a:spcPct val="0"/>
                </a:spcBef>
              </a:pPr>
              <a:t>61</a:t>
            </a:fld>
            <a:endParaRPr lang="en-US" altLang="zh-CN" dirty="0" smtClean="0"/>
          </a:p>
        </p:txBody>
      </p:sp>
      <p:sp>
        <p:nvSpPr>
          <p:cNvPr id="184323" name="Rectangle 2"/>
          <p:cNvSpPr>
            <a:spLocks noGrp="1" noRot="1" noChangeAspect="1" noChangeArrowheads="1" noTextEdit="1"/>
          </p:cNvSpPr>
          <p:nvPr>
            <p:ph type="sldImg"/>
          </p:nvPr>
        </p:nvSpPr>
        <p:spPr>
          <a:ln/>
        </p:spPr>
      </p:sp>
      <p:sp>
        <p:nvSpPr>
          <p:cNvPr id="184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124115257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DFFB665-101B-46AD-8E4C-5AE93ADC48FB}" type="slidenum">
              <a:rPr lang="en-US" altLang="zh-CN" smtClean="0"/>
              <a:pPr>
                <a:spcBef>
                  <a:spcPct val="0"/>
                </a:spcBef>
              </a:pPr>
              <a:t>67</a:t>
            </a:fld>
            <a:endParaRPr lang="en-US" altLang="zh-CN" smtClean="0"/>
          </a:p>
        </p:txBody>
      </p:sp>
      <p:sp>
        <p:nvSpPr>
          <p:cNvPr id="12291" name="Rectangle 2"/>
          <p:cNvSpPr>
            <a:spLocks noGrp="1" noRot="1" noChangeAspect="1" noChangeArrowheads="1" noTextEdit="1"/>
          </p:cNvSpPr>
          <p:nvPr>
            <p:ph type="sldImg"/>
          </p:nvPr>
        </p:nvSpPr>
        <p:spPr>
          <a:ln/>
        </p:spPr>
      </p:sp>
      <p:sp>
        <p:nvSpPr>
          <p:cNvPr id="122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28289301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DFFB665-101B-46AD-8E4C-5AE93ADC48FB}" type="slidenum">
              <a:rPr lang="en-US" altLang="zh-CN" smtClean="0"/>
              <a:pPr>
                <a:spcBef>
                  <a:spcPct val="0"/>
                </a:spcBef>
              </a:pPr>
              <a:t>68</a:t>
            </a:fld>
            <a:endParaRPr lang="en-US" altLang="zh-CN" smtClean="0"/>
          </a:p>
        </p:txBody>
      </p:sp>
      <p:sp>
        <p:nvSpPr>
          <p:cNvPr id="12291" name="Rectangle 2"/>
          <p:cNvSpPr>
            <a:spLocks noGrp="1" noRot="1" noChangeAspect="1" noChangeArrowheads="1" noTextEdit="1"/>
          </p:cNvSpPr>
          <p:nvPr>
            <p:ph type="sldImg"/>
          </p:nvPr>
        </p:nvSpPr>
        <p:spPr>
          <a:ln/>
        </p:spPr>
      </p:sp>
      <p:sp>
        <p:nvSpPr>
          <p:cNvPr id="122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smtClean="0">
              <a:latin typeface="Arial" panose="020B0604020202020204" pitchFamily="34" charset="0"/>
            </a:endParaRPr>
          </a:p>
        </p:txBody>
      </p:sp>
    </p:spTree>
    <p:extLst>
      <p:ext uri="{BB962C8B-B14F-4D97-AF65-F5344CB8AC3E}">
        <p14:creationId xmlns:p14="http://schemas.microsoft.com/office/powerpoint/2010/main" val="39593091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CF952A7-49F2-4C76-8B90-551E200149B3}" type="slidenum">
              <a:rPr lang="en-US" altLang="zh-CN" smtClean="0"/>
              <a:pPr>
                <a:spcBef>
                  <a:spcPct val="0"/>
                </a:spcBef>
              </a:pPr>
              <a:t>69</a:t>
            </a:fld>
            <a:endParaRPr lang="en-US" altLang="zh-CN" smtClean="0"/>
          </a:p>
        </p:txBody>
      </p:sp>
      <p:sp>
        <p:nvSpPr>
          <p:cNvPr id="9219" name="Rectangle 2"/>
          <p:cNvSpPr>
            <a:spLocks noGrp="1" noRot="1" noChangeAspect="1" noChangeArrowheads="1" noTextEdit="1"/>
          </p:cNvSpPr>
          <p:nvPr>
            <p:ph type="sldImg"/>
          </p:nvPr>
        </p:nvSpPr>
        <p:spPr>
          <a:ln/>
        </p:spPr>
      </p:sp>
      <p:sp>
        <p:nvSpPr>
          <p:cNvPr id="92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182443704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447CBC9-CEFB-4766-9B27-E7EDC1CA493B}" type="slidenum">
              <a:rPr lang="en-US" altLang="zh-CN" smtClean="0"/>
              <a:pPr>
                <a:spcBef>
                  <a:spcPct val="0"/>
                </a:spcBef>
              </a:pPr>
              <a:t>70</a:t>
            </a:fld>
            <a:endParaRPr lang="en-US" altLang="zh-CN" smtClean="0"/>
          </a:p>
        </p:txBody>
      </p:sp>
      <p:sp>
        <p:nvSpPr>
          <p:cNvPr id="11267" name="Rectangle 2"/>
          <p:cNvSpPr>
            <a:spLocks noGrp="1" noRot="1" noChangeAspect="1" noChangeArrowheads="1" noTextEdit="1"/>
          </p:cNvSpPr>
          <p:nvPr>
            <p:ph type="sldImg"/>
          </p:nvPr>
        </p:nvSpPr>
        <p:spPr>
          <a:ln/>
        </p:spPr>
      </p:sp>
      <p:sp>
        <p:nvSpPr>
          <p:cNvPr id="112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233229816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64627C8-9597-446F-A627-14F4C5E044C2}" type="slidenum">
              <a:rPr lang="en-US" altLang="zh-CN" smtClean="0"/>
              <a:pPr>
                <a:spcBef>
                  <a:spcPct val="0"/>
                </a:spcBef>
              </a:pPr>
              <a:t>71</a:t>
            </a:fld>
            <a:endParaRPr lang="en-US" altLang="zh-CN" smtClean="0"/>
          </a:p>
        </p:txBody>
      </p:sp>
      <p:sp>
        <p:nvSpPr>
          <p:cNvPr id="13315" name="Rectangle 2"/>
          <p:cNvSpPr>
            <a:spLocks noGrp="1" noRot="1" noChangeAspect="1" noChangeArrowheads="1" noTextEdit="1"/>
          </p:cNvSpPr>
          <p:nvPr>
            <p:ph type="sldImg"/>
          </p:nvPr>
        </p:nvSpPr>
        <p:spPr>
          <a:ln/>
        </p:spPr>
      </p:sp>
      <p:sp>
        <p:nvSpPr>
          <p:cNvPr id="133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144028250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1B37465-EB02-4E8D-BC4E-CC72644A44A5}" type="slidenum">
              <a:rPr lang="en-US" altLang="zh-CN" smtClean="0"/>
              <a:pPr>
                <a:spcBef>
                  <a:spcPct val="0"/>
                </a:spcBef>
              </a:pPr>
              <a:t>72</a:t>
            </a:fld>
            <a:endParaRPr lang="en-US" altLang="zh-CN" smtClean="0"/>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390635904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CF7602B-CE2A-43CE-B547-F4830955EB34}" type="slidenum">
              <a:rPr lang="en-US" altLang="zh-CN" smtClean="0"/>
              <a:pPr>
                <a:spcBef>
                  <a:spcPct val="0"/>
                </a:spcBef>
              </a:pPr>
              <a:t>73</a:t>
            </a:fld>
            <a:endParaRPr lang="en-US" altLang="zh-CN" smtClean="0"/>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关系可以分为一个集合内部的关系，两个集合之间的关系</a:t>
            </a:r>
            <a:endParaRPr lang="en-US" altLang="zh-CN" smtClean="0">
              <a:latin typeface="Arial" panose="020B0604020202020204" pitchFamily="34" charset="0"/>
            </a:endParaRPr>
          </a:p>
          <a:p>
            <a:pPr eaLnBrk="1" hangingPunct="1"/>
            <a:r>
              <a:rPr lang="zh-CN" altLang="en-US" smtClean="0">
                <a:latin typeface="Arial" panose="020B0604020202020204" pitchFamily="34" charset="0"/>
              </a:rPr>
              <a:t>（稍微讲解笛卡尔积）</a:t>
            </a:r>
            <a:endParaRPr lang="zh-CN" altLang="zh-CN" smtClean="0">
              <a:latin typeface="Arial" panose="020B0604020202020204" pitchFamily="34" charset="0"/>
            </a:endParaRPr>
          </a:p>
        </p:txBody>
      </p:sp>
    </p:spTree>
    <p:extLst>
      <p:ext uri="{BB962C8B-B14F-4D97-AF65-F5344CB8AC3E}">
        <p14:creationId xmlns:p14="http://schemas.microsoft.com/office/powerpoint/2010/main" val="42081934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82BE5A2-FAE3-4EE1-931B-093B0C8989C6}" type="slidenum">
              <a:rPr lang="en-US" altLang="zh-CN" smtClean="0"/>
              <a:pPr>
                <a:spcBef>
                  <a:spcPct val="0"/>
                </a:spcBef>
              </a:pPr>
              <a:t>74</a:t>
            </a:fld>
            <a:endParaRPr lang="en-US" altLang="zh-CN" smtClean="0"/>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101909915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9C99261-DEB1-41F6-B367-C9D5AB443560}" type="slidenum">
              <a:rPr lang="en-US" altLang="zh-CN" smtClean="0"/>
              <a:pPr>
                <a:spcBef>
                  <a:spcPct val="0"/>
                </a:spcBef>
              </a:pPr>
              <a:t>75</a:t>
            </a:fld>
            <a:endParaRPr lang="en-US" altLang="zh-CN" smtClean="0"/>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讲解二院关系</a:t>
            </a:r>
            <a:endParaRPr lang="zh-CN" altLang="zh-CN" smtClean="0">
              <a:latin typeface="Arial" panose="020B0604020202020204" pitchFamily="34" charset="0"/>
            </a:endParaRPr>
          </a:p>
        </p:txBody>
      </p:sp>
    </p:spTree>
    <p:extLst>
      <p:ext uri="{BB962C8B-B14F-4D97-AF65-F5344CB8AC3E}">
        <p14:creationId xmlns:p14="http://schemas.microsoft.com/office/powerpoint/2010/main" val="134668722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5A3FFCC-888D-4E94-B4FA-AC1D7F1B9F8C}" type="slidenum">
              <a:rPr lang="en-US" altLang="zh-CN" smtClean="0"/>
              <a:pPr>
                <a:spcBef>
                  <a:spcPct val="0"/>
                </a:spcBef>
              </a:pPr>
              <a:t>76</a:t>
            </a:fld>
            <a:endParaRPr lang="en-US" altLang="zh-CN" smtClean="0"/>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186185010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F099036-2FBA-4CC4-BCC7-AD7188C9EC11}" type="slidenum">
              <a:rPr lang="en-US" altLang="zh-CN" smtClean="0"/>
              <a:pPr>
                <a:spcBef>
                  <a:spcPct val="0"/>
                </a:spcBef>
              </a:pPr>
              <a:t>77</a:t>
            </a:fld>
            <a:endParaRPr lang="en-US" altLang="zh-CN" smtClean="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108281838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C5DE031-9A40-4BEE-9C2F-4A60265A03A3}" type="slidenum">
              <a:rPr lang="en-US" altLang="zh-CN" smtClean="0"/>
              <a:pPr>
                <a:spcBef>
                  <a:spcPct val="0"/>
                </a:spcBef>
              </a:pPr>
              <a:t>78</a:t>
            </a:fld>
            <a:endParaRPr lang="en-US" altLang="zh-CN" smtClean="0"/>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134335632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4583E1A-4996-4560-9FC9-EE91F6D58D5E}" type="slidenum">
              <a:rPr lang="en-US" altLang="zh-CN" smtClean="0"/>
              <a:pPr>
                <a:spcBef>
                  <a:spcPct val="0"/>
                </a:spcBef>
              </a:pPr>
              <a:t>79</a:t>
            </a:fld>
            <a:endParaRPr lang="en-US" altLang="zh-CN" smtClean="0"/>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smtClean="0">
                <a:latin typeface="Arial" panose="020B0604020202020204" pitchFamily="34" charset="0"/>
              </a:rPr>
              <a:t>R1:</a:t>
            </a:r>
          </a:p>
          <a:p>
            <a:pPr eaLnBrk="1" hangingPunct="1"/>
            <a:r>
              <a:rPr lang="zh-CN" altLang="en-US" smtClean="0">
                <a:latin typeface="Arial" panose="020B0604020202020204" pitchFamily="34" charset="0"/>
              </a:rPr>
              <a:t>自反的：</a:t>
            </a:r>
            <a:r>
              <a:rPr lang="en-US" altLang="zh-CN" smtClean="0">
                <a:latin typeface="Arial" panose="020B0604020202020204" pitchFamily="34" charset="0"/>
              </a:rPr>
              <a:t>X</a:t>
            </a:r>
            <a:r>
              <a:rPr lang="zh-CN" altLang="en-US" smtClean="0">
                <a:latin typeface="Arial" panose="020B0604020202020204" pitchFamily="34" charset="0"/>
              </a:rPr>
              <a:t>可以整除</a:t>
            </a:r>
            <a:r>
              <a:rPr lang="en-US" altLang="zh-CN" smtClean="0">
                <a:latin typeface="Arial" panose="020B0604020202020204" pitchFamily="34" charset="0"/>
              </a:rPr>
              <a:t>X</a:t>
            </a:r>
            <a:r>
              <a:rPr lang="zh-CN" altLang="en-US" smtClean="0">
                <a:latin typeface="Arial" panose="020B0604020202020204" pitchFamily="34" charset="0"/>
              </a:rPr>
              <a:t>； </a:t>
            </a:r>
            <a:endParaRPr lang="en-US" altLang="zh-CN" smtClean="0">
              <a:latin typeface="Arial" panose="020B0604020202020204" pitchFamily="34" charset="0"/>
            </a:endParaRPr>
          </a:p>
          <a:p>
            <a:pPr eaLnBrk="1" hangingPunct="1"/>
            <a:r>
              <a:rPr lang="zh-CN" altLang="en-US" smtClean="0">
                <a:latin typeface="Arial" panose="020B0604020202020204" pitchFamily="34" charset="0"/>
              </a:rPr>
              <a:t>反对称的：如果</a:t>
            </a:r>
            <a:r>
              <a:rPr lang="en-US" altLang="zh-CN" smtClean="0">
                <a:latin typeface="Arial" panose="020B0604020202020204" pitchFamily="34" charset="0"/>
              </a:rPr>
              <a:t>X</a:t>
            </a:r>
            <a:r>
              <a:rPr lang="zh-CN" altLang="en-US" smtClean="0">
                <a:latin typeface="Arial" panose="020B0604020202020204" pitchFamily="34" charset="0"/>
              </a:rPr>
              <a:t>能整除</a:t>
            </a:r>
            <a:r>
              <a:rPr lang="en-US" altLang="zh-CN" smtClean="0">
                <a:latin typeface="Arial" panose="020B0604020202020204" pitchFamily="34" charset="0"/>
              </a:rPr>
              <a:t>Y</a:t>
            </a:r>
            <a:r>
              <a:rPr lang="zh-CN" altLang="en-US" smtClean="0">
                <a:latin typeface="Arial" panose="020B0604020202020204" pitchFamily="34" charset="0"/>
              </a:rPr>
              <a:t>，</a:t>
            </a:r>
            <a:r>
              <a:rPr lang="en-US" altLang="zh-CN" smtClean="0">
                <a:latin typeface="Arial" panose="020B0604020202020204" pitchFamily="34" charset="0"/>
              </a:rPr>
              <a:t>Y</a:t>
            </a:r>
            <a:r>
              <a:rPr lang="zh-CN" altLang="en-US" smtClean="0">
                <a:latin typeface="Arial" panose="020B0604020202020204" pitchFamily="34" charset="0"/>
              </a:rPr>
              <a:t>也能整除</a:t>
            </a:r>
            <a:r>
              <a:rPr lang="en-US" altLang="zh-CN" smtClean="0">
                <a:latin typeface="Arial" panose="020B0604020202020204" pitchFamily="34" charset="0"/>
              </a:rPr>
              <a:t>X</a:t>
            </a:r>
            <a:r>
              <a:rPr lang="zh-CN" altLang="en-US" smtClean="0">
                <a:latin typeface="Arial" panose="020B0604020202020204" pitchFamily="34" charset="0"/>
              </a:rPr>
              <a:t>，则</a:t>
            </a:r>
            <a:r>
              <a:rPr lang="en-US" altLang="zh-CN" smtClean="0">
                <a:latin typeface="Arial" panose="020B0604020202020204" pitchFamily="34" charset="0"/>
              </a:rPr>
              <a:t>X=Y</a:t>
            </a:r>
            <a:r>
              <a:rPr lang="zh-CN" altLang="en-US" smtClean="0">
                <a:latin typeface="Arial" panose="020B0604020202020204" pitchFamily="34" charset="0"/>
              </a:rPr>
              <a:t>；</a:t>
            </a:r>
            <a:endParaRPr lang="en-US" altLang="zh-CN" smtClean="0">
              <a:latin typeface="Arial" panose="020B0604020202020204" pitchFamily="34" charset="0"/>
            </a:endParaRPr>
          </a:p>
          <a:p>
            <a:pPr eaLnBrk="1" hangingPunct="1"/>
            <a:r>
              <a:rPr lang="zh-CN" altLang="en-US" smtClean="0">
                <a:latin typeface="Arial" panose="020B0604020202020204" pitchFamily="34" charset="0"/>
              </a:rPr>
              <a:t>传递的：如果</a:t>
            </a:r>
            <a:r>
              <a:rPr lang="en-US" altLang="zh-CN" smtClean="0">
                <a:latin typeface="Arial" panose="020B0604020202020204" pitchFamily="34" charset="0"/>
              </a:rPr>
              <a:t>X</a:t>
            </a:r>
            <a:r>
              <a:rPr lang="zh-CN" altLang="en-US" smtClean="0">
                <a:latin typeface="Arial" panose="020B0604020202020204" pitchFamily="34" charset="0"/>
              </a:rPr>
              <a:t>能整除</a:t>
            </a:r>
            <a:r>
              <a:rPr lang="en-US" altLang="zh-CN" smtClean="0">
                <a:latin typeface="Arial" panose="020B0604020202020204" pitchFamily="34" charset="0"/>
              </a:rPr>
              <a:t>Y</a:t>
            </a:r>
            <a:r>
              <a:rPr lang="zh-CN" altLang="en-US" smtClean="0">
                <a:latin typeface="Arial" panose="020B0604020202020204" pitchFamily="34" charset="0"/>
              </a:rPr>
              <a:t>，</a:t>
            </a:r>
            <a:r>
              <a:rPr lang="en-US" altLang="zh-CN" smtClean="0">
                <a:latin typeface="Arial" panose="020B0604020202020204" pitchFamily="34" charset="0"/>
              </a:rPr>
              <a:t>Y</a:t>
            </a:r>
            <a:r>
              <a:rPr lang="zh-CN" altLang="en-US" smtClean="0">
                <a:latin typeface="Arial" panose="020B0604020202020204" pitchFamily="34" charset="0"/>
              </a:rPr>
              <a:t>能整除</a:t>
            </a:r>
            <a:r>
              <a:rPr lang="en-US" altLang="zh-CN" smtClean="0">
                <a:latin typeface="Arial" panose="020B0604020202020204" pitchFamily="34" charset="0"/>
              </a:rPr>
              <a:t>Z</a:t>
            </a:r>
            <a:r>
              <a:rPr lang="zh-CN" altLang="en-US" smtClean="0">
                <a:latin typeface="Arial" panose="020B0604020202020204" pitchFamily="34" charset="0"/>
              </a:rPr>
              <a:t>，则</a:t>
            </a:r>
            <a:r>
              <a:rPr lang="en-US" altLang="zh-CN" smtClean="0">
                <a:latin typeface="Arial" panose="020B0604020202020204" pitchFamily="34" charset="0"/>
              </a:rPr>
              <a:t>X</a:t>
            </a:r>
            <a:r>
              <a:rPr lang="zh-CN" altLang="en-US" smtClean="0">
                <a:latin typeface="Arial" panose="020B0604020202020204" pitchFamily="34" charset="0"/>
              </a:rPr>
              <a:t>能整除</a:t>
            </a:r>
            <a:r>
              <a:rPr lang="en-US" altLang="zh-CN" smtClean="0">
                <a:latin typeface="Arial" panose="020B0604020202020204" pitchFamily="34" charset="0"/>
              </a:rPr>
              <a:t>Z</a:t>
            </a:r>
            <a:r>
              <a:rPr lang="zh-CN" altLang="en-US" smtClean="0">
                <a:latin typeface="Arial" panose="020B0604020202020204" pitchFamily="34" charset="0"/>
              </a:rPr>
              <a:t>；</a:t>
            </a:r>
            <a:endParaRPr lang="en-US" altLang="zh-CN" smtClean="0">
              <a:latin typeface="Arial" panose="020B0604020202020204" pitchFamily="34" charset="0"/>
            </a:endParaRPr>
          </a:p>
        </p:txBody>
      </p:sp>
    </p:spTree>
    <p:extLst>
      <p:ext uri="{BB962C8B-B14F-4D97-AF65-F5344CB8AC3E}">
        <p14:creationId xmlns:p14="http://schemas.microsoft.com/office/powerpoint/2010/main" val="89362960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FAA0E45-EE01-4F5D-BC2B-ADBEAD8142BA}" type="slidenum">
              <a:rPr lang="en-US" altLang="zh-CN" smtClean="0"/>
              <a:pPr>
                <a:spcBef>
                  <a:spcPct val="0"/>
                </a:spcBef>
              </a:pPr>
              <a:t>80</a:t>
            </a:fld>
            <a:endParaRPr lang="en-US" altLang="zh-CN" smtClean="0"/>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等价关系：是在一个集合内部，所有元素之间的关系满足自反的、对称的和传递的特点。</a:t>
            </a:r>
            <a:endParaRPr lang="en-US" altLang="zh-CN" smtClean="0">
              <a:latin typeface="Arial" panose="020B0604020202020204" pitchFamily="34" charset="0"/>
            </a:endParaRPr>
          </a:p>
          <a:p>
            <a:pPr eaLnBrk="1" hangingPunct="1"/>
            <a:r>
              <a:rPr lang="zh-CN" altLang="en-US" smtClean="0">
                <a:latin typeface="Arial" panose="020B0604020202020204" pitchFamily="34" charset="0"/>
              </a:rPr>
              <a:t>等价类：是满足等价关系的多个不同的集合。可以列出来。</a:t>
            </a:r>
            <a:endParaRPr lang="zh-CN" altLang="zh-CN" smtClean="0">
              <a:latin typeface="Arial" panose="020B0604020202020204" pitchFamily="34" charset="0"/>
            </a:endParaRPr>
          </a:p>
        </p:txBody>
      </p:sp>
    </p:spTree>
    <p:extLst>
      <p:ext uri="{BB962C8B-B14F-4D97-AF65-F5344CB8AC3E}">
        <p14:creationId xmlns:p14="http://schemas.microsoft.com/office/powerpoint/2010/main" val="291005225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85EDB3A-C82D-4F65-BC60-F9BFB6B3F3DA}" type="slidenum">
              <a:rPr lang="en-US" altLang="zh-CN" smtClean="0"/>
              <a:pPr>
                <a:spcBef>
                  <a:spcPct val="0"/>
                </a:spcBef>
              </a:pPr>
              <a:t>81</a:t>
            </a:fld>
            <a:endParaRPr lang="en-US" altLang="zh-CN" smtClean="0"/>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400391583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5224258-AC62-46B3-8692-0EC8626D4F0D}" type="slidenum">
              <a:rPr lang="en-US" altLang="zh-CN" smtClean="0"/>
              <a:pPr>
                <a:spcBef>
                  <a:spcPct val="0"/>
                </a:spcBef>
              </a:pPr>
              <a:t>82</a:t>
            </a:fld>
            <a:endParaRPr lang="en-US" altLang="zh-CN" smtClean="0"/>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212332542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A84F955-A51C-4676-A7F6-D9BC977ED36E}" type="slidenum">
              <a:rPr lang="en-US" altLang="zh-CN" smtClean="0"/>
              <a:pPr>
                <a:spcBef>
                  <a:spcPct val="0"/>
                </a:spcBef>
              </a:pPr>
              <a:t>83</a:t>
            </a:fld>
            <a:endParaRPr lang="en-US" altLang="zh-CN" smtClean="0"/>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230340907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852ABED-05CA-4F74-AECF-CEDE6ECC2528}" type="slidenum">
              <a:rPr lang="en-US" altLang="zh-CN" smtClean="0"/>
              <a:pPr>
                <a:spcBef>
                  <a:spcPct val="0"/>
                </a:spcBef>
              </a:pPr>
              <a:t>84</a:t>
            </a:fld>
            <a:endParaRPr lang="en-US" altLang="zh-CN" smtClean="0"/>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116612052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89B876A-054B-4474-9EF1-70791120D562}" type="slidenum">
              <a:rPr lang="en-US" altLang="zh-CN" smtClean="0"/>
              <a:pPr>
                <a:spcBef>
                  <a:spcPct val="0"/>
                </a:spcBef>
              </a:pPr>
              <a:t>85</a:t>
            </a:fld>
            <a:endParaRPr lang="en-US" altLang="zh-CN" smtClean="0"/>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197073992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8C9E4F2-6080-44CD-B87E-A2072878F4AB}" type="slidenum">
              <a:rPr lang="en-US" altLang="zh-CN" smtClean="0"/>
              <a:pPr>
                <a:spcBef>
                  <a:spcPct val="0"/>
                </a:spcBef>
              </a:pPr>
              <a:t>86</a:t>
            </a:fld>
            <a:endParaRPr lang="en-US" altLang="zh-CN" smtClean="0"/>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1027270585"/>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6862FB6-8FC9-4346-91B4-B10392044F94}" type="slidenum">
              <a:rPr lang="en-US" altLang="zh-CN" smtClean="0"/>
              <a:pPr>
                <a:spcBef>
                  <a:spcPct val="0"/>
                </a:spcBef>
              </a:pPr>
              <a:t>87</a:t>
            </a:fld>
            <a:endParaRPr lang="en-US" altLang="zh-CN" smtClean="0"/>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49101451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5B71FDA-9EA9-45C1-B180-FD9B379DF76A}" type="slidenum">
              <a:rPr lang="en-US" altLang="zh-CN" smtClean="0"/>
              <a:pPr>
                <a:spcBef>
                  <a:spcPct val="0"/>
                </a:spcBef>
              </a:pPr>
              <a:t>88</a:t>
            </a:fld>
            <a:endParaRPr lang="en-US" altLang="zh-CN" smtClean="0"/>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1974231743"/>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B01069D-B870-48B7-9D98-DD4A8A359B15}" type="slidenum">
              <a:rPr lang="en-US" altLang="zh-CN" smtClean="0"/>
              <a:pPr>
                <a:spcBef>
                  <a:spcPct val="0"/>
                </a:spcBef>
              </a:pPr>
              <a:t>89</a:t>
            </a:fld>
            <a:endParaRPr lang="en-US" altLang="zh-CN" smtClean="0"/>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4014396924"/>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409502C-A178-4DB3-AEE1-C8DE2D709084}" type="slidenum">
              <a:rPr lang="en-US" altLang="zh-CN" smtClean="0"/>
              <a:pPr>
                <a:spcBef>
                  <a:spcPct val="0"/>
                </a:spcBef>
              </a:pPr>
              <a:t>90</a:t>
            </a:fld>
            <a:endParaRPr lang="en-US" altLang="zh-CN" smtClean="0"/>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325656397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E4DD179-7E14-4815-A057-2E404DD43FC2}" type="slidenum">
              <a:rPr lang="en-US" altLang="zh-CN" smtClean="0"/>
              <a:pPr>
                <a:spcBef>
                  <a:spcPct val="0"/>
                </a:spcBef>
              </a:pPr>
              <a:t>91</a:t>
            </a:fld>
            <a:endParaRPr lang="en-US" altLang="zh-CN" smtClean="0"/>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1581606377"/>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77A2EF6-C454-4BA0-A4F0-676A645A5894}" type="slidenum">
              <a:rPr lang="en-US" altLang="zh-CN" smtClean="0"/>
              <a:pPr>
                <a:spcBef>
                  <a:spcPct val="0"/>
                </a:spcBef>
              </a:pPr>
              <a:t>92</a:t>
            </a:fld>
            <a:endParaRPr lang="en-US" altLang="zh-CN" smtClean="0"/>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1215388523"/>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11B7C95-B0C8-408F-BC3F-C12B4F2C2E00}" type="slidenum">
              <a:rPr lang="en-US" altLang="zh-CN" smtClean="0"/>
              <a:pPr>
                <a:spcBef>
                  <a:spcPct val="0"/>
                </a:spcBef>
              </a:pPr>
              <a:t>93</a:t>
            </a:fld>
            <a:endParaRPr lang="en-US" altLang="zh-CN" smtClean="0"/>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1461783058"/>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48530C1-27DB-449E-9670-1D4F1C4FBE15}" type="slidenum">
              <a:rPr lang="en-US" altLang="zh-CN" smtClean="0"/>
              <a:pPr>
                <a:spcBef>
                  <a:spcPct val="0"/>
                </a:spcBef>
              </a:pPr>
              <a:t>94</a:t>
            </a:fld>
            <a:endParaRPr lang="en-US" altLang="zh-CN" smtClean="0"/>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将（</a:t>
            </a:r>
            <a:r>
              <a:rPr lang="en-US" altLang="zh-CN" smtClean="0">
                <a:latin typeface="Arial" panose="020B0604020202020204" pitchFamily="34" charset="0"/>
              </a:rPr>
              <a:t>1+x</a:t>
            </a:r>
            <a:r>
              <a:rPr lang="zh-CN" altLang="en-US" smtClean="0">
                <a:latin typeface="Arial" panose="020B0604020202020204" pitchFamily="34" charset="0"/>
              </a:rPr>
              <a:t>）的</a:t>
            </a:r>
            <a:r>
              <a:rPr lang="en-US" altLang="zh-CN" smtClean="0">
                <a:latin typeface="Arial" panose="020B0604020202020204" pitchFamily="34" charset="0"/>
              </a:rPr>
              <a:t>n</a:t>
            </a:r>
            <a:r>
              <a:rPr lang="zh-CN" altLang="en-US" smtClean="0">
                <a:latin typeface="Arial" panose="020B0604020202020204" pitchFamily="34" charset="0"/>
              </a:rPr>
              <a:t>次方先分解，然后假设（</a:t>
            </a:r>
            <a:r>
              <a:rPr lang="en-US" altLang="zh-CN" smtClean="0">
                <a:latin typeface="Arial" panose="020B0604020202020204" pitchFamily="34" charset="0"/>
              </a:rPr>
              <a:t>1+x</a:t>
            </a:r>
            <a:r>
              <a:rPr lang="zh-CN" altLang="en-US" smtClean="0">
                <a:latin typeface="Arial" panose="020B0604020202020204" pitchFamily="34" charset="0"/>
              </a:rPr>
              <a:t>）的</a:t>
            </a:r>
            <a:r>
              <a:rPr lang="en-US" altLang="zh-CN" smtClean="0">
                <a:latin typeface="Arial" panose="020B0604020202020204" pitchFamily="34" charset="0"/>
              </a:rPr>
              <a:t>n-1</a:t>
            </a:r>
            <a:r>
              <a:rPr lang="zh-CN" altLang="en-US" smtClean="0">
                <a:latin typeface="Arial" panose="020B0604020202020204" pitchFamily="34" charset="0"/>
              </a:rPr>
              <a:t>次方的不等式成立，代入后再求解</a:t>
            </a:r>
            <a:endParaRPr lang="zh-CN" altLang="zh-CN" smtClean="0">
              <a:latin typeface="Arial" panose="020B0604020202020204" pitchFamily="34" charset="0"/>
            </a:endParaRPr>
          </a:p>
        </p:txBody>
      </p:sp>
    </p:spTree>
    <p:extLst>
      <p:ext uri="{BB962C8B-B14F-4D97-AF65-F5344CB8AC3E}">
        <p14:creationId xmlns:p14="http://schemas.microsoft.com/office/powerpoint/2010/main" val="1931460733"/>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6142579-148F-4576-9E92-3CE41021CB5F}" type="slidenum">
              <a:rPr lang="en-US" altLang="zh-CN" smtClean="0"/>
              <a:pPr>
                <a:spcBef>
                  <a:spcPct val="0"/>
                </a:spcBef>
              </a:pPr>
              <a:t>95</a:t>
            </a:fld>
            <a:endParaRPr lang="en-US" altLang="zh-CN" smtClean="0"/>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1673685587"/>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AF8D088-FBC0-4A33-B5E6-DDC09213FC49}" type="slidenum">
              <a:rPr lang="en-US" altLang="zh-CN" smtClean="0"/>
              <a:pPr>
                <a:spcBef>
                  <a:spcPct val="0"/>
                </a:spcBef>
              </a:pPr>
              <a:t>96</a:t>
            </a:fld>
            <a:endParaRPr lang="en-US" altLang="zh-CN" smtClean="0"/>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2504786423"/>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3047D6C-3D1D-4E45-A02D-487FB03D730B}" type="slidenum">
              <a:rPr lang="en-US" altLang="zh-CN" smtClean="0"/>
              <a:pPr>
                <a:spcBef>
                  <a:spcPct val="0"/>
                </a:spcBef>
              </a:pPr>
              <a:t>97</a:t>
            </a:fld>
            <a:endParaRPr lang="en-US" altLang="zh-CN" smtClean="0"/>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298532720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946B920-C7F5-4E7D-97D4-CAEBB5E37633}" type="slidenum">
              <a:rPr lang="en-US" altLang="zh-CN" smtClean="0"/>
              <a:pPr>
                <a:spcBef>
                  <a:spcPct val="0"/>
                </a:spcBef>
              </a:pPr>
              <a:t>98</a:t>
            </a:fld>
            <a:endParaRPr lang="en-US" altLang="zh-CN" smtClean="0"/>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134976702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A46BBFA-490F-4A38-ADEF-A2F6F201080D}" type="slidenum">
              <a:rPr lang="en-US" altLang="zh-CN" smtClean="0"/>
              <a:pPr>
                <a:spcBef>
                  <a:spcPct val="0"/>
                </a:spcBef>
              </a:pPr>
              <a:t>99</a:t>
            </a:fld>
            <a:endParaRPr lang="en-US" altLang="zh-CN" smtClean="0"/>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1593959842"/>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954D0D9-261B-4833-B521-D75D1EC73423}" type="slidenum">
              <a:rPr lang="en-US" altLang="zh-CN" smtClean="0"/>
              <a:pPr>
                <a:spcBef>
                  <a:spcPct val="0"/>
                </a:spcBef>
              </a:pPr>
              <a:t>100</a:t>
            </a:fld>
            <a:endParaRPr lang="en-US" altLang="zh-CN" smtClean="0"/>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668944899"/>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E2977C7-EE67-44B0-AF41-6DDD377721BE}" type="slidenum">
              <a:rPr lang="en-US" altLang="zh-CN" smtClean="0"/>
              <a:pPr>
                <a:spcBef>
                  <a:spcPct val="0"/>
                </a:spcBef>
              </a:pPr>
              <a:t>101</a:t>
            </a:fld>
            <a:endParaRPr lang="en-US" altLang="zh-CN" smtClean="0"/>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147794539"/>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E564B9C-1134-42DA-A417-6C72A4C0AB3E}" type="slidenum">
              <a:rPr lang="en-US" altLang="zh-CN" smtClean="0"/>
              <a:pPr>
                <a:spcBef>
                  <a:spcPct val="0"/>
                </a:spcBef>
              </a:pPr>
              <a:t>102</a:t>
            </a:fld>
            <a:endParaRPr lang="en-US" altLang="zh-CN" smtClean="0"/>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621403359"/>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A0AEAD1-0E5D-41D0-B6F8-FC1252862986}" type="slidenum">
              <a:rPr lang="en-US" altLang="zh-CN" smtClean="0"/>
              <a:pPr>
                <a:spcBef>
                  <a:spcPct val="0"/>
                </a:spcBef>
              </a:pPr>
              <a:t>103</a:t>
            </a:fld>
            <a:endParaRPr lang="en-US" altLang="zh-CN" smtClean="0"/>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1" eaLnBrk="1" hangingPunct="1"/>
            <a:r>
              <a:rPr lang="zh-CN" altLang="en-US" smtClean="0">
                <a:latin typeface="Arial" panose="020B0604020202020204" pitchFamily="34" charset="0"/>
                <a:sym typeface="Symbol" panose="05050102010706020507" pitchFamily="18" charset="2"/>
              </a:rPr>
              <a:t>一定存在一个盒子，必定最多装</a:t>
            </a:r>
            <a:r>
              <a:rPr lang="en-US" altLang="zh-CN" smtClean="0">
                <a:latin typeface="Arial" panose="020B0604020202020204" pitchFamily="34" charset="0"/>
                <a:sym typeface="Symbol" panose="05050102010706020507" pitchFamily="18" charset="2"/>
              </a:rPr>
              <a:t></a:t>
            </a:r>
            <a:r>
              <a:rPr lang="en-US" altLang="zh-CN" i="1" smtClean="0">
                <a:latin typeface="Arial" panose="020B0604020202020204" pitchFamily="34" charset="0"/>
                <a:sym typeface="Symbol" panose="05050102010706020507" pitchFamily="18" charset="2"/>
              </a:rPr>
              <a:t>n/m</a:t>
            </a:r>
            <a:r>
              <a:rPr lang="en-US" altLang="zh-CN" smtClean="0">
                <a:latin typeface="Arial" panose="020B0604020202020204" pitchFamily="34" charset="0"/>
                <a:sym typeface="Symbol" panose="05050102010706020507" pitchFamily="18" charset="2"/>
              </a:rPr>
              <a:t> </a:t>
            </a:r>
            <a:r>
              <a:rPr lang="zh-CN" altLang="en-US" smtClean="0">
                <a:latin typeface="Arial" panose="020B0604020202020204" pitchFamily="34" charset="0"/>
                <a:sym typeface="Symbol" panose="05050102010706020507" pitchFamily="18" charset="2"/>
              </a:rPr>
              <a:t>个球。</a:t>
            </a:r>
            <a:endParaRPr lang="en-US" altLang="zh-CN" smtClean="0">
              <a:latin typeface="Arial" panose="020B0604020202020204" pitchFamily="34" charset="0"/>
              <a:sym typeface="Symbol" panose="05050102010706020507" pitchFamily="18" charset="2"/>
            </a:endParaRPr>
          </a:p>
          <a:p>
            <a:pPr eaLnBrk="1" hangingPunct="1"/>
            <a:r>
              <a:rPr lang="zh-CN" altLang="en-US" smtClean="0">
                <a:latin typeface="Arial" panose="020B0604020202020204" pitchFamily="34" charset="0"/>
              </a:rPr>
              <a:t>理解：相区别于说：没有一个盒子，可以最多装</a:t>
            </a:r>
            <a:r>
              <a:rPr lang="en-US" altLang="zh-CN" smtClean="0">
                <a:latin typeface="Arial" panose="020B0604020202020204" pitchFamily="34" charset="0"/>
                <a:sym typeface="Symbol" panose="05050102010706020507" pitchFamily="18" charset="2"/>
              </a:rPr>
              <a:t></a:t>
            </a:r>
            <a:r>
              <a:rPr lang="en-US" altLang="zh-CN" i="1" smtClean="0">
                <a:latin typeface="Arial" panose="020B0604020202020204" pitchFamily="34" charset="0"/>
                <a:sym typeface="Symbol" panose="05050102010706020507" pitchFamily="18" charset="2"/>
              </a:rPr>
              <a:t>n/m</a:t>
            </a:r>
            <a:r>
              <a:rPr lang="en-US" altLang="zh-CN" smtClean="0">
                <a:latin typeface="Arial" panose="020B0604020202020204" pitchFamily="34" charset="0"/>
                <a:sym typeface="Symbol" panose="05050102010706020507" pitchFamily="18" charset="2"/>
              </a:rPr>
              <a:t> </a:t>
            </a:r>
            <a:r>
              <a:rPr lang="zh-CN" altLang="en-US" smtClean="0">
                <a:latin typeface="Arial" panose="020B0604020202020204" pitchFamily="34" charset="0"/>
                <a:sym typeface="Symbol" panose="05050102010706020507" pitchFamily="18" charset="2"/>
              </a:rPr>
              <a:t>个球；也就是说不是所有盒子都能装</a:t>
            </a:r>
            <a:r>
              <a:rPr lang="en-US" altLang="zh-CN" smtClean="0">
                <a:latin typeface="Arial" panose="020B0604020202020204" pitchFamily="34" charset="0"/>
                <a:sym typeface="Symbol" panose="05050102010706020507" pitchFamily="18" charset="2"/>
              </a:rPr>
              <a:t></a:t>
            </a:r>
            <a:r>
              <a:rPr lang="en-US" altLang="zh-CN" i="1" smtClean="0">
                <a:latin typeface="Arial" panose="020B0604020202020204" pitchFamily="34" charset="0"/>
                <a:sym typeface="Symbol" panose="05050102010706020507" pitchFamily="18" charset="2"/>
              </a:rPr>
              <a:t>n/m</a:t>
            </a:r>
            <a:r>
              <a:rPr lang="en-US" altLang="zh-CN" smtClean="0">
                <a:latin typeface="Arial" panose="020B0604020202020204" pitchFamily="34" charset="0"/>
                <a:sym typeface="Symbol" panose="05050102010706020507" pitchFamily="18" charset="2"/>
              </a:rPr>
              <a:t> </a:t>
            </a:r>
            <a:r>
              <a:rPr lang="zh-CN" altLang="en-US" smtClean="0">
                <a:latin typeface="Arial" panose="020B0604020202020204" pitchFamily="34" charset="0"/>
                <a:sym typeface="Symbol" panose="05050102010706020507" pitchFamily="18" charset="2"/>
              </a:rPr>
              <a:t>个球</a:t>
            </a:r>
            <a:endParaRPr lang="zh-CN" altLang="zh-CN" smtClean="0">
              <a:latin typeface="Arial" panose="020B0604020202020204" pitchFamily="34" charset="0"/>
            </a:endParaRPr>
          </a:p>
        </p:txBody>
      </p:sp>
    </p:spTree>
    <p:extLst>
      <p:ext uri="{BB962C8B-B14F-4D97-AF65-F5344CB8AC3E}">
        <p14:creationId xmlns:p14="http://schemas.microsoft.com/office/powerpoint/2010/main" val="4170704084"/>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2890FA9-C61D-45F1-98DC-E1939902F43B}" type="slidenum">
              <a:rPr lang="en-US" altLang="zh-CN" smtClean="0"/>
              <a:pPr>
                <a:spcBef>
                  <a:spcPct val="0"/>
                </a:spcBef>
              </a:pPr>
              <a:t>105</a:t>
            </a:fld>
            <a:endParaRPr lang="en-US" altLang="zh-CN" smtClean="0"/>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1792520653"/>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5F63243-92DC-4C7C-AB88-BADCB562E677}" type="slidenum">
              <a:rPr lang="en-US" altLang="zh-CN" smtClean="0"/>
              <a:pPr>
                <a:spcBef>
                  <a:spcPct val="0"/>
                </a:spcBef>
              </a:pPr>
              <a:t>106</a:t>
            </a:fld>
            <a:endParaRPr lang="en-US" altLang="zh-CN" smtClean="0"/>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2071428858"/>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9832C46-8B86-4EE6-BD9D-B725A9A6928B}" type="slidenum">
              <a:rPr lang="en-US" altLang="zh-CN" smtClean="0"/>
              <a:pPr>
                <a:spcBef>
                  <a:spcPct val="0"/>
                </a:spcBef>
              </a:pPr>
              <a:t>107</a:t>
            </a:fld>
            <a:endParaRPr lang="en-US" altLang="zh-CN" smtClean="0"/>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2327068389"/>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BCD3A30-61FE-4390-A874-C76060F8D483}" type="slidenum">
              <a:rPr lang="en-US" altLang="zh-CN" smtClean="0"/>
              <a:pPr>
                <a:spcBef>
                  <a:spcPct val="0"/>
                </a:spcBef>
              </a:pPr>
              <a:t>108</a:t>
            </a:fld>
            <a:endParaRPr lang="en-US" altLang="zh-CN" smtClean="0"/>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1971080895"/>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C6DD920-6DD0-4E13-9FC9-1F1ABBB11B5D}" type="slidenum">
              <a:rPr lang="en-US" altLang="zh-CN" smtClean="0"/>
              <a:pPr>
                <a:spcBef>
                  <a:spcPct val="0"/>
                </a:spcBef>
              </a:pPr>
              <a:t>109</a:t>
            </a:fld>
            <a:endParaRPr lang="en-US" altLang="zh-CN" smtClean="0"/>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结合书上内容讲</a:t>
            </a:r>
            <a:endParaRPr lang="zh-CN" altLang="zh-CN" smtClean="0">
              <a:latin typeface="Arial" panose="020B0604020202020204" pitchFamily="34" charset="0"/>
            </a:endParaRPr>
          </a:p>
        </p:txBody>
      </p:sp>
    </p:spTree>
    <p:extLst>
      <p:ext uri="{BB962C8B-B14F-4D97-AF65-F5344CB8AC3E}">
        <p14:creationId xmlns:p14="http://schemas.microsoft.com/office/powerpoint/2010/main" val="427736286"/>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724F71C-8661-4F45-82B9-CB25FE76DF06}" type="slidenum">
              <a:rPr lang="en-US" altLang="zh-CN" smtClean="0"/>
              <a:pPr>
                <a:spcBef>
                  <a:spcPct val="0"/>
                </a:spcBef>
              </a:pPr>
              <a:t>111</a:t>
            </a:fld>
            <a:endParaRPr lang="en-US" altLang="zh-CN" smtClean="0"/>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100449944"/>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A6E426C-786C-4A91-AB92-CAE2C3141650}" type="slidenum">
              <a:rPr lang="en-US" altLang="zh-CN" smtClean="0"/>
              <a:pPr>
                <a:spcBef>
                  <a:spcPct val="0"/>
                </a:spcBef>
              </a:pPr>
              <a:t>112</a:t>
            </a:fld>
            <a:endParaRPr lang="en-US" altLang="zh-CN" smtClean="0"/>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3270053026"/>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4F52B9A-C711-409C-B2E4-1F0C450C58D5}" type="slidenum">
              <a:rPr lang="en-US" altLang="zh-CN" smtClean="0"/>
              <a:pPr>
                <a:spcBef>
                  <a:spcPct val="0"/>
                </a:spcBef>
              </a:pPr>
              <a:t>113</a:t>
            </a:fld>
            <a:endParaRPr lang="en-US" altLang="zh-CN" smtClean="0"/>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2389507662"/>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EF74E33-BB0C-42C5-9FC5-B1F74FE7C821}" type="slidenum">
              <a:rPr lang="en-US" altLang="zh-CN" smtClean="0"/>
              <a:pPr>
                <a:spcBef>
                  <a:spcPct val="0"/>
                </a:spcBef>
              </a:pPr>
              <a:t>116</a:t>
            </a:fld>
            <a:endParaRPr lang="en-US" altLang="zh-CN" smtClean="0"/>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2391098773"/>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34B6D2F-5030-4FFE-8411-6AC9A8CDD8F4}" type="slidenum">
              <a:rPr lang="en-US" altLang="zh-CN" smtClean="0"/>
              <a:pPr>
                <a:spcBef>
                  <a:spcPct val="0"/>
                </a:spcBef>
              </a:pPr>
              <a:t>117</a:t>
            </a:fld>
            <a:endParaRPr lang="en-US" altLang="zh-CN" smtClean="0"/>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125704270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989E420-ADC1-4748-9079-6B78AD13F23C}" type="slidenum">
              <a:rPr lang="en-US" altLang="zh-CN" smtClean="0"/>
              <a:pPr>
                <a:spcBef>
                  <a:spcPct val="0"/>
                </a:spcBef>
              </a:pPr>
              <a:t>118</a:t>
            </a:fld>
            <a:endParaRPr lang="en-US" altLang="zh-CN" smtClean="0"/>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2338275918"/>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7E8C550-ECA2-47FC-940A-9FF0DAB89002}" type="slidenum">
              <a:rPr lang="en-US" altLang="zh-CN" smtClean="0"/>
              <a:pPr>
                <a:spcBef>
                  <a:spcPct val="0"/>
                </a:spcBef>
              </a:pPr>
              <a:t>119</a:t>
            </a:fld>
            <a:endParaRPr lang="en-US" altLang="zh-CN" smtClean="0"/>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1322770417"/>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897160E-DE1B-4290-94B1-966FDCD4B8C0}" type="slidenum">
              <a:rPr lang="en-US" altLang="zh-CN" smtClean="0"/>
              <a:pPr>
                <a:spcBef>
                  <a:spcPct val="0"/>
                </a:spcBef>
              </a:pPr>
              <a:t>120</a:t>
            </a:fld>
            <a:endParaRPr lang="en-US" altLang="zh-CN" smtClean="0"/>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1600318379"/>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9EE583B-9ACB-4E26-91A8-9E9BC8A7C748}" type="slidenum">
              <a:rPr lang="en-US" altLang="zh-CN" smtClean="0"/>
              <a:pPr>
                <a:spcBef>
                  <a:spcPct val="0"/>
                </a:spcBef>
              </a:pPr>
              <a:t>121</a:t>
            </a:fld>
            <a:endParaRPr lang="en-US" altLang="zh-CN" smtClean="0"/>
          </a:p>
        </p:txBody>
      </p:sp>
      <p:sp>
        <p:nvSpPr>
          <p:cNvPr id="113667" name="Rectangle 2"/>
          <p:cNvSpPr>
            <a:spLocks noGrp="1" noRot="1" noChangeAspect="1" noChangeArrowheads="1" noTextEdit="1"/>
          </p:cNvSpPr>
          <p:nvPr>
            <p:ph type="sldImg"/>
          </p:nvPr>
        </p:nvSpPr>
        <p:spPr>
          <a:ln/>
        </p:spPr>
      </p:sp>
      <p:sp>
        <p:nvSpPr>
          <p:cNvPr id="1136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370184939"/>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464630C-AF3E-4890-A2AC-41A8EF3DEE0A}" type="slidenum">
              <a:rPr lang="en-US" altLang="zh-CN" smtClean="0"/>
              <a:pPr>
                <a:spcBef>
                  <a:spcPct val="0"/>
                </a:spcBef>
              </a:pPr>
              <a:t>122</a:t>
            </a:fld>
            <a:endParaRPr lang="en-US" altLang="zh-CN" smtClean="0"/>
          </a:p>
        </p:txBody>
      </p:sp>
      <p:sp>
        <p:nvSpPr>
          <p:cNvPr id="115715" name="Rectangle 2"/>
          <p:cNvSpPr>
            <a:spLocks noGrp="1" noRot="1" noChangeAspect="1" noChangeArrowheads="1" noTextEdit="1"/>
          </p:cNvSpPr>
          <p:nvPr>
            <p:ph type="sldImg"/>
          </p:nvPr>
        </p:nvSpPr>
        <p:spPr>
          <a:ln/>
        </p:spPr>
      </p:sp>
      <p:sp>
        <p:nvSpPr>
          <p:cNvPr id="1157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3402477364"/>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1275094-F6F9-4738-98F7-51F7027BAEF2}" type="slidenum">
              <a:rPr lang="en-US" altLang="zh-CN" smtClean="0"/>
              <a:pPr>
                <a:spcBef>
                  <a:spcPct val="0"/>
                </a:spcBef>
              </a:pPr>
              <a:t>123</a:t>
            </a:fld>
            <a:endParaRPr lang="en-US" altLang="zh-CN" smtClean="0"/>
          </a:p>
        </p:txBody>
      </p:sp>
      <p:sp>
        <p:nvSpPr>
          <p:cNvPr id="117763" name="Rectangle 2"/>
          <p:cNvSpPr>
            <a:spLocks noGrp="1" noRot="1" noChangeAspect="1" noChangeArrowheads="1" noTextEdit="1"/>
          </p:cNvSpPr>
          <p:nvPr>
            <p:ph type="sldImg"/>
          </p:nvPr>
        </p:nvSpPr>
        <p:spPr>
          <a:ln/>
        </p:spPr>
      </p:sp>
      <p:sp>
        <p:nvSpPr>
          <p:cNvPr id="1177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4160054702"/>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E0A9FF9-4DDF-40B6-BA81-4AFF8955F687}" type="slidenum">
              <a:rPr lang="en-US" altLang="zh-CN" smtClean="0"/>
              <a:pPr>
                <a:spcBef>
                  <a:spcPct val="0"/>
                </a:spcBef>
              </a:pPr>
              <a:t>124</a:t>
            </a:fld>
            <a:endParaRPr lang="en-US" altLang="zh-CN" smtClean="0"/>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3319691823"/>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8F61D25-F6EF-4863-924D-E7271724FE35}" type="slidenum">
              <a:rPr lang="en-US" altLang="zh-CN" smtClean="0"/>
              <a:pPr>
                <a:spcBef>
                  <a:spcPct val="0"/>
                </a:spcBef>
              </a:pPr>
              <a:t>126</a:t>
            </a:fld>
            <a:endParaRPr lang="en-US" altLang="zh-CN" smtClean="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1439030492"/>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B765E88-3DDA-4D5F-8102-C6ED456C5D1F}" type="slidenum">
              <a:rPr lang="en-US" altLang="zh-CN" smtClean="0"/>
              <a:pPr>
                <a:spcBef>
                  <a:spcPct val="0"/>
                </a:spcBef>
              </a:pPr>
              <a:t>127</a:t>
            </a:fld>
            <a:endParaRPr lang="en-US" altLang="zh-CN" smtClean="0"/>
          </a:p>
        </p:txBody>
      </p:sp>
      <p:sp>
        <p:nvSpPr>
          <p:cNvPr id="124931" name="Rectangle 2"/>
          <p:cNvSpPr>
            <a:spLocks noGrp="1" noRot="1" noChangeAspect="1" noChangeArrowheads="1" noTextEdit="1"/>
          </p:cNvSpPr>
          <p:nvPr>
            <p:ph type="sldImg"/>
          </p:nvPr>
        </p:nvSpPr>
        <p:spPr>
          <a:ln/>
        </p:spPr>
      </p:sp>
      <p:sp>
        <p:nvSpPr>
          <p:cNvPr id="1249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4189335936"/>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F0A9228-6BDE-48FE-9FE6-EB6DE1DB1754}" type="slidenum">
              <a:rPr lang="en-US" altLang="zh-CN" smtClean="0"/>
              <a:pPr>
                <a:spcBef>
                  <a:spcPct val="0"/>
                </a:spcBef>
              </a:pPr>
              <a:t>128</a:t>
            </a:fld>
            <a:endParaRPr lang="en-US" altLang="zh-CN" smtClean="0"/>
          </a:p>
        </p:txBody>
      </p:sp>
      <p:sp>
        <p:nvSpPr>
          <p:cNvPr id="126979" name="Rectangle 2"/>
          <p:cNvSpPr>
            <a:spLocks noGrp="1" noRot="1" noChangeAspect="1" noChangeArrowheads="1" noTextEdit="1"/>
          </p:cNvSpPr>
          <p:nvPr>
            <p:ph type="sldImg"/>
          </p:nvPr>
        </p:nvSpPr>
        <p:spPr>
          <a:ln/>
        </p:spPr>
      </p:sp>
      <p:sp>
        <p:nvSpPr>
          <p:cNvPr id="1269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1329035693"/>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39F88B6-8EAA-4CAD-BCD1-5409354A608E}" type="slidenum">
              <a:rPr lang="en-US" altLang="zh-CN" smtClean="0"/>
              <a:pPr>
                <a:spcBef>
                  <a:spcPct val="0"/>
                </a:spcBef>
              </a:pPr>
              <a:t>129</a:t>
            </a:fld>
            <a:endParaRPr lang="en-US" altLang="zh-CN" smtClean="0"/>
          </a:p>
        </p:txBody>
      </p:sp>
      <p:sp>
        <p:nvSpPr>
          <p:cNvPr id="129027" name="Rectangle 2"/>
          <p:cNvSpPr>
            <a:spLocks noGrp="1" noRot="1" noChangeAspect="1" noChangeArrowheads="1" noTextEdit="1"/>
          </p:cNvSpPr>
          <p:nvPr>
            <p:ph type="sldImg"/>
          </p:nvPr>
        </p:nvSpPr>
        <p:spPr>
          <a:ln/>
        </p:spPr>
      </p:sp>
      <p:sp>
        <p:nvSpPr>
          <p:cNvPr id="1290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349499487"/>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171492B-BB24-4855-9C49-BC48532CD4A2}" type="slidenum">
              <a:rPr lang="en-US" altLang="zh-CN" smtClean="0"/>
              <a:pPr>
                <a:spcBef>
                  <a:spcPct val="0"/>
                </a:spcBef>
              </a:pPr>
              <a:t>130</a:t>
            </a:fld>
            <a:endParaRPr lang="en-US" altLang="zh-CN" smtClean="0"/>
          </a:p>
        </p:txBody>
      </p:sp>
      <p:sp>
        <p:nvSpPr>
          <p:cNvPr id="131075" name="Rectangle 2"/>
          <p:cNvSpPr>
            <a:spLocks noGrp="1" noRot="1" noChangeAspect="1" noChangeArrowheads="1" noTextEdit="1"/>
          </p:cNvSpPr>
          <p:nvPr>
            <p:ph type="sldImg"/>
          </p:nvPr>
        </p:nvSpPr>
        <p:spPr>
          <a:ln/>
        </p:spPr>
      </p:sp>
      <p:sp>
        <p:nvSpPr>
          <p:cNvPr id="1310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4232678333"/>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DFFB665-101B-46AD-8E4C-5AE93ADC48FB}" type="slidenum">
              <a:rPr lang="en-US" altLang="zh-CN" smtClean="0"/>
              <a:pPr>
                <a:spcBef>
                  <a:spcPct val="0"/>
                </a:spcBef>
              </a:pPr>
              <a:t>133</a:t>
            </a:fld>
            <a:endParaRPr lang="en-US" altLang="zh-CN" smtClean="0"/>
          </a:p>
        </p:txBody>
      </p:sp>
      <p:sp>
        <p:nvSpPr>
          <p:cNvPr id="12291" name="Rectangle 2"/>
          <p:cNvSpPr>
            <a:spLocks noGrp="1" noRot="1" noChangeAspect="1" noChangeArrowheads="1" noTextEdit="1"/>
          </p:cNvSpPr>
          <p:nvPr>
            <p:ph type="sldImg"/>
          </p:nvPr>
        </p:nvSpPr>
        <p:spPr>
          <a:ln/>
        </p:spPr>
      </p:sp>
      <p:sp>
        <p:nvSpPr>
          <p:cNvPr id="122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3697809604"/>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BD16E67-36FE-410A-BE0A-095C5487C522}" type="slidenum">
              <a:rPr lang="en-US" altLang="zh-CN"/>
              <a:pPr eaLnBrk="1" hangingPunct="1"/>
              <a:t>140</a:t>
            </a:fld>
            <a:endParaRPr lang="en-US" altLang="zh-CN"/>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1482484603"/>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幻灯片图像占位符 1"/>
          <p:cNvSpPr>
            <a:spLocks noGrp="1" noRot="1" noChangeAspect="1" noTextEdit="1"/>
          </p:cNvSpPr>
          <p:nvPr>
            <p:ph type="sldImg"/>
          </p:nvPr>
        </p:nvSpPr>
        <p:spPr>
          <a:ln/>
        </p:spPr>
      </p:sp>
      <p:sp>
        <p:nvSpPr>
          <p:cNvPr id="10035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zh-CN" altLang="en-US" smtClean="0">
              <a:latin typeface="Arial" panose="020B0604020202020204" pitchFamily="34" charset="0"/>
            </a:endParaRPr>
          </a:p>
        </p:txBody>
      </p:sp>
      <p:sp>
        <p:nvSpPr>
          <p:cNvPr id="10035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ADEED1F-47DF-48B7-8435-8CEBD8C3E08B}" type="slidenum">
              <a:rPr lang="zh-CN" altLang="en-US"/>
              <a:pPr eaLnBrk="1" hangingPunct="1"/>
              <a:t>141</a:t>
            </a:fld>
            <a:endParaRPr lang="zh-CN" altLang="en-US"/>
          </a:p>
        </p:txBody>
      </p:sp>
    </p:spTree>
    <p:extLst>
      <p:ext uri="{BB962C8B-B14F-4D97-AF65-F5344CB8AC3E}">
        <p14:creationId xmlns:p14="http://schemas.microsoft.com/office/powerpoint/2010/main" val="2149303600"/>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幻灯片图像占位符 1"/>
          <p:cNvSpPr>
            <a:spLocks noGrp="1" noRot="1" noChangeAspect="1" noTextEdit="1"/>
          </p:cNvSpPr>
          <p:nvPr>
            <p:ph type="sldImg"/>
          </p:nvPr>
        </p:nvSpPr>
        <p:spPr>
          <a:ln/>
        </p:spPr>
      </p:sp>
      <p:sp>
        <p:nvSpPr>
          <p:cNvPr id="10137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zh-CN" altLang="en-US" smtClean="0">
              <a:latin typeface="Arial" panose="020B0604020202020204" pitchFamily="34" charset="0"/>
            </a:endParaRPr>
          </a:p>
        </p:txBody>
      </p:sp>
      <p:sp>
        <p:nvSpPr>
          <p:cNvPr id="10138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81CACD3-C48C-4B52-A64D-E3335FCA5BC2}" type="slidenum">
              <a:rPr lang="zh-CN" altLang="en-US"/>
              <a:pPr eaLnBrk="1" hangingPunct="1"/>
              <a:t>142</a:t>
            </a:fld>
            <a:endParaRPr lang="zh-CN" altLang="en-US"/>
          </a:p>
        </p:txBody>
      </p:sp>
    </p:spTree>
    <p:extLst>
      <p:ext uri="{BB962C8B-B14F-4D97-AF65-F5344CB8AC3E}">
        <p14:creationId xmlns:p14="http://schemas.microsoft.com/office/powerpoint/2010/main" val="3608646157"/>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幻灯片图像占位符 1"/>
          <p:cNvSpPr>
            <a:spLocks noGrp="1" noRot="1" noChangeAspect="1" noTextEdit="1"/>
          </p:cNvSpPr>
          <p:nvPr>
            <p:ph type="sldImg"/>
          </p:nvPr>
        </p:nvSpPr>
        <p:spPr>
          <a:ln/>
        </p:spPr>
      </p:sp>
      <p:sp>
        <p:nvSpPr>
          <p:cNvPr id="10240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zh-CN" altLang="en-US" smtClean="0">
              <a:latin typeface="Arial" panose="020B0604020202020204" pitchFamily="34" charset="0"/>
            </a:endParaRPr>
          </a:p>
        </p:txBody>
      </p:sp>
      <p:sp>
        <p:nvSpPr>
          <p:cNvPr id="10240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C0D2FD7-0C4D-4F3E-8EAC-4130833ADC4D}" type="slidenum">
              <a:rPr lang="zh-CN" altLang="en-US"/>
              <a:pPr eaLnBrk="1" hangingPunct="1"/>
              <a:t>143</a:t>
            </a:fld>
            <a:endParaRPr lang="zh-CN" altLang="en-US"/>
          </a:p>
        </p:txBody>
      </p:sp>
    </p:spTree>
    <p:extLst>
      <p:ext uri="{BB962C8B-B14F-4D97-AF65-F5344CB8AC3E}">
        <p14:creationId xmlns:p14="http://schemas.microsoft.com/office/powerpoint/2010/main" val="220057155"/>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幻灯片图像占位符 1"/>
          <p:cNvSpPr>
            <a:spLocks noGrp="1" noRot="1" noChangeAspect="1" noTextEdit="1"/>
          </p:cNvSpPr>
          <p:nvPr>
            <p:ph type="sldImg"/>
          </p:nvPr>
        </p:nvSpPr>
        <p:spPr>
          <a:ln/>
        </p:spPr>
      </p:sp>
      <p:sp>
        <p:nvSpPr>
          <p:cNvPr id="10342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zh-CN" altLang="en-US" smtClean="0">
              <a:latin typeface="Arial" panose="020B0604020202020204" pitchFamily="34" charset="0"/>
            </a:endParaRPr>
          </a:p>
        </p:txBody>
      </p:sp>
      <p:sp>
        <p:nvSpPr>
          <p:cNvPr id="10342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8B11A7F-4B00-42C4-9876-AEC168D755E3}" type="slidenum">
              <a:rPr lang="zh-CN" altLang="en-US"/>
              <a:pPr eaLnBrk="1" hangingPunct="1"/>
              <a:t>144</a:t>
            </a:fld>
            <a:endParaRPr lang="zh-CN" altLang="en-US"/>
          </a:p>
        </p:txBody>
      </p:sp>
    </p:spTree>
    <p:extLst>
      <p:ext uri="{BB962C8B-B14F-4D97-AF65-F5344CB8AC3E}">
        <p14:creationId xmlns:p14="http://schemas.microsoft.com/office/powerpoint/2010/main" val="2073115492"/>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0997D3C-1C2D-490E-BB43-26C483F6CBDF}" type="slidenum">
              <a:rPr lang="en-US" altLang="zh-CN"/>
              <a:pPr eaLnBrk="1" hangingPunct="1"/>
              <a:t>145</a:t>
            </a:fld>
            <a:endParaRPr lang="en-US" altLang="zh-CN"/>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3233156184"/>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7865FBF-0F21-43BD-ABDE-A5296FD9C861}" type="slidenum">
              <a:rPr lang="en-US" altLang="zh-CN"/>
              <a:pPr eaLnBrk="1" hangingPunct="1"/>
              <a:t>149</a:t>
            </a:fld>
            <a:endParaRPr lang="en-US" altLang="zh-CN"/>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1836824456"/>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15F9161-43EF-4C1C-8452-BE7565C4C8EA}" type="slidenum">
              <a:rPr lang="en-US" altLang="zh-CN"/>
              <a:pPr eaLnBrk="1" hangingPunct="1"/>
              <a:t>150</a:t>
            </a:fld>
            <a:endParaRPr lang="en-US" altLang="zh-CN"/>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1056876350"/>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4A56FD8-7DA8-403C-AC0B-A3C3BAC26E65}" type="slidenum">
              <a:rPr lang="en-US" altLang="zh-CN"/>
              <a:pPr eaLnBrk="1" hangingPunct="1"/>
              <a:t>155</a:t>
            </a:fld>
            <a:endParaRPr lang="en-US" altLang="zh-CN"/>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191064303"/>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173C47B-370C-4809-B620-35DC76E795DB}" type="slidenum">
              <a:rPr lang="en-US" altLang="zh-CN"/>
              <a:pPr eaLnBrk="1" hangingPunct="1"/>
              <a:t>156</a:t>
            </a:fld>
            <a:endParaRPr lang="en-US" altLang="zh-CN"/>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3045388035"/>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34DD201-2FAA-4E3E-BBDF-0B4F041F0F58}" type="slidenum">
              <a:rPr lang="en-US" altLang="zh-CN"/>
              <a:pPr eaLnBrk="1" hangingPunct="1"/>
              <a:t>157</a:t>
            </a:fld>
            <a:endParaRPr lang="en-US" altLang="zh-CN"/>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2190777468"/>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4D49E28-0A07-49EF-B510-5544C79104F3}" type="slidenum">
              <a:rPr lang="en-US" altLang="zh-CN"/>
              <a:pPr eaLnBrk="1" hangingPunct="1"/>
              <a:t>162</a:t>
            </a:fld>
            <a:endParaRPr lang="en-US" altLang="zh-CN"/>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1481389459"/>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071C175-749F-4579-B1DB-C36726B783BE}" type="slidenum">
              <a:rPr lang="en-US" altLang="zh-CN"/>
              <a:pPr eaLnBrk="1" hangingPunct="1"/>
              <a:t>163</a:t>
            </a:fld>
            <a:endParaRPr lang="en-US" altLang="zh-CN"/>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4291969796"/>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D8C1ED7-E5EE-4ACB-AF97-B7A44576AAF6}" type="slidenum">
              <a:rPr lang="en-US" altLang="zh-CN"/>
              <a:pPr eaLnBrk="1" hangingPunct="1"/>
              <a:t>169</a:t>
            </a:fld>
            <a:endParaRPr lang="en-US" altLang="zh-CN"/>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2339866876"/>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6E83001-C935-47F0-BB2C-B30CE9D5DD54}" type="slidenum">
              <a:rPr lang="en-US" altLang="zh-CN"/>
              <a:pPr eaLnBrk="1" hangingPunct="1"/>
              <a:t>171</a:t>
            </a:fld>
            <a:endParaRPr lang="en-US" altLang="zh-CN"/>
          </a:p>
        </p:txBody>
      </p:sp>
      <p:sp>
        <p:nvSpPr>
          <p:cNvPr id="113667" name="Rectangle 2"/>
          <p:cNvSpPr>
            <a:spLocks noGrp="1" noRot="1" noChangeAspect="1" noChangeArrowheads="1" noTextEdit="1"/>
          </p:cNvSpPr>
          <p:nvPr>
            <p:ph type="sldImg"/>
          </p:nvPr>
        </p:nvSpPr>
        <p:spPr>
          <a:ln/>
        </p:spPr>
      </p:sp>
      <p:sp>
        <p:nvSpPr>
          <p:cNvPr id="1136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715138002"/>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4DCA693-FD2B-4A57-AB65-9DB45911DF96}" type="slidenum">
              <a:rPr lang="en-US" altLang="zh-CN"/>
              <a:pPr eaLnBrk="1" hangingPunct="1"/>
              <a:t>172</a:t>
            </a:fld>
            <a:endParaRPr lang="en-US" altLang="zh-CN"/>
          </a:p>
        </p:txBody>
      </p:sp>
      <p:sp>
        <p:nvSpPr>
          <p:cNvPr id="114691" name="Rectangle 2"/>
          <p:cNvSpPr>
            <a:spLocks noGrp="1" noRot="1" noChangeAspect="1" noChangeArrowheads="1" noTextEdit="1"/>
          </p:cNvSpPr>
          <p:nvPr>
            <p:ph type="sldImg"/>
          </p:nvPr>
        </p:nvSpPr>
        <p:spPr>
          <a:ln/>
        </p:spPr>
      </p:sp>
      <p:sp>
        <p:nvSpPr>
          <p:cNvPr id="1146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3549606836"/>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F4597A9-1921-4931-9FF0-742BEC16B10A}" type="slidenum">
              <a:rPr lang="en-US" altLang="zh-CN"/>
              <a:pPr eaLnBrk="1" hangingPunct="1"/>
              <a:t>173</a:t>
            </a:fld>
            <a:endParaRPr lang="en-US" altLang="zh-CN"/>
          </a:p>
        </p:txBody>
      </p:sp>
      <p:sp>
        <p:nvSpPr>
          <p:cNvPr id="115715" name="Rectangle 2"/>
          <p:cNvSpPr>
            <a:spLocks noGrp="1" noRot="1" noChangeAspect="1" noChangeArrowheads="1" noTextEdit="1"/>
          </p:cNvSpPr>
          <p:nvPr>
            <p:ph type="sldImg"/>
          </p:nvPr>
        </p:nvSpPr>
        <p:spPr>
          <a:ln/>
        </p:spPr>
      </p:sp>
      <p:sp>
        <p:nvSpPr>
          <p:cNvPr id="1157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1391159689"/>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7E2EBEE-AF17-4FCE-802A-7FF053A35278}" type="slidenum">
              <a:rPr lang="en-US" altLang="zh-CN"/>
              <a:pPr eaLnBrk="1" hangingPunct="1"/>
              <a:t>174</a:t>
            </a:fld>
            <a:endParaRPr lang="en-US" altLang="zh-CN"/>
          </a:p>
        </p:txBody>
      </p:sp>
      <p:sp>
        <p:nvSpPr>
          <p:cNvPr id="116739" name="Rectangle 2"/>
          <p:cNvSpPr>
            <a:spLocks noGrp="1" noRot="1" noChangeAspect="1" noChangeArrowheads="1" noTextEdit="1"/>
          </p:cNvSpPr>
          <p:nvPr>
            <p:ph type="sldImg"/>
          </p:nvPr>
        </p:nvSpPr>
        <p:spPr>
          <a:ln/>
        </p:spPr>
      </p:sp>
      <p:sp>
        <p:nvSpPr>
          <p:cNvPr id="1167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2565103410"/>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4563716-4013-4F14-A693-EC5C4E61B832}" type="slidenum">
              <a:rPr lang="en-US" altLang="zh-CN"/>
              <a:pPr eaLnBrk="1" hangingPunct="1"/>
              <a:t>184</a:t>
            </a:fld>
            <a:endParaRPr lang="en-US" altLang="zh-CN"/>
          </a:p>
        </p:txBody>
      </p:sp>
      <p:sp>
        <p:nvSpPr>
          <p:cNvPr id="117763" name="Rectangle 2"/>
          <p:cNvSpPr>
            <a:spLocks noGrp="1" noRot="1" noChangeAspect="1" noChangeArrowheads="1" noTextEdit="1"/>
          </p:cNvSpPr>
          <p:nvPr>
            <p:ph type="sldImg"/>
          </p:nvPr>
        </p:nvSpPr>
        <p:spPr>
          <a:ln/>
        </p:spPr>
      </p:sp>
      <p:sp>
        <p:nvSpPr>
          <p:cNvPr id="1177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442858822"/>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D3060B2-D6ED-4DF3-8319-AB35DC76F984}" type="slidenum">
              <a:rPr lang="en-US" altLang="zh-CN"/>
              <a:pPr eaLnBrk="1" hangingPunct="1"/>
              <a:t>185</a:t>
            </a:fld>
            <a:endParaRPr lang="en-US" altLang="zh-CN"/>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smtClean="0">
                <a:latin typeface="Arial" panose="020B0604020202020204" pitchFamily="34" charset="0"/>
              </a:rPr>
              <a:t>4-6+4=2</a:t>
            </a:r>
          </a:p>
          <a:p>
            <a:pPr eaLnBrk="1" hangingPunct="1"/>
            <a:r>
              <a:rPr lang="zh-CN" altLang="en-US" smtClean="0">
                <a:latin typeface="Arial" panose="020B0604020202020204" pitchFamily="34" charset="0"/>
              </a:rPr>
              <a:t>顶点数</a:t>
            </a:r>
            <a:r>
              <a:rPr lang="en-US" altLang="zh-CN" smtClean="0">
                <a:latin typeface="Arial" panose="020B0604020202020204" pitchFamily="34" charset="0"/>
              </a:rPr>
              <a:t>-</a:t>
            </a:r>
            <a:r>
              <a:rPr lang="zh-CN" altLang="en-US" smtClean="0">
                <a:latin typeface="Arial" panose="020B0604020202020204" pitchFamily="34" charset="0"/>
              </a:rPr>
              <a:t>边数</a:t>
            </a:r>
            <a:r>
              <a:rPr lang="en-US" altLang="zh-CN" smtClean="0">
                <a:latin typeface="Arial" panose="020B0604020202020204" pitchFamily="34" charset="0"/>
              </a:rPr>
              <a:t>+</a:t>
            </a:r>
            <a:r>
              <a:rPr lang="zh-CN" altLang="en-US" smtClean="0">
                <a:latin typeface="Arial" panose="020B0604020202020204" pitchFamily="34" charset="0"/>
              </a:rPr>
              <a:t>区域数</a:t>
            </a:r>
            <a:endParaRPr lang="zh-CN" altLang="zh-CN" smtClean="0">
              <a:latin typeface="Arial" panose="020B0604020202020204" pitchFamily="34" charset="0"/>
            </a:endParaRPr>
          </a:p>
        </p:txBody>
      </p:sp>
    </p:spTree>
    <p:extLst>
      <p:ext uri="{BB962C8B-B14F-4D97-AF65-F5344CB8AC3E}">
        <p14:creationId xmlns:p14="http://schemas.microsoft.com/office/powerpoint/2010/main" val="528360376"/>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1463E7A-D43E-4B51-896F-5334A425C6B6}" type="slidenum">
              <a:rPr lang="en-US" altLang="zh-CN"/>
              <a:pPr eaLnBrk="1" hangingPunct="1"/>
              <a:t>186</a:t>
            </a:fld>
            <a:endParaRPr lang="en-US" altLang="zh-CN"/>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10489943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055F399-6365-4104-8BB1-CC1A25BF081E}" type="slidenum">
              <a:rPr lang="en-US" altLang="zh-CN"/>
              <a:pPr eaLnBrk="1" hangingPunct="1"/>
              <a:t>188</a:t>
            </a:fld>
            <a:endParaRPr lang="en-US" altLang="zh-CN"/>
          </a:p>
        </p:txBody>
      </p:sp>
      <p:sp>
        <p:nvSpPr>
          <p:cNvPr id="120835" name="Rectangle 2"/>
          <p:cNvSpPr>
            <a:spLocks noGrp="1" noRot="1" noChangeAspect="1" noChangeArrowheads="1" noTextEdit="1"/>
          </p:cNvSpPr>
          <p:nvPr>
            <p:ph type="sldImg"/>
          </p:nvPr>
        </p:nvSpPr>
        <p:spPr>
          <a:ln/>
        </p:spPr>
      </p:sp>
      <p:sp>
        <p:nvSpPr>
          <p:cNvPr id="1208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580549224"/>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52561C6-7F56-4C3D-A471-D36DC810D179}" type="slidenum">
              <a:rPr lang="en-US" altLang="zh-CN"/>
              <a:pPr eaLnBrk="1" hangingPunct="1"/>
              <a:t>189</a:t>
            </a:fld>
            <a:endParaRPr lang="en-US" altLang="zh-CN"/>
          </a:p>
        </p:txBody>
      </p:sp>
      <p:sp>
        <p:nvSpPr>
          <p:cNvPr id="121859" name="Rectangle 2"/>
          <p:cNvSpPr>
            <a:spLocks noGrp="1" noRot="1" noChangeAspect="1" noChangeArrowheads="1" noTextEdit="1"/>
          </p:cNvSpPr>
          <p:nvPr>
            <p:ph type="sldImg"/>
          </p:nvPr>
        </p:nvSpPr>
        <p:spPr>
          <a:ln/>
        </p:spPr>
      </p:sp>
      <p:sp>
        <p:nvSpPr>
          <p:cNvPr id="1218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339457786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C08220C-4EF3-4D26-87D1-AF24643A4FA9}" type="slidenum">
              <a:rPr lang="en-US" altLang="zh-CN"/>
              <a:pPr eaLnBrk="1" hangingPunct="1"/>
              <a:t>190</a:t>
            </a:fld>
            <a:endParaRPr lang="en-US" altLang="zh-CN"/>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3655262705"/>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89BF1FA-2B67-46D0-94A9-52BEFB9A6B4C}" type="slidenum">
              <a:rPr lang="en-US" altLang="zh-CN"/>
              <a:pPr eaLnBrk="1" hangingPunct="1"/>
              <a:t>193</a:t>
            </a:fld>
            <a:endParaRPr lang="en-US" altLang="zh-CN"/>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2955400100"/>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9B3C467-D53A-4DB5-940D-7C398273CF2F}" type="slidenum">
              <a:rPr lang="en-US" altLang="zh-CN"/>
              <a:pPr eaLnBrk="1" hangingPunct="1"/>
              <a:t>194</a:t>
            </a:fld>
            <a:endParaRPr lang="en-US" altLang="zh-CN"/>
          </a:p>
        </p:txBody>
      </p:sp>
      <p:sp>
        <p:nvSpPr>
          <p:cNvPr id="124931" name="Rectangle 2"/>
          <p:cNvSpPr>
            <a:spLocks noGrp="1" noRot="1" noChangeAspect="1" noChangeArrowheads="1" noTextEdit="1"/>
          </p:cNvSpPr>
          <p:nvPr>
            <p:ph type="sldImg"/>
          </p:nvPr>
        </p:nvSpPr>
        <p:spPr>
          <a:ln/>
        </p:spPr>
      </p:sp>
      <p:sp>
        <p:nvSpPr>
          <p:cNvPr id="1249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满二叉树：除最后一层无任何子</a:t>
            </a:r>
            <a:r>
              <a:rPr lang="zh-CN" altLang="en-US" smtClean="0">
                <a:latin typeface="Arial" panose="020B0604020202020204" pitchFamily="34" charset="0"/>
                <a:hlinkClick r:id="rId3"/>
              </a:rPr>
              <a:t>节点</a:t>
            </a:r>
            <a:r>
              <a:rPr lang="zh-CN" altLang="en-US" smtClean="0">
                <a:latin typeface="Arial" panose="020B0604020202020204" pitchFamily="34" charset="0"/>
              </a:rPr>
              <a:t>外，每一层上的所有结点都有两个子结点</a:t>
            </a:r>
            <a:endParaRPr lang="en-US" altLang="zh-CN" smtClean="0">
              <a:latin typeface="Arial" panose="020B0604020202020204" pitchFamily="34" charset="0"/>
            </a:endParaRPr>
          </a:p>
          <a:p>
            <a:pPr eaLnBrk="1" hangingPunct="1"/>
            <a:r>
              <a:rPr lang="zh-CN" altLang="en-US" smtClean="0">
                <a:latin typeface="Arial" panose="020B0604020202020204" pitchFamily="34" charset="0"/>
              </a:rPr>
              <a:t>完全二叉树：除最后一层外，每一层上的节点数均达到最大值；在最后一层上只缺少右边的若干结点</a:t>
            </a:r>
            <a:endParaRPr lang="zh-CN" altLang="zh-CN" smtClean="0">
              <a:latin typeface="Arial" panose="020B0604020202020204" pitchFamily="34" charset="0"/>
            </a:endParaRPr>
          </a:p>
        </p:txBody>
      </p:sp>
    </p:spTree>
    <p:extLst>
      <p:ext uri="{BB962C8B-B14F-4D97-AF65-F5344CB8AC3E}">
        <p14:creationId xmlns:p14="http://schemas.microsoft.com/office/powerpoint/2010/main" val="2386433717"/>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EBF6B96-6611-4534-966D-1DB49BA40B47}" type="slidenum">
              <a:rPr lang="en-US" altLang="zh-CN"/>
              <a:pPr eaLnBrk="1" hangingPunct="1"/>
              <a:t>195</a:t>
            </a:fld>
            <a:endParaRPr lang="en-US" altLang="zh-CN"/>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1059643486"/>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9530FE0-CC37-4CCA-B7FF-29A1C445E2EB}" type="slidenum">
              <a:rPr lang="en-US" altLang="zh-CN"/>
              <a:pPr eaLnBrk="1" hangingPunct="1"/>
              <a:t>199</a:t>
            </a:fld>
            <a:endParaRPr lang="en-US" altLang="zh-CN"/>
          </a:p>
        </p:txBody>
      </p:sp>
      <p:sp>
        <p:nvSpPr>
          <p:cNvPr id="126979" name="Rectangle 2"/>
          <p:cNvSpPr>
            <a:spLocks noGrp="1" noRot="1" noChangeAspect="1" noChangeArrowheads="1" noTextEdit="1"/>
          </p:cNvSpPr>
          <p:nvPr>
            <p:ph type="sldImg"/>
          </p:nvPr>
        </p:nvSpPr>
        <p:spPr>
          <a:ln/>
        </p:spPr>
      </p:sp>
      <p:sp>
        <p:nvSpPr>
          <p:cNvPr id="1269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4110225490"/>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75E2F7C-D2DF-42D6-874E-B2D61C511848}" type="slidenum">
              <a:rPr lang="en-US" altLang="zh-CN"/>
              <a:pPr eaLnBrk="1" hangingPunct="1"/>
              <a:t>200</a:t>
            </a:fld>
            <a:endParaRPr lang="en-US" altLang="zh-CN"/>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1500445376"/>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A7E065D-F5F0-4BA8-B427-D76D92B367D7}" type="slidenum">
              <a:rPr lang="en-US" altLang="zh-CN"/>
              <a:pPr eaLnBrk="1" hangingPunct="1"/>
              <a:t>201</a:t>
            </a:fld>
            <a:endParaRPr lang="en-US" altLang="zh-CN"/>
          </a:p>
        </p:txBody>
      </p:sp>
      <p:sp>
        <p:nvSpPr>
          <p:cNvPr id="129027" name="Rectangle 2"/>
          <p:cNvSpPr>
            <a:spLocks noGrp="1" noRot="1" noChangeAspect="1" noChangeArrowheads="1" noTextEdit="1"/>
          </p:cNvSpPr>
          <p:nvPr>
            <p:ph type="sldImg"/>
          </p:nvPr>
        </p:nvSpPr>
        <p:spPr>
          <a:ln/>
        </p:spPr>
      </p:sp>
      <p:sp>
        <p:nvSpPr>
          <p:cNvPr id="1290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114479848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4" descr="index_0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381750"/>
            <a:ext cx="824388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5" descr="200311_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8850" y="6381750"/>
            <a:ext cx="18002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22" name="Rectangle 2"/>
          <p:cNvSpPr>
            <a:spLocks noGrp="1" noChangeArrowheads="1"/>
          </p:cNvSpPr>
          <p:nvPr>
            <p:ph type="ctrTitle"/>
          </p:nvPr>
        </p:nvSpPr>
        <p:spPr>
          <a:xfrm>
            <a:off x="685800" y="2130425"/>
            <a:ext cx="7772400" cy="1470025"/>
          </a:xfrm>
        </p:spPr>
        <p:txBody>
          <a:bodyPr/>
          <a:lstStyle>
            <a:lvl1pPr>
              <a:defRPr>
                <a:solidFill>
                  <a:srgbClr val="0066CC"/>
                </a:solidFill>
                <a:latin typeface="Times New Roman" pitchFamily="18" charset="0"/>
              </a:defRPr>
            </a:lvl1pPr>
          </a:lstStyle>
          <a:p>
            <a:r>
              <a:rPr lang="zh-CN" altLang="en-US"/>
              <a:t>单击此处编辑母版标题样式</a:t>
            </a:r>
          </a:p>
        </p:txBody>
      </p:sp>
      <p:sp>
        <p:nvSpPr>
          <p:cNvPr id="235523" name="Rectangle 3"/>
          <p:cNvSpPr>
            <a:spLocks noGrp="1" noChangeArrowheads="1"/>
          </p:cNvSpPr>
          <p:nvPr>
            <p:ph type="subTitle" idx="1"/>
          </p:nvPr>
        </p:nvSpPr>
        <p:spPr>
          <a:xfrm>
            <a:off x="1371600" y="3886200"/>
            <a:ext cx="6400800" cy="1752600"/>
          </a:xfrm>
        </p:spPr>
        <p:txBody>
          <a:bodyPr/>
          <a:lstStyle>
            <a:lvl1pPr marL="0" indent="0" algn="ctr">
              <a:buFontTx/>
              <a:buNone/>
              <a:defRPr>
                <a:solidFill>
                  <a:schemeClr val="hlink"/>
                </a:solidFill>
              </a:defRPr>
            </a:lvl1pPr>
          </a:lstStyle>
          <a:p>
            <a:r>
              <a:rPr lang="zh-CN" altLang="en-US"/>
              <a:t>单击此处编辑母版副标题样式</a:t>
            </a:r>
          </a:p>
        </p:txBody>
      </p:sp>
      <p:sp>
        <p:nvSpPr>
          <p:cNvPr id="6" name="Rectangle 6"/>
          <p:cNvSpPr>
            <a:spLocks noGrp="1" noChangeArrowheads="1"/>
          </p:cNvSpPr>
          <p:nvPr>
            <p:ph type="ftr" sz="quarter" idx="10"/>
          </p:nvPr>
        </p:nvSpPr>
        <p:spPr/>
        <p:txBody>
          <a:bodyPr/>
          <a:lstStyle>
            <a:lvl1pPr>
              <a:defRPr/>
            </a:lvl1pPr>
          </a:lstStyle>
          <a:p>
            <a:pPr>
              <a:defRPr/>
            </a:pPr>
            <a:r>
              <a:rPr lang="en-US" altLang="zh-CN"/>
              <a:t>Algorithms Design Techniques and Analysis</a:t>
            </a:r>
          </a:p>
        </p:txBody>
      </p:sp>
    </p:spTree>
    <p:extLst>
      <p:ext uri="{BB962C8B-B14F-4D97-AF65-F5344CB8AC3E}">
        <p14:creationId xmlns:p14="http://schemas.microsoft.com/office/powerpoint/2010/main" val="32998585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6"/>
          <p:cNvSpPr>
            <a:spLocks noGrp="1" noChangeArrowheads="1"/>
          </p:cNvSpPr>
          <p:nvPr>
            <p:ph type="ftr" sz="quarter" idx="10"/>
          </p:nvPr>
        </p:nvSpPr>
        <p:spPr>
          <a:ln/>
        </p:spPr>
        <p:txBody>
          <a:bodyPr/>
          <a:lstStyle>
            <a:lvl1pPr>
              <a:defRPr/>
            </a:lvl1pPr>
          </a:lstStyle>
          <a:p>
            <a:pPr>
              <a:defRPr/>
            </a:pPr>
            <a:r>
              <a:rPr lang="en-US" altLang="zh-CN"/>
              <a:t>Algorithms Design Techniques and Analysis</a:t>
            </a:r>
          </a:p>
        </p:txBody>
      </p:sp>
    </p:spTree>
    <p:extLst>
      <p:ext uri="{BB962C8B-B14F-4D97-AF65-F5344CB8AC3E}">
        <p14:creationId xmlns:p14="http://schemas.microsoft.com/office/powerpoint/2010/main" val="30130154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6"/>
          <p:cNvSpPr>
            <a:spLocks noGrp="1" noChangeArrowheads="1"/>
          </p:cNvSpPr>
          <p:nvPr>
            <p:ph type="ftr" sz="quarter" idx="10"/>
          </p:nvPr>
        </p:nvSpPr>
        <p:spPr>
          <a:ln/>
        </p:spPr>
        <p:txBody>
          <a:bodyPr/>
          <a:lstStyle>
            <a:lvl1pPr>
              <a:defRPr/>
            </a:lvl1pPr>
          </a:lstStyle>
          <a:p>
            <a:pPr>
              <a:defRPr/>
            </a:pPr>
            <a:r>
              <a:rPr lang="en-US" altLang="zh-CN"/>
              <a:t>Algorithms Design Techniques and Analysis</a:t>
            </a:r>
          </a:p>
        </p:txBody>
      </p:sp>
    </p:spTree>
    <p:extLst>
      <p:ext uri="{BB962C8B-B14F-4D97-AF65-F5344CB8AC3E}">
        <p14:creationId xmlns:p14="http://schemas.microsoft.com/office/powerpoint/2010/main" val="8004900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900113" y="1268413"/>
            <a:ext cx="381635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868863" y="1268413"/>
            <a:ext cx="3817937"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6"/>
          <p:cNvSpPr>
            <a:spLocks noGrp="1" noChangeArrowheads="1"/>
          </p:cNvSpPr>
          <p:nvPr>
            <p:ph type="ftr" sz="quarter" idx="10"/>
          </p:nvPr>
        </p:nvSpPr>
        <p:spPr>
          <a:ln/>
        </p:spPr>
        <p:txBody>
          <a:bodyPr/>
          <a:lstStyle>
            <a:lvl1pPr>
              <a:defRPr/>
            </a:lvl1pPr>
          </a:lstStyle>
          <a:p>
            <a:pPr>
              <a:defRPr/>
            </a:pPr>
            <a:r>
              <a:rPr lang="en-US" altLang="zh-CN"/>
              <a:t>Algorithms Design Techniques and Analysis</a:t>
            </a:r>
          </a:p>
        </p:txBody>
      </p:sp>
    </p:spTree>
    <p:extLst>
      <p:ext uri="{BB962C8B-B14F-4D97-AF65-F5344CB8AC3E}">
        <p14:creationId xmlns:p14="http://schemas.microsoft.com/office/powerpoint/2010/main" val="7547553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6"/>
          <p:cNvSpPr>
            <a:spLocks noGrp="1" noChangeArrowheads="1"/>
          </p:cNvSpPr>
          <p:nvPr>
            <p:ph type="ftr" sz="quarter" idx="10"/>
          </p:nvPr>
        </p:nvSpPr>
        <p:spPr>
          <a:ln/>
        </p:spPr>
        <p:txBody>
          <a:bodyPr/>
          <a:lstStyle>
            <a:lvl1pPr>
              <a:defRPr/>
            </a:lvl1pPr>
          </a:lstStyle>
          <a:p>
            <a:pPr>
              <a:defRPr/>
            </a:pPr>
            <a:r>
              <a:rPr lang="en-US" altLang="zh-CN"/>
              <a:t>Algorithms Design Techniques and Analysis</a:t>
            </a:r>
          </a:p>
        </p:txBody>
      </p:sp>
    </p:spTree>
    <p:extLst>
      <p:ext uri="{BB962C8B-B14F-4D97-AF65-F5344CB8AC3E}">
        <p14:creationId xmlns:p14="http://schemas.microsoft.com/office/powerpoint/2010/main" val="41115957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6"/>
          <p:cNvSpPr>
            <a:spLocks noGrp="1" noChangeArrowheads="1"/>
          </p:cNvSpPr>
          <p:nvPr>
            <p:ph type="ftr" sz="quarter" idx="10"/>
          </p:nvPr>
        </p:nvSpPr>
        <p:spPr>
          <a:ln/>
        </p:spPr>
        <p:txBody>
          <a:bodyPr/>
          <a:lstStyle>
            <a:lvl1pPr>
              <a:defRPr/>
            </a:lvl1pPr>
          </a:lstStyle>
          <a:p>
            <a:pPr>
              <a:defRPr/>
            </a:pPr>
            <a:r>
              <a:rPr lang="en-US" altLang="zh-CN"/>
              <a:t>Algorithms Design Techniques and Analysis</a:t>
            </a:r>
          </a:p>
        </p:txBody>
      </p:sp>
    </p:spTree>
    <p:extLst>
      <p:ext uri="{BB962C8B-B14F-4D97-AF65-F5344CB8AC3E}">
        <p14:creationId xmlns:p14="http://schemas.microsoft.com/office/powerpoint/2010/main" val="1289188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ftr" sz="quarter" idx="10"/>
          </p:nvPr>
        </p:nvSpPr>
        <p:spPr>
          <a:ln/>
        </p:spPr>
        <p:txBody>
          <a:bodyPr/>
          <a:lstStyle>
            <a:lvl1pPr>
              <a:defRPr/>
            </a:lvl1pPr>
          </a:lstStyle>
          <a:p>
            <a:pPr>
              <a:defRPr/>
            </a:pPr>
            <a:r>
              <a:rPr lang="en-US" altLang="zh-CN"/>
              <a:t>Algorithms Design Techniques and Analysis</a:t>
            </a:r>
          </a:p>
        </p:txBody>
      </p:sp>
    </p:spTree>
    <p:extLst>
      <p:ext uri="{BB962C8B-B14F-4D97-AF65-F5344CB8AC3E}">
        <p14:creationId xmlns:p14="http://schemas.microsoft.com/office/powerpoint/2010/main" val="17723612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6"/>
          <p:cNvSpPr>
            <a:spLocks noGrp="1" noChangeArrowheads="1"/>
          </p:cNvSpPr>
          <p:nvPr>
            <p:ph type="ftr" sz="quarter" idx="10"/>
          </p:nvPr>
        </p:nvSpPr>
        <p:spPr>
          <a:ln/>
        </p:spPr>
        <p:txBody>
          <a:bodyPr/>
          <a:lstStyle>
            <a:lvl1pPr>
              <a:defRPr/>
            </a:lvl1pPr>
          </a:lstStyle>
          <a:p>
            <a:pPr>
              <a:defRPr/>
            </a:pPr>
            <a:r>
              <a:rPr lang="en-US" altLang="zh-CN"/>
              <a:t>Algorithms Design Techniques and Analysis</a:t>
            </a:r>
          </a:p>
        </p:txBody>
      </p:sp>
    </p:spTree>
    <p:extLst>
      <p:ext uri="{BB962C8B-B14F-4D97-AF65-F5344CB8AC3E}">
        <p14:creationId xmlns:p14="http://schemas.microsoft.com/office/powerpoint/2010/main" val="11854587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6"/>
          <p:cNvSpPr>
            <a:spLocks noGrp="1" noChangeArrowheads="1"/>
          </p:cNvSpPr>
          <p:nvPr>
            <p:ph type="ftr" sz="quarter" idx="10"/>
          </p:nvPr>
        </p:nvSpPr>
        <p:spPr>
          <a:ln/>
        </p:spPr>
        <p:txBody>
          <a:bodyPr/>
          <a:lstStyle>
            <a:lvl1pPr>
              <a:defRPr/>
            </a:lvl1pPr>
          </a:lstStyle>
          <a:p>
            <a:pPr>
              <a:defRPr/>
            </a:pPr>
            <a:r>
              <a:rPr lang="en-US" altLang="zh-CN"/>
              <a:t>Algorithms Design Techniques and Analysis</a:t>
            </a:r>
          </a:p>
        </p:txBody>
      </p:sp>
    </p:spTree>
    <p:extLst>
      <p:ext uri="{BB962C8B-B14F-4D97-AF65-F5344CB8AC3E}">
        <p14:creationId xmlns:p14="http://schemas.microsoft.com/office/powerpoint/2010/main" val="23045210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6"/>
          <p:cNvSpPr>
            <a:spLocks noGrp="1" noChangeArrowheads="1"/>
          </p:cNvSpPr>
          <p:nvPr>
            <p:ph type="ftr" sz="quarter" idx="10"/>
          </p:nvPr>
        </p:nvSpPr>
        <p:spPr>
          <a:ln/>
        </p:spPr>
        <p:txBody>
          <a:bodyPr/>
          <a:lstStyle>
            <a:lvl1pPr>
              <a:defRPr/>
            </a:lvl1pPr>
          </a:lstStyle>
          <a:p>
            <a:pPr>
              <a:defRPr/>
            </a:pPr>
            <a:r>
              <a:rPr lang="en-US" altLang="zh-CN"/>
              <a:t>Algorithms Design Techniques and Analysis</a:t>
            </a:r>
          </a:p>
        </p:txBody>
      </p:sp>
    </p:spTree>
    <p:extLst>
      <p:ext uri="{BB962C8B-B14F-4D97-AF65-F5344CB8AC3E}">
        <p14:creationId xmlns:p14="http://schemas.microsoft.com/office/powerpoint/2010/main" val="19493686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81800" y="269875"/>
            <a:ext cx="1966913" cy="55245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79475" y="269875"/>
            <a:ext cx="5749925" cy="55245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6"/>
          <p:cNvSpPr>
            <a:spLocks noGrp="1" noChangeArrowheads="1"/>
          </p:cNvSpPr>
          <p:nvPr>
            <p:ph type="ftr" sz="quarter" idx="10"/>
          </p:nvPr>
        </p:nvSpPr>
        <p:spPr>
          <a:ln/>
        </p:spPr>
        <p:txBody>
          <a:bodyPr/>
          <a:lstStyle>
            <a:lvl1pPr>
              <a:defRPr/>
            </a:lvl1pPr>
          </a:lstStyle>
          <a:p>
            <a:pPr>
              <a:defRPr/>
            </a:pPr>
            <a:r>
              <a:rPr lang="en-US" altLang="zh-CN"/>
              <a:t>Algorithms Design Techniques and Analysis</a:t>
            </a:r>
          </a:p>
        </p:txBody>
      </p:sp>
    </p:spTree>
    <p:extLst>
      <p:ext uri="{BB962C8B-B14F-4D97-AF65-F5344CB8AC3E}">
        <p14:creationId xmlns:p14="http://schemas.microsoft.com/office/powerpoint/2010/main" val="14916683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879475" y="269875"/>
            <a:ext cx="7869238" cy="9271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900113" y="1268413"/>
            <a:ext cx="3816350" cy="452596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868863" y="1268413"/>
            <a:ext cx="3817937" cy="452596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6"/>
          <p:cNvSpPr>
            <a:spLocks noGrp="1" noChangeArrowheads="1"/>
          </p:cNvSpPr>
          <p:nvPr>
            <p:ph type="ftr" sz="quarter" idx="10"/>
          </p:nvPr>
        </p:nvSpPr>
        <p:spPr>
          <a:ln/>
        </p:spPr>
        <p:txBody>
          <a:bodyPr/>
          <a:lstStyle>
            <a:lvl1pPr>
              <a:defRPr/>
            </a:lvl1pPr>
          </a:lstStyle>
          <a:p>
            <a:pPr>
              <a:defRPr/>
            </a:pPr>
            <a:r>
              <a:rPr lang="en-US" altLang="zh-CN"/>
              <a:t>Algorithms Design Techniques and Analysis</a:t>
            </a:r>
          </a:p>
        </p:txBody>
      </p:sp>
    </p:spTree>
    <p:extLst>
      <p:ext uri="{BB962C8B-B14F-4D97-AF65-F5344CB8AC3E}">
        <p14:creationId xmlns:p14="http://schemas.microsoft.com/office/powerpoint/2010/main" val="40612148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879475" y="269875"/>
            <a:ext cx="7869238" cy="9271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900113" y="1268413"/>
            <a:ext cx="3816350" cy="452596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868863" y="1268413"/>
            <a:ext cx="3817937" cy="2185987"/>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868863" y="3606800"/>
            <a:ext cx="3817937" cy="218757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Rectangle 6"/>
          <p:cNvSpPr>
            <a:spLocks noGrp="1" noChangeArrowheads="1"/>
          </p:cNvSpPr>
          <p:nvPr>
            <p:ph type="ftr" sz="quarter" idx="10"/>
          </p:nvPr>
        </p:nvSpPr>
        <p:spPr>
          <a:ln/>
        </p:spPr>
        <p:txBody>
          <a:bodyPr/>
          <a:lstStyle>
            <a:lvl1pPr>
              <a:defRPr/>
            </a:lvl1pPr>
          </a:lstStyle>
          <a:p>
            <a:pPr>
              <a:defRPr/>
            </a:pPr>
            <a:r>
              <a:rPr lang="en-US" altLang="zh-CN"/>
              <a:t>Algorithms Design Techniques and Analysis</a:t>
            </a:r>
          </a:p>
        </p:txBody>
      </p:sp>
    </p:spTree>
    <p:extLst>
      <p:ext uri="{BB962C8B-B14F-4D97-AF65-F5344CB8AC3E}">
        <p14:creationId xmlns:p14="http://schemas.microsoft.com/office/powerpoint/2010/main" val="42041754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OverObj">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879475" y="269875"/>
            <a:ext cx="7869238" cy="9271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900113" y="1268413"/>
            <a:ext cx="7786687" cy="2185987"/>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900113" y="3606800"/>
            <a:ext cx="7786687" cy="218757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6"/>
          <p:cNvSpPr>
            <a:spLocks noGrp="1" noChangeArrowheads="1"/>
          </p:cNvSpPr>
          <p:nvPr>
            <p:ph type="ftr" sz="quarter" idx="10"/>
          </p:nvPr>
        </p:nvSpPr>
        <p:spPr>
          <a:ln/>
        </p:spPr>
        <p:txBody>
          <a:bodyPr/>
          <a:lstStyle>
            <a:lvl1pPr>
              <a:defRPr/>
            </a:lvl1pPr>
          </a:lstStyle>
          <a:p>
            <a:pPr>
              <a:defRPr/>
            </a:pPr>
            <a:r>
              <a:rPr lang="en-US" altLang="zh-CN"/>
              <a:t>Algorithms Design Techniques and Analysis</a:t>
            </a:r>
          </a:p>
        </p:txBody>
      </p:sp>
    </p:spTree>
    <p:extLst>
      <p:ext uri="{BB962C8B-B14F-4D97-AF65-F5344CB8AC3E}">
        <p14:creationId xmlns:p14="http://schemas.microsoft.com/office/powerpoint/2010/main" val="2602878071"/>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jpeg"/><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6"/>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879475" y="269875"/>
            <a:ext cx="7869238" cy="92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900113" y="1268413"/>
            <a:ext cx="7786687"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p:txBody>
      </p:sp>
      <p:pic>
        <p:nvPicPr>
          <p:cNvPr id="1028" name="Picture 4" descr="index_0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0" y="6381750"/>
            <a:ext cx="824388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9" name="Picture 5" descr="200311_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308850" y="6381750"/>
            <a:ext cx="18002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4502" name="Rectangle 6"/>
          <p:cNvSpPr>
            <a:spLocks noGrp="1" noChangeArrowheads="1"/>
          </p:cNvSpPr>
          <p:nvPr>
            <p:ph type="ftr" sz="quarter" idx="3"/>
          </p:nvPr>
        </p:nvSpPr>
        <p:spPr bwMode="auto">
          <a:xfrm>
            <a:off x="3492500" y="6381750"/>
            <a:ext cx="3816350" cy="431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defRPr>
            </a:lvl1pPr>
          </a:lstStyle>
          <a:p>
            <a:pPr>
              <a:defRPr/>
            </a:pPr>
            <a:r>
              <a:rPr lang="en-US" altLang="zh-CN"/>
              <a:t>Algorithms Design Techniques and Analysis</a:t>
            </a:r>
          </a:p>
        </p:txBody>
      </p:sp>
    </p:spTree>
    <p:extLst>
      <p:ext uri="{BB962C8B-B14F-4D97-AF65-F5344CB8AC3E}">
        <p14:creationId xmlns:p14="http://schemas.microsoft.com/office/powerpoint/2010/main" val="239899307"/>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Lst>
  <p:timing>
    <p:tnLst>
      <p:par>
        <p:cTn id="1" dur="indefinite" restart="never" nodeType="tmRoot"/>
      </p:par>
    </p:tnLst>
  </p:timing>
  <p:hf sldNum="0" hdr="0" dt="0"/>
  <p:txStyles>
    <p:titleStyle>
      <a:lvl1pPr algn="l" rtl="0" eaLnBrk="0" fontAlgn="base" hangingPunct="0">
        <a:spcBef>
          <a:spcPct val="0"/>
        </a:spcBef>
        <a:spcAft>
          <a:spcPct val="0"/>
        </a:spcAft>
        <a:defRPr sz="3200" b="1">
          <a:solidFill>
            <a:schemeClr val="accent2"/>
          </a:solidFill>
          <a:latin typeface="+mj-lt"/>
          <a:ea typeface="+mj-ea"/>
          <a:cs typeface="+mj-cs"/>
        </a:defRPr>
      </a:lvl1pPr>
      <a:lvl2pPr algn="l" rtl="0" eaLnBrk="0" fontAlgn="base" hangingPunct="0">
        <a:spcBef>
          <a:spcPct val="0"/>
        </a:spcBef>
        <a:spcAft>
          <a:spcPct val="0"/>
        </a:spcAft>
        <a:defRPr sz="3200" b="1">
          <a:solidFill>
            <a:schemeClr val="accent2"/>
          </a:solidFill>
          <a:latin typeface="Garamond" pitchFamily="18" charset="0"/>
          <a:ea typeface="宋体" pitchFamily="2" charset="-122"/>
        </a:defRPr>
      </a:lvl2pPr>
      <a:lvl3pPr algn="l" rtl="0" eaLnBrk="0" fontAlgn="base" hangingPunct="0">
        <a:spcBef>
          <a:spcPct val="0"/>
        </a:spcBef>
        <a:spcAft>
          <a:spcPct val="0"/>
        </a:spcAft>
        <a:defRPr sz="3200" b="1">
          <a:solidFill>
            <a:schemeClr val="accent2"/>
          </a:solidFill>
          <a:latin typeface="Garamond" pitchFamily="18" charset="0"/>
          <a:ea typeface="宋体" pitchFamily="2" charset="-122"/>
        </a:defRPr>
      </a:lvl3pPr>
      <a:lvl4pPr algn="l" rtl="0" eaLnBrk="0" fontAlgn="base" hangingPunct="0">
        <a:spcBef>
          <a:spcPct val="0"/>
        </a:spcBef>
        <a:spcAft>
          <a:spcPct val="0"/>
        </a:spcAft>
        <a:defRPr sz="3200" b="1">
          <a:solidFill>
            <a:schemeClr val="accent2"/>
          </a:solidFill>
          <a:latin typeface="Garamond" pitchFamily="18" charset="0"/>
          <a:ea typeface="宋体" pitchFamily="2" charset="-122"/>
        </a:defRPr>
      </a:lvl4pPr>
      <a:lvl5pPr algn="l" rtl="0" eaLnBrk="0" fontAlgn="base" hangingPunct="0">
        <a:spcBef>
          <a:spcPct val="0"/>
        </a:spcBef>
        <a:spcAft>
          <a:spcPct val="0"/>
        </a:spcAft>
        <a:defRPr sz="3200" b="1">
          <a:solidFill>
            <a:schemeClr val="accent2"/>
          </a:solidFill>
          <a:latin typeface="Garamond" pitchFamily="18" charset="0"/>
          <a:ea typeface="宋体" pitchFamily="2" charset="-122"/>
        </a:defRPr>
      </a:lvl5pPr>
      <a:lvl6pPr marL="457200" algn="l" rtl="0" fontAlgn="base">
        <a:spcBef>
          <a:spcPct val="0"/>
        </a:spcBef>
        <a:spcAft>
          <a:spcPct val="0"/>
        </a:spcAft>
        <a:defRPr sz="3200" b="1">
          <a:solidFill>
            <a:schemeClr val="accent2"/>
          </a:solidFill>
          <a:latin typeface="Garamond" pitchFamily="18" charset="0"/>
          <a:ea typeface="宋体" pitchFamily="2" charset="-122"/>
        </a:defRPr>
      </a:lvl6pPr>
      <a:lvl7pPr marL="914400" algn="l" rtl="0" fontAlgn="base">
        <a:spcBef>
          <a:spcPct val="0"/>
        </a:spcBef>
        <a:spcAft>
          <a:spcPct val="0"/>
        </a:spcAft>
        <a:defRPr sz="3200" b="1">
          <a:solidFill>
            <a:schemeClr val="accent2"/>
          </a:solidFill>
          <a:latin typeface="Garamond" pitchFamily="18" charset="0"/>
          <a:ea typeface="宋体" pitchFamily="2" charset="-122"/>
        </a:defRPr>
      </a:lvl7pPr>
      <a:lvl8pPr marL="1371600" algn="l" rtl="0" fontAlgn="base">
        <a:spcBef>
          <a:spcPct val="0"/>
        </a:spcBef>
        <a:spcAft>
          <a:spcPct val="0"/>
        </a:spcAft>
        <a:defRPr sz="3200" b="1">
          <a:solidFill>
            <a:schemeClr val="accent2"/>
          </a:solidFill>
          <a:latin typeface="Garamond" pitchFamily="18" charset="0"/>
          <a:ea typeface="宋体" pitchFamily="2" charset="-122"/>
        </a:defRPr>
      </a:lvl8pPr>
      <a:lvl9pPr marL="1828800" algn="l" rtl="0" fontAlgn="base">
        <a:spcBef>
          <a:spcPct val="0"/>
        </a:spcBef>
        <a:spcAft>
          <a:spcPct val="0"/>
        </a:spcAft>
        <a:defRPr sz="3200" b="1">
          <a:solidFill>
            <a:schemeClr val="accent2"/>
          </a:solidFill>
          <a:latin typeface="Garamond" pitchFamily="18" charset="0"/>
          <a:ea typeface="宋体" pitchFamily="2" charset="-122"/>
        </a:defRPr>
      </a:lvl9pPr>
    </p:titleStyle>
    <p:body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charset="0"/>
          <a:ea typeface="华文行楷" pitchFamily="2" charset="-122"/>
        </a:defRPr>
      </a:lvl2pPr>
      <a:lvl3pPr marL="1143000" indent="-228600" algn="l" rtl="0" eaLnBrk="0" fontAlgn="base" hangingPunct="0">
        <a:spcBef>
          <a:spcPct val="20000"/>
        </a:spcBef>
        <a:spcAft>
          <a:spcPct val="0"/>
        </a:spcAft>
        <a:buChar char="•"/>
        <a:defRPr sz="2000">
          <a:solidFill>
            <a:schemeClr val="accent2"/>
          </a:solidFill>
          <a:latin typeface="Arial" charset="0"/>
          <a:ea typeface="+mj-ea"/>
        </a:defRPr>
      </a:lvl3pPr>
      <a:lvl4pPr marL="1600200" indent="-228600" algn="l" rtl="0" eaLnBrk="0" fontAlgn="base" hangingPunct="0">
        <a:spcBef>
          <a:spcPct val="20000"/>
        </a:spcBef>
        <a:spcAft>
          <a:spcPct val="0"/>
        </a:spcAft>
        <a:buChar char="•"/>
        <a:defRPr sz="2000">
          <a:solidFill>
            <a:schemeClr val="tx1"/>
          </a:solidFill>
          <a:latin typeface="Arial" charset="0"/>
          <a:ea typeface="+mj-ea"/>
        </a:defRPr>
      </a:lvl4pPr>
      <a:lvl5pPr marL="2057400" indent="-228600" algn="l" rtl="0" eaLnBrk="0" fontAlgn="base" hangingPunct="0">
        <a:spcBef>
          <a:spcPct val="20000"/>
        </a:spcBef>
        <a:spcAft>
          <a:spcPct val="0"/>
        </a:spcAft>
        <a:buChar char="•"/>
        <a:defRPr sz="2000">
          <a:solidFill>
            <a:schemeClr val="tx1"/>
          </a:solidFill>
          <a:latin typeface="Arial" charset="0"/>
          <a:ea typeface="+mj-ea"/>
        </a:defRPr>
      </a:lvl5pPr>
      <a:lvl6pPr marL="2514600" indent="-228600" algn="l" rtl="0" fontAlgn="base">
        <a:spcBef>
          <a:spcPct val="20000"/>
        </a:spcBef>
        <a:spcAft>
          <a:spcPct val="0"/>
        </a:spcAft>
        <a:buChar char="•"/>
        <a:defRPr sz="2000">
          <a:solidFill>
            <a:schemeClr val="tx1"/>
          </a:solidFill>
          <a:latin typeface="Arial" charset="0"/>
          <a:ea typeface="+mj-ea"/>
        </a:defRPr>
      </a:lvl6pPr>
      <a:lvl7pPr marL="2971800" indent="-228600" algn="l" rtl="0" fontAlgn="base">
        <a:spcBef>
          <a:spcPct val="20000"/>
        </a:spcBef>
        <a:spcAft>
          <a:spcPct val="0"/>
        </a:spcAft>
        <a:buChar char="•"/>
        <a:defRPr sz="2000">
          <a:solidFill>
            <a:schemeClr val="tx1"/>
          </a:solidFill>
          <a:latin typeface="Arial" charset="0"/>
          <a:ea typeface="+mj-ea"/>
        </a:defRPr>
      </a:lvl7pPr>
      <a:lvl8pPr marL="3429000" indent="-228600" algn="l" rtl="0" fontAlgn="base">
        <a:spcBef>
          <a:spcPct val="20000"/>
        </a:spcBef>
        <a:spcAft>
          <a:spcPct val="0"/>
        </a:spcAft>
        <a:buChar char="•"/>
        <a:defRPr sz="2000">
          <a:solidFill>
            <a:schemeClr val="tx1"/>
          </a:solidFill>
          <a:latin typeface="Arial" charset="0"/>
          <a:ea typeface="+mj-ea"/>
        </a:defRPr>
      </a:lvl8pPr>
      <a:lvl9pPr marL="3886200" indent="-228600" algn="l" rtl="0" fontAlgn="base">
        <a:spcBef>
          <a:spcPct val="20000"/>
        </a:spcBef>
        <a:spcAft>
          <a:spcPct val="0"/>
        </a:spcAft>
        <a:buChar char="•"/>
        <a:defRPr sz="2000">
          <a:solidFill>
            <a:schemeClr val="tx1"/>
          </a:solidFill>
          <a:latin typeface="Arial" charset="0"/>
          <a:ea typeface="+mj-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en.wikipedia.org/wiki/Algorithm#cite_note-2" TargetMode="External"/><Relationship Id="rId2" Type="http://schemas.openxmlformats.org/officeDocument/2006/relationships/hyperlink" Target="https://en.wikipedia.org/wiki/Algorithm#cite_note-1" TargetMode="External"/><Relationship Id="rId1" Type="http://schemas.openxmlformats.org/officeDocument/2006/relationships/slideLayout" Target="../slideLayouts/slideLayout2.xml"/><Relationship Id="rId6" Type="http://schemas.openxmlformats.org/officeDocument/2006/relationships/hyperlink" Target="https://en.wikipedia.org/wiki/Algorithm#cite_note-6" TargetMode="External"/><Relationship Id="rId5" Type="http://schemas.openxmlformats.org/officeDocument/2006/relationships/hyperlink" Target="https://en.wikipedia.org/wiki/Algorithm#cite_note-5" TargetMode="External"/><Relationship Id="rId4" Type="http://schemas.openxmlformats.org/officeDocument/2006/relationships/hyperlink" Target="https://en.wikipedia.org/wiki/Algorithm#cite_note-4"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7.wmf"/><Relationship Id="rId13" Type="http://schemas.openxmlformats.org/officeDocument/2006/relationships/oleObject" Target="../embeddings/oleObject6.bin"/><Relationship Id="rId3" Type="http://schemas.openxmlformats.org/officeDocument/2006/relationships/notesSlide" Target="../notesSlides/notesSlide25.xml"/><Relationship Id="rId7" Type="http://schemas.openxmlformats.org/officeDocument/2006/relationships/oleObject" Target="../embeddings/oleObject3.bin"/><Relationship Id="rId12" Type="http://schemas.openxmlformats.org/officeDocument/2006/relationships/image" Target="../media/image9.wmf"/><Relationship Id="rId2" Type="http://schemas.openxmlformats.org/officeDocument/2006/relationships/slideLayout" Target="../slideLayouts/slideLayout2.xml"/><Relationship Id="rId16" Type="http://schemas.openxmlformats.org/officeDocument/2006/relationships/image" Target="../media/image11.wmf"/><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oleObject" Target="../embeddings/oleObject5.bin"/><Relationship Id="rId5" Type="http://schemas.openxmlformats.org/officeDocument/2006/relationships/image" Target="../media/image6.wmf"/><Relationship Id="rId15" Type="http://schemas.openxmlformats.org/officeDocument/2006/relationships/oleObject" Target="../embeddings/oleObject7.bin"/><Relationship Id="rId10" Type="http://schemas.openxmlformats.org/officeDocument/2006/relationships/image" Target="../media/image8.wmf"/><Relationship Id="rId4" Type="http://schemas.openxmlformats.org/officeDocument/2006/relationships/oleObject" Target="../embeddings/oleObject1.bin"/><Relationship Id="rId9" Type="http://schemas.openxmlformats.org/officeDocument/2006/relationships/oleObject" Target="../embeddings/oleObject4.bin"/><Relationship Id="rId14" Type="http://schemas.openxmlformats.org/officeDocument/2006/relationships/image" Target="../media/image10.wmf"/></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notesSlide" Target="../notesSlides/notesSlide27.xml"/><Relationship Id="rId7" Type="http://schemas.openxmlformats.org/officeDocument/2006/relationships/image" Target="../media/image13.w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9.bin"/><Relationship Id="rId5" Type="http://schemas.openxmlformats.org/officeDocument/2006/relationships/image" Target="../media/image12.wmf"/><Relationship Id="rId4" Type="http://schemas.openxmlformats.org/officeDocument/2006/relationships/oleObject" Target="../embeddings/oleObject8.bin"/><Relationship Id="rId9" Type="http://schemas.openxmlformats.org/officeDocument/2006/relationships/image" Target="../media/image14.wmf"/></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13.bin"/><Relationship Id="rId13" Type="http://schemas.openxmlformats.org/officeDocument/2006/relationships/image" Target="../media/image20.emf"/><Relationship Id="rId3" Type="http://schemas.openxmlformats.org/officeDocument/2006/relationships/notesSlide" Target="../notesSlides/notesSlide31.xml"/><Relationship Id="rId7" Type="http://schemas.openxmlformats.org/officeDocument/2006/relationships/image" Target="../media/image17.emf"/><Relationship Id="rId12"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12.bin"/><Relationship Id="rId11" Type="http://schemas.openxmlformats.org/officeDocument/2006/relationships/image" Target="../media/image19.emf"/><Relationship Id="rId5" Type="http://schemas.openxmlformats.org/officeDocument/2006/relationships/image" Target="../media/image16.emf"/><Relationship Id="rId10" Type="http://schemas.openxmlformats.org/officeDocument/2006/relationships/oleObject" Target="../embeddings/oleObject14.bin"/><Relationship Id="rId4" Type="http://schemas.openxmlformats.org/officeDocument/2006/relationships/oleObject" Target="../embeddings/oleObject11.bin"/><Relationship Id="rId9" Type="http://schemas.openxmlformats.org/officeDocument/2006/relationships/image" Target="../media/image18.emf"/></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85.xml"/><Relationship Id="rId2" Type="http://schemas.openxmlformats.org/officeDocument/2006/relationships/slideLayout" Target="../slideLayouts/slideLayout12.xml"/><Relationship Id="rId1" Type="http://schemas.openxmlformats.org/officeDocument/2006/relationships/vmlDrawing" Target="../drawings/vmlDrawing4.vml"/><Relationship Id="rId5" Type="http://schemas.openxmlformats.org/officeDocument/2006/relationships/image" Target="../media/image27.wmf"/><Relationship Id="rId4" Type="http://schemas.openxmlformats.org/officeDocument/2006/relationships/oleObject" Target="../embeddings/oleObject16.bin"/></Relationships>
</file>

<file path=ppt/slides/_rels/slide9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6.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96.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87.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notesSlide" Target="../notesSlides/notesSlide89.xml"/><Relationship Id="rId7" Type="http://schemas.openxmlformats.org/officeDocument/2006/relationships/image" Target="../media/image33.wmf"/><Relationship Id="rId2" Type="http://schemas.openxmlformats.org/officeDocument/2006/relationships/slideLayout" Target="../slideLayouts/slideLayout13.xml"/><Relationship Id="rId1" Type="http://schemas.openxmlformats.org/officeDocument/2006/relationships/vmlDrawing" Target="../drawings/vmlDrawing5.vml"/><Relationship Id="rId6" Type="http://schemas.openxmlformats.org/officeDocument/2006/relationships/oleObject" Target="../embeddings/oleObject18.bin"/><Relationship Id="rId5" Type="http://schemas.openxmlformats.org/officeDocument/2006/relationships/image" Target="../media/image32.wmf"/><Relationship Id="rId4" Type="http://schemas.openxmlformats.org/officeDocument/2006/relationships/oleObject" Target="../embeddings/oleObject17.bin"/></Relationships>
</file>

<file path=ppt/slides/_rels/slide99.xml.rels><?xml version="1.0" encoding="UTF-8" standalone="yes"?>
<Relationships xmlns="http://schemas.openxmlformats.org/package/2006/relationships"><Relationship Id="rId3" Type="http://schemas.openxmlformats.org/officeDocument/2006/relationships/notesSlide" Target="../notesSlides/notesSlide90.xml"/><Relationship Id="rId2" Type="http://schemas.openxmlformats.org/officeDocument/2006/relationships/slideLayout" Target="../slideLayouts/slideLayout13.xml"/><Relationship Id="rId1" Type="http://schemas.openxmlformats.org/officeDocument/2006/relationships/vmlDrawing" Target="../drawings/vmlDrawing6.vml"/><Relationship Id="rId6" Type="http://schemas.openxmlformats.org/officeDocument/2006/relationships/image" Target="../media/image36.png"/><Relationship Id="rId5" Type="http://schemas.openxmlformats.org/officeDocument/2006/relationships/image" Target="../media/image35.wmf"/><Relationship Id="rId4" Type="http://schemas.openxmlformats.org/officeDocument/2006/relationships/oleObject" Target="../embeddings/oleObject19.bin"/></Relationships>
</file>

<file path=ppt/slides/_rels/slide100.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notesSlide" Target="../notesSlides/notesSlide91.xml"/><Relationship Id="rId7" Type="http://schemas.openxmlformats.org/officeDocument/2006/relationships/image" Target="../media/image38.wmf"/><Relationship Id="rId2" Type="http://schemas.openxmlformats.org/officeDocument/2006/relationships/slideLayout" Target="../slideLayouts/slideLayout13.xml"/><Relationship Id="rId1" Type="http://schemas.openxmlformats.org/officeDocument/2006/relationships/vmlDrawing" Target="../drawings/vmlDrawing7.vml"/><Relationship Id="rId6" Type="http://schemas.openxmlformats.org/officeDocument/2006/relationships/oleObject" Target="../embeddings/oleObject21.bin"/><Relationship Id="rId5" Type="http://schemas.openxmlformats.org/officeDocument/2006/relationships/image" Target="../media/image37.wmf"/><Relationship Id="rId4" Type="http://schemas.openxmlformats.org/officeDocument/2006/relationships/oleObject" Target="../embeddings/oleObject20.bin"/><Relationship Id="rId9" Type="http://schemas.openxmlformats.org/officeDocument/2006/relationships/image" Target="../media/image40.png"/></Relationships>
</file>

<file path=ppt/slides/_rels/slide101.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42.wmf"/></Relationships>
</file>

<file path=ppt/slides/_rels/slide105.xml.rels><?xml version="1.0" encoding="UTF-8" standalone="yes"?>
<Relationships xmlns="http://schemas.openxmlformats.org/package/2006/relationships"><Relationship Id="rId8" Type="http://schemas.openxmlformats.org/officeDocument/2006/relationships/oleObject" Target="../embeddings/oleObject25.bin"/><Relationship Id="rId3" Type="http://schemas.openxmlformats.org/officeDocument/2006/relationships/notesSlide" Target="../notesSlides/notesSlide95.xml"/><Relationship Id="rId7" Type="http://schemas.openxmlformats.org/officeDocument/2006/relationships/image" Target="../media/image44.wmf"/><Relationship Id="rId2" Type="http://schemas.openxmlformats.org/officeDocument/2006/relationships/slideLayout" Target="../slideLayouts/slideLayout13.xml"/><Relationship Id="rId1" Type="http://schemas.openxmlformats.org/officeDocument/2006/relationships/vmlDrawing" Target="../drawings/vmlDrawing9.vml"/><Relationship Id="rId6" Type="http://schemas.openxmlformats.org/officeDocument/2006/relationships/oleObject" Target="../embeddings/oleObject24.bin"/><Relationship Id="rId11" Type="http://schemas.openxmlformats.org/officeDocument/2006/relationships/image" Target="../media/image47.png"/><Relationship Id="rId5" Type="http://schemas.openxmlformats.org/officeDocument/2006/relationships/image" Target="../media/image43.wmf"/><Relationship Id="rId10" Type="http://schemas.openxmlformats.org/officeDocument/2006/relationships/image" Target="../media/image46.png"/><Relationship Id="rId4" Type="http://schemas.openxmlformats.org/officeDocument/2006/relationships/oleObject" Target="../embeddings/oleObject23.bin"/><Relationship Id="rId9" Type="http://schemas.openxmlformats.org/officeDocument/2006/relationships/image" Target="../media/image45.wmf"/></Relationships>
</file>

<file path=ppt/slides/_rels/slide10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8" Type="http://schemas.openxmlformats.org/officeDocument/2006/relationships/oleObject" Target="../embeddings/oleObject28.bin"/><Relationship Id="rId3" Type="http://schemas.openxmlformats.org/officeDocument/2006/relationships/notesSlide" Target="../notesSlides/notesSlide102.xml"/><Relationship Id="rId7" Type="http://schemas.openxmlformats.org/officeDocument/2006/relationships/image" Target="../media/image53.wmf"/><Relationship Id="rId2" Type="http://schemas.openxmlformats.org/officeDocument/2006/relationships/slideLayout" Target="../slideLayouts/slideLayout13.xml"/><Relationship Id="rId1" Type="http://schemas.openxmlformats.org/officeDocument/2006/relationships/vmlDrawing" Target="../drawings/vmlDrawing10.vml"/><Relationship Id="rId6" Type="http://schemas.openxmlformats.org/officeDocument/2006/relationships/oleObject" Target="../embeddings/oleObject27.bin"/><Relationship Id="rId5" Type="http://schemas.openxmlformats.org/officeDocument/2006/relationships/image" Target="../media/image52.wmf"/><Relationship Id="rId4" Type="http://schemas.openxmlformats.org/officeDocument/2006/relationships/oleObject" Target="../embeddings/oleObject26.bin"/><Relationship Id="rId9" Type="http://schemas.openxmlformats.org/officeDocument/2006/relationships/image" Target="../media/image54.wmf"/></Relationships>
</file>

<file path=ppt/slides/_rels/slide11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3.xml"/></Relationships>
</file>

<file path=ppt/slides/_rels/slide11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13.xml"/></Relationships>
</file>

<file path=ppt/slides/_rels/slide116.xml.rels><?xml version="1.0" encoding="UTF-8" standalone="yes"?>
<Relationships xmlns="http://schemas.openxmlformats.org/package/2006/relationships"><Relationship Id="rId3" Type="http://schemas.openxmlformats.org/officeDocument/2006/relationships/notesSlide" Target="../notesSlides/notesSlide103.xml"/><Relationship Id="rId2" Type="http://schemas.openxmlformats.org/officeDocument/2006/relationships/slideLayout" Target="../slideLayouts/slideLayout12.xml"/><Relationship Id="rId1" Type="http://schemas.openxmlformats.org/officeDocument/2006/relationships/vmlDrawing" Target="../drawings/vmlDrawing11.vml"/><Relationship Id="rId6" Type="http://schemas.openxmlformats.org/officeDocument/2006/relationships/image" Target="../media/image59.png"/><Relationship Id="rId5" Type="http://schemas.openxmlformats.org/officeDocument/2006/relationships/image" Target="../media/image58.wmf"/><Relationship Id="rId4" Type="http://schemas.openxmlformats.org/officeDocument/2006/relationships/oleObject" Target="../embeddings/oleObject29.bin"/></Relationships>
</file>

<file path=ppt/slides/_rels/slide117.xml.rels><?xml version="1.0" encoding="UTF-8" standalone="yes"?>
<Relationships xmlns="http://schemas.openxmlformats.org/package/2006/relationships"><Relationship Id="rId3" Type="http://schemas.openxmlformats.org/officeDocument/2006/relationships/notesSlide" Target="../notesSlides/notesSlide104.xml"/><Relationship Id="rId2" Type="http://schemas.openxmlformats.org/officeDocument/2006/relationships/slideLayout" Target="../slideLayouts/slideLayout12.xml"/><Relationship Id="rId1" Type="http://schemas.openxmlformats.org/officeDocument/2006/relationships/vmlDrawing" Target="../drawings/vmlDrawing12.vml"/><Relationship Id="rId6" Type="http://schemas.openxmlformats.org/officeDocument/2006/relationships/image" Target="../media/image5.png"/><Relationship Id="rId5" Type="http://schemas.openxmlformats.org/officeDocument/2006/relationships/image" Target="../media/image60.wmf"/><Relationship Id="rId4" Type="http://schemas.openxmlformats.org/officeDocument/2006/relationships/oleObject" Target="../embeddings/oleObject30.bin"/></Relationships>
</file>

<file path=ppt/slides/_rels/slide118.xml.rels><?xml version="1.0" encoding="UTF-8" standalone="yes"?>
<Relationships xmlns="http://schemas.openxmlformats.org/package/2006/relationships"><Relationship Id="rId8" Type="http://schemas.openxmlformats.org/officeDocument/2006/relationships/image" Target="../media/image30.jpeg"/><Relationship Id="rId3" Type="http://schemas.openxmlformats.org/officeDocument/2006/relationships/notesSlide" Target="../notesSlides/notesSlide105.xml"/><Relationship Id="rId7" Type="http://schemas.openxmlformats.org/officeDocument/2006/relationships/image" Target="../media/image62.wmf"/><Relationship Id="rId2" Type="http://schemas.openxmlformats.org/officeDocument/2006/relationships/slideLayout" Target="../slideLayouts/slideLayout14.xml"/><Relationship Id="rId1" Type="http://schemas.openxmlformats.org/officeDocument/2006/relationships/vmlDrawing" Target="../drawings/vmlDrawing13.vml"/><Relationship Id="rId6" Type="http://schemas.openxmlformats.org/officeDocument/2006/relationships/oleObject" Target="../embeddings/oleObject32.bin"/><Relationship Id="rId5" Type="http://schemas.openxmlformats.org/officeDocument/2006/relationships/image" Target="../media/image61.wmf"/><Relationship Id="rId4" Type="http://schemas.openxmlformats.org/officeDocument/2006/relationships/oleObject" Target="../embeddings/oleObject31.bin"/><Relationship Id="rId9" Type="http://schemas.openxmlformats.org/officeDocument/2006/relationships/image" Target="../media/image63.png"/></Relationships>
</file>

<file path=ppt/slides/_rels/slide119.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notesSlide" Target="../notesSlides/notesSlide106.xml"/><Relationship Id="rId7" Type="http://schemas.openxmlformats.org/officeDocument/2006/relationships/image" Target="../media/image65.wmf"/><Relationship Id="rId2" Type="http://schemas.openxmlformats.org/officeDocument/2006/relationships/slideLayout" Target="../slideLayouts/slideLayout13.xml"/><Relationship Id="rId1" Type="http://schemas.openxmlformats.org/officeDocument/2006/relationships/vmlDrawing" Target="../drawings/vmlDrawing14.vml"/><Relationship Id="rId6" Type="http://schemas.openxmlformats.org/officeDocument/2006/relationships/oleObject" Target="../embeddings/oleObject34.bin"/><Relationship Id="rId5" Type="http://schemas.openxmlformats.org/officeDocument/2006/relationships/image" Target="../media/image64.wmf"/><Relationship Id="rId4" Type="http://schemas.openxmlformats.org/officeDocument/2006/relationships/oleObject" Target="../embeddings/oleObject33.bin"/></Relationships>
</file>

<file path=ppt/slides/_rels/slide120.xml.rels><?xml version="1.0" encoding="UTF-8" standalone="yes"?>
<Relationships xmlns="http://schemas.openxmlformats.org/package/2006/relationships"><Relationship Id="rId8" Type="http://schemas.openxmlformats.org/officeDocument/2006/relationships/image" Target="../media/image69.gif"/><Relationship Id="rId3" Type="http://schemas.openxmlformats.org/officeDocument/2006/relationships/notesSlide" Target="../notesSlides/notesSlide107.xml"/><Relationship Id="rId7" Type="http://schemas.openxmlformats.org/officeDocument/2006/relationships/image" Target="../media/image68.wmf"/><Relationship Id="rId2" Type="http://schemas.openxmlformats.org/officeDocument/2006/relationships/slideLayout" Target="../slideLayouts/slideLayout13.xml"/><Relationship Id="rId1" Type="http://schemas.openxmlformats.org/officeDocument/2006/relationships/vmlDrawing" Target="../drawings/vmlDrawing15.vml"/><Relationship Id="rId6" Type="http://schemas.openxmlformats.org/officeDocument/2006/relationships/oleObject" Target="../embeddings/oleObject36.bin"/><Relationship Id="rId5" Type="http://schemas.openxmlformats.org/officeDocument/2006/relationships/image" Target="../media/image67.wmf"/><Relationship Id="rId4" Type="http://schemas.openxmlformats.org/officeDocument/2006/relationships/oleObject" Target="../embeddings/oleObject35.bin"/></Relationships>
</file>

<file path=ppt/slides/_rels/slide121.xml.rels><?xml version="1.0" encoding="UTF-8" standalone="yes"?>
<Relationships xmlns="http://schemas.openxmlformats.org/package/2006/relationships"><Relationship Id="rId8" Type="http://schemas.openxmlformats.org/officeDocument/2006/relationships/image" Target="../media/image69.gif"/><Relationship Id="rId3" Type="http://schemas.openxmlformats.org/officeDocument/2006/relationships/notesSlide" Target="../notesSlides/notesSlide108.xml"/><Relationship Id="rId7" Type="http://schemas.openxmlformats.org/officeDocument/2006/relationships/image" Target="../media/image71.wmf"/><Relationship Id="rId2" Type="http://schemas.openxmlformats.org/officeDocument/2006/relationships/slideLayout" Target="../slideLayouts/slideLayout13.xml"/><Relationship Id="rId1" Type="http://schemas.openxmlformats.org/officeDocument/2006/relationships/vmlDrawing" Target="../drawings/vmlDrawing16.vml"/><Relationship Id="rId6" Type="http://schemas.openxmlformats.org/officeDocument/2006/relationships/oleObject" Target="../embeddings/oleObject38.bin"/><Relationship Id="rId5" Type="http://schemas.openxmlformats.org/officeDocument/2006/relationships/image" Target="../media/image70.wmf"/><Relationship Id="rId4" Type="http://schemas.openxmlformats.org/officeDocument/2006/relationships/oleObject" Target="../embeddings/oleObject37.bin"/></Relationships>
</file>

<file path=ppt/slides/_rels/slide122.xml.rels><?xml version="1.0" encoding="UTF-8" standalone="yes"?>
<Relationships xmlns="http://schemas.openxmlformats.org/package/2006/relationships"><Relationship Id="rId8" Type="http://schemas.openxmlformats.org/officeDocument/2006/relationships/oleObject" Target="../embeddings/oleObject41.bin"/><Relationship Id="rId3" Type="http://schemas.openxmlformats.org/officeDocument/2006/relationships/notesSlide" Target="../notesSlides/notesSlide109.xml"/><Relationship Id="rId7" Type="http://schemas.openxmlformats.org/officeDocument/2006/relationships/image" Target="../media/image73.wmf"/><Relationship Id="rId2" Type="http://schemas.openxmlformats.org/officeDocument/2006/relationships/slideLayout" Target="../slideLayouts/slideLayout13.xml"/><Relationship Id="rId1" Type="http://schemas.openxmlformats.org/officeDocument/2006/relationships/vmlDrawing" Target="../drawings/vmlDrawing17.vml"/><Relationship Id="rId6" Type="http://schemas.openxmlformats.org/officeDocument/2006/relationships/oleObject" Target="../embeddings/oleObject40.bin"/><Relationship Id="rId5" Type="http://schemas.openxmlformats.org/officeDocument/2006/relationships/image" Target="../media/image72.wmf"/><Relationship Id="rId10" Type="http://schemas.openxmlformats.org/officeDocument/2006/relationships/image" Target="../media/image30.jpeg"/><Relationship Id="rId4" Type="http://schemas.openxmlformats.org/officeDocument/2006/relationships/oleObject" Target="../embeddings/oleObject39.bin"/><Relationship Id="rId9" Type="http://schemas.openxmlformats.org/officeDocument/2006/relationships/image" Target="../media/image74.wmf"/></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notesSlide" Target="../notesSlides/notesSlide111.xml"/><Relationship Id="rId2" Type="http://schemas.openxmlformats.org/officeDocument/2006/relationships/slideLayout" Target="../slideLayouts/slideLayout12.xml"/><Relationship Id="rId1" Type="http://schemas.openxmlformats.org/officeDocument/2006/relationships/vmlDrawing" Target="../drawings/vmlDrawing18.vml"/><Relationship Id="rId5" Type="http://schemas.openxmlformats.org/officeDocument/2006/relationships/image" Target="../media/image75.wmf"/><Relationship Id="rId4" Type="http://schemas.openxmlformats.org/officeDocument/2006/relationships/oleObject" Target="../embeddings/oleObject42.bin"/></Relationships>
</file>

<file path=ppt/slides/_rels/slide125.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2.xml"/></Relationships>
</file>

<file path=ppt/slides/_rels/slide126.xml.rels><?xml version="1.0" encoding="UTF-8" standalone="yes"?>
<Relationships xmlns="http://schemas.openxmlformats.org/package/2006/relationships"><Relationship Id="rId8" Type="http://schemas.openxmlformats.org/officeDocument/2006/relationships/image" Target="../media/image30.jpeg"/><Relationship Id="rId3" Type="http://schemas.openxmlformats.org/officeDocument/2006/relationships/notesSlide" Target="../notesSlides/notesSlide112.xml"/><Relationship Id="rId7" Type="http://schemas.openxmlformats.org/officeDocument/2006/relationships/image" Target="../media/image78.wmf"/><Relationship Id="rId2" Type="http://schemas.openxmlformats.org/officeDocument/2006/relationships/slideLayout" Target="../slideLayouts/slideLayout13.xml"/><Relationship Id="rId1" Type="http://schemas.openxmlformats.org/officeDocument/2006/relationships/vmlDrawing" Target="../drawings/vmlDrawing19.vml"/><Relationship Id="rId6" Type="http://schemas.openxmlformats.org/officeDocument/2006/relationships/oleObject" Target="../embeddings/oleObject44.bin"/><Relationship Id="rId5" Type="http://schemas.openxmlformats.org/officeDocument/2006/relationships/image" Target="../media/image77.wmf"/><Relationship Id="rId4" Type="http://schemas.openxmlformats.org/officeDocument/2006/relationships/oleObject" Target="../embeddings/oleObject43.bin"/></Relationships>
</file>

<file path=ppt/slides/_rels/slide127.xml.rels><?xml version="1.0" encoding="UTF-8" standalone="yes"?>
<Relationships xmlns="http://schemas.openxmlformats.org/package/2006/relationships"><Relationship Id="rId3" Type="http://schemas.openxmlformats.org/officeDocument/2006/relationships/notesSlide" Target="../notesSlides/notesSlide113.xml"/><Relationship Id="rId7" Type="http://schemas.openxmlformats.org/officeDocument/2006/relationships/image" Target="../media/image80.wmf"/><Relationship Id="rId2" Type="http://schemas.openxmlformats.org/officeDocument/2006/relationships/slideLayout" Target="../slideLayouts/slideLayout13.xml"/><Relationship Id="rId1" Type="http://schemas.openxmlformats.org/officeDocument/2006/relationships/vmlDrawing" Target="../drawings/vmlDrawing20.vml"/><Relationship Id="rId6" Type="http://schemas.openxmlformats.org/officeDocument/2006/relationships/oleObject" Target="../embeddings/oleObject46.bin"/><Relationship Id="rId5" Type="http://schemas.openxmlformats.org/officeDocument/2006/relationships/image" Target="../media/image79.wmf"/><Relationship Id="rId4" Type="http://schemas.openxmlformats.org/officeDocument/2006/relationships/oleObject" Target="../embeddings/oleObject45.bin"/></Relationships>
</file>

<file path=ppt/slides/_rels/slide128.xml.rels><?xml version="1.0" encoding="UTF-8" standalone="yes"?>
<Relationships xmlns="http://schemas.openxmlformats.org/package/2006/relationships"><Relationship Id="rId8" Type="http://schemas.openxmlformats.org/officeDocument/2006/relationships/image" Target="../media/image30.jpeg"/><Relationship Id="rId3" Type="http://schemas.openxmlformats.org/officeDocument/2006/relationships/notesSlide" Target="../notesSlides/notesSlide114.xml"/><Relationship Id="rId7" Type="http://schemas.openxmlformats.org/officeDocument/2006/relationships/image" Target="../media/image82.wmf"/><Relationship Id="rId2" Type="http://schemas.openxmlformats.org/officeDocument/2006/relationships/slideLayout" Target="../slideLayouts/slideLayout13.xml"/><Relationship Id="rId1" Type="http://schemas.openxmlformats.org/officeDocument/2006/relationships/vmlDrawing" Target="../drawings/vmlDrawing21.vml"/><Relationship Id="rId6" Type="http://schemas.openxmlformats.org/officeDocument/2006/relationships/oleObject" Target="../embeddings/oleObject48.bin"/><Relationship Id="rId5" Type="http://schemas.openxmlformats.org/officeDocument/2006/relationships/image" Target="../media/image81.wmf"/><Relationship Id="rId4" Type="http://schemas.openxmlformats.org/officeDocument/2006/relationships/oleObject" Target="../embeddings/oleObject47.bin"/></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notesSlide" Target="../notesSlides/notesSlide116.xml"/><Relationship Id="rId7" Type="http://schemas.openxmlformats.org/officeDocument/2006/relationships/image" Target="../media/image84.png"/><Relationship Id="rId2" Type="http://schemas.openxmlformats.org/officeDocument/2006/relationships/slideLayout" Target="../slideLayouts/slideLayout12.xml"/><Relationship Id="rId1" Type="http://schemas.openxmlformats.org/officeDocument/2006/relationships/vmlDrawing" Target="../drawings/vmlDrawing22.vml"/><Relationship Id="rId6" Type="http://schemas.openxmlformats.org/officeDocument/2006/relationships/image" Target="../media/image83.wmf"/><Relationship Id="rId5" Type="http://schemas.openxmlformats.org/officeDocument/2006/relationships/oleObject" Target="../embeddings/oleObject49.bin"/><Relationship Id="rId4" Type="http://schemas.openxmlformats.org/officeDocument/2006/relationships/hyperlink" Target="exam229.swf" TargetMode="External"/></Relationships>
</file>

<file path=ppt/slides/_rels/slide131.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12.xml"/></Relationships>
</file>

<file path=ppt/slides/_rels/slide132.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12.xml"/></Relationships>
</file>

<file path=ppt/slides/_rels/slide13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audio" Target="../media/audio1.wav"/><Relationship Id="rId7" Type="http://schemas.openxmlformats.org/officeDocument/2006/relationships/image" Target="../media/image87.emf"/><Relationship Id="rId2" Type="http://schemas.openxmlformats.org/officeDocument/2006/relationships/slideLayout" Target="../slideLayouts/slideLayout2.xml"/><Relationship Id="rId1" Type="http://schemas.openxmlformats.org/officeDocument/2006/relationships/vmlDrawing" Target="../drawings/vmlDrawing23.vml"/><Relationship Id="rId6" Type="http://schemas.openxmlformats.org/officeDocument/2006/relationships/oleObject" Target="../embeddings/oleObject50.bin"/><Relationship Id="rId5" Type="http://schemas.openxmlformats.org/officeDocument/2006/relationships/audio" Target="../media/audio3.wav"/><Relationship Id="rId4" Type="http://schemas.openxmlformats.org/officeDocument/2006/relationships/audio" Target="../media/audio2.wav"/></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notesSlide" Target="../notesSlides/notesSlide118.xml"/><Relationship Id="rId2" Type="http://schemas.openxmlformats.org/officeDocument/2006/relationships/slideLayout" Target="../slideLayouts/slideLayout2.xml"/><Relationship Id="rId1" Type="http://schemas.openxmlformats.org/officeDocument/2006/relationships/vmlDrawing" Target="../drawings/vmlDrawing24.vml"/><Relationship Id="rId5" Type="http://schemas.openxmlformats.org/officeDocument/2006/relationships/image" Target="../media/image88.wmf"/><Relationship Id="rId4" Type="http://schemas.openxmlformats.org/officeDocument/2006/relationships/oleObject" Target="../embeddings/oleObject51.bin"/></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Layout" Target="../slideLayouts/slideLayout2.xml"/><Relationship Id="rId1" Type="http://schemas.openxmlformats.org/officeDocument/2006/relationships/vmlDrawing" Target="../drawings/vmlDrawing25.vml"/><Relationship Id="rId4" Type="http://schemas.openxmlformats.org/officeDocument/2006/relationships/image" Target="../media/image89.wmf"/></Relationships>
</file>

<file path=ppt/slides/_rels/slide147.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slideLayout" Target="../slideLayouts/slideLayout2.xml"/><Relationship Id="rId1" Type="http://schemas.openxmlformats.org/officeDocument/2006/relationships/vmlDrawing" Target="../drawings/vmlDrawing26.vml"/><Relationship Id="rId4" Type="http://schemas.openxmlformats.org/officeDocument/2006/relationships/image" Target="../media/image90.emf"/></Relationships>
</file>

<file path=ppt/slides/_rels/slide148.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slideLayout" Target="../slideLayouts/slideLayout2.xml"/><Relationship Id="rId1" Type="http://schemas.openxmlformats.org/officeDocument/2006/relationships/vmlDrawing" Target="../drawings/vmlDrawing27.vml"/><Relationship Id="rId4" Type="http://schemas.openxmlformats.org/officeDocument/2006/relationships/image" Target="../media/image91.wmf"/></Relationships>
</file>

<file path=ppt/slides/_rels/slide149.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slideLayout" Target="../slideLayouts/slideLayout2.xml"/><Relationship Id="rId1" Type="http://schemas.openxmlformats.org/officeDocument/2006/relationships/vmlDrawing" Target="../drawings/vmlDrawing28.vml"/><Relationship Id="rId4" Type="http://schemas.openxmlformats.org/officeDocument/2006/relationships/image" Target="../media/image93.wmf"/></Relationships>
</file>

<file path=ppt/slides/_rels/slide152.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slideLayout" Target="../slideLayouts/slideLayout2.xml"/><Relationship Id="rId1" Type="http://schemas.openxmlformats.org/officeDocument/2006/relationships/vmlDrawing" Target="../drawings/vmlDrawing29.vml"/><Relationship Id="rId4" Type="http://schemas.openxmlformats.org/officeDocument/2006/relationships/image" Target="../media/image94.wmf"/></Relationships>
</file>

<file path=ppt/slides/_rels/slide153.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slideLayout" Target="../slideLayouts/slideLayout2.xml"/><Relationship Id="rId1" Type="http://schemas.openxmlformats.org/officeDocument/2006/relationships/vmlDrawing" Target="../drawings/vmlDrawing30.vml"/><Relationship Id="rId4" Type="http://schemas.openxmlformats.org/officeDocument/2006/relationships/image" Target="../media/image95.wmf"/></Relationships>
</file>

<file path=ppt/slides/_rels/slide154.xml.rels><?xml version="1.0" encoding="UTF-8" standalone="yes"?>
<Relationships xmlns="http://schemas.openxmlformats.org/package/2006/relationships"><Relationship Id="rId3" Type="http://schemas.openxmlformats.org/officeDocument/2006/relationships/oleObject" Target="../embeddings/oleObject58.bin"/><Relationship Id="rId2" Type="http://schemas.openxmlformats.org/officeDocument/2006/relationships/slideLayout" Target="../slideLayouts/slideLayout2.xml"/><Relationship Id="rId1" Type="http://schemas.openxmlformats.org/officeDocument/2006/relationships/vmlDrawing" Target="../drawings/vmlDrawing31.vml"/><Relationship Id="rId4" Type="http://schemas.openxmlformats.org/officeDocument/2006/relationships/image" Target="../media/image96.wmf"/></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oleObject" Target="../embeddings/oleObject59.bin"/><Relationship Id="rId2" Type="http://schemas.openxmlformats.org/officeDocument/2006/relationships/slideLayout" Target="../slideLayouts/slideLayout2.xml"/><Relationship Id="rId1" Type="http://schemas.openxmlformats.org/officeDocument/2006/relationships/vmlDrawing" Target="../drawings/vmlDrawing32.vml"/><Relationship Id="rId4" Type="http://schemas.openxmlformats.org/officeDocument/2006/relationships/image" Target="../media/image97.emf"/></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oleObject" Target="../embeddings/oleObject60.bin"/><Relationship Id="rId2" Type="http://schemas.openxmlformats.org/officeDocument/2006/relationships/slideLayout" Target="../slideLayouts/slideLayout2.xml"/><Relationship Id="rId1" Type="http://schemas.openxmlformats.org/officeDocument/2006/relationships/vmlDrawing" Target="../drawings/vmlDrawing33.vml"/><Relationship Id="rId4" Type="http://schemas.openxmlformats.org/officeDocument/2006/relationships/image" Target="../media/image98.emf"/></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3" Type="http://schemas.openxmlformats.org/officeDocument/2006/relationships/oleObject" Target="../embeddings/oleObject61.bin"/><Relationship Id="rId2" Type="http://schemas.openxmlformats.org/officeDocument/2006/relationships/slideLayout" Target="../slideLayouts/slideLayout2.xml"/><Relationship Id="rId1" Type="http://schemas.openxmlformats.org/officeDocument/2006/relationships/vmlDrawing" Target="../drawings/vmlDrawing34.vml"/><Relationship Id="rId4" Type="http://schemas.openxmlformats.org/officeDocument/2006/relationships/image" Target="../media/image99.emf"/></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3" Type="http://schemas.openxmlformats.org/officeDocument/2006/relationships/oleObject" Target="../embeddings/oleObject62.bin"/><Relationship Id="rId2" Type="http://schemas.openxmlformats.org/officeDocument/2006/relationships/slideLayout" Target="../slideLayouts/slideLayout2.xml"/><Relationship Id="rId1" Type="http://schemas.openxmlformats.org/officeDocument/2006/relationships/vmlDrawing" Target="../drawings/vmlDrawing35.vml"/><Relationship Id="rId6" Type="http://schemas.openxmlformats.org/officeDocument/2006/relationships/image" Target="../media/image101.emf"/><Relationship Id="rId5" Type="http://schemas.openxmlformats.org/officeDocument/2006/relationships/oleObject" Target="../embeddings/oleObject63.bin"/><Relationship Id="rId4" Type="http://schemas.openxmlformats.org/officeDocument/2006/relationships/image" Target="../media/image100.emf"/></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notesSlide" Target="../notesSlides/notesSlide134.xml"/><Relationship Id="rId1" Type="http://schemas.openxmlformats.org/officeDocument/2006/relationships/slideLayout" Target="../slideLayouts/slideLayout2.xml"/><Relationship Id="rId4" Type="http://schemas.openxmlformats.org/officeDocument/2006/relationships/image" Target="../media/image103.png"/></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3" Type="http://schemas.openxmlformats.org/officeDocument/2006/relationships/oleObject" Target="../embeddings/oleObject64.bin"/><Relationship Id="rId2" Type="http://schemas.openxmlformats.org/officeDocument/2006/relationships/slideLayout" Target="../slideLayouts/slideLayout2.xml"/><Relationship Id="rId1" Type="http://schemas.openxmlformats.org/officeDocument/2006/relationships/vmlDrawing" Target="../drawings/vmlDrawing36.vml"/><Relationship Id="rId4" Type="http://schemas.openxmlformats.org/officeDocument/2006/relationships/image" Target="../media/image104.emf"/></Relationships>
</file>

<file path=ppt/slides/_rels/slide176.xml.rels><?xml version="1.0" encoding="UTF-8" standalone="yes"?>
<Relationships xmlns="http://schemas.openxmlformats.org/package/2006/relationships"><Relationship Id="rId3" Type="http://schemas.openxmlformats.org/officeDocument/2006/relationships/oleObject" Target="../embeddings/oleObject65.bin"/><Relationship Id="rId2" Type="http://schemas.openxmlformats.org/officeDocument/2006/relationships/slideLayout" Target="../slideLayouts/slideLayout2.xml"/><Relationship Id="rId1" Type="http://schemas.openxmlformats.org/officeDocument/2006/relationships/vmlDrawing" Target="../drawings/vmlDrawing37.vml"/><Relationship Id="rId6" Type="http://schemas.openxmlformats.org/officeDocument/2006/relationships/image" Target="../media/image106.emf"/><Relationship Id="rId5" Type="http://schemas.openxmlformats.org/officeDocument/2006/relationships/oleObject" Target="../embeddings/oleObject66.bin"/><Relationship Id="rId4" Type="http://schemas.openxmlformats.org/officeDocument/2006/relationships/image" Target="../media/image105.emf"/></Relationships>
</file>

<file path=ppt/slides/_rels/slide177.xml.rels><?xml version="1.0" encoding="UTF-8" standalone="yes"?>
<Relationships xmlns="http://schemas.openxmlformats.org/package/2006/relationships"><Relationship Id="rId3" Type="http://schemas.openxmlformats.org/officeDocument/2006/relationships/oleObject" Target="../embeddings/oleObject67.bin"/><Relationship Id="rId2" Type="http://schemas.openxmlformats.org/officeDocument/2006/relationships/slideLayout" Target="../slideLayouts/slideLayout2.xml"/><Relationship Id="rId1" Type="http://schemas.openxmlformats.org/officeDocument/2006/relationships/vmlDrawing" Target="../drawings/vmlDrawing38.vml"/><Relationship Id="rId6" Type="http://schemas.openxmlformats.org/officeDocument/2006/relationships/image" Target="../media/image108.emf"/><Relationship Id="rId5" Type="http://schemas.openxmlformats.org/officeDocument/2006/relationships/oleObject" Target="../embeddings/oleObject68.bin"/><Relationship Id="rId4" Type="http://schemas.openxmlformats.org/officeDocument/2006/relationships/image" Target="../media/image107.emf"/></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audio" Target="../media/audio4.wav"/><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3" Type="http://schemas.openxmlformats.org/officeDocument/2006/relationships/oleObject" Target="../embeddings/oleObject69.bin"/><Relationship Id="rId2" Type="http://schemas.openxmlformats.org/officeDocument/2006/relationships/slideLayout" Target="../slideLayouts/slideLayout2.xml"/><Relationship Id="rId1" Type="http://schemas.openxmlformats.org/officeDocument/2006/relationships/vmlDrawing" Target="../drawings/vmlDrawing39.vml"/><Relationship Id="rId6" Type="http://schemas.openxmlformats.org/officeDocument/2006/relationships/image" Target="../media/image111.emf"/><Relationship Id="rId5" Type="http://schemas.openxmlformats.org/officeDocument/2006/relationships/oleObject" Target="../embeddings/oleObject70.bin"/><Relationship Id="rId4" Type="http://schemas.openxmlformats.org/officeDocument/2006/relationships/image" Target="../media/image110.emf"/></Relationships>
</file>

<file path=ppt/slides/_rels/slide181.xml.rels><?xml version="1.0" encoding="UTF-8" standalone="yes"?>
<Relationships xmlns="http://schemas.openxmlformats.org/package/2006/relationships"><Relationship Id="rId3" Type="http://schemas.openxmlformats.org/officeDocument/2006/relationships/oleObject" Target="../embeddings/oleObject71.bin"/><Relationship Id="rId2" Type="http://schemas.openxmlformats.org/officeDocument/2006/relationships/slideLayout" Target="../slideLayouts/slideLayout2.xml"/><Relationship Id="rId1" Type="http://schemas.openxmlformats.org/officeDocument/2006/relationships/vmlDrawing" Target="../drawings/vmlDrawing40.vml"/><Relationship Id="rId4" Type="http://schemas.openxmlformats.org/officeDocument/2006/relationships/image" Target="../media/image112.emf"/></Relationships>
</file>

<file path=ppt/slides/_rels/slide182.xml.rels><?xml version="1.0" encoding="UTF-8" standalone="yes"?>
<Relationships xmlns="http://schemas.openxmlformats.org/package/2006/relationships"><Relationship Id="rId3" Type="http://schemas.openxmlformats.org/officeDocument/2006/relationships/oleObject" Target="../embeddings/oleObject72.bin"/><Relationship Id="rId2" Type="http://schemas.openxmlformats.org/officeDocument/2006/relationships/slideLayout" Target="../slideLayouts/slideLayout2.xml"/><Relationship Id="rId1" Type="http://schemas.openxmlformats.org/officeDocument/2006/relationships/vmlDrawing" Target="../drawings/vmlDrawing41.vml"/><Relationship Id="rId4" Type="http://schemas.openxmlformats.org/officeDocument/2006/relationships/image" Target="../media/image113.emf"/></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audio" Target="../media/audio3.wav"/><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3" Type="http://schemas.openxmlformats.org/officeDocument/2006/relationships/oleObject" Target="../embeddings/oleObject73.bin"/><Relationship Id="rId2" Type="http://schemas.openxmlformats.org/officeDocument/2006/relationships/slideLayout" Target="../slideLayouts/slideLayout13.xml"/><Relationship Id="rId1" Type="http://schemas.openxmlformats.org/officeDocument/2006/relationships/vmlDrawing" Target="../drawings/vmlDrawing42.vml"/><Relationship Id="rId5" Type="http://schemas.openxmlformats.org/officeDocument/2006/relationships/slide" Target="slide208.xml"/><Relationship Id="rId4" Type="http://schemas.openxmlformats.org/officeDocument/2006/relationships/image" Target="../media/image117.png"/></Relationships>
</file>

<file path=ppt/slides/_rels/slide197.xml.rels><?xml version="1.0" encoding="UTF-8" standalone="yes"?>
<Relationships xmlns="http://schemas.openxmlformats.org/package/2006/relationships"><Relationship Id="rId3" Type="http://schemas.openxmlformats.org/officeDocument/2006/relationships/oleObject" Target="../embeddings/oleObject74.bin"/><Relationship Id="rId7" Type="http://schemas.openxmlformats.org/officeDocument/2006/relationships/slide" Target="slide174.xml"/><Relationship Id="rId2" Type="http://schemas.openxmlformats.org/officeDocument/2006/relationships/slideLayout" Target="../slideLayouts/slideLayout12.xml"/><Relationship Id="rId1" Type="http://schemas.openxmlformats.org/officeDocument/2006/relationships/vmlDrawing" Target="../drawings/vmlDrawing43.vml"/><Relationship Id="rId6" Type="http://schemas.openxmlformats.org/officeDocument/2006/relationships/image" Target="../media/image119.png"/><Relationship Id="rId5" Type="http://schemas.openxmlformats.org/officeDocument/2006/relationships/oleObject" Target="../embeddings/oleObject75.bin"/><Relationship Id="rId4" Type="http://schemas.openxmlformats.org/officeDocument/2006/relationships/image" Target="../media/image118.wmf"/></Relationships>
</file>

<file path=ppt/slides/_rels/slide198.xml.rels><?xml version="1.0" encoding="UTF-8" standalone="yes"?>
<Relationships xmlns="http://schemas.openxmlformats.org/package/2006/relationships"><Relationship Id="rId3" Type="http://schemas.openxmlformats.org/officeDocument/2006/relationships/oleObject" Target="../embeddings/oleObject76.bin"/><Relationship Id="rId2" Type="http://schemas.openxmlformats.org/officeDocument/2006/relationships/slideLayout" Target="../slideLayouts/slideLayout13.xml"/><Relationship Id="rId1" Type="http://schemas.openxmlformats.org/officeDocument/2006/relationships/vmlDrawing" Target="../drawings/vmlDrawing44.vml"/><Relationship Id="rId6" Type="http://schemas.openxmlformats.org/officeDocument/2006/relationships/image" Target="../media/image121.png"/><Relationship Id="rId5" Type="http://schemas.openxmlformats.org/officeDocument/2006/relationships/oleObject" Target="../embeddings/oleObject77.bin"/><Relationship Id="rId4" Type="http://schemas.openxmlformats.org/officeDocument/2006/relationships/image" Target="../media/image120.png"/></Relationships>
</file>

<file path=ppt/slides/_rels/slide199.xml.rels><?xml version="1.0" encoding="UTF-8" standalone="yes"?>
<Relationships xmlns="http://schemas.openxmlformats.org/package/2006/relationships"><Relationship Id="rId3" Type="http://schemas.openxmlformats.org/officeDocument/2006/relationships/notesSlide" Target="../notesSlides/notesSlide145.xml"/><Relationship Id="rId2" Type="http://schemas.openxmlformats.org/officeDocument/2006/relationships/slideLayout" Target="../slideLayouts/slideLayout12.xml"/><Relationship Id="rId1" Type="http://schemas.openxmlformats.org/officeDocument/2006/relationships/vmlDrawing" Target="../drawings/vmlDrawing45.vml"/><Relationship Id="rId5" Type="http://schemas.openxmlformats.org/officeDocument/2006/relationships/image" Target="../media/image122.wmf"/><Relationship Id="rId4" Type="http://schemas.openxmlformats.org/officeDocument/2006/relationships/oleObject" Target="../embeddings/oleObject78.bin"/></Relationships>
</file>

<file path=ppt/slides/_rels/slide200.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3" Type="http://schemas.openxmlformats.org/officeDocument/2006/relationships/oleObject" Target="../embeddings/oleObject79.bin"/><Relationship Id="rId2" Type="http://schemas.openxmlformats.org/officeDocument/2006/relationships/slideLayout" Target="../slideLayouts/slideLayout12.xml"/><Relationship Id="rId1" Type="http://schemas.openxmlformats.org/officeDocument/2006/relationships/vmlDrawing" Target="../drawings/vmlDrawing46.vml"/><Relationship Id="rId4" Type="http://schemas.openxmlformats.org/officeDocument/2006/relationships/image" Target="../media/image124.wmf"/></Relationships>
</file>

<file path=ppt/slides/_rels/slide203.xml.rels><?xml version="1.0" encoding="UTF-8" standalone="yes"?>
<Relationships xmlns="http://schemas.openxmlformats.org/package/2006/relationships"><Relationship Id="rId3" Type="http://schemas.openxmlformats.org/officeDocument/2006/relationships/oleObject" Target="../embeddings/oleObject80.bin"/><Relationship Id="rId2" Type="http://schemas.openxmlformats.org/officeDocument/2006/relationships/slideLayout" Target="../slideLayouts/slideLayout4.xml"/><Relationship Id="rId1" Type="http://schemas.openxmlformats.org/officeDocument/2006/relationships/vmlDrawing" Target="../drawings/vmlDrawing47.vml"/><Relationship Id="rId6" Type="http://schemas.openxmlformats.org/officeDocument/2006/relationships/image" Target="../media/image126.png"/><Relationship Id="rId5" Type="http://schemas.openxmlformats.org/officeDocument/2006/relationships/oleObject" Target="../embeddings/oleObject81.bin"/><Relationship Id="rId4" Type="http://schemas.openxmlformats.org/officeDocument/2006/relationships/image" Target="../media/image125.pn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5.xml.rels><?xml version="1.0" encoding="UTF-8" standalone="yes"?>
<Relationships xmlns="http://schemas.openxmlformats.org/package/2006/relationships"><Relationship Id="rId2" Type="http://schemas.openxmlformats.org/officeDocument/2006/relationships/hyperlink" Target="&#26500;&#36896;&#21704;&#22827;&#26364;&#26641;.swf" TargetMode="External"/><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3" Type="http://schemas.openxmlformats.org/officeDocument/2006/relationships/oleObject" Target="../embeddings/oleObject82.bin"/><Relationship Id="rId2" Type="http://schemas.openxmlformats.org/officeDocument/2006/relationships/slideLayout" Target="../slideLayouts/slideLayout2.xml"/><Relationship Id="rId1" Type="http://schemas.openxmlformats.org/officeDocument/2006/relationships/vmlDrawing" Target="../drawings/vmlDrawing48.vml"/><Relationship Id="rId4" Type="http://schemas.openxmlformats.org/officeDocument/2006/relationships/image" Target="../media/image127.wmf"/></Relationships>
</file>

<file path=ppt/slides/_rels/slide208.xml.rels><?xml version="1.0" encoding="UTF-8" standalone="yes"?>
<Relationships xmlns="http://schemas.openxmlformats.org/package/2006/relationships"><Relationship Id="rId3" Type="http://schemas.openxmlformats.org/officeDocument/2006/relationships/oleObject" Target="../embeddings/oleObject83.bin"/><Relationship Id="rId2" Type="http://schemas.openxmlformats.org/officeDocument/2006/relationships/slideLayout" Target="../slideLayouts/slideLayout2.xml"/><Relationship Id="rId1" Type="http://schemas.openxmlformats.org/officeDocument/2006/relationships/vmlDrawing" Target="../drawings/vmlDrawing49.vml"/><Relationship Id="rId4" Type="http://schemas.openxmlformats.org/officeDocument/2006/relationships/image" Target="../media/image127.wmf"/></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image" Target="../media/image128.png"/><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2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6"/>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4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t>Algorithms Design Techniques and Analysis</a:t>
            </a:r>
          </a:p>
        </p:txBody>
      </p:sp>
      <p:sp>
        <p:nvSpPr>
          <p:cNvPr id="5123" name="Rectangle 4"/>
          <p:cNvSpPr>
            <a:spLocks noGrp="1" noChangeArrowheads="1"/>
          </p:cNvSpPr>
          <p:nvPr>
            <p:ph type="ctrTitle"/>
          </p:nvPr>
        </p:nvSpPr>
        <p:spPr>
          <a:xfrm>
            <a:off x="571500" y="1887538"/>
            <a:ext cx="8208963" cy="1828800"/>
          </a:xfrm>
        </p:spPr>
        <p:txBody>
          <a:bodyPr/>
          <a:lstStyle/>
          <a:p>
            <a:pPr algn="ctr" eaLnBrk="1" hangingPunct="1"/>
            <a:r>
              <a:rPr lang="zh-CN" altLang="en-US" sz="4800" dirty="0" smtClean="0">
                <a:solidFill>
                  <a:srgbClr val="990099"/>
                </a:solidFill>
                <a:ea typeface="黑体" panose="02010609060101010101" pitchFamily="49" charset="-122"/>
              </a:rPr>
              <a:t>算法设计与分析</a:t>
            </a:r>
            <a:endParaRPr lang="en-US" altLang="zh-CN" sz="4800" dirty="0" smtClean="0">
              <a:solidFill>
                <a:schemeClr val="accent2"/>
              </a:solidFill>
            </a:endParaRPr>
          </a:p>
        </p:txBody>
      </p:sp>
      <p:sp>
        <p:nvSpPr>
          <p:cNvPr id="5124" name="Rectangle 5"/>
          <p:cNvSpPr>
            <a:spLocks noGrp="1" noChangeArrowheads="1"/>
          </p:cNvSpPr>
          <p:nvPr>
            <p:ph type="subTitle" idx="1"/>
          </p:nvPr>
        </p:nvSpPr>
        <p:spPr/>
        <p:txBody>
          <a:bodyPr/>
          <a:lstStyle/>
          <a:p>
            <a:pPr eaLnBrk="1" hangingPunct="1"/>
            <a:endParaRPr lang="zh-CN" altLang="zh-CN" sz="4000" smtClean="0"/>
          </a:p>
        </p:txBody>
      </p:sp>
    </p:spTree>
    <p:extLst>
      <p:ext uri="{BB962C8B-B14F-4D97-AF65-F5344CB8AC3E}">
        <p14:creationId xmlns:p14="http://schemas.microsoft.com/office/powerpoint/2010/main" val="36002633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6"/>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7171" name="Rectangle 2"/>
          <p:cNvSpPr>
            <a:spLocks noGrp="1" noChangeArrowheads="1"/>
          </p:cNvSpPr>
          <p:nvPr>
            <p:ph type="ctrTitle"/>
          </p:nvPr>
        </p:nvSpPr>
        <p:spPr/>
        <p:txBody>
          <a:bodyPr/>
          <a:lstStyle/>
          <a:p>
            <a:pPr algn="ctr" eaLnBrk="1" hangingPunct="1"/>
            <a:r>
              <a:rPr lang="zh-CN" altLang="en-US" smtClean="0">
                <a:solidFill>
                  <a:schemeClr val="accent2"/>
                </a:solidFill>
              </a:rPr>
              <a:t>第一章</a:t>
            </a:r>
            <a:endParaRPr lang="en-US" altLang="zh-CN" smtClean="0">
              <a:solidFill>
                <a:schemeClr val="accent2"/>
              </a:solidFill>
            </a:endParaRPr>
          </a:p>
        </p:txBody>
      </p:sp>
      <p:sp>
        <p:nvSpPr>
          <p:cNvPr id="7172" name="Rectangle 3"/>
          <p:cNvSpPr>
            <a:spLocks noGrp="1" noChangeArrowheads="1"/>
          </p:cNvSpPr>
          <p:nvPr>
            <p:ph type="subTitle" idx="1"/>
          </p:nvPr>
        </p:nvSpPr>
        <p:spPr>
          <a:xfrm>
            <a:off x="1428750" y="3857625"/>
            <a:ext cx="6400800" cy="1752600"/>
          </a:xfrm>
        </p:spPr>
        <p:txBody>
          <a:bodyPr/>
          <a:lstStyle/>
          <a:p>
            <a:pPr eaLnBrk="1" hangingPunct="1"/>
            <a:r>
              <a:rPr lang="zh-CN" altLang="en-US" sz="3200" smtClean="0"/>
              <a:t>算法绪论</a:t>
            </a:r>
            <a:endParaRPr lang="en-US" altLang="zh-CN" sz="3000" smtClean="0"/>
          </a:p>
        </p:txBody>
      </p:sp>
    </p:spTree>
    <p:extLst>
      <p:ext uri="{BB962C8B-B14F-4D97-AF65-F5344CB8AC3E}">
        <p14:creationId xmlns:p14="http://schemas.microsoft.com/office/powerpoint/2010/main" val="176144238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11267" name="Rectangle 2"/>
          <p:cNvSpPr>
            <a:spLocks noGrp="1" noChangeArrowheads="1"/>
          </p:cNvSpPr>
          <p:nvPr>
            <p:ph type="title"/>
          </p:nvPr>
        </p:nvSpPr>
        <p:spPr/>
        <p:txBody>
          <a:bodyPr/>
          <a:lstStyle/>
          <a:p>
            <a:pPr eaLnBrk="1" hangingPunct="1"/>
            <a:r>
              <a:rPr lang="zh-CN" altLang="en-US" b="0" smtClean="0"/>
              <a:t>主要内容</a:t>
            </a:r>
            <a:endParaRPr lang="en-US" altLang="zh-CN" b="0" smtClean="0"/>
          </a:p>
        </p:txBody>
      </p:sp>
      <p:sp>
        <p:nvSpPr>
          <p:cNvPr id="8196" name="Rectangle 3"/>
          <p:cNvSpPr>
            <a:spLocks noGrp="1" noChangeArrowheads="1"/>
          </p:cNvSpPr>
          <p:nvPr>
            <p:ph type="body" idx="1"/>
          </p:nvPr>
        </p:nvSpPr>
        <p:spPr>
          <a:xfrm>
            <a:off x="962026" y="1883206"/>
            <a:ext cx="6210299" cy="2520117"/>
          </a:xfrm>
        </p:spPr>
        <p:txBody>
          <a:bodyPr/>
          <a:lstStyle/>
          <a:p>
            <a:pPr marL="0" lvl="1" indent="-419100" eaLnBrk="1" hangingPunct="1">
              <a:buFontTx/>
              <a:buNone/>
              <a:defRPr/>
            </a:pPr>
            <a:r>
              <a:rPr lang="en-US" altLang="zh-CN" sz="2800" b="1" u="sng" dirty="0" smtClean="0">
                <a:latin typeface="+mn-ea"/>
                <a:ea typeface="+mn-ea"/>
              </a:rPr>
              <a:t>1.1</a:t>
            </a:r>
            <a:r>
              <a:rPr lang="zh-CN" altLang="en-US" sz="2800" b="1" u="sng" dirty="0" smtClean="0">
                <a:latin typeface="+mn-ea"/>
                <a:ea typeface="+mn-ea"/>
              </a:rPr>
              <a:t>算法的基本概念</a:t>
            </a:r>
            <a:endParaRPr lang="en-US" altLang="zh-CN" sz="2800" b="1" u="sng" dirty="0" smtClean="0">
              <a:latin typeface="+mn-ea"/>
              <a:ea typeface="+mn-ea"/>
            </a:endParaRPr>
          </a:p>
          <a:p>
            <a:pPr marL="0" lvl="1" indent="-419100" eaLnBrk="1" hangingPunct="1">
              <a:buFontTx/>
              <a:buNone/>
              <a:defRPr/>
            </a:pPr>
            <a:r>
              <a:rPr lang="en-US" altLang="zh-CN" sz="2400" dirty="0" smtClean="0">
                <a:latin typeface="+mn-ea"/>
                <a:ea typeface="+mn-ea"/>
              </a:rPr>
              <a:t>1.2</a:t>
            </a:r>
            <a:r>
              <a:rPr lang="zh-CN" altLang="en-US" sz="2400" dirty="0" smtClean="0">
                <a:latin typeface="+mn-ea"/>
                <a:ea typeface="+mn-ea"/>
              </a:rPr>
              <a:t>算法分析基础</a:t>
            </a:r>
            <a:endParaRPr lang="en-US" altLang="zh-CN" sz="2400" dirty="0" smtClean="0">
              <a:latin typeface="+mn-ea"/>
              <a:ea typeface="+mn-ea"/>
            </a:endParaRPr>
          </a:p>
          <a:p>
            <a:pPr marL="0" lvl="1" indent="-419100" eaLnBrk="1" hangingPunct="1">
              <a:buFontTx/>
              <a:buNone/>
              <a:defRPr/>
            </a:pPr>
            <a:r>
              <a:rPr lang="en-US" altLang="zh-CN" sz="2400" dirty="0">
                <a:latin typeface="+mn-ea"/>
                <a:ea typeface="+mn-ea"/>
              </a:rPr>
              <a:t>1.3</a:t>
            </a:r>
            <a:r>
              <a:rPr lang="zh-CN" altLang="en-US" sz="2400" dirty="0">
                <a:latin typeface="+mn-ea"/>
                <a:ea typeface="+mn-ea"/>
              </a:rPr>
              <a:t>算法分析常用的数学</a:t>
            </a:r>
            <a:r>
              <a:rPr lang="zh-CN" altLang="en-US" sz="2400" dirty="0" smtClean="0">
                <a:latin typeface="+mn-ea"/>
                <a:ea typeface="+mn-ea"/>
              </a:rPr>
              <a:t>知识</a:t>
            </a:r>
            <a:endParaRPr lang="en-US" altLang="zh-CN" sz="2400" dirty="0" smtClean="0">
              <a:latin typeface="+mn-ea"/>
              <a:ea typeface="+mn-ea"/>
            </a:endParaRPr>
          </a:p>
          <a:p>
            <a:pPr marL="0" lvl="1" indent="-419100" eaLnBrk="1" hangingPunct="1">
              <a:buFontTx/>
              <a:buNone/>
              <a:defRPr/>
            </a:pPr>
            <a:r>
              <a:rPr lang="en-US" altLang="zh-CN" sz="2400" dirty="0">
                <a:latin typeface="+mn-ea"/>
                <a:ea typeface="+mn-ea"/>
              </a:rPr>
              <a:t>1.4</a:t>
            </a:r>
            <a:r>
              <a:rPr lang="zh-CN" altLang="en-US" sz="2400" dirty="0">
                <a:latin typeface="+mn-ea"/>
                <a:ea typeface="+mn-ea"/>
              </a:rPr>
              <a:t>数据结构的表示、操作算法及分析</a:t>
            </a:r>
            <a:endParaRPr lang="zh-CN" altLang="en-US" sz="2400" dirty="0" smtClean="0">
              <a:latin typeface="+mn-ea"/>
              <a:ea typeface="+mn-ea"/>
            </a:endParaRPr>
          </a:p>
        </p:txBody>
      </p:sp>
      <p:pic>
        <p:nvPicPr>
          <p:cNvPr id="11269" name="Picture 4" descr="j019538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0425" y="260350"/>
            <a:ext cx="1231900" cy="125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8941660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11267" name="Rectangle 2"/>
          <p:cNvSpPr>
            <a:spLocks noGrp="1" noChangeArrowheads="1"/>
          </p:cNvSpPr>
          <p:nvPr>
            <p:ph type="title"/>
          </p:nvPr>
        </p:nvSpPr>
        <p:spPr/>
        <p:txBody>
          <a:bodyPr/>
          <a:lstStyle/>
          <a:p>
            <a:pPr eaLnBrk="1" hangingPunct="1"/>
            <a:r>
              <a:rPr lang="zh-CN" altLang="en-US" b="0" smtClean="0"/>
              <a:t>主要内容</a:t>
            </a:r>
            <a:endParaRPr lang="en-US" altLang="zh-CN" b="0" smtClean="0"/>
          </a:p>
        </p:txBody>
      </p:sp>
      <p:sp>
        <p:nvSpPr>
          <p:cNvPr id="8196" name="Rectangle 3"/>
          <p:cNvSpPr>
            <a:spLocks noGrp="1" noChangeArrowheads="1"/>
          </p:cNvSpPr>
          <p:nvPr>
            <p:ph type="body" idx="1"/>
          </p:nvPr>
        </p:nvSpPr>
        <p:spPr>
          <a:xfrm>
            <a:off x="900113" y="1279525"/>
            <a:ext cx="7786687" cy="4525963"/>
          </a:xfrm>
        </p:spPr>
        <p:txBody>
          <a:bodyPr/>
          <a:lstStyle/>
          <a:p>
            <a:pPr marL="0" lvl="1" indent="-419100" eaLnBrk="1" hangingPunct="1">
              <a:buFontTx/>
              <a:buNone/>
              <a:defRPr/>
            </a:pPr>
            <a:r>
              <a:rPr lang="en-US" altLang="zh-CN" sz="2400" dirty="0" smtClean="0">
                <a:latin typeface="+mn-ea"/>
                <a:ea typeface="+mn-ea"/>
              </a:rPr>
              <a:t>1.1</a:t>
            </a:r>
            <a:r>
              <a:rPr lang="zh-CN" altLang="en-US" sz="2400" dirty="0" smtClean="0">
                <a:latin typeface="+mn-ea"/>
                <a:ea typeface="+mn-ea"/>
              </a:rPr>
              <a:t>算法的基本概念</a:t>
            </a:r>
          </a:p>
          <a:p>
            <a:pPr marL="0" lvl="1" indent="419100" eaLnBrk="1" hangingPunct="1">
              <a:buFontTx/>
              <a:buNone/>
              <a:defRPr/>
            </a:pPr>
            <a:r>
              <a:rPr lang="en-US" altLang="zh-CN" sz="2400" dirty="0" smtClean="0">
                <a:latin typeface="+mn-ea"/>
                <a:ea typeface="+mn-ea"/>
              </a:rPr>
              <a:t>1.1.1 </a:t>
            </a:r>
            <a:r>
              <a:rPr lang="zh-CN" altLang="en-US" sz="2400" dirty="0" smtClean="0">
                <a:latin typeface="+mn-ea"/>
                <a:ea typeface="+mn-ea"/>
              </a:rPr>
              <a:t>算法的一般描述</a:t>
            </a:r>
          </a:p>
          <a:p>
            <a:pPr marL="0" lvl="1" indent="419100" eaLnBrk="1" hangingPunct="1">
              <a:buFontTx/>
              <a:buNone/>
              <a:defRPr/>
            </a:pPr>
            <a:r>
              <a:rPr lang="en-US" altLang="zh-CN" sz="2400" dirty="0" smtClean="0">
                <a:latin typeface="+mn-ea"/>
                <a:ea typeface="+mn-ea"/>
              </a:rPr>
              <a:t>1.1.2 </a:t>
            </a:r>
            <a:r>
              <a:rPr lang="zh-CN" altLang="en-US" sz="2400" dirty="0" smtClean="0">
                <a:latin typeface="+mn-ea"/>
                <a:ea typeface="+mn-ea"/>
              </a:rPr>
              <a:t>算法的基本特性</a:t>
            </a:r>
            <a:endParaRPr lang="en-US" altLang="zh-CN" sz="2400" dirty="0" smtClean="0">
              <a:latin typeface="+mn-ea"/>
              <a:ea typeface="+mn-ea"/>
            </a:endParaRPr>
          </a:p>
          <a:p>
            <a:pPr marL="0" lvl="1" indent="419100" eaLnBrk="1" hangingPunct="1">
              <a:buFontTx/>
              <a:buNone/>
              <a:defRPr/>
            </a:pPr>
            <a:r>
              <a:rPr lang="en-US" altLang="zh-CN" sz="2400" dirty="0" smtClean="0">
                <a:latin typeface="+mn-ea"/>
                <a:ea typeface="+mn-ea"/>
              </a:rPr>
              <a:t>1.1.3 </a:t>
            </a:r>
            <a:r>
              <a:rPr lang="zh-CN" altLang="en-US" sz="2400" dirty="0">
                <a:latin typeface="+mn-ea"/>
                <a:ea typeface="+mn-ea"/>
              </a:rPr>
              <a:t>算法与计算机程序的</a:t>
            </a:r>
            <a:r>
              <a:rPr lang="zh-CN" altLang="en-US" sz="2400" dirty="0" smtClean="0">
                <a:latin typeface="+mn-ea"/>
                <a:ea typeface="+mn-ea"/>
              </a:rPr>
              <a:t>关系</a:t>
            </a:r>
          </a:p>
          <a:p>
            <a:pPr marL="0" lvl="1" indent="419100" eaLnBrk="1" hangingPunct="1">
              <a:buFontTx/>
              <a:buNone/>
              <a:defRPr/>
            </a:pPr>
            <a:r>
              <a:rPr lang="en-US" altLang="zh-CN" sz="2400" dirty="0" smtClean="0">
                <a:latin typeface="+mn-ea"/>
                <a:ea typeface="+mn-ea"/>
              </a:rPr>
              <a:t>1.1.4 </a:t>
            </a:r>
            <a:r>
              <a:rPr lang="zh-CN" altLang="en-US" sz="2400" dirty="0" smtClean="0">
                <a:latin typeface="+mn-ea"/>
                <a:ea typeface="+mn-ea"/>
              </a:rPr>
              <a:t>算法与过程的关系</a:t>
            </a:r>
          </a:p>
          <a:p>
            <a:pPr marL="0" lvl="1" indent="419100" eaLnBrk="1" hangingPunct="1">
              <a:buFontTx/>
              <a:buNone/>
              <a:defRPr/>
            </a:pPr>
            <a:r>
              <a:rPr lang="en-US" altLang="zh-CN" sz="2400" dirty="0" smtClean="0">
                <a:latin typeface="+mn-ea"/>
                <a:ea typeface="+mn-ea"/>
              </a:rPr>
              <a:t>1.1.5 </a:t>
            </a:r>
            <a:r>
              <a:rPr lang="zh-CN" altLang="en-US" sz="2400" dirty="0" smtClean="0">
                <a:latin typeface="+mn-ea"/>
                <a:ea typeface="+mn-ea"/>
              </a:rPr>
              <a:t>为什么要进行算法设计</a:t>
            </a:r>
          </a:p>
          <a:p>
            <a:pPr marL="0" lvl="1" indent="419100" eaLnBrk="1" hangingPunct="1">
              <a:buFontTx/>
              <a:buNone/>
              <a:defRPr/>
            </a:pPr>
            <a:r>
              <a:rPr lang="en-US" altLang="zh-CN" sz="2400" dirty="0" smtClean="0">
                <a:latin typeface="+mn-ea"/>
                <a:ea typeface="+mn-ea"/>
              </a:rPr>
              <a:t>1.1.6 </a:t>
            </a:r>
            <a:r>
              <a:rPr lang="zh-CN" altLang="en-US" sz="2400" dirty="0" smtClean="0">
                <a:latin typeface="+mn-ea"/>
                <a:ea typeface="+mn-ea"/>
              </a:rPr>
              <a:t>算法与数据结构</a:t>
            </a:r>
            <a:r>
              <a:rPr lang="zh-CN" altLang="en-US" sz="2400" smtClean="0">
                <a:latin typeface="+mn-ea"/>
                <a:ea typeface="+mn-ea"/>
              </a:rPr>
              <a:t>的关系</a:t>
            </a:r>
            <a:endParaRPr lang="zh-CN" altLang="en-US" sz="2400" dirty="0" smtClean="0">
              <a:latin typeface="+mn-ea"/>
              <a:ea typeface="+mn-ea"/>
            </a:endParaRPr>
          </a:p>
        </p:txBody>
      </p:sp>
      <p:pic>
        <p:nvPicPr>
          <p:cNvPr id="11269" name="Picture 4" descr="j019538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0425" y="260350"/>
            <a:ext cx="1231900" cy="125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5404459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10243" name="Rectangle 2"/>
          <p:cNvSpPr>
            <a:spLocks noGrp="1" noChangeArrowheads="1"/>
          </p:cNvSpPr>
          <p:nvPr>
            <p:ph type="title"/>
          </p:nvPr>
        </p:nvSpPr>
        <p:spPr/>
        <p:txBody>
          <a:bodyPr/>
          <a:lstStyle/>
          <a:p>
            <a:pPr eaLnBrk="1" hangingPunct="1">
              <a:defRPr/>
            </a:pPr>
            <a:r>
              <a:rPr lang="en-US" altLang="zh-CN" dirty="0" smtClean="0">
                <a:latin typeface="+mn-ea"/>
              </a:rPr>
              <a:t>1.1.1 </a:t>
            </a:r>
            <a:r>
              <a:rPr lang="zh-CN" altLang="en-US" dirty="0">
                <a:latin typeface="+mn-ea"/>
              </a:rPr>
              <a:t>算法的一般</a:t>
            </a:r>
            <a:r>
              <a:rPr lang="zh-CN" altLang="en-US" dirty="0" smtClean="0">
                <a:latin typeface="+mn-ea"/>
              </a:rPr>
              <a:t>描述</a:t>
            </a:r>
            <a:endParaRPr lang="en-US" altLang="zh-CN" dirty="0" smtClean="0"/>
          </a:p>
        </p:txBody>
      </p:sp>
      <p:sp>
        <p:nvSpPr>
          <p:cNvPr id="13316" name="Rectangle 3"/>
          <p:cNvSpPr>
            <a:spLocks noGrp="1" noChangeArrowheads="1"/>
          </p:cNvSpPr>
          <p:nvPr>
            <p:ph type="body" idx="1"/>
          </p:nvPr>
        </p:nvSpPr>
        <p:spPr>
          <a:xfrm>
            <a:off x="817563" y="1268413"/>
            <a:ext cx="7931150" cy="4646612"/>
          </a:xfrm>
        </p:spPr>
        <p:txBody>
          <a:bodyPr/>
          <a:lstStyle/>
          <a:p>
            <a:pPr eaLnBrk="1" hangingPunct="1"/>
            <a:r>
              <a:rPr lang="zh-CN" altLang="en-US" smtClean="0"/>
              <a:t>算法是在</a:t>
            </a:r>
            <a:r>
              <a:rPr lang="zh-CN" altLang="en-US" smtClean="0">
                <a:solidFill>
                  <a:srgbClr val="FF0000"/>
                </a:solidFill>
              </a:rPr>
              <a:t>有限的</a:t>
            </a:r>
            <a:r>
              <a:rPr lang="zh-CN" altLang="en-US" smtClean="0"/>
              <a:t>步骤内求解某一问题，所使用的一组定义</a:t>
            </a:r>
            <a:r>
              <a:rPr lang="zh-CN" altLang="en-US" smtClean="0">
                <a:solidFill>
                  <a:srgbClr val="FF0000"/>
                </a:solidFill>
              </a:rPr>
              <a:t>明确</a:t>
            </a:r>
            <a:r>
              <a:rPr lang="zh-CN" altLang="en-US" smtClean="0"/>
              <a:t>的规则。也就是在通过一组</a:t>
            </a:r>
            <a:r>
              <a:rPr lang="zh-CN" altLang="en-US" smtClean="0">
                <a:solidFill>
                  <a:srgbClr val="FF0000"/>
                </a:solidFill>
              </a:rPr>
              <a:t>有限定义</a:t>
            </a:r>
            <a:r>
              <a:rPr lang="zh-CN" altLang="en-US" smtClean="0"/>
              <a:t>的指令来完成一些任务，给定一个</a:t>
            </a:r>
            <a:r>
              <a:rPr lang="zh-CN" altLang="en-US" smtClean="0">
                <a:solidFill>
                  <a:srgbClr val="FF0000"/>
                </a:solidFill>
              </a:rPr>
              <a:t>初始状态</a:t>
            </a:r>
            <a:r>
              <a:rPr lang="zh-CN" altLang="en-US" smtClean="0"/>
              <a:t>，并相应的获取</a:t>
            </a:r>
            <a:r>
              <a:rPr lang="zh-CN" altLang="en-US" smtClean="0">
                <a:solidFill>
                  <a:srgbClr val="FF0000"/>
                </a:solidFill>
              </a:rPr>
              <a:t>最终结果</a:t>
            </a:r>
            <a:endParaRPr lang="en-US" altLang="zh-CN" smtClean="0">
              <a:solidFill>
                <a:srgbClr val="FF0000"/>
              </a:solidFill>
            </a:endParaRPr>
          </a:p>
          <a:p>
            <a:pPr eaLnBrk="1" hangingPunct="1"/>
            <a:endParaRPr lang="en-US" altLang="zh-CN" smtClean="0"/>
          </a:p>
          <a:p>
            <a:pPr algn="just" eaLnBrk="1" hangingPunct="1"/>
            <a:r>
              <a:rPr lang="zh-CN" altLang="en-US" sz="2400" smtClean="0">
                <a:latin typeface="楷体" panose="02010609060101010101" pitchFamily="49" charset="-122"/>
                <a:ea typeface="楷体" panose="02010609060101010101" pitchFamily="49" charset="-122"/>
              </a:rPr>
              <a:t>算法通常由计算机程序来实现，算法设计的错误可能导致程序运行时的失败。</a:t>
            </a:r>
            <a:endParaRPr lang="en-US" altLang="zh-CN" sz="2400" smtClean="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84341700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p:cNvSpPr>
            <a:spLocks noGrp="1"/>
          </p:cNvSpPr>
          <p:nvPr>
            <p:ph type="title"/>
          </p:nvPr>
        </p:nvSpPr>
        <p:spPr/>
        <p:txBody>
          <a:bodyPr/>
          <a:lstStyle/>
          <a:p>
            <a:pPr>
              <a:defRPr/>
            </a:pPr>
            <a:r>
              <a:rPr lang="en-US" altLang="zh-CN" dirty="0" smtClean="0">
                <a:latin typeface="+mn-ea"/>
              </a:rPr>
              <a:t>1.1.1 </a:t>
            </a:r>
            <a:r>
              <a:rPr lang="zh-CN" altLang="en-US" dirty="0" smtClean="0">
                <a:latin typeface="+mn-ea"/>
              </a:rPr>
              <a:t>算法的一般描述</a:t>
            </a:r>
            <a:endParaRPr lang="zh-CN" altLang="en-US" dirty="0" smtClean="0"/>
          </a:p>
        </p:txBody>
      </p:sp>
      <p:sp>
        <p:nvSpPr>
          <p:cNvPr id="15363" name="内容占位符 2"/>
          <p:cNvSpPr>
            <a:spLocks noGrp="1"/>
          </p:cNvSpPr>
          <p:nvPr>
            <p:ph idx="1"/>
          </p:nvPr>
        </p:nvSpPr>
        <p:spPr>
          <a:xfrm>
            <a:off x="857250" y="1857375"/>
            <a:ext cx="7786688" cy="4525963"/>
          </a:xfrm>
        </p:spPr>
        <p:txBody>
          <a:bodyPr/>
          <a:lstStyle/>
          <a:p>
            <a:r>
              <a:rPr lang="en-US" altLang="zh-CN" smtClean="0"/>
              <a:t>An algorithm is an effective method that can be expressed within a finite amount of space and time</a:t>
            </a:r>
            <a:r>
              <a:rPr lang="en-US" altLang="zh-CN" smtClean="0">
                <a:hlinkClick r:id="rId2"/>
              </a:rPr>
              <a:t>[1]</a:t>
            </a:r>
            <a:r>
              <a:rPr lang="en-US" altLang="zh-CN" smtClean="0"/>
              <a:t> and in a well-defined formal language</a:t>
            </a:r>
            <a:r>
              <a:rPr lang="en-US" altLang="zh-CN" smtClean="0">
                <a:hlinkClick r:id="rId3"/>
              </a:rPr>
              <a:t>[2]</a:t>
            </a:r>
            <a:r>
              <a:rPr lang="en-US" altLang="zh-CN" smtClean="0"/>
              <a:t> for calculating a function.</a:t>
            </a:r>
            <a:r>
              <a:rPr lang="en-US" altLang="zh-CN" smtClean="0">
                <a:hlinkClick r:id="rId4"/>
              </a:rPr>
              <a:t>[3] </a:t>
            </a:r>
            <a:r>
              <a:rPr lang="en-US" altLang="zh-CN" smtClean="0"/>
              <a:t>Starting from an initial state and initial input (perhaps empty),</a:t>
            </a:r>
            <a:r>
              <a:rPr lang="en-US" altLang="zh-CN" smtClean="0">
                <a:hlinkClick r:id="rId4"/>
              </a:rPr>
              <a:t>[4]</a:t>
            </a:r>
            <a:r>
              <a:rPr lang="en-US" altLang="zh-CN" smtClean="0"/>
              <a:t> the instructions describe a computation that, when executed, proceeds through a finite</a:t>
            </a:r>
            <a:r>
              <a:rPr lang="en-US" altLang="zh-CN" smtClean="0">
                <a:hlinkClick r:id="rId5"/>
              </a:rPr>
              <a:t>[5]</a:t>
            </a:r>
            <a:r>
              <a:rPr lang="en-US" altLang="zh-CN" smtClean="0"/>
              <a:t> number of well-defined successive states, eventually producing "output"</a:t>
            </a:r>
            <a:r>
              <a:rPr lang="en-US" altLang="zh-CN" smtClean="0">
                <a:hlinkClick r:id="rId6"/>
              </a:rPr>
              <a:t>[6]</a:t>
            </a:r>
            <a:r>
              <a:rPr lang="en-US" altLang="zh-CN" smtClean="0"/>
              <a:t> and terminating at a final ending state. </a:t>
            </a:r>
            <a:endParaRPr lang="zh-CN" altLang="en-US" smtClean="0"/>
          </a:p>
        </p:txBody>
      </p:sp>
      <p:sp>
        <p:nvSpPr>
          <p:cNvPr id="1536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15365" name="矩形 6"/>
          <p:cNvSpPr>
            <a:spLocks noChangeArrowheads="1"/>
          </p:cNvSpPr>
          <p:nvPr/>
        </p:nvSpPr>
        <p:spPr bwMode="auto">
          <a:xfrm>
            <a:off x="1143000" y="1357313"/>
            <a:ext cx="26987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1"/>
                </a:solidFill>
                <a:latin typeface="Arial" panose="020B0604020202020204" pitchFamily="34" charset="0"/>
                <a:ea typeface="宋体" panose="02010600030101010101" pitchFamily="2" charset="-122"/>
              </a:rPr>
              <a:t>维基百科定义：</a:t>
            </a:r>
          </a:p>
        </p:txBody>
      </p:sp>
    </p:spTree>
    <p:extLst>
      <p:ext uri="{BB962C8B-B14F-4D97-AF65-F5344CB8AC3E}">
        <p14:creationId xmlns:p14="http://schemas.microsoft.com/office/powerpoint/2010/main" val="268756817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12291" name="Rectangle 2"/>
          <p:cNvSpPr>
            <a:spLocks noGrp="1" noChangeArrowheads="1"/>
          </p:cNvSpPr>
          <p:nvPr>
            <p:ph type="title"/>
          </p:nvPr>
        </p:nvSpPr>
        <p:spPr/>
        <p:txBody>
          <a:bodyPr/>
          <a:lstStyle/>
          <a:p>
            <a:pPr eaLnBrk="1" hangingPunct="1">
              <a:defRPr/>
            </a:pPr>
            <a:r>
              <a:rPr lang="en-US" altLang="zh-CN" dirty="0">
                <a:latin typeface="+mn-ea"/>
              </a:rPr>
              <a:t>1.1.2 </a:t>
            </a:r>
            <a:r>
              <a:rPr lang="zh-CN" altLang="en-US" dirty="0">
                <a:latin typeface="+mn-ea"/>
              </a:rPr>
              <a:t>算法的基本</a:t>
            </a:r>
            <a:r>
              <a:rPr lang="zh-CN" altLang="en-US" dirty="0" smtClean="0">
                <a:latin typeface="+mn-ea"/>
              </a:rPr>
              <a:t>特性</a:t>
            </a:r>
            <a:endParaRPr lang="en-US" altLang="zh-CN" dirty="0" smtClean="0"/>
          </a:p>
        </p:txBody>
      </p:sp>
      <p:sp>
        <p:nvSpPr>
          <p:cNvPr id="239619" name="Rectangle 3"/>
          <p:cNvSpPr>
            <a:spLocks noGrp="1" noChangeArrowheads="1"/>
          </p:cNvSpPr>
          <p:nvPr>
            <p:ph type="body" idx="1"/>
          </p:nvPr>
        </p:nvSpPr>
        <p:spPr>
          <a:xfrm>
            <a:off x="900113" y="1268413"/>
            <a:ext cx="7786687" cy="4752975"/>
          </a:xfrm>
        </p:spPr>
        <p:txBody>
          <a:bodyPr/>
          <a:lstStyle/>
          <a:p>
            <a:pPr marL="476250" indent="-476250" eaLnBrk="1" hangingPunct="1">
              <a:lnSpc>
                <a:spcPct val="80000"/>
              </a:lnSpc>
              <a:buFontTx/>
              <a:buAutoNum type="arabicPeriod"/>
              <a:defRPr/>
            </a:pPr>
            <a:r>
              <a:rPr lang="zh-CN" altLang="en-US" sz="2400" dirty="0" smtClean="0">
                <a:solidFill>
                  <a:srgbClr val="FF0000"/>
                </a:solidFill>
              </a:rPr>
              <a:t>可行性</a:t>
            </a:r>
            <a:endParaRPr lang="en-US" altLang="zh-CN" sz="2100" dirty="0" smtClean="0">
              <a:solidFill>
                <a:srgbClr val="FF0000"/>
              </a:solidFill>
            </a:endParaRPr>
          </a:p>
          <a:p>
            <a:pPr marL="540000" lvl="1" indent="419100" eaLnBrk="1" hangingPunct="1">
              <a:lnSpc>
                <a:spcPct val="80000"/>
              </a:lnSpc>
              <a:buFontTx/>
              <a:buNone/>
              <a:defRPr/>
            </a:pPr>
            <a:r>
              <a:rPr lang="zh-CN" altLang="en-US" dirty="0" smtClean="0">
                <a:latin typeface="+mn-lt"/>
                <a:ea typeface="+mn-ea"/>
                <a:cs typeface="+mn-cs"/>
              </a:rPr>
              <a:t>算法是</a:t>
            </a:r>
            <a:r>
              <a:rPr lang="zh-CN" altLang="en-US" dirty="0" smtClean="0">
                <a:solidFill>
                  <a:srgbClr val="FF0000"/>
                </a:solidFill>
                <a:latin typeface="+mn-lt"/>
                <a:ea typeface="+mn-ea"/>
                <a:cs typeface="+mn-cs"/>
              </a:rPr>
              <a:t>有效的</a:t>
            </a:r>
            <a:r>
              <a:rPr lang="zh-CN" altLang="en-US" dirty="0" smtClean="0">
                <a:latin typeface="+mn-lt"/>
                <a:ea typeface="+mn-ea"/>
                <a:cs typeface="+mn-cs"/>
              </a:rPr>
              <a:t>，充分的基础，原则上准确运行，人们用笔和纸在有限次运算内能完成。</a:t>
            </a:r>
            <a:endParaRPr lang="en-US" altLang="zh-CN" dirty="0" smtClean="0">
              <a:latin typeface="+mn-lt"/>
              <a:ea typeface="+mn-ea"/>
              <a:cs typeface="+mn-cs"/>
            </a:endParaRPr>
          </a:p>
          <a:p>
            <a:pPr marL="476250" indent="-476250" eaLnBrk="1" hangingPunct="1">
              <a:lnSpc>
                <a:spcPct val="80000"/>
              </a:lnSpc>
              <a:buFontTx/>
              <a:buAutoNum type="arabicPeriod"/>
              <a:defRPr/>
            </a:pPr>
            <a:r>
              <a:rPr lang="zh-CN" altLang="en-US" sz="2400" dirty="0" smtClean="0">
                <a:solidFill>
                  <a:srgbClr val="FF0000"/>
                </a:solidFill>
              </a:rPr>
              <a:t>明确性</a:t>
            </a:r>
            <a:endParaRPr lang="en-US" altLang="zh-CN" sz="2100" dirty="0" smtClean="0">
              <a:solidFill>
                <a:srgbClr val="FF0000"/>
              </a:solidFill>
            </a:endParaRPr>
          </a:p>
          <a:p>
            <a:pPr marL="540000" lvl="1" indent="419100" eaLnBrk="1" hangingPunct="1">
              <a:lnSpc>
                <a:spcPct val="80000"/>
              </a:lnSpc>
              <a:buFontTx/>
              <a:buNone/>
              <a:defRPr/>
            </a:pPr>
            <a:r>
              <a:rPr lang="zh-CN" altLang="en-US" dirty="0">
                <a:latin typeface="+mn-lt"/>
                <a:ea typeface="+mn-ea"/>
                <a:cs typeface="+mn-cs"/>
              </a:rPr>
              <a:t>一个算法的每个步骤，必须精确地定义，每一种情况下，必须明确地指定要执行的每一步操作。</a:t>
            </a:r>
            <a:endParaRPr lang="en-US" altLang="zh-CN" dirty="0">
              <a:latin typeface="+mn-lt"/>
              <a:ea typeface="+mn-ea"/>
              <a:cs typeface="+mn-cs"/>
            </a:endParaRPr>
          </a:p>
          <a:p>
            <a:pPr marL="476250" indent="-476250" eaLnBrk="1" hangingPunct="1">
              <a:lnSpc>
                <a:spcPct val="80000"/>
              </a:lnSpc>
              <a:buFontTx/>
              <a:buAutoNum type="arabicPeriod"/>
              <a:defRPr/>
            </a:pPr>
            <a:r>
              <a:rPr lang="zh-CN" sz="2400" dirty="0" smtClean="0">
                <a:solidFill>
                  <a:srgbClr val="FF0000"/>
                </a:solidFill>
              </a:rPr>
              <a:t>有限性</a:t>
            </a:r>
            <a:endParaRPr lang="en-US" altLang="zh-CN" sz="2100" dirty="0" smtClean="0">
              <a:solidFill>
                <a:srgbClr val="FF0000"/>
              </a:solidFill>
            </a:endParaRPr>
          </a:p>
          <a:p>
            <a:pPr marL="540000" lvl="1" indent="419100" eaLnBrk="1" hangingPunct="1">
              <a:lnSpc>
                <a:spcPct val="80000"/>
              </a:lnSpc>
              <a:buFontTx/>
              <a:buNone/>
              <a:defRPr/>
            </a:pPr>
            <a:r>
              <a:rPr lang="zh-CN" altLang="en-US" dirty="0">
                <a:latin typeface="+mn-lt"/>
                <a:ea typeface="+mn-ea"/>
                <a:cs typeface="+mn-cs"/>
              </a:rPr>
              <a:t>一个算法必须保证有限数量的步骤后完成。</a:t>
            </a:r>
            <a:endParaRPr lang="en-US" altLang="zh-CN" dirty="0">
              <a:latin typeface="+mn-lt"/>
              <a:ea typeface="+mn-ea"/>
              <a:cs typeface="+mn-cs"/>
            </a:endParaRPr>
          </a:p>
          <a:p>
            <a:pPr marL="476250" indent="-476250" eaLnBrk="1" hangingPunct="1">
              <a:lnSpc>
                <a:spcPct val="80000"/>
              </a:lnSpc>
              <a:buFontTx/>
              <a:buAutoNum type="arabicPeriod"/>
              <a:defRPr/>
            </a:pPr>
            <a:r>
              <a:rPr lang="zh-CN" sz="2400" dirty="0" smtClean="0">
                <a:solidFill>
                  <a:srgbClr val="FF0000"/>
                </a:solidFill>
              </a:rPr>
              <a:t>输入</a:t>
            </a:r>
            <a:endParaRPr lang="en-US" altLang="zh-CN" sz="2100" dirty="0" smtClean="0">
              <a:solidFill>
                <a:srgbClr val="FF0000"/>
              </a:solidFill>
            </a:endParaRPr>
          </a:p>
          <a:p>
            <a:pPr marL="540000" lvl="1" indent="419100" eaLnBrk="1" hangingPunct="1">
              <a:lnSpc>
                <a:spcPct val="80000"/>
              </a:lnSpc>
              <a:buFontTx/>
              <a:buNone/>
              <a:defRPr/>
            </a:pPr>
            <a:r>
              <a:rPr lang="zh-CN" altLang="en-US" dirty="0">
                <a:solidFill>
                  <a:srgbClr val="FF0000"/>
                </a:solidFill>
                <a:latin typeface="+mn-lt"/>
                <a:ea typeface="+mn-ea"/>
                <a:cs typeface="+mn-cs"/>
              </a:rPr>
              <a:t>有零个或多个输入</a:t>
            </a:r>
            <a:r>
              <a:rPr lang="zh-CN" altLang="en-US" dirty="0">
                <a:latin typeface="+mn-lt"/>
                <a:ea typeface="+mn-ea"/>
                <a:cs typeface="+mn-cs"/>
              </a:rPr>
              <a:t>。以刻画运算的初始情况，</a:t>
            </a:r>
            <a:r>
              <a:rPr lang="en-US" altLang="zh-CN" dirty="0">
                <a:latin typeface="+mn-lt"/>
                <a:ea typeface="+mn-ea"/>
                <a:cs typeface="+mn-cs"/>
              </a:rPr>
              <a:t>0</a:t>
            </a:r>
            <a:r>
              <a:rPr lang="zh-CN" altLang="en-US" dirty="0">
                <a:latin typeface="+mn-lt"/>
                <a:ea typeface="+mn-ea"/>
                <a:cs typeface="+mn-cs"/>
              </a:rPr>
              <a:t>个输入是指算法本身定义了初始条件。</a:t>
            </a:r>
            <a:endParaRPr lang="en-US" altLang="zh-CN" dirty="0">
              <a:latin typeface="+mn-lt"/>
              <a:ea typeface="+mn-ea"/>
              <a:cs typeface="+mn-cs"/>
            </a:endParaRPr>
          </a:p>
          <a:p>
            <a:pPr marL="476250" indent="-476250" eaLnBrk="1" hangingPunct="1">
              <a:lnSpc>
                <a:spcPct val="80000"/>
              </a:lnSpc>
              <a:buFontTx/>
              <a:buAutoNum type="arabicPeriod"/>
              <a:defRPr/>
            </a:pPr>
            <a:r>
              <a:rPr lang="zh-CN" altLang="en-US" sz="2400" dirty="0" smtClean="0">
                <a:solidFill>
                  <a:srgbClr val="FF0000"/>
                </a:solidFill>
              </a:rPr>
              <a:t>输出</a:t>
            </a:r>
            <a:endParaRPr lang="en-US" altLang="zh-CN" sz="2100" dirty="0" smtClean="0">
              <a:solidFill>
                <a:srgbClr val="FF0000"/>
              </a:solidFill>
            </a:endParaRPr>
          </a:p>
          <a:p>
            <a:pPr marL="540000" lvl="1" indent="419100" eaLnBrk="1" hangingPunct="1">
              <a:lnSpc>
                <a:spcPct val="80000"/>
              </a:lnSpc>
              <a:buFontTx/>
              <a:buNone/>
              <a:defRPr/>
            </a:pPr>
            <a:r>
              <a:rPr lang="zh-CN" altLang="en-US" dirty="0">
                <a:solidFill>
                  <a:srgbClr val="FF0000"/>
                </a:solidFill>
                <a:latin typeface="+mn-lt"/>
                <a:ea typeface="+mn-ea"/>
                <a:cs typeface="+mn-cs"/>
              </a:rPr>
              <a:t>有一个或多个输出</a:t>
            </a:r>
            <a:r>
              <a:rPr lang="zh-CN" altLang="en-US" dirty="0">
                <a:latin typeface="+mn-lt"/>
                <a:ea typeface="+mn-ea"/>
                <a:cs typeface="+mn-cs"/>
              </a:rPr>
              <a:t>。以反映对数据加工后的结果，没有输出的算法是毫无意义的。</a:t>
            </a:r>
            <a:endParaRPr lang="en-US" altLang="zh-CN" dirty="0">
              <a:latin typeface="+mn-lt"/>
              <a:ea typeface="+mn-ea"/>
              <a:cs typeface="+mn-cs"/>
            </a:endParaRPr>
          </a:p>
        </p:txBody>
      </p:sp>
    </p:spTree>
    <p:extLst>
      <p:ext uri="{BB962C8B-B14F-4D97-AF65-F5344CB8AC3E}">
        <p14:creationId xmlns:p14="http://schemas.microsoft.com/office/powerpoint/2010/main" val="422938476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14340" name="Rectangle 3"/>
          <p:cNvSpPr>
            <a:spLocks noGrp="1" noChangeArrowheads="1"/>
          </p:cNvSpPr>
          <p:nvPr>
            <p:ph type="body" idx="1"/>
          </p:nvPr>
        </p:nvSpPr>
        <p:spPr>
          <a:xfrm>
            <a:off x="857250" y="1295400"/>
            <a:ext cx="8035925" cy="4510088"/>
          </a:xfrm>
        </p:spPr>
        <p:txBody>
          <a:bodyPr/>
          <a:lstStyle/>
          <a:p>
            <a:pPr eaLnBrk="1" hangingPunct="1">
              <a:defRPr/>
            </a:pPr>
            <a:r>
              <a:rPr lang="zh-CN" altLang="zh-CN" b="1" dirty="0" smtClean="0"/>
              <a:t>算法</a:t>
            </a:r>
            <a:r>
              <a:rPr lang="zh-CN" altLang="zh-CN" dirty="0"/>
              <a:t>必须满足所有的</a:t>
            </a:r>
            <a:r>
              <a:rPr lang="zh-CN" altLang="zh-CN" b="1" dirty="0"/>
              <a:t>五个特征</a:t>
            </a:r>
            <a:r>
              <a:rPr lang="zh-CN" altLang="zh-CN" dirty="0"/>
              <a:t>。</a:t>
            </a:r>
            <a:endParaRPr lang="en-US" altLang="zh-CN" dirty="0"/>
          </a:p>
          <a:p>
            <a:pPr eaLnBrk="1" hangingPunct="1">
              <a:defRPr/>
            </a:pPr>
            <a:r>
              <a:rPr lang="zh-CN" altLang="en-US" b="1" dirty="0">
                <a:solidFill>
                  <a:srgbClr val="333399"/>
                </a:solidFill>
              </a:rPr>
              <a:t>程序</a:t>
            </a:r>
            <a:r>
              <a:rPr lang="zh-CN" altLang="en-US" dirty="0" smtClean="0"/>
              <a:t>只</a:t>
            </a:r>
            <a:r>
              <a:rPr lang="zh-CN" altLang="zh-CN" dirty="0"/>
              <a:t>满足</a:t>
            </a:r>
            <a:r>
              <a:rPr lang="zh-CN" altLang="zh-CN" b="1" dirty="0"/>
              <a:t>四个特征</a:t>
            </a:r>
            <a:r>
              <a:rPr lang="zh-CN" altLang="zh-CN" dirty="0"/>
              <a:t>（</a:t>
            </a:r>
            <a:r>
              <a:rPr lang="zh-CN" altLang="en-US" dirty="0"/>
              <a:t>可行性，</a:t>
            </a:r>
            <a:r>
              <a:rPr lang="zh-CN" altLang="zh-CN" dirty="0"/>
              <a:t>明确性，输入，输出</a:t>
            </a:r>
            <a:r>
              <a:rPr lang="zh-CN" altLang="zh-CN" dirty="0" smtClean="0"/>
              <a:t>）</a:t>
            </a:r>
            <a:r>
              <a:rPr lang="zh-CN" altLang="en-US" dirty="0" smtClean="0"/>
              <a:t>，</a:t>
            </a:r>
            <a:r>
              <a:rPr lang="zh-CN" altLang="en-US" dirty="0" smtClean="0">
                <a:solidFill>
                  <a:srgbClr val="333399"/>
                </a:solidFill>
              </a:rPr>
              <a:t>不</a:t>
            </a:r>
            <a:r>
              <a:rPr lang="zh-CN" altLang="zh-CN" dirty="0" smtClean="0">
                <a:solidFill>
                  <a:srgbClr val="333399"/>
                </a:solidFill>
              </a:rPr>
              <a:t>是</a:t>
            </a:r>
            <a:r>
              <a:rPr lang="zh-CN" altLang="zh-CN" dirty="0"/>
              <a:t>一个规则的</a:t>
            </a:r>
            <a:r>
              <a:rPr lang="zh-CN" altLang="zh-CN" dirty="0" smtClean="0"/>
              <a:t>算法。</a:t>
            </a:r>
            <a:endParaRPr lang="en-US" altLang="zh-CN" dirty="0" smtClean="0"/>
          </a:p>
          <a:p>
            <a:pPr eaLnBrk="1" hangingPunct="1">
              <a:defRPr/>
            </a:pPr>
            <a:r>
              <a:rPr lang="zh-CN" altLang="en-US" dirty="0"/>
              <a:t>算法和程序的</a:t>
            </a:r>
            <a:r>
              <a:rPr lang="zh-CN" altLang="en-US" b="1" dirty="0"/>
              <a:t>最大区别</a:t>
            </a:r>
            <a:r>
              <a:rPr lang="zh-CN" altLang="en-US" dirty="0"/>
              <a:t>，算法是有限的，但是程序是可能无限</a:t>
            </a:r>
            <a:r>
              <a:rPr lang="zh-CN" altLang="en-US" dirty="0" smtClean="0"/>
              <a:t>的</a:t>
            </a:r>
            <a:endParaRPr lang="en-US" altLang="zh-CN" dirty="0"/>
          </a:p>
          <a:p>
            <a:pPr eaLnBrk="1" hangingPunct="1">
              <a:defRPr/>
            </a:pPr>
            <a:endParaRPr lang="en-US" altLang="zh-CN" dirty="0" smtClean="0"/>
          </a:p>
          <a:p>
            <a:pPr eaLnBrk="1" hangingPunct="1">
              <a:defRPr/>
            </a:pPr>
            <a:r>
              <a:rPr lang="zh-CN" altLang="en-US" dirty="0" smtClean="0"/>
              <a:t>例如：操作系统</a:t>
            </a:r>
            <a:r>
              <a:rPr lang="zh-CN" altLang="en-US" dirty="0"/>
              <a:t>只要不关机就是一个无限期执行的程序</a:t>
            </a:r>
            <a:r>
              <a:rPr lang="zh-CN" altLang="en-US" dirty="0" smtClean="0">
                <a:latin typeface="+mn-ea"/>
              </a:rPr>
              <a:t>。</a:t>
            </a:r>
          </a:p>
          <a:p>
            <a:pPr marL="457200" lvl="1" indent="0" eaLnBrk="1" hangingPunct="1">
              <a:buFontTx/>
              <a:buNone/>
              <a:defRPr/>
            </a:pPr>
            <a:endParaRPr lang="en-US" altLang="zh-CN" dirty="0">
              <a:latin typeface="+mn-ea"/>
            </a:endParaRPr>
          </a:p>
          <a:p>
            <a:pPr eaLnBrk="1" hangingPunct="1">
              <a:defRPr/>
            </a:pPr>
            <a:endParaRPr lang="en-US" altLang="zh-CN" dirty="0">
              <a:latin typeface="Arial" pitchFamily="34" charset="0"/>
            </a:endParaRPr>
          </a:p>
          <a:p>
            <a:pPr marL="74250" lvl="1" indent="0" eaLnBrk="1" hangingPunct="1">
              <a:lnSpc>
                <a:spcPct val="150000"/>
              </a:lnSpc>
              <a:spcBef>
                <a:spcPts val="0"/>
              </a:spcBef>
              <a:buFontTx/>
              <a:buNone/>
              <a:defRPr/>
            </a:pPr>
            <a:endParaRPr lang="en-US" altLang="zh-CN" b="1" dirty="0">
              <a:latin typeface="+mn-ea"/>
              <a:ea typeface="+mn-ea"/>
            </a:endParaRPr>
          </a:p>
        </p:txBody>
      </p:sp>
      <p:sp>
        <p:nvSpPr>
          <p:cNvPr id="8" name="Rectangle 2"/>
          <p:cNvSpPr>
            <a:spLocks noGrp="1" noChangeArrowheads="1"/>
          </p:cNvSpPr>
          <p:nvPr>
            <p:ph type="title"/>
          </p:nvPr>
        </p:nvSpPr>
        <p:spPr/>
        <p:txBody>
          <a:bodyPr/>
          <a:lstStyle/>
          <a:p>
            <a:pPr eaLnBrk="1" hangingPunct="1">
              <a:defRPr/>
            </a:pPr>
            <a:r>
              <a:rPr lang="en-US" altLang="zh-CN" dirty="0" smtClean="0">
                <a:latin typeface="+mn-ea"/>
              </a:rPr>
              <a:t>1.1.3 </a:t>
            </a:r>
            <a:r>
              <a:rPr lang="zh-CN" altLang="en-US" dirty="0" smtClean="0">
                <a:latin typeface="+mn-ea"/>
              </a:rPr>
              <a:t>算法与计算机程序的关系</a:t>
            </a:r>
          </a:p>
        </p:txBody>
      </p:sp>
    </p:spTree>
    <p:extLst>
      <p:ext uri="{BB962C8B-B14F-4D97-AF65-F5344CB8AC3E}">
        <p14:creationId xmlns:p14="http://schemas.microsoft.com/office/powerpoint/2010/main" val="351159991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14340" name="Rectangle 3"/>
          <p:cNvSpPr>
            <a:spLocks noGrp="1" noChangeArrowheads="1"/>
          </p:cNvSpPr>
          <p:nvPr>
            <p:ph type="body" idx="1"/>
          </p:nvPr>
        </p:nvSpPr>
        <p:spPr>
          <a:xfrm>
            <a:off x="857250" y="1295400"/>
            <a:ext cx="8035925" cy="2062163"/>
          </a:xfrm>
        </p:spPr>
        <p:txBody>
          <a:bodyPr/>
          <a:lstStyle/>
          <a:p>
            <a:pPr marL="457200" lvl="1" indent="0" eaLnBrk="1" hangingPunct="1">
              <a:buFontTx/>
              <a:buNone/>
              <a:defRPr/>
            </a:pPr>
            <a:r>
              <a:rPr lang="en-US" altLang="zh-CN" dirty="0">
                <a:latin typeface="+mn-ea"/>
                <a:ea typeface="+mn-ea"/>
              </a:rPr>
              <a:t>&lt;&lt;</a:t>
            </a:r>
            <a:r>
              <a:rPr lang="zh-CN" altLang="en-US" dirty="0">
                <a:latin typeface="+mn-ea"/>
                <a:ea typeface="+mn-ea"/>
              </a:rPr>
              <a:t>算法导论</a:t>
            </a:r>
            <a:r>
              <a:rPr lang="en-US" altLang="zh-CN" dirty="0" smtClean="0">
                <a:latin typeface="+mn-ea"/>
                <a:ea typeface="+mn-ea"/>
              </a:rPr>
              <a:t>&gt;&gt;</a:t>
            </a:r>
            <a:r>
              <a:rPr lang="zh-CN" altLang="en-US" dirty="0" smtClean="0">
                <a:latin typeface="+mn-ea"/>
                <a:ea typeface="+mn-ea"/>
              </a:rPr>
              <a:t>第一部分第一</a:t>
            </a:r>
            <a:r>
              <a:rPr lang="zh-CN" altLang="en-US" dirty="0">
                <a:latin typeface="+mn-ea"/>
                <a:ea typeface="+mn-ea"/>
              </a:rPr>
              <a:t>节</a:t>
            </a:r>
            <a:r>
              <a:rPr lang="en-US" altLang="zh-CN" dirty="0" smtClean="0">
                <a:latin typeface="+mn-ea"/>
                <a:ea typeface="+mn-ea"/>
              </a:rPr>
              <a:t>:</a:t>
            </a:r>
          </a:p>
          <a:p>
            <a:pPr marL="457200" lvl="1" indent="0" eaLnBrk="1" hangingPunct="1">
              <a:buFontTx/>
              <a:buNone/>
              <a:defRPr/>
            </a:pPr>
            <a:r>
              <a:rPr lang="en-US" altLang="zh-CN" dirty="0" smtClean="0">
                <a:latin typeface="+mn-ea"/>
                <a:ea typeface="+mn-ea"/>
              </a:rPr>
              <a:t>	</a:t>
            </a:r>
            <a:r>
              <a:rPr lang="zh-CN" altLang="en-US" dirty="0" smtClean="0">
                <a:latin typeface="+mn-ea"/>
                <a:ea typeface="+mn-ea"/>
              </a:rPr>
              <a:t>所谓</a:t>
            </a:r>
            <a:r>
              <a:rPr lang="zh-CN" altLang="en-US" b="1" dirty="0">
                <a:latin typeface="+mn-ea"/>
                <a:ea typeface="+mn-ea"/>
              </a:rPr>
              <a:t>算法</a:t>
            </a:r>
            <a:r>
              <a:rPr lang="en-US" altLang="zh-CN" dirty="0">
                <a:latin typeface="+mn-ea"/>
                <a:ea typeface="+mn-ea"/>
              </a:rPr>
              <a:t>(algorithm)</a:t>
            </a:r>
            <a:r>
              <a:rPr lang="zh-CN" altLang="en-US" dirty="0">
                <a:latin typeface="+mn-ea"/>
                <a:ea typeface="+mn-ea"/>
              </a:rPr>
              <a:t>就是定义良好的</a:t>
            </a:r>
            <a:r>
              <a:rPr lang="zh-CN" altLang="en-US" b="1" dirty="0">
                <a:latin typeface="+mn-ea"/>
                <a:ea typeface="+mn-ea"/>
              </a:rPr>
              <a:t>计算</a:t>
            </a:r>
            <a:r>
              <a:rPr lang="zh-CN" altLang="en-US" b="1" dirty="0" smtClean="0">
                <a:latin typeface="+mn-ea"/>
                <a:ea typeface="+mn-ea"/>
              </a:rPr>
              <a:t>过程</a:t>
            </a:r>
            <a:r>
              <a:rPr lang="zh-CN" altLang="en-US" dirty="0" smtClean="0">
                <a:latin typeface="+mn-ea"/>
                <a:ea typeface="+mn-ea"/>
              </a:rPr>
              <a:t>。它</a:t>
            </a:r>
            <a:r>
              <a:rPr lang="zh-CN" altLang="en-US" dirty="0">
                <a:latin typeface="+mn-ea"/>
                <a:ea typeface="+mn-ea"/>
              </a:rPr>
              <a:t>取一个或者一组值作为输入</a:t>
            </a:r>
            <a:r>
              <a:rPr lang="en-US" altLang="zh-CN" dirty="0">
                <a:latin typeface="+mn-ea"/>
                <a:ea typeface="+mn-ea"/>
              </a:rPr>
              <a:t>, </a:t>
            </a:r>
            <a:r>
              <a:rPr lang="zh-CN" altLang="en-US" dirty="0">
                <a:latin typeface="+mn-ea"/>
                <a:ea typeface="+mn-ea"/>
              </a:rPr>
              <a:t>并产生一个或一组值作为输出</a:t>
            </a:r>
            <a:r>
              <a:rPr lang="zh-CN" altLang="en-US" dirty="0" smtClean="0">
                <a:latin typeface="+mn-ea"/>
                <a:ea typeface="+mn-ea"/>
              </a:rPr>
              <a:t>。</a:t>
            </a:r>
            <a:endParaRPr lang="en-US" altLang="zh-CN" dirty="0" smtClean="0">
              <a:latin typeface="+mn-ea"/>
              <a:ea typeface="+mn-ea"/>
            </a:endParaRPr>
          </a:p>
          <a:p>
            <a:pPr marL="457200" lvl="1" indent="0" eaLnBrk="1" hangingPunct="1">
              <a:buFontTx/>
              <a:buNone/>
              <a:defRPr/>
            </a:pPr>
            <a:r>
              <a:rPr lang="en-US" altLang="zh-CN" dirty="0">
                <a:latin typeface="+mn-ea"/>
                <a:ea typeface="+mn-ea"/>
              </a:rPr>
              <a:t>	</a:t>
            </a:r>
            <a:r>
              <a:rPr lang="zh-CN" altLang="en-US" dirty="0" smtClean="0">
                <a:latin typeface="+mn-ea"/>
                <a:ea typeface="+mn-ea"/>
              </a:rPr>
              <a:t>亦即</a:t>
            </a:r>
            <a:r>
              <a:rPr lang="en-US" altLang="zh-CN" dirty="0">
                <a:latin typeface="+mn-ea"/>
                <a:ea typeface="+mn-ea"/>
              </a:rPr>
              <a:t>, </a:t>
            </a:r>
            <a:r>
              <a:rPr lang="zh-CN" altLang="en-US" b="1" dirty="0">
                <a:latin typeface="+mn-ea"/>
                <a:ea typeface="+mn-ea"/>
              </a:rPr>
              <a:t>算法就是一系列的计算步骤</a:t>
            </a:r>
            <a:r>
              <a:rPr lang="en-US" altLang="zh-CN" dirty="0">
                <a:latin typeface="+mn-ea"/>
                <a:ea typeface="+mn-ea"/>
              </a:rPr>
              <a:t>, </a:t>
            </a:r>
            <a:r>
              <a:rPr lang="zh-CN" altLang="en-US" dirty="0">
                <a:latin typeface="+mn-ea"/>
                <a:ea typeface="+mn-ea"/>
              </a:rPr>
              <a:t>用来将输入数据转换成输出</a:t>
            </a:r>
            <a:r>
              <a:rPr lang="zh-CN" altLang="en-US" dirty="0" smtClean="0">
                <a:latin typeface="+mn-ea"/>
                <a:ea typeface="+mn-ea"/>
              </a:rPr>
              <a:t>结果。</a:t>
            </a:r>
            <a:endParaRPr lang="en-US" altLang="zh-CN" dirty="0" smtClean="0">
              <a:latin typeface="+mn-ea"/>
              <a:ea typeface="+mn-ea"/>
            </a:endParaRPr>
          </a:p>
          <a:p>
            <a:pPr marL="457200" lvl="1" indent="0" eaLnBrk="1" hangingPunct="1">
              <a:buFontTx/>
              <a:buNone/>
              <a:defRPr/>
            </a:pPr>
            <a:endParaRPr lang="en-US" altLang="zh-CN" dirty="0">
              <a:latin typeface="+mn-ea"/>
              <a:ea typeface="+mn-ea"/>
            </a:endParaRPr>
          </a:p>
        </p:txBody>
      </p:sp>
      <p:sp>
        <p:nvSpPr>
          <p:cNvPr id="8" name="Rectangle 2"/>
          <p:cNvSpPr>
            <a:spLocks noGrp="1" noChangeArrowheads="1"/>
          </p:cNvSpPr>
          <p:nvPr>
            <p:ph type="title"/>
          </p:nvPr>
        </p:nvSpPr>
        <p:spPr/>
        <p:txBody>
          <a:bodyPr/>
          <a:lstStyle/>
          <a:p>
            <a:pPr eaLnBrk="1" hangingPunct="1">
              <a:defRPr/>
            </a:pPr>
            <a:r>
              <a:rPr lang="en-US" altLang="zh-CN" dirty="0" smtClean="0">
                <a:latin typeface="+mn-ea"/>
              </a:rPr>
              <a:t>1.1.4 </a:t>
            </a:r>
            <a:r>
              <a:rPr lang="zh-CN" altLang="en-US" dirty="0" smtClean="0">
                <a:latin typeface="+mn-ea"/>
              </a:rPr>
              <a:t>算法</a:t>
            </a:r>
            <a:r>
              <a:rPr lang="zh-CN" altLang="en-US" dirty="0">
                <a:latin typeface="+mn-ea"/>
              </a:rPr>
              <a:t>与过程的</a:t>
            </a:r>
            <a:r>
              <a:rPr lang="zh-CN" altLang="en-US" dirty="0" smtClean="0">
                <a:latin typeface="+mn-ea"/>
              </a:rPr>
              <a:t>关系</a:t>
            </a:r>
            <a:endParaRPr lang="en-US" altLang="zh-CN" dirty="0" smtClean="0"/>
          </a:p>
        </p:txBody>
      </p:sp>
      <p:sp>
        <p:nvSpPr>
          <p:cNvPr id="20485" name="矩形 1"/>
          <p:cNvSpPr>
            <a:spLocks noChangeArrowheads="1"/>
          </p:cNvSpPr>
          <p:nvPr/>
        </p:nvSpPr>
        <p:spPr bwMode="auto">
          <a:xfrm>
            <a:off x="1835150" y="4005263"/>
            <a:ext cx="1296988" cy="768350"/>
          </a:xfrm>
          <a:prstGeom prst="rect">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solidFill>
                <a:schemeClr val="tx1"/>
              </a:solidFill>
              <a:latin typeface="Arial" panose="020B0604020202020204" pitchFamily="34" charset="0"/>
              <a:ea typeface="宋体" panose="02010600030101010101" pitchFamily="2" charset="-122"/>
            </a:endParaRPr>
          </a:p>
        </p:txBody>
      </p:sp>
      <p:sp>
        <p:nvSpPr>
          <p:cNvPr id="3" name="文本框 2"/>
          <p:cNvSpPr txBox="1"/>
          <p:nvPr/>
        </p:nvSpPr>
        <p:spPr>
          <a:xfrm>
            <a:off x="2070100" y="4151313"/>
            <a:ext cx="827088" cy="476250"/>
          </a:xfrm>
          <a:prstGeom prst="rect">
            <a:avLst/>
          </a:prstGeom>
          <a:noFill/>
        </p:spPr>
        <p:txBody>
          <a:bodyPr wrap="none">
            <a:spAutoFit/>
          </a:bodyPr>
          <a:lstStyle/>
          <a:p>
            <a:pPr eaLnBrk="1" hangingPunct="1">
              <a:defRPr/>
            </a:pPr>
            <a:r>
              <a:rPr lang="zh-CN" altLang="en-US" sz="2500" kern="0" dirty="0">
                <a:solidFill>
                  <a:srgbClr val="333399"/>
                </a:solidFill>
                <a:latin typeface="华文楷体"/>
                <a:ea typeface="华文楷体"/>
              </a:rPr>
              <a:t>算法</a:t>
            </a:r>
          </a:p>
        </p:txBody>
      </p:sp>
      <p:sp>
        <p:nvSpPr>
          <p:cNvPr id="20487" name="矩形 6"/>
          <p:cNvSpPr>
            <a:spLocks noChangeArrowheads="1"/>
          </p:cNvSpPr>
          <p:nvPr/>
        </p:nvSpPr>
        <p:spPr bwMode="auto">
          <a:xfrm>
            <a:off x="6029325" y="4005263"/>
            <a:ext cx="1296988" cy="768350"/>
          </a:xfrm>
          <a:prstGeom prst="rect">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solidFill>
                <a:schemeClr val="tx1"/>
              </a:solidFill>
              <a:latin typeface="Arial" panose="020B0604020202020204" pitchFamily="34" charset="0"/>
              <a:ea typeface="宋体" panose="02010600030101010101" pitchFamily="2" charset="-122"/>
            </a:endParaRPr>
          </a:p>
        </p:txBody>
      </p:sp>
      <p:sp>
        <p:nvSpPr>
          <p:cNvPr id="9" name="文本框 8"/>
          <p:cNvSpPr txBox="1"/>
          <p:nvPr/>
        </p:nvSpPr>
        <p:spPr>
          <a:xfrm>
            <a:off x="6265863" y="4151313"/>
            <a:ext cx="825500" cy="476250"/>
          </a:xfrm>
          <a:prstGeom prst="rect">
            <a:avLst/>
          </a:prstGeom>
          <a:noFill/>
        </p:spPr>
        <p:txBody>
          <a:bodyPr wrap="none">
            <a:spAutoFit/>
          </a:bodyPr>
          <a:lstStyle/>
          <a:p>
            <a:pPr eaLnBrk="1" hangingPunct="1">
              <a:defRPr/>
            </a:pPr>
            <a:r>
              <a:rPr lang="zh-CN" altLang="en-US" sz="2500" kern="0" dirty="0">
                <a:solidFill>
                  <a:srgbClr val="333399"/>
                </a:solidFill>
                <a:latin typeface="华文楷体"/>
                <a:ea typeface="华文楷体"/>
              </a:rPr>
              <a:t>过程</a:t>
            </a:r>
          </a:p>
        </p:txBody>
      </p:sp>
      <p:cxnSp>
        <p:nvCxnSpPr>
          <p:cNvPr id="20489" name="直接箭头连接符 4"/>
          <p:cNvCxnSpPr>
            <a:cxnSpLocks noChangeShapeType="1"/>
          </p:cNvCxnSpPr>
          <p:nvPr/>
        </p:nvCxnSpPr>
        <p:spPr bwMode="auto">
          <a:xfrm>
            <a:off x="3132138" y="4151313"/>
            <a:ext cx="2897187" cy="0"/>
          </a:xfrm>
          <a:prstGeom prst="straightConnector1">
            <a:avLst/>
          </a:prstGeom>
          <a:noFill/>
          <a:ln w="19050" algn="ctr">
            <a:solidFill>
              <a:schemeClr val="tx1"/>
            </a:solidFill>
            <a:round/>
            <a:headEnd/>
            <a:tailEnd type="stealth" w="lg" len="lg"/>
          </a:ln>
          <a:extLst>
            <a:ext uri="{909E8E84-426E-40DD-AFC4-6F175D3DCCD1}">
              <a14:hiddenFill xmlns:a14="http://schemas.microsoft.com/office/drawing/2010/main">
                <a:noFill/>
              </a14:hiddenFill>
            </a:ext>
          </a:extLst>
        </p:spPr>
      </p:cxnSp>
      <p:sp>
        <p:nvSpPr>
          <p:cNvPr id="6" name="文本框 5"/>
          <p:cNvSpPr txBox="1"/>
          <p:nvPr/>
        </p:nvSpPr>
        <p:spPr>
          <a:xfrm>
            <a:off x="3924300" y="3702050"/>
            <a:ext cx="1152525" cy="477838"/>
          </a:xfrm>
          <a:prstGeom prst="rect">
            <a:avLst/>
          </a:prstGeom>
          <a:noFill/>
        </p:spPr>
        <p:txBody>
          <a:bodyPr>
            <a:spAutoFit/>
          </a:bodyPr>
          <a:lstStyle/>
          <a:p>
            <a:pPr eaLnBrk="1" hangingPunct="1">
              <a:defRPr/>
            </a:pPr>
            <a:r>
              <a:rPr lang="zh-CN" altLang="en-US" sz="2500" kern="0" dirty="0">
                <a:solidFill>
                  <a:srgbClr val="333399"/>
                </a:solidFill>
                <a:latin typeface="华文楷体"/>
                <a:ea typeface="华文楷体"/>
              </a:rPr>
              <a:t>一定是</a:t>
            </a:r>
          </a:p>
        </p:txBody>
      </p:sp>
      <p:cxnSp>
        <p:nvCxnSpPr>
          <p:cNvPr id="20491" name="直接箭头连接符 11"/>
          <p:cNvCxnSpPr>
            <a:cxnSpLocks noChangeShapeType="1"/>
          </p:cNvCxnSpPr>
          <p:nvPr/>
        </p:nvCxnSpPr>
        <p:spPr bwMode="auto">
          <a:xfrm>
            <a:off x="3132138" y="4616450"/>
            <a:ext cx="2897187" cy="0"/>
          </a:xfrm>
          <a:prstGeom prst="straightConnector1">
            <a:avLst/>
          </a:prstGeom>
          <a:noFill/>
          <a:ln w="19050" algn="ctr">
            <a:solidFill>
              <a:schemeClr val="tx1"/>
            </a:solidFill>
            <a:round/>
            <a:headEnd type="stealth" w="lg" len="lg"/>
            <a:tailEnd type="none" w="lg" len="lg"/>
          </a:ln>
          <a:extLst>
            <a:ext uri="{909E8E84-426E-40DD-AFC4-6F175D3DCCD1}">
              <a14:hiddenFill xmlns:a14="http://schemas.microsoft.com/office/drawing/2010/main">
                <a:noFill/>
              </a14:hiddenFill>
            </a:ext>
          </a:extLst>
        </p:spPr>
      </p:cxnSp>
      <p:sp>
        <p:nvSpPr>
          <p:cNvPr id="13" name="文本框 12"/>
          <p:cNvSpPr txBox="1"/>
          <p:nvPr/>
        </p:nvSpPr>
        <p:spPr>
          <a:xfrm>
            <a:off x="3924300" y="4537075"/>
            <a:ext cx="1574800" cy="476250"/>
          </a:xfrm>
          <a:prstGeom prst="rect">
            <a:avLst/>
          </a:prstGeom>
          <a:noFill/>
        </p:spPr>
        <p:txBody>
          <a:bodyPr>
            <a:spAutoFit/>
          </a:bodyPr>
          <a:lstStyle/>
          <a:p>
            <a:pPr eaLnBrk="1" hangingPunct="1">
              <a:defRPr/>
            </a:pPr>
            <a:r>
              <a:rPr lang="zh-CN" altLang="en-US" sz="2500" kern="0" dirty="0">
                <a:solidFill>
                  <a:srgbClr val="333399"/>
                </a:solidFill>
                <a:latin typeface="华文楷体"/>
                <a:ea typeface="华文楷体"/>
              </a:rPr>
              <a:t>不一定是</a:t>
            </a:r>
          </a:p>
        </p:txBody>
      </p:sp>
    </p:spTree>
    <p:extLst>
      <p:ext uri="{BB962C8B-B14F-4D97-AF65-F5344CB8AC3E}">
        <p14:creationId xmlns:p14="http://schemas.microsoft.com/office/powerpoint/2010/main" val="276105715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14340" name="Rectangle 3"/>
          <p:cNvSpPr>
            <a:spLocks noGrp="1" noChangeArrowheads="1"/>
          </p:cNvSpPr>
          <p:nvPr>
            <p:ph type="body" idx="1"/>
          </p:nvPr>
        </p:nvSpPr>
        <p:spPr>
          <a:xfrm>
            <a:off x="857250" y="1295400"/>
            <a:ext cx="8035925" cy="4510088"/>
          </a:xfrm>
        </p:spPr>
        <p:txBody>
          <a:bodyPr/>
          <a:lstStyle/>
          <a:p>
            <a:pPr marL="360000" lvl="1" eaLnBrk="1" hangingPunct="1">
              <a:lnSpc>
                <a:spcPct val="150000"/>
              </a:lnSpc>
              <a:spcBef>
                <a:spcPts val="0"/>
              </a:spcBef>
              <a:defRPr/>
            </a:pPr>
            <a:r>
              <a:rPr lang="zh-CN" altLang="en-US" dirty="0" smtClean="0">
                <a:latin typeface="+mn-ea"/>
                <a:ea typeface="+mn-ea"/>
              </a:rPr>
              <a:t>寻求解决一类问题的</a:t>
            </a:r>
            <a:r>
              <a:rPr lang="zh-CN" altLang="en-US" b="1" dirty="0">
                <a:latin typeface="+mn-ea"/>
                <a:ea typeface="+mn-ea"/>
              </a:rPr>
              <a:t>方法</a:t>
            </a:r>
            <a:r>
              <a:rPr lang="zh-CN" altLang="en-US" dirty="0" smtClean="0">
                <a:latin typeface="+mn-ea"/>
                <a:ea typeface="+mn-ea"/>
              </a:rPr>
              <a:t>，使它</a:t>
            </a:r>
            <a:r>
              <a:rPr lang="zh-CN" altLang="en-US" dirty="0">
                <a:latin typeface="+mn-ea"/>
                <a:ea typeface="+mn-ea"/>
              </a:rPr>
              <a:t>可以通过计算机来</a:t>
            </a:r>
            <a:r>
              <a:rPr lang="zh-CN" altLang="en-US" dirty="0" smtClean="0">
                <a:latin typeface="+mn-ea"/>
                <a:ea typeface="+mn-ea"/>
              </a:rPr>
              <a:t>完成。</a:t>
            </a:r>
            <a:endParaRPr lang="en-US" altLang="zh-CN" dirty="0" smtClean="0">
              <a:latin typeface="+mn-ea"/>
              <a:ea typeface="+mn-ea"/>
            </a:endParaRPr>
          </a:p>
          <a:p>
            <a:pPr marL="360000" lvl="1" eaLnBrk="1" hangingPunct="1">
              <a:lnSpc>
                <a:spcPct val="150000"/>
              </a:lnSpc>
              <a:spcBef>
                <a:spcPts val="0"/>
              </a:spcBef>
              <a:defRPr/>
            </a:pPr>
            <a:r>
              <a:rPr lang="zh-CN" altLang="en-US" dirty="0" smtClean="0">
                <a:latin typeface="+mn-ea"/>
                <a:ea typeface="+mn-ea"/>
              </a:rPr>
              <a:t>把</a:t>
            </a:r>
            <a:r>
              <a:rPr lang="zh-CN" altLang="en-US" dirty="0">
                <a:latin typeface="+mn-ea"/>
                <a:ea typeface="+mn-ea"/>
              </a:rPr>
              <a:t>过程分解成若干个明确的</a:t>
            </a:r>
            <a:r>
              <a:rPr lang="zh-CN" altLang="en-US" b="1" dirty="0" smtClean="0">
                <a:latin typeface="+mn-ea"/>
                <a:ea typeface="+mn-ea"/>
              </a:rPr>
              <a:t>步骤</a:t>
            </a:r>
            <a:r>
              <a:rPr lang="zh-CN" altLang="en-US" dirty="0">
                <a:latin typeface="+mn-ea"/>
                <a:ea typeface="+mn-ea"/>
              </a:rPr>
              <a:t>，</a:t>
            </a:r>
            <a:r>
              <a:rPr lang="zh-CN" altLang="en-US" dirty="0" smtClean="0">
                <a:latin typeface="+mn-ea"/>
                <a:ea typeface="+mn-ea"/>
              </a:rPr>
              <a:t>然后</a:t>
            </a:r>
            <a:r>
              <a:rPr lang="zh-CN" altLang="en-US" dirty="0">
                <a:latin typeface="+mn-ea"/>
                <a:ea typeface="+mn-ea"/>
              </a:rPr>
              <a:t>用计算机能够接受的“语言”准确地描述</a:t>
            </a:r>
            <a:r>
              <a:rPr lang="zh-CN" altLang="en-US" dirty="0" smtClean="0">
                <a:latin typeface="+mn-ea"/>
                <a:ea typeface="+mn-ea"/>
              </a:rPr>
              <a:t>出来，从而使计算机能够执行。</a:t>
            </a:r>
            <a:endParaRPr lang="en-US" altLang="zh-CN" dirty="0">
              <a:latin typeface="+mn-ea"/>
              <a:ea typeface="+mn-ea"/>
            </a:endParaRPr>
          </a:p>
          <a:p>
            <a:pPr marL="457200" lvl="1" indent="0" eaLnBrk="1" hangingPunct="1">
              <a:buFontTx/>
              <a:buNone/>
              <a:defRPr/>
            </a:pPr>
            <a:endParaRPr lang="en-US" altLang="zh-CN" dirty="0" smtClean="0">
              <a:latin typeface="+mn-ea"/>
              <a:ea typeface="+mn-ea"/>
            </a:endParaRPr>
          </a:p>
          <a:p>
            <a:pPr marL="457200" lvl="1" indent="0" eaLnBrk="1" hangingPunct="1">
              <a:buFontTx/>
              <a:buNone/>
              <a:defRPr/>
            </a:pPr>
            <a:r>
              <a:rPr lang="zh-CN" altLang="en-US" b="1" dirty="0" smtClean="0">
                <a:latin typeface="+mn-ea"/>
                <a:ea typeface="+mn-ea"/>
              </a:rPr>
              <a:t>即：提出</a:t>
            </a:r>
            <a:r>
              <a:rPr lang="zh-CN" altLang="en-US" b="1" dirty="0">
                <a:latin typeface="+mn-ea"/>
                <a:ea typeface="+mn-ea"/>
              </a:rPr>
              <a:t>解决问题的方法和步骤</a:t>
            </a:r>
            <a:endParaRPr lang="en-US" altLang="zh-CN" b="1" dirty="0">
              <a:latin typeface="+mn-ea"/>
              <a:ea typeface="+mn-ea"/>
            </a:endParaRPr>
          </a:p>
        </p:txBody>
      </p:sp>
      <p:sp>
        <p:nvSpPr>
          <p:cNvPr id="8" name="Rectangle 2"/>
          <p:cNvSpPr>
            <a:spLocks noGrp="1" noChangeArrowheads="1"/>
          </p:cNvSpPr>
          <p:nvPr>
            <p:ph type="title"/>
          </p:nvPr>
        </p:nvSpPr>
        <p:spPr/>
        <p:txBody>
          <a:bodyPr/>
          <a:lstStyle/>
          <a:p>
            <a:pPr eaLnBrk="1" hangingPunct="1">
              <a:defRPr/>
            </a:pPr>
            <a:r>
              <a:rPr lang="en-US" altLang="zh-CN" dirty="0" smtClean="0">
                <a:latin typeface="+mn-ea"/>
              </a:rPr>
              <a:t>1.1.5 </a:t>
            </a:r>
            <a:r>
              <a:rPr lang="zh-CN" altLang="en-US" dirty="0" smtClean="0">
                <a:latin typeface="+mn-ea"/>
              </a:rPr>
              <a:t>为什么要进行算法设计</a:t>
            </a:r>
          </a:p>
        </p:txBody>
      </p:sp>
    </p:spTree>
    <p:extLst>
      <p:ext uri="{BB962C8B-B14F-4D97-AF65-F5344CB8AC3E}">
        <p14:creationId xmlns:p14="http://schemas.microsoft.com/office/powerpoint/2010/main" val="202008401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内容占位符 2"/>
          <p:cNvSpPr>
            <a:spLocks noGrp="1"/>
          </p:cNvSpPr>
          <p:nvPr>
            <p:ph idx="1"/>
          </p:nvPr>
        </p:nvSpPr>
        <p:spPr>
          <a:xfrm>
            <a:off x="879475" y="1268413"/>
            <a:ext cx="7508875" cy="3168650"/>
          </a:xfrm>
        </p:spPr>
        <p:txBody>
          <a:bodyPr/>
          <a:lstStyle/>
          <a:p>
            <a:pPr indent="-341313">
              <a:lnSpc>
                <a:spcPct val="150000"/>
              </a:lnSpc>
            </a:pPr>
            <a:r>
              <a:rPr lang="zh-CN" altLang="en-US" sz="2200" b="1" smtClean="0"/>
              <a:t>程序 </a:t>
            </a:r>
            <a:r>
              <a:rPr lang="en-US" altLang="zh-CN" sz="2200" b="1" smtClean="0"/>
              <a:t>= </a:t>
            </a:r>
            <a:r>
              <a:rPr lang="zh-CN" altLang="en-US" sz="2200" b="1" smtClean="0"/>
              <a:t>数据结构 </a:t>
            </a:r>
            <a:r>
              <a:rPr lang="en-US" altLang="zh-CN" sz="2200" b="1" smtClean="0"/>
              <a:t>+ </a:t>
            </a:r>
            <a:r>
              <a:rPr lang="zh-CN" altLang="en-US" sz="2200" b="1" smtClean="0"/>
              <a:t>算法</a:t>
            </a:r>
            <a:r>
              <a:rPr lang="zh-CN" altLang="en-US" sz="2200" smtClean="0"/>
              <a:t>。</a:t>
            </a:r>
            <a:endParaRPr lang="en-US" altLang="zh-CN" sz="2200" smtClean="0"/>
          </a:p>
          <a:p>
            <a:pPr indent="-341313">
              <a:lnSpc>
                <a:spcPct val="150000"/>
              </a:lnSpc>
            </a:pPr>
            <a:r>
              <a:rPr lang="zh-CN" altLang="en-US" sz="2200" smtClean="0"/>
              <a:t>算法和数据结构是相辅相成的关系。</a:t>
            </a:r>
            <a:endParaRPr lang="en-US" altLang="zh-CN" sz="2200" smtClean="0"/>
          </a:p>
          <a:p>
            <a:pPr indent="-341313">
              <a:lnSpc>
                <a:spcPct val="150000"/>
              </a:lnSpc>
            </a:pPr>
            <a:r>
              <a:rPr lang="zh-CN" altLang="en-US" sz="2200" b="1" smtClean="0"/>
              <a:t>数据结构</a:t>
            </a:r>
            <a:r>
              <a:rPr lang="zh-CN" altLang="en-US" sz="2200" smtClean="0"/>
              <a:t>是相互之间存在某种关系的数据元素的集合；</a:t>
            </a:r>
            <a:r>
              <a:rPr lang="zh-CN" altLang="en-US" sz="2200" b="1" smtClean="0"/>
              <a:t>算法</a:t>
            </a:r>
            <a:r>
              <a:rPr lang="zh-CN" altLang="en-US" sz="2200" smtClean="0"/>
              <a:t>是解决特定问题的有限求解步骤。</a:t>
            </a:r>
            <a:endParaRPr lang="en-US" altLang="zh-CN" sz="2200" smtClean="0"/>
          </a:p>
          <a:p>
            <a:pPr indent="-341313">
              <a:lnSpc>
                <a:spcPct val="150000"/>
              </a:lnSpc>
            </a:pPr>
            <a:r>
              <a:rPr lang="zh-CN" altLang="en-US" sz="2200" smtClean="0"/>
              <a:t>数据结构是算法实现的基础，设计一种算法时会构建适合于这种算法的数据结构；同时算法总是要依赖于某种数据结构实现。</a:t>
            </a:r>
          </a:p>
        </p:txBody>
      </p:sp>
      <p:sp>
        <p:nvSpPr>
          <p:cNvPr id="24579"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mtClean="0"/>
              <a:t>Algorithms Design Techniques and Analysis</a:t>
            </a:r>
          </a:p>
        </p:txBody>
      </p:sp>
      <p:sp>
        <p:nvSpPr>
          <p:cNvPr id="6" name="Rectangle 2"/>
          <p:cNvSpPr>
            <a:spLocks noGrp="1" noChangeArrowheads="1"/>
          </p:cNvSpPr>
          <p:nvPr>
            <p:ph type="title"/>
          </p:nvPr>
        </p:nvSpPr>
        <p:spPr/>
        <p:txBody>
          <a:bodyPr/>
          <a:lstStyle/>
          <a:p>
            <a:pPr eaLnBrk="1" hangingPunct="1">
              <a:defRPr/>
            </a:pPr>
            <a:r>
              <a:rPr lang="en-US" altLang="zh-CN" dirty="0" smtClean="0">
                <a:latin typeface="+mn-ea"/>
              </a:rPr>
              <a:t>1.1.6 </a:t>
            </a:r>
            <a:r>
              <a:rPr lang="zh-CN" altLang="en-US" dirty="0" smtClean="0">
                <a:latin typeface="+mn-ea"/>
              </a:rPr>
              <a:t>算法与数据结构的关系</a:t>
            </a:r>
          </a:p>
        </p:txBody>
      </p:sp>
    </p:spTree>
    <p:extLst>
      <p:ext uri="{BB962C8B-B14F-4D97-AF65-F5344CB8AC3E}">
        <p14:creationId xmlns:p14="http://schemas.microsoft.com/office/powerpoint/2010/main" val="129754727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11267" name="Rectangle 2"/>
          <p:cNvSpPr>
            <a:spLocks noGrp="1" noChangeArrowheads="1"/>
          </p:cNvSpPr>
          <p:nvPr>
            <p:ph type="title"/>
          </p:nvPr>
        </p:nvSpPr>
        <p:spPr/>
        <p:txBody>
          <a:bodyPr/>
          <a:lstStyle/>
          <a:p>
            <a:pPr eaLnBrk="1" hangingPunct="1"/>
            <a:r>
              <a:rPr lang="zh-CN" altLang="en-US" b="0" smtClean="0"/>
              <a:t>主要内容</a:t>
            </a:r>
            <a:endParaRPr lang="en-US" altLang="zh-CN" b="0" smtClean="0"/>
          </a:p>
        </p:txBody>
      </p:sp>
      <p:sp>
        <p:nvSpPr>
          <p:cNvPr id="8196" name="Rectangle 3"/>
          <p:cNvSpPr>
            <a:spLocks noGrp="1" noChangeArrowheads="1"/>
          </p:cNvSpPr>
          <p:nvPr>
            <p:ph type="body" idx="1"/>
          </p:nvPr>
        </p:nvSpPr>
        <p:spPr>
          <a:xfrm>
            <a:off x="962026" y="1883206"/>
            <a:ext cx="6210299" cy="2520117"/>
          </a:xfrm>
        </p:spPr>
        <p:txBody>
          <a:bodyPr/>
          <a:lstStyle/>
          <a:p>
            <a:pPr marL="0" lvl="1" indent="-419100" eaLnBrk="1" hangingPunct="1">
              <a:buFontTx/>
              <a:buNone/>
              <a:defRPr/>
            </a:pPr>
            <a:r>
              <a:rPr lang="en-US" altLang="zh-CN" sz="2400" dirty="0" smtClean="0">
                <a:latin typeface="+mn-ea"/>
                <a:ea typeface="+mn-ea"/>
              </a:rPr>
              <a:t>1.1</a:t>
            </a:r>
            <a:r>
              <a:rPr lang="zh-CN" altLang="en-US" sz="2400" dirty="0" smtClean="0">
                <a:latin typeface="+mn-ea"/>
                <a:ea typeface="+mn-ea"/>
              </a:rPr>
              <a:t>算法的基本概念</a:t>
            </a:r>
            <a:endParaRPr lang="en-US" altLang="zh-CN" sz="2400" dirty="0" smtClean="0">
              <a:latin typeface="+mn-ea"/>
              <a:ea typeface="+mn-ea"/>
            </a:endParaRPr>
          </a:p>
          <a:p>
            <a:pPr marL="0" lvl="1" indent="-419100" eaLnBrk="1" hangingPunct="1">
              <a:buNone/>
              <a:defRPr/>
            </a:pPr>
            <a:r>
              <a:rPr lang="en-US" altLang="zh-CN" sz="2800" b="1" u="sng" dirty="0">
                <a:latin typeface="+mn-ea"/>
                <a:ea typeface="+mn-ea"/>
              </a:rPr>
              <a:t>1.2</a:t>
            </a:r>
            <a:r>
              <a:rPr lang="zh-CN" altLang="en-US" sz="2800" b="1" u="sng" dirty="0">
                <a:latin typeface="+mn-ea"/>
                <a:ea typeface="+mn-ea"/>
              </a:rPr>
              <a:t>算法分析基础</a:t>
            </a:r>
            <a:endParaRPr lang="en-US" altLang="zh-CN" sz="2800" b="1" u="sng" dirty="0">
              <a:latin typeface="+mn-ea"/>
              <a:ea typeface="+mn-ea"/>
            </a:endParaRPr>
          </a:p>
          <a:p>
            <a:pPr marL="0" lvl="1" indent="-419100" eaLnBrk="1" hangingPunct="1">
              <a:buFontTx/>
              <a:buNone/>
              <a:defRPr/>
            </a:pPr>
            <a:r>
              <a:rPr lang="en-US" altLang="zh-CN" sz="2400" dirty="0">
                <a:latin typeface="+mn-ea"/>
                <a:ea typeface="+mn-ea"/>
              </a:rPr>
              <a:t>1.3</a:t>
            </a:r>
            <a:r>
              <a:rPr lang="zh-CN" altLang="en-US" sz="2400" dirty="0">
                <a:latin typeface="+mn-ea"/>
                <a:ea typeface="+mn-ea"/>
              </a:rPr>
              <a:t>算法分析常用的数学</a:t>
            </a:r>
            <a:r>
              <a:rPr lang="zh-CN" altLang="en-US" sz="2400" dirty="0" smtClean="0">
                <a:latin typeface="+mn-ea"/>
                <a:ea typeface="+mn-ea"/>
              </a:rPr>
              <a:t>知识</a:t>
            </a:r>
            <a:endParaRPr lang="en-US" altLang="zh-CN" sz="2400" dirty="0" smtClean="0">
              <a:latin typeface="+mn-ea"/>
              <a:ea typeface="+mn-ea"/>
            </a:endParaRPr>
          </a:p>
          <a:p>
            <a:pPr marL="0" lvl="1" indent="-419100" eaLnBrk="1" hangingPunct="1">
              <a:buFontTx/>
              <a:buNone/>
              <a:defRPr/>
            </a:pPr>
            <a:r>
              <a:rPr lang="en-US" altLang="zh-CN" sz="2400" dirty="0">
                <a:latin typeface="+mn-ea"/>
                <a:ea typeface="+mn-ea"/>
              </a:rPr>
              <a:t>1.4</a:t>
            </a:r>
            <a:r>
              <a:rPr lang="zh-CN" altLang="en-US" sz="2400" dirty="0">
                <a:latin typeface="+mn-ea"/>
                <a:ea typeface="+mn-ea"/>
              </a:rPr>
              <a:t>数据结构的表示、操作算法及分析</a:t>
            </a:r>
            <a:endParaRPr lang="zh-CN" altLang="en-US" sz="2400" dirty="0" smtClean="0">
              <a:latin typeface="+mn-ea"/>
              <a:ea typeface="+mn-ea"/>
            </a:endParaRPr>
          </a:p>
        </p:txBody>
      </p:sp>
      <p:pic>
        <p:nvPicPr>
          <p:cNvPr id="11269" name="Picture 4" descr="j019538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0425" y="260350"/>
            <a:ext cx="1231900" cy="125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3233680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11267" name="Rectangle 2"/>
          <p:cNvSpPr>
            <a:spLocks noGrp="1" noChangeArrowheads="1"/>
          </p:cNvSpPr>
          <p:nvPr>
            <p:ph type="title"/>
          </p:nvPr>
        </p:nvSpPr>
        <p:spPr/>
        <p:txBody>
          <a:bodyPr/>
          <a:lstStyle/>
          <a:p>
            <a:pPr eaLnBrk="1" hangingPunct="1"/>
            <a:r>
              <a:rPr lang="zh-CN" altLang="en-US" b="0" dirty="0" smtClean="0"/>
              <a:t>主要内容</a:t>
            </a:r>
            <a:endParaRPr lang="en-US" altLang="zh-CN" b="0" dirty="0" smtClean="0"/>
          </a:p>
        </p:txBody>
      </p:sp>
      <p:sp>
        <p:nvSpPr>
          <p:cNvPr id="8196" name="Rectangle 3"/>
          <p:cNvSpPr>
            <a:spLocks noGrp="1" noChangeArrowheads="1"/>
          </p:cNvSpPr>
          <p:nvPr>
            <p:ph type="body" idx="1"/>
          </p:nvPr>
        </p:nvSpPr>
        <p:spPr>
          <a:xfrm>
            <a:off x="900113" y="1279525"/>
            <a:ext cx="7786687" cy="4525963"/>
          </a:xfrm>
        </p:spPr>
        <p:txBody>
          <a:bodyPr/>
          <a:lstStyle/>
          <a:p>
            <a:pPr marL="0" lvl="1" indent="-419100" eaLnBrk="1" hangingPunct="1">
              <a:buFontTx/>
              <a:buNone/>
              <a:defRPr/>
            </a:pPr>
            <a:r>
              <a:rPr lang="en-US" altLang="zh-CN" sz="2400" dirty="0">
                <a:latin typeface="+mn-ea"/>
                <a:ea typeface="+mn-ea"/>
              </a:rPr>
              <a:t>1.2</a:t>
            </a:r>
            <a:r>
              <a:rPr lang="zh-CN" altLang="en-US" sz="2400" dirty="0">
                <a:latin typeface="+mn-ea"/>
                <a:ea typeface="+mn-ea"/>
              </a:rPr>
              <a:t>算法分析基础</a:t>
            </a:r>
          </a:p>
          <a:p>
            <a:pPr marL="0" lvl="1" indent="419100" eaLnBrk="1" hangingPunct="1">
              <a:buFontTx/>
              <a:buNone/>
              <a:defRPr/>
            </a:pPr>
            <a:r>
              <a:rPr lang="en-US" altLang="zh-CN" sz="2400" dirty="0" smtClean="0">
                <a:latin typeface="+mn-ea"/>
                <a:ea typeface="+mn-ea"/>
              </a:rPr>
              <a:t>1.2.1 </a:t>
            </a:r>
            <a:r>
              <a:rPr lang="zh-CN" altLang="en-US" sz="2400" dirty="0">
                <a:latin typeface="+mn-ea"/>
                <a:ea typeface="+mn-ea"/>
              </a:rPr>
              <a:t>算法分析的目的</a:t>
            </a:r>
          </a:p>
          <a:p>
            <a:pPr marL="0" lvl="1" indent="419100" eaLnBrk="1" hangingPunct="1">
              <a:buFontTx/>
              <a:buNone/>
              <a:defRPr/>
            </a:pPr>
            <a:r>
              <a:rPr lang="en-US" altLang="zh-CN" sz="2400" dirty="0">
                <a:latin typeface="+mn-ea"/>
                <a:ea typeface="+mn-ea"/>
              </a:rPr>
              <a:t>1.2.2 </a:t>
            </a:r>
            <a:r>
              <a:rPr lang="zh-CN" altLang="en-US" sz="2400" dirty="0">
                <a:latin typeface="+mn-ea"/>
                <a:ea typeface="+mn-ea"/>
              </a:rPr>
              <a:t>算法分析的基本方法</a:t>
            </a:r>
          </a:p>
          <a:p>
            <a:pPr marL="0" lvl="1" indent="419100" eaLnBrk="1" hangingPunct="1">
              <a:buFontTx/>
              <a:buNone/>
              <a:defRPr/>
            </a:pPr>
            <a:r>
              <a:rPr lang="en-US" altLang="zh-CN" sz="2400" dirty="0">
                <a:latin typeface="+mn-ea"/>
                <a:ea typeface="+mn-ea"/>
              </a:rPr>
              <a:t>1.2.3 </a:t>
            </a:r>
            <a:r>
              <a:rPr lang="zh-CN" altLang="en-US" sz="2400" dirty="0">
                <a:latin typeface="+mn-ea"/>
                <a:ea typeface="+mn-ea"/>
              </a:rPr>
              <a:t>时间复杂度</a:t>
            </a:r>
          </a:p>
          <a:p>
            <a:pPr marL="0" lvl="1" indent="419100" eaLnBrk="1" hangingPunct="1">
              <a:buFontTx/>
              <a:buNone/>
              <a:defRPr/>
            </a:pPr>
            <a:r>
              <a:rPr lang="en-US" altLang="zh-CN" sz="2400" dirty="0">
                <a:latin typeface="+mn-ea"/>
                <a:ea typeface="+mn-ea"/>
              </a:rPr>
              <a:t>1.2.4 </a:t>
            </a:r>
            <a:r>
              <a:rPr lang="zh-CN" altLang="en-US" sz="2400" dirty="0">
                <a:latin typeface="+mn-ea"/>
                <a:ea typeface="+mn-ea"/>
              </a:rPr>
              <a:t>空间复杂度</a:t>
            </a:r>
          </a:p>
          <a:p>
            <a:pPr marL="0" lvl="1" indent="419100" eaLnBrk="1" hangingPunct="1">
              <a:buFontTx/>
              <a:buNone/>
              <a:defRPr/>
            </a:pPr>
            <a:r>
              <a:rPr lang="en-US" altLang="zh-CN" sz="2400" dirty="0" smtClean="0">
                <a:latin typeface="+mn-ea"/>
                <a:ea typeface="+mn-ea"/>
              </a:rPr>
              <a:t>1.2.5 </a:t>
            </a:r>
            <a:r>
              <a:rPr lang="zh-CN" altLang="en-US" sz="2400" dirty="0">
                <a:latin typeface="+mn-ea"/>
                <a:ea typeface="+mn-ea"/>
              </a:rPr>
              <a:t>什么是最优算法</a:t>
            </a:r>
          </a:p>
          <a:p>
            <a:pPr marL="0" lvl="1" indent="419100" eaLnBrk="1" hangingPunct="1">
              <a:buFontTx/>
              <a:buNone/>
              <a:defRPr/>
            </a:pPr>
            <a:r>
              <a:rPr lang="en-US" altLang="zh-CN" sz="2400" dirty="0" smtClean="0">
                <a:latin typeface="+mn-ea"/>
                <a:ea typeface="+mn-ea"/>
              </a:rPr>
              <a:t>1.2.6 </a:t>
            </a:r>
            <a:r>
              <a:rPr lang="zh-CN" altLang="en-US" sz="2400" dirty="0">
                <a:latin typeface="+mn-ea"/>
                <a:ea typeface="+mn-ea"/>
              </a:rPr>
              <a:t>算法正确性证明方法</a:t>
            </a:r>
            <a:endParaRPr lang="zh-CN" altLang="en-US" sz="2400" dirty="0" smtClean="0">
              <a:latin typeface="+mn-ea"/>
              <a:ea typeface="+mn-ea"/>
            </a:endParaRPr>
          </a:p>
        </p:txBody>
      </p:sp>
      <p:pic>
        <p:nvPicPr>
          <p:cNvPr id="11269" name="Picture 4" descr="j019538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0425" y="260350"/>
            <a:ext cx="1231900" cy="125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1910892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latin typeface="+mn-ea"/>
              </a:rPr>
              <a:t>1.2.1 </a:t>
            </a:r>
            <a:r>
              <a:rPr lang="zh-CN" altLang="en-US" dirty="0">
                <a:latin typeface="+mn-ea"/>
              </a:rPr>
              <a:t>算法分析的</a:t>
            </a:r>
            <a:r>
              <a:rPr lang="zh-CN" altLang="en-US" dirty="0" smtClean="0">
                <a:latin typeface="+mn-ea"/>
              </a:rPr>
              <a:t>目的</a:t>
            </a:r>
            <a:endParaRPr lang="zh-CN" altLang="en-US" dirty="0"/>
          </a:p>
        </p:txBody>
      </p:sp>
      <p:sp>
        <p:nvSpPr>
          <p:cNvPr id="3" name="内容占位符 2"/>
          <p:cNvSpPr>
            <a:spLocks noGrp="1"/>
          </p:cNvSpPr>
          <p:nvPr>
            <p:ph idx="1"/>
          </p:nvPr>
        </p:nvSpPr>
        <p:spPr/>
        <p:txBody>
          <a:bodyPr/>
          <a:lstStyle/>
          <a:p>
            <a:pPr latinLnBrk="1">
              <a:lnSpc>
                <a:spcPct val="150000"/>
              </a:lnSpc>
            </a:pPr>
            <a:r>
              <a:rPr lang="zh-CN" altLang="en-US" b="1" dirty="0"/>
              <a:t>算法分析</a:t>
            </a:r>
            <a:r>
              <a:rPr lang="zh-CN" altLang="en-US" dirty="0"/>
              <a:t>是对一个算法需要多少计算时间和存储空间作定量的分析</a:t>
            </a:r>
            <a:r>
              <a:rPr lang="zh-CN" altLang="en-US" dirty="0" smtClean="0"/>
              <a:t>。</a:t>
            </a:r>
            <a:r>
              <a:rPr lang="zh-CN" altLang="en-US" dirty="0"/>
              <a:t>一般计算出相应的数量级，常用时间复杂度和空间复杂度</a:t>
            </a:r>
            <a:r>
              <a:rPr lang="zh-CN" altLang="en-US" dirty="0" smtClean="0"/>
              <a:t>表示。</a:t>
            </a:r>
            <a:endParaRPr lang="en-US" altLang="zh-CN" dirty="0" smtClean="0"/>
          </a:p>
          <a:p>
            <a:pPr latinLnBrk="1">
              <a:lnSpc>
                <a:spcPct val="150000"/>
              </a:lnSpc>
            </a:pPr>
            <a:r>
              <a:rPr lang="zh-CN" altLang="en-US" b="1" dirty="0" smtClean="0"/>
              <a:t>目的</a:t>
            </a:r>
            <a:r>
              <a:rPr lang="zh-CN" altLang="en-US" dirty="0"/>
              <a:t>是评价算法的</a:t>
            </a:r>
            <a:r>
              <a:rPr lang="zh-CN" altLang="en-US" dirty="0" smtClean="0"/>
              <a:t>效率以求改进。要</a:t>
            </a:r>
            <a:r>
              <a:rPr lang="zh-CN" altLang="en-US" dirty="0"/>
              <a:t>降低算法的时间复杂度和空间复杂度，提高算法的执行</a:t>
            </a:r>
            <a:r>
              <a:rPr lang="zh-CN" altLang="en-US" dirty="0" smtClean="0"/>
              <a:t>效率。</a:t>
            </a:r>
            <a:endParaRPr lang="zh-CN" altLang="en-US" dirty="0"/>
          </a:p>
          <a:p>
            <a:pPr marL="0" indent="0">
              <a:buNone/>
            </a:pPr>
            <a:endParaRPr lang="zh-CN" altLang="en-US" dirty="0"/>
          </a:p>
        </p:txBody>
      </p:sp>
      <p:sp>
        <p:nvSpPr>
          <p:cNvPr id="4" name="页脚占位符 3"/>
          <p:cNvSpPr>
            <a:spLocks noGrp="1"/>
          </p:cNvSpPr>
          <p:nvPr>
            <p:ph type="ftr" sz="quarter" idx="10"/>
          </p:nvPr>
        </p:nvSpPr>
        <p:spPr/>
        <p:txBody>
          <a:bodyPr/>
          <a:lstStyle/>
          <a:p>
            <a:pPr>
              <a:defRPr/>
            </a:pPr>
            <a:r>
              <a:rPr lang="en-US" altLang="zh-CN" smtClean="0"/>
              <a:t>Algorithms Design Techniques and Analysis</a:t>
            </a:r>
            <a:endParaRPr lang="en-US" altLang="zh-CN"/>
          </a:p>
        </p:txBody>
      </p:sp>
    </p:spTree>
    <p:extLst>
      <p:ext uri="{BB962C8B-B14F-4D97-AF65-F5344CB8AC3E}">
        <p14:creationId xmlns:p14="http://schemas.microsoft.com/office/powerpoint/2010/main" val="120808531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ea"/>
              </a:rPr>
              <a:t>1.2.2 </a:t>
            </a:r>
            <a:r>
              <a:rPr lang="zh-CN" altLang="en-US" dirty="0">
                <a:latin typeface="+mn-ea"/>
              </a:rPr>
              <a:t>算法分析的基本</a:t>
            </a:r>
            <a:r>
              <a:rPr lang="zh-CN" altLang="en-US" dirty="0" smtClean="0">
                <a:latin typeface="+mn-ea"/>
              </a:rPr>
              <a:t>方法</a:t>
            </a:r>
            <a:endParaRPr lang="zh-CN" altLang="en-US" dirty="0"/>
          </a:p>
        </p:txBody>
      </p:sp>
      <p:sp>
        <p:nvSpPr>
          <p:cNvPr id="3" name="内容占位符 2"/>
          <p:cNvSpPr>
            <a:spLocks noGrp="1"/>
          </p:cNvSpPr>
          <p:nvPr>
            <p:ph idx="1"/>
          </p:nvPr>
        </p:nvSpPr>
        <p:spPr/>
        <p:txBody>
          <a:bodyPr/>
          <a:lstStyle/>
          <a:p>
            <a:pPr marL="0" indent="0" eaLnBrk="1" hangingPunct="1">
              <a:defRPr/>
            </a:pPr>
            <a:r>
              <a:rPr lang="zh-CN" altLang="en-US" dirty="0">
                <a:solidFill>
                  <a:srgbClr val="FF0000"/>
                </a:solidFill>
              </a:rPr>
              <a:t>事前分析</a:t>
            </a:r>
            <a:r>
              <a:rPr lang="zh-CN" altLang="en-US" dirty="0"/>
              <a:t>：就算法本身，通过对其执行性能的理论分析，得出关于算法特性</a:t>
            </a:r>
            <a:r>
              <a:rPr lang="en-US" altLang="zh-CN" dirty="0"/>
              <a:t>——</a:t>
            </a:r>
            <a:r>
              <a:rPr lang="zh-CN" altLang="en-US" dirty="0"/>
              <a:t>时间和空间的一个特征函数（</a:t>
            </a:r>
            <a:r>
              <a:rPr lang="el-GR" altLang="zh-CN" dirty="0"/>
              <a:t>Ο</a:t>
            </a:r>
            <a:r>
              <a:rPr lang="zh-CN" altLang="el-GR" dirty="0"/>
              <a:t>、</a:t>
            </a:r>
            <a:r>
              <a:rPr lang="el-GR" altLang="zh-CN" dirty="0"/>
              <a:t>Ω</a:t>
            </a:r>
            <a:r>
              <a:rPr lang="zh-CN" altLang="el-GR" dirty="0"/>
              <a:t>）</a:t>
            </a:r>
            <a:r>
              <a:rPr lang="en-US" altLang="zh-CN" dirty="0"/>
              <a:t>——</a:t>
            </a:r>
            <a:r>
              <a:rPr lang="zh-CN" altLang="en-US" dirty="0"/>
              <a:t>与计算机软硬件没有直接关系。</a:t>
            </a:r>
            <a:endParaRPr lang="en-US" altLang="zh-CN" dirty="0"/>
          </a:p>
          <a:p>
            <a:pPr marL="0" indent="0" eaLnBrk="1" hangingPunct="1">
              <a:defRPr/>
            </a:pPr>
            <a:endParaRPr lang="zh-CN" altLang="en-US" dirty="0"/>
          </a:p>
          <a:p>
            <a:pPr marL="0" indent="0" eaLnBrk="1" hangingPunct="1">
              <a:defRPr/>
            </a:pPr>
            <a:r>
              <a:rPr lang="zh-CN" altLang="en-US" dirty="0">
                <a:solidFill>
                  <a:srgbClr val="FF0000"/>
                </a:solidFill>
              </a:rPr>
              <a:t>事后测试</a:t>
            </a:r>
            <a:r>
              <a:rPr lang="zh-CN" altLang="en-US" dirty="0"/>
              <a:t>：将算法编制成程序后放到计算机上运行，收集其执行时间和空间占用等统计资料，进行分析判断</a:t>
            </a:r>
            <a:r>
              <a:rPr lang="en-US" altLang="zh-CN" dirty="0"/>
              <a:t>——</a:t>
            </a:r>
            <a:r>
              <a:rPr lang="zh-CN" altLang="en-US" dirty="0"/>
              <a:t>直接与物理实现有关。</a:t>
            </a:r>
          </a:p>
          <a:p>
            <a:pPr>
              <a:spcBef>
                <a:spcPct val="50000"/>
              </a:spcBef>
              <a:defRPr/>
            </a:pPr>
            <a:endParaRPr lang="zh-CN" altLang="en-US" dirty="0"/>
          </a:p>
          <a:p>
            <a:endParaRPr lang="zh-CN" altLang="en-US" dirty="0"/>
          </a:p>
        </p:txBody>
      </p:sp>
      <p:sp>
        <p:nvSpPr>
          <p:cNvPr id="4" name="页脚占位符 3"/>
          <p:cNvSpPr>
            <a:spLocks noGrp="1"/>
          </p:cNvSpPr>
          <p:nvPr>
            <p:ph type="ftr" sz="quarter" idx="10"/>
          </p:nvPr>
        </p:nvSpPr>
        <p:spPr/>
        <p:txBody>
          <a:bodyPr/>
          <a:lstStyle/>
          <a:p>
            <a:pPr>
              <a:defRPr/>
            </a:pPr>
            <a:r>
              <a:rPr lang="en-US" altLang="zh-CN" smtClean="0"/>
              <a:t>Algorithms Design Techniques and Analysis</a:t>
            </a:r>
            <a:endParaRPr lang="en-US" altLang="zh-CN"/>
          </a:p>
        </p:txBody>
      </p:sp>
    </p:spTree>
    <p:extLst>
      <p:ext uri="{BB962C8B-B14F-4D97-AF65-F5344CB8AC3E}">
        <p14:creationId xmlns:p14="http://schemas.microsoft.com/office/powerpoint/2010/main" val="26343568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48131" name="Rectangle 2"/>
          <p:cNvSpPr>
            <a:spLocks noGrp="1" noChangeArrowheads="1"/>
          </p:cNvSpPr>
          <p:nvPr>
            <p:ph type="title"/>
          </p:nvPr>
        </p:nvSpPr>
        <p:spPr/>
        <p:txBody>
          <a:bodyPr/>
          <a:lstStyle/>
          <a:p>
            <a:pPr eaLnBrk="1" hangingPunct="1"/>
            <a:r>
              <a:rPr lang="en-US" altLang="zh-CN" dirty="0">
                <a:latin typeface="+mn-ea"/>
              </a:rPr>
              <a:t>1.2.3 </a:t>
            </a:r>
            <a:r>
              <a:rPr lang="zh-CN" altLang="en-US" dirty="0">
                <a:latin typeface="+mn-ea"/>
              </a:rPr>
              <a:t>时间复杂度</a:t>
            </a:r>
            <a:endParaRPr lang="en-US" altLang="zh-CN" dirty="0" smtClean="0"/>
          </a:p>
        </p:txBody>
      </p:sp>
      <p:sp>
        <p:nvSpPr>
          <p:cNvPr id="48132" name="Rectangle 3"/>
          <p:cNvSpPr>
            <a:spLocks noGrp="1" noChangeArrowheads="1"/>
          </p:cNvSpPr>
          <p:nvPr>
            <p:ph type="body" idx="1"/>
          </p:nvPr>
        </p:nvSpPr>
        <p:spPr/>
        <p:txBody>
          <a:bodyPr/>
          <a:lstStyle/>
          <a:p>
            <a:pPr eaLnBrk="1" hangingPunct="1">
              <a:defRPr/>
            </a:pPr>
            <a:r>
              <a:rPr lang="zh-CN" altLang="en-US" dirty="0" smtClean="0"/>
              <a:t>实际上，</a:t>
            </a:r>
            <a:r>
              <a:rPr lang="zh-CN" dirty="0" smtClean="0"/>
              <a:t>我们</a:t>
            </a:r>
            <a:r>
              <a:rPr lang="zh-CN" dirty="0" smtClean="0">
                <a:solidFill>
                  <a:srgbClr val="FF0000"/>
                </a:solidFill>
              </a:rPr>
              <a:t>不需要精确</a:t>
            </a:r>
            <a:r>
              <a:rPr lang="zh-CN" dirty="0" smtClean="0"/>
              <a:t>的时间评估算法的效率，我们感兴趣的是</a:t>
            </a:r>
            <a:r>
              <a:rPr lang="zh-CN" altLang="en-US" dirty="0" smtClean="0"/>
              <a:t>输入数据量很大情况下</a:t>
            </a:r>
            <a:r>
              <a:rPr lang="zh-CN" dirty="0" smtClean="0"/>
              <a:t>的运行时间，</a:t>
            </a:r>
            <a:r>
              <a:rPr lang="zh-CN" altLang="en-US" dirty="0" smtClean="0"/>
              <a:t>因此，通常</a:t>
            </a:r>
            <a:r>
              <a:rPr lang="zh-CN" dirty="0" smtClean="0"/>
              <a:t>我们使用</a:t>
            </a:r>
            <a:r>
              <a:rPr lang="zh-CN" altLang="en-US" dirty="0" smtClean="0"/>
              <a:t>运行时间的</a:t>
            </a:r>
            <a:r>
              <a:rPr lang="zh-CN" dirty="0" smtClean="0"/>
              <a:t>增长</a:t>
            </a:r>
            <a:r>
              <a:rPr lang="zh-CN" altLang="en-US" dirty="0" smtClean="0"/>
              <a:t>速率和</a:t>
            </a:r>
            <a:r>
              <a:rPr lang="zh-CN" dirty="0" smtClean="0"/>
              <a:t>或增长</a:t>
            </a:r>
            <a:r>
              <a:rPr lang="zh-CN" altLang="en-US" dirty="0" smtClean="0"/>
              <a:t>趋势来评估效率</a:t>
            </a:r>
            <a:r>
              <a:rPr lang="zh-CN" dirty="0" smtClean="0"/>
              <a:t>。</a:t>
            </a:r>
            <a:r>
              <a:rPr lang="en-US" altLang="zh-CN" dirty="0" smtClean="0"/>
              <a:t> </a:t>
            </a:r>
          </a:p>
          <a:p>
            <a:pPr eaLnBrk="1" hangingPunct="1">
              <a:defRPr/>
            </a:pPr>
            <a:endParaRPr lang="en-US" altLang="zh-CN" dirty="0" smtClean="0"/>
          </a:p>
          <a:p>
            <a:pPr eaLnBrk="1" hangingPunct="1">
              <a:defRPr/>
            </a:pPr>
            <a:endParaRPr lang="en-US" altLang="zh-CN" sz="500" dirty="0" smtClean="0"/>
          </a:p>
          <a:p>
            <a:pPr lvl="1" eaLnBrk="1" hangingPunct="1">
              <a:defRPr/>
            </a:pPr>
            <a:r>
              <a:rPr lang="zh-CN" altLang="en-US" sz="2000" dirty="0" smtClean="0">
                <a:latin typeface="+mn-lt"/>
                <a:ea typeface="+mn-ea"/>
              </a:rPr>
              <a:t>例</a:t>
            </a:r>
            <a:r>
              <a:rPr lang="en-US" altLang="zh-CN" sz="2000" dirty="0" smtClean="0">
                <a:latin typeface="+mn-lt"/>
                <a:ea typeface="+mn-ea"/>
              </a:rPr>
              <a:t>: f(n)=n</a:t>
            </a:r>
            <a:r>
              <a:rPr lang="en-US" altLang="zh-CN" sz="2000" baseline="30000" dirty="0" smtClean="0">
                <a:latin typeface="+mn-lt"/>
                <a:ea typeface="+mn-ea"/>
              </a:rPr>
              <a:t>2</a:t>
            </a:r>
            <a:r>
              <a:rPr lang="en-US" altLang="zh-CN" sz="2000" dirty="0" smtClean="0">
                <a:latin typeface="+mn-lt"/>
                <a:ea typeface="+mn-ea"/>
              </a:rPr>
              <a:t>logn+10n</a:t>
            </a:r>
            <a:r>
              <a:rPr lang="en-US" altLang="zh-CN" sz="2000" baseline="30000" dirty="0" smtClean="0">
                <a:latin typeface="+mn-lt"/>
                <a:ea typeface="+mn-ea"/>
              </a:rPr>
              <a:t>2</a:t>
            </a:r>
            <a:r>
              <a:rPr lang="en-US" altLang="zh-CN" sz="2000" dirty="0" smtClean="0">
                <a:latin typeface="+mn-lt"/>
                <a:ea typeface="+mn-ea"/>
              </a:rPr>
              <a:t>+n, </a:t>
            </a:r>
            <a:r>
              <a:rPr lang="zh-CN" altLang="en-US" sz="2000" dirty="0" smtClean="0">
                <a:latin typeface="+mn-lt"/>
                <a:ea typeface="+mn-ea"/>
              </a:rPr>
              <a:t>运行时间</a:t>
            </a:r>
            <a:r>
              <a:rPr lang="en-US" altLang="zh-CN" sz="2000" dirty="0" smtClean="0">
                <a:latin typeface="+mn-lt"/>
                <a:ea typeface="+mn-ea"/>
              </a:rPr>
              <a:t>f(n)</a:t>
            </a:r>
            <a:r>
              <a:rPr lang="zh-CN" altLang="en-US" sz="2000" dirty="0" smtClean="0">
                <a:latin typeface="+mn-lt"/>
                <a:ea typeface="+mn-ea"/>
              </a:rPr>
              <a:t>是一个基于</a:t>
            </a:r>
            <a:r>
              <a:rPr lang="en-US" altLang="zh-CN" sz="2000" dirty="0" smtClean="0">
                <a:latin typeface="+mn-lt"/>
                <a:ea typeface="+mn-ea"/>
              </a:rPr>
              <a:t>n</a:t>
            </a:r>
            <a:r>
              <a:rPr lang="en-US" altLang="zh-CN" sz="2000" baseline="30000" dirty="0" smtClean="0">
                <a:latin typeface="+mn-lt"/>
                <a:ea typeface="+mn-ea"/>
              </a:rPr>
              <a:t>2</a:t>
            </a:r>
            <a:r>
              <a:rPr lang="en-US" altLang="zh-CN" sz="2000" dirty="0" smtClean="0">
                <a:latin typeface="+mn-lt"/>
                <a:ea typeface="+mn-ea"/>
              </a:rPr>
              <a:t>logn</a:t>
            </a:r>
            <a:r>
              <a:rPr lang="zh-CN" altLang="en-US" sz="2000" dirty="0" smtClean="0">
                <a:latin typeface="+mn-lt"/>
                <a:ea typeface="+mn-ea"/>
              </a:rPr>
              <a:t>增长的趋势</a:t>
            </a:r>
            <a:r>
              <a:rPr lang="en-US" altLang="zh-CN" sz="2000" dirty="0" smtClean="0">
                <a:latin typeface="+mn-lt"/>
                <a:ea typeface="+mn-ea"/>
              </a:rPr>
              <a:t>.</a:t>
            </a:r>
          </a:p>
          <a:p>
            <a:pPr lvl="1" eaLnBrk="1" hangingPunct="1">
              <a:defRPr/>
            </a:pPr>
            <a:endParaRPr lang="en-US" altLang="zh-CN" sz="500" dirty="0" smtClean="0">
              <a:latin typeface="Arial" pitchFamily="34" charset="0"/>
            </a:endParaRPr>
          </a:p>
          <a:p>
            <a:pPr eaLnBrk="1" hangingPunct="1">
              <a:defRPr/>
            </a:pPr>
            <a:r>
              <a:rPr lang="zh-CN" altLang="en-US" sz="2400" dirty="0" smtClean="0"/>
              <a:t>当</a:t>
            </a:r>
            <a:r>
              <a:rPr lang="zh-CN" sz="2400" dirty="0" smtClean="0"/>
              <a:t>我们</a:t>
            </a:r>
            <a:r>
              <a:rPr lang="zh-CN" altLang="en-US" sz="2400" dirty="0" smtClean="0"/>
              <a:t>设置了</a:t>
            </a:r>
            <a:r>
              <a:rPr lang="zh-CN" sz="2400" dirty="0" smtClean="0"/>
              <a:t>一个</a:t>
            </a:r>
            <a:r>
              <a:rPr lang="zh-CN" altLang="en-US" sz="2400" dirty="0" smtClean="0">
                <a:solidFill>
                  <a:srgbClr val="FF0000"/>
                </a:solidFill>
              </a:rPr>
              <a:t>包含</a:t>
            </a:r>
            <a:r>
              <a:rPr lang="zh-CN" sz="2400" dirty="0" smtClean="0">
                <a:solidFill>
                  <a:srgbClr val="FF0000"/>
                </a:solidFill>
              </a:rPr>
              <a:t>低阶项和</a:t>
            </a:r>
            <a:r>
              <a:rPr lang="zh-CN" altLang="en-US" sz="2400" dirty="0" smtClean="0">
                <a:solidFill>
                  <a:srgbClr val="FF0000"/>
                </a:solidFill>
              </a:rPr>
              <a:t>常量</a:t>
            </a:r>
            <a:r>
              <a:rPr lang="zh-CN" sz="2400" dirty="0" smtClean="0">
                <a:solidFill>
                  <a:srgbClr val="FF0000"/>
                </a:solidFill>
              </a:rPr>
              <a:t>的函数</a:t>
            </a:r>
            <a:r>
              <a:rPr lang="zh-CN" sz="2400" dirty="0" smtClean="0"/>
              <a:t>，</a:t>
            </a:r>
            <a:r>
              <a:rPr lang="zh-CN" altLang="en-US" sz="2400" dirty="0" smtClean="0"/>
              <a:t>用</a:t>
            </a:r>
            <a:r>
              <a:rPr lang="zh-CN" sz="2400" dirty="0" smtClean="0"/>
              <a:t>它</a:t>
            </a:r>
            <a:r>
              <a:rPr lang="zh-CN" altLang="en-US" sz="2400" dirty="0" smtClean="0"/>
              <a:t>来</a:t>
            </a:r>
            <a:r>
              <a:rPr lang="zh-CN" sz="2400" dirty="0" smtClean="0"/>
              <a:t>表示一个算法的运行时间，</a:t>
            </a:r>
            <a:r>
              <a:rPr lang="zh-CN" altLang="en-US" sz="2400" dirty="0" smtClean="0"/>
              <a:t>此时可以说</a:t>
            </a:r>
            <a:r>
              <a:rPr lang="zh-CN" sz="2400" dirty="0" smtClean="0"/>
              <a:t>，我们</a:t>
            </a:r>
            <a:r>
              <a:rPr lang="zh-CN" altLang="en-US" sz="2400" dirty="0" smtClean="0"/>
              <a:t>正在</a:t>
            </a:r>
            <a:r>
              <a:rPr lang="zh-CN" sz="2400" dirty="0" smtClean="0"/>
              <a:t>测量算法</a:t>
            </a:r>
            <a:r>
              <a:rPr lang="zh-CN" altLang="en-US" sz="2400" dirty="0" smtClean="0"/>
              <a:t>的</a:t>
            </a:r>
            <a:r>
              <a:rPr lang="zh-CN" sz="2400" dirty="0" smtClean="0"/>
              <a:t>渐近运行时间</a:t>
            </a:r>
            <a:r>
              <a:rPr lang="zh-CN" altLang="en-US" sz="2400" dirty="0" smtClean="0"/>
              <a:t>，也就是</a:t>
            </a:r>
            <a:r>
              <a:rPr lang="zh-CN" altLang="en-US" sz="2400" dirty="0" smtClean="0">
                <a:solidFill>
                  <a:srgbClr val="FF0000"/>
                </a:solidFill>
              </a:rPr>
              <a:t>渐进时间复杂度</a:t>
            </a:r>
            <a:r>
              <a:rPr lang="zh-CN" sz="2400" dirty="0" smtClean="0"/>
              <a:t>。</a:t>
            </a:r>
            <a:endParaRPr lang="en-US" altLang="zh-CN" sz="2400" dirty="0" smtClean="0"/>
          </a:p>
          <a:p>
            <a:pPr eaLnBrk="1" hangingPunct="1">
              <a:defRPr/>
            </a:pPr>
            <a:endParaRPr lang="en-US" altLang="zh-CN" sz="2200" dirty="0" smtClean="0"/>
          </a:p>
          <a:p>
            <a:pPr eaLnBrk="1" hangingPunct="1">
              <a:defRPr/>
            </a:pPr>
            <a:endParaRPr lang="en-US" altLang="zh-CN" sz="2200" dirty="0" smtClean="0"/>
          </a:p>
        </p:txBody>
      </p:sp>
      <p:pic>
        <p:nvPicPr>
          <p:cNvPr id="48133" name="Picture 4" descr="example"/>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31913" y="3357563"/>
            <a:ext cx="342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2148019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49155" name="Rectangle 2"/>
          <p:cNvSpPr>
            <a:spLocks noGrp="1" noChangeArrowheads="1"/>
          </p:cNvSpPr>
          <p:nvPr>
            <p:ph type="title"/>
          </p:nvPr>
        </p:nvSpPr>
        <p:spPr/>
        <p:txBody>
          <a:bodyPr/>
          <a:lstStyle/>
          <a:p>
            <a:pPr eaLnBrk="1" hangingPunct="1"/>
            <a:r>
              <a:rPr lang="en-US" altLang="zh-CN" dirty="0">
                <a:latin typeface="+mn-ea"/>
              </a:rPr>
              <a:t>1.2.3 </a:t>
            </a:r>
            <a:r>
              <a:rPr lang="zh-CN" altLang="en-US" dirty="0">
                <a:latin typeface="+mn-ea"/>
              </a:rPr>
              <a:t>时间复杂</a:t>
            </a:r>
            <a:r>
              <a:rPr lang="zh-CN" altLang="en-US" dirty="0" smtClean="0">
                <a:latin typeface="+mn-ea"/>
              </a:rPr>
              <a:t>度</a:t>
            </a:r>
            <a:r>
              <a:rPr lang="en-US" altLang="zh-CN" dirty="0" smtClean="0">
                <a:latin typeface="+mn-ea"/>
              </a:rPr>
              <a:t>——</a:t>
            </a:r>
            <a:r>
              <a:rPr lang="zh-CN" altLang="en-US" dirty="0" smtClean="0"/>
              <a:t>基本操作</a:t>
            </a:r>
            <a:endParaRPr lang="en-US" altLang="zh-CN" dirty="0" smtClean="0"/>
          </a:p>
        </p:txBody>
      </p:sp>
      <p:sp>
        <p:nvSpPr>
          <p:cNvPr id="67587" name="Rectangle 3"/>
          <p:cNvSpPr>
            <a:spLocks noGrp="1" noChangeArrowheads="1"/>
          </p:cNvSpPr>
          <p:nvPr>
            <p:ph type="body" idx="1"/>
          </p:nvPr>
        </p:nvSpPr>
        <p:spPr/>
        <p:txBody>
          <a:bodyPr/>
          <a:lstStyle/>
          <a:p>
            <a:pPr eaLnBrk="1" hangingPunct="1">
              <a:defRPr/>
            </a:pPr>
            <a:r>
              <a:rPr lang="zh-CN" altLang="en-US" dirty="0" smtClean="0"/>
              <a:t>例子</a:t>
            </a:r>
            <a:r>
              <a:rPr lang="en-US" altLang="zh-CN" dirty="0" smtClean="0"/>
              <a:t>: </a:t>
            </a:r>
            <a:endParaRPr lang="en-US" altLang="zh-CN" dirty="0"/>
          </a:p>
          <a:p>
            <a:pPr marL="0" indent="0" eaLnBrk="1" hangingPunct="1">
              <a:buNone/>
              <a:defRPr/>
            </a:pPr>
            <a:r>
              <a:rPr lang="zh-CN" altLang="en-US" dirty="0" smtClean="0"/>
              <a:t>   </a:t>
            </a:r>
            <a:r>
              <a:rPr lang="en-US" altLang="zh-CN" dirty="0" smtClean="0"/>
              <a:t>	</a:t>
            </a:r>
            <a:r>
              <a:rPr lang="zh-CN" altLang="en-US" dirty="0" smtClean="0"/>
              <a:t>算术运算</a:t>
            </a:r>
            <a:r>
              <a:rPr lang="en-US" altLang="zh-CN" dirty="0"/>
              <a:t>: +, -, *, </a:t>
            </a:r>
            <a:r>
              <a:rPr lang="en-US" altLang="zh-CN" dirty="0" smtClean="0"/>
              <a:t>/</a:t>
            </a:r>
          </a:p>
          <a:p>
            <a:pPr marL="0" indent="0" eaLnBrk="1" hangingPunct="1">
              <a:buNone/>
              <a:defRPr/>
            </a:pPr>
            <a:r>
              <a:rPr lang="en-US" altLang="zh-CN" dirty="0"/>
              <a:t>	</a:t>
            </a:r>
            <a:r>
              <a:rPr lang="zh-CN" altLang="en-US" dirty="0" smtClean="0"/>
              <a:t>比较</a:t>
            </a:r>
            <a:r>
              <a:rPr lang="zh-CN" altLang="en-US" dirty="0"/>
              <a:t>和逻辑运算：</a:t>
            </a:r>
            <a:r>
              <a:rPr lang="en-US" altLang="zh-CN" dirty="0"/>
              <a:t>=</a:t>
            </a:r>
            <a:r>
              <a:rPr lang="zh-CN" altLang="en-US" dirty="0"/>
              <a:t>，</a:t>
            </a:r>
            <a:r>
              <a:rPr lang="en-US" altLang="zh-CN" dirty="0"/>
              <a:t>&amp;</a:t>
            </a:r>
            <a:r>
              <a:rPr lang="zh-CN" altLang="en-US" dirty="0"/>
              <a:t>，</a:t>
            </a:r>
            <a:r>
              <a:rPr lang="en-US" altLang="zh-CN" dirty="0"/>
              <a:t>|</a:t>
            </a:r>
            <a:r>
              <a:rPr lang="zh-CN" altLang="en-US" dirty="0"/>
              <a:t>，</a:t>
            </a:r>
            <a:r>
              <a:rPr lang="en-US" altLang="zh-CN" dirty="0"/>
              <a:t>~</a:t>
            </a:r>
          </a:p>
          <a:p>
            <a:pPr marL="0" indent="0" eaLnBrk="1" hangingPunct="1">
              <a:buNone/>
              <a:defRPr/>
            </a:pPr>
            <a:r>
              <a:rPr lang="en-US" altLang="zh-CN" dirty="0" smtClean="0"/>
              <a:t>	</a:t>
            </a:r>
            <a:r>
              <a:rPr lang="zh-CN" altLang="en-US" dirty="0" smtClean="0"/>
              <a:t>分配</a:t>
            </a:r>
            <a:r>
              <a:rPr lang="zh-CN" altLang="en-US" dirty="0"/>
              <a:t>空间：</a:t>
            </a:r>
            <a:r>
              <a:rPr lang="en-US" altLang="zh-CN" dirty="0" smtClean="0"/>
              <a:t>new</a:t>
            </a:r>
          </a:p>
          <a:p>
            <a:pPr marL="0" indent="0" eaLnBrk="1" hangingPunct="1">
              <a:buNone/>
              <a:defRPr/>
            </a:pPr>
            <a:endParaRPr lang="en-US" altLang="zh-CN" dirty="0" smtClean="0"/>
          </a:p>
          <a:p>
            <a:pPr eaLnBrk="1" hangingPunct="1">
              <a:defRPr/>
            </a:pPr>
            <a:r>
              <a:rPr lang="zh-CN" altLang="en-US" sz="2500" dirty="0" smtClean="0">
                <a:latin typeface="+mn-lt"/>
                <a:ea typeface="+mn-ea"/>
                <a:cs typeface="+mn-cs"/>
              </a:rPr>
              <a:t>基本操作由计算机在一</a:t>
            </a:r>
            <a:r>
              <a:rPr lang="zh-CN" altLang="en-US" sz="2500" dirty="0" smtClean="0">
                <a:solidFill>
                  <a:srgbClr val="FF0000"/>
                </a:solidFill>
                <a:latin typeface="+mn-lt"/>
                <a:ea typeface="+mn-ea"/>
                <a:cs typeface="+mn-cs"/>
              </a:rPr>
              <a:t>固定的执行时间</a:t>
            </a:r>
            <a:r>
              <a:rPr lang="zh-CN" altLang="en-US" sz="2500" dirty="0" smtClean="0">
                <a:latin typeface="+mn-lt"/>
                <a:ea typeface="+mn-ea"/>
                <a:cs typeface="+mn-cs"/>
              </a:rPr>
              <a:t>（不操过某一上界）内完成，基本操作与输入数据的长度或者使用何种算法无关。</a:t>
            </a:r>
            <a:endParaRPr lang="en-US" altLang="zh-CN" sz="2500" dirty="0" smtClean="0">
              <a:latin typeface="+mn-lt"/>
              <a:ea typeface="+mn-ea"/>
              <a:cs typeface="+mn-cs"/>
            </a:endParaRPr>
          </a:p>
        </p:txBody>
      </p:sp>
    </p:spTree>
    <p:extLst>
      <p:ext uri="{BB962C8B-B14F-4D97-AF65-F5344CB8AC3E}">
        <p14:creationId xmlns:p14="http://schemas.microsoft.com/office/powerpoint/2010/main" val="104730426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50179" name="Rectangle 2"/>
          <p:cNvSpPr>
            <a:spLocks noGrp="1" noChangeArrowheads="1"/>
          </p:cNvSpPr>
          <p:nvPr>
            <p:ph type="title"/>
          </p:nvPr>
        </p:nvSpPr>
        <p:spPr/>
        <p:txBody>
          <a:bodyPr/>
          <a:lstStyle/>
          <a:p>
            <a:pPr eaLnBrk="1" hangingPunct="1"/>
            <a:r>
              <a:rPr lang="en-US" altLang="zh-CN" dirty="0">
                <a:latin typeface="+mn-ea"/>
              </a:rPr>
              <a:t>1.2.3 </a:t>
            </a:r>
            <a:r>
              <a:rPr lang="zh-CN" altLang="en-US" dirty="0">
                <a:latin typeface="+mn-ea"/>
              </a:rPr>
              <a:t>时间复杂度</a:t>
            </a:r>
            <a:r>
              <a:rPr lang="en-US" altLang="zh-CN" dirty="0">
                <a:latin typeface="+mn-ea"/>
              </a:rPr>
              <a:t>——</a:t>
            </a:r>
            <a:r>
              <a:rPr lang="zh-CN" altLang="en-US" dirty="0" smtClean="0"/>
              <a:t>频度</a:t>
            </a:r>
            <a:endParaRPr lang="en-US" altLang="zh-CN" dirty="0" smtClean="0"/>
          </a:p>
        </p:txBody>
      </p:sp>
      <p:sp>
        <p:nvSpPr>
          <p:cNvPr id="50180" name="Rectangle 3"/>
          <p:cNvSpPr>
            <a:spLocks noGrp="1" noChangeArrowheads="1"/>
          </p:cNvSpPr>
          <p:nvPr>
            <p:ph type="body" idx="1"/>
          </p:nvPr>
        </p:nvSpPr>
        <p:spPr/>
        <p:txBody>
          <a:bodyPr/>
          <a:lstStyle/>
          <a:p>
            <a:pPr eaLnBrk="1" hangingPunct="1">
              <a:lnSpc>
                <a:spcPct val="90000"/>
              </a:lnSpc>
            </a:pPr>
            <a:r>
              <a:rPr lang="zh-CN" altLang="en-US" dirty="0"/>
              <a:t>频度</a:t>
            </a:r>
            <a:r>
              <a:rPr lang="zh-CN" altLang="en-US" dirty="0" smtClean="0"/>
              <a:t>定义</a:t>
            </a:r>
            <a:r>
              <a:rPr lang="zh-CN" altLang="en-US" dirty="0"/>
              <a:t>：</a:t>
            </a:r>
            <a:r>
              <a:rPr lang="zh-CN" altLang="en-US" dirty="0" smtClean="0"/>
              <a:t>算法中语句或运算的执行次数。</a:t>
            </a:r>
            <a:endParaRPr lang="en-US" altLang="zh-CN" dirty="0" smtClean="0"/>
          </a:p>
          <a:p>
            <a:pPr eaLnBrk="1" hangingPunct="1">
              <a:lnSpc>
                <a:spcPct val="90000"/>
              </a:lnSpc>
            </a:pPr>
            <a:r>
              <a:rPr lang="zh-CN" altLang="en-US" dirty="0" smtClean="0"/>
              <a:t>例子：</a:t>
            </a:r>
          </a:p>
          <a:p>
            <a:pPr eaLnBrk="1" hangingPunct="1">
              <a:lnSpc>
                <a:spcPct val="90000"/>
              </a:lnSpc>
              <a:buFont typeface="Wingdings" panose="05000000000000000000" pitchFamily="2" charset="2"/>
              <a:buNone/>
            </a:pPr>
            <a:r>
              <a:rPr lang="zh-CN" altLang="en-US" dirty="0" smtClean="0"/>
              <a:t>   </a:t>
            </a:r>
            <a:r>
              <a:rPr lang="en-US" altLang="zh-CN" dirty="0" smtClean="0"/>
              <a:t>x=</a:t>
            </a:r>
            <a:r>
              <a:rPr lang="en-US" altLang="zh-CN" dirty="0" err="1" smtClean="0"/>
              <a:t>x+y</a:t>
            </a:r>
            <a:r>
              <a:rPr lang="en-US" altLang="zh-CN" dirty="0" smtClean="0"/>
              <a:t>          for (</a:t>
            </a:r>
            <a:r>
              <a:rPr lang="en-US" altLang="zh-CN" dirty="0" err="1" smtClean="0"/>
              <a:t>i</a:t>
            </a:r>
            <a:r>
              <a:rPr lang="en-US" altLang="zh-CN" dirty="0" smtClean="0"/>
              <a:t> =</a:t>
            </a:r>
            <a:r>
              <a:rPr lang="en-US" altLang="zh-CN" dirty="0" err="1" smtClean="0"/>
              <a:t>1;i</a:t>
            </a:r>
            <a:r>
              <a:rPr lang="en-US" altLang="zh-CN" dirty="0" smtClean="0"/>
              <a:t>&lt;=</a:t>
            </a:r>
            <a:r>
              <a:rPr lang="en-US" altLang="zh-CN" dirty="0" err="1" smtClean="0"/>
              <a:t>n;i</a:t>
            </a:r>
            <a:r>
              <a:rPr lang="en-US" altLang="zh-CN" dirty="0" smtClean="0"/>
              <a:t>++)          for (</a:t>
            </a:r>
            <a:r>
              <a:rPr lang="en-US" altLang="zh-CN" dirty="0" err="1" smtClean="0"/>
              <a:t>i</a:t>
            </a:r>
            <a:r>
              <a:rPr lang="en-US" altLang="zh-CN" dirty="0" smtClean="0"/>
              <a:t> =</a:t>
            </a:r>
            <a:r>
              <a:rPr lang="en-US" altLang="zh-CN" dirty="0" err="1" smtClean="0"/>
              <a:t>1;i</a:t>
            </a:r>
            <a:r>
              <a:rPr lang="en-US" altLang="zh-CN" dirty="0" smtClean="0"/>
              <a:t>&lt;=</a:t>
            </a:r>
            <a:r>
              <a:rPr lang="en-US" altLang="zh-CN" dirty="0" err="1" smtClean="0"/>
              <a:t>n;i</a:t>
            </a:r>
            <a:r>
              <a:rPr lang="en-US" altLang="zh-CN" dirty="0" smtClean="0"/>
              <a:t>++) </a:t>
            </a:r>
          </a:p>
          <a:p>
            <a:pPr eaLnBrk="1" hangingPunct="1">
              <a:lnSpc>
                <a:spcPct val="90000"/>
              </a:lnSpc>
              <a:buFont typeface="Wingdings" panose="05000000000000000000" pitchFamily="2" charset="2"/>
              <a:buNone/>
            </a:pPr>
            <a:r>
              <a:rPr lang="en-US" altLang="zh-CN" dirty="0" smtClean="0"/>
              <a:t>                              x=</a:t>
            </a:r>
            <a:r>
              <a:rPr lang="en-US" altLang="zh-CN" dirty="0" err="1" smtClean="0"/>
              <a:t>x+y</a:t>
            </a:r>
            <a:r>
              <a:rPr lang="en-US" altLang="zh-CN" dirty="0" smtClean="0"/>
              <a:t>;                       for (j =</a:t>
            </a:r>
            <a:r>
              <a:rPr lang="en-US" altLang="zh-CN" dirty="0" err="1" smtClean="0"/>
              <a:t>1;j</a:t>
            </a:r>
            <a:r>
              <a:rPr lang="en-US" altLang="zh-CN" dirty="0" smtClean="0"/>
              <a:t>&lt;=</a:t>
            </a:r>
            <a:r>
              <a:rPr lang="en-US" altLang="zh-CN" dirty="0" err="1" smtClean="0"/>
              <a:t>n;j</a:t>
            </a:r>
            <a:r>
              <a:rPr lang="en-US" altLang="zh-CN" dirty="0" smtClean="0"/>
              <a:t>++) </a:t>
            </a:r>
          </a:p>
          <a:p>
            <a:pPr eaLnBrk="1" hangingPunct="1">
              <a:lnSpc>
                <a:spcPct val="90000"/>
              </a:lnSpc>
              <a:buFont typeface="Wingdings" panose="05000000000000000000" pitchFamily="2" charset="2"/>
              <a:buNone/>
            </a:pPr>
            <a:r>
              <a:rPr lang="en-US" altLang="zh-CN" dirty="0" smtClean="0"/>
              <a:t>                                                                                 x=</a:t>
            </a:r>
            <a:r>
              <a:rPr lang="en-US" altLang="zh-CN" dirty="0" err="1" smtClean="0"/>
              <a:t>x+y</a:t>
            </a:r>
            <a:r>
              <a:rPr lang="en-US" altLang="zh-CN" dirty="0" smtClean="0"/>
              <a:t>;</a:t>
            </a:r>
          </a:p>
          <a:p>
            <a:pPr eaLnBrk="1" hangingPunct="1">
              <a:lnSpc>
                <a:spcPct val="90000"/>
              </a:lnSpc>
              <a:buFont typeface="Wingdings" panose="05000000000000000000" pitchFamily="2" charset="2"/>
              <a:buNone/>
            </a:pPr>
            <a:r>
              <a:rPr lang="en-US" altLang="zh-CN" dirty="0" smtClean="0"/>
              <a:t>         (a)                       (b)                                   (c)</a:t>
            </a:r>
          </a:p>
          <a:p>
            <a:pPr eaLnBrk="1" hangingPunct="1">
              <a:lnSpc>
                <a:spcPct val="90000"/>
              </a:lnSpc>
            </a:pPr>
            <a:r>
              <a:rPr lang="zh-CN" altLang="en-US" dirty="0" smtClean="0"/>
              <a:t>分析：</a:t>
            </a:r>
          </a:p>
          <a:p>
            <a:pPr eaLnBrk="1" hangingPunct="1">
              <a:lnSpc>
                <a:spcPct val="90000"/>
              </a:lnSpc>
              <a:buFont typeface="Wingdings" panose="05000000000000000000" pitchFamily="2" charset="2"/>
              <a:buNone/>
            </a:pPr>
            <a:r>
              <a:rPr lang="zh-CN" altLang="en-US" dirty="0" smtClean="0"/>
              <a:t>     </a:t>
            </a:r>
            <a:r>
              <a:rPr lang="en-US" altLang="zh-CN" dirty="0" smtClean="0"/>
              <a:t>(a)</a:t>
            </a:r>
            <a:r>
              <a:rPr lang="zh-CN" altLang="en-US" dirty="0" smtClean="0"/>
              <a:t>： </a:t>
            </a:r>
            <a:r>
              <a:rPr lang="en-US" altLang="zh-CN" dirty="0" smtClean="0"/>
              <a:t>x=</a:t>
            </a:r>
            <a:r>
              <a:rPr lang="en-US" altLang="zh-CN" dirty="0" err="1" smtClean="0"/>
              <a:t>x+y</a:t>
            </a:r>
            <a:r>
              <a:rPr lang="zh-CN" altLang="en-US" dirty="0" smtClean="0"/>
              <a:t>执行了</a:t>
            </a:r>
            <a:r>
              <a:rPr lang="en-US" altLang="zh-CN" dirty="0" smtClean="0"/>
              <a:t>1</a:t>
            </a:r>
            <a:r>
              <a:rPr lang="zh-CN" altLang="en-US" dirty="0" smtClean="0"/>
              <a:t>次</a:t>
            </a:r>
          </a:p>
          <a:p>
            <a:pPr eaLnBrk="1" hangingPunct="1">
              <a:lnSpc>
                <a:spcPct val="90000"/>
              </a:lnSpc>
              <a:buFont typeface="Wingdings" panose="05000000000000000000" pitchFamily="2" charset="2"/>
              <a:buNone/>
            </a:pPr>
            <a:r>
              <a:rPr lang="zh-CN" altLang="en-US" dirty="0" smtClean="0"/>
              <a:t>     </a:t>
            </a:r>
            <a:r>
              <a:rPr lang="en-US" altLang="zh-CN" dirty="0" smtClean="0"/>
              <a:t>(b)</a:t>
            </a:r>
            <a:r>
              <a:rPr lang="zh-CN" altLang="en-US" dirty="0" smtClean="0"/>
              <a:t>： </a:t>
            </a:r>
            <a:r>
              <a:rPr lang="en-US" altLang="zh-CN" dirty="0" smtClean="0"/>
              <a:t>x=</a:t>
            </a:r>
            <a:r>
              <a:rPr lang="en-US" altLang="zh-CN" dirty="0" err="1" smtClean="0"/>
              <a:t>x+y</a:t>
            </a:r>
            <a:r>
              <a:rPr lang="zh-CN" altLang="en-US" dirty="0" smtClean="0"/>
              <a:t>执行了</a:t>
            </a:r>
            <a:r>
              <a:rPr lang="en-US" altLang="zh-CN" dirty="0" smtClean="0"/>
              <a:t>n</a:t>
            </a:r>
            <a:r>
              <a:rPr lang="zh-CN" altLang="en-US" dirty="0" smtClean="0"/>
              <a:t>次</a:t>
            </a:r>
          </a:p>
          <a:p>
            <a:pPr eaLnBrk="1" hangingPunct="1">
              <a:lnSpc>
                <a:spcPct val="90000"/>
              </a:lnSpc>
              <a:buFont typeface="Wingdings" panose="05000000000000000000" pitchFamily="2" charset="2"/>
              <a:buNone/>
            </a:pPr>
            <a:r>
              <a:rPr lang="zh-CN" altLang="en-US" dirty="0" smtClean="0"/>
              <a:t>     </a:t>
            </a:r>
            <a:r>
              <a:rPr lang="en-US" altLang="zh-CN" dirty="0" smtClean="0"/>
              <a:t>(c)</a:t>
            </a:r>
            <a:r>
              <a:rPr lang="zh-CN" altLang="en-US" dirty="0" smtClean="0"/>
              <a:t>： </a:t>
            </a:r>
            <a:r>
              <a:rPr lang="en-US" altLang="zh-CN" dirty="0" smtClean="0"/>
              <a:t>x=</a:t>
            </a:r>
            <a:r>
              <a:rPr lang="en-US" altLang="zh-CN" dirty="0" err="1" smtClean="0"/>
              <a:t>x+y</a:t>
            </a:r>
            <a:r>
              <a:rPr lang="zh-CN" altLang="en-US" dirty="0" smtClean="0"/>
              <a:t>执行了</a:t>
            </a:r>
            <a:r>
              <a:rPr lang="en-US" altLang="zh-CN" sz="2800" dirty="0" err="1" smtClean="0"/>
              <a:t>n</a:t>
            </a:r>
            <a:r>
              <a:rPr lang="en-US" altLang="zh-CN" sz="2800" baseline="30000" dirty="0" err="1" smtClean="0"/>
              <a:t>2</a:t>
            </a:r>
            <a:r>
              <a:rPr lang="zh-CN" altLang="en-US" dirty="0" smtClean="0"/>
              <a:t>次   </a:t>
            </a:r>
          </a:p>
        </p:txBody>
      </p:sp>
    </p:spTree>
    <p:extLst>
      <p:ext uri="{BB962C8B-B14F-4D97-AF65-F5344CB8AC3E}">
        <p14:creationId xmlns:p14="http://schemas.microsoft.com/office/powerpoint/2010/main" val="240443161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51203" name="Rectangle 2"/>
          <p:cNvSpPr>
            <a:spLocks noGrp="1" noChangeArrowheads="1"/>
          </p:cNvSpPr>
          <p:nvPr>
            <p:ph type="title"/>
          </p:nvPr>
        </p:nvSpPr>
        <p:spPr/>
        <p:txBody>
          <a:bodyPr/>
          <a:lstStyle/>
          <a:p>
            <a:pPr eaLnBrk="1" hangingPunct="1"/>
            <a:r>
              <a:rPr lang="en-US" altLang="zh-CN" dirty="0">
                <a:latin typeface="+mn-ea"/>
              </a:rPr>
              <a:t>1.2.3 </a:t>
            </a:r>
            <a:r>
              <a:rPr lang="zh-CN" altLang="en-US" dirty="0">
                <a:latin typeface="+mn-ea"/>
              </a:rPr>
              <a:t>时间复杂度</a:t>
            </a:r>
            <a:r>
              <a:rPr lang="en-US" altLang="zh-CN" dirty="0" smtClean="0">
                <a:latin typeface="+mn-ea"/>
              </a:rPr>
              <a:t>——</a:t>
            </a:r>
            <a:r>
              <a:rPr lang="zh-CN" altLang="en-US" dirty="0" smtClean="0"/>
              <a:t>构成</a:t>
            </a:r>
            <a:endParaRPr lang="en-US" altLang="zh-CN" dirty="0" smtClean="0"/>
          </a:p>
        </p:txBody>
      </p:sp>
      <p:sp>
        <p:nvSpPr>
          <p:cNvPr id="51204" name="Rectangle 3"/>
          <p:cNvSpPr>
            <a:spLocks noGrp="1" noChangeArrowheads="1"/>
          </p:cNvSpPr>
          <p:nvPr>
            <p:ph type="body" idx="1"/>
          </p:nvPr>
        </p:nvSpPr>
        <p:spPr/>
        <p:txBody>
          <a:bodyPr/>
          <a:lstStyle/>
          <a:p>
            <a:pPr eaLnBrk="1" hangingPunct="1"/>
            <a:r>
              <a:rPr lang="zh-CN" altLang="en-US" dirty="0" smtClean="0"/>
              <a:t>一个程序所占时间 </a:t>
            </a:r>
            <a:r>
              <a:rPr lang="en-US" altLang="zh-CN" dirty="0" smtClean="0"/>
              <a:t>T(P)=</a:t>
            </a:r>
            <a:r>
              <a:rPr lang="zh-CN" altLang="en-US" dirty="0" smtClean="0">
                <a:solidFill>
                  <a:srgbClr val="FF0000"/>
                </a:solidFill>
              </a:rPr>
              <a:t>编译时间</a:t>
            </a:r>
            <a:r>
              <a:rPr lang="en-US" altLang="zh-CN" dirty="0" smtClean="0">
                <a:solidFill>
                  <a:srgbClr val="FF0000"/>
                </a:solidFill>
              </a:rPr>
              <a:t>+</a:t>
            </a:r>
            <a:r>
              <a:rPr lang="zh-CN" altLang="en-US" dirty="0" smtClean="0">
                <a:solidFill>
                  <a:srgbClr val="FF0000"/>
                </a:solidFill>
              </a:rPr>
              <a:t>运行时间</a:t>
            </a:r>
            <a:r>
              <a:rPr lang="zh-CN" altLang="en-US" dirty="0" smtClean="0"/>
              <a:t>；</a:t>
            </a:r>
          </a:p>
          <a:p>
            <a:pPr eaLnBrk="1" hangingPunct="1"/>
            <a:r>
              <a:rPr lang="zh-CN" altLang="en-US" dirty="0" smtClean="0"/>
              <a:t> 编译时间与实例特征无关，而且，一般情况下，一个编译过的程序可以运行若干次，所以，人们主要关注的是</a:t>
            </a:r>
            <a:r>
              <a:rPr lang="zh-CN" altLang="en-US" dirty="0" smtClean="0">
                <a:solidFill>
                  <a:srgbClr val="FF0000"/>
                </a:solidFill>
              </a:rPr>
              <a:t>运行时间</a:t>
            </a:r>
            <a:r>
              <a:rPr lang="zh-CN" altLang="en-US" dirty="0" smtClean="0"/>
              <a:t>；记作</a:t>
            </a:r>
            <a:r>
              <a:rPr lang="en-US" altLang="zh-CN" b="1" dirty="0" err="1" smtClean="0">
                <a:solidFill>
                  <a:srgbClr val="002060"/>
                </a:solidFill>
                <a:latin typeface="楷体_GB2312" pitchFamily="49" charset="-122"/>
                <a:ea typeface="楷体_GB2312" pitchFamily="49" charset="-122"/>
              </a:rPr>
              <a:t>t</a:t>
            </a:r>
            <a:r>
              <a:rPr lang="en-US" altLang="zh-CN" b="1" baseline="-25000" dirty="0" err="1" smtClean="0">
                <a:solidFill>
                  <a:srgbClr val="002060"/>
                </a:solidFill>
                <a:latin typeface="楷体_GB2312" pitchFamily="49" charset="-122"/>
                <a:ea typeface="楷体_GB2312" pitchFamily="49" charset="-122"/>
              </a:rPr>
              <a:t>p</a:t>
            </a:r>
            <a:r>
              <a:rPr lang="en-US" altLang="zh-CN" dirty="0" smtClean="0"/>
              <a:t>(</a:t>
            </a:r>
            <a:r>
              <a:rPr lang="zh-CN" altLang="en-US" dirty="0" smtClean="0"/>
              <a:t>实例特征）</a:t>
            </a:r>
            <a:endParaRPr lang="en-US" altLang="zh-CN" dirty="0" smtClean="0"/>
          </a:p>
          <a:p>
            <a:pPr eaLnBrk="1" hangingPunct="1"/>
            <a:endParaRPr lang="zh-CN" altLang="en-US" dirty="0" smtClean="0"/>
          </a:p>
          <a:p>
            <a:pPr eaLnBrk="1" hangingPunct="1"/>
            <a:r>
              <a:rPr lang="zh-CN" altLang="en-US" dirty="0" smtClean="0"/>
              <a:t> 如果了解所用编译器的特征，就可以确定代码 </a:t>
            </a:r>
            <a:r>
              <a:rPr lang="en-US" altLang="zh-CN" dirty="0" smtClean="0"/>
              <a:t>P </a:t>
            </a:r>
            <a:r>
              <a:rPr lang="zh-CN" altLang="en-US" dirty="0" smtClean="0"/>
              <a:t>进行加、减、乘、除、比较、读、写等基本操作所需的时间，从而得到计算 </a:t>
            </a:r>
            <a:r>
              <a:rPr lang="en-US" altLang="zh-CN" b="1" dirty="0" err="1" smtClean="0">
                <a:solidFill>
                  <a:srgbClr val="002060"/>
                </a:solidFill>
                <a:latin typeface="楷体_GB2312" pitchFamily="49" charset="-122"/>
                <a:ea typeface="楷体_GB2312" pitchFamily="49" charset="-122"/>
              </a:rPr>
              <a:t>t</a:t>
            </a:r>
            <a:r>
              <a:rPr lang="en-US" altLang="zh-CN" b="1" baseline="-25000" dirty="0" err="1" smtClean="0">
                <a:solidFill>
                  <a:srgbClr val="002060"/>
                </a:solidFill>
                <a:latin typeface="楷体_GB2312" pitchFamily="49" charset="-122"/>
                <a:ea typeface="楷体_GB2312" pitchFamily="49" charset="-122"/>
              </a:rPr>
              <a:t>p</a:t>
            </a:r>
            <a:r>
              <a:rPr lang="en-US" altLang="zh-CN" dirty="0" smtClean="0">
                <a:solidFill>
                  <a:srgbClr val="002060"/>
                </a:solidFill>
              </a:rPr>
              <a:t> </a:t>
            </a:r>
            <a:r>
              <a:rPr lang="zh-CN" altLang="en-US" dirty="0" smtClean="0"/>
              <a:t>的公式。令 </a:t>
            </a:r>
            <a:r>
              <a:rPr lang="en-US" altLang="zh-CN" dirty="0" smtClean="0"/>
              <a:t>n </a:t>
            </a:r>
            <a:r>
              <a:rPr lang="zh-CN" altLang="en-US" dirty="0" smtClean="0"/>
              <a:t>代表实例特征（</a:t>
            </a:r>
            <a:r>
              <a:rPr lang="zh-CN" altLang="en-US" dirty="0" smtClean="0">
                <a:solidFill>
                  <a:srgbClr val="FF0000"/>
                </a:solidFill>
              </a:rPr>
              <a:t>这里主要是问题的规模</a:t>
            </a:r>
            <a:r>
              <a:rPr lang="zh-CN" altLang="en-US" dirty="0" smtClean="0"/>
              <a:t>），则有如下的计算公式：</a:t>
            </a:r>
          </a:p>
        </p:txBody>
      </p:sp>
    </p:spTree>
    <p:extLst>
      <p:ext uri="{BB962C8B-B14F-4D97-AF65-F5344CB8AC3E}">
        <p14:creationId xmlns:p14="http://schemas.microsoft.com/office/powerpoint/2010/main" val="92961636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52227" name="Rectangle 2"/>
          <p:cNvSpPr>
            <a:spLocks noGrp="1" noChangeArrowheads="1"/>
          </p:cNvSpPr>
          <p:nvPr>
            <p:ph type="title"/>
          </p:nvPr>
        </p:nvSpPr>
        <p:spPr/>
        <p:txBody>
          <a:bodyPr/>
          <a:lstStyle/>
          <a:p>
            <a:pPr eaLnBrk="1" hangingPunct="1"/>
            <a:r>
              <a:rPr lang="en-US" altLang="zh-CN" dirty="0">
                <a:latin typeface="+mn-ea"/>
              </a:rPr>
              <a:t>1.2.3 </a:t>
            </a:r>
            <a:r>
              <a:rPr lang="zh-CN" altLang="en-US" dirty="0">
                <a:latin typeface="+mn-ea"/>
              </a:rPr>
              <a:t>时间复杂度</a:t>
            </a:r>
            <a:r>
              <a:rPr lang="en-US" altLang="zh-CN" dirty="0">
                <a:latin typeface="+mn-ea"/>
              </a:rPr>
              <a:t>——</a:t>
            </a:r>
            <a:r>
              <a:rPr lang="zh-CN" altLang="en-US" dirty="0"/>
              <a:t>构成</a:t>
            </a:r>
            <a:endParaRPr lang="en-US" altLang="zh-CN" dirty="0" smtClean="0"/>
          </a:p>
        </p:txBody>
      </p:sp>
      <p:sp>
        <p:nvSpPr>
          <p:cNvPr id="52228" name="Rectangle 3"/>
          <p:cNvSpPr>
            <a:spLocks noGrp="1" noChangeArrowheads="1"/>
          </p:cNvSpPr>
          <p:nvPr>
            <p:ph type="body" idx="1"/>
          </p:nvPr>
        </p:nvSpPr>
        <p:spPr/>
        <p:txBody>
          <a:bodyPr/>
          <a:lstStyle/>
          <a:p>
            <a:pPr eaLnBrk="1" hangingPunct="1"/>
            <a:r>
              <a:rPr lang="en-US" altLang="zh-CN" b="1" dirty="0" err="1" smtClean="0">
                <a:solidFill>
                  <a:srgbClr val="002060"/>
                </a:solidFill>
                <a:latin typeface="楷体_GB2312" pitchFamily="49" charset="-122"/>
                <a:ea typeface="楷体_GB2312" pitchFamily="49" charset="-122"/>
              </a:rPr>
              <a:t>t</a:t>
            </a:r>
            <a:r>
              <a:rPr lang="en-US" altLang="zh-CN" b="1" baseline="-25000" dirty="0" err="1" smtClean="0">
                <a:solidFill>
                  <a:srgbClr val="002060"/>
                </a:solidFill>
                <a:latin typeface="楷体_GB2312" pitchFamily="49" charset="-122"/>
                <a:ea typeface="楷体_GB2312" pitchFamily="49" charset="-122"/>
              </a:rPr>
              <a:t>p</a:t>
            </a:r>
            <a:r>
              <a:rPr lang="en-US" altLang="zh-CN" dirty="0" smtClean="0"/>
              <a:t>(n)=</a:t>
            </a:r>
            <a:r>
              <a:rPr lang="en-US" altLang="zh-CN" dirty="0" err="1" smtClean="0"/>
              <a:t>caADD</a:t>
            </a:r>
            <a:r>
              <a:rPr lang="en-US" altLang="zh-CN" dirty="0" smtClean="0"/>
              <a:t>(n)+</a:t>
            </a:r>
            <a:r>
              <a:rPr lang="en-US" altLang="zh-CN" dirty="0" err="1" smtClean="0"/>
              <a:t>csSUB</a:t>
            </a:r>
            <a:r>
              <a:rPr lang="en-US" altLang="zh-CN" dirty="0" smtClean="0"/>
              <a:t>(n)+</a:t>
            </a:r>
            <a:r>
              <a:rPr lang="en-US" altLang="zh-CN" dirty="0" err="1" smtClean="0"/>
              <a:t>cmMUL</a:t>
            </a:r>
            <a:r>
              <a:rPr lang="en-US" altLang="zh-CN" dirty="0" smtClean="0"/>
              <a:t>(n)+</a:t>
            </a:r>
            <a:r>
              <a:rPr lang="en-US" altLang="zh-CN" dirty="0" err="1" smtClean="0"/>
              <a:t>cdDIV</a:t>
            </a:r>
            <a:r>
              <a:rPr lang="en-US" altLang="zh-CN" dirty="0" smtClean="0"/>
              <a:t>(n)+</a:t>
            </a:r>
            <a:r>
              <a:rPr lang="en-US" altLang="zh-CN" dirty="0" err="1" smtClean="0"/>
              <a:t>ccCMP</a:t>
            </a:r>
            <a:r>
              <a:rPr lang="en-US" altLang="zh-CN" dirty="0" smtClean="0"/>
              <a:t>(n)+…</a:t>
            </a:r>
          </a:p>
          <a:p>
            <a:pPr eaLnBrk="1" hangingPunct="1"/>
            <a:r>
              <a:rPr lang="zh-CN" altLang="en-US" dirty="0" smtClean="0"/>
              <a:t>其中，</a:t>
            </a:r>
            <a:r>
              <a:rPr lang="en-US" altLang="zh-CN" dirty="0" smtClean="0"/>
              <a:t>ca</a:t>
            </a:r>
            <a:r>
              <a:rPr lang="zh-CN" altLang="en-US" dirty="0" smtClean="0"/>
              <a:t>，</a:t>
            </a:r>
            <a:r>
              <a:rPr lang="en-US" altLang="zh-CN" dirty="0" err="1" smtClean="0"/>
              <a:t>cs</a:t>
            </a:r>
            <a:r>
              <a:rPr lang="zh-CN" altLang="en-US" dirty="0" smtClean="0"/>
              <a:t>，</a:t>
            </a:r>
            <a:r>
              <a:rPr lang="en-US" altLang="zh-CN" dirty="0" smtClean="0"/>
              <a:t>cm</a:t>
            </a:r>
            <a:r>
              <a:rPr lang="zh-CN" altLang="en-US" dirty="0" smtClean="0"/>
              <a:t>，</a:t>
            </a:r>
            <a:r>
              <a:rPr lang="en-US" altLang="zh-CN" dirty="0" smtClean="0"/>
              <a:t>cd</a:t>
            </a:r>
            <a:r>
              <a:rPr lang="zh-CN" altLang="en-US" dirty="0" smtClean="0"/>
              <a:t>，</a:t>
            </a:r>
            <a:r>
              <a:rPr lang="en-US" altLang="zh-CN" dirty="0" smtClean="0"/>
              <a:t>cc </a:t>
            </a:r>
            <a:r>
              <a:rPr lang="zh-CN" altLang="en-US" dirty="0" smtClean="0"/>
              <a:t>分别表示一次加、减、乘、除及比较操作所需的时间，函数 </a:t>
            </a:r>
            <a:r>
              <a:rPr lang="en-US" altLang="zh-CN" dirty="0" smtClean="0"/>
              <a:t>ADD, SUB, </a:t>
            </a:r>
            <a:r>
              <a:rPr lang="en-US" altLang="zh-CN" dirty="0" err="1" smtClean="0"/>
              <a:t>MUL</a:t>
            </a:r>
            <a:r>
              <a:rPr lang="en-US" altLang="zh-CN" dirty="0" smtClean="0"/>
              <a:t>, DIV, </a:t>
            </a:r>
            <a:r>
              <a:rPr lang="en-US" altLang="zh-CN" dirty="0" err="1" smtClean="0"/>
              <a:t>CMP</a:t>
            </a:r>
            <a:r>
              <a:rPr lang="en-US" altLang="zh-CN" dirty="0" smtClean="0"/>
              <a:t> </a:t>
            </a:r>
            <a:r>
              <a:rPr lang="zh-CN" altLang="en-US" dirty="0" smtClean="0"/>
              <a:t>分别表示代码 </a:t>
            </a:r>
            <a:r>
              <a:rPr lang="en-US" altLang="zh-CN" dirty="0" smtClean="0"/>
              <a:t>P </a:t>
            </a:r>
            <a:r>
              <a:rPr lang="zh-CN" altLang="en-US" dirty="0" smtClean="0"/>
              <a:t>中所使用的加、减、乘、除及比较操作的次数；</a:t>
            </a:r>
          </a:p>
        </p:txBody>
      </p:sp>
    </p:spTree>
    <p:extLst>
      <p:ext uri="{BB962C8B-B14F-4D97-AF65-F5344CB8AC3E}">
        <p14:creationId xmlns:p14="http://schemas.microsoft.com/office/powerpoint/2010/main" val="421105949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53251" name="Rectangle 2"/>
          <p:cNvSpPr>
            <a:spLocks noGrp="1" noChangeArrowheads="1"/>
          </p:cNvSpPr>
          <p:nvPr>
            <p:ph type="title"/>
          </p:nvPr>
        </p:nvSpPr>
        <p:spPr/>
        <p:txBody>
          <a:bodyPr/>
          <a:lstStyle/>
          <a:p>
            <a:pPr eaLnBrk="1" hangingPunct="1"/>
            <a:r>
              <a:rPr lang="en-US" altLang="zh-CN" dirty="0">
                <a:latin typeface="+mn-ea"/>
              </a:rPr>
              <a:t>1.2.3 </a:t>
            </a:r>
            <a:r>
              <a:rPr lang="zh-CN" altLang="en-US" dirty="0">
                <a:latin typeface="+mn-ea"/>
              </a:rPr>
              <a:t>时间复杂度</a:t>
            </a:r>
            <a:r>
              <a:rPr lang="en-US" altLang="zh-CN" dirty="0">
                <a:latin typeface="+mn-ea"/>
              </a:rPr>
              <a:t>——</a:t>
            </a:r>
            <a:r>
              <a:rPr lang="zh-CN" altLang="en-US" dirty="0"/>
              <a:t>构成</a:t>
            </a:r>
            <a:endParaRPr lang="en-US" altLang="zh-CN" dirty="0" smtClean="0"/>
          </a:p>
        </p:txBody>
      </p:sp>
      <p:sp>
        <p:nvSpPr>
          <p:cNvPr id="53252" name="Rectangle 3"/>
          <p:cNvSpPr>
            <a:spLocks noGrp="1" noChangeArrowheads="1"/>
          </p:cNvSpPr>
          <p:nvPr>
            <p:ph type="body" idx="1"/>
          </p:nvPr>
        </p:nvSpPr>
        <p:spPr/>
        <p:txBody>
          <a:bodyPr/>
          <a:lstStyle/>
          <a:p>
            <a:r>
              <a:rPr lang="zh-CN" altLang="en-US" dirty="0" smtClean="0"/>
              <a:t>估算运行时间的方法：</a:t>
            </a:r>
          </a:p>
          <a:p>
            <a:pPr>
              <a:buFontTx/>
              <a:buNone/>
            </a:pPr>
            <a:r>
              <a:rPr lang="zh-CN" altLang="en-US" dirty="0" smtClean="0"/>
              <a:t>   </a:t>
            </a:r>
            <a:r>
              <a:rPr lang="en-US" altLang="zh-CN" dirty="0" smtClean="0"/>
              <a:t>A. </a:t>
            </a:r>
            <a:r>
              <a:rPr lang="zh-CN" altLang="en-US" dirty="0" smtClean="0"/>
              <a:t>找一个或多个</a:t>
            </a:r>
            <a:r>
              <a:rPr lang="zh-CN" altLang="en-US" dirty="0" smtClean="0">
                <a:solidFill>
                  <a:srgbClr val="FF0000"/>
                </a:solidFill>
              </a:rPr>
              <a:t>关键操作</a:t>
            </a:r>
            <a:r>
              <a:rPr lang="zh-CN" altLang="en-US" dirty="0" smtClean="0"/>
              <a:t>，确定这些关键操作所需要的执行时间；</a:t>
            </a:r>
          </a:p>
          <a:p>
            <a:pPr>
              <a:buFontTx/>
              <a:buNone/>
            </a:pPr>
            <a:r>
              <a:rPr lang="en-US" altLang="zh-CN" dirty="0" smtClean="0"/>
              <a:t>   B. </a:t>
            </a:r>
            <a:r>
              <a:rPr lang="zh-CN" altLang="en-US" dirty="0" smtClean="0"/>
              <a:t>确定程序总的</a:t>
            </a:r>
            <a:r>
              <a:rPr lang="zh-CN" altLang="en-US" dirty="0" smtClean="0">
                <a:solidFill>
                  <a:srgbClr val="FF0000"/>
                </a:solidFill>
              </a:rPr>
              <a:t>执行步数</a:t>
            </a:r>
            <a:r>
              <a:rPr lang="zh-CN" altLang="en-US" dirty="0" smtClean="0"/>
              <a:t>。</a:t>
            </a:r>
            <a:endParaRPr lang="en-US" altLang="zh-CN" dirty="0"/>
          </a:p>
          <a:p>
            <a:pPr>
              <a:buFontTx/>
              <a:buNone/>
            </a:pPr>
            <a:endParaRPr lang="en-US" altLang="zh-CN" dirty="0" smtClean="0"/>
          </a:p>
          <a:p>
            <a:r>
              <a:rPr lang="zh-CN" altLang="en-US" dirty="0" smtClean="0">
                <a:solidFill>
                  <a:srgbClr val="FF0000"/>
                </a:solidFill>
              </a:rPr>
              <a:t>关键操作</a:t>
            </a:r>
            <a:r>
              <a:rPr lang="zh-CN" altLang="en-US" dirty="0" smtClean="0"/>
              <a:t>对时间复杂性影响最大。</a:t>
            </a:r>
          </a:p>
        </p:txBody>
      </p:sp>
    </p:spTree>
    <p:extLst>
      <p:ext uri="{BB962C8B-B14F-4D97-AF65-F5344CB8AC3E}">
        <p14:creationId xmlns:p14="http://schemas.microsoft.com/office/powerpoint/2010/main" val="136534060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54275" name="Rectangle 2"/>
          <p:cNvSpPr>
            <a:spLocks noGrp="1" noChangeArrowheads="1"/>
          </p:cNvSpPr>
          <p:nvPr>
            <p:ph type="title"/>
          </p:nvPr>
        </p:nvSpPr>
        <p:spPr/>
        <p:txBody>
          <a:bodyPr/>
          <a:lstStyle/>
          <a:p>
            <a:pPr eaLnBrk="1" hangingPunct="1"/>
            <a:r>
              <a:rPr lang="en-US" altLang="zh-CN" dirty="0">
                <a:latin typeface="+mn-ea"/>
              </a:rPr>
              <a:t>1.2.3 </a:t>
            </a:r>
            <a:r>
              <a:rPr lang="zh-CN" altLang="en-US" dirty="0">
                <a:latin typeface="+mn-ea"/>
              </a:rPr>
              <a:t>时间复杂度</a:t>
            </a:r>
            <a:r>
              <a:rPr lang="en-US" altLang="zh-CN" dirty="0" smtClean="0">
                <a:latin typeface="+mn-ea"/>
              </a:rPr>
              <a:t>——</a:t>
            </a:r>
            <a:r>
              <a:rPr lang="zh-CN" altLang="en-US" dirty="0" smtClean="0"/>
              <a:t>例</a:t>
            </a:r>
            <a:r>
              <a:rPr lang="en-US" altLang="zh-CN" dirty="0" smtClean="0"/>
              <a:t>1</a:t>
            </a:r>
            <a:r>
              <a:rPr lang="zh-CN" altLang="en-US" dirty="0" smtClean="0"/>
              <a:t>：寻找最大元素</a:t>
            </a:r>
            <a:endParaRPr lang="en-US" altLang="zh-CN" dirty="0" smtClean="0"/>
          </a:p>
        </p:txBody>
      </p:sp>
      <p:sp>
        <p:nvSpPr>
          <p:cNvPr id="54276" name="Rectangle 3"/>
          <p:cNvSpPr>
            <a:spLocks noGrp="1" noChangeArrowheads="1"/>
          </p:cNvSpPr>
          <p:nvPr>
            <p:ph type="body" idx="1"/>
          </p:nvPr>
        </p:nvSpPr>
        <p:spPr>
          <a:xfrm>
            <a:off x="968252" y="1276874"/>
            <a:ext cx="4701697" cy="4525962"/>
          </a:xfrm>
        </p:spPr>
        <p:txBody>
          <a:bodyPr/>
          <a:lstStyle/>
          <a:p>
            <a:pPr eaLnBrk="1" hangingPunct="1"/>
            <a:r>
              <a:rPr lang="en-US" altLang="zh-CN" dirty="0" err="1" smtClean="0"/>
              <a:t>int</a:t>
            </a:r>
            <a:r>
              <a:rPr lang="en-US" altLang="zh-CN" dirty="0" smtClean="0"/>
              <a:t> Max(</a:t>
            </a:r>
            <a:r>
              <a:rPr lang="en-US" altLang="zh-CN" dirty="0" err="1" smtClean="0"/>
              <a:t>int</a:t>
            </a:r>
            <a:r>
              <a:rPr lang="en-US" altLang="zh-CN" dirty="0" smtClean="0"/>
              <a:t> *</a:t>
            </a:r>
            <a:r>
              <a:rPr lang="en-US" altLang="zh-CN" dirty="0" err="1" smtClean="0"/>
              <a:t>a,int</a:t>
            </a:r>
            <a:r>
              <a:rPr lang="en-US" altLang="zh-CN" dirty="0" smtClean="0"/>
              <a:t> n)</a:t>
            </a:r>
          </a:p>
          <a:p>
            <a:pPr>
              <a:spcBef>
                <a:spcPts val="600"/>
              </a:spcBef>
              <a:buFontTx/>
              <a:buNone/>
            </a:pPr>
            <a:r>
              <a:rPr lang="en-US" altLang="zh-CN" dirty="0" smtClean="0"/>
              <a:t>    { //</a:t>
            </a:r>
            <a:r>
              <a:rPr lang="zh-CN" altLang="en-US" dirty="0" smtClean="0"/>
              <a:t>寻找 </a:t>
            </a:r>
            <a:r>
              <a:rPr lang="en-US" altLang="zh-CN" dirty="0" smtClean="0"/>
              <a:t>a[</a:t>
            </a:r>
            <a:r>
              <a:rPr lang="en-US" altLang="zh-CN" dirty="0" err="1" smtClean="0"/>
              <a:t>0:n-1</a:t>
            </a:r>
            <a:r>
              <a:rPr lang="en-US" altLang="zh-CN" dirty="0" smtClean="0"/>
              <a:t>]</a:t>
            </a:r>
            <a:r>
              <a:rPr lang="zh-CN" altLang="en-US" dirty="0" smtClean="0"/>
              <a:t>中的最大元素</a:t>
            </a:r>
          </a:p>
          <a:p>
            <a:pPr>
              <a:spcBef>
                <a:spcPts val="600"/>
              </a:spcBef>
              <a:buFontTx/>
              <a:buNone/>
            </a:pPr>
            <a:r>
              <a:rPr lang="zh-CN" altLang="en-US" dirty="0" smtClean="0"/>
              <a:t>       </a:t>
            </a:r>
            <a:r>
              <a:rPr lang="en-US" altLang="zh-CN" dirty="0" err="1" smtClean="0"/>
              <a:t>int</a:t>
            </a:r>
            <a:r>
              <a:rPr lang="en-US" altLang="zh-CN" dirty="0" smtClean="0"/>
              <a:t> </a:t>
            </a:r>
            <a:r>
              <a:rPr lang="en-US" altLang="zh-CN" dirty="0" err="1" smtClean="0"/>
              <a:t>pos</a:t>
            </a:r>
            <a:r>
              <a:rPr lang="en-US" altLang="zh-CN" dirty="0" smtClean="0"/>
              <a:t>=0;</a:t>
            </a:r>
          </a:p>
          <a:p>
            <a:pPr>
              <a:spcBef>
                <a:spcPts val="600"/>
              </a:spcBef>
              <a:buFontTx/>
              <a:buNone/>
            </a:pPr>
            <a:r>
              <a:rPr lang="en-US" altLang="zh-CN" dirty="0" smtClean="0"/>
              <a:t>       for(</a:t>
            </a:r>
            <a:r>
              <a:rPr lang="en-US" altLang="zh-CN" dirty="0" err="1" smtClean="0"/>
              <a:t>i</a:t>
            </a:r>
            <a:r>
              <a:rPr lang="en-US" altLang="zh-CN" dirty="0" smtClean="0"/>
              <a:t>=1; </a:t>
            </a:r>
            <a:r>
              <a:rPr lang="en-US" altLang="zh-CN" dirty="0" err="1" smtClean="0"/>
              <a:t>i</a:t>
            </a:r>
            <a:r>
              <a:rPr lang="en-US" altLang="zh-CN" dirty="0" smtClean="0"/>
              <a:t>&lt;n; </a:t>
            </a:r>
            <a:r>
              <a:rPr lang="en-US" altLang="zh-CN" dirty="0" err="1" smtClean="0"/>
              <a:t>i</a:t>
            </a:r>
            <a:r>
              <a:rPr lang="en-US" altLang="zh-CN" dirty="0" smtClean="0"/>
              <a:t>++)</a:t>
            </a:r>
          </a:p>
          <a:p>
            <a:pPr>
              <a:spcBef>
                <a:spcPts val="600"/>
              </a:spcBef>
              <a:buFontTx/>
              <a:buNone/>
            </a:pPr>
            <a:r>
              <a:rPr lang="en-US" altLang="zh-CN" dirty="0" smtClean="0"/>
              <a:t>         if(a[</a:t>
            </a:r>
            <a:r>
              <a:rPr lang="en-US" altLang="zh-CN" dirty="0" err="1" smtClean="0"/>
              <a:t>pos</a:t>
            </a:r>
            <a:r>
              <a:rPr lang="en-US" altLang="zh-CN" dirty="0" smtClean="0"/>
              <a:t>]&lt;a[</a:t>
            </a:r>
            <a:r>
              <a:rPr lang="en-US" altLang="zh-CN" dirty="0" err="1" smtClean="0"/>
              <a:t>i</a:t>
            </a:r>
            <a:r>
              <a:rPr lang="en-US" altLang="zh-CN" dirty="0" smtClean="0"/>
              <a:t>])</a:t>
            </a:r>
          </a:p>
          <a:p>
            <a:pPr>
              <a:spcBef>
                <a:spcPts val="600"/>
              </a:spcBef>
              <a:buFontTx/>
              <a:buNone/>
            </a:pPr>
            <a:r>
              <a:rPr lang="en-US" altLang="zh-CN" dirty="0" smtClean="0"/>
              <a:t>               </a:t>
            </a:r>
            <a:r>
              <a:rPr lang="en-US" altLang="zh-CN" dirty="0" err="1" smtClean="0"/>
              <a:t>pos</a:t>
            </a:r>
            <a:r>
              <a:rPr lang="en-US" altLang="zh-CN" dirty="0" smtClean="0"/>
              <a:t>=</a:t>
            </a:r>
            <a:r>
              <a:rPr lang="en-US" altLang="zh-CN" dirty="0" err="1" smtClean="0"/>
              <a:t>i</a:t>
            </a:r>
            <a:r>
              <a:rPr lang="en-US" altLang="zh-CN" dirty="0" smtClean="0"/>
              <a:t>;</a:t>
            </a:r>
          </a:p>
          <a:p>
            <a:pPr>
              <a:spcBef>
                <a:spcPts val="600"/>
              </a:spcBef>
              <a:buFontTx/>
              <a:buNone/>
            </a:pPr>
            <a:r>
              <a:rPr lang="en-US" altLang="zh-CN" dirty="0" smtClean="0"/>
              <a:t>       return </a:t>
            </a:r>
            <a:r>
              <a:rPr lang="en-US" altLang="zh-CN" dirty="0" err="1" smtClean="0"/>
              <a:t>pos</a:t>
            </a:r>
            <a:r>
              <a:rPr lang="en-US" altLang="zh-CN" dirty="0" smtClean="0"/>
              <a:t>;</a:t>
            </a:r>
          </a:p>
          <a:p>
            <a:pPr>
              <a:spcBef>
                <a:spcPts val="600"/>
              </a:spcBef>
              <a:buFontTx/>
              <a:buNone/>
            </a:pPr>
            <a:r>
              <a:rPr lang="en-US" altLang="zh-CN" dirty="0" smtClean="0"/>
              <a:t>    }  </a:t>
            </a:r>
          </a:p>
          <a:p>
            <a:pPr>
              <a:spcBef>
                <a:spcPts val="600"/>
              </a:spcBef>
              <a:buFontTx/>
              <a:buNone/>
            </a:pPr>
            <a:endParaRPr lang="en-US" altLang="zh-CN" dirty="0" smtClean="0"/>
          </a:p>
        </p:txBody>
      </p:sp>
    </p:spTree>
    <p:extLst>
      <p:ext uri="{BB962C8B-B14F-4D97-AF65-F5344CB8AC3E}">
        <p14:creationId xmlns:p14="http://schemas.microsoft.com/office/powerpoint/2010/main" val="271790698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55299" name="Rectangle 2"/>
          <p:cNvSpPr>
            <a:spLocks noGrp="1" noChangeArrowheads="1"/>
          </p:cNvSpPr>
          <p:nvPr>
            <p:ph type="title"/>
          </p:nvPr>
        </p:nvSpPr>
        <p:spPr/>
        <p:txBody>
          <a:bodyPr/>
          <a:lstStyle/>
          <a:p>
            <a:pPr eaLnBrk="1" hangingPunct="1"/>
            <a:r>
              <a:rPr lang="en-US" altLang="zh-CN" dirty="0">
                <a:latin typeface="+mn-ea"/>
              </a:rPr>
              <a:t>1.2.3 </a:t>
            </a:r>
            <a:r>
              <a:rPr lang="zh-CN" altLang="en-US" dirty="0">
                <a:latin typeface="+mn-ea"/>
              </a:rPr>
              <a:t>时间复杂度</a:t>
            </a:r>
            <a:r>
              <a:rPr lang="en-US" altLang="zh-CN" dirty="0">
                <a:latin typeface="+mn-ea"/>
              </a:rPr>
              <a:t>——</a:t>
            </a:r>
            <a:r>
              <a:rPr lang="zh-CN" altLang="en-US" dirty="0"/>
              <a:t>例</a:t>
            </a:r>
            <a:r>
              <a:rPr lang="en-US" altLang="zh-CN" dirty="0"/>
              <a:t>1</a:t>
            </a:r>
            <a:r>
              <a:rPr lang="zh-CN" altLang="en-US" dirty="0"/>
              <a:t>：寻找最大元素</a:t>
            </a:r>
            <a:endParaRPr lang="en-US" altLang="zh-CN" dirty="0" smtClean="0"/>
          </a:p>
        </p:txBody>
      </p:sp>
      <p:sp>
        <p:nvSpPr>
          <p:cNvPr id="55300" name="Rectangle 3"/>
          <p:cNvSpPr>
            <a:spLocks noGrp="1" noChangeArrowheads="1"/>
          </p:cNvSpPr>
          <p:nvPr>
            <p:ph type="body" idx="1"/>
          </p:nvPr>
        </p:nvSpPr>
        <p:spPr>
          <a:xfrm>
            <a:off x="920750" y="1480482"/>
            <a:ext cx="7786687" cy="4525962"/>
          </a:xfrm>
        </p:spPr>
        <p:txBody>
          <a:bodyPr/>
          <a:lstStyle/>
          <a:p>
            <a:pPr>
              <a:lnSpc>
                <a:spcPct val="90000"/>
              </a:lnSpc>
              <a:spcBef>
                <a:spcPct val="0"/>
              </a:spcBef>
            </a:pPr>
            <a:r>
              <a:rPr lang="zh-CN" altLang="en-US" dirty="0"/>
              <a:t>这里</a:t>
            </a:r>
            <a:r>
              <a:rPr lang="zh-CN" altLang="en-US" dirty="0">
                <a:solidFill>
                  <a:srgbClr val="FF0000"/>
                </a:solidFill>
              </a:rPr>
              <a:t>关键操作是比较</a:t>
            </a:r>
            <a:r>
              <a:rPr lang="zh-CN" altLang="en-US" dirty="0"/>
              <a:t>。</a:t>
            </a:r>
            <a:r>
              <a:rPr lang="en-US" altLang="zh-CN" dirty="0"/>
              <a:t>for </a:t>
            </a:r>
            <a:r>
              <a:rPr lang="zh-CN" altLang="en-US" dirty="0"/>
              <a:t>循环中共进行了</a:t>
            </a:r>
            <a:r>
              <a:rPr lang="en-US" altLang="zh-CN" dirty="0"/>
              <a:t>n-1 </a:t>
            </a:r>
            <a:r>
              <a:rPr lang="zh-CN" altLang="en-US" dirty="0"/>
              <a:t>次比较。 </a:t>
            </a:r>
            <a:r>
              <a:rPr lang="en-US" altLang="zh-CN" dirty="0"/>
              <a:t>for </a:t>
            </a:r>
            <a:r>
              <a:rPr lang="zh-CN" altLang="en-US" dirty="0"/>
              <a:t>循环每次执行之前都要比较一下 </a:t>
            </a:r>
            <a:r>
              <a:rPr lang="en-US" altLang="zh-CN" dirty="0" err="1"/>
              <a:t>i</a:t>
            </a:r>
            <a:r>
              <a:rPr lang="en-US" altLang="zh-CN" dirty="0"/>
              <a:t> </a:t>
            </a:r>
            <a:r>
              <a:rPr lang="zh-CN" altLang="en-US" dirty="0"/>
              <a:t>和 </a:t>
            </a:r>
            <a:r>
              <a:rPr lang="en-US" altLang="zh-CN" dirty="0"/>
              <a:t>n </a:t>
            </a:r>
            <a:r>
              <a:rPr lang="zh-CN" altLang="en-US" dirty="0"/>
              <a:t>此外，</a:t>
            </a:r>
            <a:r>
              <a:rPr lang="en-US" altLang="zh-CN" dirty="0"/>
              <a:t>Max </a:t>
            </a:r>
            <a:r>
              <a:rPr lang="zh-CN" altLang="en-US" dirty="0"/>
              <a:t>还进行了其它的操作，如初始化 </a:t>
            </a:r>
            <a:r>
              <a:rPr lang="en-US" altLang="zh-CN" dirty="0" err="1"/>
              <a:t>pos</a:t>
            </a:r>
            <a:r>
              <a:rPr lang="en-US" altLang="zh-CN" dirty="0"/>
              <a:t>、</a:t>
            </a:r>
            <a:r>
              <a:rPr lang="zh-CN" altLang="en-US" dirty="0"/>
              <a:t>循环控制变量 </a:t>
            </a:r>
            <a:r>
              <a:rPr lang="en-US" altLang="zh-CN" dirty="0" err="1"/>
              <a:t>i</a:t>
            </a:r>
            <a:r>
              <a:rPr lang="en-US" altLang="zh-CN" dirty="0"/>
              <a:t> </a:t>
            </a:r>
            <a:r>
              <a:rPr lang="zh-CN" altLang="en-US" dirty="0"/>
              <a:t>的增量。这些一般都不包含在估算中，若纳入计数，则操作计数将增加一个常量。</a:t>
            </a:r>
            <a:endParaRPr lang="en-US" altLang="zh-CN" dirty="0"/>
          </a:p>
        </p:txBody>
      </p:sp>
    </p:spTree>
    <p:extLst>
      <p:ext uri="{BB962C8B-B14F-4D97-AF65-F5344CB8AC3E}">
        <p14:creationId xmlns:p14="http://schemas.microsoft.com/office/powerpoint/2010/main" val="336665946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56323" name="Rectangle 2"/>
          <p:cNvSpPr>
            <a:spLocks noGrp="1" noChangeArrowheads="1"/>
          </p:cNvSpPr>
          <p:nvPr>
            <p:ph type="title"/>
          </p:nvPr>
        </p:nvSpPr>
        <p:spPr/>
        <p:txBody>
          <a:bodyPr/>
          <a:lstStyle/>
          <a:p>
            <a:pPr eaLnBrk="1" hangingPunct="1"/>
            <a:r>
              <a:rPr lang="en-US" altLang="zh-CN" dirty="0">
                <a:latin typeface="+mn-ea"/>
              </a:rPr>
              <a:t>1.2.3 </a:t>
            </a:r>
            <a:r>
              <a:rPr lang="zh-CN" altLang="en-US" dirty="0">
                <a:latin typeface="+mn-ea"/>
              </a:rPr>
              <a:t>时间复杂度</a:t>
            </a:r>
            <a:r>
              <a:rPr lang="en-US" altLang="zh-CN" dirty="0" smtClean="0">
                <a:latin typeface="+mn-ea"/>
              </a:rPr>
              <a:t>——</a:t>
            </a:r>
            <a:br>
              <a:rPr lang="en-US" altLang="zh-CN" dirty="0" smtClean="0">
                <a:latin typeface="+mn-ea"/>
              </a:rPr>
            </a:br>
            <a:r>
              <a:rPr lang="en-US" altLang="zh-CN" dirty="0" smtClean="0">
                <a:latin typeface="+mn-ea"/>
              </a:rPr>
              <a:t>	</a:t>
            </a:r>
            <a:r>
              <a:rPr lang="zh-CN" altLang="en-US" dirty="0" smtClean="0"/>
              <a:t>例</a:t>
            </a:r>
            <a:r>
              <a:rPr lang="en-US" altLang="zh-CN" dirty="0" smtClean="0"/>
              <a:t>2</a:t>
            </a:r>
            <a:r>
              <a:rPr lang="zh-CN" altLang="en-US" dirty="0" smtClean="0"/>
              <a:t>：计算 </a:t>
            </a:r>
            <a:r>
              <a:rPr lang="en-US" altLang="zh-CN" b="0" dirty="0">
                <a:latin typeface="Arial" panose="020B0604020202020204" pitchFamily="34" charset="0"/>
                <a:cs typeface="Arial" panose="020B0604020202020204" pitchFamily="34" charset="0"/>
              </a:rPr>
              <a:t>a[</a:t>
            </a:r>
            <a:r>
              <a:rPr lang="en-US" altLang="zh-CN" b="0" dirty="0" err="1">
                <a:latin typeface="Arial" panose="020B0604020202020204" pitchFamily="34" charset="0"/>
                <a:cs typeface="Arial" panose="020B0604020202020204" pitchFamily="34" charset="0"/>
              </a:rPr>
              <a:t>0:n-1</a:t>
            </a:r>
            <a:r>
              <a:rPr lang="en-US" altLang="zh-CN" b="0" dirty="0">
                <a:latin typeface="Arial" panose="020B0604020202020204" pitchFamily="34" charset="0"/>
                <a:cs typeface="Arial" panose="020B0604020202020204" pitchFamily="34" charset="0"/>
              </a:rPr>
              <a:t>]</a:t>
            </a:r>
            <a:r>
              <a:rPr lang="zh-CN" altLang="en-US" dirty="0" smtClean="0"/>
              <a:t>中元素的排名 </a:t>
            </a:r>
            <a:endParaRPr lang="en-US" altLang="zh-CN" dirty="0" smtClean="0"/>
          </a:p>
        </p:txBody>
      </p:sp>
      <p:sp>
        <p:nvSpPr>
          <p:cNvPr id="56324" name="Rectangle 3"/>
          <p:cNvSpPr>
            <a:spLocks noGrp="1" noChangeArrowheads="1"/>
          </p:cNvSpPr>
          <p:nvPr>
            <p:ph type="body" idx="1"/>
          </p:nvPr>
        </p:nvSpPr>
        <p:spPr/>
        <p:txBody>
          <a:bodyPr/>
          <a:lstStyle/>
          <a:p>
            <a:pPr>
              <a:lnSpc>
                <a:spcPct val="90000"/>
              </a:lnSpc>
              <a:spcBef>
                <a:spcPts val="600"/>
              </a:spcBef>
              <a:buFontTx/>
              <a:buNone/>
            </a:pPr>
            <a:r>
              <a:rPr lang="en-US" altLang="zh-CN" dirty="0" smtClean="0"/>
              <a:t>template&lt;class T&gt;                 </a:t>
            </a:r>
          </a:p>
          <a:p>
            <a:pPr>
              <a:lnSpc>
                <a:spcPct val="90000"/>
              </a:lnSpc>
              <a:spcBef>
                <a:spcPts val="600"/>
              </a:spcBef>
              <a:buFontTx/>
              <a:buNone/>
            </a:pPr>
            <a:r>
              <a:rPr lang="en-US" altLang="zh-CN" dirty="0" smtClean="0"/>
              <a:t>void Rank(T a[],</a:t>
            </a:r>
            <a:r>
              <a:rPr lang="en-US" altLang="zh-CN" dirty="0" err="1" smtClean="0"/>
              <a:t>int</a:t>
            </a:r>
            <a:r>
              <a:rPr lang="en-US" altLang="zh-CN" dirty="0" smtClean="0"/>
              <a:t> </a:t>
            </a:r>
            <a:r>
              <a:rPr lang="en-US" altLang="zh-CN" dirty="0" err="1" smtClean="0"/>
              <a:t>n,int</a:t>
            </a:r>
            <a:r>
              <a:rPr lang="en-US" altLang="zh-CN" dirty="0" smtClean="0"/>
              <a:t> r[]){</a:t>
            </a:r>
          </a:p>
          <a:p>
            <a:pPr>
              <a:lnSpc>
                <a:spcPct val="90000"/>
              </a:lnSpc>
              <a:spcBef>
                <a:spcPts val="600"/>
              </a:spcBef>
              <a:buFontTx/>
              <a:buNone/>
            </a:pPr>
            <a:r>
              <a:rPr lang="en-US" altLang="zh-CN" dirty="0" smtClean="0"/>
              <a:t>	//</a:t>
            </a:r>
            <a:r>
              <a:rPr lang="zh-CN" altLang="en-US" dirty="0" smtClean="0"/>
              <a:t>计算 </a:t>
            </a:r>
            <a:r>
              <a:rPr lang="en-US" altLang="zh-CN" dirty="0" smtClean="0"/>
              <a:t>a[</a:t>
            </a:r>
            <a:r>
              <a:rPr lang="en-US" altLang="zh-CN" dirty="0" err="1" smtClean="0"/>
              <a:t>0:n-1</a:t>
            </a:r>
            <a:r>
              <a:rPr lang="en-US" altLang="zh-CN" dirty="0" smtClean="0"/>
              <a:t>] </a:t>
            </a:r>
            <a:r>
              <a:rPr lang="zh-CN" altLang="en-US" dirty="0" smtClean="0"/>
              <a:t>中元素的排名     </a:t>
            </a:r>
            <a:endParaRPr lang="en-US" altLang="zh-CN" dirty="0" smtClean="0"/>
          </a:p>
          <a:p>
            <a:pPr>
              <a:lnSpc>
                <a:spcPct val="90000"/>
              </a:lnSpc>
              <a:spcBef>
                <a:spcPts val="600"/>
              </a:spcBef>
              <a:buFontTx/>
              <a:buNone/>
            </a:pPr>
            <a:r>
              <a:rPr lang="en-US" altLang="zh-CN" dirty="0"/>
              <a:t>	</a:t>
            </a:r>
            <a:r>
              <a:rPr lang="en-US" altLang="zh-CN" dirty="0" smtClean="0"/>
              <a:t>for(</a:t>
            </a:r>
            <a:r>
              <a:rPr lang="en-US" altLang="zh-CN" dirty="0" err="1" smtClean="0"/>
              <a:t>int</a:t>
            </a:r>
            <a:r>
              <a:rPr lang="en-US" altLang="zh-CN" dirty="0" smtClean="0"/>
              <a:t> </a:t>
            </a:r>
            <a:r>
              <a:rPr lang="en-US" altLang="zh-CN" dirty="0" err="1" smtClean="0"/>
              <a:t>i</a:t>
            </a:r>
            <a:r>
              <a:rPr lang="en-US" altLang="zh-CN" dirty="0" smtClean="0"/>
              <a:t>=1; </a:t>
            </a:r>
            <a:r>
              <a:rPr lang="en-US" altLang="zh-CN" dirty="0" err="1" smtClean="0"/>
              <a:t>i</a:t>
            </a:r>
            <a:r>
              <a:rPr lang="en-US" altLang="zh-CN" dirty="0" smtClean="0"/>
              <a:t>&lt;n; </a:t>
            </a:r>
            <a:r>
              <a:rPr lang="en-US" altLang="zh-CN" dirty="0" err="1" smtClean="0"/>
              <a:t>i</a:t>
            </a:r>
            <a:r>
              <a:rPr lang="en-US" altLang="zh-CN" dirty="0" smtClean="0"/>
              <a:t>++)            </a:t>
            </a:r>
          </a:p>
          <a:p>
            <a:pPr>
              <a:lnSpc>
                <a:spcPct val="90000"/>
              </a:lnSpc>
              <a:spcBef>
                <a:spcPts val="600"/>
              </a:spcBef>
              <a:buFontTx/>
              <a:buNone/>
            </a:pPr>
            <a:r>
              <a:rPr lang="en-US" altLang="zh-CN" dirty="0"/>
              <a:t>	</a:t>
            </a:r>
            <a:r>
              <a:rPr lang="en-US" altLang="zh-CN" dirty="0" smtClean="0"/>
              <a:t>	r[</a:t>
            </a:r>
            <a:r>
              <a:rPr lang="en-US" altLang="zh-CN" dirty="0" err="1" smtClean="0"/>
              <a:t>i</a:t>
            </a:r>
            <a:r>
              <a:rPr lang="en-US" altLang="zh-CN" dirty="0" smtClean="0"/>
              <a:t>]=0;    //</a:t>
            </a:r>
            <a:r>
              <a:rPr lang="zh-CN" altLang="en-US" dirty="0" smtClean="0"/>
              <a:t>初始化                 </a:t>
            </a:r>
          </a:p>
          <a:p>
            <a:pPr>
              <a:lnSpc>
                <a:spcPct val="90000"/>
              </a:lnSpc>
              <a:spcBef>
                <a:spcPts val="600"/>
              </a:spcBef>
              <a:buFontTx/>
              <a:buNone/>
            </a:pPr>
            <a:r>
              <a:rPr lang="zh-CN" altLang="en-US" dirty="0" smtClean="0"/>
              <a:t>   </a:t>
            </a:r>
            <a:r>
              <a:rPr lang="en-US" altLang="zh-CN" dirty="0" smtClean="0"/>
              <a:t>	// </a:t>
            </a:r>
            <a:r>
              <a:rPr lang="zh-CN" altLang="en-US" dirty="0" smtClean="0"/>
              <a:t>逐对比较所有的元素                  </a:t>
            </a:r>
          </a:p>
          <a:p>
            <a:pPr>
              <a:lnSpc>
                <a:spcPct val="90000"/>
              </a:lnSpc>
              <a:spcBef>
                <a:spcPts val="600"/>
              </a:spcBef>
              <a:buFontTx/>
              <a:buNone/>
            </a:pPr>
            <a:r>
              <a:rPr lang="zh-CN" altLang="en-US" dirty="0" smtClean="0"/>
              <a:t>  </a:t>
            </a:r>
            <a:r>
              <a:rPr lang="en-US" altLang="zh-CN" dirty="0" smtClean="0"/>
              <a:t>	for(</a:t>
            </a:r>
            <a:r>
              <a:rPr lang="en-US" altLang="zh-CN" dirty="0" err="1" smtClean="0"/>
              <a:t>int</a:t>
            </a:r>
            <a:r>
              <a:rPr lang="en-US" altLang="zh-CN" dirty="0" smtClean="0"/>
              <a:t> </a:t>
            </a:r>
            <a:r>
              <a:rPr lang="en-US" altLang="zh-CN" dirty="0" err="1" smtClean="0"/>
              <a:t>i</a:t>
            </a:r>
            <a:r>
              <a:rPr lang="en-US" altLang="zh-CN" dirty="0" smtClean="0"/>
              <a:t>=</a:t>
            </a:r>
            <a:r>
              <a:rPr lang="en-US" altLang="zh-CN" dirty="0" err="1" smtClean="0"/>
              <a:t>1;i</a:t>
            </a:r>
            <a:r>
              <a:rPr lang="en-US" altLang="zh-CN" dirty="0" smtClean="0"/>
              <a:t>&lt;</a:t>
            </a:r>
            <a:r>
              <a:rPr lang="en-US" altLang="zh-CN" dirty="0" err="1" smtClean="0"/>
              <a:t>n;i</a:t>
            </a:r>
            <a:r>
              <a:rPr lang="en-US" altLang="zh-CN" dirty="0" smtClean="0"/>
              <a:t>++)                  </a:t>
            </a:r>
          </a:p>
          <a:p>
            <a:pPr>
              <a:lnSpc>
                <a:spcPct val="90000"/>
              </a:lnSpc>
              <a:spcBef>
                <a:spcPts val="600"/>
              </a:spcBef>
              <a:buFontTx/>
              <a:buNone/>
            </a:pPr>
            <a:r>
              <a:rPr lang="en-US" altLang="zh-CN" dirty="0" smtClean="0"/>
              <a:t>      	for (j=</a:t>
            </a:r>
            <a:r>
              <a:rPr lang="en-US" altLang="zh-CN" dirty="0" err="1" smtClean="0"/>
              <a:t>0;j</a:t>
            </a:r>
            <a:r>
              <a:rPr lang="en-US" altLang="zh-CN" dirty="0" smtClean="0"/>
              <a:t>&lt;</a:t>
            </a:r>
            <a:r>
              <a:rPr lang="en-US" altLang="zh-CN" dirty="0" err="1" smtClean="0"/>
              <a:t>i;j</a:t>
            </a:r>
            <a:r>
              <a:rPr lang="en-US" altLang="zh-CN" dirty="0" smtClean="0"/>
              <a:t>++)            </a:t>
            </a:r>
          </a:p>
          <a:p>
            <a:pPr>
              <a:lnSpc>
                <a:spcPct val="90000"/>
              </a:lnSpc>
              <a:spcBef>
                <a:spcPts val="600"/>
              </a:spcBef>
              <a:buFontTx/>
              <a:buNone/>
            </a:pPr>
            <a:r>
              <a:rPr lang="en-US" altLang="zh-CN" dirty="0" smtClean="0"/>
              <a:t>        		if (a[j]&lt;a[</a:t>
            </a:r>
            <a:r>
              <a:rPr lang="en-US" altLang="zh-CN" dirty="0" err="1" smtClean="0"/>
              <a:t>i</a:t>
            </a:r>
            <a:r>
              <a:rPr lang="en-US" altLang="zh-CN" dirty="0" smtClean="0"/>
              <a:t>]) r[</a:t>
            </a:r>
            <a:r>
              <a:rPr lang="en-US" altLang="zh-CN" dirty="0" err="1" smtClean="0"/>
              <a:t>i</a:t>
            </a:r>
            <a:r>
              <a:rPr lang="en-US" altLang="zh-CN" dirty="0" smtClean="0"/>
              <a:t>]++;       </a:t>
            </a:r>
          </a:p>
          <a:p>
            <a:pPr>
              <a:lnSpc>
                <a:spcPct val="90000"/>
              </a:lnSpc>
              <a:spcBef>
                <a:spcPts val="600"/>
              </a:spcBef>
              <a:buFontTx/>
              <a:buNone/>
            </a:pPr>
            <a:r>
              <a:rPr lang="en-US" altLang="zh-CN" dirty="0" smtClean="0"/>
              <a:t>        		else   r[j]++</a:t>
            </a:r>
            <a:r>
              <a:rPr lang="zh-CN" altLang="en-US" dirty="0" smtClean="0"/>
              <a:t>；              </a:t>
            </a:r>
          </a:p>
          <a:p>
            <a:pPr>
              <a:lnSpc>
                <a:spcPct val="90000"/>
              </a:lnSpc>
              <a:spcBef>
                <a:spcPts val="600"/>
              </a:spcBef>
              <a:buFontTx/>
              <a:buNone/>
            </a:pPr>
            <a:r>
              <a:rPr lang="zh-CN" altLang="en-US" dirty="0" smtClean="0"/>
              <a:t> </a:t>
            </a:r>
            <a:r>
              <a:rPr lang="en-US" altLang="zh-CN" dirty="0" smtClean="0"/>
              <a:t>}                                    </a:t>
            </a:r>
          </a:p>
          <a:p>
            <a:pPr>
              <a:lnSpc>
                <a:spcPct val="90000"/>
              </a:lnSpc>
              <a:spcBef>
                <a:spcPts val="600"/>
              </a:spcBef>
              <a:buFontTx/>
              <a:buNone/>
            </a:pPr>
            <a:r>
              <a:rPr lang="en-US" altLang="zh-CN" dirty="0" smtClean="0"/>
              <a:t> </a:t>
            </a:r>
          </a:p>
        </p:txBody>
      </p:sp>
    </p:spTree>
    <p:extLst>
      <p:ext uri="{BB962C8B-B14F-4D97-AF65-F5344CB8AC3E}">
        <p14:creationId xmlns:p14="http://schemas.microsoft.com/office/powerpoint/2010/main" val="297604809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57347" name="Rectangle 2"/>
          <p:cNvSpPr>
            <a:spLocks noGrp="1" noChangeArrowheads="1"/>
          </p:cNvSpPr>
          <p:nvPr>
            <p:ph type="title"/>
          </p:nvPr>
        </p:nvSpPr>
        <p:spPr/>
        <p:txBody>
          <a:bodyPr/>
          <a:lstStyle/>
          <a:p>
            <a:pPr eaLnBrk="1" hangingPunct="1"/>
            <a:r>
              <a:rPr lang="en-US" altLang="zh-CN" dirty="0">
                <a:latin typeface="+mn-ea"/>
              </a:rPr>
              <a:t>1.2.3 </a:t>
            </a:r>
            <a:r>
              <a:rPr lang="zh-CN" altLang="en-US" dirty="0">
                <a:latin typeface="+mn-ea"/>
              </a:rPr>
              <a:t>时间复杂度</a:t>
            </a:r>
            <a:r>
              <a:rPr lang="en-US" altLang="zh-CN" dirty="0">
                <a:latin typeface="+mn-ea"/>
              </a:rPr>
              <a:t>——</a:t>
            </a:r>
            <a:br>
              <a:rPr lang="en-US" altLang="zh-CN" dirty="0">
                <a:latin typeface="+mn-ea"/>
              </a:rPr>
            </a:br>
            <a:r>
              <a:rPr lang="en-US" altLang="zh-CN" dirty="0" smtClean="0">
                <a:latin typeface="+mn-ea"/>
              </a:rPr>
              <a:t>	</a:t>
            </a:r>
            <a:r>
              <a:rPr lang="zh-CN" altLang="en-US" dirty="0" smtClean="0"/>
              <a:t>例</a:t>
            </a:r>
            <a:r>
              <a:rPr lang="en-US" altLang="zh-CN" dirty="0"/>
              <a:t>2</a:t>
            </a:r>
            <a:r>
              <a:rPr lang="zh-CN" altLang="en-US" dirty="0"/>
              <a:t>：计算 </a:t>
            </a:r>
            <a:r>
              <a:rPr lang="en-US" altLang="zh-CN" b="0" dirty="0">
                <a:latin typeface="Arial" panose="020B0604020202020204" pitchFamily="34" charset="0"/>
                <a:cs typeface="Arial" panose="020B0604020202020204" pitchFamily="34" charset="0"/>
              </a:rPr>
              <a:t>a[</a:t>
            </a:r>
            <a:r>
              <a:rPr lang="en-US" altLang="zh-CN" b="0" dirty="0" err="1">
                <a:latin typeface="Arial" panose="020B0604020202020204" pitchFamily="34" charset="0"/>
                <a:cs typeface="Arial" panose="020B0604020202020204" pitchFamily="34" charset="0"/>
              </a:rPr>
              <a:t>0:n-1</a:t>
            </a:r>
            <a:r>
              <a:rPr lang="en-US" altLang="zh-CN" b="0" dirty="0">
                <a:latin typeface="Arial" panose="020B0604020202020204" pitchFamily="34" charset="0"/>
                <a:cs typeface="Arial" panose="020B0604020202020204" pitchFamily="34" charset="0"/>
              </a:rPr>
              <a:t>] </a:t>
            </a:r>
            <a:r>
              <a:rPr lang="zh-CN" altLang="en-US" dirty="0"/>
              <a:t>中元素的排名 </a:t>
            </a:r>
            <a:endParaRPr lang="en-US" altLang="zh-CN" dirty="0" smtClean="0"/>
          </a:p>
        </p:txBody>
      </p:sp>
      <p:sp>
        <p:nvSpPr>
          <p:cNvPr id="57348" name="Rectangle 3"/>
          <p:cNvSpPr>
            <a:spLocks noGrp="1" noChangeArrowheads="1"/>
          </p:cNvSpPr>
          <p:nvPr>
            <p:ph type="body" idx="1"/>
          </p:nvPr>
        </p:nvSpPr>
        <p:spPr>
          <a:xfrm>
            <a:off x="879475" y="1533340"/>
            <a:ext cx="7786687" cy="2256022"/>
          </a:xfrm>
        </p:spPr>
        <p:txBody>
          <a:bodyPr/>
          <a:lstStyle/>
          <a:p>
            <a:pPr>
              <a:lnSpc>
                <a:spcPct val="90000"/>
              </a:lnSpc>
              <a:spcBef>
                <a:spcPct val="0"/>
              </a:spcBef>
            </a:pPr>
            <a:r>
              <a:rPr lang="zh-CN" altLang="en-US" dirty="0"/>
              <a:t>例中，对每个 </a:t>
            </a:r>
            <a:r>
              <a:rPr lang="en-US" altLang="zh-CN" dirty="0" err="1"/>
              <a:t>i</a:t>
            </a:r>
            <a:r>
              <a:rPr lang="en-US" altLang="zh-CN" dirty="0"/>
              <a:t> </a:t>
            </a:r>
            <a:r>
              <a:rPr lang="zh-CN" altLang="en-US" dirty="0"/>
              <a:t>的取值，执行比较的次数是 </a:t>
            </a:r>
            <a:r>
              <a:rPr lang="en-US" altLang="zh-CN" dirty="0" err="1"/>
              <a:t>i</a:t>
            </a:r>
            <a:r>
              <a:rPr lang="en-US" altLang="zh-CN" dirty="0"/>
              <a:t> , </a:t>
            </a:r>
            <a:r>
              <a:rPr lang="zh-CN" altLang="en-US" dirty="0"/>
              <a:t>总的比较次数为 1+2+…+(</a:t>
            </a:r>
            <a:r>
              <a:rPr lang="en-US" altLang="zh-CN" dirty="0"/>
              <a:t>n-1)=(n-1)n/2</a:t>
            </a:r>
            <a:r>
              <a:rPr lang="zh-CN" altLang="en-US" dirty="0"/>
              <a:t>。在此，</a:t>
            </a:r>
            <a:r>
              <a:rPr lang="en-US" altLang="zh-CN" dirty="0"/>
              <a:t>for</a:t>
            </a:r>
            <a:r>
              <a:rPr lang="zh-CN" altLang="en-US" dirty="0"/>
              <a:t>循环的额外开销、初始化数组 </a:t>
            </a:r>
            <a:r>
              <a:rPr lang="en-US" altLang="zh-CN" dirty="0"/>
              <a:t>r </a:t>
            </a:r>
            <a:r>
              <a:rPr lang="zh-CN" altLang="en-US" dirty="0"/>
              <a:t>的开销、以及每次比较 </a:t>
            </a:r>
            <a:r>
              <a:rPr lang="en-US" altLang="zh-CN" dirty="0"/>
              <a:t>a </a:t>
            </a:r>
            <a:r>
              <a:rPr lang="zh-CN" altLang="en-US" dirty="0"/>
              <a:t>中的两个数时对 </a:t>
            </a:r>
            <a:r>
              <a:rPr lang="en-US" altLang="zh-CN" dirty="0"/>
              <a:t>r </a:t>
            </a:r>
            <a:r>
              <a:rPr lang="zh-CN" altLang="en-US" dirty="0"/>
              <a:t>进行的增值开销都未列入其中。</a:t>
            </a:r>
            <a:r>
              <a:rPr lang="en-US" altLang="zh-CN" dirty="0"/>
              <a:t> </a:t>
            </a:r>
          </a:p>
        </p:txBody>
      </p:sp>
    </p:spTree>
    <p:extLst>
      <p:ext uri="{BB962C8B-B14F-4D97-AF65-F5344CB8AC3E}">
        <p14:creationId xmlns:p14="http://schemas.microsoft.com/office/powerpoint/2010/main" val="118969914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58371" name="Rectangle 2"/>
          <p:cNvSpPr>
            <a:spLocks noGrp="1" noChangeArrowheads="1"/>
          </p:cNvSpPr>
          <p:nvPr>
            <p:ph type="title"/>
          </p:nvPr>
        </p:nvSpPr>
        <p:spPr/>
        <p:txBody>
          <a:bodyPr/>
          <a:lstStyle/>
          <a:p>
            <a:pPr eaLnBrk="1" hangingPunct="1"/>
            <a:r>
              <a:rPr lang="en-US" altLang="zh-CN" dirty="0">
                <a:latin typeface="+mn-ea"/>
              </a:rPr>
              <a:t>1.2.3 </a:t>
            </a:r>
            <a:r>
              <a:rPr lang="zh-CN" altLang="en-US" dirty="0">
                <a:latin typeface="+mn-ea"/>
              </a:rPr>
              <a:t>时间复杂度</a:t>
            </a:r>
            <a:r>
              <a:rPr lang="en-US" altLang="zh-CN" dirty="0" smtClean="0">
                <a:latin typeface="+mn-ea"/>
              </a:rPr>
              <a:t>——</a:t>
            </a:r>
            <a:br>
              <a:rPr lang="en-US" altLang="zh-CN" dirty="0" smtClean="0">
                <a:latin typeface="+mn-ea"/>
              </a:rPr>
            </a:br>
            <a:r>
              <a:rPr lang="en-US" altLang="zh-CN" dirty="0" smtClean="0">
                <a:latin typeface="+mn-ea"/>
              </a:rPr>
              <a:t>	</a:t>
            </a:r>
            <a:r>
              <a:rPr lang="zh-CN" altLang="en-US" dirty="0" smtClean="0"/>
              <a:t>例</a:t>
            </a:r>
            <a:r>
              <a:rPr lang="en-US" altLang="zh-CN" b="0" dirty="0" smtClean="0">
                <a:latin typeface="Arial" panose="020B0604020202020204" pitchFamily="34" charset="0"/>
                <a:cs typeface="Arial" panose="020B0604020202020204" pitchFamily="34" charset="0"/>
              </a:rPr>
              <a:t>3</a:t>
            </a:r>
            <a:r>
              <a:rPr lang="zh-CN" altLang="en-US" dirty="0" smtClean="0"/>
              <a:t>：对数组 </a:t>
            </a:r>
            <a:r>
              <a:rPr lang="en-US" altLang="zh-CN" b="0" dirty="0">
                <a:latin typeface="Arial" panose="020B0604020202020204" pitchFamily="34" charset="0"/>
                <a:cs typeface="Arial" panose="020B0604020202020204" pitchFamily="34" charset="0"/>
              </a:rPr>
              <a:t>a[</a:t>
            </a:r>
            <a:r>
              <a:rPr lang="en-US" altLang="zh-CN" b="0" dirty="0" err="1">
                <a:latin typeface="Arial" panose="020B0604020202020204" pitchFamily="34" charset="0"/>
                <a:cs typeface="Arial" panose="020B0604020202020204" pitchFamily="34" charset="0"/>
              </a:rPr>
              <a:t>0:n-1</a:t>
            </a:r>
            <a:r>
              <a:rPr lang="en-US" altLang="zh-CN" b="0" dirty="0">
                <a:latin typeface="Arial" panose="020B0604020202020204" pitchFamily="34" charset="0"/>
                <a:cs typeface="Arial" panose="020B0604020202020204" pitchFamily="34" charset="0"/>
              </a:rPr>
              <a:t>]</a:t>
            </a:r>
            <a:r>
              <a:rPr lang="en-US" altLang="zh-CN" dirty="0" smtClean="0"/>
              <a:t> </a:t>
            </a:r>
            <a:r>
              <a:rPr lang="zh-CN" altLang="en-US" dirty="0" smtClean="0"/>
              <a:t>进行选择排序</a:t>
            </a:r>
            <a:endParaRPr lang="en-US" altLang="zh-CN" dirty="0" smtClean="0"/>
          </a:p>
        </p:txBody>
      </p:sp>
      <p:sp>
        <p:nvSpPr>
          <p:cNvPr id="58372" name="Rectangle 3"/>
          <p:cNvSpPr>
            <a:spLocks noGrp="1" noChangeArrowheads="1"/>
          </p:cNvSpPr>
          <p:nvPr>
            <p:ph type="body" idx="1"/>
          </p:nvPr>
        </p:nvSpPr>
        <p:spPr>
          <a:xfrm>
            <a:off x="962026" y="1196975"/>
            <a:ext cx="7786687" cy="4525962"/>
          </a:xfrm>
        </p:spPr>
        <p:txBody>
          <a:bodyPr/>
          <a:lstStyle/>
          <a:p>
            <a:pPr>
              <a:lnSpc>
                <a:spcPct val="90000"/>
              </a:lnSpc>
              <a:spcBef>
                <a:spcPts val="0"/>
              </a:spcBef>
              <a:buNone/>
            </a:pPr>
            <a:r>
              <a:rPr lang="en-US" altLang="zh-CN" dirty="0"/>
              <a:t>template&lt;class T&gt;</a:t>
            </a:r>
          </a:p>
          <a:p>
            <a:pPr>
              <a:lnSpc>
                <a:spcPct val="90000"/>
              </a:lnSpc>
              <a:spcBef>
                <a:spcPts val="0"/>
              </a:spcBef>
              <a:buNone/>
            </a:pPr>
            <a:r>
              <a:rPr lang="en-US" altLang="zh-CN" dirty="0"/>
              <a:t>void </a:t>
            </a:r>
            <a:r>
              <a:rPr lang="en-US" altLang="zh-CN" dirty="0" err="1"/>
              <a:t>SelectionSort</a:t>
            </a:r>
            <a:r>
              <a:rPr lang="en-US" altLang="zh-CN" dirty="0"/>
              <a:t>(T a[],</a:t>
            </a:r>
            <a:r>
              <a:rPr lang="en-US" altLang="zh-CN" dirty="0" err="1"/>
              <a:t>int</a:t>
            </a:r>
            <a:r>
              <a:rPr lang="en-US" altLang="zh-CN" dirty="0"/>
              <a:t> n){</a:t>
            </a:r>
          </a:p>
          <a:p>
            <a:pPr>
              <a:lnSpc>
                <a:spcPct val="90000"/>
              </a:lnSpc>
              <a:spcBef>
                <a:spcPts val="0"/>
              </a:spcBef>
              <a:buNone/>
            </a:pPr>
            <a:r>
              <a:rPr lang="en-US" altLang="zh-CN" dirty="0"/>
              <a:t>	// </a:t>
            </a:r>
            <a:r>
              <a:rPr lang="zh-CN" altLang="en-US" dirty="0"/>
              <a:t>对数组 </a:t>
            </a:r>
            <a:r>
              <a:rPr lang="en-US" altLang="zh-CN" dirty="0"/>
              <a:t>a[</a:t>
            </a:r>
            <a:r>
              <a:rPr lang="en-US" altLang="zh-CN" dirty="0" err="1"/>
              <a:t>0:n-1</a:t>
            </a:r>
            <a:r>
              <a:rPr lang="en-US" altLang="zh-CN" dirty="0"/>
              <a:t>] </a:t>
            </a:r>
            <a:r>
              <a:rPr lang="zh-CN" altLang="en-US" dirty="0"/>
              <a:t>中元素排序</a:t>
            </a:r>
          </a:p>
          <a:p>
            <a:pPr>
              <a:lnSpc>
                <a:spcPct val="90000"/>
              </a:lnSpc>
              <a:spcBef>
                <a:spcPts val="0"/>
              </a:spcBef>
              <a:buNone/>
            </a:pPr>
            <a:r>
              <a:rPr lang="zh-CN" altLang="en-US" dirty="0"/>
              <a:t>   </a:t>
            </a:r>
            <a:r>
              <a:rPr lang="en-US" altLang="zh-CN" dirty="0"/>
              <a:t>	for(</a:t>
            </a:r>
            <a:r>
              <a:rPr lang="en-US" altLang="zh-CN" dirty="0" err="1"/>
              <a:t>int</a:t>
            </a:r>
            <a:r>
              <a:rPr lang="en-US" altLang="zh-CN" dirty="0"/>
              <a:t> size=</a:t>
            </a:r>
            <a:r>
              <a:rPr lang="en-US" altLang="zh-CN" dirty="0" err="1"/>
              <a:t>n;size</a:t>
            </a:r>
            <a:r>
              <a:rPr lang="en-US" altLang="zh-CN" dirty="0"/>
              <a:t>&gt;</a:t>
            </a:r>
            <a:r>
              <a:rPr lang="en-US" altLang="zh-CN" dirty="0" err="1"/>
              <a:t>1;size</a:t>
            </a:r>
            <a:r>
              <a:rPr lang="en-US" altLang="zh-CN" dirty="0"/>
              <a:t>--){ </a:t>
            </a:r>
          </a:p>
          <a:p>
            <a:pPr>
              <a:lnSpc>
                <a:spcPct val="90000"/>
              </a:lnSpc>
              <a:spcBef>
                <a:spcPts val="0"/>
              </a:spcBef>
              <a:buNone/>
            </a:pPr>
            <a:r>
              <a:rPr lang="en-US" altLang="zh-CN" dirty="0"/>
              <a:t>		j=Max(a, size</a:t>
            </a:r>
            <a:r>
              <a:rPr lang="en-US" altLang="zh-CN" dirty="0" smtClean="0"/>
              <a:t>);</a:t>
            </a:r>
          </a:p>
          <a:p>
            <a:pPr>
              <a:lnSpc>
                <a:spcPct val="90000"/>
              </a:lnSpc>
              <a:spcBef>
                <a:spcPts val="0"/>
              </a:spcBef>
              <a:buNone/>
            </a:pPr>
            <a:r>
              <a:rPr lang="en-US" altLang="zh-CN" dirty="0"/>
              <a:t>	</a:t>
            </a:r>
            <a:r>
              <a:rPr lang="en-US" altLang="zh-CN" dirty="0" smtClean="0"/>
              <a:t>	Swap(a[j</a:t>
            </a:r>
            <a:r>
              <a:rPr lang="en-US" altLang="zh-CN" dirty="0"/>
              <a:t>],a[size-1]);</a:t>
            </a:r>
          </a:p>
          <a:p>
            <a:pPr>
              <a:lnSpc>
                <a:spcPct val="90000"/>
              </a:lnSpc>
              <a:spcBef>
                <a:spcPts val="0"/>
              </a:spcBef>
              <a:buNone/>
            </a:pPr>
            <a:r>
              <a:rPr lang="en-US" altLang="zh-CN" dirty="0"/>
              <a:t>	}</a:t>
            </a:r>
          </a:p>
          <a:p>
            <a:pPr>
              <a:lnSpc>
                <a:spcPct val="90000"/>
              </a:lnSpc>
              <a:spcBef>
                <a:spcPts val="0"/>
              </a:spcBef>
              <a:buNone/>
            </a:pPr>
            <a:r>
              <a:rPr lang="en-US" altLang="zh-CN" dirty="0"/>
              <a:t> }</a:t>
            </a:r>
          </a:p>
          <a:p>
            <a:pPr>
              <a:lnSpc>
                <a:spcPct val="90000"/>
              </a:lnSpc>
              <a:spcBef>
                <a:spcPts val="0"/>
              </a:spcBef>
              <a:buNone/>
            </a:pPr>
            <a:r>
              <a:rPr lang="en-US" altLang="zh-CN" dirty="0"/>
              <a:t>// </a:t>
            </a:r>
            <a:r>
              <a:rPr lang="zh-CN" altLang="en-US" dirty="0"/>
              <a:t>其中函数 </a:t>
            </a:r>
            <a:r>
              <a:rPr lang="en-US" altLang="zh-CN" dirty="0"/>
              <a:t>Max </a:t>
            </a:r>
            <a:r>
              <a:rPr lang="zh-CN" altLang="en-US" dirty="0"/>
              <a:t>寻找最大元素定义如例</a:t>
            </a:r>
            <a:r>
              <a:rPr lang="en-US" altLang="zh-CN" dirty="0"/>
              <a:t>1</a:t>
            </a:r>
          </a:p>
          <a:p>
            <a:pPr>
              <a:lnSpc>
                <a:spcPct val="90000"/>
              </a:lnSpc>
              <a:spcBef>
                <a:spcPts val="0"/>
              </a:spcBef>
              <a:buNone/>
            </a:pPr>
            <a:r>
              <a:rPr lang="en-US" altLang="zh-CN" dirty="0"/>
              <a:t>//</a:t>
            </a:r>
            <a:r>
              <a:rPr lang="zh-CN" altLang="en-US" dirty="0"/>
              <a:t>函数</a:t>
            </a:r>
            <a:r>
              <a:rPr lang="en-US" altLang="zh-CN" dirty="0"/>
              <a:t>Swap </a:t>
            </a:r>
            <a:r>
              <a:rPr lang="zh-CN" altLang="en-US" dirty="0"/>
              <a:t>由下述给出</a:t>
            </a:r>
          </a:p>
          <a:p>
            <a:pPr>
              <a:lnSpc>
                <a:spcPct val="90000"/>
              </a:lnSpc>
              <a:spcBef>
                <a:spcPts val="0"/>
              </a:spcBef>
              <a:buNone/>
            </a:pPr>
            <a:r>
              <a:rPr lang="en-US" altLang="zh-CN" dirty="0"/>
              <a:t>template&lt;class T&gt;</a:t>
            </a:r>
          </a:p>
          <a:p>
            <a:pPr>
              <a:lnSpc>
                <a:spcPct val="90000"/>
              </a:lnSpc>
              <a:spcBef>
                <a:spcPts val="0"/>
              </a:spcBef>
              <a:buNone/>
            </a:pPr>
            <a:r>
              <a:rPr lang="en-US" altLang="zh-CN" dirty="0"/>
              <a:t>inline void Swap(T &amp;a, T &amp;b){</a:t>
            </a:r>
          </a:p>
          <a:p>
            <a:pPr>
              <a:lnSpc>
                <a:spcPct val="90000"/>
              </a:lnSpc>
              <a:spcBef>
                <a:spcPts val="0"/>
              </a:spcBef>
              <a:buNone/>
            </a:pPr>
            <a:r>
              <a:rPr lang="en-US" altLang="zh-CN" dirty="0"/>
              <a:t>	T temp=a; a=b; b=temp; </a:t>
            </a:r>
          </a:p>
          <a:p>
            <a:pPr>
              <a:lnSpc>
                <a:spcPct val="90000"/>
              </a:lnSpc>
              <a:spcBef>
                <a:spcPts val="0"/>
              </a:spcBef>
              <a:buNone/>
            </a:pPr>
            <a:r>
              <a:rPr lang="en-US" altLang="zh-CN" dirty="0"/>
              <a:t>}</a:t>
            </a:r>
          </a:p>
        </p:txBody>
      </p:sp>
    </p:spTree>
    <p:extLst>
      <p:ext uri="{BB962C8B-B14F-4D97-AF65-F5344CB8AC3E}">
        <p14:creationId xmlns:p14="http://schemas.microsoft.com/office/powerpoint/2010/main" val="130250298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59395" name="Rectangle 2"/>
          <p:cNvSpPr>
            <a:spLocks noGrp="1" noChangeArrowheads="1"/>
          </p:cNvSpPr>
          <p:nvPr>
            <p:ph type="title"/>
          </p:nvPr>
        </p:nvSpPr>
        <p:spPr/>
        <p:txBody>
          <a:bodyPr/>
          <a:lstStyle/>
          <a:p>
            <a:pPr eaLnBrk="1" hangingPunct="1"/>
            <a:r>
              <a:rPr lang="en-US" altLang="zh-CN" dirty="0">
                <a:latin typeface="+mn-ea"/>
              </a:rPr>
              <a:t>1.2.3 </a:t>
            </a:r>
            <a:r>
              <a:rPr lang="zh-CN" altLang="en-US" dirty="0">
                <a:latin typeface="+mn-ea"/>
              </a:rPr>
              <a:t>时间复杂度</a:t>
            </a:r>
            <a:r>
              <a:rPr lang="en-US" altLang="zh-CN" dirty="0">
                <a:latin typeface="+mn-ea"/>
              </a:rPr>
              <a:t>——</a:t>
            </a:r>
            <a:r>
              <a:rPr lang="en-US" altLang="zh-CN" dirty="0" smtClean="0"/>
              <a:t/>
            </a:r>
            <a:br>
              <a:rPr lang="en-US" altLang="zh-CN" dirty="0" smtClean="0"/>
            </a:br>
            <a:r>
              <a:rPr lang="en-US" altLang="zh-CN" dirty="0" smtClean="0"/>
              <a:t>	</a:t>
            </a:r>
            <a:r>
              <a:rPr lang="zh-CN" altLang="en-US" dirty="0" smtClean="0"/>
              <a:t>例</a:t>
            </a:r>
            <a:r>
              <a:rPr lang="en-US" altLang="zh-CN" b="0" dirty="0">
                <a:latin typeface="Arial" panose="020B0604020202020204" pitchFamily="34" charset="0"/>
                <a:cs typeface="Arial" panose="020B0604020202020204" pitchFamily="34" charset="0"/>
              </a:rPr>
              <a:t>3</a:t>
            </a:r>
            <a:r>
              <a:rPr lang="zh-CN" altLang="en-US" dirty="0"/>
              <a:t>：对数组 </a:t>
            </a:r>
            <a:r>
              <a:rPr lang="en-US" altLang="zh-CN" b="0" dirty="0">
                <a:latin typeface="Arial" panose="020B0604020202020204" pitchFamily="34" charset="0"/>
                <a:cs typeface="Arial" panose="020B0604020202020204" pitchFamily="34" charset="0"/>
              </a:rPr>
              <a:t>a[</a:t>
            </a:r>
            <a:r>
              <a:rPr lang="en-US" altLang="zh-CN" b="0" dirty="0" err="1">
                <a:latin typeface="Arial" panose="020B0604020202020204" pitchFamily="34" charset="0"/>
                <a:cs typeface="Arial" panose="020B0604020202020204" pitchFamily="34" charset="0"/>
              </a:rPr>
              <a:t>0:n-1</a:t>
            </a:r>
            <a:r>
              <a:rPr lang="en-US" altLang="zh-CN" b="0" dirty="0">
                <a:latin typeface="Arial" panose="020B0604020202020204" pitchFamily="34" charset="0"/>
                <a:cs typeface="Arial" panose="020B0604020202020204" pitchFamily="34" charset="0"/>
              </a:rPr>
              <a:t>]</a:t>
            </a:r>
            <a:r>
              <a:rPr lang="en-US" altLang="zh-CN" dirty="0"/>
              <a:t> </a:t>
            </a:r>
            <a:r>
              <a:rPr lang="zh-CN" altLang="en-US" dirty="0"/>
              <a:t>进行选择排序</a:t>
            </a:r>
            <a:endParaRPr lang="en-US" altLang="zh-CN" dirty="0" smtClean="0"/>
          </a:p>
        </p:txBody>
      </p:sp>
      <p:sp>
        <p:nvSpPr>
          <p:cNvPr id="59396" name="Rectangle 3"/>
          <p:cNvSpPr>
            <a:spLocks noGrp="1" noChangeArrowheads="1"/>
          </p:cNvSpPr>
          <p:nvPr>
            <p:ph type="body" idx="1"/>
          </p:nvPr>
        </p:nvSpPr>
        <p:spPr>
          <a:xfrm>
            <a:off x="920750" y="1392701"/>
            <a:ext cx="7786687" cy="4525962"/>
          </a:xfrm>
        </p:spPr>
        <p:txBody>
          <a:bodyPr/>
          <a:lstStyle/>
          <a:p>
            <a:pPr>
              <a:lnSpc>
                <a:spcPct val="90000"/>
              </a:lnSpc>
              <a:spcBef>
                <a:spcPct val="0"/>
              </a:spcBef>
            </a:pPr>
            <a:r>
              <a:rPr lang="zh-CN" altLang="en-US" dirty="0" smtClean="0"/>
              <a:t>例中给出的排序中，首先找出最大元素，把它移动到</a:t>
            </a:r>
            <a:r>
              <a:rPr lang="en-US" altLang="zh-CN" dirty="0" smtClean="0"/>
              <a:t>a[n-1],</a:t>
            </a:r>
            <a:r>
              <a:rPr lang="zh-CN" altLang="en-US" dirty="0" smtClean="0"/>
              <a:t>然后在余下的 </a:t>
            </a:r>
            <a:r>
              <a:rPr lang="en-US" altLang="zh-CN" dirty="0" smtClean="0"/>
              <a:t>n-1 </a:t>
            </a:r>
            <a:r>
              <a:rPr lang="zh-CN" altLang="en-US" dirty="0" smtClean="0"/>
              <a:t>个中再寻找最大的元素，并把它移动到</a:t>
            </a:r>
            <a:r>
              <a:rPr lang="en-US" altLang="zh-CN" dirty="0" smtClean="0"/>
              <a:t>a[n-2],</a:t>
            </a:r>
            <a:r>
              <a:rPr lang="zh-CN" altLang="en-US" dirty="0" smtClean="0"/>
              <a:t>如此进行下去。从例</a:t>
            </a:r>
            <a:r>
              <a:rPr lang="en-US" altLang="zh-CN" dirty="0" smtClean="0"/>
              <a:t>1</a:t>
            </a:r>
            <a:r>
              <a:rPr lang="zh-CN" altLang="en-US" dirty="0" smtClean="0"/>
              <a:t>中已经知道，每次调用 </a:t>
            </a:r>
            <a:r>
              <a:rPr lang="en-US" altLang="zh-CN" dirty="0" smtClean="0"/>
              <a:t>Max(</a:t>
            </a:r>
            <a:r>
              <a:rPr lang="en-US" altLang="zh-CN" dirty="0" err="1" smtClean="0"/>
              <a:t>a,size</a:t>
            </a:r>
            <a:r>
              <a:rPr lang="en-US" altLang="zh-CN" dirty="0" smtClean="0"/>
              <a:t>)</a:t>
            </a:r>
            <a:r>
              <a:rPr lang="zh-CN" altLang="en-US" dirty="0" smtClean="0"/>
              <a:t>需要进行</a:t>
            </a:r>
            <a:r>
              <a:rPr lang="en-US" altLang="zh-CN" dirty="0" smtClean="0"/>
              <a:t>size-1 </a:t>
            </a:r>
            <a:r>
              <a:rPr lang="zh-CN" altLang="en-US" dirty="0" smtClean="0"/>
              <a:t>次比较，所以总的比较次数为1+2+…+</a:t>
            </a:r>
            <a:r>
              <a:rPr lang="en-US" altLang="zh-CN" dirty="0" smtClean="0"/>
              <a:t>n-1=(n-1)n/2. </a:t>
            </a:r>
            <a:r>
              <a:rPr lang="zh-CN" altLang="en-US" dirty="0" smtClean="0"/>
              <a:t>每调用一次函数 </a:t>
            </a:r>
            <a:r>
              <a:rPr lang="en-US" altLang="zh-CN" dirty="0" smtClean="0"/>
              <a:t>Swap</a:t>
            </a:r>
            <a:r>
              <a:rPr lang="zh-CN" altLang="en-US" dirty="0" smtClean="0"/>
              <a:t>需要执行三次元素移动，所以总的移动次数为 3(</a:t>
            </a:r>
            <a:r>
              <a:rPr lang="en-US" altLang="zh-CN" dirty="0" smtClean="0"/>
              <a:t>n-1). </a:t>
            </a:r>
            <a:r>
              <a:rPr lang="zh-CN" altLang="en-US" dirty="0" smtClean="0"/>
              <a:t>当然，在本程序中，还会有其他开销，在此未予考虑。</a:t>
            </a:r>
            <a:r>
              <a:rPr lang="en-US" altLang="zh-CN" dirty="0" smtClean="0"/>
              <a:t> </a:t>
            </a:r>
            <a:r>
              <a:rPr lang="zh-CN" altLang="en-US" dirty="0" smtClean="0"/>
              <a:t>总的比较次数为 </a:t>
            </a:r>
            <a:r>
              <a:rPr lang="en-US" altLang="zh-CN" dirty="0" smtClean="0"/>
              <a:t>(n-1)n/2+</a:t>
            </a:r>
            <a:r>
              <a:rPr lang="zh-CN" altLang="en-US" dirty="0" smtClean="0"/>
              <a:t> 3(</a:t>
            </a:r>
            <a:r>
              <a:rPr lang="en-US" altLang="zh-CN" dirty="0" smtClean="0"/>
              <a:t>n-1)</a:t>
            </a:r>
            <a:r>
              <a:rPr lang="zh-CN" altLang="en-US" dirty="0" smtClean="0"/>
              <a:t>。</a:t>
            </a:r>
            <a:endParaRPr lang="en-US" altLang="zh-CN" dirty="0" smtClean="0"/>
          </a:p>
        </p:txBody>
      </p:sp>
    </p:spTree>
    <p:extLst>
      <p:ext uri="{BB962C8B-B14F-4D97-AF65-F5344CB8AC3E}">
        <p14:creationId xmlns:p14="http://schemas.microsoft.com/office/powerpoint/2010/main" val="412896006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60419" name="Rectangle 2"/>
          <p:cNvSpPr>
            <a:spLocks noGrp="1" noChangeArrowheads="1"/>
          </p:cNvSpPr>
          <p:nvPr>
            <p:ph type="title"/>
          </p:nvPr>
        </p:nvSpPr>
        <p:spPr/>
        <p:txBody>
          <a:bodyPr/>
          <a:lstStyle/>
          <a:p>
            <a:pPr eaLnBrk="1" hangingPunct="1"/>
            <a:r>
              <a:rPr lang="en-US" altLang="zh-CN" dirty="0">
                <a:latin typeface="+mn-ea"/>
              </a:rPr>
              <a:t>1.2.3 </a:t>
            </a:r>
            <a:r>
              <a:rPr lang="zh-CN" altLang="en-US" dirty="0">
                <a:latin typeface="+mn-ea"/>
              </a:rPr>
              <a:t>时间复杂度</a:t>
            </a:r>
            <a:r>
              <a:rPr lang="en-US" altLang="zh-CN" dirty="0">
                <a:latin typeface="+mn-ea"/>
              </a:rPr>
              <a:t>——</a:t>
            </a:r>
            <a:r>
              <a:rPr lang="en-US" altLang="zh-CN" dirty="0" smtClean="0"/>
              <a:t/>
            </a:r>
            <a:br>
              <a:rPr lang="en-US" altLang="zh-CN" dirty="0" smtClean="0"/>
            </a:br>
            <a:r>
              <a:rPr lang="en-US" altLang="zh-CN" dirty="0" smtClean="0"/>
              <a:t>	</a:t>
            </a:r>
            <a:r>
              <a:rPr lang="zh-CN" altLang="en-US" dirty="0" smtClean="0"/>
              <a:t>最好、最坏、平均情况分析</a:t>
            </a:r>
            <a:endParaRPr lang="en-US" altLang="zh-CN" dirty="0" smtClean="0"/>
          </a:p>
        </p:txBody>
      </p:sp>
      <p:sp>
        <p:nvSpPr>
          <p:cNvPr id="60420" name="Rectangle 3"/>
          <p:cNvSpPr>
            <a:spLocks noGrp="1" noChangeArrowheads="1"/>
          </p:cNvSpPr>
          <p:nvPr>
            <p:ph type="body" idx="1"/>
          </p:nvPr>
        </p:nvSpPr>
        <p:spPr>
          <a:xfrm>
            <a:off x="920750" y="1401578"/>
            <a:ext cx="7786687" cy="4525962"/>
          </a:xfrm>
        </p:spPr>
        <p:txBody>
          <a:bodyPr/>
          <a:lstStyle/>
          <a:p>
            <a:pPr eaLnBrk="1" hangingPunct="1"/>
            <a:r>
              <a:rPr lang="zh-CN" altLang="en-US" dirty="0" smtClean="0">
                <a:sym typeface="Symbol" panose="05050102010706020507" pitchFamily="18" charset="2"/>
              </a:rPr>
              <a:t>实际算法分析过程中，人们往往还会关心</a:t>
            </a:r>
            <a:r>
              <a:rPr lang="zh-CN" altLang="en-US" dirty="0" smtClean="0">
                <a:solidFill>
                  <a:srgbClr val="FF0000"/>
                </a:solidFill>
                <a:sym typeface="Symbol" panose="05050102010706020507" pitchFamily="18" charset="2"/>
              </a:rPr>
              <a:t>最好的、最坏的和平均的操作步数</a:t>
            </a:r>
            <a:r>
              <a:rPr lang="zh-CN" altLang="en-US" dirty="0" smtClean="0">
                <a:sym typeface="Symbol" panose="05050102010706020507" pitchFamily="18" charset="2"/>
              </a:rPr>
              <a:t>是多少。在上面的计算中我们都考虑的是最坏的情况。</a:t>
            </a:r>
            <a:endParaRPr lang="en-US" altLang="zh-CN" dirty="0" smtClean="0">
              <a:sym typeface="Symbol" panose="05050102010706020507" pitchFamily="18" charset="2"/>
            </a:endParaRPr>
          </a:p>
          <a:p>
            <a:pPr eaLnBrk="1" hangingPunct="1"/>
            <a:endParaRPr lang="en-US" altLang="zh-CN" dirty="0" smtClean="0">
              <a:sym typeface="Symbol" panose="05050102010706020507" pitchFamily="18" charset="2"/>
            </a:endParaRPr>
          </a:p>
        </p:txBody>
      </p:sp>
    </p:spTree>
    <p:extLst>
      <p:ext uri="{BB962C8B-B14F-4D97-AF65-F5344CB8AC3E}">
        <p14:creationId xmlns:p14="http://schemas.microsoft.com/office/powerpoint/2010/main" val="132332410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1034" name="Rectangle 2"/>
          <p:cNvSpPr>
            <a:spLocks noGrp="1" noChangeArrowheads="1"/>
          </p:cNvSpPr>
          <p:nvPr>
            <p:ph type="title"/>
          </p:nvPr>
        </p:nvSpPr>
        <p:spPr/>
        <p:txBody>
          <a:bodyPr/>
          <a:lstStyle/>
          <a:p>
            <a:pPr eaLnBrk="1" hangingPunct="1"/>
            <a:r>
              <a:rPr lang="en-US" altLang="zh-CN" dirty="0">
                <a:latin typeface="+mn-ea"/>
              </a:rPr>
              <a:t>1.2.3 </a:t>
            </a:r>
            <a:r>
              <a:rPr lang="zh-CN" altLang="en-US" dirty="0">
                <a:latin typeface="+mn-ea"/>
              </a:rPr>
              <a:t>时间复杂度</a:t>
            </a:r>
            <a:r>
              <a:rPr lang="en-US" altLang="zh-CN" dirty="0">
                <a:latin typeface="+mn-ea"/>
              </a:rPr>
              <a:t>——</a:t>
            </a:r>
            <a:r>
              <a:rPr lang="en-US" altLang="zh-CN" dirty="0"/>
              <a:t/>
            </a:r>
            <a:br>
              <a:rPr lang="en-US" altLang="zh-CN" dirty="0"/>
            </a:br>
            <a:r>
              <a:rPr lang="en-US" altLang="zh-CN" dirty="0" smtClean="0"/>
              <a:t>	</a:t>
            </a:r>
            <a:r>
              <a:rPr lang="zh-CN" altLang="en-US" dirty="0" smtClean="0"/>
              <a:t>最好</a:t>
            </a:r>
            <a:r>
              <a:rPr lang="zh-CN" altLang="en-US" dirty="0"/>
              <a:t>、最坏、平均情况分析</a:t>
            </a:r>
            <a:endParaRPr lang="en-US" altLang="zh-CN" dirty="0" smtClean="0"/>
          </a:p>
        </p:txBody>
      </p:sp>
      <p:sp>
        <p:nvSpPr>
          <p:cNvPr id="205827" name="Rectangle 3"/>
          <p:cNvSpPr>
            <a:spLocks noGrp="1" noChangeArrowheads="1"/>
          </p:cNvSpPr>
          <p:nvPr>
            <p:ph type="body" idx="1"/>
          </p:nvPr>
        </p:nvSpPr>
        <p:spPr/>
        <p:txBody>
          <a:bodyPr/>
          <a:lstStyle/>
          <a:p>
            <a:pPr eaLnBrk="1" hangingPunct="1">
              <a:defRPr/>
            </a:pPr>
            <a:r>
              <a:rPr lang="zh-CN" altLang="en-US" sz="2400" dirty="0" smtClean="0">
                <a:sym typeface="Symbol" pitchFamily="18" charset="2"/>
              </a:rPr>
              <a:t>最坏情况下的时间复杂性：</a:t>
            </a:r>
            <a:endParaRPr lang="en-US" altLang="zh-CN" sz="2400" dirty="0" smtClean="0">
              <a:sym typeface="Symbol" pitchFamily="18" charset="2"/>
            </a:endParaRPr>
          </a:p>
          <a:p>
            <a:pPr eaLnBrk="1" hangingPunct="1">
              <a:defRPr/>
            </a:pPr>
            <a:endParaRPr lang="en-US" altLang="zh-CN" sz="2000" dirty="0" smtClean="0">
              <a:sym typeface="Symbol" pitchFamily="18" charset="2"/>
            </a:endParaRPr>
          </a:p>
          <a:p>
            <a:pPr eaLnBrk="1" hangingPunct="1">
              <a:defRPr/>
            </a:pPr>
            <a:r>
              <a:rPr lang="zh-CN" altLang="en-US" sz="2400" dirty="0" smtClean="0">
                <a:sym typeface="Symbol" pitchFamily="18" charset="2"/>
              </a:rPr>
              <a:t>最好情况下的时间复杂性</a:t>
            </a:r>
            <a:r>
              <a:rPr lang="en-US" altLang="zh-CN" sz="2400" dirty="0" smtClean="0">
                <a:sym typeface="Symbol" pitchFamily="18" charset="2"/>
              </a:rPr>
              <a:t>:</a:t>
            </a:r>
            <a:endParaRPr lang="zh-CN" altLang="en-US" sz="2400" dirty="0" smtClean="0">
              <a:sym typeface="Symbol" pitchFamily="18" charset="2"/>
            </a:endParaRPr>
          </a:p>
          <a:p>
            <a:pPr eaLnBrk="1" hangingPunct="1">
              <a:defRPr/>
            </a:pPr>
            <a:endParaRPr lang="en-US" altLang="zh-CN" sz="2000" dirty="0" smtClean="0">
              <a:sym typeface="Symbol" pitchFamily="18" charset="2"/>
            </a:endParaRPr>
          </a:p>
          <a:p>
            <a:pPr eaLnBrk="1" hangingPunct="1">
              <a:defRPr/>
            </a:pPr>
            <a:r>
              <a:rPr lang="zh-CN" altLang="en-US" sz="2400" dirty="0" smtClean="0">
                <a:sym typeface="Symbol" pitchFamily="18" charset="2"/>
              </a:rPr>
              <a:t>平均情况下的时间复杂性：</a:t>
            </a:r>
          </a:p>
          <a:p>
            <a:pPr>
              <a:defRPr/>
            </a:pPr>
            <a:r>
              <a:rPr lang="zh-CN" altLang="en-US" sz="2400" dirty="0" smtClean="0">
                <a:solidFill>
                  <a:srgbClr val="0070C0"/>
                </a:solidFill>
                <a:latin typeface="+mn-ea"/>
              </a:rPr>
              <a:t> </a:t>
            </a:r>
            <a:endParaRPr lang="en-US" altLang="zh-CN" sz="2400" dirty="0" smtClean="0">
              <a:solidFill>
                <a:srgbClr val="0070C0"/>
              </a:solidFill>
              <a:latin typeface="+mn-ea"/>
            </a:endParaRPr>
          </a:p>
          <a:p>
            <a:pPr>
              <a:defRPr/>
            </a:pPr>
            <a:endParaRPr lang="en-US" altLang="zh-CN" sz="2000" dirty="0" smtClean="0">
              <a:solidFill>
                <a:srgbClr val="0070C0"/>
              </a:solidFill>
              <a:latin typeface="+mn-ea"/>
            </a:endParaRPr>
          </a:p>
          <a:p>
            <a:pPr>
              <a:defRPr/>
            </a:pPr>
            <a:r>
              <a:rPr lang="zh-CN" altLang="en-US" sz="2400" dirty="0" smtClean="0">
                <a:solidFill>
                  <a:srgbClr val="0070C0"/>
                </a:solidFill>
                <a:latin typeface="+mn-ea"/>
              </a:rPr>
              <a:t>其中</a:t>
            </a:r>
            <a:r>
              <a:rPr lang="en-US" altLang="zh-CN" sz="2400" dirty="0" smtClean="0">
                <a:solidFill>
                  <a:srgbClr val="0070C0"/>
                </a:solidFill>
                <a:latin typeface="+mn-ea"/>
              </a:rPr>
              <a:t>D</a:t>
            </a:r>
            <a:r>
              <a:rPr lang="en-US" altLang="zh-CN" sz="2400" baseline="-25000" dirty="0" smtClean="0">
                <a:solidFill>
                  <a:srgbClr val="0070C0"/>
                </a:solidFill>
                <a:latin typeface="+mn-ea"/>
              </a:rPr>
              <a:t>N</a:t>
            </a:r>
            <a:r>
              <a:rPr lang="zh-CN" altLang="en-US" sz="2400" dirty="0" smtClean="0">
                <a:solidFill>
                  <a:srgbClr val="0070C0"/>
                </a:solidFill>
                <a:latin typeface="+mn-ea"/>
              </a:rPr>
              <a:t>是规模为</a:t>
            </a:r>
            <a:r>
              <a:rPr lang="en-US" altLang="zh-CN" sz="2400" dirty="0" smtClean="0">
                <a:solidFill>
                  <a:srgbClr val="0070C0"/>
                </a:solidFill>
                <a:latin typeface="+mn-ea"/>
              </a:rPr>
              <a:t>N</a:t>
            </a:r>
            <a:r>
              <a:rPr lang="zh-CN" altLang="en-US" sz="2400" dirty="0" smtClean="0">
                <a:solidFill>
                  <a:srgbClr val="0070C0"/>
                </a:solidFill>
                <a:latin typeface="+mn-ea"/>
              </a:rPr>
              <a:t>的合法输入的集合；</a:t>
            </a:r>
            <a:r>
              <a:rPr lang="en-US" altLang="zh-CN" sz="2400" dirty="0" smtClean="0">
                <a:solidFill>
                  <a:srgbClr val="0070C0"/>
                </a:solidFill>
                <a:latin typeface="+mn-ea"/>
              </a:rPr>
              <a:t>I</a:t>
            </a:r>
            <a:r>
              <a:rPr lang="en-US" altLang="zh-CN" sz="2400" baseline="30000" dirty="0" smtClean="0">
                <a:solidFill>
                  <a:srgbClr val="0070C0"/>
                </a:solidFill>
                <a:latin typeface="+mn-ea"/>
              </a:rPr>
              <a:t>*</a:t>
            </a:r>
            <a:r>
              <a:rPr lang="zh-CN" altLang="en-US" sz="2400" dirty="0" smtClean="0">
                <a:solidFill>
                  <a:srgbClr val="0070C0"/>
                </a:solidFill>
                <a:latin typeface="+mn-ea"/>
              </a:rPr>
              <a:t>是</a:t>
            </a:r>
            <a:r>
              <a:rPr lang="en-US" altLang="zh-CN" sz="2400" dirty="0" smtClean="0">
                <a:solidFill>
                  <a:srgbClr val="0070C0"/>
                </a:solidFill>
                <a:latin typeface="+mn-ea"/>
              </a:rPr>
              <a:t>D</a:t>
            </a:r>
            <a:r>
              <a:rPr lang="en-US" altLang="zh-CN" sz="2400" baseline="-25000" dirty="0" smtClean="0">
                <a:solidFill>
                  <a:srgbClr val="0070C0"/>
                </a:solidFill>
                <a:latin typeface="+mn-ea"/>
              </a:rPr>
              <a:t>N</a:t>
            </a:r>
            <a:r>
              <a:rPr lang="zh-CN" altLang="en-US" sz="2400" dirty="0" smtClean="0">
                <a:solidFill>
                  <a:srgbClr val="0070C0"/>
                </a:solidFill>
                <a:latin typeface="+mn-ea"/>
              </a:rPr>
              <a:t>中使</a:t>
            </a:r>
            <a:r>
              <a:rPr lang="en-US" altLang="zh-CN" sz="2400" dirty="0" smtClean="0">
                <a:solidFill>
                  <a:srgbClr val="0070C0"/>
                </a:solidFill>
                <a:latin typeface="+mn-ea"/>
              </a:rPr>
              <a:t>T(N, I</a:t>
            </a:r>
            <a:r>
              <a:rPr lang="en-US" altLang="zh-CN" sz="2400" baseline="30000" dirty="0" smtClean="0">
                <a:solidFill>
                  <a:srgbClr val="0070C0"/>
                </a:solidFill>
                <a:latin typeface="+mn-ea"/>
              </a:rPr>
              <a:t>*</a:t>
            </a:r>
            <a:r>
              <a:rPr lang="en-US" altLang="zh-CN" sz="2400" dirty="0" smtClean="0">
                <a:solidFill>
                  <a:srgbClr val="0070C0"/>
                </a:solidFill>
                <a:latin typeface="+mn-ea"/>
              </a:rPr>
              <a:t>)</a:t>
            </a:r>
            <a:r>
              <a:rPr lang="zh-CN" altLang="en-US" sz="2400" dirty="0" smtClean="0">
                <a:solidFill>
                  <a:srgbClr val="0070C0"/>
                </a:solidFill>
                <a:latin typeface="+mn-ea"/>
              </a:rPr>
              <a:t>达到</a:t>
            </a:r>
            <a:r>
              <a:rPr lang="en-US" altLang="zh-CN" sz="2400" dirty="0" err="1" smtClean="0">
                <a:solidFill>
                  <a:srgbClr val="0070C0"/>
                </a:solidFill>
                <a:latin typeface="+mn-ea"/>
              </a:rPr>
              <a:t>T</a:t>
            </a:r>
            <a:r>
              <a:rPr lang="en-US" altLang="zh-CN" sz="2400" baseline="-25000" dirty="0" err="1" smtClean="0">
                <a:solidFill>
                  <a:srgbClr val="0070C0"/>
                </a:solidFill>
                <a:latin typeface="+mn-ea"/>
              </a:rPr>
              <a:t>max</a:t>
            </a:r>
            <a:r>
              <a:rPr lang="en-US" altLang="zh-CN" sz="2400" dirty="0" smtClean="0">
                <a:solidFill>
                  <a:srgbClr val="0070C0"/>
                </a:solidFill>
                <a:latin typeface="+mn-ea"/>
              </a:rPr>
              <a:t>(N)</a:t>
            </a:r>
            <a:r>
              <a:rPr lang="zh-CN" altLang="en-US" sz="2400" dirty="0" smtClean="0">
                <a:solidFill>
                  <a:srgbClr val="0070C0"/>
                </a:solidFill>
                <a:latin typeface="+mn-ea"/>
              </a:rPr>
              <a:t>的合法输入；  是中使</a:t>
            </a:r>
            <a:r>
              <a:rPr lang="en-US" altLang="zh-CN" sz="2400" dirty="0" smtClean="0">
                <a:solidFill>
                  <a:srgbClr val="0070C0"/>
                </a:solidFill>
                <a:latin typeface="+mn-ea"/>
              </a:rPr>
              <a:t>T(N,  )</a:t>
            </a:r>
            <a:r>
              <a:rPr lang="zh-CN" altLang="en-US" sz="2400" dirty="0" smtClean="0">
                <a:solidFill>
                  <a:srgbClr val="0070C0"/>
                </a:solidFill>
                <a:latin typeface="+mn-ea"/>
              </a:rPr>
              <a:t>达到</a:t>
            </a:r>
            <a:r>
              <a:rPr lang="en-US" altLang="zh-CN" sz="2400" dirty="0" err="1" smtClean="0">
                <a:solidFill>
                  <a:srgbClr val="0070C0"/>
                </a:solidFill>
                <a:latin typeface="+mn-ea"/>
              </a:rPr>
              <a:t>T</a:t>
            </a:r>
            <a:r>
              <a:rPr lang="en-US" altLang="zh-CN" sz="2400" baseline="-25000" dirty="0" err="1" smtClean="0">
                <a:solidFill>
                  <a:srgbClr val="0070C0"/>
                </a:solidFill>
                <a:latin typeface="+mn-ea"/>
              </a:rPr>
              <a:t>min</a:t>
            </a:r>
            <a:r>
              <a:rPr lang="en-US" altLang="zh-CN" sz="2400" dirty="0" smtClean="0">
                <a:solidFill>
                  <a:srgbClr val="0070C0"/>
                </a:solidFill>
                <a:latin typeface="+mn-ea"/>
              </a:rPr>
              <a:t>(N)</a:t>
            </a:r>
            <a:r>
              <a:rPr lang="zh-CN" altLang="en-US" sz="2400" dirty="0" smtClean="0">
                <a:solidFill>
                  <a:srgbClr val="0070C0"/>
                </a:solidFill>
                <a:latin typeface="+mn-ea"/>
              </a:rPr>
              <a:t>的合法输入；而</a:t>
            </a:r>
            <a:r>
              <a:rPr lang="en-US" altLang="zh-CN" sz="2400" dirty="0" smtClean="0">
                <a:solidFill>
                  <a:srgbClr val="0070C0"/>
                </a:solidFill>
                <a:latin typeface="+mn-ea"/>
              </a:rPr>
              <a:t>P(I)</a:t>
            </a:r>
            <a:r>
              <a:rPr lang="zh-CN" altLang="en-US" sz="2400" dirty="0" smtClean="0">
                <a:solidFill>
                  <a:srgbClr val="0070C0"/>
                </a:solidFill>
                <a:latin typeface="+mn-ea"/>
              </a:rPr>
              <a:t>是在算法的应用中出现输入</a:t>
            </a:r>
            <a:r>
              <a:rPr lang="en-US" altLang="zh-CN" sz="2400" dirty="0" smtClean="0">
                <a:solidFill>
                  <a:srgbClr val="0070C0"/>
                </a:solidFill>
                <a:latin typeface="+mn-ea"/>
              </a:rPr>
              <a:t>I</a:t>
            </a:r>
            <a:r>
              <a:rPr lang="zh-CN" altLang="en-US" sz="2400" dirty="0" smtClean="0">
                <a:solidFill>
                  <a:srgbClr val="0070C0"/>
                </a:solidFill>
                <a:latin typeface="+mn-ea"/>
              </a:rPr>
              <a:t>的概率。</a:t>
            </a:r>
            <a:endParaRPr lang="en-US" altLang="zh-CN" sz="2400" dirty="0" smtClean="0">
              <a:solidFill>
                <a:srgbClr val="0070C0"/>
              </a:solidFill>
              <a:latin typeface="+mn-ea"/>
              <a:sym typeface="Symbol" pitchFamily="18" charset="2"/>
            </a:endParaRPr>
          </a:p>
        </p:txBody>
      </p:sp>
      <p:graphicFrame>
        <p:nvGraphicFramePr>
          <p:cNvPr id="1026" name="Object 12"/>
          <p:cNvGraphicFramePr>
            <a:graphicFrameLocks noChangeAspect="1"/>
          </p:cNvGraphicFramePr>
          <p:nvPr/>
        </p:nvGraphicFramePr>
        <p:xfrm>
          <a:off x="5572125" y="4500563"/>
          <a:ext cx="271463" cy="381000"/>
        </p:xfrm>
        <a:graphic>
          <a:graphicData uri="http://schemas.openxmlformats.org/presentationml/2006/ole">
            <mc:AlternateContent xmlns:mc="http://schemas.openxmlformats.org/markup-compatibility/2006">
              <mc:Choice xmlns:v="urn:schemas-microsoft-com:vml" Requires="v">
                <p:oleObj spid="_x0000_s51235" r:id="rId4" imgW="139639" imgH="203112" progId="Equation.3">
                  <p:embed/>
                </p:oleObj>
              </mc:Choice>
              <mc:Fallback>
                <p:oleObj r:id="rId4" imgW="139639" imgH="203112" progId="Equation.3">
                  <p:embed/>
                  <p:pic>
                    <p:nvPicPr>
                      <p:cNvPr id="1026" name="Object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72125" y="4500563"/>
                        <a:ext cx="271463"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7" name="Object 13"/>
          <p:cNvGraphicFramePr>
            <a:graphicFrameLocks noChangeAspect="1"/>
          </p:cNvGraphicFramePr>
          <p:nvPr/>
        </p:nvGraphicFramePr>
        <p:xfrm>
          <a:off x="7215188" y="4500563"/>
          <a:ext cx="271462" cy="381000"/>
        </p:xfrm>
        <a:graphic>
          <a:graphicData uri="http://schemas.openxmlformats.org/presentationml/2006/ole">
            <mc:AlternateContent xmlns:mc="http://schemas.openxmlformats.org/markup-compatibility/2006">
              <mc:Choice xmlns:v="urn:schemas-microsoft-com:vml" Requires="v">
                <p:oleObj spid="_x0000_s51236" r:id="rId6" imgW="139639" imgH="203112" progId="Equation.3">
                  <p:embed/>
                </p:oleObj>
              </mc:Choice>
              <mc:Fallback>
                <p:oleObj r:id="rId6" imgW="139639" imgH="203112" progId="Equation.3">
                  <p:embed/>
                  <p:pic>
                    <p:nvPicPr>
                      <p:cNvPr id="1027"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15188" y="4500563"/>
                        <a:ext cx="271462"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8" name="Object 2"/>
          <p:cNvGraphicFramePr>
            <a:graphicFrameLocks noChangeAspect="1"/>
          </p:cNvGraphicFramePr>
          <p:nvPr/>
        </p:nvGraphicFramePr>
        <p:xfrm>
          <a:off x="1347788" y="1690688"/>
          <a:ext cx="2057400" cy="438150"/>
        </p:xfrm>
        <a:graphic>
          <a:graphicData uri="http://schemas.openxmlformats.org/presentationml/2006/ole">
            <mc:AlternateContent xmlns:mc="http://schemas.openxmlformats.org/markup-compatibility/2006">
              <mc:Choice xmlns:v="urn:schemas-microsoft-com:vml" Requires="v">
                <p:oleObj spid="_x0000_s51237" r:id="rId7" imgW="1384300" imgH="292100" progId="Equation.3">
                  <p:embed/>
                </p:oleObj>
              </mc:Choice>
              <mc:Fallback>
                <p:oleObj r:id="rId7" imgW="1384300" imgH="292100" progId="Equation.3">
                  <p:embed/>
                  <p:pic>
                    <p:nvPicPr>
                      <p:cNvPr id="1028"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47788" y="1690688"/>
                        <a:ext cx="2057400" cy="438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9" name="Object 5"/>
          <p:cNvGraphicFramePr>
            <a:graphicFrameLocks noChangeAspect="1"/>
          </p:cNvGraphicFramePr>
          <p:nvPr/>
        </p:nvGraphicFramePr>
        <p:xfrm>
          <a:off x="3429000" y="1643063"/>
          <a:ext cx="1066800" cy="379412"/>
        </p:xfrm>
        <a:graphic>
          <a:graphicData uri="http://schemas.openxmlformats.org/presentationml/2006/ole">
            <mc:AlternateContent xmlns:mc="http://schemas.openxmlformats.org/markup-compatibility/2006">
              <mc:Choice xmlns:v="urn:schemas-microsoft-com:vml" Requires="v">
                <p:oleObj spid="_x0000_s51238" r:id="rId9" imgW="698500" imgH="228600" progId="Equation.3">
                  <p:embed/>
                </p:oleObj>
              </mc:Choice>
              <mc:Fallback>
                <p:oleObj r:id="rId9" imgW="698500" imgH="228600" progId="Equation.3">
                  <p:embed/>
                  <p:pic>
                    <p:nvPicPr>
                      <p:cNvPr id="1029"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29000" y="1643063"/>
                        <a:ext cx="1066800" cy="3794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0" name="Object 6"/>
          <p:cNvGraphicFramePr>
            <a:graphicFrameLocks noChangeAspect="1"/>
          </p:cNvGraphicFramePr>
          <p:nvPr/>
        </p:nvGraphicFramePr>
        <p:xfrm>
          <a:off x="1376363" y="2509838"/>
          <a:ext cx="1981200" cy="434975"/>
        </p:xfrm>
        <a:graphic>
          <a:graphicData uri="http://schemas.openxmlformats.org/presentationml/2006/ole">
            <mc:AlternateContent xmlns:mc="http://schemas.openxmlformats.org/markup-compatibility/2006">
              <mc:Choice xmlns:v="urn:schemas-microsoft-com:vml" Requires="v">
                <p:oleObj spid="_x0000_s51239" r:id="rId11" imgW="1346200" imgH="292100" progId="Equation.3">
                  <p:embed/>
                </p:oleObj>
              </mc:Choice>
              <mc:Fallback>
                <p:oleObj r:id="rId11" imgW="1346200" imgH="292100" progId="Equation.3">
                  <p:embed/>
                  <p:pic>
                    <p:nvPicPr>
                      <p:cNvPr id="103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76363" y="2509838"/>
                        <a:ext cx="1981200" cy="434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1" name="Object 9"/>
          <p:cNvGraphicFramePr>
            <a:graphicFrameLocks noChangeAspect="1"/>
          </p:cNvGraphicFramePr>
          <p:nvPr/>
        </p:nvGraphicFramePr>
        <p:xfrm>
          <a:off x="3357563" y="2500313"/>
          <a:ext cx="1066800" cy="390525"/>
        </p:xfrm>
        <a:graphic>
          <a:graphicData uri="http://schemas.openxmlformats.org/presentationml/2006/ole">
            <mc:AlternateContent xmlns:mc="http://schemas.openxmlformats.org/markup-compatibility/2006">
              <mc:Choice xmlns:v="urn:schemas-microsoft-com:vml" Requires="v">
                <p:oleObj spid="_x0000_s51240" r:id="rId13" imgW="647700" imgH="241300" progId="Equation.3">
                  <p:embed/>
                </p:oleObj>
              </mc:Choice>
              <mc:Fallback>
                <p:oleObj r:id="rId13" imgW="647700" imgH="241300" progId="Equation.3">
                  <p:embed/>
                  <p:pic>
                    <p:nvPicPr>
                      <p:cNvPr id="1031" name="Object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357563" y="2500313"/>
                        <a:ext cx="1066800" cy="390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2" name="Object 10"/>
          <p:cNvGraphicFramePr>
            <a:graphicFrameLocks noChangeAspect="1"/>
          </p:cNvGraphicFramePr>
          <p:nvPr/>
        </p:nvGraphicFramePr>
        <p:xfrm>
          <a:off x="1423988" y="3376613"/>
          <a:ext cx="2286000" cy="541337"/>
        </p:xfrm>
        <a:graphic>
          <a:graphicData uri="http://schemas.openxmlformats.org/presentationml/2006/ole">
            <mc:AlternateContent xmlns:mc="http://schemas.openxmlformats.org/markup-compatibility/2006">
              <mc:Choice xmlns:v="urn:schemas-microsoft-com:vml" Requires="v">
                <p:oleObj spid="_x0000_s51241" r:id="rId15" imgW="1574800" imgH="368300" progId="Equation.3">
                  <p:embed/>
                </p:oleObj>
              </mc:Choice>
              <mc:Fallback>
                <p:oleObj r:id="rId15" imgW="1574800" imgH="368300" progId="Equation.3">
                  <p:embed/>
                  <p:pic>
                    <p:nvPicPr>
                      <p:cNvPr id="1032" name="Object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423988" y="3376613"/>
                        <a:ext cx="2286000" cy="5413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98558095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61443" name="Rectangle 2"/>
          <p:cNvSpPr>
            <a:spLocks noGrp="1" noChangeArrowheads="1"/>
          </p:cNvSpPr>
          <p:nvPr>
            <p:ph type="title"/>
          </p:nvPr>
        </p:nvSpPr>
        <p:spPr/>
        <p:txBody>
          <a:bodyPr/>
          <a:lstStyle/>
          <a:p>
            <a:pPr eaLnBrk="1" hangingPunct="1"/>
            <a:r>
              <a:rPr lang="en-US" altLang="zh-CN" dirty="0">
                <a:latin typeface="+mn-ea"/>
              </a:rPr>
              <a:t>1.2.3 </a:t>
            </a:r>
            <a:r>
              <a:rPr lang="zh-CN" altLang="en-US" dirty="0">
                <a:latin typeface="+mn-ea"/>
              </a:rPr>
              <a:t>时间复杂度</a:t>
            </a:r>
            <a:r>
              <a:rPr lang="en-US" altLang="zh-CN" dirty="0" smtClean="0">
                <a:latin typeface="+mn-ea"/>
              </a:rPr>
              <a:t>——</a:t>
            </a:r>
            <a:r>
              <a:rPr lang="en-US" altLang="zh-CN" dirty="0" smtClean="0"/>
              <a:t/>
            </a:r>
            <a:br>
              <a:rPr lang="en-US" altLang="zh-CN" dirty="0" smtClean="0"/>
            </a:br>
            <a:r>
              <a:rPr lang="en-US" altLang="zh-CN" dirty="0" smtClean="0"/>
              <a:t>	</a:t>
            </a:r>
            <a:r>
              <a:rPr lang="zh-CN" altLang="en-US" dirty="0" smtClean="0"/>
              <a:t>例</a:t>
            </a:r>
            <a:r>
              <a:rPr lang="en-US" altLang="zh-CN" dirty="0" smtClean="0"/>
              <a:t>4</a:t>
            </a:r>
            <a:r>
              <a:rPr lang="zh-CN" altLang="en-US" dirty="0" smtClean="0"/>
              <a:t>：顺序查找算法</a:t>
            </a:r>
            <a:endParaRPr lang="en-US" altLang="zh-CN" dirty="0" smtClean="0"/>
          </a:p>
        </p:txBody>
      </p:sp>
      <p:sp>
        <p:nvSpPr>
          <p:cNvPr id="61444" name="Rectangle 3"/>
          <p:cNvSpPr>
            <a:spLocks noGrp="1" noChangeArrowheads="1"/>
          </p:cNvSpPr>
          <p:nvPr>
            <p:ph type="body" idx="1"/>
          </p:nvPr>
        </p:nvSpPr>
        <p:spPr/>
        <p:txBody>
          <a:bodyPr/>
          <a:lstStyle/>
          <a:p>
            <a:pPr>
              <a:lnSpc>
                <a:spcPct val="130000"/>
              </a:lnSpc>
              <a:spcBef>
                <a:spcPct val="0"/>
              </a:spcBef>
              <a:buFontTx/>
              <a:buNone/>
            </a:pPr>
            <a:r>
              <a:rPr lang="en-US" altLang="zh-CN" dirty="0" smtClean="0">
                <a:sym typeface="Symbol" panose="05050102010706020507" pitchFamily="18" charset="2"/>
              </a:rPr>
              <a:t>template&lt;class Type&gt;</a:t>
            </a:r>
          </a:p>
          <a:p>
            <a:pPr>
              <a:lnSpc>
                <a:spcPct val="130000"/>
              </a:lnSpc>
              <a:spcBef>
                <a:spcPct val="0"/>
              </a:spcBef>
              <a:buFontTx/>
              <a:buNone/>
            </a:pPr>
            <a:r>
              <a:rPr lang="en-US" altLang="zh-CN" dirty="0" err="1" smtClean="0">
                <a:sym typeface="Symbol" panose="05050102010706020507" pitchFamily="18" charset="2"/>
              </a:rPr>
              <a:t>int</a:t>
            </a:r>
            <a:r>
              <a:rPr lang="en-US" altLang="zh-CN" dirty="0" smtClean="0">
                <a:sym typeface="Symbol" panose="05050102010706020507" pitchFamily="18" charset="2"/>
              </a:rPr>
              <a:t> </a:t>
            </a:r>
            <a:r>
              <a:rPr lang="en-US" altLang="zh-CN" dirty="0" err="1" smtClean="0">
                <a:sym typeface="Symbol" panose="05050102010706020507" pitchFamily="18" charset="2"/>
              </a:rPr>
              <a:t>seqSearch</a:t>
            </a:r>
            <a:r>
              <a:rPr lang="en-US" altLang="zh-CN" dirty="0" smtClean="0">
                <a:sym typeface="Symbol" panose="05050102010706020507" pitchFamily="18" charset="2"/>
              </a:rPr>
              <a:t>(Type *a, </a:t>
            </a:r>
            <a:r>
              <a:rPr lang="en-US" altLang="zh-CN" dirty="0" err="1" smtClean="0">
                <a:sym typeface="Symbol" panose="05050102010706020507" pitchFamily="18" charset="2"/>
              </a:rPr>
              <a:t>int</a:t>
            </a:r>
            <a:r>
              <a:rPr lang="en-US" altLang="zh-CN" dirty="0" smtClean="0">
                <a:sym typeface="Symbol" panose="05050102010706020507" pitchFamily="18" charset="2"/>
              </a:rPr>
              <a:t> n, Type k){</a:t>
            </a:r>
          </a:p>
          <a:p>
            <a:pPr>
              <a:lnSpc>
                <a:spcPct val="130000"/>
              </a:lnSpc>
              <a:spcBef>
                <a:spcPct val="0"/>
              </a:spcBef>
              <a:buFontTx/>
              <a:buNone/>
            </a:pPr>
            <a:r>
              <a:rPr lang="en-US" altLang="zh-CN" dirty="0" smtClean="0">
                <a:sym typeface="Symbol" panose="05050102010706020507" pitchFamily="18" charset="2"/>
              </a:rPr>
              <a:t>        for(</a:t>
            </a:r>
            <a:r>
              <a:rPr lang="en-US" altLang="zh-CN" dirty="0" err="1" smtClean="0">
                <a:sym typeface="Symbol" panose="05050102010706020507" pitchFamily="18" charset="2"/>
              </a:rPr>
              <a:t>int</a:t>
            </a:r>
            <a:r>
              <a:rPr lang="en-US" altLang="zh-CN" dirty="0" smtClean="0">
                <a:sym typeface="Symbol" panose="05050102010706020507" pitchFamily="18" charset="2"/>
              </a:rPr>
              <a:t> </a:t>
            </a:r>
            <a:r>
              <a:rPr lang="en-US" altLang="zh-CN" dirty="0" err="1" smtClean="0">
                <a:sym typeface="Symbol" panose="05050102010706020507" pitchFamily="18" charset="2"/>
              </a:rPr>
              <a:t>i</a:t>
            </a:r>
            <a:r>
              <a:rPr lang="en-US" altLang="zh-CN" dirty="0" smtClean="0">
                <a:sym typeface="Symbol" panose="05050102010706020507" pitchFamily="18" charset="2"/>
              </a:rPr>
              <a:t>=</a:t>
            </a:r>
            <a:r>
              <a:rPr lang="en-US" altLang="zh-CN" dirty="0" err="1" smtClean="0">
                <a:sym typeface="Symbol" panose="05050102010706020507" pitchFamily="18" charset="2"/>
              </a:rPr>
              <a:t>0;i</a:t>
            </a:r>
            <a:r>
              <a:rPr lang="en-US" altLang="zh-CN" dirty="0" smtClean="0">
                <a:sym typeface="Symbol" panose="05050102010706020507" pitchFamily="18" charset="2"/>
              </a:rPr>
              <a:t>&lt;</a:t>
            </a:r>
            <a:r>
              <a:rPr lang="en-US" altLang="zh-CN" dirty="0" err="1" smtClean="0">
                <a:sym typeface="Symbol" panose="05050102010706020507" pitchFamily="18" charset="2"/>
              </a:rPr>
              <a:t>n;i</a:t>
            </a:r>
            <a:r>
              <a:rPr lang="en-US" altLang="zh-CN" dirty="0" smtClean="0">
                <a:sym typeface="Symbol" panose="05050102010706020507" pitchFamily="18" charset="2"/>
              </a:rPr>
              <a:t>++)</a:t>
            </a:r>
          </a:p>
          <a:p>
            <a:pPr>
              <a:lnSpc>
                <a:spcPct val="130000"/>
              </a:lnSpc>
              <a:spcBef>
                <a:spcPct val="0"/>
              </a:spcBef>
              <a:buFontTx/>
              <a:buNone/>
            </a:pPr>
            <a:r>
              <a:rPr lang="en-US" altLang="zh-CN" dirty="0" smtClean="0">
                <a:sym typeface="Symbol" panose="05050102010706020507" pitchFamily="18" charset="2"/>
              </a:rPr>
              <a:t>        </a:t>
            </a:r>
            <a:r>
              <a:rPr lang="en-US" altLang="zh-CN" dirty="0">
                <a:sym typeface="Symbol" panose="05050102010706020507" pitchFamily="18" charset="2"/>
              </a:rPr>
              <a:t> </a:t>
            </a:r>
            <a:r>
              <a:rPr lang="en-US" altLang="zh-CN" dirty="0" smtClean="0">
                <a:sym typeface="Symbol" panose="05050102010706020507" pitchFamily="18" charset="2"/>
              </a:rPr>
              <a:t>      if (a[</a:t>
            </a:r>
            <a:r>
              <a:rPr lang="en-US" altLang="zh-CN" dirty="0" err="1" smtClean="0">
                <a:sym typeface="Symbol" panose="05050102010706020507" pitchFamily="18" charset="2"/>
              </a:rPr>
              <a:t>i</a:t>
            </a:r>
            <a:r>
              <a:rPr lang="en-US" altLang="zh-CN" dirty="0" smtClean="0">
                <a:sym typeface="Symbol" panose="05050102010706020507" pitchFamily="18" charset="2"/>
              </a:rPr>
              <a:t>]==k) return </a:t>
            </a:r>
            <a:r>
              <a:rPr lang="en-US" altLang="zh-CN" dirty="0" err="1" smtClean="0">
                <a:sym typeface="Symbol" panose="05050102010706020507" pitchFamily="18" charset="2"/>
              </a:rPr>
              <a:t>i</a:t>
            </a:r>
            <a:r>
              <a:rPr lang="en-US" altLang="zh-CN" dirty="0" smtClean="0">
                <a:sym typeface="Symbol" panose="05050102010706020507" pitchFamily="18" charset="2"/>
              </a:rPr>
              <a:t>;</a:t>
            </a:r>
          </a:p>
          <a:p>
            <a:pPr>
              <a:lnSpc>
                <a:spcPct val="130000"/>
              </a:lnSpc>
              <a:spcBef>
                <a:spcPct val="0"/>
              </a:spcBef>
              <a:buFontTx/>
              <a:buNone/>
            </a:pPr>
            <a:r>
              <a:rPr lang="en-US" altLang="zh-CN" dirty="0" smtClean="0">
                <a:sym typeface="Symbol" panose="05050102010706020507" pitchFamily="18" charset="2"/>
              </a:rPr>
              <a:t>        return -1;</a:t>
            </a:r>
          </a:p>
          <a:p>
            <a:pPr>
              <a:lnSpc>
                <a:spcPct val="130000"/>
              </a:lnSpc>
              <a:spcBef>
                <a:spcPct val="0"/>
              </a:spcBef>
              <a:buFontTx/>
              <a:buNone/>
            </a:pPr>
            <a:r>
              <a:rPr lang="en-US" altLang="zh-CN" dirty="0" smtClean="0">
                <a:sym typeface="Symbol" panose="05050102010706020507" pitchFamily="18" charset="2"/>
              </a:rPr>
              <a:t>}</a:t>
            </a:r>
          </a:p>
        </p:txBody>
      </p:sp>
    </p:spTree>
    <p:extLst>
      <p:ext uri="{BB962C8B-B14F-4D97-AF65-F5344CB8AC3E}">
        <p14:creationId xmlns:p14="http://schemas.microsoft.com/office/powerpoint/2010/main" val="117544039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2054" name="Rectangle 2"/>
          <p:cNvSpPr>
            <a:spLocks noGrp="1" noChangeArrowheads="1"/>
          </p:cNvSpPr>
          <p:nvPr>
            <p:ph type="title"/>
          </p:nvPr>
        </p:nvSpPr>
        <p:spPr/>
        <p:txBody>
          <a:bodyPr/>
          <a:lstStyle/>
          <a:p>
            <a:pPr eaLnBrk="1" hangingPunct="1"/>
            <a:r>
              <a:rPr lang="en-US" altLang="zh-CN" dirty="0">
                <a:latin typeface="+mn-ea"/>
              </a:rPr>
              <a:t>1.2.3 </a:t>
            </a:r>
            <a:r>
              <a:rPr lang="zh-CN" altLang="en-US" dirty="0">
                <a:latin typeface="+mn-ea"/>
              </a:rPr>
              <a:t>时间复杂度</a:t>
            </a:r>
            <a:r>
              <a:rPr lang="en-US" altLang="zh-CN" dirty="0" smtClean="0">
                <a:latin typeface="+mn-ea"/>
              </a:rPr>
              <a:t>——</a:t>
            </a:r>
            <a:r>
              <a:rPr lang="en-US" altLang="zh-CN" dirty="0" smtClean="0"/>
              <a:t/>
            </a:r>
            <a:br>
              <a:rPr lang="en-US" altLang="zh-CN" dirty="0" smtClean="0"/>
            </a:br>
            <a:r>
              <a:rPr lang="en-US" altLang="zh-CN" dirty="0" smtClean="0"/>
              <a:t>	</a:t>
            </a:r>
            <a:r>
              <a:rPr lang="zh-CN" altLang="en-US" dirty="0" smtClean="0"/>
              <a:t>例</a:t>
            </a:r>
            <a:r>
              <a:rPr lang="en-US" altLang="zh-CN" dirty="0" smtClean="0"/>
              <a:t>4</a:t>
            </a:r>
            <a:r>
              <a:rPr lang="zh-CN" altLang="en-US" dirty="0" smtClean="0"/>
              <a:t>：顺序查找算法</a:t>
            </a:r>
            <a:endParaRPr lang="en-US" altLang="zh-CN" dirty="0" smtClean="0"/>
          </a:p>
        </p:txBody>
      </p:sp>
      <p:sp>
        <p:nvSpPr>
          <p:cNvPr id="2055" name="Rectangle 3"/>
          <p:cNvSpPr>
            <a:spLocks noGrp="1" noChangeArrowheads="1"/>
          </p:cNvSpPr>
          <p:nvPr>
            <p:ph type="body" idx="1"/>
          </p:nvPr>
        </p:nvSpPr>
        <p:spPr/>
        <p:txBody>
          <a:bodyPr/>
          <a:lstStyle/>
          <a:p>
            <a:pPr>
              <a:spcBef>
                <a:spcPct val="0"/>
              </a:spcBef>
            </a:pPr>
            <a:r>
              <a:rPr lang="zh-CN" altLang="en-US" sz="2400" smtClean="0"/>
              <a:t>（</a:t>
            </a:r>
            <a:r>
              <a:rPr lang="en-US" altLang="zh-CN" sz="2400" smtClean="0"/>
              <a:t>1</a:t>
            </a:r>
            <a:r>
              <a:rPr lang="zh-CN" altLang="en-US" sz="2400" smtClean="0"/>
              <a:t>）</a:t>
            </a:r>
            <a:r>
              <a:rPr lang="en-US" altLang="zh-CN" sz="2400" i="1" smtClean="0"/>
              <a:t>T</a:t>
            </a:r>
            <a:r>
              <a:rPr lang="en-US" altLang="zh-CN" sz="2400" baseline="-25000" smtClean="0"/>
              <a:t>max</a:t>
            </a:r>
            <a:r>
              <a:rPr lang="en-US" altLang="zh-CN" sz="2400" smtClean="0"/>
              <a:t>(</a:t>
            </a:r>
            <a:r>
              <a:rPr lang="en-US" altLang="zh-CN" sz="2400" i="1" smtClean="0"/>
              <a:t>n</a:t>
            </a:r>
            <a:r>
              <a:rPr lang="en-US" altLang="zh-CN" sz="2400" smtClean="0"/>
              <a:t>) = max{ </a:t>
            </a:r>
            <a:r>
              <a:rPr lang="en-US" altLang="zh-CN" sz="2400" i="1" smtClean="0"/>
              <a:t>T</a:t>
            </a:r>
            <a:r>
              <a:rPr lang="en-US" altLang="zh-CN" sz="2400" smtClean="0"/>
              <a:t>(I) | size(I)=</a:t>
            </a:r>
            <a:r>
              <a:rPr lang="en-US" altLang="zh-CN" sz="2400" i="1" smtClean="0"/>
              <a:t>n </a:t>
            </a:r>
            <a:r>
              <a:rPr lang="en-US" altLang="zh-CN" sz="2400" smtClean="0"/>
              <a:t>}=</a:t>
            </a:r>
            <a:r>
              <a:rPr lang="en-US" altLang="zh-CN" sz="2400" i="1" smtClean="0"/>
              <a:t>O</a:t>
            </a:r>
            <a:r>
              <a:rPr lang="en-US" altLang="zh-CN" sz="2400" smtClean="0"/>
              <a:t>(</a:t>
            </a:r>
            <a:r>
              <a:rPr lang="en-US" altLang="zh-CN" sz="2400" i="1" smtClean="0"/>
              <a:t>n</a:t>
            </a:r>
            <a:r>
              <a:rPr lang="en-US" altLang="zh-CN" sz="2400" smtClean="0"/>
              <a:t>)</a:t>
            </a:r>
          </a:p>
          <a:p>
            <a:pPr>
              <a:spcBef>
                <a:spcPct val="0"/>
              </a:spcBef>
            </a:pPr>
            <a:r>
              <a:rPr lang="zh-CN" altLang="en-US" sz="2400" smtClean="0"/>
              <a:t>（</a:t>
            </a:r>
            <a:r>
              <a:rPr lang="en-US" altLang="zh-CN" sz="2400" smtClean="0"/>
              <a:t>2</a:t>
            </a:r>
            <a:r>
              <a:rPr lang="zh-CN" altLang="en-US" sz="2400" smtClean="0"/>
              <a:t>）</a:t>
            </a:r>
            <a:r>
              <a:rPr lang="en-US" altLang="zh-CN" sz="2400" i="1" smtClean="0"/>
              <a:t>T</a:t>
            </a:r>
            <a:r>
              <a:rPr lang="en-US" altLang="zh-CN" sz="2400" baseline="-25000" smtClean="0"/>
              <a:t>min</a:t>
            </a:r>
            <a:r>
              <a:rPr lang="en-US" altLang="zh-CN" sz="2400" smtClean="0"/>
              <a:t>(</a:t>
            </a:r>
            <a:r>
              <a:rPr lang="en-US" altLang="zh-CN" sz="2400" i="1" smtClean="0"/>
              <a:t>n</a:t>
            </a:r>
            <a:r>
              <a:rPr lang="en-US" altLang="zh-CN" sz="2400" smtClean="0"/>
              <a:t>) = min{ </a:t>
            </a:r>
            <a:r>
              <a:rPr lang="en-US" altLang="zh-CN" sz="2400" i="1" smtClean="0"/>
              <a:t>T</a:t>
            </a:r>
            <a:r>
              <a:rPr lang="en-US" altLang="zh-CN" sz="2400" smtClean="0"/>
              <a:t>(I) | size(I)=</a:t>
            </a:r>
            <a:r>
              <a:rPr lang="en-US" altLang="zh-CN" sz="2400" i="1" smtClean="0"/>
              <a:t>n </a:t>
            </a:r>
            <a:r>
              <a:rPr lang="en-US" altLang="zh-CN" sz="2400" smtClean="0"/>
              <a:t>}=</a:t>
            </a:r>
            <a:r>
              <a:rPr lang="en-US" altLang="zh-CN" sz="2400" i="1" smtClean="0"/>
              <a:t>O</a:t>
            </a:r>
            <a:r>
              <a:rPr lang="en-US" altLang="zh-CN" sz="2400" smtClean="0"/>
              <a:t>(1)</a:t>
            </a:r>
          </a:p>
          <a:p>
            <a:pPr>
              <a:spcBef>
                <a:spcPct val="0"/>
              </a:spcBef>
            </a:pPr>
            <a:r>
              <a:rPr lang="zh-CN" altLang="en-US" sz="2400" smtClean="0"/>
              <a:t>（</a:t>
            </a:r>
            <a:r>
              <a:rPr lang="en-US" altLang="zh-CN" sz="2400" smtClean="0"/>
              <a:t>3</a:t>
            </a:r>
            <a:r>
              <a:rPr lang="zh-CN" altLang="en-US" sz="2400" smtClean="0"/>
              <a:t>）在平均情况下，假设：</a:t>
            </a:r>
          </a:p>
          <a:p>
            <a:pPr>
              <a:spcBef>
                <a:spcPct val="0"/>
              </a:spcBef>
            </a:pPr>
            <a:r>
              <a:rPr lang="zh-CN" altLang="en-US" sz="2400" smtClean="0"/>
              <a:t>   </a:t>
            </a:r>
            <a:r>
              <a:rPr lang="en-US" altLang="zh-CN" sz="2400" smtClean="0"/>
              <a:t>(a) </a:t>
            </a:r>
            <a:r>
              <a:rPr lang="zh-CN" altLang="en-US" sz="2400" smtClean="0"/>
              <a:t>搜索成功的概率为</a:t>
            </a:r>
            <a:r>
              <a:rPr lang="en-US" altLang="zh-CN" sz="2400" i="1" smtClean="0"/>
              <a:t>p </a:t>
            </a:r>
            <a:r>
              <a:rPr lang="en-US" altLang="zh-CN" sz="2400" smtClean="0"/>
              <a:t>( 0 </a:t>
            </a:r>
            <a:r>
              <a:rPr lang="en-US" altLang="zh-CN" sz="2400" smtClean="0">
                <a:sym typeface="Symbol" panose="05050102010706020507" pitchFamily="18" charset="2"/>
              </a:rPr>
              <a:t></a:t>
            </a:r>
            <a:r>
              <a:rPr lang="en-US" altLang="zh-CN" sz="2400" smtClean="0"/>
              <a:t> </a:t>
            </a:r>
            <a:r>
              <a:rPr lang="en-US" altLang="zh-CN" sz="2400" i="1" smtClean="0"/>
              <a:t>p</a:t>
            </a:r>
            <a:r>
              <a:rPr lang="en-US" altLang="zh-CN" sz="2400" smtClean="0"/>
              <a:t> </a:t>
            </a:r>
            <a:r>
              <a:rPr lang="en-US" altLang="zh-CN" sz="2400" smtClean="0">
                <a:sym typeface="Symbol" panose="05050102010706020507" pitchFamily="18" charset="2"/>
              </a:rPr>
              <a:t></a:t>
            </a:r>
            <a:r>
              <a:rPr lang="en-US" altLang="zh-CN" sz="2400" smtClean="0"/>
              <a:t> 1 )</a:t>
            </a:r>
            <a:r>
              <a:rPr lang="zh-CN" altLang="en-US" sz="2400" smtClean="0"/>
              <a:t>；</a:t>
            </a:r>
          </a:p>
          <a:p>
            <a:pPr>
              <a:spcBef>
                <a:spcPct val="0"/>
              </a:spcBef>
            </a:pPr>
            <a:r>
              <a:rPr lang="zh-CN" altLang="en-US" sz="2400" smtClean="0"/>
              <a:t>   </a:t>
            </a:r>
            <a:r>
              <a:rPr lang="en-US" altLang="zh-CN" sz="2400" smtClean="0"/>
              <a:t>(b) </a:t>
            </a:r>
            <a:r>
              <a:rPr lang="zh-CN" altLang="en-US" sz="2400" smtClean="0"/>
              <a:t>在数组的每个位置</a:t>
            </a:r>
            <a:r>
              <a:rPr lang="en-US" altLang="zh-CN" sz="2400" i="1" smtClean="0"/>
              <a:t>i </a:t>
            </a:r>
            <a:r>
              <a:rPr lang="en-US" altLang="zh-CN" sz="2400" smtClean="0"/>
              <a:t>( 0 </a:t>
            </a:r>
            <a:r>
              <a:rPr lang="en-US" altLang="zh-CN" sz="2400" smtClean="0">
                <a:sym typeface="Symbol" panose="05050102010706020507" pitchFamily="18" charset="2"/>
              </a:rPr>
              <a:t> </a:t>
            </a:r>
            <a:r>
              <a:rPr lang="en-US" altLang="zh-CN" sz="2400" i="1" smtClean="0"/>
              <a:t>i </a:t>
            </a:r>
            <a:r>
              <a:rPr lang="en-US" altLang="zh-CN" sz="2400" smtClean="0"/>
              <a:t>&lt; </a:t>
            </a:r>
            <a:r>
              <a:rPr lang="en-US" altLang="zh-CN" sz="2400" i="1" smtClean="0"/>
              <a:t>n </a:t>
            </a:r>
            <a:r>
              <a:rPr lang="en-US" altLang="zh-CN" sz="2400" smtClean="0"/>
              <a:t>)</a:t>
            </a:r>
            <a:r>
              <a:rPr lang="zh-CN" altLang="en-US" sz="2400" smtClean="0"/>
              <a:t>搜索成功的概率相同，均为 </a:t>
            </a:r>
            <a:r>
              <a:rPr lang="en-US" altLang="zh-CN" sz="2400" i="1" smtClean="0"/>
              <a:t>p</a:t>
            </a:r>
            <a:r>
              <a:rPr lang="en-US" altLang="zh-CN" sz="2400" smtClean="0"/>
              <a:t>/</a:t>
            </a:r>
            <a:r>
              <a:rPr lang="en-US" altLang="zh-CN" sz="2400" i="1" smtClean="0"/>
              <a:t>n</a:t>
            </a:r>
            <a:r>
              <a:rPr lang="zh-CN" altLang="en-US" sz="2400" smtClean="0"/>
              <a:t>。</a:t>
            </a:r>
            <a:endParaRPr lang="en-US" altLang="zh-CN" sz="2400" smtClean="0"/>
          </a:p>
          <a:p>
            <a:pPr>
              <a:spcBef>
                <a:spcPct val="0"/>
              </a:spcBef>
            </a:pPr>
            <a:endParaRPr lang="en-US" altLang="zh-CN" sz="2400" smtClean="0"/>
          </a:p>
          <a:p>
            <a:pPr>
              <a:spcBef>
                <a:spcPct val="0"/>
              </a:spcBef>
            </a:pPr>
            <a:endParaRPr lang="en-US" altLang="zh-CN" sz="2400" smtClean="0"/>
          </a:p>
          <a:p>
            <a:pPr>
              <a:spcBef>
                <a:spcPct val="0"/>
              </a:spcBef>
            </a:pPr>
            <a:endParaRPr lang="en-US" altLang="zh-CN" sz="2400" smtClean="0"/>
          </a:p>
          <a:p>
            <a:pPr>
              <a:spcBef>
                <a:spcPct val="0"/>
              </a:spcBef>
            </a:pPr>
            <a:endParaRPr lang="en-US" altLang="zh-CN" sz="2400" smtClean="0"/>
          </a:p>
          <a:p>
            <a:pPr>
              <a:spcBef>
                <a:spcPct val="0"/>
              </a:spcBef>
            </a:pPr>
            <a:endParaRPr lang="en-US" altLang="zh-CN" sz="2400" smtClean="0"/>
          </a:p>
          <a:p>
            <a:pPr>
              <a:spcBef>
                <a:spcPct val="0"/>
              </a:spcBef>
            </a:pPr>
            <a:r>
              <a:rPr lang="zh-CN" altLang="en-US" sz="2400" smtClean="0"/>
              <a:t>当</a:t>
            </a:r>
            <a:r>
              <a:rPr lang="en-US" altLang="zh-CN" sz="2400" i="1" smtClean="0"/>
              <a:t>p =1</a:t>
            </a:r>
            <a:r>
              <a:rPr lang="zh-CN" altLang="en-US" sz="2400" i="1" smtClean="0"/>
              <a:t>，</a:t>
            </a:r>
            <a:r>
              <a:rPr lang="zh-CN" altLang="en-US" sz="2400" smtClean="0"/>
              <a:t>则</a:t>
            </a:r>
            <a:r>
              <a:rPr lang="en-US" altLang="zh-CN" sz="2400" i="1" smtClean="0"/>
              <a:t>T</a:t>
            </a:r>
            <a:r>
              <a:rPr lang="en-US" altLang="zh-CN" sz="2400" i="1" baseline="-25000" smtClean="0"/>
              <a:t>avg</a:t>
            </a:r>
            <a:r>
              <a:rPr lang="en-US" altLang="zh-CN" sz="2400" smtClean="0"/>
              <a:t>(</a:t>
            </a:r>
            <a:r>
              <a:rPr lang="en-US" altLang="zh-CN" sz="2400" i="1" smtClean="0"/>
              <a:t>n</a:t>
            </a:r>
            <a:r>
              <a:rPr lang="en-US" altLang="zh-CN" sz="2400" smtClean="0"/>
              <a:t>) =(n+1)/2</a:t>
            </a:r>
            <a:r>
              <a:rPr lang="zh-CN" altLang="en-US" sz="2400" smtClean="0"/>
              <a:t>；当</a:t>
            </a:r>
            <a:r>
              <a:rPr lang="en-US" altLang="zh-CN" sz="2400" i="1" smtClean="0"/>
              <a:t>p =0</a:t>
            </a:r>
            <a:r>
              <a:rPr lang="zh-CN" altLang="en-US" sz="2400" i="1" smtClean="0"/>
              <a:t>，</a:t>
            </a:r>
            <a:r>
              <a:rPr lang="zh-CN" altLang="en-US" sz="2400" smtClean="0"/>
              <a:t>则</a:t>
            </a:r>
            <a:r>
              <a:rPr lang="en-US" altLang="zh-CN" sz="2400" i="1" smtClean="0"/>
              <a:t>T</a:t>
            </a:r>
            <a:r>
              <a:rPr lang="en-US" altLang="zh-CN" sz="2400" i="1" baseline="-25000" smtClean="0"/>
              <a:t>avg</a:t>
            </a:r>
            <a:r>
              <a:rPr lang="en-US" altLang="zh-CN" sz="2400" smtClean="0"/>
              <a:t>(</a:t>
            </a:r>
            <a:r>
              <a:rPr lang="en-US" altLang="zh-CN" sz="2400" i="1" smtClean="0"/>
              <a:t>n</a:t>
            </a:r>
            <a:r>
              <a:rPr lang="en-US" altLang="zh-CN" sz="2400" smtClean="0"/>
              <a:t>) =n</a:t>
            </a:r>
            <a:r>
              <a:rPr lang="zh-CN" altLang="en-US" sz="2400" smtClean="0"/>
              <a:t>；</a:t>
            </a:r>
          </a:p>
        </p:txBody>
      </p:sp>
      <p:graphicFrame>
        <p:nvGraphicFramePr>
          <p:cNvPr id="2050" name="Object 2"/>
          <p:cNvGraphicFramePr>
            <a:graphicFrameLocks noChangeAspect="1"/>
          </p:cNvGraphicFramePr>
          <p:nvPr/>
        </p:nvGraphicFramePr>
        <p:xfrm>
          <a:off x="857250" y="3643313"/>
          <a:ext cx="3168650" cy="757237"/>
        </p:xfrm>
        <a:graphic>
          <a:graphicData uri="http://schemas.openxmlformats.org/presentationml/2006/ole">
            <mc:AlternateContent xmlns:mc="http://schemas.openxmlformats.org/markup-compatibility/2006">
              <mc:Choice xmlns:v="urn:schemas-microsoft-com:vml" Requires="v">
                <p:oleObj spid="_x0000_s2503" name="公式" r:id="rId4" imgW="1473200" imgH="355600" progId="Equation.3">
                  <p:embed/>
                </p:oleObj>
              </mc:Choice>
              <mc:Fallback>
                <p:oleObj name="公式" r:id="rId4" imgW="1473200" imgH="355600" progId="Equation.3">
                  <p:embed/>
                  <p:pic>
                    <p:nvPicPr>
                      <p:cNvPr id="205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7250" y="3643313"/>
                        <a:ext cx="3168650" cy="757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1" name="Object 3"/>
          <p:cNvGraphicFramePr>
            <a:graphicFrameLocks noChangeAspect="1"/>
          </p:cNvGraphicFramePr>
          <p:nvPr/>
        </p:nvGraphicFramePr>
        <p:xfrm>
          <a:off x="1812925" y="4500563"/>
          <a:ext cx="5688013" cy="865187"/>
        </p:xfrm>
        <a:graphic>
          <a:graphicData uri="http://schemas.openxmlformats.org/presentationml/2006/ole">
            <mc:AlternateContent xmlns:mc="http://schemas.openxmlformats.org/markup-compatibility/2006">
              <mc:Choice xmlns:v="urn:schemas-microsoft-com:vml" Requires="v">
                <p:oleObj spid="_x0000_s2504" name="公式" r:id="rId6" imgW="2819400" imgH="431800" progId="Equation.3">
                  <p:embed/>
                </p:oleObj>
              </mc:Choice>
              <mc:Fallback>
                <p:oleObj name="公式" r:id="rId6" imgW="2819400" imgH="431800" progId="Equation.3">
                  <p:embed/>
                  <p:pic>
                    <p:nvPicPr>
                      <p:cNvPr id="2051"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12925" y="4500563"/>
                        <a:ext cx="5688013" cy="8651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2" name="Object 4"/>
          <p:cNvGraphicFramePr>
            <a:graphicFrameLocks noChangeAspect="1"/>
          </p:cNvGraphicFramePr>
          <p:nvPr/>
        </p:nvGraphicFramePr>
        <p:xfrm>
          <a:off x="4032250" y="3471863"/>
          <a:ext cx="5040313" cy="885825"/>
        </p:xfrm>
        <a:graphic>
          <a:graphicData uri="http://schemas.openxmlformats.org/presentationml/2006/ole">
            <mc:AlternateContent xmlns:mc="http://schemas.openxmlformats.org/markup-compatibility/2006">
              <mc:Choice xmlns:v="urn:schemas-microsoft-com:vml" Requires="v">
                <p:oleObj spid="_x0000_s2505" name="公式" r:id="rId8" imgW="2438400" imgH="431800" progId="Equation.3">
                  <p:embed/>
                </p:oleObj>
              </mc:Choice>
              <mc:Fallback>
                <p:oleObj name="公式" r:id="rId8" imgW="2438400" imgH="431800" progId="Equation.3">
                  <p:embed/>
                  <p:pic>
                    <p:nvPicPr>
                      <p:cNvPr id="2052"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32250" y="3471863"/>
                        <a:ext cx="5040313" cy="885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5252400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62467" name="Rectangle 2"/>
          <p:cNvSpPr>
            <a:spLocks noGrp="1" noChangeArrowheads="1"/>
          </p:cNvSpPr>
          <p:nvPr>
            <p:ph type="title"/>
          </p:nvPr>
        </p:nvSpPr>
        <p:spPr/>
        <p:txBody>
          <a:bodyPr/>
          <a:lstStyle/>
          <a:p>
            <a:pPr eaLnBrk="1" hangingPunct="1"/>
            <a:r>
              <a:rPr lang="en-US" altLang="zh-CN" dirty="0">
                <a:latin typeface="+mn-ea"/>
              </a:rPr>
              <a:t>1.2.3 </a:t>
            </a:r>
            <a:r>
              <a:rPr lang="zh-CN" altLang="en-US" dirty="0">
                <a:latin typeface="+mn-ea"/>
              </a:rPr>
              <a:t>时间复杂</a:t>
            </a:r>
            <a:r>
              <a:rPr lang="zh-CN" altLang="en-US" dirty="0" smtClean="0">
                <a:latin typeface="+mn-ea"/>
              </a:rPr>
              <a:t>度</a:t>
            </a:r>
            <a:r>
              <a:rPr lang="en-US" altLang="zh-CN" dirty="0">
                <a:latin typeface="+mn-ea"/>
              </a:rPr>
              <a:t>——</a:t>
            </a:r>
            <a:r>
              <a:rPr lang="zh-CN" altLang="en-US" dirty="0" smtClean="0"/>
              <a:t>渐进表示</a:t>
            </a:r>
            <a:endParaRPr lang="en-US" altLang="zh-CN" dirty="0" smtClean="0"/>
          </a:p>
        </p:txBody>
      </p:sp>
      <p:sp>
        <p:nvSpPr>
          <p:cNvPr id="62468" name="Rectangle 3"/>
          <p:cNvSpPr>
            <a:spLocks noGrp="1" noChangeArrowheads="1"/>
          </p:cNvSpPr>
          <p:nvPr>
            <p:ph type="body" idx="1"/>
          </p:nvPr>
        </p:nvSpPr>
        <p:spPr/>
        <p:txBody>
          <a:bodyPr/>
          <a:lstStyle/>
          <a:p>
            <a:pPr eaLnBrk="1" hangingPunct="1">
              <a:lnSpc>
                <a:spcPct val="90000"/>
              </a:lnSpc>
              <a:buFont typeface="Wingdings" panose="05000000000000000000" pitchFamily="2" charset="2"/>
              <a:buNone/>
            </a:pPr>
            <a:r>
              <a:rPr lang="zh-CN" altLang="en-US" dirty="0" smtClean="0"/>
              <a:t>记：算法的计算时间为</a:t>
            </a:r>
            <a:r>
              <a:rPr lang="en-US" altLang="zh-CN" dirty="0" smtClean="0"/>
              <a:t>f(n)</a:t>
            </a:r>
          </a:p>
          <a:p>
            <a:pPr eaLnBrk="1" hangingPunct="1">
              <a:lnSpc>
                <a:spcPct val="90000"/>
              </a:lnSpc>
              <a:buFont typeface="Wingdings" panose="05000000000000000000" pitchFamily="2" charset="2"/>
              <a:buNone/>
            </a:pPr>
            <a:r>
              <a:rPr lang="en-US" altLang="zh-CN" dirty="0" smtClean="0"/>
              <a:t>        </a:t>
            </a:r>
            <a:r>
              <a:rPr lang="zh-CN" altLang="en-US" dirty="0" smtClean="0"/>
              <a:t>数量级限界函数为</a:t>
            </a:r>
            <a:r>
              <a:rPr lang="en-US" altLang="zh-CN" dirty="0" smtClean="0"/>
              <a:t>g(n)</a:t>
            </a:r>
          </a:p>
          <a:p>
            <a:pPr eaLnBrk="1" hangingPunct="1">
              <a:lnSpc>
                <a:spcPct val="90000"/>
              </a:lnSpc>
              <a:buFont typeface="Wingdings" panose="05000000000000000000" pitchFamily="2" charset="2"/>
              <a:buNone/>
            </a:pPr>
            <a:r>
              <a:rPr lang="zh-CN" altLang="en-US" dirty="0" smtClean="0"/>
              <a:t>其中，</a:t>
            </a:r>
          </a:p>
          <a:p>
            <a:pPr eaLnBrk="1" hangingPunct="1">
              <a:lnSpc>
                <a:spcPct val="90000"/>
              </a:lnSpc>
            </a:pPr>
            <a:r>
              <a:rPr lang="zh-CN" altLang="en-US" dirty="0" smtClean="0"/>
              <a:t> </a:t>
            </a:r>
            <a:r>
              <a:rPr lang="en-US" altLang="zh-CN" dirty="0" smtClean="0"/>
              <a:t>n</a:t>
            </a:r>
            <a:r>
              <a:rPr lang="zh-CN" altLang="en-US" dirty="0" smtClean="0"/>
              <a:t>是输入或输出规模的某种测度，即</a:t>
            </a:r>
            <a:r>
              <a:rPr lang="zh-CN" altLang="en-US" dirty="0" smtClean="0">
                <a:solidFill>
                  <a:srgbClr val="FF0000"/>
                </a:solidFill>
              </a:rPr>
              <a:t>问题的规模</a:t>
            </a:r>
            <a:r>
              <a:rPr lang="zh-CN" altLang="en-US" dirty="0" smtClean="0"/>
              <a:t>。</a:t>
            </a:r>
          </a:p>
          <a:p>
            <a:pPr eaLnBrk="1" hangingPunct="1">
              <a:lnSpc>
                <a:spcPct val="90000"/>
              </a:lnSpc>
            </a:pPr>
            <a:r>
              <a:rPr lang="zh-CN" altLang="en-US" dirty="0" smtClean="0"/>
              <a:t> </a:t>
            </a:r>
            <a:r>
              <a:rPr lang="en-US" altLang="zh-CN" dirty="0" smtClean="0"/>
              <a:t>f(n)</a:t>
            </a:r>
            <a:r>
              <a:rPr lang="zh-CN" altLang="en-US" dirty="0" smtClean="0"/>
              <a:t>表示算法的“实际”</a:t>
            </a:r>
            <a:r>
              <a:rPr lang="zh-CN" altLang="en-US" dirty="0" smtClean="0">
                <a:solidFill>
                  <a:srgbClr val="FF0000"/>
                </a:solidFill>
              </a:rPr>
              <a:t>执行时间</a:t>
            </a:r>
            <a:r>
              <a:rPr lang="zh-CN" altLang="en-US" dirty="0" smtClean="0"/>
              <a:t>。</a:t>
            </a:r>
          </a:p>
          <a:p>
            <a:pPr eaLnBrk="1" hangingPunct="1">
              <a:lnSpc>
                <a:spcPct val="90000"/>
              </a:lnSpc>
            </a:pPr>
            <a:r>
              <a:rPr lang="zh-CN" altLang="en-US" dirty="0" smtClean="0"/>
              <a:t> </a:t>
            </a:r>
            <a:r>
              <a:rPr lang="en-US" altLang="zh-CN" dirty="0" smtClean="0"/>
              <a:t>g(n)</a:t>
            </a:r>
            <a:r>
              <a:rPr lang="zh-CN" altLang="en-US" dirty="0" smtClean="0"/>
              <a:t>是形式简单的函数，如</a:t>
            </a:r>
            <a:r>
              <a:rPr lang="en-US" altLang="zh-CN" sz="2800" dirty="0" smtClean="0"/>
              <a:t>n</a:t>
            </a:r>
            <a:r>
              <a:rPr lang="en-US" altLang="zh-CN" sz="2800" baseline="30000" dirty="0" smtClean="0"/>
              <a:t>m</a:t>
            </a:r>
            <a:r>
              <a:rPr lang="zh-CN" altLang="en-US" dirty="0" smtClean="0"/>
              <a:t>，</a:t>
            </a:r>
            <a:r>
              <a:rPr lang="en-US" altLang="zh-CN" dirty="0" err="1" smtClean="0"/>
              <a:t>logn</a:t>
            </a:r>
            <a:r>
              <a:rPr lang="zh-CN" altLang="en-US" dirty="0" smtClean="0"/>
              <a:t>，</a:t>
            </a:r>
            <a:r>
              <a:rPr lang="en-US" altLang="zh-CN" dirty="0" err="1" smtClean="0"/>
              <a:t>2n</a:t>
            </a:r>
            <a:r>
              <a:rPr lang="zh-CN" altLang="en-US" dirty="0" smtClean="0"/>
              <a:t>，</a:t>
            </a:r>
            <a:r>
              <a:rPr lang="en-US" altLang="zh-CN" dirty="0" smtClean="0"/>
              <a:t>n!</a:t>
            </a:r>
            <a:r>
              <a:rPr lang="zh-CN" altLang="en-US" dirty="0" smtClean="0"/>
              <a:t>等。是事前分析中通过对计算时间或频率计数统计分析所得的与机器及语言无关的函数。</a:t>
            </a:r>
          </a:p>
        </p:txBody>
      </p:sp>
    </p:spTree>
    <p:extLst>
      <p:ext uri="{BB962C8B-B14F-4D97-AF65-F5344CB8AC3E}">
        <p14:creationId xmlns:p14="http://schemas.microsoft.com/office/powerpoint/2010/main" val="86626274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63491" name="Rectangle 2"/>
          <p:cNvSpPr>
            <a:spLocks noGrp="1" noChangeArrowheads="1"/>
          </p:cNvSpPr>
          <p:nvPr>
            <p:ph type="title"/>
          </p:nvPr>
        </p:nvSpPr>
        <p:spPr/>
        <p:txBody>
          <a:bodyPr/>
          <a:lstStyle/>
          <a:p>
            <a:pPr eaLnBrk="1" hangingPunct="1"/>
            <a:r>
              <a:rPr lang="zh-CN" altLang="en-US" dirty="0"/>
              <a:t>渐进</a:t>
            </a:r>
            <a:r>
              <a:rPr lang="zh-CN" altLang="en-US" dirty="0" smtClean="0"/>
              <a:t>表示</a:t>
            </a:r>
            <a:r>
              <a:rPr lang="en-US" altLang="zh-CN" dirty="0">
                <a:latin typeface="+mn-ea"/>
              </a:rPr>
              <a:t>——</a:t>
            </a:r>
            <a:r>
              <a:rPr lang="zh-CN" altLang="en-US" dirty="0" smtClean="0"/>
              <a:t>大</a:t>
            </a:r>
            <a:r>
              <a:rPr lang="en-US" altLang="zh-CN" dirty="0" smtClean="0"/>
              <a:t> O-</a:t>
            </a:r>
            <a:r>
              <a:rPr lang="zh-CN" altLang="en-US" dirty="0" smtClean="0"/>
              <a:t>记号（渐近上界记号）</a:t>
            </a:r>
            <a:endParaRPr lang="en-US" altLang="zh-CN" dirty="0" smtClean="0"/>
          </a:p>
        </p:txBody>
      </p:sp>
      <p:sp>
        <p:nvSpPr>
          <p:cNvPr id="68611" name="Rectangle 3"/>
          <p:cNvSpPr>
            <a:spLocks noGrp="1" noChangeArrowheads="1"/>
          </p:cNvSpPr>
          <p:nvPr>
            <p:ph type="body" idx="1"/>
          </p:nvPr>
        </p:nvSpPr>
        <p:spPr/>
        <p:txBody>
          <a:bodyPr/>
          <a:lstStyle/>
          <a:p>
            <a:pPr eaLnBrk="1" hangingPunct="1">
              <a:defRPr/>
            </a:pPr>
            <a:r>
              <a:rPr lang="zh-CN" altLang="en-US" dirty="0" smtClean="0"/>
              <a:t>定义</a:t>
            </a:r>
            <a:r>
              <a:rPr lang="en-US" altLang="zh-CN" dirty="0" smtClean="0"/>
              <a:t>1.2 </a:t>
            </a:r>
          </a:p>
          <a:p>
            <a:pPr lvl="1" eaLnBrk="1" hangingPunct="1">
              <a:defRPr/>
            </a:pPr>
            <a:r>
              <a:rPr lang="zh-CN" altLang="en-US" dirty="0" smtClean="0">
                <a:latin typeface="+mn-lt"/>
                <a:ea typeface="+mn-ea"/>
                <a:cs typeface="+mn-cs"/>
              </a:rPr>
              <a:t>设</a:t>
            </a:r>
            <a:r>
              <a:rPr lang="en-US" altLang="zh-CN" dirty="0" smtClean="0">
                <a:latin typeface="+mn-lt"/>
                <a:ea typeface="+mn-ea"/>
                <a:cs typeface="+mn-cs"/>
              </a:rPr>
              <a:t>f(n)</a:t>
            </a:r>
            <a:r>
              <a:rPr lang="zh-CN" altLang="en-US" dirty="0" smtClean="0">
                <a:latin typeface="+mn-lt"/>
                <a:ea typeface="+mn-ea"/>
                <a:cs typeface="+mn-cs"/>
              </a:rPr>
              <a:t>和</a:t>
            </a:r>
            <a:r>
              <a:rPr lang="en-US" altLang="zh-CN" dirty="0" smtClean="0">
                <a:latin typeface="+mn-lt"/>
                <a:ea typeface="+mn-ea"/>
                <a:cs typeface="+mn-cs"/>
                <a:sym typeface="Symbol" pitchFamily="18" charset="2"/>
              </a:rPr>
              <a:t>g(n)</a:t>
            </a:r>
            <a:r>
              <a:rPr lang="zh-CN" altLang="en-US" dirty="0" smtClean="0">
                <a:latin typeface="+mn-lt"/>
                <a:ea typeface="+mn-ea"/>
                <a:cs typeface="+mn-cs"/>
              </a:rPr>
              <a:t>是定义在正数集上的正函数。</a:t>
            </a:r>
            <a:r>
              <a:rPr lang="en-US" altLang="zh-CN" dirty="0" smtClean="0">
                <a:latin typeface="+mn-lt"/>
                <a:ea typeface="+mn-ea"/>
                <a:cs typeface="+mn-cs"/>
              </a:rPr>
              <a:t> </a:t>
            </a:r>
          </a:p>
          <a:p>
            <a:pPr lvl="1" eaLnBrk="1" hangingPunct="1">
              <a:defRPr/>
            </a:pPr>
            <a:r>
              <a:rPr lang="zh-CN" altLang="en-US" dirty="0" smtClean="0">
                <a:latin typeface="+mn-lt"/>
                <a:ea typeface="+mn-ea"/>
                <a:cs typeface="+mn-cs"/>
              </a:rPr>
              <a:t>如果存在正的常数</a:t>
            </a:r>
            <a:r>
              <a:rPr lang="en-US" altLang="zh-CN" dirty="0" smtClean="0">
                <a:latin typeface="+mn-lt"/>
                <a:ea typeface="+mn-ea"/>
                <a:cs typeface="+mn-cs"/>
              </a:rPr>
              <a:t>c</a:t>
            </a:r>
            <a:r>
              <a:rPr lang="zh-CN" altLang="en-US" dirty="0" smtClean="0">
                <a:latin typeface="+mn-lt"/>
                <a:ea typeface="+mn-ea"/>
                <a:cs typeface="+mn-cs"/>
              </a:rPr>
              <a:t>和自然数</a:t>
            </a:r>
            <a:r>
              <a:rPr lang="en-US" altLang="zh-CN" dirty="0" smtClean="0">
                <a:latin typeface="+mn-lt"/>
                <a:ea typeface="+mn-ea"/>
                <a:cs typeface="+mn-cs"/>
              </a:rPr>
              <a:t>n0</a:t>
            </a:r>
            <a:r>
              <a:rPr lang="zh-CN" altLang="en-US" dirty="0" smtClean="0">
                <a:latin typeface="+mn-lt"/>
                <a:ea typeface="+mn-ea"/>
                <a:cs typeface="+mn-cs"/>
              </a:rPr>
              <a:t>，</a:t>
            </a:r>
            <a:r>
              <a:rPr lang="zh-CN" altLang="en-US" dirty="0" smtClean="0">
                <a:solidFill>
                  <a:srgbClr val="FF0000"/>
                </a:solidFill>
                <a:latin typeface="+mn-lt"/>
                <a:ea typeface="+mn-ea"/>
                <a:cs typeface="+mn-cs"/>
              </a:rPr>
              <a:t>使得当</a:t>
            </a:r>
            <a:r>
              <a:rPr lang="en-US" altLang="zh-CN" dirty="0" smtClean="0">
                <a:solidFill>
                  <a:srgbClr val="FF0000"/>
                </a:solidFill>
                <a:latin typeface="+mn-lt"/>
                <a:ea typeface="+mn-ea"/>
                <a:cs typeface="+mn-cs"/>
                <a:sym typeface="Symbol" pitchFamily="18" charset="2"/>
              </a:rPr>
              <a:t>nn0</a:t>
            </a:r>
            <a:r>
              <a:rPr lang="zh-CN" altLang="en-US" dirty="0" smtClean="0">
                <a:solidFill>
                  <a:srgbClr val="FF0000"/>
                </a:solidFill>
                <a:latin typeface="+mn-lt"/>
                <a:ea typeface="+mn-ea"/>
                <a:cs typeface="+mn-cs"/>
              </a:rPr>
              <a:t>时有</a:t>
            </a:r>
            <a:r>
              <a:rPr lang="en-US" altLang="zh-CN" dirty="0" smtClean="0">
                <a:solidFill>
                  <a:srgbClr val="FF0000"/>
                </a:solidFill>
                <a:latin typeface="+mn-lt"/>
                <a:ea typeface="+mn-ea"/>
                <a:cs typeface="+mn-cs"/>
                <a:sym typeface="Symbol" pitchFamily="18" charset="2"/>
              </a:rPr>
              <a:t>f (n) c g (n)</a:t>
            </a:r>
            <a:r>
              <a:rPr lang="zh-CN" altLang="en-US" dirty="0" smtClean="0">
                <a:latin typeface="+mn-lt"/>
                <a:ea typeface="+mn-ea"/>
                <a:cs typeface="+mn-cs"/>
              </a:rPr>
              <a:t>，则称函数</a:t>
            </a:r>
            <a:r>
              <a:rPr lang="en-US" altLang="zh-CN" dirty="0" smtClean="0">
                <a:latin typeface="+mn-lt"/>
                <a:ea typeface="+mn-ea"/>
                <a:cs typeface="+mn-cs"/>
              </a:rPr>
              <a:t>f(n)</a:t>
            </a:r>
            <a:r>
              <a:rPr lang="zh-CN" altLang="en-US" dirty="0" smtClean="0">
                <a:latin typeface="+mn-lt"/>
                <a:ea typeface="+mn-ea"/>
                <a:cs typeface="+mn-cs"/>
              </a:rPr>
              <a:t>当</a:t>
            </a:r>
            <a:r>
              <a:rPr lang="en-US" altLang="zh-CN" dirty="0" smtClean="0">
                <a:latin typeface="+mn-lt"/>
                <a:ea typeface="+mn-ea"/>
                <a:cs typeface="+mn-cs"/>
              </a:rPr>
              <a:t>n</a:t>
            </a:r>
            <a:r>
              <a:rPr lang="zh-CN" altLang="en-US" dirty="0" smtClean="0">
                <a:latin typeface="+mn-lt"/>
                <a:ea typeface="+mn-ea"/>
                <a:cs typeface="+mn-cs"/>
              </a:rPr>
              <a:t>充分大时上有界，且</a:t>
            </a:r>
            <a:r>
              <a:rPr lang="en-US" altLang="zh-CN" dirty="0" smtClean="0">
                <a:latin typeface="+mn-lt"/>
                <a:ea typeface="+mn-ea"/>
                <a:cs typeface="+mn-cs"/>
              </a:rPr>
              <a:t>g(n)</a:t>
            </a:r>
            <a:r>
              <a:rPr lang="zh-CN" altLang="en-US" dirty="0" smtClean="0">
                <a:latin typeface="+mn-lt"/>
                <a:ea typeface="+mn-ea"/>
                <a:cs typeface="+mn-cs"/>
              </a:rPr>
              <a:t>是它的一个上界，记为</a:t>
            </a:r>
            <a:r>
              <a:rPr lang="en-US" altLang="zh-CN" dirty="0" smtClean="0">
                <a:latin typeface="+mn-lt"/>
                <a:ea typeface="+mn-ea"/>
                <a:cs typeface="+mn-cs"/>
              </a:rPr>
              <a:t>f(n)=O(g(n))</a:t>
            </a:r>
            <a:r>
              <a:rPr lang="zh-CN" altLang="en-US" dirty="0" smtClean="0">
                <a:latin typeface="+mn-lt"/>
                <a:ea typeface="+mn-ea"/>
                <a:cs typeface="+mn-cs"/>
              </a:rPr>
              <a:t>。即</a:t>
            </a:r>
            <a:r>
              <a:rPr lang="en-US" altLang="zh-CN" dirty="0" smtClean="0">
                <a:solidFill>
                  <a:srgbClr val="FF0000"/>
                </a:solidFill>
                <a:latin typeface="+mn-lt"/>
                <a:ea typeface="+mn-ea"/>
                <a:cs typeface="+mn-cs"/>
              </a:rPr>
              <a:t>f(n)</a:t>
            </a:r>
            <a:r>
              <a:rPr lang="zh-CN" altLang="en-US" dirty="0" smtClean="0">
                <a:solidFill>
                  <a:srgbClr val="FF0000"/>
                </a:solidFill>
                <a:latin typeface="+mn-lt"/>
                <a:ea typeface="+mn-ea"/>
                <a:cs typeface="+mn-cs"/>
              </a:rPr>
              <a:t>的阶不高于</a:t>
            </a:r>
            <a:r>
              <a:rPr lang="en-US" altLang="zh-CN" dirty="0" smtClean="0">
                <a:solidFill>
                  <a:srgbClr val="FF0000"/>
                </a:solidFill>
                <a:latin typeface="+mn-lt"/>
                <a:ea typeface="+mn-ea"/>
                <a:cs typeface="+mn-cs"/>
              </a:rPr>
              <a:t>g(n)</a:t>
            </a:r>
            <a:r>
              <a:rPr lang="zh-CN" altLang="en-US" dirty="0" smtClean="0">
                <a:solidFill>
                  <a:srgbClr val="FF0000"/>
                </a:solidFill>
                <a:latin typeface="+mn-lt"/>
                <a:ea typeface="+mn-ea"/>
                <a:cs typeface="+mn-cs"/>
              </a:rPr>
              <a:t>的阶</a:t>
            </a:r>
            <a:r>
              <a:rPr lang="zh-CN" altLang="en-US" dirty="0" smtClean="0">
                <a:latin typeface="+mn-lt"/>
                <a:ea typeface="+mn-ea"/>
                <a:cs typeface="+mn-cs"/>
              </a:rPr>
              <a:t>。</a:t>
            </a:r>
            <a:endParaRPr lang="en-US" altLang="zh-CN" dirty="0" smtClean="0">
              <a:latin typeface="+mn-lt"/>
              <a:ea typeface="+mn-ea"/>
              <a:cs typeface="+mn-cs"/>
            </a:endParaRPr>
          </a:p>
          <a:p>
            <a:pPr lvl="1" eaLnBrk="1" hangingPunct="1">
              <a:buFontTx/>
              <a:buNone/>
              <a:defRPr/>
            </a:pPr>
            <a:r>
              <a:rPr lang="zh-CN" altLang="en-US" dirty="0" smtClean="0">
                <a:latin typeface="+mn-lt"/>
                <a:ea typeface="+mn-ea"/>
                <a:cs typeface="+mn-cs"/>
              </a:rPr>
              <a:t>也就是说</a:t>
            </a:r>
            <a:r>
              <a:rPr lang="en-US" altLang="zh-CN" dirty="0" smtClean="0">
                <a:latin typeface="+mn-lt"/>
                <a:ea typeface="+mn-ea"/>
                <a:cs typeface="+mn-cs"/>
                <a:sym typeface="Symbol" pitchFamily="18" charset="2"/>
              </a:rPr>
              <a:t>,</a:t>
            </a:r>
            <a:r>
              <a:rPr lang="zh-CN" altLang="en-US" dirty="0" smtClean="0">
                <a:latin typeface="+mn-lt"/>
                <a:ea typeface="+mn-ea"/>
                <a:cs typeface="+mn-cs"/>
                <a:sym typeface="Symbol" pitchFamily="18" charset="2"/>
              </a:rPr>
              <a:t>当</a:t>
            </a:r>
            <a:r>
              <a:rPr lang="en-US" altLang="zh-CN" dirty="0" smtClean="0">
                <a:latin typeface="+mn-lt"/>
                <a:ea typeface="+mn-ea"/>
                <a:cs typeface="+mn-cs"/>
                <a:sym typeface="Symbol" pitchFamily="18" charset="2"/>
              </a:rPr>
              <a:t> </a:t>
            </a:r>
            <a:r>
              <a:rPr lang="en-US" altLang="zh-CN" i="1" dirty="0" err="1" smtClean="0">
                <a:solidFill>
                  <a:srgbClr val="FF0000"/>
                </a:solidFill>
                <a:latin typeface="+mn-lt"/>
                <a:sym typeface="Symbol" pitchFamily="18" charset="2"/>
              </a:rPr>
              <a:t>lim</a:t>
            </a:r>
            <a:r>
              <a:rPr lang="en-US" altLang="zh-CN" i="1" dirty="0" smtClean="0">
                <a:solidFill>
                  <a:srgbClr val="FF0000"/>
                </a:solidFill>
                <a:latin typeface="+mn-lt"/>
                <a:sym typeface="Symbol" pitchFamily="18" charset="2"/>
              </a:rPr>
              <a:t> </a:t>
            </a:r>
            <a:r>
              <a:rPr lang="en-US" altLang="zh-CN" i="1" baseline="-25000" dirty="0" smtClean="0">
                <a:solidFill>
                  <a:srgbClr val="FF0000"/>
                </a:solidFill>
                <a:latin typeface="+mn-lt"/>
                <a:sym typeface="Symbol" pitchFamily="18" charset="2"/>
              </a:rPr>
              <a:t>n </a:t>
            </a:r>
            <a:r>
              <a:rPr lang="en-US" altLang="zh-CN" i="1" dirty="0" smtClean="0">
                <a:solidFill>
                  <a:srgbClr val="FF0000"/>
                </a:solidFill>
                <a:latin typeface="+mn-lt"/>
                <a:sym typeface="Symbol" pitchFamily="18" charset="2"/>
              </a:rPr>
              <a:t>f (n) /g (n)</a:t>
            </a:r>
            <a:r>
              <a:rPr lang="zh-CN" altLang="en-US" dirty="0" smtClean="0">
                <a:solidFill>
                  <a:srgbClr val="FF0000"/>
                </a:solidFill>
                <a:latin typeface="+mn-lt"/>
                <a:ea typeface="+mn-ea"/>
                <a:cs typeface="+mn-cs"/>
                <a:sym typeface="Symbol" pitchFamily="18" charset="2"/>
              </a:rPr>
              <a:t>存在</a:t>
            </a:r>
            <a:r>
              <a:rPr lang="en-US" altLang="zh-CN" dirty="0" smtClean="0">
                <a:latin typeface="+mn-lt"/>
                <a:ea typeface="+mn-ea"/>
                <a:cs typeface="+mn-cs"/>
                <a:sym typeface="Symbol" pitchFamily="18" charset="2"/>
              </a:rPr>
              <a:t>, </a:t>
            </a:r>
            <a:r>
              <a:rPr lang="zh-CN" altLang="en-US" dirty="0" smtClean="0">
                <a:latin typeface="+mn-lt"/>
                <a:ea typeface="+mn-ea"/>
                <a:cs typeface="+mn-cs"/>
                <a:sym typeface="Symbol" pitchFamily="18" charset="2"/>
              </a:rPr>
              <a:t>且</a:t>
            </a:r>
            <a:r>
              <a:rPr lang="en-US" altLang="zh-CN" dirty="0" smtClean="0">
                <a:latin typeface="+mn-lt"/>
                <a:ea typeface="+mn-ea"/>
                <a:cs typeface="+mn-cs"/>
                <a:sym typeface="Symbol" pitchFamily="18" charset="2"/>
              </a:rPr>
              <a:t> </a:t>
            </a:r>
          </a:p>
          <a:p>
            <a:pPr eaLnBrk="1" hangingPunct="1">
              <a:buFontTx/>
              <a:buNone/>
              <a:defRPr/>
            </a:pPr>
            <a:r>
              <a:rPr lang="en-US" altLang="zh-CN" sz="2200" dirty="0" smtClean="0">
                <a:sym typeface="Symbol" pitchFamily="18" charset="2"/>
              </a:rPr>
              <a:t>                   </a:t>
            </a:r>
            <a:r>
              <a:rPr lang="en-US" altLang="zh-CN" sz="2200" i="1" dirty="0" err="1" smtClean="0">
                <a:sym typeface="Symbol" pitchFamily="18" charset="2"/>
              </a:rPr>
              <a:t>lim</a:t>
            </a:r>
            <a:r>
              <a:rPr lang="en-US" altLang="zh-CN" sz="2200" i="1" dirty="0" smtClean="0">
                <a:sym typeface="Symbol" pitchFamily="18" charset="2"/>
              </a:rPr>
              <a:t> </a:t>
            </a:r>
            <a:r>
              <a:rPr lang="en-US" altLang="zh-CN" sz="2200" i="1" baseline="-25000" dirty="0" smtClean="0">
                <a:sym typeface="Symbol" pitchFamily="18" charset="2"/>
              </a:rPr>
              <a:t>n </a:t>
            </a:r>
            <a:r>
              <a:rPr lang="en-US" altLang="zh-CN" sz="2200" i="1" dirty="0" smtClean="0">
                <a:sym typeface="Symbol" pitchFamily="18" charset="2"/>
              </a:rPr>
              <a:t>f (n) /g (n) </a:t>
            </a:r>
            <a:r>
              <a:rPr lang="en-US" altLang="zh-CN" sz="2200" dirty="0" smtClean="0">
                <a:sym typeface="Symbol" pitchFamily="18" charset="2"/>
              </a:rPr>
              <a:t>   </a:t>
            </a:r>
            <a:r>
              <a:rPr lang="zh-CN" altLang="en-US" sz="2200" dirty="0" smtClean="0">
                <a:sym typeface="Symbol" pitchFamily="18" charset="2"/>
              </a:rPr>
              <a:t>则表示</a:t>
            </a:r>
            <a:r>
              <a:rPr lang="en-US" altLang="zh-CN" sz="2200" dirty="0" smtClean="0">
                <a:sym typeface="Symbol" pitchFamily="18" charset="2"/>
              </a:rPr>
              <a:t> </a:t>
            </a:r>
            <a:r>
              <a:rPr lang="en-US" altLang="zh-CN" sz="2200" i="1" dirty="0" smtClean="0">
                <a:sym typeface="Symbol" pitchFamily="18" charset="2"/>
              </a:rPr>
              <a:t>f (n)=O(g(n))</a:t>
            </a:r>
          </a:p>
          <a:p>
            <a:pPr eaLnBrk="1" hangingPunct="1">
              <a:buFontTx/>
              <a:buNone/>
              <a:defRPr/>
            </a:pPr>
            <a:endParaRPr lang="en-US" altLang="zh-CN" sz="2200" dirty="0" smtClean="0"/>
          </a:p>
          <a:p>
            <a:pPr eaLnBrk="1" hangingPunct="1">
              <a:defRPr/>
            </a:pPr>
            <a:r>
              <a:rPr lang="zh-CN" altLang="en-US" sz="2200" dirty="0" smtClean="0"/>
              <a:t>根据定义可知：函数</a:t>
            </a:r>
            <a:r>
              <a:rPr lang="en-US" altLang="zh-CN" sz="2200" dirty="0" smtClean="0"/>
              <a:t>f(n) </a:t>
            </a:r>
            <a:r>
              <a:rPr lang="zh-CN" altLang="en-US" sz="2200" dirty="0" smtClean="0"/>
              <a:t>至多是函数</a:t>
            </a:r>
            <a:r>
              <a:rPr lang="en-US" altLang="zh-CN" sz="2200" dirty="0" smtClean="0"/>
              <a:t>g(n) </a:t>
            </a:r>
            <a:r>
              <a:rPr lang="zh-CN" altLang="en-US" sz="2200" dirty="0" smtClean="0"/>
              <a:t>的</a:t>
            </a:r>
            <a:r>
              <a:rPr lang="en-US" altLang="zh-CN" sz="2200" dirty="0" smtClean="0"/>
              <a:t>c </a:t>
            </a:r>
            <a:r>
              <a:rPr lang="zh-CN" altLang="en-US" sz="2200" dirty="0" smtClean="0"/>
              <a:t>倍，除非 </a:t>
            </a:r>
            <a:r>
              <a:rPr lang="en-US" altLang="zh-CN" sz="2200" dirty="0" smtClean="0"/>
              <a:t>n&lt;n</a:t>
            </a:r>
            <a:r>
              <a:rPr lang="zh-CN" altLang="en-US" sz="2200" dirty="0" smtClean="0"/>
              <a:t>0</a:t>
            </a:r>
            <a:r>
              <a:rPr lang="en-US" altLang="zh-CN" sz="2200" dirty="0" smtClean="0"/>
              <a:t> 。</a:t>
            </a:r>
            <a:r>
              <a:rPr lang="zh-CN" altLang="en-US" sz="2200" dirty="0" smtClean="0"/>
              <a:t>即是说，当</a:t>
            </a:r>
            <a:r>
              <a:rPr lang="en-US" altLang="zh-CN" sz="2200" dirty="0" smtClean="0"/>
              <a:t>n </a:t>
            </a:r>
            <a:r>
              <a:rPr lang="zh-CN" altLang="en-US" sz="2200" dirty="0" smtClean="0"/>
              <a:t>充分大时，</a:t>
            </a:r>
            <a:r>
              <a:rPr lang="en-US" altLang="zh-CN" sz="2200" dirty="0" smtClean="0"/>
              <a:t>g(n)  </a:t>
            </a:r>
            <a:r>
              <a:rPr lang="zh-CN" altLang="en-US" sz="2200" dirty="0" smtClean="0"/>
              <a:t>是</a:t>
            </a:r>
            <a:r>
              <a:rPr lang="en-US" altLang="zh-CN" sz="2200" dirty="0" smtClean="0"/>
              <a:t>f(n)</a:t>
            </a:r>
            <a:r>
              <a:rPr lang="zh-CN" altLang="en-US" sz="2200" dirty="0" smtClean="0"/>
              <a:t>的一个上界函数，在相差一个非零常数倍的情况下。</a:t>
            </a:r>
            <a:endParaRPr lang="en-US" altLang="zh-CN" sz="2200" dirty="0" smtClean="0">
              <a:sym typeface="Symbol" pitchFamily="18" charset="2"/>
            </a:endParaRPr>
          </a:p>
          <a:p>
            <a:pPr eaLnBrk="1" hangingPunct="1">
              <a:buFontTx/>
              <a:buNone/>
              <a:defRPr/>
            </a:pPr>
            <a:endParaRPr lang="en-US" altLang="zh-CN" sz="2200" i="1" dirty="0" smtClean="0">
              <a:sym typeface="Symbol" pitchFamily="18" charset="2"/>
            </a:endParaRPr>
          </a:p>
        </p:txBody>
      </p:sp>
      <p:pic>
        <p:nvPicPr>
          <p:cNvPr id="63493" name="Picture 4" descr="def"/>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852488" y="1300163"/>
            <a:ext cx="504825"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6563809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64515" name="Rectangle 2"/>
          <p:cNvSpPr>
            <a:spLocks noGrp="1" noChangeArrowheads="1"/>
          </p:cNvSpPr>
          <p:nvPr>
            <p:ph type="title"/>
          </p:nvPr>
        </p:nvSpPr>
        <p:spPr/>
        <p:txBody>
          <a:bodyPr/>
          <a:lstStyle/>
          <a:p>
            <a:pPr eaLnBrk="1" hangingPunct="1"/>
            <a:r>
              <a:rPr lang="zh-CN" altLang="en-US" dirty="0"/>
              <a:t>渐进表示</a:t>
            </a:r>
            <a:r>
              <a:rPr lang="en-US" altLang="zh-CN" dirty="0">
                <a:latin typeface="+mn-ea"/>
              </a:rPr>
              <a:t>——</a:t>
            </a:r>
            <a:r>
              <a:rPr lang="zh-CN" altLang="en-US" dirty="0" smtClean="0"/>
              <a:t>大</a:t>
            </a:r>
            <a:r>
              <a:rPr lang="en-US" altLang="zh-CN" dirty="0" smtClean="0"/>
              <a:t> O-</a:t>
            </a:r>
            <a:r>
              <a:rPr lang="zh-CN" altLang="en-US" dirty="0" smtClean="0"/>
              <a:t>记号（渐近上界记号）</a:t>
            </a:r>
            <a:endParaRPr lang="en-US" altLang="zh-CN" dirty="0" smtClean="0"/>
          </a:p>
        </p:txBody>
      </p:sp>
      <p:sp>
        <p:nvSpPr>
          <p:cNvPr id="64516" name="Rectangle 3"/>
          <p:cNvSpPr>
            <a:spLocks noGrp="1" noChangeArrowheads="1"/>
          </p:cNvSpPr>
          <p:nvPr>
            <p:ph type="body" idx="1"/>
          </p:nvPr>
        </p:nvSpPr>
        <p:spPr/>
        <p:txBody>
          <a:bodyPr/>
          <a:lstStyle/>
          <a:p>
            <a:pPr eaLnBrk="1" hangingPunct="1"/>
            <a:r>
              <a:rPr lang="zh-CN" altLang="en-US" smtClean="0">
                <a:sym typeface="Symbol" panose="05050102010706020507" pitchFamily="18" charset="2"/>
              </a:rPr>
              <a:t>例：</a:t>
            </a:r>
            <a:endParaRPr lang="en-US" altLang="zh-CN" smtClean="0">
              <a:sym typeface="Symbol" panose="05050102010706020507" pitchFamily="18" charset="2"/>
            </a:endParaRPr>
          </a:p>
          <a:p>
            <a:pPr lvl="1" eaLnBrk="1" hangingPunct="1">
              <a:spcBef>
                <a:spcPct val="0"/>
              </a:spcBef>
              <a:buFontTx/>
              <a:buNone/>
            </a:pPr>
            <a:r>
              <a:rPr lang="en-US" altLang="zh-CN" sz="2000" smtClean="0">
                <a:latin typeface="Arial" panose="020B0604020202020204" pitchFamily="34" charset="0"/>
              </a:rPr>
              <a:t>f (n) = 10n</a:t>
            </a:r>
            <a:r>
              <a:rPr lang="en-US" altLang="zh-CN" sz="2000" baseline="30000" smtClean="0">
                <a:latin typeface="Arial" panose="020B0604020202020204" pitchFamily="34" charset="0"/>
              </a:rPr>
              <a:t>2</a:t>
            </a:r>
            <a:r>
              <a:rPr lang="en-US" altLang="zh-CN" sz="2000" smtClean="0">
                <a:latin typeface="Arial" panose="020B0604020202020204" pitchFamily="34" charset="0"/>
              </a:rPr>
              <a:t>+20n. Then, </a:t>
            </a:r>
          </a:p>
          <a:p>
            <a:pPr lvl="1" eaLnBrk="1" hangingPunct="1">
              <a:spcBef>
                <a:spcPct val="0"/>
              </a:spcBef>
              <a:buFontTx/>
              <a:buNone/>
            </a:pPr>
            <a:r>
              <a:rPr lang="en-US" altLang="zh-CN" sz="2000" smtClean="0">
                <a:latin typeface="Arial" panose="020B0604020202020204" pitchFamily="34" charset="0"/>
              </a:rPr>
              <a:t>f (n) = O(n</a:t>
            </a:r>
            <a:r>
              <a:rPr lang="en-US" altLang="zh-CN" sz="2000" baseline="30000" smtClean="0">
                <a:latin typeface="Arial" panose="020B0604020202020204" pitchFamily="34" charset="0"/>
              </a:rPr>
              <a:t>2</a:t>
            </a:r>
            <a:r>
              <a:rPr lang="en-US" altLang="zh-CN" sz="2000" smtClean="0">
                <a:latin typeface="Arial" panose="020B0604020202020204" pitchFamily="34" charset="0"/>
              </a:rPr>
              <a:t>) </a:t>
            </a:r>
            <a:r>
              <a:rPr lang="zh-CN" altLang="en-US" sz="2000" smtClean="0">
                <a:latin typeface="Arial" panose="020B0604020202020204" pitchFamily="34" charset="0"/>
              </a:rPr>
              <a:t>由于当</a:t>
            </a:r>
            <a:r>
              <a:rPr lang="en-US" altLang="zh-CN" sz="2000" smtClean="0">
                <a:latin typeface="Arial" panose="020B0604020202020204" pitchFamily="34" charset="0"/>
              </a:rPr>
              <a:t>n </a:t>
            </a:r>
            <a:r>
              <a:rPr lang="en-US" altLang="zh-CN" sz="2000" smtClean="0">
                <a:latin typeface="Arial" panose="020B0604020202020204" pitchFamily="34" charset="0"/>
                <a:sym typeface="Symbol" panose="05050102010706020507" pitchFamily="18" charset="2"/>
              </a:rPr>
              <a:t></a:t>
            </a:r>
            <a:r>
              <a:rPr lang="en-US" altLang="zh-CN" sz="2000" smtClean="0">
                <a:latin typeface="Arial" panose="020B0604020202020204" pitchFamily="34" charset="0"/>
              </a:rPr>
              <a:t> 1, f(n)</a:t>
            </a:r>
            <a:r>
              <a:rPr lang="en-US" altLang="zh-CN" sz="2000" smtClean="0">
                <a:latin typeface="Arial" panose="020B0604020202020204" pitchFamily="34" charset="0"/>
                <a:sym typeface="Symbol" panose="05050102010706020507" pitchFamily="18" charset="2"/>
              </a:rPr>
              <a:t></a:t>
            </a:r>
            <a:r>
              <a:rPr lang="en-US" altLang="zh-CN" sz="2000" smtClean="0">
                <a:latin typeface="Arial" panose="020B0604020202020204" pitchFamily="34" charset="0"/>
              </a:rPr>
              <a:t>30n</a:t>
            </a:r>
            <a:r>
              <a:rPr lang="en-US" altLang="zh-CN" sz="2000" baseline="30000" smtClean="0">
                <a:latin typeface="Arial" panose="020B0604020202020204" pitchFamily="34" charset="0"/>
              </a:rPr>
              <a:t>2</a:t>
            </a:r>
            <a:r>
              <a:rPr lang="en-US" altLang="zh-CN" sz="2000" smtClean="0">
                <a:latin typeface="Arial" panose="020B0604020202020204" pitchFamily="34" charset="0"/>
              </a:rPr>
              <a:t>. </a:t>
            </a:r>
          </a:p>
          <a:p>
            <a:pPr lvl="1" eaLnBrk="1" hangingPunct="1">
              <a:spcBef>
                <a:spcPct val="0"/>
              </a:spcBef>
              <a:buFontTx/>
              <a:buNone/>
            </a:pPr>
            <a:r>
              <a:rPr lang="en-US" altLang="zh-CN" sz="2000" smtClean="0">
                <a:latin typeface="Arial" panose="020B0604020202020204" pitchFamily="34" charset="0"/>
                <a:sym typeface="Symbol" panose="05050102010706020507" pitchFamily="18" charset="2"/>
              </a:rPr>
              <a:t>Consequently, lim</a:t>
            </a:r>
            <a:r>
              <a:rPr lang="en-US" altLang="zh-CN" sz="2000" baseline="-25000" smtClean="0">
                <a:latin typeface="Arial" panose="020B0604020202020204" pitchFamily="34" charset="0"/>
                <a:sym typeface="Symbol" panose="05050102010706020507" pitchFamily="18" charset="2"/>
              </a:rPr>
              <a:t>n </a:t>
            </a:r>
            <a:r>
              <a:rPr lang="en-US" altLang="zh-CN" sz="2000" smtClean="0">
                <a:latin typeface="Arial" panose="020B0604020202020204" pitchFamily="34" charset="0"/>
                <a:sym typeface="Symbol" panose="05050102010706020507" pitchFamily="18" charset="2"/>
              </a:rPr>
              <a:t>f(n)/</a:t>
            </a:r>
            <a:r>
              <a:rPr lang="en-US" altLang="zh-CN" sz="2000" smtClean="0">
                <a:latin typeface="Arial" panose="020B0604020202020204" pitchFamily="34" charset="0"/>
              </a:rPr>
              <a:t>n</a:t>
            </a:r>
            <a:r>
              <a:rPr lang="en-US" altLang="zh-CN" sz="2000" baseline="30000" smtClean="0">
                <a:latin typeface="Arial" panose="020B0604020202020204" pitchFamily="34" charset="0"/>
              </a:rPr>
              <a:t>2</a:t>
            </a:r>
            <a:r>
              <a:rPr lang="en-US" altLang="zh-CN" sz="2000" smtClean="0">
                <a:latin typeface="Arial" panose="020B0604020202020204" pitchFamily="34" charset="0"/>
                <a:sym typeface="Symbol" panose="05050102010706020507" pitchFamily="18" charset="2"/>
              </a:rPr>
              <a:t>= 10 .</a:t>
            </a:r>
          </a:p>
          <a:p>
            <a:pPr lvl="1" eaLnBrk="1" hangingPunct="1">
              <a:spcBef>
                <a:spcPct val="0"/>
              </a:spcBef>
              <a:buFontTx/>
              <a:buNone/>
            </a:pPr>
            <a:endParaRPr lang="en-US" altLang="zh-CN" sz="2000" smtClean="0">
              <a:latin typeface="Arial" panose="020B0604020202020204" pitchFamily="34" charset="0"/>
              <a:sym typeface="Symbol" panose="05050102010706020507" pitchFamily="18" charset="2"/>
            </a:endParaRPr>
          </a:p>
          <a:p>
            <a:pPr>
              <a:spcBef>
                <a:spcPct val="50000"/>
              </a:spcBef>
            </a:pPr>
            <a:r>
              <a:rPr lang="en-US" altLang="zh-CN" sz="2400" smtClean="0"/>
              <a:t>C</a:t>
            </a:r>
            <a:r>
              <a:rPr lang="en-US" altLang="zh-CN" sz="2400" baseline="-25000" smtClean="0"/>
              <a:t>0</a:t>
            </a:r>
            <a:r>
              <a:rPr lang="en-US" altLang="zh-CN" sz="2400" smtClean="0"/>
              <a:t>=O(1): f(n) </a:t>
            </a:r>
            <a:r>
              <a:rPr lang="zh-CN" altLang="en-US" sz="2400" smtClean="0"/>
              <a:t>等于非零常数的情形。</a:t>
            </a:r>
          </a:p>
          <a:p>
            <a:pPr>
              <a:spcBef>
                <a:spcPct val="50000"/>
              </a:spcBef>
            </a:pPr>
            <a:r>
              <a:rPr lang="zh-CN" altLang="en-US" sz="2400" smtClean="0"/>
              <a:t>3</a:t>
            </a:r>
            <a:r>
              <a:rPr lang="en-US" altLang="zh-CN" sz="2400" smtClean="0"/>
              <a:t>n+2=O(n): </a:t>
            </a:r>
            <a:r>
              <a:rPr lang="zh-CN" altLang="en-US" sz="2400" smtClean="0"/>
              <a:t>可取</a:t>
            </a:r>
            <a:r>
              <a:rPr lang="en-US" altLang="zh-CN" sz="2400" smtClean="0"/>
              <a:t>c＝4，n</a:t>
            </a:r>
            <a:r>
              <a:rPr lang="en-US" altLang="zh-CN" sz="2400" baseline="-25000" smtClean="0"/>
              <a:t>0</a:t>
            </a:r>
            <a:r>
              <a:rPr lang="en-US" altLang="zh-CN" sz="2400" smtClean="0"/>
              <a:t>＝2。</a:t>
            </a:r>
          </a:p>
          <a:p>
            <a:pPr>
              <a:spcBef>
                <a:spcPct val="50000"/>
              </a:spcBef>
            </a:pPr>
            <a:r>
              <a:rPr lang="en-US" altLang="zh-CN" sz="2400" smtClean="0"/>
              <a:t>100n+6=O(n): </a:t>
            </a:r>
            <a:r>
              <a:rPr lang="zh-CN" altLang="en-US" sz="2400" smtClean="0"/>
              <a:t>可取</a:t>
            </a:r>
            <a:r>
              <a:rPr lang="en-US" altLang="zh-CN" sz="2400" smtClean="0"/>
              <a:t>c=101，n</a:t>
            </a:r>
            <a:r>
              <a:rPr lang="en-US" altLang="zh-CN" sz="2400" baseline="-25000" smtClean="0"/>
              <a:t>0</a:t>
            </a:r>
            <a:r>
              <a:rPr lang="en-US" altLang="zh-CN" sz="2400" smtClean="0"/>
              <a:t>＝6。</a:t>
            </a:r>
          </a:p>
          <a:p>
            <a:pPr>
              <a:spcBef>
                <a:spcPct val="50000"/>
              </a:spcBef>
            </a:pPr>
            <a:r>
              <a:rPr lang="en-US" altLang="zh-CN" sz="2400" smtClean="0"/>
              <a:t>10n</a:t>
            </a:r>
            <a:r>
              <a:rPr lang="en-US" altLang="zh-CN" sz="2400" baseline="30000" smtClean="0"/>
              <a:t>2</a:t>
            </a:r>
            <a:r>
              <a:rPr lang="en-US" altLang="zh-CN" sz="2400" smtClean="0"/>
              <a:t>+4n+3=O(n</a:t>
            </a:r>
            <a:r>
              <a:rPr lang="en-US" altLang="zh-CN" sz="2400" baseline="30000" smtClean="0"/>
              <a:t>2</a:t>
            </a:r>
            <a:r>
              <a:rPr lang="en-US" altLang="zh-CN" sz="2400" smtClean="0"/>
              <a:t>): </a:t>
            </a:r>
            <a:r>
              <a:rPr lang="zh-CN" altLang="en-US" sz="2400" smtClean="0"/>
              <a:t>可取 </a:t>
            </a:r>
            <a:r>
              <a:rPr lang="en-US" altLang="zh-CN" sz="2400" smtClean="0"/>
              <a:t>c=11, n</a:t>
            </a:r>
            <a:r>
              <a:rPr lang="en-US" altLang="zh-CN" sz="2400" baseline="-25000" smtClean="0"/>
              <a:t>0</a:t>
            </a:r>
            <a:r>
              <a:rPr lang="en-US" altLang="zh-CN" sz="2400" smtClean="0"/>
              <a:t>＝6</a:t>
            </a:r>
          </a:p>
          <a:p>
            <a:pPr>
              <a:spcBef>
                <a:spcPct val="50000"/>
              </a:spcBef>
            </a:pPr>
            <a:r>
              <a:rPr lang="zh-CN" altLang="en-US" sz="2400" smtClean="0"/>
              <a:t>6×2</a:t>
            </a:r>
            <a:r>
              <a:rPr lang="en-US" altLang="zh-CN" sz="2400" baseline="30000" smtClean="0"/>
              <a:t>n</a:t>
            </a:r>
            <a:r>
              <a:rPr lang="en-US" altLang="zh-CN" sz="2400" smtClean="0"/>
              <a:t>+n</a:t>
            </a:r>
            <a:r>
              <a:rPr lang="en-US" altLang="zh-CN" sz="2400" baseline="30000" smtClean="0"/>
              <a:t>2</a:t>
            </a:r>
            <a:r>
              <a:rPr lang="en-US" altLang="zh-CN" sz="2400" smtClean="0"/>
              <a:t>=O(2</a:t>
            </a:r>
            <a:r>
              <a:rPr lang="en-US" altLang="zh-CN" sz="2400" baseline="30000" smtClean="0"/>
              <a:t>n</a:t>
            </a:r>
            <a:r>
              <a:rPr lang="en-US" altLang="zh-CN" sz="2400" smtClean="0"/>
              <a:t>): </a:t>
            </a:r>
            <a:r>
              <a:rPr lang="zh-CN" altLang="en-US" sz="2400" smtClean="0"/>
              <a:t>可取</a:t>
            </a:r>
            <a:r>
              <a:rPr lang="en-US" altLang="zh-CN" sz="2400" smtClean="0"/>
              <a:t>c =7，n</a:t>
            </a:r>
            <a:r>
              <a:rPr lang="en-US" altLang="zh-CN" sz="2400" baseline="-25000" smtClean="0"/>
              <a:t>0</a:t>
            </a:r>
            <a:r>
              <a:rPr lang="en-US" altLang="zh-CN" sz="2400" smtClean="0"/>
              <a:t>=4.</a:t>
            </a:r>
          </a:p>
          <a:p>
            <a:pPr lvl="1" eaLnBrk="1" hangingPunct="1">
              <a:spcBef>
                <a:spcPct val="0"/>
              </a:spcBef>
              <a:buFontTx/>
              <a:buNone/>
            </a:pPr>
            <a:endParaRPr lang="en-US" altLang="zh-CN" sz="2000" smtClean="0">
              <a:latin typeface="Arial" panose="020B0604020202020204" pitchFamily="34" charset="0"/>
              <a:sym typeface="Symbol" panose="05050102010706020507" pitchFamily="18" charset="2"/>
            </a:endParaRPr>
          </a:p>
          <a:p>
            <a:pPr eaLnBrk="1" hangingPunct="1"/>
            <a:endParaRPr lang="en-US" altLang="zh-CN" sz="2200" smtClean="0">
              <a:sym typeface="Symbol" panose="05050102010706020507" pitchFamily="18" charset="2"/>
            </a:endParaRPr>
          </a:p>
        </p:txBody>
      </p:sp>
    </p:spTree>
    <p:extLst>
      <p:ext uri="{BB962C8B-B14F-4D97-AF65-F5344CB8AC3E}">
        <p14:creationId xmlns:p14="http://schemas.microsoft.com/office/powerpoint/2010/main" val="418617225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bwMode="auto">
          <a:xfrm>
            <a:off x="1000125" y="1714500"/>
            <a:ext cx="7572375" cy="4000500"/>
          </a:xfrm>
          <a:prstGeom prst="rect">
            <a:avLst/>
          </a:prstGeom>
          <a:solidFill>
            <a:schemeClr val="accent5">
              <a:lumMod val="50000"/>
            </a:schemeClr>
          </a:solidFill>
          <a:ln w="7938" cap="flat" cmpd="sng" algn="ctr">
            <a:solidFill>
              <a:schemeClr val="tx1"/>
            </a:solidFill>
            <a:prstDash val="solid"/>
            <a:round/>
            <a:headEnd type="none" w="med" len="med"/>
            <a:tailEnd type="none" w="med" len="med"/>
          </a:ln>
          <a:effectLst/>
        </p:spPr>
        <p:txBody>
          <a:bodyPr/>
          <a:lstStyle/>
          <a:p>
            <a:pPr>
              <a:defRPr/>
            </a:pPr>
            <a:endParaRPr lang="zh-CN" altLang="en-US">
              <a:latin typeface="Arial" charset="0"/>
            </a:endParaRPr>
          </a:p>
        </p:txBody>
      </p:sp>
      <p:sp>
        <p:nvSpPr>
          <p:cNvPr id="3080"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3081" name="Rectangle 2"/>
          <p:cNvSpPr>
            <a:spLocks noGrp="1" noChangeArrowheads="1"/>
          </p:cNvSpPr>
          <p:nvPr>
            <p:ph type="title"/>
          </p:nvPr>
        </p:nvSpPr>
        <p:spPr/>
        <p:txBody>
          <a:bodyPr/>
          <a:lstStyle/>
          <a:p>
            <a:pPr eaLnBrk="1" hangingPunct="1"/>
            <a:r>
              <a:rPr lang="zh-CN" altLang="en-US" dirty="0"/>
              <a:t>渐进表示</a:t>
            </a:r>
            <a:r>
              <a:rPr lang="en-US" altLang="zh-CN" dirty="0">
                <a:latin typeface="+mn-ea"/>
              </a:rPr>
              <a:t>——</a:t>
            </a:r>
            <a:r>
              <a:rPr lang="zh-CN" altLang="en-US" dirty="0" smtClean="0"/>
              <a:t>大</a:t>
            </a:r>
            <a:r>
              <a:rPr lang="en-US" altLang="zh-CN" dirty="0" smtClean="0"/>
              <a:t> O-</a:t>
            </a:r>
            <a:r>
              <a:rPr lang="zh-CN" altLang="en-US" dirty="0" smtClean="0"/>
              <a:t>记号（渐近上界记号）</a:t>
            </a:r>
            <a:endParaRPr lang="en-US" altLang="zh-CN" dirty="0" smtClean="0"/>
          </a:p>
        </p:txBody>
      </p:sp>
      <p:sp>
        <p:nvSpPr>
          <p:cNvPr id="63492" name="Rectangle 3"/>
          <p:cNvSpPr>
            <a:spLocks noGrp="1" noChangeArrowheads="1"/>
          </p:cNvSpPr>
          <p:nvPr>
            <p:ph type="body" idx="1"/>
          </p:nvPr>
        </p:nvSpPr>
        <p:spPr>
          <a:xfrm>
            <a:off x="857250" y="1214438"/>
            <a:ext cx="7786688" cy="4525962"/>
          </a:xfrm>
        </p:spPr>
        <p:txBody>
          <a:bodyPr/>
          <a:lstStyle/>
          <a:p>
            <a:pPr eaLnBrk="1" hangingPunct="1">
              <a:defRPr/>
            </a:pPr>
            <a:r>
              <a:rPr lang="zh-CN" altLang="en-US" dirty="0" smtClean="0">
                <a:sym typeface="Symbol" pitchFamily="18" charset="2"/>
              </a:rPr>
              <a:t>例：</a:t>
            </a:r>
            <a:endParaRPr lang="en-US" altLang="zh-CN" dirty="0" smtClean="0">
              <a:sym typeface="Symbol" pitchFamily="18" charset="2"/>
            </a:endParaRPr>
          </a:p>
          <a:p>
            <a:pPr>
              <a:lnSpc>
                <a:spcPct val="130000"/>
              </a:lnSpc>
              <a:spcBef>
                <a:spcPct val="25000"/>
              </a:spcBef>
              <a:defRPr/>
            </a:pPr>
            <a:r>
              <a:rPr lang="zh-CN" altLang="en-US" dirty="0" smtClean="0">
                <a:solidFill>
                  <a:schemeClr val="accent3"/>
                </a:solidFill>
              </a:rPr>
              <a:t>因为                     所以  3</a:t>
            </a:r>
            <a:r>
              <a:rPr lang="en-US" altLang="zh-CN" dirty="0" smtClean="0">
                <a:solidFill>
                  <a:schemeClr val="accent3"/>
                </a:solidFill>
              </a:rPr>
              <a:t>n+2=O(n);</a:t>
            </a:r>
          </a:p>
          <a:p>
            <a:pPr>
              <a:lnSpc>
                <a:spcPct val="130000"/>
              </a:lnSpc>
              <a:spcBef>
                <a:spcPct val="25000"/>
              </a:spcBef>
              <a:defRPr/>
            </a:pPr>
            <a:r>
              <a:rPr lang="zh-CN" altLang="en-US" dirty="0" smtClean="0">
                <a:solidFill>
                  <a:schemeClr val="accent3"/>
                </a:solidFill>
              </a:rPr>
              <a:t>因为                            所以  10</a:t>
            </a:r>
            <a:r>
              <a:rPr lang="en-US" altLang="zh-CN" dirty="0" smtClean="0">
                <a:solidFill>
                  <a:schemeClr val="accent3"/>
                </a:solidFill>
              </a:rPr>
              <a:t>n</a:t>
            </a:r>
            <a:r>
              <a:rPr lang="en-US" altLang="zh-CN" baseline="30000" dirty="0" smtClean="0">
                <a:solidFill>
                  <a:schemeClr val="accent3"/>
                </a:solidFill>
              </a:rPr>
              <a:t>2</a:t>
            </a:r>
            <a:r>
              <a:rPr lang="en-US" altLang="zh-CN" dirty="0" smtClean="0">
                <a:solidFill>
                  <a:schemeClr val="accent3"/>
                </a:solidFill>
              </a:rPr>
              <a:t>+4n+2=O(n</a:t>
            </a:r>
            <a:r>
              <a:rPr lang="en-US" altLang="zh-CN" baseline="30000" dirty="0" smtClean="0">
                <a:solidFill>
                  <a:schemeClr val="accent3"/>
                </a:solidFill>
              </a:rPr>
              <a:t>2</a:t>
            </a:r>
            <a:r>
              <a:rPr lang="en-US" altLang="zh-CN" dirty="0" smtClean="0">
                <a:solidFill>
                  <a:schemeClr val="accent3"/>
                </a:solidFill>
              </a:rPr>
              <a:t>);</a:t>
            </a:r>
          </a:p>
          <a:p>
            <a:pPr>
              <a:lnSpc>
                <a:spcPct val="130000"/>
              </a:lnSpc>
              <a:spcBef>
                <a:spcPct val="25000"/>
              </a:spcBef>
              <a:defRPr/>
            </a:pPr>
            <a:r>
              <a:rPr lang="zh-CN" altLang="en-US" dirty="0" smtClean="0">
                <a:solidFill>
                  <a:schemeClr val="accent3"/>
                </a:solidFill>
              </a:rPr>
              <a:t>因为                           所以  6</a:t>
            </a:r>
            <a:r>
              <a:rPr lang="zh-CN" altLang="en-US" dirty="0" smtClean="0">
                <a:solidFill>
                  <a:schemeClr val="accent3"/>
                </a:solidFill>
                <a:sym typeface="Symbol" pitchFamily="18" charset="2"/>
              </a:rPr>
              <a:t>2</a:t>
            </a:r>
            <a:r>
              <a:rPr lang="en-US" altLang="zh-CN" baseline="30000" dirty="0" smtClean="0">
                <a:solidFill>
                  <a:schemeClr val="accent3"/>
                </a:solidFill>
                <a:sym typeface="Symbol" pitchFamily="18" charset="2"/>
              </a:rPr>
              <a:t>n</a:t>
            </a:r>
            <a:r>
              <a:rPr lang="en-US" altLang="zh-CN" dirty="0" smtClean="0">
                <a:solidFill>
                  <a:schemeClr val="accent3"/>
                </a:solidFill>
              </a:rPr>
              <a:t>+n</a:t>
            </a:r>
            <a:r>
              <a:rPr lang="en-US" altLang="zh-CN" baseline="30000" dirty="0" smtClean="0">
                <a:solidFill>
                  <a:schemeClr val="accent3"/>
                </a:solidFill>
              </a:rPr>
              <a:t>2</a:t>
            </a:r>
            <a:r>
              <a:rPr lang="en-US" altLang="zh-CN" dirty="0" smtClean="0">
                <a:solidFill>
                  <a:schemeClr val="accent3"/>
                </a:solidFill>
              </a:rPr>
              <a:t>=O(2</a:t>
            </a:r>
            <a:r>
              <a:rPr lang="en-US" altLang="zh-CN" baseline="30000" dirty="0" smtClean="0">
                <a:solidFill>
                  <a:schemeClr val="accent3"/>
                </a:solidFill>
              </a:rPr>
              <a:t>n</a:t>
            </a:r>
            <a:r>
              <a:rPr lang="en-US" altLang="zh-CN" dirty="0" smtClean="0">
                <a:solidFill>
                  <a:schemeClr val="accent3"/>
                </a:solidFill>
              </a:rPr>
              <a:t>);</a:t>
            </a:r>
          </a:p>
          <a:p>
            <a:pPr>
              <a:lnSpc>
                <a:spcPct val="130000"/>
              </a:lnSpc>
              <a:spcBef>
                <a:spcPct val="25000"/>
              </a:spcBef>
              <a:defRPr/>
            </a:pPr>
            <a:r>
              <a:rPr lang="zh-CN" altLang="en-US" dirty="0" smtClean="0">
                <a:solidFill>
                  <a:schemeClr val="accent3"/>
                </a:solidFill>
              </a:rPr>
              <a:t>因为                          所以  </a:t>
            </a:r>
            <a:r>
              <a:rPr lang="en-US" altLang="zh-CN" dirty="0" smtClean="0">
                <a:solidFill>
                  <a:schemeClr val="accent3"/>
                </a:solidFill>
              </a:rPr>
              <a:t>n</a:t>
            </a:r>
            <a:r>
              <a:rPr lang="en-US" altLang="zh-CN" baseline="30000" dirty="0" smtClean="0">
                <a:solidFill>
                  <a:schemeClr val="accent3"/>
                </a:solidFill>
              </a:rPr>
              <a:t>16</a:t>
            </a:r>
            <a:r>
              <a:rPr lang="en-US" altLang="zh-CN" dirty="0" smtClean="0">
                <a:solidFill>
                  <a:schemeClr val="accent3"/>
                </a:solidFill>
              </a:rPr>
              <a:t>+3</a:t>
            </a:r>
            <a:r>
              <a:rPr lang="zh-CN" altLang="en-US" dirty="0" smtClean="0">
                <a:solidFill>
                  <a:schemeClr val="accent3"/>
                </a:solidFill>
                <a:sym typeface="Symbol" pitchFamily="18" charset="2"/>
              </a:rPr>
              <a:t></a:t>
            </a:r>
            <a:r>
              <a:rPr lang="en-US" altLang="zh-CN" dirty="0" smtClean="0">
                <a:solidFill>
                  <a:schemeClr val="accent3"/>
                </a:solidFill>
              </a:rPr>
              <a:t>n</a:t>
            </a:r>
            <a:r>
              <a:rPr lang="en-US" altLang="zh-CN" baseline="30000" dirty="0" smtClean="0">
                <a:solidFill>
                  <a:schemeClr val="accent3"/>
                </a:solidFill>
              </a:rPr>
              <a:t>2</a:t>
            </a:r>
            <a:r>
              <a:rPr lang="en-US" altLang="zh-CN" dirty="0" smtClean="0">
                <a:solidFill>
                  <a:schemeClr val="accent3"/>
                </a:solidFill>
              </a:rPr>
              <a:t>=O(2</a:t>
            </a:r>
            <a:r>
              <a:rPr lang="en-US" altLang="zh-CN" baseline="30000" dirty="0" smtClean="0">
                <a:solidFill>
                  <a:schemeClr val="accent3"/>
                </a:solidFill>
              </a:rPr>
              <a:t>n</a:t>
            </a:r>
            <a:r>
              <a:rPr lang="en-US" altLang="zh-CN" dirty="0" smtClean="0">
                <a:solidFill>
                  <a:schemeClr val="accent3"/>
                </a:solidFill>
              </a:rPr>
              <a:t>);</a:t>
            </a:r>
          </a:p>
          <a:p>
            <a:pPr lvl="1" eaLnBrk="1" hangingPunct="1">
              <a:spcBef>
                <a:spcPct val="0"/>
              </a:spcBef>
              <a:buFontTx/>
              <a:buNone/>
              <a:defRPr/>
            </a:pPr>
            <a:endParaRPr lang="en-US" altLang="zh-CN" sz="2000" dirty="0" smtClean="0">
              <a:sym typeface="Symbol" pitchFamily="18" charset="2"/>
            </a:endParaRPr>
          </a:p>
          <a:p>
            <a:pPr eaLnBrk="1" hangingPunct="1">
              <a:defRPr/>
            </a:pPr>
            <a:endParaRPr lang="en-US" altLang="zh-CN" sz="2200" dirty="0" smtClean="0">
              <a:sym typeface="Symbol" pitchFamily="18" charset="2"/>
            </a:endParaRPr>
          </a:p>
        </p:txBody>
      </p:sp>
      <p:graphicFrame>
        <p:nvGraphicFramePr>
          <p:cNvPr id="3074" name="Object 3"/>
          <p:cNvGraphicFramePr>
            <a:graphicFrameLocks noChangeAspect="1"/>
          </p:cNvGraphicFramePr>
          <p:nvPr/>
        </p:nvGraphicFramePr>
        <p:xfrm>
          <a:off x="2071688" y="2357438"/>
          <a:ext cx="1951037" cy="561975"/>
        </p:xfrm>
        <a:graphic>
          <a:graphicData uri="http://schemas.openxmlformats.org/presentationml/2006/ole">
            <mc:AlternateContent xmlns:mc="http://schemas.openxmlformats.org/markup-compatibility/2006">
              <mc:Choice xmlns:v="urn:schemas-microsoft-com:vml" Requires="v">
                <p:oleObj spid="_x0000_s3829" name="Equation" r:id="rId4" imgW="1498320" imgH="431640" progId="Equation.3">
                  <p:embed/>
                </p:oleObj>
              </mc:Choice>
              <mc:Fallback>
                <p:oleObj name="Equation" r:id="rId4" imgW="1498320" imgH="431640" progId="Equation.3">
                  <p:embed/>
                  <p:pic>
                    <p:nvPicPr>
                      <p:cNvPr id="3074"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71688" y="2357438"/>
                        <a:ext cx="1951037"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5" name="Object 4"/>
          <p:cNvGraphicFramePr>
            <a:graphicFrameLocks noChangeAspect="1"/>
          </p:cNvGraphicFramePr>
          <p:nvPr/>
        </p:nvGraphicFramePr>
        <p:xfrm>
          <a:off x="2071688" y="2928938"/>
          <a:ext cx="1652587" cy="561975"/>
        </p:xfrm>
        <a:graphic>
          <a:graphicData uri="http://schemas.openxmlformats.org/presentationml/2006/ole">
            <mc:AlternateContent xmlns:mc="http://schemas.openxmlformats.org/markup-compatibility/2006">
              <mc:Choice xmlns:v="urn:schemas-microsoft-com:vml" Requires="v">
                <p:oleObj spid="_x0000_s3830" name="Equation" r:id="rId6" imgW="1269720" imgH="431640" progId="Equation.3">
                  <p:embed/>
                </p:oleObj>
              </mc:Choice>
              <mc:Fallback>
                <p:oleObj name="Equation" r:id="rId6" imgW="1269720" imgH="431640" progId="Equation.3">
                  <p:embed/>
                  <p:pic>
                    <p:nvPicPr>
                      <p:cNvPr id="3075"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71688" y="2928938"/>
                        <a:ext cx="1652587"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6" name="Object 5"/>
          <p:cNvGraphicFramePr>
            <a:graphicFrameLocks noChangeAspect="1"/>
          </p:cNvGraphicFramePr>
          <p:nvPr/>
        </p:nvGraphicFramePr>
        <p:xfrm>
          <a:off x="2071688" y="3500438"/>
          <a:ext cx="1685925" cy="561975"/>
        </p:xfrm>
        <a:graphic>
          <a:graphicData uri="http://schemas.openxmlformats.org/presentationml/2006/ole">
            <mc:AlternateContent xmlns:mc="http://schemas.openxmlformats.org/markup-compatibility/2006">
              <mc:Choice xmlns:v="urn:schemas-microsoft-com:vml" Requires="v">
                <p:oleObj spid="_x0000_s3831" name="公式" r:id="rId8" imgW="1295280" imgH="431640" progId="Equation.3">
                  <p:embed/>
                </p:oleObj>
              </mc:Choice>
              <mc:Fallback>
                <p:oleObj name="公式" r:id="rId8" imgW="1295280" imgH="431640" progId="Equation.3">
                  <p:embed/>
                  <p:pic>
                    <p:nvPicPr>
                      <p:cNvPr id="3076"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71688" y="3500438"/>
                        <a:ext cx="1685925"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7" name="Object 6"/>
          <p:cNvGraphicFramePr>
            <a:graphicFrameLocks noChangeAspect="1"/>
          </p:cNvGraphicFramePr>
          <p:nvPr/>
        </p:nvGraphicFramePr>
        <p:xfrm>
          <a:off x="1143000" y="4522788"/>
          <a:ext cx="7315200" cy="954087"/>
        </p:xfrm>
        <a:graphic>
          <a:graphicData uri="http://schemas.openxmlformats.org/presentationml/2006/ole">
            <mc:AlternateContent xmlns:mc="http://schemas.openxmlformats.org/markup-compatibility/2006">
              <mc:Choice xmlns:v="urn:schemas-microsoft-com:vml" Requires="v">
                <p:oleObj spid="_x0000_s3832" name="Equation" r:id="rId10" imgW="3695400" imgH="482400" progId="Equation.3">
                  <p:embed/>
                </p:oleObj>
              </mc:Choice>
              <mc:Fallback>
                <p:oleObj name="Equation" r:id="rId10" imgW="3695400" imgH="482400" progId="Equation.3">
                  <p:embed/>
                  <p:pic>
                    <p:nvPicPr>
                      <p:cNvPr id="3077"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43000" y="4522788"/>
                        <a:ext cx="7315200" cy="954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8100000" algn="ctr" rotWithShape="0">
                                <a:schemeClr val="bg1"/>
                              </a:outerShdw>
                            </a:effectLst>
                          </a14:hiddenEffects>
                        </a:ext>
                      </a:extLst>
                    </p:spPr>
                  </p:pic>
                </p:oleObj>
              </mc:Fallback>
            </mc:AlternateContent>
          </a:graphicData>
        </a:graphic>
      </p:graphicFrame>
      <p:graphicFrame>
        <p:nvGraphicFramePr>
          <p:cNvPr id="3078" name="Object 2"/>
          <p:cNvGraphicFramePr>
            <a:graphicFrameLocks noChangeAspect="1"/>
          </p:cNvGraphicFramePr>
          <p:nvPr/>
        </p:nvGraphicFramePr>
        <p:xfrm>
          <a:off x="2063750" y="1828800"/>
          <a:ext cx="1322388" cy="528638"/>
        </p:xfrm>
        <a:graphic>
          <a:graphicData uri="http://schemas.openxmlformats.org/presentationml/2006/ole">
            <mc:AlternateContent xmlns:mc="http://schemas.openxmlformats.org/markup-compatibility/2006">
              <mc:Choice xmlns:v="urn:schemas-microsoft-com:vml" Requires="v">
                <p:oleObj spid="_x0000_s3833" name="Equation" r:id="rId12" imgW="1015920" imgH="406080" progId="Equation.3">
                  <p:embed/>
                </p:oleObj>
              </mc:Choice>
              <mc:Fallback>
                <p:oleObj name="Equation" r:id="rId12" imgW="1015920" imgH="406080" progId="Equation.3">
                  <p:embed/>
                  <p:pic>
                    <p:nvPicPr>
                      <p:cNvPr id="3078" name="Object 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063750" y="1828800"/>
                        <a:ext cx="1322388" cy="528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77097540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65539" name="Rectangle 2"/>
          <p:cNvSpPr>
            <a:spLocks noGrp="1" noChangeArrowheads="1"/>
          </p:cNvSpPr>
          <p:nvPr>
            <p:ph type="title"/>
          </p:nvPr>
        </p:nvSpPr>
        <p:spPr/>
        <p:txBody>
          <a:bodyPr/>
          <a:lstStyle/>
          <a:p>
            <a:pPr eaLnBrk="1" hangingPunct="1"/>
            <a:r>
              <a:rPr lang="zh-CN" altLang="en-US" dirty="0"/>
              <a:t>渐进表示</a:t>
            </a:r>
            <a:r>
              <a:rPr lang="en-US" altLang="zh-CN" dirty="0">
                <a:latin typeface="+mn-ea"/>
              </a:rPr>
              <a:t>——</a:t>
            </a:r>
            <a:r>
              <a:rPr lang="zh-CN" altLang="en-US" dirty="0" smtClean="0"/>
              <a:t>大</a:t>
            </a:r>
            <a:r>
              <a:rPr lang="en-US" altLang="zh-CN" dirty="0" smtClean="0"/>
              <a:t> O-</a:t>
            </a:r>
            <a:r>
              <a:rPr lang="zh-CN" altLang="en-US" dirty="0" smtClean="0"/>
              <a:t>记号（渐近上界记号）</a:t>
            </a:r>
            <a:endParaRPr lang="en-US" altLang="zh-CN" dirty="0" smtClean="0"/>
          </a:p>
        </p:txBody>
      </p:sp>
      <p:sp>
        <p:nvSpPr>
          <p:cNvPr id="65540" name="Rectangle 3"/>
          <p:cNvSpPr>
            <a:spLocks noGrp="1" noChangeArrowheads="1"/>
          </p:cNvSpPr>
          <p:nvPr>
            <p:ph type="body" idx="1"/>
          </p:nvPr>
        </p:nvSpPr>
        <p:spPr/>
        <p:txBody>
          <a:bodyPr/>
          <a:lstStyle/>
          <a:p>
            <a:pPr>
              <a:spcBef>
                <a:spcPct val="0"/>
              </a:spcBef>
            </a:pPr>
            <a:r>
              <a:rPr lang="zh-CN" altLang="en-US" sz="2200" smtClean="0"/>
              <a:t>注意事项</a:t>
            </a:r>
          </a:p>
          <a:p>
            <a:pPr>
              <a:spcBef>
                <a:spcPct val="0"/>
              </a:spcBef>
            </a:pPr>
            <a:r>
              <a:rPr lang="zh-CN" altLang="en-US" sz="2200" smtClean="0"/>
              <a:t>1. 用来作比较的函数</a:t>
            </a:r>
            <a:r>
              <a:rPr lang="en-US" altLang="zh-CN" sz="2200" smtClean="0"/>
              <a:t>g(n)</a:t>
            </a:r>
            <a:r>
              <a:rPr lang="zh-CN" altLang="en-US" sz="2200" smtClean="0"/>
              <a:t>应该尽量接近所考虑的函数</a:t>
            </a:r>
            <a:r>
              <a:rPr lang="en-US" altLang="zh-CN" sz="2200" smtClean="0"/>
              <a:t>f(n).</a:t>
            </a:r>
          </a:p>
          <a:p>
            <a:pPr>
              <a:spcBef>
                <a:spcPct val="0"/>
              </a:spcBef>
              <a:buFontTx/>
              <a:buNone/>
            </a:pPr>
            <a:r>
              <a:rPr lang="en-US" altLang="zh-CN" sz="2200" smtClean="0"/>
              <a:t>      3n+2=O(n</a:t>
            </a:r>
            <a:r>
              <a:rPr lang="en-US" altLang="zh-CN" sz="2200" baseline="30000" smtClean="0"/>
              <a:t>2</a:t>
            </a:r>
            <a:r>
              <a:rPr lang="en-US" altLang="zh-CN" sz="2200" smtClean="0"/>
              <a:t>) </a:t>
            </a:r>
            <a:r>
              <a:rPr lang="zh-CN" altLang="en-US" sz="2200" smtClean="0"/>
              <a:t>松散的界限；3</a:t>
            </a:r>
            <a:r>
              <a:rPr lang="en-US" altLang="zh-CN" sz="2200" smtClean="0"/>
              <a:t>n+2=O(n) </a:t>
            </a:r>
            <a:r>
              <a:rPr lang="zh-CN" altLang="en-US" sz="2200" smtClean="0">
                <a:solidFill>
                  <a:srgbClr val="FF0000"/>
                </a:solidFill>
              </a:rPr>
              <a:t>较好的界限</a:t>
            </a:r>
            <a:r>
              <a:rPr lang="zh-CN" altLang="en-US" sz="2200" smtClean="0"/>
              <a:t>。</a:t>
            </a:r>
            <a:endParaRPr lang="en-US" altLang="zh-CN" sz="2200" smtClean="0"/>
          </a:p>
          <a:p>
            <a:pPr>
              <a:spcBef>
                <a:spcPct val="0"/>
              </a:spcBef>
              <a:buFontTx/>
              <a:buNone/>
            </a:pPr>
            <a:endParaRPr lang="zh-CN" altLang="en-US" sz="2200" smtClean="0"/>
          </a:p>
          <a:p>
            <a:pPr>
              <a:spcBef>
                <a:spcPct val="0"/>
              </a:spcBef>
            </a:pPr>
            <a:r>
              <a:rPr lang="en-US" altLang="zh-CN" sz="2200" smtClean="0"/>
              <a:t>2</a:t>
            </a:r>
            <a:r>
              <a:rPr lang="zh-CN" altLang="en-US" sz="2200" smtClean="0"/>
              <a:t>. </a:t>
            </a:r>
            <a:r>
              <a:rPr lang="en-US" altLang="zh-CN" sz="2200" smtClean="0"/>
              <a:t>f(n)=O(g(n))</a:t>
            </a:r>
            <a:r>
              <a:rPr lang="zh-CN" altLang="en-US" sz="2200" smtClean="0"/>
              <a:t>不能写成</a:t>
            </a:r>
            <a:r>
              <a:rPr lang="en-US" altLang="zh-CN" sz="2200" smtClean="0"/>
              <a:t>g(n)=O(f(n))，</a:t>
            </a:r>
            <a:r>
              <a:rPr lang="zh-CN" altLang="en-US" sz="2200" smtClean="0"/>
              <a:t>因为两者</a:t>
            </a:r>
            <a:r>
              <a:rPr lang="zh-CN" altLang="en-US" sz="2200" smtClean="0">
                <a:solidFill>
                  <a:srgbClr val="FF0000"/>
                </a:solidFill>
              </a:rPr>
              <a:t>并不等价</a:t>
            </a:r>
            <a:r>
              <a:rPr lang="zh-CN" altLang="en-US" sz="2200" smtClean="0"/>
              <a:t>。实际上，这里的等号并不是通常相等的含义。按照定义，用集合符号更准确些</a:t>
            </a:r>
            <a:r>
              <a:rPr lang="en-US" altLang="zh-CN" sz="2200" smtClean="0"/>
              <a:t>.</a:t>
            </a:r>
          </a:p>
          <a:p>
            <a:pPr>
              <a:spcBef>
                <a:spcPct val="0"/>
              </a:spcBef>
            </a:pPr>
            <a:endParaRPr lang="zh-CN" altLang="en-US" sz="2200" smtClean="0"/>
          </a:p>
          <a:p>
            <a:pPr>
              <a:spcBef>
                <a:spcPct val="0"/>
              </a:spcBef>
            </a:pPr>
            <a:r>
              <a:rPr lang="en-US" altLang="zh-CN" sz="2200" smtClean="0"/>
              <a:t>3. O(g(n))={f(n)|f(n)</a:t>
            </a:r>
            <a:r>
              <a:rPr lang="zh-CN" altLang="en-US" sz="2200" smtClean="0"/>
              <a:t>满足：存在正的常数</a:t>
            </a:r>
            <a:r>
              <a:rPr lang="en-US" altLang="zh-CN" sz="2200" smtClean="0"/>
              <a:t>c </a:t>
            </a:r>
            <a:r>
              <a:rPr lang="zh-CN" altLang="en-US" sz="2200" smtClean="0"/>
              <a:t>和</a:t>
            </a:r>
            <a:r>
              <a:rPr lang="en-US" altLang="zh-CN" sz="2200" smtClean="0"/>
              <a:t>n</a:t>
            </a:r>
            <a:r>
              <a:rPr lang="en-US" altLang="zh-CN" sz="2200" baseline="-25000" smtClean="0"/>
              <a:t>0</a:t>
            </a:r>
            <a:r>
              <a:rPr lang="en-US" altLang="zh-CN" sz="2200" smtClean="0"/>
              <a:t>，</a:t>
            </a:r>
            <a:r>
              <a:rPr lang="zh-CN" altLang="en-US" sz="2200" smtClean="0"/>
              <a:t>使得当</a:t>
            </a:r>
            <a:r>
              <a:rPr lang="en-US" altLang="zh-CN" sz="2200" smtClean="0"/>
              <a:t>n&gt;=n</a:t>
            </a:r>
            <a:r>
              <a:rPr lang="en-US" altLang="zh-CN" sz="2200" baseline="-25000" smtClean="0"/>
              <a:t>0</a:t>
            </a:r>
            <a:r>
              <a:rPr lang="en-US" altLang="zh-CN" sz="2200" smtClean="0"/>
              <a:t> </a:t>
            </a:r>
            <a:r>
              <a:rPr lang="zh-CN" altLang="en-US" sz="2200" smtClean="0"/>
              <a:t>时，</a:t>
            </a:r>
            <a:r>
              <a:rPr lang="en-US" altLang="zh-CN" sz="2200" smtClean="0"/>
              <a:t>f(n)&lt;=cg(n)}。</a:t>
            </a:r>
            <a:r>
              <a:rPr lang="zh-CN" altLang="en-US" sz="2200" smtClean="0"/>
              <a:t>所以，人们常常把</a:t>
            </a:r>
            <a:r>
              <a:rPr lang="en-US" altLang="zh-CN" sz="2200" smtClean="0"/>
              <a:t>f(n)=O(g(n))</a:t>
            </a:r>
            <a:r>
              <a:rPr lang="zh-CN" altLang="en-US" sz="2200" smtClean="0"/>
              <a:t>读作：“</a:t>
            </a:r>
            <a:r>
              <a:rPr lang="en-US" altLang="zh-CN" sz="2200" smtClean="0">
                <a:solidFill>
                  <a:srgbClr val="FF0000"/>
                </a:solidFill>
              </a:rPr>
              <a:t>f(n)</a:t>
            </a:r>
            <a:r>
              <a:rPr lang="zh-CN" altLang="en-US" sz="2200" smtClean="0">
                <a:solidFill>
                  <a:srgbClr val="FF0000"/>
                </a:solidFill>
              </a:rPr>
              <a:t>是</a:t>
            </a:r>
            <a:r>
              <a:rPr lang="en-US" altLang="zh-CN" sz="2200" smtClean="0">
                <a:solidFill>
                  <a:srgbClr val="FF0000"/>
                </a:solidFill>
              </a:rPr>
              <a:t>g(n)</a:t>
            </a:r>
            <a:r>
              <a:rPr lang="zh-CN" altLang="en-US" sz="2200" smtClean="0">
                <a:solidFill>
                  <a:srgbClr val="FF0000"/>
                </a:solidFill>
              </a:rPr>
              <a:t>的一个大</a:t>
            </a:r>
            <a:r>
              <a:rPr lang="en-US" altLang="zh-CN" sz="2200" smtClean="0">
                <a:solidFill>
                  <a:srgbClr val="FF0000"/>
                </a:solidFill>
              </a:rPr>
              <a:t>O </a:t>
            </a:r>
            <a:r>
              <a:rPr lang="zh-CN" altLang="en-US" sz="2200" smtClean="0">
                <a:solidFill>
                  <a:srgbClr val="FF0000"/>
                </a:solidFill>
              </a:rPr>
              <a:t>成员</a:t>
            </a:r>
            <a:r>
              <a:rPr lang="zh-CN" altLang="en-US" sz="2200" smtClean="0"/>
              <a:t>”。</a:t>
            </a:r>
            <a:endParaRPr lang="en-US" altLang="zh-CN" sz="2200" smtClean="0"/>
          </a:p>
          <a:p>
            <a:pPr lvl="1" eaLnBrk="1" hangingPunct="1">
              <a:spcBef>
                <a:spcPct val="0"/>
              </a:spcBef>
              <a:buFontTx/>
              <a:buNone/>
            </a:pPr>
            <a:endParaRPr lang="en-US" altLang="zh-CN" sz="2000" smtClean="0">
              <a:latin typeface="Arial" panose="020B0604020202020204" pitchFamily="34" charset="0"/>
              <a:sym typeface="Symbol" panose="05050102010706020507" pitchFamily="18" charset="2"/>
            </a:endParaRPr>
          </a:p>
          <a:p>
            <a:pPr eaLnBrk="1" hangingPunct="1"/>
            <a:endParaRPr lang="en-US" altLang="zh-CN" sz="2200" smtClean="0">
              <a:sym typeface="Symbol" panose="05050102010706020507" pitchFamily="18" charset="2"/>
            </a:endParaRPr>
          </a:p>
        </p:txBody>
      </p:sp>
    </p:spTree>
    <p:extLst>
      <p:ext uri="{BB962C8B-B14F-4D97-AF65-F5344CB8AC3E}">
        <p14:creationId xmlns:p14="http://schemas.microsoft.com/office/powerpoint/2010/main" val="344527274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68611" name="Rectangle 2"/>
          <p:cNvSpPr>
            <a:spLocks noGrp="1" noChangeArrowheads="1"/>
          </p:cNvSpPr>
          <p:nvPr>
            <p:ph type="title"/>
          </p:nvPr>
        </p:nvSpPr>
        <p:spPr/>
        <p:txBody>
          <a:bodyPr/>
          <a:lstStyle/>
          <a:p>
            <a:pPr eaLnBrk="1" hangingPunct="1"/>
            <a:r>
              <a:rPr lang="zh-CN" altLang="en-US" dirty="0"/>
              <a:t>渐进表示</a:t>
            </a:r>
            <a:r>
              <a:rPr lang="en-US" altLang="zh-CN" dirty="0">
                <a:latin typeface="+mn-ea"/>
              </a:rPr>
              <a:t>—— </a:t>
            </a:r>
            <a:r>
              <a:rPr lang="en-US" altLang="zh-CN" dirty="0" smtClean="0">
                <a:sym typeface="Symbol" panose="05050102010706020507" pitchFamily="18" charset="2"/>
              </a:rPr>
              <a:t></a:t>
            </a:r>
            <a:r>
              <a:rPr lang="en-US" altLang="zh-CN" dirty="0" smtClean="0"/>
              <a:t>-</a:t>
            </a:r>
            <a:r>
              <a:rPr lang="zh-CN" altLang="en-US" dirty="0" smtClean="0"/>
              <a:t>记号（</a:t>
            </a:r>
            <a:r>
              <a:rPr lang="zh-CN" altLang="en-US" dirty="0" smtClean="0">
                <a:sym typeface="Symbol" panose="05050102010706020507" pitchFamily="18" charset="2"/>
              </a:rPr>
              <a:t>渐近下界记号</a:t>
            </a:r>
            <a:r>
              <a:rPr lang="zh-CN" altLang="en-US" dirty="0" smtClean="0"/>
              <a:t>）</a:t>
            </a:r>
            <a:endParaRPr lang="en-US" altLang="zh-CN" dirty="0" smtClean="0"/>
          </a:p>
        </p:txBody>
      </p:sp>
      <p:sp>
        <p:nvSpPr>
          <p:cNvPr id="2" name="Rectangle 3"/>
          <p:cNvSpPr>
            <a:spLocks noGrp="1" noChangeArrowheads="1"/>
          </p:cNvSpPr>
          <p:nvPr>
            <p:ph type="body" idx="1"/>
          </p:nvPr>
        </p:nvSpPr>
        <p:spPr>
          <a:xfrm>
            <a:off x="900113" y="1268413"/>
            <a:ext cx="8243887" cy="4525962"/>
          </a:xfrm>
        </p:spPr>
        <p:txBody>
          <a:bodyPr/>
          <a:lstStyle/>
          <a:p>
            <a:pPr eaLnBrk="1" hangingPunct="1">
              <a:lnSpc>
                <a:spcPct val="90000"/>
              </a:lnSpc>
              <a:defRPr/>
            </a:pPr>
            <a:r>
              <a:rPr lang="zh-CN" altLang="en-US" dirty="0" smtClean="0"/>
              <a:t>定义</a:t>
            </a:r>
            <a:r>
              <a:rPr lang="en-US" altLang="zh-CN" dirty="0" smtClean="0"/>
              <a:t> 1.3</a:t>
            </a:r>
          </a:p>
          <a:p>
            <a:pPr lvl="1" eaLnBrk="1" hangingPunct="1">
              <a:lnSpc>
                <a:spcPct val="90000"/>
              </a:lnSpc>
              <a:defRPr/>
            </a:pPr>
            <a:r>
              <a:rPr lang="zh-CN" altLang="en-US" dirty="0" smtClean="0">
                <a:latin typeface="+mn-lt"/>
                <a:ea typeface="+mn-ea"/>
                <a:cs typeface="+mn-cs"/>
              </a:rPr>
              <a:t>如果存在正的常数</a:t>
            </a:r>
            <a:r>
              <a:rPr lang="en-US" altLang="zh-CN" dirty="0" smtClean="0">
                <a:latin typeface="+mn-lt"/>
                <a:ea typeface="+mn-ea"/>
                <a:cs typeface="+mn-cs"/>
              </a:rPr>
              <a:t>c</a:t>
            </a:r>
            <a:r>
              <a:rPr lang="zh-CN" altLang="en-US" dirty="0" smtClean="0">
                <a:latin typeface="+mn-lt"/>
                <a:ea typeface="+mn-ea"/>
                <a:cs typeface="+mn-cs"/>
              </a:rPr>
              <a:t>和自然数</a:t>
            </a:r>
            <a:r>
              <a:rPr lang="en-US" altLang="zh-CN" dirty="0" smtClean="0">
                <a:latin typeface="+mn-lt"/>
                <a:ea typeface="+mn-ea"/>
                <a:cs typeface="+mn-cs"/>
              </a:rPr>
              <a:t>n0 </a:t>
            </a:r>
            <a:r>
              <a:rPr lang="zh-CN" altLang="en-US" dirty="0" smtClean="0">
                <a:latin typeface="+mn-lt"/>
                <a:ea typeface="+mn-ea"/>
                <a:cs typeface="+mn-cs"/>
              </a:rPr>
              <a:t>，使得当</a:t>
            </a:r>
            <a:r>
              <a:rPr lang="en-US" altLang="zh-CN" dirty="0" smtClean="0">
                <a:latin typeface="+mn-lt"/>
                <a:ea typeface="+mn-ea"/>
                <a:cs typeface="+mn-cs"/>
                <a:sym typeface="Symbol" pitchFamily="18" charset="2"/>
              </a:rPr>
              <a:t>nn0</a:t>
            </a:r>
            <a:r>
              <a:rPr lang="zh-CN" altLang="en-US" dirty="0" smtClean="0">
                <a:latin typeface="+mn-lt"/>
                <a:ea typeface="+mn-ea"/>
                <a:cs typeface="+mn-cs"/>
              </a:rPr>
              <a:t>时有</a:t>
            </a:r>
            <a:r>
              <a:rPr lang="en-US" altLang="zh-CN" dirty="0" smtClean="0">
                <a:latin typeface="+mn-lt"/>
                <a:ea typeface="+mn-ea"/>
                <a:cs typeface="+mn-cs"/>
                <a:sym typeface="Symbol" pitchFamily="18" charset="2"/>
              </a:rPr>
              <a:t>f(n)cg(n)</a:t>
            </a:r>
            <a:r>
              <a:rPr lang="zh-CN" altLang="en-US" dirty="0" smtClean="0">
                <a:latin typeface="+mn-lt"/>
                <a:ea typeface="+mn-ea"/>
                <a:cs typeface="+mn-cs"/>
              </a:rPr>
              <a:t>，则称函数</a:t>
            </a:r>
            <a:r>
              <a:rPr lang="en-US" altLang="zh-CN" dirty="0" smtClean="0">
                <a:latin typeface="+mn-lt"/>
                <a:ea typeface="+mn-ea"/>
                <a:cs typeface="+mn-cs"/>
              </a:rPr>
              <a:t>f(n)</a:t>
            </a:r>
            <a:r>
              <a:rPr lang="zh-CN" altLang="en-US" dirty="0" smtClean="0">
                <a:latin typeface="+mn-lt"/>
                <a:ea typeface="+mn-ea"/>
                <a:cs typeface="+mn-cs"/>
              </a:rPr>
              <a:t>当</a:t>
            </a:r>
            <a:r>
              <a:rPr lang="en-US" altLang="zh-CN" dirty="0" smtClean="0">
                <a:latin typeface="+mn-lt"/>
                <a:ea typeface="+mn-ea"/>
                <a:cs typeface="+mn-cs"/>
              </a:rPr>
              <a:t>n</a:t>
            </a:r>
            <a:r>
              <a:rPr lang="zh-CN" altLang="en-US" dirty="0" smtClean="0">
                <a:latin typeface="+mn-lt"/>
                <a:ea typeface="+mn-ea"/>
                <a:cs typeface="+mn-cs"/>
              </a:rPr>
              <a:t>充分大时下有界，且</a:t>
            </a:r>
            <a:r>
              <a:rPr lang="en-US" altLang="zh-CN" dirty="0" smtClean="0">
                <a:latin typeface="+mn-lt"/>
                <a:ea typeface="+mn-ea"/>
                <a:cs typeface="+mn-cs"/>
              </a:rPr>
              <a:t>g(n)</a:t>
            </a:r>
            <a:r>
              <a:rPr lang="zh-CN" altLang="en-US" dirty="0" smtClean="0">
                <a:latin typeface="+mn-lt"/>
                <a:ea typeface="+mn-ea"/>
                <a:cs typeface="+mn-cs"/>
              </a:rPr>
              <a:t>是它的一个下界，记为</a:t>
            </a:r>
            <a:r>
              <a:rPr lang="en-US" altLang="zh-CN" dirty="0" smtClean="0">
                <a:latin typeface="+mn-lt"/>
                <a:ea typeface="+mn-ea"/>
                <a:cs typeface="+mn-cs"/>
              </a:rPr>
              <a:t>f(n)=</a:t>
            </a:r>
            <a:r>
              <a:rPr lang="el-GR" altLang="zh-CN" dirty="0" smtClean="0">
                <a:latin typeface="+mn-lt"/>
                <a:ea typeface="+mn-ea"/>
                <a:cs typeface="+mn-cs"/>
              </a:rPr>
              <a:t>Ω(</a:t>
            </a:r>
            <a:r>
              <a:rPr lang="en-US" altLang="zh-CN" dirty="0" smtClean="0">
                <a:latin typeface="+mn-lt"/>
                <a:ea typeface="+mn-ea"/>
                <a:cs typeface="+mn-cs"/>
              </a:rPr>
              <a:t>g(n))</a:t>
            </a:r>
            <a:r>
              <a:rPr lang="zh-CN" altLang="en-US" dirty="0" smtClean="0">
                <a:latin typeface="+mn-lt"/>
                <a:ea typeface="+mn-ea"/>
                <a:cs typeface="+mn-cs"/>
              </a:rPr>
              <a:t>。即</a:t>
            </a:r>
            <a:r>
              <a:rPr lang="en-US" altLang="zh-CN" dirty="0" smtClean="0">
                <a:solidFill>
                  <a:srgbClr val="FF0000"/>
                </a:solidFill>
                <a:latin typeface="+mn-lt"/>
                <a:ea typeface="+mn-ea"/>
                <a:cs typeface="+mn-cs"/>
              </a:rPr>
              <a:t>f(n)</a:t>
            </a:r>
            <a:r>
              <a:rPr lang="zh-CN" altLang="en-US" dirty="0" smtClean="0">
                <a:solidFill>
                  <a:srgbClr val="FF0000"/>
                </a:solidFill>
                <a:latin typeface="+mn-lt"/>
                <a:ea typeface="+mn-ea"/>
                <a:cs typeface="+mn-cs"/>
              </a:rPr>
              <a:t>的阶不低于</a:t>
            </a:r>
            <a:r>
              <a:rPr lang="en-US" altLang="zh-CN" dirty="0" smtClean="0">
                <a:solidFill>
                  <a:srgbClr val="FF0000"/>
                </a:solidFill>
                <a:latin typeface="+mn-lt"/>
                <a:ea typeface="+mn-ea"/>
                <a:cs typeface="+mn-cs"/>
              </a:rPr>
              <a:t>g(n)</a:t>
            </a:r>
            <a:r>
              <a:rPr lang="zh-CN" altLang="en-US" dirty="0" smtClean="0">
                <a:solidFill>
                  <a:srgbClr val="FF0000"/>
                </a:solidFill>
                <a:latin typeface="+mn-lt"/>
                <a:ea typeface="+mn-ea"/>
                <a:cs typeface="+mn-cs"/>
              </a:rPr>
              <a:t>的阶</a:t>
            </a:r>
            <a:endParaRPr lang="en-US" altLang="zh-CN" dirty="0" smtClean="0">
              <a:solidFill>
                <a:srgbClr val="FF0000"/>
              </a:solidFill>
              <a:latin typeface="+mn-lt"/>
              <a:ea typeface="+mn-ea"/>
              <a:cs typeface="+mn-cs"/>
            </a:endParaRPr>
          </a:p>
          <a:p>
            <a:pPr lvl="1" eaLnBrk="1" hangingPunct="1">
              <a:lnSpc>
                <a:spcPct val="90000"/>
              </a:lnSpc>
              <a:buFontTx/>
              <a:buNone/>
              <a:defRPr/>
            </a:pPr>
            <a:r>
              <a:rPr lang="zh-CN" altLang="en-US" dirty="0" smtClean="0">
                <a:latin typeface="+mn-lt"/>
                <a:ea typeface="+mn-ea"/>
                <a:cs typeface="+mn-cs"/>
              </a:rPr>
              <a:t>也就是说</a:t>
            </a:r>
            <a:r>
              <a:rPr lang="en-US" altLang="zh-CN" dirty="0" smtClean="0">
                <a:latin typeface="+mn-lt"/>
                <a:ea typeface="+mn-ea"/>
                <a:cs typeface="+mn-cs"/>
                <a:sym typeface="Symbol" pitchFamily="18" charset="2"/>
              </a:rPr>
              <a:t>, </a:t>
            </a:r>
            <a:r>
              <a:rPr lang="zh-CN" altLang="en-US" dirty="0" smtClean="0">
                <a:latin typeface="+mn-lt"/>
                <a:ea typeface="+mn-ea"/>
                <a:cs typeface="+mn-cs"/>
                <a:sym typeface="Symbol" pitchFamily="18" charset="2"/>
              </a:rPr>
              <a:t>当</a:t>
            </a:r>
            <a:r>
              <a:rPr lang="en-US" altLang="zh-CN" i="1" dirty="0" err="1" smtClean="0">
                <a:latin typeface="+mn-lt"/>
                <a:sym typeface="Symbol" pitchFamily="18" charset="2"/>
              </a:rPr>
              <a:t>lim</a:t>
            </a:r>
            <a:r>
              <a:rPr lang="en-US" altLang="zh-CN" i="1" dirty="0" smtClean="0">
                <a:latin typeface="+mn-lt"/>
                <a:sym typeface="Symbol" pitchFamily="18" charset="2"/>
              </a:rPr>
              <a:t> </a:t>
            </a:r>
            <a:r>
              <a:rPr lang="en-US" altLang="zh-CN" i="1" baseline="-25000" dirty="0" smtClean="0">
                <a:latin typeface="+mn-lt"/>
                <a:sym typeface="Symbol" pitchFamily="18" charset="2"/>
              </a:rPr>
              <a:t>n </a:t>
            </a:r>
            <a:r>
              <a:rPr lang="en-US" altLang="zh-CN" i="1" dirty="0" smtClean="0">
                <a:latin typeface="+mn-lt"/>
                <a:sym typeface="Symbol" pitchFamily="18" charset="2"/>
              </a:rPr>
              <a:t>f (n) /g (n)</a:t>
            </a:r>
            <a:r>
              <a:rPr lang="zh-CN" altLang="en-US" dirty="0" smtClean="0">
                <a:latin typeface="+mn-lt"/>
                <a:ea typeface="+mn-ea"/>
                <a:cs typeface="+mn-cs"/>
                <a:sym typeface="Symbol" pitchFamily="18" charset="2"/>
              </a:rPr>
              <a:t>存在</a:t>
            </a:r>
            <a:r>
              <a:rPr lang="en-US" altLang="zh-CN" dirty="0" smtClean="0">
                <a:latin typeface="+mn-lt"/>
                <a:ea typeface="+mn-ea"/>
                <a:cs typeface="+mn-cs"/>
                <a:sym typeface="Symbol" pitchFamily="18" charset="2"/>
              </a:rPr>
              <a:t>, </a:t>
            </a:r>
            <a:r>
              <a:rPr lang="zh-CN" altLang="en-US" dirty="0" smtClean="0">
                <a:latin typeface="+mn-lt"/>
                <a:ea typeface="+mn-ea"/>
                <a:cs typeface="+mn-cs"/>
                <a:sym typeface="Symbol" pitchFamily="18" charset="2"/>
              </a:rPr>
              <a:t>且</a:t>
            </a:r>
            <a:endParaRPr lang="en-US" altLang="zh-CN" dirty="0" smtClean="0">
              <a:latin typeface="+mn-lt"/>
              <a:ea typeface="+mn-ea"/>
              <a:cs typeface="+mn-cs"/>
              <a:sym typeface="Symbol" pitchFamily="18" charset="2"/>
            </a:endParaRPr>
          </a:p>
          <a:p>
            <a:pPr eaLnBrk="1" hangingPunct="1">
              <a:lnSpc>
                <a:spcPct val="90000"/>
              </a:lnSpc>
              <a:buFontTx/>
              <a:buNone/>
              <a:defRPr/>
            </a:pPr>
            <a:r>
              <a:rPr lang="en-US" altLang="zh-CN" sz="2200" dirty="0" smtClean="0">
                <a:sym typeface="Symbol" pitchFamily="18" charset="2"/>
              </a:rPr>
              <a:t>                    </a:t>
            </a:r>
            <a:r>
              <a:rPr lang="en-US" altLang="zh-CN" sz="2200" i="1" dirty="0" err="1" smtClean="0">
                <a:sym typeface="Symbol" pitchFamily="18" charset="2"/>
              </a:rPr>
              <a:t>lim</a:t>
            </a:r>
            <a:r>
              <a:rPr lang="en-US" altLang="zh-CN" sz="2200" i="1" dirty="0" smtClean="0">
                <a:sym typeface="Symbol" pitchFamily="18" charset="2"/>
              </a:rPr>
              <a:t> </a:t>
            </a:r>
            <a:r>
              <a:rPr lang="en-US" altLang="zh-CN" sz="2200" i="1" baseline="-25000" dirty="0" smtClean="0">
                <a:sym typeface="Symbol" pitchFamily="18" charset="2"/>
              </a:rPr>
              <a:t>n </a:t>
            </a:r>
            <a:r>
              <a:rPr lang="en-US" altLang="zh-CN" sz="2200" i="1" dirty="0" smtClean="0">
                <a:sym typeface="Symbol" pitchFamily="18" charset="2"/>
              </a:rPr>
              <a:t>f (n) /g (n) </a:t>
            </a:r>
            <a:r>
              <a:rPr lang="en-US" altLang="zh-CN" sz="2200" dirty="0" smtClean="0">
                <a:sym typeface="Symbol" pitchFamily="18" charset="2"/>
              </a:rPr>
              <a:t>0  </a:t>
            </a:r>
            <a:r>
              <a:rPr lang="zh-CN" altLang="en-US" sz="2200" dirty="0" smtClean="0">
                <a:sym typeface="Symbol" pitchFamily="18" charset="2"/>
              </a:rPr>
              <a:t>则表示  </a:t>
            </a:r>
            <a:r>
              <a:rPr lang="en-US" altLang="zh-CN" sz="2200" dirty="0" smtClean="0">
                <a:sym typeface="Symbol" pitchFamily="18" charset="2"/>
              </a:rPr>
              <a:t> f(n)= (g(n))</a:t>
            </a:r>
          </a:p>
          <a:p>
            <a:pPr eaLnBrk="1" hangingPunct="1">
              <a:lnSpc>
                <a:spcPct val="90000"/>
              </a:lnSpc>
              <a:defRPr/>
            </a:pPr>
            <a:r>
              <a:rPr lang="zh-CN" altLang="en-US" sz="2200" dirty="0" smtClean="0"/>
              <a:t>根据定义可知：函数</a:t>
            </a:r>
            <a:r>
              <a:rPr lang="en-US" altLang="zh-CN" sz="2200" dirty="0" smtClean="0"/>
              <a:t>f </a:t>
            </a:r>
            <a:r>
              <a:rPr lang="zh-CN" altLang="en-US" sz="2200" dirty="0" smtClean="0"/>
              <a:t>至少是函数</a:t>
            </a:r>
            <a:r>
              <a:rPr lang="en-US" altLang="zh-CN" sz="2200" dirty="0" smtClean="0"/>
              <a:t>g </a:t>
            </a:r>
            <a:r>
              <a:rPr lang="zh-CN" altLang="en-US" sz="2200" dirty="0" smtClean="0"/>
              <a:t>的</a:t>
            </a:r>
            <a:r>
              <a:rPr lang="en-US" altLang="zh-CN" sz="2200" dirty="0" smtClean="0"/>
              <a:t>c </a:t>
            </a:r>
            <a:r>
              <a:rPr lang="zh-CN" altLang="en-US" sz="2200" dirty="0" smtClean="0"/>
              <a:t>倍，除非</a:t>
            </a:r>
            <a:r>
              <a:rPr lang="en-US" altLang="zh-CN" sz="2200" dirty="0" smtClean="0"/>
              <a:t>n &lt; n0 。</a:t>
            </a:r>
            <a:r>
              <a:rPr lang="zh-CN" altLang="en-US" sz="2200" dirty="0" smtClean="0"/>
              <a:t>即是说，当</a:t>
            </a:r>
            <a:r>
              <a:rPr lang="en-US" altLang="zh-CN" sz="2200" dirty="0" smtClean="0"/>
              <a:t>n </a:t>
            </a:r>
            <a:r>
              <a:rPr lang="zh-CN" altLang="en-US" sz="2200" dirty="0" smtClean="0"/>
              <a:t>充分大时，</a:t>
            </a:r>
            <a:r>
              <a:rPr lang="en-US" altLang="zh-CN" sz="2200" dirty="0" smtClean="0"/>
              <a:t>g </a:t>
            </a:r>
            <a:r>
              <a:rPr lang="zh-CN" altLang="en-US" sz="2200" dirty="0" smtClean="0"/>
              <a:t>是</a:t>
            </a:r>
            <a:r>
              <a:rPr lang="en-US" altLang="zh-CN" sz="2200" dirty="0" smtClean="0"/>
              <a:t>f</a:t>
            </a:r>
            <a:r>
              <a:rPr lang="zh-CN" altLang="en-US" sz="2200" dirty="0" smtClean="0"/>
              <a:t>的一个下界函数，在相差一个非零常数倍的情况下。</a:t>
            </a:r>
            <a:endParaRPr lang="en-US" altLang="zh-CN" sz="2200" dirty="0" smtClean="0">
              <a:sym typeface="Symbol" pitchFamily="18" charset="2"/>
            </a:endParaRPr>
          </a:p>
          <a:p>
            <a:pPr eaLnBrk="1" hangingPunct="1">
              <a:lnSpc>
                <a:spcPct val="90000"/>
              </a:lnSpc>
              <a:defRPr/>
            </a:pPr>
            <a:r>
              <a:rPr lang="zh-CN" altLang="en-US" dirty="0" smtClean="0">
                <a:sym typeface="Symbol" pitchFamily="18" charset="2"/>
              </a:rPr>
              <a:t>例：</a:t>
            </a:r>
            <a:endParaRPr lang="en-US" altLang="zh-CN" dirty="0" smtClean="0">
              <a:sym typeface="Symbol" pitchFamily="18" charset="2"/>
            </a:endParaRPr>
          </a:p>
          <a:p>
            <a:pPr lvl="1" eaLnBrk="1" hangingPunct="1">
              <a:lnSpc>
                <a:spcPct val="90000"/>
              </a:lnSpc>
              <a:spcBef>
                <a:spcPct val="0"/>
              </a:spcBef>
              <a:buFontTx/>
              <a:buNone/>
              <a:defRPr/>
            </a:pPr>
            <a:r>
              <a:rPr lang="en-US" altLang="zh-CN" sz="2000" dirty="0" smtClean="0">
                <a:latin typeface="+mn-lt"/>
                <a:ea typeface="+mn-ea"/>
                <a:cs typeface="+mn-cs"/>
              </a:rPr>
              <a:t>Let f (n) = 10</a:t>
            </a:r>
            <a:r>
              <a:rPr lang="en-US" altLang="zh-CN" sz="2000" dirty="0" smtClean="0">
                <a:latin typeface="+mn-lt"/>
              </a:rPr>
              <a:t>n</a:t>
            </a:r>
            <a:r>
              <a:rPr lang="en-US" altLang="zh-CN" sz="2000" baseline="30000" dirty="0" smtClean="0">
                <a:latin typeface="+mn-lt"/>
              </a:rPr>
              <a:t>2</a:t>
            </a:r>
            <a:r>
              <a:rPr lang="en-US" altLang="zh-CN" sz="2000" dirty="0" smtClean="0">
                <a:latin typeface="+mn-lt"/>
                <a:ea typeface="+mn-ea"/>
                <a:cs typeface="+mn-cs"/>
              </a:rPr>
              <a:t>+20n. Then, </a:t>
            </a:r>
          </a:p>
          <a:p>
            <a:pPr lvl="1" eaLnBrk="1" hangingPunct="1">
              <a:lnSpc>
                <a:spcPct val="90000"/>
              </a:lnSpc>
              <a:buFontTx/>
              <a:buNone/>
              <a:defRPr/>
            </a:pPr>
            <a:r>
              <a:rPr lang="en-US" altLang="zh-CN" sz="2000" dirty="0" smtClean="0">
                <a:latin typeface="+mn-lt"/>
                <a:ea typeface="+mn-ea"/>
                <a:cs typeface="+mn-cs"/>
              </a:rPr>
              <a:t>f (n) = </a:t>
            </a:r>
            <a:r>
              <a:rPr lang="en-US" altLang="zh-CN" sz="2000" dirty="0" smtClean="0">
                <a:latin typeface="+mn-lt"/>
                <a:ea typeface="+mn-ea"/>
                <a:cs typeface="+mn-cs"/>
                <a:sym typeface="Symbol" pitchFamily="18" charset="2"/>
              </a:rPr>
              <a:t>(</a:t>
            </a:r>
            <a:r>
              <a:rPr lang="en-US" altLang="zh-CN" sz="2000" dirty="0" smtClean="0">
                <a:latin typeface="+mn-lt"/>
              </a:rPr>
              <a:t>n</a:t>
            </a:r>
            <a:r>
              <a:rPr lang="en-US" altLang="zh-CN" sz="2000" baseline="30000" dirty="0" smtClean="0">
                <a:latin typeface="+mn-lt"/>
              </a:rPr>
              <a:t>2</a:t>
            </a:r>
            <a:r>
              <a:rPr lang="en-US" altLang="zh-CN" sz="2000" dirty="0" smtClean="0">
                <a:latin typeface="+mn-lt"/>
                <a:ea typeface="+mn-ea"/>
                <a:cs typeface="+mn-cs"/>
                <a:sym typeface="Symbol" pitchFamily="18" charset="2"/>
              </a:rPr>
              <a:t>) </a:t>
            </a:r>
            <a:r>
              <a:rPr lang="zh-CN" altLang="en-US" sz="2000" dirty="0" smtClean="0">
                <a:latin typeface="+mn-lt"/>
                <a:ea typeface="+mn-ea"/>
                <a:cs typeface="+mn-cs"/>
                <a:sym typeface="Symbol" pitchFamily="18" charset="2"/>
              </a:rPr>
              <a:t>由于当</a:t>
            </a:r>
            <a:r>
              <a:rPr lang="en-US" altLang="zh-CN" sz="2000" dirty="0" smtClean="0">
                <a:latin typeface="+mn-lt"/>
                <a:ea typeface="+mn-ea"/>
                <a:cs typeface="+mn-cs"/>
              </a:rPr>
              <a:t>n </a:t>
            </a:r>
            <a:r>
              <a:rPr lang="en-US" altLang="zh-CN" sz="2000" dirty="0" smtClean="0">
                <a:latin typeface="+mn-lt"/>
                <a:ea typeface="+mn-ea"/>
                <a:cs typeface="+mn-cs"/>
                <a:sym typeface="Symbol" pitchFamily="18" charset="2"/>
              </a:rPr>
              <a:t></a:t>
            </a:r>
            <a:r>
              <a:rPr lang="en-US" altLang="zh-CN" sz="2000" dirty="0" smtClean="0">
                <a:latin typeface="+mn-lt"/>
                <a:ea typeface="+mn-ea"/>
                <a:cs typeface="+mn-cs"/>
              </a:rPr>
              <a:t> 1, f (n) </a:t>
            </a:r>
            <a:r>
              <a:rPr lang="en-US" altLang="zh-CN" sz="2000" dirty="0" smtClean="0">
                <a:latin typeface="+mn-lt"/>
                <a:ea typeface="+mn-ea"/>
                <a:cs typeface="+mn-cs"/>
                <a:sym typeface="Symbol" pitchFamily="18" charset="2"/>
              </a:rPr>
              <a:t></a:t>
            </a:r>
            <a:r>
              <a:rPr lang="en-US" altLang="zh-CN" sz="2000" dirty="0" smtClean="0">
                <a:latin typeface="+mn-lt"/>
              </a:rPr>
              <a:t>n</a:t>
            </a:r>
            <a:r>
              <a:rPr lang="en-US" altLang="zh-CN" sz="2000" baseline="30000" dirty="0" smtClean="0">
                <a:latin typeface="+mn-lt"/>
              </a:rPr>
              <a:t>2</a:t>
            </a:r>
            <a:r>
              <a:rPr lang="en-US" altLang="zh-CN" sz="2000" dirty="0" smtClean="0">
                <a:latin typeface="+mn-lt"/>
                <a:ea typeface="+mn-ea"/>
                <a:cs typeface="+mn-cs"/>
              </a:rPr>
              <a:t>. </a:t>
            </a:r>
          </a:p>
          <a:p>
            <a:pPr lvl="1" eaLnBrk="1" hangingPunct="1">
              <a:lnSpc>
                <a:spcPct val="90000"/>
              </a:lnSpc>
              <a:spcBef>
                <a:spcPct val="0"/>
              </a:spcBef>
              <a:buFontTx/>
              <a:buNone/>
              <a:defRPr/>
            </a:pPr>
            <a:r>
              <a:rPr lang="en-US" altLang="zh-CN" sz="2000" dirty="0" smtClean="0">
                <a:latin typeface="+mn-lt"/>
                <a:ea typeface="+mn-ea"/>
                <a:cs typeface="+mn-cs"/>
                <a:sym typeface="Symbol" pitchFamily="18" charset="2"/>
              </a:rPr>
              <a:t>Consequently, </a:t>
            </a:r>
            <a:r>
              <a:rPr lang="en-US" altLang="zh-CN" sz="2000" dirty="0" smtClean="0">
                <a:latin typeface="+mn-lt"/>
                <a:sym typeface="Symbol" pitchFamily="18" charset="2"/>
              </a:rPr>
              <a:t>lim</a:t>
            </a:r>
            <a:r>
              <a:rPr lang="en-US" altLang="zh-CN" sz="2000" baseline="-25000" dirty="0" smtClean="0">
                <a:latin typeface="+mn-lt"/>
                <a:sym typeface="Symbol" pitchFamily="18" charset="2"/>
              </a:rPr>
              <a:t>n </a:t>
            </a:r>
            <a:r>
              <a:rPr lang="en-US" altLang="zh-CN" sz="2000" dirty="0" smtClean="0">
                <a:latin typeface="+mn-lt"/>
                <a:ea typeface="+mn-ea"/>
                <a:cs typeface="+mn-cs"/>
                <a:sym typeface="Symbol" pitchFamily="18" charset="2"/>
              </a:rPr>
              <a:t>f(n)/</a:t>
            </a:r>
            <a:r>
              <a:rPr lang="en-US" altLang="zh-CN" sz="2000" dirty="0" smtClean="0">
                <a:latin typeface="+mn-lt"/>
              </a:rPr>
              <a:t>n</a:t>
            </a:r>
            <a:r>
              <a:rPr lang="en-US" altLang="zh-CN" sz="2000" baseline="30000" dirty="0" smtClean="0">
                <a:latin typeface="+mn-lt"/>
              </a:rPr>
              <a:t>2</a:t>
            </a:r>
            <a:r>
              <a:rPr lang="en-US" altLang="zh-CN" sz="2000" dirty="0" smtClean="0">
                <a:latin typeface="+mn-lt"/>
                <a:ea typeface="+mn-ea"/>
                <a:cs typeface="+mn-cs"/>
                <a:sym typeface="Symbol" pitchFamily="18" charset="2"/>
              </a:rPr>
              <a:t>= 10 0.</a:t>
            </a:r>
          </a:p>
        </p:txBody>
      </p:sp>
      <p:pic>
        <p:nvPicPr>
          <p:cNvPr id="68613" name="Picture 4" descr="def"/>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852488" y="1300163"/>
            <a:ext cx="504825"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14" name="Picture 5" descr="example"/>
          <p:cNvPicPr>
            <a:picLocks noChangeAspect="1" noChangeArrowheads="1" noCrop="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00113" y="4365625"/>
            <a:ext cx="342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7703242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69635" name="Rectangle 2"/>
          <p:cNvSpPr>
            <a:spLocks noGrp="1" noChangeArrowheads="1"/>
          </p:cNvSpPr>
          <p:nvPr>
            <p:ph type="title"/>
          </p:nvPr>
        </p:nvSpPr>
        <p:spPr/>
        <p:txBody>
          <a:bodyPr/>
          <a:lstStyle/>
          <a:p>
            <a:pPr eaLnBrk="1" hangingPunct="1"/>
            <a:r>
              <a:rPr lang="zh-CN" altLang="en-US" dirty="0"/>
              <a:t>渐进表示</a:t>
            </a:r>
            <a:r>
              <a:rPr lang="en-US" altLang="zh-CN" dirty="0">
                <a:latin typeface="+mn-ea"/>
              </a:rPr>
              <a:t>—— </a:t>
            </a:r>
            <a:r>
              <a:rPr lang="en-US" altLang="zh-CN" dirty="0" smtClean="0">
                <a:sym typeface="Symbol" panose="05050102010706020507" pitchFamily="18" charset="2"/>
              </a:rPr>
              <a:t>-</a:t>
            </a:r>
            <a:r>
              <a:rPr lang="zh-CN" altLang="en-US" dirty="0" smtClean="0"/>
              <a:t>记号（紧渐近界记号）</a:t>
            </a:r>
            <a:endParaRPr lang="en-US" altLang="zh-CN" dirty="0" smtClean="0"/>
          </a:p>
        </p:txBody>
      </p:sp>
      <p:sp>
        <p:nvSpPr>
          <p:cNvPr id="2" name="Rectangle 3"/>
          <p:cNvSpPr>
            <a:spLocks noGrp="1" noChangeArrowheads="1"/>
          </p:cNvSpPr>
          <p:nvPr>
            <p:ph type="body" idx="1"/>
          </p:nvPr>
        </p:nvSpPr>
        <p:spPr>
          <a:xfrm>
            <a:off x="755650" y="1196975"/>
            <a:ext cx="8532813" cy="5183188"/>
          </a:xfrm>
        </p:spPr>
        <p:txBody>
          <a:bodyPr/>
          <a:lstStyle/>
          <a:p>
            <a:pPr eaLnBrk="1" hangingPunct="1">
              <a:defRPr/>
            </a:pPr>
            <a:r>
              <a:rPr lang="zh-CN" altLang="en-US" dirty="0" smtClean="0"/>
              <a:t>定义</a:t>
            </a:r>
            <a:r>
              <a:rPr lang="en-US" altLang="zh-CN" dirty="0" smtClean="0"/>
              <a:t> 1.4</a:t>
            </a:r>
          </a:p>
          <a:p>
            <a:pPr lvl="1" eaLnBrk="1" hangingPunct="1">
              <a:defRPr/>
            </a:pPr>
            <a:r>
              <a:rPr lang="zh-CN" altLang="en-US" dirty="0" smtClean="0">
                <a:latin typeface="+mn-lt"/>
                <a:ea typeface="+mn-ea"/>
                <a:cs typeface="+mn-cs"/>
              </a:rPr>
              <a:t>如果存在</a:t>
            </a:r>
            <a:r>
              <a:rPr lang="en-US" altLang="zh-CN" dirty="0" smtClean="0">
                <a:latin typeface="+mn-lt"/>
                <a:ea typeface="+mn-ea"/>
                <a:cs typeface="+mn-cs"/>
              </a:rPr>
              <a:t>2</a:t>
            </a:r>
            <a:r>
              <a:rPr lang="zh-CN" altLang="en-US" dirty="0" smtClean="0">
                <a:latin typeface="+mn-lt"/>
                <a:ea typeface="+mn-ea"/>
                <a:cs typeface="+mn-cs"/>
              </a:rPr>
              <a:t>个正的常数</a:t>
            </a:r>
            <a:r>
              <a:rPr lang="en-US" altLang="zh-CN" dirty="0" smtClean="0">
                <a:latin typeface="+mn-lt"/>
                <a:ea typeface="+mn-ea"/>
                <a:cs typeface="+mn-cs"/>
              </a:rPr>
              <a:t>c1, c2</a:t>
            </a:r>
            <a:r>
              <a:rPr lang="zh-CN" altLang="en-US" dirty="0" smtClean="0">
                <a:latin typeface="+mn-lt"/>
                <a:ea typeface="+mn-ea"/>
                <a:cs typeface="+mn-cs"/>
              </a:rPr>
              <a:t>和自然数</a:t>
            </a:r>
            <a:r>
              <a:rPr lang="en-US" altLang="zh-CN" dirty="0" smtClean="0">
                <a:latin typeface="+mn-lt"/>
                <a:ea typeface="+mn-ea"/>
                <a:cs typeface="+mn-cs"/>
              </a:rPr>
              <a:t>n0 </a:t>
            </a:r>
            <a:r>
              <a:rPr lang="zh-CN" altLang="en-US" dirty="0" smtClean="0">
                <a:latin typeface="+mn-lt"/>
                <a:ea typeface="+mn-ea"/>
                <a:cs typeface="+mn-cs"/>
              </a:rPr>
              <a:t>，使得当</a:t>
            </a:r>
            <a:r>
              <a:rPr lang="en-US" altLang="zh-CN" dirty="0" smtClean="0">
                <a:latin typeface="+mn-lt"/>
                <a:ea typeface="+mn-ea"/>
                <a:cs typeface="+mn-cs"/>
                <a:sym typeface="Symbol" pitchFamily="18" charset="2"/>
              </a:rPr>
              <a:t>nn0</a:t>
            </a:r>
            <a:r>
              <a:rPr lang="zh-CN" altLang="en-US" dirty="0" smtClean="0">
                <a:latin typeface="+mn-lt"/>
                <a:ea typeface="+mn-ea"/>
                <a:cs typeface="+mn-cs"/>
              </a:rPr>
              <a:t>时有</a:t>
            </a:r>
            <a:r>
              <a:rPr lang="en-US" altLang="zh-CN" dirty="0" smtClean="0">
                <a:latin typeface="+mn-lt"/>
                <a:ea typeface="+mn-ea"/>
                <a:cs typeface="+mn-cs"/>
                <a:sym typeface="Symbol" pitchFamily="18" charset="2"/>
              </a:rPr>
              <a:t>c1g(n)f(n)c2g(n)</a:t>
            </a:r>
            <a:r>
              <a:rPr lang="zh-CN" altLang="en-US" dirty="0" smtClean="0">
                <a:latin typeface="+mn-lt"/>
                <a:ea typeface="+mn-ea"/>
                <a:cs typeface="+mn-cs"/>
              </a:rPr>
              <a:t>，</a:t>
            </a:r>
            <a:endParaRPr lang="en-US" altLang="zh-CN" dirty="0" smtClean="0">
              <a:latin typeface="+mn-lt"/>
              <a:ea typeface="+mn-ea"/>
              <a:cs typeface="+mn-cs"/>
            </a:endParaRPr>
          </a:p>
          <a:p>
            <a:pPr lvl="1" eaLnBrk="1" hangingPunct="1">
              <a:buFontTx/>
              <a:buNone/>
              <a:defRPr/>
            </a:pPr>
            <a:r>
              <a:rPr lang="zh-CN" altLang="en-US" dirty="0" smtClean="0">
                <a:latin typeface="+mn-lt"/>
                <a:ea typeface="+mn-ea"/>
                <a:cs typeface="+mn-cs"/>
              </a:rPr>
              <a:t>也就是说</a:t>
            </a:r>
            <a:r>
              <a:rPr lang="en-US" altLang="zh-CN" dirty="0" smtClean="0">
                <a:latin typeface="+mn-lt"/>
                <a:ea typeface="+mn-ea"/>
                <a:cs typeface="+mn-cs"/>
                <a:sym typeface="Symbol" pitchFamily="18" charset="2"/>
              </a:rPr>
              <a:t>,  </a:t>
            </a:r>
            <a:r>
              <a:rPr lang="zh-CN" altLang="en-US" dirty="0" smtClean="0">
                <a:latin typeface="+mn-lt"/>
                <a:ea typeface="+mn-ea"/>
                <a:cs typeface="+mn-cs"/>
                <a:sym typeface="Symbol" pitchFamily="18" charset="2"/>
              </a:rPr>
              <a:t>当</a:t>
            </a:r>
            <a:r>
              <a:rPr lang="en-US" altLang="zh-CN" sz="2000" i="1" dirty="0" err="1" smtClean="0">
                <a:latin typeface="+mn-lt"/>
                <a:sym typeface="Symbol" pitchFamily="18" charset="2"/>
              </a:rPr>
              <a:t>lim</a:t>
            </a:r>
            <a:r>
              <a:rPr lang="en-US" altLang="zh-CN" sz="2000" i="1" dirty="0" smtClean="0">
                <a:latin typeface="+mn-lt"/>
                <a:sym typeface="Symbol" pitchFamily="18" charset="2"/>
              </a:rPr>
              <a:t> </a:t>
            </a:r>
            <a:r>
              <a:rPr lang="en-US" altLang="zh-CN" sz="2000" i="1" baseline="-25000" dirty="0" smtClean="0">
                <a:latin typeface="+mn-lt"/>
                <a:sym typeface="Symbol" pitchFamily="18" charset="2"/>
              </a:rPr>
              <a:t>n </a:t>
            </a:r>
            <a:r>
              <a:rPr lang="en-US" altLang="zh-CN" sz="2000" i="1" dirty="0" smtClean="0">
                <a:latin typeface="+mn-lt"/>
                <a:sym typeface="Symbol" pitchFamily="18" charset="2"/>
              </a:rPr>
              <a:t>f (n) /g (n)</a:t>
            </a:r>
            <a:r>
              <a:rPr lang="zh-CN" altLang="en-US" dirty="0" smtClean="0">
                <a:latin typeface="+mn-lt"/>
                <a:ea typeface="+mn-ea"/>
                <a:cs typeface="+mn-cs"/>
                <a:sym typeface="Symbol" pitchFamily="18" charset="2"/>
              </a:rPr>
              <a:t>存在</a:t>
            </a:r>
            <a:r>
              <a:rPr lang="en-US" altLang="zh-CN" dirty="0" smtClean="0">
                <a:latin typeface="+mn-lt"/>
                <a:ea typeface="+mn-ea"/>
                <a:cs typeface="+mn-cs"/>
                <a:sym typeface="Symbol" pitchFamily="18" charset="2"/>
              </a:rPr>
              <a:t>, </a:t>
            </a:r>
            <a:r>
              <a:rPr lang="zh-CN" altLang="en-US" dirty="0" smtClean="0">
                <a:latin typeface="+mn-lt"/>
                <a:ea typeface="+mn-ea"/>
                <a:cs typeface="+mn-cs"/>
                <a:sym typeface="Symbol" pitchFamily="18" charset="2"/>
              </a:rPr>
              <a:t>并且</a:t>
            </a:r>
            <a:r>
              <a:rPr lang="en-US" altLang="zh-CN" sz="2000" i="1" dirty="0" err="1" smtClean="0">
                <a:latin typeface="+mn-lt"/>
                <a:sym typeface="Symbol" pitchFamily="18" charset="2"/>
              </a:rPr>
              <a:t>lim</a:t>
            </a:r>
            <a:r>
              <a:rPr lang="en-US" altLang="zh-CN" sz="2000" i="1" dirty="0" smtClean="0">
                <a:latin typeface="+mn-lt"/>
                <a:sym typeface="Symbol" pitchFamily="18" charset="2"/>
              </a:rPr>
              <a:t> </a:t>
            </a:r>
            <a:r>
              <a:rPr lang="en-US" altLang="zh-CN" sz="2000" i="1" baseline="-25000" dirty="0" smtClean="0">
                <a:latin typeface="+mn-lt"/>
                <a:sym typeface="Symbol" pitchFamily="18" charset="2"/>
              </a:rPr>
              <a:t>n </a:t>
            </a:r>
            <a:r>
              <a:rPr lang="en-US" altLang="zh-CN" sz="2000" i="1" dirty="0" smtClean="0">
                <a:latin typeface="+mn-lt"/>
                <a:sym typeface="Symbol" pitchFamily="18" charset="2"/>
              </a:rPr>
              <a:t>f (n) /g (n) =</a:t>
            </a:r>
            <a:r>
              <a:rPr lang="en-US" altLang="zh-CN" dirty="0" smtClean="0">
                <a:latin typeface="+mn-lt"/>
                <a:ea typeface="+mn-ea"/>
                <a:cs typeface="+mn-cs"/>
                <a:sym typeface="Symbol" pitchFamily="18" charset="2"/>
              </a:rPr>
              <a:t>c </a:t>
            </a:r>
            <a:r>
              <a:rPr lang="zh-CN" altLang="en-US" dirty="0" smtClean="0">
                <a:latin typeface="+mn-lt"/>
                <a:ea typeface="+mn-ea"/>
                <a:cs typeface="+mn-cs"/>
                <a:sym typeface="Symbol" pitchFamily="18" charset="2"/>
              </a:rPr>
              <a:t>，</a:t>
            </a:r>
            <a:endParaRPr lang="en-US" altLang="zh-CN" dirty="0" smtClean="0">
              <a:latin typeface="+mn-lt"/>
              <a:ea typeface="+mn-ea"/>
              <a:cs typeface="+mn-cs"/>
              <a:sym typeface="Symbol" pitchFamily="18" charset="2"/>
            </a:endParaRPr>
          </a:p>
          <a:p>
            <a:pPr lvl="1" eaLnBrk="1" hangingPunct="1">
              <a:buFontTx/>
              <a:buNone/>
              <a:defRPr/>
            </a:pPr>
            <a:r>
              <a:rPr lang="zh-CN" altLang="en-US" dirty="0" smtClean="0">
                <a:latin typeface="+mn-lt"/>
                <a:ea typeface="+mn-ea"/>
                <a:cs typeface="+mn-cs"/>
                <a:sym typeface="Symbol" pitchFamily="18" charset="2"/>
              </a:rPr>
              <a:t>则</a:t>
            </a:r>
            <a:r>
              <a:rPr lang="en-US" altLang="zh-CN" dirty="0" smtClean="0">
                <a:latin typeface="+mn-lt"/>
                <a:ea typeface="+mn-ea"/>
                <a:cs typeface="+mn-cs"/>
                <a:sym typeface="Symbol" pitchFamily="18" charset="2"/>
              </a:rPr>
              <a:t> f(n)= (g(n)), c </a:t>
            </a:r>
            <a:r>
              <a:rPr lang="zh-CN" altLang="en-US" dirty="0" smtClean="0">
                <a:latin typeface="+mn-lt"/>
                <a:ea typeface="+mn-ea"/>
                <a:cs typeface="+mn-cs"/>
                <a:sym typeface="Symbol" pitchFamily="18" charset="2"/>
              </a:rPr>
              <a:t>是大于</a:t>
            </a:r>
            <a:r>
              <a:rPr lang="en-US" altLang="zh-CN" dirty="0" smtClean="0">
                <a:latin typeface="+mn-lt"/>
                <a:ea typeface="+mn-ea"/>
                <a:cs typeface="+mn-cs"/>
                <a:sym typeface="Symbol" pitchFamily="18" charset="2"/>
              </a:rPr>
              <a:t> 0</a:t>
            </a:r>
            <a:r>
              <a:rPr lang="zh-CN" altLang="en-US" dirty="0" smtClean="0">
                <a:latin typeface="+mn-lt"/>
                <a:ea typeface="+mn-ea"/>
                <a:cs typeface="+mn-cs"/>
                <a:sym typeface="Symbol" pitchFamily="18" charset="2"/>
              </a:rPr>
              <a:t>的常量</a:t>
            </a:r>
            <a:r>
              <a:rPr lang="en-US" altLang="zh-CN" dirty="0" smtClean="0">
                <a:latin typeface="+mn-lt"/>
                <a:ea typeface="+mn-ea"/>
                <a:cs typeface="+mn-cs"/>
                <a:sym typeface="Symbol" pitchFamily="18" charset="2"/>
              </a:rPr>
              <a:t>.</a:t>
            </a:r>
          </a:p>
          <a:p>
            <a:pPr lvl="1" eaLnBrk="1" hangingPunct="1">
              <a:buFontTx/>
              <a:buNone/>
              <a:defRPr/>
            </a:pPr>
            <a:r>
              <a:rPr lang="zh-CN" altLang="en-US" dirty="0" smtClean="0">
                <a:latin typeface="+mn-lt"/>
                <a:ea typeface="+mn-ea"/>
                <a:cs typeface="+mn-cs"/>
                <a:sym typeface="Symbol" pitchFamily="18" charset="2"/>
              </a:rPr>
              <a:t>可以推断</a:t>
            </a:r>
            <a:r>
              <a:rPr lang="en-US" altLang="zh-CN" dirty="0" smtClean="0">
                <a:latin typeface="+mn-lt"/>
                <a:ea typeface="+mn-ea"/>
                <a:cs typeface="+mn-cs"/>
                <a:sym typeface="Symbol" pitchFamily="18" charset="2"/>
              </a:rPr>
              <a:t>, </a:t>
            </a:r>
            <a:r>
              <a:rPr lang="zh-CN" altLang="en-US" dirty="0" smtClean="0">
                <a:latin typeface="+mn-lt"/>
                <a:ea typeface="+mn-ea"/>
                <a:cs typeface="+mn-cs"/>
                <a:sym typeface="Symbol" pitchFamily="18" charset="2"/>
              </a:rPr>
              <a:t>当且仅当</a:t>
            </a:r>
            <a:r>
              <a:rPr lang="en-US" altLang="zh-CN" dirty="0" smtClean="0">
                <a:latin typeface="+mn-lt"/>
                <a:ea typeface="+mn-ea"/>
                <a:cs typeface="+mn-cs"/>
                <a:sym typeface="Symbol" pitchFamily="18" charset="2"/>
              </a:rPr>
              <a:t>f(N)=O(g(N))</a:t>
            </a:r>
            <a:r>
              <a:rPr lang="zh-CN" altLang="en-US" dirty="0" smtClean="0">
                <a:latin typeface="+mn-lt"/>
                <a:ea typeface="+mn-ea"/>
                <a:cs typeface="+mn-cs"/>
                <a:sym typeface="Symbol" pitchFamily="18" charset="2"/>
              </a:rPr>
              <a:t>且</a:t>
            </a:r>
            <a:r>
              <a:rPr lang="en-US" altLang="zh-CN" dirty="0" smtClean="0">
                <a:latin typeface="+mn-lt"/>
                <a:ea typeface="+mn-ea"/>
                <a:cs typeface="+mn-cs"/>
                <a:sym typeface="Symbol" pitchFamily="18" charset="2"/>
              </a:rPr>
              <a:t>f(N)= Ω(g(N))。</a:t>
            </a:r>
            <a:r>
              <a:rPr lang="zh-CN" altLang="en-US" dirty="0" smtClean="0">
                <a:latin typeface="+mn-lt"/>
                <a:ea typeface="+mn-ea"/>
                <a:cs typeface="+mn-cs"/>
                <a:sym typeface="Symbol" pitchFamily="18" charset="2"/>
              </a:rPr>
              <a:t>此时称</a:t>
            </a:r>
            <a:r>
              <a:rPr lang="en-US" altLang="zh-CN" dirty="0" smtClean="0">
                <a:solidFill>
                  <a:srgbClr val="FF0000"/>
                </a:solidFill>
                <a:latin typeface="+mn-lt"/>
                <a:ea typeface="+mn-ea"/>
                <a:cs typeface="+mn-cs"/>
                <a:sym typeface="Symbol" pitchFamily="18" charset="2"/>
              </a:rPr>
              <a:t>f(N)</a:t>
            </a:r>
            <a:r>
              <a:rPr lang="zh-CN" altLang="en-US" dirty="0" smtClean="0">
                <a:solidFill>
                  <a:srgbClr val="FF0000"/>
                </a:solidFill>
                <a:latin typeface="+mn-lt"/>
                <a:ea typeface="+mn-ea"/>
                <a:cs typeface="+mn-cs"/>
                <a:sym typeface="Symbol" pitchFamily="18" charset="2"/>
              </a:rPr>
              <a:t>与</a:t>
            </a:r>
            <a:r>
              <a:rPr lang="en-US" altLang="zh-CN" dirty="0" smtClean="0">
                <a:solidFill>
                  <a:srgbClr val="FF0000"/>
                </a:solidFill>
                <a:latin typeface="+mn-lt"/>
                <a:ea typeface="+mn-ea"/>
                <a:cs typeface="+mn-cs"/>
                <a:sym typeface="Symbol" pitchFamily="18" charset="2"/>
              </a:rPr>
              <a:t>g(N)</a:t>
            </a:r>
            <a:r>
              <a:rPr lang="zh-CN" altLang="en-US" dirty="0" smtClean="0">
                <a:solidFill>
                  <a:srgbClr val="FF0000"/>
                </a:solidFill>
                <a:latin typeface="+mn-lt"/>
                <a:ea typeface="+mn-ea"/>
                <a:cs typeface="+mn-cs"/>
                <a:sym typeface="Symbol" pitchFamily="18" charset="2"/>
              </a:rPr>
              <a:t>同阶</a:t>
            </a:r>
            <a:r>
              <a:rPr lang="zh-CN" altLang="en-US" dirty="0" smtClean="0">
                <a:latin typeface="+mn-lt"/>
                <a:ea typeface="+mn-ea"/>
                <a:cs typeface="+mn-cs"/>
                <a:sym typeface="Symbol" pitchFamily="18" charset="2"/>
              </a:rPr>
              <a:t>。</a:t>
            </a:r>
            <a:endParaRPr lang="en-US" altLang="zh-CN" dirty="0" smtClean="0">
              <a:latin typeface="+mn-lt"/>
              <a:ea typeface="+mn-ea"/>
              <a:cs typeface="+mn-cs"/>
              <a:sym typeface="Symbol" pitchFamily="18" charset="2"/>
            </a:endParaRPr>
          </a:p>
          <a:p>
            <a:pPr lvl="1" eaLnBrk="1" hangingPunct="1">
              <a:buFontTx/>
              <a:buNone/>
              <a:defRPr/>
            </a:pPr>
            <a:endParaRPr lang="en-US" altLang="zh-CN" dirty="0" smtClean="0">
              <a:latin typeface="+mn-lt"/>
              <a:ea typeface="+mn-ea"/>
              <a:cs typeface="+mn-cs"/>
              <a:sym typeface="Symbol" pitchFamily="18" charset="2"/>
            </a:endParaRPr>
          </a:p>
          <a:p>
            <a:pPr>
              <a:spcBef>
                <a:spcPct val="10000"/>
              </a:spcBef>
              <a:defRPr/>
            </a:pPr>
            <a:r>
              <a:rPr lang="zh-CN" altLang="en-US" sz="2200" dirty="0" smtClean="0"/>
              <a:t>根据定义可知：函数</a:t>
            </a:r>
            <a:r>
              <a:rPr lang="en-US" altLang="zh-CN" sz="2200" dirty="0" smtClean="0"/>
              <a:t>f </a:t>
            </a:r>
            <a:r>
              <a:rPr lang="zh-CN" altLang="en-US" sz="2200" dirty="0" smtClean="0"/>
              <a:t>介于函数</a:t>
            </a:r>
            <a:r>
              <a:rPr lang="en-US" altLang="zh-CN" sz="2200" dirty="0" smtClean="0"/>
              <a:t>g </a:t>
            </a:r>
            <a:r>
              <a:rPr lang="zh-CN" altLang="en-US" sz="2200" dirty="0" smtClean="0"/>
              <a:t>的</a:t>
            </a:r>
            <a:r>
              <a:rPr lang="en-US" altLang="zh-CN" sz="2200" dirty="0" smtClean="0"/>
              <a:t>c1 </a:t>
            </a:r>
            <a:r>
              <a:rPr lang="zh-CN" altLang="en-US" sz="2200" dirty="0" smtClean="0"/>
              <a:t>和 </a:t>
            </a:r>
            <a:r>
              <a:rPr lang="en-US" altLang="zh-CN" sz="2200" dirty="0" smtClean="0"/>
              <a:t>c2 </a:t>
            </a:r>
            <a:r>
              <a:rPr lang="zh-CN" altLang="en-US" sz="2200" dirty="0" smtClean="0"/>
              <a:t>倍之间,即当</a:t>
            </a:r>
            <a:r>
              <a:rPr lang="en-US" altLang="zh-CN" sz="2200" dirty="0" smtClean="0"/>
              <a:t>n</a:t>
            </a:r>
            <a:r>
              <a:rPr lang="zh-CN" altLang="en-US" sz="2200" dirty="0" smtClean="0"/>
              <a:t>充分大时, </a:t>
            </a:r>
            <a:r>
              <a:rPr lang="en-US" altLang="zh-CN" sz="2200" dirty="0" smtClean="0"/>
              <a:t>g </a:t>
            </a:r>
            <a:r>
              <a:rPr lang="zh-CN" altLang="en-US" sz="2200" dirty="0" smtClean="0"/>
              <a:t>既是</a:t>
            </a:r>
            <a:r>
              <a:rPr lang="en-US" altLang="zh-CN" sz="2200" dirty="0" smtClean="0"/>
              <a:t>f </a:t>
            </a:r>
            <a:r>
              <a:rPr lang="zh-CN" altLang="en-US" sz="2200" dirty="0" smtClean="0"/>
              <a:t>的下界,又是</a:t>
            </a:r>
            <a:r>
              <a:rPr lang="en-US" altLang="zh-CN" sz="2200" dirty="0" smtClean="0"/>
              <a:t>f </a:t>
            </a:r>
            <a:r>
              <a:rPr lang="zh-CN" altLang="en-US" sz="2200" dirty="0" smtClean="0"/>
              <a:t>的上界.</a:t>
            </a:r>
            <a:endParaRPr lang="en-US" altLang="zh-CN" sz="2200" dirty="0" smtClean="0"/>
          </a:p>
        </p:txBody>
      </p:sp>
      <p:pic>
        <p:nvPicPr>
          <p:cNvPr id="69637" name="Picture 4" descr="def"/>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1050" y="1260475"/>
            <a:ext cx="406400"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0273782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70659" name="Rectangle 2"/>
          <p:cNvSpPr>
            <a:spLocks noGrp="1" noChangeArrowheads="1"/>
          </p:cNvSpPr>
          <p:nvPr>
            <p:ph type="title"/>
          </p:nvPr>
        </p:nvSpPr>
        <p:spPr/>
        <p:txBody>
          <a:bodyPr/>
          <a:lstStyle/>
          <a:p>
            <a:pPr eaLnBrk="1" hangingPunct="1"/>
            <a:r>
              <a:rPr lang="zh-CN" altLang="en-US" dirty="0"/>
              <a:t>渐进表示</a:t>
            </a:r>
            <a:r>
              <a:rPr lang="en-US" altLang="zh-CN" dirty="0">
                <a:latin typeface="+mn-ea"/>
              </a:rPr>
              <a:t>—— </a:t>
            </a:r>
            <a:r>
              <a:rPr lang="en-US" altLang="zh-CN" dirty="0" smtClean="0">
                <a:sym typeface="Symbol" panose="05050102010706020507" pitchFamily="18" charset="2"/>
              </a:rPr>
              <a:t>-</a:t>
            </a:r>
            <a:r>
              <a:rPr lang="zh-CN" altLang="en-US" dirty="0" smtClean="0"/>
              <a:t>记号（紧渐近界记号）</a:t>
            </a:r>
            <a:endParaRPr lang="en-US" altLang="zh-CN" dirty="0" smtClean="0"/>
          </a:p>
        </p:txBody>
      </p:sp>
      <p:sp>
        <p:nvSpPr>
          <p:cNvPr id="2" name="Rectangle 3"/>
          <p:cNvSpPr>
            <a:spLocks noGrp="1" noChangeArrowheads="1"/>
          </p:cNvSpPr>
          <p:nvPr>
            <p:ph type="body" idx="1"/>
          </p:nvPr>
        </p:nvSpPr>
        <p:spPr>
          <a:xfrm>
            <a:off x="755650" y="1196975"/>
            <a:ext cx="8532813" cy="5183188"/>
          </a:xfrm>
        </p:spPr>
        <p:txBody>
          <a:bodyPr/>
          <a:lstStyle/>
          <a:p>
            <a:pPr eaLnBrk="1" hangingPunct="1">
              <a:defRPr/>
            </a:pPr>
            <a:r>
              <a:rPr lang="zh-CN" altLang="en-US" dirty="0" smtClean="0">
                <a:sym typeface="Symbol" pitchFamily="18" charset="2"/>
              </a:rPr>
              <a:t>例：</a:t>
            </a:r>
            <a:endParaRPr lang="en-US" altLang="zh-CN" dirty="0" smtClean="0">
              <a:sym typeface="Symbol" pitchFamily="18" charset="2"/>
            </a:endParaRPr>
          </a:p>
          <a:p>
            <a:pPr lvl="1" eaLnBrk="1" hangingPunct="1">
              <a:buFontTx/>
              <a:buNone/>
              <a:defRPr/>
            </a:pPr>
            <a:r>
              <a:rPr lang="en-US" altLang="zh-CN" dirty="0" smtClean="0"/>
              <a:t>Let f (n) = 10</a:t>
            </a:r>
            <a:r>
              <a:rPr lang="en-US" altLang="zh-CN" sz="2400" dirty="0" smtClean="0"/>
              <a:t>n</a:t>
            </a:r>
            <a:r>
              <a:rPr lang="en-US" altLang="zh-CN" sz="2400" baseline="30000" dirty="0" smtClean="0"/>
              <a:t>2</a:t>
            </a:r>
            <a:r>
              <a:rPr lang="en-US" altLang="zh-CN" dirty="0" smtClean="0"/>
              <a:t>+20n. Then,</a:t>
            </a:r>
          </a:p>
          <a:p>
            <a:pPr lvl="1" eaLnBrk="1" hangingPunct="1">
              <a:buFontTx/>
              <a:buNone/>
              <a:defRPr/>
            </a:pPr>
            <a:r>
              <a:rPr lang="en-US" altLang="zh-CN" dirty="0" smtClean="0"/>
              <a:t>f (n) = </a:t>
            </a:r>
            <a:r>
              <a:rPr lang="en-US" altLang="zh-CN" dirty="0" smtClean="0">
                <a:sym typeface="Symbol" pitchFamily="18" charset="2"/>
              </a:rPr>
              <a:t>(</a:t>
            </a:r>
            <a:r>
              <a:rPr lang="en-US" altLang="zh-CN" sz="2400" dirty="0" smtClean="0"/>
              <a:t>n</a:t>
            </a:r>
            <a:r>
              <a:rPr lang="en-US" altLang="zh-CN" sz="2400" baseline="30000" dirty="0" smtClean="0"/>
              <a:t>2</a:t>
            </a:r>
            <a:r>
              <a:rPr lang="en-US" altLang="zh-CN" dirty="0" smtClean="0">
                <a:sym typeface="Symbol" pitchFamily="18" charset="2"/>
              </a:rPr>
              <a:t>) </a:t>
            </a:r>
            <a:r>
              <a:rPr lang="zh-CN" altLang="en-US" dirty="0" smtClean="0">
                <a:latin typeface="+mn-ea"/>
                <a:ea typeface="+mn-ea"/>
                <a:sym typeface="Symbol" pitchFamily="18" charset="2"/>
              </a:rPr>
              <a:t>由于当</a:t>
            </a:r>
            <a:r>
              <a:rPr lang="en-US" altLang="zh-CN" dirty="0" smtClean="0"/>
              <a:t>n </a:t>
            </a:r>
            <a:r>
              <a:rPr lang="en-US" altLang="zh-CN" dirty="0" smtClean="0">
                <a:sym typeface="Symbol" pitchFamily="18" charset="2"/>
              </a:rPr>
              <a:t></a:t>
            </a:r>
            <a:r>
              <a:rPr lang="en-US" altLang="zh-CN" dirty="0" smtClean="0"/>
              <a:t> 1, </a:t>
            </a:r>
            <a:r>
              <a:rPr lang="en-US" altLang="zh-CN" sz="2400" dirty="0" smtClean="0"/>
              <a:t>n</a:t>
            </a:r>
            <a:r>
              <a:rPr lang="en-US" altLang="zh-CN" sz="2400" baseline="30000" dirty="0" smtClean="0"/>
              <a:t>2</a:t>
            </a:r>
            <a:r>
              <a:rPr lang="en-US" altLang="zh-CN" dirty="0" smtClean="0"/>
              <a:t> </a:t>
            </a:r>
            <a:r>
              <a:rPr lang="en-US" altLang="zh-CN" dirty="0" smtClean="0">
                <a:sym typeface="Symbol" pitchFamily="18" charset="2"/>
              </a:rPr>
              <a:t></a:t>
            </a:r>
            <a:r>
              <a:rPr lang="en-US" altLang="zh-CN" dirty="0" smtClean="0"/>
              <a:t>f (n)</a:t>
            </a:r>
            <a:r>
              <a:rPr lang="en-US" altLang="zh-CN" dirty="0" smtClean="0">
                <a:sym typeface="Symbol" pitchFamily="18" charset="2"/>
              </a:rPr>
              <a:t>30</a:t>
            </a:r>
            <a:r>
              <a:rPr lang="en-US" altLang="zh-CN" sz="2400" dirty="0" smtClean="0"/>
              <a:t>n</a:t>
            </a:r>
            <a:r>
              <a:rPr lang="en-US" altLang="zh-CN" sz="2400" baseline="30000" dirty="0" smtClean="0"/>
              <a:t>2</a:t>
            </a:r>
            <a:r>
              <a:rPr lang="en-US" altLang="zh-CN" dirty="0" smtClean="0"/>
              <a:t>. </a:t>
            </a:r>
          </a:p>
          <a:p>
            <a:pPr lvl="1" eaLnBrk="1" hangingPunct="1">
              <a:buFontTx/>
              <a:buNone/>
              <a:defRPr/>
            </a:pPr>
            <a:r>
              <a:rPr lang="en-US" altLang="zh-CN" dirty="0" smtClean="0"/>
              <a:t>Consequently, </a:t>
            </a:r>
            <a:r>
              <a:rPr lang="en-US" altLang="zh-CN" sz="2400" dirty="0" smtClean="0">
                <a:sym typeface="Symbol" pitchFamily="18" charset="2"/>
              </a:rPr>
              <a:t>lim</a:t>
            </a:r>
            <a:r>
              <a:rPr lang="en-US" altLang="zh-CN" sz="2400" baseline="-25000" dirty="0" smtClean="0">
                <a:sym typeface="Symbol" pitchFamily="18" charset="2"/>
              </a:rPr>
              <a:t>n </a:t>
            </a:r>
            <a:r>
              <a:rPr lang="en-US" altLang="zh-CN" dirty="0" smtClean="0">
                <a:sym typeface="Symbol" pitchFamily="18" charset="2"/>
              </a:rPr>
              <a:t>f(n)/</a:t>
            </a:r>
            <a:r>
              <a:rPr lang="en-US" altLang="zh-CN" sz="2400" dirty="0" smtClean="0"/>
              <a:t>n</a:t>
            </a:r>
            <a:r>
              <a:rPr lang="en-US" altLang="zh-CN" sz="2400" baseline="30000" dirty="0" smtClean="0"/>
              <a:t>2</a:t>
            </a:r>
            <a:r>
              <a:rPr lang="en-US" altLang="zh-CN" dirty="0" smtClean="0">
                <a:sym typeface="Symbol" pitchFamily="18" charset="2"/>
              </a:rPr>
              <a:t>= 10. </a:t>
            </a:r>
          </a:p>
          <a:p>
            <a:pPr lvl="1" eaLnBrk="1" hangingPunct="1">
              <a:buFontTx/>
              <a:buNone/>
              <a:defRPr/>
            </a:pPr>
            <a:endParaRPr lang="en-US" altLang="zh-CN" dirty="0" smtClean="0">
              <a:latin typeface="+mn-lt"/>
              <a:ea typeface="+mn-ea"/>
              <a:cs typeface="+mn-cs"/>
              <a:sym typeface="Symbol" pitchFamily="18" charset="2"/>
            </a:endParaRPr>
          </a:p>
          <a:p>
            <a:pPr>
              <a:spcBef>
                <a:spcPct val="10000"/>
              </a:spcBef>
              <a:defRPr/>
            </a:pPr>
            <a:r>
              <a:rPr lang="zh-CN" altLang="en-US" dirty="0" smtClean="0">
                <a:solidFill>
                  <a:schemeClr val="accent6">
                    <a:lumMod val="75000"/>
                  </a:schemeClr>
                </a:solidFill>
                <a:ea typeface="SymbolMT" charset="-122"/>
              </a:rPr>
              <a:t>3</a:t>
            </a:r>
            <a:r>
              <a:rPr lang="en-US" altLang="zh-CN" dirty="0" smtClean="0">
                <a:solidFill>
                  <a:schemeClr val="accent6">
                    <a:lumMod val="75000"/>
                  </a:schemeClr>
                </a:solidFill>
                <a:ea typeface="SymbolMT" charset="-122"/>
              </a:rPr>
              <a:t>n+2=Θ(n), </a:t>
            </a:r>
          </a:p>
          <a:p>
            <a:pPr>
              <a:spcBef>
                <a:spcPct val="10000"/>
              </a:spcBef>
              <a:defRPr/>
            </a:pPr>
            <a:r>
              <a:rPr lang="en-US" altLang="zh-CN" dirty="0" smtClean="0">
                <a:solidFill>
                  <a:schemeClr val="accent6">
                    <a:lumMod val="75000"/>
                  </a:schemeClr>
                </a:solidFill>
                <a:ea typeface="SymbolMT" charset="-122"/>
              </a:rPr>
              <a:t>10n</a:t>
            </a:r>
            <a:r>
              <a:rPr lang="en-US" altLang="zh-CN" baseline="30000" dirty="0" smtClean="0">
                <a:solidFill>
                  <a:schemeClr val="accent6">
                    <a:lumMod val="75000"/>
                  </a:schemeClr>
                </a:solidFill>
                <a:ea typeface="SymbolMT" charset="-122"/>
              </a:rPr>
              <a:t>2</a:t>
            </a:r>
            <a:r>
              <a:rPr lang="en-US" altLang="zh-CN" dirty="0" smtClean="0">
                <a:solidFill>
                  <a:schemeClr val="accent6">
                    <a:lumMod val="75000"/>
                  </a:schemeClr>
                </a:solidFill>
                <a:ea typeface="SymbolMT" charset="-122"/>
              </a:rPr>
              <a:t>+4n+2=Θ(n</a:t>
            </a:r>
            <a:r>
              <a:rPr lang="en-US" altLang="zh-CN" baseline="30000" dirty="0" smtClean="0">
                <a:solidFill>
                  <a:schemeClr val="accent6">
                    <a:lumMod val="75000"/>
                  </a:schemeClr>
                </a:solidFill>
                <a:ea typeface="SymbolMT" charset="-122"/>
              </a:rPr>
              <a:t>2</a:t>
            </a:r>
            <a:r>
              <a:rPr lang="en-US" altLang="zh-CN" dirty="0" smtClean="0">
                <a:solidFill>
                  <a:schemeClr val="accent6">
                    <a:lumMod val="75000"/>
                  </a:schemeClr>
                </a:solidFill>
                <a:ea typeface="SymbolMT" charset="-122"/>
              </a:rPr>
              <a:t>) 。</a:t>
            </a:r>
          </a:p>
          <a:p>
            <a:pPr>
              <a:spcBef>
                <a:spcPct val="10000"/>
              </a:spcBef>
              <a:defRPr/>
            </a:pPr>
            <a:r>
              <a:rPr lang="en-US" altLang="zh-CN" dirty="0" smtClean="0">
                <a:solidFill>
                  <a:schemeClr val="accent6">
                    <a:lumMod val="75000"/>
                  </a:schemeClr>
                </a:solidFill>
              </a:rPr>
              <a:t> </a:t>
            </a:r>
            <a:r>
              <a:rPr lang="en-US" altLang="zh-CN" dirty="0" smtClean="0">
                <a:solidFill>
                  <a:schemeClr val="accent6">
                    <a:lumMod val="75000"/>
                  </a:schemeClr>
                </a:solidFill>
                <a:ea typeface="SymbolMT" charset="-122"/>
              </a:rPr>
              <a:t>5×2</a:t>
            </a:r>
            <a:r>
              <a:rPr lang="en-US" altLang="zh-CN" baseline="30000" dirty="0" smtClean="0">
                <a:solidFill>
                  <a:schemeClr val="accent6">
                    <a:lumMod val="75000"/>
                  </a:schemeClr>
                </a:solidFill>
                <a:ea typeface="SymbolMT" charset="-122"/>
              </a:rPr>
              <a:t>n</a:t>
            </a:r>
            <a:r>
              <a:rPr lang="en-US" altLang="zh-CN" dirty="0" smtClean="0">
                <a:solidFill>
                  <a:schemeClr val="accent6">
                    <a:lumMod val="75000"/>
                  </a:schemeClr>
                </a:solidFill>
                <a:ea typeface="SymbolMT" charset="-122"/>
              </a:rPr>
              <a:t>+</a:t>
            </a:r>
            <a:r>
              <a:rPr lang="en-US" altLang="zh-CN" i="1" dirty="0" smtClean="0">
                <a:solidFill>
                  <a:schemeClr val="accent6">
                    <a:lumMod val="75000"/>
                  </a:schemeClr>
                </a:solidFill>
              </a:rPr>
              <a:t> </a:t>
            </a:r>
            <a:r>
              <a:rPr lang="en-US" altLang="zh-CN" dirty="0" smtClean="0">
                <a:solidFill>
                  <a:schemeClr val="accent6">
                    <a:lumMod val="75000"/>
                  </a:schemeClr>
                </a:solidFill>
                <a:ea typeface="SymbolMT" charset="-122"/>
              </a:rPr>
              <a:t>n</a:t>
            </a:r>
            <a:r>
              <a:rPr lang="en-US" altLang="zh-CN" i="1" baseline="30000" dirty="0" smtClean="0">
                <a:solidFill>
                  <a:schemeClr val="accent6">
                    <a:lumMod val="75000"/>
                  </a:schemeClr>
                </a:solidFill>
              </a:rPr>
              <a:t>2</a:t>
            </a:r>
            <a:r>
              <a:rPr lang="en-US" altLang="zh-CN" i="1" dirty="0" smtClean="0">
                <a:solidFill>
                  <a:schemeClr val="accent6">
                    <a:lumMod val="75000"/>
                  </a:schemeClr>
                </a:solidFill>
              </a:rPr>
              <a:t>=</a:t>
            </a:r>
            <a:r>
              <a:rPr lang="en-US" altLang="zh-CN" dirty="0" smtClean="0">
                <a:solidFill>
                  <a:schemeClr val="accent6">
                    <a:lumMod val="75000"/>
                  </a:schemeClr>
                </a:solidFill>
                <a:ea typeface="SymbolMT" charset="-122"/>
              </a:rPr>
              <a:t>Θ(2</a:t>
            </a:r>
            <a:r>
              <a:rPr lang="en-US" altLang="zh-CN" baseline="30000" dirty="0" smtClean="0">
                <a:solidFill>
                  <a:schemeClr val="accent6">
                    <a:lumMod val="75000"/>
                  </a:schemeClr>
                </a:solidFill>
                <a:ea typeface="SymbolMT" charset="-122"/>
              </a:rPr>
              <a:t>n</a:t>
            </a:r>
            <a:r>
              <a:rPr lang="en-US" altLang="zh-CN" dirty="0" smtClean="0">
                <a:solidFill>
                  <a:schemeClr val="accent6">
                    <a:lumMod val="75000"/>
                  </a:schemeClr>
                </a:solidFill>
                <a:ea typeface="SymbolMT" charset="-122"/>
              </a:rPr>
              <a:t>)</a:t>
            </a:r>
          </a:p>
          <a:p>
            <a:pPr lvl="1" eaLnBrk="1" hangingPunct="1">
              <a:buFontTx/>
              <a:buNone/>
              <a:defRPr/>
            </a:pPr>
            <a:endParaRPr lang="en-US" altLang="zh-CN" dirty="0" smtClean="0">
              <a:latin typeface="+mn-lt"/>
              <a:ea typeface="+mn-ea"/>
              <a:cs typeface="+mn-cs"/>
              <a:sym typeface="Symbol" pitchFamily="18" charset="2"/>
            </a:endParaRPr>
          </a:p>
        </p:txBody>
      </p:sp>
    </p:spTree>
    <p:extLst>
      <p:ext uri="{BB962C8B-B14F-4D97-AF65-F5344CB8AC3E}">
        <p14:creationId xmlns:p14="http://schemas.microsoft.com/office/powerpoint/2010/main" val="46911595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pic>
        <p:nvPicPr>
          <p:cNvPr id="71683" name="Picture 2" descr="c:\users\ADMINI~1\appdata\roaming\360se6\USERDA~1\Temp\251952~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750" y="1785938"/>
            <a:ext cx="8913813" cy="314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5627684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72707" name="Rectangle 2"/>
          <p:cNvSpPr>
            <a:spLocks noGrp="1" noChangeArrowheads="1"/>
          </p:cNvSpPr>
          <p:nvPr>
            <p:ph type="title"/>
          </p:nvPr>
        </p:nvSpPr>
        <p:spPr/>
        <p:txBody>
          <a:bodyPr/>
          <a:lstStyle/>
          <a:p>
            <a:pPr eaLnBrk="1" hangingPunct="1"/>
            <a:r>
              <a:rPr lang="zh-CN" altLang="en-US" dirty="0"/>
              <a:t>渐进表示</a:t>
            </a:r>
            <a:r>
              <a:rPr lang="en-US" altLang="zh-CN" dirty="0">
                <a:latin typeface="+mn-ea"/>
              </a:rPr>
              <a:t>—— </a:t>
            </a:r>
            <a:r>
              <a:rPr lang="en-US" altLang="zh-CN" dirty="0" smtClean="0">
                <a:sym typeface="Symbol" panose="05050102010706020507" pitchFamily="18" charset="2"/>
              </a:rPr>
              <a:t>-</a:t>
            </a:r>
            <a:r>
              <a:rPr lang="zh-CN" altLang="en-US" dirty="0" smtClean="0"/>
              <a:t>记号（例：折半查找）</a:t>
            </a:r>
            <a:endParaRPr lang="en-US" altLang="zh-CN" dirty="0" smtClean="0"/>
          </a:p>
        </p:txBody>
      </p:sp>
      <p:sp>
        <p:nvSpPr>
          <p:cNvPr id="2" name="Rectangle 3"/>
          <p:cNvSpPr>
            <a:spLocks noGrp="1" noChangeArrowheads="1"/>
          </p:cNvSpPr>
          <p:nvPr>
            <p:ph type="body" idx="1"/>
          </p:nvPr>
        </p:nvSpPr>
        <p:spPr>
          <a:xfrm>
            <a:off x="755650" y="1196975"/>
            <a:ext cx="8532813" cy="5183188"/>
          </a:xfrm>
        </p:spPr>
        <p:txBody>
          <a:bodyPr/>
          <a:lstStyle/>
          <a:p>
            <a:pPr>
              <a:lnSpc>
                <a:spcPct val="90000"/>
              </a:lnSpc>
              <a:spcBef>
                <a:spcPct val="10000"/>
              </a:spcBef>
              <a:defRPr/>
            </a:pPr>
            <a:r>
              <a:rPr lang="en-US" altLang="zh-CN" sz="2200" dirty="0" smtClean="0"/>
              <a:t>Template &lt;class T&gt;</a:t>
            </a:r>
          </a:p>
          <a:p>
            <a:pPr>
              <a:lnSpc>
                <a:spcPct val="90000"/>
              </a:lnSpc>
              <a:spcBef>
                <a:spcPct val="10000"/>
              </a:spcBef>
              <a:defRPr/>
            </a:pPr>
            <a:r>
              <a:rPr lang="en-US" altLang="zh-CN" sz="2200" dirty="0" err="1" smtClean="0"/>
              <a:t>Int</a:t>
            </a:r>
            <a:r>
              <a:rPr lang="en-US" altLang="zh-CN" sz="2200" dirty="0" smtClean="0"/>
              <a:t> </a:t>
            </a:r>
            <a:r>
              <a:rPr lang="en-US" altLang="zh-CN" sz="2200" dirty="0" err="1" smtClean="0"/>
              <a:t>BinarySearch</a:t>
            </a:r>
            <a:r>
              <a:rPr lang="en-US" altLang="zh-CN" sz="2200" dirty="0" smtClean="0"/>
              <a:t>(T a[ ], const T </a:t>
            </a:r>
            <a:r>
              <a:rPr lang="en-US" altLang="zh-CN" sz="2200" dirty="0" smtClean="0">
                <a:sym typeface="Symbol" pitchFamily="18" charset="2"/>
              </a:rPr>
              <a:t> x, </a:t>
            </a:r>
            <a:r>
              <a:rPr lang="en-US" altLang="zh-CN" sz="2200" dirty="0" err="1" smtClean="0">
                <a:sym typeface="Symbol" pitchFamily="18" charset="2"/>
              </a:rPr>
              <a:t>int</a:t>
            </a:r>
            <a:r>
              <a:rPr lang="en-US" altLang="zh-CN" sz="2200" dirty="0" smtClean="0">
                <a:sym typeface="Symbol" pitchFamily="18" charset="2"/>
              </a:rPr>
              <a:t> n)</a:t>
            </a:r>
          </a:p>
          <a:p>
            <a:pPr>
              <a:lnSpc>
                <a:spcPct val="90000"/>
              </a:lnSpc>
              <a:spcBef>
                <a:spcPct val="10000"/>
              </a:spcBef>
              <a:defRPr/>
            </a:pPr>
            <a:r>
              <a:rPr lang="en-US" altLang="zh-CN" sz="2200" dirty="0" smtClean="0">
                <a:sym typeface="Symbol" pitchFamily="18" charset="2"/>
              </a:rPr>
              <a:t>{// </a:t>
            </a:r>
            <a:r>
              <a:rPr lang="zh-CN" altLang="en-US" sz="2200" dirty="0" smtClean="0">
                <a:sym typeface="Symbol" pitchFamily="18" charset="2"/>
              </a:rPr>
              <a:t>在</a:t>
            </a:r>
            <a:r>
              <a:rPr lang="en-US" altLang="zh-CN" sz="2200" dirty="0" smtClean="0">
                <a:sym typeface="Symbol" pitchFamily="18" charset="2"/>
              </a:rPr>
              <a:t>a[0]&lt;=a[1]&lt;=…&lt;=a[n-1] </a:t>
            </a:r>
            <a:r>
              <a:rPr lang="zh-CN" altLang="en-US" sz="2200" dirty="0" smtClean="0">
                <a:sym typeface="Symbol" pitchFamily="18" charset="2"/>
              </a:rPr>
              <a:t>中搜索 </a:t>
            </a:r>
            <a:r>
              <a:rPr lang="en-US" altLang="zh-CN" sz="2200" dirty="0" smtClean="0">
                <a:sym typeface="Symbol" pitchFamily="18" charset="2"/>
              </a:rPr>
              <a:t>x</a:t>
            </a:r>
          </a:p>
          <a:p>
            <a:pPr>
              <a:lnSpc>
                <a:spcPct val="90000"/>
              </a:lnSpc>
              <a:spcBef>
                <a:spcPct val="10000"/>
              </a:spcBef>
              <a:defRPr/>
            </a:pPr>
            <a:r>
              <a:rPr lang="en-US" altLang="zh-CN" sz="2200" dirty="0" smtClean="0">
                <a:sym typeface="Symbol" pitchFamily="18" charset="2"/>
              </a:rPr>
              <a:t>  //  </a:t>
            </a:r>
            <a:r>
              <a:rPr lang="zh-CN" altLang="en-US" sz="2200" dirty="0" smtClean="0">
                <a:sym typeface="Symbol" pitchFamily="18" charset="2"/>
              </a:rPr>
              <a:t>如果找到，则返回所在位置，否则返回 -1</a:t>
            </a:r>
          </a:p>
          <a:p>
            <a:pPr>
              <a:lnSpc>
                <a:spcPct val="90000"/>
              </a:lnSpc>
              <a:spcBef>
                <a:spcPct val="10000"/>
              </a:spcBef>
              <a:defRPr/>
            </a:pPr>
            <a:r>
              <a:rPr lang="zh-CN" altLang="en-US" sz="2200" dirty="0" smtClean="0">
                <a:sym typeface="Symbol" pitchFamily="18" charset="2"/>
              </a:rPr>
              <a:t>  </a:t>
            </a:r>
            <a:r>
              <a:rPr lang="en-US" altLang="zh-CN" sz="2200" dirty="0" err="1" smtClean="0">
                <a:sym typeface="Symbol" pitchFamily="18" charset="2"/>
              </a:rPr>
              <a:t>int</a:t>
            </a:r>
            <a:r>
              <a:rPr lang="en-US" altLang="zh-CN" sz="2200" dirty="0" smtClean="0">
                <a:sym typeface="Symbol" pitchFamily="18" charset="2"/>
              </a:rPr>
              <a:t> left=0; </a:t>
            </a:r>
            <a:r>
              <a:rPr lang="en-US" altLang="zh-CN" sz="2200" dirty="0" err="1" smtClean="0">
                <a:sym typeface="Symbol" pitchFamily="18" charset="2"/>
              </a:rPr>
              <a:t>int</a:t>
            </a:r>
            <a:r>
              <a:rPr lang="en-US" altLang="zh-CN" sz="2200" dirty="0" smtClean="0">
                <a:sym typeface="Symbol" pitchFamily="18" charset="2"/>
              </a:rPr>
              <a:t> right=n-1;</a:t>
            </a:r>
          </a:p>
          <a:p>
            <a:pPr>
              <a:lnSpc>
                <a:spcPct val="90000"/>
              </a:lnSpc>
              <a:spcBef>
                <a:spcPct val="10000"/>
              </a:spcBef>
              <a:defRPr/>
            </a:pPr>
            <a:r>
              <a:rPr lang="en-US" altLang="zh-CN" sz="2200" dirty="0" smtClean="0">
                <a:sym typeface="Symbol" pitchFamily="18" charset="2"/>
              </a:rPr>
              <a:t>   while(left&lt;=right)  {</a:t>
            </a:r>
          </a:p>
          <a:p>
            <a:pPr>
              <a:lnSpc>
                <a:spcPct val="90000"/>
              </a:lnSpc>
              <a:spcBef>
                <a:spcPct val="10000"/>
              </a:spcBef>
              <a:defRPr/>
            </a:pPr>
            <a:r>
              <a:rPr lang="en-US" altLang="zh-CN" sz="2200" dirty="0" smtClean="0">
                <a:sym typeface="Symbol" pitchFamily="18" charset="2"/>
              </a:rPr>
              <a:t>      </a:t>
            </a:r>
            <a:r>
              <a:rPr lang="en-US" altLang="zh-CN" sz="2200" dirty="0" err="1" smtClean="0">
                <a:sym typeface="Symbol" pitchFamily="18" charset="2"/>
              </a:rPr>
              <a:t>int</a:t>
            </a:r>
            <a:r>
              <a:rPr lang="en-US" altLang="zh-CN" sz="2200" dirty="0" smtClean="0">
                <a:sym typeface="Symbol" pitchFamily="18" charset="2"/>
              </a:rPr>
              <a:t> middle=(</a:t>
            </a:r>
            <a:r>
              <a:rPr lang="en-US" altLang="zh-CN" sz="2200" dirty="0" err="1" smtClean="0">
                <a:sym typeface="Symbol" pitchFamily="18" charset="2"/>
              </a:rPr>
              <a:t>left+right</a:t>
            </a:r>
            <a:r>
              <a:rPr lang="en-US" altLang="zh-CN" sz="2200" dirty="0" smtClean="0">
                <a:sym typeface="Symbol" pitchFamily="18" charset="2"/>
              </a:rPr>
              <a:t>)/2;</a:t>
            </a:r>
          </a:p>
          <a:p>
            <a:pPr>
              <a:lnSpc>
                <a:spcPct val="90000"/>
              </a:lnSpc>
              <a:spcBef>
                <a:spcPct val="10000"/>
              </a:spcBef>
              <a:defRPr/>
            </a:pPr>
            <a:r>
              <a:rPr lang="en-US" altLang="zh-CN" sz="2200" dirty="0" smtClean="0">
                <a:sym typeface="Symbol" pitchFamily="18" charset="2"/>
              </a:rPr>
              <a:t>      if (x==a[middle]) return middle;</a:t>
            </a:r>
          </a:p>
          <a:p>
            <a:pPr>
              <a:lnSpc>
                <a:spcPct val="90000"/>
              </a:lnSpc>
              <a:spcBef>
                <a:spcPct val="10000"/>
              </a:spcBef>
              <a:defRPr/>
            </a:pPr>
            <a:r>
              <a:rPr lang="en-US" altLang="zh-CN" sz="2200" dirty="0" smtClean="0">
                <a:sym typeface="Symbol" pitchFamily="18" charset="2"/>
              </a:rPr>
              <a:t>      if (x&gt;a[middle]) left=middle+1;</a:t>
            </a:r>
          </a:p>
          <a:p>
            <a:pPr>
              <a:lnSpc>
                <a:spcPct val="90000"/>
              </a:lnSpc>
              <a:spcBef>
                <a:spcPct val="10000"/>
              </a:spcBef>
              <a:defRPr/>
            </a:pPr>
            <a:r>
              <a:rPr lang="en-US" altLang="zh-CN" sz="2200" dirty="0" smtClean="0">
                <a:sym typeface="Symbol" pitchFamily="18" charset="2"/>
              </a:rPr>
              <a:t>      else   right=middle-1;</a:t>
            </a:r>
          </a:p>
          <a:p>
            <a:pPr>
              <a:lnSpc>
                <a:spcPct val="90000"/>
              </a:lnSpc>
              <a:spcBef>
                <a:spcPct val="10000"/>
              </a:spcBef>
              <a:defRPr/>
            </a:pPr>
            <a:r>
              <a:rPr lang="en-US" altLang="zh-CN" sz="2200" dirty="0" smtClean="0">
                <a:sym typeface="Symbol" pitchFamily="18" charset="2"/>
              </a:rPr>
              <a:t>   }</a:t>
            </a:r>
          </a:p>
          <a:p>
            <a:pPr>
              <a:lnSpc>
                <a:spcPct val="90000"/>
              </a:lnSpc>
              <a:spcBef>
                <a:spcPct val="10000"/>
              </a:spcBef>
              <a:defRPr/>
            </a:pPr>
            <a:r>
              <a:rPr lang="en-US" altLang="zh-CN" sz="2200" dirty="0" smtClean="0">
                <a:sym typeface="Symbol" pitchFamily="18" charset="2"/>
              </a:rPr>
              <a:t>Return -1 ;  // </a:t>
            </a:r>
            <a:r>
              <a:rPr lang="zh-CN" altLang="en-US" sz="2200" dirty="0" smtClean="0">
                <a:sym typeface="Symbol" pitchFamily="18" charset="2"/>
              </a:rPr>
              <a:t>未找到 </a:t>
            </a:r>
            <a:r>
              <a:rPr lang="en-US" altLang="zh-CN" sz="2200" dirty="0" smtClean="0">
                <a:sym typeface="Symbol" pitchFamily="18" charset="2"/>
              </a:rPr>
              <a:t>x</a:t>
            </a:r>
          </a:p>
          <a:p>
            <a:pPr>
              <a:lnSpc>
                <a:spcPct val="90000"/>
              </a:lnSpc>
              <a:spcBef>
                <a:spcPct val="10000"/>
              </a:spcBef>
              <a:defRPr/>
            </a:pPr>
            <a:r>
              <a:rPr lang="en-US" altLang="zh-CN" sz="2200" dirty="0" smtClean="0">
                <a:sym typeface="Symbol" pitchFamily="18" charset="2"/>
              </a:rPr>
              <a:t>}  </a:t>
            </a:r>
            <a:endParaRPr lang="en-US" altLang="zh-CN" sz="2200" dirty="0" smtClean="0"/>
          </a:p>
          <a:p>
            <a:pPr lvl="1" eaLnBrk="1" hangingPunct="1">
              <a:buFontTx/>
              <a:buNone/>
              <a:defRPr/>
            </a:pPr>
            <a:endParaRPr lang="en-US" altLang="zh-CN" dirty="0" smtClean="0">
              <a:latin typeface="+mn-lt"/>
              <a:ea typeface="+mn-ea"/>
              <a:cs typeface="+mn-cs"/>
              <a:sym typeface="Symbol" pitchFamily="18" charset="2"/>
            </a:endParaRPr>
          </a:p>
        </p:txBody>
      </p:sp>
    </p:spTree>
    <p:extLst>
      <p:ext uri="{BB962C8B-B14F-4D97-AF65-F5344CB8AC3E}">
        <p14:creationId xmlns:p14="http://schemas.microsoft.com/office/powerpoint/2010/main" val="174759415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73731" name="Rectangle 2"/>
          <p:cNvSpPr>
            <a:spLocks noGrp="1" noChangeArrowheads="1"/>
          </p:cNvSpPr>
          <p:nvPr>
            <p:ph type="title"/>
          </p:nvPr>
        </p:nvSpPr>
        <p:spPr/>
        <p:txBody>
          <a:bodyPr/>
          <a:lstStyle/>
          <a:p>
            <a:pPr eaLnBrk="1" hangingPunct="1"/>
            <a:r>
              <a:rPr lang="zh-CN" altLang="en-US" dirty="0"/>
              <a:t>渐进表示</a:t>
            </a:r>
            <a:r>
              <a:rPr lang="en-US" altLang="zh-CN" dirty="0">
                <a:latin typeface="+mn-ea"/>
              </a:rPr>
              <a:t>—— </a:t>
            </a:r>
            <a:r>
              <a:rPr lang="en-US" altLang="zh-CN" dirty="0" smtClean="0">
                <a:sym typeface="Symbol" panose="05050102010706020507" pitchFamily="18" charset="2"/>
              </a:rPr>
              <a:t>-</a:t>
            </a:r>
            <a:r>
              <a:rPr lang="zh-CN" altLang="en-US" dirty="0" smtClean="0"/>
              <a:t>记号（例：折半查找）</a:t>
            </a:r>
            <a:endParaRPr lang="en-US" altLang="zh-CN" dirty="0" smtClean="0"/>
          </a:p>
        </p:txBody>
      </p:sp>
      <p:sp>
        <p:nvSpPr>
          <p:cNvPr id="70659" name="Rectangle 3"/>
          <p:cNvSpPr>
            <a:spLocks noGrp="1" noChangeArrowheads="1"/>
          </p:cNvSpPr>
          <p:nvPr>
            <p:ph type="body" idx="1"/>
          </p:nvPr>
        </p:nvSpPr>
        <p:spPr>
          <a:xfrm>
            <a:off x="755650" y="1196975"/>
            <a:ext cx="8031163" cy="5183188"/>
          </a:xfrm>
        </p:spPr>
        <p:txBody>
          <a:bodyPr/>
          <a:lstStyle/>
          <a:p>
            <a:pPr>
              <a:spcBef>
                <a:spcPct val="50000"/>
              </a:spcBef>
              <a:defRPr/>
            </a:pPr>
            <a:r>
              <a:rPr lang="en-US" altLang="zh-CN" sz="2400" dirty="0" smtClean="0"/>
              <a:t>while </a:t>
            </a:r>
            <a:r>
              <a:rPr lang="zh-CN" altLang="en-US" sz="2400" dirty="0" smtClean="0"/>
              <a:t>的每次循环(最后一次除外)都将以减半的比例缩小搜索范围,所以, 该循环在最坏的情况下需要执行</a:t>
            </a:r>
            <a:r>
              <a:rPr lang="en-US" altLang="zh-CN" sz="2400" dirty="0" smtClean="0"/>
              <a:t>Θ</a:t>
            </a:r>
            <a:r>
              <a:rPr lang="zh-CN" altLang="en-US" sz="2400" dirty="0" smtClean="0"/>
              <a:t>(</a:t>
            </a:r>
            <a:r>
              <a:rPr lang="en-US" altLang="zh-CN" sz="2400" dirty="0" smtClean="0"/>
              <a:t>log n ) </a:t>
            </a:r>
            <a:r>
              <a:rPr lang="zh-CN" altLang="en-US" sz="2400" dirty="0" smtClean="0"/>
              <a:t>次。由于每次循环需耗时</a:t>
            </a:r>
            <a:r>
              <a:rPr lang="en-US" altLang="zh-CN" sz="2400" dirty="0" smtClean="0"/>
              <a:t>Θ(1),</a:t>
            </a:r>
            <a:r>
              <a:rPr lang="zh-CN" altLang="en-US" sz="2400" dirty="0" smtClean="0"/>
              <a:t>因此在最坏情况下,总的时间复杂性为 </a:t>
            </a:r>
            <a:r>
              <a:rPr lang="en-US" altLang="zh-CN" sz="2400" dirty="0" smtClean="0"/>
              <a:t>Θ(log n).</a:t>
            </a:r>
          </a:p>
          <a:p>
            <a:pPr lvl="1" eaLnBrk="1" hangingPunct="1">
              <a:buFontTx/>
              <a:buNone/>
              <a:defRPr/>
            </a:pPr>
            <a:endParaRPr lang="en-US" altLang="zh-CN" dirty="0" smtClean="0">
              <a:latin typeface="+mn-lt"/>
              <a:ea typeface="+mn-ea"/>
              <a:cs typeface="+mn-cs"/>
              <a:sym typeface="Symbol" pitchFamily="18" charset="2"/>
            </a:endParaRPr>
          </a:p>
        </p:txBody>
      </p:sp>
    </p:spTree>
    <p:extLst>
      <p:ext uri="{BB962C8B-B14F-4D97-AF65-F5344CB8AC3E}">
        <p14:creationId xmlns:p14="http://schemas.microsoft.com/office/powerpoint/2010/main" val="351144093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74755" name="Rectangle 2"/>
          <p:cNvSpPr>
            <a:spLocks noGrp="1" noChangeArrowheads="1"/>
          </p:cNvSpPr>
          <p:nvPr>
            <p:ph type="title"/>
          </p:nvPr>
        </p:nvSpPr>
        <p:spPr/>
        <p:txBody>
          <a:bodyPr/>
          <a:lstStyle/>
          <a:p>
            <a:pPr eaLnBrk="1" hangingPunct="1"/>
            <a:r>
              <a:rPr lang="zh-CN" altLang="en-US" dirty="0"/>
              <a:t>渐进表示</a:t>
            </a:r>
            <a:r>
              <a:rPr lang="en-US" altLang="zh-CN" dirty="0">
                <a:latin typeface="+mn-ea"/>
              </a:rPr>
              <a:t>——</a:t>
            </a:r>
            <a:r>
              <a:rPr lang="zh-CN" altLang="en-US" dirty="0" smtClean="0"/>
              <a:t>小</a:t>
            </a:r>
            <a:r>
              <a:rPr lang="en-US" altLang="zh-CN" i="1" dirty="0" smtClean="0"/>
              <a:t>o-</a:t>
            </a:r>
            <a:r>
              <a:rPr lang="zh-CN" altLang="en-US" dirty="0" smtClean="0"/>
              <a:t>记号（非紧上界记号）</a:t>
            </a:r>
            <a:endParaRPr lang="en-US" altLang="zh-CN" dirty="0" smtClean="0"/>
          </a:p>
        </p:txBody>
      </p:sp>
      <p:sp>
        <p:nvSpPr>
          <p:cNvPr id="205827" name="Rectangle 3"/>
          <p:cNvSpPr>
            <a:spLocks noGrp="1" noChangeArrowheads="1"/>
          </p:cNvSpPr>
          <p:nvPr>
            <p:ph type="body" idx="1"/>
          </p:nvPr>
        </p:nvSpPr>
        <p:spPr/>
        <p:txBody>
          <a:bodyPr/>
          <a:lstStyle/>
          <a:p>
            <a:pPr eaLnBrk="1" hangingPunct="1">
              <a:defRPr/>
            </a:pPr>
            <a:r>
              <a:rPr lang="zh-CN" altLang="en-US" dirty="0" smtClean="0"/>
              <a:t>定义</a:t>
            </a:r>
            <a:r>
              <a:rPr lang="en-US" altLang="zh-CN" dirty="0" smtClean="0"/>
              <a:t> 1.5</a:t>
            </a:r>
          </a:p>
          <a:p>
            <a:pPr>
              <a:defRPr/>
            </a:pPr>
            <a:r>
              <a:rPr lang="zh-CN" altLang="en-US" sz="2200" dirty="0" smtClean="0">
                <a:sym typeface="Symbol" pitchFamily="18" charset="2"/>
              </a:rPr>
              <a:t>对于任意给定的</a:t>
            </a:r>
            <a:r>
              <a:rPr lang="en-US" altLang="zh-CN" sz="2200" dirty="0" smtClean="0">
                <a:sym typeface="Symbol" pitchFamily="18" charset="2"/>
              </a:rPr>
              <a:t>c＞0，</a:t>
            </a:r>
            <a:r>
              <a:rPr lang="zh-CN" altLang="en-US" sz="2200" dirty="0" smtClean="0">
                <a:sym typeface="Symbol" pitchFamily="18" charset="2"/>
              </a:rPr>
              <a:t>都存在正整数</a:t>
            </a:r>
            <a:r>
              <a:rPr lang="en-US" altLang="zh-CN" sz="2200" dirty="0" smtClean="0">
                <a:sym typeface="Symbol" pitchFamily="18" charset="2"/>
              </a:rPr>
              <a:t>n0 ，</a:t>
            </a:r>
            <a:r>
              <a:rPr lang="zh-CN" altLang="en-US" sz="2200" dirty="0" smtClean="0">
                <a:sym typeface="Symbol" pitchFamily="18" charset="2"/>
              </a:rPr>
              <a:t>使得当</a:t>
            </a:r>
            <a:r>
              <a:rPr lang="en-US" altLang="zh-CN" sz="2200" dirty="0" smtClean="0">
                <a:sym typeface="Symbol" pitchFamily="18" charset="2"/>
              </a:rPr>
              <a:t>nn0</a:t>
            </a:r>
            <a:r>
              <a:rPr lang="zh-CN" altLang="en-US" sz="2200" dirty="0" smtClean="0">
                <a:sym typeface="Symbol" pitchFamily="18" charset="2"/>
              </a:rPr>
              <a:t>时有</a:t>
            </a:r>
            <a:r>
              <a:rPr lang="en-US" altLang="zh-CN" sz="2200" dirty="0" smtClean="0">
                <a:sym typeface="Symbol" pitchFamily="18" charset="2"/>
              </a:rPr>
              <a:t>f(n)&lt;cg(n)</a:t>
            </a:r>
            <a:r>
              <a:rPr lang="zh-CN" altLang="en-US" sz="2200" dirty="0" smtClean="0">
                <a:sym typeface="Symbol" pitchFamily="18" charset="2"/>
              </a:rPr>
              <a:t>，则称函数</a:t>
            </a:r>
            <a:r>
              <a:rPr lang="en-US" altLang="zh-CN" sz="2200" dirty="0" smtClean="0">
                <a:sym typeface="Symbol" pitchFamily="18" charset="2"/>
              </a:rPr>
              <a:t>f(n)</a:t>
            </a:r>
            <a:r>
              <a:rPr lang="zh-CN" altLang="en-US" sz="2200" dirty="0" smtClean="0">
                <a:sym typeface="Symbol" pitchFamily="18" charset="2"/>
              </a:rPr>
              <a:t>当</a:t>
            </a:r>
            <a:r>
              <a:rPr lang="en-US" altLang="zh-CN" sz="2200" dirty="0" smtClean="0">
                <a:sym typeface="Symbol" pitchFamily="18" charset="2"/>
              </a:rPr>
              <a:t>n</a:t>
            </a:r>
            <a:r>
              <a:rPr lang="zh-CN" altLang="en-US" sz="2200" dirty="0" smtClean="0">
                <a:sym typeface="Symbol" pitchFamily="18" charset="2"/>
              </a:rPr>
              <a:t>充分大时的</a:t>
            </a:r>
            <a:r>
              <a:rPr lang="zh-CN" altLang="en-US" sz="2200" dirty="0" smtClean="0">
                <a:solidFill>
                  <a:srgbClr val="FF0000"/>
                </a:solidFill>
                <a:sym typeface="Symbol" pitchFamily="18" charset="2"/>
              </a:rPr>
              <a:t>阶比</a:t>
            </a:r>
            <a:r>
              <a:rPr lang="en-US" altLang="zh-CN" sz="2200" dirty="0" smtClean="0">
                <a:solidFill>
                  <a:srgbClr val="FF0000"/>
                </a:solidFill>
                <a:sym typeface="Symbol" pitchFamily="18" charset="2"/>
              </a:rPr>
              <a:t>g(n)</a:t>
            </a:r>
            <a:r>
              <a:rPr lang="zh-CN" altLang="en-US" sz="2200" dirty="0" smtClean="0">
                <a:solidFill>
                  <a:srgbClr val="FF0000"/>
                </a:solidFill>
                <a:sym typeface="Symbol" pitchFamily="18" charset="2"/>
              </a:rPr>
              <a:t>低</a:t>
            </a:r>
            <a:r>
              <a:rPr lang="zh-CN" altLang="en-US" sz="2200" dirty="0" smtClean="0">
                <a:sym typeface="Symbol" pitchFamily="18" charset="2"/>
              </a:rPr>
              <a:t>，记为</a:t>
            </a:r>
            <a:r>
              <a:rPr lang="en-US" altLang="zh-CN" sz="2200" dirty="0" smtClean="0">
                <a:sym typeface="Symbol" pitchFamily="18" charset="2"/>
              </a:rPr>
              <a:t>f(n)=o(g(n)</a:t>
            </a:r>
            <a:r>
              <a:rPr lang="zh-CN" altLang="en-US" sz="2200" dirty="0" smtClean="0">
                <a:sym typeface="Symbol" pitchFamily="18" charset="2"/>
              </a:rPr>
              <a:t>。</a:t>
            </a:r>
          </a:p>
          <a:p>
            <a:pPr lvl="1" eaLnBrk="1" hangingPunct="1">
              <a:defRPr/>
            </a:pPr>
            <a:r>
              <a:rPr lang="zh-CN" altLang="en-US" dirty="0" smtClean="0">
                <a:latin typeface="+mn-lt"/>
                <a:ea typeface="+mn-ea"/>
                <a:cs typeface="+mn-cs"/>
                <a:sym typeface="Symbol" pitchFamily="18" charset="2"/>
              </a:rPr>
              <a:t>也就是说，当</a:t>
            </a:r>
            <a:r>
              <a:rPr lang="en-US" altLang="zh-CN" dirty="0" smtClean="0">
                <a:latin typeface="+mn-lt"/>
                <a:ea typeface="+mn-ea"/>
                <a:cs typeface="+mn-cs"/>
                <a:sym typeface="Symbol" pitchFamily="18" charset="2"/>
              </a:rPr>
              <a:t> </a:t>
            </a:r>
            <a:r>
              <a:rPr lang="en-US" altLang="zh-CN" sz="2000" i="1" dirty="0" err="1" smtClean="0">
                <a:latin typeface="+mn-lt"/>
                <a:sym typeface="Symbol" pitchFamily="18" charset="2"/>
              </a:rPr>
              <a:t>lim</a:t>
            </a:r>
            <a:r>
              <a:rPr lang="en-US" altLang="zh-CN" sz="2000" i="1" dirty="0" smtClean="0">
                <a:latin typeface="+mn-lt"/>
                <a:sym typeface="Symbol" pitchFamily="18" charset="2"/>
              </a:rPr>
              <a:t> </a:t>
            </a:r>
            <a:r>
              <a:rPr lang="en-US" altLang="zh-CN" sz="2000" i="1" baseline="-25000" dirty="0" smtClean="0">
                <a:latin typeface="+mn-lt"/>
                <a:sym typeface="Symbol" pitchFamily="18" charset="2"/>
              </a:rPr>
              <a:t>n </a:t>
            </a:r>
            <a:r>
              <a:rPr lang="en-US" altLang="zh-CN" sz="2000" i="1" dirty="0" smtClean="0">
                <a:latin typeface="+mn-lt"/>
                <a:sym typeface="Symbol" pitchFamily="18" charset="2"/>
              </a:rPr>
              <a:t>f (n) /g (n)</a:t>
            </a:r>
            <a:r>
              <a:rPr lang="zh-CN" altLang="en-US" dirty="0" smtClean="0">
                <a:latin typeface="+mn-lt"/>
                <a:ea typeface="+mn-ea"/>
                <a:cs typeface="+mn-cs"/>
                <a:sym typeface="Symbol" pitchFamily="18" charset="2"/>
              </a:rPr>
              <a:t>存在</a:t>
            </a:r>
            <a:r>
              <a:rPr lang="en-US" altLang="zh-CN" dirty="0" smtClean="0">
                <a:latin typeface="+mn-lt"/>
                <a:ea typeface="+mn-ea"/>
                <a:cs typeface="+mn-cs"/>
                <a:sym typeface="Symbol" pitchFamily="18" charset="2"/>
              </a:rPr>
              <a:t> </a:t>
            </a:r>
            <a:r>
              <a:rPr lang="zh-CN" altLang="en-US" dirty="0" smtClean="0">
                <a:latin typeface="+mn-lt"/>
                <a:ea typeface="+mn-ea"/>
                <a:cs typeface="+mn-cs"/>
                <a:sym typeface="Symbol" pitchFamily="18" charset="2"/>
              </a:rPr>
              <a:t>，并且</a:t>
            </a:r>
            <a:endParaRPr lang="en-US" altLang="zh-CN" dirty="0" smtClean="0">
              <a:latin typeface="+mn-lt"/>
              <a:ea typeface="+mn-ea"/>
              <a:cs typeface="+mn-cs"/>
              <a:sym typeface="Symbol" pitchFamily="18" charset="2"/>
            </a:endParaRPr>
          </a:p>
          <a:p>
            <a:pPr eaLnBrk="1" hangingPunct="1">
              <a:buFontTx/>
              <a:buNone/>
              <a:defRPr/>
            </a:pPr>
            <a:r>
              <a:rPr lang="en-US" altLang="zh-CN" sz="2200" dirty="0" smtClean="0">
                <a:sym typeface="Symbol" pitchFamily="18" charset="2"/>
              </a:rPr>
              <a:t>                   </a:t>
            </a:r>
            <a:r>
              <a:rPr lang="en-US" altLang="zh-CN" sz="2200" i="1" dirty="0" err="1" smtClean="0">
                <a:sym typeface="Symbol" pitchFamily="18" charset="2"/>
              </a:rPr>
              <a:t>lim</a:t>
            </a:r>
            <a:r>
              <a:rPr lang="en-US" altLang="zh-CN" sz="2200" i="1" dirty="0" smtClean="0">
                <a:sym typeface="Symbol" pitchFamily="18" charset="2"/>
              </a:rPr>
              <a:t> </a:t>
            </a:r>
            <a:r>
              <a:rPr lang="en-US" altLang="zh-CN" sz="2200" i="1" baseline="-25000" dirty="0" smtClean="0">
                <a:sym typeface="Symbol" pitchFamily="18" charset="2"/>
              </a:rPr>
              <a:t>n </a:t>
            </a:r>
            <a:r>
              <a:rPr lang="en-US" altLang="zh-CN" sz="2200" i="1" dirty="0" smtClean="0">
                <a:sym typeface="Symbol" pitchFamily="18" charset="2"/>
              </a:rPr>
              <a:t>f (n) /g (n) </a:t>
            </a:r>
            <a:r>
              <a:rPr lang="en-US" altLang="zh-CN" sz="2200" dirty="0" smtClean="0">
                <a:sym typeface="Symbol" pitchFamily="18" charset="2"/>
              </a:rPr>
              <a:t>=0 </a:t>
            </a:r>
            <a:r>
              <a:rPr lang="zh-CN" altLang="en-US" sz="2200" dirty="0" smtClean="0">
                <a:sym typeface="Symbol" pitchFamily="18" charset="2"/>
              </a:rPr>
              <a:t>则</a:t>
            </a:r>
            <a:r>
              <a:rPr lang="en-US" altLang="zh-CN" sz="2200" dirty="0" smtClean="0">
                <a:sym typeface="Symbol" pitchFamily="18" charset="2"/>
              </a:rPr>
              <a:t>f(n)=o(g(n)).</a:t>
            </a:r>
          </a:p>
          <a:p>
            <a:pPr eaLnBrk="1" hangingPunct="1">
              <a:buFontTx/>
              <a:buNone/>
              <a:defRPr/>
            </a:pPr>
            <a:endParaRPr lang="en-US" altLang="zh-CN" sz="1800" dirty="0" smtClean="0">
              <a:sym typeface="Symbol" pitchFamily="18" charset="2"/>
            </a:endParaRPr>
          </a:p>
          <a:p>
            <a:pPr eaLnBrk="1" hangingPunct="1">
              <a:defRPr/>
            </a:pPr>
            <a:r>
              <a:rPr lang="zh-CN" altLang="en-US" sz="2200" dirty="0" smtClean="0">
                <a:sym typeface="Symbol" pitchFamily="18" charset="2"/>
              </a:rPr>
              <a:t>可以推断：</a:t>
            </a:r>
            <a:r>
              <a:rPr lang="en-US" altLang="zh-CN" sz="2200" dirty="0" smtClean="0">
                <a:sym typeface="Symbol" pitchFamily="18" charset="2"/>
              </a:rPr>
              <a:t>f(n)=o(g(n)) </a:t>
            </a:r>
            <a:r>
              <a:rPr lang="zh-CN" altLang="en-US" sz="2200" dirty="0" smtClean="0">
                <a:sym typeface="Symbol" pitchFamily="18" charset="2"/>
              </a:rPr>
              <a:t>成立前提：必须</a:t>
            </a:r>
            <a:r>
              <a:rPr lang="en-US" altLang="zh-CN" sz="2200" dirty="0" smtClean="0">
                <a:sym typeface="Symbol" pitchFamily="18" charset="2"/>
              </a:rPr>
              <a:t> </a:t>
            </a:r>
            <a:r>
              <a:rPr lang="zh-CN" altLang="en-US" sz="2200" dirty="0" smtClean="0">
                <a:sym typeface="Symbol" pitchFamily="18" charset="2"/>
              </a:rPr>
              <a:t>满足</a:t>
            </a:r>
            <a:r>
              <a:rPr lang="en-US" altLang="zh-CN" sz="2200" dirty="0" smtClean="0">
                <a:sym typeface="Symbol" pitchFamily="18" charset="2"/>
              </a:rPr>
              <a:t>f(n)=O(g(n)) </a:t>
            </a:r>
            <a:r>
              <a:rPr lang="zh-CN" altLang="en-US" sz="2200" dirty="0" smtClean="0">
                <a:sym typeface="Symbol" pitchFamily="18" charset="2"/>
              </a:rPr>
              <a:t>，同时</a:t>
            </a:r>
            <a:r>
              <a:rPr lang="en-US" altLang="zh-CN" sz="2200" dirty="0" smtClean="0">
                <a:sym typeface="Symbol" pitchFamily="18" charset="2"/>
              </a:rPr>
              <a:t> </a:t>
            </a:r>
            <a:r>
              <a:rPr lang="zh-CN" altLang="en-US" sz="2200" dirty="0" smtClean="0">
                <a:sym typeface="Symbol" pitchFamily="18" charset="2"/>
              </a:rPr>
              <a:t>满足</a:t>
            </a:r>
            <a:r>
              <a:rPr lang="en-US" altLang="zh-CN" sz="2200" dirty="0" smtClean="0">
                <a:sym typeface="Symbol" pitchFamily="18" charset="2"/>
              </a:rPr>
              <a:t>g(n)O(f(n)). </a:t>
            </a:r>
          </a:p>
        </p:txBody>
      </p:sp>
      <p:pic>
        <p:nvPicPr>
          <p:cNvPr id="74757" name="Picture 4" descr="def"/>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852488" y="1300163"/>
            <a:ext cx="504825"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7595794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75779" name="Rectangle 2"/>
          <p:cNvSpPr>
            <a:spLocks noGrp="1" noChangeArrowheads="1"/>
          </p:cNvSpPr>
          <p:nvPr>
            <p:ph type="title"/>
          </p:nvPr>
        </p:nvSpPr>
        <p:spPr/>
        <p:txBody>
          <a:bodyPr/>
          <a:lstStyle/>
          <a:p>
            <a:pPr eaLnBrk="1" hangingPunct="1"/>
            <a:r>
              <a:rPr lang="zh-CN" altLang="en-US" dirty="0"/>
              <a:t>渐进表示</a:t>
            </a:r>
            <a:r>
              <a:rPr lang="en-US" altLang="zh-CN" dirty="0">
                <a:latin typeface="+mn-ea"/>
              </a:rPr>
              <a:t>——</a:t>
            </a:r>
            <a:r>
              <a:rPr lang="zh-CN" altLang="en-US" dirty="0" smtClean="0">
                <a:sym typeface="Symbol" panose="05050102010706020507" pitchFamily="18" charset="2"/>
              </a:rPr>
              <a:t>小</a:t>
            </a:r>
            <a:r>
              <a:rPr lang="zh-CN" altLang="en-US" i="1" dirty="0" smtClean="0">
                <a:sym typeface="Symbol" panose="05050102010706020507" pitchFamily="18" charset="2"/>
              </a:rPr>
              <a:t></a:t>
            </a:r>
            <a:r>
              <a:rPr lang="zh-CN" altLang="en-US" dirty="0" smtClean="0"/>
              <a:t> </a:t>
            </a:r>
            <a:r>
              <a:rPr lang="en-US" altLang="zh-CN" i="1" dirty="0" smtClean="0"/>
              <a:t>-</a:t>
            </a:r>
            <a:r>
              <a:rPr lang="zh-CN" altLang="en-US" dirty="0" smtClean="0"/>
              <a:t>记号（非紧下界记号）</a:t>
            </a:r>
            <a:endParaRPr lang="en-US" altLang="zh-CN" dirty="0" smtClean="0"/>
          </a:p>
        </p:txBody>
      </p:sp>
      <p:sp>
        <p:nvSpPr>
          <p:cNvPr id="205827" name="Rectangle 3"/>
          <p:cNvSpPr>
            <a:spLocks noGrp="1" noChangeArrowheads="1"/>
          </p:cNvSpPr>
          <p:nvPr>
            <p:ph type="body" idx="1"/>
          </p:nvPr>
        </p:nvSpPr>
        <p:spPr/>
        <p:txBody>
          <a:bodyPr/>
          <a:lstStyle/>
          <a:p>
            <a:pPr eaLnBrk="1" hangingPunct="1">
              <a:defRPr/>
            </a:pPr>
            <a:r>
              <a:rPr lang="zh-CN" altLang="en-US" dirty="0" smtClean="0"/>
              <a:t>定义</a:t>
            </a:r>
            <a:r>
              <a:rPr lang="en-US" altLang="zh-CN" dirty="0" smtClean="0"/>
              <a:t> 1.5</a:t>
            </a:r>
          </a:p>
          <a:p>
            <a:pPr>
              <a:defRPr/>
            </a:pPr>
            <a:r>
              <a:rPr lang="zh-CN" altLang="en-US" sz="2200" dirty="0" smtClean="0">
                <a:sym typeface="Symbol" pitchFamily="18" charset="2"/>
              </a:rPr>
              <a:t>对于任意给定的</a:t>
            </a:r>
            <a:r>
              <a:rPr lang="en-US" altLang="zh-CN" sz="2200" dirty="0" smtClean="0">
                <a:sym typeface="Symbol" pitchFamily="18" charset="2"/>
              </a:rPr>
              <a:t>c＞0，</a:t>
            </a:r>
            <a:r>
              <a:rPr lang="zh-CN" altLang="en-US" sz="2200" dirty="0" smtClean="0">
                <a:sym typeface="Symbol" pitchFamily="18" charset="2"/>
              </a:rPr>
              <a:t>都存在正整数</a:t>
            </a:r>
            <a:r>
              <a:rPr lang="en-US" altLang="zh-CN" sz="2200" dirty="0" smtClean="0">
                <a:sym typeface="Symbol" pitchFamily="18" charset="2"/>
              </a:rPr>
              <a:t>n0 ，</a:t>
            </a:r>
            <a:r>
              <a:rPr lang="zh-CN" altLang="en-US" sz="2200" dirty="0" smtClean="0">
                <a:sym typeface="Symbol" pitchFamily="18" charset="2"/>
              </a:rPr>
              <a:t>使得当</a:t>
            </a:r>
            <a:r>
              <a:rPr lang="en-US" altLang="zh-CN" sz="2200" dirty="0" smtClean="0">
                <a:sym typeface="Symbol" pitchFamily="18" charset="2"/>
              </a:rPr>
              <a:t>nn0</a:t>
            </a:r>
            <a:r>
              <a:rPr lang="zh-CN" altLang="en-US" sz="2200" dirty="0" smtClean="0">
                <a:sym typeface="Symbol" pitchFamily="18" charset="2"/>
              </a:rPr>
              <a:t>时有</a:t>
            </a:r>
            <a:r>
              <a:rPr lang="en-US" altLang="zh-CN" sz="2200" dirty="0" smtClean="0">
                <a:sym typeface="Symbol" pitchFamily="18" charset="2"/>
              </a:rPr>
              <a:t>f(n)&gt;cg(n)</a:t>
            </a:r>
            <a:r>
              <a:rPr lang="zh-CN" altLang="en-US" sz="2200" dirty="0" smtClean="0">
                <a:sym typeface="Symbol" pitchFamily="18" charset="2"/>
              </a:rPr>
              <a:t>，则称函数</a:t>
            </a:r>
            <a:r>
              <a:rPr lang="en-US" altLang="zh-CN" sz="2200" dirty="0" smtClean="0">
                <a:sym typeface="Symbol" pitchFamily="18" charset="2"/>
              </a:rPr>
              <a:t>f(n)</a:t>
            </a:r>
            <a:r>
              <a:rPr lang="zh-CN" altLang="en-US" sz="2200" dirty="0" smtClean="0">
                <a:sym typeface="Symbol" pitchFamily="18" charset="2"/>
              </a:rPr>
              <a:t>当</a:t>
            </a:r>
            <a:r>
              <a:rPr lang="en-US" altLang="zh-CN" sz="2200" dirty="0" smtClean="0">
                <a:sym typeface="Symbol" pitchFamily="18" charset="2"/>
              </a:rPr>
              <a:t>n</a:t>
            </a:r>
            <a:r>
              <a:rPr lang="zh-CN" altLang="en-US" sz="2200" dirty="0" smtClean="0">
                <a:sym typeface="Symbol" pitchFamily="18" charset="2"/>
              </a:rPr>
              <a:t>充分大时的</a:t>
            </a:r>
            <a:r>
              <a:rPr lang="zh-CN" altLang="en-US" sz="2200" dirty="0" smtClean="0">
                <a:solidFill>
                  <a:srgbClr val="FF0000"/>
                </a:solidFill>
                <a:sym typeface="Symbol" pitchFamily="18" charset="2"/>
              </a:rPr>
              <a:t>阶比</a:t>
            </a:r>
            <a:r>
              <a:rPr lang="en-US" altLang="zh-CN" sz="2200" dirty="0" smtClean="0">
                <a:solidFill>
                  <a:srgbClr val="FF0000"/>
                </a:solidFill>
                <a:sym typeface="Symbol" pitchFamily="18" charset="2"/>
              </a:rPr>
              <a:t>g(n)</a:t>
            </a:r>
            <a:r>
              <a:rPr lang="zh-CN" altLang="en-US" sz="2200" dirty="0" smtClean="0">
                <a:solidFill>
                  <a:srgbClr val="FF0000"/>
                </a:solidFill>
                <a:sym typeface="Symbol" pitchFamily="18" charset="2"/>
              </a:rPr>
              <a:t>高</a:t>
            </a:r>
            <a:r>
              <a:rPr lang="zh-CN" altLang="en-US" sz="2200" dirty="0" smtClean="0">
                <a:sym typeface="Symbol" pitchFamily="18" charset="2"/>
              </a:rPr>
              <a:t>，记为</a:t>
            </a:r>
            <a:r>
              <a:rPr lang="en-US" altLang="zh-CN" sz="2200" dirty="0" smtClean="0">
                <a:sym typeface="Symbol" pitchFamily="18" charset="2"/>
              </a:rPr>
              <a:t>f(n)=</a:t>
            </a:r>
            <a:r>
              <a:rPr lang="zh-CN" altLang="en-US" sz="2400" i="1" dirty="0" smtClean="0">
                <a:sym typeface="Symbol" pitchFamily="18" charset="2"/>
              </a:rPr>
              <a:t> </a:t>
            </a:r>
            <a:r>
              <a:rPr lang="en-US" altLang="zh-CN" sz="2200" dirty="0" smtClean="0">
                <a:sym typeface="Symbol" pitchFamily="18" charset="2"/>
              </a:rPr>
              <a:t>(g(n)</a:t>
            </a:r>
            <a:r>
              <a:rPr lang="zh-CN" altLang="en-US" sz="2200" dirty="0" smtClean="0">
                <a:sym typeface="Symbol" pitchFamily="18" charset="2"/>
              </a:rPr>
              <a:t>。</a:t>
            </a:r>
          </a:p>
          <a:p>
            <a:pPr lvl="1" eaLnBrk="1" hangingPunct="1">
              <a:defRPr/>
            </a:pPr>
            <a:r>
              <a:rPr lang="zh-CN" altLang="en-US" dirty="0" smtClean="0">
                <a:latin typeface="+mn-lt"/>
                <a:ea typeface="+mn-ea"/>
                <a:cs typeface="+mn-cs"/>
                <a:sym typeface="Symbol" pitchFamily="18" charset="2"/>
              </a:rPr>
              <a:t>也就是说，当</a:t>
            </a:r>
            <a:r>
              <a:rPr lang="en-US" altLang="zh-CN" dirty="0" smtClean="0">
                <a:latin typeface="+mn-lt"/>
                <a:ea typeface="+mn-ea"/>
                <a:cs typeface="+mn-cs"/>
                <a:sym typeface="Symbol" pitchFamily="18" charset="2"/>
              </a:rPr>
              <a:t> </a:t>
            </a:r>
            <a:r>
              <a:rPr lang="en-US" altLang="zh-CN" sz="2000" i="1" dirty="0" err="1" smtClean="0">
                <a:latin typeface="+mn-lt"/>
                <a:sym typeface="Symbol" pitchFamily="18" charset="2"/>
              </a:rPr>
              <a:t>lim</a:t>
            </a:r>
            <a:r>
              <a:rPr lang="en-US" altLang="zh-CN" sz="2000" i="1" dirty="0" smtClean="0">
                <a:latin typeface="+mn-lt"/>
                <a:sym typeface="Symbol" pitchFamily="18" charset="2"/>
              </a:rPr>
              <a:t> </a:t>
            </a:r>
            <a:r>
              <a:rPr lang="en-US" altLang="zh-CN" sz="2000" i="1" baseline="-25000" dirty="0" smtClean="0">
                <a:latin typeface="+mn-lt"/>
                <a:sym typeface="Symbol" pitchFamily="18" charset="2"/>
              </a:rPr>
              <a:t>n </a:t>
            </a:r>
            <a:r>
              <a:rPr lang="en-US" altLang="zh-CN" sz="2000" i="1" dirty="0" smtClean="0">
                <a:latin typeface="+mn-lt"/>
                <a:sym typeface="Symbol" pitchFamily="18" charset="2"/>
              </a:rPr>
              <a:t>f (n) /g (n)</a:t>
            </a:r>
            <a:r>
              <a:rPr lang="zh-CN" altLang="en-US" dirty="0" smtClean="0">
                <a:latin typeface="+mn-lt"/>
                <a:ea typeface="+mn-ea"/>
                <a:cs typeface="+mn-cs"/>
                <a:sym typeface="Symbol" pitchFamily="18" charset="2"/>
              </a:rPr>
              <a:t>存在</a:t>
            </a:r>
            <a:r>
              <a:rPr lang="en-US" altLang="zh-CN" dirty="0" smtClean="0">
                <a:latin typeface="+mn-lt"/>
                <a:ea typeface="+mn-ea"/>
                <a:cs typeface="+mn-cs"/>
                <a:sym typeface="Symbol" pitchFamily="18" charset="2"/>
              </a:rPr>
              <a:t> </a:t>
            </a:r>
            <a:r>
              <a:rPr lang="zh-CN" altLang="en-US" dirty="0" smtClean="0">
                <a:latin typeface="+mn-lt"/>
                <a:ea typeface="+mn-ea"/>
                <a:cs typeface="+mn-cs"/>
                <a:sym typeface="Symbol" pitchFamily="18" charset="2"/>
              </a:rPr>
              <a:t>，并且</a:t>
            </a:r>
            <a:endParaRPr lang="en-US" altLang="zh-CN" dirty="0" smtClean="0">
              <a:latin typeface="+mn-lt"/>
              <a:ea typeface="+mn-ea"/>
              <a:cs typeface="+mn-cs"/>
              <a:sym typeface="Symbol" pitchFamily="18" charset="2"/>
            </a:endParaRPr>
          </a:p>
          <a:p>
            <a:pPr eaLnBrk="1" hangingPunct="1">
              <a:buFontTx/>
              <a:buNone/>
              <a:defRPr/>
            </a:pPr>
            <a:r>
              <a:rPr lang="en-US" altLang="zh-CN" sz="2200" dirty="0" smtClean="0">
                <a:sym typeface="Symbol" pitchFamily="18" charset="2"/>
              </a:rPr>
              <a:t>                     </a:t>
            </a:r>
            <a:r>
              <a:rPr lang="en-US" altLang="zh-CN" sz="2200" i="1" dirty="0" err="1" smtClean="0">
                <a:sym typeface="Symbol" pitchFamily="18" charset="2"/>
              </a:rPr>
              <a:t>lim</a:t>
            </a:r>
            <a:r>
              <a:rPr lang="en-US" altLang="zh-CN" sz="2200" i="1" dirty="0" smtClean="0">
                <a:sym typeface="Symbol" pitchFamily="18" charset="2"/>
              </a:rPr>
              <a:t> </a:t>
            </a:r>
            <a:r>
              <a:rPr lang="en-US" altLang="zh-CN" sz="2200" i="1" baseline="-25000" dirty="0" smtClean="0">
                <a:sym typeface="Symbol" pitchFamily="18" charset="2"/>
              </a:rPr>
              <a:t>n </a:t>
            </a:r>
            <a:r>
              <a:rPr lang="en-US" altLang="zh-CN" sz="2200" i="1" dirty="0" smtClean="0">
                <a:sym typeface="Symbol" pitchFamily="18" charset="2"/>
              </a:rPr>
              <a:t>f (n) /g (n) </a:t>
            </a:r>
            <a:r>
              <a:rPr lang="en-US" altLang="zh-CN" sz="2200" dirty="0" smtClean="0">
                <a:sym typeface="Symbol" pitchFamily="18" charset="2"/>
              </a:rPr>
              <a:t></a:t>
            </a:r>
            <a:r>
              <a:rPr lang="zh-CN" altLang="en-US" sz="2200" dirty="0" smtClean="0">
                <a:sym typeface="Symbol" pitchFamily="18" charset="2"/>
              </a:rPr>
              <a:t>则</a:t>
            </a:r>
            <a:r>
              <a:rPr lang="en-US" altLang="zh-CN" sz="2200" dirty="0" smtClean="0">
                <a:sym typeface="Symbol" pitchFamily="18" charset="2"/>
              </a:rPr>
              <a:t>f(n)=</a:t>
            </a:r>
            <a:r>
              <a:rPr lang="zh-CN" altLang="en-US" sz="2200" i="1" dirty="0" smtClean="0">
                <a:sym typeface="Symbol" pitchFamily="18" charset="2"/>
              </a:rPr>
              <a:t> </a:t>
            </a:r>
            <a:r>
              <a:rPr lang="zh-CN" altLang="en-US" sz="2200" dirty="0" smtClean="0"/>
              <a:t> </a:t>
            </a:r>
            <a:r>
              <a:rPr lang="en-US" altLang="zh-CN" sz="2200" dirty="0" smtClean="0">
                <a:sym typeface="Symbol" pitchFamily="18" charset="2"/>
              </a:rPr>
              <a:t>(g(n))</a:t>
            </a:r>
          </a:p>
          <a:p>
            <a:pPr eaLnBrk="1" hangingPunct="1">
              <a:buFontTx/>
              <a:buNone/>
              <a:defRPr/>
            </a:pPr>
            <a:endParaRPr lang="en-US" altLang="zh-CN" sz="1800" dirty="0" smtClean="0">
              <a:sym typeface="Symbol" pitchFamily="18" charset="2"/>
            </a:endParaRPr>
          </a:p>
        </p:txBody>
      </p:sp>
      <p:pic>
        <p:nvPicPr>
          <p:cNvPr id="75781" name="Picture 4" descr="def"/>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852488" y="1300163"/>
            <a:ext cx="504825"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9793748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76803" name="Rectangle 2"/>
          <p:cNvSpPr>
            <a:spLocks noGrp="1" noChangeArrowheads="1"/>
          </p:cNvSpPr>
          <p:nvPr>
            <p:ph type="title"/>
          </p:nvPr>
        </p:nvSpPr>
        <p:spPr/>
        <p:txBody>
          <a:bodyPr/>
          <a:lstStyle/>
          <a:p>
            <a:pPr eaLnBrk="1" hangingPunct="1"/>
            <a:r>
              <a:rPr lang="zh-CN" altLang="en-US" dirty="0" smtClean="0"/>
              <a:t>渐近记号在等式和不等式中的意义</a:t>
            </a:r>
            <a:endParaRPr lang="en-US" altLang="zh-CN" dirty="0" smtClean="0"/>
          </a:p>
        </p:txBody>
      </p:sp>
      <p:sp>
        <p:nvSpPr>
          <p:cNvPr id="76804" name="Rectangle 3"/>
          <p:cNvSpPr>
            <a:spLocks noGrp="1" noChangeArrowheads="1"/>
          </p:cNvSpPr>
          <p:nvPr>
            <p:ph type="body" idx="1"/>
          </p:nvPr>
        </p:nvSpPr>
        <p:spPr/>
        <p:txBody>
          <a:bodyPr/>
          <a:lstStyle/>
          <a:p>
            <a:pPr>
              <a:spcBef>
                <a:spcPct val="0"/>
              </a:spcBef>
            </a:pPr>
            <a:r>
              <a:rPr lang="en-US" altLang="zh-CN" sz="2400" i="1" smtClean="0"/>
              <a:t>f</a:t>
            </a:r>
            <a:r>
              <a:rPr lang="en-US" altLang="zh-CN" sz="2400" smtClean="0"/>
              <a:t>(</a:t>
            </a:r>
            <a:r>
              <a:rPr lang="en-US" altLang="zh-CN" sz="2400" i="1" smtClean="0"/>
              <a:t>n</a:t>
            </a:r>
            <a:r>
              <a:rPr lang="en-US" altLang="zh-CN" sz="2400" smtClean="0"/>
              <a:t>)= </a:t>
            </a:r>
            <a:r>
              <a:rPr lang="en-US" altLang="zh-CN" sz="2400" smtClean="0">
                <a:sym typeface="Symbol" panose="05050102010706020507" pitchFamily="18" charset="2"/>
              </a:rPr>
              <a:t></a:t>
            </a:r>
            <a:r>
              <a:rPr lang="en-US" altLang="zh-CN" sz="2400" smtClean="0"/>
              <a:t>(</a:t>
            </a:r>
            <a:r>
              <a:rPr lang="en-US" altLang="zh-CN" sz="2400" i="1" smtClean="0"/>
              <a:t>g</a:t>
            </a:r>
            <a:r>
              <a:rPr lang="en-US" altLang="zh-CN" sz="2400" smtClean="0"/>
              <a:t>(</a:t>
            </a:r>
            <a:r>
              <a:rPr lang="en-US" altLang="zh-CN" sz="2400" i="1" smtClean="0"/>
              <a:t>n</a:t>
            </a:r>
            <a:r>
              <a:rPr lang="en-US" altLang="zh-CN" sz="2400" smtClean="0"/>
              <a:t>))</a:t>
            </a:r>
            <a:r>
              <a:rPr lang="zh-CN" altLang="en-US" sz="2400" smtClean="0"/>
              <a:t>的确切意义是：</a:t>
            </a:r>
            <a:r>
              <a:rPr lang="en-US" altLang="zh-CN" sz="2400" i="1" smtClean="0"/>
              <a:t>f</a:t>
            </a:r>
            <a:r>
              <a:rPr lang="en-US" altLang="zh-CN" sz="2400" smtClean="0"/>
              <a:t>(</a:t>
            </a:r>
            <a:r>
              <a:rPr lang="en-US" altLang="zh-CN" sz="2400" i="1" smtClean="0"/>
              <a:t>n</a:t>
            </a:r>
            <a:r>
              <a:rPr lang="en-US" altLang="zh-CN" sz="2400" smtClean="0"/>
              <a:t>) </a:t>
            </a:r>
            <a:r>
              <a:rPr lang="en-US" altLang="zh-CN" sz="2400" smtClean="0">
                <a:sym typeface="Symbol" panose="05050102010706020507" pitchFamily="18" charset="2"/>
              </a:rPr>
              <a:t></a:t>
            </a:r>
            <a:r>
              <a:rPr lang="en-US" altLang="zh-CN" sz="2400" smtClean="0"/>
              <a:t> </a:t>
            </a:r>
            <a:r>
              <a:rPr lang="en-US" altLang="zh-CN" sz="2400" smtClean="0">
                <a:sym typeface="Symbol" panose="05050102010706020507" pitchFamily="18" charset="2"/>
              </a:rPr>
              <a:t></a:t>
            </a:r>
            <a:r>
              <a:rPr lang="en-US" altLang="zh-CN" sz="2400" smtClean="0"/>
              <a:t>(</a:t>
            </a:r>
            <a:r>
              <a:rPr lang="en-US" altLang="zh-CN" sz="2400" i="1" smtClean="0"/>
              <a:t>g</a:t>
            </a:r>
            <a:r>
              <a:rPr lang="en-US" altLang="zh-CN" sz="2400" smtClean="0"/>
              <a:t>(</a:t>
            </a:r>
            <a:r>
              <a:rPr lang="en-US" altLang="zh-CN" sz="2400" i="1" smtClean="0"/>
              <a:t>n</a:t>
            </a:r>
            <a:r>
              <a:rPr lang="en-US" altLang="zh-CN" sz="2400" smtClean="0"/>
              <a:t>))</a:t>
            </a:r>
            <a:r>
              <a:rPr lang="zh-CN" altLang="en-US" sz="2400" smtClean="0"/>
              <a:t>。</a:t>
            </a:r>
            <a:endParaRPr lang="en-US" altLang="zh-CN" sz="2400" smtClean="0"/>
          </a:p>
          <a:p>
            <a:pPr>
              <a:spcBef>
                <a:spcPct val="0"/>
              </a:spcBef>
            </a:pPr>
            <a:endParaRPr lang="zh-CN" altLang="en-US" sz="2400" smtClean="0"/>
          </a:p>
          <a:p>
            <a:pPr>
              <a:spcBef>
                <a:spcPct val="0"/>
              </a:spcBef>
            </a:pPr>
            <a:r>
              <a:rPr lang="zh-CN" altLang="en-US" sz="2400" smtClean="0"/>
              <a:t>一般情况下，等式和不等式中的渐近记号</a:t>
            </a:r>
            <a:r>
              <a:rPr lang="zh-CN" altLang="en-US" sz="2400" smtClean="0">
                <a:sym typeface="Symbol" panose="05050102010706020507" pitchFamily="18" charset="2"/>
              </a:rPr>
              <a:t></a:t>
            </a:r>
            <a:r>
              <a:rPr lang="en-US" altLang="zh-CN" sz="2400" smtClean="0"/>
              <a:t>(</a:t>
            </a:r>
            <a:r>
              <a:rPr lang="en-US" altLang="zh-CN" sz="2400" i="1" smtClean="0"/>
              <a:t>g</a:t>
            </a:r>
            <a:r>
              <a:rPr lang="en-US" altLang="zh-CN" sz="2400" smtClean="0"/>
              <a:t>(</a:t>
            </a:r>
            <a:r>
              <a:rPr lang="en-US" altLang="zh-CN" sz="2400" i="1" smtClean="0"/>
              <a:t>n</a:t>
            </a:r>
            <a:r>
              <a:rPr lang="en-US" altLang="zh-CN" sz="2400" smtClean="0"/>
              <a:t>))</a:t>
            </a:r>
            <a:r>
              <a:rPr lang="zh-CN" altLang="en-US" sz="2400" smtClean="0"/>
              <a:t>表示</a:t>
            </a:r>
            <a:r>
              <a:rPr lang="zh-CN" altLang="en-US" sz="2400" smtClean="0">
                <a:sym typeface="Symbol" panose="05050102010706020507" pitchFamily="18" charset="2"/>
              </a:rPr>
              <a:t></a:t>
            </a:r>
            <a:r>
              <a:rPr lang="en-US" altLang="zh-CN" sz="2400" smtClean="0"/>
              <a:t>(</a:t>
            </a:r>
            <a:r>
              <a:rPr lang="en-US" altLang="zh-CN" sz="2400" i="1" smtClean="0"/>
              <a:t>g</a:t>
            </a:r>
            <a:r>
              <a:rPr lang="en-US" altLang="zh-CN" sz="2400" smtClean="0"/>
              <a:t>(</a:t>
            </a:r>
            <a:r>
              <a:rPr lang="en-US" altLang="zh-CN" sz="2400" i="1" smtClean="0"/>
              <a:t>n</a:t>
            </a:r>
            <a:r>
              <a:rPr lang="en-US" altLang="zh-CN" sz="2400" smtClean="0"/>
              <a:t>))</a:t>
            </a:r>
            <a:r>
              <a:rPr lang="zh-CN" altLang="en-US" sz="2400" smtClean="0"/>
              <a:t>中的某个函数。</a:t>
            </a:r>
          </a:p>
          <a:p>
            <a:pPr>
              <a:spcBef>
                <a:spcPct val="0"/>
              </a:spcBef>
              <a:buFontTx/>
              <a:buNone/>
            </a:pPr>
            <a:r>
              <a:rPr lang="zh-CN" altLang="en-US" sz="2400" smtClean="0"/>
              <a:t>     例如：</a:t>
            </a:r>
            <a:endParaRPr lang="en-US" altLang="zh-CN" sz="2400" smtClean="0"/>
          </a:p>
          <a:p>
            <a:pPr>
              <a:spcBef>
                <a:spcPct val="0"/>
              </a:spcBef>
              <a:buFontTx/>
              <a:buNone/>
            </a:pPr>
            <a:r>
              <a:rPr lang="en-US" altLang="zh-CN" sz="2400" smtClean="0"/>
              <a:t>     2</a:t>
            </a:r>
            <a:r>
              <a:rPr lang="en-US" altLang="zh-CN" sz="2400" i="1" smtClean="0"/>
              <a:t>n</a:t>
            </a:r>
            <a:r>
              <a:rPr lang="en-US" altLang="zh-CN" sz="2400" baseline="30000" smtClean="0"/>
              <a:t>2 </a:t>
            </a:r>
            <a:r>
              <a:rPr lang="en-US" altLang="zh-CN" sz="2400" smtClean="0"/>
              <a:t>+ 3</a:t>
            </a:r>
            <a:r>
              <a:rPr lang="en-US" altLang="zh-CN" sz="2400" i="1" smtClean="0"/>
              <a:t>n </a:t>
            </a:r>
            <a:r>
              <a:rPr lang="en-US" altLang="zh-CN" sz="2400" smtClean="0"/>
              <a:t>+ 1 = 2</a:t>
            </a:r>
            <a:r>
              <a:rPr lang="en-US" altLang="zh-CN" sz="2400" i="1" smtClean="0"/>
              <a:t>n</a:t>
            </a:r>
            <a:r>
              <a:rPr lang="en-US" altLang="zh-CN" sz="2400" baseline="30000" smtClean="0"/>
              <a:t>2 </a:t>
            </a:r>
            <a:r>
              <a:rPr lang="en-US" altLang="zh-CN" sz="2400" smtClean="0"/>
              <a:t>+ </a:t>
            </a:r>
            <a:r>
              <a:rPr lang="en-US" altLang="zh-CN" sz="2400" smtClean="0">
                <a:sym typeface="Symbol" panose="05050102010706020507" pitchFamily="18" charset="2"/>
              </a:rPr>
              <a:t></a:t>
            </a:r>
            <a:r>
              <a:rPr lang="en-US" altLang="zh-CN" sz="2400" smtClean="0"/>
              <a:t>(</a:t>
            </a:r>
            <a:r>
              <a:rPr lang="en-US" altLang="zh-CN" sz="2400" i="1" smtClean="0"/>
              <a:t>n</a:t>
            </a:r>
            <a:r>
              <a:rPr lang="en-US" altLang="zh-CN" sz="2400" smtClean="0"/>
              <a:t>) </a:t>
            </a:r>
            <a:r>
              <a:rPr lang="zh-CN" altLang="en-US" sz="2400" smtClean="0"/>
              <a:t>表示</a:t>
            </a:r>
          </a:p>
          <a:p>
            <a:pPr>
              <a:spcBef>
                <a:spcPct val="0"/>
              </a:spcBef>
              <a:buFontTx/>
              <a:buNone/>
            </a:pPr>
            <a:r>
              <a:rPr lang="zh-CN" altLang="en-US" sz="2400" smtClean="0"/>
              <a:t>     </a:t>
            </a:r>
            <a:r>
              <a:rPr lang="en-US" altLang="zh-CN" sz="2400" smtClean="0"/>
              <a:t>2</a:t>
            </a:r>
            <a:r>
              <a:rPr lang="en-US" altLang="zh-CN" sz="2400" i="1" smtClean="0"/>
              <a:t>n</a:t>
            </a:r>
            <a:r>
              <a:rPr lang="en-US" altLang="zh-CN" sz="2400" baseline="30000" smtClean="0"/>
              <a:t>2 </a:t>
            </a:r>
            <a:r>
              <a:rPr lang="en-US" altLang="zh-CN" sz="2400" smtClean="0"/>
              <a:t>+3</a:t>
            </a:r>
            <a:r>
              <a:rPr lang="en-US" altLang="zh-CN" sz="2400" i="1" smtClean="0"/>
              <a:t>n </a:t>
            </a:r>
            <a:r>
              <a:rPr lang="en-US" altLang="zh-CN" sz="2400" smtClean="0"/>
              <a:t>+1=2</a:t>
            </a:r>
            <a:r>
              <a:rPr lang="en-US" altLang="zh-CN" sz="2400" i="1" smtClean="0"/>
              <a:t>n</a:t>
            </a:r>
            <a:r>
              <a:rPr lang="en-US" altLang="zh-CN" sz="2400" baseline="30000" smtClean="0"/>
              <a:t>2 </a:t>
            </a:r>
            <a:r>
              <a:rPr lang="en-US" altLang="zh-CN" sz="2400" smtClean="0"/>
              <a:t>+ </a:t>
            </a:r>
            <a:r>
              <a:rPr lang="en-US" altLang="zh-CN" sz="2400" i="1" smtClean="0"/>
              <a:t>f</a:t>
            </a:r>
            <a:r>
              <a:rPr lang="en-US" altLang="zh-CN" sz="2400" smtClean="0"/>
              <a:t>(</a:t>
            </a:r>
            <a:r>
              <a:rPr lang="en-US" altLang="zh-CN" sz="2400" i="1" smtClean="0"/>
              <a:t>n</a:t>
            </a:r>
            <a:r>
              <a:rPr lang="en-US" altLang="zh-CN" sz="2400" smtClean="0"/>
              <a:t>)</a:t>
            </a:r>
            <a:r>
              <a:rPr lang="zh-CN" altLang="en-US" sz="2400" smtClean="0"/>
              <a:t>，其中</a:t>
            </a:r>
            <a:r>
              <a:rPr lang="en-US" altLang="zh-CN" sz="2400" i="1" smtClean="0"/>
              <a:t>f</a:t>
            </a:r>
            <a:r>
              <a:rPr lang="en-US" altLang="zh-CN" sz="2400" smtClean="0"/>
              <a:t>(</a:t>
            </a:r>
            <a:r>
              <a:rPr lang="en-US" altLang="zh-CN" sz="2400" i="1" smtClean="0"/>
              <a:t>n</a:t>
            </a:r>
            <a:r>
              <a:rPr lang="en-US" altLang="zh-CN" sz="2400" smtClean="0"/>
              <a:t>) </a:t>
            </a:r>
            <a:r>
              <a:rPr lang="zh-CN" altLang="en-US" sz="2400" smtClean="0"/>
              <a:t>是</a:t>
            </a:r>
            <a:r>
              <a:rPr lang="zh-CN" altLang="en-US" sz="2400" smtClean="0">
                <a:sym typeface="Symbol" panose="05050102010706020507" pitchFamily="18" charset="2"/>
              </a:rPr>
              <a:t></a:t>
            </a:r>
            <a:r>
              <a:rPr lang="en-US" altLang="zh-CN" sz="2400" smtClean="0"/>
              <a:t>(</a:t>
            </a:r>
            <a:r>
              <a:rPr lang="en-US" altLang="zh-CN" sz="2400" i="1" smtClean="0"/>
              <a:t>n</a:t>
            </a:r>
            <a:r>
              <a:rPr lang="en-US" altLang="zh-CN" sz="2400" smtClean="0"/>
              <a:t>)</a:t>
            </a:r>
            <a:r>
              <a:rPr lang="zh-CN" altLang="en-US" sz="2400" smtClean="0"/>
              <a:t>中某个函数。</a:t>
            </a:r>
            <a:endParaRPr lang="en-US" altLang="zh-CN" sz="2400" smtClean="0"/>
          </a:p>
          <a:p>
            <a:pPr>
              <a:spcBef>
                <a:spcPct val="0"/>
              </a:spcBef>
              <a:buFontTx/>
              <a:buNone/>
            </a:pPr>
            <a:endParaRPr lang="zh-CN" altLang="en-US" sz="2400" smtClean="0"/>
          </a:p>
          <a:p>
            <a:pPr>
              <a:spcBef>
                <a:spcPct val="0"/>
              </a:spcBef>
            </a:pPr>
            <a:r>
              <a:rPr lang="zh-CN" altLang="en-US" sz="2400" smtClean="0"/>
              <a:t>等式和不等式中渐近记号</a:t>
            </a:r>
            <a:r>
              <a:rPr lang="en-US" altLang="zh-CN" sz="2400" i="1" smtClean="0"/>
              <a:t>Oo</a:t>
            </a:r>
            <a:r>
              <a:rPr lang="en-US" altLang="zh-CN" sz="2400" smtClean="0"/>
              <a:t>, </a:t>
            </a:r>
            <a:r>
              <a:rPr lang="en-US" altLang="zh-CN" sz="2400" smtClean="0">
                <a:sym typeface="Symbol" panose="05050102010706020507" pitchFamily="18" charset="2"/>
              </a:rPr>
              <a:t></a:t>
            </a:r>
            <a:r>
              <a:rPr lang="zh-CN" altLang="en-US" sz="2400" smtClean="0">
                <a:sym typeface="Symbol" panose="05050102010706020507" pitchFamily="18" charset="2"/>
              </a:rPr>
              <a:t>和</a:t>
            </a:r>
            <a:r>
              <a:rPr lang="zh-CN" altLang="en-US" sz="2400" i="1" smtClean="0">
                <a:sym typeface="Symbol" panose="05050102010706020507" pitchFamily="18" charset="2"/>
              </a:rPr>
              <a:t></a:t>
            </a:r>
            <a:r>
              <a:rPr lang="zh-CN" altLang="en-US" sz="2400" smtClean="0">
                <a:sym typeface="Symbol" panose="05050102010706020507" pitchFamily="18" charset="2"/>
              </a:rPr>
              <a:t>的意义是类似的。</a:t>
            </a:r>
          </a:p>
          <a:p>
            <a:pPr eaLnBrk="1" hangingPunct="1">
              <a:buFontTx/>
              <a:buNone/>
            </a:pPr>
            <a:endParaRPr lang="en-US" altLang="zh-CN" sz="1800" smtClean="0">
              <a:sym typeface="Symbol" panose="05050102010706020507" pitchFamily="18" charset="2"/>
            </a:endParaRPr>
          </a:p>
        </p:txBody>
      </p:sp>
    </p:spTree>
    <p:extLst>
      <p:ext uri="{BB962C8B-B14F-4D97-AF65-F5344CB8AC3E}">
        <p14:creationId xmlns:p14="http://schemas.microsoft.com/office/powerpoint/2010/main" val="192304294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77827" name="Rectangle 2"/>
          <p:cNvSpPr>
            <a:spLocks noGrp="1" noChangeArrowheads="1"/>
          </p:cNvSpPr>
          <p:nvPr>
            <p:ph type="title"/>
          </p:nvPr>
        </p:nvSpPr>
        <p:spPr/>
        <p:txBody>
          <a:bodyPr/>
          <a:lstStyle/>
          <a:p>
            <a:pPr eaLnBrk="1" hangingPunct="1"/>
            <a:r>
              <a:rPr lang="zh-CN" altLang="en-US" smtClean="0"/>
              <a:t>渐近记号的若干性质</a:t>
            </a:r>
            <a:endParaRPr lang="en-US" altLang="zh-CN" smtClean="0"/>
          </a:p>
        </p:txBody>
      </p:sp>
      <p:sp>
        <p:nvSpPr>
          <p:cNvPr id="77828" name="Rectangle 3"/>
          <p:cNvSpPr>
            <a:spLocks noGrp="1" noChangeArrowheads="1"/>
          </p:cNvSpPr>
          <p:nvPr>
            <p:ph type="body" idx="1"/>
          </p:nvPr>
        </p:nvSpPr>
        <p:spPr/>
        <p:txBody>
          <a:bodyPr/>
          <a:lstStyle/>
          <a:p>
            <a:pPr>
              <a:spcBef>
                <a:spcPts val="600"/>
              </a:spcBef>
            </a:pPr>
            <a:r>
              <a:rPr lang="zh-CN" altLang="en-US" sz="2800" b="1" smtClean="0">
                <a:solidFill>
                  <a:srgbClr val="0000FF"/>
                </a:solidFill>
              </a:rPr>
              <a:t>（</a:t>
            </a:r>
            <a:r>
              <a:rPr lang="en-US" altLang="zh-CN" sz="2800" b="1" smtClean="0">
                <a:solidFill>
                  <a:srgbClr val="0000FF"/>
                </a:solidFill>
              </a:rPr>
              <a:t>1</a:t>
            </a:r>
            <a:r>
              <a:rPr lang="zh-CN" altLang="en-US" sz="2800" b="1" smtClean="0">
                <a:solidFill>
                  <a:srgbClr val="0000FF"/>
                </a:solidFill>
              </a:rPr>
              <a:t>）传递性：</a:t>
            </a:r>
          </a:p>
          <a:p>
            <a:pPr>
              <a:spcBef>
                <a:spcPts val="600"/>
              </a:spcBef>
            </a:pPr>
            <a:r>
              <a:rPr lang="en-US" altLang="zh-CN" sz="2800" i="1" smtClean="0"/>
              <a:t>f</a:t>
            </a:r>
            <a:r>
              <a:rPr lang="en-US" altLang="zh-CN" sz="2800" smtClean="0"/>
              <a:t>(</a:t>
            </a:r>
            <a:r>
              <a:rPr lang="en-US" altLang="zh-CN" sz="2800" i="1" smtClean="0"/>
              <a:t>n</a:t>
            </a:r>
            <a:r>
              <a:rPr lang="en-US" altLang="zh-CN" sz="2800" smtClean="0"/>
              <a:t>)= </a:t>
            </a:r>
            <a:r>
              <a:rPr lang="en-US" altLang="zh-CN" sz="2800" smtClean="0">
                <a:sym typeface="Symbol" panose="05050102010706020507" pitchFamily="18" charset="2"/>
              </a:rPr>
              <a:t></a:t>
            </a:r>
            <a:r>
              <a:rPr lang="en-US" altLang="zh-CN" sz="2800" smtClean="0"/>
              <a:t>(</a:t>
            </a:r>
            <a:r>
              <a:rPr lang="en-US" altLang="zh-CN" sz="2800" i="1" smtClean="0"/>
              <a:t>g</a:t>
            </a:r>
            <a:r>
              <a:rPr lang="en-US" altLang="zh-CN" sz="2800" smtClean="0"/>
              <a:t>(</a:t>
            </a:r>
            <a:r>
              <a:rPr lang="en-US" altLang="zh-CN" sz="2800" i="1" smtClean="0"/>
              <a:t>n</a:t>
            </a:r>
            <a:r>
              <a:rPr lang="en-US" altLang="zh-CN" sz="2800" smtClean="0"/>
              <a:t>))</a:t>
            </a:r>
            <a:r>
              <a:rPr lang="zh-CN" altLang="en-US" sz="2800" smtClean="0"/>
              <a:t>，</a:t>
            </a:r>
            <a:r>
              <a:rPr lang="en-US" altLang="zh-CN" sz="2800" i="1" smtClean="0"/>
              <a:t>g</a:t>
            </a:r>
            <a:r>
              <a:rPr lang="en-US" altLang="zh-CN" sz="2800" smtClean="0"/>
              <a:t>(</a:t>
            </a:r>
            <a:r>
              <a:rPr lang="en-US" altLang="zh-CN" sz="2800" i="1" smtClean="0"/>
              <a:t>n</a:t>
            </a:r>
            <a:r>
              <a:rPr lang="en-US" altLang="zh-CN" sz="2800" smtClean="0"/>
              <a:t>)= </a:t>
            </a:r>
            <a:r>
              <a:rPr lang="en-US" altLang="zh-CN" sz="2800" smtClean="0">
                <a:sym typeface="Symbol" panose="05050102010706020507" pitchFamily="18" charset="2"/>
              </a:rPr>
              <a:t></a:t>
            </a:r>
            <a:r>
              <a:rPr lang="en-US" altLang="zh-CN" sz="2800" smtClean="0"/>
              <a:t>(</a:t>
            </a:r>
            <a:r>
              <a:rPr lang="en-US" altLang="zh-CN" sz="2800" i="1" smtClean="0"/>
              <a:t>h</a:t>
            </a:r>
            <a:r>
              <a:rPr lang="en-US" altLang="zh-CN" sz="2800" smtClean="0"/>
              <a:t>(</a:t>
            </a:r>
            <a:r>
              <a:rPr lang="en-US" altLang="zh-CN" sz="2800" i="1" smtClean="0"/>
              <a:t>n</a:t>
            </a:r>
            <a:r>
              <a:rPr lang="en-US" altLang="zh-CN" sz="2800" smtClean="0"/>
              <a:t>))  </a:t>
            </a:r>
            <a:r>
              <a:rPr lang="en-US" altLang="zh-CN" sz="2400" smtClean="0">
                <a:sym typeface="Symbol" panose="05050102010706020507" pitchFamily="18" charset="2"/>
              </a:rPr>
              <a:t></a:t>
            </a:r>
            <a:r>
              <a:rPr lang="en-US" altLang="zh-CN" sz="2400" smtClean="0"/>
              <a:t>  </a:t>
            </a:r>
            <a:r>
              <a:rPr lang="en-US" altLang="zh-CN" sz="2800" i="1" smtClean="0"/>
              <a:t>f</a:t>
            </a:r>
            <a:r>
              <a:rPr lang="en-US" altLang="zh-CN" sz="2800" smtClean="0"/>
              <a:t>(</a:t>
            </a:r>
            <a:r>
              <a:rPr lang="en-US" altLang="zh-CN" sz="2800" i="1" smtClean="0"/>
              <a:t>n</a:t>
            </a:r>
            <a:r>
              <a:rPr lang="en-US" altLang="zh-CN" sz="2800" smtClean="0"/>
              <a:t>)= </a:t>
            </a:r>
            <a:r>
              <a:rPr lang="en-US" altLang="zh-CN" sz="2800" smtClean="0">
                <a:sym typeface="Symbol" panose="05050102010706020507" pitchFamily="18" charset="2"/>
              </a:rPr>
              <a:t></a:t>
            </a:r>
            <a:r>
              <a:rPr lang="en-US" altLang="zh-CN" sz="2800" smtClean="0"/>
              <a:t>(</a:t>
            </a:r>
            <a:r>
              <a:rPr lang="en-US" altLang="zh-CN" sz="2800" i="1" smtClean="0"/>
              <a:t>h</a:t>
            </a:r>
            <a:r>
              <a:rPr lang="en-US" altLang="zh-CN" sz="2800" smtClean="0"/>
              <a:t>(</a:t>
            </a:r>
            <a:r>
              <a:rPr lang="en-US" altLang="zh-CN" sz="2800" i="1" smtClean="0"/>
              <a:t>n</a:t>
            </a:r>
            <a:r>
              <a:rPr lang="en-US" altLang="zh-CN" sz="2800" smtClean="0"/>
              <a:t>))</a:t>
            </a:r>
            <a:r>
              <a:rPr lang="zh-CN" altLang="en-US" sz="2800" smtClean="0"/>
              <a:t>；</a:t>
            </a:r>
          </a:p>
          <a:p>
            <a:pPr>
              <a:spcBef>
                <a:spcPts val="600"/>
              </a:spcBef>
            </a:pPr>
            <a:r>
              <a:rPr lang="en-US" altLang="zh-CN" sz="2800" i="1" smtClean="0"/>
              <a:t>f</a:t>
            </a:r>
            <a:r>
              <a:rPr lang="en-US" altLang="zh-CN" sz="2800" smtClean="0"/>
              <a:t>(</a:t>
            </a:r>
            <a:r>
              <a:rPr lang="en-US" altLang="zh-CN" sz="2800" i="1" smtClean="0"/>
              <a:t>n</a:t>
            </a:r>
            <a:r>
              <a:rPr lang="en-US" altLang="zh-CN" sz="2800" smtClean="0"/>
              <a:t>)= </a:t>
            </a:r>
            <a:r>
              <a:rPr lang="en-US" altLang="zh-CN" sz="2800" i="1" smtClean="0">
                <a:sym typeface="Symbol" panose="05050102010706020507" pitchFamily="18" charset="2"/>
              </a:rPr>
              <a:t>O</a:t>
            </a:r>
            <a:r>
              <a:rPr lang="en-US" altLang="zh-CN" sz="2800" smtClean="0"/>
              <a:t>(</a:t>
            </a:r>
            <a:r>
              <a:rPr lang="en-US" altLang="zh-CN" sz="2800" i="1" smtClean="0"/>
              <a:t>g</a:t>
            </a:r>
            <a:r>
              <a:rPr lang="en-US" altLang="zh-CN" sz="2800" smtClean="0"/>
              <a:t>(</a:t>
            </a:r>
            <a:r>
              <a:rPr lang="en-US" altLang="zh-CN" sz="2800" i="1" smtClean="0"/>
              <a:t>n</a:t>
            </a:r>
            <a:r>
              <a:rPr lang="en-US" altLang="zh-CN" sz="2800" smtClean="0"/>
              <a:t>))</a:t>
            </a:r>
            <a:r>
              <a:rPr lang="zh-CN" altLang="en-US" sz="2800" smtClean="0"/>
              <a:t>，</a:t>
            </a:r>
            <a:r>
              <a:rPr lang="en-US" altLang="zh-CN" sz="2800" i="1" smtClean="0"/>
              <a:t>g</a:t>
            </a:r>
            <a:r>
              <a:rPr lang="en-US" altLang="zh-CN" sz="2800" smtClean="0"/>
              <a:t>(</a:t>
            </a:r>
            <a:r>
              <a:rPr lang="en-US" altLang="zh-CN" sz="2800" i="1" smtClean="0"/>
              <a:t>n</a:t>
            </a:r>
            <a:r>
              <a:rPr lang="en-US" altLang="zh-CN" sz="2800" smtClean="0"/>
              <a:t>)= </a:t>
            </a:r>
            <a:r>
              <a:rPr lang="en-US" altLang="zh-CN" sz="2800" i="1" smtClean="0">
                <a:sym typeface="Symbol" panose="05050102010706020507" pitchFamily="18" charset="2"/>
              </a:rPr>
              <a:t>O</a:t>
            </a:r>
            <a:r>
              <a:rPr lang="en-US" altLang="zh-CN" sz="2800" smtClean="0">
                <a:sym typeface="Symbol" panose="05050102010706020507" pitchFamily="18" charset="2"/>
              </a:rPr>
              <a:t> </a:t>
            </a:r>
            <a:r>
              <a:rPr lang="en-US" altLang="zh-CN" sz="2800" smtClean="0"/>
              <a:t>(</a:t>
            </a:r>
            <a:r>
              <a:rPr lang="en-US" altLang="zh-CN" sz="2800" i="1" smtClean="0"/>
              <a:t>h</a:t>
            </a:r>
            <a:r>
              <a:rPr lang="en-US" altLang="zh-CN" sz="2800" smtClean="0"/>
              <a:t>(</a:t>
            </a:r>
            <a:r>
              <a:rPr lang="en-US" altLang="zh-CN" sz="2800" i="1" smtClean="0"/>
              <a:t>n</a:t>
            </a:r>
            <a:r>
              <a:rPr lang="en-US" altLang="zh-CN" sz="2800" smtClean="0"/>
              <a:t>)) </a:t>
            </a:r>
            <a:r>
              <a:rPr lang="en-US" altLang="zh-CN" sz="2400" smtClean="0">
                <a:sym typeface="Symbol" panose="05050102010706020507" pitchFamily="18" charset="2"/>
              </a:rPr>
              <a:t></a:t>
            </a:r>
            <a:r>
              <a:rPr lang="en-US" altLang="zh-CN" sz="2400" smtClean="0"/>
              <a:t>  </a:t>
            </a:r>
            <a:r>
              <a:rPr lang="en-US" altLang="zh-CN" sz="2800" i="1" smtClean="0"/>
              <a:t>f</a:t>
            </a:r>
            <a:r>
              <a:rPr lang="en-US" altLang="zh-CN" sz="2800" smtClean="0"/>
              <a:t>(</a:t>
            </a:r>
            <a:r>
              <a:rPr lang="en-US" altLang="zh-CN" sz="2800" i="1" smtClean="0"/>
              <a:t>n</a:t>
            </a:r>
            <a:r>
              <a:rPr lang="en-US" altLang="zh-CN" sz="2800" smtClean="0"/>
              <a:t>)= </a:t>
            </a:r>
            <a:r>
              <a:rPr lang="en-US" altLang="zh-CN" sz="2800" i="1" smtClean="0">
                <a:sym typeface="Symbol" panose="05050102010706020507" pitchFamily="18" charset="2"/>
              </a:rPr>
              <a:t>O</a:t>
            </a:r>
            <a:r>
              <a:rPr lang="en-US" altLang="zh-CN" sz="2800" smtClean="0">
                <a:sym typeface="Symbol" panose="05050102010706020507" pitchFamily="18" charset="2"/>
              </a:rPr>
              <a:t> </a:t>
            </a:r>
            <a:r>
              <a:rPr lang="en-US" altLang="zh-CN" sz="2800" smtClean="0"/>
              <a:t>(</a:t>
            </a:r>
            <a:r>
              <a:rPr lang="en-US" altLang="zh-CN" sz="2800" i="1" smtClean="0"/>
              <a:t>h</a:t>
            </a:r>
            <a:r>
              <a:rPr lang="en-US" altLang="zh-CN" sz="2800" smtClean="0"/>
              <a:t>(</a:t>
            </a:r>
            <a:r>
              <a:rPr lang="en-US" altLang="zh-CN" sz="2800" i="1" smtClean="0"/>
              <a:t>n</a:t>
            </a:r>
            <a:r>
              <a:rPr lang="en-US" altLang="zh-CN" sz="2800" smtClean="0"/>
              <a:t>))</a:t>
            </a:r>
            <a:r>
              <a:rPr lang="zh-CN" altLang="en-US" sz="2800" smtClean="0"/>
              <a:t>；</a:t>
            </a:r>
          </a:p>
          <a:p>
            <a:pPr>
              <a:spcBef>
                <a:spcPts val="600"/>
              </a:spcBef>
            </a:pPr>
            <a:r>
              <a:rPr lang="en-US" altLang="zh-CN" sz="2800" i="1" smtClean="0"/>
              <a:t>f</a:t>
            </a:r>
            <a:r>
              <a:rPr lang="en-US" altLang="zh-CN" sz="2800" smtClean="0"/>
              <a:t>(</a:t>
            </a:r>
            <a:r>
              <a:rPr lang="en-US" altLang="zh-CN" sz="2800" i="1" smtClean="0"/>
              <a:t>n</a:t>
            </a:r>
            <a:r>
              <a:rPr lang="en-US" altLang="zh-CN" sz="2800" smtClean="0"/>
              <a:t>)= </a:t>
            </a:r>
            <a:r>
              <a:rPr lang="en-US" altLang="zh-CN" sz="2800" smtClean="0">
                <a:sym typeface="Symbol" panose="05050102010706020507" pitchFamily="18" charset="2"/>
              </a:rPr>
              <a:t></a:t>
            </a:r>
            <a:r>
              <a:rPr lang="en-US" altLang="zh-CN" sz="2800" smtClean="0"/>
              <a:t>(</a:t>
            </a:r>
            <a:r>
              <a:rPr lang="en-US" altLang="zh-CN" sz="2800" i="1" smtClean="0"/>
              <a:t>g</a:t>
            </a:r>
            <a:r>
              <a:rPr lang="en-US" altLang="zh-CN" sz="2800" smtClean="0"/>
              <a:t>(</a:t>
            </a:r>
            <a:r>
              <a:rPr lang="en-US" altLang="zh-CN" sz="2800" i="1" smtClean="0"/>
              <a:t>n</a:t>
            </a:r>
            <a:r>
              <a:rPr lang="en-US" altLang="zh-CN" sz="2800" smtClean="0"/>
              <a:t>))</a:t>
            </a:r>
            <a:r>
              <a:rPr lang="zh-CN" altLang="en-US" sz="2800" smtClean="0"/>
              <a:t>，</a:t>
            </a:r>
            <a:r>
              <a:rPr lang="en-US" altLang="zh-CN" sz="2800" i="1" smtClean="0"/>
              <a:t>g</a:t>
            </a:r>
            <a:r>
              <a:rPr lang="en-US" altLang="zh-CN" sz="2800" smtClean="0"/>
              <a:t>(</a:t>
            </a:r>
            <a:r>
              <a:rPr lang="en-US" altLang="zh-CN" sz="2800" i="1" smtClean="0"/>
              <a:t>n</a:t>
            </a:r>
            <a:r>
              <a:rPr lang="en-US" altLang="zh-CN" sz="2800" smtClean="0"/>
              <a:t>)= </a:t>
            </a:r>
            <a:r>
              <a:rPr lang="en-US" altLang="zh-CN" sz="2800" smtClean="0">
                <a:sym typeface="Symbol" panose="05050102010706020507" pitchFamily="18" charset="2"/>
              </a:rPr>
              <a:t> </a:t>
            </a:r>
            <a:r>
              <a:rPr lang="en-US" altLang="zh-CN" sz="2800" smtClean="0"/>
              <a:t>(</a:t>
            </a:r>
            <a:r>
              <a:rPr lang="en-US" altLang="zh-CN" sz="2800" i="1" smtClean="0"/>
              <a:t>h</a:t>
            </a:r>
            <a:r>
              <a:rPr lang="en-US" altLang="zh-CN" sz="2800" smtClean="0"/>
              <a:t>(</a:t>
            </a:r>
            <a:r>
              <a:rPr lang="en-US" altLang="zh-CN" sz="2800" i="1" smtClean="0"/>
              <a:t>n</a:t>
            </a:r>
            <a:r>
              <a:rPr lang="en-US" altLang="zh-CN" sz="2800" smtClean="0"/>
              <a:t>)) </a:t>
            </a:r>
            <a:r>
              <a:rPr lang="en-US" altLang="zh-CN" sz="2400" smtClean="0">
                <a:sym typeface="Symbol" panose="05050102010706020507" pitchFamily="18" charset="2"/>
              </a:rPr>
              <a:t></a:t>
            </a:r>
            <a:r>
              <a:rPr lang="en-US" altLang="zh-CN" sz="2400" smtClean="0"/>
              <a:t>  </a:t>
            </a:r>
            <a:r>
              <a:rPr lang="en-US" altLang="zh-CN" sz="2800" i="1" smtClean="0"/>
              <a:t>f</a:t>
            </a:r>
            <a:r>
              <a:rPr lang="en-US" altLang="zh-CN" sz="2800" smtClean="0"/>
              <a:t>(</a:t>
            </a:r>
            <a:r>
              <a:rPr lang="en-US" altLang="zh-CN" sz="2800" i="1" smtClean="0"/>
              <a:t>n</a:t>
            </a:r>
            <a:r>
              <a:rPr lang="en-US" altLang="zh-CN" sz="2800" smtClean="0"/>
              <a:t>)= </a:t>
            </a:r>
            <a:r>
              <a:rPr lang="en-US" altLang="zh-CN" sz="2800" smtClean="0">
                <a:sym typeface="Symbol" panose="05050102010706020507" pitchFamily="18" charset="2"/>
              </a:rPr>
              <a:t></a:t>
            </a:r>
            <a:r>
              <a:rPr lang="en-US" altLang="zh-CN" sz="2800" smtClean="0"/>
              <a:t>(</a:t>
            </a:r>
            <a:r>
              <a:rPr lang="en-US" altLang="zh-CN" sz="2800" i="1" smtClean="0"/>
              <a:t>h</a:t>
            </a:r>
            <a:r>
              <a:rPr lang="en-US" altLang="zh-CN" sz="2800" smtClean="0"/>
              <a:t>(</a:t>
            </a:r>
            <a:r>
              <a:rPr lang="en-US" altLang="zh-CN" sz="2800" i="1" smtClean="0"/>
              <a:t>n</a:t>
            </a:r>
            <a:r>
              <a:rPr lang="en-US" altLang="zh-CN" sz="2800" smtClean="0"/>
              <a:t>))</a:t>
            </a:r>
            <a:r>
              <a:rPr lang="zh-CN" altLang="en-US" sz="2800" smtClean="0"/>
              <a:t>；</a:t>
            </a:r>
          </a:p>
          <a:p>
            <a:pPr>
              <a:spcBef>
                <a:spcPts val="600"/>
              </a:spcBef>
            </a:pPr>
            <a:r>
              <a:rPr lang="en-US" altLang="zh-CN" sz="2800" i="1" smtClean="0"/>
              <a:t>f</a:t>
            </a:r>
            <a:r>
              <a:rPr lang="en-US" altLang="zh-CN" sz="2800" smtClean="0"/>
              <a:t>(</a:t>
            </a:r>
            <a:r>
              <a:rPr lang="en-US" altLang="zh-CN" sz="2800" i="1" smtClean="0"/>
              <a:t>n</a:t>
            </a:r>
            <a:r>
              <a:rPr lang="en-US" altLang="zh-CN" sz="2800" smtClean="0"/>
              <a:t>)= </a:t>
            </a:r>
            <a:r>
              <a:rPr lang="en-US" altLang="zh-CN" sz="2800" i="1" smtClean="0"/>
              <a:t>o</a:t>
            </a:r>
            <a:r>
              <a:rPr lang="en-US" altLang="zh-CN" sz="2800" smtClean="0"/>
              <a:t>(</a:t>
            </a:r>
            <a:r>
              <a:rPr lang="en-US" altLang="zh-CN" sz="2800" i="1" smtClean="0"/>
              <a:t>g</a:t>
            </a:r>
            <a:r>
              <a:rPr lang="en-US" altLang="zh-CN" sz="2800" smtClean="0"/>
              <a:t>(</a:t>
            </a:r>
            <a:r>
              <a:rPr lang="en-US" altLang="zh-CN" sz="2800" i="1" smtClean="0"/>
              <a:t>n</a:t>
            </a:r>
            <a:r>
              <a:rPr lang="en-US" altLang="zh-CN" sz="2800" smtClean="0"/>
              <a:t>))</a:t>
            </a:r>
            <a:r>
              <a:rPr lang="zh-CN" altLang="en-US" sz="2800" smtClean="0"/>
              <a:t>， </a:t>
            </a:r>
            <a:r>
              <a:rPr lang="en-US" altLang="zh-CN" sz="2800" i="1" smtClean="0"/>
              <a:t>g</a:t>
            </a:r>
            <a:r>
              <a:rPr lang="en-US" altLang="zh-CN" sz="2800" smtClean="0"/>
              <a:t>(</a:t>
            </a:r>
            <a:r>
              <a:rPr lang="en-US" altLang="zh-CN" sz="2800" i="1" smtClean="0"/>
              <a:t>n</a:t>
            </a:r>
            <a:r>
              <a:rPr lang="en-US" altLang="zh-CN" sz="2800" smtClean="0"/>
              <a:t>)= </a:t>
            </a:r>
            <a:r>
              <a:rPr lang="en-US" altLang="zh-CN" sz="2800" i="1" smtClean="0"/>
              <a:t>o</a:t>
            </a:r>
            <a:r>
              <a:rPr lang="en-US" altLang="zh-CN" sz="2800" smtClean="0"/>
              <a:t>(</a:t>
            </a:r>
            <a:r>
              <a:rPr lang="en-US" altLang="zh-CN" sz="2800" i="1" smtClean="0"/>
              <a:t>h</a:t>
            </a:r>
            <a:r>
              <a:rPr lang="en-US" altLang="zh-CN" sz="2800" smtClean="0"/>
              <a:t>(</a:t>
            </a:r>
            <a:r>
              <a:rPr lang="en-US" altLang="zh-CN" sz="2800" i="1" smtClean="0"/>
              <a:t>n</a:t>
            </a:r>
            <a:r>
              <a:rPr lang="en-US" altLang="zh-CN" sz="2800" smtClean="0"/>
              <a:t>))   </a:t>
            </a:r>
            <a:r>
              <a:rPr lang="en-US" altLang="zh-CN" sz="2400" smtClean="0">
                <a:sym typeface="Symbol" panose="05050102010706020507" pitchFamily="18" charset="2"/>
              </a:rPr>
              <a:t></a:t>
            </a:r>
            <a:r>
              <a:rPr lang="en-US" altLang="zh-CN" sz="2400" smtClean="0"/>
              <a:t>  </a:t>
            </a:r>
            <a:r>
              <a:rPr lang="en-US" altLang="zh-CN" sz="2800" i="1" smtClean="0"/>
              <a:t>f</a:t>
            </a:r>
            <a:r>
              <a:rPr lang="en-US" altLang="zh-CN" sz="2800" smtClean="0"/>
              <a:t>(</a:t>
            </a:r>
            <a:r>
              <a:rPr lang="en-US" altLang="zh-CN" sz="2800" i="1" smtClean="0"/>
              <a:t>n</a:t>
            </a:r>
            <a:r>
              <a:rPr lang="en-US" altLang="zh-CN" sz="2800" smtClean="0"/>
              <a:t>)= </a:t>
            </a:r>
            <a:r>
              <a:rPr lang="en-US" altLang="zh-CN" sz="2800" i="1" smtClean="0"/>
              <a:t>o</a:t>
            </a:r>
            <a:r>
              <a:rPr lang="en-US" altLang="zh-CN" sz="2800" smtClean="0"/>
              <a:t>(</a:t>
            </a:r>
            <a:r>
              <a:rPr lang="en-US" altLang="zh-CN" sz="2800" i="1" smtClean="0"/>
              <a:t>h</a:t>
            </a:r>
            <a:r>
              <a:rPr lang="en-US" altLang="zh-CN" sz="2800" smtClean="0"/>
              <a:t>(</a:t>
            </a:r>
            <a:r>
              <a:rPr lang="en-US" altLang="zh-CN" sz="2800" i="1" smtClean="0"/>
              <a:t>n</a:t>
            </a:r>
            <a:r>
              <a:rPr lang="en-US" altLang="zh-CN" sz="2800" smtClean="0"/>
              <a:t>))</a:t>
            </a:r>
            <a:r>
              <a:rPr lang="zh-CN" altLang="en-US" sz="2800" smtClean="0"/>
              <a:t>；</a:t>
            </a:r>
          </a:p>
          <a:p>
            <a:pPr>
              <a:spcBef>
                <a:spcPts val="600"/>
              </a:spcBef>
            </a:pPr>
            <a:r>
              <a:rPr lang="en-US" altLang="zh-CN" sz="2800" i="1" smtClean="0"/>
              <a:t>f</a:t>
            </a:r>
            <a:r>
              <a:rPr lang="en-US" altLang="zh-CN" sz="2800" smtClean="0"/>
              <a:t>(</a:t>
            </a:r>
            <a:r>
              <a:rPr lang="en-US" altLang="zh-CN" sz="2800" i="1" smtClean="0"/>
              <a:t>n</a:t>
            </a:r>
            <a:r>
              <a:rPr lang="en-US" altLang="zh-CN" sz="2800" smtClean="0"/>
              <a:t>)= </a:t>
            </a:r>
            <a:r>
              <a:rPr lang="en-US" altLang="zh-CN" sz="2800" i="1" smtClean="0">
                <a:sym typeface="Symbol" panose="05050102010706020507" pitchFamily="18" charset="2"/>
              </a:rPr>
              <a:t></a:t>
            </a:r>
            <a:r>
              <a:rPr lang="en-US" altLang="zh-CN" sz="2800" smtClean="0"/>
              <a:t>(</a:t>
            </a:r>
            <a:r>
              <a:rPr lang="en-US" altLang="zh-CN" sz="2800" i="1" smtClean="0"/>
              <a:t>g</a:t>
            </a:r>
            <a:r>
              <a:rPr lang="en-US" altLang="zh-CN" sz="2800" smtClean="0"/>
              <a:t>(</a:t>
            </a:r>
            <a:r>
              <a:rPr lang="en-US" altLang="zh-CN" sz="2800" i="1" smtClean="0"/>
              <a:t>n</a:t>
            </a:r>
            <a:r>
              <a:rPr lang="en-US" altLang="zh-CN" sz="2800" smtClean="0"/>
              <a:t>))</a:t>
            </a:r>
            <a:r>
              <a:rPr lang="zh-CN" altLang="en-US" sz="2800" smtClean="0"/>
              <a:t>，</a:t>
            </a:r>
            <a:r>
              <a:rPr lang="en-US" altLang="zh-CN" sz="2800" i="1" smtClean="0"/>
              <a:t>g</a:t>
            </a:r>
            <a:r>
              <a:rPr lang="en-US" altLang="zh-CN" sz="2800" smtClean="0"/>
              <a:t>(</a:t>
            </a:r>
            <a:r>
              <a:rPr lang="en-US" altLang="zh-CN" sz="2800" i="1" smtClean="0"/>
              <a:t>n</a:t>
            </a:r>
            <a:r>
              <a:rPr lang="en-US" altLang="zh-CN" sz="2800" smtClean="0"/>
              <a:t>)= </a:t>
            </a:r>
            <a:r>
              <a:rPr lang="en-US" altLang="zh-CN" sz="2800" i="1" smtClean="0">
                <a:sym typeface="Symbol" panose="05050102010706020507" pitchFamily="18" charset="2"/>
              </a:rPr>
              <a:t></a:t>
            </a:r>
            <a:r>
              <a:rPr lang="en-US" altLang="zh-CN" sz="2800" smtClean="0">
                <a:sym typeface="Symbol" panose="05050102010706020507" pitchFamily="18" charset="2"/>
              </a:rPr>
              <a:t> </a:t>
            </a:r>
            <a:r>
              <a:rPr lang="en-US" altLang="zh-CN" sz="2800" smtClean="0"/>
              <a:t>(</a:t>
            </a:r>
            <a:r>
              <a:rPr lang="en-US" altLang="zh-CN" sz="2800" i="1" smtClean="0"/>
              <a:t>h</a:t>
            </a:r>
            <a:r>
              <a:rPr lang="en-US" altLang="zh-CN" sz="2800" smtClean="0"/>
              <a:t>(</a:t>
            </a:r>
            <a:r>
              <a:rPr lang="en-US" altLang="zh-CN" sz="2800" i="1" smtClean="0"/>
              <a:t>n</a:t>
            </a:r>
            <a:r>
              <a:rPr lang="en-US" altLang="zh-CN" sz="2800" smtClean="0"/>
              <a:t>)) </a:t>
            </a:r>
            <a:r>
              <a:rPr lang="en-US" altLang="zh-CN" sz="2400" smtClean="0">
                <a:sym typeface="Symbol" panose="05050102010706020507" pitchFamily="18" charset="2"/>
              </a:rPr>
              <a:t></a:t>
            </a:r>
            <a:r>
              <a:rPr lang="en-US" altLang="zh-CN" sz="2400" smtClean="0"/>
              <a:t>  </a:t>
            </a:r>
            <a:r>
              <a:rPr lang="en-US" altLang="zh-CN" sz="2800" i="1" smtClean="0"/>
              <a:t>f</a:t>
            </a:r>
            <a:r>
              <a:rPr lang="en-US" altLang="zh-CN" sz="2800" smtClean="0"/>
              <a:t>(</a:t>
            </a:r>
            <a:r>
              <a:rPr lang="en-US" altLang="zh-CN" sz="2800" i="1" smtClean="0"/>
              <a:t>n</a:t>
            </a:r>
            <a:r>
              <a:rPr lang="en-US" altLang="zh-CN" sz="2800" smtClean="0"/>
              <a:t>)= </a:t>
            </a:r>
            <a:r>
              <a:rPr lang="en-US" altLang="zh-CN" sz="2800" i="1" smtClean="0">
                <a:sym typeface="Symbol" panose="05050102010706020507" pitchFamily="18" charset="2"/>
              </a:rPr>
              <a:t></a:t>
            </a:r>
            <a:r>
              <a:rPr lang="en-US" altLang="zh-CN" sz="2800" smtClean="0">
                <a:sym typeface="Symbol" panose="05050102010706020507" pitchFamily="18" charset="2"/>
              </a:rPr>
              <a:t> </a:t>
            </a:r>
            <a:r>
              <a:rPr lang="en-US" altLang="zh-CN" sz="2800" smtClean="0"/>
              <a:t>(</a:t>
            </a:r>
            <a:r>
              <a:rPr lang="en-US" altLang="zh-CN" sz="2800" i="1" smtClean="0"/>
              <a:t>h</a:t>
            </a:r>
            <a:r>
              <a:rPr lang="en-US" altLang="zh-CN" sz="2800" smtClean="0"/>
              <a:t>(</a:t>
            </a:r>
            <a:r>
              <a:rPr lang="en-US" altLang="zh-CN" sz="2800" i="1" smtClean="0"/>
              <a:t>n</a:t>
            </a:r>
            <a:r>
              <a:rPr lang="en-US" altLang="zh-CN" sz="2800" smtClean="0"/>
              <a:t>))</a:t>
            </a:r>
            <a:r>
              <a:rPr lang="zh-CN" altLang="en-US" sz="2800" smtClean="0"/>
              <a:t>；</a:t>
            </a:r>
          </a:p>
          <a:p>
            <a:pPr eaLnBrk="1" hangingPunct="1">
              <a:buFontTx/>
              <a:buNone/>
            </a:pPr>
            <a:endParaRPr lang="en-US" altLang="zh-CN" sz="1800" smtClean="0">
              <a:sym typeface="Symbol" panose="05050102010706020507" pitchFamily="18" charset="2"/>
            </a:endParaRPr>
          </a:p>
        </p:txBody>
      </p:sp>
    </p:spTree>
    <p:extLst>
      <p:ext uri="{BB962C8B-B14F-4D97-AF65-F5344CB8AC3E}">
        <p14:creationId xmlns:p14="http://schemas.microsoft.com/office/powerpoint/2010/main" val="17445903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78851" name="Rectangle 2"/>
          <p:cNvSpPr>
            <a:spLocks noGrp="1" noChangeArrowheads="1"/>
          </p:cNvSpPr>
          <p:nvPr>
            <p:ph type="title"/>
          </p:nvPr>
        </p:nvSpPr>
        <p:spPr/>
        <p:txBody>
          <a:bodyPr/>
          <a:lstStyle/>
          <a:p>
            <a:pPr eaLnBrk="1" hangingPunct="1"/>
            <a:r>
              <a:rPr lang="zh-CN" altLang="en-US" smtClean="0"/>
              <a:t>渐近记号的若干性质</a:t>
            </a:r>
            <a:endParaRPr lang="en-US" altLang="zh-CN" smtClean="0"/>
          </a:p>
        </p:txBody>
      </p:sp>
      <p:sp>
        <p:nvSpPr>
          <p:cNvPr id="78852" name="Rectangle 3"/>
          <p:cNvSpPr>
            <a:spLocks noGrp="1" noChangeArrowheads="1"/>
          </p:cNvSpPr>
          <p:nvPr>
            <p:ph type="body" idx="1"/>
          </p:nvPr>
        </p:nvSpPr>
        <p:spPr/>
        <p:txBody>
          <a:bodyPr/>
          <a:lstStyle/>
          <a:p>
            <a:r>
              <a:rPr lang="zh-CN" altLang="en-US" sz="2800" b="1" smtClean="0">
                <a:solidFill>
                  <a:srgbClr val="0000FF"/>
                </a:solidFill>
              </a:rPr>
              <a:t>（</a:t>
            </a:r>
            <a:r>
              <a:rPr lang="en-US" altLang="zh-CN" sz="2800" b="1" smtClean="0">
                <a:solidFill>
                  <a:srgbClr val="0000FF"/>
                </a:solidFill>
              </a:rPr>
              <a:t>2</a:t>
            </a:r>
            <a:r>
              <a:rPr lang="zh-CN" altLang="en-US" sz="2800" b="1" smtClean="0">
                <a:solidFill>
                  <a:srgbClr val="0000FF"/>
                </a:solidFill>
              </a:rPr>
              <a:t>）反身性：</a:t>
            </a:r>
          </a:p>
          <a:p>
            <a:r>
              <a:rPr lang="en-US" altLang="zh-CN" sz="2800" i="1" smtClean="0"/>
              <a:t>f</a:t>
            </a:r>
            <a:r>
              <a:rPr lang="en-US" altLang="zh-CN" sz="2800" smtClean="0"/>
              <a:t>(</a:t>
            </a:r>
            <a:r>
              <a:rPr lang="en-US" altLang="zh-CN" sz="2800" i="1" smtClean="0"/>
              <a:t>n</a:t>
            </a:r>
            <a:r>
              <a:rPr lang="en-US" altLang="zh-CN" sz="2800" smtClean="0"/>
              <a:t>)= </a:t>
            </a:r>
            <a:r>
              <a:rPr lang="en-US" altLang="zh-CN" sz="2800" smtClean="0">
                <a:sym typeface="Symbol" panose="05050102010706020507" pitchFamily="18" charset="2"/>
              </a:rPr>
              <a:t></a:t>
            </a:r>
            <a:r>
              <a:rPr lang="en-US" altLang="zh-CN" sz="2800" smtClean="0"/>
              <a:t>(</a:t>
            </a:r>
            <a:r>
              <a:rPr lang="en-US" altLang="zh-CN" sz="2800" i="1" smtClean="0"/>
              <a:t>f</a:t>
            </a:r>
            <a:r>
              <a:rPr lang="en-US" altLang="zh-CN" sz="2800" smtClean="0"/>
              <a:t>(</a:t>
            </a:r>
            <a:r>
              <a:rPr lang="en-US" altLang="zh-CN" sz="2800" i="1" smtClean="0"/>
              <a:t>n</a:t>
            </a:r>
            <a:r>
              <a:rPr lang="en-US" altLang="zh-CN" sz="2800" smtClean="0"/>
              <a:t>))</a:t>
            </a:r>
            <a:r>
              <a:rPr lang="zh-CN" altLang="en-US" sz="2800" smtClean="0"/>
              <a:t>；</a:t>
            </a:r>
          </a:p>
          <a:p>
            <a:r>
              <a:rPr lang="en-US" altLang="zh-CN" sz="2800" i="1" smtClean="0"/>
              <a:t>f</a:t>
            </a:r>
            <a:r>
              <a:rPr lang="en-US" altLang="zh-CN" sz="2800" smtClean="0"/>
              <a:t>(</a:t>
            </a:r>
            <a:r>
              <a:rPr lang="en-US" altLang="zh-CN" sz="2800" i="1" smtClean="0"/>
              <a:t>n</a:t>
            </a:r>
            <a:r>
              <a:rPr lang="en-US" altLang="zh-CN" sz="2800" smtClean="0"/>
              <a:t>)= </a:t>
            </a:r>
            <a:r>
              <a:rPr lang="en-US" altLang="zh-CN" sz="2800" i="1" smtClean="0">
                <a:sym typeface="Symbol" panose="05050102010706020507" pitchFamily="18" charset="2"/>
              </a:rPr>
              <a:t>O</a:t>
            </a:r>
            <a:r>
              <a:rPr lang="en-US" altLang="zh-CN" sz="2800" smtClean="0"/>
              <a:t>(</a:t>
            </a:r>
            <a:r>
              <a:rPr lang="en-US" altLang="zh-CN" sz="2800" i="1" smtClean="0"/>
              <a:t>f</a:t>
            </a:r>
            <a:r>
              <a:rPr lang="en-US" altLang="zh-CN" sz="2800" smtClean="0"/>
              <a:t>(</a:t>
            </a:r>
            <a:r>
              <a:rPr lang="en-US" altLang="zh-CN" sz="2800" i="1" smtClean="0"/>
              <a:t>n</a:t>
            </a:r>
            <a:r>
              <a:rPr lang="en-US" altLang="zh-CN" sz="2800" smtClean="0"/>
              <a:t>))</a:t>
            </a:r>
            <a:r>
              <a:rPr lang="zh-CN" altLang="en-US" sz="2800" smtClean="0"/>
              <a:t>；</a:t>
            </a:r>
          </a:p>
          <a:p>
            <a:r>
              <a:rPr lang="en-US" altLang="zh-CN" sz="2800" i="1" smtClean="0"/>
              <a:t>f</a:t>
            </a:r>
            <a:r>
              <a:rPr lang="en-US" altLang="zh-CN" sz="2800" smtClean="0"/>
              <a:t>(</a:t>
            </a:r>
            <a:r>
              <a:rPr lang="en-US" altLang="zh-CN" sz="2800" i="1" smtClean="0"/>
              <a:t>n</a:t>
            </a:r>
            <a:r>
              <a:rPr lang="en-US" altLang="zh-CN" sz="2800" smtClean="0"/>
              <a:t>)= </a:t>
            </a:r>
            <a:r>
              <a:rPr lang="en-US" altLang="zh-CN" sz="2800" smtClean="0">
                <a:sym typeface="Symbol" panose="05050102010706020507" pitchFamily="18" charset="2"/>
              </a:rPr>
              <a:t></a:t>
            </a:r>
            <a:r>
              <a:rPr lang="en-US" altLang="zh-CN" sz="2800" smtClean="0"/>
              <a:t>(</a:t>
            </a:r>
            <a:r>
              <a:rPr lang="en-US" altLang="zh-CN" sz="2800" i="1" smtClean="0"/>
              <a:t>f</a:t>
            </a:r>
            <a:r>
              <a:rPr lang="en-US" altLang="zh-CN" sz="2800" smtClean="0"/>
              <a:t>(</a:t>
            </a:r>
            <a:r>
              <a:rPr lang="en-US" altLang="zh-CN" sz="2800" i="1" smtClean="0"/>
              <a:t>n</a:t>
            </a:r>
            <a:r>
              <a:rPr lang="en-US" altLang="zh-CN" sz="2800" smtClean="0"/>
              <a:t>)).</a:t>
            </a:r>
          </a:p>
          <a:p>
            <a:r>
              <a:rPr lang="zh-CN" altLang="en-US" sz="2800" b="1" smtClean="0">
                <a:solidFill>
                  <a:srgbClr val="0000FF"/>
                </a:solidFill>
              </a:rPr>
              <a:t>（</a:t>
            </a:r>
            <a:r>
              <a:rPr lang="en-US" altLang="zh-CN" sz="2800" b="1" smtClean="0">
                <a:solidFill>
                  <a:srgbClr val="0000FF"/>
                </a:solidFill>
              </a:rPr>
              <a:t>3</a:t>
            </a:r>
            <a:r>
              <a:rPr lang="zh-CN" altLang="en-US" sz="2800" b="1" smtClean="0">
                <a:solidFill>
                  <a:srgbClr val="0000FF"/>
                </a:solidFill>
              </a:rPr>
              <a:t>）对称性：</a:t>
            </a:r>
            <a:endParaRPr lang="zh-CN" altLang="en-US" sz="2800" smtClean="0"/>
          </a:p>
          <a:p>
            <a:r>
              <a:rPr lang="en-US" altLang="zh-CN" sz="2800" i="1" smtClean="0"/>
              <a:t>f</a:t>
            </a:r>
            <a:r>
              <a:rPr lang="en-US" altLang="zh-CN" sz="2800" smtClean="0"/>
              <a:t>(</a:t>
            </a:r>
            <a:r>
              <a:rPr lang="en-US" altLang="zh-CN" sz="2800" i="1" smtClean="0"/>
              <a:t>n</a:t>
            </a:r>
            <a:r>
              <a:rPr lang="en-US" altLang="zh-CN" sz="2800" smtClean="0"/>
              <a:t>)= </a:t>
            </a:r>
            <a:r>
              <a:rPr lang="en-US" altLang="zh-CN" sz="2800" smtClean="0">
                <a:sym typeface="Symbol" panose="05050102010706020507" pitchFamily="18" charset="2"/>
              </a:rPr>
              <a:t></a:t>
            </a:r>
            <a:r>
              <a:rPr lang="en-US" altLang="zh-CN" sz="2800" smtClean="0"/>
              <a:t>(</a:t>
            </a:r>
            <a:r>
              <a:rPr lang="en-US" altLang="zh-CN" sz="2800" i="1" smtClean="0"/>
              <a:t>g</a:t>
            </a:r>
            <a:r>
              <a:rPr lang="en-US" altLang="zh-CN" sz="2800" smtClean="0"/>
              <a:t>(</a:t>
            </a:r>
            <a:r>
              <a:rPr lang="en-US" altLang="zh-CN" sz="2800" i="1" smtClean="0"/>
              <a:t>n</a:t>
            </a:r>
            <a:r>
              <a:rPr lang="en-US" altLang="zh-CN" sz="2800" smtClean="0"/>
              <a:t>)) </a:t>
            </a:r>
            <a:r>
              <a:rPr lang="en-US" altLang="zh-CN" sz="2400" smtClean="0">
                <a:sym typeface="Symbol" panose="05050102010706020507" pitchFamily="18" charset="2"/>
              </a:rPr>
              <a:t></a:t>
            </a:r>
            <a:r>
              <a:rPr lang="en-US" altLang="zh-CN" sz="2400" smtClean="0"/>
              <a:t> </a:t>
            </a:r>
            <a:r>
              <a:rPr lang="en-US" altLang="zh-CN" sz="2800" i="1" smtClean="0"/>
              <a:t>g</a:t>
            </a:r>
            <a:r>
              <a:rPr lang="en-US" altLang="zh-CN" sz="2800" smtClean="0"/>
              <a:t>(</a:t>
            </a:r>
            <a:r>
              <a:rPr lang="en-US" altLang="zh-CN" sz="2800" i="1" smtClean="0"/>
              <a:t>n</a:t>
            </a:r>
            <a:r>
              <a:rPr lang="en-US" altLang="zh-CN" sz="2800" smtClean="0"/>
              <a:t>)= </a:t>
            </a:r>
            <a:r>
              <a:rPr lang="en-US" altLang="zh-CN" sz="2800" smtClean="0">
                <a:sym typeface="Symbol" panose="05050102010706020507" pitchFamily="18" charset="2"/>
              </a:rPr>
              <a:t> </a:t>
            </a:r>
            <a:r>
              <a:rPr lang="en-US" altLang="zh-CN" sz="2800" smtClean="0"/>
              <a:t>(</a:t>
            </a:r>
            <a:r>
              <a:rPr lang="en-US" altLang="zh-CN" sz="2800" i="1" smtClean="0"/>
              <a:t>f</a:t>
            </a:r>
            <a:r>
              <a:rPr lang="en-US" altLang="zh-CN" sz="2800" smtClean="0"/>
              <a:t>(</a:t>
            </a:r>
            <a:r>
              <a:rPr lang="en-US" altLang="zh-CN" sz="2800" i="1" smtClean="0"/>
              <a:t>n</a:t>
            </a:r>
            <a:r>
              <a:rPr lang="en-US" altLang="zh-CN" sz="2800" smtClean="0"/>
              <a:t>)) </a:t>
            </a:r>
            <a:r>
              <a:rPr lang="en-US" altLang="zh-CN" sz="2400" smtClean="0">
                <a:sym typeface="Symbol" panose="05050102010706020507" pitchFamily="18" charset="2"/>
              </a:rPr>
              <a:t>.</a:t>
            </a:r>
          </a:p>
          <a:p>
            <a:r>
              <a:rPr lang="zh-CN" altLang="en-US" sz="2800" b="1" smtClean="0">
                <a:solidFill>
                  <a:srgbClr val="0000FF"/>
                </a:solidFill>
              </a:rPr>
              <a:t>（</a:t>
            </a:r>
            <a:r>
              <a:rPr lang="en-US" altLang="zh-CN" sz="2800" b="1" smtClean="0">
                <a:solidFill>
                  <a:srgbClr val="0000FF"/>
                </a:solidFill>
              </a:rPr>
              <a:t>4</a:t>
            </a:r>
            <a:r>
              <a:rPr lang="zh-CN" altLang="en-US" sz="2800" b="1" smtClean="0">
                <a:solidFill>
                  <a:srgbClr val="0000FF"/>
                </a:solidFill>
              </a:rPr>
              <a:t>）互对称性：</a:t>
            </a:r>
            <a:endParaRPr lang="zh-CN" altLang="en-US" sz="2800" smtClean="0"/>
          </a:p>
          <a:p>
            <a:r>
              <a:rPr lang="en-US" altLang="zh-CN" sz="2800" i="1" smtClean="0"/>
              <a:t>f</a:t>
            </a:r>
            <a:r>
              <a:rPr lang="en-US" altLang="zh-CN" sz="2800" smtClean="0"/>
              <a:t>(</a:t>
            </a:r>
            <a:r>
              <a:rPr lang="en-US" altLang="zh-CN" sz="2800" i="1" smtClean="0"/>
              <a:t>n</a:t>
            </a:r>
            <a:r>
              <a:rPr lang="en-US" altLang="zh-CN" sz="2800" smtClean="0"/>
              <a:t>)= </a:t>
            </a:r>
            <a:r>
              <a:rPr lang="en-US" altLang="zh-CN" sz="2800" i="1" smtClean="0"/>
              <a:t>O</a:t>
            </a:r>
            <a:r>
              <a:rPr lang="en-US" altLang="zh-CN" sz="2800" smtClean="0"/>
              <a:t>(</a:t>
            </a:r>
            <a:r>
              <a:rPr lang="en-US" altLang="zh-CN" sz="2800" i="1" smtClean="0"/>
              <a:t>g</a:t>
            </a:r>
            <a:r>
              <a:rPr lang="en-US" altLang="zh-CN" sz="2800" smtClean="0"/>
              <a:t>(</a:t>
            </a:r>
            <a:r>
              <a:rPr lang="en-US" altLang="zh-CN" sz="2800" i="1" smtClean="0"/>
              <a:t>n</a:t>
            </a:r>
            <a:r>
              <a:rPr lang="en-US" altLang="zh-CN" sz="2800" smtClean="0"/>
              <a:t>)) </a:t>
            </a:r>
            <a:r>
              <a:rPr lang="en-US" altLang="zh-CN" sz="2400" smtClean="0">
                <a:sym typeface="Symbol" panose="05050102010706020507" pitchFamily="18" charset="2"/>
              </a:rPr>
              <a:t></a:t>
            </a:r>
            <a:r>
              <a:rPr lang="en-US" altLang="zh-CN" sz="2400" smtClean="0"/>
              <a:t> </a:t>
            </a:r>
            <a:r>
              <a:rPr lang="en-US" altLang="zh-CN" sz="2800" i="1" smtClean="0"/>
              <a:t>g</a:t>
            </a:r>
            <a:r>
              <a:rPr lang="en-US" altLang="zh-CN" sz="2800" smtClean="0"/>
              <a:t>(</a:t>
            </a:r>
            <a:r>
              <a:rPr lang="en-US" altLang="zh-CN" sz="2800" i="1" smtClean="0"/>
              <a:t>n</a:t>
            </a:r>
            <a:r>
              <a:rPr lang="en-US" altLang="zh-CN" sz="2800" smtClean="0"/>
              <a:t>)= </a:t>
            </a:r>
            <a:r>
              <a:rPr lang="en-US" altLang="zh-CN" sz="2800" smtClean="0">
                <a:sym typeface="Symbol" panose="05050102010706020507" pitchFamily="18" charset="2"/>
              </a:rPr>
              <a:t> </a:t>
            </a:r>
            <a:r>
              <a:rPr lang="en-US" altLang="zh-CN" sz="2800" smtClean="0"/>
              <a:t>(</a:t>
            </a:r>
            <a:r>
              <a:rPr lang="en-US" altLang="zh-CN" sz="2800" i="1" smtClean="0"/>
              <a:t>f</a:t>
            </a:r>
            <a:r>
              <a:rPr lang="en-US" altLang="zh-CN" sz="2800" smtClean="0"/>
              <a:t>(</a:t>
            </a:r>
            <a:r>
              <a:rPr lang="en-US" altLang="zh-CN" sz="2800" i="1" smtClean="0"/>
              <a:t>n</a:t>
            </a:r>
            <a:r>
              <a:rPr lang="en-US" altLang="zh-CN" sz="2800" smtClean="0"/>
              <a:t>)) </a:t>
            </a:r>
            <a:r>
              <a:rPr lang="zh-CN" altLang="en-US" sz="2800" smtClean="0"/>
              <a:t>；</a:t>
            </a:r>
          </a:p>
          <a:p>
            <a:r>
              <a:rPr lang="en-US" altLang="zh-CN" sz="2800" i="1" smtClean="0"/>
              <a:t>f</a:t>
            </a:r>
            <a:r>
              <a:rPr lang="en-US" altLang="zh-CN" sz="2800" smtClean="0"/>
              <a:t>(</a:t>
            </a:r>
            <a:r>
              <a:rPr lang="en-US" altLang="zh-CN" sz="2800" i="1" smtClean="0"/>
              <a:t>n</a:t>
            </a:r>
            <a:r>
              <a:rPr lang="en-US" altLang="zh-CN" sz="2800" smtClean="0"/>
              <a:t>)= </a:t>
            </a:r>
            <a:r>
              <a:rPr lang="en-US" altLang="zh-CN" sz="2800" i="1" smtClean="0"/>
              <a:t>o</a:t>
            </a:r>
            <a:r>
              <a:rPr lang="en-US" altLang="zh-CN" sz="2800" smtClean="0"/>
              <a:t>(</a:t>
            </a:r>
            <a:r>
              <a:rPr lang="en-US" altLang="zh-CN" sz="2800" i="1" smtClean="0"/>
              <a:t>g</a:t>
            </a:r>
            <a:r>
              <a:rPr lang="en-US" altLang="zh-CN" sz="2800" smtClean="0"/>
              <a:t>(</a:t>
            </a:r>
            <a:r>
              <a:rPr lang="en-US" altLang="zh-CN" sz="2800" i="1" smtClean="0"/>
              <a:t>n</a:t>
            </a:r>
            <a:r>
              <a:rPr lang="en-US" altLang="zh-CN" sz="2800" smtClean="0"/>
              <a:t>)) </a:t>
            </a:r>
            <a:r>
              <a:rPr lang="en-US" altLang="zh-CN" sz="2400" smtClean="0">
                <a:sym typeface="Symbol" panose="05050102010706020507" pitchFamily="18" charset="2"/>
              </a:rPr>
              <a:t></a:t>
            </a:r>
            <a:r>
              <a:rPr lang="en-US" altLang="zh-CN" sz="2400" smtClean="0"/>
              <a:t> </a:t>
            </a:r>
            <a:r>
              <a:rPr lang="en-US" altLang="zh-CN" sz="2800" i="1" smtClean="0"/>
              <a:t>g</a:t>
            </a:r>
            <a:r>
              <a:rPr lang="en-US" altLang="zh-CN" sz="2800" smtClean="0"/>
              <a:t>(</a:t>
            </a:r>
            <a:r>
              <a:rPr lang="en-US" altLang="zh-CN" sz="2800" i="1" smtClean="0"/>
              <a:t>n</a:t>
            </a:r>
            <a:r>
              <a:rPr lang="en-US" altLang="zh-CN" sz="2800" smtClean="0"/>
              <a:t>)= </a:t>
            </a:r>
            <a:r>
              <a:rPr lang="en-US" altLang="zh-CN" sz="2800" i="1" smtClean="0">
                <a:sym typeface="Symbol" panose="05050102010706020507" pitchFamily="18" charset="2"/>
              </a:rPr>
              <a:t></a:t>
            </a:r>
            <a:r>
              <a:rPr lang="en-US" altLang="zh-CN" sz="2800" smtClean="0">
                <a:sym typeface="Symbol" panose="05050102010706020507" pitchFamily="18" charset="2"/>
              </a:rPr>
              <a:t> </a:t>
            </a:r>
            <a:r>
              <a:rPr lang="en-US" altLang="zh-CN" sz="2800" smtClean="0"/>
              <a:t>(</a:t>
            </a:r>
            <a:r>
              <a:rPr lang="en-US" altLang="zh-CN" sz="2800" i="1" smtClean="0"/>
              <a:t>f</a:t>
            </a:r>
            <a:r>
              <a:rPr lang="en-US" altLang="zh-CN" sz="2800" smtClean="0"/>
              <a:t>(</a:t>
            </a:r>
            <a:r>
              <a:rPr lang="en-US" altLang="zh-CN" sz="2800" i="1" smtClean="0"/>
              <a:t>n</a:t>
            </a:r>
            <a:r>
              <a:rPr lang="en-US" altLang="zh-CN" sz="2800" smtClean="0"/>
              <a:t>)) </a:t>
            </a:r>
            <a:r>
              <a:rPr lang="zh-CN" altLang="en-US" sz="2800" smtClean="0"/>
              <a:t>；</a:t>
            </a:r>
          </a:p>
          <a:p>
            <a:pPr eaLnBrk="1" hangingPunct="1">
              <a:buFontTx/>
              <a:buNone/>
            </a:pPr>
            <a:endParaRPr lang="en-US" altLang="zh-CN" sz="1800" smtClean="0">
              <a:sym typeface="Symbol" panose="05050102010706020507" pitchFamily="18" charset="2"/>
            </a:endParaRPr>
          </a:p>
        </p:txBody>
      </p:sp>
    </p:spTree>
    <p:extLst>
      <p:ext uri="{BB962C8B-B14F-4D97-AF65-F5344CB8AC3E}">
        <p14:creationId xmlns:p14="http://schemas.microsoft.com/office/powerpoint/2010/main" val="148293994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79875" name="Rectangle 2"/>
          <p:cNvSpPr>
            <a:spLocks noGrp="1" noChangeArrowheads="1"/>
          </p:cNvSpPr>
          <p:nvPr>
            <p:ph type="title"/>
          </p:nvPr>
        </p:nvSpPr>
        <p:spPr/>
        <p:txBody>
          <a:bodyPr/>
          <a:lstStyle/>
          <a:p>
            <a:pPr eaLnBrk="1" hangingPunct="1"/>
            <a:r>
              <a:rPr lang="zh-CN" altLang="en-US" smtClean="0"/>
              <a:t>渐近记号的若干性质</a:t>
            </a:r>
            <a:endParaRPr lang="en-US" altLang="zh-CN" smtClean="0"/>
          </a:p>
        </p:txBody>
      </p:sp>
      <p:sp>
        <p:nvSpPr>
          <p:cNvPr id="79876" name="Rectangle 3"/>
          <p:cNvSpPr>
            <a:spLocks noGrp="1" noChangeArrowheads="1"/>
          </p:cNvSpPr>
          <p:nvPr>
            <p:ph type="body" idx="1"/>
          </p:nvPr>
        </p:nvSpPr>
        <p:spPr/>
        <p:txBody>
          <a:bodyPr/>
          <a:lstStyle/>
          <a:p>
            <a:r>
              <a:rPr lang="zh-CN" altLang="en-US" sz="2800" b="1" smtClean="0">
                <a:solidFill>
                  <a:srgbClr val="0000FF"/>
                </a:solidFill>
              </a:rPr>
              <a:t>（</a:t>
            </a:r>
            <a:r>
              <a:rPr lang="en-US" altLang="zh-CN" sz="2800" b="1" smtClean="0">
                <a:solidFill>
                  <a:srgbClr val="0000FF"/>
                </a:solidFill>
              </a:rPr>
              <a:t>5</a:t>
            </a:r>
            <a:r>
              <a:rPr lang="zh-CN" altLang="en-US" sz="2800" b="1" smtClean="0">
                <a:solidFill>
                  <a:srgbClr val="0000FF"/>
                </a:solidFill>
              </a:rPr>
              <a:t>）算术运算：</a:t>
            </a:r>
          </a:p>
          <a:p>
            <a:r>
              <a:rPr lang="en-US" altLang="zh-CN" sz="2800" i="1" smtClean="0"/>
              <a:t>O</a:t>
            </a:r>
            <a:r>
              <a:rPr lang="en-US" altLang="zh-CN" sz="2800" smtClean="0"/>
              <a:t>(</a:t>
            </a:r>
            <a:r>
              <a:rPr lang="en-US" altLang="zh-CN" sz="2800" i="1" smtClean="0"/>
              <a:t>f</a:t>
            </a:r>
            <a:r>
              <a:rPr lang="en-US" altLang="zh-CN" sz="2800" smtClean="0"/>
              <a:t>(</a:t>
            </a:r>
            <a:r>
              <a:rPr lang="en-US" altLang="zh-CN" sz="2800" i="1" smtClean="0"/>
              <a:t>n</a:t>
            </a:r>
            <a:r>
              <a:rPr lang="en-US" altLang="zh-CN" sz="2800" smtClean="0"/>
              <a:t>))+</a:t>
            </a:r>
            <a:r>
              <a:rPr lang="en-US" altLang="zh-CN" sz="2800" i="1" smtClean="0"/>
              <a:t>O</a:t>
            </a:r>
            <a:r>
              <a:rPr lang="en-US" altLang="zh-CN" sz="2800" smtClean="0"/>
              <a:t>(</a:t>
            </a:r>
            <a:r>
              <a:rPr lang="en-US" altLang="zh-CN" sz="2800" i="1" smtClean="0"/>
              <a:t>g</a:t>
            </a:r>
            <a:r>
              <a:rPr lang="en-US" altLang="zh-CN" sz="2800" smtClean="0"/>
              <a:t>(</a:t>
            </a:r>
            <a:r>
              <a:rPr lang="en-US" altLang="zh-CN" sz="2800" i="1" smtClean="0"/>
              <a:t>n</a:t>
            </a:r>
            <a:r>
              <a:rPr lang="en-US" altLang="zh-CN" sz="2800" smtClean="0"/>
              <a:t>)) </a:t>
            </a:r>
            <a:r>
              <a:rPr lang="en-US" altLang="zh-CN" sz="2800" smtClean="0">
                <a:sym typeface="Symbol" panose="05050102010706020507" pitchFamily="18" charset="2"/>
              </a:rPr>
              <a:t>=</a:t>
            </a:r>
            <a:r>
              <a:rPr lang="en-US" altLang="zh-CN" sz="2800" smtClean="0"/>
              <a:t> </a:t>
            </a:r>
            <a:r>
              <a:rPr lang="en-US" altLang="zh-CN" sz="2800" i="1" smtClean="0"/>
              <a:t>O</a:t>
            </a:r>
            <a:r>
              <a:rPr lang="en-US" altLang="zh-CN" sz="2800" smtClean="0"/>
              <a:t>(max{</a:t>
            </a:r>
            <a:r>
              <a:rPr lang="en-US" altLang="zh-CN" sz="2800" i="1" smtClean="0"/>
              <a:t>f</a:t>
            </a:r>
            <a:r>
              <a:rPr lang="en-US" altLang="zh-CN" sz="2800" smtClean="0"/>
              <a:t>(n),</a:t>
            </a:r>
            <a:r>
              <a:rPr lang="en-US" altLang="zh-CN" sz="2800" i="1" smtClean="0"/>
              <a:t>g</a:t>
            </a:r>
            <a:r>
              <a:rPr lang="en-US" altLang="zh-CN" sz="2800" smtClean="0"/>
              <a:t>(</a:t>
            </a:r>
            <a:r>
              <a:rPr lang="en-US" altLang="zh-CN" sz="2800" i="1" smtClean="0"/>
              <a:t>n</a:t>
            </a:r>
            <a:r>
              <a:rPr lang="en-US" altLang="zh-CN" sz="2800" smtClean="0"/>
              <a:t>)}) </a:t>
            </a:r>
            <a:r>
              <a:rPr lang="zh-CN" altLang="en-US" sz="2800" smtClean="0"/>
              <a:t>；</a:t>
            </a:r>
          </a:p>
          <a:p>
            <a:r>
              <a:rPr lang="en-US" altLang="zh-CN" sz="2800" i="1" smtClean="0"/>
              <a:t>O</a:t>
            </a:r>
            <a:r>
              <a:rPr lang="en-US" altLang="zh-CN" sz="2800" smtClean="0"/>
              <a:t>(</a:t>
            </a:r>
            <a:r>
              <a:rPr lang="en-US" altLang="zh-CN" sz="2800" i="1" smtClean="0"/>
              <a:t>f</a:t>
            </a:r>
            <a:r>
              <a:rPr lang="en-US" altLang="zh-CN" sz="2800" smtClean="0"/>
              <a:t>(</a:t>
            </a:r>
            <a:r>
              <a:rPr lang="en-US" altLang="zh-CN" sz="2800" i="1" smtClean="0"/>
              <a:t>n</a:t>
            </a:r>
            <a:r>
              <a:rPr lang="en-US" altLang="zh-CN" sz="2800" smtClean="0"/>
              <a:t>))+</a:t>
            </a:r>
            <a:r>
              <a:rPr lang="en-US" altLang="zh-CN" sz="2800" i="1" smtClean="0"/>
              <a:t>O</a:t>
            </a:r>
            <a:r>
              <a:rPr lang="en-US" altLang="zh-CN" sz="2800" smtClean="0"/>
              <a:t>(</a:t>
            </a:r>
            <a:r>
              <a:rPr lang="en-US" altLang="zh-CN" sz="2800" i="1" smtClean="0"/>
              <a:t>g</a:t>
            </a:r>
            <a:r>
              <a:rPr lang="en-US" altLang="zh-CN" sz="2800" smtClean="0"/>
              <a:t>(</a:t>
            </a:r>
            <a:r>
              <a:rPr lang="en-US" altLang="zh-CN" sz="2800" i="1" smtClean="0"/>
              <a:t>n</a:t>
            </a:r>
            <a:r>
              <a:rPr lang="en-US" altLang="zh-CN" sz="2800" smtClean="0"/>
              <a:t>)) </a:t>
            </a:r>
            <a:r>
              <a:rPr lang="en-US" altLang="zh-CN" sz="2800" smtClean="0">
                <a:sym typeface="Symbol" panose="05050102010706020507" pitchFamily="18" charset="2"/>
              </a:rPr>
              <a:t>=</a:t>
            </a:r>
            <a:r>
              <a:rPr lang="en-US" altLang="zh-CN" sz="2800" smtClean="0"/>
              <a:t> </a:t>
            </a:r>
            <a:r>
              <a:rPr lang="en-US" altLang="zh-CN" sz="2800" i="1" smtClean="0"/>
              <a:t>O</a:t>
            </a:r>
            <a:r>
              <a:rPr lang="en-US" altLang="zh-CN" sz="2800" smtClean="0"/>
              <a:t>(</a:t>
            </a:r>
            <a:r>
              <a:rPr lang="en-US" altLang="zh-CN" sz="2800" i="1" smtClean="0"/>
              <a:t>f</a:t>
            </a:r>
            <a:r>
              <a:rPr lang="en-US" altLang="zh-CN" sz="2800" smtClean="0"/>
              <a:t>(n)+</a:t>
            </a:r>
            <a:r>
              <a:rPr lang="en-US" altLang="zh-CN" sz="2800" i="1" smtClean="0"/>
              <a:t>g</a:t>
            </a:r>
            <a:r>
              <a:rPr lang="en-US" altLang="zh-CN" sz="2800" smtClean="0"/>
              <a:t>(</a:t>
            </a:r>
            <a:r>
              <a:rPr lang="en-US" altLang="zh-CN" sz="2800" i="1" smtClean="0"/>
              <a:t>n</a:t>
            </a:r>
            <a:r>
              <a:rPr lang="en-US" altLang="zh-CN" sz="2800" smtClean="0"/>
              <a:t>)) </a:t>
            </a:r>
            <a:r>
              <a:rPr lang="zh-CN" altLang="en-US" sz="2800" smtClean="0"/>
              <a:t>；</a:t>
            </a:r>
          </a:p>
          <a:p>
            <a:r>
              <a:rPr lang="en-US" altLang="zh-CN" sz="2800" i="1" smtClean="0"/>
              <a:t>O</a:t>
            </a:r>
            <a:r>
              <a:rPr lang="en-US" altLang="zh-CN" sz="2800" smtClean="0"/>
              <a:t>(</a:t>
            </a:r>
            <a:r>
              <a:rPr lang="en-US" altLang="zh-CN" sz="2800" i="1" smtClean="0"/>
              <a:t>f</a:t>
            </a:r>
            <a:r>
              <a:rPr lang="en-US" altLang="zh-CN" sz="2800" smtClean="0"/>
              <a:t>(</a:t>
            </a:r>
            <a:r>
              <a:rPr lang="en-US" altLang="zh-CN" sz="2800" i="1" smtClean="0"/>
              <a:t>n</a:t>
            </a:r>
            <a:r>
              <a:rPr lang="en-US" altLang="zh-CN" sz="2800" smtClean="0"/>
              <a:t>))*</a:t>
            </a:r>
            <a:r>
              <a:rPr lang="en-US" altLang="zh-CN" sz="2800" i="1" smtClean="0"/>
              <a:t>O</a:t>
            </a:r>
            <a:r>
              <a:rPr lang="en-US" altLang="zh-CN" sz="2800" smtClean="0"/>
              <a:t>(</a:t>
            </a:r>
            <a:r>
              <a:rPr lang="en-US" altLang="zh-CN" sz="2800" i="1" smtClean="0"/>
              <a:t>g</a:t>
            </a:r>
            <a:r>
              <a:rPr lang="en-US" altLang="zh-CN" sz="2800" smtClean="0"/>
              <a:t>(</a:t>
            </a:r>
            <a:r>
              <a:rPr lang="en-US" altLang="zh-CN" sz="2800" i="1" smtClean="0"/>
              <a:t>n</a:t>
            </a:r>
            <a:r>
              <a:rPr lang="en-US" altLang="zh-CN" sz="2800" smtClean="0"/>
              <a:t>)) </a:t>
            </a:r>
            <a:r>
              <a:rPr lang="en-US" altLang="zh-CN" sz="2800" smtClean="0">
                <a:sym typeface="Symbol" panose="05050102010706020507" pitchFamily="18" charset="2"/>
              </a:rPr>
              <a:t>=</a:t>
            </a:r>
            <a:r>
              <a:rPr lang="en-US" altLang="zh-CN" sz="2800" smtClean="0"/>
              <a:t> </a:t>
            </a:r>
            <a:r>
              <a:rPr lang="en-US" altLang="zh-CN" sz="2800" i="1" smtClean="0"/>
              <a:t>O</a:t>
            </a:r>
            <a:r>
              <a:rPr lang="en-US" altLang="zh-CN" sz="2800" smtClean="0"/>
              <a:t>(</a:t>
            </a:r>
            <a:r>
              <a:rPr lang="en-US" altLang="zh-CN" sz="2800" i="1" smtClean="0"/>
              <a:t>f</a:t>
            </a:r>
            <a:r>
              <a:rPr lang="en-US" altLang="zh-CN" sz="2800" smtClean="0"/>
              <a:t>(n)*</a:t>
            </a:r>
            <a:r>
              <a:rPr lang="en-US" altLang="zh-CN" sz="2800" i="1" smtClean="0"/>
              <a:t>g</a:t>
            </a:r>
            <a:r>
              <a:rPr lang="en-US" altLang="zh-CN" sz="2800" smtClean="0"/>
              <a:t>(</a:t>
            </a:r>
            <a:r>
              <a:rPr lang="en-US" altLang="zh-CN" sz="2800" i="1" smtClean="0"/>
              <a:t>n</a:t>
            </a:r>
            <a:r>
              <a:rPr lang="en-US" altLang="zh-CN" sz="2800" smtClean="0"/>
              <a:t>)) </a:t>
            </a:r>
            <a:r>
              <a:rPr lang="zh-CN" altLang="en-US" sz="2800" smtClean="0"/>
              <a:t>；</a:t>
            </a:r>
          </a:p>
          <a:p>
            <a:r>
              <a:rPr lang="en-US" altLang="zh-CN" sz="2800" i="1" smtClean="0"/>
              <a:t>O</a:t>
            </a:r>
            <a:r>
              <a:rPr lang="en-US" altLang="zh-CN" sz="2800" smtClean="0"/>
              <a:t>(</a:t>
            </a:r>
            <a:r>
              <a:rPr lang="en-US" altLang="zh-CN" sz="2800" i="1" smtClean="0"/>
              <a:t>cf</a:t>
            </a:r>
            <a:r>
              <a:rPr lang="en-US" altLang="zh-CN" sz="2800" smtClean="0"/>
              <a:t>(</a:t>
            </a:r>
            <a:r>
              <a:rPr lang="en-US" altLang="zh-CN" sz="2800" i="1" smtClean="0"/>
              <a:t>n</a:t>
            </a:r>
            <a:r>
              <a:rPr lang="en-US" altLang="zh-CN" sz="2800" smtClean="0"/>
              <a:t>)) </a:t>
            </a:r>
            <a:r>
              <a:rPr lang="en-US" altLang="zh-CN" sz="2800" smtClean="0">
                <a:sym typeface="Symbol" panose="05050102010706020507" pitchFamily="18" charset="2"/>
              </a:rPr>
              <a:t>=</a:t>
            </a:r>
            <a:r>
              <a:rPr lang="en-US" altLang="zh-CN" sz="2800" smtClean="0"/>
              <a:t> </a:t>
            </a:r>
            <a:r>
              <a:rPr lang="en-US" altLang="zh-CN" sz="2800" i="1" smtClean="0"/>
              <a:t>O</a:t>
            </a:r>
            <a:r>
              <a:rPr lang="en-US" altLang="zh-CN" sz="2800" smtClean="0"/>
              <a:t>(</a:t>
            </a:r>
            <a:r>
              <a:rPr lang="en-US" altLang="zh-CN" sz="2800" i="1" smtClean="0"/>
              <a:t>f</a:t>
            </a:r>
            <a:r>
              <a:rPr lang="en-US" altLang="zh-CN" sz="2800" smtClean="0"/>
              <a:t>(n)) </a:t>
            </a:r>
            <a:r>
              <a:rPr lang="zh-CN" altLang="en-US" sz="2800" smtClean="0"/>
              <a:t>；</a:t>
            </a:r>
          </a:p>
          <a:p>
            <a:r>
              <a:rPr lang="en-US" altLang="zh-CN" sz="2800" i="1" smtClean="0"/>
              <a:t>g</a:t>
            </a:r>
            <a:r>
              <a:rPr lang="en-US" altLang="zh-CN" sz="2800" smtClean="0"/>
              <a:t>(</a:t>
            </a:r>
            <a:r>
              <a:rPr lang="en-US" altLang="zh-CN" sz="2800" i="1" smtClean="0"/>
              <a:t>n</a:t>
            </a:r>
            <a:r>
              <a:rPr lang="en-US" altLang="zh-CN" sz="2800" smtClean="0"/>
              <a:t>)= </a:t>
            </a:r>
            <a:r>
              <a:rPr lang="en-US" altLang="zh-CN" sz="2800" i="1" smtClean="0"/>
              <a:t>O</a:t>
            </a:r>
            <a:r>
              <a:rPr lang="en-US" altLang="zh-CN" sz="2800" smtClean="0"/>
              <a:t>(</a:t>
            </a:r>
            <a:r>
              <a:rPr lang="en-US" altLang="zh-CN" sz="2800" i="1" smtClean="0"/>
              <a:t>f</a:t>
            </a:r>
            <a:r>
              <a:rPr lang="en-US" altLang="zh-CN" sz="2800" smtClean="0"/>
              <a:t>(</a:t>
            </a:r>
            <a:r>
              <a:rPr lang="en-US" altLang="zh-CN" sz="2800" i="1" smtClean="0"/>
              <a:t>n</a:t>
            </a:r>
            <a:r>
              <a:rPr lang="en-US" altLang="zh-CN" sz="2800" smtClean="0"/>
              <a:t>)) </a:t>
            </a:r>
            <a:r>
              <a:rPr lang="en-US" altLang="zh-CN" sz="2800" smtClean="0">
                <a:sym typeface="Symbol" panose="05050102010706020507" pitchFamily="18" charset="2"/>
              </a:rPr>
              <a:t> </a:t>
            </a:r>
            <a:r>
              <a:rPr lang="en-US" altLang="zh-CN" sz="2800" i="1" smtClean="0"/>
              <a:t>O</a:t>
            </a:r>
            <a:r>
              <a:rPr lang="en-US" altLang="zh-CN" sz="2800" smtClean="0"/>
              <a:t>(</a:t>
            </a:r>
            <a:r>
              <a:rPr lang="en-US" altLang="zh-CN" sz="2800" i="1" smtClean="0"/>
              <a:t>f</a:t>
            </a:r>
            <a:r>
              <a:rPr lang="en-US" altLang="zh-CN" sz="2800" smtClean="0"/>
              <a:t>(</a:t>
            </a:r>
            <a:r>
              <a:rPr lang="en-US" altLang="zh-CN" sz="2800" i="1" smtClean="0"/>
              <a:t>n</a:t>
            </a:r>
            <a:r>
              <a:rPr lang="en-US" altLang="zh-CN" sz="2800" smtClean="0"/>
              <a:t>))+</a:t>
            </a:r>
            <a:r>
              <a:rPr lang="en-US" altLang="zh-CN" sz="2800" i="1" smtClean="0"/>
              <a:t>O</a:t>
            </a:r>
            <a:r>
              <a:rPr lang="en-US" altLang="zh-CN" sz="2800" smtClean="0"/>
              <a:t>(</a:t>
            </a:r>
            <a:r>
              <a:rPr lang="en-US" altLang="zh-CN" sz="2800" i="1" smtClean="0"/>
              <a:t>g</a:t>
            </a:r>
            <a:r>
              <a:rPr lang="en-US" altLang="zh-CN" sz="2800" smtClean="0"/>
              <a:t>(</a:t>
            </a:r>
            <a:r>
              <a:rPr lang="en-US" altLang="zh-CN" sz="2800" i="1" smtClean="0"/>
              <a:t>n</a:t>
            </a:r>
            <a:r>
              <a:rPr lang="en-US" altLang="zh-CN" sz="2800" smtClean="0"/>
              <a:t>)) </a:t>
            </a:r>
            <a:r>
              <a:rPr lang="en-US" altLang="zh-CN" sz="2800" smtClean="0">
                <a:sym typeface="Symbol" panose="05050102010706020507" pitchFamily="18" charset="2"/>
              </a:rPr>
              <a:t>=</a:t>
            </a:r>
            <a:r>
              <a:rPr lang="en-US" altLang="zh-CN" sz="2800" smtClean="0"/>
              <a:t> </a:t>
            </a:r>
            <a:r>
              <a:rPr lang="en-US" altLang="zh-CN" sz="2800" i="1" smtClean="0"/>
              <a:t>O</a:t>
            </a:r>
            <a:r>
              <a:rPr lang="en-US" altLang="zh-CN" sz="2800" smtClean="0"/>
              <a:t>(</a:t>
            </a:r>
            <a:r>
              <a:rPr lang="en-US" altLang="zh-CN" sz="2800" i="1" smtClean="0"/>
              <a:t>f</a:t>
            </a:r>
            <a:r>
              <a:rPr lang="en-US" altLang="zh-CN" sz="2800" smtClean="0"/>
              <a:t>(n)) </a:t>
            </a:r>
            <a:r>
              <a:rPr lang="zh-CN" altLang="en-US" sz="2800" smtClean="0"/>
              <a:t>。</a:t>
            </a:r>
          </a:p>
          <a:p>
            <a:pPr eaLnBrk="1" hangingPunct="1">
              <a:buFontTx/>
              <a:buNone/>
            </a:pPr>
            <a:endParaRPr lang="en-US" altLang="zh-CN" sz="1800" smtClean="0">
              <a:sym typeface="Symbol" panose="05050102010706020507" pitchFamily="18" charset="2"/>
            </a:endParaRPr>
          </a:p>
        </p:txBody>
      </p:sp>
    </p:spTree>
    <p:extLst>
      <p:ext uri="{BB962C8B-B14F-4D97-AF65-F5344CB8AC3E}">
        <p14:creationId xmlns:p14="http://schemas.microsoft.com/office/powerpoint/2010/main" val="98748489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80899" name="Rectangle 2"/>
          <p:cNvSpPr>
            <a:spLocks noGrp="1" noChangeArrowheads="1"/>
          </p:cNvSpPr>
          <p:nvPr>
            <p:ph type="title"/>
          </p:nvPr>
        </p:nvSpPr>
        <p:spPr/>
        <p:txBody>
          <a:bodyPr/>
          <a:lstStyle/>
          <a:p>
            <a:pPr eaLnBrk="1" hangingPunct="1"/>
            <a:r>
              <a:rPr lang="zh-CN" altLang="en-US" smtClean="0"/>
              <a:t>常用阶的比较</a:t>
            </a:r>
            <a:endParaRPr lang="en-US" altLang="zh-CN" smtClean="0"/>
          </a:p>
        </p:txBody>
      </p:sp>
      <p:sp>
        <p:nvSpPr>
          <p:cNvPr id="80900" name="Rectangle 3"/>
          <p:cNvSpPr>
            <a:spLocks noGrp="1" noChangeArrowheads="1"/>
          </p:cNvSpPr>
          <p:nvPr>
            <p:ph type="body" idx="1"/>
          </p:nvPr>
        </p:nvSpPr>
        <p:spPr/>
        <p:txBody>
          <a:bodyPr/>
          <a:lstStyle/>
          <a:p>
            <a:pPr eaLnBrk="1" hangingPunct="1">
              <a:buFontTx/>
              <a:buNone/>
            </a:pPr>
            <a:r>
              <a:rPr lang="en-US" altLang="zh-CN" sz="1800" smtClean="0">
                <a:sym typeface="Symbol" panose="05050102010706020507" pitchFamily="18" charset="2"/>
              </a:rPr>
              <a:t> </a:t>
            </a:r>
          </a:p>
        </p:txBody>
      </p:sp>
      <p:pic>
        <p:nvPicPr>
          <p:cNvPr id="8090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188" y="1714500"/>
            <a:ext cx="8642350" cy="357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3024860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81923" name="Rectangle 2"/>
          <p:cNvSpPr>
            <a:spLocks noGrp="1" noChangeArrowheads="1"/>
          </p:cNvSpPr>
          <p:nvPr>
            <p:ph type="title"/>
          </p:nvPr>
        </p:nvSpPr>
        <p:spPr/>
        <p:txBody>
          <a:bodyPr/>
          <a:lstStyle/>
          <a:p>
            <a:pPr eaLnBrk="1" hangingPunct="1"/>
            <a:r>
              <a:rPr lang="en-US" altLang="zh-CN" dirty="0" smtClean="0"/>
              <a:t>1.2.4 </a:t>
            </a:r>
            <a:r>
              <a:rPr lang="zh-CN" altLang="en-US" dirty="0" smtClean="0"/>
              <a:t>空间复杂度</a:t>
            </a:r>
            <a:endParaRPr lang="en-US" altLang="zh-CN" dirty="0" smtClean="0"/>
          </a:p>
        </p:txBody>
      </p:sp>
      <p:sp>
        <p:nvSpPr>
          <p:cNvPr id="81924" name="Rectangle 3"/>
          <p:cNvSpPr>
            <a:spLocks noGrp="1" noChangeArrowheads="1"/>
          </p:cNvSpPr>
          <p:nvPr>
            <p:ph type="body" idx="1"/>
          </p:nvPr>
        </p:nvSpPr>
        <p:spPr/>
        <p:txBody>
          <a:bodyPr/>
          <a:lstStyle/>
          <a:p>
            <a:pPr>
              <a:buFontTx/>
              <a:buNone/>
            </a:pPr>
            <a:r>
              <a:rPr lang="zh-CN" altLang="en-US" smtClean="0"/>
              <a:t>为什么要考虑空间复杂性：</a:t>
            </a:r>
          </a:p>
          <a:p>
            <a:r>
              <a:rPr lang="zh-CN" altLang="en-US" smtClean="0"/>
              <a:t>在多用户系统中运行时，需指明分配给该程序的内存大小；</a:t>
            </a:r>
          </a:p>
          <a:p>
            <a:r>
              <a:rPr lang="zh-CN" altLang="en-US" smtClean="0"/>
              <a:t>想预先知道计算机系统是否有足够的内存来运行该程序；</a:t>
            </a:r>
          </a:p>
          <a:p>
            <a:r>
              <a:rPr lang="zh-CN" altLang="en-US" smtClean="0"/>
              <a:t>一个问题可能有若干个不同的内存需求解决方案</a:t>
            </a:r>
            <a:r>
              <a:rPr lang="en-US" altLang="zh-CN" smtClean="0"/>
              <a:t>,</a:t>
            </a:r>
            <a:r>
              <a:rPr lang="zh-CN" altLang="en-US" smtClean="0"/>
              <a:t>从中择取</a:t>
            </a:r>
            <a:r>
              <a:rPr lang="en-US" altLang="zh-CN" smtClean="0"/>
              <a:t>;</a:t>
            </a:r>
          </a:p>
          <a:p>
            <a:r>
              <a:rPr lang="zh-CN" altLang="en-US" smtClean="0"/>
              <a:t>用空间复杂性来估计一个程序可能解决的问题的最大规模。      </a:t>
            </a:r>
          </a:p>
          <a:p>
            <a:pPr eaLnBrk="1" hangingPunct="1"/>
            <a:endParaRPr lang="en-US" altLang="zh-CN" smtClean="0"/>
          </a:p>
        </p:txBody>
      </p:sp>
    </p:spTree>
    <p:extLst>
      <p:ext uri="{BB962C8B-B14F-4D97-AF65-F5344CB8AC3E}">
        <p14:creationId xmlns:p14="http://schemas.microsoft.com/office/powerpoint/2010/main" val="3974405778"/>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82947" name="Rectangle 2"/>
          <p:cNvSpPr>
            <a:spLocks noGrp="1" noChangeArrowheads="1"/>
          </p:cNvSpPr>
          <p:nvPr>
            <p:ph type="title"/>
          </p:nvPr>
        </p:nvSpPr>
        <p:spPr/>
        <p:txBody>
          <a:bodyPr/>
          <a:lstStyle/>
          <a:p>
            <a:pPr eaLnBrk="1" hangingPunct="1"/>
            <a:r>
              <a:rPr lang="en-US" altLang="zh-CN" dirty="0" smtClean="0"/>
              <a:t>1.2.4 </a:t>
            </a:r>
            <a:r>
              <a:rPr lang="zh-CN" altLang="en-US" dirty="0" smtClean="0"/>
              <a:t>空间复杂度</a:t>
            </a:r>
            <a:endParaRPr lang="en-US" altLang="zh-CN" dirty="0" smtClean="0"/>
          </a:p>
        </p:txBody>
      </p:sp>
      <p:sp>
        <p:nvSpPr>
          <p:cNvPr id="82948" name="Rectangle 3"/>
          <p:cNvSpPr>
            <a:spLocks noGrp="1" noChangeArrowheads="1"/>
          </p:cNvSpPr>
          <p:nvPr>
            <p:ph type="body" idx="1"/>
          </p:nvPr>
        </p:nvSpPr>
        <p:spPr/>
        <p:txBody>
          <a:bodyPr/>
          <a:lstStyle/>
          <a:p>
            <a:pPr eaLnBrk="1" hangingPunct="1"/>
            <a:r>
              <a:rPr lang="zh-CN" altLang="en-US" smtClean="0"/>
              <a:t>定义：空间复杂度</a:t>
            </a:r>
            <a:r>
              <a:rPr lang="en-US" altLang="zh-CN" smtClean="0"/>
              <a:t>(Space Complexity)</a:t>
            </a:r>
            <a:r>
              <a:rPr lang="zh-CN" altLang="en-US" smtClean="0"/>
              <a:t>是对一个算法在运行过程中</a:t>
            </a:r>
            <a:r>
              <a:rPr lang="zh-CN" altLang="en-US" smtClean="0">
                <a:solidFill>
                  <a:srgbClr val="FF0000"/>
                </a:solidFill>
              </a:rPr>
              <a:t>临时占用存储空间</a:t>
            </a:r>
            <a:r>
              <a:rPr lang="zh-CN" altLang="en-US" smtClean="0"/>
              <a:t>大小的量度</a:t>
            </a:r>
            <a:r>
              <a:rPr lang="en-US" altLang="zh-CN" smtClean="0"/>
              <a:t>,</a:t>
            </a:r>
            <a:r>
              <a:rPr lang="zh-CN" altLang="en-US" smtClean="0"/>
              <a:t>记做</a:t>
            </a:r>
            <a:r>
              <a:rPr lang="en-US" altLang="zh-CN" smtClean="0"/>
              <a:t>S(n)=O(f(n))。</a:t>
            </a:r>
            <a:r>
              <a:rPr lang="zh-CN" altLang="en-US" sz="2400" smtClean="0"/>
              <a:t>其中</a:t>
            </a:r>
            <a:r>
              <a:rPr lang="en-US" altLang="zh-CN" sz="2400" smtClean="0"/>
              <a:t>n</a:t>
            </a:r>
            <a:r>
              <a:rPr lang="zh-CN" altLang="en-US" sz="2400" smtClean="0"/>
              <a:t>为问题的规模</a:t>
            </a:r>
            <a:r>
              <a:rPr lang="en-US" altLang="zh-CN" sz="2400" smtClean="0"/>
              <a:t>(</a:t>
            </a:r>
            <a:r>
              <a:rPr lang="zh-CN" altLang="en-US" sz="2400" smtClean="0"/>
              <a:t>或大小</a:t>
            </a:r>
            <a:r>
              <a:rPr lang="en-US" altLang="zh-CN" sz="2400" smtClean="0"/>
              <a:t>)</a:t>
            </a:r>
            <a:r>
              <a:rPr lang="zh-CN" altLang="en-US" sz="2400" smtClean="0"/>
              <a:t>。</a:t>
            </a:r>
            <a:endParaRPr lang="en-US" altLang="zh-CN" sz="2400" smtClean="0"/>
          </a:p>
          <a:p>
            <a:pPr eaLnBrk="1" hangingPunct="1"/>
            <a:endParaRPr lang="en-US" altLang="zh-CN" sz="2400" smtClean="0"/>
          </a:p>
          <a:p>
            <a:pPr eaLnBrk="1" hangingPunct="1"/>
            <a:r>
              <a:rPr lang="zh-CN" altLang="en-US" sz="2400" smtClean="0"/>
              <a:t>一个算法在计算机存储器上所占用的存储空间，包括存储</a:t>
            </a:r>
            <a:r>
              <a:rPr lang="zh-CN" altLang="en-US" sz="2400" smtClean="0">
                <a:solidFill>
                  <a:srgbClr val="FF0000"/>
                </a:solidFill>
              </a:rPr>
              <a:t>算法本身所占用的存储空间</a:t>
            </a:r>
            <a:r>
              <a:rPr lang="zh-CN" altLang="en-US" sz="2400" smtClean="0"/>
              <a:t>，</a:t>
            </a:r>
            <a:r>
              <a:rPr lang="zh-CN" altLang="en-US" sz="2400" smtClean="0">
                <a:solidFill>
                  <a:srgbClr val="FF0000"/>
                </a:solidFill>
              </a:rPr>
              <a:t>算法的输入输出数据所占用的存储空间</a:t>
            </a:r>
            <a:r>
              <a:rPr lang="zh-CN" altLang="en-US" sz="2400" smtClean="0"/>
              <a:t>和算法在运行过程中</a:t>
            </a:r>
            <a:r>
              <a:rPr lang="zh-CN" altLang="en-US" sz="2400" smtClean="0">
                <a:solidFill>
                  <a:srgbClr val="FF0000"/>
                </a:solidFill>
              </a:rPr>
              <a:t>临时占用的存储空间</a:t>
            </a:r>
            <a:r>
              <a:rPr lang="zh-CN" altLang="en-US" sz="2400" smtClean="0"/>
              <a:t>这三个方面。</a:t>
            </a:r>
            <a:endParaRPr lang="en-US" altLang="zh-CN" sz="2400" smtClean="0"/>
          </a:p>
          <a:p>
            <a:pPr eaLnBrk="1" hangingPunct="1"/>
            <a:endParaRPr lang="en-US" altLang="zh-CN" sz="2400" smtClean="0"/>
          </a:p>
          <a:p>
            <a:pPr eaLnBrk="1" hangingPunct="1"/>
            <a:endParaRPr lang="en-US" altLang="zh-CN" sz="2400" smtClean="0"/>
          </a:p>
          <a:p>
            <a:pPr eaLnBrk="1" hangingPunct="1"/>
            <a:endParaRPr lang="en-US" altLang="zh-CN" smtClean="0"/>
          </a:p>
          <a:p>
            <a:pPr eaLnBrk="1" hangingPunct="1"/>
            <a:endParaRPr lang="en-US" altLang="zh-CN" smtClean="0"/>
          </a:p>
        </p:txBody>
      </p:sp>
    </p:spTree>
    <p:extLst>
      <p:ext uri="{BB962C8B-B14F-4D97-AF65-F5344CB8AC3E}">
        <p14:creationId xmlns:p14="http://schemas.microsoft.com/office/powerpoint/2010/main" val="79979446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83971" name="Rectangle 2"/>
          <p:cNvSpPr>
            <a:spLocks noGrp="1" noChangeArrowheads="1"/>
          </p:cNvSpPr>
          <p:nvPr>
            <p:ph type="title"/>
          </p:nvPr>
        </p:nvSpPr>
        <p:spPr/>
        <p:txBody>
          <a:bodyPr/>
          <a:lstStyle/>
          <a:p>
            <a:pPr eaLnBrk="1" hangingPunct="1"/>
            <a:r>
              <a:rPr lang="en-US" altLang="zh-CN" dirty="0"/>
              <a:t>1.2.4 </a:t>
            </a:r>
            <a:r>
              <a:rPr lang="zh-CN" altLang="en-US" dirty="0"/>
              <a:t>空间复杂</a:t>
            </a:r>
            <a:r>
              <a:rPr lang="zh-CN" altLang="en-US" dirty="0" smtClean="0"/>
              <a:t>度</a:t>
            </a:r>
            <a:r>
              <a:rPr lang="en-US" altLang="zh-CN" dirty="0">
                <a:latin typeface="+mn-ea"/>
              </a:rPr>
              <a:t>——</a:t>
            </a:r>
            <a:r>
              <a:rPr lang="zh-CN" altLang="en-US" dirty="0" smtClean="0"/>
              <a:t>程序所需要的空间</a:t>
            </a:r>
            <a:endParaRPr lang="en-US" altLang="zh-CN" dirty="0" smtClean="0"/>
          </a:p>
        </p:txBody>
      </p:sp>
      <p:sp>
        <p:nvSpPr>
          <p:cNvPr id="73731" name="Rectangle 3"/>
          <p:cNvSpPr>
            <a:spLocks noGrp="1" noChangeArrowheads="1"/>
          </p:cNvSpPr>
          <p:nvPr>
            <p:ph type="body" idx="1"/>
          </p:nvPr>
        </p:nvSpPr>
        <p:spPr>
          <a:xfrm>
            <a:off x="589395" y="1196975"/>
            <a:ext cx="8377052" cy="4525962"/>
          </a:xfrm>
        </p:spPr>
        <p:txBody>
          <a:bodyPr/>
          <a:lstStyle/>
          <a:p>
            <a:pPr lvl="1">
              <a:spcBef>
                <a:spcPts val="0"/>
              </a:spcBef>
              <a:defRPr/>
            </a:pPr>
            <a:r>
              <a:rPr lang="zh-CN" altLang="en-US" dirty="0" smtClean="0">
                <a:latin typeface="+mn-lt"/>
                <a:ea typeface="+mn-ea"/>
                <a:cs typeface="+mn-cs"/>
              </a:rPr>
              <a:t>在分析空间复杂性中，</a:t>
            </a:r>
            <a:r>
              <a:rPr lang="zh-CN" altLang="en-US" dirty="0" smtClean="0">
                <a:solidFill>
                  <a:srgbClr val="FF0000"/>
                </a:solidFill>
                <a:latin typeface="+mn-lt"/>
                <a:ea typeface="+mn-ea"/>
                <a:cs typeface="+mn-cs"/>
              </a:rPr>
              <a:t>实例特征</a:t>
            </a:r>
            <a:r>
              <a:rPr lang="zh-CN" altLang="en-US" dirty="0" smtClean="0">
                <a:latin typeface="+mn-lt"/>
                <a:ea typeface="+mn-ea"/>
                <a:cs typeface="+mn-cs"/>
              </a:rPr>
              <a:t>的概念特别重要。</a:t>
            </a:r>
            <a:endParaRPr lang="en-US" altLang="zh-CN" dirty="0" smtClean="0">
              <a:latin typeface="+mn-lt"/>
              <a:ea typeface="+mn-ea"/>
              <a:cs typeface="+mn-cs"/>
            </a:endParaRPr>
          </a:p>
          <a:p>
            <a:pPr lvl="1">
              <a:spcBef>
                <a:spcPts val="0"/>
              </a:spcBef>
              <a:defRPr/>
            </a:pPr>
            <a:r>
              <a:rPr lang="zh-CN" altLang="en-US" dirty="0" smtClean="0">
                <a:latin typeface="+mn-lt"/>
                <a:ea typeface="+mn-ea"/>
                <a:cs typeface="+mn-cs"/>
              </a:rPr>
              <a:t>所谓</a:t>
            </a:r>
            <a:r>
              <a:rPr lang="zh-CN" altLang="en-US" dirty="0" smtClean="0">
                <a:solidFill>
                  <a:srgbClr val="FF0000"/>
                </a:solidFill>
                <a:latin typeface="+mn-lt"/>
                <a:ea typeface="+mn-ea"/>
                <a:cs typeface="+mn-cs"/>
              </a:rPr>
              <a:t>实例特征</a:t>
            </a:r>
            <a:r>
              <a:rPr lang="zh-CN" altLang="en-US" dirty="0" smtClean="0">
                <a:latin typeface="+mn-lt"/>
                <a:ea typeface="+mn-ea"/>
                <a:cs typeface="+mn-cs"/>
              </a:rPr>
              <a:t>是指决定问题规模的那些因素。如，输入和输出的数量或相关数的大小，如对 </a:t>
            </a:r>
            <a:r>
              <a:rPr lang="en-US" altLang="zh-CN" dirty="0" smtClean="0">
                <a:latin typeface="+mn-lt"/>
                <a:ea typeface="+mn-ea"/>
                <a:cs typeface="+mn-cs"/>
              </a:rPr>
              <a:t>n </a:t>
            </a:r>
            <a:r>
              <a:rPr lang="zh-CN" altLang="en-US" dirty="0" smtClean="0">
                <a:latin typeface="+mn-lt"/>
                <a:ea typeface="+mn-ea"/>
                <a:cs typeface="+mn-cs"/>
              </a:rPr>
              <a:t>个元素进行排序、</a:t>
            </a:r>
            <a:r>
              <a:rPr lang="en-US" altLang="zh-CN" dirty="0" smtClean="0">
                <a:latin typeface="+mn-lt"/>
                <a:ea typeface="+mn-ea"/>
                <a:cs typeface="+mn-cs"/>
              </a:rPr>
              <a:t>n</a:t>
            </a:r>
            <a:r>
              <a:rPr lang="zh-CN" altLang="en-US" dirty="0" smtClean="0">
                <a:latin typeface="+mn-lt"/>
                <a:ea typeface="+mn-ea"/>
                <a:cs typeface="+mn-cs"/>
                <a:sym typeface="Symbol" pitchFamily="18" charset="2"/>
              </a:rPr>
              <a:t></a:t>
            </a:r>
            <a:r>
              <a:rPr lang="en-US" altLang="zh-CN" dirty="0" smtClean="0">
                <a:latin typeface="+mn-lt"/>
                <a:ea typeface="+mn-ea"/>
                <a:cs typeface="+mn-cs"/>
                <a:sym typeface="Symbol" pitchFamily="18" charset="2"/>
              </a:rPr>
              <a:t>n</a:t>
            </a:r>
            <a:r>
              <a:rPr lang="zh-CN" altLang="en-US" dirty="0" smtClean="0">
                <a:latin typeface="+mn-lt"/>
                <a:ea typeface="+mn-ea"/>
                <a:cs typeface="+mn-cs"/>
                <a:sym typeface="Symbol" pitchFamily="18" charset="2"/>
              </a:rPr>
              <a:t>矩阵的加法等。都可以 </a:t>
            </a:r>
            <a:r>
              <a:rPr lang="en-US" altLang="zh-CN" dirty="0" smtClean="0">
                <a:latin typeface="+mn-lt"/>
                <a:ea typeface="+mn-ea"/>
                <a:cs typeface="+mn-cs"/>
                <a:sym typeface="Symbol" pitchFamily="18" charset="2"/>
              </a:rPr>
              <a:t>n </a:t>
            </a:r>
            <a:r>
              <a:rPr lang="zh-CN" altLang="en-US" dirty="0" smtClean="0">
                <a:latin typeface="+mn-lt"/>
                <a:ea typeface="+mn-ea"/>
                <a:cs typeface="+mn-cs"/>
                <a:sym typeface="Symbol" pitchFamily="18" charset="2"/>
              </a:rPr>
              <a:t>作为实例特征， 两个 </a:t>
            </a:r>
            <a:r>
              <a:rPr lang="en-US" altLang="zh-CN" dirty="0" smtClean="0">
                <a:latin typeface="+mn-lt"/>
                <a:ea typeface="+mn-ea"/>
                <a:cs typeface="+mn-cs"/>
                <a:sym typeface="Symbol" pitchFamily="18" charset="2"/>
              </a:rPr>
              <a:t>m</a:t>
            </a:r>
            <a:r>
              <a:rPr lang="zh-CN" altLang="en-US" dirty="0" smtClean="0">
                <a:latin typeface="+mn-lt"/>
                <a:ea typeface="+mn-ea"/>
                <a:cs typeface="+mn-cs"/>
                <a:sym typeface="Symbol" pitchFamily="18" charset="2"/>
              </a:rPr>
              <a:t></a:t>
            </a:r>
            <a:r>
              <a:rPr lang="en-US" altLang="zh-CN" dirty="0" smtClean="0">
                <a:latin typeface="+mn-lt"/>
                <a:ea typeface="+mn-ea"/>
                <a:cs typeface="+mn-cs"/>
                <a:sym typeface="Symbol" pitchFamily="18" charset="2"/>
              </a:rPr>
              <a:t>n </a:t>
            </a:r>
            <a:r>
              <a:rPr lang="zh-CN" altLang="en-US" dirty="0" smtClean="0">
                <a:latin typeface="+mn-lt"/>
                <a:ea typeface="+mn-ea"/>
                <a:cs typeface="+mn-cs"/>
                <a:sym typeface="Symbol" pitchFamily="18" charset="2"/>
              </a:rPr>
              <a:t>矩阵的加法应该以</a:t>
            </a:r>
            <a:r>
              <a:rPr lang="en-US" altLang="zh-CN" dirty="0" smtClean="0">
                <a:latin typeface="+mn-lt"/>
                <a:ea typeface="+mn-ea"/>
                <a:cs typeface="+mn-cs"/>
                <a:sym typeface="Symbol" pitchFamily="18" charset="2"/>
              </a:rPr>
              <a:t>n </a:t>
            </a:r>
            <a:r>
              <a:rPr lang="zh-CN" altLang="en-US" dirty="0" smtClean="0">
                <a:latin typeface="+mn-lt"/>
                <a:ea typeface="+mn-ea"/>
                <a:cs typeface="+mn-cs"/>
                <a:sym typeface="Symbol" pitchFamily="18" charset="2"/>
              </a:rPr>
              <a:t>和 </a:t>
            </a:r>
            <a:r>
              <a:rPr lang="en-US" altLang="zh-CN" dirty="0" smtClean="0">
                <a:latin typeface="+mn-lt"/>
                <a:ea typeface="+mn-ea"/>
                <a:cs typeface="+mn-cs"/>
                <a:sym typeface="Symbol" pitchFamily="18" charset="2"/>
              </a:rPr>
              <a:t>m </a:t>
            </a:r>
            <a:r>
              <a:rPr lang="zh-CN" altLang="en-US" dirty="0" smtClean="0">
                <a:latin typeface="+mn-lt"/>
                <a:ea typeface="+mn-ea"/>
                <a:cs typeface="+mn-cs"/>
                <a:sym typeface="Symbol" pitchFamily="18" charset="2"/>
              </a:rPr>
              <a:t>两个数作为实例特征。</a:t>
            </a:r>
            <a:endParaRPr lang="en-US" altLang="zh-CN" dirty="0" smtClean="0">
              <a:latin typeface="+mn-lt"/>
              <a:ea typeface="+mn-ea"/>
              <a:cs typeface="+mn-cs"/>
              <a:sym typeface="Symbol" pitchFamily="18" charset="2"/>
            </a:endParaRPr>
          </a:p>
          <a:p>
            <a:pPr lvl="1">
              <a:spcBef>
                <a:spcPts val="0"/>
              </a:spcBef>
              <a:defRPr/>
            </a:pPr>
            <a:endParaRPr lang="zh-CN" altLang="en-US" dirty="0" smtClean="0">
              <a:latin typeface="+mn-lt"/>
              <a:ea typeface="+mn-ea"/>
              <a:cs typeface="+mn-cs"/>
              <a:sym typeface="Symbol" pitchFamily="18" charset="2"/>
            </a:endParaRPr>
          </a:p>
          <a:p>
            <a:pPr lvl="1">
              <a:spcBef>
                <a:spcPts val="0"/>
              </a:spcBef>
              <a:defRPr/>
            </a:pPr>
            <a:r>
              <a:rPr lang="zh-CN" altLang="en-US" dirty="0" smtClean="0">
                <a:latin typeface="+mn-lt"/>
                <a:ea typeface="+mn-ea"/>
                <a:cs typeface="+mn-cs"/>
              </a:rPr>
              <a:t>一个程序所需要的空间可分为两部分：</a:t>
            </a:r>
          </a:p>
          <a:p>
            <a:pPr lvl="2">
              <a:spcBef>
                <a:spcPts val="0"/>
              </a:spcBef>
              <a:buFont typeface="Wingdings" pitchFamily="2" charset="2"/>
              <a:buChar char="Ø"/>
              <a:defRPr/>
            </a:pPr>
            <a:r>
              <a:rPr lang="zh-CN" altLang="en-US" dirty="0" smtClean="0">
                <a:solidFill>
                  <a:srgbClr val="FF0000"/>
                </a:solidFill>
                <a:latin typeface="+mn-lt"/>
                <a:ea typeface="+mn-ea"/>
                <a:cs typeface="+mn-cs"/>
              </a:rPr>
              <a:t>固定部分</a:t>
            </a:r>
            <a:r>
              <a:rPr lang="zh-CN" altLang="en-US" dirty="0" smtClean="0">
                <a:latin typeface="+mn-lt"/>
                <a:ea typeface="+mn-ea"/>
                <a:cs typeface="+mn-cs"/>
              </a:rPr>
              <a:t>，它独立于实例特征。主要包括指令空间、简单变量以及定义复合变量所占用的空间、常量所占用的空间。</a:t>
            </a:r>
          </a:p>
          <a:p>
            <a:pPr lvl="2">
              <a:spcBef>
                <a:spcPts val="0"/>
              </a:spcBef>
              <a:buFont typeface="Wingdings" pitchFamily="2" charset="2"/>
              <a:buChar char="Ø"/>
              <a:defRPr/>
            </a:pPr>
            <a:r>
              <a:rPr lang="zh-CN" altLang="en-US" dirty="0" smtClean="0">
                <a:solidFill>
                  <a:srgbClr val="FF0000"/>
                </a:solidFill>
                <a:latin typeface="+mn-lt"/>
                <a:ea typeface="+mn-ea"/>
                <a:cs typeface="+mn-cs"/>
              </a:rPr>
              <a:t>可变部分</a:t>
            </a:r>
            <a:r>
              <a:rPr lang="zh-CN" altLang="en-US" dirty="0" smtClean="0">
                <a:latin typeface="+mn-lt"/>
                <a:ea typeface="+mn-ea"/>
                <a:cs typeface="+mn-cs"/>
              </a:rPr>
              <a:t>，主要包括复合变量所需的空间（其大小依赖于所解决的具体问题）。动态分配的空间（依赖于实例特征）、递归栈所需的空间（依赖于实例特征）。</a:t>
            </a:r>
          </a:p>
          <a:p>
            <a:pPr eaLnBrk="1" hangingPunct="1">
              <a:spcBef>
                <a:spcPts val="0"/>
              </a:spcBef>
              <a:defRPr/>
            </a:pPr>
            <a:endParaRPr lang="en-US" altLang="zh-CN" dirty="0" smtClean="0"/>
          </a:p>
          <a:p>
            <a:pPr eaLnBrk="1" hangingPunct="1">
              <a:spcBef>
                <a:spcPts val="0"/>
              </a:spcBef>
              <a:defRPr/>
            </a:pPr>
            <a:endParaRPr lang="en-US" altLang="zh-CN" dirty="0" smtClean="0"/>
          </a:p>
        </p:txBody>
      </p:sp>
    </p:spTree>
    <p:extLst>
      <p:ext uri="{BB962C8B-B14F-4D97-AF65-F5344CB8AC3E}">
        <p14:creationId xmlns:p14="http://schemas.microsoft.com/office/powerpoint/2010/main" val="58208587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84995" name="Rectangle 2"/>
          <p:cNvSpPr>
            <a:spLocks noGrp="1" noChangeArrowheads="1"/>
          </p:cNvSpPr>
          <p:nvPr>
            <p:ph type="title"/>
          </p:nvPr>
        </p:nvSpPr>
        <p:spPr/>
        <p:txBody>
          <a:bodyPr/>
          <a:lstStyle/>
          <a:p>
            <a:pPr eaLnBrk="1" hangingPunct="1"/>
            <a:r>
              <a:rPr lang="en-US" altLang="zh-CN" dirty="0">
                <a:solidFill>
                  <a:srgbClr val="333399"/>
                </a:solidFill>
              </a:rPr>
              <a:t>1.2.4 </a:t>
            </a:r>
            <a:r>
              <a:rPr lang="zh-CN" altLang="en-US" dirty="0">
                <a:solidFill>
                  <a:srgbClr val="333399"/>
                </a:solidFill>
              </a:rPr>
              <a:t>空间复杂度</a:t>
            </a:r>
            <a:r>
              <a:rPr lang="en-US" altLang="zh-CN" dirty="0">
                <a:solidFill>
                  <a:srgbClr val="333399"/>
                </a:solidFill>
                <a:latin typeface="华文楷体"/>
              </a:rPr>
              <a:t>——</a:t>
            </a:r>
            <a:r>
              <a:rPr lang="zh-CN" altLang="en-US" dirty="0" smtClean="0"/>
              <a:t>程序所需要的空间</a:t>
            </a:r>
            <a:endParaRPr lang="en-US" altLang="zh-CN" dirty="0" smtClean="0"/>
          </a:p>
        </p:txBody>
      </p:sp>
      <p:sp>
        <p:nvSpPr>
          <p:cNvPr id="84996" name="Rectangle 3"/>
          <p:cNvSpPr>
            <a:spLocks noGrp="1" noChangeArrowheads="1"/>
          </p:cNvSpPr>
          <p:nvPr>
            <p:ph type="body" idx="1"/>
          </p:nvPr>
        </p:nvSpPr>
        <p:spPr/>
        <p:txBody>
          <a:bodyPr/>
          <a:lstStyle/>
          <a:p>
            <a:pPr>
              <a:spcBef>
                <a:spcPct val="50000"/>
              </a:spcBef>
            </a:pPr>
            <a:r>
              <a:rPr lang="zh-CN" altLang="en-US" sz="2200" dirty="0" smtClean="0"/>
              <a:t>令 </a:t>
            </a:r>
            <a:r>
              <a:rPr lang="en-US" altLang="zh-CN" sz="2200" dirty="0" smtClean="0"/>
              <a:t>S(P)</a:t>
            </a:r>
            <a:r>
              <a:rPr lang="zh-CN" altLang="en-US" sz="2200" dirty="0" smtClean="0"/>
              <a:t>表示程序 </a:t>
            </a:r>
            <a:r>
              <a:rPr lang="en-US" altLang="zh-CN" sz="2200" dirty="0" smtClean="0"/>
              <a:t>P </a:t>
            </a:r>
            <a:r>
              <a:rPr lang="zh-CN" altLang="en-US" sz="2200" dirty="0" smtClean="0"/>
              <a:t>所需的空间，则有</a:t>
            </a:r>
          </a:p>
          <a:p>
            <a:pPr>
              <a:spcBef>
                <a:spcPct val="50000"/>
              </a:spcBef>
              <a:buFont typeface="Wingdings" panose="05000000000000000000" pitchFamily="2" charset="2"/>
              <a:buNone/>
            </a:pPr>
            <a:r>
              <a:rPr lang="en-US" altLang="zh-CN" sz="2200" dirty="0" smtClean="0"/>
              <a:t>            S(P）=c + </a:t>
            </a:r>
            <a:r>
              <a:rPr lang="en-US" altLang="zh-CN" sz="2200" dirty="0" err="1" smtClean="0"/>
              <a:t>Sp</a:t>
            </a:r>
            <a:r>
              <a:rPr lang="en-US" altLang="zh-CN" sz="2200" dirty="0" smtClean="0"/>
              <a:t>(</a:t>
            </a:r>
            <a:r>
              <a:rPr lang="zh-CN" altLang="en-US" sz="2200" dirty="0" smtClean="0"/>
              <a:t>实例特征)</a:t>
            </a:r>
            <a:endParaRPr lang="en-US" altLang="zh-CN" sz="2200" dirty="0" smtClean="0"/>
          </a:p>
          <a:p>
            <a:pPr>
              <a:spcBef>
                <a:spcPct val="50000"/>
              </a:spcBef>
            </a:pPr>
            <a:r>
              <a:rPr lang="zh-CN" altLang="en-US" sz="2200" dirty="0" smtClean="0"/>
              <a:t>其中：</a:t>
            </a:r>
            <a:endParaRPr lang="en-US" altLang="zh-CN" sz="2200" dirty="0"/>
          </a:p>
          <a:p>
            <a:pPr marL="857250" lvl="1" indent="-457200">
              <a:spcBef>
                <a:spcPct val="50000"/>
              </a:spcBef>
              <a:buFont typeface="+mj-lt"/>
              <a:buAutoNum type="alphaLcParenR"/>
            </a:pPr>
            <a:r>
              <a:rPr lang="en-US" altLang="zh-CN" dirty="0">
                <a:latin typeface="+mn-lt"/>
                <a:ea typeface="+mn-ea"/>
                <a:cs typeface="+mn-cs"/>
              </a:rPr>
              <a:t> </a:t>
            </a:r>
            <a:r>
              <a:rPr lang="en-US" altLang="zh-CN" dirty="0" smtClean="0">
                <a:solidFill>
                  <a:srgbClr val="FF0000"/>
                </a:solidFill>
                <a:latin typeface="+mn-lt"/>
                <a:ea typeface="+mn-ea"/>
                <a:cs typeface="+mn-cs"/>
              </a:rPr>
              <a:t>c </a:t>
            </a:r>
            <a:r>
              <a:rPr lang="zh-CN" altLang="en-US" dirty="0">
                <a:latin typeface="+mn-lt"/>
                <a:ea typeface="+mn-ea"/>
                <a:cs typeface="+mn-cs"/>
              </a:rPr>
              <a:t>表示固定部分所需要的空间，是一个常数；</a:t>
            </a:r>
            <a:endParaRPr lang="en-US" altLang="zh-CN" dirty="0">
              <a:latin typeface="+mn-lt"/>
              <a:ea typeface="+mn-ea"/>
              <a:cs typeface="+mn-cs"/>
            </a:endParaRPr>
          </a:p>
          <a:p>
            <a:pPr marL="857250" lvl="1" indent="-457200">
              <a:spcBef>
                <a:spcPct val="50000"/>
              </a:spcBef>
              <a:buFont typeface="+mj-lt"/>
              <a:buAutoNum type="alphaLcParenR"/>
            </a:pPr>
            <a:r>
              <a:rPr lang="en-US" altLang="zh-CN" dirty="0" smtClean="0">
                <a:latin typeface="+mn-lt"/>
                <a:ea typeface="+mn-ea"/>
                <a:cs typeface="+mn-cs"/>
              </a:rPr>
              <a:t> </a:t>
            </a:r>
            <a:r>
              <a:rPr lang="en-US" altLang="zh-CN" dirty="0" err="1" smtClean="0">
                <a:solidFill>
                  <a:srgbClr val="FF0000"/>
                </a:solidFill>
                <a:latin typeface="+mn-lt"/>
                <a:ea typeface="+mn-ea"/>
                <a:cs typeface="+mn-cs"/>
              </a:rPr>
              <a:t>Sp</a:t>
            </a:r>
            <a:r>
              <a:rPr lang="en-US" altLang="zh-CN" dirty="0" smtClean="0">
                <a:latin typeface="+mn-lt"/>
                <a:ea typeface="+mn-ea"/>
                <a:cs typeface="+mn-cs"/>
              </a:rPr>
              <a:t> </a:t>
            </a:r>
            <a:r>
              <a:rPr lang="zh-CN" altLang="en-US" dirty="0">
                <a:latin typeface="+mn-lt"/>
                <a:ea typeface="+mn-ea"/>
                <a:cs typeface="+mn-cs"/>
              </a:rPr>
              <a:t>表示可变部分所需的空间。在分析程序的空间复杂性时，一般着重于估算</a:t>
            </a:r>
            <a:r>
              <a:rPr lang="en-US" altLang="zh-CN" dirty="0" err="1">
                <a:latin typeface="+mn-lt"/>
                <a:ea typeface="+mn-ea"/>
                <a:cs typeface="+mn-cs"/>
              </a:rPr>
              <a:t>Sp</a:t>
            </a:r>
            <a:r>
              <a:rPr lang="en-US" altLang="zh-CN" dirty="0">
                <a:latin typeface="+mn-lt"/>
                <a:ea typeface="+mn-ea"/>
                <a:cs typeface="+mn-cs"/>
              </a:rPr>
              <a:t>(</a:t>
            </a:r>
            <a:r>
              <a:rPr lang="zh-CN" altLang="en-US" dirty="0">
                <a:latin typeface="+mn-lt"/>
                <a:ea typeface="+mn-ea"/>
                <a:cs typeface="+mn-cs"/>
              </a:rPr>
              <a:t>实例特征)。</a:t>
            </a:r>
          </a:p>
          <a:p>
            <a:pPr eaLnBrk="1" hangingPunct="1"/>
            <a:endParaRPr lang="en-US" altLang="zh-CN" dirty="0" smtClean="0"/>
          </a:p>
          <a:p>
            <a:pPr eaLnBrk="1" hangingPunct="1"/>
            <a:endParaRPr lang="en-US" altLang="zh-CN" dirty="0" smtClean="0"/>
          </a:p>
        </p:txBody>
      </p:sp>
    </p:spTree>
    <p:extLst>
      <p:ext uri="{BB962C8B-B14F-4D97-AF65-F5344CB8AC3E}">
        <p14:creationId xmlns:p14="http://schemas.microsoft.com/office/powerpoint/2010/main" val="381061961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86019" name="Rectangle 2"/>
          <p:cNvSpPr>
            <a:spLocks noGrp="1" noChangeArrowheads="1"/>
          </p:cNvSpPr>
          <p:nvPr>
            <p:ph type="title"/>
          </p:nvPr>
        </p:nvSpPr>
        <p:spPr/>
        <p:txBody>
          <a:bodyPr/>
          <a:lstStyle/>
          <a:p>
            <a:pPr eaLnBrk="1" hangingPunct="1"/>
            <a:r>
              <a:rPr lang="en-US" altLang="zh-CN" dirty="0"/>
              <a:t>1.2.4 </a:t>
            </a:r>
            <a:r>
              <a:rPr lang="zh-CN" altLang="en-US" dirty="0"/>
              <a:t>空间复杂度</a:t>
            </a:r>
            <a:r>
              <a:rPr lang="en-US" altLang="zh-CN" dirty="0">
                <a:latin typeface="+mn-ea"/>
              </a:rPr>
              <a:t>——</a:t>
            </a:r>
            <a:r>
              <a:rPr lang="zh-CN" altLang="en-US" dirty="0" smtClean="0"/>
              <a:t>程序所需要的空间</a:t>
            </a:r>
            <a:endParaRPr lang="en-US" altLang="zh-CN" dirty="0" smtClean="0"/>
          </a:p>
        </p:txBody>
      </p:sp>
      <p:sp>
        <p:nvSpPr>
          <p:cNvPr id="73731" name="Rectangle 3"/>
          <p:cNvSpPr>
            <a:spLocks noGrp="1" noChangeArrowheads="1"/>
          </p:cNvSpPr>
          <p:nvPr>
            <p:ph type="body" idx="1"/>
          </p:nvPr>
        </p:nvSpPr>
        <p:spPr>
          <a:xfrm>
            <a:off x="394086" y="1196975"/>
            <a:ext cx="7786687" cy="4525962"/>
          </a:xfrm>
        </p:spPr>
        <p:txBody>
          <a:bodyPr/>
          <a:lstStyle/>
          <a:p>
            <a:pPr lvl="1">
              <a:spcBef>
                <a:spcPts val="600"/>
              </a:spcBef>
              <a:buSzPct val="160000"/>
              <a:buFontTx/>
              <a:buNone/>
              <a:defRPr/>
            </a:pPr>
            <a:r>
              <a:rPr lang="en-US" altLang="zh-CN" sz="2500" dirty="0" smtClean="0">
                <a:solidFill>
                  <a:srgbClr val="FF0000"/>
                </a:solidFill>
                <a:latin typeface="+mn-lt"/>
                <a:ea typeface="+mn-ea"/>
                <a:cs typeface="+mn-cs"/>
              </a:rPr>
              <a:t>1.</a:t>
            </a:r>
            <a:r>
              <a:rPr lang="zh-CN" altLang="en-US" sz="2500" dirty="0" smtClean="0">
                <a:solidFill>
                  <a:srgbClr val="FF0000"/>
                </a:solidFill>
                <a:latin typeface="+mn-lt"/>
                <a:ea typeface="+mn-ea"/>
                <a:cs typeface="+mn-cs"/>
              </a:rPr>
              <a:t>指令空间</a:t>
            </a:r>
            <a:r>
              <a:rPr lang="zh-CN" altLang="en-US" sz="2500" dirty="0" smtClean="0">
                <a:latin typeface="+mn-lt"/>
                <a:ea typeface="+mn-ea"/>
                <a:cs typeface="+mn-cs"/>
              </a:rPr>
              <a:t>---用来存储经过编译之后的程序空间。程序所需的指令空间的大小取决于如下因素：</a:t>
            </a:r>
          </a:p>
          <a:p>
            <a:pPr lvl="2">
              <a:spcBef>
                <a:spcPts val="600"/>
              </a:spcBef>
              <a:defRPr/>
            </a:pPr>
            <a:r>
              <a:rPr lang="zh-CN" altLang="en-US" sz="2400" dirty="0" smtClean="0">
                <a:latin typeface="+mn-lt"/>
                <a:ea typeface="+mn-ea"/>
                <a:cs typeface="+mn-cs"/>
              </a:rPr>
              <a:t> 把程序编译成机器代码的编译器；</a:t>
            </a:r>
          </a:p>
          <a:p>
            <a:pPr lvl="2">
              <a:spcBef>
                <a:spcPts val="600"/>
              </a:spcBef>
              <a:defRPr/>
            </a:pPr>
            <a:r>
              <a:rPr lang="zh-CN" altLang="en-US" sz="2400" dirty="0" smtClean="0">
                <a:latin typeface="+mn-lt"/>
                <a:ea typeface="+mn-ea"/>
                <a:cs typeface="+mn-cs"/>
              </a:rPr>
              <a:t> 编译时实际采用的编译器选项；</a:t>
            </a:r>
          </a:p>
          <a:p>
            <a:pPr lvl="2">
              <a:spcBef>
                <a:spcPts val="600"/>
              </a:spcBef>
              <a:defRPr/>
            </a:pPr>
            <a:r>
              <a:rPr lang="zh-CN" altLang="en-US" sz="2400" dirty="0" smtClean="0">
                <a:latin typeface="+mn-lt"/>
                <a:ea typeface="+mn-ea"/>
                <a:cs typeface="+mn-cs"/>
              </a:rPr>
              <a:t> 目标计算机。</a:t>
            </a:r>
          </a:p>
          <a:p>
            <a:pPr eaLnBrk="1" hangingPunct="1">
              <a:defRPr/>
            </a:pPr>
            <a:endParaRPr lang="en-US" altLang="zh-CN" dirty="0" smtClean="0"/>
          </a:p>
          <a:p>
            <a:pPr eaLnBrk="1" hangingPunct="1">
              <a:defRPr/>
            </a:pPr>
            <a:endParaRPr lang="en-US" altLang="zh-CN" dirty="0" smtClean="0"/>
          </a:p>
        </p:txBody>
      </p:sp>
    </p:spTree>
    <p:extLst>
      <p:ext uri="{BB962C8B-B14F-4D97-AF65-F5344CB8AC3E}">
        <p14:creationId xmlns:p14="http://schemas.microsoft.com/office/powerpoint/2010/main" val="2779554268"/>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87043" name="Rectangle 2"/>
          <p:cNvSpPr>
            <a:spLocks noGrp="1" noChangeArrowheads="1"/>
          </p:cNvSpPr>
          <p:nvPr>
            <p:ph type="title"/>
          </p:nvPr>
        </p:nvSpPr>
        <p:spPr/>
        <p:txBody>
          <a:bodyPr/>
          <a:lstStyle/>
          <a:p>
            <a:pPr eaLnBrk="1" hangingPunct="1"/>
            <a:r>
              <a:rPr lang="en-US" altLang="zh-CN" dirty="0"/>
              <a:t>1.2.4 </a:t>
            </a:r>
            <a:r>
              <a:rPr lang="zh-CN" altLang="en-US" dirty="0"/>
              <a:t>空间复杂度</a:t>
            </a:r>
            <a:r>
              <a:rPr lang="en-US" altLang="zh-CN" dirty="0">
                <a:latin typeface="+mn-ea"/>
              </a:rPr>
              <a:t>——</a:t>
            </a:r>
            <a:r>
              <a:rPr lang="zh-CN" altLang="en-US" dirty="0" smtClean="0"/>
              <a:t>程序所需要的空间</a:t>
            </a:r>
            <a:endParaRPr lang="en-US" altLang="zh-CN" dirty="0" smtClean="0"/>
          </a:p>
        </p:txBody>
      </p:sp>
      <p:sp>
        <p:nvSpPr>
          <p:cNvPr id="73731" name="Rectangle 3"/>
          <p:cNvSpPr>
            <a:spLocks noGrp="1" noChangeArrowheads="1"/>
          </p:cNvSpPr>
          <p:nvPr>
            <p:ph type="body" idx="1"/>
          </p:nvPr>
        </p:nvSpPr>
        <p:spPr>
          <a:xfrm>
            <a:off x="536129" y="1286168"/>
            <a:ext cx="7786687" cy="4525962"/>
          </a:xfrm>
        </p:spPr>
        <p:txBody>
          <a:bodyPr/>
          <a:lstStyle/>
          <a:p>
            <a:pPr lvl="1">
              <a:spcBef>
                <a:spcPts val="600"/>
              </a:spcBef>
              <a:buSzPct val="160000"/>
              <a:buFontTx/>
              <a:buNone/>
              <a:defRPr/>
            </a:pPr>
            <a:r>
              <a:rPr lang="en-US" altLang="zh-CN" sz="2500" dirty="0" smtClean="0">
                <a:solidFill>
                  <a:srgbClr val="FF0000"/>
                </a:solidFill>
                <a:latin typeface="+mn-lt"/>
                <a:ea typeface="+mn-ea"/>
                <a:cs typeface="+mn-cs"/>
              </a:rPr>
              <a:t>2.</a:t>
            </a:r>
            <a:r>
              <a:rPr lang="zh-CN" altLang="en-US" sz="2500" dirty="0" smtClean="0">
                <a:solidFill>
                  <a:srgbClr val="FF0000"/>
                </a:solidFill>
                <a:latin typeface="+mn-lt"/>
                <a:ea typeface="+mn-ea"/>
                <a:cs typeface="+mn-cs"/>
              </a:rPr>
              <a:t>数据空间</a:t>
            </a:r>
            <a:r>
              <a:rPr lang="zh-CN" altLang="en-US" sz="2500" dirty="0" smtClean="0">
                <a:latin typeface="+mn-lt"/>
                <a:ea typeface="+mn-ea"/>
                <a:cs typeface="+mn-cs"/>
              </a:rPr>
              <a:t>---用来存储所有常量和变量的值。分成两部分：</a:t>
            </a:r>
            <a:endParaRPr lang="en-US" altLang="zh-CN" sz="2500" dirty="0" smtClean="0">
              <a:latin typeface="+mn-lt"/>
              <a:ea typeface="+mn-ea"/>
              <a:cs typeface="+mn-cs"/>
            </a:endParaRPr>
          </a:p>
          <a:p>
            <a:pPr lvl="1">
              <a:spcBef>
                <a:spcPts val="600"/>
              </a:spcBef>
              <a:buSzPct val="160000"/>
              <a:buFontTx/>
              <a:buNone/>
              <a:defRPr/>
            </a:pPr>
            <a:r>
              <a:rPr lang="zh-CN" altLang="en-US" sz="2500" dirty="0" smtClean="0">
                <a:latin typeface="+mn-lt"/>
                <a:ea typeface="+mn-ea"/>
                <a:cs typeface="+mn-cs"/>
              </a:rPr>
              <a:t>    </a:t>
            </a:r>
            <a:r>
              <a:rPr lang="en-US" altLang="zh-CN" sz="2500" dirty="0" smtClean="0">
                <a:latin typeface="+mn-lt"/>
                <a:ea typeface="+mn-ea"/>
                <a:cs typeface="+mn-cs"/>
              </a:rPr>
              <a:t>a.) </a:t>
            </a:r>
            <a:r>
              <a:rPr lang="zh-CN" altLang="en-US" sz="2500" dirty="0" smtClean="0">
                <a:latin typeface="+mn-lt"/>
                <a:ea typeface="+mn-ea"/>
                <a:cs typeface="+mn-cs"/>
              </a:rPr>
              <a:t>存储常量和简单变量；</a:t>
            </a:r>
          </a:p>
          <a:p>
            <a:pPr>
              <a:spcBef>
                <a:spcPts val="600"/>
              </a:spcBef>
              <a:buFontTx/>
              <a:buNone/>
              <a:defRPr/>
            </a:pPr>
            <a:r>
              <a:rPr lang="zh-CN" altLang="en-US" dirty="0" smtClean="0"/>
              <a:t>          </a:t>
            </a:r>
            <a:r>
              <a:rPr lang="en-US" altLang="zh-CN" dirty="0" smtClean="0"/>
              <a:t>b.) </a:t>
            </a:r>
            <a:r>
              <a:rPr lang="zh-CN" altLang="en-US" dirty="0" smtClean="0"/>
              <a:t>存储复合变量。</a:t>
            </a:r>
            <a:endParaRPr lang="en-US" altLang="zh-CN" dirty="0" smtClean="0"/>
          </a:p>
          <a:p>
            <a:pPr lvl="1">
              <a:spcBef>
                <a:spcPct val="50000"/>
              </a:spcBef>
              <a:defRPr/>
            </a:pPr>
            <a:r>
              <a:rPr lang="zh-CN" altLang="en-US" dirty="0" smtClean="0">
                <a:latin typeface="+mn-ea"/>
                <a:ea typeface="+mn-ea"/>
              </a:rPr>
              <a:t>前者所需的空间取决于所使用的计算机和编译器，以及变量与常量的数目，这是由于我们往往是指计算所需内存的字节数，而每个字节所占的数位依赖于具体的机器环境。</a:t>
            </a:r>
            <a:endParaRPr lang="en-US" altLang="zh-CN" dirty="0" smtClean="0">
              <a:latin typeface="+mn-ea"/>
              <a:ea typeface="+mn-ea"/>
            </a:endParaRPr>
          </a:p>
          <a:p>
            <a:pPr lvl="1">
              <a:spcBef>
                <a:spcPct val="50000"/>
              </a:spcBef>
              <a:defRPr/>
            </a:pPr>
            <a:r>
              <a:rPr lang="zh-CN" altLang="en-US" dirty="0" smtClean="0">
                <a:latin typeface="+mn-ea"/>
                <a:ea typeface="+mn-ea"/>
              </a:rPr>
              <a:t>后者包括数据结构所需的空间及动态分配的空间。</a:t>
            </a:r>
          </a:p>
          <a:p>
            <a:pPr>
              <a:spcBef>
                <a:spcPts val="600"/>
              </a:spcBef>
              <a:buFontTx/>
              <a:buNone/>
              <a:defRPr/>
            </a:pPr>
            <a:endParaRPr lang="zh-CN" altLang="en-US" dirty="0" smtClean="0"/>
          </a:p>
          <a:p>
            <a:pPr eaLnBrk="1" hangingPunct="1">
              <a:defRPr/>
            </a:pPr>
            <a:endParaRPr lang="en-US" altLang="zh-CN" dirty="0" smtClean="0"/>
          </a:p>
          <a:p>
            <a:pPr eaLnBrk="1" hangingPunct="1">
              <a:defRPr/>
            </a:pPr>
            <a:endParaRPr lang="en-US" altLang="zh-CN" dirty="0" smtClean="0"/>
          </a:p>
        </p:txBody>
      </p:sp>
    </p:spTree>
    <p:extLst>
      <p:ext uri="{BB962C8B-B14F-4D97-AF65-F5344CB8AC3E}">
        <p14:creationId xmlns:p14="http://schemas.microsoft.com/office/powerpoint/2010/main" val="591092119"/>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88067" name="Rectangle 2"/>
          <p:cNvSpPr>
            <a:spLocks noGrp="1" noChangeArrowheads="1"/>
          </p:cNvSpPr>
          <p:nvPr>
            <p:ph type="title"/>
          </p:nvPr>
        </p:nvSpPr>
        <p:spPr/>
        <p:txBody>
          <a:bodyPr/>
          <a:lstStyle/>
          <a:p>
            <a:pPr eaLnBrk="1" hangingPunct="1"/>
            <a:r>
              <a:rPr lang="en-US" altLang="zh-CN" dirty="0"/>
              <a:t>1.2.4 </a:t>
            </a:r>
            <a:r>
              <a:rPr lang="zh-CN" altLang="en-US" dirty="0"/>
              <a:t>空间复杂度</a:t>
            </a:r>
            <a:r>
              <a:rPr lang="en-US" altLang="zh-CN" dirty="0">
                <a:latin typeface="+mn-ea"/>
              </a:rPr>
              <a:t>——</a:t>
            </a:r>
            <a:r>
              <a:rPr lang="zh-CN" altLang="en-US" dirty="0" smtClean="0"/>
              <a:t>字节数</a:t>
            </a:r>
            <a:endParaRPr lang="en-US" altLang="zh-CN" dirty="0" smtClean="0"/>
          </a:p>
        </p:txBody>
      </p:sp>
      <p:sp>
        <p:nvSpPr>
          <p:cNvPr id="88068" name="Rectangle 3"/>
          <p:cNvSpPr>
            <a:spLocks noGrp="1" noChangeArrowheads="1"/>
          </p:cNvSpPr>
          <p:nvPr>
            <p:ph type="body" idx="1"/>
          </p:nvPr>
        </p:nvSpPr>
        <p:spPr/>
        <p:txBody>
          <a:bodyPr/>
          <a:lstStyle/>
          <a:p>
            <a:pPr>
              <a:spcBef>
                <a:spcPct val="50000"/>
              </a:spcBef>
              <a:buFontTx/>
              <a:buNone/>
            </a:pPr>
            <a:r>
              <a:rPr lang="zh-CN" altLang="en-US" sz="2200" smtClean="0"/>
              <a:t>类型                 占用字节数             适用范围</a:t>
            </a:r>
          </a:p>
          <a:p>
            <a:pPr>
              <a:spcBef>
                <a:spcPct val="15000"/>
              </a:spcBef>
              <a:buFontTx/>
              <a:buNone/>
            </a:pPr>
            <a:r>
              <a:rPr lang="en-US" altLang="zh-CN" sz="2200" smtClean="0"/>
              <a:t>char                            1                 -128–127</a:t>
            </a:r>
          </a:p>
          <a:p>
            <a:pPr>
              <a:spcBef>
                <a:spcPct val="15000"/>
              </a:spcBef>
              <a:buFontTx/>
              <a:buNone/>
            </a:pPr>
            <a:r>
              <a:rPr lang="en-US" altLang="zh-CN" sz="2200" smtClean="0"/>
              <a:t>unsigned char             1                  0 – 255</a:t>
            </a:r>
          </a:p>
          <a:p>
            <a:pPr>
              <a:spcBef>
                <a:spcPct val="15000"/>
              </a:spcBef>
              <a:buFontTx/>
              <a:buNone/>
            </a:pPr>
            <a:r>
              <a:rPr lang="en-US" altLang="zh-CN" sz="2200" smtClean="0"/>
              <a:t>short                           2                -32768-32767</a:t>
            </a:r>
          </a:p>
          <a:p>
            <a:pPr>
              <a:spcBef>
                <a:spcPct val="15000"/>
              </a:spcBef>
              <a:buFontTx/>
              <a:buNone/>
            </a:pPr>
            <a:r>
              <a:rPr lang="en-US" altLang="zh-CN" sz="2200" smtClean="0"/>
              <a:t>int                               2                -32768-32767</a:t>
            </a:r>
          </a:p>
          <a:p>
            <a:pPr>
              <a:spcBef>
                <a:spcPct val="15000"/>
              </a:spcBef>
              <a:buFontTx/>
              <a:buNone/>
            </a:pPr>
            <a:r>
              <a:rPr lang="en-US" altLang="zh-CN" sz="2200" smtClean="0"/>
              <a:t>unsigned int               2                 0-65535</a:t>
            </a:r>
          </a:p>
          <a:p>
            <a:pPr>
              <a:spcBef>
                <a:spcPct val="15000"/>
              </a:spcBef>
              <a:buFontTx/>
              <a:buNone/>
            </a:pPr>
            <a:r>
              <a:rPr lang="en-US" altLang="zh-CN" sz="2200" smtClean="0"/>
              <a:t> long                           4                 -231- 231-1</a:t>
            </a:r>
          </a:p>
          <a:p>
            <a:pPr>
              <a:spcBef>
                <a:spcPct val="15000"/>
              </a:spcBef>
              <a:buFontTx/>
              <a:buNone/>
            </a:pPr>
            <a:r>
              <a:rPr lang="en-US" altLang="zh-CN" sz="2200" smtClean="0"/>
              <a:t>unsigned long             4                   0- 231-1</a:t>
            </a:r>
          </a:p>
          <a:p>
            <a:pPr>
              <a:spcBef>
                <a:spcPct val="15000"/>
              </a:spcBef>
              <a:buFontTx/>
              <a:buNone/>
            </a:pPr>
            <a:r>
              <a:rPr lang="en-US" altLang="zh-CN" sz="2200" smtClean="0"/>
              <a:t>float                            4                  </a:t>
            </a:r>
            <a:r>
              <a:rPr lang="en-US" altLang="zh-CN" sz="2200" smtClean="0">
                <a:sym typeface="Symbol" panose="05050102010706020507" pitchFamily="18" charset="2"/>
              </a:rPr>
              <a:t>3.4E 38</a:t>
            </a:r>
          </a:p>
          <a:p>
            <a:pPr>
              <a:spcBef>
                <a:spcPct val="15000"/>
              </a:spcBef>
              <a:buFontTx/>
              <a:buNone/>
            </a:pPr>
            <a:r>
              <a:rPr lang="en-US" altLang="zh-CN" sz="2200" smtClean="0">
                <a:sym typeface="Symbol" panose="05050102010706020507" pitchFamily="18" charset="2"/>
              </a:rPr>
              <a:t>double                        8                  1.7E 308</a:t>
            </a:r>
          </a:p>
          <a:p>
            <a:pPr>
              <a:spcBef>
                <a:spcPct val="15000"/>
              </a:spcBef>
              <a:buFontTx/>
              <a:buNone/>
            </a:pPr>
            <a:r>
              <a:rPr lang="en-US" altLang="zh-CN" sz="2200" smtClean="0">
                <a:sym typeface="Symbol" panose="05050102010706020507" pitchFamily="18" charset="2"/>
              </a:rPr>
              <a:t> pointer                       2</a:t>
            </a:r>
            <a:endParaRPr lang="zh-CN" altLang="en-US" sz="2200" smtClean="0"/>
          </a:p>
          <a:p>
            <a:pPr eaLnBrk="1" hangingPunct="1"/>
            <a:endParaRPr lang="en-US" altLang="zh-CN" smtClean="0"/>
          </a:p>
          <a:p>
            <a:pPr eaLnBrk="1" hangingPunct="1"/>
            <a:endParaRPr lang="en-US" altLang="zh-CN" smtClean="0"/>
          </a:p>
        </p:txBody>
      </p:sp>
    </p:spTree>
    <p:extLst>
      <p:ext uri="{BB962C8B-B14F-4D97-AF65-F5344CB8AC3E}">
        <p14:creationId xmlns:p14="http://schemas.microsoft.com/office/powerpoint/2010/main" val="468069971"/>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89091" name="Rectangle 2"/>
          <p:cNvSpPr>
            <a:spLocks noGrp="1" noChangeArrowheads="1"/>
          </p:cNvSpPr>
          <p:nvPr>
            <p:ph type="title"/>
          </p:nvPr>
        </p:nvSpPr>
        <p:spPr/>
        <p:txBody>
          <a:bodyPr/>
          <a:lstStyle/>
          <a:p>
            <a:pPr eaLnBrk="1" hangingPunct="1"/>
            <a:r>
              <a:rPr lang="en-US" altLang="zh-CN" dirty="0"/>
              <a:t>1.2.4 </a:t>
            </a:r>
            <a:r>
              <a:rPr lang="zh-CN" altLang="en-US" dirty="0"/>
              <a:t>空间复杂度</a:t>
            </a:r>
            <a:r>
              <a:rPr lang="en-US" altLang="zh-CN" dirty="0">
                <a:latin typeface="+mn-ea"/>
              </a:rPr>
              <a:t>——</a:t>
            </a:r>
            <a:r>
              <a:rPr lang="zh-CN" altLang="en-US" dirty="0" smtClean="0"/>
              <a:t>程序所需要的空间</a:t>
            </a:r>
            <a:endParaRPr lang="en-US" altLang="zh-CN" dirty="0" smtClean="0"/>
          </a:p>
        </p:txBody>
      </p:sp>
      <p:sp>
        <p:nvSpPr>
          <p:cNvPr id="2" name="Rectangle 3"/>
          <p:cNvSpPr>
            <a:spLocks noGrp="1" noChangeArrowheads="1"/>
          </p:cNvSpPr>
          <p:nvPr>
            <p:ph type="body" idx="1"/>
          </p:nvPr>
        </p:nvSpPr>
        <p:spPr>
          <a:xfrm>
            <a:off x="920750" y="1348312"/>
            <a:ext cx="7786687" cy="4525962"/>
          </a:xfrm>
        </p:spPr>
        <p:txBody>
          <a:bodyPr/>
          <a:lstStyle/>
          <a:p>
            <a:pPr marL="0" indent="0">
              <a:spcBef>
                <a:spcPts val="0"/>
              </a:spcBef>
              <a:buSzPct val="160000"/>
              <a:buNone/>
              <a:defRPr/>
            </a:pPr>
            <a:r>
              <a:rPr lang="en-US" altLang="zh-CN" dirty="0" smtClean="0">
                <a:solidFill>
                  <a:srgbClr val="FF0000"/>
                </a:solidFill>
              </a:rPr>
              <a:t>3.</a:t>
            </a:r>
            <a:r>
              <a:rPr lang="zh-CN" altLang="en-US" dirty="0" smtClean="0">
                <a:solidFill>
                  <a:srgbClr val="FF0000"/>
                </a:solidFill>
              </a:rPr>
              <a:t>环境栈空间</a:t>
            </a:r>
            <a:r>
              <a:rPr lang="zh-CN" altLang="en-US" dirty="0" smtClean="0"/>
              <a:t>---保存函数调用返回时恢复运行所需要的       </a:t>
            </a:r>
            <a:endParaRPr lang="en-US" altLang="zh-CN" dirty="0" smtClean="0"/>
          </a:p>
          <a:p>
            <a:pPr marL="0" indent="0">
              <a:spcBef>
                <a:spcPts val="0"/>
              </a:spcBef>
              <a:buSzPct val="160000"/>
              <a:buNone/>
              <a:defRPr/>
            </a:pPr>
            <a:r>
              <a:rPr lang="zh-CN" altLang="en-US" dirty="0" smtClean="0"/>
              <a:t>   信息。当一个函数被调用时，下面数据将被保存在环  </a:t>
            </a:r>
            <a:endParaRPr lang="en-US" altLang="zh-CN" dirty="0" smtClean="0"/>
          </a:p>
          <a:p>
            <a:pPr marL="0" indent="0">
              <a:spcBef>
                <a:spcPts val="0"/>
              </a:spcBef>
              <a:buSzPct val="160000"/>
              <a:buNone/>
              <a:defRPr/>
            </a:pPr>
            <a:r>
              <a:rPr lang="en-US" altLang="zh-CN" dirty="0"/>
              <a:t> </a:t>
            </a:r>
            <a:r>
              <a:rPr lang="en-US" altLang="zh-CN" dirty="0" smtClean="0"/>
              <a:t>  </a:t>
            </a:r>
            <a:r>
              <a:rPr lang="zh-CN" altLang="en-US" dirty="0" smtClean="0"/>
              <a:t>境栈中：</a:t>
            </a:r>
          </a:p>
          <a:p>
            <a:pPr lvl="1">
              <a:lnSpc>
                <a:spcPct val="80000"/>
              </a:lnSpc>
              <a:spcBef>
                <a:spcPts val="0"/>
              </a:spcBef>
              <a:defRPr/>
            </a:pPr>
            <a:r>
              <a:rPr lang="zh-CN" altLang="en-US" sz="2500" dirty="0" smtClean="0">
                <a:latin typeface="+mn-lt"/>
                <a:ea typeface="+mn-ea"/>
                <a:cs typeface="+mn-cs"/>
              </a:rPr>
              <a:t> 返回地址；</a:t>
            </a:r>
          </a:p>
          <a:p>
            <a:pPr lvl="1">
              <a:lnSpc>
                <a:spcPct val="80000"/>
              </a:lnSpc>
              <a:spcBef>
                <a:spcPts val="0"/>
              </a:spcBef>
              <a:defRPr/>
            </a:pPr>
            <a:r>
              <a:rPr lang="zh-CN" altLang="en-US" sz="2500" dirty="0" smtClean="0">
                <a:latin typeface="+mn-lt"/>
                <a:ea typeface="+mn-ea"/>
                <a:cs typeface="+mn-cs"/>
              </a:rPr>
              <a:t>所有局部变量的值、递归函数的传值形式参数的值；</a:t>
            </a:r>
          </a:p>
          <a:p>
            <a:pPr lvl="1">
              <a:lnSpc>
                <a:spcPct val="80000"/>
              </a:lnSpc>
              <a:spcBef>
                <a:spcPts val="0"/>
              </a:spcBef>
              <a:defRPr/>
            </a:pPr>
            <a:r>
              <a:rPr lang="zh-CN" altLang="en-US" sz="2500" dirty="0" smtClean="0">
                <a:latin typeface="+mn-lt"/>
                <a:ea typeface="+mn-ea"/>
                <a:cs typeface="+mn-cs"/>
              </a:rPr>
              <a:t>所有引用参数以及常量引用参数的定义。</a:t>
            </a:r>
          </a:p>
          <a:p>
            <a:pPr eaLnBrk="1" hangingPunct="1">
              <a:defRPr/>
            </a:pPr>
            <a:endParaRPr lang="en-US" altLang="zh-CN" dirty="0" smtClean="0"/>
          </a:p>
          <a:p>
            <a:pPr eaLnBrk="1" hangingPunct="1">
              <a:defRPr/>
            </a:pPr>
            <a:endParaRPr lang="en-US" altLang="zh-CN" dirty="0" smtClean="0"/>
          </a:p>
        </p:txBody>
      </p:sp>
    </p:spTree>
    <p:extLst>
      <p:ext uri="{BB962C8B-B14F-4D97-AF65-F5344CB8AC3E}">
        <p14:creationId xmlns:p14="http://schemas.microsoft.com/office/powerpoint/2010/main" val="796306899"/>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90115" name="Rectangle 2"/>
          <p:cNvSpPr>
            <a:spLocks noGrp="1" noChangeArrowheads="1"/>
          </p:cNvSpPr>
          <p:nvPr>
            <p:ph type="title"/>
          </p:nvPr>
        </p:nvSpPr>
        <p:spPr/>
        <p:txBody>
          <a:bodyPr/>
          <a:lstStyle/>
          <a:p>
            <a:pPr eaLnBrk="1" hangingPunct="1"/>
            <a:r>
              <a:rPr lang="en-US" altLang="zh-CN" dirty="0" smtClean="0">
                <a:latin typeface="+mn-ea"/>
              </a:rPr>
              <a:t>1.2.4 </a:t>
            </a:r>
            <a:r>
              <a:rPr lang="zh-CN" altLang="en-US" dirty="0">
                <a:latin typeface="+mn-ea"/>
              </a:rPr>
              <a:t>空间</a:t>
            </a:r>
            <a:r>
              <a:rPr lang="zh-CN" altLang="en-US" dirty="0" smtClean="0">
                <a:latin typeface="+mn-ea"/>
              </a:rPr>
              <a:t>复杂</a:t>
            </a:r>
            <a:r>
              <a:rPr lang="zh-CN" altLang="en-US" dirty="0">
                <a:latin typeface="+mn-ea"/>
              </a:rPr>
              <a:t>度</a:t>
            </a:r>
            <a:r>
              <a:rPr lang="en-US" altLang="zh-CN" dirty="0" smtClean="0">
                <a:latin typeface="+mn-ea"/>
              </a:rPr>
              <a:t>——</a:t>
            </a:r>
            <a:r>
              <a:rPr lang="zh-CN" altLang="en-US" dirty="0" smtClean="0"/>
              <a:t>例</a:t>
            </a:r>
            <a:r>
              <a:rPr lang="en-US" altLang="zh-CN" dirty="0" smtClean="0"/>
              <a:t>1  </a:t>
            </a:r>
            <a:r>
              <a:rPr lang="zh-CN" altLang="en-US" dirty="0" smtClean="0"/>
              <a:t>利用应用参数</a:t>
            </a:r>
            <a:endParaRPr lang="en-US" altLang="zh-CN" dirty="0" smtClean="0"/>
          </a:p>
        </p:txBody>
      </p:sp>
      <p:sp>
        <p:nvSpPr>
          <p:cNvPr id="90116" name="Rectangle 3"/>
          <p:cNvSpPr>
            <a:spLocks noGrp="1" noChangeArrowheads="1"/>
          </p:cNvSpPr>
          <p:nvPr>
            <p:ph type="body" idx="1"/>
          </p:nvPr>
        </p:nvSpPr>
        <p:spPr/>
        <p:txBody>
          <a:bodyPr/>
          <a:lstStyle/>
          <a:p>
            <a:pPr>
              <a:lnSpc>
                <a:spcPct val="50000"/>
              </a:lnSpc>
              <a:spcBef>
                <a:spcPct val="50000"/>
              </a:spcBef>
            </a:pPr>
            <a:r>
              <a:rPr lang="en-US" altLang="zh-CN" dirty="0" smtClean="0"/>
              <a:t>Template &lt;class T&gt;</a:t>
            </a:r>
          </a:p>
          <a:p>
            <a:pPr>
              <a:lnSpc>
                <a:spcPct val="50000"/>
              </a:lnSpc>
              <a:spcBef>
                <a:spcPct val="50000"/>
              </a:spcBef>
            </a:pPr>
            <a:r>
              <a:rPr lang="en-US" altLang="zh-CN" dirty="0" smtClean="0"/>
              <a:t>T </a:t>
            </a:r>
            <a:r>
              <a:rPr lang="en-US" altLang="zh-CN" dirty="0" err="1" smtClean="0"/>
              <a:t>abc</a:t>
            </a:r>
            <a:r>
              <a:rPr lang="en-US" altLang="zh-CN" dirty="0" smtClean="0"/>
              <a:t>( T &amp;a, T &amp;b, T &amp;c)</a:t>
            </a:r>
          </a:p>
          <a:p>
            <a:pPr>
              <a:lnSpc>
                <a:spcPct val="50000"/>
              </a:lnSpc>
              <a:spcBef>
                <a:spcPct val="50000"/>
              </a:spcBef>
            </a:pPr>
            <a:r>
              <a:rPr lang="en-US" altLang="zh-CN" dirty="0" smtClean="0"/>
              <a:t>{</a:t>
            </a:r>
          </a:p>
          <a:p>
            <a:pPr>
              <a:lnSpc>
                <a:spcPct val="50000"/>
              </a:lnSpc>
              <a:spcBef>
                <a:spcPct val="50000"/>
              </a:spcBef>
            </a:pPr>
            <a:r>
              <a:rPr lang="en-US" altLang="zh-CN" dirty="0" smtClean="0"/>
              <a:t>     Return </a:t>
            </a:r>
            <a:r>
              <a:rPr lang="en-US" altLang="zh-CN" dirty="0" err="1" smtClean="0"/>
              <a:t>a+b+c+b</a:t>
            </a:r>
            <a:r>
              <a:rPr lang="en-US" altLang="zh-CN" dirty="0" err="1" smtClean="0">
                <a:sym typeface="Symbol" panose="05050102010706020507" pitchFamily="18" charset="2"/>
              </a:rPr>
              <a:t></a:t>
            </a:r>
            <a:r>
              <a:rPr lang="en-US" altLang="zh-CN" dirty="0" err="1" smtClean="0"/>
              <a:t>c</a:t>
            </a:r>
            <a:r>
              <a:rPr lang="en-US" altLang="zh-CN" dirty="0" smtClean="0"/>
              <a:t>+(</a:t>
            </a:r>
            <a:r>
              <a:rPr lang="en-US" altLang="zh-CN" dirty="0" err="1" smtClean="0"/>
              <a:t>a+b+c</a:t>
            </a:r>
            <a:r>
              <a:rPr lang="en-US" altLang="zh-CN" dirty="0" smtClean="0"/>
              <a:t>)/(</a:t>
            </a:r>
            <a:r>
              <a:rPr lang="en-US" altLang="zh-CN" dirty="0" err="1" smtClean="0"/>
              <a:t>a+b</a:t>
            </a:r>
            <a:r>
              <a:rPr lang="en-US" altLang="zh-CN" dirty="0" smtClean="0"/>
              <a:t>)+4;</a:t>
            </a:r>
          </a:p>
          <a:p>
            <a:pPr>
              <a:lnSpc>
                <a:spcPct val="50000"/>
              </a:lnSpc>
              <a:spcBef>
                <a:spcPct val="50000"/>
              </a:spcBef>
            </a:pPr>
            <a:r>
              <a:rPr lang="zh-CN" altLang="en-US" dirty="0" smtClean="0"/>
              <a:t>}</a:t>
            </a:r>
          </a:p>
          <a:p>
            <a:pPr>
              <a:spcBef>
                <a:spcPct val="50000"/>
              </a:spcBef>
            </a:pPr>
            <a:r>
              <a:rPr lang="zh-CN" altLang="en-US" sz="2000" dirty="0" smtClean="0"/>
              <a:t>在例</a:t>
            </a:r>
            <a:r>
              <a:rPr lang="en-US" altLang="zh-CN" sz="2000" dirty="0" smtClean="0"/>
              <a:t>1</a:t>
            </a:r>
            <a:r>
              <a:rPr lang="zh-CN" altLang="en-US" sz="2000" dirty="0" smtClean="0"/>
              <a:t>中，采用 </a:t>
            </a:r>
            <a:r>
              <a:rPr lang="en-US" altLang="zh-CN" sz="2000" dirty="0" smtClean="0"/>
              <a:t>T </a:t>
            </a:r>
            <a:r>
              <a:rPr lang="zh-CN" altLang="en-US" sz="2000" dirty="0" smtClean="0"/>
              <a:t>作为实例特征。由于 </a:t>
            </a:r>
            <a:r>
              <a:rPr lang="en-US" altLang="zh-CN" sz="2000" dirty="0" err="1" smtClean="0"/>
              <a:t>a,b,c</a:t>
            </a:r>
            <a:r>
              <a:rPr lang="en-US" altLang="zh-CN" sz="2000" dirty="0" smtClean="0"/>
              <a:t> </a:t>
            </a:r>
            <a:r>
              <a:rPr lang="zh-CN" altLang="en-US" sz="2000" dirty="0" smtClean="0"/>
              <a:t>都是</a:t>
            </a:r>
            <a:r>
              <a:rPr lang="zh-CN" altLang="en-US" sz="2000" dirty="0" smtClean="0">
                <a:solidFill>
                  <a:srgbClr val="FF0000"/>
                </a:solidFill>
              </a:rPr>
              <a:t>引用参数</a:t>
            </a:r>
            <a:r>
              <a:rPr lang="zh-CN" altLang="en-US" sz="2000" dirty="0" smtClean="0"/>
              <a:t>，在函数中不需要为它们的值分配空间，但需保存指向这些参数的指针。若每个指针需要2 个字节，则共需要6个字节的指针空间，此时函数所需要的总空间是一个常量，而 </a:t>
            </a:r>
            <a:r>
              <a:rPr lang="en-US" altLang="zh-CN" sz="2000" dirty="0" err="1" smtClean="0"/>
              <a:t>Sabc</a:t>
            </a:r>
            <a:r>
              <a:rPr lang="en-US" altLang="zh-CN" sz="2000" dirty="0" smtClean="0"/>
              <a:t>(</a:t>
            </a:r>
            <a:r>
              <a:rPr lang="zh-CN" altLang="en-US" sz="2000" dirty="0" smtClean="0"/>
              <a:t>实例特征)=0。 </a:t>
            </a:r>
            <a:endParaRPr lang="en-US" altLang="zh-CN" sz="2000" dirty="0" smtClean="0"/>
          </a:p>
          <a:p>
            <a:pPr>
              <a:spcBef>
                <a:spcPct val="50000"/>
              </a:spcBef>
            </a:pPr>
            <a:r>
              <a:rPr lang="zh-CN" altLang="en-US" sz="2000" dirty="0" smtClean="0"/>
              <a:t>但若函数 </a:t>
            </a:r>
            <a:r>
              <a:rPr lang="en-US" altLang="zh-CN" sz="2000" dirty="0" err="1" smtClean="0"/>
              <a:t>abc</a:t>
            </a:r>
            <a:r>
              <a:rPr lang="en-US" altLang="zh-CN" sz="2000" dirty="0" smtClean="0"/>
              <a:t> </a:t>
            </a:r>
            <a:r>
              <a:rPr lang="zh-CN" altLang="en-US" sz="2000" dirty="0" smtClean="0"/>
              <a:t>的参数是</a:t>
            </a:r>
            <a:r>
              <a:rPr lang="zh-CN" altLang="en-US" sz="2000" dirty="0" smtClean="0">
                <a:solidFill>
                  <a:srgbClr val="FF0000"/>
                </a:solidFill>
              </a:rPr>
              <a:t>传值参数</a:t>
            </a:r>
            <a:r>
              <a:rPr lang="zh-CN" altLang="en-US" sz="2000" dirty="0" smtClean="0"/>
              <a:t>，则每个参数需要分配空间 </a:t>
            </a:r>
            <a:r>
              <a:rPr lang="en-US" altLang="zh-CN" sz="2000" dirty="0" err="1" smtClean="0"/>
              <a:t>sizeof</a:t>
            </a:r>
            <a:r>
              <a:rPr lang="en-US" altLang="zh-CN" sz="2000" dirty="0" smtClean="0"/>
              <a:t>(T) </a:t>
            </a:r>
            <a:r>
              <a:rPr lang="zh-CN" altLang="en-US" sz="2000" dirty="0" smtClean="0"/>
              <a:t>的空间，于是 </a:t>
            </a:r>
            <a:r>
              <a:rPr lang="en-US" altLang="zh-CN" sz="2000" dirty="0" err="1" smtClean="0"/>
              <a:t>a,b,c</a:t>
            </a:r>
            <a:r>
              <a:rPr lang="en-US" altLang="zh-CN" sz="2000" dirty="0" smtClean="0"/>
              <a:t> </a:t>
            </a:r>
            <a:r>
              <a:rPr lang="zh-CN" altLang="en-US" sz="2000" dirty="0" smtClean="0"/>
              <a:t>所需的空间为：3 </a:t>
            </a:r>
            <a:r>
              <a:rPr lang="zh-CN" altLang="en-US" sz="2000" dirty="0" smtClean="0">
                <a:sym typeface="Symbol" panose="05050102010706020507" pitchFamily="18" charset="2"/>
              </a:rPr>
              <a:t></a:t>
            </a:r>
            <a:r>
              <a:rPr lang="en-US" altLang="zh-CN" sz="2000" dirty="0" err="1" smtClean="0">
                <a:sym typeface="Symbol" panose="05050102010706020507" pitchFamily="18" charset="2"/>
              </a:rPr>
              <a:t>sizeof</a:t>
            </a:r>
            <a:r>
              <a:rPr lang="en-US" altLang="zh-CN" sz="2000" dirty="0" smtClean="0">
                <a:sym typeface="Symbol" panose="05050102010706020507" pitchFamily="18" charset="2"/>
              </a:rPr>
              <a:t>(T). </a:t>
            </a:r>
            <a:r>
              <a:rPr lang="zh-CN" altLang="en-US" sz="2000" dirty="0" smtClean="0">
                <a:sym typeface="Symbol" panose="05050102010706020507" pitchFamily="18" charset="2"/>
              </a:rPr>
              <a:t>函数 </a:t>
            </a:r>
            <a:r>
              <a:rPr lang="en-US" altLang="zh-CN" sz="2000" dirty="0" err="1" smtClean="0">
                <a:sym typeface="Symbol" panose="05050102010706020507" pitchFamily="18" charset="2"/>
              </a:rPr>
              <a:t>abc</a:t>
            </a:r>
            <a:r>
              <a:rPr lang="en-US" altLang="zh-CN" sz="2000" dirty="0" smtClean="0">
                <a:sym typeface="Symbol" panose="05050102010706020507" pitchFamily="18" charset="2"/>
              </a:rPr>
              <a:t> </a:t>
            </a:r>
            <a:r>
              <a:rPr lang="zh-CN" altLang="en-US" sz="2000" dirty="0" smtClean="0">
                <a:sym typeface="Symbol" panose="05050102010706020507" pitchFamily="18" charset="2"/>
              </a:rPr>
              <a:t>所需要的其他空间都与 </a:t>
            </a:r>
            <a:r>
              <a:rPr lang="en-US" altLang="zh-CN" sz="2000" dirty="0" smtClean="0">
                <a:sym typeface="Symbol" panose="05050102010706020507" pitchFamily="18" charset="2"/>
              </a:rPr>
              <a:t>T </a:t>
            </a:r>
            <a:r>
              <a:rPr lang="zh-CN" altLang="en-US" sz="2000" dirty="0" smtClean="0">
                <a:sym typeface="Symbol" panose="05050102010706020507" pitchFamily="18" charset="2"/>
              </a:rPr>
              <a:t>无关，故</a:t>
            </a:r>
            <a:r>
              <a:rPr lang="en-US" altLang="zh-CN" sz="2000" dirty="0" err="1" smtClean="0"/>
              <a:t>Sabc</a:t>
            </a:r>
            <a:r>
              <a:rPr lang="en-US" altLang="zh-CN" sz="2000" dirty="0" smtClean="0"/>
              <a:t>(</a:t>
            </a:r>
            <a:r>
              <a:rPr lang="zh-CN" altLang="en-US" sz="2000" dirty="0" smtClean="0"/>
              <a:t>实例特征)=</a:t>
            </a:r>
            <a:r>
              <a:rPr lang="zh-CN" altLang="en-US" sz="2000" dirty="0" smtClean="0">
                <a:sym typeface="Symbol" panose="05050102010706020507" pitchFamily="18" charset="2"/>
              </a:rPr>
              <a:t> </a:t>
            </a:r>
            <a:r>
              <a:rPr lang="zh-CN" altLang="en-US" sz="2000" dirty="0" smtClean="0"/>
              <a:t>3 </a:t>
            </a:r>
            <a:r>
              <a:rPr lang="zh-CN" altLang="en-US" sz="2000" dirty="0" smtClean="0">
                <a:sym typeface="Symbol" panose="05050102010706020507" pitchFamily="18" charset="2"/>
              </a:rPr>
              <a:t></a:t>
            </a:r>
            <a:r>
              <a:rPr lang="en-US" altLang="zh-CN" sz="2000" dirty="0" err="1" smtClean="0">
                <a:sym typeface="Symbol" panose="05050102010706020507" pitchFamily="18" charset="2"/>
              </a:rPr>
              <a:t>sizeof</a:t>
            </a:r>
            <a:r>
              <a:rPr lang="en-US" altLang="zh-CN" sz="2000" dirty="0" smtClean="0">
                <a:sym typeface="Symbol" panose="05050102010706020507" pitchFamily="18" charset="2"/>
              </a:rPr>
              <a:t>(T)。</a:t>
            </a:r>
            <a:r>
              <a:rPr lang="zh-CN" altLang="en-US" sz="2000" dirty="0" smtClean="0"/>
              <a:t>  </a:t>
            </a:r>
            <a:endParaRPr lang="en-US" altLang="zh-CN" sz="2000" dirty="0" smtClean="0"/>
          </a:p>
          <a:p>
            <a:pPr eaLnBrk="1" hangingPunct="1"/>
            <a:endParaRPr lang="en-US" altLang="zh-CN" dirty="0" smtClean="0"/>
          </a:p>
          <a:p>
            <a:pPr eaLnBrk="1" hangingPunct="1"/>
            <a:endParaRPr lang="en-US" altLang="zh-CN" dirty="0" smtClean="0"/>
          </a:p>
        </p:txBody>
      </p:sp>
    </p:spTree>
    <p:extLst>
      <p:ext uri="{BB962C8B-B14F-4D97-AF65-F5344CB8AC3E}">
        <p14:creationId xmlns:p14="http://schemas.microsoft.com/office/powerpoint/2010/main" val="1826382199"/>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91139" name="Rectangle 2"/>
          <p:cNvSpPr>
            <a:spLocks noGrp="1" noChangeArrowheads="1"/>
          </p:cNvSpPr>
          <p:nvPr>
            <p:ph type="title"/>
          </p:nvPr>
        </p:nvSpPr>
        <p:spPr/>
        <p:txBody>
          <a:bodyPr/>
          <a:lstStyle/>
          <a:p>
            <a:pPr eaLnBrk="1" hangingPunct="1"/>
            <a:r>
              <a:rPr lang="en-US" altLang="zh-CN" dirty="0">
                <a:latin typeface="+mn-ea"/>
              </a:rPr>
              <a:t>1.2.4 </a:t>
            </a:r>
            <a:r>
              <a:rPr lang="zh-CN" altLang="en-US" dirty="0">
                <a:latin typeface="+mn-ea"/>
              </a:rPr>
              <a:t>空间复杂度</a:t>
            </a:r>
            <a:r>
              <a:rPr lang="en-US" altLang="zh-CN" dirty="0">
                <a:latin typeface="+mn-ea"/>
              </a:rPr>
              <a:t>——</a:t>
            </a:r>
            <a:r>
              <a:rPr lang="zh-CN" altLang="en-US" dirty="0" smtClean="0"/>
              <a:t>例</a:t>
            </a:r>
            <a:r>
              <a:rPr lang="en-US" altLang="zh-CN" dirty="0" smtClean="0"/>
              <a:t>2   </a:t>
            </a:r>
            <a:r>
              <a:rPr lang="zh-CN" altLang="en-US" dirty="0" smtClean="0"/>
              <a:t>顺序查找</a:t>
            </a:r>
            <a:endParaRPr lang="en-US" altLang="zh-CN" dirty="0" smtClean="0"/>
          </a:p>
        </p:txBody>
      </p:sp>
      <p:sp>
        <p:nvSpPr>
          <p:cNvPr id="91140" name="Rectangle 3"/>
          <p:cNvSpPr>
            <a:spLocks noGrp="1" noChangeArrowheads="1"/>
          </p:cNvSpPr>
          <p:nvPr>
            <p:ph type="body" idx="1"/>
          </p:nvPr>
        </p:nvSpPr>
        <p:spPr/>
        <p:txBody>
          <a:bodyPr/>
          <a:lstStyle/>
          <a:p>
            <a:pPr>
              <a:spcBef>
                <a:spcPct val="0"/>
              </a:spcBef>
              <a:buFontTx/>
              <a:buNone/>
            </a:pPr>
            <a:r>
              <a:rPr lang="zh-CN" altLang="en-US" dirty="0" smtClean="0">
                <a:sym typeface="Symbol" panose="05050102010706020507" pitchFamily="18" charset="2"/>
              </a:rPr>
              <a:t>在 </a:t>
            </a:r>
            <a:r>
              <a:rPr lang="en-US" altLang="zh-CN" dirty="0" smtClean="0">
                <a:sym typeface="Symbol" panose="05050102010706020507" pitchFamily="18" charset="2"/>
              </a:rPr>
              <a:t>a[</a:t>
            </a:r>
            <a:r>
              <a:rPr lang="en-US" altLang="zh-CN" dirty="0" err="1" smtClean="0">
                <a:sym typeface="Symbol" panose="05050102010706020507" pitchFamily="18" charset="2"/>
              </a:rPr>
              <a:t>0:n-1</a:t>
            </a:r>
            <a:r>
              <a:rPr lang="en-US" altLang="zh-CN" dirty="0" smtClean="0">
                <a:sym typeface="Symbol" panose="05050102010706020507" pitchFamily="18" charset="2"/>
              </a:rPr>
              <a:t>]</a:t>
            </a:r>
            <a:r>
              <a:rPr lang="zh-CN" altLang="en-US" dirty="0" smtClean="0">
                <a:sym typeface="Symbol" panose="05050102010706020507" pitchFamily="18" charset="2"/>
              </a:rPr>
              <a:t>中搜索</a:t>
            </a:r>
            <a:r>
              <a:rPr lang="en-US" altLang="zh-CN" dirty="0" smtClean="0">
                <a:sym typeface="Symbol" panose="05050102010706020507" pitchFamily="18" charset="2"/>
              </a:rPr>
              <a:t>x，</a:t>
            </a:r>
            <a:r>
              <a:rPr lang="zh-CN" altLang="en-US" dirty="0" smtClean="0">
                <a:sym typeface="Symbol" panose="05050102010706020507" pitchFamily="18" charset="2"/>
              </a:rPr>
              <a:t>若找到则返回所在的位置，否则返回-1</a:t>
            </a:r>
            <a:r>
              <a:rPr lang="en-US" altLang="zh-CN" dirty="0" smtClean="0">
                <a:sym typeface="Symbol" panose="05050102010706020507" pitchFamily="18" charset="2"/>
              </a:rPr>
              <a:t> </a:t>
            </a:r>
          </a:p>
          <a:p>
            <a:pPr>
              <a:spcBef>
                <a:spcPct val="0"/>
              </a:spcBef>
              <a:buFontTx/>
              <a:buNone/>
            </a:pPr>
            <a:endParaRPr lang="en-US" altLang="zh-CN" dirty="0" smtClean="0">
              <a:sym typeface="Symbol" panose="05050102010706020507" pitchFamily="18" charset="2"/>
            </a:endParaRPr>
          </a:p>
          <a:p>
            <a:pPr>
              <a:spcBef>
                <a:spcPct val="0"/>
              </a:spcBef>
              <a:buFontTx/>
              <a:buNone/>
            </a:pPr>
            <a:r>
              <a:rPr lang="en-US" altLang="zh-CN" dirty="0" smtClean="0">
                <a:sym typeface="Symbol" panose="05050102010706020507" pitchFamily="18" charset="2"/>
              </a:rPr>
              <a:t>template &lt;class T&gt;</a:t>
            </a:r>
          </a:p>
          <a:p>
            <a:pPr>
              <a:spcBef>
                <a:spcPct val="0"/>
              </a:spcBef>
              <a:buFontTx/>
              <a:buNone/>
            </a:pPr>
            <a:r>
              <a:rPr lang="zh-CN" altLang="en-US" dirty="0" smtClean="0">
                <a:sym typeface="Symbol" panose="05050102010706020507" pitchFamily="18" charset="2"/>
              </a:rPr>
              <a:t>  </a:t>
            </a:r>
            <a:r>
              <a:rPr lang="en-US" altLang="zh-CN" dirty="0" err="1" smtClean="0">
                <a:sym typeface="Symbol" panose="05050102010706020507" pitchFamily="18" charset="2"/>
              </a:rPr>
              <a:t>int</a:t>
            </a:r>
            <a:r>
              <a:rPr lang="en-US" altLang="zh-CN" dirty="0" smtClean="0">
                <a:sym typeface="Symbol" panose="05050102010706020507" pitchFamily="18" charset="2"/>
              </a:rPr>
              <a:t> </a:t>
            </a:r>
            <a:r>
              <a:rPr lang="en-US" altLang="zh-CN" dirty="0" err="1" smtClean="0">
                <a:sym typeface="Symbol" panose="05050102010706020507" pitchFamily="18" charset="2"/>
              </a:rPr>
              <a:t>SequentialSearch</a:t>
            </a:r>
            <a:r>
              <a:rPr lang="en-US" altLang="zh-CN" dirty="0" smtClean="0">
                <a:sym typeface="Symbol" panose="05050102010706020507" pitchFamily="18" charset="2"/>
              </a:rPr>
              <a:t>(T a[],</a:t>
            </a:r>
            <a:r>
              <a:rPr lang="en-US" altLang="zh-CN" dirty="0" err="1" smtClean="0">
                <a:sym typeface="Symbol" panose="05050102010706020507" pitchFamily="18" charset="2"/>
              </a:rPr>
              <a:t>const</a:t>
            </a:r>
            <a:r>
              <a:rPr lang="en-US" altLang="zh-CN" dirty="0" smtClean="0">
                <a:sym typeface="Symbol" panose="05050102010706020507" pitchFamily="18" charset="2"/>
              </a:rPr>
              <a:t> T &amp;x, </a:t>
            </a:r>
            <a:r>
              <a:rPr lang="en-US" altLang="zh-CN" dirty="0" err="1" smtClean="0">
                <a:sym typeface="Symbol" panose="05050102010706020507" pitchFamily="18" charset="2"/>
              </a:rPr>
              <a:t>int</a:t>
            </a:r>
            <a:r>
              <a:rPr lang="en-US" altLang="zh-CN" dirty="0" smtClean="0">
                <a:sym typeface="Symbol" panose="05050102010706020507" pitchFamily="18" charset="2"/>
              </a:rPr>
              <a:t> n)</a:t>
            </a:r>
          </a:p>
          <a:p>
            <a:pPr>
              <a:spcBef>
                <a:spcPct val="0"/>
              </a:spcBef>
              <a:buFontTx/>
              <a:buNone/>
            </a:pPr>
            <a:r>
              <a:rPr lang="en-US" altLang="zh-CN" dirty="0" smtClean="0">
                <a:sym typeface="Symbol" panose="05050102010706020507" pitchFamily="18" charset="2"/>
              </a:rPr>
              <a:t>{  </a:t>
            </a:r>
            <a:endParaRPr lang="zh-CN" altLang="en-US" dirty="0" smtClean="0">
              <a:sym typeface="Symbol" panose="05050102010706020507" pitchFamily="18" charset="2"/>
            </a:endParaRPr>
          </a:p>
          <a:p>
            <a:pPr>
              <a:spcBef>
                <a:spcPct val="0"/>
              </a:spcBef>
              <a:buFontTx/>
              <a:buNone/>
            </a:pPr>
            <a:r>
              <a:rPr lang="en-US" altLang="zh-CN" dirty="0" smtClean="0">
                <a:sym typeface="Symbol" panose="05050102010706020507" pitchFamily="18" charset="2"/>
              </a:rPr>
              <a:t>      </a:t>
            </a:r>
            <a:r>
              <a:rPr lang="en-US" altLang="zh-CN" dirty="0" err="1" smtClean="0">
                <a:sym typeface="Symbol" panose="05050102010706020507" pitchFamily="18" charset="2"/>
              </a:rPr>
              <a:t>int</a:t>
            </a:r>
            <a:r>
              <a:rPr lang="en-US" altLang="zh-CN" dirty="0" smtClean="0">
                <a:sym typeface="Symbol" panose="05050102010706020507" pitchFamily="18" charset="2"/>
              </a:rPr>
              <a:t> </a:t>
            </a:r>
            <a:r>
              <a:rPr lang="en-US" altLang="zh-CN" dirty="0" err="1" smtClean="0">
                <a:sym typeface="Symbol" panose="05050102010706020507" pitchFamily="18" charset="2"/>
              </a:rPr>
              <a:t>i</a:t>
            </a:r>
            <a:r>
              <a:rPr lang="en-US" altLang="zh-CN" dirty="0" smtClean="0">
                <a:sym typeface="Symbol" panose="05050102010706020507" pitchFamily="18" charset="2"/>
              </a:rPr>
              <a:t>;</a:t>
            </a:r>
          </a:p>
          <a:p>
            <a:pPr>
              <a:spcBef>
                <a:spcPct val="0"/>
              </a:spcBef>
              <a:buFontTx/>
              <a:buNone/>
            </a:pPr>
            <a:r>
              <a:rPr lang="en-US" altLang="zh-CN" dirty="0" smtClean="0">
                <a:sym typeface="Symbol" panose="05050102010706020507" pitchFamily="18" charset="2"/>
              </a:rPr>
              <a:t>      for(</a:t>
            </a:r>
            <a:r>
              <a:rPr lang="en-US" altLang="zh-CN" dirty="0" err="1" smtClean="0">
                <a:sym typeface="Symbol" panose="05050102010706020507" pitchFamily="18" charset="2"/>
              </a:rPr>
              <a:t>i</a:t>
            </a:r>
            <a:r>
              <a:rPr lang="en-US" altLang="zh-CN" dirty="0" smtClean="0">
                <a:sym typeface="Symbol" panose="05050102010706020507" pitchFamily="18" charset="2"/>
              </a:rPr>
              <a:t>=0; </a:t>
            </a:r>
            <a:r>
              <a:rPr lang="en-US" altLang="zh-CN" dirty="0" err="1" smtClean="0">
                <a:sym typeface="Symbol" panose="05050102010706020507" pitchFamily="18" charset="2"/>
              </a:rPr>
              <a:t>i</a:t>
            </a:r>
            <a:r>
              <a:rPr lang="en-US" altLang="zh-CN" dirty="0" smtClean="0">
                <a:sym typeface="Symbol" panose="05050102010706020507" pitchFamily="18" charset="2"/>
              </a:rPr>
              <a:t>&lt;n &amp;&amp; a[</a:t>
            </a:r>
            <a:r>
              <a:rPr lang="en-US" altLang="zh-CN" dirty="0" err="1" smtClean="0">
                <a:sym typeface="Symbol" panose="05050102010706020507" pitchFamily="18" charset="2"/>
              </a:rPr>
              <a:t>i</a:t>
            </a:r>
            <a:r>
              <a:rPr lang="en-US" altLang="zh-CN" dirty="0" smtClean="0">
                <a:sym typeface="Symbol" panose="05050102010706020507" pitchFamily="18" charset="2"/>
              </a:rPr>
              <a:t>]!=x; </a:t>
            </a:r>
            <a:r>
              <a:rPr lang="en-US" altLang="zh-CN" dirty="0" err="1" smtClean="0">
                <a:sym typeface="Symbol" panose="05050102010706020507" pitchFamily="18" charset="2"/>
              </a:rPr>
              <a:t>i</a:t>
            </a:r>
            <a:r>
              <a:rPr lang="en-US" altLang="zh-CN" dirty="0" smtClean="0">
                <a:sym typeface="Symbol" panose="05050102010706020507" pitchFamily="18" charset="2"/>
              </a:rPr>
              <a:t>++);</a:t>
            </a:r>
          </a:p>
          <a:p>
            <a:pPr>
              <a:spcBef>
                <a:spcPct val="0"/>
              </a:spcBef>
              <a:buFontTx/>
              <a:buNone/>
            </a:pPr>
            <a:r>
              <a:rPr lang="en-US" altLang="zh-CN" dirty="0" smtClean="0">
                <a:sym typeface="Symbol" panose="05050102010706020507" pitchFamily="18" charset="2"/>
              </a:rPr>
              <a:t>          if (</a:t>
            </a:r>
            <a:r>
              <a:rPr lang="en-US" altLang="zh-CN" dirty="0" err="1" smtClean="0">
                <a:sym typeface="Symbol" panose="05050102010706020507" pitchFamily="18" charset="2"/>
              </a:rPr>
              <a:t>i</a:t>
            </a:r>
            <a:r>
              <a:rPr lang="en-US" altLang="zh-CN" dirty="0" smtClean="0">
                <a:sym typeface="Symbol" panose="05050102010706020507" pitchFamily="18" charset="2"/>
              </a:rPr>
              <a:t>==n) return –1;</a:t>
            </a:r>
          </a:p>
          <a:p>
            <a:pPr>
              <a:spcBef>
                <a:spcPct val="0"/>
              </a:spcBef>
              <a:buFontTx/>
              <a:buNone/>
            </a:pPr>
            <a:r>
              <a:rPr lang="en-US" altLang="zh-CN" dirty="0" smtClean="0">
                <a:sym typeface="Symbol" panose="05050102010706020507" pitchFamily="18" charset="2"/>
              </a:rPr>
              <a:t>       return </a:t>
            </a:r>
            <a:r>
              <a:rPr lang="en-US" altLang="zh-CN" dirty="0" err="1" smtClean="0">
                <a:sym typeface="Symbol" panose="05050102010706020507" pitchFamily="18" charset="2"/>
              </a:rPr>
              <a:t>i</a:t>
            </a:r>
            <a:r>
              <a:rPr lang="en-US" altLang="zh-CN" dirty="0" smtClean="0">
                <a:sym typeface="Symbol" panose="05050102010706020507" pitchFamily="18" charset="2"/>
              </a:rPr>
              <a:t>;</a:t>
            </a:r>
          </a:p>
          <a:p>
            <a:pPr>
              <a:spcBef>
                <a:spcPct val="0"/>
              </a:spcBef>
              <a:buFontTx/>
              <a:buNone/>
            </a:pPr>
            <a:r>
              <a:rPr lang="en-US" altLang="zh-CN" dirty="0" smtClean="0">
                <a:sym typeface="Symbol" panose="05050102010706020507" pitchFamily="18" charset="2"/>
              </a:rPr>
              <a:t>} </a:t>
            </a:r>
            <a:endParaRPr lang="en-US" altLang="zh-CN" dirty="0" smtClean="0"/>
          </a:p>
          <a:p>
            <a:pPr eaLnBrk="1" hangingPunct="1"/>
            <a:endParaRPr lang="en-US" altLang="zh-CN" dirty="0" smtClean="0"/>
          </a:p>
        </p:txBody>
      </p:sp>
    </p:spTree>
    <p:extLst>
      <p:ext uri="{BB962C8B-B14F-4D97-AF65-F5344CB8AC3E}">
        <p14:creationId xmlns:p14="http://schemas.microsoft.com/office/powerpoint/2010/main" val="1700123719"/>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92163" name="Rectangle 2"/>
          <p:cNvSpPr>
            <a:spLocks noGrp="1" noChangeArrowheads="1"/>
          </p:cNvSpPr>
          <p:nvPr>
            <p:ph type="title"/>
          </p:nvPr>
        </p:nvSpPr>
        <p:spPr/>
        <p:txBody>
          <a:bodyPr/>
          <a:lstStyle/>
          <a:p>
            <a:pPr eaLnBrk="1" hangingPunct="1"/>
            <a:r>
              <a:rPr lang="en-US" altLang="zh-CN" dirty="0">
                <a:latin typeface="+mn-ea"/>
              </a:rPr>
              <a:t>1.2.4 </a:t>
            </a:r>
            <a:r>
              <a:rPr lang="zh-CN" altLang="en-US" dirty="0">
                <a:latin typeface="+mn-ea"/>
              </a:rPr>
              <a:t>空间复杂度</a:t>
            </a:r>
            <a:r>
              <a:rPr lang="en-US" altLang="zh-CN" dirty="0">
                <a:latin typeface="+mn-ea"/>
              </a:rPr>
              <a:t>——</a:t>
            </a:r>
            <a:r>
              <a:rPr lang="zh-CN" altLang="en-US" dirty="0" smtClean="0"/>
              <a:t>例</a:t>
            </a:r>
            <a:r>
              <a:rPr lang="en-US" altLang="zh-CN" dirty="0" smtClean="0"/>
              <a:t>2   </a:t>
            </a:r>
            <a:r>
              <a:rPr lang="zh-CN" altLang="en-US" dirty="0" smtClean="0"/>
              <a:t>顺序查找</a:t>
            </a:r>
            <a:endParaRPr lang="en-US" altLang="zh-CN" dirty="0" smtClean="0"/>
          </a:p>
        </p:txBody>
      </p:sp>
      <p:sp>
        <p:nvSpPr>
          <p:cNvPr id="92164" name="Rectangle 3"/>
          <p:cNvSpPr>
            <a:spLocks noGrp="1" noChangeArrowheads="1"/>
          </p:cNvSpPr>
          <p:nvPr>
            <p:ph type="body" idx="1"/>
          </p:nvPr>
        </p:nvSpPr>
        <p:spPr/>
        <p:txBody>
          <a:bodyPr/>
          <a:lstStyle/>
          <a:p>
            <a:pPr eaLnBrk="1" hangingPunct="1"/>
            <a:r>
              <a:rPr lang="zh-CN" altLang="en-US" smtClean="0">
                <a:sym typeface="Symbol" panose="05050102010706020507" pitchFamily="18" charset="2"/>
              </a:rPr>
              <a:t>在例</a:t>
            </a:r>
            <a:r>
              <a:rPr lang="en-US" altLang="zh-CN" smtClean="0">
                <a:sym typeface="Symbol" panose="05050102010706020507" pitchFamily="18" charset="2"/>
              </a:rPr>
              <a:t>2</a:t>
            </a:r>
            <a:r>
              <a:rPr lang="zh-CN" altLang="en-US" smtClean="0">
                <a:sym typeface="Symbol" panose="05050102010706020507" pitchFamily="18" charset="2"/>
              </a:rPr>
              <a:t>中，假定采用被查数组的长度 </a:t>
            </a:r>
            <a:r>
              <a:rPr lang="en-US" altLang="zh-CN" smtClean="0">
                <a:sym typeface="Symbol" panose="05050102010706020507" pitchFamily="18" charset="2"/>
              </a:rPr>
              <a:t>n </a:t>
            </a:r>
            <a:r>
              <a:rPr lang="zh-CN" altLang="en-US" smtClean="0">
                <a:sym typeface="Symbol" panose="05050102010706020507" pitchFamily="18" charset="2"/>
              </a:rPr>
              <a:t>作为实例特征，并取</a:t>
            </a:r>
            <a:r>
              <a:rPr lang="en-US" altLang="zh-CN" smtClean="0">
                <a:sym typeface="Symbol" panose="05050102010706020507" pitchFamily="18" charset="2"/>
              </a:rPr>
              <a:t>T </a:t>
            </a:r>
            <a:r>
              <a:rPr lang="zh-CN" altLang="en-US" smtClean="0">
                <a:sym typeface="Symbol" panose="05050102010706020507" pitchFamily="18" charset="2"/>
              </a:rPr>
              <a:t>为 </a:t>
            </a:r>
            <a:r>
              <a:rPr lang="en-US" altLang="zh-CN" smtClean="0">
                <a:sym typeface="Symbol" panose="05050102010706020507" pitchFamily="18" charset="2"/>
              </a:rPr>
              <a:t>int </a:t>
            </a:r>
            <a:r>
              <a:rPr lang="zh-CN" altLang="en-US" smtClean="0">
                <a:sym typeface="Symbol" panose="05050102010706020507" pitchFamily="18" charset="2"/>
              </a:rPr>
              <a:t>类型。</a:t>
            </a:r>
            <a:endParaRPr lang="en-US" altLang="zh-CN" smtClean="0">
              <a:sym typeface="Symbol" panose="05050102010706020507" pitchFamily="18" charset="2"/>
            </a:endParaRPr>
          </a:p>
          <a:p>
            <a:pPr eaLnBrk="1" hangingPunct="1"/>
            <a:r>
              <a:rPr lang="zh-CN" altLang="en-US" smtClean="0">
                <a:sym typeface="Symbol" panose="05050102010706020507" pitchFamily="18" charset="2"/>
              </a:rPr>
              <a:t>数组中每个元素需要 2 个字节，实参</a:t>
            </a:r>
            <a:r>
              <a:rPr lang="en-US" altLang="zh-CN" smtClean="0">
                <a:sym typeface="Symbol" panose="05050102010706020507" pitchFamily="18" charset="2"/>
              </a:rPr>
              <a:t>x </a:t>
            </a:r>
            <a:r>
              <a:rPr lang="zh-CN" altLang="en-US" smtClean="0">
                <a:sym typeface="Symbol" panose="05050102010706020507" pitchFamily="18" charset="2"/>
              </a:rPr>
              <a:t>需要2 个字节，传值形式参数 </a:t>
            </a:r>
            <a:r>
              <a:rPr lang="en-US" altLang="zh-CN" smtClean="0">
                <a:sym typeface="Symbol" panose="05050102010706020507" pitchFamily="18" charset="2"/>
              </a:rPr>
              <a:t>n </a:t>
            </a:r>
            <a:r>
              <a:rPr lang="zh-CN" altLang="en-US" smtClean="0">
                <a:sym typeface="Symbol" panose="05050102010706020507" pitchFamily="18" charset="2"/>
              </a:rPr>
              <a:t>需要2 个字节，局部变量 </a:t>
            </a:r>
            <a:r>
              <a:rPr lang="en-US" altLang="zh-CN" smtClean="0">
                <a:sym typeface="Symbol" panose="05050102010706020507" pitchFamily="18" charset="2"/>
              </a:rPr>
              <a:t>i</a:t>
            </a:r>
            <a:r>
              <a:rPr lang="zh-CN" altLang="en-US" smtClean="0">
                <a:sym typeface="Symbol" panose="05050102010706020507" pitchFamily="18" charset="2"/>
              </a:rPr>
              <a:t> 需要2 个字节，整数常量 –1 需要2 个字节，所需要的总的数据空间为 10 个字节，其独立于 </a:t>
            </a:r>
            <a:r>
              <a:rPr lang="en-US" altLang="zh-CN" smtClean="0">
                <a:sym typeface="Symbol" panose="05050102010706020507" pitchFamily="18" charset="2"/>
              </a:rPr>
              <a:t>n, </a:t>
            </a:r>
            <a:r>
              <a:rPr lang="zh-CN" altLang="en-US" smtClean="0">
                <a:sym typeface="Symbol" panose="05050102010706020507" pitchFamily="18" charset="2"/>
              </a:rPr>
              <a:t>所以 </a:t>
            </a:r>
            <a:r>
              <a:rPr lang="en-US" altLang="zh-CN" smtClean="0">
                <a:sym typeface="Symbol" panose="05050102010706020507" pitchFamily="18" charset="2"/>
              </a:rPr>
              <a:t>S</a:t>
            </a:r>
            <a:r>
              <a:rPr lang="zh-CN" altLang="en-US" smtClean="0">
                <a:sym typeface="Symbol" panose="05050102010706020507" pitchFamily="18" charset="2"/>
              </a:rPr>
              <a:t> (</a:t>
            </a:r>
            <a:r>
              <a:rPr lang="en-US" altLang="zh-CN" smtClean="0">
                <a:sym typeface="Symbol" panose="05050102010706020507" pitchFamily="18" charset="2"/>
              </a:rPr>
              <a:t>n)=0</a:t>
            </a:r>
            <a:r>
              <a:rPr lang="zh-CN" altLang="en-US" smtClean="0">
                <a:sym typeface="Symbol" panose="05050102010706020507" pitchFamily="18" charset="2"/>
              </a:rPr>
              <a:t>。</a:t>
            </a:r>
            <a:endParaRPr lang="en-US" altLang="zh-CN" smtClean="0">
              <a:sym typeface="Symbol" panose="05050102010706020507" pitchFamily="18" charset="2"/>
            </a:endParaRPr>
          </a:p>
          <a:p>
            <a:pPr eaLnBrk="1" hangingPunct="1"/>
            <a:r>
              <a:rPr lang="en-US" altLang="zh-CN" smtClean="0">
                <a:sym typeface="Symbol" panose="05050102010706020507" pitchFamily="18" charset="2"/>
              </a:rPr>
              <a:t> </a:t>
            </a:r>
            <a:r>
              <a:rPr lang="zh-CN" altLang="en-US" smtClean="0">
                <a:sym typeface="Symbol" panose="05050102010706020507" pitchFamily="18" charset="2"/>
              </a:rPr>
              <a:t>这里我们并没有把数组</a:t>
            </a:r>
            <a:r>
              <a:rPr lang="en-US" altLang="zh-CN" smtClean="0">
                <a:sym typeface="Symbol" panose="05050102010706020507" pitchFamily="18" charset="2"/>
              </a:rPr>
              <a:t>a </a:t>
            </a:r>
            <a:r>
              <a:rPr lang="zh-CN" altLang="en-US" smtClean="0">
                <a:sym typeface="Symbol" panose="05050102010706020507" pitchFamily="18" charset="2"/>
              </a:rPr>
              <a:t>所需的空间计算进来，因为该数组所需的空间已在定义实际参数(对应于 </a:t>
            </a:r>
            <a:r>
              <a:rPr lang="en-US" altLang="zh-CN" smtClean="0">
                <a:sym typeface="Symbol" panose="05050102010706020507" pitchFamily="18" charset="2"/>
              </a:rPr>
              <a:t>a) </a:t>
            </a:r>
            <a:r>
              <a:rPr lang="zh-CN" altLang="en-US" smtClean="0">
                <a:sym typeface="Symbol" panose="05050102010706020507" pitchFamily="18" charset="2"/>
              </a:rPr>
              <a:t>的函数中分配，不能再加到函数 </a:t>
            </a:r>
            <a:r>
              <a:rPr lang="en-US" altLang="zh-CN" smtClean="0">
                <a:sym typeface="Symbol" panose="05050102010706020507" pitchFamily="18" charset="2"/>
              </a:rPr>
              <a:t>SequentialSearch </a:t>
            </a:r>
            <a:r>
              <a:rPr lang="zh-CN" altLang="en-US" smtClean="0">
                <a:sym typeface="Symbol" panose="05050102010706020507" pitchFamily="18" charset="2"/>
              </a:rPr>
              <a:t>所需的空间上去。</a:t>
            </a:r>
          </a:p>
          <a:p>
            <a:pPr eaLnBrk="1" hangingPunct="1"/>
            <a:endParaRPr lang="en-US" altLang="zh-CN" smtClean="0"/>
          </a:p>
        </p:txBody>
      </p:sp>
    </p:spTree>
    <p:extLst>
      <p:ext uri="{BB962C8B-B14F-4D97-AF65-F5344CB8AC3E}">
        <p14:creationId xmlns:p14="http://schemas.microsoft.com/office/powerpoint/2010/main" val="109550990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dirty="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183299" name="Rectangle 2"/>
          <p:cNvSpPr>
            <a:spLocks noGrp="1" noChangeArrowheads="1"/>
          </p:cNvSpPr>
          <p:nvPr>
            <p:ph type="title"/>
          </p:nvPr>
        </p:nvSpPr>
        <p:spPr/>
        <p:txBody>
          <a:bodyPr/>
          <a:lstStyle/>
          <a:p>
            <a:pPr eaLnBrk="1" hangingPunct="1"/>
            <a:r>
              <a:rPr lang="en-US" altLang="zh-CN" dirty="0">
                <a:latin typeface="+mn-ea"/>
              </a:rPr>
              <a:t>1.2.5 </a:t>
            </a:r>
            <a:r>
              <a:rPr lang="zh-CN" altLang="en-US" dirty="0" smtClean="0"/>
              <a:t>最优算法</a:t>
            </a:r>
            <a:endParaRPr lang="en-US" altLang="zh-CN" dirty="0" smtClean="0"/>
          </a:p>
        </p:txBody>
      </p:sp>
      <p:sp>
        <p:nvSpPr>
          <p:cNvPr id="75779" name="Rectangle 3"/>
          <p:cNvSpPr>
            <a:spLocks noGrp="1" noChangeArrowheads="1"/>
          </p:cNvSpPr>
          <p:nvPr>
            <p:ph type="body" idx="1"/>
          </p:nvPr>
        </p:nvSpPr>
        <p:spPr/>
        <p:txBody>
          <a:bodyPr/>
          <a:lstStyle/>
          <a:p>
            <a:pPr eaLnBrk="1" hangingPunct="1">
              <a:defRPr/>
            </a:pPr>
            <a:r>
              <a:rPr lang="zh-CN" altLang="en-US" sz="2900" dirty="0" smtClean="0"/>
              <a:t>定义</a:t>
            </a:r>
            <a:r>
              <a:rPr lang="zh-CN" altLang="en-US" sz="2600" dirty="0" smtClean="0">
                <a:latin typeface="+mn-lt"/>
                <a:ea typeface="+mn-ea"/>
              </a:rPr>
              <a:t>如果可以证明任何一个求解问题</a:t>
            </a:r>
            <a:r>
              <a:rPr lang="en-US" altLang="zh-CN" sz="2600" dirty="0" smtClean="0">
                <a:latin typeface="+mn-lt"/>
                <a:ea typeface="+mn-ea"/>
                <a:sym typeface="Symbol" pitchFamily="18" charset="2"/>
              </a:rPr>
              <a:t> </a:t>
            </a:r>
            <a:r>
              <a:rPr lang="zh-CN" altLang="en-US" sz="2600" dirty="0" smtClean="0">
                <a:latin typeface="+mn-lt"/>
                <a:ea typeface="+mn-ea"/>
                <a:sym typeface="Symbol" pitchFamily="18" charset="2"/>
              </a:rPr>
              <a:t>的算法必定是</a:t>
            </a:r>
            <a:r>
              <a:rPr lang="en-US" altLang="zh-CN" sz="2600" dirty="0" smtClean="0">
                <a:latin typeface="+mn-lt"/>
                <a:ea typeface="+mn-ea"/>
                <a:sym typeface="Symbol" pitchFamily="18" charset="2"/>
              </a:rPr>
              <a:t>(f(n)),</a:t>
            </a:r>
            <a:r>
              <a:rPr lang="zh-CN" altLang="en-US" sz="2600" dirty="0" smtClean="0">
                <a:latin typeface="+mn-lt"/>
                <a:ea typeface="+mn-ea"/>
                <a:sym typeface="Symbol" pitchFamily="18" charset="2"/>
              </a:rPr>
              <a:t>，那么我们把在</a:t>
            </a:r>
            <a:r>
              <a:rPr lang="en-US" altLang="zh-CN" sz="2600" dirty="0" smtClean="0">
                <a:latin typeface="+mn-lt"/>
                <a:ea typeface="+mn-ea"/>
                <a:sym typeface="Symbol" pitchFamily="18" charset="2"/>
              </a:rPr>
              <a:t>O(f(n)) </a:t>
            </a:r>
            <a:r>
              <a:rPr lang="zh-CN" altLang="en-US" sz="2600" dirty="0" smtClean="0">
                <a:latin typeface="+mn-lt"/>
                <a:ea typeface="+mn-ea"/>
                <a:sym typeface="Symbol" pitchFamily="18" charset="2"/>
              </a:rPr>
              <a:t>时间内求解问题</a:t>
            </a:r>
            <a:r>
              <a:rPr lang="en-US" altLang="zh-CN" sz="2600" dirty="0" smtClean="0">
                <a:latin typeface="+mn-lt"/>
                <a:ea typeface="+mn-ea"/>
                <a:sym typeface="Symbol" pitchFamily="18" charset="2"/>
              </a:rPr>
              <a:t> </a:t>
            </a:r>
            <a:r>
              <a:rPr lang="zh-CN" altLang="en-US" sz="2600" dirty="0" smtClean="0">
                <a:latin typeface="+mn-lt"/>
                <a:ea typeface="+mn-ea"/>
                <a:sym typeface="Symbol" pitchFamily="18" charset="2"/>
              </a:rPr>
              <a:t>的任何算法都称为问题</a:t>
            </a:r>
            <a:r>
              <a:rPr lang="en-US" altLang="zh-CN" sz="2600" dirty="0" smtClean="0">
                <a:latin typeface="+mn-lt"/>
                <a:ea typeface="+mn-ea"/>
                <a:sym typeface="Symbol" pitchFamily="18" charset="2"/>
              </a:rPr>
              <a:t></a:t>
            </a:r>
            <a:r>
              <a:rPr lang="zh-CN" altLang="en-US" sz="2600" dirty="0" smtClean="0">
                <a:latin typeface="+mn-lt"/>
                <a:ea typeface="+mn-ea"/>
                <a:sym typeface="Symbol" pitchFamily="18" charset="2"/>
              </a:rPr>
              <a:t>的</a:t>
            </a:r>
            <a:r>
              <a:rPr lang="zh-CN" altLang="en-US" sz="2600" dirty="0" smtClean="0">
                <a:solidFill>
                  <a:srgbClr val="FF0000"/>
                </a:solidFill>
                <a:latin typeface="+mn-lt"/>
                <a:ea typeface="+mn-ea"/>
                <a:sym typeface="Symbol" pitchFamily="18" charset="2"/>
              </a:rPr>
              <a:t>最优算法</a:t>
            </a:r>
            <a:r>
              <a:rPr lang="zh-CN" altLang="en-US" sz="2600" dirty="0" smtClean="0">
                <a:latin typeface="+mn-lt"/>
                <a:ea typeface="+mn-ea"/>
                <a:sym typeface="Symbol" pitchFamily="18" charset="2"/>
              </a:rPr>
              <a:t>。</a:t>
            </a:r>
            <a:endParaRPr lang="en-US" altLang="zh-CN" sz="2600" dirty="0" smtClean="0">
              <a:latin typeface="+mn-lt"/>
              <a:ea typeface="+mn-ea"/>
              <a:sym typeface="Symbol" pitchFamily="18" charset="2"/>
            </a:endParaRPr>
          </a:p>
          <a:p>
            <a:pPr marL="0" indent="0" eaLnBrk="1" hangingPunct="1">
              <a:buNone/>
              <a:defRPr/>
            </a:pPr>
            <a:endParaRPr lang="en-US" altLang="zh-CN" sz="2600" dirty="0">
              <a:sym typeface="Symbol" pitchFamily="18" charset="2"/>
            </a:endParaRPr>
          </a:p>
          <a:p>
            <a:pPr eaLnBrk="1" hangingPunct="1">
              <a:defRPr/>
            </a:pPr>
            <a:r>
              <a:rPr lang="zh-CN" altLang="en-US" sz="2600" dirty="0" smtClean="0">
                <a:latin typeface="+mn-lt"/>
                <a:ea typeface="+mn-ea"/>
                <a:sym typeface="Symbol" pitchFamily="18" charset="2"/>
              </a:rPr>
              <a:t>文献中被广泛使用的定义没有考虑空间复杂性，原因如下：</a:t>
            </a:r>
            <a:endParaRPr lang="en-US" altLang="zh-CN" sz="2600" dirty="0" smtClean="0">
              <a:latin typeface="+mn-lt"/>
              <a:ea typeface="+mn-ea"/>
              <a:sym typeface="Symbol" pitchFamily="18" charset="2"/>
            </a:endParaRPr>
          </a:p>
          <a:p>
            <a:pPr marL="0" indent="0" eaLnBrk="1" hangingPunct="1">
              <a:buNone/>
              <a:defRPr/>
            </a:pPr>
            <a:r>
              <a:rPr lang="en-US" altLang="zh-CN" sz="2600" dirty="0">
                <a:sym typeface="Symbol" pitchFamily="18" charset="2"/>
              </a:rPr>
              <a:t> </a:t>
            </a:r>
            <a:r>
              <a:rPr lang="en-US" altLang="zh-CN" sz="2600" dirty="0" smtClean="0">
                <a:sym typeface="Symbol" pitchFamily="18" charset="2"/>
              </a:rPr>
              <a:t>        1)</a:t>
            </a:r>
            <a:r>
              <a:rPr lang="zh-CN" altLang="en-US" sz="2600" dirty="0" smtClean="0">
                <a:sym typeface="Symbol" pitchFamily="18" charset="2"/>
              </a:rPr>
              <a:t>时间比空间珍贵；</a:t>
            </a:r>
            <a:endParaRPr lang="en-US" altLang="zh-CN" sz="2600" dirty="0" smtClean="0">
              <a:sym typeface="Symbol" pitchFamily="18" charset="2"/>
            </a:endParaRPr>
          </a:p>
          <a:p>
            <a:pPr marL="0" indent="0" eaLnBrk="1" hangingPunct="1">
              <a:buNone/>
              <a:defRPr/>
            </a:pPr>
            <a:r>
              <a:rPr lang="en-US" altLang="zh-CN" sz="2600" dirty="0" smtClean="0">
                <a:latin typeface="+mn-lt"/>
                <a:ea typeface="+mn-ea"/>
                <a:sym typeface="Symbol" pitchFamily="18" charset="2"/>
              </a:rPr>
              <a:t>	  2</a:t>
            </a:r>
            <a:r>
              <a:rPr lang="en-US" altLang="zh-CN" sz="2600" dirty="0" smtClean="0">
                <a:sym typeface="Symbol" pitchFamily="18" charset="2"/>
              </a:rPr>
              <a:t>)</a:t>
            </a:r>
            <a:r>
              <a:rPr lang="zh-CN" altLang="en-US" sz="2600" dirty="0" smtClean="0">
                <a:sym typeface="Symbol" pitchFamily="18" charset="2"/>
              </a:rPr>
              <a:t>大多数最优算法的空间复杂性同处</a:t>
            </a:r>
            <a:r>
              <a:rPr lang="en-US" altLang="zh-CN" sz="2600" dirty="0" smtClean="0">
                <a:sym typeface="Symbol" pitchFamily="18" charset="2"/>
              </a:rPr>
              <a:t>O(n)</a:t>
            </a:r>
            <a:r>
              <a:rPr lang="zh-CN" altLang="en-US" sz="2600" dirty="0" smtClean="0">
                <a:sym typeface="Symbol" pitchFamily="18" charset="2"/>
              </a:rPr>
              <a:t>阶内。</a:t>
            </a:r>
            <a:r>
              <a:rPr lang="en-US" altLang="zh-CN" sz="2600" dirty="0" smtClean="0">
                <a:sym typeface="Symbol" pitchFamily="18" charset="2"/>
              </a:rPr>
              <a:t> </a:t>
            </a:r>
            <a:endParaRPr lang="en-US" altLang="zh-CN" sz="2600" dirty="0" smtClean="0">
              <a:latin typeface="+mn-lt"/>
              <a:ea typeface="+mn-ea"/>
              <a:sym typeface="Symbol" pitchFamily="18" charset="2"/>
            </a:endParaRPr>
          </a:p>
          <a:p>
            <a:pPr marL="457200" lvl="1" indent="0" eaLnBrk="1" hangingPunct="1">
              <a:buNone/>
              <a:defRPr/>
            </a:pPr>
            <a:r>
              <a:rPr lang="en-US" altLang="zh-CN" sz="2600" dirty="0">
                <a:latin typeface="+mn-lt"/>
                <a:ea typeface="+mn-ea"/>
                <a:sym typeface="Symbol" pitchFamily="18" charset="2"/>
              </a:rPr>
              <a:t>	</a:t>
            </a:r>
            <a:r>
              <a:rPr lang="en-US" altLang="zh-CN" sz="2600" dirty="0" smtClean="0">
                <a:latin typeface="+mn-lt"/>
                <a:ea typeface="+mn-ea"/>
                <a:sym typeface="Symbol" pitchFamily="18" charset="2"/>
              </a:rPr>
              <a:t>	</a:t>
            </a:r>
            <a:endParaRPr lang="en-US" altLang="zh-CN" sz="2600" dirty="0" smtClean="0">
              <a:latin typeface="+mn-lt"/>
              <a:ea typeface="+mn-ea"/>
            </a:endParaRPr>
          </a:p>
        </p:txBody>
      </p:sp>
    </p:spTree>
    <p:extLst>
      <p:ext uri="{BB962C8B-B14F-4D97-AF65-F5344CB8AC3E}">
        <p14:creationId xmlns:p14="http://schemas.microsoft.com/office/powerpoint/2010/main" val="4032789827"/>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latin typeface="+mn-ea"/>
              </a:rPr>
              <a:t>1.2.6 </a:t>
            </a:r>
            <a:r>
              <a:rPr lang="zh-CN" altLang="en-US" dirty="0" smtClean="0">
                <a:latin typeface="+mn-ea"/>
              </a:rPr>
              <a:t>算法正确性证明方法</a:t>
            </a:r>
            <a:endParaRPr lang="zh-CN" altLang="en-US" dirty="0"/>
          </a:p>
        </p:txBody>
      </p:sp>
      <p:sp>
        <p:nvSpPr>
          <p:cNvPr id="3" name="内容占位符 2"/>
          <p:cNvSpPr>
            <a:spLocks noGrp="1"/>
          </p:cNvSpPr>
          <p:nvPr>
            <p:ph idx="1"/>
          </p:nvPr>
        </p:nvSpPr>
        <p:spPr/>
        <p:txBody>
          <a:bodyPr/>
          <a:lstStyle/>
          <a:p>
            <a:pPr marL="0" indent="0">
              <a:buNone/>
            </a:pPr>
            <a:r>
              <a:rPr lang="zh-CN" altLang="en-US" sz="2800" b="1" dirty="0" smtClean="0"/>
              <a:t>概述：</a:t>
            </a:r>
            <a:endParaRPr lang="en-US" altLang="zh-CN" sz="2800" b="1" dirty="0" smtClean="0"/>
          </a:p>
          <a:p>
            <a:r>
              <a:rPr lang="zh-CN" altLang="en-US" dirty="0" smtClean="0"/>
              <a:t>对于</a:t>
            </a:r>
            <a:r>
              <a:rPr lang="zh-CN" altLang="en-US" dirty="0"/>
              <a:t>明显是正确的算法</a:t>
            </a:r>
            <a:r>
              <a:rPr lang="en-US" altLang="zh-CN" dirty="0"/>
              <a:t>(</a:t>
            </a:r>
            <a:r>
              <a:rPr lang="zh-CN" altLang="en-US" dirty="0"/>
              <a:t>或程序</a:t>
            </a:r>
            <a:r>
              <a:rPr lang="en-US" altLang="zh-CN" dirty="0" smtClean="0"/>
              <a:t>)</a:t>
            </a:r>
            <a:r>
              <a:rPr lang="zh-CN" altLang="en-US" dirty="0" smtClean="0"/>
              <a:t>可以通过</a:t>
            </a:r>
            <a:r>
              <a:rPr lang="zh-CN" altLang="en-US" dirty="0"/>
              <a:t>上机调试、验证其正确性。调试用</a:t>
            </a:r>
            <a:r>
              <a:rPr lang="zh-CN" altLang="en-US" dirty="0" smtClean="0"/>
              <a:t>的数据</a:t>
            </a:r>
            <a:r>
              <a:rPr lang="zh-CN" altLang="en-US" dirty="0"/>
              <a:t>要精心挑选，以期达到算法对</a:t>
            </a:r>
            <a:r>
              <a:rPr lang="zh-CN" altLang="en-US" dirty="0" smtClean="0"/>
              <a:t>“所有的”</a:t>
            </a:r>
            <a:r>
              <a:rPr lang="zh-CN" altLang="en-US" dirty="0"/>
              <a:t>数据都是正确的目标</a:t>
            </a:r>
            <a:r>
              <a:rPr lang="zh-CN" altLang="en-US" dirty="0" smtClean="0"/>
              <a:t>。</a:t>
            </a:r>
            <a:endParaRPr lang="en-US" altLang="zh-CN" dirty="0" smtClean="0"/>
          </a:p>
          <a:p>
            <a:r>
              <a:rPr lang="zh-CN" altLang="en-US" dirty="0" smtClean="0"/>
              <a:t>只要</a:t>
            </a:r>
            <a:r>
              <a:rPr lang="zh-CN" altLang="en-US" dirty="0"/>
              <a:t>找出一组数据使算法失败</a:t>
            </a:r>
            <a:r>
              <a:rPr lang="zh-CN" altLang="en-US" dirty="0" smtClean="0"/>
              <a:t>，就</a:t>
            </a:r>
            <a:r>
              <a:rPr lang="zh-CN" altLang="en-US" dirty="0"/>
              <a:t>能</a:t>
            </a:r>
            <a:r>
              <a:rPr lang="zh-CN" altLang="en-US" dirty="0" smtClean="0"/>
              <a:t>否定整个</a:t>
            </a:r>
            <a:r>
              <a:rPr lang="zh-CN" altLang="en-US" dirty="0"/>
              <a:t>算法的正确性</a:t>
            </a:r>
            <a:r>
              <a:rPr lang="en-US" altLang="zh-CN" dirty="0"/>
              <a:t>; </a:t>
            </a:r>
            <a:endParaRPr lang="en-US" altLang="zh-CN" dirty="0" smtClean="0"/>
          </a:p>
          <a:p>
            <a:r>
              <a:rPr lang="zh-CN" altLang="en-US" dirty="0" smtClean="0"/>
              <a:t>算法</a:t>
            </a:r>
            <a:r>
              <a:rPr lang="zh-CN" altLang="en-US" dirty="0"/>
              <a:t>的正确性一般通过</a:t>
            </a:r>
            <a:r>
              <a:rPr lang="zh-CN" altLang="en-US" dirty="0" smtClean="0"/>
              <a:t>数学方法</a:t>
            </a:r>
            <a:r>
              <a:rPr lang="zh-CN" altLang="en-US" dirty="0"/>
              <a:t>进行</a:t>
            </a:r>
            <a:r>
              <a:rPr lang="zh-CN" altLang="en-US" dirty="0" smtClean="0"/>
              <a:t>推理证明</a:t>
            </a:r>
            <a:r>
              <a:rPr lang="zh-CN" altLang="en-US" dirty="0"/>
              <a:t>，常用的数学方法除了</a:t>
            </a:r>
            <a:r>
              <a:rPr lang="zh-CN" altLang="en-US" dirty="0">
                <a:solidFill>
                  <a:srgbClr val="FF0000"/>
                </a:solidFill>
              </a:rPr>
              <a:t>直接证明法</a:t>
            </a:r>
            <a:r>
              <a:rPr lang="zh-CN" altLang="en-US" dirty="0"/>
              <a:t>外</a:t>
            </a:r>
            <a:r>
              <a:rPr lang="zh-CN" altLang="en-US" dirty="0" smtClean="0"/>
              <a:t>，还有</a:t>
            </a:r>
            <a:r>
              <a:rPr lang="zh-CN" altLang="en-US" dirty="0">
                <a:solidFill>
                  <a:srgbClr val="FF0000"/>
                </a:solidFill>
              </a:rPr>
              <a:t>反证法</a:t>
            </a:r>
            <a:r>
              <a:rPr lang="zh-CN" altLang="en-US" dirty="0"/>
              <a:t>和</a:t>
            </a:r>
            <a:r>
              <a:rPr lang="zh-CN" altLang="en-US" dirty="0">
                <a:solidFill>
                  <a:srgbClr val="FF0000"/>
                </a:solidFill>
              </a:rPr>
              <a:t>数学归纳法</a:t>
            </a:r>
            <a:r>
              <a:rPr lang="zh-CN" altLang="en-US" dirty="0"/>
              <a:t>。</a:t>
            </a:r>
          </a:p>
        </p:txBody>
      </p:sp>
      <p:sp>
        <p:nvSpPr>
          <p:cNvPr id="4" name="页脚占位符 3"/>
          <p:cNvSpPr>
            <a:spLocks noGrp="1"/>
          </p:cNvSpPr>
          <p:nvPr>
            <p:ph type="ftr" sz="quarter" idx="10"/>
          </p:nvPr>
        </p:nvSpPr>
        <p:spPr/>
        <p:txBody>
          <a:bodyPr/>
          <a:lstStyle/>
          <a:p>
            <a:pPr>
              <a:defRPr/>
            </a:pPr>
            <a:r>
              <a:rPr lang="en-US" altLang="zh-CN" smtClean="0"/>
              <a:t>Algorithms Design Techniques and Analysis</a:t>
            </a:r>
            <a:endParaRPr lang="en-US" altLang="zh-CN"/>
          </a:p>
        </p:txBody>
      </p:sp>
    </p:spTree>
    <p:extLst>
      <p:ext uri="{BB962C8B-B14F-4D97-AF65-F5344CB8AC3E}">
        <p14:creationId xmlns:p14="http://schemas.microsoft.com/office/powerpoint/2010/main" val="3523866139"/>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latin typeface="+mn-ea"/>
              </a:rPr>
              <a:t>1.2.6 </a:t>
            </a:r>
            <a:r>
              <a:rPr lang="zh-CN" altLang="en-US" dirty="0" smtClean="0">
                <a:latin typeface="+mn-ea"/>
              </a:rPr>
              <a:t>算法正确性证明</a:t>
            </a:r>
            <a:r>
              <a:rPr lang="en-US" altLang="zh-CN" dirty="0" smtClean="0">
                <a:latin typeface="+mn-ea"/>
              </a:rPr>
              <a:t>——</a:t>
            </a:r>
            <a:r>
              <a:rPr lang="zh-CN" altLang="en-US" dirty="0" smtClean="0">
                <a:latin typeface="+mn-ea"/>
              </a:rPr>
              <a:t>反证法</a:t>
            </a:r>
            <a:endParaRPr lang="zh-CN" altLang="en-US" dirty="0"/>
          </a:p>
        </p:txBody>
      </p:sp>
      <p:sp>
        <p:nvSpPr>
          <p:cNvPr id="3" name="内容占位符 2"/>
          <p:cNvSpPr>
            <a:spLocks noGrp="1"/>
          </p:cNvSpPr>
          <p:nvPr>
            <p:ph idx="1"/>
          </p:nvPr>
        </p:nvSpPr>
        <p:spPr/>
        <p:txBody>
          <a:bodyPr/>
          <a:lstStyle/>
          <a:p>
            <a:pPr marL="0" indent="0">
              <a:buNone/>
            </a:pPr>
            <a:r>
              <a:rPr lang="zh-CN" altLang="en-US" dirty="0"/>
              <a:t>①要证明定理</a:t>
            </a:r>
            <a:r>
              <a:rPr lang="en-US" altLang="zh-CN" dirty="0"/>
              <a:t>T</a:t>
            </a:r>
            <a:r>
              <a:rPr lang="zh-CN" altLang="en-US" dirty="0"/>
              <a:t>是正确的，首先假定</a:t>
            </a:r>
            <a:r>
              <a:rPr lang="en-US" altLang="zh-CN" dirty="0"/>
              <a:t>T</a:t>
            </a:r>
            <a:r>
              <a:rPr lang="zh-CN" altLang="en-US" dirty="0"/>
              <a:t>是</a:t>
            </a:r>
            <a:r>
              <a:rPr lang="zh-CN" altLang="en-US" dirty="0" smtClean="0"/>
              <a:t>错误的。</a:t>
            </a:r>
            <a:endParaRPr lang="zh-CN" altLang="en-US" dirty="0"/>
          </a:p>
          <a:p>
            <a:pPr marL="0" indent="0">
              <a:buNone/>
            </a:pPr>
            <a:r>
              <a:rPr lang="zh-CN" altLang="en-US" dirty="0"/>
              <a:t>②用正确的命题和推理规则进行推理，若</a:t>
            </a:r>
            <a:r>
              <a:rPr lang="zh-CN" altLang="en-US" dirty="0" smtClean="0"/>
              <a:t>出现</a:t>
            </a:r>
            <a:r>
              <a:rPr lang="zh-CN" altLang="en-US" dirty="0"/>
              <a:t>下列条件之一，就会得出矛盾的结果</a:t>
            </a:r>
            <a:r>
              <a:rPr lang="en-US" altLang="zh-CN" dirty="0"/>
              <a:t>:</a:t>
            </a:r>
          </a:p>
          <a:p>
            <a:pPr marL="360000" indent="0">
              <a:buNone/>
            </a:pPr>
            <a:r>
              <a:rPr lang="en-US" altLang="zh-CN" dirty="0" smtClean="0"/>
              <a:t>➢</a:t>
            </a:r>
            <a:r>
              <a:rPr lang="zh-CN" altLang="en-US" dirty="0"/>
              <a:t>与已知条件矛盾</a:t>
            </a:r>
          </a:p>
          <a:p>
            <a:pPr marL="360000" indent="0">
              <a:buNone/>
            </a:pPr>
            <a:r>
              <a:rPr lang="zh-CN" altLang="en-US" dirty="0"/>
              <a:t>➢与公理矛盾</a:t>
            </a:r>
          </a:p>
          <a:p>
            <a:pPr marL="360000" indent="0">
              <a:buNone/>
            </a:pPr>
            <a:r>
              <a:rPr lang="zh-CN" altLang="en-US" dirty="0"/>
              <a:t>➢与证明过的定理矛盾</a:t>
            </a:r>
          </a:p>
          <a:p>
            <a:pPr marL="360000" indent="0">
              <a:buNone/>
            </a:pPr>
            <a:r>
              <a:rPr lang="zh-CN" altLang="en-US" dirty="0"/>
              <a:t>➢自相矛盾</a:t>
            </a:r>
          </a:p>
          <a:p>
            <a:pPr marL="0" indent="0">
              <a:buNone/>
            </a:pPr>
            <a:r>
              <a:rPr lang="zh-CN" altLang="en-US" dirty="0"/>
              <a:t>③由此推出定理</a:t>
            </a:r>
            <a:r>
              <a:rPr lang="en-US" altLang="zh-CN" dirty="0"/>
              <a:t>T</a:t>
            </a:r>
            <a:r>
              <a:rPr lang="zh-CN" altLang="en-US" dirty="0"/>
              <a:t>是正确的。</a:t>
            </a:r>
          </a:p>
        </p:txBody>
      </p:sp>
      <p:sp>
        <p:nvSpPr>
          <p:cNvPr id="4" name="页脚占位符 3"/>
          <p:cNvSpPr>
            <a:spLocks noGrp="1"/>
          </p:cNvSpPr>
          <p:nvPr>
            <p:ph type="ftr" sz="quarter" idx="10"/>
          </p:nvPr>
        </p:nvSpPr>
        <p:spPr/>
        <p:txBody>
          <a:bodyPr/>
          <a:lstStyle/>
          <a:p>
            <a:pPr>
              <a:defRPr/>
            </a:pPr>
            <a:r>
              <a:rPr lang="en-US" altLang="zh-CN" smtClean="0"/>
              <a:t>Algorithms Design Techniques and Analysis</a:t>
            </a:r>
            <a:endParaRPr lang="en-US" altLang="zh-CN"/>
          </a:p>
        </p:txBody>
      </p:sp>
    </p:spTree>
    <p:extLst>
      <p:ext uri="{BB962C8B-B14F-4D97-AF65-F5344CB8AC3E}">
        <p14:creationId xmlns:p14="http://schemas.microsoft.com/office/powerpoint/2010/main" val="959746782"/>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ea"/>
              </a:rPr>
              <a:t>1.2.6 </a:t>
            </a:r>
            <a:r>
              <a:rPr lang="zh-CN" altLang="en-US" dirty="0">
                <a:latin typeface="+mn-ea"/>
              </a:rPr>
              <a:t>算法正确性证明</a:t>
            </a:r>
            <a:r>
              <a:rPr lang="en-US" altLang="zh-CN" dirty="0">
                <a:latin typeface="+mn-ea"/>
              </a:rPr>
              <a:t>——</a:t>
            </a:r>
            <a:r>
              <a:rPr lang="zh-CN" altLang="en-US" dirty="0">
                <a:latin typeface="+mn-ea"/>
              </a:rPr>
              <a:t>反证法</a:t>
            </a:r>
            <a:endParaRPr lang="zh-CN" altLang="en-US" dirty="0"/>
          </a:p>
        </p:txBody>
      </p:sp>
      <p:sp>
        <p:nvSpPr>
          <p:cNvPr id="3" name="内容占位符 2"/>
          <p:cNvSpPr>
            <a:spLocks noGrp="1"/>
          </p:cNvSpPr>
          <p:nvPr>
            <p:ph idx="1"/>
          </p:nvPr>
        </p:nvSpPr>
        <p:spPr>
          <a:xfrm>
            <a:off x="900113" y="1268413"/>
            <a:ext cx="7755514" cy="4525962"/>
          </a:xfrm>
        </p:spPr>
        <p:txBody>
          <a:bodyPr/>
          <a:lstStyle/>
          <a:p>
            <a:pPr marL="0" indent="0">
              <a:buNone/>
            </a:pPr>
            <a:r>
              <a:rPr lang="zh-CN" altLang="en-US" b="1" dirty="0" smtClean="0"/>
              <a:t>例子：证明</a:t>
            </a:r>
            <a:r>
              <a:rPr lang="zh-CN" altLang="en-US" b="1" dirty="0"/>
              <a:t>没有最大的</a:t>
            </a:r>
            <a:r>
              <a:rPr lang="zh-CN" altLang="en-US" b="1" dirty="0" smtClean="0"/>
              <a:t>整数。</a:t>
            </a:r>
            <a:endParaRPr lang="en-US" altLang="zh-CN" b="1" dirty="0"/>
          </a:p>
          <a:p>
            <a:pPr marL="0" indent="0">
              <a:buNone/>
            </a:pPr>
            <a:r>
              <a:rPr lang="zh-CN" altLang="en-US" b="1" dirty="0"/>
              <a:t>证明</a:t>
            </a:r>
            <a:r>
              <a:rPr lang="en-US" altLang="zh-CN" b="1" dirty="0"/>
              <a:t>:</a:t>
            </a:r>
            <a:r>
              <a:rPr lang="zh-CN" altLang="en-US" b="1" dirty="0"/>
              <a:t>用反证法。</a:t>
            </a:r>
          </a:p>
          <a:p>
            <a:pPr marL="0" indent="0">
              <a:buNone/>
            </a:pPr>
            <a:r>
              <a:rPr lang="zh-CN" altLang="en-US" dirty="0"/>
              <a:t>①反面假设</a:t>
            </a:r>
            <a:r>
              <a:rPr lang="en-US" altLang="zh-CN" dirty="0"/>
              <a:t>:</a:t>
            </a:r>
          </a:p>
          <a:p>
            <a:pPr marL="0" indent="0">
              <a:buNone/>
            </a:pPr>
            <a:r>
              <a:rPr lang="zh-CN" altLang="en-US" dirty="0" smtClean="0"/>
              <a:t>     假设存在一</a:t>
            </a:r>
            <a:r>
              <a:rPr lang="zh-CN" altLang="en-US" dirty="0"/>
              <a:t>个最大整数，记为</a:t>
            </a:r>
            <a:r>
              <a:rPr lang="en-US" altLang="zh-CN" dirty="0" smtClean="0"/>
              <a:t>N</a:t>
            </a:r>
            <a:r>
              <a:rPr lang="zh-CN" altLang="en-US" dirty="0" smtClean="0"/>
              <a:t>。</a:t>
            </a:r>
            <a:endParaRPr lang="en-US" altLang="zh-CN" dirty="0"/>
          </a:p>
          <a:p>
            <a:pPr marL="0" indent="0">
              <a:buNone/>
            </a:pPr>
            <a:r>
              <a:rPr lang="en-US" altLang="zh-CN" dirty="0"/>
              <a:t>②</a:t>
            </a:r>
            <a:r>
              <a:rPr lang="zh-CN" altLang="en-US" dirty="0"/>
              <a:t>由假设推出矛盾</a:t>
            </a:r>
            <a:r>
              <a:rPr lang="en-US" altLang="zh-CN" dirty="0"/>
              <a:t>:</a:t>
            </a:r>
          </a:p>
          <a:p>
            <a:pPr marL="0" indent="0">
              <a:buNone/>
            </a:pPr>
            <a:r>
              <a:rPr lang="zh-CN" altLang="en-US" dirty="0" smtClean="0"/>
              <a:t>     设</a:t>
            </a:r>
            <a:r>
              <a:rPr lang="en-US" altLang="zh-CN" dirty="0"/>
              <a:t>P=</a:t>
            </a:r>
            <a:r>
              <a:rPr lang="en-US" altLang="zh-CN" dirty="0" err="1"/>
              <a:t>N+1</a:t>
            </a:r>
            <a:r>
              <a:rPr lang="en-US" altLang="zh-CN" dirty="0"/>
              <a:t>,</a:t>
            </a:r>
            <a:r>
              <a:rPr lang="zh-CN" altLang="en-US" dirty="0"/>
              <a:t>因为</a:t>
            </a:r>
            <a:r>
              <a:rPr lang="en-US" altLang="zh-CN" dirty="0"/>
              <a:t>P</a:t>
            </a:r>
            <a:r>
              <a:rPr lang="zh-CN" altLang="en-US" dirty="0"/>
              <a:t>是两个整数的和，</a:t>
            </a:r>
            <a:r>
              <a:rPr lang="zh-CN" altLang="en-US" dirty="0" smtClean="0"/>
              <a:t>所以</a:t>
            </a:r>
            <a:r>
              <a:rPr lang="en-US" altLang="zh-CN" dirty="0" smtClean="0"/>
              <a:t>P</a:t>
            </a:r>
            <a:r>
              <a:rPr lang="zh-CN" altLang="en-US" dirty="0"/>
              <a:t>也是</a:t>
            </a:r>
            <a:r>
              <a:rPr lang="zh-CN" altLang="en-US" dirty="0" smtClean="0"/>
              <a:t>整数，</a:t>
            </a:r>
            <a:endParaRPr lang="en-US" altLang="zh-CN" dirty="0" smtClean="0"/>
          </a:p>
          <a:p>
            <a:pPr marL="0" indent="0">
              <a:buNone/>
            </a:pPr>
            <a:r>
              <a:rPr lang="zh-CN" altLang="en-US" dirty="0" smtClean="0"/>
              <a:t>     且</a:t>
            </a:r>
            <a:r>
              <a:rPr lang="en-US" altLang="zh-CN" dirty="0" smtClean="0"/>
              <a:t>P&gt;N</a:t>
            </a:r>
            <a:r>
              <a:rPr lang="zh-CN" altLang="en-US" dirty="0"/>
              <a:t>，</a:t>
            </a:r>
            <a:r>
              <a:rPr lang="zh-CN" altLang="en-US" dirty="0" smtClean="0"/>
              <a:t>与</a:t>
            </a:r>
            <a:r>
              <a:rPr lang="en-US" altLang="zh-CN" dirty="0"/>
              <a:t>N</a:t>
            </a:r>
            <a:r>
              <a:rPr lang="zh-CN" altLang="en-US" dirty="0"/>
              <a:t>是最大整数</a:t>
            </a:r>
            <a:r>
              <a:rPr lang="zh-CN" altLang="en-US" dirty="0" smtClean="0"/>
              <a:t>矛盾。</a:t>
            </a:r>
            <a:endParaRPr lang="en-US" altLang="zh-CN" dirty="0"/>
          </a:p>
          <a:p>
            <a:pPr marL="0" indent="0">
              <a:buNone/>
            </a:pPr>
            <a:r>
              <a:rPr lang="en-US" altLang="zh-CN" dirty="0"/>
              <a:t>③</a:t>
            </a:r>
            <a:r>
              <a:rPr lang="zh-CN" altLang="en-US" dirty="0"/>
              <a:t>肯定原来的结论</a:t>
            </a:r>
            <a:r>
              <a:rPr lang="en-US" altLang="zh-CN" dirty="0"/>
              <a:t>:</a:t>
            </a:r>
          </a:p>
          <a:p>
            <a:pPr marL="0" indent="0">
              <a:buNone/>
            </a:pPr>
            <a:r>
              <a:rPr lang="zh-CN" altLang="en-US" dirty="0" smtClean="0"/>
              <a:t>    故</a:t>
            </a:r>
            <a:r>
              <a:rPr lang="zh-CN" altLang="en-US" dirty="0"/>
              <a:t>没有最大的</a:t>
            </a:r>
            <a:r>
              <a:rPr lang="zh-CN" altLang="en-US" dirty="0" smtClean="0"/>
              <a:t>整数。证</a:t>
            </a:r>
            <a:r>
              <a:rPr lang="zh-CN" altLang="en-US" dirty="0"/>
              <a:t>毕</a:t>
            </a:r>
          </a:p>
        </p:txBody>
      </p:sp>
      <p:sp>
        <p:nvSpPr>
          <p:cNvPr id="4" name="页脚占位符 3"/>
          <p:cNvSpPr>
            <a:spLocks noGrp="1"/>
          </p:cNvSpPr>
          <p:nvPr>
            <p:ph type="ftr" sz="quarter" idx="10"/>
          </p:nvPr>
        </p:nvSpPr>
        <p:spPr/>
        <p:txBody>
          <a:bodyPr/>
          <a:lstStyle/>
          <a:p>
            <a:pPr>
              <a:defRPr/>
            </a:pPr>
            <a:r>
              <a:rPr lang="en-US" altLang="zh-CN" smtClean="0"/>
              <a:t>Algorithms Design Techniques and Analysis</a:t>
            </a:r>
            <a:endParaRPr lang="en-US" altLang="zh-CN"/>
          </a:p>
        </p:txBody>
      </p:sp>
    </p:spTree>
    <p:extLst>
      <p:ext uri="{BB962C8B-B14F-4D97-AF65-F5344CB8AC3E}">
        <p14:creationId xmlns:p14="http://schemas.microsoft.com/office/powerpoint/2010/main" val="2960807130"/>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a:lnSpc>
                <a:spcPct val="150000"/>
              </a:lnSpc>
            </a:pPr>
            <a:r>
              <a:rPr lang="zh-CN" altLang="en-US" dirty="0"/>
              <a:t>数学归纳法，通常被用于证明某个</a:t>
            </a:r>
            <a:r>
              <a:rPr lang="zh-CN" altLang="en-US" dirty="0" smtClean="0"/>
              <a:t>给定</a:t>
            </a:r>
            <a:r>
              <a:rPr lang="zh-CN" altLang="en-US" dirty="0"/>
              <a:t>命题</a:t>
            </a:r>
            <a:r>
              <a:rPr lang="en-US" altLang="zh-CN" dirty="0"/>
              <a:t>(</a:t>
            </a:r>
            <a:r>
              <a:rPr lang="zh-CN" altLang="en-US" dirty="0"/>
              <a:t>定理</a:t>
            </a:r>
            <a:r>
              <a:rPr lang="en-US" altLang="zh-CN" dirty="0"/>
              <a:t>)</a:t>
            </a:r>
            <a:r>
              <a:rPr lang="zh-CN" altLang="en-US" dirty="0"/>
              <a:t>在整个</a:t>
            </a:r>
            <a:r>
              <a:rPr lang="en-US" altLang="zh-CN" dirty="0"/>
              <a:t>(</a:t>
            </a:r>
            <a:r>
              <a:rPr lang="zh-CN" altLang="en-US" dirty="0"/>
              <a:t>或者局部</a:t>
            </a:r>
            <a:r>
              <a:rPr lang="en-US" altLang="zh-CN" dirty="0" smtClean="0"/>
              <a:t>)</a:t>
            </a:r>
            <a:r>
              <a:rPr lang="zh-CN" altLang="en-US" dirty="0" smtClean="0"/>
              <a:t>且</a:t>
            </a:r>
            <a:r>
              <a:rPr lang="zh-CN" altLang="en-US" dirty="0"/>
              <a:t>然数范围内成立</a:t>
            </a:r>
            <a:r>
              <a:rPr lang="zh-CN" altLang="en-US" dirty="0" smtClean="0"/>
              <a:t>。</a:t>
            </a:r>
            <a:endParaRPr lang="en-US" altLang="zh-CN" dirty="0" smtClean="0"/>
          </a:p>
          <a:p>
            <a:pPr>
              <a:lnSpc>
                <a:spcPct val="150000"/>
              </a:lnSpc>
            </a:pPr>
            <a:r>
              <a:rPr lang="zh-CN" altLang="en-US" dirty="0" smtClean="0"/>
              <a:t>数学归纳法</a:t>
            </a:r>
            <a:r>
              <a:rPr lang="zh-CN" altLang="en-US" dirty="0"/>
              <a:t>依靠假设的事实来证明</a:t>
            </a:r>
            <a:r>
              <a:rPr lang="zh-CN" altLang="en-US" dirty="0" smtClean="0"/>
              <a:t>定理</a:t>
            </a:r>
            <a:r>
              <a:rPr lang="zh-CN" altLang="en-US" dirty="0"/>
              <a:t>，是</a:t>
            </a:r>
            <a:r>
              <a:rPr lang="zh-CN" altLang="en-US" dirty="0" smtClean="0"/>
              <a:t>用“有限”</a:t>
            </a:r>
            <a:r>
              <a:rPr lang="zh-CN" altLang="en-US" dirty="0"/>
              <a:t>步骤解决</a:t>
            </a:r>
            <a:r>
              <a:rPr lang="zh-CN" altLang="en-US" dirty="0" smtClean="0"/>
              <a:t>“无限”步骤</a:t>
            </a:r>
            <a:r>
              <a:rPr lang="zh-CN" altLang="en-US" dirty="0"/>
              <a:t>问题的一种严格证明方法。</a:t>
            </a:r>
          </a:p>
        </p:txBody>
      </p:sp>
      <p:sp>
        <p:nvSpPr>
          <p:cNvPr id="4" name="页脚占位符 3"/>
          <p:cNvSpPr>
            <a:spLocks noGrp="1"/>
          </p:cNvSpPr>
          <p:nvPr>
            <p:ph type="ftr" sz="quarter" idx="10"/>
          </p:nvPr>
        </p:nvSpPr>
        <p:spPr/>
        <p:txBody>
          <a:bodyPr/>
          <a:lstStyle/>
          <a:p>
            <a:pPr>
              <a:defRPr/>
            </a:pPr>
            <a:r>
              <a:rPr lang="en-US" altLang="zh-CN" smtClean="0"/>
              <a:t>Algorithms Design Techniques and Analysis</a:t>
            </a:r>
            <a:endParaRPr lang="en-US" altLang="zh-CN"/>
          </a:p>
        </p:txBody>
      </p:sp>
      <p:sp>
        <p:nvSpPr>
          <p:cNvPr id="5" name="标题 1"/>
          <p:cNvSpPr>
            <a:spLocks noGrp="1"/>
          </p:cNvSpPr>
          <p:nvPr>
            <p:ph type="title"/>
          </p:nvPr>
        </p:nvSpPr>
        <p:spPr/>
        <p:txBody>
          <a:bodyPr/>
          <a:lstStyle/>
          <a:p>
            <a:r>
              <a:rPr lang="en-US" altLang="zh-CN" dirty="0">
                <a:latin typeface="+mn-ea"/>
              </a:rPr>
              <a:t>1.2.6 </a:t>
            </a:r>
            <a:r>
              <a:rPr lang="zh-CN" altLang="en-US" dirty="0">
                <a:latin typeface="+mn-ea"/>
              </a:rPr>
              <a:t>算法正确性证明</a:t>
            </a:r>
            <a:r>
              <a:rPr lang="en-US" altLang="zh-CN" dirty="0" smtClean="0">
                <a:latin typeface="+mn-ea"/>
              </a:rPr>
              <a:t>——</a:t>
            </a:r>
            <a:r>
              <a:rPr lang="zh-CN" altLang="en-US" dirty="0" smtClean="0">
                <a:latin typeface="+mn-ea"/>
              </a:rPr>
              <a:t>数学归纳法</a:t>
            </a:r>
            <a:endParaRPr lang="zh-CN" altLang="en-US" dirty="0"/>
          </a:p>
        </p:txBody>
      </p:sp>
    </p:spTree>
    <p:extLst>
      <p:ext uri="{BB962C8B-B14F-4D97-AF65-F5344CB8AC3E}">
        <p14:creationId xmlns:p14="http://schemas.microsoft.com/office/powerpoint/2010/main" val="4118806115"/>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ea"/>
              </a:rPr>
              <a:t>1.2.6 </a:t>
            </a:r>
            <a:r>
              <a:rPr lang="zh-CN" altLang="en-US" dirty="0">
                <a:latin typeface="+mn-ea"/>
              </a:rPr>
              <a:t>算法正确性证明</a:t>
            </a:r>
            <a:r>
              <a:rPr lang="en-US" altLang="zh-CN" dirty="0">
                <a:latin typeface="+mn-ea"/>
              </a:rPr>
              <a:t>——</a:t>
            </a:r>
            <a:r>
              <a:rPr lang="zh-CN" altLang="en-US" dirty="0">
                <a:latin typeface="+mn-ea"/>
              </a:rPr>
              <a:t>数学归纳法</a:t>
            </a:r>
            <a:endParaRPr lang="zh-CN" altLang="en-US" dirty="0"/>
          </a:p>
        </p:txBody>
      </p:sp>
      <p:sp>
        <p:nvSpPr>
          <p:cNvPr id="4" name="页脚占位符 3"/>
          <p:cNvSpPr>
            <a:spLocks noGrp="1"/>
          </p:cNvSpPr>
          <p:nvPr>
            <p:ph type="ftr" sz="quarter" idx="10"/>
          </p:nvPr>
        </p:nvSpPr>
        <p:spPr/>
        <p:txBody>
          <a:bodyPr/>
          <a:lstStyle/>
          <a:p>
            <a:pPr>
              <a:defRPr/>
            </a:pPr>
            <a:r>
              <a:rPr lang="en-US" altLang="zh-CN" smtClean="0"/>
              <a:t>Algorithms Design Techniques and Analysis</a:t>
            </a:r>
            <a:endParaRPr lang="en-US" altLang="zh-CN"/>
          </a:p>
        </p:txBody>
      </p:sp>
      <p:sp>
        <p:nvSpPr>
          <p:cNvPr id="5" name="内容占位符 2"/>
          <p:cNvSpPr>
            <a:spLocks noGrp="1"/>
          </p:cNvSpPr>
          <p:nvPr>
            <p:ph idx="1"/>
          </p:nvPr>
        </p:nvSpPr>
        <p:spPr>
          <a:xfrm>
            <a:off x="900113" y="1268413"/>
            <a:ext cx="7786687" cy="968760"/>
          </a:xfrm>
        </p:spPr>
        <p:txBody>
          <a:bodyPr/>
          <a:lstStyle/>
          <a:p>
            <a:pPr marL="0" indent="0">
              <a:buNone/>
            </a:pPr>
            <a:r>
              <a:rPr lang="zh-CN" altLang="en-US" b="1" dirty="0" smtClean="0"/>
              <a:t>例子：</a:t>
            </a:r>
            <a:r>
              <a:rPr lang="zh-CN" altLang="en-US" b="1" dirty="0"/>
              <a:t> 金字塔</a:t>
            </a:r>
            <a:r>
              <a:rPr lang="zh-CN" altLang="en-US" b="1" dirty="0" smtClean="0"/>
              <a:t>求和。</a:t>
            </a:r>
            <a:endParaRPr lang="en-US" altLang="zh-CN" b="1" dirty="0"/>
          </a:p>
          <a:p>
            <a:pPr marL="0" indent="0">
              <a:buNone/>
            </a:pPr>
            <a:r>
              <a:rPr lang="zh-CN" altLang="en-US" b="1" dirty="0"/>
              <a:t>证明</a:t>
            </a:r>
            <a:r>
              <a:rPr lang="en-US" altLang="zh-CN" b="1" dirty="0"/>
              <a:t>:</a:t>
            </a:r>
            <a:r>
              <a:rPr lang="zh-CN" altLang="en-US" b="1" dirty="0" smtClean="0"/>
              <a:t>用数学归纳法。</a:t>
            </a:r>
            <a:endParaRPr lang="en-US" altLang="zh-CN" b="1" dirty="0" smtClean="0"/>
          </a:p>
        </p:txBody>
      </p:sp>
      <p:pic>
        <p:nvPicPr>
          <p:cNvPr id="6" name="图片 5"/>
          <p:cNvPicPr>
            <a:picLocks noChangeAspect="1"/>
          </p:cNvPicPr>
          <p:nvPr/>
        </p:nvPicPr>
        <p:blipFill>
          <a:blip r:embed="rId2"/>
          <a:stretch>
            <a:fillRect/>
          </a:stretch>
        </p:blipFill>
        <p:spPr>
          <a:xfrm>
            <a:off x="4595875" y="1196975"/>
            <a:ext cx="4012064" cy="1266561"/>
          </a:xfrm>
          <a:prstGeom prst="rect">
            <a:avLst/>
          </a:prstGeom>
        </p:spPr>
      </p:pic>
      <p:pic>
        <p:nvPicPr>
          <p:cNvPr id="10"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5522" y="2530934"/>
            <a:ext cx="6451547" cy="3431237"/>
          </a:xfrm>
          <a:prstGeom prst="rect">
            <a:avLst/>
          </a:prstGeom>
        </p:spPr>
      </p:pic>
    </p:spTree>
    <p:extLst>
      <p:ext uri="{BB962C8B-B14F-4D97-AF65-F5344CB8AC3E}">
        <p14:creationId xmlns:p14="http://schemas.microsoft.com/office/powerpoint/2010/main" val="832060949"/>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11267" name="Rectangle 2"/>
          <p:cNvSpPr>
            <a:spLocks noGrp="1" noChangeArrowheads="1"/>
          </p:cNvSpPr>
          <p:nvPr>
            <p:ph type="title"/>
          </p:nvPr>
        </p:nvSpPr>
        <p:spPr/>
        <p:txBody>
          <a:bodyPr/>
          <a:lstStyle/>
          <a:p>
            <a:pPr eaLnBrk="1" hangingPunct="1"/>
            <a:r>
              <a:rPr lang="zh-CN" altLang="en-US" b="0" smtClean="0"/>
              <a:t>主要内容</a:t>
            </a:r>
            <a:endParaRPr lang="en-US" altLang="zh-CN" b="0" smtClean="0"/>
          </a:p>
        </p:txBody>
      </p:sp>
      <p:sp>
        <p:nvSpPr>
          <p:cNvPr id="8196" name="Rectangle 3"/>
          <p:cNvSpPr>
            <a:spLocks noGrp="1" noChangeArrowheads="1"/>
          </p:cNvSpPr>
          <p:nvPr>
            <p:ph type="body" idx="1"/>
          </p:nvPr>
        </p:nvSpPr>
        <p:spPr>
          <a:xfrm>
            <a:off x="962026" y="1883206"/>
            <a:ext cx="6210299" cy="2520117"/>
          </a:xfrm>
        </p:spPr>
        <p:txBody>
          <a:bodyPr/>
          <a:lstStyle/>
          <a:p>
            <a:pPr marL="0" lvl="1" indent="-419100" eaLnBrk="1" hangingPunct="1">
              <a:buFontTx/>
              <a:buNone/>
              <a:defRPr/>
            </a:pPr>
            <a:r>
              <a:rPr lang="en-US" altLang="zh-CN" sz="2400" dirty="0" smtClean="0">
                <a:latin typeface="+mn-ea"/>
                <a:ea typeface="+mn-ea"/>
              </a:rPr>
              <a:t>1.1</a:t>
            </a:r>
            <a:r>
              <a:rPr lang="zh-CN" altLang="en-US" sz="2400" dirty="0" smtClean="0">
                <a:latin typeface="+mn-ea"/>
                <a:ea typeface="+mn-ea"/>
              </a:rPr>
              <a:t>算法的基本概念</a:t>
            </a:r>
            <a:endParaRPr lang="en-US" altLang="zh-CN" sz="2400" dirty="0" smtClean="0">
              <a:latin typeface="+mn-ea"/>
              <a:ea typeface="+mn-ea"/>
            </a:endParaRPr>
          </a:p>
          <a:p>
            <a:pPr marL="0" lvl="1" indent="-419100" eaLnBrk="1" hangingPunct="1">
              <a:buNone/>
              <a:defRPr/>
            </a:pPr>
            <a:r>
              <a:rPr lang="en-US" altLang="zh-CN" sz="2400" dirty="0">
                <a:latin typeface="+mn-ea"/>
                <a:ea typeface="+mn-ea"/>
              </a:rPr>
              <a:t>1.2</a:t>
            </a:r>
            <a:r>
              <a:rPr lang="zh-CN" altLang="en-US" sz="2400" dirty="0">
                <a:latin typeface="+mn-ea"/>
                <a:ea typeface="+mn-ea"/>
              </a:rPr>
              <a:t>算法分析基础</a:t>
            </a:r>
            <a:endParaRPr lang="en-US" altLang="zh-CN" sz="2400" dirty="0">
              <a:latin typeface="+mn-ea"/>
              <a:ea typeface="+mn-ea"/>
            </a:endParaRPr>
          </a:p>
          <a:p>
            <a:pPr marL="0" lvl="1" indent="-419100" eaLnBrk="1" hangingPunct="1">
              <a:buNone/>
              <a:defRPr/>
            </a:pPr>
            <a:r>
              <a:rPr lang="en-US" altLang="zh-CN" sz="2800" b="1" u="sng" dirty="0">
                <a:latin typeface="+mn-ea"/>
                <a:ea typeface="+mn-ea"/>
              </a:rPr>
              <a:t>1.3</a:t>
            </a:r>
            <a:r>
              <a:rPr lang="zh-CN" altLang="en-US" sz="2800" b="1" u="sng" dirty="0">
                <a:latin typeface="+mn-ea"/>
                <a:ea typeface="+mn-ea"/>
              </a:rPr>
              <a:t>算法分析常用的数学</a:t>
            </a:r>
            <a:r>
              <a:rPr lang="zh-CN" altLang="en-US" sz="2800" b="1" u="sng" dirty="0">
                <a:latin typeface="+mn-ea"/>
                <a:ea typeface="+mn-ea"/>
              </a:rPr>
              <a:t>知识</a:t>
            </a:r>
            <a:endParaRPr lang="en-US" altLang="zh-CN" sz="2800" b="1" u="sng" dirty="0">
              <a:latin typeface="+mn-ea"/>
              <a:ea typeface="+mn-ea"/>
            </a:endParaRPr>
          </a:p>
          <a:p>
            <a:pPr marL="0" lvl="1" indent="-419100" eaLnBrk="1" hangingPunct="1">
              <a:buFontTx/>
              <a:buNone/>
              <a:defRPr/>
            </a:pPr>
            <a:r>
              <a:rPr lang="en-US" altLang="zh-CN" sz="2400" dirty="0">
                <a:latin typeface="+mn-ea"/>
                <a:ea typeface="+mn-ea"/>
              </a:rPr>
              <a:t>1.4</a:t>
            </a:r>
            <a:r>
              <a:rPr lang="zh-CN" altLang="en-US" sz="2400" dirty="0">
                <a:latin typeface="+mn-ea"/>
                <a:ea typeface="+mn-ea"/>
              </a:rPr>
              <a:t>数据结构的表示、操作算法及分析</a:t>
            </a:r>
            <a:endParaRPr lang="zh-CN" altLang="en-US" sz="2400" dirty="0" smtClean="0">
              <a:latin typeface="+mn-ea"/>
              <a:ea typeface="+mn-ea"/>
            </a:endParaRPr>
          </a:p>
        </p:txBody>
      </p:sp>
      <p:pic>
        <p:nvPicPr>
          <p:cNvPr id="11269" name="Picture 4" descr="j019538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0425" y="260350"/>
            <a:ext cx="1231900" cy="125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06384897"/>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11267" name="Rectangle 2"/>
          <p:cNvSpPr>
            <a:spLocks noGrp="1" noChangeArrowheads="1"/>
          </p:cNvSpPr>
          <p:nvPr>
            <p:ph type="title"/>
          </p:nvPr>
        </p:nvSpPr>
        <p:spPr/>
        <p:txBody>
          <a:bodyPr/>
          <a:lstStyle/>
          <a:p>
            <a:pPr eaLnBrk="1" hangingPunct="1"/>
            <a:r>
              <a:rPr lang="zh-CN" altLang="en-US" b="0" dirty="0" smtClean="0"/>
              <a:t>主要内容</a:t>
            </a:r>
            <a:endParaRPr lang="en-US" altLang="zh-CN" b="0" dirty="0" smtClean="0"/>
          </a:p>
        </p:txBody>
      </p:sp>
      <p:sp>
        <p:nvSpPr>
          <p:cNvPr id="8196" name="Rectangle 3"/>
          <p:cNvSpPr>
            <a:spLocks noGrp="1" noChangeArrowheads="1"/>
          </p:cNvSpPr>
          <p:nvPr>
            <p:ph type="body" idx="1"/>
          </p:nvPr>
        </p:nvSpPr>
        <p:spPr>
          <a:xfrm>
            <a:off x="900113" y="1279525"/>
            <a:ext cx="7786687" cy="4525963"/>
          </a:xfrm>
        </p:spPr>
        <p:txBody>
          <a:bodyPr/>
          <a:lstStyle/>
          <a:p>
            <a:pPr marL="0" lvl="1" indent="-419100" eaLnBrk="1" hangingPunct="1">
              <a:buFontTx/>
              <a:buNone/>
              <a:defRPr/>
            </a:pPr>
            <a:r>
              <a:rPr lang="en-US" altLang="zh-CN" sz="2400" dirty="0" smtClean="0">
                <a:latin typeface="+mn-ea"/>
                <a:ea typeface="+mn-ea"/>
              </a:rPr>
              <a:t>1.3</a:t>
            </a:r>
            <a:r>
              <a:rPr lang="zh-CN" altLang="en-US" sz="2400" dirty="0">
                <a:latin typeface="+mn-ea"/>
                <a:ea typeface="+mn-ea"/>
              </a:rPr>
              <a:t>算法分析常用的数学</a:t>
            </a:r>
            <a:r>
              <a:rPr lang="zh-CN" altLang="en-US" sz="2400" dirty="0" smtClean="0">
                <a:latin typeface="+mn-ea"/>
                <a:ea typeface="+mn-ea"/>
              </a:rPr>
              <a:t>知识</a:t>
            </a:r>
            <a:endParaRPr lang="en-US" altLang="zh-CN" sz="2400" dirty="0" smtClean="0">
              <a:latin typeface="+mn-ea"/>
              <a:ea typeface="+mn-ea"/>
            </a:endParaRPr>
          </a:p>
          <a:p>
            <a:pPr marL="360000" lvl="1" indent="-419100" eaLnBrk="1" hangingPunct="1">
              <a:buFontTx/>
              <a:buNone/>
              <a:defRPr/>
            </a:pPr>
            <a:r>
              <a:rPr lang="en-US" altLang="zh-CN" sz="2400" dirty="0" smtClean="0">
                <a:latin typeface="+mn-ea"/>
                <a:ea typeface="+mn-ea"/>
              </a:rPr>
              <a:t>	1.3.1 </a:t>
            </a:r>
            <a:r>
              <a:rPr lang="zh-CN" altLang="en-US" sz="2400" dirty="0">
                <a:latin typeface="+mn-ea"/>
                <a:ea typeface="+mn-ea"/>
              </a:rPr>
              <a:t>集合、关系、函数</a:t>
            </a:r>
          </a:p>
          <a:p>
            <a:pPr marL="360000" lvl="1" indent="-419100" eaLnBrk="1" hangingPunct="1">
              <a:buFontTx/>
              <a:buNone/>
              <a:defRPr/>
            </a:pPr>
            <a:r>
              <a:rPr lang="en-US" altLang="zh-CN" sz="2400" dirty="0" smtClean="0">
                <a:latin typeface="+mn-ea"/>
                <a:ea typeface="+mn-ea"/>
              </a:rPr>
              <a:t>	1.3.2 </a:t>
            </a:r>
            <a:r>
              <a:rPr lang="zh-CN" altLang="en-US" sz="2400" dirty="0">
                <a:latin typeface="+mn-ea"/>
                <a:ea typeface="+mn-ea"/>
              </a:rPr>
              <a:t>证明方法</a:t>
            </a:r>
          </a:p>
          <a:p>
            <a:pPr marL="360000" lvl="1" indent="-419100" eaLnBrk="1" hangingPunct="1">
              <a:buFontTx/>
              <a:buNone/>
              <a:defRPr/>
            </a:pPr>
            <a:r>
              <a:rPr lang="en-US" altLang="zh-CN" sz="2400" dirty="0" smtClean="0">
                <a:latin typeface="+mn-ea"/>
                <a:ea typeface="+mn-ea"/>
              </a:rPr>
              <a:t>	1.3.3 </a:t>
            </a:r>
            <a:r>
              <a:rPr lang="zh-CN" altLang="en-US" sz="2400" dirty="0">
                <a:latin typeface="+mn-ea"/>
                <a:ea typeface="+mn-ea"/>
              </a:rPr>
              <a:t>对数</a:t>
            </a:r>
          </a:p>
          <a:p>
            <a:pPr marL="360000" lvl="1" indent="-419100" eaLnBrk="1" hangingPunct="1">
              <a:buFontTx/>
              <a:buNone/>
              <a:defRPr/>
            </a:pPr>
            <a:r>
              <a:rPr lang="en-US" altLang="zh-CN" sz="2400" dirty="0" smtClean="0">
                <a:latin typeface="+mn-ea"/>
                <a:ea typeface="+mn-ea"/>
              </a:rPr>
              <a:t>	1.3.4 </a:t>
            </a:r>
            <a:r>
              <a:rPr lang="zh-CN" altLang="en-US" sz="2400" dirty="0">
                <a:latin typeface="+mn-ea"/>
                <a:ea typeface="+mn-ea"/>
              </a:rPr>
              <a:t>底函数、顶函数</a:t>
            </a:r>
          </a:p>
          <a:p>
            <a:pPr marL="360000" lvl="1" indent="-419100" eaLnBrk="1" hangingPunct="1">
              <a:buFontTx/>
              <a:buNone/>
              <a:defRPr/>
            </a:pPr>
            <a:r>
              <a:rPr lang="en-US" altLang="zh-CN" sz="2400" dirty="0" smtClean="0">
                <a:latin typeface="+mn-ea"/>
                <a:ea typeface="+mn-ea"/>
              </a:rPr>
              <a:t>	1.3.5 </a:t>
            </a:r>
            <a:r>
              <a:rPr lang="zh-CN" altLang="en-US" sz="2400" dirty="0">
                <a:latin typeface="+mn-ea"/>
                <a:ea typeface="+mn-ea"/>
              </a:rPr>
              <a:t>阶乘和二项式系数</a:t>
            </a:r>
          </a:p>
          <a:p>
            <a:pPr marL="360000" lvl="1" indent="-419100" eaLnBrk="1" hangingPunct="1">
              <a:buFontTx/>
              <a:buNone/>
              <a:defRPr/>
            </a:pPr>
            <a:r>
              <a:rPr lang="en-US" altLang="zh-CN" sz="2400" dirty="0" smtClean="0">
                <a:latin typeface="+mn-ea"/>
                <a:ea typeface="+mn-ea"/>
              </a:rPr>
              <a:t>	1.3.6 </a:t>
            </a:r>
            <a:r>
              <a:rPr lang="zh-CN" altLang="en-US" sz="2400" dirty="0">
                <a:latin typeface="+mn-ea"/>
                <a:ea typeface="+mn-ea"/>
              </a:rPr>
              <a:t>鸽巢原理</a:t>
            </a:r>
          </a:p>
          <a:p>
            <a:pPr marL="360000" lvl="1" indent="-419100" eaLnBrk="1" hangingPunct="1">
              <a:buFontTx/>
              <a:buNone/>
              <a:defRPr/>
            </a:pPr>
            <a:r>
              <a:rPr lang="en-US" altLang="zh-CN" sz="2400" dirty="0" smtClean="0">
                <a:latin typeface="+mn-ea"/>
                <a:ea typeface="+mn-ea"/>
              </a:rPr>
              <a:t>	1.3.7 </a:t>
            </a:r>
            <a:r>
              <a:rPr lang="zh-CN" altLang="en-US" sz="2400" dirty="0">
                <a:latin typeface="+mn-ea"/>
                <a:ea typeface="+mn-ea"/>
              </a:rPr>
              <a:t>和式</a:t>
            </a:r>
          </a:p>
          <a:p>
            <a:pPr marL="360000" lvl="1" indent="-419100" eaLnBrk="1" hangingPunct="1">
              <a:buFontTx/>
              <a:buNone/>
              <a:defRPr/>
            </a:pPr>
            <a:r>
              <a:rPr lang="en-US" altLang="zh-CN" sz="2400" dirty="0" smtClean="0">
                <a:latin typeface="+mn-ea"/>
                <a:ea typeface="+mn-ea"/>
              </a:rPr>
              <a:t>	1.3.8 </a:t>
            </a:r>
            <a:r>
              <a:rPr lang="zh-CN" altLang="en-US" sz="2400" dirty="0">
                <a:latin typeface="+mn-ea"/>
                <a:ea typeface="+mn-ea"/>
              </a:rPr>
              <a:t>递推关系</a:t>
            </a:r>
            <a:endParaRPr lang="zh-CN" altLang="en-US" sz="2400" dirty="0" smtClean="0">
              <a:latin typeface="+mn-ea"/>
              <a:ea typeface="+mn-ea"/>
            </a:endParaRPr>
          </a:p>
        </p:txBody>
      </p:sp>
      <p:pic>
        <p:nvPicPr>
          <p:cNvPr id="11269" name="Picture 4" descr="j019538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0425" y="260350"/>
            <a:ext cx="1231900" cy="125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26900331"/>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8195" name="Rectangle 2"/>
          <p:cNvSpPr>
            <a:spLocks noGrp="1" noChangeArrowheads="1"/>
          </p:cNvSpPr>
          <p:nvPr>
            <p:ph type="title"/>
          </p:nvPr>
        </p:nvSpPr>
        <p:spPr/>
        <p:txBody>
          <a:bodyPr/>
          <a:lstStyle/>
          <a:p>
            <a:pPr eaLnBrk="1" hangingPunct="1"/>
            <a:r>
              <a:rPr lang="en-US" altLang="zh-CN" b="0" dirty="0" smtClean="0">
                <a:latin typeface="+mn-ea"/>
              </a:rPr>
              <a:t>1.3.1 </a:t>
            </a:r>
            <a:r>
              <a:rPr lang="zh-CN" altLang="en-US" b="0" dirty="0" smtClean="0">
                <a:latin typeface="+mn-ea"/>
              </a:rPr>
              <a:t>集合</a:t>
            </a:r>
            <a:r>
              <a:rPr lang="zh-CN" altLang="en-US" b="0" dirty="0">
                <a:latin typeface="+mn-ea"/>
              </a:rPr>
              <a:t>、关系、函数</a:t>
            </a:r>
            <a:endParaRPr lang="en-US" altLang="zh-CN" b="0" dirty="0" smtClean="0"/>
          </a:p>
        </p:txBody>
      </p:sp>
      <p:sp>
        <p:nvSpPr>
          <p:cNvPr id="8196" name="Rectangle 3"/>
          <p:cNvSpPr>
            <a:spLocks noGrp="1" noChangeArrowheads="1"/>
          </p:cNvSpPr>
          <p:nvPr>
            <p:ph type="body" idx="1"/>
          </p:nvPr>
        </p:nvSpPr>
        <p:spPr>
          <a:xfrm>
            <a:off x="806450" y="1268413"/>
            <a:ext cx="8229600" cy="4718050"/>
          </a:xfrm>
        </p:spPr>
        <p:txBody>
          <a:bodyPr/>
          <a:lstStyle/>
          <a:p>
            <a:pPr eaLnBrk="1" hangingPunct="1"/>
            <a:r>
              <a:rPr lang="zh-CN" altLang="en-US" dirty="0" smtClean="0"/>
              <a:t>当分析算法时，我们认为它的输入是从某个特定范围（如整数集合）取出的一个</a:t>
            </a:r>
            <a:r>
              <a:rPr lang="zh-CN" altLang="en-US" dirty="0" smtClean="0">
                <a:solidFill>
                  <a:srgbClr val="FF0000"/>
                </a:solidFill>
              </a:rPr>
              <a:t>集合</a:t>
            </a:r>
            <a:r>
              <a:rPr lang="zh-CN" altLang="en-US" dirty="0" smtClean="0"/>
              <a:t>。形式的说，可以认为算法是一个</a:t>
            </a:r>
            <a:r>
              <a:rPr lang="zh-CN" altLang="en-US" dirty="0" smtClean="0">
                <a:solidFill>
                  <a:srgbClr val="FF0000"/>
                </a:solidFill>
              </a:rPr>
              <a:t>函数</a:t>
            </a:r>
            <a:r>
              <a:rPr lang="zh-CN" altLang="en-US" dirty="0" smtClean="0"/>
              <a:t>，它是一个受约束的关系，它映射每一个可能的输入到一个特定的输出。</a:t>
            </a:r>
            <a:endParaRPr lang="en-US" altLang="zh-CN" dirty="0" smtClean="0"/>
          </a:p>
          <a:p>
            <a:pPr eaLnBrk="1" hangingPunct="1"/>
            <a:endParaRPr lang="en-US" altLang="zh-CN" dirty="0" smtClean="0"/>
          </a:p>
          <a:p>
            <a:pPr eaLnBrk="1" hangingPunct="1"/>
            <a:r>
              <a:rPr lang="zh-CN" altLang="en-US" dirty="0" smtClean="0"/>
              <a:t>这样，集合和函数都处于算法分析的核心中</a:t>
            </a:r>
            <a:endParaRPr lang="en-US" altLang="zh-CN" dirty="0" smtClean="0"/>
          </a:p>
        </p:txBody>
      </p:sp>
    </p:spTree>
    <p:extLst>
      <p:ext uri="{BB962C8B-B14F-4D97-AF65-F5344CB8AC3E}">
        <p14:creationId xmlns:p14="http://schemas.microsoft.com/office/powerpoint/2010/main" val="34174200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10243" name="Rectangle 2"/>
          <p:cNvSpPr>
            <a:spLocks noGrp="1" noChangeArrowheads="1"/>
          </p:cNvSpPr>
          <p:nvPr>
            <p:ph type="title"/>
          </p:nvPr>
        </p:nvSpPr>
        <p:spPr/>
        <p:txBody>
          <a:bodyPr/>
          <a:lstStyle/>
          <a:p>
            <a:pPr eaLnBrk="1" hangingPunct="1"/>
            <a:r>
              <a:rPr lang="en-US" altLang="zh-CN" b="0" dirty="0">
                <a:latin typeface="+mn-ea"/>
              </a:rPr>
              <a:t>1.3.1 </a:t>
            </a:r>
            <a:r>
              <a:rPr lang="zh-CN" altLang="en-US" u="sng" dirty="0">
                <a:latin typeface="+mn-ea"/>
              </a:rPr>
              <a:t>集合</a:t>
            </a:r>
            <a:r>
              <a:rPr lang="zh-CN" altLang="en-US" b="0" dirty="0">
                <a:latin typeface="+mn-ea"/>
              </a:rPr>
              <a:t>、关系、函数</a:t>
            </a:r>
            <a:endParaRPr lang="en-US" altLang="zh-CN" b="0" dirty="0" smtClean="0"/>
          </a:p>
        </p:txBody>
      </p:sp>
      <p:sp>
        <p:nvSpPr>
          <p:cNvPr id="111619" name="Rectangle 3"/>
          <p:cNvSpPr>
            <a:spLocks noGrp="1" noChangeArrowheads="1"/>
          </p:cNvSpPr>
          <p:nvPr>
            <p:ph type="body" idx="1"/>
          </p:nvPr>
        </p:nvSpPr>
        <p:spPr/>
        <p:txBody>
          <a:bodyPr/>
          <a:lstStyle/>
          <a:p>
            <a:pPr eaLnBrk="1" hangingPunct="1">
              <a:lnSpc>
                <a:spcPct val="90000"/>
              </a:lnSpc>
              <a:defRPr/>
            </a:pPr>
            <a:r>
              <a:rPr lang="zh-CN" altLang="en-US" sz="2000" dirty="0" smtClean="0">
                <a:solidFill>
                  <a:srgbClr val="FF0000"/>
                </a:solidFill>
              </a:rPr>
              <a:t>集合</a:t>
            </a:r>
            <a:endParaRPr lang="en-US" altLang="zh-CN" sz="2000" dirty="0" smtClean="0">
              <a:solidFill>
                <a:srgbClr val="FF0000"/>
              </a:solidFill>
            </a:endParaRPr>
          </a:p>
          <a:p>
            <a:pPr lvl="1" eaLnBrk="1" hangingPunct="1">
              <a:lnSpc>
                <a:spcPct val="90000"/>
              </a:lnSpc>
              <a:defRPr/>
            </a:pPr>
            <a:r>
              <a:rPr lang="zh-CN" altLang="en-US" sz="2000" dirty="0" smtClean="0">
                <a:latin typeface="+mn-lt"/>
                <a:ea typeface="+mn-ea"/>
              </a:rPr>
              <a:t>“集合”可用来指任何一批对象，它们成为集合的成员或元素。</a:t>
            </a:r>
            <a:endParaRPr lang="en-US" altLang="zh-CN" sz="2000" dirty="0" smtClean="0">
              <a:solidFill>
                <a:srgbClr val="EA0000"/>
              </a:solidFill>
              <a:latin typeface="+mn-lt"/>
              <a:ea typeface="+mn-ea"/>
            </a:endParaRPr>
          </a:p>
          <a:p>
            <a:pPr eaLnBrk="1" hangingPunct="1">
              <a:lnSpc>
                <a:spcPct val="90000"/>
              </a:lnSpc>
              <a:defRPr/>
            </a:pPr>
            <a:r>
              <a:rPr lang="zh-CN" altLang="en-US" sz="2000" dirty="0" smtClean="0">
                <a:solidFill>
                  <a:srgbClr val="FF0000"/>
                </a:solidFill>
              </a:rPr>
              <a:t>有限</a:t>
            </a:r>
            <a:r>
              <a:rPr lang="en-US" altLang="zh-CN" sz="2000" dirty="0" smtClean="0">
                <a:solidFill>
                  <a:srgbClr val="FF0000"/>
                </a:solidFill>
              </a:rPr>
              <a:t>/</a:t>
            </a:r>
            <a:r>
              <a:rPr lang="zh-CN" altLang="en-US" sz="2000" dirty="0" smtClean="0">
                <a:solidFill>
                  <a:srgbClr val="FF0000"/>
                </a:solidFill>
              </a:rPr>
              <a:t>无限集合</a:t>
            </a:r>
            <a:endParaRPr lang="en-US" altLang="zh-CN" sz="2000" dirty="0" smtClean="0">
              <a:solidFill>
                <a:srgbClr val="FF0000"/>
              </a:solidFill>
            </a:endParaRPr>
          </a:p>
          <a:p>
            <a:pPr lvl="1" eaLnBrk="1" hangingPunct="1">
              <a:lnSpc>
                <a:spcPct val="90000"/>
              </a:lnSpc>
              <a:defRPr/>
            </a:pPr>
            <a:r>
              <a:rPr lang="zh-CN" altLang="en-US" sz="2000" dirty="0" smtClean="0">
                <a:latin typeface="+mn-lt"/>
                <a:ea typeface="+mn-ea"/>
              </a:rPr>
              <a:t>如果对于某个常数</a:t>
            </a:r>
            <a:r>
              <a:rPr lang="en-US" altLang="zh-CN" sz="2000" dirty="0" smtClean="0">
                <a:latin typeface="+mn-lt"/>
                <a:ea typeface="+mn-ea"/>
              </a:rPr>
              <a:t>n</a:t>
            </a:r>
            <a:r>
              <a:rPr lang="en-US" altLang="zh-CN" sz="2000" dirty="0" smtClean="0">
                <a:latin typeface="+mn-lt"/>
                <a:ea typeface="+mn-ea"/>
                <a:sym typeface="Symbol" pitchFamily="18" charset="2"/>
              </a:rPr>
              <a:t></a:t>
            </a:r>
            <a:r>
              <a:rPr lang="en-US" altLang="zh-CN" sz="2000" dirty="0" smtClean="0">
                <a:latin typeface="+mn-lt"/>
                <a:ea typeface="+mn-ea"/>
              </a:rPr>
              <a:t>0</a:t>
            </a:r>
            <a:r>
              <a:rPr lang="zh-CN" altLang="en-US" sz="2000" dirty="0" smtClean="0">
                <a:latin typeface="+mn-lt"/>
                <a:ea typeface="+mn-ea"/>
              </a:rPr>
              <a:t>，一个集合包含</a:t>
            </a:r>
            <a:r>
              <a:rPr lang="en-US" altLang="zh-CN" sz="2000" dirty="0" smtClean="0">
                <a:latin typeface="+mn-lt"/>
                <a:ea typeface="+mn-ea"/>
              </a:rPr>
              <a:t>n</a:t>
            </a:r>
            <a:r>
              <a:rPr lang="zh-CN" altLang="en-US" sz="2000" dirty="0" smtClean="0">
                <a:latin typeface="+mn-lt"/>
                <a:ea typeface="+mn-ea"/>
              </a:rPr>
              <a:t>个元素，则称它为有限的，否则是无限的。</a:t>
            </a:r>
            <a:endParaRPr lang="en-US" altLang="zh-CN" sz="2000" dirty="0" smtClean="0">
              <a:latin typeface="+mn-lt"/>
              <a:ea typeface="+mn-ea"/>
            </a:endParaRPr>
          </a:p>
          <a:p>
            <a:pPr eaLnBrk="1" hangingPunct="1">
              <a:lnSpc>
                <a:spcPct val="90000"/>
              </a:lnSpc>
              <a:defRPr/>
            </a:pPr>
            <a:r>
              <a:rPr lang="zh-CN" altLang="en-US" sz="2000" dirty="0" smtClean="0">
                <a:solidFill>
                  <a:srgbClr val="FF0000"/>
                </a:solidFill>
              </a:rPr>
              <a:t>可数</a:t>
            </a:r>
            <a:r>
              <a:rPr lang="en-US" altLang="zh-CN" sz="2000" dirty="0" smtClean="0">
                <a:solidFill>
                  <a:srgbClr val="FF0000"/>
                </a:solidFill>
              </a:rPr>
              <a:t>/</a:t>
            </a:r>
            <a:r>
              <a:rPr lang="zh-CN" altLang="en-US" sz="2000" dirty="0" smtClean="0">
                <a:solidFill>
                  <a:srgbClr val="FF0000"/>
                </a:solidFill>
              </a:rPr>
              <a:t>不可数集合</a:t>
            </a:r>
            <a:endParaRPr lang="en-US" altLang="zh-CN" sz="2000" dirty="0" smtClean="0">
              <a:solidFill>
                <a:srgbClr val="FF0000"/>
              </a:solidFill>
            </a:endParaRPr>
          </a:p>
          <a:p>
            <a:pPr lvl="1" eaLnBrk="1" hangingPunct="1">
              <a:lnSpc>
                <a:spcPct val="90000"/>
              </a:lnSpc>
              <a:defRPr/>
            </a:pPr>
            <a:r>
              <a:rPr lang="zh-CN" altLang="en-US" sz="2000" dirty="0" smtClean="0">
                <a:latin typeface="+mn-lt"/>
                <a:ea typeface="+mn-ea"/>
              </a:rPr>
              <a:t>如果一个无限集合的元素能被第一个元素、第二个元素列举出来，就称这个无限集合是可数的，否则称为不可数的。</a:t>
            </a:r>
            <a:endParaRPr lang="en-US" altLang="zh-CN" sz="2000" dirty="0" smtClean="0">
              <a:latin typeface="+mn-lt"/>
              <a:ea typeface="+mn-ea"/>
            </a:endParaRPr>
          </a:p>
          <a:p>
            <a:pPr lvl="1" eaLnBrk="1" hangingPunct="1">
              <a:lnSpc>
                <a:spcPct val="90000"/>
              </a:lnSpc>
              <a:defRPr/>
            </a:pPr>
            <a:r>
              <a:rPr lang="zh-CN" altLang="en-US" sz="2000" dirty="0" smtClean="0">
                <a:latin typeface="+mn-lt"/>
                <a:ea typeface="+mn-ea"/>
              </a:rPr>
              <a:t>整数集合可数，实数集合不可数。</a:t>
            </a:r>
            <a:endParaRPr lang="en-US" altLang="zh-CN" sz="2000" dirty="0" smtClean="0">
              <a:latin typeface="+mn-lt"/>
              <a:ea typeface="+mn-ea"/>
            </a:endParaRPr>
          </a:p>
          <a:p>
            <a:pPr eaLnBrk="1" hangingPunct="1">
              <a:lnSpc>
                <a:spcPct val="90000"/>
              </a:lnSpc>
              <a:defRPr/>
            </a:pPr>
            <a:r>
              <a:rPr lang="zh-CN" altLang="en-US" sz="2000" dirty="0" smtClean="0">
                <a:solidFill>
                  <a:srgbClr val="FF0000"/>
                </a:solidFill>
              </a:rPr>
              <a:t>集合的描述</a:t>
            </a:r>
            <a:endParaRPr lang="en-US" altLang="zh-CN" sz="2000" dirty="0" smtClean="0">
              <a:solidFill>
                <a:srgbClr val="FF0000"/>
              </a:solidFill>
            </a:endParaRPr>
          </a:p>
          <a:p>
            <a:pPr lvl="1" eaLnBrk="1" hangingPunct="1">
              <a:lnSpc>
                <a:spcPct val="90000"/>
              </a:lnSpc>
              <a:defRPr/>
            </a:pPr>
            <a:r>
              <a:rPr lang="zh-CN" altLang="en-US" sz="2000" dirty="0" smtClean="0">
                <a:latin typeface="+mn-lt"/>
                <a:ea typeface="+mn-ea"/>
              </a:rPr>
              <a:t>有限整数集合</a:t>
            </a:r>
            <a:r>
              <a:rPr lang="en-US" altLang="zh-CN" sz="2000" dirty="0" smtClean="0">
                <a:latin typeface="+mn-lt"/>
                <a:ea typeface="+mn-ea"/>
              </a:rPr>
              <a:t>{1,2,3}; </a:t>
            </a:r>
          </a:p>
          <a:p>
            <a:pPr lvl="1" eaLnBrk="1" hangingPunct="1">
              <a:lnSpc>
                <a:spcPct val="90000"/>
              </a:lnSpc>
              <a:defRPr/>
            </a:pPr>
            <a:r>
              <a:rPr lang="zh-CN" altLang="en-US" sz="2000" dirty="0" smtClean="0">
                <a:latin typeface="+mn-lt"/>
                <a:ea typeface="+mn-ea"/>
              </a:rPr>
              <a:t>自然数集合</a:t>
            </a:r>
            <a:r>
              <a:rPr lang="en-US" altLang="zh-CN" sz="2000" dirty="0" smtClean="0">
                <a:latin typeface="+mn-lt"/>
                <a:ea typeface="+mn-ea"/>
              </a:rPr>
              <a:t>{1,2,3,…};</a:t>
            </a:r>
          </a:p>
          <a:p>
            <a:pPr lvl="1" eaLnBrk="1" hangingPunct="1">
              <a:lnSpc>
                <a:spcPct val="90000"/>
              </a:lnSpc>
              <a:defRPr/>
            </a:pPr>
            <a:r>
              <a:rPr lang="zh-CN" altLang="en-US" sz="2000" dirty="0" smtClean="0">
                <a:latin typeface="+mn-lt"/>
                <a:ea typeface="+mn-ea"/>
              </a:rPr>
              <a:t>有限整数集合</a:t>
            </a:r>
            <a:r>
              <a:rPr lang="en-US" altLang="zh-CN" sz="2000" dirty="0" smtClean="0">
                <a:latin typeface="+mn-lt"/>
                <a:ea typeface="+mn-ea"/>
              </a:rPr>
              <a:t>{x|1</a:t>
            </a:r>
            <a:r>
              <a:rPr lang="en-US" altLang="zh-CN" sz="2000" dirty="0" smtClean="0">
                <a:latin typeface="+mn-lt"/>
                <a:ea typeface="+mn-ea"/>
                <a:sym typeface="Symbol" pitchFamily="18" charset="2"/>
              </a:rPr>
              <a:t>x</a:t>
            </a:r>
            <a:r>
              <a:rPr lang="en-US" altLang="zh-CN" sz="2000" dirty="0" smtClean="0">
                <a:latin typeface="+mn-lt"/>
                <a:ea typeface="+mn-ea"/>
              </a:rPr>
              <a:t>100 and x </a:t>
            </a:r>
            <a:r>
              <a:rPr lang="zh-CN" altLang="en-US" sz="2000" dirty="0" smtClean="0">
                <a:latin typeface="+mn-lt"/>
                <a:ea typeface="+mn-ea"/>
              </a:rPr>
              <a:t>是整数</a:t>
            </a:r>
            <a:r>
              <a:rPr lang="en-US" altLang="zh-CN" sz="2000" dirty="0" smtClean="0">
                <a:latin typeface="+mn-lt"/>
                <a:ea typeface="+mn-ea"/>
              </a:rPr>
              <a:t>},</a:t>
            </a:r>
          </a:p>
          <a:p>
            <a:pPr lvl="1" eaLnBrk="1" hangingPunct="1">
              <a:lnSpc>
                <a:spcPct val="90000"/>
              </a:lnSpc>
              <a:defRPr/>
            </a:pPr>
            <a:r>
              <a:rPr lang="zh-CN" altLang="en-US" sz="2000" dirty="0" smtClean="0">
                <a:latin typeface="+mn-lt"/>
                <a:ea typeface="+mn-ea"/>
              </a:rPr>
              <a:t>空集</a:t>
            </a:r>
            <a:r>
              <a:rPr lang="en-US" altLang="zh-CN" sz="2000" dirty="0" smtClean="0">
                <a:latin typeface="+mn-lt"/>
                <a:ea typeface="+mn-ea"/>
              </a:rPr>
              <a:t>{} or </a:t>
            </a:r>
            <a:r>
              <a:rPr lang="en-US" altLang="zh-CN" sz="2000" dirty="0" smtClean="0">
                <a:latin typeface="+mn-lt"/>
                <a:ea typeface="+mn-ea"/>
                <a:sym typeface="Symbol" pitchFamily="18" charset="2"/>
              </a:rPr>
              <a:t>.</a:t>
            </a:r>
            <a:endParaRPr lang="en-US" altLang="zh-CN" sz="2000" dirty="0" smtClean="0">
              <a:latin typeface="+mn-lt"/>
              <a:ea typeface="+mn-ea"/>
            </a:endParaRPr>
          </a:p>
        </p:txBody>
      </p:sp>
    </p:spTree>
    <p:extLst>
      <p:ext uri="{BB962C8B-B14F-4D97-AF65-F5344CB8AC3E}">
        <p14:creationId xmlns:p14="http://schemas.microsoft.com/office/powerpoint/2010/main" val="374210062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12291" name="Rectangle 2"/>
          <p:cNvSpPr>
            <a:spLocks noGrp="1" noChangeArrowheads="1"/>
          </p:cNvSpPr>
          <p:nvPr>
            <p:ph type="title"/>
          </p:nvPr>
        </p:nvSpPr>
        <p:spPr/>
        <p:txBody>
          <a:bodyPr/>
          <a:lstStyle/>
          <a:p>
            <a:pPr eaLnBrk="1" hangingPunct="1"/>
            <a:r>
              <a:rPr lang="en-US" altLang="zh-CN" b="0" dirty="0">
                <a:latin typeface="+mn-ea"/>
              </a:rPr>
              <a:t>1.3.1 </a:t>
            </a:r>
            <a:r>
              <a:rPr lang="zh-CN" altLang="en-US" u="sng" dirty="0">
                <a:latin typeface="+mn-ea"/>
              </a:rPr>
              <a:t>集合</a:t>
            </a:r>
            <a:r>
              <a:rPr lang="zh-CN" altLang="en-US" b="0" dirty="0">
                <a:latin typeface="+mn-ea"/>
              </a:rPr>
              <a:t>、关系、函数</a:t>
            </a:r>
            <a:endParaRPr lang="en-US" altLang="zh-CN" b="0" dirty="0" smtClean="0"/>
          </a:p>
        </p:txBody>
      </p:sp>
      <p:sp>
        <p:nvSpPr>
          <p:cNvPr id="92163" name="Rectangle 3"/>
          <p:cNvSpPr>
            <a:spLocks noGrp="1" noChangeArrowheads="1"/>
          </p:cNvSpPr>
          <p:nvPr>
            <p:ph type="body" idx="1"/>
          </p:nvPr>
        </p:nvSpPr>
        <p:spPr/>
        <p:txBody>
          <a:bodyPr/>
          <a:lstStyle/>
          <a:p>
            <a:pPr eaLnBrk="1" hangingPunct="1">
              <a:lnSpc>
                <a:spcPct val="90000"/>
              </a:lnSpc>
              <a:defRPr/>
            </a:pPr>
            <a:r>
              <a:rPr lang="zh-CN" altLang="en-US" sz="2000" dirty="0" smtClean="0">
                <a:solidFill>
                  <a:srgbClr val="FF0000"/>
                </a:solidFill>
                <a:sym typeface="Symbol" pitchFamily="18" charset="2"/>
              </a:rPr>
              <a:t>基数</a:t>
            </a:r>
            <a:endParaRPr lang="en-US" altLang="zh-CN" sz="2000" dirty="0" smtClean="0">
              <a:solidFill>
                <a:srgbClr val="FF0000"/>
              </a:solidFill>
              <a:sym typeface="Symbol" pitchFamily="18" charset="2"/>
            </a:endParaRPr>
          </a:p>
          <a:p>
            <a:pPr lvl="1" eaLnBrk="1" hangingPunct="1">
              <a:lnSpc>
                <a:spcPct val="90000"/>
              </a:lnSpc>
              <a:defRPr/>
            </a:pPr>
            <a:r>
              <a:rPr lang="zh-CN" altLang="en-US" sz="2000" dirty="0" smtClean="0">
                <a:latin typeface="+mn-lt"/>
                <a:ea typeface="+mn-ea"/>
                <a:sym typeface="Symbol" pitchFamily="18" charset="2"/>
              </a:rPr>
              <a:t>如果</a:t>
            </a:r>
            <a:r>
              <a:rPr lang="en-US" altLang="zh-CN" sz="2000" dirty="0" smtClean="0">
                <a:latin typeface="+mn-lt"/>
                <a:ea typeface="+mn-ea"/>
                <a:sym typeface="Symbol" pitchFamily="18" charset="2"/>
              </a:rPr>
              <a:t>A</a:t>
            </a:r>
            <a:r>
              <a:rPr lang="zh-CN" altLang="en-US" sz="2000" dirty="0" smtClean="0">
                <a:latin typeface="+mn-lt"/>
                <a:ea typeface="+mn-ea"/>
                <a:sym typeface="Symbol" pitchFamily="18" charset="2"/>
              </a:rPr>
              <a:t>是一个有限集，那么</a:t>
            </a:r>
            <a:r>
              <a:rPr lang="en-US" altLang="zh-CN" sz="2000" dirty="0" smtClean="0">
                <a:latin typeface="+mn-lt"/>
                <a:ea typeface="+mn-ea"/>
                <a:sym typeface="Symbol" pitchFamily="18" charset="2"/>
              </a:rPr>
              <a:t>A</a:t>
            </a:r>
            <a:r>
              <a:rPr lang="zh-CN" altLang="en-US" sz="2000" dirty="0" smtClean="0">
                <a:latin typeface="+mn-lt"/>
                <a:ea typeface="+mn-ea"/>
                <a:sym typeface="Symbol" pitchFamily="18" charset="2"/>
              </a:rPr>
              <a:t>的基数是指</a:t>
            </a:r>
            <a:r>
              <a:rPr lang="en-US" altLang="zh-CN" sz="2000" dirty="0" smtClean="0">
                <a:latin typeface="+mn-lt"/>
                <a:ea typeface="+mn-ea"/>
                <a:sym typeface="Symbol" pitchFamily="18" charset="2"/>
              </a:rPr>
              <a:t>A</a:t>
            </a:r>
            <a:r>
              <a:rPr lang="zh-CN" altLang="en-US" sz="2000" dirty="0" smtClean="0">
                <a:latin typeface="+mn-lt"/>
                <a:ea typeface="+mn-ea"/>
                <a:sym typeface="Symbol" pitchFamily="18" charset="2"/>
              </a:rPr>
              <a:t>中元素的个数，表示成</a:t>
            </a:r>
            <a:r>
              <a:rPr lang="en-US" altLang="zh-CN" sz="2000" dirty="0" smtClean="0">
                <a:latin typeface="+mn-lt"/>
                <a:ea typeface="+mn-ea"/>
                <a:sym typeface="Symbol" pitchFamily="18" charset="2"/>
              </a:rPr>
              <a:t>|A|</a:t>
            </a:r>
            <a:r>
              <a:rPr lang="zh-CN" altLang="en-US" sz="2000" dirty="0" smtClean="0">
                <a:latin typeface="+mn-lt"/>
                <a:ea typeface="+mn-ea"/>
                <a:sym typeface="Symbol" pitchFamily="18" charset="2"/>
              </a:rPr>
              <a:t>。</a:t>
            </a:r>
            <a:endParaRPr lang="en-US" altLang="zh-CN" sz="2000" dirty="0" smtClean="0">
              <a:latin typeface="+mn-lt"/>
              <a:ea typeface="+mn-ea"/>
              <a:sym typeface="Symbol" pitchFamily="18" charset="2"/>
            </a:endParaRPr>
          </a:p>
          <a:p>
            <a:pPr eaLnBrk="1" hangingPunct="1">
              <a:lnSpc>
                <a:spcPct val="90000"/>
              </a:lnSpc>
              <a:defRPr/>
            </a:pPr>
            <a:r>
              <a:rPr lang="zh-CN" altLang="en-US" sz="2000" dirty="0" smtClean="0">
                <a:solidFill>
                  <a:srgbClr val="FF0000"/>
                </a:solidFill>
                <a:sym typeface="Symbol" pitchFamily="18" charset="2"/>
              </a:rPr>
              <a:t>成员</a:t>
            </a:r>
            <a:r>
              <a:rPr lang="zh-CN" altLang="en-US" sz="2000" dirty="0" smtClean="0">
                <a:sym typeface="Symbol" pitchFamily="18" charset="2"/>
              </a:rPr>
              <a:t>（元素）</a:t>
            </a:r>
            <a:endParaRPr lang="en-US" altLang="zh-CN" sz="2000" dirty="0" smtClean="0">
              <a:sym typeface="Symbol" pitchFamily="18" charset="2"/>
            </a:endParaRPr>
          </a:p>
          <a:p>
            <a:pPr lvl="1" eaLnBrk="1" hangingPunct="1">
              <a:lnSpc>
                <a:spcPct val="90000"/>
              </a:lnSpc>
              <a:defRPr/>
            </a:pPr>
            <a:r>
              <a:rPr lang="zh-CN" altLang="en-US" sz="2000" dirty="0" smtClean="0">
                <a:latin typeface="+mn-lt"/>
                <a:ea typeface="+mn-ea"/>
                <a:sym typeface="Symbol" pitchFamily="18" charset="2"/>
              </a:rPr>
              <a:t>如果</a:t>
            </a:r>
            <a:r>
              <a:rPr lang="en-US" altLang="zh-CN" sz="2000" dirty="0" smtClean="0">
                <a:latin typeface="+mn-lt"/>
                <a:ea typeface="+mn-ea"/>
                <a:sym typeface="Symbol" pitchFamily="18" charset="2"/>
              </a:rPr>
              <a:t>x</a:t>
            </a:r>
            <a:r>
              <a:rPr lang="zh-CN" altLang="en-US" sz="2000" dirty="0" smtClean="0">
                <a:latin typeface="+mn-lt"/>
                <a:ea typeface="+mn-ea"/>
                <a:sym typeface="Symbol" pitchFamily="18" charset="2"/>
              </a:rPr>
              <a:t>是</a:t>
            </a:r>
            <a:r>
              <a:rPr lang="en-US" altLang="zh-CN" sz="2000" dirty="0" smtClean="0">
                <a:latin typeface="+mn-lt"/>
                <a:ea typeface="+mn-ea"/>
                <a:sym typeface="Symbol" pitchFamily="18" charset="2"/>
              </a:rPr>
              <a:t>A</a:t>
            </a:r>
            <a:r>
              <a:rPr lang="zh-CN" altLang="en-US" sz="2000" dirty="0" smtClean="0">
                <a:latin typeface="+mn-lt"/>
                <a:ea typeface="+mn-ea"/>
                <a:sym typeface="Symbol" pitchFamily="18" charset="2"/>
              </a:rPr>
              <a:t>的成员，我们用</a:t>
            </a:r>
            <a:r>
              <a:rPr lang="en-US" altLang="zh-CN" sz="2000" dirty="0" smtClean="0">
                <a:latin typeface="+mn-lt"/>
                <a:ea typeface="+mn-ea"/>
                <a:sym typeface="Symbol" pitchFamily="18" charset="2"/>
              </a:rPr>
              <a:t>xA</a:t>
            </a:r>
            <a:r>
              <a:rPr lang="zh-CN" altLang="en-US" sz="2000" dirty="0" smtClean="0">
                <a:latin typeface="+mn-lt"/>
                <a:ea typeface="+mn-ea"/>
                <a:sym typeface="Symbol" pitchFamily="18" charset="2"/>
              </a:rPr>
              <a:t>表示，否则</a:t>
            </a:r>
            <a:r>
              <a:rPr lang="en-US" altLang="zh-CN" sz="2000" dirty="0" smtClean="0">
                <a:latin typeface="+mn-lt"/>
                <a:ea typeface="+mn-ea"/>
                <a:sym typeface="Symbol" pitchFamily="18" charset="2"/>
              </a:rPr>
              <a:t> </a:t>
            </a:r>
            <a:r>
              <a:rPr lang="en-US" altLang="zh-CN" sz="2000" dirty="0" err="1" smtClean="0">
                <a:latin typeface="+mn-lt"/>
                <a:ea typeface="+mn-ea"/>
                <a:sym typeface="Symbol" pitchFamily="18" charset="2"/>
              </a:rPr>
              <a:t>xA</a:t>
            </a:r>
            <a:r>
              <a:rPr lang="en-US" altLang="zh-CN" sz="2000" dirty="0" smtClean="0">
                <a:latin typeface="+mn-lt"/>
                <a:ea typeface="+mn-ea"/>
                <a:sym typeface="Symbol" pitchFamily="18" charset="2"/>
              </a:rPr>
              <a:t>.</a:t>
            </a:r>
          </a:p>
          <a:p>
            <a:pPr eaLnBrk="1" hangingPunct="1">
              <a:lnSpc>
                <a:spcPct val="90000"/>
              </a:lnSpc>
              <a:defRPr/>
            </a:pPr>
            <a:r>
              <a:rPr lang="zh-CN" altLang="en-US" sz="2000" dirty="0" smtClean="0">
                <a:solidFill>
                  <a:srgbClr val="FF0000"/>
                </a:solidFill>
                <a:sym typeface="Symbol" pitchFamily="18" charset="2"/>
              </a:rPr>
              <a:t>子集</a:t>
            </a:r>
            <a:endParaRPr lang="en-US" altLang="zh-CN" sz="2000" dirty="0" smtClean="0">
              <a:solidFill>
                <a:srgbClr val="FF0000"/>
              </a:solidFill>
              <a:sym typeface="Symbol" pitchFamily="18" charset="2"/>
            </a:endParaRPr>
          </a:p>
          <a:p>
            <a:pPr>
              <a:defRPr/>
            </a:pPr>
            <a:r>
              <a:rPr lang="zh-CN" altLang="en-US" sz="2000" dirty="0" smtClean="0">
                <a:sym typeface="Symbol" pitchFamily="18" charset="2"/>
              </a:rPr>
              <a:t>如果每一个</a:t>
            </a:r>
            <a:r>
              <a:rPr lang="en-US" altLang="zh-CN" sz="2000" dirty="0" smtClean="0">
                <a:sym typeface="Symbol" pitchFamily="18" charset="2"/>
              </a:rPr>
              <a:t>B</a:t>
            </a:r>
            <a:r>
              <a:rPr lang="zh-CN" altLang="en-US" sz="2000" dirty="0" smtClean="0">
                <a:sym typeface="Symbol" pitchFamily="18" charset="2"/>
              </a:rPr>
              <a:t>的元素都是</a:t>
            </a:r>
            <a:r>
              <a:rPr lang="en-US" altLang="zh-CN" sz="2000" dirty="0" smtClean="0">
                <a:sym typeface="Symbol" pitchFamily="18" charset="2"/>
              </a:rPr>
              <a:t>A</a:t>
            </a:r>
            <a:r>
              <a:rPr lang="zh-CN" altLang="en-US" sz="2000" dirty="0" smtClean="0">
                <a:sym typeface="Symbol" pitchFamily="18" charset="2"/>
              </a:rPr>
              <a:t>的元素，那么称集合</a:t>
            </a:r>
            <a:r>
              <a:rPr lang="en-US" altLang="zh-CN" sz="2000" dirty="0" smtClean="0">
                <a:sym typeface="Symbol" pitchFamily="18" charset="2"/>
              </a:rPr>
              <a:t>B</a:t>
            </a:r>
            <a:r>
              <a:rPr lang="zh-CN" altLang="en-US" sz="2000" dirty="0" smtClean="0">
                <a:sym typeface="Symbol" pitchFamily="18" charset="2"/>
              </a:rPr>
              <a:t>是集合</a:t>
            </a:r>
            <a:r>
              <a:rPr lang="en-US" altLang="zh-CN" sz="2000" dirty="0" smtClean="0">
                <a:sym typeface="Symbol" pitchFamily="18" charset="2"/>
              </a:rPr>
              <a:t>A</a:t>
            </a:r>
            <a:r>
              <a:rPr lang="zh-CN" altLang="en-US" sz="2000" dirty="0" smtClean="0">
                <a:sym typeface="Symbol" pitchFamily="18" charset="2"/>
              </a:rPr>
              <a:t>的子集合，记为</a:t>
            </a:r>
            <a:r>
              <a:rPr lang="en-US" altLang="zh-CN" sz="2000" dirty="0" smtClean="0">
                <a:sym typeface="Symbol" pitchFamily="18" charset="2"/>
              </a:rPr>
              <a:t>BA, </a:t>
            </a:r>
            <a:r>
              <a:rPr lang="zh-CN" altLang="en-US" sz="2000" dirty="0" smtClean="0">
                <a:sym typeface="Symbol" pitchFamily="18" charset="2"/>
              </a:rPr>
              <a:t>如果还有</a:t>
            </a:r>
            <a:r>
              <a:rPr lang="en-US" altLang="zh-CN" sz="2000" dirty="0" smtClean="0">
                <a:sym typeface="Symbol" pitchFamily="18" charset="2"/>
              </a:rPr>
              <a:t> BA, </a:t>
            </a:r>
            <a:r>
              <a:rPr lang="zh-CN" altLang="en-US" sz="2000" dirty="0" smtClean="0">
                <a:sym typeface="Symbol" pitchFamily="18" charset="2"/>
              </a:rPr>
              <a:t>则称</a:t>
            </a:r>
            <a:r>
              <a:rPr lang="en-US" altLang="zh-CN" sz="2000" dirty="0" smtClean="0">
                <a:sym typeface="Symbol" pitchFamily="18" charset="2"/>
              </a:rPr>
              <a:t>B</a:t>
            </a:r>
            <a:r>
              <a:rPr lang="zh-CN" altLang="en-US" sz="2000" dirty="0" smtClean="0">
                <a:sym typeface="Symbol" pitchFamily="18" charset="2"/>
              </a:rPr>
              <a:t>是</a:t>
            </a:r>
            <a:r>
              <a:rPr lang="en-US" altLang="zh-CN" sz="2000" dirty="0" smtClean="0">
                <a:sym typeface="Symbol" pitchFamily="18" charset="2"/>
              </a:rPr>
              <a:t>A</a:t>
            </a:r>
            <a:r>
              <a:rPr lang="zh-CN" altLang="en-US" sz="2000" dirty="0" smtClean="0">
                <a:sym typeface="Symbol" pitchFamily="18" charset="2"/>
              </a:rPr>
              <a:t>的真子集，记为</a:t>
            </a:r>
            <a:r>
              <a:rPr lang="en-US" altLang="zh-CN" sz="2000" dirty="0" smtClean="0">
                <a:sym typeface="Symbol" pitchFamily="18" charset="2"/>
              </a:rPr>
              <a:t>BA.</a:t>
            </a:r>
            <a:r>
              <a:rPr lang="zh-CN" altLang="en-US" sz="2000" dirty="0" smtClean="0"/>
              <a:t> </a:t>
            </a:r>
            <a:endParaRPr lang="en-US" altLang="zh-CN" sz="2000" dirty="0" smtClean="0"/>
          </a:p>
          <a:p>
            <a:pPr>
              <a:buFontTx/>
              <a:buNone/>
              <a:defRPr/>
            </a:pPr>
            <a:r>
              <a:rPr lang="en-US" altLang="zh-CN" sz="2000" dirty="0" smtClean="0"/>
              <a:t>        </a:t>
            </a:r>
            <a:r>
              <a:rPr lang="zh-CN" altLang="en-US" sz="2000" dirty="0" smtClean="0"/>
              <a:t>如：</a:t>
            </a:r>
            <a:r>
              <a:rPr lang="en-US" altLang="zh-CN" sz="2000" dirty="0" smtClean="0"/>
              <a:t>{1, 3} ⊂ {1, 2, 3, 4}      {1, 2, 3, 4} ⊆ {1, 2, 3, 4}</a:t>
            </a:r>
            <a:endParaRPr lang="en-US" altLang="zh-CN" sz="2000" dirty="0" smtClean="0">
              <a:sym typeface="Symbol" pitchFamily="18" charset="2"/>
            </a:endParaRPr>
          </a:p>
          <a:p>
            <a:pPr eaLnBrk="1" hangingPunct="1">
              <a:lnSpc>
                <a:spcPct val="90000"/>
              </a:lnSpc>
              <a:defRPr/>
            </a:pPr>
            <a:r>
              <a:rPr lang="zh-CN" altLang="en-US" sz="2000" dirty="0" smtClean="0">
                <a:solidFill>
                  <a:srgbClr val="FF0000"/>
                </a:solidFill>
                <a:sym typeface="Symbol" pitchFamily="18" charset="2"/>
              </a:rPr>
              <a:t>幂集</a:t>
            </a:r>
            <a:endParaRPr lang="en-US" altLang="zh-CN" sz="2000" dirty="0" smtClean="0">
              <a:solidFill>
                <a:srgbClr val="FF0000"/>
              </a:solidFill>
              <a:sym typeface="Symbol" pitchFamily="18" charset="2"/>
            </a:endParaRPr>
          </a:p>
          <a:p>
            <a:pPr lvl="1" eaLnBrk="1" hangingPunct="1">
              <a:lnSpc>
                <a:spcPct val="90000"/>
              </a:lnSpc>
              <a:defRPr/>
            </a:pPr>
            <a:r>
              <a:rPr lang="zh-CN" altLang="en-US" sz="2000" dirty="0" smtClean="0">
                <a:latin typeface="+mn-lt"/>
                <a:ea typeface="+mn-ea"/>
                <a:sym typeface="Symbol" pitchFamily="18" charset="2"/>
              </a:rPr>
              <a:t>集合</a:t>
            </a:r>
            <a:r>
              <a:rPr lang="en-US" altLang="zh-CN" sz="2000" dirty="0" smtClean="0">
                <a:latin typeface="+mn-lt"/>
                <a:ea typeface="+mn-ea"/>
                <a:sym typeface="Symbol" pitchFamily="18" charset="2"/>
              </a:rPr>
              <a:t>A</a:t>
            </a:r>
            <a:r>
              <a:rPr lang="zh-CN" altLang="en-US" sz="2000" dirty="0" smtClean="0">
                <a:latin typeface="+mn-lt"/>
                <a:ea typeface="+mn-ea"/>
                <a:sym typeface="Symbol" pitchFamily="18" charset="2"/>
              </a:rPr>
              <a:t>的幂集是</a:t>
            </a:r>
            <a:r>
              <a:rPr lang="en-US" altLang="zh-CN" sz="2000" dirty="0" smtClean="0">
                <a:latin typeface="+mn-lt"/>
                <a:ea typeface="+mn-ea"/>
                <a:sym typeface="Symbol" pitchFamily="18" charset="2"/>
              </a:rPr>
              <a:t>A</a:t>
            </a:r>
            <a:r>
              <a:rPr lang="zh-CN" altLang="en-US" sz="2000" dirty="0" smtClean="0">
                <a:latin typeface="+mn-lt"/>
                <a:ea typeface="+mn-ea"/>
                <a:sym typeface="Symbol" pitchFamily="18" charset="2"/>
              </a:rPr>
              <a:t>的所有子集的集合，记为</a:t>
            </a:r>
            <a:r>
              <a:rPr lang="en-US" altLang="zh-CN" sz="2000" dirty="0" smtClean="0">
                <a:latin typeface="+mn-lt"/>
                <a:ea typeface="+mn-ea"/>
                <a:sym typeface="Symbol" pitchFamily="18" charset="2"/>
              </a:rPr>
              <a:t>P(A),</a:t>
            </a:r>
            <a:r>
              <a:rPr lang="zh-CN" altLang="en-US" sz="2000" dirty="0" smtClean="0">
                <a:latin typeface="+mn-lt"/>
                <a:ea typeface="+mn-ea"/>
                <a:sym typeface="Symbol" pitchFamily="18" charset="2"/>
              </a:rPr>
              <a:t>如果</a:t>
            </a:r>
            <a:r>
              <a:rPr lang="en-US" altLang="zh-CN" sz="2000" dirty="0" smtClean="0">
                <a:latin typeface="+mn-lt"/>
                <a:ea typeface="+mn-ea"/>
                <a:sym typeface="Symbol" pitchFamily="18" charset="2"/>
              </a:rPr>
              <a:t> |A|=n, </a:t>
            </a:r>
            <a:r>
              <a:rPr lang="zh-CN" altLang="en-US" sz="2000" dirty="0" smtClean="0">
                <a:latin typeface="+mn-lt"/>
                <a:ea typeface="+mn-ea"/>
                <a:sym typeface="Symbol" pitchFamily="18" charset="2"/>
              </a:rPr>
              <a:t>那么</a:t>
            </a:r>
            <a:r>
              <a:rPr lang="en-US" altLang="zh-CN" sz="2000" dirty="0" smtClean="0">
                <a:latin typeface="+mn-lt"/>
                <a:ea typeface="+mn-ea"/>
                <a:sym typeface="Symbol" pitchFamily="18" charset="2"/>
              </a:rPr>
              <a:t> |P(A)|=2</a:t>
            </a:r>
            <a:r>
              <a:rPr lang="en-US" altLang="zh-CN" sz="2000" baseline="30000" dirty="0" smtClean="0">
                <a:latin typeface="+mn-lt"/>
                <a:ea typeface="+mn-ea"/>
                <a:sym typeface="Symbol" pitchFamily="18" charset="2"/>
              </a:rPr>
              <a:t>n</a:t>
            </a:r>
            <a:r>
              <a:rPr lang="en-US" altLang="zh-CN" sz="2000" dirty="0" smtClean="0">
                <a:latin typeface="+mn-lt"/>
                <a:ea typeface="+mn-ea"/>
                <a:sym typeface="Symbol" pitchFamily="18" charset="2"/>
              </a:rPr>
              <a:t>.</a:t>
            </a:r>
            <a:endParaRPr lang="en-US" altLang="zh-CN" sz="2000" dirty="0" smtClean="0">
              <a:latin typeface="+mn-lt"/>
              <a:ea typeface="+mn-ea"/>
            </a:endParaRPr>
          </a:p>
        </p:txBody>
      </p:sp>
    </p:spTree>
    <p:extLst>
      <p:ext uri="{BB962C8B-B14F-4D97-AF65-F5344CB8AC3E}">
        <p14:creationId xmlns:p14="http://schemas.microsoft.com/office/powerpoint/2010/main" val="108445491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14339" name="Rectangle 2"/>
          <p:cNvSpPr>
            <a:spLocks noGrp="1" noChangeArrowheads="1"/>
          </p:cNvSpPr>
          <p:nvPr>
            <p:ph type="title"/>
          </p:nvPr>
        </p:nvSpPr>
        <p:spPr/>
        <p:txBody>
          <a:bodyPr/>
          <a:lstStyle/>
          <a:p>
            <a:pPr eaLnBrk="1" hangingPunct="1"/>
            <a:r>
              <a:rPr lang="en-US" altLang="zh-CN" b="0" dirty="0">
                <a:latin typeface="+mn-ea"/>
              </a:rPr>
              <a:t>1.3.1 </a:t>
            </a:r>
            <a:r>
              <a:rPr lang="zh-CN" altLang="en-US" u="sng" dirty="0">
                <a:latin typeface="+mn-ea"/>
              </a:rPr>
              <a:t>集合</a:t>
            </a:r>
            <a:r>
              <a:rPr lang="zh-CN" altLang="en-US" b="0" dirty="0">
                <a:latin typeface="+mn-ea"/>
              </a:rPr>
              <a:t>、关系、函数</a:t>
            </a:r>
            <a:endParaRPr lang="en-US" altLang="zh-CN" dirty="0" smtClean="0"/>
          </a:p>
        </p:txBody>
      </p:sp>
      <p:sp>
        <p:nvSpPr>
          <p:cNvPr id="93187" name="Rectangle 3"/>
          <p:cNvSpPr>
            <a:spLocks noGrp="1" noChangeArrowheads="1"/>
          </p:cNvSpPr>
          <p:nvPr>
            <p:ph type="body" idx="1"/>
          </p:nvPr>
        </p:nvSpPr>
        <p:spPr>
          <a:xfrm>
            <a:off x="879475" y="1196975"/>
            <a:ext cx="8229600" cy="5327650"/>
          </a:xfrm>
        </p:spPr>
        <p:txBody>
          <a:bodyPr/>
          <a:lstStyle/>
          <a:p>
            <a:pPr eaLnBrk="1" hangingPunct="1">
              <a:defRPr/>
            </a:pPr>
            <a:r>
              <a:rPr lang="zh-CN" altLang="en-US" sz="2000" dirty="0" smtClean="0">
                <a:solidFill>
                  <a:srgbClr val="FF0000"/>
                </a:solidFill>
                <a:sym typeface="Symbol" pitchFamily="18" charset="2"/>
              </a:rPr>
              <a:t>并集</a:t>
            </a:r>
            <a:r>
              <a:rPr lang="en-US" altLang="zh-CN" sz="2000" dirty="0" smtClean="0">
                <a:solidFill>
                  <a:srgbClr val="FF0000"/>
                </a:solidFill>
                <a:sym typeface="Symbol" pitchFamily="18" charset="2"/>
              </a:rPr>
              <a:t> </a:t>
            </a:r>
          </a:p>
          <a:p>
            <a:pPr lvl="1" eaLnBrk="1" hangingPunct="1">
              <a:defRPr/>
            </a:pPr>
            <a:r>
              <a:rPr lang="zh-CN" altLang="en-US" sz="1900" dirty="0" smtClean="0">
                <a:latin typeface="+mn-lt"/>
                <a:ea typeface="+mn-ea"/>
                <a:sym typeface="Symbol" pitchFamily="18" charset="2"/>
              </a:rPr>
              <a:t>两个集合的并是集合</a:t>
            </a:r>
            <a:r>
              <a:rPr lang="en-US" altLang="zh-CN" sz="1900" dirty="0" smtClean="0">
                <a:latin typeface="+mn-lt"/>
                <a:ea typeface="+mn-ea"/>
                <a:sym typeface="Symbol" pitchFamily="18" charset="2"/>
              </a:rPr>
              <a:t>{</a:t>
            </a:r>
            <a:r>
              <a:rPr lang="en-US" altLang="zh-CN" sz="1900" dirty="0" err="1" smtClean="0">
                <a:latin typeface="+mn-lt"/>
                <a:ea typeface="+mn-ea"/>
                <a:sym typeface="Symbol" pitchFamily="18" charset="2"/>
              </a:rPr>
              <a:t>x|xA</a:t>
            </a:r>
            <a:r>
              <a:rPr lang="en-US" altLang="zh-CN" sz="1900" dirty="0" smtClean="0">
                <a:latin typeface="+mn-lt"/>
                <a:ea typeface="+mn-ea"/>
                <a:sym typeface="Symbol" pitchFamily="18" charset="2"/>
              </a:rPr>
              <a:t> </a:t>
            </a:r>
            <a:r>
              <a:rPr lang="zh-CN" altLang="en-US" sz="1900" dirty="0" smtClean="0">
                <a:latin typeface="+mn-lt"/>
                <a:ea typeface="+mn-ea"/>
                <a:sym typeface="Symbol" pitchFamily="18" charset="2"/>
              </a:rPr>
              <a:t>或</a:t>
            </a:r>
            <a:r>
              <a:rPr lang="en-US" altLang="zh-CN" sz="1900" dirty="0" smtClean="0">
                <a:latin typeface="+mn-lt"/>
                <a:ea typeface="+mn-ea"/>
                <a:sym typeface="Symbol" pitchFamily="18" charset="2"/>
              </a:rPr>
              <a:t> </a:t>
            </a:r>
            <a:r>
              <a:rPr lang="en-US" altLang="zh-CN" sz="1900" dirty="0" err="1" smtClean="0">
                <a:latin typeface="+mn-lt"/>
                <a:ea typeface="+mn-ea"/>
                <a:sym typeface="Symbol" pitchFamily="18" charset="2"/>
              </a:rPr>
              <a:t>xB</a:t>
            </a:r>
            <a:r>
              <a:rPr lang="en-US" altLang="zh-CN" sz="1900" dirty="0" smtClean="0">
                <a:latin typeface="+mn-lt"/>
                <a:ea typeface="+mn-ea"/>
                <a:sym typeface="Symbol" pitchFamily="18" charset="2"/>
              </a:rPr>
              <a:t>}</a:t>
            </a:r>
            <a:r>
              <a:rPr lang="zh-CN" altLang="en-US" sz="1900" dirty="0" smtClean="0">
                <a:latin typeface="+mn-lt"/>
                <a:ea typeface="+mn-ea"/>
                <a:sym typeface="Symbol" pitchFamily="18" charset="2"/>
              </a:rPr>
              <a:t>，记为</a:t>
            </a:r>
            <a:r>
              <a:rPr lang="en-US" altLang="zh-CN" sz="1900" dirty="0" smtClean="0">
                <a:latin typeface="+mn-lt"/>
                <a:ea typeface="+mn-ea"/>
                <a:sym typeface="Symbol" pitchFamily="18" charset="2"/>
              </a:rPr>
              <a:t>AB</a:t>
            </a:r>
            <a:r>
              <a:rPr lang="zh-CN" altLang="en-US" sz="1900" dirty="0" smtClean="0">
                <a:latin typeface="+mn-lt"/>
                <a:ea typeface="+mn-ea"/>
                <a:sym typeface="Symbol" pitchFamily="18" charset="2"/>
              </a:rPr>
              <a:t>。</a:t>
            </a:r>
            <a:endParaRPr lang="en-US" altLang="zh-CN" sz="1900" dirty="0" smtClean="0">
              <a:latin typeface="+mn-lt"/>
              <a:ea typeface="+mn-ea"/>
              <a:sym typeface="Symbol" pitchFamily="18" charset="2"/>
            </a:endParaRPr>
          </a:p>
          <a:p>
            <a:pPr eaLnBrk="1" hangingPunct="1">
              <a:defRPr/>
            </a:pPr>
            <a:r>
              <a:rPr lang="zh-CN" altLang="en-US" sz="2000" dirty="0" smtClean="0">
                <a:solidFill>
                  <a:srgbClr val="FF0000"/>
                </a:solidFill>
                <a:sym typeface="Symbol" pitchFamily="18" charset="2"/>
              </a:rPr>
              <a:t>交集</a:t>
            </a:r>
            <a:endParaRPr lang="en-US" altLang="zh-CN" sz="2000" dirty="0" smtClean="0">
              <a:solidFill>
                <a:srgbClr val="FF0000"/>
              </a:solidFill>
              <a:sym typeface="Symbol" pitchFamily="18" charset="2"/>
            </a:endParaRPr>
          </a:p>
          <a:p>
            <a:pPr lvl="1" eaLnBrk="1" hangingPunct="1">
              <a:defRPr/>
            </a:pPr>
            <a:r>
              <a:rPr lang="zh-CN" altLang="en-US" sz="1900" dirty="0" smtClean="0">
                <a:latin typeface="+mn-lt"/>
                <a:ea typeface="+mn-ea"/>
                <a:sym typeface="Symbol" pitchFamily="18" charset="2"/>
              </a:rPr>
              <a:t>两个集合的交是集合</a:t>
            </a:r>
            <a:r>
              <a:rPr lang="en-US" altLang="zh-CN" sz="1900" dirty="0" smtClean="0">
                <a:latin typeface="+mn-lt"/>
                <a:ea typeface="+mn-ea"/>
                <a:sym typeface="Symbol" pitchFamily="18" charset="2"/>
              </a:rPr>
              <a:t>{</a:t>
            </a:r>
            <a:r>
              <a:rPr lang="en-US" altLang="zh-CN" sz="1900" dirty="0" err="1" smtClean="0">
                <a:latin typeface="+mn-lt"/>
                <a:ea typeface="+mn-ea"/>
                <a:sym typeface="Symbol" pitchFamily="18" charset="2"/>
              </a:rPr>
              <a:t>x|xA</a:t>
            </a:r>
            <a:r>
              <a:rPr lang="en-US" altLang="zh-CN" sz="1900" dirty="0" smtClean="0">
                <a:latin typeface="+mn-lt"/>
                <a:ea typeface="+mn-ea"/>
                <a:sym typeface="Symbol" pitchFamily="18" charset="2"/>
              </a:rPr>
              <a:t> </a:t>
            </a:r>
            <a:r>
              <a:rPr lang="zh-CN" altLang="en-US" sz="1900" dirty="0" smtClean="0">
                <a:latin typeface="+mn-lt"/>
                <a:ea typeface="+mn-ea"/>
                <a:sym typeface="Symbol" pitchFamily="18" charset="2"/>
              </a:rPr>
              <a:t>且</a:t>
            </a:r>
            <a:r>
              <a:rPr lang="en-US" altLang="zh-CN" sz="1900" dirty="0" smtClean="0">
                <a:latin typeface="+mn-lt"/>
                <a:ea typeface="+mn-ea"/>
                <a:sym typeface="Symbol" pitchFamily="18" charset="2"/>
              </a:rPr>
              <a:t> </a:t>
            </a:r>
            <a:r>
              <a:rPr lang="en-US" altLang="zh-CN" sz="1900" dirty="0" err="1" smtClean="0">
                <a:latin typeface="+mn-lt"/>
                <a:ea typeface="+mn-ea"/>
                <a:sym typeface="Symbol" pitchFamily="18" charset="2"/>
              </a:rPr>
              <a:t>xB</a:t>
            </a:r>
            <a:r>
              <a:rPr lang="en-US" altLang="zh-CN" sz="1900" dirty="0" smtClean="0">
                <a:latin typeface="+mn-lt"/>
                <a:ea typeface="+mn-ea"/>
                <a:sym typeface="Symbol" pitchFamily="18" charset="2"/>
              </a:rPr>
              <a:t> </a:t>
            </a:r>
            <a:r>
              <a:rPr lang="zh-CN" altLang="en-US" sz="1900" dirty="0" smtClean="0">
                <a:latin typeface="+mn-lt"/>
                <a:ea typeface="+mn-ea"/>
                <a:sym typeface="Symbol" pitchFamily="18" charset="2"/>
              </a:rPr>
              <a:t>，记为</a:t>
            </a:r>
            <a:r>
              <a:rPr lang="en-US" altLang="zh-CN" sz="1900" dirty="0" smtClean="0">
                <a:latin typeface="+mn-lt"/>
                <a:ea typeface="+mn-ea"/>
                <a:sym typeface="Symbol" pitchFamily="18" charset="2"/>
              </a:rPr>
              <a:t>AB </a:t>
            </a:r>
            <a:r>
              <a:rPr lang="zh-CN" altLang="en-US" sz="1900" dirty="0" smtClean="0">
                <a:latin typeface="+mn-lt"/>
                <a:ea typeface="+mn-ea"/>
                <a:sym typeface="Symbol" pitchFamily="18" charset="2"/>
              </a:rPr>
              <a:t>。两个不相交集合</a:t>
            </a:r>
            <a:r>
              <a:rPr lang="en-US" altLang="zh-CN" sz="1900" dirty="0" smtClean="0">
                <a:latin typeface="+mn-lt"/>
                <a:ea typeface="+mn-ea"/>
                <a:sym typeface="Symbol" pitchFamily="18" charset="2"/>
              </a:rPr>
              <a:t>AB =</a:t>
            </a:r>
            <a:r>
              <a:rPr lang="en-US" altLang="zh-CN" sz="1900" dirty="0" smtClean="0">
                <a:latin typeface="+mn-lt"/>
                <a:ea typeface="+mn-ea"/>
              </a:rPr>
              <a:t> </a:t>
            </a:r>
            <a:r>
              <a:rPr lang="en-US" altLang="zh-CN" sz="1900" dirty="0" smtClean="0">
                <a:latin typeface="+mn-lt"/>
                <a:ea typeface="+mn-ea"/>
                <a:sym typeface="Symbol" pitchFamily="18" charset="2"/>
              </a:rPr>
              <a:t></a:t>
            </a:r>
            <a:r>
              <a:rPr lang="zh-CN" altLang="en-US" sz="1900" dirty="0" smtClean="0">
                <a:latin typeface="+mn-lt"/>
                <a:ea typeface="+mn-ea"/>
                <a:sym typeface="Symbol" pitchFamily="18" charset="2"/>
              </a:rPr>
              <a:t>。</a:t>
            </a:r>
            <a:endParaRPr lang="en-US" altLang="zh-CN" sz="1900" dirty="0" smtClean="0">
              <a:latin typeface="+mn-lt"/>
              <a:ea typeface="+mn-ea"/>
              <a:sym typeface="Symbol" pitchFamily="18" charset="2"/>
            </a:endParaRPr>
          </a:p>
          <a:p>
            <a:pPr eaLnBrk="1" hangingPunct="1">
              <a:defRPr/>
            </a:pPr>
            <a:r>
              <a:rPr lang="zh-CN" altLang="en-US" sz="2000" dirty="0" smtClean="0">
                <a:solidFill>
                  <a:srgbClr val="FF0000"/>
                </a:solidFill>
                <a:sym typeface="Symbol" pitchFamily="18" charset="2"/>
              </a:rPr>
              <a:t>差集</a:t>
            </a:r>
            <a:r>
              <a:rPr lang="en-US" altLang="zh-CN" sz="2000" dirty="0" smtClean="0">
                <a:sym typeface="Symbol" pitchFamily="18" charset="2"/>
              </a:rPr>
              <a:t> </a:t>
            </a:r>
          </a:p>
          <a:p>
            <a:pPr lvl="1" eaLnBrk="1" hangingPunct="1">
              <a:defRPr/>
            </a:pPr>
            <a:r>
              <a:rPr lang="zh-CN" altLang="en-US" sz="1900" dirty="0" smtClean="0">
                <a:latin typeface="+mn-lt"/>
                <a:ea typeface="+mn-ea"/>
                <a:sym typeface="Symbol" pitchFamily="18" charset="2"/>
              </a:rPr>
              <a:t>集合</a:t>
            </a:r>
            <a:r>
              <a:rPr lang="en-US" altLang="zh-CN" sz="1900" dirty="0" smtClean="0">
                <a:latin typeface="+mn-lt"/>
                <a:ea typeface="+mn-ea"/>
                <a:sym typeface="Symbol" pitchFamily="18" charset="2"/>
              </a:rPr>
              <a:t>A</a:t>
            </a:r>
            <a:r>
              <a:rPr lang="zh-CN" altLang="en-US" sz="1900" dirty="0" smtClean="0">
                <a:latin typeface="+mn-lt"/>
                <a:ea typeface="+mn-ea"/>
                <a:sym typeface="Symbol" pitchFamily="18" charset="2"/>
              </a:rPr>
              <a:t>和集合</a:t>
            </a:r>
            <a:r>
              <a:rPr lang="en-US" altLang="zh-CN" sz="1900" dirty="0" smtClean="0">
                <a:latin typeface="+mn-lt"/>
                <a:ea typeface="+mn-ea"/>
                <a:sym typeface="Symbol" pitchFamily="18" charset="2"/>
              </a:rPr>
              <a:t>B</a:t>
            </a:r>
            <a:r>
              <a:rPr lang="zh-CN" altLang="en-US" sz="1900" dirty="0" smtClean="0">
                <a:latin typeface="+mn-lt"/>
                <a:ea typeface="+mn-ea"/>
                <a:sym typeface="Symbol" pitchFamily="18" charset="2"/>
              </a:rPr>
              <a:t>的差是集合</a:t>
            </a:r>
            <a:r>
              <a:rPr lang="en-US" altLang="zh-CN" sz="1900" dirty="0" smtClean="0">
                <a:latin typeface="+mn-lt"/>
                <a:ea typeface="+mn-ea"/>
                <a:sym typeface="Symbol" pitchFamily="18" charset="2"/>
              </a:rPr>
              <a:t>{</a:t>
            </a:r>
            <a:r>
              <a:rPr lang="en-US" altLang="zh-CN" sz="1900" dirty="0" err="1" smtClean="0">
                <a:latin typeface="+mn-lt"/>
                <a:ea typeface="+mn-ea"/>
                <a:sym typeface="Symbol" pitchFamily="18" charset="2"/>
              </a:rPr>
              <a:t>x|xA</a:t>
            </a:r>
            <a:r>
              <a:rPr lang="en-US" altLang="zh-CN" sz="1900" dirty="0" smtClean="0">
                <a:latin typeface="+mn-lt"/>
                <a:ea typeface="+mn-ea"/>
                <a:sym typeface="Symbol" pitchFamily="18" charset="2"/>
              </a:rPr>
              <a:t> </a:t>
            </a:r>
            <a:r>
              <a:rPr lang="zh-CN" altLang="en-US" sz="1900" dirty="0" smtClean="0">
                <a:latin typeface="+mn-lt"/>
                <a:ea typeface="+mn-ea"/>
                <a:sym typeface="Symbol" pitchFamily="18" charset="2"/>
              </a:rPr>
              <a:t>且 </a:t>
            </a:r>
            <a:r>
              <a:rPr lang="en-US" altLang="zh-CN" sz="1900" dirty="0" err="1" smtClean="0">
                <a:latin typeface="+mn-lt"/>
                <a:ea typeface="+mn-ea"/>
                <a:sym typeface="Symbol" pitchFamily="18" charset="2"/>
              </a:rPr>
              <a:t>xB</a:t>
            </a:r>
            <a:r>
              <a:rPr lang="en-US" altLang="zh-CN" sz="1900" dirty="0" smtClean="0">
                <a:latin typeface="+mn-lt"/>
                <a:ea typeface="+mn-ea"/>
                <a:sym typeface="Symbol" pitchFamily="18" charset="2"/>
              </a:rPr>
              <a:t>}</a:t>
            </a:r>
            <a:r>
              <a:rPr lang="zh-CN" altLang="en-US" sz="1900" dirty="0" smtClean="0">
                <a:latin typeface="+mn-lt"/>
                <a:ea typeface="+mn-ea"/>
                <a:sym typeface="Symbol" pitchFamily="18" charset="2"/>
              </a:rPr>
              <a:t>，记为</a:t>
            </a:r>
            <a:r>
              <a:rPr lang="en-US" altLang="zh-CN" sz="1900" dirty="0" smtClean="0">
                <a:latin typeface="+mn-lt"/>
                <a:ea typeface="+mn-ea"/>
                <a:sym typeface="Symbol" pitchFamily="18" charset="2"/>
              </a:rPr>
              <a:t> A-B</a:t>
            </a:r>
            <a:r>
              <a:rPr lang="zh-CN" altLang="en-US" sz="1900" dirty="0" smtClean="0">
                <a:latin typeface="+mn-lt"/>
                <a:ea typeface="+mn-ea"/>
                <a:sym typeface="Symbol" pitchFamily="18" charset="2"/>
              </a:rPr>
              <a:t>。</a:t>
            </a:r>
            <a:endParaRPr lang="en-US" altLang="zh-CN" sz="1900" dirty="0" smtClean="0">
              <a:latin typeface="+mn-lt"/>
              <a:ea typeface="+mn-ea"/>
              <a:sym typeface="Symbol" pitchFamily="18" charset="2"/>
            </a:endParaRPr>
          </a:p>
          <a:p>
            <a:pPr eaLnBrk="1" hangingPunct="1">
              <a:defRPr/>
            </a:pPr>
            <a:r>
              <a:rPr lang="zh-CN" altLang="en-US" sz="2000" dirty="0" smtClean="0">
                <a:solidFill>
                  <a:srgbClr val="FF0000"/>
                </a:solidFill>
                <a:sym typeface="Symbol" pitchFamily="18" charset="2"/>
              </a:rPr>
              <a:t>补集</a:t>
            </a:r>
            <a:endParaRPr lang="en-US" altLang="zh-CN" sz="2000" dirty="0" smtClean="0">
              <a:sym typeface="Symbol" pitchFamily="18" charset="2"/>
            </a:endParaRPr>
          </a:p>
          <a:p>
            <a:pPr lvl="1" eaLnBrk="1" hangingPunct="1">
              <a:defRPr/>
            </a:pPr>
            <a:r>
              <a:rPr lang="zh-CN" altLang="en-US" sz="1900" dirty="0" smtClean="0">
                <a:latin typeface="+mn-lt"/>
                <a:ea typeface="+mn-ea"/>
                <a:sym typeface="Symbol" pitchFamily="18" charset="2"/>
              </a:rPr>
              <a:t>集合</a:t>
            </a:r>
            <a:r>
              <a:rPr lang="en-US" altLang="zh-CN" sz="1900" dirty="0" smtClean="0">
                <a:latin typeface="+mn-lt"/>
                <a:ea typeface="+mn-ea"/>
                <a:sym typeface="Symbol" pitchFamily="18" charset="2"/>
              </a:rPr>
              <a:t>A</a:t>
            </a:r>
            <a:r>
              <a:rPr lang="zh-CN" altLang="en-US" sz="1900" dirty="0" smtClean="0">
                <a:latin typeface="+mn-lt"/>
                <a:ea typeface="+mn-ea"/>
                <a:sym typeface="Symbol" pitchFamily="18" charset="2"/>
              </a:rPr>
              <a:t>的补集定义为</a:t>
            </a:r>
            <a:r>
              <a:rPr lang="en-US" altLang="zh-CN" sz="1900" dirty="0" smtClean="0">
                <a:latin typeface="+mn-lt"/>
                <a:ea typeface="+mn-ea"/>
                <a:sym typeface="Symbol" pitchFamily="18" charset="2"/>
              </a:rPr>
              <a:t>U-A</a:t>
            </a:r>
            <a:r>
              <a:rPr lang="zh-CN" altLang="en-US" sz="1900" dirty="0" smtClean="0">
                <a:latin typeface="+mn-lt"/>
                <a:ea typeface="+mn-ea"/>
                <a:sym typeface="Symbol" pitchFamily="18" charset="2"/>
              </a:rPr>
              <a:t>，这里</a:t>
            </a:r>
            <a:r>
              <a:rPr lang="en-US" altLang="zh-CN" sz="1900" dirty="0" smtClean="0">
                <a:latin typeface="+mn-lt"/>
                <a:ea typeface="+mn-ea"/>
                <a:sym typeface="Symbol" pitchFamily="18" charset="2"/>
              </a:rPr>
              <a:t>U</a:t>
            </a:r>
            <a:r>
              <a:rPr lang="zh-CN" altLang="en-US" sz="1900" dirty="0" smtClean="0">
                <a:latin typeface="+mn-lt"/>
                <a:ea typeface="+mn-ea"/>
                <a:sym typeface="Symbol" pitchFamily="18" charset="2"/>
              </a:rPr>
              <a:t>是包含</a:t>
            </a:r>
            <a:r>
              <a:rPr lang="en-US" altLang="zh-CN" sz="1900" dirty="0" smtClean="0">
                <a:latin typeface="+mn-lt"/>
                <a:ea typeface="+mn-ea"/>
                <a:sym typeface="Symbol" pitchFamily="18" charset="2"/>
              </a:rPr>
              <a:t>A</a:t>
            </a:r>
            <a:r>
              <a:rPr lang="zh-CN" altLang="en-US" sz="1900" dirty="0" smtClean="0">
                <a:latin typeface="+mn-lt"/>
                <a:ea typeface="+mn-ea"/>
                <a:sym typeface="Symbol" pitchFamily="18" charset="2"/>
              </a:rPr>
              <a:t>在内的全集，它通常可以从上下文中知道，</a:t>
            </a:r>
            <a:r>
              <a:rPr lang="en-US" altLang="zh-CN" sz="1900" dirty="0" smtClean="0">
                <a:latin typeface="+mn-lt"/>
                <a:ea typeface="+mn-ea"/>
                <a:sym typeface="Symbol" pitchFamily="18" charset="2"/>
              </a:rPr>
              <a:t>A</a:t>
            </a:r>
            <a:r>
              <a:rPr lang="zh-CN" altLang="en-US" sz="1900" dirty="0" smtClean="0">
                <a:latin typeface="+mn-lt"/>
                <a:ea typeface="+mn-ea"/>
                <a:sym typeface="Symbol" pitchFamily="18" charset="2"/>
              </a:rPr>
              <a:t>的补集可以记为</a:t>
            </a:r>
            <a:r>
              <a:rPr lang="en-US" altLang="zh-CN" sz="1900" dirty="0" smtClean="0">
                <a:latin typeface="+mn-lt"/>
                <a:ea typeface="+mn-ea"/>
                <a:sym typeface="Symbol" pitchFamily="18" charset="2"/>
              </a:rPr>
              <a:t>Ā</a:t>
            </a:r>
            <a:r>
              <a:rPr lang="zh-CN" altLang="en-US" sz="1900" dirty="0" smtClean="0">
                <a:latin typeface="+mn-lt"/>
                <a:ea typeface="+mn-ea"/>
                <a:sym typeface="Symbol" pitchFamily="18" charset="2"/>
              </a:rPr>
              <a:t>。</a:t>
            </a:r>
            <a:endParaRPr lang="en-US" altLang="zh-CN" sz="1900" dirty="0" smtClean="0">
              <a:latin typeface="+mn-lt"/>
              <a:ea typeface="+mn-ea"/>
            </a:endParaRPr>
          </a:p>
        </p:txBody>
      </p:sp>
    </p:spTree>
    <p:extLst>
      <p:ext uri="{BB962C8B-B14F-4D97-AF65-F5344CB8AC3E}">
        <p14:creationId xmlns:p14="http://schemas.microsoft.com/office/powerpoint/2010/main" val="3766409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16387" name="Rectangle 2"/>
          <p:cNvSpPr>
            <a:spLocks noGrp="1" noChangeArrowheads="1"/>
          </p:cNvSpPr>
          <p:nvPr>
            <p:ph type="title"/>
          </p:nvPr>
        </p:nvSpPr>
        <p:spPr/>
        <p:txBody>
          <a:bodyPr/>
          <a:lstStyle/>
          <a:p>
            <a:pPr eaLnBrk="1" hangingPunct="1"/>
            <a:r>
              <a:rPr lang="en-US" altLang="zh-CN" b="0" dirty="0">
                <a:latin typeface="+mn-ea"/>
              </a:rPr>
              <a:t>1.3.1 </a:t>
            </a:r>
            <a:r>
              <a:rPr lang="zh-CN" altLang="en-US" b="0" dirty="0">
                <a:latin typeface="+mn-ea"/>
              </a:rPr>
              <a:t>集合、</a:t>
            </a:r>
            <a:r>
              <a:rPr lang="zh-CN" altLang="en-US" u="sng" dirty="0">
                <a:latin typeface="+mn-ea"/>
              </a:rPr>
              <a:t>关系</a:t>
            </a:r>
            <a:r>
              <a:rPr lang="zh-CN" altLang="en-US" b="0" dirty="0">
                <a:latin typeface="+mn-ea"/>
              </a:rPr>
              <a:t>、函数</a:t>
            </a:r>
            <a:endParaRPr lang="en-US" altLang="zh-CN" dirty="0" smtClean="0"/>
          </a:p>
        </p:txBody>
      </p:sp>
      <p:sp>
        <p:nvSpPr>
          <p:cNvPr id="94211" name="Rectangle 3"/>
          <p:cNvSpPr>
            <a:spLocks noGrp="1" noChangeArrowheads="1"/>
          </p:cNvSpPr>
          <p:nvPr>
            <p:ph type="body" idx="1"/>
          </p:nvPr>
        </p:nvSpPr>
        <p:spPr/>
        <p:txBody>
          <a:bodyPr/>
          <a:lstStyle/>
          <a:p>
            <a:pPr eaLnBrk="1" hangingPunct="1">
              <a:defRPr/>
            </a:pPr>
            <a:r>
              <a:rPr lang="zh-CN" altLang="en-US" dirty="0" smtClean="0">
                <a:solidFill>
                  <a:srgbClr val="FF0000"/>
                </a:solidFill>
              </a:rPr>
              <a:t>有序</a:t>
            </a:r>
            <a:r>
              <a:rPr lang="en-US" altLang="zh-CN" dirty="0" smtClean="0">
                <a:solidFill>
                  <a:srgbClr val="FF0000"/>
                </a:solidFill>
              </a:rPr>
              <a:t>n</a:t>
            </a:r>
            <a:r>
              <a:rPr lang="zh-CN" altLang="en-US" dirty="0" smtClean="0">
                <a:solidFill>
                  <a:srgbClr val="FF0000"/>
                </a:solidFill>
              </a:rPr>
              <a:t>元组</a:t>
            </a:r>
            <a:r>
              <a:rPr lang="en-US" altLang="zh-CN" dirty="0" smtClean="0">
                <a:solidFill>
                  <a:srgbClr val="FF0000"/>
                </a:solidFill>
              </a:rPr>
              <a:t> </a:t>
            </a:r>
          </a:p>
          <a:p>
            <a:pPr lvl="1" eaLnBrk="1" hangingPunct="1">
              <a:defRPr/>
            </a:pPr>
            <a:r>
              <a:rPr lang="zh-CN" altLang="en-US" sz="2000" dirty="0" smtClean="0">
                <a:latin typeface="+mn-lt"/>
                <a:ea typeface="+mn-ea"/>
              </a:rPr>
              <a:t>有序</a:t>
            </a:r>
            <a:r>
              <a:rPr lang="en-US" altLang="zh-CN" sz="2000" dirty="0" smtClean="0">
                <a:latin typeface="+mn-lt"/>
                <a:ea typeface="+mn-ea"/>
              </a:rPr>
              <a:t>n</a:t>
            </a:r>
            <a:r>
              <a:rPr lang="zh-CN" altLang="en-US" sz="2000" dirty="0" smtClean="0">
                <a:latin typeface="+mn-lt"/>
                <a:ea typeface="+mn-ea"/>
              </a:rPr>
              <a:t>元组</a:t>
            </a:r>
            <a:r>
              <a:rPr lang="en-US" altLang="zh-CN" sz="2000" dirty="0" smtClean="0">
                <a:latin typeface="+mn-lt"/>
                <a:ea typeface="+mn-ea"/>
              </a:rPr>
              <a:t>(a</a:t>
            </a:r>
            <a:r>
              <a:rPr lang="en-US" altLang="zh-CN" sz="2000" baseline="-25000" dirty="0" smtClean="0">
                <a:latin typeface="+mn-lt"/>
                <a:ea typeface="+mn-ea"/>
              </a:rPr>
              <a:t>1</a:t>
            </a:r>
            <a:r>
              <a:rPr lang="en-US" altLang="zh-CN" sz="2000" dirty="0" smtClean="0">
                <a:latin typeface="+mn-lt"/>
                <a:ea typeface="+mn-ea"/>
              </a:rPr>
              <a:t>,a</a:t>
            </a:r>
            <a:r>
              <a:rPr lang="en-US" altLang="zh-CN" sz="2000" baseline="-25000" dirty="0" smtClean="0">
                <a:latin typeface="+mn-lt"/>
                <a:ea typeface="+mn-ea"/>
              </a:rPr>
              <a:t>2</a:t>
            </a:r>
            <a:r>
              <a:rPr lang="en-US" altLang="zh-CN" sz="2000" dirty="0" smtClean="0">
                <a:latin typeface="+mn-lt"/>
                <a:ea typeface="+mn-ea"/>
              </a:rPr>
              <a:t>,…,a</a:t>
            </a:r>
            <a:r>
              <a:rPr lang="en-US" altLang="zh-CN" sz="2000" baseline="-25000" dirty="0" smtClean="0">
                <a:latin typeface="+mn-lt"/>
                <a:ea typeface="+mn-ea"/>
              </a:rPr>
              <a:t>n</a:t>
            </a:r>
            <a:r>
              <a:rPr lang="en-US" altLang="zh-CN" sz="2000" dirty="0" smtClean="0">
                <a:latin typeface="+mn-lt"/>
                <a:ea typeface="+mn-ea"/>
              </a:rPr>
              <a:t>)</a:t>
            </a:r>
            <a:r>
              <a:rPr lang="zh-CN" altLang="en-US" sz="2000" dirty="0" smtClean="0">
                <a:latin typeface="+mn-lt"/>
                <a:ea typeface="+mn-ea"/>
              </a:rPr>
              <a:t>是一个</a:t>
            </a:r>
            <a:r>
              <a:rPr lang="zh-CN" altLang="en-US" sz="2000" dirty="0" smtClean="0">
                <a:solidFill>
                  <a:srgbClr val="FF0000"/>
                </a:solidFill>
                <a:latin typeface="+mn-lt"/>
                <a:ea typeface="+mn-ea"/>
              </a:rPr>
              <a:t>有序集</a:t>
            </a:r>
            <a:r>
              <a:rPr lang="zh-CN" altLang="en-US" sz="2000" dirty="0" smtClean="0">
                <a:latin typeface="+mn-lt"/>
                <a:ea typeface="+mn-ea"/>
              </a:rPr>
              <a:t>，其中</a:t>
            </a:r>
            <a:r>
              <a:rPr lang="en-US" altLang="zh-CN" sz="2000" dirty="0" smtClean="0">
                <a:latin typeface="+mn-lt"/>
                <a:ea typeface="+mn-ea"/>
              </a:rPr>
              <a:t>a</a:t>
            </a:r>
            <a:r>
              <a:rPr lang="en-US" altLang="zh-CN" sz="2000" baseline="-25000" dirty="0" smtClean="0">
                <a:latin typeface="+mn-lt"/>
                <a:ea typeface="+mn-ea"/>
              </a:rPr>
              <a:t>1</a:t>
            </a:r>
            <a:r>
              <a:rPr lang="en-US" altLang="zh-CN" sz="2000" dirty="0" smtClean="0">
                <a:latin typeface="+mn-lt"/>
                <a:ea typeface="+mn-ea"/>
              </a:rPr>
              <a:t> </a:t>
            </a:r>
            <a:r>
              <a:rPr lang="zh-CN" altLang="en-US" sz="2000" dirty="0" smtClean="0">
                <a:latin typeface="+mn-lt"/>
                <a:ea typeface="+mn-ea"/>
              </a:rPr>
              <a:t>是它的第一个元素</a:t>
            </a:r>
            <a:r>
              <a:rPr lang="en-US" altLang="zh-CN" sz="2000" dirty="0" smtClean="0">
                <a:latin typeface="+mn-lt"/>
                <a:ea typeface="+mn-ea"/>
              </a:rPr>
              <a:t>, a</a:t>
            </a:r>
            <a:r>
              <a:rPr lang="en-US" altLang="zh-CN" sz="2000" baseline="-25000" dirty="0" smtClean="0">
                <a:latin typeface="+mn-lt"/>
                <a:ea typeface="+mn-ea"/>
              </a:rPr>
              <a:t>2</a:t>
            </a:r>
            <a:r>
              <a:rPr lang="en-US" altLang="zh-CN" sz="2000" dirty="0" smtClean="0">
                <a:latin typeface="+mn-lt"/>
                <a:ea typeface="+mn-ea"/>
              </a:rPr>
              <a:t> </a:t>
            </a:r>
            <a:r>
              <a:rPr lang="zh-CN" altLang="en-US" sz="2000" dirty="0" smtClean="0">
                <a:latin typeface="+mn-lt"/>
                <a:ea typeface="+mn-ea"/>
              </a:rPr>
              <a:t>是它的第二个元素</a:t>
            </a:r>
            <a:r>
              <a:rPr lang="en-US" altLang="zh-CN" sz="2000" dirty="0" smtClean="0">
                <a:latin typeface="+mn-lt"/>
                <a:ea typeface="+mn-ea"/>
              </a:rPr>
              <a:t>…, a</a:t>
            </a:r>
            <a:r>
              <a:rPr lang="en-US" altLang="zh-CN" sz="2000" baseline="-25000" dirty="0" smtClean="0">
                <a:latin typeface="+mn-lt"/>
                <a:ea typeface="+mn-ea"/>
              </a:rPr>
              <a:t>n</a:t>
            </a:r>
            <a:r>
              <a:rPr lang="en-US" altLang="zh-CN" sz="2000" dirty="0" smtClean="0">
                <a:latin typeface="+mn-lt"/>
                <a:ea typeface="+mn-ea"/>
              </a:rPr>
              <a:t> </a:t>
            </a:r>
            <a:r>
              <a:rPr lang="zh-CN" altLang="en-US" sz="2000" dirty="0" smtClean="0">
                <a:latin typeface="+mn-lt"/>
                <a:ea typeface="+mn-ea"/>
              </a:rPr>
              <a:t>是它的第</a:t>
            </a:r>
            <a:r>
              <a:rPr lang="en-US" altLang="zh-CN" sz="2000" dirty="0" smtClean="0">
                <a:latin typeface="+mn-lt"/>
                <a:ea typeface="+mn-ea"/>
              </a:rPr>
              <a:t>n</a:t>
            </a:r>
            <a:r>
              <a:rPr lang="zh-CN" altLang="en-US" sz="2000" dirty="0" smtClean="0">
                <a:latin typeface="+mn-lt"/>
                <a:ea typeface="+mn-ea"/>
              </a:rPr>
              <a:t>个元素。作为特列，</a:t>
            </a:r>
            <a:r>
              <a:rPr lang="zh-CN" altLang="en-US" sz="2000" dirty="0" smtClean="0">
                <a:solidFill>
                  <a:srgbClr val="FF0000"/>
                </a:solidFill>
                <a:latin typeface="+mn-lt"/>
                <a:ea typeface="+mn-ea"/>
              </a:rPr>
              <a:t>二元组</a:t>
            </a:r>
            <a:r>
              <a:rPr lang="zh-CN" altLang="en-US" sz="2000" dirty="0" smtClean="0">
                <a:latin typeface="+mn-lt"/>
                <a:ea typeface="+mn-ea"/>
              </a:rPr>
              <a:t>称为</a:t>
            </a:r>
            <a:r>
              <a:rPr lang="zh-CN" altLang="en-US" sz="2000" dirty="0" smtClean="0">
                <a:solidFill>
                  <a:srgbClr val="FF0000"/>
                </a:solidFill>
                <a:latin typeface="+mn-lt"/>
                <a:ea typeface="+mn-ea"/>
              </a:rPr>
              <a:t>有序对</a:t>
            </a:r>
            <a:r>
              <a:rPr lang="zh-CN" altLang="en-US" sz="2000" dirty="0" smtClean="0">
                <a:latin typeface="+mn-lt"/>
                <a:ea typeface="+mn-ea"/>
              </a:rPr>
              <a:t>。</a:t>
            </a:r>
            <a:endParaRPr lang="en-US" altLang="zh-CN" sz="2000" dirty="0" smtClean="0">
              <a:latin typeface="+mn-lt"/>
              <a:ea typeface="+mn-ea"/>
            </a:endParaRPr>
          </a:p>
          <a:p>
            <a:pPr eaLnBrk="1" hangingPunct="1">
              <a:defRPr/>
            </a:pPr>
            <a:r>
              <a:rPr lang="zh-CN" altLang="en-US" dirty="0" smtClean="0">
                <a:solidFill>
                  <a:srgbClr val="FF0000"/>
                </a:solidFill>
              </a:rPr>
              <a:t>笛卡尔积</a:t>
            </a:r>
            <a:endParaRPr lang="en-US" altLang="zh-CN" dirty="0" smtClean="0"/>
          </a:p>
          <a:p>
            <a:pPr lvl="1" eaLnBrk="1" hangingPunct="1">
              <a:defRPr/>
            </a:pPr>
            <a:r>
              <a:rPr lang="zh-CN" altLang="en-US" sz="2000" dirty="0" smtClean="0">
                <a:latin typeface="+mn-lt"/>
                <a:ea typeface="+mn-ea"/>
              </a:rPr>
              <a:t>令</a:t>
            </a:r>
            <a:r>
              <a:rPr lang="en-US" altLang="zh-CN" sz="2000" dirty="0" smtClean="0">
                <a:latin typeface="+mn-lt"/>
                <a:ea typeface="+mn-ea"/>
              </a:rPr>
              <a:t>A</a:t>
            </a:r>
            <a:r>
              <a:rPr lang="zh-CN" altLang="en-US" sz="2000" dirty="0" smtClean="0">
                <a:latin typeface="+mn-lt"/>
                <a:ea typeface="+mn-ea"/>
              </a:rPr>
              <a:t>和</a:t>
            </a:r>
            <a:r>
              <a:rPr lang="en-US" altLang="zh-CN" sz="2000" dirty="0" smtClean="0">
                <a:latin typeface="+mn-lt"/>
                <a:ea typeface="+mn-ea"/>
              </a:rPr>
              <a:t>B</a:t>
            </a:r>
            <a:r>
              <a:rPr lang="zh-CN" altLang="en-US" sz="2000" dirty="0" smtClean="0">
                <a:latin typeface="+mn-lt"/>
                <a:ea typeface="+mn-ea"/>
              </a:rPr>
              <a:t>是两个集合，</a:t>
            </a:r>
            <a:r>
              <a:rPr lang="en-US" altLang="zh-CN" sz="2000" dirty="0" smtClean="0">
                <a:latin typeface="+mn-lt"/>
                <a:ea typeface="+mn-ea"/>
              </a:rPr>
              <a:t>A</a:t>
            </a:r>
            <a:r>
              <a:rPr lang="zh-CN" altLang="en-US" sz="2000" dirty="0" smtClean="0">
                <a:latin typeface="+mn-lt"/>
                <a:ea typeface="+mn-ea"/>
              </a:rPr>
              <a:t>和</a:t>
            </a:r>
            <a:r>
              <a:rPr lang="en-US" altLang="zh-CN" sz="2000" dirty="0" smtClean="0">
                <a:latin typeface="+mn-lt"/>
                <a:ea typeface="+mn-ea"/>
              </a:rPr>
              <a:t>B</a:t>
            </a:r>
            <a:r>
              <a:rPr lang="zh-CN" altLang="en-US" sz="2000" dirty="0" smtClean="0">
                <a:latin typeface="+mn-lt"/>
                <a:ea typeface="+mn-ea"/>
              </a:rPr>
              <a:t>的笛卡尔积是所有有序对</a:t>
            </a:r>
            <a:r>
              <a:rPr lang="en-US" altLang="zh-CN" sz="2000" dirty="0" smtClean="0">
                <a:latin typeface="+mn-lt"/>
                <a:ea typeface="+mn-ea"/>
                <a:sym typeface="Symbol" pitchFamily="18" charset="2"/>
              </a:rPr>
              <a:t>(</a:t>
            </a:r>
            <a:r>
              <a:rPr lang="en-US" altLang="zh-CN" sz="2000" dirty="0" err="1" smtClean="0">
                <a:latin typeface="+mn-lt"/>
                <a:ea typeface="+mn-ea"/>
                <a:sym typeface="Symbol" pitchFamily="18" charset="2"/>
              </a:rPr>
              <a:t>a,b</a:t>
            </a:r>
            <a:r>
              <a:rPr lang="en-US" altLang="zh-CN" sz="2000" dirty="0" smtClean="0">
                <a:latin typeface="+mn-lt"/>
                <a:ea typeface="+mn-ea"/>
                <a:sym typeface="Symbol" pitchFamily="18" charset="2"/>
              </a:rPr>
              <a:t>) </a:t>
            </a:r>
            <a:r>
              <a:rPr lang="zh-CN" altLang="en-US" sz="2000" dirty="0" smtClean="0">
                <a:latin typeface="+mn-lt"/>
                <a:ea typeface="+mn-ea"/>
                <a:sym typeface="Symbol" pitchFamily="18" charset="2"/>
              </a:rPr>
              <a:t>的集合，这里</a:t>
            </a:r>
            <a:r>
              <a:rPr lang="en-US" altLang="zh-CN" sz="2000" dirty="0" err="1" smtClean="0">
                <a:latin typeface="+mn-lt"/>
                <a:ea typeface="+mn-ea"/>
                <a:sym typeface="Symbol" pitchFamily="18" charset="2"/>
              </a:rPr>
              <a:t>aA</a:t>
            </a:r>
            <a:r>
              <a:rPr lang="en-US" altLang="zh-CN" sz="2000" dirty="0" smtClean="0">
                <a:latin typeface="+mn-lt"/>
                <a:ea typeface="+mn-ea"/>
                <a:sym typeface="Symbol" pitchFamily="18" charset="2"/>
              </a:rPr>
              <a:t> </a:t>
            </a:r>
            <a:r>
              <a:rPr lang="zh-CN" altLang="en-US" sz="2000" dirty="0" smtClean="0">
                <a:latin typeface="+mn-lt"/>
                <a:ea typeface="+mn-ea"/>
                <a:sym typeface="Symbol" pitchFamily="18" charset="2"/>
              </a:rPr>
              <a:t>，</a:t>
            </a:r>
            <a:r>
              <a:rPr lang="en-US" altLang="zh-CN" sz="2000" dirty="0" smtClean="0">
                <a:latin typeface="+mn-lt"/>
                <a:ea typeface="+mn-ea"/>
                <a:sym typeface="Symbol" pitchFamily="18" charset="2"/>
              </a:rPr>
              <a:t> </a:t>
            </a:r>
            <a:r>
              <a:rPr lang="en-US" altLang="zh-CN" sz="2000" dirty="0" err="1" smtClean="0">
                <a:latin typeface="+mn-lt"/>
                <a:ea typeface="+mn-ea"/>
                <a:sym typeface="Symbol" pitchFamily="18" charset="2"/>
              </a:rPr>
              <a:t>bB</a:t>
            </a:r>
            <a:r>
              <a:rPr lang="zh-CN" altLang="en-US" sz="2000" dirty="0" smtClean="0">
                <a:latin typeface="+mn-lt"/>
                <a:ea typeface="+mn-ea"/>
                <a:sym typeface="Symbol" pitchFamily="18" charset="2"/>
              </a:rPr>
              <a:t>，笛卡尔积记为</a:t>
            </a:r>
            <a:r>
              <a:rPr lang="en-US" altLang="zh-CN" sz="2000" dirty="0" smtClean="0">
                <a:latin typeface="+mn-lt"/>
                <a:ea typeface="+mn-ea"/>
              </a:rPr>
              <a:t>A</a:t>
            </a:r>
            <a:r>
              <a:rPr lang="en-US" altLang="zh-CN" sz="2000" dirty="0" smtClean="0">
                <a:latin typeface="+mn-lt"/>
                <a:ea typeface="+mn-ea"/>
                <a:sym typeface="Symbol" pitchFamily="18" charset="2"/>
              </a:rPr>
              <a:t>B</a:t>
            </a:r>
            <a:r>
              <a:rPr lang="zh-CN" altLang="en-US" sz="2000" dirty="0" smtClean="0">
                <a:latin typeface="+mn-lt"/>
                <a:ea typeface="+mn-ea"/>
                <a:sym typeface="Symbol" pitchFamily="18" charset="2"/>
              </a:rPr>
              <a:t>。用集合符号表示：</a:t>
            </a:r>
            <a:r>
              <a:rPr lang="en-US" altLang="zh-CN" sz="2000" dirty="0" smtClean="0">
                <a:latin typeface="+mn-lt"/>
                <a:ea typeface="+mn-ea"/>
                <a:sym typeface="Symbol" pitchFamily="18" charset="2"/>
              </a:rPr>
              <a:t>                    </a:t>
            </a:r>
          </a:p>
          <a:p>
            <a:pPr lvl="1" eaLnBrk="1" hangingPunct="1">
              <a:buFontTx/>
              <a:buNone/>
              <a:defRPr/>
            </a:pPr>
            <a:r>
              <a:rPr lang="en-US" altLang="zh-CN" sz="2000" dirty="0" smtClean="0">
                <a:latin typeface="+mn-lt"/>
                <a:ea typeface="+mn-ea"/>
                <a:sym typeface="Symbol" pitchFamily="18" charset="2"/>
              </a:rPr>
              <a:t>            </a:t>
            </a:r>
            <a:r>
              <a:rPr lang="en-US" altLang="zh-CN" sz="2000" dirty="0" smtClean="0">
                <a:solidFill>
                  <a:srgbClr val="FF0000"/>
                </a:solidFill>
                <a:latin typeface="+mn-lt"/>
                <a:ea typeface="+mn-ea"/>
                <a:sym typeface="Symbol" pitchFamily="18" charset="2"/>
              </a:rPr>
              <a:t> </a:t>
            </a:r>
            <a:r>
              <a:rPr lang="en-US" altLang="zh-CN" sz="2000" dirty="0" smtClean="0">
                <a:solidFill>
                  <a:srgbClr val="FF0000"/>
                </a:solidFill>
                <a:latin typeface="+mn-lt"/>
                <a:ea typeface="+mn-ea"/>
              </a:rPr>
              <a:t>A</a:t>
            </a:r>
            <a:r>
              <a:rPr lang="en-US" altLang="zh-CN" sz="2000" dirty="0" smtClean="0">
                <a:solidFill>
                  <a:srgbClr val="FF0000"/>
                </a:solidFill>
                <a:latin typeface="+mn-lt"/>
                <a:ea typeface="+mn-ea"/>
                <a:sym typeface="Symbol" pitchFamily="18" charset="2"/>
              </a:rPr>
              <a:t>B={(</a:t>
            </a:r>
            <a:r>
              <a:rPr lang="en-US" altLang="zh-CN" sz="2000" dirty="0" err="1" smtClean="0">
                <a:solidFill>
                  <a:srgbClr val="FF0000"/>
                </a:solidFill>
                <a:latin typeface="+mn-lt"/>
                <a:ea typeface="+mn-ea"/>
                <a:sym typeface="Symbol" pitchFamily="18" charset="2"/>
              </a:rPr>
              <a:t>a,b</a:t>
            </a:r>
            <a:r>
              <a:rPr lang="en-US" altLang="zh-CN" sz="2000" dirty="0" smtClean="0">
                <a:solidFill>
                  <a:srgbClr val="FF0000"/>
                </a:solidFill>
                <a:latin typeface="+mn-lt"/>
                <a:ea typeface="+mn-ea"/>
                <a:sym typeface="Symbol" pitchFamily="18" charset="2"/>
              </a:rPr>
              <a:t>)| </a:t>
            </a:r>
            <a:r>
              <a:rPr lang="en-US" altLang="zh-CN" sz="2000" dirty="0" err="1" smtClean="0">
                <a:solidFill>
                  <a:srgbClr val="FF0000"/>
                </a:solidFill>
                <a:latin typeface="+mn-lt"/>
                <a:ea typeface="+mn-ea"/>
                <a:sym typeface="Symbol" pitchFamily="18" charset="2"/>
              </a:rPr>
              <a:t>aA</a:t>
            </a:r>
            <a:r>
              <a:rPr lang="en-US" altLang="zh-CN" sz="2000" dirty="0" smtClean="0">
                <a:solidFill>
                  <a:srgbClr val="FF0000"/>
                </a:solidFill>
                <a:latin typeface="+mn-lt"/>
                <a:ea typeface="+mn-ea"/>
                <a:sym typeface="Symbol" pitchFamily="18" charset="2"/>
              </a:rPr>
              <a:t>  and </a:t>
            </a:r>
            <a:r>
              <a:rPr lang="en-US" altLang="zh-CN" sz="2000" dirty="0" err="1" smtClean="0">
                <a:solidFill>
                  <a:srgbClr val="FF0000"/>
                </a:solidFill>
                <a:latin typeface="+mn-lt"/>
                <a:ea typeface="+mn-ea"/>
                <a:sym typeface="Symbol" pitchFamily="18" charset="2"/>
              </a:rPr>
              <a:t>bB</a:t>
            </a:r>
            <a:r>
              <a:rPr lang="en-US" altLang="zh-CN" sz="2000" dirty="0" smtClean="0">
                <a:solidFill>
                  <a:srgbClr val="FF0000"/>
                </a:solidFill>
                <a:latin typeface="+mn-lt"/>
                <a:ea typeface="+mn-ea"/>
                <a:sym typeface="Symbol" pitchFamily="18" charset="2"/>
              </a:rPr>
              <a:t>}. </a:t>
            </a:r>
          </a:p>
          <a:p>
            <a:pPr lvl="1" eaLnBrk="1" hangingPunct="1">
              <a:defRPr/>
            </a:pPr>
            <a:r>
              <a:rPr lang="zh-CN" altLang="en-US" sz="2000" dirty="0" smtClean="0">
                <a:latin typeface="+mn-lt"/>
                <a:ea typeface="+mn-ea"/>
                <a:sym typeface="Symbol" pitchFamily="18" charset="2"/>
              </a:rPr>
              <a:t>更一般的</a:t>
            </a:r>
            <a:r>
              <a:rPr lang="en-US" altLang="zh-CN" sz="2000" dirty="0" smtClean="0">
                <a:latin typeface="+mn-lt"/>
                <a:ea typeface="+mn-ea"/>
                <a:sym typeface="Symbol" pitchFamily="18" charset="2"/>
              </a:rPr>
              <a:t>, A</a:t>
            </a:r>
            <a:r>
              <a:rPr lang="en-US" altLang="zh-CN" sz="2000" baseline="-25000" dirty="0" smtClean="0">
                <a:latin typeface="+mn-lt"/>
                <a:ea typeface="+mn-ea"/>
                <a:sym typeface="Symbol" pitchFamily="18" charset="2"/>
              </a:rPr>
              <a:t>1</a:t>
            </a:r>
            <a:r>
              <a:rPr lang="en-US" altLang="zh-CN" sz="2000" dirty="0" smtClean="0">
                <a:latin typeface="+mn-lt"/>
                <a:ea typeface="+mn-ea"/>
                <a:sym typeface="Symbol" pitchFamily="18" charset="2"/>
              </a:rPr>
              <a:t>,A</a:t>
            </a:r>
            <a:r>
              <a:rPr lang="en-US" altLang="zh-CN" sz="2000" baseline="-25000" dirty="0" smtClean="0">
                <a:latin typeface="+mn-lt"/>
                <a:ea typeface="+mn-ea"/>
                <a:sym typeface="Symbol" pitchFamily="18" charset="2"/>
              </a:rPr>
              <a:t>2</a:t>
            </a:r>
            <a:r>
              <a:rPr lang="en-US" altLang="zh-CN" sz="2000" dirty="0" smtClean="0">
                <a:latin typeface="+mn-lt"/>
                <a:ea typeface="+mn-ea"/>
                <a:sym typeface="Symbol" pitchFamily="18" charset="2"/>
              </a:rPr>
              <a:t>,…,A</a:t>
            </a:r>
            <a:r>
              <a:rPr lang="en-US" altLang="zh-CN" sz="2000" baseline="-25000" dirty="0" smtClean="0">
                <a:latin typeface="+mn-lt"/>
                <a:ea typeface="+mn-ea"/>
                <a:sym typeface="Symbol" pitchFamily="18" charset="2"/>
              </a:rPr>
              <a:t>n</a:t>
            </a:r>
            <a:r>
              <a:rPr lang="en-US" altLang="zh-CN" sz="2000" dirty="0" smtClean="0">
                <a:latin typeface="+mn-lt"/>
                <a:ea typeface="+mn-ea"/>
                <a:sym typeface="Symbol" pitchFamily="18" charset="2"/>
              </a:rPr>
              <a:t> </a:t>
            </a:r>
            <a:r>
              <a:rPr lang="zh-CN" altLang="en-US" sz="2000" dirty="0" smtClean="0">
                <a:latin typeface="+mn-lt"/>
                <a:ea typeface="+mn-ea"/>
                <a:sym typeface="Symbol" pitchFamily="18" charset="2"/>
              </a:rPr>
              <a:t>的笛卡尔积定义为</a:t>
            </a:r>
            <a:endParaRPr lang="en-US" altLang="zh-CN" sz="2000" dirty="0" smtClean="0">
              <a:latin typeface="+mn-lt"/>
              <a:ea typeface="+mn-ea"/>
              <a:sym typeface="Symbol" pitchFamily="18" charset="2"/>
            </a:endParaRPr>
          </a:p>
          <a:p>
            <a:pPr lvl="1" eaLnBrk="1" hangingPunct="1">
              <a:buFontTx/>
              <a:buNone/>
              <a:defRPr/>
            </a:pPr>
            <a:r>
              <a:rPr lang="en-US" altLang="zh-CN" sz="2000" dirty="0" smtClean="0">
                <a:latin typeface="+mn-lt"/>
                <a:ea typeface="+mn-ea"/>
                <a:sym typeface="Symbol" pitchFamily="18" charset="2"/>
              </a:rPr>
              <a:t>             </a:t>
            </a:r>
            <a:r>
              <a:rPr lang="en-US" altLang="zh-CN" sz="2000" dirty="0" smtClean="0">
                <a:latin typeface="+mn-lt"/>
                <a:ea typeface="+mn-ea"/>
              </a:rPr>
              <a:t>A</a:t>
            </a:r>
            <a:r>
              <a:rPr lang="en-US" altLang="zh-CN" sz="2000" baseline="-25000" dirty="0" smtClean="0">
                <a:latin typeface="+mn-lt"/>
                <a:ea typeface="+mn-ea"/>
              </a:rPr>
              <a:t>1</a:t>
            </a:r>
            <a:r>
              <a:rPr lang="en-US" altLang="zh-CN" sz="2000" dirty="0" smtClean="0">
                <a:latin typeface="+mn-lt"/>
                <a:ea typeface="+mn-ea"/>
                <a:sym typeface="Symbol" pitchFamily="18" charset="2"/>
              </a:rPr>
              <a:t>A</a:t>
            </a:r>
            <a:r>
              <a:rPr lang="en-US" altLang="zh-CN" sz="2000" baseline="-25000" dirty="0" smtClean="0">
                <a:latin typeface="+mn-lt"/>
                <a:ea typeface="+mn-ea"/>
                <a:sym typeface="Symbol" pitchFamily="18" charset="2"/>
              </a:rPr>
              <a:t>2</a:t>
            </a:r>
            <a:r>
              <a:rPr lang="en-US" altLang="zh-CN" sz="2000" dirty="0" smtClean="0">
                <a:latin typeface="+mn-lt"/>
                <a:ea typeface="+mn-ea"/>
                <a:sym typeface="Symbol" pitchFamily="18" charset="2"/>
              </a:rPr>
              <a:t>  …  A</a:t>
            </a:r>
            <a:r>
              <a:rPr lang="en-US" altLang="zh-CN" sz="2000" baseline="-25000" dirty="0" smtClean="0">
                <a:latin typeface="+mn-lt"/>
                <a:ea typeface="+mn-ea"/>
                <a:sym typeface="Symbol" pitchFamily="18" charset="2"/>
              </a:rPr>
              <a:t>n </a:t>
            </a:r>
            <a:r>
              <a:rPr lang="en-US" altLang="zh-CN" sz="2000" dirty="0" smtClean="0">
                <a:latin typeface="+mn-lt"/>
                <a:ea typeface="+mn-ea"/>
                <a:sym typeface="Symbol" pitchFamily="18" charset="2"/>
              </a:rPr>
              <a:t>= {(a</a:t>
            </a:r>
            <a:r>
              <a:rPr lang="en-US" altLang="zh-CN" sz="2000" baseline="-25000" dirty="0" smtClean="0">
                <a:latin typeface="+mn-lt"/>
                <a:ea typeface="+mn-ea"/>
                <a:sym typeface="Symbol" pitchFamily="18" charset="2"/>
              </a:rPr>
              <a:t>1</a:t>
            </a:r>
            <a:r>
              <a:rPr lang="en-US" altLang="zh-CN" sz="2000" dirty="0" smtClean="0">
                <a:latin typeface="+mn-lt"/>
                <a:ea typeface="+mn-ea"/>
                <a:sym typeface="Symbol" pitchFamily="18" charset="2"/>
              </a:rPr>
              <a:t>,a</a:t>
            </a:r>
            <a:r>
              <a:rPr lang="en-US" altLang="zh-CN" sz="2000" baseline="-25000" dirty="0" smtClean="0">
                <a:latin typeface="+mn-lt"/>
                <a:ea typeface="+mn-ea"/>
                <a:sym typeface="Symbol" pitchFamily="18" charset="2"/>
              </a:rPr>
              <a:t>2</a:t>
            </a:r>
            <a:r>
              <a:rPr lang="en-US" altLang="zh-CN" sz="2000" dirty="0" smtClean="0">
                <a:latin typeface="+mn-lt"/>
                <a:ea typeface="+mn-ea"/>
                <a:sym typeface="Symbol" pitchFamily="18" charset="2"/>
              </a:rPr>
              <a:t>,…,a</a:t>
            </a:r>
            <a:r>
              <a:rPr lang="en-US" altLang="zh-CN" sz="2000" baseline="-25000" dirty="0" smtClean="0">
                <a:latin typeface="+mn-lt"/>
                <a:ea typeface="+mn-ea"/>
                <a:sym typeface="Symbol" pitchFamily="18" charset="2"/>
              </a:rPr>
              <a:t>n</a:t>
            </a:r>
            <a:r>
              <a:rPr lang="en-US" altLang="zh-CN" sz="2000" dirty="0" smtClean="0">
                <a:latin typeface="+mn-lt"/>
                <a:ea typeface="+mn-ea"/>
                <a:sym typeface="Symbol" pitchFamily="18" charset="2"/>
              </a:rPr>
              <a:t>)| a</a:t>
            </a:r>
            <a:r>
              <a:rPr lang="en-US" altLang="zh-CN" sz="2000" baseline="-25000" dirty="0" smtClean="0">
                <a:latin typeface="+mn-lt"/>
                <a:ea typeface="+mn-ea"/>
                <a:sym typeface="Symbol" pitchFamily="18" charset="2"/>
              </a:rPr>
              <a:t>i</a:t>
            </a:r>
            <a:r>
              <a:rPr lang="en-US" altLang="zh-CN" sz="2000" dirty="0" smtClean="0">
                <a:latin typeface="+mn-lt"/>
                <a:ea typeface="+mn-ea"/>
                <a:sym typeface="Symbol" pitchFamily="18" charset="2"/>
              </a:rPr>
              <a:t>A</a:t>
            </a:r>
            <a:r>
              <a:rPr lang="en-US" altLang="zh-CN" sz="2000" baseline="-25000" dirty="0" smtClean="0">
                <a:latin typeface="+mn-lt"/>
                <a:ea typeface="+mn-ea"/>
                <a:sym typeface="Symbol" pitchFamily="18" charset="2"/>
              </a:rPr>
              <a:t>i</a:t>
            </a:r>
            <a:r>
              <a:rPr lang="en-US" altLang="zh-CN" sz="2000" dirty="0" smtClean="0">
                <a:latin typeface="+mn-lt"/>
                <a:ea typeface="+mn-ea"/>
                <a:sym typeface="Symbol" pitchFamily="18" charset="2"/>
              </a:rPr>
              <a:t>,1in}. </a:t>
            </a:r>
          </a:p>
          <a:p>
            <a:pPr eaLnBrk="1" hangingPunct="1">
              <a:defRPr/>
            </a:pPr>
            <a:endParaRPr lang="en-US" altLang="zh-CN" sz="2000" dirty="0" smtClean="0"/>
          </a:p>
        </p:txBody>
      </p:sp>
    </p:spTree>
    <p:extLst>
      <p:ext uri="{BB962C8B-B14F-4D97-AF65-F5344CB8AC3E}">
        <p14:creationId xmlns:p14="http://schemas.microsoft.com/office/powerpoint/2010/main" val="35231279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18435" name="Rectangle 2"/>
          <p:cNvSpPr>
            <a:spLocks noGrp="1" noChangeArrowheads="1"/>
          </p:cNvSpPr>
          <p:nvPr>
            <p:ph type="title"/>
          </p:nvPr>
        </p:nvSpPr>
        <p:spPr/>
        <p:txBody>
          <a:bodyPr/>
          <a:lstStyle/>
          <a:p>
            <a:pPr eaLnBrk="1" hangingPunct="1"/>
            <a:r>
              <a:rPr lang="en-US" altLang="zh-CN" b="0" dirty="0">
                <a:latin typeface="+mn-ea"/>
              </a:rPr>
              <a:t>1.3.1 </a:t>
            </a:r>
            <a:r>
              <a:rPr lang="zh-CN" altLang="en-US" b="0" dirty="0">
                <a:latin typeface="+mn-ea"/>
              </a:rPr>
              <a:t>集合、</a:t>
            </a:r>
            <a:r>
              <a:rPr lang="zh-CN" altLang="en-US" u="sng" dirty="0">
                <a:latin typeface="+mn-ea"/>
              </a:rPr>
              <a:t>关系</a:t>
            </a:r>
            <a:r>
              <a:rPr lang="zh-CN" altLang="en-US" b="0" dirty="0">
                <a:latin typeface="+mn-ea"/>
              </a:rPr>
              <a:t>、函数</a:t>
            </a:r>
            <a:endParaRPr lang="en-US" altLang="zh-CN" dirty="0" smtClean="0"/>
          </a:p>
        </p:txBody>
      </p:sp>
      <p:sp>
        <p:nvSpPr>
          <p:cNvPr id="18436" name="Rectangle 3"/>
          <p:cNvSpPr>
            <a:spLocks noGrp="1" noChangeArrowheads="1"/>
          </p:cNvSpPr>
          <p:nvPr>
            <p:ph type="body" idx="1"/>
          </p:nvPr>
        </p:nvSpPr>
        <p:spPr/>
        <p:txBody>
          <a:bodyPr/>
          <a:lstStyle/>
          <a:p>
            <a:pPr eaLnBrk="1" hangingPunct="1">
              <a:buFontTx/>
              <a:buNone/>
            </a:pPr>
            <a:r>
              <a:rPr lang="zh-CN" altLang="en-US" sz="2400" smtClean="0"/>
              <a:t>笛卡尔积举例 </a:t>
            </a:r>
          </a:p>
          <a:p>
            <a:pPr eaLnBrk="1" hangingPunct="1"/>
            <a:r>
              <a:rPr lang="zh-CN" altLang="en-US" sz="2400" smtClean="0"/>
              <a:t>：</a:t>
            </a:r>
            <a:r>
              <a:rPr lang="en-US" altLang="zh-CN" sz="2400" smtClean="0"/>
              <a:t>A</a:t>
            </a:r>
            <a:r>
              <a:rPr lang="zh-CN" altLang="en-US" sz="2400" smtClean="0"/>
              <a:t>表示某大学所有学生的集合，</a:t>
            </a:r>
            <a:r>
              <a:rPr lang="en-US" altLang="zh-CN" sz="2400" smtClean="0"/>
              <a:t>B</a:t>
            </a:r>
            <a:r>
              <a:rPr lang="zh-CN" altLang="en-US" sz="2400" smtClean="0"/>
              <a:t>表示大学开设的所有 课程的集合， 则</a:t>
            </a:r>
            <a:r>
              <a:rPr lang="en-US" altLang="zh-CN" sz="2400" smtClean="0"/>
              <a:t>A×B</a:t>
            </a:r>
            <a:r>
              <a:rPr lang="zh-CN" altLang="en-US" sz="2400" smtClean="0"/>
              <a:t>可以用来表示该校学生选课的所有可能情况。 令</a:t>
            </a:r>
            <a:r>
              <a:rPr lang="en-US" altLang="zh-CN" sz="2400" smtClean="0"/>
              <a:t>A</a:t>
            </a:r>
            <a:r>
              <a:rPr lang="zh-CN" altLang="en-US" sz="2400" smtClean="0"/>
              <a:t>是直角坐标系中</a:t>
            </a:r>
            <a:r>
              <a:rPr lang="en-US" altLang="zh-CN" sz="2400" smtClean="0"/>
              <a:t>x</a:t>
            </a:r>
            <a:r>
              <a:rPr lang="zh-CN" altLang="en-US" sz="2400" smtClean="0"/>
              <a:t>轴上的点集，</a:t>
            </a:r>
            <a:r>
              <a:rPr lang="en-US" altLang="zh-CN" sz="2400" smtClean="0"/>
              <a:t>B</a:t>
            </a:r>
            <a:r>
              <a:rPr lang="zh-CN" altLang="en-US" sz="2400" smtClean="0"/>
              <a:t>是直角坐标系中</a:t>
            </a:r>
            <a:r>
              <a:rPr lang="en-US" altLang="zh-CN" sz="2400" smtClean="0"/>
              <a:t>y </a:t>
            </a:r>
            <a:r>
              <a:rPr lang="zh-CN" altLang="en-US" sz="2400" smtClean="0"/>
              <a:t>轴上的点集， 于是</a:t>
            </a:r>
            <a:r>
              <a:rPr lang="en-US" altLang="zh-CN" sz="2400" smtClean="0"/>
              <a:t>A×B</a:t>
            </a:r>
            <a:r>
              <a:rPr lang="zh-CN" altLang="en-US" sz="2400" smtClean="0"/>
              <a:t>就和平面点集一一对应。 </a:t>
            </a:r>
          </a:p>
          <a:p>
            <a:pPr eaLnBrk="1" hangingPunct="1"/>
            <a:r>
              <a:rPr lang="zh-CN" altLang="en-US" sz="2400" smtClean="0"/>
              <a:t>设</a:t>
            </a:r>
            <a:r>
              <a:rPr lang="en-US" altLang="zh-CN" sz="2400" smtClean="0"/>
              <a:t>A={a,b}, B={0,1,2}</a:t>
            </a:r>
            <a:r>
              <a:rPr lang="zh-CN" altLang="en-US" sz="2400" smtClean="0"/>
              <a:t>，则 </a:t>
            </a:r>
            <a:r>
              <a:rPr lang="en-US" altLang="zh-CN" sz="2400" smtClean="0"/>
              <a:t>A×B={&lt;a,0&gt;,&lt;a,1&gt;,&lt;a,2&gt;,&lt;b,0&gt;,&lt;b,1&gt;,&lt;b,2&gt;} B×A={&lt;0,a&gt;,&lt;0,b&gt;,&lt;1,a&gt;,&lt;1,b&gt;,&lt;2,a&gt;,&lt;2,b&gt;}</a:t>
            </a:r>
          </a:p>
          <a:p>
            <a:pPr eaLnBrk="1" hangingPunct="1"/>
            <a:r>
              <a:rPr lang="zh-CN" altLang="en-US" sz="2400" smtClean="0"/>
              <a:t>如果</a:t>
            </a:r>
            <a:r>
              <a:rPr lang="en-US" altLang="zh-CN" sz="2400" smtClean="0"/>
              <a:t>|A|=m</a:t>
            </a:r>
            <a:r>
              <a:rPr lang="zh-CN" altLang="en-US" sz="2400" smtClean="0"/>
              <a:t>，</a:t>
            </a:r>
            <a:r>
              <a:rPr lang="en-US" altLang="zh-CN" sz="2400" smtClean="0"/>
              <a:t>|B|=n</a:t>
            </a:r>
            <a:r>
              <a:rPr lang="zh-CN" altLang="en-US" sz="2400" smtClean="0"/>
              <a:t>，则</a:t>
            </a:r>
            <a:r>
              <a:rPr lang="en-US" altLang="zh-CN" sz="2400" smtClean="0"/>
              <a:t>|A×B|=mn。</a:t>
            </a:r>
          </a:p>
          <a:p>
            <a:pPr eaLnBrk="1" hangingPunct="1"/>
            <a:endParaRPr lang="en-US" altLang="zh-CN" sz="2000" smtClean="0"/>
          </a:p>
        </p:txBody>
      </p:sp>
    </p:spTree>
    <p:extLst>
      <p:ext uri="{BB962C8B-B14F-4D97-AF65-F5344CB8AC3E}">
        <p14:creationId xmlns:p14="http://schemas.microsoft.com/office/powerpoint/2010/main" val="37446081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20483" name="Rectangle 2"/>
          <p:cNvSpPr>
            <a:spLocks noGrp="1" noChangeArrowheads="1"/>
          </p:cNvSpPr>
          <p:nvPr>
            <p:ph type="title"/>
          </p:nvPr>
        </p:nvSpPr>
        <p:spPr/>
        <p:txBody>
          <a:bodyPr/>
          <a:lstStyle/>
          <a:p>
            <a:pPr eaLnBrk="1" hangingPunct="1"/>
            <a:r>
              <a:rPr lang="en-US" altLang="zh-CN" b="0" dirty="0">
                <a:latin typeface="+mn-ea"/>
              </a:rPr>
              <a:t>1.3.1 </a:t>
            </a:r>
            <a:r>
              <a:rPr lang="zh-CN" altLang="en-US" b="0" dirty="0">
                <a:latin typeface="+mn-ea"/>
              </a:rPr>
              <a:t>集合、</a:t>
            </a:r>
            <a:r>
              <a:rPr lang="zh-CN" altLang="en-US" u="sng" dirty="0">
                <a:latin typeface="+mn-ea"/>
              </a:rPr>
              <a:t>关系</a:t>
            </a:r>
            <a:r>
              <a:rPr lang="zh-CN" altLang="en-US" b="0" dirty="0">
                <a:latin typeface="+mn-ea"/>
              </a:rPr>
              <a:t>、函数</a:t>
            </a:r>
            <a:endParaRPr lang="en-US" altLang="zh-CN" dirty="0" smtClean="0"/>
          </a:p>
        </p:txBody>
      </p:sp>
      <p:sp>
        <p:nvSpPr>
          <p:cNvPr id="95235" name="Rectangle 3"/>
          <p:cNvSpPr>
            <a:spLocks noGrp="1" noChangeArrowheads="1"/>
          </p:cNvSpPr>
          <p:nvPr>
            <p:ph type="body" idx="1"/>
          </p:nvPr>
        </p:nvSpPr>
        <p:spPr/>
        <p:txBody>
          <a:bodyPr/>
          <a:lstStyle/>
          <a:p>
            <a:pPr eaLnBrk="1" hangingPunct="1">
              <a:defRPr/>
            </a:pPr>
            <a:r>
              <a:rPr lang="zh-CN" altLang="en-US" dirty="0" smtClean="0">
                <a:solidFill>
                  <a:srgbClr val="FF0000"/>
                </a:solidFill>
                <a:sym typeface="Symbol" pitchFamily="18" charset="2"/>
              </a:rPr>
              <a:t>关系</a:t>
            </a:r>
            <a:endParaRPr lang="en-US" altLang="zh-CN" dirty="0" smtClean="0">
              <a:solidFill>
                <a:srgbClr val="FF0000"/>
              </a:solidFill>
              <a:sym typeface="Symbol" pitchFamily="18" charset="2"/>
            </a:endParaRPr>
          </a:p>
          <a:p>
            <a:pPr lvl="1" eaLnBrk="1" hangingPunct="1">
              <a:defRPr/>
            </a:pPr>
            <a:r>
              <a:rPr lang="zh-CN" altLang="en-US" sz="2000" dirty="0" smtClean="0">
                <a:latin typeface="+mn-lt"/>
                <a:ea typeface="+mn-ea"/>
                <a:sym typeface="Symbol" pitchFamily="18" charset="2"/>
              </a:rPr>
              <a:t>设</a:t>
            </a:r>
            <a:r>
              <a:rPr lang="en-US" altLang="zh-CN" sz="2000" dirty="0" smtClean="0">
                <a:latin typeface="+mn-lt"/>
                <a:ea typeface="+mn-ea"/>
                <a:sym typeface="Symbol" pitchFamily="18" charset="2"/>
              </a:rPr>
              <a:t>A</a:t>
            </a:r>
            <a:r>
              <a:rPr lang="zh-CN" altLang="en-US" sz="2000" dirty="0" smtClean="0">
                <a:latin typeface="+mn-lt"/>
                <a:ea typeface="+mn-ea"/>
                <a:sym typeface="Symbol" pitchFamily="18" charset="2"/>
              </a:rPr>
              <a:t>和</a:t>
            </a:r>
            <a:r>
              <a:rPr lang="en-US" altLang="zh-CN" sz="2000" dirty="0" smtClean="0">
                <a:latin typeface="+mn-lt"/>
                <a:ea typeface="+mn-ea"/>
                <a:sym typeface="Symbol" pitchFamily="18" charset="2"/>
              </a:rPr>
              <a:t>B</a:t>
            </a:r>
            <a:r>
              <a:rPr lang="zh-CN" altLang="en-US" sz="2000" dirty="0" smtClean="0">
                <a:latin typeface="+mn-lt"/>
                <a:ea typeface="+mn-ea"/>
                <a:sym typeface="Symbol" pitchFamily="18" charset="2"/>
              </a:rPr>
              <a:t>是两个非空集，一个从</a:t>
            </a:r>
            <a:r>
              <a:rPr lang="en-US" altLang="zh-CN" sz="2000" dirty="0" smtClean="0">
                <a:latin typeface="+mn-lt"/>
                <a:ea typeface="+mn-ea"/>
                <a:sym typeface="Symbol" pitchFamily="18" charset="2"/>
              </a:rPr>
              <a:t>A</a:t>
            </a:r>
            <a:r>
              <a:rPr lang="zh-CN" altLang="en-US" sz="2000" dirty="0" smtClean="0">
                <a:latin typeface="+mn-lt"/>
                <a:ea typeface="+mn-ea"/>
                <a:sym typeface="Symbol" pitchFamily="18" charset="2"/>
              </a:rPr>
              <a:t>到</a:t>
            </a:r>
            <a:r>
              <a:rPr lang="en-US" altLang="zh-CN" sz="2000" dirty="0" smtClean="0">
                <a:latin typeface="+mn-lt"/>
                <a:ea typeface="+mn-ea"/>
                <a:sym typeface="Symbol" pitchFamily="18" charset="2"/>
              </a:rPr>
              <a:t>B</a:t>
            </a:r>
            <a:r>
              <a:rPr lang="zh-CN" altLang="en-US" sz="2000" dirty="0" smtClean="0">
                <a:latin typeface="+mn-lt"/>
                <a:ea typeface="+mn-ea"/>
                <a:sym typeface="Symbol" pitchFamily="18" charset="2"/>
              </a:rPr>
              <a:t>的</a:t>
            </a:r>
            <a:r>
              <a:rPr lang="zh-CN" altLang="en-US" sz="2000" dirty="0" smtClean="0">
                <a:solidFill>
                  <a:srgbClr val="FF0000"/>
                </a:solidFill>
                <a:latin typeface="+mn-lt"/>
                <a:ea typeface="+mn-ea"/>
                <a:sym typeface="Symbol" pitchFamily="18" charset="2"/>
              </a:rPr>
              <a:t>二元关系</a:t>
            </a:r>
            <a:r>
              <a:rPr lang="zh-CN" altLang="en-US" sz="2000" dirty="0" smtClean="0">
                <a:latin typeface="+mn-lt"/>
                <a:ea typeface="+mn-ea"/>
                <a:sym typeface="Symbol" pitchFamily="18" charset="2"/>
              </a:rPr>
              <a:t>，或简单的说</a:t>
            </a:r>
            <a:r>
              <a:rPr lang="en-US" altLang="zh-CN" sz="2000" dirty="0" smtClean="0">
                <a:solidFill>
                  <a:srgbClr val="FF0000"/>
                </a:solidFill>
                <a:latin typeface="+mn-lt"/>
                <a:ea typeface="+mn-ea"/>
                <a:sym typeface="Symbol" pitchFamily="18" charset="2"/>
              </a:rPr>
              <a:t>A</a:t>
            </a:r>
            <a:r>
              <a:rPr lang="zh-CN" altLang="en-US" sz="2000" dirty="0" smtClean="0">
                <a:solidFill>
                  <a:srgbClr val="FF0000"/>
                </a:solidFill>
                <a:latin typeface="+mn-lt"/>
                <a:ea typeface="+mn-ea"/>
                <a:sym typeface="Symbol" pitchFamily="18" charset="2"/>
              </a:rPr>
              <a:t>到</a:t>
            </a:r>
            <a:r>
              <a:rPr lang="en-US" altLang="zh-CN" sz="2000" dirty="0" smtClean="0">
                <a:solidFill>
                  <a:srgbClr val="FF0000"/>
                </a:solidFill>
                <a:latin typeface="+mn-lt"/>
                <a:ea typeface="+mn-ea"/>
                <a:sym typeface="Symbol" pitchFamily="18" charset="2"/>
              </a:rPr>
              <a:t>B</a:t>
            </a:r>
            <a:r>
              <a:rPr lang="zh-CN" altLang="en-US" sz="2000" dirty="0" smtClean="0">
                <a:solidFill>
                  <a:srgbClr val="FF0000"/>
                </a:solidFill>
                <a:latin typeface="+mn-lt"/>
                <a:ea typeface="+mn-ea"/>
                <a:sym typeface="Symbol" pitchFamily="18" charset="2"/>
              </a:rPr>
              <a:t>的关系</a:t>
            </a:r>
            <a:r>
              <a:rPr lang="en-US" altLang="zh-CN" sz="2000" dirty="0" smtClean="0">
                <a:solidFill>
                  <a:srgbClr val="FF0000"/>
                </a:solidFill>
                <a:latin typeface="+mn-lt"/>
                <a:ea typeface="+mn-ea"/>
                <a:sym typeface="Symbol" pitchFamily="18" charset="2"/>
              </a:rPr>
              <a:t>R</a:t>
            </a:r>
            <a:r>
              <a:rPr lang="zh-CN" altLang="en-US" sz="2000" dirty="0" smtClean="0">
                <a:latin typeface="+mn-lt"/>
                <a:ea typeface="+mn-ea"/>
                <a:sym typeface="Symbol" pitchFamily="18" charset="2"/>
              </a:rPr>
              <a:t>是有序对</a:t>
            </a:r>
            <a:r>
              <a:rPr lang="en-US" altLang="zh-CN" sz="2000" dirty="0" smtClean="0">
                <a:latin typeface="+mn-lt"/>
                <a:ea typeface="+mn-ea"/>
                <a:sym typeface="Symbol" pitchFamily="18" charset="2"/>
              </a:rPr>
              <a:t> (</a:t>
            </a:r>
            <a:r>
              <a:rPr lang="en-US" altLang="zh-CN" sz="2000" dirty="0" err="1" smtClean="0">
                <a:latin typeface="+mn-lt"/>
                <a:ea typeface="+mn-ea"/>
                <a:sym typeface="Symbol" pitchFamily="18" charset="2"/>
              </a:rPr>
              <a:t>a,b</a:t>
            </a:r>
            <a:r>
              <a:rPr lang="en-US" altLang="zh-CN" sz="2000" dirty="0" smtClean="0">
                <a:latin typeface="+mn-lt"/>
                <a:ea typeface="+mn-ea"/>
                <a:sym typeface="Symbol" pitchFamily="18" charset="2"/>
              </a:rPr>
              <a:t>)</a:t>
            </a:r>
            <a:r>
              <a:rPr lang="zh-CN" altLang="en-US" sz="2000" dirty="0" smtClean="0">
                <a:latin typeface="+mn-lt"/>
                <a:ea typeface="+mn-ea"/>
                <a:sym typeface="Symbol" pitchFamily="18" charset="2"/>
              </a:rPr>
              <a:t>的集合，这里</a:t>
            </a:r>
            <a:r>
              <a:rPr lang="en-US" altLang="zh-CN" sz="2000" dirty="0" err="1" smtClean="0">
                <a:latin typeface="+mn-lt"/>
                <a:ea typeface="+mn-ea"/>
                <a:sym typeface="Symbol" pitchFamily="18" charset="2"/>
              </a:rPr>
              <a:t>aA</a:t>
            </a:r>
            <a:r>
              <a:rPr lang="zh-CN" altLang="en-US" sz="2000" dirty="0" smtClean="0">
                <a:latin typeface="+mn-lt"/>
                <a:ea typeface="+mn-ea"/>
                <a:sym typeface="Symbol" pitchFamily="18" charset="2"/>
              </a:rPr>
              <a:t>，</a:t>
            </a:r>
            <a:r>
              <a:rPr lang="en-US" altLang="zh-CN" sz="2000" dirty="0" err="1" smtClean="0">
                <a:latin typeface="+mn-lt"/>
                <a:ea typeface="+mn-ea"/>
                <a:sym typeface="Symbol" pitchFamily="18" charset="2"/>
              </a:rPr>
              <a:t>bB</a:t>
            </a:r>
            <a:r>
              <a:rPr lang="en-US" altLang="zh-CN" sz="2000" dirty="0" smtClean="0">
                <a:latin typeface="+mn-lt"/>
                <a:ea typeface="+mn-ea"/>
                <a:sym typeface="Symbol" pitchFamily="18" charset="2"/>
              </a:rPr>
              <a:t>, </a:t>
            </a:r>
            <a:r>
              <a:rPr lang="zh-CN" altLang="en-US" sz="2000" dirty="0" smtClean="0">
                <a:latin typeface="+mn-lt"/>
                <a:ea typeface="+mn-ea"/>
                <a:sym typeface="Symbol" pitchFamily="18" charset="2"/>
              </a:rPr>
              <a:t>就是</a:t>
            </a:r>
            <a:r>
              <a:rPr lang="en-US" altLang="zh-CN" sz="2000" dirty="0" smtClean="0">
                <a:latin typeface="+mn-lt"/>
                <a:ea typeface="+mn-ea"/>
                <a:sym typeface="Symbol" pitchFamily="18" charset="2"/>
              </a:rPr>
              <a:t> R </a:t>
            </a:r>
            <a:r>
              <a:rPr lang="en-US" altLang="zh-CN" sz="2000" dirty="0" smtClean="0">
                <a:latin typeface="+mn-lt"/>
                <a:ea typeface="+mn-ea"/>
              </a:rPr>
              <a:t>A</a:t>
            </a:r>
            <a:r>
              <a:rPr lang="en-US" altLang="zh-CN" sz="2000" dirty="0" smtClean="0">
                <a:latin typeface="+mn-lt"/>
                <a:ea typeface="+mn-ea"/>
                <a:sym typeface="Symbol" pitchFamily="18" charset="2"/>
              </a:rPr>
              <a:t>B</a:t>
            </a:r>
            <a:r>
              <a:rPr lang="zh-CN" altLang="en-US" sz="2000" dirty="0" smtClean="0">
                <a:latin typeface="+mn-lt"/>
                <a:ea typeface="+mn-ea"/>
                <a:sym typeface="Symbol" pitchFamily="18" charset="2"/>
              </a:rPr>
              <a:t>。如果</a:t>
            </a:r>
            <a:r>
              <a:rPr lang="en-US" altLang="zh-CN" sz="2000" dirty="0" smtClean="0">
                <a:latin typeface="+mn-lt"/>
                <a:ea typeface="+mn-ea"/>
                <a:sym typeface="Symbol" pitchFamily="18" charset="2"/>
              </a:rPr>
              <a:t> A=B, </a:t>
            </a:r>
            <a:r>
              <a:rPr lang="zh-CN" altLang="en-US" sz="2000" dirty="0" smtClean="0">
                <a:latin typeface="+mn-lt"/>
                <a:ea typeface="+mn-ea"/>
                <a:sym typeface="Symbol" pitchFamily="18" charset="2"/>
              </a:rPr>
              <a:t>则称</a:t>
            </a:r>
            <a:r>
              <a:rPr lang="en-US" altLang="zh-CN" sz="2000" dirty="0" smtClean="0">
                <a:solidFill>
                  <a:srgbClr val="FF0000"/>
                </a:solidFill>
                <a:latin typeface="+mn-lt"/>
                <a:ea typeface="+mn-ea"/>
                <a:sym typeface="Symbol" pitchFamily="18" charset="2"/>
              </a:rPr>
              <a:t>R</a:t>
            </a:r>
            <a:r>
              <a:rPr lang="zh-CN" altLang="en-US" sz="2000" dirty="0" smtClean="0">
                <a:solidFill>
                  <a:srgbClr val="FF0000"/>
                </a:solidFill>
                <a:latin typeface="+mn-lt"/>
                <a:ea typeface="+mn-ea"/>
                <a:sym typeface="Symbol" pitchFamily="18" charset="2"/>
              </a:rPr>
              <a:t>是集合</a:t>
            </a:r>
            <a:r>
              <a:rPr lang="en-US" altLang="zh-CN" sz="2000" dirty="0" smtClean="0">
                <a:solidFill>
                  <a:srgbClr val="FF0000"/>
                </a:solidFill>
                <a:latin typeface="+mn-lt"/>
                <a:ea typeface="+mn-ea"/>
                <a:sym typeface="Symbol" pitchFamily="18" charset="2"/>
              </a:rPr>
              <a:t>A</a:t>
            </a:r>
            <a:r>
              <a:rPr lang="zh-CN" altLang="en-US" sz="2000" dirty="0" smtClean="0">
                <a:solidFill>
                  <a:srgbClr val="FF0000"/>
                </a:solidFill>
                <a:latin typeface="+mn-lt"/>
                <a:ea typeface="+mn-ea"/>
                <a:sym typeface="Symbol" pitchFamily="18" charset="2"/>
              </a:rPr>
              <a:t>上的关系</a:t>
            </a:r>
            <a:r>
              <a:rPr lang="zh-CN" altLang="en-US" sz="2000" dirty="0" smtClean="0">
                <a:latin typeface="+mn-lt"/>
                <a:ea typeface="+mn-ea"/>
                <a:sym typeface="Symbol" pitchFamily="18" charset="2"/>
              </a:rPr>
              <a:t>。</a:t>
            </a:r>
            <a:endParaRPr lang="en-US" altLang="zh-CN" sz="2000" dirty="0" smtClean="0">
              <a:latin typeface="+mn-lt"/>
              <a:ea typeface="+mn-ea"/>
              <a:sym typeface="Symbol" pitchFamily="18" charset="2"/>
            </a:endParaRPr>
          </a:p>
          <a:p>
            <a:pPr lvl="1" eaLnBrk="1" hangingPunct="1">
              <a:defRPr/>
            </a:pPr>
            <a:endParaRPr lang="en-US" altLang="zh-CN" sz="2000" dirty="0" smtClean="0">
              <a:latin typeface="+mn-lt"/>
              <a:ea typeface="+mn-ea"/>
              <a:sym typeface="Symbol" pitchFamily="18" charset="2"/>
            </a:endParaRPr>
          </a:p>
          <a:p>
            <a:pPr lvl="1" eaLnBrk="1" hangingPunct="1">
              <a:defRPr/>
            </a:pPr>
            <a:r>
              <a:rPr lang="zh-CN" altLang="en-US" sz="2000" dirty="0" smtClean="0">
                <a:latin typeface="+mn-lt"/>
                <a:ea typeface="+mn-ea"/>
              </a:rPr>
              <a:t>如果一个集合满足以下条件之一： （</a:t>
            </a:r>
            <a:r>
              <a:rPr lang="en-US" altLang="zh-CN" sz="2000" dirty="0" smtClean="0">
                <a:latin typeface="+mn-lt"/>
                <a:ea typeface="+mn-ea"/>
              </a:rPr>
              <a:t>1</a:t>
            </a:r>
            <a:r>
              <a:rPr lang="zh-CN" altLang="en-US" sz="2000" dirty="0" smtClean="0">
                <a:latin typeface="+mn-lt"/>
                <a:ea typeface="+mn-ea"/>
              </a:rPr>
              <a:t>）集合非空，且它的元素都是有序对； （</a:t>
            </a:r>
            <a:r>
              <a:rPr lang="en-US" altLang="zh-CN" sz="2000" dirty="0" smtClean="0">
                <a:latin typeface="+mn-lt"/>
                <a:ea typeface="+mn-ea"/>
              </a:rPr>
              <a:t>2</a:t>
            </a:r>
            <a:r>
              <a:rPr lang="zh-CN" altLang="en-US" sz="2000" dirty="0" smtClean="0">
                <a:latin typeface="+mn-lt"/>
                <a:ea typeface="+mn-ea"/>
              </a:rPr>
              <a:t>）集合是空集 ；         则称该集合为一个</a:t>
            </a:r>
            <a:r>
              <a:rPr lang="zh-CN" altLang="en-US" sz="2000" dirty="0" smtClean="0">
                <a:solidFill>
                  <a:srgbClr val="FF0000"/>
                </a:solidFill>
                <a:latin typeface="+mn-lt"/>
                <a:ea typeface="+mn-ea"/>
              </a:rPr>
              <a:t>二元关系</a:t>
            </a:r>
            <a:r>
              <a:rPr lang="zh-CN" altLang="en-US" sz="2000" dirty="0" smtClean="0">
                <a:latin typeface="+mn-lt"/>
                <a:ea typeface="+mn-ea"/>
              </a:rPr>
              <a:t>，记作</a:t>
            </a:r>
            <a:r>
              <a:rPr lang="en-US" altLang="zh-CN" sz="2000" dirty="0" smtClean="0">
                <a:latin typeface="+mn-lt"/>
                <a:ea typeface="+mn-ea"/>
              </a:rPr>
              <a:t>R</a:t>
            </a:r>
            <a:r>
              <a:rPr lang="zh-CN" altLang="en-US" sz="2000" dirty="0" smtClean="0">
                <a:latin typeface="+mn-lt"/>
                <a:ea typeface="+mn-ea"/>
              </a:rPr>
              <a:t>。二元关系也可简称为关 系。对于二元关系</a:t>
            </a:r>
            <a:r>
              <a:rPr lang="en-US" altLang="zh-CN" sz="2000" dirty="0" smtClean="0">
                <a:latin typeface="+mn-lt"/>
                <a:ea typeface="+mn-ea"/>
              </a:rPr>
              <a:t>R</a:t>
            </a:r>
            <a:r>
              <a:rPr lang="zh-CN" altLang="en-US" sz="2000" dirty="0" smtClean="0">
                <a:latin typeface="+mn-lt"/>
                <a:ea typeface="+mn-ea"/>
              </a:rPr>
              <a:t>，如果</a:t>
            </a:r>
            <a:r>
              <a:rPr lang="en-US" altLang="zh-CN" sz="2000" dirty="0" smtClean="0">
                <a:solidFill>
                  <a:srgbClr val="FF0000"/>
                </a:solidFill>
                <a:latin typeface="+mn-lt"/>
                <a:ea typeface="+mn-ea"/>
              </a:rPr>
              <a:t>&lt;</a:t>
            </a:r>
            <a:r>
              <a:rPr lang="en-US" altLang="zh-CN" sz="2000" dirty="0" err="1" smtClean="0">
                <a:solidFill>
                  <a:srgbClr val="FF0000"/>
                </a:solidFill>
                <a:latin typeface="+mn-lt"/>
                <a:ea typeface="+mn-ea"/>
              </a:rPr>
              <a:t>x,y</a:t>
            </a:r>
            <a:r>
              <a:rPr lang="en-US" altLang="zh-CN" sz="2000" dirty="0" smtClean="0">
                <a:solidFill>
                  <a:srgbClr val="FF0000"/>
                </a:solidFill>
                <a:latin typeface="+mn-lt"/>
                <a:ea typeface="+mn-ea"/>
              </a:rPr>
              <a:t>&gt;∈R</a:t>
            </a:r>
            <a:r>
              <a:rPr lang="zh-CN" altLang="en-US" sz="2000" dirty="0" smtClean="0">
                <a:latin typeface="+mn-lt"/>
                <a:ea typeface="+mn-ea"/>
              </a:rPr>
              <a:t>，可记作</a:t>
            </a:r>
            <a:r>
              <a:rPr lang="en-US" altLang="zh-CN" sz="2000" dirty="0" err="1" smtClean="0">
                <a:solidFill>
                  <a:srgbClr val="FF0000"/>
                </a:solidFill>
                <a:latin typeface="+mn-lt"/>
                <a:ea typeface="+mn-ea"/>
              </a:rPr>
              <a:t>xRy</a:t>
            </a:r>
            <a:r>
              <a:rPr lang="zh-CN" altLang="en-US" sz="2000" dirty="0" smtClean="0">
                <a:latin typeface="+mn-lt"/>
                <a:ea typeface="+mn-ea"/>
              </a:rPr>
              <a:t>。</a:t>
            </a:r>
            <a:endParaRPr lang="en-US" altLang="zh-CN" sz="2000" dirty="0" smtClean="0">
              <a:latin typeface="+mn-lt"/>
              <a:ea typeface="+mn-ea"/>
            </a:endParaRPr>
          </a:p>
          <a:p>
            <a:pPr lvl="1" eaLnBrk="1" hangingPunct="1">
              <a:buFontTx/>
              <a:buNone/>
              <a:defRPr/>
            </a:pPr>
            <a:endParaRPr lang="en-US" altLang="zh-CN" sz="2000" dirty="0" smtClean="0">
              <a:latin typeface="+mn-lt"/>
              <a:ea typeface="+mn-ea"/>
            </a:endParaRPr>
          </a:p>
          <a:p>
            <a:pPr lvl="1" eaLnBrk="1" hangingPunct="1">
              <a:defRPr/>
            </a:pPr>
            <a:r>
              <a:rPr lang="zh-CN" altLang="en-US" sz="2000" dirty="0" smtClean="0">
                <a:latin typeface="+mn-lt"/>
                <a:ea typeface="+mn-ea"/>
              </a:rPr>
              <a:t>设</a:t>
            </a:r>
            <a:r>
              <a:rPr lang="en-US" altLang="zh-CN" sz="2000" dirty="0" smtClean="0">
                <a:latin typeface="+mn-lt"/>
                <a:ea typeface="+mn-ea"/>
              </a:rPr>
              <a:t>R1</a:t>
            </a:r>
            <a:r>
              <a:rPr lang="zh-CN" altLang="en-US" sz="2000" dirty="0" smtClean="0">
                <a:latin typeface="+mn-lt"/>
                <a:ea typeface="+mn-ea"/>
              </a:rPr>
              <a:t>＝</a:t>
            </a:r>
            <a:r>
              <a:rPr lang="en-US" altLang="zh-CN" sz="2000" dirty="0" smtClean="0">
                <a:latin typeface="+mn-lt"/>
                <a:ea typeface="+mn-ea"/>
              </a:rPr>
              <a:t>{&lt;1,2&gt;,&lt;</a:t>
            </a:r>
            <a:r>
              <a:rPr lang="en-US" altLang="zh-CN" sz="2000" dirty="0" err="1" smtClean="0">
                <a:latin typeface="+mn-lt"/>
                <a:ea typeface="+mn-ea"/>
              </a:rPr>
              <a:t>a,b</a:t>
            </a:r>
            <a:r>
              <a:rPr lang="en-US" altLang="zh-CN" sz="2000" dirty="0" smtClean="0">
                <a:latin typeface="+mn-lt"/>
                <a:ea typeface="+mn-ea"/>
              </a:rPr>
              <a:t>&gt;}</a:t>
            </a:r>
            <a:r>
              <a:rPr lang="zh-CN" altLang="en-US" sz="2000" dirty="0" smtClean="0">
                <a:latin typeface="+mn-lt"/>
                <a:ea typeface="+mn-ea"/>
              </a:rPr>
              <a:t>，</a:t>
            </a:r>
            <a:r>
              <a:rPr lang="en-US" altLang="zh-CN" sz="2000" dirty="0" smtClean="0">
                <a:latin typeface="+mn-lt"/>
                <a:ea typeface="+mn-ea"/>
              </a:rPr>
              <a:t>R2</a:t>
            </a:r>
            <a:r>
              <a:rPr lang="zh-CN" altLang="en-US" sz="2000" dirty="0" smtClean="0">
                <a:latin typeface="+mn-lt"/>
                <a:ea typeface="+mn-ea"/>
              </a:rPr>
              <a:t>＝</a:t>
            </a:r>
            <a:r>
              <a:rPr lang="en-US" altLang="zh-CN" sz="2000" dirty="0" smtClean="0">
                <a:latin typeface="+mn-lt"/>
                <a:ea typeface="+mn-ea"/>
              </a:rPr>
              <a:t>{&lt;1,2&gt;,</a:t>
            </a:r>
            <a:r>
              <a:rPr lang="en-US" altLang="zh-CN" sz="2000" dirty="0" err="1" smtClean="0">
                <a:latin typeface="+mn-lt"/>
                <a:ea typeface="+mn-ea"/>
              </a:rPr>
              <a:t>a,b</a:t>
            </a:r>
            <a:r>
              <a:rPr lang="en-US" altLang="zh-CN" sz="2000" dirty="0" smtClean="0">
                <a:latin typeface="+mn-lt"/>
                <a:ea typeface="+mn-ea"/>
              </a:rPr>
              <a:t>}</a:t>
            </a:r>
            <a:r>
              <a:rPr lang="zh-CN" altLang="en-US" sz="2000" dirty="0" smtClean="0">
                <a:latin typeface="+mn-lt"/>
                <a:ea typeface="+mn-ea"/>
              </a:rPr>
              <a:t>。 则</a:t>
            </a:r>
            <a:r>
              <a:rPr lang="en-US" altLang="zh-CN" sz="2000" dirty="0" smtClean="0">
                <a:latin typeface="+mn-lt"/>
                <a:ea typeface="+mn-ea"/>
              </a:rPr>
              <a:t>R1</a:t>
            </a:r>
            <a:r>
              <a:rPr lang="zh-CN" altLang="en-US" sz="2000" dirty="0" smtClean="0">
                <a:latin typeface="+mn-lt"/>
                <a:ea typeface="+mn-ea"/>
              </a:rPr>
              <a:t>是二元关系，</a:t>
            </a:r>
            <a:r>
              <a:rPr lang="en-US" altLang="zh-CN" sz="2000" dirty="0" smtClean="0">
                <a:latin typeface="+mn-lt"/>
                <a:ea typeface="+mn-ea"/>
              </a:rPr>
              <a:t>R2</a:t>
            </a:r>
            <a:r>
              <a:rPr lang="zh-CN" altLang="en-US" sz="2000" dirty="0" smtClean="0">
                <a:latin typeface="+mn-lt"/>
                <a:ea typeface="+mn-ea"/>
              </a:rPr>
              <a:t>不是二元关系，只是一个集合， 除非将</a:t>
            </a:r>
            <a:r>
              <a:rPr lang="en-US" altLang="zh-CN" sz="2000" dirty="0" smtClean="0">
                <a:latin typeface="+mn-lt"/>
                <a:ea typeface="+mn-ea"/>
              </a:rPr>
              <a:t>a</a:t>
            </a:r>
            <a:r>
              <a:rPr lang="zh-CN" altLang="en-US" sz="2000" dirty="0" smtClean="0">
                <a:latin typeface="+mn-lt"/>
                <a:ea typeface="+mn-ea"/>
              </a:rPr>
              <a:t>和</a:t>
            </a:r>
            <a:r>
              <a:rPr lang="en-US" altLang="zh-CN" sz="2000" dirty="0" smtClean="0">
                <a:latin typeface="+mn-lt"/>
                <a:ea typeface="+mn-ea"/>
              </a:rPr>
              <a:t>b</a:t>
            </a:r>
            <a:r>
              <a:rPr lang="zh-CN" altLang="en-US" sz="2000" dirty="0" smtClean="0">
                <a:latin typeface="+mn-lt"/>
                <a:ea typeface="+mn-ea"/>
              </a:rPr>
              <a:t>定义为有序对。</a:t>
            </a:r>
            <a:endParaRPr lang="en-US" altLang="zh-CN" sz="2000" dirty="0" smtClean="0">
              <a:latin typeface="+mn-lt"/>
              <a:ea typeface="+mn-ea"/>
            </a:endParaRPr>
          </a:p>
          <a:p>
            <a:pPr lvl="1" eaLnBrk="1" hangingPunct="1">
              <a:defRPr/>
            </a:pPr>
            <a:r>
              <a:rPr lang="en-US" altLang="zh-CN" sz="2000" dirty="0" smtClean="0">
                <a:latin typeface="+mn-lt"/>
                <a:ea typeface="+mn-ea"/>
              </a:rPr>
              <a:t>R</a:t>
            </a:r>
            <a:r>
              <a:rPr lang="zh-CN" altLang="en-US" sz="2000" dirty="0" smtClean="0">
                <a:latin typeface="+mn-lt"/>
                <a:ea typeface="+mn-ea"/>
              </a:rPr>
              <a:t>＝</a:t>
            </a:r>
            <a:r>
              <a:rPr lang="en-US" altLang="zh-CN" sz="2000" dirty="0" smtClean="0">
                <a:latin typeface="+mn-lt"/>
                <a:ea typeface="+mn-ea"/>
              </a:rPr>
              <a:t>{&lt;</a:t>
            </a:r>
            <a:r>
              <a:rPr lang="zh-CN" altLang="en-US" sz="2000" dirty="0" smtClean="0">
                <a:latin typeface="+mn-lt"/>
                <a:ea typeface="+mn-ea"/>
              </a:rPr>
              <a:t>上</a:t>
            </a:r>
            <a:r>
              <a:rPr lang="en-US" altLang="zh-CN" sz="2000" dirty="0" smtClean="0">
                <a:latin typeface="+mn-lt"/>
                <a:ea typeface="+mn-ea"/>
              </a:rPr>
              <a:t>,</a:t>
            </a:r>
            <a:r>
              <a:rPr lang="zh-CN" altLang="en-US" sz="2000" dirty="0" smtClean="0">
                <a:latin typeface="+mn-lt"/>
                <a:ea typeface="+mn-ea"/>
              </a:rPr>
              <a:t>下</a:t>
            </a:r>
            <a:r>
              <a:rPr lang="en-US" altLang="zh-CN" sz="2000" dirty="0" smtClean="0">
                <a:latin typeface="+mn-lt"/>
                <a:ea typeface="+mn-ea"/>
              </a:rPr>
              <a:t>&gt;,&lt;</a:t>
            </a:r>
            <a:r>
              <a:rPr lang="zh-CN" altLang="en-US" sz="2000" dirty="0" smtClean="0">
                <a:latin typeface="+mn-lt"/>
                <a:ea typeface="+mn-ea"/>
              </a:rPr>
              <a:t>前</a:t>
            </a:r>
            <a:r>
              <a:rPr lang="en-US" altLang="zh-CN" sz="2000" dirty="0" smtClean="0">
                <a:latin typeface="+mn-lt"/>
                <a:ea typeface="+mn-ea"/>
              </a:rPr>
              <a:t>,</a:t>
            </a:r>
            <a:r>
              <a:rPr lang="zh-CN" altLang="en-US" sz="2000" dirty="0" smtClean="0">
                <a:latin typeface="+mn-lt"/>
                <a:ea typeface="+mn-ea"/>
              </a:rPr>
              <a:t>后</a:t>
            </a:r>
            <a:r>
              <a:rPr lang="en-US" altLang="zh-CN" sz="2000" dirty="0" smtClean="0">
                <a:latin typeface="+mn-lt"/>
                <a:ea typeface="+mn-ea"/>
              </a:rPr>
              <a:t>&gt;,&lt;</a:t>
            </a:r>
            <a:r>
              <a:rPr lang="zh-CN" altLang="en-US" sz="2000" dirty="0" smtClean="0">
                <a:latin typeface="+mn-lt"/>
                <a:ea typeface="+mn-ea"/>
              </a:rPr>
              <a:t>正</a:t>
            </a:r>
            <a:r>
              <a:rPr lang="en-US" altLang="zh-CN" sz="2000" dirty="0" smtClean="0">
                <a:latin typeface="+mn-lt"/>
                <a:ea typeface="+mn-ea"/>
              </a:rPr>
              <a:t>,</a:t>
            </a:r>
            <a:r>
              <a:rPr lang="zh-CN" altLang="en-US" sz="2000" dirty="0" smtClean="0">
                <a:latin typeface="+mn-lt"/>
                <a:ea typeface="+mn-ea"/>
              </a:rPr>
              <a:t>反</a:t>
            </a:r>
            <a:r>
              <a:rPr lang="en-US" altLang="zh-CN" sz="2000" dirty="0" smtClean="0">
                <a:latin typeface="+mn-lt"/>
                <a:ea typeface="+mn-ea"/>
              </a:rPr>
              <a:t>&gt;,&lt;</a:t>
            </a:r>
            <a:r>
              <a:rPr lang="zh-CN" altLang="en-US" sz="2000" dirty="0" smtClean="0">
                <a:latin typeface="+mn-lt"/>
                <a:ea typeface="+mn-ea"/>
              </a:rPr>
              <a:t>左</a:t>
            </a:r>
            <a:r>
              <a:rPr lang="en-US" altLang="zh-CN" sz="2000" dirty="0" smtClean="0">
                <a:latin typeface="+mn-lt"/>
                <a:ea typeface="+mn-ea"/>
              </a:rPr>
              <a:t>,</a:t>
            </a:r>
            <a:r>
              <a:rPr lang="zh-CN" altLang="en-US" sz="2000" dirty="0" smtClean="0">
                <a:latin typeface="+mn-lt"/>
                <a:ea typeface="+mn-ea"/>
              </a:rPr>
              <a:t>右</a:t>
            </a:r>
            <a:r>
              <a:rPr lang="en-US" altLang="zh-CN" sz="2000" dirty="0" smtClean="0">
                <a:latin typeface="+mn-lt"/>
                <a:ea typeface="+mn-ea"/>
              </a:rPr>
              <a:t>&gt;}</a:t>
            </a:r>
            <a:r>
              <a:rPr lang="zh-CN" altLang="en-US" sz="2000" dirty="0" smtClean="0">
                <a:latin typeface="+mn-lt"/>
                <a:ea typeface="+mn-ea"/>
              </a:rPr>
              <a:t>是否为二元关系？</a:t>
            </a:r>
            <a:endParaRPr lang="en-US" altLang="zh-CN" sz="2000" dirty="0" smtClean="0">
              <a:latin typeface="+mn-lt"/>
              <a:ea typeface="+mn-ea"/>
            </a:endParaRPr>
          </a:p>
          <a:p>
            <a:pPr lvl="1" eaLnBrk="1" hangingPunct="1">
              <a:defRPr/>
            </a:pPr>
            <a:endParaRPr lang="en-US" altLang="zh-CN" sz="2000" dirty="0" smtClean="0">
              <a:sym typeface="Symbol" pitchFamily="18" charset="2"/>
            </a:endParaRPr>
          </a:p>
        </p:txBody>
      </p:sp>
    </p:spTree>
    <p:extLst>
      <p:ext uri="{BB962C8B-B14F-4D97-AF65-F5344CB8AC3E}">
        <p14:creationId xmlns:p14="http://schemas.microsoft.com/office/powerpoint/2010/main" val="22701964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22531" name="Rectangle 2"/>
          <p:cNvSpPr>
            <a:spLocks noGrp="1" noChangeArrowheads="1"/>
          </p:cNvSpPr>
          <p:nvPr>
            <p:ph type="title"/>
          </p:nvPr>
        </p:nvSpPr>
        <p:spPr/>
        <p:txBody>
          <a:bodyPr/>
          <a:lstStyle/>
          <a:p>
            <a:pPr eaLnBrk="1" hangingPunct="1"/>
            <a:r>
              <a:rPr lang="en-US" altLang="zh-CN" b="0" dirty="0">
                <a:latin typeface="+mn-ea"/>
              </a:rPr>
              <a:t>1.3.1 </a:t>
            </a:r>
            <a:r>
              <a:rPr lang="zh-CN" altLang="en-US" b="0" dirty="0">
                <a:latin typeface="+mn-ea"/>
              </a:rPr>
              <a:t>集合、</a:t>
            </a:r>
            <a:r>
              <a:rPr lang="zh-CN" altLang="en-US" u="sng" dirty="0">
                <a:latin typeface="+mn-ea"/>
              </a:rPr>
              <a:t>关系</a:t>
            </a:r>
            <a:r>
              <a:rPr lang="zh-CN" altLang="en-US" b="0" dirty="0">
                <a:latin typeface="+mn-ea"/>
              </a:rPr>
              <a:t>、函数</a:t>
            </a:r>
            <a:endParaRPr lang="en-US" altLang="zh-CN" dirty="0" smtClean="0"/>
          </a:p>
        </p:txBody>
      </p:sp>
      <p:sp>
        <p:nvSpPr>
          <p:cNvPr id="95235" name="Rectangle 3"/>
          <p:cNvSpPr>
            <a:spLocks noGrp="1" noChangeArrowheads="1"/>
          </p:cNvSpPr>
          <p:nvPr>
            <p:ph type="body" idx="1"/>
          </p:nvPr>
        </p:nvSpPr>
        <p:spPr/>
        <p:txBody>
          <a:bodyPr/>
          <a:lstStyle/>
          <a:p>
            <a:pPr eaLnBrk="1" hangingPunct="1">
              <a:defRPr/>
            </a:pPr>
            <a:r>
              <a:rPr lang="en-US" altLang="zh-CN" dirty="0" smtClean="0">
                <a:solidFill>
                  <a:srgbClr val="FF0000"/>
                </a:solidFill>
                <a:sym typeface="Symbol" pitchFamily="18" charset="2"/>
              </a:rPr>
              <a:t>R</a:t>
            </a:r>
            <a:r>
              <a:rPr lang="zh-CN" altLang="en-US" dirty="0" smtClean="0">
                <a:solidFill>
                  <a:srgbClr val="FF0000"/>
                </a:solidFill>
                <a:sym typeface="Symbol" pitchFamily="18" charset="2"/>
              </a:rPr>
              <a:t>的定义域</a:t>
            </a:r>
            <a:endParaRPr lang="en-US" altLang="zh-CN" dirty="0" smtClean="0">
              <a:solidFill>
                <a:srgbClr val="FF0000"/>
              </a:solidFill>
              <a:sym typeface="Symbol" pitchFamily="18" charset="2"/>
            </a:endParaRPr>
          </a:p>
          <a:p>
            <a:pPr lvl="1" eaLnBrk="1" hangingPunct="1">
              <a:defRPr/>
            </a:pPr>
            <a:r>
              <a:rPr lang="en-US" altLang="zh-CN" sz="2000" dirty="0" smtClean="0">
                <a:latin typeface="+mn-lt"/>
                <a:ea typeface="+mn-ea"/>
                <a:sym typeface="Symbol" pitchFamily="18" charset="2"/>
              </a:rPr>
              <a:t>R</a:t>
            </a:r>
            <a:r>
              <a:rPr lang="zh-CN" altLang="en-US" sz="2000" dirty="0" smtClean="0">
                <a:latin typeface="+mn-lt"/>
                <a:ea typeface="+mn-ea"/>
                <a:sym typeface="Symbol" pitchFamily="18" charset="2"/>
              </a:rPr>
              <a:t>的定义域，有时写成</a:t>
            </a:r>
            <a:r>
              <a:rPr lang="en-US" altLang="zh-CN" sz="2000" dirty="0" smtClean="0">
                <a:latin typeface="+mn-lt"/>
                <a:ea typeface="+mn-ea"/>
                <a:sym typeface="Symbol" pitchFamily="18" charset="2"/>
              </a:rPr>
              <a:t> Dom (R)</a:t>
            </a:r>
            <a:r>
              <a:rPr lang="zh-CN" altLang="en-US" sz="2000" dirty="0" smtClean="0">
                <a:latin typeface="+mn-lt"/>
                <a:ea typeface="+mn-ea"/>
                <a:sym typeface="Symbol" pitchFamily="18" charset="2"/>
              </a:rPr>
              <a:t>，定义为</a:t>
            </a:r>
            <a:endParaRPr lang="en-US" altLang="zh-CN" sz="2000" dirty="0" smtClean="0">
              <a:latin typeface="+mn-lt"/>
              <a:ea typeface="+mn-ea"/>
              <a:sym typeface="Symbol" pitchFamily="18" charset="2"/>
            </a:endParaRPr>
          </a:p>
          <a:p>
            <a:pPr lvl="2" eaLnBrk="1" hangingPunct="1">
              <a:buFontTx/>
              <a:buNone/>
              <a:defRPr/>
            </a:pPr>
            <a:r>
              <a:rPr lang="en-US" altLang="zh-CN" dirty="0" smtClean="0">
                <a:latin typeface="+mn-lt"/>
                <a:ea typeface="+mn-ea"/>
                <a:sym typeface="Symbol" pitchFamily="18" charset="2"/>
              </a:rPr>
              <a:t>      </a:t>
            </a:r>
            <a:r>
              <a:rPr lang="en-US" altLang="zh-CN" sz="2400" dirty="0" smtClean="0">
                <a:solidFill>
                  <a:srgbClr val="660066"/>
                </a:solidFill>
                <a:latin typeface="+mn-lt"/>
                <a:ea typeface="+mn-ea"/>
                <a:sym typeface="Symbol" pitchFamily="18" charset="2"/>
              </a:rPr>
              <a:t>Dom (R)= {a| </a:t>
            </a:r>
            <a:r>
              <a:rPr lang="zh-CN" altLang="en-US" sz="2400" dirty="0" smtClean="0">
                <a:solidFill>
                  <a:srgbClr val="660066"/>
                </a:solidFill>
                <a:latin typeface="+mn-lt"/>
                <a:ea typeface="+mn-ea"/>
                <a:sym typeface="Symbol" pitchFamily="18" charset="2"/>
              </a:rPr>
              <a:t>对某个</a:t>
            </a:r>
            <a:r>
              <a:rPr lang="en-US" altLang="zh-CN" sz="2400" dirty="0" err="1" smtClean="0">
                <a:solidFill>
                  <a:srgbClr val="660066"/>
                </a:solidFill>
                <a:latin typeface="+mn-lt"/>
                <a:ea typeface="+mn-ea"/>
                <a:sym typeface="Symbol" pitchFamily="18" charset="2"/>
              </a:rPr>
              <a:t>bB</a:t>
            </a:r>
            <a:r>
              <a:rPr lang="en-US" altLang="zh-CN" sz="2400" dirty="0" smtClean="0">
                <a:solidFill>
                  <a:srgbClr val="660066"/>
                </a:solidFill>
                <a:latin typeface="+mn-lt"/>
                <a:ea typeface="+mn-ea"/>
                <a:sym typeface="Symbol" pitchFamily="18" charset="2"/>
              </a:rPr>
              <a:t>, (</a:t>
            </a:r>
            <a:r>
              <a:rPr lang="en-US" altLang="zh-CN" sz="2400" dirty="0" err="1" smtClean="0">
                <a:solidFill>
                  <a:srgbClr val="660066"/>
                </a:solidFill>
                <a:latin typeface="+mn-lt"/>
                <a:ea typeface="+mn-ea"/>
                <a:sym typeface="Symbol" pitchFamily="18" charset="2"/>
              </a:rPr>
              <a:t>a,b</a:t>
            </a:r>
            <a:r>
              <a:rPr lang="en-US" altLang="zh-CN" sz="2400" dirty="0" smtClean="0">
                <a:solidFill>
                  <a:srgbClr val="660066"/>
                </a:solidFill>
                <a:latin typeface="+mn-lt"/>
                <a:ea typeface="+mn-ea"/>
                <a:sym typeface="Symbol" pitchFamily="18" charset="2"/>
              </a:rPr>
              <a:t>) R}</a:t>
            </a:r>
          </a:p>
          <a:p>
            <a:pPr eaLnBrk="1" hangingPunct="1">
              <a:defRPr/>
            </a:pPr>
            <a:r>
              <a:rPr lang="en-US" altLang="zh-CN" dirty="0" smtClean="0">
                <a:solidFill>
                  <a:srgbClr val="FF0000"/>
                </a:solidFill>
                <a:sym typeface="Symbol" pitchFamily="18" charset="2"/>
              </a:rPr>
              <a:t>R</a:t>
            </a:r>
            <a:r>
              <a:rPr lang="zh-CN" altLang="en-US" dirty="0" smtClean="0">
                <a:solidFill>
                  <a:srgbClr val="FF0000"/>
                </a:solidFill>
                <a:sym typeface="Symbol" pitchFamily="18" charset="2"/>
              </a:rPr>
              <a:t>的值域</a:t>
            </a:r>
            <a:endParaRPr lang="en-US" altLang="zh-CN" dirty="0" smtClean="0">
              <a:solidFill>
                <a:srgbClr val="FF0000"/>
              </a:solidFill>
              <a:sym typeface="Symbol" pitchFamily="18" charset="2"/>
            </a:endParaRPr>
          </a:p>
          <a:p>
            <a:pPr lvl="1" eaLnBrk="1" hangingPunct="1">
              <a:defRPr/>
            </a:pPr>
            <a:r>
              <a:rPr lang="en-US" altLang="zh-CN" sz="2000" dirty="0" smtClean="0">
                <a:latin typeface="+mn-lt"/>
                <a:ea typeface="+mn-ea"/>
                <a:sym typeface="Symbol" pitchFamily="18" charset="2"/>
              </a:rPr>
              <a:t>R</a:t>
            </a:r>
            <a:r>
              <a:rPr lang="zh-CN" altLang="en-US" sz="2000" dirty="0" smtClean="0">
                <a:latin typeface="+mn-lt"/>
                <a:ea typeface="+mn-ea"/>
                <a:sym typeface="Symbol" pitchFamily="18" charset="2"/>
              </a:rPr>
              <a:t>的值域</a:t>
            </a:r>
            <a:r>
              <a:rPr lang="en-US" altLang="zh-CN" sz="2000" dirty="0" smtClean="0">
                <a:latin typeface="+mn-lt"/>
                <a:ea typeface="+mn-ea"/>
                <a:sym typeface="Symbol" pitchFamily="18" charset="2"/>
              </a:rPr>
              <a:t>, </a:t>
            </a:r>
            <a:r>
              <a:rPr lang="zh-CN" altLang="en-US" sz="2000" dirty="0" smtClean="0">
                <a:latin typeface="+mn-lt"/>
                <a:ea typeface="+mn-ea"/>
                <a:sym typeface="Symbol" pitchFamily="18" charset="2"/>
              </a:rPr>
              <a:t>有时写成</a:t>
            </a:r>
            <a:r>
              <a:rPr lang="en-US" altLang="zh-CN" sz="2000" dirty="0" smtClean="0">
                <a:latin typeface="+mn-lt"/>
                <a:ea typeface="+mn-ea"/>
                <a:sym typeface="Symbol" pitchFamily="18" charset="2"/>
              </a:rPr>
              <a:t> Ran (R), </a:t>
            </a:r>
            <a:r>
              <a:rPr lang="zh-CN" altLang="en-US" sz="2000" dirty="0" smtClean="0">
                <a:latin typeface="+mn-lt"/>
                <a:ea typeface="+mn-ea"/>
                <a:sym typeface="Symbol" pitchFamily="18" charset="2"/>
              </a:rPr>
              <a:t>定义为</a:t>
            </a:r>
            <a:endParaRPr lang="en-US" altLang="zh-CN" sz="2000" dirty="0" smtClean="0">
              <a:latin typeface="+mn-lt"/>
              <a:ea typeface="+mn-ea"/>
              <a:sym typeface="Symbol" pitchFamily="18" charset="2"/>
            </a:endParaRPr>
          </a:p>
          <a:p>
            <a:pPr lvl="2" eaLnBrk="1" hangingPunct="1">
              <a:buFontTx/>
              <a:buNone/>
              <a:defRPr/>
            </a:pPr>
            <a:r>
              <a:rPr lang="en-US" altLang="zh-CN" dirty="0" smtClean="0">
                <a:latin typeface="+mn-lt"/>
                <a:ea typeface="+mn-ea"/>
                <a:sym typeface="Symbol" pitchFamily="18" charset="2"/>
              </a:rPr>
              <a:t>      </a:t>
            </a:r>
            <a:r>
              <a:rPr lang="en-US" altLang="zh-CN" sz="2400" dirty="0" smtClean="0">
                <a:solidFill>
                  <a:srgbClr val="660066"/>
                </a:solidFill>
                <a:latin typeface="+mn-lt"/>
                <a:ea typeface="+mn-ea"/>
                <a:sym typeface="Symbol" pitchFamily="18" charset="2"/>
              </a:rPr>
              <a:t>Ran (R)= {b| </a:t>
            </a:r>
            <a:r>
              <a:rPr lang="zh-CN" altLang="en-US" sz="2400" dirty="0" smtClean="0">
                <a:solidFill>
                  <a:srgbClr val="660066"/>
                </a:solidFill>
                <a:latin typeface="+mn-lt"/>
                <a:ea typeface="+mn-ea"/>
                <a:sym typeface="Symbol" pitchFamily="18" charset="2"/>
              </a:rPr>
              <a:t>对某个</a:t>
            </a:r>
            <a:r>
              <a:rPr lang="en-US" altLang="zh-CN" sz="2400" dirty="0" err="1" smtClean="0">
                <a:solidFill>
                  <a:srgbClr val="660066"/>
                </a:solidFill>
                <a:latin typeface="+mn-lt"/>
                <a:ea typeface="+mn-ea"/>
                <a:sym typeface="Symbol" pitchFamily="18" charset="2"/>
              </a:rPr>
              <a:t>aA</a:t>
            </a:r>
            <a:r>
              <a:rPr lang="en-US" altLang="zh-CN" sz="2400" dirty="0" smtClean="0">
                <a:solidFill>
                  <a:srgbClr val="660066"/>
                </a:solidFill>
                <a:latin typeface="+mn-lt"/>
                <a:ea typeface="+mn-ea"/>
                <a:sym typeface="Symbol" pitchFamily="18" charset="2"/>
              </a:rPr>
              <a:t>, (</a:t>
            </a:r>
            <a:r>
              <a:rPr lang="en-US" altLang="zh-CN" sz="2400" dirty="0" err="1" smtClean="0">
                <a:solidFill>
                  <a:srgbClr val="660066"/>
                </a:solidFill>
                <a:latin typeface="+mn-lt"/>
                <a:ea typeface="+mn-ea"/>
                <a:sym typeface="Symbol" pitchFamily="18" charset="2"/>
              </a:rPr>
              <a:t>a,b</a:t>
            </a:r>
            <a:r>
              <a:rPr lang="en-US" altLang="zh-CN" sz="2400" dirty="0" smtClean="0">
                <a:solidFill>
                  <a:srgbClr val="660066"/>
                </a:solidFill>
                <a:latin typeface="+mn-lt"/>
                <a:ea typeface="+mn-ea"/>
                <a:sym typeface="Symbol" pitchFamily="18" charset="2"/>
              </a:rPr>
              <a:t>) R}</a:t>
            </a:r>
            <a:endParaRPr lang="en-US" altLang="zh-CN" sz="2400" dirty="0">
              <a:solidFill>
                <a:srgbClr val="660066"/>
              </a:solidFill>
              <a:latin typeface="+mn-lt"/>
              <a:ea typeface="+mn-ea"/>
            </a:endParaRPr>
          </a:p>
        </p:txBody>
      </p:sp>
    </p:spTree>
    <p:extLst>
      <p:ext uri="{BB962C8B-B14F-4D97-AF65-F5344CB8AC3E}">
        <p14:creationId xmlns:p14="http://schemas.microsoft.com/office/powerpoint/2010/main" val="22764766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24579" name="Rectangle 2"/>
          <p:cNvSpPr>
            <a:spLocks noGrp="1" noChangeArrowheads="1"/>
          </p:cNvSpPr>
          <p:nvPr>
            <p:ph type="title"/>
          </p:nvPr>
        </p:nvSpPr>
        <p:spPr/>
        <p:txBody>
          <a:bodyPr/>
          <a:lstStyle/>
          <a:p>
            <a:pPr eaLnBrk="1" hangingPunct="1"/>
            <a:r>
              <a:rPr lang="en-US" altLang="zh-CN" b="0" dirty="0">
                <a:latin typeface="+mn-ea"/>
              </a:rPr>
              <a:t>1.3.1 </a:t>
            </a:r>
            <a:r>
              <a:rPr lang="zh-CN" altLang="en-US" b="0" dirty="0">
                <a:latin typeface="+mn-ea"/>
              </a:rPr>
              <a:t>集合、</a:t>
            </a:r>
            <a:r>
              <a:rPr lang="zh-CN" altLang="en-US" u="sng" dirty="0">
                <a:latin typeface="+mn-ea"/>
              </a:rPr>
              <a:t>关系</a:t>
            </a:r>
            <a:r>
              <a:rPr lang="zh-CN" altLang="en-US" b="0" dirty="0">
                <a:latin typeface="+mn-ea"/>
              </a:rPr>
              <a:t>、函数</a:t>
            </a:r>
            <a:endParaRPr lang="en-US" altLang="zh-CN" dirty="0" smtClean="0"/>
          </a:p>
        </p:txBody>
      </p:sp>
      <p:sp>
        <p:nvSpPr>
          <p:cNvPr id="24580" name="Rectangle 3"/>
          <p:cNvSpPr>
            <a:spLocks noGrp="1" noChangeArrowheads="1"/>
          </p:cNvSpPr>
          <p:nvPr>
            <p:ph type="body" idx="1"/>
          </p:nvPr>
        </p:nvSpPr>
        <p:spPr/>
        <p:txBody>
          <a:bodyPr/>
          <a:lstStyle/>
          <a:p>
            <a:pPr eaLnBrk="1" hangingPunct="1"/>
            <a:r>
              <a:rPr lang="zh-CN" altLang="en-US" dirty="0" smtClean="0"/>
              <a:t>例</a:t>
            </a:r>
            <a:r>
              <a:rPr lang="zh-CN" altLang="en-US" dirty="0"/>
              <a:t>子</a:t>
            </a:r>
            <a:endParaRPr lang="en-US" altLang="zh-CN" dirty="0" smtClean="0"/>
          </a:p>
          <a:p>
            <a:pPr marL="576000" indent="0" eaLnBrk="1" hangingPunct="1">
              <a:buNone/>
            </a:pPr>
            <a:r>
              <a:rPr lang="zh-CN" altLang="en-US" dirty="0" smtClean="0"/>
              <a:t>设</a:t>
            </a:r>
            <a:r>
              <a:rPr lang="en-US" altLang="zh-CN" dirty="0" smtClean="0"/>
              <a:t> </a:t>
            </a:r>
            <a:r>
              <a:rPr lang="en-US" altLang="zh-CN" dirty="0" err="1" smtClean="0"/>
              <a:t>R</a:t>
            </a:r>
            <a:r>
              <a:rPr lang="en-US" altLang="zh-CN" baseline="-25000" dirty="0" err="1" smtClean="0"/>
              <a:t>1</a:t>
            </a:r>
            <a:r>
              <a:rPr lang="en-US" altLang="zh-CN" dirty="0" smtClean="0"/>
              <a:t>={(2,5), (3,3)}, </a:t>
            </a:r>
          </a:p>
          <a:p>
            <a:pPr marL="576000" indent="0" eaLnBrk="1" hangingPunct="1">
              <a:buNone/>
            </a:pPr>
            <a:r>
              <a:rPr lang="en-US" altLang="zh-CN" dirty="0" err="1" smtClean="0"/>
              <a:t>R</a:t>
            </a:r>
            <a:r>
              <a:rPr lang="en-US" altLang="zh-CN" baseline="-25000" dirty="0" err="1" smtClean="0"/>
              <a:t>2</a:t>
            </a:r>
            <a:r>
              <a:rPr lang="en-US" altLang="zh-CN" dirty="0" smtClean="0"/>
              <a:t>={(</a:t>
            </a:r>
            <a:r>
              <a:rPr lang="en-US" altLang="zh-CN" dirty="0" err="1" smtClean="0"/>
              <a:t>x,y</a:t>
            </a:r>
            <a:r>
              <a:rPr lang="en-US" altLang="zh-CN" dirty="0" smtClean="0"/>
              <a:t>)|x, y </a:t>
            </a:r>
            <a:r>
              <a:rPr lang="zh-CN" altLang="en-US" dirty="0" smtClean="0"/>
              <a:t>是正整数，且</a:t>
            </a:r>
            <a:r>
              <a:rPr lang="en-US" altLang="zh-CN" dirty="0" smtClean="0"/>
              <a:t> </a:t>
            </a:r>
            <a:r>
              <a:rPr lang="en-US" altLang="zh-CN" dirty="0" err="1" smtClean="0"/>
              <a:t>x</a:t>
            </a:r>
            <a:r>
              <a:rPr lang="en-US" altLang="zh-CN" dirty="0" err="1" smtClean="0">
                <a:sym typeface="Symbol" panose="05050102010706020507" pitchFamily="18" charset="2"/>
              </a:rPr>
              <a:t>y</a:t>
            </a:r>
            <a:r>
              <a:rPr lang="en-US" altLang="zh-CN" dirty="0" smtClean="0"/>
              <a:t>}</a:t>
            </a:r>
            <a:r>
              <a:rPr lang="zh-CN" altLang="en-US" dirty="0" smtClean="0"/>
              <a:t>，</a:t>
            </a:r>
            <a:endParaRPr lang="en-US" altLang="zh-CN" dirty="0" smtClean="0"/>
          </a:p>
          <a:p>
            <a:pPr marL="576000" indent="0" eaLnBrk="1" hangingPunct="1">
              <a:buNone/>
            </a:pPr>
            <a:r>
              <a:rPr lang="en-US" altLang="zh-CN" dirty="0" err="1" smtClean="0"/>
              <a:t>R</a:t>
            </a:r>
            <a:r>
              <a:rPr lang="en-US" altLang="zh-CN" baseline="-25000" dirty="0" err="1" smtClean="0"/>
              <a:t>3</a:t>
            </a:r>
            <a:r>
              <a:rPr lang="en-US" altLang="zh-CN" dirty="0" smtClean="0"/>
              <a:t>={(</a:t>
            </a:r>
            <a:r>
              <a:rPr lang="en-US" altLang="zh-CN" dirty="0" err="1" smtClean="0"/>
              <a:t>x,y</a:t>
            </a:r>
            <a:r>
              <a:rPr lang="en-US" altLang="zh-CN" dirty="0" smtClean="0"/>
              <a:t>)|x, y </a:t>
            </a:r>
            <a:r>
              <a:rPr lang="zh-CN" altLang="en-US" dirty="0" smtClean="0"/>
              <a:t>是实数，且</a:t>
            </a:r>
            <a:r>
              <a:rPr lang="en-US" altLang="zh-CN" dirty="0" smtClean="0"/>
              <a:t> </a:t>
            </a:r>
            <a:r>
              <a:rPr lang="en-US" altLang="zh-CN" dirty="0" err="1" smtClean="0"/>
              <a:t>x</a:t>
            </a:r>
            <a:r>
              <a:rPr lang="en-US" altLang="zh-CN" baseline="30000" dirty="0" err="1" smtClean="0"/>
              <a:t>2</a:t>
            </a:r>
            <a:r>
              <a:rPr lang="en-US" altLang="zh-CN" dirty="0" err="1" smtClean="0"/>
              <a:t>+y</a:t>
            </a:r>
            <a:r>
              <a:rPr lang="en-US" altLang="zh-CN" baseline="30000" dirty="0" err="1" smtClean="0"/>
              <a:t>2</a:t>
            </a:r>
            <a:r>
              <a:rPr lang="en-US" altLang="zh-CN" dirty="0" err="1" smtClean="0">
                <a:sym typeface="Symbol" panose="05050102010706020507" pitchFamily="18" charset="2"/>
              </a:rPr>
              <a:t>1</a:t>
            </a:r>
            <a:r>
              <a:rPr lang="en-US" altLang="zh-CN" dirty="0" smtClean="0"/>
              <a:t>}. </a:t>
            </a:r>
          </a:p>
          <a:p>
            <a:pPr eaLnBrk="1" hangingPunct="1">
              <a:buFontTx/>
              <a:buNone/>
            </a:pPr>
            <a:r>
              <a:rPr lang="en-US" altLang="zh-CN" dirty="0" smtClean="0"/>
              <a:t>	</a:t>
            </a:r>
          </a:p>
          <a:p>
            <a:pPr eaLnBrk="1" hangingPunct="1">
              <a:buFontTx/>
              <a:buNone/>
            </a:pPr>
            <a:r>
              <a:rPr lang="en-US" altLang="zh-CN" dirty="0" smtClean="0"/>
              <a:t>	   </a:t>
            </a:r>
            <a:r>
              <a:rPr lang="zh-CN" altLang="en-US" dirty="0" smtClean="0"/>
              <a:t>那么</a:t>
            </a:r>
            <a:r>
              <a:rPr lang="en-US" altLang="zh-CN" dirty="0" smtClean="0"/>
              <a:t> Dom(</a:t>
            </a:r>
            <a:r>
              <a:rPr lang="en-US" altLang="zh-CN" dirty="0" err="1" smtClean="0"/>
              <a:t>R</a:t>
            </a:r>
            <a:r>
              <a:rPr lang="en-US" altLang="zh-CN" baseline="-25000" dirty="0" err="1" smtClean="0"/>
              <a:t>1</a:t>
            </a:r>
            <a:r>
              <a:rPr lang="en-US" altLang="zh-CN" dirty="0" smtClean="0"/>
              <a:t>)={2,3} </a:t>
            </a:r>
            <a:r>
              <a:rPr lang="zh-CN" altLang="en-US" dirty="0" smtClean="0"/>
              <a:t>，</a:t>
            </a:r>
            <a:r>
              <a:rPr lang="en-US" altLang="zh-CN" dirty="0" smtClean="0"/>
              <a:t>Ran(</a:t>
            </a:r>
            <a:r>
              <a:rPr lang="en-US" altLang="zh-CN" dirty="0" err="1" smtClean="0"/>
              <a:t>R</a:t>
            </a:r>
            <a:r>
              <a:rPr lang="en-US" altLang="zh-CN" baseline="-25000" dirty="0" err="1" smtClean="0"/>
              <a:t>1</a:t>
            </a:r>
            <a:r>
              <a:rPr lang="en-US" altLang="zh-CN" dirty="0" smtClean="0"/>
              <a:t>)={5,3}, Dom(</a:t>
            </a:r>
            <a:r>
              <a:rPr lang="en-US" altLang="zh-CN" dirty="0" err="1" smtClean="0"/>
              <a:t>R</a:t>
            </a:r>
            <a:r>
              <a:rPr lang="en-US" altLang="zh-CN" baseline="-25000" dirty="0" err="1" smtClean="0"/>
              <a:t>2</a:t>
            </a:r>
            <a:r>
              <a:rPr lang="en-US" altLang="zh-CN" dirty="0" smtClean="0"/>
              <a:t>)= Ran(</a:t>
            </a:r>
            <a:r>
              <a:rPr lang="en-US" altLang="zh-CN" dirty="0" err="1" smtClean="0"/>
              <a:t>R</a:t>
            </a:r>
            <a:r>
              <a:rPr lang="en-US" altLang="zh-CN" baseline="-25000" dirty="0" err="1" smtClean="0"/>
              <a:t>2</a:t>
            </a:r>
            <a:r>
              <a:rPr lang="en-US" altLang="zh-CN" baseline="-25000" dirty="0" smtClean="0"/>
              <a:t> </a:t>
            </a:r>
            <a:r>
              <a:rPr lang="en-US" altLang="zh-CN" dirty="0" smtClean="0"/>
              <a:t>) </a:t>
            </a:r>
            <a:r>
              <a:rPr lang="zh-CN" altLang="en-US" dirty="0" smtClean="0"/>
              <a:t>是自然数集合</a:t>
            </a:r>
            <a:r>
              <a:rPr lang="en-US" altLang="zh-CN" dirty="0" smtClean="0"/>
              <a:t>, Dom(</a:t>
            </a:r>
            <a:r>
              <a:rPr lang="en-US" altLang="zh-CN" dirty="0" err="1" smtClean="0"/>
              <a:t>R</a:t>
            </a:r>
            <a:r>
              <a:rPr lang="en-US" altLang="zh-CN" baseline="-25000" dirty="0" err="1" smtClean="0"/>
              <a:t>3</a:t>
            </a:r>
            <a:r>
              <a:rPr lang="en-US" altLang="zh-CN" dirty="0" smtClean="0"/>
              <a:t>)= Ran(</a:t>
            </a:r>
            <a:r>
              <a:rPr lang="en-US" altLang="zh-CN" dirty="0" err="1" smtClean="0"/>
              <a:t>R</a:t>
            </a:r>
            <a:r>
              <a:rPr lang="en-US" altLang="zh-CN" baseline="-25000" dirty="0" err="1" smtClean="0"/>
              <a:t>3</a:t>
            </a:r>
            <a:r>
              <a:rPr lang="en-US" altLang="zh-CN" baseline="-25000" dirty="0" smtClean="0"/>
              <a:t> </a:t>
            </a:r>
            <a:r>
              <a:rPr lang="en-US" altLang="zh-CN" dirty="0" smtClean="0"/>
              <a:t>) </a:t>
            </a:r>
            <a:r>
              <a:rPr lang="zh-CN" altLang="en-US" dirty="0" smtClean="0"/>
              <a:t>是在区间</a:t>
            </a:r>
            <a:r>
              <a:rPr lang="en-US" altLang="zh-CN" dirty="0" smtClean="0"/>
              <a:t>[-1..1]</a:t>
            </a:r>
            <a:r>
              <a:rPr lang="zh-CN" altLang="en-US" dirty="0" smtClean="0"/>
              <a:t>中的实数集合</a:t>
            </a:r>
            <a:r>
              <a:rPr lang="en-US" altLang="zh-CN" dirty="0" smtClean="0"/>
              <a:t>.</a:t>
            </a:r>
          </a:p>
        </p:txBody>
      </p:sp>
    </p:spTree>
    <p:extLst>
      <p:ext uri="{BB962C8B-B14F-4D97-AF65-F5344CB8AC3E}">
        <p14:creationId xmlns:p14="http://schemas.microsoft.com/office/powerpoint/2010/main" val="236805378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26627" name="Rectangle 2"/>
          <p:cNvSpPr>
            <a:spLocks noGrp="1" noChangeArrowheads="1"/>
          </p:cNvSpPr>
          <p:nvPr>
            <p:ph type="title"/>
          </p:nvPr>
        </p:nvSpPr>
        <p:spPr/>
        <p:txBody>
          <a:bodyPr/>
          <a:lstStyle/>
          <a:p>
            <a:pPr eaLnBrk="1" hangingPunct="1"/>
            <a:r>
              <a:rPr lang="en-US" altLang="zh-CN" b="0" dirty="0">
                <a:latin typeface="+mn-ea"/>
              </a:rPr>
              <a:t>1.3.1 </a:t>
            </a:r>
            <a:r>
              <a:rPr lang="zh-CN" altLang="en-US" b="0" dirty="0">
                <a:latin typeface="+mn-ea"/>
              </a:rPr>
              <a:t>集合、</a:t>
            </a:r>
            <a:r>
              <a:rPr lang="zh-CN" altLang="en-US" u="sng" dirty="0">
                <a:latin typeface="+mn-ea"/>
              </a:rPr>
              <a:t>关系</a:t>
            </a:r>
            <a:r>
              <a:rPr lang="zh-CN" altLang="en-US" b="0" dirty="0">
                <a:latin typeface="+mn-ea"/>
              </a:rPr>
              <a:t>、函数</a:t>
            </a:r>
            <a:endParaRPr lang="en-US" altLang="zh-CN" dirty="0" smtClean="0"/>
          </a:p>
        </p:txBody>
      </p:sp>
      <p:sp>
        <p:nvSpPr>
          <p:cNvPr id="96259" name="Rectangle 3"/>
          <p:cNvSpPr>
            <a:spLocks noGrp="1" noChangeArrowheads="1"/>
          </p:cNvSpPr>
          <p:nvPr>
            <p:ph type="body" idx="1"/>
          </p:nvPr>
        </p:nvSpPr>
        <p:spPr>
          <a:xfrm>
            <a:off x="914400" y="1250950"/>
            <a:ext cx="8229600" cy="5294313"/>
          </a:xfrm>
        </p:spPr>
        <p:txBody>
          <a:bodyPr/>
          <a:lstStyle/>
          <a:p>
            <a:pPr eaLnBrk="1" hangingPunct="1">
              <a:buFontTx/>
              <a:buNone/>
              <a:defRPr/>
            </a:pPr>
            <a:r>
              <a:rPr lang="zh-CN" altLang="en-US" sz="2000" dirty="0" smtClean="0"/>
              <a:t>设</a:t>
            </a:r>
            <a:r>
              <a:rPr lang="en-US" altLang="zh-CN" sz="2000" dirty="0" smtClean="0"/>
              <a:t>R</a:t>
            </a:r>
            <a:r>
              <a:rPr lang="zh-CN" altLang="en-US" sz="2000" dirty="0" smtClean="0"/>
              <a:t>是在集合</a:t>
            </a:r>
            <a:r>
              <a:rPr lang="en-US" altLang="zh-CN" sz="2000" dirty="0" smtClean="0"/>
              <a:t>A</a:t>
            </a:r>
            <a:r>
              <a:rPr lang="zh-CN" altLang="en-US" sz="2000" dirty="0" smtClean="0"/>
              <a:t>上的关系</a:t>
            </a:r>
            <a:r>
              <a:rPr lang="en-US" altLang="zh-CN" sz="2000" dirty="0" smtClean="0"/>
              <a:t>.</a:t>
            </a:r>
          </a:p>
          <a:p>
            <a:pPr eaLnBrk="1" hangingPunct="1">
              <a:defRPr/>
            </a:pPr>
            <a:r>
              <a:rPr lang="zh-CN" altLang="en-US" sz="1800" dirty="0" smtClean="0">
                <a:solidFill>
                  <a:srgbClr val="FF0000"/>
                </a:solidFill>
              </a:rPr>
              <a:t>自反</a:t>
            </a:r>
            <a:r>
              <a:rPr lang="en-US" altLang="zh-CN" sz="1800" dirty="0" smtClean="0">
                <a:solidFill>
                  <a:srgbClr val="FF0000"/>
                </a:solidFill>
              </a:rPr>
              <a:t>/</a:t>
            </a:r>
            <a:r>
              <a:rPr lang="zh-CN" altLang="en-US" sz="1800" dirty="0" smtClean="0">
                <a:solidFill>
                  <a:srgbClr val="FF0000"/>
                </a:solidFill>
              </a:rPr>
              <a:t>反自反</a:t>
            </a:r>
            <a:endParaRPr lang="en-US" altLang="zh-CN" sz="1900" dirty="0" smtClean="0">
              <a:solidFill>
                <a:srgbClr val="FF0000"/>
              </a:solidFill>
            </a:endParaRPr>
          </a:p>
          <a:p>
            <a:pPr lvl="1" eaLnBrk="1" hangingPunct="1">
              <a:defRPr/>
            </a:pPr>
            <a:r>
              <a:rPr lang="zh-CN" altLang="en-US" sz="1900" dirty="0" smtClean="0">
                <a:latin typeface="+mn-lt"/>
                <a:ea typeface="+mn-ea"/>
              </a:rPr>
              <a:t>如果对所有的</a:t>
            </a:r>
            <a:r>
              <a:rPr lang="en-US" altLang="zh-CN" sz="1900" dirty="0" smtClean="0">
                <a:latin typeface="+mn-lt"/>
                <a:ea typeface="+mn-ea"/>
                <a:sym typeface="Symbol" pitchFamily="18" charset="2"/>
              </a:rPr>
              <a:t>a A </a:t>
            </a:r>
            <a:r>
              <a:rPr lang="zh-CN" altLang="en-US" sz="1900" dirty="0" smtClean="0">
                <a:latin typeface="+mn-lt"/>
                <a:ea typeface="+mn-ea"/>
                <a:sym typeface="Symbol" pitchFamily="18" charset="2"/>
              </a:rPr>
              <a:t>，有</a:t>
            </a:r>
            <a:r>
              <a:rPr lang="en-US" altLang="zh-CN" sz="1900" dirty="0" smtClean="0">
                <a:latin typeface="+mn-lt"/>
                <a:ea typeface="+mn-ea"/>
              </a:rPr>
              <a:t>(</a:t>
            </a:r>
            <a:r>
              <a:rPr lang="en-US" altLang="zh-CN" sz="1900" dirty="0" err="1" smtClean="0">
                <a:latin typeface="+mn-lt"/>
                <a:ea typeface="+mn-ea"/>
              </a:rPr>
              <a:t>a,a</a:t>
            </a:r>
            <a:r>
              <a:rPr lang="en-US" altLang="zh-CN" sz="1900" dirty="0" smtClean="0">
                <a:latin typeface="+mn-lt"/>
                <a:ea typeface="+mn-ea"/>
              </a:rPr>
              <a:t>)</a:t>
            </a:r>
            <a:r>
              <a:rPr lang="en-US" altLang="zh-CN" sz="1900" dirty="0" smtClean="0">
                <a:latin typeface="+mn-lt"/>
                <a:ea typeface="+mn-ea"/>
                <a:sym typeface="Symbol" pitchFamily="18" charset="2"/>
              </a:rPr>
              <a:t>R </a:t>
            </a:r>
            <a:r>
              <a:rPr lang="zh-CN" altLang="en-US" sz="1900" dirty="0" smtClean="0">
                <a:latin typeface="+mn-lt"/>
                <a:ea typeface="+mn-ea"/>
                <a:sym typeface="Symbol" pitchFamily="18" charset="2"/>
              </a:rPr>
              <a:t>，则称</a:t>
            </a:r>
            <a:r>
              <a:rPr lang="en-US" altLang="zh-CN" sz="1900" dirty="0" smtClean="0">
                <a:latin typeface="+mn-lt"/>
                <a:ea typeface="+mn-ea"/>
                <a:sym typeface="Symbol" pitchFamily="18" charset="2"/>
              </a:rPr>
              <a:t>R</a:t>
            </a:r>
            <a:r>
              <a:rPr lang="zh-CN" altLang="en-US" sz="1900" dirty="0" smtClean="0">
                <a:latin typeface="+mn-lt"/>
                <a:ea typeface="+mn-ea"/>
                <a:sym typeface="Symbol" pitchFamily="18" charset="2"/>
              </a:rPr>
              <a:t>是自反的；</a:t>
            </a:r>
            <a:endParaRPr lang="en-US" altLang="zh-CN" sz="1900" dirty="0" smtClean="0">
              <a:latin typeface="+mn-lt"/>
              <a:ea typeface="+mn-ea"/>
              <a:sym typeface="Symbol" pitchFamily="18" charset="2"/>
            </a:endParaRPr>
          </a:p>
          <a:p>
            <a:pPr lvl="1" eaLnBrk="1" hangingPunct="1">
              <a:defRPr/>
            </a:pPr>
            <a:r>
              <a:rPr lang="zh-CN" altLang="en-US" sz="1900" dirty="0" smtClean="0">
                <a:latin typeface="+mn-lt"/>
                <a:ea typeface="+mn-ea"/>
              </a:rPr>
              <a:t>如果对所有的</a:t>
            </a:r>
            <a:r>
              <a:rPr lang="en-US" altLang="zh-CN" sz="1900" dirty="0" smtClean="0">
                <a:latin typeface="+mn-lt"/>
                <a:ea typeface="+mn-ea"/>
                <a:sym typeface="Symbol" pitchFamily="18" charset="2"/>
              </a:rPr>
              <a:t>a A </a:t>
            </a:r>
            <a:r>
              <a:rPr lang="zh-CN" altLang="en-US" sz="1900" dirty="0" smtClean="0">
                <a:latin typeface="+mn-lt"/>
                <a:ea typeface="+mn-ea"/>
                <a:sym typeface="Symbol" pitchFamily="18" charset="2"/>
              </a:rPr>
              <a:t>，有</a:t>
            </a:r>
            <a:r>
              <a:rPr lang="en-US" altLang="zh-CN" sz="1900" dirty="0" smtClean="0">
                <a:latin typeface="+mn-lt"/>
                <a:ea typeface="+mn-ea"/>
                <a:sym typeface="Symbol" pitchFamily="18" charset="2"/>
              </a:rPr>
              <a:t>(</a:t>
            </a:r>
            <a:r>
              <a:rPr lang="en-US" altLang="zh-CN" sz="1900" dirty="0" err="1" smtClean="0">
                <a:latin typeface="+mn-lt"/>
                <a:ea typeface="+mn-ea"/>
                <a:sym typeface="Symbol" pitchFamily="18" charset="2"/>
              </a:rPr>
              <a:t>a,a</a:t>
            </a:r>
            <a:r>
              <a:rPr lang="en-US" altLang="zh-CN" sz="1900" dirty="0" smtClean="0">
                <a:latin typeface="+mn-lt"/>
                <a:ea typeface="+mn-ea"/>
                <a:sym typeface="Symbol" pitchFamily="18" charset="2"/>
              </a:rPr>
              <a:t>)R </a:t>
            </a:r>
            <a:r>
              <a:rPr lang="zh-CN" altLang="en-US" sz="1900" dirty="0" smtClean="0">
                <a:latin typeface="+mn-lt"/>
                <a:ea typeface="+mn-ea"/>
                <a:sym typeface="Symbol" pitchFamily="18" charset="2"/>
              </a:rPr>
              <a:t>，则称</a:t>
            </a:r>
            <a:r>
              <a:rPr lang="en-US" altLang="zh-CN" sz="1900" dirty="0" smtClean="0">
                <a:latin typeface="+mn-lt"/>
                <a:ea typeface="+mn-ea"/>
                <a:sym typeface="Symbol" pitchFamily="18" charset="2"/>
              </a:rPr>
              <a:t>R</a:t>
            </a:r>
            <a:r>
              <a:rPr lang="zh-CN" altLang="en-US" sz="1900" dirty="0" smtClean="0">
                <a:latin typeface="+mn-lt"/>
                <a:ea typeface="+mn-ea"/>
                <a:sym typeface="Symbol" pitchFamily="18" charset="2"/>
              </a:rPr>
              <a:t>是反自反的；</a:t>
            </a:r>
            <a:endParaRPr lang="en-US" altLang="zh-CN" sz="1900" dirty="0" smtClean="0">
              <a:latin typeface="+mn-lt"/>
              <a:ea typeface="+mn-ea"/>
              <a:sym typeface="Symbol" pitchFamily="18" charset="2"/>
            </a:endParaRPr>
          </a:p>
          <a:p>
            <a:pPr eaLnBrk="1" hangingPunct="1">
              <a:defRPr/>
            </a:pPr>
            <a:r>
              <a:rPr lang="zh-CN" altLang="en-US" sz="1800" dirty="0" smtClean="0">
                <a:solidFill>
                  <a:srgbClr val="FF0000"/>
                </a:solidFill>
                <a:sym typeface="Symbol" pitchFamily="18" charset="2"/>
              </a:rPr>
              <a:t>对称</a:t>
            </a:r>
            <a:r>
              <a:rPr lang="en-US" altLang="zh-CN" sz="1800" dirty="0" smtClean="0">
                <a:solidFill>
                  <a:srgbClr val="FF0000"/>
                </a:solidFill>
                <a:sym typeface="Symbol" pitchFamily="18" charset="2"/>
              </a:rPr>
              <a:t>/</a:t>
            </a:r>
            <a:r>
              <a:rPr lang="zh-CN" altLang="en-US" sz="1800" dirty="0" smtClean="0">
                <a:solidFill>
                  <a:srgbClr val="FF0000"/>
                </a:solidFill>
                <a:sym typeface="Symbol" pitchFamily="18" charset="2"/>
              </a:rPr>
              <a:t>非对称</a:t>
            </a:r>
            <a:r>
              <a:rPr lang="en-US" altLang="zh-CN" sz="1800" dirty="0" smtClean="0">
                <a:solidFill>
                  <a:srgbClr val="FF0000"/>
                </a:solidFill>
                <a:sym typeface="Symbol" pitchFamily="18" charset="2"/>
              </a:rPr>
              <a:t>/</a:t>
            </a:r>
            <a:r>
              <a:rPr lang="zh-CN" altLang="en-US" sz="1800" dirty="0" smtClean="0">
                <a:solidFill>
                  <a:srgbClr val="FF0000"/>
                </a:solidFill>
                <a:sym typeface="Symbol" pitchFamily="18" charset="2"/>
              </a:rPr>
              <a:t>反对称</a:t>
            </a:r>
            <a:endParaRPr lang="en-US" altLang="zh-CN" sz="1800" dirty="0" smtClean="0">
              <a:solidFill>
                <a:srgbClr val="FF0000"/>
              </a:solidFill>
              <a:sym typeface="Symbol" pitchFamily="18" charset="2"/>
            </a:endParaRPr>
          </a:p>
          <a:p>
            <a:pPr lvl="1" eaLnBrk="1" hangingPunct="1">
              <a:defRPr/>
            </a:pPr>
            <a:r>
              <a:rPr lang="zh-CN" altLang="en-US" sz="1900" dirty="0" smtClean="0">
                <a:latin typeface="+mn-lt"/>
                <a:ea typeface="+mn-ea"/>
              </a:rPr>
              <a:t>如果 </a:t>
            </a:r>
            <a:r>
              <a:rPr lang="en-US" altLang="zh-CN" sz="1900" dirty="0" smtClean="0">
                <a:latin typeface="+mn-lt"/>
                <a:ea typeface="+mn-ea"/>
                <a:sym typeface="Symbol" pitchFamily="18" charset="2"/>
              </a:rPr>
              <a:t>(</a:t>
            </a:r>
            <a:r>
              <a:rPr lang="en-US" altLang="zh-CN" sz="1900" dirty="0" err="1" smtClean="0">
                <a:latin typeface="+mn-lt"/>
                <a:ea typeface="+mn-ea"/>
                <a:sym typeface="Symbol" pitchFamily="18" charset="2"/>
              </a:rPr>
              <a:t>a,b</a:t>
            </a:r>
            <a:r>
              <a:rPr lang="en-US" altLang="zh-CN" sz="1900" dirty="0" smtClean="0">
                <a:latin typeface="+mn-lt"/>
                <a:ea typeface="+mn-ea"/>
                <a:sym typeface="Symbol" pitchFamily="18" charset="2"/>
              </a:rPr>
              <a:t>) R </a:t>
            </a:r>
            <a:r>
              <a:rPr lang="zh-CN" altLang="en-US" sz="1900" dirty="0" smtClean="0">
                <a:latin typeface="+mn-lt"/>
                <a:ea typeface="+mn-ea"/>
                <a:sym typeface="Symbol" pitchFamily="18" charset="2"/>
              </a:rPr>
              <a:t>蕴含着</a:t>
            </a:r>
            <a:r>
              <a:rPr lang="en-US" altLang="zh-CN" sz="1900" dirty="0" smtClean="0">
                <a:latin typeface="+mn-lt"/>
                <a:ea typeface="+mn-ea"/>
                <a:sym typeface="Symbol" pitchFamily="18" charset="2"/>
              </a:rPr>
              <a:t>(</a:t>
            </a:r>
            <a:r>
              <a:rPr lang="en-US" altLang="zh-CN" sz="1900" dirty="0" err="1" smtClean="0">
                <a:latin typeface="+mn-lt"/>
                <a:ea typeface="+mn-ea"/>
                <a:sym typeface="Symbol" pitchFamily="18" charset="2"/>
              </a:rPr>
              <a:t>b,a</a:t>
            </a:r>
            <a:r>
              <a:rPr lang="en-US" altLang="zh-CN" sz="1900" dirty="0" smtClean="0">
                <a:latin typeface="+mn-lt"/>
                <a:ea typeface="+mn-ea"/>
                <a:sym typeface="Symbol" pitchFamily="18" charset="2"/>
              </a:rPr>
              <a:t>) R </a:t>
            </a:r>
            <a:r>
              <a:rPr lang="zh-CN" altLang="en-US" sz="1900" dirty="0" smtClean="0">
                <a:latin typeface="+mn-lt"/>
                <a:ea typeface="+mn-ea"/>
                <a:sym typeface="Symbol" pitchFamily="18" charset="2"/>
              </a:rPr>
              <a:t>，则称</a:t>
            </a:r>
            <a:r>
              <a:rPr lang="en-US" altLang="zh-CN" sz="1900" dirty="0" smtClean="0">
                <a:latin typeface="+mn-lt"/>
                <a:ea typeface="+mn-ea"/>
                <a:sym typeface="Symbol" pitchFamily="18" charset="2"/>
              </a:rPr>
              <a:t>R</a:t>
            </a:r>
            <a:r>
              <a:rPr lang="zh-CN" altLang="en-US" sz="1900" dirty="0" smtClean="0">
                <a:latin typeface="+mn-lt"/>
                <a:ea typeface="+mn-ea"/>
                <a:sym typeface="Symbol" pitchFamily="18" charset="2"/>
              </a:rPr>
              <a:t>是为对称的；</a:t>
            </a:r>
            <a:endParaRPr lang="en-US" altLang="zh-CN" sz="1900" dirty="0" smtClean="0">
              <a:latin typeface="+mn-lt"/>
              <a:ea typeface="+mn-ea"/>
              <a:sym typeface="Symbol" pitchFamily="18" charset="2"/>
            </a:endParaRPr>
          </a:p>
          <a:p>
            <a:pPr lvl="1" eaLnBrk="1" hangingPunct="1">
              <a:defRPr/>
            </a:pPr>
            <a:r>
              <a:rPr lang="zh-CN" altLang="en-US" sz="1900" dirty="0" smtClean="0">
                <a:latin typeface="+mn-lt"/>
                <a:ea typeface="+mn-ea"/>
              </a:rPr>
              <a:t>如果 </a:t>
            </a:r>
            <a:r>
              <a:rPr lang="en-US" altLang="zh-CN" sz="1900" dirty="0" smtClean="0">
                <a:latin typeface="+mn-lt"/>
                <a:ea typeface="+mn-ea"/>
                <a:sym typeface="Symbol" pitchFamily="18" charset="2"/>
              </a:rPr>
              <a:t>(</a:t>
            </a:r>
            <a:r>
              <a:rPr lang="en-US" altLang="zh-CN" sz="1900" dirty="0" err="1" smtClean="0">
                <a:latin typeface="+mn-lt"/>
                <a:ea typeface="+mn-ea"/>
                <a:sym typeface="Symbol" pitchFamily="18" charset="2"/>
              </a:rPr>
              <a:t>a,b</a:t>
            </a:r>
            <a:r>
              <a:rPr lang="en-US" altLang="zh-CN" sz="1900" dirty="0" smtClean="0">
                <a:latin typeface="+mn-lt"/>
                <a:ea typeface="+mn-ea"/>
                <a:sym typeface="Symbol" pitchFamily="18" charset="2"/>
              </a:rPr>
              <a:t>) R </a:t>
            </a:r>
            <a:r>
              <a:rPr lang="zh-CN" altLang="en-US" sz="1900" dirty="0" smtClean="0">
                <a:latin typeface="+mn-lt"/>
                <a:ea typeface="+mn-ea"/>
                <a:sym typeface="Symbol" pitchFamily="18" charset="2"/>
              </a:rPr>
              <a:t>蕴含着</a:t>
            </a:r>
            <a:r>
              <a:rPr lang="en-US" altLang="zh-CN" sz="1900" dirty="0" smtClean="0">
                <a:latin typeface="+mn-lt"/>
                <a:ea typeface="+mn-ea"/>
                <a:sym typeface="Symbol" pitchFamily="18" charset="2"/>
              </a:rPr>
              <a:t>(</a:t>
            </a:r>
            <a:r>
              <a:rPr lang="en-US" altLang="zh-CN" sz="1900" dirty="0" err="1" smtClean="0">
                <a:latin typeface="+mn-lt"/>
                <a:ea typeface="+mn-ea"/>
                <a:sym typeface="Symbol" pitchFamily="18" charset="2"/>
              </a:rPr>
              <a:t>b,a</a:t>
            </a:r>
            <a:r>
              <a:rPr lang="en-US" altLang="zh-CN" sz="1900" dirty="0" smtClean="0">
                <a:latin typeface="+mn-lt"/>
                <a:ea typeface="+mn-ea"/>
                <a:sym typeface="Symbol" pitchFamily="18" charset="2"/>
              </a:rPr>
              <a:t>) R </a:t>
            </a:r>
            <a:r>
              <a:rPr lang="zh-CN" altLang="en-US" sz="1900" dirty="0" smtClean="0">
                <a:latin typeface="+mn-lt"/>
                <a:ea typeface="+mn-ea"/>
                <a:sym typeface="Symbol" pitchFamily="18" charset="2"/>
              </a:rPr>
              <a:t>，则称</a:t>
            </a:r>
            <a:r>
              <a:rPr lang="en-US" altLang="zh-CN" sz="1900" dirty="0" smtClean="0">
                <a:latin typeface="+mn-lt"/>
                <a:ea typeface="+mn-ea"/>
                <a:sym typeface="Symbol" pitchFamily="18" charset="2"/>
              </a:rPr>
              <a:t>R</a:t>
            </a:r>
            <a:r>
              <a:rPr lang="zh-CN" altLang="en-US" sz="1900" dirty="0" smtClean="0">
                <a:latin typeface="+mn-lt"/>
                <a:ea typeface="+mn-ea"/>
                <a:sym typeface="Symbol" pitchFamily="18" charset="2"/>
              </a:rPr>
              <a:t>是为非对称的；</a:t>
            </a:r>
            <a:endParaRPr lang="en-US" altLang="zh-CN" sz="1900" dirty="0" smtClean="0">
              <a:latin typeface="+mn-lt"/>
              <a:ea typeface="+mn-ea"/>
              <a:sym typeface="Symbol" pitchFamily="18" charset="2"/>
            </a:endParaRPr>
          </a:p>
          <a:p>
            <a:pPr lvl="1" eaLnBrk="1" hangingPunct="1">
              <a:defRPr/>
            </a:pPr>
            <a:r>
              <a:rPr lang="zh-CN" altLang="en-US" sz="1900" dirty="0" smtClean="0">
                <a:latin typeface="+mn-lt"/>
                <a:ea typeface="+mn-ea"/>
              </a:rPr>
              <a:t>如果 </a:t>
            </a:r>
            <a:r>
              <a:rPr lang="en-US" altLang="zh-CN" sz="1900" dirty="0" smtClean="0">
                <a:latin typeface="+mn-lt"/>
                <a:ea typeface="+mn-ea"/>
                <a:sym typeface="Symbol" pitchFamily="18" charset="2"/>
              </a:rPr>
              <a:t>(</a:t>
            </a:r>
            <a:r>
              <a:rPr lang="en-US" altLang="zh-CN" sz="1900" dirty="0" err="1" smtClean="0">
                <a:latin typeface="+mn-lt"/>
                <a:ea typeface="+mn-ea"/>
                <a:sym typeface="Symbol" pitchFamily="18" charset="2"/>
              </a:rPr>
              <a:t>a,b</a:t>
            </a:r>
            <a:r>
              <a:rPr lang="en-US" altLang="zh-CN" sz="1900" dirty="0" smtClean="0">
                <a:latin typeface="+mn-lt"/>
                <a:ea typeface="+mn-ea"/>
                <a:sym typeface="Symbol" pitchFamily="18" charset="2"/>
              </a:rPr>
              <a:t>) R </a:t>
            </a:r>
            <a:r>
              <a:rPr lang="zh-CN" altLang="en-US" sz="1900" dirty="0" smtClean="0">
                <a:latin typeface="+mn-lt"/>
                <a:ea typeface="+mn-ea"/>
                <a:sym typeface="Symbol" pitchFamily="18" charset="2"/>
              </a:rPr>
              <a:t>，</a:t>
            </a:r>
            <a:r>
              <a:rPr lang="en-US" altLang="zh-CN" sz="1900" dirty="0" smtClean="0">
                <a:latin typeface="+mn-lt"/>
                <a:ea typeface="+mn-ea"/>
                <a:sym typeface="Symbol" pitchFamily="18" charset="2"/>
              </a:rPr>
              <a:t>(</a:t>
            </a:r>
            <a:r>
              <a:rPr lang="en-US" altLang="zh-CN" sz="1900" dirty="0" err="1" smtClean="0">
                <a:latin typeface="+mn-lt"/>
                <a:ea typeface="+mn-ea"/>
                <a:sym typeface="Symbol" pitchFamily="18" charset="2"/>
              </a:rPr>
              <a:t>b,a</a:t>
            </a:r>
            <a:r>
              <a:rPr lang="en-US" altLang="zh-CN" sz="1900" dirty="0" smtClean="0">
                <a:latin typeface="+mn-lt"/>
                <a:ea typeface="+mn-ea"/>
                <a:sym typeface="Symbol" pitchFamily="18" charset="2"/>
              </a:rPr>
              <a:t>) R </a:t>
            </a:r>
            <a:r>
              <a:rPr lang="zh-CN" altLang="en-US" sz="1900" dirty="0" smtClean="0">
                <a:latin typeface="+mn-lt"/>
                <a:ea typeface="+mn-ea"/>
                <a:sym typeface="Symbol" pitchFamily="18" charset="2"/>
              </a:rPr>
              <a:t>，蕴含着</a:t>
            </a:r>
            <a:r>
              <a:rPr lang="en-US" altLang="zh-CN" sz="1900" dirty="0" smtClean="0">
                <a:latin typeface="+mn-lt"/>
                <a:ea typeface="+mn-ea"/>
                <a:sym typeface="Symbol" pitchFamily="18" charset="2"/>
              </a:rPr>
              <a:t>a=b</a:t>
            </a:r>
            <a:r>
              <a:rPr lang="zh-CN" altLang="en-US" sz="1900" dirty="0" smtClean="0">
                <a:latin typeface="+mn-lt"/>
                <a:ea typeface="+mn-ea"/>
                <a:sym typeface="Symbol" pitchFamily="18" charset="2"/>
              </a:rPr>
              <a:t>，则称</a:t>
            </a:r>
            <a:r>
              <a:rPr lang="en-US" altLang="zh-CN" sz="1900" dirty="0" smtClean="0">
                <a:latin typeface="+mn-lt"/>
                <a:ea typeface="+mn-ea"/>
                <a:sym typeface="Symbol" pitchFamily="18" charset="2"/>
              </a:rPr>
              <a:t>R</a:t>
            </a:r>
            <a:r>
              <a:rPr lang="zh-CN" altLang="en-US" sz="1900" dirty="0" smtClean="0">
                <a:latin typeface="+mn-lt"/>
                <a:ea typeface="+mn-ea"/>
                <a:sym typeface="Symbol" pitchFamily="18" charset="2"/>
              </a:rPr>
              <a:t>是为反对称的；</a:t>
            </a:r>
            <a:endParaRPr lang="en-US" altLang="zh-CN" sz="1900" dirty="0" smtClean="0">
              <a:latin typeface="+mn-lt"/>
              <a:ea typeface="+mn-ea"/>
              <a:sym typeface="Symbol" pitchFamily="18" charset="2"/>
            </a:endParaRPr>
          </a:p>
          <a:p>
            <a:pPr eaLnBrk="1" hangingPunct="1">
              <a:defRPr/>
            </a:pPr>
            <a:r>
              <a:rPr lang="zh-CN" altLang="en-US" sz="1800" dirty="0" smtClean="0">
                <a:solidFill>
                  <a:srgbClr val="FF0000"/>
                </a:solidFill>
                <a:sym typeface="Symbol" pitchFamily="18" charset="2"/>
              </a:rPr>
              <a:t>传递</a:t>
            </a:r>
            <a:endParaRPr lang="en-US" altLang="zh-CN" sz="1900" dirty="0" smtClean="0">
              <a:solidFill>
                <a:srgbClr val="FF0000"/>
              </a:solidFill>
              <a:sym typeface="Symbol" pitchFamily="18" charset="2"/>
            </a:endParaRPr>
          </a:p>
          <a:p>
            <a:pPr lvl="1" eaLnBrk="1" hangingPunct="1">
              <a:defRPr/>
            </a:pPr>
            <a:r>
              <a:rPr lang="zh-CN" altLang="en-US" sz="1900" dirty="0" smtClean="0">
                <a:latin typeface="+mn-lt"/>
                <a:ea typeface="+mn-ea"/>
                <a:sym typeface="Symbol" pitchFamily="18" charset="2"/>
              </a:rPr>
              <a:t>如果</a:t>
            </a:r>
            <a:r>
              <a:rPr lang="en-US" altLang="zh-CN" sz="1900" dirty="0" smtClean="0">
                <a:latin typeface="+mn-lt"/>
                <a:ea typeface="+mn-ea"/>
                <a:sym typeface="Symbol" pitchFamily="18" charset="2"/>
              </a:rPr>
              <a:t> (</a:t>
            </a:r>
            <a:r>
              <a:rPr lang="en-US" altLang="zh-CN" sz="1900" dirty="0" err="1" smtClean="0">
                <a:latin typeface="+mn-lt"/>
                <a:ea typeface="+mn-ea"/>
                <a:sym typeface="Symbol" pitchFamily="18" charset="2"/>
              </a:rPr>
              <a:t>a,b</a:t>
            </a:r>
            <a:r>
              <a:rPr lang="en-US" altLang="zh-CN" sz="1900" dirty="0" smtClean="0">
                <a:latin typeface="+mn-lt"/>
                <a:ea typeface="+mn-ea"/>
                <a:sym typeface="Symbol" pitchFamily="18" charset="2"/>
              </a:rPr>
              <a:t>) R </a:t>
            </a:r>
            <a:r>
              <a:rPr lang="zh-CN" altLang="en-US" sz="1900" dirty="0" smtClean="0">
                <a:latin typeface="+mn-lt"/>
                <a:ea typeface="+mn-ea"/>
                <a:sym typeface="Symbol" pitchFamily="18" charset="2"/>
              </a:rPr>
              <a:t>并且</a:t>
            </a:r>
            <a:r>
              <a:rPr lang="en-US" altLang="zh-CN" sz="1900" dirty="0" smtClean="0">
                <a:latin typeface="+mn-lt"/>
                <a:ea typeface="+mn-ea"/>
                <a:sym typeface="Symbol" pitchFamily="18" charset="2"/>
              </a:rPr>
              <a:t> (</a:t>
            </a:r>
            <a:r>
              <a:rPr lang="en-US" altLang="zh-CN" sz="1900" dirty="0" err="1" smtClean="0">
                <a:latin typeface="+mn-lt"/>
                <a:ea typeface="+mn-ea"/>
                <a:sym typeface="Symbol" pitchFamily="18" charset="2"/>
              </a:rPr>
              <a:t>b,c</a:t>
            </a:r>
            <a:r>
              <a:rPr lang="en-US" altLang="zh-CN" sz="1900" dirty="0" smtClean="0">
                <a:latin typeface="+mn-lt"/>
                <a:ea typeface="+mn-ea"/>
                <a:sym typeface="Symbol" pitchFamily="18" charset="2"/>
              </a:rPr>
              <a:t>) R </a:t>
            </a:r>
            <a:r>
              <a:rPr lang="zh-CN" altLang="en-US" sz="1900" dirty="0" smtClean="0">
                <a:latin typeface="+mn-lt"/>
                <a:ea typeface="+mn-ea"/>
                <a:sym typeface="Symbol" pitchFamily="18" charset="2"/>
              </a:rPr>
              <a:t>得出</a:t>
            </a:r>
            <a:r>
              <a:rPr lang="en-US" altLang="zh-CN" sz="1900" dirty="0" smtClean="0">
                <a:latin typeface="+mn-lt"/>
                <a:ea typeface="+mn-ea"/>
                <a:sym typeface="Symbol" pitchFamily="18" charset="2"/>
              </a:rPr>
              <a:t> (</a:t>
            </a:r>
            <a:r>
              <a:rPr lang="en-US" altLang="zh-CN" sz="1900" dirty="0" err="1" smtClean="0">
                <a:latin typeface="+mn-lt"/>
                <a:ea typeface="+mn-ea"/>
                <a:sym typeface="Symbol" pitchFamily="18" charset="2"/>
              </a:rPr>
              <a:t>a,c</a:t>
            </a:r>
            <a:r>
              <a:rPr lang="en-US" altLang="zh-CN" sz="1900" dirty="0" smtClean="0">
                <a:latin typeface="+mn-lt"/>
                <a:ea typeface="+mn-ea"/>
                <a:sym typeface="Symbol" pitchFamily="18" charset="2"/>
              </a:rPr>
              <a:t>) R</a:t>
            </a:r>
            <a:r>
              <a:rPr lang="zh-CN" altLang="en-US" sz="1900" dirty="0" smtClean="0">
                <a:latin typeface="+mn-lt"/>
                <a:ea typeface="+mn-ea"/>
                <a:sym typeface="Symbol" pitchFamily="18" charset="2"/>
              </a:rPr>
              <a:t>，则称</a:t>
            </a:r>
            <a:r>
              <a:rPr lang="en-US" altLang="zh-CN" sz="1900" dirty="0" smtClean="0">
                <a:latin typeface="+mn-lt"/>
                <a:ea typeface="+mn-ea"/>
                <a:sym typeface="Symbol" pitchFamily="18" charset="2"/>
              </a:rPr>
              <a:t>R</a:t>
            </a:r>
            <a:r>
              <a:rPr lang="zh-CN" altLang="en-US" sz="1900" dirty="0" smtClean="0">
                <a:latin typeface="+mn-lt"/>
                <a:ea typeface="+mn-ea"/>
                <a:sym typeface="Symbol" pitchFamily="18" charset="2"/>
              </a:rPr>
              <a:t>是传递的</a:t>
            </a:r>
            <a:r>
              <a:rPr lang="en-US" altLang="zh-CN" sz="1900" dirty="0" smtClean="0">
                <a:latin typeface="+mn-lt"/>
                <a:ea typeface="+mn-ea"/>
                <a:sym typeface="Symbol" pitchFamily="18" charset="2"/>
              </a:rPr>
              <a:t>.</a:t>
            </a:r>
          </a:p>
          <a:p>
            <a:pPr eaLnBrk="1" hangingPunct="1">
              <a:defRPr/>
            </a:pPr>
            <a:r>
              <a:rPr lang="zh-CN" altLang="en-US" sz="1800" dirty="0" smtClean="0">
                <a:solidFill>
                  <a:srgbClr val="FF0000"/>
                </a:solidFill>
                <a:sym typeface="Symbol" pitchFamily="18" charset="2"/>
              </a:rPr>
              <a:t>偏序</a:t>
            </a:r>
            <a:endParaRPr lang="en-US" altLang="zh-CN" sz="1800" dirty="0" smtClean="0">
              <a:solidFill>
                <a:srgbClr val="FF0000"/>
              </a:solidFill>
              <a:sym typeface="Symbol" pitchFamily="18" charset="2"/>
            </a:endParaRPr>
          </a:p>
          <a:p>
            <a:pPr lvl="1" eaLnBrk="1" hangingPunct="1">
              <a:defRPr/>
            </a:pPr>
            <a:r>
              <a:rPr lang="zh-CN" altLang="en-US" sz="1900" dirty="0" smtClean="0">
                <a:latin typeface="+mn-lt"/>
                <a:ea typeface="+mn-ea"/>
                <a:sym typeface="Symbol" pitchFamily="18" charset="2"/>
              </a:rPr>
              <a:t>一个关系是</a:t>
            </a:r>
            <a:r>
              <a:rPr lang="zh-CN" altLang="en-US" sz="1900" dirty="0" smtClean="0">
                <a:solidFill>
                  <a:srgbClr val="FF0000"/>
                </a:solidFill>
                <a:latin typeface="+mn-lt"/>
                <a:ea typeface="+mn-ea"/>
                <a:sym typeface="Symbol" pitchFamily="18" charset="2"/>
              </a:rPr>
              <a:t>自反的、反对称的 和传递</a:t>
            </a:r>
            <a:r>
              <a:rPr lang="zh-CN" altLang="en-US" sz="1900" dirty="0" smtClean="0">
                <a:latin typeface="+mn-lt"/>
                <a:ea typeface="+mn-ea"/>
                <a:sym typeface="Symbol" pitchFamily="18" charset="2"/>
              </a:rPr>
              <a:t>的，则称为是一个偏序。</a:t>
            </a:r>
            <a:endParaRPr lang="en-US" altLang="zh-CN" sz="1900" dirty="0" smtClean="0">
              <a:latin typeface="+mn-lt"/>
              <a:ea typeface="+mn-ea"/>
            </a:endParaRPr>
          </a:p>
        </p:txBody>
      </p:sp>
    </p:spTree>
    <p:extLst>
      <p:ext uri="{BB962C8B-B14F-4D97-AF65-F5344CB8AC3E}">
        <p14:creationId xmlns:p14="http://schemas.microsoft.com/office/powerpoint/2010/main" val="383414811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28675" name="Rectangle 2"/>
          <p:cNvSpPr>
            <a:spLocks noGrp="1" noChangeArrowheads="1"/>
          </p:cNvSpPr>
          <p:nvPr>
            <p:ph type="title"/>
          </p:nvPr>
        </p:nvSpPr>
        <p:spPr/>
        <p:txBody>
          <a:bodyPr/>
          <a:lstStyle/>
          <a:p>
            <a:pPr eaLnBrk="1" hangingPunct="1"/>
            <a:r>
              <a:rPr lang="en-US" altLang="zh-CN" b="0" dirty="0">
                <a:latin typeface="+mn-ea"/>
              </a:rPr>
              <a:t>1.3.1 </a:t>
            </a:r>
            <a:r>
              <a:rPr lang="zh-CN" altLang="en-US" b="0" dirty="0">
                <a:latin typeface="+mn-ea"/>
              </a:rPr>
              <a:t>集合、</a:t>
            </a:r>
            <a:r>
              <a:rPr lang="zh-CN" altLang="en-US" u="sng" dirty="0">
                <a:latin typeface="+mn-ea"/>
              </a:rPr>
              <a:t>关系</a:t>
            </a:r>
            <a:r>
              <a:rPr lang="zh-CN" altLang="en-US" b="0" dirty="0">
                <a:latin typeface="+mn-ea"/>
              </a:rPr>
              <a:t>、函数</a:t>
            </a:r>
            <a:endParaRPr lang="en-US" altLang="zh-CN" dirty="0" smtClean="0"/>
          </a:p>
        </p:txBody>
      </p:sp>
      <p:sp>
        <p:nvSpPr>
          <p:cNvPr id="34820" name="Rectangle 3"/>
          <p:cNvSpPr>
            <a:spLocks noGrp="1" noChangeArrowheads="1"/>
          </p:cNvSpPr>
          <p:nvPr>
            <p:ph type="body" idx="1"/>
          </p:nvPr>
        </p:nvSpPr>
        <p:spPr/>
        <p:txBody>
          <a:bodyPr/>
          <a:lstStyle/>
          <a:p>
            <a:pPr eaLnBrk="1" hangingPunct="1"/>
            <a:r>
              <a:rPr lang="zh-CN" altLang="en-US" dirty="0" smtClean="0"/>
              <a:t>例子</a:t>
            </a:r>
            <a:endParaRPr lang="en-US" altLang="zh-CN" dirty="0" smtClean="0"/>
          </a:p>
          <a:p>
            <a:pPr eaLnBrk="1" hangingPunct="1"/>
            <a:r>
              <a:rPr lang="zh-CN" altLang="en-US" dirty="0" smtClean="0"/>
              <a:t>设：</a:t>
            </a:r>
            <a:endParaRPr lang="en-US" altLang="zh-CN" dirty="0" smtClean="0"/>
          </a:p>
          <a:p>
            <a:pPr lvl="1" eaLnBrk="1" hangingPunct="1">
              <a:buFontTx/>
              <a:buNone/>
            </a:pPr>
            <a:r>
              <a:rPr lang="en-US" altLang="zh-CN" sz="2500" dirty="0" err="1">
                <a:latin typeface="+mn-lt"/>
                <a:ea typeface="+mn-ea"/>
                <a:cs typeface="+mn-cs"/>
              </a:rPr>
              <a:t>R1</a:t>
            </a:r>
            <a:r>
              <a:rPr lang="en-US" altLang="zh-CN" sz="2500" dirty="0">
                <a:latin typeface="+mn-lt"/>
                <a:ea typeface="+mn-ea"/>
                <a:cs typeface="+mn-cs"/>
              </a:rPr>
              <a:t>={(</a:t>
            </a:r>
            <a:r>
              <a:rPr lang="en-US" altLang="zh-CN" sz="2500" dirty="0" err="1">
                <a:latin typeface="+mn-lt"/>
                <a:ea typeface="+mn-ea"/>
                <a:cs typeface="+mn-cs"/>
              </a:rPr>
              <a:t>x,y</a:t>
            </a:r>
            <a:r>
              <a:rPr lang="en-US" altLang="zh-CN" sz="2500" dirty="0">
                <a:latin typeface="+mn-lt"/>
                <a:ea typeface="+mn-ea"/>
                <a:cs typeface="+mn-cs"/>
              </a:rPr>
              <a:t>)|</a:t>
            </a:r>
            <a:r>
              <a:rPr lang="en-US" altLang="zh-CN" sz="2500" dirty="0" err="1">
                <a:latin typeface="+mn-lt"/>
                <a:ea typeface="+mn-ea"/>
                <a:cs typeface="+mn-cs"/>
              </a:rPr>
              <a:t>x,y</a:t>
            </a:r>
            <a:r>
              <a:rPr lang="en-US" altLang="zh-CN" sz="2500" dirty="0">
                <a:latin typeface="+mn-lt"/>
                <a:ea typeface="+mn-ea"/>
                <a:cs typeface="+mn-cs"/>
              </a:rPr>
              <a:t> </a:t>
            </a:r>
            <a:r>
              <a:rPr lang="zh-CN" altLang="en-US" sz="2500" dirty="0">
                <a:latin typeface="+mn-lt"/>
                <a:ea typeface="+mn-ea"/>
                <a:cs typeface="+mn-cs"/>
              </a:rPr>
              <a:t>是正整数，且</a:t>
            </a:r>
            <a:r>
              <a:rPr lang="en-US" altLang="zh-CN" sz="2500" dirty="0">
                <a:latin typeface="+mn-lt"/>
                <a:ea typeface="+mn-ea"/>
                <a:cs typeface="+mn-cs"/>
              </a:rPr>
              <a:t>x </a:t>
            </a:r>
            <a:r>
              <a:rPr lang="zh-CN" altLang="en-US" sz="2500" dirty="0">
                <a:latin typeface="+mn-lt"/>
                <a:ea typeface="+mn-ea"/>
                <a:cs typeface="+mn-cs"/>
              </a:rPr>
              <a:t>整除</a:t>
            </a:r>
            <a:r>
              <a:rPr lang="en-US" altLang="zh-CN" sz="2500" dirty="0">
                <a:latin typeface="+mn-lt"/>
                <a:ea typeface="+mn-ea"/>
                <a:cs typeface="+mn-cs"/>
              </a:rPr>
              <a:t> y}</a:t>
            </a:r>
            <a:r>
              <a:rPr lang="zh-CN" altLang="en-US" sz="2500" dirty="0">
                <a:latin typeface="+mn-lt"/>
                <a:ea typeface="+mn-ea"/>
                <a:cs typeface="+mn-cs"/>
              </a:rPr>
              <a:t>，</a:t>
            </a:r>
            <a:endParaRPr lang="en-US" altLang="zh-CN" sz="2500" dirty="0">
              <a:latin typeface="+mn-lt"/>
              <a:ea typeface="+mn-ea"/>
              <a:cs typeface="+mn-cs"/>
            </a:endParaRPr>
          </a:p>
          <a:p>
            <a:pPr lvl="1" eaLnBrk="1" hangingPunct="1">
              <a:buFontTx/>
              <a:buNone/>
            </a:pPr>
            <a:endParaRPr lang="en-US" altLang="zh-CN" sz="2500" dirty="0">
              <a:latin typeface="+mn-lt"/>
              <a:ea typeface="+mn-ea"/>
              <a:cs typeface="+mn-cs"/>
            </a:endParaRPr>
          </a:p>
          <a:p>
            <a:pPr lvl="1" eaLnBrk="1" hangingPunct="1">
              <a:buFontTx/>
              <a:buNone/>
            </a:pPr>
            <a:r>
              <a:rPr lang="en-US" altLang="zh-CN" sz="2500" dirty="0" err="1">
                <a:latin typeface="+mn-lt"/>
                <a:ea typeface="+mn-ea"/>
                <a:cs typeface="+mn-cs"/>
              </a:rPr>
              <a:t>R2</a:t>
            </a:r>
            <a:r>
              <a:rPr lang="en-US" altLang="zh-CN" sz="2500" dirty="0">
                <a:latin typeface="+mn-lt"/>
                <a:ea typeface="+mn-ea"/>
                <a:cs typeface="+mn-cs"/>
              </a:rPr>
              <a:t>={(</a:t>
            </a:r>
            <a:r>
              <a:rPr lang="en-US" altLang="zh-CN" sz="2500" dirty="0" err="1">
                <a:latin typeface="+mn-lt"/>
                <a:ea typeface="+mn-ea"/>
                <a:cs typeface="+mn-cs"/>
              </a:rPr>
              <a:t>x,y</a:t>
            </a:r>
            <a:r>
              <a:rPr lang="en-US" altLang="zh-CN" sz="2500" dirty="0">
                <a:latin typeface="+mn-lt"/>
                <a:ea typeface="+mn-ea"/>
                <a:cs typeface="+mn-cs"/>
              </a:rPr>
              <a:t>)|</a:t>
            </a:r>
            <a:r>
              <a:rPr lang="en-US" altLang="zh-CN" sz="2500" dirty="0" err="1">
                <a:latin typeface="+mn-lt"/>
                <a:ea typeface="+mn-ea"/>
                <a:cs typeface="+mn-cs"/>
              </a:rPr>
              <a:t>x,y</a:t>
            </a:r>
            <a:r>
              <a:rPr lang="en-US" altLang="zh-CN" sz="2500" dirty="0">
                <a:latin typeface="+mn-lt"/>
                <a:ea typeface="+mn-ea"/>
                <a:cs typeface="+mn-cs"/>
              </a:rPr>
              <a:t> </a:t>
            </a:r>
            <a:r>
              <a:rPr lang="zh-CN" altLang="en-US" sz="2500" dirty="0">
                <a:latin typeface="+mn-lt"/>
                <a:ea typeface="+mn-ea"/>
                <a:cs typeface="+mn-cs"/>
              </a:rPr>
              <a:t>是整数，且</a:t>
            </a:r>
            <a:r>
              <a:rPr lang="en-US" altLang="zh-CN" sz="2500" dirty="0" err="1">
                <a:latin typeface="+mn-lt"/>
                <a:ea typeface="+mn-ea"/>
                <a:cs typeface="+mn-cs"/>
              </a:rPr>
              <a:t>x</a:t>
            </a:r>
            <a:r>
              <a:rPr lang="en-US" altLang="zh-CN" sz="2500" dirty="0" err="1">
                <a:latin typeface="+mn-lt"/>
                <a:ea typeface="+mn-ea"/>
                <a:cs typeface="+mn-cs"/>
                <a:sym typeface="Symbol" panose="05050102010706020507" pitchFamily="18" charset="2"/>
              </a:rPr>
              <a:t></a:t>
            </a:r>
            <a:r>
              <a:rPr lang="en-US" altLang="zh-CN" sz="2500" dirty="0" err="1">
                <a:latin typeface="+mn-lt"/>
                <a:ea typeface="+mn-ea"/>
                <a:cs typeface="+mn-cs"/>
              </a:rPr>
              <a:t>y</a:t>
            </a:r>
            <a:r>
              <a:rPr lang="en-US" altLang="zh-CN" sz="2500" dirty="0">
                <a:latin typeface="+mn-lt"/>
                <a:ea typeface="+mn-ea"/>
                <a:cs typeface="+mn-cs"/>
              </a:rPr>
              <a:t>}. </a:t>
            </a:r>
          </a:p>
          <a:p>
            <a:pPr eaLnBrk="1" hangingPunct="1"/>
            <a:endParaRPr lang="en-US" altLang="zh-CN" dirty="0" smtClean="0"/>
          </a:p>
          <a:p>
            <a:pPr eaLnBrk="1" hangingPunct="1">
              <a:buFontTx/>
              <a:buNone/>
            </a:pPr>
            <a:r>
              <a:rPr lang="en-US" altLang="zh-CN" dirty="0" smtClean="0"/>
              <a:t>	</a:t>
            </a:r>
            <a:r>
              <a:rPr lang="zh-CN" altLang="en-US" dirty="0" smtClean="0"/>
              <a:t>那么</a:t>
            </a:r>
            <a:r>
              <a:rPr lang="en-US" altLang="zh-CN" dirty="0" err="1" smtClean="0"/>
              <a:t>R1</a:t>
            </a:r>
            <a:r>
              <a:rPr lang="zh-CN" altLang="en-US" dirty="0" smtClean="0"/>
              <a:t>和</a:t>
            </a:r>
            <a:r>
              <a:rPr lang="en-US" altLang="zh-CN" dirty="0" err="1" smtClean="0"/>
              <a:t>R2</a:t>
            </a:r>
            <a:r>
              <a:rPr lang="en-US" altLang="zh-CN" dirty="0" smtClean="0"/>
              <a:t> </a:t>
            </a:r>
            <a:r>
              <a:rPr lang="zh-CN" altLang="en-US" dirty="0" smtClean="0"/>
              <a:t>都是自反的、反对称 的和传递的，因此都是</a:t>
            </a:r>
            <a:r>
              <a:rPr lang="zh-CN" altLang="en-US" dirty="0" smtClean="0">
                <a:solidFill>
                  <a:srgbClr val="FF0000"/>
                </a:solidFill>
              </a:rPr>
              <a:t>偏序</a:t>
            </a:r>
            <a:r>
              <a:rPr lang="zh-CN" altLang="en-US" dirty="0" smtClean="0"/>
              <a:t>。</a:t>
            </a:r>
            <a:endParaRPr lang="en-US" altLang="zh-CN" dirty="0" smtClean="0"/>
          </a:p>
        </p:txBody>
      </p:sp>
      <p:sp>
        <p:nvSpPr>
          <p:cNvPr id="6" name="矩形 5"/>
          <p:cNvSpPr>
            <a:spLocks noChangeArrowheads="1"/>
          </p:cNvSpPr>
          <p:nvPr/>
        </p:nvSpPr>
        <p:spPr bwMode="auto">
          <a:xfrm>
            <a:off x="6286500" y="0"/>
            <a:ext cx="2857500" cy="2246313"/>
          </a:xfrm>
          <a:prstGeom prst="rect">
            <a:avLst/>
          </a:prstGeom>
          <a:noFill/>
          <a:ln w="9525">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000" b="1">
                <a:solidFill>
                  <a:schemeClr val="tx1"/>
                </a:solidFill>
                <a:latin typeface="Arial" panose="020B0604020202020204" pitchFamily="34" charset="0"/>
                <a:ea typeface="宋体" panose="02010600030101010101" pitchFamily="2" charset="-122"/>
              </a:rPr>
              <a:t>分析</a:t>
            </a:r>
            <a:r>
              <a:rPr lang="en-US" altLang="zh-CN" sz="2000" b="1">
                <a:solidFill>
                  <a:schemeClr val="tx1"/>
                </a:solidFill>
                <a:latin typeface="Arial" panose="020B0604020202020204" pitchFamily="34" charset="0"/>
                <a:ea typeface="宋体" panose="02010600030101010101" pitchFamily="2" charset="-122"/>
              </a:rPr>
              <a:t>R1</a:t>
            </a:r>
            <a:r>
              <a:rPr lang="zh-CN" altLang="en-US" sz="2000" b="1">
                <a:solidFill>
                  <a:schemeClr val="tx1"/>
                </a:solidFill>
                <a:latin typeface="Arial" panose="020B0604020202020204" pitchFamily="34" charset="0"/>
                <a:ea typeface="宋体" panose="02010600030101010101" pitchFamily="2" charset="-122"/>
              </a:rPr>
              <a:t>：</a:t>
            </a:r>
            <a:endParaRPr lang="en-US" altLang="zh-CN" sz="2000" b="1">
              <a:solidFill>
                <a:schemeClr val="tx1"/>
              </a:solidFill>
              <a:latin typeface="Arial" panose="020B0604020202020204" pitchFamily="34" charset="0"/>
              <a:ea typeface="宋体" panose="02010600030101010101" pitchFamily="2" charset="-122"/>
            </a:endParaRPr>
          </a:p>
          <a:p>
            <a:pPr eaLnBrk="1" hangingPunct="1">
              <a:spcBef>
                <a:spcPct val="0"/>
              </a:spcBef>
            </a:pPr>
            <a:r>
              <a:rPr lang="zh-CN" altLang="en-US" sz="2000" b="1">
                <a:solidFill>
                  <a:schemeClr val="tx1"/>
                </a:solidFill>
                <a:latin typeface="Arial" panose="020B0604020202020204" pitchFamily="34" charset="0"/>
                <a:ea typeface="宋体" panose="02010600030101010101" pitchFamily="2" charset="-122"/>
              </a:rPr>
              <a:t>自反的：</a:t>
            </a:r>
            <a:r>
              <a:rPr lang="en-US" altLang="zh-CN" sz="2000" b="1">
                <a:solidFill>
                  <a:schemeClr val="tx1"/>
                </a:solidFill>
                <a:latin typeface="Arial" panose="020B0604020202020204" pitchFamily="34" charset="0"/>
                <a:ea typeface="宋体" panose="02010600030101010101" pitchFamily="2" charset="-122"/>
              </a:rPr>
              <a:t>x</a:t>
            </a:r>
            <a:r>
              <a:rPr lang="zh-CN" altLang="en-US" sz="2000">
                <a:solidFill>
                  <a:schemeClr val="tx1"/>
                </a:solidFill>
                <a:latin typeface="Arial" panose="020B0604020202020204" pitchFamily="34" charset="0"/>
                <a:ea typeface="宋体" panose="02010600030101010101" pitchFamily="2" charset="-122"/>
              </a:rPr>
              <a:t>可以整除</a:t>
            </a:r>
            <a:r>
              <a:rPr lang="en-US" altLang="zh-CN" sz="2000">
                <a:solidFill>
                  <a:schemeClr val="tx1"/>
                </a:solidFill>
                <a:latin typeface="Arial" panose="020B0604020202020204" pitchFamily="34" charset="0"/>
                <a:ea typeface="宋体" panose="02010600030101010101" pitchFamily="2" charset="-122"/>
              </a:rPr>
              <a:t>x</a:t>
            </a:r>
            <a:r>
              <a:rPr lang="zh-CN" altLang="en-US" sz="2000">
                <a:solidFill>
                  <a:schemeClr val="tx1"/>
                </a:solidFill>
                <a:latin typeface="Arial" panose="020B0604020202020204" pitchFamily="34" charset="0"/>
                <a:ea typeface="宋体" panose="02010600030101010101" pitchFamily="2" charset="-122"/>
              </a:rPr>
              <a:t>； </a:t>
            </a:r>
            <a:endParaRPr lang="en-US" altLang="zh-CN" sz="2000">
              <a:solidFill>
                <a:schemeClr val="tx1"/>
              </a:solidFill>
              <a:latin typeface="Arial" panose="020B0604020202020204" pitchFamily="34" charset="0"/>
              <a:ea typeface="宋体" panose="02010600030101010101" pitchFamily="2" charset="-122"/>
            </a:endParaRPr>
          </a:p>
          <a:p>
            <a:pPr eaLnBrk="1" hangingPunct="1">
              <a:spcBef>
                <a:spcPct val="0"/>
              </a:spcBef>
            </a:pPr>
            <a:r>
              <a:rPr lang="zh-CN" altLang="en-US" sz="2000" b="1">
                <a:solidFill>
                  <a:schemeClr val="tx1"/>
                </a:solidFill>
                <a:latin typeface="Arial" panose="020B0604020202020204" pitchFamily="34" charset="0"/>
                <a:ea typeface="宋体" panose="02010600030101010101" pitchFamily="2" charset="-122"/>
              </a:rPr>
              <a:t>反对称的：</a:t>
            </a:r>
            <a:r>
              <a:rPr lang="zh-CN" altLang="en-US" sz="2000">
                <a:solidFill>
                  <a:schemeClr val="tx1"/>
                </a:solidFill>
                <a:latin typeface="Arial" panose="020B0604020202020204" pitchFamily="34" charset="0"/>
                <a:ea typeface="宋体" panose="02010600030101010101" pitchFamily="2" charset="-122"/>
              </a:rPr>
              <a:t>如果</a:t>
            </a:r>
            <a:r>
              <a:rPr lang="en-US" altLang="zh-CN" sz="2000">
                <a:solidFill>
                  <a:schemeClr val="tx1"/>
                </a:solidFill>
                <a:latin typeface="Arial" panose="020B0604020202020204" pitchFamily="34" charset="0"/>
                <a:ea typeface="宋体" panose="02010600030101010101" pitchFamily="2" charset="-122"/>
              </a:rPr>
              <a:t>x</a:t>
            </a:r>
            <a:r>
              <a:rPr lang="zh-CN" altLang="en-US" sz="2000">
                <a:solidFill>
                  <a:schemeClr val="tx1"/>
                </a:solidFill>
                <a:latin typeface="Arial" panose="020B0604020202020204" pitchFamily="34" charset="0"/>
                <a:ea typeface="宋体" panose="02010600030101010101" pitchFamily="2" charset="-122"/>
              </a:rPr>
              <a:t>能整除</a:t>
            </a:r>
            <a:r>
              <a:rPr lang="en-US" altLang="zh-CN" sz="2000">
                <a:solidFill>
                  <a:schemeClr val="tx1"/>
                </a:solidFill>
                <a:latin typeface="Arial" panose="020B0604020202020204" pitchFamily="34" charset="0"/>
                <a:ea typeface="宋体" panose="02010600030101010101" pitchFamily="2" charset="-122"/>
              </a:rPr>
              <a:t>y</a:t>
            </a:r>
            <a:r>
              <a:rPr lang="zh-CN" altLang="en-US" sz="2000">
                <a:solidFill>
                  <a:schemeClr val="tx1"/>
                </a:solidFill>
                <a:latin typeface="Arial" panose="020B0604020202020204" pitchFamily="34" charset="0"/>
                <a:ea typeface="宋体" panose="02010600030101010101" pitchFamily="2" charset="-122"/>
              </a:rPr>
              <a:t>，</a:t>
            </a:r>
            <a:r>
              <a:rPr lang="en-US" altLang="zh-CN" sz="2000">
                <a:solidFill>
                  <a:schemeClr val="tx1"/>
                </a:solidFill>
                <a:latin typeface="Arial" panose="020B0604020202020204" pitchFamily="34" charset="0"/>
                <a:ea typeface="宋体" panose="02010600030101010101" pitchFamily="2" charset="-122"/>
              </a:rPr>
              <a:t>y</a:t>
            </a:r>
            <a:r>
              <a:rPr lang="zh-CN" altLang="en-US" sz="2000">
                <a:solidFill>
                  <a:schemeClr val="tx1"/>
                </a:solidFill>
                <a:latin typeface="Arial" panose="020B0604020202020204" pitchFamily="34" charset="0"/>
                <a:ea typeface="宋体" panose="02010600030101010101" pitchFamily="2" charset="-122"/>
              </a:rPr>
              <a:t>也能整除</a:t>
            </a:r>
            <a:r>
              <a:rPr lang="en-US" altLang="zh-CN" sz="2000">
                <a:solidFill>
                  <a:schemeClr val="tx1"/>
                </a:solidFill>
                <a:latin typeface="Arial" panose="020B0604020202020204" pitchFamily="34" charset="0"/>
                <a:ea typeface="宋体" panose="02010600030101010101" pitchFamily="2" charset="-122"/>
              </a:rPr>
              <a:t>x</a:t>
            </a:r>
            <a:r>
              <a:rPr lang="zh-CN" altLang="en-US" sz="2000">
                <a:solidFill>
                  <a:schemeClr val="tx1"/>
                </a:solidFill>
                <a:latin typeface="Arial" panose="020B0604020202020204" pitchFamily="34" charset="0"/>
                <a:ea typeface="宋体" panose="02010600030101010101" pitchFamily="2" charset="-122"/>
              </a:rPr>
              <a:t>，则</a:t>
            </a:r>
            <a:r>
              <a:rPr lang="en-US" altLang="zh-CN" sz="2000">
                <a:solidFill>
                  <a:schemeClr val="tx1"/>
                </a:solidFill>
                <a:latin typeface="Arial" panose="020B0604020202020204" pitchFamily="34" charset="0"/>
                <a:ea typeface="宋体" panose="02010600030101010101" pitchFamily="2" charset="-122"/>
              </a:rPr>
              <a:t>x=y</a:t>
            </a:r>
            <a:r>
              <a:rPr lang="zh-CN" altLang="en-US" sz="2000">
                <a:solidFill>
                  <a:schemeClr val="tx1"/>
                </a:solidFill>
                <a:latin typeface="Arial" panose="020B0604020202020204" pitchFamily="34" charset="0"/>
                <a:ea typeface="宋体" panose="02010600030101010101" pitchFamily="2" charset="-122"/>
              </a:rPr>
              <a:t>；</a:t>
            </a:r>
            <a:endParaRPr lang="en-US" altLang="zh-CN" sz="2000">
              <a:solidFill>
                <a:schemeClr val="tx1"/>
              </a:solidFill>
              <a:latin typeface="Arial" panose="020B0604020202020204" pitchFamily="34" charset="0"/>
              <a:ea typeface="宋体" panose="02010600030101010101" pitchFamily="2" charset="-122"/>
            </a:endParaRPr>
          </a:p>
          <a:p>
            <a:pPr eaLnBrk="1" hangingPunct="1">
              <a:spcBef>
                <a:spcPct val="0"/>
              </a:spcBef>
            </a:pPr>
            <a:r>
              <a:rPr lang="zh-CN" altLang="en-US" sz="2000" b="1">
                <a:solidFill>
                  <a:schemeClr val="tx1"/>
                </a:solidFill>
                <a:latin typeface="Arial" panose="020B0604020202020204" pitchFamily="34" charset="0"/>
                <a:ea typeface="宋体" panose="02010600030101010101" pitchFamily="2" charset="-122"/>
              </a:rPr>
              <a:t>传递的：</a:t>
            </a:r>
            <a:r>
              <a:rPr lang="zh-CN" altLang="en-US" sz="2000">
                <a:solidFill>
                  <a:schemeClr val="tx1"/>
                </a:solidFill>
                <a:latin typeface="Arial" panose="020B0604020202020204" pitchFamily="34" charset="0"/>
                <a:ea typeface="宋体" panose="02010600030101010101" pitchFamily="2" charset="-122"/>
              </a:rPr>
              <a:t>如果</a:t>
            </a:r>
            <a:r>
              <a:rPr lang="en-US" altLang="zh-CN" sz="2000">
                <a:solidFill>
                  <a:schemeClr val="tx1"/>
                </a:solidFill>
                <a:latin typeface="Arial" panose="020B0604020202020204" pitchFamily="34" charset="0"/>
                <a:ea typeface="宋体" panose="02010600030101010101" pitchFamily="2" charset="-122"/>
              </a:rPr>
              <a:t>x</a:t>
            </a:r>
            <a:r>
              <a:rPr lang="zh-CN" altLang="en-US" sz="2000">
                <a:solidFill>
                  <a:schemeClr val="tx1"/>
                </a:solidFill>
                <a:latin typeface="Arial" panose="020B0604020202020204" pitchFamily="34" charset="0"/>
                <a:ea typeface="宋体" panose="02010600030101010101" pitchFamily="2" charset="-122"/>
              </a:rPr>
              <a:t>能整除</a:t>
            </a:r>
            <a:r>
              <a:rPr lang="en-US" altLang="zh-CN" sz="2000">
                <a:solidFill>
                  <a:schemeClr val="tx1"/>
                </a:solidFill>
                <a:latin typeface="Arial" panose="020B0604020202020204" pitchFamily="34" charset="0"/>
                <a:ea typeface="宋体" panose="02010600030101010101" pitchFamily="2" charset="-122"/>
              </a:rPr>
              <a:t>y</a:t>
            </a:r>
            <a:r>
              <a:rPr lang="zh-CN" altLang="en-US" sz="2000">
                <a:solidFill>
                  <a:schemeClr val="tx1"/>
                </a:solidFill>
                <a:latin typeface="Arial" panose="020B0604020202020204" pitchFamily="34" charset="0"/>
                <a:ea typeface="宋体" panose="02010600030101010101" pitchFamily="2" charset="-122"/>
              </a:rPr>
              <a:t>，</a:t>
            </a:r>
            <a:r>
              <a:rPr lang="en-US" altLang="zh-CN" sz="2000">
                <a:solidFill>
                  <a:schemeClr val="tx1"/>
                </a:solidFill>
                <a:latin typeface="Arial" panose="020B0604020202020204" pitchFamily="34" charset="0"/>
                <a:ea typeface="宋体" panose="02010600030101010101" pitchFamily="2" charset="-122"/>
              </a:rPr>
              <a:t>y</a:t>
            </a:r>
            <a:r>
              <a:rPr lang="zh-CN" altLang="en-US" sz="2000">
                <a:solidFill>
                  <a:schemeClr val="tx1"/>
                </a:solidFill>
                <a:latin typeface="Arial" panose="020B0604020202020204" pitchFamily="34" charset="0"/>
                <a:ea typeface="宋体" panose="02010600030101010101" pitchFamily="2" charset="-122"/>
              </a:rPr>
              <a:t>能整除</a:t>
            </a:r>
            <a:r>
              <a:rPr lang="en-US" altLang="zh-CN" sz="2000">
                <a:solidFill>
                  <a:schemeClr val="tx1"/>
                </a:solidFill>
                <a:latin typeface="Arial" panose="020B0604020202020204" pitchFamily="34" charset="0"/>
                <a:ea typeface="宋体" panose="02010600030101010101" pitchFamily="2" charset="-122"/>
              </a:rPr>
              <a:t>z</a:t>
            </a:r>
            <a:r>
              <a:rPr lang="zh-CN" altLang="en-US" sz="2000">
                <a:solidFill>
                  <a:schemeClr val="tx1"/>
                </a:solidFill>
                <a:latin typeface="Arial" panose="020B0604020202020204" pitchFamily="34" charset="0"/>
                <a:ea typeface="宋体" panose="02010600030101010101" pitchFamily="2" charset="-122"/>
              </a:rPr>
              <a:t>，则</a:t>
            </a:r>
            <a:r>
              <a:rPr lang="en-US" altLang="zh-CN" sz="2000">
                <a:solidFill>
                  <a:schemeClr val="tx1"/>
                </a:solidFill>
                <a:latin typeface="Arial" panose="020B0604020202020204" pitchFamily="34" charset="0"/>
                <a:ea typeface="宋体" panose="02010600030101010101" pitchFamily="2" charset="-122"/>
              </a:rPr>
              <a:t>x</a:t>
            </a:r>
            <a:r>
              <a:rPr lang="zh-CN" altLang="en-US" sz="2000">
                <a:solidFill>
                  <a:schemeClr val="tx1"/>
                </a:solidFill>
                <a:latin typeface="Arial" panose="020B0604020202020204" pitchFamily="34" charset="0"/>
                <a:ea typeface="宋体" panose="02010600030101010101" pitchFamily="2" charset="-122"/>
              </a:rPr>
              <a:t>能整除</a:t>
            </a:r>
            <a:r>
              <a:rPr lang="en-US" altLang="zh-CN" sz="2000">
                <a:solidFill>
                  <a:schemeClr val="tx1"/>
                </a:solidFill>
                <a:latin typeface="Arial" panose="020B0604020202020204" pitchFamily="34" charset="0"/>
                <a:ea typeface="宋体" panose="02010600030101010101" pitchFamily="2" charset="-122"/>
              </a:rPr>
              <a:t>z</a:t>
            </a:r>
            <a:r>
              <a:rPr lang="zh-CN" altLang="en-US" sz="2000">
                <a:solidFill>
                  <a:schemeClr val="tx1"/>
                </a:solidFill>
                <a:latin typeface="Arial" panose="020B0604020202020204" pitchFamily="34" charset="0"/>
                <a:ea typeface="宋体" panose="02010600030101010101" pitchFamily="2" charset="-122"/>
              </a:rPr>
              <a:t>；</a:t>
            </a:r>
            <a:endParaRPr lang="en-US" altLang="zh-CN" sz="2000">
              <a:solidFill>
                <a:schemeClr val="tx1"/>
              </a:solidFill>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7248185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4" fill="hold" nodeType="clickEffect">
                                  <p:stCondLst>
                                    <p:cond delay="0"/>
                                  </p:stCondLst>
                                  <p:childTnLst>
                                    <p:set>
                                      <p:cBhvr>
                                        <p:cTn id="10" dur="1" fill="hold">
                                          <p:stCondLst>
                                            <p:cond delay="0"/>
                                          </p:stCondLst>
                                        </p:cTn>
                                        <p:tgtEl>
                                          <p:spTgt spid="34820">
                                            <p:txEl>
                                              <p:pRg st="6" end="6"/>
                                            </p:txEl>
                                          </p:spTgt>
                                        </p:tgtEl>
                                        <p:attrNameLst>
                                          <p:attrName>style.visibility</p:attrName>
                                        </p:attrNameLst>
                                      </p:cBhvr>
                                      <p:to>
                                        <p:strVal val="visible"/>
                                      </p:to>
                                    </p:set>
                                    <p:anim calcmode="lin" valueType="num">
                                      <p:cBhvr additive="base">
                                        <p:cTn id="11" dur="500" fill="hold"/>
                                        <p:tgtEl>
                                          <p:spTgt spid="34820">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4820">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30723" name="Rectangle 2"/>
          <p:cNvSpPr>
            <a:spLocks noGrp="1" noChangeArrowheads="1"/>
          </p:cNvSpPr>
          <p:nvPr>
            <p:ph type="title"/>
          </p:nvPr>
        </p:nvSpPr>
        <p:spPr/>
        <p:txBody>
          <a:bodyPr/>
          <a:lstStyle/>
          <a:p>
            <a:pPr eaLnBrk="1" hangingPunct="1"/>
            <a:r>
              <a:rPr lang="en-US" altLang="zh-CN" b="0" dirty="0">
                <a:latin typeface="+mn-ea"/>
              </a:rPr>
              <a:t>1.3.1 </a:t>
            </a:r>
            <a:r>
              <a:rPr lang="zh-CN" altLang="en-US" b="0" dirty="0">
                <a:latin typeface="+mn-ea"/>
              </a:rPr>
              <a:t>集合、</a:t>
            </a:r>
            <a:r>
              <a:rPr lang="zh-CN" altLang="en-US" u="sng" dirty="0">
                <a:latin typeface="+mn-ea"/>
              </a:rPr>
              <a:t>关系</a:t>
            </a:r>
            <a:r>
              <a:rPr lang="zh-CN" altLang="en-US" b="0" dirty="0">
                <a:latin typeface="+mn-ea"/>
              </a:rPr>
              <a:t>、函数</a:t>
            </a:r>
            <a:endParaRPr lang="en-US" altLang="zh-CN" dirty="0" smtClean="0"/>
          </a:p>
        </p:txBody>
      </p:sp>
      <p:sp>
        <p:nvSpPr>
          <p:cNvPr id="97283" name="Rectangle 3"/>
          <p:cNvSpPr>
            <a:spLocks noGrp="1" noChangeArrowheads="1"/>
          </p:cNvSpPr>
          <p:nvPr>
            <p:ph type="body" idx="1"/>
          </p:nvPr>
        </p:nvSpPr>
        <p:spPr/>
        <p:txBody>
          <a:bodyPr/>
          <a:lstStyle/>
          <a:p>
            <a:pPr eaLnBrk="1" hangingPunct="1">
              <a:defRPr/>
            </a:pPr>
            <a:r>
              <a:rPr lang="zh-CN" altLang="en-US" dirty="0" smtClean="0">
                <a:solidFill>
                  <a:srgbClr val="FF0000"/>
                </a:solidFill>
              </a:rPr>
              <a:t>等价关系</a:t>
            </a:r>
            <a:endParaRPr lang="en-US" altLang="zh-CN" dirty="0" smtClean="0">
              <a:solidFill>
                <a:srgbClr val="FF0000"/>
              </a:solidFill>
            </a:endParaRPr>
          </a:p>
          <a:p>
            <a:pPr lvl="1" eaLnBrk="1" hangingPunct="1">
              <a:defRPr/>
            </a:pPr>
            <a:r>
              <a:rPr lang="zh-CN" altLang="en-US" dirty="0" smtClean="0">
                <a:latin typeface="+mn-lt"/>
                <a:ea typeface="+mn-ea"/>
              </a:rPr>
              <a:t>如果集合</a:t>
            </a:r>
            <a:r>
              <a:rPr lang="en-US" altLang="zh-CN" dirty="0" smtClean="0">
                <a:latin typeface="+mn-lt"/>
                <a:ea typeface="+mn-ea"/>
              </a:rPr>
              <a:t>A</a:t>
            </a:r>
            <a:r>
              <a:rPr lang="zh-CN" altLang="en-US" dirty="0" smtClean="0">
                <a:latin typeface="+mn-lt"/>
                <a:ea typeface="+mn-ea"/>
              </a:rPr>
              <a:t>上的关系是自反的、对称的和传递的，则称它是</a:t>
            </a:r>
            <a:r>
              <a:rPr lang="zh-CN" altLang="en-US" dirty="0" smtClean="0">
                <a:solidFill>
                  <a:srgbClr val="FF0000"/>
                </a:solidFill>
                <a:latin typeface="+mn-lt"/>
                <a:ea typeface="+mn-ea"/>
              </a:rPr>
              <a:t>等价关系</a:t>
            </a:r>
            <a:r>
              <a:rPr lang="zh-CN" altLang="en-US" dirty="0" smtClean="0">
                <a:latin typeface="+mn-lt"/>
                <a:ea typeface="+mn-ea"/>
              </a:rPr>
              <a:t>。</a:t>
            </a:r>
            <a:endParaRPr lang="en-US" altLang="zh-CN" dirty="0" smtClean="0">
              <a:latin typeface="+mn-lt"/>
              <a:ea typeface="+mn-ea"/>
            </a:endParaRPr>
          </a:p>
          <a:p>
            <a:pPr eaLnBrk="1" hangingPunct="1">
              <a:defRPr/>
            </a:pPr>
            <a:r>
              <a:rPr lang="zh-CN" altLang="en-US" dirty="0" smtClean="0">
                <a:solidFill>
                  <a:srgbClr val="FF0000"/>
                </a:solidFill>
              </a:rPr>
              <a:t>等价类</a:t>
            </a:r>
            <a:endParaRPr lang="en-US" altLang="zh-CN" dirty="0" smtClean="0">
              <a:solidFill>
                <a:srgbClr val="FF0000"/>
              </a:solidFill>
            </a:endParaRPr>
          </a:p>
          <a:p>
            <a:pPr lvl="1" eaLnBrk="1" hangingPunct="1">
              <a:defRPr/>
            </a:pPr>
            <a:r>
              <a:rPr lang="en-US" altLang="zh-CN" dirty="0" smtClean="0">
                <a:latin typeface="+mn-lt"/>
                <a:ea typeface="+mn-ea"/>
              </a:rPr>
              <a:t>R</a:t>
            </a:r>
            <a:r>
              <a:rPr lang="zh-CN" altLang="en-US" dirty="0" smtClean="0">
                <a:latin typeface="+mn-lt"/>
                <a:ea typeface="+mn-ea"/>
              </a:rPr>
              <a:t>是</a:t>
            </a:r>
            <a:r>
              <a:rPr lang="en-US" altLang="zh-CN" dirty="0" smtClean="0">
                <a:latin typeface="+mn-lt"/>
                <a:ea typeface="+mn-ea"/>
              </a:rPr>
              <a:t>A</a:t>
            </a:r>
            <a:r>
              <a:rPr lang="zh-CN" altLang="en-US" dirty="0" smtClean="0">
                <a:latin typeface="+mn-lt"/>
                <a:ea typeface="+mn-ea"/>
              </a:rPr>
              <a:t>上的等价关系，此情况下，</a:t>
            </a:r>
            <a:r>
              <a:rPr lang="en-US" altLang="zh-CN" dirty="0" smtClean="0">
                <a:latin typeface="+mn-lt"/>
                <a:ea typeface="+mn-ea"/>
              </a:rPr>
              <a:t>R</a:t>
            </a:r>
            <a:r>
              <a:rPr lang="zh-CN" altLang="en-US" dirty="0" smtClean="0">
                <a:latin typeface="+mn-lt"/>
                <a:ea typeface="+mn-ea"/>
              </a:rPr>
              <a:t>划分</a:t>
            </a:r>
            <a:r>
              <a:rPr lang="en-US" altLang="zh-CN" dirty="0" smtClean="0">
                <a:latin typeface="+mn-lt"/>
                <a:ea typeface="+mn-ea"/>
              </a:rPr>
              <a:t>A</a:t>
            </a:r>
            <a:r>
              <a:rPr lang="zh-CN" altLang="en-US" dirty="0" smtClean="0">
                <a:latin typeface="+mn-lt"/>
                <a:ea typeface="+mn-ea"/>
              </a:rPr>
              <a:t>成为等价类</a:t>
            </a:r>
            <a:r>
              <a:rPr lang="en-US" altLang="zh-CN" dirty="0" smtClean="0">
                <a:latin typeface="+mn-lt"/>
                <a:ea typeface="+mn-ea"/>
              </a:rPr>
              <a:t>C</a:t>
            </a:r>
            <a:r>
              <a:rPr lang="en-US" altLang="zh-CN" baseline="-25000" dirty="0" smtClean="0">
                <a:latin typeface="+mn-lt"/>
                <a:ea typeface="+mn-ea"/>
              </a:rPr>
              <a:t>1</a:t>
            </a:r>
            <a:r>
              <a:rPr lang="en-US" altLang="zh-CN" dirty="0" smtClean="0">
                <a:latin typeface="+mn-lt"/>
                <a:ea typeface="+mn-ea"/>
              </a:rPr>
              <a:t>,C</a:t>
            </a:r>
            <a:r>
              <a:rPr lang="en-US" altLang="zh-CN" baseline="-25000" dirty="0" smtClean="0">
                <a:latin typeface="+mn-lt"/>
                <a:ea typeface="+mn-ea"/>
              </a:rPr>
              <a:t>2</a:t>
            </a:r>
            <a:r>
              <a:rPr lang="en-US" altLang="zh-CN" dirty="0" smtClean="0">
                <a:latin typeface="+mn-lt"/>
                <a:ea typeface="+mn-ea"/>
              </a:rPr>
              <a:t>,…,C</a:t>
            </a:r>
            <a:r>
              <a:rPr lang="en-US" altLang="zh-CN" baseline="-25000" dirty="0" smtClean="0">
                <a:latin typeface="+mn-lt"/>
                <a:ea typeface="+mn-ea"/>
              </a:rPr>
              <a:t>k</a:t>
            </a:r>
            <a:r>
              <a:rPr lang="en-US" altLang="zh-CN" dirty="0" smtClean="0">
                <a:latin typeface="+mn-lt"/>
                <a:ea typeface="+mn-ea"/>
              </a:rPr>
              <a:t> </a:t>
            </a:r>
            <a:r>
              <a:rPr lang="zh-CN" altLang="en-US" dirty="0" smtClean="0">
                <a:latin typeface="+mn-lt"/>
                <a:ea typeface="+mn-ea"/>
              </a:rPr>
              <a:t>，这样</a:t>
            </a:r>
            <a:r>
              <a:rPr lang="zh-CN" altLang="en-US" dirty="0" smtClean="0">
                <a:solidFill>
                  <a:srgbClr val="FF0000"/>
                </a:solidFill>
                <a:latin typeface="+mn-lt"/>
                <a:ea typeface="+mn-ea"/>
              </a:rPr>
              <a:t>等价类中的任意两个元素有</a:t>
            </a:r>
            <a:r>
              <a:rPr lang="en-US" altLang="zh-CN" dirty="0" smtClean="0">
                <a:solidFill>
                  <a:srgbClr val="FF0000"/>
                </a:solidFill>
                <a:latin typeface="+mn-lt"/>
                <a:ea typeface="+mn-ea"/>
              </a:rPr>
              <a:t>R</a:t>
            </a:r>
            <a:r>
              <a:rPr lang="zh-CN" altLang="en-US" dirty="0" smtClean="0">
                <a:solidFill>
                  <a:srgbClr val="FF0000"/>
                </a:solidFill>
                <a:latin typeface="+mn-lt"/>
                <a:ea typeface="+mn-ea"/>
              </a:rPr>
              <a:t>关系</a:t>
            </a:r>
            <a:r>
              <a:rPr lang="zh-CN" altLang="en-US" dirty="0" smtClean="0">
                <a:latin typeface="+mn-lt"/>
                <a:ea typeface="+mn-ea"/>
              </a:rPr>
              <a:t>。也就是对于任意</a:t>
            </a:r>
            <a:r>
              <a:rPr lang="en-US" altLang="zh-CN" dirty="0" smtClean="0">
                <a:latin typeface="+mn-lt"/>
                <a:ea typeface="+mn-ea"/>
              </a:rPr>
              <a:t>C</a:t>
            </a:r>
            <a:r>
              <a:rPr lang="en-US" altLang="zh-CN" baseline="-25000" dirty="0" smtClean="0">
                <a:latin typeface="+mn-lt"/>
                <a:ea typeface="+mn-ea"/>
              </a:rPr>
              <a:t>i</a:t>
            </a:r>
            <a:r>
              <a:rPr lang="en-US" altLang="zh-CN" dirty="0" smtClean="0">
                <a:latin typeface="+mn-lt"/>
                <a:ea typeface="+mn-ea"/>
              </a:rPr>
              <a:t>,1</a:t>
            </a:r>
            <a:r>
              <a:rPr lang="en-US" altLang="zh-CN" dirty="0" smtClean="0">
                <a:latin typeface="+mn-lt"/>
                <a:ea typeface="+mn-ea"/>
                <a:sym typeface="Symbol" pitchFamily="18" charset="2"/>
              </a:rPr>
              <a:t>ik</a:t>
            </a:r>
            <a:r>
              <a:rPr lang="zh-CN" altLang="en-US" dirty="0" smtClean="0">
                <a:latin typeface="+mn-lt"/>
                <a:ea typeface="+mn-ea"/>
                <a:sym typeface="Symbol" pitchFamily="18" charset="2"/>
              </a:rPr>
              <a:t>，如果</a:t>
            </a:r>
            <a:r>
              <a:rPr lang="en-US" altLang="zh-CN" dirty="0" smtClean="0">
                <a:latin typeface="+mn-lt"/>
                <a:ea typeface="+mn-ea"/>
                <a:sym typeface="Symbol" pitchFamily="18" charset="2"/>
              </a:rPr>
              <a:t>x </a:t>
            </a:r>
            <a:r>
              <a:rPr lang="en-US" altLang="zh-CN" dirty="0" err="1" smtClean="0">
                <a:latin typeface="+mn-lt"/>
                <a:ea typeface="+mn-ea"/>
                <a:sym typeface="Symbol" pitchFamily="18" charset="2"/>
              </a:rPr>
              <a:t>C</a:t>
            </a:r>
            <a:r>
              <a:rPr lang="en-US" altLang="zh-CN" baseline="-25000" dirty="0" err="1" smtClean="0">
                <a:latin typeface="+mn-lt"/>
                <a:ea typeface="+mn-ea"/>
                <a:sym typeface="Symbol" pitchFamily="18" charset="2"/>
              </a:rPr>
              <a:t>i</a:t>
            </a:r>
            <a:r>
              <a:rPr lang="en-US" altLang="zh-CN" dirty="0" smtClean="0">
                <a:latin typeface="+mn-lt"/>
                <a:ea typeface="+mn-ea"/>
                <a:sym typeface="Symbol" pitchFamily="18" charset="2"/>
              </a:rPr>
              <a:t> </a:t>
            </a:r>
            <a:r>
              <a:rPr lang="zh-CN" altLang="en-US" dirty="0" smtClean="0">
                <a:latin typeface="+mn-lt"/>
                <a:ea typeface="+mn-ea"/>
                <a:sym typeface="Symbol" pitchFamily="18" charset="2"/>
              </a:rPr>
              <a:t>且</a:t>
            </a:r>
            <a:r>
              <a:rPr lang="en-US" altLang="zh-CN" dirty="0" smtClean="0">
                <a:latin typeface="+mn-lt"/>
                <a:ea typeface="+mn-ea"/>
                <a:sym typeface="Symbol" pitchFamily="18" charset="2"/>
              </a:rPr>
              <a:t>y </a:t>
            </a:r>
            <a:r>
              <a:rPr lang="en-US" altLang="zh-CN" dirty="0" err="1" smtClean="0">
                <a:latin typeface="+mn-lt"/>
                <a:ea typeface="+mn-ea"/>
                <a:sym typeface="Symbol" pitchFamily="18" charset="2"/>
              </a:rPr>
              <a:t>C</a:t>
            </a:r>
            <a:r>
              <a:rPr lang="en-US" altLang="zh-CN" baseline="-25000" dirty="0" err="1" smtClean="0">
                <a:latin typeface="+mn-lt"/>
                <a:ea typeface="+mn-ea"/>
                <a:sym typeface="Symbol" pitchFamily="18" charset="2"/>
              </a:rPr>
              <a:t>i</a:t>
            </a:r>
            <a:r>
              <a:rPr lang="zh-CN" altLang="en-US" baseline="-25000" dirty="0" smtClean="0">
                <a:latin typeface="+mn-lt"/>
                <a:ea typeface="+mn-ea"/>
                <a:sym typeface="Symbol" pitchFamily="18" charset="2"/>
              </a:rPr>
              <a:t>，</a:t>
            </a:r>
            <a:r>
              <a:rPr lang="zh-CN" altLang="en-US" dirty="0" smtClean="0">
                <a:latin typeface="+mn-lt"/>
                <a:ea typeface="+mn-ea"/>
                <a:sym typeface="Symbol" pitchFamily="18" charset="2"/>
              </a:rPr>
              <a:t>则</a:t>
            </a:r>
            <a:r>
              <a:rPr lang="en-US" altLang="zh-CN" dirty="0" smtClean="0">
                <a:latin typeface="+mn-lt"/>
                <a:ea typeface="+mn-ea"/>
                <a:sym typeface="Symbol" pitchFamily="18" charset="2"/>
              </a:rPr>
              <a:t> (</a:t>
            </a:r>
            <a:r>
              <a:rPr lang="en-US" altLang="zh-CN" dirty="0" err="1" smtClean="0">
                <a:latin typeface="+mn-lt"/>
                <a:ea typeface="+mn-ea"/>
                <a:sym typeface="Symbol" pitchFamily="18" charset="2"/>
              </a:rPr>
              <a:t>x,y</a:t>
            </a:r>
            <a:r>
              <a:rPr lang="en-US" altLang="zh-CN" dirty="0" smtClean="0">
                <a:latin typeface="+mn-lt"/>
                <a:ea typeface="+mn-ea"/>
                <a:sym typeface="Symbol" pitchFamily="18" charset="2"/>
              </a:rPr>
              <a:t>)R</a:t>
            </a:r>
            <a:r>
              <a:rPr lang="zh-CN" altLang="en-US" dirty="0" smtClean="0">
                <a:latin typeface="+mn-lt"/>
                <a:ea typeface="+mn-ea"/>
                <a:sym typeface="Symbol" pitchFamily="18" charset="2"/>
              </a:rPr>
              <a:t>。另一方面，如果</a:t>
            </a:r>
            <a:r>
              <a:rPr lang="en-US" altLang="zh-CN" dirty="0" smtClean="0">
                <a:latin typeface="+mn-lt"/>
                <a:ea typeface="+mn-ea"/>
                <a:sym typeface="Symbol" pitchFamily="18" charset="2"/>
              </a:rPr>
              <a:t> x </a:t>
            </a:r>
            <a:r>
              <a:rPr lang="en-US" altLang="zh-CN" dirty="0" err="1" smtClean="0">
                <a:latin typeface="+mn-lt"/>
                <a:ea typeface="+mn-ea"/>
                <a:sym typeface="Symbol" pitchFamily="18" charset="2"/>
              </a:rPr>
              <a:t>C</a:t>
            </a:r>
            <a:r>
              <a:rPr lang="en-US" altLang="zh-CN" baseline="-25000" dirty="0" err="1" smtClean="0">
                <a:latin typeface="+mn-lt"/>
                <a:ea typeface="+mn-ea"/>
                <a:sym typeface="Symbol" pitchFamily="18" charset="2"/>
              </a:rPr>
              <a:t>i</a:t>
            </a:r>
            <a:r>
              <a:rPr lang="en-US" altLang="zh-CN" dirty="0" smtClean="0">
                <a:latin typeface="+mn-lt"/>
                <a:ea typeface="+mn-ea"/>
                <a:sym typeface="Symbol" pitchFamily="18" charset="2"/>
              </a:rPr>
              <a:t> </a:t>
            </a:r>
            <a:r>
              <a:rPr lang="zh-CN" altLang="en-US" dirty="0" smtClean="0">
                <a:latin typeface="+mn-lt"/>
                <a:ea typeface="+mn-ea"/>
                <a:sym typeface="Symbol" pitchFamily="18" charset="2"/>
              </a:rPr>
              <a:t>且</a:t>
            </a:r>
            <a:r>
              <a:rPr lang="en-US" altLang="zh-CN" dirty="0" smtClean="0">
                <a:latin typeface="+mn-lt"/>
                <a:ea typeface="+mn-ea"/>
                <a:sym typeface="Symbol" pitchFamily="18" charset="2"/>
              </a:rPr>
              <a:t>y </a:t>
            </a:r>
            <a:r>
              <a:rPr lang="en-US" altLang="zh-CN" dirty="0" err="1" smtClean="0">
                <a:latin typeface="+mn-lt"/>
                <a:ea typeface="+mn-ea"/>
                <a:sym typeface="Symbol" pitchFamily="18" charset="2"/>
              </a:rPr>
              <a:t>C</a:t>
            </a:r>
            <a:r>
              <a:rPr lang="en-US" altLang="zh-CN" baseline="-25000" dirty="0" err="1" smtClean="0">
                <a:latin typeface="+mn-lt"/>
                <a:ea typeface="+mn-ea"/>
                <a:sym typeface="Symbol" pitchFamily="18" charset="2"/>
              </a:rPr>
              <a:t>j</a:t>
            </a:r>
            <a:r>
              <a:rPr lang="en-US" altLang="zh-CN" dirty="0" smtClean="0">
                <a:latin typeface="+mn-lt"/>
                <a:ea typeface="+mn-ea"/>
                <a:sym typeface="Symbol" pitchFamily="18" charset="2"/>
              </a:rPr>
              <a:t> </a:t>
            </a:r>
            <a:r>
              <a:rPr lang="zh-CN" altLang="en-US" dirty="0" smtClean="0">
                <a:latin typeface="+mn-lt"/>
                <a:ea typeface="+mn-ea"/>
                <a:sym typeface="Symbol" pitchFamily="18" charset="2"/>
              </a:rPr>
              <a:t>，</a:t>
            </a:r>
            <a:r>
              <a:rPr lang="en-US" altLang="zh-CN" dirty="0" err="1" smtClean="0">
                <a:latin typeface="+mn-lt"/>
                <a:ea typeface="+mn-ea"/>
                <a:sym typeface="Symbol" pitchFamily="18" charset="2"/>
              </a:rPr>
              <a:t>ij</a:t>
            </a:r>
            <a:r>
              <a:rPr lang="zh-CN" altLang="en-US" dirty="0" smtClean="0">
                <a:latin typeface="+mn-lt"/>
                <a:ea typeface="+mn-ea"/>
                <a:sym typeface="Symbol" pitchFamily="18" charset="2"/>
              </a:rPr>
              <a:t>，那么</a:t>
            </a:r>
            <a:r>
              <a:rPr lang="en-US" altLang="zh-CN" dirty="0" smtClean="0">
                <a:latin typeface="+mn-lt"/>
                <a:ea typeface="+mn-ea"/>
                <a:sym typeface="Symbol" pitchFamily="18" charset="2"/>
              </a:rPr>
              <a:t> (</a:t>
            </a:r>
            <a:r>
              <a:rPr lang="en-US" altLang="zh-CN" dirty="0" err="1" smtClean="0">
                <a:latin typeface="+mn-lt"/>
                <a:ea typeface="+mn-ea"/>
                <a:sym typeface="Symbol" pitchFamily="18" charset="2"/>
              </a:rPr>
              <a:t>x,y</a:t>
            </a:r>
            <a:r>
              <a:rPr lang="en-US" altLang="zh-CN" dirty="0" smtClean="0">
                <a:latin typeface="+mn-lt"/>
                <a:ea typeface="+mn-ea"/>
                <a:sym typeface="Symbol" pitchFamily="18" charset="2"/>
              </a:rPr>
              <a:t>)R</a:t>
            </a:r>
            <a:r>
              <a:rPr lang="zh-CN" altLang="en-US" dirty="0" smtClean="0">
                <a:latin typeface="+mn-lt"/>
                <a:ea typeface="+mn-ea"/>
                <a:sym typeface="Symbol" pitchFamily="18" charset="2"/>
              </a:rPr>
              <a:t>。</a:t>
            </a:r>
            <a:endParaRPr lang="en-US" altLang="zh-CN" dirty="0" smtClean="0">
              <a:latin typeface="+mn-lt"/>
              <a:ea typeface="+mn-ea"/>
            </a:endParaRPr>
          </a:p>
        </p:txBody>
      </p:sp>
    </p:spTree>
    <p:extLst>
      <p:ext uri="{BB962C8B-B14F-4D97-AF65-F5344CB8AC3E}">
        <p14:creationId xmlns:p14="http://schemas.microsoft.com/office/powerpoint/2010/main" val="14809296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32771" name="Rectangle 2"/>
          <p:cNvSpPr>
            <a:spLocks noGrp="1" noChangeArrowheads="1"/>
          </p:cNvSpPr>
          <p:nvPr>
            <p:ph type="title"/>
          </p:nvPr>
        </p:nvSpPr>
        <p:spPr/>
        <p:txBody>
          <a:bodyPr/>
          <a:lstStyle/>
          <a:p>
            <a:pPr eaLnBrk="1" hangingPunct="1"/>
            <a:r>
              <a:rPr lang="en-US" altLang="zh-CN" b="0" dirty="0">
                <a:latin typeface="+mn-ea"/>
              </a:rPr>
              <a:t>1.3.1 </a:t>
            </a:r>
            <a:r>
              <a:rPr lang="zh-CN" altLang="en-US" b="0" dirty="0">
                <a:latin typeface="+mn-ea"/>
              </a:rPr>
              <a:t>集合、</a:t>
            </a:r>
            <a:r>
              <a:rPr lang="zh-CN" altLang="en-US" u="sng" dirty="0">
                <a:latin typeface="+mn-ea"/>
              </a:rPr>
              <a:t>关系</a:t>
            </a:r>
            <a:r>
              <a:rPr lang="zh-CN" altLang="en-US" b="0" dirty="0">
                <a:latin typeface="+mn-ea"/>
              </a:rPr>
              <a:t>、函数</a:t>
            </a:r>
            <a:endParaRPr lang="en-US" altLang="zh-CN" dirty="0" smtClean="0"/>
          </a:p>
        </p:txBody>
      </p:sp>
      <p:sp>
        <p:nvSpPr>
          <p:cNvPr id="32772" name="Rectangle 3"/>
          <p:cNvSpPr>
            <a:spLocks noGrp="1" noChangeArrowheads="1"/>
          </p:cNvSpPr>
          <p:nvPr>
            <p:ph type="body" idx="1"/>
          </p:nvPr>
        </p:nvSpPr>
        <p:spPr>
          <a:xfrm>
            <a:off x="889000" y="1268413"/>
            <a:ext cx="7931150" cy="4525962"/>
          </a:xfrm>
        </p:spPr>
        <p:txBody>
          <a:bodyPr/>
          <a:lstStyle/>
          <a:p>
            <a:pPr eaLnBrk="1" hangingPunct="1"/>
            <a:r>
              <a:rPr lang="zh-CN" altLang="en-US" sz="2200" dirty="0" smtClean="0"/>
              <a:t>例子</a:t>
            </a:r>
            <a:endParaRPr lang="en-US" altLang="zh-CN" sz="2200" dirty="0" smtClean="0"/>
          </a:p>
          <a:p>
            <a:pPr eaLnBrk="1" hangingPunct="1"/>
            <a:r>
              <a:rPr lang="zh-CN" altLang="en-US" sz="2200" dirty="0" smtClean="0"/>
              <a:t>设</a:t>
            </a:r>
            <a:r>
              <a:rPr lang="en-US" altLang="zh-CN" sz="2200" dirty="0" smtClean="0"/>
              <a:t>x</a:t>
            </a:r>
            <a:r>
              <a:rPr lang="zh-CN" altLang="en-US" sz="2200" dirty="0" smtClean="0"/>
              <a:t>和</a:t>
            </a:r>
            <a:r>
              <a:rPr lang="en-US" altLang="zh-CN" sz="2200" dirty="0" smtClean="0"/>
              <a:t>y</a:t>
            </a:r>
            <a:r>
              <a:rPr lang="zh-CN" altLang="en-US" sz="2200" dirty="0" smtClean="0"/>
              <a:t>是两个整数，</a:t>
            </a:r>
            <a:r>
              <a:rPr lang="en-US" altLang="zh-CN" sz="2200" dirty="0" smtClean="0"/>
              <a:t>n</a:t>
            </a:r>
            <a:r>
              <a:rPr lang="zh-CN" altLang="en-US" sz="2200" dirty="0" smtClean="0"/>
              <a:t>是正整数，如果对于某个整数</a:t>
            </a:r>
            <a:r>
              <a:rPr lang="en-US" altLang="zh-CN" sz="2200" dirty="0" smtClean="0"/>
              <a:t>k</a:t>
            </a:r>
            <a:r>
              <a:rPr lang="zh-CN" altLang="en-US" sz="2200" dirty="0" smtClean="0"/>
              <a:t>，有</a:t>
            </a:r>
            <a:r>
              <a:rPr lang="en-US" altLang="zh-CN" sz="2200" dirty="0" smtClean="0"/>
              <a:t>x-y=</a:t>
            </a:r>
            <a:r>
              <a:rPr lang="en-US" altLang="zh-CN" sz="2200" dirty="0" err="1" smtClean="0"/>
              <a:t>kn</a:t>
            </a:r>
            <a:r>
              <a:rPr lang="zh-CN" altLang="en-US" sz="2200" dirty="0" smtClean="0"/>
              <a:t>，则称</a:t>
            </a:r>
            <a:r>
              <a:rPr lang="en-US" altLang="zh-CN" sz="2200" dirty="0" smtClean="0"/>
              <a:t>x</a:t>
            </a:r>
            <a:r>
              <a:rPr lang="zh-CN" altLang="en-US" sz="2200" dirty="0" smtClean="0"/>
              <a:t>和</a:t>
            </a:r>
            <a:r>
              <a:rPr lang="en-US" altLang="zh-CN" sz="2200" dirty="0" smtClean="0"/>
              <a:t>y</a:t>
            </a:r>
            <a:r>
              <a:rPr lang="zh-CN" altLang="en-US" sz="2200" dirty="0" smtClean="0"/>
              <a:t>模</a:t>
            </a:r>
            <a:r>
              <a:rPr lang="en-US" altLang="zh-CN" sz="2200" dirty="0" smtClean="0"/>
              <a:t>n</a:t>
            </a:r>
            <a:r>
              <a:rPr lang="zh-CN" altLang="en-US" sz="2200" dirty="0" smtClean="0"/>
              <a:t>同余，记为</a:t>
            </a:r>
            <a:endParaRPr lang="en-US" altLang="zh-CN" sz="2200" dirty="0" smtClean="0"/>
          </a:p>
          <a:p>
            <a:pPr eaLnBrk="1" hangingPunct="1">
              <a:buFontTx/>
              <a:buNone/>
            </a:pPr>
            <a:r>
              <a:rPr lang="en-US" altLang="zh-CN" sz="2200" dirty="0" smtClean="0"/>
              <a:t>    		</a:t>
            </a:r>
            <a:r>
              <a:rPr lang="en-US" altLang="zh-CN" sz="2200" i="1" dirty="0" smtClean="0">
                <a:solidFill>
                  <a:schemeClr val="tx2"/>
                </a:solidFill>
              </a:rPr>
              <a:t>x ≡y (mod n)</a:t>
            </a:r>
          </a:p>
          <a:p>
            <a:pPr eaLnBrk="1" hangingPunct="1">
              <a:buFontTx/>
              <a:buNone/>
            </a:pPr>
            <a:r>
              <a:rPr lang="en-US" altLang="zh-CN" sz="2200" dirty="0" smtClean="0"/>
              <a:t>	</a:t>
            </a:r>
            <a:r>
              <a:rPr lang="zh-CN" altLang="en-US" sz="2200" dirty="0" smtClean="0"/>
              <a:t>换句话说，如果</a:t>
            </a:r>
            <a:r>
              <a:rPr lang="en-US" altLang="zh-CN" sz="2200" dirty="0" smtClean="0"/>
              <a:t>x</a:t>
            </a:r>
            <a:r>
              <a:rPr lang="zh-CN" altLang="en-US" sz="2200" dirty="0" smtClean="0"/>
              <a:t>和</a:t>
            </a:r>
            <a:r>
              <a:rPr lang="en-US" altLang="zh-CN" sz="2200" dirty="0" smtClean="0"/>
              <a:t>y</a:t>
            </a:r>
            <a:r>
              <a:rPr lang="zh-CN" altLang="en-US" sz="2200" dirty="0" smtClean="0"/>
              <a:t>被</a:t>
            </a:r>
            <a:r>
              <a:rPr lang="en-US" altLang="zh-CN" sz="2200" dirty="0" smtClean="0"/>
              <a:t>n</a:t>
            </a:r>
            <a:r>
              <a:rPr lang="zh-CN" altLang="en-US" sz="2200" dirty="0" smtClean="0"/>
              <a:t>除的时候，余数相同，就有</a:t>
            </a:r>
            <a:r>
              <a:rPr lang="en-US" altLang="zh-CN" sz="2200" dirty="0" err="1" smtClean="0"/>
              <a:t>x≡y</a:t>
            </a:r>
            <a:r>
              <a:rPr lang="en-US" altLang="zh-CN" sz="2200" dirty="0" smtClean="0"/>
              <a:t>(mod n) </a:t>
            </a:r>
            <a:r>
              <a:rPr lang="zh-CN" altLang="en-US" sz="2200" dirty="0" smtClean="0"/>
              <a:t>。如</a:t>
            </a:r>
            <a:r>
              <a:rPr lang="en-US" altLang="zh-CN" sz="2200" dirty="0" smtClean="0"/>
              <a:t>13≡8 (mod 5) </a:t>
            </a:r>
            <a:r>
              <a:rPr lang="zh-CN" altLang="en-US" sz="2200" dirty="0" smtClean="0"/>
              <a:t>和</a:t>
            </a:r>
            <a:r>
              <a:rPr lang="en-US" altLang="zh-CN" sz="2200" dirty="0" smtClean="0"/>
              <a:t>13≡-2(mod 5)</a:t>
            </a:r>
            <a:r>
              <a:rPr lang="zh-CN" altLang="en-US" sz="2200" dirty="0" smtClean="0"/>
              <a:t>。</a:t>
            </a:r>
            <a:endParaRPr lang="en-US" altLang="zh-CN" sz="2200" dirty="0" smtClean="0"/>
          </a:p>
          <a:p>
            <a:pPr eaLnBrk="1" hangingPunct="1">
              <a:buFontTx/>
              <a:buNone/>
            </a:pPr>
            <a:r>
              <a:rPr lang="zh-CN" altLang="en-US" sz="2200" dirty="0" smtClean="0"/>
              <a:t>    现在定义关系，</a:t>
            </a:r>
            <a:r>
              <a:rPr lang="en-US" altLang="zh-CN" sz="2200" i="1" dirty="0" smtClean="0">
                <a:solidFill>
                  <a:schemeClr val="tx2"/>
                </a:solidFill>
              </a:rPr>
              <a:t> R={(</a:t>
            </a:r>
            <a:r>
              <a:rPr lang="en-US" altLang="zh-CN" sz="2200" i="1" dirty="0" err="1" smtClean="0">
                <a:solidFill>
                  <a:schemeClr val="tx2"/>
                </a:solidFill>
              </a:rPr>
              <a:t>x,y</a:t>
            </a:r>
            <a:r>
              <a:rPr lang="en-US" altLang="zh-CN" sz="2200" i="1" dirty="0" smtClean="0">
                <a:solidFill>
                  <a:schemeClr val="tx2"/>
                </a:solidFill>
              </a:rPr>
              <a:t>)|</a:t>
            </a:r>
            <a:r>
              <a:rPr lang="en-US" altLang="zh-CN" sz="2200" i="1" dirty="0" err="1" smtClean="0">
                <a:solidFill>
                  <a:schemeClr val="tx2"/>
                </a:solidFill>
              </a:rPr>
              <a:t>x,y</a:t>
            </a:r>
            <a:r>
              <a:rPr lang="en-US" altLang="zh-CN" sz="2200" i="1" dirty="0" smtClean="0">
                <a:solidFill>
                  <a:schemeClr val="tx2"/>
                </a:solidFill>
              </a:rPr>
              <a:t> </a:t>
            </a:r>
            <a:r>
              <a:rPr lang="zh-CN" altLang="en-US" sz="2200" dirty="0" smtClean="0">
                <a:solidFill>
                  <a:schemeClr val="tx2"/>
                </a:solidFill>
              </a:rPr>
              <a:t>是整数，</a:t>
            </a:r>
            <a:r>
              <a:rPr lang="zh-CN" altLang="en-US" sz="2200" i="1" dirty="0" smtClean="0">
                <a:solidFill>
                  <a:schemeClr val="tx2"/>
                </a:solidFill>
              </a:rPr>
              <a:t>且</a:t>
            </a:r>
            <a:r>
              <a:rPr lang="en-US" altLang="zh-CN" sz="2200" i="1" dirty="0" err="1" smtClean="0">
                <a:solidFill>
                  <a:schemeClr val="tx2"/>
                </a:solidFill>
              </a:rPr>
              <a:t>x≡y</a:t>
            </a:r>
            <a:r>
              <a:rPr lang="en-US" altLang="zh-CN" sz="2200" i="1" dirty="0" smtClean="0">
                <a:solidFill>
                  <a:schemeClr val="tx2"/>
                </a:solidFill>
              </a:rPr>
              <a:t> (mod n)}.</a:t>
            </a:r>
          </a:p>
          <a:p>
            <a:pPr eaLnBrk="1" hangingPunct="1">
              <a:buFontTx/>
              <a:buNone/>
            </a:pPr>
            <a:r>
              <a:rPr lang="zh-CN" altLang="en-US" sz="2200" dirty="0" smtClean="0"/>
              <a:t>    是等价关系。</a:t>
            </a:r>
            <a:endParaRPr lang="en-US" altLang="zh-CN" sz="2200" dirty="0" smtClean="0"/>
          </a:p>
          <a:p>
            <a:pPr eaLnBrk="1" hangingPunct="1"/>
            <a:r>
              <a:rPr lang="zh-CN" altLang="en-US" sz="2200" dirty="0" smtClean="0"/>
              <a:t>它划分整数集合为</a:t>
            </a:r>
            <a:r>
              <a:rPr lang="en-US" altLang="zh-CN" sz="2200" dirty="0" smtClean="0"/>
              <a:t>n</a:t>
            </a:r>
            <a:r>
              <a:rPr lang="zh-CN" altLang="en-US" sz="2200" dirty="0" smtClean="0"/>
              <a:t>类</a:t>
            </a:r>
            <a:r>
              <a:rPr lang="en-US" altLang="zh-CN" sz="2200" dirty="0" smtClean="0"/>
              <a:t> </a:t>
            </a:r>
            <a:r>
              <a:rPr lang="en-US" altLang="zh-CN" sz="2200" dirty="0" err="1" smtClean="0"/>
              <a:t>C</a:t>
            </a:r>
            <a:r>
              <a:rPr lang="en-US" altLang="zh-CN" sz="2200" baseline="-25000" dirty="0" err="1" smtClean="0"/>
              <a:t>0</a:t>
            </a:r>
            <a:r>
              <a:rPr lang="en-US" altLang="zh-CN" sz="2200" dirty="0" err="1" smtClean="0"/>
              <a:t>,C</a:t>
            </a:r>
            <a:r>
              <a:rPr lang="en-US" altLang="zh-CN" sz="2200" baseline="-25000" dirty="0" err="1" smtClean="0"/>
              <a:t>1</a:t>
            </a:r>
            <a:r>
              <a:rPr lang="en-US" altLang="zh-CN" sz="2200" dirty="0" smtClean="0"/>
              <a:t>,…,C</a:t>
            </a:r>
            <a:r>
              <a:rPr lang="en-US" altLang="zh-CN" sz="2200" baseline="-25000" dirty="0" smtClean="0"/>
              <a:t>n-1</a:t>
            </a:r>
            <a:r>
              <a:rPr lang="en-US" altLang="zh-CN" sz="2200" dirty="0" smtClean="0"/>
              <a:t> </a:t>
            </a:r>
            <a:r>
              <a:rPr lang="zh-CN" altLang="en-US" sz="2200" dirty="0" smtClean="0"/>
              <a:t>，当且仅当</a:t>
            </a:r>
            <a:r>
              <a:rPr lang="en-US" altLang="zh-CN" sz="2200" dirty="0" err="1" smtClean="0"/>
              <a:t>x≡y</a:t>
            </a:r>
            <a:r>
              <a:rPr lang="en-US" altLang="zh-CN" sz="2200" dirty="0" smtClean="0"/>
              <a:t> (mod n)</a:t>
            </a:r>
            <a:r>
              <a:rPr lang="zh-CN" altLang="en-US" sz="2200" dirty="0" smtClean="0"/>
              <a:t>时，有</a:t>
            </a:r>
            <a:r>
              <a:rPr lang="en-US" altLang="zh-CN" sz="2200" dirty="0" err="1" smtClean="0"/>
              <a:t>x</a:t>
            </a:r>
            <a:r>
              <a:rPr lang="en-US" altLang="zh-CN" sz="2200" dirty="0" err="1" smtClean="0">
                <a:sym typeface="Symbol" panose="05050102010706020507" pitchFamily="18" charset="2"/>
              </a:rPr>
              <a:t>∈C</a:t>
            </a:r>
            <a:r>
              <a:rPr lang="en-US" altLang="zh-CN" sz="2200" baseline="-25000" dirty="0" err="1" smtClean="0">
                <a:sym typeface="Symbol" panose="05050102010706020507" pitchFamily="18" charset="2"/>
              </a:rPr>
              <a:t>i</a:t>
            </a:r>
            <a:r>
              <a:rPr lang="en-US" altLang="zh-CN" sz="2200" dirty="0" smtClean="0">
                <a:sym typeface="Symbol" panose="05050102010706020507" pitchFamily="18" charset="2"/>
              </a:rPr>
              <a:t> </a:t>
            </a:r>
            <a:r>
              <a:rPr lang="zh-CN" altLang="en-US" sz="2200" dirty="0" smtClean="0">
                <a:sym typeface="Symbol" panose="05050102010706020507" pitchFamily="18" charset="2"/>
              </a:rPr>
              <a:t>和</a:t>
            </a:r>
            <a:r>
              <a:rPr lang="en-US" altLang="zh-CN" sz="2200" dirty="0" err="1" smtClean="0">
                <a:sym typeface="Symbol" panose="05050102010706020507" pitchFamily="18" charset="2"/>
              </a:rPr>
              <a:t>y∈C</a:t>
            </a:r>
            <a:r>
              <a:rPr lang="en-US" altLang="zh-CN" sz="2200" baseline="-25000" dirty="0" err="1" smtClean="0">
                <a:sym typeface="Symbol" panose="05050102010706020507" pitchFamily="18" charset="2"/>
              </a:rPr>
              <a:t>i</a:t>
            </a:r>
            <a:endParaRPr lang="en-US" altLang="zh-CN" sz="2200" dirty="0" smtClean="0"/>
          </a:p>
        </p:txBody>
      </p:sp>
    </p:spTree>
    <p:extLst>
      <p:ext uri="{BB962C8B-B14F-4D97-AF65-F5344CB8AC3E}">
        <p14:creationId xmlns:p14="http://schemas.microsoft.com/office/powerpoint/2010/main" val="39783347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34819" name="Rectangle 2"/>
          <p:cNvSpPr>
            <a:spLocks noGrp="1" noChangeArrowheads="1"/>
          </p:cNvSpPr>
          <p:nvPr>
            <p:ph type="title"/>
          </p:nvPr>
        </p:nvSpPr>
        <p:spPr/>
        <p:txBody>
          <a:bodyPr/>
          <a:lstStyle/>
          <a:p>
            <a:pPr eaLnBrk="1" hangingPunct="1"/>
            <a:r>
              <a:rPr lang="en-US" altLang="zh-CN" b="0" dirty="0">
                <a:latin typeface="+mn-ea"/>
              </a:rPr>
              <a:t>1.3.1 </a:t>
            </a:r>
            <a:r>
              <a:rPr lang="zh-CN" altLang="en-US" b="0" dirty="0">
                <a:latin typeface="+mn-ea"/>
              </a:rPr>
              <a:t>集合、</a:t>
            </a:r>
            <a:r>
              <a:rPr lang="zh-CN" altLang="en-US" u="sng" dirty="0">
                <a:latin typeface="+mn-ea"/>
              </a:rPr>
              <a:t>关系</a:t>
            </a:r>
            <a:r>
              <a:rPr lang="zh-CN" altLang="en-US" b="0" dirty="0">
                <a:latin typeface="+mn-ea"/>
              </a:rPr>
              <a:t>、函数</a:t>
            </a:r>
            <a:endParaRPr lang="en-US" altLang="zh-CN" dirty="0" smtClean="0"/>
          </a:p>
        </p:txBody>
      </p:sp>
      <p:sp>
        <p:nvSpPr>
          <p:cNvPr id="37892" name="Rectangle 3"/>
          <p:cNvSpPr>
            <a:spLocks noGrp="1" noChangeArrowheads="1"/>
          </p:cNvSpPr>
          <p:nvPr>
            <p:ph type="body" idx="1"/>
          </p:nvPr>
        </p:nvSpPr>
        <p:spPr>
          <a:xfrm>
            <a:off x="889000" y="1268413"/>
            <a:ext cx="7931150" cy="4525962"/>
          </a:xfrm>
        </p:spPr>
        <p:txBody>
          <a:bodyPr/>
          <a:lstStyle/>
          <a:p>
            <a:pPr eaLnBrk="1" hangingPunct="1"/>
            <a:r>
              <a:rPr lang="zh-CN" altLang="en-US" sz="2200" dirty="0" smtClean="0"/>
              <a:t>例子</a:t>
            </a:r>
            <a:endParaRPr lang="en-US" altLang="zh-CN" sz="2200" dirty="0" smtClean="0"/>
          </a:p>
          <a:p>
            <a:pPr eaLnBrk="1" hangingPunct="1"/>
            <a:r>
              <a:rPr lang="en-US" altLang="zh-CN" sz="2200" i="1" dirty="0" smtClean="0">
                <a:solidFill>
                  <a:schemeClr val="tx2"/>
                </a:solidFill>
              </a:rPr>
              <a:t>R={(</a:t>
            </a:r>
            <a:r>
              <a:rPr lang="en-US" altLang="zh-CN" sz="2200" i="1" dirty="0" err="1" smtClean="0">
                <a:solidFill>
                  <a:schemeClr val="tx2"/>
                </a:solidFill>
              </a:rPr>
              <a:t>x,y</a:t>
            </a:r>
            <a:r>
              <a:rPr lang="en-US" altLang="zh-CN" sz="2200" i="1" dirty="0" smtClean="0">
                <a:solidFill>
                  <a:schemeClr val="tx2"/>
                </a:solidFill>
              </a:rPr>
              <a:t>)|</a:t>
            </a:r>
            <a:r>
              <a:rPr lang="en-US" altLang="zh-CN" sz="2200" i="1" dirty="0" err="1" smtClean="0">
                <a:solidFill>
                  <a:schemeClr val="tx2"/>
                </a:solidFill>
              </a:rPr>
              <a:t>x,y</a:t>
            </a:r>
            <a:r>
              <a:rPr lang="en-US" altLang="zh-CN" sz="2200" i="1" dirty="0" smtClean="0">
                <a:solidFill>
                  <a:schemeClr val="tx2"/>
                </a:solidFill>
              </a:rPr>
              <a:t> </a:t>
            </a:r>
            <a:r>
              <a:rPr lang="zh-CN" altLang="en-US" sz="2200" dirty="0" smtClean="0">
                <a:solidFill>
                  <a:schemeClr val="tx2"/>
                </a:solidFill>
              </a:rPr>
              <a:t>是整数，</a:t>
            </a:r>
            <a:r>
              <a:rPr lang="zh-CN" altLang="en-US" sz="2200" i="1" dirty="0" smtClean="0">
                <a:solidFill>
                  <a:schemeClr val="tx2"/>
                </a:solidFill>
              </a:rPr>
              <a:t>且</a:t>
            </a:r>
            <a:r>
              <a:rPr lang="en-US" altLang="zh-CN" sz="2200" i="1" dirty="0" err="1" smtClean="0">
                <a:solidFill>
                  <a:schemeClr val="tx2"/>
                </a:solidFill>
              </a:rPr>
              <a:t>x≡y</a:t>
            </a:r>
            <a:r>
              <a:rPr lang="en-US" altLang="zh-CN" sz="2200" i="1" dirty="0" smtClean="0">
                <a:solidFill>
                  <a:schemeClr val="tx2"/>
                </a:solidFill>
              </a:rPr>
              <a:t> (mod n)}.</a:t>
            </a:r>
            <a:r>
              <a:rPr lang="zh-CN" altLang="en-US" sz="2200" dirty="0" smtClean="0">
                <a:solidFill>
                  <a:schemeClr val="tx2"/>
                </a:solidFill>
              </a:rPr>
              <a:t>是等价关系</a:t>
            </a:r>
            <a:endParaRPr lang="en-US" altLang="zh-CN" sz="2200" dirty="0" smtClean="0"/>
          </a:p>
          <a:p>
            <a:pPr eaLnBrk="1" hangingPunct="1"/>
            <a:r>
              <a:rPr lang="zh-CN" altLang="en-US" sz="2400" dirty="0" smtClean="0"/>
              <a:t>证明： 设任意</a:t>
            </a:r>
            <a:r>
              <a:rPr lang="en-US" altLang="zh-CN" sz="2400" dirty="0" smtClean="0"/>
              <a:t>a， </a:t>
            </a:r>
            <a:r>
              <a:rPr lang="en-US" altLang="zh-CN" sz="2400" dirty="0" err="1" smtClean="0"/>
              <a:t>b，c∈I</a:t>
            </a:r>
            <a:r>
              <a:rPr lang="en-US" altLang="zh-CN" sz="2400" dirty="0" smtClean="0"/>
              <a:t> </a:t>
            </a:r>
            <a:r>
              <a:rPr lang="zh-CN" altLang="en-US" sz="2400" dirty="0" smtClean="0"/>
              <a:t>（整数）</a:t>
            </a:r>
            <a:r>
              <a:rPr lang="en-US" altLang="zh-CN" sz="2400" dirty="0" smtClean="0"/>
              <a:t/>
            </a:r>
            <a:br>
              <a:rPr lang="en-US" altLang="zh-CN" sz="2400" dirty="0" smtClean="0"/>
            </a:br>
            <a:r>
              <a:rPr lang="en-US" altLang="zh-CN" sz="2400" dirty="0" smtClean="0"/>
              <a:t>  Ⅰ：</a:t>
            </a:r>
            <a:r>
              <a:rPr lang="zh-CN" altLang="en-US" sz="2400" dirty="0" smtClean="0"/>
              <a:t>因为</a:t>
            </a:r>
            <a:r>
              <a:rPr lang="en-US" altLang="zh-CN" sz="2400" dirty="0" smtClean="0"/>
              <a:t>a-a=</a:t>
            </a:r>
            <a:r>
              <a:rPr lang="en-US" altLang="zh-CN" sz="2400" dirty="0" err="1" smtClean="0"/>
              <a:t>k·0</a:t>
            </a:r>
            <a:r>
              <a:rPr lang="en-US" altLang="zh-CN" sz="2400" dirty="0" smtClean="0"/>
              <a:t>，</a:t>
            </a:r>
            <a:r>
              <a:rPr lang="zh-CN" altLang="en-US" sz="2400" dirty="0" smtClean="0"/>
              <a:t>所以 </a:t>
            </a:r>
            <a:r>
              <a:rPr lang="en-US" altLang="zh-CN" sz="2400" dirty="0" smtClean="0"/>
              <a:t>&lt;</a:t>
            </a:r>
            <a:r>
              <a:rPr lang="en-US" altLang="zh-CN" sz="2400" dirty="0" err="1" smtClean="0"/>
              <a:t>a，a</a:t>
            </a:r>
            <a:r>
              <a:rPr lang="en-US" altLang="zh-CN" sz="2400" dirty="0" smtClean="0"/>
              <a:t>&gt;∈R</a:t>
            </a:r>
            <a:br>
              <a:rPr lang="en-US" altLang="zh-CN" sz="2400" dirty="0" smtClean="0"/>
            </a:br>
            <a:r>
              <a:rPr lang="en-US" altLang="zh-CN" sz="2400" dirty="0" smtClean="0"/>
              <a:t>  Ⅱ：</a:t>
            </a:r>
            <a:r>
              <a:rPr lang="zh-CN" altLang="en-US" sz="2400" dirty="0" smtClean="0"/>
              <a:t>若</a:t>
            </a:r>
            <a:r>
              <a:rPr lang="en-US" altLang="zh-CN" sz="2400" dirty="0" err="1" smtClean="0"/>
              <a:t>a≡b</a:t>
            </a:r>
            <a:r>
              <a:rPr lang="en-US" altLang="zh-CN" sz="2400" dirty="0" smtClean="0"/>
              <a:t>(mod k)，</a:t>
            </a:r>
            <a:r>
              <a:rPr lang="en-US" altLang="zh-CN" sz="2400" dirty="0" err="1" smtClean="0"/>
              <a:t>a-b＝kt</a:t>
            </a:r>
            <a:r>
              <a:rPr lang="en-US" altLang="zh-CN" sz="2400" dirty="0" smtClean="0"/>
              <a:t>(t</a:t>
            </a:r>
            <a:r>
              <a:rPr lang="zh-CN" altLang="en-US" sz="2400" dirty="0" smtClean="0"/>
              <a:t>为整数</a:t>
            </a:r>
            <a:r>
              <a:rPr lang="en-US" altLang="zh-CN" sz="2400" dirty="0" smtClean="0"/>
              <a:t>)</a:t>
            </a:r>
            <a:r>
              <a:rPr lang="zh-CN" altLang="en-US" sz="2400" dirty="0" smtClean="0"/>
              <a:t>，则</a:t>
            </a:r>
            <a:r>
              <a:rPr lang="en-US" altLang="zh-CN" sz="2400" dirty="0" smtClean="0"/>
              <a:t>b-a＝-</a:t>
            </a:r>
            <a:r>
              <a:rPr lang="en-US" altLang="zh-CN" sz="2400" dirty="0" err="1" smtClean="0"/>
              <a:t>kt</a:t>
            </a:r>
            <a:r>
              <a:rPr lang="en-US" altLang="zh-CN" sz="2400" dirty="0" smtClean="0"/>
              <a:t>，</a:t>
            </a:r>
            <a:r>
              <a:rPr lang="zh-CN" altLang="en-US" sz="2400" dirty="0" smtClean="0"/>
              <a:t>所以</a:t>
            </a:r>
            <a:r>
              <a:rPr lang="en-US" altLang="zh-CN" sz="2400" dirty="0" err="1" smtClean="0"/>
              <a:t>b≡a</a:t>
            </a:r>
            <a:r>
              <a:rPr lang="en-US" altLang="zh-CN" sz="2400" dirty="0" smtClean="0"/>
              <a:t>(mod k)</a:t>
            </a:r>
            <a:br>
              <a:rPr lang="en-US" altLang="zh-CN" sz="2400" dirty="0" smtClean="0"/>
            </a:br>
            <a:r>
              <a:rPr lang="en-US" altLang="zh-CN" sz="2400" dirty="0" smtClean="0"/>
              <a:t>  Ⅲ：</a:t>
            </a:r>
            <a:r>
              <a:rPr lang="zh-CN" altLang="en-US" sz="2400" dirty="0" smtClean="0"/>
              <a:t>若</a:t>
            </a:r>
            <a:r>
              <a:rPr lang="en-US" altLang="zh-CN" sz="2400" dirty="0" err="1" smtClean="0"/>
              <a:t>a≡b</a:t>
            </a:r>
            <a:r>
              <a:rPr lang="en-US" altLang="zh-CN" sz="2400" dirty="0" smtClean="0"/>
              <a:t>(mod k)，</a:t>
            </a:r>
            <a:r>
              <a:rPr lang="en-US" altLang="zh-CN" sz="2400" dirty="0" err="1" smtClean="0"/>
              <a:t>b≡c</a:t>
            </a:r>
            <a:r>
              <a:rPr lang="en-US" altLang="zh-CN" sz="2400" dirty="0" smtClean="0"/>
              <a:t>(mod k)，</a:t>
            </a:r>
            <a:r>
              <a:rPr lang="zh-CN" altLang="en-US" sz="2400" dirty="0" smtClean="0"/>
              <a:t>则</a:t>
            </a:r>
            <a:r>
              <a:rPr lang="en-US" altLang="zh-CN" sz="2400" dirty="0" err="1" smtClean="0"/>
              <a:t>a-b＝kt．b-c＝ks</a:t>
            </a:r>
            <a:r>
              <a:rPr lang="en-US" altLang="zh-CN" sz="2400" dirty="0" smtClean="0"/>
              <a:t>(</a:t>
            </a:r>
            <a:r>
              <a:rPr lang="en-US" altLang="zh-CN" sz="2400" dirty="0" err="1" smtClean="0"/>
              <a:t>t，s</a:t>
            </a:r>
            <a:r>
              <a:rPr lang="zh-CN" altLang="en-US" sz="2400" dirty="0" smtClean="0"/>
              <a:t>为整数</a:t>
            </a:r>
            <a:r>
              <a:rPr lang="en-US" altLang="zh-CN" sz="2400" dirty="0" smtClean="0"/>
              <a:t>)</a:t>
            </a:r>
            <a:r>
              <a:rPr lang="zh-CN" altLang="en-US" sz="2400" dirty="0" smtClean="0"/>
              <a:t>，</a:t>
            </a:r>
            <a:r>
              <a:rPr lang="en-US" altLang="zh-CN" sz="2400" dirty="0" err="1" smtClean="0"/>
              <a:t>a-c＝a-b+b-c＝k</a:t>
            </a:r>
            <a:r>
              <a:rPr lang="en-US" altLang="zh-CN" sz="2400" dirty="0" smtClean="0"/>
              <a:t>(</a:t>
            </a:r>
            <a:r>
              <a:rPr lang="en-US" altLang="zh-CN" sz="2400" dirty="0" err="1" smtClean="0"/>
              <a:t>t+s</a:t>
            </a:r>
            <a:r>
              <a:rPr lang="en-US" altLang="zh-CN" sz="2400" dirty="0" smtClean="0"/>
              <a:t>)，</a:t>
            </a:r>
            <a:r>
              <a:rPr lang="zh-CN" altLang="en-US" sz="2400" dirty="0" smtClean="0"/>
              <a:t>所以 </a:t>
            </a:r>
            <a:r>
              <a:rPr lang="en-US" altLang="zh-CN" sz="2400" dirty="0" err="1" smtClean="0"/>
              <a:t>a≡c</a:t>
            </a:r>
            <a:r>
              <a:rPr lang="en-US" altLang="zh-CN" sz="2400" dirty="0" smtClean="0"/>
              <a:t>(mod k)</a:t>
            </a:r>
          </a:p>
          <a:p>
            <a:pPr eaLnBrk="1" hangingPunct="1"/>
            <a:r>
              <a:rPr lang="zh-CN" altLang="en-US" sz="2400" dirty="0" smtClean="0"/>
              <a:t>等价类为：（</a:t>
            </a:r>
            <a:r>
              <a:rPr lang="en-US" altLang="zh-CN" sz="2400" dirty="0" smtClean="0"/>
              <a:t>n=3</a:t>
            </a:r>
            <a:r>
              <a:rPr lang="zh-CN" altLang="en-US" sz="2400" dirty="0" smtClean="0"/>
              <a:t>时）</a:t>
            </a:r>
            <a:endParaRPr lang="en-US" altLang="zh-CN" sz="2400" dirty="0" smtClean="0"/>
          </a:p>
          <a:p>
            <a:pPr eaLnBrk="1" hangingPunct="1">
              <a:buFontTx/>
              <a:buNone/>
            </a:pPr>
            <a:r>
              <a:rPr lang="en-US" altLang="zh-CN" sz="2400" dirty="0" smtClean="0"/>
              <a:t>       </a:t>
            </a:r>
            <a:r>
              <a:rPr lang="en-US" altLang="zh-CN" sz="2000" dirty="0" err="1" smtClean="0"/>
              <a:t>C</a:t>
            </a:r>
            <a:r>
              <a:rPr lang="en-US" altLang="zh-CN" sz="2000" baseline="-25000" dirty="0" err="1" smtClean="0"/>
              <a:t>0</a:t>
            </a:r>
            <a:r>
              <a:rPr lang="en-US" altLang="zh-CN" sz="2000" baseline="-25000" dirty="0" smtClean="0"/>
              <a:t> </a:t>
            </a:r>
            <a:r>
              <a:rPr lang="en-US" altLang="zh-CN" sz="2000" dirty="0" smtClean="0"/>
              <a:t>＝{…，-6，-3，0，3，6，…}</a:t>
            </a:r>
            <a:br>
              <a:rPr lang="en-US" altLang="zh-CN" sz="2000" dirty="0" smtClean="0"/>
            </a:br>
            <a:r>
              <a:rPr lang="en-US" altLang="zh-CN" sz="2000" dirty="0" smtClean="0"/>
              <a:t>   </a:t>
            </a:r>
            <a:r>
              <a:rPr lang="en-US" altLang="zh-CN" sz="2000" dirty="0" err="1" smtClean="0"/>
              <a:t>C</a:t>
            </a:r>
            <a:r>
              <a:rPr lang="en-US" altLang="zh-CN" sz="2000" baseline="-25000" dirty="0" err="1" smtClean="0"/>
              <a:t>1</a:t>
            </a:r>
            <a:r>
              <a:rPr lang="en-US" altLang="zh-CN" sz="2000" baseline="-25000" dirty="0" smtClean="0"/>
              <a:t> </a:t>
            </a:r>
            <a:r>
              <a:rPr lang="en-US" altLang="zh-CN" sz="2000" dirty="0" smtClean="0"/>
              <a:t>＝{…，-5，-2，1，4，7，…}</a:t>
            </a:r>
            <a:br>
              <a:rPr lang="en-US" altLang="zh-CN" sz="2000" dirty="0" smtClean="0"/>
            </a:br>
            <a:r>
              <a:rPr lang="en-US" altLang="zh-CN" sz="2000" dirty="0" smtClean="0"/>
              <a:t>   </a:t>
            </a:r>
            <a:r>
              <a:rPr lang="en-US" altLang="zh-CN" sz="2000" dirty="0" err="1" smtClean="0"/>
              <a:t>C</a:t>
            </a:r>
            <a:r>
              <a:rPr lang="en-US" altLang="zh-CN" sz="2000" baseline="-25000" dirty="0" err="1" smtClean="0"/>
              <a:t>2</a:t>
            </a:r>
            <a:r>
              <a:rPr lang="en-US" altLang="zh-CN" sz="2000" baseline="-25000" dirty="0" smtClean="0"/>
              <a:t> </a:t>
            </a:r>
            <a:r>
              <a:rPr lang="en-US" altLang="zh-CN" sz="2000" dirty="0" smtClean="0"/>
              <a:t>＝{…，-4，-1，2，5，8，…}</a:t>
            </a:r>
          </a:p>
        </p:txBody>
      </p:sp>
    </p:spTree>
    <p:extLst>
      <p:ext uri="{BB962C8B-B14F-4D97-AF65-F5344CB8AC3E}">
        <p14:creationId xmlns:p14="http://schemas.microsoft.com/office/powerpoint/2010/main" val="289392490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789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36867" name="Rectangle 2"/>
          <p:cNvSpPr>
            <a:spLocks noGrp="1" noChangeArrowheads="1"/>
          </p:cNvSpPr>
          <p:nvPr>
            <p:ph type="title"/>
          </p:nvPr>
        </p:nvSpPr>
        <p:spPr/>
        <p:txBody>
          <a:bodyPr/>
          <a:lstStyle/>
          <a:p>
            <a:pPr eaLnBrk="1" hangingPunct="1"/>
            <a:r>
              <a:rPr lang="en-US" altLang="zh-CN" b="0" dirty="0">
                <a:latin typeface="+mn-ea"/>
              </a:rPr>
              <a:t>1.3.1 </a:t>
            </a:r>
            <a:r>
              <a:rPr lang="zh-CN" altLang="en-US" b="0" dirty="0">
                <a:latin typeface="+mn-ea"/>
              </a:rPr>
              <a:t>集合、关系、</a:t>
            </a:r>
            <a:r>
              <a:rPr lang="zh-CN" altLang="en-US" u="sng" dirty="0">
                <a:latin typeface="+mn-ea"/>
              </a:rPr>
              <a:t>函数</a:t>
            </a:r>
            <a:endParaRPr lang="en-US" altLang="zh-CN" u="sng" dirty="0" smtClean="0">
              <a:solidFill>
                <a:srgbClr val="FF0000"/>
              </a:solidFill>
            </a:endParaRPr>
          </a:p>
        </p:txBody>
      </p:sp>
      <p:sp>
        <p:nvSpPr>
          <p:cNvPr id="98307" name="Rectangle 3"/>
          <p:cNvSpPr>
            <a:spLocks noGrp="1" noChangeArrowheads="1"/>
          </p:cNvSpPr>
          <p:nvPr>
            <p:ph type="body" idx="1"/>
          </p:nvPr>
        </p:nvSpPr>
        <p:spPr>
          <a:xfrm>
            <a:off x="962025" y="1268413"/>
            <a:ext cx="7786688" cy="4525962"/>
          </a:xfrm>
        </p:spPr>
        <p:txBody>
          <a:bodyPr/>
          <a:lstStyle/>
          <a:p>
            <a:pPr eaLnBrk="1" hangingPunct="1">
              <a:defRPr/>
            </a:pPr>
            <a:r>
              <a:rPr lang="zh-CN" altLang="en-US" sz="2400" dirty="0" smtClean="0">
                <a:solidFill>
                  <a:srgbClr val="FF0000"/>
                </a:solidFill>
              </a:rPr>
              <a:t>函数</a:t>
            </a:r>
            <a:endParaRPr lang="en-US" altLang="zh-CN" sz="2400" dirty="0" smtClean="0">
              <a:solidFill>
                <a:srgbClr val="FF0000"/>
              </a:solidFill>
            </a:endParaRPr>
          </a:p>
          <a:p>
            <a:pPr lvl="1" eaLnBrk="1" hangingPunct="1">
              <a:defRPr/>
            </a:pPr>
            <a:r>
              <a:rPr lang="zh-CN" altLang="en-US" sz="2400" dirty="0" smtClean="0">
                <a:latin typeface="+mn-lt"/>
                <a:ea typeface="+mn-ea"/>
              </a:rPr>
              <a:t>函数</a:t>
            </a:r>
            <a:r>
              <a:rPr lang="en-US" altLang="zh-CN" sz="2400" i="1" dirty="0" smtClean="0">
                <a:latin typeface="+mn-lt"/>
                <a:ea typeface="+mn-ea"/>
              </a:rPr>
              <a:t>f</a:t>
            </a:r>
            <a:r>
              <a:rPr lang="en-US" altLang="zh-CN" sz="2400" dirty="0" smtClean="0">
                <a:latin typeface="+mn-lt"/>
                <a:ea typeface="+mn-ea"/>
              </a:rPr>
              <a:t> </a:t>
            </a:r>
            <a:r>
              <a:rPr lang="zh-CN" altLang="en-US" sz="2400" dirty="0" smtClean="0">
                <a:latin typeface="+mn-lt"/>
                <a:ea typeface="+mn-ea"/>
              </a:rPr>
              <a:t>是一个（二元）关系，就是对于每一个元素</a:t>
            </a:r>
            <a:r>
              <a:rPr lang="en-US" altLang="zh-CN" sz="2400" i="1" dirty="0" err="1" smtClean="0">
                <a:latin typeface="+mn-lt"/>
                <a:ea typeface="+mn-ea"/>
              </a:rPr>
              <a:t>x</a:t>
            </a:r>
            <a:r>
              <a:rPr lang="en-US" altLang="zh-CN" sz="2400" dirty="0" err="1" smtClean="0">
                <a:latin typeface="+mn-lt"/>
                <a:ea typeface="+mn-ea"/>
                <a:sym typeface="Symbol" pitchFamily="18" charset="2"/>
              </a:rPr>
              <a:t>Dom</a:t>
            </a:r>
            <a:r>
              <a:rPr lang="en-US" altLang="zh-CN" sz="2400" dirty="0" smtClean="0">
                <a:latin typeface="+mn-lt"/>
                <a:ea typeface="+mn-ea"/>
                <a:sym typeface="Symbol" pitchFamily="18" charset="2"/>
              </a:rPr>
              <a:t>(</a:t>
            </a:r>
            <a:r>
              <a:rPr lang="en-US" altLang="zh-CN" sz="2400" i="1" dirty="0" smtClean="0">
                <a:latin typeface="+mn-lt"/>
                <a:ea typeface="+mn-ea"/>
                <a:sym typeface="Symbol" pitchFamily="18" charset="2"/>
              </a:rPr>
              <a:t>f</a:t>
            </a:r>
            <a:r>
              <a:rPr lang="en-US" altLang="zh-CN" sz="2400" dirty="0" smtClean="0">
                <a:latin typeface="+mn-lt"/>
                <a:ea typeface="+mn-ea"/>
                <a:sym typeface="Symbol" pitchFamily="18" charset="2"/>
              </a:rPr>
              <a:t>)</a:t>
            </a:r>
            <a:r>
              <a:rPr lang="zh-CN" altLang="en-US" sz="2400" dirty="0" smtClean="0">
                <a:latin typeface="+mn-lt"/>
                <a:ea typeface="+mn-ea"/>
                <a:sym typeface="Symbol" pitchFamily="18" charset="2"/>
              </a:rPr>
              <a:t>，</a:t>
            </a:r>
            <a:r>
              <a:rPr lang="zh-CN" altLang="en-US" sz="2400" dirty="0" smtClean="0">
                <a:solidFill>
                  <a:srgbClr val="FF0000"/>
                </a:solidFill>
                <a:latin typeface="+mn-lt"/>
                <a:ea typeface="+mn-ea"/>
                <a:sym typeface="Symbol" pitchFamily="18" charset="2"/>
              </a:rPr>
              <a:t>恰有一个</a:t>
            </a:r>
            <a:r>
              <a:rPr lang="zh-CN" altLang="en-US" sz="2400" dirty="0" smtClean="0">
                <a:latin typeface="+mn-lt"/>
                <a:ea typeface="+mn-ea"/>
                <a:sym typeface="Symbol" pitchFamily="18" charset="2"/>
              </a:rPr>
              <a:t>元素</a:t>
            </a:r>
            <a:r>
              <a:rPr lang="en-US" altLang="zh-CN" sz="2400" i="1" dirty="0" err="1" smtClean="0">
                <a:latin typeface="+mn-lt"/>
                <a:ea typeface="+mn-ea"/>
                <a:sym typeface="Symbol" pitchFamily="18" charset="2"/>
              </a:rPr>
              <a:t>y</a:t>
            </a:r>
            <a:r>
              <a:rPr lang="en-US" altLang="zh-CN" sz="2400" dirty="0" err="1" smtClean="0">
                <a:latin typeface="+mn-lt"/>
                <a:ea typeface="+mn-ea"/>
                <a:sym typeface="Symbol" pitchFamily="18" charset="2"/>
              </a:rPr>
              <a:t>Ran</a:t>
            </a:r>
            <a:r>
              <a:rPr lang="en-US" altLang="zh-CN" sz="2400" dirty="0" smtClean="0">
                <a:latin typeface="+mn-lt"/>
                <a:ea typeface="+mn-ea"/>
                <a:sym typeface="Symbol" pitchFamily="18" charset="2"/>
              </a:rPr>
              <a:t>(</a:t>
            </a:r>
            <a:r>
              <a:rPr lang="en-US" altLang="zh-CN" sz="2400" i="1" dirty="0" smtClean="0">
                <a:latin typeface="+mn-lt"/>
                <a:ea typeface="+mn-ea"/>
                <a:sym typeface="Symbol" pitchFamily="18" charset="2"/>
              </a:rPr>
              <a:t>f</a:t>
            </a:r>
            <a:r>
              <a:rPr lang="en-US" altLang="zh-CN" sz="2400" dirty="0" smtClean="0">
                <a:latin typeface="+mn-lt"/>
                <a:ea typeface="+mn-ea"/>
                <a:sym typeface="Symbol" pitchFamily="18" charset="2"/>
              </a:rPr>
              <a:t>)</a:t>
            </a:r>
            <a:r>
              <a:rPr lang="zh-CN" altLang="en-US" sz="2400" dirty="0" smtClean="0">
                <a:latin typeface="+mn-lt"/>
                <a:ea typeface="+mn-ea"/>
                <a:sym typeface="Symbol" pitchFamily="18" charset="2"/>
              </a:rPr>
              <a:t>，并且</a:t>
            </a:r>
            <a:r>
              <a:rPr lang="en-US" altLang="zh-CN" sz="2400" dirty="0" smtClean="0">
                <a:latin typeface="+mn-lt"/>
                <a:ea typeface="+mn-ea"/>
                <a:sym typeface="Symbol" pitchFamily="18" charset="2"/>
              </a:rPr>
              <a:t>(</a:t>
            </a:r>
            <a:r>
              <a:rPr lang="en-US" altLang="zh-CN" sz="2400" i="1" dirty="0" err="1" smtClean="0">
                <a:latin typeface="+mn-lt"/>
                <a:ea typeface="+mn-ea"/>
                <a:sym typeface="Symbol" pitchFamily="18" charset="2"/>
              </a:rPr>
              <a:t>x</a:t>
            </a:r>
            <a:r>
              <a:rPr lang="en-US" altLang="zh-CN" sz="2400" dirty="0" err="1" smtClean="0">
                <a:latin typeface="+mn-lt"/>
                <a:ea typeface="+mn-ea"/>
                <a:sym typeface="Symbol" pitchFamily="18" charset="2"/>
              </a:rPr>
              <a:t>,</a:t>
            </a:r>
            <a:r>
              <a:rPr lang="en-US" altLang="zh-CN" sz="2400" i="1" dirty="0" err="1" smtClean="0">
                <a:latin typeface="+mn-lt"/>
                <a:ea typeface="+mn-ea"/>
                <a:sym typeface="Symbol" pitchFamily="18" charset="2"/>
              </a:rPr>
              <a:t>y</a:t>
            </a:r>
            <a:r>
              <a:rPr lang="en-US" altLang="zh-CN" sz="2400" dirty="0" smtClean="0">
                <a:latin typeface="+mn-lt"/>
                <a:ea typeface="+mn-ea"/>
                <a:sym typeface="Symbol" pitchFamily="18" charset="2"/>
              </a:rPr>
              <a:t>)</a:t>
            </a:r>
            <a:r>
              <a:rPr lang="en-US" altLang="zh-CN" sz="2400" i="1" dirty="0" smtClean="0">
                <a:latin typeface="+mn-lt"/>
                <a:ea typeface="+mn-ea"/>
                <a:sym typeface="Symbol" pitchFamily="18" charset="2"/>
              </a:rPr>
              <a:t>f</a:t>
            </a:r>
            <a:r>
              <a:rPr lang="zh-CN" altLang="en-US" sz="2400" i="1" dirty="0" smtClean="0">
                <a:latin typeface="+mn-lt"/>
                <a:ea typeface="+mn-ea"/>
                <a:sym typeface="Symbol" pitchFamily="18" charset="2"/>
              </a:rPr>
              <a:t>。</a:t>
            </a:r>
            <a:r>
              <a:rPr lang="zh-CN" altLang="en-US" sz="2400" dirty="0" smtClean="0">
                <a:latin typeface="+mn-lt"/>
                <a:ea typeface="+mn-ea"/>
                <a:sym typeface="Symbol" pitchFamily="18" charset="2"/>
              </a:rPr>
              <a:t>在这种情况下，常常把</a:t>
            </a:r>
            <a:r>
              <a:rPr lang="en-US" altLang="zh-CN" sz="2400" dirty="0" smtClean="0">
                <a:latin typeface="+mn-lt"/>
                <a:ea typeface="+mn-ea"/>
                <a:sym typeface="Symbol" pitchFamily="18" charset="2"/>
              </a:rPr>
              <a:t>(</a:t>
            </a:r>
            <a:r>
              <a:rPr lang="en-US" altLang="zh-CN" sz="2400" i="1" dirty="0" err="1" smtClean="0">
                <a:latin typeface="+mn-lt"/>
                <a:ea typeface="+mn-ea"/>
                <a:sym typeface="Symbol" pitchFamily="18" charset="2"/>
              </a:rPr>
              <a:t>x</a:t>
            </a:r>
            <a:r>
              <a:rPr lang="en-US" altLang="zh-CN" sz="2400" dirty="0" err="1" smtClean="0">
                <a:latin typeface="+mn-lt"/>
                <a:ea typeface="+mn-ea"/>
                <a:sym typeface="Symbol" pitchFamily="18" charset="2"/>
              </a:rPr>
              <a:t>,</a:t>
            </a:r>
            <a:r>
              <a:rPr lang="en-US" altLang="zh-CN" sz="2400" i="1" dirty="0" err="1" smtClean="0">
                <a:latin typeface="+mn-lt"/>
                <a:ea typeface="+mn-ea"/>
                <a:sym typeface="Symbol" pitchFamily="18" charset="2"/>
              </a:rPr>
              <a:t>y</a:t>
            </a:r>
            <a:r>
              <a:rPr lang="en-US" altLang="zh-CN" sz="2400" dirty="0" smtClean="0">
                <a:latin typeface="+mn-lt"/>
                <a:ea typeface="+mn-ea"/>
                <a:sym typeface="Symbol" pitchFamily="18" charset="2"/>
              </a:rPr>
              <a:t>)</a:t>
            </a:r>
            <a:r>
              <a:rPr lang="en-US" altLang="zh-CN" sz="2400" i="1" dirty="0" smtClean="0">
                <a:latin typeface="+mn-lt"/>
                <a:ea typeface="+mn-ea"/>
                <a:sym typeface="Symbol" pitchFamily="18" charset="2"/>
              </a:rPr>
              <a:t>f</a:t>
            </a:r>
            <a:r>
              <a:rPr lang="en-US" altLang="zh-CN" sz="2400" dirty="0" smtClean="0">
                <a:latin typeface="+mn-lt"/>
                <a:ea typeface="+mn-ea"/>
                <a:sym typeface="Symbol" pitchFamily="18" charset="2"/>
              </a:rPr>
              <a:t> </a:t>
            </a:r>
            <a:r>
              <a:rPr lang="zh-CN" altLang="en-US" sz="2400" dirty="0" smtClean="0">
                <a:latin typeface="+mn-lt"/>
                <a:ea typeface="+mn-ea"/>
                <a:sym typeface="Symbol" pitchFamily="18" charset="2"/>
              </a:rPr>
              <a:t>写成</a:t>
            </a:r>
            <a:r>
              <a:rPr lang="en-US" altLang="zh-CN" sz="2400" i="1" dirty="0" smtClean="0">
                <a:latin typeface="+mn-lt"/>
                <a:ea typeface="+mn-ea"/>
                <a:sym typeface="Symbol" pitchFamily="18" charset="2"/>
              </a:rPr>
              <a:t>f(x)=y</a:t>
            </a:r>
            <a:r>
              <a:rPr lang="en-US" altLang="zh-CN" sz="2400" dirty="0" smtClean="0">
                <a:latin typeface="+mn-lt"/>
                <a:ea typeface="+mn-ea"/>
                <a:sym typeface="Symbol" pitchFamily="18" charset="2"/>
              </a:rPr>
              <a:t> </a:t>
            </a:r>
            <a:r>
              <a:rPr lang="zh-CN" altLang="en-US" sz="2400" dirty="0" smtClean="0">
                <a:latin typeface="+mn-lt"/>
                <a:ea typeface="+mn-ea"/>
                <a:sym typeface="Symbol" pitchFamily="18" charset="2"/>
              </a:rPr>
              <a:t>，并且称</a:t>
            </a:r>
            <a:r>
              <a:rPr lang="en-US" altLang="zh-CN" sz="2400" dirty="0" smtClean="0">
                <a:latin typeface="+mn-lt"/>
                <a:ea typeface="+mn-ea"/>
                <a:sym typeface="Symbol" pitchFamily="18" charset="2"/>
              </a:rPr>
              <a:t>y</a:t>
            </a:r>
            <a:r>
              <a:rPr lang="zh-CN" altLang="en-US" sz="2400" dirty="0" smtClean="0">
                <a:latin typeface="+mn-lt"/>
                <a:ea typeface="+mn-ea"/>
                <a:sym typeface="Symbol" pitchFamily="18" charset="2"/>
              </a:rPr>
              <a:t>是</a:t>
            </a:r>
            <a:r>
              <a:rPr lang="en-US" altLang="zh-CN" sz="2400" dirty="0" smtClean="0">
                <a:latin typeface="+mn-lt"/>
                <a:ea typeface="+mn-ea"/>
                <a:sym typeface="Symbol" pitchFamily="18" charset="2"/>
              </a:rPr>
              <a:t>f</a:t>
            </a:r>
            <a:r>
              <a:rPr lang="zh-CN" altLang="en-US" sz="2400" dirty="0" smtClean="0">
                <a:latin typeface="+mn-lt"/>
                <a:ea typeface="+mn-ea"/>
                <a:sym typeface="Symbol" pitchFamily="18" charset="2"/>
              </a:rPr>
              <a:t>在</a:t>
            </a:r>
            <a:r>
              <a:rPr lang="en-US" altLang="zh-CN" sz="2400" dirty="0" smtClean="0">
                <a:latin typeface="+mn-lt"/>
                <a:ea typeface="+mn-ea"/>
                <a:sym typeface="Symbol" pitchFamily="18" charset="2"/>
              </a:rPr>
              <a:t>x</a:t>
            </a:r>
            <a:r>
              <a:rPr lang="zh-CN" altLang="en-US" sz="2400" dirty="0" smtClean="0">
                <a:latin typeface="+mn-lt"/>
                <a:ea typeface="+mn-ea"/>
                <a:sym typeface="Symbol" pitchFamily="18" charset="2"/>
              </a:rPr>
              <a:t>上的</a:t>
            </a:r>
            <a:r>
              <a:rPr lang="zh-CN" altLang="en-US" sz="2400" dirty="0" smtClean="0">
                <a:solidFill>
                  <a:srgbClr val="FF0000"/>
                </a:solidFill>
                <a:latin typeface="+mn-lt"/>
                <a:ea typeface="+mn-ea"/>
                <a:sym typeface="Symbol" pitchFamily="18" charset="2"/>
              </a:rPr>
              <a:t>值或像</a:t>
            </a:r>
            <a:r>
              <a:rPr lang="zh-CN" altLang="en-US" sz="2400" dirty="0" smtClean="0">
                <a:latin typeface="+mn-lt"/>
                <a:ea typeface="+mn-ea"/>
                <a:sym typeface="Symbol" pitchFamily="18" charset="2"/>
              </a:rPr>
              <a:t>。</a:t>
            </a:r>
            <a:endParaRPr lang="en-US" altLang="zh-CN" sz="2400" dirty="0" smtClean="0">
              <a:latin typeface="+mn-lt"/>
              <a:ea typeface="+mn-ea"/>
              <a:sym typeface="Symbol" pitchFamily="18" charset="2"/>
            </a:endParaRPr>
          </a:p>
          <a:p>
            <a:pPr lvl="0" eaLnBrk="1" hangingPunct="1"/>
            <a:r>
              <a:rPr lang="zh-CN" altLang="en-US" sz="2200" dirty="0">
                <a:solidFill>
                  <a:srgbClr val="333399"/>
                </a:solidFill>
              </a:rPr>
              <a:t>例子</a:t>
            </a:r>
            <a:endParaRPr lang="en-US" altLang="zh-CN" sz="2200" dirty="0">
              <a:solidFill>
                <a:srgbClr val="333399"/>
              </a:solidFill>
            </a:endParaRPr>
          </a:p>
          <a:p>
            <a:pPr lvl="1" eaLnBrk="1" hangingPunct="1">
              <a:defRPr/>
            </a:pPr>
            <a:r>
              <a:rPr lang="zh-CN" altLang="en-US" sz="2400" dirty="0" smtClean="0">
                <a:latin typeface="+mn-lt"/>
                <a:ea typeface="+mn-ea"/>
              </a:rPr>
              <a:t>关系</a:t>
            </a:r>
            <a:r>
              <a:rPr lang="en-US" altLang="zh-CN" sz="2400" dirty="0" smtClean="0">
                <a:latin typeface="+mn-lt"/>
                <a:ea typeface="+mn-ea"/>
              </a:rPr>
              <a:t> {(1,2),(3,4),(2,4)} </a:t>
            </a:r>
            <a:r>
              <a:rPr lang="zh-CN" altLang="en-US" sz="2400" dirty="0" smtClean="0">
                <a:latin typeface="+mn-lt"/>
                <a:ea typeface="+mn-ea"/>
              </a:rPr>
              <a:t>是函数，而关系</a:t>
            </a:r>
            <a:r>
              <a:rPr lang="en-US" altLang="zh-CN" sz="2400" dirty="0" smtClean="0">
                <a:latin typeface="+mn-lt"/>
                <a:ea typeface="+mn-ea"/>
              </a:rPr>
              <a:t> {(1,2),(1,4)} </a:t>
            </a:r>
            <a:r>
              <a:rPr lang="zh-CN" altLang="en-US" sz="2400" dirty="0" smtClean="0">
                <a:latin typeface="+mn-lt"/>
                <a:ea typeface="+mn-ea"/>
              </a:rPr>
              <a:t>不是。</a:t>
            </a:r>
            <a:r>
              <a:rPr lang="en-US" altLang="zh-CN" sz="2400" dirty="0" smtClean="0">
                <a:latin typeface="+mn-lt"/>
                <a:ea typeface="+mn-ea"/>
              </a:rPr>
              <a:t> </a:t>
            </a:r>
          </a:p>
          <a:p>
            <a:pPr lvl="1" eaLnBrk="1" hangingPunct="1">
              <a:defRPr/>
            </a:pPr>
            <a:r>
              <a:rPr lang="zh-CN" altLang="en-US" sz="2400" dirty="0" smtClean="0">
                <a:latin typeface="+mn-lt"/>
                <a:ea typeface="+mn-ea"/>
              </a:rPr>
              <a:t>关系</a:t>
            </a:r>
            <a:r>
              <a:rPr lang="en-US" altLang="zh-CN" sz="2400" dirty="0" smtClean="0">
                <a:latin typeface="+mn-lt"/>
                <a:ea typeface="+mn-ea"/>
              </a:rPr>
              <a:t>{(</a:t>
            </a:r>
            <a:r>
              <a:rPr lang="en-US" altLang="zh-CN" sz="2400" dirty="0" err="1" smtClean="0">
                <a:latin typeface="+mn-lt"/>
                <a:ea typeface="+mn-ea"/>
              </a:rPr>
              <a:t>x,y</a:t>
            </a:r>
            <a:r>
              <a:rPr lang="en-US" altLang="zh-CN" sz="2400" dirty="0" smtClean="0">
                <a:latin typeface="+mn-lt"/>
                <a:ea typeface="+mn-ea"/>
              </a:rPr>
              <a:t>)|</a:t>
            </a:r>
            <a:r>
              <a:rPr lang="en-US" altLang="zh-CN" sz="2400" dirty="0" err="1" smtClean="0">
                <a:latin typeface="+mn-lt"/>
                <a:ea typeface="+mn-ea"/>
              </a:rPr>
              <a:t>x,y</a:t>
            </a:r>
            <a:r>
              <a:rPr lang="en-US" altLang="zh-CN" sz="2400" dirty="0" smtClean="0">
                <a:latin typeface="+mn-lt"/>
                <a:ea typeface="+mn-ea"/>
              </a:rPr>
              <a:t> </a:t>
            </a:r>
            <a:r>
              <a:rPr lang="zh-CN" altLang="en-US" sz="2400" dirty="0" smtClean="0">
                <a:latin typeface="+mn-lt"/>
                <a:ea typeface="+mn-ea"/>
              </a:rPr>
              <a:t>是正整数，且</a:t>
            </a:r>
            <a:r>
              <a:rPr lang="en-US" altLang="zh-CN" sz="2400" dirty="0" smtClean="0">
                <a:latin typeface="+mn-lt"/>
                <a:ea typeface="+mn-ea"/>
              </a:rPr>
              <a:t>x=y</a:t>
            </a:r>
            <a:r>
              <a:rPr lang="en-US" altLang="zh-CN" sz="2400" baseline="30000" dirty="0" smtClean="0">
                <a:latin typeface="+mn-lt"/>
                <a:ea typeface="+mn-ea"/>
              </a:rPr>
              <a:t>3</a:t>
            </a:r>
            <a:r>
              <a:rPr lang="en-US" altLang="zh-CN" sz="2400" dirty="0" smtClean="0">
                <a:latin typeface="+mn-lt"/>
                <a:ea typeface="+mn-ea"/>
              </a:rPr>
              <a:t>} </a:t>
            </a:r>
            <a:r>
              <a:rPr lang="zh-CN" altLang="en-US" sz="2400" dirty="0" smtClean="0">
                <a:latin typeface="+mn-lt"/>
                <a:ea typeface="+mn-ea"/>
              </a:rPr>
              <a:t>是一个函数</a:t>
            </a:r>
            <a:r>
              <a:rPr lang="en-US" altLang="zh-CN" sz="2400" dirty="0" smtClean="0">
                <a:latin typeface="+mn-lt"/>
                <a:ea typeface="+mn-ea"/>
              </a:rPr>
              <a:t>, </a:t>
            </a:r>
            <a:r>
              <a:rPr lang="zh-CN" altLang="en-US" sz="2400" dirty="0" smtClean="0">
                <a:latin typeface="+mn-lt"/>
                <a:ea typeface="+mn-ea"/>
              </a:rPr>
              <a:t>而关系</a:t>
            </a:r>
            <a:r>
              <a:rPr lang="en-US" altLang="zh-CN" sz="2400" dirty="0" smtClean="0">
                <a:latin typeface="+mn-lt"/>
                <a:ea typeface="+mn-ea"/>
              </a:rPr>
              <a:t> {(</a:t>
            </a:r>
            <a:r>
              <a:rPr lang="en-US" altLang="zh-CN" sz="2400" dirty="0" err="1" smtClean="0">
                <a:latin typeface="+mn-lt"/>
                <a:ea typeface="+mn-ea"/>
              </a:rPr>
              <a:t>x,y</a:t>
            </a:r>
            <a:r>
              <a:rPr lang="en-US" altLang="zh-CN" sz="2400" dirty="0" smtClean="0">
                <a:latin typeface="+mn-lt"/>
                <a:ea typeface="+mn-ea"/>
              </a:rPr>
              <a:t>)|x </a:t>
            </a:r>
            <a:r>
              <a:rPr lang="zh-CN" altLang="en-US" sz="2400" dirty="0" smtClean="0">
                <a:latin typeface="+mn-lt"/>
                <a:ea typeface="+mn-ea"/>
              </a:rPr>
              <a:t>是正整数</a:t>
            </a:r>
            <a:r>
              <a:rPr lang="en-US" altLang="zh-CN" sz="2400" dirty="0" smtClean="0">
                <a:latin typeface="+mn-lt"/>
                <a:ea typeface="+mn-ea"/>
              </a:rPr>
              <a:t>, y </a:t>
            </a:r>
            <a:r>
              <a:rPr lang="zh-CN" altLang="en-US" sz="2400" dirty="0" smtClean="0">
                <a:latin typeface="+mn-lt"/>
                <a:ea typeface="+mn-ea"/>
              </a:rPr>
              <a:t>是整数，且</a:t>
            </a:r>
            <a:r>
              <a:rPr lang="en-US" altLang="zh-CN" sz="2400" dirty="0" smtClean="0">
                <a:latin typeface="+mn-lt"/>
                <a:ea typeface="+mn-ea"/>
              </a:rPr>
              <a:t>x=y</a:t>
            </a:r>
            <a:r>
              <a:rPr lang="en-US" altLang="zh-CN" sz="2400" baseline="30000" dirty="0" smtClean="0">
                <a:latin typeface="+mn-lt"/>
                <a:ea typeface="+mn-ea"/>
              </a:rPr>
              <a:t>2</a:t>
            </a:r>
            <a:r>
              <a:rPr lang="en-US" altLang="zh-CN" sz="2400" dirty="0" smtClean="0">
                <a:latin typeface="+mn-lt"/>
                <a:ea typeface="+mn-ea"/>
              </a:rPr>
              <a:t>} </a:t>
            </a:r>
            <a:r>
              <a:rPr lang="zh-CN" altLang="en-US" sz="2400" dirty="0" smtClean="0">
                <a:latin typeface="+mn-lt"/>
                <a:ea typeface="+mn-ea"/>
              </a:rPr>
              <a:t>不是函数。</a:t>
            </a:r>
            <a:r>
              <a:rPr lang="en-US" altLang="zh-CN" sz="2400" dirty="0" smtClean="0">
                <a:latin typeface="+mn-lt"/>
                <a:ea typeface="+mn-ea"/>
              </a:rPr>
              <a:t> </a:t>
            </a:r>
          </a:p>
          <a:p>
            <a:pPr lvl="1" eaLnBrk="1" hangingPunct="1">
              <a:defRPr/>
            </a:pPr>
            <a:r>
              <a:rPr lang="zh-CN" altLang="en-US" sz="2400" dirty="0" smtClean="0">
                <a:latin typeface="+mn-lt"/>
                <a:ea typeface="+mn-ea"/>
              </a:rPr>
              <a:t>在例</a:t>
            </a:r>
            <a:r>
              <a:rPr lang="en-US" altLang="zh-CN" sz="2400" dirty="0" smtClean="0">
                <a:latin typeface="+mn-lt"/>
                <a:ea typeface="+mn-ea"/>
              </a:rPr>
              <a:t>2.1</a:t>
            </a:r>
            <a:r>
              <a:rPr lang="zh-CN" altLang="en-US" sz="2400" dirty="0" smtClean="0">
                <a:latin typeface="+mn-lt"/>
                <a:ea typeface="+mn-ea"/>
              </a:rPr>
              <a:t>中</a:t>
            </a:r>
            <a:r>
              <a:rPr lang="en-US" altLang="zh-CN" sz="2400" dirty="0" smtClean="0">
                <a:latin typeface="+mn-lt"/>
                <a:ea typeface="+mn-ea"/>
              </a:rPr>
              <a:t>, R</a:t>
            </a:r>
            <a:r>
              <a:rPr lang="en-US" altLang="zh-CN" sz="2400" baseline="-25000" dirty="0" smtClean="0">
                <a:latin typeface="+mn-lt"/>
                <a:ea typeface="+mn-ea"/>
              </a:rPr>
              <a:t>1</a:t>
            </a:r>
            <a:r>
              <a:rPr lang="en-US" altLang="zh-CN" sz="2400" dirty="0" smtClean="0">
                <a:latin typeface="+mn-lt"/>
                <a:ea typeface="+mn-ea"/>
              </a:rPr>
              <a:t> </a:t>
            </a:r>
            <a:r>
              <a:rPr lang="zh-CN" altLang="en-US" sz="2400" dirty="0" smtClean="0">
                <a:latin typeface="+mn-lt"/>
                <a:ea typeface="+mn-ea"/>
              </a:rPr>
              <a:t>是函数，而</a:t>
            </a:r>
            <a:r>
              <a:rPr lang="en-US" altLang="zh-CN" sz="2400" dirty="0" smtClean="0">
                <a:latin typeface="+mn-lt"/>
                <a:ea typeface="+mn-ea"/>
              </a:rPr>
              <a:t>R</a:t>
            </a:r>
            <a:r>
              <a:rPr lang="en-US" altLang="zh-CN" sz="2400" baseline="-25000" dirty="0" smtClean="0">
                <a:latin typeface="+mn-lt"/>
                <a:ea typeface="+mn-ea"/>
              </a:rPr>
              <a:t>2</a:t>
            </a:r>
            <a:r>
              <a:rPr lang="en-US" altLang="zh-CN" sz="2400" dirty="0" smtClean="0">
                <a:latin typeface="+mn-lt"/>
                <a:ea typeface="+mn-ea"/>
              </a:rPr>
              <a:t> </a:t>
            </a:r>
            <a:r>
              <a:rPr lang="zh-CN" altLang="en-US" sz="2400" dirty="0" smtClean="0">
                <a:latin typeface="+mn-lt"/>
                <a:ea typeface="+mn-ea"/>
              </a:rPr>
              <a:t>和</a:t>
            </a:r>
            <a:r>
              <a:rPr lang="en-US" altLang="zh-CN" sz="2400" dirty="0" smtClean="0">
                <a:latin typeface="+mn-lt"/>
                <a:ea typeface="+mn-ea"/>
              </a:rPr>
              <a:t>R</a:t>
            </a:r>
            <a:r>
              <a:rPr lang="en-US" altLang="zh-CN" sz="2400" baseline="-25000" dirty="0" smtClean="0">
                <a:latin typeface="+mn-lt"/>
                <a:ea typeface="+mn-ea"/>
              </a:rPr>
              <a:t>3</a:t>
            </a:r>
            <a:r>
              <a:rPr lang="en-US" altLang="zh-CN" sz="2400" dirty="0" smtClean="0">
                <a:latin typeface="+mn-lt"/>
                <a:ea typeface="+mn-ea"/>
              </a:rPr>
              <a:t> </a:t>
            </a:r>
            <a:r>
              <a:rPr lang="zh-CN" altLang="en-US" sz="2400" dirty="0" smtClean="0">
                <a:latin typeface="+mn-lt"/>
                <a:ea typeface="+mn-ea"/>
              </a:rPr>
              <a:t>不是</a:t>
            </a:r>
            <a:r>
              <a:rPr lang="en-US" altLang="zh-CN" sz="2400" dirty="0" smtClean="0">
                <a:latin typeface="+mn-lt"/>
                <a:ea typeface="+mn-ea"/>
              </a:rPr>
              <a:t>.</a:t>
            </a:r>
            <a:endParaRPr lang="en-US" altLang="zh-CN" sz="2800" dirty="0" smtClean="0">
              <a:latin typeface="+mn-lt"/>
              <a:ea typeface="+mn-ea"/>
            </a:endParaRPr>
          </a:p>
        </p:txBody>
      </p:sp>
    </p:spTree>
    <p:extLst>
      <p:ext uri="{BB962C8B-B14F-4D97-AF65-F5344CB8AC3E}">
        <p14:creationId xmlns:p14="http://schemas.microsoft.com/office/powerpoint/2010/main" val="42429827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98307">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8307">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8307">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830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38915" name="Rectangle 2"/>
          <p:cNvSpPr>
            <a:spLocks noGrp="1" noChangeArrowheads="1"/>
          </p:cNvSpPr>
          <p:nvPr>
            <p:ph type="title"/>
          </p:nvPr>
        </p:nvSpPr>
        <p:spPr/>
        <p:txBody>
          <a:bodyPr/>
          <a:lstStyle/>
          <a:p>
            <a:pPr eaLnBrk="1" hangingPunct="1"/>
            <a:r>
              <a:rPr lang="en-US" altLang="zh-CN" b="0" dirty="0">
                <a:latin typeface="+mn-ea"/>
              </a:rPr>
              <a:t>1.3.1 </a:t>
            </a:r>
            <a:r>
              <a:rPr lang="zh-CN" altLang="en-US" b="0" dirty="0">
                <a:latin typeface="+mn-ea"/>
              </a:rPr>
              <a:t>集合、关系、</a:t>
            </a:r>
            <a:r>
              <a:rPr lang="zh-CN" altLang="en-US" u="sng" dirty="0">
                <a:latin typeface="+mn-ea"/>
              </a:rPr>
              <a:t>函数</a:t>
            </a:r>
            <a:endParaRPr lang="en-US" altLang="zh-CN" dirty="0" smtClean="0">
              <a:solidFill>
                <a:srgbClr val="FF0000"/>
              </a:solidFill>
            </a:endParaRPr>
          </a:p>
        </p:txBody>
      </p:sp>
      <p:sp>
        <p:nvSpPr>
          <p:cNvPr id="99331" name="Rectangle 3"/>
          <p:cNvSpPr>
            <a:spLocks noGrp="1" noChangeArrowheads="1"/>
          </p:cNvSpPr>
          <p:nvPr>
            <p:ph type="body" idx="1"/>
          </p:nvPr>
        </p:nvSpPr>
        <p:spPr>
          <a:xfrm>
            <a:off x="879475" y="1196975"/>
            <a:ext cx="8229600" cy="4789488"/>
          </a:xfrm>
        </p:spPr>
        <p:txBody>
          <a:bodyPr/>
          <a:lstStyle/>
          <a:p>
            <a:pPr eaLnBrk="1" hangingPunct="1">
              <a:defRPr/>
            </a:pPr>
            <a:r>
              <a:rPr lang="zh-CN" altLang="en-US" sz="2400" dirty="0" smtClean="0">
                <a:sym typeface="Symbol" pitchFamily="18" charset="2"/>
              </a:rPr>
              <a:t>设</a:t>
            </a:r>
            <a:r>
              <a:rPr lang="en-US" altLang="zh-CN" sz="2400" dirty="0" smtClean="0">
                <a:sym typeface="Symbol" pitchFamily="18" charset="2"/>
              </a:rPr>
              <a:t> f </a:t>
            </a:r>
            <a:r>
              <a:rPr lang="zh-CN" altLang="en-US" sz="2400" dirty="0" smtClean="0">
                <a:sym typeface="Symbol" pitchFamily="18" charset="2"/>
              </a:rPr>
              <a:t>是一个函数，对于非空集合</a:t>
            </a:r>
            <a:r>
              <a:rPr lang="en-US" altLang="zh-CN" sz="2400" dirty="0" smtClean="0">
                <a:sym typeface="Symbol" pitchFamily="18" charset="2"/>
              </a:rPr>
              <a:t>A</a:t>
            </a:r>
            <a:r>
              <a:rPr lang="zh-CN" altLang="en-US" sz="2400" dirty="0" smtClean="0">
                <a:sym typeface="Symbol" pitchFamily="18" charset="2"/>
              </a:rPr>
              <a:t>和</a:t>
            </a:r>
            <a:r>
              <a:rPr lang="en-US" altLang="zh-CN" sz="2400" dirty="0" smtClean="0">
                <a:sym typeface="Symbol" pitchFamily="18" charset="2"/>
              </a:rPr>
              <a:t>B</a:t>
            </a:r>
            <a:r>
              <a:rPr lang="zh-CN" altLang="en-US" sz="2400" dirty="0" smtClean="0">
                <a:sym typeface="Symbol" pitchFamily="18" charset="2"/>
              </a:rPr>
              <a:t>，有</a:t>
            </a:r>
            <a:r>
              <a:rPr lang="en-US" altLang="zh-CN" sz="2400" dirty="0" smtClean="0">
                <a:sym typeface="Symbol" pitchFamily="18" charset="2"/>
              </a:rPr>
              <a:t>Dom(f)=A </a:t>
            </a:r>
            <a:r>
              <a:rPr lang="zh-CN" altLang="en-US" sz="2400" dirty="0" smtClean="0">
                <a:sym typeface="Symbol" pitchFamily="18" charset="2"/>
              </a:rPr>
              <a:t>和</a:t>
            </a:r>
            <a:r>
              <a:rPr lang="en-US" altLang="zh-CN" sz="2400" dirty="0" smtClean="0">
                <a:sym typeface="Symbol" pitchFamily="18" charset="2"/>
              </a:rPr>
              <a:t>Ran(f)B </a:t>
            </a:r>
            <a:r>
              <a:rPr lang="zh-CN" altLang="en-US" sz="2400" dirty="0" smtClean="0">
                <a:sym typeface="Symbol" pitchFamily="18" charset="2"/>
              </a:rPr>
              <a:t>，</a:t>
            </a:r>
            <a:endParaRPr lang="en-US" altLang="zh-CN" sz="2400" dirty="0" smtClean="0">
              <a:sym typeface="Symbol" pitchFamily="18" charset="2"/>
            </a:endParaRPr>
          </a:p>
          <a:p>
            <a:pPr lvl="1" eaLnBrk="1" hangingPunct="1">
              <a:defRPr/>
            </a:pPr>
            <a:r>
              <a:rPr lang="zh-CN" altLang="en-US" sz="2100" dirty="0" smtClean="0">
                <a:latin typeface="+mn-lt"/>
                <a:ea typeface="+mn-ea"/>
                <a:sym typeface="Symbol" pitchFamily="18" charset="2"/>
              </a:rPr>
              <a:t>如果</a:t>
            </a:r>
            <a:r>
              <a:rPr lang="en-US" altLang="zh-CN" sz="2100" dirty="0" smtClean="0">
                <a:latin typeface="+mn-lt"/>
                <a:ea typeface="+mn-ea"/>
                <a:sym typeface="Symbol" pitchFamily="18" charset="2"/>
              </a:rPr>
              <a:t>A</a:t>
            </a:r>
            <a:r>
              <a:rPr lang="zh-CN" altLang="en-US" sz="2100" dirty="0" smtClean="0">
                <a:latin typeface="+mn-lt"/>
                <a:ea typeface="+mn-ea"/>
                <a:sym typeface="Symbol" pitchFamily="18" charset="2"/>
              </a:rPr>
              <a:t>中没有不同元素</a:t>
            </a:r>
            <a:r>
              <a:rPr lang="en-US" altLang="zh-CN" sz="2100" dirty="0" smtClean="0">
                <a:latin typeface="+mn-lt"/>
                <a:ea typeface="+mn-ea"/>
                <a:sym typeface="Symbol" pitchFamily="18" charset="2"/>
              </a:rPr>
              <a:t>x</a:t>
            </a:r>
            <a:r>
              <a:rPr lang="zh-CN" altLang="en-US" sz="2100" dirty="0" smtClean="0">
                <a:latin typeface="+mn-lt"/>
                <a:ea typeface="+mn-ea"/>
                <a:sym typeface="Symbol" pitchFamily="18" charset="2"/>
              </a:rPr>
              <a:t>和</a:t>
            </a:r>
            <a:r>
              <a:rPr lang="en-US" altLang="zh-CN" sz="2100" dirty="0" smtClean="0">
                <a:latin typeface="+mn-lt"/>
                <a:ea typeface="+mn-ea"/>
                <a:sym typeface="Symbol" pitchFamily="18" charset="2"/>
              </a:rPr>
              <a:t>y</a:t>
            </a:r>
            <a:r>
              <a:rPr lang="zh-CN" altLang="en-US" sz="2100" dirty="0" smtClean="0">
                <a:latin typeface="+mn-lt"/>
                <a:ea typeface="+mn-ea"/>
                <a:sym typeface="Symbol" pitchFamily="18" charset="2"/>
              </a:rPr>
              <a:t>，使得</a:t>
            </a:r>
            <a:r>
              <a:rPr lang="en-US" altLang="zh-CN" sz="2100" dirty="0" smtClean="0">
                <a:latin typeface="+mn-lt"/>
                <a:ea typeface="+mn-ea"/>
                <a:sym typeface="Symbol" pitchFamily="18" charset="2"/>
              </a:rPr>
              <a:t>f(x)=f(y)</a:t>
            </a:r>
            <a:r>
              <a:rPr lang="zh-CN" altLang="en-US" sz="2100" dirty="0" smtClean="0">
                <a:latin typeface="+mn-lt"/>
                <a:ea typeface="+mn-ea"/>
                <a:sym typeface="Symbol" pitchFamily="18" charset="2"/>
              </a:rPr>
              <a:t>，则称</a:t>
            </a:r>
            <a:r>
              <a:rPr lang="en-US" altLang="zh-CN" sz="2100" dirty="0" smtClean="0">
                <a:latin typeface="+mn-lt"/>
                <a:ea typeface="+mn-ea"/>
                <a:sym typeface="Symbol" pitchFamily="18" charset="2"/>
              </a:rPr>
              <a:t>f</a:t>
            </a:r>
            <a:r>
              <a:rPr lang="zh-CN" altLang="en-US" sz="2100" dirty="0" smtClean="0">
                <a:latin typeface="+mn-lt"/>
                <a:ea typeface="+mn-ea"/>
                <a:sym typeface="Symbol" pitchFamily="18" charset="2"/>
              </a:rPr>
              <a:t>是</a:t>
            </a:r>
            <a:r>
              <a:rPr lang="zh-CN" altLang="en-US" sz="2100" dirty="0" smtClean="0">
                <a:solidFill>
                  <a:srgbClr val="FF0000"/>
                </a:solidFill>
                <a:latin typeface="+mn-lt"/>
                <a:ea typeface="+mn-ea"/>
                <a:sym typeface="Symbol" pitchFamily="18" charset="2"/>
              </a:rPr>
              <a:t>一对一的</a:t>
            </a:r>
            <a:r>
              <a:rPr lang="zh-CN" altLang="en-US" sz="2100" dirty="0" smtClean="0">
                <a:latin typeface="+mn-lt"/>
                <a:ea typeface="+mn-ea"/>
                <a:sym typeface="Symbol" pitchFamily="18" charset="2"/>
              </a:rPr>
              <a:t>，即</a:t>
            </a:r>
            <a:r>
              <a:rPr lang="en-US" altLang="zh-CN" sz="2100" dirty="0" smtClean="0">
                <a:latin typeface="+mn-lt"/>
                <a:ea typeface="+mn-ea"/>
                <a:sym typeface="Symbol" pitchFamily="18" charset="2"/>
              </a:rPr>
              <a:t>f(x)=f(y)</a:t>
            </a:r>
            <a:r>
              <a:rPr lang="zh-CN" altLang="en-US" sz="2100" dirty="0" smtClean="0">
                <a:latin typeface="+mn-lt"/>
                <a:ea typeface="+mn-ea"/>
                <a:sym typeface="Symbol" pitchFamily="18" charset="2"/>
              </a:rPr>
              <a:t>蕴含着</a:t>
            </a:r>
            <a:r>
              <a:rPr lang="en-US" altLang="zh-CN" sz="2100" dirty="0" smtClean="0">
                <a:latin typeface="+mn-lt"/>
                <a:ea typeface="+mn-ea"/>
                <a:sym typeface="Symbol" pitchFamily="18" charset="2"/>
              </a:rPr>
              <a:t>x=y</a:t>
            </a:r>
            <a:r>
              <a:rPr lang="zh-CN" altLang="en-US" sz="2100" dirty="0" smtClean="0">
                <a:latin typeface="+mn-lt"/>
                <a:ea typeface="+mn-ea"/>
                <a:sym typeface="Symbol" pitchFamily="18" charset="2"/>
              </a:rPr>
              <a:t>（单射）。</a:t>
            </a:r>
            <a:endParaRPr lang="en-US" altLang="zh-CN" sz="2100" dirty="0" smtClean="0">
              <a:latin typeface="+mn-lt"/>
              <a:ea typeface="+mn-ea"/>
              <a:sym typeface="Symbol" pitchFamily="18" charset="2"/>
            </a:endParaRPr>
          </a:p>
          <a:p>
            <a:pPr lvl="1" eaLnBrk="1" hangingPunct="1">
              <a:defRPr/>
            </a:pPr>
            <a:r>
              <a:rPr lang="zh-CN" altLang="en-US" sz="2100" dirty="0" smtClean="0">
                <a:latin typeface="+mn-lt"/>
                <a:ea typeface="+mn-ea"/>
                <a:sym typeface="Symbol" pitchFamily="18" charset="2"/>
              </a:rPr>
              <a:t>如果</a:t>
            </a:r>
            <a:r>
              <a:rPr lang="en-US" altLang="zh-CN" sz="2100" dirty="0" smtClean="0">
                <a:latin typeface="+mn-lt"/>
                <a:ea typeface="+mn-ea"/>
                <a:sym typeface="Symbol" pitchFamily="18" charset="2"/>
              </a:rPr>
              <a:t>Ran(f)=B.</a:t>
            </a:r>
            <a:r>
              <a:rPr lang="zh-CN" altLang="en-US" sz="2100" dirty="0" smtClean="0">
                <a:latin typeface="+mn-lt"/>
                <a:ea typeface="+mn-ea"/>
                <a:sym typeface="Symbol" pitchFamily="18" charset="2"/>
              </a:rPr>
              <a:t>则称</a:t>
            </a:r>
            <a:r>
              <a:rPr lang="en-US" altLang="zh-CN" sz="2100" dirty="0" smtClean="0">
                <a:solidFill>
                  <a:srgbClr val="FF0000"/>
                </a:solidFill>
                <a:latin typeface="+mn-lt"/>
                <a:ea typeface="+mn-ea"/>
                <a:sym typeface="Symbol" pitchFamily="18" charset="2"/>
              </a:rPr>
              <a:t>f</a:t>
            </a:r>
            <a:r>
              <a:rPr lang="zh-CN" altLang="en-US" sz="2100" dirty="0" smtClean="0">
                <a:solidFill>
                  <a:srgbClr val="FF0000"/>
                </a:solidFill>
                <a:latin typeface="+mn-lt"/>
                <a:ea typeface="+mn-ea"/>
                <a:sym typeface="Symbol" pitchFamily="18" charset="2"/>
              </a:rPr>
              <a:t>是映到</a:t>
            </a:r>
            <a:r>
              <a:rPr lang="en-US" altLang="zh-CN" sz="2100" dirty="0" smtClean="0">
                <a:solidFill>
                  <a:srgbClr val="FF0000"/>
                </a:solidFill>
                <a:latin typeface="+mn-lt"/>
                <a:ea typeface="+mn-ea"/>
                <a:sym typeface="Symbol" pitchFamily="18" charset="2"/>
              </a:rPr>
              <a:t>B</a:t>
            </a:r>
            <a:r>
              <a:rPr lang="zh-CN" altLang="en-US" sz="2100" dirty="0" smtClean="0">
                <a:solidFill>
                  <a:srgbClr val="FF0000"/>
                </a:solidFill>
                <a:latin typeface="+mn-lt"/>
                <a:ea typeface="+mn-ea"/>
                <a:sym typeface="Symbol" pitchFamily="18" charset="2"/>
              </a:rPr>
              <a:t>的</a:t>
            </a:r>
            <a:r>
              <a:rPr lang="zh-CN" altLang="en-US" sz="2100" dirty="0" smtClean="0">
                <a:latin typeface="+mn-lt"/>
                <a:ea typeface="+mn-ea"/>
                <a:sym typeface="Symbol" pitchFamily="18" charset="2"/>
              </a:rPr>
              <a:t>（满射）。</a:t>
            </a:r>
            <a:endParaRPr lang="en-US" altLang="zh-CN" sz="2100" dirty="0" smtClean="0">
              <a:latin typeface="+mn-lt"/>
              <a:ea typeface="+mn-ea"/>
              <a:sym typeface="Symbol" pitchFamily="18" charset="2"/>
            </a:endParaRPr>
          </a:p>
          <a:p>
            <a:pPr lvl="1" eaLnBrk="1" hangingPunct="1">
              <a:defRPr/>
            </a:pPr>
            <a:r>
              <a:rPr lang="zh-CN" altLang="en-US" sz="2100" dirty="0" smtClean="0">
                <a:latin typeface="+mn-lt"/>
                <a:ea typeface="+mn-ea"/>
                <a:sym typeface="Symbol" pitchFamily="18" charset="2"/>
              </a:rPr>
              <a:t>如果</a:t>
            </a:r>
            <a:r>
              <a:rPr lang="en-US" altLang="zh-CN" sz="2100" dirty="0" smtClean="0">
                <a:latin typeface="+mn-lt"/>
                <a:ea typeface="+mn-ea"/>
                <a:sym typeface="Symbol" pitchFamily="18" charset="2"/>
              </a:rPr>
              <a:t>f</a:t>
            </a:r>
            <a:r>
              <a:rPr lang="zh-CN" altLang="en-US" sz="2100" dirty="0" smtClean="0">
                <a:latin typeface="+mn-lt"/>
                <a:ea typeface="+mn-ea"/>
                <a:sym typeface="Symbol" pitchFamily="18" charset="2"/>
              </a:rPr>
              <a:t>是一对一的，又是映到</a:t>
            </a:r>
            <a:r>
              <a:rPr lang="en-US" altLang="zh-CN" sz="2100" dirty="0" smtClean="0">
                <a:latin typeface="+mn-lt"/>
                <a:ea typeface="+mn-ea"/>
                <a:sym typeface="Symbol" pitchFamily="18" charset="2"/>
              </a:rPr>
              <a:t>B</a:t>
            </a:r>
            <a:r>
              <a:rPr lang="zh-CN" altLang="en-US" sz="2100" dirty="0" smtClean="0">
                <a:latin typeface="+mn-lt"/>
                <a:ea typeface="+mn-ea"/>
                <a:sym typeface="Symbol" pitchFamily="18" charset="2"/>
              </a:rPr>
              <a:t>的，则称它是双射的或者称</a:t>
            </a:r>
            <a:r>
              <a:rPr lang="en-US" altLang="zh-CN" sz="2100" dirty="0" smtClean="0">
                <a:latin typeface="+mn-lt"/>
                <a:ea typeface="+mn-ea"/>
                <a:sym typeface="Symbol" pitchFamily="18" charset="2"/>
              </a:rPr>
              <a:t>A</a:t>
            </a:r>
            <a:r>
              <a:rPr lang="zh-CN" altLang="en-US" sz="2100" dirty="0" smtClean="0">
                <a:latin typeface="+mn-lt"/>
                <a:ea typeface="+mn-ea"/>
                <a:sym typeface="Symbol" pitchFamily="18" charset="2"/>
              </a:rPr>
              <a:t>和</a:t>
            </a:r>
            <a:r>
              <a:rPr lang="en-US" altLang="zh-CN" sz="2100" dirty="0" smtClean="0">
                <a:latin typeface="+mn-lt"/>
                <a:ea typeface="+mn-ea"/>
                <a:sym typeface="Symbol" pitchFamily="18" charset="2"/>
              </a:rPr>
              <a:t>B</a:t>
            </a:r>
            <a:r>
              <a:rPr lang="zh-CN" altLang="en-US" sz="2100" dirty="0" smtClean="0">
                <a:latin typeface="+mn-lt"/>
                <a:ea typeface="+mn-ea"/>
                <a:sym typeface="Symbol" pitchFamily="18" charset="2"/>
              </a:rPr>
              <a:t>之间是</a:t>
            </a:r>
            <a:r>
              <a:rPr lang="zh-CN" altLang="en-US" sz="2100" dirty="0" smtClean="0">
                <a:solidFill>
                  <a:srgbClr val="FF0000"/>
                </a:solidFill>
                <a:latin typeface="+mn-lt"/>
                <a:ea typeface="+mn-ea"/>
                <a:sym typeface="Symbol" pitchFamily="18" charset="2"/>
              </a:rPr>
              <a:t>一一对应的</a:t>
            </a:r>
            <a:r>
              <a:rPr lang="zh-CN" altLang="en-US" sz="2100" dirty="0" smtClean="0">
                <a:latin typeface="+mn-lt"/>
                <a:ea typeface="+mn-ea"/>
                <a:sym typeface="Symbol" pitchFamily="18" charset="2"/>
              </a:rPr>
              <a:t>（双射）。</a:t>
            </a:r>
            <a:endParaRPr lang="en-US" altLang="zh-CN" sz="2100" dirty="0" smtClean="0">
              <a:latin typeface="+mn-lt"/>
              <a:ea typeface="+mn-ea"/>
              <a:sym typeface="Symbol" pitchFamily="18" charset="2"/>
            </a:endParaRPr>
          </a:p>
        </p:txBody>
      </p:sp>
    </p:spTree>
    <p:extLst>
      <p:ext uri="{BB962C8B-B14F-4D97-AF65-F5344CB8AC3E}">
        <p14:creationId xmlns:p14="http://schemas.microsoft.com/office/powerpoint/2010/main" val="18534015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40963" name="Rectangle 2"/>
          <p:cNvSpPr>
            <a:spLocks noGrp="1" noChangeArrowheads="1"/>
          </p:cNvSpPr>
          <p:nvPr>
            <p:ph type="title"/>
          </p:nvPr>
        </p:nvSpPr>
        <p:spPr/>
        <p:txBody>
          <a:bodyPr/>
          <a:lstStyle/>
          <a:p>
            <a:pPr eaLnBrk="1" hangingPunct="1"/>
            <a:r>
              <a:rPr lang="en-US" altLang="zh-CN" b="0" dirty="0">
                <a:latin typeface="+mn-ea"/>
              </a:rPr>
              <a:t>1.3.1 </a:t>
            </a:r>
            <a:r>
              <a:rPr lang="zh-CN" altLang="en-US" b="0" dirty="0">
                <a:latin typeface="+mn-ea"/>
              </a:rPr>
              <a:t>集合、关系、</a:t>
            </a:r>
            <a:r>
              <a:rPr lang="zh-CN" altLang="en-US" u="sng" dirty="0">
                <a:latin typeface="+mn-ea"/>
              </a:rPr>
              <a:t>函数</a:t>
            </a:r>
            <a:endParaRPr lang="en-US" altLang="zh-CN" dirty="0" smtClean="0">
              <a:solidFill>
                <a:srgbClr val="FF0000"/>
              </a:solidFill>
            </a:endParaRPr>
          </a:p>
        </p:txBody>
      </p:sp>
      <p:sp>
        <p:nvSpPr>
          <p:cNvPr id="40964" name="Rectangle 3"/>
          <p:cNvSpPr>
            <a:spLocks noGrp="1" noChangeArrowheads="1"/>
          </p:cNvSpPr>
          <p:nvPr>
            <p:ph type="body" idx="1"/>
          </p:nvPr>
        </p:nvSpPr>
        <p:spPr>
          <a:xfrm>
            <a:off x="879475" y="1196975"/>
            <a:ext cx="8229600" cy="4789488"/>
          </a:xfrm>
        </p:spPr>
        <p:txBody>
          <a:bodyPr/>
          <a:lstStyle/>
          <a:p>
            <a:r>
              <a:rPr lang="zh-CN" altLang="zh-CN" sz="2000" b="1" smtClean="0">
                <a:solidFill>
                  <a:srgbClr val="FF0000"/>
                </a:solidFill>
              </a:rPr>
              <a:t>单射</a:t>
            </a:r>
            <a:r>
              <a:rPr lang="zh-CN" altLang="zh-CN" sz="2000" smtClean="0"/>
              <a:t>：指将不同的变量映射到不同的值的函数。 </a:t>
            </a:r>
          </a:p>
          <a:p>
            <a:r>
              <a:rPr lang="zh-CN" altLang="zh-CN" sz="2000" b="1" smtClean="0">
                <a:solidFill>
                  <a:srgbClr val="FF0000"/>
                </a:solidFill>
              </a:rPr>
              <a:t>满射</a:t>
            </a:r>
            <a:r>
              <a:rPr lang="zh-CN" altLang="zh-CN" sz="2000" smtClean="0"/>
              <a:t>：</a:t>
            </a:r>
            <a:r>
              <a:rPr lang="zh-CN" altLang="en-US" sz="2000" smtClean="0"/>
              <a:t>对于</a:t>
            </a:r>
            <a:r>
              <a:rPr lang="zh-CN" altLang="zh-CN" sz="2000" smtClean="0"/>
              <a:t>值域中任意元素，都存在至少一个定义域中的元素与之对应。 </a:t>
            </a:r>
          </a:p>
          <a:p>
            <a:r>
              <a:rPr lang="zh-CN" altLang="zh-CN" sz="2000" b="1" smtClean="0">
                <a:solidFill>
                  <a:srgbClr val="FF0000"/>
                </a:solidFill>
              </a:rPr>
              <a:t>双射</a:t>
            </a:r>
            <a:r>
              <a:rPr lang="zh-CN" altLang="zh-CN" sz="2000" smtClean="0"/>
              <a:t>（也称</a:t>
            </a:r>
            <a:r>
              <a:rPr lang="zh-CN" altLang="zh-CN" sz="2000" b="1" smtClean="0"/>
              <a:t>一一对应</a:t>
            </a:r>
            <a:r>
              <a:rPr lang="zh-CN" altLang="zh-CN" sz="2000" smtClean="0"/>
              <a:t>）：既是单射又是满射的函数。直观地说，一个双射函数形成一个对应，并且每一个输入值都有正好一个输出值以及每一个输出值都有正好一个输入值。</a:t>
            </a:r>
          </a:p>
        </p:txBody>
      </p:sp>
      <p:pic>
        <p:nvPicPr>
          <p:cNvPr id="4096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5875" y="3429000"/>
            <a:ext cx="7186613"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940355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43011" name="Rectangle 2"/>
          <p:cNvSpPr>
            <a:spLocks noGrp="1" noChangeArrowheads="1"/>
          </p:cNvSpPr>
          <p:nvPr>
            <p:ph type="title"/>
          </p:nvPr>
        </p:nvSpPr>
        <p:spPr/>
        <p:txBody>
          <a:bodyPr/>
          <a:lstStyle/>
          <a:p>
            <a:pPr eaLnBrk="1" hangingPunct="1"/>
            <a:r>
              <a:rPr lang="en-US" altLang="zh-CN" dirty="0" smtClean="0">
                <a:latin typeface="+mn-ea"/>
              </a:rPr>
              <a:t>1.3.2 </a:t>
            </a:r>
            <a:r>
              <a:rPr lang="zh-CN" altLang="en-US" dirty="0" smtClean="0">
                <a:latin typeface="+mn-ea"/>
              </a:rPr>
              <a:t>证明</a:t>
            </a:r>
            <a:r>
              <a:rPr lang="zh-CN" altLang="en-US" dirty="0">
                <a:latin typeface="+mn-ea"/>
              </a:rPr>
              <a:t>方法</a:t>
            </a:r>
            <a:endParaRPr lang="en-US" altLang="zh-CN" dirty="0" smtClean="0"/>
          </a:p>
        </p:txBody>
      </p:sp>
      <p:sp>
        <p:nvSpPr>
          <p:cNvPr id="100355" name="Rectangle 3"/>
          <p:cNvSpPr>
            <a:spLocks noGrp="1" noChangeArrowheads="1"/>
          </p:cNvSpPr>
          <p:nvPr>
            <p:ph type="body" idx="1"/>
          </p:nvPr>
        </p:nvSpPr>
        <p:spPr/>
        <p:txBody>
          <a:bodyPr/>
          <a:lstStyle/>
          <a:p>
            <a:pPr eaLnBrk="1" hangingPunct="1">
              <a:defRPr/>
            </a:pPr>
            <a:r>
              <a:rPr lang="zh-CN" altLang="en-US" dirty="0" smtClean="0">
                <a:solidFill>
                  <a:srgbClr val="FF0000"/>
                </a:solidFill>
              </a:rPr>
              <a:t>符号</a:t>
            </a:r>
            <a:endParaRPr lang="en-US" altLang="zh-CN" dirty="0" smtClean="0">
              <a:solidFill>
                <a:srgbClr val="FF0000"/>
              </a:solidFill>
            </a:endParaRPr>
          </a:p>
          <a:p>
            <a:pPr lvl="1" eaLnBrk="1" hangingPunct="1">
              <a:defRPr/>
            </a:pPr>
            <a:r>
              <a:rPr lang="zh-CN" altLang="en-US" sz="2400" dirty="0" smtClean="0">
                <a:latin typeface="+mn-lt"/>
                <a:ea typeface="+mn-ea"/>
                <a:cs typeface="+mn-cs"/>
              </a:rPr>
              <a:t>一个命题或断言</a:t>
            </a:r>
            <a:r>
              <a:rPr lang="en-US" altLang="zh-CN" sz="2400" dirty="0" smtClean="0">
                <a:latin typeface="+mn-lt"/>
                <a:ea typeface="+mn-ea"/>
                <a:cs typeface="+mn-cs"/>
              </a:rPr>
              <a:t>P</a:t>
            </a:r>
            <a:r>
              <a:rPr lang="zh-CN" altLang="en-US" sz="2400" dirty="0" smtClean="0">
                <a:latin typeface="+mn-lt"/>
                <a:ea typeface="+mn-ea"/>
                <a:cs typeface="+mn-cs"/>
              </a:rPr>
              <a:t>简单地说是一个陈述句，它可以是真或者是假，但不能二者都是</a:t>
            </a:r>
            <a:endParaRPr lang="en-US" altLang="zh-CN" sz="2400" dirty="0" smtClean="0">
              <a:latin typeface="+mn-lt"/>
              <a:ea typeface="+mn-ea"/>
              <a:cs typeface="+mn-cs"/>
            </a:endParaRPr>
          </a:p>
          <a:p>
            <a:pPr lvl="1" eaLnBrk="1" hangingPunct="1">
              <a:defRPr/>
            </a:pPr>
            <a:r>
              <a:rPr lang="zh-CN" altLang="en-US" sz="2400" dirty="0" smtClean="0">
                <a:latin typeface="+mn-lt"/>
                <a:ea typeface="+mn-ea"/>
                <a:cs typeface="+mn-cs"/>
                <a:sym typeface="Symbol" pitchFamily="18" charset="2"/>
              </a:rPr>
              <a:t>符号</a:t>
            </a:r>
            <a:r>
              <a:rPr lang="en-US" altLang="zh-CN" sz="2400" dirty="0" smtClean="0">
                <a:latin typeface="+mn-lt"/>
                <a:ea typeface="+mn-ea"/>
                <a:cs typeface="+mn-cs"/>
                <a:sym typeface="Symbol" pitchFamily="18" charset="2"/>
              </a:rPr>
              <a:t>:</a:t>
            </a:r>
            <a:r>
              <a:rPr lang="zh-CN" altLang="en-US" sz="2400" dirty="0" smtClean="0">
                <a:latin typeface="+mn-lt"/>
                <a:ea typeface="+mn-ea"/>
                <a:cs typeface="+mn-cs"/>
                <a:sym typeface="Symbol" pitchFamily="18" charset="2"/>
              </a:rPr>
              <a:t>是</a:t>
            </a:r>
            <a:r>
              <a:rPr lang="zh-CN" altLang="en-US" sz="2400" dirty="0" smtClean="0">
                <a:solidFill>
                  <a:srgbClr val="FF0000"/>
                </a:solidFill>
                <a:latin typeface="+mn-lt"/>
                <a:ea typeface="+mn-ea"/>
                <a:cs typeface="+mn-cs"/>
                <a:sym typeface="Symbol" pitchFamily="18" charset="2"/>
              </a:rPr>
              <a:t>否定符号</a:t>
            </a:r>
            <a:r>
              <a:rPr lang="en-US" altLang="zh-CN" sz="2400" dirty="0" smtClean="0">
                <a:latin typeface="+mn-lt"/>
                <a:ea typeface="+mn-ea"/>
                <a:cs typeface="+mn-cs"/>
                <a:sym typeface="Symbol" pitchFamily="18" charset="2"/>
              </a:rPr>
              <a:t>. </a:t>
            </a:r>
            <a:r>
              <a:rPr lang="zh-CN" altLang="en-US" sz="2400" dirty="0" smtClean="0">
                <a:latin typeface="+mn-lt"/>
                <a:ea typeface="+mn-ea"/>
                <a:cs typeface="+mn-cs"/>
                <a:sym typeface="Symbol" pitchFamily="18" charset="2"/>
              </a:rPr>
              <a:t>例如，</a:t>
            </a:r>
            <a:r>
              <a:rPr lang="en-US" altLang="zh-CN" sz="2400" dirty="0" smtClean="0">
                <a:latin typeface="+mn-lt"/>
                <a:ea typeface="+mn-ea"/>
                <a:cs typeface="+mn-cs"/>
                <a:sym typeface="Symbol" pitchFamily="18" charset="2"/>
              </a:rPr>
              <a:t>P</a:t>
            </a:r>
            <a:r>
              <a:rPr lang="zh-CN" altLang="en-US" sz="2400" dirty="0" smtClean="0">
                <a:latin typeface="+mn-lt"/>
                <a:ea typeface="+mn-ea"/>
                <a:cs typeface="+mn-cs"/>
                <a:sym typeface="Symbol" pitchFamily="18" charset="2"/>
              </a:rPr>
              <a:t>是命题</a:t>
            </a:r>
            <a:r>
              <a:rPr lang="en-US" altLang="zh-CN" sz="2400" dirty="0" smtClean="0">
                <a:latin typeface="+mn-lt"/>
                <a:ea typeface="+mn-ea"/>
                <a:cs typeface="+mn-cs"/>
                <a:sym typeface="Symbol" pitchFamily="18" charset="2"/>
              </a:rPr>
              <a:t>P</a:t>
            </a:r>
            <a:r>
              <a:rPr lang="zh-CN" altLang="en-US" sz="2400" dirty="0" smtClean="0">
                <a:latin typeface="+mn-lt"/>
                <a:ea typeface="+mn-ea"/>
                <a:cs typeface="+mn-cs"/>
                <a:sym typeface="Symbol" pitchFamily="18" charset="2"/>
              </a:rPr>
              <a:t>的否定。</a:t>
            </a:r>
            <a:endParaRPr lang="en-US" altLang="zh-CN" sz="2400" dirty="0" smtClean="0">
              <a:latin typeface="+mn-lt"/>
              <a:ea typeface="+mn-ea"/>
              <a:cs typeface="+mn-cs"/>
              <a:sym typeface="Symbol" pitchFamily="18" charset="2"/>
            </a:endParaRPr>
          </a:p>
          <a:p>
            <a:pPr lvl="1" eaLnBrk="1" hangingPunct="1">
              <a:defRPr/>
            </a:pPr>
            <a:r>
              <a:rPr lang="zh-CN" altLang="en-US" sz="2400" dirty="0" smtClean="0">
                <a:latin typeface="+mn-lt"/>
                <a:ea typeface="+mn-ea"/>
                <a:cs typeface="+mn-cs"/>
                <a:sym typeface="Symbol" pitchFamily="18" charset="2"/>
              </a:rPr>
              <a:t>符号</a:t>
            </a:r>
            <a:r>
              <a:rPr lang="en-US" altLang="zh-CN" sz="2400" dirty="0" smtClean="0">
                <a:latin typeface="+mn-lt"/>
                <a:ea typeface="+mn-ea"/>
                <a:cs typeface="+mn-cs"/>
                <a:sym typeface="Symbol" pitchFamily="18" charset="2"/>
              </a:rPr>
              <a:t>: </a:t>
            </a:r>
            <a:r>
              <a:rPr lang="zh-CN" altLang="en-US" sz="2400" dirty="0" smtClean="0">
                <a:latin typeface="+mn-lt"/>
                <a:ea typeface="+mn-ea"/>
                <a:cs typeface="+mn-cs"/>
                <a:sym typeface="Symbol" pitchFamily="18" charset="2"/>
              </a:rPr>
              <a:t>是表示“</a:t>
            </a:r>
            <a:r>
              <a:rPr lang="zh-CN" altLang="en-US" sz="2400" dirty="0" smtClean="0">
                <a:solidFill>
                  <a:srgbClr val="FF0000"/>
                </a:solidFill>
                <a:latin typeface="+mn-lt"/>
                <a:ea typeface="+mn-ea"/>
                <a:cs typeface="+mn-cs"/>
                <a:sym typeface="Symbol" pitchFamily="18" charset="2"/>
              </a:rPr>
              <a:t>蕴含</a:t>
            </a:r>
            <a:r>
              <a:rPr lang="zh-CN" altLang="en-US" sz="2400" dirty="0" smtClean="0">
                <a:latin typeface="+mn-lt"/>
                <a:ea typeface="+mn-ea"/>
                <a:cs typeface="+mn-cs"/>
                <a:sym typeface="Symbol" pitchFamily="18" charset="2"/>
              </a:rPr>
              <a:t>”。</a:t>
            </a:r>
            <a:r>
              <a:rPr lang="en-US" altLang="zh-CN" sz="2400" dirty="0" smtClean="0">
                <a:latin typeface="+mn-lt"/>
                <a:ea typeface="+mn-ea"/>
                <a:cs typeface="+mn-cs"/>
                <a:sym typeface="Symbol" pitchFamily="18" charset="2"/>
              </a:rPr>
              <a:t> </a:t>
            </a:r>
            <a:r>
              <a:rPr lang="zh-CN" altLang="en-US" sz="2400" dirty="0" smtClean="0">
                <a:latin typeface="+mn-lt"/>
                <a:ea typeface="+mn-ea"/>
                <a:cs typeface="+mn-cs"/>
                <a:sym typeface="Symbol" pitchFamily="18" charset="2"/>
              </a:rPr>
              <a:t>如果</a:t>
            </a:r>
            <a:r>
              <a:rPr lang="en-US" altLang="zh-CN" sz="2400" dirty="0" smtClean="0">
                <a:latin typeface="+mn-lt"/>
                <a:ea typeface="+mn-ea"/>
                <a:cs typeface="+mn-cs"/>
                <a:sym typeface="Symbol" pitchFamily="18" charset="2"/>
              </a:rPr>
              <a:t> P Q, </a:t>
            </a:r>
            <a:r>
              <a:rPr lang="zh-CN" altLang="en-US" sz="2400" dirty="0" smtClean="0">
                <a:latin typeface="+mn-lt"/>
                <a:ea typeface="+mn-ea"/>
                <a:cs typeface="+mn-cs"/>
                <a:sym typeface="Symbol" pitchFamily="18" charset="2"/>
              </a:rPr>
              <a:t>就说</a:t>
            </a:r>
            <a:r>
              <a:rPr lang="en-US" altLang="zh-CN" sz="2400" dirty="0" smtClean="0">
                <a:latin typeface="+mn-lt"/>
                <a:ea typeface="+mn-ea"/>
                <a:cs typeface="+mn-cs"/>
                <a:sym typeface="Symbol" pitchFamily="18" charset="2"/>
              </a:rPr>
              <a:t>Q</a:t>
            </a:r>
            <a:r>
              <a:rPr lang="zh-CN" altLang="en-US" sz="2400" dirty="0" smtClean="0">
                <a:latin typeface="+mn-lt"/>
                <a:ea typeface="+mn-ea"/>
                <a:cs typeface="+mn-cs"/>
                <a:sym typeface="Symbol" pitchFamily="18" charset="2"/>
              </a:rPr>
              <a:t>是</a:t>
            </a:r>
            <a:r>
              <a:rPr lang="en-US" altLang="zh-CN" sz="2400" dirty="0" smtClean="0">
                <a:latin typeface="+mn-lt"/>
                <a:ea typeface="+mn-ea"/>
                <a:cs typeface="+mn-cs"/>
                <a:sym typeface="Symbol" pitchFamily="18" charset="2"/>
              </a:rPr>
              <a:t>P</a:t>
            </a:r>
            <a:r>
              <a:rPr lang="zh-CN" altLang="en-US" sz="2400" dirty="0" smtClean="0">
                <a:latin typeface="+mn-lt"/>
                <a:ea typeface="+mn-ea"/>
                <a:cs typeface="+mn-cs"/>
                <a:sym typeface="Symbol" pitchFamily="18" charset="2"/>
              </a:rPr>
              <a:t>的必要条件，</a:t>
            </a:r>
            <a:r>
              <a:rPr lang="en-US" altLang="zh-CN" sz="2400" dirty="0" smtClean="0">
                <a:latin typeface="+mn-lt"/>
                <a:ea typeface="+mn-ea"/>
                <a:cs typeface="+mn-cs"/>
                <a:sym typeface="Symbol" pitchFamily="18" charset="2"/>
              </a:rPr>
              <a:t>P</a:t>
            </a:r>
            <a:r>
              <a:rPr lang="zh-CN" altLang="en-US" sz="2400" dirty="0" smtClean="0">
                <a:latin typeface="+mn-lt"/>
                <a:ea typeface="+mn-ea"/>
                <a:cs typeface="+mn-cs"/>
                <a:sym typeface="Symbol" pitchFamily="18" charset="2"/>
              </a:rPr>
              <a:t>是</a:t>
            </a:r>
            <a:r>
              <a:rPr lang="en-US" altLang="zh-CN" sz="2400" dirty="0" smtClean="0">
                <a:latin typeface="+mn-lt"/>
                <a:ea typeface="+mn-ea"/>
                <a:cs typeface="+mn-cs"/>
                <a:sym typeface="Symbol" pitchFamily="18" charset="2"/>
              </a:rPr>
              <a:t>Q</a:t>
            </a:r>
            <a:r>
              <a:rPr lang="zh-CN" altLang="en-US" sz="2400" dirty="0" smtClean="0">
                <a:latin typeface="+mn-lt"/>
                <a:ea typeface="+mn-ea"/>
                <a:cs typeface="+mn-cs"/>
                <a:sym typeface="Symbol" pitchFamily="18" charset="2"/>
              </a:rPr>
              <a:t>的充分条件。</a:t>
            </a:r>
            <a:endParaRPr lang="en-US" altLang="zh-CN" sz="2400" dirty="0" smtClean="0">
              <a:latin typeface="+mn-lt"/>
              <a:ea typeface="+mn-ea"/>
              <a:cs typeface="+mn-cs"/>
              <a:sym typeface="Symbol" pitchFamily="18" charset="2"/>
            </a:endParaRPr>
          </a:p>
          <a:p>
            <a:pPr lvl="1" eaLnBrk="1" hangingPunct="1">
              <a:defRPr/>
            </a:pPr>
            <a:r>
              <a:rPr lang="en-US" altLang="zh-CN" sz="2400" dirty="0" smtClean="0">
                <a:latin typeface="+mn-lt"/>
                <a:ea typeface="+mn-ea"/>
                <a:cs typeface="+mn-cs"/>
                <a:sym typeface="Symbol" pitchFamily="18" charset="2"/>
              </a:rPr>
              <a:t>: </a:t>
            </a:r>
            <a:r>
              <a:rPr lang="zh-CN" altLang="en-US" sz="2400" dirty="0" smtClean="0">
                <a:solidFill>
                  <a:srgbClr val="FF0000"/>
                </a:solidFill>
                <a:latin typeface="+mn-lt"/>
                <a:ea typeface="+mn-ea"/>
                <a:cs typeface="+mn-cs"/>
                <a:sym typeface="Symbol" pitchFamily="18" charset="2"/>
              </a:rPr>
              <a:t>当且仅当</a:t>
            </a:r>
            <a:r>
              <a:rPr lang="zh-CN" altLang="en-US" sz="2400" dirty="0" smtClean="0">
                <a:latin typeface="+mn-lt"/>
                <a:ea typeface="+mn-ea"/>
                <a:cs typeface="+mn-cs"/>
                <a:sym typeface="Symbol" pitchFamily="18" charset="2"/>
              </a:rPr>
              <a:t>。</a:t>
            </a:r>
            <a:r>
              <a:rPr lang="en-US" altLang="zh-CN" sz="2400" dirty="0" smtClean="0">
                <a:latin typeface="+mn-lt"/>
                <a:ea typeface="+mn-ea"/>
                <a:cs typeface="+mn-cs"/>
                <a:sym typeface="Symbol" pitchFamily="18" charset="2"/>
              </a:rPr>
              <a:t> </a:t>
            </a:r>
            <a:r>
              <a:rPr lang="zh-CN" altLang="en-US" sz="2400" dirty="0" smtClean="0">
                <a:latin typeface="+mn-lt"/>
                <a:ea typeface="+mn-ea"/>
                <a:cs typeface="+mn-cs"/>
                <a:sym typeface="Symbol" pitchFamily="18" charset="2"/>
              </a:rPr>
              <a:t>语句</a:t>
            </a:r>
            <a:r>
              <a:rPr lang="en-US" altLang="zh-CN" sz="2400" dirty="0" smtClean="0">
                <a:latin typeface="+mn-lt"/>
                <a:ea typeface="+mn-ea"/>
                <a:cs typeface="+mn-cs"/>
                <a:sym typeface="Symbol" pitchFamily="18" charset="2"/>
              </a:rPr>
              <a:t>PQ</a:t>
            </a:r>
            <a:r>
              <a:rPr lang="zh-CN" altLang="en-US" sz="2400" dirty="0" smtClean="0">
                <a:latin typeface="+mn-lt"/>
                <a:ea typeface="+mn-ea"/>
                <a:cs typeface="+mn-cs"/>
                <a:sym typeface="Symbol" pitchFamily="18" charset="2"/>
              </a:rPr>
              <a:t>代表“</a:t>
            </a:r>
            <a:r>
              <a:rPr lang="en-US" altLang="zh-CN" sz="2400" dirty="0" smtClean="0">
                <a:latin typeface="+mn-lt"/>
                <a:ea typeface="+mn-ea"/>
                <a:cs typeface="+mn-cs"/>
                <a:sym typeface="Symbol" pitchFamily="18" charset="2"/>
              </a:rPr>
              <a:t>P</a:t>
            </a:r>
            <a:r>
              <a:rPr lang="zh-CN" altLang="en-US" sz="2400" dirty="0" smtClean="0">
                <a:latin typeface="+mn-lt"/>
                <a:ea typeface="+mn-ea"/>
                <a:cs typeface="+mn-cs"/>
                <a:sym typeface="Symbol" pitchFamily="18" charset="2"/>
              </a:rPr>
              <a:t>当且仅当</a:t>
            </a:r>
            <a:r>
              <a:rPr lang="en-US" altLang="zh-CN" sz="2400" dirty="0" smtClean="0">
                <a:latin typeface="+mn-lt"/>
                <a:ea typeface="+mn-ea"/>
                <a:cs typeface="+mn-cs"/>
                <a:sym typeface="Symbol" pitchFamily="18" charset="2"/>
              </a:rPr>
              <a:t>Q</a:t>
            </a:r>
            <a:r>
              <a:rPr lang="zh-CN" altLang="en-US" sz="2400" dirty="0" smtClean="0">
                <a:latin typeface="+mn-lt"/>
                <a:ea typeface="+mn-ea"/>
                <a:cs typeface="+mn-cs"/>
                <a:sym typeface="Symbol" pitchFamily="18" charset="2"/>
              </a:rPr>
              <a:t>”，也就是“当且仅当</a:t>
            </a:r>
            <a:r>
              <a:rPr lang="en-US" altLang="zh-CN" sz="2400" dirty="0" smtClean="0">
                <a:latin typeface="+mn-lt"/>
                <a:ea typeface="+mn-ea"/>
                <a:cs typeface="+mn-cs"/>
                <a:sym typeface="Symbol" pitchFamily="18" charset="2"/>
              </a:rPr>
              <a:t>Q</a:t>
            </a:r>
            <a:r>
              <a:rPr lang="zh-CN" altLang="en-US" sz="2400" dirty="0" smtClean="0">
                <a:latin typeface="+mn-lt"/>
                <a:ea typeface="+mn-ea"/>
                <a:cs typeface="+mn-cs"/>
                <a:sym typeface="Symbol" pitchFamily="18" charset="2"/>
              </a:rPr>
              <a:t>为真时</a:t>
            </a:r>
            <a:r>
              <a:rPr lang="en-US" altLang="zh-CN" sz="2400" dirty="0" smtClean="0">
                <a:latin typeface="+mn-lt"/>
                <a:ea typeface="+mn-ea"/>
                <a:cs typeface="+mn-cs"/>
                <a:sym typeface="Symbol" pitchFamily="18" charset="2"/>
              </a:rPr>
              <a:t>P</a:t>
            </a:r>
            <a:r>
              <a:rPr lang="zh-CN" altLang="en-US" sz="2400" dirty="0" smtClean="0">
                <a:latin typeface="+mn-lt"/>
                <a:ea typeface="+mn-ea"/>
                <a:cs typeface="+mn-cs"/>
                <a:sym typeface="Symbol" pitchFamily="18" charset="2"/>
              </a:rPr>
              <a:t>为真”，可分成</a:t>
            </a:r>
            <a:r>
              <a:rPr lang="en-US" altLang="zh-CN" sz="2400" dirty="0" smtClean="0">
                <a:latin typeface="+mn-lt"/>
                <a:ea typeface="+mn-ea"/>
                <a:cs typeface="+mn-cs"/>
                <a:sym typeface="Symbol" pitchFamily="18" charset="2"/>
              </a:rPr>
              <a:t>PQ </a:t>
            </a:r>
            <a:r>
              <a:rPr lang="zh-CN" altLang="en-US" sz="2400" dirty="0" smtClean="0">
                <a:latin typeface="+mn-lt"/>
                <a:ea typeface="+mn-ea"/>
                <a:cs typeface="+mn-cs"/>
                <a:sym typeface="Symbol" pitchFamily="18" charset="2"/>
              </a:rPr>
              <a:t>和</a:t>
            </a:r>
            <a:r>
              <a:rPr lang="en-US" altLang="zh-CN" sz="2400" dirty="0" smtClean="0">
                <a:latin typeface="+mn-lt"/>
                <a:ea typeface="+mn-ea"/>
                <a:cs typeface="+mn-cs"/>
                <a:sym typeface="Symbol" pitchFamily="18" charset="2"/>
              </a:rPr>
              <a:t>PQ</a:t>
            </a:r>
            <a:r>
              <a:rPr lang="zh-CN" altLang="en-US" sz="2400" dirty="0" smtClean="0">
                <a:latin typeface="+mn-lt"/>
                <a:ea typeface="+mn-ea"/>
                <a:cs typeface="+mn-cs"/>
                <a:sym typeface="Symbol" pitchFamily="18" charset="2"/>
              </a:rPr>
              <a:t>。</a:t>
            </a:r>
            <a:endParaRPr lang="en-US" altLang="zh-CN" sz="2400" dirty="0" smtClean="0">
              <a:latin typeface="+mn-lt"/>
              <a:ea typeface="+mn-ea"/>
              <a:cs typeface="+mn-cs"/>
            </a:endParaRPr>
          </a:p>
        </p:txBody>
      </p:sp>
    </p:spTree>
    <p:extLst>
      <p:ext uri="{BB962C8B-B14F-4D97-AF65-F5344CB8AC3E}">
        <p14:creationId xmlns:p14="http://schemas.microsoft.com/office/powerpoint/2010/main" val="50608600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0355">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00355">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0035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45059" name="Rectangle 2"/>
          <p:cNvSpPr>
            <a:spLocks noGrp="1" noChangeArrowheads="1"/>
          </p:cNvSpPr>
          <p:nvPr>
            <p:ph type="title"/>
          </p:nvPr>
        </p:nvSpPr>
        <p:spPr/>
        <p:txBody>
          <a:bodyPr/>
          <a:lstStyle/>
          <a:p>
            <a:pPr eaLnBrk="1" hangingPunct="1"/>
            <a:r>
              <a:rPr lang="en-US" altLang="zh-CN" dirty="0">
                <a:latin typeface="+mn-ea"/>
              </a:rPr>
              <a:t>1.3.2 </a:t>
            </a:r>
            <a:r>
              <a:rPr lang="zh-CN" altLang="en-US" dirty="0">
                <a:latin typeface="+mn-ea"/>
              </a:rPr>
              <a:t>证明</a:t>
            </a:r>
            <a:r>
              <a:rPr lang="zh-CN" altLang="en-US" dirty="0" smtClean="0">
                <a:latin typeface="+mn-ea"/>
              </a:rPr>
              <a:t>方法</a:t>
            </a:r>
            <a:r>
              <a:rPr lang="en-US" altLang="zh-CN" dirty="0" smtClean="0">
                <a:latin typeface="+mn-ea"/>
              </a:rPr>
              <a:t>——</a:t>
            </a:r>
            <a:r>
              <a:rPr lang="zh-CN" altLang="en-US" dirty="0" smtClean="0">
                <a:latin typeface="+mn-ea"/>
              </a:rPr>
              <a:t>直接证明</a:t>
            </a:r>
            <a:endParaRPr lang="en-US" altLang="zh-CN" dirty="0" smtClean="0"/>
          </a:p>
        </p:txBody>
      </p:sp>
      <p:sp>
        <p:nvSpPr>
          <p:cNvPr id="101379" name="Rectangle 3"/>
          <p:cNvSpPr>
            <a:spLocks noGrp="1" noChangeArrowheads="1"/>
          </p:cNvSpPr>
          <p:nvPr>
            <p:ph type="body" idx="1"/>
          </p:nvPr>
        </p:nvSpPr>
        <p:spPr/>
        <p:txBody>
          <a:bodyPr/>
          <a:lstStyle/>
          <a:p>
            <a:pPr eaLnBrk="1" hangingPunct="1">
              <a:defRPr/>
            </a:pPr>
            <a:r>
              <a:rPr lang="zh-CN" altLang="en-US" sz="2100" dirty="0" smtClean="0"/>
              <a:t>要证明</a:t>
            </a:r>
            <a:r>
              <a:rPr lang="en-US" altLang="zh-CN" sz="2100" dirty="0" smtClean="0"/>
              <a:t>“P</a:t>
            </a:r>
            <a:r>
              <a:rPr lang="en-US" altLang="zh-CN" sz="2100" dirty="0" smtClean="0">
                <a:sym typeface="Wingdings" pitchFamily="2" charset="2"/>
              </a:rPr>
              <a:t>Q</a:t>
            </a:r>
            <a:r>
              <a:rPr lang="en-US" altLang="zh-CN" sz="2100" dirty="0" smtClean="0"/>
              <a:t>”</a:t>
            </a:r>
            <a:r>
              <a:rPr lang="zh-CN" altLang="en-US" sz="2100" dirty="0" smtClean="0"/>
              <a:t>，可以先假设</a:t>
            </a:r>
            <a:r>
              <a:rPr lang="en-US" altLang="zh-CN" sz="2100" dirty="0" smtClean="0"/>
              <a:t>P</a:t>
            </a:r>
            <a:r>
              <a:rPr lang="zh-CN" altLang="en-US" sz="2100" dirty="0" smtClean="0"/>
              <a:t>是真的，然后从</a:t>
            </a:r>
            <a:r>
              <a:rPr lang="en-US" altLang="zh-CN" sz="2100" dirty="0" smtClean="0"/>
              <a:t>P</a:t>
            </a:r>
            <a:r>
              <a:rPr lang="zh-CN" altLang="en-US" sz="2100" dirty="0" smtClean="0"/>
              <a:t>为真推出</a:t>
            </a:r>
            <a:r>
              <a:rPr lang="en-US" altLang="zh-CN" sz="2100" dirty="0" smtClean="0"/>
              <a:t>Q</a:t>
            </a:r>
            <a:r>
              <a:rPr lang="zh-CN" altLang="en-US" sz="2100" dirty="0" smtClean="0"/>
              <a:t>为真，这是</a:t>
            </a:r>
            <a:r>
              <a:rPr lang="zh-CN" altLang="en-US" sz="2100" dirty="0" smtClean="0">
                <a:solidFill>
                  <a:srgbClr val="FF0000"/>
                </a:solidFill>
              </a:rPr>
              <a:t>直接证明法</a:t>
            </a:r>
            <a:r>
              <a:rPr lang="zh-CN" altLang="en-US" sz="2100" dirty="0" smtClean="0"/>
              <a:t>。</a:t>
            </a:r>
            <a:endParaRPr lang="en-US" altLang="zh-CN" sz="2100" dirty="0" smtClean="0"/>
          </a:p>
          <a:p>
            <a:pPr eaLnBrk="1" hangingPunct="1">
              <a:defRPr/>
            </a:pPr>
            <a:endParaRPr lang="en-US" altLang="zh-CN" sz="1800" dirty="0" smtClean="0"/>
          </a:p>
          <a:p>
            <a:pPr lvl="0" eaLnBrk="1" hangingPunct="1"/>
            <a:r>
              <a:rPr lang="zh-CN" altLang="en-US" sz="2200" dirty="0">
                <a:solidFill>
                  <a:srgbClr val="333399"/>
                </a:solidFill>
              </a:rPr>
              <a:t>例子</a:t>
            </a:r>
            <a:endParaRPr lang="en-US" altLang="zh-CN" sz="2200" dirty="0">
              <a:solidFill>
                <a:srgbClr val="333399"/>
              </a:solidFill>
            </a:endParaRPr>
          </a:p>
          <a:p>
            <a:pPr lvl="1" eaLnBrk="1" hangingPunct="1">
              <a:buFontTx/>
              <a:buNone/>
              <a:defRPr/>
            </a:pPr>
            <a:r>
              <a:rPr lang="en-US" altLang="zh-CN" dirty="0" smtClean="0"/>
              <a:t>     </a:t>
            </a:r>
            <a:r>
              <a:rPr lang="zh-CN" altLang="en-US" sz="2100" dirty="0" smtClean="0">
                <a:latin typeface="+mn-lt"/>
                <a:ea typeface="+mn-ea"/>
                <a:cs typeface="+mn-cs"/>
              </a:rPr>
              <a:t>如果</a:t>
            </a:r>
            <a:r>
              <a:rPr lang="en-US" altLang="zh-CN" sz="2100" dirty="0" smtClean="0">
                <a:latin typeface="+mn-lt"/>
                <a:ea typeface="+mn-ea"/>
                <a:cs typeface="+mn-cs"/>
              </a:rPr>
              <a:t>n</a:t>
            </a:r>
            <a:r>
              <a:rPr lang="zh-CN" altLang="en-US" sz="2100" dirty="0" smtClean="0">
                <a:latin typeface="+mn-lt"/>
                <a:ea typeface="+mn-ea"/>
                <a:cs typeface="+mn-cs"/>
              </a:rPr>
              <a:t>是偶数，</a:t>
            </a:r>
            <a:r>
              <a:rPr lang="zh-CN" altLang="en-US" dirty="0" smtClean="0">
                <a:latin typeface="+mn-ea"/>
                <a:ea typeface="+mn-ea"/>
              </a:rPr>
              <a:t>则</a:t>
            </a:r>
            <a:r>
              <a:rPr lang="en-US" altLang="zh-CN" dirty="0" smtClean="0"/>
              <a:t>n</a:t>
            </a:r>
            <a:r>
              <a:rPr lang="en-US" altLang="zh-CN" baseline="30000" dirty="0" smtClean="0"/>
              <a:t>2</a:t>
            </a:r>
            <a:r>
              <a:rPr lang="zh-CN" altLang="en-US" sz="2100" dirty="0" smtClean="0">
                <a:latin typeface="+mn-lt"/>
                <a:ea typeface="+mn-ea"/>
                <a:cs typeface="+mn-cs"/>
              </a:rPr>
              <a:t>也是偶数。</a:t>
            </a:r>
            <a:endParaRPr lang="en-US" altLang="zh-CN" sz="2100" dirty="0" smtClean="0">
              <a:latin typeface="+mn-lt"/>
              <a:ea typeface="+mn-ea"/>
              <a:cs typeface="+mn-cs"/>
            </a:endParaRPr>
          </a:p>
          <a:p>
            <a:pPr lvl="1" eaLnBrk="1" hangingPunct="1">
              <a:buFontTx/>
              <a:buNone/>
              <a:defRPr/>
            </a:pPr>
            <a:r>
              <a:rPr lang="en-US" altLang="zh-CN" dirty="0" smtClean="0"/>
              <a:t>    </a:t>
            </a:r>
          </a:p>
          <a:p>
            <a:pPr lvl="1" eaLnBrk="1" hangingPunct="1">
              <a:buFontTx/>
              <a:buNone/>
              <a:defRPr/>
            </a:pPr>
            <a:r>
              <a:rPr lang="en-US" altLang="zh-CN" dirty="0" smtClean="0"/>
              <a:t>     </a:t>
            </a:r>
            <a:r>
              <a:rPr lang="zh-CN" altLang="en-US" sz="2100" dirty="0" smtClean="0">
                <a:latin typeface="+mn-lt"/>
                <a:ea typeface="+mn-ea"/>
                <a:cs typeface="+mn-cs"/>
              </a:rPr>
              <a:t>证明（直接）</a:t>
            </a:r>
            <a:r>
              <a:rPr lang="en-US" altLang="zh-CN" sz="2100" dirty="0" smtClean="0">
                <a:latin typeface="+mn-lt"/>
                <a:ea typeface="+mn-ea"/>
                <a:cs typeface="+mn-cs"/>
              </a:rPr>
              <a:t>:</a:t>
            </a:r>
          </a:p>
          <a:p>
            <a:pPr lvl="1" eaLnBrk="1" hangingPunct="1">
              <a:buFontTx/>
              <a:buNone/>
              <a:defRPr/>
            </a:pPr>
            <a:r>
              <a:rPr lang="en-US" altLang="zh-CN" sz="2100" dirty="0" smtClean="0">
                <a:latin typeface="+mn-lt"/>
                <a:ea typeface="+mn-ea"/>
                <a:cs typeface="+mn-cs"/>
              </a:rPr>
              <a:t>     </a:t>
            </a:r>
            <a:r>
              <a:rPr lang="zh-CN" altLang="en-US" sz="2100" dirty="0" smtClean="0">
                <a:latin typeface="+mn-lt"/>
                <a:ea typeface="+mn-ea"/>
                <a:cs typeface="+mn-cs"/>
              </a:rPr>
              <a:t>由于</a:t>
            </a:r>
            <a:r>
              <a:rPr lang="en-US" altLang="zh-CN" sz="2100" dirty="0" smtClean="0">
                <a:latin typeface="+mn-lt"/>
                <a:ea typeface="+mn-ea"/>
                <a:cs typeface="+mn-cs"/>
              </a:rPr>
              <a:t>n</a:t>
            </a:r>
            <a:r>
              <a:rPr lang="zh-CN" altLang="en-US" sz="2100" dirty="0" smtClean="0">
                <a:latin typeface="+mn-lt"/>
                <a:ea typeface="+mn-ea"/>
                <a:cs typeface="+mn-cs"/>
              </a:rPr>
              <a:t>是偶数</a:t>
            </a:r>
            <a:r>
              <a:rPr lang="zh-CN" altLang="en-US" dirty="0" smtClean="0"/>
              <a:t>，</a:t>
            </a:r>
            <a:r>
              <a:rPr lang="zh-CN" altLang="en-US" sz="2100" dirty="0" smtClean="0">
                <a:latin typeface="+mn-lt"/>
                <a:ea typeface="+mn-ea"/>
                <a:cs typeface="+mn-cs"/>
              </a:rPr>
              <a:t>则</a:t>
            </a:r>
            <a:r>
              <a:rPr lang="en-US" altLang="zh-CN" dirty="0" smtClean="0"/>
              <a:t> n = 2k</a:t>
            </a:r>
            <a:r>
              <a:rPr lang="zh-CN" altLang="en-US" sz="2100" dirty="0" smtClean="0">
                <a:latin typeface="+mn-lt"/>
                <a:ea typeface="+mn-ea"/>
                <a:cs typeface="+mn-cs"/>
              </a:rPr>
              <a:t>，</a:t>
            </a:r>
            <a:r>
              <a:rPr lang="en-US" altLang="zh-CN" sz="2100" dirty="0" smtClean="0">
                <a:latin typeface="+mn-lt"/>
                <a:ea typeface="+mn-ea"/>
                <a:cs typeface="+mn-cs"/>
              </a:rPr>
              <a:t>k</a:t>
            </a:r>
            <a:r>
              <a:rPr lang="zh-CN" altLang="en-US" sz="2100" dirty="0" smtClean="0">
                <a:latin typeface="+mn-lt"/>
                <a:ea typeface="+mn-ea"/>
                <a:cs typeface="+mn-cs"/>
              </a:rPr>
              <a:t>是某个整数</a:t>
            </a:r>
            <a:r>
              <a:rPr lang="en-US" altLang="zh-CN" sz="2100" dirty="0" smtClean="0">
                <a:latin typeface="+mn-lt"/>
                <a:ea typeface="+mn-ea"/>
                <a:cs typeface="+mn-cs"/>
              </a:rPr>
              <a:t> </a:t>
            </a:r>
            <a:r>
              <a:rPr lang="zh-CN" altLang="en-US" sz="2100" dirty="0" smtClean="0">
                <a:latin typeface="+mn-lt"/>
                <a:ea typeface="+mn-ea"/>
                <a:cs typeface="+mn-cs"/>
              </a:rPr>
              <a:t>，</a:t>
            </a:r>
            <a:endParaRPr lang="en-US" altLang="zh-CN" sz="2100" dirty="0" smtClean="0">
              <a:latin typeface="+mn-lt"/>
              <a:ea typeface="+mn-ea"/>
              <a:cs typeface="+mn-cs"/>
            </a:endParaRPr>
          </a:p>
          <a:p>
            <a:pPr lvl="1" eaLnBrk="1" hangingPunct="1">
              <a:buFontTx/>
              <a:buNone/>
              <a:defRPr/>
            </a:pPr>
            <a:r>
              <a:rPr lang="en-US" altLang="zh-CN" sz="2100" dirty="0" smtClean="0">
                <a:latin typeface="+mn-lt"/>
                <a:ea typeface="+mn-ea"/>
                <a:cs typeface="+mn-cs"/>
              </a:rPr>
              <a:t>    </a:t>
            </a:r>
            <a:r>
              <a:rPr lang="zh-CN" altLang="en-US" sz="2100" dirty="0" smtClean="0">
                <a:latin typeface="+mn-lt"/>
                <a:ea typeface="+mn-ea"/>
                <a:cs typeface="+mn-cs"/>
              </a:rPr>
              <a:t>所以有</a:t>
            </a:r>
            <a:r>
              <a:rPr lang="en-US" altLang="zh-CN" sz="2100" dirty="0" smtClean="0">
                <a:latin typeface="+mn-lt"/>
                <a:ea typeface="+mn-ea"/>
                <a:cs typeface="+mn-cs"/>
              </a:rPr>
              <a:t> </a:t>
            </a:r>
            <a:r>
              <a:rPr lang="en-US" altLang="zh-CN" dirty="0" smtClean="0"/>
              <a:t>n</a:t>
            </a:r>
            <a:r>
              <a:rPr lang="en-US" altLang="zh-CN" baseline="30000" dirty="0" smtClean="0"/>
              <a:t>2</a:t>
            </a:r>
            <a:r>
              <a:rPr lang="en-US" altLang="zh-CN" dirty="0" smtClean="0"/>
              <a:t> = 4k</a:t>
            </a:r>
            <a:r>
              <a:rPr lang="en-US" altLang="zh-CN" baseline="30000" dirty="0" smtClean="0"/>
              <a:t>2 </a:t>
            </a:r>
            <a:r>
              <a:rPr lang="en-US" altLang="zh-CN" dirty="0" smtClean="0"/>
              <a:t>= 2(2k</a:t>
            </a:r>
            <a:r>
              <a:rPr lang="en-US" altLang="zh-CN" baseline="30000" dirty="0" smtClean="0"/>
              <a:t>2</a:t>
            </a:r>
            <a:r>
              <a:rPr lang="en-US" altLang="zh-CN" dirty="0" smtClean="0"/>
              <a:t>). </a:t>
            </a:r>
          </a:p>
          <a:p>
            <a:pPr lvl="1" eaLnBrk="1" hangingPunct="1">
              <a:buFontTx/>
              <a:buNone/>
              <a:defRPr/>
            </a:pPr>
            <a:r>
              <a:rPr lang="en-US" altLang="zh-CN" sz="2100" dirty="0" smtClean="0">
                <a:latin typeface="+mn-lt"/>
                <a:ea typeface="+mn-ea"/>
                <a:cs typeface="+mn-cs"/>
              </a:rPr>
              <a:t>     </a:t>
            </a:r>
            <a:r>
              <a:rPr lang="zh-CN" altLang="en-US" sz="2100" dirty="0" smtClean="0">
                <a:latin typeface="+mn-lt"/>
                <a:ea typeface="+mn-ea"/>
                <a:cs typeface="+mn-cs"/>
              </a:rPr>
              <a:t>因此，得出</a:t>
            </a:r>
            <a:r>
              <a:rPr lang="en-US" altLang="zh-CN" sz="2100" dirty="0" smtClean="0">
                <a:latin typeface="+mn-lt"/>
                <a:ea typeface="+mn-ea"/>
                <a:cs typeface="+mn-cs"/>
              </a:rPr>
              <a:t>n</a:t>
            </a:r>
            <a:r>
              <a:rPr lang="en-US" altLang="zh-CN" sz="2100" baseline="30000" dirty="0" smtClean="0">
                <a:latin typeface="+mn-lt"/>
                <a:ea typeface="+mn-ea"/>
                <a:cs typeface="+mn-cs"/>
              </a:rPr>
              <a:t>2</a:t>
            </a:r>
            <a:r>
              <a:rPr lang="en-US" altLang="zh-CN" sz="2100" dirty="0" smtClean="0">
                <a:latin typeface="+mn-lt"/>
                <a:ea typeface="+mn-ea"/>
                <a:cs typeface="+mn-cs"/>
              </a:rPr>
              <a:t> </a:t>
            </a:r>
            <a:r>
              <a:rPr lang="zh-CN" altLang="en-US" sz="2100" dirty="0" smtClean="0">
                <a:latin typeface="+mn-lt"/>
                <a:ea typeface="+mn-ea"/>
                <a:cs typeface="+mn-cs"/>
              </a:rPr>
              <a:t>是偶数，证明完毕</a:t>
            </a:r>
            <a:r>
              <a:rPr lang="zh-CN" altLang="en-US" dirty="0" smtClean="0"/>
              <a:t>。</a:t>
            </a:r>
            <a:endParaRPr lang="en-US" altLang="zh-CN" dirty="0" smtClean="0"/>
          </a:p>
        </p:txBody>
      </p:sp>
    </p:spTree>
    <p:extLst>
      <p:ext uri="{BB962C8B-B14F-4D97-AF65-F5344CB8AC3E}">
        <p14:creationId xmlns:p14="http://schemas.microsoft.com/office/powerpoint/2010/main" val="8035268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101379">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1379">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1379">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1379">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1379">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1379">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137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47107" name="Rectangle 2"/>
          <p:cNvSpPr>
            <a:spLocks noGrp="1" noChangeArrowheads="1"/>
          </p:cNvSpPr>
          <p:nvPr>
            <p:ph type="title"/>
          </p:nvPr>
        </p:nvSpPr>
        <p:spPr/>
        <p:txBody>
          <a:bodyPr/>
          <a:lstStyle/>
          <a:p>
            <a:pPr eaLnBrk="1" hangingPunct="1"/>
            <a:r>
              <a:rPr lang="en-US" altLang="zh-CN" dirty="0">
                <a:latin typeface="+mn-ea"/>
              </a:rPr>
              <a:t>1.3.2 </a:t>
            </a:r>
            <a:r>
              <a:rPr lang="zh-CN" altLang="en-US" dirty="0">
                <a:latin typeface="+mn-ea"/>
              </a:rPr>
              <a:t>证明方法</a:t>
            </a:r>
            <a:r>
              <a:rPr lang="en-US" altLang="zh-CN" dirty="0" smtClean="0">
                <a:latin typeface="+mn-ea"/>
              </a:rPr>
              <a:t>——</a:t>
            </a:r>
            <a:r>
              <a:rPr lang="zh-CN" altLang="en-US" dirty="0">
                <a:latin typeface="+mn-ea"/>
              </a:rPr>
              <a:t>间接</a:t>
            </a:r>
            <a:r>
              <a:rPr lang="zh-CN" altLang="en-US" dirty="0" smtClean="0">
                <a:latin typeface="+mn-ea"/>
              </a:rPr>
              <a:t>证明</a:t>
            </a:r>
            <a:endParaRPr lang="en-US" altLang="zh-CN" dirty="0" smtClean="0"/>
          </a:p>
        </p:txBody>
      </p:sp>
      <p:sp>
        <p:nvSpPr>
          <p:cNvPr id="102403" name="Rectangle 3"/>
          <p:cNvSpPr>
            <a:spLocks noGrp="1" noChangeArrowheads="1"/>
          </p:cNvSpPr>
          <p:nvPr>
            <p:ph type="body" idx="1"/>
          </p:nvPr>
        </p:nvSpPr>
        <p:spPr>
          <a:xfrm>
            <a:off x="806450" y="1231900"/>
            <a:ext cx="8229600" cy="4789488"/>
          </a:xfrm>
        </p:spPr>
        <p:txBody>
          <a:bodyPr/>
          <a:lstStyle/>
          <a:p>
            <a:pPr eaLnBrk="1" hangingPunct="1">
              <a:lnSpc>
                <a:spcPct val="90000"/>
              </a:lnSpc>
              <a:defRPr/>
            </a:pPr>
            <a:r>
              <a:rPr lang="zh-CN" altLang="en-US" sz="2100" dirty="0" smtClean="0"/>
              <a:t>蕴含式“</a:t>
            </a:r>
            <a:r>
              <a:rPr lang="en-US" altLang="zh-CN" sz="2100" dirty="0" smtClean="0"/>
              <a:t>P</a:t>
            </a:r>
            <a:r>
              <a:rPr lang="en-US" altLang="zh-CN" sz="2100" dirty="0" smtClean="0">
                <a:sym typeface="Symbol" pitchFamily="18" charset="2"/>
              </a:rPr>
              <a:t>Q</a:t>
            </a:r>
            <a:r>
              <a:rPr lang="zh-CN" altLang="en-US" sz="2100" dirty="0" smtClean="0">
                <a:sym typeface="Symbol" pitchFamily="18" charset="2"/>
              </a:rPr>
              <a:t>”逻辑等价于逆反命题</a:t>
            </a:r>
            <a:r>
              <a:rPr lang="en-US" altLang="zh-CN" sz="2100" dirty="0" smtClean="0"/>
              <a:t> “</a:t>
            </a:r>
            <a:r>
              <a:rPr lang="en-US" altLang="zh-CN" sz="2100" dirty="0" smtClean="0">
                <a:sym typeface="Symbol" pitchFamily="18" charset="2"/>
              </a:rPr>
              <a:t>QP</a:t>
            </a:r>
            <a:r>
              <a:rPr lang="en-US" altLang="zh-CN" sz="2100" dirty="0" smtClean="0"/>
              <a:t>”;</a:t>
            </a:r>
          </a:p>
          <a:p>
            <a:pPr eaLnBrk="1" hangingPunct="1">
              <a:lnSpc>
                <a:spcPct val="90000"/>
              </a:lnSpc>
              <a:defRPr/>
            </a:pPr>
            <a:r>
              <a:rPr lang="zh-CN" altLang="en-US" sz="2100" dirty="0" smtClean="0"/>
              <a:t>要证明</a:t>
            </a:r>
            <a:r>
              <a:rPr lang="en-US" altLang="zh-CN" sz="2100" dirty="0" smtClean="0"/>
              <a:t>“P</a:t>
            </a:r>
            <a:r>
              <a:rPr lang="en-US" altLang="zh-CN" sz="2100" dirty="0" smtClean="0">
                <a:sym typeface="Symbol" pitchFamily="18" charset="2"/>
              </a:rPr>
              <a:t>Q</a:t>
            </a:r>
            <a:r>
              <a:rPr lang="en-US" altLang="zh-CN" sz="2100" dirty="0" smtClean="0"/>
              <a:t>”, </a:t>
            </a:r>
            <a:r>
              <a:rPr lang="zh-CN" altLang="en-US" sz="2100" dirty="0" smtClean="0"/>
              <a:t>间接等于要证明</a:t>
            </a:r>
            <a:r>
              <a:rPr lang="en-US" altLang="zh-CN" sz="2100" dirty="0" smtClean="0"/>
              <a:t>“</a:t>
            </a:r>
            <a:r>
              <a:rPr lang="en-US" altLang="zh-CN" sz="2100" dirty="0" smtClean="0">
                <a:sym typeface="Symbol" pitchFamily="18" charset="2"/>
              </a:rPr>
              <a:t>QP</a:t>
            </a:r>
            <a:r>
              <a:rPr lang="en-US" altLang="zh-CN" sz="2100" dirty="0" smtClean="0"/>
              <a:t>” .</a:t>
            </a:r>
          </a:p>
          <a:p>
            <a:pPr eaLnBrk="1" hangingPunct="1">
              <a:lnSpc>
                <a:spcPct val="90000"/>
              </a:lnSpc>
              <a:defRPr/>
            </a:pPr>
            <a:endParaRPr lang="en-US" altLang="zh-CN" sz="700" dirty="0" smtClean="0"/>
          </a:p>
          <a:p>
            <a:pPr lvl="0" eaLnBrk="1" hangingPunct="1"/>
            <a:r>
              <a:rPr lang="zh-CN" altLang="en-US" sz="2200" dirty="0">
                <a:solidFill>
                  <a:srgbClr val="333399"/>
                </a:solidFill>
              </a:rPr>
              <a:t>例子</a:t>
            </a:r>
            <a:endParaRPr lang="en-US" altLang="zh-CN" sz="2200" dirty="0">
              <a:solidFill>
                <a:srgbClr val="333399"/>
              </a:solidFill>
            </a:endParaRPr>
          </a:p>
          <a:p>
            <a:pPr lvl="1" eaLnBrk="1" hangingPunct="1">
              <a:lnSpc>
                <a:spcPct val="90000"/>
              </a:lnSpc>
              <a:buFontTx/>
              <a:buNone/>
              <a:defRPr/>
            </a:pPr>
            <a:r>
              <a:rPr lang="zh-CN" altLang="en-US" dirty="0" smtClean="0">
                <a:latin typeface="+mn-lt"/>
                <a:ea typeface="+mn-ea"/>
              </a:rPr>
              <a:t>如果</a:t>
            </a:r>
            <a:r>
              <a:rPr lang="en-US" altLang="zh-CN" dirty="0" smtClean="0">
                <a:latin typeface="+mn-lt"/>
                <a:ea typeface="+mn-ea"/>
              </a:rPr>
              <a:t> </a:t>
            </a:r>
            <a:r>
              <a:rPr lang="en-US" altLang="zh-CN" i="1" dirty="0" smtClean="0">
                <a:latin typeface="+mn-lt"/>
                <a:ea typeface="+mn-ea"/>
              </a:rPr>
              <a:t>n</a:t>
            </a:r>
            <a:r>
              <a:rPr lang="en-US" altLang="zh-CN" i="1" baseline="30000" dirty="0" smtClean="0">
                <a:latin typeface="+mn-lt"/>
                <a:ea typeface="+mn-ea"/>
              </a:rPr>
              <a:t>2</a:t>
            </a:r>
            <a:r>
              <a:rPr lang="zh-CN" altLang="en-US" dirty="0" smtClean="0">
                <a:latin typeface="+mn-lt"/>
                <a:ea typeface="+mn-ea"/>
              </a:rPr>
              <a:t>是偶数，那么</a:t>
            </a:r>
            <a:r>
              <a:rPr lang="en-US" altLang="zh-CN" dirty="0" smtClean="0">
                <a:latin typeface="+mn-lt"/>
                <a:ea typeface="+mn-ea"/>
              </a:rPr>
              <a:t> </a:t>
            </a:r>
            <a:r>
              <a:rPr lang="en-US" altLang="zh-CN" i="1" dirty="0" smtClean="0">
                <a:latin typeface="+mn-lt"/>
                <a:ea typeface="+mn-ea"/>
              </a:rPr>
              <a:t>n</a:t>
            </a:r>
            <a:r>
              <a:rPr lang="en-US" altLang="zh-CN" dirty="0" smtClean="0">
                <a:latin typeface="+mn-lt"/>
                <a:ea typeface="+mn-ea"/>
              </a:rPr>
              <a:t> </a:t>
            </a:r>
            <a:r>
              <a:rPr lang="zh-CN" altLang="en-US" dirty="0" smtClean="0">
                <a:latin typeface="+mn-lt"/>
                <a:ea typeface="+mn-ea"/>
              </a:rPr>
              <a:t>是偶数。</a:t>
            </a:r>
            <a:endParaRPr lang="en-US" altLang="zh-CN" dirty="0" smtClean="0">
              <a:latin typeface="+mn-lt"/>
              <a:ea typeface="+mn-ea"/>
            </a:endParaRPr>
          </a:p>
          <a:p>
            <a:pPr lvl="1" eaLnBrk="1" hangingPunct="1">
              <a:lnSpc>
                <a:spcPct val="90000"/>
              </a:lnSpc>
              <a:buFontTx/>
              <a:buNone/>
              <a:defRPr/>
            </a:pPr>
            <a:endParaRPr lang="en-US" altLang="zh-CN" sz="900" dirty="0" smtClean="0"/>
          </a:p>
          <a:p>
            <a:pPr lvl="1" eaLnBrk="1" hangingPunct="1">
              <a:lnSpc>
                <a:spcPct val="90000"/>
              </a:lnSpc>
              <a:buFontTx/>
              <a:buNone/>
              <a:defRPr/>
            </a:pPr>
            <a:r>
              <a:rPr lang="zh-CN" altLang="en-US" sz="2100" dirty="0" smtClean="0">
                <a:latin typeface="+mn-lt"/>
                <a:ea typeface="+mn-ea"/>
                <a:cs typeface="+mn-cs"/>
              </a:rPr>
              <a:t>证明</a:t>
            </a:r>
            <a:r>
              <a:rPr lang="en-US" altLang="zh-CN" sz="2100" dirty="0" smtClean="0">
                <a:latin typeface="+mn-lt"/>
                <a:ea typeface="+mn-ea"/>
                <a:cs typeface="+mn-cs"/>
              </a:rPr>
              <a:t> (</a:t>
            </a:r>
            <a:r>
              <a:rPr lang="zh-CN" altLang="en-US" sz="2100" dirty="0" smtClean="0">
                <a:latin typeface="+mn-lt"/>
                <a:ea typeface="+mn-ea"/>
                <a:cs typeface="+mn-cs"/>
              </a:rPr>
              <a:t>间接</a:t>
            </a:r>
            <a:r>
              <a:rPr lang="en-US" altLang="zh-CN" sz="2100" dirty="0" smtClean="0">
                <a:latin typeface="+mn-lt"/>
                <a:ea typeface="+mn-ea"/>
                <a:cs typeface="+mn-cs"/>
              </a:rPr>
              <a:t>):</a:t>
            </a:r>
          </a:p>
          <a:p>
            <a:pPr lvl="1" eaLnBrk="1" hangingPunct="1">
              <a:lnSpc>
                <a:spcPct val="90000"/>
              </a:lnSpc>
              <a:buFontTx/>
              <a:buNone/>
              <a:defRPr/>
            </a:pPr>
            <a:r>
              <a:rPr lang="zh-CN" altLang="en-US" sz="2100" dirty="0" smtClean="0">
                <a:latin typeface="+mn-lt"/>
                <a:ea typeface="+mn-ea"/>
                <a:cs typeface="+mn-cs"/>
              </a:rPr>
              <a:t>首先，我们证明如果</a:t>
            </a:r>
            <a:r>
              <a:rPr lang="en-US" altLang="zh-CN" sz="2100" dirty="0" smtClean="0">
                <a:latin typeface="+mn-lt"/>
                <a:ea typeface="+mn-ea"/>
                <a:cs typeface="+mn-cs"/>
              </a:rPr>
              <a:t>n</a:t>
            </a:r>
            <a:r>
              <a:rPr lang="zh-CN" altLang="en-US" sz="2100" dirty="0" smtClean="0">
                <a:latin typeface="+mn-lt"/>
                <a:ea typeface="+mn-ea"/>
                <a:cs typeface="+mn-cs"/>
              </a:rPr>
              <a:t>是奇数，那么</a:t>
            </a:r>
            <a:r>
              <a:rPr lang="en-US" altLang="zh-CN" sz="2100" dirty="0" smtClean="0">
                <a:latin typeface="+mn-lt"/>
                <a:ea typeface="+mn-ea"/>
                <a:cs typeface="+mn-cs"/>
              </a:rPr>
              <a:t>n</a:t>
            </a:r>
            <a:r>
              <a:rPr lang="en-US" altLang="zh-CN" sz="2100" baseline="30000" dirty="0" smtClean="0">
                <a:latin typeface="+mn-lt"/>
                <a:ea typeface="+mn-ea"/>
                <a:cs typeface="+mn-cs"/>
              </a:rPr>
              <a:t>2</a:t>
            </a:r>
            <a:r>
              <a:rPr lang="en-US" altLang="zh-CN" sz="2100" dirty="0" smtClean="0">
                <a:latin typeface="+mn-lt"/>
                <a:ea typeface="+mn-ea"/>
                <a:cs typeface="+mn-cs"/>
              </a:rPr>
              <a:t> </a:t>
            </a:r>
            <a:r>
              <a:rPr lang="zh-CN" altLang="en-US" sz="2100" dirty="0" smtClean="0">
                <a:latin typeface="+mn-lt"/>
                <a:ea typeface="+mn-ea"/>
                <a:cs typeface="+mn-cs"/>
              </a:rPr>
              <a:t>也是奇数。</a:t>
            </a:r>
            <a:endParaRPr lang="en-US" altLang="zh-CN" sz="2100" dirty="0" smtClean="0">
              <a:latin typeface="+mn-lt"/>
              <a:ea typeface="+mn-ea"/>
              <a:cs typeface="+mn-cs"/>
            </a:endParaRPr>
          </a:p>
          <a:p>
            <a:pPr lvl="1" eaLnBrk="1" hangingPunct="1">
              <a:lnSpc>
                <a:spcPct val="90000"/>
              </a:lnSpc>
              <a:buFontTx/>
              <a:buNone/>
              <a:defRPr/>
            </a:pPr>
            <a:r>
              <a:rPr lang="zh-CN" altLang="en-US" sz="2100" dirty="0" smtClean="0">
                <a:latin typeface="+mn-lt"/>
                <a:ea typeface="+mn-ea"/>
                <a:cs typeface="+mn-cs"/>
              </a:rPr>
              <a:t>由于</a:t>
            </a:r>
            <a:r>
              <a:rPr lang="en-US" altLang="zh-CN" sz="2100" dirty="0" smtClean="0">
                <a:latin typeface="+mn-lt"/>
                <a:ea typeface="+mn-ea"/>
                <a:cs typeface="+mn-cs"/>
              </a:rPr>
              <a:t> n </a:t>
            </a:r>
            <a:r>
              <a:rPr lang="zh-CN" altLang="en-US" sz="2100" dirty="0" smtClean="0">
                <a:latin typeface="+mn-lt"/>
                <a:ea typeface="+mn-ea"/>
                <a:cs typeface="+mn-cs"/>
              </a:rPr>
              <a:t>是奇数，</a:t>
            </a:r>
            <a:r>
              <a:rPr lang="en-US" altLang="zh-CN" sz="2100" dirty="0" smtClean="0">
                <a:latin typeface="+mn-lt"/>
                <a:ea typeface="+mn-ea"/>
                <a:cs typeface="+mn-cs"/>
              </a:rPr>
              <a:t> </a:t>
            </a:r>
            <a:r>
              <a:rPr lang="zh-CN" altLang="en-US" sz="2100" dirty="0" smtClean="0">
                <a:latin typeface="+mn-lt"/>
                <a:ea typeface="+mn-ea"/>
                <a:cs typeface="+mn-cs"/>
              </a:rPr>
              <a:t>那么</a:t>
            </a:r>
            <a:r>
              <a:rPr lang="en-US" altLang="zh-CN" sz="2100" dirty="0" smtClean="0">
                <a:latin typeface="+mn-lt"/>
                <a:ea typeface="+mn-ea"/>
                <a:cs typeface="+mn-cs"/>
              </a:rPr>
              <a:t>n=2k+1</a:t>
            </a:r>
            <a:r>
              <a:rPr lang="zh-CN" altLang="en-US" sz="2100" dirty="0" smtClean="0">
                <a:latin typeface="+mn-lt"/>
                <a:ea typeface="+mn-ea"/>
                <a:cs typeface="+mn-cs"/>
              </a:rPr>
              <a:t>，</a:t>
            </a:r>
            <a:r>
              <a:rPr lang="en-US" altLang="zh-CN" sz="2100" dirty="0" smtClean="0">
                <a:latin typeface="+mn-lt"/>
                <a:ea typeface="+mn-ea"/>
                <a:cs typeface="+mn-cs"/>
              </a:rPr>
              <a:t>k</a:t>
            </a:r>
            <a:r>
              <a:rPr lang="zh-CN" altLang="en-US" sz="2100" dirty="0" smtClean="0">
                <a:latin typeface="+mn-lt"/>
                <a:ea typeface="+mn-ea"/>
                <a:cs typeface="+mn-cs"/>
              </a:rPr>
              <a:t>是某个整数。</a:t>
            </a:r>
            <a:endParaRPr lang="en-US" altLang="zh-CN" sz="2100" dirty="0" smtClean="0">
              <a:latin typeface="+mn-lt"/>
              <a:ea typeface="+mn-ea"/>
              <a:cs typeface="+mn-cs"/>
            </a:endParaRPr>
          </a:p>
          <a:p>
            <a:pPr lvl="1" eaLnBrk="1" hangingPunct="1">
              <a:lnSpc>
                <a:spcPct val="90000"/>
              </a:lnSpc>
              <a:buFontTx/>
              <a:buNone/>
              <a:defRPr/>
            </a:pPr>
            <a:r>
              <a:rPr lang="zh-CN" altLang="en-US" sz="2100" dirty="0" smtClean="0">
                <a:latin typeface="+mn-lt"/>
                <a:ea typeface="+mn-ea"/>
                <a:cs typeface="+mn-cs"/>
              </a:rPr>
              <a:t>那么</a:t>
            </a:r>
            <a:r>
              <a:rPr lang="en-US" altLang="zh-CN" sz="2100" dirty="0" smtClean="0">
                <a:latin typeface="+mn-lt"/>
                <a:ea typeface="+mn-ea"/>
                <a:cs typeface="+mn-cs"/>
              </a:rPr>
              <a:t>, n</a:t>
            </a:r>
            <a:r>
              <a:rPr lang="en-US" altLang="zh-CN" sz="2100" baseline="30000" dirty="0" smtClean="0">
                <a:latin typeface="+mn-lt"/>
                <a:ea typeface="+mn-ea"/>
                <a:cs typeface="+mn-cs"/>
              </a:rPr>
              <a:t>2</a:t>
            </a:r>
            <a:r>
              <a:rPr lang="en-US" altLang="zh-CN" sz="2100" dirty="0" smtClean="0">
                <a:latin typeface="+mn-lt"/>
                <a:ea typeface="+mn-ea"/>
                <a:cs typeface="+mn-cs"/>
              </a:rPr>
              <a:t>=(2K+1)</a:t>
            </a:r>
            <a:r>
              <a:rPr lang="en-US" altLang="zh-CN" sz="2100" baseline="30000" dirty="0" smtClean="0">
                <a:latin typeface="+mn-lt"/>
                <a:ea typeface="+mn-ea"/>
                <a:cs typeface="+mn-cs"/>
              </a:rPr>
              <a:t>2</a:t>
            </a:r>
            <a:r>
              <a:rPr lang="en-US" altLang="zh-CN" sz="2100" dirty="0" smtClean="0">
                <a:latin typeface="+mn-lt"/>
                <a:ea typeface="+mn-ea"/>
                <a:cs typeface="+mn-cs"/>
              </a:rPr>
              <a:t> =2(2k</a:t>
            </a:r>
            <a:r>
              <a:rPr lang="en-US" altLang="zh-CN" sz="2100" baseline="30000" dirty="0" smtClean="0">
                <a:latin typeface="+mn-lt"/>
                <a:ea typeface="+mn-ea"/>
                <a:cs typeface="+mn-cs"/>
              </a:rPr>
              <a:t>2</a:t>
            </a:r>
            <a:r>
              <a:rPr lang="en-US" altLang="zh-CN" sz="2100" dirty="0" smtClean="0">
                <a:latin typeface="+mn-lt"/>
                <a:ea typeface="+mn-ea"/>
                <a:cs typeface="+mn-cs"/>
              </a:rPr>
              <a:t>+2k)+1</a:t>
            </a:r>
            <a:r>
              <a:rPr lang="zh-CN" altLang="en-US" sz="2100" dirty="0" smtClean="0">
                <a:latin typeface="+mn-lt"/>
                <a:ea typeface="+mn-ea"/>
                <a:cs typeface="+mn-cs"/>
              </a:rPr>
              <a:t>，</a:t>
            </a:r>
            <a:endParaRPr lang="en-US" altLang="zh-CN" sz="2100" dirty="0" smtClean="0">
              <a:latin typeface="+mn-lt"/>
              <a:ea typeface="+mn-ea"/>
              <a:cs typeface="+mn-cs"/>
            </a:endParaRPr>
          </a:p>
          <a:p>
            <a:pPr lvl="1" eaLnBrk="1" hangingPunct="1">
              <a:lnSpc>
                <a:spcPct val="90000"/>
              </a:lnSpc>
              <a:buFontTx/>
              <a:buNone/>
              <a:defRPr/>
            </a:pPr>
            <a:r>
              <a:rPr lang="zh-CN" altLang="en-US" sz="2100" dirty="0" smtClean="0">
                <a:latin typeface="+mn-lt"/>
                <a:ea typeface="+mn-ea"/>
                <a:cs typeface="+mn-cs"/>
              </a:rPr>
              <a:t>所以</a:t>
            </a:r>
            <a:r>
              <a:rPr lang="en-US" altLang="zh-CN" sz="2100" dirty="0" smtClean="0">
                <a:latin typeface="+mn-lt"/>
                <a:ea typeface="+mn-ea"/>
                <a:cs typeface="+mn-cs"/>
              </a:rPr>
              <a:t>n</a:t>
            </a:r>
            <a:r>
              <a:rPr lang="en-US" altLang="zh-CN" sz="2100" baseline="30000" dirty="0" smtClean="0">
                <a:latin typeface="+mn-lt"/>
                <a:ea typeface="+mn-ea"/>
                <a:cs typeface="+mn-cs"/>
              </a:rPr>
              <a:t>2</a:t>
            </a:r>
            <a:r>
              <a:rPr lang="zh-CN" altLang="en-US" sz="2100" dirty="0" smtClean="0">
                <a:latin typeface="+mn-lt"/>
                <a:ea typeface="+mn-ea"/>
                <a:cs typeface="+mn-cs"/>
              </a:rPr>
              <a:t>是奇数。</a:t>
            </a:r>
            <a:endParaRPr lang="en-US" altLang="zh-CN" sz="2100" dirty="0" smtClean="0">
              <a:latin typeface="+mn-lt"/>
              <a:ea typeface="+mn-ea"/>
              <a:cs typeface="+mn-cs"/>
            </a:endParaRPr>
          </a:p>
          <a:p>
            <a:pPr lvl="1" eaLnBrk="1" hangingPunct="1">
              <a:lnSpc>
                <a:spcPct val="90000"/>
              </a:lnSpc>
              <a:buFontTx/>
              <a:buNone/>
              <a:defRPr/>
            </a:pPr>
            <a:r>
              <a:rPr lang="zh-CN" altLang="en-US" sz="2100" dirty="0" smtClean="0">
                <a:latin typeface="+mn-lt"/>
                <a:ea typeface="+mn-ea"/>
                <a:cs typeface="+mn-cs"/>
              </a:rPr>
              <a:t>因此，如果</a:t>
            </a:r>
            <a:r>
              <a:rPr lang="en-US" altLang="zh-CN" sz="2100" dirty="0" smtClean="0">
                <a:latin typeface="+mn-lt"/>
                <a:ea typeface="+mn-ea"/>
                <a:cs typeface="+mn-cs"/>
              </a:rPr>
              <a:t> n</a:t>
            </a:r>
            <a:r>
              <a:rPr lang="en-US" altLang="zh-CN" sz="2100" baseline="30000" dirty="0" smtClean="0">
                <a:latin typeface="+mn-lt"/>
                <a:ea typeface="+mn-ea"/>
                <a:cs typeface="+mn-cs"/>
              </a:rPr>
              <a:t>2</a:t>
            </a:r>
            <a:r>
              <a:rPr lang="zh-CN" altLang="en-US" sz="2100" dirty="0" smtClean="0">
                <a:latin typeface="+mn-lt"/>
                <a:ea typeface="+mn-ea"/>
                <a:cs typeface="+mn-cs"/>
              </a:rPr>
              <a:t>是偶数，那么</a:t>
            </a:r>
            <a:r>
              <a:rPr lang="en-US" altLang="zh-CN" sz="2100" dirty="0" smtClean="0">
                <a:latin typeface="+mn-lt"/>
                <a:ea typeface="+mn-ea"/>
                <a:cs typeface="+mn-cs"/>
              </a:rPr>
              <a:t> n </a:t>
            </a:r>
            <a:r>
              <a:rPr lang="zh-CN" altLang="en-US" sz="2100" dirty="0" smtClean="0">
                <a:latin typeface="+mn-lt"/>
                <a:ea typeface="+mn-ea"/>
                <a:cs typeface="+mn-cs"/>
              </a:rPr>
              <a:t>是偶数。</a:t>
            </a:r>
            <a:endParaRPr lang="en-US" altLang="zh-CN" sz="2100" dirty="0" smtClean="0">
              <a:latin typeface="+mn-lt"/>
              <a:ea typeface="+mn-ea"/>
              <a:cs typeface="+mn-cs"/>
            </a:endParaRPr>
          </a:p>
          <a:p>
            <a:pPr lvl="1" eaLnBrk="1" hangingPunct="1">
              <a:lnSpc>
                <a:spcPct val="90000"/>
              </a:lnSpc>
              <a:buFontTx/>
              <a:buNone/>
              <a:defRPr/>
            </a:pPr>
            <a:endParaRPr lang="en-US" altLang="zh-CN" dirty="0" smtClean="0"/>
          </a:p>
        </p:txBody>
      </p:sp>
    </p:spTree>
    <p:extLst>
      <p:ext uri="{BB962C8B-B14F-4D97-AF65-F5344CB8AC3E}">
        <p14:creationId xmlns:p14="http://schemas.microsoft.com/office/powerpoint/2010/main" val="16687915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10240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40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240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240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240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2403">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2403">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240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49155" name="Rectangle 2"/>
          <p:cNvSpPr>
            <a:spLocks noGrp="1" noChangeArrowheads="1"/>
          </p:cNvSpPr>
          <p:nvPr>
            <p:ph type="title"/>
          </p:nvPr>
        </p:nvSpPr>
        <p:spPr/>
        <p:txBody>
          <a:bodyPr/>
          <a:lstStyle/>
          <a:p>
            <a:pPr eaLnBrk="1" hangingPunct="1"/>
            <a:r>
              <a:rPr lang="en-US" altLang="zh-CN" dirty="0">
                <a:latin typeface="+mn-ea"/>
              </a:rPr>
              <a:t>1.3.2 </a:t>
            </a:r>
            <a:r>
              <a:rPr lang="zh-CN" altLang="en-US" dirty="0">
                <a:latin typeface="+mn-ea"/>
              </a:rPr>
              <a:t>证明方法</a:t>
            </a:r>
            <a:r>
              <a:rPr lang="en-US" altLang="zh-CN" dirty="0">
                <a:latin typeface="+mn-ea"/>
              </a:rPr>
              <a:t>——</a:t>
            </a:r>
            <a:r>
              <a:rPr lang="zh-CN" altLang="en-US" dirty="0">
                <a:latin typeface="+mn-ea"/>
              </a:rPr>
              <a:t>间接证明</a:t>
            </a:r>
            <a:endParaRPr lang="en-US" altLang="zh-CN" dirty="0" smtClean="0"/>
          </a:p>
        </p:txBody>
      </p:sp>
      <p:sp>
        <p:nvSpPr>
          <p:cNvPr id="103427" name="Rectangle 3"/>
          <p:cNvSpPr>
            <a:spLocks noGrp="1" noChangeArrowheads="1"/>
          </p:cNvSpPr>
          <p:nvPr>
            <p:ph type="body" idx="1"/>
          </p:nvPr>
        </p:nvSpPr>
        <p:spPr/>
        <p:txBody>
          <a:bodyPr/>
          <a:lstStyle/>
          <a:p>
            <a:pPr eaLnBrk="1" hangingPunct="1">
              <a:lnSpc>
                <a:spcPct val="90000"/>
              </a:lnSpc>
              <a:defRPr/>
            </a:pPr>
            <a:r>
              <a:rPr lang="zh-CN" altLang="en-US" dirty="0" smtClean="0"/>
              <a:t>为了证明命题 </a:t>
            </a:r>
            <a:r>
              <a:rPr lang="en-US" altLang="zh-CN" dirty="0" smtClean="0"/>
              <a:t>“P</a:t>
            </a:r>
            <a:r>
              <a:rPr lang="en-US" altLang="zh-CN" dirty="0" smtClean="0">
                <a:sym typeface="Symbol" pitchFamily="18" charset="2"/>
              </a:rPr>
              <a:t>Q</a:t>
            </a:r>
            <a:r>
              <a:rPr lang="en-US" altLang="zh-CN" dirty="0" smtClean="0"/>
              <a:t>”</a:t>
            </a:r>
            <a:r>
              <a:rPr lang="zh-CN" altLang="en-US" dirty="0" smtClean="0"/>
              <a:t>为真</a:t>
            </a:r>
            <a:r>
              <a:rPr lang="en-US" altLang="zh-CN" dirty="0" smtClean="0"/>
              <a:t>, </a:t>
            </a:r>
            <a:r>
              <a:rPr lang="zh-CN" altLang="en-US" dirty="0" smtClean="0"/>
              <a:t>先假定</a:t>
            </a:r>
            <a:r>
              <a:rPr lang="en-US" altLang="zh-CN" dirty="0" smtClean="0"/>
              <a:t>P</a:t>
            </a:r>
            <a:r>
              <a:rPr lang="zh-CN" altLang="en-US" dirty="0" smtClean="0"/>
              <a:t>为真，但</a:t>
            </a:r>
            <a:r>
              <a:rPr lang="en-US" altLang="zh-CN" dirty="0" smtClean="0"/>
              <a:t>Q</a:t>
            </a:r>
            <a:r>
              <a:rPr lang="zh-CN" altLang="en-US" dirty="0" smtClean="0"/>
              <a:t>为假。如果这个假设导出矛盾，就意味着假设“</a:t>
            </a:r>
            <a:r>
              <a:rPr lang="en-US" altLang="zh-CN" dirty="0" smtClean="0"/>
              <a:t>Q</a:t>
            </a:r>
            <a:r>
              <a:rPr lang="zh-CN" altLang="en-US" dirty="0" smtClean="0"/>
              <a:t>为假”必定是错的，所以</a:t>
            </a:r>
            <a:r>
              <a:rPr lang="en-US" altLang="zh-CN" dirty="0" smtClean="0"/>
              <a:t>Q</a:t>
            </a:r>
            <a:r>
              <a:rPr lang="zh-CN" altLang="en-US" dirty="0" smtClean="0"/>
              <a:t>必定可由</a:t>
            </a:r>
            <a:r>
              <a:rPr lang="en-US" altLang="zh-CN" dirty="0" smtClean="0"/>
              <a:t>P</a:t>
            </a:r>
            <a:r>
              <a:rPr lang="zh-CN" altLang="en-US" dirty="0" smtClean="0"/>
              <a:t>推出。</a:t>
            </a:r>
            <a:endParaRPr lang="en-US" altLang="zh-CN" dirty="0" smtClean="0"/>
          </a:p>
          <a:p>
            <a:pPr eaLnBrk="1" hangingPunct="1">
              <a:lnSpc>
                <a:spcPct val="90000"/>
              </a:lnSpc>
              <a:defRPr/>
            </a:pPr>
            <a:r>
              <a:rPr lang="zh-CN" altLang="en-US" dirty="0" smtClean="0"/>
              <a:t>逻辑因果关系</a:t>
            </a:r>
            <a:r>
              <a:rPr lang="en-US" altLang="zh-CN" dirty="0" smtClean="0"/>
              <a:t>: </a:t>
            </a:r>
          </a:p>
          <a:p>
            <a:pPr lvl="1" eaLnBrk="1" hangingPunct="1">
              <a:lnSpc>
                <a:spcPct val="90000"/>
              </a:lnSpc>
              <a:defRPr/>
            </a:pPr>
            <a:r>
              <a:rPr lang="zh-CN" altLang="en-US" sz="2500" dirty="0" smtClean="0">
                <a:latin typeface="+mn-lt"/>
                <a:ea typeface="+mn-ea"/>
                <a:cs typeface="+mn-cs"/>
              </a:rPr>
              <a:t>如果已知</a:t>
            </a:r>
            <a:r>
              <a:rPr lang="en-US" altLang="zh-CN" sz="2500" dirty="0" smtClean="0">
                <a:latin typeface="+mn-lt"/>
                <a:ea typeface="+mn-ea"/>
                <a:cs typeface="+mn-cs"/>
              </a:rPr>
              <a:t>P</a:t>
            </a:r>
            <a:r>
              <a:rPr lang="en-US" altLang="zh-CN" sz="2500" dirty="0" smtClean="0">
                <a:latin typeface="+mn-lt"/>
                <a:ea typeface="+mn-ea"/>
                <a:cs typeface="+mn-cs"/>
                <a:sym typeface="Symbol" pitchFamily="18" charset="2"/>
              </a:rPr>
              <a:t>Q </a:t>
            </a:r>
            <a:r>
              <a:rPr lang="zh-CN" altLang="en-US" sz="2500" dirty="0" smtClean="0">
                <a:latin typeface="+mn-lt"/>
                <a:ea typeface="+mn-ea"/>
                <a:cs typeface="+mn-cs"/>
                <a:sym typeface="Symbol" pitchFamily="18" charset="2"/>
              </a:rPr>
              <a:t>为真，且</a:t>
            </a:r>
            <a:r>
              <a:rPr lang="en-US" altLang="zh-CN" sz="2500" dirty="0" smtClean="0">
                <a:latin typeface="+mn-lt"/>
                <a:ea typeface="+mn-ea"/>
                <a:cs typeface="+mn-cs"/>
                <a:sym typeface="Symbol" pitchFamily="18" charset="2"/>
              </a:rPr>
              <a:t>Q </a:t>
            </a:r>
            <a:r>
              <a:rPr lang="zh-CN" altLang="en-US" sz="2500" dirty="0" smtClean="0">
                <a:latin typeface="+mn-lt"/>
                <a:ea typeface="+mn-ea"/>
                <a:cs typeface="+mn-cs"/>
                <a:sym typeface="Symbol" pitchFamily="18" charset="2"/>
              </a:rPr>
              <a:t>为假，则</a:t>
            </a:r>
            <a:r>
              <a:rPr lang="en-US" altLang="zh-CN" sz="2500" dirty="0" smtClean="0">
                <a:latin typeface="+mn-lt"/>
                <a:ea typeface="+mn-ea"/>
                <a:cs typeface="+mn-cs"/>
                <a:sym typeface="Symbol" pitchFamily="18" charset="2"/>
              </a:rPr>
              <a:t> P </a:t>
            </a:r>
            <a:r>
              <a:rPr lang="zh-CN" altLang="en-US" sz="2500" dirty="0" smtClean="0">
                <a:latin typeface="+mn-lt"/>
                <a:ea typeface="+mn-ea"/>
                <a:cs typeface="+mn-cs"/>
                <a:sym typeface="Symbol" pitchFamily="18" charset="2"/>
              </a:rPr>
              <a:t>必定为假</a:t>
            </a:r>
            <a:r>
              <a:rPr lang="en-US" altLang="zh-CN" sz="2500" dirty="0" smtClean="0">
                <a:latin typeface="+mn-lt"/>
                <a:ea typeface="+mn-ea"/>
                <a:cs typeface="+mn-cs"/>
                <a:sym typeface="Symbol" pitchFamily="18" charset="2"/>
              </a:rPr>
              <a:t>;</a:t>
            </a:r>
          </a:p>
          <a:p>
            <a:pPr lvl="1" eaLnBrk="1" hangingPunct="1">
              <a:lnSpc>
                <a:spcPct val="90000"/>
              </a:lnSpc>
              <a:defRPr/>
            </a:pPr>
            <a:r>
              <a:rPr lang="zh-CN" altLang="en-US" sz="2500" dirty="0" smtClean="0">
                <a:latin typeface="+mn-lt"/>
                <a:ea typeface="+mn-ea"/>
                <a:cs typeface="+mn-cs"/>
                <a:sym typeface="Symbol" pitchFamily="18" charset="2"/>
              </a:rPr>
              <a:t>所以，如果一开始先假定</a:t>
            </a:r>
            <a:r>
              <a:rPr lang="en-US" altLang="zh-CN" sz="2500" dirty="0" smtClean="0">
                <a:latin typeface="+mn-lt"/>
                <a:ea typeface="+mn-ea"/>
                <a:cs typeface="+mn-cs"/>
                <a:sym typeface="Symbol" pitchFamily="18" charset="2"/>
              </a:rPr>
              <a:t>P</a:t>
            </a:r>
            <a:r>
              <a:rPr lang="zh-CN" altLang="en-US" sz="2500" dirty="0" smtClean="0">
                <a:latin typeface="+mn-lt"/>
                <a:ea typeface="+mn-ea"/>
                <a:cs typeface="+mn-cs"/>
                <a:sym typeface="Symbol" pitchFamily="18" charset="2"/>
              </a:rPr>
              <a:t>为真，</a:t>
            </a:r>
            <a:r>
              <a:rPr lang="en-US" altLang="zh-CN" sz="2500" dirty="0" smtClean="0">
                <a:latin typeface="+mn-lt"/>
                <a:ea typeface="+mn-ea"/>
                <a:cs typeface="+mn-cs"/>
                <a:sym typeface="Symbol" pitchFamily="18" charset="2"/>
              </a:rPr>
              <a:t>Q</a:t>
            </a:r>
            <a:r>
              <a:rPr lang="zh-CN" altLang="en-US" sz="2500" dirty="0" smtClean="0">
                <a:latin typeface="+mn-lt"/>
                <a:ea typeface="+mn-ea"/>
                <a:cs typeface="+mn-cs"/>
                <a:sym typeface="Symbol" pitchFamily="18" charset="2"/>
              </a:rPr>
              <a:t>为假，从而得出</a:t>
            </a:r>
            <a:r>
              <a:rPr lang="en-US" altLang="zh-CN" sz="2500" dirty="0" smtClean="0">
                <a:latin typeface="+mn-lt"/>
                <a:ea typeface="+mn-ea"/>
                <a:cs typeface="+mn-cs"/>
                <a:sym typeface="Symbol" pitchFamily="18" charset="2"/>
              </a:rPr>
              <a:t>P</a:t>
            </a:r>
            <a:r>
              <a:rPr lang="zh-CN" altLang="en-US" sz="2500" dirty="0" smtClean="0">
                <a:latin typeface="+mn-lt"/>
                <a:ea typeface="+mn-ea"/>
                <a:cs typeface="+mn-cs"/>
                <a:sym typeface="Symbol" pitchFamily="18" charset="2"/>
              </a:rPr>
              <a:t>为假的结论，这样，</a:t>
            </a:r>
            <a:r>
              <a:rPr lang="en-US" altLang="zh-CN" sz="2500" dirty="0" smtClean="0">
                <a:latin typeface="+mn-lt"/>
                <a:ea typeface="+mn-ea"/>
                <a:cs typeface="+mn-cs"/>
                <a:sym typeface="Symbol" pitchFamily="18" charset="2"/>
              </a:rPr>
              <a:t>P</a:t>
            </a:r>
            <a:r>
              <a:rPr lang="zh-CN" altLang="en-US" sz="2500" dirty="0" smtClean="0">
                <a:latin typeface="+mn-lt"/>
                <a:ea typeface="+mn-ea"/>
                <a:cs typeface="+mn-cs"/>
                <a:sym typeface="Symbol" pitchFamily="18" charset="2"/>
              </a:rPr>
              <a:t>即是真的又是假的，但是</a:t>
            </a:r>
            <a:r>
              <a:rPr lang="en-US" altLang="zh-CN" sz="2500" dirty="0" smtClean="0">
                <a:latin typeface="+mn-lt"/>
                <a:ea typeface="+mn-ea"/>
                <a:cs typeface="+mn-cs"/>
                <a:sym typeface="Symbol" pitchFamily="18" charset="2"/>
              </a:rPr>
              <a:t>P</a:t>
            </a:r>
            <a:r>
              <a:rPr lang="zh-CN" altLang="en-US" sz="2500" dirty="0" smtClean="0">
                <a:latin typeface="+mn-lt"/>
                <a:ea typeface="+mn-ea"/>
                <a:cs typeface="+mn-cs"/>
                <a:sym typeface="Symbol" pitchFamily="18" charset="2"/>
              </a:rPr>
              <a:t>不能既为真又为假，因此，这是一个矛盾，那么得出</a:t>
            </a:r>
            <a:r>
              <a:rPr lang="en-US" altLang="zh-CN" sz="2500" dirty="0" smtClean="0">
                <a:latin typeface="+mn-lt"/>
                <a:ea typeface="+mn-ea"/>
                <a:cs typeface="+mn-cs"/>
                <a:sym typeface="Symbol" pitchFamily="18" charset="2"/>
              </a:rPr>
              <a:t>Q</a:t>
            </a:r>
            <a:r>
              <a:rPr lang="zh-CN" altLang="en-US" sz="2500" dirty="0" smtClean="0">
                <a:latin typeface="+mn-lt"/>
                <a:ea typeface="+mn-ea"/>
                <a:cs typeface="+mn-cs"/>
                <a:sym typeface="Symbol" pitchFamily="18" charset="2"/>
              </a:rPr>
              <a:t>为假的假定是错误的，所以最终只有一种可能：</a:t>
            </a:r>
            <a:r>
              <a:rPr lang="en-US" altLang="zh-CN" sz="2500" dirty="0" smtClean="0">
                <a:latin typeface="+mn-lt"/>
                <a:ea typeface="+mn-ea"/>
                <a:cs typeface="+mn-cs"/>
                <a:sym typeface="Symbol" pitchFamily="18" charset="2"/>
              </a:rPr>
              <a:t>Q</a:t>
            </a:r>
            <a:r>
              <a:rPr lang="zh-CN" altLang="en-US" sz="2500" dirty="0" smtClean="0">
                <a:latin typeface="+mn-lt"/>
                <a:ea typeface="+mn-ea"/>
                <a:cs typeface="+mn-cs"/>
                <a:sym typeface="Symbol" pitchFamily="18" charset="2"/>
              </a:rPr>
              <a:t>为真。</a:t>
            </a:r>
            <a:endParaRPr lang="en-US" altLang="zh-CN" sz="2500" dirty="0" smtClean="0">
              <a:latin typeface="+mn-lt"/>
              <a:ea typeface="+mn-ea"/>
              <a:cs typeface="+mn-cs"/>
              <a:sym typeface="Symbol" pitchFamily="18" charset="2"/>
            </a:endParaRPr>
          </a:p>
        </p:txBody>
      </p:sp>
    </p:spTree>
    <p:extLst>
      <p:ext uri="{BB962C8B-B14F-4D97-AF65-F5344CB8AC3E}">
        <p14:creationId xmlns:p14="http://schemas.microsoft.com/office/powerpoint/2010/main" val="143409931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3427">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0342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51203" name="Rectangle 2"/>
          <p:cNvSpPr>
            <a:spLocks noGrp="1" noChangeArrowheads="1"/>
          </p:cNvSpPr>
          <p:nvPr>
            <p:ph type="title"/>
          </p:nvPr>
        </p:nvSpPr>
        <p:spPr/>
        <p:txBody>
          <a:bodyPr/>
          <a:lstStyle/>
          <a:p>
            <a:pPr eaLnBrk="1" hangingPunct="1"/>
            <a:r>
              <a:rPr lang="en-US" altLang="zh-CN" dirty="0">
                <a:latin typeface="+mn-ea"/>
              </a:rPr>
              <a:t>1.3.2 </a:t>
            </a:r>
            <a:r>
              <a:rPr lang="zh-CN" altLang="en-US" dirty="0">
                <a:latin typeface="+mn-ea"/>
              </a:rPr>
              <a:t>证明方法</a:t>
            </a:r>
            <a:r>
              <a:rPr lang="en-US" altLang="zh-CN" dirty="0">
                <a:latin typeface="+mn-ea"/>
              </a:rPr>
              <a:t>——</a:t>
            </a:r>
            <a:r>
              <a:rPr lang="zh-CN" altLang="en-US" dirty="0">
                <a:latin typeface="+mn-ea"/>
              </a:rPr>
              <a:t>间接证明</a:t>
            </a:r>
            <a:endParaRPr lang="en-US" altLang="zh-CN" dirty="0" smtClean="0"/>
          </a:p>
        </p:txBody>
      </p:sp>
      <p:sp>
        <p:nvSpPr>
          <p:cNvPr id="226307" name="Rectangle 3"/>
          <p:cNvSpPr>
            <a:spLocks noGrp="1" noChangeArrowheads="1"/>
          </p:cNvSpPr>
          <p:nvPr>
            <p:ph type="body" idx="1"/>
          </p:nvPr>
        </p:nvSpPr>
        <p:spPr>
          <a:xfrm>
            <a:off x="806306" y="1272381"/>
            <a:ext cx="8229600" cy="5033962"/>
          </a:xfrm>
        </p:spPr>
        <p:txBody>
          <a:bodyPr/>
          <a:lstStyle/>
          <a:p>
            <a:pPr lvl="0" eaLnBrk="1" hangingPunct="1"/>
            <a:r>
              <a:rPr lang="zh-CN" altLang="en-US" sz="2200" dirty="0">
                <a:solidFill>
                  <a:srgbClr val="333399"/>
                </a:solidFill>
              </a:rPr>
              <a:t>例子</a:t>
            </a:r>
            <a:endParaRPr lang="en-US" altLang="zh-CN" sz="2200" dirty="0">
              <a:solidFill>
                <a:srgbClr val="333399"/>
              </a:solidFill>
            </a:endParaRPr>
          </a:p>
          <a:p>
            <a:pPr lvl="1" eaLnBrk="1" hangingPunct="1">
              <a:buFontTx/>
              <a:buNone/>
              <a:defRPr/>
            </a:pPr>
            <a:r>
              <a:rPr lang="zh-CN" altLang="en-US" sz="2000" dirty="0" smtClean="0">
                <a:latin typeface="+mn-ea"/>
                <a:ea typeface="+mn-ea"/>
              </a:rPr>
              <a:t>有无限多的素数。反证法证明</a:t>
            </a:r>
            <a:r>
              <a:rPr lang="en-US" altLang="zh-CN" sz="2000" dirty="0" smtClean="0">
                <a:latin typeface="+mn-ea"/>
                <a:ea typeface="+mn-ea"/>
              </a:rPr>
              <a:t>:</a:t>
            </a:r>
          </a:p>
          <a:p>
            <a:pPr lvl="1" eaLnBrk="1" hangingPunct="1">
              <a:buFontTx/>
              <a:buNone/>
              <a:defRPr/>
            </a:pPr>
            <a:r>
              <a:rPr lang="zh-CN" altLang="en-US" sz="2000" dirty="0" smtClean="0">
                <a:latin typeface="+mn-ea"/>
                <a:ea typeface="+mn-ea"/>
              </a:rPr>
              <a:t>素数</a:t>
            </a:r>
            <a:r>
              <a:rPr lang="en-US" altLang="zh-CN" sz="2000" dirty="0" smtClean="0">
                <a:latin typeface="+mn-ea"/>
                <a:ea typeface="+mn-ea"/>
              </a:rPr>
              <a:t>:</a:t>
            </a:r>
            <a:r>
              <a:rPr lang="zh-CN" altLang="en-US" sz="2000" dirty="0" smtClean="0">
                <a:latin typeface="+mn-ea"/>
                <a:ea typeface="+mn-ea"/>
              </a:rPr>
              <a:t>指在一个大于</a:t>
            </a:r>
            <a:r>
              <a:rPr lang="en-US" altLang="zh-CN" sz="2000" dirty="0" smtClean="0">
                <a:latin typeface="+mn-ea"/>
                <a:ea typeface="+mn-ea"/>
              </a:rPr>
              <a:t>1</a:t>
            </a:r>
            <a:r>
              <a:rPr lang="zh-CN" altLang="en-US" sz="2000" dirty="0" smtClean="0">
                <a:latin typeface="+mn-ea"/>
                <a:ea typeface="+mn-ea"/>
              </a:rPr>
              <a:t>的自然数中，除了</a:t>
            </a:r>
            <a:r>
              <a:rPr lang="en-US" altLang="zh-CN" sz="2000" dirty="0" smtClean="0">
                <a:latin typeface="+mn-ea"/>
                <a:ea typeface="+mn-ea"/>
              </a:rPr>
              <a:t>1</a:t>
            </a:r>
            <a:r>
              <a:rPr lang="zh-CN" altLang="en-US" sz="2000" dirty="0" smtClean="0">
                <a:latin typeface="+mn-ea"/>
                <a:ea typeface="+mn-ea"/>
              </a:rPr>
              <a:t>和此整数自身外，不能被其他自然数整除的数。</a:t>
            </a:r>
            <a:endParaRPr lang="en-US" altLang="zh-CN" sz="2000" dirty="0" smtClean="0">
              <a:latin typeface="+mn-ea"/>
              <a:ea typeface="+mn-ea"/>
            </a:endParaRPr>
          </a:p>
          <a:p>
            <a:pPr lvl="1" eaLnBrk="1" hangingPunct="1">
              <a:buFontTx/>
              <a:buNone/>
              <a:defRPr/>
            </a:pPr>
            <a:r>
              <a:rPr lang="zh-CN" altLang="en-US" sz="2000" dirty="0" smtClean="0">
                <a:latin typeface="+mn-ea"/>
                <a:ea typeface="+mn-ea"/>
              </a:rPr>
              <a:t>合数：比</a:t>
            </a:r>
            <a:r>
              <a:rPr lang="en-US" altLang="zh-CN" sz="2000" dirty="0" smtClean="0">
                <a:latin typeface="+mn-ea"/>
                <a:ea typeface="+mn-ea"/>
              </a:rPr>
              <a:t>1</a:t>
            </a:r>
            <a:r>
              <a:rPr lang="zh-CN" altLang="en-US" sz="2000" dirty="0" smtClean="0">
                <a:latin typeface="+mn-ea"/>
                <a:ea typeface="+mn-ea"/>
              </a:rPr>
              <a:t>大但不是素数的数称为合数。</a:t>
            </a:r>
            <a:endParaRPr lang="en-US" altLang="zh-CN" sz="2000" dirty="0" smtClean="0">
              <a:latin typeface="+mn-ea"/>
              <a:ea typeface="+mn-ea"/>
            </a:endParaRPr>
          </a:p>
          <a:p>
            <a:pPr lvl="1" eaLnBrk="1" hangingPunct="1">
              <a:buFontTx/>
              <a:buNone/>
              <a:defRPr/>
            </a:pPr>
            <a:r>
              <a:rPr lang="zh-CN" altLang="en-US" sz="2000" dirty="0" smtClean="0">
                <a:latin typeface="+mn-ea"/>
                <a:ea typeface="+mn-ea"/>
              </a:rPr>
              <a:t>定义：任何一个合数都可以分解为几个素数的积。</a:t>
            </a:r>
            <a:endParaRPr lang="en-US" altLang="zh-CN" sz="2000" dirty="0" smtClean="0">
              <a:latin typeface="+mn-ea"/>
              <a:ea typeface="+mn-ea"/>
            </a:endParaRPr>
          </a:p>
          <a:p>
            <a:pPr lvl="1" eaLnBrk="1" hangingPunct="1">
              <a:buFontTx/>
              <a:buNone/>
              <a:defRPr/>
            </a:pPr>
            <a:endParaRPr lang="en-US" altLang="zh-CN" sz="2000" dirty="0" smtClean="0">
              <a:latin typeface="+mn-ea"/>
              <a:ea typeface="+mn-ea"/>
            </a:endParaRPr>
          </a:p>
          <a:p>
            <a:pPr lvl="1" eaLnBrk="1" hangingPunct="1">
              <a:buFontTx/>
              <a:buNone/>
              <a:defRPr/>
            </a:pPr>
            <a:r>
              <a:rPr lang="zh-CN" altLang="en-US" sz="2000" dirty="0" smtClean="0">
                <a:latin typeface="+mn-ea"/>
                <a:ea typeface="+mn-ea"/>
              </a:rPr>
              <a:t>例：</a:t>
            </a:r>
            <a:r>
              <a:rPr lang="en-US" altLang="zh-CN" sz="2000" dirty="0" smtClean="0">
                <a:latin typeface="+mn-ea"/>
                <a:ea typeface="+mn-ea"/>
              </a:rPr>
              <a:t>100</a:t>
            </a:r>
            <a:r>
              <a:rPr lang="zh-CN" altLang="en-US" sz="2000" dirty="0" smtClean="0">
                <a:latin typeface="+mn-ea"/>
                <a:ea typeface="+mn-ea"/>
              </a:rPr>
              <a:t>以内的素数有</a:t>
            </a:r>
            <a:r>
              <a:rPr lang="en-US" altLang="zh-CN" sz="2000" dirty="0" smtClean="0">
                <a:latin typeface="+mn-ea"/>
                <a:ea typeface="+mn-ea"/>
              </a:rPr>
              <a:t>2</a:t>
            </a:r>
            <a:r>
              <a:rPr lang="zh-CN" altLang="en-US" sz="2000" dirty="0" smtClean="0">
                <a:latin typeface="+mn-ea"/>
                <a:ea typeface="+mn-ea"/>
              </a:rPr>
              <a:t>，</a:t>
            </a:r>
            <a:r>
              <a:rPr lang="en-US" altLang="zh-CN" sz="2000" dirty="0" smtClean="0">
                <a:latin typeface="+mn-ea"/>
                <a:ea typeface="+mn-ea"/>
              </a:rPr>
              <a:t>3</a:t>
            </a:r>
            <a:r>
              <a:rPr lang="zh-CN" altLang="en-US" sz="2000" dirty="0" smtClean="0">
                <a:latin typeface="+mn-ea"/>
                <a:ea typeface="+mn-ea"/>
              </a:rPr>
              <a:t>，</a:t>
            </a:r>
            <a:r>
              <a:rPr lang="en-US" altLang="zh-CN" sz="2000" dirty="0" smtClean="0">
                <a:latin typeface="+mn-ea"/>
                <a:ea typeface="+mn-ea"/>
              </a:rPr>
              <a:t>5</a:t>
            </a:r>
            <a:r>
              <a:rPr lang="zh-CN" altLang="en-US" sz="2000" dirty="0" smtClean="0">
                <a:latin typeface="+mn-ea"/>
                <a:ea typeface="+mn-ea"/>
              </a:rPr>
              <a:t>，</a:t>
            </a:r>
            <a:r>
              <a:rPr lang="en-US" altLang="zh-CN" sz="2000" dirty="0" smtClean="0">
                <a:latin typeface="+mn-ea"/>
                <a:ea typeface="+mn-ea"/>
              </a:rPr>
              <a:t>7</a:t>
            </a:r>
            <a:r>
              <a:rPr lang="zh-CN" altLang="en-US" sz="2000" dirty="0" smtClean="0">
                <a:latin typeface="+mn-ea"/>
                <a:ea typeface="+mn-ea"/>
              </a:rPr>
              <a:t>，</a:t>
            </a:r>
            <a:r>
              <a:rPr lang="en-US" altLang="zh-CN" sz="2000" dirty="0" smtClean="0">
                <a:latin typeface="+mn-ea"/>
                <a:ea typeface="+mn-ea"/>
              </a:rPr>
              <a:t>11</a:t>
            </a:r>
            <a:r>
              <a:rPr lang="zh-CN" altLang="en-US" sz="2000" dirty="0" smtClean="0">
                <a:latin typeface="+mn-ea"/>
                <a:ea typeface="+mn-ea"/>
              </a:rPr>
              <a:t>，</a:t>
            </a:r>
            <a:r>
              <a:rPr lang="en-US" altLang="zh-CN" sz="2000" dirty="0" smtClean="0">
                <a:latin typeface="+mn-ea"/>
                <a:ea typeface="+mn-ea"/>
              </a:rPr>
              <a:t>13</a:t>
            </a:r>
            <a:r>
              <a:rPr lang="zh-CN" altLang="en-US" sz="2000" dirty="0" smtClean="0">
                <a:latin typeface="+mn-ea"/>
                <a:ea typeface="+mn-ea"/>
              </a:rPr>
              <a:t>，</a:t>
            </a:r>
            <a:r>
              <a:rPr lang="en-US" altLang="zh-CN" sz="2000" dirty="0" smtClean="0">
                <a:latin typeface="+mn-ea"/>
                <a:ea typeface="+mn-ea"/>
              </a:rPr>
              <a:t>17</a:t>
            </a:r>
            <a:r>
              <a:rPr lang="zh-CN" altLang="en-US" sz="2000" dirty="0" smtClean="0">
                <a:latin typeface="+mn-ea"/>
                <a:ea typeface="+mn-ea"/>
              </a:rPr>
              <a:t>，</a:t>
            </a:r>
            <a:r>
              <a:rPr lang="en-US" altLang="zh-CN" sz="2000" dirty="0" smtClean="0">
                <a:latin typeface="+mn-ea"/>
                <a:ea typeface="+mn-ea"/>
              </a:rPr>
              <a:t>19</a:t>
            </a:r>
            <a:r>
              <a:rPr lang="zh-CN" altLang="en-US" sz="2000" dirty="0" smtClean="0">
                <a:latin typeface="+mn-ea"/>
                <a:ea typeface="+mn-ea"/>
              </a:rPr>
              <a:t>，</a:t>
            </a:r>
            <a:r>
              <a:rPr lang="en-US" altLang="zh-CN" sz="2000" dirty="0" smtClean="0">
                <a:latin typeface="+mn-ea"/>
                <a:ea typeface="+mn-ea"/>
              </a:rPr>
              <a:t>23</a:t>
            </a:r>
            <a:r>
              <a:rPr lang="zh-CN" altLang="en-US" sz="2000" dirty="0" smtClean="0">
                <a:latin typeface="+mn-ea"/>
                <a:ea typeface="+mn-ea"/>
              </a:rPr>
              <a:t>，</a:t>
            </a:r>
            <a:r>
              <a:rPr lang="en-US" altLang="zh-CN" sz="2000" dirty="0" smtClean="0">
                <a:latin typeface="+mn-ea"/>
                <a:ea typeface="+mn-ea"/>
              </a:rPr>
              <a:t>29</a:t>
            </a:r>
            <a:r>
              <a:rPr lang="zh-CN" altLang="en-US" sz="2000" dirty="0" smtClean="0">
                <a:latin typeface="+mn-ea"/>
                <a:ea typeface="+mn-ea"/>
              </a:rPr>
              <a:t>，</a:t>
            </a:r>
            <a:r>
              <a:rPr lang="en-US" altLang="zh-CN" sz="2000" dirty="0" smtClean="0">
                <a:latin typeface="+mn-ea"/>
                <a:ea typeface="+mn-ea"/>
              </a:rPr>
              <a:t>31</a:t>
            </a:r>
            <a:r>
              <a:rPr lang="zh-CN" altLang="en-US" sz="2000" dirty="0" smtClean="0">
                <a:latin typeface="+mn-ea"/>
                <a:ea typeface="+mn-ea"/>
              </a:rPr>
              <a:t>，</a:t>
            </a:r>
            <a:r>
              <a:rPr lang="en-US" altLang="zh-CN" sz="2000" dirty="0" smtClean="0">
                <a:latin typeface="+mn-ea"/>
                <a:ea typeface="+mn-ea"/>
              </a:rPr>
              <a:t>37</a:t>
            </a:r>
            <a:r>
              <a:rPr lang="zh-CN" altLang="en-US" sz="2000" dirty="0" smtClean="0">
                <a:latin typeface="+mn-ea"/>
                <a:ea typeface="+mn-ea"/>
              </a:rPr>
              <a:t>，</a:t>
            </a:r>
            <a:r>
              <a:rPr lang="en-US" altLang="zh-CN" sz="2000" dirty="0" smtClean="0">
                <a:latin typeface="+mn-ea"/>
                <a:ea typeface="+mn-ea"/>
              </a:rPr>
              <a:t>41</a:t>
            </a:r>
            <a:r>
              <a:rPr lang="zh-CN" altLang="en-US" sz="2000" dirty="0" smtClean="0">
                <a:latin typeface="+mn-ea"/>
                <a:ea typeface="+mn-ea"/>
              </a:rPr>
              <a:t>，</a:t>
            </a:r>
            <a:r>
              <a:rPr lang="en-US" altLang="zh-CN" sz="2000" dirty="0" smtClean="0">
                <a:latin typeface="+mn-ea"/>
                <a:ea typeface="+mn-ea"/>
              </a:rPr>
              <a:t>43</a:t>
            </a:r>
            <a:r>
              <a:rPr lang="zh-CN" altLang="en-US" sz="2000" dirty="0" smtClean="0">
                <a:latin typeface="+mn-ea"/>
                <a:ea typeface="+mn-ea"/>
              </a:rPr>
              <a:t>，</a:t>
            </a:r>
            <a:r>
              <a:rPr lang="en-US" altLang="zh-CN" sz="2000" dirty="0" smtClean="0">
                <a:latin typeface="+mn-ea"/>
                <a:ea typeface="+mn-ea"/>
              </a:rPr>
              <a:t>47</a:t>
            </a:r>
            <a:r>
              <a:rPr lang="zh-CN" altLang="en-US" sz="2000" dirty="0" smtClean="0">
                <a:latin typeface="+mn-ea"/>
                <a:ea typeface="+mn-ea"/>
              </a:rPr>
              <a:t>，</a:t>
            </a:r>
            <a:r>
              <a:rPr lang="en-US" altLang="zh-CN" sz="2000" dirty="0" smtClean="0">
                <a:latin typeface="+mn-ea"/>
                <a:ea typeface="+mn-ea"/>
              </a:rPr>
              <a:t>53</a:t>
            </a:r>
            <a:r>
              <a:rPr lang="zh-CN" altLang="en-US" sz="2000" dirty="0" smtClean="0">
                <a:latin typeface="+mn-ea"/>
                <a:ea typeface="+mn-ea"/>
              </a:rPr>
              <a:t>，</a:t>
            </a:r>
            <a:r>
              <a:rPr lang="en-US" altLang="zh-CN" sz="2000" dirty="0" smtClean="0">
                <a:latin typeface="+mn-ea"/>
                <a:ea typeface="+mn-ea"/>
              </a:rPr>
              <a:t>59</a:t>
            </a:r>
            <a:r>
              <a:rPr lang="zh-CN" altLang="en-US" sz="2000" dirty="0" smtClean="0">
                <a:latin typeface="+mn-ea"/>
                <a:ea typeface="+mn-ea"/>
              </a:rPr>
              <a:t>，</a:t>
            </a:r>
            <a:r>
              <a:rPr lang="en-US" altLang="zh-CN" sz="2000" dirty="0" smtClean="0">
                <a:latin typeface="+mn-ea"/>
                <a:ea typeface="+mn-ea"/>
              </a:rPr>
              <a:t>61</a:t>
            </a:r>
            <a:r>
              <a:rPr lang="zh-CN" altLang="en-US" sz="2000" dirty="0" smtClean="0">
                <a:latin typeface="+mn-ea"/>
                <a:ea typeface="+mn-ea"/>
              </a:rPr>
              <a:t>，</a:t>
            </a:r>
            <a:r>
              <a:rPr lang="en-US" altLang="zh-CN" sz="2000" dirty="0" smtClean="0">
                <a:latin typeface="+mn-ea"/>
                <a:ea typeface="+mn-ea"/>
              </a:rPr>
              <a:t>67</a:t>
            </a:r>
            <a:r>
              <a:rPr lang="zh-CN" altLang="en-US" sz="2000" dirty="0" smtClean="0">
                <a:latin typeface="+mn-ea"/>
                <a:ea typeface="+mn-ea"/>
              </a:rPr>
              <a:t>，</a:t>
            </a:r>
            <a:r>
              <a:rPr lang="en-US" altLang="zh-CN" sz="2000" dirty="0" smtClean="0">
                <a:latin typeface="+mn-ea"/>
                <a:ea typeface="+mn-ea"/>
              </a:rPr>
              <a:t>71</a:t>
            </a:r>
            <a:r>
              <a:rPr lang="zh-CN" altLang="en-US" sz="2000" dirty="0" smtClean="0">
                <a:latin typeface="+mn-ea"/>
                <a:ea typeface="+mn-ea"/>
              </a:rPr>
              <a:t>，</a:t>
            </a:r>
            <a:r>
              <a:rPr lang="en-US" altLang="zh-CN" sz="2000" dirty="0" smtClean="0">
                <a:latin typeface="+mn-ea"/>
                <a:ea typeface="+mn-ea"/>
              </a:rPr>
              <a:t>73</a:t>
            </a:r>
            <a:r>
              <a:rPr lang="zh-CN" altLang="en-US" sz="2000" dirty="0" smtClean="0">
                <a:latin typeface="+mn-ea"/>
                <a:ea typeface="+mn-ea"/>
              </a:rPr>
              <a:t>，</a:t>
            </a:r>
            <a:r>
              <a:rPr lang="en-US" altLang="zh-CN" sz="2000" dirty="0" smtClean="0">
                <a:latin typeface="+mn-ea"/>
                <a:ea typeface="+mn-ea"/>
              </a:rPr>
              <a:t>79</a:t>
            </a:r>
            <a:r>
              <a:rPr lang="zh-CN" altLang="en-US" sz="2000" dirty="0" smtClean="0">
                <a:latin typeface="+mn-ea"/>
                <a:ea typeface="+mn-ea"/>
              </a:rPr>
              <a:t>，</a:t>
            </a:r>
            <a:r>
              <a:rPr lang="en-US" altLang="zh-CN" sz="2000" dirty="0" smtClean="0">
                <a:latin typeface="+mn-ea"/>
                <a:ea typeface="+mn-ea"/>
              </a:rPr>
              <a:t>83</a:t>
            </a:r>
            <a:r>
              <a:rPr lang="zh-CN" altLang="en-US" sz="2000" dirty="0" smtClean="0">
                <a:latin typeface="+mn-ea"/>
                <a:ea typeface="+mn-ea"/>
              </a:rPr>
              <a:t>，</a:t>
            </a:r>
            <a:r>
              <a:rPr lang="en-US" altLang="zh-CN" sz="2000" dirty="0" smtClean="0">
                <a:latin typeface="+mn-ea"/>
                <a:ea typeface="+mn-ea"/>
              </a:rPr>
              <a:t>89</a:t>
            </a:r>
            <a:r>
              <a:rPr lang="zh-CN" altLang="en-US" sz="2000" dirty="0" smtClean="0">
                <a:latin typeface="+mn-ea"/>
                <a:ea typeface="+mn-ea"/>
              </a:rPr>
              <a:t>，</a:t>
            </a:r>
            <a:r>
              <a:rPr lang="en-US" altLang="zh-CN" sz="2000" dirty="0" smtClean="0">
                <a:latin typeface="+mn-ea"/>
                <a:ea typeface="+mn-ea"/>
              </a:rPr>
              <a:t>97</a:t>
            </a:r>
            <a:r>
              <a:rPr lang="zh-CN" altLang="en-US" sz="2000" dirty="0" smtClean="0">
                <a:latin typeface="+mn-ea"/>
                <a:ea typeface="+mn-ea"/>
              </a:rPr>
              <a:t>，在</a:t>
            </a:r>
            <a:r>
              <a:rPr lang="en-US" altLang="zh-CN" sz="2000" dirty="0" smtClean="0">
                <a:latin typeface="+mn-ea"/>
                <a:ea typeface="+mn-ea"/>
              </a:rPr>
              <a:t>100</a:t>
            </a:r>
            <a:r>
              <a:rPr lang="zh-CN" altLang="en-US" sz="2000" dirty="0" smtClean="0">
                <a:latin typeface="+mn-ea"/>
                <a:ea typeface="+mn-ea"/>
              </a:rPr>
              <a:t>内共有</a:t>
            </a:r>
            <a:r>
              <a:rPr lang="en-US" altLang="zh-CN" sz="2000" dirty="0" smtClean="0">
                <a:latin typeface="+mn-ea"/>
                <a:ea typeface="+mn-ea"/>
              </a:rPr>
              <a:t>25</a:t>
            </a:r>
            <a:r>
              <a:rPr lang="zh-CN" altLang="en-US" sz="2000" dirty="0" smtClean="0">
                <a:latin typeface="+mn-ea"/>
                <a:ea typeface="+mn-ea"/>
              </a:rPr>
              <a:t>个素数。 </a:t>
            </a:r>
            <a:endParaRPr lang="en-US" altLang="zh-CN" sz="2000" dirty="0" smtClean="0">
              <a:latin typeface="+mn-ea"/>
              <a:ea typeface="+mn-ea"/>
            </a:endParaRPr>
          </a:p>
          <a:p>
            <a:pPr lvl="1" eaLnBrk="1" hangingPunct="1">
              <a:buFontTx/>
              <a:buNone/>
              <a:defRPr/>
            </a:pPr>
            <a:endParaRPr lang="en-US" altLang="zh-CN" sz="500" dirty="0" smtClean="0"/>
          </a:p>
        </p:txBody>
      </p:sp>
    </p:spTree>
    <p:extLst>
      <p:ext uri="{BB962C8B-B14F-4D97-AF65-F5344CB8AC3E}">
        <p14:creationId xmlns:p14="http://schemas.microsoft.com/office/powerpoint/2010/main" val="221773754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53251" name="Rectangle 2"/>
          <p:cNvSpPr>
            <a:spLocks noGrp="1" noChangeArrowheads="1"/>
          </p:cNvSpPr>
          <p:nvPr>
            <p:ph type="title"/>
          </p:nvPr>
        </p:nvSpPr>
        <p:spPr/>
        <p:txBody>
          <a:bodyPr/>
          <a:lstStyle/>
          <a:p>
            <a:pPr eaLnBrk="1" hangingPunct="1"/>
            <a:r>
              <a:rPr lang="en-US" altLang="zh-CN" dirty="0">
                <a:latin typeface="+mn-ea"/>
              </a:rPr>
              <a:t>1.3.2 </a:t>
            </a:r>
            <a:r>
              <a:rPr lang="zh-CN" altLang="en-US" dirty="0">
                <a:latin typeface="+mn-ea"/>
              </a:rPr>
              <a:t>证明方法</a:t>
            </a:r>
            <a:r>
              <a:rPr lang="en-US" altLang="zh-CN" dirty="0">
                <a:latin typeface="+mn-ea"/>
              </a:rPr>
              <a:t>——</a:t>
            </a:r>
            <a:r>
              <a:rPr lang="zh-CN" altLang="en-US" dirty="0">
                <a:latin typeface="+mn-ea"/>
              </a:rPr>
              <a:t>间接证明</a:t>
            </a:r>
            <a:endParaRPr lang="en-US" altLang="zh-CN" dirty="0" smtClean="0"/>
          </a:p>
        </p:txBody>
      </p:sp>
      <p:sp>
        <p:nvSpPr>
          <p:cNvPr id="226307" name="Rectangle 3"/>
          <p:cNvSpPr>
            <a:spLocks noGrp="1" noChangeArrowheads="1"/>
          </p:cNvSpPr>
          <p:nvPr>
            <p:ph type="body" idx="1"/>
          </p:nvPr>
        </p:nvSpPr>
        <p:spPr>
          <a:xfrm>
            <a:off x="879475" y="1196975"/>
            <a:ext cx="8229600" cy="5033962"/>
          </a:xfrm>
        </p:spPr>
        <p:txBody>
          <a:bodyPr/>
          <a:lstStyle/>
          <a:p>
            <a:pPr lvl="0" eaLnBrk="1" hangingPunct="1"/>
            <a:r>
              <a:rPr lang="zh-CN" altLang="en-US" sz="2200" dirty="0">
                <a:solidFill>
                  <a:srgbClr val="333399"/>
                </a:solidFill>
              </a:rPr>
              <a:t>例子</a:t>
            </a:r>
            <a:endParaRPr lang="en-US" altLang="zh-CN" sz="2200" dirty="0">
              <a:solidFill>
                <a:srgbClr val="333399"/>
              </a:solidFill>
            </a:endParaRPr>
          </a:p>
          <a:p>
            <a:pPr lvl="1" eaLnBrk="1" hangingPunct="1">
              <a:buFontTx/>
              <a:buNone/>
              <a:defRPr/>
            </a:pPr>
            <a:endParaRPr lang="en-US" altLang="zh-CN" sz="500" dirty="0" smtClean="0"/>
          </a:p>
          <a:p>
            <a:pPr lvl="1" eaLnBrk="1" hangingPunct="1">
              <a:buFontTx/>
              <a:buNone/>
              <a:defRPr/>
            </a:pPr>
            <a:r>
              <a:rPr lang="zh-CN" altLang="en-US" sz="2000" dirty="0" smtClean="0">
                <a:latin typeface="+mn-lt"/>
                <a:ea typeface="+mn-ea"/>
              </a:rPr>
              <a:t>证明（反证法）</a:t>
            </a:r>
            <a:r>
              <a:rPr lang="zh-CN" altLang="en-US" sz="2000" dirty="0" smtClean="0">
                <a:latin typeface="+mn-lt"/>
                <a:ea typeface="+mn-ea"/>
                <a:sym typeface="Wingdings" pitchFamily="2" charset="2"/>
              </a:rPr>
              <a:t>：（书本）</a:t>
            </a:r>
            <a:endParaRPr lang="en-US" altLang="zh-CN" sz="2000" dirty="0" smtClean="0">
              <a:latin typeface="+mn-lt"/>
              <a:ea typeface="+mn-ea"/>
            </a:endParaRPr>
          </a:p>
          <a:p>
            <a:pPr lvl="1" eaLnBrk="1" hangingPunct="1">
              <a:defRPr/>
            </a:pPr>
            <a:r>
              <a:rPr lang="zh-CN" altLang="en-US" sz="2000" dirty="0" smtClean="0">
                <a:latin typeface="+mn-lt"/>
                <a:ea typeface="+mn-ea"/>
              </a:rPr>
              <a:t>假设相反，仅存在</a:t>
            </a:r>
            <a:r>
              <a:rPr lang="en-US" altLang="zh-CN" sz="2000" dirty="0" smtClean="0">
                <a:latin typeface="+mn-lt"/>
                <a:ea typeface="+mn-ea"/>
              </a:rPr>
              <a:t>K</a:t>
            </a:r>
            <a:r>
              <a:rPr lang="zh-CN" altLang="en-US" sz="2000" dirty="0" smtClean="0">
                <a:latin typeface="+mn-lt"/>
                <a:ea typeface="+mn-ea"/>
              </a:rPr>
              <a:t>个素数</a:t>
            </a:r>
            <a:r>
              <a:rPr lang="en-US" altLang="zh-CN" sz="2000" b="1" dirty="0" smtClean="0">
                <a:latin typeface="+mn-lt"/>
                <a:ea typeface="+mn-ea"/>
              </a:rPr>
              <a:t>p</a:t>
            </a:r>
            <a:r>
              <a:rPr lang="en-US" altLang="zh-CN" sz="2000" b="1" baseline="-25000" dirty="0" smtClean="0">
                <a:latin typeface="+mn-lt"/>
                <a:ea typeface="+mn-ea"/>
              </a:rPr>
              <a:t>1</a:t>
            </a:r>
            <a:r>
              <a:rPr lang="en-US" altLang="zh-CN" sz="2000" b="1" dirty="0" smtClean="0">
                <a:latin typeface="+mn-lt"/>
                <a:ea typeface="+mn-ea"/>
              </a:rPr>
              <a:t>, p</a:t>
            </a:r>
            <a:r>
              <a:rPr lang="en-US" altLang="zh-CN" sz="2000" b="1" baseline="-25000" dirty="0" smtClean="0">
                <a:latin typeface="+mn-lt"/>
                <a:ea typeface="+mn-ea"/>
              </a:rPr>
              <a:t>2</a:t>
            </a:r>
            <a:r>
              <a:rPr lang="en-US" altLang="zh-CN" sz="2000" b="1" dirty="0" smtClean="0">
                <a:latin typeface="+mn-lt"/>
                <a:ea typeface="+mn-ea"/>
              </a:rPr>
              <a:t>,…, </a:t>
            </a:r>
            <a:r>
              <a:rPr lang="en-US" altLang="zh-CN" sz="2000" b="1" dirty="0" err="1" smtClean="0">
                <a:latin typeface="+mn-lt"/>
                <a:ea typeface="+mn-ea"/>
              </a:rPr>
              <a:t>p</a:t>
            </a:r>
            <a:r>
              <a:rPr lang="en-US" altLang="zh-CN" sz="2000" b="1" baseline="-25000" dirty="0" err="1" smtClean="0">
                <a:latin typeface="+mn-lt"/>
                <a:ea typeface="+mn-ea"/>
              </a:rPr>
              <a:t>k</a:t>
            </a:r>
            <a:r>
              <a:rPr lang="en-US" altLang="zh-CN" sz="2000" dirty="0" smtClean="0">
                <a:latin typeface="+mn-lt"/>
                <a:ea typeface="+mn-ea"/>
              </a:rPr>
              <a:t>, </a:t>
            </a:r>
            <a:r>
              <a:rPr lang="zh-CN" altLang="en-US" sz="2000" dirty="0" smtClean="0">
                <a:latin typeface="+mn-lt"/>
                <a:ea typeface="+mn-ea"/>
              </a:rPr>
              <a:t>这里</a:t>
            </a:r>
            <a:r>
              <a:rPr lang="en-US" altLang="zh-CN" sz="2000" b="1" dirty="0" smtClean="0">
                <a:latin typeface="+mn-lt"/>
                <a:ea typeface="+mn-ea"/>
              </a:rPr>
              <a:t>p</a:t>
            </a:r>
            <a:r>
              <a:rPr lang="en-US" altLang="zh-CN" sz="2000" b="1" baseline="-25000" dirty="0" smtClean="0">
                <a:latin typeface="+mn-lt"/>
                <a:ea typeface="+mn-ea"/>
              </a:rPr>
              <a:t>1</a:t>
            </a:r>
            <a:r>
              <a:rPr lang="en-US" altLang="zh-CN" sz="2000" b="1" dirty="0" smtClean="0">
                <a:latin typeface="+mn-lt"/>
                <a:ea typeface="+mn-ea"/>
              </a:rPr>
              <a:t>=2, p</a:t>
            </a:r>
            <a:r>
              <a:rPr lang="en-US" altLang="zh-CN" sz="2000" b="1" baseline="-25000" dirty="0" smtClean="0">
                <a:latin typeface="+mn-lt"/>
                <a:ea typeface="+mn-ea"/>
              </a:rPr>
              <a:t>2</a:t>
            </a:r>
            <a:r>
              <a:rPr lang="en-US" altLang="zh-CN" sz="2000" b="1" dirty="0" smtClean="0">
                <a:latin typeface="+mn-lt"/>
                <a:ea typeface="+mn-ea"/>
              </a:rPr>
              <a:t>=3, p</a:t>
            </a:r>
            <a:r>
              <a:rPr lang="en-US" altLang="zh-CN" sz="2000" b="1" baseline="-25000" dirty="0" smtClean="0">
                <a:latin typeface="+mn-lt"/>
                <a:ea typeface="+mn-ea"/>
              </a:rPr>
              <a:t>3</a:t>
            </a:r>
            <a:r>
              <a:rPr lang="en-US" altLang="zh-CN" sz="2000" b="1" dirty="0" smtClean="0">
                <a:latin typeface="+mn-lt"/>
                <a:ea typeface="+mn-ea"/>
              </a:rPr>
              <a:t>=5</a:t>
            </a:r>
            <a:r>
              <a:rPr lang="en-US" altLang="zh-CN" sz="2000" dirty="0" smtClean="0">
                <a:latin typeface="+mn-lt"/>
                <a:ea typeface="+mn-ea"/>
              </a:rPr>
              <a:t>, </a:t>
            </a:r>
            <a:r>
              <a:rPr lang="zh-CN" altLang="en-US" sz="2000" dirty="0" smtClean="0">
                <a:latin typeface="+mn-lt"/>
                <a:ea typeface="+mn-ea"/>
              </a:rPr>
              <a:t>等等。所有其他大于</a:t>
            </a:r>
            <a:r>
              <a:rPr lang="en-US" altLang="zh-CN" sz="2000" dirty="0" smtClean="0">
                <a:latin typeface="+mn-lt"/>
                <a:ea typeface="+mn-ea"/>
              </a:rPr>
              <a:t>1</a:t>
            </a:r>
            <a:r>
              <a:rPr lang="zh-CN" altLang="en-US" sz="2000" dirty="0" smtClean="0">
                <a:latin typeface="+mn-lt"/>
                <a:ea typeface="+mn-ea"/>
              </a:rPr>
              <a:t>的整数都是合数</a:t>
            </a:r>
            <a:r>
              <a:rPr lang="en-US" altLang="zh-CN" sz="2000" dirty="0" smtClean="0">
                <a:latin typeface="+mn-lt"/>
                <a:ea typeface="+mn-ea"/>
              </a:rPr>
              <a:t> </a:t>
            </a:r>
            <a:r>
              <a:rPr lang="zh-CN" altLang="en-US" sz="2000" dirty="0" smtClean="0">
                <a:latin typeface="+mn-lt"/>
                <a:ea typeface="+mn-ea"/>
              </a:rPr>
              <a:t>。</a:t>
            </a:r>
            <a:endParaRPr lang="en-US" altLang="zh-CN" sz="2000" dirty="0" smtClean="0">
              <a:latin typeface="+mn-lt"/>
              <a:ea typeface="+mn-ea"/>
            </a:endParaRPr>
          </a:p>
          <a:p>
            <a:pPr lvl="1" eaLnBrk="1" hangingPunct="1">
              <a:defRPr/>
            </a:pPr>
            <a:r>
              <a:rPr lang="zh-CN" altLang="en-US" sz="2000" dirty="0" smtClean="0">
                <a:latin typeface="+mn-lt"/>
                <a:ea typeface="+mn-ea"/>
              </a:rPr>
              <a:t>令</a:t>
            </a:r>
            <a:r>
              <a:rPr lang="en-US" altLang="zh-CN" sz="2000" b="1" dirty="0" smtClean="0">
                <a:latin typeface="+mn-lt"/>
                <a:ea typeface="+mn-ea"/>
              </a:rPr>
              <a:t>n=p</a:t>
            </a:r>
            <a:r>
              <a:rPr lang="en-US" altLang="zh-CN" sz="2000" b="1" baseline="-25000" dirty="0" smtClean="0">
                <a:latin typeface="+mn-lt"/>
                <a:ea typeface="+mn-ea"/>
              </a:rPr>
              <a:t>1</a:t>
            </a:r>
            <a:r>
              <a:rPr lang="en-US" altLang="zh-CN" sz="2000" b="1" dirty="0" smtClean="0">
                <a:latin typeface="+mn-lt"/>
                <a:ea typeface="+mn-ea"/>
              </a:rPr>
              <a:t>p</a:t>
            </a:r>
            <a:r>
              <a:rPr lang="en-US" altLang="zh-CN" sz="2000" b="1" baseline="-25000" dirty="0" smtClean="0">
                <a:latin typeface="+mn-lt"/>
                <a:ea typeface="+mn-ea"/>
              </a:rPr>
              <a:t>2</a:t>
            </a:r>
            <a:r>
              <a:rPr lang="en-US" altLang="zh-CN" sz="2000" b="1" dirty="0" smtClean="0">
                <a:latin typeface="+mn-lt"/>
                <a:ea typeface="+mn-ea"/>
              </a:rPr>
              <a:t>…p</a:t>
            </a:r>
            <a:r>
              <a:rPr lang="en-US" altLang="zh-CN" sz="2000" b="1" baseline="-25000" dirty="0" smtClean="0">
                <a:latin typeface="+mn-lt"/>
                <a:ea typeface="+mn-ea"/>
              </a:rPr>
              <a:t>k</a:t>
            </a:r>
            <a:r>
              <a:rPr lang="en-US" altLang="zh-CN" sz="2000" b="1" dirty="0" smtClean="0">
                <a:latin typeface="+mn-lt"/>
                <a:ea typeface="+mn-ea"/>
              </a:rPr>
              <a:t>+1 </a:t>
            </a:r>
            <a:r>
              <a:rPr lang="zh-CN" altLang="en-US" sz="2000" b="1" dirty="0" smtClean="0">
                <a:latin typeface="+mn-lt"/>
                <a:ea typeface="+mn-ea"/>
              </a:rPr>
              <a:t>，</a:t>
            </a:r>
            <a:r>
              <a:rPr lang="zh-CN" altLang="en-US" sz="2000" dirty="0" smtClean="0">
                <a:latin typeface="+mn-lt"/>
                <a:ea typeface="+mn-ea"/>
              </a:rPr>
              <a:t>令</a:t>
            </a:r>
            <a:r>
              <a:rPr lang="en-US" altLang="zh-CN" sz="2000" dirty="0" smtClean="0">
                <a:latin typeface="+mn-lt"/>
                <a:ea typeface="+mn-ea"/>
              </a:rPr>
              <a:t>p </a:t>
            </a:r>
            <a:r>
              <a:rPr lang="zh-CN" altLang="en-US" sz="2000" dirty="0" smtClean="0">
                <a:latin typeface="+mn-lt"/>
                <a:ea typeface="+mn-ea"/>
              </a:rPr>
              <a:t>为一个素数的因子</a:t>
            </a:r>
            <a:r>
              <a:rPr lang="en-US" altLang="zh-CN" sz="2000" dirty="0" smtClean="0">
                <a:latin typeface="+mn-lt"/>
                <a:ea typeface="+mn-ea"/>
              </a:rPr>
              <a:t>(</a:t>
            </a:r>
            <a:r>
              <a:rPr lang="zh-CN" altLang="en-US" sz="2000" dirty="0" smtClean="0">
                <a:latin typeface="+mn-lt"/>
                <a:ea typeface="+mn-ea"/>
              </a:rPr>
              <a:t>注意由前面的假设，由于</a:t>
            </a:r>
            <a:r>
              <a:rPr lang="en-US" altLang="zh-CN" sz="2000" dirty="0" smtClean="0">
                <a:latin typeface="+mn-lt"/>
                <a:ea typeface="+mn-ea"/>
              </a:rPr>
              <a:t>n</a:t>
            </a:r>
            <a:r>
              <a:rPr lang="zh-CN" altLang="en-US" sz="2000" dirty="0" smtClean="0">
                <a:latin typeface="+mn-lt"/>
                <a:ea typeface="+mn-ea"/>
              </a:rPr>
              <a:t>大于</a:t>
            </a:r>
            <a:r>
              <a:rPr lang="en-US" altLang="zh-CN" sz="2000" b="1" dirty="0" err="1" smtClean="0">
                <a:solidFill>
                  <a:srgbClr val="660066"/>
                </a:solidFill>
                <a:latin typeface="+mn-lt"/>
                <a:ea typeface="+mn-ea"/>
              </a:rPr>
              <a:t>p</a:t>
            </a:r>
            <a:r>
              <a:rPr lang="en-US" altLang="zh-CN" sz="2000" b="1" baseline="-25000" dirty="0" err="1" smtClean="0">
                <a:solidFill>
                  <a:srgbClr val="660066"/>
                </a:solidFill>
                <a:latin typeface="+mn-lt"/>
                <a:ea typeface="+mn-ea"/>
              </a:rPr>
              <a:t>k</a:t>
            </a:r>
            <a:r>
              <a:rPr lang="zh-CN" altLang="en-US" sz="2000" b="1" dirty="0" smtClean="0">
                <a:latin typeface="+mn-lt"/>
                <a:ea typeface="+mn-ea"/>
              </a:rPr>
              <a:t>，</a:t>
            </a:r>
            <a:r>
              <a:rPr lang="zh-CN" altLang="en-US" sz="2000" dirty="0" smtClean="0">
                <a:latin typeface="+mn-lt"/>
                <a:ea typeface="+mn-ea"/>
              </a:rPr>
              <a:t>所以</a:t>
            </a:r>
            <a:r>
              <a:rPr lang="en-US" altLang="zh-CN" sz="2000" dirty="0" smtClean="0">
                <a:latin typeface="+mn-lt"/>
                <a:ea typeface="+mn-ea"/>
              </a:rPr>
              <a:t>n</a:t>
            </a:r>
            <a:r>
              <a:rPr lang="zh-CN" altLang="en-US" sz="2000" dirty="0" smtClean="0">
                <a:latin typeface="+mn-lt"/>
                <a:ea typeface="+mn-ea"/>
              </a:rPr>
              <a:t>不是素数</a:t>
            </a:r>
            <a:r>
              <a:rPr lang="en-US" altLang="zh-CN" sz="2000" dirty="0" smtClean="0">
                <a:latin typeface="+mn-lt"/>
                <a:ea typeface="+mn-ea"/>
              </a:rPr>
              <a:t>)</a:t>
            </a:r>
            <a:r>
              <a:rPr lang="zh-CN" altLang="en-US" sz="2000" dirty="0" smtClean="0">
                <a:latin typeface="+mn-lt"/>
                <a:ea typeface="+mn-ea"/>
              </a:rPr>
              <a:t>。</a:t>
            </a:r>
            <a:endParaRPr lang="en-US" altLang="zh-CN" sz="2000" dirty="0" smtClean="0">
              <a:latin typeface="+mn-lt"/>
              <a:ea typeface="+mn-ea"/>
            </a:endParaRPr>
          </a:p>
          <a:p>
            <a:pPr lvl="1" eaLnBrk="1" hangingPunct="1">
              <a:defRPr/>
            </a:pPr>
            <a:r>
              <a:rPr lang="zh-CN" altLang="en-US" sz="2000" dirty="0" smtClean="0">
                <a:latin typeface="+mn-lt"/>
                <a:ea typeface="+mn-ea"/>
              </a:rPr>
              <a:t>既然</a:t>
            </a:r>
            <a:r>
              <a:rPr lang="en-US" altLang="zh-CN" sz="2000" dirty="0" smtClean="0">
                <a:latin typeface="+mn-lt"/>
                <a:ea typeface="+mn-ea"/>
              </a:rPr>
              <a:t>n</a:t>
            </a:r>
            <a:r>
              <a:rPr lang="zh-CN" altLang="en-US" sz="2000" dirty="0" smtClean="0">
                <a:latin typeface="+mn-lt"/>
                <a:ea typeface="+mn-ea"/>
              </a:rPr>
              <a:t>不是素数，那么</a:t>
            </a:r>
            <a:r>
              <a:rPr lang="en-US" altLang="zh-CN" sz="2000" b="1" dirty="0" smtClean="0">
                <a:latin typeface="+mn-lt"/>
                <a:ea typeface="+mn-ea"/>
              </a:rPr>
              <a:t>p</a:t>
            </a:r>
            <a:r>
              <a:rPr lang="en-US" altLang="zh-CN" sz="2000" b="1" baseline="-25000" dirty="0" smtClean="0">
                <a:latin typeface="+mn-lt"/>
                <a:ea typeface="+mn-ea"/>
              </a:rPr>
              <a:t>1</a:t>
            </a:r>
            <a:r>
              <a:rPr lang="en-US" altLang="zh-CN" sz="2000" b="1" dirty="0" smtClean="0">
                <a:latin typeface="+mn-lt"/>
                <a:ea typeface="+mn-ea"/>
              </a:rPr>
              <a:t>, p</a:t>
            </a:r>
            <a:r>
              <a:rPr lang="en-US" altLang="zh-CN" sz="2000" b="1" baseline="-25000" dirty="0" smtClean="0">
                <a:latin typeface="+mn-lt"/>
                <a:ea typeface="+mn-ea"/>
              </a:rPr>
              <a:t>2</a:t>
            </a:r>
            <a:r>
              <a:rPr lang="en-US" altLang="zh-CN" sz="2000" b="1" dirty="0" smtClean="0">
                <a:latin typeface="+mn-lt"/>
                <a:ea typeface="+mn-ea"/>
              </a:rPr>
              <a:t>,…, </a:t>
            </a:r>
            <a:r>
              <a:rPr lang="en-US" altLang="zh-CN" sz="2000" b="1" dirty="0" err="1" smtClean="0">
                <a:latin typeface="+mn-lt"/>
                <a:ea typeface="+mn-ea"/>
              </a:rPr>
              <a:t>p</a:t>
            </a:r>
            <a:r>
              <a:rPr lang="en-US" altLang="zh-CN" sz="2000" b="1" baseline="-25000" dirty="0" err="1" smtClean="0">
                <a:latin typeface="+mn-lt"/>
                <a:ea typeface="+mn-ea"/>
              </a:rPr>
              <a:t>k</a:t>
            </a:r>
            <a:r>
              <a:rPr lang="en-US" altLang="zh-CN" sz="2000" b="1" dirty="0" smtClean="0">
                <a:latin typeface="+mn-lt"/>
                <a:ea typeface="+mn-ea"/>
              </a:rPr>
              <a:t> </a:t>
            </a:r>
            <a:r>
              <a:rPr lang="zh-CN" altLang="en-US" sz="2000" dirty="0" smtClean="0">
                <a:latin typeface="+mn-lt"/>
                <a:ea typeface="+mn-ea"/>
              </a:rPr>
              <a:t>中，必定有一个能够整除</a:t>
            </a:r>
            <a:r>
              <a:rPr lang="en-US" altLang="zh-CN" sz="2000" dirty="0" smtClean="0">
                <a:latin typeface="+mn-lt"/>
                <a:ea typeface="+mn-ea"/>
              </a:rPr>
              <a:t>n</a:t>
            </a:r>
            <a:r>
              <a:rPr lang="zh-CN" altLang="en-US" sz="2000" dirty="0" smtClean="0">
                <a:latin typeface="+mn-lt"/>
                <a:ea typeface="+mn-ea"/>
              </a:rPr>
              <a:t>，就是说，</a:t>
            </a:r>
            <a:r>
              <a:rPr lang="en-US" altLang="zh-CN" sz="2000" b="1" dirty="0" smtClean="0">
                <a:latin typeface="+mn-lt"/>
                <a:ea typeface="+mn-ea"/>
              </a:rPr>
              <a:t>p </a:t>
            </a:r>
            <a:r>
              <a:rPr lang="zh-CN" altLang="en-US" sz="2000" b="1" dirty="0" smtClean="0">
                <a:latin typeface="+mn-lt"/>
                <a:ea typeface="+mn-ea"/>
              </a:rPr>
              <a:t>是</a:t>
            </a:r>
            <a:r>
              <a:rPr lang="en-US" altLang="zh-CN" sz="2000" b="1" dirty="0" smtClean="0">
                <a:latin typeface="+mn-lt"/>
                <a:ea typeface="+mn-ea"/>
              </a:rPr>
              <a:t>p</a:t>
            </a:r>
            <a:r>
              <a:rPr lang="en-US" altLang="zh-CN" sz="2000" b="1" baseline="-25000" dirty="0" smtClean="0">
                <a:latin typeface="+mn-lt"/>
                <a:ea typeface="+mn-ea"/>
              </a:rPr>
              <a:t>1</a:t>
            </a:r>
            <a:r>
              <a:rPr lang="en-US" altLang="zh-CN" sz="2000" b="1" dirty="0" smtClean="0">
                <a:latin typeface="+mn-lt"/>
                <a:ea typeface="+mn-ea"/>
              </a:rPr>
              <a:t>, p</a:t>
            </a:r>
            <a:r>
              <a:rPr lang="en-US" altLang="zh-CN" sz="2000" b="1" baseline="-25000" dirty="0" smtClean="0">
                <a:latin typeface="+mn-lt"/>
                <a:ea typeface="+mn-ea"/>
              </a:rPr>
              <a:t>2</a:t>
            </a:r>
            <a:r>
              <a:rPr lang="en-US" altLang="zh-CN" sz="2000" b="1" dirty="0" smtClean="0">
                <a:latin typeface="+mn-lt"/>
                <a:ea typeface="+mn-ea"/>
              </a:rPr>
              <a:t>,…, </a:t>
            </a:r>
            <a:r>
              <a:rPr lang="en-US" altLang="zh-CN" sz="2000" b="1" dirty="0" err="1" smtClean="0">
                <a:latin typeface="+mn-lt"/>
                <a:ea typeface="+mn-ea"/>
              </a:rPr>
              <a:t>p</a:t>
            </a:r>
            <a:r>
              <a:rPr lang="en-US" altLang="zh-CN" sz="2000" b="1" baseline="-25000" dirty="0" err="1" smtClean="0">
                <a:latin typeface="+mn-lt"/>
                <a:ea typeface="+mn-ea"/>
              </a:rPr>
              <a:t>k</a:t>
            </a:r>
            <a:r>
              <a:rPr lang="en-US" altLang="zh-CN" sz="2000" b="1" dirty="0" smtClean="0">
                <a:latin typeface="+mn-lt"/>
                <a:ea typeface="+mn-ea"/>
              </a:rPr>
              <a:t>, </a:t>
            </a:r>
            <a:r>
              <a:rPr lang="zh-CN" altLang="en-US" sz="2000" dirty="0" smtClean="0">
                <a:latin typeface="+mn-lt"/>
                <a:ea typeface="+mn-ea"/>
              </a:rPr>
              <a:t>中的一个，因为</a:t>
            </a:r>
            <a:r>
              <a:rPr lang="en-US" altLang="zh-CN" sz="2000" dirty="0" smtClean="0">
                <a:latin typeface="+mn-lt"/>
                <a:ea typeface="+mn-ea"/>
              </a:rPr>
              <a:t>p</a:t>
            </a:r>
            <a:r>
              <a:rPr lang="zh-CN" altLang="en-US" sz="2000" dirty="0" smtClean="0">
                <a:latin typeface="+mn-lt"/>
                <a:ea typeface="+mn-ea"/>
              </a:rPr>
              <a:t>整除</a:t>
            </a:r>
            <a:r>
              <a:rPr lang="en-US" altLang="zh-CN" sz="2000" b="1" dirty="0" smtClean="0">
                <a:latin typeface="+mn-lt"/>
                <a:ea typeface="+mn-ea"/>
              </a:rPr>
              <a:t>p</a:t>
            </a:r>
            <a:r>
              <a:rPr lang="en-US" altLang="zh-CN" sz="2000" b="1" baseline="-25000" dirty="0" smtClean="0">
                <a:latin typeface="+mn-lt"/>
                <a:ea typeface="+mn-ea"/>
              </a:rPr>
              <a:t>1</a:t>
            </a:r>
            <a:r>
              <a:rPr lang="en-US" altLang="zh-CN" sz="2000" b="1" dirty="0" smtClean="0">
                <a:latin typeface="+mn-lt"/>
                <a:ea typeface="+mn-ea"/>
              </a:rPr>
              <a:t>p</a:t>
            </a:r>
            <a:r>
              <a:rPr lang="en-US" altLang="zh-CN" sz="2000" b="1" baseline="-25000" dirty="0" smtClean="0">
                <a:latin typeface="+mn-lt"/>
                <a:ea typeface="+mn-ea"/>
              </a:rPr>
              <a:t>2</a:t>
            </a:r>
            <a:r>
              <a:rPr lang="en-US" altLang="zh-CN" sz="2000" b="1" dirty="0" smtClean="0">
                <a:latin typeface="+mn-lt"/>
                <a:ea typeface="+mn-ea"/>
              </a:rPr>
              <a:t>…p</a:t>
            </a:r>
            <a:r>
              <a:rPr lang="en-US" altLang="zh-CN" sz="2000" b="1" baseline="-25000" dirty="0" smtClean="0">
                <a:latin typeface="+mn-lt"/>
                <a:ea typeface="+mn-ea"/>
              </a:rPr>
              <a:t>k</a:t>
            </a:r>
            <a:r>
              <a:rPr lang="en-US" altLang="zh-CN" sz="2000" b="1" dirty="0" smtClean="0">
                <a:latin typeface="+mn-lt"/>
                <a:ea typeface="+mn-ea"/>
              </a:rPr>
              <a:t>. </a:t>
            </a:r>
            <a:r>
              <a:rPr lang="zh-CN" altLang="en-US" sz="2000" dirty="0" smtClean="0">
                <a:latin typeface="+mn-lt"/>
                <a:ea typeface="+mn-ea"/>
              </a:rPr>
              <a:t>因此，</a:t>
            </a:r>
            <a:r>
              <a:rPr lang="en-US" altLang="zh-CN" sz="2000" dirty="0" smtClean="0">
                <a:latin typeface="+mn-lt"/>
                <a:ea typeface="+mn-ea"/>
              </a:rPr>
              <a:t>p</a:t>
            </a:r>
            <a:r>
              <a:rPr lang="zh-CN" altLang="en-US" sz="2000" dirty="0" smtClean="0">
                <a:latin typeface="+mn-lt"/>
                <a:ea typeface="+mn-ea"/>
              </a:rPr>
              <a:t>整除</a:t>
            </a:r>
            <a:r>
              <a:rPr lang="en-US" altLang="zh-CN" sz="2000" b="1" dirty="0" smtClean="0">
                <a:latin typeface="+mn-lt"/>
                <a:ea typeface="+mn-ea"/>
              </a:rPr>
              <a:t>n-p</a:t>
            </a:r>
            <a:r>
              <a:rPr lang="en-US" altLang="zh-CN" sz="2000" b="1" baseline="-25000" dirty="0" smtClean="0">
                <a:latin typeface="+mn-lt"/>
                <a:ea typeface="+mn-ea"/>
              </a:rPr>
              <a:t>1</a:t>
            </a:r>
            <a:r>
              <a:rPr lang="en-US" altLang="zh-CN" sz="2000" b="1" dirty="0" smtClean="0">
                <a:latin typeface="+mn-lt"/>
                <a:ea typeface="+mn-ea"/>
              </a:rPr>
              <a:t>p</a:t>
            </a:r>
            <a:r>
              <a:rPr lang="en-US" altLang="zh-CN" sz="2000" b="1" baseline="-25000" dirty="0" smtClean="0">
                <a:latin typeface="+mn-lt"/>
                <a:ea typeface="+mn-ea"/>
              </a:rPr>
              <a:t>2</a:t>
            </a:r>
            <a:r>
              <a:rPr lang="en-US" altLang="zh-CN" sz="2000" b="1" dirty="0" smtClean="0">
                <a:latin typeface="+mn-lt"/>
                <a:ea typeface="+mn-ea"/>
              </a:rPr>
              <a:t>…p</a:t>
            </a:r>
            <a:r>
              <a:rPr lang="en-US" altLang="zh-CN" sz="2000" b="1" baseline="-25000" dirty="0" smtClean="0">
                <a:latin typeface="+mn-lt"/>
                <a:ea typeface="+mn-ea"/>
              </a:rPr>
              <a:t>k</a:t>
            </a:r>
            <a:r>
              <a:rPr lang="en-US" altLang="zh-CN" sz="2000" b="1" dirty="0" smtClean="0">
                <a:latin typeface="+mn-lt"/>
                <a:ea typeface="+mn-ea"/>
              </a:rPr>
              <a:t>. </a:t>
            </a:r>
          </a:p>
          <a:p>
            <a:pPr lvl="1" eaLnBrk="1" hangingPunct="1">
              <a:defRPr/>
            </a:pPr>
            <a:r>
              <a:rPr lang="zh-CN" altLang="en-US" sz="2000" dirty="0" smtClean="0">
                <a:latin typeface="+mn-lt"/>
                <a:ea typeface="+mn-ea"/>
              </a:rPr>
              <a:t>但是</a:t>
            </a:r>
            <a:r>
              <a:rPr lang="en-US" altLang="zh-CN" sz="2000" b="1" dirty="0" smtClean="0">
                <a:latin typeface="+mn-lt"/>
                <a:ea typeface="+mn-ea"/>
              </a:rPr>
              <a:t>n-p</a:t>
            </a:r>
            <a:r>
              <a:rPr lang="en-US" altLang="zh-CN" sz="2000" b="1" baseline="-25000" dirty="0" smtClean="0">
                <a:latin typeface="+mn-lt"/>
                <a:ea typeface="+mn-ea"/>
              </a:rPr>
              <a:t>1</a:t>
            </a:r>
            <a:r>
              <a:rPr lang="en-US" altLang="zh-CN" sz="2000" b="1" dirty="0" smtClean="0">
                <a:latin typeface="+mn-lt"/>
                <a:ea typeface="+mn-ea"/>
              </a:rPr>
              <a:t>p</a:t>
            </a:r>
            <a:r>
              <a:rPr lang="en-US" altLang="zh-CN" sz="2000" b="1" baseline="-25000" dirty="0" smtClean="0">
                <a:latin typeface="+mn-lt"/>
                <a:ea typeface="+mn-ea"/>
              </a:rPr>
              <a:t>2</a:t>
            </a:r>
            <a:r>
              <a:rPr lang="en-US" altLang="zh-CN" sz="2000" b="1" dirty="0" smtClean="0">
                <a:latin typeface="+mn-lt"/>
                <a:ea typeface="+mn-ea"/>
              </a:rPr>
              <a:t>…</a:t>
            </a:r>
            <a:r>
              <a:rPr lang="en-US" altLang="zh-CN" sz="2000" b="1" dirty="0" err="1" smtClean="0">
                <a:latin typeface="+mn-lt"/>
                <a:ea typeface="+mn-ea"/>
              </a:rPr>
              <a:t>p</a:t>
            </a:r>
            <a:r>
              <a:rPr lang="en-US" altLang="zh-CN" sz="2000" b="1" baseline="-25000" dirty="0" err="1" smtClean="0">
                <a:latin typeface="+mn-lt"/>
                <a:ea typeface="+mn-ea"/>
              </a:rPr>
              <a:t>k</a:t>
            </a:r>
            <a:r>
              <a:rPr lang="en-US" altLang="zh-CN" sz="2000" b="1" dirty="0" smtClean="0">
                <a:latin typeface="+mn-lt"/>
                <a:ea typeface="+mn-ea"/>
              </a:rPr>
              <a:t>=1, </a:t>
            </a:r>
            <a:r>
              <a:rPr lang="zh-CN" altLang="en-US" sz="2000" dirty="0" smtClean="0">
                <a:latin typeface="+mn-lt"/>
                <a:ea typeface="+mn-ea"/>
              </a:rPr>
              <a:t>由素数的定义可知</a:t>
            </a:r>
            <a:r>
              <a:rPr lang="zh-CN" altLang="en-US" sz="2000" b="1" dirty="0" smtClean="0">
                <a:latin typeface="+mn-lt"/>
                <a:ea typeface="+mn-ea"/>
              </a:rPr>
              <a:t>，</a:t>
            </a:r>
            <a:r>
              <a:rPr lang="zh-CN" altLang="en-US" sz="2000" dirty="0" smtClean="0">
                <a:latin typeface="+mn-lt"/>
                <a:ea typeface="+mn-ea"/>
              </a:rPr>
              <a:t>因为</a:t>
            </a:r>
            <a:r>
              <a:rPr lang="en-US" altLang="zh-CN" sz="2000" dirty="0" smtClean="0">
                <a:latin typeface="+mn-lt"/>
                <a:ea typeface="+mn-ea"/>
              </a:rPr>
              <a:t>p </a:t>
            </a:r>
            <a:r>
              <a:rPr lang="zh-CN" altLang="en-US" sz="2000" dirty="0" smtClean="0">
                <a:latin typeface="+mn-lt"/>
                <a:ea typeface="+mn-ea"/>
              </a:rPr>
              <a:t>大于</a:t>
            </a:r>
            <a:r>
              <a:rPr lang="en-US" altLang="zh-CN" sz="2000" dirty="0" smtClean="0">
                <a:latin typeface="+mn-lt"/>
                <a:ea typeface="+mn-ea"/>
              </a:rPr>
              <a:t>1 </a:t>
            </a:r>
            <a:r>
              <a:rPr lang="zh-CN" altLang="en-US" sz="2000" dirty="0" smtClean="0">
                <a:latin typeface="+mn-lt"/>
                <a:ea typeface="+mn-ea"/>
              </a:rPr>
              <a:t>所以</a:t>
            </a:r>
            <a:r>
              <a:rPr lang="en-US" altLang="zh-CN" sz="2000" dirty="0" smtClean="0">
                <a:latin typeface="+mn-lt"/>
                <a:ea typeface="+mn-ea"/>
              </a:rPr>
              <a:t>p</a:t>
            </a:r>
            <a:r>
              <a:rPr lang="zh-CN" altLang="en-US" sz="2000" dirty="0" smtClean="0">
                <a:latin typeface="+mn-lt"/>
                <a:ea typeface="+mn-ea"/>
              </a:rPr>
              <a:t>不能整除</a:t>
            </a:r>
            <a:r>
              <a:rPr lang="en-US" altLang="zh-CN" sz="2000" dirty="0" smtClean="0">
                <a:latin typeface="+mn-lt"/>
                <a:ea typeface="+mn-ea"/>
              </a:rPr>
              <a:t>1,</a:t>
            </a:r>
            <a:r>
              <a:rPr lang="zh-CN" altLang="en-US" sz="2000" dirty="0" smtClean="0">
                <a:latin typeface="+mn-lt"/>
                <a:ea typeface="+mn-ea"/>
              </a:rPr>
              <a:t>。</a:t>
            </a:r>
            <a:endParaRPr lang="en-US" altLang="zh-CN" sz="2000" dirty="0" smtClean="0">
              <a:latin typeface="+mn-lt"/>
              <a:ea typeface="+mn-ea"/>
            </a:endParaRPr>
          </a:p>
          <a:p>
            <a:pPr lvl="1" eaLnBrk="1" hangingPunct="1">
              <a:buFontTx/>
              <a:buNone/>
              <a:defRPr/>
            </a:pPr>
            <a:r>
              <a:rPr lang="zh-CN" altLang="en-US" sz="2000" dirty="0" smtClean="0">
                <a:latin typeface="+mn-lt"/>
                <a:ea typeface="+mn-ea"/>
              </a:rPr>
              <a:t>这是一个矛盾，于是得到，素数的个数是无限的。</a:t>
            </a:r>
            <a:endParaRPr lang="en-US" altLang="zh-CN" sz="2000" dirty="0" smtClean="0">
              <a:latin typeface="+mn-lt"/>
              <a:ea typeface="+mn-ea"/>
            </a:endParaRPr>
          </a:p>
        </p:txBody>
      </p:sp>
    </p:spTree>
    <p:extLst>
      <p:ext uri="{BB962C8B-B14F-4D97-AF65-F5344CB8AC3E}">
        <p14:creationId xmlns:p14="http://schemas.microsoft.com/office/powerpoint/2010/main" val="179325839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55299" name="Rectangle 2"/>
          <p:cNvSpPr>
            <a:spLocks noGrp="1" noChangeArrowheads="1"/>
          </p:cNvSpPr>
          <p:nvPr>
            <p:ph type="title"/>
          </p:nvPr>
        </p:nvSpPr>
        <p:spPr/>
        <p:txBody>
          <a:bodyPr/>
          <a:lstStyle/>
          <a:p>
            <a:pPr eaLnBrk="1" hangingPunct="1"/>
            <a:r>
              <a:rPr lang="en-US" altLang="zh-CN" dirty="0">
                <a:latin typeface="+mn-ea"/>
              </a:rPr>
              <a:t>1.3.2 </a:t>
            </a:r>
            <a:r>
              <a:rPr lang="zh-CN" altLang="en-US" dirty="0">
                <a:latin typeface="+mn-ea"/>
              </a:rPr>
              <a:t>证明方法</a:t>
            </a:r>
            <a:r>
              <a:rPr lang="en-US" altLang="zh-CN" dirty="0">
                <a:latin typeface="+mn-ea"/>
              </a:rPr>
              <a:t>——</a:t>
            </a:r>
            <a:r>
              <a:rPr lang="zh-CN" altLang="en-US" dirty="0">
                <a:latin typeface="+mn-ea"/>
              </a:rPr>
              <a:t>间接证明</a:t>
            </a:r>
            <a:endParaRPr lang="en-US" altLang="zh-CN" dirty="0" smtClean="0"/>
          </a:p>
        </p:txBody>
      </p:sp>
      <p:sp>
        <p:nvSpPr>
          <p:cNvPr id="104451" name="Rectangle 3"/>
          <p:cNvSpPr>
            <a:spLocks noGrp="1" noChangeArrowheads="1"/>
          </p:cNvSpPr>
          <p:nvPr>
            <p:ph type="body" idx="1"/>
          </p:nvPr>
        </p:nvSpPr>
        <p:spPr>
          <a:xfrm>
            <a:off x="1016866" y="1196975"/>
            <a:ext cx="7493289" cy="4789488"/>
          </a:xfrm>
        </p:spPr>
        <p:txBody>
          <a:bodyPr/>
          <a:lstStyle/>
          <a:p>
            <a:pPr eaLnBrk="1" hangingPunct="1">
              <a:defRPr/>
            </a:pPr>
            <a:r>
              <a:rPr lang="zh-CN" altLang="en-US" sz="2000" dirty="0" smtClean="0">
                <a:solidFill>
                  <a:srgbClr val="FF0000"/>
                </a:solidFill>
              </a:rPr>
              <a:t>反例证明法</a:t>
            </a:r>
            <a:r>
              <a:rPr lang="zh-CN" altLang="en-US" sz="2000" dirty="0" smtClean="0"/>
              <a:t>用于证明一个假设的命题是错误的，它通常用来证明一个命题在很多情况下是正确的，但是并不永远正确。</a:t>
            </a:r>
            <a:endParaRPr lang="en-US" altLang="zh-CN" sz="2000" dirty="0" smtClean="0"/>
          </a:p>
          <a:p>
            <a:pPr eaLnBrk="1" hangingPunct="1">
              <a:defRPr/>
            </a:pPr>
            <a:r>
              <a:rPr lang="zh-CN" altLang="en-US" sz="2000" dirty="0" smtClean="0"/>
              <a:t>通常我们用一个反例来证明某个命题是不正确的。</a:t>
            </a:r>
            <a:endParaRPr lang="en-US" altLang="zh-CN" sz="2000" dirty="0" smtClean="0"/>
          </a:p>
          <a:p>
            <a:pPr lvl="0" eaLnBrk="1" hangingPunct="1"/>
            <a:r>
              <a:rPr lang="zh-CN" altLang="en-US" sz="2200" dirty="0">
                <a:solidFill>
                  <a:srgbClr val="333399"/>
                </a:solidFill>
              </a:rPr>
              <a:t>例子</a:t>
            </a:r>
            <a:endParaRPr lang="en-US" altLang="zh-CN" sz="2200" dirty="0">
              <a:solidFill>
                <a:srgbClr val="333399"/>
              </a:solidFill>
            </a:endParaRPr>
          </a:p>
          <a:p>
            <a:pPr lvl="1" eaLnBrk="1" hangingPunct="1">
              <a:buFontTx/>
              <a:buNone/>
              <a:defRPr/>
            </a:pPr>
            <a:r>
              <a:rPr lang="zh-CN" altLang="en-US" sz="2000" dirty="0" smtClean="0">
                <a:latin typeface="+mn-lt"/>
                <a:ea typeface="+mn-ea"/>
              </a:rPr>
              <a:t>令</a:t>
            </a:r>
            <a:r>
              <a:rPr lang="en-US" altLang="zh-CN" sz="2000" dirty="0" smtClean="0">
                <a:latin typeface="+mn-lt"/>
                <a:ea typeface="+mn-ea"/>
              </a:rPr>
              <a:t> </a:t>
            </a:r>
            <a:r>
              <a:rPr lang="en-US" altLang="zh-CN" sz="2000" i="1" dirty="0" smtClean="0">
                <a:latin typeface="+mn-lt"/>
                <a:ea typeface="+mn-ea"/>
              </a:rPr>
              <a:t>f(n)=n</a:t>
            </a:r>
            <a:r>
              <a:rPr lang="en-US" altLang="zh-CN" sz="2000" i="1" baseline="30000" dirty="0" smtClean="0">
                <a:latin typeface="+mn-lt"/>
                <a:ea typeface="+mn-ea"/>
              </a:rPr>
              <a:t>2</a:t>
            </a:r>
            <a:r>
              <a:rPr lang="en-US" altLang="zh-CN" sz="2000" i="1" dirty="0" smtClean="0">
                <a:latin typeface="+mn-lt"/>
                <a:ea typeface="+mn-ea"/>
              </a:rPr>
              <a:t>+n+</a:t>
            </a:r>
            <a:r>
              <a:rPr lang="en-US" altLang="zh-CN" sz="2000" dirty="0" smtClean="0">
                <a:latin typeface="+mn-lt"/>
                <a:ea typeface="+mn-ea"/>
              </a:rPr>
              <a:t>41 </a:t>
            </a:r>
            <a:r>
              <a:rPr lang="zh-CN" altLang="en-US" sz="2000" dirty="0" smtClean="0">
                <a:latin typeface="+mn-lt"/>
                <a:ea typeface="+mn-ea"/>
              </a:rPr>
              <a:t>是定义在非负整数集合上的一个函数。证明断言</a:t>
            </a:r>
            <a:r>
              <a:rPr lang="en-US" altLang="zh-CN" sz="2000" i="1" dirty="0" smtClean="0">
                <a:latin typeface="+mn-lt"/>
                <a:ea typeface="+mn-ea"/>
              </a:rPr>
              <a:t>f(n)</a:t>
            </a:r>
            <a:r>
              <a:rPr lang="en-US" altLang="zh-CN" sz="2000" dirty="0" smtClean="0">
                <a:latin typeface="+mn-lt"/>
                <a:ea typeface="+mn-ea"/>
              </a:rPr>
              <a:t> </a:t>
            </a:r>
            <a:r>
              <a:rPr lang="zh-CN" altLang="en-US" sz="2000" dirty="0" smtClean="0">
                <a:latin typeface="+mn-lt"/>
                <a:ea typeface="+mn-ea"/>
              </a:rPr>
              <a:t>永远是一个素数。例如</a:t>
            </a:r>
            <a:r>
              <a:rPr lang="en-US" altLang="zh-CN" sz="2000" i="1" dirty="0" smtClean="0">
                <a:latin typeface="+mn-lt"/>
                <a:ea typeface="+mn-ea"/>
              </a:rPr>
              <a:t>f</a:t>
            </a:r>
            <a:r>
              <a:rPr lang="en-US" altLang="zh-CN" sz="2000" dirty="0" smtClean="0">
                <a:latin typeface="+mn-lt"/>
                <a:ea typeface="+mn-ea"/>
              </a:rPr>
              <a:t>(0)=41,</a:t>
            </a:r>
            <a:r>
              <a:rPr lang="en-US" altLang="zh-CN" sz="2000" i="1" dirty="0" smtClean="0">
                <a:latin typeface="+mn-lt"/>
                <a:ea typeface="+mn-ea"/>
              </a:rPr>
              <a:t>f</a:t>
            </a:r>
            <a:r>
              <a:rPr lang="en-US" altLang="zh-CN" sz="2000" dirty="0" smtClean="0">
                <a:latin typeface="+mn-lt"/>
                <a:ea typeface="+mn-ea"/>
              </a:rPr>
              <a:t>(1)=43,…</a:t>
            </a:r>
            <a:r>
              <a:rPr lang="en-US" altLang="zh-CN" sz="2000" i="1" dirty="0" smtClean="0">
                <a:latin typeface="+mn-lt"/>
                <a:ea typeface="+mn-ea"/>
              </a:rPr>
              <a:t>f</a:t>
            </a:r>
            <a:r>
              <a:rPr lang="en-US" altLang="zh-CN" sz="2000" dirty="0" smtClean="0">
                <a:latin typeface="+mn-lt"/>
                <a:ea typeface="+mn-ea"/>
              </a:rPr>
              <a:t>(39)=1601 </a:t>
            </a:r>
            <a:r>
              <a:rPr lang="zh-CN" altLang="en-US" sz="2000" dirty="0" smtClean="0">
                <a:latin typeface="+mn-lt"/>
                <a:ea typeface="+mn-ea"/>
              </a:rPr>
              <a:t>都是素数。为了说明该命题有错，只需要找出一个</a:t>
            </a:r>
            <a:r>
              <a:rPr lang="zh-CN" altLang="en-US" sz="2000" dirty="0" smtClean="0">
                <a:latin typeface="+mn-ea"/>
                <a:ea typeface="+mn-ea"/>
              </a:rPr>
              <a:t>正整数</a:t>
            </a:r>
            <a:r>
              <a:rPr lang="en-US" altLang="zh-CN" sz="2000" dirty="0" smtClean="0">
                <a:latin typeface="+mn-ea"/>
                <a:ea typeface="+mn-ea"/>
              </a:rPr>
              <a:t>n</a:t>
            </a:r>
            <a:r>
              <a:rPr lang="zh-CN" altLang="en-US" sz="2000" dirty="0" smtClean="0">
                <a:latin typeface="+mn-ea"/>
                <a:ea typeface="+mn-ea"/>
              </a:rPr>
              <a:t>，</a:t>
            </a:r>
            <a:r>
              <a:rPr lang="zh-CN" altLang="en-US" sz="2000" dirty="0" smtClean="0">
                <a:latin typeface="+mn-lt"/>
                <a:ea typeface="+mn-ea"/>
              </a:rPr>
              <a:t>使得</a:t>
            </a:r>
            <a:r>
              <a:rPr lang="en-US" altLang="zh-CN" sz="2000" dirty="0" smtClean="0">
                <a:latin typeface="+mn-lt"/>
                <a:ea typeface="+mn-ea"/>
              </a:rPr>
              <a:t> </a:t>
            </a:r>
            <a:r>
              <a:rPr lang="en-US" altLang="zh-CN" sz="2000" i="1" dirty="0" smtClean="0">
                <a:latin typeface="+mn-lt"/>
                <a:ea typeface="+mn-ea"/>
              </a:rPr>
              <a:t>f(n)</a:t>
            </a:r>
            <a:r>
              <a:rPr lang="en-US" altLang="zh-CN" sz="2000" dirty="0" smtClean="0">
                <a:latin typeface="+mn-lt"/>
                <a:ea typeface="+mn-ea"/>
              </a:rPr>
              <a:t> </a:t>
            </a:r>
            <a:r>
              <a:rPr lang="zh-CN" altLang="en-US" sz="2000" dirty="0" smtClean="0">
                <a:latin typeface="+mn-ea"/>
                <a:ea typeface="+mn-ea"/>
              </a:rPr>
              <a:t>是合数即可。</a:t>
            </a:r>
            <a:endParaRPr lang="en-US" altLang="zh-CN" sz="2000" dirty="0" smtClean="0">
              <a:latin typeface="+mn-ea"/>
              <a:ea typeface="+mn-ea"/>
            </a:endParaRPr>
          </a:p>
          <a:p>
            <a:pPr lvl="1" eaLnBrk="1" hangingPunct="1">
              <a:buFontTx/>
              <a:buNone/>
              <a:defRPr/>
            </a:pPr>
            <a:endParaRPr lang="en-US" altLang="zh-CN" sz="500" dirty="0" smtClean="0">
              <a:latin typeface="+mn-lt"/>
              <a:ea typeface="+mn-ea"/>
            </a:endParaRPr>
          </a:p>
          <a:p>
            <a:pPr lvl="1" eaLnBrk="1" hangingPunct="1">
              <a:buFontTx/>
              <a:buNone/>
              <a:defRPr/>
            </a:pPr>
            <a:r>
              <a:rPr lang="zh-CN" altLang="en-US" sz="2000" dirty="0" smtClean="0">
                <a:latin typeface="+mn-lt"/>
                <a:ea typeface="+mn-ea"/>
              </a:rPr>
              <a:t>证明</a:t>
            </a:r>
            <a:r>
              <a:rPr lang="en-US" altLang="zh-CN" sz="2000" dirty="0" smtClean="0">
                <a:latin typeface="+mn-lt"/>
                <a:ea typeface="+mn-ea"/>
              </a:rPr>
              <a:t>:</a:t>
            </a:r>
          </a:p>
          <a:p>
            <a:pPr lvl="1" eaLnBrk="1" hangingPunct="1">
              <a:defRPr/>
            </a:pPr>
            <a:r>
              <a:rPr lang="zh-CN" altLang="en-US" sz="2000" dirty="0" smtClean="0">
                <a:latin typeface="+mn-lt"/>
                <a:ea typeface="+mn-ea"/>
              </a:rPr>
              <a:t>因为</a:t>
            </a:r>
            <a:r>
              <a:rPr lang="en-US" altLang="zh-CN" sz="2000" dirty="0" smtClean="0">
                <a:latin typeface="+mn-lt"/>
                <a:ea typeface="+mn-ea"/>
              </a:rPr>
              <a:t> </a:t>
            </a:r>
            <a:r>
              <a:rPr lang="en-US" altLang="zh-CN" sz="2000" i="1" dirty="0" smtClean="0">
                <a:latin typeface="+mn-lt"/>
                <a:ea typeface="+mn-ea"/>
              </a:rPr>
              <a:t>f</a:t>
            </a:r>
            <a:r>
              <a:rPr lang="en-US" altLang="zh-CN" sz="2000" dirty="0" smtClean="0">
                <a:latin typeface="+mn-lt"/>
                <a:ea typeface="+mn-ea"/>
              </a:rPr>
              <a:t>(40)=1681=41</a:t>
            </a:r>
            <a:r>
              <a:rPr lang="en-US" altLang="zh-CN" sz="2000" baseline="30000" dirty="0" smtClean="0">
                <a:latin typeface="+mn-lt"/>
                <a:ea typeface="+mn-ea"/>
              </a:rPr>
              <a:t>2</a:t>
            </a:r>
            <a:r>
              <a:rPr lang="en-US" altLang="zh-CN" sz="2000" dirty="0" smtClean="0">
                <a:latin typeface="+mn-lt"/>
                <a:ea typeface="+mn-ea"/>
              </a:rPr>
              <a:t> </a:t>
            </a:r>
            <a:r>
              <a:rPr lang="zh-CN" altLang="en-US" sz="2000" dirty="0" smtClean="0">
                <a:latin typeface="+mn-lt"/>
                <a:ea typeface="+mn-ea"/>
              </a:rPr>
              <a:t>是合数，</a:t>
            </a:r>
            <a:endParaRPr lang="en-US" altLang="zh-CN" sz="2000" dirty="0" smtClean="0">
              <a:latin typeface="+mn-lt"/>
              <a:ea typeface="+mn-ea"/>
            </a:endParaRPr>
          </a:p>
          <a:p>
            <a:pPr lvl="1" eaLnBrk="1" hangingPunct="1">
              <a:defRPr/>
            </a:pPr>
            <a:r>
              <a:rPr lang="zh-CN" altLang="en-US" sz="2000" dirty="0" smtClean="0">
                <a:latin typeface="+mn-lt"/>
                <a:ea typeface="+mn-ea"/>
              </a:rPr>
              <a:t>所以该断言为假。</a:t>
            </a:r>
            <a:endParaRPr lang="en-US" altLang="zh-CN" sz="2000" dirty="0" smtClean="0">
              <a:latin typeface="+mn-lt"/>
              <a:ea typeface="+mn-ea"/>
            </a:endParaRPr>
          </a:p>
        </p:txBody>
      </p:sp>
    </p:spTree>
    <p:extLst>
      <p:ext uri="{BB962C8B-B14F-4D97-AF65-F5344CB8AC3E}">
        <p14:creationId xmlns:p14="http://schemas.microsoft.com/office/powerpoint/2010/main" val="32139336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104451">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4451">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4451">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4451">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445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57347" name="Rectangle 2"/>
          <p:cNvSpPr>
            <a:spLocks noGrp="1" noChangeArrowheads="1"/>
          </p:cNvSpPr>
          <p:nvPr>
            <p:ph type="title"/>
          </p:nvPr>
        </p:nvSpPr>
        <p:spPr/>
        <p:txBody>
          <a:bodyPr/>
          <a:lstStyle/>
          <a:p>
            <a:pPr eaLnBrk="1" hangingPunct="1"/>
            <a:r>
              <a:rPr lang="en-US" altLang="zh-CN" dirty="0">
                <a:latin typeface="+mn-ea"/>
              </a:rPr>
              <a:t>1.3.2 </a:t>
            </a:r>
            <a:r>
              <a:rPr lang="zh-CN" altLang="en-US" dirty="0">
                <a:latin typeface="+mn-ea"/>
              </a:rPr>
              <a:t>证明方法</a:t>
            </a:r>
            <a:r>
              <a:rPr lang="en-US" altLang="zh-CN" dirty="0" smtClean="0">
                <a:latin typeface="+mn-ea"/>
              </a:rPr>
              <a:t>——</a:t>
            </a:r>
            <a:r>
              <a:rPr lang="zh-CN" altLang="en-US" dirty="0" smtClean="0"/>
              <a:t>数学归纳法</a:t>
            </a:r>
            <a:endParaRPr lang="en-US" altLang="zh-CN" dirty="0" smtClean="0"/>
          </a:p>
        </p:txBody>
      </p:sp>
      <p:sp>
        <p:nvSpPr>
          <p:cNvPr id="105475" name="Rectangle 3"/>
          <p:cNvSpPr>
            <a:spLocks noGrp="1" noChangeArrowheads="1"/>
          </p:cNvSpPr>
          <p:nvPr>
            <p:ph type="body" idx="1"/>
          </p:nvPr>
        </p:nvSpPr>
        <p:spPr/>
        <p:txBody>
          <a:bodyPr/>
          <a:lstStyle/>
          <a:p>
            <a:pPr eaLnBrk="1" hangingPunct="1">
              <a:defRPr/>
            </a:pPr>
            <a:r>
              <a:rPr lang="zh-CN" altLang="en-US" dirty="0" smtClean="0"/>
              <a:t>数学归纳法在证明某一性质对自然数序列</a:t>
            </a:r>
            <a:r>
              <a:rPr lang="en-US" altLang="zh-CN" dirty="0" smtClean="0"/>
              <a:t>n</a:t>
            </a:r>
            <a:r>
              <a:rPr lang="en-US" altLang="zh-CN" baseline="-25000" dirty="0" smtClean="0"/>
              <a:t>0</a:t>
            </a:r>
            <a:r>
              <a:rPr lang="en-US" altLang="zh-CN" dirty="0" smtClean="0"/>
              <a:t>,n</a:t>
            </a:r>
            <a:r>
              <a:rPr lang="en-US" altLang="zh-CN" baseline="-25000" dirty="0" smtClean="0"/>
              <a:t>0</a:t>
            </a:r>
            <a:r>
              <a:rPr lang="en-US" altLang="zh-CN" dirty="0" smtClean="0"/>
              <a:t>+1,n</a:t>
            </a:r>
            <a:r>
              <a:rPr lang="en-US" altLang="zh-CN" baseline="-25000" dirty="0" smtClean="0"/>
              <a:t>0</a:t>
            </a:r>
            <a:r>
              <a:rPr lang="en-US" altLang="zh-CN" dirty="0" smtClean="0"/>
              <a:t>+2…</a:t>
            </a:r>
            <a:r>
              <a:rPr lang="zh-CN" altLang="en-US" dirty="0" smtClean="0"/>
              <a:t>成立时是一种强有力的方法。</a:t>
            </a:r>
            <a:endParaRPr lang="en-US" altLang="zh-CN" dirty="0" smtClean="0"/>
          </a:p>
          <a:p>
            <a:pPr eaLnBrk="1" hangingPunct="1">
              <a:defRPr/>
            </a:pPr>
            <a:r>
              <a:rPr lang="en-US" altLang="zh-CN" dirty="0" smtClean="0"/>
              <a:t>Steps:</a:t>
            </a:r>
          </a:p>
          <a:p>
            <a:pPr lvl="1" eaLnBrk="1" hangingPunct="1">
              <a:defRPr/>
            </a:pPr>
            <a:r>
              <a:rPr lang="zh-CN" altLang="en-US" dirty="0" smtClean="0">
                <a:solidFill>
                  <a:srgbClr val="660066"/>
                </a:solidFill>
                <a:latin typeface="+mn-lt"/>
                <a:ea typeface="+mn-ea"/>
              </a:rPr>
              <a:t>基础步</a:t>
            </a:r>
            <a:r>
              <a:rPr lang="en-US" altLang="zh-CN" dirty="0" smtClean="0">
                <a:solidFill>
                  <a:srgbClr val="660066"/>
                </a:solidFill>
                <a:latin typeface="+mn-lt"/>
                <a:ea typeface="+mn-ea"/>
              </a:rPr>
              <a:t>:</a:t>
            </a:r>
            <a:r>
              <a:rPr lang="en-US" altLang="zh-CN" dirty="0" smtClean="0">
                <a:solidFill>
                  <a:srgbClr val="EA0000"/>
                </a:solidFill>
                <a:latin typeface="+mn-lt"/>
                <a:ea typeface="+mn-ea"/>
              </a:rPr>
              <a:t> </a:t>
            </a:r>
          </a:p>
          <a:p>
            <a:pPr lvl="1" eaLnBrk="1" hangingPunct="1">
              <a:buFontTx/>
              <a:buNone/>
              <a:defRPr/>
            </a:pPr>
            <a:r>
              <a:rPr lang="en-US" altLang="zh-CN" dirty="0" smtClean="0">
                <a:latin typeface="+mn-lt"/>
                <a:ea typeface="+mn-ea"/>
              </a:rPr>
              <a:t>     </a:t>
            </a:r>
            <a:r>
              <a:rPr lang="zh-CN" altLang="en-US" dirty="0" smtClean="0">
                <a:latin typeface="+mn-lt"/>
                <a:ea typeface="+mn-ea"/>
              </a:rPr>
              <a:t>首先证明该性质对于</a:t>
            </a:r>
            <a:r>
              <a:rPr lang="en-US" altLang="zh-CN" sz="2000" dirty="0" smtClean="0">
                <a:latin typeface="+mn-lt"/>
                <a:ea typeface="+mn-ea"/>
              </a:rPr>
              <a:t>n</a:t>
            </a:r>
            <a:r>
              <a:rPr lang="en-US" altLang="zh-CN" sz="2000" baseline="-25000" dirty="0" smtClean="0">
                <a:latin typeface="+mn-lt"/>
                <a:ea typeface="+mn-ea"/>
              </a:rPr>
              <a:t>0</a:t>
            </a:r>
            <a:r>
              <a:rPr lang="zh-CN" altLang="en-US" sz="2000" dirty="0" smtClean="0">
                <a:latin typeface="+mn-lt"/>
                <a:ea typeface="+mn-ea"/>
              </a:rPr>
              <a:t>成立。</a:t>
            </a:r>
            <a:endParaRPr lang="en-US" altLang="zh-CN" sz="2000" dirty="0" smtClean="0">
              <a:latin typeface="+mn-lt"/>
              <a:ea typeface="+mn-ea"/>
            </a:endParaRPr>
          </a:p>
          <a:p>
            <a:pPr lvl="1" eaLnBrk="1" hangingPunct="1">
              <a:defRPr/>
            </a:pPr>
            <a:r>
              <a:rPr lang="zh-CN" altLang="en-US" dirty="0" smtClean="0">
                <a:solidFill>
                  <a:srgbClr val="660066"/>
                </a:solidFill>
                <a:latin typeface="+mn-lt"/>
                <a:ea typeface="+mn-ea"/>
              </a:rPr>
              <a:t>归纳步</a:t>
            </a:r>
            <a:r>
              <a:rPr lang="en-US" altLang="zh-CN" dirty="0" smtClean="0">
                <a:solidFill>
                  <a:srgbClr val="660066"/>
                </a:solidFill>
                <a:latin typeface="+mn-lt"/>
                <a:ea typeface="+mn-ea"/>
              </a:rPr>
              <a:t>:</a:t>
            </a:r>
          </a:p>
          <a:p>
            <a:pPr lvl="1" eaLnBrk="1" hangingPunct="1">
              <a:buFontTx/>
              <a:buNone/>
              <a:defRPr/>
            </a:pPr>
            <a:r>
              <a:rPr lang="en-US" altLang="zh-CN" dirty="0" smtClean="0">
                <a:latin typeface="+mn-lt"/>
                <a:ea typeface="+mn-ea"/>
              </a:rPr>
              <a:t>     </a:t>
            </a:r>
            <a:r>
              <a:rPr lang="zh-CN" altLang="en-US" dirty="0" smtClean="0">
                <a:latin typeface="+mn-lt"/>
                <a:ea typeface="+mn-ea"/>
              </a:rPr>
              <a:t>然后证明只要这个性质对于</a:t>
            </a:r>
            <a:r>
              <a:rPr lang="en-US" altLang="zh-CN" sz="2000" dirty="0" smtClean="0">
                <a:latin typeface="+mn-lt"/>
                <a:ea typeface="+mn-ea"/>
              </a:rPr>
              <a:t>n</a:t>
            </a:r>
            <a:r>
              <a:rPr lang="en-US" altLang="zh-CN" sz="2000" baseline="-25000" dirty="0" smtClean="0">
                <a:latin typeface="+mn-lt"/>
                <a:ea typeface="+mn-ea"/>
              </a:rPr>
              <a:t>0</a:t>
            </a:r>
            <a:r>
              <a:rPr lang="en-US" altLang="zh-CN" sz="2000" dirty="0" smtClean="0">
                <a:latin typeface="+mn-lt"/>
                <a:ea typeface="+mn-ea"/>
              </a:rPr>
              <a:t>, n</a:t>
            </a:r>
            <a:r>
              <a:rPr lang="en-US" altLang="zh-CN" sz="2000" baseline="-25000" dirty="0" smtClean="0">
                <a:latin typeface="+mn-lt"/>
                <a:ea typeface="+mn-ea"/>
              </a:rPr>
              <a:t>0</a:t>
            </a:r>
            <a:r>
              <a:rPr lang="en-US" altLang="zh-CN" sz="2000" dirty="0" smtClean="0">
                <a:latin typeface="+mn-lt"/>
                <a:ea typeface="+mn-ea"/>
              </a:rPr>
              <a:t>+1, n</a:t>
            </a:r>
            <a:r>
              <a:rPr lang="en-US" altLang="zh-CN" sz="2000" baseline="-25000" dirty="0" smtClean="0">
                <a:latin typeface="+mn-lt"/>
                <a:ea typeface="+mn-ea"/>
              </a:rPr>
              <a:t>0</a:t>
            </a:r>
            <a:r>
              <a:rPr lang="en-US" altLang="zh-CN" sz="2000" dirty="0" smtClean="0">
                <a:latin typeface="+mn-lt"/>
                <a:ea typeface="+mn-ea"/>
              </a:rPr>
              <a:t>+2…n-1</a:t>
            </a:r>
            <a:r>
              <a:rPr lang="zh-CN" altLang="en-US" sz="2000" dirty="0" smtClean="0">
                <a:latin typeface="+mn-lt"/>
                <a:ea typeface="+mn-ea"/>
              </a:rPr>
              <a:t>为真，那么必有对于</a:t>
            </a:r>
            <a:r>
              <a:rPr lang="en-US" altLang="zh-CN" sz="2000" dirty="0" smtClean="0">
                <a:latin typeface="+mn-lt"/>
                <a:ea typeface="+mn-ea"/>
              </a:rPr>
              <a:t>n</a:t>
            </a:r>
            <a:r>
              <a:rPr lang="zh-CN" altLang="en-US" sz="2000" dirty="0" smtClean="0">
                <a:latin typeface="+mn-lt"/>
                <a:ea typeface="+mn-ea"/>
              </a:rPr>
              <a:t>这个性质为真</a:t>
            </a:r>
            <a:endParaRPr lang="en-US" altLang="zh-CN" sz="2000" dirty="0" smtClean="0">
              <a:latin typeface="+mn-lt"/>
              <a:ea typeface="+mn-ea"/>
            </a:endParaRPr>
          </a:p>
        </p:txBody>
      </p:sp>
    </p:spTree>
    <p:extLst>
      <p:ext uri="{BB962C8B-B14F-4D97-AF65-F5344CB8AC3E}">
        <p14:creationId xmlns:p14="http://schemas.microsoft.com/office/powerpoint/2010/main" val="27048577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页脚占位符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59395" name="Text Box 14"/>
          <p:cNvSpPr txBox="1">
            <a:spLocks noChangeArrowheads="1"/>
          </p:cNvSpPr>
          <p:nvPr/>
        </p:nvSpPr>
        <p:spPr bwMode="auto">
          <a:xfrm>
            <a:off x="1258887" y="3258344"/>
            <a:ext cx="7022667" cy="20313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en-US" altLang="zh-CN" sz="1800">
              <a:solidFill>
                <a:schemeClr val="tx1"/>
              </a:solidFill>
              <a:latin typeface="Arial" panose="020B0604020202020204" pitchFamily="34" charset="0"/>
              <a:ea typeface="宋体" panose="02010600030101010101" pitchFamily="2" charset="-122"/>
            </a:endParaRPr>
          </a:p>
          <a:p>
            <a:pPr eaLnBrk="1" hangingPunct="1">
              <a:spcBef>
                <a:spcPct val="50000"/>
              </a:spcBef>
              <a:buFontTx/>
              <a:buNone/>
            </a:pPr>
            <a:endParaRPr lang="en-US" altLang="zh-CN" sz="1800">
              <a:solidFill>
                <a:schemeClr val="tx1"/>
              </a:solidFill>
              <a:latin typeface="Arial" panose="020B0604020202020204" pitchFamily="34" charset="0"/>
              <a:ea typeface="宋体" panose="02010600030101010101" pitchFamily="2" charset="-122"/>
            </a:endParaRPr>
          </a:p>
          <a:p>
            <a:pPr eaLnBrk="1" hangingPunct="1">
              <a:spcBef>
                <a:spcPct val="50000"/>
              </a:spcBef>
              <a:buFontTx/>
              <a:buNone/>
            </a:pPr>
            <a:endParaRPr lang="en-US" altLang="zh-CN" sz="1800">
              <a:solidFill>
                <a:schemeClr val="tx1"/>
              </a:solidFill>
              <a:latin typeface="Arial" panose="020B0604020202020204" pitchFamily="34" charset="0"/>
              <a:ea typeface="宋体" panose="02010600030101010101" pitchFamily="2" charset="-122"/>
            </a:endParaRPr>
          </a:p>
          <a:p>
            <a:pPr eaLnBrk="1" hangingPunct="1">
              <a:spcBef>
                <a:spcPct val="50000"/>
              </a:spcBef>
              <a:buFontTx/>
              <a:buNone/>
            </a:pPr>
            <a:endParaRPr lang="en-US" altLang="zh-CN" sz="1800">
              <a:solidFill>
                <a:schemeClr val="tx1"/>
              </a:solidFill>
              <a:latin typeface="Arial" panose="020B0604020202020204" pitchFamily="34" charset="0"/>
              <a:ea typeface="宋体" panose="02010600030101010101" pitchFamily="2" charset="-122"/>
            </a:endParaRPr>
          </a:p>
          <a:p>
            <a:pPr eaLnBrk="1" hangingPunct="1">
              <a:spcBef>
                <a:spcPct val="50000"/>
              </a:spcBef>
              <a:buFontTx/>
              <a:buNone/>
            </a:pPr>
            <a:endParaRPr lang="en-US" altLang="zh-CN" sz="1800">
              <a:solidFill>
                <a:schemeClr val="tx1"/>
              </a:solidFill>
              <a:latin typeface="Arial" panose="020B0604020202020204" pitchFamily="34" charset="0"/>
              <a:ea typeface="宋体" panose="02010600030101010101" pitchFamily="2" charset="-122"/>
            </a:endParaRPr>
          </a:p>
        </p:txBody>
      </p:sp>
      <p:sp>
        <p:nvSpPr>
          <p:cNvPr id="59396" name="Rectangle 2"/>
          <p:cNvSpPr>
            <a:spLocks noGrp="1" noChangeArrowheads="1"/>
          </p:cNvSpPr>
          <p:nvPr>
            <p:ph type="title"/>
          </p:nvPr>
        </p:nvSpPr>
        <p:spPr/>
        <p:txBody>
          <a:bodyPr/>
          <a:lstStyle/>
          <a:p>
            <a:pPr eaLnBrk="1" hangingPunct="1"/>
            <a:r>
              <a:rPr lang="en-US" altLang="zh-CN" dirty="0">
                <a:latin typeface="+mn-ea"/>
              </a:rPr>
              <a:t>1.3.2 </a:t>
            </a:r>
            <a:r>
              <a:rPr lang="zh-CN" altLang="en-US" dirty="0">
                <a:latin typeface="+mn-ea"/>
              </a:rPr>
              <a:t>证明方法</a:t>
            </a:r>
            <a:r>
              <a:rPr lang="en-US" altLang="zh-CN" dirty="0">
                <a:latin typeface="+mn-ea"/>
              </a:rPr>
              <a:t>——</a:t>
            </a:r>
            <a:r>
              <a:rPr lang="zh-CN" altLang="en-US" dirty="0"/>
              <a:t>数学归纳法</a:t>
            </a:r>
            <a:endParaRPr lang="en-US" altLang="zh-CN" dirty="0" smtClean="0"/>
          </a:p>
        </p:txBody>
      </p:sp>
      <p:sp>
        <p:nvSpPr>
          <p:cNvPr id="112643" name="Rectangle 3"/>
          <p:cNvSpPr>
            <a:spLocks noGrp="1" noChangeArrowheads="1"/>
          </p:cNvSpPr>
          <p:nvPr>
            <p:ph type="body" sz="half" idx="1"/>
          </p:nvPr>
        </p:nvSpPr>
        <p:spPr>
          <a:xfrm>
            <a:off x="817563" y="1125538"/>
            <a:ext cx="8218487" cy="2232025"/>
          </a:xfrm>
        </p:spPr>
        <p:txBody>
          <a:bodyPr/>
          <a:lstStyle/>
          <a:p>
            <a:pPr lvl="0" eaLnBrk="1" hangingPunct="1"/>
            <a:r>
              <a:rPr lang="zh-CN" altLang="en-US" sz="2200" dirty="0">
                <a:solidFill>
                  <a:srgbClr val="333399"/>
                </a:solidFill>
              </a:rPr>
              <a:t>例子</a:t>
            </a:r>
            <a:endParaRPr lang="en-US" altLang="zh-CN" sz="2200" dirty="0">
              <a:solidFill>
                <a:srgbClr val="333399"/>
              </a:solidFill>
            </a:endParaRPr>
          </a:p>
          <a:p>
            <a:pPr lvl="1" eaLnBrk="1" hangingPunct="1">
              <a:lnSpc>
                <a:spcPct val="90000"/>
              </a:lnSpc>
              <a:buFontTx/>
              <a:buNone/>
              <a:defRPr/>
            </a:pPr>
            <a:r>
              <a:rPr lang="zh-CN" altLang="en-US" dirty="0" smtClean="0">
                <a:latin typeface="+mn-lt"/>
                <a:ea typeface="+mn-ea"/>
              </a:rPr>
              <a:t>证明</a:t>
            </a:r>
            <a:r>
              <a:rPr lang="en-US" altLang="zh-CN" dirty="0" smtClean="0">
                <a:latin typeface="+mn-lt"/>
                <a:ea typeface="+mn-ea"/>
              </a:rPr>
              <a:t>Bernoulli</a:t>
            </a:r>
            <a:r>
              <a:rPr lang="zh-CN" altLang="en-US" dirty="0" smtClean="0">
                <a:latin typeface="+mn-lt"/>
                <a:ea typeface="+mn-ea"/>
              </a:rPr>
              <a:t>不等式</a:t>
            </a:r>
            <a:r>
              <a:rPr lang="en-US" altLang="zh-CN" dirty="0" smtClean="0">
                <a:latin typeface="+mn-lt"/>
                <a:ea typeface="+mn-ea"/>
              </a:rPr>
              <a:t>: </a:t>
            </a:r>
            <a:r>
              <a:rPr lang="zh-CN" altLang="en-US" dirty="0" smtClean="0">
                <a:latin typeface="+mn-lt"/>
                <a:ea typeface="+mn-ea"/>
              </a:rPr>
              <a:t>对每一个实数</a:t>
            </a:r>
            <a:r>
              <a:rPr lang="en-US" altLang="zh-CN" dirty="0" smtClean="0">
                <a:latin typeface="+mn-lt"/>
                <a:ea typeface="+mn-ea"/>
              </a:rPr>
              <a:t>x</a:t>
            </a:r>
            <a:r>
              <a:rPr lang="en-US" altLang="zh-CN" dirty="0" smtClean="0">
                <a:latin typeface="+mn-lt"/>
                <a:ea typeface="+mn-ea"/>
                <a:sym typeface="Symbol" pitchFamily="18" charset="2"/>
              </a:rPr>
              <a:t></a:t>
            </a:r>
            <a:r>
              <a:rPr lang="en-US" altLang="zh-CN" dirty="0" smtClean="0">
                <a:latin typeface="+mn-lt"/>
                <a:ea typeface="+mn-ea"/>
              </a:rPr>
              <a:t>-1 </a:t>
            </a:r>
            <a:r>
              <a:rPr lang="zh-CN" altLang="en-US" dirty="0" smtClean="0">
                <a:latin typeface="+mn-lt"/>
                <a:ea typeface="+mn-ea"/>
              </a:rPr>
              <a:t>和每一个自然数</a:t>
            </a:r>
            <a:r>
              <a:rPr lang="en-US" altLang="zh-CN" dirty="0" smtClean="0">
                <a:latin typeface="+mn-lt"/>
                <a:ea typeface="+mn-ea"/>
              </a:rPr>
              <a:t>n</a:t>
            </a:r>
            <a:r>
              <a:rPr lang="zh-CN" altLang="en-US" dirty="0" smtClean="0">
                <a:latin typeface="+mn-lt"/>
                <a:ea typeface="+mn-ea"/>
              </a:rPr>
              <a:t>，有</a:t>
            </a:r>
            <a:r>
              <a:rPr lang="en-US" altLang="zh-CN" dirty="0" smtClean="0">
                <a:latin typeface="+mn-lt"/>
                <a:ea typeface="+mn-ea"/>
              </a:rPr>
              <a:t>(1+x)</a:t>
            </a:r>
            <a:r>
              <a:rPr lang="en-US" altLang="zh-CN" baseline="30000" dirty="0" smtClean="0">
                <a:latin typeface="+mn-lt"/>
                <a:ea typeface="+mn-ea"/>
              </a:rPr>
              <a:t>n </a:t>
            </a:r>
            <a:r>
              <a:rPr lang="en-US" altLang="zh-CN" dirty="0" smtClean="0">
                <a:latin typeface="+mn-lt"/>
                <a:ea typeface="+mn-ea"/>
                <a:sym typeface="Symbol" pitchFamily="18" charset="2"/>
              </a:rPr>
              <a:t></a:t>
            </a:r>
            <a:r>
              <a:rPr lang="en-US" altLang="zh-CN" dirty="0" smtClean="0">
                <a:latin typeface="+mn-lt"/>
                <a:ea typeface="+mn-ea"/>
              </a:rPr>
              <a:t> 1+nx</a:t>
            </a:r>
            <a:r>
              <a:rPr lang="zh-CN" altLang="en-US" dirty="0" smtClean="0">
                <a:latin typeface="+mn-lt"/>
                <a:ea typeface="+mn-ea"/>
              </a:rPr>
              <a:t>。</a:t>
            </a:r>
            <a:endParaRPr lang="en-US" altLang="zh-CN" dirty="0" smtClean="0">
              <a:latin typeface="+mn-lt"/>
              <a:ea typeface="+mn-ea"/>
            </a:endParaRPr>
          </a:p>
          <a:p>
            <a:pPr lvl="1" eaLnBrk="1" hangingPunct="1">
              <a:lnSpc>
                <a:spcPct val="90000"/>
              </a:lnSpc>
              <a:defRPr/>
            </a:pPr>
            <a:r>
              <a:rPr lang="zh-CN" altLang="en-US" dirty="0" smtClean="0">
                <a:latin typeface="+mn-lt"/>
                <a:ea typeface="+mn-ea"/>
              </a:rPr>
              <a:t>基础步：如果</a:t>
            </a:r>
            <a:r>
              <a:rPr lang="en-US" altLang="zh-CN" dirty="0" smtClean="0">
                <a:latin typeface="+mn-lt"/>
                <a:ea typeface="+mn-ea"/>
              </a:rPr>
              <a:t> n=1</a:t>
            </a:r>
            <a:r>
              <a:rPr lang="zh-CN" altLang="en-US" dirty="0" smtClean="0">
                <a:latin typeface="+mn-lt"/>
                <a:ea typeface="+mn-ea"/>
              </a:rPr>
              <a:t>，那么</a:t>
            </a:r>
            <a:r>
              <a:rPr lang="en-US" altLang="zh-CN" dirty="0" smtClean="0">
                <a:latin typeface="+mn-lt"/>
                <a:ea typeface="+mn-ea"/>
              </a:rPr>
              <a:t>1+x≥1+x</a:t>
            </a:r>
            <a:r>
              <a:rPr lang="zh-CN" altLang="en-US" dirty="0" smtClean="0">
                <a:latin typeface="+mn-lt"/>
                <a:ea typeface="+mn-ea"/>
              </a:rPr>
              <a:t>。</a:t>
            </a:r>
            <a:endParaRPr lang="en-US" altLang="zh-CN" dirty="0" smtClean="0">
              <a:latin typeface="+mn-lt"/>
              <a:ea typeface="+mn-ea"/>
            </a:endParaRPr>
          </a:p>
          <a:p>
            <a:pPr lvl="1" eaLnBrk="1" hangingPunct="1">
              <a:lnSpc>
                <a:spcPct val="90000"/>
              </a:lnSpc>
              <a:defRPr/>
            </a:pPr>
            <a:r>
              <a:rPr lang="zh-CN" altLang="en-US" dirty="0" smtClean="0">
                <a:latin typeface="+mn-lt"/>
                <a:ea typeface="+mn-ea"/>
              </a:rPr>
              <a:t>归纳步：假定不等式对于所有的</a:t>
            </a:r>
            <a:r>
              <a:rPr lang="en-US" altLang="zh-CN" dirty="0" smtClean="0">
                <a:latin typeface="+mn-lt"/>
                <a:ea typeface="+mn-ea"/>
              </a:rPr>
              <a:t>k</a:t>
            </a:r>
            <a:r>
              <a:rPr lang="zh-CN" altLang="en-US" dirty="0" smtClean="0">
                <a:latin typeface="+mn-lt"/>
                <a:ea typeface="+mn-ea"/>
              </a:rPr>
              <a:t>成立，</a:t>
            </a:r>
            <a:r>
              <a:rPr lang="en-US" altLang="zh-CN" dirty="0" smtClean="0">
                <a:latin typeface="+mn-lt"/>
                <a:ea typeface="+mn-ea"/>
              </a:rPr>
              <a:t>1≤k&lt;n, where n&gt;1</a:t>
            </a:r>
            <a:r>
              <a:rPr lang="zh-CN" altLang="en-US" dirty="0" smtClean="0">
                <a:latin typeface="+mn-lt"/>
                <a:ea typeface="+mn-ea"/>
              </a:rPr>
              <a:t>，那么</a:t>
            </a:r>
            <a:endParaRPr lang="en-US" altLang="zh-CN" dirty="0" smtClean="0">
              <a:latin typeface="+mn-lt"/>
              <a:ea typeface="+mn-ea"/>
            </a:endParaRPr>
          </a:p>
        </p:txBody>
      </p:sp>
      <p:graphicFrame>
        <p:nvGraphicFramePr>
          <p:cNvPr id="59399" name="Object 12"/>
          <p:cNvGraphicFramePr>
            <a:graphicFrameLocks noGrp="1" noChangeAspect="1"/>
          </p:cNvGraphicFramePr>
          <p:nvPr>
            <p:ph sz="half" idx="2"/>
            <p:extLst>
              <p:ext uri="{D42A27DB-BD31-4B8C-83A1-F6EECF244321}">
                <p14:modId xmlns:p14="http://schemas.microsoft.com/office/powerpoint/2010/main" val="1907024650"/>
              </p:ext>
            </p:extLst>
          </p:nvPr>
        </p:nvGraphicFramePr>
        <p:xfrm>
          <a:off x="1723448" y="3228975"/>
          <a:ext cx="5697538" cy="2216150"/>
        </p:xfrm>
        <a:graphic>
          <a:graphicData uri="http://schemas.openxmlformats.org/presentationml/2006/ole">
            <mc:AlternateContent xmlns:mc="http://schemas.openxmlformats.org/markup-compatibility/2006">
              <mc:Choice xmlns:v="urn:schemas-microsoft-com:vml" Requires="v">
                <p:oleObj spid="_x0000_s4140" name="公式" r:id="rId4" imgW="3657600" imgH="1422400" progId="Equation.3">
                  <p:embed/>
                </p:oleObj>
              </mc:Choice>
              <mc:Fallback>
                <p:oleObj name="公式" r:id="rId4" imgW="3657600" imgH="1422400" progId="Equation.3">
                  <p:embed/>
                  <p:pic>
                    <p:nvPicPr>
                      <p:cNvPr id="59399" name="Object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23448" y="3228975"/>
                        <a:ext cx="5697538" cy="221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9400" name="Text Box 15"/>
          <p:cNvSpPr txBox="1">
            <a:spLocks noChangeArrowheads="1"/>
          </p:cNvSpPr>
          <p:nvPr/>
        </p:nvSpPr>
        <p:spPr bwMode="auto">
          <a:xfrm>
            <a:off x="1387475" y="5445125"/>
            <a:ext cx="48656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zh-CN" altLang="en-US" sz="2000">
                <a:latin typeface="Arial" panose="020B0604020202020204" pitchFamily="34" charset="0"/>
                <a:ea typeface="宋体" panose="02010600030101010101" pitchFamily="2" charset="-122"/>
              </a:rPr>
              <a:t>因此，对于所有的</a:t>
            </a:r>
            <a:r>
              <a:rPr lang="en-US" altLang="zh-CN" sz="2000">
                <a:latin typeface="Arial" panose="020B0604020202020204" pitchFamily="34" charset="0"/>
                <a:ea typeface="宋体" panose="02010600030101010101" pitchFamily="2" charset="-122"/>
              </a:rPr>
              <a:t>n ≥1</a:t>
            </a:r>
            <a:r>
              <a:rPr lang="zh-CN" altLang="en-US" sz="2000">
                <a:latin typeface="Arial" panose="020B0604020202020204" pitchFamily="34" charset="0"/>
                <a:ea typeface="宋体" panose="02010600030101010101" pitchFamily="2" charset="-122"/>
              </a:rPr>
              <a:t>，有</a:t>
            </a:r>
            <a:r>
              <a:rPr lang="en-US" altLang="zh-CN" sz="2000">
                <a:latin typeface="Arial" panose="020B0604020202020204" pitchFamily="34" charset="0"/>
                <a:ea typeface="宋体" panose="02010600030101010101" pitchFamily="2" charset="-122"/>
              </a:rPr>
              <a:t> (1+x)</a:t>
            </a:r>
            <a:r>
              <a:rPr lang="en-US" altLang="zh-CN" sz="2000" baseline="30000">
                <a:latin typeface="Arial" panose="020B0604020202020204" pitchFamily="34" charset="0"/>
                <a:ea typeface="宋体" panose="02010600030101010101" pitchFamily="2" charset="-122"/>
              </a:rPr>
              <a:t>n</a:t>
            </a:r>
            <a:r>
              <a:rPr lang="en-US" altLang="zh-CN" sz="2000">
                <a:latin typeface="Arial" panose="020B0604020202020204" pitchFamily="34" charset="0"/>
                <a:ea typeface="宋体" panose="02010600030101010101" pitchFamily="2" charset="-122"/>
              </a:rPr>
              <a:t> ≥1+nx</a:t>
            </a:r>
          </a:p>
        </p:txBody>
      </p:sp>
    </p:spTree>
    <p:extLst>
      <p:ext uri="{BB962C8B-B14F-4D97-AF65-F5344CB8AC3E}">
        <p14:creationId xmlns:p14="http://schemas.microsoft.com/office/powerpoint/2010/main" val="10031324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61443" name="Rectangle 2"/>
          <p:cNvSpPr>
            <a:spLocks noGrp="1" noChangeArrowheads="1"/>
          </p:cNvSpPr>
          <p:nvPr>
            <p:ph type="title"/>
          </p:nvPr>
        </p:nvSpPr>
        <p:spPr/>
        <p:txBody>
          <a:bodyPr/>
          <a:lstStyle/>
          <a:p>
            <a:pPr eaLnBrk="1" hangingPunct="1"/>
            <a:r>
              <a:rPr lang="en-US" altLang="zh-CN" dirty="0" smtClean="0">
                <a:latin typeface="+mn-ea"/>
              </a:rPr>
              <a:t>1.3.3 </a:t>
            </a:r>
            <a:r>
              <a:rPr lang="zh-CN" altLang="en-US" dirty="0" smtClean="0">
                <a:latin typeface="+mn-ea"/>
              </a:rPr>
              <a:t>对数</a:t>
            </a:r>
            <a:endParaRPr lang="en-US" altLang="zh-CN" dirty="0" smtClean="0"/>
          </a:p>
        </p:txBody>
      </p:sp>
      <p:sp>
        <p:nvSpPr>
          <p:cNvPr id="61444" name="Rectangle 3"/>
          <p:cNvSpPr>
            <a:spLocks noGrp="1" noChangeArrowheads="1"/>
          </p:cNvSpPr>
          <p:nvPr>
            <p:ph type="body" idx="1"/>
          </p:nvPr>
        </p:nvSpPr>
        <p:spPr/>
        <p:txBody>
          <a:bodyPr/>
          <a:lstStyle/>
          <a:p>
            <a:pPr eaLnBrk="1" hangingPunct="1"/>
            <a:r>
              <a:rPr lang="zh-CN" altLang="en-US" dirty="0" smtClean="0"/>
              <a:t>设</a:t>
            </a:r>
            <a:r>
              <a:rPr lang="en-US" altLang="zh-CN" dirty="0" smtClean="0"/>
              <a:t> </a:t>
            </a:r>
            <a:r>
              <a:rPr lang="en-US" altLang="zh-CN" i="1" dirty="0" smtClean="0"/>
              <a:t>b</a:t>
            </a:r>
            <a:r>
              <a:rPr lang="en-US" altLang="zh-CN" dirty="0" smtClean="0"/>
              <a:t> </a:t>
            </a:r>
            <a:r>
              <a:rPr lang="zh-CN" altLang="en-US" dirty="0" smtClean="0"/>
              <a:t>为一个大于</a:t>
            </a:r>
            <a:r>
              <a:rPr lang="en-US" altLang="zh-CN" dirty="0" smtClean="0"/>
              <a:t>1</a:t>
            </a:r>
            <a:r>
              <a:rPr lang="zh-CN" altLang="en-US" dirty="0" smtClean="0"/>
              <a:t>的正实数，</a:t>
            </a:r>
            <a:r>
              <a:rPr lang="en-US" altLang="zh-CN" dirty="0" smtClean="0"/>
              <a:t>x</a:t>
            </a:r>
            <a:r>
              <a:rPr lang="zh-CN" altLang="en-US" dirty="0" smtClean="0"/>
              <a:t>是实数，假定对于某个正实数</a:t>
            </a:r>
            <a:r>
              <a:rPr lang="en-US" altLang="zh-CN" dirty="0" smtClean="0"/>
              <a:t>y</a:t>
            </a:r>
            <a:r>
              <a:rPr lang="zh-CN" altLang="en-US" dirty="0" smtClean="0"/>
              <a:t>，有</a:t>
            </a:r>
            <a:r>
              <a:rPr lang="en-US" altLang="zh-CN" i="1" dirty="0" smtClean="0"/>
              <a:t>y=</a:t>
            </a:r>
            <a:r>
              <a:rPr lang="en-US" altLang="zh-CN" i="1" dirty="0" err="1" smtClean="0"/>
              <a:t>b</a:t>
            </a:r>
            <a:r>
              <a:rPr lang="en-US" altLang="zh-CN" i="1" baseline="30000" dirty="0" err="1" smtClean="0"/>
              <a:t>x</a:t>
            </a:r>
            <a:r>
              <a:rPr lang="en-US" altLang="zh-CN" dirty="0" smtClean="0"/>
              <a:t> </a:t>
            </a:r>
            <a:r>
              <a:rPr lang="zh-CN" altLang="en-US" dirty="0" smtClean="0"/>
              <a:t>。那么</a:t>
            </a:r>
            <a:r>
              <a:rPr lang="en-US" altLang="zh-CN" dirty="0" smtClean="0"/>
              <a:t>x</a:t>
            </a:r>
            <a:r>
              <a:rPr lang="zh-CN" altLang="en-US" dirty="0" smtClean="0"/>
              <a:t>称为以</a:t>
            </a:r>
            <a:r>
              <a:rPr lang="en-US" altLang="zh-CN" dirty="0" smtClean="0"/>
              <a:t>b</a:t>
            </a:r>
            <a:r>
              <a:rPr lang="zh-CN" altLang="en-US" dirty="0" smtClean="0"/>
              <a:t>为底的</a:t>
            </a:r>
            <a:r>
              <a:rPr lang="en-US" altLang="zh-CN" dirty="0" smtClean="0"/>
              <a:t>y</a:t>
            </a:r>
            <a:r>
              <a:rPr lang="zh-CN" altLang="en-US" dirty="0" smtClean="0"/>
              <a:t>的</a:t>
            </a:r>
            <a:r>
              <a:rPr lang="zh-CN" altLang="en-US" dirty="0" smtClean="0">
                <a:solidFill>
                  <a:srgbClr val="FF0000"/>
                </a:solidFill>
              </a:rPr>
              <a:t>对数</a:t>
            </a:r>
            <a:r>
              <a:rPr lang="zh-CN" altLang="en-US" dirty="0" smtClean="0"/>
              <a:t>，写作</a:t>
            </a:r>
            <a:r>
              <a:rPr lang="en-US" altLang="zh-CN" dirty="0" smtClean="0"/>
              <a:t>:</a:t>
            </a:r>
          </a:p>
          <a:p>
            <a:pPr eaLnBrk="1" hangingPunct="1">
              <a:buFontTx/>
              <a:buNone/>
            </a:pPr>
            <a:r>
              <a:rPr lang="en-US" altLang="zh-CN" dirty="0" smtClean="0"/>
              <a:t>	       </a:t>
            </a:r>
            <a:r>
              <a:rPr lang="en-US" altLang="zh-CN" i="1" dirty="0" smtClean="0">
                <a:solidFill>
                  <a:schemeClr val="tx2"/>
                </a:solidFill>
              </a:rPr>
              <a:t>x=</a:t>
            </a:r>
            <a:r>
              <a:rPr lang="en-US" altLang="zh-CN" i="1" dirty="0" err="1" smtClean="0">
                <a:solidFill>
                  <a:schemeClr val="tx2"/>
                </a:solidFill>
              </a:rPr>
              <a:t>log</a:t>
            </a:r>
            <a:r>
              <a:rPr lang="en-US" altLang="zh-CN" i="1" baseline="-25000" dirty="0" err="1" smtClean="0">
                <a:solidFill>
                  <a:schemeClr val="tx2"/>
                </a:solidFill>
              </a:rPr>
              <a:t>b</a:t>
            </a:r>
            <a:r>
              <a:rPr lang="en-US" altLang="zh-CN" i="1" dirty="0" err="1" smtClean="0">
                <a:solidFill>
                  <a:schemeClr val="tx2"/>
                </a:solidFill>
              </a:rPr>
              <a:t>y</a:t>
            </a:r>
            <a:r>
              <a:rPr lang="en-US" altLang="zh-CN" i="1" dirty="0" smtClean="0">
                <a:solidFill>
                  <a:schemeClr val="tx2"/>
                </a:solidFill>
              </a:rPr>
              <a:t>.</a:t>
            </a:r>
            <a:r>
              <a:rPr lang="en-US" altLang="zh-CN" dirty="0" smtClean="0"/>
              <a:t> </a:t>
            </a:r>
          </a:p>
          <a:p>
            <a:pPr eaLnBrk="1" hangingPunct="1">
              <a:buFontTx/>
              <a:buNone/>
            </a:pPr>
            <a:r>
              <a:rPr lang="en-US" altLang="zh-CN" dirty="0" smtClean="0"/>
              <a:t> 	</a:t>
            </a:r>
            <a:r>
              <a:rPr lang="zh-CN" altLang="en-US" dirty="0" smtClean="0"/>
              <a:t>这里，</a:t>
            </a:r>
            <a:r>
              <a:rPr lang="en-US" altLang="zh-CN" dirty="0" smtClean="0"/>
              <a:t>b</a:t>
            </a:r>
            <a:r>
              <a:rPr lang="zh-CN" altLang="en-US" dirty="0" smtClean="0"/>
              <a:t>称为</a:t>
            </a:r>
            <a:r>
              <a:rPr lang="zh-CN" altLang="en-US" dirty="0" smtClean="0">
                <a:solidFill>
                  <a:srgbClr val="FF0000"/>
                </a:solidFill>
              </a:rPr>
              <a:t>对数的底数</a:t>
            </a:r>
            <a:r>
              <a:rPr lang="zh-CN" altLang="en-US" dirty="0" smtClean="0"/>
              <a:t>。对于任意大于</a:t>
            </a:r>
            <a:r>
              <a:rPr lang="en-US" altLang="zh-CN" dirty="0" smtClean="0"/>
              <a:t>0</a:t>
            </a:r>
            <a:r>
              <a:rPr lang="zh-CN" altLang="en-US" dirty="0" smtClean="0"/>
              <a:t>的实数</a:t>
            </a:r>
            <a:r>
              <a:rPr lang="en-US" altLang="zh-CN" dirty="0" smtClean="0"/>
              <a:t>x</a:t>
            </a:r>
            <a:r>
              <a:rPr lang="zh-CN" altLang="en-US" dirty="0" smtClean="0"/>
              <a:t>和</a:t>
            </a:r>
            <a:r>
              <a:rPr lang="en-US" altLang="zh-CN" dirty="0" smtClean="0"/>
              <a:t>y</a:t>
            </a:r>
            <a:r>
              <a:rPr lang="zh-CN" altLang="en-US" dirty="0" smtClean="0"/>
              <a:t>，有：</a:t>
            </a:r>
            <a:endParaRPr lang="en-US" altLang="zh-CN" dirty="0" smtClean="0"/>
          </a:p>
          <a:p>
            <a:pPr eaLnBrk="1" hangingPunct="1">
              <a:buFontTx/>
              <a:buNone/>
            </a:pPr>
            <a:endParaRPr lang="en-US" altLang="zh-CN" dirty="0" smtClean="0"/>
          </a:p>
          <a:p>
            <a:pPr eaLnBrk="1" hangingPunct="1">
              <a:buFontTx/>
              <a:buNone/>
            </a:pPr>
            <a:endParaRPr lang="en-US" altLang="zh-CN" dirty="0" smtClean="0"/>
          </a:p>
          <a:p>
            <a:pPr eaLnBrk="1" hangingPunct="1">
              <a:buFontTx/>
              <a:buNone/>
            </a:pPr>
            <a:r>
              <a:rPr lang="zh-CN" altLang="en-US" dirty="0" smtClean="0"/>
              <a:t>当</a:t>
            </a:r>
            <a:r>
              <a:rPr lang="en-US" altLang="zh-CN" dirty="0" smtClean="0"/>
              <a:t>b=2</a:t>
            </a:r>
            <a:r>
              <a:rPr lang="zh-CN" altLang="en-US" dirty="0" smtClean="0"/>
              <a:t>时，我们把</a:t>
            </a:r>
            <a:r>
              <a:rPr lang="en-US" altLang="zh-CN" dirty="0" err="1" smtClean="0"/>
              <a:t>log</a:t>
            </a:r>
            <a:r>
              <a:rPr lang="en-US" altLang="zh-CN" baseline="-25000" dirty="0" err="1" smtClean="0"/>
              <a:t>2</a:t>
            </a:r>
            <a:r>
              <a:rPr lang="en-US" altLang="zh-CN" baseline="-25000" dirty="0" smtClean="0"/>
              <a:t> </a:t>
            </a:r>
            <a:r>
              <a:rPr lang="en-US" altLang="zh-CN" dirty="0" smtClean="0"/>
              <a:t>x</a:t>
            </a:r>
            <a:r>
              <a:rPr lang="zh-CN" altLang="en-US" dirty="0" smtClean="0"/>
              <a:t>写作</a:t>
            </a:r>
            <a:r>
              <a:rPr lang="en-US" altLang="zh-CN" dirty="0" smtClean="0"/>
              <a:t>log  x</a:t>
            </a:r>
          </a:p>
          <a:p>
            <a:pPr eaLnBrk="1" hangingPunct="1">
              <a:buFontTx/>
              <a:buNone/>
            </a:pPr>
            <a:r>
              <a:rPr lang="zh-CN" altLang="en-US" dirty="0" smtClean="0"/>
              <a:t>当</a:t>
            </a:r>
            <a:r>
              <a:rPr lang="en-US" altLang="zh-CN" dirty="0" smtClean="0"/>
              <a:t>b=e</a:t>
            </a:r>
            <a:r>
              <a:rPr lang="zh-CN" altLang="en-US" dirty="0" smtClean="0"/>
              <a:t>时，我们把</a:t>
            </a:r>
            <a:r>
              <a:rPr lang="en-US" altLang="zh-CN" dirty="0" smtClean="0"/>
              <a:t>log</a:t>
            </a:r>
            <a:r>
              <a:rPr lang="en-US" altLang="zh-CN" baseline="-25000" dirty="0" smtClean="0"/>
              <a:t>e</a:t>
            </a:r>
            <a:r>
              <a:rPr lang="en-US" altLang="zh-CN" dirty="0" smtClean="0"/>
              <a:t> x</a:t>
            </a:r>
            <a:r>
              <a:rPr lang="zh-CN" altLang="en-US" dirty="0" smtClean="0"/>
              <a:t>写作</a:t>
            </a:r>
            <a:r>
              <a:rPr lang="en-US" altLang="zh-CN" dirty="0" smtClean="0"/>
              <a:t>ln x</a:t>
            </a:r>
          </a:p>
          <a:p>
            <a:pPr eaLnBrk="1" hangingPunct="1">
              <a:buFontTx/>
              <a:buNone/>
            </a:pPr>
            <a:endParaRPr lang="en-US" altLang="zh-CN" dirty="0" smtClean="0"/>
          </a:p>
        </p:txBody>
      </p:sp>
      <p:pic>
        <p:nvPicPr>
          <p:cNvPr id="6144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7500" y="3500438"/>
            <a:ext cx="26384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46"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0188" y="5643563"/>
            <a:ext cx="5295900"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438032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63491" name="Rectangle 2"/>
          <p:cNvSpPr>
            <a:spLocks noGrp="1" noChangeArrowheads="1"/>
          </p:cNvSpPr>
          <p:nvPr>
            <p:ph type="title"/>
          </p:nvPr>
        </p:nvSpPr>
        <p:spPr/>
        <p:txBody>
          <a:bodyPr/>
          <a:lstStyle/>
          <a:p>
            <a:pPr eaLnBrk="1" hangingPunct="1"/>
            <a:r>
              <a:rPr lang="en-US" altLang="zh-CN" dirty="0" smtClean="0">
                <a:latin typeface="+mn-ea"/>
              </a:rPr>
              <a:t>1.3.4 </a:t>
            </a:r>
            <a:r>
              <a:rPr lang="zh-CN" altLang="en-US" dirty="0" smtClean="0">
                <a:latin typeface="+mn-ea"/>
              </a:rPr>
              <a:t>底</a:t>
            </a:r>
            <a:r>
              <a:rPr lang="zh-CN" altLang="en-US" dirty="0">
                <a:latin typeface="+mn-ea"/>
              </a:rPr>
              <a:t>函数、顶函数</a:t>
            </a:r>
            <a:endParaRPr lang="en-US" altLang="zh-CN" dirty="0" smtClean="0"/>
          </a:p>
        </p:txBody>
      </p:sp>
      <p:sp>
        <p:nvSpPr>
          <p:cNvPr id="107523" name="Rectangle 3"/>
          <p:cNvSpPr>
            <a:spLocks noGrp="1" noChangeArrowheads="1"/>
          </p:cNvSpPr>
          <p:nvPr>
            <p:ph type="body" idx="1"/>
          </p:nvPr>
        </p:nvSpPr>
        <p:spPr/>
        <p:txBody>
          <a:bodyPr/>
          <a:lstStyle/>
          <a:p>
            <a:pPr eaLnBrk="1" hangingPunct="1">
              <a:lnSpc>
                <a:spcPct val="90000"/>
              </a:lnSpc>
              <a:buFontTx/>
              <a:buNone/>
              <a:defRPr/>
            </a:pPr>
            <a:r>
              <a:rPr lang="zh-CN" altLang="en-US" dirty="0" smtClean="0"/>
              <a:t>令</a:t>
            </a:r>
            <a:r>
              <a:rPr lang="en-US" altLang="zh-CN" dirty="0" smtClean="0"/>
              <a:t> </a:t>
            </a:r>
            <a:r>
              <a:rPr lang="en-US" altLang="zh-CN" i="1" dirty="0" smtClean="0"/>
              <a:t>x</a:t>
            </a:r>
            <a:r>
              <a:rPr lang="en-US" altLang="zh-CN" dirty="0" smtClean="0"/>
              <a:t> </a:t>
            </a:r>
            <a:r>
              <a:rPr lang="zh-CN" altLang="en-US" dirty="0" smtClean="0"/>
              <a:t>是实数</a:t>
            </a:r>
            <a:endParaRPr lang="en-US" altLang="zh-CN" dirty="0" smtClean="0"/>
          </a:p>
          <a:p>
            <a:pPr eaLnBrk="1" hangingPunct="1">
              <a:lnSpc>
                <a:spcPct val="90000"/>
              </a:lnSpc>
              <a:defRPr/>
            </a:pPr>
            <a:r>
              <a:rPr lang="zh-CN" altLang="en-US" dirty="0" smtClean="0"/>
              <a:t>用</a:t>
            </a:r>
            <a:r>
              <a:rPr lang="en-US" altLang="zh-CN" dirty="0" smtClean="0">
                <a:solidFill>
                  <a:srgbClr val="FF0000"/>
                </a:solidFill>
                <a:sym typeface="Symbol" pitchFamily="18" charset="2"/>
              </a:rPr>
              <a:t></a:t>
            </a:r>
            <a:r>
              <a:rPr lang="en-US" altLang="zh-CN" i="1" dirty="0" smtClean="0">
                <a:solidFill>
                  <a:srgbClr val="FF0000"/>
                </a:solidFill>
                <a:sym typeface="Symbol" pitchFamily="18" charset="2"/>
              </a:rPr>
              <a:t>x</a:t>
            </a:r>
            <a:r>
              <a:rPr lang="en-US" altLang="zh-CN" dirty="0" smtClean="0">
                <a:solidFill>
                  <a:srgbClr val="FF0000"/>
                </a:solidFill>
                <a:sym typeface="Symbol" pitchFamily="18" charset="2"/>
              </a:rPr>
              <a:t></a:t>
            </a:r>
            <a:r>
              <a:rPr lang="zh-CN" altLang="en-US" dirty="0" smtClean="0">
                <a:sym typeface="Symbol" pitchFamily="18" charset="2"/>
              </a:rPr>
              <a:t>来表示</a:t>
            </a:r>
            <a:r>
              <a:rPr lang="en-US" altLang="zh-CN" dirty="0" smtClean="0">
                <a:sym typeface="Symbol" pitchFamily="18" charset="2"/>
              </a:rPr>
              <a:t>x</a:t>
            </a:r>
            <a:r>
              <a:rPr lang="zh-CN" altLang="en-US" dirty="0" smtClean="0">
                <a:sym typeface="Symbol" pitchFamily="18" charset="2"/>
              </a:rPr>
              <a:t>的底函数，它被定义为小于等于</a:t>
            </a:r>
            <a:r>
              <a:rPr lang="en-US" altLang="zh-CN" dirty="0" smtClean="0">
                <a:sym typeface="Symbol" pitchFamily="18" charset="2"/>
              </a:rPr>
              <a:t>x</a:t>
            </a:r>
            <a:r>
              <a:rPr lang="zh-CN" altLang="en-US" dirty="0" smtClean="0">
                <a:sym typeface="Symbol" pitchFamily="18" charset="2"/>
              </a:rPr>
              <a:t>的最大整数；</a:t>
            </a:r>
            <a:r>
              <a:rPr lang="en-US" altLang="zh-CN" dirty="0" smtClean="0">
                <a:sym typeface="Symbol" pitchFamily="18" charset="2"/>
              </a:rPr>
              <a:t>x</a:t>
            </a:r>
            <a:r>
              <a:rPr lang="zh-CN" altLang="en-US" dirty="0" smtClean="0">
                <a:sym typeface="Symbol" pitchFamily="18" charset="2"/>
              </a:rPr>
              <a:t>的顶函数用</a:t>
            </a:r>
            <a:r>
              <a:rPr lang="en-US" altLang="zh-CN" dirty="0" smtClean="0">
                <a:solidFill>
                  <a:srgbClr val="FF0000"/>
                </a:solidFill>
                <a:sym typeface="Symbol" pitchFamily="18" charset="2"/>
              </a:rPr>
              <a:t></a:t>
            </a:r>
            <a:r>
              <a:rPr lang="en-US" altLang="zh-CN" i="1" dirty="0" smtClean="0">
                <a:solidFill>
                  <a:srgbClr val="FF0000"/>
                </a:solidFill>
                <a:sym typeface="Symbol" pitchFamily="18" charset="2"/>
              </a:rPr>
              <a:t>x</a:t>
            </a:r>
            <a:r>
              <a:rPr lang="en-US" altLang="zh-CN" dirty="0" smtClean="0">
                <a:solidFill>
                  <a:srgbClr val="FF0000"/>
                </a:solidFill>
                <a:sym typeface="Symbol" pitchFamily="18" charset="2"/>
              </a:rPr>
              <a:t></a:t>
            </a:r>
            <a:r>
              <a:rPr lang="zh-CN" altLang="en-US" dirty="0" smtClean="0">
                <a:sym typeface="Symbol" pitchFamily="18" charset="2"/>
              </a:rPr>
              <a:t>来表示，它被定义为大于等于</a:t>
            </a:r>
            <a:r>
              <a:rPr lang="en-US" altLang="zh-CN" dirty="0" smtClean="0">
                <a:sym typeface="Symbol" pitchFamily="18" charset="2"/>
              </a:rPr>
              <a:t>x</a:t>
            </a:r>
            <a:r>
              <a:rPr lang="zh-CN" altLang="en-US" dirty="0" smtClean="0">
                <a:sym typeface="Symbol" pitchFamily="18" charset="2"/>
              </a:rPr>
              <a:t>的最小整数</a:t>
            </a:r>
            <a:r>
              <a:rPr lang="en-US" altLang="zh-CN" dirty="0" smtClean="0">
                <a:sym typeface="Symbol" pitchFamily="18" charset="2"/>
              </a:rPr>
              <a:t> </a:t>
            </a:r>
            <a:r>
              <a:rPr lang="zh-CN" altLang="en-US" dirty="0" smtClean="0">
                <a:sym typeface="Symbol" pitchFamily="18" charset="2"/>
              </a:rPr>
              <a:t>，例如：</a:t>
            </a:r>
            <a:endParaRPr lang="en-US" altLang="zh-CN" dirty="0" smtClean="0">
              <a:sym typeface="Symbol" pitchFamily="18" charset="2"/>
            </a:endParaRPr>
          </a:p>
          <a:p>
            <a:pPr eaLnBrk="1" hangingPunct="1">
              <a:lnSpc>
                <a:spcPct val="90000"/>
              </a:lnSpc>
              <a:defRPr/>
            </a:pPr>
            <a:endParaRPr lang="en-US" altLang="zh-CN" dirty="0" smtClean="0">
              <a:sym typeface="Symbol" pitchFamily="18" charset="2"/>
            </a:endParaRPr>
          </a:p>
          <a:p>
            <a:pPr eaLnBrk="1" hangingPunct="1">
              <a:lnSpc>
                <a:spcPct val="90000"/>
              </a:lnSpc>
              <a:defRPr/>
            </a:pPr>
            <a:r>
              <a:rPr lang="zh-CN" altLang="en-US" dirty="0" smtClean="0">
                <a:sym typeface="Symbol" pitchFamily="18" charset="2"/>
              </a:rPr>
              <a:t>重要等式：</a:t>
            </a:r>
            <a:r>
              <a:rPr lang="en-US" altLang="zh-CN" dirty="0" smtClean="0">
                <a:sym typeface="Symbol" pitchFamily="18" charset="2"/>
              </a:rPr>
              <a:t> </a:t>
            </a:r>
          </a:p>
          <a:p>
            <a:pPr lvl="1" eaLnBrk="1" hangingPunct="1">
              <a:lnSpc>
                <a:spcPct val="90000"/>
              </a:lnSpc>
              <a:defRPr/>
            </a:pPr>
            <a:r>
              <a:rPr lang="en-US" altLang="zh-CN" dirty="0" smtClean="0">
                <a:sym typeface="Symbol" pitchFamily="18" charset="2"/>
              </a:rPr>
              <a:t></a:t>
            </a:r>
            <a:r>
              <a:rPr lang="en-US" altLang="zh-CN" i="1" dirty="0" smtClean="0">
                <a:sym typeface="Symbol" pitchFamily="18" charset="2"/>
              </a:rPr>
              <a:t>x/2</a:t>
            </a:r>
            <a:r>
              <a:rPr lang="en-US" altLang="zh-CN" dirty="0" smtClean="0">
                <a:sym typeface="Symbol" pitchFamily="18" charset="2"/>
              </a:rPr>
              <a:t>+ </a:t>
            </a:r>
            <a:r>
              <a:rPr lang="en-US" altLang="zh-CN" i="1" dirty="0" smtClean="0">
                <a:sym typeface="Symbol" pitchFamily="18" charset="2"/>
              </a:rPr>
              <a:t>x/2</a:t>
            </a:r>
            <a:r>
              <a:rPr lang="en-US" altLang="zh-CN" dirty="0" smtClean="0">
                <a:sym typeface="Symbol" pitchFamily="18" charset="2"/>
              </a:rPr>
              <a:t>=x;    -</a:t>
            </a:r>
            <a:r>
              <a:rPr lang="en-US" altLang="zh-CN" i="1" dirty="0" smtClean="0">
                <a:sym typeface="Symbol" pitchFamily="18" charset="2"/>
              </a:rPr>
              <a:t>x</a:t>
            </a:r>
            <a:r>
              <a:rPr lang="en-US" altLang="zh-CN" dirty="0" smtClean="0">
                <a:sym typeface="Symbol" pitchFamily="18" charset="2"/>
              </a:rPr>
              <a:t>=- </a:t>
            </a:r>
            <a:r>
              <a:rPr lang="en-US" altLang="zh-CN" i="1" dirty="0" smtClean="0">
                <a:sym typeface="Symbol" pitchFamily="18" charset="2"/>
              </a:rPr>
              <a:t>x</a:t>
            </a:r>
            <a:r>
              <a:rPr lang="en-US" altLang="zh-CN" dirty="0" smtClean="0">
                <a:sym typeface="Symbol" pitchFamily="18" charset="2"/>
              </a:rPr>
              <a:t>;        -</a:t>
            </a:r>
            <a:r>
              <a:rPr lang="en-US" altLang="zh-CN" i="1" dirty="0" smtClean="0">
                <a:sym typeface="Symbol" pitchFamily="18" charset="2"/>
              </a:rPr>
              <a:t>x</a:t>
            </a:r>
            <a:r>
              <a:rPr lang="en-US" altLang="zh-CN" dirty="0" smtClean="0">
                <a:sym typeface="Symbol" pitchFamily="18" charset="2"/>
              </a:rPr>
              <a:t>=- </a:t>
            </a:r>
            <a:r>
              <a:rPr lang="en-US" altLang="zh-CN" i="1" dirty="0" smtClean="0">
                <a:sym typeface="Symbol" pitchFamily="18" charset="2"/>
              </a:rPr>
              <a:t>x</a:t>
            </a:r>
            <a:r>
              <a:rPr lang="en-US" altLang="zh-CN" dirty="0" smtClean="0">
                <a:sym typeface="Symbol" pitchFamily="18" charset="2"/>
              </a:rPr>
              <a:t>.</a:t>
            </a:r>
          </a:p>
          <a:p>
            <a:pPr eaLnBrk="1" hangingPunct="1">
              <a:lnSpc>
                <a:spcPct val="90000"/>
              </a:lnSpc>
              <a:defRPr/>
            </a:pPr>
            <a:endParaRPr lang="en-US" altLang="zh-CN" dirty="0" smtClean="0">
              <a:sym typeface="Symbol" pitchFamily="18" charset="2"/>
            </a:endParaRPr>
          </a:p>
          <a:p>
            <a:pPr eaLnBrk="1" hangingPunct="1">
              <a:lnSpc>
                <a:spcPct val="90000"/>
              </a:lnSpc>
              <a:defRPr/>
            </a:pPr>
            <a:r>
              <a:rPr lang="en-US" altLang="zh-CN" dirty="0" smtClean="0">
                <a:sym typeface="Symbol" pitchFamily="18" charset="2"/>
              </a:rPr>
              <a:t> </a:t>
            </a:r>
            <a:r>
              <a:rPr lang="zh-CN" altLang="en-US" dirty="0" smtClean="0">
                <a:sym typeface="Symbol" pitchFamily="18" charset="2"/>
              </a:rPr>
              <a:t>定理</a:t>
            </a:r>
            <a:r>
              <a:rPr lang="en-US" altLang="zh-CN" dirty="0" smtClean="0">
                <a:sym typeface="Symbol" pitchFamily="18" charset="2"/>
              </a:rPr>
              <a:t> 2.1</a:t>
            </a:r>
          </a:p>
          <a:p>
            <a:pPr lvl="1" eaLnBrk="1" hangingPunct="1">
              <a:lnSpc>
                <a:spcPct val="90000"/>
              </a:lnSpc>
              <a:defRPr/>
            </a:pPr>
            <a:r>
              <a:rPr lang="en-US" altLang="zh-CN" dirty="0" smtClean="0">
                <a:latin typeface="+mn-lt"/>
                <a:ea typeface="+mn-ea"/>
                <a:sym typeface="Symbol" pitchFamily="18" charset="2"/>
              </a:rPr>
              <a:t> </a:t>
            </a:r>
            <a:r>
              <a:rPr lang="en-US" altLang="zh-CN" i="1" dirty="0" smtClean="0">
                <a:latin typeface="+mn-lt"/>
                <a:ea typeface="+mn-ea"/>
                <a:sym typeface="Symbol" pitchFamily="18" charset="2"/>
              </a:rPr>
              <a:t>f(x)</a:t>
            </a:r>
            <a:r>
              <a:rPr lang="en-US" altLang="zh-CN" dirty="0" smtClean="0">
                <a:latin typeface="+mn-lt"/>
                <a:ea typeface="+mn-ea"/>
                <a:sym typeface="Symbol" pitchFamily="18" charset="2"/>
              </a:rPr>
              <a:t> </a:t>
            </a:r>
            <a:r>
              <a:rPr lang="zh-CN" altLang="en-US" dirty="0" smtClean="0">
                <a:latin typeface="+mn-lt"/>
                <a:ea typeface="+mn-ea"/>
                <a:sym typeface="Symbol" pitchFamily="18" charset="2"/>
              </a:rPr>
              <a:t>是单调递增函数，使得若</a:t>
            </a:r>
            <a:r>
              <a:rPr lang="en-US" altLang="zh-CN" i="1" dirty="0" smtClean="0">
                <a:latin typeface="+mn-lt"/>
                <a:ea typeface="+mn-ea"/>
                <a:sym typeface="Symbol" pitchFamily="18" charset="2"/>
              </a:rPr>
              <a:t>f(x)</a:t>
            </a:r>
            <a:r>
              <a:rPr lang="en-US" altLang="zh-CN" dirty="0" smtClean="0">
                <a:latin typeface="+mn-lt"/>
                <a:ea typeface="+mn-ea"/>
                <a:sym typeface="Symbol" pitchFamily="18" charset="2"/>
              </a:rPr>
              <a:t> </a:t>
            </a:r>
            <a:r>
              <a:rPr lang="zh-CN" altLang="en-US" dirty="0" smtClean="0">
                <a:latin typeface="+mn-lt"/>
                <a:ea typeface="+mn-ea"/>
                <a:sym typeface="Symbol" pitchFamily="18" charset="2"/>
              </a:rPr>
              <a:t>是整数，则</a:t>
            </a:r>
            <a:r>
              <a:rPr lang="en-US" altLang="zh-CN" dirty="0" smtClean="0">
                <a:latin typeface="+mn-lt"/>
                <a:ea typeface="+mn-ea"/>
                <a:sym typeface="Symbol" pitchFamily="18" charset="2"/>
              </a:rPr>
              <a:t>x</a:t>
            </a:r>
            <a:r>
              <a:rPr lang="zh-CN" altLang="en-US" dirty="0" smtClean="0">
                <a:latin typeface="+mn-lt"/>
                <a:ea typeface="+mn-ea"/>
                <a:sym typeface="Symbol" pitchFamily="18" charset="2"/>
              </a:rPr>
              <a:t>是整数。</a:t>
            </a:r>
            <a:endParaRPr lang="en-US" altLang="zh-CN" dirty="0" smtClean="0">
              <a:latin typeface="+mn-lt"/>
              <a:ea typeface="+mn-ea"/>
              <a:sym typeface="Symbol" pitchFamily="18" charset="2"/>
            </a:endParaRPr>
          </a:p>
          <a:p>
            <a:pPr lvl="1" eaLnBrk="1" hangingPunct="1">
              <a:lnSpc>
                <a:spcPct val="90000"/>
              </a:lnSpc>
              <a:buFontTx/>
              <a:buNone/>
              <a:defRPr/>
            </a:pPr>
            <a:r>
              <a:rPr lang="en-US" altLang="zh-CN" dirty="0" smtClean="0">
                <a:latin typeface="+mn-lt"/>
                <a:ea typeface="+mn-ea"/>
                <a:sym typeface="Symbol" pitchFamily="18" charset="2"/>
              </a:rPr>
              <a:t>       </a:t>
            </a:r>
            <a:r>
              <a:rPr lang="zh-CN" altLang="en-US" dirty="0" smtClean="0">
                <a:latin typeface="+mn-lt"/>
                <a:ea typeface="+mn-ea"/>
                <a:sym typeface="Symbol" pitchFamily="18" charset="2"/>
              </a:rPr>
              <a:t>那么</a:t>
            </a:r>
            <a:r>
              <a:rPr lang="en-US" altLang="zh-CN" dirty="0" smtClean="0">
                <a:latin typeface="+mn-lt"/>
                <a:ea typeface="+mn-ea"/>
                <a:sym typeface="Symbol" pitchFamily="18" charset="2"/>
              </a:rPr>
              <a:t> f(x)= f(x) </a:t>
            </a:r>
            <a:r>
              <a:rPr lang="zh-CN" altLang="en-US" dirty="0" smtClean="0">
                <a:latin typeface="+mn-lt"/>
                <a:ea typeface="+mn-ea"/>
                <a:sym typeface="Symbol" pitchFamily="18" charset="2"/>
              </a:rPr>
              <a:t>且</a:t>
            </a:r>
            <a:r>
              <a:rPr lang="en-US" altLang="zh-CN" dirty="0" smtClean="0">
                <a:latin typeface="+mn-lt"/>
                <a:ea typeface="+mn-ea"/>
                <a:sym typeface="Symbol" pitchFamily="18" charset="2"/>
              </a:rPr>
              <a:t> f(</a:t>
            </a:r>
            <a:r>
              <a:rPr lang="en-US" altLang="zh-CN" i="1" dirty="0" smtClean="0">
                <a:latin typeface="+mn-lt"/>
                <a:ea typeface="+mn-ea"/>
                <a:sym typeface="Symbol" pitchFamily="18" charset="2"/>
              </a:rPr>
              <a:t>x</a:t>
            </a:r>
            <a:r>
              <a:rPr lang="en-US" altLang="zh-CN" dirty="0" smtClean="0">
                <a:latin typeface="+mn-lt"/>
                <a:ea typeface="+mn-ea"/>
                <a:sym typeface="Symbol" pitchFamily="18" charset="2"/>
              </a:rPr>
              <a:t>)=f(</a:t>
            </a:r>
            <a:r>
              <a:rPr lang="en-US" altLang="zh-CN" i="1" dirty="0" smtClean="0">
                <a:latin typeface="+mn-lt"/>
                <a:ea typeface="+mn-ea"/>
                <a:sym typeface="Symbol" pitchFamily="18" charset="2"/>
              </a:rPr>
              <a:t>x)</a:t>
            </a:r>
            <a:r>
              <a:rPr lang="en-US" altLang="zh-CN" dirty="0" smtClean="0">
                <a:latin typeface="+mn-lt"/>
                <a:ea typeface="+mn-ea"/>
                <a:sym typeface="Symbol" pitchFamily="18" charset="2"/>
              </a:rPr>
              <a:t>.</a:t>
            </a:r>
            <a:endParaRPr lang="en-US" altLang="zh-CN" dirty="0" smtClean="0">
              <a:latin typeface="+mn-lt"/>
              <a:ea typeface="+mn-ea"/>
            </a:endParaRPr>
          </a:p>
        </p:txBody>
      </p:sp>
      <p:pic>
        <p:nvPicPr>
          <p:cNvPr id="63493" name="Picture 5" descr="theore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4365625"/>
            <a:ext cx="5334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494"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14563" y="2786063"/>
            <a:ext cx="4524375"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513350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67587" name="Rectangle 2"/>
          <p:cNvSpPr>
            <a:spLocks noGrp="1" noChangeArrowheads="1"/>
          </p:cNvSpPr>
          <p:nvPr>
            <p:ph type="title"/>
          </p:nvPr>
        </p:nvSpPr>
        <p:spPr>
          <a:xfrm>
            <a:off x="900113" y="183356"/>
            <a:ext cx="8229600" cy="995363"/>
          </a:xfrm>
        </p:spPr>
        <p:txBody>
          <a:bodyPr/>
          <a:lstStyle/>
          <a:p>
            <a:pPr eaLnBrk="1" hangingPunct="1"/>
            <a:r>
              <a:rPr lang="en-US" altLang="zh-CN" dirty="0">
                <a:solidFill>
                  <a:srgbClr val="333399"/>
                </a:solidFill>
                <a:latin typeface="华文楷体"/>
              </a:rPr>
              <a:t>1.3.5 </a:t>
            </a:r>
            <a:r>
              <a:rPr lang="zh-CN" altLang="en-US" dirty="0">
                <a:solidFill>
                  <a:srgbClr val="FF0000"/>
                </a:solidFill>
                <a:latin typeface="华文楷体"/>
              </a:rPr>
              <a:t>阶乘</a:t>
            </a:r>
            <a:r>
              <a:rPr lang="zh-CN" altLang="en-US" dirty="0">
                <a:solidFill>
                  <a:srgbClr val="333399"/>
                </a:solidFill>
                <a:latin typeface="华文楷体"/>
              </a:rPr>
              <a:t>和二项式系数</a:t>
            </a:r>
            <a:endParaRPr lang="en-US" altLang="zh-CN" sz="2800" dirty="0" smtClean="0"/>
          </a:p>
        </p:txBody>
      </p:sp>
      <p:sp>
        <p:nvSpPr>
          <p:cNvPr id="108547" name="Rectangle 3"/>
          <p:cNvSpPr>
            <a:spLocks noGrp="1" noChangeArrowheads="1"/>
          </p:cNvSpPr>
          <p:nvPr>
            <p:ph type="body" idx="1"/>
          </p:nvPr>
        </p:nvSpPr>
        <p:spPr/>
        <p:txBody>
          <a:bodyPr/>
          <a:lstStyle/>
          <a:p>
            <a:pPr eaLnBrk="1" hangingPunct="1">
              <a:defRPr/>
            </a:pPr>
            <a:r>
              <a:rPr lang="zh-CN" altLang="en-US" dirty="0" smtClean="0"/>
              <a:t>排列</a:t>
            </a:r>
            <a:r>
              <a:rPr lang="en-US" altLang="zh-CN" dirty="0" smtClean="0"/>
              <a:t>: </a:t>
            </a:r>
          </a:p>
          <a:p>
            <a:pPr lvl="1" eaLnBrk="1" hangingPunct="1">
              <a:defRPr/>
            </a:pPr>
            <a:r>
              <a:rPr lang="en-US" altLang="zh-CN" dirty="0" smtClean="0">
                <a:latin typeface="+mn-lt"/>
                <a:ea typeface="+mn-ea"/>
              </a:rPr>
              <a:t>n</a:t>
            </a:r>
            <a:r>
              <a:rPr lang="zh-CN" altLang="en-US" dirty="0" smtClean="0">
                <a:latin typeface="+mn-lt"/>
                <a:ea typeface="+mn-ea"/>
              </a:rPr>
              <a:t>个不同对象的</a:t>
            </a:r>
            <a:r>
              <a:rPr lang="zh-CN" altLang="en-US" dirty="0" smtClean="0">
                <a:solidFill>
                  <a:srgbClr val="FF0000"/>
                </a:solidFill>
                <a:latin typeface="+mn-lt"/>
                <a:ea typeface="+mn-ea"/>
              </a:rPr>
              <a:t>排列</a:t>
            </a:r>
            <a:r>
              <a:rPr lang="zh-CN" altLang="en-US" dirty="0" smtClean="0">
                <a:latin typeface="+mn-lt"/>
                <a:ea typeface="+mn-ea"/>
              </a:rPr>
              <a:t>，定义为这些对象排成一排。例如</a:t>
            </a:r>
            <a:r>
              <a:rPr lang="en-US" altLang="zh-CN" dirty="0" err="1" smtClean="0">
                <a:latin typeface="+mn-lt"/>
                <a:ea typeface="+mn-ea"/>
              </a:rPr>
              <a:t>a,b,c</a:t>
            </a:r>
            <a:r>
              <a:rPr lang="zh-CN" altLang="en-US" dirty="0" smtClean="0">
                <a:latin typeface="+mn-lt"/>
                <a:ea typeface="+mn-ea"/>
              </a:rPr>
              <a:t>三个元素有</a:t>
            </a:r>
            <a:r>
              <a:rPr lang="en-US" altLang="zh-CN" dirty="0" smtClean="0">
                <a:latin typeface="+mn-lt"/>
                <a:ea typeface="+mn-ea"/>
              </a:rPr>
              <a:t>6</a:t>
            </a:r>
            <a:r>
              <a:rPr lang="zh-CN" altLang="en-US" dirty="0" smtClean="0">
                <a:latin typeface="+mn-lt"/>
                <a:ea typeface="+mn-ea"/>
              </a:rPr>
              <a:t>种排列，分别是</a:t>
            </a:r>
            <a:endParaRPr lang="en-US" altLang="zh-CN" dirty="0" smtClean="0">
              <a:latin typeface="+mn-lt"/>
              <a:ea typeface="+mn-ea"/>
            </a:endParaRPr>
          </a:p>
          <a:p>
            <a:pPr lvl="1" eaLnBrk="1" hangingPunct="1">
              <a:buFontTx/>
              <a:buNone/>
              <a:defRPr/>
            </a:pPr>
            <a:r>
              <a:rPr lang="en-US" altLang="zh-CN" dirty="0" smtClean="0">
                <a:latin typeface="+mn-lt"/>
                <a:ea typeface="+mn-ea"/>
              </a:rPr>
              <a:t>                     </a:t>
            </a:r>
            <a:r>
              <a:rPr lang="en-US" altLang="zh-CN" dirty="0" err="1" smtClean="0">
                <a:latin typeface="+mn-lt"/>
                <a:ea typeface="+mn-ea"/>
              </a:rPr>
              <a:t>abc</a:t>
            </a:r>
            <a:r>
              <a:rPr lang="en-US" altLang="zh-CN" dirty="0" smtClean="0">
                <a:latin typeface="+mn-lt"/>
                <a:ea typeface="+mn-ea"/>
              </a:rPr>
              <a:t>,  </a:t>
            </a:r>
            <a:r>
              <a:rPr lang="en-US" altLang="zh-CN" dirty="0" err="1" smtClean="0">
                <a:latin typeface="+mn-lt"/>
                <a:ea typeface="+mn-ea"/>
              </a:rPr>
              <a:t>acb</a:t>
            </a:r>
            <a:r>
              <a:rPr lang="en-US" altLang="zh-CN" dirty="0" smtClean="0">
                <a:latin typeface="+mn-lt"/>
                <a:ea typeface="+mn-ea"/>
              </a:rPr>
              <a:t>,  </a:t>
            </a:r>
            <a:r>
              <a:rPr lang="en-US" altLang="zh-CN" dirty="0" err="1" smtClean="0">
                <a:latin typeface="+mn-lt"/>
                <a:ea typeface="+mn-ea"/>
              </a:rPr>
              <a:t>bac</a:t>
            </a:r>
            <a:r>
              <a:rPr lang="en-US" altLang="zh-CN" dirty="0" smtClean="0">
                <a:latin typeface="+mn-lt"/>
                <a:ea typeface="+mn-ea"/>
              </a:rPr>
              <a:t>, </a:t>
            </a:r>
            <a:r>
              <a:rPr lang="en-US" altLang="zh-CN" dirty="0" err="1" smtClean="0">
                <a:latin typeface="+mn-lt"/>
                <a:ea typeface="+mn-ea"/>
              </a:rPr>
              <a:t>bca</a:t>
            </a:r>
            <a:r>
              <a:rPr lang="en-US" altLang="zh-CN" dirty="0" smtClean="0">
                <a:latin typeface="+mn-lt"/>
                <a:ea typeface="+mn-ea"/>
              </a:rPr>
              <a:t>, cab, </a:t>
            </a:r>
            <a:r>
              <a:rPr lang="en-US" altLang="zh-CN" dirty="0" err="1" smtClean="0">
                <a:latin typeface="+mn-lt"/>
                <a:ea typeface="+mn-ea"/>
              </a:rPr>
              <a:t>cba</a:t>
            </a:r>
            <a:endParaRPr lang="en-US" altLang="zh-CN" dirty="0" smtClean="0">
              <a:latin typeface="+mn-lt"/>
              <a:ea typeface="+mn-ea"/>
            </a:endParaRPr>
          </a:p>
          <a:p>
            <a:pPr lvl="1" eaLnBrk="1" hangingPunct="1">
              <a:buFontTx/>
              <a:buNone/>
              <a:defRPr/>
            </a:pPr>
            <a:r>
              <a:rPr lang="zh-CN" altLang="en-US" dirty="0" smtClean="0">
                <a:latin typeface="+mn-ea"/>
                <a:ea typeface="+mn-ea"/>
              </a:rPr>
              <a:t>排列与元素的</a:t>
            </a:r>
            <a:r>
              <a:rPr lang="zh-CN" altLang="en-US" dirty="0" smtClean="0">
                <a:solidFill>
                  <a:srgbClr val="FF0000"/>
                </a:solidFill>
                <a:latin typeface="+mn-ea"/>
                <a:ea typeface="+mn-ea"/>
              </a:rPr>
              <a:t>顺序有关</a:t>
            </a:r>
            <a:r>
              <a:rPr lang="zh-CN" altLang="en-US" dirty="0" smtClean="0">
                <a:latin typeface="+mn-ea"/>
                <a:ea typeface="+mn-ea"/>
              </a:rPr>
              <a:t>。</a:t>
            </a:r>
            <a:endParaRPr lang="en-US" altLang="zh-CN" dirty="0" smtClean="0">
              <a:latin typeface="+mn-ea"/>
              <a:ea typeface="+mn-ea"/>
            </a:endParaRPr>
          </a:p>
          <a:p>
            <a:pPr eaLnBrk="1" hangingPunct="1">
              <a:defRPr/>
            </a:pPr>
            <a:r>
              <a:rPr lang="zh-CN" altLang="en-US" dirty="0" smtClean="0"/>
              <a:t>排列数</a:t>
            </a:r>
            <a:r>
              <a:rPr lang="en-US" altLang="zh-CN" dirty="0" smtClean="0"/>
              <a:t>:</a:t>
            </a:r>
          </a:p>
          <a:p>
            <a:pPr lvl="1" eaLnBrk="1" hangingPunct="1">
              <a:defRPr/>
            </a:pPr>
            <a:r>
              <a:rPr lang="en-US" altLang="zh-CN" dirty="0" smtClean="0">
                <a:latin typeface="+mn-lt"/>
                <a:ea typeface="+mn-ea"/>
              </a:rPr>
              <a:t>n</a:t>
            </a:r>
            <a:r>
              <a:rPr lang="zh-CN" altLang="en-US" dirty="0" smtClean="0">
                <a:latin typeface="+mn-lt"/>
                <a:ea typeface="+mn-ea"/>
              </a:rPr>
              <a:t>个对象中每次取</a:t>
            </a:r>
            <a:r>
              <a:rPr lang="en-US" altLang="zh-CN" dirty="0" smtClean="0">
                <a:latin typeface="+mn-lt"/>
                <a:ea typeface="+mn-ea"/>
              </a:rPr>
              <a:t>k</a:t>
            </a:r>
            <a:r>
              <a:rPr lang="zh-CN" altLang="en-US" dirty="0" smtClean="0">
                <a:latin typeface="+mn-lt"/>
                <a:ea typeface="+mn-ea"/>
              </a:rPr>
              <a:t>个对象的排列数</a:t>
            </a:r>
            <a:r>
              <a:rPr lang="en-US" altLang="zh-CN" dirty="0" smtClean="0">
                <a:latin typeface="+mn-lt"/>
                <a:ea typeface="+mn-ea"/>
              </a:rPr>
              <a:t>: </a:t>
            </a:r>
          </a:p>
          <a:p>
            <a:pPr lvl="1" eaLnBrk="1" hangingPunct="1">
              <a:buFontTx/>
              <a:buNone/>
              <a:defRPr/>
            </a:pPr>
            <a:r>
              <a:rPr lang="en-US" altLang="zh-CN" dirty="0" smtClean="0">
                <a:latin typeface="+mn-lt"/>
                <a:ea typeface="+mn-ea"/>
              </a:rPr>
              <a:t>                 </a:t>
            </a:r>
            <a:r>
              <a:rPr lang="en-US" altLang="zh-CN" dirty="0" err="1" smtClean="0">
                <a:solidFill>
                  <a:srgbClr val="FF0000"/>
                </a:solidFill>
                <a:latin typeface="+mn-lt"/>
                <a:ea typeface="+mn-ea"/>
              </a:rPr>
              <a:t>P</a:t>
            </a:r>
            <a:r>
              <a:rPr lang="en-US" altLang="zh-CN" baseline="-25000" dirty="0" err="1" smtClean="0">
                <a:solidFill>
                  <a:srgbClr val="FF0000"/>
                </a:solidFill>
                <a:latin typeface="+mn-lt"/>
                <a:ea typeface="+mn-ea"/>
              </a:rPr>
              <a:t>k</a:t>
            </a:r>
            <a:r>
              <a:rPr lang="en-US" altLang="zh-CN" baseline="30000" dirty="0" err="1" smtClean="0">
                <a:solidFill>
                  <a:srgbClr val="FF0000"/>
                </a:solidFill>
                <a:latin typeface="+mn-lt"/>
                <a:ea typeface="+mn-ea"/>
              </a:rPr>
              <a:t>n</a:t>
            </a:r>
            <a:r>
              <a:rPr lang="en-US" altLang="zh-CN" dirty="0" smtClean="0">
                <a:latin typeface="+mn-lt"/>
                <a:ea typeface="+mn-ea"/>
              </a:rPr>
              <a:t>=n(n-1)…(n-k+1)=</a:t>
            </a:r>
            <a:r>
              <a:rPr lang="en-US" dirty="0" smtClean="0"/>
              <a:t> </a:t>
            </a:r>
            <a:r>
              <a:rPr lang="en-US" dirty="0" smtClean="0">
                <a:solidFill>
                  <a:srgbClr val="FF0000"/>
                </a:solidFill>
                <a:latin typeface="+mn-lt"/>
              </a:rPr>
              <a:t>n!/(n-</a:t>
            </a:r>
            <a:r>
              <a:rPr lang="en-US" altLang="zh-CN" dirty="0" smtClean="0">
                <a:solidFill>
                  <a:srgbClr val="FF0000"/>
                </a:solidFill>
                <a:latin typeface="+mn-lt"/>
              </a:rPr>
              <a:t>k</a:t>
            </a:r>
            <a:r>
              <a:rPr lang="en-US" dirty="0" smtClean="0">
                <a:solidFill>
                  <a:srgbClr val="FF0000"/>
                </a:solidFill>
                <a:latin typeface="+mn-lt"/>
              </a:rPr>
              <a:t>)!</a:t>
            </a:r>
            <a:endParaRPr lang="en-US" altLang="zh-CN" dirty="0" smtClean="0">
              <a:solidFill>
                <a:srgbClr val="FF0000"/>
              </a:solidFill>
              <a:latin typeface="+mn-lt"/>
              <a:ea typeface="+mn-ea"/>
            </a:endParaRPr>
          </a:p>
          <a:p>
            <a:pPr lvl="1" eaLnBrk="1" hangingPunct="1">
              <a:defRPr/>
            </a:pPr>
            <a:r>
              <a:rPr lang="en-US" altLang="zh-CN" dirty="0" smtClean="0">
                <a:latin typeface="+mn-lt"/>
                <a:ea typeface="+mn-ea"/>
              </a:rPr>
              <a:t>n</a:t>
            </a:r>
            <a:r>
              <a:rPr lang="zh-CN" altLang="en-US" dirty="0" smtClean="0">
                <a:latin typeface="+mn-lt"/>
                <a:ea typeface="+mn-ea"/>
              </a:rPr>
              <a:t>个对象的排列数</a:t>
            </a:r>
            <a:r>
              <a:rPr lang="en-US" altLang="zh-CN" dirty="0" smtClean="0">
                <a:latin typeface="+mn-lt"/>
                <a:ea typeface="+mn-ea"/>
              </a:rPr>
              <a:t>: </a:t>
            </a:r>
            <a:r>
              <a:rPr lang="en-US" altLang="zh-CN" dirty="0" err="1" smtClean="0">
                <a:latin typeface="+mn-lt"/>
                <a:ea typeface="+mn-ea"/>
              </a:rPr>
              <a:t>P</a:t>
            </a:r>
            <a:r>
              <a:rPr lang="en-US" altLang="zh-CN" baseline="-25000" dirty="0" err="1" smtClean="0">
                <a:latin typeface="+mn-lt"/>
                <a:ea typeface="+mn-ea"/>
              </a:rPr>
              <a:t>n</a:t>
            </a:r>
            <a:r>
              <a:rPr lang="en-US" altLang="zh-CN" baseline="30000" dirty="0" err="1" smtClean="0">
                <a:latin typeface="+mn-lt"/>
                <a:ea typeface="+mn-ea"/>
              </a:rPr>
              <a:t>n</a:t>
            </a:r>
            <a:r>
              <a:rPr lang="en-US" altLang="zh-CN" dirty="0" smtClean="0">
                <a:latin typeface="+mn-lt"/>
                <a:ea typeface="+mn-ea"/>
              </a:rPr>
              <a:t>=1</a:t>
            </a:r>
            <a:r>
              <a:rPr lang="en-US" altLang="zh-CN" dirty="0" smtClean="0">
                <a:latin typeface="+mn-lt"/>
                <a:ea typeface="+mn-ea"/>
                <a:sym typeface="Symbol" pitchFamily="18" charset="2"/>
              </a:rPr>
              <a:t>2…</a:t>
            </a:r>
            <a:r>
              <a:rPr lang="en-US" altLang="zh-CN" dirty="0" smtClean="0">
                <a:latin typeface="+mn-lt"/>
                <a:ea typeface="+mn-ea"/>
              </a:rPr>
              <a:t>n</a:t>
            </a:r>
          </a:p>
          <a:p>
            <a:pPr eaLnBrk="1" hangingPunct="1">
              <a:defRPr/>
            </a:pPr>
            <a:r>
              <a:rPr lang="zh-CN" altLang="en-US" dirty="0" smtClean="0"/>
              <a:t>这个量记为</a:t>
            </a:r>
            <a:r>
              <a:rPr lang="en-US" altLang="zh-CN" dirty="0" smtClean="0"/>
              <a:t>: </a:t>
            </a:r>
            <a:r>
              <a:rPr lang="en-US" altLang="zh-CN" dirty="0" smtClean="0">
                <a:solidFill>
                  <a:srgbClr val="FF0000"/>
                </a:solidFill>
              </a:rPr>
              <a:t>n!= 1</a:t>
            </a:r>
            <a:r>
              <a:rPr lang="en-US" altLang="zh-CN" dirty="0" smtClean="0">
                <a:solidFill>
                  <a:srgbClr val="FF0000"/>
                </a:solidFill>
                <a:sym typeface="Symbol" pitchFamily="18" charset="2"/>
              </a:rPr>
              <a:t>2…</a:t>
            </a:r>
            <a:r>
              <a:rPr lang="en-US" altLang="zh-CN" dirty="0" smtClean="0">
                <a:solidFill>
                  <a:srgbClr val="FF0000"/>
                </a:solidFill>
              </a:rPr>
              <a:t>n</a:t>
            </a:r>
          </a:p>
          <a:p>
            <a:pPr lvl="1" eaLnBrk="1" hangingPunct="1">
              <a:defRPr/>
            </a:pPr>
            <a:r>
              <a:rPr lang="en-US" altLang="zh-CN" dirty="0" smtClean="0">
                <a:latin typeface="+mn-lt"/>
                <a:ea typeface="+mn-ea"/>
              </a:rPr>
              <a:t>0!= 1</a:t>
            </a:r>
            <a:r>
              <a:rPr lang="zh-CN" altLang="en-US" dirty="0" smtClean="0">
                <a:latin typeface="+mn-lt"/>
                <a:ea typeface="+mn-ea"/>
              </a:rPr>
              <a:t>；如果</a:t>
            </a:r>
            <a:r>
              <a:rPr lang="en-US" altLang="zh-CN" sz="2000" dirty="0" smtClean="0"/>
              <a:t>n</a:t>
            </a:r>
            <a:r>
              <a:rPr lang="en-US" altLang="zh-CN" sz="2000" dirty="0" smtClean="0">
                <a:sym typeface="Symbol" pitchFamily="18" charset="2"/>
              </a:rPr>
              <a:t>1 </a:t>
            </a:r>
            <a:r>
              <a:rPr lang="zh-CN" altLang="en-US" sz="2000" dirty="0" smtClean="0">
                <a:sym typeface="Symbol" pitchFamily="18" charset="2"/>
              </a:rPr>
              <a:t>，</a:t>
            </a:r>
            <a:r>
              <a:rPr lang="zh-CN" altLang="en-US" sz="2400" dirty="0" smtClean="0">
                <a:latin typeface="华文楷体" panose="02010600040101010101" pitchFamily="2" charset="-122"/>
                <a:ea typeface="华文楷体" panose="02010600040101010101" pitchFamily="2" charset="-122"/>
                <a:sym typeface="Symbol" pitchFamily="18" charset="2"/>
              </a:rPr>
              <a:t>则</a:t>
            </a:r>
            <a:r>
              <a:rPr lang="en-US" altLang="zh-CN" dirty="0" smtClean="0">
                <a:latin typeface="+mn-lt"/>
                <a:ea typeface="+mn-ea"/>
              </a:rPr>
              <a:t>n!= n(n-1)! </a:t>
            </a:r>
          </a:p>
          <a:p>
            <a:pPr lvl="1" eaLnBrk="1" hangingPunct="1">
              <a:defRPr/>
            </a:pPr>
            <a:r>
              <a:rPr lang="en-US" altLang="zh-CN" sz="2000" dirty="0" smtClean="0"/>
              <a:t>n!</a:t>
            </a:r>
            <a:r>
              <a:rPr lang="zh-CN" altLang="en-US" dirty="0" smtClean="0">
                <a:latin typeface="+mn-lt"/>
                <a:ea typeface="+mn-ea"/>
              </a:rPr>
              <a:t>是一个增长非常快的函数</a:t>
            </a:r>
            <a:endParaRPr lang="en-US" altLang="zh-CN" dirty="0" smtClean="0">
              <a:latin typeface="+mn-lt"/>
              <a:ea typeface="+mn-ea"/>
            </a:endParaRPr>
          </a:p>
        </p:txBody>
      </p:sp>
    </p:spTree>
    <p:extLst>
      <p:ext uri="{BB962C8B-B14F-4D97-AF65-F5344CB8AC3E}">
        <p14:creationId xmlns:p14="http://schemas.microsoft.com/office/powerpoint/2010/main" val="8878739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页脚占位符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69635" name="Rectangle 2"/>
          <p:cNvSpPr>
            <a:spLocks noGrp="1" noChangeArrowheads="1"/>
          </p:cNvSpPr>
          <p:nvPr>
            <p:ph type="title"/>
          </p:nvPr>
        </p:nvSpPr>
        <p:spPr/>
        <p:txBody>
          <a:bodyPr/>
          <a:lstStyle/>
          <a:p>
            <a:pPr eaLnBrk="1" hangingPunct="1"/>
            <a:r>
              <a:rPr lang="en-US" altLang="zh-CN" dirty="0">
                <a:solidFill>
                  <a:srgbClr val="333399"/>
                </a:solidFill>
                <a:latin typeface="华文楷体"/>
              </a:rPr>
              <a:t>1.3.5 </a:t>
            </a:r>
            <a:r>
              <a:rPr lang="zh-CN" altLang="en-US" dirty="0">
                <a:solidFill>
                  <a:srgbClr val="333399"/>
                </a:solidFill>
                <a:latin typeface="华文楷体"/>
              </a:rPr>
              <a:t>阶乘和</a:t>
            </a:r>
            <a:r>
              <a:rPr lang="zh-CN" altLang="en-US" dirty="0">
                <a:solidFill>
                  <a:srgbClr val="FF0000"/>
                </a:solidFill>
                <a:latin typeface="华文楷体"/>
              </a:rPr>
              <a:t>二项式系数</a:t>
            </a:r>
            <a:endParaRPr lang="en-US" altLang="zh-CN" dirty="0" smtClean="0">
              <a:solidFill>
                <a:srgbClr val="FF0000"/>
              </a:solidFill>
            </a:endParaRPr>
          </a:p>
        </p:txBody>
      </p:sp>
      <p:sp>
        <p:nvSpPr>
          <p:cNvPr id="69636" name="Rectangle 3"/>
          <p:cNvSpPr>
            <a:spLocks noGrp="1" noChangeArrowheads="1"/>
          </p:cNvSpPr>
          <p:nvPr>
            <p:ph type="body" sz="half" idx="1"/>
          </p:nvPr>
        </p:nvSpPr>
        <p:spPr>
          <a:xfrm>
            <a:off x="925512" y="1196975"/>
            <a:ext cx="8218488" cy="4565650"/>
          </a:xfrm>
        </p:spPr>
        <p:txBody>
          <a:bodyPr/>
          <a:lstStyle/>
          <a:p>
            <a:pPr eaLnBrk="1" hangingPunct="1"/>
            <a:r>
              <a:rPr lang="zh-CN" altLang="en-US" sz="2100" dirty="0" smtClean="0"/>
              <a:t>从</a:t>
            </a:r>
            <a:r>
              <a:rPr lang="en-US" altLang="zh-CN" sz="2100" dirty="0" smtClean="0"/>
              <a:t>n</a:t>
            </a:r>
            <a:r>
              <a:rPr lang="zh-CN" altLang="en-US" sz="2100" dirty="0" smtClean="0"/>
              <a:t>个对象中选取</a:t>
            </a:r>
            <a:r>
              <a:rPr lang="en-US" altLang="zh-CN" sz="2100" dirty="0" smtClean="0"/>
              <a:t>k</a:t>
            </a:r>
            <a:r>
              <a:rPr lang="zh-CN" altLang="en-US" sz="2100" dirty="0" smtClean="0"/>
              <a:t>个对象的可能方法，通常称为从</a:t>
            </a:r>
            <a:r>
              <a:rPr lang="en-US" altLang="zh-CN" sz="2100" dirty="0" smtClean="0"/>
              <a:t>n</a:t>
            </a:r>
            <a:r>
              <a:rPr lang="zh-CN" altLang="en-US" sz="2100" dirty="0" smtClean="0"/>
              <a:t>个对象中一次取出</a:t>
            </a:r>
            <a:r>
              <a:rPr lang="en-US" altLang="zh-CN" sz="2100" dirty="0" smtClean="0"/>
              <a:t>k</a:t>
            </a:r>
            <a:r>
              <a:rPr lang="zh-CN" altLang="en-US" sz="2100" dirty="0" smtClean="0"/>
              <a:t>个对象的</a:t>
            </a:r>
            <a:r>
              <a:rPr lang="zh-CN" altLang="en-US" sz="2100" dirty="0" smtClean="0">
                <a:solidFill>
                  <a:srgbClr val="FF0000"/>
                </a:solidFill>
              </a:rPr>
              <a:t>组合</a:t>
            </a:r>
            <a:r>
              <a:rPr lang="zh-CN" altLang="en-US" sz="2100" dirty="0" smtClean="0"/>
              <a:t>，记做</a:t>
            </a:r>
            <a:r>
              <a:rPr lang="en-US" altLang="zh-CN" sz="2100" dirty="0" err="1" smtClean="0">
                <a:solidFill>
                  <a:srgbClr val="FF0000"/>
                </a:solidFill>
              </a:rPr>
              <a:t>C</a:t>
            </a:r>
            <a:r>
              <a:rPr lang="en-US" altLang="zh-CN" sz="2100" baseline="-25000" dirty="0" err="1" smtClean="0">
                <a:solidFill>
                  <a:srgbClr val="FF0000"/>
                </a:solidFill>
              </a:rPr>
              <a:t>k</a:t>
            </a:r>
            <a:r>
              <a:rPr lang="en-US" altLang="zh-CN" sz="2100" baseline="30000" dirty="0" err="1" smtClean="0">
                <a:solidFill>
                  <a:srgbClr val="FF0000"/>
                </a:solidFill>
              </a:rPr>
              <a:t>n</a:t>
            </a:r>
            <a:r>
              <a:rPr lang="zh-CN" altLang="en-US" sz="2100" dirty="0" smtClean="0"/>
              <a:t>，组合与顺序无关。</a:t>
            </a:r>
            <a:endParaRPr lang="en-US" altLang="zh-CN" sz="2100" dirty="0" smtClean="0"/>
          </a:p>
          <a:p>
            <a:pPr eaLnBrk="1" hangingPunct="1"/>
            <a:r>
              <a:rPr lang="zh-CN" altLang="en-US" sz="2100" dirty="0" smtClean="0"/>
              <a:t>例如从字母</a:t>
            </a:r>
            <a:r>
              <a:rPr lang="en-US" altLang="zh-CN" sz="2100" i="1" dirty="0" err="1" smtClean="0"/>
              <a:t>a,b,c,d</a:t>
            </a:r>
            <a:r>
              <a:rPr lang="zh-CN" altLang="en-US" sz="2100" dirty="0" smtClean="0"/>
              <a:t>中一次取出</a:t>
            </a:r>
            <a:r>
              <a:rPr lang="en-US" altLang="zh-CN" sz="2100" dirty="0" smtClean="0"/>
              <a:t>3</a:t>
            </a:r>
            <a:r>
              <a:rPr lang="zh-CN" altLang="en-US" sz="2100" dirty="0" smtClean="0"/>
              <a:t>个元素的组合有：</a:t>
            </a:r>
            <a:endParaRPr lang="en-US" altLang="zh-CN" sz="2100" dirty="0" smtClean="0"/>
          </a:p>
          <a:p>
            <a:pPr eaLnBrk="1" hangingPunct="1"/>
            <a:r>
              <a:rPr lang="en-US" altLang="zh-CN" sz="2100" dirty="0" smtClean="0"/>
              <a:t>                </a:t>
            </a:r>
            <a:r>
              <a:rPr lang="en-US" altLang="zh-CN" sz="2100" i="1" dirty="0" err="1" smtClean="0"/>
              <a:t>abc</a:t>
            </a:r>
            <a:r>
              <a:rPr lang="en-US" altLang="zh-CN" sz="2100" i="1" dirty="0" smtClean="0"/>
              <a:t>, </a:t>
            </a:r>
            <a:r>
              <a:rPr lang="en-US" altLang="zh-CN" sz="2100" i="1" dirty="0" err="1" smtClean="0"/>
              <a:t>abd</a:t>
            </a:r>
            <a:r>
              <a:rPr lang="en-US" altLang="zh-CN" sz="2100" i="1" dirty="0" smtClean="0"/>
              <a:t>, </a:t>
            </a:r>
            <a:r>
              <a:rPr lang="en-US" altLang="zh-CN" sz="2100" i="1" dirty="0" err="1" smtClean="0"/>
              <a:t>acd</a:t>
            </a:r>
            <a:r>
              <a:rPr lang="en-US" altLang="zh-CN" sz="2100" i="1" dirty="0" smtClean="0"/>
              <a:t>, </a:t>
            </a:r>
            <a:r>
              <a:rPr lang="en-US" altLang="zh-CN" sz="2100" i="1" dirty="0" err="1" smtClean="0"/>
              <a:t>bcd</a:t>
            </a:r>
            <a:r>
              <a:rPr lang="en-US" altLang="zh-CN" sz="2100" i="1" dirty="0" smtClean="0"/>
              <a:t>,</a:t>
            </a:r>
          </a:p>
          <a:p>
            <a:pPr eaLnBrk="1" hangingPunct="1"/>
            <a:r>
              <a:rPr lang="zh-CN" altLang="en-US" sz="2100" dirty="0" smtClean="0"/>
              <a:t>由于顺序在这里并不重要，从</a:t>
            </a:r>
            <a:r>
              <a:rPr lang="en-US" altLang="zh-CN" sz="2100" dirty="0" smtClean="0"/>
              <a:t>n</a:t>
            </a:r>
            <a:r>
              <a:rPr lang="zh-CN" altLang="en-US" sz="2100" dirty="0" smtClean="0"/>
              <a:t>个对象中一次取出</a:t>
            </a:r>
            <a:r>
              <a:rPr lang="en-US" altLang="zh-CN" sz="2100" dirty="0" smtClean="0"/>
              <a:t>k</a:t>
            </a:r>
            <a:r>
              <a:rPr lang="zh-CN" altLang="en-US" sz="2100" dirty="0" smtClean="0"/>
              <a:t>个对象的组合数，等于</a:t>
            </a:r>
            <a:r>
              <a:rPr lang="en-US" altLang="zh-CN" sz="2100" dirty="0" smtClean="0"/>
              <a:t>k</a:t>
            </a:r>
            <a:r>
              <a:rPr lang="zh-CN" altLang="en-US" sz="2100" dirty="0" smtClean="0"/>
              <a:t>！去除从</a:t>
            </a:r>
            <a:r>
              <a:rPr lang="en-US" altLang="zh-CN" sz="2100" dirty="0" smtClean="0"/>
              <a:t>n</a:t>
            </a:r>
            <a:r>
              <a:rPr lang="zh-CN" altLang="en-US" sz="2100" dirty="0" smtClean="0"/>
              <a:t>个对象中一次取出</a:t>
            </a:r>
            <a:r>
              <a:rPr lang="en-US" altLang="zh-CN" sz="2100" dirty="0" smtClean="0"/>
              <a:t>k</a:t>
            </a:r>
            <a:r>
              <a:rPr lang="zh-CN" altLang="en-US" sz="2100" dirty="0" smtClean="0"/>
              <a:t>个对象的排列数，即：</a:t>
            </a:r>
            <a:endParaRPr lang="en-US" altLang="zh-CN" sz="2100" dirty="0" smtClean="0"/>
          </a:p>
          <a:p>
            <a:pPr eaLnBrk="1" hangingPunct="1"/>
            <a:endParaRPr lang="en-US" altLang="zh-CN" sz="2100" baseline="30000" dirty="0" smtClean="0"/>
          </a:p>
          <a:p>
            <a:pPr eaLnBrk="1" hangingPunct="1"/>
            <a:endParaRPr lang="en-US" altLang="zh-CN" sz="2100" baseline="30000" dirty="0" smtClean="0"/>
          </a:p>
          <a:p>
            <a:pPr eaLnBrk="1" hangingPunct="1">
              <a:buFontTx/>
              <a:buNone/>
            </a:pPr>
            <a:r>
              <a:rPr lang="en-US" altLang="zh-CN" sz="2100" dirty="0" smtClean="0"/>
              <a:t>   </a:t>
            </a:r>
          </a:p>
          <a:p>
            <a:pPr eaLnBrk="1" hangingPunct="1">
              <a:buFontTx/>
              <a:buNone/>
            </a:pPr>
            <a:endParaRPr lang="en-US" altLang="zh-CN" sz="2100" dirty="0" smtClean="0"/>
          </a:p>
          <a:p>
            <a:pPr eaLnBrk="1" hangingPunct="1">
              <a:buFontTx/>
              <a:buNone/>
            </a:pPr>
            <a:r>
              <a:rPr lang="en-US" altLang="zh-CN" sz="2100" dirty="0" smtClean="0"/>
              <a:t>     </a:t>
            </a:r>
            <a:r>
              <a:rPr lang="zh-CN" altLang="en-US" sz="2100" dirty="0" smtClean="0"/>
              <a:t>这个量记为         ，读作“</a:t>
            </a:r>
            <a:r>
              <a:rPr lang="en-US" altLang="zh-CN" sz="2100" dirty="0" smtClean="0"/>
              <a:t>n</a:t>
            </a:r>
            <a:r>
              <a:rPr lang="zh-CN" altLang="en-US" sz="2100" dirty="0" smtClean="0"/>
              <a:t>选</a:t>
            </a:r>
            <a:r>
              <a:rPr lang="en-US" altLang="zh-CN" sz="2100" dirty="0" smtClean="0"/>
              <a:t>k</a:t>
            </a:r>
            <a:r>
              <a:rPr lang="zh-CN" altLang="en-US" sz="2100" dirty="0" smtClean="0"/>
              <a:t>”，称为</a:t>
            </a:r>
            <a:r>
              <a:rPr lang="zh-CN" altLang="en-US" sz="2100" dirty="0" smtClean="0">
                <a:solidFill>
                  <a:srgbClr val="FF0000"/>
                </a:solidFill>
              </a:rPr>
              <a:t>二项式系数</a:t>
            </a:r>
            <a:r>
              <a:rPr lang="zh-CN" altLang="en-US" sz="2100" dirty="0" smtClean="0"/>
              <a:t>。</a:t>
            </a:r>
            <a:endParaRPr lang="en-US" altLang="zh-CN" sz="2100" dirty="0" smtClean="0"/>
          </a:p>
          <a:p>
            <a:pPr eaLnBrk="1" hangingPunct="1">
              <a:buFontTx/>
              <a:buNone/>
            </a:pPr>
            <a:r>
              <a:rPr lang="en-US" altLang="zh-CN" sz="2100" dirty="0" smtClean="0"/>
              <a:t>     </a:t>
            </a:r>
            <a:r>
              <a:rPr lang="zh-CN" altLang="en-US" sz="2100" dirty="0" smtClean="0"/>
              <a:t>如：</a:t>
            </a:r>
            <a:endParaRPr lang="en-US" altLang="zh-CN" sz="2100" baseline="30000" dirty="0" smtClean="0"/>
          </a:p>
        </p:txBody>
      </p:sp>
      <p:graphicFrame>
        <p:nvGraphicFramePr>
          <p:cNvPr id="69637" name="Object 4"/>
          <p:cNvGraphicFramePr>
            <a:graphicFrameLocks noGrp="1" noChangeAspect="1"/>
          </p:cNvGraphicFramePr>
          <p:nvPr>
            <p:ph sz="quarter" idx="2"/>
          </p:nvPr>
        </p:nvGraphicFramePr>
        <p:xfrm>
          <a:off x="1714500" y="3465513"/>
          <a:ext cx="6134100" cy="892175"/>
        </p:xfrm>
        <a:graphic>
          <a:graphicData uri="http://schemas.openxmlformats.org/presentationml/2006/ole">
            <mc:AlternateContent xmlns:mc="http://schemas.openxmlformats.org/markup-compatibility/2006">
              <mc:Choice xmlns:v="urn:schemas-microsoft-com:vml" Requires="v">
                <p:oleObj spid="_x0000_s5180" name="公式" r:id="rId4" imgW="3225800" imgH="444500" progId="Equation.3">
                  <p:embed/>
                </p:oleObj>
              </mc:Choice>
              <mc:Fallback>
                <p:oleObj name="公式" r:id="rId4" imgW="3225800" imgH="444500" progId="Equation.3">
                  <p:embed/>
                  <p:pic>
                    <p:nvPicPr>
                      <p:cNvPr id="69637"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14500" y="3465513"/>
                        <a:ext cx="6134100"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9638" name="Object 6"/>
          <p:cNvGraphicFramePr>
            <a:graphicFrameLocks noGrp="1" noChangeAspect="1"/>
          </p:cNvGraphicFramePr>
          <p:nvPr>
            <p:ph sz="quarter" idx="3"/>
          </p:nvPr>
        </p:nvGraphicFramePr>
        <p:xfrm>
          <a:off x="2633663" y="4429125"/>
          <a:ext cx="438150" cy="790575"/>
        </p:xfrm>
        <a:graphic>
          <a:graphicData uri="http://schemas.openxmlformats.org/presentationml/2006/ole">
            <mc:AlternateContent xmlns:mc="http://schemas.openxmlformats.org/markup-compatibility/2006">
              <mc:Choice xmlns:v="urn:schemas-microsoft-com:vml" Requires="v">
                <p:oleObj spid="_x0000_s5181" name="公式" r:id="rId6" imgW="266584" imgH="457002" progId="Equation.3">
                  <p:embed/>
                </p:oleObj>
              </mc:Choice>
              <mc:Fallback>
                <p:oleObj name="公式" r:id="rId6" imgW="266584" imgH="457002" progId="Equation.3">
                  <p:embed/>
                  <p:pic>
                    <p:nvPicPr>
                      <p:cNvPr id="69638"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33663" y="4429125"/>
                        <a:ext cx="438150"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69639"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85938" y="5286375"/>
            <a:ext cx="2533650" cy="78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737644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页脚占位符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71683" name="Rectangle 2"/>
          <p:cNvSpPr>
            <a:spLocks noGrp="1" noChangeArrowheads="1"/>
          </p:cNvSpPr>
          <p:nvPr>
            <p:ph type="title"/>
          </p:nvPr>
        </p:nvSpPr>
        <p:spPr/>
        <p:txBody>
          <a:bodyPr/>
          <a:lstStyle/>
          <a:p>
            <a:pPr eaLnBrk="1" hangingPunct="1"/>
            <a:r>
              <a:rPr lang="en-US" altLang="zh-CN" dirty="0">
                <a:solidFill>
                  <a:srgbClr val="333399"/>
                </a:solidFill>
                <a:latin typeface="华文楷体"/>
              </a:rPr>
              <a:t>1.3.5 </a:t>
            </a:r>
            <a:r>
              <a:rPr lang="zh-CN" altLang="en-US" dirty="0">
                <a:solidFill>
                  <a:srgbClr val="333399"/>
                </a:solidFill>
                <a:latin typeface="华文楷体"/>
              </a:rPr>
              <a:t>阶乘和</a:t>
            </a:r>
            <a:r>
              <a:rPr lang="zh-CN" altLang="en-US" dirty="0">
                <a:solidFill>
                  <a:srgbClr val="FF0000"/>
                </a:solidFill>
                <a:latin typeface="华文楷体"/>
              </a:rPr>
              <a:t>二项式系数</a:t>
            </a:r>
            <a:endParaRPr lang="en-US" altLang="zh-CN" dirty="0" smtClean="0"/>
          </a:p>
        </p:txBody>
      </p:sp>
      <p:sp>
        <p:nvSpPr>
          <p:cNvPr id="71684" name="Rectangle 3"/>
          <p:cNvSpPr>
            <a:spLocks noGrp="1" noChangeArrowheads="1"/>
          </p:cNvSpPr>
          <p:nvPr>
            <p:ph type="body" sz="half" idx="1"/>
          </p:nvPr>
        </p:nvSpPr>
        <p:spPr>
          <a:xfrm>
            <a:off x="714375" y="1214438"/>
            <a:ext cx="8218488" cy="4565650"/>
          </a:xfrm>
        </p:spPr>
        <p:txBody>
          <a:bodyPr/>
          <a:lstStyle/>
          <a:p>
            <a:pPr eaLnBrk="1" hangingPunct="1"/>
            <a:r>
              <a:rPr lang="zh-CN" altLang="zh-CN" sz="2000" b="1" dirty="0" smtClean="0"/>
              <a:t>二项式系数</a:t>
            </a:r>
            <a:r>
              <a:rPr lang="zh-CN" altLang="zh-CN" sz="2000" dirty="0" smtClean="0"/>
              <a:t>在数学上是二项式定理中的系数族。其必然为正整数，且能以两个非负整数为参数确定，此两参数通常以</a:t>
            </a:r>
            <a:r>
              <a:rPr lang="zh-CN" altLang="zh-CN" sz="2000" i="1" dirty="0" smtClean="0"/>
              <a:t>n</a:t>
            </a:r>
            <a:r>
              <a:rPr lang="zh-CN" altLang="zh-CN" sz="2000" dirty="0" smtClean="0"/>
              <a:t>和</a:t>
            </a:r>
            <a:r>
              <a:rPr lang="zh-CN" altLang="zh-CN" sz="2000" i="1" dirty="0" smtClean="0"/>
              <a:t>k</a:t>
            </a:r>
            <a:r>
              <a:rPr lang="zh-CN" altLang="zh-CN" sz="2000" dirty="0" smtClean="0"/>
              <a:t>代表，并将二项式系数写作，亦即是</a:t>
            </a:r>
            <a:r>
              <a:rPr lang="zh-CN" altLang="zh-CN" sz="2000" dirty="0" smtClean="0">
                <a:solidFill>
                  <a:srgbClr val="FF0000"/>
                </a:solidFill>
              </a:rPr>
              <a:t>二项式幂(1 + </a:t>
            </a:r>
            <a:r>
              <a:rPr lang="zh-CN" altLang="zh-CN" sz="2000" i="1" dirty="0" smtClean="0">
                <a:solidFill>
                  <a:srgbClr val="FF0000"/>
                </a:solidFill>
              </a:rPr>
              <a:t>x</a:t>
            </a:r>
            <a:r>
              <a:rPr lang="zh-CN" altLang="zh-CN" sz="2000" dirty="0" smtClean="0">
                <a:solidFill>
                  <a:srgbClr val="FF0000"/>
                </a:solidFill>
              </a:rPr>
              <a:t>)</a:t>
            </a:r>
            <a:r>
              <a:rPr lang="zh-CN" altLang="zh-CN" sz="2000" baseline="30000" dirty="0" smtClean="0">
                <a:solidFill>
                  <a:srgbClr val="FF0000"/>
                </a:solidFill>
              </a:rPr>
              <a:t> </a:t>
            </a:r>
            <a:r>
              <a:rPr lang="zh-CN" altLang="zh-CN" sz="2000" i="1" baseline="30000" dirty="0" smtClean="0">
                <a:solidFill>
                  <a:srgbClr val="FF0000"/>
                </a:solidFill>
              </a:rPr>
              <a:t>n</a:t>
            </a:r>
            <a:r>
              <a:rPr lang="zh-CN" altLang="zh-CN" sz="2000" dirty="0" smtClean="0">
                <a:solidFill>
                  <a:srgbClr val="FF0000"/>
                </a:solidFill>
              </a:rPr>
              <a:t>的多项式展式中，</a:t>
            </a:r>
            <a:r>
              <a:rPr lang="zh-CN" altLang="zh-CN" sz="2000" i="1" dirty="0" smtClean="0">
                <a:solidFill>
                  <a:srgbClr val="FF0000"/>
                </a:solidFill>
              </a:rPr>
              <a:t>x</a:t>
            </a:r>
            <a:r>
              <a:rPr lang="zh-CN" altLang="zh-CN" sz="2000" baseline="30000" dirty="0" smtClean="0">
                <a:solidFill>
                  <a:srgbClr val="FF0000"/>
                </a:solidFill>
              </a:rPr>
              <a:t> </a:t>
            </a:r>
            <a:r>
              <a:rPr lang="zh-CN" altLang="zh-CN" sz="2000" i="1" baseline="30000" dirty="0" smtClean="0">
                <a:solidFill>
                  <a:srgbClr val="FF0000"/>
                </a:solidFill>
              </a:rPr>
              <a:t>k</a:t>
            </a:r>
            <a:r>
              <a:rPr lang="zh-CN" altLang="zh-CN" sz="2000" dirty="0" smtClean="0">
                <a:solidFill>
                  <a:srgbClr val="FF0000"/>
                </a:solidFill>
              </a:rPr>
              <a:t>项的系数</a:t>
            </a:r>
            <a:r>
              <a:rPr lang="zh-CN" altLang="zh-CN" sz="2000" dirty="0" smtClean="0"/>
              <a:t>。</a:t>
            </a:r>
            <a:r>
              <a:rPr lang="zh-CN" altLang="en-US" sz="2000" dirty="0" smtClean="0"/>
              <a:t>如下：</a:t>
            </a:r>
            <a:endParaRPr lang="en-US" altLang="zh-CN" sz="2000" dirty="0" smtClean="0"/>
          </a:p>
          <a:p>
            <a:pPr eaLnBrk="1" hangingPunct="1"/>
            <a:endParaRPr lang="en-US" altLang="zh-CN" sz="2400" dirty="0" smtClean="0"/>
          </a:p>
          <a:p>
            <a:pPr eaLnBrk="1" hangingPunct="1"/>
            <a:endParaRPr lang="en-US" altLang="zh-CN" sz="2400" dirty="0" smtClean="0"/>
          </a:p>
          <a:p>
            <a:pPr eaLnBrk="1" hangingPunct="1"/>
            <a:endParaRPr lang="en-US" altLang="zh-CN" sz="2400" dirty="0" smtClean="0"/>
          </a:p>
          <a:p>
            <a:pPr eaLnBrk="1" hangingPunct="1"/>
            <a:endParaRPr lang="en-US" altLang="zh-CN" sz="2000" dirty="0" smtClean="0"/>
          </a:p>
          <a:p>
            <a:pPr eaLnBrk="1" hangingPunct="1"/>
            <a:r>
              <a:rPr lang="zh-CN" altLang="zh-CN" sz="2000" dirty="0" smtClean="0"/>
              <a:t>如将二项式系数的</a:t>
            </a:r>
            <a:r>
              <a:rPr lang="zh-CN" altLang="zh-CN" sz="2000" i="1" dirty="0" smtClean="0"/>
              <a:t>n</a:t>
            </a:r>
            <a:r>
              <a:rPr lang="zh-CN" altLang="zh-CN" sz="2000" dirty="0" smtClean="0"/>
              <a:t>值顺序排列成行，每行为</a:t>
            </a:r>
            <a:r>
              <a:rPr lang="zh-CN" altLang="zh-CN" sz="2000" i="1" dirty="0" smtClean="0"/>
              <a:t>k</a:t>
            </a:r>
            <a:r>
              <a:rPr lang="zh-CN" altLang="zh-CN" sz="2000" dirty="0" smtClean="0"/>
              <a:t>值由0至</a:t>
            </a:r>
            <a:r>
              <a:rPr lang="zh-CN" altLang="zh-CN" sz="2000" i="1" dirty="0" smtClean="0"/>
              <a:t>n</a:t>
            </a:r>
            <a:r>
              <a:rPr lang="zh-CN" altLang="zh-CN" sz="2000" dirty="0" smtClean="0"/>
              <a:t>列出，则构成</a:t>
            </a:r>
            <a:r>
              <a:rPr lang="zh-CN" altLang="zh-CN" sz="2000" dirty="0" smtClean="0">
                <a:solidFill>
                  <a:srgbClr val="FF0000"/>
                </a:solidFill>
              </a:rPr>
              <a:t>帕斯卡三角形</a:t>
            </a:r>
            <a:r>
              <a:rPr lang="zh-CN" altLang="zh-CN" sz="2000" dirty="0" smtClean="0"/>
              <a:t>。</a:t>
            </a:r>
            <a:endParaRPr lang="en-US" altLang="zh-CN" sz="2000" dirty="0" smtClean="0"/>
          </a:p>
          <a:p>
            <a:pPr eaLnBrk="1" hangingPunct="1"/>
            <a:endParaRPr lang="en-US" altLang="zh-CN" sz="2100" baseline="30000" dirty="0" smtClean="0"/>
          </a:p>
        </p:txBody>
      </p:sp>
      <p:sp>
        <p:nvSpPr>
          <p:cNvPr id="10" name="矩形 9"/>
          <p:cNvSpPr/>
          <p:nvPr/>
        </p:nvSpPr>
        <p:spPr>
          <a:xfrm>
            <a:off x="785813" y="2571750"/>
            <a:ext cx="8643937" cy="400050"/>
          </a:xfrm>
          <a:prstGeom prst="rect">
            <a:avLst/>
          </a:prstGeom>
        </p:spPr>
        <p:txBody>
          <a:bodyPr>
            <a:spAutoFit/>
          </a:bodyPr>
          <a:lstStyle/>
          <a:p>
            <a:pPr eaLnBrk="1" hangingPunct="1">
              <a:defRPr/>
            </a:pPr>
            <a:r>
              <a:rPr lang="pt-BR" sz="2000" dirty="0">
                <a:latin typeface="+mn-lt"/>
                <a:ea typeface="宋体" charset="-122"/>
              </a:rPr>
              <a:t>(1+x)</a:t>
            </a:r>
            <a:r>
              <a:rPr lang="pt-BR" sz="2000" baseline="30000" dirty="0">
                <a:latin typeface="+mn-lt"/>
                <a:ea typeface="宋体" charset="-122"/>
              </a:rPr>
              <a:t>n</a:t>
            </a:r>
            <a:r>
              <a:rPr lang="pt-BR" sz="2000" dirty="0">
                <a:latin typeface="+mn-lt"/>
                <a:ea typeface="宋体" charset="-122"/>
              </a:rPr>
              <a:t>=C(n,0)+C(n,1)x+C(n,2)x</a:t>
            </a:r>
            <a:r>
              <a:rPr lang="pt-BR" sz="2000" baseline="30000" dirty="0">
                <a:latin typeface="+mn-lt"/>
                <a:ea typeface="宋体" charset="-122"/>
              </a:rPr>
              <a:t>2</a:t>
            </a:r>
            <a:r>
              <a:rPr lang="pt-BR" sz="2000" dirty="0">
                <a:latin typeface="+mn-lt"/>
                <a:ea typeface="宋体" charset="-122"/>
              </a:rPr>
              <a:t>+......+C(n,k)x</a:t>
            </a:r>
            <a:r>
              <a:rPr lang="en-US" altLang="zh-CN" sz="2000" baseline="30000" dirty="0">
                <a:latin typeface="+mn-lt"/>
                <a:ea typeface="宋体" charset="-122"/>
              </a:rPr>
              <a:t>k</a:t>
            </a:r>
            <a:r>
              <a:rPr lang="pt-BR" sz="2000" dirty="0">
                <a:latin typeface="+mn-lt"/>
                <a:ea typeface="宋体" charset="-122"/>
              </a:rPr>
              <a:t>+.......+C(n,n-1)x</a:t>
            </a:r>
            <a:r>
              <a:rPr lang="pt-BR" sz="2000" baseline="30000" dirty="0">
                <a:latin typeface="+mn-lt"/>
                <a:ea typeface="宋体" charset="-122"/>
              </a:rPr>
              <a:t>(n-1)</a:t>
            </a:r>
            <a:r>
              <a:rPr lang="pt-BR" sz="2000" dirty="0">
                <a:latin typeface="+mn-lt"/>
                <a:ea typeface="宋体" charset="-122"/>
              </a:rPr>
              <a:t>+C(n,n)x</a:t>
            </a:r>
            <a:r>
              <a:rPr lang="pt-BR" sz="2000" baseline="30000" dirty="0">
                <a:latin typeface="+mn-lt"/>
                <a:ea typeface="宋体" charset="-122"/>
              </a:rPr>
              <a:t>n</a:t>
            </a:r>
            <a:r>
              <a:rPr lang="pt-BR" sz="2000" dirty="0">
                <a:latin typeface="+mn-lt"/>
                <a:ea typeface="宋体" charset="-122"/>
              </a:rPr>
              <a:t> </a:t>
            </a:r>
            <a:endParaRPr lang="zh-CN" altLang="en-US" sz="2000" dirty="0">
              <a:latin typeface="+mn-lt"/>
              <a:ea typeface="宋体" charset="-122"/>
            </a:endParaRPr>
          </a:p>
        </p:txBody>
      </p:sp>
      <p:graphicFrame>
        <p:nvGraphicFramePr>
          <p:cNvPr id="71686" name="Object 6"/>
          <p:cNvGraphicFramePr>
            <a:graphicFrameLocks noChangeAspect="1"/>
          </p:cNvGraphicFramePr>
          <p:nvPr/>
        </p:nvGraphicFramePr>
        <p:xfrm>
          <a:off x="1571625" y="2928938"/>
          <a:ext cx="1435100" cy="992187"/>
        </p:xfrm>
        <a:graphic>
          <a:graphicData uri="http://schemas.openxmlformats.org/presentationml/2006/ole">
            <mc:AlternateContent xmlns:mc="http://schemas.openxmlformats.org/markup-compatibility/2006">
              <mc:Choice xmlns:v="urn:schemas-microsoft-com:vml" Requires="v">
                <p:oleObj spid="_x0000_s6175" name="Equation" r:id="rId4" imgW="698500" imgH="457200" progId="Equation.3">
                  <p:embed/>
                </p:oleObj>
              </mc:Choice>
              <mc:Fallback>
                <p:oleObj name="Equation" r:id="rId4" imgW="698500" imgH="457200" progId="Equation.3">
                  <p:embed/>
                  <p:pic>
                    <p:nvPicPr>
                      <p:cNvPr id="71686"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71625" y="2928938"/>
                        <a:ext cx="1435100" cy="99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71687"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57563" y="4643438"/>
            <a:ext cx="1933575" cy="138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668606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页脚占位符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73731" name="Rectangle 2"/>
          <p:cNvSpPr>
            <a:spLocks noGrp="1" noChangeArrowheads="1"/>
          </p:cNvSpPr>
          <p:nvPr>
            <p:ph type="title"/>
          </p:nvPr>
        </p:nvSpPr>
        <p:spPr/>
        <p:txBody>
          <a:bodyPr/>
          <a:lstStyle/>
          <a:p>
            <a:pPr eaLnBrk="1" hangingPunct="1"/>
            <a:r>
              <a:rPr lang="en-US" altLang="zh-CN" dirty="0">
                <a:solidFill>
                  <a:srgbClr val="333399"/>
                </a:solidFill>
                <a:latin typeface="华文楷体"/>
              </a:rPr>
              <a:t>1.3.5 </a:t>
            </a:r>
            <a:r>
              <a:rPr lang="zh-CN" altLang="en-US" dirty="0">
                <a:solidFill>
                  <a:srgbClr val="333399"/>
                </a:solidFill>
                <a:latin typeface="华文楷体"/>
              </a:rPr>
              <a:t>阶乘和</a:t>
            </a:r>
            <a:r>
              <a:rPr lang="zh-CN" altLang="en-US" dirty="0">
                <a:solidFill>
                  <a:srgbClr val="FF0000"/>
                </a:solidFill>
                <a:latin typeface="华文楷体"/>
              </a:rPr>
              <a:t>二项式系数</a:t>
            </a:r>
            <a:endParaRPr lang="en-US" altLang="zh-CN" dirty="0" smtClean="0"/>
          </a:p>
        </p:txBody>
      </p:sp>
      <p:sp>
        <p:nvSpPr>
          <p:cNvPr id="117763" name="Rectangle 3"/>
          <p:cNvSpPr>
            <a:spLocks noGrp="1" noChangeArrowheads="1"/>
          </p:cNvSpPr>
          <p:nvPr>
            <p:ph type="body" sz="half" idx="1"/>
          </p:nvPr>
        </p:nvSpPr>
        <p:spPr>
          <a:xfrm>
            <a:off x="889000" y="1196975"/>
            <a:ext cx="8291513" cy="4565650"/>
          </a:xfrm>
        </p:spPr>
        <p:txBody>
          <a:bodyPr/>
          <a:lstStyle/>
          <a:p>
            <a:pPr eaLnBrk="1" hangingPunct="1">
              <a:defRPr/>
            </a:pPr>
            <a:r>
              <a:rPr lang="zh-CN" altLang="en-US" sz="2900" dirty="0" smtClean="0"/>
              <a:t>特点</a:t>
            </a:r>
            <a:r>
              <a:rPr lang="en-US" altLang="zh-CN" sz="2900" dirty="0" smtClean="0"/>
              <a:t>: </a:t>
            </a:r>
            <a:r>
              <a:rPr lang="zh-CN" altLang="en-US" sz="2900" dirty="0" smtClean="0"/>
              <a:t>（</a:t>
            </a:r>
            <a:r>
              <a:rPr lang="en-US" altLang="zh-CN" sz="2900" dirty="0" smtClean="0"/>
              <a:t>P47</a:t>
            </a:r>
            <a:r>
              <a:rPr lang="zh-CN" altLang="en-US" sz="2900" dirty="0" smtClean="0"/>
              <a:t>）</a:t>
            </a:r>
            <a:endParaRPr lang="en-US" altLang="zh-CN" sz="2900" dirty="0" smtClean="0"/>
          </a:p>
          <a:p>
            <a:pPr eaLnBrk="1" hangingPunct="1">
              <a:defRPr/>
            </a:pPr>
            <a:endParaRPr lang="en-US" altLang="zh-CN" sz="2900" dirty="0" smtClean="0"/>
          </a:p>
          <a:p>
            <a:pPr eaLnBrk="1" hangingPunct="1">
              <a:defRPr/>
            </a:pPr>
            <a:endParaRPr lang="en-US" altLang="zh-CN" sz="2100" dirty="0" smtClean="0"/>
          </a:p>
          <a:p>
            <a:pPr eaLnBrk="1" hangingPunct="1">
              <a:defRPr/>
            </a:pPr>
            <a:endParaRPr lang="en-US" altLang="zh-CN" sz="2100" dirty="0" smtClean="0"/>
          </a:p>
          <a:p>
            <a:pPr eaLnBrk="1" hangingPunct="1">
              <a:defRPr/>
            </a:pPr>
            <a:endParaRPr lang="en-US" altLang="zh-CN" sz="2100" dirty="0" smtClean="0"/>
          </a:p>
          <a:p>
            <a:pPr eaLnBrk="1" hangingPunct="1">
              <a:defRPr/>
            </a:pPr>
            <a:r>
              <a:rPr lang="en-US" altLang="zh-CN" sz="2900" dirty="0" smtClean="0"/>
              <a:t> </a:t>
            </a:r>
            <a:r>
              <a:rPr lang="zh-CN" altLang="en-US" sz="2900" dirty="0" smtClean="0"/>
              <a:t>定理</a:t>
            </a:r>
            <a:r>
              <a:rPr lang="en-US" altLang="zh-CN" sz="2900" dirty="0" smtClean="0"/>
              <a:t>2.2 </a:t>
            </a:r>
          </a:p>
          <a:p>
            <a:pPr lvl="1" eaLnBrk="1" hangingPunct="1">
              <a:defRPr/>
            </a:pPr>
            <a:r>
              <a:rPr lang="zh-CN" altLang="en-US" sz="2400" dirty="0" smtClean="0">
                <a:latin typeface="+mn-ea"/>
                <a:ea typeface="+mn-ea"/>
              </a:rPr>
              <a:t>设</a:t>
            </a:r>
            <a:r>
              <a:rPr lang="en-US" altLang="zh-CN" sz="2400" dirty="0" smtClean="0">
                <a:latin typeface="+mn-ea"/>
                <a:ea typeface="+mn-ea"/>
              </a:rPr>
              <a:t> n </a:t>
            </a:r>
            <a:r>
              <a:rPr lang="zh-CN" altLang="en-US" sz="2400" dirty="0" smtClean="0">
                <a:latin typeface="+mn-ea"/>
                <a:ea typeface="+mn-ea"/>
              </a:rPr>
              <a:t>为正整数，那么：</a:t>
            </a:r>
            <a:endParaRPr lang="en-US" altLang="zh-CN" sz="2400" dirty="0" smtClean="0">
              <a:latin typeface="+mn-ea"/>
              <a:ea typeface="+mn-ea"/>
            </a:endParaRPr>
          </a:p>
          <a:p>
            <a:pPr lvl="1" eaLnBrk="1" hangingPunct="1">
              <a:defRPr/>
            </a:pPr>
            <a:endParaRPr lang="en-US" altLang="zh-CN" sz="2400" dirty="0" smtClean="0"/>
          </a:p>
        </p:txBody>
      </p:sp>
      <p:graphicFrame>
        <p:nvGraphicFramePr>
          <p:cNvPr id="73733" name="Object 4"/>
          <p:cNvGraphicFramePr>
            <a:graphicFrameLocks noGrp="1" noChangeAspect="1"/>
          </p:cNvGraphicFramePr>
          <p:nvPr>
            <p:ph sz="quarter" idx="2"/>
          </p:nvPr>
        </p:nvGraphicFramePr>
        <p:xfrm>
          <a:off x="2773363" y="2019300"/>
          <a:ext cx="3017837" cy="1290638"/>
        </p:xfrm>
        <a:graphic>
          <a:graphicData uri="http://schemas.openxmlformats.org/presentationml/2006/ole">
            <mc:AlternateContent xmlns:mc="http://schemas.openxmlformats.org/markup-compatibility/2006">
              <mc:Choice xmlns:v="urn:schemas-microsoft-com:vml" Requires="v">
                <p:oleObj spid="_x0000_s7228" name="Equation" r:id="rId4" imgW="2197100" imgH="939800" progId="Equation.3">
                  <p:embed/>
                </p:oleObj>
              </mc:Choice>
              <mc:Fallback>
                <p:oleObj name="Equation" r:id="rId4" imgW="2197100" imgH="939800" progId="Equation.3">
                  <p:embed/>
                  <p:pic>
                    <p:nvPicPr>
                      <p:cNvPr id="73733"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73363" y="2019300"/>
                        <a:ext cx="3017837" cy="129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3734" name="Object 6"/>
          <p:cNvGraphicFramePr>
            <a:graphicFrameLocks noGrp="1" noChangeAspect="1"/>
          </p:cNvGraphicFramePr>
          <p:nvPr>
            <p:ph sz="quarter" idx="3"/>
          </p:nvPr>
        </p:nvGraphicFramePr>
        <p:xfrm>
          <a:off x="2214563" y="4357688"/>
          <a:ext cx="2400300" cy="992187"/>
        </p:xfrm>
        <a:graphic>
          <a:graphicData uri="http://schemas.openxmlformats.org/presentationml/2006/ole">
            <mc:AlternateContent xmlns:mc="http://schemas.openxmlformats.org/markup-compatibility/2006">
              <mc:Choice xmlns:v="urn:schemas-microsoft-com:vml" Requires="v">
                <p:oleObj spid="_x0000_s7229" name="Equation" r:id="rId6" imgW="1168400" imgH="457200" progId="Equation.3">
                  <p:embed/>
                </p:oleObj>
              </mc:Choice>
              <mc:Fallback>
                <p:oleObj name="Equation" r:id="rId6" imgW="1168400" imgH="457200" progId="Equation.3">
                  <p:embed/>
                  <p:pic>
                    <p:nvPicPr>
                      <p:cNvPr id="73734"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14563" y="4357688"/>
                        <a:ext cx="2400300" cy="99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73736" name="Picture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15000" y="3786188"/>
            <a:ext cx="26574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737" name="Picture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86438" y="4643438"/>
            <a:ext cx="314325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2" name="直接箭头连接符 11"/>
          <p:cNvCxnSpPr>
            <a:endCxn id="4104" idx="1"/>
          </p:cNvCxnSpPr>
          <p:nvPr/>
        </p:nvCxnSpPr>
        <p:spPr>
          <a:xfrm flipV="1">
            <a:off x="4786313" y="4090988"/>
            <a:ext cx="928687" cy="55245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a:endCxn id="4105" idx="1"/>
          </p:cNvCxnSpPr>
          <p:nvPr/>
        </p:nvCxnSpPr>
        <p:spPr>
          <a:xfrm>
            <a:off x="4786313" y="4643438"/>
            <a:ext cx="1000125" cy="29051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4929188" y="4000500"/>
            <a:ext cx="609600" cy="369888"/>
          </a:xfrm>
          <a:prstGeom prst="rect">
            <a:avLst/>
          </a:prstGeom>
        </p:spPr>
        <p:txBody>
          <a:bodyPr wrap="none">
            <a:spAutoFit/>
          </a:bodyPr>
          <a:lstStyle/>
          <a:p>
            <a:pPr eaLnBrk="1" hangingPunct="1">
              <a:defRPr/>
            </a:pPr>
            <a:r>
              <a:rPr lang="en-US" altLang="zh-CN" dirty="0">
                <a:latin typeface="+mn-ea"/>
                <a:ea typeface="宋体" charset="-122"/>
              </a:rPr>
              <a:t>X=1</a:t>
            </a:r>
            <a:endParaRPr lang="zh-CN" altLang="en-US" dirty="0">
              <a:latin typeface="Arial" charset="0"/>
              <a:ea typeface="宋体" charset="-122"/>
            </a:endParaRPr>
          </a:p>
        </p:txBody>
      </p:sp>
      <p:sp>
        <p:nvSpPr>
          <p:cNvPr id="19" name="矩形 18"/>
          <p:cNvSpPr/>
          <p:nvPr/>
        </p:nvSpPr>
        <p:spPr>
          <a:xfrm>
            <a:off x="4929188" y="4857750"/>
            <a:ext cx="681037" cy="369888"/>
          </a:xfrm>
          <a:prstGeom prst="rect">
            <a:avLst/>
          </a:prstGeom>
        </p:spPr>
        <p:txBody>
          <a:bodyPr wrap="none">
            <a:spAutoFit/>
          </a:bodyPr>
          <a:lstStyle/>
          <a:p>
            <a:pPr eaLnBrk="1" hangingPunct="1">
              <a:defRPr/>
            </a:pPr>
            <a:r>
              <a:rPr lang="en-US" altLang="zh-CN" dirty="0">
                <a:latin typeface="+mn-ea"/>
                <a:ea typeface="宋体" charset="-122"/>
              </a:rPr>
              <a:t>X=-1</a:t>
            </a:r>
            <a:endParaRPr lang="zh-CN" altLang="en-US" dirty="0">
              <a:latin typeface="Arial" charset="0"/>
              <a:ea typeface="宋体" charset="-122"/>
            </a:endParaRPr>
          </a:p>
        </p:txBody>
      </p:sp>
      <p:sp>
        <p:nvSpPr>
          <p:cNvPr id="17" name="矩形 16"/>
          <p:cNvSpPr/>
          <p:nvPr/>
        </p:nvSpPr>
        <p:spPr>
          <a:xfrm>
            <a:off x="1227138" y="2714625"/>
            <a:ext cx="1416050" cy="461963"/>
          </a:xfrm>
          <a:prstGeom prst="rect">
            <a:avLst/>
          </a:prstGeom>
        </p:spPr>
        <p:txBody>
          <a:bodyPr wrap="none">
            <a:spAutoFit/>
          </a:bodyPr>
          <a:lstStyle/>
          <a:p>
            <a:pPr eaLnBrk="1" hangingPunct="1">
              <a:defRPr/>
            </a:pPr>
            <a:r>
              <a:rPr lang="zh-CN" altLang="en-US" sz="2400" dirty="0">
                <a:solidFill>
                  <a:schemeClr val="accent2"/>
                </a:solidFill>
                <a:latin typeface="+mn-ea"/>
                <a:ea typeface="+mn-ea"/>
              </a:rPr>
              <a:t>递归公式</a:t>
            </a:r>
          </a:p>
        </p:txBody>
      </p:sp>
    </p:spTree>
    <p:extLst>
      <p:ext uri="{BB962C8B-B14F-4D97-AF65-F5344CB8AC3E}">
        <p14:creationId xmlns:p14="http://schemas.microsoft.com/office/powerpoint/2010/main" val="7264304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75779" name="Rectangle 2"/>
          <p:cNvSpPr>
            <a:spLocks noGrp="1" noChangeArrowheads="1"/>
          </p:cNvSpPr>
          <p:nvPr>
            <p:ph type="title"/>
          </p:nvPr>
        </p:nvSpPr>
        <p:spPr/>
        <p:txBody>
          <a:bodyPr/>
          <a:lstStyle/>
          <a:p>
            <a:pPr eaLnBrk="1" hangingPunct="1"/>
            <a:r>
              <a:rPr lang="en-US" altLang="zh-CN" dirty="0" smtClean="0">
                <a:solidFill>
                  <a:srgbClr val="333399"/>
                </a:solidFill>
                <a:latin typeface="华文楷体"/>
              </a:rPr>
              <a:t>1.3.6 </a:t>
            </a:r>
            <a:r>
              <a:rPr lang="zh-CN" altLang="en-US" dirty="0">
                <a:solidFill>
                  <a:srgbClr val="333399"/>
                </a:solidFill>
                <a:latin typeface="华文楷体"/>
              </a:rPr>
              <a:t>鸽巢原理</a:t>
            </a:r>
            <a:endParaRPr lang="en-US" altLang="zh-CN" dirty="0" smtClean="0"/>
          </a:p>
        </p:txBody>
      </p:sp>
      <p:sp>
        <p:nvSpPr>
          <p:cNvPr id="110595" name="Rectangle 3"/>
          <p:cNvSpPr>
            <a:spLocks noGrp="1" noChangeArrowheads="1"/>
          </p:cNvSpPr>
          <p:nvPr>
            <p:ph type="body" idx="1"/>
          </p:nvPr>
        </p:nvSpPr>
        <p:spPr>
          <a:xfrm>
            <a:off x="914400" y="1196975"/>
            <a:ext cx="7834313" cy="4718050"/>
          </a:xfrm>
        </p:spPr>
        <p:txBody>
          <a:bodyPr/>
          <a:lstStyle/>
          <a:p>
            <a:pPr lvl="1" eaLnBrk="1" hangingPunct="1">
              <a:lnSpc>
                <a:spcPct val="90000"/>
              </a:lnSpc>
              <a:buFontTx/>
              <a:buNone/>
              <a:defRPr/>
            </a:pPr>
            <a:r>
              <a:rPr lang="zh-CN" altLang="en-US" sz="2500" dirty="0" smtClean="0">
                <a:latin typeface="+mn-lt"/>
                <a:ea typeface="+mn-ea"/>
                <a:cs typeface="+mn-cs"/>
                <a:sym typeface="Symbol" pitchFamily="18" charset="2"/>
              </a:rPr>
              <a:t>组合数学中解决计数问题的一个工具。</a:t>
            </a:r>
            <a:endParaRPr lang="en-US" altLang="zh-CN" sz="2500" dirty="0" smtClean="0">
              <a:latin typeface="+mn-lt"/>
              <a:ea typeface="+mn-ea"/>
              <a:cs typeface="+mn-cs"/>
              <a:sym typeface="Symbol" pitchFamily="18" charset="2"/>
            </a:endParaRPr>
          </a:p>
          <a:p>
            <a:pPr eaLnBrk="1" hangingPunct="1">
              <a:lnSpc>
                <a:spcPct val="90000"/>
              </a:lnSpc>
              <a:defRPr/>
            </a:pPr>
            <a:r>
              <a:rPr lang="zh-CN" altLang="en-US" dirty="0" smtClean="0">
                <a:solidFill>
                  <a:srgbClr val="FF0000"/>
                </a:solidFill>
                <a:sym typeface="Symbol" pitchFamily="18" charset="2"/>
              </a:rPr>
              <a:t>假定一群鸽子飞入一组巢安歇，如果鸽子比鸽巢多，那么一定至少有一个鸽巢里有两只或两只以上的鸽子。</a:t>
            </a:r>
            <a:endParaRPr lang="en-US" altLang="zh-CN" dirty="0" smtClean="0">
              <a:solidFill>
                <a:srgbClr val="FF0000"/>
              </a:solidFill>
              <a:sym typeface="Symbol" pitchFamily="18" charset="2"/>
            </a:endParaRPr>
          </a:p>
          <a:p>
            <a:pPr eaLnBrk="1" hangingPunct="1">
              <a:lnSpc>
                <a:spcPct val="90000"/>
              </a:lnSpc>
              <a:defRPr/>
            </a:pPr>
            <a:endParaRPr lang="en-US" altLang="zh-CN" dirty="0" smtClean="0">
              <a:sym typeface="Symbol" pitchFamily="18" charset="2"/>
            </a:endParaRPr>
          </a:p>
          <a:p>
            <a:pPr eaLnBrk="1" hangingPunct="1">
              <a:lnSpc>
                <a:spcPct val="90000"/>
              </a:lnSpc>
              <a:defRPr/>
            </a:pPr>
            <a:r>
              <a:rPr lang="zh-CN" altLang="en-US" dirty="0" smtClean="0">
                <a:sym typeface="Symbol" pitchFamily="18" charset="2"/>
              </a:rPr>
              <a:t>这个原理除了鸽子和鸽巢外，也可用于其他对象，因此也称为（狄利克莱，德国，</a:t>
            </a:r>
            <a:r>
              <a:rPr lang="en-US" altLang="zh-CN" dirty="0" smtClean="0">
                <a:sym typeface="Symbol" pitchFamily="18" charset="2"/>
              </a:rPr>
              <a:t>19</a:t>
            </a:r>
            <a:r>
              <a:rPr lang="zh-CN" altLang="en-US" dirty="0" smtClean="0">
                <a:sym typeface="Symbol" pitchFamily="18" charset="2"/>
              </a:rPr>
              <a:t>世纪）</a:t>
            </a:r>
            <a:r>
              <a:rPr lang="zh-CN" altLang="en-US" dirty="0" smtClean="0">
                <a:solidFill>
                  <a:srgbClr val="FF0000"/>
                </a:solidFill>
                <a:sym typeface="Symbol" pitchFamily="18" charset="2"/>
              </a:rPr>
              <a:t>抽屉原理、鞋盒原理</a:t>
            </a:r>
            <a:r>
              <a:rPr lang="zh-CN" altLang="en-US" dirty="0" smtClean="0">
                <a:sym typeface="Symbol" pitchFamily="18" charset="2"/>
              </a:rPr>
              <a:t>。</a:t>
            </a:r>
            <a:endParaRPr lang="en-US" altLang="zh-CN" dirty="0" smtClean="0">
              <a:sym typeface="Symbol" pitchFamily="18" charset="2"/>
            </a:endParaRPr>
          </a:p>
          <a:p>
            <a:pPr eaLnBrk="1" hangingPunct="1">
              <a:lnSpc>
                <a:spcPct val="90000"/>
              </a:lnSpc>
              <a:defRPr/>
            </a:pPr>
            <a:endParaRPr lang="en-US" altLang="zh-CN" sz="2000" dirty="0" smtClean="0">
              <a:sym typeface="Symbol" pitchFamily="18" charset="2"/>
            </a:endParaRPr>
          </a:p>
        </p:txBody>
      </p:sp>
      <p:pic>
        <p:nvPicPr>
          <p:cNvPr id="75781"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57875" y="4071938"/>
            <a:ext cx="2066925"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8"/>
          <p:cNvSpPr/>
          <p:nvPr/>
        </p:nvSpPr>
        <p:spPr>
          <a:xfrm>
            <a:off x="1500188" y="4643438"/>
            <a:ext cx="3786187" cy="923925"/>
          </a:xfrm>
          <a:prstGeom prst="rect">
            <a:avLst/>
          </a:prstGeom>
        </p:spPr>
        <p:txBody>
          <a:bodyPr>
            <a:spAutoFit/>
          </a:bodyPr>
          <a:lstStyle/>
          <a:p>
            <a:pPr eaLnBrk="1" hangingPunct="1">
              <a:lnSpc>
                <a:spcPct val="90000"/>
              </a:lnSpc>
              <a:defRPr/>
            </a:pPr>
            <a:r>
              <a:rPr lang="en-US" altLang="zh-CN" sz="2000" dirty="0">
                <a:solidFill>
                  <a:schemeClr val="accent2"/>
                </a:solidFill>
                <a:latin typeface="+mn-lt"/>
                <a:ea typeface="+mn-ea"/>
                <a:sym typeface="Symbol" pitchFamily="18" charset="2"/>
              </a:rPr>
              <a:t>10</a:t>
            </a:r>
            <a:r>
              <a:rPr lang="zh-CN" altLang="en-US" sz="2000" dirty="0">
                <a:solidFill>
                  <a:schemeClr val="accent2"/>
                </a:solidFill>
                <a:latin typeface="+mn-lt"/>
                <a:ea typeface="+mn-ea"/>
                <a:sym typeface="Symbol" pitchFamily="18" charset="2"/>
              </a:rPr>
              <a:t>只鸽子放进</a:t>
            </a:r>
            <a:r>
              <a:rPr lang="en-US" altLang="zh-CN" sz="2000" dirty="0">
                <a:solidFill>
                  <a:schemeClr val="accent2"/>
                </a:solidFill>
                <a:latin typeface="+mn-lt"/>
                <a:ea typeface="+mn-ea"/>
                <a:sym typeface="Symbol" pitchFamily="18" charset="2"/>
              </a:rPr>
              <a:t>9</a:t>
            </a:r>
            <a:r>
              <a:rPr lang="zh-CN" altLang="en-US" sz="2000" dirty="0">
                <a:solidFill>
                  <a:schemeClr val="accent2"/>
                </a:solidFill>
                <a:latin typeface="+mn-lt"/>
                <a:ea typeface="+mn-ea"/>
                <a:sym typeface="Symbol" pitchFamily="18" charset="2"/>
              </a:rPr>
              <a:t>个鸽笼，那么一定有一个鸽笼放进了至少两只鸽子</a:t>
            </a:r>
            <a:endParaRPr lang="en-US" altLang="zh-CN" sz="2000" dirty="0">
              <a:solidFill>
                <a:schemeClr val="accent2"/>
              </a:solidFill>
              <a:latin typeface="+mn-lt"/>
              <a:ea typeface="+mn-ea"/>
              <a:sym typeface="Symbol" pitchFamily="18" charset="2"/>
            </a:endParaRPr>
          </a:p>
        </p:txBody>
      </p:sp>
    </p:spTree>
    <p:extLst>
      <p:ext uri="{BB962C8B-B14F-4D97-AF65-F5344CB8AC3E}">
        <p14:creationId xmlns:p14="http://schemas.microsoft.com/office/powerpoint/2010/main" val="9935018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77827" name="Rectangle 2"/>
          <p:cNvSpPr>
            <a:spLocks noGrp="1" noChangeArrowheads="1"/>
          </p:cNvSpPr>
          <p:nvPr>
            <p:ph type="title"/>
          </p:nvPr>
        </p:nvSpPr>
        <p:spPr/>
        <p:txBody>
          <a:bodyPr/>
          <a:lstStyle/>
          <a:p>
            <a:pPr eaLnBrk="1" hangingPunct="1"/>
            <a:r>
              <a:rPr lang="en-US" altLang="zh-CN" dirty="0">
                <a:solidFill>
                  <a:srgbClr val="333399"/>
                </a:solidFill>
                <a:latin typeface="华文楷体"/>
              </a:rPr>
              <a:t>1.3.6 </a:t>
            </a:r>
            <a:r>
              <a:rPr lang="zh-CN" altLang="en-US" dirty="0">
                <a:solidFill>
                  <a:srgbClr val="333399"/>
                </a:solidFill>
                <a:latin typeface="华文楷体"/>
              </a:rPr>
              <a:t>鸽巢原理</a:t>
            </a:r>
            <a:endParaRPr lang="en-US" altLang="zh-CN" dirty="0" smtClean="0"/>
          </a:p>
        </p:txBody>
      </p:sp>
      <p:sp>
        <p:nvSpPr>
          <p:cNvPr id="110595" name="Rectangle 3"/>
          <p:cNvSpPr>
            <a:spLocks noGrp="1" noChangeArrowheads="1"/>
          </p:cNvSpPr>
          <p:nvPr>
            <p:ph type="body" idx="1"/>
          </p:nvPr>
        </p:nvSpPr>
        <p:spPr>
          <a:xfrm>
            <a:off x="735013" y="1303338"/>
            <a:ext cx="8229600" cy="4718050"/>
          </a:xfrm>
        </p:spPr>
        <p:txBody>
          <a:bodyPr/>
          <a:lstStyle/>
          <a:p>
            <a:pPr lvl="1" eaLnBrk="1" hangingPunct="1">
              <a:lnSpc>
                <a:spcPct val="90000"/>
              </a:lnSpc>
              <a:buFontTx/>
              <a:buNone/>
              <a:defRPr/>
            </a:pPr>
            <a:r>
              <a:rPr lang="zh-CN" altLang="en-US" sz="2500" dirty="0" smtClean="0">
                <a:solidFill>
                  <a:srgbClr val="FF0000"/>
                </a:solidFill>
                <a:latin typeface="+mn-lt"/>
                <a:ea typeface="+mn-ea"/>
                <a:cs typeface="+mn-cs"/>
                <a:sym typeface="Symbol" pitchFamily="18" charset="2"/>
              </a:rPr>
              <a:t>简单形式</a:t>
            </a:r>
            <a:r>
              <a:rPr lang="zh-CN" altLang="en-US" sz="2500" dirty="0" smtClean="0">
                <a:latin typeface="+mn-lt"/>
                <a:ea typeface="+mn-ea"/>
                <a:cs typeface="+mn-cs"/>
                <a:sym typeface="Symbol" pitchFamily="18" charset="2"/>
              </a:rPr>
              <a:t>：如果</a:t>
            </a:r>
            <a:r>
              <a:rPr lang="en-US" altLang="zh-CN" sz="2500" dirty="0" smtClean="0">
                <a:latin typeface="+mn-lt"/>
                <a:ea typeface="+mn-ea"/>
                <a:cs typeface="+mn-cs"/>
                <a:sym typeface="Symbol" pitchFamily="18" charset="2"/>
              </a:rPr>
              <a:t>K+1</a:t>
            </a:r>
            <a:r>
              <a:rPr lang="zh-CN" altLang="en-US" sz="2500" dirty="0" smtClean="0">
                <a:latin typeface="+mn-lt"/>
                <a:ea typeface="+mn-ea"/>
                <a:cs typeface="+mn-cs"/>
                <a:sym typeface="Symbol" pitchFamily="18" charset="2"/>
              </a:rPr>
              <a:t>个或更多的物体放入</a:t>
            </a:r>
            <a:r>
              <a:rPr lang="en-US" altLang="zh-CN" sz="2500" dirty="0" smtClean="0">
                <a:latin typeface="+mn-lt"/>
                <a:ea typeface="+mn-ea"/>
                <a:cs typeface="+mn-cs"/>
                <a:sym typeface="Symbol" pitchFamily="18" charset="2"/>
              </a:rPr>
              <a:t>K</a:t>
            </a:r>
            <a:r>
              <a:rPr lang="zh-CN" altLang="en-US" sz="2500" dirty="0" smtClean="0">
                <a:latin typeface="+mn-lt"/>
                <a:ea typeface="+mn-ea"/>
                <a:cs typeface="+mn-cs"/>
                <a:sym typeface="Symbol" pitchFamily="18" charset="2"/>
              </a:rPr>
              <a:t>个盒子，那么至少有一个盒子含</a:t>
            </a:r>
            <a:r>
              <a:rPr lang="en-US" altLang="zh-CN" sz="2500" dirty="0" smtClean="0">
                <a:latin typeface="+mn-lt"/>
                <a:ea typeface="+mn-ea"/>
                <a:cs typeface="+mn-cs"/>
                <a:sym typeface="Symbol" pitchFamily="18" charset="2"/>
              </a:rPr>
              <a:t>2</a:t>
            </a:r>
            <a:r>
              <a:rPr lang="zh-CN" altLang="en-US" sz="2500" dirty="0" smtClean="0">
                <a:latin typeface="+mn-lt"/>
                <a:ea typeface="+mn-ea"/>
                <a:cs typeface="+mn-cs"/>
                <a:sym typeface="Symbol" pitchFamily="18" charset="2"/>
              </a:rPr>
              <a:t>个或更多的物体。</a:t>
            </a:r>
            <a:endParaRPr lang="en-US" altLang="zh-CN" sz="2500" dirty="0" smtClean="0">
              <a:latin typeface="+mn-lt"/>
              <a:ea typeface="+mn-ea"/>
              <a:cs typeface="+mn-cs"/>
              <a:sym typeface="Symbol" pitchFamily="18" charset="2"/>
            </a:endParaRPr>
          </a:p>
          <a:p>
            <a:pPr lvl="1" eaLnBrk="1" hangingPunct="1">
              <a:lnSpc>
                <a:spcPct val="90000"/>
              </a:lnSpc>
              <a:buFontTx/>
              <a:buNone/>
              <a:defRPr/>
            </a:pPr>
            <a:endParaRPr lang="en-US" altLang="zh-CN" sz="2500" dirty="0" smtClean="0">
              <a:latin typeface="+mn-lt"/>
              <a:ea typeface="+mn-ea"/>
              <a:cs typeface="+mn-cs"/>
              <a:sym typeface="Symbol" pitchFamily="18" charset="2"/>
            </a:endParaRPr>
          </a:p>
          <a:p>
            <a:pPr lvl="1" eaLnBrk="1" hangingPunct="1">
              <a:lnSpc>
                <a:spcPct val="90000"/>
              </a:lnSpc>
              <a:buFontTx/>
              <a:buNone/>
              <a:defRPr/>
            </a:pPr>
            <a:r>
              <a:rPr lang="zh-CN" altLang="en-US" sz="2500" dirty="0" smtClean="0">
                <a:latin typeface="+mn-lt"/>
                <a:ea typeface="+mn-ea"/>
                <a:cs typeface="+mn-cs"/>
                <a:sym typeface="Symbol" pitchFamily="18" charset="2"/>
              </a:rPr>
              <a:t>例</a:t>
            </a:r>
            <a:r>
              <a:rPr lang="en-US" altLang="zh-CN" sz="2500" dirty="0" smtClean="0">
                <a:latin typeface="+mn-lt"/>
                <a:ea typeface="+mn-ea"/>
                <a:cs typeface="+mn-cs"/>
                <a:sym typeface="Symbol" pitchFamily="18" charset="2"/>
              </a:rPr>
              <a:t>1</a:t>
            </a:r>
            <a:r>
              <a:rPr lang="zh-CN" altLang="en-US" sz="2500" dirty="0" smtClean="0">
                <a:latin typeface="+mn-lt"/>
                <a:ea typeface="+mn-ea"/>
                <a:cs typeface="+mn-cs"/>
                <a:sym typeface="Symbol" pitchFamily="18" charset="2"/>
              </a:rPr>
              <a:t>：在</a:t>
            </a:r>
            <a:r>
              <a:rPr lang="en-US" altLang="zh-CN" sz="2500" dirty="0" smtClean="0">
                <a:latin typeface="+mn-lt"/>
                <a:ea typeface="+mn-ea"/>
                <a:cs typeface="+mn-cs"/>
                <a:sym typeface="Symbol" pitchFamily="18" charset="2"/>
              </a:rPr>
              <a:t>13</a:t>
            </a:r>
            <a:r>
              <a:rPr lang="zh-CN" altLang="en-US" sz="2500" dirty="0" smtClean="0">
                <a:latin typeface="+mn-lt"/>
                <a:ea typeface="+mn-ea"/>
                <a:cs typeface="+mn-cs"/>
                <a:sym typeface="Symbol" pitchFamily="18" charset="2"/>
              </a:rPr>
              <a:t>个人中存在两个人，他们的生日在同一月份里</a:t>
            </a:r>
            <a:endParaRPr lang="en-US" altLang="zh-CN" sz="2500" dirty="0" smtClean="0">
              <a:latin typeface="+mn-lt"/>
              <a:ea typeface="+mn-ea"/>
              <a:cs typeface="+mn-cs"/>
              <a:sym typeface="Symbol" pitchFamily="18" charset="2"/>
            </a:endParaRPr>
          </a:p>
          <a:p>
            <a:pPr lvl="1" eaLnBrk="1" hangingPunct="1">
              <a:lnSpc>
                <a:spcPct val="90000"/>
              </a:lnSpc>
              <a:buFontTx/>
              <a:buNone/>
              <a:defRPr/>
            </a:pPr>
            <a:endParaRPr lang="en-US" altLang="zh-CN" sz="2500" dirty="0" smtClean="0">
              <a:latin typeface="+mn-lt"/>
              <a:ea typeface="+mn-ea"/>
              <a:cs typeface="+mn-cs"/>
              <a:sym typeface="Symbol" pitchFamily="18" charset="2"/>
            </a:endParaRPr>
          </a:p>
          <a:p>
            <a:pPr lvl="1" eaLnBrk="1" hangingPunct="1">
              <a:lnSpc>
                <a:spcPct val="90000"/>
              </a:lnSpc>
              <a:buFontTx/>
              <a:buNone/>
              <a:defRPr/>
            </a:pPr>
            <a:r>
              <a:rPr lang="zh-CN" altLang="en-US" sz="2500" dirty="0" smtClean="0">
                <a:latin typeface="+mn-lt"/>
                <a:ea typeface="+mn-ea"/>
                <a:cs typeface="+mn-cs"/>
                <a:sym typeface="Symbol" pitchFamily="18" charset="2"/>
              </a:rPr>
              <a:t>例</a:t>
            </a:r>
            <a:r>
              <a:rPr lang="en-US" altLang="zh-CN" sz="2500" dirty="0" smtClean="0">
                <a:latin typeface="+mn-lt"/>
                <a:ea typeface="+mn-ea"/>
                <a:cs typeface="+mn-cs"/>
                <a:sym typeface="Symbol" pitchFamily="18" charset="2"/>
              </a:rPr>
              <a:t>2</a:t>
            </a:r>
            <a:r>
              <a:rPr lang="zh-CN" altLang="en-US" sz="2500" dirty="0" smtClean="0">
                <a:latin typeface="+mn-lt"/>
                <a:ea typeface="+mn-ea"/>
                <a:cs typeface="+mn-cs"/>
                <a:sym typeface="Symbol" pitchFamily="18" charset="2"/>
              </a:rPr>
              <a:t>：设有</a:t>
            </a:r>
            <a:r>
              <a:rPr lang="en-US" altLang="zh-CN" sz="2500" dirty="0" smtClean="0">
                <a:latin typeface="+mn-lt"/>
                <a:ea typeface="+mn-ea"/>
                <a:cs typeface="+mn-cs"/>
                <a:sym typeface="Symbol" pitchFamily="18" charset="2"/>
              </a:rPr>
              <a:t>n</a:t>
            </a:r>
            <a:r>
              <a:rPr lang="zh-CN" altLang="en-US" sz="2500" dirty="0" smtClean="0">
                <a:latin typeface="+mn-lt"/>
                <a:ea typeface="+mn-ea"/>
                <a:cs typeface="+mn-cs"/>
                <a:sym typeface="Symbol" pitchFamily="18" charset="2"/>
              </a:rPr>
              <a:t>对已婚夫妇。为保证有一对夫妇被选出，至少要从这</a:t>
            </a:r>
            <a:r>
              <a:rPr lang="en-US" altLang="zh-CN" sz="2500" dirty="0" smtClean="0">
                <a:latin typeface="+mn-lt"/>
                <a:ea typeface="+mn-ea"/>
                <a:cs typeface="+mn-cs"/>
                <a:sym typeface="Symbol" pitchFamily="18" charset="2"/>
              </a:rPr>
              <a:t>2n</a:t>
            </a:r>
            <a:r>
              <a:rPr lang="zh-CN" altLang="en-US" sz="2500" dirty="0" smtClean="0">
                <a:latin typeface="+mn-lt"/>
                <a:ea typeface="+mn-ea"/>
                <a:cs typeface="+mn-cs"/>
                <a:sym typeface="Symbol" pitchFamily="18" charset="2"/>
              </a:rPr>
              <a:t>个人中选出多少人？（</a:t>
            </a:r>
            <a:r>
              <a:rPr lang="en-US" altLang="zh-CN" sz="2500" dirty="0" smtClean="0">
                <a:latin typeface="+mn-lt"/>
                <a:ea typeface="+mn-ea"/>
                <a:cs typeface="+mn-cs"/>
                <a:sym typeface="Symbol" pitchFamily="18" charset="2"/>
              </a:rPr>
              <a:t>n+1</a:t>
            </a:r>
            <a:r>
              <a:rPr lang="zh-CN" altLang="en-US" sz="2500" dirty="0" smtClean="0">
                <a:latin typeface="+mn-lt"/>
                <a:ea typeface="+mn-ea"/>
                <a:cs typeface="+mn-cs"/>
                <a:sym typeface="Symbol" pitchFamily="18" charset="2"/>
              </a:rPr>
              <a:t>）</a:t>
            </a:r>
            <a:endParaRPr lang="en-US" altLang="zh-CN" sz="2500" dirty="0" smtClean="0">
              <a:latin typeface="+mn-lt"/>
              <a:ea typeface="+mn-ea"/>
              <a:cs typeface="+mn-cs"/>
              <a:sym typeface="Symbol" pitchFamily="18" charset="2"/>
            </a:endParaRPr>
          </a:p>
          <a:p>
            <a:pPr eaLnBrk="1" hangingPunct="1">
              <a:lnSpc>
                <a:spcPct val="90000"/>
              </a:lnSpc>
              <a:defRPr/>
            </a:pPr>
            <a:endParaRPr lang="en-US" altLang="zh-CN" sz="2000" dirty="0" smtClean="0">
              <a:sym typeface="Symbol" pitchFamily="18" charset="2"/>
            </a:endParaRPr>
          </a:p>
        </p:txBody>
      </p:sp>
    </p:spTree>
    <p:extLst>
      <p:ext uri="{BB962C8B-B14F-4D97-AF65-F5344CB8AC3E}">
        <p14:creationId xmlns:p14="http://schemas.microsoft.com/office/powerpoint/2010/main" val="17148015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10595">
                                            <p:txEl>
                                              <p:pRg st="2" end="2"/>
                                            </p:txEl>
                                          </p:spTgt>
                                        </p:tgtEl>
                                        <p:attrNameLst>
                                          <p:attrName>style.visibility</p:attrName>
                                        </p:attrNameLst>
                                      </p:cBhvr>
                                      <p:to>
                                        <p:strVal val="visible"/>
                                      </p:to>
                                    </p:set>
                                    <p:anim calcmode="lin" valueType="num">
                                      <p:cBhvr additive="base">
                                        <p:cTn id="7" dur="500" fill="hold"/>
                                        <p:tgtEl>
                                          <p:spTgt spid="11059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059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10595">
                                            <p:txEl>
                                              <p:pRg st="4" end="4"/>
                                            </p:txEl>
                                          </p:spTgt>
                                        </p:tgtEl>
                                        <p:attrNameLst>
                                          <p:attrName>style.visibility</p:attrName>
                                        </p:attrNameLst>
                                      </p:cBhvr>
                                      <p:to>
                                        <p:strVal val="visible"/>
                                      </p:to>
                                    </p:set>
                                    <p:anim calcmode="lin" valueType="num">
                                      <p:cBhvr additive="base">
                                        <p:cTn id="13" dur="500" fill="hold"/>
                                        <p:tgtEl>
                                          <p:spTgt spid="110595">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059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79875" name="Rectangle 2"/>
          <p:cNvSpPr>
            <a:spLocks noGrp="1" noChangeArrowheads="1"/>
          </p:cNvSpPr>
          <p:nvPr>
            <p:ph type="title"/>
          </p:nvPr>
        </p:nvSpPr>
        <p:spPr/>
        <p:txBody>
          <a:bodyPr/>
          <a:lstStyle/>
          <a:p>
            <a:pPr eaLnBrk="1" hangingPunct="1"/>
            <a:r>
              <a:rPr lang="en-US" altLang="zh-CN" dirty="0">
                <a:solidFill>
                  <a:srgbClr val="333399"/>
                </a:solidFill>
                <a:latin typeface="华文楷体"/>
              </a:rPr>
              <a:t>1.3.6 </a:t>
            </a:r>
            <a:r>
              <a:rPr lang="zh-CN" altLang="en-US" dirty="0">
                <a:solidFill>
                  <a:srgbClr val="333399"/>
                </a:solidFill>
                <a:latin typeface="华文楷体"/>
              </a:rPr>
              <a:t>鸽巢原理</a:t>
            </a:r>
            <a:endParaRPr lang="en-US" altLang="zh-CN" dirty="0" smtClean="0"/>
          </a:p>
        </p:txBody>
      </p:sp>
      <p:sp>
        <p:nvSpPr>
          <p:cNvPr id="110595" name="Rectangle 3"/>
          <p:cNvSpPr>
            <a:spLocks noGrp="1" noChangeArrowheads="1"/>
          </p:cNvSpPr>
          <p:nvPr>
            <p:ph type="body" idx="1"/>
          </p:nvPr>
        </p:nvSpPr>
        <p:spPr>
          <a:xfrm>
            <a:off x="914400" y="1272165"/>
            <a:ext cx="8229600" cy="4718050"/>
          </a:xfrm>
        </p:spPr>
        <p:txBody>
          <a:bodyPr/>
          <a:lstStyle/>
          <a:p>
            <a:pPr eaLnBrk="1" hangingPunct="1">
              <a:lnSpc>
                <a:spcPct val="90000"/>
              </a:lnSpc>
              <a:defRPr/>
            </a:pPr>
            <a:r>
              <a:rPr lang="zh-CN" altLang="en-US" dirty="0" smtClean="0"/>
              <a:t>定理</a:t>
            </a:r>
            <a:r>
              <a:rPr lang="en-US" altLang="zh-CN" dirty="0" smtClean="0"/>
              <a:t> 2.3</a:t>
            </a:r>
            <a:r>
              <a:rPr lang="zh-CN" altLang="en-US" dirty="0" smtClean="0"/>
              <a:t>（</a:t>
            </a:r>
            <a:r>
              <a:rPr lang="zh-CN" altLang="en-US" dirty="0" smtClean="0">
                <a:solidFill>
                  <a:srgbClr val="FF0000"/>
                </a:solidFill>
              </a:rPr>
              <a:t>推广的</a:t>
            </a:r>
            <a:r>
              <a:rPr lang="zh-CN" altLang="en-US" dirty="0" smtClean="0"/>
              <a:t>鸽巢原理）</a:t>
            </a:r>
            <a:endParaRPr lang="en-US" altLang="zh-CN" dirty="0" smtClean="0"/>
          </a:p>
          <a:p>
            <a:pPr lvl="1" eaLnBrk="1" hangingPunct="1">
              <a:lnSpc>
                <a:spcPct val="90000"/>
              </a:lnSpc>
              <a:buFontTx/>
              <a:buNone/>
              <a:defRPr/>
            </a:pPr>
            <a:r>
              <a:rPr lang="zh-CN" altLang="en-US" sz="2000" dirty="0">
                <a:latin typeface="+mn-lt"/>
                <a:ea typeface="+mn-ea"/>
              </a:rPr>
              <a:t>如果把</a:t>
            </a:r>
            <a:r>
              <a:rPr lang="en-US" altLang="zh-CN" sz="2000" dirty="0">
                <a:latin typeface="+mn-lt"/>
                <a:ea typeface="+mn-ea"/>
              </a:rPr>
              <a:t>n</a:t>
            </a:r>
            <a:r>
              <a:rPr lang="zh-CN" altLang="en-US" sz="2000" dirty="0">
                <a:latin typeface="+mn-lt"/>
                <a:ea typeface="+mn-ea"/>
              </a:rPr>
              <a:t>个球分别放在</a:t>
            </a:r>
            <a:r>
              <a:rPr lang="en-US" altLang="zh-CN" sz="2000" dirty="0">
                <a:latin typeface="+mn-lt"/>
                <a:ea typeface="+mn-ea"/>
              </a:rPr>
              <a:t>m</a:t>
            </a:r>
            <a:r>
              <a:rPr lang="zh-CN" altLang="en-US" sz="2000" dirty="0">
                <a:latin typeface="+mn-lt"/>
                <a:ea typeface="+mn-ea"/>
              </a:rPr>
              <a:t>个盒子中，那么：</a:t>
            </a:r>
            <a:endParaRPr lang="en-US" altLang="zh-CN" sz="2000" dirty="0">
              <a:latin typeface="+mn-lt"/>
              <a:ea typeface="+mn-ea"/>
            </a:endParaRPr>
          </a:p>
          <a:p>
            <a:pPr lvl="2" eaLnBrk="1" hangingPunct="1">
              <a:lnSpc>
                <a:spcPct val="90000"/>
              </a:lnSpc>
              <a:defRPr/>
            </a:pPr>
            <a:r>
              <a:rPr lang="zh-CN" altLang="en-US" dirty="0" smtClean="0">
                <a:latin typeface="+mn-lt"/>
                <a:ea typeface="+mn-ea"/>
              </a:rPr>
              <a:t>存在一个盒子，必定至少装</a:t>
            </a:r>
            <a:r>
              <a:rPr lang="en-US" altLang="zh-CN" dirty="0" smtClean="0">
                <a:latin typeface="+mn-lt"/>
                <a:ea typeface="+mn-ea"/>
                <a:sym typeface="Symbol" pitchFamily="18" charset="2"/>
              </a:rPr>
              <a:t></a:t>
            </a:r>
            <a:r>
              <a:rPr lang="en-US" altLang="zh-CN" i="1" dirty="0" smtClean="0">
                <a:latin typeface="+mn-lt"/>
                <a:ea typeface="+mn-ea"/>
                <a:sym typeface="Symbol" pitchFamily="18" charset="2"/>
              </a:rPr>
              <a:t>n/m</a:t>
            </a:r>
            <a:r>
              <a:rPr lang="en-US" altLang="zh-CN" dirty="0" smtClean="0">
                <a:latin typeface="+mn-lt"/>
                <a:ea typeface="+mn-ea"/>
                <a:sym typeface="Symbol" pitchFamily="18" charset="2"/>
              </a:rPr>
              <a:t> </a:t>
            </a:r>
            <a:r>
              <a:rPr lang="zh-CN" altLang="en-US" dirty="0" smtClean="0">
                <a:latin typeface="+mn-lt"/>
                <a:ea typeface="+mn-ea"/>
                <a:sym typeface="Symbol" pitchFamily="18" charset="2"/>
              </a:rPr>
              <a:t>个球；</a:t>
            </a:r>
            <a:endParaRPr lang="en-US" altLang="zh-CN" dirty="0" smtClean="0">
              <a:latin typeface="+mn-lt"/>
              <a:ea typeface="+mn-ea"/>
              <a:sym typeface="Symbol" pitchFamily="18" charset="2"/>
            </a:endParaRPr>
          </a:p>
          <a:p>
            <a:pPr lvl="2" eaLnBrk="1" hangingPunct="1">
              <a:lnSpc>
                <a:spcPct val="90000"/>
              </a:lnSpc>
              <a:defRPr/>
            </a:pPr>
            <a:r>
              <a:rPr lang="zh-CN" altLang="en-US" dirty="0" smtClean="0">
                <a:latin typeface="+mn-lt"/>
                <a:ea typeface="+mn-ea"/>
                <a:sym typeface="Symbol" pitchFamily="18" charset="2"/>
              </a:rPr>
              <a:t>存在一个盒子，必定最多装</a:t>
            </a:r>
            <a:r>
              <a:rPr lang="en-US" altLang="zh-CN" dirty="0" smtClean="0">
                <a:latin typeface="+mn-lt"/>
                <a:ea typeface="+mn-ea"/>
                <a:sym typeface="Symbol" pitchFamily="18" charset="2"/>
              </a:rPr>
              <a:t></a:t>
            </a:r>
            <a:r>
              <a:rPr lang="en-US" altLang="zh-CN" i="1" dirty="0" smtClean="0">
                <a:latin typeface="+mn-lt"/>
                <a:ea typeface="+mn-ea"/>
                <a:sym typeface="Symbol" pitchFamily="18" charset="2"/>
              </a:rPr>
              <a:t>n/m</a:t>
            </a:r>
            <a:r>
              <a:rPr lang="en-US" altLang="zh-CN" dirty="0" smtClean="0">
                <a:latin typeface="+mn-lt"/>
                <a:ea typeface="+mn-ea"/>
                <a:sym typeface="Symbol" pitchFamily="18" charset="2"/>
              </a:rPr>
              <a:t> </a:t>
            </a:r>
            <a:r>
              <a:rPr lang="zh-CN" altLang="en-US" dirty="0" smtClean="0">
                <a:latin typeface="+mn-lt"/>
                <a:ea typeface="+mn-ea"/>
                <a:sym typeface="Symbol" pitchFamily="18" charset="2"/>
              </a:rPr>
              <a:t>个球。</a:t>
            </a:r>
            <a:endParaRPr lang="en-US" altLang="zh-CN" dirty="0" smtClean="0">
              <a:latin typeface="+mn-lt"/>
              <a:ea typeface="+mn-ea"/>
              <a:sym typeface="Symbol" pitchFamily="18" charset="2"/>
            </a:endParaRPr>
          </a:p>
          <a:p>
            <a:pPr lvl="2" eaLnBrk="1" hangingPunct="1">
              <a:lnSpc>
                <a:spcPct val="90000"/>
              </a:lnSpc>
              <a:buFontTx/>
              <a:buNone/>
              <a:defRPr/>
            </a:pPr>
            <a:r>
              <a:rPr lang="zh-CN" altLang="en-US" dirty="0" smtClean="0">
                <a:solidFill>
                  <a:srgbClr val="FF0000"/>
                </a:solidFill>
                <a:latin typeface="+mn-lt"/>
                <a:ea typeface="+mn-ea"/>
                <a:sym typeface="Symbol" pitchFamily="18" charset="2"/>
              </a:rPr>
              <a:t>等同于</a:t>
            </a:r>
            <a:r>
              <a:rPr lang="zh-CN" altLang="en-US" dirty="0" smtClean="0">
                <a:latin typeface="+mn-lt"/>
                <a:ea typeface="+mn-ea"/>
                <a:sym typeface="Symbol" pitchFamily="18" charset="2"/>
              </a:rPr>
              <a:t>：当盒子仅有</a:t>
            </a:r>
            <a:r>
              <a:rPr lang="en-US" altLang="zh-CN" dirty="0" smtClean="0">
                <a:latin typeface="+mn-lt"/>
                <a:ea typeface="+mn-ea"/>
                <a:sym typeface="Symbol" pitchFamily="18" charset="2"/>
              </a:rPr>
              <a:t>n</a:t>
            </a:r>
            <a:r>
              <a:rPr lang="zh-CN" altLang="en-US" dirty="0" smtClean="0">
                <a:latin typeface="+mn-lt"/>
                <a:ea typeface="+mn-ea"/>
                <a:sym typeface="Symbol" pitchFamily="18" charset="2"/>
              </a:rPr>
              <a:t>个，而球的数目大于</a:t>
            </a:r>
            <a:r>
              <a:rPr lang="en-US" altLang="zh-CN" dirty="0" smtClean="0">
                <a:latin typeface="+mn-lt"/>
                <a:ea typeface="+mn-ea"/>
                <a:sym typeface="Symbol" pitchFamily="18" charset="2"/>
              </a:rPr>
              <a:t>n</a:t>
            </a:r>
            <a:r>
              <a:rPr lang="zh-CN" altLang="en-US" dirty="0" smtClean="0">
                <a:latin typeface="+mn-lt"/>
                <a:ea typeface="+mn-ea"/>
                <a:sym typeface="Symbol" pitchFamily="18" charset="2"/>
              </a:rPr>
              <a:t>*</a:t>
            </a:r>
            <a:r>
              <a:rPr lang="en-US" altLang="zh-CN" dirty="0" smtClean="0">
                <a:latin typeface="+mn-lt"/>
                <a:ea typeface="+mn-ea"/>
                <a:sym typeface="Symbol" pitchFamily="18" charset="2"/>
              </a:rPr>
              <a:t>m</a:t>
            </a:r>
            <a:r>
              <a:rPr lang="zh-CN" altLang="en-US" dirty="0" smtClean="0">
                <a:latin typeface="+mn-lt"/>
                <a:ea typeface="+mn-ea"/>
                <a:sym typeface="Symbol" pitchFamily="18" charset="2"/>
              </a:rPr>
              <a:t>时，则必有一个盒子中至少有</a:t>
            </a:r>
            <a:r>
              <a:rPr lang="en-US" altLang="zh-CN" dirty="0" smtClean="0">
                <a:latin typeface="+mn-lt"/>
                <a:ea typeface="+mn-ea"/>
                <a:sym typeface="Symbol" pitchFamily="18" charset="2"/>
              </a:rPr>
              <a:t>m+1</a:t>
            </a:r>
            <a:r>
              <a:rPr lang="zh-CN" altLang="en-US" dirty="0" smtClean="0">
                <a:latin typeface="+mn-lt"/>
                <a:ea typeface="+mn-ea"/>
                <a:sym typeface="Symbol" pitchFamily="18" charset="2"/>
              </a:rPr>
              <a:t>或多于</a:t>
            </a:r>
            <a:r>
              <a:rPr lang="en-US" altLang="zh-CN" dirty="0" smtClean="0">
                <a:latin typeface="+mn-lt"/>
                <a:ea typeface="+mn-ea"/>
                <a:sym typeface="Symbol" pitchFamily="18" charset="2"/>
              </a:rPr>
              <a:t>m+1</a:t>
            </a:r>
            <a:r>
              <a:rPr lang="zh-CN" altLang="en-US" dirty="0" smtClean="0">
                <a:latin typeface="+mn-lt"/>
                <a:ea typeface="+mn-ea"/>
                <a:sym typeface="Symbol" pitchFamily="18" charset="2"/>
              </a:rPr>
              <a:t>个物体。</a:t>
            </a:r>
            <a:endParaRPr lang="en-US" altLang="zh-CN" dirty="0" smtClean="0">
              <a:latin typeface="+mn-lt"/>
              <a:ea typeface="+mn-ea"/>
              <a:sym typeface="Symbol" pitchFamily="18" charset="2"/>
            </a:endParaRPr>
          </a:p>
          <a:p>
            <a:pPr lvl="2" eaLnBrk="1" hangingPunct="1">
              <a:lnSpc>
                <a:spcPct val="90000"/>
              </a:lnSpc>
              <a:buFontTx/>
              <a:buNone/>
              <a:defRPr/>
            </a:pPr>
            <a:r>
              <a:rPr lang="zh-CN" altLang="en-US" dirty="0" smtClean="0">
                <a:latin typeface="+mn-lt"/>
                <a:ea typeface="+mn-ea"/>
                <a:sym typeface="Symbol" pitchFamily="18" charset="2"/>
              </a:rPr>
              <a:t>例：在</a:t>
            </a:r>
            <a:r>
              <a:rPr lang="en-US" altLang="zh-CN" dirty="0" smtClean="0">
                <a:latin typeface="+mn-lt"/>
                <a:ea typeface="+mn-ea"/>
                <a:sym typeface="Symbol" pitchFamily="18" charset="2"/>
              </a:rPr>
              <a:t>100</a:t>
            </a:r>
            <a:r>
              <a:rPr lang="zh-CN" altLang="en-US" dirty="0" smtClean="0">
                <a:latin typeface="+mn-lt"/>
                <a:ea typeface="+mn-ea"/>
                <a:sym typeface="Symbol" pitchFamily="18" charset="2"/>
              </a:rPr>
              <a:t>人中至少有</a:t>
            </a:r>
            <a:r>
              <a:rPr lang="en-US" altLang="zh-CN" dirty="0" smtClean="0">
                <a:latin typeface="+mn-lt"/>
                <a:ea typeface="+mn-ea"/>
                <a:sym typeface="Symbol" pitchFamily="18" charset="2"/>
              </a:rPr>
              <a:t>100/12 =9</a:t>
            </a:r>
            <a:r>
              <a:rPr lang="zh-CN" altLang="en-US" dirty="0" smtClean="0">
                <a:latin typeface="+mn-lt"/>
                <a:ea typeface="+mn-ea"/>
                <a:sym typeface="Symbol" pitchFamily="18" charset="2"/>
              </a:rPr>
              <a:t>个人出生在同一个月。</a:t>
            </a:r>
            <a:endParaRPr lang="en-US" altLang="zh-CN" dirty="0" smtClean="0">
              <a:latin typeface="+mn-lt"/>
              <a:ea typeface="+mn-ea"/>
              <a:sym typeface="Symbol" pitchFamily="18" charset="2"/>
            </a:endParaRPr>
          </a:p>
          <a:p>
            <a:pPr lvl="2" eaLnBrk="1" hangingPunct="1">
              <a:lnSpc>
                <a:spcPct val="90000"/>
              </a:lnSpc>
              <a:buFontTx/>
              <a:buNone/>
              <a:defRPr/>
            </a:pPr>
            <a:r>
              <a:rPr lang="en-US" altLang="zh-CN" dirty="0" smtClean="0">
                <a:latin typeface="+mn-lt"/>
                <a:ea typeface="+mn-ea"/>
                <a:sym typeface="Symbol" pitchFamily="18" charset="2"/>
              </a:rPr>
              <a:t>         </a:t>
            </a:r>
            <a:r>
              <a:rPr lang="zh-CN" altLang="en-US" dirty="0" smtClean="0">
                <a:latin typeface="+mn-lt"/>
                <a:ea typeface="+mn-ea"/>
                <a:sym typeface="Symbol" pitchFamily="18" charset="2"/>
              </a:rPr>
              <a:t>一定有一个月，最多只有</a:t>
            </a:r>
            <a:r>
              <a:rPr lang="en-US" altLang="zh-CN" sz="1600" dirty="0" smtClean="0">
                <a:sym typeface="Symbol" pitchFamily="18" charset="2"/>
              </a:rPr>
              <a:t> 100/12  </a:t>
            </a:r>
            <a:r>
              <a:rPr lang="en-US" altLang="zh-CN" sz="1800" dirty="0" smtClean="0">
                <a:sym typeface="Symbol" pitchFamily="18" charset="2"/>
              </a:rPr>
              <a:t>=</a:t>
            </a:r>
            <a:r>
              <a:rPr lang="en-US" altLang="zh-CN" dirty="0" smtClean="0">
                <a:latin typeface="+mn-lt"/>
                <a:ea typeface="+mn-ea"/>
                <a:sym typeface="Symbol" pitchFamily="18" charset="2"/>
              </a:rPr>
              <a:t>8</a:t>
            </a:r>
            <a:r>
              <a:rPr lang="zh-CN" altLang="en-US" dirty="0" smtClean="0">
                <a:latin typeface="+mn-lt"/>
                <a:ea typeface="+mn-ea"/>
                <a:sym typeface="Symbol" pitchFamily="18" charset="2"/>
              </a:rPr>
              <a:t>个人出生。（即不可能每个月都有</a:t>
            </a:r>
            <a:r>
              <a:rPr lang="en-US" altLang="zh-CN" dirty="0" smtClean="0">
                <a:latin typeface="+mn-lt"/>
                <a:ea typeface="+mn-ea"/>
                <a:sym typeface="Symbol" pitchFamily="18" charset="2"/>
              </a:rPr>
              <a:t>9</a:t>
            </a:r>
            <a:r>
              <a:rPr lang="zh-CN" altLang="en-US" dirty="0" smtClean="0">
                <a:latin typeface="+mn-lt"/>
                <a:ea typeface="+mn-ea"/>
                <a:sym typeface="Symbol" pitchFamily="18" charset="2"/>
              </a:rPr>
              <a:t>个人出生）</a:t>
            </a:r>
            <a:endParaRPr lang="en-US" altLang="zh-CN" dirty="0" smtClean="0">
              <a:latin typeface="+mn-lt"/>
              <a:ea typeface="+mn-ea"/>
              <a:sym typeface="Symbol" pitchFamily="18" charset="2"/>
            </a:endParaRPr>
          </a:p>
          <a:p>
            <a:pPr eaLnBrk="1" hangingPunct="1">
              <a:lnSpc>
                <a:spcPct val="90000"/>
              </a:lnSpc>
              <a:defRPr/>
            </a:pPr>
            <a:r>
              <a:rPr lang="zh-CN" altLang="en-US" dirty="0" smtClean="0">
                <a:sym typeface="Symbol" pitchFamily="18" charset="2"/>
              </a:rPr>
              <a:t>例子</a:t>
            </a:r>
            <a:endParaRPr lang="en-US" altLang="zh-CN" dirty="0" smtClean="0">
              <a:sym typeface="Symbol" pitchFamily="18" charset="2"/>
            </a:endParaRPr>
          </a:p>
          <a:p>
            <a:pPr lvl="1" eaLnBrk="1" hangingPunct="1">
              <a:lnSpc>
                <a:spcPct val="90000"/>
              </a:lnSpc>
              <a:buFontTx/>
              <a:buNone/>
              <a:defRPr/>
            </a:pPr>
            <a:r>
              <a:rPr lang="zh-CN" altLang="en-US" sz="2000" dirty="0" smtClean="0">
                <a:solidFill>
                  <a:srgbClr val="660066"/>
                </a:solidFill>
                <a:latin typeface="+mn-lt"/>
                <a:ea typeface="+mn-ea"/>
                <a:sym typeface="Symbol" pitchFamily="18" charset="2"/>
              </a:rPr>
              <a:t>令</a:t>
            </a:r>
            <a:r>
              <a:rPr lang="en-US" altLang="zh-CN" sz="2000" dirty="0" smtClean="0">
                <a:solidFill>
                  <a:srgbClr val="660066"/>
                </a:solidFill>
                <a:latin typeface="+mn-lt"/>
                <a:ea typeface="+mn-ea"/>
                <a:sym typeface="Symbol" pitchFamily="18" charset="2"/>
              </a:rPr>
              <a:t> G = (V, E) </a:t>
            </a:r>
            <a:r>
              <a:rPr lang="zh-CN" altLang="en-US" sz="2000" dirty="0" smtClean="0">
                <a:solidFill>
                  <a:srgbClr val="660066"/>
                </a:solidFill>
                <a:latin typeface="+mn-lt"/>
                <a:ea typeface="+mn-ea"/>
                <a:sym typeface="Symbol" pitchFamily="18" charset="2"/>
              </a:rPr>
              <a:t>是一个连通的无向图，有</a:t>
            </a:r>
            <a:r>
              <a:rPr lang="en-US" altLang="zh-CN" sz="2000" dirty="0" smtClean="0">
                <a:solidFill>
                  <a:srgbClr val="660066"/>
                </a:solidFill>
                <a:latin typeface="+mn-lt"/>
                <a:ea typeface="+mn-ea"/>
                <a:sym typeface="Symbol" pitchFamily="18" charset="2"/>
              </a:rPr>
              <a:t>m</a:t>
            </a:r>
            <a:r>
              <a:rPr lang="zh-CN" altLang="en-US" sz="2000" dirty="0" smtClean="0">
                <a:solidFill>
                  <a:srgbClr val="660066"/>
                </a:solidFill>
                <a:latin typeface="+mn-lt"/>
                <a:ea typeface="+mn-ea"/>
                <a:sym typeface="Symbol" pitchFamily="18" charset="2"/>
              </a:rPr>
              <a:t>个顶点。令</a:t>
            </a:r>
            <a:r>
              <a:rPr lang="en-US" altLang="zh-CN" sz="2000" dirty="0" smtClean="0">
                <a:solidFill>
                  <a:srgbClr val="660066"/>
                </a:solidFill>
                <a:latin typeface="+mn-lt"/>
                <a:ea typeface="+mn-ea"/>
                <a:sym typeface="Symbol" pitchFamily="18" charset="2"/>
              </a:rPr>
              <a:t>p</a:t>
            </a:r>
            <a:r>
              <a:rPr lang="zh-CN" altLang="en-US" sz="2000" dirty="0" smtClean="0">
                <a:solidFill>
                  <a:srgbClr val="660066"/>
                </a:solidFill>
                <a:latin typeface="+mn-lt"/>
                <a:ea typeface="+mn-ea"/>
                <a:sym typeface="Symbol" pitchFamily="18" charset="2"/>
              </a:rPr>
              <a:t>是</a:t>
            </a:r>
            <a:r>
              <a:rPr lang="en-US" altLang="zh-CN" sz="2000" dirty="0" smtClean="0">
                <a:solidFill>
                  <a:srgbClr val="660066"/>
                </a:solidFill>
                <a:latin typeface="+mn-lt"/>
                <a:ea typeface="+mn-ea"/>
                <a:sym typeface="Symbol" pitchFamily="18" charset="2"/>
              </a:rPr>
              <a:t>G</a:t>
            </a:r>
            <a:r>
              <a:rPr lang="zh-CN" altLang="en-US" sz="2000" dirty="0" smtClean="0">
                <a:solidFill>
                  <a:srgbClr val="660066"/>
                </a:solidFill>
                <a:latin typeface="+mn-lt"/>
                <a:ea typeface="+mn-ea"/>
                <a:sym typeface="Symbol" pitchFamily="18" charset="2"/>
              </a:rPr>
              <a:t>中访问</a:t>
            </a:r>
            <a:r>
              <a:rPr lang="en-US" altLang="zh-CN" sz="2000" dirty="0" smtClean="0">
                <a:solidFill>
                  <a:srgbClr val="660066"/>
                </a:solidFill>
                <a:latin typeface="+mn-lt"/>
                <a:ea typeface="+mn-ea"/>
                <a:sym typeface="Symbol" pitchFamily="18" charset="2"/>
              </a:rPr>
              <a:t>n&gt;m </a:t>
            </a:r>
            <a:r>
              <a:rPr lang="zh-CN" altLang="en-US" sz="2000" dirty="0" smtClean="0">
                <a:solidFill>
                  <a:srgbClr val="660066"/>
                </a:solidFill>
                <a:latin typeface="+mn-lt"/>
                <a:ea typeface="+mn-ea"/>
                <a:sym typeface="Symbol" pitchFamily="18" charset="2"/>
              </a:rPr>
              <a:t>个顶点的一条路径，那么</a:t>
            </a:r>
            <a:r>
              <a:rPr lang="en-US" altLang="zh-CN" sz="2000" dirty="0" smtClean="0">
                <a:solidFill>
                  <a:srgbClr val="660066"/>
                </a:solidFill>
                <a:latin typeface="+mn-lt"/>
                <a:ea typeface="+mn-ea"/>
                <a:sym typeface="Symbol" pitchFamily="18" charset="2"/>
              </a:rPr>
              <a:t>p</a:t>
            </a:r>
            <a:r>
              <a:rPr lang="zh-CN" altLang="en-US" sz="2000" dirty="0" smtClean="0">
                <a:solidFill>
                  <a:srgbClr val="660066"/>
                </a:solidFill>
                <a:latin typeface="+mn-lt"/>
                <a:ea typeface="+mn-ea"/>
                <a:sym typeface="Symbol" pitchFamily="18" charset="2"/>
              </a:rPr>
              <a:t>必定包含一条回路。</a:t>
            </a:r>
            <a:endParaRPr lang="en-US" altLang="zh-CN" sz="2000" dirty="0" smtClean="0">
              <a:solidFill>
                <a:srgbClr val="660066"/>
              </a:solidFill>
              <a:latin typeface="+mn-lt"/>
              <a:ea typeface="+mn-ea"/>
              <a:sym typeface="Symbol" pitchFamily="18" charset="2"/>
            </a:endParaRPr>
          </a:p>
          <a:p>
            <a:pPr lvl="1" eaLnBrk="1" hangingPunct="1">
              <a:lnSpc>
                <a:spcPct val="90000"/>
              </a:lnSpc>
              <a:buFontTx/>
              <a:buNone/>
              <a:defRPr/>
            </a:pPr>
            <a:r>
              <a:rPr lang="zh-CN" altLang="en-US" sz="2000" dirty="0" smtClean="0">
                <a:latin typeface="+mn-lt"/>
                <a:ea typeface="+mn-ea"/>
                <a:sym typeface="Symbol" pitchFamily="18" charset="2"/>
              </a:rPr>
              <a:t>证明：由于</a:t>
            </a:r>
            <a:r>
              <a:rPr lang="en-US" altLang="zh-CN" sz="2000" dirty="0" smtClean="0">
                <a:latin typeface="+mn-lt"/>
                <a:ea typeface="+mn-ea"/>
                <a:sym typeface="Symbol" pitchFamily="18" charset="2"/>
              </a:rPr>
              <a:t> </a:t>
            </a:r>
            <a:r>
              <a:rPr lang="en-US" altLang="zh-CN" sz="2000" i="1" dirty="0" smtClean="0">
                <a:latin typeface="+mn-lt"/>
                <a:ea typeface="+mn-ea"/>
                <a:sym typeface="Symbol" pitchFamily="18" charset="2"/>
              </a:rPr>
              <a:t>n/m</a:t>
            </a:r>
            <a:r>
              <a:rPr lang="en-US" altLang="zh-CN" sz="2000" dirty="0" smtClean="0">
                <a:latin typeface="+mn-lt"/>
                <a:ea typeface="+mn-ea"/>
                <a:sym typeface="Symbol" pitchFamily="18" charset="2"/>
              </a:rPr>
              <a:t> &gt;1, </a:t>
            </a:r>
            <a:r>
              <a:rPr lang="zh-CN" altLang="en-US" sz="2000" dirty="0" smtClean="0">
                <a:latin typeface="+mn-lt"/>
                <a:ea typeface="+mn-ea"/>
                <a:sym typeface="Symbol" pitchFamily="18" charset="2"/>
              </a:rPr>
              <a:t>至少有 一顶点，假设是</a:t>
            </a:r>
            <a:r>
              <a:rPr lang="en-US" altLang="zh-CN" sz="2000" dirty="0" smtClean="0">
                <a:latin typeface="+mn-lt"/>
                <a:ea typeface="+mn-ea"/>
                <a:sym typeface="Symbol" pitchFamily="18" charset="2"/>
              </a:rPr>
              <a:t> v, </a:t>
            </a:r>
            <a:r>
              <a:rPr lang="zh-CN" altLang="en-US" sz="2000" dirty="0" smtClean="0">
                <a:latin typeface="+mn-lt"/>
                <a:ea typeface="+mn-ea"/>
                <a:sym typeface="Symbol" pitchFamily="18" charset="2"/>
              </a:rPr>
              <a:t>它将被</a:t>
            </a:r>
            <a:r>
              <a:rPr lang="en-US" altLang="zh-CN" sz="2000" dirty="0" smtClean="0">
                <a:latin typeface="+mn-lt"/>
                <a:ea typeface="+mn-ea"/>
                <a:sym typeface="Symbol" pitchFamily="18" charset="2"/>
              </a:rPr>
              <a:t>p</a:t>
            </a:r>
            <a:r>
              <a:rPr lang="zh-CN" altLang="en-US" sz="2000" dirty="0" smtClean="0">
                <a:latin typeface="+mn-lt"/>
                <a:ea typeface="+mn-ea"/>
                <a:sym typeface="Symbol" pitchFamily="18" charset="2"/>
              </a:rPr>
              <a:t>访问超过一次，这样，这条路径以</a:t>
            </a:r>
            <a:r>
              <a:rPr lang="en-US" altLang="zh-CN" sz="2000" dirty="0" smtClean="0">
                <a:latin typeface="+mn-lt"/>
                <a:ea typeface="+mn-ea"/>
                <a:sym typeface="Symbol" pitchFamily="18" charset="2"/>
              </a:rPr>
              <a:t>v</a:t>
            </a:r>
            <a:r>
              <a:rPr lang="zh-CN" altLang="en-US" sz="2000" dirty="0" smtClean="0">
                <a:latin typeface="+mn-lt"/>
                <a:ea typeface="+mn-ea"/>
                <a:sym typeface="Symbol" pitchFamily="18" charset="2"/>
              </a:rPr>
              <a:t>其实又以</a:t>
            </a:r>
            <a:r>
              <a:rPr lang="en-US" altLang="zh-CN" sz="2000" dirty="0" smtClean="0">
                <a:latin typeface="+mn-lt"/>
                <a:ea typeface="+mn-ea"/>
                <a:sym typeface="Symbol" pitchFamily="18" charset="2"/>
              </a:rPr>
              <a:t>v</a:t>
            </a:r>
            <a:r>
              <a:rPr lang="zh-CN" altLang="en-US" sz="2000" dirty="0" smtClean="0">
                <a:latin typeface="+mn-lt"/>
                <a:ea typeface="+mn-ea"/>
                <a:sym typeface="Symbol" pitchFamily="18" charset="2"/>
              </a:rPr>
              <a:t>结束的部分形成了一条回路。</a:t>
            </a:r>
            <a:endParaRPr lang="en-US" altLang="zh-CN" sz="2000" dirty="0" smtClean="0">
              <a:latin typeface="+mn-lt"/>
              <a:ea typeface="+mn-ea"/>
              <a:sym typeface="Symbol" pitchFamily="18" charset="2"/>
            </a:endParaRPr>
          </a:p>
        </p:txBody>
      </p:sp>
    </p:spTree>
    <p:extLst>
      <p:ext uri="{BB962C8B-B14F-4D97-AF65-F5344CB8AC3E}">
        <p14:creationId xmlns:p14="http://schemas.microsoft.com/office/powerpoint/2010/main" val="26193063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10595">
                                            <p:txEl>
                                              <p:pRg st="4" end="4"/>
                                            </p:txEl>
                                          </p:spTgt>
                                        </p:tgtEl>
                                        <p:attrNameLst>
                                          <p:attrName>style.visibility</p:attrName>
                                        </p:attrNameLst>
                                      </p:cBhvr>
                                      <p:to>
                                        <p:strVal val="visible"/>
                                      </p:to>
                                    </p:set>
                                    <p:anim calcmode="lin" valueType="num">
                                      <p:cBhvr additive="base">
                                        <p:cTn id="7" dur="500" fill="hold"/>
                                        <p:tgtEl>
                                          <p:spTgt spid="110595">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0595">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10595">
                                            <p:txEl>
                                              <p:pRg st="5" end="5"/>
                                            </p:txEl>
                                          </p:spTgt>
                                        </p:tgtEl>
                                        <p:attrNameLst>
                                          <p:attrName>style.visibility</p:attrName>
                                        </p:attrNameLst>
                                      </p:cBhvr>
                                      <p:to>
                                        <p:strVal val="visible"/>
                                      </p:to>
                                    </p:set>
                                    <p:anim calcmode="lin" valueType="num">
                                      <p:cBhvr additive="base">
                                        <p:cTn id="11" dur="500" fill="hold"/>
                                        <p:tgtEl>
                                          <p:spTgt spid="110595">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10595">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10595">
                                            <p:txEl>
                                              <p:pRg st="6" end="6"/>
                                            </p:txEl>
                                          </p:spTgt>
                                        </p:tgtEl>
                                        <p:attrNameLst>
                                          <p:attrName>style.visibility</p:attrName>
                                        </p:attrNameLst>
                                      </p:cBhvr>
                                      <p:to>
                                        <p:strVal val="visible"/>
                                      </p:to>
                                    </p:set>
                                    <p:anim calcmode="lin" valueType="num">
                                      <p:cBhvr additive="base">
                                        <p:cTn id="15" dur="500" fill="hold"/>
                                        <p:tgtEl>
                                          <p:spTgt spid="110595">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1059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nodeType="clickEffect">
                                  <p:stCondLst>
                                    <p:cond delay="0"/>
                                  </p:stCondLst>
                                  <p:childTnLst>
                                    <p:set>
                                      <p:cBhvr>
                                        <p:cTn id="20" dur="1" fill="hold">
                                          <p:stCondLst>
                                            <p:cond delay="0"/>
                                          </p:stCondLst>
                                        </p:cTn>
                                        <p:tgtEl>
                                          <p:spTgt spid="110595">
                                            <p:txEl>
                                              <p:pRg st="7" end="7"/>
                                            </p:txEl>
                                          </p:spTgt>
                                        </p:tgtEl>
                                        <p:attrNameLst>
                                          <p:attrName>style.visibility</p:attrName>
                                        </p:attrNameLst>
                                      </p:cBhvr>
                                      <p:to>
                                        <p:strVal val="visible"/>
                                      </p:to>
                                    </p:set>
                                    <p:anim calcmode="lin" valueType="num">
                                      <p:cBhvr additive="base">
                                        <p:cTn id="21" dur="500" fill="hold"/>
                                        <p:tgtEl>
                                          <p:spTgt spid="110595">
                                            <p:txEl>
                                              <p:pRg st="7" end="7"/>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10595">
                                            <p:txEl>
                                              <p:pRg st="7" end="7"/>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10595">
                                            <p:txEl>
                                              <p:pRg st="8" end="8"/>
                                            </p:txEl>
                                          </p:spTgt>
                                        </p:tgtEl>
                                        <p:attrNameLst>
                                          <p:attrName>style.visibility</p:attrName>
                                        </p:attrNameLst>
                                      </p:cBhvr>
                                      <p:to>
                                        <p:strVal val="visible"/>
                                      </p:to>
                                    </p:set>
                                    <p:anim calcmode="lin" valueType="num">
                                      <p:cBhvr additive="base">
                                        <p:cTn id="25" dur="500" fill="hold"/>
                                        <p:tgtEl>
                                          <p:spTgt spid="110595">
                                            <p:txEl>
                                              <p:pRg st="8" end="8"/>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10595">
                                            <p:txEl>
                                              <p:pRg st="8" end="8"/>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10595">
                                            <p:txEl>
                                              <p:pRg st="9" end="9"/>
                                            </p:txEl>
                                          </p:spTgt>
                                        </p:tgtEl>
                                        <p:attrNameLst>
                                          <p:attrName>style.visibility</p:attrName>
                                        </p:attrNameLst>
                                      </p:cBhvr>
                                      <p:to>
                                        <p:strVal val="visible"/>
                                      </p:to>
                                    </p:set>
                                    <p:anim calcmode="lin" valueType="num">
                                      <p:cBhvr additive="base">
                                        <p:cTn id="29" dur="500" fill="hold"/>
                                        <p:tgtEl>
                                          <p:spTgt spid="110595">
                                            <p:txEl>
                                              <p:pRg st="9" end="9"/>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10595">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81923" name="Text Box 6"/>
          <p:cNvSpPr txBox="1">
            <a:spLocks noChangeArrowheads="1"/>
          </p:cNvSpPr>
          <p:nvPr/>
        </p:nvSpPr>
        <p:spPr bwMode="auto">
          <a:xfrm>
            <a:off x="1331913" y="1412875"/>
            <a:ext cx="6213475" cy="19177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zh-CN" sz="2400">
              <a:solidFill>
                <a:schemeClr val="tx1"/>
              </a:solidFill>
              <a:latin typeface="Arial" panose="020B0604020202020204" pitchFamily="34" charset="0"/>
              <a:ea typeface="宋体" panose="02010600030101010101" pitchFamily="2" charset="-122"/>
            </a:endParaRPr>
          </a:p>
          <a:p>
            <a:pPr eaLnBrk="1" hangingPunct="1">
              <a:spcBef>
                <a:spcPct val="0"/>
              </a:spcBef>
              <a:buFontTx/>
              <a:buNone/>
            </a:pPr>
            <a:endParaRPr lang="en-US" altLang="zh-CN" sz="2400">
              <a:solidFill>
                <a:schemeClr val="tx1"/>
              </a:solidFill>
              <a:latin typeface="Arial" panose="020B0604020202020204" pitchFamily="34" charset="0"/>
              <a:ea typeface="宋体" panose="02010600030101010101" pitchFamily="2" charset="-122"/>
            </a:endParaRPr>
          </a:p>
          <a:p>
            <a:pPr eaLnBrk="1" hangingPunct="1">
              <a:spcBef>
                <a:spcPct val="0"/>
              </a:spcBef>
              <a:buFontTx/>
              <a:buNone/>
            </a:pPr>
            <a:endParaRPr lang="en-US" altLang="zh-CN" sz="2400">
              <a:solidFill>
                <a:schemeClr val="tx1"/>
              </a:solidFill>
              <a:latin typeface="Arial" panose="020B0604020202020204" pitchFamily="34" charset="0"/>
              <a:ea typeface="宋体" panose="02010600030101010101" pitchFamily="2" charset="-122"/>
            </a:endParaRPr>
          </a:p>
          <a:p>
            <a:pPr eaLnBrk="1" hangingPunct="1">
              <a:spcBef>
                <a:spcPct val="0"/>
              </a:spcBef>
              <a:buFontTx/>
              <a:buNone/>
            </a:pPr>
            <a:endParaRPr lang="en-US" altLang="zh-CN" sz="2400">
              <a:solidFill>
                <a:schemeClr val="tx1"/>
              </a:solidFill>
              <a:latin typeface="Arial" panose="020B0604020202020204" pitchFamily="34" charset="0"/>
              <a:ea typeface="宋体" panose="02010600030101010101" pitchFamily="2" charset="-122"/>
            </a:endParaRPr>
          </a:p>
          <a:p>
            <a:pPr eaLnBrk="1" hangingPunct="1">
              <a:spcBef>
                <a:spcPct val="0"/>
              </a:spcBef>
              <a:buFontTx/>
              <a:buNone/>
            </a:pPr>
            <a:endParaRPr lang="en-US" altLang="zh-CN" sz="2400">
              <a:solidFill>
                <a:schemeClr val="tx1"/>
              </a:solidFill>
              <a:latin typeface="Arial" panose="020B0604020202020204" pitchFamily="34" charset="0"/>
              <a:ea typeface="宋体" panose="02010600030101010101" pitchFamily="2" charset="-122"/>
            </a:endParaRPr>
          </a:p>
        </p:txBody>
      </p:sp>
      <p:sp>
        <p:nvSpPr>
          <p:cNvPr id="81924" name="Rectangle 2"/>
          <p:cNvSpPr>
            <a:spLocks noGrp="1" noChangeArrowheads="1"/>
          </p:cNvSpPr>
          <p:nvPr>
            <p:ph type="title"/>
          </p:nvPr>
        </p:nvSpPr>
        <p:spPr/>
        <p:txBody>
          <a:bodyPr/>
          <a:lstStyle/>
          <a:p>
            <a:pPr eaLnBrk="1" hangingPunct="1"/>
            <a:r>
              <a:rPr lang="en-US" altLang="zh-CN" dirty="0" smtClean="0">
                <a:solidFill>
                  <a:srgbClr val="333399"/>
                </a:solidFill>
                <a:latin typeface="华文楷体"/>
              </a:rPr>
              <a:t>1.3.7 </a:t>
            </a:r>
            <a:r>
              <a:rPr lang="zh-CN" altLang="en-US" dirty="0" smtClean="0">
                <a:solidFill>
                  <a:srgbClr val="333399"/>
                </a:solidFill>
                <a:latin typeface="华文楷体"/>
              </a:rPr>
              <a:t>和</a:t>
            </a:r>
            <a:r>
              <a:rPr lang="zh-CN" altLang="en-US" dirty="0">
                <a:solidFill>
                  <a:srgbClr val="333399"/>
                </a:solidFill>
                <a:latin typeface="华文楷体"/>
              </a:rPr>
              <a:t>式</a:t>
            </a:r>
            <a:endParaRPr lang="en-US" altLang="zh-CN" dirty="0" smtClean="0"/>
          </a:p>
        </p:txBody>
      </p:sp>
      <p:graphicFrame>
        <p:nvGraphicFramePr>
          <p:cNvPr id="81925" name="Object 4"/>
          <p:cNvGraphicFramePr>
            <a:graphicFrameLocks noGrp="1" noChangeAspect="1"/>
          </p:cNvGraphicFramePr>
          <p:nvPr>
            <p:ph idx="1"/>
          </p:nvPr>
        </p:nvGraphicFramePr>
        <p:xfrm>
          <a:off x="1928813" y="1285875"/>
          <a:ext cx="4679950" cy="2187575"/>
        </p:xfrm>
        <a:graphic>
          <a:graphicData uri="http://schemas.openxmlformats.org/presentationml/2006/ole">
            <mc:AlternateContent xmlns:mc="http://schemas.openxmlformats.org/markup-compatibility/2006">
              <mc:Choice xmlns:v="urn:schemas-microsoft-com:vml" Requires="v">
                <p:oleObj spid="_x0000_s8215" name="公式" r:id="rId3" imgW="1955800" imgH="914400" progId="Equation.3">
                  <p:embed/>
                </p:oleObj>
              </mc:Choice>
              <mc:Fallback>
                <p:oleObj name="公式" r:id="rId3" imgW="1955800" imgH="914400" progId="Equation.3">
                  <p:embed/>
                  <p:pic>
                    <p:nvPicPr>
                      <p:cNvPr id="81925"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8813" y="1285875"/>
                        <a:ext cx="4679950" cy="218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1926" name="Text Box 7"/>
          <p:cNvSpPr txBox="1">
            <a:spLocks noChangeArrowheads="1"/>
          </p:cNvSpPr>
          <p:nvPr/>
        </p:nvSpPr>
        <p:spPr bwMode="auto">
          <a:xfrm>
            <a:off x="1116013" y="3644900"/>
            <a:ext cx="7334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a:latin typeface="Arial" panose="020B0604020202020204" pitchFamily="34" charset="0"/>
                <a:ea typeface="宋体" panose="02010600030101010101" pitchFamily="2" charset="-122"/>
              </a:rPr>
              <a:t>P48</a:t>
            </a:r>
          </a:p>
        </p:txBody>
      </p:sp>
    </p:spTree>
    <p:extLst>
      <p:ext uri="{BB962C8B-B14F-4D97-AF65-F5344CB8AC3E}">
        <p14:creationId xmlns:p14="http://schemas.microsoft.com/office/powerpoint/2010/main" val="26756823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页脚占位符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82947" name="Rectangle 2"/>
          <p:cNvSpPr>
            <a:spLocks noGrp="1" noChangeArrowheads="1"/>
          </p:cNvSpPr>
          <p:nvPr>
            <p:ph type="title"/>
          </p:nvPr>
        </p:nvSpPr>
        <p:spPr>
          <a:xfrm>
            <a:off x="979055" y="271463"/>
            <a:ext cx="7454900" cy="925512"/>
          </a:xfrm>
        </p:spPr>
        <p:txBody>
          <a:bodyPr/>
          <a:lstStyle/>
          <a:p>
            <a:pPr eaLnBrk="1" hangingPunct="1"/>
            <a:r>
              <a:rPr lang="en-US" altLang="zh-CN" dirty="0">
                <a:solidFill>
                  <a:srgbClr val="333399"/>
                </a:solidFill>
                <a:latin typeface="华文楷体"/>
              </a:rPr>
              <a:t>1.3.7 </a:t>
            </a:r>
            <a:r>
              <a:rPr lang="zh-CN" altLang="en-US" dirty="0">
                <a:solidFill>
                  <a:srgbClr val="333399"/>
                </a:solidFill>
                <a:latin typeface="华文楷体"/>
              </a:rPr>
              <a:t>和式</a:t>
            </a:r>
            <a:endParaRPr lang="en-US" altLang="zh-CN" sz="2800" dirty="0" smtClean="0"/>
          </a:p>
        </p:txBody>
      </p:sp>
      <p:sp>
        <p:nvSpPr>
          <p:cNvPr id="6151" name="Rectangle 3"/>
          <p:cNvSpPr>
            <a:spLocks noGrp="1" noChangeArrowheads="1"/>
          </p:cNvSpPr>
          <p:nvPr>
            <p:ph type="body" sz="half" idx="1"/>
          </p:nvPr>
        </p:nvSpPr>
        <p:spPr>
          <a:xfrm>
            <a:off x="925513" y="1196975"/>
            <a:ext cx="8218487" cy="4565650"/>
          </a:xfrm>
        </p:spPr>
        <p:txBody>
          <a:bodyPr/>
          <a:lstStyle/>
          <a:p>
            <a:pPr eaLnBrk="1" hangingPunct="1">
              <a:defRPr/>
            </a:pPr>
            <a:r>
              <a:rPr lang="zh-CN" altLang="en-US" sz="2400" dirty="0" smtClean="0"/>
              <a:t>令</a:t>
            </a:r>
            <a:r>
              <a:rPr lang="en-US" altLang="zh-CN" sz="2400" dirty="0" smtClean="0"/>
              <a:t> f(x) </a:t>
            </a:r>
            <a:r>
              <a:rPr lang="zh-CN" altLang="en-US" sz="2400" dirty="0" smtClean="0"/>
              <a:t>是一个单调递减或单调递增的连续函数，现在来估算和式的值。</a:t>
            </a:r>
            <a:endParaRPr lang="en-US" altLang="zh-CN" sz="2400" dirty="0" smtClean="0"/>
          </a:p>
          <a:p>
            <a:pPr eaLnBrk="1" hangingPunct="1">
              <a:buFontTx/>
              <a:buNone/>
              <a:defRPr/>
            </a:pPr>
            <a:r>
              <a:rPr lang="en-US" altLang="zh-CN" sz="2000" dirty="0" smtClean="0"/>
              <a:t>    </a:t>
            </a:r>
          </a:p>
          <a:p>
            <a:pPr eaLnBrk="1" hangingPunct="1">
              <a:buFontTx/>
              <a:buNone/>
              <a:defRPr/>
            </a:pPr>
            <a:r>
              <a:rPr lang="en-US" altLang="zh-CN" sz="2400" dirty="0" smtClean="0"/>
              <a:t>     </a:t>
            </a:r>
            <a:r>
              <a:rPr lang="zh-CN" altLang="en-US" sz="2400" dirty="0" smtClean="0"/>
              <a:t>可以通过积分来近似和式，得出上下界如下：</a:t>
            </a:r>
            <a:endParaRPr lang="en-US" altLang="zh-CN" sz="2400" dirty="0" smtClean="0"/>
          </a:p>
          <a:p>
            <a:pPr lvl="1" eaLnBrk="1" hangingPunct="1">
              <a:defRPr/>
            </a:pPr>
            <a:r>
              <a:rPr lang="zh-CN" altLang="en-US" sz="2000" dirty="0" smtClean="0">
                <a:latin typeface="+mn-lt"/>
                <a:ea typeface="+mn-ea"/>
              </a:rPr>
              <a:t>如果</a:t>
            </a:r>
            <a:r>
              <a:rPr lang="en-US" altLang="zh-CN" sz="2000" dirty="0" smtClean="0">
                <a:latin typeface="+mn-lt"/>
                <a:ea typeface="+mn-ea"/>
              </a:rPr>
              <a:t>f(x) </a:t>
            </a:r>
            <a:r>
              <a:rPr lang="zh-CN" altLang="en-US" sz="2000" dirty="0" smtClean="0">
                <a:latin typeface="+mn-lt"/>
                <a:ea typeface="+mn-ea"/>
              </a:rPr>
              <a:t>是递减的，那么有</a:t>
            </a:r>
            <a:endParaRPr lang="en-US" altLang="zh-CN" sz="2000" dirty="0" smtClean="0">
              <a:latin typeface="+mn-lt"/>
              <a:ea typeface="+mn-ea"/>
            </a:endParaRPr>
          </a:p>
          <a:p>
            <a:pPr lvl="1" eaLnBrk="1" hangingPunct="1">
              <a:defRPr/>
            </a:pPr>
            <a:endParaRPr lang="en-US" altLang="zh-CN" sz="2000" dirty="0" smtClean="0"/>
          </a:p>
          <a:p>
            <a:pPr lvl="1" eaLnBrk="1" hangingPunct="1">
              <a:defRPr/>
            </a:pPr>
            <a:endParaRPr lang="en-US" altLang="zh-CN" sz="2000" dirty="0" smtClean="0"/>
          </a:p>
          <a:p>
            <a:pPr lvl="1" eaLnBrk="1" hangingPunct="1">
              <a:defRPr/>
            </a:pPr>
            <a:r>
              <a:rPr lang="zh-CN" altLang="en-US" sz="2000" dirty="0" smtClean="0">
                <a:latin typeface="+mn-lt"/>
                <a:ea typeface="+mn-ea"/>
              </a:rPr>
              <a:t>如果</a:t>
            </a:r>
            <a:r>
              <a:rPr lang="en-US" altLang="zh-CN" sz="2000" dirty="0" smtClean="0">
                <a:latin typeface="+mn-lt"/>
                <a:ea typeface="+mn-ea"/>
              </a:rPr>
              <a:t>f(x) </a:t>
            </a:r>
            <a:r>
              <a:rPr lang="zh-CN" altLang="en-US" sz="2000" dirty="0" smtClean="0">
                <a:latin typeface="+mn-lt"/>
                <a:ea typeface="+mn-ea"/>
              </a:rPr>
              <a:t>是递增的，那么有</a:t>
            </a:r>
            <a:endParaRPr lang="en-US" altLang="zh-CN" sz="2000" dirty="0" smtClean="0">
              <a:latin typeface="+mn-lt"/>
              <a:ea typeface="+mn-ea"/>
            </a:endParaRPr>
          </a:p>
        </p:txBody>
      </p:sp>
      <p:graphicFrame>
        <p:nvGraphicFramePr>
          <p:cNvPr id="82949" name="Object 4"/>
          <p:cNvGraphicFramePr>
            <a:graphicFrameLocks noGrp="1" noChangeAspect="1"/>
          </p:cNvGraphicFramePr>
          <p:nvPr>
            <p:ph sz="quarter" idx="2"/>
            <p:extLst>
              <p:ext uri="{D42A27DB-BD31-4B8C-83A1-F6EECF244321}">
                <p14:modId xmlns:p14="http://schemas.microsoft.com/office/powerpoint/2010/main" val="2165044318"/>
              </p:ext>
            </p:extLst>
          </p:nvPr>
        </p:nvGraphicFramePr>
        <p:xfrm>
          <a:off x="3369252" y="1491890"/>
          <a:ext cx="1079500" cy="950912"/>
        </p:xfrm>
        <a:graphic>
          <a:graphicData uri="http://schemas.openxmlformats.org/presentationml/2006/ole">
            <mc:AlternateContent xmlns:mc="http://schemas.openxmlformats.org/markup-compatibility/2006">
              <mc:Choice xmlns:v="urn:schemas-microsoft-com:vml" Requires="v">
                <p:oleObj spid="_x0000_s9281" name="公式" r:id="rId4" imgW="533169" imgH="444307" progId="Equation.3">
                  <p:embed/>
                </p:oleObj>
              </mc:Choice>
              <mc:Fallback>
                <p:oleObj name="公式" r:id="rId4" imgW="533169" imgH="444307" progId="Equation.3">
                  <p:embed/>
                  <p:pic>
                    <p:nvPicPr>
                      <p:cNvPr id="82949"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69252" y="1491890"/>
                        <a:ext cx="1079500" cy="950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2950" name="Object 6"/>
          <p:cNvGraphicFramePr>
            <a:graphicFrameLocks noGrp="1" noChangeAspect="1"/>
          </p:cNvGraphicFramePr>
          <p:nvPr>
            <p:ph sz="quarter" idx="3"/>
          </p:nvPr>
        </p:nvGraphicFramePr>
        <p:xfrm>
          <a:off x="1500188" y="3214688"/>
          <a:ext cx="3744912" cy="762000"/>
        </p:xfrm>
        <a:graphic>
          <a:graphicData uri="http://schemas.openxmlformats.org/presentationml/2006/ole">
            <mc:AlternateContent xmlns:mc="http://schemas.openxmlformats.org/markup-compatibility/2006">
              <mc:Choice xmlns:v="urn:schemas-microsoft-com:vml" Requires="v">
                <p:oleObj spid="_x0000_s9282" name="公式" r:id="rId6" imgW="2311400" imgH="444500" progId="Equation.3">
                  <p:embed/>
                </p:oleObj>
              </mc:Choice>
              <mc:Fallback>
                <p:oleObj name="公式" r:id="rId6" imgW="2311400" imgH="444500" progId="Equation.3">
                  <p:embed/>
                  <p:pic>
                    <p:nvPicPr>
                      <p:cNvPr id="8295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00188" y="3214688"/>
                        <a:ext cx="3744912"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2951" name="Object 8"/>
          <p:cNvGraphicFramePr>
            <a:graphicFrameLocks noChangeAspect="1"/>
          </p:cNvGraphicFramePr>
          <p:nvPr/>
        </p:nvGraphicFramePr>
        <p:xfrm>
          <a:off x="1500188" y="4357688"/>
          <a:ext cx="4006850" cy="769937"/>
        </p:xfrm>
        <a:graphic>
          <a:graphicData uri="http://schemas.openxmlformats.org/presentationml/2006/ole">
            <mc:AlternateContent xmlns:mc="http://schemas.openxmlformats.org/markup-compatibility/2006">
              <mc:Choice xmlns:v="urn:schemas-microsoft-com:vml" Requires="v">
                <p:oleObj spid="_x0000_s9283" name="公式" r:id="rId8" imgW="2311400" imgH="444500" progId="Equation.3">
                  <p:embed/>
                </p:oleObj>
              </mc:Choice>
              <mc:Fallback>
                <p:oleObj name="公式" r:id="rId8" imgW="2311400" imgH="444500" progId="Equation.3">
                  <p:embed/>
                  <p:pic>
                    <p:nvPicPr>
                      <p:cNvPr id="82951"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00188" y="4357688"/>
                        <a:ext cx="4006850"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82952" name="Picture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574506" y="2952750"/>
            <a:ext cx="3468688" cy="128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953" name="Picture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574506" y="4310063"/>
            <a:ext cx="3429000" cy="120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521866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84995" name="Rectangle 2"/>
          <p:cNvSpPr>
            <a:spLocks noGrp="1" noChangeArrowheads="1"/>
          </p:cNvSpPr>
          <p:nvPr>
            <p:ph type="title"/>
          </p:nvPr>
        </p:nvSpPr>
        <p:spPr/>
        <p:txBody>
          <a:bodyPr/>
          <a:lstStyle/>
          <a:p>
            <a:pPr eaLnBrk="1" hangingPunct="1"/>
            <a:r>
              <a:rPr lang="en-US" altLang="zh-CN" dirty="0" smtClean="0">
                <a:solidFill>
                  <a:srgbClr val="333399"/>
                </a:solidFill>
                <a:latin typeface="华文楷体"/>
              </a:rPr>
              <a:t>1.3.8 </a:t>
            </a:r>
            <a:r>
              <a:rPr lang="zh-CN" altLang="en-US" dirty="0" smtClean="0">
                <a:solidFill>
                  <a:srgbClr val="333399"/>
                </a:solidFill>
                <a:latin typeface="华文楷体"/>
              </a:rPr>
              <a:t>递</a:t>
            </a:r>
            <a:r>
              <a:rPr lang="zh-CN" altLang="en-US" dirty="0">
                <a:solidFill>
                  <a:srgbClr val="333399"/>
                </a:solidFill>
                <a:latin typeface="华文楷体"/>
              </a:rPr>
              <a:t>推</a:t>
            </a:r>
            <a:r>
              <a:rPr lang="zh-CN" altLang="en-US" dirty="0" smtClean="0">
                <a:solidFill>
                  <a:srgbClr val="333399"/>
                </a:solidFill>
                <a:latin typeface="华文楷体"/>
              </a:rPr>
              <a:t>关系</a:t>
            </a:r>
            <a:endParaRPr lang="en-US" altLang="zh-CN" dirty="0" smtClean="0"/>
          </a:p>
        </p:txBody>
      </p:sp>
      <p:sp>
        <p:nvSpPr>
          <p:cNvPr id="84996" name="Rectangle 3"/>
          <p:cNvSpPr>
            <a:spLocks noGrp="1" noChangeArrowheads="1"/>
          </p:cNvSpPr>
          <p:nvPr>
            <p:ph type="body" idx="1"/>
          </p:nvPr>
        </p:nvSpPr>
        <p:spPr/>
        <p:txBody>
          <a:bodyPr/>
          <a:lstStyle/>
          <a:p>
            <a:pPr eaLnBrk="1" hangingPunct="1">
              <a:lnSpc>
                <a:spcPct val="90000"/>
              </a:lnSpc>
            </a:pPr>
            <a:r>
              <a:rPr lang="zh-CN" altLang="en-US" smtClean="0"/>
              <a:t>递归公式是用它自身来定义的一个公式，在这种情况下，我们称这个定义为</a:t>
            </a:r>
            <a:r>
              <a:rPr lang="zh-CN" altLang="en-US" smtClean="0">
                <a:solidFill>
                  <a:srgbClr val="FF0000"/>
                </a:solidFill>
              </a:rPr>
              <a:t>递推关系或递推式</a:t>
            </a:r>
            <a:r>
              <a:rPr lang="zh-CN" altLang="en-US" smtClean="0"/>
              <a:t>。例如，</a:t>
            </a:r>
            <a:r>
              <a:rPr lang="zh-CN" altLang="en-US" smtClean="0">
                <a:solidFill>
                  <a:srgbClr val="FF0000"/>
                </a:solidFill>
              </a:rPr>
              <a:t>正奇数序列</a:t>
            </a:r>
            <a:r>
              <a:rPr lang="zh-CN" altLang="en-US" smtClean="0"/>
              <a:t>可以用递推式描述如下：</a:t>
            </a:r>
            <a:endParaRPr lang="en-US" altLang="zh-CN" smtClean="0"/>
          </a:p>
          <a:p>
            <a:pPr eaLnBrk="1" hangingPunct="1">
              <a:lnSpc>
                <a:spcPct val="90000"/>
              </a:lnSpc>
            </a:pPr>
            <a:r>
              <a:rPr lang="en-US" altLang="zh-CN" smtClean="0">
                <a:solidFill>
                  <a:srgbClr val="660066"/>
                </a:solidFill>
              </a:rPr>
              <a:t>            f(n)=f(n-1)+2, if n&gt;1 and f(1)=1.</a:t>
            </a:r>
          </a:p>
          <a:p>
            <a:pPr eaLnBrk="1" hangingPunct="1">
              <a:lnSpc>
                <a:spcPct val="90000"/>
              </a:lnSpc>
            </a:pPr>
            <a:endParaRPr lang="en-US" altLang="zh-CN" smtClean="0">
              <a:solidFill>
                <a:srgbClr val="660066"/>
              </a:solidFill>
            </a:endParaRPr>
          </a:p>
          <a:p>
            <a:pPr eaLnBrk="1" hangingPunct="1">
              <a:lnSpc>
                <a:spcPct val="90000"/>
              </a:lnSpc>
            </a:pPr>
            <a:r>
              <a:rPr lang="en-US" altLang="zh-CN" smtClean="0"/>
              <a:t>A</a:t>
            </a:r>
            <a:r>
              <a:rPr lang="zh-CN" altLang="en-US" smtClean="0"/>
              <a:t>递推关系如果具有如下这种形式，称为</a:t>
            </a:r>
            <a:r>
              <a:rPr lang="zh-CN" altLang="en-US" smtClean="0">
                <a:solidFill>
                  <a:srgbClr val="FF0000"/>
                </a:solidFill>
              </a:rPr>
              <a:t>常系数线性齐次递推式</a:t>
            </a:r>
            <a:endParaRPr lang="en-US" altLang="zh-CN" smtClean="0">
              <a:solidFill>
                <a:srgbClr val="FF0000"/>
              </a:solidFill>
            </a:endParaRPr>
          </a:p>
          <a:p>
            <a:pPr eaLnBrk="1" hangingPunct="1">
              <a:lnSpc>
                <a:spcPct val="90000"/>
              </a:lnSpc>
              <a:buFontTx/>
              <a:buNone/>
            </a:pPr>
            <a:r>
              <a:rPr lang="en-US" altLang="zh-CN" smtClean="0"/>
              <a:t>                 </a:t>
            </a:r>
            <a:r>
              <a:rPr lang="en-US" altLang="zh-CN" smtClean="0">
                <a:solidFill>
                  <a:srgbClr val="660066"/>
                </a:solidFill>
              </a:rPr>
              <a:t>f(n)=a</a:t>
            </a:r>
            <a:r>
              <a:rPr lang="en-US" altLang="zh-CN" baseline="-25000" smtClean="0">
                <a:solidFill>
                  <a:srgbClr val="660066"/>
                </a:solidFill>
              </a:rPr>
              <a:t>1</a:t>
            </a:r>
            <a:r>
              <a:rPr lang="en-US" altLang="zh-CN" smtClean="0">
                <a:solidFill>
                  <a:srgbClr val="660066"/>
                </a:solidFill>
              </a:rPr>
              <a:t>f(n-1)+a</a:t>
            </a:r>
            <a:r>
              <a:rPr lang="en-US" altLang="zh-CN" baseline="-25000" smtClean="0">
                <a:solidFill>
                  <a:srgbClr val="660066"/>
                </a:solidFill>
              </a:rPr>
              <a:t>2</a:t>
            </a:r>
            <a:r>
              <a:rPr lang="en-US" altLang="zh-CN" smtClean="0">
                <a:solidFill>
                  <a:srgbClr val="660066"/>
                </a:solidFill>
              </a:rPr>
              <a:t>f(n-2)+…+a</a:t>
            </a:r>
            <a:r>
              <a:rPr lang="en-US" altLang="zh-CN" baseline="-25000" smtClean="0">
                <a:solidFill>
                  <a:srgbClr val="660066"/>
                </a:solidFill>
              </a:rPr>
              <a:t>k</a:t>
            </a:r>
            <a:r>
              <a:rPr lang="en-US" altLang="zh-CN" smtClean="0">
                <a:solidFill>
                  <a:srgbClr val="660066"/>
                </a:solidFill>
              </a:rPr>
              <a:t>f(n-k). </a:t>
            </a:r>
          </a:p>
          <a:p>
            <a:pPr eaLnBrk="1" hangingPunct="1">
              <a:lnSpc>
                <a:spcPct val="90000"/>
              </a:lnSpc>
              <a:buFontTx/>
              <a:buNone/>
            </a:pPr>
            <a:r>
              <a:rPr lang="en-US" altLang="zh-CN" smtClean="0"/>
              <a:t>    </a:t>
            </a:r>
            <a:r>
              <a:rPr lang="zh-CN" altLang="en-US" smtClean="0"/>
              <a:t>这里，</a:t>
            </a:r>
            <a:r>
              <a:rPr lang="en-US" altLang="zh-CN" smtClean="0"/>
              <a:t>f(n) </a:t>
            </a:r>
            <a:r>
              <a:rPr lang="zh-CN" altLang="en-US" smtClean="0"/>
              <a:t>称为是</a:t>
            </a:r>
            <a:r>
              <a:rPr lang="en-US" altLang="zh-CN" smtClean="0"/>
              <a:t>k</a:t>
            </a:r>
            <a:r>
              <a:rPr lang="zh-CN" altLang="en-US" smtClean="0"/>
              <a:t>次的。当一个附加项包括常量或者</a:t>
            </a:r>
            <a:r>
              <a:rPr lang="en-US" altLang="zh-CN" smtClean="0"/>
              <a:t>n</a:t>
            </a:r>
            <a:r>
              <a:rPr lang="zh-CN" altLang="en-US" smtClean="0"/>
              <a:t>的函数出现在递推中时，那么它就称为</a:t>
            </a:r>
            <a:r>
              <a:rPr lang="zh-CN" altLang="en-US" smtClean="0">
                <a:solidFill>
                  <a:srgbClr val="FF0000"/>
                </a:solidFill>
              </a:rPr>
              <a:t>非齐次</a:t>
            </a:r>
            <a:r>
              <a:rPr lang="zh-CN" altLang="en-US" smtClean="0"/>
              <a:t>的。</a:t>
            </a:r>
            <a:r>
              <a:rPr lang="en-US" altLang="zh-CN" smtClean="0">
                <a:solidFill>
                  <a:srgbClr val="EA0000"/>
                </a:solidFill>
              </a:rPr>
              <a:t>.</a:t>
            </a:r>
          </a:p>
        </p:txBody>
      </p:sp>
      <p:pic>
        <p:nvPicPr>
          <p:cNvPr id="84997" name="Picture 4" descr="example"/>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0113" y="2349500"/>
            <a:ext cx="342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2577924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87043" name="Rectangle 2"/>
          <p:cNvSpPr>
            <a:spLocks noGrp="1" noChangeArrowheads="1"/>
          </p:cNvSpPr>
          <p:nvPr>
            <p:ph type="title"/>
          </p:nvPr>
        </p:nvSpPr>
        <p:spPr/>
        <p:txBody>
          <a:bodyPr/>
          <a:lstStyle/>
          <a:p>
            <a:pPr eaLnBrk="1" hangingPunct="1"/>
            <a:r>
              <a:rPr lang="en-US" altLang="zh-CN" dirty="0">
                <a:solidFill>
                  <a:srgbClr val="333399"/>
                </a:solidFill>
                <a:latin typeface="华文楷体"/>
              </a:rPr>
              <a:t>1.3.8 </a:t>
            </a:r>
            <a:r>
              <a:rPr lang="zh-CN" altLang="en-US" dirty="0">
                <a:solidFill>
                  <a:srgbClr val="333399"/>
                </a:solidFill>
                <a:latin typeface="华文楷体"/>
              </a:rPr>
              <a:t>递推关系</a:t>
            </a:r>
            <a:endParaRPr lang="en-US" altLang="zh-CN" dirty="0" smtClean="0"/>
          </a:p>
        </p:txBody>
      </p:sp>
      <p:sp>
        <p:nvSpPr>
          <p:cNvPr id="58372" name="Rectangle 3"/>
          <p:cNvSpPr>
            <a:spLocks noGrp="1" noChangeArrowheads="1"/>
          </p:cNvSpPr>
          <p:nvPr>
            <p:ph type="body" idx="1"/>
          </p:nvPr>
        </p:nvSpPr>
        <p:spPr/>
        <p:txBody>
          <a:bodyPr/>
          <a:lstStyle/>
          <a:p>
            <a:pPr algn="just">
              <a:defRPr/>
            </a:pPr>
            <a:r>
              <a:rPr lang="zh-CN" altLang="en-US" sz="2000" dirty="0" smtClean="0">
                <a:latin typeface="+mn-ea"/>
              </a:rPr>
              <a:t>定义：数列{</a:t>
            </a:r>
            <a:r>
              <a:rPr lang="en-US" altLang="zh-CN" sz="2000" dirty="0" smtClean="0">
                <a:latin typeface="+mn-ea"/>
              </a:rPr>
              <a:t>f(n)}</a:t>
            </a:r>
            <a:r>
              <a:rPr lang="zh-CN" altLang="en-US" sz="2000" dirty="0" smtClean="0">
                <a:latin typeface="+mn-ea"/>
              </a:rPr>
              <a:t>满足递推关系</a:t>
            </a:r>
          </a:p>
          <a:p>
            <a:pPr algn="just">
              <a:defRPr/>
            </a:pPr>
            <a:r>
              <a:rPr lang="en-US" altLang="zh-CN" sz="2000" dirty="0" smtClean="0">
                <a:latin typeface="+mn-ea"/>
              </a:rPr>
              <a:t>f(n)=a</a:t>
            </a:r>
            <a:r>
              <a:rPr lang="en-US" altLang="zh-CN" sz="2000" baseline="-25000" dirty="0" smtClean="0">
                <a:latin typeface="+mn-ea"/>
              </a:rPr>
              <a:t>1</a:t>
            </a:r>
            <a:r>
              <a:rPr lang="en-US" altLang="zh-CN" sz="2000" dirty="0" smtClean="0">
                <a:latin typeface="+mn-ea"/>
              </a:rPr>
              <a:t>f(n-1)+ a</a:t>
            </a:r>
            <a:r>
              <a:rPr lang="en-US" altLang="zh-CN" sz="2000" baseline="-25000" dirty="0" smtClean="0">
                <a:latin typeface="+mn-ea"/>
              </a:rPr>
              <a:t>2</a:t>
            </a:r>
            <a:r>
              <a:rPr lang="en-US" altLang="zh-CN" sz="2000" dirty="0" smtClean="0">
                <a:latin typeface="+mn-ea"/>
              </a:rPr>
              <a:t>f(n-2)+ …+ </a:t>
            </a:r>
            <a:r>
              <a:rPr lang="en-US" altLang="zh-CN" sz="2000" dirty="0" err="1" smtClean="0">
                <a:latin typeface="+mn-ea"/>
              </a:rPr>
              <a:t>a</a:t>
            </a:r>
            <a:r>
              <a:rPr lang="en-US" altLang="zh-CN" sz="2000" baseline="-25000" dirty="0" err="1" smtClean="0">
                <a:latin typeface="+mn-ea"/>
              </a:rPr>
              <a:t>k</a:t>
            </a:r>
            <a:r>
              <a:rPr lang="en-US" altLang="zh-CN" sz="2000" dirty="0" err="1" smtClean="0">
                <a:latin typeface="+mn-ea"/>
              </a:rPr>
              <a:t>f</a:t>
            </a:r>
            <a:r>
              <a:rPr lang="en-US" altLang="zh-CN" sz="2000" dirty="0" smtClean="0">
                <a:latin typeface="+mn-ea"/>
              </a:rPr>
              <a:t>(n-k), </a:t>
            </a:r>
            <a:r>
              <a:rPr lang="en-US" altLang="zh-CN" sz="2000" dirty="0" err="1" smtClean="0">
                <a:latin typeface="+mn-ea"/>
              </a:rPr>
              <a:t>a</a:t>
            </a:r>
            <a:r>
              <a:rPr lang="en-US" altLang="zh-CN" sz="2000" baseline="-25000" dirty="0" err="1" smtClean="0">
                <a:latin typeface="+mn-ea"/>
              </a:rPr>
              <a:t>i</a:t>
            </a:r>
            <a:r>
              <a:rPr lang="zh-CN" altLang="en-US" sz="2000" dirty="0" smtClean="0">
                <a:latin typeface="+mn-ea"/>
              </a:rPr>
              <a:t>为常数,</a:t>
            </a:r>
            <a:r>
              <a:rPr lang="en-US" altLang="zh-CN" sz="2000" dirty="0" err="1" smtClean="0">
                <a:latin typeface="+mn-ea"/>
              </a:rPr>
              <a:t>i</a:t>
            </a:r>
            <a:r>
              <a:rPr lang="en-US" altLang="zh-CN" sz="2000" dirty="0" smtClean="0">
                <a:latin typeface="+mn-ea"/>
              </a:rPr>
              <a:t>=1,2,…,</a:t>
            </a:r>
            <a:r>
              <a:rPr lang="en-US" altLang="zh-CN" sz="2000" dirty="0" err="1" smtClean="0">
                <a:latin typeface="+mn-ea"/>
              </a:rPr>
              <a:t>k,n≥k</a:t>
            </a:r>
            <a:r>
              <a:rPr lang="en-US" altLang="zh-CN" sz="2000" dirty="0" smtClean="0">
                <a:latin typeface="+mn-ea"/>
              </a:rPr>
              <a:t>, a</a:t>
            </a:r>
            <a:r>
              <a:rPr lang="en-US" altLang="zh-CN" sz="2000" baseline="-25000" dirty="0" smtClean="0">
                <a:latin typeface="+mn-ea"/>
              </a:rPr>
              <a:t>k</a:t>
            </a:r>
            <a:r>
              <a:rPr lang="en-US" altLang="zh-CN" sz="2000" dirty="0" smtClean="0">
                <a:latin typeface="+mn-ea"/>
              </a:rPr>
              <a:t>≠0，</a:t>
            </a:r>
            <a:r>
              <a:rPr lang="zh-CN" altLang="en-US" sz="2000" dirty="0" smtClean="0">
                <a:latin typeface="+mn-ea"/>
              </a:rPr>
              <a:t>称该递推关系为</a:t>
            </a:r>
            <a:r>
              <a:rPr lang="en-US" altLang="zh-CN" sz="2000" dirty="0" smtClean="0">
                <a:latin typeface="+mn-ea"/>
              </a:rPr>
              <a:t>f(n)</a:t>
            </a:r>
            <a:r>
              <a:rPr lang="zh-CN" altLang="en-US" sz="2000" dirty="0" smtClean="0">
                <a:latin typeface="+mn-ea"/>
              </a:rPr>
              <a:t>的</a:t>
            </a:r>
            <a:r>
              <a:rPr lang="en-US" altLang="zh-CN" sz="2000" dirty="0" smtClean="0">
                <a:solidFill>
                  <a:srgbClr val="FF0000"/>
                </a:solidFill>
                <a:latin typeface="+mn-ea"/>
              </a:rPr>
              <a:t>k</a:t>
            </a:r>
            <a:r>
              <a:rPr lang="zh-CN" altLang="en-US" sz="2000" dirty="0" smtClean="0">
                <a:solidFill>
                  <a:srgbClr val="FF0000"/>
                </a:solidFill>
                <a:latin typeface="+mn-ea"/>
              </a:rPr>
              <a:t>阶常系数线性齐次递推关系</a:t>
            </a:r>
            <a:r>
              <a:rPr lang="zh-CN" altLang="en-US" sz="2000" dirty="0" smtClean="0">
                <a:latin typeface="+mn-ea"/>
              </a:rPr>
              <a:t>。</a:t>
            </a:r>
          </a:p>
          <a:p>
            <a:pPr algn="just">
              <a:defRPr/>
            </a:pPr>
            <a:r>
              <a:rPr lang="zh-CN" altLang="en-US" sz="2000" dirty="0" smtClean="0">
                <a:latin typeface="+mn-ea"/>
              </a:rPr>
              <a:t>形如</a:t>
            </a:r>
          </a:p>
          <a:p>
            <a:pPr algn="just">
              <a:defRPr/>
            </a:pPr>
            <a:r>
              <a:rPr lang="en-US" altLang="zh-CN" sz="2000" dirty="0" smtClean="0">
                <a:latin typeface="+mn-ea"/>
              </a:rPr>
              <a:t>f(n)=a</a:t>
            </a:r>
            <a:r>
              <a:rPr lang="en-US" altLang="zh-CN" sz="2000" baseline="-25000" dirty="0" smtClean="0">
                <a:latin typeface="+mn-ea"/>
              </a:rPr>
              <a:t>1</a:t>
            </a:r>
            <a:r>
              <a:rPr lang="en-US" altLang="zh-CN" sz="2000" dirty="0" smtClean="0">
                <a:latin typeface="+mn-ea"/>
              </a:rPr>
              <a:t>f(n-1)+ a</a:t>
            </a:r>
            <a:r>
              <a:rPr lang="en-US" altLang="zh-CN" sz="2000" baseline="-25000" dirty="0" smtClean="0">
                <a:latin typeface="+mn-ea"/>
              </a:rPr>
              <a:t>2</a:t>
            </a:r>
            <a:r>
              <a:rPr lang="en-US" altLang="zh-CN" sz="2000" dirty="0" smtClean="0">
                <a:latin typeface="+mn-ea"/>
              </a:rPr>
              <a:t>f(n-2)+ …+ </a:t>
            </a:r>
            <a:r>
              <a:rPr lang="en-US" altLang="zh-CN" sz="2000" dirty="0" err="1" smtClean="0">
                <a:latin typeface="+mn-ea"/>
              </a:rPr>
              <a:t>a</a:t>
            </a:r>
            <a:r>
              <a:rPr lang="en-US" altLang="zh-CN" sz="2000" baseline="-25000" dirty="0" err="1" smtClean="0">
                <a:latin typeface="+mn-ea"/>
              </a:rPr>
              <a:t>k</a:t>
            </a:r>
            <a:r>
              <a:rPr lang="en-US" altLang="zh-CN" sz="2000" dirty="0" err="1" smtClean="0">
                <a:latin typeface="+mn-ea"/>
              </a:rPr>
              <a:t>f</a:t>
            </a:r>
            <a:r>
              <a:rPr lang="en-US" altLang="zh-CN" sz="2000" dirty="0" smtClean="0">
                <a:latin typeface="+mn-ea"/>
              </a:rPr>
              <a:t>(n-k)+g(n), </a:t>
            </a:r>
            <a:r>
              <a:rPr lang="en-US" altLang="zh-CN" sz="2000" dirty="0" err="1" smtClean="0">
                <a:latin typeface="+mn-ea"/>
              </a:rPr>
              <a:t>a</a:t>
            </a:r>
            <a:r>
              <a:rPr lang="en-US" altLang="zh-CN" sz="2000" baseline="-25000" dirty="0" err="1" smtClean="0">
                <a:latin typeface="+mn-ea"/>
              </a:rPr>
              <a:t>i</a:t>
            </a:r>
            <a:r>
              <a:rPr lang="zh-CN" altLang="en-US" sz="2000" dirty="0" smtClean="0">
                <a:latin typeface="+mn-ea"/>
              </a:rPr>
              <a:t>为常数,</a:t>
            </a:r>
            <a:r>
              <a:rPr lang="en-US" altLang="zh-CN" sz="2000" dirty="0" err="1" smtClean="0">
                <a:latin typeface="+mn-ea"/>
              </a:rPr>
              <a:t>i</a:t>
            </a:r>
            <a:r>
              <a:rPr lang="en-US" altLang="zh-CN" sz="2000" dirty="0" smtClean="0">
                <a:latin typeface="+mn-ea"/>
              </a:rPr>
              <a:t>=1,2,…,</a:t>
            </a:r>
            <a:r>
              <a:rPr lang="en-US" altLang="zh-CN" sz="2000" dirty="0" err="1" smtClean="0">
                <a:latin typeface="+mn-ea"/>
              </a:rPr>
              <a:t>k,n≥k</a:t>
            </a:r>
            <a:r>
              <a:rPr lang="en-US" altLang="zh-CN" sz="2000" dirty="0" smtClean="0">
                <a:latin typeface="+mn-ea"/>
              </a:rPr>
              <a:t>, a</a:t>
            </a:r>
            <a:r>
              <a:rPr lang="en-US" altLang="zh-CN" sz="2000" baseline="-25000" dirty="0" smtClean="0">
                <a:latin typeface="+mn-ea"/>
              </a:rPr>
              <a:t>k</a:t>
            </a:r>
            <a:r>
              <a:rPr lang="en-US" altLang="zh-CN" sz="2000" dirty="0" smtClean="0">
                <a:latin typeface="+mn-ea"/>
              </a:rPr>
              <a:t>≠0，</a:t>
            </a:r>
            <a:r>
              <a:rPr lang="zh-CN" altLang="en-US" sz="2000" dirty="0" smtClean="0">
                <a:latin typeface="+mn-ea"/>
              </a:rPr>
              <a:t>称该递推关系为</a:t>
            </a:r>
            <a:r>
              <a:rPr lang="en-US" altLang="zh-CN" sz="2000" dirty="0" smtClean="0">
                <a:latin typeface="+mn-ea"/>
              </a:rPr>
              <a:t>f(n)</a:t>
            </a:r>
            <a:r>
              <a:rPr lang="zh-CN" altLang="en-US" sz="2000" dirty="0" smtClean="0">
                <a:latin typeface="+mn-ea"/>
              </a:rPr>
              <a:t>的</a:t>
            </a:r>
            <a:r>
              <a:rPr lang="en-US" altLang="zh-CN" sz="2000" dirty="0" smtClean="0">
                <a:solidFill>
                  <a:srgbClr val="FF0000"/>
                </a:solidFill>
                <a:latin typeface="+mn-ea"/>
              </a:rPr>
              <a:t>k</a:t>
            </a:r>
            <a:r>
              <a:rPr lang="zh-CN" altLang="en-US" sz="2000" dirty="0" smtClean="0">
                <a:solidFill>
                  <a:srgbClr val="FF0000"/>
                </a:solidFill>
                <a:latin typeface="+mn-ea"/>
              </a:rPr>
              <a:t>阶常系数线性非齐次递推关系</a:t>
            </a:r>
            <a:r>
              <a:rPr lang="zh-CN" altLang="en-US" sz="2000" dirty="0" smtClean="0">
                <a:latin typeface="+mn-ea"/>
              </a:rPr>
              <a:t>。</a:t>
            </a:r>
            <a:endParaRPr lang="en-US" altLang="zh-CN" sz="2000" dirty="0" smtClean="0">
              <a:latin typeface="+mn-ea"/>
            </a:endParaRPr>
          </a:p>
          <a:p>
            <a:pPr algn="just">
              <a:defRPr/>
            </a:pPr>
            <a:r>
              <a:rPr lang="zh-CN" altLang="en-US" sz="2000" dirty="0" smtClean="0"/>
              <a:t>方程</a:t>
            </a:r>
            <a:r>
              <a:rPr lang="en-US" altLang="zh-CN" sz="2000" dirty="0" smtClean="0"/>
              <a:t>x</a:t>
            </a:r>
            <a:r>
              <a:rPr lang="en-US" altLang="zh-CN" sz="2000" baseline="30000" dirty="0" smtClean="0"/>
              <a:t>k</a:t>
            </a:r>
            <a:r>
              <a:rPr lang="en-US" altLang="zh-CN" sz="2000" dirty="0" smtClean="0"/>
              <a:t>-a</a:t>
            </a:r>
            <a:r>
              <a:rPr lang="en-US" altLang="zh-CN" sz="2000" baseline="-25000" dirty="0" smtClean="0"/>
              <a:t>1</a:t>
            </a:r>
            <a:r>
              <a:rPr lang="en-US" altLang="zh-CN" sz="2000" dirty="0" smtClean="0"/>
              <a:t>x</a:t>
            </a:r>
            <a:r>
              <a:rPr lang="en-US" altLang="zh-CN" sz="2000" baseline="30000" dirty="0" smtClean="0"/>
              <a:t>k-1</a:t>
            </a:r>
            <a:r>
              <a:rPr lang="en-US" altLang="zh-CN" sz="2000" dirty="0" smtClean="0"/>
              <a:t>-a</a:t>
            </a:r>
            <a:r>
              <a:rPr lang="en-US" altLang="zh-CN" sz="2000" baseline="-25000" dirty="0" smtClean="0"/>
              <a:t>2</a:t>
            </a:r>
            <a:r>
              <a:rPr lang="en-US" altLang="zh-CN" sz="2000" dirty="0" smtClean="0"/>
              <a:t>x</a:t>
            </a:r>
            <a:r>
              <a:rPr lang="en-US" altLang="zh-CN" sz="2000" baseline="30000" dirty="0" smtClean="0"/>
              <a:t>k-2</a:t>
            </a:r>
            <a:r>
              <a:rPr lang="en-US" altLang="zh-CN" sz="2000" dirty="0" smtClean="0"/>
              <a:t>-…-</a:t>
            </a:r>
            <a:r>
              <a:rPr lang="en-US" altLang="zh-CN" sz="2000" dirty="0" err="1" smtClean="0"/>
              <a:t>a</a:t>
            </a:r>
            <a:r>
              <a:rPr lang="en-US" altLang="zh-CN" sz="2000" baseline="-25000" dirty="0" err="1" smtClean="0"/>
              <a:t>k</a:t>
            </a:r>
            <a:r>
              <a:rPr lang="en-US" altLang="zh-CN" sz="2000" dirty="0" smtClean="0"/>
              <a:t>=0</a:t>
            </a:r>
            <a:r>
              <a:rPr lang="zh-CN" altLang="en-US" sz="2000" dirty="0" smtClean="0"/>
              <a:t>称为</a:t>
            </a:r>
            <a:r>
              <a:rPr lang="en-US" altLang="zh-CN" sz="2000" dirty="0" smtClean="0"/>
              <a:t>k</a:t>
            </a:r>
            <a:r>
              <a:rPr lang="zh-CN" altLang="en-US" sz="2000" dirty="0" smtClean="0"/>
              <a:t>阶常系数线性齐次递推关系的</a:t>
            </a:r>
            <a:r>
              <a:rPr lang="zh-CN" altLang="en-US" sz="2000" dirty="0" smtClean="0">
                <a:solidFill>
                  <a:srgbClr val="FF0000"/>
                </a:solidFill>
              </a:rPr>
              <a:t>特征方程</a:t>
            </a:r>
            <a:r>
              <a:rPr lang="zh-CN" altLang="en-US" sz="2000" dirty="0" smtClean="0"/>
              <a:t>,它的</a:t>
            </a:r>
            <a:r>
              <a:rPr lang="en-US" altLang="zh-CN" sz="2000" dirty="0" smtClean="0"/>
              <a:t>k</a:t>
            </a:r>
            <a:r>
              <a:rPr lang="zh-CN" altLang="en-US" sz="2000" dirty="0" smtClean="0"/>
              <a:t>个根 </a:t>
            </a:r>
            <a:r>
              <a:rPr lang="en-US" altLang="zh-CN" sz="2000" dirty="0" smtClean="0"/>
              <a:t>r</a:t>
            </a:r>
            <a:r>
              <a:rPr lang="en-US" altLang="zh-CN" sz="2000" baseline="-25000" dirty="0" smtClean="0"/>
              <a:t>1</a:t>
            </a:r>
            <a:r>
              <a:rPr lang="en-US" altLang="zh-CN" sz="2000" dirty="0" smtClean="0"/>
              <a:t>,r</a:t>
            </a:r>
            <a:r>
              <a:rPr lang="en-US" altLang="zh-CN" sz="2000" baseline="-25000" dirty="0" smtClean="0"/>
              <a:t>2</a:t>
            </a:r>
            <a:r>
              <a:rPr lang="en-US" altLang="zh-CN" sz="2000" dirty="0" smtClean="0"/>
              <a:t>,…,</a:t>
            </a:r>
            <a:r>
              <a:rPr lang="en-US" altLang="zh-CN" sz="2000" dirty="0" err="1" smtClean="0"/>
              <a:t>r</a:t>
            </a:r>
            <a:r>
              <a:rPr lang="en-US" altLang="zh-CN" sz="2000" baseline="-25000" dirty="0" err="1" smtClean="0"/>
              <a:t>k</a:t>
            </a:r>
            <a:r>
              <a:rPr lang="zh-CN" altLang="en-US" sz="2000" dirty="0" smtClean="0"/>
              <a:t>称为该递推关系的</a:t>
            </a:r>
            <a:r>
              <a:rPr lang="zh-CN" altLang="en-US" sz="2000" dirty="0" smtClean="0">
                <a:solidFill>
                  <a:srgbClr val="FF0000"/>
                </a:solidFill>
              </a:rPr>
              <a:t>特征根</a:t>
            </a:r>
            <a:r>
              <a:rPr lang="zh-CN" altLang="en-US" sz="2000" dirty="0" smtClean="0"/>
              <a:t>。</a:t>
            </a:r>
          </a:p>
          <a:p>
            <a:pPr algn="just">
              <a:defRPr/>
            </a:pPr>
            <a:r>
              <a:rPr lang="zh-CN" altLang="en-US" sz="2000" dirty="0" smtClean="0"/>
              <a:t>若</a:t>
            </a:r>
            <a:r>
              <a:rPr lang="en-US" altLang="zh-CN" sz="2000" dirty="0" smtClean="0"/>
              <a:t>k</a:t>
            </a:r>
            <a:r>
              <a:rPr lang="zh-CN" altLang="en-US" sz="2000" dirty="0" smtClean="0"/>
              <a:t>阶常系数线性齐次递推关系的特征方程有 </a:t>
            </a:r>
            <a:r>
              <a:rPr lang="en-US" altLang="zh-CN" sz="2000" dirty="0" smtClean="0"/>
              <a:t>k </a:t>
            </a:r>
            <a:r>
              <a:rPr lang="zh-CN" altLang="en-US" sz="2000" dirty="0" smtClean="0"/>
              <a:t>个互异的特征根: </a:t>
            </a:r>
            <a:r>
              <a:rPr lang="en-US" altLang="zh-CN" sz="2000" dirty="0" smtClean="0"/>
              <a:t>r</a:t>
            </a:r>
            <a:r>
              <a:rPr lang="en-US" altLang="zh-CN" sz="2000" baseline="-25000" dirty="0" smtClean="0"/>
              <a:t>1</a:t>
            </a:r>
            <a:r>
              <a:rPr lang="en-US" altLang="zh-CN" sz="2000" dirty="0" smtClean="0"/>
              <a:t>,r</a:t>
            </a:r>
            <a:r>
              <a:rPr lang="en-US" altLang="zh-CN" sz="2000" baseline="-25000" dirty="0" smtClean="0"/>
              <a:t>2</a:t>
            </a:r>
            <a:r>
              <a:rPr lang="en-US" altLang="zh-CN" sz="2000" dirty="0" smtClean="0"/>
              <a:t>,…,</a:t>
            </a:r>
            <a:r>
              <a:rPr lang="en-US" altLang="zh-CN" sz="2000" dirty="0" err="1" smtClean="0"/>
              <a:t>r</a:t>
            </a:r>
            <a:r>
              <a:rPr lang="en-US" altLang="zh-CN" sz="2000" baseline="-25000" dirty="0" err="1" smtClean="0"/>
              <a:t>k</a:t>
            </a:r>
            <a:r>
              <a:rPr lang="en-US" altLang="zh-CN" sz="2000" dirty="0" smtClean="0"/>
              <a:t>，</a:t>
            </a:r>
            <a:r>
              <a:rPr lang="zh-CN" altLang="en-US" sz="2000" dirty="0" smtClean="0"/>
              <a:t>则该递推关系的</a:t>
            </a:r>
            <a:r>
              <a:rPr lang="zh-CN" altLang="en-US" sz="2000" dirty="0" smtClean="0">
                <a:solidFill>
                  <a:srgbClr val="FF0000"/>
                </a:solidFill>
              </a:rPr>
              <a:t>通解</a:t>
            </a:r>
            <a:r>
              <a:rPr lang="zh-CN" altLang="en-US" sz="2000" dirty="0" smtClean="0"/>
              <a:t>为: </a:t>
            </a:r>
            <a:r>
              <a:rPr lang="en-US" altLang="zh-CN" sz="2000" dirty="0" smtClean="0">
                <a:solidFill>
                  <a:srgbClr val="FF0000"/>
                </a:solidFill>
              </a:rPr>
              <a:t>f(n)=c</a:t>
            </a:r>
            <a:r>
              <a:rPr lang="en-US" altLang="zh-CN" sz="2000" baseline="-25000" dirty="0" smtClean="0">
                <a:solidFill>
                  <a:srgbClr val="FF0000"/>
                </a:solidFill>
              </a:rPr>
              <a:t>1</a:t>
            </a:r>
            <a:r>
              <a:rPr lang="en-US" altLang="zh-CN" sz="2000" dirty="0" smtClean="0">
                <a:solidFill>
                  <a:srgbClr val="FF0000"/>
                </a:solidFill>
              </a:rPr>
              <a:t>r</a:t>
            </a:r>
            <a:r>
              <a:rPr lang="en-US" altLang="zh-CN" sz="2000" baseline="-25000" dirty="0" smtClean="0">
                <a:solidFill>
                  <a:srgbClr val="FF0000"/>
                </a:solidFill>
              </a:rPr>
              <a:t>1</a:t>
            </a:r>
            <a:r>
              <a:rPr lang="en-US" altLang="zh-CN" sz="2000" baseline="30000" dirty="0" smtClean="0">
                <a:solidFill>
                  <a:srgbClr val="FF0000"/>
                </a:solidFill>
              </a:rPr>
              <a:t>n</a:t>
            </a:r>
            <a:r>
              <a:rPr lang="en-US" altLang="zh-CN" sz="2000" dirty="0" smtClean="0">
                <a:solidFill>
                  <a:srgbClr val="FF0000"/>
                </a:solidFill>
              </a:rPr>
              <a:t>+c</a:t>
            </a:r>
            <a:r>
              <a:rPr lang="en-US" altLang="zh-CN" sz="2000" baseline="-25000" dirty="0" smtClean="0">
                <a:solidFill>
                  <a:srgbClr val="FF0000"/>
                </a:solidFill>
              </a:rPr>
              <a:t>2</a:t>
            </a:r>
            <a:r>
              <a:rPr lang="en-US" altLang="zh-CN" sz="2000" dirty="0" smtClean="0">
                <a:solidFill>
                  <a:srgbClr val="FF0000"/>
                </a:solidFill>
              </a:rPr>
              <a:t>r</a:t>
            </a:r>
            <a:r>
              <a:rPr lang="en-US" altLang="zh-CN" sz="2000" baseline="-25000" dirty="0" smtClean="0">
                <a:solidFill>
                  <a:srgbClr val="FF0000"/>
                </a:solidFill>
              </a:rPr>
              <a:t>2</a:t>
            </a:r>
            <a:r>
              <a:rPr lang="en-US" altLang="zh-CN" sz="2000" baseline="30000" dirty="0" smtClean="0">
                <a:solidFill>
                  <a:srgbClr val="FF0000"/>
                </a:solidFill>
              </a:rPr>
              <a:t>n</a:t>
            </a:r>
            <a:r>
              <a:rPr lang="en-US" altLang="zh-CN" sz="2000" dirty="0" smtClean="0">
                <a:solidFill>
                  <a:srgbClr val="FF0000"/>
                </a:solidFill>
              </a:rPr>
              <a:t>+…+</a:t>
            </a:r>
            <a:r>
              <a:rPr lang="en-US" altLang="zh-CN" sz="2000" dirty="0" err="1" smtClean="0">
                <a:solidFill>
                  <a:srgbClr val="FF0000"/>
                </a:solidFill>
              </a:rPr>
              <a:t>c</a:t>
            </a:r>
            <a:r>
              <a:rPr lang="en-US" altLang="zh-CN" sz="2000" baseline="-25000" dirty="0" err="1" smtClean="0">
                <a:solidFill>
                  <a:srgbClr val="FF0000"/>
                </a:solidFill>
              </a:rPr>
              <a:t>k</a:t>
            </a:r>
            <a:r>
              <a:rPr lang="en-US" altLang="zh-CN" sz="2000" dirty="0" err="1" smtClean="0">
                <a:solidFill>
                  <a:srgbClr val="FF0000"/>
                </a:solidFill>
              </a:rPr>
              <a:t>r</a:t>
            </a:r>
            <a:r>
              <a:rPr lang="en-US" altLang="zh-CN" sz="2000" baseline="-25000" dirty="0" err="1" smtClean="0">
                <a:solidFill>
                  <a:srgbClr val="FF0000"/>
                </a:solidFill>
              </a:rPr>
              <a:t>k</a:t>
            </a:r>
            <a:r>
              <a:rPr lang="en-US" altLang="zh-CN" sz="2000" baseline="30000" dirty="0" err="1" smtClean="0">
                <a:solidFill>
                  <a:srgbClr val="FF0000"/>
                </a:solidFill>
              </a:rPr>
              <a:t>n</a:t>
            </a:r>
            <a:r>
              <a:rPr lang="en-US" altLang="zh-CN" sz="2000" dirty="0" smtClean="0"/>
              <a:t>,</a:t>
            </a:r>
            <a:r>
              <a:rPr lang="zh-CN" altLang="en-US" sz="2000" dirty="0" smtClean="0"/>
              <a:t>其中</a:t>
            </a:r>
            <a:r>
              <a:rPr lang="en-US" altLang="zh-CN" sz="2000" dirty="0" smtClean="0"/>
              <a:t>c</a:t>
            </a:r>
            <a:r>
              <a:rPr lang="en-US" altLang="zh-CN" sz="2000" baseline="-25000" dirty="0" smtClean="0"/>
              <a:t>1</a:t>
            </a:r>
            <a:r>
              <a:rPr lang="en-US" altLang="zh-CN" sz="2000" dirty="0" smtClean="0"/>
              <a:t>,c</a:t>
            </a:r>
            <a:r>
              <a:rPr lang="en-US" altLang="zh-CN" sz="2000" baseline="-25000" dirty="0" smtClean="0"/>
              <a:t>2</a:t>
            </a:r>
            <a:r>
              <a:rPr lang="en-US" altLang="zh-CN" sz="2000" dirty="0" smtClean="0"/>
              <a:t>,…c</a:t>
            </a:r>
            <a:r>
              <a:rPr lang="en-US" altLang="zh-CN" sz="2000" baseline="-25000" dirty="0" smtClean="0"/>
              <a:t>k</a:t>
            </a:r>
            <a:r>
              <a:rPr lang="zh-CN" altLang="en-US" sz="2000" dirty="0" smtClean="0"/>
              <a:t>为任意常数。</a:t>
            </a:r>
          </a:p>
          <a:p>
            <a:pPr algn="just">
              <a:defRPr/>
            </a:pPr>
            <a:endParaRPr lang="zh-CN" altLang="en-US" sz="2000" dirty="0">
              <a:latin typeface="+mn-ea"/>
            </a:endParaRPr>
          </a:p>
        </p:txBody>
      </p:sp>
    </p:spTree>
    <p:extLst>
      <p:ext uri="{BB962C8B-B14F-4D97-AF65-F5344CB8AC3E}">
        <p14:creationId xmlns:p14="http://schemas.microsoft.com/office/powerpoint/2010/main" val="22362449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89091" name="Rectangle 2"/>
          <p:cNvSpPr>
            <a:spLocks noGrp="1" noChangeArrowheads="1"/>
          </p:cNvSpPr>
          <p:nvPr>
            <p:ph type="title"/>
          </p:nvPr>
        </p:nvSpPr>
        <p:spPr/>
        <p:txBody>
          <a:bodyPr/>
          <a:lstStyle/>
          <a:p>
            <a:pPr eaLnBrk="1" hangingPunct="1"/>
            <a:r>
              <a:rPr lang="en-US" altLang="zh-CN" dirty="0">
                <a:solidFill>
                  <a:srgbClr val="333399"/>
                </a:solidFill>
                <a:latin typeface="华文楷体"/>
              </a:rPr>
              <a:t>1.3.8 </a:t>
            </a:r>
            <a:r>
              <a:rPr lang="zh-CN" altLang="en-US" dirty="0">
                <a:solidFill>
                  <a:srgbClr val="333399"/>
                </a:solidFill>
                <a:latin typeface="华文楷体"/>
              </a:rPr>
              <a:t>递推关系</a:t>
            </a:r>
            <a:endParaRPr lang="en-US" altLang="zh-CN" dirty="0" smtClean="0"/>
          </a:p>
        </p:txBody>
      </p:sp>
      <p:sp>
        <p:nvSpPr>
          <p:cNvPr id="89092" name="Rectangle 3"/>
          <p:cNvSpPr>
            <a:spLocks noGrp="1" noChangeArrowheads="1"/>
          </p:cNvSpPr>
          <p:nvPr>
            <p:ph type="body" idx="1"/>
          </p:nvPr>
        </p:nvSpPr>
        <p:spPr/>
        <p:txBody>
          <a:bodyPr/>
          <a:lstStyle/>
          <a:p>
            <a:pPr algn="just">
              <a:spcBef>
                <a:spcPct val="0"/>
              </a:spcBef>
            </a:pPr>
            <a:r>
              <a:rPr lang="zh-CN" altLang="en-US" smtClean="0"/>
              <a:t>递推关系是</a:t>
            </a:r>
            <a:r>
              <a:rPr lang="zh-CN" altLang="en-US" smtClean="0">
                <a:solidFill>
                  <a:srgbClr val="FF0000"/>
                </a:solidFill>
              </a:rPr>
              <a:t>离散变量</a:t>
            </a:r>
            <a:r>
              <a:rPr lang="zh-CN" altLang="en-US" smtClean="0"/>
              <a:t>之间变化规律中常见的一种方式，与生成函数一样是解决计数问题的有力工具。</a:t>
            </a:r>
            <a:endParaRPr lang="en-US" altLang="zh-CN" smtClean="0"/>
          </a:p>
          <a:p>
            <a:pPr algn="just">
              <a:spcBef>
                <a:spcPct val="0"/>
              </a:spcBef>
            </a:pPr>
            <a:endParaRPr lang="zh-CN" altLang="en-US" smtClean="0"/>
          </a:p>
          <a:p>
            <a:pPr algn="just">
              <a:spcBef>
                <a:spcPct val="0"/>
              </a:spcBef>
            </a:pPr>
            <a:r>
              <a:rPr lang="zh-CN" altLang="en-US" smtClean="0"/>
              <a:t>数列{</a:t>
            </a:r>
            <a:r>
              <a:rPr lang="en-US" altLang="zh-CN" smtClean="0"/>
              <a:t>f(n)},</a:t>
            </a:r>
            <a:r>
              <a:rPr lang="zh-CN" altLang="en-US" smtClean="0"/>
              <a:t>如从某项后，</a:t>
            </a:r>
            <a:r>
              <a:rPr lang="en-US" altLang="zh-CN" smtClean="0"/>
              <a:t>f(n)</a:t>
            </a:r>
            <a:r>
              <a:rPr lang="zh-CN" altLang="en-US" smtClean="0"/>
              <a:t>前</a:t>
            </a:r>
            <a:r>
              <a:rPr lang="en-US" altLang="zh-CN" smtClean="0"/>
              <a:t>k</a:t>
            </a:r>
            <a:r>
              <a:rPr lang="zh-CN" altLang="en-US" smtClean="0"/>
              <a:t>项可推出</a:t>
            </a:r>
            <a:r>
              <a:rPr lang="en-US" altLang="zh-CN" smtClean="0"/>
              <a:t>f(n)</a:t>
            </a:r>
            <a:r>
              <a:rPr lang="zh-CN" altLang="en-US" smtClean="0"/>
              <a:t>的普遍规律，就称为递推关系。</a:t>
            </a:r>
            <a:endParaRPr lang="en-US" altLang="zh-CN" smtClean="0"/>
          </a:p>
          <a:p>
            <a:pPr algn="just">
              <a:spcBef>
                <a:spcPct val="0"/>
              </a:spcBef>
            </a:pPr>
            <a:endParaRPr lang="zh-CN" altLang="en-US" smtClean="0"/>
          </a:p>
          <a:p>
            <a:pPr algn="just">
              <a:spcBef>
                <a:spcPct val="0"/>
              </a:spcBef>
            </a:pPr>
            <a:r>
              <a:rPr lang="zh-CN" altLang="en-US" smtClean="0"/>
              <a:t>利用递推关系和初值在某些情况下可以求出序列的通项表达式</a:t>
            </a:r>
            <a:r>
              <a:rPr lang="en-US" altLang="zh-CN" smtClean="0"/>
              <a:t>f(n)，</a:t>
            </a:r>
            <a:r>
              <a:rPr lang="zh-CN" altLang="en-US" smtClean="0"/>
              <a:t>称为该</a:t>
            </a:r>
            <a:r>
              <a:rPr lang="zh-CN" altLang="en-US" smtClean="0">
                <a:solidFill>
                  <a:srgbClr val="FF0000"/>
                </a:solidFill>
              </a:rPr>
              <a:t>递推关系的解</a:t>
            </a:r>
            <a:r>
              <a:rPr lang="zh-CN" altLang="en-US" smtClean="0"/>
              <a:t>。</a:t>
            </a:r>
            <a:endParaRPr lang="en-US" altLang="zh-CN" smtClean="0"/>
          </a:p>
          <a:p>
            <a:pPr algn="just">
              <a:spcBef>
                <a:spcPct val="0"/>
              </a:spcBef>
            </a:pPr>
            <a:endParaRPr lang="zh-CN" altLang="en-US" smtClean="0"/>
          </a:p>
          <a:p>
            <a:pPr algn="just">
              <a:spcBef>
                <a:spcPct val="0"/>
              </a:spcBef>
            </a:pPr>
            <a:r>
              <a:rPr lang="zh-CN" altLang="en-US" smtClean="0"/>
              <a:t>不是所有的递推关系都可求出其解，只是</a:t>
            </a:r>
            <a:r>
              <a:rPr lang="zh-CN" altLang="en-US" smtClean="0">
                <a:solidFill>
                  <a:srgbClr val="FF0000"/>
                </a:solidFill>
              </a:rPr>
              <a:t>某些特殊类型有成熟解法</a:t>
            </a:r>
            <a:r>
              <a:rPr lang="zh-CN" altLang="en-US" smtClean="0"/>
              <a:t>。</a:t>
            </a:r>
          </a:p>
        </p:txBody>
      </p:sp>
    </p:spTree>
    <p:extLst>
      <p:ext uri="{BB962C8B-B14F-4D97-AF65-F5344CB8AC3E}">
        <p14:creationId xmlns:p14="http://schemas.microsoft.com/office/powerpoint/2010/main" val="16711489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91139" name="Rectangle 2"/>
          <p:cNvSpPr>
            <a:spLocks noGrp="1" noChangeArrowheads="1"/>
          </p:cNvSpPr>
          <p:nvPr>
            <p:ph type="title"/>
          </p:nvPr>
        </p:nvSpPr>
        <p:spPr>
          <a:xfrm>
            <a:off x="950913" y="44450"/>
            <a:ext cx="8229600" cy="1139825"/>
          </a:xfrm>
        </p:spPr>
        <p:txBody>
          <a:bodyPr/>
          <a:lstStyle/>
          <a:p>
            <a:pPr eaLnBrk="1" hangingPunct="1"/>
            <a:r>
              <a:rPr lang="en-US" altLang="zh-CN" dirty="0" smtClean="0">
                <a:solidFill>
                  <a:srgbClr val="333399"/>
                </a:solidFill>
                <a:latin typeface="华文楷体"/>
              </a:rPr>
              <a:t>1.3.8 </a:t>
            </a:r>
            <a:r>
              <a:rPr lang="zh-CN" altLang="en-US" dirty="0">
                <a:solidFill>
                  <a:srgbClr val="333399"/>
                </a:solidFill>
                <a:latin typeface="华文楷体"/>
              </a:rPr>
              <a:t>递推</a:t>
            </a:r>
            <a:r>
              <a:rPr lang="zh-CN" altLang="en-US" dirty="0" smtClean="0">
                <a:solidFill>
                  <a:srgbClr val="333399"/>
                </a:solidFill>
                <a:latin typeface="华文楷体"/>
              </a:rPr>
              <a:t>关系</a:t>
            </a:r>
            <a:r>
              <a:rPr lang="en-US" altLang="zh-CN" dirty="0" smtClean="0">
                <a:solidFill>
                  <a:srgbClr val="333399"/>
                </a:solidFill>
                <a:latin typeface="华文楷体"/>
              </a:rPr>
              <a:t>——</a:t>
            </a:r>
            <a:r>
              <a:rPr lang="zh-CN" altLang="en-US" dirty="0" smtClean="0"/>
              <a:t>线性齐次递推式的求解</a:t>
            </a:r>
            <a:endParaRPr lang="en-US" altLang="zh-CN" dirty="0" smtClean="0"/>
          </a:p>
        </p:txBody>
      </p:sp>
      <p:sp>
        <p:nvSpPr>
          <p:cNvPr id="91140" name="Rectangle 3"/>
          <p:cNvSpPr>
            <a:spLocks noGrp="1" noChangeArrowheads="1"/>
          </p:cNvSpPr>
          <p:nvPr>
            <p:ph type="body" idx="1"/>
          </p:nvPr>
        </p:nvSpPr>
        <p:spPr>
          <a:xfrm>
            <a:off x="539750" y="1211263"/>
            <a:ext cx="8820150" cy="4789487"/>
          </a:xfrm>
        </p:spPr>
        <p:txBody>
          <a:bodyPr/>
          <a:lstStyle/>
          <a:p>
            <a:pPr eaLnBrk="1" hangingPunct="1">
              <a:lnSpc>
                <a:spcPct val="90000"/>
              </a:lnSpc>
            </a:pPr>
            <a:r>
              <a:rPr lang="en-US" altLang="zh-CN" sz="2300" smtClean="0"/>
              <a:t> </a:t>
            </a:r>
          </a:p>
        </p:txBody>
      </p:sp>
      <p:pic>
        <p:nvPicPr>
          <p:cNvPr id="9114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188" y="1000125"/>
            <a:ext cx="8572500" cy="497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42" name="矩形 5"/>
          <p:cNvSpPr>
            <a:spLocks noChangeArrowheads="1"/>
          </p:cNvSpPr>
          <p:nvPr/>
        </p:nvSpPr>
        <p:spPr bwMode="auto">
          <a:xfrm>
            <a:off x="7602249" y="1678285"/>
            <a:ext cx="7633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dirty="0">
                <a:solidFill>
                  <a:srgbClr val="660066"/>
                </a:solidFill>
                <a:latin typeface="Arial" panose="020B0604020202020204" pitchFamily="34" charset="0"/>
                <a:ea typeface="宋体" panose="02010600030101010101" pitchFamily="2" charset="-122"/>
              </a:rPr>
              <a:t> </a:t>
            </a:r>
            <a:r>
              <a:rPr lang="en-US" altLang="zh-CN" sz="2400" dirty="0" err="1">
                <a:solidFill>
                  <a:srgbClr val="660066"/>
                </a:solidFill>
                <a:latin typeface="Arial" panose="020B0604020202020204" pitchFamily="34" charset="0"/>
                <a:ea typeface="宋体" panose="02010600030101010101" pitchFamily="2" charset="-122"/>
              </a:rPr>
              <a:t>p53</a:t>
            </a:r>
            <a:endParaRPr lang="zh-CN" altLang="en-US" sz="1800" dirty="0">
              <a:solidFill>
                <a:schemeClr val="tx1"/>
              </a:solidFill>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742718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标题 1"/>
          <p:cNvSpPr>
            <a:spLocks noGrp="1"/>
          </p:cNvSpPr>
          <p:nvPr>
            <p:ph type="title"/>
          </p:nvPr>
        </p:nvSpPr>
        <p:spPr/>
        <p:txBody>
          <a:bodyPr/>
          <a:lstStyle/>
          <a:p>
            <a:r>
              <a:rPr lang="en-US" altLang="zh-CN" dirty="0">
                <a:solidFill>
                  <a:srgbClr val="333399"/>
                </a:solidFill>
                <a:latin typeface="华文楷体"/>
              </a:rPr>
              <a:t>1.3.8 </a:t>
            </a:r>
            <a:r>
              <a:rPr lang="zh-CN" altLang="en-US" dirty="0">
                <a:solidFill>
                  <a:srgbClr val="333399"/>
                </a:solidFill>
                <a:latin typeface="华文楷体"/>
              </a:rPr>
              <a:t>递推关系</a:t>
            </a:r>
            <a:r>
              <a:rPr lang="en-US" altLang="zh-CN" dirty="0">
                <a:solidFill>
                  <a:srgbClr val="333399"/>
                </a:solidFill>
                <a:latin typeface="华文楷体"/>
              </a:rPr>
              <a:t>——</a:t>
            </a:r>
            <a:r>
              <a:rPr lang="zh-CN" altLang="en-US" dirty="0"/>
              <a:t>线性齐次递推式的求解</a:t>
            </a:r>
            <a:endParaRPr lang="zh-CN" altLang="en-US" dirty="0" smtClean="0"/>
          </a:p>
        </p:txBody>
      </p:sp>
      <p:sp>
        <p:nvSpPr>
          <p:cNvPr id="93187"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pic>
        <p:nvPicPr>
          <p:cNvPr id="9318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7250" y="1285875"/>
            <a:ext cx="80391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7811638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94211" name="Rectangle 2"/>
          <p:cNvSpPr>
            <a:spLocks noGrp="1" noChangeArrowheads="1"/>
          </p:cNvSpPr>
          <p:nvPr>
            <p:ph type="title"/>
          </p:nvPr>
        </p:nvSpPr>
        <p:spPr/>
        <p:txBody>
          <a:bodyPr/>
          <a:lstStyle/>
          <a:p>
            <a:pPr eaLnBrk="1" hangingPunct="1"/>
            <a:r>
              <a:rPr lang="en-US" altLang="zh-CN" dirty="0">
                <a:solidFill>
                  <a:srgbClr val="333399"/>
                </a:solidFill>
                <a:latin typeface="华文楷体"/>
              </a:rPr>
              <a:t>1.3.8 </a:t>
            </a:r>
            <a:r>
              <a:rPr lang="zh-CN" altLang="en-US" dirty="0">
                <a:solidFill>
                  <a:srgbClr val="333399"/>
                </a:solidFill>
                <a:latin typeface="华文楷体"/>
              </a:rPr>
              <a:t>递推关系</a:t>
            </a:r>
            <a:endParaRPr lang="en-US" altLang="zh-CN" dirty="0" smtClean="0"/>
          </a:p>
        </p:txBody>
      </p:sp>
      <p:sp>
        <p:nvSpPr>
          <p:cNvPr id="62468" name="Rectangle 3"/>
          <p:cNvSpPr>
            <a:spLocks noGrp="1" noChangeArrowheads="1"/>
          </p:cNvSpPr>
          <p:nvPr>
            <p:ph type="body" idx="1"/>
          </p:nvPr>
        </p:nvSpPr>
        <p:spPr/>
        <p:txBody>
          <a:bodyPr/>
          <a:lstStyle/>
          <a:p>
            <a:pPr algn="just">
              <a:spcBef>
                <a:spcPct val="0"/>
              </a:spcBef>
              <a:buFontTx/>
              <a:buNone/>
            </a:pPr>
            <a:r>
              <a:rPr lang="zh-CN" altLang="en-US" sz="2000" smtClean="0"/>
              <a:t>例：13 世纪初意大利数学家 </a:t>
            </a:r>
            <a:r>
              <a:rPr lang="en-US" altLang="zh-CN" sz="2000" smtClean="0"/>
              <a:t>Fibonacci </a:t>
            </a:r>
            <a:r>
              <a:rPr lang="zh-CN" altLang="en-US" sz="2000" smtClean="0"/>
              <a:t>研究过著名的兔子繁殖数目问题:设一对一雌一雄小兔刚满2个月时，便可繁殖出一雌一雄一对小兔。以后每隔1个月生一对一雌一雄小兔。由一对刚出生的小兔开始饲养到第</a:t>
            </a:r>
            <a:r>
              <a:rPr lang="en-US" altLang="zh-CN" sz="2000" smtClean="0"/>
              <a:t>n</a:t>
            </a:r>
            <a:r>
              <a:rPr lang="zh-CN" altLang="en-US" sz="2000" smtClean="0"/>
              <a:t>个月，有多少对兔子?</a:t>
            </a:r>
            <a:endParaRPr lang="en-US" altLang="zh-CN" sz="2000" smtClean="0"/>
          </a:p>
          <a:p>
            <a:pPr algn="just">
              <a:spcBef>
                <a:spcPct val="0"/>
              </a:spcBef>
              <a:buFontTx/>
              <a:buNone/>
            </a:pPr>
            <a:endParaRPr lang="zh-CN" altLang="en-US" sz="2000" smtClean="0"/>
          </a:p>
          <a:p>
            <a:pPr algn="just">
              <a:spcBef>
                <a:spcPct val="0"/>
              </a:spcBef>
              <a:buFontTx/>
              <a:buNone/>
            </a:pPr>
            <a:r>
              <a:rPr lang="zh-CN" altLang="en-US" sz="2000" smtClean="0"/>
              <a:t>解：设第</a:t>
            </a:r>
            <a:r>
              <a:rPr lang="en-US" altLang="zh-CN" sz="2000" smtClean="0"/>
              <a:t>n</a:t>
            </a:r>
            <a:r>
              <a:rPr lang="zh-CN" altLang="en-US" sz="2000" smtClean="0"/>
              <a:t>个月有</a:t>
            </a:r>
            <a:r>
              <a:rPr lang="en-US" altLang="zh-CN" sz="2000" smtClean="0"/>
              <a:t>F</a:t>
            </a:r>
            <a:r>
              <a:rPr lang="en-US" altLang="zh-CN" sz="2000" baseline="-25000" smtClean="0"/>
              <a:t>n</a:t>
            </a:r>
            <a:r>
              <a:rPr lang="zh-CN" altLang="en-US" sz="2000" smtClean="0"/>
              <a:t>对兔子，它由两部分组成:</a:t>
            </a:r>
          </a:p>
          <a:p>
            <a:pPr algn="just">
              <a:spcBef>
                <a:spcPct val="0"/>
              </a:spcBef>
              <a:buFontTx/>
              <a:buNone/>
            </a:pPr>
            <a:r>
              <a:rPr lang="zh-CN" altLang="en-US" sz="2000" smtClean="0"/>
              <a:t>(1)新生出的小兔，其数目等于能生小兔的大兔对数目</a:t>
            </a:r>
          </a:p>
          <a:p>
            <a:pPr algn="just">
              <a:spcBef>
                <a:spcPct val="0"/>
              </a:spcBef>
              <a:buFontTx/>
              <a:buNone/>
            </a:pPr>
            <a:r>
              <a:rPr lang="zh-CN" altLang="en-US" sz="2000" smtClean="0"/>
              <a:t>    小兔满两个月才繁殖，数目为第(</a:t>
            </a:r>
            <a:r>
              <a:rPr lang="en-US" altLang="zh-CN" sz="2000" smtClean="0"/>
              <a:t>n-2)</a:t>
            </a:r>
            <a:r>
              <a:rPr lang="zh-CN" altLang="en-US" sz="2000" smtClean="0"/>
              <a:t>个月时的兔对数目，即为</a:t>
            </a:r>
            <a:r>
              <a:rPr lang="en-US" altLang="zh-CN" sz="2000" smtClean="0"/>
              <a:t>F</a:t>
            </a:r>
            <a:r>
              <a:rPr lang="en-US" altLang="zh-CN" sz="2000" baseline="-25000" smtClean="0"/>
              <a:t>n-2</a:t>
            </a:r>
            <a:r>
              <a:rPr lang="en-US" altLang="zh-CN" sz="2000" smtClean="0"/>
              <a:t>。</a:t>
            </a:r>
          </a:p>
          <a:p>
            <a:pPr algn="just">
              <a:spcBef>
                <a:spcPct val="0"/>
              </a:spcBef>
              <a:buFontTx/>
              <a:buNone/>
            </a:pPr>
            <a:r>
              <a:rPr lang="en-US" altLang="zh-CN" sz="2000" smtClean="0"/>
              <a:t>(2)</a:t>
            </a:r>
            <a:r>
              <a:rPr lang="zh-CN" altLang="en-US" sz="2000" smtClean="0"/>
              <a:t>原有小兔，其数目等于上月(即第 </a:t>
            </a:r>
            <a:r>
              <a:rPr lang="en-US" altLang="zh-CN" sz="2000" smtClean="0"/>
              <a:t>n-1</a:t>
            </a:r>
            <a:r>
              <a:rPr lang="zh-CN" altLang="en-US" sz="2000" smtClean="0"/>
              <a:t>个月)的兔对数目，即为</a:t>
            </a:r>
            <a:r>
              <a:rPr lang="en-US" altLang="zh-CN" sz="2000" smtClean="0"/>
              <a:t>F</a:t>
            </a:r>
            <a:r>
              <a:rPr lang="en-US" altLang="zh-CN" sz="2000" baseline="-25000" smtClean="0"/>
              <a:t>n-1</a:t>
            </a:r>
            <a:r>
              <a:rPr lang="en-US" altLang="zh-CN" sz="2000" smtClean="0"/>
              <a:t>。</a:t>
            </a:r>
          </a:p>
          <a:p>
            <a:pPr algn="just">
              <a:spcBef>
                <a:spcPct val="0"/>
              </a:spcBef>
              <a:buFontTx/>
              <a:buNone/>
            </a:pPr>
            <a:r>
              <a:rPr lang="zh-CN" altLang="en-US" sz="2000" smtClean="0"/>
              <a:t>     建立如下递推关系: </a:t>
            </a:r>
          </a:p>
          <a:p>
            <a:pPr algn="just">
              <a:spcBef>
                <a:spcPct val="0"/>
              </a:spcBef>
              <a:buFontTx/>
              <a:buNone/>
            </a:pPr>
            <a:r>
              <a:rPr lang="en-US" altLang="zh-CN" sz="2000" smtClean="0"/>
              <a:t>     F</a:t>
            </a:r>
            <a:r>
              <a:rPr lang="en-US" altLang="zh-CN" sz="2000" baseline="-25000" smtClean="0"/>
              <a:t>n</a:t>
            </a:r>
            <a:r>
              <a:rPr lang="en-US" altLang="zh-CN" sz="2000" smtClean="0"/>
              <a:t>=F</a:t>
            </a:r>
            <a:r>
              <a:rPr lang="en-US" altLang="zh-CN" sz="2000" baseline="-25000" smtClean="0"/>
              <a:t>n-2</a:t>
            </a:r>
            <a:r>
              <a:rPr lang="en-US" altLang="zh-CN" sz="2000" smtClean="0"/>
              <a:t>+F</a:t>
            </a:r>
            <a:r>
              <a:rPr lang="en-US" altLang="zh-CN" sz="2000" baseline="-25000" smtClean="0"/>
              <a:t>n-1</a:t>
            </a:r>
            <a:r>
              <a:rPr lang="en-US" altLang="zh-CN" sz="2000" smtClean="0"/>
              <a:t>，</a:t>
            </a:r>
            <a:r>
              <a:rPr lang="zh-CN" altLang="en-US" sz="2000" smtClean="0"/>
              <a:t>并有初始条件：</a:t>
            </a:r>
            <a:r>
              <a:rPr lang="en-US" altLang="zh-CN" sz="2000" smtClean="0"/>
              <a:t>F</a:t>
            </a:r>
            <a:r>
              <a:rPr lang="en-US" altLang="zh-CN" sz="2000" baseline="-25000" smtClean="0"/>
              <a:t>1</a:t>
            </a:r>
            <a:r>
              <a:rPr lang="en-US" altLang="zh-CN" sz="2000" smtClean="0"/>
              <a:t>=F</a:t>
            </a:r>
            <a:r>
              <a:rPr lang="en-US" altLang="zh-CN" sz="2000" baseline="-25000" smtClean="0"/>
              <a:t>2</a:t>
            </a:r>
            <a:r>
              <a:rPr lang="en-US" altLang="zh-CN" sz="2000" smtClean="0"/>
              <a:t>=1。</a:t>
            </a:r>
          </a:p>
          <a:p>
            <a:pPr algn="just">
              <a:spcBef>
                <a:spcPct val="0"/>
              </a:spcBef>
              <a:buFontTx/>
              <a:buNone/>
            </a:pPr>
            <a:r>
              <a:rPr lang="zh-CN" altLang="en-US" sz="2000" smtClean="0"/>
              <a:t>     这是一个带有初值的递推关系。</a:t>
            </a:r>
          </a:p>
          <a:p>
            <a:pPr algn="just">
              <a:spcBef>
                <a:spcPct val="0"/>
              </a:spcBef>
              <a:buFontTx/>
              <a:buNone/>
            </a:pPr>
            <a:r>
              <a:rPr lang="zh-CN" altLang="en-US" sz="2000" smtClean="0"/>
              <a:t>满足这种递推关系的数列称为</a:t>
            </a:r>
            <a:r>
              <a:rPr lang="en-US" altLang="zh-CN" sz="2000" smtClean="0"/>
              <a:t>Fibonacci</a:t>
            </a:r>
            <a:r>
              <a:rPr lang="zh-CN" altLang="en-US" sz="2000" smtClean="0"/>
              <a:t>数列。</a:t>
            </a:r>
            <a:endParaRPr lang="en-US" altLang="zh-CN" sz="2000" smtClean="0"/>
          </a:p>
          <a:p>
            <a:pPr algn="just">
              <a:spcBef>
                <a:spcPct val="0"/>
              </a:spcBef>
              <a:buFontTx/>
              <a:buNone/>
            </a:pPr>
            <a:r>
              <a:rPr lang="zh-CN" altLang="en-US" sz="2000" smtClean="0"/>
              <a:t>例</a:t>
            </a:r>
            <a:r>
              <a:rPr lang="en-US" altLang="zh-CN" sz="2000" smtClean="0"/>
              <a:t>2.20</a:t>
            </a:r>
            <a:endParaRPr lang="zh-CN" altLang="en-US" sz="2000" smtClean="0"/>
          </a:p>
        </p:txBody>
      </p:sp>
      <p:pic>
        <p:nvPicPr>
          <p:cNvPr id="6246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0125" y="2571750"/>
            <a:ext cx="7429500" cy="347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246124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2468">
                                            <p:txEl>
                                              <p:pRg st="2" end="2"/>
                                            </p:txEl>
                                          </p:spTgt>
                                        </p:tgtEl>
                                        <p:attrNameLst>
                                          <p:attrName>style.visibility</p:attrName>
                                        </p:attrNameLst>
                                      </p:cBhvr>
                                      <p:to>
                                        <p:strVal val="visible"/>
                                      </p:to>
                                    </p:set>
                                    <p:anim calcmode="lin" valueType="num">
                                      <p:cBhvr additive="base">
                                        <p:cTn id="7" dur="500" fill="hold"/>
                                        <p:tgtEl>
                                          <p:spTgt spid="62468">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2468">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2468">
                                            <p:txEl>
                                              <p:pRg st="3" end="3"/>
                                            </p:txEl>
                                          </p:spTgt>
                                        </p:tgtEl>
                                        <p:attrNameLst>
                                          <p:attrName>style.visibility</p:attrName>
                                        </p:attrNameLst>
                                      </p:cBhvr>
                                      <p:to>
                                        <p:strVal val="visible"/>
                                      </p:to>
                                    </p:set>
                                    <p:anim calcmode="lin" valueType="num">
                                      <p:cBhvr additive="base">
                                        <p:cTn id="11" dur="500" fill="hold"/>
                                        <p:tgtEl>
                                          <p:spTgt spid="62468">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2468">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2468">
                                            <p:txEl>
                                              <p:pRg st="4" end="4"/>
                                            </p:txEl>
                                          </p:spTgt>
                                        </p:tgtEl>
                                        <p:attrNameLst>
                                          <p:attrName>style.visibility</p:attrName>
                                        </p:attrNameLst>
                                      </p:cBhvr>
                                      <p:to>
                                        <p:strVal val="visible"/>
                                      </p:to>
                                    </p:set>
                                    <p:anim calcmode="lin" valueType="num">
                                      <p:cBhvr additive="base">
                                        <p:cTn id="15" dur="500" fill="hold"/>
                                        <p:tgtEl>
                                          <p:spTgt spid="62468">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2468">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62468">
                                            <p:txEl>
                                              <p:pRg st="5" end="5"/>
                                            </p:txEl>
                                          </p:spTgt>
                                        </p:tgtEl>
                                        <p:attrNameLst>
                                          <p:attrName>style.visibility</p:attrName>
                                        </p:attrNameLst>
                                      </p:cBhvr>
                                      <p:to>
                                        <p:strVal val="visible"/>
                                      </p:to>
                                    </p:set>
                                    <p:anim calcmode="lin" valueType="num">
                                      <p:cBhvr additive="base">
                                        <p:cTn id="19" dur="500" fill="hold"/>
                                        <p:tgtEl>
                                          <p:spTgt spid="62468">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2468">
                                            <p:txEl>
                                              <p:pRg st="5" end="5"/>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62468">
                                            <p:txEl>
                                              <p:pRg st="6" end="6"/>
                                            </p:txEl>
                                          </p:spTgt>
                                        </p:tgtEl>
                                        <p:attrNameLst>
                                          <p:attrName>style.visibility</p:attrName>
                                        </p:attrNameLst>
                                      </p:cBhvr>
                                      <p:to>
                                        <p:strVal val="visible"/>
                                      </p:to>
                                    </p:set>
                                    <p:anim calcmode="lin" valueType="num">
                                      <p:cBhvr additive="base">
                                        <p:cTn id="23" dur="500" fill="hold"/>
                                        <p:tgtEl>
                                          <p:spTgt spid="62468">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62468">
                                            <p:txEl>
                                              <p:pRg st="6" end="6"/>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62468">
                                            <p:txEl>
                                              <p:pRg st="7" end="7"/>
                                            </p:txEl>
                                          </p:spTgt>
                                        </p:tgtEl>
                                        <p:attrNameLst>
                                          <p:attrName>style.visibility</p:attrName>
                                        </p:attrNameLst>
                                      </p:cBhvr>
                                      <p:to>
                                        <p:strVal val="visible"/>
                                      </p:to>
                                    </p:set>
                                    <p:anim calcmode="lin" valueType="num">
                                      <p:cBhvr additive="base">
                                        <p:cTn id="27" dur="500" fill="hold"/>
                                        <p:tgtEl>
                                          <p:spTgt spid="62468">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62468">
                                            <p:txEl>
                                              <p:pRg st="7" end="7"/>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62468">
                                            <p:txEl>
                                              <p:pRg st="8" end="8"/>
                                            </p:txEl>
                                          </p:spTgt>
                                        </p:tgtEl>
                                        <p:attrNameLst>
                                          <p:attrName>style.visibility</p:attrName>
                                        </p:attrNameLst>
                                      </p:cBhvr>
                                      <p:to>
                                        <p:strVal val="visible"/>
                                      </p:to>
                                    </p:set>
                                    <p:anim calcmode="lin" valueType="num">
                                      <p:cBhvr additive="base">
                                        <p:cTn id="31" dur="500" fill="hold"/>
                                        <p:tgtEl>
                                          <p:spTgt spid="62468">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2468">
                                            <p:txEl>
                                              <p:pRg st="8" end="8"/>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62468">
                                            <p:txEl>
                                              <p:pRg st="9" end="9"/>
                                            </p:txEl>
                                          </p:spTgt>
                                        </p:tgtEl>
                                        <p:attrNameLst>
                                          <p:attrName>style.visibility</p:attrName>
                                        </p:attrNameLst>
                                      </p:cBhvr>
                                      <p:to>
                                        <p:strVal val="visible"/>
                                      </p:to>
                                    </p:set>
                                    <p:anim calcmode="lin" valueType="num">
                                      <p:cBhvr additive="base">
                                        <p:cTn id="35" dur="500" fill="hold"/>
                                        <p:tgtEl>
                                          <p:spTgt spid="62468">
                                            <p:txEl>
                                              <p:pRg st="9" end="9"/>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62468">
                                            <p:txEl>
                                              <p:pRg st="9" end="9"/>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62468">
                                            <p:txEl>
                                              <p:pRg st="10" end="10"/>
                                            </p:txEl>
                                          </p:spTgt>
                                        </p:tgtEl>
                                        <p:attrNameLst>
                                          <p:attrName>style.visibility</p:attrName>
                                        </p:attrNameLst>
                                      </p:cBhvr>
                                      <p:to>
                                        <p:strVal val="visible"/>
                                      </p:to>
                                    </p:set>
                                    <p:anim calcmode="lin" valueType="num">
                                      <p:cBhvr additive="base">
                                        <p:cTn id="39" dur="500" fill="hold"/>
                                        <p:tgtEl>
                                          <p:spTgt spid="62468">
                                            <p:txEl>
                                              <p:pRg st="10" end="10"/>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62468">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4" fill="hold" nodeType="clickEffect">
                                  <p:stCondLst>
                                    <p:cond delay="0"/>
                                  </p:stCondLst>
                                  <p:childTnLst>
                                    <p:set>
                                      <p:cBhvr>
                                        <p:cTn id="44" dur="1" fill="hold">
                                          <p:stCondLst>
                                            <p:cond delay="0"/>
                                          </p:stCondLst>
                                        </p:cTn>
                                        <p:tgtEl>
                                          <p:spTgt spid="62469"/>
                                        </p:tgtEl>
                                        <p:attrNameLst>
                                          <p:attrName>style.visibility</p:attrName>
                                        </p:attrNameLst>
                                      </p:cBhvr>
                                      <p:to>
                                        <p:strVal val="visible"/>
                                      </p:to>
                                    </p:set>
                                    <p:anim calcmode="lin" valueType="num">
                                      <p:cBhvr additive="base">
                                        <p:cTn id="45" dur="500" fill="hold"/>
                                        <p:tgtEl>
                                          <p:spTgt spid="62469"/>
                                        </p:tgtEl>
                                        <p:attrNameLst>
                                          <p:attrName>ppt_x</p:attrName>
                                        </p:attrNameLst>
                                      </p:cBhvr>
                                      <p:tavLst>
                                        <p:tav tm="0">
                                          <p:val>
                                            <p:strVal val="#ppt_x"/>
                                          </p:val>
                                        </p:tav>
                                        <p:tav tm="100000">
                                          <p:val>
                                            <p:strVal val="#ppt_x"/>
                                          </p:val>
                                        </p:tav>
                                      </p:tavLst>
                                    </p:anim>
                                    <p:anim calcmode="lin" valueType="num">
                                      <p:cBhvr additive="base">
                                        <p:cTn id="46" dur="500" fill="hold"/>
                                        <p:tgtEl>
                                          <p:spTgt spid="624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96259" name="Rectangle 2"/>
          <p:cNvSpPr>
            <a:spLocks noGrp="1" noChangeArrowheads="1"/>
          </p:cNvSpPr>
          <p:nvPr>
            <p:ph type="title"/>
          </p:nvPr>
        </p:nvSpPr>
        <p:spPr/>
        <p:txBody>
          <a:bodyPr/>
          <a:lstStyle/>
          <a:p>
            <a:pPr eaLnBrk="1" hangingPunct="1"/>
            <a:r>
              <a:rPr lang="en-US" altLang="zh-CN" dirty="0">
                <a:solidFill>
                  <a:srgbClr val="333399"/>
                </a:solidFill>
                <a:latin typeface="华文楷体"/>
              </a:rPr>
              <a:t>1.3.8 </a:t>
            </a:r>
            <a:r>
              <a:rPr lang="zh-CN" altLang="en-US" dirty="0">
                <a:solidFill>
                  <a:srgbClr val="333399"/>
                </a:solidFill>
                <a:latin typeface="华文楷体"/>
              </a:rPr>
              <a:t>递推</a:t>
            </a:r>
            <a:r>
              <a:rPr lang="zh-CN" altLang="en-US" dirty="0" smtClean="0">
                <a:solidFill>
                  <a:srgbClr val="333399"/>
                </a:solidFill>
                <a:latin typeface="华文楷体"/>
              </a:rPr>
              <a:t>关系</a:t>
            </a:r>
            <a:r>
              <a:rPr lang="en-US" altLang="zh-CN" dirty="0" smtClean="0">
                <a:solidFill>
                  <a:srgbClr val="333399"/>
                </a:solidFill>
                <a:latin typeface="华文楷体"/>
              </a:rPr>
              <a:t>——</a:t>
            </a:r>
            <a:r>
              <a:rPr lang="en-US" altLang="zh-CN" dirty="0" smtClean="0"/>
              <a:t>Fibonacci</a:t>
            </a:r>
            <a:r>
              <a:rPr lang="zh-CN" altLang="en-US" dirty="0" smtClean="0"/>
              <a:t>序列</a:t>
            </a:r>
            <a:endParaRPr lang="en-US" altLang="zh-CN" dirty="0" smtClean="0"/>
          </a:p>
        </p:txBody>
      </p:sp>
      <p:pic>
        <p:nvPicPr>
          <p:cNvPr id="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625" y="1062038"/>
            <a:ext cx="8324850" cy="558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2734911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页脚占位符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98307" name="Rectangle 2"/>
          <p:cNvSpPr>
            <a:spLocks noGrp="1" noChangeArrowheads="1"/>
          </p:cNvSpPr>
          <p:nvPr>
            <p:ph type="title"/>
          </p:nvPr>
        </p:nvSpPr>
        <p:spPr>
          <a:xfrm>
            <a:off x="806450" y="115888"/>
            <a:ext cx="8229600" cy="1139825"/>
          </a:xfrm>
        </p:spPr>
        <p:txBody>
          <a:bodyPr/>
          <a:lstStyle/>
          <a:p>
            <a:pPr eaLnBrk="1" hangingPunct="1"/>
            <a:r>
              <a:rPr lang="en-US" altLang="zh-CN" dirty="0">
                <a:solidFill>
                  <a:srgbClr val="333399"/>
                </a:solidFill>
                <a:latin typeface="华文楷体"/>
              </a:rPr>
              <a:t>1.3.8 </a:t>
            </a:r>
            <a:r>
              <a:rPr lang="zh-CN" altLang="en-US" dirty="0">
                <a:solidFill>
                  <a:srgbClr val="333399"/>
                </a:solidFill>
                <a:latin typeface="华文楷体"/>
              </a:rPr>
              <a:t>递推</a:t>
            </a:r>
            <a:r>
              <a:rPr lang="zh-CN" altLang="en-US" dirty="0" smtClean="0">
                <a:solidFill>
                  <a:srgbClr val="333399"/>
                </a:solidFill>
                <a:latin typeface="华文楷体"/>
              </a:rPr>
              <a:t>关系</a:t>
            </a:r>
            <a:r>
              <a:rPr lang="en-US" altLang="zh-CN" dirty="0" smtClean="0">
                <a:solidFill>
                  <a:srgbClr val="333399"/>
                </a:solidFill>
                <a:latin typeface="华文楷体"/>
              </a:rPr>
              <a:t>——</a:t>
            </a:r>
            <a:r>
              <a:rPr lang="zh-CN" altLang="en-US" dirty="0" smtClean="0"/>
              <a:t>非齐次递推关系的解</a:t>
            </a:r>
            <a:endParaRPr lang="en-US" altLang="zh-CN" dirty="0" smtClean="0"/>
          </a:p>
        </p:txBody>
      </p:sp>
      <p:sp>
        <p:nvSpPr>
          <p:cNvPr id="98308" name="Rectangle 3"/>
          <p:cNvSpPr>
            <a:spLocks noGrp="1" noChangeArrowheads="1"/>
          </p:cNvSpPr>
          <p:nvPr>
            <p:ph type="body" sz="half" idx="1"/>
          </p:nvPr>
        </p:nvSpPr>
        <p:spPr>
          <a:xfrm>
            <a:off x="817563" y="1196975"/>
            <a:ext cx="8218487" cy="4565650"/>
          </a:xfrm>
        </p:spPr>
        <p:txBody>
          <a:bodyPr/>
          <a:lstStyle/>
          <a:p>
            <a:pPr eaLnBrk="1" hangingPunct="1"/>
            <a:r>
              <a:rPr lang="zh-CN" altLang="en-US" sz="2100" dirty="0" smtClean="0">
                <a:solidFill>
                  <a:srgbClr val="EA0000"/>
                </a:solidFill>
              </a:rPr>
              <a:t>递推式</a:t>
            </a:r>
            <a:r>
              <a:rPr lang="en-US" altLang="zh-CN" sz="2100" dirty="0" smtClean="0">
                <a:solidFill>
                  <a:srgbClr val="EA0000"/>
                </a:solidFill>
              </a:rPr>
              <a:t>f(n)=f(n-1)+g(n)</a:t>
            </a:r>
            <a:r>
              <a:rPr lang="zh-CN" altLang="en-US" sz="2100" dirty="0" smtClean="0">
                <a:solidFill>
                  <a:srgbClr val="EA0000"/>
                </a:solidFill>
              </a:rPr>
              <a:t>的解</a:t>
            </a:r>
            <a:r>
              <a:rPr lang="en-US" altLang="zh-CN" sz="2100" dirty="0" smtClean="0">
                <a:solidFill>
                  <a:srgbClr val="EA0000"/>
                </a:solidFill>
              </a:rPr>
              <a:t>:</a:t>
            </a:r>
          </a:p>
          <a:p>
            <a:pPr eaLnBrk="1" hangingPunct="1"/>
            <a:endParaRPr lang="en-US" altLang="zh-CN" sz="1100" dirty="0" smtClean="0">
              <a:solidFill>
                <a:srgbClr val="EA0000"/>
              </a:solidFill>
            </a:endParaRPr>
          </a:p>
          <a:p>
            <a:pPr eaLnBrk="1" hangingPunct="1"/>
            <a:endParaRPr lang="en-US" altLang="zh-CN" sz="2100" dirty="0" smtClean="0">
              <a:solidFill>
                <a:srgbClr val="EA0000"/>
              </a:solidFill>
            </a:endParaRPr>
          </a:p>
          <a:p>
            <a:pPr eaLnBrk="1" hangingPunct="1"/>
            <a:r>
              <a:rPr lang="zh-CN" altLang="en-US" sz="2100" dirty="0" smtClean="0">
                <a:solidFill>
                  <a:srgbClr val="EA0000"/>
                </a:solidFill>
              </a:rPr>
              <a:t>递推式</a:t>
            </a:r>
            <a:r>
              <a:rPr lang="en-US" altLang="zh-CN" sz="2100" dirty="0" smtClean="0">
                <a:solidFill>
                  <a:srgbClr val="EA0000"/>
                </a:solidFill>
              </a:rPr>
              <a:t>f(n)=g(n)f(n-1), </a:t>
            </a:r>
            <a:r>
              <a:rPr lang="en-US" altLang="zh-CN" sz="2100" dirty="0" err="1" smtClean="0">
                <a:solidFill>
                  <a:srgbClr val="EA0000"/>
                </a:solidFill>
              </a:rPr>
              <a:t>n</a:t>
            </a:r>
            <a:r>
              <a:rPr lang="en-US" altLang="zh-CN" sz="2100" dirty="0" err="1" smtClean="0">
                <a:solidFill>
                  <a:srgbClr val="EA0000"/>
                </a:solidFill>
                <a:sym typeface="Symbol" panose="05050102010706020507" pitchFamily="18" charset="2"/>
              </a:rPr>
              <a:t>1</a:t>
            </a:r>
            <a:r>
              <a:rPr lang="zh-CN" altLang="en-US" sz="2100" dirty="0" smtClean="0">
                <a:solidFill>
                  <a:srgbClr val="EA0000"/>
                </a:solidFill>
                <a:sym typeface="Symbol" panose="05050102010706020507" pitchFamily="18" charset="2"/>
              </a:rPr>
              <a:t>的解</a:t>
            </a:r>
            <a:r>
              <a:rPr lang="en-US" altLang="zh-CN" sz="2100" dirty="0" smtClean="0">
                <a:solidFill>
                  <a:srgbClr val="EA0000"/>
                </a:solidFill>
                <a:sym typeface="Symbol" panose="05050102010706020507" pitchFamily="18" charset="2"/>
              </a:rPr>
              <a:t>:</a:t>
            </a:r>
          </a:p>
          <a:p>
            <a:pPr eaLnBrk="1" hangingPunct="1"/>
            <a:endParaRPr lang="en-US" altLang="zh-CN" sz="1100" dirty="0" smtClean="0">
              <a:solidFill>
                <a:srgbClr val="EA0000"/>
              </a:solidFill>
              <a:sym typeface="Symbol" panose="05050102010706020507" pitchFamily="18" charset="2"/>
            </a:endParaRPr>
          </a:p>
          <a:p>
            <a:pPr eaLnBrk="1" hangingPunct="1"/>
            <a:endParaRPr lang="en-US" altLang="zh-CN" sz="2100" dirty="0" smtClean="0">
              <a:solidFill>
                <a:srgbClr val="EA0000"/>
              </a:solidFill>
              <a:sym typeface="Symbol" panose="05050102010706020507" pitchFamily="18" charset="2"/>
            </a:endParaRPr>
          </a:p>
          <a:p>
            <a:pPr eaLnBrk="1" hangingPunct="1"/>
            <a:r>
              <a:rPr lang="zh-CN" altLang="en-US" sz="2100" dirty="0" smtClean="0">
                <a:solidFill>
                  <a:srgbClr val="EA0000"/>
                </a:solidFill>
                <a:sym typeface="Symbol" panose="05050102010706020507" pitchFamily="18" charset="2"/>
              </a:rPr>
              <a:t>递推式</a:t>
            </a:r>
            <a:r>
              <a:rPr lang="en-US" altLang="zh-CN" sz="2100" dirty="0" smtClean="0">
                <a:solidFill>
                  <a:srgbClr val="EA0000"/>
                </a:solidFill>
                <a:sym typeface="Symbol" panose="05050102010706020507" pitchFamily="18" charset="2"/>
              </a:rPr>
              <a:t>f(n)=g(n)f(n-1)+h(n), </a:t>
            </a:r>
            <a:r>
              <a:rPr lang="en-US" altLang="zh-CN" sz="2100" dirty="0" err="1" smtClean="0">
                <a:solidFill>
                  <a:srgbClr val="EA0000"/>
                </a:solidFill>
                <a:sym typeface="Symbol" panose="05050102010706020507" pitchFamily="18" charset="2"/>
              </a:rPr>
              <a:t>n1</a:t>
            </a:r>
            <a:r>
              <a:rPr lang="zh-CN" altLang="en-US" sz="2100" dirty="0" smtClean="0">
                <a:solidFill>
                  <a:srgbClr val="EA0000"/>
                </a:solidFill>
                <a:sym typeface="Symbol" panose="05050102010706020507" pitchFamily="18" charset="2"/>
              </a:rPr>
              <a:t>的解</a:t>
            </a:r>
            <a:r>
              <a:rPr lang="en-US" altLang="zh-CN" sz="2100" dirty="0" smtClean="0">
                <a:solidFill>
                  <a:srgbClr val="EA0000"/>
                </a:solidFill>
                <a:sym typeface="Symbol" panose="05050102010706020507" pitchFamily="18" charset="2"/>
              </a:rPr>
              <a:t>:</a:t>
            </a:r>
          </a:p>
        </p:txBody>
      </p:sp>
      <p:graphicFrame>
        <p:nvGraphicFramePr>
          <p:cNvPr id="98309" name="Object 4"/>
          <p:cNvGraphicFramePr>
            <a:graphicFrameLocks noGrp="1" noChangeAspect="1"/>
          </p:cNvGraphicFramePr>
          <p:nvPr>
            <p:ph sz="quarter" idx="2"/>
          </p:nvPr>
        </p:nvGraphicFramePr>
        <p:xfrm>
          <a:off x="4754563" y="1071563"/>
          <a:ext cx="1960562" cy="628650"/>
        </p:xfrm>
        <a:graphic>
          <a:graphicData uri="http://schemas.openxmlformats.org/presentationml/2006/ole">
            <mc:AlternateContent xmlns:mc="http://schemas.openxmlformats.org/markup-compatibility/2006">
              <mc:Choice xmlns:v="urn:schemas-microsoft-com:vml" Requires="v">
                <p:oleObj spid="_x0000_s10302" name="公式" r:id="rId4" imgW="1346200" imgH="431800" progId="Equation.3">
                  <p:embed/>
                </p:oleObj>
              </mc:Choice>
              <mc:Fallback>
                <p:oleObj name="公式" r:id="rId4" imgW="1346200" imgH="431800" progId="Equation.3">
                  <p:embed/>
                  <p:pic>
                    <p:nvPicPr>
                      <p:cNvPr id="98309"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54563" y="1071563"/>
                        <a:ext cx="1960562"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8310" name="Object 6"/>
          <p:cNvGraphicFramePr>
            <a:graphicFrameLocks noGrp="1" noChangeAspect="1"/>
          </p:cNvGraphicFramePr>
          <p:nvPr>
            <p:ph sz="quarter" idx="3"/>
          </p:nvPr>
        </p:nvGraphicFramePr>
        <p:xfrm>
          <a:off x="5214938" y="2214563"/>
          <a:ext cx="2794000" cy="301625"/>
        </p:xfrm>
        <a:graphic>
          <a:graphicData uri="http://schemas.openxmlformats.org/presentationml/2006/ole">
            <mc:AlternateContent xmlns:mc="http://schemas.openxmlformats.org/markup-compatibility/2006">
              <mc:Choice xmlns:v="urn:schemas-microsoft-com:vml" Requires="v">
                <p:oleObj spid="_x0000_s10303" name="公式" r:id="rId6" imgW="1879600" imgH="203200" progId="Equation.3">
                  <p:embed/>
                </p:oleObj>
              </mc:Choice>
              <mc:Fallback>
                <p:oleObj name="公式" r:id="rId6" imgW="1879600" imgH="203200" progId="Equation.3">
                  <p:embed/>
                  <p:pic>
                    <p:nvPicPr>
                      <p:cNvPr id="9831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14938" y="2214563"/>
                        <a:ext cx="2794000"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8311" name="Object 8"/>
          <p:cNvGraphicFramePr>
            <a:graphicFrameLocks noChangeAspect="1"/>
          </p:cNvGraphicFramePr>
          <p:nvPr/>
        </p:nvGraphicFramePr>
        <p:xfrm>
          <a:off x="1214438" y="3714750"/>
          <a:ext cx="5848350" cy="715963"/>
        </p:xfrm>
        <a:graphic>
          <a:graphicData uri="http://schemas.openxmlformats.org/presentationml/2006/ole">
            <mc:AlternateContent xmlns:mc="http://schemas.openxmlformats.org/markup-compatibility/2006">
              <mc:Choice xmlns:v="urn:schemas-microsoft-com:vml" Requires="v">
                <p:oleObj spid="_x0000_s10304" name="公式" r:id="rId8" imgW="3733800" imgH="457200" progId="Equation.3">
                  <p:embed/>
                </p:oleObj>
              </mc:Choice>
              <mc:Fallback>
                <p:oleObj name="公式" r:id="rId8" imgW="3733800" imgH="457200" progId="Equation.3">
                  <p:embed/>
                  <p:pic>
                    <p:nvPicPr>
                      <p:cNvPr id="98311"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14438" y="3714750"/>
                        <a:ext cx="5848350" cy="71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矩形 1"/>
          <p:cNvSpPr/>
          <p:nvPr/>
        </p:nvSpPr>
        <p:spPr>
          <a:xfrm>
            <a:off x="7660124" y="1071047"/>
            <a:ext cx="869149" cy="461665"/>
          </a:xfrm>
          <a:prstGeom prst="rect">
            <a:avLst/>
          </a:prstGeom>
        </p:spPr>
        <p:txBody>
          <a:bodyPr wrap="none">
            <a:spAutoFit/>
          </a:bodyPr>
          <a:lstStyle/>
          <a:p>
            <a:r>
              <a:rPr lang="en-US" altLang="zh-CN" sz="2400" dirty="0"/>
              <a:t>(</a:t>
            </a:r>
            <a:r>
              <a:rPr lang="en-US" altLang="zh-CN" sz="2400" dirty="0" err="1"/>
              <a:t>P54</a:t>
            </a:r>
            <a:r>
              <a:rPr lang="en-US" altLang="zh-CN" sz="2400" dirty="0"/>
              <a:t>)</a:t>
            </a:r>
            <a:endParaRPr lang="zh-CN" altLang="en-US" sz="2400" dirty="0"/>
          </a:p>
        </p:txBody>
      </p:sp>
    </p:spTree>
    <p:extLst>
      <p:ext uri="{BB962C8B-B14F-4D97-AF65-F5344CB8AC3E}">
        <p14:creationId xmlns:p14="http://schemas.microsoft.com/office/powerpoint/2010/main" val="25706706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标题 1"/>
          <p:cNvSpPr>
            <a:spLocks noGrp="1"/>
          </p:cNvSpPr>
          <p:nvPr>
            <p:ph type="title"/>
          </p:nvPr>
        </p:nvSpPr>
        <p:spPr/>
        <p:txBody>
          <a:bodyPr/>
          <a:lstStyle/>
          <a:p>
            <a:endParaRPr lang="zh-CN" altLang="en-US" smtClean="0"/>
          </a:p>
        </p:txBody>
      </p:sp>
      <p:sp>
        <p:nvSpPr>
          <p:cNvPr id="100355" name="页脚占位符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pic>
        <p:nvPicPr>
          <p:cNvPr id="10035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700088"/>
            <a:ext cx="8620125" cy="508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410143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标题 1"/>
          <p:cNvSpPr>
            <a:spLocks noGrp="1"/>
          </p:cNvSpPr>
          <p:nvPr>
            <p:ph type="title"/>
          </p:nvPr>
        </p:nvSpPr>
        <p:spPr/>
        <p:txBody>
          <a:bodyPr/>
          <a:lstStyle/>
          <a:p>
            <a:endParaRPr lang="zh-CN" altLang="en-US" smtClean="0"/>
          </a:p>
        </p:txBody>
      </p:sp>
      <p:sp>
        <p:nvSpPr>
          <p:cNvPr id="101379" name="页脚占位符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pic>
        <p:nvPicPr>
          <p:cNvPr id="10138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750" y="2000250"/>
            <a:ext cx="8448675" cy="347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138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750" y="1428750"/>
            <a:ext cx="8610600"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020395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页脚占位符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102403" name="Rectangle 2"/>
          <p:cNvSpPr>
            <a:spLocks noGrp="1" noChangeArrowheads="1"/>
          </p:cNvSpPr>
          <p:nvPr>
            <p:ph type="title"/>
          </p:nvPr>
        </p:nvSpPr>
        <p:spPr>
          <a:xfrm>
            <a:off x="900113" y="115888"/>
            <a:ext cx="8229600" cy="1139825"/>
          </a:xfrm>
        </p:spPr>
        <p:txBody>
          <a:bodyPr/>
          <a:lstStyle/>
          <a:p>
            <a:pPr eaLnBrk="1" hangingPunct="1"/>
            <a:r>
              <a:rPr lang="en-US" altLang="zh-CN" dirty="0">
                <a:solidFill>
                  <a:srgbClr val="333399"/>
                </a:solidFill>
                <a:latin typeface="华文楷体"/>
              </a:rPr>
              <a:t>1.3.8 </a:t>
            </a:r>
            <a:r>
              <a:rPr lang="zh-CN" altLang="en-US" dirty="0">
                <a:solidFill>
                  <a:srgbClr val="333399"/>
                </a:solidFill>
                <a:latin typeface="华文楷体"/>
              </a:rPr>
              <a:t>递推</a:t>
            </a:r>
            <a:r>
              <a:rPr lang="zh-CN" altLang="en-US" dirty="0" smtClean="0">
                <a:solidFill>
                  <a:srgbClr val="333399"/>
                </a:solidFill>
                <a:latin typeface="华文楷体"/>
              </a:rPr>
              <a:t>关系</a:t>
            </a:r>
            <a:r>
              <a:rPr lang="en-US" altLang="zh-CN" dirty="0" smtClean="0">
                <a:solidFill>
                  <a:srgbClr val="333399"/>
                </a:solidFill>
                <a:latin typeface="华文楷体"/>
              </a:rPr>
              <a:t>——</a:t>
            </a:r>
            <a:r>
              <a:rPr lang="zh-CN" altLang="en-US" dirty="0" smtClean="0"/>
              <a:t>分治递推关系的解</a:t>
            </a:r>
            <a:endParaRPr lang="en-US" altLang="zh-CN" sz="2800" dirty="0" smtClean="0"/>
          </a:p>
        </p:txBody>
      </p:sp>
      <p:sp>
        <p:nvSpPr>
          <p:cNvPr id="132099" name="Rectangle 3"/>
          <p:cNvSpPr>
            <a:spLocks noGrp="1" noChangeArrowheads="1"/>
          </p:cNvSpPr>
          <p:nvPr>
            <p:ph type="body" sz="half" idx="1"/>
          </p:nvPr>
        </p:nvSpPr>
        <p:spPr>
          <a:xfrm>
            <a:off x="746125" y="1196975"/>
            <a:ext cx="8218488" cy="4565650"/>
          </a:xfrm>
        </p:spPr>
        <p:txBody>
          <a:bodyPr/>
          <a:lstStyle/>
          <a:p>
            <a:pPr eaLnBrk="1" hangingPunct="1">
              <a:defRPr/>
            </a:pPr>
            <a:r>
              <a:rPr lang="zh-CN" altLang="en-US" dirty="0" smtClean="0">
                <a:solidFill>
                  <a:srgbClr val="EA0000"/>
                </a:solidFill>
              </a:rPr>
              <a:t>递推式</a:t>
            </a:r>
            <a:r>
              <a:rPr lang="en-US" altLang="zh-CN" dirty="0" smtClean="0">
                <a:solidFill>
                  <a:srgbClr val="EA0000"/>
                </a:solidFill>
              </a:rPr>
              <a:t>:</a:t>
            </a:r>
          </a:p>
          <a:p>
            <a:pPr eaLnBrk="1" hangingPunct="1">
              <a:defRPr/>
            </a:pPr>
            <a:endParaRPr lang="en-US" altLang="zh-CN" dirty="0" smtClean="0">
              <a:solidFill>
                <a:srgbClr val="EA0000"/>
              </a:solidFill>
            </a:endParaRPr>
          </a:p>
          <a:p>
            <a:pPr eaLnBrk="1" hangingPunct="1">
              <a:defRPr/>
            </a:pPr>
            <a:endParaRPr lang="en-US" altLang="zh-CN" sz="2100" dirty="0" smtClean="0"/>
          </a:p>
          <a:p>
            <a:pPr eaLnBrk="1" hangingPunct="1">
              <a:defRPr/>
            </a:pPr>
            <a:endParaRPr lang="en-US" altLang="zh-CN" sz="2100" dirty="0" smtClean="0"/>
          </a:p>
          <a:p>
            <a:pPr eaLnBrk="1" hangingPunct="1">
              <a:defRPr/>
            </a:pPr>
            <a:endParaRPr lang="en-US" altLang="zh-CN" sz="2100" dirty="0" smtClean="0"/>
          </a:p>
          <a:p>
            <a:pPr eaLnBrk="1" hangingPunct="1">
              <a:defRPr/>
            </a:pPr>
            <a:endParaRPr lang="en-US" altLang="zh-CN" sz="2100" dirty="0" smtClean="0"/>
          </a:p>
          <a:p>
            <a:pPr eaLnBrk="1" hangingPunct="1">
              <a:defRPr/>
            </a:pPr>
            <a:r>
              <a:rPr lang="zh-CN" altLang="en-US" dirty="0" smtClean="0">
                <a:solidFill>
                  <a:srgbClr val="EA0000"/>
                </a:solidFill>
              </a:rPr>
              <a:t>三种求解分治递推式的技术</a:t>
            </a:r>
            <a:r>
              <a:rPr lang="en-US" altLang="zh-CN" dirty="0" smtClean="0">
                <a:solidFill>
                  <a:srgbClr val="EA0000"/>
                </a:solidFill>
              </a:rPr>
              <a:t>:</a:t>
            </a:r>
          </a:p>
          <a:p>
            <a:pPr lvl="1" eaLnBrk="1" hangingPunct="1">
              <a:defRPr/>
            </a:pPr>
            <a:r>
              <a:rPr lang="zh-CN" altLang="en-US" sz="2400" dirty="0" smtClean="0">
                <a:solidFill>
                  <a:srgbClr val="660066"/>
                </a:solidFill>
                <a:latin typeface="+mn-ea"/>
                <a:ea typeface="+mn-ea"/>
              </a:rPr>
              <a:t>展开递推式</a:t>
            </a:r>
            <a:endParaRPr lang="en-US" altLang="zh-CN" sz="2400" dirty="0" smtClean="0">
              <a:solidFill>
                <a:srgbClr val="660066"/>
              </a:solidFill>
              <a:latin typeface="+mn-ea"/>
              <a:ea typeface="+mn-ea"/>
            </a:endParaRPr>
          </a:p>
          <a:p>
            <a:pPr lvl="1" eaLnBrk="1" hangingPunct="1">
              <a:defRPr/>
            </a:pPr>
            <a:r>
              <a:rPr lang="zh-CN" altLang="en-US" sz="2400" dirty="0" smtClean="0">
                <a:solidFill>
                  <a:srgbClr val="660066"/>
                </a:solidFill>
                <a:latin typeface="+mn-ea"/>
                <a:ea typeface="+mn-ea"/>
              </a:rPr>
              <a:t>代入法</a:t>
            </a:r>
            <a:endParaRPr lang="en-US" altLang="zh-CN" sz="2400" dirty="0" smtClean="0">
              <a:solidFill>
                <a:srgbClr val="660066"/>
              </a:solidFill>
              <a:latin typeface="+mn-ea"/>
              <a:ea typeface="+mn-ea"/>
            </a:endParaRPr>
          </a:p>
          <a:p>
            <a:pPr lvl="1" eaLnBrk="1" hangingPunct="1">
              <a:defRPr/>
            </a:pPr>
            <a:r>
              <a:rPr lang="zh-CN" altLang="en-US" sz="2400" dirty="0" smtClean="0">
                <a:solidFill>
                  <a:srgbClr val="660066"/>
                </a:solidFill>
                <a:latin typeface="+mn-ea"/>
                <a:ea typeface="+mn-ea"/>
              </a:rPr>
              <a:t>更换变元</a:t>
            </a:r>
            <a:endParaRPr lang="en-US" altLang="zh-CN" sz="2000" dirty="0" smtClean="0">
              <a:solidFill>
                <a:srgbClr val="660066"/>
              </a:solidFill>
              <a:latin typeface="+mn-ea"/>
              <a:ea typeface="+mn-ea"/>
            </a:endParaRPr>
          </a:p>
        </p:txBody>
      </p:sp>
      <p:graphicFrame>
        <p:nvGraphicFramePr>
          <p:cNvPr id="102405" name="Object 4"/>
          <p:cNvGraphicFramePr>
            <a:graphicFrameLocks noGrp="1" noChangeAspect="1"/>
          </p:cNvGraphicFramePr>
          <p:nvPr>
            <p:ph sz="half" idx="2"/>
          </p:nvPr>
        </p:nvGraphicFramePr>
        <p:xfrm>
          <a:off x="560388" y="1773238"/>
          <a:ext cx="8347075" cy="1501775"/>
        </p:xfrm>
        <a:graphic>
          <a:graphicData uri="http://schemas.openxmlformats.org/presentationml/2006/ole">
            <mc:AlternateContent xmlns:mc="http://schemas.openxmlformats.org/markup-compatibility/2006">
              <mc:Choice xmlns:v="urn:schemas-microsoft-com:vml" Requires="v">
                <p:oleObj spid="_x0000_s11286" name="公式" r:id="rId4" imgW="5435600" imgH="977900" progId="Equation.3">
                  <p:embed/>
                </p:oleObj>
              </mc:Choice>
              <mc:Fallback>
                <p:oleObj name="公式" r:id="rId4" imgW="5435600" imgH="977900" progId="Equation.3">
                  <p:embed/>
                  <p:pic>
                    <p:nvPicPr>
                      <p:cNvPr id="102405"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0388" y="1773238"/>
                        <a:ext cx="8347075" cy="150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02406"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8625" y="2643188"/>
            <a:ext cx="8477250"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60929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页脚占位符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104451" name="Rectangle 2"/>
          <p:cNvSpPr>
            <a:spLocks noGrp="1" noChangeArrowheads="1"/>
          </p:cNvSpPr>
          <p:nvPr>
            <p:ph type="title"/>
          </p:nvPr>
        </p:nvSpPr>
        <p:spPr/>
        <p:txBody>
          <a:bodyPr/>
          <a:lstStyle/>
          <a:p>
            <a:pPr eaLnBrk="1" hangingPunct="1"/>
            <a:r>
              <a:rPr lang="en-US" altLang="zh-CN" dirty="0">
                <a:solidFill>
                  <a:srgbClr val="333399"/>
                </a:solidFill>
                <a:latin typeface="华文楷体"/>
              </a:rPr>
              <a:t>1.3.8 </a:t>
            </a:r>
            <a:r>
              <a:rPr lang="zh-CN" altLang="en-US" dirty="0">
                <a:solidFill>
                  <a:srgbClr val="333399"/>
                </a:solidFill>
                <a:latin typeface="华文楷体"/>
              </a:rPr>
              <a:t>递推关系</a:t>
            </a:r>
            <a:r>
              <a:rPr lang="en-US" altLang="zh-CN" dirty="0" smtClean="0">
                <a:solidFill>
                  <a:srgbClr val="333399"/>
                </a:solidFill>
                <a:latin typeface="华文楷体"/>
              </a:rPr>
              <a:t>——</a:t>
            </a:r>
            <a:r>
              <a:rPr lang="zh-CN" altLang="en-US" dirty="0" smtClean="0"/>
              <a:t>展开递推式</a:t>
            </a:r>
            <a:endParaRPr lang="en-US" altLang="zh-CN" dirty="0" smtClean="0"/>
          </a:p>
        </p:txBody>
      </p:sp>
      <p:sp>
        <p:nvSpPr>
          <p:cNvPr id="134147" name="Rectangle 3"/>
          <p:cNvSpPr>
            <a:spLocks noGrp="1" noChangeArrowheads="1"/>
          </p:cNvSpPr>
          <p:nvPr>
            <p:ph type="body" sz="half" idx="1"/>
          </p:nvPr>
        </p:nvSpPr>
        <p:spPr>
          <a:xfrm>
            <a:off x="817563" y="1125538"/>
            <a:ext cx="8218487" cy="4565650"/>
          </a:xfrm>
        </p:spPr>
        <p:txBody>
          <a:bodyPr/>
          <a:lstStyle/>
          <a:p>
            <a:pPr eaLnBrk="1" hangingPunct="1">
              <a:defRPr/>
            </a:pPr>
            <a:r>
              <a:rPr lang="zh-CN" altLang="en-US" sz="2300" dirty="0" smtClean="0"/>
              <a:t>通过显而易见的方式将其反复展开</a:t>
            </a:r>
            <a:endParaRPr lang="en-US" altLang="zh-CN" sz="800" dirty="0" smtClean="0"/>
          </a:p>
          <a:p>
            <a:pPr eaLnBrk="1" hangingPunct="1">
              <a:defRPr/>
            </a:pPr>
            <a:r>
              <a:rPr lang="zh-CN" altLang="en-US" sz="2300" dirty="0" smtClean="0"/>
              <a:t>这种方法，在函数定义的比率不相等的递归式中，很难使用</a:t>
            </a:r>
            <a:endParaRPr lang="en-US" altLang="zh-CN" sz="2300" dirty="0" smtClean="0"/>
          </a:p>
          <a:p>
            <a:pPr eaLnBrk="1" hangingPunct="1">
              <a:defRPr/>
            </a:pPr>
            <a:endParaRPr lang="en-US" altLang="zh-CN" sz="800" dirty="0" smtClean="0"/>
          </a:p>
          <a:p>
            <a:pPr eaLnBrk="1" hangingPunct="1">
              <a:defRPr/>
            </a:pPr>
            <a:r>
              <a:rPr lang="zh-CN" altLang="en-US" sz="2300" dirty="0" smtClean="0">
                <a:solidFill>
                  <a:schemeClr val="tx2"/>
                </a:solidFill>
              </a:rPr>
              <a:t>例</a:t>
            </a:r>
            <a:r>
              <a:rPr lang="en-US" altLang="zh-CN" sz="2300" dirty="0" smtClean="0">
                <a:solidFill>
                  <a:schemeClr val="tx2"/>
                </a:solidFill>
              </a:rPr>
              <a:t> 2.23</a:t>
            </a:r>
          </a:p>
          <a:p>
            <a:pPr lvl="1" eaLnBrk="1" hangingPunct="1">
              <a:defRPr/>
            </a:pPr>
            <a:r>
              <a:rPr lang="zh-CN" altLang="en-US" sz="2400" dirty="0" smtClean="0">
                <a:latin typeface="+mn-ea"/>
                <a:ea typeface="+mn-ea"/>
              </a:rPr>
              <a:t>考虑递推式</a:t>
            </a:r>
            <a:endParaRPr lang="en-US" altLang="zh-CN" sz="2400" dirty="0" smtClean="0">
              <a:latin typeface="+mn-ea"/>
              <a:ea typeface="+mn-ea"/>
            </a:endParaRPr>
          </a:p>
          <a:p>
            <a:pPr lvl="1" eaLnBrk="1" hangingPunct="1">
              <a:defRPr/>
            </a:pPr>
            <a:endParaRPr lang="en-US" altLang="zh-CN" sz="2400" dirty="0" smtClean="0">
              <a:latin typeface="+mn-ea"/>
              <a:ea typeface="+mn-ea"/>
            </a:endParaRPr>
          </a:p>
          <a:p>
            <a:pPr lvl="1" eaLnBrk="1" hangingPunct="1">
              <a:defRPr/>
            </a:pPr>
            <a:endParaRPr lang="en-US" altLang="zh-CN" sz="2400" dirty="0" smtClean="0">
              <a:latin typeface="+mn-ea"/>
              <a:ea typeface="+mn-ea"/>
            </a:endParaRPr>
          </a:p>
          <a:p>
            <a:pPr lvl="1" eaLnBrk="1" hangingPunct="1">
              <a:buFontTx/>
              <a:buNone/>
              <a:defRPr/>
            </a:pPr>
            <a:r>
              <a:rPr lang="zh-CN" altLang="en-US" sz="2400" dirty="0" smtClean="0">
                <a:latin typeface="+mn-ea"/>
                <a:ea typeface="+mn-ea"/>
              </a:rPr>
              <a:t>这里</a:t>
            </a:r>
            <a:r>
              <a:rPr lang="en-US" altLang="zh-CN" sz="2400" dirty="0" smtClean="0">
                <a:latin typeface="+mn-ea"/>
                <a:ea typeface="+mn-ea"/>
              </a:rPr>
              <a:t>b</a:t>
            </a:r>
            <a:r>
              <a:rPr lang="zh-CN" altLang="en-US" sz="2400" dirty="0" smtClean="0">
                <a:latin typeface="+mn-ea"/>
                <a:ea typeface="+mn-ea"/>
              </a:rPr>
              <a:t>和</a:t>
            </a:r>
            <a:r>
              <a:rPr lang="en-US" altLang="zh-CN" sz="2400" dirty="0" smtClean="0">
                <a:latin typeface="+mn-ea"/>
                <a:ea typeface="+mn-ea"/>
              </a:rPr>
              <a:t>d</a:t>
            </a:r>
            <a:r>
              <a:rPr lang="zh-CN" altLang="en-US" sz="2400" dirty="0" smtClean="0">
                <a:latin typeface="+mn-ea"/>
                <a:ea typeface="+mn-ea"/>
              </a:rPr>
              <a:t>是非负常数，</a:t>
            </a:r>
            <a:r>
              <a:rPr lang="en-US" altLang="zh-CN" sz="2400" dirty="0" smtClean="0">
                <a:latin typeface="+mn-ea"/>
                <a:ea typeface="+mn-ea"/>
              </a:rPr>
              <a:t>n</a:t>
            </a:r>
            <a:r>
              <a:rPr lang="zh-CN" altLang="en-US" sz="2400" dirty="0" smtClean="0">
                <a:latin typeface="+mn-ea"/>
                <a:ea typeface="+mn-ea"/>
              </a:rPr>
              <a:t>是</a:t>
            </a:r>
            <a:r>
              <a:rPr lang="en-US" altLang="zh-CN" sz="2400" dirty="0" smtClean="0">
                <a:latin typeface="+mn-ea"/>
                <a:ea typeface="+mn-ea"/>
              </a:rPr>
              <a:t>2</a:t>
            </a:r>
            <a:r>
              <a:rPr lang="zh-CN" altLang="en-US" sz="2400" dirty="0" smtClean="0">
                <a:latin typeface="+mn-ea"/>
                <a:ea typeface="+mn-ea"/>
              </a:rPr>
              <a:t>的幂。</a:t>
            </a:r>
            <a:endParaRPr lang="en-US" altLang="zh-CN" sz="2400" dirty="0" smtClean="0">
              <a:latin typeface="+mn-ea"/>
              <a:ea typeface="+mn-ea"/>
            </a:endParaRPr>
          </a:p>
          <a:p>
            <a:pPr lvl="1" eaLnBrk="1" hangingPunct="1">
              <a:buFontTx/>
              <a:buNone/>
              <a:defRPr/>
            </a:pPr>
            <a:r>
              <a:rPr lang="zh-CN" altLang="en-US" sz="2400" dirty="0" smtClean="0">
                <a:latin typeface="+mn-ea"/>
                <a:ea typeface="+mn-ea"/>
              </a:rPr>
              <a:t>见</a:t>
            </a:r>
            <a:r>
              <a:rPr lang="en-US" altLang="zh-CN" sz="2400" dirty="0" smtClean="0">
                <a:latin typeface="+mn-ea"/>
                <a:ea typeface="+mn-ea"/>
              </a:rPr>
              <a:t>p56.</a:t>
            </a:r>
          </a:p>
        </p:txBody>
      </p:sp>
      <p:graphicFrame>
        <p:nvGraphicFramePr>
          <p:cNvPr id="104453" name="Object 4"/>
          <p:cNvGraphicFramePr>
            <a:graphicFrameLocks noGrp="1" noChangeAspect="1"/>
          </p:cNvGraphicFramePr>
          <p:nvPr>
            <p:ph sz="half" idx="2"/>
          </p:nvPr>
        </p:nvGraphicFramePr>
        <p:xfrm>
          <a:off x="2071688" y="3071813"/>
          <a:ext cx="3779837" cy="803275"/>
        </p:xfrm>
        <a:graphic>
          <a:graphicData uri="http://schemas.openxmlformats.org/presentationml/2006/ole">
            <mc:AlternateContent xmlns:mc="http://schemas.openxmlformats.org/markup-compatibility/2006">
              <mc:Choice xmlns:v="urn:schemas-microsoft-com:vml" Requires="v">
                <p:oleObj spid="_x0000_s12310" name="公式" r:id="rId4" imgW="2336800" imgH="469900" progId="Equation.3">
                  <p:embed/>
                </p:oleObj>
              </mc:Choice>
              <mc:Fallback>
                <p:oleObj name="公式" r:id="rId4" imgW="2336800" imgH="469900" progId="Equation.3">
                  <p:embed/>
                  <p:pic>
                    <p:nvPicPr>
                      <p:cNvPr id="104453"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71688" y="3071813"/>
                        <a:ext cx="3779837" cy="80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04454" name="Picture 7" descr="example"/>
          <p:cNvPicPr>
            <a:picLocks noChangeAspect="1" noChangeArrowheads="1" noCrop="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27088" y="2636838"/>
            <a:ext cx="342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905289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页脚占位符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106499" name="Rectangle 2"/>
          <p:cNvSpPr>
            <a:spLocks noGrp="1" noChangeArrowheads="1"/>
          </p:cNvSpPr>
          <p:nvPr>
            <p:ph type="title"/>
          </p:nvPr>
        </p:nvSpPr>
        <p:spPr/>
        <p:txBody>
          <a:bodyPr/>
          <a:lstStyle/>
          <a:p>
            <a:pPr eaLnBrk="1" hangingPunct="1"/>
            <a:r>
              <a:rPr lang="en-US" altLang="zh-CN" dirty="0">
                <a:solidFill>
                  <a:srgbClr val="333399"/>
                </a:solidFill>
                <a:latin typeface="华文楷体"/>
              </a:rPr>
              <a:t>1.3.8 </a:t>
            </a:r>
            <a:r>
              <a:rPr lang="zh-CN" altLang="en-US" dirty="0">
                <a:solidFill>
                  <a:srgbClr val="333399"/>
                </a:solidFill>
                <a:latin typeface="华文楷体"/>
              </a:rPr>
              <a:t>递推关系</a:t>
            </a:r>
            <a:r>
              <a:rPr lang="en-US" altLang="zh-CN" dirty="0">
                <a:solidFill>
                  <a:srgbClr val="333399"/>
                </a:solidFill>
                <a:latin typeface="华文楷体"/>
              </a:rPr>
              <a:t>——</a:t>
            </a:r>
            <a:r>
              <a:rPr lang="zh-CN" altLang="en-US" dirty="0"/>
              <a:t>展开递推式</a:t>
            </a:r>
            <a:endParaRPr lang="en-US" altLang="zh-CN" dirty="0" smtClean="0"/>
          </a:p>
        </p:txBody>
      </p:sp>
      <p:sp>
        <p:nvSpPr>
          <p:cNvPr id="135171" name="Rectangle 3"/>
          <p:cNvSpPr>
            <a:spLocks noGrp="1" noChangeArrowheads="1"/>
          </p:cNvSpPr>
          <p:nvPr>
            <p:ph type="body" sz="half" idx="1"/>
          </p:nvPr>
        </p:nvSpPr>
        <p:spPr>
          <a:xfrm>
            <a:off x="890588" y="1196975"/>
            <a:ext cx="8218487" cy="4565650"/>
          </a:xfrm>
        </p:spPr>
        <p:txBody>
          <a:bodyPr/>
          <a:lstStyle/>
          <a:p>
            <a:pPr eaLnBrk="1" hangingPunct="1">
              <a:buFontTx/>
              <a:buNone/>
              <a:defRPr/>
            </a:pPr>
            <a:r>
              <a:rPr lang="en-US" altLang="zh-CN" sz="2300" dirty="0" smtClean="0"/>
              <a:t>       </a:t>
            </a:r>
            <a:r>
              <a:rPr lang="zh-CN" altLang="en-US" sz="2300" dirty="0" smtClean="0"/>
              <a:t>定理</a:t>
            </a:r>
            <a:r>
              <a:rPr lang="en-US" altLang="zh-CN" dirty="0" smtClean="0"/>
              <a:t> 2.4</a:t>
            </a:r>
          </a:p>
          <a:p>
            <a:pPr lvl="1" eaLnBrk="1" hangingPunct="1">
              <a:buFontTx/>
              <a:buNone/>
              <a:defRPr/>
            </a:pPr>
            <a:r>
              <a:rPr lang="en-US" altLang="zh-CN" sz="900" dirty="0" smtClean="0"/>
              <a:t>         </a:t>
            </a:r>
          </a:p>
          <a:p>
            <a:pPr lvl="1" eaLnBrk="1" hangingPunct="1">
              <a:defRPr/>
            </a:pPr>
            <a:r>
              <a:rPr lang="zh-CN" altLang="en-US" sz="2400" dirty="0" smtClean="0">
                <a:latin typeface="+mn-ea"/>
                <a:ea typeface="+mn-ea"/>
              </a:rPr>
              <a:t>设</a:t>
            </a:r>
            <a:r>
              <a:rPr lang="en-US" altLang="zh-CN" sz="2400" dirty="0" smtClean="0">
                <a:latin typeface="+mn-ea"/>
                <a:ea typeface="+mn-ea"/>
              </a:rPr>
              <a:t> b </a:t>
            </a:r>
            <a:r>
              <a:rPr lang="zh-CN" altLang="en-US" sz="2400" dirty="0" smtClean="0">
                <a:latin typeface="+mn-ea"/>
                <a:ea typeface="+mn-ea"/>
              </a:rPr>
              <a:t>和</a:t>
            </a:r>
            <a:r>
              <a:rPr lang="en-US" altLang="zh-CN" sz="2400" dirty="0" smtClean="0">
                <a:latin typeface="+mn-ea"/>
                <a:ea typeface="+mn-ea"/>
              </a:rPr>
              <a:t> d </a:t>
            </a:r>
            <a:r>
              <a:rPr lang="zh-CN" altLang="en-US" sz="2400" dirty="0" smtClean="0">
                <a:latin typeface="+mn-ea"/>
                <a:ea typeface="+mn-ea"/>
              </a:rPr>
              <a:t>是非负常数，</a:t>
            </a:r>
            <a:r>
              <a:rPr lang="en-US" altLang="zh-CN" sz="2400" dirty="0" smtClean="0">
                <a:latin typeface="+mn-ea"/>
                <a:ea typeface="+mn-ea"/>
              </a:rPr>
              <a:t>n</a:t>
            </a:r>
            <a:r>
              <a:rPr lang="zh-CN" altLang="en-US" sz="2400" dirty="0" smtClean="0">
                <a:latin typeface="+mn-ea"/>
                <a:ea typeface="+mn-ea"/>
              </a:rPr>
              <a:t>是</a:t>
            </a:r>
            <a:r>
              <a:rPr lang="en-US" altLang="zh-CN" sz="2400" dirty="0" smtClean="0">
                <a:latin typeface="+mn-ea"/>
                <a:ea typeface="+mn-ea"/>
              </a:rPr>
              <a:t>2</a:t>
            </a:r>
            <a:r>
              <a:rPr lang="zh-CN" altLang="en-US" sz="2400" dirty="0" smtClean="0">
                <a:latin typeface="+mn-ea"/>
                <a:ea typeface="+mn-ea"/>
              </a:rPr>
              <a:t>的幂，那么下面的递推式</a:t>
            </a:r>
            <a:endParaRPr lang="en-US" altLang="zh-CN" sz="2400" dirty="0" smtClean="0">
              <a:latin typeface="+mn-ea"/>
              <a:ea typeface="+mn-ea"/>
            </a:endParaRPr>
          </a:p>
          <a:p>
            <a:pPr eaLnBrk="1" hangingPunct="1">
              <a:buFontTx/>
              <a:buNone/>
              <a:defRPr/>
            </a:pPr>
            <a:endParaRPr lang="en-US" altLang="zh-CN" sz="1800" dirty="0" smtClean="0">
              <a:latin typeface="+mn-ea"/>
              <a:sym typeface="Symbol" pitchFamily="18" charset="2"/>
            </a:endParaRPr>
          </a:p>
          <a:p>
            <a:pPr eaLnBrk="1" hangingPunct="1">
              <a:buFontTx/>
              <a:buNone/>
              <a:defRPr/>
            </a:pPr>
            <a:endParaRPr lang="en-US" altLang="zh-CN" sz="2300" dirty="0" smtClean="0">
              <a:latin typeface="+mn-ea"/>
              <a:sym typeface="Symbol" pitchFamily="18" charset="2"/>
            </a:endParaRPr>
          </a:p>
          <a:p>
            <a:pPr lvl="1" eaLnBrk="1" hangingPunct="1">
              <a:buFontTx/>
              <a:buNone/>
              <a:defRPr/>
            </a:pPr>
            <a:r>
              <a:rPr lang="en-US" altLang="zh-CN" sz="2400" dirty="0" smtClean="0">
                <a:latin typeface="+mn-ea"/>
                <a:ea typeface="+mn-ea"/>
                <a:sym typeface="Symbol" pitchFamily="18" charset="2"/>
              </a:rPr>
              <a:t>  </a:t>
            </a:r>
          </a:p>
          <a:p>
            <a:pPr lvl="1" eaLnBrk="1" hangingPunct="1">
              <a:buFontTx/>
              <a:buNone/>
              <a:defRPr/>
            </a:pPr>
            <a:r>
              <a:rPr lang="en-US" altLang="zh-CN" sz="2400" dirty="0" smtClean="0">
                <a:latin typeface="+mn-ea"/>
                <a:ea typeface="+mn-ea"/>
                <a:sym typeface="Symbol" pitchFamily="18" charset="2"/>
              </a:rPr>
              <a:t> </a:t>
            </a:r>
            <a:r>
              <a:rPr lang="zh-CN" altLang="en-US" sz="2400" dirty="0" smtClean="0">
                <a:latin typeface="+mn-ea"/>
                <a:ea typeface="+mn-ea"/>
                <a:sym typeface="Symbol" pitchFamily="18" charset="2"/>
              </a:rPr>
              <a:t>的解是</a:t>
            </a:r>
            <a:r>
              <a:rPr lang="en-US" altLang="zh-CN" sz="2000" dirty="0" smtClean="0">
                <a:latin typeface="+mn-ea"/>
                <a:ea typeface="+mn-ea"/>
                <a:sym typeface="Symbol" pitchFamily="18" charset="2"/>
              </a:rPr>
              <a:t>               </a:t>
            </a:r>
          </a:p>
        </p:txBody>
      </p:sp>
      <p:graphicFrame>
        <p:nvGraphicFramePr>
          <p:cNvPr id="106501" name="Object 11"/>
          <p:cNvGraphicFramePr>
            <a:graphicFrameLocks noGrp="1" noChangeAspect="1"/>
          </p:cNvGraphicFramePr>
          <p:nvPr>
            <p:ph sz="half" idx="2"/>
          </p:nvPr>
        </p:nvGraphicFramePr>
        <p:xfrm>
          <a:off x="2268538" y="3789363"/>
          <a:ext cx="2324100" cy="465137"/>
        </p:xfrm>
        <a:graphic>
          <a:graphicData uri="http://schemas.openxmlformats.org/presentationml/2006/ole">
            <mc:AlternateContent xmlns:mc="http://schemas.openxmlformats.org/markup-compatibility/2006">
              <mc:Choice xmlns:v="urn:schemas-microsoft-com:vml" Requires="v">
                <p:oleObj spid="_x0000_s13354" name="公式" r:id="rId4" imgW="1206500" imgH="228600" progId="Equation.3">
                  <p:embed/>
                </p:oleObj>
              </mc:Choice>
              <mc:Fallback>
                <p:oleObj name="公式" r:id="rId4" imgW="1206500" imgH="228600" progId="Equation.3">
                  <p:embed/>
                  <p:pic>
                    <p:nvPicPr>
                      <p:cNvPr id="106501"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68538" y="3789363"/>
                        <a:ext cx="2324100"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6502" name="Object 13"/>
          <p:cNvGraphicFramePr>
            <a:graphicFrameLocks noGrp="1" noChangeAspect="1"/>
          </p:cNvGraphicFramePr>
          <p:nvPr>
            <p:ph sz="quarter" idx="4294967295"/>
          </p:nvPr>
        </p:nvGraphicFramePr>
        <p:xfrm>
          <a:off x="2484438" y="2781300"/>
          <a:ext cx="4222750" cy="696913"/>
        </p:xfrm>
        <a:graphic>
          <a:graphicData uri="http://schemas.openxmlformats.org/presentationml/2006/ole">
            <mc:AlternateContent xmlns:mc="http://schemas.openxmlformats.org/markup-compatibility/2006">
              <mc:Choice xmlns:v="urn:schemas-microsoft-com:vml" Requires="v">
                <p:oleObj spid="_x0000_s13355" name="公式" r:id="rId6" imgW="1625600" imgH="254000" progId="Equation.3">
                  <p:embed/>
                </p:oleObj>
              </mc:Choice>
              <mc:Fallback>
                <p:oleObj name="公式" r:id="rId6" imgW="1625600" imgH="254000" progId="Equation.3">
                  <p:embed/>
                  <p:pic>
                    <p:nvPicPr>
                      <p:cNvPr id="106502" name="Object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84438" y="2781300"/>
                        <a:ext cx="4222750" cy="69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06503" name="Picture 16" descr="theorem"/>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00113" y="1268413"/>
            <a:ext cx="5334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85813" y="981075"/>
            <a:ext cx="7886700" cy="587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4813369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xit" presetSubtype="4" fill="hold" nodeType="clickEffect">
                                  <p:stCondLst>
                                    <p:cond delay="0"/>
                                  </p:stCondLst>
                                  <p:childTnLst>
                                    <p:anim calcmode="lin" valueType="num">
                                      <p:cBhvr additive="base">
                                        <p:cTn id="6" dur="500"/>
                                        <p:tgtEl>
                                          <p:spTgt spid="8"/>
                                        </p:tgtEl>
                                        <p:attrNameLst>
                                          <p:attrName>ppt_x</p:attrName>
                                        </p:attrNameLst>
                                      </p:cBhvr>
                                      <p:tavLst>
                                        <p:tav tm="0">
                                          <p:val>
                                            <p:strVal val="ppt_x"/>
                                          </p:val>
                                        </p:tav>
                                        <p:tav tm="100000">
                                          <p:val>
                                            <p:strVal val="ppt_x"/>
                                          </p:val>
                                        </p:tav>
                                      </p:tavLst>
                                    </p:anim>
                                    <p:anim calcmode="lin" valueType="num">
                                      <p:cBhvr additive="base">
                                        <p:cTn id="7" dur="500"/>
                                        <p:tgtEl>
                                          <p:spTgt spid="8"/>
                                        </p:tgtEl>
                                        <p:attrNameLst>
                                          <p:attrName>ppt_y</p:attrName>
                                        </p:attrNameLst>
                                      </p:cBhvr>
                                      <p:tavLst>
                                        <p:tav tm="0">
                                          <p:val>
                                            <p:strVal val="ppt_y"/>
                                          </p:val>
                                        </p:tav>
                                        <p:tav tm="100000">
                                          <p:val>
                                            <p:strVal val="1+ppt_h/2"/>
                                          </p:val>
                                        </p:tav>
                                      </p:tavLst>
                                    </p:anim>
                                    <p:set>
                                      <p:cBhvr>
                                        <p:cTn id="8"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页脚占位符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108547" name="Rectangle 2"/>
          <p:cNvSpPr>
            <a:spLocks noGrp="1" noChangeArrowheads="1"/>
          </p:cNvSpPr>
          <p:nvPr>
            <p:ph type="title"/>
          </p:nvPr>
        </p:nvSpPr>
        <p:spPr/>
        <p:txBody>
          <a:bodyPr/>
          <a:lstStyle/>
          <a:p>
            <a:pPr eaLnBrk="1" hangingPunct="1"/>
            <a:r>
              <a:rPr lang="en-US" altLang="zh-CN" dirty="0">
                <a:solidFill>
                  <a:srgbClr val="333399"/>
                </a:solidFill>
                <a:latin typeface="华文楷体"/>
              </a:rPr>
              <a:t>1.3.8 </a:t>
            </a:r>
            <a:r>
              <a:rPr lang="zh-CN" altLang="en-US" dirty="0">
                <a:solidFill>
                  <a:srgbClr val="333399"/>
                </a:solidFill>
                <a:latin typeface="华文楷体"/>
              </a:rPr>
              <a:t>递推关系</a:t>
            </a:r>
            <a:r>
              <a:rPr lang="en-US" altLang="zh-CN" dirty="0">
                <a:solidFill>
                  <a:srgbClr val="333399"/>
                </a:solidFill>
                <a:latin typeface="华文楷体"/>
              </a:rPr>
              <a:t>——</a:t>
            </a:r>
            <a:r>
              <a:rPr lang="zh-CN" altLang="en-US" dirty="0"/>
              <a:t>展开递推式</a:t>
            </a:r>
            <a:endParaRPr lang="en-US" altLang="zh-CN" dirty="0" smtClean="0"/>
          </a:p>
        </p:txBody>
      </p:sp>
      <p:sp>
        <p:nvSpPr>
          <p:cNvPr id="11270" name="Rectangle 3"/>
          <p:cNvSpPr>
            <a:spLocks noGrp="1" noChangeArrowheads="1"/>
          </p:cNvSpPr>
          <p:nvPr>
            <p:ph type="body" sz="half" idx="1"/>
          </p:nvPr>
        </p:nvSpPr>
        <p:spPr>
          <a:xfrm>
            <a:off x="746125" y="1168400"/>
            <a:ext cx="8218488" cy="4565650"/>
          </a:xfrm>
        </p:spPr>
        <p:txBody>
          <a:bodyPr/>
          <a:lstStyle/>
          <a:p>
            <a:pPr eaLnBrk="1" hangingPunct="1">
              <a:defRPr/>
            </a:pPr>
            <a:r>
              <a:rPr lang="zh-CN" altLang="en-US" dirty="0" smtClean="0"/>
              <a:t>引理</a:t>
            </a:r>
            <a:r>
              <a:rPr lang="en-US" altLang="zh-CN" dirty="0" smtClean="0"/>
              <a:t> 2.1</a:t>
            </a:r>
          </a:p>
          <a:p>
            <a:pPr lvl="1" eaLnBrk="1" hangingPunct="1">
              <a:defRPr/>
            </a:pPr>
            <a:r>
              <a:rPr lang="zh-CN" altLang="en-US" sz="2400" dirty="0" smtClean="0">
                <a:latin typeface="+mn-ea"/>
                <a:ea typeface="+mn-ea"/>
              </a:rPr>
              <a:t>设</a:t>
            </a:r>
            <a:r>
              <a:rPr lang="en-US" altLang="zh-CN" sz="2400" dirty="0" smtClean="0">
                <a:latin typeface="+mn-ea"/>
                <a:ea typeface="+mn-ea"/>
              </a:rPr>
              <a:t>a</a:t>
            </a:r>
            <a:r>
              <a:rPr lang="zh-CN" altLang="en-US" sz="2400" dirty="0" smtClean="0">
                <a:latin typeface="+mn-ea"/>
                <a:ea typeface="+mn-ea"/>
              </a:rPr>
              <a:t>和</a:t>
            </a:r>
            <a:r>
              <a:rPr lang="en-US" altLang="zh-CN" sz="2400" dirty="0" smtClean="0">
                <a:latin typeface="+mn-ea"/>
                <a:ea typeface="+mn-ea"/>
              </a:rPr>
              <a:t>c</a:t>
            </a:r>
            <a:r>
              <a:rPr lang="zh-CN" altLang="en-US" sz="2400" dirty="0" smtClean="0">
                <a:latin typeface="+mn-ea"/>
                <a:ea typeface="+mn-ea"/>
              </a:rPr>
              <a:t>是非负整数，</a:t>
            </a:r>
            <a:r>
              <a:rPr lang="en-US" altLang="zh-CN" sz="2400" dirty="0" err="1" smtClean="0">
                <a:latin typeface="+mn-ea"/>
                <a:ea typeface="+mn-ea"/>
              </a:rPr>
              <a:t>b,d,x</a:t>
            </a:r>
            <a:r>
              <a:rPr lang="zh-CN" altLang="en-US" sz="2400" dirty="0" smtClean="0">
                <a:latin typeface="+mn-ea"/>
                <a:ea typeface="+mn-ea"/>
              </a:rPr>
              <a:t>是非负常数，并且对于某个非负整数</a:t>
            </a:r>
            <a:r>
              <a:rPr lang="en-US" altLang="zh-CN" sz="2400" dirty="0" smtClean="0">
                <a:latin typeface="+mn-ea"/>
                <a:ea typeface="+mn-ea"/>
              </a:rPr>
              <a:t>k</a:t>
            </a:r>
            <a:r>
              <a:rPr lang="zh-CN" altLang="en-US" sz="2400" dirty="0" smtClean="0">
                <a:latin typeface="+mn-ea"/>
                <a:ea typeface="+mn-ea"/>
              </a:rPr>
              <a:t>，令</a:t>
            </a:r>
            <a:r>
              <a:rPr lang="en-US" altLang="zh-CN" sz="2400" dirty="0" smtClean="0">
                <a:latin typeface="+mn-ea"/>
                <a:ea typeface="+mn-ea"/>
              </a:rPr>
              <a:t>n=c</a:t>
            </a:r>
            <a:r>
              <a:rPr lang="en-US" altLang="zh-CN" sz="2400" baseline="30000" dirty="0" smtClean="0">
                <a:latin typeface="+mn-ea"/>
                <a:ea typeface="+mn-ea"/>
              </a:rPr>
              <a:t>k</a:t>
            </a:r>
            <a:r>
              <a:rPr lang="en-US" altLang="zh-CN" sz="2400" dirty="0" smtClean="0">
                <a:latin typeface="+mn-ea"/>
                <a:ea typeface="+mn-ea"/>
              </a:rPr>
              <a:t>, </a:t>
            </a:r>
            <a:r>
              <a:rPr lang="zh-CN" altLang="en-US" sz="2400" dirty="0" smtClean="0">
                <a:latin typeface="+mn-ea"/>
                <a:ea typeface="+mn-ea"/>
              </a:rPr>
              <a:t>那么，下面递推式</a:t>
            </a:r>
            <a:endParaRPr lang="en-US" altLang="zh-CN" sz="2400" dirty="0" smtClean="0">
              <a:latin typeface="+mn-ea"/>
              <a:ea typeface="+mn-ea"/>
            </a:endParaRPr>
          </a:p>
          <a:p>
            <a:pPr eaLnBrk="1" hangingPunct="1">
              <a:buFontTx/>
              <a:buNone/>
              <a:defRPr/>
            </a:pPr>
            <a:r>
              <a:rPr lang="en-US" altLang="zh-CN" sz="1800" dirty="0" smtClean="0">
                <a:latin typeface="+mn-ea"/>
              </a:rPr>
              <a:t>                   </a:t>
            </a:r>
            <a:r>
              <a:rPr lang="en-US" altLang="zh-CN" sz="1800" i="1" dirty="0" smtClean="0">
                <a:latin typeface="+mn-ea"/>
                <a:sym typeface="Symbol" pitchFamily="18" charset="2"/>
              </a:rPr>
              <a:t>    </a:t>
            </a:r>
          </a:p>
          <a:p>
            <a:pPr eaLnBrk="1" hangingPunct="1">
              <a:buFontTx/>
              <a:buNone/>
              <a:defRPr/>
            </a:pPr>
            <a:endParaRPr lang="en-US" altLang="zh-CN" sz="1800" dirty="0" smtClean="0">
              <a:latin typeface="+mn-ea"/>
              <a:sym typeface="Symbol" pitchFamily="18" charset="2"/>
            </a:endParaRPr>
          </a:p>
          <a:p>
            <a:pPr lvl="1" eaLnBrk="1" hangingPunct="1">
              <a:buFontTx/>
              <a:buNone/>
              <a:defRPr/>
            </a:pPr>
            <a:r>
              <a:rPr lang="en-US" altLang="zh-CN" sz="2400" dirty="0" smtClean="0">
                <a:latin typeface="+mn-ea"/>
                <a:ea typeface="+mn-ea"/>
                <a:sym typeface="Symbol" pitchFamily="18" charset="2"/>
              </a:rPr>
              <a:t>    </a:t>
            </a:r>
          </a:p>
          <a:p>
            <a:pPr lvl="1" eaLnBrk="1" hangingPunct="1">
              <a:buFontTx/>
              <a:buNone/>
              <a:defRPr/>
            </a:pPr>
            <a:r>
              <a:rPr lang="en-US" altLang="zh-CN" sz="2400" dirty="0" smtClean="0">
                <a:latin typeface="+mn-ea"/>
                <a:ea typeface="+mn-ea"/>
                <a:sym typeface="Symbol" pitchFamily="18" charset="2"/>
              </a:rPr>
              <a:t>     </a:t>
            </a:r>
            <a:r>
              <a:rPr lang="zh-CN" altLang="en-US" sz="2400" dirty="0" smtClean="0">
                <a:latin typeface="+mn-ea"/>
                <a:ea typeface="+mn-ea"/>
                <a:sym typeface="Symbol" pitchFamily="18" charset="2"/>
              </a:rPr>
              <a:t>的解是</a:t>
            </a:r>
            <a:r>
              <a:rPr lang="en-US" altLang="zh-CN" sz="2400" dirty="0" smtClean="0">
                <a:latin typeface="+mn-ea"/>
                <a:ea typeface="+mn-ea"/>
                <a:sym typeface="Symbol" pitchFamily="18" charset="2"/>
              </a:rPr>
              <a:t> </a:t>
            </a:r>
          </a:p>
          <a:p>
            <a:pPr eaLnBrk="1" hangingPunct="1">
              <a:buFontTx/>
              <a:buNone/>
              <a:defRPr/>
            </a:pPr>
            <a:r>
              <a:rPr lang="en-US" altLang="zh-CN" sz="2100" dirty="0" smtClean="0">
                <a:sym typeface="Symbol" pitchFamily="18" charset="2"/>
              </a:rPr>
              <a:t>                                                                 </a:t>
            </a:r>
            <a:endParaRPr lang="en-US" altLang="zh-CN" sz="2100" i="1" dirty="0" smtClean="0">
              <a:latin typeface="Garamond" pitchFamily="18" charset="0"/>
              <a:sym typeface="Symbol" pitchFamily="18" charset="2"/>
            </a:endParaRPr>
          </a:p>
        </p:txBody>
      </p:sp>
      <p:graphicFrame>
        <p:nvGraphicFramePr>
          <p:cNvPr id="108549" name="Object 5"/>
          <p:cNvGraphicFramePr>
            <a:graphicFrameLocks noGrp="1" noChangeAspect="1"/>
          </p:cNvGraphicFramePr>
          <p:nvPr>
            <p:ph sz="quarter" idx="2"/>
          </p:nvPr>
        </p:nvGraphicFramePr>
        <p:xfrm>
          <a:off x="1763713" y="4292600"/>
          <a:ext cx="5570537" cy="1374775"/>
        </p:xfrm>
        <a:graphic>
          <a:graphicData uri="http://schemas.openxmlformats.org/presentationml/2006/ole">
            <mc:AlternateContent xmlns:mc="http://schemas.openxmlformats.org/markup-compatibility/2006">
              <mc:Choice xmlns:v="urn:schemas-microsoft-com:vml" Requires="v">
                <p:oleObj spid="_x0000_s14378" name="公式" r:id="rId4" imgW="3263900" imgH="762000" progId="Equation.3">
                  <p:embed/>
                </p:oleObj>
              </mc:Choice>
              <mc:Fallback>
                <p:oleObj name="公式" r:id="rId4" imgW="3263900" imgH="762000" progId="Equation.3">
                  <p:embed/>
                  <p:pic>
                    <p:nvPicPr>
                      <p:cNvPr id="108549"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63713" y="4292600"/>
                        <a:ext cx="5570537" cy="137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8550" name="Object 10"/>
          <p:cNvGraphicFramePr>
            <a:graphicFrameLocks noGrp="1" noChangeAspect="1"/>
          </p:cNvGraphicFramePr>
          <p:nvPr>
            <p:ph sz="quarter" idx="3"/>
          </p:nvPr>
        </p:nvGraphicFramePr>
        <p:xfrm>
          <a:off x="2071688" y="2571750"/>
          <a:ext cx="4495800" cy="969963"/>
        </p:xfrm>
        <a:graphic>
          <a:graphicData uri="http://schemas.openxmlformats.org/presentationml/2006/ole">
            <mc:AlternateContent xmlns:mc="http://schemas.openxmlformats.org/markup-compatibility/2006">
              <mc:Choice xmlns:v="urn:schemas-microsoft-com:vml" Requires="v">
                <p:oleObj spid="_x0000_s14379" name="Equation" r:id="rId6" imgW="1397000" imgH="279400" progId="Equation.3">
                  <p:embed/>
                </p:oleObj>
              </mc:Choice>
              <mc:Fallback>
                <p:oleObj name="Equation" r:id="rId6" imgW="1397000" imgH="279400" progId="Equation.3">
                  <p:embed/>
                  <p:pic>
                    <p:nvPicPr>
                      <p:cNvPr id="10855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71688" y="2571750"/>
                        <a:ext cx="4495800" cy="969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08551" name="Picture 13" descr="lemma"/>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7088" y="1270000"/>
            <a:ext cx="35877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340626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页脚占位符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110595" name="Rectangle 2"/>
          <p:cNvSpPr>
            <a:spLocks noGrp="1" noChangeArrowheads="1"/>
          </p:cNvSpPr>
          <p:nvPr>
            <p:ph type="title"/>
          </p:nvPr>
        </p:nvSpPr>
        <p:spPr/>
        <p:txBody>
          <a:bodyPr/>
          <a:lstStyle/>
          <a:p>
            <a:pPr eaLnBrk="1" hangingPunct="1"/>
            <a:r>
              <a:rPr lang="en-US" altLang="zh-CN" dirty="0">
                <a:solidFill>
                  <a:srgbClr val="333399"/>
                </a:solidFill>
                <a:latin typeface="华文楷体"/>
              </a:rPr>
              <a:t>1.3.8 </a:t>
            </a:r>
            <a:r>
              <a:rPr lang="zh-CN" altLang="en-US" dirty="0">
                <a:solidFill>
                  <a:srgbClr val="333399"/>
                </a:solidFill>
                <a:latin typeface="华文楷体"/>
              </a:rPr>
              <a:t>递推关系</a:t>
            </a:r>
            <a:r>
              <a:rPr lang="en-US" altLang="zh-CN" dirty="0">
                <a:solidFill>
                  <a:srgbClr val="333399"/>
                </a:solidFill>
                <a:latin typeface="华文楷体"/>
              </a:rPr>
              <a:t>——</a:t>
            </a:r>
            <a:r>
              <a:rPr lang="zh-CN" altLang="en-US" dirty="0"/>
              <a:t>展开递推式</a:t>
            </a:r>
            <a:endParaRPr lang="en-US" altLang="zh-CN" dirty="0" smtClean="0"/>
          </a:p>
        </p:txBody>
      </p:sp>
      <p:sp>
        <p:nvSpPr>
          <p:cNvPr id="12294" name="Rectangle 3"/>
          <p:cNvSpPr>
            <a:spLocks noGrp="1" noChangeArrowheads="1"/>
          </p:cNvSpPr>
          <p:nvPr>
            <p:ph type="body" sz="half" idx="1"/>
          </p:nvPr>
        </p:nvSpPr>
        <p:spPr>
          <a:xfrm>
            <a:off x="890588" y="1239838"/>
            <a:ext cx="8218487" cy="4565650"/>
          </a:xfrm>
        </p:spPr>
        <p:txBody>
          <a:bodyPr/>
          <a:lstStyle/>
          <a:p>
            <a:pPr eaLnBrk="1" hangingPunct="1">
              <a:defRPr/>
            </a:pPr>
            <a:r>
              <a:rPr lang="zh-CN" altLang="en-US" dirty="0" smtClean="0"/>
              <a:t>推论</a:t>
            </a:r>
            <a:r>
              <a:rPr lang="en-US" altLang="zh-CN" dirty="0" smtClean="0"/>
              <a:t> 2.1</a:t>
            </a:r>
          </a:p>
          <a:p>
            <a:pPr lvl="1" eaLnBrk="1" hangingPunct="1">
              <a:defRPr/>
            </a:pPr>
            <a:r>
              <a:rPr lang="zh-CN" altLang="en-US" sz="2400" dirty="0" smtClean="0">
                <a:latin typeface="+mn-ea"/>
                <a:ea typeface="+mn-ea"/>
              </a:rPr>
              <a:t>设</a:t>
            </a:r>
            <a:r>
              <a:rPr lang="en-US" altLang="zh-CN" sz="2400" dirty="0" smtClean="0">
                <a:latin typeface="+mn-ea"/>
                <a:ea typeface="+mn-ea"/>
              </a:rPr>
              <a:t>a</a:t>
            </a:r>
            <a:r>
              <a:rPr lang="zh-CN" altLang="en-US" sz="2400" dirty="0" smtClean="0">
                <a:latin typeface="+mn-ea"/>
                <a:ea typeface="+mn-ea"/>
              </a:rPr>
              <a:t>和</a:t>
            </a:r>
            <a:r>
              <a:rPr lang="en-US" altLang="zh-CN" sz="2400" dirty="0" smtClean="0">
                <a:latin typeface="+mn-ea"/>
                <a:ea typeface="+mn-ea"/>
              </a:rPr>
              <a:t>c</a:t>
            </a:r>
            <a:r>
              <a:rPr lang="zh-CN" altLang="en-US" sz="2400" dirty="0" smtClean="0">
                <a:latin typeface="+mn-ea"/>
                <a:ea typeface="+mn-ea"/>
              </a:rPr>
              <a:t>是非负整数，</a:t>
            </a:r>
            <a:r>
              <a:rPr lang="en-US" altLang="zh-CN" sz="2400" dirty="0" err="1" smtClean="0">
                <a:latin typeface="+mn-ea"/>
                <a:ea typeface="+mn-ea"/>
              </a:rPr>
              <a:t>b,d,x</a:t>
            </a:r>
            <a:r>
              <a:rPr lang="zh-CN" altLang="en-US" sz="2400" dirty="0" smtClean="0">
                <a:latin typeface="+mn-ea"/>
                <a:ea typeface="+mn-ea"/>
              </a:rPr>
              <a:t>是非负常数，并且对于某个非负整数</a:t>
            </a:r>
            <a:r>
              <a:rPr lang="en-US" altLang="zh-CN" sz="2400" dirty="0" smtClean="0">
                <a:latin typeface="+mn-ea"/>
                <a:ea typeface="+mn-ea"/>
              </a:rPr>
              <a:t>k</a:t>
            </a:r>
            <a:r>
              <a:rPr lang="zh-CN" altLang="en-US" sz="2400" dirty="0" smtClean="0">
                <a:latin typeface="+mn-ea"/>
                <a:ea typeface="+mn-ea"/>
              </a:rPr>
              <a:t>，令</a:t>
            </a:r>
            <a:r>
              <a:rPr lang="en-US" altLang="zh-CN" sz="2400" dirty="0" smtClean="0">
                <a:latin typeface="+mn-ea"/>
                <a:ea typeface="+mn-ea"/>
              </a:rPr>
              <a:t>n=c</a:t>
            </a:r>
            <a:r>
              <a:rPr lang="en-US" altLang="zh-CN" sz="2400" baseline="30000" dirty="0" smtClean="0">
                <a:latin typeface="+mn-ea"/>
                <a:ea typeface="+mn-ea"/>
              </a:rPr>
              <a:t>k</a:t>
            </a:r>
            <a:r>
              <a:rPr lang="en-US" altLang="zh-CN" sz="2400" dirty="0" smtClean="0">
                <a:latin typeface="+mn-ea"/>
                <a:ea typeface="+mn-ea"/>
              </a:rPr>
              <a:t>, </a:t>
            </a:r>
            <a:r>
              <a:rPr lang="zh-CN" altLang="en-US" sz="2400" dirty="0" smtClean="0">
                <a:latin typeface="+mn-ea"/>
                <a:ea typeface="+mn-ea"/>
              </a:rPr>
              <a:t>那么，下面递推式</a:t>
            </a:r>
            <a:endParaRPr lang="en-US" altLang="zh-CN" sz="2400" dirty="0" smtClean="0">
              <a:latin typeface="+mn-ea"/>
              <a:ea typeface="+mn-ea"/>
            </a:endParaRPr>
          </a:p>
          <a:p>
            <a:pPr eaLnBrk="1" hangingPunct="1">
              <a:buFontTx/>
              <a:buNone/>
              <a:defRPr/>
            </a:pPr>
            <a:r>
              <a:rPr lang="en-US" altLang="zh-CN" sz="1800" dirty="0" smtClean="0"/>
              <a:t>                  </a:t>
            </a:r>
          </a:p>
          <a:p>
            <a:pPr eaLnBrk="1" hangingPunct="1">
              <a:buFontTx/>
              <a:buNone/>
              <a:defRPr/>
            </a:pPr>
            <a:endParaRPr lang="en-US" altLang="zh-CN" sz="1800" dirty="0" smtClean="0"/>
          </a:p>
          <a:p>
            <a:pPr eaLnBrk="1" hangingPunct="1">
              <a:buFontTx/>
              <a:buNone/>
              <a:defRPr/>
            </a:pPr>
            <a:endParaRPr lang="en-US" altLang="zh-CN" sz="1800" dirty="0" smtClean="0"/>
          </a:p>
          <a:p>
            <a:pPr eaLnBrk="1" hangingPunct="1">
              <a:buFontTx/>
              <a:buNone/>
              <a:defRPr/>
            </a:pPr>
            <a:r>
              <a:rPr lang="en-US" altLang="zh-CN" sz="2100" dirty="0" smtClean="0">
                <a:solidFill>
                  <a:srgbClr val="EA0000"/>
                </a:solidFill>
              </a:rPr>
              <a:t>     </a:t>
            </a:r>
            <a:r>
              <a:rPr lang="zh-CN" altLang="en-US" sz="2100" dirty="0" smtClean="0">
                <a:solidFill>
                  <a:srgbClr val="EA0000"/>
                </a:solidFill>
              </a:rPr>
              <a:t>的解满足</a:t>
            </a:r>
            <a:endParaRPr lang="en-US" altLang="zh-CN" sz="2100" dirty="0" smtClean="0">
              <a:solidFill>
                <a:srgbClr val="EA0000"/>
              </a:solidFill>
            </a:endParaRPr>
          </a:p>
          <a:p>
            <a:pPr eaLnBrk="1" hangingPunct="1">
              <a:buFontTx/>
              <a:buNone/>
              <a:defRPr/>
            </a:pPr>
            <a:r>
              <a:rPr lang="en-US" altLang="zh-CN" sz="1800" dirty="0" smtClean="0"/>
              <a:t>                                                                      </a:t>
            </a:r>
          </a:p>
        </p:txBody>
      </p:sp>
      <p:graphicFrame>
        <p:nvGraphicFramePr>
          <p:cNvPr id="110597" name="Object 5"/>
          <p:cNvGraphicFramePr>
            <a:graphicFrameLocks noGrp="1" noChangeAspect="1"/>
          </p:cNvGraphicFramePr>
          <p:nvPr>
            <p:ph sz="quarter" idx="2"/>
          </p:nvPr>
        </p:nvGraphicFramePr>
        <p:xfrm>
          <a:off x="2484438" y="3860800"/>
          <a:ext cx="4319587" cy="1724025"/>
        </p:xfrm>
        <a:graphic>
          <a:graphicData uri="http://schemas.openxmlformats.org/presentationml/2006/ole">
            <mc:AlternateContent xmlns:mc="http://schemas.openxmlformats.org/markup-compatibility/2006">
              <mc:Choice xmlns:v="urn:schemas-microsoft-com:vml" Requires="v">
                <p:oleObj spid="_x0000_s15402" name="公式" r:id="rId4" imgW="2768600" imgH="1104900" progId="Equation.3">
                  <p:embed/>
                </p:oleObj>
              </mc:Choice>
              <mc:Fallback>
                <p:oleObj name="公式" r:id="rId4" imgW="2768600" imgH="1104900" progId="Equation.3">
                  <p:embed/>
                  <p:pic>
                    <p:nvPicPr>
                      <p:cNvPr id="110597"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84438" y="3860800"/>
                        <a:ext cx="4319587" cy="172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0598" name="Object 7"/>
          <p:cNvGraphicFramePr>
            <a:graphicFrameLocks noGrp="1" noChangeAspect="1"/>
          </p:cNvGraphicFramePr>
          <p:nvPr>
            <p:ph sz="quarter" idx="3"/>
          </p:nvPr>
        </p:nvGraphicFramePr>
        <p:xfrm>
          <a:off x="2136775" y="2960688"/>
          <a:ext cx="3106738" cy="592137"/>
        </p:xfrm>
        <a:graphic>
          <a:graphicData uri="http://schemas.openxmlformats.org/presentationml/2006/ole">
            <mc:AlternateContent xmlns:mc="http://schemas.openxmlformats.org/markup-compatibility/2006">
              <mc:Choice xmlns:v="urn:schemas-microsoft-com:vml" Requires="v">
                <p:oleObj spid="_x0000_s15403" name="公式" r:id="rId6" imgW="1549400" imgH="279400" progId="Equation.3">
                  <p:embed/>
                </p:oleObj>
              </mc:Choice>
              <mc:Fallback>
                <p:oleObj name="公式" r:id="rId6" imgW="1549400" imgH="279400" progId="Equation.3">
                  <p:embed/>
                  <p:pic>
                    <p:nvPicPr>
                      <p:cNvPr id="110598"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36775" y="2960688"/>
                        <a:ext cx="3106738" cy="59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10599" name="Picture 9" descr="crollary"/>
          <p:cNvPicPr>
            <a:picLocks noChangeAspect="1" noChangeArrowheads="1" noCrop="1"/>
          </p:cNvPicPr>
          <p:nvPr/>
        </p:nvPicPr>
        <p:blipFill>
          <a:blip r:embed="rId8">
            <a:extLst>
              <a:ext uri="{28A0092B-C50C-407E-A947-70E740481C1C}">
                <a14:useLocalDpi xmlns:a14="http://schemas.microsoft.com/office/drawing/2010/main" val="0"/>
              </a:ext>
            </a:extLst>
          </a:blip>
          <a:srcRect/>
          <a:stretch>
            <a:fillRect/>
          </a:stretch>
        </p:blipFill>
        <p:spPr bwMode="auto">
          <a:xfrm flipH="1">
            <a:off x="900113" y="1268413"/>
            <a:ext cx="373062"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016587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页脚占位符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112643" name="Rectangle 2"/>
          <p:cNvSpPr>
            <a:spLocks noGrp="1" noChangeArrowheads="1"/>
          </p:cNvSpPr>
          <p:nvPr>
            <p:ph type="title"/>
          </p:nvPr>
        </p:nvSpPr>
        <p:spPr/>
        <p:txBody>
          <a:bodyPr/>
          <a:lstStyle/>
          <a:p>
            <a:pPr eaLnBrk="1" hangingPunct="1"/>
            <a:r>
              <a:rPr lang="en-US" altLang="zh-CN" dirty="0">
                <a:solidFill>
                  <a:srgbClr val="333399"/>
                </a:solidFill>
                <a:latin typeface="华文楷体"/>
              </a:rPr>
              <a:t>1.3.8 </a:t>
            </a:r>
            <a:r>
              <a:rPr lang="zh-CN" altLang="en-US" dirty="0">
                <a:solidFill>
                  <a:srgbClr val="333399"/>
                </a:solidFill>
                <a:latin typeface="华文楷体"/>
              </a:rPr>
              <a:t>递推关系</a:t>
            </a:r>
            <a:r>
              <a:rPr lang="en-US" altLang="zh-CN" dirty="0">
                <a:solidFill>
                  <a:srgbClr val="333399"/>
                </a:solidFill>
                <a:latin typeface="华文楷体"/>
              </a:rPr>
              <a:t>——</a:t>
            </a:r>
            <a:r>
              <a:rPr lang="zh-CN" altLang="en-US" dirty="0"/>
              <a:t>展开递推式</a:t>
            </a:r>
            <a:endParaRPr lang="en-US" altLang="zh-CN" dirty="0" smtClean="0"/>
          </a:p>
        </p:txBody>
      </p:sp>
      <p:sp>
        <p:nvSpPr>
          <p:cNvPr id="13318" name="Rectangle 3"/>
          <p:cNvSpPr>
            <a:spLocks noGrp="1" noChangeArrowheads="1"/>
          </p:cNvSpPr>
          <p:nvPr>
            <p:ph type="body" sz="half" idx="1"/>
          </p:nvPr>
        </p:nvSpPr>
        <p:spPr>
          <a:xfrm>
            <a:off x="890588" y="1239838"/>
            <a:ext cx="8218487" cy="4565650"/>
          </a:xfrm>
        </p:spPr>
        <p:txBody>
          <a:bodyPr/>
          <a:lstStyle/>
          <a:p>
            <a:pPr eaLnBrk="1" hangingPunct="1">
              <a:defRPr/>
            </a:pPr>
            <a:r>
              <a:rPr lang="zh-CN" altLang="en-US" dirty="0" smtClean="0"/>
              <a:t>推论</a:t>
            </a:r>
            <a:r>
              <a:rPr lang="en-US" altLang="zh-CN" dirty="0" smtClean="0"/>
              <a:t>2.2</a:t>
            </a:r>
          </a:p>
          <a:p>
            <a:pPr lvl="1" eaLnBrk="1" hangingPunct="1">
              <a:defRPr/>
            </a:pPr>
            <a:r>
              <a:rPr lang="zh-CN" altLang="en-US" sz="2400" dirty="0" smtClean="0">
                <a:latin typeface="+mn-ea"/>
                <a:ea typeface="+mn-ea"/>
              </a:rPr>
              <a:t>设</a:t>
            </a:r>
            <a:r>
              <a:rPr lang="en-US" altLang="zh-CN" sz="2400" dirty="0" smtClean="0">
                <a:latin typeface="+mn-ea"/>
                <a:ea typeface="+mn-ea"/>
              </a:rPr>
              <a:t>a</a:t>
            </a:r>
            <a:r>
              <a:rPr lang="zh-CN" altLang="en-US" sz="2400" dirty="0" smtClean="0">
                <a:latin typeface="+mn-ea"/>
                <a:ea typeface="+mn-ea"/>
              </a:rPr>
              <a:t>和</a:t>
            </a:r>
            <a:r>
              <a:rPr lang="en-US" altLang="zh-CN" sz="2400" dirty="0" smtClean="0">
                <a:latin typeface="+mn-ea"/>
                <a:ea typeface="+mn-ea"/>
              </a:rPr>
              <a:t>c</a:t>
            </a:r>
            <a:r>
              <a:rPr lang="zh-CN" altLang="en-US" sz="2400" dirty="0" smtClean="0">
                <a:latin typeface="+mn-ea"/>
                <a:ea typeface="+mn-ea"/>
              </a:rPr>
              <a:t>是非负整数，</a:t>
            </a:r>
            <a:r>
              <a:rPr lang="en-US" altLang="zh-CN" sz="2400" dirty="0" err="1" smtClean="0">
                <a:latin typeface="+mn-ea"/>
                <a:ea typeface="+mn-ea"/>
              </a:rPr>
              <a:t>b,d,x</a:t>
            </a:r>
            <a:r>
              <a:rPr lang="zh-CN" altLang="en-US" sz="2400" dirty="0" smtClean="0">
                <a:latin typeface="+mn-ea"/>
                <a:ea typeface="+mn-ea"/>
              </a:rPr>
              <a:t>是非负常数，并且对于某个非负整数</a:t>
            </a:r>
            <a:r>
              <a:rPr lang="en-US" altLang="zh-CN" sz="2400" dirty="0" smtClean="0">
                <a:latin typeface="+mn-ea"/>
                <a:ea typeface="+mn-ea"/>
              </a:rPr>
              <a:t>k</a:t>
            </a:r>
            <a:r>
              <a:rPr lang="zh-CN" altLang="en-US" sz="2400" dirty="0" smtClean="0">
                <a:latin typeface="+mn-ea"/>
                <a:ea typeface="+mn-ea"/>
              </a:rPr>
              <a:t>，令</a:t>
            </a:r>
            <a:r>
              <a:rPr lang="en-US" altLang="zh-CN" sz="2400" dirty="0" smtClean="0">
                <a:latin typeface="+mn-ea"/>
                <a:ea typeface="+mn-ea"/>
              </a:rPr>
              <a:t>n=c</a:t>
            </a:r>
            <a:r>
              <a:rPr lang="en-US" altLang="zh-CN" sz="2400" baseline="30000" dirty="0" smtClean="0">
                <a:latin typeface="+mn-ea"/>
                <a:ea typeface="+mn-ea"/>
              </a:rPr>
              <a:t>k</a:t>
            </a:r>
            <a:r>
              <a:rPr lang="en-US" altLang="zh-CN" sz="2400" dirty="0" smtClean="0">
                <a:latin typeface="+mn-ea"/>
                <a:ea typeface="+mn-ea"/>
              </a:rPr>
              <a:t>, </a:t>
            </a:r>
            <a:r>
              <a:rPr lang="zh-CN" altLang="en-US" sz="2400" dirty="0" smtClean="0">
                <a:latin typeface="+mn-ea"/>
                <a:ea typeface="+mn-ea"/>
              </a:rPr>
              <a:t>那么，下面递推式</a:t>
            </a:r>
            <a:endParaRPr lang="en-US" altLang="zh-CN" sz="2400" dirty="0" smtClean="0">
              <a:latin typeface="+mn-ea"/>
              <a:ea typeface="+mn-ea"/>
              <a:sym typeface="Symbol" pitchFamily="18" charset="2"/>
            </a:endParaRPr>
          </a:p>
          <a:p>
            <a:pPr eaLnBrk="1" hangingPunct="1">
              <a:buFontTx/>
              <a:buNone/>
              <a:defRPr/>
            </a:pPr>
            <a:endParaRPr lang="en-US" altLang="zh-CN" sz="1800" dirty="0" smtClean="0">
              <a:sym typeface="Symbol" pitchFamily="18" charset="2"/>
            </a:endParaRPr>
          </a:p>
          <a:p>
            <a:pPr eaLnBrk="1" hangingPunct="1">
              <a:buFontTx/>
              <a:buNone/>
              <a:defRPr/>
            </a:pPr>
            <a:endParaRPr lang="en-US" altLang="zh-CN" sz="1800" dirty="0" smtClean="0">
              <a:sym typeface="Symbol" pitchFamily="18" charset="2"/>
            </a:endParaRPr>
          </a:p>
          <a:p>
            <a:pPr eaLnBrk="1" hangingPunct="1">
              <a:buFontTx/>
              <a:buNone/>
              <a:defRPr/>
            </a:pPr>
            <a:r>
              <a:rPr lang="en-US" altLang="zh-CN" sz="1800" dirty="0" smtClean="0">
                <a:sym typeface="Symbol" pitchFamily="18" charset="2"/>
              </a:rPr>
              <a:t>         </a:t>
            </a:r>
          </a:p>
          <a:p>
            <a:pPr eaLnBrk="1" hangingPunct="1">
              <a:buFontTx/>
              <a:buNone/>
              <a:defRPr/>
            </a:pPr>
            <a:r>
              <a:rPr lang="en-US" altLang="zh-CN" sz="2100" dirty="0" smtClean="0">
                <a:solidFill>
                  <a:srgbClr val="EA0000"/>
                </a:solidFill>
                <a:sym typeface="Symbol" pitchFamily="18" charset="2"/>
              </a:rPr>
              <a:t>           </a:t>
            </a:r>
            <a:r>
              <a:rPr lang="zh-CN" altLang="en-US" sz="2100" dirty="0" smtClean="0">
                <a:solidFill>
                  <a:srgbClr val="EA0000"/>
                </a:solidFill>
                <a:sym typeface="Symbol" pitchFamily="18" charset="2"/>
              </a:rPr>
              <a:t>的解是</a:t>
            </a:r>
            <a:endParaRPr lang="en-US" altLang="zh-CN" sz="2100" dirty="0" smtClean="0">
              <a:solidFill>
                <a:srgbClr val="EA0000"/>
              </a:solidFill>
              <a:latin typeface="Garamond" pitchFamily="18" charset="0"/>
              <a:sym typeface="Symbol" pitchFamily="18" charset="2"/>
            </a:endParaRPr>
          </a:p>
          <a:p>
            <a:pPr eaLnBrk="1" hangingPunct="1">
              <a:buFontTx/>
              <a:buNone/>
              <a:defRPr/>
            </a:pPr>
            <a:endParaRPr lang="en-US" altLang="zh-CN" sz="2100" dirty="0" smtClean="0">
              <a:solidFill>
                <a:srgbClr val="EA0000"/>
              </a:solidFill>
              <a:latin typeface="Garamond" pitchFamily="18" charset="0"/>
              <a:sym typeface="Symbol" pitchFamily="18" charset="2"/>
            </a:endParaRPr>
          </a:p>
          <a:p>
            <a:pPr eaLnBrk="1" hangingPunct="1">
              <a:buFontTx/>
              <a:buNone/>
              <a:defRPr/>
            </a:pPr>
            <a:endParaRPr lang="en-US" altLang="zh-CN" sz="2100" dirty="0" smtClean="0">
              <a:solidFill>
                <a:srgbClr val="EA0000"/>
              </a:solidFill>
            </a:endParaRPr>
          </a:p>
        </p:txBody>
      </p:sp>
      <p:graphicFrame>
        <p:nvGraphicFramePr>
          <p:cNvPr id="112645" name="Object 5"/>
          <p:cNvGraphicFramePr>
            <a:graphicFrameLocks noGrp="1" noChangeAspect="1"/>
          </p:cNvGraphicFramePr>
          <p:nvPr>
            <p:ph sz="quarter" idx="2"/>
          </p:nvPr>
        </p:nvGraphicFramePr>
        <p:xfrm>
          <a:off x="2555875" y="4149725"/>
          <a:ext cx="4565650" cy="965200"/>
        </p:xfrm>
        <a:graphic>
          <a:graphicData uri="http://schemas.openxmlformats.org/presentationml/2006/ole">
            <mc:AlternateContent xmlns:mc="http://schemas.openxmlformats.org/markup-compatibility/2006">
              <mc:Choice xmlns:v="urn:schemas-microsoft-com:vml" Requires="v">
                <p:oleObj spid="_x0000_s16426" name="公式" r:id="rId4" imgW="3175000" imgH="635000" progId="Equation.3">
                  <p:embed/>
                </p:oleObj>
              </mc:Choice>
              <mc:Fallback>
                <p:oleObj name="公式" r:id="rId4" imgW="3175000" imgH="635000" progId="Equation.3">
                  <p:embed/>
                  <p:pic>
                    <p:nvPicPr>
                      <p:cNvPr id="112645"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55875" y="4149725"/>
                        <a:ext cx="4565650" cy="96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2646" name="Object 10"/>
          <p:cNvGraphicFramePr>
            <a:graphicFrameLocks noGrp="1" noChangeAspect="1"/>
          </p:cNvGraphicFramePr>
          <p:nvPr>
            <p:ph sz="quarter" idx="3"/>
          </p:nvPr>
        </p:nvGraphicFramePr>
        <p:xfrm>
          <a:off x="2627313" y="3003550"/>
          <a:ext cx="3359150" cy="627063"/>
        </p:xfrm>
        <a:graphic>
          <a:graphicData uri="http://schemas.openxmlformats.org/presentationml/2006/ole">
            <mc:AlternateContent xmlns:mc="http://schemas.openxmlformats.org/markup-compatibility/2006">
              <mc:Choice xmlns:v="urn:schemas-microsoft-com:vml" Requires="v">
                <p:oleObj spid="_x0000_s16427" name="Equation" r:id="rId6" imgW="1498600" imgH="279400" progId="Equation.3">
                  <p:embed/>
                </p:oleObj>
              </mc:Choice>
              <mc:Fallback>
                <p:oleObj name="Equation" r:id="rId6" imgW="1498600" imgH="279400" progId="Equation.3">
                  <p:embed/>
                  <p:pic>
                    <p:nvPicPr>
                      <p:cNvPr id="112646"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27313" y="3003550"/>
                        <a:ext cx="3359150" cy="627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12647" name="Picture 12" descr="crollary"/>
          <p:cNvPicPr>
            <a:picLocks noChangeAspect="1" noChangeArrowheads="1" noCrop="1"/>
          </p:cNvPicPr>
          <p:nvPr/>
        </p:nvPicPr>
        <p:blipFill>
          <a:blip r:embed="rId8">
            <a:extLst>
              <a:ext uri="{28A0092B-C50C-407E-A947-70E740481C1C}">
                <a14:useLocalDpi xmlns:a14="http://schemas.microsoft.com/office/drawing/2010/main" val="0"/>
              </a:ext>
            </a:extLst>
          </a:blip>
          <a:srcRect/>
          <a:stretch>
            <a:fillRect/>
          </a:stretch>
        </p:blipFill>
        <p:spPr bwMode="auto">
          <a:xfrm flipH="1">
            <a:off x="900113" y="1268413"/>
            <a:ext cx="373062"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7233729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页脚占位符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114691" name="Rectangle 2"/>
          <p:cNvSpPr>
            <a:spLocks noGrp="1" noChangeArrowheads="1"/>
          </p:cNvSpPr>
          <p:nvPr>
            <p:ph type="title"/>
          </p:nvPr>
        </p:nvSpPr>
        <p:spPr/>
        <p:txBody>
          <a:bodyPr/>
          <a:lstStyle/>
          <a:p>
            <a:pPr eaLnBrk="1" hangingPunct="1"/>
            <a:r>
              <a:rPr lang="en-US" altLang="zh-CN" dirty="0">
                <a:solidFill>
                  <a:srgbClr val="333399"/>
                </a:solidFill>
                <a:latin typeface="华文楷体"/>
              </a:rPr>
              <a:t>1.3.8 </a:t>
            </a:r>
            <a:r>
              <a:rPr lang="zh-CN" altLang="en-US" dirty="0">
                <a:solidFill>
                  <a:srgbClr val="333399"/>
                </a:solidFill>
                <a:latin typeface="华文楷体"/>
              </a:rPr>
              <a:t>递推关系</a:t>
            </a:r>
            <a:r>
              <a:rPr lang="en-US" altLang="zh-CN" dirty="0">
                <a:solidFill>
                  <a:srgbClr val="333399"/>
                </a:solidFill>
                <a:latin typeface="华文楷体"/>
              </a:rPr>
              <a:t>——</a:t>
            </a:r>
            <a:r>
              <a:rPr lang="zh-CN" altLang="en-US" dirty="0"/>
              <a:t>展开递推式</a:t>
            </a:r>
            <a:endParaRPr lang="en-US" altLang="zh-CN" dirty="0" smtClean="0"/>
          </a:p>
        </p:txBody>
      </p:sp>
      <p:sp>
        <p:nvSpPr>
          <p:cNvPr id="14343" name="Rectangle 3"/>
          <p:cNvSpPr>
            <a:spLocks noGrp="1" noChangeArrowheads="1"/>
          </p:cNvSpPr>
          <p:nvPr>
            <p:ph type="body" sz="half" idx="1"/>
          </p:nvPr>
        </p:nvSpPr>
        <p:spPr>
          <a:xfrm>
            <a:off x="889000" y="1196975"/>
            <a:ext cx="8291513" cy="4897438"/>
          </a:xfrm>
        </p:spPr>
        <p:txBody>
          <a:bodyPr/>
          <a:lstStyle/>
          <a:p>
            <a:pPr eaLnBrk="1" hangingPunct="1">
              <a:buFontTx/>
              <a:buNone/>
              <a:defRPr/>
            </a:pPr>
            <a:r>
              <a:rPr lang="en-US" altLang="zh-CN" dirty="0" smtClean="0"/>
              <a:t>       </a:t>
            </a:r>
            <a:r>
              <a:rPr lang="zh-CN" altLang="en-US" dirty="0" smtClean="0"/>
              <a:t>定理</a:t>
            </a:r>
            <a:r>
              <a:rPr lang="en-US" altLang="zh-CN" dirty="0" smtClean="0"/>
              <a:t> 2.5</a:t>
            </a:r>
          </a:p>
          <a:p>
            <a:pPr lvl="1" eaLnBrk="1" hangingPunct="1">
              <a:defRPr/>
            </a:pPr>
            <a:r>
              <a:rPr lang="zh-CN" altLang="en-US" sz="2400" dirty="0" smtClean="0">
                <a:latin typeface="+mn-ea"/>
                <a:ea typeface="+mn-ea"/>
              </a:rPr>
              <a:t>设</a:t>
            </a:r>
            <a:r>
              <a:rPr lang="en-US" altLang="zh-CN" sz="2400" dirty="0" smtClean="0">
                <a:latin typeface="+mn-ea"/>
                <a:ea typeface="+mn-ea"/>
              </a:rPr>
              <a:t>a</a:t>
            </a:r>
            <a:r>
              <a:rPr lang="zh-CN" altLang="en-US" sz="2400" dirty="0" smtClean="0">
                <a:latin typeface="+mn-ea"/>
                <a:ea typeface="+mn-ea"/>
              </a:rPr>
              <a:t>和</a:t>
            </a:r>
            <a:r>
              <a:rPr lang="en-US" altLang="zh-CN" sz="2400" dirty="0" smtClean="0">
                <a:latin typeface="+mn-ea"/>
                <a:ea typeface="+mn-ea"/>
              </a:rPr>
              <a:t>c</a:t>
            </a:r>
            <a:r>
              <a:rPr lang="zh-CN" altLang="en-US" sz="2400" dirty="0" smtClean="0">
                <a:latin typeface="+mn-ea"/>
                <a:ea typeface="+mn-ea"/>
              </a:rPr>
              <a:t>是非负整数，</a:t>
            </a:r>
            <a:r>
              <a:rPr lang="en-US" altLang="zh-CN" sz="2400" dirty="0" err="1" smtClean="0">
                <a:latin typeface="+mn-ea"/>
                <a:ea typeface="+mn-ea"/>
              </a:rPr>
              <a:t>b,d,x</a:t>
            </a:r>
            <a:r>
              <a:rPr lang="zh-CN" altLang="en-US" sz="2400" dirty="0" smtClean="0">
                <a:latin typeface="+mn-ea"/>
                <a:ea typeface="+mn-ea"/>
              </a:rPr>
              <a:t>是非负常数，并且对于某个非负整数</a:t>
            </a:r>
            <a:r>
              <a:rPr lang="en-US" altLang="zh-CN" sz="2400" dirty="0" smtClean="0">
                <a:latin typeface="+mn-ea"/>
                <a:ea typeface="+mn-ea"/>
              </a:rPr>
              <a:t>k</a:t>
            </a:r>
            <a:r>
              <a:rPr lang="zh-CN" altLang="en-US" sz="2400" dirty="0" smtClean="0">
                <a:latin typeface="+mn-ea"/>
                <a:ea typeface="+mn-ea"/>
              </a:rPr>
              <a:t>，令</a:t>
            </a:r>
            <a:r>
              <a:rPr lang="en-US" altLang="zh-CN" sz="2400" dirty="0" smtClean="0">
                <a:latin typeface="+mn-ea"/>
                <a:ea typeface="+mn-ea"/>
              </a:rPr>
              <a:t>n=c</a:t>
            </a:r>
            <a:r>
              <a:rPr lang="en-US" altLang="zh-CN" sz="2400" baseline="30000" dirty="0" smtClean="0">
                <a:latin typeface="+mn-ea"/>
                <a:ea typeface="+mn-ea"/>
              </a:rPr>
              <a:t>k</a:t>
            </a:r>
            <a:r>
              <a:rPr lang="en-US" altLang="zh-CN" sz="2400" dirty="0" smtClean="0">
                <a:latin typeface="+mn-ea"/>
                <a:ea typeface="+mn-ea"/>
              </a:rPr>
              <a:t>, </a:t>
            </a:r>
            <a:r>
              <a:rPr lang="zh-CN" altLang="en-US" sz="2400" dirty="0" smtClean="0">
                <a:latin typeface="+mn-ea"/>
                <a:ea typeface="+mn-ea"/>
              </a:rPr>
              <a:t>那么，下面递推式</a:t>
            </a:r>
            <a:endParaRPr lang="en-US" altLang="zh-CN" sz="2400" dirty="0" smtClean="0">
              <a:latin typeface="+mn-ea"/>
              <a:ea typeface="+mn-ea"/>
              <a:sym typeface="Symbol" pitchFamily="18" charset="2"/>
            </a:endParaRPr>
          </a:p>
          <a:p>
            <a:pPr eaLnBrk="1" hangingPunct="1">
              <a:buFontTx/>
              <a:buNone/>
              <a:defRPr/>
            </a:pPr>
            <a:endParaRPr lang="en-US" altLang="zh-CN" sz="2200" dirty="0" smtClean="0"/>
          </a:p>
          <a:p>
            <a:pPr eaLnBrk="1" hangingPunct="1">
              <a:buFontTx/>
              <a:buNone/>
              <a:defRPr/>
            </a:pPr>
            <a:r>
              <a:rPr lang="en-US" altLang="zh-CN" sz="600" dirty="0" smtClean="0"/>
              <a:t>     </a:t>
            </a:r>
          </a:p>
          <a:p>
            <a:pPr eaLnBrk="1" hangingPunct="1">
              <a:buFontTx/>
              <a:buNone/>
              <a:defRPr/>
            </a:pPr>
            <a:r>
              <a:rPr lang="en-US" altLang="zh-CN" sz="2100" dirty="0" smtClean="0">
                <a:solidFill>
                  <a:srgbClr val="EA0000"/>
                </a:solidFill>
              </a:rPr>
              <a:t>         </a:t>
            </a:r>
            <a:r>
              <a:rPr lang="zh-CN" altLang="en-US" sz="2100" dirty="0" smtClean="0">
                <a:solidFill>
                  <a:srgbClr val="EA0000"/>
                </a:solidFill>
              </a:rPr>
              <a:t>的解是</a:t>
            </a:r>
            <a:endParaRPr lang="en-US" altLang="zh-CN" sz="1800" dirty="0" smtClean="0"/>
          </a:p>
          <a:p>
            <a:pPr eaLnBrk="1" hangingPunct="1">
              <a:buFontTx/>
              <a:buNone/>
              <a:defRPr/>
            </a:pPr>
            <a:endParaRPr lang="en-US" altLang="zh-CN" sz="1800" dirty="0" smtClean="0"/>
          </a:p>
          <a:p>
            <a:pPr eaLnBrk="1" hangingPunct="1">
              <a:buFontTx/>
              <a:buNone/>
              <a:defRPr/>
            </a:pPr>
            <a:endParaRPr lang="en-US" altLang="zh-CN" sz="1800" dirty="0" smtClean="0"/>
          </a:p>
          <a:p>
            <a:pPr eaLnBrk="1" hangingPunct="1">
              <a:buFontTx/>
              <a:buNone/>
              <a:defRPr/>
            </a:pPr>
            <a:endParaRPr lang="en-US" altLang="zh-CN" sz="1800" dirty="0" smtClean="0"/>
          </a:p>
          <a:p>
            <a:pPr eaLnBrk="1" hangingPunct="1">
              <a:buFontTx/>
              <a:buNone/>
              <a:defRPr/>
            </a:pPr>
            <a:r>
              <a:rPr lang="en-US" altLang="zh-CN" sz="1800" dirty="0" smtClean="0"/>
              <a:t>        </a:t>
            </a:r>
            <a:r>
              <a:rPr lang="zh-CN" altLang="en-US" sz="2100" dirty="0" smtClean="0">
                <a:solidFill>
                  <a:srgbClr val="EA0000"/>
                </a:solidFill>
              </a:rPr>
              <a:t>特别的，如果</a:t>
            </a:r>
            <a:r>
              <a:rPr lang="en-US" altLang="zh-CN" sz="2100" dirty="0" smtClean="0">
                <a:solidFill>
                  <a:srgbClr val="EA0000"/>
                </a:solidFill>
              </a:rPr>
              <a:t> x=1, </a:t>
            </a:r>
            <a:r>
              <a:rPr lang="zh-CN" altLang="en-US" sz="2100" dirty="0" smtClean="0">
                <a:solidFill>
                  <a:srgbClr val="EA0000"/>
                </a:solidFill>
              </a:rPr>
              <a:t>那么</a:t>
            </a:r>
            <a:r>
              <a:rPr lang="en-US" altLang="zh-CN" sz="2100" dirty="0" smtClean="0">
                <a:solidFill>
                  <a:srgbClr val="EA0000"/>
                </a:solidFill>
              </a:rPr>
              <a:t> </a:t>
            </a:r>
          </a:p>
          <a:p>
            <a:pPr eaLnBrk="1" hangingPunct="1">
              <a:buFontTx/>
              <a:buNone/>
              <a:defRPr/>
            </a:pPr>
            <a:endParaRPr lang="en-US" altLang="zh-CN" sz="2100" dirty="0" smtClean="0">
              <a:solidFill>
                <a:srgbClr val="EA0000"/>
              </a:solidFill>
            </a:endParaRPr>
          </a:p>
          <a:p>
            <a:pPr eaLnBrk="1" hangingPunct="1">
              <a:buFontTx/>
              <a:buNone/>
              <a:defRPr/>
            </a:pPr>
            <a:endParaRPr lang="en-US" altLang="zh-CN" sz="1800" dirty="0" smtClean="0"/>
          </a:p>
        </p:txBody>
      </p:sp>
      <p:graphicFrame>
        <p:nvGraphicFramePr>
          <p:cNvPr id="114693" name="Object 4"/>
          <p:cNvGraphicFramePr>
            <a:graphicFrameLocks noGrp="1" noChangeAspect="1"/>
          </p:cNvGraphicFramePr>
          <p:nvPr>
            <p:ph sz="quarter" idx="2"/>
          </p:nvPr>
        </p:nvGraphicFramePr>
        <p:xfrm>
          <a:off x="3429000" y="2428875"/>
          <a:ext cx="3135313" cy="596900"/>
        </p:xfrm>
        <a:graphic>
          <a:graphicData uri="http://schemas.openxmlformats.org/presentationml/2006/ole">
            <mc:AlternateContent xmlns:mc="http://schemas.openxmlformats.org/markup-compatibility/2006">
              <mc:Choice xmlns:v="urn:schemas-microsoft-com:vml" Requires="v">
                <p:oleObj spid="_x0000_s17470" name="Equation" r:id="rId4" imgW="1549400" imgH="279400" progId="Equation.3">
                  <p:embed/>
                </p:oleObj>
              </mc:Choice>
              <mc:Fallback>
                <p:oleObj name="Equation" r:id="rId4" imgW="1549400" imgH="279400" progId="Equation.3">
                  <p:embed/>
                  <p:pic>
                    <p:nvPicPr>
                      <p:cNvPr id="114693"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29000" y="2428875"/>
                        <a:ext cx="3135313"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4694" name="Object 6"/>
          <p:cNvGraphicFramePr>
            <a:graphicFrameLocks noGrp="1" noChangeAspect="1"/>
          </p:cNvGraphicFramePr>
          <p:nvPr>
            <p:ph sz="quarter" idx="3"/>
          </p:nvPr>
        </p:nvGraphicFramePr>
        <p:xfrm>
          <a:off x="2714625" y="3143250"/>
          <a:ext cx="3024188" cy="1174750"/>
        </p:xfrm>
        <a:graphic>
          <a:graphicData uri="http://schemas.openxmlformats.org/presentationml/2006/ole">
            <mc:AlternateContent xmlns:mc="http://schemas.openxmlformats.org/markup-compatibility/2006">
              <mc:Choice xmlns:v="urn:schemas-microsoft-com:vml" Requires="v">
                <p:oleObj spid="_x0000_s17471" name="公式" r:id="rId6" imgW="2108200" imgH="774700" progId="Equation.3">
                  <p:embed/>
                </p:oleObj>
              </mc:Choice>
              <mc:Fallback>
                <p:oleObj name="公式" r:id="rId6" imgW="2108200" imgH="774700" progId="Equation.3">
                  <p:embed/>
                  <p:pic>
                    <p:nvPicPr>
                      <p:cNvPr id="114694"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14625" y="3143250"/>
                        <a:ext cx="3024188" cy="117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4695" name="Object 8"/>
          <p:cNvGraphicFramePr>
            <a:graphicFrameLocks noChangeAspect="1"/>
          </p:cNvGraphicFramePr>
          <p:nvPr/>
        </p:nvGraphicFramePr>
        <p:xfrm>
          <a:off x="4859338" y="4365625"/>
          <a:ext cx="3087687" cy="1219200"/>
        </p:xfrm>
        <a:graphic>
          <a:graphicData uri="http://schemas.openxmlformats.org/presentationml/2006/ole">
            <mc:AlternateContent xmlns:mc="http://schemas.openxmlformats.org/markup-compatibility/2006">
              <mc:Choice xmlns:v="urn:schemas-microsoft-com:vml" Requires="v">
                <p:oleObj spid="_x0000_s17472" name="公式" r:id="rId8" imgW="1866900" imgH="736600" progId="Equation.3">
                  <p:embed/>
                </p:oleObj>
              </mc:Choice>
              <mc:Fallback>
                <p:oleObj name="公式" r:id="rId8" imgW="1866900" imgH="736600" progId="Equation.3">
                  <p:embed/>
                  <p:pic>
                    <p:nvPicPr>
                      <p:cNvPr id="114695"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59338" y="4365625"/>
                        <a:ext cx="3087687"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14696" name="Picture 11" descr="theorem"/>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00113" y="1268413"/>
            <a:ext cx="5334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86036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116739" name="Rectangle 2"/>
          <p:cNvSpPr>
            <a:spLocks noGrp="1" noChangeArrowheads="1"/>
          </p:cNvSpPr>
          <p:nvPr>
            <p:ph type="title"/>
          </p:nvPr>
        </p:nvSpPr>
        <p:spPr/>
        <p:txBody>
          <a:bodyPr/>
          <a:lstStyle/>
          <a:p>
            <a:pPr eaLnBrk="1" hangingPunct="1"/>
            <a:r>
              <a:rPr lang="en-US" altLang="zh-CN" dirty="0">
                <a:solidFill>
                  <a:srgbClr val="333399"/>
                </a:solidFill>
                <a:latin typeface="华文楷体"/>
              </a:rPr>
              <a:t>1.3.8 </a:t>
            </a:r>
            <a:r>
              <a:rPr lang="zh-CN" altLang="en-US" dirty="0">
                <a:solidFill>
                  <a:srgbClr val="333399"/>
                </a:solidFill>
                <a:latin typeface="华文楷体"/>
              </a:rPr>
              <a:t>递推关系</a:t>
            </a:r>
            <a:r>
              <a:rPr lang="en-US" altLang="zh-CN" dirty="0" smtClean="0">
                <a:solidFill>
                  <a:srgbClr val="333399"/>
                </a:solidFill>
                <a:latin typeface="华文楷体"/>
              </a:rPr>
              <a:t>——</a:t>
            </a:r>
            <a:r>
              <a:rPr lang="zh-CN" altLang="en-US" dirty="0" smtClean="0"/>
              <a:t>代入法</a:t>
            </a:r>
            <a:endParaRPr lang="en-US" altLang="zh-CN" dirty="0" smtClean="0"/>
          </a:p>
        </p:txBody>
      </p:sp>
      <p:sp>
        <p:nvSpPr>
          <p:cNvPr id="116740" name="Rectangle 3"/>
          <p:cNvSpPr>
            <a:spLocks noGrp="1" noChangeArrowheads="1"/>
          </p:cNvSpPr>
          <p:nvPr>
            <p:ph type="body" idx="1"/>
          </p:nvPr>
        </p:nvSpPr>
        <p:spPr/>
        <p:txBody>
          <a:bodyPr/>
          <a:lstStyle/>
          <a:p>
            <a:pPr eaLnBrk="1" hangingPunct="1">
              <a:lnSpc>
                <a:spcPct val="90000"/>
              </a:lnSpc>
            </a:pPr>
            <a:r>
              <a:rPr lang="zh-CN" altLang="en-US" sz="2400" smtClean="0"/>
              <a:t>这种方法通常用来证明上下界，它也能用来证明精确解。</a:t>
            </a:r>
            <a:endParaRPr lang="en-US" altLang="zh-CN" sz="2400" smtClean="0"/>
          </a:p>
          <a:p>
            <a:pPr eaLnBrk="1" hangingPunct="1">
              <a:lnSpc>
                <a:spcPct val="90000"/>
              </a:lnSpc>
            </a:pPr>
            <a:endParaRPr lang="en-US" altLang="zh-CN" sz="2400" smtClean="0"/>
          </a:p>
          <a:p>
            <a:pPr eaLnBrk="1" hangingPunct="1">
              <a:lnSpc>
                <a:spcPct val="90000"/>
              </a:lnSpc>
            </a:pPr>
            <a:r>
              <a:rPr lang="zh-CN" altLang="en-US" sz="2400" smtClean="0"/>
              <a:t>在这种方法中，我们猜想一个解，并尝试用数学归纳法来证明，与在归纳法证明中常用的做法不同的是，这里我们先证明带有一个或多个常量的归纳步，当</a:t>
            </a:r>
            <a:r>
              <a:rPr lang="en-US" altLang="zh-CN" sz="2400" smtClean="0"/>
              <a:t>n</a:t>
            </a:r>
            <a:r>
              <a:rPr lang="zh-CN" altLang="en-US" sz="2400" smtClean="0"/>
              <a:t>为任意值时，一旦对</a:t>
            </a:r>
            <a:r>
              <a:rPr lang="en-US" altLang="zh-CN" sz="2400" smtClean="0"/>
              <a:t>f(n)</a:t>
            </a:r>
            <a:r>
              <a:rPr lang="zh-CN" altLang="en-US" sz="2400" smtClean="0"/>
              <a:t>的断言成立，为了使解适用于一个和多个边界条件，如果需要的话，我们再来调整常量。</a:t>
            </a:r>
            <a:endParaRPr lang="en-US" altLang="zh-CN" sz="2400" smtClean="0"/>
          </a:p>
        </p:txBody>
      </p:sp>
    </p:spTree>
    <p:extLst>
      <p:ext uri="{BB962C8B-B14F-4D97-AF65-F5344CB8AC3E}">
        <p14:creationId xmlns:p14="http://schemas.microsoft.com/office/powerpoint/2010/main" val="39302684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页脚占位符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118787" name="Rectangle 2"/>
          <p:cNvSpPr>
            <a:spLocks noGrp="1" noChangeArrowheads="1"/>
          </p:cNvSpPr>
          <p:nvPr>
            <p:ph type="title"/>
          </p:nvPr>
        </p:nvSpPr>
        <p:spPr/>
        <p:txBody>
          <a:bodyPr/>
          <a:lstStyle/>
          <a:p>
            <a:pPr eaLnBrk="1" hangingPunct="1"/>
            <a:r>
              <a:rPr lang="en-US" altLang="zh-CN" dirty="0">
                <a:solidFill>
                  <a:srgbClr val="333399"/>
                </a:solidFill>
                <a:latin typeface="华文楷体"/>
              </a:rPr>
              <a:t>1.3.8 </a:t>
            </a:r>
            <a:r>
              <a:rPr lang="zh-CN" altLang="en-US" dirty="0">
                <a:solidFill>
                  <a:srgbClr val="333399"/>
                </a:solidFill>
                <a:latin typeface="华文楷体"/>
              </a:rPr>
              <a:t>递推关系</a:t>
            </a:r>
            <a:r>
              <a:rPr lang="en-US" altLang="zh-CN" dirty="0">
                <a:solidFill>
                  <a:srgbClr val="333399"/>
                </a:solidFill>
                <a:latin typeface="华文楷体"/>
              </a:rPr>
              <a:t>——</a:t>
            </a:r>
            <a:r>
              <a:rPr lang="zh-CN" altLang="en-US" dirty="0"/>
              <a:t>代入法</a:t>
            </a:r>
            <a:endParaRPr lang="en-US" altLang="zh-CN" dirty="0" smtClean="0"/>
          </a:p>
        </p:txBody>
      </p:sp>
      <p:sp>
        <p:nvSpPr>
          <p:cNvPr id="15365" name="Rectangle 3"/>
          <p:cNvSpPr>
            <a:spLocks noGrp="1" noChangeArrowheads="1"/>
          </p:cNvSpPr>
          <p:nvPr>
            <p:ph type="body" sz="half" idx="1"/>
          </p:nvPr>
        </p:nvSpPr>
        <p:spPr>
          <a:xfrm>
            <a:off x="746125" y="1196975"/>
            <a:ext cx="8218488" cy="4565650"/>
          </a:xfrm>
        </p:spPr>
        <p:txBody>
          <a:bodyPr/>
          <a:lstStyle/>
          <a:p>
            <a:pPr lvl="0" eaLnBrk="1" hangingPunct="1">
              <a:lnSpc>
                <a:spcPct val="90000"/>
              </a:lnSpc>
              <a:defRPr/>
            </a:pPr>
            <a:r>
              <a:rPr lang="zh-CN" altLang="en-US" dirty="0">
                <a:solidFill>
                  <a:srgbClr val="333399"/>
                </a:solidFill>
                <a:sym typeface="Symbol" pitchFamily="18" charset="2"/>
              </a:rPr>
              <a:t>例子</a:t>
            </a:r>
            <a:endParaRPr lang="en-US" altLang="zh-CN" dirty="0">
              <a:solidFill>
                <a:srgbClr val="333399"/>
              </a:solidFill>
              <a:sym typeface="Symbol" pitchFamily="18" charset="2"/>
            </a:endParaRPr>
          </a:p>
          <a:p>
            <a:pPr lvl="1" eaLnBrk="1" hangingPunct="1">
              <a:defRPr/>
            </a:pPr>
            <a:r>
              <a:rPr lang="zh-CN" altLang="en-US" dirty="0" smtClean="0">
                <a:latin typeface="+mn-lt"/>
                <a:ea typeface="+mn-ea"/>
              </a:rPr>
              <a:t>考虑下面递推式</a:t>
            </a:r>
            <a:endParaRPr lang="en-US" altLang="zh-CN" dirty="0" smtClean="0">
              <a:latin typeface="+mn-lt"/>
              <a:ea typeface="+mn-ea"/>
            </a:endParaRPr>
          </a:p>
          <a:p>
            <a:pPr lvl="1" eaLnBrk="1" hangingPunct="1">
              <a:defRPr/>
            </a:pPr>
            <a:endParaRPr lang="en-US" altLang="zh-CN" dirty="0" smtClean="0">
              <a:latin typeface="+mn-lt"/>
              <a:ea typeface="+mn-ea"/>
            </a:endParaRPr>
          </a:p>
          <a:p>
            <a:pPr lvl="1" eaLnBrk="1" hangingPunct="1">
              <a:buFontTx/>
              <a:buNone/>
              <a:defRPr/>
            </a:pPr>
            <a:r>
              <a:rPr lang="zh-CN" altLang="en-US" dirty="0" smtClean="0">
                <a:latin typeface="+mn-lt"/>
                <a:ea typeface="+mn-ea"/>
              </a:rPr>
              <a:t>其中</a:t>
            </a:r>
            <a:r>
              <a:rPr lang="en-US" altLang="zh-CN" dirty="0" err="1" smtClean="0">
                <a:latin typeface="+mn-lt"/>
                <a:ea typeface="+mn-ea"/>
              </a:rPr>
              <a:t>b,d</a:t>
            </a:r>
            <a:r>
              <a:rPr lang="zh-CN" altLang="en-US" dirty="0" smtClean="0">
                <a:latin typeface="+mn-lt"/>
                <a:ea typeface="+mn-ea"/>
              </a:rPr>
              <a:t>是非负常数。当</a:t>
            </a:r>
            <a:r>
              <a:rPr lang="en-US" altLang="zh-CN" dirty="0" smtClean="0">
                <a:latin typeface="+mn-lt"/>
                <a:ea typeface="+mn-ea"/>
              </a:rPr>
              <a:t>n</a:t>
            </a:r>
            <a:r>
              <a:rPr lang="zh-CN" altLang="en-US" dirty="0" smtClean="0">
                <a:latin typeface="+mn-lt"/>
                <a:ea typeface="+mn-ea"/>
              </a:rPr>
              <a:t>是</a:t>
            </a:r>
            <a:r>
              <a:rPr lang="en-US" altLang="zh-CN" dirty="0" smtClean="0">
                <a:latin typeface="+mn-lt"/>
                <a:ea typeface="+mn-ea"/>
              </a:rPr>
              <a:t>2</a:t>
            </a:r>
            <a:r>
              <a:rPr lang="zh-CN" altLang="en-US" dirty="0" smtClean="0">
                <a:latin typeface="+mn-lt"/>
                <a:ea typeface="+mn-ea"/>
              </a:rPr>
              <a:t>的幂时，递推式可以简化为</a:t>
            </a:r>
            <a:endParaRPr lang="en-US" altLang="zh-CN" dirty="0" smtClean="0">
              <a:latin typeface="+mn-lt"/>
              <a:ea typeface="+mn-ea"/>
            </a:endParaRPr>
          </a:p>
          <a:p>
            <a:pPr lvl="1" eaLnBrk="1" hangingPunct="1">
              <a:buFontTx/>
              <a:buNone/>
              <a:defRPr/>
            </a:pPr>
            <a:r>
              <a:rPr lang="en-US" altLang="zh-CN" dirty="0" smtClean="0">
                <a:solidFill>
                  <a:srgbClr val="660066"/>
                </a:solidFill>
                <a:latin typeface="+mn-lt"/>
                <a:ea typeface="+mn-ea"/>
              </a:rPr>
              <a:t>                                  f(n)=2f(n/2)+</a:t>
            </a:r>
            <a:r>
              <a:rPr lang="en-US" altLang="zh-CN" dirty="0" err="1" smtClean="0">
                <a:solidFill>
                  <a:srgbClr val="660066"/>
                </a:solidFill>
                <a:latin typeface="+mn-lt"/>
                <a:ea typeface="+mn-ea"/>
              </a:rPr>
              <a:t>bn</a:t>
            </a:r>
            <a:r>
              <a:rPr lang="en-US" altLang="zh-CN" dirty="0" smtClean="0">
                <a:solidFill>
                  <a:srgbClr val="660066"/>
                </a:solidFill>
                <a:latin typeface="+mn-lt"/>
                <a:ea typeface="+mn-ea"/>
              </a:rPr>
              <a:t>, </a:t>
            </a:r>
          </a:p>
          <a:p>
            <a:pPr lvl="1" eaLnBrk="1" hangingPunct="1">
              <a:buFontTx/>
              <a:buNone/>
              <a:defRPr/>
            </a:pPr>
            <a:r>
              <a:rPr lang="zh-CN" altLang="en-US" dirty="0" smtClean="0">
                <a:latin typeface="+mn-lt"/>
                <a:ea typeface="+mn-ea"/>
              </a:rPr>
              <a:t>由推论</a:t>
            </a:r>
            <a:r>
              <a:rPr lang="en-US" altLang="zh-CN" dirty="0" smtClean="0">
                <a:latin typeface="+mn-lt"/>
                <a:ea typeface="+mn-ea"/>
              </a:rPr>
              <a:t>2.2</a:t>
            </a:r>
            <a:r>
              <a:rPr lang="zh-CN" altLang="en-US" dirty="0" smtClean="0">
                <a:latin typeface="+mn-lt"/>
                <a:ea typeface="+mn-ea"/>
              </a:rPr>
              <a:t>，它的解是</a:t>
            </a:r>
            <a:r>
              <a:rPr lang="en-US" altLang="zh-CN" dirty="0" err="1" smtClean="0">
                <a:latin typeface="+mn-lt"/>
                <a:ea typeface="+mn-ea"/>
              </a:rPr>
              <a:t>bnlogn+dn</a:t>
            </a:r>
            <a:r>
              <a:rPr lang="en-US" altLang="zh-CN" dirty="0" smtClean="0">
                <a:latin typeface="+mn-lt"/>
                <a:ea typeface="+mn-ea"/>
              </a:rPr>
              <a:t>.</a:t>
            </a:r>
            <a:r>
              <a:rPr lang="zh-CN" altLang="en-US" dirty="0" smtClean="0">
                <a:latin typeface="+mn-lt"/>
                <a:ea typeface="+mn-ea"/>
              </a:rPr>
              <a:t>，因此，我们做一个猜测，对于某个常数</a:t>
            </a:r>
            <a:r>
              <a:rPr lang="en-US" altLang="zh-CN" dirty="0" smtClean="0">
                <a:latin typeface="+mn-lt"/>
                <a:ea typeface="+mn-ea"/>
              </a:rPr>
              <a:t>c&gt;0</a:t>
            </a:r>
            <a:r>
              <a:rPr lang="zh-CN" altLang="en-US" dirty="0" smtClean="0">
                <a:latin typeface="+mn-lt"/>
                <a:ea typeface="+mn-ea"/>
              </a:rPr>
              <a:t>，</a:t>
            </a:r>
            <a:r>
              <a:rPr lang="en-US" altLang="zh-CN" dirty="0" smtClean="0">
                <a:latin typeface="+mn-lt"/>
                <a:ea typeface="+mn-ea"/>
              </a:rPr>
              <a:t>f(n)</a:t>
            </a:r>
            <a:r>
              <a:rPr lang="en-US" altLang="zh-CN" dirty="0" smtClean="0">
                <a:latin typeface="+mn-lt"/>
                <a:ea typeface="+mn-ea"/>
                <a:sym typeface="Symbol" pitchFamily="18" charset="2"/>
              </a:rPr>
              <a:t></a:t>
            </a:r>
            <a:r>
              <a:rPr lang="en-US" altLang="zh-CN" dirty="0" err="1" smtClean="0">
                <a:latin typeface="+mn-lt"/>
                <a:ea typeface="+mn-ea"/>
                <a:sym typeface="Symbol" pitchFamily="18" charset="2"/>
              </a:rPr>
              <a:t>cbnlogn+dn</a:t>
            </a:r>
            <a:r>
              <a:rPr lang="en-US" altLang="zh-CN" dirty="0" smtClean="0">
                <a:latin typeface="+mn-lt"/>
                <a:ea typeface="+mn-ea"/>
                <a:sym typeface="Symbol" pitchFamily="18" charset="2"/>
              </a:rPr>
              <a:t> </a:t>
            </a:r>
            <a:r>
              <a:rPr lang="zh-CN" altLang="en-US" dirty="0" smtClean="0">
                <a:latin typeface="+mn-lt"/>
                <a:ea typeface="+mn-ea"/>
                <a:sym typeface="Symbol" pitchFamily="18" charset="2"/>
              </a:rPr>
              <a:t>，后面再来确定</a:t>
            </a:r>
            <a:r>
              <a:rPr lang="en-US" altLang="zh-CN" dirty="0" smtClean="0">
                <a:latin typeface="+mn-lt"/>
                <a:ea typeface="+mn-ea"/>
                <a:sym typeface="Symbol" pitchFamily="18" charset="2"/>
              </a:rPr>
              <a:t>c</a:t>
            </a:r>
            <a:r>
              <a:rPr lang="zh-CN" altLang="en-US" dirty="0" smtClean="0">
                <a:latin typeface="+mn-lt"/>
                <a:ea typeface="+mn-ea"/>
                <a:sym typeface="Symbol" pitchFamily="18" charset="2"/>
              </a:rPr>
              <a:t>的值。</a:t>
            </a:r>
            <a:endParaRPr lang="en-US" altLang="zh-CN" dirty="0" smtClean="0">
              <a:latin typeface="+mn-lt"/>
              <a:ea typeface="+mn-ea"/>
              <a:sym typeface="Symbol" pitchFamily="18" charset="2"/>
            </a:endParaRPr>
          </a:p>
          <a:p>
            <a:pPr lvl="1" eaLnBrk="1" hangingPunct="1">
              <a:buFontTx/>
              <a:buNone/>
              <a:defRPr/>
            </a:pPr>
            <a:endParaRPr lang="en-US" altLang="zh-CN" dirty="0" smtClean="0">
              <a:latin typeface="+mn-lt"/>
              <a:ea typeface="+mn-ea"/>
              <a:sym typeface="Symbol" pitchFamily="18" charset="2"/>
            </a:endParaRPr>
          </a:p>
          <a:p>
            <a:pPr lvl="1" eaLnBrk="1" hangingPunct="1">
              <a:buFontTx/>
              <a:buNone/>
              <a:defRPr/>
            </a:pPr>
            <a:r>
              <a:rPr lang="en-US" altLang="zh-CN" sz="2400" dirty="0" smtClean="0">
                <a:latin typeface="+mn-lt"/>
                <a:ea typeface="+mn-ea"/>
                <a:sym typeface="Symbol" pitchFamily="18" charset="2"/>
              </a:rPr>
              <a:t> </a:t>
            </a:r>
            <a:r>
              <a:rPr lang="zh-CN" altLang="en-US" sz="2400" dirty="0" smtClean="0">
                <a:latin typeface="+mn-lt"/>
                <a:ea typeface="+mn-ea"/>
                <a:sym typeface="Symbol" pitchFamily="18" charset="2"/>
              </a:rPr>
              <a:t>见</a:t>
            </a:r>
            <a:r>
              <a:rPr lang="en-US" altLang="zh-CN" sz="2400" dirty="0" smtClean="0">
                <a:latin typeface="+mn-lt"/>
                <a:ea typeface="+mn-ea"/>
                <a:sym typeface="Symbol" pitchFamily="18" charset="2"/>
              </a:rPr>
              <a:t> P59. </a:t>
            </a:r>
          </a:p>
        </p:txBody>
      </p:sp>
      <p:graphicFrame>
        <p:nvGraphicFramePr>
          <p:cNvPr id="118789" name="Object 4"/>
          <p:cNvGraphicFramePr>
            <a:graphicFrameLocks noGrp="1" noChangeAspect="1"/>
          </p:cNvGraphicFramePr>
          <p:nvPr>
            <p:ph sz="half" idx="2"/>
          </p:nvPr>
        </p:nvGraphicFramePr>
        <p:xfrm>
          <a:off x="3714750" y="1643063"/>
          <a:ext cx="3821113" cy="673100"/>
        </p:xfrm>
        <a:graphic>
          <a:graphicData uri="http://schemas.openxmlformats.org/presentationml/2006/ole">
            <mc:AlternateContent xmlns:mc="http://schemas.openxmlformats.org/markup-compatibility/2006">
              <mc:Choice xmlns:v="urn:schemas-microsoft-com:vml" Requires="v">
                <p:oleObj spid="_x0000_s18454" name="公式" r:id="rId4" imgW="2819400" imgH="469900" progId="Equation.3">
                  <p:embed/>
                </p:oleObj>
              </mc:Choice>
              <mc:Fallback>
                <p:oleObj name="公式" r:id="rId4" imgW="2819400" imgH="469900" progId="Equation.3">
                  <p:embed/>
                  <p:pic>
                    <p:nvPicPr>
                      <p:cNvPr id="118789"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14750" y="1643063"/>
                        <a:ext cx="3821113"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5340504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标题 1"/>
          <p:cNvSpPr>
            <a:spLocks noGrp="1"/>
          </p:cNvSpPr>
          <p:nvPr>
            <p:ph type="title"/>
          </p:nvPr>
        </p:nvSpPr>
        <p:spPr/>
        <p:txBody>
          <a:bodyPr/>
          <a:lstStyle/>
          <a:p>
            <a:endParaRPr lang="zh-CN" altLang="en-US" smtClean="0"/>
          </a:p>
        </p:txBody>
      </p:sp>
      <p:sp>
        <p:nvSpPr>
          <p:cNvPr id="120835" name="页脚占位符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pic>
        <p:nvPicPr>
          <p:cNvPr id="12083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063" y="285750"/>
            <a:ext cx="8277225" cy="596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110907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页脚占位符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121859" name="Rectangle 2"/>
          <p:cNvSpPr>
            <a:spLocks noGrp="1" noChangeArrowheads="1"/>
          </p:cNvSpPr>
          <p:nvPr>
            <p:ph type="title"/>
          </p:nvPr>
        </p:nvSpPr>
        <p:spPr/>
        <p:txBody>
          <a:bodyPr/>
          <a:lstStyle/>
          <a:p>
            <a:pPr eaLnBrk="1" hangingPunct="1"/>
            <a:r>
              <a:rPr lang="en-US" altLang="zh-CN" dirty="0">
                <a:solidFill>
                  <a:srgbClr val="333399"/>
                </a:solidFill>
                <a:latin typeface="华文楷体"/>
              </a:rPr>
              <a:t>1.3.8 </a:t>
            </a:r>
            <a:r>
              <a:rPr lang="zh-CN" altLang="en-US" dirty="0">
                <a:solidFill>
                  <a:srgbClr val="333399"/>
                </a:solidFill>
                <a:latin typeface="华文楷体"/>
              </a:rPr>
              <a:t>递推关系</a:t>
            </a:r>
            <a:r>
              <a:rPr lang="en-US" altLang="zh-CN" dirty="0">
                <a:solidFill>
                  <a:srgbClr val="333399"/>
                </a:solidFill>
                <a:latin typeface="华文楷体"/>
              </a:rPr>
              <a:t>——</a:t>
            </a:r>
            <a:r>
              <a:rPr lang="zh-CN" altLang="en-US" dirty="0"/>
              <a:t>代入法</a:t>
            </a:r>
            <a:endParaRPr lang="en-US" altLang="zh-CN" dirty="0" smtClean="0"/>
          </a:p>
        </p:txBody>
      </p:sp>
      <p:sp>
        <p:nvSpPr>
          <p:cNvPr id="121860" name="Rectangle 3"/>
          <p:cNvSpPr>
            <a:spLocks noGrp="1" noChangeArrowheads="1"/>
          </p:cNvSpPr>
          <p:nvPr>
            <p:ph type="body" sz="half" idx="1"/>
          </p:nvPr>
        </p:nvSpPr>
        <p:spPr>
          <a:xfrm>
            <a:off x="968375" y="1196975"/>
            <a:ext cx="7707313" cy="4387850"/>
          </a:xfrm>
        </p:spPr>
        <p:txBody>
          <a:bodyPr/>
          <a:lstStyle/>
          <a:p>
            <a:pPr eaLnBrk="1" hangingPunct="1">
              <a:buFontTx/>
              <a:buNone/>
            </a:pPr>
            <a:r>
              <a:rPr lang="en-US" altLang="zh-CN" smtClean="0"/>
              <a:t>     </a:t>
            </a:r>
            <a:r>
              <a:rPr lang="zh-CN" altLang="en-US" smtClean="0"/>
              <a:t>定理</a:t>
            </a:r>
            <a:r>
              <a:rPr lang="en-US" altLang="zh-CN" smtClean="0"/>
              <a:t> 2.6 </a:t>
            </a:r>
          </a:p>
          <a:p>
            <a:pPr lvl="1" eaLnBrk="1" hangingPunct="1"/>
            <a:r>
              <a:rPr lang="zh-CN" altLang="en-US" smtClean="0">
                <a:latin typeface="Arial" panose="020B0604020202020204" pitchFamily="34" charset="0"/>
              </a:rPr>
              <a:t>设</a:t>
            </a:r>
            <a:r>
              <a:rPr lang="en-US" altLang="zh-CN" smtClean="0">
                <a:latin typeface="Arial" panose="020B0604020202020204" pitchFamily="34" charset="0"/>
              </a:rPr>
              <a:t> </a:t>
            </a:r>
          </a:p>
          <a:p>
            <a:pPr eaLnBrk="1" hangingPunct="1">
              <a:buFontTx/>
              <a:buNone/>
            </a:pPr>
            <a:endParaRPr lang="en-US" altLang="zh-CN" sz="2200" smtClean="0"/>
          </a:p>
          <a:p>
            <a:pPr eaLnBrk="1" hangingPunct="1">
              <a:buFontTx/>
              <a:buNone/>
            </a:pPr>
            <a:r>
              <a:rPr lang="en-US" altLang="zh-CN" sz="1800" smtClean="0"/>
              <a:t>          </a:t>
            </a:r>
          </a:p>
          <a:p>
            <a:pPr eaLnBrk="1" hangingPunct="1">
              <a:buFontTx/>
              <a:buNone/>
            </a:pPr>
            <a:r>
              <a:rPr lang="en-US" altLang="zh-CN" sz="1800" smtClean="0"/>
              <a:t>         </a:t>
            </a:r>
          </a:p>
          <a:p>
            <a:pPr eaLnBrk="1" hangingPunct="1">
              <a:buFontTx/>
              <a:buNone/>
            </a:pPr>
            <a:r>
              <a:rPr lang="en-US" altLang="zh-CN" sz="2200" smtClean="0"/>
              <a:t>                b </a:t>
            </a:r>
            <a:r>
              <a:rPr lang="zh-CN" altLang="en-US" sz="2200" smtClean="0"/>
              <a:t>和</a:t>
            </a:r>
            <a:r>
              <a:rPr lang="en-US" altLang="zh-CN" sz="2200" smtClean="0"/>
              <a:t> d</a:t>
            </a:r>
            <a:r>
              <a:rPr lang="zh-CN" altLang="en-US" sz="2200" smtClean="0"/>
              <a:t>是非负常数</a:t>
            </a:r>
            <a:r>
              <a:rPr lang="en-US" altLang="zh-CN" sz="2200" smtClean="0"/>
              <a:t>.</a:t>
            </a:r>
            <a:r>
              <a:rPr lang="zh-CN" altLang="en-US" sz="2200" smtClean="0"/>
              <a:t>，那么</a:t>
            </a:r>
            <a:endParaRPr lang="en-US" altLang="zh-CN" sz="2200" smtClean="0"/>
          </a:p>
          <a:p>
            <a:pPr eaLnBrk="1" hangingPunct="1">
              <a:buFontTx/>
              <a:buNone/>
            </a:pPr>
            <a:endParaRPr lang="en-US" altLang="zh-CN" sz="2200" smtClean="0"/>
          </a:p>
          <a:p>
            <a:pPr eaLnBrk="1" hangingPunct="1">
              <a:buFontTx/>
              <a:buNone/>
            </a:pPr>
            <a:endParaRPr lang="en-US" altLang="zh-CN" sz="2100" smtClean="0"/>
          </a:p>
        </p:txBody>
      </p:sp>
      <p:graphicFrame>
        <p:nvGraphicFramePr>
          <p:cNvPr id="121861" name="Object 4"/>
          <p:cNvGraphicFramePr>
            <a:graphicFrameLocks noGrp="1" noChangeAspect="1"/>
          </p:cNvGraphicFramePr>
          <p:nvPr>
            <p:ph sz="quarter" idx="2"/>
          </p:nvPr>
        </p:nvGraphicFramePr>
        <p:xfrm>
          <a:off x="1908175" y="2133600"/>
          <a:ext cx="5041900" cy="900113"/>
        </p:xfrm>
        <a:graphic>
          <a:graphicData uri="http://schemas.openxmlformats.org/presentationml/2006/ole">
            <mc:AlternateContent xmlns:mc="http://schemas.openxmlformats.org/markup-compatibility/2006">
              <mc:Choice xmlns:v="urn:schemas-microsoft-com:vml" Requires="v">
                <p:oleObj spid="_x0000_s19498" name="公式" r:id="rId4" imgW="1803400" imgH="304800" progId="Equation.3">
                  <p:embed/>
                </p:oleObj>
              </mc:Choice>
              <mc:Fallback>
                <p:oleObj name="公式" r:id="rId4" imgW="1803400" imgH="304800" progId="Equation.3">
                  <p:embed/>
                  <p:pic>
                    <p:nvPicPr>
                      <p:cNvPr id="121861"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8175" y="2133600"/>
                        <a:ext cx="504190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1862" name="Object 6"/>
          <p:cNvGraphicFramePr>
            <a:graphicFrameLocks noGrp="1" noChangeAspect="1"/>
          </p:cNvGraphicFramePr>
          <p:nvPr>
            <p:ph sz="quarter" idx="3"/>
          </p:nvPr>
        </p:nvGraphicFramePr>
        <p:xfrm>
          <a:off x="2195513" y="3644900"/>
          <a:ext cx="3108325" cy="603250"/>
        </p:xfrm>
        <a:graphic>
          <a:graphicData uri="http://schemas.openxmlformats.org/presentationml/2006/ole">
            <mc:AlternateContent xmlns:mc="http://schemas.openxmlformats.org/markup-compatibility/2006">
              <mc:Choice xmlns:v="urn:schemas-microsoft-com:vml" Requires="v">
                <p:oleObj spid="_x0000_s19499" name="公式" r:id="rId6" imgW="1104900" imgH="203200" progId="Equation.3">
                  <p:embed/>
                </p:oleObj>
              </mc:Choice>
              <mc:Fallback>
                <p:oleObj name="公式" r:id="rId6" imgW="1104900" imgH="203200" progId="Equation.3">
                  <p:embed/>
                  <p:pic>
                    <p:nvPicPr>
                      <p:cNvPr id="121862"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95513" y="3644900"/>
                        <a:ext cx="3108325" cy="60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21863" name="Picture 9" descr="theorem"/>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00113" y="1268413"/>
            <a:ext cx="5334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826136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页脚占位符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123907" name="Rectangle 2"/>
          <p:cNvSpPr>
            <a:spLocks noGrp="1" noChangeArrowheads="1"/>
          </p:cNvSpPr>
          <p:nvPr>
            <p:ph type="title"/>
          </p:nvPr>
        </p:nvSpPr>
        <p:spPr/>
        <p:txBody>
          <a:bodyPr/>
          <a:lstStyle/>
          <a:p>
            <a:pPr eaLnBrk="1" hangingPunct="1"/>
            <a:r>
              <a:rPr lang="en-US" altLang="zh-CN" dirty="0">
                <a:solidFill>
                  <a:srgbClr val="333399"/>
                </a:solidFill>
                <a:latin typeface="华文楷体"/>
              </a:rPr>
              <a:t>1.3.8 </a:t>
            </a:r>
            <a:r>
              <a:rPr lang="zh-CN" altLang="en-US" dirty="0">
                <a:solidFill>
                  <a:srgbClr val="333399"/>
                </a:solidFill>
                <a:latin typeface="华文楷体"/>
              </a:rPr>
              <a:t>递推关系</a:t>
            </a:r>
            <a:r>
              <a:rPr lang="en-US" altLang="zh-CN" dirty="0">
                <a:solidFill>
                  <a:srgbClr val="333399"/>
                </a:solidFill>
                <a:latin typeface="华文楷体"/>
              </a:rPr>
              <a:t>——</a:t>
            </a:r>
            <a:r>
              <a:rPr lang="zh-CN" altLang="en-US" dirty="0"/>
              <a:t>代入法</a:t>
            </a:r>
            <a:endParaRPr lang="en-US" altLang="zh-CN" dirty="0" smtClean="0"/>
          </a:p>
        </p:txBody>
      </p:sp>
      <p:sp>
        <p:nvSpPr>
          <p:cNvPr id="17414" name="Rectangle 3"/>
          <p:cNvSpPr>
            <a:spLocks noGrp="1" noChangeArrowheads="1"/>
          </p:cNvSpPr>
          <p:nvPr>
            <p:ph type="body" sz="half" idx="1"/>
          </p:nvPr>
        </p:nvSpPr>
        <p:spPr>
          <a:xfrm>
            <a:off x="746125" y="1239838"/>
            <a:ext cx="8218488" cy="4565650"/>
          </a:xfrm>
        </p:spPr>
        <p:txBody>
          <a:bodyPr/>
          <a:lstStyle/>
          <a:p>
            <a:pPr lvl="0" eaLnBrk="1" hangingPunct="1">
              <a:lnSpc>
                <a:spcPct val="90000"/>
              </a:lnSpc>
              <a:defRPr/>
            </a:pPr>
            <a:r>
              <a:rPr lang="zh-CN" altLang="en-US" dirty="0">
                <a:solidFill>
                  <a:srgbClr val="333399"/>
                </a:solidFill>
                <a:sym typeface="Symbol" pitchFamily="18" charset="2"/>
              </a:rPr>
              <a:t>例子</a:t>
            </a:r>
            <a:endParaRPr lang="en-US" altLang="zh-CN" dirty="0">
              <a:solidFill>
                <a:srgbClr val="333399"/>
              </a:solidFill>
              <a:sym typeface="Symbol" pitchFamily="18" charset="2"/>
            </a:endParaRPr>
          </a:p>
          <a:p>
            <a:pPr lvl="1" eaLnBrk="1" hangingPunct="1">
              <a:lnSpc>
                <a:spcPct val="90000"/>
              </a:lnSpc>
              <a:defRPr/>
            </a:pPr>
            <a:r>
              <a:rPr lang="zh-CN" altLang="en-US" dirty="0" smtClean="0">
                <a:latin typeface="+mn-lt"/>
                <a:ea typeface="+mn-ea"/>
              </a:rPr>
              <a:t>考虑下面的递推式</a:t>
            </a:r>
            <a:endParaRPr lang="en-US" altLang="zh-CN" dirty="0" smtClean="0">
              <a:latin typeface="+mn-lt"/>
              <a:ea typeface="+mn-ea"/>
            </a:endParaRPr>
          </a:p>
          <a:p>
            <a:pPr lvl="1" eaLnBrk="1" hangingPunct="1">
              <a:lnSpc>
                <a:spcPct val="90000"/>
              </a:lnSpc>
              <a:defRPr/>
            </a:pPr>
            <a:endParaRPr lang="en-US" altLang="zh-CN" dirty="0" smtClean="0">
              <a:latin typeface="+mn-lt"/>
              <a:ea typeface="+mn-ea"/>
            </a:endParaRPr>
          </a:p>
          <a:p>
            <a:pPr lvl="1" eaLnBrk="1" hangingPunct="1">
              <a:lnSpc>
                <a:spcPct val="90000"/>
              </a:lnSpc>
              <a:buFontTx/>
              <a:buNone/>
              <a:defRPr/>
            </a:pPr>
            <a:endParaRPr lang="en-US" altLang="zh-CN" dirty="0" smtClean="0">
              <a:latin typeface="+mn-lt"/>
              <a:ea typeface="+mn-ea"/>
            </a:endParaRPr>
          </a:p>
          <a:p>
            <a:pPr lvl="1" eaLnBrk="1" hangingPunct="1">
              <a:lnSpc>
                <a:spcPct val="90000"/>
              </a:lnSpc>
              <a:buFontTx/>
              <a:buNone/>
              <a:defRPr/>
            </a:pPr>
            <a:r>
              <a:rPr lang="zh-CN" altLang="en-US" dirty="0" smtClean="0">
                <a:latin typeface="+mn-lt"/>
                <a:ea typeface="+mn-ea"/>
              </a:rPr>
              <a:t>其中</a:t>
            </a:r>
            <a:r>
              <a:rPr lang="en-US" altLang="zh-CN" dirty="0" smtClean="0">
                <a:latin typeface="+mn-lt"/>
                <a:ea typeface="+mn-ea"/>
              </a:rPr>
              <a:t>b, c</a:t>
            </a:r>
            <a:r>
              <a:rPr lang="en-US" altLang="zh-CN" baseline="-25000" dirty="0" smtClean="0">
                <a:latin typeface="+mn-lt"/>
                <a:ea typeface="+mn-ea"/>
              </a:rPr>
              <a:t>1</a:t>
            </a:r>
            <a:r>
              <a:rPr lang="en-US" altLang="zh-CN" dirty="0" smtClean="0">
                <a:latin typeface="+mn-lt"/>
                <a:ea typeface="+mn-ea"/>
              </a:rPr>
              <a:t> </a:t>
            </a:r>
            <a:r>
              <a:rPr lang="zh-CN" altLang="en-US" dirty="0" smtClean="0">
                <a:latin typeface="+mn-lt"/>
                <a:ea typeface="+mn-ea"/>
              </a:rPr>
              <a:t>，</a:t>
            </a:r>
            <a:r>
              <a:rPr lang="en-US" altLang="zh-CN" dirty="0" smtClean="0">
                <a:latin typeface="+mn-lt"/>
                <a:ea typeface="+mn-ea"/>
              </a:rPr>
              <a:t>c2 </a:t>
            </a:r>
            <a:r>
              <a:rPr lang="zh-CN" altLang="en-US" dirty="0" smtClean="0">
                <a:latin typeface="+mn-lt"/>
                <a:ea typeface="+mn-ea"/>
              </a:rPr>
              <a:t>是正常数，且</a:t>
            </a:r>
            <a:r>
              <a:rPr lang="en-US" altLang="zh-CN" dirty="0" smtClean="0">
                <a:latin typeface="+mn-lt"/>
                <a:ea typeface="+mn-ea"/>
              </a:rPr>
              <a:t>c</a:t>
            </a:r>
            <a:r>
              <a:rPr lang="en-US" altLang="zh-CN" baseline="-25000" dirty="0" smtClean="0">
                <a:latin typeface="+mn-lt"/>
                <a:ea typeface="+mn-ea"/>
              </a:rPr>
              <a:t>1</a:t>
            </a:r>
            <a:r>
              <a:rPr lang="en-US" altLang="zh-CN" dirty="0" smtClean="0">
                <a:latin typeface="+mn-lt"/>
                <a:ea typeface="+mn-ea"/>
              </a:rPr>
              <a:t>+c</a:t>
            </a:r>
            <a:r>
              <a:rPr lang="en-US" altLang="zh-CN" baseline="-25000" dirty="0" smtClean="0">
                <a:latin typeface="+mn-lt"/>
                <a:ea typeface="+mn-ea"/>
              </a:rPr>
              <a:t>2</a:t>
            </a:r>
            <a:r>
              <a:rPr lang="en-US" altLang="zh-CN" dirty="0" smtClean="0">
                <a:latin typeface="+mn-lt"/>
                <a:ea typeface="+mn-ea"/>
              </a:rPr>
              <a:t>=1</a:t>
            </a:r>
            <a:r>
              <a:rPr lang="zh-CN" altLang="en-US" dirty="0" smtClean="0">
                <a:latin typeface="+mn-lt"/>
                <a:ea typeface="+mn-ea"/>
              </a:rPr>
              <a:t>，当</a:t>
            </a:r>
            <a:r>
              <a:rPr lang="en-US" altLang="zh-CN" dirty="0" smtClean="0">
                <a:latin typeface="+mn-lt"/>
                <a:ea typeface="+mn-ea"/>
              </a:rPr>
              <a:t>c</a:t>
            </a:r>
            <a:r>
              <a:rPr lang="en-US" altLang="zh-CN" baseline="-25000" dirty="0" smtClean="0">
                <a:latin typeface="+mn-lt"/>
                <a:ea typeface="+mn-ea"/>
              </a:rPr>
              <a:t>1</a:t>
            </a:r>
            <a:r>
              <a:rPr lang="en-US" altLang="zh-CN" dirty="0" smtClean="0">
                <a:latin typeface="+mn-lt"/>
                <a:ea typeface="+mn-ea"/>
              </a:rPr>
              <a:t>=c</a:t>
            </a:r>
            <a:r>
              <a:rPr lang="en-US" altLang="zh-CN" baseline="-25000" dirty="0" smtClean="0">
                <a:latin typeface="+mn-lt"/>
                <a:ea typeface="+mn-ea"/>
              </a:rPr>
              <a:t>2</a:t>
            </a:r>
            <a:r>
              <a:rPr lang="en-US" altLang="zh-CN" dirty="0" smtClean="0">
                <a:latin typeface="+mn-lt"/>
                <a:ea typeface="+mn-ea"/>
              </a:rPr>
              <a:t>=1/2, n </a:t>
            </a:r>
            <a:r>
              <a:rPr lang="zh-CN" altLang="en-US" dirty="0" smtClean="0">
                <a:latin typeface="+mn-lt"/>
                <a:ea typeface="+mn-ea"/>
              </a:rPr>
              <a:t>是</a:t>
            </a:r>
            <a:r>
              <a:rPr lang="en-US" altLang="zh-CN" dirty="0" smtClean="0">
                <a:latin typeface="+mn-lt"/>
                <a:ea typeface="+mn-ea"/>
              </a:rPr>
              <a:t>2</a:t>
            </a:r>
            <a:r>
              <a:rPr lang="zh-CN" altLang="en-US" dirty="0" smtClean="0">
                <a:latin typeface="+mn-lt"/>
                <a:ea typeface="+mn-ea"/>
              </a:rPr>
              <a:t>的幂时，上述递推式可以化简为</a:t>
            </a:r>
            <a:endParaRPr lang="en-US" altLang="zh-CN" dirty="0" smtClean="0">
              <a:latin typeface="+mn-lt"/>
              <a:ea typeface="+mn-ea"/>
            </a:endParaRPr>
          </a:p>
          <a:p>
            <a:pPr lvl="1" eaLnBrk="1" hangingPunct="1">
              <a:lnSpc>
                <a:spcPct val="90000"/>
              </a:lnSpc>
              <a:buFontTx/>
              <a:buNone/>
              <a:defRPr/>
            </a:pPr>
            <a:endParaRPr lang="en-US" altLang="zh-CN" dirty="0" smtClean="0">
              <a:latin typeface="+mn-lt"/>
              <a:ea typeface="+mn-ea"/>
            </a:endParaRPr>
          </a:p>
          <a:p>
            <a:pPr lvl="1" eaLnBrk="1" hangingPunct="1">
              <a:lnSpc>
                <a:spcPct val="90000"/>
              </a:lnSpc>
              <a:buFontTx/>
              <a:buNone/>
              <a:defRPr/>
            </a:pPr>
            <a:endParaRPr lang="en-US" altLang="zh-CN" sz="1000" dirty="0" smtClean="0">
              <a:latin typeface="+mn-lt"/>
              <a:ea typeface="+mn-ea"/>
            </a:endParaRPr>
          </a:p>
          <a:p>
            <a:pPr lvl="1" eaLnBrk="1" hangingPunct="1">
              <a:lnSpc>
                <a:spcPct val="90000"/>
              </a:lnSpc>
              <a:buFontTx/>
              <a:buNone/>
              <a:defRPr/>
            </a:pPr>
            <a:r>
              <a:rPr lang="zh-CN" altLang="en-US" dirty="0" smtClean="0">
                <a:latin typeface="+mn-lt"/>
                <a:ea typeface="+mn-ea"/>
              </a:rPr>
              <a:t>由推论</a:t>
            </a:r>
            <a:r>
              <a:rPr lang="en-US" altLang="zh-CN" dirty="0" smtClean="0">
                <a:latin typeface="+mn-lt"/>
                <a:ea typeface="+mn-ea"/>
              </a:rPr>
              <a:t>2.2</a:t>
            </a:r>
            <a:r>
              <a:rPr lang="zh-CN" altLang="en-US" dirty="0" smtClean="0">
                <a:latin typeface="+mn-lt"/>
                <a:ea typeface="+mn-ea"/>
              </a:rPr>
              <a:t>，它的解是</a:t>
            </a:r>
            <a:r>
              <a:rPr lang="en-US" altLang="zh-CN" dirty="0" err="1" smtClean="0">
                <a:latin typeface="+mn-lt"/>
                <a:ea typeface="+mn-ea"/>
              </a:rPr>
              <a:t>bnlogn+bn</a:t>
            </a:r>
            <a:r>
              <a:rPr lang="zh-CN" altLang="en-US" dirty="0" smtClean="0">
                <a:latin typeface="+mn-lt"/>
                <a:ea typeface="+mn-ea"/>
              </a:rPr>
              <a:t>，因此我们可以猜测，对于某个常数</a:t>
            </a:r>
            <a:r>
              <a:rPr lang="en-US" altLang="zh-CN" dirty="0" smtClean="0">
                <a:latin typeface="+mn-lt"/>
                <a:ea typeface="+mn-ea"/>
                <a:sym typeface="Symbol" pitchFamily="18" charset="2"/>
              </a:rPr>
              <a:t>c&gt;0 </a:t>
            </a:r>
            <a:r>
              <a:rPr lang="zh-CN" altLang="en-US" dirty="0" smtClean="0">
                <a:latin typeface="+mn-lt"/>
                <a:ea typeface="+mn-ea"/>
                <a:sym typeface="Symbol" pitchFamily="18" charset="2"/>
              </a:rPr>
              <a:t>，</a:t>
            </a:r>
            <a:r>
              <a:rPr lang="en-US" altLang="zh-CN" dirty="0" smtClean="0">
                <a:latin typeface="+mn-lt"/>
                <a:ea typeface="+mn-ea"/>
              </a:rPr>
              <a:t>f(n)</a:t>
            </a:r>
            <a:r>
              <a:rPr lang="en-US" altLang="zh-CN" dirty="0" smtClean="0">
                <a:latin typeface="+mn-lt"/>
                <a:ea typeface="+mn-ea"/>
                <a:sym typeface="Symbol" pitchFamily="18" charset="2"/>
              </a:rPr>
              <a:t></a:t>
            </a:r>
            <a:r>
              <a:rPr lang="en-US" altLang="zh-CN" dirty="0" err="1" smtClean="0">
                <a:latin typeface="+mn-lt"/>
                <a:ea typeface="+mn-ea"/>
                <a:sym typeface="Symbol" pitchFamily="18" charset="2"/>
              </a:rPr>
              <a:t>cbnlogn+bn</a:t>
            </a:r>
            <a:r>
              <a:rPr lang="zh-CN" altLang="en-US" dirty="0" smtClean="0">
                <a:latin typeface="+mn-lt"/>
                <a:ea typeface="+mn-ea"/>
                <a:sym typeface="Symbol" pitchFamily="18" charset="2"/>
              </a:rPr>
              <a:t>，</a:t>
            </a:r>
            <a:r>
              <a:rPr lang="en-US" altLang="zh-CN" dirty="0" smtClean="0">
                <a:latin typeface="+mn-lt"/>
                <a:ea typeface="+mn-ea"/>
                <a:sym typeface="Symbol" pitchFamily="18" charset="2"/>
              </a:rPr>
              <a:t>c</a:t>
            </a:r>
            <a:r>
              <a:rPr lang="zh-CN" altLang="en-US" dirty="0" smtClean="0">
                <a:latin typeface="+mn-lt"/>
                <a:ea typeface="+mn-ea"/>
                <a:sym typeface="Symbol" pitchFamily="18" charset="2"/>
              </a:rPr>
              <a:t>的值后面来确定</a:t>
            </a:r>
            <a:r>
              <a:rPr lang="en-US" altLang="zh-CN" dirty="0" smtClean="0">
                <a:latin typeface="+mn-lt"/>
                <a:ea typeface="+mn-ea"/>
                <a:sym typeface="Symbol" pitchFamily="18" charset="2"/>
              </a:rPr>
              <a:t>.</a:t>
            </a:r>
          </a:p>
          <a:p>
            <a:pPr lvl="1" eaLnBrk="1" hangingPunct="1">
              <a:lnSpc>
                <a:spcPct val="90000"/>
              </a:lnSpc>
              <a:buFontTx/>
              <a:buNone/>
              <a:defRPr/>
            </a:pPr>
            <a:r>
              <a:rPr lang="en-US" altLang="zh-CN" sz="2400" dirty="0" smtClean="0">
                <a:sym typeface="Symbol" pitchFamily="18" charset="2"/>
              </a:rPr>
              <a:t>  </a:t>
            </a:r>
            <a:r>
              <a:rPr lang="zh-CN" altLang="en-US" sz="2400" dirty="0" smtClean="0">
                <a:sym typeface="Symbol" pitchFamily="18" charset="2"/>
              </a:rPr>
              <a:t>见</a:t>
            </a:r>
            <a:r>
              <a:rPr lang="en-US" altLang="zh-CN" sz="2400" dirty="0" smtClean="0">
                <a:sym typeface="Symbol" pitchFamily="18" charset="2"/>
              </a:rPr>
              <a:t>p56. </a:t>
            </a:r>
          </a:p>
          <a:p>
            <a:pPr lvl="1" eaLnBrk="1" hangingPunct="1">
              <a:lnSpc>
                <a:spcPct val="90000"/>
              </a:lnSpc>
              <a:buFontTx/>
              <a:buNone/>
              <a:defRPr/>
            </a:pPr>
            <a:endParaRPr lang="en-US" altLang="zh-CN" sz="2400" dirty="0" smtClean="0"/>
          </a:p>
        </p:txBody>
      </p:sp>
      <p:graphicFrame>
        <p:nvGraphicFramePr>
          <p:cNvPr id="123909" name="Object 4"/>
          <p:cNvGraphicFramePr>
            <a:graphicFrameLocks noGrp="1" noChangeAspect="1"/>
          </p:cNvGraphicFramePr>
          <p:nvPr>
            <p:ph sz="quarter" idx="2"/>
          </p:nvPr>
        </p:nvGraphicFramePr>
        <p:xfrm>
          <a:off x="4143375" y="1785938"/>
          <a:ext cx="3338513" cy="866775"/>
        </p:xfrm>
        <a:graphic>
          <a:graphicData uri="http://schemas.openxmlformats.org/presentationml/2006/ole">
            <mc:AlternateContent xmlns:mc="http://schemas.openxmlformats.org/markup-compatibility/2006">
              <mc:Choice xmlns:v="urn:schemas-microsoft-com:vml" Requires="v">
                <p:oleObj spid="_x0000_s20522" name="公式" r:id="rId4" imgW="2844800" imgH="698500" progId="Equation.3">
                  <p:embed/>
                </p:oleObj>
              </mc:Choice>
              <mc:Fallback>
                <p:oleObj name="公式" r:id="rId4" imgW="2844800" imgH="698500" progId="Equation.3">
                  <p:embed/>
                  <p:pic>
                    <p:nvPicPr>
                      <p:cNvPr id="123909"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43375" y="1785938"/>
                        <a:ext cx="3338513"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3910" name="Object 6"/>
          <p:cNvGraphicFramePr>
            <a:graphicFrameLocks noGrp="1" noChangeAspect="1"/>
          </p:cNvGraphicFramePr>
          <p:nvPr>
            <p:ph sz="quarter" idx="3"/>
          </p:nvPr>
        </p:nvGraphicFramePr>
        <p:xfrm>
          <a:off x="4572000" y="3357563"/>
          <a:ext cx="2566988" cy="590550"/>
        </p:xfrm>
        <a:graphic>
          <a:graphicData uri="http://schemas.openxmlformats.org/presentationml/2006/ole">
            <mc:AlternateContent xmlns:mc="http://schemas.openxmlformats.org/markup-compatibility/2006">
              <mc:Choice xmlns:v="urn:schemas-microsoft-com:vml" Requires="v">
                <p:oleObj spid="_x0000_s20523" name="公式" r:id="rId6" imgW="2159000" imgH="469900" progId="Equation.3">
                  <p:embed/>
                </p:oleObj>
              </mc:Choice>
              <mc:Fallback>
                <p:oleObj name="公式" r:id="rId6" imgW="2159000" imgH="469900" progId="Equation.3">
                  <p:embed/>
                  <p:pic>
                    <p:nvPicPr>
                      <p:cNvPr id="12391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72000" y="3357563"/>
                        <a:ext cx="2566988"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845496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页脚占位符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125955" name="Rectangle 2"/>
          <p:cNvSpPr>
            <a:spLocks noGrp="1" noChangeArrowheads="1"/>
          </p:cNvSpPr>
          <p:nvPr>
            <p:ph type="title"/>
          </p:nvPr>
        </p:nvSpPr>
        <p:spPr/>
        <p:txBody>
          <a:bodyPr/>
          <a:lstStyle/>
          <a:p>
            <a:pPr eaLnBrk="1" hangingPunct="1"/>
            <a:r>
              <a:rPr lang="en-US" altLang="zh-CN" dirty="0">
                <a:solidFill>
                  <a:srgbClr val="333399"/>
                </a:solidFill>
                <a:latin typeface="华文楷体"/>
              </a:rPr>
              <a:t>1.3.8 </a:t>
            </a:r>
            <a:r>
              <a:rPr lang="zh-CN" altLang="en-US" dirty="0">
                <a:solidFill>
                  <a:srgbClr val="333399"/>
                </a:solidFill>
                <a:latin typeface="华文楷体"/>
              </a:rPr>
              <a:t>递推关系</a:t>
            </a:r>
            <a:r>
              <a:rPr lang="en-US" altLang="zh-CN" dirty="0">
                <a:solidFill>
                  <a:srgbClr val="333399"/>
                </a:solidFill>
                <a:latin typeface="华文楷体"/>
              </a:rPr>
              <a:t>——</a:t>
            </a:r>
            <a:r>
              <a:rPr lang="zh-CN" altLang="en-US" dirty="0"/>
              <a:t>代入法</a:t>
            </a:r>
            <a:endParaRPr lang="en-US" altLang="zh-CN" dirty="0" smtClean="0"/>
          </a:p>
        </p:txBody>
      </p:sp>
      <p:sp>
        <p:nvSpPr>
          <p:cNvPr id="125956" name="Rectangle 3"/>
          <p:cNvSpPr>
            <a:spLocks noGrp="1" noChangeArrowheads="1"/>
          </p:cNvSpPr>
          <p:nvPr>
            <p:ph type="body" sz="half" idx="1"/>
          </p:nvPr>
        </p:nvSpPr>
        <p:spPr>
          <a:xfrm>
            <a:off x="817563" y="1196975"/>
            <a:ext cx="8218487" cy="4565650"/>
          </a:xfrm>
        </p:spPr>
        <p:txBody>
          <a:bodyPr/>
          <a:lstStyle/>
          <a:p>
            <a:pPr eaLnBrk="1" hangingPunct="1"/>
            <a:r>
              <a:rPr lang="en-US" altLang="zh-CN" dirty="0" smtClean="0"/>
              <a:t>   </a:t>
            </a:r>
            <a:r>
              <a:rPr lang="zh-CN" altLang="en-US" dirty="0" smtClean="0"/>
              <a:t>定理</a:t>
            </a:r>
            <a:r>
              <a:rPr lang="en-US" altLang="zh-CN" dirty="0" smtClean="0"/>
              <a:t> 2.7</a:t>
            </a:r>
          </a:p>
          <a:p>
            <a:pPr eaLnBrk="1" hangingPunct="1"/>
            <a:endParaRPr lang="en-US" altLang="zh-CN" sz="800" dirty="0" smtClean="0"/>
          </a:p>
          <a:p>
            <a:pPr lvl="1" eaLnBrk="1" hangingPunct="1"/>
            <a:r>
              <a:rPr lang="zh-CN" altLang="en-US" dirty="0">
                <a:latin typeface="+mn-lt"/>
                <a:ea typeface="+mn-ea"/>
              </a:rPr>
              <a:t>设</a:t>
            </a:r>
            <a:r>
              <a:rPr lang="en-US" altLang="zh-CN" dirty="0">
                <a:latin typeface="+mn-lt"/>
                <a:ea typeface="+mn-ea"/>
              </a:rPr>
              <a:t> </a:t>
            </a:r>
            <a:r>
              <a:rPr lang="en-US" altLang="zh-CN" dirty="0" err="1">
                <a:latin typeface="+mn-lt"/>
                <a:ea typeface="+mn-ea"/>
              </a:rPr>
              <a:t>b,c1</a:t>
            </a:r>
            <a:r>
              <a:rPr lang="en-US" altLang="zh-CN" dirty="0">
                <a:latin typeface="+mn-lt"/>
                <a:ea typeface="+mn-ea"/>
              </a:rPr>
              <a:t> ,</a:t>
            </a:r>
            <a:r>
              <a:rPr lang="en-US" altLang="zh-CN" dirty="0" err="1">
                <a:latin typeface="+mn-lt"/>
                <a:ea typeface="+mn-ea"/>
              </a:rPr>
              <a:t>c2</a:t>
            </a:r>
            <a:r>
              <a:rPr lang="en-US" altLang="zh-CN" dirty="0">
                <a:latin typeface="+mn-lt"/>
                <a:ea typeface="+mn-ea"/>
              </a:rPr>
              <a:t> </a:t>
            </a:r>
            <a:r>
              <a:rPr lang="zh-CN" altLang="en-US" dirty="0">
                <a:latin typeface="+mn-lt"/>
                <a:ea typeface="+mn-ea"/>
              </a:rPr>
              <a:t>是非负常数，那么递推式</a:t>
            </a:r>
            <a:endParaRPr lang="en-US" altLang="zh-CN" dirty="0">
              <a:latin typeface="+mn-lt"/>
              <a:ea typeface="+mn-ea"/>
            </a:endParaRPr>
          </a:p>
          <a:p>
            <a:pPr eaLnBrk="1" hangingPunct="1">
              <a:buFontTx/>
              <a:buNone/>
            </a:pPr>
            <a:endParaRPr lang="en-US" altLang="zh-CN" sz="2200" dirty="0" smtClean="0"/>
          </a:p>
          <a:p>
            <a:pPr eaLnBrk="1" hangingPunct="1">
              <a:buFontTx/>
              <a:buNone/>
            </a:pPr>
            <a:endParaRPr lang="en-US" altLang="zh-CN" sz="1800" dirty="0" smtClean="0"/>
          </a:p>
          <a:p>
            <a:pPr eaLnBrk="1" hangingPunct="1">
              <a:buFontTx/>
              <a:buNone/>
            </a:pPr>
            <a:r>
              <a:rPr lang="en-US" altLang="zh-CN" sz="1800" dirty="0" smtClean="0"/>
              <a:t>  </a:t>
            </a:r>
          </a:p>
          <a:p>
            <a:pPr eaLnBrk="1" hangingPunct="1">
              <a:buFontTx/>
              <a:buNone/>
            </a:pPr>
            <a:r>
              <a:rPr lang="en-US" altLang="zh-CN" sz="2100" dirty="0" smtClean="0">
                <a:solidFill>
                  <a:srgbClr val="EA0000"/>
                </a:solidFill>
              </a:rPr>
              <a:t>        </a:t>
            </a:r>
            <a:r>
              <a:rPr lang="zh-CN" altLang="en-US" sz="2100" dirty="0" smtClean="0">
                <a:solidFill>
                  <a:srgbClr val="EA0000"/>
                </a:solidFill>
              </a:rPr>
              <a:t>的解是</a:t>
            </a:r>
            <a:r>
              <a:rPr lang="en-US" altLang="zh-CN" sz="2100" dirty="0" smtClean="0">
                <a:solidFill>
                  <a:srgbClr val="EA0000"/>
                </a:solidFill>
              </a:rPr>
              <a:t> </a:t>
            </a:r>
          </a:p>
          <a:p>
            <a:pPr eaLnBrk="1" hangingPunct="1">
              <a:buFontTx/>
              <a:buNone/>
            </a:pPr>
            <a:endParaRPr lang="en-US" altLang="zh-CN" sz="2100" dirty="0" smtClean="0">
              <a:solidFill>
                <a:srgbClr val="EA0000"/>
              </a:solidFill>
            </a:endParaRPr>
          </a:p>
          <a:p>
            <a:pPr eaLnBrk="1" hangingPunct="1">
              <a:buFontTx/>
              <a:buNone/>
            </a:pPr>
            <a:endParaRPr lang="en-US" altLang="zh-CN" sz="2100" dirty="0" smtClean="0"/>
          </a:p>
        </p:txBody>
      </p:sp>
      <p:graphicFrame>
        <p:nvGraphicFramePr>
          <p:cNvPr id="125957" name="Object 4"/>
          <p:cNvGraphicFramePr>
            <a:graphicFrameLocks noGrp="1" noChangeAspect="1"/>
          </p:cNvGraphicFramePr>
          <p:nvPr>
            <p:ph sz="quarter" idx="2"/>
          </p:nvPr>
        </p:nvGraphicFramePr>
        <p:xfrm>
          <a:off x="2143125" y="2214563"/>
          <a:ext cx="4113213" cy="1096962"/>
        </p:xfrm>
        <a:graphic>
          <a:graphicData uri="http://schemas.openxmlformats.org/presentationml/2006/ole">
            <mc:AlternateContent xmlns:mc="http://schemas.openxmlformats.org/markup-compatibility/2006">
              <mc:Choice xmlns:v="urn:schemas-microsoft-com:vml" Requires="v">
                <p:oleObj spid="_x0000_s21546" name="公式" r:id="rId4" imgW="2768600" imgH="698500" progId="Equation.3">
                  <p:embed/>
                </p:oleObj>
              </mc:Choice>
              <mc:Fallback>
                <p:oleObj name="公式" r:id="rId4" imgW="2768600" imgH="698500" progId="Equation.3">
                  <p:embed/>
                  <p:pic>
                    <p:nvPicPr>
                      <p:cNvPr id="125957"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43125" y="2214563"/>
                        <a:ext cx="4113213" cy="109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5958" name="Object 6"/>
          <p:cNvGraphicFramePr>
            <a:graphicFrameLocks noGrp="1" noChangeAspect="1"/>
          </p:cNvGraphicFramePr>
          <p:nvPr>
            <p:ph sz="quarter" idx="3"/>
          </p:nvPr>
        </p:nvGraphicFramePr>
        <p:xfrm>
          <a:off x="2051050" y="4005263"/>
          <a:ext cx="4900613" cy="836612"/>
        </p:xfrm>
        <a:graphic>
          <a:graphicData uri="http://schemas.openxmlformats.org/presentationml/2006/ole">
            <mc:AlternateContent xmlns:mc="http://schemas.openxmlformats.org/markup-compatibility/2006">
              <mc:Choice xmlns:v="urn:schemas-microsoft-com:vml" Requires="v">
                <p:oleObj spid="_x0000_s21547" name="公式" r:id="rId6" imgW="1651000" imgH="266700" progId="Equation.3">
                  <p:embed/>
                </p:oleObj>
              </mc:Choice>
              <mc:Fallback>
                <p:oleObj name="公式" r:id="rId6" imgW="1651000" imgH="266700" progId="Equation.3">
                  <p:embed/>
                  <p:pic>
                    <p:nvPicPr>
                      <p:cNvPr id="125958"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51050" y="4005263"/>
                        <a:ext cx="4900613" cy="83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25959" name="Picture 9" descr="theorem"/>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00113" y="1268413"/>
            <a:ext cx="5334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598635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128003" name="Rectangle 2"/>
          <p:cNvSpPr>
            <a:spLocks noGrp="1" noChangeArrowheads="1"/>
          </p:cNvSpPr>
          <p:nvPr>
            <p:ph type="title"/>
          </p:nvPr>
        </p:nvSpPr>
        <p:spPr/>
        <p:txBody>
          <a:bodyPr/>
          <a:lstStyle/>
          <a:p>
            <a:pPr eaLnBrk="1" hangingPunct="1"/>
            <a:r>
              <a:rPr lang="en-US" altLang="zh-CN" dirty="0">
                <a:solidFill>
                  <a:srgbClr val="333399"/>
                </a:solidFill>
                <a:latin typeface="华文楷体"/>
              </a:rPr>
              <a:t>1.3.8 </a:t>
            </a:r>
            <a:r>
              <a:rPr lang="zh-CN" altLang="en-US" dirty="0">
                <a:solidFill>
                  <a:srgbClr val="333399"/>
                </a:solidFill>
                <a:latin typeface="华文楷体"/>
              </a:rPr>
              <a:t>递推关系</a:t>
            </a:r>
            <a:r>
              <a:rPr lang="en-US" altLang="zh-CN" dirty="0" smtClean="0">
                <a:solidFill>
                  <a:srgbClr val="333399"/>
                </a:solidFill>
                <a:latin typeface="华文楷体"/>
              </a:rPr>
              <a:t>——</a:t>
            </a:r>
            <a:r>
              <a:rPr lang="zh-CN" altLang="en-US" dirty="0" smtClean="0"/>
              <a:t>更换变元</a:t>
            </a:r>
            <a:endParaRPr lang="en-US" altLang="zh-CN" dirty="0" smtClean="0"/>
          </a:p>
        </p:txBody>
      </p:sp>
      <p:sp>
        <p:nvSpPr>
          <p:cNvPr id="128004" name="Rectangle 3"/>
          <p:cNvSpPr>
            <a:spLocks noGrp="1" noChangeArrowheads="1"/>
          </p:cNvSpPr>
          <p:nvPr>
            <p:ph type="body" idx="1"/>
          </p:nvPr>
        </p:nvSpPr>
        <p:spPr/>
        <p:txBody>
          <a:bodyPr/>
          <a:lstStyle/>
          <a:p>
            <a:pPr eaLnBrk="1" hangingPunct="1"/>
            <a:endParaRPr lang="en-US" altLang="zh-CN" sz="2800" smtClean="0"/>
          </a:p>
          <a:p>
            <a:pPr eaLnBrk="1" hangingPunct="1"/>
            <a:r>
              <a:rPr lang="zh-CN" altLang="en-US" sz="2800" smtClean="0"/>
              <a:t>在有些递推式中，如果改变函数的定义域，在新的定义域中定义一个新的易于求解的递推关系，这样会更加方便。</a:t>
            </a:r>
            <a:endParaRPr lang="en-US" altLang="zh-CN" sz="2800" smtClean="0"/>
          </a:p>
        </p:txBody>
      </p:sp>
    </p:spTree>
    <p:extLst>
      <p:ext uri="{BB962C8B-B14F-4D97-AF65-F5344CB8AC3E}">
        <p14:creationId xmlns:p14="http://schemas.microsoft.com/office/powerpoint/2010/main" val="23837621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页脚占位符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130051" name="Rectangle 2"/>
          <p:cNvSpPr>
            <a:spLocks noGrp="1" noChangeArrowheads="1"/>
          </p:cNvSpPr>
          <p:nvPr>
            <p:ph type="title"/>
          </p:nvPr>
        </p:nvSpPr>
        <p:spPr/>
        <p:txBody>
          <a:bodyPr/>
          <a:lstStyle/>
          <a:p>
            <a:pPr eaLnBrk="1" hangingPunct="1"/>
            <a:r>
              <a:rPr lang="en-US" altLang="zh-CN" dirty="0">
                <a:solidFill>
                  <a:srgbClr val="333399"/>
                </a:solidFill>
                <a:latin typeface="华文楷体"/>
              </a:rPr>
              <a:t>1.3.8 </a:t>
            </a:r>
            <a:r>
              <a:rPr lang="zh-CN" altLang="en-US" dirty="0">
                <a:solidFill>
                  <a:srgbClr val="333399"/>
                </a:solidFill>
                <a:latin typeface="华文楷体"/>
              </a:rPr>
              <a:t>递推关系</a:t>
            </a:r>
            <a:r>
              <a:rPr lang="en-US" altLang="zh-CN" dirty="0">
                <a:solidFill>
                  <a:srgbClr val="333399"/>
                </a:solidFill>
                <a:latin typeface="华文楷体"/>
              </a:rPr>
              <a:t>——</a:t>
            </a:r>
            <a:r>
              <a:rPr lang="zh-CN" altLang="en-US" dirty="0"/>
              <a:t>更换变元</a:t>
            </a:r>
            <a:endParaRPr lang="en-US" altLang="zh-CN" dirty="0" smtClean="0"/>
          </a:p>
        </p:txBody>
      </p:sp>
      <p:sp>
        <p:nvSpPr>
          <p:cNvPr id="130052" name="Rectangle 3"/>
          <p:cNvSpPr>
            <a:spLocks noGrp="1" noChangeArrowheads="1"/>
          </p:cNvSpPr>
          <p:nvPr>
            <p:ph type="body" sz="half" idx="1"/>
          </p:nvPr>
        </p:nvSpPr>
        <p:spPr>
          <a:xfrm>
            <a:off x="890588" y="1196975"/>
            <a:ext cx="8218487" cy="4565650"/>
          </a:xfrm>
        </p:spPr>
        <p:txBody>
          <a:bodyPr/>
          <a:lstStyle/>
          <a:p>
            <a:pPr lvl="0" eaLnBrk="1" hangingPunct="1">
              <a:lnSpc>
                <a:spcPct val="90000"/>
              </a:lnSpc>
              <a:defRPr/>
            </a:pPr>
            <a:r>
              <a:rPr lang="zh-CN" altLang="en-US" dirty="0">
                <a:solidFill>
                  <a:srgbClr val="333399"/>
                </a:solidFill>
                <a:sym typeface="Symbol" pitchFamily="18" charset="2"/>
              </a:rPr>
              <a:t>例子</a:t>
            </a:r>
            <a:endParaRPr lang="en-US" altLang="zh-CN" dirty="0">
              <a:solidFill>
                <a:srgbClr val="333399"/>
              </a:solidFill>
              <a:sym typeface="Symbol" pitchFamily="18" charset="2"/>
            </a:endParaRPr>
          </a:p>
          <a:p>
            <a:pPr lvl="1" eaLnBrk="1" hangingPunct="1"/>
            <a:r>
              <a:rPr lang="zh-CN" altLang="en-US" dirty="0">
                <a:latin typeface="+mn-lt"/>
                <a:ea typeface="+mn-ea"/>
              </a:rPr>
              <a:t>考虑递推式</a:t>
            </a:r>
            <a:endParaRPr lang="en-US" altLang="zh-CN" dirty="0">
              <a:latin typeface="+mn-lt"/>
              <a:ea typeface="+mn-ea"/>
            </a:endParaRPr>
          </a:p>
          <a:p>
            <a:pPr lvl="1" eaLnBrk="1" hangingPunct="1"/>
            <a:endParaRPr lang="en-US" altLang="zh-CN" sz="2400" dirty="0" smtClean="0">
              <a:latin typeface="Arial" panose="020B0604020202020204" pitchFamily="34" charset="0"/>
            </a:endParaRPr>
          </a:p>
          <a:p>
            <a:pPr lvl="1" eaLnBrk="1" hangingPunct="1"/>
            <a:endParaRPr lang="en-US" altLang="zh-CN" sz="2400" dirty="0" smtClean="0">
              <a:latin typeface="Arial" panose="020B0604020202020204" pitchFamily="34" charset="0"/>
            </a:endParaRPr>
          </a:p>
          <a:p>
            <a:pPr lvl="1" eaLnBrk="1" hangingPunct="1"/>
            <a:endParaRPr lang="en-US" altLang="zh-CN" sz="2400" dirty="0" smtClean="0">
              <a:latin typeface="Arial" panose="020B0604020202020204" pitchFamily="34" charset="0"/>
            </a:endParaRPr>
          </a:p>
          <a:p>
            <a:pPr lvl="1" eaLnBrk="1" hangingPunct="1">
              <a:buFontTx/>
              <a:buNone/>
            </a:pPr>
            <a:endParaRPr lang="en-US" altLang="zh-CN" sz="2400" dirty="0" smtClean="0">
              <a:latin typeface="Arial" panose="020B0604020202020204" pitchFamily="34" charset="0"/>
            </a:endParaRPr>
          </a:p>
          <a:p>
            <a:pPr lvl="1" eaLnBrk="1" hangingPunct="1">
              <a:buFontTx/>
              <a:buNone/>
            </a:pPr>
            <a:r>
              <a:rPr lang="en-US" altLang="zh-CN" dirty="0">
                <a:latin typeface="+mn-lt"/>
                <a:ea typeface="+mn-ea"/>
              </a:rPr>
              <a:t>n </a:t>
            </a:r>
            <a:r>
              <a:rPr lang="zh-CN" altLang="en-US" dirty="0">
                <a:latin typeface="+mn-lt"/>
                <a:ea typeface="+mn-ea"/>
              </a:rPr>
              <a:t>是</a:t>
            </a:r>
            <a:r>
              <a:rPr lang="en-US" altLang="zh-CN" dirty="0">
                <a:latin typeface="+mn-lt"/>
                <a:ea typeface="+mn-ea"/>
              </a:rPr>
              <a:t>2</a:t>
            </a:r>
            <a:r>
              <a:rPr lang="zh-CN" altLang="en-US" dirty="0">
                <a:latin typeface="+mn-lt"/>
                <a:ea typeface="+mn-ea"/>
              </a:rPr>
              <a:t>的幂</a:t>
            </a:r>
            <a:endParaRPr lang="en-US" altLang="zh-CN" dirty="0">
              <a:latin typeface="+mn-lt"/>
              <a:ea typeface="+mn-ea"/>
            </a:endParaRPr>
          </a:p>
          <a:p>
            <a:pPr lvl="1" eaLnBrk="1" hangingPunct="1">
              <a:buFontTx/>
              <a:buNone/>
            </a:pPr>
            <a:endParaRPr lang="en-US" altLang="zh-CN" sz="2400" dirty="0" smtClean="0">
              <a:latin typeface="Arial" panose="020B0604020202020204" pitchFamily="34" charset="0"/>
            </a:endParaRPr>
          </a:p>
          <a:p>
            <a:pPr lvl="1" eaLnBrk="1" hangingPunct="1">
              <a:buFontTx/>
              <a:buNone/>
            </a:pPr>
            <a:r>
              <a:rPr lang="zh-CN" altLang="en-US" dirty="0">
                <a:latin typeface="+mn-lt"/>
                <a:ea typeface="+mn-ea"/>
              </a:rPr>
              <a:t>见</a:t>
            </a:r>
            <a:r>
              <a:rPr lang="en-US" altLang="zh-CN" dirty="0" err="1">
                <a:latin typeface="+mn-lt"/>
                <a:ea typeface="+mn-ea"/>
              </a:rPr>
              <a:t>P62</a:t>
            </a:r>
            <a:r>
              <a:rPr lang="en-US" altLang="zh-CN" dirty="0">
                <a:latin typeface="+mn-lt"/>
                <a:ea typeface="+mn-ea"/>
                <a:hlinkClick r:id="rId4" action="ppaction://hlinkfile"/>
              </a:rPr>
              <a:t> </a:t>
            </a:r>
            <a:endParaRPr lang="en-US" altLang="zh-CN" dirty="0">
              <a:latin typeface="+mn-lt"/>
              <a:ea typeface="+mn-ea"/>
            </a:endParaRPr>
          </a:p>
          <a:p>
            <a:pPr lvl="1" eaLnBrk="1" hangingPunct="1"/>
            <a:endParaRPr lang="en-US" altLang="zh-CN" sz="2400" dirty="0" smtClean="0">
              <a:latin typeface="Arial" panose="020B0604020202020204" pitchFamily="34" charset="0"/>
            </a:endParaRPr>
          </a:p>
          <a:p>
            <a:pPr lvl="2" eaLnBrk="1" hangingPunct="1">
              <a:buFontTx/>
              <a:buNone/>
            </a:pPr>
            <a:r>
              <a:rPr lang="en-US" altLang="zh-CN" sz="1800" dirty="0" smtClean="0">
                <a:latin typeface="Arial" panose="020B0604020202020204" pitchFamily="34" charset="0"/>
              </a:rPr>
              <a:t>   </a:t>
            </a:r>
          </a:p>
        </p:txBody>
      </p:sp>
      <p:graphicFrame>
        <p:nvGraphicFramePr>
          <p:cNvPr id="130053" name="Object 10"/>
          <p:cNvGraphicFramePr>
            <a:graphicFrameLocks noGrp="1" noChangeAspect="1"/>
          </p:cNvGraphicFramePr>
          <p:nvPr>
            <p:ph sz="half" idx="2"/>
          </p:nvPr>
        </p:nvGraphicFramePr>
        <p:xfrm>
          <a:off x="2000250" y="2481263"/>
          <a:ext cx="3821113" cy="1262062"/>
        </p:xfrm>
        <a:graphic>
          <a:graphicData uri="http://schemas.openxmlformats.org/presentationml/2006/ole">
            <mc:AlternateContent xmlns:mc="http://schemas.openxmlformats.org/markup-compatibility/2006">
              <mc:Choice xmlns:v="urn:schemas-microsoft-com:vml" Requires="v">
                <p:oleObj spid="_x0000_s22550" name="公式" r:id="rId5" imgW="2235200" imgH="698500" progId="Equation.3">
                  <p:embed/>
                </p:oleObj>
              </mc:Choice>
              <mc:Fallback>
                <p:oleObj name="公式" r:id="rId5" imgW="2235200" imgH="698500" progId="Equation.3">
                  <p:embed/>
                  <p:pic>
                    <p:nvPicPr>
                      <p:cNvPr id="130053"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00250" y="2481263"/>
                        <a:ext cx="3821113" cy="126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30055"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28938" y="3914775"/>
            <a:ext cx="5876925" cy="237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841952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标题 1"/>
          <p:cNvSpPr>
            <a:spLocks noGrp="1"/>
          </p:cNvSpPr>
          <p:nvPr>
            <p:ph type="title"/>
          </p:nvPr>
        </p:nvSpPr>
        <p:spPr/>
        <p:txBody>
          <a:bodyPr/>
          <a:lstStyle/>
          <a:p>
            <a:endParaRPr lang="zh-CN" altLang="en-US" smtClean="0"/>
          </a:p>
        </p:txBody>
      </p:sp>
      <p:sp>
        <p:nvSpPr>
          <p:cNvPr id="132099" name="页脚占位符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pic>
        <p:nvPicPr>
          <p:cNvPr id="13210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813" y="642938"/>
            <a:ext cx="8086725" cy="549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043274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标题 1"/>
          <p:cNvSpPr>
            <a:spLocks noGrp="1"/>
          </p:cNvSpPr>
          <p:nvPr>
            <p:ph type="title"/>
          </p:nvPr>
        </p:nvSpPr>
        <p:spPr/>
        <p:txBody>
          <a:bodyPr/>
          <a:lstStyle/>
          <a:p>
            <a:endParaRPr lang="zh-CN" altLang="en-US" dirty="0" smtClean="0"/>
          </a:p>
        </p:txBody>
      </p:sp>
      <p:sp>
        <p:nvSpPr>
          <p:cNvPr id="133123" name="页脚占位符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pic>
        <p:nvPicPr>
          <p:cNvPr id="13312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8688" y="1285875"/>
            <a:ext cx="7697787" cy="2357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219570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p>
        </p:txBody>
      </p:sp>
      <p:sp>
        <p:nvSpPr>
          <p:cNvPr id="11267" name="Rectangle 2"/>
          <p:cNvSpPr>
            <a:spLocks noGrp="1" noChangeArrowheads="1"/>
          </p:cNvSpPr>
          <p:nvPr>
            <p:ph type="title"/>
          </p:nvPr>
        </p:nvSpPr>
        <p:spPr/>
        <p:txBody>
          <a:bodyPr/>
          <a:lstStyle/>
          <a:p>
            <a:pPr eaLnBrk="1" hangingPunct="1"/>
            <a:r>
              <a:rPr lang="zh-CN" altLang="en-US" b="0" smtClean="0"/>
              <a:t>主要内容</a:t>
            </a:r>
            <a:endParaRPr lang="en-US" altLang="zh-CN" b="0" smtClean="0"/>
          </a:p>
        </p:txBody>
      </p:sp>
      <p:sp>
        <p:nvSpPr>
          <p:cNvPr id="8196" name="Rectangle 3"/>
          <p:cNvSpPr>
            <a:spLocks noGrp="1" noChangeArrowheads="1"/>
          </p:cNvSpPr>
          <p:nvPr>
            <p:ph type="body" idx="1"/>
          </p:nvPr>
        </p:nvSpPr>
        <p:spPr>
          <a:xfrm>
            <a:off x="962026" y="1883206"/>
            <a:ext cx="6210299" cy="2520117"/>
          </a:xfrm>
        </p:spPr>
        <p:txBody>
          <a:bodyPr/>
          <a:lstStyle/>
          <a:p>
            <a:pPr marL="0" lvl="1" indent="-419100" eaLnBrk="1" hangingPunct="1">
              <a:buFontTx/>
              <a:buNone/>
              <a:defRPr/>
            </a:pPr>
            <a:r>
              <a:rPr lang="en-US" altLang="zh-CN" sz="2400" dirty="0" smtClean="0">
                <a:latin typeface="+mn-ea"/>
                <a:ea typeface="+mn-ea"/>
              </a:rPr>
              <a:t>1.1</a:t>
            </a:r>
            <a:r>
              <a:rPr lang="zh-CN" altLang="en-US" sz="2400" dirty="0" smtClean="0">
                <a:latin typeface="+mn-ea"/>
                <a:ea typeface="+mn-ea"/>
              </a:rPr>
              <a:t>算法的基本概念</a:t>
            </a:r>
            <a:endParaRPr lang="en-US" altLang="zh-CN" sz="2400" dirty="0" smtClean="0">
              <a:latin typeface="+mn-ea"/>
              <a:ea typeface="+mn-ea"/>
            </a:endParaRPr>
          </a:p>
          <a:p>
            <a:pPr marL="0" lvl="1" indent="-419100" eaLnBrk="1" hangingPunct="1">
              <a:buNone/>
              <a:defRPr/>
            </a:pPr>
            <a:r>
              <a:rPr lang="en-US" altLang="zh-CN" sz="2400" dirty="0">
                <a:latin typeface="+mn-ea"/>
                <a:ea typeface="+mn-ea"/>
              </a:rPr>
              <a:t>1.2</a:t>
            </a:r>
            <a:r>
              <a:rPr lang="zh-CN" altLang="en-US" sz="2400" dirty="0">
                <a:latin typeface="+mn-ea"/>
                <a:ea typeface="+mn-ea"/>
              </a:rPr>
              <a:t>算法分析基础</a:t>
            </a:r>
            <a:endParaRPr lang="en-US" altLang="zh-CN" sz="2400" dirty="0">
              <a:latin typeface="+mn-ea"/>
              <a:ea typeface="+mn-ea"/>
            </a:endParaRPr>
          </a:p>
          <a:p>
            <a:pPr marL="0" lvl="1" indent="-419100" eaLnBrk="1" hangingPunct="1">
              <a:buNone/>
              <a:defRPr/>
            </a:pPr>
            <a:r>
              <a:rPr lang="en-US" altLang="zh-CN" sz="2400" dirty="0">
                <a:latin typeface="+mn-ea"/>
                <a:ea typeface="+mn-ea"/>
              </a:rPr>
              <a:t>1.3</a:t>
            </a:r>
            <a:r>
              <a:rPr lang="zh-CN" altLang="en-US" sz="2400" dirty="0">
                <a:latin typeface="+mn-ea"/>
                <a:ea typeface="+mn-ea"/>
              </a:rPr>
              <a:t>算法分析常用的数学知识</a:t>
            </a:r>
            <a:endParaRPr lang="en-US" altLang="zh-CN" sz="2400" dirty="0">
              <a:latin typeface="+mn-ea"/>
              <a:ea typeface="+mn-ea"/>
            </a:endParaRPr>
          </a:p>
          <a:p>
            <a:pPr marL="0" lvl="1" indent="-419100" eaLnBrk="1" hangingPunct="1">
              <a:buNone/>
              <a:defRPr/>
            </a:pPr>
            <a:r>
              <a:rPr lang="en-US" altLang="zh-CN" sz="2800" b="1" u="sng" dirty="0">
                <a:latin typeface="+mn-ea"/>
                <a:ea typeface="+mn-ea"/>
              </a:rPr>
              <a:t>1.4</a:t>
            </a:r>
            <a:r>
              <a:rPr lang="zh-CN" altLang="en-US" sz="2800" b="1" u="sng" dirty="0">
                <a:latin typeface="+mn-ea"/>
                <a:ea typeface="+mn-ea"/>
              </a:rPr>
              <a:t>数据结构的表示、操作算法及分析</a:t>
            </a:r>
            <a:endParaRPr lang="zh-CN" altLang="en-US" sz="2800" b="1" u="sng" dirty="0">
              <a:latin typeface="+mn-ea"/>
              <a:ea typeface="+mn-ea"/>
            </a:endParaRPr>
          </a:p>
        </p:txBody>
      </p:sp>
      <p:pic>
        <p:nvPicPr>
          <p:cNvPr id="11269" name="Picture 4" descr="j019538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0425" y="260350"/>
            <a:ext cx="1231900" cy="125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60666846"/>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38915" name="Rectangle 2"/>
          <p:cNvSpPr>
            <a:spLocks noGrp="1" noChangeArrowheads="1"/>
          </p:cNvSpPr>
          <p:nvPr>
            <p:ph type="title"/>
          </p:nvPr>
        </p:nvSpPr>
        <p:spPr/>
        <p:txBody>
          <a:bodyPr/>
          <a:lstStyle/>
          <a:p>
            <a:pPr eaLnBrk="1" hangingPunct="1"/>
            <a:r>
              <a:rPr lang="zh-CN" altLang="en-US" b="1" dirty="0" smtClean="0"/>
              <a:t>本章内容</a:t>
            </a:r>
            <a:endParaRPr lang="en-US" altLang="zh-CN" b="1" dirty="0" smtClean="0"/>
          </a:p>
        </p:txBody>
      </p:sp>
      <p:sp>
        <p:nvSpPr>
          <p:cNvPr id="169987" name="Rectangle 3"/>
          <p:cNvSpPr>
            <a:spLocks noGrp="1" noChangeArrowheads="1"/>
          </p:cNvSpPr>
          <p:nvPr>
            <p:ph type="body" idx="1"/>
          </p:nvPr>
        </p:nvSpPr>
        <p:spPr>
          <a:xfrm>
            <a:off x="879475" y="1231674"/>
            <a:ext cx="7786687" cy="4525962"/>
          </a:xfrm>
        </p:spPr>
        <p:txBody>
          <a:bodyPr/>
          <a:lstStyle/>
          <a:p>
            <a:pPr marL="0" lvl="1" indent="-419100" eaLnBrk="1" hangingPunct="1">
              <a:buNone/>
              <a:defRPr/>
            </a:pPr>
            <a:r>
              <a:rPr lang="en-US" altLang="zh-CN" sz="2400" dirty="0" smtClean="0">
                <a:solidFill>
                  <a:srgbClr val="333399"/>
                </a:solidFill>
                <a:latin typeface="华文楷体"/>
                <a:ea typeface="华文楷体"/>
              </a:rPr>
              <a:t>1.4 </a:t>
            </a:r>
            <a:r>
              <a:rPr lang="zh-CN" altLang="en-US" sz="2400" dirty="0" smtClean="0">
                <a:solidFill>
                  <a:srgbClr val="333399"/>
                </a:solidFill>
                <a:latin typeface="华文楷体"/>
                <a:ea typeface="华文楷体"/>
              </a:rPr>
              <a:t>数据结构</a:t>
            </a:r>
            <a:endParaRPr lang="en-US" altLang="zh-CN" sz="2400" dirty="0" smtClean="0">
              <a:solidFill>
                <a:srgbClr val="333399"/>
              </a:solidFill>
              <a:latin typeface="华文楷体"/>
              <a:ea typeface="华文楷体"/>
            </a:endParaRPr>
          </a:p>
          <a:p>
            <a:pPr marL="0" lvl="1" indent="417600" eaLnBrk="1" hangingPunct="1">
              <a:lnSpc>
                <a:spcPct val="90000"/>
              </a:lnSpc>
              <a:buNone/>
              <a:defRPr/>
            </a:pPr>
            <a:r>
              <a:rPr lang="en-US" altLang="zh-CN" sz="2400" dirty="0">
                <a:latin typeface="+mn-ea"/>
                <a:ea typeface="+mn-ea"/>
              </a:rPr>
              <a:t>1.4.1 </a:t>
            </a:r>
            <a:r>
              <a:rPr lang="zh-CN" altLang="en-US" sz="2400" dirty="0">
                <a:latin typeface="+mn-ea"/>
                <a:ea typeface="+mn-ea"/>
              </a:rPr>
              <a:t>基本概念和术语</a:t>
            </a:r>
          </a:p>
          <a:p>
            <a:pPr marL="0" lvl="1" indent="417600" eaLnBrk="1" hangingPunct="1">
              <a:lnSpc>
                <a:spcPct val="90000"/>
              </a:lnSpc>
              <a:buNone/>
              <a:defRPr/>
            </a:pPr>
            <a:r>
              <a:rPr lang="en-US" altLang="zh-CN" sz="2400" dirty="0">
                <a:latin typeface="+mn-ea"/>
                <a:ea typeface="+mn-ea"/>
              </a:rPr>
              <a:t>1.4.2 </a:t>
            </a:r>
            <a:r>
              <a:rPr lang="zh-CN" altLang="en-US" sz="2400" dirty="0">
                <a:latin typeface="+mn-ea"/>
                <a:ea typeface="+mn-ea"/>
              </a:rPr>
              <a:t>逻辑结构和存储结构</a:t>
            </a:r>
          </a:p>
          <a:p>
            <a:pPr marL="0" lvl="1" indent="417600" eaLnBrk="1" hangingPunct="1">
              <a:lnSpc>
                <a:spcPct val="90000"/>
              </a:lnSpc>
              <a:buNone/>
              <a:defRPr/>
            </a:pPr>
            <a:r>
              <a:rPr lang="en-US" altLang="zh-CN" sz="2400" dirty="0">
                <a:latin typeface="+mn-ea"/>
                <a:ea typeface="+mn-ea"/>
              </a:rPr>
              <a:t>1.4.3 </a:t>
            </a:r>
            <a:r>
              <a:rPr lang="zh-CN" altLang="en-US" sz="2400" dirty="0">
                <a:latin typeface="+mn-ea"/>
                <a:ea typeface="+mn-ea"/>
              </a:rPr>
              <a:t>链表</a:t>
            </a:r>
          </a:p>
          <a:p>
            <a:pPr marL="0" lvl="1" indent="417600" eaLnBrk="1" hangingPunct="1">
              <a:lnSpc>
                <a:spcPct val="90000"/>
              </a:lnSpc>
              <a:buNone/>
              <a:defRPr/>
            </a:pPr>
            <a:r>
              <a:rPr lang="en-US" altLang="zh-CN" sz="2400" dirty="0">
                <a:latin typeface="+mn-ea"/>
                <a:ea typeface="+mn-ea"/>
              </a:rPr>
              <a:t>1.4.4 </a:t>
            </a:r>
            <a:r>
              <a:rPr lang="zh-CN" altLang="en-US" sz="2400" dirty="0">
                <a:latin typeface="+mn-ea"/>
                <a:ea typeface="+mn-ea"/>
              </a:rPr>
              <a:t>堆栈和队列</a:t>
            </a:r>
          </a:p>
          <a:p>
            <a:pPr marL="0" lvl="1" indent="417600" eaLnBrk="1" hangingPunct="1">
              <a:lnSpc>
                <a:spcPct val="90000"/>
              </a:lnSpc>
              <a:buNone/>
              <a:defRPr/>
            </a:pPr>
            <a:r>
              <a:rPr lang="en-US" altLang="zh-CN" sz="2400" dirty="0">
                <a:latin typeface="+mn-ea"/>
                <a:ea typeface="+mn-ea"/>
              </a:rPr>
              <a:t>1.4.5 </a:t>
            </a:r>
            <a:r>
              <a:rPr lang="zh-CN" altLang="en-US" sz="2400" dirty="0">
                <a:latin typeface="+mn-ea"/>
                <a:ea typeface="+mn-ea"/>
              </a:rPr>
              <a:t>图</a:t>
            </a:r>
          </a:p>
          <a:p>
            <a:pPr marL="0" lvl="1" indent="417600" eaLnBrk="1" hangingPunct="1">
              <a:lnSpc>
                <a:spcPct val="90000"/>
              </a:lnSpc>
              <a:buNone/>
              <a:defRPr/>
            </a:pPr>
            <a:r>
              <a:rPr lang="en-US" altLang="zh-CN" sz="2400" dirty="0">
                <a:latin typeface="+mn-ea"/>
                <a:ea typeface="+mn-ea"/>
              </a:rPr>
              <a:t>1.4.6 </a:t>
            </a:r>
            <a:r>
              <a:rPr lang="zh-CN" altLang="en-US" sz="2400" dirty="0">
                <a:latin typeface="+mn-ea"/>
                <a:ea typeface="+mn-ea"/>
              </a:rPr>
              <a:t>树、根树、二叉树</a:t>
            </a:r>
          </a:p>
          <a:p>
            <a:pPr marL="0" lvl="1" indent="417600" eaLnBrk="1" hangingPunct="1">
              <a:lnSpc>
                <a:spcPct val="90000"/>
              </a:lnSpc>
              <a:buNone/>
              <a:defRPr/>
            </a:pPr>
            <a:r>
              <a:rPr lang="en-US" altLang="zh-CN" sz="2400" dirty="0">
                <a:latin typeface="+mn-ea"/>
                <a:ea typeface="+mn-ea"/>
              </a:rPr>
              <a:t>1.4.7 </a:t>
            </a:r>
            <a:r>
              <a:rPr lang="zh-CN" altLang="en-US" sz="2400" dirty="0">
                <a:latin typeface="+mn-ea"/>
                <a:ea typeface="+mn-ea"/>
              </a:rPr>
              <a:t>赫夫曼树及其应用</a:t>
            </a:r>
          </a:p>
          <a:p>
            <a:pPr marL="0" lvl="1" indent="417600" eaLnBrk="1" hangingPunct="1">
              <a:lnSpc>
                <a:spcPct val="90000"/>
              </a:lnSpc>
              <a:buNone/>
              <a:defRPr/>
            </a:pPr>
            <a:r>
              <a:rPr lang="en-US" altLang="zh-CN" sz="2400" dirty="0">
                <a:latin typeface="+mn-ea"/>
                <a:ea typeface="+mn-ea"/>
              </a:rPr>
              <a:t>1.4.8 </a:t>
            </a:r>
            <a:r>
              <a:rPr lang="zh-CN" altLang="en-US" sz="2400" dirty="0">
                <a:latin typeface="+mn-ea"/>
                <a:ea typeface="+mn-ea"/>
              </a:rPr>
              <a:t>最短路径</a:t>
            </a:r>
            <a:endParaRPr lang="en-US" altLang="zh-CN" sz="2400" dirty="0">
              <a:latin typeface="+mn-ea"/>
              <a:ea typeface="+mn-ea"/>
            </a:endParaRPr>
          </a:p>
        </p:txBody>
      </p:sp>
      <p:pic>
        <p:nvPicPr>
          <p:cNvPr id="38917" name="Picture 5" descr="j019538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76950" y="115888"/>
            <a:ext cx="1231900" cy="125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35305170"/>
      </p:ext>
    </p:extLst>
  </p:cSld>
  <p:clrMapOvr>
    <a:masterClrMapping/>
  </p:clrMapOvr>
  <p:transition>
    <p:random/>
  </p:transition>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矩形 11"/>
          <p:cNvSpPr/>
          <p:nvPr/>
        </p:nvSpPr>
        <p:spPr>
          <a:xfrm>
            <a:off x="683568" y="3309938"/>
            <a:ext cx="7858125" cy="3071812"/>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72386" name="Rectangle 2"/>
          <p:cNvSpPr>
            <a:spLocks noGrp="1" noChangeArrowheads="1"/>
          </p:cNvSpPr>
          <p:nvPr>
            <p:ph type="body" idx="1"/>
          </p:nvPr>
        </p:nvSpPr>
        <p:spPr>
          <a:xfrm>
            <a:off x="899592" y="1339117"/>
            <a:ext cx="7994206" cy="3055937"/>
          </a:xfrm>
        </p:spPr>
        <p:txBody>
          <a:bodyPr/>
          <a:lstStyle/>
          <a:p>
            <a:pPr>
              <a:lnSpc>
                <a:spcPct val="105000"/>
              </a:lnSpc>
            </a:pPr>
            <a:r>
              <a:rPr lang="zh-CN" altLang="en-US" sz="2000" dirty="0" smtClean="0">
                <a:solidFill>
                  <a:srgbClr val="FF0000"/>
                </a:solidFill>
              </a:rPr>
              <a:t>数据</a:t>
            </a:r>
            <a:r>
              <a:rPr lang="en-US" altLang="zh-CN" sz="2000" dirty="0" smtClean="0">
                <a:solidFill>
                  <a:srgbClr val="FF0000"/>
                </a:solidFill>
              </a:rPr>
              <a:t>(Data):</a:t>
            </a:r>
            <a:r>
              <a:rPr lang="zh-CN" altLang="en-US" sz="2000" dirty="0" smtClean="0"/>
              <a:t>是对客观事物的符号表示。在计算机科学中是指所有能输入到计算机中并被计算机程序处理的符号的总称。</a:t>
            </a:r>
          </a:p>
          <a:p>
            <a:pPr>
              <a:lnSpc>
                <a:spcPct val="105000"/>
              </a:lnSpc>
            </a:pPr>
            <a:r>
              <a:rPr lang="zh-CN" altLang="en-US" sz="2000" dirty="0" smtClean="0">
                <a:solidFill>
                  <a:srgbClr val="FF0000"/>
                </a:solidFill>
              </a:rPr>
              <a:t>数据元素</a:t>
            </a:r>
            <a:r>
              <a:rPr lang="en-US" altLang="zh-CN" sz="2000" dirty="0" smtClean="0">
                <a:solidFill>
                  <a:srgbClr val="FF0000"/>
                </a:solidFill>
              </a:rPr>
              <a:t>(Data Element):</a:t>
            </a:r>
            <a:r>
              <a:rPr lang="zh-CN" altLang="en-US" sz="2000" dirty="0" smtClean="0"/>
              <a:t>数据的基本单位。在计算机程序中通常作为一个整体进行考虑和处理。 一个数据元素可由若干个数据项组成。数据项是数据的不可分割的最小单位</a:t>
            </a:r>
            <a:r>
              <a:rPr lang="zh-CN" altLang="en-US" sz="2000" b="1" dirty="0" smtClean="0"/>
              <a:t>。</a:t>
            </a:r>
          </a:p>
        </p:txBody>
      </p:sp>
      <p:graphicFrame>
        <p:nvGraphicFramePr>
          <p:cNvPr id="272387" name="Object 2"/>
          <p:cNvGraphicFramePr>
            <a:graphicFrameLocks noChangeAspect="1"/>
          </p:cNvGraphicFramePr>
          <p:nvPr/>
        </p:nvGraphicFramePr>
        <p:xfrm>
          <a:off x="1060450" y="4303713"/>
          <a:ext cx="6680200" cy="2057400"/>
        </p:xfrm>
        <a:graphic>
          <a:graphicData uri="http://schemas.openxmlformats.org/presentationml/2006/ole">
            <mc:AlternateContent xmlns:mc="http://schemas.openxmlformats.org/markup-compatibility/2006">
              <mc:Choice xmlns:v="urn:schemas-microsoft-com:vml" Requires="v">
                <p:oleObj spid="_x0000_s23562" name="Document" r:id="rId6" imgW="7337182" imgH="2207697" progId="Word.Document.8">
                  <p:embed/>
                </p:oleObj>
              </mc:Choice>
              <mc:Fallback>
                <p:oleObj name="Document" r:id="rId6" imgW="7337182" imgH="2207697" progId="Word.Document.8">
                  <p:embed/>
                  <p:pic>
                    <p:nvPicPr>
                      <p:cNvPr id="272387" name="Objec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60450" y="4303713"/>
                        <a:ext cx="6680200" cy="205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2388" name="Rectangle 4"/>
          <p:cNvSpPr>
            <a:spLocks noChangeArrowheads="1"/>
          </p:cNvSpPr>
          <p:nvPr/>
        </p:nvSpPr>
        <p:spPr bwMode="auto">
          <a:xfrm>
            <a:off x="1042988" y="4292600"/>
            <a:ext cx="5845175" cy="395288"/>
          </a:xfrm>
          <a:prstGeom prst="rect">
            <a:avLst/>
          </a:prstGeom>
          <a:noFill/>
          <a:ln w="38100">
            <a:solidFill>
              <a:srgbClr val="FF99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72389" name="Line 5"/>
          <p:cNvSpPr>
            <a:spLocks noChangeShapeType="1"/>
          </p:cNvSpPr>
          <p:nvPr/>
        </p:nvSpPr>
        <p:spPr bwMode="auto">
          <a:xfrm flipV="1">
            <a:off x="6913563" y="3983038"/>
            <a:ext cx="530225" cy="322262"/>
          </a:xfrm>
          <a:prstGeom prst="line">
            <a:avLst/>
          </a:prstGeom>
          <a:noFill/>
          <a:ln w="38100">
            <a:solidFill>
              <a:srgbClr val="FFFF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2390" name="Text Box 6"/>
          <p:cNvSpPr txBox="1">
            <a:spLocks noChangeArrowheads="1"/>
          </p:cNvSpPr>
          <p:nvPr/>
        </p:nvSpPr>
        <p:spPr bwMode="auto">
          <a:xfrm>
            <a:off x="6711950" y="3411538"/>
            <a:ext cx="16065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solidFill>
                  <a:schemeClr val="bg1"/>
                </a:solidFill>
              </a:rPr>
              <a:t>数据元素</a:t>
            </a:r>
          </a:p>
        </p:txBody>
      </p:sp>
      <p:sp>
        <p:nvSpPr>
          <p:cNvPr id="272391" name="Rectangle 7"/>
          <p:cNvSpPr>
            <a:spLocks noChangeArrowheads="1"/>
          </p:cNvSpPr>
          <p:nvPr/>
        </p:nvSpPr>
        <p:spPr bwMode="auto">
          <a:xfrm>
            <a:off x="2514600" y="4316413"/>
            <a:ext cx="1457325" cy="1668462"/>
          </a:xfrm>
          <a:prstGeom prst="rect">
            <a:avLst/>
          </a:prstGeom>
          <a:noFill/>
          <a:ln w="38100">
            <a:solidFill>
              <a:srgbClr val="00FF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72392" name="Line 8"/>
          <p:cNvSpPr>
            <a:spLocks noChangeShapeType="1"/>
          </p:cNvSpPr>
          <p:nvPr/>
        </p:nvSpPr>
        <p:spPr bwMode="auto">
          <a:xfrm flipV="1">
            <a:off x="3255963" y="3959225"/>
            <a:ext cx="530225" cy="322263"/>
          </a:xfrm>
          <a:prstGeom prst="line">
            <a:avLst/>
          </a:prstGeom>
          <a:noFill/>
          <a:ln w="38100">
            <a:solidFill>
              <a:srgbClr val="FFFF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2393" name="Text Box 9"/>
          <p:cNvSpPr txBox="1">
            <a:spLocks noChangeArrowheads="1"/>
          </p:cNvSpPr>
          <p:nvPr/>
        </p:nvSpPr>
        <p:spPr bwMode="auto">
          <a:xfrm>
            <a:off x="3756025" y="3651250"/>
            <a:ext cx="11858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solidFill>
                  <a:schemeClr val="bg1"/>
                </a:solidFill>
              </a:rPr>
              <a:t>数据项</a:t>
            </a:r>
          </a:p>
        </p:txBody>
      </p:sp>
      <p:sp>
        <p:nvSpPr>
          <p:cNvPr id="2059" name="Rectangle 10"/>
          <p:cNvSpPr>
            <a:spLocks noGrp="1" noChangeArrowheads="1"/>
          </p:cNvSpPr>
          <p:nvPr>
            <p:ph type="title"/>
          </p:nvPr>
        </p:nvSpPr>
        <p:spPr>
          <a:xfrm>
            <a:off x="899592" y="332656"/>
            <a:ext cx="7772400" cy="720725"/>
          </a:xfrm>
        </p:spPr>
        <p:txBody>
          <a:bodyPr/>
          <a:lstStyle/>
          <a:p>
            <a:r>
              <a:rPr lang="en-US" altLang="zh-CN" dirty="0" smtClean="0"/>
              <a:t> 1.4.1 </a:t>
            </a:r>
            <a:r>
              <a:rPr lang="zh-CN" altLang="en-US" dirty="0" smtClean="0"/>
              <a:t>基本概念和术语</a:t>
            </a:r>
          </a:p>
        </p:txBody>
      </p:sp>
      <p:sp>
        <p:nvSpPr>
          <p:cNvPr id="2060"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Tree>
    <p:extLst>
      <p:ext uri="{BB962C8B-B14F-4D97-AF65-F5344CB8AC3E}">
        <p14:creationId xmlns:p14="http://schemas.microsoft.com/office/powerpoint/2010/main" val="944130215"/>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72386">
                                            <p:txEl>
                                              <p:pRg st="0" end="0"/>
                                            </p:txEl>
                                          </p:spTgt>
                                        </p:tgtEl>
                                        <p:attrNameLst>
                                          <p:attrName>style.visibility</p:attrName>
                                        </p:attrNameLst>
                                      </p:cBhvr>
                                      <p:to>
                                        <p:strVal val="visible"/>
                                      </p:to>
                                    </p:set>
                                    <p:anim calcmode="lin" valueType="num">
                                      <p:cBhvr additive="base">
                                        <p:cTn id="7" dur="500" fill="hold"/>
                                        <p:tgtEl>
                                          <p:spTgt spid="27238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72386">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72386">
                                            <p:txEl>
                                              <p:pRg st="1" end="1"/>
                                            </p:txEl>
                                          </p:spTgt>
                                        </p:tgtEl>
                                        <p:attrNameLst>
                                          <p:attrName>style.visibility</p:attrName>
                                        </p:attrNameLst>
                                      </p:cBhvr>
                                      <p:to>
                                        <p:strVal val="visible"/>
                                      </p:to>
                                    </p:set>
                                    <p:anim calcmode="lin" valueType="num">
                                      <p:cBhvr additive="base">
                                        <p:cTn id="13" dur="500" fill="hold"/>
                                        <p:tgtEl>
                                          <p:spTgt spid="272386">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72386">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3" presetClass="entr" presetSubtype="16" fill="hold" nodeType="clickEffect">
                                  <p:stCondLst>
                                    <p:cond delay="0"/>
                                  </p:stCondLst>
                                  <p:childTnLst>
                                    <p:set>
                                      <p:cBhvr>
                                        <p:cTn id="18" dur="1" fill="hold">
                                          <p:stCondLst>
                                            <p:cond delay="0"/>
                                          </p:stCondLst>
                                        </p:cTn>
                                        <p:tgtEl>
                                          <p:spTgt spid="272387"/>
                                        </p:tgtEl>
                                        <p:attrNameLst>
                                          <p:attrName>style.visibility</p:attrName>
                                        </p:attrNameLst>
                                      </p:cBhvr>
                                      <p:to>
                                        <p:strVal val="visible"/>
                                      </p:to>
                                    </p:set>
                                    <p:anim calcmode="lin" valueType="num">
                                      <p:cBhvr>
                                        <p:cTn id="19" dur="500" fill="hold"/>
                                        <p:tgtEl>
                                          <p:spTgt spid="272387"/>
                                        </p:tgtEl>
                                        <p:attrNameLst>
                                          <p:attrName>ppt_w</p:attrName>
                                        </p:attrNameLst>
                                      </p:cBhvr>
                                      <p:tavLst>
                                        <p:tav tm="0">
                                          <p:val>
                                            <p:fltVal val="0"/>
                                          </p:val>
                                        </p:tav>
                                        <p:tav tm="100000">
                                          <p:val>
                                            <p:strVal val="#ppt_w"/>
                                          </p:val>
                                        </p:tav>
                                      </p:tavLst>
                                    </p:anim>
                                    <p:anim calcmode="lin" valueType="num">
                                      <p:cBhvr>
                                        <p:cTn id="20" dur="500" fill="hold"/>
                                        <p:tgtEl>
                                          <p:spTgt spid="272387"/>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17"/>
                                            </p:cond>
                                          </p:stCondLst>
                                          <p:endCondLst>
                                            <p:cond evt="onStopAudio" delay="0">
                                              <p:tgtEl>
                                                <p:sldTgt/>
                                              </p:tgtEl>
                                            </p:cond>
                                          </p:endCondLst>
                                        </p:cTn>
                                        <p:tgtEl>
                                          <p:sndTgt r:embed="rId4" name="chimes.wav"/>
                                        </p:tgtEl>
                                      </p:cMediaNode>
                                    </p:audio>
                                  </p:subTnLst>
                                </p:cTn>
                              </p:par>
                            </p:childTnLst>
                          </p:cTn>
                        </p:par>
                      </p:childTnLst>
                    </p:cTn>
                  </p:par>
                  <p:par>
                    <p:cTn id="21" fill="hold" nodeType="clickPar">
                      <p:stCondLst>
                        <p:cond delay="indefinite"/>
                      </p:stCondLst>
                      <p:childTnLst>
                        <p:par>
                          <p:cTn id="22" fill="hold" nodeType="withGroup">
                            <p:stCondLst>
                              <p:cond delay="0"/>
                            </p:stCondLst>
                            <p:childTnLst>
                              <p:par>
                                <p:cTn id="23" presetID="16" presetClass="entr" presetSubtype="26" fill="hold" grpId="0" nodeType="clickEffect">
                                  <p:stCondLst>
                                    <p:cond delay="0"/>
                                  </p:stCondLst>
                                  <p:childTnLst>
                                    <p:set>
                                      <p:cBhvr>
                                        <p:cTn id="24" dur="1" fill="hold">
                                          <p:stCondLst>
                                            <p:cond delay="0"/>
                                          </p:stCondLst>
                                        </p:cTn>
                                        <p:tgtEl>
                                          <p:spTgt spid="272388"/>
                                        </p:tgtEl>
                                        <p:attrNameLst>
                                          <p:attrName>style.visibility</p:attrName>
                                        </p:attrNameLst>
                                      </p:cBhvr>
                                      <p:to>
                                        <p:strVal val="visible"/>
                                      </p:to>
                                    </p:set>
                                    <p:animEffect transition="in" filter="barn(inHorizontal)">
                                      <p:cBhvr>
                                        <p:cTn id="25" dur="500"/>
                                        <p:tgtEl>
                                          <p:spTgt spid="272388"/>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272389"/>
                                        </p:tgtEl>
                                        <p:attrNameLst>
                                          <p:attrName>style.visibility</p:attrName>
                                        </p:attrNameLst>
                                      </p:cBhvr>
                                      <p:to>
                                        <p:strVal val="visible"/>
                                      </p:to>
                                    </p:set>
                                    <p:animEffect transition="in" filter="wipe(left)">
                                      <p:cBhvr>
                                        <p:cTn id="30" dur="500"/>
                                        <p:tgtEl>
                                          <p:spTgt spid="272389"/>
                                        </p:tgtEl>
                                      </p:cBhvr>
                                    </p:animEffect>
                                  </p:childTnLst>
                                  <p:subTnLst>
                                    <p:audio>
                                      <p:cMediaNode>
                                        <p:cTn display="0" masterRel="sameClick">
                                          <p:stCondLst>
                                            <p:cond evt="begin" delay="0">
                                              <p:tn val="28"/>
                                            </p:cond>
                                          </p:stCondLst>
                                          <p:endCondLst>
                                            <p:cond evt="onStopAudio" delay="0">
                                              <p:tgtEl>
                                                <p:sldTgt/>
                                              </p:tgtEl>
                                            </p:cond>
                                          </p:endCondLst>
                                        </p:cTn>
                                        <p:tgtEl>
                                          <p:sndTgt r:embed="rId5" name="WHOOSH.WAV"/>
                                        </p:tgtEl>
                                      </p:cMediaNode>
                                    </p:audio>
                                  </p:subTnLst>
                                </p:cTn>
                              </p:par>
                            </p:childTnLst>
                          </p:cTn>
                        </p:par>
                      </p:childTnLst>
                    </p:cTn>
                  </p:par>
                  <p:par>
                    <p:cTn id="31" fill="hold" nodeType="clickPar">
                      <p:stCondLst>
                        <p:cond delay="indefinite"/>
                      </p:stCondLst>
                      <p:childTnLst>
                        <p:par>
                          <p:cTn id="32" fill="hold" nodeType="withGroup">
                            <p:stCondLst>
                              <p:cond delay="0"/>
                            </p:stCondLst>
                            <p:childTnLst>
                              <p:par>
                                <p:cTn id="33" presetID="23" presetClass="entr" presetSubtype="16" fill="hold" grpId="0" nodeType="clickEffect">
                                  <p:stCondLst>
                                    <p:cond delay="0"/>
                                  </p:stCondLst>
                                  <p:childTnLst>
                                    <p:set>
                                      <p:cBhvr>
                                        <p:cTn id="34" dur="1" fill="hold">
                                          <p:stCondLst>
                                            <p:cond delay="0"/>
                                          </p:stCondLst>
                                        </p:cTn>
                                        <p:tgtEl>
                                          <p:spTgt spid="272390"/>
                                        </p:tgtEl>
                                        <p:attrNameLst>
                                          <p:attrName>style.visibility</p:attrName>
                                        </p:attrNameLst>
                                      </p:cBhvr>
                                      <p:to>
                                        <p:strVal val="visible"/>
                                      </p:to>
                                    </p:set>
                                    <p:anim calcmode="lin" valueType="num">
                                      <p:cBhvr>
                                        <p:cTn id="35" dur="500" fill="hold"/>
                                        <p:tgtEl>
                                          <p:spTgt spid="272390"/>
                                        </p:tgtEl>
                                        <p:attrNameLst>
                                          <p:attrName>ppt_w</p:attrName>
                                        </p:attrNameLst>
                                      </p:cBhvr>
                                      <p:tavLst>
                                        <p:tav tm="0">
                                          <p:val>
                                            <p:fltVal val="0"/>
                                          </p:val>
                                        </p:tav>
                                        <p:tav tm="100000">
                                          <p:val>
                                            <p:strVal val="#ppt_w"/>
                                          </p:val>
                                        </p:tav>
                                      </p:tavLst>
                                    </p:anim>
                                    <p:anim calcmode="lin" valueType="num">
                                      <p:cBhvr>
                                        <p:cTn id="36" dur="500" fill="hold"/>
                                        <p:tgtEl>
                                          <p:spTgt spid="272390"/>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33"/>
                                            </p:cond>
                                          </p:stCondLst>
                                          <p:endCondLst>
                                            <p:cond evt="onStopAudio" delay="0">
                                              <p:tgtEl>
                                                <p:sldTgt/>
                                              </p:tgtEl>
                                            </p:cond>
                                          </p:endCondLst>
                                        </p:cTn>
                                        <p:tgtEl>
                                          <p:sndTgt r:embed="rId4" name="chimes.wav"/>
                                        </p:tgtEl>
                                      </p:cMediaNode>
                                    </p:audio>
                                  </p:subTnLst>
                                </p:cTn>
                              </p:par>
                            </p:childTnLst>
                          </p:cTn>
                        </p:par>
                      </p:childTnLst>
                    </p:cTn>
                  </p:par>
                  <p:par>
                    <p:cTn id="37" fill="hold" nodeType="clickPar">
                      <p:stCondLst>
                        <p:cond delay="indefinite"/>
                      </p:stCondLst>
                      <p:childTnLst>
                        <p:par>
                          <p:cTn id="38" fill="hold" nodeType="withGroup">
                            <p:stCondLst>
                              <p:cond delay="0"/>
                            </p:stCondLst>
                            <p:childTnLst>
                              <p:par>
                                <p:cTn id="39" presetID="16" presetClass="entr" presetSubtype="26" fill="hold" grpId="0" nodeType="clickEffect">
                                  <p:stCondLst>
                                    <p:cond delay="0"/>
                                  </p:stCondLst>
                                  <p:childTnLst>
                                    <p:set>
                                      <p:cBhvr>
                                        <p:cTn id="40" dur="1" fill="hold">
                                          <p:stCondLst>
                                            <p:cond delay="0"/>
                                          </p:stCondLst>
                                        </p:cTn>
                                        <p:tgtEl>
                                          <p:spTgt spid="272391"/>
                                        </p:tgtEl>
                                        <p:attrNameLst>
                                          <p:attrName>style.visibility</p:attrName>
                                        </p:attrNameLst>
                                      </p:cBhvr>
                                      <p:to>
                                        <p:strVal val="visible"/>
                                      </p:to>
                                    </p:set>
                                    <p:animEffect transition="in" filter="barn(inHorizontal)">
                                      <p:cBhvr>
                                        <p:cTn id="41" dur="500"/>
                                        <p:tgtEl>
                                          <p:spTgt spid="272391"/>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272392"/>
                                        </p:tgtEl>
                                        <p:attrNameLst>
                                          <p:attrName>style.visibility</p:attrName>
                                        </p:attrNameLst>
                                      </p:cBhvr>
                                      <p:to>
                                        <p:strVal val="visible"/>
                                      </p:to>
                                    </p:set>
                                    <p:animEffect transition="in" filter="wipe(left)">
                                      <p:cBhvr>
                                        <p:cTn id="46" dur="500"/>
                                        <p:tgtEl>
                                          <p:spTgt spid="272392"/>
                                        </p:tgtEl>
                                      </p:cBhvr>
                                    </p:animEffect>
                                  </p:childTnLst>
                                  <p:subTnLst>
                                    <p:audio>
                                      <p:cMediaNode>
                                        <p:cTn display="0" masterRel="sameClick">
                                          <p:stCondLst>
                                            <p:cond evt="begin" delay="0">
                                              <p:tn val="44"/>
                                            </p:cond>
                                          </p:stCondLst>
                                          <p:endCondLst>
                                            <p:cond evt="onStopAudio" delay="0">
                                              <p:tgtEl>
                                                <p:sldTgt/>
                                              </p:tgtEl>
                                            </p:cond>
                                          </p:endCondLst>
                                        </p:cTn>
                                        <p:tgtEl>
                                          <p:sndTgt r:embed="rId5" name="WHOOSH.WAV"/>
                                        </p:tgtEl>
                                      </p:cMediaNode>
                                    </p:audio>
                                  </p:subTnLst>
                                </p:cTn>
                              </p:par>
                            </p:childTnLst>
                          </p:cTn>
                        </p:par>
                      </p:childTnLst>
                    </p:cTn>
                  </p:par>
                  <p:par>
                    <p:cTn id="47" fill="hold" nodeType="clickPar">
                      <p:stCondLst>
                        <p:cond delay="indefinite"/>
                      </p:stCondLst>
                      <p:childTnLst>
                        <p:par>
                          <p:cTn id="48" fill="hold" nodeType="withGroup">
                            <p:stCondLst>
                              <p:cond delay="0"/>
                            </p:stCondLst>
                            <p:childTnLst>
                              <p:par>
                                <p:cTn id="49" presetID="23" presetClass="entr" presetSubtype="16" fill="hold" grpId="0" nodeType="clickEffect">
                                  <p:stCondLst>
                                    <p:cond delay="0"/>
                                  </p:stCondLst>
                                  <p:childTnLst>
                                    <p:set>
                                      <p:cBhvr>
                                        <p:cTn id="50" dur="1" fill="hold">
                                          <p:stCondLst>
                                            <p:cond delay="0"/>
                                          </p:stCondLst>
                                        </p:cTn>
                                        <p:tgtEl>
                                          <p:spTgt spid="272393"/>
                                        </p:tgtEl>
                                        <p:attrNameLst>
                                          <p:attrName>style.visibility</p:attrName>
                                        </p:attrNameLst>
                                      </p:cBhvr>
                                      <p:to>
                                        <p:strVal val="visible"/>
                                      </p:to>
                                    </p:set>
                                    <p:anim calcmode="lin" valueType="num">
                                      <p:cBhvr>
                                        <p:cTn id="51" dur="500" fill="hold"/>
                                        <p:tgtEl>
                                          <p:spTgt spid="272393"/>
                                        </p:tgtEl>
                                        <p:attrNameLst>
                                          <p:attrName>ppt_w</p:attrName>
                                        </p:attrNameLst>
                                      </p:cBhvr>
                                      <p:tavLst>
                                        <p:tav tm="0">
                                          <p:val>
                                            <p:fltVal val="0"/>
                                          </p:val>
                                        </p:tav>
                                        <p:tav tm="100000">
                                          <p:val>
                                            <p:strVal val="#ppt_w"/>
                                          </p:val>
                                        </p:tav>
                                      </p:tavLst>
                                    </p:anim>
                                    <p:anim calcmode="lin" valueType="num">
                                      <p:cBhvr>
                                        <p:cTn id="52" dur="500" fill="hold"/>
                                        <p:tgtEl>
                                          <p:spTgt spid="272393"/>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49"/>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2386" grpId="0" build="p" bldLvl="5" autoUpdateAnimBg="0"/>
      <p:bldP spid="272388" grpId="0" animBg="1"/>
      <p:bldP spid="272390" grpId="0"/>
      <p:bldP spid="272391" grpId="0" animBg="1"/>
      <p:bldP spid="272393" grpId="0"/>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body" idx="1"/>
          </p:nvPr>
        </p:nvSpPr>
        <p:spPr>
          <a:xfrm>
            <a:off x="764541" y="1255424"/>
            <a:ext cx="7907451" cy="1998499"/>
          </a:xfrm>
        </p:spPr>
        <p:txBody>
          <a:bodyPr/>
          <a:lstStyle/>
          <a:p>
            <a:pPr indent="-180000">
              <a:lnSpc>
                <a:spcPct val="110000"/>
              </a:lnSpc>
            </a:pPr>
            <a:r>
              <a:rPr lang="zh-CN" altLang="en-US" sz="2000" dirty="0" smtClean="0">
                <a:solidFill>
                  <a:srgbClr val="FF0000"/>
                </a:solidFill>
              </a:rPr>
              <a:t>数据对象</a:t>
            </a:r>
            <a:r>
              <a:rPr lang="en-US" altLang="zh-CN" sz="2000" dirty="0" smtClean="0">
                <a:solidFill>
                  <a:srgbClr val="FF0000"/>
                </a:solidFill>
              </a:rPr>
              <a:t>(Data Object)</a:t>
            </a:r>
            <a:r>
              <a:rPr lang="zh-CN" altLang="en-US" sz="2000" dirty="0" smtClean="0"/>
              <a:t>：是性质相同的数据元素的集合。是数据的一个子集。</a:t>
            </a:r>
          </a:p>
          <a:p>
            <a:pPr indent="-180000">
              <a:lnSpc>
                <a:spcPct val="110000"/>
              </a:lnSpc>
            </a:pPr>
            <a:r>
              <a:rPr lang="zh-CN" altLang="en-US" sz="2000" dirty="0" smtClean="0">
                <a:solidFill>
                  <a:srgbClr val="FF0000"/>
                </a:solidFill>
              </a:rPr>
              <a:t>数据结构</a:t>
            </a:r>
            <a:r>
              <a:rPr lang="en-US" altLang="zh-CN" sz="2000" dirty="0" smtClean="0">
                <a:solidFill>
                  <a:srgbClr val="FF0000"/>
                </a:solidFill>
              </a:rPr>
              <a:t>(Data Structure)</a:t>
            </a:r>
            <a:r>
              <a:rPr lang="zh-CN" altLang="en-US" sz="2000" dirty="0" smtClean="0"/>
              <a:t>：是相互之间存在一种或多种特定关系的数据元素的集合。</a:t>
            </a:r>
            <a:endParaRPr lang="en-US" altLang="zh-CN" sz="2000" dirty="0" smtClean="0"/>
          </a:p>
          <a:p>
            <a:pPr indent="-180000">
              <a:lnSpc>
                <a:spcPct val="110000"/>
              </a:lnSpc>
              <a:buFontTx/>
              <a:buNone/>
            </a:pPr>
            <a:r>
              <a:rPr lang="en-US" altLang="zh-CN" sz="2000" dirty="0" smtClean="0"/>
              <a:t>     </a:t>
            </a:r>
            <a:r>
              <a:rPr lang="zh-CN" altLang="en-US" sz="2000" dirty="0" smtClean="0"/>
              <a:t>数据结构包括逻辑结构、物理结构和施加在数据上的运算。</a:t>
            </a:r>
          </a:p>
        </p:txBody>
      </p:sp>
      <p:grpSp>
        <p:nvGrpSpPr>
          <p:cNvPr id="2" name="Group 3"/>
          <p:cNvGrpSpPr>
            <a:grpSpLocks/>
          </p:cNvGrpSpPr>
          <p:nvPr/>
        </p:nvGrpSpPr>
        <p:grpSpPr bwMode="auto">
          <a:xfrm>
            <a:off x="915541" y="3253923"/>
            <a:ext cx="8059737" cy="1948461"/>
            <a:chOff x="192" y="1700"/>
            <a:chExt cx="5376" cy="2325"/>
          </a:xfrm>
        </p:grpSpPr>
        <p:sp>
          <p:nvSpPr>
            <p:cNvPr id="41989" name="Text Box 4"/>
            <p:cNvSpPr txBox="1">
              <a:spLocks noChangeArrowheads="1"/>
            </p:cNvSpPr>
            <p:nvPr/>
          </p:nvSpPr>
          <p:spPr bwMode="auto">
            <a:xfrm>
              <a:off x="518" y="2047"/>
              <a:ext cx="3378" cy="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dirty="0">
                  <a:solidFill>
                    <a:schemeClr val="accent2"/>
                  </a:solidFill>
                  <a:latin typeface="+mn-lt"/>
                  <a:ea typeface="+mn-ea"/>
                </a:rPr>
                <a:t>3214,6587,9345 ─ </a:t>
              </a:r>
              <a:r>
                <a:rPr lang="en-US" altLang="zh-CN" sz="2000" dirty="0" err="1">
                  <a:solidFill>
                    <a:schemeClr val="accent2"/>
                  </a:solidFill>
                  <a:latin typeface="+mn-lt"/>
                  <a:ea typeface="+mn-ea"/>
                </a:rPr>
                <a:t>a1</a:t>
              </a:r>
              <a:r>
                <a:rPr lang="en-US" altLang="zh-CN" sz="2000" dirty="0">
                  <a:solidFill>
                    <a:schemeClr val="accent2"/>
                  </a:solidFill>
                  <a:latin typeface="+mn-lt"/>
                  <a:ea typeface="+mn-ea"/>
                </a:rPr>
                <a:t>(3214),</a:t>
              </a:r>
              <a:r>
                <a:rPr lang="en-US" altLang="zh-CN" sz="2000" dirty="0" err="1">
                  <a:solidFill>
                    <a:schemeClr val="accent2"/>
                  </a:solidFill>
                  <a:latin typeface="+mn-lt"/>
                  <a:ea typeface="+mn-ea"/>
                </a:rPr>
                <a:t>a2</a:t>
              </a:r>
              <a:r>
                <a:rPr lang="en-US" altLang="zh-CN" sz="2000" dirty="0">
                  <a:solidFill>
                    <a:schemeClr val="accent2"/>
                  </a:solidFill>
                  <a:latin typeface="+mn-lt"/>
                  <a:ea typeface="+mn-ea"/>
                </a:rPr>
                <a:t>(6587),</a:t>
              </a:r>
              <a:r>
                <a:rPr lang="en-US" altLang="zh-CN" sz="2000" dirty="0" err="1">
                  <a:solidFill>
                    <a:schemeClr val="accent2"/>
                  </a:solidFill>
                  <a:latin typeface="+mn-lt"/>
                  <a:ea typeface="+mn-ea"/>
                </a:rPr>
                <a:t>a3</a:t>
              </a:r>
              <a:r>
                <a:rPr lang="en-US" altLang="zh-CN" sz="2000" dirty="0">
                  <a:solidFill>
                    <a:schemeClr val="accent2"/>
                  </a:solidFill>
                  <a:latin typeface="+mn-lt"/>
                  <a:ea typeface="+mn-ea"/>
                </a:rPr>
                <a:t>(9345)</a:t>
              </a:r>
            </a:p>
          </p:txBody>
        </p:sp>
        <p:sp>
          <p:nvSpPr>
            <p:cNvPr id="41990" name="Text Box 5"/>
            <p:cNvSpPr txBox="1">
              <a:spLocks noChangeArrowheads="1"/>
            </p:cNvSpPr>
            <p:nvPr/>
          </p:nvSpPr>
          <p:spPr bwMode="auto">
            <a:xfrm>
              <a:off x="241" y="2448"/>
              <a:ext cx="5327" cy="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lang="zh-CN" altLang="en-US" sz="2000" dirty="0">
                  <a:solidFill>
                    <a:schemeClr val="accent2"/>
                  </a:solidFill>
                  <a:latin typeface="+mn-lt"/>
                  <a:ea typeface="+mn-ea"/>
                </a:rPr>
                <a:t>则在数据元素 </a:t>
              </a:r>
              <a:r>
                <a:rPr lang="en-US" altLang="zh-CN" sz="2000" dirty="0" err="1">
                  <a:solidFill>
                    <a:schemeClr val="accent2"/>
                  </a:solidFill>
                  <a:latin typeface="+mn-lt"/>
                  <a:ea typeface="+mn-ea"/>
                </a:rPr>
                <a:t>a1</a:t>
              </a:r>
              <a:r>
                <a:rPr lang="zh-CN" altLang="en-US" sz="2000" dirty="0">
                  <a:solidFill>
                    <a:schemeClr val="accent2"/>
                  </a:solidFill>
                  <a:latin typeface="+mn-lt"/>
                  <a:ea typeface="+mn-ea"/>
                </a:rPr>
                <a:t>、</a:t>
              </a:r>
              <a:r>
                <a:rPr lang="en-US" altLang="zh-CN" sz="2000" dirty="0" err="1">
                  <a:solidFill>
                    <a:schemeClr val="accent2"/>
                  </a:solidFill>
                  <a:latin typeface="+mn-lt"/>
                  <a:ea typeface="+mn-ea"/>
                </a:rPr>
                <a:t>a2</a:t>
              </a:r>
              <a:r>
                <a:rPr lang="en-US" altLang="zh-CN" sz="2000" dirty="0">
                  <a:solidFill>
                    <a:schemeClr val="accent2"/>
                  </a:solidFill>
                  <a:latin typeface="+mn-lt"/>
                  <a:ea typeface="+mn-ea"/>
                </a:rPr>
                <a:t> </a:t>
              </a:r>
              <a:r>
                <a:rPr lang="zh-CN" altLang="en-US" sz="2000" dirty="0">
                  <a:solidFill>
                    <a:schemeClr val="accent2"/>
                  </a:solidFill>
                  <a:latin typeface="+mn-lt"/>
                  <a:ea typeface="+mn-ea"/>
                </a:rPr>
                <a:t>和 </a:t>
              </a:r>
              <a:r>
                <a:rPr lang="en-US" altLang="zh-CN" sz="2000" dirty="0" err="1">
                  <a:solidFill>
                    <a:schemeClr val="accent2"/>
                  </a:solidFill>
                  <a:latin typeface="+mn-lt"/>
                  <a:ea typeface="+mn-ea"/>
                </a:rPr>
                <a:t>a3</a:t>
              </a:r>
              <a:r>
                <a:rPr lang="en-US" altLang="zh-CN" sz="2000" dirty="0">
                  <a:solidFill>
                    <a:schemeClr val="accent2"/>
                  </a:solidFill>
                  <a:latin typeface="+mn-lt"/>
                  <a:ea typeface="+mn-ea"/>
                </a:rPr>
                <a:t> </a:t>
              </a:r>
              <a:r>
                <a:rPr lang="zh-CN" altLang="en-US" sz="2000" dirty="0">
                  <a:solidFill>
                    <a:schemeClr val="accent2"/>
                  </a:solidFill>
                  <a:latin typeface="+mn-lt"/>
                  <a:ea typeface="+mn-ea"/>
                </a:rPr>
                <a:t>之间存在着“次序”关系 </a:t>
              </a:r>
              <a:r>
                <a:rPr lang="zh-CN" altLang="en-US" sz="2000" dirty="0">
                  <a:solidFill>
                    <a:schemeClr val="accent2"/>
                  </a:solidFill>
                  <a:latin typeface="+mn-lt"/>
                  <a:ea typeface="+mn-ea"/>
                  <a:sym typeface="Symbol" panose="05050102010706020507" pitchFamily="18" charset="2"/>
                </a:rPr>
                <a:t></a:t>
              </a:r>
              <a:r>
                <a:rPr lang="en-US" altLang="zh-CN" sz="2000" dirty="0" err="1">
                  <a:solidFill>
                    <a:schemeClr val="accent2"/>
                  </a:solidFill>
                  <a:latin typeface="+mn-lt"/>
                  <a:ea typeface="+mn-ea"/>
                </a:rPr>
                <a:t>a1,a2</a:t>
              </a:r>
              <a:r>
                <a:rPr lang="en-US" altLang="zh-CN" sz="2000" dirty="0">
                  <a:solidFill>
                    <a:schemeClr val="accent2"/>
                  </a:solidFill>
                  <a:latin typeface="+mn-lt"/>
                  <a:ea typeface="+mn-ea"/>
                  <a:sym typeface="Symbol" panose="05050102010706020507" pitchFamily="18" charset="2"/>
                </a:rPr>
                <a:t></a:t>
              </a:r>
              <a:r>
                <a:rPr lang="zh-CN" altLang="en-US" sz="2000" dirty="0">
                  <a:solidFill>
                    <a:schemeClr val="accent2"/>
                  </a:solidFill>
                  <a:latin typeface="+mn-lt"/>
                  <a:ea typeface="+mn-ea"/>
                </a:rPr>
                <a:t>、</a:t>
              </a:r>
              <a:r>
                <a:rPr lang="zh-CN" altLang="en-US" sz="2000" dirty="0">
                  <a:solidFill>
                    <a:schemeClr val="accent2"/>
                  </a:solidFill>
                  <a:latin typeface="+mn-lt"/>
                  <a:ea typeface="+mn-ea"/>
                  <a:sym typeface="Symbol" panose="05050102010706020507" pitchFamily="18" charset="2"/>
                </a:rPr>
                <a:t></a:t>
              </a:r>
              <a:r>
                <a:rPr lang="en-US" altLang="zh-CN" sz="2000" dirty="0" err="1">
                  <a:solidFill>
                    <a:schemeClr val="accent2"/>
                  </a:solidFill>
                  <a:latin typeface="+mn-lt"/>
                  <a:ea typeface="+mn-ea"/>
                </a:rPr>
                <a:t>a2,a3</a:t>
              </a:r>
              <a:r>
                <a:rPr lang="en-US" altLang="zh-CN" sz="2000" dirty="0">
                  <a:solidFill>
                    <a:schemeClr val="accent2"/>
                  </a:solidFill>
                  <a:latin typeface="+mn-lt"/>
                  <a:ea typeface="+mn-ea"/>
                  <a:sym typeface="Symbol" panose="05050102010706020507" pitchFamily="18" charset="2"/>
                </a:rPr>
                <a:t></a:t>
              </a:r>
            </a:p>
          </p:txBody>
        </p:sp>
        <p:sp>
          <p:nvSpPr>
            <p:cNvPr id="41991" name="Text Box 6"/>
            <p:cNvSpPr txBox="1">
              <a:spLocks noChangeArrowheads="1"/>
            </p:cNvSpPr>
            <p:nvPr/>
          </p:nvSpPr>
          <p:spPr bwMode="auto">
            <a:xfrm>
              <a:off x="682" y="3125"/>
              <a:ext cx="1535" cy="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dirty="0">
                  <a:solidFill>
                    <a:schemeClr val="accent2"/>
                  </a:solidFill>
                  <a:latin typeface="+mn-lt"/>
                  <a:ea typeface="+mn-ea"/>
                </a:rPr>
                <a:t>3214</a:t>
              </a:r>
              <a:r>
                <a:rPr lang="zh-CN" altLang="en-US" sz="2000" dirty="0">
                  <a:solidFill>
                    <a:schemeClr val="accent2"/>
                  </a:solidFill>
                  <a:latin typeface="+mn-lt"/>
                  <a:ea typeface="+mn-ea"/>
                </a:rPr>
                <a:t>，</a:t>
              </a:r>
              <a:r>
                <a:rPr lang="en-US" altLang="zh-CN" sz="2000" dirty="0">
                  <a:solidFill>
                    <a:schemeClr val="accent2"/>
                  </a:solidFill>
                  <a:latin typeface="+mn-lt"/>
                  <a:ea typeface="+mn-ea"/>
                </a:rPr>
                <a:t>6587</a:t>
              </a:r>
              <a:r>
                <a:rPr lang="zh-CN" altLang="en-US" sz="2000" dirty="0">
                  <a:solidFill>
                    <a:schemeClr val="accent2"/>
                  </a:solidFill>
                  <a:latin typeface="+mn-lt"/>
                  <a:ea typeface="+mn-ea"/>
                </a:rPr>
                <a:t>，</a:t>
              </a:r>
              <a:r>
                <a:rPr lang="en-US" altLang="zh-CN" sz="2000" dirty="0">
                  <a:solidFill>
                    <a:schemeClr val="accent2"/>
                  </a:solidFill>
                  <a:latin typeface="+mn-lt"/>
                  <a:ea typeface="+mn-ea"/>
                </a:rPr>
                <a:t>9345 </a:t>
              </a:r>
            </a:p>
            <a:p>
              <a:pPr eaLnBrk="1" hangingPunct="1"/>
              <a:r>
                <a:rPr lang="en-US" altLang="zh-CN" sz="2000" dirty="0">
                  <a:solidFill>
                    <a:schemeClr val="accent2"/>
                  </a:solidFill>
                  <a:latin typeface="+mn-lt"/>
                  <a:ea typeface="+mn-ea"/>
                </a:rPr>
                <a:t>  </a:t>
              </a:r>
              <a:r>
                <a:rPr lang="en-US" altLang="zh-CN" sz="2000" dirty="0" err="1">
                  <a:solidFill>
                    <a:schemeClr val="accent2"/>
                  </a:solidFill>
                  <a:latin typeface="+mn-lt"/>
                  <a:ea typeface="+mn-ea"/>
                </a:rPr>
                <a:t>a1</a:t>
              </a:r>
              <a:r>
                <a:rPr lang="en-US" altLang="zh-CN" sz="2000" dirty="0">
                  <a:solidFill>
                    <a:schemeClr val="accent2"/>
                  </a:solidFill>
                  <a:latin typeface="+mn-lt"/>
                  <a:ea typeface="+mn-ea"/>
                </a:rPr>
                <a:t>         </a:t>
              </a:r>
              <a:r>
                <a:rPr lang="en-US" altLang="zh-CN" sz="2000" dirty="0" err="1">
                  <a:solidFill>
                    <a:schemeClr val="accent2"/>
                  </a:solidFill>
                  <a:latin typeface="+mn-lt"/>
                  <a:ea typeface="+mn-ea"/>
                </a:rPr>
                <a:t>a2</a:t>
              </a:r>
              <a:r>
                <a:rPr lang="en-US" altLang="zh-CN" sz="2000" dirty="0">
                  <a:solidFill>
                    <a:schemeClr val="accent2"/>
                  </a:solidFill>
                  <a:latin typeface="+mn-lt"/>
                  <a:ea typeface="+mn-ea"/>
                </a:rPr>
                <a:t>        </a:t>
              </a:r>
              <a:r>
                <a:rPr lang="en-US" altLang="zh-CN" sz="2000" dirty="0" err="1">
                  <a:solidFill>
                    <a:schemeClr val="accent2"/>
                  </a:solidFill>
                  <a:latin typeface="+mn-lt"/>
                  <a:ea typeface="+mn-ea"/>
                </a:rPr>
                <a:t>a3</a:t>
              </a:r>
              <a:r>
                <a:rPr lang="en-US" altLang="zh-CN" sz="2000" dirty="0">
                  <a:solidFill>
                    <a:schemeClr val="accent2"/>
                  </a:solidFill>
                  <a:latin typeface="+mn-lt"/>
                  <a:ea typeface="+mn-ea"/>
                </a:rPr>
                <a:t> </a:t>
              </a:r>
            </a:p>
          </p:txBody>
        </p:sp>
        <p:sp>
          <p:nvSpPr>
            <p:cNvPr id="41992" name="Text Box 7"/>
            <p:cNvSpPr txBox="1">
              <a:spLocks noChangeArrowheads="1"/>
            </p:cNvSpPr>
            <p:nvPr/>
          </p:nvSpPr>
          <p:spPr bwMode="auto">
            <a:xfrm>
              <a:off x="2476" y="3033"/>
              <a:ext cx="1644" cy="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lang="en-US" altLang="zh-CN" sz="2000" dirty="0">
                  <a:solidFill>
                    <a:schemeClr val="accent2"/>
                  </a:solidFill>
                  <a:latin typeface="+mn-lt"/>
                  <a:ea typeface="+mn-ea"/>
                </a:rPr>
                <a:t>6587</a:t>
              </a:r>
              <a:r>
                <a:rPr lang="zh-CN" altLang="en-US" sz="2000" dirty="0">
                  <a:solidFill>
                    <a:schemeClr val="accent2"/>
                  </a:solidFill>
                  <a:latin typeface="+mn-lt"/>
                  <a:ea typeface="+mn-ea"/>
                </a:rPr>
                <a:t>，</a:t>
              </a:r>
              <a:r>
                <a:rPr lang="en-US" altLang="zh-CN" sz="2000" dirty="0">
                  <a:solidFill>
                    <a:schemeClr val="accent2"/>
                  </a:solidFill>
                  <a:latin typeface="+mn-lt"/>
                  <a:ea typeface="+mn-ea"/>
                </a:rPr>
                <a:t>3214</a:t>
              </a:r>
              <a:r>
                <a:rPr lang="zh-CN" altLang="en-US" sz="2000" dirty="0">
                  <a:solidFill>
                    <a:schemeClr val="accent2"/>
                  </a:solidFill>
                  <a:latin typeface="+mn-lt"/>
                  <a:ea typeface="+mn-ea"/>
                </a:rPr>
                <a:t>，</a:t>
              </a:r>
              <a:r>
                <a:rPr lang="en-US" altLang="zh-CN" sz="2000" dirty="0">
                  <a:solidFill>
                    <a:schemeClr val="accent2"/>
                  </a:solidFill>
                  <a:latin typeface="+mn-lt"/>
                  <a:ea typeface="+mn-ea"/>
                </a:rPr>
                <a:t>9345</a:t>
              </a:r>
            </a:p>
            <a:p>
              <a:pPr eaLnBrk="1" hangingPunct="1">
                <a:lnSpc>
                  <a:spcPct val="120000"/>
                </a:lnSpc>
              </a:pPr>
              <a:r>
                <a:rPr lang="en-US" altLang="zh-CN" sz="2000" dirty="0">
                  <a:solidFill>
                    <a:schemeClr val="accent2"/>
                  </a:solidFill>
                  <a:latin typeface="+mn-lt"/>
                  <a:ea typeface="+mn-ea"/>
                </a:rPr>
                <a:t>  </a:t>
              </a:r>
              <a:r>
                <a:rPr lang="en-US" altLang="zh-CN" sz="2000" dirty="0" err="1">
                  <a:solidFill>
                    <a:schemeClr val="accent2"/>
                  </a:solidFill>
                  <a:latin typeface="+mn-lt"/>
                  <a:ea typeface="+mn-ea"/>
                </a:rPr>
                <a:t>a2</a:t>
              </a:r>
              <a:r>
                <a:rPr lang="en-US" altLang="zh-CN" sz="2000" dirty="0">
                  <a:solidFill>
                    <a:schemeClr val="accent2"/>
                  </a:solidFill>
                  <a:latin typeface="+mn-lt"/>
                  <a:ea typeface="+mn-ea"/>
                </a:rPr>
                <a:t>         </a:t>
              </a:r>
              <a:r>
                <a:rPr lang="en-US" altLang="zh-CN" sz="2000" dirty="0" err="1">
                  <a:solidFill>
                    <a:schemeClr val="accent2"/>
                  </a:solidFill>
                  <a:latin typeface="+mn-lt"/>
                  <a:ea typeface="+mn-ea"/>
                </a:rPr>
                <a:t>a1</a:t>
              </a:r>
              <a:r>
                <a:rPr lang="en-US" altLang="zh-CN" sz="2000" dirty="0">
                  <a:solidFill>
                    <a:schemeClr val="accent2"/>
                  </a:solidFill>
                  <a:latin typeface="+mn-lt"/>
                  <a:ea typeface="+mn-ea"/>
                </a:rPr>
                <a:t>        </a:t>
              </a:r>
              <a:r>
                <a:rPr lang="en-US" altLang="zh-CN" sz="2000" dirty="0" err="1">
                  <a:solidFill>
                    <a:schemeClr val="accent2"/>
                  </a:solidFill>
                  <a:latin typeface="+mn-lt"/>
                  <a:ea typeface="+mn-ea"/>
                </a:rPr>
                <a:t>a3</a:t>
              </a:r>
              <a:endParaRPr lang="en-US" altLang="zh-CN" sz="2000" dirty="0">
                <a:solidFill>
                  <a:schemeClr val="accent2"/>
                </a:solidFill>
                <a:latin typeface="+mn-lt"/>
                <a:ea typeface="+mn-ea"/>
              </a:endParaRPr>
            </a:p>
          </p:txBody>
        </p:sp>
        <p:sp>
          <p:nvSpPr>
            <p:cNvPr id="41993" name="Text Box 8"/>
            <p:cNvSpPr txBox="1">
              <a:spLocks noChangeArrowheads="1"/>
            </p:cNvSpPr>
            <p:nvPr/>
          </p:nvSpPr>
          <p:spPr bwMode="auto">
            <a:xfrm>
              <a:off x="2219" y="3254"/>
              <a:ext cx="257" cy="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dirty="0">
                  <a:solidFill>
                    <a:schemeClr val="accent2"/>
                  </a:solidFill>
                  <a:latin typeface="+mn-lt"/>
                  <a:ea typeface="+mn-ea"/>
                </a:rPr>
                <a:t>≠</a:t>
              </a:r>
            </a:p>
          </p:txBody>
        </p:sp>
        <p:sp>
          <p:nvSpPr>
            <p:cNvPr id="41994" name="Rectangle 9"/>
            <p:cNvSpPr>
              <a:spLocks noChangeArrowheads="1"/>
            </p:cNvSpPr>
            <p:nvPr/>
          </p:nvSpPr>
          <p:spPr bwMode="auto">
            <a:xfrm>
              <a:off x="192" y="1700"/>
              <a:ext cx="512" cy="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dirty="0">
                  <a:solidFill>
                    <a:schemeClr val="accent2"/>
                  </a:solidFill>
                  <a:latin typeface="+mn-lt"/>
                  <a:ea typeface="+mn-ea"/>
                </a:rPr>
                <a:t>例如</a:t>
              </a:r>
              <a:r>
                <a:rPr lang="en-US" altLang="zh-CN" sz="2000" dirty="0">
                  <a:solidFill>
                    <a:schemeClr val="accent2"/>
                  </a:solidFill>
                  <a:latin typeface="+mn-lt"/>
                  <a:ea typeface="+mn-ea"/>
                </a:rPr>
                <a:t>:</a:t>
              </a:r>
            </a:p>
          </p:txBody>
        </p:sp>
      </p:grpSp>
      <p:sp>
        <p:nvSpPr>
          <p:cNvPr id="41988"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11" name="Rectangle 10"/>
          <p:cNvSpPr>
            <a:spLocks noGrp="1" noChangeArrowheads="1"/>
          </p:cNvSpPr>
          <p:nvPr>
            <p:ph type="title"/>
          </p:nvPr>
        </p:nvSpPr>
        <p:spPr>
          <a:xfrm>
            <a:off x="899592" y="332656"/>
            <a:ext cx="7772400" cy="720725"/>
          </a:xfrm>
        </p:spPr>
        <p:txBody>
          <a:bodyPr/>
          <a:lstStyle/>
          <a:p>
            <a:r>
              <a:rPr lang="en-US" altLang="zh-CN" dirty="0" smtClean="0"/>
              <a:t> 1.4.1 </a:t>
            </a:r>
            <a:r>
              <a:rPr lang="zh-CN" altLang="en-US" dirty="0" smtClean="0"/>
              <a:t>基本概念和术语</a:t>
            </a:r>
          </a:p>
        </p:txBody>
      </p:sp>
    </p:spTree>
    <p:extLst>
      <p:ext uri="{BB962C8B-B14F-4D97-AF65-F5344CB8AC3E}">
        <p14:creationId xmlns:p14="http://schemas.microsoft.com/office/powerpoint/2010/main" val="377363764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010" name="Group 2"/>
          <p:cNvGrpSpPr>
            <a:grpSpLocks/>
          </p:cNvGrpSpPr>
          <p:nvPr/>
        </p:nvGrpSpPr>
        <p:grpSpPr bwMode="auto">
          <a:xfrm>
            <a:off x="460375" y="428625"/>
            <a:ext cx="7907338" cy="4905375"/>
            <a:chOff x="495" y="262"/>
            <a:chExt cx="4981" cy="3090"/>
          </a:xfrm>
        </p:grpSpPr>
        <p:grpSp>
          <p:nvGrpSpPr>
            <p:cNvPr id="43012" name="Group 3"/>
            <p:cNvGrpSpPr>
              <a:grpSpLocks/>
            </p:cNvGrpSpPr>
            <p:nvPr/>
          </p:nvGrpSpPr>
          <p:grpSpPr bwMode="auto">
            <a:xfrm>
              <a:off x="495" y="415"/>
              <a:ext cx="4981" cy="2937"/>
              <a:chOff x="495" y="415"/>
              <a:chExt cx="4981" cy="2937"/>
            </a:xfrm>
          </p:grpSpPr>
          <p:sp>
            <p:nvSpPr>
              <p:cNvPr id="43014" name="Text Box 4"/>
              <p:cNvSpPr txBox="1">
                <a:spLocks noChangeArrowheads="1"/>
              </p:cNvSpPr>
              <p:nvPr/>
            </p:nvSpPr>
            <p:spPr bwMode="auto">
              <a:xfrm>
                <a:off x="495" y="1792"/>
                <a:ext cx="216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zh-CN" sz="2400" b="1">
                  <a:latin typeface="宋体" panose="02010600030101010101" pitchFamily="2" charset="-122"/>
                </a:endParaRPr>
              </a:p>
            </p:txBody>
          </p:sp>
          <p:sp>
            <p:nvSpPr>
              <p:cNvPr id="43015" name="Text Box 5"/>
              <p:cNvSpPr txBox="1">
                <a:spLocks noChangeArrowheads="1"/>
              </p:cNvSpPr>
              <p:nvPr/>
            </p:nvSpPr>
            <p:spPr bwMode="auto">
              <a:xfrm>
                <a:off x="762" y="1640"/>
                <a:ext cx="202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zh-CN" sz="2400" b="1">
                  <a:latin typeface="宋体" panose="02010600030101010101" pitchFamily="2" charset="-122"/>
                </a:endParaRPr>
              </a:p>
            </p:txBody>
          </p:sp>
          <p:sp>
            <p:nvSpPr>
              <p:cNvPr id="277510" name="AutoShape 6"/>
              <p:cNvSpPr>
                <a:spLocks/>
              </p:cNvSpPr>
              <p:nvPr/>
            </p:nvSpPr>
            <p:spPr bwMode="auto">
              <a:xfrm>
                <a:off x="807" y="1183"/>
                <a:ext cx="316" cy="2169"/>
              </a:xfrm>
              <a:prstGeom prst="leftBrace">
                <a:avLst>
                  <a:gd name="adj1" fmla="val 57199"/>
                  <a:gd name="adj2" fmla="val 50000"/>
                </a:avLst>
              </a:prstGeom>
              <a:noFill/>
              <a:ln w="38100">
                <a:solidFill>
                  <a:schemeClr val="accent6">
                    <a:lumMod val="75000"/>
                  </a:schemeClr>
                </a:solidFill>
                <a:round/>
                <a:headEnd/>
                <a:tailEnd/>
              </a:ln>
              <a:effectLst/>
            </p:spPr>
            <p:txBody>
              <a:bodyPr/>
              <a:lstStyle/>
              <a:p>
                <a:pPr>
                  <a:defRPr/>
                </a:pPr>
                <a:endParaRPr lang="zh-CN" altLang="en-US">
                  <a:latin typeface="Arial" charset="0"/>
                </a:endParaRPr>
              </a:p>
            </p:txBody>
          </p:sp>
          <p:sp>
            <p:nvSpPr>
              <p:cNvPr id="43017" name="Text Box 7" descr="花岗岩"/>
              <p:cNvSpPr txBox="1">
                <a:spLocks noChangeArrowheads="1"/>
              </p:cNvSpPr>
              <p:nvPr/>
            </p:nvSpPr>
            <p:spPr bwMode="auto">
              <a:xfrm>
                <a:off x="1058" y="1247"/>
                <a:ext cx="16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b="1">
                    <a:latin typeface="宋体" panose="02010600030101010101" pitchFamily="2" charset="-122"/>
                  </a:rPr>
                  <a:t> </a:t>
                </a:r>
                <a:r>
                  <a:rPr lang="zh-CN" altLang="en-US" sz="2400" b="1">
                    <a:latin typeface="宋体" panose="02010600030101010101" pitchFamily="2" charset="-122"/>
                  </a:rPr>
                  <a:t>数据的逻辑结构 </a:t>
                </a:r>
              </a:p>
            </p:txBody>
          </p:sp>
          <p:sp>
            <p:nvSpPr>
              <p:cNvPr id="43018" name="Text Box 8" descr="花岗岩"/>
              <p:cNvSpPr txBox="1">
                <a:spLocks noChangeArrowheads="1"/>
              </p:cNvSpPr>
              <p:nvPr/>
            </p:nvSpPr>
            <p:spPr bwMode="auto">
              <a:xfrm>
                <a:off x="1058" y="2359"/>
                <a:ext cx="16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b="1">
                    <a:latin typeface="宋体" panose="02010600030101010101" pitchFamily="2" charset="-122"/>
                  </a:rPr>
                  <a:t> </a:t>
                </a:r>
                <a:r>
                  <a:rPr lang="zh-CN" altLang="en-US" sz="2400" b="1">
                    <a:latin typeface="宋体" panose="02010600030101010101" pitchFamily="2" charset="-122"/>
                  </a:rPr>
                  <a:t>数据的存储结构 </a:t>
                </a:r>
              </a:p>
            </p:txBody>
          </p:sp>
          <p:sp>
            <p:nvSpPr>
              <p:cNvPr id="43019" name="Text Box 9" descr="花岗岩"/>
              <p:cNvSpPr txBox="1">
                <a:spLocks noChangeArrowheads="1"/>
              </p:cNvSpPr>
              <p:nvPr/>
            </p:nvSpPr>
            <p:spPr bwMode="auto">
              <a:xfrm>
                <a:off x="1210" y="3024"/>
                <a:ext cx="426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latin typeface="宋体" panose="02010600030101010101" pitchFamily="2" charset="-122"/>
                  </a:rPr>
                  <a:t>数据的运算：检索、排序、插入、删除、修改等 </a:t>
                </a:r>
              </a:p>
            </p:txBody>
          </p:sp>
          <p:sp>
            <p:nvSpPr>
              <p:cNvPr id="277514" name="AutoShape 10"/>
              <p:cNvSpPr>
                <a:spLocks/>
              </p:cNvSpPr>
              <p:nvPr/>
            </p:nvSpPr>
            <p:spPr bwMode="auto">
              <a:xfrm>
                <a:off x="2791" y="2228"/>
                <a:ext cx="68" cy="595"/>
              </a:xfrm>
              <a:prstGeom prst="leftBrace">
                <a:avLst>
                  <a:gd name="adj1" fmla="val 72917"/>
                  <a:gd name="adj2" fmla="val 50000"/>
                </a:avLst>
              </a:prstGeom>
              <a:noFill/>
              <a:ln w="38100">
                <a:solidFill>
                  <a:schemeClr val="accent6">
                    <a:lumMod val="75000"/>
                  </a:schemeClr>
                </a:solidFill>
                <a:round/>
                <a:headEnd/>
                <a:tailEnd/>
              </a:ln>
              <a:effectLst/>
            </p:spPr>
            <p:txBody>
              <a:bodyPr/>
              <a:lstStyle/>
              <a:p>
                <a:pPr>
                  <a:defRPr/>
                </a:pPr>
                <a:endParaRPr lang="zh-CN" altLang="en-US">
                  <a:latin typeface="Arial" charset="0"/>
                </a:endParaRPr>
              </a:p>
            </p:txBody>
          </p:sp>
          <p:sp>
            <p:nvSpPr>
              <p:cNvPr id="277515" name="AutoShape 11"/>
              <p:cNvSpPr>
                <a:spLocks/>
              </p:cNvSpPr>
              <p:nvPr/>
            </p:nvSpPr>
            <p:spPr bwMode="auto">
              <a:xfrm>
                <a:off x="2701" y="847"/>
                <a:ext cx="270" cy="1118"/>
              </a:xfrm>
              <a:prstGeom prst="leftBrace">
                <a:avLst>
                  <a:gd name="adj1" fmla="val 21681"/>
                  <a:gd name="adj2" fmla="val 49282"/>
                </a:avLst>
              </a:prstGeom>
              <a:noFill/>
              <a:ln w="38100">
                <a:solidFill>
                  <a:schemeClr val="accent6">
                    <a:lumMod val="75000"/>
                  </a:schemeClr>
                </a:solidFill>
                <a:round/>
                <a:headEnd/>
                <a:tailEnd/>
              </a:ln>
              <a:effectLst/>
            </p:spPr>
            <p:txBody>
              <a:bodyPr/>
              <a:lstStyle/>
              <a:p>
                <a:pPr>
                  <a:defRPr/>
                </a:pPr>
                <a:endParaRPr lang="zh-CN" altLang="en-US">
                  <a:latin typeface="Arial" charset="0"/>
                </a:endParaRPr>
              </a:p>
            </p:txBody>
          </p:sp>
          <p:sp>
            <p:nvSpPr>
              <p:cNvPr id="277516" name="AutoShape 12"/>
              <p:cNvSpPr>
                <a:spLocks/>
              </p:cNvSpPr>
              <p:nvPr/>
            </p:nvSpPr>
            <p:spPr bwMode="auto">
              <a:xfrm>
                <a:off x="4121" y="463"/>
                <a:ext cx="90" cy="857"/>
              </a:xfrm>
              <a:prstGeom prst="leftBrace">
                <a:avLst>
                  <a:gd name="adj1" fmla="val 79352"/>
                  <a:gd name="adj2" fmla="val 50000"/>
                </a:avLst>
              </a:prstGeom>
              <a:noFill/>
              <a:ln w="38100">
                <a:solidFill>
                  <a:schemeClr val="accent6">
                    <a:lumMod val="75000"/>
                  </a:schemeClr>
                </a:solidFill>
                <a:round/>
                <a:headEnd/>
                <a:tailEnd/>
              </a:ln>
              <a:effectLst/>
            </p:spPr>
            <p:txBody>
              <a:bodyPr/>
              <a:lstStyle/>
              <a:p>
                <a:pPr>
                  <a:defRPr/>
                </a:pPr>
                <a:endParaRPr lang="zh-CN" altLang="en-US">
                  <a:latin typeface="Arial" charset="0"/>
                </a:endParaRPr>
              </a:p>
            </p:txBody>
          </p:sp>
          <p:sp>
            <p:nvSpPr>
              <p:cNvPr id="277517" name="AutoShape 13"/>
              <p:cNvSpPr>
                <a:spLocks/>
              </p:cNvSpPr>
              <p:nvPr/>
            </p:nvSpPr>
            <p:spPr bwMode="auto">
              <a:xfrm>
                <a:off x="4143" y="1471"/>
                <a:ext cx="68" cy="595"/>
              </a:xfrm>
              <a:prstGeom prst="leftBrace">
                <a:avLst>
                  <a:gd name="adj1" fmla="val 72917"/>
                  <a:gd name="adj2" fmla="val 50000"/>
                </a:avLst>
              </a:prstGeom>
              <a:noFill/>
              <a:ln w="38100">
                <a:solidFill>
                  <a:schemeClr val="accent6">
                    <a:lumMod val="75000"/>
                  </a:schemeClr>
                </a:solidFill>
                <a:round/>
                <a:headEnd/>
                <a:tailEnd/>
              </a:ln>
              <a:effectLst/>
            </p:spPr>
            <p:txBody>
              <a:bodyPr/>
              <a:lstStyle/>
              <a:p>
                <a:pPr>
                  <a:defRPr/>
                </a:pPr>
                <a:endParaRPr lang="zh-CN" altLang="en-US">
                  <a:latin typeface="Arial" charset="0"/>
                </a:endParaRPr>
              </a:p>
            </p:txBody>
          </p:sp>
          <p:sp>
            <p:nvSpPr>
              <p:cNvPr id="43024" name="Text Box 14" descr="花岗岩"/>
              <p:cNvSpPr txBox="1">
                <a:spLocks noChangeArrowheads="1"/>
              </p:cNvSpPr>
              <p:nvPr/>
            </p:nvSpPr>
            <p:spPr bwMode="auto">
              <a:xfrm>
                <a:off x="2927" y="790"/>
                <a:ext cx="108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b="1">
                    <a:latin typeface="宋体" panose="02010600030101010101" pitchFamily="2" charset="-122"/>
                  </a:rPr>
                  <a:t> </a:t>
                </a:r>
                <a:r>
                  <a:rPr lang="zh-CN" altLang="en-US" sz="2400" b="1">
                    <a:latin typeface="宋体" panose="02010600030101010101" pitchFamily="2" charset="-122"/>
                  </a:rPr>
                  <a:t>线性结构 </a:t>
                </a:r>
              </a:p>
            </p:txBody>
          </p:sp>
          <p:sp>
            <p:nvSpPr>
              <p:cNvPr id="43025" name="Text Box 15" descr="花岗岩"/>
              <p:cNvSpPr txBox="1">
                <a:spLocks noChangeArrowheads="1"/>
              </p:cNvSpPr>
              <p:nvPr/>
            </p:nvSpPr>
            <p:spPr bwMode="auto">
              <a:xfrm>
                <a:off x="2958" y="1615"/>
                <a:ext cx="117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b="1">
                    <a:latin typeface="宋体" panose="02010600030101010101" pitchFamily="2" charset="-122"/>
                  </a:rPr>
                  <a:t> </a:t>
                </a:r>
                <a:r>
                  <a:rPr lang="zh-CN" altLang="en-US" sz="2400" b="1">
                    <a:latin typeface="宋体" panose="02010600030101010101" pitchFamily="2" charset="-122"/>
                  </a:rPr>
                  <a:t>非线性结构</a:t>
                </a:r>
              </a:p>
            </p:txBody>
          </p:sp>
          <p:sp>
            <p:nvSpPr>
              <p:cNvPr id="43026" name="Text Box 16" descr="花岗岩"/>
              <p:cNvSpPr txBox="1">
                <a:spLocks noChangeArrowheads="1"/>
              </p:cNvSpPr>
              <p:nvPr/>
            </p:nvSpPr>
            <p:spPr bwMode="auto">
              <a:xfrm>
                <a:off x="2907" y="2203"/>
                <a:ext cx="98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b="1">
                    <a:latin typeface="宋体" panose="02010600030101010101" pitchFamily="2" charset="-122"/>
                  </a:rPr>
                  <a:t> </a:t>
                </a:r>
                <a:r>
                  <a:rPr lang="zh-CN" altLang="en-US" sz="2400" b="1">
                    <a:latin typeface="宋体" panose="02010600030101010101" pitchFamily="2" charset="-122"/>
                  </a:rPr>
                  <a:t>顺序存储</a:t>
                </a:r>
              </a:p>
            </p:txBody>
          </p:sp>
          <p:sp>
            <p:nvSpPr>
              <p:cNvPr id="43027" name="Text Box 17" descr="花岗岩"/>
              <p:cNvSpPr txBox="1">
                <a:spLocks noChangeArrowheads="1"/>
              </p:cNvSpPr>
              <p:nvPr/>
            </p:nvSpPr>
            <p:spPr bwMode="auto">
              <a:xfrm>
                <a:off x="2812" y="2539"/>
                <a:ext cx="117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b="1">
                    <a:latin typeface="宋体" panose="02010600030101010101" pitchFamily="2" charset="-122"/>
                  </a:rPr>
                  <a:t>  </a:t>
                </a:r>
                <a:r>
                  <a:rPr lang="zh-CN" altLang="en-US" sz="2400" b="1">
                    <a:latin typeface="宋体" panose="02010600030101010101" pitchFamily="2" charset="-122"/>
                  </a:rPr>
                  <a:t>链式存储 </a:t>
                </a:r>
              </a:p>
            </p:txBody>
          </p:sp>
          <p:sp>
            <p:nvSpPr>
              <p:cNvPr id="43028" name="Text Box 18" descr="花岗岩"/>
              <p:cNvSpPr txBox="1">
                <a:spLocks noChangeArrowheads="1"/>
              </p:cNvSpPr>
              <p:nvPr/>
            </p:nvSpPr>
            <p:spPr bwMode="auto">
              <a:xfrm>
                <a:off x="4280" y="415"/>
                <a:ext cx="69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latin typeface="宋体" panose="02010600030101010101" pitchFamily="2" charset="-122"/>
                  </a:rPr>
                  <a:t>线性表</a:t>
                </a:r>
              </a:p>
            </p:txBody>
          </p:sp>
          <p:sp>
            <p:nvSpPr>
              <p:cNvPr id="43029" name="Text Box 19" descr="花岗岩"/>
              <p:cNvSpPr txBox="1">
                <a:spLocks noChangeArrowheads="1"/>
              </p:cNvSpPr>
              <p:nvPr/>
            </p:nvSpPr>
            <p:spPr bwMode="auto">
              <a:xfrm>
                <a:off x="4261" y="742"/>
                <a:ext cx="30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latin typeface="宋体" panose="02010600030101010101" pitchFamily="2" charset="-122"/>
                  </a:rPr>
                  <a:t>栈</a:t>
                </a:r>
              </a:p>
            </p:txBody>
          </p:sp>
          <p:sp>
            <p:nvSpPr>
              <p:cNvPr id="43030" name="Text Box 20" descr="花岗岩"/>
              <p:cNvSpPr txBox="1">
                <a:spLocks noChangeArrowheads="1"/>
              </p:cNvSpPr>
              <p:nvPr/>
            </p:nvSpPr>
            <p:spPr bwMode="auto">
              <a:xfrm>
                <a:off x="4293" y="1101"/>
                <a:ext cx="50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latin typeface="宋体" panose="02010600030101010101" pitchFamily="2" charset="-122"/>
                  </a:rPr>
                  <a:t>队列</a:t>
                </a:r>
              </a:p>
            </p:txBody>
          </p:sp>
          <p:sp>
            <p:nvSpPr>
              <p:cNvPr id="43031" name="Text Box 21" descr="花岗岩"/>
              <p:cNvSpPr txBox="1">
                <a:spLocks noChangeArrowheads="1"/>
              </p:cNvSpPr>
              <p:nvPr/>
            </p:nvSpPr>
            <p:spPr bwMode="auto">
              <a:xfrm>
                <a:off x="4264" y="1471"/>
                <a:ext cx="8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latin typeface="宋体" panose="02010600030101010101" pitchFamily="2" charset="-122"/>
                  </a:rPr>
                  <a:t>树形结构</a:t>
                </a:r>
              </a:p>
            </p:txBody>
          </p:sp>
          <p:sp>
            <p:nvSpPr>
              <p:cNvPr id="43032" name="Text Box 22" descr="花岗岩"/>
              <p:cNvSpPr txBox="1">
                <a:spLocks noChangeArrowheads="1"/>
              </p:cNvSpPr>
              <p:nvPr/>
            </p:nvSpPr>
            <p:spPr bwMode="auto">
              <a:xfrm>
                <a:off x="4265" y="1807"/>
                <a:ext cx="8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latin typeface="宋体" panose="02010600030101010101" pitchFamily="2" charset="-122"/>
                  </a:rPr>
                  <a:t>图状结构</a:t>
                </a:r>
              </a:p>
            </p:txBody>
          </p:sp>
        </p:grpSp>
        <p:sp>
          <p:nvSpPr>
            <p:cNvPr id="277527" name="Text Box 23" descr="花岗岩"/>
            <p:cNvSpPr txBox="1">
              <a:spLocks noChangeArrowheads="1"/>
            </p:cNvSpPr>
            <p:nvPr/>
          </p:nvSpPr>
          <p:spPr bwMode="auto">
            <a:xfrm>
              <a:off x="745" y="262"/>
              <a:ext cx="2958" cy="288"/>
            </a:xfrm>
            <a:prstGeom prst="rect">
              <a:avLst/>
            </a:prstGeom>
            <a:noFill/>
            <a:ln w="9525">
              <a:noFill/>
              <a:miter lim="800000"/>
              <a:headEnd/>
              <a:tailEnd/>
            </a:ln>
            <a:effectLst/>
          </p:spPr>
          <p:txBody>
            <a:bodyPr>
              <a:spAutoFit/>
            </a:bodyPr>
            <a:lstStyle/>
            <a:p>
              <a:pPr>
                <a:spcBef>
                  <a:spcPct val="50000"/>
                </a:spcBef>
                <a:defRPr/>
              </a:pPr>
              <a:r>
                <a:rPr lang="zh-CN" altLang="en-US" sz="2400" dirty="0">
                  <a:solidFill>
                    <a:schemeClr val="accent2"/>
                  </a:solidFill>
                  <a:latin typeface="+mn-lt"/>
                  <a:ea typeface="+mn-ea"/>
                </a:rPr>
                <a:t>数据结构的三个方面：</a:t>
              </a:r>
            </a:p>
          </p:txBody>
        </p:sp>
      </p:grpSp>
      <p:sp>
        <p:nvSpPr>
          <p:cNvPr id="43011"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Tree>
    <p:extLst>
      <p:ext uri="{BB962C8B-B14F-4D97-AF65-F5344CB8AC3E}">
        <p14:creationId xmlns:p14="http://schemas.microsoft.com/office/powerpoint/2010/main" val="3082095694"/>
      </p:ext>
    </p:extLst>
  </p:cSld>
  <p:clrMapOvr>
    <a:masterClrMapping/>
  </p:clrMapOvr>
  <p:transition/>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Text Box 2"/>
          <p:cNvSpPr txBox="1">
            <a:spLocks noChangeArrowheads="1"/>
          </p:cNvSpPr>
          <p:nvPr/>
        </p:nvSpPr>
        <p:spPr bwMode="auto">
          <a:xfrm>
            <a:off x="1074738" y="4131723"/>
            <a:ext cx="80581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solidFill>
                  <a:schemeClr val="accent2"/>
                </a:solidFill>
                <a:latin typeface="+mn-lt"/>
                <a:ea typeface="+mn-ea"/>
              </a:rPr>
              <a:t>图状</a:t>
            </a:r>
            <a:r>
              <a:rPr lang="zh-CN" altLang="en-US" sz="2400" dirty="0" smtClean="0">
                <a:solidFill>
                  <a:schemeClr val="accent2"/>
                </a:solidFill>
                <a:latin typeface="+mn-lt"/>
                <a:ea typeface="+mn-ea"/>
              </a:rPr>
              <a:t>结构</a:t>
            </a:r>
            <a:r>
              <a:rPr lang="en-US" altLang="zh-CN" sz="2400" dirty="0" smtClean="0">
                <a:solidFill>
                  <a:schemeClr val="accent2"/>
                </a:solidFill>
                <a:latin typeface="+mn-lt"/>
                <a:ea typeface="+mn-ea"/>
              </a:rPr>
              <a:t>—</a:t>
            </a:r>
            <a:r>
              <a:rPr lang="zh-CN" altLang="en-US" sz="2000" dirty="0">
                <a:solidFill>
                  <a:schemeClr val="accent2"/>
                </a:solidFill>
                <a:latin typeface="+mn-lt"/>
                <a:ea typeface="+mn-ea"/>
              </a:rPr>
              <a:t>数据元素之间存在多对多的关系，如图。</a:t>
            </a:r>
          </a:p>
        </p:txBody>
      </p:sp>
      <p:sp>
        <p:nvSpPr>
          <p:cNvPr id="44035" name="AutoShape 3"/>
          <p:cNvSpPr>
            <a:spLocks/>
          </p:cNvSpPr>
          <p:nvPr/>
        </p:nvSpPr>
        <p:spPr bwMode="auto">
          <a:xfrm>
            <a:off x="893764" y="2152650"/>
            <a:ext cx="146050" cy="2322513"/>
          </a:xfrm>
          <a:prstGeom prst="leftBrace">
            <a:avLst>
              <a:gd name="adj1" fmla="val 132756"/>
              <a:gd name="adj2" fmla="val 50000"/>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2" name="Group 4"/>
          <p:cNvGrpSpPr>
            <a:grpSpLocks/>
          </p:cNvGrpSpPr>
          <p:nvPr/>
        </p:nvGrpSpPr>
        <p:grpSpPr bwMode="auto">
          <a:xfrm>
            <a:off x="2320925" y="5318125"/>
            <a:ext cx="2268538" cy="211138"/>
            <a:chOff x="3056" y="2100"/>
            <a:chExt cx="1429" cy="133"/>
          </a:xfrm>
        </p:grpSpPr>
        <p:sp>
          <p:nvSpPr>
            <p:cNvPr id="44075" name="Oval 5"/>
            <p:cNvSpPr>
              <a:spLocks noChangeArrowheads="1"/>
            </p:cNvSpPr>
            <p:nvPr/>
          </p:nvSpPr>
          <p:spPr bwMode="auto">
            <a:xfrm>
              <a:off x="3056" y="2100"/>
              <a:ext cx="144" cy="133"/>
            </a:xfrm>
            <a:prstGeom prst="ellipse">
              <a:avLst/>
            </a:prstGeom>
            <a:noFill/>
            <a:ln w="38100">
              <a:solidFill>
                <a:srgbClr val="00FFFF"/>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4076" name="Oval 6"/>
            <p:cNvSpPr>
              <a:spLocks noChangeArrowheads="1"/>
            </p:cNvSpPr>
            <p:nvPr/>
          </p:nvSpPr>
          <p:spPr bwMode="auto">
            <a:xfrm>
              <a:off x="3474" y="2100"/>
              <a:ext cx="144" cy="133"/>
            </a:xfrm>
            <a:prstGeom prst="ellipse">
              <a:avLst/>
            </a:prstGeom>
            <a:noFill/>
            <a:ln w="38100">
              <a:solidFill>
                <a:srgbClr val="00FFFF"/>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4077" name="Oval 7"/>
            <p:cNvSpPr>
              <a:spLocks noChangeArrowheads="1"/>
            </p:cNvSpPr>
            <p:nvPr/>
          </p:nvSpPr>
          <p:spPr bwMode="auto">
            <a:xfrm>
              <a:off x="3919" y="2100"/>
              <a:ext cx="144" cy="133"/>
            </a:xfrm>
            <a:prstGeom prst="ellipse">
              <a:avLst/>
            </a:prstGeom>
            <a:noFill/>
            <a:ln w="38100">
              <a:solidFill>
                <a:srgbClr val="00FFFF"/>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4078" name="Oval 8"/>
            <p:cNvSpPr>
              <a:spLocks noChangeArrowheads="1"/>
            </p:cNvSpPr>
            <p:nvPr/>
          </p:nvSpPr>
          <p:spPr bwMode="auto">
            <a:xfrm>
              <a:off x="4341" y="2100"/>
              <a:ext cx="144" cy="133"/>
            </a:xfrm>
            <a:prstGeom prst="ellipse">
              <a:avLst/>
            </a:prstGeom>
            <a:noFill/>
            <a:ln w="38100">
              <a:solidFill>
                <a:srgbClr val="00FFFF"/>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4079" name="Line 9"/>
            <p:cNvSpPr>
              <a:spLocks noChangeShapeType="1"/>
            </p:cNvSpPr>
            <p:nvPr/>
          </p:nvSpPr>
          <p:spPr bwMode="auto">
            <a:xfrm>
              <a:off x="3200" y="2166"/>
              <a:ext cx="267" cy="0"/>
            </a:xfrm>
            <a:prstGeom prst="line">
              <a:avLst/>
            </a:prstGeom>
            <a:noFill/>
            <a:ln w="38100">
              <a:solidFill>
                <a:srgbClr val="00FFFF"/>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44080" name="Line 10"/>
            <p:cNvSpPr>
              <a:spLocks noChangeShapeType="1"/>
            </p:cNvSpPr>
            <p:nvPr/>
          </p:nvSpPr>
          <p:spPr bwMode="auto">
            <a:xfrm>
              <a:off x="3612" y="2166"/>
              <a:ext cx="311" cy="0"/>
            </a:xfrm>
            <a:prstGeom prst="line">
              <a:avLst/>
            </a:prstGeom>
            <a:noFill/>
            <a:ln w="38100">
              <a:solidFill>
                <a:srgbClr val="00FFFF"/>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44081" name="Line 11"/>
            <p:cNvSpPr>
              <a:spLocks noChangeShapeType="1"/>
            </p:cNvSpPr>
            <p:nvPr/>
          </p:nvSpPr>
          <p:spPr bwMode="auto">
            <a:xfrm>
              <a:off x="4078" y="2166"/>
              <a:ext cx="256" cy="0"/>
            </a:xfrm>
            <a:prstGeom prst="line">
              <a:avLst/>
            </a:prstGeom>
            <a:noFill/>
            <a:ln w="38100">
              <a:solidFill>
                <a:srgbClr val="00FFFF"/>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grpSp>
        <p:nvGrpSpPr>
          <p:cNvPr id="3" name="Group 12"/>
          <p:cNvGrpSpPr>
            <a:grpSpLocks/>
          </p:cNvGrpSpPr>
          <p:nvPr/>
        </p:nvGrpSpPr>
        <p:grpSpPr bwMode="auto">
          <a:xfrm>
            <a:off x="5043488" y="4786313"/>
            <a:ext cx="1941512" cy="1000125"/>
            <a:chOff x="4185" y="2055"/>
            <a:chExt cx="1223" cy="630"/>
          </a:xfrm>
        </p:grpSpPr>
        <p:grpSp>
          <p:nvGrpSpPr>
            <p:cNvPr id="44063" name="Group 13"/>
            <p:cNvGrpSpPr>
              <a:grpSpLocks/>
            </p:cNvGrpSpPr>
            <p:nvPr/>
          </p:nvGrpSpPr>
          <p:grpSpPr bwMode="auto">
            <a:xfrm>
              <a:off x="4185" y="2055"/>
              <a:ext cx="629" cy="336"/>
              <a:chOff x="2474" y="2489"/>
              <a:chExt cx="629" cy="336"/>
            </a:xfrm>
          </p:grpSpPr>
          <p:sp>
            <p:nvSpPr>
              <p:cNvPr id="44072" name="Oval 14"/>
              <p:cNvSpPr>
                <a:spLocks noChangeArrowheads="1"/>
              </p:cNvSpPr>
              <p:nvPr/>
            </p:nvSpPr>
            <p:spPr bwMode="auto">
              <a:xfrm>
                <a:off x="2711" y="2489"/>
                <a:ext cx="156" cy="144"/>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4073" name="Oval 15"/>
              <p:cNvSpPr>
                <a:spLocks noChangeArrowheads="1"/>
              </p:cNvSpPr>
              <p:nvPr/>
            </p:nvSpPr>
            <p:spPr bwMode="auto">
              <a:xfrm>
                <a:off x="2474" y="2674"/>
                <a:ext cx="156" cy="144"/>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4074" name="Oval 16"/>
              <p:cNvSpPr>
                <a:spLocks noChangeArrowheads="1"/>
              </p:cNvSpPr>
              <p:nvPr/>
            </p:nvSpPr>
            <p:spPr bwMode="auto">
              <a:xfrm>
                <a:off x="2947" y="2681"/>
                <a:ext cx="156" cy="144"/>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44064" name="Oval 17"/>
            <p:cNvSpPr>
              <a:spLocks noChangeArrowheads="1"/>
            </p:cNvSpPr>
            <p:nvPr/>
          </p:nvSpPr>
          <p:spPr bwMode="auto">
            <a:xfrm>
              <a:off x="4374" y="2519"/>
              <a:ext cx="156" cy="144"/>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4065" name="Oval 18"/>
            <p:cNvSpPr>
              <a:spLocks noChangeArrowheads="1"/>
            </p:cNvSpPr>
            <p:nvPr/>
          </p:nvSpPr>
          <p:spPr bwMode="auto">
            <a:xfrm>
              <a:off x="4897" y="2530"/>
              <a:ext cx="156" cy="144"/>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4066" name="Oval 19"/>
            <p:cNvSpPr>
              <a:spLocks noChangeArrowheads="1"/>
            </p:cNvSpPr>
            <p:nvPr/>
          </p:nvSpPr>
          <p:spPr bwMode="auto">
            <a:xfrm>
              <a:off x="5252" y="2541"/>
              <a:ext cx="156" cy="144"/>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4067" name="Line 20"/>
            <p:cNvSpPr>
              <a:spLocks noChangeShapeType="1"/>
            </p:cNvSpPr>
            <p:nvPr/>
          </p:nvSpPr>
          <p:spPr bwMode="auto">
            <a:xfrm flipH="1">
              <a:off x="4334" y="2189"/>
              <a:ext cx="111" cy="111"/>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44068" name="Line 21"/>
            <p:cNvSpPr>
              <a:spLocks noChangeShapeType="1"/>
            </p:cNvSpPr>
            <p:nvPr/>
          </p:nvSpPr>
          <p:spPr bwMode="auto">
            <a:xfrm flipH="1">
              <a:off x="4501" y="2378"/>
              <a:ext cx="166" cy="166"/>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44069" name="Line 22"/>
            <p:cNvSpPr>
              <a:spLocks noChangeShapeType="1"/>
            </p:cNvSpPr>
            <p:nvPr/>
          </p:nvSpPr>
          <p:spPr bwMode="auto">
            <a:xfrm>
              <a:off x="4534" y="2178"/>
              <a:ext cx="122" cy="122"/>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44070" name="Line 23"/>
            <p:cNvSpPr>
              <a:spLocks noChangeShapeType="1"/>
            </p:cNvSpPr>
            <p:nvPr/>
          </p:nvSpPr>
          <p:spPr bwMode="auto">
            <a:xfrm>
              <a:off x="4778" y="2366"/>
              <a:ext cx="178" cy="178"/>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44071" name="Line 24"/>
            <p:cNvSpPr>
              <a:spLocks noChangeShapeType="1"/>
            </p:cNvSpPr>
            <p:nvPr/>
          </p:nvSpPr>
          <p:spPr bwMode="auto">
            <a:xfrm>
              <a:off x="4812" y="2333"/>
              <a:ext cx="466" cy="233"/>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grpSp>
        <p:nvGrpSpPr>
          <p:cNvPr id="5" name="Group 25"/>
          <p:cNvGrpSpPr>
            <a:grpSpLocks/>
          </p:cNvGrpSpPr>
          <p:nvPr/>
        </p:nvGrpSpPr>
        <p:grpSpPr bwMode="auto">
          <a:xfrm>
            <a:off x="7127875" y="4892675"/>
            <a:ext cx="1658938" cy="882650"/>
            <a:chOff x="4363" y="2073"/>
            <a:chExt cx="1045" cy="556"/>
          </a:xfrm>
        </p:grpSpPr>
        <p:sp>
          <p:nvSpPr>
            <p:cNvPr id="44052" name="Oval 26"/>
            <p:cNvSpPr>
              <a:spLocks noChangeArrowheads="1"/>
            </p:cNvSpPr>
            <p:nvPr/>
          </p:nvSpPr>
          <p:spPr bwMode="auto">
            <a:xfrm>
              <a:off x="4819" y="2073"/>
              <a:ext cx="156" cy="144"/>
            </a:xfrm>
            <a:prstGeom prst="ellipse">
              <a:avLst/>
            </a:prstGeom>
            <a:noFill/>
            <a:ln w="38100">
              <a:solidFill>
                <a:srgbClr val="FF990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4053" name="Oval 27"/>
            <p:cNvSpPr>
              <a:spLocks noChangeArrowheads="1"/>
            </p:cNvSpPr>
            <p:nvPr/>
          </p:nvSpPr>
          <p:spPr bwMode="auto">
            <a:xfrm>
              <a:off x="4385" y="2485"/>
              <a:ext cx="156" cy="144"/>
            </a:xfrm>
            <a:prstGeom prst="ellipse">
              <a:avLst/>
            </a:prstGeom>
            <a:noFill/>
            <a:ln w="38100">
              <a:solidFill>
                <a:srgbClr val="FF990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4054" name="Oval 28"/>
            <p:cNvSpPr>
              <a:spLocks noChangeArrowheads="1"/>
            </p:cNvSpPr>
            <p:nvPr/>
          </p:nvSpPr>
          <p:spPr bwMode="auto">
            <a:xfrm>
              <a:off x="4841" y="2474"/>
              <a:ext cx="156" cy="144"/>
            </a:xfrm>
            <a:prstGeom prst="ellipse">
              <a:avLst/>
            </a:prstGeom>
            <a:noFill/>
            <a:ln w="38100">
              <a:solidFill>
                <a:srgbClr val="FF990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4055" name="Oval 29"/>
            <p:cNvSpPr>
              <a:spLocks noChangeArrowheads="1"/>
            </p:cNvSpPr>
            <p:nvPr/>
          </p:nvSpPr>
          <p:spPr bwMode="auto">
            <a:xfrm>
              <a:off x="5252" y="2252"/>
              <a:ext cx="156" cy="144"/>
            </a:xfrm>
            <a:prstGeom prst="ellipse">
              <a:avLst/>
            </a:prstGeom>
            <a:noFill/>
            <a:ln w="38100">
              <a:solidFill>
                <a:srgbClr val="FF990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4056" name="Oval 30"/>
            <p:cNvSpPr>
              <a:spLocks noChangeArrowheads="1"/>
            </p:cNvSpPr>
            <p:nvPr/>
          </p:nvSpPr>
          <p:spPr bwMode="auto">
            <a:xfrm>
              <a:off x="4363" y="2107"/>
              <a:ext cx="156" cy="144"/>
            </a:xfrm>
            <a:prstGeom prst="ellipse">
              <a:avLst/>
            </a:prstGeom>
            <a:noFill/>
            <a:ln w="38100">
              <a:solidFill>
                <a:srgbClr val="FF990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4057" name="Line 31"/>
            <p:cNvSpPr>
              <a:spLocks noChangeShapeType="1"/>
            </p:cNvSpPr>
            <p:nvPr/>
          </p:nvSpPr>
          <p:spPr bwMode="auto">
            <a:xfrm>
              <a:off x="4445" y="2266"/>
              <a:ext cx="0" cy="245"/>
            </a:xfrm>
            <a:prstGeom prst="line">
              <a:avLst/>
            </a:prstGeom>
            <a:noFill/>
            <a:ln w="38100">
              <a:solidFill>
                <a:srgbClr val="FF99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44058" name="Line 32"/>
            <p:cNvSpPr>
              <a:spLocks noChangeShapeType="1"/>
            </p:cNvSpPr>
            <p:nvPr/>
          </p:nvSpPr>
          <p:spPr bwMode="auto">
            <a:xfrm>
              <a:off x="4512" y="2211"/>
              <a:ext cx="366" cy="289"/>
            </a:xfrm>
            <a:prstGeom prst="line">
              <a:avLst/>
            </a:prstGeom>
            <a:noFill/>
            <a:ln w="38100">
              <a:solidFill>
                <a:srgbClr val="FF99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44059" name="Line 33"/>
            <p:cNvSpPr>
              <a:spLocks noChangeShapeType="1"/>
            </p:cNvSpPr>
            <p:nvPr/>
          </p:nvSpPr>
          <p:spPr bwMode="auto">
            <a:xfrm>
              <a:off x="4967" y="2189"/>
              <a:ext cx="300" cy="133"/>
            </a:xfrm>
            <a:prstGeom prst="line">
              <a:avLst/>
            </a:prstGeom>
            <a:noFill/>
            <a:ln w="38100">
              <a:solidFill>
                <a:srgbClr val="FF99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44060" name="Line 34"/>
            <p:cNvSpPr>
              <a:spLocks noChangeShapeType="1"/>
            </p:cNvSpPr>
            <p:nvPr/>
          </p:nvSpPr>
          <p:spPr bwMode="auto">
            <a:xfrm flipH="1">
              <a:off x="4523" y="2200"/>
              <a:ext cx="322" cy="322"/>
            </a:xfrm>
            <a:prstGeom prst="line">
              <a:avLst/>
            </a:prstGeom>
            <a:noFill/>
            <a:ln w="38100">
              <a:solidFill>
                <a:srgbClr val="FF99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44061" name="Line 35"/>
            <p:cNvSpPr>
              <a:spLocks noChangeShapeType="1"/>
            </p:cNvSpPr>
            <p:nvPr/>
          </p:nvSpPr>
          <p:spPr bwMode="auto">
            <a:xfrm flipH="1">
              <a:off x="5001" y="2400"/>
              <a:ext cx="277" cy="144"/>
            </a:xfrm>
            <a:prstGeom prst="line">
              <a:avLst/>
            </a:prstGeom>
            <a:noFill/>
            <a:ln w="38100">
              <a:solidFill>
                <a:srgbClr val="FF99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44062" name="Line 36"/>
            <p:cNvSpPr>
              <a:spLocks noChangeShapeType="1"/>
            </p:cNvSpPr>
            <p:nvPr/>
          </p:nvSpPr>
          <p:spPr bwMode="auto">
            <a:xfrm>
              <a:off x="4512" y="2144"/>
              <a:ext cx="311" cy="0"/>
            </a:xfrm>
            <a:prstGeom prst="line">
              <a:avLst/>
            </a:prstGeom>
            <a:noFill/>
            <a:ln w="38100">
              <a:solidFill>
                <a:srgbClr val="FF99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sp>
        <p:nvSpPr>
          <p:cNvPr id="274469" name="Rectangle 37"/>
          <p:cNvSpPr>
            <a:spLocks noChangeArrowheads="1"/>
          </p:cNvSpPr>
          <p:nvPr/>
        </p:nvSpPr>
        <p:spPr bwMode="auto">
          <a:xfrm>
            <a:off x="823119" y="404813"/>
            <a:ext cx="8516938" cy="579437"/>
          </a:xfrm>
          <a:prstGeom prst="rect">
            <a:avLst/>
          </a:prstGeom>
          <a:noFill/>
          <a:ln w="9525">
            <a:noFill/>
            <a:miter lim="800000"/>
            <a:headEnd/>
            <a:tailEnd/>
          </a:ln>
          <a:effectLst/>
        </p:spPr>
        <p:txBody>
          <a:bodyPr/>
          <a:lstStyle/>
          <a:p>
            <a:pPr marL="609600" indent="-609600">
              <a:spcBef>
                <a:spcPct val="20000"/>
              </a:spcBef>
              <a:defRPr/>
            </a:pPr>
            <a:r>
              <a:rPr lang="en-US" altLang="zh-CN" sz="3200" kern="0" dirty="0" smtClean="0">
                <a:solidFill>
                  <a:srgbClr val="333399"/>
                </a:solidFill>
                <a:latin typeface="Garamond"/>
                <a:ea typeface="宋体"/>
                <a:cs typeface="+mj-cs"/>
              </a:rPr>
              <a:t> 1.4.2 </a:t>
            </a:r>
            <a:r>
              <a:rPr lang="zh-CN" altLang="en-US" sz="3200" b="1" u="sng" kern="0" dirty="0" smtClean="0">
                <a:solidFill>
                  <a:srgbClr val="333399"/>
                </a:solidFill>
                <a:latin typeface="Garamond"/>
                <a:ea typeface="宋体"/>
                <a:cs typeface="+mj-cs"/>
              </a:rPr>
              <a:t>逻辑结构</a:t>
            </a:r>
            <a:r>
              <a:rPr lang="zh-CN" altLang="en-US" sz="3200" kern="0" dirty="0">
                <a:solidFill>
                  <a:srgbClr val="333399"/>
                </a:solidFill>
                <a:latin typeface="Garamond"/>
                <a:ea typeface="宋体"/>
                <a:cs typeface="+mj-cs"/>
              </a:rPr>
              <a:t>和存储</a:t>
            </a:r>
            <a:r>
              <a:rPr lang="zh-CN" altLang="en-US" sz="3200" kern="0" dirty="0" smtClean="0">
                <a:solidFill>
                  <a:srgbClr val="333399"/>
                </a:solidFill>
                <a:latin typeface="Garamond"/>
                <a:ea typeface="宋体"/>
                <a:cs typeface="+mj-cs"/>
              </a:rPr>
              <a:t>结构</a:t>
            </a:r>
            <a:endParaRPr lang="en-US" altLang="zh-CN" sz="3200" kern="0" dirty="0" smtClean="0">
              <a:solidFill>
                <a:srgbClr val="333399"/>
              </a:solidFill>
              <a:latin typeface="Garamond"/>
              <a:ea typeface="宋体"/>
              <a:cs typeface="+mj-cs"/>
            </a:endParaRPr>
          </a:p>
          <a:p>
            <a:pPr marL="609600" indent="-609600">
              <a:spcBef>
                <a:spcPct val="20000"/>
              </a:spcBef>
              <a:defRPr/>
            </a:pPr>
            <a:endParaRPr lang="zh-CN" altLang="en-US" sz="2400" b="1" dirty="0">
              <a:latin typeface="宋体" pitchFamily="2" charset="-122"/>
            </a:endParaRPr>
          </a:p>
        </p:txBody>
      </p:sp>
      <p:sp>
        <p:nvSpPr>
          <p:cNvPr id="274470" name="Rectangle 38"/>
          <p:cNvSpPr>
            <a:spLocks noChangeArrowheads="1"/>
          </p:cNvSpPr>
          <p:nvPr/>
        </p:nvSpPr>
        <p:spPr bwMode="auto">
          <a:xfrm>
            <a:off x="1039813" y="2701523"/>
            <a:ext cx="8128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solidFill>
                  <a:schemeClr val="accent2"/>
                </a:solidFill>
                <a:latin typeface="+mn-lt"/>
                <a:ea typeface="+mn-ea"/>
              </a:rPr>
              <a:t>线性</a:t>
            </a:r>
            <a:r>
              <a:rPr lang="zh-CN" altLang="en-US" sz="2400" dirty="0" smtClean="0">
                <a:solidFill>
                  <a:schemeClr val="accent2"/>
                </a:solidFill>
                <a:latin typeface="+mn-lt"/>
                <a:ea typeface="+mn-ea"/>
              </a:rPr>
              <a:t>结构</a:t>
            </a:r>
            <a:r>
              <a:rPr lang="en-US" altLang="zh-CN" sz="2400" dirty="0" smtClean="0">
                <a:solidFill>
                  <a:schemeClr val="accent2"/>
                </a:solidFill>
                <a:latin typeface="+mn-lt"/>
                <a:ea typeface="+mn-ea"/>
              </a:rPr>
              <a:t>—</a:t>
            </a:r>
            <a:r>
              <a:rPr lang="zh-CN" altLang="en-US" sz="2000" dirty="0">
                <a:solidFill>
                  <a:schemeClr val="accent2"/>
                </a:solidFill>
                <a:latin typeface="+mn-lt"/>
                <a:ea typeface="+mn-ea"/>
              </a:rPr>
              <a:t>数据元素之间存在一对一的关系。如线性表</a:t>
            </a:r>
            <a:r>
              <a:rPr lang="zh-CN" altLang="en-US" sz="2000" dirty="0" smtClean="0">
                <a:solidFill>
                  <a:schemeClr val="accent2"/>
                </a:solidFill>
                <a:latin typeface="+mn-lt"/>
                <a:ea typeface="+mn-ea"/>
              </a:rPr>
              <a:t>、栈</a:t>
            </a:r>
            <a:r>
              <a:rPr lang="zh-CN" altLang="en-US" sz="2000" dirty="0">
                <a:solidFill>
                  <a:schemeClr val="accent2"/>
                </a:solidFill>
                <a:latin typeface="+mn-lt"/>
                <a:ea typeface="+mn-ea"/>
              </a:rPr>
              <a:t>、队列。</a:t>
            </a:r>
          </a:p>
        </p:txBody>
      </p:sp>
      <p:sp>
        <p:nvSpPr>
          <p:cNvPr id="274471" name="Rectangle 39"/>
          <p:cNvSpPr>
            <a:spLocks noChangeArrowheads="1"/>
          </p:cNvSpPr>
          <p:nvPr/>
        </p:nvSpPr>
        <p:spPr bwMode="auto">
          <a:xfrm>
            <a:off x="1048065" y="3387968"/>
            <a:ext cx="797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solidFill>
                  <a:schemeClr val="accent2"/>
                </a:solidFill>
                <a:latin typeface="+mn-lt"/>
                <a:ea typeface="+mn-ea"/>
              </a:rPr>
              <a:t>树形</a:t>
            </a:r>
            <a:r>
              <a:rPr lang="zh-CN" altLang="en-US" sz="2400" dirty="0" smtClean="0">
                <a:solidFill>
                  <a:schemeClr val="accent2"/>
                </a:solidFill>
                <a:latin typeface="+mn-lt"/>
                <a:ea typeface="+mn-ea"/>
              </a:rPr>
              <a:t>结构</a:t>
            </a:r>
            <a:r>
              <a:rPr lang="en-US" altLang="zh-CN" sz="2400" dirty="0" smtClean="0">
                <a:solidFill>
                  <a:schemeClr val="accent2"/>
                </a:solidFill>
                <a:latin typeface="+mn-lt"/>
                <a:ea typeface="+mn-ea"/>
              </a:rPr>
              <a:t>—</a:t>
            </a:r>
            <a:r>
              <a:rPr lang="zh-CN" altLang="en-US" sz="2000" dirty="0">
                <a:solidFill>
                  <a:schemeClr val="accent2"/>
                </a:solidFill>
                <a:latin typeface="+mn-lt"/>
                <a:ea typeface="+mn-ea"/>
              </a:rPr>
              <a:t>数据元素之间存在一对多的关系。如树。</a:t>
            </a:r>
          </a:p>
        </p:txBody>
      </p:sp>
      <p:sp>
        <p:nvSpPr>
          <p:cNvPr id="274472" name="Rectangle 40"/>
          <p:cNvSpPr>
            <a:spLocks noChangeArrowheads="1"/>
          </p:cNvSpPr>
          <p:nvPr/>
        </p:nvSpPr>
        <p:spPr bwMode="auto">
          <a:xfrm>
            <a:off x="900112" y="1143000"/>
            <a:ext cx="7902575" cy="854075"/>
          </a:xfrm>
          <a:prstGeom prst="rect">
            <a:avLst/>
          </a:prstGeom>
          <a:noFill/>
          <a:ln w="9525">
            <a:noFill/>
            <a:miter lim="800000"/>
            <a:headEnd/>
            <a:tailEnd/>
          </a:ln>
          <a:effectLst/>
        </p:spPr>
        <p:txBody>
          <a:bodyPr/>
          <a:lstStyle/>
          <a:p>
            <a:pPr indent="-180000">
              <a:spcBef>
                <a:spcPts val="0"/>
              </a:spcBef>
              <a:buFont typeface="Arial" panose="020B0604020202020204" pitchFamily="34" charset="0"/>
              <a:buChar char="•"/>
              <a:defRPr/>
            </a:pPr>
            <a:r>
              <a:rPr lang="zh-CN" altLang="en-US" sz="2400" kern="0" dirty="0" smtClean="0">
                <a:solidFill>
                  <a:srgbClr val="FF0000"/>
                </a:solidFill>
                <a:latin typeface="Times New Roman"/>
                <a:ea typeface="华文楷体"/>
              </a:rPr>
              <a:t>逻辑结构：</a:t>
            </a:r>
            <a:r>
              <a:rPr lang="zh-CN" altLang="en-US" sz="2400" dirty="0" smtClean="0">
                <a:solidFill>
                  <a:schemeClr val="accent2"/>
                </a:solidFill>
                <a:latin typeface="+mn-lt"/>
                <a:ea typeface="+mn-ea"/>
              </a:rPr>
              <a:t>是</a:t>
            </a:r>
            <a:r>
              <a:rPr lang="zh-CN" altLang="en-US" sz="2400" dirty="0">
                <a:solidFill>
                  <a:schemeClr val="accent2"/>
                </a:solidFill>
                <a:latin typeface="+mn-lt"/>
                <a:ea typeface="+mn-ea"/>
              </a:rPr>
              <a:t>对数据元素之间逻辑关系的描述。根据数据元素</a:t>
            </a:r>
            <a:r>
              <a:rPr lang="zh-CN" altLang="en-US" sz="2400" dirty="0" smtClean="0">
                <a:solidFill>
                  <a:schemeClr val="accent2"/>
                </a:solidFill>
                <a:latin typeface="+mn-lt"/>
                <a:ea typeface="+mn-ea"/>
              </a:rPr>
              <a:t>之间的逻辑</a:t>
            </a:r>
            <a:r>
              <a:rPr lang="zh-CN" altLang="en-US" sz="2400" dirty="0">
                <a:solidFill>
                  <a:schemeClr val="accent2"/>
                </a:solidFill>
                <a:latin typeface="+mn-lt"/>
                <a:ea typeface="+mn-ea"/>
              </a:rPr>
              <a:t>结构可将数据结构分为四类：</a:t>
            </a:r>
          </a:p>
          <a:p>
            <a:pPr marL="609600" indent="-609600">
              <a:spcBef>
                <a:spcPct val="20000"/>
              </a:spcBef>
              <a:defRPr/>
            </a:pPr>
            <a:endParaRPr lang="zh-CN" altLang="en-US" sz="2400" dirty="0">
              <a:latin typeface="黑体" pitchFamily="2" charset="-122"/>
              <a:ea typeface="黑体" pitchFamily="2" charset="-122"/>
            </a:endParaRPr>
          </a:p>
        </p:txBody>
      </p:sp>
      <p:sp>
        <p:nvSpPr>
          <p:cNvPr id="274473" name="Text Box 41"/>
          <p:cNvSpPr txBox="1">
            <a:spLocks noChangeArrowheads="1"/>
          </p:cNvSpPr>
          <p:nvPr/>
        </p:nvSpPr>
        <p:spPr bwMode="auto">
          <a:xfrm>
            <a:off x="1058069" y="1984375"/>
            <a:ext cx="79708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solidFill>
                  <a:schemeClr val="accent2"/>
                </a:solidFill>
                <a:latin typeface="+mn-lt"/>
                <a:ea typeface="+mn-ea"/>
              </a:rPr>
              <a:t>集合 </a:t>
            </a:r>
            <a:r>
              <a:rPr lang="en-US" altLang="zh-CN" sz="2400" dirty="0" smtClean="0">
                <a:solidFill>
                  <a:schemeClr val="accent2"/>
                </a:solidFill>
                <a:latin typeface="+mn-lt"/>
                <a:ea typeface="+mn-ea"/>
              </a:rPr>
              <a:t>—</a:t>
            </a:r>
            <a:r>
              <a:rPr lang="zh-CN" altLang="en-US" sz="2000" dirty="0">
                <a:solidFill>
                  <a:schemeClr val="accent2"/>
                </a:solidFill>
                <a:latin typeface="+mn-lt"/>
                <a:ea typeface="+mn-ea"/>
              </a:rPr>
              <a:t>数据元素除了同属于一种类型外，别无其它关系。</a:t>
            </a:r>
          </a:p>
        </p:txBody>
      </p:sp>
      <p:grpSp>
        <p:nvGrpSpPr>
          <p:cNvPr id="6" name="Group 42"/>
          <p:cNvGrpSpPr>
            <a:grpSpLocks/>
          </p:cNvGrpSpPr>
          <p:nvPr/>
        </p:nvGrpSpPr>
        <p:grpSpPr bwMode="auto">
          <a:xfrm>
            <a:off x="900113" y="4795838"/>
            <a:ext cx="892175" cy="815975"/>
            <a:chOff x="429" y="3142"/>
            <a:chExt cx="562" cy="514"/>
          </a:xfrm>
        </p:grpSpPr>
        <p:sp>
          <p:nvSpPr>
            <p:cNvPr id="44046" name="Oval 43"/>
            <p:cNvSpPr>
              <a:spLocks noChangeArrowheads="1"/>
            </p:cNvSpPr>
            <p:nvPr/>
          </p:nvSpPr>
          <p:spPr bwMode="auto">
            <a:xfrm>
              <a:off x="720" y="3523"/>
              <a:ext cx="144" cy="133"/>
            </a:xfrm>
            <a:prstGeom prst="ellipse">
              <a:avLst/>
            </a:prstGeom>
            <a:noFill/>
            <a:ln w="38100">
              <a:solidFill>
                <a:srgbClr val="FF00FF"/>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44047" name="Group 44"/>
            <p:cNvGrpSpPr>
              <a:grpSpLocks/>
            </p:cNvGrpSpPr>
            <p:nvPr/>
          </p:nvGrpSpPr>
          <p:grpSpPr bwMode="auto">
            <a:xfrm>
              <a:off x="429" y="3142"/>
              <a:ext cx="562" cy="468"/>
              <a:chOff x="429" y="3142"/>
              <a:chExt cx="562" cy="468"/>
            </a:xfrm>
          </p:grpSpPr>
          <p:sp>
            <p:nvSpPr>
              <p:cNvPr id="44048" name="Oval 45"/>
              <p:cNvSpPr>
                <a:spLocks noChangeArrowheads="1"/>
              </p:cNvSpPr>
              <p:nvPr/>
            </p:nvSpPr>
            <p:spPr bwMode="auto">
              <a:xfrm>
                <a:off x="429" y="3142"/>
                <a:ext cx="144" cy="133"/>
              </a:xfrm>
              <a:prstGeom prst="ellipse">
                <a:avLst/>
              </a:prstGeom>
              <a:noFill/>
              <a:ln w="38100">
                <a:solidFill>
                  <a:srgbClr val="FF00FF"/>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4049" name="Oval 46"/>
              <p:cNvSpPr>
                <a:spLocks noChangeArrowheads="1"/>
              </p:cNvSpPr>
              <p:nvPr/>
            </p:nvSpPr>
            <p:spPr bwMode="auto">
              <a:xfrm>
                <a:off x="847" y="3142"/>
                <a:ext cx="144" cy="133"/>
              </a:xfrm>
              <a:prstGeom prst="ellipse">
                <a:avLst/>
              </a:prstGeom>
              <a:noFill/>
              <a:ln w="38100">
                <a:solidFill>
                  <a:srgbClr val="FF00FF"/>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4050" name="Oval 47"/>
              <p:cNvSpPr>
                <a:spLocks noChangeArrowheads="1"/>
              </p:cNvSpPr>
              <p:nvPr/>
            </p:nvSpPr>
            <p:spPr bwMode="auto">
              <a:xfrm>
                <a:off x="465" y="3477"/>
                <a:ext cx="144" cy="133"/>
              </a:xfrm>
              <a:prstGeom prst="ellipse">
                <a:avLst/>
              </a:prstGeom>
              <a:noFill/>
              <a:ln w="38100">
                <a:solidFill>
                  <a:srgbClr val="FF00FF"/>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4051" name="Oval 48"/>
              <p:cNvSpPr>
                <a:spLocks noChangeArrowheads="1"/>
              </p:cNvSpPr>
              <p:nvPr/>
            </p:nvSpPr>
            <p:spPr bwMode="auto">
              <a:xfrm>
                <a:off x="648" y="3316"/>
                <a:ext cx="144" cy="133"/>
              </a:xfrm>
              <a:prstGeom prst="ellipse">
                <a:avLst/>
              </a:prstGeom>
              <a:noFill/>
              <a:ln w="38100">
                <a:solidFill>
                  <a:srgbClr val="FF00FF"/>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sp>
        <p:nvSpPr>
          <p:cNvPr id="44045"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Tree>
    <p:extLst>
      <p:ext uri="{BB962C8B-B14F-4D97-AF65-F5344CB8AC3E}">
        <p14:creationId xmlns:p14="http://schemas.microsoft.com/office/powerpoint/2010/main" val="60865308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274473"/>
                                        </p:tgtEl>
                                        <p:attrNameLst>
                                          <p:attrName>style.visibility</p:attrName>
                                        </p:attrNameLst>
                                      </p:cBhvr>
                                      <p:to>
                                        <p:strVal val="visible"/>
                                      </p:to>
                                    </p:set>
                                    <p:anim calcmode="lin" valueType="num">
                                      <p:cBhvr>
                                        <p:cTn id="7" dur="500" fill="hold"/>
                                        <p:tgtEl>
                                          <p:spTgt spid="274473"/>
                                        </p:tgtEl>
                                        <p:attrNameLst>
                                          <p:attrName>ppt_x</p:attrName>
                                        </p:attrNameLst>
                                      </p:cBhvr>
                                      <p:tavLst>
                                        <p:tav tm="0">
                                          <p:val>
                                            <p:strVal val="#ppt_x-#ppt_w/2"/>
                                          </p:val>
                                        </p:tav>
                                        <p:tav tm="100000">
                                          <p:val>
                                            <p:strVal val="#ppt_x"/>
                                          </p:val>
                                        </p:tav>
                                      </p:tavLst>
                                    </p:anim>
                                    <p:anim calcmode="lin" valueType="num">
                                      <p:cBhvr>
                                        <p:cTn id="8" dur="500" fill="hold"/>
                                        <p:tgtEl>
                                          <p:spTgt spid="274473"/>
                                        </p:tgtEl>
                                        <p:attrNameLst>
                                          <p:attrName>ppt_y</p:attrName>
                                        </p:attrNameLst>
                                      </p:cBhvr>
                                      <p:tavLst>
                                        <p:tav tm="0">
                                          <p:val>
                                            <p:strVal val="#ppt_y"/>
                                          </p:val>
                                        </p:tav>
                                        <p:tav tm="100000">
                                          <p:val>
                                            <p:strVal val="#ppt_y"/>
                                          </p:val>
                                        </p:tav>
                                      </p:tavLst>
                                    </p:anim>
                                    <p:anim calcmode="lin" valueType="num">
                                      <p:cBhvr>
                                        <p:cTn id="9" dur="500" fill="hold"/>
                                        <p:tgtEl>
                                          <p:spTgt spid="274473"/>
                                        </p:tgtEl>
                                        <p:attrNameLst>
                                          <p:attrName>ppt_w</p:attrName>
                                        </p:attrNameLst>
                                      </p:cBhvr>
                                      <p:tavLst>
                                        <p:tav tm="0">
                                          <p:val>
                                            <p:fltVal val="0"/>
                                          </p:val>
                                        </p:tav>
                                        <p:tav tm="100000">
                                          <p:val>
                                            <p:strVal val="#ppt_w"/>
                                          </p:val>
                                        </p:tav>
                                      </p:tavLst>
                                    </p:anim>
                                    <p:anim calcmode="lin" valueType="num">
                                      <p:cBhvr>
                                        <p:cTn id="10" dur="500" fill="hold"/>
                                        <p:tgtEl>
                                          <p:spTgt spid="27447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4"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7" presetClass="entr" presetSubtype="8" fill="hold" grpId="0" nodeType="clickEffect">
                                  <p:stCondLst>
                                    <p:cond delay="0"/>
                                  </p:stCondLst>
                                  <p:childTnLst>
                                    <p:set>
                                      <p:cBhvr>
                                        <p:cTn id="20" dur="1" fill="hold">
                                          <p:stCondLst>
                                            <p:cond delay="0"/>
                                          </p:stCondLst>
                                        </p:cTn>
                                        <p:tgtEl>
                                          <p:spTgt spid="274470"/>
                                        </p:tgtEl>
                                        <p:attrNameLst>
                                          <p:attrName>style.visibility</p:attrName>
                                        </p:attrNameLst>
                                      </p:cBhvr>
                                      <p:to>
                                        <p:strVal val="visible"/>
                                      </p:to>
                                    </p:set>
                                    <p:anim calcmode="lin" valueType="num">
                                      <p:cBhvr>
                                        <p:cTn id="21" dur="500" fill="hold"/>
                                        <p:tgtEl>
                                          <p:spTgt spid="274470"/>
                                        </p:tgtEl>
                                        <p:attrNameLst>
                                          <p:attrName>ppt_x</p:attrName>
                                        </p:attrNameLst>
                                      </p:cBhvr>
                                      <p:tavLst>
                                        <p:tav tm="0">
                                          <p:val>
                                            <p:strVal val="#ppt_x-#ppt_w/2"/>
                                          </p:val>
                                        </p:tav>
                                        <p:tav tm="100000">
                                          <p:val>
                                            <p:strVal val="#ppt_x"/>
                                          </p:val>
                                        </p:tav>
                                      </p:tavLst>
                                    </p:anim>
                                    <p:anim calcmode="lin" valueType="num">
                                      <p:cBhvr>
                                        <p:cTn id="22" dur="500" fill="hold"/>
                                        <p:tgtEl>
                                          <p:spTgt spid="274470"/>
                                        </p:tgtEl>
                                        <p:attrNameLst>
                                          <p:attrName>ppt_y</p:attrName>
                                        </p:attrNameLst>
                                      </p:cBhvr>
                                      <p:tavLst>
                                        <p:tav tm="0">
                                          <p:val>
                                            <p:strVal val="#ppt_y"/>
                                          </p:val>
                                        </p:tav>
                                        <p:tav tm="100000">
                                          <p:val>
                                            <p:strVal val="#ppt_y"/>
                                          </p:val>
                                        </p:tav>
                                      </p:tavLst>
                                    </p:anim>
                                    <p:anim calcmode="lin" valueType="num">
                                      <p:cBhvr>
                                        <p:cTn id="23" dur="500" fill="hold"/>
                                        <p:tgtEl>
                                          <p:spTgt spid="274470"/>
                                        </p:tgtEl>
                                        <p:attrNameLst>
                                          <p:attrName>ppt_w</p:attrName>
                                        </p:attrNameLst>
                                      </p:cBhvr>
                                      <p:tavLst>
                                        <p:tav tm="0">
                                          <p:val>
                                            <p:fltVal val="0"/>
                                          </p:val>
                                        </p:tav>
                                        <p:tav tm="100000">
                                          <p:val>
                                            <p:strVal val="#ppt_w"/>
                                          </p:val>
                                        </p:tav>
                                      </p:tavLst>
                                    </p:anim>
                                    <p:anim calcmode="lin" valueType="num">
                                      <p:cBhvr>
                                        <p:cTn id="24" dur="500" fill="hold"/>
                                        <p:tgtEl>
                                          <p:spTgt spid="27447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9"/>
                                            </p:cond>
                                          </p:stCondLst>
                                          <p:endCondLst>
                                            <p:cond evt="onStopAudio" delay="0">
                                              <p:tgtEl>
                                                <p:sldTgt/>
                                              </p:tgtEl>
                                            </p:cond>
                                          </p:endCondLst>
                                        </p:cTn>
                                        <p:tgtEl>
                                          <p:sndTgt r:embed="rId2" name="CAMERA.WAV"/>
                                        </p:tgtEl>
                                      </p:cMediaNode>
                                    </p:audio>
                                  </p:subTnLst>
                                </p:cTn>
                              </p:par>
                            </p:childTnLst>
                          </p:cTn>
                        </p:par>
                      </p:childTnLst>
                    </p:cTn>
                  </p:par>
                  <p:par>
                    <p:cTn id="25" fill="hold" nodeType="clickPar">
                      <p:stCondLst>
                        <p:cond delay="indefinite"/>
                      </p:stCondLst>
                      <p:childTnLst>
                        <p:par>
                          <p:cTn id="26" fill="hold" nodeType="withGroup">
                            <p:stCondLst>
                              <p:cond delay="0"/>
                            </p:stCondLst>
                            <p:childTnLst>
                              <p:par>
                                <p:cTn id="27" presetID="23" presetClass="entr" presetSubtype="16"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anim calcmode="lin" valueType="num">
                                      <p:cBhvr>
                                        <p:cTn id="29" dur="500" fill="hold"/>
                                        <p:tgtEl>
                                          <p:spTgt spid="2"/>
                                        </p:tgtEl>
                                        <p:attrNameLst>
                                          <p:attrName>ppt_w</p:attrName>
                                        </p:attrNameLst>
                                      </p:cBhvr>
                                      <p:tavLst>
                                        <p:tav tm="0">
                                          <p:val>
                                            <p:fltVal val="0"/>
                                          </p:val>
                                        </p:tav>
                                        <p:tav tm="100000">
                                          <p:val>
                                            <p:strVal val="#ppt_w"/>
                                          </p:val>
                                        </p:tav>
                                      </p:tavLst>
                                    </p:anim>
                                    <p:anim calcmode="lin" valueType="num">
                                      <p:cBhvr>
                                        <p:cTn id="30" dur="500" fill="hold"/>
                                        <p:tgtEl>
                                          <p:spTgt spid="2"/>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27"/>
                                            </p:cond>
                                          </p:stCondLst>
                                          <p:endCondLst>
                                            <p:cond evt="onStopAudio" delay="0">
                                              <p:tgtEl>
                                                <p:sldTgt/>
                                              </p:tgtEl>
                                            </p:cond>
                                          </p:endCondLst>
                                        </p:cTn>
                                        <p:tgtEl>
                                          <p:sndTgt r:embed="rId3" name="chimes.wav"/>
                                        </p:tgtEl>
                                      </p:cMediaNode>
                                    </p:audio>
                                  </p:subTnLst>
                                </p:cTn>
                              </p:par>
                            </p:childTnLst>
                          </p:cTn>
                        </p:par>
                      </p:childTnLst>
                    </p:cTn>
                  </p:par>
                  <p:par>
                    <p:cTn id="31" fill="hold" nodeType="clickPar">
                      <p:stCondLst>
                        <p:cond delay="indefinite"/>
                      </p:stCondLst>
                      <p:childTnLst>
                        <p:par>
                          <p:cTn id="32" fill="hold" nodeType="withGroup">
                            <p:stCondLst>
                              <p:cond delay="0"/>
                            </p:stCondLst>
                            <p:childTnLst>
                              <p:par>
                                <p:cTn id="33" presetID="17" presetClass="entr" presetSubtype="8" fill="hold" grpId="0" nodeType="clickEffect">
                                  <p:stCondLst>
                                    <p:cond delay="0"/>
                                  </p:stCondLst>
                                  <p:childTnLst>
                                    <p:set>
                                      <p:cBhvr>
                                        <p:cTn id="34" dur="1" fill="hold">
                                          <p:stCondLst>
                                            <p:cond delay="0"/>
                                          </p:stCondLst>
                                        </p:cTn>
                                        <p:tgtEl>
                                          <p:spTgt spid="274471"/>
                                        </p:tgtEl>
                                        <p:attrNameLst>
                                          <p:attrName>style.visibility</p:attrName>
                                        </p:attrNameLst>
                                      </p:cBhvr>
                                      <p:to>
                                        <p:strVal val="visible"/>
                                      </p:to>
                                    </p:set>
                                    <p:anim calcmode="lin" valueType="num">
                                      <p:cBhvr>
                                        <p:cTn id="35" dur="500" fill="hold"/>
                                        <p:tgtEl>
                                          <p:spTgt spid="274471"/>
                                        </p:tgtEl>
                                        <p:attrNameLst>
                                          <p:attrName>ppt_x</p:attrName>
                                        </p:attrNameLst>
                                      </p:cBhvr>
                                      <p:tavLst>
                                        <p:tav tm="0">
                                          <p:val>
                                            <p:strVal val="#ppt_x-#ppt_w/2"/>
                                          </p:val>
                                        </p:tav>
                                        <p:tav tm="100000">
                                          <p:val>
                                            <p:strVal val="#ppt_x"/>
                                          </p:val>
                                        </p:tav>
                                      </p:tavLst>
                                    </p:anim>
                                    <p:anim calcmode="lin" valueType="num">
                                      <p:cBhvr>
                                        <p:cTn id="36" dur="500" fill="hold"/>
                                        <p:tgtEl>
                                          <p:spTgt spid="274471"/>
                                        </p:tgtEl>
                                        <p:attrNameLst>
                                          <p:attrName>ppt_y</p:attrName>
                                        </p:attrNameLst>
                                      </p:cBhvr>
                                      <p:tavLst>
                                        <p:tav tm="0">
                                          <p:val>
                                            <p:strVal val="#ppt_y"/>
                                          </p:val>
                                        </p:tav>
                                        <p:tav tm="100000">
                                          <p:val>
                                            <p:strVal val="#ppt_y"/>
                                          </p:val>
                                        </p:tav>
                                      </p:tavLst>
                                    </p:anim>
                                    <p:anim calcmode="lin" valueType="num">
                                      <p:cBhvr>
                                        <p:cTn id="37" dur="500" fill="hold"/>
                                        <p:tgtEl>
                                          <p:spTgt spid="274471"/>
                                        </p:tgtEl>
                                        <p:attrNameLst>
                                          <p:attrName>ppt_w</p:attrName>
                                        </p:attrNameLst>
                                      </p:cBhvr>
                                      <p:tavLst>
                                        <p:tav tm="0">
                                          <p:val>
                                            <p:fltVal val="0"/>
                                          </p:val>
                                        </p:tav>
                                        <p:tav tm="100000">
                                          <p:val>
                                            <p:strVal val="#ppt_w"/>
                                          </p:val>
                                        </p:tav>
                                      </p:tavLst>
                                    </p:anim>
                                    <p:anim calcmode="lin" valueType="num">
                                      <p:cBhvr>
                                        <p:cTn id="38" dur="500" fill="hold"/>
                                        <p:tgtEl>
                                          <p:spTgt spid="27447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3"/>
                                            </p:cond>
                                          </p:stCondLst>
                                          <p:endCondLst>
                                            <p:cond evt="onStopAudio" delay="0">
                                              <p:tgtEl>
                                                <p:sldTgt/>
                                              </p:tgtEl>
                                            </p:cond>
                                          </p:endCondLst>
                                        </p:cTn>
                                        <p:tgtEl>
                                          <p:sndTgt r:embed="rId2" name="CAMERA.WAV"/>
                                        </p:tgtEl>
                                      </p:cMediaNode>
                                    </p:audio>
                                  </p:subTnLst>
                                </p:cTn>
                              </p:par>
                            </p:childTnLst>
                          </p:cTn>
                        </p:par>
                      </p:childTnLst>
                    </p:cTn>
                  </p:par>
                  <p:par>
                    <p:cTn id="39" fill="hold" nodeType="clickPar">
                      <p:stCondLst>
                        <p:cond delay="indefinite"/>
                      </p:stCondLst>
                      <p:childTnLst>
                        <p:par>
                          <p:cTn id="40" fill="hold" nodeType="withGroup">
                            <p:stCondLst>
                              <p:cond delay="0"/>
                            </p:stCondLst>
                            <p:childTnLst>
                              <p:par>
                                <p:cTn id="41" presetID="23" presetClass="entr" presetSubtype="16" fill="hold" nodeType="clickEffect">
                                  <p:stCondLst>
                                    <p:cond delay="0"/>
                                  </p:stCondLst>
                                  <p:childTnLst>
                                    <p:set>
                                      <p:cBhvr>
                                        <p:cTn id="42" dur="1" fill="hold">
                                          <p:stCondLst>
                                            <p:cond delay="0"/>
                                          </p:stCondLst>
                                        </p:cTn>
                                        <p:tgtEl>
                                          <p:spTgt spid="3"/>
                                        </p:tgtEl>
                                        <p:attrNameLst>
                                          <p:attrName>style.visibility</p:attrName>
                                        </p:attrNameLst>
                                      </p:cBhvr>
                                      <p:to>
                                        <p:strVal val="visible"/>
                                      </p:to>
                                    </p:set>
                                    <p:anim calcmode="lin" valueType="num">
                                      <p:cBhvr>
                                        <p:cTn id="43" dur="500" fill="hold"/>
                                        <p:tgtEl>
                                          <p:spTgt spid="3"/>
                                        </p:tgtEl>
                                        <p:attrNameLst>
                                          <p:attrName>ppt_w</p:attrName>
                                        </p:attrNameLst>
                                      </p:cBhvr>
                                      <p:tavLst>
                                        <p:tav tm="0">
                                          <p:val>
                                            <p:fltVal val="0"/>
                                          </p:val>
                                        </p:tav>
                                        <p:tav tm="100000">
                                          <p:val>
                                            <p:strVal val="#ppt_w"/>
                                          </p:val>
                                        </p:tav>
                                      </p:tavLst>
                                    </p:anim>
                                    <p:anim calcmode="lin" valueType="num">
                                      <p:cBhvr>
                                        <p:cTn id="44" dur="500" fill="hold"/>
                                        <p:tgtEl>
                                          <p:spTgt spid="3"/>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41"/>
                                            </p:cond>
                                          </p:stCondLst>
                                          <p:endCondLst>
                                            <p:cond evt="onStopAudio" delay="0">
                                              <p:tgtEl>
                                                <p:sldTgt/>
                                              </p:tgtEl>
                                            </p:cond>
                                          </p:endCondLst>
                                        </p:cTn>
                                        <p:tgtEl>
                                          <p:sndTgt r:embed="rId3" name="chimes.wav"/>
                                        </p:tgtEl>
                                      </p:cMediaNode>
                                    </p:audio>
                                  </p:subTnLst>
                                </p:cTn>
                              </p:par>
                            </p:childTnLst>
                          </p:cTn>
                        </p:par>
                      </p:childTnLst>
                    </p:cTn>
                  </p:par>
                  <p:par>
                    <p:cTn id="45" fill="hold" nodeType="clickPar">
                      <p:stCondLst>
                        <p:cond delay="indefinite"/>
                      </p:stCondLst>
                      <p:childTnLst>
                        <p:par>
                          <p:cTn id="46" fill="hold" nodeType="withGroup">
                            <p:stCondLst>
                              <p:cond delay="0"/>
                            </p:stCondLst>
                            <p:childTnLst>
                              <p:par>
                                <p:cTn id="47" presetID="17" presetClass="entr" presetSubtype="8" fill="hold" grpId="0" nodeType="clickEffect">
                                  <p:stCondLst>
                                    <p:cond delay="0"/>
                                  </p:stCondLst>
                                  <p:childTnLst>
                                    <p:set>
                                      <p:cBhvr>
                                        <p:cTn id="48" dur="1" fill="hold">
                                          <p:stCondLst>
                                            <p:cond delay="0"/>
                                          </p:stCondLst>
                                        </p:cTn>
                                        <p:tgtEl>
                                          <p:spTgt spid="274434"/>
                                        </p:tgtEl>
                                        <p:attrNameLst>
                                          <p:attrName>style.visibility</p:attrName>
                                        </p:attrNameLst>
                                      </p:cBhvr>
                                      <p:to>
                                        <p:strVal val="visible"/>
                                      </p:to>
                                    </p:set>
                                    <p:anim calcmode="lin" valueType="num">
                                      <p:cBhvr>
                                        <p:cTn id="49" dur="500" fill="hold"/>
                                        <p:tgtEl>
                                          <p:spTgt spid="274434"/>
                                        </p:tgtEl>
                                        <p:attrNameLst>
                                          <p:attrName>ppt_x</p:attrName>
                                        </p:attrNameLst>
                                      </p:cBhvr>
                                      <p:tavLst>
                                        <p:tav tm="0">
                                          <p:val>
                                            <p:strVal val="#ppt_x-#ppt_w/2"/>
                                          </p:val>
                                        </p:tav>
                                        <p:tav tm="100000">
                                          <p:val>
                                            <p:strVal val="#ppt_x"/>
                                          </p:val>
                                        </p:tav>
                                      </p:tavLst>
                                    </p:anim>
                                    <p:anim calcmode="lin" valueType="num">
                                      <p:cBhvr>
                                        <p:cTn id="50" dur="500" fill="hold"/>
                                        <p:tgtEl>
                                          <p:spTgt spid="274434"/>
                                        </p:tgtEl>
                                        <p:attrNameLst>
                                          <p:attrName>ppt_y</p:attrName>
                                        </p:attrNameLst>
                                      </p:cBhvr>
                                      <p:tavLst>
                                        <p:tav tm="0">
                                          <p:val>
                                            <p:strVal val="#ppt_y"/>
                                          </p:val>
                                        </p:tav>
                                        <p:tav tm="100000">
                                          <p:val>
                                            <p:strVal val="#ppt_y"/>
                                          </p:val>
                                        </p:tav>
                                      </p:tavLst>
                                    </p:anim>
                                    <p:anim calcmode="lin" valueType="num">
                                      <p:cBhvr>
                                        <p:cTn id="51" dur="500" fill="hold"/>
                                        <p:tgtEl>
                                          <p:spTgt spid="274434"/>
                                        </p:tgtEl>
                                        <p:attrNameLst>
                                          <p:attrName>ppt_w</p:attrName>
                                        </p:attrNameLst>
                                      </p:cBhvr>
                                      <p:tavLst>
                                        <p:tav tm="0">
                                          <p:val>
                                            <p:fltVal val="0"/>
                                          </p:val>
                                        </p:tav>
                                        <p:tav tm="100000">
                                          <p:val>
                                            <p:strVal val="#ppt_w"/>
                                          </p:val>
                                        </p:tav>
                                      </p:tavLst>
                                    </p:anim>
                                    <p:anim calcmode="lin" valueType="num">
                                      <p:cBhvr>
                                        <p:cTn id="52" dur="500" fill="hold"/>
                                        <p:tgtEl>
                                          <p:spTgt spid="27443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7"/>
                                            </p:cond>
                                          </p:stCondLst>
                                          <p:endCondLst>
                                            <p:cond evt="onStopAudio" delay="0">
                                              <p:tgtEl>
                                                <p:sldTgt/>
                                              </p:tgtEl>
                                            </p:cond>
                                          </p:endCondLst>
                                        </p:cTn>
                                        <p:tgtEl>
                                          <p:sndTgt r:embed="rId2" name="CAMERA.WAV"/>
                                        </p:tgtEl>
                                      </p:cMediaNode>
                                    </p:audio>
                                  </p:subTnLst>
                                </p:cTn>
                              </p:par>
                            </p:childTnLst>
                          </p:cTn>
                        </p:par>
                      </p:childTnLst>
                    </p:cTn>
                  </p:par>
                  <p:par>
                    <p:cTn id="53" fill="hold" nodeType="clickPar">
                      <p:stCondLst>
                        <p:cond delay="indefinite"/>
                      </p:stCondLst>
                      <p:childTnLst>
                        <p:par>
                          <p:cTn id="54" fill="hold" nodeType="withGroup">
                            <p:stCondLst>
                              <p:cond delay="0"/>
                            </p:stCondLst>
                            <p:childTnLst>
                              <p:par>
                                <p:cTn id="55" presetID="23" presetClass="entr" presetSubtype="16" fill="hold" nodeType="clickEffect">
                                  <p:stCondLst>
                                    <p:cond delay="0"/>
                                  </p:stCondLst>
                                  <p:childTnLst>
                                    <p:set>
                                      <p:cBhvr>
                                        <p:cTn id="56" dur="1" fill="hold">
                                          <p:stCondLst>
                                            <p:cond delay="0"/>
                                          </p:stCondLst>
                                        </p:cTn>
                                        <p:tgtEl>
                                          <p:spTgt spid="5"/>
                                        </p:tgtEl>
                                        <p:attrNameLst>
                                          <p:attrName>style.visibility</p:attrName>
                                        </p:attrNameLst>
                                      </p:cBhvr>
                                      <p:to>
                                        <p:strVal val="visible"/>
                                      </p:to>
                                    </p:set>
                                    <p:anim calcmode="lin" valueType="num">
                                      <p:cBhvr>
                                        <p:cTn id="57" dur="500" fill="hold"/>
                                        <p:tgtEl>
                                          <p:spTgt spid="5"/>
                                        </p:tgtEl>
                                        <p:attrNameLst>
                                          <p:attrName>ppt_w</p:attrName>
                                        </p:attrNameLst>
                                      </p:cBhvr>
                                      <p:tavLst>
                                        <p:tav tm="0">
                                          <p:val>
                                            <p:fltVal val="0"/>
                                          </p:val>
                                        </p:tav>
                                        <p:tav tm="100000">
                                          <p:val>
                                            <p:strVal val="#ppt_w"/>
                                          </p:val>
                                        </p:tav>
                                      </p:tavLst>
                                    </p:anim>
                                    <p:anim calcmode="lin" valueType="num">
                                      <p:cBhvr>
                                        <p:cTn id="58" dur="500" fill="hold"/>
                                        <p:tgtEl>
                                          <p:spTgt spid="5"/>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55"/>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4434" grpId="0" autoUpdateAnimBg="0"/>
      <p:bldP spid="274470" grpId="0" autoUpdateAnimBg="0"/>
      <p:bldP spid="274471" grpId="0" autoUpdateAnimBg="0"/>
      <p:bldP spid="274473" grpId="0" autoUpdateAnimBg="0"/>
    </p:bldLst>
  </p:timing>
</p:sld>
</file>

<file path=ppt/slides/slide1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482" name="Rectangle 2"/>
          <p:cNvSpPr>
            <a:spLocks noGrp="1" noChangeArrowheads="1"/>
          </p:cNvSpPr>
          <p:nvPr>
            <p:ph type="body" idx="1"/>
          </p:nvPr>
        </p:nvSpPr>
        <p:spPr>
          <a:xfrm>
            <a:off x="500063" y="1285875"/>
            <a:ext cx="9332912" cy="1009650"/>
          </a:xfrm>
        </p:spPr>
        <p:txBody>
          <a:bodyPr/>
          <a:lstStyle/>
          <a:p>
            <a:pPr marL="542925" lvl="1" indent="-254000">
              <a:lnSpc>
                <a:spcPct val="105000"/>
              </a:lnSpc>
              <a:buFontTx/>
              <a:buNone/>
              <a:defRPr/>
            </a:pPr>
            <a:r>
              <a:rPr lang="zh-CN" altLang="en-US" sz="2400" kern="1200" dirty="0" smtClean="0">
                <a:latin typeface="+mn-lt"/>
                <a:ea typeface="+mn-ea"/>
                <a:cs typeface="+mn-cs"/>
              </a:rPr>
              <a:t>数据元素之间的关系在计算机中有两种不同的表示方法：</a:t>
            </a:r>
            <a:endParaRPr lang="en-US" altLang="zh-CN" sz="2400" kern="1200" dirty="0" smtClean="0">
              <a:latin typeface="+mn-lt"/>
              <a:ea typeface="+mn-ea"/>
              <a:cs typeface="+mn-cs"/>
            </a:endParaRPr>
          </a:p>
          <a:p>
            <a:pPr marL="542925" lvl="1" indent="-254000">
              <a:lnSpc>
                <a:spcPct val="105000"/>
              </a:lnSpc>
              <a:buFontTx/>
              <a:buNone/>
              <a:defRPr/>
            </a:pPr>
            <a:r>
              <a:rPr lang="en-US" altLang="zh-CN" sz="2400" kern="1200" dirty="0" smtClean="0">
                <a:latin typeface="+mn-lt"/>
                <a:ea typeface="+mn-ea"/>
                <a:cs typeface="+mn-cs"/>
              </a:rPr>
              <a:t>       </a:t>
            </a:r>
            <a:r>
              <a:rPr lang="zh-CN" altLang="en-US" sz="2400" kern="1200" dirty="0" smtClean="0">
                <a:solidFill>
                  <a:srgbClr val="FF0000"/>
                </a:solidFill>
                <a:latin typeface="+mn-lt"/>
                <a:ea typeface="+mn-ea"/>
                <a:cs typeface="+mn-cs"/>
              </a:rPr>
              <a:t>顺序映像和非顺序映像</a:t>
            </a:r>
            <a:r>
              <a:rPr lang="zh-CN" altLang="en-US" sz="2400" kern="1200" dirty="0" smtClean="0">
                <a:latin typeface="+mn-lt"/>
                <a:ea typeface="+mn-ea"/>
                <a:cs typeface="+mn-cs"/>
              </a:rPr>
              <a:t>。分别对应两种存储结构：</a:t>
            </a:r>
          </a:p>
          <a:p>
            <a:pPr marL="542925" lvl="1" indent="-254000">
              <a:lnSpc>
                <a:spcPct val="105000"/>
              </a:lnSpc>
              <a:buFontTx/>
              <a:buNone/>
              <a:defRPr/>
            </a:pPr>
            <a:endParaRPr lang="en-US" altLang="zh-CN" sz="2400" dirty="0">
              <a:latin typeface="宋体" pitchFamily="2" charset="-122"/>
            </a:endParaRPr>
          </a:p>
        </p:txBody>
      </p:sp>
      <p:sp>
        <p:nvSpPr>
          <p:cNvPr id="45059" name="Text Box 3"/>
          <p:cNvSpPr txBox="1">
            <a:spLocks noChangeArrowheads="1"/>
          </p:cNvSpPr>
          <p:nvPr/>
        </p:nvSpPr>
        <p:spPr bwMode="auto">
          <a:xfrm>
            <a:off x="1357313" y="4929188"/>
            <a:ext cx="7058025"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a:latin typeface="黑体" panose="02010609060101010101" pitchFamily="49" charset="-122"/>
                <a:ea typeface="黑体" panose="02010609060101010101" pitchFamily="49" charset="-122"/>
              </a:rPr>
              <a:t>	</a:t>
            </a:r>
            <a:r>
              <a:rPr lang="zh-CN" altLang="en-US" sz="2400" b="1">
                <a:latin typeface="宋体" panose="02010600030101010101" pitchFamily="2" charset="-122"/>
              </a:rPr>
              <a:t>算法设计	  逻辑结构</a:t>
            </a:r>
          </a:p>
          <a:p>
            <a:pPr eaLnBrk="1" hangingPunct="1">
              <a:spcBef>
                <a:spcPct val="50000"/>
              </a:spcBef>
            </a:pPr>
            <a:r>
              <a:rPr lang="zh-CN" altLang="en-US" sz="2400" b="1">
                <a:latin typeface="宋体" panose="02010600030101010101" pitchFamily="2" charset="-122"/>
              </a:rPr>
              <a:t>	算法实现	  存储结构</a:t>
            </a:r>
            <a:r>
              <a:rPr lang="zh-CN" altLang="en-US" sz="2400">
                <a:latin typeface="黑体" panose="02010609060101010101" pitchFamily="49" charset="-122"/>
                <a:ea typeface="黑体" panose="02010609060101010101" pitchFamily="49" charset="-122"/>
              </a:rPr>
              <a:t>	</a:t>
            </a:r>
          </a:p>
        </p:txBody>
      </p:sp>
      <p:sp>
        <p:nvSpPr>
          <p:cNvPr id="45060" name="Line 4"/>
          <p:cNvSpPr>
            <a:spLocks noChangeShapeType="1"/>
          </p:cNvSpPr>
          <p:nvPr/>
        </p:nvSpPr>
        <p:spPr bwMode="auto">
          <a:xfrm>
            <a:off x="3714750" y="5715000"/>
            <a:ext cx="741363"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61" name="Line 5"/>
          <p:cNvSpPr>
            <a:spLocks noChangeShapeType="1"/>
          </p:cNvSpPr>
          <p:nvPr/>
        </p:nvSpPr>
        <p:spPr bwMode="auto">
          <a:xfrm>
            <a:off x="3714750" y="5143500"/>
            <a:ext cx="741363"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62" name="Text Box 6"/>
          <p:cNvSpPr txBox="1">
            <a:spLocks noChangeArrowheads="1"/>
          </p:cNvSpPr>
          <p:nvPr/>
        </p:nvSpPr>
        <p:spPr bwMode="auto">
          <a:xfrm>
            <a:off x="1277938" y="3386138"/>
            <a:ext cx="779462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05000"/>
              </a:lnSpc>
            </a:pPr>
            <a:r>
              <a:rPr lang="zh-CN" altLang="en-US" sz="2400" b="1">
                <a:solidFill>
                  <a:srgbClr val="FF0000"/>
                </a:solidFill>
                <a:latin typeface="宋体" panose="02010600030101010101" pitchFamily="2" charset="-122"/>
              </a:rPr>
              <a:t>链式存储结构</a:t>
            </a:r>
            <a:r>
              <a:rPr lang="zh-CN" altLang="en-US" sz="2400" b="1">
                <a:latin typeface="宋体" panose="02010600030101010101" pitchFamily="2" charset="-122"/>
              </a:rPr>
              <a:t>：借助指示元素存储地址的指针表示数据元素间的逻辑关系。</a:t>
            </a:r>
          </a:p>
        </p:txBody>
      </p:sp>
      <p:sp>
        <p:nvSpPr>
          <p:cNvPr id="45063" name="AutoShape 7"/>
          <p:cNvSpPr>
            <a:spLocks/>
          </p:cNvSpPr>
          <p:nvPr/>
        </p:nvSpPr>
        <p:spPr bwMode="auto">
          <a:xfrm>
            <a:off x="919163" y="2413000"/>
            <a:ext cx="301625" cy="1506538"/>
          </a:xfrm>
          <a:prstGeom prst="leftBrace">
            <a:avLst>
              <a:gd name="adj1" fmla="val 41623"/>
              <a:gd name="adj2" fmla="val 50000"/>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5064" name="Rectangle 8"/>
          <p:cNvSpPr>
            <a:spLocks noChangeArrowheads="1"/>
          </p:cNvSpPr>
          <p:nvPr/>
        </p:nvSpPr>
        <p:spPr bwMode="auto">
          <a:xfrm>
            <a:off x="1292225" y="2201863"/>
            <a:ext cx="766445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05000"/>
              </a:lnSpc>
              <a:spcBef>
                <a:spcPct val="50000"/>
              </a:spcBef>
            </a:pPr>
            <a:r>
              <a:rPr lang="zh-CN" altLang="en-US" sz="2400" b="1">
                <a:solidFill>
                  <a:srgbClr val="FF0000"/>
                </a:solidFill>
                <a:latin typeface="宋体" panose="02010600030101010101" pitchFamily="2" charset="-122"/>
              </a:rPr>
              <a:t>顺序存储结构</a:t>
            </a:r>
            <a:r>
              <a:rPr lang="zh-CN" altLang="en-US" sz="2400" b="1">
                <a:latin typeface="宋体" panose="02010600030101010101" pitchFamily="2" charset="-122"/>
              </a:rPr>
              <a:t>：借助元素在存储器中的相对位置来表示数据元素间的逻辑关系。</a:t>
            </a:r>
          </a:p>
        </p:txBody>
      </p:sp>
      <p:sp>
        <p:nvSpPr>
          <p:cNvPr id="45065" name="Rectangle 9"/>
          <p:cNvSpPr>
            <a:spLocks noChangeArrowheads="1"/>
          </p:cNvSpPr>
          <p:nvPr/>
        </p:nvSpPr>
        <p:spPr bwMode="auto">
          <a:xfrm>
            <a:off x="1285875" y="4429125"/>
            <a:ext cx="53927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latin typeface="宋体" panose="02010600030101010101" pitchFamily="2" charset="-122"/>
              </a:rPr>
              <a:t>数据的逻辑结构与存储结构密切相关：</a:t>
            </a:r>
          </a:p>
        </p:txBody>
      </p:sp>
      <p:sp>
        <p:nvSpPr>
          <p:cNvPr id="45066"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3" name="矩形 2"/>
          <p:cNvSpPr/>
          <p:nvPr/>
        </p:nvSpPr>
        <p:spPr>
          <a:xfrm>
            <a:off x="828674" y="466930"/>
            <a:ext cx="7127701" cy="1027974"/>
          </a:xfrm>
          <a:prstGeom prst="rect">
            <a:avLst/>
          </a:prstGeom>
        </p:spPr>
        <p:txBody>
          <a:bodyPr wrap="square">
            <a:spAutoFit/>
          </a:bodyPr>
          <a:lstStyle/>
          <a:p>
            <a:pPr marL="609600" lvl="0" indent="-609600">
              <a:spcBef>
                <a:spcPct val="20000"/>
              </a:spcBef>
              <a:defRPr/>
            </a:pPr>
            <a:r>
              <a:rPr lang="en-US" altLang="zh-CN" sz="3200" kern="0" dirty="0">
                <a:solidFill>
                  <a:srgbClr val="333399"/>
                </a:solidFill>
                <a:latin typeface="Garamond"/>
                <a:ea typeface="宋体"/>
              </a:rPr>
              <a:t> 1.4.2 </a:t>
            </a:r>
            <a:r>
              <a:rPr lang="zh-CN" altLang="en-US" sz="3200" kern="0" dirty="0">
                <a:solidFill>
                  <a:srgbClr val="333399"/>
                </a:solidFill>
                <a:latin typeface="Garamond"/>
                <a:ea typeface="宋体"/>
              </a:rPr>
              <a:t>逻辑结构和</a:t>
            </a:r>
            <a:r>
              <a:rPr lang="zh-CN" altLang="en-US" sz="3200" b="1" u="sng" kern="0" dirty="0">
                <a:solidFill>
                  <a:srgbClr val="333399"/>
                </a:solidFill>
                <a:latin typeface="Garamond"/>
                <a:ea typeface="宋体"/>
              </a:rPr>
              <a:t>存储结构</a:t>
            </a:r>
            <a:endParaRPr lang="en-US" altLang="zh-CN" sz="3200" b="1" u="sng" kern="0" dirty="0">
              <a:solidFill>
                <a:srgbClr val="333399"/>
              </a:solidFill>
              <a:latin typeface="Garamond"/>
              <a:ea typeface="宋体"/>
            </a:endParaRPr>
          </a:p>
          <a:p>
            <a:pPr marL="609600" lvl="0" indent="-609600">
              <a:spcBef>
                <a:spcPct val="20000"/>
              </a:spcBef>
              <a:defRPr/>
            </a:pPr>
            <a:endParaRPr lang="zh-CN" altLang="en-US" sz="2400" b="1" dirty="0">
              <a:solidFill>
                <a:srgbClr val="000000"/>
              </a:solidFill>
              <a:latin typeface="宋体" pitchFamily="2" charset="-122"/>
            </a:endParaRPr>
          </a:p>
        </p:txBody>
      </p:sp>
    </p:spTree>
    <p:extLst>
      <p:ext uri="{BB962C8B-B14F-4D97-AF65-F5344CB8AC3E}">
        <p14:creationId xmlns:p14="http://schemas.microsoft.com/office/powerpoint/2010/main" val="2120609462"/>
      </p:ext>
    </p:extLst>
  </p:cSld>
  <p:clrMapOvr>
    <a:masterClrMapping/>
  </p:clrMapOvr>
  <p:transition spd="med">
    <p:wipe dir="d"/>
  </p:transition>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3076" name="Rectangle 2"/>
          <p:cNvSpPr>
            <a:spLocks noGrp="1" noChangeArrowheads="1"/>
          </p:cNvSpPr>
          <p:nvPr>
            <p:ph type="title"/>
          </p:nvPr>
        </p:nvSpPr>
        <p:spPr>
          <a:xfrm>
            <a:off x="900113" y="476672"/>
            <a:ext cx="6788869" cy="638845"/>
          </a:xfrm>
        </p:spPr>
        <p:txBody>
          <a:bodyPr/>
          <a:lstStyle/>
          <a:p>
            <a:pPr eaLnBrk="1" hangingPunct="1"/>
            <a:r>
              <a:rPr lang="en-US" altLang="zh-CN" dirty="0" smtClean="0">
                <a:solidFill>
                  <a:srgbClr val="333399"/>
                </a:solidFill>
              </a:rPr>
              <a:t>1.4.3 </a:t>
            </a:r>
            <a:r>
              <a:rPr lang="zh-CN" altLang="en-US" dirty="0" smtClean="0"/>
              <a:t>链表</a:t>
            </a:r>
            <a:endParaRPr lang="en-US" altLang="zh-CN" dirty="0" smtClean="0"/>
          </a:p>
        </p:txBody>
      </p:sp>
      <p:sp>
        <p:nvSpPr>
          <p:cNvPr id="3077" name="Rectangle 3"/>
          <p:cNvSpPr>
            <a:spLocks noGrp="1" noChangeArrowheads="1"/>
          </p:cNvSpPr>
          <p:nvPr>
            <p:ph type="body" idx="1"/>
          </p:nvPr>
        </p:nvSpPr>
        <p:spPr/>
        <p:txBody>
          <a:bodyPr/>
          <a:lstStyle/>
          <a:p>
            <a:pPr eaLnBrk="1" hangingPunct="1"/>
            <a:r>
              <a:rPr lang="zh-CN" altLang="en-US" smtClean="0">
                <a:solidFill>
                  <a:srgbClr val="FF0000"/>
                </a:solidFill>
              </a:rPr>
              <a:t>链表</a:t>
            </a:r>
            <a:r>
              <a:rPr lang="zh-CN" altLang="en-US" smtClean="0"/>
              <a:t>由有限的元素或节点序列组成，节点包含信息和到另一个节点的链。</a:t>
            </a:r>
            <a:endParaRPr lang="en-US" altLang="zh-CN" smtClean="0"/>
          </a:p>
          <a:p>
            <a:pPr eaLnBrk="1" hangingPunct="1"/>
            <a:endParaRPr lang="en-US" altLang="zh-CN" smtClean="0"/>
          </a:p>
          <a:p>
            <a:pPr eaLnBrk="1" hangingPunct="1"/>
            <a:r>
              <a:rPr lang="zh-CN" altLang="en-US" smtClean="0"/>
              <a:t>如果节点</a:t>
            </a:r>
            <a:r>
              <a:rPr lang="en-US" altLang="zh-CN" smtClean="0"/>
              <a:t>x</a:t>
            </a:r>
            <a:r>
              <a:rPr lang="zh-CN" altLang="en-US" smtClean="0"/>
              <a:t>指向节点</a:t>
            </a:r>
            <a:r>
              <a:rPr lang="en-US" altLang="zh-CN" smtClean="0"/>
              <a:t>y</a:t>
            </a:r>
            <a:r>
              <a:rPr lang="zh-CN" altLang="en-US" smtClean="0"/>
              <a:t>，那么</a:t>
            </a:r>
            <a:r>
              <a:rPr lang="en-US" altLang="zh-CN" smtClean="0"/>
              <a:t>x</a:t>
            </a:r>
            <a:r>
              <a:rPr lang="zh-CN" altLang="en-US" smtClean="0"/>
              <a:t>称为</a:t>
            </a:r>
            <a:r>
              <a:rPr lang="en-US" altLang="zh-CN" smtClean="0"/>
              <a:t>y</a:t>
            </a:r>
            <a:r>
              <a:rPr lang="zh-CN" altLang="en-US" smtClean="0"/>
              <a:t>的</a:t>
            </a:r>
            <a:r>
              <a:rPr lang="zh-CN" altLang="en-US" smtClean="0">
                <a:solidFill>
                  <a:srgbClr val="FF0000"/>
                </a:solidFill>
              </a:rPr>
              <a:t>前驱节点</a:t>
            </a:r>
            <a:r>
              <a:rPr lang="zh-CN" altLang="en-US" smtClean="0"/>
              <a:t>，</a:t>
            </a:r>
            <a:r>
              <a:rPr lang="en-US" altLang="zh-CN" smtClean="0"/>
              <a:t>y</a:t>
            </a:r>
            <a:r>
              <a:rPr lang="zh-CN" altLang="en-US" smtClean="0"/>
              <a:t>称为</a:t>
            </a:r>
            <a:r>
              <a:rPr lang="en-US" altLang="zh-CN" smtClean="0"/>
              <a:t>x</a:t>
            </a:r>
            <a:r>
              <a:rPr lang="zh-CN" altLang="en-US" smtClean="0"/>
              <a:t>的</a:t>
            </a:r>
            <a:r>
              <a:rPr lang="zh-CN" altLang="en-US" smtClean="0">
                <a:solidFill>
                  <a:srgbClr val="FF0000"/>
                </a:solidFill>
              </a:rPr>
              <a:t>后续节点</a:t>
            </a:r>
            <a:r>
              <a:rPr lang="zh-CN" altLang="en-US" smtClean="0"/>
              <a:t>。</a:t>
            </a:r>
            <a:endParaRPr lang="en-US" altLang="zh-CN" smtClean="0"/>
          </a:p>
          <a:p>
            <a:pPr eaLnBrk="1" hangingPunct="1">
              <a:buFontTx/>
              <a:buNone/>
            </a:pPr>
            <a:endParaRPr lang="en-US" altLang="zh-CN" smtClean="0"/>
          </a:p>
          <a:p>
            <a:pPr eaLnBrk="1" hangingPunct="1"/>
            <a:r>
              <a:rPr lang="zh-CN" altLang="en-US" smtClean="0"/>
              <a:t>指向第一个元素的链称为</a:t>
            </a:r>
            <a:r>
              <a:rPr lang="zh-CN" altLang="en-US" smtClean="0">
                <a:solidFill>
                  <a:srgbClr val="FF0000"/>
                </a:solidFill>
              </a:rPr>
              <a:t>表头</a:t>
            </a:r>
            <a:endParaRPr lang="en-US" altLang="zh-CN" smtClean="0"/>
          </a:p>
        </p:txBody>
      </p:sp>
      <p:graphicFrame>
        <p:nvGraphicFramePr>
          <p:cNvPr id="3074" name="Object 1"/>
          <p:cNvGraphicFramePr>
            <a:graphicFrameLocks noChangeAspect="1"/>
          </p:cNvGraphicFramePr>
          <p:nvPr/>
        </p:nvGraphicFramePr>
        <p:xfrm>
          <a:off x="1066800" y="4500563"/>
          <a:ext cx="7572375" cy="571500"/>
        </p:xfrm>
        <a:graphic>
          <a:graphicData uri="http://schemas.openxmlformats.org/presentationml/2006/ole">
            <mc:AlternateContent xmlns:mc="http://schemas.openxmlformats.org/markup-compatibility/2006">
              <mc:Choice xmlns:v="urn:schemas-microsoft-com:vml" Requires="v">
                <p:oleObj spid="_x0000_s24586" r:id="rId4" imgW="3738988" imgH="281296" progId="Visio.Drawing.11">
                  <p:embed/>
                </p:oleObj>
              </mc:Choice>
              <mc:Fallback>
                <p:oleObj r:id="rId4" imgW="3738988" imgH="281296" progId="Visio.Drawing.11">
                  <p:embed/>
                  <p:pic>
                    <p:nvPicPr>
                      <p:cNvPr id="3074"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6800" y="4500563"/>
                        <a:ext cx="7572375" cy="571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701322304"/>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2"/>
          <p:cNvSpPr txBox="1">
            <a:spLocks noChangeArrowheads="1"/>
          </p:cNvSpPr>
          <p:nvPr/>
        </p:nvSpPr>
        <p:spPr bwMode="auto">
          <a:xfrm>
            <a:off x="1066800" y="1116013"/>
            <a:ext cx="7239000" cy="449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kumimoji="1" lang="zh-CN" altLang="en-US" sz="2800" b="1" dirty="0">
                <a:solidFill>
                  <a:srgbClr val="000000"/>
                </a:solidFill>
                <a:latin typeface="Times New Roman" panose="02020603050405020304" pitchFamily="18" charset="0"/>
                <a:ea typeface="楷体_GB2312" pitchFamily="49" charset="-122"/>
              </a:rPr>
              <a:t>存放学生表的结构体数组</a:t>
            </a:r>
            <a:r>
              <a:rPr kumimoji="1" lang="en-US" altLang="zh-CN" sz="2800" b="1" dirty="0">
                <a:solidFill>
                  <a:srgbClr val="000000"/>
                </a:solidFill>
                <a:latin typeface="Times New Roman" panose="02020603050405020304" pitchFamily="18" charset="0"/>
                <a:ea typeface="楷体_GB2312" pitchFamily="49" charset="-122"/>
              </a:rPr>
              <a:t>Stud</a:t>
            </a:r>
            <a:r>
              <a:rPr kumimoji="1" lang="zh-CN" altLang="en-US" sz="2800" b="1" dirty="0">
                <a:solidFill>
                  <a:srgbClr val="000000"/>
                </a:solidFill>
                <a:latin typeface="Times New Roman" panose="02020603050405020304" pitchFamily="18" charset="0"/>
                <a:ea typeface="楷体_GB2312" pitchFamily="49" charset="-122"/>
              </a:rPr>
              <a:t>定义为：</a:t>
            </a:r>
          </a:p>
          <a:p>
            <a:pPr algn="just" eaLnBrk="1" hangingPunct="1">
              <a:spcBef>
                <a:spcPct val="50000"/>
              </a:spcBef>
            </a:pPr>
            <a:r>
              <a:rPr kumimoji="1" lang="zh-CN" altLang="en-US" sz="2800" b="1" dirty="0">
                <a:solidFill>
                  <a:srgbClr val="000000"/>
                </a:solidFill>
                <a:latin typeface="Times New Roman" panose="02020603050405020304" pitchFamily="18" charset="0"/>
                <a:ea typeface="楷体_GB2312" pitchFamily="49" charset="-122"/>
              </a:rPr>
              <a:t>  </a:t>
            </a:r>
            <a:r>
              <a:rPr kumimoji="1" lang="en-US" altLang="zh-CN" sz="2400" b="1" dirty="0" err="1">
                <a:solidFill>
                  <a:srgbClr val="000000"/>
                </a:solidFill>
                <a:latin typeface="Times New Roman" panose="02020603050405020304" pitchFamily="18" charset="0"/>
                <a:ea typeface="楷体_GB2312" pitchFamily="49" charset="-122"/>
              </a:rPr>
              <a:t>struct</a:t>
            </a:r>
            <a:r>
              <a:rPr kumimoji="1" lang="en-US" altLang="zh-CN" sz="2400" b="1" dirty="0">
                <a:solidFill>
                  <a:srgbClr val="000000"/>
                </a:solidFill>
                <a:latin typeface="Times New Roman" panose="02020603050405020304" pitchFamily="18" charset="0"/>
                <a:ea typeface="楷体_GB2312" pitchFamily="49" charset="-122"/>
              </a:rPr>
              <a:t>   </a:t>
            </a:r>
          </a:p>
          <a:p>
            <a:pPr algn="just" eaLnBrk="1" hangingPunct="1">
              <a:spcBef>
                <a:spcPct val="50000"/>
              </a:spcBef>
            </a:pPr>
            <a:r>
              <a:rPr kumimoji="1" lang="en-US" altLang="zh-CN" sz="2400" b="1" dirty="0">
                <a:solidFill>
                  <a:srgbClr val="000000"/>
                </a:solidFill>
                <a:latin typeface="Times New Roman" panose="02020603050405020304" pitchFamily="18" charset="0"/>
                <a:ea typeface="楷体_GB2312" pitchFamily="49" charset="-122"/>
              </a:rPr>
              <a:t>  {	</a:t>
            </a:r>
            <a:r>
              <a:rPr kumimoji="1" lang="en-US" altLang="zh-CN" sz="2400" b="1" dirty="0" err="1">
                <a:solidFill>
                  <a:srgbClr val="000000"/>
                </a:solidFill>
                <a:latin typeface="Times New Roman" panose="02020603050405020304" pitchFamily="18" charset="0"/>
                <a:ea typeface="楷体_GB2312" pitchFamily="49" charset="-122"/>
              </a:rPr>
              <a:t>int</a:t>
            </a:r>
            <a:r>
              <a:rPr kumimoji="1" lang="en-US" altLang="zh-CN" sz="2400" b="1" dirty="0">
                <a:solidFill>
                  <a:srgbClr val="000000"/>
                </a:solidFill>
                <a:latin typeface="Times New Roman" panose="02020603050405020304" pitchFamily="18" charset="0"/>
                <a:ea typeface="楷体_GB2312" pitchFamily="49" charset="-122"/>
              </a:rPr>
              <a:t> no;                 /*</a:t>
            </a:r>
            <a:r>
              <a:rPr kumimoji="1" lang="zh-CN" altLang="en-US" sz="2400" b="1" dirty="0">
                <a:solidFill>
                  <a:srgbClr val="000000"/>
                </a:solidFill>
                <a:latin typeface="Times New Roman" panose="02020603050405020304" pitchFamily="18" charset="0"/>
                <a:ea typeface="楷体_GB2312" pitchFamily="49" charset="-122"/>
              </a:rPr>
              <a:t>存储学号*</a:t>
            </a:r>
            <a:r>
              <a:rPr kumimoji="1" lang="en-US" altLang="zh-CN" sz="2400" b="1" dirty="0">
                <a:solidFill>
                  <a:srgbClr val="000000"/>
                </a:solidFill>
                <a:latin typeface="Times New Roman" panose="02020603050405020304" pitchFamily="18" charset="0"/>
                <a:ea typeface="楷体_GB2312" pitchFamily="49" charset="-122"/>
              </a:rPr>
              <a:t>/</a:t>
            </a:r>
          </a:p>
          <a:p>
            <a:pPr algn="just" eaLnBrk="1" hangingPunct="1">
              <a:spcBef>
                <a:spcPct val="50000"/>
              </a:spcBef>
            </a:pPr>
            <a:r>
              <a:rPr kumimoji="1" lang="en-US" altLang="zh-CN" sz="2400" b="1" dirty="0">
                <a:solidFill>
                  <a:srgbClr val="000000"/>
                </a:solidFill>
                <a:latin typeface="Times New Roman" panose="02020603050405020304" pitchFamily="18" charset="0"/>
                <a:ea typeface="楷体_GB2312" pitchFamily="49" charset="-122"/>
              </a:rPr>
              <a:t>  	char name[8];    /*</a:t>
            </a:r>
            <a:r>
              <a:rPr kumimoji="1" lang="zh-CN" altLang="en-US" sz="2400" b="1" dirty="0">
                <a:solidFill>
                  <a:srgbClr val="000000"/>
                </a:solidFill>
                <a:latin typeface="Times New Roman" panose="02020603050405020304" pitchFamily="18" charset="0"/>
                <a:ea typeface="楷体_GB2312" pitchFamily="49" charset="-122"/>
              </a:rPr>
              <a:t>存储姓名*</a:t>
            </a:r>
            <a:r>
              <a:rPr kumimoji="1" lang="en-US" altLang="zh-CN" sz="2400" b="1" dirty="0">
                <a:solidFill>
                  <a:srgbClr val="000000"/>
                </a:solidFill>
                <a:latin typeface="Times New Roman" panose="02020603050405020304" pitchFamily="18" charset="0"/>
                <a:ea typeface="楷体_GB2312" pitchFamily="49" charset="-122"/>
              </a:rPr>
              <a:t>/</a:t>
            </a:r>
          </a:p>
          <a:p>
            <a:pPr algn="just" eaLnBrk="1" hangingPunct="1">
              <a:spcBef>
                <a:spcPct val="50000"/>
              </a:spcBef>
            </a:pPr>
            <a:r>
              <a:rPr kumimoji="1" lang="en-US" altLang="zh-CN" sz="2400" b="1" dirty="0">
                <a:solidFill>
                  <a:srgbClr val="000000"/>
                </a:solidFill>
                <a:latin typeface="Times New Roman" panose="02020603050405020304" pitchFamily="18" charset="0"/>
                <a:ea typeface="楷体_GB2312" pitchFamily="49" charset="-122"/>
              </a:rPr>
              <a:t> 	char sex[2];       /*</a:t>
            </a:r>
            <a:r>
              <a:rPr kumimoji="1" lang="zh-CN" altLang="en-US" sz="2400" b="1" dirty="0">
                <a:solidFill>
                  <a:srgbClr val="000000"/>
                </a:solidFill>
                <a:latin typeface="Times New Roman" panose="02020603050405020304" pitchFamily="18" charset="0"/>
                <a:ea typeface="楷体_GB2312" pitchFamily="49" charset="-122"/>
              </a:rPr>
              <a:t>存储性别*</a:t>
            </a:r>
            <a:r>
              <a:rPr kumimoji="1" lang="en-US" altLang="zh-CN" sz="2400" b="1" dirty="0">
                <a:solidFill>
                  <a:srgbClr val="000000"/>
                </a:solidFill>
                <a:latin typeface="Times New Roman" panose="02020603050405020304" pitchFamily="18" charset="0"/>
                <a:ea typeface="楷体_GB2312" pitchFamily="49" charset="-122"/>
              </a:rPr>
              <a:t>/</a:t>
            </a:r>
          </a:p>
          <a:p>
            <a:pPr algn="just" eaLnBrk="1" hangingPunct="1">
              <a:spcBef>
                <a:spcPct val="50000"/>
              </a:spcBef>
            </a:pPr>
            <a:r>
              <a:rPr kumimoji="1" lang="en-US" altLang="zh-CN" sz="2400" b="1" dirty="0">
                <a:solidFill>
                  <a:srgbClr val="000000"/>
                </a:solidFill>
                <a:latin typeface="Times New Roman" panose="02020603050405020304" pitchFamily="18" charset="0"/>
                <a:ea typeface="楷体_GB2312" pitchFamily="49" charset="-122"/>
              </a:rPr>
              <a:t> 	char class[4];    /*</a:t>
            </a:r>
            <a:r>
              <a:rPr kumimoji="1" lang="zh-CN" altLang="en-US" sz="2400" b="1" dirty="0">
                <a:solidFill>
                  <a:srgbClr val="000000"/>
                </a:solidFill>
                <a:latin typeface="Times New Roman" panose="02020603050405020304" pitchFamily="18" charset="0"/>
                <a:ea typeface="楷体_GB2312" pitchFamily="49" charset="-122"/>
              </a:rPr>
              <a:t>存储班号*</a:t>
            </a:r>
            <a:r>
              <a:rPr kumimoji="1" lang="en-US" altLang="zh-CN" sz="2400" b="1" dirty="0">
                <a:solidFill>
                  <a:srgbClr val="000000"/>
                </a:solidFill>
                <a:latin typeface="Times New Roman" panose="02020603050405020304" pitchFamily="18" charset="0"/>
                <a:ea typeface="楷体_GB2312" pitchFamily="49" charset="-122"/>
              </a:rPr>
              <a:t>/</a:t>
            </a:r>
          </a:p>
          <a:p>
            <a:pPr algn="just" eaLnBrk="1" hangingPunct="1">
              <a:spcBef>
                <a:spcPct val="50000"/>
              </a:spcBef>
            </a:pPr>
            <a:r>
              <a:rPr kumimoji="1" lang="en-US" altLang="zh-CN" sz="2400" b="1" dirty="0">
                <a:solidFill>
                  <a:srgbClr val="000000"/>
                </a:solidFill>
                <a:latin typeface="Times New Roman" panose="02020603050405020304" pitchFamily="18" charset="0"/>
                <a:ea typeface="楷体_GB2312" pitchFamily="49" charset="-122"/>
              </a:rPr>
              <a:t>  }  Stud[7]={{1,“</a:t>
            </a:r>
            <a:r>
              <a:rPr kumimoji="1" lang="zh-CN" altLang="en-US" sz="2400" b="1" dirty="0">
                <a:solidFill>
                  <a:srgbClr val="000000"/>
                </a:solidFill>
                <a:latin typeface="Times New Roman" panose="02020603050405020304" pitchFamily="18" charset="0"/>
                <a:ea typeface="楷体_GB2312" pitchFamily="49" charset="-122"/>
              </a:rPr>
              <a:t>张斌”</a:t>
            </a:r>
            <a:r>
              <a:rPr kumimoji="1" lang="en-US" altLang="zh-CN" sz="2400" b="1" dirty="0">
                <a:solidFill>
                  <a:srgbClr val="000000"/>
                </a:solidFill>
                <a:latin typeface="Times New Roman" panose="02020603050405020304" pitchFamily="18" charset="0"/>
                <a:ea typeface="楷体_GB2312" pitchFamily="49" charset="-122"/>
              </a:rPr>
              <a:t>,“</a:t>
            </a:r>
            <a:r>
              <a:rPr kumimoji="1" lang="zh-CN" altLang="en-US" sz="2400" b="1" dirty="0">
                <a:solidFill>
                  <a:srgbClr val="000000"/>
                </a:solidFill>
                <a:latin typeface="Times New Roman" panose="02020603050405020304" pitchFamily="18" charset="0"/>
                <a:ea typeface="楷体_GB2312" pitchFamily="49" charset="-122"/>
              </a:rPr>
              <a:t>男”</a:t>
            </a:r>
            <a:r>
              <a:rPr kumimoji="1" lang="en-US" altLang="zh-CN" sz="2400" b="1" dirty="0">
                <a:solidFill>
                  <a:srgbClr val="000000"/>
                </a:solidFill>
                <a:latin typeface="Times New Roman" panose="02020603050405020304" pitchFamily="18" charset="0"/>
                <a:ea typeface="楷体_GB2312" pitchFamily="49" charset="-122"/>
              </a:rPr>
              <a:t>,“9901”},…,</a:t>
            </a:r>
          </a:p>
          <a:p>
            <a:pPr algn="just" eaLnBrk="1" hangingPunct="1">
              <a:spcBef>
                <a:spcPct val="50000"/>
              </a:spcBef>
            </a:pPr>
            <a:r>
              <a:rPr kumimoji="1" lang="en-US" altLang="zh-CN" sz="2400" b="1" dirty="0">
                <a:solidFill>
                  <a:srgbClr val="000000"/>
                </a:solidFill>
                <a:latin typeface="Times New Roman" panose="02020603050405020304" pitchFamily="18" charset="0"/>
                <a:ea typeface="楷体_GB2312" pitchFamily="49" charset="-122"/>
              </a:rPr>
              <a:t>                                         {5,"</a:t>
            </a:r>
            <a:r>
              <a:rPr kumimoji="1" lang="zh-CN" altLang="en-US" sz="2400" b="1" dirty="0">
                <a:solidFill>
                  <a:srgbClr val="000000"/>
                </a:solidFill>
                <a:latin typeface="Times New Roman" panose="02020603050405020304" pitchFamily="18" charset="0"/>
                <a:ea typeface="楷体_GB2312" pitchFamily="49" charset="-122"/>
              </a:rPr>
              <a:t>王萍</a:t>
            </a:r>
            <a:r>
              <a:rPr kumimoji="1" lang="en-US" altLang="zh-CN" sz="2400" b="1" dirty="0">
                <a:solidFill>
                  <a:srgbClr val="000000"/>
                </a:solidFill>
                <a:latin typeface="Times New Roman" panose="02020603050405020304" pitchFamily="18" charset="0"/>
                <a:ea typeface="楷体_GB2312" pitchFamily="49" charset="-122"/>
              </a:rPr>
              <a:t>","</a:t>
            </a:r>
            <a:r>
              <a:rPr kumimoji="1" lang="zh-CN" altLang="en-US" sz="2400" b="1" dirty="0">
                <a:solidFill>
                  <a:srgbClr val="000000"/>
                </a:solidFill>
                <a:latin typeface="Times New Roman" panose="02020603050405020304" pitchFamily="18" charset="0"/>
                <a:ea typeface="楷体_GB2312" pitchFamily="49" charset="-122"/>
              </a:rPr>
              <a:t>女</a:t>
            </a:r>
            <a:r>
              <a:rPr kumimoji="1" lang="en-US" altLang="zh-CN" sz="2400" b="1" dirty="0">
                <a:solidFill>
                  <a:srgbClr val="000000"/>
                </a:solidFill>
                <a:latin typeface="Times New Roman" panose="02020603050405020304" pitchFamily="18" charset="0"/>
                <a:ea typeface="楷体_GB2312" pitchFamily="49" charset="-122"/>
              </a:rPr>
              <a:t>","9901"}};</a:t>
            </a:r>
          </a:p>
        </p:txBody>
      </p:sp>
      <p:sp>
        <p:nvSpPr>
          <p:cNvPr id="46083" name="灯片编号占位符 4"/>
          <p:cNvSpPr>
            <a:spLocks noGrp="1"/>
          </p:cNvSpPr>
          <p:nvPr>
            <p:ph type="sldNum" sz="quarter" idx="4294967295"/>
          </p:nvPr>
        </p:nvSpPr>
        <p:spPr bwMode="auto">
          <a:xfrm>
            <a:off x="7956550" y="6356350"/>
            <a:ext cx="73025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2C82D84-109B-4E03-A2CB-990B54A7A87F}" type="slidenum">
              <a:rPr lang="en-US" altLang="zh-CN"/>
              <a:pPr eaLnBrk="1" hangingPunct="1"/>
              <a:t>141</a:t>
            </a:fld>
            <a:endParaRPr lang="en-US" altLang="zh-CN"/>
          </a:p>
        </p:txBody>
      </p:sp>
      <p:sp>
        <p:nvSpPr>
          <p:cNvPr id="4608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6" name="Rectangle 2"/>
          <p:cNvSpPr txBox="1">
            <a:spLocks noChangeArrowheads="1"/>
          </p:cNvSpPr>
          <p:nvPr/>
        </p:nvSpPr>
        <p:spPr>
          <a:xfrm>
            <a:off x="900113" y="476672"/>
            <a:ext cx="6788869" cy="638845"/>
          </a:xfrm>
          <a:prstGeom prst="rect">
            <a:avLst/>
          </a:prstGeom>
        </p:spPr>
        <p:txBody>
          <a:bodyPr/>
          <a:lstStyle>
            <a:lvl1pPr algn="l" rtl="0" eaLnBrk="0" fontAlgn="base" hangingPunct="0">
              <a:spcBef>
                <a:spcPct val="0"/>
              </a:spcBef>
              <a:spcAft>
                <a:spcPct val="0"/>
              </a:spcAft>
              <a:defRPr sz="3200">
                <a:solidFill>
                  <a:schemeClr val="accent2"/>
                </a:solidFill>
                <a:latin typeface="+mj-lt"/>
                <a:ea typeface="+mj-ea"/>
                <a:cs typeface="+mj-cs"/>
              </a:defRPr>
            </a:lvl1pPr>
            <a:lvl2pPr algn="l" rtl="0" eaLnBrk="0" fontAlgn="base" hangingPunct="0">
              <a:spcBef>
                <a:spcPct val="0"/>
              </a:spcBef>
              <a:spcAft>
                <a:spcPct val="0"/>
              </a:spcAft>
              <a:defRPr sz="3200">
                <a:solidFill>
                  <a:schemeClr val="accent2"/>
                </a:solidFill>
                <a:latin typeface="Garamond" pitchFamily="18" charset="0"/>
                <a:ea typeface="宋体" pitchFamily="2" charset="-122"/>
              </a:defRPr>
            </a:lvl2pPr>
            <a:lvl3pPr algn="l" rtl="0" eaLnBrk="0" fontAlgn="base" hangingPunct="0">
              <a:spcBef>
                <a:spcPct val="0"/>
              </a:spcBef>
              <a:spcAft>
                <a:spcPct val="0"/>
              </a:spcAft>
              <a:defRPr sz="3200">
                <a:solidFill>
                  <a:schemeClr val="accent2"/>
                </a:solidFill>
                <a:latin typeface="Garamond" pitchFamily="18" charset="0"/>
                <a:ea typeface="宋体" pitchFamily="2" charset="-122"/>
              </a:defRPr>
            </a:lvl3pPr>
            <a:lvl4pPr algn="l" rtl="0" eaLnBrk="0" fontAlgn="base" hangingPunct="0">
              <a:spcBef>
                <a:spcPct val="0"/>
              </a:spcBef>
              <a:spcAft>
                <a:spcPct val="0"/>
              </a:spcAft>
              <a:defRPr sz="3200">
                <a:solidFill>
                  <a:schemeClr val="accent2"/>
                </a:solidFill>
                <a:latin typeface="Garamond" pitchFamily="18" charset="0"/>
                <a:ea typeface="宋体" pitchFamily="2" charset="-122"/>
              </a:defRPr>
            </a:lvl4pPr>
            <a:lvl5pPr algn="l" rtl="0" eaLnBrk="0" fontAlgn="base" hangingPunct="0">
              <a:spcBef>
                <a:spcPct val="0"/>
              </a:spcBef>
              <a:spcAft>
                <a:spcPct val="0"/>
              </a:spcAft>
              <a:defRPr sz="3200">
                <a:solidFill>
                  <a:schemeClr val="accent2"/>
                </a:solidFill>
                <a:latin typeface="Garamond" pitchFamily="18" charset="0"/>
                <a:ea typeface="宋体" pitchFamily="2" charset="-122"/>
              </a:defRPr>
            </a:lvl5pPr>
            <a:lvl6pPr marL="457200" algn="l" rtl="0" fontAlgn="base">
              <a:spcBef>
                <a:spcPct val="0"/>
              </a:spcBef>
              <a:spcAft>
                <a:spcPct val="0"/>
              </a:spcAft>
              <a:defRPr sz="3200">
                <a:solidFill>
                  <a:schemeClr val="accent2"/>
                </a:solidFill>
                <a:latin typeface="Garamond" pitchFamily="18" charset="0"/>
                <a:ea typeface="宋体" pitchFamily="2" charset="-122"/>
              </a:defRPr>
            </a:lvl6pPr>
            <a:lvl7pPr marL="914400" algn="l" rtl="0" fontAlgn="base">
              <a:spcBef>
                <a:spcPct val="0"/>
              </a:spcBef>
              <a:spcAft>
                <a:spcPct val="0"/>
              </a:spcAft>
              <a:defRPr sz="3200">
                <a:solidFill>
                  <a:schemeClr val="accent2"/>
                </a:solidFill>
                <a:latin typeface="Garamond" pitchFamily="18" charset="0"/>
                <a:ea typeface="宋体" pitchFamily="2" charset="-122"/>
              </a:defRPr>
            </a:lvl7pPr>
            <a:lvl8pPr marL="1371600" algn="l" rtl="0" fontAlgn="base">
              <a:spcBef>
                <a:spcPct val="0"/>
              </a:spcBef>
              <a:spcAft>
                <a:spcPct val="0"/>
              </a:spcAft>
              <a:defRPr sz="3200">
                <a:solidFill>
                  <a:schemeClr val="accent2"/>
                </a:solidFill>
                <a:latin typeface="Garamond" pitchFamily="18" charset="0"/>
                <a:ea typeface="宋体" pitchFamily="2" charset="-122"/>
              </a:defRPr>
            </a:lvl8pPr>
            <a:lvl9pPr marL="1828800" algn="l" rtl="0" fontAlgn="base">
              <a:spcBef>
                <a:spcPct val="0"/>
              </a:spcBef>
              <a:spcAft>
                <a:spcPct val="0"/>
              </a:spcAft>
              <a:defRPr sz="3200">
                <a:solidFill>
                  <a:schemeClr val="accent2"/>
                </a:solidFill>
                <a:latin typeface="Garamond" pitchFamily="18" charset="0"/>
                <a:ea typeface="宋体" pitchFamily="2" charset="-122"/>
              </a:defRPr>
            </a:lvl9pPr>
          </a:lstStyle>
          <a:p>
            <a:pPr eaLnBrk="1" hangingPunct="1"/>
            <a:r>
              <a:rPr lang="en-US" altLang="zh-CN" kern="0" smtClean="0">
                <a:solidFill>
                  <a:srgbClr val="333399"/>
                </a:solidFill>
              </a:rPr>
              <a:t>1.4.3 </a:t>
            </a:r>
            <a:r>
              <a:rPr lang="zh-CN" altLang="en-US" kern="0" smtClean="0"/>
              <a:t>链表</a:t>
            </a:r>
            <a:endParaRPr lang="en-US" altLang="zh-CN" kern="0" dirty="0" smtClean="0"/>
          </a:p>
        </p:txBody>
      </p:sp>
    </p:spTree>
    <p:extLst>
      <p:ext uri="{BB962C8B-B14F-4D97-AF65-F5344CB8AC3E}">
        <p14:creationId xmlns:p14="http://schemas.microsoft.com/office/powerpoint/2010/main" val="3159422154"/>
      </p:ext>
    </p:extLst>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ext Box 2"/>
          <p:cNvSpPr txBox="1">
            <a:spLocks noChangeArrowheads="1"/>
          </p:cNvSpPr>
          <p:nvPr/>
        </p:nvSpPr>
        <p:spPr bwMode="auto">
          <a:xfrm>
            <a:off x="762000" y="1125538"/>
            <a:ext cx="7696200" cy="231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50000"/>
              </a:spcBef>
            </a:pPr>
            <a:r>
              <a:rPr kumimoji="1" lang="en-US" altLang="zh-CN" sz="2800" b="1">
                <a:solidFill>
                  <a:srgbClr val="000000"/>
                </a:solidFill>
                <a:latin typeface="Times New Roman" panose="02020603050405020304" pitchFamily="18" charset="0"/>
                <a:ea typeface="楷体_GB2312" pitchFamily="49" charset="-122"/>
              </a:rPr>
              <a:t>      </a:t>
            </a:r>
            <a:r>
              <a:rPr kumimoji="1" lang="zh-CN" altLang="en-US" sz="2800" b="1">
                <a:solidFill>
                  <a:srgbClr val="000000"/>
                </a:solidFill>
                <a:latin typeface="Times New Roman" panose="02020603050405020304" pitchFamily="18" charset="0"/>
                <a:ea typeface="楷体_GB2312" pitchFamily="49" charset="-122"/>
              </a:rPr>
              <a:t>结构体数组</a:t>
            </a:r>
            <a:r>
              <a:rPr kumimoji="1" lang="en-US" altLang="zh-CN" sz="2800" b="1">
                <a:solidFill>
                  <a:srgbClr val="000000"/>
                </a:solidFill>
                <a:latin typeface="Times New Roman" panose="02020603050405020304" pitchFamily="18" charset="0"/>
                <a:ea typeface="楷体_GB2312" pitchFamily="49" charset="-122"/>
              </a:rPr>
              <a:t>Stud</a:t>
            </a:r>
            <a:r>
              <a:rPr kumimoji="1" lang="zh-CN" altLang="en-US" sz="2800" b="1">
                <a:solidFill>
                  <a:srgbClr val="000000"/>
                </a:solidFill>
                <a:latin typeface="Times New Roman" panose="02020603050405020304" pitchFamily="18" charset="0"/>
                <a:ea typeface="楷体_GB2312" pitchFamily="49" charset="-122"/>
              </a:rPr>
              <a:t>各元素在内存中顺序存放</a:t>
            </a:r>
            <a:r>
              <a:rPr kumimoji="1" lang="en-US" altLang="zh-CN" sz="2800" b="1">
                <a:solidFill>
                  <a:srgbClr val="000000"/>
                </a:solidFill>
                <a:latin typeface="Times New Roman" panose="02020603050405020304" pitchFamily="18" charset="0"/>
                <a:ea typeface="楷体_GB2312" pitchFamily="49" charset="-122"/>
              </a:rPr>
              <a:t>,</a:t>
            </a:r>
            <a:r>
              <a:rPr kumimoji="1" lang="zh-CN" altLang="en-US" sz="2800" b="1">
                <a:solidFill>
                  <a:srgbClr val="000000"/>
                </a:solidFill>
                <a:latin typeface="Times New Roman" panose="02020603050405020304" pitchFamily="18" charset="0"/>
                <a:ea typeface="楷体_GB2312" pitchFamily="49" charset="-122"/>
              </a:rPr>
              <a:t>即第</a:t>
            </a:r>
            <a:r>
              <a:rPr kumimoji="1" lang="en-US" altLang="zh-CN" sz="2800" b="1">
                <a:solidFill>
                  <a:srgbClr val="000000"/>
                </a:solidFill>
                <a:latin typeface="Times New Roman" panose="02020603050405020304" pitchFamily="18" charset="0"/>
                <a:ea typeface="楷体_GB2312" pitchFamily="49" charset="-122"/>
              </a:rPr>
              <a:t>i(1≤i≤6)</a:t>
            </a:r>
            <a:r>
              <a:rPr kumimoji="1" lang="zh-CN" altLang="en-US" sz="2800" b="1">
                <a:solidFill>
                  <a:srgbClr val="000000"/>
                </a:solidFill>
                <a:latin typeface="Times New Roman" panose="02020603050405020304" pitchFamily="18" charset="0"/>
                <a:ea typeface="楷体_GB2312" pitchFamily="49" charset="-122"/>
              </a:rPr>
              <a:t>个学生对应的元素</a:t>
            </a:r>
            <a:r>
              <a:rPr kumimoji="1" lang="en-US" altLang="zh-CN" sz="2800" b="1">
                <a:solidFill>
                  <a:srgbClr val="000000"/>
                </a:solidFill>
                <a:latin typeface="Times New Roman" panose="02020603050405020304" pitchFamily="18" charset="0"/>
                <a:ea typeface="楷体_GB2312" pitchFamily="49" charset="-122"/>
              </a:rPr>
              <a:t>Stud[i]</a:t>
            </a:r>
            <a:r>
              <a:rPr kumimoji="1" lang="zh-CN" altLang="en-US" sz="2800" b="1">
                <a:solidFill>
                  <a:srgbClr val="000000"/>
                </a:solidFill>
                <a:latin typeface="Times New Roman" panose="02020603050405020304" pitchFamily="18" charset="0"/>
                <a:ea typeface="楷体_GB2312" pitchFamily="49" charset="-122"/>
              </a:rPr>
              <a:t>存放在第</a:t>
            </a:r>
            <a:r>
              <a:rPr kumimoji="1" lang="en-US" altLang="zh-CN" sz="2800" b="1">
                <a:solidFill>
                  <a:srgbClr val="000000"/>
                </a:solidFill>
                <a:latin typeface="Times New Roman" panose="02020603050405020304" pitchFamily="18" charset="0"/>
                <a:ea typeface="楷体_GB2312" pitchFamily="49" charset="-122"/>
              </a:rPr>
              <a:t>i+1</a:t>
            </a:r>
            <a:r>
              <a:rPr kumimoji="1" lang="zh-CN" altLang="en-US" sz="2800" b="1">
                <a:solidFill>
                  <a:srgbClr val="000000"/>
                </a:solidFill>
                <a:latin typeface="Times New Roman" panose="02020603050405020304" pitchFamily="18" charset="0"/>
                <a:ea typeface="楷体_GB2312" pitchFamily="49" charset="-122"/>
              </a:rPr>
              <a:t>个学生对应的元素</a:t>
            </a:r>
            <a:r>
              <a:rPr kumimoji="1" lang="en-US" altLang="zh-CN" sz="2800" b="1">
                <a:solidFill>
                  <a:srgbClr val="000000"/>
                </a:solidFill>
                <a:latin typeface="Times New Roman" panose="02020603050405020304" pitchFamily="18" charset="0"/>
                <a:ea typeface="楷体_GB2312" pitchFamily="49" charset="-122"/>
              </a:rPr>
              <a:t>Stud[i+1]</a:t>
            </a:r>
            <a:r>
              <a:rPr kumimoji="1" lang="zh-CN" altLang="en-US" sz="2800" b="1">
                <a:solidFill>
                  <a:srgbClr val="000000"/>
                </a:solidFill>
                <a:latin typeface="Times New Roman" panose="02020603050405020304" pitchFamily="18" charset="0"/>
                <a:ea typeface="楷体_GB2312" pitchFamily="49" charset="-122"/>
              </a:rPr>
              <a:t>之前</a:t>
            </a:r>
            <a:r>
              <a:rPr kumimoji="1" lang="en-US" altLang="zh-CN" sz="2800" b="1">
                <a:solidFill>
                  <a:srgbClr val="000000"/>
                </a:solidFill>
                <a:latin typeface="Times New Roman" panose="02020603050405020304" pitchFamily="18" charset="0"/>
                <a:ea typeface="楷体_GB2312" pitchFamily="49" charset="-122"/>
              </a:rPr>
              <a:t>,Stud[i+1]</a:t>
            </a:r>
            <a:r>
              <a:rPr kumimoji="1" lang="zh-CN" altLang="en-US" sz="2800" b="1">
                <a:solidFill>
                  <a:srgbClr val="000000"/>
                </a:solidFill>
                <a:latin typeface="Times New Roman" panose="02020603050405020304" pitchFamily="18" charset="0"/>
                <a:ea typeface="楷体_GB2312" pitchFamily="49" charset="-122"/>
              </a:rPr>
              <a:t>正好在</a:t>
            </a:r>
            <a:r>
              <a:rPr kumimoji="1" lang="en-US" altLang="zh-CN" sz="2800" b="1">
                <a:solidFill>
                  <a:srgbClr val="000000"/>
                </a:solidFill>
                <a:latin typeface="Times New Roman" panose="02020603050405020304" pitchFamily="18" charset="0"/>
                <a:ea typeface="楷体_GB2312" pitchFamily="49" charset="-122"/>
              </a:rPr>
              <a:t>Stud[i]</a:t>
            </a:r>
            <a:r>
              <a:rPr kumimoji="1" lang="zh-CN" altLang="en-US" sz="2800" b="1">
                <a:solidFill>
                  <a:srgbClr val="000000"/>
                </a:solidFill>
                <a:latin typeface="Times New Roman" panose="02020603050405020304" pitchFamily="18" charset="0"/>
                <a:ea typeface="楷体_GB2312" pitchFamily="49" charset="-122"/>
              </a:rPr>
              <a:t>之后。</a:t>
            </a:r>
          </a:p>
        </p:txBody>
      </p:sp>
      <p:grpSp>
        <p:nvGrpSpPr>
          <p:cNvPr id="2" name="Group 38"/>
          <p:cNvGrpSpPr>
            <a:grpSpLocks/>
          </p:cNvGrpSpPr>
          <p:nvPr/>
        </p:nvGrpSpPr>
        <p:grpSpPr bwMode="auto">
          <a:xfrm>
            <a:off x="714375" y="3571875"/>
            <a:ext cx="7818438" cy="2312988"/>
            <a:chOff x="451" y="2256"/>
            <a:chExt cx="4925" cy="1457"/>
          </a:xfrm>
        </p:grpSpPr>
        <p:sp>
          <p:nvSpPr>
            <p:cNvPr id="47110" name="Rectangle 12"/>
            <p:cNvSpPr>
              <a:spLocks noChangeArrowheads="1"/>
            </p:cNvSpPr>
            <p:nvPr/>
          </p:nvSpPr>
          <p:spPr bwMode="auto">
            <a:xfrm>
              <a:off x="4837" y="2832"/>
              <a:ext cx="539"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2400">
                  <a:solidFill>
                    <a:srgbClr val="0033CC"/>
                  </a:solidFill>
                  <a:latin typeface="宋体" panose="02010600030101010101" pitchFamily="2" charset="-122"/>
                </a:rPr>
                <a:t>9901</a:t>
              </a:r>
            </a:p>
          </p:txBody>
        </p:sp>
        <p:sp>
          <p:nvSpPr>
            <p:cNvPr id="47111" name="Rectangle 11"/>
            <p:cNvSpPr>
              <a:spLocks noChangeArrowheads="1"/>
            </p:cNvSpPr>
            <p:nvPr/>
          </p:nvSpPr>
          <p:spPr bwMode="auto">
            <a:xfrm>
              <a:off x="4299" y="2832"/>
              <a:ext cx="538"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zh-CN" altLang="en-US" sz="2400">
                  <a:solidFill>
                    <a:srgbClr val="0033CC"/>
                  </a:solidFill>
                  <a:latin typeface="宋体" panose="02010600030101010101" pitchFamily="2" charset="-122"/>
                </a:rPr>
                <a:t>女</a:t>
              </a:r>
            </a:p>
          </p:txBody>
        </p:sp>
        <p:sp>
          <p:nvSpPr>
            <p:cNvPr id="47112" name="Rectangle 10"/>
            <p:cNvSpPr>
              <a:spLocks noChangeArrowheads="1"/>
            </p:cNvSpPr>
            <p:nvPr/>
          </p:nvSpPr>
          <p:spPr bwMode="auto">
            <a:xfrm>
              <a:off x="3760" y="2832"/>
              <a:ext cx="539"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zh-CN" altLang="en-US" sz="2400">
                  <a:solidFill>
                    <a:srgbClr val="0033CC"/>
                  </a:solidFill>
                  <a:latin typeface="宋体" panose="02010600030101010101" pitchFamily="2" charset="-122"/>
                </a:rPr>
                <a:t>王萍</a:t>
              </a:r>
            </a:p>
          </p:txBody>
        </p:sp>
        <p:sp>
          <p:nvSpPr>
            <p:cNvPr id="47113" name="Rectangle 9"/>
            <p:cNvSpPr>
              <a:spLocks noChangeArrowheads="1"/>
            </p:cNvSpPr>
            <p:nvPr/>
          </p:nvSpPr>
          <p:spPr bwMode="auto">
            <a:xfrm>
              <a:off x="3221" y="2832"/>
              <a:ext cx="539"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2400">
                  <a:solidFill>
                    <a:srgbClr val="0033CC"/>
                  </a:solidFill>
                  <a:latin typeface="宋体" panose="02010600030101010101" pitchFamily="2" charset="-122"/>
                </a:rPr>
                <a:t>5</a:t>
              </a:r>
            </a:p>
          </p:txBody>
        </p:sp>
        <p:sp>
          <p:nvSpPr>
            <p:cNvPr id="47114" name="Rectangle 8"/>
            <p:cNvSpPr>
              <a:spLocks noChangeArrowheads="1"/>
            </p:cNvSpPr>
            <p:nvPr/>
          </p:nvSpPr>
          <p:spPr bwMode="auto">
            <a:xfrm>
              <a:off x="2683" y="2832"/>
              <a:ext cx="538"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2400" b="1">
                  <a:solidFill>
                    <a:srgbClr val="0033CC"/>
                  </a:solidFill>
                </a:rPr>
                <a:t>…</a:t>
              </a:r>
              <a:endParaRPr lang="en-US" altLang="zh-CN" sz="2400" b="1">
                <a:solidFill>
                  <a:srgbClr val="0033CC"/>
                </a:solidFill>
                <a:latin typeface="宋体" panose="02010600030101010101" pitchFamily="2" charset="-122"/>
              </a:endParaRPr>
            </a:p>
          </p:txBody>
        </p:sp>
        <p:sp>
          <p:nvSpPr>
            <p:cNvPr id="47115" name="Rectangle 7"/>
            <p:cNvSpPr>
              <a:spLocks noChangeArrowheads="1"/>
            </p:cNvSpPr>
            <p:nvPr/>
          </p:nvSpPr>
          <p:spPr bwMode="auto">
            <a:xfrm>
              <a:off x="2144" y="2832"/>
              <a:ext cx="539"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2400">
                  <a:solidFill>
                    <a:srgbClr val="0033CC"/>
                  </a:solidFill>
                  <a:latin typeface="宋体" panose="02010600030101010101" pitchFamily="2" charset="-122"/>
                </a:rPr>
                <a:t>9901</a:t>
              </a:r>
            </a:p>
          </p:txBody>
        </p:sp>
        <p:sp>
          <p:nvSpPr>
            <p:cNvPr id="47116" name="Rectangle 6"/>
            <p:cNvSpPr>
              <a:spLocks noChangeArrowheads="1"/>
            </p:cNvSpPr>
            <p:nvPr/>
          </p:nvSpPr>
          <p:spPr bwMode="auto">
            <a:xfrm>
              <a:off x="1605" y="2832"/>
              <a:ext cx="539"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zh-CN" altLang="en-US" sz="2400">
                  <a:solidFill>
                    <a:srgbClr val="0033CC"/>
                  </a:solidFill>
                  <a:latin typeface="宋体" panose="02010600030101010101" pitchFamily="2" charset="-122"/>
                </a:rPr>
                <a:t>男</a:t>
              </a:r>
            </a:p>
          </p:txBody>
        </p:sp>
        <p:sp>
          <p:nvSpPr>
            <p:cNvPr id="47117" name="Rectangle 5"/>
            <p:cNvSpPr>
              <a:spLocks noChangeArrowheads="1"/>
            </p:cNvSpPr>
            <p:nvPr/>
          </p:nvSpPr>
          <p:spPr bwMode="auto">
            <a:xfrm>
              <a:off x="1067" y="2832"/>
              <a:ext cx="538"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zh-CN" altLang="en-US" sz="2400" b="1">
                  <a:solidFill>
                    <a:srgbClr val="0033CC"/>
                  </a:solidFill>
                  <a:latin typeface="宋体" panose="02010600030101010101" pitchFamily="2" charset="-122"/>
                </a:rPr>
                <a:t>张斌</a:t>
              </a:r>
            </a:p>
          </p:txBody>
        </p:sp>
        <p:sp>
          <p:nvSpPr>
            <p:cNvPr id="47118" name="Rectangle 4"/>
            <p:cNvSpPr>
              <a:spLocks noChangeArrowheads="1"/>
            </p:cNvSpPr>
            <p:nvPr/>
          </p:nvSpPr>
          <p:spPr bwMode="auto">
            <a:xfrm>
              <a:off x="528" y="2832"/>
              <a:ext cx="539"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2400">
                  <a:solidFill>
                    <a:srgbClr val="0033CC"/>
                  </a:solidFill>
                  <a:latin typeface="宋体" panose="02010600030101010101" pitchFamily="2" charset="-122"/>
                </a:rPr>
                <a:t>1</a:t>
              </a:r>
            </a:p>
          </p:txBody>
        </p:sp>
        <p:sp>
          <p:nvSpPr>
            <p:cNvPr id="47119" name="Line 13"/>
            <p:cNvSpPr>
              <a:spLocks noChangeShapeType="1"/>
            </p:cNvSpPr>
            <p:nvPr/>
          </p:nvSpPr>
          <p:spPr bwMode="auto">
            <a:xfrm>
              <a:off x="528" y="2832"/>
              <a:ext cx="4848" cy="0"/>
            </a:xfrm>
            <a:prstGeom prst="line">
              <a:avLst/>
            </a:prstGeom>
            <a:noFill/>
            <a:ln w="28575" cap="sq">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7120" name="Line 14"/>
            <p:cNvSpPr>
              <a:spLocks noChangeShapeType="1"/>
            </p:cNvSpPr>
            <p:nvPr/>
          </p:nvSpPr>
          <p:spPr bwMode="auto">
            <a:xfrm>
              <a:off x="528" y="3152"/>
              <a:ext cx="4848" cy="0"/>
            </a:xfrm>
            <a:prstGeom prst="line">
              <a:avLst/>
            </a:prstGeom>
            <a:noFill/>
            <a:ln w="28575" cap="sq">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7121" name="Line 15"/>
            <p:cNvSpPr>
              <a:spLocks noChangeShapeType="1"/>
            </p:cNvSpPr>
            <p:nvPr/>
          </p:nvSpPr>
          <p:spPr bwMode="auto">
            <a:xfrm>
              <a:off x="528" y="2832"/>
              <a:ext cx="0" cy="320"/>
            </a:xfrm>
            <a:prstGeom prst="line">
              <a:avLst/>
            </a:prstGeom>
            <a:noFill/>
            <a:ln w="28575" cap="sq">
              <a:solidFill>
                <a:srgbClr val="0033CC"/>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7122" name="Line 16"/>
            <p:cNvSpPr>
              <a:spLocks noChangeShapeType="1"/>
            </p:cNvSpPr>
            <p:nvPr/>
          </p:nvSpPr>
          <p:spPr bwMode="auto">
            <a:xfrm>
              <a:off x="1067" y="2832"/>
              <a:ext cx="0" cy="320"/>
            </a:xfrm>
            <a:prstGeom prst="line">
              <a:avLst/>
            </a:prstGeom>
            <a:noFill/>
            <a:ln w="12700">
              <a:solidFill>
                <a:srgbClr val="0033CC"/>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7123" name="Line 17"/>
            <p:cNvSpPr>
              <a:spLocks noChangeShapeType="1"/>
            </p:cNvSpPr>
            <p:nvPr/>
          </p:nvSpPr>
          <p:spPr bwMode="auto">
            <a:xfrm>
              <a:off x="1605" y="2832"/>
              <a:ext cx="0" cy="320"/>
            </a:xfrm>
            <a:prstGeom prst="line">
              <a:avLst/>
            </a:prstGeom>
            <a:noFill/>
            <a:ln w="12700">
              <a:solidFill>
                <a:srgbClr val="0033CC"/>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7124" name="Line 18"/>
            <p:cNvSpPr>
              <a:spLocks noChangeShapeType="1"/>
            </p:cNvSpPr>
            <p:nvPr/>
          </p:nvSpPr>
          <p:spPr bwMode="auto">
            <a:xfrm>
              <a:off x="2144" y="2832"/>
              <a:ext cx="0" cy="320"/>
            </a:xfrm>
            <a:prstGeom prst="line">
              <a:avLst/>
            </a:prstGeom>
            <a:noFill/>
            <a:ln w="12700">
              <a:solidFill>
                <a:srgbClr val="0033CC"/>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7125" name="Line 19"/>
            <p:cNvSpPr>
              <a:spLocks noChangeShapeType="1"/>
            </p:cNvSpPr>
            <p:nvPr/>
          </p:nvSpPr>
          <p:spPr bwMode="auto">
            <a:xfrm>
              <a:off x="2683" y="2832"/>
              <a:ext cx="0" cy="320"/>
            </a:xfrm>
            <a:prstGeom prst="line">
              <a:avLst/>
            </a:prstGeom>
            <a:noFill/>
            <a:ln w="12700">
              <a:solidFill>
                <a:srgbClr val="0033CC"/>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7126" name="Line 20"/>
            <p:cNvSpPr>
              <a:spLocks noChangeShapeType="1"/>
            </p:cNvSpPr>
            <p:nvPr/>
          </p:nvSpPr>
          <p:spPr bwMode="auto">
            <a:xfrm>
              <a:off x="3221" y="2832"/>
              <a:ext cx="0" cy="320"/>
            </a:xfrm>
            <a:prstGeom prst="line">
              <a:avLst/>
            </a:prstGeom>
            <a:noFill/>
            <a:ln w="12700">
              <a:solidFill>
                <a:srgbClr val="0033CC"/>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7127" name="Line 21"/>
            <p:cNvSpPr>
              <a:spLocks noChangeShapeType="1"/>
            </p:cNvSpPr>
            <p:nvPr/>
          </p:nvSpPr>
          <p:spPr bwMode="auto">
            <a:xfrm>
              <a:off x="3760" y="2832"/>
              <a:ext cx="0" cy="320"/>
            </a:xfrm>
            <a:prstGeom prst="line">
              <a:avLst/>
            </a:prstGeom>
            <a:noFill/>
            <a:ln w="12700">
              <a:solidFill>
                <a:srgbClr val="0033CC"/>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7128" name="Line 22"/>
            <p:cNvSpPr>
              <a:spLocks noChangeShapeType="1"/>
            </p:cNvSpPr>
            <p:nvPr/>
          </p:nvSpPr>
          <p:spPr bwMode="auto">
            <a:xfrm>
              <a:off x="4299" y="2832"/>
              <a:ext cx="0" cy="320"/>
            </a:xfrm>
            <a:prstGeom prst="line">
              <a:avLst/>
            </a:prstGeom>
            <a:noFill/>
            <a:ln w="12700">
              <a:solidFill>
                <a:srgbClr val="0033CC"/>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7129" name="Line 23"/>
            <p:cNvSpPr>
              <a:spLocks noChangeShapeType="1"/>
            </p:cNvSpPr>
            <p:nvPr/>
          </p:nvSpPr>
          <p:spPr bwMode="auto">
            <a:xfrm>
              <a:off x="4837" y="2832"/>
              <a:ext cx="0" cy="320"/>
            </a:xfrm>
            <a:prstGeom prst="line">
              <a:avLst/>
            </a:prstGeom>
            <a:noFill/>
            <a:ln w="12700">
              <a:solidFill>
                <a:srgbClr val="0033CC"/>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7130" name="Line 24"/>
            <p:cNvSpPr>
              <a:spLocks noChangeShapeType="1"/>
            </p:cNvSpPr>
            <p:nvPr/>
          </p:nvSpPr>
          <p:spPr bwMode="auto">
            <a:xfrm>
              <a:off x="5376" y="2832"/>
              <a:ext cx="0" cy="320"/>
            </a:xfrm>
            <a:prstGeom prst="line">
              <a:avLst/>
            </a:prstGeom>
            <a:noFill/>
            <a:ln w="28575" cap="sq">
              <a:solidFill>
                <a:srgbClr val="0033CC"/>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7131" name="AutoShape 31"/>
            <p:cNvSpPr>
              <a:spLocks/>
            </p:cNvSpPr>
            <p:nvPr/>
          </p:nvSpPr>
          <p:spPr bwMode="auto">
            <a:xfrm rot="5400000">
              <a:off x="1579" y="1859"/>
              <a:ext cx="157" cy="1587"/>
            </a:xfrm>
            <a:prstGeom prst="leftBrace">
              <a:avLst>
                <a:gd name="adj1" fmla="val 0"/>
                <a:gd name="adj2" fmla="val 50000"/>
              </a:avLst>
            </a:prstGeom>
            <a:noFill/>
            <a:ln w="38100">
              <a:solidFill>
                <a:srgbClr val="0033CC"/>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srgbClr val="0033CC"/>
                </a:solidFill>
              </a:endParaRPr>
            </a:p>
          </p:txBody>
        </p:sp>
        <p:sp>
          <p:nvSpPr>
            <p:cNvPr id="47132" name="Text Box 32"/>
            <p:cNvSpPr txBox="1">
              <a:spLocks noChangeArrowheads="1"/>
            </p:cNvSpPr>
            <p:nvPr/>
          </p:nvSpPr>
          <p:spPr bwMode="auto">
            <a:xfrm>
              <a:off x="1248" y="2256"/>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a:solidFill>
                    <a:srgbClr val="0033CC"/>
                  </a:solidFill>
                  <a:latin typeface="Times New Roman" panose="02020603050405020304" pitchFamily="18" charset="0"/>
                </a:rPr>
                <a:t>Stud[0]</a:t>
              </a:r>
            </a:p>
          </p:txBody>
        </p:sp>
        <p:sp>
          <p:nvSpPr>
            <p:cNvPr id="47133" name="AutoShape 33"/>
            <p:cNvSpPr>
              <a:spLocks/>
            </p:cNvSpPr>
            <p:nvPr/>
          </p:nvSpPr>
          <p:spPr bwMode="auto">
            <a:xfrm rot="5400000">
              <a:off x="4297" y="1892"/>
              <a:ext cx="91" cy="1587"/>
            </a:xfrm>
            <a:prstGeom prst="leftBrace">
              <a:avLst>
                <a:gd name="adj1" fmla="val 0"/>
                <a:gd name="adj2" fmla="val 50000"/>
              </a:avLst>
            </a:prstGeom>
            <a:noFill/>
            <a:ln w="38100">
              <a:solidFill>
                <a:srgbClr val="0033CC"/>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srgbClr val="0033CC"/>
                </a:solidFill>
              </a:endParaRPr>
            </a:p>
          </p:txBody>
        </p:sp>
        <p:sp>
          <p:nvSpPr>
            <p:cNvPr id="47134" name="Text Box 34"/>
            <p:cNvSpPr txBox="1">
              <a:spLocks noChangeArrowheads="1"/>
            </p:cNvSpPr>
            <p:nvPr/>
          </p:nvSpPr>
          <p:spPr bwMode="auto">
            <a:xfrm>
              <a:off x="3933" y="2256"/>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a:solidFill>
                    <a:srgbClr val="0033CC"/>
                  </a:solidFill>
                  <a:latin typeface="Times New Roman" panose="02020603050405020304" pitchFamily="18" charset="0"/>
                </a:rPr>
                <a:t>Stud[6]</a:t>
              </a:r>
            </a:p>
          </p:txBody>
        </p:sp>
        <p:sp>
          <p:nvSpPr>
            <p:cNvPr id="47135" name="Line 35"/>
            <p:cNvSpPr>
              <a:spLocks noChangeShapeType="1"/>
            </p:cNvSpPr>
            <p:nvPr/>
          </p:nvSpPr>
          <p:spPr bwMode="auto">
            <a:xfrm flipV="1">
              <a:off x="528" y="3216"/>
              <a:ext cx="0" cy="240"/>
            </a:xfrm>
            <a:prstGeom prst="line">
              <a:avLst/>
            </a:prstGeom>
            <a:noFill/>
            <a:ln w="3810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7136" name="Text Box 36"/>
            <p:cNvSpPr txBox="1">
              <a:spLocks noChangeArrowheads="1"/>
            </p:cNvSpPr>
            <p:nvPr/>
          </p:nvSpPr>
          <p:spPr bwMode="auto">
            <a:xfrm>
              <a:off x="451" y="3425"/>
              <a:ext cx="17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a:solidFill>
                    <a:srgbClr val="0033CC"/>
                  </a:solidFill>
                  <a:latin typeface="Times New Roman" panose="02020603050405020304" pitchFamily="18" charset="0"/>
                </a:rPr>
                <a:t>Stud</a:t>
              </a:r>
              <a:r>
                <a:rPr kumimoji="1" lang="zh-CN" altLang="en-US" sz="2400" b="1">
                  <a:solidFill>
                    <a:srgbClr val="0033CC"/>
                  </a:solidFill>
                  <a:latin typeface="Times New Roman" panose="02020603050405020304" pitchFamily="18" charset="0"/>
                </a:rPr>
                <a:t>数组起始地址</a:t>
              </a:r>
            </a:p>
          </p:txBody>
        </p:sp>
      </p:grpSp>
      <p:sp>
        <p:nvSpPr>
          <p:cNvPr id="47108" name="灯片编号占位符 32"/>
          <p:cNvSpPr>
            <a:spLocks noGrp="1"/>
          </p:cNvSpPr>
          <p:nvPr>
            <p:ph type="sldNum" sz="quarter" idx="4294967295"/>
          </p:nvPr>
        </p:nvSpPr>
        <p:spPr bwMode="auto">
          <a:xfrm>
            <a:off x="7956550" y="6356350"/>
            <a:ext cx="73025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650A001-FAD5-4B9E-A77B-6E4E01E85F8E}" type="slidenum">
              <a:rPr lang="en-US" altLang="zh-CN"/>
              <a:pPr eaLnBrk="1" hangingPunct="1"/>
              <a:t>142</a:t>
            </a:fld>
            <a:endParaRPr lang="en-US" altLang="zh-CN"/>
          </a:p>
        </p:txBody>
      </p:sp>
      <p:sp>
        <p:nvSpPr>
          <p:cNvPr id="47109"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33" name="Rectangle 2"/>
          <p:cNvSpPr txBox="1">
            <a:spLocks noChangeArrowheads="1"/>
          </p:cNvSpPr>
          <p:nvPr/>
        </p:nvSpPr>
        <p:spPr>
          <a:xfrm>
            <a:off x="900113" y="476672"/>
            <a:ext cx="6788869" cy="638845"/>
          </a:xfrm>
          <a:prstGeom prst="rect">
            <a:avLst/>
          </a:prstGeom>
        </p:spPr>
        <p:txBody>
          <a:bodyPr/>
          <a:lstStyle>
            <a:lvl1pPr algn="l" rtl="0" eaLnBrk="0" fontAlgn="base" hangingPunct="0">
              <a:spcBef>
                <a:spcPct val="0"/>
              </a:spcBef>
              <a:spcAft>
                <a:spcPct val="0"/>
              </a:spcAft>
              <a:defRPr sz="3200">
                <a:solidFill>
                  <a:schemeClr val="accent2"/>
                </a:solidFill>
                <a:latin typeface="+mj-lt"/>
                <a:ea typeface="+mj-ea"/>
                <a:cs typeface="+mj-cs"/>
              </a:defRPr>
            </a:lvl1pPr>
            <a:lvl2pPr algn="l" rtl="0" eaLnBrk="0" fontAlgn="base" hangingPunct="0">
              <a:spcBef>
                <a:spcPct val="0"/>
              </a:spcBef>
              <a:spcAft>
                <a:spcPct val="0"/>
              </a:spcAft>
              <a:defRPr sz="3200">
                <a:solidFill>
                  <a:schemeClr val="accent2"/>
                </a:solidFill>
                <a:latin typeface="Garamond" pitchFamily="18" charset="0"/>
                <a:ea typeface="宋体" pitchFamily="2" charset="-122"/>
              </a:defRPr>
            </a:lvl2pPr>
            <a:lvl3pPr algn="l" rtl="0" eaLnBrk="0" fontAlgn="base" hangingPunct="0">
              <a:spcBef>
                <a:spcPct val="0"/>
              </a:spcBef>
              <a:spcAft>
                <a:spcPct val="0"/>
              </a:spcAft>
              <a:defRPr sz="3200">
                <a:solidFill>
                  <a:schemeClr val="accent2"/>
                </a:solidFill>
                <a:latin typeface="Garamond" pitchFamily="18" charset="0"/>
                <a:ea typeface="宋体" pitchFamily="2" charset="-122"/>
              </a:defRPr>
            </a:lvl3pPr>
            <a:lvl4pPr algn="l" rtl="0" eaLnBrk="0" fontAlgn="base" hangingPunct="0">
              <a:spcBef>
                <a:spcPct val="0"/>
              </a:spcBef>
              <a:spcAft>
                <a:spcPct val="0"/>
              </a:spcAft>
              <a:defRPr sz="3200">
                <a:solidFill>
                  <a:schemeClr val="accent2"/>
                </a:solidFill>
                <a:latin typeface="Garamond" pitchFamily="18" charset="0"/>
                <a:ea typeface="宋体" pitchFamily="2" charset="-122"/>
              </a:defRPr>
            </a:lvl4pPr>
            <a:lvl5pPr algn="l" rtl="0" eaLnBrk="0" fontAlgn="base" hangingPunct="0">
              <a:spcBef>
                <a:spcPct val="0"/>
              </a:spcBef>
              <a:spcAft>
                <a:spcPct val="0"/>
              </a:spcAft>
              <a:defRPr sz="3200">
                <a:solidFill>
                  <a:schemeClr val="accent2"/>
                </a:solidFill>
                <a:latin typeface="Garamond" pitchFamily="18" charset="0"/>
                <a:ea typeface="宋体" pitchFamily="2" charset="-122"/>
              </a:defRPr>
            </a:lvl5pPr>
            <a:lvl6pPr marL="457200" algn="l" rtl="0" fontAlgn="base">
              <a:spcBef>
                <a:spcPct val="0"/>
              </a:spcBef>
              <a:spcAft>
                <a:spcPct val="0"/>
              </a:spcAft>
              <a:defRPr sz="3200">
                <a:solidFill>
                  <a:schemeClr val="accent2"/>
                </a:solidFill>
                <a:latin typeface="Garamond" pitchFamily="18" charset="0"/>
                <a:ea typeface="宋体" pitchFamily="2" charset="-122"/>
              </a:defRPr>
            </a:lvl6pPr>
            <a:lvl7pPr marL="914400" algn="l" rtl="0" fontAlgn="base">
              <a:spcBef>
                <a:spcPct val="0"/>
              </a:spcBef>
              <a:spcAft>
                <a:spcPct val="0"/>
              </a:spcAft>
              <a:defRPr sz="3200">
                <a:solidFill>
                  <a:schemeClr val="accent2"/>
                </a:solidFill>
                <a:latin typeface="Garamond" pitchFamily="18" charset="0"/>
                <a:ea typeface="宋体" pitchFamily="2" charset="-122"/>
              </a:defRPr>
            </a:lvl7pPr>
            <a:lvl8pPr marL="1371600" algn="l" rtl="0" fontAlgn="base">
              <a:spcBef>
                <a:spcPct val="0"/>
              </a:spcBef>
              <a:spcAft>
                <a:spcPct val="0"/>
              </a:spcAft>
              <a:defRPr sz="3200">
                <a:solidFill>
                  <a:schemeClr val="accent2"/>
                </a:solidFill>
                <a:latin typeface="Garamond" pitchFamily="18" charset="0"/>
                <a:ea typeface="宋体" pitchFamily="2" charset="-122"/>
              </a:defRPr>
            </a:lvl8pPr>
            <a:lvl9pPr marL="1828800" algn="l" rtl="0" fontAlgn="base">
              <a:spcBef>
                <a:spcPct val="0"/>
              </a:spcBef>
              <a:spcAft>
                <a:spcPct val="0"/>
              </a:spcAft>
              <a:defRPr sz="3200">
                <a:solidFill>
                  <a:schemeClr val="accent2"/>
                </a:solidFill>
                <a:latin typeface="Garamond" pitchFamily="18" charset="0"/>
                <a:ea typeface="宋体" pitchFamily="2" charset="-122"/>
              </a:defRPr>
            </a:lvl9pPr>
          </a:lstStyle>
          <a:p>
            <a:pPr eaLnBrk="1" hangingPunct="1"/>
            <a:r>
              <a:rPr lang="en-US" altLang="zh-CN" kern="0" smtClean="0">
                <a:solidFill>
                  <a:srgbClr val="333399"/>
                </a:solidFill>
              </a:rPr>
              <a:t>1.4.3 </a:t>
            </a:r>
            <a:r>
              <a:rPr lang="zh-CN" altLang="en-US" kern="0" smtClean="0"/>
              <a:t>链表</a:t>
            </a:r>
            <a:endParaRPr lang="en-US" altLang="zh-CN" kern="0" dirty="0" smtClean="0"/>
          </a:p>
        </p:txBody>
      </p:sp>
    </p:spTree>
    <p:extLst>
      <p:ext uri="{BB962C8B-B14F-4D97-AF65-F5344CB8AC3E}">
        <p14:creationId xmlns:p14="http://schemas.microsoft.com/office/powerpoint/2010/main" val="7148046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2"/>
          <p:cNvSpPr txBox="1">
            <a:spLocks noChangeArrowheads="1"/>
          </p:cNvSpPr>
          <p:nvPr/>
        </p:nvSpPr>
        <p:spPr bwMode="auto">
          <a:xfrm>
            <a:off x="304800" y="1341438"/>
            <a:ext cx="8534400" cy="408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kumimoji="1" lang="en-US" altLang="zh-CN" sz="3600">
                <a:solidFill>
                  <a:srgbClr val="000000"/>
                </a:solidFill>
                <a:latin typeface="楷体_GB2312" pitchFamily="49" charset="-122"/>
                <a:ea typeface="楷体_GB2312" pitchFamily="49" charset="-122"/>
              </a:rPr>
              <a:t>  </a:t>
            </a:r>
            <a:r>
              <a:rPr kumimoji="1" lang="zh-CN" altLang="en-US" sz="2800" b="1">
                <a:solidFill>
                  <a:srgbClr val="000000"/>
                </a:solidFill>
                <a:latin typeface="Times New Roman" panose="02020603050405020304" pitchFamily="18" charset="0"/>
                <a:ea typeface="楷体_GB2312" pitchFamily="49" charset="-122"/>
              </a:rPr>
              <a:t>存放学生表的链表的结点类型</a:t>
            </a:r>
            <a:r>
              <a:rPr kumimoji="1" lang="en-US" altLang="zh-CN" sz="2800" b="1">
                <a:solidFill>
                  <a:srgbClr val="000000"/>
                </a:solidFill>
                <a:latin typeface="Times New Roman" panose="02020603050405020304" pitchFamily="18" charset="0"/>
                <a:ea typeface="楷体_GB2312" pitchFamily="49" charset="-122"/>
              </a:rPr>
              <a:t>StudType</a:t>
            </a:r>
            <a:r>
              <a:rPr kumimoji="1" lang="zh-CN" altLang="en-US" sz="2800" b="1">
                <a:solidFill>
                  <a:srgbClr val="000000"/>
                </a:solidFill>
                <a:latin typeface="Times New Roman" panose="02020603050405020304" pitchFamily="18" charset="0"/>
                <a:ea typeface="楷体_GB2312" pitchFamily="49" charset="-122"/>
              </a:rPr>
              <a:t>定义为：</a:t>
            </a:r>
          </a:p>
          <a:p>
            <a:pPr algn="just" eaLnBrk="1" hangingPunct="1">
              <a:lnSpc>
                <a:spcPct val="80000"/>
              </a:lnSpc>
              <a:spcBef>
                <a:spcPct val="50000"/>
              </a:spcBef>
            </a:pPr>
            <a:r>
              <a:rPr kumimoji="1" lang="zh-CN" altLang="en-US" sz="2800" b="1">
                <a:solidFill>
                  <a:srgbClr val="000000"/>
                </a:solidFill>
                <a:latin typeface="Times New Roman" panose="02020603050405020304" pitchFamily="18" charset="0"/>
                <a:ea typeface="楷体_GB2312" pitchFamily="49" charset="-122"/>
              </a:rPr>
              <a:t>     </a:t>
            </a:r>
            <a:r>
              <a:rPr kumimoji="1" lang="en-US" altLang="zh-CN" sz="2400" b="1">
                <a:solidFill>
                  <a:srgbClr val="000000"/>
                </a:solidFill>
                <a:latin typeface="Times New Roman" panose="02020603050405020304" pitchFamily="18" charset="0"/>
                <a:ea typeface="楷体_GB2312" pitchFamily="49" charset="-122"/>
              </a:rPr>
              <a:t>typedef struct studnode</a:t>
            </a:r>
          </a:p>
          <a:p>
            <a:pPr algn="just" eaLnBrk="1" hangingPunct="1">
              <a:lnSpc>
                <a:spcPct val="80000"/>
              </a:lnSpc>
              <a:spcBef>
                <a:spcPct val="50000"/>
              </a:spcBef>
            </a:pPr>
            <a:r>
              <a:rPr kumimoji="1" lang="en-US" altLang="zh-CN" sz="2400" b="1">
                <a:solidFill>
                  <a:srgbClr val="000000"/>
                </a:solidFill>
                <a:latin typeface="Times New Roman" panose="02020603050405020304" pitchFamily="18" charset="0"/>
                <a:ea typeface="楷体_GB2312" pitchFamily="49" charset="-122"/>
              </a:rPr>
              <a:t>     {	int no; 		/*</a:t>
            </a:r>
            <a:r>
              <a:rPr kumimoji="1" lang="zh-CN" altLang="en-US" sz="2400" b="1">
                <a:solidFill>
                  <a:srgbClr val="000000"/>
                </a:solidFill>
                <a:latin typeface="Times New Roman" panose="02020603050405020304" pitchFamily="18" charset="0"/>
                <a:ea typeface="楷体_GB2312" pitchFamily="49" charset="-122"/>
              </a:rPr>
              <a:t>存储学号*</a:t>
            </a:r>
            <a:r>
              <a:rPr kumimoji="1" lang="en-US" altLang="zh-CN" sz="2400" b="1">
                <a:solidFill>
                  <a:srgbClr val="000000"/>
                </a:solidFill>
                <a:latin typeface="Times New Roman" panose="02020603050405020304" pitchFamily="18" charset="0"/>
                <a:ea typeface="楷体_GB2312" pitchFamily="49" charset="-122"/>
              </a:rPr>
              <a:t>/</a:t>
            </a:r>
          </a:p>
          <a:p>
            <a:pPr algn="just" eaLnBrk="1" hangingPunct="1">
              <a:lnSpc>
                <a:spcPct val="80000"/>
              </a:lnSpc>
              <a:spcBef>
                <a:spcPct val="50000"/>
              </a:spcBef>
            </a:pPr>
            <a:r>
              <a:rPr kumimoji="1" lang="en-US" altLang="zh-CN" sz="2400" b="1">
                <a:solidFill>
                  <a:srgbClr val="000000"/>
                </a:solidFill>
                <a:latin typeface="Times New Roman" panose="02020603050405020304" pitchFamily="18" charset="0"/>
                <a:ea typeface="楷体_GB2312" pitchFamily="49" charset="-122"/>
              </a:rPr>
              <a:t>  	char name[8];      	/*</a:t>
            </a:r>
            <a:r>
              <a:rPr kumimoji="1" lang="zh-CN" altLang="en-US" sz="2400" b="1">
                <a:solidFill>
                  <a:srgbClr val="000000"/>
                </a:solidFill>
                <a:latin typeface="Times New Roman" panose="02020603050405020304" pitchFamily="18" charset="0"/>
                <a:ea typeface="楷体_GB2312" pitchFamily="49" charset="-122"/>
              </a:rPr>
              <a:t>存储姓名*</a:t>
            </a:r>
            <a:r>
              <a:rPr kumimoji="1" lang="en-US" altLang="zh-CN" sz="2400" b="1">
                <a:solidFill>
                  <a:srgbClr val="000000"/>
                </a:solidFill>
                <a:latin typeface="Times New Roman" panose="02020603050405020304" pitchFamily="18" charset="0"/>
                <a:ea typeface="楷体_GB2312" pitchFamily="49" charset="-122"/>
              </a:rPr>
              <a:t>/</a:t>
            </a:r>
          </a:p>
          <a:p>
            <a:pPr algn="just" eaLnBrk="1" hangingPunct="1">
              <a:lnSpc>
                <a:spcPct val="80000"/>
              </a:lnSpc>
              <a:spcBef>
                <a:spcPct val="50000"/>
              </a:spcBef>
            </a:pPr>
            <a:r>
              <a:rPr kumimoji="1" lang="en-US" altLang="zh-CN" sz="2400" b="1">
                <a:solidFill>
                  <a:srgbClr val="000000"/>
                </a:solidFill>
                <a:latin typeface="Times New Roman" panose="02020603050405020304" pitchFamily="18" charset="0"/>
                <a:ea typeface="楷体_GB2312" pitchFamily="49" charset="-122"/>
              </a:rPr>
              <a:t>  	char sex[2];          	/*</a:t>
            </a:r>
            <a:r>
              <a:rPr kumimoji="1" lang="zh-CN" altLang="en-US" sz="2400" b="1">
                <a:solidFill>
                  <a:srgbClr val="000000"/>
                </a:solidFill>
                <a:latin typeface="Times New Roman" panose="02020603050405020304" pitchFamily="18" charset="0"/>
                <a:ea typeface="楷体_GB2312" pitchFamily="49" charset="-122"/>
              </a:rPr>
              <a:t>存储性别*</a:t>
            </a:r>
            <a:r>
              <a:rPr kumimoji="1" lang="en-US" altLang="zh-CN" sz="2400" b="1">
                <a:solidFill>
                  <a:srgbClr val="000000"/>
                </a:solidFill>
                <a:latin typeface="Times New Roman" panose="02020603050405020304" pitchFamily="18" charset="0"/>
                <a:ea typeface="楷体_GB2312" pitchFamily="49" charset="-122"/>
              </a:rPr>
              <a:t>/</a:t>
            </a:r>
          </a:p>
          <a:p>
            <a:pPr algn="just" eaLnBrk="1" hangingPunct="1">
              <a:lnSpc>
                <a:spcPct val="80000"/>
              </a:lnSpc>
              <a:spcBef>
                <a:spcPct val="50000"/>
              </a:spcBef>
            </a:pPr>
            <a:r>
              <a:rPr kumimoji="1" lang="en-US" altLang="zh-CN" sz="2400" b="1">
                <a:solidFill>
                  <a:srgbClr val="000000"/>
                </a:solidFill>
                <a:latin typeface="Times New Roman" panose="02020603050405020304" pitchFamily="18" charset="0"/>
                <a:ea typeface="楷体_GB2312" pitchFamily="49" charset="-122"/>
              </a:rPr>
              <a:t>  	char class[4];       	/*</a:t>
            </a:r>
            <a:r>
              <a:rPr kumimoji="1" lang="zh-CN" altLang="en-US" sz="2400" b="1">
                <a:solidFill>
                  <a:srgbClr val="000000"/>
                </a:solidFill>
                <a:latin typeface="Times New Roman" panose="02020603050405020304" pitchFamily="18" charset="0"/>
                <a:ea typeface="楷体_GB2312" pitchFamily="49" charset="-122"/>
              </a:rPr>
              <a:t>存储班号*</a:t>
            </a:r>
            <a:r>
              <a:rPr kumimoji="1" lang="en-US" altLang="zh-CN" sz="2400" b="1">
                <a:solidFill>
                  <a:srgbClr val="000000"/>
                </a:solidFill>
                <a:latin typeface="Times New Roman" panose="02020603050405020304" pitchFamily="18" charset="0"/>
                <a:ea typeface="楷体_GB2312" pitchFamily="49" charset="-122"/>
              </a:rPr>
              <a:t>/</a:t>
            </a:r>
          </a:p>
          <a:p>
            <a:pPr algn="just" eaLnBrk="1" hangingPunct="1">
              <a:lnSpc>
                <a:spcPct val="80000"/>
              </a:lnSpc>
              <a:spcBef>
                <a:spcPct val="50000"/>
              </a:spcBef>
            </a:pPr>
            <a:r>
              <a:rPr kumimoji="1" lang="en-US" altLang="zh-CN" sz="2400" b="1">
                <a:solidFill>
                  <a:srgbClr val="000000"/>
                </a:solidFill>
                <a:latin typeface="Times New Roman" panose="02020603050405020304" pitchFamily="18" charset="0"/>
                <a:ea typeface="楷体_GB2312" pitchFamily="49" charset="-122"/>
              </a:rPr>
              <a:t>  	struct studnode *next;   /*</a:t>
            </a:r>
            <a:r>
              <a:rPr kumimoji="1" lang="zh-CN" altLang="en-US" sz="2400" b="1">
                <a:solidFill>
                  <a:srgbClr val="000000"/>
                </a:solidFill>
                <a:latin typeface="Times New Roman" panose="02020603050405020304" pitchFamily="18" charset="0"/>
                <a:ea typeface="楷体_GB2312" pitchFamily="49" charset="-122"/>
              </a:rPr>
              <a:t>存储指向下一个学生的指针*</a:t>
            </a:r>
            <a:r>
              <a:rPr kumimoji="1" lang="en-US" altLang="zh-CN" sz="2400" b="1">
                <a:solidFill>
                  <a:srgbClr val="000000"/>
                </a:solidFill>
                <a:latin typeface="Times New Roman" panose="02020603050405020304" pitchFamily="18" charset="0"/>
                <a:ea typeface="楷体_GB2312" pitchFamily="49" charset="-122"/>
              </a:rPr>
              <a:t>/</a:t>
            </a:r>
          </a:p>
          <a:p>
            <a:pPr algn="just" eaLnBrk="1" hangingPunct="1">
              <a:lnSpc>
                <a:spcPct val="80000"/>
              </a:lnSpc>
              <a:spcBef>
                <a:spcPct val="50000"/>
              </a:spcBef>
            </a:pPr>
            <a:r>
              <a:rPr kumimoji="1" lang="en-US" altLang="zh-CN" sz="2400" b="1">
                <a:solidFill>
                  <a:srgbClr val="000000"/>
                </a:solidFill>
                <a:latin typeface="Times New Roman" panose="02020603050405020304" pitchFamily="18" charset="0"/>
                <a:ea typeface="楷体_GB2312" pitchFamily="49" charset="-122"/>
              </a:rPr>
              <a:t>     }   StudType</a:t>
            </a:r>
            <a:r>
              <a:rPr kumimoji="1" lang="zh-CN" altLang="en-US" sz="2400" b="1">
                <a:solidFill>
                  <a:srgbClr val="000000"/>
                </a:solidFill>
                <a:latin typeface="Times New Roman" panose="02020603050405020304" pitchFamily="18" charset="0"/>
                <a:ea typeface="楷体_GB2312" pitchFamily="49" charset="-122"/>
              </a:rPr>
              <a:t>；</a:t>
            </a:r>
          </a:p>
        </p:txBody>
      </p:sp>
      <p:sp>
        <p:nvSpPr>
          <p:cNvPr id="48131" name="灯片编号占位符 4"/>
          <p:cNvSpPr>
            <a:spLocks noGrp="1"/>
          </p:cNvSpPr>
          <p:nvPr>
            <p:ph type="sldNum" sz="quarter" idx="4294967295"/>
          </p:nvPr>
        </p:nvSpPr>
        <p:spPr bwMode="auto">
          <a:xfrm>
            <a:off x="7956550" y="6356350"/>
            <a:ext cx="73025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DFA751C-DD00-4902-A5CC-046E561227B7}" type="slidenum">
              <a:rPr lang="en-US" altLang="zh-CN"/>
              <a:pPr eaLnBrk="1" hangingPunct="1"/>
              <a:t>143</a:t>
            </a:fld>
            <a:endParaRPr lang="en-US" altLang="zh-CN"/>
          </a:p>
        </p:txBody>
      </p:sp>
      <p:sp>
        <p:nvSpPr>
          <p:cNvPr id="48132"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5" name="Rectangle 2"/>
          <p:cNvSpPr txBox="1">
            <a:spLocks noChangeArrowheads="1"/>
          </p:cNvSpPr>
          <p:nvPr/>
        </p:nvSpPr>
        <p:spPr>
          <a:xfrm>
            <a:off x="900113" y="476672"/>
            <a:ext cx="6788869" cy="638845"/>
          </a:xfrm>
          <a:prstGeom prst="rect">
            <a:avLst/>
          </a:prstGeom>
        </p:spPr>
        <p:txBody>
          <a:bodyPr/>
          <a:lstStyle>
            <a:lvl1pPr algn="l" rtl="0" eaLnBrk="0" fontAlgn="base" hangingPunct="0">
              <a:spcBef>
                <a:spcPct val="0"/>
              </a:spcBef>
              <a:spcAft>
                <a:spcPct val="0"/>
              </a:spcAft>
              <a:defRPr sz="3200">
                <a:solidFill>
                  <a:schemeClr val="accent2"/>
                </a:solidFill>
                <a:latin typeface="+mj-lt"/>
                <a:ea typeface="+mj-ea"/>
                <a:cs typeface="+mj-cs"/>
              </a:defRPr>
            </a:lvl1pPr>
            <a:lvl2pPr algn="l" rtl="0" eaLnBrk="0" fontAlgn="base" hangingPunct="0">
              <a:spcBef>
                <a:spcPct val="0"/>
              </a:spcBef>
              <a:spcAft>
                <a:spcPct val="0"/>
              </a:spcAft>
              <a:defRPr sz="3200">
                <a:solidFill>
                  <a:schemeClr val="accent2"/>
                </a:solidFill>
                <a:latin typeface="Garamond" pitchFamily="18" charset="0"/>
                <a:ea typeface="宋体" pitchFamily="2" charset="-122"/>
              </a:defRPr>
            </a:lvl2pPr>
            <a:lvl3pPr algn="l" rtl="0" eaLnBrk="0" fontAlgn="base" hangingPunct="0">
              <a:spcBef>
                <a:spcPct val="0"/>
              </a:spcBef>
              <a:spcAft>
                <a:spcPct val="0"/>
              </a:spcAft>
              <a:defRPr sz="3200">
                <a:solidFill>
                  <a:schemeClr val="accent2"/>
                </a:solidFill>
                <a:latin typeface="Garamond" pitchFamily="18" charset="0"/>
                <a:ea typeface="宋体" pitchFamily="2" charset="-122"/>
              </a:defRPr>
            </a:lvl3pPr>
            <a:lvl4pPr algn="l" rtl="0" eaLnBrk="0" fontAlgn="base" hangingPunct="0">
              <a:spcBef>
                <a:spcPct val="0"/>
              </a:spcBef>
              <a:spcAft>
                <a:spcPct val="0"/>
              </a:spcAft>
              <a:defRPr sz="3200">
                <a:solidFill>
                  <a:schemeClr val="accent2"/>
                </a:solidFill>
                <a:latin typeface="Garamond" pitchFamily="18" charset="0"/>
                <a:ea typeface="宋体" pitchFamily="2" charset="-122"/>
              </a:defRPr>
            </a:lvl4pPr>
            <a:lvl5pPr algn="l" rtl="0" eaLnBrk="0" fontAlgn="base" hangingPunct="0">
              <a:spcBef>
                <a:spcPct val="0"/>
              </a:spcBef>
              <a:spcAft>
                <a:spcPct val="0"/>
              </a:spcAft>
              <a:defRPr sz="3200">
                <a:solidFill>
                  <a:schemeClr val="accent2"/>
                </a:solidFill>
                <a:latin typeface="Garamond" pitchFamily="18" charset="0"/>
                <a:ea typeface="宋体" pitchFamily="2" charset="-122"/>
              </a:defRPr>
            </a:lvl5pPr>
            <a:lvl6pPr marL="457200" algn="l" rtl="0" fontAlgn="base">
              <a:spcBef>
                <a:spcPct val="0"/>
              </a:spcBef>
              <a:spcAft>
                <a:spcPct val="0"/>
              </a:spcAft>
              <a:defRPr sz="3200">
                <a:solidFill>
                  <a:schemeClr val="accent2"/>
                </a:solidFill>
                <a:latin typeface="Garamond" pitchFamily="18" charset="0"/>
                <a:ea typeface="宋体" pitchFamily="2" charset="-122"/>
              </a:defRPr>
            </a:lvl6pPr>
            <a:lvl7pPr marL="914400" algn="l" rtl="0" fontAlgn="base">
              <a:spcBef>
                <a:spcPct val="0"/>
              </a:spcBef>
              <a:spcAft>
                <a:spcPct val="0"/>
              </a:spcAft>
              <a:defRPr sz="3200">
                <a:solidFill>
                  <a:schemeClr val="accent2"/>
                </a:solidFill>
                <a:latin typeface="Garamond" pitchFamily="18" charset="0"/>
                <a:ea typeface="宋体" pitchFamily="2" charset="-122"/>
              </a:defRPr>
            </a:lvl7pPr>
            <a:lvl8pPr marL="1371600" algn="l" rtl="0" fontAlgn="base">
              <a:spcBef>
                <a:spcPct val="0"/>
              </a:spcBef>
              <a:spcAft>
                <a:spcPct val="0"/>
              </a:spcAft>
              <a:defRPr sz="3200">
                <a:solidFill>
                  <a:schemeClr val="accent2"/>
                </a:solidFill>
                <a:latin typeface="Garamond" pitchFamily="18" charset="0"/>
                <a:ea typeface="宋体" pitchFamily="2" charset="-122"/>
              </a:defRPr>
            </a:lvl8pPr>
            <a:lvl9pPr marL="1828800" algn="l" rtl="0" fontAlgn="base">
              <a:spcBef>
                <a:spcPct val="0"/>
              </a:spcBef>
              <a:spcAft>
                <a:spcPct val="0"/>
              </a:spcAft>
              <a:defRPr sz="3200">
                <a:solidFill>
                  <a:schemeClr val="accent2"/>
                </a:solidFill>
                <a:latin typeface="Garamond" pitchFamily="18" charset="0"/>
                <a:ea typeface="宋体" pitchFamily="2" charset="-122"/>
              </a:defRPr>
            </a:lvl9pPr>
          </a:lstStyle>
          <a:p>
            <a:pPr eaLnBrk="1" hangingPunct="1"/>
            <a:r>
              <a:rPr lang="en-US" altLang="zh-CN" kern="0" smtClean="0">
                <a:solidFill>
                  <a:srgbClr val="333399"/>
                </a:solidFill>
              </a:rPr>
              <a:t>1.4.3 </a:t>
            </a:r>
            <a:r>
              <a:rPr lang="zh-CN" altLang="en-US" kern="0" smtClean="0"/>
              <a:t>链表</a:t>
            </a:r>
            <a:endParaRPr lang="en-US" altLang="zh-CN" kern="0" dirty="0" smtClean="0"/>
          </a:p>
        </p:txBody>
      </p:sp>
    </p:spTree>
    <p:extLst>
      <p:ext uri="{BB962C8B-B14F-4D97-AF65-F5344CB8AC3E}">
        <p14:creationId xmlns:p14="http://schemas.microsoft.com/office/powerpoint/2010/main" val="4234839950"/>
      </p:ext>
    </p:extLst>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3"/>
          <p:cNvSpPr>
            <a:spLocks noChangeArrowheads="1"/>
          </p:cNvSpPr>
          <p:nvPr/>
        </p:nvSpPr>
        <p:spPr bwMode="auto">
          <a:xfrm>
            <a:off x="1908175" y="1196975"/>
            <a:ext cx="280828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type="none" w="sm" len="sm"/>
              </a14:hiddenLine>
            </a:ext>
          </a:extLst>
        </p:spPr>
        <p:txBody>
          <a:bodyPr t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12000"/>
              </a:lnSpc>
            </a:pPr>
            <a:r>
              <a:rPr lang="zh-CN" altLang="en-US" sz="2000" b="1">
                <a:solidFill>
                  <a:srgbClr val="0033CC"/>
                </a:solidFill>
                <a:latin typeface="楷体_GB2312" pitchFamily="49" charset="-122"/>
                <a:ea typeface="楷体_GB2312" pitchFamily="49" charset="-122"/>
              </a:rPr>
              <a:t>链表首结点地址</a:t>
            </a:r>
            <a:r>
              <a:rPr lang="zh-CN" altLang="en-US" sz="2000" b="1">
                <a:solidFill>
                  <a:srgbClr val="0033CC"/>
                </a:solidFill>
                <a:latin typeface="Times New Roman" panose="02020603050405020304" pitchFamily="18" charset="0"/>
                <a:ea typeface="楷体_GB2312" pitchFamily="49" charset="-122"/>
                <a:cs typeface="Times New Roman" panose="02020603050405020304" pitchFamily="18" charset="0"/>
              </a:rPr>
              <a:t> </a:t>
            </a:r>
            <a:r>
              <a:rPr lang="en-US" altLang="zh-CN" sz="2000" b="1">
                <a:solidFill>
                  <a:srgbClr val="0033CC"/>
                </a:solidFill>
                <a:latin typeface="Times New Roman" panose="02020603050405020304" pitchFamily="18" charset="0"/>
                <a:ea typeface="楷体_GB2312" pitchFamily="49" charset="-122"/>
                <a:cs typeface="Times New Roman" panose="02020603050405020304" pitchFamily="18" charset="0"/>
              </a:rPr>
              <a:t>head</a:t>
            </a:r>
          </a:p>
          <a:p>
            <a:pPr algn="just">
              <a:lnSpc>
                <a:spcPct val="112000"/>
              </a:lnSpc>
            </a:pPr>
            <a:endParaRPr lang="en-US" altLang="zh-CN" sz="1000">
              <a:solidFill>
                <a:srgbClr val="0033CC"/>
              </a:solidFill>
              <a:latin typeface="楷体_GB2312" pitchFamily="49" charset="-122"/>
              <a:ea typeface="楷体_GB2312" pitchFamily="49" charset="-122"/>
            </a:endParaRPr>
          </a:p>
        </p:txBody>
      </p:sp>
      <p:sp>
        <p:nvSpPr>
          <p:cNvPr id="49155" name="Rectangle 4"/>
          <p:cNvSpPr>
            <a:spLocks noChangeArrowheads="1"/>
          </p:cNvSpPr>
          <p:nvPr/>
        </p:nvSpPr>
        <p:spPr bwMode="auto">
          <a:xfrm>
            <a:off x="4924425" y="1143000"/>
            <a:ext cx="485775" cy="396875"/>
          </a:xfrm>
          <a:prstGeom prst="rect">
            <a:avLst/>
          </a:prstGeom>
          <a:solidFill>
            <a:srgbClr val="FFFFFF"/>
          </a:solidFill>
          <a:ln w="15875">
            <a:solidFill>
              <a:srgbClr val="000000"/>
            </a:solidFill>
            <a:miter lim="800000"/>
            <a:headEnd/>
            <a:tailEnd type="none" w="sm" len="sm"/>
          </a:ln>
        </p:spPr>
        <p:txBody>
          <a:bodyPr t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12000"/>
              </a:lnSpc>
            </a:pPr>
            <a:r>
              <a:rPr lang="en-US" altLang="zh-CN" sz="2000" b="1">
                <a:latin typeface="Times New Roman" panose="02020603050405020304" pitchFamily="18" charset="0"/>
              </a:rPr>
              <a:t>1</a:t>
            </a:r>
          </a:p>
        </p:txBody>
      </p:sp>
      <p:sp>
        <p:nvSpPr>
          <p:cNvPr id="49156" name="Rectangle 5"/>
          <p:cNvSpPr>
            <a:spLocks noChangeArrowheads="1"/>
          </p:cNvSpPr>
          <p:nvPr/>
        </p:nvSpPr>
        <p:spPr bwMode="auto">
          <a:xfrm>
            <a:off x="5353050" y="1143000"/>
            <a:ext cx="790575" cy="396875"/>
          </a:xfrm>
          <a:prstGeom prst="rect">
            <a:avLst/>
          </a:prstGeom>
          <a:solidFill>
            <a:srgbClr val="FFFFFF"/>
          </a:solidFill>
          <a:ln w="15875">
            <a:solidFill>
              <a:srgbClr val="000000"/>
            </a:solidFill>
            <a:miter lim="800000"/>
            <a:headEnd/>
            <a:tailEnd type="none" w="sm" len="sm"/>
          </a:ln>
        </p:spPr>
        <p:txBody>
          <a:bodyPr t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12000"/>
              </a:lnSpc>
            </a:pPr>
            <a:r>
              <a:rPr lang="zh-CN" altLang="en-US" sz="2000" b="1">
                <a:latin typeface="Times New Roman" panose="02020603050405020304" pitchFamily="18" charset="0"/>
              </a:rPr>
              <a:t>张斌</a:t>
            </a:r>
          </a:p>
        </p:txBody>
      </p:sp>
      <p:sp>
        <p:nvSpPr>
          <p:cNvPr id="49157" name="Rectangle 6"/>
          <p:cNvSpPr>
            <a:spLocks noChangeArrowheads="1"/>
          </p:cNvSpPr>
          <p:nvPr/>
        </p:nvSpPr>
        <p:spPr bwMode="auto">
          <a:xfrm>
            <a:off x="6115050" y="1143000"/>
            <a:ext cx="457200" cy="396875"/>
          </a:xfrm>
          <a:prstGeom prst="rect">
            <a:avLst/>
          </a:prstGeom>
          <a:solidFill>
            <a:srgbClr val="FFFFFF"/>
          </a:solidFill>
          <a:ln w="15875">
            <a:solidFill>
              <a:srgbClr val="000000"/>
            </a:solidFill>
            <a:miter lim="800000"/>
            <a:headEnd/>
            <a:tailEnd type="none" w="sm" len="sm"/>
          </a:ln>
        </p:spPr>
        <p:txBody>
          <a:bodyPr t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12000"/>
              </a:lnSpc>
            </a:pPr>
            <a:r>
              <a:rPr lang="zh-CN" altLang="en-US" sz="2000" b="1">
                <a:latin typeface="Times New Roman" panose="02020603050405020304" pitchFamily="18" charset="0"/>
              </a:rPr>
              <a:t>男</a:t>
            </a:r>
          </a:p>
        </p:txBody>
      </p:sp>
      <p:sp>
        <p:nvSpPr>
          <p:cNvPr id="49158" name="Rectangle 7"/>
          <p:cNvSpPr>
            <a:spLocks noChangeArrowheads="1"/>
          </p:cNvSpPr>
          <p:nvPr/>
        </p:nvSpPr>
        <p:spPr bwMode="auto">
          <a:xfrm>
            <a:off x="6543675" y="1143000"/>
            <a:ext cx="714375" cy="396875"/>
          </a:xfrm>
          <a:prstGeom prst="rect">
            <a:avLst/>
          </a:prstGeom>
          <a:solidFill>
            <a:srgbClr val="FFFFFF"/>
          </a:solidFill>
          <a:ln w="15875">
            <a:solidFill>
              <a:srgbClr val="000000"/>
            </a:solidFill>
            <a:miter lim="800000"/>
            <a:headEnd/>
            <a:tailEnd type="none" w="sm" len="sm"/>
          </a:ln>
        </p:spPr>
        <p:txBody>
          <a:bodyPr t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12000"/>
              </a:lnSpc>
            </a:pPr>
            <a:r>
              <a:rPr lang="en-US" altLang="zh-CN" sz="2000">
                <a:latin typeface="Times New Roman" panose="02020603050405020304" pitchFamily="18" charset="0"/>
              </a:rPr>
              <a:t>9901</a:t>
            </a:r>
          </a:p>
        </p:txBody>
      </p:sp>
      <p:sp>
        <p:nvSpPr>
          <p:cNvPr id="49159" name="Rectangle 8"/>
          <p:cNvSpPr>
            <a:spLocks noChangeArrowheads="1"/>
          </p:cNvSpPr>
          <p:nvPr/>
        </p:nvSpPr>
        <p:spPr bwMode="auto">
          <a:xfrm>
            <a:off x="7258050" y="1143000"/>
            <a:ext cx="485775" cy="396875"/>
          </a:xfrm>
          <a:prstGeom prst="rect">
            <a:avLst/>
          </a:prstGeom>
          <a:solidFill>
            <a:srgbClr val="FFFFFF"/>
          </a:solidFill>
          <a:ln w="15875">
            <a:solidFill>
              <a:srgbClr val="000000"/>
            </a:solidFill>
            <a:miter lim="800000"/>
            <a:headEnd/>
            <a:tailEnd type="none" w="sm" len="sm"/>
          </a:ln>
        </p:spPr>
        <p:txBody>
          <a:bodyPr t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12000"/>
              </a:lnSpc>
            </a:pPr>
            <a:endParaRPr lang="en-US" altLang="zh-CN" sz="900">
              <a:latin typeface="Times New Roman" panose="02020603050405020304" pitchFamily="18" charset="0"/>
            </a:endParaRPr>
          </a:p>
          <a:p>
            <a:pPr algn="just">
              <a:lnSpc>
                <a:spcPct val="112000"/>
              </a:lnSpc>
            </a:pPr>
            <a:endParaRPr lang="en-US" altLang="zh-CN" sz="900">
              <a:latin typeface="Times New Roman" panose="02020603050405020304" pitchFamily="18" charset="0"/>
            </a:endParaRPr>
          </a:p>
        </p:txBody>
      </p:sp>
      <p:sp>
        <p:nvSpPr>
          <p:cNvPr id="49160" name="Line 18"/>
          <p:cNvSpPr>
            <a:spLocks noChangeShapeType="1"/>
          </p:cNvSpPr>
          <p:nvPr/>
        </p:nvSpPr>
        <p:spPr bwMode="auto">
          <a:xfrm>
            <a:off x="4495800" y="1341438"/>
            <a:ext cx="403225" cy="0"/>
          </a:xfrm>
          <a:prstGeom prst="line">
            <a:avLst/>
          </a:prstGeom>
          <a:noFill/>
          <a:ln w="19050">
            <a:solidFill>
              <a:srgbClr val="000000"/>
            </a:solidFill>
            <a:round/>
            <a:headE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9161" name="Rectangle 64"/>
          <p:cNvSpPr>
            <a:spLocks noChangeArrowheads="1"/>
          </p:cNvSpPr>
          <p:nvPr/>
        </p:nvSpPr>
        <p:spPr bwMode="auto">
          <a:xfrm>
            <a:off x="4913313" y="1752600"/>
            <a:ext cx="485775" cy="396875"/>
          </a:xfrm>
          <a:prstGeom prst="rect">
            <a:avLst/>
          </a:prstGeom>
          <a:solidFill>
            <a:srgbClr val="FFFFFF"/>
          </a:solidFill>
          <a:ln w="15875">
            <a:solidFill>
              <a:srgbClr val="000000"/>
            </a:solidFill>
            <a:miter lim="800000"/>
            <a:headEnd/>
            <a:tailEnd type="none" w="sm" len="sm"/>
          </a:ln>
        </p:spPr>
        <p:txBody>
          <a:bodyPr t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12000"/>
              </a:lnSpc>
            </a:pPr>
            <a:r>
              <a:rPr lang="en-US" altLang="zh-CN" sz="2000" b="1">
                <a:latin typeface="Times New Roman" panose="02020603050405020304" pitchFamily="18" charset="0"/>
              </a:rPr>
              <a:t>8</a:t>
            </a:r>
          </a:p>
        </p:txBody>
      </p:sp>
      <p:sp>
        <p:nvSpPr>
          <p:cNvPr id="49162" name="Rectangle 65"/>
          <p:cNvSpPr>
            <a:spLocks noChangeArrowheads="1"/>
          </p:cNvSpPr>
          <p:nvPr/>
        </p:nvSpPr>
        <p:spPr bwMode="auto">
          <a:xfrm>
            <a:off x="5353050" y="1752600"/>
            <a:ext cx="790575" cy="396875"/>
          </a:xfrm>
          <a:prstGeom prst="rect">
            <a:avLst/>
          </a:prstGeom>
          <a:solidFill>
            <a:srgbClr val="FFFFFF"/>
          </a:solidFill>
          <a:ln w="15875">
            <a:solidFill>
              <a:srgbClr val="000000"/>
            </a:solidFill>
            <a:miter lim="800000"/>
            <a:headEnd/>
            <a:tailEnd type="none" w="sm" len="sm"/>
          </a:ln>
        </p:spPr>
        <p:txBody>
          <a:bodyPr t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12000"/>
              </a:lnSpc>
            </a:pPr>
            <a:r>
              <a:rPr lang="zh-CN" altLang="en-US" sz="2000" b="1">
                <a:latin typeface="Times New Roman" panose="02020603050405020304" pitchFamily="18" charset="0"/>
              </a:rPr>
              <a:t>刘丽</a:t>
            </a:r>
          </a:p>
        </p:txBody>
      </p:sp>
      <p:sp>
        <p:nvSpPr>
          <p:cNvPr id="49163" name="Rectangle 66"/>
          <p:cNvSpPr>
            <a:spLocks noChangeArrowheads="1"/>
          </p:cNvSpPr>
          <p:nvPr/>
        </p:nvSpPr>
        <p:spPr bwMode="auto">
          <a:xfrm>
            <a:off x="6115050" y="1752600"/>
            <a:ext cx="457200" cy="396875"/>
          </a:xfrm>
          <a:prstGeom prst="rect">
            <a:avLst/>
          </a:prstGeom>
          <a:solidFill>
            <a:srgbClr val="FFFFFF"/>
          </a:solidFill>
          <a:ln w="15875">
            <a:solidFill>
              <a:srgbClr val="000000"/>
            </a:solidFill>
            <a:miter lim="800000"/>
            <a:headEnd/>
            <a:tailEnd type="none" w="sm" len="sm"/>
          </a:ln>
        </p:spPr>
        <p:txBody>
          <a:bodyPr t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12000"/>
              </a:lnSpc>
            </a:pPr>
            <a:r>
              <a:rPr lang="zh-CN" altLang="en-US" sz="2000" b="1">
                <a:latin typeface="Times New Roman" panose="02020603050405020304" pitchFamily="18" charset="0"/>
              </a:rPr>
              <a:t>女</a:t>
            </a:r>
          </a:p>
        </p:txBody>
      </p:sp>
      <p:sp>
        <p:nvSpPr>
          <p:cNvPr id="49164" name="Rectangle 67"/>
          <p:cNvSpPr>
            <a:spLocks noChangeArrowheads="1"/>
          </p:cNvSpPr>
          <p:nvPr/>
        </p:nvSpPr>
        <p:spPr bwMode="auto">
          <a:xfrm>
            <a:off x="6543675" y="1752600"/>
            <a:ext cx="714375" cy="396875"/>
          </a:xfrm>
          <a:prstGeom prst="rect">
            <a:avLst/>
          </a:prstGeom>
          <a:solidFill>
            <a:srgbClr val="FFFFFF"/>
          </a:solidFill>
          <a:ln w="15875">
            <a:solidFill>
              <a:srgbClr val="000000"/>
            </a:solidFill>
            <a:miter lim="800000"/>
            <a:headEnd/>
            <a:tailEnd type="none" w="sm" len="sm"/>
          </a:ln>
        </p:spPr>
        <p:txBody>
          <a:bodyPr t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12000"/>
              </a:lnSpc>
            </a:pPr>
            <a:r>
              <a:rPr lang="en-US" altLang="zh-CN" sz="2000">
                <a:latin typeface="Times New Roman" panose="02020603050405020304" pitchFamily="18" charset="0"/>
              </a:rPr>
              <a:t>9902</a:t>
            </a:r>
          </a:p>
        </p:txBody>
      </p:sp>
      <p:sp>
        <p:nvSpPr>
          <p:cNvPr id="49165" name="Rectangle 68"/>
          <p:cNvSpPr>
            <a:spLocks noChangeArrowheads="1"/>
          </p:cNvSpPr>
          <p:nvPr/>
        </p:nvSpPr>
        <p:spPr bwMode="auto">
          <a:xfrm>
            <a:off x="7258050" y="1752600"/>
            <a:ext cx="485775" cy="396875"/>
          </a:xfrm>
          <a:prstGeom prst="rect">
            <a:avLst/>
          </a:prstGeom>
          <a:solidFill>
            <a:srgbClr val="FFFFFF"/>
          </a:solidFill>
          <a:ln w="15875">
            <a:solidFill>
              <a:srgbClr val="000000"/>
            </a:solidFill>
            <a:miter lim="800000"/>
            <a:headEnd/>
            <a:tailEnd type="none" w="sm" len="sm"/>
          </a:ln>
        </p:spPr>
        <p:txBody>
          <a:bodyPr t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12000"/>
              </a:lnSpc>
            </a:pPr>
            <a:endParaRPr lang="en-US" altLang="zh-CN" sz="900">
              <a:latin typeface="Times New Roman" panose="02020603050405020304" pitchFamily="18" charset="0"/>
            </a:endParaRPr>
          </a:p>
          <a:p>
            <a:pPr algn="just">
              <a:lnSpc>
                <a:spcPct val="112000"/>
              </a:lnSpc>
            </a:pPr>
            <a:endParaRPr lang="en-US" altLang="zh-CN" sz="900">
              <a:latin typeface="Times New Roman" panose="02020603050405020304" pitchFamily="18" charset="0"/>
            </a:endParaRPr>
          </a:p>
        </p:txBody>
      </p:sp>
      <p:sp>
        <p:nvSpPr>
          <p:cNvPr id="49166" name="Rectangle 70"/>
          <p:cNvSpPr>
            <a:spLocks noChangeArrowheads="1"/>
          </p:cNvSpPr>
          <p:nvPr/>
        </p:nvSpPr>
        <p:spPr bwMode="auto">
          <a:xfrm>
            <a:off x="4905375" y="2438400"/>
            <a:ext cx="485775" cy="396875"/>
          </a:xfrm>
          <a:prstGeom prst="rect">
            <a:avLst/>
          </a:prstGeom>
          <a:solidFill>
            <a:srgbClr val="FFFFFF"/>
          </a:solidFill>
          <a:ln w="15875">
            <a:solidFill>
              <a:srgbClr val="000000"/>
            </a:solidFill>
            <a:miter lim="800000"/>
            <a:headEnd/>
            <a:tailEnd type="none" w="sm" len="sm"/>
          </a:ln>
        </p:spPr>
        <p:txBody>
          <a:bodyPr t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12000"/>
              </a:lnSpc>
            </a:pPr>
            <a:r>
              <a:rPr lang="en-US" altLang="zh-CN" sz="2000" b="1">
                <a:latin typeface="Times New Roman" panose="02020603050405020304" pitchFamily="18" charset="0"/>
              </a:rPr>
              <a:t>34</a:t>
            </a:r>
          </a:p>
        </p:txBody>
      </p:sp>
      <p:sp>
        <p:nvSpPr>
          <p:cNvPr id="49167" name="Rectangle 71"/>
          <p:cNvSpPr>
            <a:spLocks noChangeArrowheads="1"/>
          </p:cNvSpPr>
          <p:nvPr/>
        </p:nvSpPr>
        <p:spPr bwMode="auto">
          <a:xfrm>
            <a:off x="5367338" y="2438400"/>
            <a:ext cx="790575" cy="396875"/>
          </a:xfrm>
          <a:prstGeom prst="rect">
            <a:avLst/>
          </a:prstGeom>
          <a:solidFill>
            <a:srgbClr val="FFFFFF"/>
          </a:solidFill>
          <a:ln w="15875">
            <a:solidFill>
              <a:srgbClr val="000000"/>
            </a:solidFill>
            <a:miter lim="800000"/>
            <a:headEnd/>
            <a:tailEnd type="none" w="sm" len="sm"/>
          </a:ln>
        </p:spPr>
        <p:txBody>
          <a:bodyPr t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12000"/>
              </a:lnSpc>
            </a:pPr>
            <a:r>
              <a:rPr lang="zh-CN" altLang="en-US" sz="2000" b="1">
                <a:latin typeface="Times New Roman" panose="02020603050405020304" pitchFamily="18" charset="0"/>
              </a:rPr>
              <a:t>李英</a:t>
            </a:r>
          </a:p>
        </p:txBody>
      </p:sp>
      <p:sp>
        <p:nvSpPr>
          <p:cNvPr id="49168" name="Rectangle 72"/>
          <p:cNvSpPr>
            <a:spLocks noChangeArrowheads="1"/>
          </p:cNvSpPr>
          <p:nvPr/>
        </p:nvSpPr>
        <p:spPr bwMode="auto">
          <a:xfrm>
            <a:off x="6129338" y="2438400"/>
            <a:ext cx="457200" cy="396875"/>
          </a:xfrm>
          <a:prstGeom prst="rect">
            <a:avLst/>
          </a:prstGeom>
          <a:solidFill>
            <a:srgbClr val="FFFFFF"/>
          </a:solidFill>
          <a:ln w="15875">
            <a:solidFill>
              <a:srgbClr val="000000"/>
            </a:solidFill>
            <a:miter lim="800000"/>
            <a:headEnd/>
            <a:tailEnd type="none" w="sm" len="sm"/>
          </a:ln>
        </p:spPr>
        <p:txBody>
          <a:bodyPr t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12000"/>
              </a:lnSpc>
            </a:pPr>
            <a:r>
              <a:rPr lang="zh-CN" altLang="en-US" sz="2000" b="1">
                <a:latin typeface="Times New Roman" panose="02020603050405020304" pitchFamily="18" charset="0"/>
              </a:rPr>
              <a:t>女</a:t>
            </a:r>
          </a:p>
        </p:txBody>
      </p:sp>
      <p:sp>
        <p:nvSpPr>
          <p:cNvPr id="49169" name="Rectangle 73"/>
          <p:cNvSpPr>
            <a:spLocks noChangeArrowheads="1"/>
          </p:cNvSpPr>
          <p:nvPr/>
        </p:nvSpPr>
        <p:spPr bwMode="auto">
          <a:xfrm>
            <a:off x="6557963" y="2438400"/>
            <a:ext cx="714375" cy="396875"/>
          </a:xfrm>
          <a:prstGeom prst="rect">
            <a:avLst/>
          </a:prstGeom>
          <a:solidFill>
            <a:srgbClr val="FFFFFF"/>
          </a:solidFill>
          <a:ln w="15875">
            <a:solidFill>
              <a:srgbClr val="000000"/>
            </a:solidFill>
            <a:miter lim="800000"/>
            <a:headEnd/>
            <a:tailEnd type="none" w="sm" len="sm"/>
          </a:ln>
        </p:spPr>
        <p:txBody>
          <a:bodyPr t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12000"/>
              </a:lnSpc>
            </a:pPr>
            <a:r>
              <a:rPr lang="en-US" altLang="zh-CN" sz="2000">
                <a:latin typeface="Times New Roman" panose="02020603050405020304" pitchFamily="18" charset="0"/>
              </a:rPr>
              <a:t>9901</a:t>
            </a:r>
          </a:p>
        </p:txBody>
      </p:sp>
      <p:sp>
        <p:nvSpPr>
          <p:cNvPr id="49170" name="Rectangle 74"/>
          <p:cNvSpPr>
            <a:spLocks noChangeArrowheads="1"/>
          </p:cNvSpPr>
          <p:nvPr/>
        </p:nvSpPr>
        <p:spPr bwMode="auto">
          <a:xfrm>
            <a:off x="7272338" y="2438400"/>
            <a:ext cx="485775" cy="396875"/>
          </a:xfrm>
          <a:prstGeom prst="rect">
            <a:avLst/>
          </a:prstGeom>
          <a:solidFill>
            <a:srgbClr val="FFFFFF"/>
          </a:solidFill>
          <a:ln w="15875">
            <a:solidFill>
              <a:srgbClr val="000000"/>
            </a:solidFill>
            <a:miter lim="800000"/>
            <a:headEnd/>
            <a:tailEnd type="none" w="sm" len="sm"/>
          </a:ln>
        </p:spPr>
        <p:txBody>
          <a:bodyPr t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12000"/>
              </a:lnSpc>
            </a:pPr>
            <a:endParaRPr lang="en-US" altLang="zh-CN" sz="900">
              <a:latin typeface="Times New Roman" panose="02020603050405020304" pitchFamily="18" charset="0"/>
            </a:endParaRPr>
          </a:p>
          <a:p>
            <a:pPr algn="just">
              <a:lnSpc>
                <a:spcPct val="112000"/>
              </a:lnSpc>
            </a:pPr>
            <a:endParaRPr lang="en-US" altLang="zh-CN" sz="900">
              <a:latin typeface="Times New Roman" panose="02020603050405020304" pitchFamily="18" charset="0"/>
            </a:endParaRPr>
          </a:p>
        </p:txBody>
      </p:sp>
      <p:sp>
        <p:nvSpPr>
          <p:cNvPr id="49171" name="Line 76"/>
          <p:cNvSpPr>
            <a:spLocks noChangeShapeType="1"/>
          </p:cNvSpPr>
          <p:nvPr/>
        </p:nvSpPr>
        <p:spPr bwMode="auto">
          <a:xfrm>
            <a:off x="7502525" y="1371600"/>
            <a:ext cx="0" cy="381000"/>
          </a:xfrm>
          <a:prstGeom prst="line">
            <a:avLst/>
          </a:prstGeom>
          <a:noFill/>
          <a:ln w="158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9172" name="Rectangle 77"/>
          <p:cNvSpPr>
            <a:spLocks noChangeArrowheads="1"/>
          </p:cNvSpPr>
          <p:nvPr/>
        </p:nvSpPr>
        <p:spPr bwMode="auto">
          <a:xfrm>
            <a:off x="4905375" y="3124200"/>
            <a:ext cx="485775" cy="396875"/>
          </a:xfrm>
          <a:prstGeom prst="rect">
            <a:avLst/>
          </a:prstGeom>
          <a:solidFill>
            <a:srgbClr val="FFFFFF"/>
          </a:solidFill>
          <a:ln w="15875">
            <a:solidFill>
              <a:srgbClr val="000000"/>
            </a:solidFill>
            <a:miter lim="800000"/>
            <a:headEnd/>
            <a:tailEnd type="none" w="sm" len="sm"/>
          </a:ln>
        </p:spPr>
        <p:txBody>
          <a:bodyPr t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12000"/>
              </a:lnSpc>
            </a:pPr>
            <a:r>
              <a:rPr lang="en-US" altLang="zh-CN" sz="2000" b="1">
                <a:latin typeface="Times New Roman" panose="02020603050405020304" pitchFamily="18" charset="0"/>
              </a:rPr>
              <a:t>20</a:t>
            </a:r>
          </a:p>
        </p:txBody>
      </p:sp>
      <p:sp>
        <p:nvSpPr>
          <p:cNvPr id="49173" name="Rectangle 78"/>
          <p:cNvSpPr>
            <a:spLocks noChangeArrowheads="1"/>
          </p:cNvSpPr>
          <p:nvPr/>
        </p:nvSpPr>
        <p:spPr bwMode="auto">
          <a:xfrm>
            <a:off x="5367338" y="3124200"/>
            <a:ext cx="790575" cy="396875"/>
          </a:xfrm>
          <a:prstGeom prst="rect">
            <a:avLst/>
          </a:prstGeom>
          <a:solidFill>
            <a:srgbClr val="FFFFFF"/>
          </a:solidFill>
          <a:ln w="15875">
            <a:solidFill>
              <a:srgbClr val="000000"/>
            </a:solidFill>
            <a:miter lim="800000"/>
            <a:headEnd/>
            <a:tailEnd type="none" w="sm" len="sm"/>
          </a:ln>
        </p:spPr>
        <p:txBody>
          <a:bodyPr t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12000"/>
              </a:lnSpc>
            </a:pPr>
            <a:r>
              <a:rPr lang="zh-CN" altLang="en-US" sz="2000" b="1">
                <a:latin typeface="Times New Roman" panose="02020603050405020304" pitchFamily="18" charset="0"/>
              </a:rPr>
              <a:t>陈华</a:t>
            </a:r>
          </a:p>
        </p:txBody>
      </p:sp>
      <p:sp>
        <p:nvSpPr>
          <p:cNvPr id="49174" name="Rectangle 79"/>
          <p:cNvSpPr>
            <a:spLocks noChangeArrowheads="1"/>
          </p:cNvSpPr>
          <p:nvPr/>
        </p:nvSpPr>
        <p:spPr bwMode="auto">
          <a:xfrm>
            <a:off x="6129338" y="3124200"/>
            <a:ext cx="457200" cy="396875"/>
          </a:xfrm>
          <a:prstGeom prst="rect">
            <a:avLst/>
          </a:prstGeom>
          <a:solidFill>
            <a:srgbClr val="FFFFFF"/>
          </a:solidFill>
          <a:ln w="15875">
            <a:solidFill>
              <a:srgbClr val="000000"/>
            </a:solidFill>
            <a:miter lim="800000"/>
            <a:headEnd/>
            <a:tailEnd type="none" w="sm" len="sm"/>
          </a:ln>
        </p:spPr>
        <p:txBody>
          <a:bodyPr t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12000"/>
              </a:lnSpc>
            </a:pPr>
            <a:r>
              <a:rPr lang="zh-CN" altLang="en-US" sz="2000" b="1">
                <a:latin typeface="Times New Roman" panose="02020603050405020304" pitchFamily="18" charset="0"/>
              </a:rPr>
              <a:t>男</a:t>
            </a:r>
          </a:p>
        </p:txBody>
      </p:sp>
      <p:sp>
        <p:nvSpPr>
          <p:cNvPr id="49175" name="Rectangle 80"/>
          <p:cNvSpPr>
            <a:spLocks noChangeArrowheads="1"/>
          </p:cNvSpPr>
          <p:nvPr/>
        </p:nvSpPr>
        <p:spPr bwMode="auto">
          <a:xfrm>
            <a:off x="6557963" y="3124200"/>
            <a:ext cx="714375" cy="396875"/>
          </a:xfrm>
          <a:prstGeom prst="rect">
            <a:avLst/>
          </a:prstGeom>
          <a:solidFill>
            <a:srgbClr val="FFFFFF"/>
          </a:solidFill>
          <a:ln w="15875">
            <a:solidFill>
              <a:srgbClr val="000000"/>
            </a:solidFill>
            <a:miter lim="800000"/>
            <a:headEnd/>
            <a:tailEnd type="none" w="sm" len="sm"/>
          </a:ln>
        </p:spPr>
        <p:txBody>
          <a:bodyPr t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12000"/>
              </a:lnSpc>
            </a:pPr>
            <a:r>
              <a:rPr lang="en-US" altLang="zh-CN" sz="2000">
                <a:latin typeface="Times New Roman" panose="02020603050405020304" pitchFamily="18" charset="0"/>
              </a:rPr>
              <a:t>9902</a:t>
            </a:r>
          </a:p>
        </p:txBody>
      </p:sp>
      <p:sp>
        <p:nvSpPr>
          <p:cNvPr id="49176" name="Rectangle 81"/>
          <p:cNvSpPr>
            <a:spLocks noChangeArrowheads="1"/>
          </p:cNvSpPr>
          <p:nvPr/>
        </p:nvSpPr>
        <p:spPr bwMode="auto">
          <a:xfrm>
            <a:off x="7272338" y="3124200"/>
            <a:ext cx="485775" cy="396875"/>
          </a:xfrm>
          <a:prstGeom prst="rect">
            <a:avLst/>
          </a:prstGeom>
          <a:solidFill>
            <a:srgbClr val="FFFFFF"/>
          </a:solidFill>
          <a:ln w="15875">
            <a:solidFill>
              <a:srgbClr val="000000"/>
            </a:solidFill>
            <a:miter lim="800000"/>
            <a:headEnd/>
            <a:tailEnd type="none" w="sm" len="sm"/>
          </a:ln>
        </p:spPr>
        <p:txBody>
          <a:bodyPr t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12000"/>
              </a:lnSpc>
            </a:pPr>
            <a:endParaRPr lang="en-US" altLang="zh-CN" sz="900">
              <a:latin typeface="Times New Roman" panose="02020603050405020304" pitchFamily="18" charset="0"/>
            </a:endParaRPr>
          </a:p>
          <a:p>
            <a:pPr algn="just">
              <a:lnSpc>
                <a:spcPct val="112000"/>
              </a:lnSpc>
            </a:pPr>
            <a:endParaRPr lang="en-US" altLang="zh-CN" sz="900">
              <a:latin typeface="Times New Roman" panose="02020603050405020304" pitchFamily="18" charset="0"/>
            </a:endParaRPr>
          </a:p>
        </p:txBody>
      </p:sp>
      <p:sp>
        <p:nvSpPr>
          <p:cNvPr id="49177" name="Rectangle 88"/>
          <p:cNvSpPr>
            <a:spLocks noChangeArrowheads="1"/>
          </p:cNvSpPr>
          <p:nvPr/>
        </p:nvSpPr>
        <p:spPr bwMode="auto">
          <a:xfrm>
            <a:off x="4905375" y="3810000"/>
            <a:ext cx="485775" cy="396875"/>
          </a:xfrm>
          <a:prstGeom prst="rect">
            <a:avLst/>
          </a:prstGeom>
          <a:solidFill>
            <a:srgbClr val="FFFFFF"/>
          </a:solidFill>
          <a:ln w="15875">
            <a:solidFill>
              <a:srgbClr val="000000"/>
            </a:solidFill>
            <a:miter lim="800000"/>
            <a:headEnd/>
            <a:tailEnd type="none" w="sm" len="sm"/>
          </a:ln>
        </p:spPr>
        <p:txBody>
          <a:bodyPr t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12000"/>
              </a:lnSpc>
            </a:pPr>
            <a:r>
              <a:rPr lang="en-US" altLang="zh-CN" sz="2000" b="1">
                <a:latin typeface="Times New Roman" panose="02020603050405020304" pitchFamily="18" charset="0"/>
              </a:rPr>
              <a:t>12</a:t>
            </a:r>
          </a:p>
        </p:txBody>
      </p:sp>
      <p:sp>
        <p:nvSpPr>
          <p:cNvPr id="49178" name="Rectangle 89"/>
          <p:cNvSpPr>
            <a:spLocks noChangeArrowheads="1"/>
          </p:cNvSpPr>
          <p:nvPr/>
        </p:nvSpPr>
        <p:spPr bwMode="auto">
          <a:xfrm>
            <a:off x="5367338" y="3810000"/>
            <a:ext cx="790575" cy="396875"/>
          </a:xfrm>
          <a:prstGeom prst="rect">
            <a:avLst/>
          </a:prstGeom>
          <a:solidFill>
            <a:srgbClr val="FFFFFF"/>
          </a:solidFill>
          <a:ln w="15875">
            <a:solidFill>
              <a:srgbClr val="000000"/>
            </a:solidFill>
            <a:miter lim="800000"/>
            <a:headEnd/>
            <a:tailEnd type="none" w="sm" len="sm"/>
          </a:ln>
        </p:spPr>
        <p:txBody>
          <a:bodyPr t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12000"/>
              </a:lnSpc>
            </a:pPr>
            <a:r>
              <a:rPr lang="zh-CN" altLang="en-US" sz="2000" b="1">
                <a:latin typeface="Times New Roman" panose="02020603050405020304" pitchFamily="18" charset="0"/>
              </a:rPr>
              <a:t>王奇</a:t>
            </a:r>
          </a:p>
        </p:txBody>
      </p:sp>
      <p:sp>
        <p:nvSpPr>
          <p:cNvPr id="49179" name="Rectangle 90"/>
          <p:cNvSpPr>
            <a:spLocks noChangeArrowheads="1"/>
          </p:cNvSpPr>
          <p:nvPr/>
        </p:nvSpPr>
        <p:spPr bwMode="auto">
          <a:xfrm>
            <a:off x="6129338" y="3810000"/>
            <a:ext cx="457200" cy="396875"/>
          </a:xfrm>
          <a:prstGeom prst="rect">
            <a:avLst/>
          </a:prstGeom>
          <a:solidFill>
            <a:srgbClr val="FFFFFF"/>
          </a:solidFill>
          <a:ln w="15875">
            <a:solidFill>
              <a:srgbClr val="000000"/>
            </a:solidFill>
            <a:miter lim="800000"/>
            <a:headEnd/>
            <a:tailEnd type="none" w="sm" len="sm"/>
          </a:ln>
        </p:spPr>
        <p:txBody>
          <a:bodyPr t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12000"/>
              </a:lnSpc>
            </a:pPr>
            <a:r>
              <a:rPr lang="zh-CN" altLang="en-US" sz="2000" b="1">
                <a:latin typeface="Times New Roman" panose="02020603050405020304" pitchFamily="18" charset="0"/>
              </a:rPr>
              <a:t>男</a:t>
            </a:r>
          </a:p>
        </p:txBody>
      </p:sp>
      <p:sp>
        <p:nvSpPr>
          <p:cNvPr id="49180" name="Rectangle 91"/>
          <p:cNvSpPr>
            <a:spLocks noChangeArrowheads="1"/>
          </p:cNvSpPr>
          <p:nvPr/>
        </p:nvSpPr>
        <p:spPr bwMode="auto">
          <a:xfrm>
            <a:off x="6557963" y="3810000"/>
            <a:ext cx="714375" cy="396875"/>
          </a:xfrm>
          <a:prstGeom prst="rect">
            <a:avLst/>
          </a:prstGeom>
          <a:solidFill>
            <a:srgbClr val="FFFFFF"/>
          </a:solidFill>
          <a:ln w="15875">
            <a:solidFill>
              <a:srgbClr val="000000"/>
            </a:solidFill>
            <a:miter lim="800000"/>
            <a:headEnd/>
            <a:tailEnd type="none" w="sm" len="sm"/>
          </a:ln>
        </p:spPr>
        <p:txBody>
          <a:bodyPr t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12000"/>
              </a:lnSpc>
            </a:pPr>
            <a:r>
              <a:rPr lang="en-US" altLang="zh-CN" sz="2000">
                <a:latin typeface="Times New Roman" panose="02020603050405020304" pitchFamily="18" charset="0"/>
              </a:rPr>
              <a:t>9901</a:t>
            </a:r>
          </a:p>
        </p:txBody>
      </p:sp>
      <p:sp>
        <p:nvSpPr>
          <p:cNvPr id="49181" name="Rectangle 92"/>
          <p:cNvSpPr>
            <a:spLocks noChangeArrowheads="1"/>
          </p:cNvSpPr>
          <p:nvPr/>
        </p:nvSpPr>
        <p:spPr bwMode="auto">
          <a:xfrm>
            <a:off x="7272338" y="3810000"/>
            <a:ext cx="485775" cy="396875"/>
          </a:xfrm>
          <a:prstGeom prst="rect">
            <a:avLst/>
          </a:prstGeom>
          <a:solidFill>
            <a:srgbClr val="FFFFFF"/>
          </a:solidFill>
          <a:ln w="15875">
            <a:solidFill>
              <a:srgbClr val="000000"/>
            </a:solidFill>
            <a:miter lim="800000"/>
            <a:headEnd/>
            <a:tailEnd type="none" w="sm" len="sm"/>
          </a:ln>
        </p:spPr>
        <p:txBody>
          <a:bodyPr t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12000"/>
              </a:lnSpc>
            </a:pPr>
            <a:endParaRPr lang="en-US" altLang="zh-CN" sz="900">
              <a:latin typeface="Times New Roman" panose="02020603050405020304" pitchFamily="18" charset="0"/>
            </a:endParaRPr>
          </a:p>
          <a:p>
            <a:pPr algn="just">
              <a:lnSpc>
                <a:spcPct val="112000"/>
              </a:lnSpc>
            </a:pPr>
            <a:endParaRPr lang="en-US" altLang="zh-CN" sz="900">
              <a:latin typeface="Times New Roman" panose="02020603050405020304" pitchFamily="18" charset="0"/>
            </a:endParaRPr>
          </a:p>
        </p:txBody>
      </p:sp>
      <p:sp>
        <p:nvSpPr>
          <p:cNvPr id="49182" name="Rectangle 93"/>
          <p:cNvSpPr>
            <a:spLocks noChangeArrowheads="1"/>
          </p:cNvSpPr>
          <p:nvPr/>
        </p:nvSpPr>
        <p:spPr bwMode="auto">
          <a:xfrm>
            <a:off x="4919663" y="4435475"/>
            <a:ext cx="485775" cy="396875"/>
          </a:xfrm>
          <a:prstGeom prst="rect">
            <a:avLst/>
          </a:prstGeom>
          <a:solidFill>
            <a:srgbClr val="FFFFFF"/>
          </a:solidFill>
          <a:ln w="15875">
            <a:solidFill>
              <a:srgbClr val="000000"/>
            </a:solidFill>
            <a:miter lim="800000"/>
            <a:headEnd/>
            <a:tailEnd type="none" w="sm" len="sm"/>
          </a:ln>
        </p:spPr>
        <p:txBody>
          <a:bodyPr t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12000"/>
              </a:lnSpc>
            </a:pPr>
            <a:r>
              <a:rPr lang="en-US" altLang="zh-CN" sz="2000" b="1">
                <a:latin typeface="Times New Roman" panose="02020603050405020304" pitchFamily="18" charset="0"/>
              </a:rPr>
              <a:t>26</a:t>
            </a:r>
          </a:p>
        </p:txBody>
      </p:sp>
      <p:sp>
        <p:nvSpPr>
          <p:cNvPr id="49183" name="Rectangle 94"/>
          <p:cNvSpPr>
            <a:spLocks noChangeArrowheads="1"/>
          </p:cNvSpPr>
          <p:nvPr/>
        </p:nvSpPr>
        <p:spPr bwMode="auto">
          <a:xfrm>
            <a:off x="5381625" y="4435475"/>
            <a:ext cx="790575" cy="396875"/>
          </a:xfrm>
          <a:prstGeom prst="rect">
            <a:avLst/>
          </a:prstGeom>
          <a:solidFill>
            <a:srgbClr val="FFFFFF"/>
          </a:solidFill>
          <a:ln w="15875">
            <a:solidFill>
              <a:srgbClr val="000000"/>
            </a:solidFill>
            <a:miter lim="800000"/>
            <a:headEnd/>
            <a:tailEnd type="none" w="sm" len="sm"/>
          </a:ln>
        </p:spPr>
        <p:txBody>
          <a:bodyPr t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12000"/>
              </a:lnSpc>
            </a:pPr>
            <a:r>
              <a:rPr lang="zh-CN" altLang="en-US" sz="2000" b="1">
                <a:latin typeface="Times New Roman" panose="02020603050405020304" pitchFamily="18" charset="0"/>
              </a:rPr>
              <a:t>董强</a:t>
            </a:r>
          </a:p>
        </p:txBody>
      </p:sp>
      <p:sp>
        <p:nvSpPr>
          <p:cNvPr id="49184" name="Rectangle 95"/>
          <p:cNvSpPr>
            <a:spLocks noChangeArrowheads="1"/>
          </p:cNvSpPr>
          <p:nvPr/>
        </p:nvSpPr>
        <p:spPr bwMode="auto">
          <a:xfrm>
            <a:off x="6143625" y="4435475"/>
            <a:ext cx="457200" cy="396875"/>
          </a:xfrm>
          <a:prstGeom prst="rect">
            <a:avLst/>
          </a:prstGeom>
          <a:solidFill>
            <a:srgbClr val="FFFFFF"/>
          </a:solidFill>
          <a:ln w="15875">
            <a:solidFill>
              <a:srgbClr val="000000"/>
            </a:solidFill>
            <a:miter lim="800000"/>
            <a:headEnd/>
            <a:tailEnd type="none" w="sm" len="sm"/>
          </a:ln>
        </p:spPr>
        <p:txBody>
          <a:bodyPr t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12000"/>
              </a:lnSpc>
            </a:pPr>
            <a:r>
              <a:rPr lang="zh-CN" altLang="en-US" sz="2000" b="1">
                <a:latin typeface="Times New Roman" panose="02020603050405020304" pitchFamily="18" charset="0"/>
              </a:rPr>
              <a:t>男</a:t>
            </a:r>
          </a:p>
        </p:txBody>
      </p:sp>
      <p:sp>
        <p:nvSpPr>
          <p:cNvPr id="49185" name="Rectangle 96"/>
          <p:cNvSpPr>
            <a:spLocks noChangeArrowheads="1"/>
          </p:cNvSpPr>
          <p:nvPr/>
        </p:nvSpPr>
        <p:spPr bwMode="auto">
          <a:xfrm>
            <a:off x="6572250" y="4435475"/>
            <a:ext cx="714375" cy="396875"/>
          </a:xfrm>
          <a:prstGeom prst="rect">
            <a:avLst/>
          </a:prstGeom>
          <a:solidFill>
            <a:srgbClr val="FFFFFF"/>
          </a:solidFill>
          <a:ln w="15875">
            <a:solidFill>
              <a:srgbClr val="000000"/>
            </a:solidFill>
            <a:miter lim="800000"/>
            <a:headEnd/>
            <a:tailEnd type="none" w="sm" len="sm"/>
          </a:ln>
        </p:spPr>
        <p:txBody>
          <a:bodyPr t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12000"/>
              </a:lnSpc>
            </a:pPr>
            <a:r>
              <a:rPr lang="en-US" altLang="zh-CN" sz="2000">
                <a:latin typeface="Times New Roman" panose="02020603050405020304" pitchFamily="18" charset="0"/>
              </a:rPr>
              <a:t>9902</a:t>
            </a:r>
          </a:p>
        </p:txBody>
      </p:sp>
      <p:sp>
        <p:nvSpPr>
          <p:cNvPr id="49186" name="Rectangle 97"/>
          <p:cNvSpPr>
            <a:spLocks noChangeArrowheads="1"/>
          </p:cNvSpPr>
          <p:nvPr/>
        </p:nvSpPr>
        <p:spPr bwMode="auto">
          <a:xfrm>
            <a:off x="7286625" y="4435475"/>
            <a:ext cx="485775" cy="396875"/>
          </a:xfrm>
          <a:prstGeom prst="rect">
            <a:avLst/>
          </a:prstGeom>
          <a:solidFill>
            <a:srgbClr val="FFFFFF"/>
          </a:solidFill>
          <a:ln w="15875">
            <a:solidFill>
              <a:srgbClr val="000000"/>
            </a:solidFill>
            <a:miter lim="800000"/>
            <a:headEnd/>
            <a:tailEnd type="none" w="sm" len="sm"/>
          </a:ln>
        </p:spPr>
        <p:txBody>
          <a:bodyPr t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12000"/>
              </a:lnSpc>
            </a:pPr>
            <a:endParaRPr lang="en-US" altLang="zh-CN" sz="900">
              <a:latin typeface="Times New Roman" panose="02020603050405020304" pitchFamily="18" charset="0"/>
            </a:endParaRPr>
          </a:p>
          <a:p>
            <a:pPr algn="just">
              <a:lnSpc>
                <a:spcPct val="112000"/>
              </a:lnSpc>
            </a:pPr>
            <a:endParaRPr lang="en-US" altLang="zh-CN" sz="900">
              <a:latin typeface="Times New Roman" panose="02020603050405020304" pitchFamily="18" charset="0"/>
            </a:endParaRPr>
          </a:p>
        </p:txBody>
      </p:sp>
      <p:sp>
        <p:nvSpPr>
          <p:cNvPr id="49187" name="Rectangle 98"/>
          <p:cNvSpPr>
            <a:spLocks noChangeArrowheads="1"/>
          </p:cNvSpPr>
          <p:nvPr/>
        </p:nvSpPr>
        <p:spPr bwMode="auto">
          <a:xfrm>
            <a:off x="4919663" y="5029200"/>
            <a:ext cx="485775" cy="396875"/>
          </a:xfrm>
          <a:prstGeom prst="rect">
            <a:avLst/>
          </a:prstGeom>
          <a:solidFill>
            <a:srgbClr val="FFFFFF"/>
          </a:solidFill>
          <a:ln w="15875">
            <a:solidFill>
              <a:srgbClr val="000000"/>
            </a:solidFill>
            <a:miter lim="800000"/>
            <a:headEnd/>
            <a:tailEnd type="none" w="sm" len="sm"/>
          </a:ln>
        </p:spPr>
        <p:txBody>
          <a:bodyPr t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12000"/>
              </a:lnSpc>
            </a:pPr>
            <a:r>
              <a:rPr lang="en-US" altLang="zh-CN" sz="2000" b="1">
                <a:latin typeface="Times New Roman" panose="02020603050405020304" pitchFamily="18" charset="0"/>
              </a:rPr>
              <a:t>5</a:t>
            </a:r>
          </a:p>
        </p:txBody>
      </p:sp>
      <p:sp>
        <p:nvSpPr>
          <p:cNvPr id="49188" name="Rectangle 99"/>
          <p:cNvSpPr>
            <a:spLocks noChangeArrowheads="1"/>
          </p:cNvSpPr>
          <p:nvPr/>
        </p:nvSpPr>
        <p:spPr bwMode="auto">
          <a:xfrm>
            <a:off x="5381625" y="5029200"/>
            <a:ext cx="790575" cy="396875"/>
          </a:xfrm>
          <a:prstGeom prst="rect">
            <a:avLst/>
          </a:prstGeom>
          <a:solidFill>
            <a:srgbClr val="FFFFFF"/>
          </a:solidFill>
          <a:ln w="15875">
            <a:solidFill>
              <a:srgbClr val="000000"/>
            </a:solidFill>
            <a:miter lim="800000"/>
            <a:headEnd/>
            <a:tailEnd type="none" w="sm" len="sm"/>
          </a:ln>
        </p:spPr>
        <p:txBody>
          <a:bodyPr t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12000"/>
              </a:lnSpc>
            </a:pPr>
            <a:r>
              <a:rPr lang="zh-CN" altLang="en-US" sz="2000" b="1">
                <a:latin typeface="Times New Roman" panose="02020603050405020304" pitchFamily="18" charset="0"/>
              </a:rPr>
              <a:t>王萍</a:t>
            </a:r>
          </a:p>
        </p:txBody>
      </p:sp>
      <p:sp>
        <p:nvSpPr>
          <p:cNvPr id="49189" name="Rectangle 100"/>
          <p:cNvSpPr>
            <a:spLocks noChangeArrowheads="1"/>
          </p:cNvSpPr>
          <p:nvPr/>
        </p:nvSpPr>
        <p:spPr bwMode="auto">
          <a:xfrm>
            <a:off x="6143625" y="5029200"/>
            <a:ext cx="457200" cy="396875"/>
          </a:xfrm>
          <a:prstGeom prst="rect">
            <a:avLst/>
          </a:prstGeom>
          <a:solidFill>
            <a:srgbClr val="FFFFFF"/>
          </a:solidFill>
          <a:ln w="15875">
            <a:solidFill>
              <a:srgbClr val="000000"/>
            </a:solidFill>
            <a:miter lim="800000"/>
            <a:headEnd/>
            <a:tailEnd type="none" w="sm" len="sm"/>
          </a:ln>
        </p:spPr>
        <p:txBody>
          <a:bodyPr t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12000"/>
              </a:lnSpc>
            </a:pPr>
            <a:r>
              <a:rPr lang="zh-CN" altLang="en-US" sz="2000" b="1">
                <a:latin typeface="Times New Roman" panose="02020603050405020304" pitchFamily="18" charset="0"/>
              </a:rPr>
              <a:t>女</a:t>
            </a:r>
          </a:p>
        </p:txBody>
      </p:sp>
      <p:sp>
        <p:nvSpPr>
          <p:cNvPr id="49190" name="Rectangle 101"/>
          <p:cNvSpPr>
            <a:spLocks noChangeArrowheads="1"/>
          </p:cNvSpPr>
          <p:nvPr/>
        </p:nvSpPr>
        <p:spPr bwMode="auto">
          <a:xfrm>
            <a:off x="6572250" y="5029200"/>
            <a:ext cx="714375" cy="396875"/>
          </a:xfrm>
          <a:prstGeom prst="rect">
            <a:avLst/>
          </a:prstGeom>
          <a:solidFill>
            <a:srgbClr val="FFFFFF"/>
          </a:solidFill>
          <a:ln w="15875">
            <a:solidFill>
              <a:srgbClr val="000000"/>
            </a:solidFill>
            <a:miter lim="800000"/>
            <a:headEnd/>
            <a:tailEnd type="none" w="sm" len="sm"/>
          </a:ln>
        </p:spPr>
        <p:txBody>
          <a:bodyPr t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12000"/>
              </a:lnSpc>
            </a:pPr>
            <a:r>
              <a:rPr lang="en-US" altLang="zh-CN" sz="2000">
                <a:latin typeface="Times New Roman" panose="02020603050405020304" pitchFamily="18" charset="0"/>
              </a:rPr>
              <a:t>9901</a:t>
            </a:r>
          </a:p>
        </p:txBody>
      </p:sp>
      <p:sp>
        <p:nvSpPr>
          <p:cNvPr id="49191" name="Rectangle 102"/>
          <p:cNvSpPr>
            <a:spLocks noChangeArrowheads="1"/>
          </p:cNvSpPr>
          <p:nvPr/>
        </p:nvSpPr>
        <p:spPr bwMode="auto">
          <a:xfrm>
            <a:off x="7286625" y="5029200"/>
            <a:ext cx="485775" cy="396875"/>
          </a:xfrm>
          <a:prstGeom prst="rect">
            <a:avLst/>
          </a:prstGeom>
          <a:solidFill>
            <a:srgbClr val="FFFFFF"/>
          </a:solidFill>
          <a:ln w="15875">
            <a:solidFill>
              <a:srgbClr val="000000"/>
            </a:solidFill>
            <a:miter lim="800000"/>
            <a:headEnd/>
            <a:tailEnd type="none" w="sm" len="sm"/>
          </a:ln>
        </p:spPr>
        <p:txBody>
          <a:bodyPr t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b="1">
                <a:latin typeface="宋体" panose="02010600030101010101" pitchFamily="2" charset="-122"/>
              </a:rPr>
              <a:t>∧</a:t>
            </a:r>
          </a:p>
        </p:txBody>
      </p:sp>
      <p:sp>
        <p:nvSpPr>
          <p:cNvPr id="49192" name="Line 103"/>
          <p:cNvSpPr>
            <a:spLocks noChangeShapeType="1"/>
          </p:cNvSpPr>
          <p:nvPr/>
        </p:nvSpPr>
        <p:spPr bwMode="auto">
          <a:xfrm>
            <a:off x="7502525" y="1905000"/>
            <a:ext cx="0" cy="533400"/>
          </a:xfrm>
          <a:prstGeom prst="line">
            <a:avLst/>
          </a:prstGeom>
          <a:noFill/>
          <a:ln w="158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9193" name="Line 104"/>
          <p:cNvSpPr>
            <a:spLocks noChangeShapeType="1"/>
          </p:cNvSpPr>
          <p:nvPr/>
        </p:nvSpPr>
        <p:spPr bwMode="auto">
          <a:xfrm>
            <a:off x="7489825" y="2667000"/>
            <a:ext cx="0" cy="457200"/>
          </a:xfrm>
          <a:prstGeom prst="line">
            <a:avLst/>
          </a:prstGeom>
          <a:noFill/>
          <a:ln w="158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9194" name="Line 105"/>
          <p:cNvSpPr>
            <a:spLocks noChangeShapeType="1"/>
          </p:cNvSpPr>
          <p:nvPr/>
        </p:nvSpPr>
        <p:spPr bwMode="auto">
          <a:xfrm>
            <a:off x="7489825" y="3352800"/>
            <a:ext cx="0" cy="457200"/>
          </a:xfrm>
          <a:prstGeom prst="line">
            <a:avLst/>
          </a:prstGeom>
          <a:noFill/>
          <a:ln w="158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9195" name="Line 106"/>
          <p:cNvSpPr>
            <a:spLocks noChangeShapeType="1"/>
          </p:cNvSpPr>
          <p:nvPr/>
        </p:nvSpPr>
        <p:spPr bwMode="auto">
          <a:xfrm>
            <a:off x="7489825" y="4038600"/>
            <a:ext cx="0" cy="381000"/>
          </a:xfrm>
          <a:prstGeom prst="line">
            <a:avLst/>
          </a:prstGeom>
          <a:noFill/>
          <a:ln w="158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9196" name="Line 107"/>
          <p:cNvSpPr>
            <a:spLocks noChangeShapeType="1"/>
          </p:cNvSpPr>
          <p:nvPr/>
        </p:nvSpPr>
        <p:spPr bwMode="auto">
          <a:xfrm>
            <a:off x="7489825" y="4648200"/>
            <a:ext cx="0" cy="381000"/>
          </a:xfrm>
          <a:prstGeom prst="line">
            <a:avLst/>
          </a:prstGeom>
          <a:noFill/>
          <a:ln w="158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9197" name="Text Box 108"/>
          <p:cNvSpPr txBox="1">
            <a:spLocks noChangeArrowheads="1"/>
          </p:cNvSpPr>
          <p:nvPr/>
        </p:nvSpPr>
        <p:spPr bwMode="auto">
          <a:xfrm>
            <a:off x="609600" y="1966913"/>
            <a:ext cx="3200400" cy="2214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pPr>
            <a:r>
              <a:rPr kumimoji="1" lang="en-US" altLang="zh-CN" sz="3200" b="1">
                <a:latin typeface="楷体_GB2312" pitchFamily="49" charset="-122"/>
                <a:ea typeface="楷体_GB2312" pitchFamily="49" charset="-122"/>
              </a:rPr>
              <a:t>   </a:t>
            </a:r>
            <a:r>
              <a:rPr kumimoji="1" lang="zh-CN" altLang="en-US" sz="2800" b="1">
                <a:latin typeface="Times New Roman" panose="02020603050405020304" pitchFamily="18" charset="0"/>
                <a:ea typeface="楷体_GB2312" pitchFamily="49" charset="-122"/>
              </a:rPr>
              <a:t>学生表构成的链表如右图所示。其中的</a:t>
            </a:r>
            <a:r>
              <a:rPr kumimoji="1" lang="en-US" altLang="zh-CN" sz="2800" b="1">
                <a:latin typeface="Times New Roman" panose="02020603050405020304" pitchFamily="18" charset="0"/>
                <a:ea typeface="楷体_GB2312" pitchFamily="49" charset="-122"/>
              </a:rPr>
              <a:t>head</a:t>
            </a:r>
            <a:r>
              <a:rPr kumimoji="1" lang="zh-CN" altLang="en-US" sz="2800" b="1">
                <a:latin typeface="Times New Roman" panose="02020603050405020304" pitchFamily="18" charset="0"/>
                <a:ea typeface="楷体_GB2312" pitchFamily="49" charset="-122"/>
              </a:rPr>
              <a:t>为第一个数据元素的指针。</a:t>
            </a:r>
          </a:p>
        </p:txBody>
      </p:sp>
      <p:sp>
        <p:nvSpPr>
          <p:cNvPr id="49198" name="Text Box 109"/>
          <p:cNvSpPr txBox="1">
            <a:spLocks noChangeArrowheads="1"/>
          </p:cNvSpPr>
          <p:nvPr/>
        </p:nvSpPr>
        <p:spPr bwMode="auto">
          <a:xfrm>
            <a:off x="4648200" y="5791200"/>
            <a:ext cx="396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a:solidFill>
                  <a:schemeClr val="bg1"/>
                </a:solidFill>
                <a:latin typeface="楷体_GB2312" pitchFamily="49" charset="-122"/>
                <a:ea typeface="楷体_GB2312" pitchFamily="49" charset="-122"/>
              </a:rPr>
              <a:t>  </a:t>
            </a:r>
            <a:r>
              <a:rPr kumimoji="1" lang="zh-CN" altLang="en-US" sz="2400" b="1">
                <a:solidFill>
                  <a:schemeClr val="bg1"/>
                </a:solidFill>
                <a:latin typeface="楷体_GB2312" pitchFamily="49" charset="-122"/>
                <a:ea typeface="楷体_GB2312" pitchFamily="49" charset="-122"/>
              </a:rPr>
              <a:t>学生表构成的链表</a:t>
            </a:r>
          </a:p>
        </p:txBody>
      </p:sp>
      <p:sp>
        <p:nvSpPr>
          <p:cNvPr id="49199" name="灯片编号占位符 48"/>
          <p:cNvSpPr>
            <a:spLocks noGrp="1"/>
          </p:cNvSpPr>
          <p:nvPr>
            <p:ph type="sldNum" sz="quarter" idx="4294967295"/>
          </p:nvPr>
        </p:nvSpPr>
        <p:spPr bwMode="auto">
          <a:xfrm>
            <a:off x="7956550" y="6356350"/>
            <a:ext cx="73025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5FF968F-C44A-4645-B2D7-0C8EA8F143BC}" type="slidenum">
              <a:rPr lang="en-US" altLang="zh-CN"/>
              <a:pPr eaLnBrk="1" hangingPunct="1"/>
              <a:t>144</a:t>
            </a:fld>
            <a:endParaRPr lang="en-US" altLang="zh-CN"/>
          </a:p>
        </p:txBody>
      </p:sp>
      <p:sp>
        <p:nvSpPr>
          <p:cNvPr id="49200"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49" name="Rectangle 2"/>
          <p:cNvSpPr txBox="1">
            <a:spLocks noChangeArrowheads="1"/>
          </p:cNvSpPr>
          <p:nvPr/>
        </p:nvSpPr>
        <p:spPr>
          <a:xfrm>
            <a:off x="900113" y="476672"/>
            <a:ext cx="6788869" cy="638845"/>
          </a:xfrm>
          <a:prstGeom prst="rect">
            <a:avLst/>
          </a:prstGeom>
        </p:spPr>
        <p:txBody>
          <a:bodyPr/>
          <a:lstStyle>
            <a:lvl1pPr algn="l" rtl="0" eaLnBrk="0" fontAlgn="base" hangingPunct="0">
              <a:spcBef>
                <a:spcPct val="0"/>
              </a:spcBef>
              <a:spcAft>
                <a:spcPct val="0"/>
              </a:spcAft>
              <a:defRPr sz="3200">
                <a:solidFill>
                  <a:schemeClr val="accent2"/>
                </a:solidFill>
                <a:latin typeface="+mj-lt"/>
                <a:ea typeface="+mj-ea"/>
                <a:cs typeface="+mj-cs"/>
              </a:defRPr>
            </a:lvl1pPr>
            <a:lvl2pPr algn="l" rtl="0" eaLnBrk="0" fontAlgn="base" hangingPunct="0">
              <a:spcBef>
                <a:spcPct val="0"/>
              </a:spcBef>
              <a:spcAft>
                <a:spcPct val="0"/>
              </a:spcAft>
              <a:defRPr sz="3200">
                <a:solidFill>
                  <a:schemeClr val="accent2"/>
                </a:solidFill>
                <a:latin typeface="Garamond" pitchFamily="18" charset="0"/>
                <a:ea typeface="宋体" pitchFamily="2" charset="-122"/>
              </a:defRPr>
            </a:lvl2pPr>
            <a:lvl3pPr algn="l" rtl="0" eaLnBrk="0" fontAlgn="base" hangingPunct="0">
              <a:spcBef>
                <a:spcPct val="0"/>
              </a:spcBef>
              <a:spcAft>
                <a:spcPct val="0"/>
              </a:spcAft>
              <a:defRPr sz="3200">
                <a:solidFill>
                  <a:schemeClr val="accent2"/>
                </a:solidFill>
                <a:latin typeface="Garamond" pitchFamily="18" charset="0"/>
                <a:ea typeface="宋体" pitchFamily="2" charset="-122"/>
              </a:defRPr>
            </a:lvl3pPr>
            <a:lvl4pPr algn="l" rtl="0" eaLnBrk="0" fontAlgn="base" hangingPunct="0">
              <a:spcBef>
                <a:spcPct val="0"/>
              </a:spcBef>
              <a:spcAft>
                <a:spcPct val="0"/>
              </a:spcAft>
              <a:defRPr sz="3200">
                <a:solidFill>
                  <a:schemeClr val="accent2"/>
                </a:solidFill>
                <a:latin typeface="Garamond" pitchFamily="18" charset="0"/>
                <a:ea typeface="宋体" pitchFamily="2" charset="-122"/>
              </a:defRPr>
            </a:lvl4pPr>
            <a:lvl5pPr algn="l" rtl="0" eaLnBrk="0" fontAlgn="base" hangingPunct="0">
              <a:spcBef>
                <a:spcPct val="0"/>
              </a:spcBef>
              <a:spcAft>
                <a:spcPct val="0"/>
              </a:spcAft>
              <a:defRPr sz="3200">
                <a:solidFill>
                  <a:schemeClr val="accent2"/>
                </a:solidFill>
                <a:latin typeface="Garamond" pitchFamily="18" charset="0"/>
                <a:ea typeface="宋体" pitchFamily="2" charset="-122"/>
              </a:defRPr>
            </a:lvl5pPr>
            <a:lvl6pPr marL="457200" algn="l" rtl="0" fontAlgn="base">
              <a:spcBef>
                <a:spcPct val="0"/>
              </a:spcBef>
              <a:spcAft>
                <a:spcPct val="0"/>
              </a:spcAft>
              <a:defRPr sz="3200">
                <a:solidFill>
                  <a:schemeClr val="accent2"/>
                </a:solidFill>
                <a:latin typeface="Garamond" pitchFamily="18" charset="0"/>
                <a:ea typeface="宋体" pitchFamily="2" charset="-122"/>
              </a:defRPr>
            </a:lvl6pPr>
            <a:lvl7pPr marL="914400" algn="l" rtl="0" fontAlgn="base">
              <a:spcBef>
                <a:spcPct val="0"/>
              </a:spcBef>
              <a:spcAft>
                <a:spcPct val="0"/>
              </a:spcAft>
              <a:defRPr sz="3200">
                <a:solidFill>
                  <a:schemeClr val="accent2"/>
                </a:solidFill>
                <a:latin typeface="Garamond" pitchFamily="18" charset="0"/>
                <a:ea typeface="宋体" pitchFamily="2" charset="-122"/>
              </a:defRPr>
            </a:lvl7pPr>
            <a:lvl8pPr marL="1371600" algn="l" rtl="0" fontAlgn="base">
              <a:spcBef>
                <a:spcPct val="0"/>
              </a:spcBef>
              <a:spcAft>
                <a:spcPct val="0"/>
              </a:spcAft>
              <a:defRPr sz="3200">
                <a:solidFill>
                  <a:schemeClr val="accent2"/>
                </a:solidFill>
                <a:latin typeface="Garamond" pitchFamily="18" charset="0"/>
                <a:ea typeface="宋体" pitchFamily="2" charset="-122"/>
              </a:defRPr>
            </a:lvl8pPr>
            <a:lvl9pPr marL="1828800" algn="l" rtl="0" fontAlgn="base">
              <a:spcBef>
                <a:spcPct val="0"/>
              </a:spcBef>
              <a:spcAft>
                <a:spcPct val="0"/>
              </a:spcAft>
              <a:defRPr sz="3200">
                <a:solidFill>
                  <a:schemeClr val="accent2"/>
                </a:solidFill>
                <a:latin typeface="Garamond" pitchFamily="18" charset="0"/>
                <a:ea typeface="宋体" pitchFamily="2" charset="-122"/>
              </a:defRPr>
            </a:lvl9pPr>
          </a:lstStyle>
          <a:p>
            <a:pPr eaLnBrk="1" hangingPunct="1"/>
            <a:r>
              <a:rPr lang="en-US" altLang="zh-CN" kern="0" smtClean="0">
                <a:solidFill>
                  <a:srgbClr val="333399"/>
                </a:solidFill>
              </a:rPr>
              <a:t>1.4.3 </a:t>
            </a:r>
            <a:r>
              <a:rPr lang="zh-CN" altLang="en-US" kern="0" smtClean="0"/>
              <a:t>链表</a:t>
            </a:r>
            <a:endParaRPr lang="en-US" altLang="zh-CN" kern="0" dirty="0" smtClean="0"/>
          </a:p>
        </p:txBody>
      </p:sp>
    </p:spTree>
    <p:extLst>
      <p:ext uri="{BB962C8B-B14F-4D97-AF65-F5344CB8AC3E}">
        <p14:creationId xmlns:p14="http://schemas.microsoft.com/office/powerpoint/2010/main" val="2012393714"/>
      </p:ext>
    </p:extLst>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50180" name="Rectangle 3"/>
          <p:cNvSpPr>
            <a:spLocks noGrp="1" noChangeArrowheads="1"/>
          </p:cNvSpPr>
          <p:nvPr>
            <p:ph type="body" idx="1"/>
          </p:nvPr>
        </p:nvSpPr>
        <p:spPr/>
        <p:txBody>
          <a:bodyPr/>
          <a:lstStyle/>
          <a:p>
            <a:pPr eaLnBrk="1" hangingPunct="1"/>
            <a:r>
              <a:rPr lang="zh-CN" altLang="en-US" smtClean="0"/>
              <a:t>如果链表中存在由最后一个元素到第一个元素的链，那么这种链表称为</a:t>
            </a:r>
            <a:r>
              <a:rPr lang="zh-CN" altLang="en-US" smtClean="0">
                <a:solidFill>
                  <a:srgbClr val="FF0000"/>
                </a:solidFill>
              </a:rPr>
              <a:t>循环链表</a:t>
            </a:r>
            <a:endParaRPr lang="en-US" altLang="zh-CN" smtClean="0">
              <a:solidFill>
                <a:srgbClr val="FF0000"/>
              </a:solidFill>
            </a:endParaRPr>
          </a:p>
          <a:p>
            <a:pPr eaLnBrk="1" hangingPunct="1"/>
            <a:r>
              <a:rPr lang="zh-CN" altLang="en-US" smtClean="0"/>
              <a:t>如果在一个链表中每一个节点（第一个节点可能除外）也指向它的前驱节点，那么这个链表称为</a:t>
            </a:r>
            <a:r>
              <a:rPr lang="zh-CN" altLang="en-US" smtClean="0">
                <a:solidFill>
                  <a:srgbClr val="FF0000"/>
                </a:solidFill>
              </a:rPr>
              <a:t>双向链表</a:t>
            </a:r>
            <a:r>
              <a:rPr lang="zh-CN" altLang="en-US" smtClean="0"/>
              <a:t>；</a:t>
            </a:r>
            <a:endParaRPr lang="en-US" altLang="zh-CN" smtClean="0"/>
          </a:p>
          <a:p>
            <a:pPr eaLnBrk="1" hangingPunct="1"/>
            <a:r>
              <a:rPr lang="zh-CN" altLang="en-US" smtClean="0"/>
              <a:t>如果第一个和最后一个节点也被一对链接起来，这就是一个</a:t>
            </a:r>
            <a:r>
              <a:rPr lang="zh-CN" altLang="en-US" smtClean="0">
                <a:solidFill>
                  <a:srgbClr val="FF0000"/>
                </a:solidFill>
              </a:rPr>
              <a:t>循环双向链表</a:t>
            </a:r>
            <a:r>
              <a:rPr lang="zh-CN" altLang="en-US" smtClean="0"/>
              <a:t>。</a:t>
            </a:r>
            <a:endParaRPr lang="en-US" altLang="zh-CN" smtClean="0"/>
          </a:p>
        </p:txBody>
      </p:sp>
      <p:sp>
        <p:nvSpPr>
          <p:cNvPr id="7" name="Rectangle 2"/>
          <p:cNvSpPr txBox="1">
            <a:spLocks noChangeArrowheads="1"/>
          </p:cNvSpPr>
          <p:nvPr/>
        </p:nvSpPr>
        <p:spPr bwMode="auto">
          <a:xfrm>
            <a:off x="900113" y="476672"/>
            <a:ext cx="6788869" cy="638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a:solidFill>
                  <a:schemeClr val="accent2"/>
                </a:solidFill>
                <a:latin typeface="+mj-lt"/>
                <a:ea typeface="+mj-ea"/>
                <a:cs typeface="+mj-cs"/>
              </a:defRPr>
            </a:lvl1pPr>
            <a:lvl2pPr algn="l" rtl="0" eaLnBrk="0" fontAlgn="base" hangingPunct="0">
              <a:spcBef>
                <a:spcPct val="0"/>
              </a:spcBef>
              <a:spcAft>
                <a:spcPct val="0"/>
              </a:spcAft>
              <a:defRPr sz="3200">
                <a:solidFill>
                  <a:schemeClr val="accent2"/>
                </a:solidFill>
                <a:latin typeface="Garamond" pitchFamily="18" charset="0"/>
                <a:ea typeface="宋体" pitchFamily="2" charset="-122"/>
              </a:defRPr>
            </a:lvl2pPr>
            <a:lvl3pPr algn="l" rtl="0" eaLnBrk="0" fontAlgn="base" hangingPunct="0">
              <a:spcBef>
                <a:spcPct val="0"/>
              </a:spcBef>
              <a:spcAft>
                <a:spcPct val="0"/>
              </a:spcAft>
              <a:defRPr sz="3200">
                <a:solidFill>
                  <a:schemeClr val="accent2"/>
                </a:solidFill>
                <a:latin typeface="Garamond" pitchFamily="18" charset="0"/>
                <a:ea typeface="宋体" pitchFamily="2" charset="-122"/>
              </a:defRPr>
            </a:lvl3pPr>
            <a:lvl4pPr algn="l" rtl="0" eaLnBrk="0" fontAlgn="base" hangingPunct="0">
              <a:spcBef>
                <a:spcPct val="0"/>
              </a:spcBef>
              <a:spcAft>
                <a:spcPct val="0"/>
              </a:spcAft>
              <a:defRPr sz="3200">
                <a:solidFill>
                  <a:schemeClr val="accent2"/>
                </a:solidFill>
                <a:latin typeface="Garamond" pitchFamily="18" charset="0"/>
                <a:ea typeface="宋体" pitchFamily="2" charset="-122"/>
              </a:defRPr>
            </a:lvl4pPr>
            <a:lvl5pPr algn="l" rtl="0" eaLnBrk="0" fontAlgn="base" hangingPunct="0">
              <a:spcBef>
                <a:spcPct val="0"/>
              </a:spcBef>
              <a:spcAft>
                <a:spcPct val="0"/>
              </a:spcAft>
              <a:defRPr sz="3200">
                <a:solidFill>
                  <a:schemeClr val="accent2"/>
                </a:solidFill>
                <a:latin typeface="Garamond" pitchFamily="18" charset="0"/>
                <a:ea typeface="宋体" pitchFamily="2" charset="-122"/>
              </a:defRPr>
            </a:lvl5pPr>
            <a:lvl6pPr marL="457200" algn="l" rtl="0" fontAlgn="base">
              <a:spcBef>
                <a:spcPct val="0"/>
              </a:spcBef>
              <a:spcAft>
                <a:spcPct val="0"/>
              </a:spcAft>
              <a:defRPr sz="3200">
                <a:solidFill>
                  <a:schemeClr val="accent2"/>
                </a:solidFill>
                <a:latin typeface="Garamond" pitchFamily="18" charset="0"/>
                <a:ea typeface="宋体" pitchFamily="2" charset="-122"/>
              </a:defRPr>
            </a:lvl6pPr>
            <a:lvl7pPr marL="914400" algn="l" rtl="0" fontAlgn="base">
              <a:spcBef>
                <a:spcPct val="0"/>
              </a:spcBef>
              <a:spcAft>
                <a:spcPct val="0"/>
              </a:spcAft>
              <a:defRPr sz="3200">
                <a:solidFill>
                  <a:schemeClr val="accent2"/>
                </a:solidFill>
                <a:latin typeface="Garamond" pitchFamily="18" charset="0"/>
                <a:ea typeface="宋体" pitchFamily="2" charset="-122"/>
              </a:defRPr>
            </a:lvl7pPr>
            <a:lvl8pPr marL="1371600" algn="l" rtl="0" fontAlgn="base">
              <a:spcBef>
                <a:spcPct val="0"/>
              </a:spcBef>
              <a:spcAft>
                <a:spcPct val="0"/>
              </a:spcAft>
              <a:defRPr sz="3200">
                <a:solidFill>
                  <a:schemeClr val="accent2"/>
                </a:solidFill>
                <a:latin typeface="Garamond" pitchFamily="18" charset="0"/>
                <a:ea typeface="宋体" pitchFamily="2" charset="-122"/>
              </a:defRPr>
            </a:lvl8pPr>
            <a:lvl9pPr marL="1828800" algn="l" rtl="0" fontAlgn="base">
              <a:spcBef>
                <a:spcPct val="0"/>
              </a:spcBef>
              <a:spcAft>
                <a:spcPct val="0"/>
              </a:spcAft>
              <a:defRPr sz="3200">
                <a:solidFill>
                  <a:schemeClr val="accent2"/>
                </a:solidFill>
                <a:latin typeface="Garamond" pitchFamily="18" charset="0"/>
                <a:ea typeface="宋体" pitchFamily="2" charset="-122"/>
              </a:defRPr>
            </a:lvl9pPr>
          </a:lstStyle>
          <a:p>
            <a:pPr eaLnBrk="1" hangingPunct="1"/>
            <a:r>
              <a:rPr lang="en-US" altLang="zh-CN" kern="0" smtClean="0">
                <a:solidFill>
                  <a:srgbClr val="333399"/>
                </a:solidFill>
              </a:rPr>
              <a:t>1.4.3 </a:t>
            </a:r>
            <a:r>
              <a:rPr lang="zh-CN" altLang="en-US" kern="0" smtClean="0"/>
              <a:t>链表</a:t>
            </a:r>
            <a:endParaRPr lang="en-US" altLang="zh-CN" kern="0" dirty="0" smtClean="0"/>
          </a:p>
        </p:txBody>
      </p:sp>
    </p:spTree>
    <p:extLst>
      <p:ext uri="{BB962C8B-B14F-4D97-AF65-F5344CB8AC3E}">
        <p14:creationId xmlns:p14="http://schemas.microsoft.com/office/powerpoint/2010/main" val="135572399"/>
      </p:ext>
    </p:extLst>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ext Box 2"/>
          <p:cNvSpPr txBox="1">
            <a:spLocks noChangeArrowheads="1"/>
          </p:cNvSpPr>
          <p:nvPr/>
        </p:nvSpPr>
        <p:spPr bwMode="auto">
          <a:xfrm>
            <a:off x="2362200" y="4343400"/>
            <a:ext cx="48006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kumimoji="1" lang="zh-CN" altLang="en-US" sz="2400">
                <a:latin typeface="Times New Roman" panose="02020603050405020304" pitchFamily="18" charset="0"/>
              </a:rPr>
              <a:t>          带头结点的循环链表</a:t>
            </a:r>
          </a:p>
          <a:p>
            <a:pPr eaLnBrk="1" hangingPunct="1">
              <a:spcBef>
                <a:spcPct val="50000"/>
              </a:spcBef>
            </a:pPr>
            <a:r>
              <a:rPr kumimoji="1" lang="zh-CN" altLang="en-US" sz="2400">
                <a:latin typeface="Times New Roman" panose="02020603050405020304" pitchFamily="18" charset="0"/>
              </a:rPr>
              <a:t>           </a:t>
            </a:r>
            <a:r>
              <a:rPr kumimoji="1" lang="en-US" altLang="zh-CN" sz="2400">
                <a:latin typeface="Times New Roman" panose="02020603050405020304" pitchFamily="18" charset="0"/>
              </a:rPr>
              <a:t>(a)</a:t>
            </a:r>
            <a:r>
              <a:rPr kumimoji="1" lang="zh-CN" altLang="en-US" sz="2400">
                <a:latin typeface="Times New Roman" panose="02020603050405020304" pitchFamily="18" charset="0"/>
              </a:rPr>
              <a:t>空链；  </a:t>
            </a:r>
            <a:r>
              <a:rPr kumimoji="1" lang="en-US" altLang="zh-CN" sz="2400">
                <a:latin typeface="Times New Roman" panose="02020603050405020304" pitchFamily="18" charset="0"/>
              </a:rPr>
              <a:t>(b)</a:t>
            </a:r>
            <a:r>
              <a:rPr kumimoji="1" lang="zh-CN" altLang="en-US" sz="2400">
                <a:latin typeface="Times New Roman" panose="02020603050405020304" pitchFamily="18" charset="0"/>
              </a:rPr>
              <a:t>非空链 </a:t>
            </a:r>
          </a:p>
        </p:txBody>
      </p:sp>
      <p:graphicFrame>
        <p:nvGraphicFramePr>
          <p:cNvPr id="4098" name="Object 2"/>
          <p:cNvGraphicFramePr>
            <a:graphicFrameLocks noChangeAspect="1"/>
          </p:cNvGraphicFramePr>
          <p:nvPr/>
        </p:nvGraphicFramePr>
        <p:xfrm>
          <a:off x="228600" y="2057400"/>
          <a:ext cx="8915400" cy="1468438"/>
        </p:xfrm>
        <a:graphic>
          <a:graphicData uri="http://schemas.openxmlformats.org/presentationml/2006/ole">
            <mc:AlternateContent xmlns:mc="http://schemas.openxmlformats.org/markup-compatibility/2006">
              <mc:Choice xmlns:v="urn:schemas-microsoft-com:vml" Requires="v">
                <p:oleObj spid="_x0000_s25610" name="VISIO" r:id="rId3" imgW="4721400" imgH="777600" progId="Visio.Drawing.11">
                  <p:embed/>
                </p:oleObj>
              </mc:Choice>
              <mc:Fallback>
                <p:oleObj name="VISIO" r:id="rId3" imgW="4721400" imgH="777600" progId="Visio.Drawing.11">
                  <p:embed/>
                  <p:pic>
                    <p:nvPicPr>
                      <p:cNvPr id="4098"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2057400"/>
                        <a:ext cx="8915400" cy="1468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00"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5" name="Rectangle 2"/>
          <p:cNvSpPr>
            <a:spLocks noGrp="1" noChangeArrowheads="1"/>
          </p:cNvSpPr>
          <p:nvPr>
            <p:ph type="title"/>
          </p:nvPr>
        </p:nvSpPr>
        <p:spPr>
          <a:xfrm>
            <a:off x="900113" y="476672"/>
            <a:ext cx="6788869" cy="638845"/>
          </a:xfrm>
        </p:spPr>
        <p:txBody>
          <a:bodyPr/>
          <a:lstStyle/>
          <a:p>
            <a:pPr eaLnBrk="1" hangingPunct="1"/>
            <a:r>
              <a:rPr lang="en-US" altLang="zh-CN" dirty="0" smtClean="0">
                <a:solidFill>
                  <a:srgbClr val="333399"/>
                </a:solidFill>
              </a:rPr>
              <a:t>1.4.3 </a:t>
            </a:r>
            <a:r>
              <a:rPr lang="zh-CN" altLang="en-US" dirty="0" smtClean="0"/>
              <a:t>链表</a:t>
            </a:r>
            <a:endParaRPr lang="en-US" altLang="zh-CN" dirty="0" smtClean="0"/>
          </a:p>
        </p:txBody>
      </p:sp>
    </p:spTree>
    <p:extLst>
      <p:ext uri="{BB962C8B-B14F-4D97-AF65-F5344CB8AC3E}">
        <p14:creationId xmlns:p14="http://schemas.microsoft.com/office/powerpoint/2010/main" val="982418745"/>
      </p:ext>
    </p:extLst>
  </p:cSld>
  <p:clrMapOvr>
    <a:masterClrMapping/>
  </p:clrMapOvr>
  <p:transition spd="med">
    <p:checker/>
  </p:transition>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ext Box 2"/>
          <p:cNvSpPr txBox="1">
            <a:spLocks noChangeArrowheads="1"/>
          </p:cNvSpPr>
          <p:nvPr/>
        </p:nvSpPr>
        <p:spPr bwMode="auto">
          <a:xfrm>
            <a:off x="2714625" y="4500563"/>
            <a:ext cx="49530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kumimoji="1" lang="zh-CN" altLang="en-US" sz="2400">
                <a:latin typeface="Times New Roman" panose="02020603050405020304" pitchFamily="18" charset="0"/>
              </a:rPr>
              <a:t>          带头结点的双向链表</a:t>
            </a:r>
          </a:p>
          <a:p>
            <a:pPr eaLnBrk="1" hangingPunct="1">
              <a:spcBef>
                <a:spcPct val="50000"/>
              </a:spcBef>
            </a:pPr>
            <a:r>
              <a:rPr kumimoji="1" lang="zh-CN" altLang="en-US" sz="2400">
                <a:latin typeface="Times New Roman" panose="02020603050405020304" pitchFamily="18" charset="0"/>
              </a:rPr>
              <a:t>         </a:t>
            </a:r>
            <a:r>
              <a:rPr kumimoji="1" lang="en-US" altLang="zh-CN" sz="2400">
                <a:latin typeface="Times New Roman" panose="02020603050405020304" pitchFamily="18" charset="0"/>
              </a:rPr>
              <a:t>(a)</a:t>
            </a:r>
            <a:r>
              <a:rPr kumimoji="1" lang="zh-CN" altLang="en-US" sz="2400">
                <a:latin typeface="Times New Roman" panose="02020603050405020304" pitchFamily="18" charset="0"/>
              </a:rPr>
              <a:t>空链；  </a:t>
            </a:r>
            <a:r>
              <a:rPr kumimoji="1" lang="en-US" altLang="zh-CN" sz="2400">
                <a:latin typeface="Times New Roman" panose="02020603050405020304" pitchFamily="18" charset="0"/>
              </a:rPr>
              <a:t>(b)</a:t>
            </a:r>
            <a:r>
              <a:rPr kumimoji="1" lang="zh-CN" altLang="en-US" sz="2400">
                <a:latin typeface="Times New Roman" panose="02020603050405020304" pitchFamily="18" charset="0"/>
              </a:rPr>
              <a:t>非空链 </a:t>
            </a:r>
          </a:p>
        </p:txBody>
      </p:sp>
      <p:graphicFrame>
        <p:nvGraphicFramePr>
          <p:cNvPr id="5122" name="Object 2"/>
          <p:cNvGraphicFramePr>
            <a:graphicFrameLocks noChangeAspect="1"/>
          </p:cNvGraphicFramePr>
          <p:nvPr/>
        </p:nvGraphicFramePr>
        <p:xfrm>
          <a:off x="228600" y="2514600"/>
          <a:ext cx="8915400" cy="1322388"/>
        </p:xfrm>
        <a:graphic>
          <a:graphicData uri="http://schemas.openxmlformats.org/presentationml/2006/ole">
            <mc:AlternateContent xmlns:mc="http://schemas.openxmlformats.org/markup-compatibility/2006">
              <mc:Choice xmlns:v="urn:schemas-microsoft-com:vml" Requires="v">
                <p:oleObj spid="_x0000_s26634" name="Visio" r:id="rId3" imgW="5243666" imgH="777563" progId="Visio.Drawing.11">
                  <p:embed/>
                </p:oleObj>
              </mc:Choice>
              <mc:Fallback>
                <p:oleObj name="Visio" r:id="rId3" imgW="5243666" imgH="777563" progId="Visio.Drawing.11">
                  <p:embed/>
                  <p:pic>
                    <p:nvPicPr>
                      <p:cNvPr id="512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2514600"/>
                        <a:ext cx="8915400" cy="132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2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5" name="Rectangle 2"/>
          <p:cNvSpPr>
            <a:spLocks noGrp="1" noChangeArrowheads="1"/>
          </p:cNvSpPr>
          <p:nvPr>
            <p:ph type="title"/>
          </p:nvPr>
        </p:nvSpPr>
        <p:spPr>
          <a:xfrm>
            <a:off x="900113" y="476672"/>
            <a:ext cx="6788869" cy="638845"/>
          </a:xfrm>
        </p:spPr>
        <p:txBody>
          <a:bodyPr/>
          <a:lstStyle/>
          <a:p>
            <a:pPr eaLnBrk="1" hangingPunct="1"/>
            <a:r>
              <a:rPr lang="en-US" altLang="zh-CN" dirty="0" smtClean="0">
                <a:solidFill>
                  <a:srgbClr val="333399"/>
                </a:solidFill>
              </a:rPr>
              <a:t>1.4.3 </a:t>
            </a:r>
            <a:r>
              <a:rPr lang="zh-CN" altLang="en-US" dirty="0" smtClean="0"/>
              <a:t>链表</a:t>
            </a:r>
            <a:endParaRPr lang="en-US" altLang="zh-CN" dirty="0" smtClean="0"/>
          </a:p>
        </p:txBody>
      </p:sp>
    </p:spTree>
    <p:extLst>
      <p:ext uri="{BB962C8B-B14F-4D97-AF65-F5344CB8AC3E}">
        <p14:creationId xmlns:p14="http://schemas.microsoft.com/office/powerpoint/2010/main" val="3974849542"/>
      </p:ext>
    </p:extLst>
  </p:cSld>
  <p:clrMapOvr>
    <a:masterClrMapping/>
  </p:clrMapOvr>
  <p:transition spd="med">
    <p:checker/>
  </p:transition>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ext Box 2"/>
          <p:cNvSpPr txBox="1">
            <a:spLocks noChangeArrowheads="1"/>
          </p:cNvSpPr>
          <p:nvPr/>
        </p:nvSpPr>
        <p:spPr bwMode="auto">
          <a:xfrm>
            <a:off x="2571750" y="4357688"/>
            <a:ext cx="49530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kumimoji="1" lang="zh-CN" altLang="en-US" sz="2400">
                <a:latin typeface="Times New Roman" panose="02020603050405020304" pitchFamily="18" charset="0"/>
              </a:rPr>
              <a:t>     带头结点的循环双向链表</a:t>
            </a:r>
          </a:p>
          <a:p>
            <a:pPr eaLnBrk="1" hangingPunct="1">
              <a:spcBef>
                <a:spcPct val="50000"/>
              </a:spcBef>
            </a:pPr>
            <a:r>
              <a:rPr kumimoji="1" lang="zh-CN" altLang="en-US" sz="2400">
                <a:latin typeface="Times New Roman" panose="02020603050405020304" pitchFamily="18" charset="0"/>
              </a:rPr>
              <a:t>         </a:t>
            </a:r>
            <a:r>
              <a:rPr kumimoji="1" lang="en-US" altLang="zh-CN" sz="2400">
                <a:latin typeface="Times New Roman" panose="02020603050405020304" pitchFamily="18" charset="0"/>
              </a:rPr>
              <a:t>(a)</a:t>
            </a:r>
            <a:r>
              <a:rPr kumimoji="1" lang="zh-CN" altLang="en-US" sz="2400">
                <a:latin typeface="Times New Roman" panose="02020603050405020304" pitchFamily="18" charset="0"/>
              </a:rPr>
              <a:t>空链；  </a:t>
            </a:r>
            <a:r>
              <a:rPr kumimoji="1" lang="en-US" altLang="zh-CN" sz="2400">
                <a:latin typeface="Times New Roman" panose="02020603050405020304" pitchFamily="18" charset="0"/>
              </a:rPr>
              <a:t>(b)</a:t>
            </a:r>
            <a:r>
              <a:rPr kumimoji="1" lang="zh-CN" altLang="en-US" sz="2400">
                <a:latin typeface="Times New Roman" panose="02020603050405020304" pitchFamily="18" charset="0"/>
              </a:rPr>
              <a:t>非空链 </a:t>
            </a:r>
          </a:p>
        </p:txBody>
      </p:sp>
      <p:graphicFrame>
        <p:nvGraphicFramePr>
          <p:cNvPr id="6146" name="Object 2"/>
          <p:cNvGraphicFramePr>
            <a:graphicFrameLocks noChangeAspect="1"/>
          </p:cNvGraphicFramePr>
          <p:nvPr/>
        </p:nvGraphicFramePr>
        <p:xfrm>
          <a:off x="228600" y="2514600"/>
          <a:ext cx="8915400" cy="1322388"/>
        </p:xfrm>
        <a:graphic>
          <a:graphicData uri="http://schemas.openxmlformats.org/presentationml/2006/ole">
            <mc:AlternateContent xmlns:mc="http://schemas.openxmlformats.org/markup-compatibility/2006">
              <mc:Choice xmlns:v="urn:schemas-microsoft-com:vml" Requires="v">
                <p:oleObj spid="_x0000_s27658" name="VISIO" r:id="rId3" imgW="5243400" imgH="777600" progId="Visio.Drawing.11">
                  <p:embed/>
                </p:oleObj>
              </mc:Choice>
              <mc:Fallback>
                <p:oleObj name="VISIO" r:id="rId3" imgW="5243400" imgH="777600" progId="Visio.Drawing.11">
                  <p:embed/>
                  <p:pic>
                    <p:nvPicPr>
                      <p:cNvPr id="6146"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2514600"/>
                        <a:ext cx="8915400" cy="132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148"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5" name="Rectangle 2"/>
          <p:cNvSpPr>
            <a:spLocks noGrp="1" noChangeArrowheads="1"/>
          </p:cNvSpPr>
          <p:nvPr>
            <p:ph type="title"/>
          </p:nvPr>
        </p:nvSpPr>
        <p:spPr>
          <a:xfrm>
            <a:off x="900113" y="476672"/>
            <a:ext cx="6788869" cy="638845"/>
          </a:xfrm>
        </p:spPr>
        <p:txBody>
          <a:bodyPr/>
          <a:lstStyle/>
          <a:p>
            <a:pPr eaLnBrk="1" hangingPunct="1"/>
            <a:r>
              <a:rPr lang="en-US" altLang="zh-CN" dirty="0" smtClean="0">
                <a:solidFill>
                  <a:srgbClr val="333399"/>
                </a:solidFill>
              </a:rPr>
              <a:t>1.4.3 </a:t>
            </a:r>
            <a:r>
              <a:rPr lang="zh-CN" altLang="en-US" dirty="0" smtClean="0"/>
              <a:t>链表</a:t>
            </a:r>
            <a:endParaRPr lang="en-US" altLang="zh-CN" dirty="0" smtClean="0"/>
          </a:p>
        </p:txBody>
      </p:sp>
    </p:spTree>
    <p:extLst>
      <p:ext uri="{BB962C8B-B14F-4D97-AF65-F5344CB8AC3E}">
        <p14:creationId xmlns:p14="http://schemas.microsoft.com/office/powerpoint/2010/main" val="3975546690"/>
      </p:ext>
    </p:extLst>
  </p:cSld>
  <p:clrMapOvr>
    <a:masterClrMapping/>
  </p:clrMapOvr>
  <p:transition spd="med">
    <p:checker/>
  </p:transition>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51204" name="Rectangle 3"/>
          <p:cNvSpPr>
            <a:spLocks noGrp="1" noChangeArrowheads="1"/>
          </p:cNvSpPr>
          <p:nvPr>
            <p:ph type="body" idx="1"/>
          </p:nvPr>
        </p:nvSpPr>
        <p:spPr/>
        <p:txBody>
          <a:bodyPr/>
          <a:lstStyle/>
          <a:p>
            <a:pPr eaLnBrk="1" hangingPunct="1">
              <a:buFontTx/>
              <a:buNone/>
            </a:pPr>
            <a:r>
              <a:rPr lang="en-US" altLang="zh-CN" smtClean="0"/>
              <a:t>  </a:t>
            </a:r>
          </a:p>
        </p:txBody>
      </p:sp>
      <p:pic>
        <p:nvPicPr>
          <p:cNvPr id="51205" name="Picture 2" descr="ch3linkedlis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7313" y="1285875"/>
            <a:ext cx="6172200" cy="442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2"/>
          <p:cNvSpPr>
            <a:spLocks noGrp="1" noChangeArrowheads="1"/>
          </p:cNvSpPr>
          <p:nvPr>
            <p:ph type="title"/>
          </p:nvPr>
        </p:nvSpPr>
        <p:spPr>
          <a:xfrm>
            <a:off x="900113" y="476672"/>
            <a:ext cx="6788869" cy="638845"/>
          </a:xfrm>
        </p:spPr>
        <p:txBody>
          <a:bodyPr/>
          <a:lstStyle/>
          <a:p>
            <a:pPr eaLnBrk="1" hangingPunct="1"/>
            <a:r>
              <a:rPr lang="en-US" altLang="zh-CN" dirty="0" smtClean="0">
                <a:solidFill>
                  <a:srgbClr val="333399"/>
                </a:solidFill>
              </a:rPr>
              <a:t>1.4.3 </a:t>
            </a:r>
            <a:r>
              <a:rPr lang="zh-CN" altLang="en-US" dirty="0" smtClean="0"/>
              <a:t>链表</a:t>
            </a:r>
            <a:endParaRPr lang="en-US" altLang="zh-CN" dirty="0" smtClean="0"/>
          </a:p>
        </p:txBody>
      </p:sp>
    </p:spTree>
    <p:extLst>
      <p:ext uri="{BB962C8B-B14F-4D97-AF65-F5344CB8AC3E}">
        <p14:creationId xmlns:p14="http://schemas.microsoft.com/office/powerpoint/2010/main" val="3414826292"/>
      </p:ext>
    </p:extLst>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52227" name="Rectangle 2"/>
          <p:cNvSpPr>
            <a:spLocks noGrp="1" noChangeArrowheads="1"/>
          </p:cNvSpPr>
          <p:nvPr>
            <p:ph type="title"/>
          </p:nvPr>
        </p:nvSpPr>
        <p:spPr/>
        <p:txBody>
          <a:bodyPr/>
          <a:lstStyle/>
          <a:p>
            <a:pPr eaLnBrk="1" hangingPunct="1"/>
            <a:r>
              <a:rPr lang="en-US" altLang="zh-CN" dirty="0">
                <a:solidFill>
                  <a:srgbClr val="333399"/>
                </a:solidFill>
              </a:rPr>
              <a:t>1.4.3 </a:t>
            </a:r>
            <a:r>
              <a:rPr lang="zh-CN" altLang="en-US" dirty="0" smtClean="0"/>
              <a:t>链表</a:t>
            </a:r>
            <a:r>
              <a:rPr lang="en-US" altLang="zh-CN" dirty="0" smtClean="0"/>
              <a:t>——2</a:t>
            </a:r>
            <a:r>
              <a:rPr lang="zh-CN" altLang="en-US" dirty="0" smtClean="0"/>
              <a:t>个主要操作</a:t>
            </a:r>
            <a:endParaRPr lang="en-US" altLang="zh-CN" dirty="0" smtClean="0"/>
          </a:p>
        </p:txBody>
      </p:sp>
      <p:sp>
        <p:nvSpPr>
          <p:cNvPr id="52228" name="Rectangle 3"/>
          <p:cNvSpPr>
            <a:spLocks noGrp="1" noChangeArrowheads="1"/>
          </p:cNvSpPr>
          <p:nvPr>
            <p:ph type="body" idx="1"/>
          </p:nvPr>
        </p:nvSpPr>
        <p:spPr/>
        <p:txBody>
          <a:bodyPr/>
          <a:lstStyle/>
          <a:p>
            <a:pPr eaLnBrk="1" hangingPunct="1"/>
            <a:r>
              <a:rPr lang="zh-CN" altLang="en-US" sz="2700" dirty="0" smtClean="0"/>
              <a:t>插入</a:t>
            </a:r>
            <a:endParaRPr lang="en-US" altLang="zh-CN" sz="2700" dirty="0" smtClean="0"/>
          </a:p>
          <a:p>
            <a:pPr eaLnBrk="1" hangingPunct="1"/>
            <a:endParaRPr lang="en-US" altLang="zh-CN" sz="2700" dirty="0" smtClean="0"/>
          </a:p>
          <a:p>
            <a:pPr eaLnBrk="1" hangingPunct="1"/>
            <a:r>
              <a:rPr lang="zh-CN" altLang="en-US" sz="2700" dirty="0" smtClean="0"/>
              <a:t>删除</a:t>
            </a:r>
            <a:endParaRPr lang="en-US" altLang="zh-CN" sz="2700" dirty="0" smtClean="0"/>
          </a:p>
          <a:p>
            <a:pPr eaLnBrk="1" hangingPunct="1"/>
            <a:endParaRPr lang="en-US" altLang="zh-CN" sz="2700" dirty="0" smtClean="0"/>
          </a:p>
          <a:p>
            <a:pPr eaLnBrk="1" hangingPunct="1"/>
            <a:r>
              <a:rPr lang="zh-CN" altLang="en-US" sz="2700" dirty="0" smtClean="0"/>
              <a:t>与数组不同，在链表中插入和删除元素只花费</a:t>
            </a:r>
            <a:r>
              <a:rPr lang="zh-CN" altLang="en-US" sz="2700" dirty="0" smtClean="0">
                <a:solidFill>
                  <a:srgbClr val="FF0000"/>
                </a:solidFill>
              </a:rPr>
              <a:t>固定的时间</a:t>
            </a:r>
            <a:r>
              <a:rPr lang="zh-CN" altLang="en-US" sz="2700" dirty="0" smtClean="0"/>
              <a:t>。</a:t>
            </a:r>
            <a:endParaRPr lang="en-US" altLang="zh-CN" sz="2700" dirty="0" smtClean="0"/>
          </a:p>
          <a:p>
            <a:pPr eaLnBrk="1" hangingPunct="1"/>
            <a:r>
              <a:rPr lang="zh-CN" altLang="en-US" sz="2700" dirty="0" smtClean="0"/>
              <a:t>对链表的访问加入一些限制，就可以得到两种基础性的数据结构：堆栈和队列</a:t>
            </a:r>
            <a:endParaRPr lang="en-US" altLang="zh-CN" sz="2700" dirty="0" smtClean="0"/>
          </a:p>
        </p:txBody>
      </p:sp>
    </p:spTree>
    <p:extLst>
      <p:ext uri="{BB962C8B-B14F-4D97-AF65-F5344CB8AC3E}">
        <p14:creationId xmlns:p14="http://schemas.microsoft.com/office/powerpoint/2010/main" val="2159246182"/>
      </p:ext>
    </p:extLst>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Text Box 4"/>
          <p:cNvSpPr txBox="1">
            <a:spLocks noChangeArrowheads="1"/>
          </p:cNvSpPr>
          <p:nvPr/>
        </p:nvSpPr>
        <p:spPr bwMode="auto">
          <a:xfrm>
            <a:off x="2000250" y="5286375"/>
            <a:ext cx="5715000"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lang="zh-CN" altLang="en-US" dirty="0"/>
              <a:t>图</a:t>
            </a:r>
            <a:r>
              <a:rPr lang="en-US" altLang="zh-CN" dirty="0"/>
              <a:t>      </a:t>
            </a:r>
            <a:r>
              <a:rPr lang="zh-CN" altLang="en-US" dirty="0">
                <a:solidFill>
                  <a:srgbClr val="FF0000"/>
                </a:solidFill>
              </a:rPr>
              <a:t>数组存储下线性表的插入过程</a:t>
            </a:r>
          </a:p>
          <a:p>
            <a:pPr algn="just" eaLnBrk="1" hangingPunct="1">
              <a:spcBef>
                <a:spcPct val="50000"/>
              </a:spcBef>
            </a:pPr>
            <a:r>
              <a:rPr lang="zh-CN" altLang="en-US" dirty="0"/>
              <a:t>      </a:t>
            </a:r>
            <a:r>
              <a:rPr lang="en-US" altLang="zh-CN" dirty="0"/>
              <a:t>(a) </a:t>
            </a:r>
            <a:r>
              <a:rPr lang="zh-CN" altLang="en-US" dirty="0"/>
              <a:t>插入前；</a:t>
            </a:r>
            <a:r>
              <a:rPr lang="en-US" altLang="zh-CN" dirty="0"/>
              <a:t>(b) </a:t>
            </a:r>
            <a:r>
              <a:rPr lang="zh-CN" altLang="en-US" dirty="0"/>
              <a:t>后移；</a:t>
            </a:r>
            <a:r>
              <a:rPr lang="en-US" altLang="zh-CN" dirty="0"/>
              <a:t>(c) </a:t>
            </a:r>
            <a:r>
              <a:rPr lang="zh-CN" altLang="en-US" dirty="0"/>
              <a:t>插入</a:t>
            </a:r>
          </a:p>
        </p:txBody>
      </p:sp>
      <p:graphicFrame>
        <p:nvGraphicFramePr>
          <p:cNvPr id="7170" name="Object 2"/>
          <p:cNvGraphicFramePr>
            <a:graphicFrameLocks noChangeAspect="1"/>
          </p:cNvGraphicFramePr>
          <p:nvPr/>
        </p:nvGraphicFramePr>
        <p:xfrm>
          <a:off x="683567" y="1196975"/>
          <a:ext cx="8065146" cy="4210649"/>
        </p:xfrm>
        <a:graphic>
          <a:graphicData uri="http://schemas.openxmlformats.org/presentationml/2006/ole">
            <mc:AlternateContent xmlns:mc="http://schemas.openxmlformats.org/markup-compatibility/2006">
              <mc:Choice xmlns:v="urn:schemas-microsoft-com:vml" Requires="v">
                <p:oleObj spid="_x0000_s28682" r:id="rId3" imgW="4817290" imgH="2513287" progId="Visio.Drawing.11">
                  <p:embed/>
                </p:oleObj>
              </mc:Choice>
              <mc:Fallback>
                <p:oleObj r:id="rId3" imgW="4817290" imgH="2513287" progId="Visio.Drawing.11">
                  <p:embed/>
                  <p:pic>
                    <p:nvPicPr>
                      <p:cNvPr id="717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3567" y="1196975"/>
                        <a:ext cx="8065146" cy="4210649"/>
                      </a:xfrm>
                      <a:prstGeom prst="rect">
                        <a:avLst/>
                      </a:prstGeom>
                      <a:noFill/>
                    </p:spPr>
                  </p:pic>
                </p:oleObj>
              </mc:Fallback>
            </mc:AlternateContent>
          </a:graphicData>
        </a:graphic>
      </p:graphicFrame>
      <p:sp>
        <p:nvSpPr>
          <p:cNvPr id="7172"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9" name="Rectangle 2"/>
          <p:cNvSpPr>
            <a:spLocks noGrp="1" noChangeArrowheads="1"/>
          </p:cNvSpPr>
          <p:nvPr>
            <p:ph type="title"/>
          </p:nvPr>
        </p:nvSpPr>
        <p:spPr>
          <a:xfrm>
            <a:off x="879475" y="269875"/>
            <a:ext cx="7869238" cy="927100"/>
          </a:xfrm>
        </p:spPr>
        <p:txBody>
          <a:bodyPr/>
          <a:lstStyle/>
          <a:p>
            <a:pPr eaLnBrk="1" hangingPunct="1"/>
            <a:r>
              <a:rPr lang="en-US" altLang="zh-CN" dirty="0">
                <a:solidFill>
                  <a:srgbClr val="333399"/>
                </a:solidFill>
              </a:rPr>
              <a:t>1.4.3 </a:t>
            </a:r>
            <a:r>
              <a:rPr lang="zh-CN" altLang="en-US" dirty="0" smtClean="0"/>
              <a:t>链表</a:t>
            </a:r>
            <a:r>
              <a:rPr lang="en-US" altLang="zh-CN" dirty="0" smtClean="0"/>
              <a:t>——</a:t>
            </a:r>
            <a:r>
              <a:rPr lang="zh-CN" altLang="en-US" dirty="0"/>
              <a:t>插入</a:t>
            </a:r>
            <a:endParaRPr lang="en-US" altLang="zh-CN" dirty="0" smtClean="0"/>
          </a:p>
        </p:txBody>
      </p:sp>
    </p:spTree>
    <p:extLst>
      <p:ext uri="{BB962C8B-B14F-4D97-AF65-F5344CB8AC3E}">
        <p14:creationId xmlns:p14="http://schemas.microsoft.com/office/powerpoint/2010/main" val="405617113"/>
      </p:ext>
    </p:extLst>
  </p:cSld>
  <p:clrMapOvr>
    <a:masterClrMapping/>
  </p:clrMapOvr>
  <p:transition/>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Text Box 4"/>
          <p:cNvSpPr txBox="1">
            <a:spLocks noChangeArrowheads="1"/>
          </p:cNvSpPr>
          <p:nvPr/>
        </p:nvSpPr>
        <p:spPr bwMode="auto">
          <a:xfrm>
            <a:off x="2143125" y="5286375"/>
            <a:ext cx="5943600"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lang="zh-CN" altLang="en-US"/>
              <a:t>图</a:t>
            </a:r>
            <a:r>
              <a:rPr lang="en-US" altLang="zh-CN"/>
              <a:t>  </a:t>
            </a:r>
            <a:r>
              <a:rPr lang="zh-CN" altLang="en-US">
                <a:solidFill>
                  <a:srgbClr val="FF0000"/>
                </a:solidFill>
              </a:rPr>
              <a:t>链式存储下线性表的插入过程</a:t>
            </a:r>
          </a:p>
          <a:p>
            <a:pPr algn="just" eaLnBrk="1" hangingPunct="1">
              <a:spcBef>
                <a:spcPct val="50000"/>
              </a:spcBef>
            </a:pPr>
            <a:r>
              <a:rPr lang="en-US" altLang="zh-CN"/>
              <a:t>(a) </a:t>
            </a:r>
            <a:r>
              <a:rPr lang="zh-CN" altLang="en-US"/>
              <a:t>插入前；</a:t>
            </a:r>
            <a:r>
              <a:rPr lang="en-US" altLang="zh-CN"/>
              <a:t>(b) </a:t>
            </a:r>
            <a:r>
              <a:rPr lang="zh-CN" altLang="en-US"/>
              <a:t>新结点赋值；</a:t>
            </a:r>
            <a:r>
              <a:rPr lang="en-US" altLang="zh-CN"/>
              <a:t>(c) </a:t>
            </a:r>
            <a:r>
              <a:rPr lang="zh-CN" altLang="en-US"/>
              <a:t>链入</a:t>
            </a:r>
          </a:p>
        </p:txBody>
      </p:sp>
      <p:graphicFrame>
        <p:nvGraphicFramePr>
          <p:cNvPr id="9218" name="Object 2"/>
          <p:cNvGraphicFramePr>
            <a:graphicFrameLocks noChangeAspect="1"/>
          </p:cNvGraphicFramePr>
          <p:nvPr/>
        </p:nvGraphicFramePr>
        <p:xfrm>
          <a:off x="899592" y="1196753"/>
          <a:ext cx="6809735" cy="4176464"/>
        </p:xfrm>
        <a:graphic>
          <a:graphicData uri="http://schemas.openxmlformats.org/presentationml/2006/ole">
            <mc:AlternateContent xmlns:mc="http://schemas.openxmlformats.org/markup-compatibility/2006">
              <mc:Choice xmlns:v="urn:schemas-microsoft-com:vml" Requires="v">
                <p:oleObj spid="_x0000_s29706" r:id="rId3" imgW="3865009" imgH="2369264" progId="Visio.Drawing.11">
                  <p:embed/>
                </p:oleObj>
              </mc:Choice>
              <mc:Fallback>
                <p:oleObj r:id="rId3" imgW="3865009" imgH="2369264" progId="Visio.Drawing.11">
                  <p:embed/>
                  <p:pic>
                    <p:nvPicPr>
                      <p:cNvPr id="9218"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9592" y="1196753"/>
                        <a:ext cx="6809735" cy="4176464"/>
                      </a:xfrm>
                      <a:prstGeom prst="rect">
                        <a:avLst/>
                      </a:prstGeom>
                      <a:noFill/>
                    </p:spPr>
                  </p:pic>
                </p:oleObj>
              </mc:Fallback>
            </mc:AlternateContent>
          </a:graphicData>
        </a:graphic>
      </p:graphicFrame>
      <p:sp>
        <p:nvSpPr>
          <p:cNvPr id="9220"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5" name="Rectangle 2"/>
          <p:cNvSpPr>
            <a:spLocks noGrp="1" noChangeArrowheads="1"/>
          </p:cNvSpPr>
          <p:nvPr>
            <p:ph type="title"/>
          </p:nvPr>
        </p:nvSpPr>
        <p:spPr>
          <a:xfrm>
            <a:off x="879475" y="269875"/>
            <a:ext cx="7869238" cy="927100"/>
          </a:xfrm>
        </p:spPr>
        <p:txBody>
          <a:bodyPr/>
          <a:lstStyle/>
          <a:p>
            <a:pPr eaLnBrk="1" hangingPunct="1"/>
            <a:r>
              <a:rPr lang="en-US" altLang="zh-CN" dirty="0">
                <a:solidFill>
                  <a:srgbClr val="333399"/>
                </a:solidFill>
              </a:rPr>
              <a:t>1.4.3 </a:t>
            </a:r>
            <a:r>
              <a:rPr lang="zh-CN" altLang="en-US" dirty="0" smtClean="0"/>
              <a:t>链表</a:t>
            </a:r>
            <a:r>
              <a:rPr lang="en-US" altLang="zh-CN" dirty="0" smtClean="0"/>
              <a:t>——</a:t>
            </a:r>
            <a:r>
              <a:rPr lang="zh-CN" altLang="en-US" dirty="0"/>
              <a:t>插入</a:t>
            </a:r>
            <a:endParaRPr lang="en-US" altLang="zh-CN" dirty="0" smtClean="0"/>
          </a:p>
        </p:txBody>
      </p:sp>
    </p:spTree>
    <p:extLst>
      <p:ext uri="{BB962C8B-B14F-4D97-AF65-F5344CB8AC3E}">
        <p14:creationId xmlns:p14="http://schemas.microsoft.com/office/powerpoint/2010/main" val="2203260136"/>
      </p:ext>
    </p:extLst>
  </p:cSld>
  <p:clrMapOvr>
    <a:masterClrMapping/>
  </p:clrMapOvr>
  <p:transition/>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Text Box 4"/>
          <p:cNvSpPr txBox="1">
            <a:spLocks noChangeArrowheads="1"/>
          </p:cNvSpPr>
          <p:nvPr/>
        </p:nvSpPr>
        <p:spPr bwMode="auto">
          <a:xfrm>
            <a:off x="2195736" y="5373216"/>
            <a:ext cx="5715000"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lang="zh-CN" altLang="en-US" dirty="0"/>
              <a:t>图</a:t>
            </a:r>
            <a:r>
              <a:rPr lang="en-US" altLang="zh-CN" dirty="0"/>
              <a:t>  </a:t>
            </a:r>
            <a:r>
              <a:rPr lang="zh-CN" altLang="en-US" dirty="0">
                <a:solidFill>
                  <a:srgbClr val="FF0000"/>
                </a:solidFill>
              </a:rPr>
              <a:t>数组存储下线性表的删除过程</a:t>
            </a:r>
          </a:p>
          <a:p>
            <a:pPr algn="just" eaLnBrk="1" hangingPunct="1">
              <a:spcBef>
                <a:spcPct val="50000"/>
              </a:spcBef>
            </a:pPr>
            <a:r>
              <a:rPr lang="zh-CN" altLang="en-US" dirty="0"/>
              <a:t>     </a:t>
            </a:r>
            <a:r>
              <a:rPr lang="en-US" altLang="zh-CN" dirty="0"/>
              <a:t>(a) </a:t>
            </a:r>
            <a:r>
              <a:rPr lang="zh-CN" altLang="en-US" dirty="0"/>
              <a:t>删除前；</a:t>
            </a:r>
            <a:r>
              <a:rPr lang="en-US" altLang="zh-CN" dirty="0"/>
              <a:t>(b) </a:t>
            </a:r>
            <a:r>
              <a:rPr lang="zh-CN" altLang="en-US" dirty="0"/>
              <a:t>保存；</a:t>
            </a:r>
            <a:r>
              <a:rPr lang="en-US" altLang="zh-CN" dirty="0"/>
              <a:t>(c) </a:t>
            </a:r>
            <a:r>
              <a:rPr lang="zh-CN" altLang="en-US" dirty="0"/>
              <a:t>前移</a:t>
            </a:r>
          </a:p>
        </p:txBody>
      </p:sp>
      <p:graphicFrame>
        <p:nvGraphicFramePr>
          <p:cNvPr id="8194" name="Object 2"/>
          <p:cNvGraphicFramePr>
            <a:graphicFrameLocks noChangeAspect="1"/>
          </p:cNvGraphicFramePr>
          <p:nvPr/>
        </p:nvGraphicFramePr>
        <p:xfrm>
          <a:off x="611560" y="1124744"/>
          <a:ext cx="8083624" cy="4281758"/>
        </p:xfrm>
        <a:graphic>
          <a:graphicData uri="http://schemas.openxmlformats.org/presentationml/2006/ole">
            <mc:AlternateContent xmlns:mc="http://schemas.openxmlformats.org/markup-compatibility/2006">
              <mc:Choice xmlns:v="urn:schemas-microsoft-com:vml" Requires="v">
                <p:oleObj spid="_x0000_s30730" r:id="rId3" imgW="4745278" imgH="2513287" progId="Visio.Drawing.11">
                  <p:embed/>
                </p:oleObj>
              </mc:Choice>
              <mc:Fallback>
                <p:oleObj r:id="rId3" imgW="4745278" imgH="2513287" progId="Visio.Drawing.11">
                  <p:embed/>
                  <p:pic>
                    <p:nvPicPr>
                      <p:cNvPr id="819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560" y="1124744"/>
                        <a:ext cx="8083624" cy="4281758"/>
                      </a:xfrm>
                      <a:prstGeom prst="rect">
                        <a:avLst/>
                      </a:prstGeom>
                      <a:noFill/>
                    </p:spPr>
                  </p:pic>
                </p:oleObj>
              </mc:Fallback>
            </mc:AlternateContent>
          </a:graphicData>
        </a:graphic>
      </p:graphicFrame>
      <p:sp>
        <p:nvSpPr>
          <p:cNvPr id="8196"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5" name="Rectangle 2"/>
          <p:cNvSpPr>
            <a:spLocks noGrp="1" noChangeArrowheads="1"/>
          </p:cNvSpPr>
          <p:nvPr>
            <p:ph type="title"/>
          </p:nvPr>
        </p:nvSpPr>
        <p:spPr>
          <a:xfrm>
            <a:off x="879475" y="269875"/>
            <a:ext cx="7869238" cy="927100"/>
          </a:xfrm>
        </p:spPr>
        <p:txBody>
          <a:bodyPr/>
          <a:lstStyle/>
          <a:p>
            <a:pPr eaLnBrk="1" hangingPunct="1"/>
            <a:r>
              <a:rPr lang="en-US" altLang="zh-CN" dirty="0">
                <a:solidFill>
                  <a:srgbClr val="333399"/>
                </a:solidFill>
              </a:rPr>
              <a:t>1.4.3 </a:t>
            </a:r>
            <a:r>
              <a:rPr lang="zh-CN" altLang="en-US" dirty="0" smtClean="0"/>
              <a:t>链表</a:t>
            </a:r>
            <a:r>
              <a:rPr lang="en-US" altLang="zh-CN" dirty="0" smtClean="0"/>
              <a:t>——</a:t>
            </a:r>
            <a:r>
              <a:rPr lang="zh-CN" altLang="en-US" dirty="0" smtClean="0"/>
              <a:t>删除</a:t>
            </a:r>
            <a:endParaRPr lang="en-US" altLang="zh-CN" dirty="0" smtClean="0"/>
          </a:p>
        </p:txBody>
      </p:sp>
    </p:spTree>
    <p:extLst>
      <p:ext uri="{BB962C8B-B14F-4D97-AF65-F5344CB8AC3E}">
        <p14:creationId xmlns:p14="http://schemas.microsoft.com/office/powerpoint/2010/main" val="3762390783"/>
      </p:ext>
    </p:extLst>
  </p:cSld>
  <p:clrMapOvr>
    <a:masterClrMapping/>
  </p:clrMapOvr>
  <p:transition/>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42" name="Object 2"/>
          <p:cNvGraphicFramePr>
            <a:graphicFrameLocks noChangeAspect="1"/>
          </p:cNvGraphicFramePr>
          <p:nvPr/>
        </p:nvGraphicFramePr>
        <p:xfrm>
          <a:off x="899592" y="1163019"/>
          <a:ext cx="6696744" cy="4368902"/>
        </p:xfrm>
        <a:graphic>
          <a:graphicData uri="http://schemas.openxmlformats.org/presentationml/2006/ole">
            <mc:AlternateContent xmlns:mc="http://schemas.openxmlformats.org/markup-compatibility/2006">
              <mc:Choice xmlns:v="urn:schemas-microsoft-com:vml" Requires="v">
                <p:oleObj spid="_x0000_s31754" r:id="rId3" imgW="4404723" imgH="2872971" progId="Visio.Drawing.11">
                  <p:embed/>
                </p:oleObj>
              </mc:Choice>
              <mc:Fallback>
                <p:oleObj r:id="rId3" imgW="4404723" imgH="2872971" progId="Visio.Drawing.11">
                  <p:embed/>
                  <p:pic>
                    <p:nvPicPr>
                      <p:cNvPr id="1024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9592" y="1163019"/>
                        <a:ext cx="6696744" cy="4368902"/>
                      </a:xfrm>
                      <a:prstGeom prst="rect">
                        <a:avLst/>
                      </a:prstGeom>
                      <a:noFill/>
                    </p:spPr>
                  </p:pic>
                </p:oleObj>
              </mc:Fallback>
            </mc:AlternateContent>
          </a:graphicData>
        </a:graphic>
      </p:graphicFrame>
      <p:sp>
        <p:nvSpPr>
          <p:cNvPr id="10243" name="Text Box 6"/>
          <p:cNvSpPr txBox="1">
            <a:spLocks noChangeArrowheads="1"/>
          </p:cNvSpPr>
          <p:nvPr/>
        </p:nvSpPr>
        <p:spPr bwMode="auto">
          <a:xfrm>
            <a:off x="1475656" y="5373216"/>
            <a:ext cx="5943600"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a:t>图</a:t>
            </a:r>
            <a:r>
              <a:rPr lang="en-US" altLang="zh-CN"/>
              <a:t>  </a:t>
            </a:r>
            <a:r>
              <a:rPr lang="zh-CN" altLang="en-US">
                <a:solidFill>
                  <a:srgbClr val="FF0000"/>
                </a:solidFill>
              </a:rPr>
              <a:t>链式存储下线性表的删除过程</a:t>
            </a:r>
          </a:p>
          <a:p>
            <a:pPr algn="ctr" eaLnBrk="1" hangingPunct="1">
              <a:spcBef>
                <a:spcPct val="50000"/>
              </a:spcBef>
            </a:pPr>
            <a:r>
              <a:rPr lang="en-US" altLang="zh-CN"/>
              <a:t>(a) </a:t>
            </a:r>
            <a:r>
              <a:rPr lang="zh-CN" altLang="en-US"/>
              <a:t>删除前；</a:t>
            </a:r>
            <a:r>
              <a:rPr lang="en-US" altLang="zh-CN"/>
              <a:t>(b) </a:t>
            </a:r>
            <a:r>
              <a:rPr lang="zh-CN" altLang="en-US"/>
              <a:t>保存；</a:t>
            </a:r>
            <a:r>
              <a:rPr lang="en-US" altLang="zh-CN"/>
              <a:t>(c) </a:t>
            </a:r>
            <a:r>
              <a:rPr lang="zh-CN" altLang="en-US"/>
              <a:t>删除</a:t>
            </a:r>
          </a:p>
        </p:txBody>
      </p:sp>
      <p:sp>
        <p:nvSpPr>
          <p:cNvPr id="1024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5" name="Rectangle 2"/>
          <p:cNvSpPr>
            <a:spLocks noGrp="1" noChangeArrowheads="1"/>
          </p:cNvSpPr>
          <p:nvPr>
            <p:ph type="title"/>
          </p:nvPr>
        </p:nvSpPr>
        <p:spPr>
          <a:xfrm>
            <a:off x="879475" y="269875"/>
            <a:ext cx="7869238" cy="927100"/>
          </a:xfrm>
        </p:spPr>
        <p:txBody>
          <a:bodyPr/>
          <a:lstStyle/>
          <a:p>
            <a:pPr eaLnBrk="1" hangingPunct="1"/>
            <a:r>
              <a:rPr lang="en-US" altLang="zh-CN" dirty="0">
                <a:solidFill>
                  <a:srgbClr val="333399"/>
                </a:solidFill>
              </a:rPr>
              <a:t>1.4.3 </a:t>
            </a:r>
            <a:r>
              <a:rPr lang="zh-CN" altLang="en-US" dirty="0" smtClean="0"/>
              <a:t>链表</a:t>
            </a:r>
            <a:r>
              <a:rPr lang="en-US" altLang="zh-CN" dirty="0" smtClean="0"/>
              <a:t>——</a:t>
            </a:r>
            <a:r>
              <a:rPr lang="zh-CN" altLang="en-US" dirty="0" smtClean="0"/>
              <a:t>删除</a:t>
            </a:r>
            <a:endParaRPr lang="en-US" altLang="zh-CN" dirty="0" smtClean="0"/>
          </a:p>
        </p:txBody>
      </p:sp>
    </p:spTree>
    <p:extLst>
      <p:ext uri="{BB962C8B-B14F-4D97-AF65-F5344CB8AC3E}">
        <p14:creationId xmlns:p14="http://schemas.microsoft.com/office/powerpoint/2010/main" val="3824629959"/>
      </p:ext>
    </p:extLst>
  </p:cSld>
  <p:clrMapOvr>
    <a:masterClrMapping/>
  </p:clrMapOvr>
  <p:transition/>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96259" name="Rectangle 3"/>
          <p:cNvSpPr>
            <a:spLocks noGrp="1" noChangeArrowheads="1"/>
          </p:cNvSpPr>
          <p:nvPr>
            <p:ph type="body" idx="1"/>
          </p:nvPr>
        </p:nvSpPr>
        <p:spPr/>
        <p:txBody>
          <a:bodyPr/>
          <a:lstStyle/>
          <a:p>
            <a:pPr eaLnBrk="1" hangingPunct="1">
              <a:defRPr/>
            </a:pPr>
            <a:r>
              <a:rPr lang="zh-CN" altLang="en-US" dirty="0" smtClean="0"/>
              <a:t>堆栈是一种只允许在称为栈顶的一端进行插入和删除运算的链表，也可以在数组中实现这些运算。</a:t>
            </a:r>
            <a:endParaRPr lang="en-US" altLang="zh-CN" dirty="0" smtClean="0"/>
          </a:p>
          <a:p>
            <a:pPr eaLnBrk="1" hangingPunct="1">
              <a:defRPr/>
            </a:pPr>
            <a:endParaRPr lang="en-US" altLang="zh-CN" dirty="0" smtClean="0"/>
          </a:p>
          <a:p>
            <a:pPr eaLnBrk="1" hangingPunct="1">
              <a:defRPr/>
            </a:pPr>
            <a:r>
              <a:rPr lang="zh-CN" altLang="en-US" dirty="0" smtClean="0"/>
              <a:t>两种基本操作</a:t>
            </a:r>
            <a:r>
              <a:rPr lang="en-US" altLang="zh-CN" dirty="0" smtClean="0"/>
              <a:t>:</a:t>
            </a:r>
          </a:p>
          <a:p>
            <a:pPr lvl="1" eaLnBrk="1" hangingPunct="1">
              <a:buFontTx/>
              <a:buNone/>
              <a:defRPr/>
            </a:pPr>
            <a:r>
              <a:rPr lang="en-US" altLang="zh-CN" dirty="0" smtClean="0">
                <a:latin typeface="+mn-ea"/>
                <a:ea typeface="+mn-ea"/>
              </a:rPr>
              <a:t> </a:t>
            </a:r>
            <a:r>
              <a:rPr lang="zh-CN" altLang="en-US" dirty="0" smtClean="0">
                <a:latin typeface="+mn-ea"/>
                <a:ea typeface="+mn-ea"/>
              </a:rPr>
              <a:t>如果</a:t>
            </a:r>
            <a:r>
              <a:rPr lang="en-US" altLang="zh-CN" dirty="0" smtClean="0">
                <a:latin typeface="+mn-ea"/>
                <a:ea typeface="+mn-ea"/>
              </a:rPr>
              <a:t>S</a:t>
            </a:r>
            <a:r>
              <a:rPr lang="zh-CN" altLang="en-US" dirty="0" smtClean="0">
                <a:latin typeface="+mn-ea"/>
                <a:ea typeface="+mn-ea"/>
              </a:rPr>
              <a:t>是一个堆栈，如果</a:t>
            </a:r>
            <a:r>
              <a:rPr lang="en-US" altLang="zh-CN" dirty="0" smtClean="0">
                <a:latin typeface="+mn-ea"/>
                <a:ea typeface="+mn-ea"/>
              </a:rPr>
              <a:t>x</a:t>
            </a:r>
            <a:r>
              <a:rPr lang="zh-CN" altLang="en-US" dirty="0" smtClean="0">
                <a:latin typeface="+mn-ea"/>
                <a:ea typeface="+mn-ea"/>
              </a:rPr>
              <a:t>是与</a:t>
            </a:r>
            <a:r>
              <a:rPr lang="en-US" altLang="zh-CN" dirty="0" smtClean="0">
                <a:latin typeface="+mn-ea"/>
                <a:ea typeface="+mn-ea"/>
              </a:rPr>
              <a:t>S</a:t>
            </a:r>
            <a:r>
              <a:rPr lang="zh-CN" altLang="en-US" dirty="0" smtClean="0">
                <a:latin typeface="+mn-ea"/>
                <a:ea typeface="+mn-ea"/>
              </a:rPr>
              <a:t>中元素类型相同的一个元素</a:t>
            </a:r>
            <a:endParaRPr lang="en-US" altLang="zh-CN" dirty="0" smtClean="0">
              <a:latin typeface="+mn-ea"/>
              <a:ea typeface="+mn-ea"/>
            </a:endParaRPr>
          </a:p>
          <a:p>
            <a:pPr lvl="1" eaLnBrk="1" hangingPunct="1">
              <a:defRPr/>
            </a:pPr>
            <a:r>
              <a:rPr lang="en-US" altLang="zh-CN" dirty="0" smtClean="0">
                <a:solidFill>
                  <a:srgbClr val="EA0000"/>
                </a:solidFill>
                <a:latin typeface="+mn-ea"/>
                <a:ea typeface="+mn-ea"/>
              </a:rPr>
              <a:t>Push</a:t>
            </a:r>
            <a:r>
              <a:rPr lang="zh-CN" altLang="en-US" dirty="0" smtClean="0">
                <a:solidFill>
                  <a:srgbClr val="EA0000"/>
                </a:solidFill>
                <a:latin typeface="+mn-ea"/>
                <a:ea typeface="+mn-ea"/>
              </a:rPr>
              <a:t>运算</a:t>
            </a:r>
            <a:r>
              <a:rPr lang="en-US" altLang="zh-CN" dirty="0" smtClean="0">
                <a:latin typeface="+mn-ea"/>
                <a:ea typeface="+mn-ea"/>
              </a:rPr>
              <a:t>: push(</a:t>
            </a:r>
            <a:r>
              <a:rPr lang="en-US" altLang="zh-CN" dirty="0" err="1" smtClean="0">
                <a:latin typeface="+mn-ea"/>
                <a:ea typeface="+mn-ea"/>
              </a:rPr>
              <a:t>S,x</a:t>
            </a:r>
            <a:r>
              <a:rPr lang="en-US" altLang="zh-CN" dirty="0" smtClean="0">
                <a:latin typeface="+mn-ea"/>
                <a:ea typeface="+mn-ea"/>
              </a:rPr>
              <a:t>) </a:t>
            </a:r>
            <a:r>
              <a:rPr lang="zh-CN" altLang="en-US" dirty="0" smtClean="0">
                <a:latin typeface="+mn-ea"/>
                <a:ea typeface="+mn-ea"/>
              </a:rPr>
              <a:t>把</a:t>
            </a:r>
            <a:r>
              <a:rPr lang="en-US" altLang="zh-CN" dirty="0" smtClean="0">
                <a:latin typeface="+mn-ea"/>
                <a:ea typeface="+mn-ea"/>
              </a:rPr>
              <a:t>x</a:t>
            </a:r>
            <a:r>
              <a:rPr lang="zh-CN" altLang="en-US" dirty="0" smtClean="0">
                <a:latin typeface="+mn-ea"/>
                <a:ea typeface="+mn-ea"/>
              </a:rPr>
              <a:t>加到</a:t>
            </a:r>
            <a:r>
              <a:rPr lang="en-US" altLang="zh-CN" dirty="0" smtClean="0">
                <a:latin typeface="+mn-ea"/>
                <a:ea typeface="+mn-ea"/>
              </a:rPr>
              <a:t>S</a:t>
            </a:r>
            <a:r>
              <a:rPr lang="zh-CN" altLang="en-US" dirty="0" smtClean="0">
                <a:latin typeface="+mn-ea"/>
                <a:ea typeface="+mn-ea"/>
              </a:rPr>
              <a:t>中，并改变堆栈的顶部，使它指向</a:t>
            </a:r>
            <a:r>
              <a:rPr lang="en-US" altLang="zh-CN" dirty="0" smtClean="0">
                <a:latin typeface="+mn-ea"/>
                <a:ea typeface="+mn-ea"/>
              </a:rPr>
              <a:t>x</a:t>
            </a:r>
            <a:r>
              <a:rPr lang="zh-CN" altLang="en-US" dirty="0" smtClean="0">
                <a:latin typeface="+mn-ea"/>
                <a:ea typeface="+mn-ea"/>
              </a:rPr>
              <a:t>。</a:t>
            </a:r>
            <a:endParaRPr lang="en-US" altLang="zh-CN" dirty="0" smtClean="0">
              <a:latin typeface="+mn-ea"/>
              <a:ea typeface="+mn-ea"/>
            </a:endParaRPr>
          </a:p>
          <a:p>
            <a:pPr lvl="1" eaLnBrk="1" hangingPunct="1">
              <a:defRPr/>
            </a:pPr>
            <a:r>
              <a:rPr lang="en-US" altLang="zh-CN" dirty="0" smtClean="0">
                <a:solidFill>
                  <a:srgbClr val="EA0000"/>
                </a:solidFill>
                <a:latin typeface="+mn-ea"/>
                <a:ea typeface="+mn-ea"/>
              </a:rPr>
              <a:t>Pop</a:t>
            </a:r>
            <a:r>
              <a:rPr lang="zh-CN" altLang="en-US" dirty="0" smtClean="0">
                <a:solidFill>
                  <a:srgbClr val="EA0000"/>
                </a:solidFill>
                <a:latin typeface="+mn-ea"/>
                <a:ea typeface="+mn-ea"/>
              </a:rPr>
              <a:t>运算</a:t>
            </a:r>
            <a:r>
              <a:rPr lang="en-US" altLang="zh-CN" dirty="0" smtClean="0">
                <a:solidFill>
                  <a:schemeClr val="hlink"/>
                </a:solidFill>
                <a:latin typeface="+mn-ea"/>
                <a:ea typeface="+mn-ea"/>
              </a:rPr>
              <a:t>:</a:t>
            </a:r>
            <a:r>
              <a:rPr lang="en-US" altLang="zh-CN" dirty="0" smtClean="0">
                <a:latin typeface="+mn-ea"/>
                <a:ea typeface="+mn-ea"/>
              </a:rPr>
              <a:t> </a:t>
            </a:r>
            <a:r>
              <a:rPr lang="zh-CN" altLang="en-US" dirty="0" smtClean="0">
                <a:latin typeface="+mn-ea"/>
                <a:ea typeface="+mn-ea"/>
              </a:rPr>
              <a:t>返回栈顶元素，并将它从堆栈中永久地移去。</a:t>
            </a:r>
            <a:endParaRPr lang="en-US" altLang="zh-CN" dirty="0" smtClean="0">
              <a:latin typeface="+mn-ea"/>
              <a:ea typeface="+mn-ea"/>
            </a:endParaRPr>
          </a:p>
        </p:txBody>
      </p:sp>
      <p:sp>
        <p:nvSpPr>
          <p:cNvPr id="5" name="Rectangle 2"/>
          <p:cNvSpPr txBox="1">
            <a:spLocks noChangeArrowheads="1"/>
          </p:cNvSpPr>
          <p:nvPr/>
        </p:nvSpPr>
        <p:spPr bwMode="auto">
          <a:xfrm>
            <a:off x="916482" y="356678"/>
            <a:ext cx="7869238" cy="92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a:solidFill>
                  <a:schemeClr val="accent2"/>
                </a:solidFill>
                <a:latin typeface="+mj-lt"/>
                <a:ea typeface="+mj-ea"/>
                <a:cs typeface="+mj-cs"/>
              </a:defRPr>
            </a:lvl1pPr>
            <a:lvl2pPr algn="l" rtl="0" eaLnBrk="0" fontAlgn="base" hangingPunct="0">
              <a:spcBef>
                <a:spcPct val="0"/>
              </a:spcBef>
              <a:spcAft>
                <a:spcPct val="0"/>
              </a:spcAft>
              <a:defRPr sz="3200">
                <a:solidFill>
                  <a:schemeClr val="accent2"/>
                </a:solidFill>
                <a:latin typeface="Garamond" pitchFamily="18" charset="0"/>
                <a:ea typeface="宋体" pitchFamily="2" charset="-122"/>
              </a:defRPr>
            </a:lvl2pPr>
            <a:lvl3pPr algn="l" rtl="0" eaLnBrk="0" fontAlgn="base" hangingPunct="0">
              <a:spcBef>
                <a:spcPct val="0"/>
              </a:spcBef>
              <a:spcAft>
                <a:spcPct val="0"/>
              </a:spcAft>
              <a:defRPr sz="3200">
                <a:solidFill>
                  <a:schemeClr val="accent2"/>
                </a:solidFill>
                <a:latin typeface="Garamond" pitchFamily="18" charset="0"/>
                <a:ea typeface="宋体" pitchFamily="2" charset="-122"/>
              </a:defRPr>
            </a:lvl3pPr>
            <a:lvl4pPr algn="l" rtl="0" eaLnBrk="0" fontAlgn="base" hangingPunct="0">
              <a:spcBef>
                <a:spcPct val="0"/>
              </a:spcBef>
              <a:spcAft>
                <a:spcPct val="0"/>
              </a:spcAft>
              <a:defRPr sz="3200">
                <a:solidFill>
                  <a:schemeClr val="accent2"/>
                </a:solidFill>
                <a:latin typeface="Garamond" pitchFamily="18" charset="0"/>
                <a:ea typeface="宋体" pitchFamily="2" charset="-122"/>
              </a:defRPr>
            </a:lvl4pPr>
            <a:lvl5pPr algn="l" rtl="0" eaLnBrk="0" fontAlgn="base" hangingPunct="0">
              <a:spcBef>
                <a:spcPct val="0"/>
              </a:spcBef>
              <a:spcAft>
                <a:spcPct val="0"/>
              </a:spcAft>
              <a:defRPr sz="3200">
                <a:solidFill>
                  <a:schemeClr val="accent2"/>
                </a:solidFill>
                <a:latin typeface="Garamond" pitchFamily="18" charset="0"/>
                <a:ea typeface="宋体" pitchFamily="2" charset="-122"/>
              </a:defRPr>
            </a:lvl5pPr>
            <a:lvl6pPr marL="457200" algn="l" rtl="0" fontAlgn="base">
              <a:spcBef>
                <a:spcPct val="0"/>
              </a:spcBef>
              <a:spcAft>
                <a:spcPct val="0"/>
              </a:spcAft>
              <a:defRPr sz="3200">
                <a:solidFill>
                  <a:schemeClr val="accent2"/>
                </a:solidFill>
                <a:latin typeface="Garamond" pitchFamily="18" charset="0"/>
                <a:ea typeface="宋体" pitchFamily="2" charset="-122"/>
              </a:defRPr>
            </a:lvl6pPr>
            <a:lvl7pPr marL="914400" algn="l" rtl="0" fontAlgn="base">
              <a:spcBef>
                <a:spcPct val="0"/>
              </a:spcBef>
              <a:spcAft>
                <a:spcPct val="0"/>
              </a:spcAft>
              <a:defRPr sz="3200">
                <a:solidFill>
                  <a:schemeClr val="accent2"/>
                </a:solidFill>
                <a:latin typeface="Garamond" pitchFamily="18" charset="0"/>
                <a:ea typeface="宋体" pitchFamily="2" charset="-122"/>
              </a:defRPr>
            </a:lvl7pPr>
            <a:lvl8pPr marL="1371600" algn="l" rtl="0" fontAlgn="base">
              <a:spcBef>
                <a:spcPct val="0"/>
              </a:spcBef>
              <a:spcAft>
                <a:spcPct val="0"/>
              </a:spcAft>
              <a:defRPr sz="3200">
                <a:solidFill>
                  <a:schemeClr val="accent2"/>
                </a:solidFill>
                <a:latin typeface="Garamond" pitchFamily="18" charset="0"/>
                <a:ea typeface="宋体" pitchFamily="2" charset="-122"/>
              </a:defRPr>
            </a:lvl8pPr>
            <a:lvl9pPr marL="1828800" algn="l" rtl="0" fontAlgn="base">
              <a:spcBef>
                <a:spcPct val="0"/>
              </a:spcBef>
              <a:spcAft>
                <a:spcPct val="0"/>
              </a:spcAft>
              <a:defRPr sz="3200">
                <a:solidFill>
                  <a:schemeClr val="accent2"/>
                </a:solidFill>
                <a:latin typeface="Garamond" pitchFamily="18" charset="0"/>
                <a:ea typeface="宋体" pitchFamily="2" charset="-122"/>
              </a:defRPr>
            </a:lvl9pPr>
          </a:lstStyle>
          <a:p>
            <a:pPr eaLnBrk="1" hangingPunct="1"/>
            <a:r>
              <a:rPr lang="en-US" altLang="zh-CN" dirty="0">
                <a:solidFill>
                  <a:srgbClr val="333399"/>
                </a:solidFill>
              </a:rPr>
              <a:t>1.4.</a:t>
            </a:r>
            <a:r>
              <a:rPr lang="en-US" altLang="zh-CN" kern="0" dirty="0" smtClean="0"/>
              <a:t>4 </a:t>
            </a:r>
            <a:r>
              <a:rPr lang="zh-CN" altLang="en-US" b="1" u="sng" kern="0" dirty="0" smtClean="0"/>
              <a:t>堆栈</a:t>
            </a:r>
            <a:r>
              <a:rPr lang="zh-CN" altLang="en-US" kern="0" dirty="0" smtClean="0"/>
              <a:t>和队列</a:t>
            </a:r>
            <a:endParaRPr lang="en-US" altLang="zh-CN" kern="0" dirty="0" smtClean="0"/>
          </a:p>
        </p:txBody>
      </p:sp>
    </p:spTree>
    <p:extLst>
      <p:ext uri="{BB962C8B-B14F-4D97-AF65-F5344CB8AC3E}">
        <p14:creationId xmlns:p14="http://schemas.microsoft.com/office/powerpoint/2010/main" val="4075104914"/>
      </p:ext>
    </p:extLst>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54275" name="Rectangle 2"/>
          <p:cNvSpPr>
            <a:spLocks noGrp="1" noChangeArrowheads="1"/>
          </p:cNvSpPr>
          <p:nvPr>
            <p:ph type="title"/>
          </p:nvPr>
        </p:nvSpPr>
        <p:spPr/>
        <p:txBody>
          <a:bodyPr/>
          <a:lstStyle/>
          <a:p>
            <a:pPr eaLnBrk="1" hangingPunct="1"/>
            <a:r>
              <a:rPr lang="en-US" altLang="zh-CN" dirty="0">
                <a:solidFill>
                  <a:srgbClr val="333399"/>
                </a:solidFill>
              </a:rPr>
              <a:t>1.4.</a:t>
            </a:r>
            <a:r>
              <a:rPr lang="en-US" altLang="zh-CN" kern="0" dirty="0" smtClean="0"/>
              <a:t>4 </a:t>
            </a:r>
            <a:r>
              <a:rPr lang="zh-CN" altLang="en-US" b="1" u="sng" kern="0" dirty="0" smtClean="0"/>
              <a:t>堆栈</a:t>
            </a:r>
            <a:r>
              <a:rPr lang="zh-CN" altLang="en-US" kern="0" dirty="0" smtClean="0"/>
              <a:t>和队列</a:t>
            </a:r>
            <a:endParaRPr lang="en-US" altLang="zh-CN" kern="0" dirty="0" smtClean="0"/>
          </a:p>
        </p:txBody>
      </p:sp>
      <p:sp>
        <p:nvSpPr>
          <p:cNvPr id="54276" name="Rectangle 3"/>
          <p:cNvSpPr>
            <a:spLocks noGrp="1" noChangeArrowheads="1"/>
          </p:cNvSpPr>
          <p:nvPr>
            <p:ph type="body" idx="1"/>
          </p:nvPr>
        </p:nvSpPr>
        <p:spPr/>
        <p:txBody>
          <a:bodyPr/>
          <a:lstStyle/>
          <a:p>
            <a:r>
              <a:rPr lang="zh-CN" altLang="en-US" smtClean="0"/>
              <a:t>堆栈也简称为</a:t>
            </a:r>
            <a:r>
              <a:rPr lang="zh-CN" altLang="en-US" smtClean="0">
                <a:solidFill>
                  <a:srgbClr val="FF0000"/>
                </a:solidFill>
              </a:rPr>
              <a:t>栈</a:t>
            </a:r>
            <a:r>
              <a:rPr lang="zh-CN" altLang="en-US" smtClean="0"/>
              <a:t>，是限定在表的一端进行插入或删除操作的线性表。 </a:t>
            </a:r>
          </a:p>
          <a:p>
            <a:r>
              <a:rPr lang="zh-CN" altLang="en-US" smtClean="0"/>
              <a:t>进行插入或删除操作的一段称为</a:t>
            </a:r>
            <a:r>
              <a:rPr lang="zh-CN" altLang="en-US" smtClean="0">
                <a:solidFill>
                  <a:srgbClr val="FF0000"/>
                </a:solidFill>
              </a:rPr>
              <a:t>栈顶（</a:t>
            </a:r>
            <a:r>
              <a:rPr lang="en-US" altLang="zh-CN" smtClean="0">
                <a:solidFill>
                  <a:srgbClr val="FF0000"/>
                </a:solidFill>
              </a:rPr>
              <a:t>top</a:t>
            </a:r>
            <a:r>
              <a:rPr lang="zh-CN" altLang="en-US" smtClean="0">
                <a:solidFill>
                  <a:srgbClr val="FF0000"/>
                </a:solidFill>
              </a:rPr>
              <a:t>），</a:t>
            </a:r>
            <a:r>
              <a:rPr lang="zh-CN" altLang="en-US" smtClean="0"/>
              <a:t>另一端称为</a:t>
            </a:r>
            <a:r>
              <a:rPr lang="zh-CN" altLang="en-US" smtClean="0">
                <a:solidFill>
                  <a:srgbClr val="FF0000"/>
                </a:solidFill>
              </a:rPr>
              <a:t>栈底（</a:t>
            </a:r>
            <a:r>
              <a:rPr lang="en-US" altLang="zh-CN" smtClean="0">
                <a:solidFill>
                  <a:srgbClr val="FF0000"/>
                </a:solidFill>
              </a:rPr>
              <a:t>bottom</a:t>
            </a:r>
            <a:r>
              <a:rPr lang="zh-CN" altLang="en-US" smtClean="0">
                <a:solidFill>
                  <a:srgbClr val="FF0000"/>
                </a:solidFill>
              </a:rPr>
              <a:t>）</a:t>
            </a:r>
            <a:r>
              <a:rPr lang="zh-CN" altLang="en-US" smtClean="0"/>
              <a:t>。 </a:t>
            </a:r>
          </a:p>
          <a:p>
            <a:r>
              <a:rPr lang="zh-CN" altLang="en-US" smtClean="0"/>
              <a:t>插入元素又称为</a:t>
            </a:r>
            <a:r>
              <a:rPr lang="zh-CN" altLang="en-US" smtClean="0">
                <a:solidFill>
                  <a:srgbClr val="FF0000"/>
                </a:solidFill>
              </a:rPr>
              <a:t>入栈（</a:t>
            </a:r>
            <a:r>
              <a:rPr lang="en-US" altLang="zh-CN" smtClean="0">
                <a:solidFill>
                  <a:srgbClr val="FF0000"/>
                </a:solidFill>
              </a:rPr>
              <a:t>push</a:t>
            </a:r>
            <a:r>
              <a:rPr lang="zh-CN" altLang="en-US" smtClean="0">
                <a:solidFill>
                  <a:srgbClr val="FF0000"/>
                </a:solidFill>
              </a:rPr>
              <a:t>），</a:t>
            </a:r>
            <a:r>
              <a:rPr lang="zh-CN" altLang="en-US" smtClean="0"/>
              <a:t>删除元素操作称为</a:t>
            </a:r>
            <a:r>
              <a:rPr lang="zh-CN" altLang="en-US" smtClean="0">
                <a:solidFill>
                  <a:srgbClr val="FF0000"/>
                </a:solidFill>
              </a:rPr>
              <a:t>出栈（</a:t>
            </a:r>
            <a:r>
              <a:rPr lang="en-US" altLang="zh-CN" smtClean="0">
                <a:solidFill>
                  <a:srgbClr val="FF0000"/>
                </a:solidFill>
              </a:rPr>
              <a:t>pop</a:t>
            </a:r>
            <a:r>
              <a:rPr lang="zh-CN" altLang="en-US" smtClean="0">
                <a:solidFill>
                  <a:srgbClr val="FF0000"/>
                </a:solidFill>
              </a:rPr>
              <a:t>）</a:t>
            </a:r>
            <a:r>
              <a:rPr lang="zh-CN" altLang="en-US" smtClean="0"/>
              <a:t>。 </a:t>
            </a:r>
          </a:p>
          <a:p>
            <a:r>
              <a:rPr lang="zh-CN" altLang="en-US" smtClean="0"/>
              <a:t>不含元素的栈称为</a:t>
            </a:r>
            <a:r>
              <a:rPr lang="zh-CN" altLang="en-US" smtClean="0">
                <a:solidFill>
                  <a:srgbClr val="FF0000"/>
                </a:solidFill>
              </a:rPr>
              <a:t>空栈</a:t>
            </a:r>
            <a:r>
              <a:rPr lang="zh-CN" altLang="en-US" smtClean="0"/>
              <a:t>。 </a:t>
            </a:r>
          </a:p>
          <a:p>
            <a:r>
              <a:rPr lang="zh-CN" altLang="en-US" smtClean="0"/>
              <a:t>堆栈元素的插入和删除只在栈顶进行，总是后进去的元素先出来，所以堆栈又称为</a:t>
            </a:r>
            <a:r>
              <a:rPr lang="zh-CN" altLang="en-US" smtClean="0">
                <a:solidFill>
                  <a:srgbClr val="FF0000"/>
                </a:solidFill>
              </a:rPr>
              <a:t>后进先出线性表</a:t>
            </a:r>
            <a:r>
              <a:rPr lang="zh-CN" altLang="en-US" smtClean="0"/>
              <a:t>或</a:t>
            </a:r>
            <a:r>
              <a:rPr lang="en-US" altLang="zh-CN" smtClean="0"/>
              <a:t>LIFO</a:t>
            </a:r>
            <a:r>
              <a:rPr lang="zh-CN" altLang="en-US" smtClean="0"/>
              <a:t>（</a:t>
            </a:r>
            <a:r>
              <a:rPr lang="en-US" altLang="zh-CN" smtClean="0"/>
              <a:t>Last-In-First-Out</a:t>
            </a:r>
            <a:r>
              <a:rPr lang="zh-CN" altLang="en-US" smtClean="0"/>
              <a:t>）表。 </a:t>
            </a:r>
          </a:p>
        </p:txBody>
      </p:sp>
    </p:spTree>
    <p:extLst>
      <p:ext uri="{BB962C8B-B14F-4D97-AF65-F5344CB8AC3E}">
        <p14:creationId xmlns:p14="http://schemas.microsoft.com/office/powerpoint/2010/main" val="1695400588"/>
      </p:ext>
    </p:extLst>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55299" name="Rectangle 2"/>
          <p:cNvSpPr>
            <a:spLocks noGrp="1" noChangeArrowheads="1"/>
          </p:cNvSpPr>
          <p:nvPr>
            <p:ph type="title"/>
          </p:nvPr>
        </p:nvSpPr>
        <p:spPr/>
        <p:txBody>
          <a:bodyPr/>
          <a:lstStyle/>
          <a:p>
            <a:pPr eaLnBrk="1" hangingPunct="1"/>
            <a:r>
              <a:rPr lang="en-US" altLang="zh-CN" dirty="0">
                <a:solidFill>
                  <a:srgbClr val="333399"/>
                </a:solidFill>
              </a:rPr>
              <a:t>1.4.</a:t>
            </a:r>
            <a:r>
              <a:rPr lang="en-US" altLang="zh-CN" kern="0" dirty="0" smtClean="0"/>
              <a:t>4 </a:t>
            </a:r>
            <a:r>
              <a:rPr lang="zh-CN" altLang="en-US" b="1" u="sng" kern="0" dirty="0" smtClean="0"/>
              <a:t>堆栈</a:t>
            </a:r>
            <a:r>
              <a:rPr lang="zh-CN" altLang="en-US" kern="0" dirty="0" smtClean="0"/>
              <a:t>和队列</a:t>
            </a:r>
            <a:endParaRPr lang="en-US" altLang="zh-CN" kern="0" dirty="0" smtClean="0"/>
          </a:p>
        </p:txBody>
      </p:sp>
      <p:sp>
        <p:nvSpPr>
          <p:cNvPr id="55300" name="Rectangle 3"/>
          <p:cNvSpPr>
            <a:spLocks noGrp="1" noChangeArrowheads="1"/>
          </p:cNvSpPr>
          <p:nvPr>
            <p:ph type="body" idx="1"/>
          </p:nvPr>
        </p:nvSpPr>
        <p:spPr/>
        <p:txBody>
          <a:bodyPr/>
          <a:lstStyle/>
          <a:p>
            <a:r>
              <a:rPr lang="zh-CN" altLang="en-US" smtClean="0"/>
              <a:t>堆栈的最简单的表示方法是采用一维数组，为形象起见，一般在图中将堆栈画成竖直的 。</a:t>
            </a:r>
          </a:p>
          <a:p>
            <a:r>
              <a:rPr lang="zh-CN" altLang="en-US" smtClean="0"/>
              <a:t>设数组名为</a:t>
            </a:r>
            <a:r>
              <a:rPr lang="en-US" altLang="zh-CN" smtClean="0"/>
              <a:t>STACK</a:t>
            </a:r>
            <a:r>
              <a:rPr lang="zh-CN" altLang="en-US" smtClean="0"/>
              <a:t>，其下标的下界为</a:t>
            </a:r>
            <a:r>
              <a:rPr lang="en-US" altLang="zh-CN" smtClean="0"/>
              <a:t>1</a:t>
            </a:r>
            <a:r>
              <a:rPr lang="zh-CN" altLang="en-US" smtClean="0"/>
              <a:t>，上界为</a:t>
            </a:r>
            <a:r>
              <a:rPr lang="en-US" altLang="zh-CN" smtClean="0"/>
              <a:t>n</a:t>
            </a:r>
            <a:r>
              <a:rPr lang="zh-CN" altLang="en-US" smtClean="0"/>
              <a:t>。</a:t>
            </a:r>
          </a:p>
          <a:p>
            <a:r>
              <a:rPr lang="zh-CN" altLang="en-US" smtClean="0"/>
              <a:t>一般需用一个变量</a:t>
            </a:r>
            <a:r>
              <a:rPr lang="en-US" altLang="zh-CN" smtClean="0"/>
              <a:t>top</a:t>
            </a:r>
            <a:r>
              <a:rPr lang="zh-CN" altLang="en-US" smtClean="0"/>
              <a:t>记录当前栈顶的下标值，</a:t>
            </a:r>
            <a:r>
              <a:rPr lang="en-US" altLang="zh-CN" smtClean="0">
                <a:solidFill>
                  <a:srgbClr val="FF0000"/>
                </a:solidFill>
              </a:rPr>
              <a:t>top</a:t>
            </a:r>
            <a:r>
              <a:rPr lang="zh-CN" altLang="en-US" smtClean="0">
                <a:solidFill>
                  <a:srgbClr val="FF0000"/>
                </a:solidFill>
              </a:rPr>
              <a:t>也叫做栈指针</a:t>
            </a:r>
            <a:r>
              <a:rPr lang="zh-CN" altLang="en-US" smtClean="0"/>
              <a:t>。</a:t>
            </a:r>
          </a:p>
        </p:txBody>
      </p:sp>
    </p:spTree>
    <p:extLst>
      <p:ext uri="{BB962C8B-B14F-4D97-AF65-F5344CB8AC3E}">
        <p14:creationId xmlns:p14="http://schemas.microsoft.com/office/powerpoint/2010/main" val="1447184584"/>
      </p:ext>
    </p:extLst>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3"/>
          <p:cNvSpPr>
            <a:spLocks noGrp="1" noChangeArrowheads="1"/>
          </p:cNvSpPr>
          <p:nvPr>
            <p:ph type="body" idx="1"/>
          </p:nvPr>
        </p:nvSpPr>
        <p:spPr>
          <a:xfrm>
            <a:off x="588942" y="2510174"/>
            <a:ext cx="2743200" cy="950054"/>
          </a:xfrm>
        </p:spPr>
        <p:txBody>
          <a:bodyPr/>
          <a:lstStyle/>
          <a:p>
            <a:r>
              <a:rPr lang="zh-CN" altLang="en-US" smtClean="0"/>
              <a:t>本例中</a:t>
            </a:r>
            <a:r>
              <a:rPr lang="en-US" altLang="zh-CN" smtClean="0"/>
              <a:t>top=4  </a:t>
            </a:r>
          </a:p>
        </p:txBody>
      </p:sp>
      <p:grpSp>
        <p:nvGrpSpPr>
          <p:cNvPr id="56323" name="Group 4"/>
          <p:cNvGrpSpPr>
            <a:grpSpLocks/>
          </p:cNvGrpSpPr>
          <p:nvPr/>
        </p:nvGrpSpPr>
        <p:grpSpPr bwMode="auto">
          <a:xfrm>
            <a:off x="3635896" y="1196752"/>
            <a:ext cx="5215880" cy="4986561"/>
            <a:chOff x="2112" y="528"/>
            <a:chExt cx="3648" cy="3606"/>
          </a:xfrm>
        </p:grpSpPr>
        <p:sp>
          <p:nvSpPr>
            <p:cNvPr id="25605" name="Line 5"/>
            <p:cNvSpPr>
              <a:spLocks noChangeShapeType="1"/>
            </p:cNvSpPr>
            <p:nvPr/>
          </p:nvSpPr>
          <p:spPr bwMode="auto">
            <a:xfrm flipH="1">
              <a:off x="3936" y="2121"/>
              <a:ext cx="811" cy="0"/>
            </a:xfrm>
            <a:prstGeom prst="line">
              <a:avLst/>
            </a:prstGeom>
            <a:noFill/>
            <a:ln w="12700">
              <a:solidFill>
                <a:srgbClr val="FFCC66"/>
              </a:solidFill>
              <a:round/>
              <a:headEnd/>
              <a:tailEnd type="stealth" w="lg" len="lg"/>
            </a:ln>
          </p:spPr>
          <p:txBody>
            <a:bodyPr/>
            <a:lstStyle/>
            <a:p>
              <a:pPr>
                <a:defRPr/>
              </a:pPr>
              <a:endParaRPr lang="zh-CN" altLang="en-US">
                <a:solidFill>
                  <a:schemeClr val="accent6"/>
                </a:solidFill>
                <a:latin typeface="Arial" charset="0"/>
              </a:endParaRPr>
            </a:p>
          </p:txBody>
        </p:sp>
        <p:sp>
          <p:nvSpPr>
            <p:cNvPr id="25606" name="Text Box 6"/>
            <p:cNvSpPr txBox="1">
              <a:spLocks noChangeArrowheads="1"/>
            </p:cNvSpPr>
            <p:nvPr/>
          </p:nvSpPr>
          <p:spPr bwMode="auto">
            <a:xfrm>
              <a:off x="4544" y="1872"/>
              <a:ext cx="1216" cy="310"/>
            </a:xfrm>
            <a:prstGeom prst="rect">
              <a:avLst/>
            </a:prstGeom>
            <a:noFill/>
            <a:ln w="12700">
              <a:noFill/>
              <a:miter lim="800000"/>
              <a:headEnd/>
              <a:tailEnd/>
            </a:ln>
          </p:spPr>
          <p:txBody>
            <a:bodyPr tIns="0" bIns="0">
              <a:spAutoFit/>
            </a:bodyPr>
            <a:lstStyle/>
            <a:p>
              <a:pPr algn="just" eaLnBrk="0" hangingPunct="0">
                <a:defRPr/>
              </a:pPr>
              <a:r>
                <a:rPr lang="en-US" altLang="zh-CN" sz="3200" b="1" dirty="0">
                  <a:solidFill>
                    <a:schemeClr val="accent6"/>
                  </a:solidFill>
                  <a:latin typeface="Arial" charset="0"/>
                </a:rPr>
                <a:t>top</a:t>
              </a:r>
            </a:p>
          </p:txBody>
        </p:sp>
        <p:grpSp>
          <p:nvGrpSpPr>
            <p:cNvPr id="56327" name="Group 7"/>
            <p:cNvGrpSpPr>
              <a:grpSpLocks/>
            </p:cNvGrpSpPr>
            <p:nvPr/>
          </p:nvGrpSpPr>
          <p:grpSpPr bwMode="auto">
            <a:xfrm>
              <a:off x="2112" y="528"/>
              <a:ext cx="2432" cy="3606"/>
              <a:chOff x="2112" y="528"/>
              <a:chExt cx="2432" cy="3606"/>
            </a:xfrm>
          </p:grpSpPr>
          <p:sp>
            <p:nvSpPr>
              <p:cNvPr id="25608" name="Text Box 8"/>
              <p:cNvSpPr txBox="1">
                <a:spLocks noChangeArrowheads="1"/>
              </p:cNvSpPr>
              <p:nvPr/>
            </p:nvSpPr>
            <p:spPr bwMode="auto">
              <a:xfrm>
                <a:off x="2920" y="3372"/>
                <a:ext cx="811" cy="310"/>
              </a:xfrm>
              <a:prstGeom prst="rect">
                <a:avLst/>
              </a:prstGeom>
              <a:noFill/>
              <a:ln w="12700">
                <a:noFill/>
                <a:miter lim="800000"/>
                <a:headEnd/>
                <a:tailEnd/>
              </a:ln>
            </p:spPr>
            <p:txBody>
              <a:bodyPr t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sz="3200" b="1">
                    <a:solidFill>
                      <a:srgbClr val="2D2D8A"/>
                    </a:solidFill>
                  </a:rPr>
                  <a:t>A</a:t>
                </a:r>
              </a:p>
            </p:txBody>
          </p:sp>
          <p:sp>
            <p:nvSpPr>
              <p:cNvPr id="25609" name="Text Box 9"/>
              <p:cNvSpPr txBox="1">
                <a:spLocks noChangeArrowheads="1"/>
              </p:cNvSpPr>
              <p:nvPr/>
            </p:nvSpPr>
            <p:spPr bwMode="auto">
              <a:xfrm>
                <a:off x="2923" y="2007"/>
                <a:ext cx="810" cy="310"/>
              </a:xfrm>
              <a:prstGeom prst="rect">
                <a:avLst/>
              </a:prstGeom>
              <a:noFill/>
              <a:ln w="12700">
                <a:noFill/>
                <a:miter lim="800000"/>
                <a:headEnd/>
                <a:tailEnd/>
              </a:ln>
            </p:spPr>
            <p:txBody>
              <a:bodyPr t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sz="3200" b="1">
                    <a:solidFill>
                      <a:srgbClr val="2D2D8A"/>
                    </a:solidFill>
                  </a:rPr>
                  <a:t>D</a:t>
                </a:r>
              </a:p>
            </p:txBody>
          </p:sp>
          <p:sp>
            <p:nvSpPr>
              <p:cNvPr id="25610" name="Text Box 10"/>
              <p:cNvSpPr txBox="1">
                <a:spLocks noChangeArrowheads="1"/>
              </p:cNvSpPr>
              <p:nvPr/>
            </p:nvSpPr>
            <p:spPr bwMode="auto">
              <a:xfrm>
                <a:off x="2920" y="2461"/>
                <a:ext cx="811" cy="310"/>
              </a:xfrm>
              <a:prstGeom prst="rect">
                <a:avLst/>
              </a:prstGeom>
              <a:noFill/>
              <a:ln w="12700">
                <a:noFill/>
                <a:miter lim="800000"/>
                <a:headEnd/>
                <a:tailEnd/>
              </a:ln>
            </p:spPr>
            <p:txBody>
              <a:bodyPr t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sz="3200" b="1">
                    <a:solidFill>
                      <a:srgbClr val="2D2D8A"/>
                    </a:solidFill>
                  </a:rPr>
                  <a:t>C</a:t>
                </a:r>
              </a:p>
            </p:txBody>
          </p:sp>
          <p:sp>
            <p:nvSpPr>
              <p:cNvPr id="25611" name="Text Box 11"/>
              <p:cNvSpPr txBox="1">
                <a:spLocks noChangeArrowheads="1"/>
              </p:cNvSpPr>
              <p:nvPr/>
            </p:nvSpPr>
            <p:spPr bwMode="auto">
              <a:xfrm>
                <a:off x="2920" y="2916"/>
                <a:ext cx="811" cy="310"/>
              </a:xfrm>
              <a:prstGeom prst="rect">
                <a:avLst/>
              </a:prstGeom>
              <a:noFill/>
              <a:ln w="12700">
                <a:noFill/>
                <a:miter lim="800000"/>
                <a:headEnd/>
                <a:tailEnd/>
              </a:ln>
            </p:spPr>
            <p:txBody>
              <a:bodyPr t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sz="3200" b="1">
                    <a:solidFill>
                      <a:srgbClr val="2D2D8A"/>
                    </a:solidFill>
                  </a:rPr>
                  <a:t>B</a:t>
                </a:r>
              </a:p>
            </p:txBody>
          </p:sp>
          <p:sp>
            <p:nvSpPr>
              <p:cNvPr id="25612" name="Text Box 12"/>
              <p:cNvSpPr txBox="1">
                <a:spLocks noChangeArrowheads="1"/>
              </p:cNvSpPr>
              <p:nvPr/>
            </p:nvSpPr>
            <p:spPr bwMode="auto">
              <a:xfrm>
                <a:off x="2112" y="2007"/>
                <a:ext cx="811" cy="310"/>
              </a:xfrm>
              <a:prstGeom prst="rect">
                <a:avLst/>
              </a:prstGeom>
              <a:noFill/>
              <a:ln w="12700">
                <a:noFill/>
                <a:miter lim="800000"/>
                <a:headEnd/>
                <a:tailEnd/>
              </a:ln>
            </p:spPr>
            <p:txBody>
              <a:bodyPr t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sz="3200" b="1">
                    <a:solidFill>
                      <a:srgbClr val="2D2D8A"/>
                    </a:solidFill>
                  </a:rPr>
                  <a:t>4</a:t>
                </a:r>
              </a:p>
            </p:txBody>
          </p:sp>
          <p:sp>
            <p:nvSpPr>
              <p:cNvPr id="25613" name="Text Box 13"/>
              <p:cNvSpPr txBox="1">
                <a:spLocks noChangeArrowheads="1"/>
              </p:cNvSpPr>
              <p:nvPr/>
            </p:nvSpPr>
            <p:spPr bwMode="auto">
              <a:xfrm>
                <a:off x="2112" y="642"/>
                <a:ext cx="811" cy="310"/>
              </a:xfrm>
              <a:prstGeom prst="rect">
                <a:avLst/>
              </a:prstGeom>
              <a:noFill/>
              <a:ln w="12700">
                <a:noFill/>
                <a:miter lim="800000"/>
                <a:headEnd/>
                <a:tailEnd/>
              </a:ln>
            </p:spPr>
            <p:txBody>
              <a:bodyPr t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sz="3200" b="1">
                    <a:solidFill>
                      <a:srgbClr val="2D2D8A"/>
                    </a:solidFill>
                  </a:rPr>
                  <a:t>7</a:t>
                </a:r>
              </a:p>
            </p:txBody>
          </p:sp>
          <p:sp>
            <p:nvSpPr>
              <p:cNvPr id="25614" name="Text Box 14"/>
              <p:cNvSpPr txBox="1">
                <a:spLocks noChangeArrowheads="1"/>
              </p:cNvSpPr>
              <p:nvPr/>
            </p:nvSpPr>
            <p:spPr bwMode="auto">
              <a:xfrm>
                <a:off x="2112" y="1551"/>
                <a:ext cx="811" cy="310"/>
              </a:xfrm>
              <a:prstGeom prst="rect">
                <a:avLst/>
              </a:prstGeom>
              <a:noFill/>
              <a:ln w="12700">
                <a:noFill/>
                <a:miter lim="800000"/>
                <a:headEnd/>
                <a:tailEnd/>
              </a:ln>
            </p:spPr>
            <p:txBody>
              <a:bodyPr t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sz="3200" b="1">
                    <a:solidFill>
                      <a:srgbClr val="2D2D8A"/>
                    </a:solidFill>
                  </a:rPr>
                  <a:t>5</a:t>
                </a:r>
              </a:p>
            </p:txBody>
          </p:sp>
          <p:sp>
            <p:nvSpPr>
              <p:cNvPr id="25615" name="Text Box 15"/>
              <p:cNvSpPr txBox="1">
                <a:spLocks noChangeArrowheads="1"/>
              </p:cNvSpPr>
              <p:nvPr/>
            </p:nvSpPr>
            <p:spPr bwMode="auto">
              <a:xfrm>
                <a:off x="2112" y="2459"/>
                <a:ext cx="811" cy="310"/>
              </a:xfrm>
              <a:prstGeom prst="rect">
                <a:avLst/>
              </a:prstGeom>
              <a:noFill/>
              <a:ln w="12700">
                <a:noFill/>
                <a:miter lim="800000"/>
                <a:headEnd/>
                <a:tailEnd/>
              </a:ln>
            </p:spPr>
            <p:txBody>
              <a:bodyPr t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sz="3200" b="1">
                    <a:solidFill>
                      <a:srgbClr val="2D2D8A"/>
                    </a:solidFill>
                  </a:rPr>
                  <a:t>3</a:t>
                </a:r>
              </a:p>
            </p:txBody>
          </p:sp>
          <p:sp>
            <p:nvSpPr>
              <p:cNvPr id="25616" name="Text Box 16"/>
              <p:cNvSpPr txBox="1">
                <a:spLocks noChangeArrowheads="1"/>
              </p:cNvSpPr>
              <p:nvPr/>
            </p:nvSpPr>
            <p:spPr bwMode="auto">
              <a:xfrm>
                <a:off x="2112" y="2915"/>
                <a:ext cx="811" cy="310"/>
              </a:xfrm>
              <a:prstGeom prst="rect">
                <a:avLst/>
              </a:prstGeom>
              <a:noFill/>
              <a:ln w="12700">
                <a:noFill/>
                <a:miter lim="800000"/>
                <a:headEnd/>
                <a:tailEnd/>
              </a:ln>
            </p:spPr>
            <p:txBody>
              <a:bodyPr t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sz="3200" b="1">
                    <a:solidFill>
                      <a:srgbClr val="2D2D8A"/>
                    </a:solidFill>
                  </a:rPr>
                  <a:t>2</a:t>
                </a:r>
              </a:p>
            </p:txBody>
          </p:sp>
          <p:sp>
            <p:nvSpPr>
              <p:cNvPr id="25617" name="Text Box 17"/>
              <p:cNvSpPr txBox="1">
                <a:spLocks noChangeArrowheads="1"/>
              </p:cNvSpPr>
              <p:nvPr/>
            </p:nvSpPr>
            <p:spPr bwMode="auto">
              <a:xfrm>
                <a:off x="2112" y="3369"/>
                <a:ext cx="811" cy="310"/>
              </a:xfrm>
              <a:prstGeom prst="rect">
                <a:avLst/>
              </a:prstGeom>
              <a:noFill/>
              <a:ln w="12700">
                <a:noFill/>
                <a:miter lim="800000"/>
                <a:headEnd/>
                <a:tailEnd/>
              </a:ln>
            </p:spPr>
            <p:txBody>
              <a:bodyPr t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sz="3200" b="1">
                    <a:solidFill>
                      <a:srgbClr val="2D2D8A"/>
                    </a:solidFill>
                  </a:rPr>
                  <a:t>1</a:t>
                </a:r>
              </a:p>
            </p:txBody>
          </p:sp>
          <p:sp>
            <p:nvSpPr>
              <p:cNvPr id="25618" name="Text Box 18"/>
              <p:cNvSpPr txBox="1">
                <a:spLocks noChangeArrowheads="1"/>
              </p:cNvSpPr>
              <p:nvPr/>
            </p:nvSpPr>
            <p:spPr bwMode="auto">
              <a:xfrm>
                <a:off x="2112" y="1096"/>
                <a:ext cx="811" cy="310"/>
              </a:xfrm>
              <a:prstGeom prst="rect">
                <a:avLst/>
              </a:prstGeom>
              <a:noFill/>
              <a:ln w="12700">
                <a:noFill/>
                <a:miter lim="800000"/>
                <a:headEnd/>
                <a:tailEnd/>
              </a:ln>
            </p:spPr>
            <p:txBody>
              <a:bodyPr t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sz="3200" b="1">
                    <a:solidFill>
                      <a:srgbClr val="2D2D8A"/>
                    </a:solidFill>
                  </a:rPr>
                  <a:t>6</a:t>
                </a:r>
              </a:p>
            </p:txBody>
          </p:sp>
          <p:sp>
            <p:nvSpPr>
              <p:cNvPr id="25619" name="Line 19"/>
              <p:cNvSpPr>
                <a:spLocks noChangeShapeType="1"/>
              </p:cNvSpPr>
              <p:nvPr/>
            </p:nvSpPr>
            <p:spPr bwMode="auto">
              <a:xfrm>
                <a:off x="2579" y="2348"/>
                <a:ext cx="1216" cy="0"/>
              </a:xfrm>
              <a:prstGeom prst="line">
                <a:avLst/>
              </a:prstGeom>
              <a:noFill/>
              <a:ln w="12700">
                <a:solidFill>
                  <a:schemeClr val="tx1"/>
                </a:solidFill>
                <a:miter lim="800000"/>
                <a:headEnd/>
                <a:tailEnd/>
              </a:ln>
            </p:spPr>
            <p:txBody>
              <a:bodyPr wrap="none" anchor="ctr"/>
              <a:lstStyle/>
              <a:p>
                <a:pPr>
                  <a:defRPr/>
                </a:pPr>
                <a:endParaRPr lang="zh-CN" altLang="en-US">
                  <a:solidFill>
                    <a:schemeClr val="accent6"/>
                  </a:solidFill>
                  <a:latin typeface="Arial" charset="0"/>
                </a:endParaRPr>
              </a:p>
            </p:txBody>
          </p:sp>
          <p:sp>
            <p:nvSpPr>
              <p:cNvPr id="25620" name="Line 20"/>
              <p:cNvSpPr>
                <a:spLocks noChangeShapeType="1"/>
              </p:cNvSpPr>
              <p:nvPr/>
            </p:nvSpPr>
            <p:spPr bwMode="auto">
              <a:xfrm>
                <a:off x="2579" y="2802"/>
                <a:ext cx="1216" cy="0"/>
              </a:xfrm>
              <a:prstGeom prst="line">
                <a:avLst/>
              </a:prstGeom>
              <a:noFill/>
              <a:ln w="12700">
                <a:solidFill>
                  <a:schemeClr val="tx1"/>
                </a:solidFill>
                <a:miter lim="800000"/>
                <a:headEnd/>
                <a:tailEnd/>
              </a:ln>
            </p:spPr>
            <p:txBody>
              <a:bodyPr wrap="none" anchor="ctr"/>
              <a:lstStyle/>
              <a:p>
                <a:pPr>
                  <a:defRPr/>
                </a:pPr>
                <a:endParaRPr lang="zh-CN" altLang="en-US">
                  <a:solidFill>
                    <a:schemeClr val="accent6"/>
                  </a:solidFill>
                  <a:latin typeface="Arial" charset="0"/>
                </a:endParaRPr>
              </a:p>
            </p:txBody>
          </p:sp>
          <p:sp>
            <p:nvSpPr>
              <p:cNvPr id="25621" name="Line 21"/>
              <p:cNvSpPr>
                <a:spLocks noChangeShapeType="1"/>
              </p:cNvSpPr>
              <p:nvPr/>
            </p:nvSpPr>
            <p:spPr bwMode="auto">
              <a:xfrm>
                <a:off x="2579" y="3257"/>
                <a:ext cx="1216" cy="0"/>
              </a:xfrm>
              <a:prstGeom prst="line">
                <a:avLst/>
              </a:prstGeom>
              <a:noFill/>
              <a:ln w="12700">
                <a:solidFill>
                  <a:schemeClr val="tx1"/>
                </a:solidFill>
                <a:miter lim="800000"/>
                <a:headEnd/>
                <a:tailEnd/>
              </a:ln>
            </p:spPr>
            <p:txBody>
              <a:bodyPr wrap="none" anchor="ctr"/>
              <a:lstStyle/>
              <a:p>
                <a:pPr>
                  <a:defRPr/>
                </a:pPr>
                <a:endParaRPr lang="zh-CN" altLang="en-US">
                  <a:solidFill>
                    <a:schemeClr val="accent6"/>
                  </a:solidFill>
                  <a:latin typeface="Arial" charset="0"/>
                </a:endParaRPr>
              </a:p>
            </p:txBody>
          </p:sp>
          <p:sp>
            <p:nvSpPr>
              <p:cNvPr id="25622" name="Rectangle 22"/>
              <p:cNvSpPr>
                <a:spLocks noChangeArrowheads="1"/>
              </p:cNvSpPr>
              <p:nvPr/>
            </p:nvSpPr>
            <p:spPr bwMode="auto">
              <a:xfrm>
                <a:off x="2579" y="528"/>
                <a:ext cx="1216" cy="3184"/>
              </a:xfrm>
              <a:prstGeom prst="rect">
                <a:avLst/>
              </a:prstGeom>
              <a:noFill/>
              <a:ln w="12700">
                <a:solidFill>
                  <a:schemeClr val="tx1"/>
                </a:solidFill>
                <a:miter lim="800000"/>
                <a:headEnd/>
                <a:tailEnd/>
              </a:ln>
            </p:spPr>
            <p:txBody>
              <a:bodyPr wrap="none" anchor="ctr"/>
              <a:lstStyle/>
              <a:p>
                <a:pPr>
                  <a:defRPr/>
                </a:pPr>
                <a:endParaRPr lang="zh-CN" altLang="en-US">
                  <a:solidFill>
                    <a:schemeClr val="accent6"/>
                  </a:solidFill>
                  <a:latin typeface="Arial" charset="0"/>
                </a:endParaRPr>
              </a:p>
            </p:txBody>
          </p:sp>
          <p:sp>
            <p:nvSpPr>
              <p:cNvPr id="25623" name="Line 23"/>
              <p:cNvSpPr>
                <a:spLocks noChangeShapeType="1"/>
              </p:cNvSpPr>
              <p:nvPr/>
            </p:nvSpPr>
            <p:spPr bwMode="auto">
              <a:xfrm>
                <a:off x="2579" y="983"/>
                <a:ext cx="1216" cy="0"/>
              </a:xfrm>
              <a:prstGeom prst="line">
                <a:avLst/>
              </a:prstGeom>
              <a:noFill/>
              <a:ln w="12700">
                <a:solidFill>
                  <a:schemeClr val="tx1"/>
                </a:solidFill>
                <a:miter lim="800000"/>
                <a:headEnd/>
                <a:tailEnd/>
              </a:ln>
            </p:spPr>
            <p:txBody>
              <a:bodyPr wrap="none" anchor="ctr"/>
              <a:lstStyle/>
              <a:p>
                <a:pPr>
                  <a:defRPr/>
                </a:pPr>
                <a:endParaRPr lang="zh-CN" altLang="en-US">
                  <a:solidFill>
                    <a:schemeClr val="accent6"/>
                  </a:solidFill>
                  <a:latin typeface="Arial" charset="0"/>
                </a:endParaRPr>
              </a:p>
            </p:txBody>
          </p:sp>
          <p:sp>
            <p:nvSpPr>
              <p:cNvPr id="25624" name="Line 24"/>
              <p:cNvSpPr>
                <a:spLocks noChangeShapeType="1"/>
              </p:cNvSpPr>
              <p:nvPr/>
            </p:nvSpPr>
            <p:spPr bwMode="auto">
              <a:xfrm>
                <a:off x="2579" y="1437"/>
                <a:ext cx="1216" cy="0"/>
              </a:xfrm>
              <a:prstGeom prst="line">
                <a:avLst/>
              </a:prstGeom>
              <a:noFill/>
              <a:ln w="12700">
                <a:solidFill>
                  <a:schemeClr val="tx1"/>
                </a:solidFill>
                <a:miter lim="800000"/>
                <a:headEnd/>
                <a:tailEnd/>
              </a:ln>
            </p:spPr>
            <p:txBody>
              <a:bodyPr wrap="none" anchor="ctr"/>
              <a:lstStyle/>
              <a:p>
                <a:pPr>
                  <a:defRPr/>
                </a:pPr>
                <a:endParaRPr lang="zh-CN" altLang="en-US">
                  <a:solidFill>
                    <a:schemeClr val="accent6"/>
                  </a:solidFill>
                  <a:latin typeface="Arial" charset="0"/>
                </a:endParaRPr>
              </a:p>
            </p:txBody>
          </p:sp>
          <p:sp>
            <p:nvSpPr>
              <p:cNvPr id="25625" name="Line 25"/>
              <p:cNvSpPr>
                <a:spLocks noChangeShapeType="1"/>
              </p:cNvSpPr>
              <p:nvPr/>
            </p:nvSpPr>
            <p:spPr bwMode="auto">
              <a:xfrm>
                <a:off x="2579" y="1892"/>
                <a:ext cx="1216" cy="0"/>
              </a:xfrm>
              <a:prstGeom prst="line">
                <a:avLst/>
              </a:prstGeom>
              <a:noFill/>
              <a:ln w="12700">
                <a:solidFill>
                  <a:schemeClr val="tx1"/>
                </a:solidFill>
                <a:miter lim="800000"/>
                <a:headEnd/>
                <a:tailEnd/>
              </a:ln>
            </p:spPr>
            <p:txBody>
              <a:bodyPr wrap="none" anchor="ctr"/>
              <a:lstStyle/>
              <a:p>
                <a:pPr>
                  <a:defRPr/>
                </a:pPr>
                <a:endParaRPr lang="zh-CN" altLang="en-US">
                  <a:solidFill>
                    <a:schemeClr val="accent6"/>
                  </a:solidFill>
                  <a:latin typeface="Arial" charset="0"/>
                </a:endParaRPr>
              </a:p>
            </p:txBody>
          </p:sp>
          <p:sp>
            <p:nvSpPr>
              <p:cNvPr id="25626" name="Text Box 26"/>
              <p:cNvSpPr txBox="1">
                <a:spLocks noChangeArrowheads="1"/>
              </p:cNvSpPr>
              <p:nvPr/>
            </p:nvSpPr>
            <p:spPr bwMode="auto">
              <a:xfrm>
                <a:off x="2720" y="3824"/>
                <a:ext cx="1824" cy="310"/>
              </a:xfrm>
              <a:prstGeom prst="rect">
                <a:avLst/>
              </a:prstGeom>
              <a:noFill/>
              <a:ln w="12700">
                <a:noFill/>
                <a:miter lim="800000"/>
                <a:headEnd/>
                <a:tailEnd/>
              </a:ln>
            </p:spPr>
            <p:txBody>
              <a:bodyPr tIns="0" bIns="0">
                <a:spAutoFit/>
              </a:bodyPr>
              <a:lstStyle/>
              <a:p>
                <a:pPr algn="just" eaLnBrk="0" hangingPunct="0">
                  <a:defRPr/>
                </a:pPr>
                <a:r>
                  <a:rPr lang="en-US" altLang="zh-CN" sz="3200" b="1" dirty="0">
                    <a:solidFill>
                      <a:schemeClr val="accent6"/>
                    </a:solidFill>
                    <a:latin typeface="Arial" charset="0"/>
                  </a:rPr>
                  <a:t>STACK</a:t>
                </a:r>
              </a:p>
            </p:txBody>
          </p:sp>
        </p:grpSp>
      </p:grpSp>
      <p:sp>
        <p:nvSpPr>
          <p:cNvPr id="5632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3" name="矩形 2"/>
          <p:cNvSpPr/>
          <p:nvPr/>
        </p:nvSpPr>
        <p:spPr>
          <a:xfrm>
            <a:off x="899592" y="476518"/>
            <a:ext cx="3098925" cy="584775"/>
          </a:xfrm>
          <a:prstGeom prst="rect">
            <a:avLst/>
          </a:prstGeom>
        </p:spPr>
        <p:txBody>
          <a:bodyPr wrap="none">
            <a:spAutoFit/>
          </a:bodyPr>
          <a:lstStyle/>
          <a:p>
            <a:r>
              <a:rPr kumimoji="0" lang="en-US" altLang="zh-CN" sz="3200" b="0" i="0" u="none" strike="noStrike" kern="0" cap="none" spc="0" normalizeH="0" baseline="0" noProof="0" dirty="0" smtClean="0">
                <a:ln>
                  <a:noFill/>
                </a:ln>
                <a:solidFill>
                  <a:srgbClr val="333399"/>
                </a:solidFill>
                <a:effectLst/>
                <a:uLnTx/>
                <a:uFillTx/>
                <a:latin typeface="Garamond"/>
                <a:ea typeface="宋体"/>
                <a:cs typeface="+mj-cs"/>
              </a:rPr>
              <a:t>1.4.4 </a:t>
            </a:r>
            <a:r>
              <a:rPr kumimoji="0" lang="zh-CN" altLang="en-US" sz="3200" b="1" i="0" u="sng" strike="noStrike" kern="0" cap="none" spc="0" normalizeH="0" baseline="0" noProof="0" dirty="0" smtClean="0">
                <a:ln>
                  <a:noFill/>
                </a:ln>
                <a:solidFill>
                  <a:srgbClr val="333399"/>
                </a:solidFill>
                <a:effectLst/>
                <a:uLnTx/>
                <a:uFillTx/>
                <a:latin typeface="Garamond"/>
                <a:ea typeface="宋体"/>
                <a:cs typeface="+mj-cs"/>
              </a:rPr>
              <a:t>堆栈</a:t>
            </a:r>
            <a:r>
              <a:rPr kumimoji="0" lang="zh-CN" altLang="en-US" sz="3200" b="0" i="0" u="none" strike="noStrike" kern="0" cap="none" spc="0" normalizeH="0" baseline="0" noProof="0" dirty="0" smtClean="0">
                <a:ln>
                  <a:noFill/>
                </a:ln>
                <a:solidFill>
                  <a:srgbClr val="333399"/>
                </a:solidFill>
                <a:effectLst/>
                <a:uLnTx/>
                <a:uFillTx/>
                <a:latin typeface="Garamond"/>
                <a:ea typeface="宋体"/>
                <a:cs typeface="+mj-cs"/>
              </a:rPr>
              <a:t>和队列</a:t>
            </a:r>
            <a:endParaRPr lang="zh-CN" altLang="en-US" dirty="0"/>
          </a:p>
        </p:txBody>
      </p:sp>
    </p:spTree>
    <p:extLst>
      <p:ext uri="{BB962C8B-B14F-4D97-AF65-F5344CB8AC3E}">
        <p14:creationId xmlns:p14="http://schemas.microsoft.com/office/powerpoint/2010/main" val="2253547161"/>
      </p:ext>
    </p:extLst>
  </p:cSld>
  <p:clrMapOvr>
    <a:masterClrMapping/>
  </p:clrMapOvr>
  <p:transition/>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3"/>
          <p:cNvSpPr>
            <a:spLocks noGrp="1" noChangeArrowheads="1"/>
          </p:cNvSpPr>
          <p:nvPr>
            <p:ph type="body" idx="1"/>
          </p:nvPr>
        </p:nvSpPr>
        <p:spPr>
          <a:xfrm>
            <a:off x="971600" y="1340768"/>
            <a:ext cx="7560840" cy="4438650"/>
          </a:xfrm>
        </p:spPr>
        <p:txBody>
          <a:bodyPr/>
          <a:lstStyle/>
          <a:p>
            <a:pPr marL="0" indent="-324000"/>
            <a:r>
              <a:rPr lang="zh-CN" altLang="en-US" dirty="0" smtClean="0"/>
              <a:t>下面用一个简单的例子说明编译系统在处理算术表达式时，是如何应用堆栈这种数据结构的。  </a:t>
            </a:r>
            <a:endParaRPr lang="en-US" altLang="zh-CN" dirty="0" smtClean="0"/>
          </a:p>
          <a:p>
            <a:pPr marL="0" indent="-324000"/>
            <a:endParaRPr lang="zh-CN" altLang="en-US" dirty="0" smtClean="0"/>
          </a:p>
          <a:p>
            <a:pPr marL="0" indent="-324000"/>
            <a:r>
              <a:rPr lang="zh-CN" altLang="en-US" dirty="0" smtClean="0"/>
              <a:t>假定表达式的运算数都是使用单个字母表示的，式中无括号且只有加、减、乘、除</a:t>
            </a:r>
            <a:r>
              <a:rPr lang="en-US" altLang="zh-CN" dirty="0" smtClean="0"/>
              <a:t>4</a:t>
            </a:r>
            <a:r>
              <a:rPr lang="zh-CN" altLang="en-US" dirty="0" smtClean="0"/>
              <a:t>种运算，而没有更复杂的运算，例如表达式 </a:t>
            </a:r>
            <a:r>
              <a:rPr lang="en-US" altLang="zh-CN" dirty="0" err="1" smtClean="0"/>
              <a:t>X+Y</a:t>
            </a:r>
            <a:r>
              <a:rPr lang="en-US" altLang="zh-CN" dirty="0" smtClean="0"/>
              <a:t>*Z</a:t>
            </a:r>
            <a:r>
              <a:rPr lang="zh-CN" altLang="en-US" dirty="0" smtClean="0"/>
              <a:t>。 </a:t>
            </a:r>
          </a:p>
        </p:txBody>
      </p:sp>
      <p:sp>
        <p:nvSpPr>
          <p:cNvPr id="57347" name="Rectangle 2"/>
          <p:cNvSpPr>
            <a:spLocks noGrp="1" noChangeArrowheads="1"/>
          </p:cNvSpPr>
          <p:nvPr>
            <p:ph type="title"/>
          </p:nvPr>
        </p:nvSpPr>
        <p:spPr/>
        <p:txBody>
          <a:bodyPr/>
          <a:lstStyle/>
          <a:p>
            <a:pPr eaLnBrk="1" hangingPunct="1"/>
            <a:r>
              <a:rPr lang="en-US" altLang="zh-CN" dirty="0">
                <a:solidFill>
                  <a:srgbClr val="333399"/>
                </a:solidFill>
              </a:rPr>
              <a:t>1.4.</a:t>
            </a:r>
            <a:r>
              <a:rPr lang="en-US" altLang="zh-CN" kern="0" dirty="0" smtClean="0"/>
              <a:t>4 </a:t>
            </a:r>
            <a:r>
              <a:rPr lang="zh-CN" altLang="en-US" b="1" u="sng" kern="0" dirty="0" smtClean="0"/>
              <a:t>堆栈</a:t>
            </a:r>
            <a:r>
              <a:rPr lang="zh-CN" altLang="en-US" kern="0" dirty="0" smtClean="0"/>
              <a:t>和队列</a:t>
            </a:r>
            <a:endParaRPr lang="en-US" altLang="zh-CN" dirty="0" smtClean="0"/>
          </a:p>
        </p:txBody>
      </p:sp>
      <p:sp>
        <p:nvSpPr>
          <p:cNvPr id="57348"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Tree>
    <p:extLst>
      <p:ext uri="{BB962C8B-B14F-4D97-AF65-F5344CB8AC3E}">
        <p14:creationId xmlns:p14="http://schemas.microsoft.com/office/powerpoint/2010/main" val="4124040704"/>
      </p:ext>
    </p:extLst>
  </p:cSld>
  <p:clrMapOvr>
    <a:masterClrMapping/>
  </p:clrMapOvr>
  <p:transition/>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3"/>
          <p:cNvSpPr>
            <a:spLocks noGrp="1" noChangeArrowheads="1"/>
          </p:cNvSpPr>
          <p:nvPr>
            <p:ph type="body" idx="1"/>
          </p:nvPr>
        </p:nvSpPr>
        <p:spPr>
          <a:xfrm>
            <a:off x="879475" y="1250462"/>
            <a:ext cx="8191500" cy="4991100"/>
          </a:xfrm>
        </p:spPr>
        <p:txBody>
          <a:bodyPr/>
          <a:lstStyle/>
          <a:p>
            <a:pPr>
              <a:lnSpc>
                <a:spcPct val="90000"/>
              </a:lnSpc>
              <a:defRPr/>
            </a:pPr>
            <a:r>
              <a:rPr lang="zh-CN" altLang="en-US" dirty="0"/>
              <a:t>使用</a:t>
            </a:r>
            <a:r>
              <a:rPr lang="en-US" altLang="zh-CN" dirty="0"/>
              <a:t>S1</a:t>
            </a:r>
            <a:r>
              <a:rPr lang="zh-CN" altLang="en-US" dirty="0"/>
              <a:t>和</a:t>
            </a:r>
            <a:r>
              <a:rPr lang="en-US" altLang="zh-CN" dirty="0"/>
              <a:t>S2</a:t>
            </a:r>
            <a:r>
              <a:rPr lang="zh-CN" altLang="en-US" dirty="0"/>
              <a:t>两个堆栈，</a:t>
            </a:r>
            <a:r>
              <a:rPr lang="en-US" altLang="zh-CN" dirty="0"/>
              <a:t>S1</a:t>
            </a:r>
            <a:r>
              <a:rPr lang="zh-CN" altLang="en-US" dirty="0"/>
              <a:t>用于存储运算数，</a:t>
            </a:r>
            <a:r>
              <a:rPr lang="en-US" altLang="zh-CN" dirty="0"/>
              <a:t>S2</a:t>
            </a:r>
            <a:r>
              <a:rPr lang="zh-CN" altLang="en-US" dirty="0"/>
              <a:t>用于存储运算符。</a:t>
            </a:r>
          </a:p>
          <a:p>
            <a:pPr>
              <a:lnSpc>
                <a:spcPct val="90000"/>
              </a:lnSpc>
              <a:defRPr/>
            </a:pPr>
            <a:r>
              <a:rPr lang="zh-CN" altLang="en-US" dirty="0"/>
              <a:t>编译系统处理时，将表达式从左向右逐个扫视一遍，并根据不同情况按以下原则处理</a:t>
            </a:r>
            <a:r>
              <a:rPr lang="en-US" altLang="zh-CN" dirty="0"/>
              <a:t>: </a:t>
            </a:r>
          </a:p>
          <a:p>
            <a:pPr lvl="1">
              <a:lnSpc>
                <a:spcPct val="90000"/>
              </a:lnSpc>
              <a:defRPr/>
            </a:pPr>
            <a:r>
              <a:rPr lang="en-US" altLang="zh-CN" dirty="0">
                <a:latin typeface="+mn-lt"/>
                <a:ea typeface="+mn-ea"/>
              </a:rPr>
              <a:t>1) </a:t>
            </a:r>
            <a:r>
              <a:rPr lang="zh-CN" altLang="en-US" dirty="0">
                <a:latin typeface="+mn-lt"/>
                <a:ea typeface="+mn-ea"/>
              </a:rPr>
              <a:t>若是运算数，则将其压入</a:t>
            </a:r>
            <a:r>
              <a:rPr lang="en-US" altLang="zh-CN" dirty="0">
                <a:latin typeface="+mn-lt"/>
                <a:ea typeface="+mn-ea"/>
              </a:rPr>
              <a:t>S1</a:t>
            </a:r>
            <a:r>
              <a:rPr lang="zh-CN" altLang="en-US" dirty="0">
                <a:latin typeface="+mn-lt"/>
                <a:ea typeface="+mn-ea"/>
              </a:rPr>
              <a:t>栈； </a:t>
            </a:r>
          </a:p>
          <a:p>
            <a:pPr lvl="1">
              <a:lnSpc>
                <a:spcPct val="90000"/>
              </a:lnSpc>
              <a:defRPr/>
            </a:pPr>
            <a:r>
              <a:rPr lang="en-US" altLang="zh-CN" dirty="0">
                <a:latin typeface="+mn-lt"/>
                <a:ea typeface="+mn-ea"/>
              </a:rPr>
              <a:t>2) </a:t>
            </a:r>
            <a:r>
              <a:rPr lang="zh-CN" altLang="en-US" dirty="0">
                <a:latin typeface="+mn-lt"/>
                <a:ea typeface="+mn-ea"/>
              </a:rPr>
              <a:t>若是运算符且</a:t>
            </a:r>
            <a:r>
              <a:rPr lang="en-US" altLang="zh-CN" dirty="0">
                <a:latin typeface="+mn-lt"/>
                <a:ea typeface="+mn-ea"/>
              </a:rPr>
              <a:t>S2</a:t>
            </a:r>
            <a:r>
              <a:rPr lang="zh-CN" altLang="en-US" dirty="0">
                <a:latin typeface="+mn-lt"/>
                <a:ea typeface="+mn-ea"/>
              </a:rPr>
              <a:t>栈是空栈则将其压入 </a:t>
            </a:r>
            <a:r>
              <a:rPr lang="en-US" altLang="zh-CN" dirty="0">
                <a:latin typeface="+mn-lt"/>
                <a:ea typeface="+mn-ea"/>
              </a:rPr>
              <a:t>S2</a:t>
            </a:r>
            <a:r>
              <a:rPr lang="zh-CN" altLang="en-US" dirty="0">
                <a:latin typeface="+mn-lt"/>
                <a:ea typeface="+mn-ea"/>
              </a:rPr>
              <a:t>栈； </a:t>
            </a:r>
          </a:p>
          <a:p>
            <a:pPr lvl="1">
              <a:lnSpc>
                <a:spcPct val="90000"/>
              </a:lnSpc>
              <a:defRPr/>
            </a:pPr>
            <a:r>
              <a:rPr lang="en-US" altLang="zh-CN" dirty="0">
                <a:latin typeface="+mn-lt"/>
                <a:ea typeface="+mn-ea"/>
              </a:rPr>
              <a:t>3) </a:t>
            </a:r>
            <a:r>
              <a:rPr lang="zh-CN" altLang="en-US" dirty="0">
                <a:latin typeface="+mn-lt"/>
                <a:ea typeface="+mn-ea"/>
              </a:rPr>
              <a:t>若是运算符且</a:t>
            </a:r>
            <a:r>
              <a:rPr lang="en-US" altLang="zh-CN" dirty="0">
                <a:latin typeface="+mn-lt"/>
                <a:ea typeface="+mn-ea"/>
              </a:rPr>
              <a:t>S2</a:t>
            </a:r>
            <a:r>
              <a:rPr lang="zh-CN" altLang="en-US" dirty="0">
                <a:latin typeface="+mn-lt"/>
                <a:ea typeface="+mn-ea"/>
              </a:rPr>
              <a:t>栈为非空栈，且此运算符的级别高于</a:t>
            </a:r>
            <a:r>
              <a:rPr lang="en-US" altLang="zh-CN" dirty="0">
                <a:latin typeface="+mn-lt"/>
                <a:ea typeface="+mn-ea"/>
              </a:rPr>
              <a:t>S2</a:t>
            </a:r>
            <a:r>
              <a:rPr lang="zh-CN" altLang="en-US" dirty="0">
                <a:latin typeface="+mn-lt"/>
                <a:ea typeface="+mn-ea"/>
              </a:rPr>
              <a:t>栈顶运算符的级别，则将此运算符压入</a:t>
            </a:r>
            <a:r>
              <a:rPr lang="en-US" altLang="zh-CN" dirty="0">
                <a:latin typeface="+mn-lt"/>
                <a:ea typeface="+mn-ea"/>
              </a:rPr>
              <a:t>S2</a:t>
            </a:r>
            <a:r>
              <a:rPr lang="zh-CN" altLang="en-US" dirty="0">
                <a:latin typeface="+mn-lt"/>
                <a:ea typeface="+mn-ea"/>
              </a:rPr>
              <a:t>栈； </a:t>
            </a:r>
          </a:p>
          <a:p>
            <a:pPr lvl="1">
              <a:lnSpc>
                <a:spcPct val="90000"/>
              </a:lnSpc>
              <a:defRPr/>
            </a:pPr>
            <a:r>
              <a:rPr lang="en-US" altLang="zh-CN" dirty="0">
                <a:latin typeface="+mn-lt"/>
                <a:ea typeface="+mn-ea"/>
              </a:rPr>
              <a:t>4) </a:t>
            </a:r>
            <a:r>
              <a:rPr lang="zh-CN" altLang="en-US" dirty="0">
                <a:latin typeface="+mn-lt"/>
                <a:ea typeface="+mn-ea"/>
              </a:rPr>
              <a:t>凡不属于上面三条的情况，则将</a:t>
            </a:r>
            <a:r>
              <a:rPr lang="en-US" altLang="zh-CN" dirty="0">
                <a:latin typeface="+mn-lt"/>
                <a:ea typeface="+mn-ea"/>
              </a:rPr>
              <a:t>S2</a:t>
            </a:r>
            <a:r>
              <a:rPr lang="zh-CN" altLang="en-US" dirty="0">
                <a:latin typeface="+mn-lt"/>
                <a:ea typeface="+mn-ea"/>
              </a:rPr>
              <a:t>的栈顶运算符与</a:t>
            </a:r>
            <a:r>
              <a:rPr lang="en-US" altLang="zh-CN" dirty="0">
                <a:latin typeface="+mn-lt"/>
                <a:ea typeface="+mn-ea"/>
              </a:rPr>
              <a:t>S1</a:t>
            </a:r>
            <a:r>
              <a:rPr lang="zh-CN" altLang="en-US" dirty="0">
                <a:latin typeface="+mn-lt"/>
                <a:ea typeface="+mn-ea"/>
              </a:rPr>
              <a:t>栈最上面的两个运算数出栈进行运算，并将运算结果压入</a:t>
            </a:r>
            <a:r>
              <a:rPr lang="en-US" altLang="zh-CN" dirty="0">
                <a:latin typeface="+mn-lt"/>
                <a:ea typeface="+mn-ea"/>
              </a:rPr>
              <a:t>S1</a:t>
            </a:r>
            <a:r>
              <a:rPr lang="zh-CN" altLang="en-US" dirty="0">
                <a:latin typeface="+mn-lt"/>
                <a:ea typeface="+mn-ea"/>
              </a:rPr>
              <a:t>栈。  </a:t>
            </a:r>
          </a:p>
        </p:txBody>
      </p:sp>
      <p:sp>
        <p:nvSpPr>
          <p:cNvPr id="58371"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4" name="Rectangle 2"/>
          <p:cNvSpPr>
            <a:spLocks noGrp="1" noChangeArrowheads="1"/>
          </p:cNvSpPr>
          <p:nvPr>
            <p:ph type="title"/>
          </p:nvPr>
        </p:nvSpPr>
        <p:spPr>
          <a:xfrm>
            <a:off x="879475" y="269875"/>
            <a:ext cx="7869238" cy="927100"/>
          </a:xfrm>
        </p:spPr>
        <p:txBody>
          <a:bodyPr/>
          <a:lstStyle/>
          <a:p>
            <a:pPr eaLnBrk="1" hangingPunct="1"/>
            <a:r>
              <a:rPr lang="en-US" altLang="zh-CN" dirty="0">
                <a:solidFill>
                  <a:srgbClr val="333399"/>
                </a:solidFill>
              </a:rPr>
              <a:t>1.4.</a:t>
            </a:r>
            <a:r>
              <a:rPr lang="en-US" altLang="zh-CN" kern="0" dirty="0" smtClean="0"/>
              <a:t>4 </a:t>
            </a:r>
            <a:r>
              <a:rPr lang="zh-CN" altLang="en-US" b="1" u="sng" kern="0" dirty="0" smtClean="0"/>
              <a:t>堆栈</a:t>
            </a:r>
            <a:r>
              <a:rPr lang="zh-CN" altLang="en-US" kern="0" dirty="0" smtClean="0"/>
              <a:t>和队列</a:t>
            </a:r>
            <a:endParaRPr lang="en-US" altLang="zh-CN" dirty="0" smtClean="0"/>
          </a:p>
        </p:txBody>
      </p:sp>
    </p:spTree>
    <p:extLst>
      <p:ext uri="{BB962C8B-B14F-4D97-AF65-F5344CB8AC3E}">
        <p14:creationId xmlns:p14="http://schemas.microsoft.com/office/powerpoint/2010/main" val="1319796692"/>
      </p:ext>
    </p:extLst>
  </p:cSld>
  <p:clrMapOvr>
    <a:masterClrMapping/>
  </p:clrMapOvr>
  <p:transition/>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type="body" idx="1"/>
          </p:nvPr>
        </p:nvSpPr>
        <p:spPr>
          <a:xfrm>
            <a:off x="808043" y="1268760"/>
            <a:ext cx="8305800" cy="990600"/>
          </a:xfrm>
        </p:spPr>
        <p:txBody>
          <a:bodyPr/>
          <a:lstStyle/>
          <a:p>
            <a:pPr>
              <a:lnSpc>
                <a:spcPct val="90000"/>
              </a:lnSpc>
            </a:pPr>
            <a:r>
              <a:rPr lang="zh-CN" altLang="en-US" sz="2400" dirty="0" smtClean="0"/>
              <a:t>图中每一步上面括号中的数字表示该步是按哪一条原则处理的。 </a:t>
            </a:r>
          </a:p>
        </p:txBody>
      </p:sp>
      <p:graphicFrame>
        <p:nvGraphicFramePr>
          <p:cNvPr id="11266" name="Object 2"/>
          <p:cNvGraphicFramePr>
            <a:graphicFrameLocks noChangeAspect="1"/>
          </p:cNvGraphicFramePr>
          <p:nvPr/>
        </p:nvGraphicFramePr>
        <p:xfrm>
          <a:off x="971600" y="1988840"/>
          <a:ext cx="6264696" cy="3752908"/>
        </p:xfrm>
        <a:graphic>
          <a:graphicData uri="http://schemas.openxmlformats.org/presentationml/2006/ole">
            <mc:AlternateContent xmlns:mc="http://schemas.openxmlformats.org/markup-compatibility/2006">
              <mc:Choice xmlns:v="urn:schemas-microsoft-com:vml" Requires="v">
                <p:oleObj spid="_x0000_s32778" name="Picture2" r:id="rId3" imgW="4438800" imgH="2486160" progId="Word.Picture.8">
                  <p:embed/>
                </p:oleObj>
              </mc:Choice>
              <mc:Fallback>
                <p:oleObj name="Picture2" r:id="rId3" imgW="4438800" imgH="2486160" progId="Word.Picture.8">
                  <p:embed/>
                  <p:pic>
                    <p:nvPicPr>
                      <p:cNvPr id="11266"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600" y="1988840"/>
                        <a:ext cx="6264696" cy="3752908"/>
                      </a:xfrm>
                      <a:prstGeom prst="rect">
                        <a:avLst/>
                      </a:prstGeom>
                      <a:noFill/>
                    </p:spPr>
                  </p:pic>
                </p:oleObj>
              </mc:Fallback>
            </mc:AlternateContent>
          </a:graphicData>
        </a:graphic>
      </p:graphicFrame>
      <p:sp>
        <p:nvSpPr>
          <p:cNvPr id="11268"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5" name="Rectangle 2"/>
          <p:cNvSpPr>
            <a:spLocks noGrp="1" noChangeArrowheads="1"/>
          </p:cNvSpPr>
          <p:nvPr>
            <p:ph type="title"/>
          </p:nvPr>
        </p:nvSpPr>
        <p:spPr>
          <a:xfrm>
            <a:off x="879475" y="269875"/>
            <a:ext cx="7869238" cy="927100"/>
          </a:xfrm>
        </p:spPr>
        <p:txBody>
          <a:bodyPr/>
          <a:lstStyle/>
          <a:p>
            <a:pPr eaLnBrk="1" hangingPunct="1"/>
            <a:r>
              <a:rPr lang="en-US" altLang="zh-CN" dirty="0">
                <a:solidFill>
                  <a:srgbClr val="333399"/>
                </a:solidFill>
              </a:rPr>
              <a:t>1.4.</a:t>
            </a:r>
            <a:r>
              <a:rPr lang="en-US" altLang="zh-CN" kern="0" dirty="0" smtClean="0"/>
              <a:t>4 </a:t>
            </a:r>
            <a:r>
              <a:rPr lang="zh-CN" altLang="en-US" b="1" u="sng" kern="0" dirty="0" smtClean="0"/>
              <a:t>堆栈</a:t>
            </a:r>
            <a:r>
              <a:rPr lang="zh-CN" altLang="en-US" kern="0" dirty="0" smtClean="0"/>
              <a:t>和队列</a:t>
            </a:r>
            <a:endParaRPr lang="en-US" altLang="zh-CN" dirty="0" smtClean="0"/>
          </a:p>
        </p:txBody>
      </p:sp>
    </p:spTree>
    <p:extLst>
      <p:ext uri="{BB962C8B-B14F-4D97-AF65-F5344CB8AC3E}">
        <p14:creationId xmlns:p14="http://schemas.microsoft.com/office/powerpoint/2010/main" val="3206229311"/>
      </p:ext>
    </p:extLst>
  </p:cSld>
  <p:clrMapOvr>
    <a:masterClrMapping/>
  </p:clrMapOvr>
  <p:transition/>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59395" name="Rectangle 2"/>
          <p:cNvSpPr>
            <a:spLocks noGrp="1" noChangeArrowheads="1"/>
          </p:cNvSpPr>
          <p:nvPr>
            <p:ph type="title"/>
          </p:nvPr>
        </p:nvSpPr>
        <p:spPr/>
        <p:txBody>
          <a:bodyPr/>
          <a:lstStyle/>
          <a:p>
            <a:pPr eaLnBrk="1" hangingPunct="1"/>
            <a:r>
              <a:rPr lang="en-US" altLang="zh-CN" dirty="0">
                <a:solidFill>
                  <a:srgbClr val="333399"/>
                </a:solidFill>
              </a:rPr>
              <a:t>1.4.</a:t>
            </a:r>
            <a:r>
              <a:rPr lang="en-US" altLang="zh-CN" kern="0" dirty="0" smtClean="0"/>
              <a:t>4 </a:t>
            </a:r>
            <a:r>
              <a:rPr lang="zh-CN" altLang="en-US" kern="0" dirty="0" smtClean="0"/>
              <a:t>堆栈和</a:t>
            </a:r>
            <a:r>
              <a:rPr lang="zh-CN" altLang="en-US" b="1" u="sng" kern="0" dirty="0" smtClean="0"/>
              <a:t>队列</a:t>
            </a:r>
            <a:endParaRPr lang="en-US" altLang="zh-CN" b="1" u="sng" dirty="0" smtClean="0"/>
          </a:p>
        </p:txBody>
      </p:sp>
      <p:sp>
        <p:nvSpPr>
          <p:cNvPr id="59396" name="Rectangle 3"/>
          <p:cNvSpPr>
            <a:spLocks noGrp="1" noChangeArrowheads="1"/>
          </p:cNvSpPr>
          <p:nvPr>
            <p:ph type="body" idx="1"/>
          </p:nvPr>
        </p:nvSpPr>
        <p:spPr/>
        <p:txBody>
          <a:bodyPr/>
          <a:lstStyle/>
          <a:p>
            <a:pPr eaLnBrk="1" hangingPunct="1"/>
            <a:r>
              <a:rPr lang="zh-CN" altLang="en-US" dirty="0" smtClean="0"/>
              <a:t>队列是这样的一种链表：仅允许在称为队列尾部的链表一端进行插入运算，而只允许在称为队列头部的另一端进行所有的删除运算。</a:t>
            </a:r>
            <a:endParaRPr lang="en-US" altLang="zh-CN" dirty="0" smtClean="0"/>
          </a:p>
          <a:p>
            <a:pPr eaLnBrk="1" hangingPunct="1"/>
            <a:endParaRPr lang="en-US" altLang="zh-CN" dirty="0" smtClean="0"/>
          </a:p>
          <a:p>
            <a:pPr eaLnBrk="1" hangingPunct="1"/>
            <a:r>
              <a:rPr lang="zh-CN" altLang="en-US" dirty="0" smtClean="0"/>
              <a:t>和堆栈一样，队列也可以在数组中实现这些运算。除了</a:t>
            </a:r>
            <a:r>
              <a:rPr lang="en-US" altLang="zh-CN" dirty="0" smtClean="0"/>
              <a:t>push</a:t>
            </a:r>
            <a:r>
              <a:rPr lang="zh-CN" altLang="en-US" dirty="0" smtClean="0"/>
              <a:t>运算把一个元素加入了队列尾部之外，队列支持的其他运算和堆栈一样。</a:t>
            </a:r>
            <a:endParaRPr lang="en-US" altLang="zh-CN" dirty="0" smtClean="0"/>
          </a:p>
        </p:txBody>
      </p:sp>
    </p:spTree>
    <p:extLst>
      <p:ext uri="{BB962C8B-B14F-4D97-AF65-F5344CB8AC3E}">
        <p14:creationId xmlns:p14="http://schemas.microsoft.com/office/powerpoint/2010/main" val="4224985529"/>
      </p:ext>
    </p:extLst>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60419" name="Rectangle 2"/>
          <p:cNvSpPr>
            <a:spLocks noGrp="1" noChangeArrowheads="1"/>
          </p:cNvSpPr>
          <p:nvPr>
            <p:ph type="title"/>
          </p:nvPr>
        </p:nvSpPr>
        <p:spPr/>
        <p:txBody>
          <a:bodyPr/>
          <a:lstStyle/>
          <a:p>
            <a:pPr eaLnBrk="1" hangingPunct="1"/>
            <a:r>
              <a:rPr lang="en-US" altLang="zh-CN" dirty="0">
                <a:solidFill>
                  <a:srgbClr val="333399"/>
                </a:solidFill>
              </a:rPr>
              <a:t>1.4.</a:t>
            </a:r>
            <a:r>
              <a:rPr lang="en-US" altLang="zh-CN" kern="0" dirty="0" smtClean="0"/>
              <a:t>4 </a:t>
            </a:r>
            <a:r>
              <a:rPr lang="zh-CN" altLang="en-US" kern="0" dirty="0" smtClean="0"/>
              <a:t>堆栈和</a:t>
            </a:r>
            <a:r>
              <a:rPr lang="zh-CN" altLang="en-US" b="1" u="sng" kern="0" dirty="0" smtClean="0"/>
              <a:t>队列</a:t>
            </a:r>
            <a:endParaRPr lang="en-US" altLang="zh-CN" dirty="0" smtClean="0"/>
          </a:p>
        </p:txBody>
      </p:sp>
      <p:sp>
        <p:nvSpPr>
          <p:cNvPr id="60420" name="Rectangle 3"/>
          <p:cNvSpPr>
            <a:spLocks noGrp="1" noChangeArrowheads="1"/>
          </p:cNvSpPr>
          <p:nvPr>
            <p:ph type="body" idx="1"/>
          </p:nvPr>
        </p:nvSpPr>
        <p:spPr/>
        <p:txBody>
          <a:bodyPr/>
          <a:lstStyle/>
          <a:p>
            <a:pPr>
              <a:lnSpc>
                <a:spcPct val="90000"/>
              </a:lnSpc>
            </a:pPr>
            <a:r>
              <a:rPr lang="zh-CN" altLang="en-US" smtClean="0"/>
              <a:t>队列是一种运算受限制的线性表，元素的添加在表的一端进行，而元素的删除在表的另一端进行。</a:t>
            </a:r>
          </a:p>
          <a:p>
            <a:pPr>
              <a:lnSpc>
                <a:spcPct val="90000"/>
              </a:lnSpc>
            </a:pPr>
            <a:r>
              <a:rPr lang="zh-CN" altLang="en-US" smtClean="0"/>
              <a:t>允许添加元素的一端称为</a:t>
            </a:r>
            <a:r>
              <a:rPr lang="zh-CN" altLang="en-US" smtClean="0">
                <a:solidFill>
                  <a:srgbClr val="FF0000"/>
                </a:solidFill>
              </a:rPr>
              <a:t>队尾（</a:t>
            </a:r>
            <a:r>
              <a:rPr lang="en-US" altLang="zh-CN" smtClean="0">
                <a:solidFill>
                  <a:srgbClr val="FF0000"/>
                </a:solidFill>
              </a:rPr>
              <a:t>Rear</a:t>
            </a:r>
            <a:r>
              <a:rPr lang="zh-CN" altLang="en-US" smtClean="0">
                <a:solidFill>
                  <a:srgbClr val="FF0000"/>
                </a:solidFill>
              </a:rPr>
              <a:t>）</a:t>
            </a:r>
            <a:r>
              <a:rPr lang="zh-CN" altLang="en-US" smtClean="0"/>
              <a:t>；允许删除元素的一端称为</a:t>
            </a:r>
            <a:r>
              <a:rPr lang="zh-CN" altLang="en-US" smtClean="0">
                <a:solidFill>
                  <a:srgbClr val="FF0000"/>
                </a:solidFill>
              </a:rPr>
              <a:t>队头（</a:t>
            </a:r>
            <a:r>
              <a:rPr lang="en-US" altLang="zh-CN" smtClean="0">
                <a:solidFill>
                  <a:srgbClr val="FF0000"/>
                </a:solidFill>
              </a:rPr>
              <a:t>Front</a:t>
            </a:r>
            <a:r>
              <a:rPr lang="zh-CN" altLang="en-US" smtClean="0">
                <a:solidFill>
                  <a:srgbClr val="FF0000"/>
                </a:solidFill>
              </a:rPr>
              <a:t>）</a:t>
            </a:r>
            <a:r>
              <a:rPr lang="zh-CN" altLang="en-US" smtClean="0"/>
              <a:t>。</a:t>
            </a:r>
          </a:p>
          <a:p>
            <a:pPr>
              <a:lnSpc>
                <a:spcPct val="90000"/>
              </a:lnSpc>
            </a:pPr>
            <a:r>
              <a:rPr lang="zh-CN" altLang="en-US" smtClean="0"/>
              <a:t>向队列添加元素称为</a:t>
            </a:r>
            <a:r>
              <a:rPr lang="zh-CN" altLang="en-US" smtClean="0">
                <a:solidFill>
                  <a:srgbClr val="FF0000"/>
                </a:solidFill>
              </a:rPr>
              <a:t>入队</a:t>
            </a:r>
            <a:r>
              <a:rPr lang="zh-CN" altLang="en-US" smtClean="0"/>
              <a:t>，从队列中删除元素称为</a:t>
            </a:r>
            <a:r>
              <a:rPr lang="zh-CN" altLang="en-US" smtClean="0">
                <a:solidFill>
                  <a:srgbClr val="FF0000"/>
                </a:solidFill>
              </a:rPr>
              <a:t>出队</a:t>
            </a:r>
            <a:r>
              <a:rPr lang="zh-CN" altLang="en-US" smtClean="0"/>
              <a:t>。 </a:t>
            </a:r>
          </a:p>
          <a:p>
            <a:pPr>
              <a:lnSpc>
                <a:spcPct val="90000"/>
              </a:lnSpc>
            </a:pPr>
            <a:r>
              <a:rPr lang="zh-CN" altLang="en-US" smtClean="0"/>
              <a:t>新入队的元素只能添加在队尾，出队的元素只能是删除队头的元素，队列的特点是先进入队列的元素先出队，所以队列也称作</a:t>
            </a:r>
            <a:r>
              <a:rPr lang="zh-CN" altLang="en-US" smtClean="0">
                <a:solidFill>
                  <a:srgbClr val="FF0000"/>
                </a:solidFill>
              </a:rPr>
              <a:t>先进先出表</a:t>
            </a:r>
            <a:r>
              <a:rPr lang="zh-CN" altLang="en-US" smtClean="0"/>
              <a:t>或</a:t>
            </a:r>
            <a:r>
              <a:rPr lang="en-US" altLang="zh-CN" smtClean="0"/>
              <a:t>FIFO</a:t>
            </a:r>
            <a:r>
              <a:rPr lang="zh-CN" altLang="en-US" smtClean="0"/>
              <a:t>（</a:t>
            </a:r>
            <a:r>
              <a:rPr lang="en-US" altLang="zh-CN" smtClean="0"/>
              <a:t>First-In-First-Out</a:t>
            </a:r>
            <a:r>
              <a:rPr lang="zh-CN" altLang="en-US" smtClean="0"/>
              <a:t>）表。 </a:t>
            </a:r>
          </a:p>
        </p:txBody>
      </p:sp>
    </p:spTree>
    <p:extLst>
      <p:ext uri="{BB962C8B-B14F-4D97-AF65-F5344CB8AC3E}">
        <p14:creationId xmlns:p14="http://schemas.microsoft.com/office/powerpoint/2010/main" val="2858029374"/>
      </p:ext>
    </p:extLst>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p:cNvSpPr>
            <a:spLocks noGrp="1" noChangeArrowheads="1"/>
          </p:cNvSpPr>
          <p:nvPr>
            <p:ph type="body" idx="1"/>
          </p:nvPr>
        </p:nvSpPr>
        <p:spPr>
          <a:xfrm>
            <a:off x="785813" y="1500188"/>
            <a:ext cx="8020050" cy="1600200"/>
          </a:xfrm>
        </p:spPr>
        <p:txBody>
          <a:bodyPr/>
          <a:lstStyle/>
          <a:p>
            <a:r>
              <a:rPr lang="zh-CN" altLang="en-US" smtClean="0"/>
              <a:t>假定有</a:t>
            </a:r>
            <a:r>
              <a:rPr lang="en-US" altLang="zh-CN" smtClean="0"/>
              <a:t>A</a:t>
            </a:r>
            <a:r>
              <a:rPr lang="zh-CN" altLang="en-US" smtClean="0"/>
              <a:t>～</a:t>
            </a:r>
            <a:r>
              <a:rPr lang="en-US" altLang="zh-CN" smtClean="0"/>
              <a:t>F 6</a:t>
            </a:r>
            <a:r>
              <a:rPr lang="zh-CN" altLang="en-US" smtClean="0"/>
              <a:t>个元素先后进入队列，但</a:t>
            </a:r>
            <a:r>
              <a:rPr lang="en-US" altLang="zh-CN" smtClean="0"/>
              <a:t>A</a:t>
            </a:r>
            <a:r>
              <a:rPr lang="zh-CN" altLang="en-US" smtClean="0"/>
              <a:t>、</a:t>
            </a:r>
            <a:r>
              <a:rPr lang="en-US" altLang="zh-CN" smtClean="0"/>
              <a:t>B</a:t>
            </a:r>
            <a:r>
              <a:rPr lang="zh-CN" altLang="en-US" smtClean="0"/>
              <a:t>两个元素已陆续出队了，故队尾指针</a:t>
            </a:r>
            <a:r>
              <a:rPr lang="en-US" altLang="zh-CN" smtClean="0"/>
              <a:t>r=6</a:t>
            </a:r>
            <a:r>
              <a:rPr lang="zh-CN" altLang="en-US" smtClean="0"/>
              <a:t>，而队头指针</a:t>
            </a:r>
            <a:r>
              <a:rPr lang="en-US" altLang="zh-CN" smtClean="0"/>
              <a:t>f=3</a:t>
            </a:r>
            <a:r>
              <a:rPr lang="zh-CN" altLang="en-US" smtClean="0"/>
              <a:t>。</a:t>
            </a:r>
          </a:p>
        </p:txBody>
      </p:sp>
      <p:graphicFrame>
        <p:nvGraphicFramePr>
          <p:cNvPr id="12290" name="Object 2"/>
          <p:cNvGraphicFramePr>
            <a:graphicFrameLocks noChangeAspect="1"/>
          </p:cNvGraphicFramePr>
          <p:nvPr/>
        </p:nvGraphicFramePr>
        <p:xfrm>
          <a:off x="642938" y="2500313"/>
          <a:ext cx="8153400" cy="3124200"/>
        </p:xfrm>
        <a:graphic>
          <a:graphicData uri="http://schemas.openxmlformats.org/presentationml/2006/ole">
            <mc:AlternateContent xmlns:mc="http://schemas.openxmlformats.org/markup-compatibility/2006">
              <mc:Choice xmlns:v="urn:schemas-microsoft-com:vml" Requires="v">
                <p:oleObj spid="_x0000_s33802" name="Picture2" r:id="rId3" imgW="3591000" imgH="1143000" progId="Word.Picture.8">
                  <p:embed/>
                </p:oleObj>
              </mc:Choice>
              <mc:Fallback>
                <p:oleObj name="Picture2" r:id="rId3" imgW="3591000" imgH="1143000" progId="Word.Picture.8">
                  <p:embed/>
                  <p:pic>
                    <p:nvPicPr>
                      <p:cNvPr id="1229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2938" y="2500313"/>
                        <a:ext cx="8153400" cy="3124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292" name="Rectangle 2"/>
          <p:cNvSpPr>
            <a:spLocks noGrp="1" noChangeArrowheads="1"/>
          </p:cNvSpPr>
          <p:nvPr>
            <p:ph type="title"/>
          </p:nvPr>
        </p:nvSpPr>
        <p:spPr/>
        <p:txBody>
          <a:bodyPr/>
          <a:lstStyle/>
          <a:p>
            <a:pPr eaLnBrk="1" hangingPunct="1"/>
            <a:r>
              <a:rPr lang="en-US" altLang="zh-CN" dirty="0">
                <a:solidFill>
                  <a:srgbClr val="333399"/>
                </a:solidFill>
              </a:rPr>
              <a:t>1.4.</a:t>
            </a:r>
            <a:r>
              <a:rPr lang="en-US" altLang="zh-CN" kern="0" dirty="0" smtClean="0"/>
              <a:t>4 </a:t>
            </a:r>
            <a:r>
              <a:rPr lang="zh-CN" altLang="en-US" kern="0" dirty="0" smtClean="0"/>
              <a:t>堆栈和</a:t>
            </a:r>
            <a:r>
              <a:rPr lang="zh-CN" altLang="en-US" b="1" u="sng" kern="0" dirty="0" smtClean="0"/>
              <a:t>队列</a:t>
            </a:r>
            <a:endParaRPr lang="en-US" altLang="zh-CN" dirty="0" smtClean="0"/>
          </a:p>
        </p:txBody>
      </p:sp>
      <p:sp>
        <p:nvSpPr>
          <p:cNvPr id="12293"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Tree>
    <p:extLst>
      <p:ext uri="{BB962C8B-B14F-4D97-AF65-F5344CB8AC3E}">
        <p14:creationId xmlns:p14="http://schemas.microsoft.com/office/powerpoint/2010/main" val="3468833677"/>
      </p:ext>
    </p:extLst>
  </p:cSld>
  <p:clrMapOvr>
    <a:masterClrMapping/>
  </p:clrMapOvr>
  <p:transition/>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871538" y="357188"/>
            <a:ext cx="7772400" cy="762000"/>
          </a:xfrm>
        </p:spPr>
        <p:txBody>
          <a:bodyPr/>
          <a:lstStyle/>
          <a:p>
            <a:r>
              <a:rPr lang="en-US" altLang="zh-CN" dirty="0">
                <a:solidFill>
                  <a:srgbClr val="333399"/>
                </a:solidFill>
              </a:rPr>
              <a:t>1.4.</a:t>
            </a:r>
            <a:r>
              <a:rPr lang="en-US" altLang="zh-CN" kern="0" dirty="0" smtClean="0"/>
              <a:t>4 </a:t>
            </a:r>
            <a:r>
              <a:rPr lang="zh-CN" altLang="en-US" kern="0" dirty="0" smtClean="0"/>
              <a:t>堆栈和</a:t>
            </a:r>
            <a:r>
              <a:rPr lang="zh-CN" altLang="en-US" b="1" u="sng" kern="0" dirty="0" smtClean="0"/>
              <a:t>队列</a:t>
            </a:r>
            <a:endParaRPr lang="zh-CN" altLang="en-US" dirty="0" smtClean="0"/>
          </a:p>
        </p:txBody>
      </p:sp>
      <p:sp>
        <p:nvSpPr>
          <p:cNvPr id="44035" name="Rectangle 3"/>
          <p:cNvSpPr>
            <a:spLocks noGrp="1" noChangeArrowheads="1"/>
          </p:cNvSpPr>
          <p:nvPr>
            <p:ph type="body" idx="1"/>
          </p:nvPr>
        </p:nvSpPr>
        <p:spPr>
          <a:xfrm>
            <a:off x="871538" y="1268760"/>
            <a:ext cx="8106097" cy="5486400"/>
          </a:xfrm>
        </p:spPr>
        <p:txBody>
          <a:bodyPr/>
          <a:lstStyle/>
          <a:p>
            <a:pPr>
              <a:defRPr/>
            </a:pPr>
            <a:r>
              <a:rPr lang="zh-CN" altLang="en-US" dirty="0" smtClean="0"/>
              <a:t>存在的问题：</a:t>
            </a:r>
            <a:endParaRPr lang="en-US" altLang="zh-CN" dirty="0" smtClean="0"/>
          </a:p>
          <a:p>
            <a:pPr marL="457200" lvl="1" indent="0">
              <a:buNone/>
              <a:defRPr/>
            </a:pPr>
            <a:r>
              <a:rPr lang="zh-CN" altLang="en-US" dirty="0">
                <a:latin typeface="+mn-ea"/>
                <a:ea typeface="+mn-ea"/>
              </a:rPr>
              <a:t>由于队列的入队操作是在两端进行的，随着元素的不断插入，删除，两端都向后移动，队列会很快移动到数组末端造成溢出，而前面的单元无法利用。 </a:t>
            </a:r>
          </a:p>
          <a:p>
            <a:pPr>
              <a:defRPr/>
            </a:pPr>
            <a:r>
              <a:rPr lang="zh-CN" altLang="en-US" dirty="0"/>
              <a:t>解决办法：</a:t>
            </a:r>
          </a:p>
          <a:p>
            <a:pPr lvl="1">
              <a:defRPr/>
            </a:pPr>
            <a:r>
              <a:rPr lang="en-US" altLang="zh-CN" dirty="0">
                <a:latin typeface="+mn-ea"/>
                <a:ea typeface="+mn-ea"/>
              </a:rPr>
              <a:t>1) </a:t>
            </a:r>
            <a:r>
              <a:rPr lang="zh-CN" altLang="en-US" dirty="0">
                <a:latin typeface="+mn-ea"/>
                <a:ea typeface="+mn-ea"/>
              </a:rPr>
              <a:t>每次删除一个元素后，将整个队列向前移动一个单元，保持队列头总固定在数组的第一个单元 。</a:t>
            </a:r>
          </a:p>
          <a:p>
            <a:pPr lvl="1">
              <a:defRPr/>
            </a:pPr>
            <a:r>
              <a:rPr lang="en-US" altLang="zh-CN" dirty="0">
                <a:latin typeface="+mn-ea"/>
                <a:ea typeface="+mn-ea"/>
              </a:rPr>
              <a:t>2) </a:t>
            </a:r>
            <a:r>
              <a:rPr lang="zh-CN" altLang="en-US" dirty="0">
                <a:latin typeface="+mn-ea"/>
                <a:ea typeface="+mn-ea"/>
              </a:rPr>
              <a:t>将所用的数组想象成是头尾相接的圆环，当队列的尾端到达数组的末端（第</a:t>
            </a:r>
            <a:r>
              <a:rPr lang="en-US" altLang="zh-CN" dirty="0">
                <a:latin typeface="+mn-ea"/>
                <a:ea typeface="+mn-ea"/>
              </a:rPr>
              <a:t>n</a:t>
            </a:r>
            <a:r>
              <a:rPr lang="zh-CN" altLang="en-US" dirty="0">
                <a:latin typeface="+mn-ea"/>
                <a:ea typeface="+mn-ea"/>
              </a:rPr>
              <a:t>个单元）时，如果再插入元素可继续使队列向数组的前端（第</a:t>
            </a:r>
            <a:r>
              <a:rPr lang="en-US" altLang="zh-CN" dirty="0">
                <a:latin typeface="+mn-ea"/>
                <a:ea typeface="+mn-ea"/>
              </a:rPr>
              <a:t>1</a:t>
            </a:r>
            <a:r>
              <a:rPr lang="zh-CN" altLang="en-US" dirty="0">
                <a:latin typeface="+mn-ea"/>
                <a:ea typeface="+mn-ea"/>
              </a:rPr>
              <a:t>个单元）延长 ，此队列称为循环队列。</a:t>
            </a:r>
          </a:p>
        </p:txBody>
      </p:sp>
      <p:sp>
        <p:nvSpPr>
          <p:cNvPr id="6144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Tree>
    <p:extLst>
      <p:ext uri="{BB962C8B-B14F-4D97-AF65-F5344CB8AC3E}">
        <p14:creationId xmlns:p14="http://schemas.microsoft.com/office/powerpoint/2010/main" val="3347906560"/>
      </p:ext>
    </p:extLst>
  </p:cSld>
  <p:clrMapOvr>
    <a:masterClrMapping/>
  </p:clrMapOvr>
  <p:transition/>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a:xfrm>
            <a:off x="928688" y="357188"/>
            <a:ext cx="7772400" cy="685800"/>
          </a:xfrm>
        </p:spPr>
        <p:txBody>
          <a:bodyPr/>
          <a:lstStyle/>
          <a:p>
            <a:r>
              <a:rPr lang="en-US" altLang="zh-CN" dirty="0">
                <a:solidFill>
                  <a:srgbClr val="333399"/>
                </a:solidFill>
              </a:rPr>
              <a:t>1.4.</a:t>
            </a:r>
            <a:r>
              <a:rPr lang="en-US" altLang="zh-CN" kern="0" dirty="0" smtClean="0"/>
              <a:t>4 </a:t>
            </a:r>
            <a:r>
              <a:rPr lang="zh-CN" altLang="en-US" kern="0" dirty="0" smtClean="0"/>
              <a:t>堆栈和</a:t>
            </a:r>
            <a:r>
              <a:rPr lang="zh-CN" altLang="en-US" b="1" u="sng" kern="0" dirty="0" smtClean="0"/>
              <a:t>队列</a:t>
            </a:r>
            <a:endParaRPr lang="zh-CN" altLang="en-US" dirty="0" smtClean="0"/>
          </a:p>
        </p:txBody>
      </p:sp>
      <p:sp>
        <p:nvSpPr>
          <p:cNvPr id="13316" name="Rectangle 3"/>
          <p:cNvSpPr>
            <a:spLocks noGrp="1" noChangeArrowheads="1"/>
          </p:cNvSpPr>
          <p:nvPr>
            <p:ph type="body" idx="1"/>
          </p:nvPr>
        </p:nvSpPr>
        <p:spPr>
          <a:xfrm>
            <a:off x="990600" y="1214438"/>
            <a:ext cx="8153400" cy="1219200"/>
          </a:xfrm>
        </p:spPr>
        <p:txBody>
          <a:bodyPr/>
          <a:lstStyle/>
          <a:p>
            <a:pPr marL="0" indent="0">
              <a:buNone/>
            </a:pPr>
            <a:r>
              <a:rPr lang="zh-CN" altLang="en-US" dirty="0" smtClean="0"/>
              <a:t>循环队列：</a:t>
            </a:r>
            <a:endParaRPr lang="en-US" altLang="zh-CN" dirty="0" smtClean="0"/>
          </a:p>
          <a:p>
            <a:r>
              <a:rPr lang="zh-CN" altLang="en-US" dirty="0" smtClean="0"/>
              <a:t>图中阴影部分为队列中元素。</a:t>
            </a:r>
          </a:p>
          <a:p>
            <a:r>
              <a:rPr lang="zh-CN" altLang="en-US" dirty="0" smtClean="0"/>
              <a:t>如何判断一个循环队列是满还是空？ </a:t>
            </a:r>
          </a:p>
        </p:txBody>
      </p:sp>
      <p:graphicFrame>
        <p:nvGraphicFramePr>
          <p:cNvPr id="13314" name="Object 2"/>
          <p:cNvGraphicFramePr>
            <a:graphicFrameLocks noChangeAspect="1"/>
          </p:cNvGraphicFramePr>
          <p:nvPr/>
        </p:nvGraphicFramePr>
        <p:xfrm>
          <a:off x="1500188" y="2357438"/>
          <a:ext cx="6477000" cy="3295650"/>
        </p:xfrm>
        <a:graphic>
          <a:graphicData uri="http://schemas.openxmlformats.org/presentationml/2006/ole">
            <mc:AlternateContent xmlns:mc="http://schemas.openxmlformats.org/markup-compatibility/2006">
              <mc:Choice xmlns:v="urn:schemas-microsoft-com:vml" Requires="v">
                <p:oleObj spid="_x0000_s34826" name="Picture2" r:id="rId3" imgW="2495520" imgH="1257480" progId="Word.Picture.8">
                  <p:embed/>
                </p:oleObj>
              </mc:Choice>
              <mc:Fallback>
                <p:oleObj name="Picture2" r:id="rId3" imgW="2495520" imgH="1257480" progId="Word.Picture.8">
                  <p:embed/>
                  <p:pic>
                    <p:nvPicPr>
                      <p:cNvPr id="1331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0188" y="2357438"/>
                        <a:ext cx="6477000" cy="3295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17"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Tree>
    <p:extLst>
      <p:ext uri="{BB962C8B-B14F-4D97-AF65-F5344CB8AC3E}">
        <p14:creationId xmlns:p14="http://schemas.microsoft.com/office/powerpoint/2010/main" val="4130170318"/>
      </p:ext>
    </p:extLst>
  </p:cSld>
  <p:clrMapOvr>
    <a:masterClrMapping/>
  </p:clrMapOvr>
  <p:transition/>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830796" y="358552"/>
            <a:ext cx="7772400" cy="838200"/>
          </a:xfrm>
        </p:spPr>
        <p:txBody>
          <a:bodyPr/>
          <a:lstStyle/>
          <a:p>
            <a:r>
              <a:rPr lang="en-US" altLang="zh-CN" dirty="0">
                <a:solidFill>
                  <a:srgbClr val="333399"/>
                </a:solidFill>
              </a:rPr>
              <a:t>1.4.</a:t>
            </a:r>
            <a:r>
              <a:rPr lang="en-US" altLang="zh-CN" kern="0" dirty="0" smtClean="0"/>
              <a:t>4 </a:t>
            </a:r>
            <a:r>
              <a:rPr lang="zh-CN" altLang="en-US" kern="0" dirty="0" smtClean="0"/>
              <a:t>堆栈和</a:t>
            </a:r>
            <a:r>
              <a:rPr lang="zh-CN" altLang="en-US" b="1" u="sng" kern="0" dirty="0" smtClean="0"/>
              <a:t>队列</a:t>
            </a:r>
            <a:endParaRPr lang="zh-CN" altLang="en-US" dirty="0" smtClean="0"/>
          </a:p>
        </p:txBody>
      </p:sp>
      <p:sp>
        <p:nvSpPr>
          <p:cNvPr id="62467" name="Rectangle 3"/>
          <p:cNvSpPr>
            <a:spLocks noGrp="1" noChangeArrowheads="1"/>
          </p:cNvSpPr>
          <p:nvPr>
            <p:ph type="body" idx="1"/>
          </p:nvPr>
        </p:nvSpPr>
        <p:spPr>
          <a:xfrm>
            <a:off x="899592" y="1196752"/>
            <a:ext cx="7634808" cy="4800600"/>
          </a:xfrm>
        </p:spPr>
        <p:txBody>
          <a:bodyPr/>
          <a:lstStyle/>
          <a:p>
            <a:pPr marL="0" indent="0">
              <a:buNone/>
            </a:pPr>
            <a:r>
              <a:rPr lang="zh-CN" altLang="en-US" dirty="0" smtClean="0"/>
              <a:t>如何判断队列是满是空？</a:t>
            </a:r>
            <a:endParaRPr lang="en-US" altLang="zh-CN" dirty="0" smtClean="0"/>
          </a:p>
          <a:p>
            <a:r>
              <a:rPr lang="zh-CN" altLang="en-US" dirty="0" smtClean="0">
                <a:solidFill>
                  <a:srgbClr val="FF0000"/>
                </a:solidFill>
              </a:rPr>
              <a:t>满</a:t>
            </a:r>
            <a:r>
              <a:rPr lang="zh-CN" altLang="en-US" dirty="0" smtClean="0"/>
              <a:t>：队尾经过一个循环而到达队首的前一个单元时，这种情况下如果再插入新的元素时，新元素就要把原队头的元素覆盖，因此，当</a:t>
            </a:r>
            <a:r>
              <a:rPr lang="en-US" altLang="zh-CN" dirty="0" smtClean="0"/>
              <a:t>r=f</a:t>
            </a:r>
            <a:r>
              <a:rPr lang="zh-CN" altLang="en-US" dirty="0" smtClean="0"/>
              <a:t>时，插入新的元素会造成队列首尾重叠；</a:t>
            </a:r>
          </a:p>
          <a:p>
            <a:pPr lvl="1">
              <a:buFontTx/>
              <a:buNone/>
            </a:pPr>
            <a:r>
              <a:rPr lang="zh-CN" altLang="en-US" dirty="0" smtClean="0">
                <a:latin typeface="Arial" panose="020B0604020202020204" pitchFamily="34" charset="0"/>
              </a:rPr>
              <a:t> </a:t>
            </a:r>
          </a:p>
          <a:p>
            <a:r>
              <a:rPr lang="zh-CN" altLang="en-US" dirty="0" smtClean="0">
                <a:solidFill>
                  <a:srgbClr val="FF0000"/>
                </a:solidFill>
              </a:rPr>
              <a:t>空</a:t>
            </a:r>
            <a:r>
              <a:rPr lang="zh-CN" altLang="en-US" dirty="0" smtClean="0"/>
              <a:t>：在队列进行删除运算时，当</a:t>
            </a:r>
            <a:r>
              <a:rPr lang="en-US" altLang="zh-CN" dirty="0" smtClean="0"/>
              <a:t>f=r</a:t>
            </a:r>
            <a:r>
              <a:rPr lang="zh-CN" altLang="en-US" dirty="0" smtClean="0"/>
              <a:t>时表明删除的是队列的最后一个元素，删除这个元素后，队列就变成空队列。 </a:t>
            </a:r>
          </a:p>
        </p:txBody>
      </p:sp>
      <p:sp>
        <p:nvSpPr>
          <p:cNvPr id="62468"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Tree>
    <p:extLst>
      <p:ext uri="{BB962C8B-B14F-4D97-AF65-F5344CB8AC3E}">
        <p14:creationId xmlns:p14="http://schemas.microsoft.com/office/powerpoint/2010/main" val="2015636583"/>
      </p:ext>
    </p:extLst>
  </p:cSld>
  <p:clrMapOvr>
    <a:masterClrMapping/>
  </p:clrMapOvr>
  <p:transition/>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en-US" altLang="zh-CN" dirty="0" smtClean="0">
                <a:solidFill>
                  <a:srgbClr val="333399"/>
                </a:solidFill>
              </a:rPr>
              <a:t>1.4.</a:t>
            </a:r>
            <a:r>
              <a:rPr lang="en-US" altLang="zh-CN" dirty="0"/>
              <a:t>5</a:t>
            </a:r>
            <a:r>
              <a:rPr lang="en-US" altLang="zh-CN" kern="0" dirty="0" smtClean="0"/>
              <a:t> </a:t>
            </a:r>
            <a:r>
              <a:rPr lang="zh-CN" altLang="en-US" kern="0" dirty="0" smtClean="0"/>
              <a:t>图</a:t>
            </a:r>
            <a:endParaRPr lang="zh-CN" altLang="en-US" dirty="0" smtClean="0"/>
          </a:p>
        </p:txBody>
      </p:sp>
      <p:sp>
        <p:nvSpPr>
          <p:cNvPr id="6147" name="Rectangle 3"/>
          <p:cNvSpPr>
            <a:spLocks noGrp="1" noChangeArrowheads="1"/>
          </p:cNvSpPr>
          <p:nvPr>
            <p:ph type="body" idx="1"/>
          </p:nvPr>
        </p:nvSpPr>
        <p:spPr>
          <a:xfrm>
            <a:off x="900113" y="1268413"/>
            <a:ext cx="7848600" cy="4525962"/>
          </a:xfrm>
        </p:spPr>
        <p:txBody>
          <a:bodyPr/>
          <a:lstStyle/>
          <a:p>
            <a:r>
              <a:rPr lang="zh-CN" altLang="en-US" sz="2400" dirty="0" smtClean="0"/>
              <a:t>图是一种比线性表和树更为复杂的数据结构。在图中，元素间的关系是多对多的，即任何两个元素都有可能存在关系。</a:t>
            </a:r>
          </a:p>
          <a:p>
            <a:r>
              <a:rPr lang="zh-CN" altLang="en-US" sz="2400" dirty="0" smtClean="0"/>
              <a:t>图的应用非常广泛，已渗入到诸如语言学、逻辑学、物理、化学、电讯工程、计算机科学以及数学的其它分支中</a:t>
            </a:r>
            <a:r>
              <a:rPr lang="en-US" altLang="zh-CN" sz="2400" dirty="0" smtClean="0"/>
              <a:t>(</a:t>
            </a:r>
            <a:r>
              <a:rPr lang="zh-CN" altLang="en-US" sz="2400" dirty="0" smtClean="0"/>
              <a:t>日常生活中的交通图等</a:t>
            </a:r>
            <a:r>
              <a:rPr lang="en-US" altLang="zh-CN" sz="2400" dirty="0" smtClean="0"/>
              <a:t>)</a:t>
            </a:r>
            <a:r>
              <a:rPr lang="zh-CN" altLang="en-US" sz="2400" dirty="0" smtClean="0"/>
              <a:t>。</a:t>
            </a:r>
          </a:p>
          <a:p>
            <a:r>
              <a:rPr lang="zh-CN" altLang="en-US" sz="2400" dirty="0" smtClean="0"/>
              <a:t>在离散数学中，图论是专门研究图的性质的数学分支。</a:t>
            </a:r>
          </a:p>
          <a:p>
            <a:r>
              <a:rPr lang="zh-CN" altLang="en-US" sz="2400" dirty="0" smtClean="0"/>
              <a:t>在数据结构中对图的讨论主要侧重于图在计算机中的存储方式和有关操作的算法。</a:t>
            </a:r>
          </a:p>
        </p:txBody>
      </p:sp>
      <p:sp>
        <p:nvSpPr>
          <p:cNvPr id="63492"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Tree>
    <p:extLst>
      <p:ext uri="{BB962C8B-B14F-4D97-AF65-F5344CB8AC3E}">
        <p14:creationId xmlns:p14="http://schemas.microsoft.com/office/powerpoint/2010/main" val="13521201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 calcmode="lin" valueType="num">
                                      <p:cBhvr additive="base">
                                        <p:cTn id="7" dur="500" fill="hold"/>
                                        <p:tgtEl>
                                          <p:spTgt spid="614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147">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6147">
                                            <p:txEl>
                                              <p:pRg st="1" end="1"/>
                                            </p:txEl>
                                          </p:spTgt>
                                        </p:tgtEl>
                                        <p:attrNameLst>
                                          <p:attrName>style.visibility</p:attrName>
                                        </p:attrNameLst>
                                      </p:cBhvr>
                                      <p:to>
                                        <p:strVal val="visible"/>
                                      </p:to>
                                    </p:set>
                                    <p:anim calcmode="lin" valueType="num">
                                      <p:cBhvr additive="base">
                                        <p:cTn id="13" dur="500" fill="hold"/>
                                        <p:tgtEl>
                                          <p:spTgt spid="614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147">
                                            <p:txEl>
                                              <p:pRg st="1" end="1"/>
                                            </p:txEl>
                                          </p:spTgt>
                                        </p:tgtEl>
                                        <p:attrNameLst>
                                          <p:attrName>ppt_y</p:attrName>
                                        </p:attrNameLst>
                                      </p:cBhvr>
                                      <p:tavLst>
                                        <p:tav tm="0">
                                          <p:val>
                                            <p:strVal val="0-#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1" fill="hold" grpId="0" nodeType="clickEffect">
                                  <p:stCondLst>
                                    <p:cond delay="0"/>
                                  </p:stCondLst>
                                  <p:childTnLst>
                                    <p:set>
                                      <p:cBhvr>
                                        <p:cTn id="18" dur="1" fill="hold">
                                          <p:stCondLst>
                                            <p:cond delay="0"/>
                                          </p:stCondLst>
                                        </p:cTn>
                                        <p:tgtEl>
                                          <p:spTgt spid="6147">
                                            <p:txEl>
                                              <p:pRg st="2" end="2"/>
                                            </p:txEl>
                                          </p:spTgt>
                                        </p:tgtEl>
                                        <p:attrNameLst>
                                          <p:attrName>style.visibility</p:attrName>
                                        </p:attrNameLst>
                                      </p:cBhvr>
                                      <p:to>
                                        <p:strVal val="visible"/>
                                      </p:to>
                                    </p:set>
                                    <p:anim calcmode="lin" valueType="num">
                                      <p:cBhvr additive="base">
                                        <p:cTn id="19" dur="500" fill="hold"/>
                                        <p:tgtEl>
                                          <p:spTgt spid="614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147">
                                            <p:txEl>
                                              <p:pRg st="2" end="2"/>
                                            </p:txEl>
                                          </p:spTgt>
                                        </p:tgtEl>
                                        <p:attrNameLst>
                                          <p:attrName>ppt_y</p:attrName>
                                        </p:attrNameLst>
                                      </p:cBhvr>
                                      <p:tavLst>
                                        <p:tav tm="0">
                                          <p:val>
                                            <p:strVal val="0-#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1" fill="hold" grpId="0" nodeType="clickEffect">
                                  <p:stCondLst>
                                    <p:cond delay="0"/>
                                  </p:stCondLst>
                                  <p:childTnLst>
                                    <p:set>
                                      <p:cBhvr>
                                        <p:cTn id="24" dur="1" fill="hold">
                                          <p:stCondLst>
                                            <p:cond delay="0"/>
                                          </p:stCondLst>
                                        </p:cTn>
                                        <p:tgtEl>
                                          <p:spTgt spid="6147">
                                            <p:txEl>
                                              <p:pRg st="3" end="3"/>
                                            </p:txEl>
                                          </p:spTgt>
                                        </p:tgtEl>
                                        <p:attrNameLst>
                                          <p:attrName>style.visibility</p:attrName>
                                        </p:attrNameLst>
                                      </p:cBhvr>
                                      <p:to>
                                        <p:strVal val="visible"/>
                                      </p:to>
                                    </p:set>
                                    <p:anim calcmode="lin" valueType="num">
                                      <p:cBhvr additive="base">
                                        <p:cTn id="25" dur="500" fill="hold"/>
                                        <p:tgtEl>
                                          <p:spTgt spid="614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147">
                                            <p:txEl>
                                              <p:pRg st="3" end="3"/>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autoUpdateAnimBg="0"/>
    </p:bld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64515" name="Rectangle 2"/>
          <p:cNvSpPr>
            <a:spLocks noGrp="1" noChangeArrowheads="1"/>
          </p:cNvSpPr>
          <p:nvPr>
            <p:ph type="title"/>
          </p:nvPr>
        </p:nvSpPr>
        <p:spPr/>
        <p:txBody>
          <a:bodyPr/>
          <a:lstStyle/>
          <a:p>
            <a:pPr eaLnBrk="1" hangingPunct="1"/>
            <a:r>
              <a:rPr lang="en-US" altLang="zh-CN" dirty="0">
                <a:solidFill>
                  <a:srgbClr val="333399"/>
                </a:solidFill>
              </a:rPr>
              <a:t>1.4.</a:t>
            </a:r>
            <a:r>
              <a:rPr lang="en-US" altLang="zh-CN" dirty="0" smtClean="0"/>
              <a:t>5</a:t>
            </a:r>
            <a:r>
              <a:rPr lang="en-US" altLang="zh-CN" kern="0" dirty="0" smtClean="0"/>
              <a:t> </a:t>
            </a:r>
            <a:r>
              <a:rPr lang="zh-CN" altLang="en-US" kern="0" dirty="0" smtClean="0"/>
              <a:t>图</a:t>
            </a:r>
            <a:endParaRPr lang="en-US" altLang="zh-CN" dirty="0" smtClean="0"/>
          </a:p>
        </p:txBody>
      </p:sp>
      <p:sp>
        <p:nvSpPr>
          <p:cNvPr id="97283" name="Rectangle 3"/>
          <p:cNvSpPr>
            <a:spLocks noGrp="1" noChangeArrowheads="1"/>
          </p:cNvSpPr>
          <p:nvPr>
            <p:ph type="body" idx="1"/>
          </p:nvPr>
        </p:nvSpPr>
        <p:spPr/>
        <p:txBody>
          <a:bodyPr/>
          <a:lstStyle/>
          <a:p>
            <a:pPr eaLnBrk="1" hangingPunct="1">
              <a:defRPr/>
            </a:pPr>
            <a:r>
              <a:rPr lang="zh-CN" altLang="en-US" sz="2700" dirty="0" smtClean="0"/>
              <a:t>图</a:t>
            </a:r>
            <a:r>
              <a:rPr lang="en-US" altLang="zh-CN" sz="2700" dirty="0" smtClean="0"/>
              <a:t>: </a:t>
            </a:r>
          </a:p>
          <a:p>
            <a:pPr lvl="1" eaLnBrk="1" hangingPunct="1">
              <a:defRPr/>
            </a:pPr>
            <a:r>
              <a:rPr lang="zh-CN" altLang="en-US" sz="2300" dirty="0" smtClean="0">
                <a:latin typeface="+mn-lt"/>
                <a:ea typeface="+mn-ea"/>
              </a:rPr>
              <a:t>图</a:t>
            </a:r>
            <a:r>
              <a:rPr lang="en-US" altLang="zh-CN" sz="2300" i="1" dirty="0" smtClean="0">
                <a:latin typeface="+mn-lt"/>
                <a:ea typeface="+mn-ea"/>
              </a:rPr>
              <a:t>G=(V,E)</a:t>
            </a:r>
            <a:r>
              <a:rPr lang="en-US" altLang="zh-CN" sz="2300" dirty="0" smtClean="0">
                <a:latin typeface="+mn-lt"/>
                <a:ea typeface="+mn-ea"/>
              </a:rPr>
              <a:t> </a:t>
            </a:r>
            <a:r>
              <a:rPr lang="zh-CN" altLang="en-US" sz="2300" dirty="0" smtClean="0">
                <a:latin typeface="+mn-lt"/>
                <a:ea typeface="+mn-ea"/>
              </a:rPr>
              <a:t>由一个顶点集合</a:t>
            </a:r>
            <a:r>
              <a:rPr lang="en-US" altLang="zh-CN" sz="2300" i="1" dirty="0" smtClean="0">
                <a:latin typeface="+mn-lt"/>
                <a:ea typeface="+mn-ea"/>
              </a:rPr>
              <a:t>V={v</a:t>
            </a:r>
            <a:r>
              <a:rPr lang="en-US" altLang="zh-CN" sz="2300" i="1" baseline="-25000" dirty="0" smtClean="0">
                <a:latin typeface="+mn-lt"/>
                <a:ea typeface="+mn-ea"/>
              </a:rPr>
              <a:t>1</a:t>
            </a:r>
            <a:r>
              <a:rPr lang="en-US" altLang="zh-CN" sz="2300" i="1" dirty="0" smtClean="0">
                <a:latin typeface="+mn-lt"/>
                <a:ea typeface="+mn-ea"/>
              </a:rPr>
              <a:t>,v</a:t>
            </a:r>
            <a:r>
              <a:rPr lang="en-US" altLang="zh-CN" sz="2300" i="1" baseline="-25000" dirty="0" smtClean="0">
                <a:latin typeface="+mn-lt"/>
                <a:ea typeface="+mn-ea"/>
              </a:rPr>
              <a:t>2</a:t>
            </a:r>
            <a:r>
              <a:rPr lang="en-US" altLang="zh-CN" sz="2300" i="1" dirty="0" smtClean="0">
                <a:latin typeface="+mn-lt"/>
                <a:ea typeface="+mn-ea"/>
              </a:rPr>
              <a:t>,…,</a:t>
            </a:r>
            <a:r>
              <a:rPr lang="en-US" altLang="zh-CN" sz="2300" i="1" dirty="0" err="1" smtClean="0">
                <a:latin typeface="+mn-lt"/>
                <a:ea typeface="+mn-ea"/>
              </a:rPr>
              <a:t>v</a:t>
            </a:r>
            <a:r>
              <a:rPr lang="en-US" altLang="zh-CN" sz="2300" i="1" baseline="-25000" dirty="0" err="1" smtClean="0">
                <a:latin typeface="+mn-lt"/>
                <a:ea typeface="+mn-ea"/>
              </a:rPr>
              <a:t>n</a:t>
            </a:r>
            <a:r>
              <a:rPr lang="en-US" altLang="zh-CN" sz="2300" i="1" dirty="0" smtClean="0">
                <a:latin typeface="+mn-lt"/>
                <a:ea typeface="+mn-ea"/>
              </a:rPr>
              <a:t>}</a:t>
            </a:r>
            <a:r>
              <a:rPr lang="en-US" altLang="zh-CN" sz="2300" dirty="0" smtClean="0">
                <a:latin typeface="+mn-lt"/>
                <a:ea typeface="+mn-ea"/>
              </a:rPr>
              <a:t> </a:t>
            </a:r>
            <a:r>
              <a:rPr lang="zh-CN" altLang="en-US" sz="2300" dirty="0" smtClean="0">
                <a:latin typeface="+mn-lt"/>
                <a:ea typeface="+mn-ea"/>
              </a:rPr>
              <a:t>和一个边的集合</a:t>
            </a:r>
            <a:r>
              <a:rPr lang="en-US" altLang="zh-CN" sz="2300" dirty="0" smtClean="0">
                <a:latin typeface="+mn-lt"/>
                <a:ea typeface="+mn-ea"/>
              </a:rPr>
              <a:t>E</a:t>
            </a:r>
            <a:r>
              <a:rPr lang="zh-CN" altLang="en-US" sz="2300" dirty="0" smtClean="0">
                <a:latin typeface="+mn-lt"/>
                <a:ea typeface="+mn-ea"/>
              </a:rPr>
              <a:t>组成。</a:t>
            </a:r>
            <a:r>
              <a:rPr lang="en-US" altLang="zh-CN" sz="2300" dirty="0" smtClean="0">
                <a:latin typeface="+mn-lt"/>
                <a:ea typeface="+mn-ea"/>
              </a:rPr>
              <a:t>G</a:t>
            </a:r>
            <a:r>
              <a:rPr lang="zh-CN" altLang="en-US" sz="2300" dirty="0" smtClean="0">
                <a:latin typeface="+mn-lt"/>
                <a:ea typeface="+mn-ea"/>
              </a:rPr>
              <a:t>可以是有向的也可以是无向的。如果</a:t>
            </a:r>
            <a:r>
              <a:rPr lang="en-US" altLang="zh-CN" sz="2300" dirty="0" smtClean="0">
                <a:latin typeface="+mn-lt"/>
                <a:ea typeface="+mn-ea"/>
              </a:rPr>
              <a:t>G</a:t>
            </a:r>
            <a:r>
              <a:rPr lang="zh-CN" altLang="en-US" sz="2300" dirty="0" smtClean="0">
                <a:latin typeface="+mn-lt"/>
                <a:ea typeface="+mn-ea"/>
              </a:rPr>
              <a:t>是</a:t>
            </a:r>
            <a:r>
              <a:rPr lang="zh-CN" altLang="en-US" sz="2300" dirty="0" smtClean="0">
                <a:solidFill>
                  <a:srgbClr val="FF0000"/>
                </a:solidFill>
                <a:latin typeface="+mn-lt"/>
                <a:ea typeface="+mn-ea"/>
              </a:rPr>
              <a:t>无向的</a:t>
            </a:r>
            <a:r>
              <a:rPr lang="zh-CN" altLang="en-US" sz="2300" dirty="0" smtClean="0">
                <a:latin typeface="+mn-lt"/>
                <a:ea typeface="+mn-ea"/>
              </a:rPr>
              <a:t>，那么</a:t>
            </a:r>
            <a:r>
              <a:rPr lang="en-US" altLang="zh-CN" sz="2300" dirty="0" smtClean="0">
                <a:latin typeface="+mn-lt"/>
                <a:ea typeface="+mn-ea"/>
              </a:rPr>
              <a:t>E</a:t>
            </a:r>
            <a:r>
              <a:rPr lang="zh-CN" altLang="en-US" sz="2300" dirty="0" smtClean="0">
                <a:latin typeface="+mn-lt"/>
                <a:ea typeface="+mn-ea"/>
              </a:rPr>
              <a:t>中的每一条边都是无序的顶点对；如果</a:t>
            </a:r>
            <a:r>
              <a:rPr lang="en-US" altLang="zh-CN" sz="2300" dirty="0" smtClean="0">
                <a:latin typeface="+mn-lt"/>
                <a:ea typeface="+mn-ea"/>
              </a:rPr>
              <a:t>G</a:t>
            </a:r>
            <a:r>
              <a:rPr lang="zh-CN" altLang="en-US" sz="2300" dirty="0" smtClean="0">
                <a:latin typeface="+mn-lt"/>
                <a:ea typeface="+mn-ea"/>
              </a:rPr>
              <a:t>是</a:t>
            </a:r>
            <a:r>
              <a:rPr lang="zh-CN" altLang="en-US" sz="2300" dirty="0" smtClean="0">
                <a:solidFill>
                  <a:srgbClr val="FF0000"/>
                </a:solidFill>
                <a:latin typeface="+mn-lt"/>
                <a:ea typeface="+mn-ea"/>
              </a:rPr>
              <a:t>有向的</a:t>
            </a:r>
            <a:r>
              <a:rPr lang="zh-CN" altLang="en-US" sz="2300" dirty="0" smtClean="0">
                <a:latin typeface="+mn-lt"/>
                <a:ea typeface="+mn-ea"/>
              </a:rPr>
              <a:t>，那么</a:t>
            </a:r>
            <a:r>
              <a:rPr lang="en-US" altLang="zh-CN" sz="2300" dirty="0" smtClean="0">
                <a:latin typeface="+mn-lt"/>
                <a:ea typeface="+mn-ea"/>
              </a:rPr>
              <a:t>E</a:t>
            </a:r>
            <a:r>
              <a:rPr lang="zh-CN" altLang="en-US" sz="2300" dirty="0" smtClean="0">
                <a:latin typeface="+mn-lt"/>
                <a:ea typeface="+mn-ea"/>
              </a:rPr>
              <a:t>中的每一条边都是一个有序的顶点对。</a:t>
            </a:r>
            <a:endParaRPr lang="en-US" altLang="zh-CN" sz="2300" dirty="0" smtClean="0">
              <a:latin typeface="+mn-lt"/>
              <a:ea typeface="+mn-ea"/>
            </a:endParaRPr>
          </a:p>
          <a:p>
            <a:pPr eaLnBrk="1" hangingPunct="1">
              <a:defRPr/>
            </a:pPr>
            <a:r>
              <a:rPr lang="zh-CN" altLang="en-US" sz="2700" dirty="0" smtClean="0"/>
              <a:t>邻接</a:t>
            </a:r>
            <a:r>
              <a:rPr lang="en-US" altLang="zh-CN" sz="2700" dirty="0" smtClean="0"/>
              <a:t>: </a:t>
            </a:r>
          </a:p>
          <a:p>
            <a:pPr lvl="1" eaLnBrk="1" hangingPunct="1">
              <a:defRPr/>
            </a:pPr>
            <a:r>
              <a:rPr lang="zh-CN" altLang="en-US" sz="2300" dirty="0" smtClean="0">
                <a:latin typeface="+mn-lt"/>
                <a:ea typeface="+mn-ea"/>
              </a:rPr>
              <a:t>设</a:t>
            </a:r>
            <a:r>
              <a:rPr lang="en-US" altLang="zh-CN" sz="2300" dirty="0" smtClean="0">
                <a:latin typeface="+mn-lt"/>
                <a:ea typeface="+mn-ea"/>
              </a:rPr>
              <a:t> (</a:t>
            </a:r>
            <a:r>
              <a:rPr lang="en-US" altLang="zh-CN" sz="2300" dirty="0" err="1" smtClean="0">
                <a:latin typeface="+mn-lt"/>
                <a:ea typeface="+mn-ea"/>
              </a:rPr>
              <a:t>v</a:t>
            </a:r>
            <a:r>
              <a:rPr lang="en-US" altLang="zh-CN" sz="2300" baseline="-25000" dirty="0" err="1" smtClean="0">
                <a:latin typeface="+mn-lt"/>
                <a:ea typeface="+mn-ea"/>
              </a:rPr>
              <a:t>i</a:t>
            </a:r>
            <a:r>
              <a:rPr lang="en-US" altLang="zh-CN" sz="2300" dirty="0" err="1" smtClean="0">
                <a:latin typeface="+mn-lt"/>
                <a:ea typeface="+mn-ea"/>
              </a:rPr>
              <a:t>,v</a:t>
            </a:r>
            <a:r>
              <a:rPr lang="en-US" altLang="zh-CN" sz="2300" baseline="-25000" dirty="0" err="1" smtClean="0">
                <a:latin typeface="+mn-lt"/>
                <a:ea typeface="+mn-ea"/>
              </a:rPr>
              <a:t>j</a:t>
            </a:r>
            <a:r>
              <a:rPr lang="en-US" altLang="zh-CN" sz="2300" dirty="0" smtClean="0">
                <a:latin typeface="+mn-lt"/>
                <a:ea typeface="+mn-ea"/>
              </a:rPr>
              <a:t>) </a:t>
            </a:r>
            <a:r>
              <a:rPr lang="zh-CN" altLang="en-US" sz="2300" dirty="0" smtClean="0">
                <a:latin typeface="+mn-lt"/>
                <a:ea typeface="+mn-ea"/>
              </a:rPr>
              <a:t>是</a:t>
            </a:r>
            <a:r>
              <a:rPr lang="en-US" altLang="zh-CN" sz="2300" dirty="0" smtClean="0">
                <a:latin typeface="+mn-lt"/>
                <a:ea typeface="+mn-ea"/>
              </a:rPr>
              <a:t>E</a:t>
            </a:r>
            <a:r>
              <a:rPr lang="zh-CN" altLang="en-US" sz="2300" dirty="0" smtClean="0">
                <a:latin typeface="+mn-lt"/>
                <a:ea typeface="+mn-ea"/>
              </a:rPr>
              <a:t>的一条边，如果图是无向的，那么</a:t>
            </a:r>
            <a:r>
              <a:rPr lang="en-US" altLang="zh-CN" sz="2300" dirty="0" smtClean="0">
                <a:latin typeface="+mn-lt"/>
                <a:ea typeface="+mn-ea"/>
              </a:rPr>
              <a:t>v</a:t>
            </a:r>
            <a:r>
              <a:rPr lang="en-US" altLang="zh-CN" sz="2300" baseline="-25000" dirty="0" smtClean="0">
                <a:latin typeface="+mn-lt"/>
                <a:ea typeface="+mn-ea"/>
              </a:rPr>
              <a:t>i</a:t>
            </a:r>
            <a:r>
              <a:rPr lang="en-US" altLang="zh-CN" sz="2300" dirty="0" smtClean="0">
                <a:latin typeface="+mn-lt"/>
                <a:ea typeface="+mn-ea"/>
              </a:rPr>
              <a:t> </a:t>
            </a:r>
            <a:r>
              <a:rPr lang="zh-CN" altLang="en-US" sz="2300" dirty="0" smtClean="0">
                <a:latin typeface="+mn-lt"/>
                <a:ea typeface="+mn-ea"/>
              </a:rPr>
              <a:t>和</a:t>
            </a:r>
            <a:r>
              <a:rPr lang="en-US" altLang="zh-CN" sz="2300" dirty="0" smtClean="0">
                <a:latin typeface="+mn-lt"/>
                <a:ea typeface="+mn-ea"/>
              </a:rPr>
              <a:t> </a:t>
            </a:r>
            <a:r>
              <a:rPr lang="en-US" altLang="zh-CN" sz="2300" dirty="0" err="1" smtClean="0">
                <a:latin typeface="+mn-lt"/>
                <a:ea typeface="+mn-ea"/>
              </a:rPr>
              <a:t>v</a:t>
            </a:r>
            <a:r>
              <a:rPr lang="en-US" altLang="zh-CN" sz="2300" baseline="-25000" dirty="0" err="1" smtClean="0">
                <a:latin typeface="+mn-lt"/>
                <a:ea typeface="+mn-ea"/>
              </a:rPr>
              <a:t>j</a:t>
            </a:r>
            <a:r>
              <a:rPr lang="en-US" altLang="zh-CN" sz="2300" dirty="0" smtClean="0">
                <a:latin typeface="+mn-lt"/>
                <a:ea typeface="+mn-ea"/>
              </a:rPr>
              <a:t> </a:t>
            </a:r>
            <a:r>
              <a:rPr lang="zh-CN" altLang="en-US" sz="2300" dirty="0" smtClean="0">
                <a:latin typeface="+mn-lt"/>
                <a:ea typeface="+mn-ea"/>
              </a:rPr>
              <a:t>互相邻接，如果图是有向的，那么</a:t>
            </a:r>
            <a:r>
              <a:rPr lang="en-US" altLang="zh-CN" sz="2300" dirty="0" err="1" smtClean="0">
                <a:latin typeface="+mn-lt"/>
                <a:ea typeface="+mn-ea"/>
              </a:rPr>
              <a:t>v</a:t>
            </a:r>
            <a:r>
              <a:rPr lang="en-US" altLang="zh-CN" sz="2300" baseline="-25000" dirty="0" err="1" smtClean="0">
                <a:latin typeface="+mn-lt"/>
                <a:ea typeface="+mn-ea"/>
              </a:rPr>
              <a:t>j</a:t>
            </a:r>
            <a:r>
              <a:rPr lang="en-US" altLang="zh-CN" sz="2300" dirty="0" smtClean="0">
                <a:latin typeface="+mn-lt"/>
                <a:ea typeface="+mn-ea"/>
              </a:rPr>
              <a:t> </a:t>
            </a:r>
            <a:r>
              <a:rPr lang="zh-CN" altLang="en-US" sz="2300" dirty="0" smtClean="0">
                <a:latin typeface="+mn-lt"/>
                <a:ea typeface="+mn-ea"/>
              </a:rPr>
              <a:t>邻接于</a:t>
            </a:r>
            <a:r>
              <a:rPr lang="en-US" altLang="zh-CN" sz="2300" dirty="0" smtClean="0">
                <a:latin typeface="+mn-lt"/>
                <a:ea typeface="+mn-ea"/>
              </a:rPr>
              <a:t>v</a:t>
            </a:r>
            <a:r>
              <a:rPr lang="en-US" altLang="zh-CN" sz="2300" baseline="-25000" dirty="0" smtClean="0">
                <a:latin typeface="+mn-lt"/>
                <a:ea typeface="+mn-ea"/>
              </a:rPr>
              <a:t>i</a:t>
            </a:r>
            <a:r>
              <a:rPr lang="en-US" altLang="zh-CN" sz="2300" dirty="0" smtClean="0">
                <a:latin typeface="+mn-lt"/>
                <a:ea typeface="+mn-ea"/>
              </a:rPr>
              <a:t>, </a:t>
            </a:r>
            <a:r>
              <a:rPr lang="zh-CN" altLang="en-US" sz="2300" dirty="0" smtClean="0">
                <a:latin typeface="+mn-lt"/>
                <a:ea typeface="+mn-ea"/>
              </a:rPr>
              <a:t>但</a:t>
            </a:r>
            <a:r>
              <a:rPr lang="en-US" altLang="zh-CN" sz="2300" dirty="0" smtClean="0">
                <a:latin typeface="+mn-lt"/>
                <a:ea typeface="+mn-ea"/>
              </a:rPr>
              <a:t> v</a:t>
            </a:r>
            <a:r>
              <a:rPr lang="en-US" altLang="zh-CN" sz="2300" baseline="-25000" dirty="0" smtClean="0">
                <a:latin typeface="+mn-lt"/>
                <a:ea typeface="+mn-ea"/>
              </a:rPr>
              <a:t>i</a:t>
            </a:r>
            <a:r>
              <a:rPr lang="en-US" altLang="zh-CN" sz="2300" dirty="0" smtClean="0">
                <a:latin typeface="+mn-lt"/>
                <a:ea typeface="+mn-ea"/>
              </a:rPr>
              <a:t> </a:t>
            </a:r>
            <a:r>
              <a:rPr lang="zh-CN" altLang="en-US" sz="2300" dirty="0" smtClean="0">
                <a:latin typeface="+mn-lt"/>
                <a:ea typeface="+mn-ea"/>
              </a:rPr>
              <a:t>不邻接于</a:t>
            </a:r>
            <a:r>
              <a:rPr lang="en-US" altLang="zh-CN" sz="2300" dirty="0" err="1" smtClean="0">
                <a:latin typeface="+mn-lt"/>
                <a:ea typeface="+mn-ea"/>
              </a:rPr>
              <a:t>v</a:t>
            </a:r>
            <a:r>
              <a:rPr lang="en-US" altLang="zh-CN" sz="2300" baseline="-25000" dirty="0" err="1" smtClean="0">
                <a:latin typeface="+mn-lt"/>
                <a:ea typeface="+mn-ea"/>
              </a:rPr>
              <a:t>j</a:t>
            </a:r>
            <a:r>
              <a:rPr lang="en-US" altLang="zh-CN" sz="2300" dirty="0" smtClean="0">
                <a:latin typeface="+mn-lt"/>
                <a:ea typeface="+mn-ea"/>
              </a:rPr>
              <a:t> </a:t>
            </a:r>
            <a:r>
              <a:rPr lang="zh-CN" altLang="en-US" sz="2300" dirty="0" smtClean="0">
                <a:latin typeface="+mn-lt"/>
                <a:ea typeface="+mn-ea"/>
              </a:rPr>
              <a:t>，除非</a:t>
            </a:r>
            <a:r>
              <a:rPr lang="en-US" altLang="zh-CN" sz="2300" dirty="0" smtClean="0">
                <a:latin typeface="+mn-lt"/>
                <a:ea typeface="+mn-ea"/>
              </a:rPr>
              <a:t> (</a:t>
            </a:r>
            <a:r>
              <a:rPr lang="en-US" altLang="zh-CN" sz="2300" dirty="0" err="1" smtClean="0">
                <a:latin typeface="+mn-lt"/>
                <a:ea typeface="+mn-ea"/>
              </a:rPr>
              <a:t>v</a:t>
            </a:r>
            <a:r>
              <a:rPr lang="en-US" altLang="zh-CN" sz="2300" baseline="-25000" dirty="0" err="1" smtClean="0">
                <a:latin typeface="+mn-lt"/>
                <a:ea typeface="+mn-ea"/>
              </a:rPr>
              <a:t>j</a:t>
            </a:r>
            <a:r>
              <a:rPr lang="en-US" altLang="zh-CN" sz="2300" dirty="0" err="1" smtClean="0">
                <a:latin typeface="+mn-lt"/>
                <a:ea typeface="+mn-ea"/>
              </a:rPr>
              <a:t>,v</a:t>
            </a:r>
            <a:r>
              <a:rPr lang="en-US" altLang="zh-CN" sz="2300" baseline="-25000" dirty="0" err="1" smtClean="0">
                <a:latin typeface="+mn-lt"/>
                <a:ea typeface="+mn-ea"/>
              </a:rPr>
              <a:t>i</a:t>
            </a:r>
            <a:r>
              <a:rPr lang="en-US" altLang="zh-CN" sz="2300" dirty="0" smtClean="0">
                <a:latin typeface="+mn-lt"/>
                <a:ea typeface="+mn-ea"/>
              </a:rPr>
              <a:t>) </a:t>
            </a:r>
            <a:r>
              <a:rPr lang="zh-CN" altLang="en-US" sz="2300" dirty="0" smtClean="0">
                <a:latin typeface="+mn-lt"/>
                <a:ea typeface="+mn-ea"/>
              </a:rPr>
              <a:t>也是</a:t>
            </a:r>
            <a:r>
              <a:rPr lang="en-US" altLang="zh-CN" sz="2300" dirty="0" smtClean="0">
                <a:latin typeface="+mn-lt"/>
                <a:ea typeface="+mn-ea"/>
              </a:rPr>
              <a:t>E</a:t>
            </a:r>
            <a:r>
              <a:rPr lang="zh-CN" altLang="en-US" sz="2300" dirty="0" smtClean="0">
                <a:latin typeface="+mn-lt"/>
                <a:ea typeface="+mn-ea"/>
              </a:rPr>
              <a:t>中一条边。</a:t>
            </a:r>
            <a:endParaRPr lang="en-US" altLang="zh-CN" dirty="0" smtClean="0">
              <a:latin typeface="+mn-lt"/>
              <a:ea typeface="+mn-ea"/>
            </a:endParaRPr>
          </a:p>
        </p:txBody>
      </p:sp>
    </p:spTree>
    <p:extLst>
      <p:ext uri="{BB962C8B-B14F-4D97-AF65-F5344CB8AC3E}">
        <p14:creationId xmlns:p14="http://schemas.microsoft.com/office/powerpoint/2010/main" val="2984038685"/>
      </p:ext>
    </p:extLst>
  </p:cSld>
  <p:clrMapOvr>
    <a:masterClrMapping/>
  </p:clrMapOvr>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2"/>
          <p:cNvSpPr>
            <a:spLocks noGrp="1" noChangeArrowheads="1"/>
          </p:cNvSpPr>
          <p:nvPr>
            <p:ph type="title"/>
          </p:nvPr>
        </p:nvSpPr>
        <p:spPr>
          <a:xfrm>
            <a:off x="762000" y="381000"/>
            <a:ext cx="7772400" cy="609600"/>
          </a:xfrm>
        </p:spPr>
        <p:txBody>
          <a:bodyPr/>
          <a:lstStyle/>
          <a:p>
            <a:r>
              <a:rPr lang="en-US" altLang="zh-CN" dirty="0">
                <a:solidFill>
                  <a:srgbClr val="333399"/>
                </a:solidFill>
              </a:rPr>
              <a:t>1.4.</a:t>
            </a:r>
            <a:r>
              <a:rPr lang="en-US" altLang="zh-CN" dirty="0" smtClean="0"/>
              <a:t>5</a:t>
            </a:r>
            <a:r>
              <a:rPr lang="en-US" altLang="zh-CN" kern="0" dirty="0" smtClean="0"/>
              <a:t> </a:t>
            </a:r>
            <a:r>
              <a:rPr lang="zh-CN" altLang="en-US" kern="0" dirty="0" smtClean="0"/>
              <a:t>图</a:t>
            </a:r>
            <a:endParaRPr lang="zh-CN" altLang="en-US" dirty="0" smtClean="0"/>
          </a:p>
        </p:txBody>
      </p:sp>
      <p:sp>
        <p:nvSpPr>
          <p:cNvPr id="11267" name="Rectangle 3"/>
          <p:cNvSpPr>
            <a:spLocks noGrp="1" noChangeArrowheads="1"/>
          </p:cNvSpPr>
          <p:nvPr>
            <p:ph type="body" idx="1"/>
          </p:nvPr>
        </p:nvSpPr>
        <p:spPr>
          <a:xfrm>
            <a:off x="1447800" y="4572000"/>
            <a:ext cx="3262313" cy="792163"/>
          </a:xfrm>
        </p:spPr>
        <p:txBody>
          <a:bodyPr/>
          <a:lstStyle/>
          <a:p>
            <a:pPr>
              <a:buFont typeface="Wingdings" pitchFamily="2" charset="2"/>
              <a:buNone/>
              <a:defRPr/>
            </a:pPr>
            <a:r>
              <a:rPr lang="zh-CN" altLang="en-US" sz="3200" kern="1200" dirty="0">
                <a:solidFill>
                  <a:schemeClr val="tx1"/>
                </a:solidFill>
                <a:ea typeface="宋体" pitchFamily="2" charset="-122"/>
              </a:rPr>
              <a:t>无向图</a:t>
            </a:r>
            <a:r>
              <a:rPr lang="en-US" altLang="zh-CN" sz="3200" kern="1200" dirty="0">
                <a:solidFill>
                  <a:schemeClr val="tx1"/>
                </a:solidFill>
                <a:ea typeface="宋体" pitchFamily="2" charset="-122"/>
              </a:rPr>
              <a:t>G1</a:t>
            </a:r>
          </a:p>
        </p:txBody>
      </p:sp>
      <p:graphicFrame>
        <p:nvGraphicFramePr>
          <p:cNvPr id="14338" name="Object 2"/>
          <p:cNvGraphicFramePr>
            <a:graphicFrameLocks noChangeAspect="1"/>
          </p:cNvGraphicFramePr>
          <p:nvPr/>
        </p:nvGraphicFramePr>
        <p:xfrm>
          <a:off x="762000" y="1447800"/>
          <a:ext cx="3276600" cy="3276600"/>
        </p:xfrm>
        <a:graphic>
          <a:graphicData uri="http://schemas.openxmlformats.org/presentationml/2006/ole">
            <mc:AlternateContent xmlns:mc="http://schemas.openxmlformats.org/markup-compatibility/2006">
              <mc:Choice xmlns:v="urn:schemas-microsoft-com:vml" Requires="v">
                <p:oleObj spid="_x0000_s35858" name="Picture2" r:id="rId3" imgW="961920" imgH="819000" progId="Word.Picture.8">
                  <p:embed/>
                </p:oleObj>
              </mc:Choice>
              <mc:Fallback>
                <p:oleObj name="Picture2" r:id="rId3" imgW="961920" imgH="819000" progId="Word.Picture.8">
                  <p:embed/>
                  <p:pic>
                    <p:nvPicPr>
                      <p:cNvPr id="14338"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1447800"/>
                        <a:ext cx="3276600" cy="3276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339" name="Object 3"/>
          <p:cNvGraphicFramePr>
            <a:graphicFrameLocks noChangeAspect="1"/>
          </p:cNvGraphicFramePr>
          <p:nvPr/>
        </p:nvGraphicFramePr>
        <p:xfrm>
          <a:off x="4876800" y="1524000"/>
          <a:ext cx="3429000" cy="3124200"/>
        </p:xfrm>
        <a:graphic>
          <a:graphicData uri="http://schemas.openxmlformats.org/presentationml/2006/ole">
            <mc:AlternateContent xmlns:mc="http://schemas.openxmlformats.org/markup-compatibility/2006">
              <mc:Choice xmlns:v="urn:schemas-microsoft-com:vml" Requires="v">
                <p:oleObj spid="_x0000_s35859" name="Picture2" r:id="rId5" imgW="800280" imgH="790560" progId="Word.Picture.8">
                  <p:embed/>
                </p:oleObj>
              </mc:Choice>
              <mc:Fallback>
                <p:oleObj name="Picture2" r:id="rId5" imgW="800280" imgH="790560" progId="Word.Picture.8">
                  <p:embed/>
                  <p:pic>
                    <p:nvPicPr>
                      <p:cNvPr id="14339"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76800" y="1524000"/>
                        <a:ext cx="3429000" cy="3124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342" name="Rectangle 6"/>
          <p:cNvSpPr>
            <a:spLocks noChangeArrowheads="1"/>
          </p:cNvSpPr>
          <p:nvPr/>
        </p:nvSpPr>
        <p:spPr bwMode="auto">
          <a:xfrm>
            <a:off x="5638800" y="4572000"/>
            <a:ext cx="31242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tx2"/>
              </a:buClr>
              <a:buSzPct val="80000"/>
              <a:buFont typeface="Wingdings" panose="05000000000000000000" pitchFamily="2" charset="2"/>
              <a:buNone/>
            </a:pPr>
            <a:r>
              <a:rPr lang="zh-CN" altLang="en-US" sz="3200">
                <a:latin typeface="Times New Roman" panose="02020603050405020304" pitchFamily="18" charset="0"/>
              </a:rPr>
              <a:t>有向图</a:t>
            </a:r>
            <a:r>
              <a:rPr lang="en-US" altLang="zh-CN" sz="3200">
                <a:latin typeface="Times New Roman" panose="02020603050405020304" pitchFamily="18" charset="0"/>
              </a:rPr>
              <a:t>G</a:t>
            </a:r>
            <a:r>
              <a:rPr lang="en-US" altLang="zh-CN" sz="3200" baseline="-30000">
                <a:latin typeface="Times New Roman" panose="02020603050405020304" pitchFamily="18" charset="0"/>
              </a:rPr>
              <a:t>2</a:t>
            </a:r>
            <a:endParaRPr lang="en-US" altLang="zh-CN" sz="3200">
              <a:latin typeface="Times New Roman" panose="02020603050405020304" pitchFamily="18" charset="0"/>
            </a:endParaRPr>
          </a:p>
        </p:txBody>
      </p:sp>
      <p:sp>
        <p:nvSpPr>
          <p:cNvPr id="14343"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Tree>
    <p:extLst>
      <p:ext uri="{BB962C8B-B14F-4D97-AF65-F5344CB8AC3E}">
        <p14:creationId xmlns:p14="http://schemas.microsoft.com/office/powerpoint/2010/main" val="2050117383"/>
      </p:ext>
    </p:extLst>
  </p:cSld>
  <p:clrMapOvr>
    <a:masterClrMapping/>
  </p:clrMapOvr>
  <p:transition>
    <p:strips dir="ld"/>
  </p:transition>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65539" name="Rectangle 2"/>
          <p:cNvSpPr>
            <a:spLocks noGrp="1" noChangeArrowheads="1"/>
          </p:cNvSpPr>
          <p:nvPr>
            <p:ph type="title"/>
          </p:nvPr>
        </p:nvSpPr>
        <p:spPr/>
        <p:txBody>
          <a:bodyPr/>
          <a:lstStyle/>
          <a:p>
            <a:pPr eaLnBrk="1" hangingPunct="1"/>
            <a:r>
              <a:rPr lang="en-US" altLang="zh-CN" dirty="0">
                <a:solidFill>
                  <a:srgbClr val="333399"/>
                </a:solidFill>
              </a:rPr>
              <a:t>1.4.</a:t>
            </a:r>
            <a:r>
              <a:rPr lang="en-US" altLang="zh-CN" dirty="0" smtClean="0"/>
              <a:t>5</a:t>
            </a:r>
            <a:r>
              <a:rPr lang="en-US" altLang="zh-CN" kern="0" dirty="0" smtClean="0"/>
              <a:t> </a:t>
            </a:r>
            <a:r>
              <a:rPr lang="zh-CN" altLang="en-US" kern="0" dirty="0" smtClean="0"/>
              <a:t>图</a:t>
            </a:r>
            <a:endParaRPr lang="en-US" altLang="zh-CN" dirty="0" smtClean="0"/>
          </a:p>
        </p:txBody>
      </p:sp>
      <p:sp>
        <p:nvSpPr>
          <p:cNvPr id="98307" name="Rectangle 3"/>
          <p:cNvSpPr>
            <a:spLocks noGrp="1" noChangeArrowheads="1"/>
          </p:cNvSpPr>
          <p:nvPr>
            <p:ph type="body" idx="1"/>
          </p:nvPr>
        </p:nvSpPr>
        <p:spPr/>
        <p:txBody>
          <a:bodyPr/>
          <a:lstStyle/>
          <a:p>
            <a:pPr eaLnBrk="1" hangingPunct="1">
              <a:lnSpc>
                <a:spcPct val="90000"/>
              </a:lnSpc>
              <a:defRPr/>
            </a:pPr>
            <a:r>
              <a:rPr lang="zh-CN" altLang="en-US" sz="2300" dirty="0" smtClean="0">
                <a:latin typeface="+mn-ea"/>
              </a:rPr>
              <a:t>度</a:t>
            </a:r>
            <a:r>
              <a:rPr lang="en-US" altLang="zh-CN" sz="2300" dirty="0" smtClean="0">
                <a:latin typeface="+mn-ea"/>
              </a:rPr>
              <a:t>:</a:t>
            </a:r>
          </a:p>
          <a:p>
            <a:pPr lvl="1" eaLnBrk="1" hangingPunct="1">
              <a:lnSpc>
                <a:spcPct val="90000"/>
              </a:lnSpc>
              <a:defRPr/>
            </a:pPr>
            <a:r>
              <a:rPr lang="zh-CN" altLang="en-US" sz="2000" dirty="0" smtClean="0">
                <a:latin typeface="+mn-ea"/>
                <a:ea typeface="+mn-ea"/>
              </a:rPr>
              <a:t>无向图中顶点的</a:t>
            </a:r>
            <a:r>
              <a:rPr lang="zh-CN" altLang="en-US" sz="2000" dirty="0" smtClean="0">
                <a:solidFill>
                  <a:srgbClr val="FF0000"/>
                </a:solidFill>
                <a:latin typeface="+mn-ea"/>
                <a:ea typeface="+mn-ea"/>
              </a:rPr>
              <a:t>度</a:t>
            </a:r>
            <a:r>
              <a:rPr lang="zh-CN" altLang="en-US" sz="2000" dirty="0" smtClean="0">
                <a:latin typeface="+mn-ea"/>
                <a:ea typeface="+mn-ea"/>
              </a:rPr>
              <a:t>是和它邻接的顶点的个数，有向图中顶点</a:t>
            </a:r>
            <a:r>
              <a:rPr lang="en-US" altLang="zh-CN" sz="2000" dirty="0" smtClean="0">
                <a:latin typeface="+mn-ea"/>
                <a:ea typeface="+mn-ea"/>
              </a:rPr>
              <a:t> v</a:t>
            </a:r>
            <a:r>
              <a:rPr lang="en-US" altLang="zh-CN" sz="2000" baseline="-25000" dirty="0" smtClean="0">
                <a:latin typeface="+mn-ea"/>
                <a:ea typeface="+mn-ea"/>
              </a:rPr>
              <a:t>i </a:t>
            </a:r>
            <a:r>
              <a:rPr lang="zh-CN" altLang="en-US" sz="2000" dirty="0" smtClean="0">
                <a:latin typeface="+mn-ea"/>
                <a:ea typeface="+mn-ea"/>
              </a:rPr>
              <a:t>的</a:t>
            </a:r>
            <a:r>
              <a:rPr lang="zh-CN" altLang="en-US" sz="2000" dirty="0" smtClean="0">
                <a:solidFill>
                  <a:srgbClr val="FF0000"/>
                </a:solidFill>
                <a:latin typeface="+mn-ea"/>
                <a:ea typeface="+mn-ea"/>
              </a:rPr>
              <a:t>入度</a:t>
            </a:r>
            <a:r>
              <a:rPr lang="zh-CN" altLang="en-US" sz="2000" dirty="0" smtClean="0">
                <a:latin typeface="+mn-ea"/>
                <a:ea typeface="+mn-ea"/>
              </a:rPr>
              <a:t>和</a:t>
            </a:r>
            <a:r>
              <a:rPr lang="zh-CN" altLang="en-US" sz="2000" dirty="0" smtClean="0">
                <a:solidFill>
                  <a:srgbClr val="FF0000"/>
                </a:solidFill>
                <a:latin typeface="+mn-ea"/>
                <a:ea typeface="+mn-ea"/>
              </a:rPr>
              <a:t>出度</a:t>
            </a:r>
            <a:r>
              <a:rPr lang="zh-CN" altLang="en-US" sz="2000" dirty="0" smtClean="0">
                <a:latin typeface="+mn-ea"/>
                <a:ea typeface="+mn-ea"/>
              </a:rPr>
              <a:t>分别是连接到</a:t>
            </a:r>
            <a:r>
              <a:rPr lang="en-US" altLang="zh-CN" sz="2000" dirty="0" smtClean="0">
                <a:latin typeface="+mn-ea"/>
                <a:ea typeface="+mn-ea"/>
              </a:rPr>
              <a:t>v</a:t>
            </a:r>
            <a:r>
              <a:rPr lang="en-US" altLang="zh-CN" sz="2000" baseline="-25000" dirty="0" smtClean="0">
                <a:latin typeface="+mn-ea"/>
                <a:ea typeface="+mn-ea"/>
              </a:rPr>
              <a:t>i</a:t>
            </a:r>
            <a:r>
              <a:rPr lang="en-US" altLang="zh-CN" sz="2000" dirty="0" smtClean="0">
                <a:latin typeface="+mn-ea"/>
                <a:ea typeface="+mn-ea"/>
              </a:rPr>
              <a:t> </a:t>
            </a:r>
            <a:r>
              <a:rPr lang="zh-CN" altLang="en-US" sz="2000" dirty="0" smtClean="0">
                <a:latin typeface="+mn-ea"/>
                <a:ea typeface="+mn-ea"/>
              </a:rPr>
              <a:t>的边和从</a:t>
            </a:r>
            <a:r>
              <a:rPr lang="en-US" altLang="zh-CN" sz="2000" dirty="0" smtClean="0">
                <a:latin typeface="+mn-ea"/>
                <a:ea typeface="+mn-ea"/>
              </a:rPr>
              <a:t> v</a:t>
            </a:r>
            <a:r>
              <a:rPr lang="en-US" altLang="zh-CN" sz="2000" baseline="-25000" dirty="0" smtClean="0">
                <a:latin typeface="+mn-ea"/>
                <a:ea typeface="+mn-ea"/>
              </a:rPr>
              <a:t>i </a:t>
            </a:r>
            <a:r>
              <a:rPr lang="zh-CN" altLang="en-US" sz="2000" dirty="0" smtClean="0">
                <a:latin typeface="+mn-ea"/>
                <a:ea typeface="+mn-ea"/>
              </a:rPr>
              <a:t>连接到其他顶点的边的数目。</a:t>
            </a:r>
            <a:endParaRPr lang="en-US" altLang="zh-CN" sz="2000" dirty="0" smtClean="0">
              <a:latin typeface="+mn-ea"/>
              <a:ea typeface="+mn-ea"/>
            </a:endParaRPr>
          </a:p>
          <a:p>
            <a:pPr eaLnBrk="1" hangingPunct="1">
              <a:lnSpc>
                <a:spcPct val="90000"/>
              </a:lnSpc>
              <a:defRPr/>
            </a:pPr>
            <a:r>
              <a:rPr lang="zh-CN" altLang="en-US" sz="2300" dirty="0" smtClean="0">
                <a:latin typeface="+mn-ea"/>
              </a:rPr>
              <a:t>路径</a:t>
            </a:r>
            <a:r>
              <a:rPr lang="en-US" altLang="zh-CN" sz="2300" dirty="0" smtClean="0">
                <a:latin typeface="+mn-ea"/>
              </a:rPr>
              <a:t>: </a:t>
            </a:r>
          </a:p>
          <a:p>
            <a:pPr lvl="1" eaLnBrk="1" hangingPunct="1">
              <a:lnSpc>
                <a:spcPct val="90000"/>
              </a:lnSpc>
              <a:defRPr/>
            </a:pPr>
            <a:r>
              <a:rPr lang="zh-CN" altLang="en-US" sz="2000" dirty="0" smtClean="0">
                <a:latin typeface="+mn-ea"/>
                <a:ea typeface="+mn-ea"/>
              </a:rPr>
              <a:t>图中从顶点</a:t>
            </a:r>
            <a:r>
              <a:rPr lang="en-US" altLang="zh-CN" sz="2000" dirty="0" smtClean="0">
                <a:latin typeface="+mn-ea"/>
                <a:ea typeface="+mn-ea"/>
              </a:rPr>
              <a:t>v</a:t>
            </a:r>
            <a:r>
              <a:rPr lang="en-US" altLang="zh-CN" sz="2000" baseline="-25000" dirty="0" smtClean="0">
                <a:latin typeface="+mn-ea"/>
                <a:ea typeface="+mn-ea"/>
              </a:rPr>
              <a:t>1</a:t>
            </a:r>
            <a:r>
              <a:rPr lang="en-US" altLang="zh-CN" sz="2000" dirty="0" smtClean="0">
                <a:latin typeface="+mn-ea"/>
                <a:ea typeface="+mn-ea"/>
              </a:rPr>
              <a:t> </a:t>
            </a:r>
            <a:r>
              <a:rPr lang="zh-CN" altLang="en-US" sz="2000" dirty="0" smtClean="0">
                <a:latin typeface="+mn-ea"/>
                <a:ea typeface="+mn-ea"/>
              </a:rPr>
              <a:t>到</a:t>
            </a:r>
            <a:r>
              <a:rPr lang="en-US" altLang="zh-CN" sz="2000" dirty="0" smtClean="0">
                <a:latin typeface="+mn-ea"/>
                <a:ea typeface="+mn-ea"/>
              </a:rPr>
              <a:t> </a:t>
            </a:r>
            <a:r>
              <a:rPr lang="en-US" altLang="zh-CN" sz="2000" dirty="0" err="1" smtClean="0">
                <a:latin typeface="+mn-ea"/>
                <a:ea typeface="+mn-ea"/>
              </a:rPr>
              <a:t>v</a:t>
            </a:r>
            <a:r>
              <a:rPr lang="en-US" altLang="zh-CN" sz="2000" baseline="-25000" dirty="0" err="1" smtClean="0">
                <a:latin typeface="+mn-ea"/>
                <a:ea typeface="+mn-ea"/>
              </a:rPr>
              <a:t>k</a:t>
            </a:r>
            <a:r>
              <a:rPr lang="en-US" altLang="zh-CN" sz="2000" dirty="0" smtClean="0">
                <a:latin typeface="+mn-ea"/>
                <a:ea typeface="+mn-ea"/>
              </a:rPr>
              <a:t> </a:t>
            </a:r>
            <a:r>
              <a:rPr lang="zh-CN" altLang="en-US" sz="2000" dirty="0" smtClean="0">
                <a:latin typeface="+mn-ea"/>
                <a:ea typeface="+mn-ea"/>
              </a:rPr>
              <a:t>的</a:t>
            </a:r>
            <a:r>
              <a:rPr lang="zh-CN" altLang="en-US" sz="2000" dirty="0" smtClean="0">
                <a:solidFill>
                  <a:srgbClr val="FF0000"/>
                </a:solidFill>
                <a:latin typeface="+mn-ea"/>
                <a:ea typeface="+mn-ea"/>
              </a:rPr>
              <a:t>路径</a:t>
            </a:r>
            <a:r>
              <a:rPr lang="zh-CN" altLang="en-US" sz="2000" dirty="0" smtClean="0">
                <a:latin typeface="+mn-ea"/>
                <a:ea typeface="+mn-ea"/>
              </a:rPr>
              <a:t>是一个顶点的序列</a:t>
            </a:r>
            <a:r>
              <a:rPr lang="en-US" altLang="zh-CN" sz="2000" dirty="0" smtClean="0">
                <a:latin typeface="+mn-ea"/>
                <a:ea typeface="+mn-ea"/>
              </a:rPr>
              <a:t>v</a:t>
            </a:r>
            <a:r>
              <a:rPr lang="en-US" altLang="zh-CN" sz="2000" baseline="-25000" dirty="0" smtClean="0">
                <a:latin typeface="+mn-ea"/>
                <a:ea typeface="+mn-ea"/>
              </a:rPr>
              <a:t>1</a:t>
            </a:r>
            <a:r>
              <a:rPr lang="en-US" altLang="zh-CN" sz="2000" dirty="0" smtClean="0">
                <a:latin typeface="+mn-ea"/>
                <a:ea typeface="+mn-ea"/>
              </a:rPr>
              <a:t>,v</a:t>
            </a:r>
            <a:r>
              <a:rPr lang="en-US" altLang="zh-CN" sz="2000" baseline="-25000" dirty="0" smtClean="0">
                <a:latin typeface="+mn-ea"/>
                <a:ea typeface="+mn-ea"/>
              </a:rPr>
              <a:t>2</a:t>
            </a:r>
            <a:r>
              <a:rPr lang="en-US" altLang="zh-CN" sz="2000" dirty="0" smtClean="0">
                <a:latin typeface="+mn-ea"/>
                <a:ea typeface="+mn-ea"/>
              </a:rPr>
              <a:t>,…,</a:t>
            </a:r>
            <a:r>
              <a:rPr lang="en-US" altLang="zh-CN" sz="2000" dirty="0" err="1" smtClean="0">
                <a:latin typeface="+mn-ea"/>
                <a:ea typeface="+mn-ea"/>
              </a:rPr>
              <a:t>v</a:t>
            </a:r>
            <a:r>
              <a:rPr lang="en-US" altLang="zh-CN" sz="2000" baseline="-25000" dirty="0" err="1" smtClean="0">
                <a:latin typeface="+mn-ea"/>
                <a:ea typeface="+mn-ea"/>
              </a:rPr>
              <a:t>k</a:t>
            </a:r>
            <a:r>
              <a:rPr lang="en-US" altLang="zh-CN" sz="2000" dirty="0" smtClean="0">
                <a:latin typeface="+mn-ea"/>
                <a:ea typeface="+mn-ea"/>
              </a:rPr>
              <a:t> </a:t>
            </a:r>
            <a:r>
              <a:rPr lang="zh-CN" altLang="en-US" sz="2000" dirty="0" smtClean="0">
                <a:latin typeface="+mn-ea"/>
                <a:ea typeface="+mn-ea"/>
              </a:rPr>
              <a:t>，其中的</a:t>
            </a:r>
            <a:r>
              <a:rPr lang="en-US" altLang="zh-CN" sz="2000" dirty="0" smtClean="0">
                <a:latin typeface="+mn-ea"/>
                <a:ea typeface="+mn-ea"/>
              </a:rPr>
              <a:t> (v</a:t>
            </a:r>
            <a:r>
              <a:rPr lang="en-US" altLang="zh-CN" sz="2000" baseline="-25000" dirty="0" smtClean="0">
                <a:latin typeface="+mn-ea"/>
                <a:ea typeface="+mn-ea"/>
              </a:rPr>
              <a:t>i</a:t>
            </a:r>
            <a:r>
              <a:rPr lang="en-US" altLang="zh-CN" sz="2000" dirty="0" smtClean="0">
                <a:latin typeface="+mn-ea"/>
                <a:ea typeface="+mn-ea"/>
              </a:rPr>
              <a:t>,v</a:t>
            </a:r>
            <a:r>
              <a:rPr lang="en-US" altLang="zh-CN" sz="2000" baseline="-25000" dirty="0" smtClean="0">
                <a:latin typeface="+mn-ea"/>
                <a:ea typeface="+mn-ea"/>
              </a:rPr>
              <a:t>i+1</a:t>
            </a:r>
            <a:r>
              <a:rPr lang="en-US" altLang="zh-CN" sz="2000" dirty="0" smtClean="0">
                <a:latin typeface="+mn-ea"/>
                <a:ea typeface="+mn-ea"/>
              </a:rPr>
              <a:t>),1</a:t>
            </a:r>
            <a:r>
              <a:rPr lang="en-US" altLang="zh-CN" sz="2000" dirty="0" smtClean="0">
                <a:latin typeface="+mn-ea"/>
                <a:ea typeface="+mn-ea"/>
                <a:sym typeface="Symbol" pitchFamily="18" charset="2"/>
              </a:rPr>
              <a:t>ik-1, </a:t>
            </a:r>
            <a:r>
              <a:rPr lang="zh-CN" altLang="en-US" sz="2000" dirty="0" smtClean="0">
                <a:latin typeface="+mn-ea"/>
                <a:ea typeface="+mn-ea"/>
                <a:sym typeface="Symbol" pitchFamily="18" charset="2"/>
              </a:rPr>
              <a:t>是图的一条边。</a:t>
            </a:r>
            <a:r>
              <a:rPr lang="en-US" altLang="zh-CN" sz="2000" dirty="0" smtClean="0">
                <a:latin typeface="+mn-ea"/>
                <a:ea typeface="+mn-ea"/>
                <a:sym typeface="Symbol" pitchFamily="18" charset="2"/>
              </a:rPr>
              <a:t> </a:t>
            </a:r>
          </a:p>
          <a:p>
            <a:pPr lvl="1" eaLnBrk="1" hangingPunct="1">
              <a:lnSpc>
                <a:spcPct val="90000"/>
              </a:lnSpc>
              <a:defRPr/>
            </a:pPr>
            <a:r>
              <a:rPr lang="zh-CN" altLang="en-US" sz="2000" dirty="0" smtClean="0">
                <a:solidFill>
                  <a:srgbClr val="FF0000"/>
                </a:solidFill>
                <a:latin typeface="+mn-ea"/>
                <a:ea typeface="+mn-ea"/>
                <a:sym typeface="Symbol" pitchFamily="18" charset="2"/>
              </a:rPr>
              <a:t>路径的长度</a:t>
            </a:r>
            <a:r>
              <a:rPr lang="zh-CN" altLang="en-US" sz="2000" dirty="0" smtClean="0">
                <a:latin typeface="+mn-ea"/>
                <a:ea typeface="+mn-ea"/>
                <a:sym typeface="Symbol" pitchFamily="18" charset="2"/>
              </a:rPr>
              <a:t>是路径中边的数目，因此，路径</a:t>
            </a:r>
            <a:r>
              <a:rPr lang="en-US" altLang="zh-CN" sz="2000" dirty="0" smtClean="0">
                <a:latin typeface="+mn-ea"/>
                <a:ea typeface="+mn-ea"/>
              </a:rPr>
              <a:t>v</a:t>
            </a:r>
            <a:r>
              <a:rPr lang="en-US" altLang="zh-CN" sz="2000" baseline="-25000" dirty="0" smtClean="0">
                <a:latin typeface="+mn-ea"/>
                <a:ea typeface="+mn-ea"/>
              </a:rPr>
              <a:t>1</a:t>
            </a:r>
            <a:r>
              <a:rPr lang="en-US" altLang="zh-CN" sz="2000" dirty="0" smtClean="0">
                <a:latin typeface="+mn-ea"/>
                <a:ea typeface="+mn-ea"/>
              </a:rPr>
              <a:t>,v</a:t>
            </a:r>
            <a:r>
              <a:rPr lang="en-US" altLang="zh-CN" sz="2000" baseline="-25000" dirty="0" smtClean="0">
                <a:latin typeface="+mn-ea"/>
                <a:ea typeface="+mn-ea"/>
              </a:rPr>
              <a:t>2</a:t>
            </a:r>
            <a:r>
              <a:rPr lang="en-US" altLang="zh-CN" sz="2000" dirty="0" smtClean="0">
                <a:latin typeface="+mn-ea"/>
                <a:ea typeface="+mn-ea"/>
              </a:rPr>
              <a:t>,…,</a:t>
            </a:r>
            <a:r>
              <a:rPr lang="en-US" altLang="zh-CN" sz="2000" dirty="0" err="1" smtClean="0">
                <a:latin typeface="+mn-ea"/>
                <a:ea typeface="+mn-ea"/>
              </a:rPr>
              <a:t>v</a:t>
            </a:r>
            <a:r>
              <a:rPr lang="en-US" altLang="zh-CN" sz="2000" baseline="-25000" dirty="0" err="1" smtClean="0">
                <a:latin typeface="+mn-ea"/>
                <a:ea typeface="+mn-ea"/>
              </a:rPr>
              <a:t>k</a:t>
            </a:r>
            <a:r>
              <a:rPr lang="en-US" altLang="zh-CN" sz="2000" dirty="0" smtClean="0">
                <a:latin typeface="+mn-ea"/>
                <a:ea typeface="+mn-ea"/>
                <a:sym typeface="Symbol" pitchFamily="18" charset="2"/>
              </a:rPr>
              <a:t>.</a:t>
            </a:r>
            <a:r>
              <a:rPr lang="zh-CN" altLang="en-US" sz="2000" dirty="0" smtClean="0">
                <a:latin typeface="+mn-ea"/>
                <a:ea typeface="+mn-ea"/>
                <a:sym typeface="Symbol" pitchFamily="18" charset="2"/>
              </a:rPr>
              <a:t>的长度是</a:t>
            </a:r>
            <a:r>
              <a:rPr lang="en-US" altLang="zh-CN" sz="2000" dirty="0" smtClean="0">
                <a:latin typeface="+mn-ea"/>
                <a:ea typeface="+mn-ea"/>
                <a:sym typeface="Symbol" pitchFamily="18" charset="2"/>
              </a:rPr>
              <a:t>k-1.</a:t>
            </a:r>
            <a:r>
              <a:rPr lang="zh-CN" altLang="en-US" sz="2000" dirty="0" smtClean="0">
                <a:latin typeface="+mn-ea"/>
                <a:ea typeface="+mn-ea"/>
                <a:sym typeface="Symbol" pitchFamily="18" charset="2"/>
              </a:rPr>
              <a:t>如果所有的顶点都不同，那么路径是简单的；如果</a:t>
            </a:r>
            <a:r>
              <a:rPr lang="en-US" altLang="zh-CN" sz="2000" dirty="0" smtClean="0">
                <a:latin typeface="+mn-ea"/>
                <a:ea typeface="+mn-ea"/>
                <a:sym typeface="Symbol" pitchFamily="18" charset="2"/>
              </a:rPr>
              <a:t> v</a:t>
            </a:r>
            <a:r>
              <a:rPr lang="en-US" altLang="zh-CN" sz="2000" baseline="-25000" dirty="0" smtClean="0">
                <a:latin typeface="+mn-ea"/>
                <a:ea typeface="+mn-ea"/>
                <a:sym typeface="Symbol" pitchFamily="18" charset="2"/>
              </a:rPr>
              <a:t>1</a:t>
            </a:r>
            <a:r>
              <a:rPr lang="en-US" altLang="zh-CN" sz="2000" dirty="0" smtClean="0">
                <a:latin typeface="+mn-ea"/>
                <a:ea typeface="+mn-ea"/>
                <a:sym typeface="Symbol" pitchFamily="18" charset="2"/>
              </a:rPr>
              <a:t>=</a:t>
            </a:r>
            <a:r>
              <a:rPr lang="en-US" altLang="zh-CN" sz="2000" dirty="0" err="1" smtClean="0">
                <a:latin typeface="+mn-ea"/>
                <a:ea typeface="+mn-ea"/>
                <a:sym typeface="Symbol" pitchFamily="18" charset="2"/>
              </a:rPr>
              <a:t>v</a:t>
            </a:r>
            <a:r>
              <a:rPr lang="en-US" altLang="zh-CN" sz="2000" baseline="-25000" dirty="0" err="1" smtClean="0">
                <a:latin typeface="+mn-ea"/>
                <a:ea typeface="+mn-ea"/>
                <a:sym typeface="Symbol" pitchFamily="18" charset="2"/>
              </a:rPr>
              <a:t>k</a:t>
            </a:r>
            <a:r>
              <a:rPr lang="en-US" altLang="zh-CN" sz="2000" dirty="0" smtClean="0">
                <a:latin typeface="+mn-ea"/>
                <a:ea typeface="+mn-ea"/>
                <a:sym typeface="Symbol" pitchFamily="18" charset="2"/>
              </a:rPr>
              <a:t>.</a:t>
            </a:r>
            <a:r>
              <a:rPr lang="zh-CN" altLang="en-US" sz="2000" dirty="0" smtClean="0">
                <a:latin typeface="+mn-ea"/>
                <a:ea typeface="+mn-ea"/>
                <a:sym typeface="Symbol" pitchFamily="18" charset="2"/>
              </a:rPr>
              <a:t>，那么路径是一个回路。</a:t>
            </a:r>
            <a:endParaRPr lang="en-US" altLang="zh-CN" sz="2000" dirty="0" smtClean="0">
              <a:latin typeface="+mn-ea"/>
              <a:ea typeface="+mn-ea"/>
              <a:sym typeface="Symbol" pitchFamily="18" charset="2"/>
            </a:endParaRPr>
          </a:p>
          <a:p>
            <a:pPr lvl="1" eaLnBrk="1" hangingPunct="1">
              <a:lnSpc>
                <a:spcPct val="90000"/>
              </a:lnSpc>
              <a:defRPr/>
            </a:pPr>
            <a:r>
              <a:rPr lang="zh-CN" altLang="en-US" sz="2000" dirty="0" smtClean="0">
                <a:latin typeface="+mn-ea"/>
                <a:ea typeface="+mn-ea"/>
                <a:sym typeface="Symbol" pitchFamily="18" charset="2"/>
              </a:rPr>
              <a:t>奇数长度的回路，其边的数目是奇数，类似的方法可以定义偶数长度的回路。</a:t>
            </a:r>
            <a:endParaRPr lang="en-US" altLang="zh-CN" sz="2000" dirty="0" smtClean="0">
              <a:latin typeface="+mn-ea"/>
              <a:ea typeface="+mn-ea"/>
              <a:sym typeface="Symbol" pitchFamily="18" charset="2"/>
            </a:endParaRPr>
          </a:p>
          <a:p>
            <a:pPr lvl="1" eaLnBrk="1" hangingPunct="1">
              <a:lnSpc>
                <a:spcPct val="90000"/>
              </a:lnSpc>
              <a:defRPr/>
            </a:pPr>
            <a:r>
              <a:rPr lang="zh-CN" altLang="en-US" sz="2000" dirty="0" smtClean="0">
                <a:latin typeface="+mn-ea"/>
                <a:ea typeface="+mn-ea"/>
                <a:sym typeface="Symbol" pitchFamily="18" charset="2"/>
              </a:rPr>
              <a:t>没有回路的图称为</a:t>
            </a:r>
            <a:r>
              <a:rPr lang="zh-CN" altLang="en-US" sz="2000" dirty="0" smtClean="0">
                <a:solidFill>
                  <a:srgbClr val="FF0000"/>
                </a:solidFill>
                <a:latin typeface="+mn-ea"/>
                <a:ea typeface="+mn-ea"/>
                <a:sym typeface="Symbol" pitchFamily="18" charset="2"/>
              </a:rPr>
              <a:t>无回路图</a:t>
            </a:r>
            <a:r>
              <a:rPr lang="zh-CN" altLang="en-US" sz="2000" dirty="0" smtClean="0">
                <a:latin typeface="+mn-ea"/>
                <a:ea typeface="+mn-ea"/>
                <a:sym typeface="Symbol" pitchFamily="18" charset="2"/>
              </a:rPr>
              <a:t>。如果有一条路径从顶点</a:t>
            </a:r>
            <a:r>
              <a:rPr lang="en-US" altLang="zh-CN" sz="2000" dirty="0" smtClean="0">
                <a:latin typeface="+mn-ea"/>
                <a:ea typeface="+mn-ea"/>
                <a:sym typeface="Symbol" pitchFamily="18" charset="2"/>
              </a:rPr>
              <a:t>u</a:t>
            </a:r>
            <a:r>
              <a:rPr lang="zh-CN" altLang="en-US" sz="2000" dirty="0" smtClean="0">
                <a:latin typeface="+mn-ea"/>
                <a:ea typeface="+mn-ea"/>
                <a:sym typeface="Symbol" pitchFamily="18" charset="2"/>
              </a:rPr>
              <a:t>开始到顶点</a:t>
            </a:r>
            <a:r>
              <a:rPr lang="en-US" altLang="zh-CN" sz="2000" dirty="0" smtClean="0">
                <a:latin typeface="+mn-ea"/>
                <a:ea typeface="+mn-ea"/>
                <a:sym typeface="Symbol" pitchFamily="18" charset="2"/>
              </a:rPr>
              <a:t>v</a:t>
            </a:r>
            <a:r>
              <a:rPr lang="zh-CN" altLang="en-US" sz="2000" dirty="0" smtClean="0">
                <a:latin typeface="+mn-ea"/>
                <a:ea typeface="+mn-ea"/>
                <a:sym typeface="Symbol" pitchFamily="18" charset="2"/>
              </a:rPr>
              <a:t>结束，那么称顶点</a:t>
            </a:r>
            <a:r>
              <a:rPr lang="en-US" altLang="zh-CN" sz="2000" dirty="0" smtClean="0">
                <a:latin typeface="+mn-ea"/>
                <a:ea typeface="+mn-ea"/>
                <a:sym typeface="Symbol" pitchFamily="18" charset="2"/>
              </a:rPr>
              <a:t>v</a:t>
            </a:r>
            <a:r>
              <a:rPr lang="zh-CN" altLang="en-US" sz="2000" dirty="0" smtClean="0">
                <a:latin typeface="+mn-ea"/>
                <a:ea typeface="+mn-ea"/>
                <a:sym typeface="Symbol" pitchFamily="18" charset="2"/>
              </a:rPr>
              <a:t>从</a:t>
            </a:r>
            <a:r>
              <a:rPr lang="en-US" altLang="zh-CN" sz="2000" dirty="0" smtClean="0">
                <a:latin typeface="+mn-ea"/>
                <a:ea typeface="+mn-ea"/>
                <a:sym typeface="Symbol" pitchFamily="18" charset="2"/>
              </a:rPr>
              <a:t>u</a:t>
            </a:r>
            <a:r>
              <a:rPr lang="zh-CN" altLang="en-US" sz="2000" dirty="0" smtClean="0">
                <a:latin typeface="+mn-ea"/>
                <a:ea typeface="+mn-ea"/>
                <a:sym typeface="Symbol" pitchFamily="18" charset="2"/>
              </a:rPr>
              <a:t>出发是</a:t>
            </a:r>
            <a:r>
              <a:rPr lang="zh-CN" altLang="en-US" sz="2000" dirty="0" smtClean="0">
                <a:solidFill>
                  <a:srgbClr val="FF0000"/>
                </a:solidFill>
                <a:latin typeface="+mn-ea"/>
                <a:ea typeface="+mn-ea"/>
                <a:sym typeface="Symbol" pitchFamily="18" charset="2"/>
              </a:rPr>
              <a:t>可达的</a:t>
            </a:r>
            <a:r>
              <a:rPr lang="zh-CN" altLang="en-US" sz="2000" dirty="0" smtClean="0">
                <a:latin typeface="+mn-ea"/>
                <a:ea typeface="+mn-ea"/>
                <a:sym typeface="Symbol" pitchFamily="18" charset="2"/>
              </a:rPr>
              <a:t>。</a:t>
            </a:r>
            <a:endParaRPr lang="en-US" altLang="zh-CN" sz="2000" dirty="0" smtClean="0">
              <a:latin typeface="+mn-ea"/>
              <a:ea typeface="+mn-ea"/>
            </a:endParaRPr>
          </a:p>
        </p:txBody>
      </p:sp>
    </p:spTree>
    <p:extLst>
      <p:ext uri="{BB962C8B-B14F-4D97-AF65-F5344CB8AC3E}">
        <p14:creationId xmlns:p14="http://schemas.microsoft.com/office/powerpoint/2010/main" val="2673454577"/>
      </p:ext>
    </p:extLst>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66563" name="Rectangle 2"/>
          <p:cNvSpPr>
            <a:spLocks noGrp="1" noChangeArrowheads="1"/>
          </p:cNvSpPr>
          <p:nvPr>
            <p:ph type="title"/>
          </p:nvPr>
        </p:nvSpPr>
        <p:spPr/>
        <p:txBody>
          <a:bodyPr/>
          <a:lstStyle/>
          <a:p>
            <a:pPr eaLnBrk="1" hangingPunct="1"/>
            <a:r>
              <a:rPr lang="en-US" altLang="zh-CN" dirty="0">
                <a:solidFill>
                  <a:srgbClr val="333399"/>
                </a:solidFill>
              </a:rPr>
              <a:t>1.4.</a:t>
            </a:r>
            <a:r>
              <a:rPr lang="en-US" altLang="zh-CN" dirty="0" smtClean="0"/>
              <a:t>5</a:t>
            </a:r>
            <a:r>
              <a:rPr lang="en-US" altLang="zh-CN" kern="0" dirty="0" smtClean="0"/>
              <a:t> </a:t>
            </a:r>
            <a:r>
              <a:rPr lang="zh-CN" altLang="en-US" kern="0" dirty="0" smtClean="0"/>
              <a:t>图</a:t>
            </a:r>
            <a:endParaRPr lang="en-US" altLang="zh-CN" dirty="0" smtClean="0"/>
          </a:p>
        </p:txBody>
      </p:sp>
      <p:sp>
        <p:nvSpPr>
          <p:cNvPr id="99331" name="Rectangle 3"/>
          <p:cNvSpPr>
            <a:spLocks noGrp="1" noChangeArrowheads="1"/>
          </p:cNvSpPr>
          <p:nvPr>
            <p:ph type="body" idx="1"/>
          </p:nvPr>
        </p:nvSpPr>
        <p:spPr/>
        <p:txBody>
          <a:bodyPr/>
          <a:lstStyle/>
          <a:p>
            <a:pPr eaLnBrk="1" hangingPunct="1">
              <a:defRPr/>
            </a:pPr>
            <a:r>
              <a:rPr lang="zh-CN" altLang="en-US" sz="2700" dirty="0" smtClean="0">
                <a:solidFill>
                  <a:srgbClr val="FF0000"/>
                </a:solidFill>
                <a:sym typeface="Symbol" pitchFamily="18" charset="2"/>
              </a:rPr>
              <a:t>连通的</a:t>
            </a:r>
            <a:r>
              <a:rPr lang="en-US" altLang="zh-CN" sz="2700" dirty="0" smtClean="0">
                <a:sym typeface="Symbol" pitchFamily="18" charset="2"/>
              </a:rPr>
              <a:t>:</a:t>
            </a:r>
          </a:p>
          <a:p>
            <a:pPr lvl="1" eaLnBrk="1" hangingPunct="1">
              <a:defRPr/>
            </a:pPr>
            <a:r>
              <a:rPr lang="zh-CN" altLang="en-US" sz="2300" dirty="0" smtClean="0">
                <a:latin typeface="+mn-ea"/>
                <a:ea typeface="+mn-ea"/>
                <a:sym typeface="Symbol" pitchFamily="18" charset="2"/>
              </a:rPr>
              <a:t>在无向图中</a:t>
            </a:r>
            <a:r>
              <a:rPr lang="zh-CN" altLang="en-US" sz="2300" dirty="0" smtClean="0">
                <a:latin typeface="+mn-ea"/>
                <a:sym typeface="Symbol" pitchFamily="18" charset="2"/>
              </a:rPr>
              <a:t>，</a:t>
            </a:r>
            <a:r>
              <a:rPr lang="zh-CN" altLang="en-US" sz="2300" dirty="0" smtClean="0">
                <a:latin typeface="+mn-ea"/>
                <a:ea typeface="+mn-ea"/>
                <a:sym typeface="Symbol" pitchFamily="18" charset="2"/>
              </a:rPr>
              <a:t>如果每个顶点从其他每个顶点出发都是可到达的，那么这个无向图是连通的，否则就是不连通的。一个图的连通分支是图的</a:t>
            </a:r>
            <a:r>
              <a:rPr lang="zh-CN" altLang="en-US" sz="2300" dirty="0" smtClean="0">
                <a:solidFill>
                  <a:srgbClr val="FF0000"/>
                </a:solidFill>
                <a:latin typeface="+mn-ea"/>
                <a:ea typeface="+mn-ea"/>
                <a:sym typeface="Symbol" pitchFamily="18" charset="2"/>
              </a:rPr>
              <a:t>最大连通子图</a:t>
            </a:r>
            <a:r>
              <a:rPr lang="zh-CN" altLang="en-US" sz="2300" dirty="0" smtClean="0">
                <a:latin typeface="+mn-ea"/>
                <a:ea typeface="+mn-ea"/>
                <a:sym typeface="Symbol" pitchFamily="18" charset="2"/>
              </a:rPr>
              <a:t>。</a:t>
            </a:r>
            <a:endParaRPr lang="en-US" altLang="zh-CN" sz="2300" dirty="0" smtClean="0">
              <a:latin typeface="+mn-ea"/>
              <a:ea typeface="+mn-ea"/>
              <a:sym typeface="Symbol" pitchFamily="18" charset="2"/>
            </a:endParaRPr>
          </a:p>
          <a:p>
            <a:pPr lvl="1" eaLnBrk="1" hangingPunct="1">
              <a:defRPr/>
            </a:pPr>
            <a:endParaRPr lang="en-US" altLang="zh-CN" sz="2300" dirty="0" smtClean="0">
              <a:latin typeface="+mn-ea"/>
              <a:ea typeface="+mn-ea"/>
              <a:sym typeface="Symbol" pitchFamily="18" charset="2"/>
            </a:endParaRPr>
          </a:p>
          <a:p>
            <a:pPr lvl="1" eaLnBrk="1" hangingPunct="1">
              <a:defRPr/>
            </a:pPr>
            <a:r>
              <a:rPr lang="zh-CN" altLang="en-US" sz="2300" dirty="0" smtClean="0">
                <a:latin typeface="+mn-ea"/>
                <a:ea typeface="+mn-ea"/>
                <a:sym typeface="Symbol" pitchFamily="18" charset="2"/>
              </a:rPr>
              <a:t>在有向图中，如果子图中每一对顶点</a:t>
            </a:r>
            <a:r>
              <a:rPr lang="en-US" altLang="zh-CN" sz="2300" dirty="0" smtClean="0">
                <a:latin typeface="+mn-ea"/>
                <a:ea typeface="+mn-ea"/>
                <a:sym typeface="Symbol" pitchFamily="18" charset="2"/>
              </a:rPr>
              <a:t>u</a:t>
            </a:r>
            <a:r>
              <a:rPr lang="zh-CN" altLang="en-US" sz="2300" dirty="0" smtClean="0">
                <a:latin typeface="+mn-ea"/>
                <a:ea typeface="+mn-ea"/>
                <a:sym typeface="Symbol" pitchFamily="18" charset="2"/>
              </a:rPr>
              <a:t>和</a:t>
            </a:r>
            <a:r>
              <a:rPr lang="en-US" altLang="zh-CN" sz="2300" dirty="0" smtClean="0">
                <a:latin typeface="+mn-ea"/>
                <a:ea typeface="+mn-ea"/>
                <a:sym typeface="Symbol" pitchFamily="18" charset="2"/>
              </a:rPr>
              <a:t>v</a:t>
            </a:r>
            <a:r>
              <a:rPr lang="zh-CN" altLang="en-US" sz="2300" dirty="0" smtClean="0">
                <a:latin typeface="+mn-ea"/>
                <a:ea typeface="+mn-ea"/>
                <a:sym typeface="Symbol" pitchFamily="18" charset="2"/>
              </a:rPr>
              <a:t>满足</a:t>
            </a:r>
            <a:r>
              <a:rPr lang="en-US" altLang="zh-CN" sz="2300" dirty="0" smtClean="0">
                <a:latin typeface="+mn-ea"/>
                <a:ea typeface="+mn-ea"/>
                <a:sym typeface="Symbol" pitchFamily="18" charset="2"/>
              </a:rPr>
              <a:t>v</a:t>
            </a:r>
            <a:r>
              <a:rPr lang="zh-CN" altLang="en-US" sz="2300" dirty="0" smtClean="0">
                <a:latin typeface="+mn-ea"/>
                <a:ea typeface="+mn-ea"/>
                <a:sym typeface="Symbol" pitchFamily="18" charset="2"/>
              </a:rPr>
              <a:t>是从</a:t>
            </a:r>
            <a:r>
              <a:rPr lang="en-US" altLang="zh-CN" sz="2300" dirty="0" smtClean="0">
                <a:latin typeface="+mn-ea"/>
                <a:ea typeface="+mn-ea"/>
                <a:sym typeface="Symbol" pitchFamily="18" charset="2"/>
              </a:rPr>
              <a:t>u</a:t>
            </a:r>
            <a:r>
              <a:rPr lang="zh-CN" altLang="en-US" sz="2300" dirty="0" smtClean="0">
                <a:latin typeface="+mn-ea"/>
                <a:ea typeface="+mn-ea"/>
                <a:sym typeface="Symbol" pitchFamily="18" charset="2"/>
              </a:rPr>
              <a:t>出发可到达的，同时，</a:t>
            </a:r>
            <a:r>
              <a:rPr lang="en-US" altLang="zh-CN" sz="2300" dirty="0" smtClean="0">
                <a:latin typeface="+mn-ea"/>
                <a:ea typeface="+mn-ea"/>
                <a:sym typeface="Symbol" pitchFamily="18" charset="2"/>
              </a:rPr>
              <a:t>u</a:t>
            </a:r>
            <a:r>
              <a:rPr lang="zh-CN" altLang="en-US" sz="2300" dirty="0" smtClean="0">
                <a:latin typeface="+mn-ea"/>
                <a:ea typeface="+mn-ea"/>
                <a:sym typeface="Symbol" pitchFamily="18" charset="2"/>
              </a:rPr>
              <a:t>也是从</a:t>
            </a:r>
            <a:r>
              <a:rPr lang="en-US" altLang="zh-CN" sz="2300" dirty="0" smtClean="0">
                <a:latin typeface="+mn-ea"/>
                <a:ea typeface="+mn-ea"/>
                <a:sym typeface="Symbol" pitchFamily="18" charset="2"/>
              </a:rPr>
              <a:t>v</a:t>
            </a:r>
            <a:r>
              <a:rPr lang="zh-CN" altLang="en-US" sz="2300" dirty="0" smtClean="0">
                <a:latin typeface="+mn-ea"/>
                <a:ea typeface="+mn-ea"/>
                <a:sym typeface="Symbol" pitchFamily="18" charset="2"/>
              </a:rPr>
              <a:t>出发可到达的，这个子图就称为</a:t>
            </a:r>
            <a:r>
              <a:rPr lang="zh-CN" altLang="en-US" sz="2300" dirty="0" smtClean="0">
                <a:solidFill>
                  <a:srgbClr val="FF0000"/>
                </a:solidFill>
                <a:latin typeface="+mn-ea"/>
                <a:ea typeface="+mn-ea"/>
                <a:sym typeface="Symbol" pitchFamily="18" charset="2"/>
              </a:rPr>
              <a:t>强连通分支</a:t>
            </a:r>
            <a:r>
              <a:rPr lang="zh-CN" altLang="en-US" sz="2300" dirty="0" smtClean="0">
                <a:latin typeface="+mn-ea"/>
                <a:ea typeface="+mn-ea"/>
                <a:sym typeface="Symbol" pitchFamily="18" charset="2"/>
              </a:rPr>
              <a:t>。</a:t>
            </a:r>
            <a:endParaRPr lang="en-US" altLang="zh-CN" dirty="0" smtClean="0">
              <a:latin typeface="+mn-ea"/>
              <a:ea typeface="+mn-ea"/>
            </a:endParaRPr>
          </a:p>
        </p:txBody>
      </p:sp>
    </p:spTree>
    <p:extLst>
      <p:ext uri="{BB962C8B-B14F-4D97-AF65-F5344CB8AC3E}">
        <p14:creationId xmlns:p14="http://schemas.microsoft.com/office/powerpoint/2010/main" val="2162705416"/>
      </p:ext>
    </p:extLst>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67587" name="Rectangle 2"/>
          <p:cNvSpPr>
            <a:spLocks noGrp="1" noChangeArrowheads="1"/>
          </p:cNvSpPr>
          <p:nvPr>
            <p:ph type="title"/>
          </p:nvPr>
        </p:nvSpPr>
        <p:spPr/>
        <p:txBody>
          <a:bodyPr/>
          <a:lstStyle/>
          <a:p>
            <a:pPr eaLnBrk="1" hangingPunct="1"/>
            <a:r>
              <a:rPr lang="en-US" altLang="zh-CN" dirty="0">
                <a:solidFill>
                  <a:srgbClr val="333399"/>
                </a:solidFill>
              </a:rPr>
              <a:t>1.4.</a:t>
            </a:r>
            <a:r>
              <a:rPr lang="en-US" altLang="zh-CN" dirty="0" smtClean="0"/>
              <a:t>5</a:t>
            </a:r>
            <a:r>
              <a:rPr lang="en-US" altLang="zh-CN" kern="0" dirty="0" smtClean="0"/>
              <a:t> </a:t>
            </a:r>
            <a:r>
              <a:rPr lang="zh-CN" altLang="en-US" kern="0" dirty="0" smtClean="0"/>
              <a:t>图</a:t>
            </a:r>
            <a:endParaRPr lang="en-US" altLang="zh-CN" dirty="0" smtClean="0"/>
          </a:p>
        </p:txBody>
      </p:sp>
      <p:sp>
        <p:nvSpPr>
          <p:cNvPr id="100355" name="Rectangle 3"/>
          <p:cNvSpPr>
            <a:spLocks noGrp="1" noChangeArrowheads="1"/>
          </p:cNvSpPr>
          <p:nvPr>
            <p:ph type="body" idx="1"/>
          </p:nvPr>
        </p:nvSpPr>
        <p:spPr>
          <a:xfrm>
            <a:off x="900113" y="1125538"/>
            <a:ext cx="7786687" cy="4525962"/>
          </a:xfrm>
        </p:spPr>
        <p:txBody>
          <a:bodyPr/>
          <a:lstStyle/>
          <a:p>
            <a:pPr eaLnBrk="1" hangingPunct="1">
              <a:defRPr/>
            </a:pPr>
            <a:r>
              <a:rPr lang="zh-CN" altLang="en-US" sz="2800" dirty="0" smtClean="0">
                <a:solidFill>
                  <a:srgbClr val="FF0000"/>
                </a:solidFill>
                <a:sym typeface="Symbol" pitchFamily="18" charset="2"/>
              </a:rPr>
              <a:t>完全图</a:t>
            </a:r>
            <a:r>
              <a:rPr lang="en-US" altLang="zh-CN" sz="2800" dirty="0" smtClean="0">
                <a:sym typeface="Symbol" pitchFamily="18" charset="2"/>
              </a:rPr>
              <a:t>: </a:t>
            </a:r>
          </a:p>
          <a:p>
            <a:pPr lvl="1" eaLnBrk="1" hangingPunct="1">
              <a:defRPr/>
            </a:pPr>
            <a:r>
              <a:rPr lang="zh-CN" altLang="en-US" sz="2400" dirty="0" smtClean="0">
                <a:latin typeface="+mn-lt"/>
                <a:ea typeface="+mn-ea"/>
                <a:sym typeface="Symbol" pitchFamily="18" charset="2"/>
              </a:rPr>
              <a:t>如果一个无向图的每一对顶点之间都恰有一条边，那么这个无向图就称为</a:t>
            </a:r>
            <a:r>
              <a:rPr lang="zh-CN" altLang="en-US" sz="2400" dirty="0" smtClean="0">
                <a:solidFill>
                  <a:srgbClr val="FF0000"/>
                </a:solidFill>
                <a:latin typeface="+mn-lt"/>
                <a:ea typeface="+mn-ea"/>
                <a:sym typeface="Symbol" pitchFamily="18" charset="2"/>
              </a:rPr>
              <a:t>完全图</a:t>
            </a:r>
            <a:r>
              <a:rPr lang="zh-CN" altLang="en-US" sz="2400" dirty="0" smtClean="0">
                <a:latin typeface="+mn-lt"/>
                <a:ea typeface="+mn-ea"/>
                <a:sym typeface="Symbol" pitchFamily="18" charset="2"/>
              </a:rPr>
              <a:t>。如果一个有向图的每个顶点到所有其他顶点之间都恰有一条边，那么这个有向图称为完全图。</a:t>
            </a:r>
            <a:endParaRPr lang="en-US" altLang="zh-CN" sz="2300" dirty="0" smtClean="0">
              <a:latin typeface="+mn-lt"/>
              <a:ea typeface="+mn-ea"/>
              <a:sym typeface="Symbol" pitchFamily="18" charset="2"/>
            </a:endParaRPr>
          </a:p>
          <a:p>
            <a:pPr eaLnBrk="1" hangingPunct="1">
              <a:defRPr/>
            </a:pPr>
            <a:r>
              <a:rPr lang="zh-CN" altLang="en-US" sz="2700" dirty="0" smtClean="0">
                <a:solidFill>
                  <a:srgbClr val="FF0000"/>
                </a:solidFill>
                <a:sym typeface="Symbol" pitchFamily="18" charset="2"/>
              </a:rPr>
              <a:t>二分图</a:t>
            </a:r>
            <a:r>
              <a:rPr lang="en-US" altLang="zh-CN" sz="2700" dirty="0" smtClean="0">
                <a:sym typeface="Symbol" pitchFamily="18" charset="2"/>
              </a:rPr>
              <a:t>:</a:t>
            </a:r>
          </a:p>
          <a:p>
            <a:pPr lvl="1" eaLnBrk="1" hangingPunct="1">
              <a:defRPr/>
            </a:pPr>
            <a:r>
              <a:rPr lang="zh-CN" altLang="en-US" sz="2400" dirty="0" smtClean="0">
                <a:latin typeface="+mn-lt"/>
                <a:ea typeface="+mn-ea"/>
                <a:sym typeface="Symbol" pitchFamily="18" charset="2"/>
              </a:rPr>
              <a:t>如果在无向图</a:t>
            </a:r>
            <a:r>
              <a:rPr lang="en-US" altLang="zh-CN" sz="2400" dirty="0" smtClean="0">
                <a:latin typeface="+mn-lt"/>
                <a:ea typeface="+mn-ea"/>
                <a:sym typeface="Symbol" pitchFamily="18" charset="2"/>
              </a:rPr>
              <a:t>G=(V,E) </a:t>
            </a:r>
            <a:r>
              <a:rPr lang="zh-CN" altLang="en-US" sz="2400" dirty="0" smtClean="0">
                <a:latin typeface="+mn-lt"/>
                <a:ea typeface="+mn-ea"/>
                <a:sym typeface="Symbol" pitchFamily="18" charset="2"/>
              </a:rPr>
              <a:t>中，</a:t>
            </a:r>
            <a:r>
              <a:rPr lang="en-US" altLang="zh-CN" sz="2300" dirty="0" smtClean="0">
                <a:latin typeface="+mn-lt"/>
                <a:ea typeface="+mn-ea"/>
                <a:sym typeface="Symbol" pitchFamily="18" charset="2"/>
              </a:rPr>
              <a:t> V</a:t>
            </a:r>
            <a:r>
              <a:rPr lang="zh-CN" altLang="en-US" sz="2300" dirty="0" smtClean="0">
                <a:latin typeface="+mn-lt"/>
                <a:ea typeface="+mn-ea"/>
                <a:sym typeface="Symbol" pitchFamily="18" charset="2"/>
              </a:rPr>
              <a:t>可以分成两个不相交的子集</a:t>
            </a:r>
            <a:r>
              <a:rPr lang="en-US" altLang="zh-CN" sz="2300" dirty="0" smtClean="0">
                <a:latin typeface="+mn-lt"/>
                <a:ea typeface="+mn-ea"/>
                <a:sym typeface="Symbol" pitchFamily="18" charset="2"/>
              </a:rPr>
              <a:t> X </a:t>
            </a:r>
            <a:r>
              <a:rPr lang="zh-CN" altLang="en-US" sz="2300" dirty="0" smtClean="0">
                <a:latin typeface="+mn-lt"/>
                <a:ea typeface="+mn-ea"/>
                <a:sym typeface="Symbol" pitchFamily="18" charset="2"/>
              </a:rPr>
              <a:t>和</a:t>
            </a:r>
            <a:r>
              <a:rPr lang="en-US" altLang="zh-CN" sz="2300" dirty="0" smtClean="0">
                <a:latin typeface="+mn-lt"/>
                <a:ea typeface="+mn-ea"/>
                <a:sym typeface="Symbol" pitchFamily="18" charset="2"/>
              </a:rPr>
              <a:t>Y </a:t>
            </a:r>
            <a:r>
              <a:rPr lang="zh-CN" altLang="en-US" sz="2300" dirty="0" smtClean="0">
                <a:latin typeface="+mn-lt"/>
                <a:ea typeface="+mn-ea"/>
                <a:sym typeface="Symbol" pitchFamily="18" charset="2"/>
              </a:rPr>
              <a:t>，使得</a:t>
            </a:r>
            <a:r>
              <a:rPr lang="en-US" altLang="zh-CN" sz="2300" dirty="0" smtClean="0">
                <a:latin typeface="+mn-lt"/>
                <a:ea typeface="+mn-ea"/>
                <a:sym typeface="Symbol" pitchFamily="18" charset="2"/>
              </a:rPr>
              <a:t>E </a:t>
            </a:r>
            <a:r>
              <a:rPr lang="zh-CN" altLang="en-US" sz="2300" dirty="0" smtClean="0">
                <a:latin typeface="+mn-lt"/>
                <a:ea typeface="+mn-ea"/>
                <a:sym typeface="Symbol" pitchFamily="18" charset="2"/>
              </a:rPr>
              <a:t>中的每一条边的一端在 </a:t>
            </a:r>
            <a:r>
              <a:rPr lang="en-US" altLang="zh-CN" sz="2300" dirty="0" smtClean="0">
                <a:latin typeface="+mn-lt"/>
                <a:ea typeface="+mn-ea"/>
                <a:sym typeface="Symbol" pitchFamily="18" charset="2"/>
              </a:rPr>
              <a:t>X </a:t>
            </a:r>
            <a:r>
              <a:rPr lang="zh-CN" altLang="en-US" sz="2300" dirty="0" smtClean="0">
                <a:latin typeface="+mn-lt"/>
                <a:ea typeface="+mn-ea"/>
                <a:sym typeface="Symbol" pitchFamily="18" charset="2"/>
              </a:rPr>
              <a:t>中而另一端在 </a:t>
            </a:r>
            <a:r>
              <a:rPr lang="en-US" altLang="zh-CN" sz="2300" dirty="0" smtClean="0">
                <a:latin typeface="+mn-lt"/>
                <a:ea typeface="+mn-ea"/>
                <a:sym typeface="Symbol" pitchFamily="18" charset="2"/>
              </a:rPr>
              <a:t>Y </a:t>
            </a:r>
            <a:r>
              <a:rPr lang="zh-CN" altLang="en-US" sz="2300" dirty="0" smtClean="0">
                <a:latin typeface="+mn-lt"/>
                <a:ea typeface="+mn-ea"/>
                <a:sym typeface="Symbol" pitchFamily="18" charset="2"/>
              </a:rPr>
              <a:t>中，则无向图称为二分图。如果在任意的顶点</a:t>
            </a:r>
            <a:r>
              <a:rPr lang="en-US" altLang="zh-CN" sz="2300" dirty="0" smtClean="0">
                <a:latin typeface="+mn-lt"/>
                <a:ea typeface="+mn-ea"/>
                <a:sym typeface="Symbol" pitchFamily="18" charset="2"/>
              </a:rPr>
              <a:t> </a:t>
            </a:r>
            <a:r>
              <a:rPr lang="en-US" altLang="zh-CN" sz="2300" dirty="0" err="1" smtClean="0">
                <a:latin typeface="+mn-lt"/>
                <a:ea typeface="+mn-ea"/>
                <a:sym typeface="Symbol" pitchFamily="18" charset="2"/>
              </a:rPr>
              <a:t>xX</a:t>
            </a:r>
            <a:r>
              <a:rPr lang="en-US" altLang="zh-CN" sz="2300" dirty="0" smtClean="0">
                <a:latin typeface="+mn-lt"/>
                <a:ea typeface="+mn-ea"/>
                <a:sym typeface="Symbol" pitchFamily="18" charset="2"/>
              </a:rPr>
              <a:t> </a:t>
            </a:r>
            <a:r>
              <a:rPr lang="zh-CN" altLang="en-US" sz="2300" dirty="0" smtClean="0">
                <a:latin typeface="+mn-lt"/>
                <a:ea typeface="+mn-ea"/>
                <a:sym typeface="Symbol" pitchFamily="18" charset="2"/>
              </a:rPr>
              <a:t>和</a:t>
            </a:r>
            <a:r>
              <a:rPr lang="en-US" altLang="zh-CN" sz="2300" dirty="0" err="1" smtClean="0">
                <a:latin typeface="+mn-lt"/>
                <a:ea typeface="+mn-ea"/>
                <a:sym typeface="Symbol" pitchFamily="18" charset="2"/>
              </a:rPr>
              <a:t>yY</a:t>
            </a:r>
            <a:r>
              <a:rPr lang="zh-CN" altLang="en-US" sz="2300" dirty="0" smtClean="0">
                <a:latin typeface="+mn-lt"/>
                <a:ea typeface="+mn-ea"/>
                <a:sym typeface="Symbol" pitchFamily="18" charset="2"/>
              </a:rPr>
              <a:t>之间都有一条边，它就称为</a:t>
            </a:r>
            <a:r>
              <a:rPr lang="zh-CN" altLang="en-US" sz="2300" dirty="0" smtClean="0">
                <a:solidFill>
                  <a:srgbClr val="FF0000"/>
                </a:solidFill>
                <a:latin typeface="+mn-lt"/>
                <a:ea typeface="+mn-ea"/>
                <a:sym typeface="Symbol" pitchFamily="18" charset="2"/>
              </a:rPr>
              <a:t>完全二分图</a:t>
            </a:r>
            <a:r>
              <a:rPr lang="zh-CN" altLang="en-US" sz="2300" dirty="0" smtClean="0">
                <a:latin typeface="+mn-lt"/>
                <a:ea typeface="+mn-ea"/>
                <a:sym typeface="Symbol" pitchFamily="18" charset="2"/>
              </a:rPr>
              <a:t>。</a:t>
            </a:r>
            <a:endParaRPr lang="en-US" altLang="zh-CN" sz="2300" dirty="0" smtClean="0">
              <a:latin typeface="+mn-lt"/>
              <a:ea typeface="+mn-ea"/>
              <a:sym typeface="Symbol" pitchFamily="18" charset="2"/>
            </a:endParaRPr>
          </a:p>
        </p:txBody>
      </p:sp>
      <p:pic>
        <p:nvPicPr>
          <p:cNvPr id="67589" name="Picture 6" descr="二分图模型"/>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063" y="3929063"/>
            <a:ext cx="1000125" cy="189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590"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57813" y="214313"/>
            <a:ext cx="3248025" cy="143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88862668"/>
      </p:ext>
    </p:extLst>
  </p:cSld>
  <p:clrMapOvr>
    <a:masterClrMapping/>
  </p:clrMapOvr>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68611" name="Rectangle 2"/>
          <p:cNvSpPr>
            <a:spLocks noGrp="1" noChangeArrowheads="1"/>
          </p:cNvSpPr>
          <p:nvPr>
            <p:ph type="title"/>
          </p:nvPr>
        </p:nvSpPr>
        <p:spPr/>
        <p:txBody>
          <a:bodyPr/>
          <a:lstStyle/>
          <a:p>
            <a:pPr eaLnBrk="1" hangingPunct="1"/>
            <a:r>
              <a:rPr lang="en-US" altLang="zh-CN" dirty="0">
                <a:solidFill>
                  <a:srgbClr val="333399"/>
                </a:solidFill>
              </a:rPr>
              <a:t>1.4.</a:t>
            </a:r>
            <a:r>
              <a:rPr lang="en-US" altLang="zh-CN" dirty="0" smtClean="0"/>
              <a:t>5</a:t>
            </a:r>
            <a:r>
              <a:rPr lang="en-US" altLang="zh-CN" kern="0" dirty="0" smtClean="0"/>
              <a:t> </a:t>
            </a:r>
            <a:r>
              <a:rPr lang="zh-CN" altLang="en-US" kern="0" dirty="0" smtClean="0"/>
              <a:t>图</a:t>
            </a:r>
            <a:r>
              <a:rPr lang="en-US" altLang="zh-CN" kern="0" dirty="0" smtClean="0"/>
              <a:t>——</a:t>
            </a:r>
            <a:r>
              <a:rPr lang="zh-CN" altLang="en-US" kern="0" dirty="0" smtClean="0"/>
              <a:t>表示方法</a:t>
            </a:r>
            <a:endParaRPr lang="en-US" altLang="zh-CN" dirty="0" smtClean="0"/>
          </a:p>
        </p:txBody>
      </p:sp>
      <p:sp>
        <p:nvSpPr>
          <p:cNvPr id="101379" name="Rectangle 3"/>
          <p:cNvSpPr>
            <a:spLocks noGrp="1" noChangeArrowheads="1"/>
          </p:cNvSpPr>
          <p:nvPr>
            <p:ph type="body" idx="1"/>
          </p:nvPr>
        </p:nvSpPr>
        <p:spPr/>
        <p:txBody>
          <a:bodyPr/>
          <a:lstStyle/>
          <a:p>
            <a:pPr eaLnBrk="1" hangingPunct="1">
              <a:defRPr/>
            </a:pPr>
            <a:r>
              <a:rPr lang="zh-CN" altLang="en-US" dirty="0" smtClean="0">
                <a:solidFill>
                  <a:srgbClr val="FF0000"/>
                </a:solidFill>
              </a:rPr>
              <a:t>邻接矩阵</a:t>
            </a:r>
            <a:r>
              <a:rPr lang="en-US" altLang="zh-CN" dirty="0" smtClean="0"/>
              <a:t>: </a:t>
            </a:r>
          </a:p>
          <a:p>
            <a:pPr lvl="1" eaLnBrk="1" hangingPunct="1">
              <a:defRPr/>
            </a:pPr>
            <a:r>
              <a:rPr lang="zh-CN" altLang="en-US" dirty="0" smtClean="0">
                <a:latin typeface="+mn-lt"/>
                <a:ea typeface="+mn-ea"/>
              </a:rPr>
              <a:t>图</a:t>
            </a:r>
            <a:r>
              <a:rPr lang="en-US" altLang="zh-CN" dirty="0" smtClean="0">
                <a:latin typeface="+mn-lt"/>
                <a:ea typeface="+mn-ea"/>
              </a:rPr>
              <a:t>G=(V,E) </a:t>
            </a:r>
            <a:r>
              <a:rPr lang="zh-CN" altLang="en-US" dirty="0" smtClean="0">
                <a:latin typeface="+mn-lt"/>
                <a:ea typeface="+mn-ea"/>
              </a:rPr>
              <a:t>可以用一个布尔矩阵</a:t>
            </a:r>
            <a:r>
              <a:rPr lang="en-US" altLang="zh-CN" dirty="0" smtClean="0">
                <a:latin typeface="+mn-lt"/>
                <a:ea typeface="+mn-ea"/>
              </a:rPr>
              <a:t>M</a:t>
            </a:r>
            <a:r>
              <a:rPr lang="zh-CN" altLang="en-US" dirty="0" smtClean="0">
                <a:latin typeface="+mn-lt"/>
                <a:ea typeface="+mn-ea"/>
              </a:rPr>
              <a:t>方便的表示</a:t>
            </a:r>
            <a:r>
              <a:rPr lang="en-US" altLang="zh-CN" dirty="0" smtClean="0">
                <a:latin typeface="+mn-lt"/>
                <a:ea typeface="+mn-ea"/>
              </a:rPr>
              <a:t>, </a:t>
            </a:r>
            <a:r>
              <a:rPr lang="zh-CN" altLang="en-US" dirty="0" smtClean="0">
                <a:latin typeface="+mn-lt"/>
                <a:ea typeface="+mn-ea"/>
              </a:rPr>
              <a:t>它是这样定义的，当且仅当</a:t>
            </a:r>
            <a:r>
              <a:rPr lang="en-US" altLang="zh-CN" dirty="0" smtClean="0">
                <a:latin typeface="+mn-lt"/>
                <a:ea typeface="+mn-ea"/>
              </a:rPr>
              <a:t> (</a:t>
            </a:r>
            <a:r>
              <a:rPr lang="en-US" altLang="zh-CN" dirty="0" err="1" smtClean="0">
                <a:latin typeface="+mn-lt"/>
                <a:ea typeface="+mn-ea"/>
              </a:rPr>
              <a:t>v</a:t>
            </a:r>
            <a:r>
              <a:rPr lang="en-US" altLang="zh-CN" baseline="-25000" dirty="0" err="1" smtClean="0">
                <a:latin typeface="+mn-lt"/>
                <a:ea typeface="+mn-ea"/>
              </a:rPr>
              <a:t>i</a:t>
            </a:r>
            <a:r>
              <a:rPr lang="en-US" altLang="zh-CN" dirty="0" err="1" smtClean="0">
                <a:latin typeface="+mn-lt"/>
                <a:ea typeface="+mn-ea"/>
              </a:rPr>
              <a:t>,v</a:t>
            </a:r>
            <a:r>
              <a:rPr lang="en-US" altLang="zh-CN" baseline="-25000" dirty="0" err="1" smtClean="0">
                <a:latin typeface="+mn-lt"/>
                <a:ea typeface="+mn-ea"/>
              </a:rPr>
              <a:t>j</a:t>
            </a:r>
            <a:r>
              <a:rPr lang="en-US" altLang="zh-CN" dirty="0" smtClean="0">
                <a:latin typeface="+mn-lt"/>
                <a:ea typeface="+mn-ea"/>
              </a:rPr>
              <a:t>) </a:t>
            </a:r>
            <a:r>
              <a:rPr lang="zh-CN" altLang="en-US" dirty="0" smtClean="0">
                <a:latin typeface="+mn-lt"/>
                <a:ea typeface="+mn-ea"/>
              </a:rPr>
              <a:t>是</a:t>
            </a:r>
            <a:r>
              <a:rPr lang="en-US" altLang="zh-CN" dirty="0" smtClean="0">
                <a:latin typeface="+mn-lt"/>
                <a:ea typeface="+mn-ea"/>
              </a:rPr>
              <a:t>G</a:t>
            </a:r>
            <a:r>
              <a:rPr lang="zh-CN" altLang="en-US" dirty="0" smtClean="0">
                <a:latin typeface="+mn-lt"/>
                <a:ea typeface="+mn-ea"/>
              </a:rPr>
              <a:t>中的一条边时，</a:t>
            </a:r>
            <a:r>
              <a:rPr lang="en-US" altLang="zh-CN" dirty="0" smtClean="0">
                <a:latin typeface="+mn-lt"/>
                <a:ea typeface="+mn-ea"/>
              </a:rPr>
              <a:t>M[</a:t>
            </a:r>
            <a:r>
              <a:rPr lang="en-US" altLang="zh-CN" dirty="0" err="1" smtClean="0">
                <a:latin typeface="+mn-lt"/>
                <a:ea typeface="+mn-ea"/>
              </a:rPr>
              <a:t>i,j</a:t>
            </a:r>
            <a:r>
              <a:rPr lang="en-US" altLang="zh-CN" dirty="0" smtClean="0">
                <a:latin typeface="+mn-lt"/>
                <a:ea typeface="+mn-ea"/>
              </a:rPr>
              <a:t>]=1</a:t>
            </a:r>
            <a:r>
              <a:rPr lang="zh-CN" altLang="en-US" dirty="0" smtClean="0">
                <a:latin typeface="+mn-lt"/>
                <a:ea typeface="+mn-ea"/>
              </a:rPr>
              <a:t>，矩阵</a:t>
            </a:r>
            <a:r>
              <a:rPr lang="en-US" altLang="zh-CN" dirty="0" smtClean="0">
                <a:latin typeface="+mn-lt"/>
                <a:ea typeface="+mn-ea"/>
              </a:rPr>
              <a:t>M</a:t>
            </a:r>
            <a:r>
              <a:rPr lang="zh-CN" altLang="en-US" dirty="0" smtClean="0">
                <a:latin typeface="+mn-lt"/>
                <a:ea typeface="+mn-ea"/>
              </a:rPr>
              <a:t>称为</a:t>
            </a:r>
            <a:r>
              <a:rPr lang="en-US" altLang="zh-CN" dirty="0" smtClean="0">
                <a:latin typeface="+mn-lt"/>
                <a:ea typeface="+mn-ea"/>
              </a:rPr>
              <a:t>G</a:t>
            </a:r>
            <a:r>
              <a:rPr lang="zh-CN" altLang="en-US" dirty="0" smtClean="0">
                <a:latin typeface="+mn-lt"/>
                <a:ea typeface="+mn-ea"/>
              </a:rPr>
              <a:t>的邻接矩阵。有</a:t>
            </a:r>
            <a:r>
              <a:rPr lang="en-US" altLang="zh-CN" dirty="0" smtClean="0">
                <a:latin typeface="+mn-lt"/>
                <a:ea typeface="+mn-ea"/>
              </a:rPr>
              <a:t>n</a:t>
            </a:r>
            <a:r>
              <a:rPr lang="zh-CN" altLang="en-US" dirty="0" smtClean="0">
                <a:latin typeface="+mn-lt"/>
                <a:ea typeface="+mn-ea"/>
              </a:rPr>
              <a:t>个顶点的图的邻接矩阵有</a:t>
            </a:r>
            <a:r>
              <a:rPr lang="en-US" altLang="zh-CN" dirty="0" smtClean="0">
                <a:latin typeface="+mn-lt"/>
                <a:ea typeface="+mn-ea"/>
              </a:rPr>
              <a:t> n</a:t>
            </a:r>
            <a:r>
              <a:rPr lang="en-US" altLang="zh-CN" baseline="30000" dirty="0" smtClean="0">
                <a:latin typeface="+mn-lt"/>
                <a:ea typeface="+mn-ea"/>
              </a:rPr>
              <a:t>2</a:t>
            </a:r>
            <a:r>
              <a:rPr lang="en-US" altLang="zh-CN" dirty="0" smtClean="0">
                <a:latin typeface="+mn-lt"/>
                <a:ea typeface="+mn-ea"/>
              </a:rPr>
              <a:t> </a:t>
            </a:r>
            <a:r>
              <a:rPr lang="zh-CN" altLang="en-US" dirty="0" smtClean="0">
                <a:latin typeface="+mn-lt"/>
                <a:ea typeface="+mn-ea"/>
              </a:rPr>
              <a:t>项。</a:t>
            </a:r>
            <a:endParaRPr lang="en-US" altLang="zh-CN" dirty="0" smtClean="0">
              <a:latin typeface="+mn-lt"/>
              <a:ea typeface="+mn-ea"/>
            </a:endParaRPr>
          </a:p>
          <a:p>
            <a:pPr eaLnBrk="1" hangingPunct="1">
              <a:defRPr/>
            </a:pPr>
            <a:r>
              <a:rPr lang="zh-CN" altLang="en-US" dirty="0" smtClean="0">
                <a:solidFill>
                  <a:srgbClr val="FF0000"/>
                </a:solidFill>
              </a:rPr>
              <a:t>邻接表</a:t>
            </a:r>
            <a:r>
              <a:rPr lang="en-US" altLang="zh-CN" dirty="0" smtClean="0"/>
              <a:t>: </a:t>
            </a:r>
          </a:p>
          <a:p>
            <a:pPr lvl="1" eaLnBrk="1" hangingPunct="1">
              <a:defRPr/>
            </a:pPr>
            <a:r>
              <a:rPr lang="zh-CN" altLang="en-US" dirty="0" smtClean="0">
                <a:latin typeface="+mn-lt"/>
                <a:ea typeface="+mn-ea"/>
              </a:rPr>
              <a:t>图的另一种表示法是邻接表表示法。一个顶点的所有邻接顶点用一个链表来表示，共有</a:t>
            </a:r>
            <a:r>
              <a:rPr lang="en-US" altLang="zh-CN" dirty="0" smtClean="0">
                <a:latin typeface="+mn-lt"/>
                <a:ea typeface="+mn-ea"/>
              </a:rPr>
              <a:t> |V| </a:t>
            </a:r>
            <a:r>
              <a:rPr lang="zh-CN" altLang="en-US" dirty="0" smtClean="0">
                <a:latin typeface="+mn-lt"/>
                <a:ea typeface="+mn-ea"/>
              </a:rPr>
              <a:t>个这样的表。邻接表要花费 </a:t>
            </a:r>
            <a:r>
              <a:rPr lang="en-US" altLang="zh-CN" dirty="0" smtClean="0">
                <a:latin typeface="+mn-lt"/>
                <a:ea typeface="+mn-ea"/>
                <a:sym typeface="Symbol" pitchFamily="18" charset="2"/>
              </a:rPr>
              <a:t>(</a:t>
            </a:r>
            <a:r>
              <a:rPr lang="en-US" altLang="zh-CN" dirty="0" err="1" smtClean="0">
                <a:latin typeface="+mn-lt"/>
                <a:ea typeface="+mn-ea"/>
                <a:sym typeface="Symbol" pitchFamily="18" charset="2"/>
              </a:rPr>
              <a:t>m+n</a:t>
            </a:r>
            <a:r>
              <a:rPr lang="en-US" altLang="zh-CN" dirty="0" smtClean="0">
                <a:latin typeface="+mn-lt"/>
                <a:ea typeface="+mn-ea"/>
                <a:sym typeface="Symbol" pitchFamily="18" charset="2"/>
              </a:rPr>
              <a:t>) </a:t>
            </a:r>
            <a:r>
              <a:rPr lang="zh-CN" altLang="en-US" dirty="0" smtClean="0">
                <a:latin typeface="+mn-lt"/>
                <a:ea typeface="+mn-ea"/>
                <a:sym typeface="Symbol" pitchFamily="18" charset="2"/>
              </a:rPr>
              <a:t>空间来表示有 </a:t>
            </a:r>
            <a:r>
              <a:rPr lang="en-US" altLang="zh-CN" dirty="0" smtClean="0">
                <a:latin typeface="+mn-lt"/>
                <a:ea typeface="+mn-ea"/>
                <a:sym typeface="Symbol" pitchFamily="18" charset="2"/>
              </a:rPr>
              <a:t>n </a:t>
            </a:r>
            <a:r>
              <a:rPr lang="zh-CN" altLang="en-US" dirty="0" smtClean="0">
                <a:latin typeface="+mn-lt"/>
                <a:ea typeface="+mn-ea"/>
                <a:sym typeface="Symbol" pitchFamily="18" charset="2"/>
              </a:rPr>
              <a:t>个顶点和</a:t>
            </a:r>
            <a:r>
              <a:rPr lang="en-US" altLang="zh-CN" dirty="0" smtClean="0">
                <a:latin typeface="+mn-lt"/>
                <a:ea typeface="+mn-ea"/>
                <a:sym typeface="Symbol" pitchFamily="18" charset="2"/>
              </a:rPr>
              <a:t>m</a:t>
            </a:r>
            <a:r>
              <a:rPr lang="zh-CN" altLang="en-US" dirty="0" smtClean="0">
                <a:latin typeface="+mn-lt"/>
                <a:ea typeface="+mn-ea"/>
                <a:sym typeface="Symbol" pitchFamily="18" charset="2"/>
              </a:rPr>
              <a:t>条边的图。</a:t>
            </a:r>
            <a:endParaRPr lang="en-US" altLang="zh-CN" dirty="0" smtClean="0">
              <a:latin typeface="+mn-lt"/>
              <a:ea typeface="+mn-ea"/>
            </a:endParaRPr>
          </a:p>
        </p:txBody>
      </p:sp>
    </p:spTree>
    <p:extLst>
      <p:ext uri="{BB962C8B-B14F-4D97-AF65-F5344CB8AC3E}">
        <p14:creationId xmlns:p14="http://schemas.microsoft.com/office/powerpoint/2010/main" val="395101882"/>
      </p:ext>
    </p:extLst>
  </p:cSld>
  <p:clrMapOvr>
    <a:masterClrMapping/>
  </p:clrMapOvr>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lstStyle/>
          <a:p>
            <a:pPr>
              <a:buClr>
                <a:schemeClr val="hlink"/>
              </a:buClr>
              <a:buSzPct val="50000"/>
              <a:buFont typeface="Monotype Sorts"/>
              <a:buNone/>
            </a:pPr>
            <a:r>
              <a:rPr lang="en-US" altLang="zh-CN" dirty="0">
                <a:solidFill>
                  <a:srgbClr val="333399"/>
                </a:solidFill>
              </a:rPr>
              <a:t>1.4.</a:t>
            </a:r>
            <a:r>
              <a:rPr lang="en-US" altLang="zh-CN" dirty="0" smtClean="0"/>
              <a:t>5</a:t>
            </a:r>
            <a:r>
              <a:rPr lang="en-US" altLang="zh-CN" kern="0" dirty="0" smtClean="0"/>
              <a:t> </a:t>
            </a:r>
            <a:r>
              <a:rPr lang="zh-CN" altLang="en-US" kern="0" dirty="0" smtClean="0"/>
              <a:t>图</a:t>
            </a:r>
            <a:r>
              <a:rPr lang="en-US" altLang="zh-CN" kern="0" dirty="0" smtClean="0"/>
              <a:t>——</a:t>
            </a:r>
            <a:r>
              <a:rPr lang="zh-CN" altLang="en-US" dirty="0" smtClean="0"/>
              <a:t>邻接矩阵</a:t>
            </a:r>
          </a:p>
        </p:txBody>
      </p:sp>
      <p:sp>
        <p:nvSpPr>
          <p:cNvPr id="15364" name="Rectangle 3"/>
          <p:cNvSpPr>
            <a:spLocks noGrp="1" noChangeArrowheads="1"/>
          </p:cNvSpPr>
          <p:nvPr>
            <p:ph type="body" idx="1"/>
          </p:nvPr>
        </p:nvSpPr>
        <p:spPr/>
        <p:txBody>
          <a:bodyPr/>
          <a:lstStyle/>
          <a:p>
            <a:r>
              <a:rPr lang="zh-CN" altLang="en-US" sz="2800" smtClean="0">
                <a:solidFill>
                  <a:srgbClr val="FF0000"/>
                </a:solidFill>
              </a:rPr>
              <a:t>邻接矩阵</a:t>
            </a:r>
            <a:r>
              <a:rPr lang="zh-CN" altLang="en-US" sz="2800" smtClean="0"/>
              <a:t>：表示顶点之间相邻关系的矩阵。所谓两顶点的相邻关系即它们之间有边相连。</a:t>
            </a:r>
          </a:p>
          <a:p>
            <a:r>
              <a:rPr lang="zh-CN" altLang="en-US" sz="2800" smtClean="0">
                <a:solidFill>
                  <a:srgbClr val="FF0000"/>
                </a:solidFill>
              </a:rPr>
              <a:t>邻接矩阵</a:t>
            </a:r>
            <a:r>
              <a:rPr lang="zh-CN" altLang="en-US" sz="2800" smtClean="0"/>
              <a:t>是一个（</a:t>
            </a:r>
            <a:r>
              <a:rPr lang="en-US" altLang="zh-CN" sz="2800" smtClean="0"/>
              <a:t>n×n</a:t>
            </a:r>
            <a:r>
              <a:rPr lang="zh-CN" altLang="en-US" sz="2800" smtClean="0"/>
              <a:t>）阶方阵，</a:t>
            </a:r>
            <a:r>
              <a:rPr lang="en-US" altLang="zh-CN" sz="2800" smtClean="0"/>
              <a:t>n</a:t>
            </a:r>
            <a:r>
              <a:rPr lang="zh-CN" altLang="en-US" sz="2800" smtClean="0"/>
              <a:t>为图的顶点数，它的每一行分别对应图的各个顶点，它的每一列也分别对应图的各个顶点。我们规定矩阵的元素为：</a:t>
            </a:r>
          </a:p>
        </p:txBody>
      </p:sp>
      <p:graphicFrame>
        <p:nvGraphicFramePr>
          <p:cNvPr id="15362" name="Object 2"/>
          <p:cNvGraphicFramePr>
            <a:graphicFrameLocks noChangeAspect="1"/>
          </p:cNvGraphicFramePr>
          <p:nvPr/>
        </p:nvGraphicFramePr>
        <p:xfrm>
          <a:off x="0" y="4143375"/>
          <a:ext cx="9144000" cy="990600"/>
        </p:xfrm>
        <a:graphic>
          <a:graphicData uri="http://schemas.openxmlformats.org/presentationml/2006/ole">
            <mc:AlternateContent xmlns:mc="http://schemas.openxmlformats.org/markup-compatibility/2006">
              <mc:Choice xmlns:v="urn:schemas-microsoft-com:vml" Requires="v">
                <p:oleObj spid="_x0000_s36874" name="Equation" r:id="rId3" imgW="4457520" imgH="482400" progId="Equation.3">
                  <p:embed/>
                </p:oleObj>
              </mc:Choice>
              <mc:Fallback>
                <p:oleObj name="Equation" r:id="rId3" imgW="4457520" imgH="482400" progId="Equation.3">
                  <p:embed/>
                  <p:pic>
                    <p:nvPicPr>
                      <p:cNvPr id="1536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4143375"/>
                        <a:ext cx="9144000" cy="990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65"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Tree>
    <p:extLst>
      <p:ext uri="{BB962C8B-B14F-4D97-AF65-F5344CB8AC3E}">
        <p14:creationId xmlns:p14="http://schemas.microsoft.com/office/powerpoint/2010/main" val="2655247925"/>
      </p:ext>
    </p:extLst>
  </p:cSld>
  <p:clrMapOvr>
    <a:masterClrMapping/>
  </p:clrMapOvr>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2"/>
          <p:cNvSpPr>
            <a:spLocks noGrp="1" noChangeArrowheads="1"/>
          </p:cNvSpPr>
          <p:nvPr>
            <p:ph type="title"/>
          </p:nvPr>
        </p:nvSpPr>
        <p:spPr>
          <a:xfrm>
            <a:off x="685800" y="457200"/>
            <a:ext cx="7772400" cy="685800"/>
          </a:xfrm>
        </p:spPr>
        <p:txBody>
          <a:bodyPr/>
          <a:lstStyle/>
          <a:p>
            <a:r>
              <a:rPr lang="en-US" altLang="zh-CN" dirty="0" smtClean="0"/>
              <a:t> </a:t>
            </a:r>
            <a:r>
              <a:rPr lang="en-US" altLang="zh-CN" dirty="0">
                <a:solidFill>
                  <a:srgbClr val="333399"/>
                </a:solidFill>
              </a:rPr>
              <a:t>1.4.</a:t>
            </a:r>
            <a:r>
              <a:rPr lang="en-US" altLang="zh-CN" dirty="0" smtClean="0"/>
              <a:t>5</a:t>
            </a:r>
            <a:r>
              <a:rPr lang="en-US" altLang="zh-CN" kern="0" dirty="0" smtClean="0"/>
              <a:t> </a:t>
            </a:r>
            <a:r>
              <a:rPr lang="zh-CN" altLang="en-US" kern="0" dirty="0" smtClean="0"/>
              <a:t>图</a:t>
            </a:r>
            <a:r>
              <a:rPr lang="en-US" altLang="zh-CN" kern="0" dirty="0" smtClean="0"/>
              <a:t>——</a:t>
            </a:r>
            <a:r>
              <a:rPr lang="zh-CN" altLang="en-US" dirty="0" smtClean="0"/>
              <a:t>无向图的邻接矩阵</a:t>
            </a:r>
          </a:p>
        </p:txBody>
      </p:sp>
      <p:graphicFrame>
        <p:nvGraphicFramePr>
          <p:cNvPr id="16386" name="Object 2"/>
          <p:cNvGraphicFramePr>
            <a:graphicFrameLocks noChangeAspect="1"/>
          </p:cNvGraphicFramePr>
          <p:nvPr/>
        </p:nvGraphicFramePr>
        <p:xfrm>
          <a:off x="533400" y="1676400"/>
          <a:ext cx="3276600" cy="4191000"/>
        </p:xfrm>
        <a:graphic>
          <a:graphicData uri="http://schemas.openxmlformats.org/presentationml/2006/ole">
            <mc:AlternateContent xmlns:mc="http://schemas.openxmlformats.org/markup-compatibility/2006">
              <mc:Choice xmlns:v="urn:schemas-microsoft-com:vml" Requires="v">
                <p:oleObj spid="_x0000_s37906" name="Picture2" r:id="rId3" imgW="952560" imgH="1362240" progId="Word.Picture.8">
                  <p:embed/>
                </p:oleObj>
              </mc:Choice>
              <mc:Fallback>
                <p:oleObj name="Picture2" r:id="rId3" imgW="952560" imgH="1362240" progId="Word.Picture.8">
                  <p:embed/>
                  <p:pic>
                    <p:nvPicPr>
                      <p:cNvPr id="16386"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1676400"/>
                        <a:ext cx="3276600" cy="419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387" name="Object 3"/>
          <p:cNvGraphicFramePr>
            <a:graphicFrameLocks noChangeAspect="1"/>
          </p:cNvGraphicFramePr>
          <p:nvPr/>
        </p:nvGraphicFramePr>
        <p:xfrm>
          <a:off x="4038600" y="1752600"/>
          <a:ext cx="4724400" cy="3962400"/>
        </p:xfrm>
        <a:graphic>
          <a:graphicData uri="http://schemas.openxmlformats.org/presentationml/2006/ole">
            <mc:AlternateContent xmlns:mc="http://schemas.openxmlformats.org/markup-compatibility/2006">
              <mc:Choice xmlns:v="urn:schemas-microsoft-com:vml" Requires="v">
                <p:oleObj spid="_x0000_s37907" name="Picture2" r:id="rId5" imgW="1295280" imgH="1095480" progId="Word.Picture.8">
                  <p:embed/>
                </p:oleObj>
              </mc:Choice>
              <mc:Fallback>
                <p:oleObj name="Picture2" r:id="rId5" imgW="1295280" imgH="1095480" progId="Word.Picture.8">
                  <p:embed/>
                  <p:pic>
                    <p:nvPicPr>
                      <p:cNvPr id="16387"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38600" y="1752600"/>
                        <a:ext cx="4724400" cy="3962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89"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Tree>
    <p:extLst>
      <p:ext uri="{BB962C8B-B14F-4D97-AF65-F5344CB8AC3E}">
        <p14:creationId xmlns:p14="http://schemas.microsoft.com/office/powerpoint/2010/main" val="2925783311"/>
      </p:ext>
    </p:extLst>
  </p:cSld>
  <p:clrMapOvr>
    <a:masterClrMapping/>
  </p:clrMapOvr>
  <p:transition>
    <p:strips dir="ld"/>
  </p:transition>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2"/>
          <p:cNvSpPr>
            <a:spLocks noGrp="1" noChangeArrowheads="1"/>
          </p:cNvSpPr>
          <p:nvPr>
            <p:ph type="title"/>
          </p:nvPr>
        </p:nvSpPr>
        <p:spPr/>
        <p:txBody>
          <a:bodyPr/>
          <a:lstStyle/>
          <a:p>
            <a:r>
              <a:rPr lang="en-US" altLang="zh-CN" dirty="0" smtClean="0"/>
              <a:t> </a:t>
            </a:r>
            <a:r>
              <a:rPr lang="en-US" altLang="zh-CN" dirty="0">
                <a:solidFill>
                  <a:srgbClr val="333399"/>
                </a:solidFill>
              </a:rPr>
              <a:t>1.4.</a:t>
            </a:r>
            <a:r>
              <a:rPr lang="en-US" altLang="zh-CN" dirty="0" smtClean="0"/>
              <a:t>5</a:t>
            </a:r>
            <a:r>
              <a:rPr lang="en-US" altLang="zh-CN" kern="0" dirty="0" smtClean="0"/>
              <a:t> </a:t>
            </a:r>
            <a:r>
              <a:rPr lang="zh-CN" altLang="en-US" kern="0" dirty="0" smtClean="0"/>
              <a:t>图</a:t>
            </a:r>
            <a:r>
              <a:rPr lang="en-US" altLang="zh-CN" kern="0" dirty="0" smtClean="0"/>
              <a:t>——</a:t>
            </a:r>
            <a:r>
              <a:rPr lang="zh-CN" altLang="en-US" dirty="0" smtClean="0"/>
              <a:t>有向图的邻接矩阵</a:t>
            </a:r>
          </a:p>
        </p:txBody>
      </p:sp>
      <p:graphicFrame>
        <p:nvGraphicFramePr>
          <p:cNvPr id="17410" name="Object 2"/>
          <p:cNvGraphicFramePr>
            <a:graphicFrameLocks noChangeAspect="1"/>
          </p:cNvGraphicFramePr>
          <p:nvPr/>
        </p:nvGraphicFramePr>
        <p:xfrm>
          <a:off x="685800" y="1905000"/>
          <a:ext cx="3505200" cy="4419600"/>
        </p:xfrm>
        <a:graphic>
          <a:graphicData uri="http://schemas.openxmlformats.org/presentationml/2006/ole">
            <mc:AlternateContent xmlns:mc="http://schemas.openxmlformats.org/markup-compatibility/2006">
              <mc:Choice xmlns:v="urn:schemas-microsoft-com:vml" Requires="v">
                <p:oleObj spid="_x0000_s38930" name="Picture2" r:id="rId3" imgW="1085760" imgH="1380960" progId="Word.Picture.8">
                  <p:embed/>
                </p:oleObj>
              </mc:Choice>
              <mc:Fallback>
                <p:oleObj name="Picture2" r:id="rId3" imgW="1085760" imgH="1380960" progId="Word.Picture.8">
                  <p:embed/>
                  <p:pic>
                    <p:nvPicPr>
                      <p:cNvPr id="1741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1905000"/>
                        <a:ext cx="3505200" cy="441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411" name="Object 3"/>
          <p:cNvGraphicFramePr>
            <a:graphicFrameLocks noChangeAspect="1"/>
          </p:cNvGraphicFramePr>
          <p:nvPr/>
        </p:nvGraphicFramePr>
        <p:xfrm>
          <a:off x="4572000" y="1905000"/>
          <a:ext cx="4114800" cy="3962400"/>
        </p:xfrm>
        <a:graphic>
          <a:graphicData uri="http://schemas.openxmlformats.org/presentationml/2006/ole">
            <mc:AlternateContent xmlns:mc="http://schemas.openxmlformats.org/markup-compatibility/2006">
              <mc:Choice xmlns:v="urn:schemas-microsoft-com:vml" Requires="v">
                <p:oleObj spid="_x0000_s38931" name="Picture2" r:id="rId5" imgW="1143000" imgH="876240" progId="Word.Picture.8">
                  <p:embed/>
                </p:oleObj>
              </mc:Choice>
              <mc:Fallback>
                <p:oleObj name="Picture2" r:id="rId5" imgW="1143000" imgH="876240" progId="Word.Picture.8">
                  <p:embed/>
                  <p:pic>
                    <p:nvPicPr>
                      <p:cNvPr id="17411"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0" y="1905000"/>
                        <a:ext cx="4114800" cy="3962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413"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Tree>
    <p:extLst>
      <p:ext uri="{BB962C8B-B14F-4D97-AF65-F5344CB8AC3E}">
        <p14:creationId xmlns:p14="http://schemas.microsoft.com/office/powerpoint/2010/main" val="2929425025"/>
      </p:ext>
    </p:extLst>
  </p:cSld>
  <p:clrMapOvr>
    <a:masterClrMapping/>
  </p:clrMapOvr>
  <p:transition>
    <p:strips dir="ld"/>
  </p:transition>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Rectangle 2"/>
          <p:cNvSpPr>
            <a:spLocks noGrp="1" noChangeArrowheads="1"/>
          </p:cNvSpPr>
          <p:nvPr>
            <p:ph type="body" idx="1"/>
          </p:nvPr>
        </p:nvSpPr>
        <p:spPr>
          <a:xfrm>
            <a:off x="1000125" y="1214438"/>
            <a:ext cx="7891463" cy="5105400"/>
          </a:xfrm>
        </p:spPr>
        <p:txBody>
          <a:bodyPr/>
          <a:lstStyle/>
          <a:p>
            <a:r>
              <a:rPr lang="zh-CN" altLang="en-US" smtClean="0"/>
              <a:t>无向图的邻接矩阵是</a:t>
            </a:r>
            <a:r>
              <a:rPr lang="zh-CN" altLang="en-US" smtClean="0">
                <a:solidFill>
                  <a:srgbClr val="FF0000"/>
                </a:solidFill>
              </a:rPr>
              <a:t>对称的</a:t>
            </a:r>
            <a:r>
              <a:rPr lang="zh-CN" altLang="en-US" smtClean="0"/>
              <a:t>，如果</a:t>
            </a:r>
            <a:r>
              <a:rPr lang="en-US" altLang="zh-CN" smtClean="0"/>
              <a:t>A[i</a:t>
            </a:r>
            <a:r>
              <a:rPr lang="zh-CN" altLang="en-US" smtClean="0"/>
              <a:t>，</a:t>
            </a:r>
            <a:r>
              <a:rPr lang="en-US" altLang="zh-CN" smtClean="0"/>
              <a:t>j]=1</a:t>
            </a:r>
            <a:r>
              <a:rPr lang="zh-CN" altLang="en-US" smtClean="0"/>
              <a:t>，必有</a:t>
            </a:r>
            <a:r>
              <a:rPr lang="en-US" altLang="zh-CN" smtClean="0"/>
              <a:t>A[j</a:t>
            </a:r>
            <a:r>
              <a:rPr lang="zh-CN" altLang="en-US" smtClean="0"/>
              <a:t>，</a:t>
            </a:r>
            <a:r>
              <a:rPr lang="en-US" altLang="zh-CN" smtClean="0"/>
              <a:t>i]=1</a:t>
            </a:r>
            <a:r>
              <a:rPr lang="zh-CN" altLang="en-US" smtClean="0"/>
              <a:t>。这说明，只输入和存储其上三角阵元素即可得到整个邻接矩阵。</a:t>
            </a:r>
          </a:p>
          <a:p>
            <a:r>
              <a:rPr lang="zh-CN" altLang="en-US" smtClean="0"/>
              <a:t>一般有向图的邻接矩阵是不对称的，</a:t>
            </a:r>
            <a:r>
              <a:rPr lang="en-US" altLang="zh-CN" smtClean="0"/>
              <a:t>A[i</a:t>
            </a:r>
            <a:r>
              <a:rPr lang="zh-CN" altLang="en-US" smtClean="0"/>
              <a:t>，</a:t>
            </a:r>
            <a:r>
              <a:rPr lang="en-US" altLang="zh-CN" smtClean="0"/>
              <a:t>j]</a:t>
            </a:r>
            <a:r>
              <a:rPr lang="zh-CN" altLang="en-US" smtClean="0"/>
              <a:t>不一定等于</a:t>
            </a:r>
            <a:r>
              <a:rPr lang="en-US" altLang="zh-CN" smtClean="0"/>
              <a:t>A[j</a:t>
            </a:r>
            <a:r>
              <a:rPr lang="zh-CN" altLang="en-US" smtClean="0"/>
              <a:t>，</a:t>
            </a:r>
            <a:r>
              <a:rPr lang="en-US" altLang="zh-CN" smtClean="0"/>
              <a:t>i]</a:t>
            </a:r>
            <a:r>
              <a:rPr lang="zh-CN" altLang="en-US" smtClean="0"/>
              <a:t>。</a:t>
            </a:r>
          </a:p>
          <a:p>
            <a:r>
              <a:rPr lang="zh-CN" altLang="en-US" smtClean="0"/>
              <a:t>邻接矩阵用二维数组即可存储，定义如下：</a:t>
            </a:r>
          </a:p>
          <a:p>
            <a:pPr>
              <a:buFont typeface="Wingdings" panose="05000000000000000000" pitchFamily="2" charset="2"/>
              <a:buNone/>
            </a:pPr>
            <a:r>
              <a:rPr lang="zh-CN" altLang="en-US" smtClean="0"/>
              <a:t>          </a:t>
            </a:r>
            <a:r>
              <a:rPr lang="en-US" altLang="zh-CN" smtClean="0"/>
              <a:t>int adjmatrix = ARRAY[n][n];</a:t>
            </a:r>
          </a:p>
          <a:p>
            <a:r>
              <a:rPr lang="zh-CN" altLang="en-US" smtClean="0"/>
              <a:t>如果图的各边是带权的，只需将矩阵中的各个</a:t>
            </a:r>
            <a:r>
              <a:rPr lang="en-US" altLang="zh-CN" smtClean="0"/>
              <a:t>1</a:t>
            </a:r>
            <a:r>
              <a:rPr lang="zh-CN" altLang="en-US" smtClean="0"/>
              <a:t>元素换成相应边的权即可。</a:t>
            </a:r>
          </a:p>
        </p:txBody>
      </p:sp>
      <p:sp>
        <p:nvSpPr>
          <p:cNvPr id="69635" name="Rectangle 3"/>
          <p:cNvSpPr>
            <a:spLocks noGrp="1" noChangeArrowheads="1"/>
          </p:cNvSpPr>
          <p:nvPr>
            <p:ph type="title"/>
          </p:nvPr>
        </p:nvSpPr>
        <p:spPr/>
        <p:txBody>
          <a:bodyPr/>
          <a:lstStyle/>
          <a:p>
            <a:r>
              <a:rPr lang="en-US" altLang="zh-CN" dirty="0" smtClean="0"/>
              <a:t> </a:t>
            </a:r>
            <a:r>
              <a:rPr lang="en-US" altLang="zh-CN" dirty="0">
                <a:solidFill>
                  <a:srgbClr val="333399"/>
                </a:solidFill>
              </a:rPr>
              <a:t>1.4.</a:t>
            </a:r>
            <a:r>
              <a:rPr lang="en-US" altLang="zh-CN" dirty="0" smtClean="0"/>
              <a:t>5</a:t>
            </a:r>
            <a:r>
              <a:rPr lang="en-US" altLang="zh-CN" kern="0" dirty="0" smtClean="0"/>
              <a:t> </a:t>
            </a:r>
            <a:r>
              <a:rPr lang="zh-CN" altLang="en-US" kern="0" dirty="0" smtClean="0"/>
              <a:t>图</a:t>
            </a:r>
            <a:r>
              <a:rPr lang="en-US" altLang="zh-CN" kern="0" dirty="0" smtClean="0"/>
              <a:t>——</a:t>
            </a:r>
            <a:r>
              <a:rPr lang="zh-CN" altLang="en-US" dirty="0" smtClean="0"/>
              <a:t>邻接矩阵的若干说明</a:t>
            </a:r>
          </a:p>
        </p:txBody>
      </p:sp>
      <p:sp>
        <p:nvSpPr>
          <p:cNvPr id="69636"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Tree>
    <p:extLst>
      <p:ext uri="{BB962C8B-B14F-4D97-AF65-F5344CB8AC3E}">
        <p14:creationId xmlns:p14="http://schemas.microsoft.com/office/powerpoint/2010/main" val="3605381387"/>
      </p:ext>
    </p:extLst>
  </p:cSld>
  <p:clrMapOvr>
    <a:masterClrMapping/>
  </p:clrMapOvr>
  <p:transition>
    <p:strips dir="l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20482">
                                            <p:txEl>
                                              <p:pRg st="0" end="0"/>
                                            </p:txEl>
                                          </p:spTgt>
                                        </p:tgtEl>
                                        <p:attrNameLst>
                                          <p:attrName>style.visibility</p:attrName>
                                        </p:attrNameLst>
                                      </p:cBhvr>
                                      <p:to>
                                        <p:strVal val="visible"/>
                                      </p:to>
                                    </p:set>
                                    <p:animEffect transition="in" filter="barn(outVertical)">
                                      <p:cBhvr>
                                        <p:cTn id="7" dur="500"/>
                                        <p:tgtEl>
                                          <p:spTgt spid="2048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20482">
                                            <p:txEl>
                                              <p:pRg st="1" end="1"/>
                                            </p:txEl>
                                          </p:spTgt>
                                        </p:tgtEl>
                                        <p:attrNameLst>
                                          <p:attrName>style.visibility</p:attrName>
                                        </p:attrNameLst>
                                      </p:cBhvr>
                                      <p:to>
                                        <p:strVal val="visible"/>
                                      </p:to>
                                    </p:set>
                                    <p:animEffect transition="in" filter="barn(outVertical)">
                                      <p:cBhvr>
                                        <p:cTn id="12" dur="500"/>
                                        <p:tgtEl>
                                          <p:spTgt spid="2048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37" fill="hold" grpId="0" nodeType="clickEffect">
                                  <p:stCondLst>
                                    <p:cond delay="0"/>
                                  </p:stCondLst>
                                  <p:childTnLst>
                                    <p:set>
                                      <p:cBhvr>
                                        <p:cTn id="16" dur="1" fill="hold">
                                          <p:stCondLst>
                                            <p:cond delay="0"/>
                                          </p:stCondLst>
                                        </p:cTn>
                                        <p:tgtEl>
                                          <p:spTgt spid="20482">
                                            <p:txEl>
                                              <p:pRg st="2" end="2"/>
                                            </p:txEl>
                                          </p:spTgt>
                                        </p:tgtEl>
                                        <p:attrNameLst>
                                          <p:attrName>style.visibility</p:attrName>
                                        </p:attrNameLst>
                                      </p:cBhvr>
                                      <p:to>
                                        <p:strVal val="visible"/>
                                      </p:to>
                                    </p:set>
                                    <p:animEffect transition="in" filter="barn(outVertical)">
                                      <p:cBhvr>
                                        <p:cTn id="17" dur="500"/>
                                        <p:tgtEl>
                                          <p:spTgt spid="20482">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37" fill="hold" grpId="0" nodeType="clickEffect">
                                  <p:stCondLst>
                                    <p:cond delay="0"/>
                                  </p:stCondLst>
                                  <p:childTnLst>
                                    <p:set>
                                      <p:cBhvr>
                                        <p:cTn id="21" dur="1" fill="hold">
                                          <p:stCondLst>
                                            <p:cond delay="0"/>
                                          </p:stCondLst>
                                        </p:cTn>
                                        <p:tgtEl>
                                          <p:spTgt spid="20482">
                                            <p:txEl>
                                              <p:pRg st="3" end="3"/>
                                            </p:txEl>
                                          </p:spTgt>
                                        </p:tgtEl>
                                        <p:attrNameLst>
                                          <p:attrName>style.visibility</p:attrName>
                                        </p:attrNameLst>
                                      </p:cBhvr>
                                      <p:to>
                                        <p:strVal val="visible"/>
                                      </p:to>
                                    </p:set>
                                    <p:animEffect transition="in" filter="barn(outVertical)">
                                      <p:cBhvr>
                                        <p:cTn id="22" dur="500"/>
                                        <p:tgtEl>
                                          <p:spTgt spid="20482">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37" fill="hold" grpId="0" nodeType="clickEffect">
                                  <p:stCondLst>
                                    <p:cond delay="0"/>
                                  </p:stCondLst>
                                  <p:childTnLst>
                                    <p:set>
                                      <p:cBhvr>
                                        <p:cTn id="26" dur="1" fill="hold">
                                          <p:stCondLst>
                                            <p:cond delay="0"/>
                                          </p:stCondLst>
                                        </p:cTn>
                                        <p:tgtEl>
                                          <p:spTgt spid="20482">
                                            <p:txEl>
                                              <p:pRg st="4" end="4"/>
                                            </p:txEl>
                                          </p:spTgt>
                                        </p:tgtEl>
                                        <p:attrNameLst>
                                          <p:attrName>style.visibility</p:attrName>
                                        </p:attrNameLst>
                                      </p:cBhvr>
                                      <p:to>
                                        <p:strVal val="visible"/>
                                      </p:to>
                                    </p:set>
                                    <p:animEffect transition="in" filter="barn(outVertical)">
                                      <p:cBhvr>
                                        <p:cTn id="27" dur="500"/>
                                        <p:tgtEl>
                                          <p:spTgt spid="2048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build="p" autoUpdateAnimBg="0"/>
    </p:bldLst>
  </p:timing>
</p:sld>
</file>

<file path=ppt/slides/slide17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762000" y="228600"/>
            <a:ext cx="7772400" cy="762000"/>
          </a:xfrm>
        </p:spPr>
        <p:txBody>
          <a:bodyPr/>
          <a:lstStyle/>
          <a:p>
            <a:r>
              <a:rPr lang="en-US" altLang="zh-CN" dirty="0" smtClean="0"/>
              <a:t> </a:t>
            </a:r>
            <a:r>
              <a:rPr lang="en-US" altLang="zh-CN" dirty="0">
                <a:solidFill>
                  <a:srgbClr val="333399"/>
                </a:solidFill>
              </a:rPr>
              <a:t>1.4.</a:t>
            </a:r>
            <a:r>
              <a:rPr lang="en-US" altLang="zh-CN" dirty="0" smtClean="0"/>
              <a:t>5</a:t>
            </a:r>
            <a:r>
              <a:rPr lang="en-US" altLang="zh-CN" kern="0" dirty="0" smtClean="0"/>
              <a:t> </a:t>
            </a:r>
            <a:r>
              <a:rPr lang="zh-CN" altLang="en-US" kern="0" dirty="0" smtClean="0"/>
              <a:t>图</a:t>
            </a:r>
            <a:r>
              <a:rPr lang="en-US" altLang="zh-CN" kern="0" dirty="0" smtClean="0"/>
              <a:t>——</a:t>
            </a:r>
            <a:r>
              <a:rPr lang="zh-CN" altLang="en-US" dirty="0" smtClean="0"/>
              <a:t>邻接表</a:t>
            </a:r>
          </a:p>
        </p:txBody>
      </p:sp>
      <p:sp>
        <p:nvSpPr>
          <p:cNvPr id="23555" name="Rectangle 3"/>
          <p:cNvSpPr>
            <a:spLocks noGrp="1" noChangeArrowheads="1"/>
          </p:cNvSpPr>
          <p:nvPr>
            <p:ph type="body" idx="1"/>
          </p:nvPr>
        </p:nvSpPr>
        <p:spPr>
          <a:xfrm>
            <a:off x="685800" y="1143000"/>
            <a:ext cx="7772400" cy="5410200"/>
          </a:xfrm>
        </p:spPr>
        <p:txBody>
          <a:bodyPr/>
          <a:lstStyle/>
          <a:p>
            <a:pPr>
              <a:lnSpc>
                <a:spcPct val="90000"/>
              </a:lnSpc>
            </a:pPr>
            <a:r>
              <a:rPr lang="zh-CN" altLang="en-US" smtClean="0"/>
              <a:t>邻接表是图的一种</a:t>
            </a:r>
            <a:r>
              <a:rPr lang="zh-CN" altLang="en-US" smtClean="0">
                <a:solidFill>
                  <a:srgbClr val="FF0000"/>
                </a:solidFill>
              </a:rPr>
              <a:t>链式存储结构</a:t>
            </a:r>
            <a:r>
              <a:rPr lang="zh-CN" altLang="en-US" smtClean="0"/>
              <a:t>。</a:t>
            </a:r>
          </a:p>
          <a:p>
            <a:pPr>
              <a:lnSpc>
                <a:spcPct val="90000"/>
              </a:lnSpc>
            </a:pPr>
            <a:r>
              <a:rPr lang="zh-CN" altLang="en-US" smtClean="0"/>
              <a:t>在邻接表结构中，对图中每个顶点建立一个单链表，第</a:t>
            </a:r>
            <a:r>
              <a:rPr lang="en-US" altLang="zh-CN" smtClean="0"/>
              <a:t>i</a:t>
            </a:r>
            <a:r>
              <a:rPr lang="zh-CN" altLang="en-US" smtClean="0"/>
              <a:t>个单链表中的结点表示依附于该顶点</a:t>
            </a:r>
            <a:r>
              <a:rPr lang="en-US" altLang="zh-CN" smtClean="0"/>
              <a:t>V</a:t>
            </a:r>
            <a:r>
              <a:rPr lang="en-US" altLang="zh-CN" baseline="-30000" smtClean="0"/>
              <a:t>i</a:t>
            </a:r>
            <a:r>
              <a:rPr lang="zh-CN" altLang="en-US" smtClean="0"/>
              <a:t>的边，即对于无向图每个结点表示与该顶点相邻接的一个顶点；对于有向图则表示以该顶点为起点的一条边的终点。</a:t>
            </a:r>
          </a:p>
          <a:p>
            <a:pPr>
              <a:lnSpc>
                <a:spcPct val="90000"/>
              </a:lnSpc>
            </a:pPr>
            <a:r>
              <a:rPr lang="zh-CN" altLang="en-US" smtClean="0"/>
              <a:t>一个图的邻接矩阵表示是唯一的，但其邻接表表示是</a:t>
            </a:r>
            <a:r>
              <a:rPr lang="zh-CN" altLang="en-US" smtClean="0">
                <a:solidFill>
                  <a:srgbClr val="FF0000"/>
                </a:solidFill>
              </a:rPr>
              <a:t>不唯一</a:t>
            </a:r>
            <a:r>
              <a:rPr lang="zh-CN" altLang="en-US" smtClean="0"/>
              <a:t>的。因为在邻接表的每个单链表中，各结点的顺序是任意的。</a:t>
            </a:r>
          </a:p>
        </p:txBody>
      </p:sp>
      <p:sp>
        <p:nvSpPr>
          <p:cNvPr id="70660"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pic>
        <p:nvPicPr>
          <p:cNvPr id="7066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6250" y="4090988"/>
            <a:ext cx="4319588" cy="2338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09044084"/>
      </p:ext>
    </p:extLst>
  </p:cSld>
  <p:clrMapOvr>
    <a:masterClrMapping/>
  </p:clrMapOvr>
  <p:transition>
    <p:strips dir="l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anim calcmode="lin" valueType="num">
                                      <p:cBhvr additive="base">
                                        <p:cTn id="7" dur="500" fill="hold"/>
                                        <p:tgtEl>
                                          <p:spTgt spid="2355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3555">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3555">
                                            <p:txEl>
                                              <p:pRg st="1" end="1"/>
                                            </p:txEl>
                                          </p:spTgt>
                                        </p:tgtEl>
                                        <p:attrNameLst>
                                          <p:attrName>style.visibility</p:attrName>
                                        </p:attrNameLst>
                                      </p:cBhvr>
                                      <p:to>
                                        <p:strVal val="visible"/>
                                      </p:to>
                                    </p:set>
                                    <p:anim calcmode="lin" valueType="num">
                                      <p:cBhvr additive="base">
                                        <p:cTn id="13" dur="500" fill="hold"/>
                                        <p:tgtEl>
                                          <p:spTgt spid="2355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3555">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3555">
                                            <p:txEl>
                                              <p:pRg st="2" end="2"/>
                                            </p:txEl>
                                          </p:spTgt>
                                        </p:tgtEl>
                                        <p:attrNameLst>
                                          <p:attrName>style.visibility</p:attrName>
                                        </p:attrNameLst>
                                      </p:cBhvr>
                                      <p:to>
                                        <p:strVal val="visible"/>
                                      </p:to>
                                    </p:set>
                                    <p:anim calcmode="lin" valueType="num">
                                      <p:cBhvr additive="base">
                                        <p:cTn id="19" dur="500" fill="hold"/>
                                        <p:tgtEl>
                                          <p:spTgt spid="2355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3555">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build="p" autoUpdateAnimBg="0"/>
    </p:bld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2"/>
          <p:cNvSpPr>
            <a:spLocks noGrp="1" noChangeArrowheads="1"/>
          </p:cNvSpPr>
          <p:nvPr>
            <p:ph type="title"/>
          </p:nvPr>
        </p:nvSpPr>
        <p:spPr/>
        <p:txBody>
          <a:bodyPr/>
          <a:lstStyle/>
          <a:p>
            <a:r>
              <a:rPr lang="en-US" altLang="zh-CN" dirty="0">
                <a:solidFill>
                  <a:srgbClr val="333399"/>
                </a:solidFill>
              </a:rPr>
              <a:t>1.4.</a:t>
            </a:r>
            <a:r>
              <a:rPr lang="en-US" altLang="zh-CN" dirty="0" smtClean="0"/>
              <a:t>5</a:t>
            </a:r>
            <a:r>
              <a:rPr lang="en-US" altLang="zh-CN" kern="0" dirty="0" smtClean="0"/>
              <a:t> </a:t>
            </a:r>
            <a:r>
              <a:rPr lang="zh-CN" altLang="en-US" kern="0" dirty="0" smtClean="0"/>
              <a:t>图</a:t>
            </a:r>
            <a:r>
              <a:rPr lang="en-US" altLang="zh-CN" kern="0" dirty="0" smtClean="0"/>
              <a:t>——</a:t>
            </a:r>
            <a:r>
              <a:rPr lang="zh-CN" altLang="en-US" dirty="0" smtClean="0"/>
              <a:t>无向图、有向图</a:t>
            </a:r>
          </a:p>
        </p:txBody>
      </p:sp>
      <p:sp>
        <p:nvSpPr>
          <p:cNvPr id="18437" name="Rectangle 3"/>
          <p:cNvSpPr>
            <a:spLocks noGrp="1" noChangeArrowheads="1"/>
          </p:cNvSpPr>
          <p:nvPr>
            <p:ph type="body" idx="1"/>
          </p:nvPr>
        </p:nvSpPr>
        <p:spPr/>
        <p:txBody>
          <a:bodyPr/>
          <a:lstStyle/>
          <a:p>
            <a:pPr>
              <a:buFont typeface="Wingdings" panose="05000000000000000000" pitchFamily="2" charset="2"/>
              <a:buNone/>
            </a:pPr>
            <a:r>
              <a:rPr lang="en-US" altLang="zh-CN" smtClean="0"/>
              <a:t> </a:t>
            </a:r>
          </a:p>
        </p:txBody>
      </p:sp>
      <p:graphicFrame>
        <p:nvGraphicFramePr>
          <p:cNvPr id="18434" name="Object 2"/>
          <p:cNvGraphicFramePr>
            <a:graphicFrameLocks noChangeAspect="1"/>
          </p:cNvGraphicFramePr>
          <p:nvPr/>
        </p:nvGraphicFramePr>
        <p:xfrm>
          <a:off x="533400" y="1676400"/>
          <a:ext cx="3276600" cy="4191000"/>
        </p:xfrm>
        <a:graphic>
          <a:graphicData uri="http://schemas.openxmlformats.org/presentationml/2006/ole">
            <mc:AlternateContent xmlns:mc="http://schemas.openxmlformats.org/markup-compatibility/2006">
              <mc:Choice xmlns:v="urn:schemas-microsoft-com:vml" Requires="v">
                <p:oleObj spid="_x0000_s39954" name="Picture2" r:id="rId3" imgW="952560" imgH="1362240" progId="Word.Picture.8">
                  <p:embed/>
                </p:oleObj>
              </mc:Choice>
              <mc:Fallback>
                <p:oleObj name="Picture2" r:id="rId3" imgW="952560" imgH="1362240" progId="Word.Picture.8">
                  <p:embed/>
                  <p:pic>
                    <p:nvPicPr>
                      <p:cNvPr id="1843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1676400"/>
                        <a:ext cx="3276600" cy="419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435" name="Object 3"/>
          <p:cNvGraphicFramePr>
            <a:graphicFrameLocks noChangeAspect="1"/>
          </p:cNvGraphicFramePr>
          <p:nvPr/>
        </p:nvGraphicFramePr>
        <p:xfrm>
          <a:off x="4572000" y="1676400"/>
          <a:ext cx="3505200" cy="4419600"/>
        </p:xfrm>
        <a:graphic>
          <a:graphicData uri="http://schemas.openxmlformats.org/presentationml/2006/ole">
            <mc:AlternateContent xmlns:mc="http://schemas.openxmlformats.org/markup-compatibility/2006">
              <mc:Choice xmlns:v="urn:schemas-microsoft-com:vml" Requires="v">
                <p:oleObj spid="_x0000_s39955" name="Picture2" r:id="rId5" imgW="1085760" imgH="1380960" progId="Word.Picture.8">
                  <p:embed/>
                </p:oleObj>
              </mc:Choice>
              <mc:Fallback>
                <p:oleObj name="Picture2" r:id="rId5" imgW="1085760" imgH="1380960" progId="Word.Picture.8">
                  <p:embed/>
                  <p:pic>
                    <p:nvPicPr>
                      <p:cNvPr id="18435"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0" y="1676400"/>
                        <a:ext cx="3505200" cy="441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438"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Tree>
    <p:extLst>
      <p:ext uri="{BB962C8B-B14F-4D97-AF65-F5344CB8AC3E}">
        <p14:creationId xmlns:p14="http://schemas.microsoft.com/office/powerpoint/2010/main" val="2444807466"/>
      </p:ext>
    </p:extLst>
  </p:cSld>
  <p:clrMapOvr>
    <a:masterClrMapping/>
  </p:clrMapOvr>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a:xfrm>
            <a:off x="899592" y="335733"/>
            <a:ext cx="7772400" cy="838200"/>
          </a:xfrm>
        </p:spPr>
        <p:txBody>
          <a:bodyPr/>
          <a:lstStyle/>
          <a:p>
            <a:r>
              <a:rPr lang="en-US" altLang="zh-CN" dirty="0">
                <a:solidFill>
                  <a:srgbClr val="333399"/>
                </a:solidFill>
              </a:rPr>
              <a:t>1.4.</a:t>
            </a:r>
            <a:r>
              <a:rPr lang="en-US" altLang="zh-CN" dirty="0" smtClean="0"/>
              <a:t>5</a:t>
            </a:r>
            <a:r>
              <a:rPr lang="en-US" altLang="zh-CN" kern="0" dirty="0" smtClean="0"/>
              <a:t> </a:t>
            </a:r>
            <a:r>
              <a:rPr lang="zh-CN" altLang="en-US" kern="0" dirty="0" smtClean="0"/>
              <a:t>图</a:t>
            </a:r>
            <a:r>
              <a:rPr lang="en-US" altLang="zh-CN" kern="0" dirty="0" smtClean="0"/>
              <a:t>——</a:t>
            </a:r>
            <a:r>
              <a:rPr lang="zh-CN" altLang="en-US" dirty="0" smtClean="0"/>
              <a:t>无向图的邻接表</a:t>
            </a:r>
          </a:p>
        </p:txBody>
      </p:sp>
      <p:sp>
        <p:nvSpPr>
          <p:cNvPr id="19460" name="Rectangle 3"/>
          <p:cNvSpPr>
            <a:spLocks noGrp="1" noChangeArrowheads="1"/>
          </p:cNvSpPr>
          <p:nvPr>
            <p:ph type="body" idx="1"/>
          </p:nvPr>
        </p:nvSpPr>
        <p:spPr>
          <a:xfrm>
            <a:off x="1752600" y="5715000"/>
            <a:ext cx="5638800" cy="609600"/>
          </a:xfrm>
        </p:spPr>
        <p:txBody>
          <a:bodyPr/>
          <a:lstStyle/>
          <a:p>
            <a:pPr>
              <a:buFont typeface="Wingdings" panose="05000000000000000000" pitchFamily="2" charset="2"/>
              <a:buNone/>
            </a:pPr>
            <a:r>
              <a:rPr lang="en-US" altLang="zh-CN" smtClean="0"/>
              <a:t> </a:t>
            </a:r>
          </a:p>
        </p:txBody>
      </p:sp>
      <p:graphicFrame>
        <p:nvGraphicFramePr>
          <p:cNvPr id="19458" name="Object 2"/>
          <p:cNvGraphicFramePr>
            <a:graphicFrameLocks noChangeAspect="1"/>
          </p:cNvGraphicFramePr>
          <p:nvPr/>
        </p:nvGraphicFramePr>
        <p:xfrm>
          <a:off x="609600" y="1447800"/>
          <a:ext cx="7924800" cy="4648200"/>
        </p:xfrm>
        <a:graphic>
          <a:graphicData uri="http://schemas.openxmlformats.org/presentationml/2006/ole">
            <mc:AlternateContent xmlns:mc="http://schemas.openxmlformats.org/markup-compatibility/2006">
              <mc:Choice xmlns:v="urn:schemas-microsoft-com:vml" Requires="v">
                <p:oleObj spid="_x0000_s40970" name="Picture2" r:id="rId3" imgW="2419200" imgH="1428840" progId="Word.Picture.8">
                  <p:embed/>
                </p:oleObj>
              </mc:Choice>
              <mc:Fallback>
                <p:oleObj name="Picture2" r:id="rId3" imgW="2419200" imgH="1428840" progId="Word.Picture.8">
                  <p:embed/>
                  <p:pic>
                    <p:nvPicPr>
                      <p:cNvPr id="19458"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1447800"/>
                        <a:ext cx="7924800" cy="4648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61"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Tree>
    <p:extLst>
      <p:ext uri="{BB962C8B-B14F-4D97-AF65-F5344CB8AC3E}">
        <p14:creationId xmlns:p14="http://schemas.microsoft.com/office/powerpoint/2010/main" val="2612527335"/>
      </p:ext>
    </p:extLst>
  </p:cSld>
  <p:clrMapOvr>
    <a:masterClrMapping/>
  </p:clrMapOvr>
  <p:transition>
    <p:strips dir="ld"/>
  </p:transition>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482" name="Object 2"/>
          <p:cNvGraphicFramePr>
            <a:graphicFrameLocks noChangeAspect="1"/>
          </p:cNvGraphicFramePr>
          <p:nvPr/>
        </p:nvGraphicFramePr>
        <p:xfrm>
          <a:off x="1371600" y="1524000"/>
          <a:ext cx="6477000" cy="4267200"/>
        </p:xfrm>
        <a:graphic>
          <a:graphicData uri="http://schemas.openxmlformats.org/presentationml/2006/ole">
            <mc:AlternateContent xmlns:mc="http://schemas.openxmlformats.org/markup-compatibility/2006">
              <mc:Choice xmlns:v="urn:schemas-microsoft-com:vml" Requires="v">
                <p:oleObj spid="_x0000_s41994" name="Picture2" r:id="rId3" imgW="1790640" imgH="1190520" progId="Word.Picture.8">
                  <p:embed/>
                </p:oleObj>
              </mc:Choice>
              <mc:Fallback>
                <p:oleObj name="Picture2" r:id="rId3" imgW="1790640" imgH="1190520" progId="Word.Picture.8">
                  <p:embed/>
                  <p:pic>
                    <p:nvPicPr>
                      <p:cNvPr id="2048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1524000"/>
                        <a:ext cx="6477000" cy="426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483" name="Rectangle 4"/>
          <p:cNvSpPr>
            <a:spLocks noGrp="1" noChangeArrowheads="1"/>
          </p:cNvSpPr>
          <p:nvPr>
            <p:ph type="body" idx="1"/>
          </p:nvPr>
        </p:nvSpPr>
        <p:spPr/>
        <p:txBody>
          <a:bodyPr/>
          <a:lstStyle/>
          <a:p>
            <a:pPr>
              <a:buFont typeface="Wingdings" panose="05000000000000000000" pitchFamily="2" charset="2"/>
              <a:buNone/>
            </a:pPr>
            <a:r>
              <a:rPr lang="en-US" altLang="zh-CN" smtClean="0"/>
              <a:t> </a:t>
            </a:r>
          </a:p>
        </p:txBody>
      </p:sp>
      <p:sp>
        <p:nvSpPr>
          <p:cNvPr id="20484" name="Rectangle 5"/>
          <p:cNvSpPr>
            <a:spLocks noGrp="1" noChangeArrowheads="1"/>
          </p:cNvSpPr>
          <p:nvPr>
            <p:ph type="title"/>
          </p:nvPr>
        </p:nvSpPr>
        <p:spPr/>
        <p:txBody>
          <a:bodyPr/>
          <a:lstStyle/>
          <a:p>
            <a:r>
              <a:rPr lang="en-US" altLang="zh-CN" dirty="0">
                <a:solidFill>
                  <a:srgbClr val="333399"/>
                </a:solidFill>
              </a:rPr>
              <a:t>1.4.</a:t>
            </a:r>
            <a:r>
              <a:rPr lang="en-US" altLang="zh-CN" dirty="0" smtClean="0"/>
              <a:t>5</a:t>
            </a:r>
            <a:r>
              <a:rPr lang="en-US" altLang="zh-CN" kern="0" dirty="0" smtClean="0"/>
              <a:t> </a:t>
            </a:r>
            <a:r>
              <a:rPr lang="zh-CN" altLang="en-US" kern="0" dirty="0" smtClean="0"/>
              <a:t>图</a:t>
            </a:r>
            <a:r>
              <a:rPr lang="en-US" altLang="zh-CN" kern="0" dirty="0" smtClean="0"/>
              <a:t>——</a:t>
            </a:r>
            <a:r>
              <a:rPr lang="zh-CN" altLang="en-US" dirty="0" smtClean="0"/>
              <a:t>有向图的邻接表</a:t>
            </a:r>
          </a:p>
        </p:txBody>
      </p:sp>
      <p:sp>
        <p:nvSpPr>
          <p:cNvPr id="20485"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Tree>
    <p:extLst>
      <p:ext uri="{BB962C8B-B14F-4D97-AF65-F5344CB8AC3E}">
        <p14:creationId xmlns:p14="http://schemas.microsoft.com/office/powerpoint/2010/main" val="2291553088"/>
      </p:ext>
    </p:extLst>
  </p:cSld>
  <p:clrMapOvr>
    <a:masterClrMapping/>
  </p:clrMapOvr>
  <p:transition>
    <p:strips dir="ld"/>
  </p:transition>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0" name="Rectangle 2"/>
          <p:cNvSpPr>
            <a:spLocks noGrp="1" noChangeArrowheads="1"/>
          </p:cNvSpPr>
          <p:nvPr>
            <p:ph type="body" idx="1"/>
          </p:nvPr>
        </p:nvSpPr>
        <p:spPr>
          <a:xfrm>
            <a:off x="857250" y="1295400"/>
            <a:ext cx="7981950" cy="5181600"/>
          </a:xfrm>
        </p:spPr>
        <p:txBody>
          <a:bodyPr/>
          <a:lstStyle/>
          <a:p>
            <a:r>
              <a:rPr lang="zh-CN" altLang="en-US" sz="2400" smtClean="0"/>
              <a:t>对于无向图的邻接表来说，一条边对应两个单链表结点，邻接表结点总数是边数的</a:t>
            </a:r>
            <a:r>
              <a:rPr lang="en-US" altLang="zh-CN" sz="2400" smtClean="0"/>
              <a:t>2</a:t>
            </a:r>
            <a:r>
              <a:rPr lang="zh-CN" altLang="en-US" sz="2400" smtClean="0"/>
              <a:t>倍。</a:t>
            </a:r>
          </a:p>
          <a:p>
            <a:r>
              <a:rPr lang="zh-CN" altLang="en-US" sz="2400" smtClean="0"/>
              <a:t>在无向图的邻接表中，各顶点对应的单链表的结点数（不算表头结点）就等于该顶点的度数。</a:t>
            </a:r>
          </a:p>
          <a:p>
            <a:r>
              <a:rPr lang="zh-CN" altLang="en-US" sz="2400" smtClean="0"/>
              <a:t>在有向图邻接表中，一条弧对应一个表结点，表结点的数目和弧的数目相同。</a:t>
            </a:r>
          </a:p>
          <a:p>
            <a:r>
              <a:rPr lang="zh-CN" altLang="en-US" sz="2400" smtClean="0"/>
              <a:t>在有向图邻接表中，单链表的结点数就等于相应顶点的出度数。</a:t>
            </a:r>
          </a:p>
          <a:p>
            <a:r>
              <a:rPr lang="zh-CN" altLang="en-US" sz="2400" smtClean="0"/>
              <a:t>要求有向图中某顶点的入度数，需扫视邻接表的所有单链表，统计与顶点标号相应的结点个数。 </a:t>
            </a:r>
          </a:p>
        </p:txBody>
      </p:sp>
      <p:sp>
        <p:nvSpPr>
          <p:cNvPr id="71683" name="Rectangle 3"/>
          <p:cNvSpPr>
            <a:spLocks noGrp="1" noChangeArrowheads="1"/>
          </p:cNvSpPr>
          <p:nvPr>
            <p:ph type="title"/>
          </p:nvPr>
        </p:nvSpPr>
        <p:spPr/>
        <p:txBody>
          <a:bodyPr/>
          <a:lstStyle/>
          <a:p>
            <a:r>
              <a:rPr lang="en-US" altLang="zh-CN" dirty="0">
                <a:solidFill>
                  <a:srgbClr val="333399"/>
                </a:solidFill>
              </a:rPr>
              <a:t>1.4.</a:t>
            </a:r>
            <a:r>
              <a:rPr lang="en-US" altLang="zh-CN" dirty="0" smtClean="0"/>
              <a:t>5</a:t>
            </a:r>
            <a:r>
              <a:rPr lang="en-US" altLang="zh-CN" kern="0" dirty="0" smtClean="0"/>
              <a:t> </a:t>
            </a:r>
            <a:r>
              <a:rPr lang="zh-CN" altLang="en-US" kern="0" dirty="0" smtClean="0"/>
              <a:t>图</a:t>
            </a:r>
            <a:r>
              <a:rPr lang="en-US" altLang="zh-CN" kern="0" dirty="0" smtClean="0"/>
              <a:t>——</a:t>
            </a:r>
            <a:r>
              <a:rPr lang="zh-CN" altLang="en-US" dirty="0" smtClean="0"/>
              <a:t>邻接表的若干说明</a:t>
            </a:r>
          </a:p>
        </p:txBody>
      </p:sp>
      <p:sp>
        <p:nvSpPr>
          <p:cNvPr id="7168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Tree>
    <p:extLst>
      <p:ext uri="{BB962C8B-B14F-4D97-AF65-F5344CB8AC3E}">
        <p14:creationId xmlns:p14="http://schemas.microsoft.com/office/powerpoint/2010/main" val="3112893395"/>
      </p:ext>
    </p:extLst>
  </p:cSld>
  <p:clrMapOvr>
    <a:masterClrMapping/>
  </p:clrMapOvr>
  <p:transition>
    <p:strips dir="l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7650">
                                            <p:txEl>
                                              <p:pRg st="0" end="0"/>
                                            </p:txEl>
                                          </p:spTgt>
                                        </p:tgtEl>
                                        <p:attrNameLst>
                                          <p:attrName>style.visibility</p:attrName>
                                        </p:attrNameLst>
                                      </p:cBhvr>
                                      <p:to>
                                        <p:strVal val="visible"/>
                                      </p:to>
                                    </p:set>
                                    <p:anim calcmode="lin" valueType="num">
                                      <p:cBhvr additive="base">
                                        <p:cTn id="7" dur="500" fill="hold"/>
                                        <p:tgtEl>
                                          <p:spTgt spid="2765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650">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27650">
                                            <p:txEl>
                                              <p:pRg st="1" end="1"/>
                                            </p:txEl>
                                          </p:spTgt>
                                        </p:tgtEl>
                                        <p:attrNameLst>
                                          <p:attrName>style.visibility</p:attrName>
                                        </p:attrNameLst>
                                      </p:cBhvr>
                                      <p:to>
                                        <p:strVal val="visible"/>
                                      </p:to>
                                    </p:set>
                                    <p:anim calcmode="lin" valueType="num">
                                      <p:cBhvr additive="base">
                                        <p:cTn id="13" dur="500" fill="hold"/>
                                        <p:tgtEl>
                                          <p:spTgt spid="2765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7650">
                                            <p:txEl>
                                              <p:pRg st="1" end="1"/>
                                            </p:txEl>
                                          </p:spTgt>
                                        </p:tgtEl>
                                        <p:attrNameLst>
                                          <p:attrName>ppt_y</p:attrName>
                                        </p:attrNameLst>
                                      </p:cBhvr>
                                      <p:tavLst>
                                        <p:tav tm="0">
                                          <p:val>
                                            <p:strVal val="0-#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1" fill="hold" grpId="0" nodeType="clickEffect">
                                  <p:stCondLst>
                                    <p:cond delay="0"/>
                                  </p:stCondLst>
                                  <p:childTnLst>
                                    <p:set>
                                      <p:cBhvr>
                                        <p:cTn id="18" dur="1" fill="hold">
                                          <p:stCondLst>
                                            <p:cond delay="0"/>
                                          </p:stCondLst>
                                        </p:cTn>
                                        <p:tgtEl>
                                          <p:spTgt spid="27650">
                                            <p:txEl>
                                              <p:pRg st="2" end="2"/>
                                            </p:txEl>
                                          </p:spTgt>
                                        </p:tgtEl>
                                        <p:attrNameLst>
                                          <p:attrName>style.visibility</p:attrName>
                                        </p:attrNameLst>
                                      </p:cBhvr>
                                      <p:to>
                                        <p:strVal val="visible"/>
                                      </p:to>
                                    </p:set>
                                    <p:anim calcmode="lin" valueType="num">
                                      <p:cBhvr additive="base">
                                        <p:cTn id="19" dur="500" fill="hold"/>
                                        <p:tgtEl>
                                          <p:spTgt spid="2765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7650">
                                            <p:txEl>
                                              <p:pRg st="2" end="2"/>
                                            </p:txEl>
                                          </p:spTgt>
                                        </p:tgtEl>
                                        <p:attrNameLst>
                                          <p:attrName>ppt_y</p:attrName>
                                        </p:attrNameLst>
                                      </p:cBhvr>
                                      <p:tavLst>
                                        <p:tav tm="0">
                                          <p:val>
                                            <p:strVal val="0-#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1" fill="hold" grpId="0" nodeType="clickEffect">
                                  <p:stCondLst>
                                    <p:cond delay="0"/>
                                  </p:stCondLst>
                                  <p:childTnLst>
                                    <p:set>
                                      <p:cBhvr>
                                        <p:cTn id="24" dur="1" fill="hold">
                                          <p:stCondLst>
                                            <p:cond delay="0"/>
                                          </p:stCondLst>
                                        </p:cTn>
                                        <p:tgtEl>
                                          <p:spTgt spid="27650">
                                            <p:txEl>
                                              <p:pRg st="3" end="3"/>
                                            </p:txEl>
                                          </p:spTgt>
                                        </p:tgtEl>
                                        <p:attrNameLst>
                                          <p:attrName>style.visibility</p:attrName>
                                        </p:attrNameLst>
                                      </p:cBhvr>
                                      <p:to>
                                        <p:strVal val="visible"/>
                                      </p:to>
                                    </p:set>
                                    <p:anim calcmode="lin" valueType="num">
                                      <p:cBhvr additive="base">
                                        <p:cTn id="25" dur="500" fill="hold"/>
                                        <p:tgtEl>
                                          <p:spTgt spid="27650">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7650">
                                            <p:txEl>
                                              <p:pRg st="3" end="3"/>
                                            </p:txEl>
                                          </p:spTgt>
                                        </p:tgtEl>
                                        <p:attrNameLst>
                                          <p:attrName>ppt_y</p:attrName>
                                        </p:attrNameLst>
                                      </p:cBhvr>
                                      <p:tavLst>
                                        <p:tav tm="0">
                                          <p:val>
                                            <p:strVal val="0-#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1" fill="hold" grpId="0" nodeType="clickEffect">
                                  <p:stCondLst>
                                    <p:cond delay="0"/>
                                  </p:stCondLst>
                                  <p:childTnLst>
                                    <p:set>
                                      <p:cBhvr>
                                        <p:cTn id="30" dur="1" fill="hold">
                                          <p:stCondLst>
                                            <p:cond delay="0"/>
                                          </p:stCondLst>
                                        </p:cTn>
                                        <p:tgtEl>
                                          <p:spTgt spid="27650">
                                            <p:txEl>
                                              <p:pRg st="4" end="4"/>
                                            </p:txEl>
                                          </p:spTgt>
                                        </p:tgtEl>
                                        <p:attrNameLst>
                                          <p:attrName>style.visibility</p:attrName>
                                        </p:attrNameLst>
                                      </p:cBhvr>
                                      <p:to>
                                        <p:strVal val="visible"/>
                                      </p:to>
                                    </p:set>
                                    <p:anim calcmode="lin" valueType="num">
                                      <p:cBhvr additive="base">
                                        <p:cTn id="31" dur="500" fill="hold"/>
                                        <p:tgtEl>
                                          <p:spTgt spid="27650">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7650">
                                            <p:txEl>
                                              <p:pRg st="4" end="4"/>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build="p" autoUpdateAnimBg="0"/>
    </p:bld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72707" name="Rectangle 2"/>
          <p:cNvSpPr>
            <a:spLocks noGrp="1" noChangeArrowheads="1"/>
          </p:cNvSpPr>
          <p:nvPr>
            <p:ph type="title"/>
          </p:nvPr>
        </p:nvSpPr>
        <p:spPr/>
        <p:txBody>
          <a:bodyPr/>
          <a:lstStyle/>
          <a:p>
            <a:pPr eaLnBrk="1" hangingPunct="1"/>
            <a:r>
              <a:rPr lang="en-US" altLang="zh-CN" dirty="0">
                <a:solidFill>
                  <a:srgbClr val="333399"/>
                </a:solidFill>
              </a:rPr>
              <a:t>1.4.</a:t>
            </a:r>
            <a:r>
              <a:rPr lang="en-US" altLang="zh-CN" dirty="0" smtClean="0"/>
              <a:t>5</a:t>
            </a:r>
            <a:r>
              <a:rPr lang="en-US" altLang="zh-CN" kern="0" dirty="0" smtClean="0"/>
              <a:t> </a:t>
            </a:r>
            <a:r>
              <a:rPr lang="zh-CN" altLang="en-US" kern="0" dirty="0" smtClean="0"/>
              <a:t>图</a:t>
            </a:r>
            <a:r>
              <a:rPr lang="en-US" altLang="zh-CN" kern="0" dirty="0" smtClean="0"/>
              <a:t>——</a:t>
            </a:r>
            <a:r>
              <a:rPr lang="zh-CN" altLang="en-US" dirty="0" smtClean="0"/>
              <a:t>平面图</a:t>
            </a:r>
            <a:endParaRPr lang="en-US" altLang="zh-CN" dirty="0" smtClean="0"/>
          </a:p>
        </p:txBody>
      </p:sp>
      <p:sp>
        <p:nvSpPr>
          <p:cNvPr id="72708" name="Rectangle 3"/>
          <p:cNvSpPr>
            <a:spLocks noGrp="1" noChangeArrowheads="1"/>
          </p:cNvSpPr>
          <p:nvPr>
            <p:ph type="body" idx="1"/>
          </p:nvPr>
        </p:nvSpPr>
        <p:spPr/>
        <p:txBody>
          <a:bodyPr/>
          <a:lstStyle/>
          <a:p>
            <a:pPr eaLnBrk="1" hangingPunct="1"/>
            <a:r>
              <a:rPr lang="zh-CN" altLang="en-US" sz="2800" smtClean="0"/>
              <a:t>如果图</a:t>
            </a:r>
            <a:r>
              <a:rPr lang="en-US" altLang="zh-CN" sz="2800" smtClean="0"/>
              <a:t>G=(V,E) </a:t>
            </a:r>
            <a:r>
              <a:rPr lang="zh-CN" altLang="en-US" sz="2800" smtClean="0"/>
              <a:t>可以嵌入平面而没有任何边互相穿越，这个图就是平面图。</a:t>
            </a:r>
            <a:endParaRPr lang="en-US" altLang="zh-CN" sz="2800" smtClean="0"/>
          </a:p>
          <a:p>
            <a:pPr eaLnBrk="1" hangingPunct="1"/>
            <a:endParaRPr lang="en-US" altLang="zh-CN" smtClean="0"/>
          </a:p>
        </p:txBody>
      </p:sp>
      <p:sp>
        <p:nvSpPr>
          <p:cNvPr id="102404" name="Oval 4"/>
          <p:cNvSpPr>
            <a:spLocks noChangeArrowheads="1"/>
          </p:cNvSpPr>
          <p:nvPr/>
        </p:nvSpPr>
        <p:spPr bwMode="auto">
          <a:xfrm>
            <a:off x="1763713" y="3500438"/>
            <a:ext cx="576262" cy="576262"/>
          </a:xfrm>
          <a:prstGeom prst="ellipse">
            <a:avLst/>
          </a:prstGeom>
          <a:solidFill>
            <a:srgbClr val="99CCFF"/>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2405" name="Oval 5"/>
          <p:cNvSpPr>
            <a:spLocks noChangeArrowheads="1"/>
          </p:cNvSpPr>
          <p:nvPr/>
        </p:nvSpPr>
        <p:spPr bwMode="auto">
          <a:xfrm>
            <a:off x="2916238" y="3500438"/>
            <a:ext cx="576262" cy="576262"/>
          </a:xfrm>
          <a:prstGeom prst="ellipse">
            <a:avLst/>
          </a:prstGeom>
          <a:solidFill>
            <a:srgbClr val="99CCFF"/>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2406" name="Oval 6"/>
          <p:cNvSpPr>
            <a:spLocks noChangeArrowheads="1"/>
          </p:cNvSpPr>
          <p:nvPr/>
        </p:nvSpPr>
        <p:spPr bwMode="auto">
          <a:xfrm>
            <a:off x="1763713" y="4652963"/>
            <a:ext cx="576262" cy="576262"/>
          </a:xfrm>
          <a:prstGeom prst="ellipse">
            <a:avLst/>
          </a:prstGeom>
          <a:solidFill>
            <a:srgbClr val="99CCFF"/>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2407" name="Oval 7"/>
          <p:cNvSpPr>
            <a:spLocks noChangeArrowheads="1"/>
          </p:cNvSpPr>
          <p:nvPr/>
        </p:nvSpPr>
        <p:spPr bwMode="auto">
          <a:xfrm>
            <a:off x="2987675" y="4652963"/>
            <a:ext cx="576263" cy="576262"/>
          </a:xfrm>
          <a:prstGeom prst="ellipse">
            <a:avLst/>
          </a:prstGeom>
          <a:solidFill>
            <a:srgbClr val="99CCFF"/>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2408" name="Line 8"/>
          <p:cNvSpPr>
            <a:spLocks noChangeShapeType="1"/>
          </p:cNvSpPr>
          <p:nvPr/>
        </p:nvSpPr>
        <p:spPr bwMode="auto">
          <a:xfrm>
            <a:off x="2339975" y="3789363"/>
            <a:ext cx="5762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09" name="Line 9"/>
          <p:cNvSpPr>
            <a:spLocks noChangeShapeType="1"/>
          </p:cNvSpPr>
          <p:nvPr/>
        </p:nvSpPr>
        <p:spPr bwMode="auto">
          <a:xfrm>
            <a:off x="1979613" y="4076700"/>
            <a:ext cx="0" cy="5762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10" name="Line 10"/>
          <p:cNvSpPr>
            <a:spLocks noChangeShapeType="1"/>
          </p:cNvSpPr>
          <p:nvPr/>
        </p:nvSpPr>
        <p:spPr bwMode="auto">
          <a:xfrm>
            <a:off x="2339975" y="5013325"/>
            <a:ext cx="6477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11" name="Line 11"/>
          <p:cNvSpPr>
            <a:spLocks noChangeShapeType="1"/>
          </p:cNvSpPr>
          <p:nvPr/>
        </p:nvSpPr>
        <p:spPr bwMode="auto">
          <a:xfrm>
            <a:off x="3203575" y="4076700"/>
            <a:ext cx="0" cy="5762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12" name="Line 12"/>
          <p:cNvSpPr>
            <a:spLocks noChangeShapeType="1"/>
          </p:cNvSpPr>
          <p:nvPr/>
        </p:nvSpPr>
        <p:spPr bwMode="auto">
          <a:xfrm flipH="1">
            <a:off x="2268538" y="4005263"/>
            <a:ext cx="719137" cy="7191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13" name="Line 13"/>
          <p:cNvSpPr>
            <a:spLocks noChangeShapeType="1"/>
          </p:cNvSpPr>
          <p:nvPr/>
        </p:nvSpPr>
        <p:spPr bwMode="auto">
          <a:xfrm>
            <a:off x="2268538" y="4005263"/>
            <a:ext cx="790575" cy="7191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18" name="Oval 18"/>
          <p:cNvSpPr>
            <a:spLocks noChangeArrowheads="1"/>
          </p:cNvSpPr>
          <p:nvPr/>
        </p:nvSpPr>
        <p:spPr bwMode="auto">
          <a:xfrm>
            <a:off x="5146675" y="3429000"/>
            <a:ext cx="576263" cy="576263"/>
          </a:xfrm>
          <a:prstGeom prst="ellipse">
            <a:avLst/>
          </a:prstGeom>
          <a:solidFill>
            <a:srgbClr val="99CCFF"/>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2419" name="Oval 19"/>
          <p:cNvSpPr>
            <a:spLocks noChangeArrowheads="1"/>
          </p:cNvSpPr>
          <p:nvPr/>
        </p:nvSpPr>
        <p:spPr bwMode="auto">
          <a:xfrm>
            <a:off x="6731000" y="3357563"/>
            <a:ext cx="576263" cy="576262"/>
          </a:xfrm>
          <a:prstGeom prst="ellipse">
            <a:avLst/>
          </a:prstGeom>
          <a:solidFill>
            <a:srgbClr val="99CCFF"/>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2420" name="Oval 20"/>
          <p:cNvSpPr>
            <a:spLocks noChangeArrowheads="1"/>
          </p:cNvSpPr>
          <p:nvPr/>
        </p:nvSpPr>
        <p:spPr bwMode="auto">
          <a:xfrm>
            <a:off x="5146675" y="4581525"/>
            <a:ext cx="576263" cy="576263"/>
          </a:xfrm>
          <a:prstGeom prst="ellipse">
            <a:avLst/>
          </a:prstGeom>
          <a:solidFill>
            <a:srgbClr val="99CCFF"/>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2421" name="Oval 21"/>
          <p:cNvSpPr>
            <a:spLocks noChangeArrowheads="1"/>
          </p:cNvSpPr>
          <p:nvPr/>
        </p:nvSpPr>
        <p:spPr bwMode="auto">
          <a:xfrm>
            <a:off x="6804025" y="4581525"/>
            <a:ext cx="576263" cy="576263"/>
          </a:xfrm>
          <a:prstGeom prst="ellipse">
            <a:avLst/>
          </a:prstGeom>
          <a:solidFill>
            <a:srgbClr val="99CCFF"/>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2422" name="Line 22"/>
          <p:cNvSpPr>
            <a:spLocks noChangeShapeType="1"/>
          </p:cNvSpPr>
          <p:nvPr/>
        </p:nvSpPr>
        <p:spPr bwMode="auto">
          <a:xfrm>
            <a:off x="5722938" y="3717925"/>
            <a:ext cx="10080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23" name="Line 23"/>
          <p:cNvSpPr>
            <a:spLocks noChangeShapeType="1"/>
          </p:cNvSpPr>
          <p:nvPr/>
        </p:nvSpPr>
        <p:spPr bwMode="auto">
          <a:xfrm>
            <a:off x="5364163" y="4005263"/>
            <a:ext cx="0" cy="5762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33" name="Line 33"/>
          <p:cNvSpPr>
            <a:spLocks noChangeShapeType="1"/>
          </p:cNvSpPr>
          <p:nvPr/>
        </p:nvSpPr>
        <p:spPr bwMode="auto">
          <a:xfrm>
            <a:off x="5722938" y="4941888"/>
            <a:ext cx="108108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37" name="Line 37"/>
          <p:cNvSpPr>
            <a:spLocks noChangeShapeType="1"/>
          </p:cNvSpPr>
          <p:nvPr/>
        </p:nvSpPr>
        <p:spPr bwMode="auto">
          <a:xfrm>
            <a:off x="7019925" y="3933825"/>
            <a:ext cx="0" cy="6477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38" name="Line 38"/>
          <p:cNvSpPr>
            <a:spLocks noChangeShapeType="1"/>
          </p:cNvSpPr>
          <p:nvPr/>
        </p:nvSpPr>
        <p:spPr bwMode="auto">
          <a:xfrm flipH="1">
            <a:off x="5651500" y="3789363"/>
            <a:ext cx="1152525" cy="863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cxnSp>
        <p:nvCxnSpPr>
          <p:cNvPr id="102441" name="AutoShape 41"/>
          <p:cNvCxnSpPr>
            <a:cxnSpLocks noChangeShapeType="1"/>
            <a:stCxn id="102421" idx="4"/>
          </p:cNvCxnSpPr>
          <p:nvPr/>
        </p:nvCxnSpPr>
        <p:spPr bwMode="auto">
          <a:xfrm rot="16200000" flipV="1">
            <a:off x="5435600" y="3500438"/>
            <a:ext cx="1368425" cy="1946275"/>
          </a:xfrm>
          <a:prstGeom prst="curvedConnector4">
            <a:avLst>
              <a:gd name="adj1" fmla="val -16588"/>
              <a:gd name="adj2" fmla="val 12993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102442" name="AutoShape 42"/>
          <p:cNvSpPr>
            <a:spLocks noChangeArrowheads="1"/>
          </p:cNvSpPr>
          <p:nvPr/>
        </p:nvSpPr>
        <p:spPr bwMode="auto">
          <a:xfrm>
            <a:off x="3563938" y="4221163"/>
            <a:ext cx="976312" cy="287337"/>
          </a:xfrm>
          <a:prstGeom prst="rightArrow">
            <a:avLst>
              <a:gd name="adj1" fmla="val 50000"/>
              <a:gd name="adj2" fmla="val 84945"/>
            </a:avLst>
          </a:prstGeom>
          <a:gradFill rotWithShape="1">
            <a:gsLst>
              <a:gs pos="0">
                <a:srgbClr val="EA0000">
                  <a:gamma/>
                  <a:tint val="34902"/>
                  <a:invGamma/>
                  <a:alpha val="74001"/>
                </a:srgbClr>
              </a:gs>
              <a:gs pos="50000">
                <a:srgbClr val="EA0000"/>
              </a:gs>
              <a:gs pos="100000">
                <a:srgbClr val="EA0000">
                  <a:gamma/>
                  <a:tint val="34902"/>
                  <a:invGamma/>
                  <a:alpha val="74001"/>
                </a:srgbClr>
              </a:gs>
            </a:gsLst>
            <a:lin ang="5400000" scaled="1"/>
          </a:gradFill>
          <a:ln w="9525">
            <a:solidFill>
              <a:schemeClr val="tx1"/>
            </a:solidFill>
            <a:miter lim="800000"/>
            <a:headEnd/>
            <a:tailEnd/>
          </a:ln>
          <a:effectLst/>
        </p:spPr>
        <p:txBody>
          <a:bodyPr wrap="none" anchor="ctr"/>
          <a:lstStyle/>
          <a:p>
            <a:pPr>
              <a:defRPr/>
            </a:pPr>
            <a:endParaRPr lang="zh-CN" altLang="en-US">
              <a:latin typeface="Arial" charset="0"/>
            </a:endParaRPr>
          </a:p>
        </p:txBody>
      </p:sp>
    </p:spTree>
    <p:extLst>
      <p:ext uri="{BB962C8B-B14F-4D97-AF65-F5344CB8AC3E}">
        <p14:creationId xmlns:p14="http://schemas.microsoft.com/office/powerpoint/2010/main" val="33267578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02404"/>
                                        </p:tgtEl>
                                        <p:attrNameLst>
                                          <p:attrName>style.visibility</p:attrName>
                                        </p:attrNameLst>
                                      </p:cBhvr>
                                      <p:to>
                                        <p:strVal val="visible"/>
                                      </p:to>
                                    </p:set>
                                    <p:animEffect transition="in" filter="box(in)">
                                      <p:cBhvr>
                                        <p:cTn id="7" dur="500"/>
                                        <p:tgtEl>
                                          <p:spTgt spid="102404"/>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102405"/>
                                        </p:tgtEl>
                                        <p:attrNameLst>
                                          <p:attrName>style.visibility</p:attrName>
                                        </p:attrNameLst>
                                      </p:cBhvr>
                                      <p:to>
                                        <p:strVal val="visible"/>
                                      </p:to>
                                    </p:set>
                                    <p:animEffect transition="in" filter="box(in)">
                                      <p:cBhvr>
                                        <p:cTn id="10" dur="500"/>
                                        <p:tgtEl>
                                          <p:spTgt spid="102405"/>
                                        </p:tgtEl>
                                      </p:cBhvr>
                                    </p:animEffect>
                                  </p:childTnLst>
                                </p:cTn>
                              </p:par>
                              <p:par>
                                <p:cTn id="11" presetID="4" presetClass="entr" presetSubtype="16" fill="hold" grpId="0" nodeType="withEffect">
                                  <p:stCondLst>
                                    <p:cond delay="0"/>
                                  </p:stCondLst>
                                  <p:childTnLst>
                                    <p:set>
                                      <p:cBhvr>
                                        <p:cTn id="12" dur="1" fill="hold">
                                          <p:stCondLst>
                                            <p:cond delay="0"/>
                                          </p:stCondLst>
                                        </p:cTn>
                                        <p:tgtEl>
                                          <p:spTgt spid="102406"/>
                                        </p:tgtEl>
                                        <p:attrNameLst>
                                          <p:attrName>style.visibility</p:attrName>
                                        </p:attrNameLst>
                                      </p:cBhvr>
                                      <p:to>
                                        <p:strVal val="visible"/>
                                      </p:to>
                                    </p:set>
                                    <p:animEffect transition="in" filter="box(in)">
                                      <p:cBhvr>
                                        <p:cTn id="13" dur="500"/>
                                        <p:tgtEl>
                                          <p:spTgt spid="102406"/>
                                        </p:tgtEl>
                                      </p:cBhvr>
                                    </p:animEffect>
                                  </p:childTnLst>
                                </p:cTn>
                              </p:par>
                              <p:par>
                                <p:cTn id="14" presetID="4" presetClass="entr" presetSubtype="16" fill="hold" grpId="0" nodeType="withEffect">
                                  <p:stCondLst>
                                    <p:cond delay="0"/>
                                  </p:stCondLst>
                                  <p:childTnLst>
                                    <p:set>
                                      <p:cBhvr>
                                        <p:cTn id="15" dur="1" fill="hold">
                                          <p:stCondLst>
                                            <p:cond delay="0"/>
                                          </p:stCondLst>
                                        </p:cTn>
                                        <p:tgtEl>
                                          <p:spTgt spid="102407"/>
                                        </p:tgtEl>
                                        <p:attrNameLst>
                                          <p:attrName>style.visibility</p:attrName>
                                        </p:attrNameLst>
                                      </p:cBhvr>
                                      <p:to>
                                        <p:strVal val="visible"/>
                                      </p:to>
                                    </p:set>
                                    <p:animEffect transition="in" filter="box(in)">
                                      <p:cBhvr>
                                        <p:cTn id="16" dur="500"/>
                                        <p:tgtEl>
                                          <p:spTgt spid="102407"/>
                                        </p:tgtEl>
                                      </p:cBhvr>
                                    </p:animEffect>
                                  </p:childTnLst>
                                </p:cTn>
                              </p:par>
                              <p:par>
                                <p:cTn id="17" presetID="4" presetClass="entr" presetSubtype="16" fill="hold" nodeType="withEffect">
                                  <p:stCondLst>
                                    <p:cond delay="0"/>
                                  </p:stCondLst>
                                  <p:childTnLst>
                                    <p:set>
                                      <p:cBhvr>
                                        <p:cTn id="18" dur="1" fill="hold">
                                          <p:stCondLst>
                                            <p:cond delay="0"/>
                                          </p:stCondLst>
                                        </p:cTn>
                                        <p:tgtEl>
                                          <p:spTgt spid="102408"/>
                                        </p:tgtEl>
                                        <p:attrNameLst>
                                          <p:attrName>style.visibility</p:attrName>
                                        </p:attrNameLst>
                                      </p:cBhvr>
                                      <p:to>
                                        <p:strVal val="visible"/>
                                      </p:to>
                                    </p:set>
                                    <p:animEffect transition="in" filter="box(in)">
                                      <p:cBhvr>
                                        <p:cTn id="19" dur="500"/>
                                        <p:tgtEl>
                                          <p:spTgt spid="102408"/>
                                        </p:tgtEl>
                                      </p:cBhvr>
                                    </p:animEffect>
                                  </p:childTnLst>
                                </p:cTn>
                              </p:par>
                              <p:par>
                                <p:cTn id="20" presetID="4" presetClass="entr" presetSubtype="16" fill="hold" nodeType="withEffect">
                                  <p:stCondLst>
                                    <p:cond delay="0"/>
                                  </p:stCondLst>
                                  <p:childTnLst>
                                    <p:set>
                                      <p:cBhvr>
                                        <p:cTn id="21" dur="1" fill="hold">
                                          <p:stCondLst>
                                            <p:cond delay="0"/>
                                          </p:stCondLst>
                                        </p:cTn>
                                        <p:tgtEl>
                                          <p:spTgt spid="102409"/>
                                        </p:tgtEl>
                                        <p:attrNameLst>
                                          <p:attrName>style.visibility</p:attrName>
                                        </p:attrNameLst>
                                      </p:cBhvr>
                                      <p:to>
                                        <p:strVal val="visible"/>
                                      </p:to>
                                    </p:set>
                                    <p:animEffect transition="in" filter="box(in)">
                                      <p:cBhvr>
                                        <p:cTn id="22" dur="500"/>
                                        <p:tgtEl>
                                          <p:spTgt spid="102409"/>
                                        </p:tgtEl>
                                      </p:cBhvr>
                                    </p:animEffect>
                                  </p:childTnLst>
                                </p:cTn>
                              </p:par>
                              <p:par>
                                <p:cTn id="23" presetID="4" presetClass="entr" presetSubtype="16" fill="hold" nodeType="withEffect">
                                  <p:stCondLst>
                                    <p:cond delay="0"/>
                                  </p:stCondLst>
                                  <p:childTnLst>
                                    <p:set>
                                      <p:cBhvr>
                                        <p:cTn id="24" dur="1" fill="hold">
                                          <p:stCondLst>
                                            <p:cond delay="0"/>
                                          </p:stCondLst>
                                        </p:cTn>
                                        <p:tgtEl>
                                          <p:spTgt spid="102410"/>
                                        </p:tgtEl>
                                        <p:attrNameLst>
                                          <p:attrName>style.visibility</p:attrName>
                                        </p:attrNameLst>
                                      </p:cBhvr>
                                      <p:to>
                                        <p:strVal val="visible"/>
                                      </p:to>
                                    </p:set>
                                    <p:animEffect transition="in" filter="box(in)">
                                      <p:cBhvr>
                                        <p:cTn id="25" dur="500"/>
                                        <p:tgtEl>
                                          <p:spTgt spid="102410"/>
                                        </p:tgtEl>
                                      </p:cBhvr>
                                    </p:animEffect>
                                  </p:childTnLst>
                                </p:cTn>
                              </p:par>
                              <p:par>
                                <p:cTn id="26" presetID="4" presetClass="entr" presetSubtype="16" fill="hold" nodeType="withEffect">
                                  <p:stCondLst>
                                    <p:cond delay="0"/>
                                  </p:stCondLst>
                                  <p:childTnLst>
                                    <p:set>
                                      <p:cBhvr>
                                        <p:cTn id="27" dur="1" fill="hold">
                                          <p:stCondLst>
                                            <p:cond delay="0"/>
                                          </p:stCondLst>
                                        </p:cTn>
                                        <p:tgtEl>
                                          <p:spTgt spid="102411"/>
                                        </p:tgtEl>
                                        <p:attrNameLst>
                                          <p:attrName>style.visibility</p:attrName>
                                        </p:attrNameLst>
                                      </p:cBhvr>
                                      <p:to>
                                        <p:strVal val="visible"/>
                                      </p:to>
                                    </p:set>
                                    <p:animEffect transition="in" filter="box(in)">
                                      <p:cBhvr>
                                        <p:cTn id="28" dur="500"/>
                                        <p:tgtEl>
                                          <p:spTgt spid="102411"/>
                                        </p:tgtEl>
                                      </p:cBhvr>
                                    </p:animEffect>
                                  </p:childTnLst>
                                </p:cTn>
                              </p:par>
                              <p:par>
                                <p:cTn id="29" presetID="4" presetClass="entr" presetSubtype="16" fill="hold" nodeType="withEffect">
                                  <p:stCondLst>
                                    <p:cond delay="0"/>
                                  </p:stCondLst>
                                  <p:childTnLst>
                                    <p:set>
                                      <p:cBhvr>
                                        <p:cTn id="30" dur="1" fill="hold">
                                          <p:stCondLst>
                                            <p:cond delay="0"/>
                                          </p:stCondLst>
                                        </p:cTn>
                                        <p:tgtEl>
                                          <p:spTgt spid="102412"/>
                                        </p:tgtEl>
                                        <p:attrNameLst>
                                          <p:attrName>style.visibility</p:attrName>
                                        </p:attrNameLst>
                                      </p:cBhvr>
                                      <p:to>
                                        <p:strVal val="visible"/>
                                      </p:to>
                                    </p:set>
                                    <p:animEffect transition="in" filter="box(in)">
                                      <p:cBhvr>
                                        <p:cTn id="31" dur="500"/>
                                        <p:tgtEl>
                                          <p:spTgt spid="102412"/>
                                        </p:tgtEl>
                                      </p:cBhvr>
                                    </p:animEffect>
                                  </p:childTnLst>
                                </p:cTn>
                              </p:par>
                              <p:par>
                                <p:cTn id="32" presetID="4" presetClass="entr" presetSubtype="16" fill="hold" nodeType="withEffect">
                                  <p:stCondLst>
                                    <p:cond delay="0"/>
                                  </p:stCondLst>
                                  <p:childTnLst>
                                    <p:set>
                                      <p:cBhvr>
                                        <p:cTn id="33" dur="1" fill="hold">
                                          <p:stCondLst>
                                            <p:cond delay="0"/>
                                          </p:stCondLst>
                                        </p:cTn>
                                        <p:tgtEl>
                                          <p:spTgt spid="102413"/>
                                        </p:tgtEl>
                                        <p:attrNameLst>
                                          <p:attrName>style.visibility</p:attrName>
                                        </p:attrNameLst>
                                      </p:cBhvr>
                                      <p:to>
                                        <p:strVal val="visible"/>
                                      </p:to>
                                    </p:set>
                                    <p:animEffect transition="in" filter="box(in)">
                                      <p:cBhvr>
                                        <p:cTn id="34" dur="500"/>
                                        <p:tgtEl>
                                          <p:spTgt spid="102413"/>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8" fill="hold" nodeType="clickEffect">
                                  <p:stCondLst>
                                    <p:cond delay="0"/>
                                  </p:stCondLst>
                                  <p:childTnLst>
                                    <p:set>
                                      <p:cBhvr>
                                        <p:cTn id="38" dur="1" fill="hold">
                                          <p:stCondLst>
                                            <p:cond delay="0"/>
                                          </p:stCondLst>
                                        </p:cTn>
                                        <p:tgtEl>
                                          <p:spTgt spid="102442"/>
                                        </p:tgtEl>
                                        <p:attrNameLst>
                                          <p:attrName>style.visibility</p:attrName>
                                        </p:attrNameLst>
                                      </p:cBhvr>
                                      <p:to>
                                        <p:strVal val="visible"/>
                                      </p:to>
                                    </p:set>
                                    <p:anim calcmode="lin" valueType="num">
                                      <p:cBhvr additive="base">
                                        <p:cTn id="39" dur="500" fill="hold"/>
                                        <p:tgtEl>
                                          <p:spTgt spid="102442"/>
                                        </p:tgtEl>
                                        <p:attrNameLst>
                                          <p:attrName>ppt_x</p:attrName>
                                        </p:attrNameLst>
                                      </p:cBhvr>
                                      <p:tavLst>
                                        <p:tav tm="0">
                                          <p:val>
                                            <p:strVal val="0-#ppt_w/2"/>
                                          </p:val>
                                        </p:tav>
                                        <p:tav tm="100000">
                                          <p:val>
                                            <p:strVal val="#ppt_x"/>
                                          </p:val>
                                        </p:tav>
                                      </p:tavLst>
                                    </p:anim>
                                    <p:anim calcmode="lin" valueType="num">
                                      <p:cBhvr additive="base">
                                        <p:cTn id="40" dur="500" fill="hold"/>
                                        <p:tgtEl>
                                          <p:spTgt spid="102442"/>
                                        </p:tgtEl>
                                        <p:attrNameLst>
                                          <p:attrName>ppt_y</p:attrName>
                                        </p:attrNameLst>
                                      </p:cBhvr>
                                      <p:tavLst>
                                        <p:tav tm="0">
                                          <p:val>
                                            <p:strVal val="#ppt_y"/>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4" presetClass="entr" presetSubtype="16" fill="hold" grpId="0" nodeType="clickEffect">
                                  <p:stCondLst>
                                    <p:cond delay="0"/>
                                  </p:stCondLst>
                                  <p:childTnLst>
                                    <p:set>
                                      <p:cBhvr>
                                        <p:cTn id="44" dur="1" fill="hold">
                                          <p:stCondLst>
                                            <p:cond delay="0"/>
                                          </p:stCondLst>
                                        </p:cTn>
                                        <p:tgtEl>
                                          <p:spTgt spid="102418"/>
                                        </p:tgtEl>
                                        <p:attrNameLst>
                                          <p:attrName>style.visibility</p:attrName>
                                        </p:attrNameLst>
                                      </p:cBhvr>
                                      <p:to>
                                        <p:strVal val="visible"/>
                                      </p:to>
                                    </p:set>
                                    <p:animEffect transition="in" filter="box(in)">
                                      <p:cBhvr>
                                        <p:cTn id="45" dur="500"/>
                                        <p:tgtEl>
                                          <p:spTgt spid="102418"/>
                                        </p:tgtEl>
                                      </p:cBhvr>
                                    </p:animEffect>
                                  </p:childTnLst>
                                </p:cTn>
                              </p:par>
                              <p:par>
                                <p:cTn id="46" presetID="4" presetClass="entr" presetSubtype="16" fill="hold" grpId="0" nodeType="withEffect">
                                  <p:stCondLst>
                                    <p:cond delay="0"/>
                                  </p:stCondLst>
                                  <p:childTnLst>
                                    <p:set>
                                      <p:cBhvr>
                                        <p:cTn id="47" dur="1" fill="hold">
                                          <p:stCondLst>
                                            <p:cond delay="0"/>
                                          </p:stCondLst>
                                        </p:cTn>
                                        <p:tgtEl>
                                          <p:spTgt spid="102419"/>
                                        </p:tgtEl>
                                        <p:attrNameLst>
                                          <p:attrName>style.visibility</p:attrName>
                                        </p:attrNameLst>
                                      </p:cBhvr>
                                      <p:to>
                                        <p:strVal val="visible"/>
                                      </p:to>
                                    </p:set>
                                    <p:animEffect transition="in" filter="box(in)">
                                      <p:cBhvr>
                                        <p:cTn id="48" dur="500"/>
                                        <p:tgtEl>
                                          <p:spTgt spid="102419"/>
                                        </p:tgtEl>
                                      </p:cBhvr>
                                    </p:animEffect>
                                  </p:childTnLst>
                                </p:cTn>
                              </p:par>
                              <p:par>
                                <p:cTn id="49" presetID="4" presetClass="entr" presetSubtype="16" fill="hold" grpId="0" nodeType="withEffect">
                                  <p:stCondLst>
                                    <p:cond delay="0"/>
                                  </p:stCondLst>
                                  <p:childTnLst>
                                    <p:set>
                                      <p:cBhvr>
                                        <p:cTn id="50" dur="1" fill="hold">
                                          <p:stCondLst>
                                            <p:cond delay="0"/>
                                          </p:stCondLst>
                                        </p:cTn>
                                        <p:tgtEl>
                                          <p:spTgt spid="102420"/>
                                        </p:tgtEl>
                                        <p:attrNameLst>
                                          <p:attrName>style.visibility</p:attrName>
                                        </p:attrNameLst>
                                      </p:cBhvr>
                                      <p:to>
                                        <p:strVal val="visible"/>
                                      </p:to>
                                    </p:set>
                                    <p:animEffect transition="in" filter="box(in)">
                                      <p:cBhvr>
                                        <p:cTn id="51" dur="500"/>
                                        <p:tgtEl>
                                          <p:spTgt spid="102420"/>
                                        </p:tgtEl>
                                      </p:cBhvr>
                                    </p:animEffect>
                                  </p:childTnLst>
                                </p:cTn>
                              </p:par>
                              <p:par>
                                <p:cTn id="52" presetID="4" presetClass="entr" presetSubtype="16" fill="hold" grpId="0" nodeType="withEffect">
                                  <p:stCondLst>
                                    <p:cond delay="0"/>
                                  </p:stCondLst>
                                  <p:childTnLst>
                                    <p:set>
                                      <p:cBhvr>
                                        <p:cTn id="53" dur="1" fill="hold">
                                          <p:stCondLst>
                                            <p:cond delay="0"/>
                                          </p:stCondLst>
                                        </p:cTn>
                                        <p:tgtEl>
                                          <p:spTgt spid="102421"/>
                                        </p:tgtEl>
                                        <p:attrNameLst>
                                          <p:attrName>style.visibility</p:attrName>
                                        </p:attrNameLst>
                                      </p:cBhvr>
                                      <p:to>
                                        <p:strVal val="visible"/>
                                      </p:to>
                                    </p:set>
                                    <p:animEffect transition="in" filter="box(in)">
                                      <p:cBhvr>
                                        <p:cTn id="54" dur="500"/>
                                        <p:tgtEl>
                                          <p:spTgt spid="102421"/>
                                        </p:tgtEl>
                                      </p:cBhvr>
                                    </p:animEffect>
                                  </p:childTnLst>
                                </p:cTn>
                              </p:par>
                              <p:par>
                                <p:cTn id="55" presetID="4" presetClass="entr" presetSubtype="16" fill="hold" nodeType="withEffect">
                                  <p:stCondLst>
                                    <p:cond delay="0"/>
                                  </p:stCondLst>
                                  <p:childTnLst>
                                    <p:set>
                                      <p:cBhvr>
                                        <p:cTn id="56" dur="1" fill="hold">
                                          <p:stCondLst>
                                            <p:cond delay="0"/>
                                          </p:stCondLst>
                                        </p:cTn>
                                        <p:tgtEl>
                                          <p:spTgt spid="102422"/>
                                        </p:tgtEl>
                                        <p:attrNameLst>
                                          <p:attrName>style.visibility</p:attrName>
                                        </p:attrNameLst>
                                      </p:cBhvr>
                                      <p:to>
                                        <p:strVal val="visible"/>
                                      </p:to>
                                    </p:set>
                                    <p:animEffect transition="in" filter="box(in)">
                                      <p:cBhvr>
                                        <p:cTn id="57" dur="500"/>
                                        <p:tgtEl>
                                          <p:spTgt spid="102422"/>
                                        </p:tgtEl>
                                      </p:cBhvr>
                                    </p:animEffect>
                                  </p:childTnLst>
                                </p:cTn>
                              </p:par>
                              <p:par>
                                <p:cTn id="58" presetID="4" presetClass="entr" presetSubtype="16" fill="hold" nodeType="withEffect">
                                  <p:stCondLst>
                                    <p:cond delay="0"/>
                                  </p:stCondLst>
                                  <p:childTnLst>
                                    <p:set>
                                      <p:cBhvr>
                                        <p:cTn id="59" dur="1" fill="hold">
                                          <p:stCondLst>
                                            <p:cond delay="0"/>
                                          </p:stCondLst>
                                        </p:cTn>
                                        <p:tgtEl>
                                          <p:spTgt spid="102423"/>
                                        </p:tgtEl>
                                        <p:attrNameLst>
                                          <p:attrName>style.visibility</p:attrName>
                                        </p:attrNameLst>
                                      </p:cBhvr>
                                      <p:to>
                                        <p:strVal val="visible"/>
                                      </p:to>
                                    </p:set>
                                    <p:animEffect transition="in" filter="box(in)">
                                      <p:cBhvr>
                                        <p:cTn id="60" dur="500"/>
                                        <p:tgtEl>
                                          <p:spTgt spid="102423"/>
                                        </p:tgtEl>
                                      </p:cBhvr>
                                    </p:animEffect>
                                  </p:childTnLst>
                                </p:cTn>
                              </p:par>
                              <p:par>
                                <p:cTn id="61" presetID="4" presetClass="entr" presetSubtype="16" fill="hold" nodeType="withEffect">
                                  <p:stCondLst>
                                    <p:cond delay="0"/>
                                  </p:stCondLst>
                                  <p:childTnLst>
                                    <p:set>
                                      <p:cBhvr>
                                        <p:cTn id="62" dur="1" fill="hold">
                                          <p:stCondLst>
                                            <p:cond delay="0"/>
                                          </p:stCondLst>
                                        </p:cTn>
                                        <p:tgtEl>
                                          <p:spTgt spid="102433"/>
                                        </p:tgtEl>
                                        <p:attrNameLst>
                                          <p:attrName>style.visibility</p:attrName>
                                        </p:attrNameLst>
                                      </p:cBhvr>
                                      <p:to>
                                        <p:strVal val="visible"/>
                                      </p:to>
                                    </p:set>
                                    <p:animEffect transition="in" filter="box(in)">
                                      <p:cBhvr>
                                        <p:cTn id="63" dur="500"/>
                                        <p:tgtEl>
                                          <p:spTgt spid="102433"/>
                                        </p:tgtEl>
                                      </p:cBhvr>
                                    </p:animEffect>
                                  </p:childTnLst>
                                </p:cTn>
                              </p:par>
                              <p:par>
                                <p:cTn id="64" presetID="4" presetClass="entr" presetSubtype="16" fill="hold" nodeType="withEffect">
                                  <p:stCondLst>
                                    <p:cond delay="0"/>
                                  </p:stCondLst>
                                  <p:childTnLst>
                                    <p:set>
                                      <p:cBhvr>
                                        <p:cTn id="65" dur="1" fill="hold">
                                          <p:stCondLst>
                                            <p:cond delay="0"/>
                                          </p:stCondLst>
                                        </p:cTn>
                                        <p:tgtEl>
                                          <p:spTgt spid="102437"/>
                                        </p:tgtEl>
                                        <p:attrNameLst>
                                          <p:attrName>style.visibility</p:attrName>
                                        </p:attrNameLst>
                                      </p:cBhvr>
                                      <p:to>
                                        <p:strVal val="visible"/>
                                      </p:to>
                                    </p:set>
                                    <p:animEffect transition="in" filter="box(in)">
                                      <p:cBhvr>
                                        <p:cTn id="66" dur="500"/>
                                        <p:tgtEl>
                                          <p:spTgt spid="102437"/>
                                        </p:tgtEl>
                                      </p:cBhvr>
                                    </p:animEffect>
                                  </p:childTnLst>
                                </p:cTn>
                              </p:par>
                              <p:par>
                                <p:cTn id="67" presetID="4" presetClass="entr" presetSubtype="16" fill="hold" nodeType="withEffect">
                                  <p:stCondLst>
                                    <p:cond delay="0"/>
                                  </p:stCondLst>
                                  <p:childTnLst>
                                    <p:set>
                                      <p:cBhvr>
                                        <p:cTn id="68" dur="1" fill="hold">
                                          <p:stCondLst>
                                            <p:cond delay="0"/>
                                          </p:stCondLst>
                                        </p:cTn>
                                        <p:tgtEl>
                                          <p:spTgt spid="102438"/>
                                        </p:tgtEl>
                                        <p:attrNameLst>
                                          <p:attrName>style.visibility</p:attrName>
                                        </p:attrNameLst>
                                      </p:cBhvr>
                                      <p:to>
                                        <p:strVal val="visible"/>
                                      </p:to>
                                    </p:set>
                                    <p:animEffect transition="in" filter="box(in)">
                                      <p:cBhvr>
                                        <p:cTn id="69" dur="500"/>
                                        <p:tgtEl>
                                          <p:spTgt spid="102438"/>
                                        </p:tgtEl>
                                      </p:cBhvr>
                                    </p:animEffect>
                                  </p:childTnLst>
                                </p:cTn>
                              </p:par>
                              <p:par>
                                <p:cTn id="70" presetID="4" presetClass="entr" presetSubtype="16" fill="hold" nodeType="withEffect">
                                  <p:stCondLst>
                                    <p:cond delay="0"/>
                                  </p:stCondLst>
                                  <p:childTnLst>
                                    <p:set>
                                      <p:cBhvr>
                                        <p:cTn id="71" dur="1" fill="hold">
                                          <p:stCondLst>
                                            <p:cond delay="0"/>
                                          </p:stCondLst>
                                        </p:cTn>
                                        <p:tgtEl>
                                          <p:spTgt spid="102441"/>
                                        </p:tgtEl>
                                        <p:attrNameLst>
                                          <p:attrName>style.visibility</p:attrName>
                                        </p:attrNameLst>
                                      </p:cBhvr>
                                      <p:to>
                                        <p:strVal val="visible"/>
                                      </p:to>
                                    </p:set>
                                    <p:animEffect transition="in" filter="box(in)">
                                      <p:cBhvr>
                                        <p:cTn id="72" dur="500"/>
                                        <p:tgtEl>
                                          <p:spTgt spid="1024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4" grpId="0" animBg="1"/>
      <p:bldP spid="102405" grpId="0" animBg="1"/>
      <p:bldP spid="102406" grpId="0" animBg="1"/>
      <p:bldP spid="102407" grpId="0" animBg="1"/>
      <p:bldP spid="102418" grpId="0" animBg="1"/>
      <p:bldP spid="102419" grpId="0" animBg="1"/>
      <p:bldP spid="102420" grpId="0" animBg="1"/>
      <p:bldP spid="102421" grpId="0" animBg="1"/>
    </p:bld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73731" name="Rectangle 2"/>
          <p:cNvSpPr>
            <a:spLocks noGrp="1" noChangeArrowheads="1"/>
          </p:cNvSpPr>
          <p:nvPr>
            <p:ph type="title"/>
          </p:nvPr>
        </p:nvSpPr>
        <p:spPr/>
        <p:txBody>
          <a:bodyPr/>
          <a:lstStyle/>
          <a:p>
            <a:pPr eaLnBrk="1" hangingPunct="1"/>
            <a:r>
              <a:rPr lang="en-US" altLang="zh-CN" dirty="0">
                <a:solidFill>
                  <a:srgbClr val="333399"/>
                </a:solidFill>
              </a:rPr>
              <a:t>1.4.</a:t>
            </a:r>
            <a:r>
              <a:rPr lang="en-US" altLang="zh-CN" dirty="0" smtClean="0"/>
              <a:t>5</a:t>
            </a:r>
            <a:r>
              <a:rPr lang="en-US" altLang="zh-CN" kern="0" dirty="0" smtClean="0"/>
              <a:t> </a:t>
            </a:r>
            <a:r>
              <a:rPr lang="zh-CN" altLang="en-US" kern="0" dirty="0" smtClean="0"/>
              <a:t>图</a:t>
            </a:r>
            <a:r>
              <a:rPr lang="en-US" altLang="zh-CN" kern="0" dirty="0" smtClean="0"/>
              <a:t>——</a:t>
            </a:r>
            <a:r>
              <a:rPr lang="zh-CN" altLang="en-US" dirty="0" smtClean="0"/>
              <a:t>重要关系</a:t>
            </a:r>
            <a:endParaRPr lang="en-US" altLang="zh-CN" dirty="0" smtClean="0"/>
          </a:p>
        </p:txBody>
      </p:sp>
      <p:sp>
        <p:nvSpPr>
          <p:cNvPr id="73732" name="Rectangle 3"/>
          <p:cNvSpPr>
            <a:spLocks noGrp="1" noChangeArrowheads="1"/>
          </p:cNvSpPr>
          <p:nvPr>
            <p:ph type="body" idx="1"/>
          </p:nvPr>
        </p:nvSpPr>
        <p:spPr/>
        <p:txBody>
          <a:bodyPr/>
          <a:lstStyle/>
          <a:p>
            <a:pPr eaLnBrk="1" hangingPunct="1">
              <a:lnSpc>
                <a:spcPct val="90000"/>
              </a:lnSpc>
              <a:buFontTx/>
              <a:buNone/>
            </a:pPr>
            <a:r>
              <a:rPr lang="en-US" altLang="zh-CN" sz="2000" dirty="0" smtClean="0"/>
              <a:t>   </a:t>
            </a:r>
            <a:r>
              <a:rPr lang="zh-CN" altLang="en-US" sz="2000" dirty="0" smtClean="0"/>
              <a:t>令</a:t>
            </a:r>
            <a:r>
              <a:rPr lang="en-US" altLang="zh-CN" sz="2300" dirty="0" smtClean="0"/>
              <a:t> </a:t>
            </a:r>
            <a:r>
              <a:rPr lang="en-US" altLang="zh-CN" sz="2300" i="1" dirty="0" err="1" smtClean="0"/>
              <a:t>n,m,r</a:t>
            </a:r>
            <a:r>
              <a:rPr lang="en-US" altLang="zh-CN" sz="2300" dirty="0" smtClean="0"/>
              <a:t> </a:t>
            </a:r>
            <a:r>
              <a:rPr lang="zh-CN" altLang="en-US" sz="2300" dirty="0" smtClean="0"/>
              <a:t>分别表示任意一个平面图中的顶点数、边数和区域数，这三个参数之间的关系有欧拉公式：</a:t>
            </a:r>
            <a:endParaRPr lang="en-US" altLang="zh-CN" sz="2300" dirty="0" smtClean="0"/>
          </a:p>
          <a:p>
            <a:pPr eaLnBrk="1" hangingPunct="1">
              <a:lnSpc>
                <a:spcPct val="90000"/>
              </a:lnSpc>
              <a:buFontTx/>
              <a:buNone/>
            </a:pPr>
            <a:r>
              <a:rPr lang="en-US" altLang="zh-CN" sz="2000" dirty="0" smtClean="0"/>
              <a:t>              </a:t>
            </a:r>
            <a:r>
              <a:rPr lang="en-US" altLang="zh-CN" sz="2300" i="1" dirty="0" smtClean="0">
                <a:solidFill>
                  <a:srgbClr val="EA0000"/>
                </a:solidFill>
              </a:rPr>
              <a:t>n –m +r=2,         </a:t>
            </a:r>
            <a:r>
              <a:rPr lang="zh-CN" altLang="en-US" sz="2300" i="1" dirty="0" smtClean="0">
                <a:solidFill>
                  <a:srgbClr val="EA0000"/>
                </a:solidFill>
              </a:rPr>
              <a:t>或</a:t>
            </a:r>
            <a:r>
              <a:rPr lang="en-US" altLang="zh-CN" sz="2300" i="1" dirty="0" smtClean="0">
                <a:solidFill>
                  <a:srgbClr val="EA0000"/>
                </a:solidFill>
              </a:rPr>
              <a:t> m=</a:t>
            </a:r>
            <a:r>
              <a:rPr lang="en-US" altLang="zh-CN" sz="2300" i="1" dirty="0" err="1" smtClean="0">
                <a:solidFill>
                  <a:srgbClr val="EA0000"/>
                </a:solidFill>
              </a:rPr>
              <a:t>n+r-2</a:t>
            </a:r>
            <a:endParaRPr lang="en-US" altLang="zh-CN" sz="2300" i="1" dirty="0" smtClean="0">
              <a:solidFill>
                <a:srgbClr val="EA0000"/>
              </a:solidFill>
            </a:endParaRPr>
          </a:p>
          <a:p>
            <a:pPr eaLnBrk="1" hangingPunct="1">
              <a:lnSpc>
                <a:spcPct val="90000"/>
              </a:lnSpc>
              <a:buFontTx/>
              <a:buNone/>
            </a:pPr>
            <a:r>
              <a:rPr lang="en-US" altLang="zh-CN" sz="2000" dirty="0" smtClean="0"/>
              <a:t>    </a:t>
            </a:r>
            <a:r>
              <a:rPr lang="zh-CN" altLang="en-US" sz="2000" dirty="0" smtClean="0"/>
              <a:t>而且还有    </a:t>
            </a:r>
            <a:r>
              <a:rPr lang="en-US" altLang="zh-CN" sz="2300" i="1" dirty="0" err="1" smtClean="0">
                <a:solidFill>
                  <a:srgbClr val="EA0000"/>
                </a:solidFill>
              </a:rPr>
              <a:t>m</a:t>
            </a:r>
            <a:r>
              <a:rPr lang="en-US" altLang="zh-CN" sz="2300" i="1" dirty="0" err="1" smtClean="0">
                <a:solidFill>
                  <a:srgbClr val="EA0000"/>
                </a:solidFill>
                <a:sym typeface="Symbol" panose="05050102010706020507" pitchFamily="18" charset="2"/>
              </a:rPr>
              <a:t>3n-6</a:t>
            </a:r>
            <a:r>
              <a:rPr lang="en-US" altLang="zh-CN" sz="2100" i="1" dirty="0" smtClean="0">
                <a:solidFill>
                  <a:schemeClr val="hlink"/>
                </a:solidFill>
                <a:sym typeface="Symbol" panose="05050102010706020507" pitchFamily="18" charset="2"/>
              </a:rPr>
              <a:t>.</a:t>
            </a:r>
            <a:r>
              <a:rPr lang="en-US" altLang="zh-CN" sz="2000" dirty="0" smtClean="0">
                <a:sym typeface="Symbol" panose="05050102010706020507" pitchFamily="18" charset="2"/>
              </a:rPr>
              <a:t> </a:t>
            </a:r>
          </a:p>
          <a:p>
            <a:pPr eaLnBrk="1" hangingPunct="1">
              <a:lnSpc>
                <a:spcPct val="90000"/>
              </a:lnSpc>
              <a:buFontTx/>
              <a:buNone/>
            </a:pPr>
            <a:r>
              <a:rPr lang="en-US" altLang="zh-CN" sz="2000" dirty="0" smtClean="0">
                <a:sym typeface="Symbol" panose="05050102010706020507" pitchFamily="18" charset="2"/>
              </a:rPr>
              <a:t>     </a:t>
            </a:r>
            <a:r>
              <a:rPr lang="zh-CN" altLang="en-US" sz="2000" dirty="0" smtClean="0">
                <a:sym typeface="Symbol" panose="05050102010706020507" pitchFamily="18" charset="2"/>
              </a:rPr>
              <a:t>等号在图是三角形化时成立，即图的每一个区域（包括无界区域）都是三角形的。</a:t>
            </a:r>
            <a:endParaRPr lang="en-US" altLang="zh-CN" sz="2300" dirty="0" smtClean="0">
              <a:sym typeface="Symbol" panose="05050102010706020507" pitchFamily="18" charset="2"/>
            </a:endParaRPr>
          </a:p>
          <a:p>
            <a:pPr eaLnBrk="1" hangingPunct="1">
              <a:lnSpc>
                <a:spcPct val="90000"/>
              </a:lnSpc>
              <a:buFontTx/>
              <a:buNone/>
            </a:pPr>
            <a:endParaRPr lang="en-US" altLang="zh-CN" sz="2300" dirty="0" smtClean="0">
              <a:sym typeface="Symbol" panose="05050102010706020507" pitchFamily="18" charset="2"/>
            </a:endParaRPr>
          </a:p>
          <a:p>
            <a:pPr eaLnBrk="1" hangingPunct="1">
              <a:lnSpc>
                <a:spcPct val="90000"/>
              </a:lnSpc>
              <a:buFontTx/>
              <a:buNone/>
            </a:pPr>
            <a:r>
              <a:rPr lang="en-US" altLang="zh-CN" sz="2300" dirty="0" smtClean="0">
                <a:sym typeface="Symbol" panose="05050102010706020507" pitchFamily="18" charset="2"/>
              </a:rPr>
              <a:t>    </a:t>
            </a:r>
            <a:r>
              <a:rPr lang="zh-CN" altLang="en-US" sz="2300" dirty="0" smtClean="0">
                <a:sym typeface="Symbol" panose="05050102010706020507" pitchFamily="18" charset="2"/>
              </a:rPr>
              <a:t>上面的关系蕴含着在任何平面图中 </a:t>
            </a:r>
            <a:r>
              <a:rPr lang="en-US" altLang="zh-CN" sz="2300" dirty="0" smtClean="0">
                <a:sym typeface="Symbol" panose="05050102010706020507" pitchFamily="18" charset="2"/>
              </a:rPr>
              <a:t>m=O(n)</a:t>
            </a:r>
            <a:r>
              <a:rPr lang="zh-CN" altLang="en-US" sz="2300" dirty="0" smtClean="0">
                <a:sym typeface="Symbol" panose="05050102010706020507" pitchFamily="18" charset="2"/>
              </a:rPr>
              <a:t>，这样存储一个平面图所需要的空间量仅仅是</a:t>
            </a:r>
            <a:r>
              <a:rPr lang="en-US" altLang="zh-CN" sz="2300" dirty="0" smtClean="0">
                <a:sym typeface="Symbol" panose="05050102010706020507" pitchFamily="18" charset="2"/>
              </a:rPr>
              <a:t>(n)</a:t>
            </a:r>
            <a:r>
              <a:rPr lang="zh-CN" altLang="en-US" sz="2300" dirty="0" smtClean="0">
                <a:sym typeface="Symbol" panose="05050102010706020507" pitchFamily="18" charset="2"/>
              </a:rPr>
              <a:t>。</a:t>
            </a:r>
            <a:endParaRPr lang="en-US" altLang="zh-CN" sz="2300" dirty="0" smtClean="0"/>
          </a:p>
        </p:txBody>
      </p:sp>
    </p:spTree>
    <p:extLst>
      <p:ext uri="{BB962C8B-B14F-4D97-AF65-F5344CB8AC3E}">
        <p14:creationId xmlns:p14="http://schemas.microsoft.com/office/powerpoint/2010/main" val="251132995"/>
      </p:ext>
    </p:extLst>
  </p:cSld>
  <p:clrMapOvr>
    <a:masterClrMapping/>
  </p:clrMapOvr>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74755" name="Rectangle 2"/>
          <p:cNvSpPr>
            <a:spLocks noGrp="1" noChangeArrowheads="1"/>
          </p:cNvSpPr>
          <p:nvPr>
            <p:ph type="title"/>
          </p:nvPr>
        </p:nvSpPr>
        <p:spPr/>
        <p:txBody>
          <a:bodyPr/>
          <a:lstStyle/>
          <a:p>
            <a:pPr eaLnBrk="1" hangingPunct="1"/>
            <a:r>
              <a:rPr lang="en-US" altLang="zh-CN" dirty="0" smtClean="0">
                <a:solidFill>
                  <a:srgbClr val="333399"/>
                </a:solidFill>
              </a:rPr>
              <a:t>1.4.</a:t>
            </a:r>
            <a:r>
              <a:rPr lang="en-US" altLang="zh-CN" dirty="0" smtClean="0"/>
              <a:t>6 </a:t>
            </a:r>
            <a:r>
              <a:rPr lang="zh-CN" altLang="en-US" b="1" u="sng" dirty="0" smtClean="0"/>
              <a:t>树</a:t>
            </a:r>
            <a:r>
              <a:rPr lang="zh-CN" altLang="en-US" dirty="0" smtClean="0"/>
              <a:t>、根树、二叉树</a:t>
            </a:r>
            <a:endParaRPr lang="en-US" altLang="zh-CN" dirty="0" smtClean="0"/>
          </a:p>
        </p:txBody>
      </p:sp>
      <p:sp>
        <p:nvSpPr>
          <p:cNvPr id="104451" name="Rectangle 3"/>
          <p:cNvSpPr>
            <a:spLocks noGrp="1" noChangeArrowheads="1"/>
          </p:cNvSpPr>
          <p:nvPr>
            <p:ph type="body" idx="1"/>
          </p:nvPr>
        </p:nvSpPr>
        <p:spPr/>
        <p:txBody>
          <a:bodyPr/>
          <a:lstStyle/>
          <a:p>
            <a:pPr eaLnBrk="1" hangingPunct="1">
              <a:defRPr/>
            </a:pPr>
            <a:r>
              <a:rPr lang="zh-CN" altLang="en-US" dirty="0" smtClean="0"/>
              <a:t>一个自由树（或简称树）是</a:t>
            </a:r>
            <a:r>
              <a:rPr lang="zh-CN" altLang="en-US" dirty="0" smtClean="0">
                <a:solidFill>
                  <a:srgbClr val="FF0000"/>
                </a:solidFill>
              </a:rPr>
              <a:t>不包含回路</a:t>
            </a:r>
            <a:r>
              <a:rPr lang="zh-CN" altLang="en-US" dirty="0" smtClean="0"/>
              <a:t>的连通无向图。一个森林是顶点不相交的树的集合，即它们没有公共的顶点。</a:t>
            </a:r>
            <a:endParaRPr lang="en-US" altLang="zh-CN" dirty="0" smtClean="0"/>
          </a:p>
          <a:p>
            <a:pPr eaLnBrk="1" hangingPunct="1">
              <a:defRPr/>
            </a:pPr>
            <a:endParaRPr lang="en-US" altLang="zh-CN" sz="1800" dirty="0" smtClean="0"/>
          </a:p>
          <a:p>
            <a:pPr eaLnBrk="1" hangingPunct="1">
              <a:defRPr/>
            </a:pPr>
            <a:r>
              <a:rPr lang="en-US" altLang="zh-CN" dirty="0" smtClean="0"/>
              <a:t>  </a:t>
            </a:r>
            <a:r>
              <a:rPr lang="zh-CN" altLang="en-US" dirty="0" smtClean="0"/>
              <a:t>定理</a:t>
            </a:r>
            <a:r>
              <a:rPr lang="en-US" altLang="zh-CN" dirty="0" smtClean="0"/>
              <a:t> 3.1 </a:t>
            </a:r>
          </a:p>
          <a:p>
            <a:pPr lvl="1" eaLnBrk="1" hangingPunct="1">
              <a:buFontTx/>
              <a:buNone/>
              <a:defRPr/>
            </a:pPr>
            <a:r>
              <a:rPr lang="zh-CN" altLang="en-US" dirty="0" smtClean="0">
                <a:latin typeface="+mn-ea"/>
                <a:ea typeface="+mn-ea"/>
              </a:rPr>
              <a:t>如果</a:t>
            </a:r>
            <a:r>
              <a:rPr lang="en-US" altLang="zh-CN" dirty="0" smtClean="0">
                <a:latin typeface="+mn-ea"/>
                <a:ea typeface="+mn-ea"/>
              </a:rPr>
              <a:t>T</a:t>
            </a:r>
            <a:r>
              <a:rPr lang="zh-CN" altLang="en-US" dirty="0" smtClean="0">
                <a:latin typeface="+mn-ea"/>
                <a:ea typeface="+mn-ea"/>
              </a:rPr>
              <a:t>是有</a:t>
            </a:r>
            <a:r>
              <a:rPr lang="en-US" altLang="zh-CN" dirty="0" smtClean="0">
                <a:latin typeface="+mn-ea"/>
                <a:ea typeface="+mn-ea"/>
              </a:rPr>
              <a:t>n</a:t>
            </a:r>
            <a:r>
              <a:rPr lang="zh-CN" altLang="en-US" dirty="0" smtClean="0">
                <a:latin typeface="+mn-ea"/>
                <a:ea typeface="+mn-ea"/>
              </a:rPr>
              <a:t>个顶点的树，那么</a:t>
            </a:r>
            <a:endParaRPr lang="en-US" altLang="zh-CN" dirty="0" smtClean="0">
              <a:latin typeface="+mn-ea"/>
              <a:ea typeface="+mn-ea"/>
            </a:endParaRPr>
          </a:p>
          <a:p>
            <a:pPr lvl="1" eaLnBrk="1" hangingPunct="1">
              <a:buFontTx/>
              <a:buNone/>
              <a:defRPr/>
            </a:pPr>
            <a:endParaRPr lang="en-US" altLang="zh-CN" sz="1000" dirty="0" smtClean="0">
              <a:latin typeface="+mn-ea"/>
              <a:ea typeface="+mn-ea"/>
            </a:endParaRPr>
          </a:p>
          <a:p>
            <a:pPr lvl="1" eaLnBrk="1" hangingPunct="1">
              <a:defRPr/>
            </a:pPr>
            <a:r>
              <a:rPr lang="en-US" altLang="zh-CN" dirty="0" smtClean="0">
                <a:latin typeface="+mn-ea"/>
                <a:ea typeface="+mn-ea"/>
              </a:rPr>
              <a:t>T</a:t>
            </a:r>
            <a:r>
              <a:rPr lang="zh-CN" altLang="en-US" dirty="0" smtClean="0">
                <a:latin typeface="+mn-ea"/>
                <a:ea typeface="+mn-ea"/>
              </a:rPr>
              <a:t>中任意两个顶点有唯一的一条路径连通；</a:t>
            </a:r>
            <a:endParaRPr lang="en-US" altLang="zh-CN" dirty="0" smtClean="0">
              <a:latin typeface="+mn-ea"/>
              <a:ea typeface="+mn-ea"/>
            </a:endParaRPr>
          </a:p>
          <a:p>
            <a:pPr lvl="1" eaLnBrk="1" hangingPunct="1">
              <a:defRPr/>
            </a:pPr>
            <a:endParaRPr lang="en-US" altLang="zh-CN" sz="1000" dirty="0" smtClean="0">
              <a:latin typeface="+mn-ea"/>
              <a:ea typeface="+mn-ea"/>
            </a:endParaRPr>
          </a:p>
          <a:p>
            <a:pPr lvl="1" eaLnBrk="1" hangingPunct="1">
              <a:defRPr/>
            </a:pPr>
            <a:r>
              <a:rPr lang="en-US" altLang="zh-CN" dirty="0" smtClean="0">
                <a:latin typeface="+mn-ea"/>
                <a:ea typeface="+mn-ea"/>
              </a:rPr>
              <a:t>T </a:t>
            </a:r>
            <a:r>
              <a:rPr lang="zh-CN" altLang="en-US" dirty="0" smtClean="0">
                <a:latin typeface="+mn-ea"/>
                <a:ea typeface="+mn-ea"/>
              </a:rPr>
              <a:t>恰好有</a:t>
            </a:r>
            <a:r>
              <a:rPr lang="en-US" altLang="zh-CN" dirty="0" smtClean="0">
                <a:latin typeface="+mn-ea"/>
                <a:ea typeface="+mn-ea"/>
              </a:rPr>
              <a:t>n-1</a:t>
            </a:r>
            <a:r>
              <a:rPr lang="zh-CN" altLang="en-US" dirty="0" smtClean="0">
                <a:latin typeface="+mn-ea"/>
                <a:ea typeface="+mn-ea"/>
              </a:rPr>
              <a:t>条边；</a:t>
            </a:r>
            <a:endParaRPr lang="en-US" altLang="zh-CN" dirty="0" smtClean="0">
              <a:latin typeface="+mn-ea"/>
              <a:ea typeface="+mn-ea"/>
            </a:endParaRPr>
          </a:p>
          <a:p>
            <a:pPr lvl="1" eaLnBrk="1" hangingPunct="1">
              <a:defRPr/>
            </a:pPr>
            <a:endParaRPr lang="en-US" altLang="zh-CN" sz="1000" dirty="0" smtClean="0">
              <a:latin typeface="+mn-ea"/>
              <a:ea typeface="+mn-ea"/>
            </a:endParaRPr>
          </a:p>
          <a:p>
            <a:pPr lvl="1" eaLnBrk="1" hangingPunct="1">
              <a:defRPr/>
            </a:pPr>
            <a:r>
              <a:rPr lang="zh-CN" altLang="en-US" dirty="0" smtClean="0">
                <a:latin typeface="+mn-ea"/>
                <a:ea typeface="+mn-ea"/>
              </a:rPr>
              <a:t>在</a:t>
            </a:r>
            <a:r>
              <a:rPr lang="en-US" altLang="zh-CN" dirty="0" smtClean="0">
                <a:latin typeface="+mn-ea"/>
                <a:ea typeface="+mn-ea"/>
              </a:rPr>
              <a:t>T</a:t>
            </a:r>
            <a:r>
              <a:rPr lang="zh-CN" altLang="en-US" dirty="0" smtClean="0">
                <a:latin typeface="+mn-ea"/>
                <a:ea typeface="+mn-ea"/>
              </a:rPr>
              <a:t>中加上一条边将构成一个回路。</a:t>
            </a:r>
            <a:endParaRPr lang="en-US" altLang="zh-CN" dirty="0" smtClean="0">
              <a:latin typeface="+mn-ea"/>
              <a:ea typeface="+mn-ea"/>
            </a:endParaRPr>
          </a:p>
        </p:txBody>
      </p:sp>
      <p:pic>
        <p:nvPicPr>
          <p:cNvPr id="74757" name="Picture 5" descr="theore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3284538"/>
            <a:ext cx="5334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0147617"/>
      </p:ext>
    </p:extLst>
  </p:cSld>
  <p:clrMapOvr>
    <a:masterClrMapping/>
  </p:clrMapOvr>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3026" name="Rectangle 2"/>
          <p:cNvSpPr>
            <a:spLocks noGrp="1" noChangeArrowheads="1"/>
          </p:cNvSpPr>
          <p:nvPr>
            <p:ph type="body" idx="1"/>
          </p:nvPr>
        </p:nvSpPr>
        <p:spPr>
          <a:xfrm>
            <a:off x="928688" y="1214438"/>
            <a:ext cx="7715250" cy="4968875"/>
          </a:xfrm>
        </p:spPr>
        <p:txBody>
          <a:bodyPr/>
          <a:lstStyle/>
          <a:p>
            <a:pPr>
              <a:defRPr/>
            </a:pPr>
            <a:r>
              <a:rPr lang="zh-CN" altLang="en-US" dirty="0" smtClean="0"/>
              <a:t>树是一类重要的非线性结构。</a:t>
            </a:r>
          </a:p>
          <a:p>
            <a:pPr>
              <a:defRPr/>
            </a:pPr>
            <a:r>
              <a:rPr lang="zh-CN" altLang="en-US" dirty="0" smtClean="0"/>
              <a:t>树是结点之间有分支，并且具有层次关系的结构，它非常类似于自然界中的树。</a:t>
            </a:r>
          </a:p>
          <a:p>
            <a:pPr>
              <a:defRPr/>
            </a:pPr>
            <a:r>
              <a:rPr lang="zh-CN" altLang="en-US" dirty="0" smtClean="0"/>
              <a:t>树在客观世界中是大量存在的，例如家谱、行政组织机构都可用树形象地表示。</a:t>
            </a:r>
          </a:p>
          <a:p>
            <a:pPr>
              <a:defRPr/>
            </a:pPr>
            <a:r>
              <a:rPr lang="zh-CN" altLang="en-US" dirty="0" smtClean="0"/>
              <a:t>树在计算机领域中也有着广泛的应用，例如</a:t>
            </a:r>
          </a:p>
          <a:p>
            <a:pPr lvl="1">
              <a:defRPr/>
            </a:pPr>
            <a:r>
              <a:rPr lang="zh-CN" altLang="en-US" sz="2500" dirty="0" smtClean="0">
                <a:latin typeface="+mn-lt"/>
                <a:ea typeface="+mn-ea"/>
                <a:cs typeface="+mn-cs"/>
              </a:rPr>
              <a:t>在编译程序中，用树来表示源程序的语法结构；</a:t>
            </a:r>
          </a:p>
          <a:p>
            <a:pPr lvl="1">
              <a:defRPr/>
            </a:pPr>
            <a:r>
              <a:rPr lang="zh-CN" altLang="en-US" sz="2500" dirty="0" smtClean="0">
                <a:latin typeface="+mn-lt"/>
                <a:ea typeface="+mn-ea"/>
                <a:cs typeface="+mn-cs"/>
              </a:rPr>
              <a:t>在数据库系统中，可用树来组织信息；</a:t>
            </a:r>
          </a:p>
          <a:p>
            <a:pPr lvl="1">
              <a:defRPr/>
            </a:pPr>
            <a:r>
              <a:rPr lang="zh-CN" altLang="en-US" sz="2500" dirty="0" smtClean="0">
                <a:latin typeface="+mn-lt"/>
                <a:ea typeface="+mn-ea"/>
                <a:cs typeface="+mn-cs"/>
              </a:rPr>
              <a:t>在分析算法的行为时，可用树来描述其执行过程。等等。</a:t>
            </a:r>
          </a:p>
        </p:txBody>
      </p:sp>
      <p:sp>
        <p:nvSpPr>
          <p:cNvPr id="75779"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5" name="Rectangle 2"/>
          <p:cNvSpPr>
            <a:spLocks noGrp="1" noChangeArrowheads="1"/>
          </p:cNvSpPr>
          <p:nvPr>
            <p:ph type="title"/>
          </p:nvPr>
        </p:nvSpPr>
        <p:spPr>
          <a:xfrm>
            <a:off x="879475" y="269875"/>
            <a:ext cx="7869238" cy="927100"/>
          </a:xfrm>
        </p:spPr>
        <p:txBody>
          <a:bodyPr/>
          <a:lstStyle/>
          <a:p>
            <a:pPr eaLnBrk="1" hangingPunct="1"/>
            <a:r>
              <a:rPr lang="en-US" altLang="zh-CN" dirty="0">
                <a:solidFill>
                  <a:srgbClr val="333399"/>
                </a:solidFill>
              </a:rPr>
              <a:t>1.4.</a:t>
            </a:r>
            <a:r>
              <a:rPr lang="en-US" altLang="zh-CN" dirty="0" smtClean="0"/>
              <a:t>6 </a:t>
            </a:r>
            <a:r>
              <a:rPr lang="zh-CN" altLang="en-US" b="1" u="sng" dirty="0" smtClean="0"/>
              <a:t>树</a:t>
            </a:r>
            <a:r>
              <a:rPr lang="zh-CN" altLang="en-US" dirty="0" smtClean="0"/>
              <a:t>、根树、二叉树</a:t>
            </a:r>
            <a:endParaRPr lang="en-US" altLang="zh-CN" dirty="0" smtClean="0"/>
          </a:p>
        </p:txBody>
      </p:sp>
    </p:spTree>
    <p:extLst>
      <p:ext uri="{BB962C8B-B14F-4D97-AF65-F5344CB8AC3E}">
        <p14:creationId xmlns:p14="http://schemas.microsoft.com/office/powerpoint/2010/main" val="2429594427"/>
      </p:ext>
    </p:extLst>
  </p:cSld>
  <p:clrMapOvr>
    <a:masterClrMapping/>
  </p:clrMapOvr>
  <p:transition/>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76803" name="Rectangle 2"/>
          <p:cNvSpPr>
            <a:spLocks noGrp="1" noChangeArrowheads="1"/>
          </p:cNvSpPr>
          <p:nvPr>
            <p:ph type="title"/>
          </p:nvPr>
        </p:nvSpPr>
        <p:spPr/>
        <p:txBody>
          <a:bodyPr/>
          <a:lstStyle/>
          <a:p>
            <a:pPr eaLnBrk="1" hangingPunct="1"/>
            <a:r>
              <a:rPr lang="en-US" altLang="zh-CN" dirty="0">
                <a:solidFill>
                  <a:srgbClr val="333399"/>
                </a:solidFill>
              </a:rPr>
              <a:t>1.4.</a:t>
            </a:r>
            <a:r>
              <a:rPr lang="en-US" altLang="zh-CN" dirty="0" smtClean="0"/>
              <a:t>6 </a:t>
            </a:r>
            <a:r>
              <a:rPr lang="zh-CN" altLang="en-US" dirty="0" smtClean="0"/>
              <a:t>树、</a:t>
            </a:r>
            <a:r>
              <a:rPr lang="zh-CN" altLang="en-US" b="1" u="sng" dirty="0" smtClean="0"/>
              <a:t>根树</a:t>
            </a:r>
            <a:r>
              <a:rPr lang="zh-CN" altLang="en-US" dirty="0" smtClean="0"/>
              <a:t>、二叉树</a:t>
            </a:r>
            <a:endParaRPr lang="en-US" altLang="zh-CN" dirty="0" smtClean="0"/>
          </a:p>
        </p:txBody>
      </p:sp>
      <p:sp>
        <p:nvSpPr>
          <p:cNvPr id="51204" name="Rectangle 3"/>
          <p:cNvSpPr>
            <a:spLocks noGrp="1" noChangeArrowheads="1"/>
          </p:cNvSpPr>
          <p:nvPr>
            <p:ph type="body" idx="1"/>
          </p:nvPr>
        </p:nvSpPr>
        <p:spPr>
          <a:xfrm>
            <a:off x="879475" y="1268413"/>
            <a:ext cx="8229600" cy="4718050"/>
          </a:xfrm>
        </p:spPr>
        <p:txBody>
          <a:bodyPr/>
          <a:lstStyle/>
          <a:p>
            <a:pPr lvl="1" eaLnBrk="1" hangingPunct="1">
              <a:defRPr/>
            </a:pPr>
            <a:r>
              <a:rPr lang="zh-CN" altLang="en-US" sz="2000" dirty="0" smtClean="0">
                <a:latin typeface="+mn-lt"/>
                <a:ea typeface="+mn-ea"/>
              </a:rPr>
              <a:t>根树</a:t>
            </a:r>
            <a:r>
              <a:rPr lang="en-US" altLang="zh-CN" sz="2000" dirty="0" smtClean="0">
                <a:latin typeface="+mn-lt"/>
                <a:ea typeface="+mn-ea"/>
              </a:rPr>
              <a:t>T</a:t>
            </a:r>
            <a:r>
              <a:rPr lang="zh-CN" altLang="en-US" sz="2000" dirty="0" smtClean="0">
                <a:latin typeface="+mn-lt"/>
                <a:ea typeface="+mn-ea"/>
              </a:rPr>
              <a:t>是一棵带有特殊顶点</a:t>
            </a:r>
            <a:r>
              <a:rPr lang="en-US" altLang="zh-CN" sz="2000" dirty="0" smtClean="0">
                <a:latin typeface="+mn-lt"/>
                <a:ea typeface="+mn-ea"/>
              </a:rPr>
              <a:t>r</a:t>
            </a:r>
            <a:r>
              <a:rPr lang="zh-CN" altLang="en-US" sz="2000" dirty="0" smtClean="0">
                <a:latin typeface="+mn-lt"/>
                <a:ea typeface="+mn-ea"/>
              </a:rPr>
              <a:t>的树，顶点</a:t>
            </a:r>
            <a:r>
              <a:rPr lang="en-US" altLang="zh-CN" sz="2000" dirty="0" smtClean="0">
                <a:latin typeface="+mn-lt"/>
                <a:ea typeface="+mn-ea"/>
              </a:rPr>
              <a:t>r</a:t>
            </a:r>
            <a:r>
              <a:rPr lang="zh-CN" altLang="en-US" sz="2000" dirty="0" smtClean="0">
                <a:latin typeface="+mn-lt"/>
                <a:ea typeface="+mn-ea"/>
              </a:rPr>
              <a:t>称为</a:t>
            </a:r>
            <a:r>
              <a:rPr lang="en-US" altLang="zh-CN" sz="2000" dirty="0" smtClean="0">
                <a:latin typeface="+mn-lt"/>
                <a:ea typeface="+mn-ea"/>
              </a:rPr>
              <a:t>T</a:t>
            </a:r>
            <a:r>
              <a:rPr lang="zh-CN" altLang="en-US" sz="2000" dirty="0" smtClean="0">
                <a:latin typeface="+mn-lt"/>
                <a:ea typeface="+mn-ea"/>
              </a:rPr>
              <a:t>的</a:t>
            </a:r>
            <a:r>
              <a:rPr lang="zh-CN" altLang="en-US" sz="2000" dirty="0" smtClean="0">
                <a:solidFill>
                  <a:srgbClr val="FF0000"/>
                </a:solidFill>
                <a:latin typeface="+mn-lt"/>
                <a:ea typeface="+mn-ea"/>
              </a:rPr>
              <a:t>根</a:t>
            </a:r>
            <a:r>
              <a:rPr lang="zh-CN" altLang="en-US" sz="2000" dirty="0" smtClean="0">
                <a:latin typeface="+mn-lt"/>
                <a:ea typeface="+mn-ea"/>
              </a:rPr>
              <a:t>。</a:t>
            </a:r>
            <a:endParaRPr lang="en-US" altLang="zh-CN" sz="2000" dirty="0" smtClean="0">
              <a:latin typeface="+mn-lt"/>
              <a:ea typeface="+mn-ea"/>
            </a:endParaRPr>
          </a:p>
          <a:p>
            <a:pPr lvl="1" eaLnBrk="1" hangingPunct="1">
              <a:defRPr/>
            </a:pPr>
            <a:r>
              <a:rPr lang="zh-CN" altLang="en-US" sz="2000" dirty="0" smtClean="0">
                <a:latin typeface="+mn-lt"/>
                <a:ea typeface="+mn-ea"/>
              </a:rPr>
              <a:t>在</a:t>
            </a:r>
            <a:r>
              <a:rPr lang="en-US" altLang="zh-CN" sz="2000" dirty="0" smtClean="0">
                <a:latin typeface="+mn-lt"/>
                <a:ea typeface="+mn-ea"/>
              </a:rPr>
              <a:t>T</a:t>
            </a:r>
            <a:r>
              <a:rPr lang="zh-CN" altLang="en-US" sz="2000" dirty="0" smtClean="0">
                <a:latin typeface="+mn-lt"/>
                <a:ea typeface="+mn-ea"/>
              </a:rPr>
              <a:t>中，如果顶点</a:t>
            </a:r>
            <a:r>
              <a:rPr lang="en-US" altLang="zh-CN" sz="2000" dirty="0" smtClean="0">
                <a:latin typeface="+mn-lt"/>
                <a:ea typeface="+mn-ea"/>
              </a:rPr>
              <a:t>v</a:t>
            </a:r>
            <a:r>
              <a:rPr lang="en-US" altLang="zh-CN" sz="2000" baseline="-25000" dirty="0" smtClean="0">
                <a:latin typeface="+mn-lt"/>
                <a:ea typeface="+mn-ea"/>
              </a:rPr>
              <a:t>i</a:t>
            </a:r>
            <a:r>
              <a:rPr lang="en-US" altLang="zh-CN" sz="2000" dirty="0" smtClean="0">
                <a:latin typeface="+mn-lt"/>
                <a:ea typeface="+mn-ea"/>
              </a:rPr>
              <a:t> </a:t>
            </a:r>
            <a:r>
              <a:rPr lang="zh-CN" altLang="en-US" sz="2000" dirty="0" smtClean="0">
                <a:latin typeface="+mn-lt"/>
                <a:ea typeface="+mn-ea"/>
              </a:rPr>
              <a:t>在从根到 </a:t>
            </a:r>
            <a:r>
              <a:rPr lang="en-US" altLang="zh-CN" sz="2000" dirty="0" err="1" smtClean="0">
                <a:latin typeface="+mn-lt"/>
                <a:ea typeface="+mn-ea"/>
              </a:rPr>
              <a:t>v</a:t>
            </a:r>
            <a:r>
              <a:rPr lang="en-US" altLang="zh-CN" sz="2000" baseline="-25000" dirty="0" err="1" smtClean="0">
                <a:latin typeface="+mn-lt"/>
                <a:ea typeface="+mn-ea"/>
              </a:rPr>
              <a:t>j</a:t>
            </a:r>
            <a:r>
              <a:rPr lang="en-US" altLang="zh-CN" sz="2000" dirty="0" smtClean="0">
                <a:latin typeface="+mn-lt"/>
                <a:ea typeface="+mn-ea"/>
              </a:rPr>
              <a:t> </a:t>
            </a:r>
            <a:r>
              <a:rPr lang="zh-CN" altLang="en-US" sz="2000" dirty="0" smtClean="0">
                <a:latin typeface="+mn-lt"/>
                <a:ea typeface="+mn-ea"/>
              </a:rPr>
              <a:t>的路径上，并且和</a:t>
            </a:r>
            <a:r>
              <a:rPr lang="en-US" altLang="zh-CN" sz="2000" dirty="0" err="1" smtClean="0">
                <a:latin typeface="+mn-lt"/>
                <a:ea typeface="+mn-ea"/>
              </a:rPr>
              <a:t>v</a:t>
            </a:r>
            <a:r>
              <a:rPr lang="en-US" altLang="zh-CN" sz="2000" baseline="-25000" dirty="0" err="1" smtClean="0">
                <a:latin typeface="+mn-lt"/>
                <a:ea typeface="+mn-ea"/>
              </a:rPr>
              <a:t>j</a:t>
            </a:r>
            <a:r>
              <a:rPr lang="en-US" altLang="zh-CN" sz="2000" dirty="0" smtClean="0">
                <a:latin typeface="+mn-lt"/>
                <a:ea typeface="+mn-ea"/>
              </a:rPr>
              <a:t> </a:t>
            </a:r>
            <a:r>
              <a:rPr lang="zh-CN" altLang="en-US" sz="2000" dirty="0" smtClean="0">
                <a:latin typeface="+mn-lt"/>
                <a:ea typeface="+mn-ea"/>
              </a:rPr>
              <a:t>相邻，就说</a:t>
            </a:r>
            <a:r>
              <a:rPr lang="en-US" altLang="zh-CN" sz="2000" dirty="0" smtClean="0">
                <a:latin typeface="+mn-lt"/>
                <a:ea typeface="+mn-ea"/>
              </a:rPr>
              <a:t>v</a:t>
            </a:r>
            <a:r>
              <a:rPr lang="en-US" altLang="zh-CN" sz="2000" baseline="-25000" dirty="0" smtClean="0">
                <a:latin typeface="+mn-lt"/>
                <a:ea typeface="+mn-ea"/>
              </a:rPr>
              <a:t>i</a:t>
            </a:r>
            <a:r>
              <a:rPr lang="zh-CN" altLang="en-US" sz="2000" dirty="0" smtClean="0">
                <a:latin typeface="+mn-lt"/>
                <a:ea typeface="+mn-ea"/>
              </a:rPr>
              <a:t>是</a:t>
            </a:r>
            <a:r>
              <a:rPr lang="en-US" altLang="zh-CN" sz="2000" dirty="0" err="1" smtClean="0">
                <a:latin typeface="+mn-lt"/>
                <a:ea typeface="+mn-ea"/>
              </a:rPr>
              <a:t>v</a:t>
            </a:r>
            <a:r>
              <a:rPr lang="en-US" altLang="zh-CN" sz="2000" baseline="-25000" dirty="0" err="1" smtClean="0">
                <a:latin typeface="+mn-lt"/>
                <a:ea typeface="+mn-ea"/>
              </a:rPr>
              <a:t>j</a:t>
            </a:r>
            <a:r>
              <a:rPr lang="en-US" altLang="zh-CN" sz="2000" dirty="0" smtClean="0">
                <a:latin typeface="+mn-lt"/>
                <a:ea typeface="+mn-ea"/>
              </a:rPr>
              <a:t> </a:t>
            </a:r>
            <a:r>
              <a:rPr lang="zh-CN" altLang="en-US" sz="2000" dirty="0" smtClean="0">
                <a:latin typeface="+mn-lt"/>
                <a:ea typeface="+mn-ea"/>
              </a:rPr>
              <a:t>的</a:t>
            </a:r>
            <a:r>
              <a:rPr lang="zh-CN" altLang="en-US" sz="2000" dirty="0" smtClean="0">
                <a:solidFill>
                  <a:srgbClr val="FF0000"/>
                </a:solidFill>
                <a:latin typeface="+mn-lt"/>
                <a:ea typeface="+mn-ea"/>
              </a:rPr>
              <a:t>父顶点</a:t>
            </a:r>
            <a:r>
              <a:rPr lang="zh-CN" altLang="en-US" sz="2000" dirty="0" smtClean="0">
                <a:latin typeface="+mn-lt"/>
                <a:ea typeface="+mn-ea"/>
              </a:rPr>
              <a:t>，同时，</a:t>
            </a:r>
            <a:r>
              <a:rPr lang="en-US" altLang="zh-CN" sz="2000" dirty="0" err="1" smtClean="0">
                <a:latin typeface="+mn-lt"/>
                <a:ea typeface="+mn-ea"/>
              </a:rPr>
              <a:t>v</a:t>
            </a:r>
            <a:r>
              <a:rPr lang="en-US" altLang="zh-CN" sz="2000" baseline="-25000" dirty="0" err="1" smtClean="0">
                <a:latin typeface="+mn-lt"/>
                <a:ea typeface="+mn-ea"/>
              </a:rPr>
              <a:t>j</a:t>
            </a:r>
            <a:r>
              <a:rPr lang="en-US" altLang="zh-CN" sz="2000" dirty="0" smtClean="0">
                <a:latin typeface="+mn-lt"/>
                <a:ea typeface="+mn-ea"/>
              </a:rPr>
              <a:t> </a:t>
            </a:r>
            <a:r>
              <a:rPr lang="zh-CN" altLang="en-US" sz="2000" dirty="0" smtClean="0">
                <a:latin typeface="+mn-lt"/>
                <a:ea typeface="+mn-ea"/>
              </a:rPr>
              <a:t>是</a:t>
            </a:r>
            <a:r>
              <a:rPr lang="en-US" altLang="zh-CN" sz="2000" dirty="0" smtClean="0">
                <a:latin typeface="+mn-lt"/>
                <a:ea typeface="+mn-ea"/>
              </a:rPr>
              <a:t>v</a:t>
            </a:r>
            <a:r>
              <a:rPr lang="en-US" altLang="zh-CN" sz="2000" baseline="-25000" dirty="0" smtClean="0">
                <a:latin typeface="+mn-lt"/>
                <a:ea typeface="+mn-ea"/>
              </a:rPr>
              <a:t>i</a:t>
            </a:r>
            <a:r>
              <a:rPr lang="en-US" altLang="zh-CN" sz="2000" dirty="0" smtClean="0">
                <a:latin typeface="+mn-lt"/>
                <a:ea typeface="+mn-ea"/>
              </a:rPr>
              <a:t> </a:t>
            </a:r>
            <a:r>
              <a:rPr lang="zh-CN" altLang="en-US" sz="2000" dirty="0" smtClean="0">
                <a:latin typeface="+mn-lt"/>
                <a:ea typeface="+mn-ea"/>
              </a:rPr>
              <a:t>的</a:t>
            </a:r>
            <a:r>
              <a:rPr lang="zh-CN" altLang="en-US" sz="2000" dirty="0" smtClean="0">
                <a:solidFill>
                  <a:srgbClr val="FF0000"/>
                </a:solidFill>
                <a:latin typeface="+mn-lt"/>
                <a:ea typeface="+mn-ea"/>
              </a:rPr>
              <a:t>子顶点</a:t>
            </a:r>
            <a:r>
              <a:rPr lang="zh-CN" altLang="en-US" sz="2000" dirty="0" smtClean="0">
                <a:latin typeface="+mn-lt"/>
                <a:ea typeface="+mn-ea"/>
              </a:rPr>
              <a:t>。</a:t>
            </a:r>
            <a:endParaRPr lang="en-US" altLang="zh-CN" sz="2000" dirty="0" smtClean="0">
              <a:latin typeface="+mn-lt"/>
              <a:ea typeface="+mn-ea"/>
            </a:endParaRPr>
          </a:p>
          <a:p>
            <a:pPr lvl="1" eaLnBrk="1" hangingPunct="1">
              <a:defRPr/>
            </a:pPr>
            <a:r>
              <a:rPr lang="zh-CN" altLang="en-US" sz="2000" dirty="0" smtClean="0">
                <a:latin typeface="+mn-lt"/>
                <a:ea typeface="+mn-ea"/>
              </a:rPr>
              <a:t>一个顶点的子顶点之间彼此是</a:t>
            </a:r>
            <a:r>
              <a:rPr lang="zh-CN" altLang="en-US" sz="2000" dirty="0" smtClean="0">
                <a:solidFill>
                  <a:srgbClr val="FF0000"/>
                </a:solidFill>
                <a:latin typeface="+mn-lt"/>
                <a:ea typeface="+mn-ea"/>
              </a:rPr>
              <a:t>兄弟</a:t>
            </a:r>
            <a:r>
              <a:rPr lang="zh-CN" altLang="en-US" sz="2000" dirty="0" smtClean="0">
                <a:latin typeface="+mn-lt"/>
                <a:ea typeface="+mn-ea"/>
              </a:rPr>
              <a:t>。没有子顶点的顶点是树根的</a:t>
            </a:r>
            <a:r>
              <a:rPr lang="zh-CN" altLang="en-US" sz="2000" dirty="0" smtClean="0">
                <a:solidFill>
                  <a:srgbClr val="FF0000"/>
                </a:solidFill>
                <a:latin typeface="+mn-lt"/>
                <a:ea typeface="+mn-ea"/>
              </a:rPr>
              <a:t>叶子</a:t>
            </a:r>
            <a:r>
              <a:rPr lang="zh-CN" altLang="en-US" sz="2000" dirty="0" smtClean="0">
                <a:latin typeface="+mn-lt"/>
                <a:ea typeface="+mn-ea"/>
              </a:rPr>
              <a:t>，其他所有的顶点都称为</a:t>
            </a:r>
            <a:r>
              <a:rPr lang="zh-CN" altLang="en-US" sz="2000" dirty="0" smtClean="0">
                <a:solidFill>
                  <a:srgbClr val="FF0000"/>
                </a:solidFill>
                <a:latin typeface="+mn-lt"/>
                <a:ea typeface="+mn-ea"/>
              </a:rPr>
              <a:t>内部顶点</a:t>
            </a:r>
            <a:r>
              <a:rPr lang="zh-CN" altLang="en-US" sz="2000" dirty="0" smtClean="0">
                <a:latin typeface="+mn-lt"/>
                <a:ea typeface="+mn-ea"/>
              </a:rPr>
              <a:t>。</a:t>
            </a:r>
            <a:endParaRPr lang="en-US" altLang="zh-CN" sz="2000" dirty="0" smtClean="0">
              <a:latin typeface="+mn-lt"/>
              <a:ea typeface="+mn-ea"/>
            </a:endParaRPr>
          </a:p>
          <a:p>
            <a:pPr lvl="1" eaLnBrk="1" hangingPunct="1">
              <a:defRPr/>
            </a:pPr>
            <a:r>
              <a:rPr lang="zh-CN" altLang="en-US" sz="2000" dirty="0" smtClean="0">
                <a:latin typeface="+mn-lt"/>
                <a:ea typeface="+mn-ea"/>
              </a:rPr>
              <a:t>在从根顶点到顶点</a:t>
            </a:r>
            <a:r>
              <a:rPr lang="en-US" altLang="zh-CN" sz="2000" dirty="0" smtClean="0">
                <a:latin typeface="+mn-lt"/>
                <a:ea typeface="+mn-ea"/>
              </a:rPr>
              <a:t>v</a:t>
            </a:r>
            <a:r>
              <a:rPr lang="zh-CN" altLang="en-US" sz="2000" dirty="0" smtClean="0">
                <a:latin typeface="+mn-lt"/>
                <a:ea typeface="+mn-ea"/>
              </a:rPr>
              <a:t>的路径上的顶点</a:t>
            </a:r>
            <a:r>
              <a:rPr lang="en-US" altLang="zh-CN" sz="2000" dirty="0" smtClean="0">
                <a:latin typeface="+mn-lt"/>
                <a:ea typeface="+mn-ea"/>
              </a:rPr>
              <a:t>u</a:t>
            </a:r>
            <a:r>
              <a:rPr lang="zh-CN" altLang="en-US" sz="2000" dirty="0" smtClean="0">
                <a:latin typeface="+mn-lt"/>
                <a:ea typeface="+mn-ea"/>
              </a:rPr>
              <a:t>是</a:t>
            </a:r>
            <a:r>
              <a:rPr lang="en-US" altLang="zh-CN" sz="2000" dirty="0" smtClean="0">
                <a:latin typeface="+mn-lt"/>
                <a:ea typeface="+mn-ea"/>
              </a:rPr>
              <a:t>v</a:t>
            </a:r>
            <a:r>
              <a:rPr lang="zh-CN" altLang="en-US" sz="2000" dirty="0" smtClean="0">
                <a:latin typeface="+mn-lt"/>
                <a:ea typeface="+mn-ea"/>
              </a:rPr>
              <a:t>的</a:t>
            </a:r>
            <a:r>
              <a:rPr lang="zh-CN" altLang="en-US" sz="2000" dirty="0" smtClean="0">
                <a:solidFill>
                  <a:srgbClr val="FF0000"/>
                </a:solidFill>
                <a:latin typeface="+mn-lt"/>
                <a:ea typeface="+mn-ea"/>
              </a:rPr>
              <a:t>祖先</a:t>
            </a:r>
            <a:r>
              <a:rPr lang="zh-CN" altLang="en-US" sz="2000" dirty="0" smtClean="0">
                <a:latin typeface="+mn-lt"/>
                <a:ea typeface="+mn-ea"/>
              </a:rPr>
              <a:t>，如果</a:t>
            </a:r>
            <a:r>
              <a:rPr lang="en-US" altLang="zh-CN" sz="2000" dirty="0" err="1" smtClean="0">
                <a:latin typeface="+mn-lt"/>
                <a:ea typeface="+mn-ea"/>
              </a:rPr>
              <a:t>u</a:t>
            </a:r>
            <a:r>
              <a:rPr lang="en-US" altLang="zh-CN" sz="2000" dirty="0" err="1" smtClean="0">
                <a:latin typeface="+mn-lt"/>
                <a:ea typeface="+mn-ea"/>
                <a:sym typeface="Symbol" pitchFamily="18" charset="2"/>
              </a:rPr>
              <a:t>v</a:t>
            </a:r>
            <a:r>
              <a:rPr lang="en-US" altLang="zh-CN" sz="2000" dirty="0" smtClean="0">
                <a:latin typeface="+mn-lt"/>
                <a:ea typeface="+mn-ea"/>
                <a:sym typeface="Symbol" pitchFamily="18" charset="2"/>
              </a:rPr>
              <a:t>, u</a:t>
            </a:r>
            <a:r>
              <a:rPr lang="zh-CN" altLang="en-US" sz="2000" dirty="0" smtClean="0">
                <a:latin typeface="+mn-lt"/>
                <a:ea typeface="+mn-ea"/>
                <a:sym typeface="Symbol" pitchFamily="18" charset="2"/>
              </a:rPr>
              <a:t>就是</a:t>
            </a:r>
            <a:r>
              <a:rPr lang="en-US" altLang="zh-CN" sz="2000" dirty="0" smtClean="0">
                <a:latin typeface="+mn-lt"/>
                <a:ea typeface="+mn-ea"/>
                <a:sym typeface="Symbol" pitchFamily="18" charset="2"/>
              </a:rPr>
              <a:t>v</a:t>
            </a:r>
            <a:r>
              <a:rPr lang="zh-CN" altLang="en-US" sz="2000" dirty="0" smtClean="0">
                <a:latin typeface="+mn-lt"/>
                <a:ea typeface="+mn-ea"/>
                <a:sym typeface="Symbol" pitchFamily="18" charset="2"/>
              </a:rPr>
              <a:t>的</a:t>
            </a:r>
            <a:r>
              <a:rPr lang="zh-CN" altLang="en-US" sz="2000" dirty="0" smtClean="0">
                <a:solidFill>
                  <a:srgbClr val="FF0000"/>
                </a:solidFill>
                <a:latin typeface="+mn-lt"/>
                <a:ea typeface="+mn-ea"/>
                <a:sym typeface="Symbol" pitchFamily="18" charset="2"/>
              </a:rPr>
              <a:t>真祖先</a:t>
            </a:r>
            <a:r>
              <a:rPr lang="zh-CN" altLang="en-US" sz="2000" dirty="0" smtClean="0">
                <a:latin typeface="+mn-lt"/>
                <a:ea typeface="+mn-ea"/>
                <a:sym typeface="Symbol" pitchFamily="18" charset="2"/>
              </a:rPr>
              <a:t>；在从顶点</a:t>
            </a:r>
            <a:r>
              <a:rPr lang="en-US" altLang="zh-CN" sz="2000" dirty="0" smtClean="0">
                <a:latin typeface="+mn-lt"/>
                <a:ea typeface="+mn-ea"/>
                <a:sym typeface="Symbol" pitchFamily="18" charset="2"/>
              </a:rPr>
              <a:t>v</a:t>
            </a:r>
            <a:r>
              <a:rPr lang="zh-CN" altLang="en-US" sz="2000" dirty="0" smtClean="0">
                <a:latin typeface="+mn-lt"/>
                <a:ea typeface="+mn-ea"/>
                <a:sym typeface="Symbol" pitchFamily="18" charset="2"/>
              </a:rPr>
              <a:t>到叶子的路径上的顶点 </a:t>
            </a:r>
            <a:r>
              <a:rPr lang="en-US" altLang="zh-CN" sz="2000" dirty="0" smtClean="0">
                <a:latin typeface="+mn-lt"/>
                <a:ea typeface="+mn-ea"/>
                <a:sym typeface="Symbol" pitchFamily="18" charset="2"/>
              </a:rPr>
              <a:t>w </a:t>
            </a:r>
            <a:r>
              <a:rPr lang="zh-CN" altLang="en-US" sz="2000" dirty="0" smtClean="0">
                <a:latin typeface="+mn-lt"/>
                <a:ea typeface="+mn-ea"/>
                <a:sym typeface="Symbol" pitchFamily="18" charset="2"/>
              </a:rPr>
              <a:t>是</a:t>
            </a:r>
            <a:r>
              <a:rPr lang="en-US" altLang="zh-CN" sz="2000" dirty="0" smtClean="0">
                <a:latin typeface="+mn-lt"/>
                <a:ea typeface="+mn-ea"/>
                <a:sym typeface="Symbol" pitchFamily="18" charset="2"/>
              </a:rPr>
              <a:t>v</a:t>
            </a:r>
            <a:r>
              <a:rPr lang="zh-CN" altLang="en-US" sz="2000" dirty="0" smtClean="0">
                <a:latin typeface="+mn-lt"/>
                <a:ea typeface="+mn-ea"/>
                <a:sym typeface="Symbol" pitchFamily="18" charset="2"/>
              </a:rPr>
              <a:t>的</a:t>
            </a:r>
            <a:r>
              <a:rPr lang="zh-CN" altLang="en-US" sz="2000" dirty="0" smtClean="0">
                <a:solidFill>
                  <a:srgbClr val="FF0000"/>
                </a:solidFill>
                <a:latin typeface="+mn-lt"/>
                <a:ea typeface="+mn-ea"/>
                <a:sym typeface="Symbol" pitchFamily="18" charset="2"/>
              </a:rPr>
              <a:t>后代</a:t>
            </a:r>
            <a:r>
              <a:rPr lang="zh-CN" altLang="en-US" sz="2000" dirty="0" smtClean="0">
                <a:latin typeface="+mn-lt"/>
                <a:ea typeface="+mn-ea"/>
                <a:sym typeface="Symbol" pitchFamily="18" charset="2"/>
              </a:rPr>
              <a:t>，如果</a:t>
            </a:r>
            <a:r>
              <a:rPr lang="en-US" altLang="zh-CN" sz="2000" dirty="0" smtClean="0">
                <a:latin typeface="+mn-lt"/>
                <a:ea typeface="+mn-ea"/>
                <a:sym typeface="Symbol" pitchFamily="18" charset="2"/>
              </a:rPr>
              <a:t> </a:t>
            </a:r>
            <a:r>
              <a:rPr lang="en-US" altLang="zh-CN" sz="2000" dirty="0" err="1" smtClean="0">
                <a:latin typeface="+mn-lt"/>
                <a:ea typeface="+mn-ea"/>
                <a:sym typeface="Symbol" pitchFamily="18" charset="2"/>
              </a:rPr>
              <a:t>wv</a:t>
            </a:r>
            <a:r>
              <a:rPr lang="en-US" altLang="zh-CN" sz="2000" dirty="0" smtClean="0">
                <a:latin typeface="+mn-lt"/>
                <a:ea typeface="+mn-ea"/>
                <a:sym typeface="Symbol" pitchFamily="18" charset="2"/>
              </a:rPr>
              <a:t>, w </a:t>
            </a:r>
            <a:r>
              <a:rPr lang="zh-CN" altLang="en-US" sz="2000" dirty="0" smtClean="0">
                <a:latin typeface="+mn-lt"/>
                <a:ea typeface="+mn-ea"/>
                <a:sym typeface="Symbol" pitchFamily="18" charset="2"/>
              </a:rPr>
              <a:t>就是</a:t>
            </a:r>
            <a:r>
              <a:rPr lang="en-US" altLang="zh-CN" sz="2000" dirty="0" smtClean="0">
                <a:latin typeface="+mn-lt"/>
                <a:ea typeface="+mn-ea"/>
                <a:sym typeface="Symbol" pitchFamily="18" charset="2"/>
              </a:rPr>
              <a:t>v </a:t>
            </a:r>
            <a:r>
              <a:rPr lang="zh-CN" altLang="en-US" sz="2000" dirty="0" smtClean="0">
                <a:latin typeface="+mn-lt"/>
                <a:ea typeface="+mn-ea"/>
                <a:sym typeface="Symbol" pitchFamily="18" charset="2"/>
              </a:rPr>
              <a:t>的</a:t>
            </a:r>
            <a:r>
              <a:rPr lang="zh-CN" altLang="en-US" sz="2000" dirty="0" smtClean="0">
                <a:solidFill>
                  <a:srgbClr val="FF0000"/>
                </a:solidFill>
                <a:latin typeface="+mn-lt"/>
                <a:ea typeface="+mn-ea"/>
                <a:sym typeface="Symbol" pitchFamily="18" charset="2"/>
              </a:rPr>
              <a:t>真后代</a:t>
            </a:r>
            <a:r>
              <a:rPr lang="zh-CN" altLang="en-US" sz="2000" dirty="0" smtClean="0">
                <a:latin typeface="+mn-lt"/>
                <a:ea typeface="+mn-ea"/>
                <a:sym typeface="Symbol" pitchFamily="18" charset="2"/>
              </a:rPr>
              <a:t>。</a:t>
            </a:r>
            <a:endParaRPr lang="en-US" altLang="zh-CN" sz="2000" dirty="0" smtClean="0">
              <a:latin typeface="+mn-lt"/>
              <a:ea typeface="+mn-ea"/>
            </a:endParaRPr>
          </a:p>
          <a:p>
            <a:pPr eaLnBrk="1" hangingPunct="1">
              <a:defRPr/>
            </a:pPr>
            <a:endParaRPr lang="en-US" altLang="zh-CN" sz="2200" dirty="0" smtClean="0"/>
          </a:p>
        </p:txBody>
      </p:sp>
      <p:pic>
        <p:nvPicPr>
          <p:cNvPr id="76805"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7500" y="4071938"/>
            <a:ext cx="3951288" cy="207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58160403"/>
      </p:ext>
    </p:extLst>
  </p:cSld>
  <p:clrMapOvr>
    <a:masterClrMapping/>
  </p:clrMapOvr>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77827" name="Rectangle 2"/>
          <p:cNvSpPr>
            <a:spLocks noGrp="1" noChangeArrowheads="1"/>
          </p:cNvSpPr>
          <p:nvPr>
            <p:ph type="title"/>
          </p:nvPr>
        </p:nvSpPr>
        <p:spPr/>
        <p:txBody>
          <a:bodyPr/>
          <a:lstStyle/>
          <a:p>
            <a:pPr eaLnBrk="1" hangingPunct="1"/>
            <a:r>
              <a:rPr lang="en-US" altLang="zh-CN" dirty="0">
                <a:solidFill>
                  <a:srgbClr val="333399"/>
                </a:solidFill>
              </a:rPr>
              <a:t>1.4.</a:t>
            </a:r>
            <a:r>
              <a:rPr lang="en-US" altLang="zh-CN" dirty="0" smtClean="0"/>
              <a:t>6 </a:t>
            </a:r>
            <a:r>
              <a:rPr lang="zh-CN" altLang="en-US" dirty="0" smtClean="0"/>
              <a:t>树、</a:t>
            </a:r>
            <a:r>
              <a:rPr lang="zh-CN" altLang="en-US" b="1" u="sng" dirty="0" smtClean="0"/>
              <a:t>根树</a:t>
            </a:r>
            <a:r>
              <a:rPr lang="zh-CN" altLang="en-US" dirty="0" smtClean="0"/>
              <a:t>、二叉树</a:t>
            </a:r>
            <a:endParaRPr lang="en-US" altLang="zh-CN" dirty="0" smtClean="0"/>
          </a:p>
        </p:txBody>
      </p:sp>
      <p:sp>
        <p:nvSpPr>
          <p:cNvPr id="106499" name="Rectangle 3"/>
          <p:cNvSpPr>
            <a:spLocks noGrp="1" noChangeArrowheads="1"/>
          </p:cNvSpPr>
          <p:nvPr>
            <p:ph type="body" idx="1"/>
          </p:nvPr>
        </p:nvSpPr>
        <p:spPr/>
        <p:txBody>
          <a:bodyPr/>
          <a:lstStyle/>
          <a:p>
            <a:pPr eaLnBrk="1" hangingPunct="1">
              <a:defRPr/>
            </a:pPr>
            <a:r>
              <a:rPr lang="zh-CN" altLang="en-US" sz="2700" dirty="0" smtClean="0">
                <a:solidFill>
                  <a:srgbClr val="FF0000"/>
                </a:solidFill>
                <a:latin typeface="+mn-ea"/>
                <a:sym typeface="Symbol" pitchFamily="18" charset="2"/>
              </a:rPr>
              <a:t>子树</a:t>
            </a:r>
            <a:r>
              <a:rPr lang="en-US" altLang="zh-CN" sz="2700" dirty="0" smtClean="0">
                <a:solidFill>
                  <a:srgbClr val="FF0000"/>
                </a:solidFill>
                <a:latin typeface="+mn-ea"/>
                <a:sym typeface="Symbol" pitchFamily="18" charset="2"/>
              </a:rPr>
              <a:t>:</a:t>
            </a:r>
          </a:p>
          <a:p>
            <a:pPr lvl="1" eaLnBrk="1" hangingPunct="1">
              <a:defRPr/>
            </a:pPr>
            <a:r>
              <a:rPr lang="zh-CN" altLang="en-US" sz="2400" dirty="0" smtClean="0">
                <a:latin typeface="+mn-ea"/>
                <a:ea typeface="+mn-ea"/>
                <a:sym typeface="Symbol" pitchFamily="18" charset="2"/>
              </a:rPr>
              <a:t>从顶点</a:t>
            </a:r>
            <a:r>
              <a:rPr lang="en-US" altLang="zh-CN" sz="2400" dirty="0" smtClean="0">
                <a:latin typeface="+mn-ea"/>
                <a:ea typeface="+mn-ea"/>
                <a:sym typeface="Symbol" pitchFamily="18" charset="2"/>
              </a:rPr>
              <a:t>v</a:t>
            </a:r>
            <a:r>
              <a:rPr lang="zh-CN" altLang="en-US" sz="2400" dirty="0" smtClean="0">
                <a:latin typeface="+mn-ea"/>
                <a:ea typeface="+mn-ea"/>
                <a:sym typeface="Symbol" pitchFamily="18" charset="2"/>
              </a:rPr>
              <a:t>为根的子树是包括顶点</a:t>
            </a:r>
            <a:r>
              <a:rPr lang="en-US" altLang="zh-CN" sz="2400" dirty="0" smtClean="0">
                <a:latin typeface="+mn-ea"/>
                <a:ea typeface="+mn-ea"/>
                <a:sym typeface="Symbol" pitchFamily="18" charset="2"/>
              </a:rPr>
              <a:t>v</a:t>
            </a:r>
            <a:r>
              <a:rPr lang="zh-CN" altLang="en-US" sz="2400" dirty="0" smtClean="0">
                <a:latin typeface="+mn-ea"/>
                <a:ea typeface="+mn-ea"/>
                <a:sym typeface="Symbol" pitchFamily="18" charset="2"/>
              </a:rPr>
              <a:t>和它的真后代的树</a:t>
            </a:r>
            <a:endParaRPr lang="en-US" altLang="zh-CN" sz="2400" dirty="0" smtClean="0">
              <a:latin typeface="+mn-ea"/>
              <a:ea typeface="+mn-ea"/>
              <a:sym typeface="Symbol" pitchFamily="18" charset="2"/>
            </a:endParaRPr>
          </a:p>
          <a:p>
            <a:pPr eaLnBrk="1" hangingPunct="1">
              <a:defRPr/>
            </a:pPr>
            <a:r>
              <a:rPr lang="zh-CN" altLang="en-US" sz="2700" dirty="0" smtClean="0">
                <a:solidFill>
                  <a:srgbClr val="FF0000"/>
                </a:solidFill>
                <a:latin typeface="+mn-ea"/>
                <a:sym typeface="Symbol" pitchFamily="18" charset="2"/>
              </a:rPr>
              <a:t>深度</a:t>
            </a:r>
            <a:r>
              <a:rPr lang="en-US" altLang="zh-CN" sz="2700" dirty="0" smtClean="0">
                <a:solidFill>
                  <a:srgbClr val="FF0000"/>
                </a:solidFill>
                <a:latin typeface="+mn-ea"/>
                <a:sym typeface="Symbol" pitchFamily="18" charset="2"/>
              </a:rPr>
              <a:t>:</a:t>
            </a:r>
          </a:p>
          <a:p>
            <a:pPr lvl="1" eaLnBrk="1" hangingPunct="1">
              <a:defRPr/>
            </a:pPr>
            <a:r>
              <a:rPr lang="zh-CN" altLang="en-US" sz="2400" dirty="0" smtClean="0">
                <a:latin typeface="+mn-ea"/>
                <a:ea typeface="+mn-ea"/>
                <a:sym typeface="Symbol" pitchFamily="18" charset="2"/>
              </a:rPr>
              <a:t>在根树中顶点</a:t>
            </a:r>
            <a:r>
              <a:rPr lang="en-US" altLang="zh-CN" sz="2400" dirty="0" smtClean="0">
                <a:latin typeface="+mn-ea"/>
                <a:ea typeface="+mn-ea"/>
                <a:sym typeface="Symbol" pitchFamily="18" charset="2"/>
              </a:rPr>
              <a:t>v</a:t>
            </a:r>
            <a:r>
              <a:rPr lang="zh-CN" altLang="en-US" sz="2400" dirty="0" smtClean="0">
                <a:latin typeface="+mn-ea"/>
                <a:ea typeface="+mn-ea"/>
                <a:sym typeface="Symbol" pitchFamily="18" charset="2"/>
              </a:rPr>
              <a:t>的深度是从根顶点到</a:t>
            </a:r>
            <a:r>
              <a:rPr lang="en-US" altLang="zh-CN" sz="2400" dirty="0" smtClean="0">
                <a:latin typeface="+mn-ea"/>
                <a:ea typeface="+mn-ea"/>
                <a:sym typeface="Symbol" pitchFamily="18" charset="2"/>
              </a:rPr>
              <a:t>v</a:t>
            </a:r>
            <a:r>
              <a:rPr lang="zh-CN" altLang="en-US" sz="2400" dirty="0" smtClean="0">
                <a:latin typeface="+mn-ea"/>
                <a:ea typeface="+mn-ea"/>
                <a:sym typeface="Symbol" pitchFamily="18" charset="2"/>
              </a:rPr>
              <a:t>的路径的长度。这样，根顶点的深度为</a:t>
            </a:r>
            <a:r>
              <a:rPr lang="en-US" altLang="zh-CN" sz="2400" dirty="0" smtClean="0">
                <a:latin typeface="+mn-ea"/>
                <a:ea typeface="+mn-ea"/>
                <a:sym typeface="Symbol" pitchFamily="18" charset="2"/>
              </a:rPr>
              <a:t>0</a:t>
            </a:r>
            <a:r>
              <a:rPr lang="zh-CN" altLang="en-US" sz="2400" dirty="0" smtClean="0">
                <a:latin typeface="+mn-ea"/>
                <a:ea typeface="+mn-ea"/>
                <a:sym typeface="Symbol" pitchFamily="18" charset="2"/>
              </a:rPr>
              <a:t>。</a:t>
            </a:r>
            <a:endParaRPr lang="en-US" altLang="zh-CN" sz="2400" dirty="0" smtClean="0">
              <a:latin typeface="+mn-ea"/>
              <a:ea typeface="+mn-ea"/>
              <a:sym typeface="Symbol" pitchFamily="18" charset="2"/>
            </a:endParaRPr>
          </a:p>
          <a:p>
            <a:pPr eaLnBrk="1" hangingPunct="1">
              <a:defRPr/>
            </a:pPr>
            <a:r>
              <a:rPr lang="zh-CN" altLang="en-US" sz="2800" dirty="0" smtClean="0">
                <a:solidFill>
                  <a:srgbClr val="FF0000"/>
                </a:solidFill>
                <a:latin typeface="+mn-ea"/>
                <a:sym typeface="Symbol" pitchFamily="18" charset="2"/>
              </a:rPr>
              <a:t>高度</a:t>
            </a:r>
            <a:r>
              <a:rPr lang="en-US" altLang="zh-CN" sz="2800" dirty="0" smtClean="0">
                <a:solidFill>
                  <a:srgbClr val="FF0000"/>
                </a:solidFill>
                <a:latin typeface="+mn-ea"/>
                <a:sym typeface="Symbol" pitchFamily="18" charset="2"/>
              </a:rPr>
              <a:t>:</a:t>
            </a:r>
          </a:p>
          <a:p>
            <a:pPr lvl="1" eaLnBrk="1" hangingPunct="1">
              <a:defRPr/>
            </a:pPr>
            <a:r>
              <a:rPr lang="zh-CN" altLang="en-US" sz="2300" dirty="0" smtClean="0">
                <a:latin typeface="+mn-ea"/>
                <a:ea typeface="+mn-ea"/>
                <a:sym typeface="Symbol" pitchFamily="18" charset="2"/>
              </a:rPr>
              <a:t>顶点</a:t>
            </a:r>
            <a:r>
              <a:rPr lang="en-US" altLang="zh-CN" sz="2300" dirty="0" smtClean="0">
                <a:latin typeface="+mn-ea"/>
                <a:ea typeface="+mn-ea"/>
                <a:sym typeface="Symbol" pitchFamily="18" charset="2"/>
              </a:rPr>
              <a:t>v</a:t>
            </a:r>
            <a:r>
              <a:rPr lang="zh-CN" altLang="en-US" sz="2300" dirty="0" smtClean="0">
                <a:latin typeface="+mn-ea"/>
                <a:ea typeface="+mn-ea"/>
                <a:sym typeface="Symbol" pitchFamily="18" charset="2"/>
              </a:rPr>
              <a:t>的高度定义为从顶点</a:t>
            </a:r>
            <a:r>
              <a:rPr lang="en-US" altLang="zh-CN" sz="2300" dirty="0" smtClean="0">
                <a:latin typeface="+mn-ea"/>
                <a:ea typeface="+mn-ea"/>
                <a:sym typeface="Symbol" pitchFamily="18" charset="2"/>
              </a:rPr>
              <a:t>v</a:t>
            </a:r>
            <a:r>
              <a:rPr lang="zh-CN" altLang="en-US" sz="2300" dirty="0" smtClean="0">
                <a:latin typeface="+mn-ea"/>
                <a:ea typeface="+mn-ea"/>
                <a:sym typeface="Symbol" pitchFamily="18" charset="2"/>
              </a:rPr>
              <a:t>到叶子中最长路径的长度，一棵树的高度是根顶点的高度。</a:t>
            </a:r>
            <a:endParaRPr lang="en-US" altLang="zh-CN" sz="2300" dirty="0" smtClean="0">
              <a:latin typeface="+mn-ea"/>
              <a:ea typeface="+mn-ea"/>
              <a:sym typeface="Symbol" pitchFamily="18" charset="2"/>
            </a:endParaRPr>
          </a:p>
        </p:txBody>
      </p:sp>
    </p:spTree>
    <p:extLst>
      <p:ext uri="{BB962C8B-B14F-4D97-AF65-F5344CB8AC3E}">
        <p14:creationId xmlns:p14="http://schemas.microsoft.com/office/powerpoint/2010/main" val="4267950897"/>
      </p:ext>
    </p:extLst>
  </p:cSld>
  <p:clrMapOvr>
    <a:masterClrMapping/>
  </p:clrMapOvr>
  <p:timing>
    <p:tnLst>
      <p:par>
        <p:cTn id="1" dur="indefinite" restart="never" nodeType="tmRoot"/>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78851" name="Rectangle 2"/>
          <p:cNvSpPr>
            <a:spLocks noGrp="1" noChangeArrowheads="1"/>
          </p:cNvSpPr>
          <p:nvPr>
            <p:ph type="title"/>
          </p:nvPr>
        </p:nvSpPr>
        <p:spPr/>
        <p:txBody>
          <a:bodyPr/>
          <a:lstStyle/>
          <a:p>
            <a:pPr eaLnBrk="1" hangingPunct="1"/>
            <a:r>
              <a:rPr lang="en-US" altLang="zh-CN" dirty="0">
                <a:solidFill>
                  <a:srgbClr val="333399"/>
                </a:solidFill>
              </a:rPr>
              <a:t>1.4.</a:t>
            </a:r>
            <a:r>
              <a:rPr lang="en-US" altLang="zh-CN" dirty="0" smtClean="0"/>
              <a:t>6 </a:t>
            </a:r>
            <a:r>
              <a:rPr lang="zh-CN" altLang="en-US" dirty="0" smtClean="0"/>
              <a:t>树、</a:t>
            </a:r>
            <a:r>
              <a:rPr lang="zh-CN" altLang="en-US" b="1" u="sng" dirty="0" smtClean="0"/>
              <a:t>根树</a:t>
            </a:r>
            <a:r>
              <a:rPr lang="zh-CN" altLang="en-US" dirty="0" smtClean="0"/>
              <a:t>、二叉树</a:t>
            </a:r>
            <a:endParaRPr lang="en-US" altLang="zh-CN" dirty="0" smtClean="0"/>
          </a:p>
        </p:txBody>
      </p:sp>
      <p:sp>
        <p:nvSpPr>
          <p:cNvPr id="107523" name="Rectangle 3"/>
          <p:cNvSpPr>
            <a:spLocks noGrp="1" noChangeArrowheads="1"/>
          </p:cNvSpPr>
          <p:nvPr>
            <p:ph type="body" idx="1"/>
          </p:nvPr>
        </p:nvSpPr>
        <p:spPr>
          <a:xfrm>
            <a:off x="887388" y="1774825"/>
            <a:ext cx="8229600" cy="4822825"/>
          </a:xfrm>
        </p:spPr>
        <p:txBody>
          <a:bodyPr/>
          <a:lstStyle/>
          <a:p>
            <a:pPr eaLnBrk="1" hangingPunct="1">
              <a:lnSpc>
                <a:spcPct val="90000"/>
              </a:lnSpc>
              <a:buFontTx/>
              <a:buNone/>
              <a:defRPr/>
            </a:pPr>
            <a:r>
              <a:rPr lang="zh-CN" altLang="en-US" sz="2200" dirty="0" smtClean="0"/>
              <a:t>     有几种方法可以对一棵根树的顶点进行有系统的遍历和排序，其中最重要的三种是前序，中序和后序遍历。令</a:t>
            </a:r>
            <a:r>
              <a:rPr lang="en-US" altLang="zh-CN" sz="2200" dirty="0" smtClean="0"/>
              <a:t>T</a:t>
            </a:r>
            <a:r>
              <a:rPr lang="zh-CN" altLang="en-US" sz="2200" dirty="0" smtClean="0"/>
              <a:t>是一颗树，它的根顶点是</a:t>
            </a:r>
            <a:r>
              <a:rPr lang="en-US" altLang="zh-CN" sz="2200" dirty="0" smtClean="0"/>
              <a:t>r</a:t>
            </a:r>
            <a:r>
              <a:rPr lang="zh-CN" altLang="en-US" sz="2200" dirty="0" smtClean="0"/>
              <a:t>，</a:t>
            </a:r>
            <a:r>
              <a:rPr lang="en-US" altLang="zh-CN" sz="2200" dirty="0" smtClean="0"/>
              <a:t>T</a:t>
            </a:r>
            <a:r>
              <a:rPr lang="en-US" altLang="zh-CN" sz="2200" baseline="-25000" dirty="0" smtClean="0"/>
              <a:t>1</a:t>
            </a:r>
            <a:r>
              <a:rPr lang="en-US" altLang="zh-CN" sz="2200" dirty="0" smtClean="0"/>
              <a:t>,T</a:t>
            </a:r>
            <a:r>
              <a:rPr lang="en-US" altLang="zh-CN" sz="2200" baseline="-25000" dirty="0" smtClean="0"/>
              <a:t>2</a:t>
            </a:r>
            <a:r>
              <a:rPr lang="en-US" altLang="zh-CN" sz="2200" dirty="0" smtClean="0"/>
              <a:t>,…,</a:t>
            </a:r>
            <a:r>
              <a:rPr lang="en-US" altLang="zh-CN" sz="2200" dirty="0" err="1" smtClean="0"/>
              <a:t>T</a:t>
            </a:r>
            <a:r>
              <a:rPr lang="en-US" altLang="zh-CN" sz="2200" baseline="-25000" dirty="0" err="1" smtClean="0"/>
              <a:t>n</a:t>
            </a:r>
            <a:r>
              <a:rPr lang="zh-CN" altLang="en-US" sz="2200" dirty="0" smtClean="0"/>
              <a:t>是子树。</a:t>
            </a:r>
            <a:endParaRPr lang="en-US" altLang="zh-CN" sz="2200" dirty="0" smtClean="0"/>
          </a:p>
          <a:p>
            <a:pPr lvl="1" eaLnBrk="1" hangingPunct="1">
              <a:lnSpc>
                <a:spcPct val="90000"/>
              </a:lnSpc>
              <a:defRPr/>
            </a:pPr>
            <a:r>
              <a:rPr lang="zh-CN" altLang="en-US" sz="2400" dirty="0" smtClean="0">
                <a:latin typeface="+mn-lt"/>
                <a:ea typeface="+mn-ea"/>
              </a:rPr>
              <a:t>前序遍历</a:t>
            </a:r>
            <a:r>
              <a:rPr lang="en-US" altLang="zh-CN" sz="2400" dirty="0" smtClean="0">
                <a:latin typeface="+mn-lt"/>
                <a:ea typeface="+mn-ea"/>
              </a:rPr>
              <a:t>:</a:t>
            </a:r>
          </a:p>
          <a:p>
            <a:pPr lvl="1" eaLnBrk="1" hangingPunct="1">
              <a:lnSpc>
                <a:spcPct val="90000"/>
              </a:lnSpc>
              <a:buFontTx/>
              <a:buNone/>
              <a:defRPr/>
            </a:pPr>
            <a:r>
              <a:rPr lang="zh-CN" altLang="en-US" sz="1800" dirty="0" smtClean="0">
                <a:latin typeface="+mn-lt"/>
                <a:ea typeface="+mn-ea"/>
              </a:rPr>
              <a:t>在</a:t>
            </a:r>
            <a:r>
              <a:rPr lang="en-US" altLang="zh-CN" sz="1800" dirty="0" smtClean="0">
                <a:latin typeface="+mn-lt"/>
                <a:ea typeface="+mn-ea"/>
              </a:rPr>
              <a:t>T</a:t>
            </a:r>
            <a:r>
              <a:rPr lang="zh-CN" altLang="en-US" sz="1800" dirty="0" smtClean="0">
                <a:latin typeface="+mn-lt"/>
                <a:ea typeface="+mn-ea"/>
              </a:rPr>
              <a:t>顶点的前序遍历中，先访问根顶点</a:t>
            </a:r>
            <a:r>
              <a:rPr lang="en-US" altLang="zh-CN" sz="1800" dirty="0" smtClean="0">
                <a:latin typeface="+mn-lt"/>
                <a:ea typeface="+mn-ea"/>
              </a:rPr>
              <a:t>r</a:t>
            </a:r>
            <a:r>
              <a:rPr lang="zh-CN" altLang="en-US" sz="1800" dirty="0" smtClean="0">
                <a:latin typeface="+mn-lt"/>
                <a:ea typeface="+mn-ea"/>
              </a:rPr>
              <a:t>，然后以前序遍历</a:t>
            </a:r>
            <a:r>
              <a:rPr lang="en-US" altLang="zh-CN" sz="1800" dirty="0" smtClean="0">
                <a:latin typeface="+mn-lt"/>
                <a:ea typeface="+mn-ea"/>
              </a:rPr>
              <a:t>T</a:t>
            </a:r>
            <a:r>
              <a:rPr lang="en-US" altLang="zh-CN" sz="1800" baseline="-25000" dirty="0" smtClean="0">
                <a:latin typeface="+mn-lt"/>
                <a:ea typeface="+mn-ea"/>
              </a:rPr>
              <a:t>1</a:t>
            </a:r>
            <a:r>
              <a:rPr lang="en-US" altLang="zh-CN" sz="1800" dirty="0" smtClean="0">
                <a:latin typeface="+mn-lt"/>
                <a:ea typeface="+mn-ea"/>
              </a:rPr>
              <a:t> </a:t>
            </a:r>
            <a:r>
              <a:rPr lang="zh-CN" altLang="en-US" sz="1800" dirty="0" smtClean="0">
                <a:latin typeface="+mn-lt"/>
                <a:ea typeface="+mn-ea"/>
              </a:rPr>
              <a:t>的顶点，之后前序遍历</a:t>
            </a:r>
            <a:r>
              <a:rPr lang="en-US" altLang="zh-CN" sz="1800" dirty="0" smtClean="0">
                <a:latin typeface="+mn-lt"/>
                <a:ea typeface="+mn-ea"/>
              </a:rPr>
              <a:t>T</a:t>
            </a:r>
            <a:r>
              <a:rPr lang="en-US" altLang="zh-CN" sz="1800" baseline="-25000" dirty="0" smtClean="0">
                <a:latin typeface="+mn-lt"/>
                <a:ea typeface="+mn-ea"/>
              </a:rPr>
              <a:t>2</a:t>
            </a:r>
            <a:r>
              <a:rPr lang="en-US" altLang="zh-CN" sz="1800" dirty="0" smtClean="0">
                <a:latin typeface="+mn-lt"/>
                <a:ea typeface="+mn-ea"/>
              </a:rPr>
              <a:t> </a:t>
            </a:r>
            <a:r>
              <a:rPr lang="zh-CN" altLang="en-US" sz="1800" dirty="0" smtClean="0">
                <a:latin typeface="+mn-lt"/>
                <a:ea typeface="+mn-ea"/>
              </a:rPr>
              <a:t>的顶点。如此继续，直到前序遍历</a:t>
            </a:r>
            <a:r>
              <a:rPr lang="en-US" altLang="zh-CN" sz="1800" dirty="0" err="1" smtClean="0">
                <a:latin typeface="+mn-lt"/>
                <a:ea typeface="+mn-ea"/>
              </a:rPr>
              <a:t>T</a:t>
            </a:r>
            <a:r>
              <a:rPr lang="en-US" altLang="zh-CN" sz="1800" baseline="-25000" dirty="0" err="1" smtClean="0">
                <a:latin typeface="+mn-lt"/>
                <a:ea typeface="+mn-ea"/>
              </a:rPr>
              <a:t>n</a:t>
            </a:r>
            <a:r>
              <a:rPr lang="en-US" altLang="zh-CN" sz="1800" baseline="-25000" dirty="0" smtClean="0">
                <a:latin typeface="+mn-lt"/>
                <a:ea typeface="+mn-ea"/>
              </a:rPr>
              <a:t> </a:t>
            </a:r>
            <a:r>
              <a:rPr lang="zh-CN" altLang="en-US" sz="1800" dirty="0" smtClean="0">
                <a:latin typeface="+mn-lt"/>
                <a:ea typeface="+mn-ea"/>
              </a:rPr>
              <a:t>的所有顶点。</a:t>
            </a:r>
            <a:endParaRPr lang="en-US" altLang="zh-CN" sz="1800" dirty="0" smtClean="0">
              <a:latin typeface="+mn-lt"/>
              <a:ea typeface="+mn-ea"/>
            </a:endParaRPr>
          </a:p>
          <a:p>
            <a:pPr lvl="1" eaLnBrk="1" hangingPunct="1">
              <a:lnSpc>
                <a:spcPct val="90000"/>
              </a:lnSpc>
              <a:defRPr/>
            </a:pPr>
            <a:r>
              <a:rPr lang="zh-CN" altLang="en-US" sz="2400" dirty="0" smtClean="0">
                <a:latin typeface="+mn-lt"/>
                <a:ea typeface="+mn-ea"/>
              </a:rPr>
              <a:t>中序遍历</a:t>
            </a:r>
            <a:r>
              <a:rPr lang="en-US" altLang="zh-CN" sz="2400" dirty="0" smtClean="0">
                <a:latin typeface="+mn-lt"/>
                <a:ea typeface="+mn-ea"/>
              </a:rPr>
              <a:t>:</a:t>
            </a:r>
          </a:p>
          <a:p>
            <a:pPr lvl="1" eaLnBrk="1" hangingPunct="1">
              <a:lnSpc>
                <a:spcPct val="90000"/>
              </a:lnSpc>
              <a:buFontTx/>
              <a:buNone/>
              <a:defRPr/>
            </a:pPr>
            <a:r>
              <a:rPr lang="zh-CN" altLang="en-US" sz="1800" dirty="0" smtClean="0">
                <a:latin typeface="+mn-lt"/>
                <a:ea typeface="+mn-ea"/>
              </a:rPr>
              <a:t>在</a:t>
            </a:r>
            <a:r>
              <a:rPr lang="en-US" altLang="zh-CN" sz="1800" dirty="0" smtClean="0">
                <a:latin typeface="+mn-lt"/>
                <a:ea typeface="+mn-ea"/>
              </a:rPr>
              <a:t>T</a:t>
            </a:r>
            <a:r>
              <a:rPr lang="zh-CN" altLang="en-US" sz="1800" dirty="0" smtClean="0">
                <a:latin typeface="+mn-lt"/>
                <a:ea typeface="+mn-ea"/>
              </a:rPr>
              <a:t>顶点的中序遍历中，先以中序遍历</a:t>
            </a:r>
            <a:r>
              <a:rPr lang="en-US" altLang="zh-CN" sz="1800" dirty="0" smtClean="0">
                <a:latin typeface="+mn-lt"/>
                <a:ea typeface="+mn-ea"/>
              </a:rPr>
              <a:t>T</a:t>
            </a:r>
            <a:r>
              <a:rPr lang="en-US" altLang="zh-CN" sz="1800" baseline="-25000" dirty="0" smtClean="0">
                <a:latin typeface="+mn-lt"/>
                <a:ea typeface="+mn-ea"/>
              </a:rPr>
              <a:t>1</a:t>
            </a:r>
            <a:r>
              <a:rPr lang="en-US" altLang="zh-CN" sz="1800" dirty="0" smtClean="0">
                <a:latin typeface="+mn-lt"/>
                <a:ea typeface="+mn-ea"/>
              </a:rPr>
              <a:t> </a:t>
            </a:r>
            <a:r>
              <a:rPr lang="zh-CN" altLang="en-US" sz="1800" dirty="0" smtClean="0">
                <a:latin typeface="+mn-lt"/>
                <a:ea typeface="+mn-ea"/>
              </a:rPr>
              <a:t>的顶点，然后访问根顶点</a:t>
            </a:r>
            <a:r>
              <a:rPr lang="en-US" altLang="zh-CN" sz="1800" dirty="0" smtClean="0">
                <a:latin typeface="+mn-lt"/>
                <a:ea typeface="+mn-ea"/>
              </a:rPr>
              <a:t>r</a:t>
            </a:r>
            <a:r>
              <a:rPr lang="zh-CN" altLang="en-US" sz="1800" dirty="0" smtClean="0">
                <a:latin typeface="+mn-lt"/>
                <a:ea typeface="+mn-ea"/>
              </a:rPr>
              <a:t>，之后中序遍历</a:t>
            </a:r>
            <a:r>
              <a:rPr lang="en-US" altLang="zh-CN" sz="1800" dirty="0" smtClean="0">
                <a:latin typeface="+mn-lt"/>
                <a:ea typeface="+mn-ea"/>
              </a:rPr>
              <a:t>T</a:t>
            </a:r>
            <a:r>
              <a:rPr lang="en-US" altLang="zh-CN" sz="1800" baseline="-25000" dirty="0" smtClean="0">
                <a:latin typeface="+mn-lt"/>
                <a:ea typeface="+mn-ea"/>
              </a:rPr>
              <a:t>2</a:t>
            </a:r>
            <a:r>
              <a:rPr lang="en-US" altLang="zh-CN" sz="1800" dirty="0" smtClean="0">
                <a:latin typeface="+mn-lt"/>
                <a:ea typeface="+mn-ea"/>
              </a:rPr>
              <a:t> </a:t>
            </a:r>
            <a:r>
              <a:rPr lang="zh-CN" altLang="en-US" sz="1800" dirty="0" smtClean="0">
                <a:latin typeface="+mn-lt"/>
                <a:ea typeface="+mn-ea"/>
              </a:rPr>
              <a:t>的顶点。如此继续，直到中序遍历</a:t>
            </a:r>
            <a:r>
              <a:rPr lang="en-US" altLang="zh-CN" sz="1800" dirty="0" err="1" smtClean="0">
                <a:latin typeface="+mn-lt"/>
                <a:ea typeface="+mn-ea"/>
              </a:rPr>
              <a:t>T</a:t>
            </a:r>
            <a:r>
              <a:rPr lang="en-US" altLang="zh-CN" sz="1800" baseline="-25000" dirty="0" err="1" smtClean="0">
                <a:latin typeface="+mn-lt"/>
                <a:ea typeface="+mn-ea"/>
              </a:rPr>
              <a:t>n</a:t>
            </a:r>
            <a:r>
              <a:rPr lang="en-US" altLang="zh-CN" sz="1800" baseline="-25000" dirty="0" smtClean="0">
                <a:latin typeface="+mn-lt"/>
                <a:ea typeface="+mn-ea"/>
              </a:rPr>
              <a:t> </a:t>
            </a:r>
            <a:r>
              <a:rPr lang="zh-CN" altLang="en-US" sz="1800" dirty="0" smtClean="0">
                <a:latin typeface="+mn-lt"/>
                <a:ea typeface="+mn-ea"/>
              </a:rPr>
              <a:t>的所有顶点。</a:t>
            </a:r>
            <a:endParaRPr lang="en-US" altLang="zh-CN" sz="1800" dirty="0" smtClean="0">
              <a:latin typeface="+mn-lt"/>
              <a:ea typeface="+mn-ea"/>
            </a:endParaRPr>
          </a:p>
          <a:p>
            <a:pPr lvl="1" eaLnBrk="1" hangingPunct="1">
              <a:lnSpc>
                <a:spcPct val="90000"/>
              </a:lnSpc>
              <a:defRPr/>
            </a:pPr>
            <a:r>
              <a:rPr lang="zh-CN" altLang="en-US" sz="2400" dirty="0" smtClean="0">
                <a:latin typeface="+mn-lt"/>
                <a:ea typeface="+mn-ea"/>
              </a:rPr>
              <a:t>后序遍历</a:t>
            </a:r>
            <a:r>
              <a:rPr lang="en-US" altLang="zh-CN" sz="2400" dirty="0" smtClean="0">
                <a:latin typeface="+mn-lt"/>
                <a:ea typeface="+mn-ea"/>
              </a:rPr>
              <a:t>: </a:t>
            </a:r>
          </a:p>
          <a:p>
            <a:pPr lvl="1" eaLnBrk="1" hangingPunct="1">
              <a:lnSpc>
                <a:spcPct val="90000"/>
              </a:lnSpc>
              <a:buFontTx/>
              <a:buNone/>
              <a:defRPr/>
            </a:pPr>
            <a:r>
              <a:rPr lang="zh-CN" altLang="en-US" sz="1800" dirty="0" smtClean="0">
                <a:latin typeface="+mn-lt"/>
                <a:ea typeface="+mn-ea"/>
              </a:rPr>
              <a:t>在</a:t>
            </a:r>
            <a:r>
              <a:rPr lang="en-US" altLang="zh-CN" sz="1800" dirty="0" smtClean="0">
                <a:latin typeface="+mn-lt"/>
                <a:ea typeface="+mn-ea"/>
              </a:rPr>
              <a:t>T</a:t>
            </a:r>
            <a:r>
              <a:rPr lang="zh-CN" altLang="en-US" sz="1800" dirty="0" smtClean="0">
                <a:latin typeface="+mn-lt"/>
                <a:ea typeface="+mn-ea"/>
              </a:rPr>
              <a:t>顶点的后序遍历中，先以后序遍历</a:t>
            </a:r>
            <a:r>
              <a:rPr lang="en-US" altLang="zh-CN" sz="1800" dirty="0" smtClean="0">
                <a:latin typeface="+mn-lt"/>
                <a:ea typeface="+mn-ea"/>
              </a:rPr>
              <a:t>T</a:t>
            </a:r>
            <a:r>
              <a:rPr lang="en-US" altLang="zh-CN" sz="1800" baseline="-25000" dirty="0" smtClean="0">
                <a:latin typeface="+mn-lt"/>
                <a:ea typeface="+mn-ea"/>
              </a:rPr>
              <a:t>1</a:t>
            </a:r>
            <a:r>
              <a:rPr lang="en-US" altLang="zh-CN" sz="1800" dirty="0" smtClean="0">
                <a:latin typeface="+mn-lt"/>
                <a:ea typeface="+mn-ea"/>
              </a:rPr>
              <a:t> </a:t>
            </a:r>
            <a:r>
              <a:rPr lang="zh-CN" altLang="en-US" sz="1800" dirty="0" smtClean="0">
                <a:latin typeface="+mn-lt"/>
                <a:ea typeface="+mn-ea"/>
              </a:rPr>
              <a:t>的顶点，然后后序遍历</a:t>
            </a:r>
            <a:r>
              <a:rPr lang="en-US" altLang="zh-CN" sz="1800" dirty="0" smtClean="0">
                <a:latin typeface="+mn-lt"/>
                <a:ea typeface="+mn-ea"/>
              </a:rPr>
              <a:t>T</a:t>
            </a:r>
            <a:r>
              <a:rPr lang="en-US" altLang="zh-CN" sz="1800" baseline="-25000" dirty="0" smtClean="0">
                <a:latin typeface="+mn-lt"/>
                <a:ea typeface="+mn-ea"/>
              </a:rPr>
              <a:t>2</a:t>
            </a:r>
            <a:r>
              <a:rPr lang="en-US" altLang="zh-CN" sz="1800" dirty="0" smtClean="0">
                <a:latin typeface="+mn-lt"/>
                <a:ea typeface="+mn-ea"/>
              </a:rPr>
              <a:t> </a:t>
            </a:r>
            <a:r>
              <a:rPr lang="zh-CN" altLang="en-US" sz="1800" dirty="0" smtClean="0">
                <a:latin typeface="+mn-lt"/>
                <a:ea typeface="+mn-ea"/>
              </a:rPr>
              <a:t>的顶点。如此继续，直到后序遍历</a:t>
            </a:r>
            <a:r>
              <a:rPr lang="en-US" altLang="zh-CN" sz="1800" dirty="0" err="1" smtClean="0">
                <a:latin typeface="+mn-lt"/>
                <a:ea typeface="+mn-ea"/>
              </a:rPr>
              <a:t>T</a:t>
            </a:r>
            <a:r>
              <a:rPr lang="en-US" altLang="zh-CN" sz="1800" baseline="-25000" dirty="0" err="1" smtClean="0">
                <a:latin typeface="+mn-lt"/>
                <a:ea typeface="+mn-ea"/>
              </a:rPr>
              <a:t>n</a:t>
            </a:r>
            <a:r>
              <a:rPr lang="en-US" altLang="zh-CN" sz="1800" baseline="-25000" dirty="0" smtClean="0">
                <a:latin typeface="+mn-lt"/>
                <a:ea typeface="+mn-ea"/>
              </a:rPr>
              <a:t> </a:t>
            </a:r>
            <a:r>
              <a:rPr lang="zh-CN" altLang="en-US" sz="1800" dirty="0" smtClean="0">
                <a:latin typeface="+mn-lt"/>
                <a:ea typeface="+mn-ea"/>
              </a:rPr>
              <a:t>的所有顶点，最后访问根顶点</a:t>
            </a:r>
            <a:r>
              <a:rPr lang="en-US" altLang="zh-CN" sz="1800" dirty="0" smtClean="0">
                <a:latin typeface="+mn-lt"/>
                <a:ea typeface="+mn-ea"/>
              </a:rPr>
              <a:t>r</a:t>
            </a:r>
            <a:r>
              <a:rPr lang="zh-CN" altLang="en-US" sz="1800" dirty="0" smtClean="0">
                <a:latin typeface="+mn-lt"/>
                <a:ea typeface="+mn-ea"/>
              </a:rPr>
              <a:t>。</a:t>
            </a:r>
            <a:endParaRPr lang="en-US" altLang="zh-CN" sz="1800" dirty="0" smtClean="0">
              <a:latin typeface="+mn-lt"/>
              <a:ea typeface="+mn-ea"/>
            </a:endParaRPr>
          </a:p>
        </p:txBody>
      </p:sp>
      <p:sp>
        <p:nvSpPr>
          <p:cNvPr id="2" name="文本框 1"/>
          <p:cNvSpPr txBox="1"/>
          <p:nvPr/>
        </p:nvSpPr>
        <p:spPr>
          <a:xfrm>
            <a:off x="875705" y="1270456"/>
            <a:ext cx="1697901" cy="461665"/>
          </a:xfrm>
          <a:prstGeom prst="rect">
            <a:avLst/>
          </a:prstGeom>
          <a:noFill/>
        </p:spPr>
        <p:txBody>
          <a:bodyPr wrap="none" rtlCol="0">
            <a:spAutoFit/>
          </a:bodyPr>
          <a:lstStyle/>
          <a:p>
            <a:r>
              <a:rPr lang="zh-CN" altLang="en-US" sz="2400" dirty="0">
                <a:solidFill>
                  <a:schemeClr val="accent2"/>
                </a:solidFill>
                <a:latin typeface="+mn-lt"/>
                <a:ea typeface="+mn-ea"/>
              </a:rPr>
              <a:t>根数遍历</a:t>
            </a:r>
            <a:r>
              <a:rPr lang="zh-CN" altLang="en-US" sz="2200" dirty="0">
                <a:solidFill>
                  <a:schemeClr val="accent2"/>
                </a:solidFill>
                <a:latin typeface="+mn-lt"/>
                <a:ea typeface="+mn-ea"/>
              </a:rPr>
              <a:t>：</a:t>
            </a:r>
          </a:p>
        </p:txBody>
      </p:sp>
    </p:spTree>
    <p:extLst>
      <p:ext uri="{BB962C8B-B14F-4D97-AF65-F5344CB8AC3E}">
        <p14:creationId xmlns:p14="http://schemas.microsoft.com/office/powerpoint/2010/main" val="4022071057"/>
      </p:ext>
    </p:extLst>
  </p:cSld>
  <p:clrMapOvr>
    <a:masterClrMapping/>
  </p:clrMapOvr>
  <p:timing>
    <p:tnLst>
      <p:par>
        <p:cTn id="1" dur="indefinite" restart="never" nodeType="tmRoot"/>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3"/>
          <p:cNvSpPr>
            <a:spLocks noGrp="1" noChangeArrowheads="1"/>
          </p:cNvSpPr>
          <p:nvPr>
            <p:ph type="body" idx="1"/>
          </p:nvPr>
        </p:nvSpPr>
        <p:spPr>
          <a:xfrm>
            <a:off x="1043608" y="1768792"/>
            <a:ext cx="7632848" cy="3892456"/>
          </a:xfrm>
        </p:spPr>
        <p:txBody>
          <a:bodyPr/>
          <a:lstStyle/>
          <a:p>
            <a:pPr>
              <a:lnSpc>
                <a:spcPct val="80000"/>
              </a:lnSpc>
            </a:pPr>
            <a:r>
              <a:rPr lang="en-US" altLang="zh-CN" sz="2200" dirty="0" smtClean="0"/>
              <a:t>1</a:t>
            </a:r>
            <a:r>
              <a:rPr lang="zh-CN" altLang="en-US" sz="2200" dirty="0" smtClean="0"/>
              <a:t>、前序遍历二叉树的操作定义为：若二叉树为空，则空操作；否则 （</a:t>
            </a:r>
            <a:r>
              <a:rPr lang="en-US" altLang="zh-CN" sz="2200" dirty="0" smtClean="0"/>
              <a:t>1</a:t>
            </a:r>
            <a:r>
              <a:rPr lang="zh-CN" altLang="en-US" sz="2200" dirty="0" smtClean="0"/>
              <a:t>）访问根结点；</a:t>
            </a:r>
          </a:p>
          <a:p>
            <a:pPr>
              <a:lnSpc>
                <a:spcPct val="80000"/>
              </a:lnSpc>
              <a:buFont typeface="Wingdings" panose="05000000000000000000" pitchFamily="2" charset="2"/>
              <a:buNone/>
            </a:pPr>
            <a:r>
              <a:rPr lang="zh-CN" altLang="en-US" sz="2200" dirty="0" smtClean="0"/>
              <a:t>		</a:t>
            </a:r>
            <a:r>
              <a:rPr lang="en-US" altLang="zh-CN" sz="2200" dirty="0" smtClean="0"/>
              <a:t>	</a:t>
            </a:r>
            <a:r>
              <a:rPr lang="zh-CN" altLang="en-US" sz="2200" dirty="0" smtClean="0"/>
              <a:t>（</a:t>
            </a:r>
            <a:r>
              <a:rPr lang="en-US" altLang="zh-CN" sz="2200" dirty="0" smtClean="0"/>
              <a:t>2</a:t>
            </a:r>
            <a:r>
              <a:rPr lang="zh-CN" altLang="en-US" sz="2200" dirty="0" smtClean="0"/>
              <a:t>）先序遍历左子树；</a:t>
            </a:r>
          </a:p>
          <a:p>
            <a:pPr>
              <a:lnSpc>
                <a:spcPct val="80000"/>
              </a:lnSpc>
              <a:buFont typeface="Wingdings" panose="05000000000000000000" pitchFamily="2" charset="2"/>
              <a:buNone/>
            </a:pPr>
            <a:r>
              <a:rPr lang="zh-CN" altLang="en-US" sz="2200" dirty="0" smtClean="0"/>
              <a:t>		</a:t>
            </a:r>
            <a:r>
              <a:rPr lang="en-US" altLang="zh-CN" sz="2200" dirty="0" smtClean="0"/>
              <a:t>	</a:t>
            </a:r>
            <a:r>
              <a:rPr lang="zh-CN" altLang="en-US" sz="2200" dirty="0" smtClean="0"/>
              <a:t>（</a:t>
            </a:r>
            <a:r>
              <a:rPr lang="en-US" altLang="zh-CN" sz="2200" dirty="0" smtClean="0"/>
              <a:t>3</a:t>
            </a:r>
            <a:r>
              <a:rPr lang="zh-CN" altLang="en-US" sz="2200" dirty="0" smtClean="0"/>
              <a:t>）先序遍历右子树。</a:t>
            </a:r>
          </a:p>
          <a:p>
            <a:pPr>
              <a:lnSpc>
                <a:spcPct val="80000"/>
              </a:lnSpc>
            </a:pPr>
            <a:r>
              <a:rPr lang="en-US" altLang="zh-CN" sz="2200" dirty="0" smtClean="0"/>
              <a:t>2</a:t>
            </a:r>
            <a:r>
              <a:rPr lang="zh-CN" altLang="en-US" sz="2200" dirty="0" smtClean="0"/>
              <a:t>、中序遍历二叉树的操作定义为：若二叉树为空，则空操作；否则	（</a:t>
            </a:r>
            <a:r>
              <a:rPr lang="en-US" altLang="zh-CN" sz="2200" dirty="0" smtClean="0"/>
              <a:t>1</a:t>
            </a:r>
            <a:r>
              <a:rPr lang="zh-CN" altLang="en-US" sz="2200" dirty="0" smtClean="0"/>
              <a:t>）中序遍历左子树；</a:t>
            </a:r>
          </a:p>
          <a:p>
            <a:pPr>
              <a:lnSpc>
                <a:spcPct val="80000"/>
              </a:lnSpc>
              <a:buFont typeface="Wingdings" panose="05000000000000000000" pitchFamily="2" charset="2"/>
              <a:buNone/>
            </a:pPr>
            <a:r>
              <a:rPr lang="zh-CN" altLang="en-US" sz="2200" dirty="0" smtClean="0"/>
              <a:t>		</a:t>
            </a:r>
            <a:r>
              <a:rPr lang="en-US" altLang="zh-CN" sz="2200" dirty="0" smtClean="0"/>
              <a:t>	</a:t>
            </a:r>
            <a:r>
              <a:rPr lang="zh-CN" altLang="en-US" sz="2200" dirty="0" smtClean="0"/>
              <a:t>（</a:t>
            </a:r>
            <a:r>
              <a:rPr lang="en-US" altLang="zh-CN" sz="2200" dirty="0" smtClean="0"/>
              <a:t>2</a:t>
            </a:r>
            <a:r>
              <a:rPr lang="zh-CN" altLang="en-US" sz="2200" dirty="0" smtClean="0"/>
              <a:t>）访问根结点；</a:t>
            </a:r>
          </a:p>
          <a:p>
            <a:pPr>
              <a:lnSpc>
                <a:spcPct val="80000"/>
              </a:lnSpc>
              <a:buFont typeface="Wingdings" panose="05000000000000000000" pitchFamily="2" charset="2"/>
              <a:buNone/>
            </a:pPr>
            <a:r>
              <a:rPr lang="zh-CN" altLang="en-US" sz="2200" dirty="0" smtClean="0"/>
              <a:t>		</a:t>
            </a:r>
            <a:r>
              <a:rPr lang="en-US" altLang="zh-CN" sz="2200" dirty="0" smtClean="0"/>
              <a:t>	</a:t>
            </a:r>
            <a:r>
              <a:rPr lang="zh-CN" altLang="en-US" sz="2200" dirty="0" smtClean="0"/>
              <a:t>（</a:t>
            </a:r>
            <a:r>
              <a:rPr lang="en-US" altLang="zh-CN" sz="2200" dirty="0" smtClean="0"/>
              <a:t>3</a:t>
            </a:r>
            <a:r>
              <a:rPr lang="zh-CN" altLang="en-US" sz="2200" dirty="0" smtClean="0"/>
              <a:t>）中序遍历右子树。		</a:t>
            </a:r>
          </a:p>
          <a:p>
            <a:pPr>
              <a:lnSpc>
                <a:spcPct val="80000"/>
              </a:lnSpc>
            </a:pPr>
            <a:r>
              <a:rPr lang="en-US" altLang="zh-CN" sz="2200" dirty="0" smtClean="0"/>
              <a:t>3</a:t>
            </a:r>
            <a:r>
              <a:rPr lang="zh-CN" altLang="en-US" sz="2200" dirty="0" smtClean="0"/>
              <a:t>、后序遍历二叉树的操作定义为：若二叉树为空，则空操作；否则	（</a:t>
            </a:r>
            <a:r>
              <a:rPr lang="en-US" altLang="zh-CN" sz="2200" dirty="0" smtClean="0"/>
              <a:t>1</a:t>
            </a:r>
            <a:r>
              <a:rPr lang="zh-CN" altLang="en-US" sz="2200" dirty="0" smtClean="0"/>
              <a:t>）后序遍历左子树；</a:t>
            </a:r>
          </a:p>
          <a:p>
            <a:pPr>
              <a:lnSpc>
                <a:spcPct val="80000"/>
              </a:lnSpc>
              <a:buFont typeface="Wingdings" panose="05000000000000000000" pitchFamily="2" charset="2"/>
              <a:buNone/>
            </a:pPr>
            <a:r>
              <a:rPr lang="zh-CN" altLang="en-US" sz="2200" dirty="0" smtClean="0"/>
              <a:t>		</a:t>
            </a:r>
            <a:r>
              <a:rPr lang="en-US" altLang="zh-CN" sz="2200" dirty="0" smtClean="0"/>
              <a:t>	</a:t>
            </a:r>
            <a:r>
              <a:rPr lang="zh-CN" altLang="en-US" sz="2200" dirty="0" smtClean="0"/>
              <a:t>（</a:t>
            </a:r>
            <a:r>
              <a:rPr lang="en-US" altLang="zh-CN" sz="2200" dirty="0" smtClean="0"/>
              <a:t>2</a:t>
            </a:r>
            <a:r>
              <a:rPr lang="zh-CN" altLang="en-US" sz="2200" dirty="0" smtClean="0"/>
              <a:t>）后序遍历右子树；</a:t>
            </a:r>
          </a:p>
          <a:p>
            <a:pPr>
              <a:lnSpc>
                <a:spcPct val="80000"/>
              </a:lnSpc>
              <a:buFont typeface="Wingdings" panose="05000000000000000000" pitchFamily="2" charset="2"/>
              <a:buNone/>
            </a:pPr>
            <a:r>
              <a:rPr lang="zh-CN" altLang="en-US" sz="2200" dirty="0" smtClean="0"/>
              <a:t>		</a:t>
            </a:r>
            <a:r>
              <a:rPr lang="en-US" altLang="zh-CN" sz="2200" dirty="0" smtClean="0"/>
              <a:t>	</a:t>
            </a:r>
            <a:r>
              <a:rPr lang="zh-CN" altLang="en-US" sz="2200" dirty="0" smtClean="0"/>
              <a:t>（</a:t>
            </a:r>
            <a:r>
              <a:rPr lang="en-US" altLang="zh-CN" sz="2200" dirty="0" smtClean="0"/>
              <a:t>3</a:t>
            </a:r>
            <a:r>
              <a:rPr lang="zh-CN" altLang="en-US" sz="2200" dirty="0" smtClean="0"/>
              <a:t>）访问根结点。</a:t>
            </a:r>
          </a:p>
        </p:txBody>
      </p:sp>
      <p:sp>
        <p:nvSpPr>
          <p:cNvPr id="79875"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4" name="Rectangle 2"/>
          <p:cNvSpPr>
            <a:spLocks noGrp="1" noChangeArrowheads="1"/>
          </p:cNvSpPr>
          <p:nvPr>
            <p:ph type="title"/>
          </p:nvPr>
        </p:nvSpPr>
        <p:spPr>
          <a:xfrm>
            <a:off x="879475" y="269875"/>
            <a:ext cx="7869238" cy="927100"/>
          </a:xfrm>
        </p:spPr>
        <p:txBody>
          <a:bodyPr/>
          <a:lstStyle/>
          <a:p>
            <a:pPr eaLnBrk="1" hangingPunct="1"/>
            <a:r>
              <a:rPr lang="en-US" altLang="zh-CN" dirty="0">
                <a:solidFill>
                  <a:srgbClr val="333399"/>
                </a:solidFill>
              </a:rPr>
              <a:t>1.4.</a:t>
            </a:r>
            <a:r>
              <a:rPr lang="en-US" altLang="zh-CN" dirty="0" smtClean="0"/>
              <a:t>6 </a:t>
            </a:r>
            <a:r>
              <a:rPr lang="zh-CN" altLang="en-US" dirty="0" smtClean="0"/>
              <a:t>树、</a:t>
            </a:r>
            <a:r>
              <a:rPr lang="zh-CN" altLang="en-US" b="1" u="sng" dirty="0" smtClean="0"/>
              <a:t>根树</a:t>
            </a:r>
            <a:r>
              <a:rPr lang="zh-CN" altLang="en-US" dirty="0" smtClean="0"/>
              <a:t>、二叉树</a:t>
            </a:r>
            <a:endParaRPr lang="en-US" altLang="zh-CN" dirty="0" smtClean="0"/>
          </a:p>
        </p:txBody>
      </p:sp>
      <p:sp>
        <p:nvSpPr>
          <p:cNvPr id="5" name="文本框 4"/>
          <p:cNvSpPr txBox="1"/>
          <p:nvPr/>
        </p:nvSpPr>
        <p:spPr>
          <a:xfrm>
            <a:off x="875705" y="1270456"/>
            <a:ext cx="1697901" cy="461665"/>
          </a:xfrm>
          <a:prstGeom prst="rect">
            <a:avLst/>
          </a:prstGeom>
          <a:noFill/>
        </p:spPr>
        <p:txBody>
          <a:bodyPr wrap="none" rtlCol="0">
            <a:spAutoFit/>
          </a:bodyPr>
          <a:lstStyle/>
          <a:p>
            <a:r>
              <a:rPr lang="zh-CN" altLang="en-US" sz="2400" dirty="0">
                <a:solidFill>
                  <a:schemeClr val="accent2"/>
                </a:solidFill>
                <a:latin typeface="+mn-lt"/>
                <a:ea typeface="+mn-ea"/>
              </a:rPr>
              <a:t>根数遍历</a:t>
            </a:r>
            <a:r>
              <a:rPr lang="zh-CN" altLang="en-US" sz="2200" dirty="0">
                <a:solidFill>
                  <a:schemeClr val="accent2"/>
                </a:solidFill>
                <a:latin typeface="+mn-lt"/>
                <a:ea typeface="+mn-ea"/>
              </a:rPr>
              <a:t>：</a:t>
            </a:r>
          </a:p>
        </p:txBody>
      </p:sp>
    </p:spTree>
    <p:extLst>
      <p:ext uri="{BB962C8B-B14F-4D97-AF65-F5344CB8AC3E}">
        <p14:creationId xmlns:p14="http://schemas.microsoft.com/office/powerpoint/2010/main" val="1782215689"/>
      </p:ext>
    </p:extLst>
  </p:cSld>
  <p:clrMapOvr>
    <a:masterClrMapping/>
  </p:clrMapOvr>
  <p:transition/>
  <p:timing>
    <p:tnLst>
      <p:par>
        <p:cTn id="1" dur="indefinite" restart="never" nodeType="tmRoot"/>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7042" name="Rectangle 2"/>
          <p:cNvSpPr>
            <a:spLocks noChangeArrowheads="1"/>
          </p:cNvSpPr>
          <p:nvPr/>
        </p:nvSpPr>
        <p:spPr bwMode="auto">
          <a:xfrm>
            <a:off x="1109662" y="1712118"/>
            <a:ext cx="4273005" cy="3477875"/>
          </a:xfrm>
          <a:prstGeom prst="rect">
            <a:avLst/>
          </a:prstGeom>
          <a:noFill/>
          <a:ln w="12700" cap="sq">
            <a:noFill/>
            <a:miter lim="800000"/>
            <a:headEnd type="none" w="sm" len="sm"/>
            <a:tailEnd type="none" w="sm" len="sm"/>
          </a:ln>
          <a:effectLst/>
        </p:spPr>
        <p:txBody>
          <a:bodyPr wrap="square">
            <a:spAutoFit/>
          </a:bodyPr>
          <a:lstStyle/>
          <a:p>
            <a:pPr>
              <a:defRPr/>
            </a:pPr>
            <a:r>
              <a:rPr lang="zh-CN" altLang="en-US" sz="2200" dirty="0">
                <a:solidFill>
                  <a:schemeClr val="accent2"/>
                </a:solidFill>
                <a:latin typeface="+mn-lt"/>
                <a:ea typeface="+mn-ea"/>
              </a:rPr>
              <a:t>例：如图所示的二叉树表达式</a:t>
            </a:r>
          </a:p>
          <a:p>
            <a:pPr>
              <a:defRPr/>
            </a:pPr>
            <a:r>
              <a:rPr lang="en-US" altLang="zh-CN" sz="2200" dirty="0">
                <a:solidFill>
                  <a:schemeClr val="accent2"/>
                </a:solidFill>
                <a:latin typeface="+mn-lt"/>
                <a:ea typeface="+mn-ea"/>
              </a:rPr>
              <a:t>(</a:t>
            </a:r>
            <a:r>
              <a:rPr lang="en-US" altLang="zh-CN" sz="2200" dirty="0" err="1">
                <a:solidFill>
                  <a:schemeClr val="accent2"/>
                </a:solidFill>
                <a:latin typeface="+mn-lt"/>
                <a:ea typeface="+mn-ea"/>
              </a:rPr>
              <a:t>a+b</a:t>
            </a:r>
            <a:r>
              <a:rPr lang="en-US" altLang="zh-CN" sz="2200" dirty="0">
                <a:solidFill>
                  <a:schemeClr val="accent2"/>
                </a:solidFill>
                <a:latin typeface="+mn-lt"/>
                <a:ea typeface="+mn-ea"/>
              </a:rPr>
              <a:t>*(c-d)-e/f)</a:t>
            </a:r>
          </a:p>
          <a:p>
            <a:pPr>
              <a:buFont typeface="Arial" pitchFamily="34" charset="0"/>
              <a:buChar char="•"/>
              <a:defRPr/>
            </a:pPr>
            <a:r>
              <a:rPr lang="zh-CN" altLang="en-US" sz="2200" dirty="0">
                <a:solidFill>
                  <a:schemeClr val="accent2"/>
                </a:solidFill>
                <a:latin typeface="+mn-lt"/>
                <a:ea typeface="+mn-ea"/>
              </a:rPr>
              <a:t>若先序</a:t>
            </a:r>
            <a:r>
              <a:rPr lang="zh-CN" altLang="en-US" sz="2200" dirty="0" smtClean="0">
                <a:solidFill>
                  <a:schemeClr val="accent2"/>
                </a:solidFill>
                <a:latin typeface="+mn-lt"/>
                <a:ea typeface="+mn-ea"/>
              </a:rPr>
              <a:t>遍历</a:t>
            </a:r>
            <a:r>
              <a:rPr lang="en-US" altLang="zh-CN" sz="2200" dirty="0" smtClean="0">
                <a:solidFill>
                  <a:schemeClr val="accent2"/>
                </a:solidFill>
                <a:latin typeface="+mn-lt"/>
                <a:ea typeface="+mn-ea"/>
              </a:rPr>
              <a:t>,</a:t>
            </a:r>
            <a:r>
              <a:rPr lang="zh-CN" altLang="en-US" sz="2200" dirty="0" smtClean="0">
                <a:solidFill>
                  <a:schemeClr val="accent2"/>
                </a:solidFill>
                <a:latin typeface="+mn-lt"/>
                <a:ea typeface="+mn-ea"/>
              </a:rPr>
              <a:t> 其先</a:t>
            </a:r>
            <a:r>
              <a:rPr lang="zh-CN" altLang="en-US" sz="2200" dirty="0">
                <a:solidFill>
                  <a:schemeClr val="accent2"/>
                </a:solidFill>
                <a:latin typeface="+mn-lt"/>
                <a:ea typeface="+mn-ea"/>
              </a:rPr>
              <a:t>序序列为</a:t>
            </a:r>
            <a:r>
              <a:rPr lang="zh-CN" altLang="en-US" sz="2200" dirty="0" smtClean="0">
                <a:solidFill>
                  <a:schemeClr val="accent2"/>
                </a:solidFill>
                <a:latin typeface="+mn-lt"/>
                <a:ea typeface="+mn-ea"/>
              </a:rPr>
              <a:t>：</a:t>
            </a:r>
            <a:endParaRPr lang="en-US" altLang="zh-CN" sz="2200" dirty="0" smtClean="0">
              <a:solidFill>
                <a:schemeClr val="accent2"/>
              </a:solidFill>
              <a:latin typeface="+mn-lt"/>
              <a:ea typeface="+mn-ea"/>
            </a:endParaRPr>
          </a:p>
          <a:p>
            <a:pPr>
              <a:defRPr/>
            </a:pPr>
            <a:r>
              <a:rPr lang="en-US" altLang="zh-CN" sz="2200" dirty="0" smtClean="0">
                <a:solidFill>
                  <a:schemeClr val="accent2"/>
                </a:solidFill>
                <a:latin typeface="+mn-lt"/>
                <a:ea typeface="+mn-ea"/>
              </a:rPr>
              <a:t>-+</a:t>
            </a:r>
            <a:r>
              <a:rPr lang="en-US" altLang="zh-CN" sz="2200" dirty="0">
                <a:solidFill>
                  <a:schemeClr val="accent2"/>
                </a:solidFill>
                <a:latin typeface="+mn-lt"/>
                <a:ea typeface="+mn-ea"/>
              </a:rPr>
              <a:t>a*b-cd/</a:t>
            </a:r>
            <a:r>
              <a:rPr lang="en-US" altLang="zh-CN" sz="2200" dirty="0" err="1">
                <a:solidFill>
                  <a:schemeClr val="accent2"/>
                </a:solidFill>
                <a:latin typeface="+mn-lt"/>
                <a:ea typeface="+mn-ea"/>
              </a:rPr>
              <a:t>ef</a:t>
            </a:r>
            <a:endParaRPr lang="en-US" altLang="zh-CN" sz="2200" dirty="0">
              <a:solidFill>
                <a:schemeClr val="accent2"/>
              </a:solidFill>
              <a:latin typeface="+mn-lt"/>
              <a:ea typeface="+mn-ea"/>
            </a:endParaRPr>
          </a:p>
          <a:p>
            <a:pPr>
              <a:defRPr/>
            </a:pPr>
            <a:r>
              <a:rPr lang="en-US" altLang="zh-CN" sz="2200" dirty="0">
                <a:solidFill>
                  <a:schemeClr val="accent2"/>
                </a:solidFill>
                <a:latin typeface="+mn-lt"/>
                <a:ea typeface="+mn-ea"/>
              </a:rPr>
              <a:t> </a:t>
            </a:r>
          </a:p>
          <a:p>
            <a:pPr>
              <a:buFont typeface="Arial" pitchFamily="34" charset="0"/>
              <a:buChar char="•"/>
              <a:defRPr/>
            </a:pPr>
            <a:r>
              <a:rPr lang="zh-CN" altLang="en-US" sz="2200" dirty="0">
                <a:solidFill>
                  <a:schemeClr val="accent2"/>
                </a:solidFill>
                <a:latin typeface="+mn-lt"/>
                <a:ea typeface="+mn-ea"/>
              </a:rPr>
              <a:t>按中序遍历</a:t>
            </a:r>
            <a:r>
              <a:rPr lang="en-US" altLang="zh-CN" sz="2200" dirty="0">
                <a:solidFill>
                  <a:schemeClr val="accent2"/>
                </a:solidFill>
                <a:latin typeface="+mn-lt"/>
                <a:ea typeface="+mn-ea"/>
              </a:rPr>
              <a:t>,</a:t>
            </a:r>
            <a:r>
              <a:rPr lang="zh-CN" altLang="en-US" sz="2200" dirty="0">
                <a:solidFill>
                  <a:schemeClr val="accent2"/>
                </a:solidFill>
                <a:latin typeface="+mn-lt"/>
                <a:ea typeface="+mn-ea"/>
              </a:rPr>
              <a:t>其中序序列为：</a:t>
            </a:r>
          </a:p>
          <a:p>
            <a:pPr>
              <a:defRPr/>
            </a:pPr>
            <a:r>
              <a:rPr lang="en-US" altLang="zh-CN" sz="2200" dirty="0" err="1">
                <a:solidFill>
                  <a:schemeClr val="accent2"/>
                </a:solidFill>
                <a:latin typeface="+mn-lt"/>
                <a:ea typeface="+mn-ea"/>
              </a:rPr>
              <a:t>a+b</a:t>
            </a:r>
            <a:r>
              <a:rPr lang="en-US" altLang="zh-CN" sz="2200" dirty="0">
                <a:solidFill>
                  <a:schemeClr val="accent2"/>
                </a:solidFill>
                <a:latin typeface="+mn-lt"/>
                <a:ea typeface="+mn-ea"/>
              </a:rPr>
              <a:t>*c-d-e/f</a:t>
            </a:r>
          </a:p>
          <a:p>
            <a:pPr>
              <a:defRPr/>
            </a:pPr>
            <a:endParaRPr lang="en-US" altLang="zh-CN" sz="2200" dirty="0">
              <a:solidFill>
                <a:schemeClr val="accent2"/>
              </a:solidFill>
              <a:latin typeface="+mn-lt"/>
              <a:ea typeface="+mn-ea"/>
            </a:endParaRPr>
          </a:p>
          <a:p>
            <a:pPr>
              <a:buFont typeface="Arial" pitchFamily="34" charset="0"/>
              <a:buChar char="•"/>
              <a:defRPr/>
            </a:pPr>
            <a:r>
              <a:rPr lang="zh-CN" altLang="en-US" sz="2200" dirty="0">
                <a:solidFill>
                  <a:schemeClr val="accent2"/>
                </a:solidFill>
                <a:latin typeface="+mn-lt"/>
                <a:ea typeface="+mn-ea"/>
              </a:rPr>
              <a:t>按后序遍历</a:t>
            </a:r>
            <a:r>
              <a:rPr lang="en-US" altLang="zh-CN" sz="2200" dirty="0">
                <a:solidFill>
                  <a:schemeClr val="accent2"/>
                </a:solidFill>
                <a:latin typeface="+mn-lt"/>
                <a:ea typeface="+mn-ea"/>
              </a:rPr>
              <a:t>,</a:t>
            </a:r>
            <a:r>
              <a:rPr lang="zh-CN" altLang="en-US" sz="2200" dirty="0">
                <a:solidFill>
                  <a:schemeClr val="accent2"/>
                </a:solidFill>
                <a:latin typeface="+mn-lt"/>
                <a:ea typeface="+mn-ea"/>
              </a:rPr>
              <a:t>其后序序列为：</a:t>
            </a:r>
          </a:p>
          <a:p>
            <a:pPr>
              <a:defRPr/>
            </a:pPr>
            <a:r>
              <a:rPr lang="en-US" altLang="zh-CN" sz="2200" dirty="0" err="1">
                <a:solidFill>
                  <a:schemeClr val="accent2"/>
                </a:solidFill>
                <a:latin typeface="+mn-lt"/>
                <a:ea typeface="+mn-ea"/>
              </a:rPr>
              <a:t>abcd</a:t>
            </a:r>
            <a:r>
              <a:rPr lang="en-US" altLang="zh-CN" sz="2200" dirty="0">
                <a:solidFill>
                  <a:schemeClr val="accent2"/>
                </a:solidFill>
                <a:latin typeface="+mn-lt"/>
                <a:ea typeface="+mn-ea"/>
              </a:rPr>
              <a:t>-*+</a:t>
            </a:r>
            <a:r>
              <a:rPr lang="en-US" altLang="zh-CN" sz="2200" dirty="0" err="1">
                <a:solidFill>
                  <a:schemeClr val="accent2"/>
                </a:solidFill>
                <a:latin typeface="+mn-lt"/>
                <a:ea typeface="+mn-ea"/>
              </a:rPr>
              <a:t>ef</a:t>
            </a:r>
            <a:r>
              <a:rPr lang="en-US" altLang="zh-CN" sz="2200" dirty="0" smtClean="0">
                <a:solidFill>
                  <a:schemeClr val="accent2"/>
                </a:solidFill>
                <a:latin typeface="+mn-lt"/>
                <a:ea typeface="+mn-ea"/>
              </a:rPr>
              <a:t>/-</a:t>
            </a:r>
            <a:endParaRPr kumimoji="1" lang="en-US" altLang="zh-CN" dirty="0">
              <a:latin typeface="Times New Roman" pitchFamily="18" charset="0"/>
            </a:endParaRPr>
          </a:p>
        </p:txBody>
      </p:sp>
      <p:sp>
        <p:nvSpPr>
          <p:cNvPr id="80899" name="Oval 3"/>
          <p:cNvSpPr>
            <a:spLocks noChangeArrowheads="1"/>
          </p:cNvSpPr>
          <p:nvPr/>
        </p:nvSpPr>
        <p:spPr bwMode="auto">
          <a:xfrm>
            <a:off x="6830467" y="1331118"/>
            <a:ext cx="381000" cy="381000"/>
          </a:xfrm>
          <a:prstGeom prst="ellipse">
            <a:avLst/>
          </a:prstGeom>
          <a:solidFill>
            <a:schemeClr val="accent1"/>
          </a:solidFill>
          <a:ln w="12700" cap="sq">
            <a:solidFill>
              <a:schemeClr val="tx1"/>
            </a:solidFill>
            <a:round/>
            <a:headEnd type="none" w="sm" len="sm"/>
            <a:tailEnd type="none" w="sm" len="sm"/>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dirty="0">
                <a:latin typeface="Times New Roman" panose="02020603050405020304" pitchFamily="18" charset="0"/>
              </a:rPr>
              <a:t>－</a:t>
            </a:r>
          </a:p>
        </p:txBody>
      </p:sp>
      <p:sp>
        <p:nvSpPr>
          <p:cNvPr id="80900" name="Oval 4"/>
          <p:cNvSpPr>
            <a:spLocks noChangeArrowheads="1"/>
          </p:cNvSpPr>
          <p:nvPr/>
        </p:nvSpPr>
        <p:spPr bwMode="auto">
          <a:xfrm>
            <a:off x="5992267" y="2321718"/>
            <a:ext cx="381000" cy="381000"/>
          </a:xfrm>
          <a:prstGeom prst="ellipse">
            <a:avLst/>
          </a:prstGeom>
          <a:solidFill>
            <a:schemeClr val="accent1"/>
          </a:solidFill>
          <a:ln w="12700" cap="sq">
            <a:solidFill>
              <a:schemeClr val="tx1"/>
            </a:solidFill>
            <a:round/>
            <a:headEnd type="none" w="sm" len="sm"/>
            <a:tailEnd type="none" w="sm" len="sm"/>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dirty="0">
                <a:latin typeface="Times New Roman" panose="02020603050405020304" pitchFamily="18" charset="0"/>
              </a:rPr>
              <a:t>＋</a:t>
            </a:r>
          </a:p>
        </p:txBody>
      </p:sp>
      <p:sp>
        <p:nvSpPr>
          <p:cNvPr id="80901" name="Oval 5"/>
          <p:cNvSpPr>
            <a:spLocks noChangeArrowheads="1"/>
          </p:cNvSpPr>
          <p:nvPr/>
        </p:nvSpPr>
        <p:spPr bwMode="auto">
          <a:xfrm>
            <a:off x="6449467" y="3159918"/>
            <a:ext cx="381000" cy="381000"/>
          </a:xfrm>
          <a:prstGeom prst="ellipse">
            <a:avLst/>
          </a:prstGeom>
          <a:solidFill>
            <a:schemeClr val="accent1"/>
          </a:solidFill>
          <a:ln w="12700" cap="sq">
            <a:solidFill>
              <a:schemeClr val="tx1"/>
            </a:solidFill>
            <a:round/>
            <a:headEnd type="none" w="sm" len="sm"/>
            <a:tailEnd type="none" w="sm" len="sm"/>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a:latin typeface="Times New Roman" panose="02020603050405020304" pitchFamily="18" charset="0"/>
              </a:rPr>
              <a:t>*</a:t>
            </a:r>
          </a:p>
        </p:txBody>
      </p:sp>
      <p:sp>
        <p:nvSpPr>
          <p:cNvPr id="80902" name="Oval 6"/>
          <p:cNvSpPr>
            <a:spLocks noChangeArrowheads="1"/>
          </p:cNvSpPr>
          <p:nvPr/>
        </p:nvSpPr>
        <p:spPr bwMode="auto">
          <a:xfrm>
            <a:off x="5535067" y="3159918"/>
            <a:ext cx="381000" cy="381000"/>
          </a:xfrm>
          <a:prstGeom prst="ellipse">
            <a:avLst/>
          </a:prstGeom>
          <a:solidFill>
            <a:schemeClr val="accent1"/>
          </a:solidFill>
          <a:ln w="12700" cap="sq">
            <a:solidFill>
              <a:schemeClr val="tx1"/>
            </a:solidFill>
            <a:round/>
            <a:headEnd type="none" w="sm" len="sm"/>
            <a:tailEnd type="none" w="sm" len="sm"/>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a:latin typeface="Times New Roman" panose="02020603050405020304" pitchFamily="18" charset="0"/>
              </a:rPr>
              <a:t>a</a:t>
            </a:r>
          </a:p>
        </p:txBody>
      </p:sp>
      <p:sp>
        <p:nvSpPr>
          <p:cNvPr id="80903" name="Oval 7"/>
          <p:cNvSpPr>
            <a:spLocks noChangeArrowheads="1"/>
          </p:cNvSpPr>
          <p:nvPr/>
        </p:nvSpPr>
        <p:spPr bwMode="auto">
          <a:xfrm>
            <a:off x="7744867" y="2245518"/>
            <a:ext cx="381000" cy="381000"/>
          </a:xfrm>
          <a:prstGeom prst="ellipse">
            <a:avLst/>
          </a:prstGeom>
          <a:solidFill>
            <a:srgbClr val="FF9900"/>
          </a:solidFill>
          <a:ln w="12700" cap="sq">
            <a:solidFill>
              <a:schemeClr val="tx1"/>
            </a:solidFill>
            <a:round/>
            <a:headEnd type="none" w="sm" len="sm"/>
            <a:tailEnd type="none" w="sm" len="sm"/>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a:latin typeface="Times New Roman" panose="02020603050405020304" pitchFamily="18" charset="0"/>
              </a:rPr>
              <a:t>/</a:t>
            </a:r>
          </a:p>
        </p:txBody>
      </p:sp>
      <p:sp>
        <p:nvSpPr>
          <p:cNvPr id="80904" name="Oval 8"/>
          <p:cNvSpPr>
            <a:spLocks noChangeArrowheads="1"/>
          </p:cNvSpPr>
          <p:nvPr/>
        </p:nvSpPr>
        <p:spPr bwMode="auto">
          <a:xfrm>
            <a:off x="6068467" y="3998118"/>
            <a:ext cx="381000" cy="381000"/>
          </a:xfrm>
          <a:prstGeom prst="ellipse">
            <a:avLst/>
          </a:prstGeom>
          <a:solidFill>
            <a:schemeClr val="accent1"/>
          </a:solidFill>
          <a:ln w="12700" cap="sq">
            <a:solidFill>
              <a:schemeClr val="tx1"/>
            </a:solidFill>
            <a:round/>
            <a:headEnd type="none" w="sm" len="sm"/>
            <a:tailEnd type="none" w="sm" len="sm"/>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a:latin typeface="Times New Roman" panose="02020603050405020304" pitchFamily="18" charset="0"/>
              </a:rPr>
              <a:t>b</a:t>
            </a:r>
          </a:p>
        </p:txBody>
      </p:sp>
      <p:sp>
        <p:nvSpPr>
          <p:cNvPr id="80905" name="Oval 9"/>
          <p:cNvSpPr>
            <a:spLocks noChangeArrowheads="1"/>
          </p:cNvSpPr>
          <p:nvPr/>
        </p:nvSpPr>
        <p:spPr bwMode="auto">
          <a:xfrm>
            <a:off x="6982867" y="3998118"/>
            <a:ext cx="381000" cy="381000"/>
          </a:xfrm>
          <a:prstGeom prst="ellipse">
            <a:avLst/>
          </a:prstGeom>
          <a:solidFill>
            <a:schemeClr val="accent1"/>
          </a:solidFill>
          <a:ln w="12700" cap="sq">
            <a:solidFill>
              <a:schemeClr val="tx1"/>
            </a:solidFill>
            <a:round/>
            <a:headEnd type="none" w="sm" len="sm"/>
            <a:tailEnd type="none" w="sm" len="sm"/>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a:latin typeface="Times New Roman" panose="02020603050405020304" pitchFamily="18" charset="0"/>
              </a:rPr>
              <a:t>-</a:t>
            </a:r>
          </a:p>
        </p:txBody>
      </p:sp>
      <p:sp>
        <p:nvSpPr>
          <p:cNvPr id="80906" name="Oval 10"/>
          <p:cNvSpPr>
            <a:spLocks noChangeArrowheads="1"/>
          </p:cNvSpPr>
          <p:nvPr/>
        </p:nvSpPr>
        <p:spPr bwMode="auto">
          <a:xfrm>
            <a:off x="7440067" y="4912518"/>
            <a:ext cx="381000" cy="381000"/>
          </a:xfrm>
          <a:prstGeom prst="ellipse">
            <a:avLst/>
          </a:prstGeom>
          <a:solidFill>
            <a:schemeClr val="accent1"/>
          </a:solidFill>
          <a:ln w="12700" cap="sq">
            <a:solidFill>
              <a:schemeClr val="tx1"/>
            </a:solidFill>
            <a:round/>
            <a:headEnd type="none" w="sm" len="sm"/>
            <a:tailEnd type="none" w="sm" len="sm"/>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a:latin typeface="Times New Roman" panose="02020603050405020304" pitchFamily="18" charset="0"/>
              </a:rPr>
              <a:t>d</a:t>
            </a:r>
          </a:p>
        </p:txBody>
      </p:sp>
      <p:sp>
        <p:nvSpPr>
          <p:cNvPr id="80907" name="Oval 11"/>
          <p:cNvSpPr>
            <a:spLocks noChangeArrowheads="1"/>
          </p:cNvSpPr>
          <p:nvPr/>
        </p:nvSpPr>
        <p:spPr bwMode="auto">
          <a:xfrm>
            <a:off x="6525667" y="4912518"/>
            <a:ext cx="381000" cy="381000"/>
          </a:xfrm>
          <a:prstGeom prst="ellipse">
            <a:avLst/>
          </a:prstGeom>
          <a:solidFill>
            <a:schemeClr val="accent1"/>
          </a:solidFill>
          <a:ln w="12700" cap="sq">
            <a:solidFill>
              <a:schemeClr val="tx1"/>
            </a:solidFill>
            <a:round/>
            <a:headEnd type="none" w="sm" len="sm"/>
            <a:tailEnd type="none" w="sm" len="sm"/>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a:latin typeface="Times New Roman" panose="02020603050405020304" pitchFamily="18" charset="0"/>
              </a:rPr>
              <a:t>c</a:t>
            </a:r>
          </a:p>
        </p:txBody>
      </p:sp>
      <p:sp>
        <p:nvSpPr>
          <p:cNvPr id="80908" name="Oval 12"/>
          <p:cNvSpPr>
            <a:spLocks noChangeArrowheads="1"/>
          </p:cNvSpPr>
          <p:nvPr/>
        </p:nvSpPr>
        <p:spPr bwMode="auto">
          <a:xfrm>
            <a:off x="8278267" y="3007518"/>
            <a:ext cx="381000" cy="381000"/>
          </a:xfrm>
          <a:prstGeom prst="ellipse">
            <a:avLst/>
          </a:prstGeom>
          <a:solidFill>
            <a:srgbClr val="FF9900"/>
          </a:solidFill>
          <a:ln w="12700" cap="sq">
            <a:solidFill>
              <a:schemeClr val="tx1"/>
            </a:solidFill>
            <a:round/>
            <a:headEnd type="none" w="sm" len="sm"/>
            <a:tailEnd type="none" w="sm" len="sm"/>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a:latin typeface="Times New Roman" panose="02020603050405020304" pitchFamily="18" charset="0"/>
              </a:rPr>
              <a:t>f</a:t>
            </a:r>
          </a:p>
        </p:txBody>
      </p:sp>
      <p:sp>
        <p:nvSpPr>
          <p:cNvPr id="80909" name="Oval 13"/>
          <p:cNvSpPr>
            <a:spLocks noChangeArrowheads="1"/>
          </p:cNvSpPr>
          <p:nvPr/>
        </p:nvSpPr>
        <p:spPr bwMode="auto">
          <a:xfrm>
            <a:off x="7440067" y="3083718"/>
            <a:ext cx="381000" cy="381000"/>
          </a:xfrm>
          <a:prstGeom prst="ellipse">
            <a:avLst/>
          </a:prstGeom>
          <a:solidFill>
            <a:srgbClr val="FF9900"/>
          </a:solidFill>
          <a:ln w="12700" cap="sq">
            <a:solidFill>
              <a:schemeClr val="tx1"/>
            </a:solidFill>
            <a:round/>
            <a:headEnd type="none" w="sm" len="sm"/>
            <a:tailEnd type="none" w="sm" len="sm"/>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a:latin typeface="Times New Roman" panose="02020603050405020304" pitchFamily="18" charset="0"/>
              </a:rPr>
              <a:t>e</a:t>
            </a:r>
          </a:p>
        </p:txBody>
      </p:sp>
      <p:sp>
        <p:nvSpPr>
          <p:cNvPr id="80910" name="Line 14"/>
          <p:cNvSpPr>
            <a:spLocks noChangeShapeType="1"/>
          </p:cNvSpPr>
          <p:nvPr/>
        </p:nvSpPr>
        <p:spPr bwMode="auto">
          <a:xfrm flipH="1">
            <a:off x="6297067" y="1712118"/>
            <a:ext cx="609600" cy="68580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80911" name="Line 15"/>
          <p:cNvSpPr>
            <a:spLocks noChangeShapeType="1"/>
          </p:cNvSpPr>
          <p:nvPr/>
        </p:nvSpPr>
        <p:spPr bwMode="auto">
          <a:xfrm flipH="1">
            <a:off x="5763667" y="2702718"/>
            <a:ext cx="304800" cy="53340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80912" name="Line 16"/>
          <p:cNvSpPr>
            <a:spLocks noChangeShapeType="1"/>
          </p:cNvSpPr>
          <p:nvPr/>
        </p:nvSpPr>
        <p:spPr bwMode="auto">
          <a:xfrm>
            <a:off x="6373267" y="2702718"/>
            <a:ext cx="228600" cy="45720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80913" name="Line 17"/>
          <p:cNvSpPr>
            <a:spLocks noChangeShapeType="1"/>
          </p:cNvSpPr>
          <p:nvPr/>
        </p:nvSpPr>
        <p:spPr bwMode="auto">
          <a:xfrm flipH="1">
            <a:off x="6297067" y="3540918"/>
            <a:ext cx="228600" cy="53340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80914" name="Line 18"/>
          <p:cNvSpPr>
            <a:spLocks noChangeShapeType="1"/>
          </p:cNvSpPr>
          <p:nvPr/>
        </p:nvSpPr>
        <p:spPr bwMode="auto">
          <a:xfrm>
            <a:off x="6754267" y="3540918"/>
            <a:ext cx="304800" cy="45720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80915" name="Line 19"/>
          <p:cNvSpPr>
            <a:spLocks noChangeShapeType="1"/>
          </p:cNvSpPr>
          <p:nvPr/>
        </p:nvSpPr>
        <p:spPr bwMode="auto">
          <a:xfrm>
            <a:off x="7287667" y="4379118"/>
            <a:ext cx="304800" cy="60960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80916" name="Line 20"/>
          <p:cNvSpPr>
            <a:spLocks noChangeShapeType="1"/>
          </p:cNvSpPr>
          <p:nvPr/>
        </p:nvSpPr>
        <p:spPr bwMode="auto">
          <a:xfrm flipH="1">
            <a:off x="6754267" y="4379118"/>
            <a:ext cx="304800" cy="60960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80917" name="Line 21"/>
          <p:cNvSpPr>
            <a:spLocks noChangeShapeType="1"/>
          </p:cNvSpPr>
          <p:nvPr/>
        </p:nvSpPr>
        <p:spPr bwMode="auto">
          <a:xfrm>
            <a:off x="7211467" y="1712118"/>
            <a:ext cx="609600" cy="53340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80918" name="Line 22"/>
          <p:cNvSpPr>
            <a:spLocks noChangeShapeType="1"/>
          </p:cNvSpPr>
          <p:nvPr/>
        </p:nvSpPr>
        <p:spPr bwMode="auto">
          <a:xfrm flipH="1">
            <a:off x="7592467" y="2626518"/>
            <a:ext cx="228600" cy="45720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80919" name="Line 23"/>
          <p:cNvSpPr>
            <a:spLocks noChangeShapeType="1"/>
          </p:cNvSpPr>
          <p:nvPr/>
        </p:nvSpPr>
        <p:spPr bwMode="auto">
          <a:xfrm>
            <a:off x="8125867" y="2550318"/>
            <a:ext cx="381000" cy="53340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80920"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25" name="Rectangle 2"/>
          <p:cNvSpPr txBox="1">
            <a:spLocks noChangeArrowheads="1"/>
          </p:cNvSpPr>
          <p:nvPr/>
        </p:nvSpPr>
        <p:spPr>
          <a:xfrm>
            <a:off x="827584" y="382587"/>
            <a:ext cx="7869238" cy="644525"/>
          </a:xfrm>
          <a:prstGeom prst="rect">
            <a:avLst/>
          </a:prstGeom>
        </p:spPr>
        <p:txBody>
          <a:bodyPr/>
          <a:lstStyle>
            <a:lvl1pPr algn="l" rtl="0" eaLnBrk="0" fontAlgn="base" hangingPunct="0">
              <a:spcBef>
                <a:spcPct val="0"/>
              </a:spcBef>
              <a:spcAft>
                <a:spcPct val="0"/>
              </a:spcAft>
              <a:defRPr sz="3200">
                <a:solidFill>
                  <a:schemeClr val="accent2"/>
                </a:solidFill>
                <a:latin typeface="+mj-lt"/>
                <a:ea typeface="+mj-ea"/>
                <a:cs typeface="+mj-cs"/>
              </a:defRPr>
            </a:lvl1pPr>
            <a:lvl2pPr algn="l" rtl="0" eaLnBrk="0" fontAlgn="base" hangingPunct="0">
              <a:spcBef>
                <a:spcPct val="0"/>
              </a:spcBef>
              <a:spcAft>
                <a:spcPct val="0"/>
              </a:spcAft>
              <a:defRPr sz="3200">
                <a:solidFill>
                  <a:schemeClr val="accent2"/>
                </a:solidFill>
                <a:latin typeface="Garamond" pitchFamily="18" charset="0"/>
                <a:ea typeface="宋体" pitchFamily="2" charset="-122"/>
              </a:defRPr>
            </a:lvl2pPr>
            <a:lvl3pPr algn="l" rtl="0" eaLnBrk="0" fontAlgn="base" hangingPunct="0">
              <a:spcBef>
                <a:spcPct val="0"/>
              </a:spcBef>
              <a:spcAft>
                <a:spcPct val="0"/>
              </a:spcAft>
              <a:defRPr sz="3200">
                <a:solidFill>
                  <a:schemeClr val="accent2"/>
                </a:solidFill>
                <a:latin typeface="Garamond" pitchFamily="18" charset="0"/>
                <a:ea typeface="宋体" pitchFamily="2" charset="-122"/>
              </a:defRPr>
            </a:lvl3pPr>
            <a:lvl4pPr algn="l" rtl="0" eaLnBrk="0" fontAlgn="base" hangingPunct="0">
              <a:spcBef>
                <a:spcPct val="0"/>
              </a:spcBef>
              <a:spcAft>
                <a:spcPct val="0"/>
              </a:spcAft>
              <a:defRPr sz="3200">
                <a:solidFill>
                  <a:schemeClr val="accent2"/>
                </a:solidFill>
                <a:latin typeface="Garamond" pitchFamily="18" charset="0"/>
                <a:ea typeface="宋体" pitchFamily="2" charset="-122"/>
              </a:defRPr>
            </a:lvl4pPr>
            <a:lvl5pPr algn="l" rtl="0" eaLnBrk="0" fontAlgn="base" hangingPunct="0">
              <a:spcBef>
                <a:spcPct val="0"/>
              </a:spcBef>
              <a:spcAft>
                <a:spcPct val="0"/>
              </a:spcAft>
              <a:defRPr sz="3200">
                <a:solidFill>
                  <a:schemeClr val="accent2"/>
                </a:solidFill>
                <a:latin typeface="Garamond" pitchFamily="18" charset="0"/>
                <a:ea typeface="宋体" pitchFamily="2" charset="-122"/>
              </a:defRPr>
            </a:lvl5pPr>
            <a:lvl6pPr marL="457200" algn="l" rtl="0" fontAlgn="base">
              <a:spcBef>
                <a:spcPct val="0"/>
              </a:spcBef>
              <a:spcAft>
                <a:spcPct val="0"/>
              </a:spcAft>
              <a:defRPr sz="3200">
                <a:solidFill>
                  <a:schemeClr val="accent2"/>
                </a:solidFill>
                <a:latin typeface="Garamond" pitchFamily="18" charset="0"/>
                <a:ea typeface="宋体" pitchFamily="2" charset="-122"/>
              </a:defRPr>
            </a:lvl6pPr>
            <a:lvl7pPr marL="914400" algn="l" rtl="0" fontAlgn="base">
              <a:spcBef>
                <a:spcPct val="0"/>
              </a:spcBef>
              <a:spcAft>
                <a:spcPct val="0"/>
              </a:spcAft>
              <a:defRPr sz="3200">
                <a:solidFill>
                  <a:schemeClr val="accent2"/>
                </a:solidFill>
                <a:latin typeface="Garamond" pitchFamily="18" charset="0"/>
                <a:ea typeface="宋体" pitchFamily="2" charset="-122"/>
              </a:defRPr>
            </a:lvl7pPr>
            <a:lvl8pPr marL="1371600" algn="l" rtl="0" fontAlgn="base">
              <a:spcBef>
                <a:spcPct val="0"/>
              </a:spcBef>
              <a:spcAft>
                <a:spcPct val="0"/>
              </a:spcAft>
              <a:defRPr sz="3200">
                <a:solidFill>
                  <a:schemeClr val="accent2"/>
                </a:solidFill>
                <a:latin typeface="Garamond" pitchFamily="18" charset="0"/>
                <a:ea typeface="宋体" pitchFamily="2" charset="-122"/>
              </a:defRPr>
            </a:lvl8pPr>
            <a:lvl9pPr marL="1828800" algn="l" rtl="0" fontAlgn="base">
              <a:spcBef>
                <a:spcPct val="0"/>
              </a:spcBef>
              <a:spcAft>
                <a:spcPct val="0"/>
              </a:spcAft>
              <a:defRPr sz="3200">
                <a:solidFill>
                  <a:schemeClr val="accent2"/>
                </a:solidFill>
                <a:latin typeface="Garamond" pitchFamily="18" charset="0"/>
                <a:ea typeface="宋体" pitchFamily="2" charset="-122"/>
              </a:defRPr>
            </a:lvl9pPr>
          </a:lstStyle>
          <a:p>
            <a:pPr eaLnBrk="1" hangingPunct="1"/>
            <a:r>
              <a:rPr lang="en-US" altLang="zh-CN" dirty="0">
                <a:solidFill>
                  <a:srgbClr val="333399"/>
                </a:solidFill>
              </a:rPr>
              <a:t>1.4.</a:t>
            </a:r>
            <a:r>
              <a:rPr lang="en-US" altLang="zh-CN" dirty="0" smtClean="0"/>
              <a:t>6 </a:t>
            </a:r>
            <a:r>
              <a:rPr lang="zh-CN" altLang="en-US" dirty="0" smtClean="0"/>
              <a:t>树、</a:t>
            </a:r>
            <a:r>
              <a:rPr lang="zh-CN" altLang="en-US" b="1" u="sng" dirty="0" smtClean="0"/>
              <a:t>根树</a:t>
            </a:r>
            <a:r>
              <a:rPr lang="zh-CN" altLang="en-US" dirty="0" smtClean="0"/>
              <a:t>、二叉树</a:t>
            </a:r>
            <a:endParaRPr lang="en-US" altLang="zh-CN" kern="0" dirty="0" smtClean="0"/>
          </a:p>
        </p:txBody>
      </p:sp>
      <p:sp>
        <p:nvSpPr>
          <p:cNvPr id="26" name="文本框 25"/>
          <p:cNvSpPr txBox="1"/>
          <p:nvPr/>
        </p:nvSpPr>
        <p:spPr>
          <a:xfrm>
            <a:off x="875705" y="1270456"/>
            <a:ext cx="1697901" cy="461665"/>
          </a:xfrm>
          <a:prstGeom prst="rect">
            <a:avLst/>
          </a:prstGeom>
          <a:noFill/>
        </p:spPr>
        <p:txBody>
          <a:bodyPr wrap="none" rtlCol="0">
            <a:spAutoFit/>
          </a:bodyPr>
          <a:lstStyle/>
          <a:p>
            <a:r>
              <a:rPr lang="zh-CN" altLang="en-US" sz="2400" dirty="0">
                <a:solidFill>
                  <a:schemeClr val="accent2"/>
                </a:solidFill>
                <a:latin typeface="+mn-lt"/>
                <a:ea typeface="+mn-ea"/>
              </a:rPr>
              <a:t>根数遍历</a:t>
            </a:r>
            <a:r>
              <a:rPr lang="zh-CN" altLang="en-US" sz="2200" dirty="0">
                <a:solidFill>
                  <a:schemeClr val="accent2"/>
                </a:solidFill>
                <a:latin typeface="+mn-lt"/>
                <a:ea typeface="+mn-ea"/>
              </a:rPr>
              <a:t>：</a:t>
            </a:r>
          </a:p>
        </p:txBody>
      </p:sp>
    </p:spTree>
    <p:extLst>
      <p:ext uri="{BB962C8B-B14F-4D97-AF65-F5344CB8AC3E}">
        <p14:creationId xmlns:p14="http://schemas.microsoft.com/office/powerpoint/2010/main" val="1298232825"/>
      </p:ext>
    </p:extLst>
  </p:cSld>
  <p:clrMapOvr>
    <a:masterClrMapping/>
  </p:clrMapOvr>
  <p:transition spd="med">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647042">
                                            <p:txEl>
                                              <p:pRg st="0" end="0"/>
                                            </p:txEl>
                                          </p:spTgt>
                                        </p:tgtEl>
                                        <p:attrNameLst>
                                          <p:attrName>style.visibility</p:attrName>
                                        </p:attrNameLst>
                                      </p:cBhvr>
                                      <p:to>
                                        <p:strVal val="visible"/>
                                      </p:to>
                                    </p:set>
                                    <p:anim calcmode="lin" valueType="num">
                                      <p:cBhvr additive="base">
                                        <p:cTn id="7" dur="500" fill="hold"/>
                                        <p:tgtEl>
                                          <p:spTgt spid="264704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647042">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647042">
                                            <p:txEl>
                                              <p:pRg st="1" end="1"/>
                                            </p:txEl>
                                          </p:spTgt>
                                        </p:tgtEl>
                                        <p:attrNameLst>
                                          <p:attrName>style.visibility</p:attrName>
                                        </p:attrNameLst>
                                      </p:cBhvr>
                                      <p:to>
                                        <p:strVal val="visible"/>
                                      </p:to>
                                    </p:set>
                                    <p:anim calcmode="lin" valueType="num">
                                      <p:cBhvr additive="base">
                                        <p:cTn id="13" dur="500" fill="hold"/>
                                        <p:tgtEl>
                                          <p:spTgt spid="2647042">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647042">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647042">
                                            <p:txEl>
                                              <p:pRg st="2" end="2"/>
                                            </p:txEl>
                                          </p:spTgt>
                                        </p:tgtEl>
                                        <p:attrNameLst>
                                          <p:attrName>style.visibility</p:attrName>
                                        </p:attrNameLst>
                                      </p:cBhvr>
                                      <p:to>
                                        <p:strVal val="visible"/>
                                      </p:to>
                                    </p:set>
                                    <p:anim calcmode="lin" valueType="num">
                                      <p:cBhvr additive="base">
                                        <p:cTn id="19" dur="500" fill="hold"/>
                                        <p:tgtEl>
                                          <p:spTgt spid="2647042">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647042">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whoosh.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647042">
                                            <p:txEl>
                                              <p:pRg st="3" end="3"/>
                                            </p:txEl>
                                          </p:spTgt>
                                        </p:tgtEl>
                                        <p:attrNameLst>
                                          <p:attrName>style.visibility</p:attrName>
                                        </p:attrNameLst>
                                      </p:cBhvr>
                                      <p:to>
                                        <p:strVal val="visible"/>
                                      </p:to>
                                    </p:set>
                                    <p:anim calcmode="lin" valueType="num">
                                      <p:cBhvr additive="base">
                                        <p:cTn id="25" dur="500" fill="hold"/>
                                        <p:tgtEl>
                                          <p:spTgt spid="2647042">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647042">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whoosh.wav"/>
                                        </p:tgtEl>
                                      </p:cMediaNode>
                                    </p:audio>
                                  </p:sub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647042">
                                            <p:txEl>
                                              <p:pRg st="4" end="4"/>
                                            </p:txEl>
                                          </p:spTgt>
                                        </p:tgtEl>
                                        <p:attrNameLst>
                                          <p:attrName>style.visibility</p:attrName>
                                        </p:attrNameLst>
                                      </p:cBhvr>
                                      <p:to>
                                        <p:strVal val="visible"/>
                                      </p:to>
                                    </p:set>
                                    <p:anim calcmode="lin" valueType="num">
                                      <p:cBhvr additive="base">
                                        <p:cTn id="31" dur="500" fill="hold"/>
                                        <p:tgtEl>
                                          <p:spTgt spid="2647042">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647042">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whoosh.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647042">
                                            <p:txEl>
                                              <p:pRg st="5" end="5"/>
                                            </p:txEl>
                                          </p:spTgt>
                                        </p:tgtEl>
                                        <p:attrNameLst>
                                          <p:attrName>style.visibility</p:attrName>
                                        </p:attrNameLst>
                                      </p:cBhvr>
                                      <p:to>
                                        <p:strVal val="visible"/>
                                      </p:to>
                                    </p:set>
                                    <p:anim calcmode="lin" valueType="num">
                                      <p:cBhvr additive="base">
                                        <p:cTn id="37" dur="500" fill="hold"/>
                                        <p:tgtEl>
                                          <p:spTgt spid="2647042">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647042">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2" name="whoosh.wav"/>
                                        </p:tgtEl>
                                      </p:cMediaNode>
                                    </p:audio>
                                  </p:sub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647042">
                                            <p:txEl>
                                              <p:pRg st="6" end="6"/>
                                            </p:txEl>
                                          </p:spTgt>
                                        </p:tgtEl>
                                        <p:attrNameLst>
                                          <p:attrName>style.visibility</p:attrName>
                                        </p:attrNameLst>
                                      </p:cBhvr>
                                      <p:to>
                                        <p:strVal val="visible"/>
                                      </p:to>
                                    </p:set>
                                    <p:anim calcmode="lin" valueType="num">
                                      <p:cBhvr additive="base">
                                        <p:cTn id="43" dur="500" fill="hold"/>
                                        <p:tgtEl>
                                          <p:spTgt spid="2647042">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647042">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2" name="whoosh.wav"/>
                                        </p:tgtEl>
                                      </p:cMediaNode>
                                    </p:audio>
                                  </p:sub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647042">
                                            <p:txEl>
                                              <p:pRg st="8" end="8"/>
                                            </p:txEl>
                                          </p:spTgt>
                                        </p:tgtEl>
                                        <p:attrNameLst>
                                          <p:attrName>style.visibility</p:attrName>
                                        </p:attrNameLst>
                                      </p:cBhvr>
                                      <p:to>
                                        <p:strVal val="visible"/>
                                      </p:to>
                                    </p:set>
                                    <p:anim calcmode="lin" valueType="num">
                                      <p:cBhvr additive="base">
                                        <p:cTn id="49" dur="500" fill="hold"/>
                                        <p:tgtEl>
                                          <p:spTgt spid="2647042">
                                            <p:txEl>
                                              <p:pRg st="8" end="8"/>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2647042">
                                            <p:txEl>
                                              <p:pRg st="8" end="8"/>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7"/>
                                            </p:cond>
                                          </p:stCondLst>
                                          <p:endCondLst>
                                            <p:cond evt="onStopAudio" delay="0">
                                              <p:tgtEl>
                                                <p:sldTgt/>
                                              </p:tgtEl>
                                            </p:cond>
                                          </p:endCondLst>
                                        </p:cTn>
                                        <p:tgtEl>
                                          <p:sndTgt r:embed="rId2" name="whoosh.wav"/>
                                        </p:tgtEl>
                                      </p:cMediaNode>
                                    </p:audio>
                                  </p:sub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2647042">
                                            <p:txEl>
                                              <p:pRg st="9" end="9"/>
                                            </p:txEl>
                                          </p:spTgt>
                                        </p:tgtEl>
                                        <p:attrNameLst>
                                          <p:attrName>style.visibility</p:attrName>
                                        </p:attrNameLst>
                                      </p:cBhvr>
                                      <p:to>
                                        <p:strVal val="visible"/>
                                      </p:to>
                                    </p:set>
                                    <p:anim calcmode="lin" valueType="num">
                                      <p:cBhvr additive="base">
                                        <p:cTn id="55" dur="500" fill="hold"/>
                                        <p:tgtEl>
                                          <p:spTgt spid="2647042">
                                            <p:txEl>
                                              <p:pRg st="9" end="9"/>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2647042">
                                            <p:txEl>
                                              <p:pRg st="9" end="9"/>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3"/>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47042" grpId="0" build="p" autoUpdateAnimBg="0"/>
    </p:bld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81923" name="Rectangle 2"/>
          <p:cNvSpPr>
            <a:spLocks noGrp="1" noChangeArrowheads="1"/>
          </p:cNvSpPr>
          <p:nvPr>
            <p:ph type="title"/>
          </p:nvPr>
        </p:nvSpPr>
        <p:spPr/>
        <p:txBody>
          <a:bodyPr/>
          <a:lstStyle/>
          <a:p>
            <a:pPr eaLnBrk="1" hangingPunct="1"/>
            <a:r>
              <a:rPr lang="en-US" altLang="zh-CN" dirty="0">
                <a:solidFill>
                  <a:srgbClr val="333399"/>
                </a:solidFill>
              </a:rPr>
              <a:t>1.4.</a:t>
            </a:r>
            <a:r>
              <a:rPr lang="en-US" altLang="zh-CN" dirty="0" smtClean="0"/>
              <a:t>6 </a:t>
            </a:r>
            <a:r>
              <a:rPr lang="zh-CN" altLang="en-US" dirty="0" smtClean="0"/>
              <a:t>树、根树、</a:t>
            </a:r>
            <a:r>
              <a:rPr lang="zh-CN" altLang="en-US" b="1" u="sng" dirty="0" smtClean="0"/>
              <a:t>二叉树</a:t>
            </a:r>
            <a:endParaRPr lang="en-US" altLang="zh-CN" b="1" u="sng" kern="0" dirty="0" smtClean="0"/>
          </a:p>
        </p:txBody>
      </p:sp>
      <p:sp>
        <p:nvSpPr>
          <p:cNvPr id="108547" name="Rectangle 3"/>
          <p:cNvSpPr>
            <a:spLocks noGrp="1" noChangeArrowheads="1"/>
          </p:cNvSpPr>
          <p:nvPr>
            <p:ph type="body" idx="1"/>
          </p:nvPr>
        </p:nvSpPr>
        <p:spPr>
          <a:xfrm>
            <a:off x="962025" y="1196975"/>
            <a:ext cx="7786688" cy="4525963"/>
          </a:xfrm>
        </p:spPr>
        <p:txBody>
          <a:bodyPr/>
          <a:lstStyle/>
          <a:p>
            <a:pPr eaLnBrk="1" hangingPunct="1">
              <a:spcBef>
                <a:spcPts val="0"/>
              </a:spcBef>
              <a:defRPr/>
            </a:pPr>
            <a:r>
              <a:rPr lang="zh-CN" altLang="en-US" dirty="0" smtClean="0"/>
              <a:t>定义</a:t>
            </a:r>
            <a:endParaRPr lang="en-US" altLang="zh-CN" dirty="0" smtClean="0"/>
          </a:p>
          <a:p>
            <a:pPr lvl="1" eaLnBrk="1" hangingPunct="1">
              <a:spcBef>
                <a:spcPts val="0"/>
              </a:spcBef>
              <a:defRPr/>
            </a:pPr>
            <a:r>
              <a:rPr lang="zh-CN" altLang="en-US" dirty="0" smtClean="0">
                <a:latin typeface="+mn-lt"/>
                <a:ea typeface="+mn-ea"/>
              </a:rPr>
              <a:t>二叉树是节点的一个有限集合，集合或者为空，或者由一个根节点</a:t>
            </a:r>
            <a:r>
              <a:rPr lang="en-US" altLang="zh-CN" dirty="0" smtClean="0">
                <a:latin typeface="+mn-lt"/>
                <a:ea typeface="+mn-ea"/>
              </a:rPr>
              <a:t>r</a:t>
            </a:r>
            <a:r>
              <a:rPr lang="zh-CN" altLang="en-US" dirty="0" smtClean="0">
                <a:latin typeface="+mn-lt"/>
                <a:ea typeface="+mn-ea"/>
              </a:rPr>
              <a:t>和称为</a:t>
            </a:r>
            <a:r>
              <a:rPr lang="zh-CN" altLang="en-US" dirty="0" smtClean="0">
                <a:solidFill>
                  <a:srgbClr val="FF0000"/>
                </a:solidFill>
                <a:latin typeface="+mn-lt"/>
                <a:ea typeface="+mn-ea"/>
              </a:rPr>
              <a:t>左右子树</a:t>
            </a:r>
            <a:r>
              <a:rPr lang="zh-CN" altLang="en-US" dirty="0" smtClean="0">
                <a:latin typeface="+mn-lt"/>
                <a:ea typeface="+mn-ea"/>
              </a:rPr>
              <a:t>的两个不相交的二叉树组成。这些子树的根称为</a:t>
            </a:r>
            <a:r>
              <a:rPr lang="en-US" altLang="zh-CN" dirty="0" smtClean="0">
                <a:latin typeface="+mn-lt"/>
                <a:ea typeface="+mn-ea"/>
              </a:rPr>
              <a:t>r</a:t>
            </a:r>
            <a:r>
              <a:rPr lang="zh-CN" altLang="en-US" dirty="0" smtClean="0">
                <a:latin typeface="+mn-lt"/>
                <a:ea typeface="+mn-ea"/>
              </a:rPr>
              <a:t>的左右儿子。</a:t>
            </a:r>
            <a:endParaRPr lang="en-US" altLang="zh-CN" sz="2000" dirty="0" smtClean="0">
              <a:latin typeface="+mn-lt"/>
              <a:ea typeface="+mn-ea"/>
            </a:endParaRPr>
          </a:p>
          <a:p>
            <a:pPr eaLnBrk="1" hangingPunct="1">
              <a:spcBef>
                <a:spcPts val="0"/>
              </a:spcBef>
              <a:defRPr/>
            </a:pPr>
            <a:r>
              <a:rPr lang="zh-CN" altLang="en-US" sz="2000" dirty="0" smtClean="0"/>
              <a:t>二叉树与根树之间有两个很重要的不同点：</a:t>
            </a:r>
            <a:endParaRPr lang="en-US" altLang="zh-CN" sz="2000" dirty="0" smtClean="0"/>
          </a:p>
          <a:p>
            <a:pPr lvl="1" eaLnBrk="1" hangingPunct="1">
              <a:spcBef>
                <a:spcPts val="0"/>
              </a:spcBef>
              <a:defRPr/>
            </a:pPr>
            <a:r>
              <a:rPr lang="zh-CN" altLang="en-US" sz="2000" dirty="0" smtClean="0">
                <a:latin typeface="+mn-lt"/>
                <a:ea typeface="+mn-ea"/>
              </a:rPr>
              <a:t>第一，二叉树可以为空而根树不能为空。</a:t>
            </a:r>
            <a:endParaRPr lang="en-US" altLang="zh-CN" sz="2000" dirty="0" smtClean="0">
              <a:latin typeface="+mn-lt"/>
              <a:ea typeface="+mn-ea"/>
            </a:endParaRPr>
          </a:p>
          <a:p>
            <a:pPr lvl="1" eaLnBrk="1" hangingPunct="1">
              <a:spcBef>
                <a:spcPts val="0"/>
              </a:spcBef>
              <a:defRPr/>
            </a:pPr>
            <a:r>
              <a:rPr lang="zh-CN" altLang="en-US" sz="2000" dirty="0" smtClean="0">
                <a:latin typeface="+mn-lt"/>
                <a:ea typeface="+mn-ea"/>
              </a:rPr>
              <a:t>第二，由于二叉树有左右子树的区别，使得图</a:t>
            </a:r>
            <a:r>
              <a:rPr lang="en-US" altLang="zh-CN" sz="2000" dirty="0" smtClean="0">
                <a:latin typeface="+mn-lt"/>
                <a:ea typeface="+mn-ea"/>
              </a:rPr>
              <a:t>.3.6 </a:t>
            </a:r>
            <a:r>
              <a:rPr lang="zh-CN" altLang="en-US" sz="2000" dirty="0" smtClean="0">
                <a:latin typeface="+mn-lt"/>
                <a:ea typeface="+mn-ea"/>
              </a:rPr>
              <a:t>中（</a:t>
            </a:r>
            <a:r>
              <a:rPr lang="en-US" altLang="zh-CN" sz="2000" dirty="0" smtClean="0">
                <a:latin typeface="+mn-lt"/>
                <a:ea typeface="+mn-ea"/>
              </a:rPr>
              <a:t>a</a:t>
            </a:r>
            <a:r>
              <a:rPr lang="zh-CN" altLang="en-US" sz="2000" dirty="0" smtClean="0">
                <a:latin typeface="+mn-lt"/>
                <a:ea typeface="+mn-ea"/>
              </a:rPr>
              <a:t>）、（</a:t>
            </a:r>
            <a:r>
              <a:rPr lang="en-US" altLang="zh-CN" sz="2000" dirty="0" smtClean="0">
                <a:latin typeface="+mn-lt"/>
                <a:ea typeface="+mn-ea"/>
              </a:rPr>
              <a:t>b</a:t>
            </a:r>
            <a:r>
              <a:rPr lang="zh-CN" altLang="en-US" sz="2000" dirty="0" smtClean="0">
                <a:latin typeface="+mn-lt"/>
                <a:ea typeface="+mn-ea"/>
              </a:rPr>
              <a:t>）两颗二叉树是不同的，但是如果是根树，他们就不能区分。</a:t>
            </a:r>
            <a:endParaRPr lang="en-US" altLang="zh-CN" sz="2000" dirty="0" smtClean="0">
              <a:latin typeface="+mn-lt"/>
              <a:ea typeface="+mn-ea"/>
            </a:endParaRPr>
          </a:p>
        </p:txBody>
      </p:sp>
      <p:pic>
        <p:nvPicPr>
          <p:cNvPr id="81925" name="Picture 4" descr="def"/>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7088" y="1268413"/>
            <a:ext cx="576262"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1926" name="Group 26"/>
          <p:cNvGrpSpPr>
            <a:grpSpLocks/>
          </p:cNvGrpSpPr>
          <p:nvPr/>
        </p:nvGrpSpPr>
        <p:grpSpPr bwMode="auto">
          <a:xfrm>
            <a:off x="714375" y="4071938"/>
            <a:ext cx="8439150" cy="2286000"/>
            <a:chOff x="192" y="1728"/>
            <a:chExt cx="5574" cy="1915"/>
          </a:xfrm>
        </p:grpSpPr>
        <p:sp>
          <p:nvSpPr>
            <p:cNvPr id="81927" name="Text Box 7"/>
            <p:cNvSpPr txBox="1">
              <a:spLocks noChangeArrowheads="1"/>
            </p:cNvSpPr>
            <p:nvPr/>
          </p:nvSpPr>
          <p:spPr bwMode="auto">
            <a:xfrm>
              <a:off x="192" y="1728"/>
              <a:ext cx="960" cy="1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a:latin typeface="Times New Roman" panose="02020603050405020304" pitchFamily="18" charset="0"/>
                </a:rPr>
                <a:t>     </a:t>
              </a:r>
            </a:p>
            <a:p>
              <a:pPr eaLnBrk="1" hangingPunct="1">
                <a:spcBef>
                  <a:spcPct val="50000"/>
                </a:spcBef>
              </a:pPr>
              <a:endParaRPr kumimoji="1" lang="en-US" altLang="zh-CN">
                <a:latin typeface="Times New Roman" panose="02020603050405020304" pitchFamily="18" charset="0"/>
              </a:endParaRPr>
            </a:p>
            <a:p>
              <a:pPr eaLnBrk="1" hangingPunct="1">
                <a:spcBef>
                  <a:spcPct val="50000"/>
                </a:spcBef>
              </a:pPr>
              <a:endParaRPr kumimoji="1" lang="en-US" altLang="zh-CN">
                <a:latin typeface="Times New Roman" panose="02020603050405020304" pitchFamily="18" charset="0"/>
              </a:endParaRPr>
            </a:p>
            <a:p>
              <a:pPr eaLnBrk="1" hangingPunct="1">
                <a:spcBef>
                  <a:spcPct val="50000"/>
                </a:spcBef>
              </a:pPr>
              <a:r>
                <a:rPr kumimoji="1" lang="en-US" altLang="zh-CN">
                  <a:latin typeface="Times New Roman" panose="02020603050405020304" pitchFamily="18" charset="0"/>
                </a:rPr>
                <a:t>    </a:t>
              </a:r>
              <a:r>
                <a:rPr kumimoji="1" lang="en-US" altLang="zh-CN" b="1">
                  <a:latin typeface="仿宋_GB2312" pitchFamily="49" charset="-122"/>
                  <a:ea typeface="仿宋_GB2312" pitchFamily="49" charset="-122"/>
                </a:rPr>
                <a:t>(a)</a:t>
              </a:r>
            </a:p>
            <a:p>
              <a:pPr eaLnBrk="1" hangingPunct="1">
                <a:spcBef>
                  <a:spcPct val="50000"/>
                </a:spcBef>
              </a:pPr>
              <a:r>
                <a:rPr kumimoji="1" lang="zh-CN" altLang="en-US" b="1">
                  <a:latin typeface="仿宋_GB2312" pitchFamily="49" charset="-122"/>
                  <a:ea typeface="仿宋_GB2312" pitchFamily="49" charset="-122"/>
                </a:rPr>
                <a:t>空二叉树</a:t>
              </a:r>
            </a:p>
          </p:txBody>
        </p:sp>
        <p:sp>
          <p:nvSpPr>
            <p:cNvPr id="81928" name="Oval 8"/>
            <p:cNvSpPr>
              <a:spLocks noChangeArrowheads="1"/>
            </p:cNvSpPr>
            <p:nvPr/>
          </p:nvSpPr>
          <p:spPr bwMode="auto">
            <a:xfrm>
              <a:off x="528" y="1919"/>
              <a:ext cx="384" cy="288"/>
            </a:xfrm>
            <a:prstGeom prst="ellipse">
              <a:avLst/>
            </a:prstGeom>
            <a:solidFill>
              <a:schemeClr val="hlink"/>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1929" name="Line 9"/>
            <p:cNvSpPr>
              <a:spLocks noChangeShapeType="1"/>
            </p:cNvSpPr>
            <p:nvPr/>
          </p:nvSpPr>
          <p:spPr bwMode="auto">
            <a:xfrm flipH="1">
              <a:off x="528" y="1883"/>
              <a:ext cx="384"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30" name="Oval 10"/>
            <p:cNvSpPr>
              <a:spLocks noChangeArrowheads="1"/>
            </p:cNvSpPr>
            <p:nvPr/>
          </p:nvSpPr>
          <p:spPr bwMode="auto">
            <a:xfrm>
              <a:off x="1296" y="1919"/>
              <a:ext cx="384" cy="288"/>
            </a:xfrm>
            <a:prstGeom prst="ellipse">
              <a:avLst/>
            </a:prstGeom>
            <a:solidFill>
              <a:schemeClr val="hlink"/>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a:latin typeface="Times New Roman" panose="02020603050405020304" pitchFamily="18" charset="0"/>
                </a:rPr>
                <a:t>A</a:t>
              </a:r>
            </a:p>
          </p:txBody>
        </p:sp>
        <p:sp>
          <p:nvSpPr>
            <p:cNvPr id="81931" name="Oval 11"/>
            <p:cNvSpPr>
              <a:spLocks noChangeArrowheads="1"/>
            </p:cNvSpPr>
            <p:nvPr/>
          </p:nvSpPr>
          <p:spPr bwMode="auto">
            <a:xfrm>
              <a:off x="2256" y="1919"/>
              <a:ext cx="384" cy="288"/>
            </a:xfrm>
            <a:prstGeom prst="ellipse">
              <a:avLst/>
            </a:prstGeom>
            <a:solidFill>
              <a:schemeClr val="hlink"/>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a:latin typeface="Times New Roman" panose="02020603050405020304" pitchFamily="18" charset="0"/>
                </a:rPr>
                <a:t>A</a:t>
              </a:r>
            </a:p>
          </p:txBody>
        </p:sp>
        <p:sp>
          <p:nvSpPr>
            <p:cNvPr id="81932" name="Oval 12"/>
            <p:cNvSpPr>
              <a:spLocks noChangeArrowheads="1"/>
            </p:cNvSpPr>
            <p:nvPr/>
          </p:nvSpPr>
          <p:spPr bwMode="auto">
            <a:xfrm>
              <a:off x="2016" y="2352"/>
              <a:ext cx="384" cy="288"/>
            </a:xfrm>
            <a:prstGeom prst="ellipse">
              <a:avLst/>
            </a:prstGeom>
            <a:solidFill>
              <a:schemeClr val="hlink"/>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a:latin typeface="Times New Roman" panose="02020603050405020304" pitchFamily="18" charset="0"/>
                </a:rPr>
                <a:t>B</a:t>
              </a:r>
            </a:p>
          </p:txBody>
        </p:sp>
        <p:sp>
          <p:nvSpPr>
            <p:cNvPr id="81933" name="Oval 13"/>
            <p:cNvSpPr>
              <a:spLocks noChangeArrowheads="1"/>
            </p:cNvSpPr>
            <p:nvPr/>
          </p:nvSpPr>
          <p:spPr bwMode="auto">
            <a:xfrm>
              <a:off x="3072" y="1920"/>
              <a:ext cx="384" cy="288"/>
            </a:xfrm>
            <a:prstGeom prst="ellipse">
              <a:avLst/>
            </a:prstGeom>
            <a:solidFill>
              <a:schemeClr val="hlink"/>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a:latin typeface="Times New Roman" panose="02020603050405020304" pitchFamily="18" charset="0"/>
                </a:rPr>
                <a:t>A</a:t>
              </a:r>
            </a:p>
          </p:txBody>
        </p:sp>
        <p:sp>
          <p:nvSpPr>
            <p:cNvPr id="81934" name="Oval 14"/>
            <p:cNvSpPr>
              <a:spLocks noChangeArrowheads="1"/>
            </p:cNvSpPr>
            <p:nvPr/>
          </p:nvSpPr>
          <p:spPr bwMode="auto">
            <a:xfrm>
              <a:off x="3504" y="2448"/>
              <a:ext cx="384" cy="288"/>
            </a:xfrm>
            <a:prstGeom prst="ellipse">
              <a:avLst/>
            </a:prstGeom>
            <a:solidFill>
              <a:schemeClr val="hlink"/>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a:latin typeface="Times New Roman" panose="02020603050405020304" pitchFamily="18" charset="0"/>
                </a:rPr>
                <a:t>B</a:t>
              </a:r>
            </a:p>
          </p:txBody>
        </p:sp>
        <p:sp>
          <p:nvSpPr>
            <p:cNvPr id="81935" name="Oval 15"/>
            <p:cNvSpPr>
              <a:spLocks noChangeArrowheads="1"/>
            </p:cNvSpPr>
            <p:nvPr/>
          </p:nvSpPr>
          <p:spPr bwMode="auto">
            <a:xfrm>
              <a:off x="4512" y="1920"/>
              <a:ext cx="384" cy="288"/>
            </a:xfrm>
            <a:prstGeom prst="ellipse">
              <a:avLst/>
            </a:prstGeom>
            <a:solidFill>
              <a:schemeClr val="hlink"/>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a:latin typeface="Times New Roman" panose="02020603050405020304" pitchFamily="18" charset="0"/>
                </a:rPr>
                <a:t>A</a:t>
              </a:r>
            </a:p>
          </p:txBody>
        </p:sp>
        <p:sp>
          <p:nvSpPr>
            <p:cNvPr id="81936" name="Oval 16"/>
            <p:cNvSpPr>
              <a:spLocks noChangeArrowheads="1"/>
            </p:cNvSpPr>
            <p:nvPr/>
          </p:nvSpPr>
          <p:spPr bwMode="auto">
            <a:xfrm>
              <a:off x="4848" y="2496"/>
              <a:ext cx="384" cy="288"/>
            </a:xfrm>
            <a:prstGeom prst="ellipse">
              <a:avLst/>
            </a:prstGeom>
            <a:solidFill>
              <a:schemeClr val="hlink"/>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a:latin typeface="Times New Roman" panose="02020603050405020304" pitchFamily="18" charset="0"/>
                </a:rPr>
                <a:t>C</a:t>
              </a:r>
            </a:p>
          </p:txBody>
        </p:sp>
        <p:sp>
          <p:nvSpPr>
            <p:cNvPr id="81937" name="Oval 17"/>
            <p:cNvSpPr>
              <a:spLocks noChangeArrowheads="1"/>
            </p:cNvSpPr>
            <p:nvPr/>
          </p:nvSpPr>
          <p:spPr bwMode="auto">
            <a:xfrm>
              <a:off x="4176" y="2448"/>
              <a:ext cx="384" cy="288"/>
            </a:xfrm>
            <a:prstGeom prst="ellipse">
              <a:avLst/>
            </a:prstGeom>
            <a:solidFill>
              <a:schemeClr val="hlink"/>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a:latin typeface="Times New Roman" panose="02020603050405020304" pitchFamily="18" charset="0"/>
                </a:rPr>
                <a:t>B</a:t>
              </a:r>
            </a:p>
          </p:txBody>
        </p:sp>
        <p:sp>
          <p:nvSpPr>
            <p:cNvPr id="81938" name="Line 18"/>
            <p:cNvSpPr>
              <a:spLocks noChangeShapeType="1"/>
            </p:cNvSpPr>
            <p:nvPr/>
          </p:nvSpPr>
          <p:spPr bwMode="auto">
            <a:xfrm flipH="1">
              <a:off x="2256" y="2112"/>
              <a:ext cx="144"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39" name="Line 19"/>
            <p:cNvSpPr>
              <a:spLocks noChangeShapeType="1"/>
            </p:cNvSpPr>
            <p:nvPr/>
          </p:nvSpPr>
          <p:spPr bwMode="auto">
            <a:xfrm>
              <a:off x="3360" y="2160"/>
              <a:ext cx="24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40" name="Line 20"/>
            <p:cNvSpPr>
              <a:spLocks noChangeShapeType="1"/>
            </p:cNvSpPr>
            <p:nvPr/>
          </p:nvSpPr>
          <p:spPr bwMode="auto">
            <a:xfrm flipH="1">
              <a:off x="4368" y="2208"/>
              <a:ext cx="192"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41" name="Line 21"/>
            <p:cNvSpPr>
              <a:spLocks noChangeShapeType="1"/>
            </p:cNvSpPr>
            <p:nvPr/>
          </p:nvSpPr>
          <p:spPr bwMode="auto">
            <a:xfrm>
              <a:off x="4800" y="2208"/>
              <a:ext cx="144"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42" name="Text Box 22"/>
            <p:cNvSpPr txBox="1">
              <a:spLocks noChangeArrowheads="1"/>
            </p:cNvSpPr>
            <p:nvPr/>
          </p:nvSpPr>
          <p:spPr bwMode="auto">
            <a:xfrm>
              <a:off x="1152" y="2688"/>
              <a:ext cx="1056" cy="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a:latin typeface="Times New Roman" panose="02020603050405020304" pitchFamily="18" charset="0"/>
                </a:rPr>
                <a:t>     </a:t>
              </a:r>
              <a:r>
                <a:rPr kumimoji="1" lang="en-US" altLang="zh-CN" b="1">
                  <a:latin typeface="仿宋_GB2312" pitchFamily="49" charset="-122"/>
                  <a:ea typeface="仿宋_GB2312" pitchFamily="49" charset="-122"/>
                </a:rPr>
                <a:t>(b)</a:t>
              </a:r>
            </a:p>
            <a:p>
              <a:pPr eaLnBrk="1" hangingPunct="1"/>
              <a:r>
                <a:rPr kumimoji="1" lang="zh-CN" altLang="en-US" b="1">
                  <a:latin typeface="仿宋_GB2312" pitchFamily="49" charset="-122"/>
                  <a:ea typeface="仿宋_GB2312" pitchFamily="49" charset="-122"/>
                </a:rPr>
                <a:t>根和空的左右子树</a:t>
              </a:r>
            </a:p>
          </p:txBody>
        </p:sp>
        <p:sp>
          <p:nvSpPr>
            <p:cNvPr id="81943" name="Text Box 23"/>
            <p:cNvSpPr txBox="1">
              <a:spLocks noChangeArrowheads="1"/>
            </p:cNvSpPr>
            <p:nvPr/>
          </p:nvSpPr>
          <p:spPr bwMode="auto">
            <a:xfrm>
              <a:off x="2064" y="2880"/>
              <a:ext cx="1081" cy="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a:latin typeface="Times New Roman" panose="02020603050405020304" pitchFamily="18" charset="0"/>
                </a:rPr>
                <a:t>      </a:t>
              </a:r>
              <a:r>
                <a:rPr kumimoji="1" lang="en-US" altLang="zh-CN" b="1">
                  <a:latin typeface="仿宋_GB2312" pitchFamily="49" charset="-122"/>
                  <a:ea typeface="仿宋_GB2312" pitchFamily="49" charset="-122"/>
                </a:rPr>
                <a:t>(c)</a:t>
              </a:r>
            </a:p>
            <a:p>
              <a:pPr eaLnBrk="1" hangingPunct="1"/>
              <a:r>
                <a:rPr kumimoji="1" lang="zh-CN" altLang="en-US" b="1">
                  <a:latin typeface="仿宋_GB2312" pitchFamily="49" charset="-122"/>
                  <a:ea typeface="仿宋_GB2312" pitchFamily="49" charset="-122"/>
                </a:rPr>
                <a:t>根和左子树</a:t>
              </a:r>
            </a:p>
          </p:txBody>
        </p:sp>
        <p:sp>
          <p:nvSpPr>
            <p:cNvPr id="81944" name="Text Box 24"/>
            <p:cNvSpPr txBox="1">
              <a:spLocks noChangeArrowheads="1"/>
            </p:cNvSpPr>
            <p:nvPr/>
          </p:nvSpPr>
          <p:spPr bwMode="auto">
            <a:xfrm>
              <a:off x="3168" y="2867"/>
              <a:ext cx="1081" cy="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latin typeface="仿宋_GB2312" pitchFamily="49" charset="-122"/>
                  <a:ea typeface="仿宋_GB2312" pitchFamily="49" charset="-122"/>
                </a:rPr>
                <a:t>(d)</a:t>
              </a:r>
            </a:p>
            <a:p>
              <a:pPr eaLnBrk="1" hangingPunct="1"/>
              <a:r>
                <a:rPr kumimoji="1" lang="zh-CN" altLang="en-US" b="1">
                  <a:latin typeface="仿宋_GB2312" pitchFamily="49" charset="-122"/>
                  <a:ea typeface="仿宋_GB2312" pitchFamily="49" charset="-122"/>
                </a:rPr>
                <a:t>根和右子树</a:t>
              </a:r>
            </a:p>
          </p:txBody>
        </p:sp>
        <p:sp>
          <p:nvSpPr>
            <p:cNvPr id="81945" name="Text Box 25"/>
            <p:cNvSpPr txBox="1">
              <a:spLocks noChangeArrowheads="1"/>
            </p:cNvSpPr>
            <p:nvPr/>
          </p:nvSpPr>
          <p:spPr bwMode="auto">
            <a:xfrm>
              <a:off x="4492" y="2832"/>
              <a:ext cx="1274" cy="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a:latin typeface="Times New Roman" panose="02020603050405020304" pitchFamily="18" charset="0"/>
                </a:rPr>
                <a:t> </a:t>
              </a:r>
              <a:r>
                <a:rPr kumimoji="1" lang="en-US" altLang="zh-CN" b="1">
                  <a:latin typeface="仿宋_GB2312" pitchFamily="49" charset="-122"/>
                  <a:ea typeface="仿宋_GB2312" pitchFamily="49" charset="-122"/>
                </a:rPr>
                <a:t>(e)</a:t>
              </a:r>
            </a:p>
            <a:p>
              <a:pPr eaLnBrk="1" hangingPunct="1"/>
              <a:r>
                <a:rPr kumimoji="1" lang="zh-CN" altLang="en-US" b="1">
                  <a:latin typeface="仿宋_GB2312" pitchFamily="49" charset="-122"/>
                  <a:ea typeface="仿宋_GB2312" pitchFamily="49" charset="-122"/>
                </a:rPr>
                <a:t>根和左右子树</a:t>
              </a:r>
            </a:p>
          </p:txBody>
        </p:sp>
      </p:grpSp>
    </p:spTree>
    <p:extLst>
      <p:ext uri="{BB962C8B-B14F-4D97-AF65-F5344CB8AC3E}">
        <p14:creationId xmlns:p14="http://schemas.microsoft.com/office/powerpoint/2010/main" val="1175673674"/>
      </p:ext>
    </p:extLst>
  </p:cSld>
  <p:clrMapOvr>
    <a:masterClrMapping/>
  </p:clrMapOvr>
  <p:timing>
    <p:tnLst>
      <p:par>
        <p:cTn id="1" dur="indefinite" restart="never" nodeType="tmRoot"/>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82947" name="Rectangle 2"/>
          <p:cNvSpPr>
            <a:spLocks noGrp="1" noChangeArrowheads="1"/>
          </p:cNvSpPr>
          <p:nvPr>
            <p:ph type="title"/>
          </p:nvPr>
        </p:nvSpPr>
        <p:spPr/>
        <p:txBody>
          <a:bodyPr/>
          <a:lstStyle/>
          <a:p>
            <a:pPr eaLnBrk="1" hangingPunct="1"/>
            <a:r>
              <a:rPr lang="en-US" altLang="zh-CN" dirty="0">
                <a:solidFill>
                  <a:srgbClr val="333399"/>
                </a:solidFill>
              </a:rPr>
              <a:t>1.4.</a:t>
            </a:r>
            <a:r>
              <a:rPr lang="en-US" altLang="zh-CN" dirty="0" smtClean="0"/>
              <a:t>6 </a:t>
            </a:r>
            <a:r>
              <a:rPr lang="zh-CN" altLang="en-US" dirty="0" smtClean="0"/>
              <a:t>树、根树、</a:t>
            </a:r>
            <a:r>
              <a:rPr lang="zh-CN" altLang="en-US" b="1" u="sng" dirty="0" smtClean="0"/>
              <a:t>二叉树</a:t>
            </a:r>
            <a:endParaRPr lang="en-US" altLang="zh-CN" dirty="0" smtClean="0"/>
          </a:p>
        </p:txBody>
      </p:sp>
      <p:sp>
        <p:nvSpPr>
          <p:cNvPr id="109571" name="Rectangle 3"/>
          <p:cNvSpPr>
            <a:spLocks noGrp="1" noChangeArrowheads="1"/>
          </p:cNvSpPr>
          <p:nvPr>
            <p:ph type="body" idx="1"/>
          </p:nvPr>
        </p:nvSpPr>
        <p:spPr/>
        <p:txBody>
          <a:bodyPr/>
          <a:lstStyle/>
          <a:p>
            <a:pPr eaLnBrk="1" hangingPunct="1">
              <a:defRPr/>
            </a:pPr>
            <a:r>
              <a:rPr lang="zh-CN" altLang="en-US" dirty="0" smtClean="0">
                <a:solidFill>
                  <a:srgbClr val="FF0000"/>
                </a:solidFill>
                <a:latin typeface="+mn-ea"/>
              </a:rPr>
              <a:t>满的和完全的</a:t>
            </a:r>
            <a:r>
              <a:rPr lang="en-US" altLang="zh-CN" dirty="0" smtClean="0">
                <a:latin typeface="+mn-ea"/>
              </a:rPr>
              <a:t>:</a:t>
            </a:r>
          </a:p>
          <a:p>
            <a:pPr lvl="1" eaLnBrk="1" hangingPunct="1">
              <a:defRPr/>
            </a:pPr>
            <a:r>
              <a:rPr lang="zh-CN" altLang="en-US" dirty="0" smtClean="0">
                <a:latin typeface="+mn-ea"/>
                <a:ea typeface="+mn-ea"/>
              </a:rPr>
              <a:t>如果二叉树中每个内部节点都正好有两个儿子，这样的二叉树称为</a:t>
            </a:r>
            <a:r>
              <a:rPr lang="zh-CN" altLang="en-US" dirty="0" smtClean="0">
                <a:solidFill>
                  <a:srgbClr val="FF0000"/>
                </a:solidFill>
                <a:latin typeface="+mn-ea"/>
                <a:ea typeface="+mn-ea"/>
              </a:rPr>
              <a:t>满的</a:t>
            </a:r>
            <a:r>
              <a:rPr lang="zh-CN" altLang="en-US" dirty="0" smtClean="0">
                <a:latin typeface="+mn-ea"/>
                <a:ea typeface="+mn-ea"/>
              </a:rPr>
              <a:t>；如果二叉树是满二叉树，而且所有的叶子有同样的深度（如在同一层），那么这种二叉树称为</a:t>
            </a:r>
            <a:r>
              <a:rPr lang="zh-CN" altLang="en-US" dirty="0" smtClean="0">
                <a:solidFill>
                  <a:srgbClr val="FF0000"/>
                </a:solidFill>
                <a:latin typeface="+mn-ea"/>
                <a:ea typeface="+mn-ea"/>
              </a:rPr>
              <a:t>完全二叉树</a:t>
            </a:r>
            <a:r>
              <a:rPr lang="zh-CN" altLang="en-US" dirty="0" smtClean="0">
                <a:latin typeface="+mn-ea"/>
                <a:ea typeface="+mn-ea"/>
              </a:rPr>
              <a:t>。</a:t>
            </a:r>
            <a:endParaRPr lang="en-US" altLang="zh-CN" dirty="0" smtClean="0">
              <a:latin typeface="+mn-ea"/>
              <a:ea typeface="+mn-ea"/>
            </a:endParaRPr>
          </a:p>
          <a:p>
            <a:pPr eaLnBrk="1" hangingPunct="1">
              <a:defRPr/>
            </a:pPr>
            <a:r>
              <a:rPr lang="zh-CN" altLang="en-US" dirty="0" smtClean="0">
                <a:solidFill>
                  <a:srgbClr val="FF0000"/>
                </a:solidFill>
                <a:latin typeface="+mn-ea"/>
              </a:rPr>
              <a:t>几乎完全的</a:t>
            </a:r>
            <a:r>
              <a:rPr lang="en-US" altLang="zh-CN" dirty="0" smtClean="0">
                <a:solidFill>
                  <a:srgbClr val="FF0000"/>
                </a:solidFill>
                <a:latin typeface="+mn-ea"/>
              </a:rPr>
              <a:t>:</a:t>
            </a:r>
          </a:p>
          <a:p>
            <a:pPr lvl="1" eaLnBrk="1" hangingPunct="1">
              <a:defRPr/>
            </a:pPr>
            <a:r>
              <a:rPr lang="zh-CN" altLang="en-US" dirty="0" smtClean="0">
                <a:latin typeface="+mn-ea"/>
                <a:ea typeface="+mn-ea"/>
              </a:rPr>
              <a:t>如果一颗二叉树除了最右边位置上的一个或者几个叶子可能缺少外，它是丰满的，我们定义它为几乎完全的二叉树。</a:t>
            </a:r>
            <a:endParaRPr lang="en-US" altLang="zh-CN" dirty="0" smtClean="0">
              <a:latin typeface="+mn-ea"/>
              <a:ea typeface="+mn-ea"/>
            </a:endParaRPr>
          </a:p>
        </p:txBody>
      </p:sp>
      <p:pic>
        <p:nvPicPr>
          <p:cNvPr id="82949" name="Picture 8" descr="c:\users\ADMINI~1\appdata\roaming\360se6\USERDA~1\Temp\1248060.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0375" y="4429125"/>
            <a:ext cx="4860925" cy="185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48067428"/>
      </p:ext>
    </p:extLst>
  </p:cSld>
  <p:clrMapOvr>
    <a:masterClrMapping/>
  </p:clrMapOvr>
  <p:timing>
    <p:tnLst>
      <p:par>
        <p:cTn id="1" dur="indefinite" restart="never" nodeType="tmRoot"/>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83971" name="Rectangle 2"/>
          <p:cNvSpPr>
            <a:spLocks noGrp="1" noChangeArrowheads="1"/>
          </p:cNvSpPr>
          <p:nvPr>
            <p:ph type="title"/>
          </p:nvPr>
        </p:nvSpPr>
        <p:spPr/>
        <p:txBody>
          <a:bodyPr/>
          <a:lstStyle/>
          <a:p>
            <a:pPr eaLnBrk="1" hangingPunct="1"/>
            <a:r>
              <a:rPr lang="en-US" altLang="zh-CN" dirty="0">
                <a:solidFill>
                  <a:srgbClr val="333399"/>
                </a:solidFill>
              </a:rPr>
              <a:t>1.4.</a:t>
            </a:r>
            <a:r>
              <a:rPr lang="en-US" altLang="zh-CN" dirty="0" smtClean="0"/>
              <a:t>6 </a:t>
            </a:r>
            <a:r>
              <a:rPr lang="zh-CN" altLang="en-US" dirty="0" smtClean="0"/>
              <a:t>树、根树、</a:t>
            </a:r>
            <a:r>
              <a:rPr lang="zh-CN" altLang="en-US" b="1" u="sng" dirty="0" smtClean="0"/>
              <a:t>二叉树</a:t>
            </a:r>
            <a:endParaRPr lang="en-US" altLang="zh-CN" dirty="0" smtClean="0"/>
          </a:p>
        </p:txBody>
      </p:sp>
      <p:sp>
        <p:nvSpPr>
          <p:cNvPr id="110595" name="Rectangle 3"/>
          <p:cNvSpPr>
            <a:spLocks noGrp="1" noChangeArrowheads="1"/>
          </p:cNvSpPr>
          <p:nvPr>
            <p:ph type="body" idx="1"/>
          </p:nvPr>
        </p:nvSpPr>
        <p:spPr>
          <a:xfrm>
            <a:off x="920750" y="1268760"/>
            <a:ext cx="7786687" cy="4525962"/>
          </a:xfrm>
        </p:spPr>
        <p:txBody>
          <a:bodyPr/>
          <a:lstStyle/>
          <a:p>
            <a:pPr marL="0" indent="0" eaLnBrk="1" hangingPunct="1">
              <a:buNone/>
              <a:defRPr/>
            </a:pPr>
            <a:r>
              <a:rPr lang="zh-CN" altLang="en-US" sz="2800" b="1" dirty="0"/>
              <a:t>存储结构</a:t>
            </a:r>
            <a:r>
              <a:rPr lang="en-US" altLang="zh-CN" sz="2800" b="1" dirty="0"/>
              <a:t>:</a:t>
            </a:r>
          </a:p>
          <a:p>
            <a:pPr eaLnBrk="1" hangingPunct="1">
              <a:defRPr/>
            </a:pPr>
            <a:r>
              <a:rPr lang="zh-CN" altLang="en-US" dirty="0" smtClean="0"/>
              <a:t>一颗有</a:t>
            </a:r>
            <a:r>
              <a:rPr lang="en-US" altLang="zh-CN" dirty="0" smtClean="0"/>
              <a:t>n</a:t>
            </a:r>
            <a:r>
              <a:rPr lang="zh-CN" altLang="en-US" dirty="0" smtClean="0"/>
              <a:t>个顶点的完全（或几乎完全）的二叉树可以用数组</a:t>
            </a:r>
            <a:r>
              <a:rPr lang="en-US" altLang="zh-CN" i="1" dirty="0" smtClean="0"/>
              <a:t>A[1..n]</a:t>
            </a:r>
            <a:r>
              <a:rPr lang="en-US" altLang="zh-CN" dirty="0" smtClean="0"/>
              <a:t> </a:t>
            </a:r>
            <a:r>
              <a:rPr lang="zh-CN" altLang="en-US" dirty="0" smtClean="0"/>
              <a:t>来有效的表示，数组根据下面的简单关系列出二叉树的顶点：</a:t>
            </a:r>
            <a:endParaRPr lang="en-US" altLang="zh-CN" dirty="0" smtClean="0"/>
          </a:p>
          <a:p>
            <a:pPr lvl="1" eaLnBrk="1" hangingPunct="1">
              <a:defRPr/>
            </a:pPr>
            <a:endParaRPr lang="en-US" altLang="zh-CN" sz="2600" dirty="0" smtClean="0"/>
          </a:p>
          <a:p>
            <a:pPr lvl="1" eaLnBrk="1" hangingPunct="1">
              <a:defRPr/>
            </a:pPr>
            <a:r>
              <a:rPr lang="zh-CN" altLang="en-US" dirty="0" smtClean="0">
                <a:latin typeface="+mn-lt"/>
                <a:ea typeface="+mn-ea"/>
              </a:rPr>
              <a:t>如果存储在</a:t>
            </a:r>
            <a:r>
              <a:rPr lang="en-US" altLang="zh-CN" dirty="0" smtClean="0">
                <a:latin typeface="+mn-lt"/>
                <a:ea typeface="+mn-ea"/>
              </a:rPr>
              <a:t>A[j] </a:t>
            </a:r>
            <a:r>
              <a:rPr lang="zh-CN" altLang="en-US" dirty="0" smtClean="0">
                <a:latin typeface="+mn-lt"/>
                <a:ea typeface="+mn-ea"/>
              </a:rPr>
              <a:t>中的顶点有左儿子和右儿子，就把他们分别存储在</a:t>
            </a:r>
            <a:r>
              <a:rPr lang="en-US" altLang="zh-CN" dirty="0" smtClean="0">
                <a:latin typeface="+mn-lt"/>
                <a:ea typeface="+mn-ea"/>
              </a:rPr>
              <a:t>A[2j] </a:t>
            </a:r>
            <a:r>
              <a:rPr lang="zh-CN" altLang="en-US" dirty="0" smtClean="0">
                <a:latin typeface="+mn-lt"/>
                <a:ea typeface="+mn-ea"/>
              </a:rPr>
              <a:t>和</a:t>
            </a:r>
            <a:r>
              <a:rPr lang="en-US" altLang="zh-CN" dirty="0" smtClean="0">
                <a:latin typeface="+mn-lt"/>
                <a:ea typeface="+mn-ea"/>
              </a:rPr>
              <a:t> A[2j+1]</a:t>
            </a:r>
            <a:r>
              <a:rPr lang="zh-CN" altLang="en-US" dirty="0" smtClean="0">
                <a:latin typeface="+mn-lt"/>
                <a:ea typeface="+mn-ea"/>
              </a:rPr>
              <a:t>中。</a:t>
            </a:r>
            <a:endParaRPr lang="en-US" altLang="zh-CN" dirty="0" smtClean="0">
              <a:latin typeface="+mn-lt"/>
              <a:ea typeface="+mn-ea"/>
            </a:endParaRPr>
          </a:p>
          <a:p>
            <a:pPr lvl="1" eaLnBrk="1" hangingPunct="1">
              <a:defRPr/>
            </a:pPr>
            <a:endParaRPr lang="en-US" altLang="zh-CN" dirty="0" smtClean="0">
              <a:latin typeface="+mn-lt"/>
              <a:ea typeface="+mn-ea"/>
            </a:endParaRPr>
          </a:p>
          <a:p>
            <a:pPr lvl="1" eaLnBrk="1" hangingPunct="1">
              <a:defRPr/>
            </a:pPr>
            <a:r>
              <a:rPr lang="zh-CN" altLang="en-US" dirty="0" smtClean="0">
                <a:latin typeface="+mn-lt"/>
                <a:ea typeface="+mn-ea"/>
              </a:rPr>
              <a:t>存储在</a:t>
            </a:r>
            <a:r>
              <a:rPr lang="en-US" altLang="zh-CN" dirty="0" smtClean="0">
                <a:latin typeface="+mn-lt"/>
                <a:ea typeface="+mn-ea"/>
              </a:rPr>
              <a:t>A[j] </a:t>
            </a:r>
            <a:r>
              <a:rPr lang="zh-CN" altLang="en-US" dirty="0" smtClean="0">
                <a:latin typeface="+mn-lt"/>
                <a:ea typeface="+mn-ea"/>
              </a:rPr>
              <a:t>中的顶点的父顶点存储在</a:t>
            </a:r>
            <a:r>
              <a:rPr lang="en-US" altLang="zh-CN" dirty="0" smtClean="0">
                <a:latin typeface="+mn-lt"/>
                <a:ea typeface="+mn-ea"/>
              </a:rPr>
              <a:t>A[</a:t>
            </a:r>
            <a:r>
              <a:rPr lang="en-US" altLang="zh-CN" dirty="0" smtClean="0">
                <a:latin typeface="+mn-lt"/>
                <a:ea typeface="+mn-ea"/>
                <a:sym typeface="Symbol" pitchFamily="18" charset="2"/>
              </a:rPr>
              <a:t>j/2</a:t>
            </a:r>
            <a:r>
              <a:rPr lang="en-US" altLang="zh-CN" dirty="0" smtClean="0">
                <a:latin typeface="+mn-lt"/>
                <a:ea typeface="+mn-ea"/>
              </a:rPr>
              <a:t>]</a:t>
            </a:r>
            <a:r>
              <a:rPr lang="zh-CN" altLang="en-US" dirty="0" smtClean="0">
                <a:latin typeface="+mn-lt"/>
                <a:ea typeface="+mn-ea"/>
              </a:rPr>
              <a:t>中。</a:t>
            </a:r>
            <a:endParaRPr lang="en-US" altLang="zh-CN" dirty="0" smtClean="0">
              <a:latin typeface="+mn-lt"/>
              <a:ea typeface="+mn-ea"/>
            </a:endParaRPr>
          </a:p>
        </p:txBody>
      </p:sp>
    </p:spTree>
    <p:extLst>
      <p:ext uri="{BB962C8B-B14F-4D97-AF65-F5344CB8AC3E}">
        <p14:creationId xmlns:p14="http://schemas.microsoft.com/office/powerpoint/2010/main" val="166096040"/>
      </p:ext>
    </p:extLst>
  </p:cSld>
  <p:clrMapOvr>
    <a:masterClrMapping/>
  </p:clrMapOvr>
  <p:timing>
    <p:tnLst>
      <p:par>
        <p:cTn id="1" dur="indefinite" restart="never" nodeType="tmRoot"/>
      </p:par>
    </p:tn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noChangeArrowheads="1"/>
          </p:cNvSpPr>
          <p:nvPr>
            <p:ph type="title"/>
          </p:nvPr>
        </p:nvSpPr>
        <p:spPr>
          <a:xfrm>
            <a:off x="879475" y="1151038"/>
            <a:ext cx="4250605" cy="655215"/>
          </a:xfrm>
        </p:spPr>
        <p:txBody>
          <a:bodyPr/>
          <a:lstStyle/>
          <a:p>
            <a:pPr eaLnBrk="1" hangingPunct="1">
              <a:spcBef>
                <a:spcPct val="20000"/>
              </a:spcBef>
            </a:pPr>
            <a:r>
              <a:rPr lang="zh-CN" altLang="en-US" sz="2800" b="1" dirty="0">
                <a:latin typeface="+mn-lt"/>
                <a:ea typeface="+mn-ea"/>
                <a:cs typeface="+mn-cs"/>
              </a:rPr>
              <a:t>二叉树的顺序存储结构</a:t>
            </a:r>
            <a:r>
              <a:rPr lang="en-US" altLang="zh-CN" sz="2800" b="1" dirty="0">
                <a:latin typeface="+mn-lt"/>
                <a:ea typeface="+mn-ea"/>
                <a:cs typeface="+mn-cs"/>
              </a:rPr>
              <a:t>:</a:t>
            </a:r>
            <a:endParaRPr lang="zh-CN" altLang="en-US" sz="2800" b="1" dirty="0">
              <a:latin typeface="+mn-lt"/>
              <a:ea typeface="+mn-ea"/>
              <a:cs typeface="+mn-cs"/>
            </a:endParaRPr>
          </a:p>
        </p:txBody>
      </p:sp>
      <p:sp>
        <p:nvSpPr>
          <p:cNvPr id="21508" name="Rectangle 2"/>
          <p:cNvSpPr>
            <a:spLocks noGrp="1" noChangeArrowheads="1"/>
          </p:cNvSpPr>
          <p:nvPr>
            <p:ph type="body" sz="half" idx="1"/>
          </p:nvPr>
        </p:nvSpPr>
        <p:spPr>
          <a:xfrm>
            <a:off x="879475" y="1626408"/>
            <a:ext cx="8027988" cy="3242751"/>
          </a:xfrm>
        </p:spPr>
        <p:txBody>
          <a:bodyPr/>
          <a:lstStyle/>
          <a:p>
            <a:pPr>
              <a:lnSpc>
                <a:spcPct val="110000"/>
              </a:lnSpc>
              <a:buClr>
                <a:srgbClr val="0070C0"/>
              </a:buClr>
              <a:buSzPct val="50000"/>
            </a:pPr>
            <a:r>
              <a:rPr lang="zh-CN" altLang="en-US" sz="2200" dirty="0" smtClean="0"/>
              <a:t>二叉树的顺序存储结构用一组连续的存储单元存储二叉树的数据元素。因此，必须把二叉树的所有结点安排成为一个恰当的序列，以使得结点在这个序列中的相互位置能反映出结点之间的逻辑关系，为此使用编号法。即从树根起，自上层至下层，每层自左至右的给所有结点编号。</a:t>
            </a:r>
          </a:p>
          <a:p>
            <a:pPr>
              <a:lnSpc>
                <a:spcPct val="110000"/>
              </a:lnSpc>
              <a:buClr>
                <a:srgbClr val="800080"/>
              </a:buClr>
              <a:buSzPct val="55000"/>
            </a:pPr>
            <a:r>
              <a:rPr lang="en-US" altLang="zh-CN" sz="2000" dirty="0"/>
              <a:t>#define </a:t>
            </a:r>
            <a:r>
              <a:rPr lang="en-US" altLang="zh-CN" sz="2000" dirty="0" err="1"/>
              <a:t>MAX_TREE_SIZE</a:t>
            </a:r>
            <a:r>
              <a:rPr lang="en-US" altLang="zh-CN" sz="2000" dirty="0"/>
              <a:t> </a:t>
            </a:r>
            <a:r>
              <a:rPr lang="en-US" altLang="zh-CN" sz="2000" dirty="0" smtClean="0"/>
              <a:t>100</a:t>
            </a:r>
          </a:p>
          <a:p>
            <a:pPr marL="0" indent="0">
              <a:lnSpc>
                <a:spcPct val="110000"/>
              </a:lnSpc>
              <a:buClr>
                <a:srgbClr val="800080"/>
              </a:buClr>
              <a:buSzPct val="55000"/>
              <a:buNone/>
            </a:pPr>
            <a:r>
              <a:rPr lang="en-US" altLang="zh-CN" sz="2000" dirty="0"/>
              <a:t> </a:t>
            </a:r>
            <a:r>
              <a:rPr lang="en-US" altLang="zh-CN" sz="2000" dirty="0" smtClean="0"/>
              <a:t>    </a:t>
            </a:r>
            <a:r>
              <a:rPr lang="en-US" altLang="zh-CN" sz="2000" dirty="0" err="1" smtClean="0"/>
              <a:t>typedef</a:t>
            </a:r>
            <a:r>
              <a:rPr lang="en-US" altLang="zh-CN" sz="2000" dirty="0" smtClean="0"/>
              <a:t> </a:t>
            </a:r>
            <a:r>
              <a:rPr lang="en-US" altLang="zh-CN" sz="2000" dirty="0" err="1"/>
              <a:t>TElemType</a:t>
            </a:r>
            <a:r>
              <a:rPr lang="en-US" altLang="zh-CN" sz="2000" dirty="0"/>
              <a:t> </a:t>
            </a:r>
            <a:r>
              <a:rPr lang="en-US" altLang="zh-CN" sz="2000" dirty="0" err="1"/>
              <a:t>SqBiTree</a:t>
            </a:r>
            <a:r>
              <a:rPr lang="en-US" altLang="zh-CN" sz="2000" dirty="0"/>
              <a:t>[</a:t>
            </a:r>
            <a:r>
              <a:rPr lang="en-US" altLang="zh-CN" sz="2000" dirty="0" err="1"/>
              <a:t>MAX_TREE_SIZE</a:t>
            </a:r>
            <a:r>
              <a:rPr lang="en-US" altLang="zh-CN" sz="2000" dirty="0" smtClean="0"/>
              <a:t>];</a:t>
            </a:r>
          </a:p>
          <a:p>
            <a:pPr marL="0" indent="0">
              <a:lnSpc>
                <a:spcPct val="110000"/>
              </a:lnSpc>
              <a:buClr>
                <a:srgbClr val="800080"/>
              </a:buClr>
              <a:buSzPct val="55000"/>
              <a:buNone/>
            </a:pPr>
            <a:r>
              <a:rPr lang="en-US" altLang="zh-CN" sz="2000" dirty="0" smtClean="0"/>
              <a:t>     </a:t>
            </a:r>
            <a:r>
              <a:rPr lang="en-US" altLang="zh-CN" sz="2000" dirty="0" err="1" smtClean="0"/>
              <a:t>SqBiTree</a:t>
            </a:r>
            <a:r>
              <a:rPr lang="en-US" altLang="zh-CN" sz="2000" dirty="0" smtClean="0"/>
              <a:t> </a:t>
            </a:r>
            <a:r>
              <a:rPr lang="en-US" altLang="zh-CN" sz="2000" dirty="0" err="1"/>
              <a:t>bt</a:t>
            </a:r>
            <a:r>
              <a:rPr lang="en-US" altLang="zh-CN" sz="2000" dirty="0" smtClean="0"/>
              <a:t>;</a:t>
            </a:r>
            <a:endParaRPr lang="en-US" altLang="zh-CN" sz="2000" dirty="0"/>
          </a:p>
        </p:txBody>
      </p:sp>
      <p:graphicFrame>
        <p:nvGraphicFramePr>
          <p:cNvPr id="12295" name="Object 2"/>
          <p:cNvGraphicFramePr>
            <a:graphicFrameLocks noGrp="1" noChangeAspect="1"/>
          </p:cNvGraphicFramePr>
          <p:nvPr>
            <p:ph sz="quarter" idx="2"/>
          </p:nvPr>
        </p:nvGraphicFramePr>
        <p:xfrm>
          <a:off x="863104" y="4786965"/>
          <a:ext cx="3168352" cy="1942885"/>
        </p:xfrm>
        <a:graphic>
          <a:graphicData uri="http://schemas.openxmlformats.org/presentationml/2006/ole">
            <mc:AlternateContent xmlns:mc="http://schemas.openxmlformats.org/markup-compatibility/2006">
              <mc:Choice xmlns:v="urn:schemas-microsoft-com:vml" Requires="v">
                <p:oleObj spid="_x0000_s43018" name="位图图像" r:id="rId3" imgW="2486372" imgH="1523810" progId="PBrush">
                  <p:embed/>
                </p:oleObj>
              </mc:Choice>
              <mc:Fallback>
                <p:oleObj name="位图图像" r:id="rId3" imgW="2486372" imgH="1523810" progId="PBrush">
                  <p:embed/>
                  <p:pic>
                    <p:nvPicPr>
                      <p:cNvPr id="12295"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3104" y="4786965"/>
                        <a:ext cx="3168352" cy="1942885"/>
                      </a:xfrm>
                      <a:prstGeom prst="rect">
                        <a:avLst/>
                      </a:prstGeom>
                      <a:noFill/>
                      <a:ln>
                        <a:noFill/>
                      </a:ln>
                      <a:effectLst/>
                    </p:spPr>
                  </p:pic>
                </p:oleObj>
              </mc:Fallback>
            </mc:AlternateContent>
          </a:graphicData>
        </a:graphic>
      </p:graphicFrame>
      <p:graphicFrame>
        <p:nvGraphicFramePr>
          <p:cNvPr id="12336" name="Group 48"/>
          <p:cNvGraphicFramePr>
            <a:graphicFrameLocks noGrp="1"/>
          </p:cNvGraphicFramePr>
          <p:nvPr>
            <p:ph sz="quarter" idx="3"/>
          </p:nvPr>
        </p:nvGraphicFramePr>
        <p:xfrm>
          <a:off x="4479752" y="5301208"/>
          <a:ext cx="4038600" cy="457200"/>
        </p:xfrm>
        <a:graphic>
          <a:graphicData uri="http://schemas.openxmlformats.org/drawingml/2006/table">
            <a:tbl>
              <a:tblPr/>
              <a:tblGrid>
                <a:gridCol w="269875">
                  <a:extLst>
                    <a:ext uri="{9D8B030D-6E8A-4147-A177-3AD203B41FA5}">
                      <a16:colId xmlns:a16="http://schemas.microsoft.com/office/drawing/2014/main" val="3800617828"/>
                    </a:ext>
                  </a:extLst>
                </a:gridCol>
                <a:gridCol w="268287">
                  <a:extLst>
                    <a:ext uri="{9D8B030D-6E8A-4147-A177-3AD203B41FA5}">
                      <a16:colId xmlns:a16="http://schemas.microsoft.com/office/drawing/2014/main" val="1302638012"/>
                    </a:ext>
                  </a:extLst>
                </a:gridCol>
                <a:gridCol w="269875">
                  <a:extLst>
                    <a:ext uri="{9D8B030D-6E8A-4147-A177-3AD203B41FA5}">
                      <a16:colId xmlns:a16="http://schemas.microsoft.com/office/drawing/2014/main" val="2416849565"/>
                    </a:ext>
                  </a:extLst>
                </a:gridCol>
                <a:gridCol w="268288">
                  <a:extLst>
                    <a:ext uri="{9D8B030D-6E8A-4147-A177-3AD203B41FA5}">
                      <a16:colId xmlns:a16="http://schemas.microsoft.com/office/drawing/2014/main" val="2742819279"/>
                    </a:ext>
                  </a:extLst>
                </a:gridCol>
                <a:gridCol w="269875">
                  <a:extLst>
                    <a:ext uri="{9D8B030D-6E8A-4147-A177-3AD203B41FA5}">
                      <a16:colId xmlns:a16="http://schemas.microsoft.com/office/drawing/2014/main" val="2241004046"/>
                    </a:ext>
                  </a:extLst>
                </a:gridCol>
                <a:gridCol w="269875">
                  <a:extLst>
                    <a:ext uri="{9D8B030D-6E8A-4147-A177-3AD203B41FA5}">
                      <a16:colId xmlns:a16="http://schemas.microsoft.com/office/drawing/2014/main" val="902327727"/>
                    </a:ext>
                  </a:extLst>
                </a:gridCol>
                <a:gridCol w="268287">
                  <a:extLst>
                    <a:ext uri="{9D8B030D-6E8A-4147-A177-3AD203B41FA5}">
                      <a16:colId xmlns:a16="http://schemas.microsoft.com/office/drawing/2014/main" val="1591011327"/>
                    </a:ext>
                  </a:extLst>
                </a:gridCol>
                <a:gridCol w="269875">
                  <a:extLst>
                    <a:ext uri="{9D8B030D-6E8A-4147-A177-3AD203B41FA5}">
                      <a16:colId xmlns:a16="http://schemas.microsoft.com/office/drawing/2014/main" val="1904230700"/>
                    </a:ext>
                  </a:extLst>
                </a:gridCol>
                <a:gridCol w="268288">
                  <a:extLst>
                    <a:ext uri="{9D8B030D-6E8A-4147-A177-3AD203B41FA5}">
                      <a16:colId xmlns:a16="http://schemas.microsoft.com/office/drawing/2014/main" val="2540884045"/>
                    </a:ext>
                  </a:extLst>
                </a:gridCol>
                <a:gridCol w="269875">
                  <a:extLst>
                    <a:ext uri="{9D8B030D-6E8A-4147-A177-3AD203B41FA5}">
                      <a16:colId xmlns:a16="http://schemas.microsoft.com/office/drawing/2014/main" val="670440972"/>
                    </a:ext>
                  </a:extLst>
                </a:gridCol>
                <a:gridCol w="269875">
                  <a:extLst>
                    <a:ext uri="{9D8B030D-6E8A-4147-A177-3AD203B41FA5}">
                      <a16:colId xmlns:a16="http://schemas.microsoft.com/office/drawing/2014/main" val="3604313470"/>
                    </a:ext>
                  </a:extLst>
                </a:gridCol>
                <a:gridCol w="268287">
                  <a:extLst>
                    <a:ext uri="{9D8B030D-6E8A-4147-A177-3AD203B41FA5}">
                      <a16:colId xmlns:a16="http://schemas.microsoft.com/office/drawing/2014/main" val="3863706847"/>
                    </a:ext>
                  </a:extLst>
                </a:gridCol>
                <a:gridCol w="269875">
                  <a:extLst>
                    <a:ext uri="{9D8B030D-6E8A-4147-A177-3AD203B41FA5}">
                      <a16:colId xmlns:a16="http://schemas.microsoft.com/office/drawing/2014/main" val="4234210425"/>
                    </a:ext>
                  </a:extLst>
                </a:gridCol>
                <a:gridCol w="268288">
                  <a:extLst>
                    <a:ext uri="{9D8B030D-6E8A-4147-A177-3AD203B41FA5}">
                      <a16:colId xmlns:a16="http://schemas.microsoft.com/office/drawing/2014/main" val="3245517239"/>
                    </a:ext>
                  </a:extLst>
                </a:gridCol>
                <a:gridCol w="269875">
                  <a:extLst>
                    <a:ext uri="{9D8B030D-6E8A-4147-A177-3AD203B41FA5}">
                      <a16:colId xmlns:a16="http://schemas.microsoft.com/office/drawing/2014/main" val="2253202490"/>
                    </a:ext>
                  </a:extLst>
                </a:gridCol>
              </a:tblGrid>
              <a:tr h="234950">
                <a:tc>
                  <a:txBody>
                    <a:bodyPr/>
                    <a:lstStyle>
                      <a:lvl1pPr eaLnBrk="0" hangingPunct="0">
                        <a:spcBef>
                          <a:spcPct val="20000"/>
                        </a:spcBef>
                        <a:defRPr sz="21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4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1</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sz="21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sz="21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sz="21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sz="21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5</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sz="21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sz="21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sz="21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sz="21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sz="21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6</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sz="21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7</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sz="21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sz="21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sz="21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sz="21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4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539359310"/>
                  </a:ext>
                </a:extLst>
              </a:tr>
            </a:tbl>
          </a:graphicData>
        </a:graphic>
      </p:graphicFrame>
      <p:sp>
        <p:nvSpPr>
          <p:cNvPr id="21543" name="AutoShape 50">
            <a:hlinkClick r:id="rId5" action="ppaction://hlinksldjump" highlightClick="1"/>
          </p:cNvPr>
          <p:cNvSpPr>
            <a:spLocks noChangeArrowheads="1"/>
          </p:cNvSpPr>
          <p:nvPr/>
        </p:nvSpPr>
        <p:spPr bwMode="auto">
          <a:xfrm>
            <a:off x="8335070" y="404367"/>
            <a:ext cx="533400" cy="260350"/>
          </a:xfrm>
          <a:prstGeom prst="actionButtonForwardNex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1544" name="页脚占位符 3"/>
          <p:cNvSpPr>
            <a:spLocks noGrp="1"/>
          </p:cNvSpPr>
          <p:nvPr>
            <p:ph type="ftr" sz="quarter" idx="10"/>
          </p:nvPr>
        </p:nvSpPr>
        <p:spPr>
          <a:xfrm>
            <a:off x="3492500" y="6381750"/>
            <a:ext cx="3816350" cy="431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10" name="Rectangle 2"/>
          <p:cNvSpPr txBox="1">
            <a:spLocks noChangeArrowheads="1"/>
          </p:cNvSpPr>
          <p:nvPr/>
        </p:nvSpPr>
        <p:spPr bwMode="auto">
          <a:xfrm>
            <a:off x="879475" y="269875"/>
            <a:ext cx="7869238" cy="92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a:solidFill>
                  <a:schemeClr val="accent2"/>
                </a:solidFill>
                <a:latin typeface="+mj-lt"/>
                <a:ea typeface="+mj-ea"/>
                <a:cs typeface="+mj-cs"/>
              </a:defRPr>
            </a:lvl1pPr>
            <a:lvl2pPr algn="l" rtl="0" eaLnBrk="0" fontAlgn="base" hangingPunct="0">
              <a:spcBef>
                <a:spcPct val="0"/>
              </a:spcBef>
              <a:spcAft>
                <a:spcPct val="0"/>
              </a:spcAft>
              <a:defRPr sz="3200">
                <a:solidFill>
                  <a:schemeClr val="accent2"/>
                </a:solidFill>
                <a:latin typeface="Garamond" pitchFamily="18" charset="0"/>
                <a:ea typeface="宋体" pitchFamily="2" charset="-122"/>
              </a:defRPr>
            </a:lvl2pPr>
            <a:lvl3pPr algn="l" rtl="0" eaLnBrk="0" fontAlgn="base" hangingPunct="0">
              <a:spcBef>
                <a:spcPct val="0"/>
              </a:spcBef>
              <a:spcAft>
                <a:spcPct val="0"/>
              </a:spcAft>
              <a:defRPr sz="3200">
                <a:solidFill>
                  <a:schemeClr val="accent2"/>
                </a:solidFill>
                <a:latin typeface="Garamond" pitchFamily="18" charset="0"/>
                <a:ea typeface="宋体" pitchFamily="2" charset="-122"/>
              </a:defRPr>
            </a:lvl3pPr>
            <a:lvl4pPr algn="l" rtl="0" eaLnBrk="0" fontAlgn="base" hangingPunct="0">
              <a:spcBef>
                <a:spcPct val="0"/>
              </a:spcBef>
              <a:spcAft>
                <a:spcPct val="0"/>
              </a:spcAft>
              <a:defRPr sz="3200">
                <a:solidFill>
                  <a:schemeClr val="accent2"/>
                </a:solidFill>
                <a:latin typeface="Garamond" pitchFamily="18" charset="0"/>
                <a:ea typeface="宋体" pitchFamily="2" charset="-122"/>
              </a:defRPr>
            </a:lvl4pPr>
            <a:lvl5pPr algn="l" rtl="0" eaLnBrk="0" fontAlgn="base" hangingPunct="0">
              <a:spcBef>
                <a:spcPct val="0"/>
              </a:spcBef>
              <a:spcAft>
                <a:spcPct val="0"/>
              </a:spcAft>
              <a:defRPr sz="3200">
                <a:solidFill>
                  <a:schemeClr val="accent2"/>
                </a:solidFill>
                <a:latin typeface="Garamond" pitchFamily="18" charset="0"/>
                <a:ea typeface="宋体" pitchFamily="2" charset="-122"/>
              </a:defRPr>
            </a:lvl5pPr>
            <a:lvl6pPr marL="457200" algn="l" rtl="0" fontAlgn="base">
              <a:spcBef>
                <a:spcPct val="0"/>
              </a:spcBef>
              <a:spcAft>
                <a:spcPct val="0"/>
              </a:spcAft>
              <a:defRPr sz="3200">
                <a:solidFill>
                  <a:schemeClr val="accent2"/>
                </a:solidFill>
                <a:latin typeface="Garamond" pitchFamily="18" charset="0"/>
                <a:ea typeface="宋体" pitchFamily="2" charset="-122"/>
              </a:defRPr>
            </a:lvl6pPr>
            <a:lvl7pPr marL="914400" algn="l" rtl="0" fontAlgn="base">
              <a:spcBef>
                <a:spcPct val="0"/>
              </a:spcBef>
              <a:spcAft>
                <a:spcPct val="0"/>
              </a:spcAft>
              <a:defRPr sz="3200">
                <a:solidFill>
                  <a:schemeClr val="accent2"/>
                </a:solidFill>
                <a:latin typeface="Garamond" pitchFamily="18" charset="0"/>
                <a:ea typeface="宋体" pitchFamily="2" charset="-122"/>
              </a:defRPr>
            </a:lvl7pPr>
            <a:lvl8pPr marL="1371600" algn="l" rtl="0" fontAlgn="base">
              <a:spcBef>
                <a:spcPct val="0"/>
              </a:spcBef>
              <a:spcAft>
                <a:spcPct val="0"/>
              </a:spcAft>
              <a:defRPr sz="3200">
                <a:solidFill>
                  <a:schemeClr val="accent2"/>
                </a:solidFill>
                <a:latin typeface="Garamond" pitchFamily="18" charset="0"/>
                <a:ea typeface="宋体" pitchFamily="2" charset="-122"/>
              </a:defRPr>
            </a:lvl8pPr>
            <a:lvl9pPr marL="1828800" algn="l" rtl="0" fontAlgn="base">
              <a:spcBef>
                <a:spcPct val="0"/>
              </a:spcBef>
              <a:spcAft>
                <a:spcPct val="0"/>
              </a:spcAft>
              <a:defRPr sz="3200">
                <a:solidFill>
                  <a:schemeClr val="accent2"/>
                </a:solidFill>
                <a:latin typeface="Garamond" pitchFamily="18" charset="0"/>
                <a:ea typeface="宋体" pitchFamily="2" charset="-122"/>
              </a:defRPr>
            </a:lvl9pPr>
          </a:lstStyle>
          <a:p>
            <a:pPr eaLnBrk="1" hangingPunct="1"/>
            <a:r>
              <a:rPr lang="en-US" altLang="zh-CN" kern="0" dirty="0" smtClean="0">
                <a:solidFill>
                  <a:srgbClr val="333399"/>
                </a:solidFill>
              </a:rPr>
              <a:t>1.4.</a:t>
            </a:r>
            <a:r>
              <a:rPr lang="en-US" altLang="zh-CN" kern="0" dirty="0" smtClean="0"/>
              <a:t>6 </a:t>
            </a:r>
            <a:r>
              <a:rPr lang="zh-CN" altLang="en-US" kern="0" dirty="0" smtClean="0"/>
              <a:t>树、根树、</a:t>
            </a:r>
            <a:r>
              <a:rPr lang="zh-CN" altLang="en-US" b="1" u="sng" kern="0" dirty="0" smtClean="0"/>
              <a:t>二叉树</a:t>
            </a:r>
            <a:endParaRPr lang="en-US" altLang="zh-CN" kern="0" dirty="0" smtClean="0"/>
          </a:p>
        </p:txBody>
      </p:sp>
    </p:spTree>
    <p:extLst>
      <p:ext uri="{BB962C8B-B14F-4D97-AF65-F5344CB8AC3E}">
        <p14:creationId xmlns:p14="http://schemas.microsoft.com/office/powerpoint/2010/main" val="30775395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2295"/>
                                        </p:tgtEl>
                                        <p:attrNameLst>
                                          <p:attrName>style.visibility</p:attrName>
                                        </p:attrNameLst>
                                      </p:cBhvr>
                                      <p:to>
                                        <p:strVal val="visible"/>
                                      </p:to>
                                    </p:set>
                                    <p:anim calcmode="lin" valueType="num">
                                      <p:cBhvr additive="base">
                                        <p:cTn id="7" dur="500" fill="hold"/>
                                        <p:tgtEl>
                                          <p:spTgt spid="12295"/>
                                        </p:tgtEl>
                                        <p:attrNameLst>
                                          <p:attrName>ppt_x</p:attrName>
                                        </p:attrNameLst>
                                      </p:cBhvr>
                                      <p:tavLst>
                                        <p:tav tm="0">
                                          <p:val>
                                            <p:strVal val="#ppt_x"/>
                                          </p:val>
                                        </p:tav>
                                        <p:tav tm="100000">
                                          <p:val>
                                            <p:strVal val="#ppt_x"/>
                                          </p:val>
                                        </p:tav>
                                      </p:tavLst>
                                    </p:anim>
                                    <p:anim calcmode="lin" valueType="num">
                                      <p:cBhvr additive="base">
                                        <p:cTn id="8" dur="500" fill="hold"/>
                                        <p:tgtEl>
                                          <p:spTgt spid="1229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2336"/>
                                        </p:tgtEl>
                                        <p:attrNameLst>
                                          <p:attrName>style.visibility</p:attrName>
                                        </p:attrNameLst>
                                      </p:cBhvr>
                                      <p:to>
                                        <p:strVal val="visible"/>
                                      </p:to>
                                    </p:set>
                                    <p:anim calcmode="lin" valueType="num">
                                      <p:cBhvr additive="base">
                                        <p:cTn id="13" dur="500" fill="hold"/>
                                        <p:tgtEl>
                                          <p:spTgt spid="12336"/>
                                        </p:tgtEl>
                                        <p:attrNameLst>
                                          <p:attrName>ppt_x</p:attrName>
                                        </p:attrNameLst>
                                      </p:cBhvr>
                                      <p:tavLst>
                                        <p:tav tm="0">
                                          <p:val>
                                            <p:strVal val="#ppt_x"/>
                                          </p:val>
                                        </p:tav>
                                        <p:tav tm="100000">
                                          <p:val>
                                            <p:strVal val="#ppt_x"/>
                                          </p:val>
                                        </p:tav>
                                      </p:tavLst>
                                    </p:anim>
                                    <p:anim calcmode="lin" valueType="num">
                                      <p:cBhvr additive="base">
                                        <p:cTn id="14" dur="500" fill="hold"/>
                                        <p:tgtEl>
                                          <p:spTgt spid="123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2"/>
          <p:cNvSpPr>
            <a:spLocks noGrp="1" noChangeArrowheads="1"/>
          </p:cNvSpPr>
          <p:nvPr>
            <p:ph type="title"/>
          </p:nvPr>
        </p:nvSpPr>
        <p:spPr>
          <a:xfrm>
            <a:off x="857250" y="457200"/>
            <a:ext cx="7829550" cy="642938"/>
          </a:xfrm>
        </p:spPr>
        <p:txBody>
          <a:bodyPr/>
          <a:lstStyle/>
          <a:p>
            <a:pPr eaLnBrk="1" hangingPunct="1"/>
            <a:r>
              <a:rPr lang="en-US" altLang="zh-CN" dirty="0">
                <a:solidFill>
                  <a:srgbClr val="333399"/>
                </a:solidFill>
              </a:rPr>
              <a:t>1.4.</a:t>
            </a:r>
            <a:r>
              <a:rPr lang="en-US" altLang="zh-CN" kern="0" dirty="0" smtClean="0"/>
              <a:t>6 </a:t>
            </a:r>
            <a:r>
              <a:rPr lang="zh-CN" altLang="en-US" kern="0" dirty="0" smtClean="0"/>
              <a:t>树、根树、</a:t>
            </a:r>
            <a:r>
              <a:rPr lang="zh-CN" altLang="en-US" b="1" u="sng" kern="0" dirty="0" smtClean="0"/>
              <a:t>二叉树</a:t>
            </a:r>
            <a:endParaRPr lang="en-US" altLang="zh-CN" kern="0" dirty="0" smtClean="0"/>
          </a:p>
        </p:txBody>
      </p:sp>
      <p:sp>
        <p:nvSpPr>
          <p:cNvPr id="22533" name="Rectangle 3"/>
          <p:cNvSpPr>
            <a:spLocks noGrp="1" noChangeArrowheads="1"/>
          </p:cNvSpPr>
          <p:nvPr>
            <p:ph type="body" sz="half" idx="1"/>
          </p:nvPr>
        </p:nvSpPr>
        <p:spPr>
          <a:xfrm>
            <a:off x="857250" y="1712119"/>
            <a:ext cx="7177088" cy="4787900"/>
          </a:xfrm>
        </p:spPr>
        <p:txBody>
          <a:bodyPr/>
          <a:lstStyle/>
          <a:p>
            <a:pPr>
              <a:lnSpc>
                <a:spcPct val="110000"/>
              </a:lnSpc>
              <a:buClr>
                <a:srgbClr val="800080"/>
              </a:buClr>
              <a:buSzPct val="55000"/>
            </a:pPr>
            <a:r>
              <a:rPr lang="zh-CN" altLang="en-US" sz="2000" dirty="0" smtClean="0"/>
              <a:t>由二叉树的定义可知，二叉树的结点由一个数据元素和分别指向其左、右子树的两个分支构成，则表示二叉树的链表结点中至少包含三个域：数据域、左指针域及右指针域。</a:t>
            </a:r>
          </a:p>
          <a:p>
            <a:endParaRPr lang="zh-CN" altLang="en-US" sz="2000" b="1" dirty="0" smtClean="0">
              <a:latin typeface="仿宋_GB2312" pitchFamily="49" charset="-122"/>
              <a:ea typeface="仿宋_GB2312" pitchFamily="49" charset="-122"/>
            </a:endParaRPr>
          </a:p>
          <a:p>
            <a:pPr marL="0" indent="0">
              <a:buNone/>
            </a:pPr>
            <a:endParaRPr lang="zh-CN" altLang="en-US" sz="2000" b="1" dirty="0" smtClean="0">
              <a:latin typeface="仿宋_GB2312" pitchFamily="49" charset="-122"/>
              <a:ea typeface="仿宋_GB2312" pitchFamily="49" charset="-122"/>
            </a:endParaRPr>
          </a:p>
          <a:p>
            <a:pPr>
              <a:lnSpc>
                <a:spcPct val="110000"/>
              </a:lnSpc>
              <a:buClr>
                <a:srgbClr val="800080"/>
              </a:buClr>
              <a:buSzPct val="55000"/>
            </a:pPr>
            <a:r>
              <a:rPr lang="en-US" altLang="zh-CN" sz="2000" dirty="0" err="1" smtClean="0"/>
              <a:t>typedef</a:t>
            </a:r>
            <a:r>
              <a:rPr lang="en-US" altLang="zh-CN" sz="2000" dirty="0" smtClean="0"/>
              <a:t> </a:t>
            </a:r>
            <a:r>
              <a:rPr lang="en-US" altLang="zh-CN" sz="2000" dirty="0" err="1" smtClean="0"/>
              <a:t>struct</a:t>
            </a:r>
            <a:r>
              <a:rPr lang="en-US" altLang="zh-CN" sz="2000" dirty="0" smtClean="0"/>
              <a:t> </a:t>
            </a:r>
            <a:r>
              <a:rPr lang="en-US" altLang="zh-CN" sz="2000" dirty="0" err="1" smtClean="0"/>
              <a:t>BiTNode</a:t>
            </a:r>
            <a:r>
              <a:rPr lang="en-US" altLang="zh-CN" sz="2000" dirty="0" smtClean="0"/>
              <a:t>{</a:t>
            </a:r>
          </a:p>
          <a:p>
            <a:pPr>
              <a:lnSpc>
                <a:spcPct val="110000"/>
              </a:lnSpc>
              <a:buClr>
                <a:srgbClr val="800080"/>
              </a:buClr>
              <a:buSzPct val="55000"/>
              <a:buFont typeface="Wingdings" panose="05000000000000000000" pitchFamily="2" charset="2"/>
              <a:buChar char="•"/>
            </a:pPr>
            <a:r>
              <a:rPr lang="en-US" altLang="zh-CN" sz="2000" dirty="0" smtClean="0"/>
              <a:t>	</a:t>
            </a:r>
            <a:r>
              <a:rPr lang="en-US" altLang="zh-CN" sz="2000" dirty="0" err="1" smtClean="0"/>
              <a:t>TElemType</a:t>
            </a:r>
            <a:r>
              <a:rPr lang="en-US" altLang="zh-CN" sz="2000" dirty="0" smtClean="0"/>
              <a:t> data;</a:t>
            </a:r>
          </a:p>
          <a:p>
            <a:pPr>
              <a:lnSpc>
                <a:spcPct val="110000"/>
              </a:lnSpc>
              <a:buClr>
                <a:srgbClr val="800080"/>
              </a:buClr>
              <a:buSzPct val="55000"/>
              <a:buFont typeface="Wingdings" panose="05000000000000000000" pitchFamily="2" charset="2"/>
              <a:buChar char="•"/>
            </a:pPr>
            <a:r>
              <a:rPr lang="en-US" altLang="zh-CN" sz="2000" dirty="0" smtClean="0"/>
              <a:t>	</a:t>
            </a:r>
            <a:r>
              <a:rPr lang="en-US" altLang="zh-CN" sz="2000" dirty="0" err="1" smtClean="0"/>
              <a:t>struct</a:t>
            </a:r>
            <a:r>
              <a:rPr lang="en-US" altLang="zh-CN" sz="2000" dirty="0" smtClean="0"/>
              <a:t> </a:t>
            </a:r>
            <a:r>
              <a:rPr lang="en-US" altLang="zh-CN" sz="2000" dirty="0" err="1" smtClean="0"/>
              <a:t>BiTNode</a:t>
            </a:r>
            <a:r>
              <a:rPr lang="en-US" altLang="zh-CN" sz="2000" dirty="0" smtClean="0"/>
              <a:t> *</a:t>
            </a:r>
            <a:r>
              <a:rPr lang="en-US" altLang="zh-CN" sz="2000" dirty="0" err="1" smtClean="0"/>
              <a:t>lchild</a:t>
            </a:r>
            <a:r>
              <a:rPr lang="en-US" altLang="zh-CN" sz="2000" dirty="0" smtClean="0"/>
              <a:t>,*</a:t>
            </a:r>
            <a:r>
              <a:rPr lang="en-US" altLang="zh-CN" sz="2000" dirty="0" err="1" smtClean="0"/>
              <a:t>rchild</a:t>
            </a:r>
            <a:r>
              <a:rPr lang="en-US" altLang="zh-CN" sz="2000" dirty="0" smtClean="0"/>
              <a:t>;</a:t>
            </a:r>
          </a:p>
          <a:p>
            <a:pPr>
              <a:lnSpc>
                <a:spcPct val="110000"/>
              </a:lnSpc>
              <a:buClr>
                <a:srgbClr val="800080"/>
              </a:buClr>
              <a:buSzPct val="55000"/>
              <a:buFont typeface="Wingdings" panose="05000000000000000000" pitchFamily="2" charset="2"/>
              <a:buChar char="•"/>
            </a:pPr>
            <a:r>
              <a:rPr lang="en-US" altLang="zh-CN" sz="2000" dirty="0" smtClean="0"/>
              <a:t>	}</a:t>
            </a:r>
            <a:r>
              <a:rPr lang="en-US" altLang="zh-CN" sz="2000" dirty="0" err="1" smtClean="0"/>
              <a:t>BiTNode</a:t>
            </a:r>
            <a:r>
              <a:rPr lang="en-US" altLang="zh-CN" sz="2000" dirty="0" smtClean="0"/>
              <a:t>,*</a:t>
            </a:r>
            <a:r>
              <a:rPr lang="en-US" altLang="zh-CN" sz="2000" dirty="0" err="1" smtClean="0"/>
              <a:t>BiTree</a:t>
            </a:r>
            <a:r>
              <a:rPr lang="en-US" altLang="zh-CN" sz="2000" dirty="0" smtClean="0"/>
              <a:t>;</a:t>
            </a:r>
          </a:p>
          <a:p>
            <a:pPr>
              <a:lnSpc>
                <a:spcPct val="110000"/>
              </a:lnSpc>
              <a:buClr>
                <a:srgbClr val="800080"/>
              </a:buClr>
              <a:buSzPct val="55000"/>
              <a:buFont typeface="Wingdings" panose="05000000000000000000" pitchFamily="2" charset="2"/>
              <a:buChar char="•"/>
            </a:pPr>
            <a:endParaRPr lang="en-US" altLang="zh-CN" sz="2000" dirty="0" smtClean="0"/>
          </a:p>
        </p:txBody>
      </p:sp>
      <p:graphicFrame>
        <p:nvGraphicFramePr>
          <p:cNvPr id="22530" name="Object 2"/>
          <p:cNvGraphicFramePr>
            <a:graphicFrameLocks noChangeAspect="1"/>
          </p:cNvGraphicFramePr>
          <p:nvPr/>
        </p:nvGraphicFramePr>
        <p:xfrm>
          <a:off x="1043607" y="2913883"/>
          <a:ext cx="4968553" cy="461121"/>
        </p:xfrm>
        <a:graphic>
          <a:graphicData uri="http://schemas.openxmlformats.org/presentationml/2006/ole">
            <mc:AlternateContent xmlns:mc="http://schemas.openxmlformats.org/markup-compatibility/2006">
              <mc:Choice xmlns:v="urn:schemas-microsoft-com:vml" Requires="v">
                <p:oleObj spid="_x0000_s44050" name="文档" r:id="rId3" imgW="5630040" imgH="318960" progId="Word.Document.8">
                  <p:embed/>
                </p:oleObj>
              </mc:Choice>
              <mc:Fallback>
                <p:oleObj name="文档" r:id="rId3" imgW="5630040" imgH="318960" progId="Word.Document.8">
                  <p:embed/>
                  <p:pic>
                    <p:nvPicPr>
                      <p:cNvPr id="22530" name="Object 2"/>
                      <p:cNvPicPr>
                        <a:picLocks noChangeAspect="1" noChangeArrowheads="1"/>
                      </p:cNvPicPr>
                      <p:nvPr/>
                    </p:nvPicPr>
                    <p:blipFill>
                      <a:blip r:embed="rId4">
                        <a:extLst>
                          <a:ext uri="{28A0092B-C50C-407E-A947-70E740481C1C}">
                            <a14:useLocalDpi xmlns:a14="http://schemas.microsoft.com/office/drawing/2010/main" val="0"/>
                          </a:ext>
                        </a:extLst>
                      </a:blip>
                      <a:srcRect l="21291" r="46487" b="48996"/>
                      <a:stretch>
                        <a:fillRect/>
                      </a:stretch>
                    </p:blipFill>
                    <p:spPr bwMode="auto">
                      <a:xfrm>
                        <a:off x="1043607" y="2913883"/>
                        <a:ext cx="4968553" cy="461121"/>
                      </a:xfrm>
                      <a:prstGeom prst="rect">
                        <a:avLst/>
                      </a:prstGeom>
                      <a:solidFill>
                        <a:srgbClr val="FFFFFF"/>
                      </a:solidFill>
                      <a:ln>
                        <a:noFill/>
                      </a:ln>
                      <a:effectLst/>
                    </p:spPr>
                  </p:pic>
                </p:oleObj>
              </mc:Fallback>
            </mc:AlternateContent>
          </a:graphicData>
        </a:graphic>
      </p:graphicFrame>
      <p:graphicFrame>
        <p:nvGraphicFramePr>
          <p:cNvPr id="22531" name="Object 3"/>
          <p:cNvGraphicFramePr>
            <a:graphicFrameLocks noGrp="1" noChangeAspect="1"/>
          </p:cNvGraphicFramePr>
          <p:nvPr>
            <p:ph sz="half" idx="2"/>
          </p:nvPr>
        </p:nvGraphicFramePr>
        <p:xfrm>
          <a:off x="5751115" y="3409418"/>
          <a:ext cx="3234135" cy="2361432"/>
        </p:xfrm>
        <a:graphic>
          <a:graphicData uri="http://schemas.openxmlformats.org/presentationml/2006/ole">
            <mc:AlternateContent xmlns:mc="http://schemas.openxmlformats.org/markup-compatibility/2006">
              <mc:Choice xmlns:v="urn:schemas-microsoft-com:vml" Requires="v">
                <p:oleObj spid="_x0000_s44051" name="位图图像" r:id="rId5" imgW="3742857" imgH="2057143" progId="PBrush">
                  <p:embed/>
                </p:oleObj>
              </mc:Choice>
              <mc:Fallback>
                <p:oleObj name="位图图像" r:id="rId5" imgW="3742857" imgH="2057143" progId="PBrush">
                  <p:embed/>
                  <p:pic>
                    <p:nvPicPr>
                      <p:cNvPr id="22531"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51115" y="3409418"/>
                        <a:ext cx="3234135" cy="2361432"/>
                      </a:xfrm>
                      <a:prstGeom prst="rect">
                        <a:avLst/>
                      </a:prstGeom>
                      <a:noFill/>
                      <a:ln>
                        <a:noFill/>
                      </a:ln>
                      <a:effectLst/>
                    </p:spPr>
                  </p:pic>
                </p:oleObj>
              </mc:Fallback>
            </mc:AlternateContent>
          </a:graphicData>
        </a:graphic>
      </p:graphicFrame>
      <p:sp>
        <p:nvSpPr>
          <p:cNvPr id="22534" name="AutoShape 47">
            <a:hlinkClick r:id="rId7" action="ppaction://hlinksldjump" highlightClick="1"/>
          </p:cNvPr>
          <p:cNvSpPr>
            <a:spLocks noChangeArrowheads="1"/>
          </p:cNvSpPr>
          <p:nvPr/>
        </p:nvSpPr>
        <p:spPr bwMode="auto">
          <a:xfrm>
            <a:off x="8680450" y="6373813"/>
            <a:ext cx="304800" cy="252412"/>
          </a:xfrm>
          <a:prstGeom prst="actionButtonForwardNex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2535"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3" name="矩形 2"/>
          <p:cNvSpPr/>
          <p:nvPr/>
        </p:nvSpPr>
        <p:spPr>
          <a:xfrm>
            <a:off x="837456" y="1250454"/>
            <a:ext cx="5750768" cy="523220"/>
          </a:xfrm>
          <a:prstGeom prst="rect">
            <a:avLst/>
          </a:prstGeom>
        </p:spPr>
        <p:txBody>
          <a:bodyPr wrap="square">
            <a:spAutoFit/>
          </a:bodyPr>
          <a:lstStyle/>
          <a:p>
            <a:pPr lvl="0">
              <a:spcBef>
                <a:spcPct val="20000"/>
              </a:spcBef>
            </a:pPr>
            <a:r>
              <a:rPr lang="zh-CN" altLang="en-US" sz="2800" b="1" dirty="0">
                <a:solidFill>
                  <a:schemeClr val="accent2"/>
                </a:solidFill>
                <a:latin typeface="+mn-lt"/>
                <a:ea typeface="+mn-ea"/>
              </a:rPr>
              <a:t>二叉树的链式存储结构</a:t>
            </a:r>
            <a:r>
              <a:rPr lang="en-US" altLang="zh-CN" sz="2800" b="1" dirty="0">
                <a:solidFill>
                  <a:schemeClr val="accent2"/>
                </a:solidFill>
                <a:latin typeface="+mn-lt"/>
                <a:ea typeface="+mn-ea"/>
              </a:rPr>
              <a:t>:</a:t>
            </a:r>
            <a:r>
              <a:rPr lang="zh-CN" altLang="en-US" sz="2800" b="1" dirty="0">
                <a:solidFill>
                  <a:schemeClr val="accent2"/>
                </a:solidFill>
                <a:latin typeface="+mn-lt"/>
                <a:ea typeface="+mn-ea"/>
              </a:rPr>
              <a:t>二叉链表</a:t>
            </a:r>
          </a:p>
        </p:txBody>
      </p:sp>
    </p:spTree>
    <p:extLst>
      <p:ext uri="{BB962C8B-B14F-4D97-AF65-F5344CB8AC3E}">
        <p14:creationId xmlns:p14="http://schemas.microsoft.com/office/powerpoint/2010/main" val="3059185386"/>
      </p:ext>
    </p:extLst>
  </p:cSld>
  <p:clrMapOvr>
    <a:masterClrMapping/>
  </p:clrMapOvr>
  <p:transition/>
  <p:timing>
    <p:tnLst>
      <p:par>
        <p:cTn id="1" dur="indefinite" restart="never" nodeType="tmRoot"/>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2"/>
          <p:cNvSpPr>
            <a:spLocks noGrp="1" noChangeArrowheads="1"/>
          </p:cNvSpPr>
          <p:nvPr>
            <p:ph type="body" sz="half" idx="1"/>
          </p:nvPr>
        </p:nvSpPr>
        <p:spPr>
          <a:xfrm>
            <a:off x="971600" y="1214936"/>
            <a:ext cx="7769225" cy="1707654"/>
          </a:xfrm>
        </p:spPr>
        <p:txBody>
          <a:bodyPr/>
          <a:lstStyle/>
          <a:p>
            <a:r>
              <a:rPr lang="zh-CN" altLang="en-US" sz="2400" dirty="0" smtClean="0"/>
              <a:t>二叉链表的存储特点是寻找孩子结点容易，双亲比较困难。因此，若需要频繁地寻找双亲，可以给每个结点添加一个指向双亲结点的指针域，其结点结构如下所示。</a:t>
            </a:r>
          </a:p>
          <a:p>
            <a:endParaRPr kumimoji="1" lang="en-US" altLang="zh-CN" b="1" dirty="0" smtClean="0">
              <a:latin typeface="仿宋_GB2312" pitchFamily="49" charset="-122"/>
              <a:ea typeface="仿宋_GB2312" pitchFamily="49" charset="-122"/>
            </a:endParaRPr>
          </a:p>
        </p:txBody>
      </p:sp>
      <p:graphicFrame>
        <p:nvGraphicFramePr>
          <p:cNvPr id="2583661" name="Group 109"/>
          <p:cNvGraphicFramePr>
            <a:graphicFrameLocks noGrp="1"/>
          </p:cNvGraphicFramePr>
          <p:nvPr>
            <p:ph sz="quarter" idx="2"/>
          </p:nvPr>
        </p:nvGraphicFramePr>
        <p:xfrm>
          <a:off x="2339752" y="2465390"/>
          <a:ext cx="4680520" cy="457200"/>
        </p:xfrm>
        <a:graphic>
          <a:graphicData uri="http://schemas.openxmlformats.org/drawingml/2006/table">
            <a:tbl>
              <a:tblPr/>
              <a:tblGrid>
                <a:gridCol w="1109814">
                  <a:extLst>
                    <a:ext uri="{9D8B030D-6E8A-4147-A177-3AD203B41FA5}">
                      <a16:colId xmlns:a16="http://schemas.microsoft.com/office/drawing/2014/main" val="20000"/>
                    </a:ext>
                  </a:extLst>
                </a:gridCol>
                <a:gridCol w="1107057">
                  <a:extLst>
                    <a:ext uri="{9D8B030D-6E8A-4147-A177-3AD203B41FA5}">
                      <a16:colId xmlns:a16="http://schemas.microsoft.com/office/drawing/2014/main" val="20001"/>
                    </a:ext>
                  </a:extLst>
                </a:gridCol>
                <a:gridCol w="1349699">
                  <a:extLst>
                    <a:ext uri="{9D8B030D-6E8A-4147-A177-3AD203B41FA5}">
                      <a16:colId xmlns:a16="http://schemas.microsoft.com/office/drawing/2014/main" val="20002"/>
                    </a:ext>
                  </a:extLst>
                </a:gridCol>
                <a:gridCol w="1113950">
                  <a:extLst>
                    <a:ext uri="{9D8B030D-6E8A-4147-A177-3AD203B41FA5}">
                      <a16:colId xmlns:a16="http://schemas.microsoft.com/office/drawing/2014/main" val="20003"/>
                    </a:ext>
                  </a:extLst>
                </a:gridCol>
              </a:tblGrid>
              <a:tr h="334207">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dirty="0" err="1" smtClean="0">
                          <a:ln>
                            <a:noFill/>
                          </a:ln>
                          <a:solidFill>
                            <a:schemeClr val="tx1"/>
                          </a:solidFill>
                          <a:effectLst/>
                          <a:latin typeface="Arial" charset="0"/>
                          <a:ea typeface="宋体" pitchFamily="2" charset="-122"/>
                        </a:rPr>
                        <a:t>lchild</a:t>
                      </a:r>
                      <a:endParaRPr kumimoji="0" lang="en-US" altLang="zh-CN" sz="2400" b="0" i="0" u="none" strike="noStrike" cap="none" normalizeH="0" baseline="0" dirty="0" smtClean="0">
                        <a:ln>
                          <a:noFill/>
                        </a:ln>
                        <a:solidFill>
                          <a:schemeClr val="tx1"/>
                        </a:solidFill>
                        <a:effectLst/>
                        <a:latin typeface="Arial"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dirty="0" smtClean="0">
                          <a:ln>
                            <a:noFill/>
                          </a:ln>
                          <a:solidFill>
                            <a:schemeClr val="tx1"/>
                          </a:solidFill>
                          <a:effectLst/>
                          <a:latin typeface="Arial" charset="0"/>
                          <a:ea typeface="宋体" pitchFamily="2" charset="-122"/>
                        </a:rPr>
                        <a:t>data</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dirty="0" smtClean="0">
                          <a:ln>
                            <a:noFill/>
                          </a:ln>
                          <a:solidFill>
                            <a:schemeClr val="tx1"/>
                          </a:solidFill>
                          <a:effectLst/>
                          <a:latin typeface="Arial" charset="0"/>
                          <a:ea typeface="宋体" pitchFamily="2" charset="-122"/>
                        </a:rPr>
                        <a:t>parent</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dirty="0" err="1" smtClean="0">
                          <a:ln>
                            <a:noFill/>
                          </a:ln>
                          <a:solidFill>
                            <a:schemeClr val="tx1"/>
                          </a:solidFill>
                          <a:effectLst/>
                          <a:latin typeface="Arial" charset="0"/>
                          <a:ea typeface="宋体" pitchFamily="2" charset="-122"/>
                        </a:rPr>
                        <a:t>rchild</a:t>
                      </a:r>
                      <a:endParaRPr kumimoji="0" lang="en-US" altLang="zh-CN" sz="2400" b="0" i="0" u="none" strike="noStrike" cap="none" normalizeH="0" baseline="0" dirty="0" smtClean="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3554" name="Object 2"/>
          <p:cNvGraphicFramePr>
            <a:graphicFrameLocks noGrp="1" noChangeAspect="1"/>
          </p:cNvGraphicFramePr>
          <p:nvPr>
            <p:ph sz="quarter" idx="3"/>
          </p:nvPr>
        </p:nvGraphicFramePr>
        <p:xfrm>
          <a:off x="755576" y="3068960"/>
          <a:ext cx="2818341" cy="3000498"/>
        </p:xfrm>
        <a:graphic>
          <a:graphicData uri="http://schemas.openxmlformats.org/presentationml/2006/ole">
            <mc:AlternateContent xmlns:mc="http://schemas.openxmlformats.org/markup-compatibility/2006">
              <mc:Choice xmlns:v="urn:schemas-microsoft-com:vml" Requires="v">
                <p:oleObj spid="_x0000_s45074" name="位图图像" r:id="rId3" imgW="1771429" imgH="1886213" progId="PBrush">
                  <p:embed/>
                </p:oleObj>
              </mc:Choice>
              <mc:Fallback>
                <p:oleObj name="位图图像" r:id="rId3" imgW="1771429" imgH="1886213" progId="PBrush">
                  <p:embed/>
                  <p:pic>
                    <p:nvPicPr>
                      <p:cNvPr id="2355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576" y="3068960"/>
                        <a:ext cx="2818341" cy="3000498"/>
                      </a:xfrm>
                      <a:prstGeom prst="rect">
                        <a:avLst/>
                      </a:prstGeom>
                      <a:noFill/>
                      <a:ln>
                        <a:noFill/>
                      </a:ln>
                      <a:effectLst/>
                    </p:spPr>
                  </p:pic>
                </p:oleObj>
              </mc:Fallback>
            </mc:AlternateContent>
          </a:graphicData>
        </a:graphic>
      </p:graphicFrame>
      <p:graphicFrame>
        <p:nvGraphicFramePr>
          <p:cNvPr id="23555" name="Object 3"/>
          <p:cNvGraphicFramePr>
            <a:graphicFrameLocks noChangeAspect="1"/>
          </p:cNvGraphicFramePr>
          <p:nvPr/>
        </p:nvGraphicFramePr>
        <p:xfrm>
          <a:off x="4211960" y="3068960"/>
          <a:ext cx="4224456" cy="3346000"/>
        </p:xfrm>
        <a:graphic>
          <a:graphicData uri="http://schemas.openxmlformats.org/presentationml/2006/ole">
            <mc:AlternateContent xmlns:mc="http://schemas.openxmlformats.org/markup-compatibility/2006">
              <mc:Choice xmlns:v="urn:schemas-microsoft-com:vml" Requires="v">
                <p:oleObj spid="_x0000_s45075" name="位图图像" r:id="rId5" imgW="3086531" imgH="2476190" progId="PBrush">
                  <p:embed/>
                </p:oleObj>
              </mc:Choice>
              <mc:Fallback>
                <p:oleObj name="位图图像" r:id="rId5" imgW="3086531" imgH="2476190" progId="PBrush">
                  <p:embed/>
                  <p:pic>
                    <p:nvPicPr>
                      <p:cNvPr id="23555"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11960" y="3068960"/>
                        <a:ext cx="4224456" cy="3346000"/>
                      </a:xfrm>
                      <a:prstGeom prst="rect">
                        <a:avLst/>
                      </a:prstGeom>
                      <a:noFill/>
                      <a:ln>
                        <a:noFill/>
                      </a:ln>
                      <a:effectLst/>
                    </p:spPr>
                  </p:pic>
                </p:oleObj>
              </mc:Fallback>
            </mc:AlternateContent>
          </a:graphicData>
        </a:graphic>
      </p:graphicFrame>
      <p:sp>
        <p:nvSpPr>
          <p:cNvPr id="23569" name="页脚占位符 3"/>
          <p:cNvSpPr>
            <a:spLocks noGrp="1"/>
          </p:cNvSpPr>
          <p:nvPr>
            <p:ph type="ftr" sz="quarter" idx="10"/>
          </p:nvPr>
        </p:nvSpPr>
        <p:spPr>
          <a:xfrm>
            <a:off x="3492500" y="6381750"/>
            <a:ext cx="3816350" cy="431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8" name="Rectangle 2"/>
          <p:cNvSpPr>
            <a:spLocks noGrp="1" noChangeArrowheads="1"/>
          </p:cNvSpPr>
          <p:nvPr>
            <p:ph type="title"/>
          </p:nvPr>
        </p:nvSpPr>
        <p:spPr>
          <a:xfrm>
            <a:off x="857250" y="457200"/>
            <a:ext cx="7829550" cy="642938"/>
          </a:xfrm>
        </p:spPr>
        <p:txBody>
          <a:bodyPr/>
          <a:lstStyle/>
          <a:p>
            <a:pPr eaLnBrk="1" hangingPunct="1"/>
            <a:r>
              <a:rPr lang="en-US" altLang="zh-CN" dirty="0">
                <a:solidFill>
                  <a:srgbClr val="333399"/>
                </a:solidFill>
              </a:rPr>
              <a:t>1.4.</a:t>
            </a:r>
            <a:r>
              <a:rPr lang="en-US" altLang="zh-CN" kern="0" dirty="0" smtClean="0"/>
              <a:t>6 </a:t>
            </a:r>
            <a:r>
              <a:rPr lang="zh-CN" altLang="en-US" kern="0" dirty="0" smtClean="0"/>
              <a:t>树、根树、</a:t>
            </a:r>
            <a:r>
              <a:rPr lang="zh-CN" altLang="en-US" b="1" u="sng" kern="0" dirty="0" smtClean="0"/>
              <a:t>二叉树</a:t>
            </a:r>
            <a:endParaRPr lang="en-US" altLang="zh-CN" kern="0" dirty="0" smtClean="0"/>
          </a:p>
        </p:txBody>
      </p:sp>
    </p:spTree>
    <p:extLst>
      <p:ext uri="{BB962C8B-B14F-4D97-AF65-F5344CB8AC3E}">
        <p14:creationId xmlns:p14="http://schemas.microsoft.com/office/powerpoint/2010/main" val="19576229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页脚占位符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24581" name="Rectangle 3"/>
          <p:cNvSpPr>
            <a:spLocks noGrp="1" noChangeArrowheads="1"/>
          </p:cNvSpPr>
          <p:nvPr>
            <p:ph type="body" sz="half" idx="1"/>
          </p:nvPr>
        </p:nvSpPr>
        <p:spPr>
          <a:xfrm>
            <a:off x="900113" y="1268413"/>
            <a:ext cx="8064500" cy="2160587"/>
          </a:xfrm>
        </p:spPr>
        <p:txBody>
          <a:bodyPr/>
          <a:lstStyle/>
          <a:p>
            <a:pPr marL="0" indent="0" eaLnBrk="1" hangingPunct="1">
              <a:buNone/>
            </a:pPr>
            <a:r>
              <a:rPr lang="zh-CN" altLang="en-US" sz="2800" b="1" dirty="0"/>
              <a:t>二叉树的一些定量特征</a:t>
            </a:r>
            <a:endParaRPr lang="en-US" altLang="zh-CN" sz="2800" b="1" dirty="0"/>
          </a:p>
          <a:p>
            <a:pPr eaLnBrk="1" hangingPunct="1"/>
            <a:r>
              <a:rPr lang="zh-CN" altLang="en-US" sz="2100" dirty="0" smtClean="0"/>
              <a:t>在下面的观察结论中，列出了二叉树的层、顶点树和高度间的一些有用的关系。</a:t>
            </a:r>
            <a:endParaRPr lang="en-US" altLang="zh-CN" sz="2100" dirty="0" smtClean="0"/>
          </a:p>
          <a:p>
            <a:pPr eaLnBrk="1" hangingPunct="1"/>
            <a:r>
              <a:rPr lang="zh-CN" altLang="en-US" sz="2100" dirty="0" smtClean="0"/>
              <a:t>观察结论</a:t>
            </a:r>
            <a:r>
              <a:rPr lang="en-US" altLang="zh-CN" sz="2100" dirty="0" smtClean="0"/>
              <a:t>3.1 </a:t>
            </a:r>
            <a:r>
              <a:rPr lang="zh-CN" altLang="en-US" sz="2100" dirty="0" smtClean="0"/>
              <a:t>在二叉树中，第</a:t>
            </a:r>
            <a:r>
              <a:rPr lang="en-US" altLang="zh-CN" sz="2100" dirty="0" smtClean="0"/>
              <a:t>j</a:t>
            </a:r>
            <a:r>
              <a:rPr lang="zh-CN" altLang="en-US" sz="2100" dirty="0" smtClean="0"/>
              <a:t>层的顶点数最多是</a:t>
            </a:r>
            <a:r>
              <a:rPr lang="en-US" altLang="zh-CN" sz="2100" dirty="0" err="1" smtClean="0"/>
              <a:t>2</a:t>
            </a:r>
            <a:r>
              <a:rPr lang="en-US" altLang="zh-CN" sz="2100" baseline="30000" dirty="0" err="1" smtClean="0"/>
              <a:t>j</a:t>
            </a:r>
            <a:r>
              <a:rPr lang="zh-CN" altLang="en-US" sz="2100" dirty="0" smtClean="0"/>
              <a:t>。</a:t>
            </a:r>
            <a:endParaRPr lang="en-US" altLang="zh-CN" sz="2100" dirty="0" smtClean="0"/>
          </a:p>
          <a:p>
            <a:pPr eaLnBrk="1" hangingPunct="1"/>
            <a:r>
              <a:rPr lang="zh-CN" altLang="en-US" sz="2100" dirty="0" smtClean="0"/>
              <a:t>观察结论</a:t>
            </a:r>
            <a:r>
              <a:rPr lang="en-US" altLang="zh-CN" sz="2100" dirty="0" smtClean="0"/>
              <a:t>3.2 </a:t>
            </a:r>
            <a:r>
              <a:rPr lang="zh-CN" altLang="en-US" sz="2100" dirty="0" smtClean="0"/>
              <a:t>令二叉树</a:t>
            </a:r>
            <a:r>
              <a:rPr lang="en-US" altLang="zh-CN" sz="2100" dirty="0" smtClean="0"/>
              <a:t>T</a:t>
            </a:r>
            <a:r>
              <a:rPr lang="zh-CN" altLang="en-US" sz="2100" dirty="0" smtClean="0"/>
              <a:t>的顶点数是</a:t>
            </a:r>
            <a:r>
              <a:rPr lang="en-US" altLang="zh-CN" sz="2100" dirty="0" smtClean="0"/>
              <a:t>n</a:t>
            </a:r>
            <a:r>
              <a:rPr lang="zh-CN" altLang="en-US" sz="2100" dirty="0" smtClean="0"/>
              <a:t>，高度是</a:t>
            </a:r>
            <a:r>
              <a:rPr lang="en-US" altLang="zh-CN" sz="2100" dirty="0" smtClean="0"/>
              <a:t>k</a:t>
            </a:r>
            <a:r>
              <a:rPr lang="zh-CN" altLang="en-US" sz="2100" dirty="0" smtClean="0"/>
              <a:t>，那么：</a:t>
            </a:r>
            <a:endParaRPr lang="en-US" altLang="zh-CN" sz="2100" dirty="0" smtClean="0"/>
          </a:p>
        </p:txBody>
      </p:sp>
      <p:graphicFrame>
        <p:nvGraphicFramePr>
          <p:cNvPr id="111628" name="Object 12"/>
          <p:cNvGraphicFramePr>
            <a:graphicFrameLocks noGrp="1" noChangeAspect="1"/>
          </p:cNvGraphicFramePr>
          <p:nvPr>
            <p:ph sz="half" idx="2"/>
          </p:nvPr>
        </p:nvGraphicFramePr>
        <p:xfrm>
          <a:off x="3141737" y="3217540"/>
          <a:ext cx="2438400" cy="546100"/>
        </p:xfrm>
        <a:graphic>
          <a:graphicData uri="http://schemas.openxmlformats.org/presentationml/2006/ole">
            <mc:AlternateContent xmlns:mc="http://schemas.openxmlformats.org/markup-compatibility/2006">
              <mc:Choice xmlns:v="urn:schemas-microsoft-com:vml" Requires="v">
                <p:oleObj spid="_x0000_s46090" name="公式" r:id="rId4" imgW="1358640" imgH="304560" progId="Equation.3">
                  <p:embed/>
                </p:oleObj>
              </mc:Choice>
              <mc:Fallback>
                <p:oleObj name="公式" r:id="rId4" imgW="1358640" imgH="304560" progId="Equation.3">
                  <p:embed/>
                  <p:pic>
                    <p:nvPicPr>
                      <p:cNvPr id="111628" name="Object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41737" y="3217540"/>
                        <a:ext cx="2438400" cy="546100"/>
                      </a:xfrm>
                      <a:prstGeom prst="rect">
                        <a:avLst/>
                      </a:prstGeom>
                    </p:spPr>
                  </p:pic>
                </p:oleObj>
              </mc:Fallback>
            </mc:AlternateContent>
          </a:graphicData>
        </a:graphic>
      </p:graphicFrame>
      <p:sp>
        <p:nvSpPr>
          <p:cNvPr id="24582" name="Rectangle 14"/>
          <p:cNvSpPr>
            <a:spLocks noChangeArrowheads="1"/>
          </p:cNvSpPr>
          <p:nvPr/>
        </p:nvSpPr>
        <p:spPr bwMode="auto">
          <a:xfrm>
            <a:off x="827162" y="3789040"/>
            <a:ext cx="8064500" cy="216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zh-CN" altLang="en-US" sz="2100">
                <a:solidFill>
                  <a:schemeClr val="accent2"/>
                </a:solidFill>
                <a:latin typeface="Times New Roman" panose="02020603050405020304" pitchFamily="18" charset="0"/>
                <a:ea typeface="华文楷体" panose="02010600040101010101" pitchFamily="2" charset="-122"/>
              </a:rPr>
              <a:t>如果</a:t>
            </a:r>
            <a:r>
              <a:rPr lang="en-US" altLang="zh-CN" sz="2100">
                <a:solidFill>
                  <a:schemeClr val="accent2"/>
                </a:solidFill>
                <a:latin typeface="Times New Roman" panose="02020603050405020304" pitchFamily="18" charset="0"/>
                <a:ea typeface="华文楷体" panose="02010600040101010101" pitchFamily="2" charset="-122"/>
              </a:rPr>
              <a:t>T</a:t>
            </a:r>
            <a:r>
              <a:rPr lang="zh-CN" altLang="en-US" sz="2100">
                <a:solidFill>
                  <a:schemeClr val="accent2"/>
                </a:solidFill>
                <a:latin typeface="Times New Roman" panose="02020603050405020304" pitchFamily="18" charset="0"/>
                <a:ea typeface="华文楷体" panose="02010600040101010101" pitchFamily="2" charset="-122"/>
              </a:rPr>
              <a:t>是完全的，等号成立。如果</a:t>
            </a:r>
            <a:r>
              <a:rPr lang="en-US" altLang="zh-CN" sz="2100">
                <a:solidFill>
                  <a:schemeClr val="accent2"/>
                </a:solidFill>
                <a:latin typeface="Times New Roman" panose="02020603050405020304" pitchFamily="18" charset="0"/>
                <a:ea typeface="华文楷体" panose="02010600040101010101" pitchFamily="2" charset="-122"/>
              </a:rPr>
              <a:t>T</a:t>
            </a:r>
            <a:r>
              <a:rPr lang="zh-CN" altLang="en-US" sz="2100">
                <a:solidFill>
                  <a:schemeClr val="accent2"/>
                </a:solidFill>
                <a:latin typeface="Times New Roman" panose="02020603050405020304" pitchFamily="18" charset="0"/>
                <a:ea typeface="华文楷体" panose="02010600040101010101" pitchFamily="2" charset="-122"/>
              </a:rPr>
              <a:t>是几乎完全的，那么有</a:t>
            </a:r>
            <a:endParaRPr lang="en-US" altLang="zh-CN" sz="2100">
              <a:solidFill>
                <a:schemeClr val="accent2"/>
              </a:solidFill>
              <a:latin typeface="Times New Roman" panose="02020603050405020304" pitchFamily="18" charset="0"/>
              <a:ea typeface="华文楷体" panose="02010600040101010101" pitchFamily="2" charset="-122"/>
            </a:endParaRPr>
          </a:p>
          <a:p>
            <a:pPr eaLnBrk="1" hangingPunct="1">
              <a:spcBef>
                <a:spcPct val="20000"/>
              </a:spcBef>
            </a:pPr>
            <a:r>
              <a:rPr lang="en-US" altLang="zh-CN" sz="2100">
                <a:solidFill>
                  <a:schemeClr val="accent2"/>
                </a:solidFill>
                <a:latin typeface="Times New Roman" panose="02020603050405020304" pitchFamily="18" charset="0"/>
                <a:ea typeface="华文楷体" panose="02010600040101010101" pitchFamily="2" charset="-122"/>
              </a:rPr>
              <a:t>                                            2</a:t>
            </a:r>
            <a:r>
              <a:rPr lang="en-US" altLang="zh-CN" sz="2100" baseline="30000">
                <a:solidFill>
                  <a:schemeClr val="accent2"/>
                </a:solidFill>
                <a:latin typeface="Times New Roman" panose="02020603050405020304" pitchFamily="18" charset="0"/>
                <a:ea typeface="华文楷体" panose="02010600040101010101" pitchFamily="2" charset="-122"/>
              </a:rPr>
              <a:t>k</a:t>
            </a:r>
            <a:r>
              <a:rPr lang="en-US" altLang="zh-CN" sz="2100">
                <a:solidFill>
                  <a:schemeClr val="accent2"/>
                </a:solidFill>
                <a:latin typeface="Times New Roman" panose="02020603050405020304" pitchFamily="18" charset="0"/>
                <a:ea typeface="华文楷体" panose="02010600040101010101" pitchFamily="2" charset="-122"/>
              </a:rPr>
              <a:t>≤n ≤2</a:t>
            </a:r>
            <a:r>
              <a:rPr lang="en-US" altLang="zh-CN" sz="2100" baseline="30000">
                <a:solidFill>
                  <a:schemeClr val="accent2"/>
                </a:solidFill>
                <a:latin typeface="Times New Roman" panose="02020603050405020304" pitchFamily="18" charset="0"/>
                <a:ea typeface="华文楷体" panose="02010600040101010101" pitchFamily="2" charset="-122"/>
              </a:rPr>
              <a:t>k+1</a:t>
            </a:r>
            <a:r>
              <a:rPr lang="en-US" altLang="zh-CN" sz="2100">
                <a:solidFill>
                  <a:schemeClr val="accent2"/>
                </a:solidFill>
                <a:latin typeface="Times New Roman" panose="02020603050405020304" pitchFamily="18" charset="0"/>
                <a:ea typeface="华文楷体" panose="02010600040101010101" pitchFamily="2" charset="-122"/>
              </a:rPr>
              <a:t>-1.</a:t>
            </a:r>
          </a:p>
          <a:p>
            <a:pPr eaLnBrk="1" hangingPunct="1">
              <a:spcBef>
                <a:spcPct val="20000"/>
              </a:spcBef>
            </a:pPr>
            <a:endParaRPr lang="en-US" altLang="zh-CN" sz="2100">
              <a:solidFill>
                <a:schemeClr val="accent2"/>
              </a:solidFill>
              <a:latin typeface="Times New Roman" panose="02020603050405020304" pitchFamily="18" charset="0"/>
              <a:ea typeface="华文楷体" panose="02010600040101010101" pitchFamily="2" charset="-122"/>
            </a:endParaRPr>
          </a:p>
          <a:p>
            <a:pPr eaLnBrk="1" hangingPunct="1">
              <a:spcBef>
                <a:spcPct val="20000"/>
              </a:spcBef>
            </a:pPr>
            <a:r>
              <a:rPr lang="zh-CN" altLang="en-US" sz="2100">
                <a:solidFill>
                  <a:schemeClr val="accent2"/>
                </a:solidFill>
                <a:latin typeface="Times New Roman" panose="02020603050405020304" pitchFamily="18" charset="0"/>
                <a:ea typeface="华文楷体" panose="02010600040101010101" pitchFamily="2" charset="-122"/>
              </a:rPr>
              <a:t>其他观察结论见 </a:t>
            </a:r>
            <a:r>
              <a:rPr lang="en-US" altLang="zh-CN" sz="2100">
                <a:solidFill>
                  <a:schemeClr val="accent2"/>
                </a:solidFill>
                <a:latin typeface="Times New Roman" panose="02020603050405020304" pitchFamily="18" charset="0"/>
                <a:ea typeface="华文楷体" panose="02010600040101010101" pitchFamily="2" charset="-122"/>
              </a:rPr>
              <a:t>P72</a:t>
            </a:r>
          </a:p>
          <a:p>
            <a:pPr eaLnBrk="1" hangingPunct="1">
              <a:spcBef>
                <a:spcPct val="20000"/>
              </a:spcBef>
              <a:buFontTx/>
              <a:buChar char="•"/>
            </a:pPr>
            <a:endParaRPr lang="en-US" altLang="zh-CN" sz="2100">
              <a:solidFill>
                <a:schemeClr val="accent2"/>
              </a:solidFill>
              <a:latin typeface="Times New Roman" panose="02020603050405020304" pitchFamily="18" charset="0"/>
              <a:ea typeface="华文楷体" panose="02010600040101010101" pitchFamily="2" charset="-122"/>
            </a:endParaRPr>
          </a:p>
        </p:txBody>
      </p:sp>
      <p:sp>
        <p:nvSpPr>
          <p:cNvPr id="9" name="Rectangle 2"/>
          <p:cNvSpPr txBox="1">
            <a:spLocks noChangeArrowheads="1"/>
          </p:cNvSpPr>
          <p:nvPr/>
        </p:nvSpPr>
        <p:spPr bwMode="auto">
          <a:xfrm>
            <a:off x="857250" y="457200"/>
            <a:ext cx="7829550"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a:solidFill>
                  <a:schemeClr val="accent2"/>
                </a:solidFill>
                <a:latin typeface="+mj-lt"/>
                <a:ea typeface="+mj-ea"/>
                <a:cs typeface="+mj-cs"/>
              </a:defRPr>
            </a:lvl1pPr>
            <a:lvl2pPr algn="l" rtl="0" eaLnBrk="0" fontAlgn="base" hangingPunct="0">
              <a:spcBef>
                <a:spcPct val="0"/>
              </a:spcBef>
              <a:spcAft>
                <a:spcPct val="0"/>
              </a:spcAft>
              <a:defRPr sz="3200">
                <a:solidFill>
                  <a:schemeClr val="accent2"/>
                </a:solidFill>
                <a:latin typeface="Garamond" pitchFamily="18" charset="0"/>
                <a:ea typeface="宋体" pitchFamily="2" charset="-122"/>
              </a:defRPr>
            </a:lvl2pPr>
            <a:lvl3pPr algn="l" rtl="0" eaLnBrk="0" fontAlgn="base" hangingPunct="0">
              <a:spcBef>
                <a:spcPct val="0"/>
              </a:spcBef>
              <a:spcAft>
                <a:spcPct val="0"/>
              </a:spcAft>
              <a:defRPr sz="3200">
                <a:solidFill>
                  <a:schemeClr val="accent2"/>
                </a:solidFill>
                <a:latin typeface="Garamond" pitchFamily="18" charset="0"/>
                <a:ea typeface="宋体" pitchFamily="2" charset="-122"/>
              </a:defRPr>
            </a:lvl3pPr>
            <a:lvl4pPr algn="l" rtl="0" eaLnBrk="0" fontAlgn="base" hangingPunct="0">
              <a:spcBef>
                <a:spcPct val="0"/>
              </a:spcBef>
              <a:spcAft>
                <a:spcPct val="0"/>
              </a:spcAft>
              <a:defRPr sz="3200">
                <a:solidFill>
                  <a:schemeClr val="accent2"/>
                </a:solidFill>
                <a:latin typeface="Garamond" pitchFamily="18" charset="0"/>
                <a:ea typeface="宋体" pitchFamily="2" charset="-122"/>
              </a:defRPr>
            </a:lvl4pPr>
            <a:lvl5pPr algn="l" rtl="0" eaLnBrk="0" fontAlgn="base" hangingPunct="0">
              <a:spcBef>
                <a:spcPct val="0"/>
              </a:spcBef>
              <a:spcAft>
                <a:spcPct val="0"/>
              </a:spcAft>
              <a:defRPr sz="3200">
                <a:solidFill>
                  <a:schemeClr val="accent2"/>
                </a:solidFill>
                <a:latin typeface="Garamond" pitchFamily="18" charset="0"/>
                <a:ea typeface="宋体" pitchFamily="2" charset="-122"/>
              </a:defRPr>
            </a:lvl5pPr>
            <a:lvl6pPr marL="457200" algn="l" rtl="0" fontAlgn="base">
              <a:spcBef>
                <a:spcPct val="0"/>
              </a:spcBef>
              <a:spcAft>
                <a:spcPct val="0"/>
              </a:spcAft>
              <a:defRPr sz="3200">
                <a:solidFill>
                  <a:schemeClr val="accent2"/>
                </a:solidFill>
                <a:latin typeface="Garamond" pitchFamily="18" charset="0"/>
                <a:ea typeface="宋体" pitchFamily="2" charset="-122"/>
              </a:defRPr>
            </a:lvl6pPr>
            <a:lvl7pPr marL="914400" algn="l" rtl="0" fontAlgn="base">
              <a:spcBef>
                <a:spcPct val="0"/>
              </a:spcBef>
              <a:spcAft>
                <a:spcPct val="0"/>
              </a:spcAft>
              <a:defRPr sz="3200">
                <a:solidFill>
                  <a:schemeClr val="accent2"/>
                </a:solidFill>
                <a:latin typeface="Garamond" pitchFamily="18" charset="0"/>
                <a:ea typeface="宋体" pitchFamily="2" charset="-122"/>
              </a:defRPr>
            </a:lvl7pPr>
            <a:lvl8pPr marL="1371600" algn="l" rtl="0" fontAlgn="base">
              <a:spcBef>
                <a:spcPct val="0"/>
              </a:spcBef>
              <a:spcAft>
                <a:spcPct val="0"/>
              </a:spcAft>
              <a:defRPr sz="3200">
                <a:solidFill>
                  <a:schemeClr val="accent2"/>
                </a:solidFill>
                <a:latin typeface="Garamond" pitchFamily="18" charset="0"/>
                <a:ea typeface="宋体" pitchFamily="2" charset="-122"/>
              </a:defRPr>
            </a:lvl8pPr>
            <a:lvl9pPr marL="1828800" algn="l" rtl="0" fontAlgn="base">
              <a:spcBef>
                <a:spcPct val="0"/>
              </a:spcBef>
              <a:spcAft>
                <a:spcPct val="0"/>
              </a:spcAft>
              <a:defRPr sz="3200">
                <a:solidFill>
                  <a:schemeClr val="accent2"/>
                </a:solidFill>
                <a:latin typeface="Garamond" pitchFamily="18" charset="0"/>
                <a:ea typeface="宋体" pitchFamily="2" charset="-122"/>
              </a:defRPr>
            </a:lvl9pPr>
          </a:lstStyle>
          <a:p>
            <a:pPr eaLnBrk="1" hangingPunct="1"/>
            <a:r>
              <a:rPr lang="en-US" altLang="zh-CN" kern="0" dirty="0" smtClean="0">
                <a:solidFill>
                  <a:srgbClr val="333399"/>
                </a:solidFill>
              </a:rPr>
              <a:t>1.4.</a:t>
            </a:r>
            <a:r>
              <a:rPr lang="en-US" altLang="zh-CN" kern="0" dirty="0" smtClean="0"/>
              <a:t>6 </a:t>
            </a:r>
            <a:r>
              <a:rPr lang="zh-CN" altLang="en-US" kern="0" dirty="0" smtClean="0"/>
              <a:t>树、根树、</a:t>
            </a:r>
            <a:r>
              <a:rPr lang="zh-CN" altLang="en-US" b="1" u="sng" kern="0" dirty="0" smtClean="0"/>
              <a:t>二叉树</a:t>
            </a:r>
            <a:endParaRPr lang="en-US" altLang="zh-CN" kern="0" dirty="0" smtClean="0"/>
          </a:p>
        </p:txBody>
      </p:sp>
    </p:spTree>
    <p:extLst>
      <p:ext uri="{BB962C8B-B14F-4D97-AF65-F5344CB8AC3E}">
        <p14:creationId xmlns:p14="http://schemas.microsoft.com/office/powerpoint/2010/main" val="1124266908"/>
      </p:ext>
    </p:extLst>
  </p:cSld>
  <p:clrMapOvr>
    <a:masterClrMapping/>
  </p:clrMapOvr>
  <p:timing>
    <p:tnLst>
      <p:par>
        <p:cTn id="1" dur="indefinite" restart="never" nodeType="tmRoot"/>
      </p:par>
    </p:tn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84996" name="Rectangle 3"/>
          <p:cNvSpPr>
            <a:spLocks noGrp="1" noChangeArrowheads="1"/>
          </p:cNvSpPr>
          <p:nvPr>
            <p:ph type="body" idx="1"/>
          </p:nvPr>
        </p:nvSpPr>
        <p:spPr>
          <a:xfrm>
            <a:off x="903586" y="1245965"/>
            <a:ext cx="7786687" cy="2532063"/>
          </a:xfrm>
        </p:spPr>
        <p:txBody>
          <a:bodyPr/>
          <a:lstStyle/>
          <a:p>
            <a:pPr marL="0" indent="0">
              <a:buNone/>
            </a:pPr>
            <a:r>
              <a:rPr lang="zh-CN" altLang="en-US" sz="2800" b="1" dirty="0"/>
              <a:t>二叉搜索树</a:t>
            </a:r>
            <a:endParaRPr lang="en-US" altLang="zh-CN" sz="2800" b="1" dirty="0"/>
          </a:p>
          <a:p>
            <a:r>
              <a:rPr lang="zh-CN" altLang="en-US" dirty="0" smtClean="0"/>
              <a:t>事实上，二分查找的过程，隐含地对应一棵二叉树形，但这样的二叉树形仅是逻辑上的，不能进行插入和删除操作。 如果用二叉树形来组织表，则我们将会得到较好的动态查找算法。 </a:t>
            </a:r>
          </a:p>
          <a:p>
            <a:r>
              <a:rPr lang="zh-CN" altLang="en-US" dirty="0" smtClean="0"/>
              <a:t>    一般来说，二叉树结构可以显著地改善搜索的性能，因为达到一个树的路径最长不超过树深度。</a:t>
            </a:r>
          </a:p>
        </p:txBody>
      </p:sp>
      <p:pic>
        <p:nvPicPr>
          <p:cNvPr id="8499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3808" y="4221088"/>
            <a:ext cx="3257550" cy="203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857250" y="457200"/>
            <a:ext cx="7829550"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a:solidFill>
                  <a:schemeClr val="accent2"/>
                </a:solidFill>
                <a:latin typeface="+mj-lt"/>
                <a:ea typeface="+mj-ea"/>
                <a:cs typeface="+mj-cs"/>
              </a:defRPr>
            </a:lvl1pPr>
            <a:lvl2pPr algn="l" rtl="0" eaLnBrk="0" fontAlgn="base" hangingPunct="0">
              <a:spcBef>
                <a:spcPct val="0"/>
              </a:spcBef>
              <a:spcAft>
                <a:spcPct val="0"/>
              </a:spcAft>
              <a:defRPr sz="3200">
                <a:solidFill>
                  <a:schemeClr val="accent2"/>
                </a:solidFill>
                <a:latin typeface="Garamond" pitchFamily="18" charset="0"/>
                <a:ea typeface="宋体" pitchFamily="2" charset="-122"/>
              </a:defRPr>
            </a:lvl2pPr>
            <a:lvl3pPr algn="l" rtl="0" eaLnBrk="0" fontAlgn="base" hangingPunct="0">
              <a:spcBef>
                <a:spcPct val="0"/>
              </a:spcBef>
              <a:spcAft>
                <a:spcPct val="0"/>
              </a:spcAft>
              <a:defRPr sz="3200">
                <a:solidFill>
                  <a:schemeClr val="accent2"/>
                </a:solidFill>
                <a:latin typeface="Garamond" pitchFamily="18" charset="0"/>
                <a:ea typeface="宋体" pitchFamily="2" charset="-122"/>
              </a:defRPr>
            </a:lvl3pPr>
            <a:lvl4pPr algn="l" rtl="0" eaLnBrk="0" fontAlgn="base" hangingPunct="0">
              <a:spcBef>
                <a:spcPct val="0"/>
              </a:spcBef>
              <a:spcAft>
                <a:spcPct val="0"/>
              </a:spcAft>
              <a:defRPr sz="3200">
                <a:solidFill>
                  <a:schemeClr val="accent2"/>
                </a:solidFill>
                <a:latin typeface="Garamond" pitchFamily="18" charset="0"/>
                <a:ea typeface="宋体" pitchFamily="2" charset="-122"/>
              </a:defRPr>
            </a:lvl4pPr>
            <a:lvl5pPr algn="l" rtl="0" eaLnBrk="0" fontAlgn="base" hangingPunct="0">
              <a:spcBef>
                <a:spcPct val="0"/>
              </a:spcBef>
              <a:spcAft>
                <a:spcPct val="0"/>
              </a:spcAft>
              <a:defRPr sz="3200">
                <a:solidFill>
                  <a:schemeClr val="accent2"/>
                </a:solidFill>
                <a:latin typeface="Garamond" pitchFamily="18" charset="0"/>
                <a:ea typeface="宋体" pitchFamily="2" charset="-122"/>
              </a:defRPr>
            </a:lvl5pPr>
            <a:lvl6pPr marL="457200" algn="l" rtl="0" fontAlgn="base">
              <a:spcBef>
                <a:spcPct val="0"/>
              </a:spcBef>
              <a:spcAft>
                <a:spcPct val="0"/>
              </a:spcAft>
              <a:defRPr sz="3200">
                <a:solidFill>
                  <a:schemeClr val="accent2"/>
                </a:solidFill>
                <a:latin typeface="Garamond" pitchFamily="18" charset="0"/>
                <a:ea typeface="宋体" pitchFamily="2" charset="-122"/>
              </a:defRPr>
            </a:lvl6pPr>
            <a:lvl7pPr marL="914400" algn="l" rtl="0" fontAlgn="base">
              <a:spcBef>
                <a:spcPct val="0"/>
              </a:spcBef>
              <a:spcAft>
                <a:spcPct val="0"/>
              </a:spcAft>
              <a:defRPr sz="3200">
                <a:solidFill>
                  <a:schemeClr val="accent2"/>
                </a:solidFill>
                <a:latin typeface="Garamond" pitchFamily="18" charset="0"/>
                <a:ea typeface="宋体" pitchFamily="2" charset="-122"/>
              </a:defRPr>
            </a:lvl7pPr>
            <a:lvl8pPr marL="1371600" algn="l" rtl="0" fontAlgn="base">
              <a:spcBef>
                <a:spcPct val="0"/>
              </a:spcBef>
              <a:spcAft>
                <a:spcPct val="0"/>
              </a:spcAft>
              <a:defRPr sz="3200">
                <a:solidFill>
                  <a:schemeClr val="accent2"/>
                </a:solidFill>
                <a:latin typeface="Garamond" pitchFamily="18" charset="0"/>
                <a:ea typeface="宋体" pitchFamily="2" charset="-122"/>
              </a:defRPr>
            </a:lvl8pPr>
            <a:lvl9pPr marL="1828800" algn="l" rtl="0" fontAlgn="base">
              <a:spcBef>
                <a:spcPct val="0"/>
              </a:spcBef>
              <a:spcAft>
                <a:spcPct val="0"/>
              </a:spcAft>
              <a:defRPr sz="3200">
                <a:solidFill>
                  <a:schemeClr val="accent2"/>
                </a:solidFill>
                <a:latin typeface="Garamond" pitchFamily="18" charset="0"/>
                <a:ea typeface="宋体" pitchFamily="2" charset="-122"/>
              </a:defRPr>
            </a:lvl9pPr>
          </a:lstStyle>
          <a:p>
            <a:pPr eaLnBrk="1" hangingPunct="1"/>
            <a:r>
              <a:rPr lang="en-US" altLang="zh-CN" kern="0" dirty="0" smtClean="0">
                <a:solidFill>
                  <a:srgbClr val="333399"/>
                </a:solidFill>
              </a:rPr>
              <a:t>1.4.</a:t>
            </a:r>
            <a:r>
              <a:rPr lang="en-US" altLang="zh-CN" kern="0" dirty="0" smtClean="0"/>
              <a:t>6 </a:t>
            </a:r>
            <a:r>
              <a:rPr lang="zh-CN" altLang="en-US" kern="0" dirty="0" smtClean="0"/>
              <a:t>树、根树、</a:t>
            </a:r>
            <a:r>
              <a:rPr lang="zh-CN" altLang="en-US" b="1" u="sng" kern="0" dirty="0" smtClean="0"/>
              <a:t>二叉树</a:t>
            </a:r>
            <a:endParaRPr lang="en-US" altLang="zh-CN" kern="0" dirty="0" smtClean="0"/>
          </a:p>
        </p:txBody>
      </p:sp>
    </p:spTree>
    <p:extLst>
      <p:ext uri="{BB962C8B-B14F-4D97-AF65-F5344CB8AC3E}">
        <p14:creationId xmlns:p14="http://schemas.microsoft.com/office/powerpoint/2010/main" val="62918956"/>
      </p:ext>
    </p:extLst>
  </p:cSld>
  <p:clrMapOvr>
    <a:masterClrMapping/>
  </p:clrMapOvr>
  <p:timing>
    <p:tnLst>
      <p:par>
        <p:cTn id="1" dur="indefinite" restart="never" nodeType="tmRoot"/>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
        <p:nvSpPr>
          <p:cNvPr id="86020" name="Rectangle 3"/>
          <p:cNvSpPr>
            <a:spLocks noGrp="1" noChangeArrowheads="1"/>
          </p:cNvSpPr>
          <p:nvPr>
            <p:ph type="body" idx="1"/>
          </p:nvPr>
        </p:nvSpPr>
        <p:spPr/>
        <p:txBody>
          <a:bodyPr/>
          <a:lstStyle/>
          <a:p>
            <a:pPr eaLnBrk="1" hangingPunct="1"/>
            <a:r>
              <a:rPr lang="zh-CN" altLang="en-US" dirty="0" smtClean="0"/>
              <a:t>二叉搜索树是顶点用线序集中的元素来标记的一种二叉树，标记的方法是：所有存储在顶点</a:t>
            </a:r>
            <a:r>
              <a:rPr lang="en-US" altLang="zh-CN" dirty="0" smtClean="0"/>
              <a:t>v</a:t>
            </a:r>
            <a:r>
              <a:rPr lang="zh-CN" altLang="en-US" dirty="0" smtClean="0"/>
              <a:t>的左子树中的元素都小于存储在</a:t>
            </a:r>
            <a:r>
              <a:rPr lang="en-US" altLang="zh-CN" dirty="0" smtClean="0"/>
              <a:t>v</a:t>
            </a:r>
            <a:r>
              <a:rPr lang="zh-CN" altLang="en-US" dirty="0" smtClean="0"/>
              <a:t>中的元素，所有存储在顶点</a:t>
            </a:r>
            <a:r>
              <a:rPr lang="en-US" altLang="zh-CN" dirty="0" smtClean="0"/>
              <a:t>v</a:t>
            </a:r>
            <a:r>
              <a:rPr lang="zh-CN" altLang="en-US" dirty="0" smtClean="0"/>
              <a:t>中的右子树中的元素都大于存储在</a:t>
            </a:r>
            <a:r>
              <a:rPr lang="en-US" altLang="zh-CN" dirty="0" smtClean="0"/>
              <a:t>v</a:t>
            </a:r>
            <a:r>
              <a:rPr lang="zh-CN" altLang="en-US" dirty="0" smtClean="0"/>
              <a:t>中的元素。</a:t>
            </a:r>
            <a:endParaRPr lang="en-US" altLang="zh-CN" dirty="0" smtClean="0"/>
          </a:p>
          <a:p>
            <a:pPr eaLnBrk="1" hangingPunct="1"/>
            <a:r>
              <a:rPr lang="zh-CN" altLang="en-US" dirty="0" smtClean="0"/>
              <a:t>用二叉搜索树来表示一个集合并不是唯一的，最坏的情况它可能是一棵退化的树，即这棵树的每一个内部顶点都恰好有一个儿子。</a:t>
            </a:r>
            <a:endParaRPr lang="en-US" altLang="zh-CN" dirty="0" smtClean="0"/>
          </a:p>
          <a:p>
            <a:pPr eaLnBrk="1" hangingPunct="1"/>
            <a:r>
              <a:rPr lang="zh-CN" altLang="en-US" dirty="0" smtClean="0"/>
              <a:t>这种数据结构支持的操作有插入、删除、测试成员身份和检索最大或最小值。</a:t>
            </a:r>
            <a:endParaRPr lang="en-US" altLang="zh-CN" dirty="0" smtClean="0"/>
          </a:p>
          <a:p>
            <a:pPr eaLnBrk="1" hangingPunct="1"/>
            <a:r>
              <a:rPr lang="en-US" altLang="zh-CN" dirty="0" err="1" smtClean="0"/>
              <a:t>P72</a:t>
            </a:r>
            <a:endParaRPr lang="en-US" altLang="zh-CN" dirty="0" smtClean="0"/>
          </a:p>
        </p:txBody>
      </p:sp>
      <p:sp>
        <p:nvSpPr>
          <p:cNvPr id="5" name="Rectangle 2"/>
          <p:cNvSpPr txBox="1">
            <a:spLocks noChangeArrowheads="1"/>
          </p:cNvSpPr>
          <p:nvPr/>
        </p:nvSpPr>
        <p:spPr bwMode="auto">
          <a:xfrm>
            <a:off x="857250" y="457200"/>
            <a:ext cx="7829550"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a:solidFill>
                  <a:schemeClr val="accent2"/>
                </a:solidFill>
                <a:latin typeface="+mj-lt"/>
                <a:ea typeface="+mj-ea"/>
                <a:cs typeface="+mj-cs"/>
              </a:defRPr>
            </a:lvl1pPr>
            <a:lvl2pPr algn="l" rtl="0" eaLnBrk="0" fontAlgn="base" hangingPunct="0">
              <a:spcBef>
                <a:spcPct val="0"/>
              </a:spcBef>
              <a:spcAft>
                <a:spcPct val="0"/>
              </a:spcAft>
              <a:defRPr sz="3200">
                <a:solidFill>
                  <a:schemeClr val="accent2"/>
                </a:solidFill>
                <a:latin typeface="Garamond" pitchFamily="18" charset="0"/>
                <a:ea typeface="宋体" pitchFamily="2" charset="-122"/>
              </a:defRPr>
            </a:lvl2pPr>
            <a:lvl3pPr algn="l" rtl="0" eaLnBrk="0" fontAlgn="base" hangingPunct="0">
              <a:spcBef>
                <a:spcPct val="0"/>
              </a:spcBef>
              <a:spcAft>
                <a:spcPct val="0"/>
              </a:spcAft>
              <a:defRPr sz="3200">
                <a:solidFill>
                  <a:schemeClr val="accent2"/>
                </a:solidFill>
                <a:latin typeface="Garamond" pitchFamily="18" charset="0"/>
                <a:ea typeface="宋体" pitchFamily="2" charset="-122"/>
              </a:defRPr>
            </a:lvl3pPr>
            <a:lvl4pPr algn="l" rtl="0" eaLnBrk="0" fontAlgn="base" hangingPunct="0">
              <a:spcBef>
                <a:spcPct val="0"/>
              </a:spcBef>
              <a:spcAft>
                <a:spcPct val="0"/>
              </a:spcAft>
              <a:defRPr sz="3200">
                <a:solidFill>
                  <a:schemeClr val="accent2"/>
                </a:solidFill>
                <a:latin typeface="Garamond" pitchFamily="18" charset="0"/>
                <a:ea typeface="宋体" pitchFamily="2" charset="-122"/>
              </a:defRPr>
            </a:lvl4pPr>
            <a:lvl5pPr algn="l" rtl="0" eaLnBrk="0" fontAlgn="base" hangingPunct="0">
              <a:spcBef>
                <a:spcPct val="0"/>
              </a:spcBef>
              <a:spcAft>
                <a:spcPct val="0"/>
              </a:spcAft>
              <a:defRPr sz="3200">
                <a:solidFill>
                  <a:schemeClr val="accent2"/>
                </a:solidFill>
                <a:latin typeface="Garamond" pitchFamily="18" charset="0"/>
                <a:ea typeface="宋体" pitchFamily="2" charset="-122"/>
              </a:defRPr>
            </a:lvl5pPr>
            <a:lvl6pPr marL="457200" algn="l" rtl="0" fontAlgn="base">
              <a:spcBef>
                <a:spcPct val="0"/>
              </a:spcBef>
              <a:spcAft>
                <a:spcPct val="0"/>
              </a:spcAft>
              <a:defRPr sz="3200">
                <a:solidFill>
                  <a:schemeClr val="accent2"/>
                </a:solidFill>
                <a:latin typeface="Garamond" pitchFamily="18" charset="0"/>
                <a:ea typeface="宋体" pitchFamily="2" charset="-122"/>
              </a:defRPr>
            </a:lvl6pPr>
            <a:lvl7pPr marL="914400" algn="l" rtl="0" fontAlgn="base">
              <a:spcBef>
                <a:spcPct val="0"/>
              </a:spcBef>
              <a:spcAft>
                <a:spcPct val="0"/>
              </a:spcAft>
              <a:defRPr sz="3200">
                <a:solidFill>
                  <a:schemeClr val="accent2"/>
                </a:solidFill>
                <a:latin typeface="Garamond" pitchFamily="18" charset="0"/>
                <a:ea typeface="宋体" pitchFamily="2" charset="-122"/>
              </a:defRPr>
            </a:lvl7pPr>
            <a:lvl8pPr marL="1371600" algn="l" rtl="0" fontAlgn="base">
              <a:spcBef>
                <a:spcPct val="0"/>
              </a:spcBef>
              <a:spcAft>
                <a:spcPct val="0"/>
              </a:spcAft>
              <a:defRPr sz="3200">
                <a:solidFill>
                  <a:schemeClr val="accent2"/>
                </a:solidFill>
                <a:latin typeface="Garamond" pitchFamily="18" charset="0"/>
                <a:ea typeface="宋体" pitchFamily="2" charset="-122"/>
              </a:defRPr>
            </a:lvl8pPr>
            <a:lvl9pPr marL="1828800" algn="l" rtl="0" fontAlgn="base">
              <a:spcBef>
                <a:spcPct val="0"/>
              </a:spcBef>
              <a:spcAft>
                <a:spcPct val="0"/>
              </a:spcAft>
              <a:defRPr sz="3200">
                <a:solidFill>
                  <a:schemeClr val="accent2"/>
                </a:solidFill>
                <a:latin typeface="Garamond" pitchFamily="18" charset="0"/>
                <a:ea typeface="宋体" pitchFamily="2" charset="-122"/>
              </a:defRPr>
            </a:lvl9pPr>
          </a:lstStyle>
          <a:p>
            <a:pPr eaLnBrk="1" hangingPunct="1"/>
            <a:r>
              <a:rPr lang="en-US" altLang="zh-CN" kern="0" dirty="0" smtClean="0">
                <a:solidFill>
                  <a:srgbClr val="333399"/>
                </a:solidFill>
              </a:rPr>
              <a:t>1.4.</a:t>
            </a:r>
            <a:r>
              <a:rPr lang="en-US" altLang="zh-CN" kern="0" dirty="0" smtClean="0"/>
              <a:t>6 </a:t>
            </a:r>
            <a:r>
              <a:rPr lang="zh-CN" altLang="en-US" kern="0" dirty="0" smtClean="0"/>
              <a:t>树、根树、</a:t>
            </a:r>
            <a:r>
              <a:rPr lang="zh-CN" altLang="en-US" b="1" u="sng" kern="0" dirty="0" smtClean="0"/>
              <a:t>二叉树</a:t>
            </a:r>
            <a:endParaRPr lang="en-US" altLang="zh-CN" kern="0" dirty="0" smtClean="0"/>
          </a:p>
        </p:txBody>
      </p:sp>
    </p:spTree>
    <p:extLst>
      <p:ext uri="{BB962C8B-B14F-4D97-AF65-F5344CB8AC3E}">
        <p14:creationId xmlns:p14="http://schemas.microsoft.com/office/powerpoint/2010/main" val="2484991853"/>
      </p:ext>
    </p:extLst>
  </p:cSld>
  <p:clrMapOvr>
    <a:masterClrMapping/>
  </p:clrMapOvr>
  <p:timing>
    <p:tnLst>
      <p:par>
        <p:cTn id="1" dur="indefinite" restart="never" nodeType="tmRoot"/>
      </p:par>
    </p:tn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a:xfrm>
            <a:off x="899592" y="409575"/>
            <a:ext cx="7758112" cy="762000"/>
          </a:xfrm>
        </p:spPr>
        <p:txBody>
          <a:bodyPr/>
          <a:lstStyle/>
          <a:p>
            <a:r>
              <a:rPr lang="en-US" altLang="zh-CN" dirty="0">
                <a:solidFill>
                  <a:srgbClr val="333399"/>
                </a:solidFill>
              </a:rPr>
              <a:t>1.4.</a:t>
            </a:r>
            <a:r>
              <a:rPr lang="en-US" altLang="zh-CN" dirty="0" smtClean="0"/>
              <a:t>7 </a:t>
            </a:r>
            <a:r>
              <a:rPr lang="zh-CN" altLang="en-US" dirty="0" smtClean="0"/>
              <a:t>赫夫曼树及其应用</a:t>
            </a:r>
          </a:p>
        </p:txBody>
      </p:sp>
      <p:sp>
        <p:nvSpPr>
          <p:cNvPr id="25604" name="Rectangle 3"/>
          <p:cNvSpPr>
            <a:spLocks noGrp="1" noChangeArrowheads="1"/>
          </p:cNvSpPr>
          <p:nvPr>
            <p:ph type="body" sz="half" idx="1"/>
          </p:nvPr>
        </p:nvSpPr>
        <p:spPr>
          <a:xfrm>
            <a:off x="602184" y="1296937"/>
            <a:ext cx="8650336" cy="4562475"/>
          </a:xfrm>
        </p:spPr>
        <p:txBody>
          <a:bodyPr/>
          <a:lstStyle/>
          <a:p>
            <a:pPr marL="180000" indent="-180000">
              <a:lnSpc>
                <a:spcPct val="90000"/>
              </a:lnSpc>
            </a:pPr>
            <a:r>
              <a:rPr lang="zh-CN" altLang="en-US" sz="2400" dirty="0" smtClean="0">
                <a:solidFill>
                  <a:srgbClr val="FF0000"/>
                </a:solidFill>
              </a:rPr>
              <a:t>赫夫曼树</a:t>
            </a:r>
            <a:r>
              <a:rPr lang="zh-CN" altLang="en-US" sz="2400" dirty="0" smtClean="0"/>
              <a:t>：带权路径长度最短的树称为赫夫曼树或最优树。</a:t>
            </a:r>
          </a:p>
          <a:p>
            <a:pPr marL="180000" indent="-180000">
              <a:lnSpc>
                <a:spcPct val="90000"/>
              </a:lnSpc>
            </a:pPr>
            <a:r>
              <a:rPr lang="zh-CN" altLang="en-US" sz="2400" dirty="0" smtClean="0">
                <a:solidFill>
                  <a:srgbClr val="FF0000"/>
                </a:solidFill>
              </a:rPr>
              <a:t>路径</a:t>
            </a:r>
            <a:r>
              <a:rPr lang="zh-CN" altLang="en-US" sz="2400" dirty="0" smtClean="0"/>
              <a:t>：树的根结点到其余结点的分支。 </a:t>
            </a:r>
          </a:p>
          <a:p>
            <a:pPr marL="180000" indent="-180000">
              <a:lnSpc>
                <a:spcPct val="90000"/>
              </a:lnSpc>
            </a:pPr>
            <a:r>
              <a:rPr lang="zh-CN" altLang="en-US" sz="2400" dirty="0" smtClean="0">
                <a:solidFill>
                  <a:srgbClr val="FF0000"/>
                </a:solidFill>
              </a:rPr>
              <a:t>结点的路径长度</a:t>
            </a:r>
            <a:r>
              <a:rPr lang="zh-CN" altLang="en-US" sz="2400" dirty="0" smtClean="0"/>
              <a:t>：从根结点到该结点的路径上分支的数目。</a:t>
            </a:r>
          </a:p>
          <a:p>
            <a:pPr marL="180000" indent="-180000">
              <a:lnSpc>
                <a:spcPct val="90000"/>
              </a:lnSpc>
            </a:pPr>
            <a:r>
              <a:rPr lang="zh-CN" altLang="en-US" sz="2400" dirty="0" smtClean="0">
                <a:solidFill>
                  <a:srgbClr val="FF0000"/>
                </a:solidFill>
              </a:rPr>
              <a:t>结点的带权路径长度</a:t>
            </a:r>
            <a:r>
              <a:rPr lang="zh-CN" altLang="en-US" sz="2400" dirty="0" smtClean="0"/>
              <a:t>：从树根到该结点之间的路径长度与该结点上所带权值的乘积。</a:t>
            </a:r>
          </a:p>
          <a:p>
            <a:pPr marL="180000" indent="-180000">
              <a:lnSpc>
                <a:spcPct val="90000"/>
              </a:lnSpc>
            </a:pPr>
            <a:r>
              <a:rPr lang="zh-CN" altLang="en-US" sz="2400" dirty="0" smtClean="0">
                <a:solidFill>
                  <a:srgbClr val="FF0000"/>
                </a:solidFill>
              </a:rPr>
              <a:t>树的带权路径长度</a:t>
            </a:r>
            <a:r>
              <a:rPr lang="zh-CN" altLang="en-US" sz="2400" dirty="0" smtClean="0"/>
              <a:t>：树中所有叶子结点的带权路径长度之和。</a:t>
            </a:r>
          </a:p>
          <a:p>
            <a:pPr marL="180000" indent="-180000">
              <a:lnSpc>
                <a:spcPct val="90000"/>
              </a:lnSpc>
            </a:pPr>
            <a:endParaRPr lang="en-US" altLang="zh-CN" sz="2400" dirty="0" smtClean="0"/>
          </a:p>
          <a:p>
            <a:pPr marL="180000" indent="-180000">
              <a:lnSpc>
                <a:spcPct val="90000"/>
              </a:lnSpc>
            </a:pPr>
            <a:endParaRPr lang="zh-CN" altLang="en-US" sz="2400" dirty="0" smtClean="0"/>
          </a:p>
          <a:p>
            <a:pPr marL="180000" indent="-180000">
              <a:lnSpc>
                <a:spcPct val="90000"/>
              </a:lnSpc>
            </a:pPr>
            <a:r>
              <a:rPr lang="zh-CN" altLang="en-US" sz="2400" dirty="0" smtClean="0"/>
              <a:t>在所有含</a:t>
            </a:r>
            <a:r>
              <a:rPr lang="en-US" altLang="zh-CN" sz="2400" i="1" dirty="0" smtClean="0"/>
              <a:t>n</a:t>
            </a:r>
            <a:r>
              <a:rPr lang="zh-CN" altLang="en-US" sz="2400" dirty="0" smtClean="0"/>
              <a:t>个叶子结点、并带相同权值的</a:t>
            </a:r>
            <a:r>
              <a:rPr lang="en-US" altLang="zh-CN" sz="2400" dirty="0" smtClean="0"/>
              <a:t>m</a:t>
            </a:r>
            <a:r>
              <a:rPr lang="zh-CN" altLang="en-US" sz="2400" dirty="0" smtClean="0"/>
              <a:t>叉树中，必存在一棵其带权路径长度取最小值的树，称为“</a:t>
            </a:r>
            <a:r>
              <a:rPr lang="zh-CN" altLang="en-US" sz="2400" dirty="0" smtClean="0">
                <a:solidFill>
                  <a:srgbClr val="FF0000"/>
                </a:solidFill>
              </a:rPr>
              <a:t>最优树</a:t>
            </a:r>
            <a:r>
              <a:rPr lang="zh-CN" altLang="en-US" sz="2400" dirty="0" smtClean="0"/>
              <a:t>”</a:t>
            </a:r>
          </a:p>
        </p:txBody>
      </p:sp>
      <p:graphicFrame>
        <p:nvGraphicFramePr>
          <p:cNvPr id="25602" name="Object 2"/>
          <p:cNvGraphicFramePr>
            <a:graphicFrameLocks noGrp="1" noChangeAspect="1"/>
          </p:cNvGraphicFramePr>
          <p:nvPr>
            <p:ph sz="half" idx="2"/>
          </p:nvPr>
        </p:nvGraphicFramePr>
        <p:xfrm>
          <a:off x="2339752" y="3578174"/>
          <a:ext cx="2066925" cy="776288"/>
        </p:xfrm>
        <a:graphic>
          <a:graphicData uri="http://schemas.openxmlformats.org/presentationml/2006/ole">
            <mc:AlternateContent xmlns:mc="http://schemas.openxmlformats.org/markup-compatibility/2006">
              <mc:Choice xmlns:v="urn:schemas-microsoft-com:vml" Requires="v">
                <p:oleObj spid="_x0000_s47114" name="公式" r:id="rId3" imgW="914400" imgH="431640" progId="Equation.3">
                  <p:embed/>
                </p:oleObj>
              </mc:Choice>
              <mc:Fallback>
                <p:oleObj name="公式" r:id="rId3" imgW="914400" imgH="431640" progId="Equation.3">
                  <p:embed/>
                  <p:pic>
                    <p:nvPicPr>
                      <p:cNvPr id="2560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9752" y="3578174"/>
                        <a:ext cx="2066925" cy="776288"/>
                      </a:xfrm>
                      <a:prstGeom prst="rect">
                        <a:avLst/>
                      </a:prstGeom>
                      <a:solidFill>
                        <a:srgbClr val="CCFFF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5605"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Tree>
    <p:extLst>
      <p:ext uri="{BB962C8B-B14F-4D97-AF65-F5344CB8AC3E}">
        <p14:creationId xmlns:p14="http://schemas.microsoft.com/office/powerpoint/2010/main" val="3585323604"/>
      </p:ext>
    </p:extLst>
  </p:cSld>
  <p:clrMapOvr>
    <a:masterClrMapping/>
  </p:clrMapOvr>
  <p:transition/>
  <p:timing>
    <p:tnLst>
      <p:par>
        <p:cTn id="1" dur="indefinite" restart="never" nodeType="tmRoot"/>
      </p:par>
    </p:tn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55"/>
          <p:cNvSpPr>
            <a:spLocks noGrp="1" noChangeArrowheads="1"/>
          </p:cNvSpPr>
          <p:nvPr>
            <p:ph type="title"/>
          </p:nvPr>
        </p:nvSpPr>
        <p:spPr/>
        <p:txBody>
          <a:bodyPr/>
          <a:lstStyle/>
          <a:p>
            <a:endParaRPr lang="zh-CN" altLang="zh-CN" smtClean="0"/>
          </a:p>
        </p:txBody>
      </p:sp>
      <p:graphicFrame>
        <p:nvGraphicFramePr>
          <p:cNvPr id="26626" name="Object 2"/>
          <p:cNvGraphicFramePr>
            <a:graphicFrameLocks noGrp="1" noChangeAspect="1"/>
          </p:cNvGraphicFramePr>
          <p:nvPr>
            <p:ph sz="half" idx="1"/>
          </p:nvPr>
        </p:nvGraphicFramePr>
        <p:xfrm>
          <a:off x="792163" y="471488"/>
          <a:ext cx="7305675" cy="4352925"/>
        </p:xfrm>
        <a:graphic>
          <a:graphicData uri="http://schemas.openxmlformats.org/presentationml/2006/ole">
            <mc:AlternateContent xmlns:mc="http://schemas.openxmlformats.org/markup-compatibility/2006">
              <mc:Choice xmlns:v="urn:schemas-microsoft-com:vml" Requires="v">
                <p:oleObj spid="_x0000_s48146" name="位图图像" r:id="rId3" imgW="2467319" imgH="1800476" progId="PBrush">
                  <p:embed/>
                </p:oleObj>
              </mc:Choice>
              <mc:Fallback>
                <p:oleObj name="位图图像" r:id="rId3" imgW="2467319" imgH="1800476" progId="PBrush">
                  <p:embed/>
                  <p:pic>
                    <p:nvPicPr>
                      <p:cNvPr id="26626"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2163" y="471488"/>
                        <a:ext cx="7305675" cy="435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74742" name="Object 3"/>
          <p:cNvGraphicFramePr>
            <a:graphicFrameLocks noGrp="1" noChangeAspect="1"/>
          </p:cNvGraphicFramePr>
          <p:nvPr>
            <p:ph sz="half" idx="2"/>
          </p:nvPr>
        </p:nvGraphicFramePr>
        <p:xfrm>
          <a:off x="1103313" y="4883150"/>
          <a:ext cx="6530975" cy="1327150"/>
        </p:xfrm>
        <a:graphic>
          <a:graphicData uri="http://schemas.openxmlformats.org/presentationml/2006/ole">
            <mc:AlternateContent xmlns:mc="http://schemas.openxmlformats.org/markup-compatibility/2006">
              <mc:Choice xmlns:v="urn:schemas-microsoft-com:vml" Requires="v">
                <p:oleObj spid="_x0000_s48147" name="位图图像" r:id="rId5" imgW="3390476" imgH="571731" progId="PBrush">
                  <p:embed/>
                </p:oleObj>
              </mc:Choice>
              <mc:Fallback>
                <p:oleObj name="位图图像" r:id="rId5" imgW="3390476" imgH="571731" progId="PBrush">
                  <p:embed/>
                  <p:pic>
                    <p:nvPicPr>
                      <p:cNvPr id="2674742"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03313" y="4883150"/>
                        <a:ext cx="6530975" cy="1327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629"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Tree>
    <p:extLst>
      <p:ext uri="{BB962C8B-B14F-4D97-AF65-F5344CB8AC3E}">
        <p14:creationId xmlns:p14="http://schemas.microsoft.com/office/powerpoint/2010/main" val="168787660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674742"/>
                                        </p:tgtEl>
                                        <p:attrNameLst>
                                          <p:attrName>style.visibility</p:attrName>
                                        </p:attrNameLst>
                                      </p:cBhvr>
                                      <p:to>
                                        <p:strVal val="visible"/>
                                      </p:to>
                                    </p:set>
                                    <p:anim calcmode="lin" valueType="num">
                                      <p:cBhvr additive="base">
                                        <p:cTn id="7" dur="500" fill="hold"/>
                                        <p:tgtEl>
                                          <p:spTgt spid="2674742"/>
                                        </p:tgtEl>
                                        <p:attrNameLst>
                                          <p:attrName>ppt_x</p:attrName>
                                        </p:attrNameLst>
                                      </p:cBhvr>
                                      <p:tavLst>
                                        <p:tav tm="0">
                                          <p:val>
                                            <p:strVal val="#ppt_x"/>
                                          </p:val>
                                        </p:tav>
                                        <p:tav tm="100000">
                                          <p:val>
                                            <p:strVal val="#ppt_x"/>
                                          </p:val>
                                        </p:tav>
                                      </p:tavLst>
                                    </p:anim>
                                    <p:anim calcmode="lin" valueType="num">
                                      <p:cBhvr additive="base">
                                        <p:cTn id="8" dur="500" fill="hold"/>
                                        <p:tgtEl>
                                          <p:spTgt spid="26747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a:xfrm>
            <a:off x="857250" y="457200"/>
            <a:ext cx="7829550" cy="762000"/>
          </a:xfrm>
        </p:spPr>
        <p:txBody>
          <a:bodyPr/>
          <a:lstStyle/>
          <a:p>
            <a:r>
              <a:rPr lang="en-US" altLang="zh-CN" dirty="0">
                <a:solidFill>
                  <a:srgbClr val="333399"/>
                </a:solidFill>
              </a:rPr>
              <a:t>1.4.</a:t>
            </a:r>
            <a:r>
              <a:rPr lang="en-US" altLang="zh-CN" dirty="0" smtClean="0"/>
              <a:t>7 </a:t>
            </a:r>
            <a:r>
              <a:rPr lang="zh-CN" altLang="en-US" dirty="0" smtClean="0"/>
              <a:t>赫夫曼树及其应用</a:t>
            </a:r>
          </a:p>
        </p:txBody>
      </p:sp>
      <p:sp>
        <p:nvSpPr>
          <p:cNvPr id="87043" name="Rectangle 3"/>
          <p:cNvSpPr>
            <a:spLocks noGrp="1" noChangeArrowheads="1"/>
          </p:cNvSpPr>
          <p:nvPr>
            <p:ph type="body" sz="half" idx="1"/>
          </p:nvPr>
        </p:nvSpPr>
        <p:spPr>
          <a:xfrm>
            <a:off x="857250" y="1250851"/>
            <a:ext cx="8179246" cy="4562475"/>
          </a:xfrm>
        </p:spPr>
        <p:txBody>
          <a:bodyPr/>
          <a:lstStyle/>
          <a:p>
            <a:pPr>
              <a:buFont typeface="Wingdings" panose="05000000000000000000" pitchFamily="2" charset="2"/>
              <a:buNone/>
            </a:pPr>
            <a:r>
              <a:rPr lang="zh-CN" altLang="en-US" sz="2800" b="1" dirty="0"/>
              <a:t>赫夫</a:t>
            </a:r>
            <a:r>
              <a:rPr lang="zh-CN" altLang="en-US" sz="2800" b="1" dirty="0" smtClean="0"/>
              <a:t>曼树的构造</a:t>
            </a:r>
            <a:r>
              <a:rPr lang="zh-CN" altLang="en-US" sz="2400" dirty="0" smtClean="0"/>
              <a:t>：</a:t>
            </a:r>
            <a:endParaRPr lang="en-US" altLang="zh-CN" sz="2400" dirty="0" smtClean="0"/>
          </a:p>
          <a:p>
            <a:pPr>
              <a:buFont typeface="Wingdings" panose="05000000000000000000" pitchFamily="2" charset="2"/>
              <a:buNone/>
            </a:pPr>
            <a:r>
              <a:rPr lang="en-US" altLang="zh-CN" sz="2400" dirty="0" smtClean="0"/>
              <a:t>(1) </a:t>
            </a:r>
            <a:r>
              <a:rPr lang="zh-CN" altLang="en-US" sz="2400" dirty="0" smtClean="0"/>
              <a:t>根据给定的</a:t>
            </a:r>
            <a:r>
              <a:rPr lang="en-US" altLang="zh-CN" sz="2400" i="1" dirty="0" smtClean="0"/>
              <a:t>n</a:t>
            </a:r>
            <a:r>
              <a:rPr lang="zh-CN" altLang="en-US" sz="2400" dirty="0" smtClean="0"/>
              <a:t>个权值</a:t>
            </a:r>
            <a:r>
              <a:rPr lang="en-US" altLang="zh-CN" sz="2400" dirty="0" smtClean="0"/>
              <a:t>{</a:t>
            </a:r>
            <a:r>
              <a:rPr lang="en-US" altLang="zh-CN" sz="2400" i="1" dirty="0" err="1" smtClean="0"/>
              <a:t>w1</a:t>
            </a:r>
            <a:r>
              <a:rPr lang="en-US" altLang="zh-CN" sz="2400" i="1" dirty="0" smtClean="0"/>
              <a:t>, </a:t>
            </a:r>
            <a:r>
              <a:rPr lang="en-US" altLang="zh-CN" sz="2400" i="1" dirty="0" err="1" smtClean="0"/>
              <a:t>w2</a:t>
            </a:r>
            <a:r>
              <a:rPr lang="en-US" altLang="zh-CN" sz="2400" i="1" dirty="0" smtClean="0"/>
              <a:t>, …, </a:t>
            </a:r>
            <a:r>
              <a:rPr lang="en-US" altLang="zh-CN" sz="2400" i="1" dirty="0" err="1" smtClean="0"/>
              <a:t>wn</a:t>
            </a:r>
            <a:r>
              <a:rPr lang="en-US" altLang="zh-CN" sz="2400" dirty="0" smtClean="0"/>
              <a:t>}</a:t>
            </a:r>
            <a:r>
              <a:rPr lang="zh-CN" altLang="en-US" sz="2400" dirty="0" smtClean="0"/>
              <a:t>，构造</a:t>
            </a:r>
            <a:r>
              <a:rPr lang="en-US" altLang="zh-CN" sz="2400" i="1" dirty="0" smtClean="0"/>
              <a:t>n</a:t>
            </a:r>
            <a:r>
              <a:rPr lang="zh-CN" altLang="en-US" sz="2400" dirty="0" smtClean="0"/>
              <a:t>棵二叉树的集合</a:t>
            </a:r>
            <a:r>
              <a:rPr lang="en-US" altLang="zh-CN" sz="2400" i="1" dirty="0" smtClean="0"/>
              <a:t>F</a:t>
            </a:r>
            <a:r>
              <a:rPr lang="en-US" altLang="zh-CN" sz="2400" dirty="0" smtClean="0"/>
              <a:t> = {</a:t>
            </a:r>
            <a:r>
              <a:rPr lang="en-US" altLang="zh-CN" sz="2400" dirty="0" err="1" smtClean="0"/>
              <a:t>T1</a:t>
            </a:r>
            <a:r>
              <a:rPr lang="en-US" altLang="zh-CN" sz="2400" dirty="0" smtClean="0"/>
              <a:t>, </a:t>
            </a:r>
            <a:r>
              <a:rPr lang="en-US" altLang="zh-CN" sz="2400" dirty="0" err="1" smtClean="0"/>
              <a:t>T2</a:t>
            </a:r>
            <a:r>
              <a:rPr lang="en-US" altLang="zh-CN" sz="2400" dirty="0" smtClean="0"/>
              <a:t>, …, </a:t>
            </a:r>
            <a:r>
              <a:rPr lang="en-US" altLang="zh-CN" sz="2400" dirty="0" err="1" smtClean="0"/>
              <a:t>Tn</a:t>
            </a:r>
            <a:r>
              <a:rPr lang="en-US" altLang="zh-CN" sz="2400" dirty="0" smtClean="0"/>
              <a:t>}</a:t>
            </a:r>
            <a:r>
              <a:rPr lang="zh-CN" altLang="en-US" sz="2400" dirty="0" smtClean="0"/>
              <a:t>，其中每棵二叉树中均只含一个带权值为</a:t>
            </a:r>
            <a:r>
              <a:rPr lang="en-US" altLang="zh-CN" sz="2400" i="1" dirty="0" err="1" smtClean="0"/>
              <a:t>wi</a:t>
            </a:r>
            <a:r>
              <a:rPr lang="zh-CN" altLang="en-US" sz="2400" dirty="0" smtClean="0"/>
              <a:t>的根结点</a:t>
            </a:r>
            <a:r>
              <a:rPr lang="en-US" altLang="zh-CN" sz="2400" dirty="0" smtClean="0"/>
              <a:t>,</a:t>
            </a:r>
            <a:r>
              <a:rPr lang="zh-CN" altLang="en-US" sz="2400" dirty="0" smtClean="0"/>
              <a:t>其左、右子树为空树</a:t>
            </a:r>
            <a:r>
              <a:rPr lang="en-US" altLang="zh-CN" sz="2400" dirty="0" smtClean="0"/>
              <a:t>;</a:t>
            </a:r>
          </a:p>
          <a:p>
            <a:pPr>
              <a:buFont typeface="Wingdings" panose="05000000000000000000" pitchFamily="2" charset="2"/>
              <a:buNone/>
            </a:pPr>
            <a:r>
              <a:rPr lang="en-US" altLang="zh-CN" sz="2400" dirty="0" smtClean="0"/>
              <a:t>(2) </a:t>
            </a:r>
            <a:r>
              <a:rPr lang="zh-CN" altLang="en-US" sz="2400" dirty="0" smtClean="0"/>
              <a:t>在</a:t>
            </a:r>
            <a:r>
              <a:rPr lang="en-US" altLang="zh-CN" sz="2400" i="1" dirty="0" smtClean="0"/>
              <a:t>F</a:t>
            </a:r>
            <a:r>
              <a:rPr lang="zh-CN" altLang="en-US" sz="2400" dirty="0" smtClean="0"/>
              <a:t>中选取其根结点的权值为最小的两棵二叉树，分别作为左、右子树构造一棵新的二叉树，并置这棵新的二叉树根结点的权值为其左、右子树根结点的权值之和</a:t>
            </a:r>
            <a:r>
              <a:rPr lang="en-US" altLang="zh-CN" sz="2400" dirty="0" smtClean="0"/>
              <a:t>;</a:t>
            </a:r>
            <a:r>
              <a:rPr lang="zh-CN" altLang="en-US" sz="2400" dirty="0" smtClean="0"/>
              <a:t>（根结点的权值</a:t>
            </a:r>
            <a:r>
              <a:rPr lang="en-US" altLang="zh-CN" sz="2400" dirty="0" smtClean="0"/>
              <a:t>=</a:t>
            </a:r>
            <a:r>
              <a:rPr lang="zh-CN" altLang="en-US" sz="2400" dirty="0" smtClean="0"/>
              <a:t>左右孩子权值之和，叶结点的权值</a:t>
            </a:r>
            <a:r>
              <a:rPr lang="en-US" altLang="zh-CN" sz="2400" dirty="0" smtClean="0"/>
              <a:t>= Wi)</a:t>
            </a:r>
            <a:r>
              <a:rPr lang="zh-CN" altLang="en-US" sz="2400" dirty="0" smtClean="0"/>
              <a:t>。</a:t>
            </a:r>
            <a:endParaRPr lang="en-US" altLang="zh-CN" sz="2400" dirty="0" smtClean="0"/>
          </a:p>
          <a:p>
            <a:pPr>
              <a:buFont typeface="Wingdings" panose="05000000000000000000" pitchFamily="2" charset="2"/>
              <a:buNone/>
            </a:pPr>
            <a:r>
              <a:rPr lang="en-US" altLang="zh-CN" sz="2400" dirty="0" smtClean="0"/>
              <a:t>(3) </a:t>
            </a:r>
            <a:r>
              <a:rPr lang="zh-CN" altLang="en-US" sz="2400" dirty="0" smtClean="0"/>
              <a:t>从</a:t>
            </a:r>
            <a:r>
              <a:rPr lang="en-US" altLang="zh-CN" sz="2400" i="1" dirty="0" smtClean="0"/>
              <a:t>F</a:t>
            </a:r>
            <a:r>
              <a:rPr lang="zh-CN" altLang="en-US" sz="2400" dirty="0" smtClean="0"/>
              <a:t>中删去这两棵树，同时加入刚生成的新树</a:t>
            </a:r>
            <a:r>
              <a:rPr lang="en-US" altLang="zh-CN" sz="2400" dirty="0" smtClean="0"/>
              <a:t>;</a:t>
            </a:r>
          </a:p>
          <a:p>
            <a:pPr>
              <a:buFont typeface="Wingdings" panose="05000000000000000000" pitchFamily="2" charset="2"/>
              <a:buNone/>
            </a:pPr>
            <a:r>
              <a:rPr lang="en-US" altLang="zh-CN" sz="2400" dirty="0" smtClean="0"/>
              <a:t>(4) </a:t>
            </a:r>
            <a:r>
              <a:rPr lang="zh-CN" altLang="en-US" sz="2400" dirty="0" smtClean="0"/>
              <a:t>重复</a:t>
            </a:r>
            <a:r>
              <a:rPr lang="en-US" altLang="zh-CN" sz="2400" dirty="0" smtClean="0"/>
              <a:t>(2)</a:t>
            </a:r>
            <a:r>
              <a:rPr lang="zh-CN" altLang="en-US" sz="2400" dirty="0" smtClean="0"/>
              <a:t>和</a:t>
            </a:r>
            <a:r>
              <a:rPr lang="en-US" altLang="zh-CN" sz="2400" dirty="0" smtClean="0"/>
              <a:t>(3)</a:t>
            </a:r>
            <a:r>
              <a:rPr lang="zh-CN" altLang="en-US" sz="2400" dirty="0" smtClean="0"/>
              <a:t>两步，直至</a:t>
            </a:r>
            <a:r>
              <a:rPr lang="en-US" altLang="zh-CN" sz="2400" i="1" dirty="0" smtClean="0"/>
              <a:t>F</a:t>
            </a:r>
            <a:r>
              <a:rPr lang="zh-CN" altLang="en-US" sz="2400" dirty="0" smtClean="0"/>
              <a:t>中只含一棵树为止</a:t>
            </a:r>
            <a:r>
              <a:rPr lang="zh-CN" altLang="en-US" sz="2800" b="1" dirty="0" smtClean="0">
                <a:latin typeface="仿宋_GB2312" pitchFamily="49" charset="-122"/>
                <a:ea typeface="仿宋_GB2312" pitchFamily="49" charset="-122"/>
              </a:rPr>
              <a:t>。</a:t>
            </a:r>
          </a:p>
        </p:txBody>
      </p:sp>
      <p:sp>
        <p:nvSpPr>
          <p:cNvPr id="8704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Tree>
    <p:extLst>
      <p:ext uri="{BB962C8B-B14F-4D97-AF65-F5344CB8AC3E}">
        <p14:creationId xmlns:p14="http://schemas.microsoft.com/office/powerpoint/2010/main" val="3010010732"/>
      </p:ext>
    </p:extLst>
  </p:cSld>
  <p:clrMapOvr>
    <a:masterClrMapping/>
  </p:clrMapOvr>
  <p:transition/>
  <p:timing>
    <p:tnLst>
      <p:par>
        <p:cTn id="1" dur="indefinite" restart="never" nodeType="tmRoot"/>
      </p:par>
    </p:tn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p:cNvGrpSpPr>
            <a:grpSpLocks/>
          </p:cNvGrpSpPr>
          <p:nvPr/>
        </p:nvGrpSpPr>
        <p:grpSpPr bwMode="auto">
          <a:xfrm>
            <a:off x="1143000" y="1143000"/>
            <a:ext cx="3030538" cy="300038"/>
            <a:chOff x="756" y="567"/>
            <a:chExt cx="1909" cy="189"/>
          </a:xfrm>
        </p:grpSpPr>
        <p:sp>
          <p:nvSpPr>
            <p:cNvPr id="88243" name="Oval 5"/>
            <p:cNvSpPr>
              <a:spLocks noChangeArrowheads="1"/>
            </p:cNvSpPr>
            <p:nvPr/>
          </p:nvSpPr>
          <p:spPr bwMode="auto">
            <a:xfrm>
              <a:off x="756" y="567"/>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5</a:t>
              </a:r>
            </a:p>
          </p:txBody>
        </p:sp>
        <p:sp>
          <p:nvSpPr>
            <p:cNvPr id="88244" name="Oval 6"/>
            <p:cNvSpPr>
              <a:spLocks noChangeArrowheads="1"/>
            </p:cNvSpPr>
            <p:nvPr/>
          </p:nvSpPr>
          <p:spPr bwMode="auto">
            <a:xfrm>
              <a:off x="1738" y="567"/>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14</a:t>
              </a:r>
            </a:p>
          </p:txBody>
        </p:sp>
        <p:sp>
          <p:nvSpPr>
            <p:cNvPr id="88245" name="Oval 7"/>
            <p:cNvSpPr>
              <a:spLocks noChangeArrowheads="1"/>
            </p:cNvSpPr>
            <p:nvPr/>
          </p:nvSpPr>
          <p:spPr bwMode="auto">
            <a:xfrm>
              <a:off x="1001" y="567"/>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29</a:t>
              </a:r>
            </a:p>
          </p:txBody>
        </p:sp>
        <p:sp>
          <p:nvSpPr>
            <p:cNvPr id="88246" name="Oval 8"/>
            <p:cNvSpPr>
              <a:spLocks noChangeArrowheads="1"/>
            </p:cNvSpPr>
            <p:nvPr/>
          </p:nvSpPr>
          <p:spPr bwMode="auto">
            <a:xfrm>
              <a:off x="1247" y="567"/>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7</a:t>
              </a:r>
            </a:p>
          </p:txBody>
        </p:sp>
        <p:sp>
          <p:nvSpPr>
            <p:cNvPr id="88247" name="Oval 9"/>
            <p:cNvSpPr>
              <a:spLocks noChangeArrowheads="1"/>
            </p:cNvSpPr>
            <p:nvPr/>
          </p:nvSpPr>
          <p:spPr bwMode="auto">
            <a:xfrm>
              <a:off x="1493" y="567"/>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8</a:t>
              </a:r>
            </a:p>
          </p:txBody>
        </p:sp>
        <p:sp>
          <p:nvSpPr>
            <p:cNvPr id="88248" name="Oval 10"/>
            <p:cNvSpPr>
              <a:spLocks noChangeArrowheads="1"/>
            </p:cNvSpPr>
            <p:nvPr/>
          </p:nvSpPr>
          <p:spPr bwMode="auto">
            <a:xfrm>
              <a:off x="1984" y="567"/>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23</a:t>
              </a:r>
            </a:p>
          </p:txBody>
        </p:sp>
        <p:sp>
          <p:nvSpPr>
            <p:cNvPr id="88249" name="Oval 11"/>
            <p:cNvSpPr>
              <a:spLocks noChangeArrowheads="1"/>
            </p:cNvSpPr>
            <p:nvPr/>
          </p:nvSpPr>
          <p:spPr bwMode="auto">
            <a:xfrm>
              <a:off x="2230" y="567"/>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3</a:t>
              </a:r>
            </a:p>
          </p:txBody>
        </p:sp>
        <p:sp>
          <p:nvSpPr>
            <p:cNvPr id="88250" name="Oval 12"/>
            <p:cNvSpPr>
              <a:spLocks noChangeArrowheads="1"/>
            </p:cNvSpPr>
            <p:nvPr/>
          </p:nvSpPr>
          <p:spPr bwMode="auto">
            <a:xfrm>
              <a:off x="2476" y="567"/>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11</a:t>
              </a:r>
            </a:p>
          </p:txBody>
        </p:sp>
      </p:grpSp>
      <p:grpSp>
        <p:nvGrpSpPr>
          <p:cNvPr id="3" name="Group 13"/>
          <p:cNvGrpSpPr>
            <a:grpSpLocks/>
          </p:cNvGrpSpPr>
          <p:nvPr/>
        </p:nvGrpSpPr>
        <p:grpSpPr bwMode="auto">
          <a:xfrm>
            <a:off x="1154113" y="1714500"/>
            <a:ext cx="2792412" cy="733425"/>
            <a:chOff x="674" y="1452"/>
            <a:chExt cx="1759" cy="462"/>
          </a:xfrm>
        </p:grpSpPr>
        <p:sp>
          <p:nvSpPr>
            <p:cNvPr id="88231" name="Oval 14"/>
            <p:cNvSpPr>
              <a:spLocks noChangeArrowheads="1"/>
            </p:cNvSpPr>
            <p:nvPr/>
          </p:nvSpPr>
          <p:spPr bwMode="auto">
            <a:xfrm>
              <a:off x="1411" y="1452"/>
              <a:ext cx="189" cy="189"/>
            </a:xfrm>
            <a:prstGeom prst="ellipse">
              <a:avLst/>
            </a:prstGeom>
            <a:solidFill>
              <a:srgbClr val="9900FF"/>
            </a:solidFill>
            <a:ln w="9525">
              <a:solidFill>
                <a:schemeClr val="hlink"/>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14</a:t>
              </a:r>
            </a:p>
          </p:txBody>
        </p:sp>
        <p:sp>
          <p:nvSpPr>
            <p:cNvPr id="88232" name="Oval 15"/>
            <p:cNvSpPr>
              <a:spLocks noChangeArrowheads="1"/>
            </p:cNvSpPr>
            <p:nvPr/>
          </p:nvSpPr>
          <p:spPr bwMode="auto">
            <a:xfrm>
              <a:off x="674" y="1452"/>
              <a:ext cx="189" cy="189"/>
            </a:xfrm>
            <a:prstGeom prst="ellipse">
              <a:avLst/>
            </a:prstGeom>
            <a:solidFill>
              <a:srgbClr val="9900FF"/>
            </a:solidFill>
            <a:ln w="9525">
              <a:solidFill>
                <a:schemeClr val="hlink"/>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29</a:t>
              </a:r>
            </a:p>
          </p:txBody>
        </p:sp>
        <p:sp>
          <p:nvSpPr>
            <p:cNvPr id="88233" name="Oval 16"/>
            <p:cNvSpPr>
              <a:spLocks noChangeArrowheads="1"/>
            </p:cNvSpPr>
            <p:nvPr/>
          </p:nvSpPr>
          <p:spPr bwMode="auto">
            <a:xfrm>
              <a:off x="920" y="1452"/>
              <a:ext cx="189" cy="189"/>
            </a:xfrm>
            <a:prstGeom prst="ellipse">
              <a:avLst/>
            </a:prstGeom>
            <a:solidFill>
              <a:srgbClr val="9900FF"/>
            </a:solidFill>
            <a:ln w="9525">
              <a:solidFill>
                <a:schemeClr val="hlink"/>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7</a:t>
              </a:r>
            </a:p>
          </p:txBody>
        </p:sp>
        <p:sp>
          <p:nvSpPr>
            <p:cNvPr id="88234" name="Oval 17"/>
            <p:cNvSpPr>
              <a:spLocks noChangeArrowheads="1"/>
            </p:cNvSpPr>
            <p:nvPr/>
          </p:nvSpPr>
          <p:spPr bwMode="auto">
            <a:xfrm>
              <a:off x="1166" y="1452"/>
              <a:ext cx="189" cy="189"/>
            </a:xfrm>
            <a:prstGeom prst="ellipse">
              <a:avLst/>
            </a:prstGeom>
            <a:solidFill>
              <a:srgbClr val="9900FF"/>
            </a:solidFill>
            <a:ln w="9525">
              <a:solidFill>
                <a:schemeClr val="hlink"/>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8</a:t>
              </a:r>
            </a:p>
          </p:txBody>
        </p:sp>
        <p:sp>
          <p:nvSpPr>
            <p:cNvPr id="88235" name="Oval 18"/>
            <p:cNvSpPr>
              <a:spLocks noChangeArrowheads="1"/>
            </p:cNvSpPr>
            <p:nvPr/>
          </p:nvSpPr>
          <p:spPr bwMode="auto">
            <a:xfrm>
              <a:off x="1657" y="1452"/>
              <a:ext cx="189" cy="189"/>
            </a:xfrm>
            <a:prstGeom prst="ellipse">
              <a:avLst/>
            </a:prstGeom>
            <a:solidFill>
              <a:srgbClr val="9900FF"/>
            </a:solidFill>
            <a:ln w="9525">
              <a:solidFill>
                <a:schemeClr val="hlink"/>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23</a:t>
              </a:r>
            </a:p>
          </p:txBody>
        </p:sp>
        <p:sp>
          <p:nvSpPr>
            <p:cNvPr id="88236" name="Oval 19"/>
            <p:cNvSpPr>
              <a:spLocks noChangeArrowheads="1"/>
            </p:cNvSpPr>
            <p:nvPr/>
          </p:nvSpPr>
          <p:spPr bwMode="auto">
            <a:xfrm>
              <a:off x="1893" y="1452"/>
              <a:ext cx="189" cy="189"/>
            </a:xfrm>
            <a:prstGeom prst="ellipse">
              <a:avLst/>
            </a:prstGeom>
            <a:solidFill>
              <a:srgbClr val="9900FF"/>
            </a:solidFill>
            <a:ln w="9525">
              <a:solidFill>
                <a:schemeClr val="hlink"/>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11</a:t>
              </a:r>
            </a:p>
          </p:txBody>
        </p:sp>
        <p:grpSp>
          <p:nvGrpSpPr>
            <p:cNvPr id="88237" name="Group 20"/>
            <p:cNvGrpSpPr>
              <a:grpSpLocks/>
            </p:cNvGrpSpPr>
            <p:nvPr/>
          </p:nvGrpSpPr>
          <p:grpSpPr bwMode="auto">
            <a:xfrm>
              <a:off x="1926" y="1455"/>
              <a:ext cx="507" cy="459"/>
              <a:chOff x="1596" y="1881"/>
              <a:chExt cx="507" cy="459"/>
            </a:xfrm>
          </p:grpSpPr>
          <p:sp>
            <p:nvSpPr>
              <p:cNvPr id="88238" name="Oval 21"/>
              <p:cNvSpPr>
                <a:spLocks noChangeArrowheads="1"/>
              </p:cNvSpPr>
              <p:nvPr/>
            </p:nvSpPr>
            <p:spPr bwMode="auto">
              <a:xfrm>
                <a:off x="1914" y="2151"/>
                <a:ext cx="189" cy="189"/>
              </a:xfrm>
              <a:prstGeom prst="ellipse">
                <a:avLst/>
              </a:prstGeom>
              <a:solidFill>
                <a:srgbClr val="9900FF"/>
              </a:solidFill>
              <a:ln w="9525">
                <a:solidFill>
                  <a:schemeClr val="hlink"/>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3</a:t>
                </a:r>
              </a:p>
            </p:txBody>
          </p:sp>
          <p:sp>
            <p:nvSpPr>
              <p:cNvPr id="88239" name="Oval 22"/>
              <p:cNvSpPr>
                <a:spLocks noChangeArrowheads="1"/>
              </p:cNvSpPr>
              <p:nvPr/>
            </p:nvSpPr>
            <p:spPr bwMode="auto">
              <a:xfrm>
                <a:off x="1596" y="2151"/>
                <a:ext cx="189" cy="189"/>
              </a:xfrm>
              <a:prstGeom prst="ellipse">
                <a:avLst/>
              </a:prstGeom>
              <a:solidFill>
                <a:srgbClr val="9900FF"/>
              </a:solidFill>
              <a:ln w="9525">
                <a:solidFill>
                  <a:schemeClr val="hlink"/>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5</a:t>
                </a:r>
              </a:p>
            </p:txBody>
          </p:sp>
          <p:sp>
            <p:nvSpPr>
              <p:cNvPr id="88240" name="Oval 23"/>
              <p:cNvSpPr>
                <a:spLocks noChangeArrowheads="1"/>
              </p:cNvSpPr>
              <p:nvPr/>
            </p:nvSpPr>
            <p:spPr bwMode="auto">
              <a:xfrm>
                <a:off x="1792" y="1881"/>
                <a:ext cx="189" cy="189"/>
              </a:xfrm>
              <a:prstGeom prst="ellipse">
                <a:avLst/>
              </a:prstGeom>
              <a:solidFill>
                <a:srgbClr val="9900FF"/>
              </a:solidFill>
              <a:ln w="9525">
                <a:solidFill>
                  <a:schemeClr val="hlink"/>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8</a:t>
                </a:r>
              </a:p>
            </p:txBody>
          </p:sp>
          <p:sp>
            <p:nvSpPr>
              <p:cNvPr id="88241" name="Line 24"/>
              <p:cNvSpPr>
                <a:spLocks noChangeShapeType="1"/>
              </p:cNvSpPr>
              <p:nvPr/>
            </p:nvSpPr>
            <p:spPr bwMode="auto">
              <a:xfrm flipH="1">
                <a:off x="1745" y="2033"/>
                <a:ext cx="66" cy="145"/>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88242" name="Line 25"/>
              <p:cNvSpPr>
                <a:spLocks noChangeShapeType="1"/>
              </p:cNvSpPr>
              <p:nvPr/>
            </p:nvSpPr>
            <p:spPr bwMode="auto">
              <a:xfrm>
                <a:off x="1945" y="2033"/>
                <a:ext cx="55" cy="12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grpSp>
      <p:grpSp>
        <p:nvGrpSpPr>
          <p:cNvPr id="5" name="Group 26"/>
          <p:cNvGrpSpPr>
            <a:grpSpLocks/>
          </p:cNvGrpSpPr>
          <p:nvPr/>
        </p:nvGrpSpPr>
        <p:grpSpPr bwMode="auto">
          <a:xfrm>
            <a:off x="1147763" y="2719388"/>
            <a:ext cx="2913062" cy="747712"/>
            <a:chOff x="714" y="2169"/>
            <a:chExt cx="1835" cy="471"/>
          </a:xfrm>
        </p:grpSpPr>
        <p:grpSp>
          <p:nvGrpSpPr>
            <p:cNvPr id="88215" name="Group 27"/>
            <p:cNvGrpSpPr>
              <a:grpSpLocks/>
            </p:cNvGrpSpPr>
            <p:nvPr/>
          </p:nvGrpSpPr>
          <p:grpSpPr bwMode="auto">
            <a:xfrm>
              <a:off x="2042" y="2181"/>
              <a:ext cx="507" cy="459"/>
              <a:chOff x="1596" y="1881"/>
              <a:chExt cx="507" cy="459"/>
            </a:xfrm>
          </p:grpSpPr>
          <p:sp>
            <p:nvSpPr>
              <p:cNvPr id="88226" name="Oval 28"/>
              <p:cNvSpPr>
                <a:spLocks noChangeArrowheads="1"/>
              </p:cNvSpPr>
              <p:nvPr/>
            </p:nvSpPr>
            <p:spPr bwMode="auto">
              <a:xfrm>
                <a:off x="1914" y="2151"/>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8</a:t>
                </a:r>
              </a:p>
            </p:txBody>
          </p:sp>
          <p:sp>
            <p:nvSpPr>
              <p:cNvPr id="88227" name="Oval 29"/>
              <p:cNvSpPr>
                <a:spLocks noChangeArrowheads="1"/>
              </p:cNvSpPr>
              <p:nvPr/>
            </p:nvSpPr>
            <p:spPr bwMode="auto">
              <a:xfrm>
                <a:off x="1596" y="2151"/>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7</a:t>
                </a:r>
              </a:p>
            </p:txBody>
          </p:sp>
          <p:sp>
            <p:nvSpPr>
              <p:cNvPr id="88228" name="Oval 30"/>
              <p:cNvSpPr>
                <a:spLocks noChangeArrowheads="1"/>
              </p:cNvSpPr>
              <p:nvPr/>
            </p:nvSpPr>
            <p:spPr bwMode="auto">
              <a:xfrm>
                <a:off x="1792" y="1881"/>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15</a:t>
                </a:r>
              </a:p>
            </p:txBody>
          </p:sp>
          <p:sp>
            <p:nvSpPr>
              <p:cNvPr id="88229" name="Line 31"/>
              <p:cNvSpPr>
                <a:spLocks noChangeShapeType="1"/>
              </p:cNvSpPr>
              <p:nvPr/>
            </p:nvSpPr>
            <p:spPr bwMode="auto">
              <a:xfrm flipH="1">
                <a:off x="1745" y="2033"/>
                <a:ext cx="66" cy="145"/>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88230" name="Line 32"/>
              <p:cNvSpPr>
                <a:spLocks noChangeShapeType="1"/>
              </p:cNvSpPr>
              <p:nvPr/>
            </p:nvSpPr>
            <p:spPr bwMode="auto">
              <a:xfrm>
                <a:off x="1945" y="2033"/>
                <a:ext cx="55" cy="122"/>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sp>
          <p:nvSpPr>
            <p:cNvPr id="88216" name="Oval 33"/>
            <p:cNvSpPr>
              <a:spLocks noChangeArrowheads="1"/>
            </p:cNvSpPr>
            <p:nvPr/>
          </p:nvSpPr>
          <p:spPr bwMode="auto">
            <a:xfrm>
              <a:off x="940" y="2170"/>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14</a:t>
              </a:r>
            </a:p>
          </p:txBody>
        </p:sp>
        <p:sp>
          <p:nvSpPr>
            <p:cNvPr id="88217" name="Oval 34"/>
            <p:cNvSpPr>
              <a:spLocks noChangeArrowheads="1"/>
            </p:cNvSpPr>
            <p:nvPr/>
          </p:nvSpPr>
          <p:spPr bwMode="auto">
            <a:xfrm>
              <a:off x="714" y="2170"/>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29</a:t>
              </a:r>
            </a:p>
          </p:txBody>
        </p:sp>
        <p:sp>
          <p:nvSpPr>
            <p:cNvPr id="88218" name="Oval 35"/>
            <p:cNvSpPr>
              <a:spLocks noChangeArrowheads="1"/>
            </p:cNvSpPr>
            <p:nvPr/>
          </p:nvSpPr>
          <p:spPr bwMode="auto">
            <a:xfrm>
              <a:off x="1186" y="2170"/>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23</a:t>
              </a:r>
            </a:p>
          </p:txBody>
        </p:sp>
        <p:grpSp>
          <p:nvGrpSpPr>
            <p:cNvPr id="88219" name="Group 36"/>
            <p:cNvGrpSpPr>
              <a:grpSpLocks/>
            </p:cNvGrpSpPr>
            <p:nvPr/>
          </p:nvGrpSpPr>
          <p:grpSpPr bwMode="auto">
            <a:xfrm>
              <a:off x="1496" y="2169"/>
              <a:ext cx="507" cy="459"/>
              <a:chOff x="1596" y="1881"/>
              <a:chExt cx="507" cy="459"/>
            </a:xfrm>
          </p:grpSpPr>
          <p:sp>
            <p:nvSpPr>
              <p:cNvPr id="88221" name="Oval 37"/>
              <p:cNvSpPr>
                <a:spLocks noChangeArrowheads="1"/>
              </p:cNvSpPr>
              <p:nvPr/>
            </p:nvSpPr>
            <p:spPr bwMode="auto">
              <a:xfrm>
                <a:off x="1914" y="2151"/>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3</a:t>
                </a:r>
              </a:p>
            </p:txBody>
          </p:sp>
          <p:sp>
            <p:nvSpPr>
              <p:cNvPr id="88222" name="Oval 38"/>
              <p:cNvSpPr>
                <a:spLocks noChangeArrowheads="1"/>
              </p:cNvSpPr>
              <p:nvPr/>
            </p:nvSpPr>
            <p:spPr bwMode="auto">
              <a:xfrm>
                <a:off x="1596" y="2151"/>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5</a:t>
                </a:r>
              </a:p>
            </p:txBody>
          </p:sp>
          <p:sp>
            <p:nvSpPr>
              <p:cNvPr id="88223" name="Oval 39"/>
              <p:cNvSpPr>
                <a:spLocks noChangeArrowheads="1"/>
              </p:cNvSpPr>
              <p:nvPr/>
            </p:nvSpPr>
            <p:spPr bwMode="auto">
              <a:xfrm>
                <a:off x="1792" y="1881"/>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8</a:t>
                </a:r>
              </a:p>
            </p:txBody>
          </p:sp>
          <p:sp>
            <p:nvSpPr>
              <p:cNvPr id="88224" name="Line 40"/>
              <p:cNvSpPr>
                <a:spLocks noChangeShapeType="1"/>
              </p:cNvSpPr>
              <p:nvPr/>
            </p:nvSpPr>
            <p:spPr bwMode="auto">
              <a:xfrm flipH="1">
                <a:off x="1745" y="2033"/>
                <a:ext cx="66" cy="145"/>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88225" name="Line 41"/>
              <p:cNvSpPr>
                <a:spLocks noChangeShapeType="1"/>
              </p:cNvSpPr>
              <p:nvPr/>
            </p:nvSpPr>
            <p:spPr bwMode="auto">
              <a:xfrm>
                <a:off x="1945" y="2033"/>
                <a:ext cx="55" cy="122"/>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sp>
          <p:nvSpPr>
            <p:cNvPr id="88220" name="Oval 42"/>
            <p:cNvSpPr>
              <a:spLocks noChangeArrowheads="1"/>
            </p:cNvSpPr>
            <p:nvPr/>
          </p:nvSpPr>
          <p:spPr bwMode="auto">
            <a:xfrm>
              <a:off x="1433" y="2170"/>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11</a:t>
              </a:r>
            </a:p>
          </p:txBody>
        </p:sp>
      </p:grpSp>
      <p:grpSp>
        <p:nvGrpSpPr>
          <p:cNvPr id="8" name="Group 43"/>
          <p:cNvGrpSpPr>
            <a:grpSpLocks/>
          </p:cNvGrpSpPr>
          <p:nvPr/>
        </p:nvGrpSpPr>
        <p:grpSpPr bwMode="auto">
          <a:xfrm>
            <a:off x="1192213" y="3738563"/>
            <a:ext cx="2798762" cy="1231900"/>
            <a:chOff x="709" y="2867"/>
            <a:chExt cx="1763" cy="776"/>
          </a:xfrm>
        </p:grpSpPr>
        <p:grpSp>
          <p:nvGrpSpPr>
            <p:cNvPr id="88195" name="Group 44"/>
            <p:cNvGrpSpPr>
              <a:grpSpLocks/>
            </p:cNvGrpSpPr>
            <p:nvPr/>
          </p:nvGrpSpPr>
          <p:grpSpPr bwMode="auto">
            <a:xfrm>
              <a:off x="1766" y="2867"/>
              <a:ext cx="706" cy="776"/>
              <a:chOff x="1633" y="2900"/>
              <a:chExt cx="706" cy="776"/>
            </a:xfrm>
          </p:grpSpPr>
          <p:sp>
            <p:nvSpPr>
              <p:cNvPr id="88205" name="Oval 45"/>
              <p:cNvSpPr>
                <a:spLocks noChangeArrowheads="1"/>
              </p:cNvSpPr>
              <p:nvPr/>
            </p:nvSpPr>
            <p:spPr bwMode="auto">
              <a:xfrm>
                <a:off x="1633" y="3192"/>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11</a:t>
                </a:r>
              </a:p>
            </p:txBody>
          </p:sp>
          <p:grpSp>
            <p:nvGrpSpPr>
              <p:cNvPr id="88206" name="Group 46"/>
              <p:cNvGrpSpPr>
                <a:grpSpLocks/>
              </p:cNvGrpSpPr>
              <p:nvPr/>
            </p:nvGrpSpPr>
            <p:grpSpPr bwMode="auto">
              <a:xfrm>
                <a:off x="1832" y="3217"/>
                <a:ext cx="507" cy="459"/>
                <a:chOff x="1596" y="1881"/>
                <a:chExt cx="507" cy="459"/>
              </a:xfrm>
            </p:grpSpPr>
            <p:sp>
              <p:nvSpPr>
                <p:cNvPr id="88210" name="Oval 47"/>
                <p:cNvSpPr>
                  <a:spLocks noChangeArrowheads="1"/>
                </p:cNvSpPr>
                <p:nvPr/>
              </p:nvSpPr>
              <p:spPr bwMode="auto">
                <a:xfrm>
                  <a:off x="1914" y="2151"/>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3</a:t>
                  </a:r>
                </a:p>
              </p:txBody>
            </p:sp>
            <p:sp>
              <p:nvSpPr>
                <p:cNvPr id="88211" name="Oval 48"/>
                <p:cNvSpPr>
                  <a:spLocks noChangeArrowheads="1"/>
                </p:cNvSpPr>
                <p:nvPr/>
              </p:nvSpPr>
              <p:spPr bwMode="auto">
                <a:xfrm>
                  <a:off x="1596" y="2151"/>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5</a:t>
                  </a:r>
                </a:p>
              </p:txBody>
            </p:sp>
            <p:sp>
              <p:nvSpPr>
                <p:cNvPr id="88212" name="Oval 49"/>
                <p:cNvSpPr>
                  <a:spLocks noChangeArrowheads="1"/>
                </p:cNvSpPr>
                <p:nvPr/>
              </p:nvSpPr>
              <p:spPr bwMode="auto">
                <a:xfrm>
                  <a:off x="1792" y="1881"/>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8</a:t>
                  </a:r>
                </a:p>
              </p:txBody>
            </p:sp>
            <p:sp>
              <p:nvSpPr>
                <p:cNvPr id="88213" name="Line 50"/>
                <p:cNvSpPr>
                  <a:spLocks noChangeShapeType="1"/>
                </p:cNvSpPr>
                <p:nvPr/>
              </p:nvSpPr>
              <p:spPr bwMode="auto">
                <a:xfrm flipH="1">
                  <a:off x="1745" y="2033"/>
                  <a:ext cx="66" cy="145"/>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88214" name="Line 51"/>
                <p:cNvSpPr>
                  <a:spLocks noChangeShapeType="1"/>
                </p:cNvSpPr>
                <p:nvPr/>
              </p:nvSpPr>
              <p:spPr bwMode="auto">
                <a:xfrm>
                  <a:off x="1945" y="2033"/>
                  <a:ext cx="55" cy="122"/>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sp>
            <p:nvSpPr>
              <p:cNvPr id="88207" name="Oval 52"/>
              <p:cNvSpPr>
                <a:spLocks noChangeArrowheads="1"/>
              </p:cNvSpPr>
              <p:nvPr/>
            </p:nvSpPr>
            <p:spPr bwMode="auto">
              <a:xfrm>
                <a:off x="1851" y="2900"/>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19</a:t>
                </a:r>
              </a:p>
            </p:txBody>
          </p:sp>
          <p:sp>
            <p:nvSpPr>
              <p:cNvPr id="88208" name="Line 53"/>
              <p:cNvSpPr>
                <a:spLocks noChangeShapeType="1"/>
              </p:cNvSpPr>
              <p:nvPr/>
            </p:nvSpPr>
            <p:spPr bwMode="auto">
              <a:xfrm flipH="1">
                <a:off x="1800" y="3066"/>
                <a:ext cx="89" cy="134"/>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88209" name="Line 54"/>
              <p:cNvSpPr>
                <a:spLocks noChangeShapeType="1"/>
              </p:cNvSpPr>
              <p:nvPr/>
            </p:nvSpPr>
            <p:spPr bwMode="auto">
              <a:xfrm>
                <a:off x="1978" y="3078"/>
                <a:ext cx="100" cy="144"/>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sp>
          <p:nvSpPr>
            <p:cNvPr id="88196" name="Oval 55"/>
            <p:cNvSpPr>
              <a:spLocks noChangeArrowheads="1"/>
            </p:cNvSpPr>
            <p:nvPr/>
          </p:nvSpPr>
          <p:spPr bwMode="auto">
            <a:xfrm>
              <a:off x="935" y="2877"/>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14</a:t>
              </a:r>
            </a:p>
          </p:txBody>
        </p:sp>
        <p:sp>
          <p:nvSpPr>
            <p:cNvPr id="88197" name="Oval 56"/>
            <p:cNvSpPr>
              <a:spLocks noChangeArrowheads="1"/>
            </p:cNvSpPr>
            <p:nvPr/>
          </p:nvSpPr>
          <p:spPr bwMode="auto">
            <a:xfrm>
              <a:off x="709" y="2877"/>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29</a:t>
              </a:r>
            </a:p>
          </p:txBody>
        </p:sp>
        <p:sp>
          <p:nvSpPr>
            <p:cNvPr id="88198" name="Oval 57"/>
            <p:cNvSpPr>
              <a:spLocks noChangeArrowheads="1"/>
            </p:cNvSpPr>
            <p:nvPr/>
          </p:nvSpPr>
          <p:spPr bwMode="auto">
            <a:xfrm>
              <a:off x="1181" y="2877"/>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23</a:t>
              </a:r>
            </a:p>
          </p:txBody>
        </p:sp>
        <p:grpSp>
          <p:nvGrpSpPr>
            <p:cNvPr id="88199" name="Group 58"/>
            <p:cNvGrpSpPr>
              <a:grpSpLocks/>
            </p:cNvGrpSpPr>
            <p:nvPr/>
          </p:nvGrpSpPr>
          <p:grpSpPr bwMode="auto">
            <a:xfrm>
              <a:off x="1227" y="2888"/>
              <a:ext cx="507" cy="459"/>
              <a:chOff x="1596" y="1881"/>
              <a:chExt cx="507" cy="459"/>
            </a:xfrm>
          </p:grpSpPr>
          <p:sp>
            <p:nvSpPr>
              <p:cNvPr id="88200" name="Oval 59"/>
              <p:cNvSpPr>
                <a:spLocks noChangeArrowheads="1"/>
              </p:cNvSpPr>
              <p:nvPr/>
            </p:nvSpPr>
            <p:spPr bwMode="auto">
              <a:xfrm>
                <a:off x="1914" y="2151"/>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8</a:t>
                </a:r>
              </a:p>
            </p:txBody>
          </p:sp>
          <p:sp>
            <p:nvSpPr>
              <p:cNvPr id="88201" name="Oval 60"/>
              <p:cNvSpPr>
                <a:spLocks noChangeArrowheads="1"/>
              </p:cNvSpPr>
              <p:nvPr/>
            </p:nvSpPr>
            <p:spPr bwMode="auto">
              <a:xfrm>
                <a:off x="1596" y="2151"/>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7</a:t>
                </a:r>
              </a:p>
            </p:txBody>
          </p:sp>
          <p:sp>
            <p:nvSpPr>
              <p:cNvPr id="88202" name="Oval 61"/>
              <p:cNvSpPr>
                <a:spLocks noChangeArrowheads="1"/>
              </p:cNvSpPr>
              <p:nvPr/>
            </p:nvSpPr>
            <p:spPr bwMode="auto">
              <a:xfrm>
                <a:off x="1792" y="1881"/>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15</a:t>
                </a:r>
              </a:p>
            </p:txBody>
          </p:sp>
          <p:sp>
            <p:nvSpPr>
              <p:cNvPr id="88203" name="Line 62"/>
              <p:cNvSpPr>
                <a:spLocks noChangeShapeType="1"/>
              </p:cNvSpPr>
              <p:nvPr/>
            </p:nvSpPr>
            <p:spPr bwMode="auto">
              <a:xfrm flipH="1">
                <a:off x="1745" y="2033"/>
                <a:ext cx="66" cy="145"/>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88204" name="Line 63"/>
              <p:cNvSpPr>
                <a:spLocks noChangeShapeType="1"/>
              </p:cNvSpPr>
              <p:nvPr/>
            </p:nvSpPr>
            <p:spPr bwMode="auto">
              <a:xfrm>
                <a:off x="1945" y="2033"/>
                <a:ext cx="55" cy="122"/>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grpSp>
      <p:grpSp>
        <p:nvGrpSpPr>
          <p:cNvPr id="12" name="Group 64"/>
          <p:cNvGrpSpPr>
            <a:grpSpLocks/>
          </p:cNvGrpSpPr>
          <p:nvPr/>
        </p:nvGrpSpPr>
        <p:grpSpPr bwMode="auto">
          <a:xfrm>
            <a:off x="1150938" y="5241925"/>
            <a:ext cx="2705100" cy="1235075"/>
            <a:chOff x="3228" y="363"/>
            <a:chExt cx="1704" cy="778"/>
          </a:xfrm>
        </p:grpSpPr>
        <p:grpSp>
          <p:nvGrpSpPr>
            <p:cNvPr id="88171" name="Group 65"/>
            <p:cNvGrpSpPr>
              <a:grpSpLocks/>
            </p:cNvGrpSpPr>
            <p:nvPr/>
          </p:nvGrpSpPr>
          <p:grpSpPr bwMode="auto">
            <a:xfrm>
              <a:off x="3563" y="365"/>
              <a:ext cx="706" cy="776"/>
              <a:chOff x="1633" y="2900"/>
              <a:chExt cx="706" cy="776"/>
            </a:xfrm>
          </p:grpSpPr>
          <p:sp>
            <p:nvSpPr>
              <p:cNvPr id="88185" name="Oval 66"/>
              <p:cNvSpPr>
                <a:spLocks noChangeArrowheads="1"/>
              </p:cNvSpPr>
              <p:nvPr/>
            </p:nvSpPr>
            <p:spPr bwMode="auto">
              <a:xfrm>
                <a:off x="1633" y="3192"/>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11</a:t>
                </a:r>
              </a:p>
            </p:txBody>
          </p:sp>
          <p:grpSp>
            <p:nvGrpSpPr>
              <p:cNvPr id="88186" name="Group 67"/>
              <p:cNvGrpSpPr>
                <a:grpSpLocks/>
              </p:cNvGrpSpPr>
              <p:nvPr/>
            </p:nvGrpSpPr>
            <p:grpSpPr bwMode="auto">
              <a:xfrm>
                <a:off x="1832" y="3217"/>
                <a:ext cx="507" cy="459"/>
                <a:chOff x="1596" y="1881"/>
                <a:chExt cx="507" cy="459"/>
              </a:xfrm>
            </p:grpSpPr>
            <p:sp>
              <p:nvSpPr>
                <p:cNvPr id="88190" name="Oval 68"/>
                <p:cNvSpPr>
                  <a:spLocks noChangeArrowheads="1"/>
                </p:cNvSpPr>
                <p:nvPr/>
              </p:nvSpPr>
              <p:spPr bwMode="auto">
                <a:xfrm>
                  <a:off x="1914" y="2151"/>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3</a:t>
                  </a:r>
                </a:p>
              </p:txBody>
            </p:sp>
            <p:sp>
              <p:nvSpPr>
                <p:cNvPr id="88191" name="Oval 69"/>
                <p:cNvSpPr>
                  <a:spLocks noChangeArrowheads="1"/>
                </p:cNvSpPr>
                <p:nvPr/>
              </p:nvSpPr>
              <p:spPr bwMode="auto">
                <a:xfrm>
                  <a:off x="1596" y="2151"/>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5</a:t>
                  </a:r>
                </a:p>
              </p:txBody>
            </p:sp>
            <p:sp>
              <p:nvSpPr>
                <p:cNvPr id="88192" name="Oval 70"/>
                <p:cNvSpPr>
                  <a:spLocks noChangeArrowheads="1"/>
                </p:cNvSpPr>
                <p:nvPr/>
              </p:nvSpPr>
              <p:spPr bwMode="auto">
                <a:xfrm>
                  <a:off x="1792" y="1881"/>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8</a:t>
                  </a:r>
                </a:p>
              </p:txBody>
            </p:sp>
            <p:sp>
              <p:nvSpPr>
                <p:cNvPr id="88193" name="Line 71"/>
                <p:cNvSpPr>
                  <a:spLocks noChangeShapeType="1"/>
                </p:cNvSpPr>
                <p:nvPr/>
              </p:nvSpPr>
              <p:spPr bwMode="auto">
                <a:xfrm flipH="1">
                  <a:off x="1745" y="2033"/>
                  <a:ext cx="66" cy="145"/>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88194" name="Line 72"/>
                <p:cNvSpPr>
                  <a:spLocks noChangeShapeType="1"/>
                </p:cNvSpPr>
                <p:nvPr/>
              </p:nvSpPr>
              <p:spPr bwMode="auto">
                <a:xfrm>
                  <a:off x="1945" y="2033"/>
                  <a:ext cx="55" cy="122"/>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sp>
            <p:nvSpPr>
              <p:cNvPr id="88187" name="Oval 73"/>
              <p:cNvSpPr>
                <a:spLocks noChangeArrowheads="1"/>
              </p:cNvSpPr>
              <p:nvPr/>
            </p:nvSpPr>
            <p:spPr bwMode="auto">
              <a:xfrm>
                <a:off x="1851" y="2900"/>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19</a:t>
                </a:r>
              </a:p>
            </p:txBody>
          </p:sp>
          <p:sp>
            <p:nvSpPr>
              <p:cNvPr id="88188" name="Line 74"/>
              <p:cNvSpPr>
                <a:spLocks noChangeShapeType="1"/>
              </p:cNvSpPr>
              <p:nvPr/>
            </p:nvSpPr>
            <p:spPr bwMode="auto">
              <a:xfrm flipH="1">
                <a:off x="1800" y="3066"/>
                <a:ext cx="89" cy="134"/>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88189" name="Line 75"/>
              <p:cNvSpPr>
                <a:spLocks noChangeShapeType="1"/>
              </p:cNvSpPr>
              <p:nvPr/>
            </p:nvSpPr>
            <p:spPr bwMode="auto">
              <a:xfrm>
                <a:off x="1978" y="3078"/>
                <a:ext cx="100" cy="144"/>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sp>
          <p:nvSpPr>
            <p:cNvPr id="88172" name="Oval 76"/>
            <p:cNvSpPr>
              <a:spLocks noChangeArrowheads="1"/>
            </p:cNvSpPr>
            <p:nvPr/>
          </p:nvSpPr>
          <p:spPr bwMode="auto">
            <a:xfrm>
              <a:off x="3228" y="363"/>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29</a:t>
              </a:r>
            </a:p>
          </p:txBody>
        </p:sp>
        <p:sp>
          <p:nvSpPr>
            <p:cNvPr id="88173" name="Oval 77"/>
            <p:cNvSpPr>
              <a:spLocks noChangeArrowheads="1"/>
            </p:cNvSpPr>
            <p:nvPr/>
          </p:nvSpPr>
          <p:spPr bwMode="auto">
            <a:xfrm>
              <a:off x="3489" y="363"/>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23</a:t>
              </a:r>
            </a:p>
          </p:txBody>
        </p:sp>
        <p:grpSp>
          <p:nvGrpSpPr>
            <p:cNvPr id="88174" name="Group 78"/>
            <p:cNvGrpSpPr>
              <a:grpSpLocks/>
            </p:cNvGrpSpPr>
            <p:nvPr/>
          </p:nvGrpSpPr>
          <p:grpSpPr bwMode="auto">
            <a:xfrm>
              <a:off x="4244" y="381"/>
              <a:ext cx="688" cy="741"/>
              <a:chOff x="3643" y="814"/>
              <a:chExt cx="688" cy="741"/>
            </a:xfrm>
          </p:grpSpPr>
          <p:sp>
            <p:nvSpPr>
              <p:cNvPr id="88175" name="Oval 79"/>
              <p:cNvSpPr>
                <a:spLocks noChangeArrowheads="1"/>
              </p:cNvSpPr>
              <p:nvPr/>
            </p:nvSpPr>
            <p:spPr bwMode="auto">
              <a:xfrm>
                <a:off x="3643" y="1074"/>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14</a:t>
                </a:r>
              </a:p>
            </p:txBody>
          </p:sp>
          <p:grpSp>
            <p:nvGrpSpPr>
              <p:cNvPr id="88176" name="Group 80"/>
              <p:cNvGrpSpPr>
                <a:grpSpLocks/>
              </p:cNvGrpSpPr>
              <p:nvPr/>
            </p:nvGrpSpPr>
            <p:grpSpPr bwMode="auto">
              <a:xfrm>
                <a:off x="3824" y="1096"/>
                <a:ext cx="507" cy="459"/>
                <a:chOff x="1596" y="1881"/>
                <a:chExt cx="507" cy="459"/>
              </a:xfrm>
            </p:grpSpPr>
            <p:sp>
              <p:nvSpPr>
                <p:cNvPr id="88180" name="Oval 81"/>
                <p:cNvSpPr>
                  <a:spLocks noChangeArrowheads="1"/>
                </p:cNvSpPr>
                <p:nvPr/>
              </p:nvSpPr>
              <p:spPr bwMode="auto">
                <a:xfrm>
                  <a:off x="1914" y="2151"/>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8</a:t>
                  </a:r>
                </a:p>
              </p:txBody>
            </p:sp>
            <p:sp>
              <p:nvSpPr>
                <p:cNvPr id="88181" name="Oval 82"/>
                <p:cNvSpPr>
                  <a:spLocks noChangeArrowheads="1"/>
                </p:cNvSpPr>
                <p:nvPr/>
              </p:nvSpPr>
              <p:spPr bwMode="auto">
                <a:xfrm>
                  <a:off x="1596" y="2151"/>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7</a:t>
                  </a:r>
                </a:p>
              </p:txBody>
            </p:sp>
            <p:sp>
              <p:nvSpPr>
                <p:cNvPr id="88182" name="Oval 83"/>
                <p:cNvSpPr>
                  <a:spLocks noChangeArrowheads="1"/>
                </p:cNvSpPr>
                <p:nvPr/>
              </p:nvSpPr>
              <p:spPr bwMode="auto">
                <a:xfrm>
                  <a:off x="1792" y="1881"/>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15</a:t>
                  </a:r>
                </a:p>
              </p:txBody>
            </p:sp>
            <p:sp>
              <p:nvSpPr>
                <p:cNvPr id="88183" name="Line 84"/>
                <p:cNvSpPr>
                  <a:spLocks noChangeShapeType="1"/>
                </p:cNvSpPr>
                <p:nvPr/>
              </p:nvSpPr>
              <p:spPr bwMode="auto">
                <a:xfrm flipH="1">
                  <a:off x="1745" y="2033"/>
                  <a:ext cx="66" cy="145"/>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88184" name="Line 85"/>
                <p:cNvSpPr>
                  <a:spLocks noChangeShapeType="1"/>
                </p:cNvSpPr>
                <p:nvPr/>
              </p:nvSpPr>
              <p:spPr bwMode="auto">
                <a:xfrm>
                  <a:off x="1945" y="2033"/>
                  <a:ext cx="55" cy="122"/>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sp>
            <p:nvSpPr>
              <p:cNvPr id="88177" name="Oval 86"/>
              <p:cNvSpPr>
                <a:spLocks noChangeArrowheads="1"/>
              </p:cNvSpPr>
              <p:nvPr/>
            </p:nvSpPr>
            <p:spPr bwMode="auto">
              <a:xfrm>
                <a:off x="3861" y="814"/>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29</a:t>
                </a:r>
              </a:p>
            </p:txBody>
          </p:sp>
          <p:sp>
            <p:nvSpPr>
              <p:cNvPr id="88178" name="Line 87"/>
              <p:cNvSpPr>
                <a:spLocks noChangeShapeType="1"/>
              </p:cNvSpPr>
              <p:nvPr/>
            </p:nvSpPr>
            <p:spPr bwMode="auto">
              <a:xfrm flipH="1">
                <a:off x="3800" y="967"/>
                <a:ext cx="78" cy="155"/>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88179" name="Line 88"/>
              <p:cNvSpPr>
                <a:spLocks noChangeShapeType="1"/>
              </p:cNvSpPr>
              <p:nvPr/>
            </p:nvSpPr>
            <p:spPr bwMode="auto">
              <a:xfrm>
                <a:off x="4001" y="978"/>
                <a:ext cx="66" cy="133"/>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grpSp>
      <p:grpSp>
        <p:nvGrpSpPr>
          <p:cNvPr id="17" name="Group 89"/>
          <p:cNvGrpSpPr>
            <a:grpSpLocks/>
          </p:cNvGrpSpPr>
          <p:nvPr/>
        </p:nvGrpSpPr>
        <p:grpSpPr bwMode="auto">
          <a:xfrm>
            <a:off x="5430838" y="457200"/>
            <a:ext cx="2798762" cy="1736725"/>
            <a:chOff x="3224" y="1422"/>
            <a:chExt cx="1763" cy="1094"/>
          </a:xfrm>
        </p:grpSpPr>
        <p:sp>
          <p:nvSpPr>
            <p:cNvPr id="88143" name="Oval 90"/>
            <p:cNvSpPr>
              <a:spLocks noChangeArrowheads="1"/>
            </p:cNvSpPr>
            <p:nvPr/>
          </p:nvSpPr>
          <p:spPr bwMode="auto">
            <a:xfrm>
              <a:off x="3224" y="1426"/>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29</a:t>
              </a:r>
            </a:p>
          </p:txBody>
        </p:sp>
        <p:grpSp>
          <p:nvGrpSpPr>
            <p:cNvPr id="88144" name="Group 91"/>
            <p:cNvGrpSpPr>
              <a:grpSpLocks/>
            </p:cNvGrpSpPr>
            <p:nvPr/>
          </p:nvGrpSpPr>
          <p:grpSpPr bwMode="auto">
            <a:xfrm>
              <a:off x="3440" y="1422"/>
              <a:ext cx="688" cy="741"/>
              <a:chOff x="3643" y="814"/>
              <a:chExt cx="688" cy="741"/>
            </a:xfrm>
          </p:grpSpPr>
          <p:sp>
            <p:nvSpPr>
              <p:cNvPr id="88161" name="Oval 92"/>
              <p:cNvSpPr>
                <a:spLocks noChangeArrowheads="1"/>
              </p:cNvSpPr>
              <p:nvPr/>
            </p:nvSpPr>
            <p:spPr bwMode="auto">
              <a:xfrm>
                <a:off x="3643" y="1074"/>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14</a:t>
                </a:r>
              </a:p>
            </p:txBody>
          </p:sp>
          <p:grpSp>
            <p:nvGrpSpPr>
              <p:cNvPr id="88162" name="Group 93"/>
              <p:cNvGrpSpPr>
                <a:grpSpLocks/>
              </p:cNvGrpSpPr>
              <p:nvPr/>
            </p:nvGrpSpPr>
            <p:grpSpPr bwMode="auto">
              <a:xfrm>
                <a:off x="3824" y="1096"/>
                <a:ext cx="507" cy="459"/>
                <a:chOff x="1596" y="1881"/>
                <a:chExt cx="507" cy="459"/>
              </a:xfrm>
            </p:grpSpPr>
            <p:sp>
              <p:nvSpPr>
                <p:cNvPr id="88166" name="Oval 94"/>
                <p:cNvSpPr>
                  <a:spLocks noChangeArrowheads="1"/>
                </p:cNvSpPr>
                <p:nvPr/>
              </p:nvSpPr>
              <p:spPr bwMode="auto">
                <a:xfrm>
                  <a:off x="1914" y="2151"/>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8</a:t>
                  </a:r>
                </a:p>
              </p:txBody>
            </p:sp>
            <p:sp>
              <p:nvSpPr>
                <p:cNvPr id="88167" name="Oval 95"/>
                <p:cNvSpPr>
                  <a:spLocks noChangeArrowheads="1"/>
                </p:cNvSpPr>
                <p:nvPr/>
              </p:nvSpPr>
              <p:spPr bwMode="auto">
                <a:xfrm>
                  <a:off x="1596" y="2151"/>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7</a:t>
                  </a:r>
                </a:p>
              </p:txBody>
            </p:sp>
            <p:sp>
              <p:nvSpPr>
                <p:cNvPr id="88168" name="Oval 96"/>
                <p:cNvSpPr>
                  <a:spLocks noChangeArrowheads="1"/>
                </p:cNvSpPr>
                <p:nvPr/>
              </p:nvSpPr>
              <p:spPr bwMode="auto">
                <a:xfrm>
                  <a:off x="1792" y="1881"/>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15</a:t>
                  </a:r>
                </a:p>
              </p:txBody>
            </p:sp>
            <p:sp>
              <p:nvSpPr>
                <p:cNvPr id="88169" name="Line 97"/>
                <p:cNvSpPr>
                  <a:spLocks noChangeShapeType="1"/>
                </p:cNvSpPr>
                <p:nvPr/>
              </p:nvSpPr>
              <p:spPr bwMode="auto">
                <a:xfrm flipH="1">
                  <a:off x="1745" y="2033"/>
                  <a:ext cx="66" cy="145"/>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88170" name="Line 98"/>
                <p:cNvSpPr>
                  <a:spLocks noChangeShapeType="1"/>
                </p:cNvSpPr>
                <p:nvPr/>
              </p:nvSpPr>
              <p:spPr bwMode="auto">
                <a:xfrm>
                  <a:off x="1945" y="2033"/>
                  <a:ext cx="55" cy="122"/>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sp>
            <p:nvSpPr>
              <p:cNvPr id="88163" name="Oval 99"/>
              <p:cNvSpPr>
                <a:spLocks noChangeArrowheads="1"/>
              </p:cNvSpPr>
              <p:nvPr/>
            </p:nvSpPr>
            <p:spPr bwMode="auto">
              <a:xfrm>
                <a:off x="3861" y="814"/>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29</a:t>
                </a:r>
              </a:p>
            </p:txBody>
          </p:sp>
          <p:sp>
            <p:nvSpPr>
              <p:cNvPr id="88164" name="Line 100"/>
              <p:cNvSpPr>
                <a:spLocks noChangeShapeType="1"/>
              </p:cNvSpPr>
              <p:nvPr/>
            </p:nvSpPr>
            <p:spPr bwMode="auto">
              <a:xfrm flipH="1">
                <a:off x="3800" y="967"/>
                <a:ext cx="78" cy="155"/>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88165" name="Line 101"/>
              <p:cNvSpPr>
                <a:spLocks noChangeShapeType="1"/>
              </p:cNvSpPr>
              <p:nvPr/>
            </p:nvSpPr>
            <p:spPr bwMode="auto">
              <a:xfrm>
                <a:off x="4001" y="978"/>
                <a:ext cx="66" cy="133"/>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grpSp>
          <p:nvGrpSpPr>
            <p:cNvPr id="88145" name="Group 102"/>
            <p:cNvGrpSpPr>
              <a:grpSpLocks/>
            </p:cNvGrpSpPr>
            <p:nvPr/>
          </p:nvGrpSpPr>
          <p:grpSpPr bwMode="auto">
            <a:xfrm>
              <a:off x="4086" y="1434"/>
              <a:ext cx="901" cy="1082"/>
              <a:chOff x="3441" y="1789"/>
              <a:chExt cx="901" cy="1082"/>
            </a:xfrm>
          </p:grpSpPr>
          <p:grpSp>
            <p:nvGrpSpPr>
              <p:cNvPr id="88146" name="Group 103"/>
              <p:cNvGrpSpPr>
                <a:grpSpLocks/>
              </p:cNvGrpSpPr>
              <p:nvPr/>
            </p:nvGrpSpPr>
            <p:grpSpPr bwMode="auto">
              <a:xfrm>
                <a:off x="3636" y="2095"/>
                <a:ext cx="706" cy="776"/>
                <a:chOff x="1633" y="2900"/>
                <a:chExt cx="706" cy="776"/>
              </a:xfrm>
            </p:grpSpPr>
            <p:sp>
              <p:nvSpPr>
                <p:cNvPr id="88151" name="Oval 104"/>
                <p:cNvSpPr>
                  <a:spLocks noChangeArrowheads="1"/>
                </p:cNvSpPr>
                <p:nvPr/>
              </p:nvSpPr>
              <p:spPr bwMode="auto">
                <a:xfrm>
                  <a:off x="1633" y="3192"/>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11</a:t>
                  </a:r>
                </a:p>
              </p:txBody>
            </p:sp>
            <p:grpSp>
              <p:nvGrpSpPr>
                <p:cNvPr id="88152" name="Group 105"/>
                <p:cNvGrpSpPr>
                  <a:grpSpLocks/>
                </p:cNvGrpSpPr>
                <p:nvPr/>
              </p:nvGrpSpPr>
              <p:grpSpPr bwMode="auto">
                <a:xfrm>
                  <a:off x="1832" y="3217"/>
                  <a:ext cx="507" cy="459"/>
                  <a:chOff x="1596" y="1881"/>
                  <a:chExt cx="507" cy="459"/>
                </a:xfrm>
              </p:grpSpPr>
              <p:sp>
                <p:nvSpPr>
                  <p:cNvPr id="88156" name="Oval 106"/>
                  <p:cNvSpPr>
                    <a:spLocks noChangeArrowheads="1"/>
                  </p:cNvSpPr>
                  <p:nvPr/>
                </p:nvSpPr>
                <p:spPr bwMode="auto">
                  <a:xfrm>
                    <a:off x="1914" y="2151"/>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3</a:t>
                    </a:r>
                  </a:p>
                </p:txBody>
              </p:sp>
              <p:sp>
                <p:nvSpPr>
                  <p:cNvPr id="88157" name="Oval 107"/>
                  <p:cNvSpPr>
                    <a:spLocks noChangeArrowheads="1"/>
                  </p:cNvSpPr>
                  <p:nvPr/>
                </p:nvSpPr>
                <p:spPr bwMode="auto">
                  <a:xfrm>
                    <a:off x="1596" y="2151"/>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5</a:t>
                    </a:r>
                  </a:p>
                </p:txBody>
              </p:sp>
              <p:sp>
                <p:nvSpPr>
                  <p:cNvPr id="88158" name="Oval 108"/>
                  <p:cNvSpPr>
                    <a:spLocks noChangeArrowheads="1"/>
                  </p:cNvSpPr>
                  <p:nvPr/>
                </p:nvSpPr>
                <p:spPr bwMode="auto">
                  <a:xfrm>
                    <a:off x="1792" y="1881"/>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8</a:t>
                    </a:r>
                  </a:p>
                </p:txBody>
              </p:sp>
              <p:sp>
                <p:nvSpPr>
                  <p:cNvPr id="88159" name="Line 109"/>
                  <p:cNvSpPr>
                    <a:spLocks noChangeShapeType="1"/>
                  </p:cNvSpPr>
                  <p:nvPr/>
                </p:nvSpPr>
                <p:spPr bwMode="auto">
                  <a:xfrm flipH="1">
                    <a:off x="1745" y="2033"/>
                    <a:ext cx="66" cy="145"/>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88160" name="Line 110"/>
                  <p:cNvSpPr>
                    <a:spLocks noChangeShapeType="1"/>
                  </p:cNvSpPr>
                  <p:nvPr/>
                </p:nvSpPr>
                <p:spPr bwMode="auto">
                  <a:xfrm>
                    <a:off x="1945" y="2033"/>
                    <a:ext cx="55" cy="122"/>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sp>
              <p:nvSpPr>
                <p:cNvPr id="88153" name="Oval 111"/>
                <p:cNvSpPr>
                  <a:spLocks noChangeArrowheads="1"/>
                </p:cNvSpPr>
                <p:nvPr/>
              </p:nvSpPr>
              <p:spPr bwMode="auto">
                <a:xfrm>
                  <a:off x="1851" y="2900"/>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19</a:t>
                  </a:r>
                </a:p>
              </p:txBody>
            </p:sp>
            <p:sp>
              <p:nvSpPr>
                <p:cNvPr id="88154" name="Line 112"/>
                <p:cNvSpPr>
                  <a:spLocks noChangeShapeType="1"/>
                </p:cNvSpPr>
                <p:nvPr/>
              </p:nvSpPr>
              <p:spPr bwMode="auto">
                <a:xfrm flipH="1">
                  <a:off x="1800" y="3066"/>
                  <a:ext cx="89" cy="134"/>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88155" name="Line 113"/>
                <p:cNvSpPr>
                  <a:spLocks noChangeShapeType="1"/>
                </p:cNvSpPr>
                <p:nvPr/>
              </p:nvSpPr>
              <p:spPr bwMode="auto">
                <a:xfrm>
                  <a:off x="1978" y="3078"/>
                  <a:ext cx="100" cy="144"/>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sp>
            <p:nvSpPr>
              <p:cNvPr id="88147" name="Oval 114"/>
              <p:cNvSpPr>
                <a:spLocks noChangeArrowheads="1"/>
              </p:cNvSpPr>
              <p:nvPr/>
            </p:nvSpPr>
            <p:spPr bwMode="auto">
              <a:xfrm>
                <a:off x="3441" y="2071"/>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23</a:t>
                </a:r>
              </a:p>
            </p:txBody>
          </p:sp>
          <p:sp>
            <p:nvSpPr>
              <p:cNvPr id="88148" name="Oval 115"/>
              <p:cNvSpPr>
                <a:spLocks noChangeArrowheads="1"/>
              </p:cNvSpPr>
              <p:nvPr/>
            </p:nvSpPr>
            <p:spPr bwMode="auto">
              <a:xfrm>
                <a:off x="3693" y="1789"/>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42</a:t>
                </a:r>
              </a:p>
            </p:txBody>
          </p:sp>
          <p:sp>
            <p:nvSpPr>
              <p:cNvPr id="88149" name="Line 116"/>
              <p:cNvSpPr>
                <a:spLocks noChangeShapeType="1"/>
              </p:cNvSpPr>
              <p:nvPr/>
            </p:nvSpPr>
            <p:spPr bwMode="auto">
              <a:xfrm flipH="1">
                <a:off x="3612" y="1933"/>
                <a:ext cx="100" cy="167"/>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88150" name="Line 117"/>
              <p:cNvSpPr>
                <a:spLocks noChangeShapeType="1"/>
              </p:cNvSpPr>
              <p:nvPr/>
            </p:nvSpPr>
            <p:spPr bwMode="auto">
              <a:xfrm>
                <a:off x="3823" y="1955"/>
                <a:ext cx="78" cy="156"/>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grpSp>
      <p:grpSp>
        <p:nvGrpSpPr>
          <p:cNvPr id="23" name="Group 118"/>
          <p:cNvGrpSpPr>
            <a:grpSpLocks/>
          </p:cNvGrpSpPr>
          <p:nvPr/>
        </p:nvGrpSpPr>
        <p:grpSpPr bwMode="auto">
          <a:xfrm>
            <a:off x="5430838" y="2305050"/>
            <a:ext cx="2763837" cy="1717675"/>
            <a:chOff x="3038" y="2475"/>
            <a:chExt cx="1741" cy="1082"/>
          </a:xfrm>
        </p:grpSpPr>
        <p:grpSp>
          <p:nvGrpSpPr>
            <p:cNvPr id="88111" name="Group 119"/>
            <p:cNvGrpSpPr>
              <a:grpSpLocks/>
            </p:cNvGrpSpPr>
            <p:nvPr/>
          </p:nvGrpSpPr>
          <p:grpSpPr bwMode="auto">
            <a:xfrm>
              <a:off x="3038" y="2475"/>
              <a:ext cx="901" cy="1082"/>
              <a:chOff x="3441" y="1789"/>
              <a:chExt cx="901" cy="1082"/>
            </a:xfrm>
          </p:grpSpPr>
          <p:grpSp>
            <p:nvGrpSpPr>
              <p:cNvPr id="88128" name="Group 120"/>
              <p:cNvGrpSpPr>
                <a:grpSpLocks/>
              </p:cNvGrpSpPr>
              <p:nvPr/>
            </p:nvGrpSpPr>
            <p:grpSpPr bwMode="auto">
              <a:xfrm>
                <a:off x="3636" y="2095"/>
                <a:ext cx="706" cy="776"/>
                <a:chOff x="1633" y="2900"/>
                <a:chExt cx="706" cy="776"/>
              </a:xfrm>
            </p:grpSpPr>
            <p:sp>
              <p:nvSpPr>
                <p:cNvPr id="88133" name="Oval 121"/>
                <p:cNvSpPr>
                  <a:spLocks noChangeArrowheads="1"/>
                </p:cNvSpPr>
                <p:nvPr/>
              </p:nvSpPr>
              <p:spPr bwMode="auto">
                <a:xfrm>
                  <a:off x="1633" y="3192"/>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11</a:t>
                  </a:r>
                </a:p>
              </p:txBody>
            </p:sp>
            <p:grpSp>
              <p:nvGrpSpPr>
                <p:cNvPr id="88134" name="Group 122"/>
                <p:cNvGrpSpPr>
                  <a:grpSpLocks/>
                </p:cNvGrpSpPr>
                <p:nvPr/>
              </p:nvGrpSpPr>
              <p:grpSpPr bwMode="auto">
                <a:xfrm>
                  <a:off x="1832" y="3217"/>
                  <a:ext cx="507" cy="459"/>
                  <a:chOff x="1596" y="1881"/>
                  <a:chExt cx="507" cy="459"/>
                </a:xfrm>
              </p:grpSpPr>
              <p:sp>
                <p:nvSpPr>
                  <p:cNvPr id="88138" name="Oval 123"/>
                  <p:cNvSpPr>
                    <a:spLocks noChangeArrowheads="1"/>
                  </p:cNvSpPr>
                  <p:nvPr/>
                </p:nvSpPr>
                <p:spPr bwMode="auto">
                  <a:xfrm>
                    <a:off x="1914" y="2151"/>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3</a:t>
                    </a:r>
                  </a:p>
                </p:txBody>
              </p:sp>
              <p:sp>
                <p:nvSpPr>
                  <p:cNvPr id="88139" name="Oval 124"/>
                  <p:cNvSpPr>
                    <a:spLocks noChangeArrowheads="1"/>
                  </p:cNvSpPr>
                  <p:nvPr/>
                </p:nvSpPr>
                <p:spPr bwMode="auto">
                  <a:xfrm>
                    <a:off x="1596" y="2151"/>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5</a:t>
                    </a:r>
                  </a:p>
                </p:txBody>
              </p:sp>
              <p:sp>
                <p:nvSpPr>
                  <p:cNvPr id="88140" name="Oval 125"/>
                  <p:cNvSpPr>
                    <a:spLocks noChangeArrowheads="1"/>
                  </p:cNvSpPr>
                  <p:nvPr/>
                </p:nvSpPr>
                <p:spPr bwMode="auto">
                  <a:xfrm>
                    <a:off x="1792" y="1881"/>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8</a:t>
                    </a:r>
                  </a:p>
                </p:txBody>
              </p:sp>
              <p:sp>
                <p:nvSpPr>
                  <p:cNvPr id="88141" name="Line 126"/>
                  <p:cNvSpPr>
                    <a:spLocks noChangeShapeType="1"/>
                  </p:cNvSpPr>
                  <p:nvPr/>
                </p:nvSpPr>
                <p:spPr bwMode="auto">
                  <a:xfrm flipH="1">
                    <a:off x="1745" y="2033"/>
                    <a:ext cx="66" cy="145"/>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88142" name="Line 127"/>
                  <p:cNvSpPr>
                    <a:spLocks noChangeShapeType="1"/>
                  </p:cNvSpPr>
                  <p:nvPr/>
                </p:nvSpPr>
                <p:spPr bwMode="auto">
                  <a:xfrm>
                    <a:off x="1945" y="2033"/>
                    <a:ext cx="55" cy="122"/>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sp>
              <p:nvSpPr>
                <p:cNvPr id="88135" name="Oval 128"/>
                <p:cNvSpPr>
                  <a:spLocks noChangeArrowheads="1"/>
                </p:cNvSpPr>
                <p:nvPr/>
              </p:nvSpPr>
              <p:spPr bwMode="auto">
                <a:xfrm>
                  <a:off x="1851" y="2900"/>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19</a:t>
                  </a:r>
                </a:p>
              </p:txBody>
            </p:sp>
            <p:sp>
              <p:nvSpPr>
                <p:cNvPr id="88136" name="Line 129"/>
                <p:cNvSpPr>
                  <a:spLocks noChangeShapeType="1"/>
                </p:cNvSpPr>
                <p:nvPr/>
              </p:nvSpPr>
              <p:spPr bwMode="auto">
                <a:xfrm flipH="1">
                  <a:off x="1800" y="3066"/>
                  <a:ext cx="89" cy="134"/>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88137" name="Line 130"/>
                <p:cNvSpPr>
                  <a:spLocks noChangeShapeType="1"/>
                </p:cNvSpPr>
                <p:nvPr/>
              </p:nvSpPr>
              <p:spPr bwMode="auto">
                <a:xfrm>
                  <a:off x="1978" y="3078"/>
                  <a:ext cx="100" cy="144"/>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sp>
            <p:nvSpPr>
              <p:cNvPr id="88129" name="Oval 131"/>
              <p:cNvSpPr>
                <a:spLocks noChangeArrowheads="1"/>
              </p:cNvSpPr>
              <p:nvPr/>
            </p:nvSpPr>
            <p:spPr bwMode="auto">
              <a:xfrm>
                <a:off x="3441" y="2071"/>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23</a:t>
                </a:r>
              </a:p>
            </p:txBody>
          </p:sp>
          <p:sp>
            <p:nvSpPr>
              <p:cNvPr id="88130" name="Oval 132"/>
              <p:cNvSpPr>
                <a:spLocks noChangeArrowheads="1"/>
              </p:cNvSpPr>
              <p:nvPr/>
            </p:nvSpPr>
            <p:spPr bwMode="auto">
              <a:xfrm>
                <a:off x="3693" y="1789"/>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42</a:t>
                </a:r>
              </a:p>
            </p:txBody>
          </p:sp>
          <p:sp>
            <p:nvSpPr>
              <p:cNvPr id="88131" name="Line 133"/>
              <p:cNvSpPr>
                <a:spLocks noChangeShapeType="1"/>
              </p:cNvSpPr>
              <p:nvPr/>
            </p:nvSpPr>
            <p:spPr bwMode="auto">
              <a:xfrm flipH="1">
                <a:off x="3612" y="1933"/>
                <a:ext cx="100" cy="167"/>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88132" name="Line 134"/>
              <p:cNvSpPr>
                <a:spLocks noChangeShapeType="1"/>
              </p:cNvSpPr>
              <p:nvPr/>
            </p:nvSpPr>
            <p:spPr bwMode="auto">
              <a:xfrm>
                <a:off x="3823" y="1955"/>
                <a:ext cx="78" cy="156"/>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grpSp>
          <p:nvGrpSpPr>
            <p:cNvPr id="88112" name="Group 135"/>
            <p:cNvGrpSpPr>
              <a:grpSpLocks/>
            </p:cNvGrpSpPr>
            <p:nvPr/>
          </p:nvGrpSpPr>
          <p:grpSpPr bwMode="auto">
            <a:xfrm>
              <a:off x="3875" y="2485"/>
              <a:ext cx="904" cy="1064"/>
              <a:chOff x="3309" y="2529"/>
              <a:chExt cx="904" cy="1064"/>
            </a:xfrm>
          </p:grpSpPr>
          <p:sp>
            <p:nvSpPr>
              <p:cNvPr id="88113" name="Oval 136"/>
              <p:cNvSpPr>
                <a:spLocks noChangeArrowheads="1"/>
              </p:cNvSpPr>
              <p:nvPr/>
            </p:nvSpPr>
            <p:spPr bwMode="auto">
              <a:xfrm>
                <a:off x="3309" y="2856"/>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29</a:t>
                </a:r>
              </a:p>
            </p:txBody>
          </p:sp>
          <p:grpSp>
            <p:nvGrpSpPr>
              <p:cNvPr id="88114" name="Group 137"/>
              <p:cNvGrpSpPr>
                <a:grpSpLocks/>
              </p:cNvGrpSpPr>
              <p:nvPr/>
            </p:nvGrpSpPr>
            <p:grpSpPr bwMode="auto">
              <a:xfrm>
                <a:off x="3525" y="2852"/>
                <a:ext cx="688" cy="741"/>
                <a:chOff x="3643" y="814"/>
                <a:chExt cx="688" cy="741"/>
              </a:xfrm>
            </p:grpSpPr>
            <p:sp>
              <p:nvSpPr>
                <p:cNvPr id="88118" name="Oval 138"/>
                <p:cNvSpPr>
                  <a:spLocks noChangeArrowheads="1"/>
                </p:cNvSpPr>
                <p:nvPr/>
              </p:nvSpPr>
              <p:spPr bwMode="auto">
                <a:xfrm>
                  <a:off x="3643" y="1074"/>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14</a:t>
                  </a:r>
                </a:p>
              </p:txBody>
            </p:sp>
            <p:grpSp>
              <p:nvGrpSpPr>
                <p:cNvPr id="88119" name="Group 139"/>
                <p:cNvGrpSpPr>
                  <a:grpSpLocks/>
                </p:cNvGrpSpPr>
                <p:nvPr/>
              </p:nvGrpSpPr>
              <p:grpSpPr bwMode="auto">
                <a:xfrm>
                  <a:off x="3824" y="1096"/>
                  <a:ext cx="507" cy="459"/>
                  <a:chOff x="1596" y="1881"/>
                  <a:chExt cx="507" cy="459"/>
                </a:xfrm>
              </p:grpSpPr>
              <p:sp>
                <p:nvSpPr>
                  <p:cNvPr id="88123" name="Oval 140"/>
                  <p:cNvSpPr>
                    <a:spLocks noChangeArrowheads="1"/>
                  </p:cNvSpPr>
                  <p:nvPr/>
                </p:nvSpPr>
                <p:spPr bwMode="auto">
                  <a:xfrm>
                    <a:off x="1914" y="2151"/>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8</a:t>
                    </a:r>
                  </a:p>
                </p:txBody>
              </p:sp>
              <p:sp>
                <p:nvSpPr>
                  <p:cNvPr id="88124" name="Oval 141"/>
                  <p:cNvSpPr>
                    <a:spLocks noChangeArrowheads="1"/>
                  </p:cNvSpPr>
                  <p:nvPr/>
                </p:nvSpPr>
                <p:spPr bwMode="auto">
                  <a:xfrm>
                    <a:off x="1596" y="2151"/>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7</a:t>
                    </a:r>
                  </a:p>
                </p:txBody>
              </p:sp>
              <p:sp>
                <p:nvSpPr>
                  <p:cNvPr id="88125" name="Oval 142"/>
                  <p:cNvSpPr>
                    <a:spLocks noChangeArrowheads="1"/>
                  </p:cNvSpPr>
                  <p:nvPr/>
                </p:nvSpPr>
                <p:spPr bwMode="auto">
                  <a:xfrm>
                    <a:off x="1792" y="1881"/>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15</a:t>
                    </a:r>
                  </a:p>
                </p:txBody>
              </p:sp>
              <p:sp>
                <p:nvSpPr>
                  <p:cNvPr id="88126" name="Line 143"/>
                  <p:cNvSpPr>
                    <a:spLocks noChangeShapeType="1"/>
                  </p:cNvSpPr>
                  <p:nvPr/>
                </p:nvSpPr>
                <p:spPr bwMode="auto">
                  <a:xfrm flipH="1">
                    <a:off x="1745" y="2033"/>
                    <a:ext cx="66" cy="145"/>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88127" name="Line 144"/>
                  <p:cNvSpPr>
                    <a:spLocks noChangeShapeType="1"/>
                  </p:cNvSpPr>
                  <p:nvPr/>
                </p:nvSpPr>
                <p:spPr bwMode="auto">
                  <a:xfrm>
                    <a:off x="1945" y="2033"/>
                    <a:ext cx="55" cy="122"/>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sp>
              <p:nvSpPr>
                <p:cNvPr id="88120" name="Oval 145"/>
                <p:cNvSpPr>
                  <a:spLocks noChangeArrowheads="1"/>
                </p:cNvSpPr>
                <p:nvPr/>
              </p:nvSpPr>
              <p:spPr bwMode="auto">
                <a:xfrm>
                  <a:off x="3861" y="814"/>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29</a:t>
                  </a:r>
                </a:p>
              </p:txBody>
            </p:sp>
            <p:sp>
              <p:nvSpPr>
                <p:cNvPr id="88121" name="Line 146"/>
                <p:cNvSpPr>
                  <a:spLocks noChangeShapeType="1"/>
                </p:cNvSpPr>
                <p:nvPr/>
              </p:nvSpPr>
              <p:spPr bwMode="auto">
                <a:xfrm flipH="1">
                  <a:off x="3800" y="967"/>
                  <a:ext cx="78" cy="155"/>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88122" name="Line 147"/>
                <p:cNvSpPr>
                  <a:spLocks noChangeShapeType="1"/>
                </p:cNvSpPr>
                <p:nvPr/>
              </p:nvSpPr>
              <p:spPr bwMode="auto">
                <a:xfrm>
                  <a:off x="4001" y="978"/>
                  <a:ext cx="66" cy="133"/>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sp>
            <p:nvSpPr>
              <p:cNvPr id="88115" name="Oval 148"/>
              <p:cNvSpPr>
                <a:spLocks noChangeArrowheads="1"/>
              </p:cNvSpPr>
              <p:nvPr/>
            </p:nvSpPr>
            <p:spPr bwMode="auto">
              <a:xfrm>
                <a:off x="3539" y="2529"/>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58</a:t>
                </a:r>
              </a:p>
            </p:txBody>
          </p:sp>
          <p:sp>
            <p:nvSpPr>
              <p:cNvPr id="88116" name="Line 149"/>
              <p:cNvSpPr>
                <a:spLocks noChangeShapeType="1"/>
              </p:cNvSpPr>
              <p:nvPr/>
            </p:nvSpPr>
            <p:spPr bwMode="auto">
              <a:xfrm flipH="1">
                <a:off x="3467" y="2711"/>
                <a:ext cx="111" cy="167"/>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88117" name="Line 150"/>
              <p:cNvSpPr>
                <a:spLocks noChangeShapeType="1"/>
              </p:cNvSpPr>
              <p:nvPr/>
            </p:nvSpPr>
            <p:spPr bwMode="auto">
              <a:xfrm>
                <a:off x="3678" y="2689"/>
                <a:ext cx="100" cy="166"/>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grpSp>
      <p:grpSp>
        <p:nvGrpSpPr>
          <p:cNvPr id="30" name="Group 151"/>
          <p:cNvGrpSpPr>
            <a:grpSpLocks/>
          </p:cNvGrpSpPr>
          <p:nvPr/>
        </p:nvGrpSpPr>
        <p:grpSpPr bwMode="auto">
          <a:xfrm>
            <a:off x="5076825" y="4135438"/>
            <a:ext cx="2640013" cy="2314575"/>
            <a:chOff x="3190" y="2862"/>
            <a:chExt cx="1663" cy="1458"/>
          </a:xfrm>
        </p:grpSpPr>
        <p:grpSp>
          <p:nvGrpSpPr>
            <p:cNvPr id="88076" name="Group 152"/>
            <p:cNvGrpSpPr>
              <a:grpSpLocks/>
            </p:cNvGrpSpPr>
            <p:nvPr/>
          </p:nvGrpSpPr>
          <p:grpSpPr bwMode="auto">
            <a:xfrm>
              <a:off x="3190" y="3238"/>
              <a:ext cx="901" cy="1082"/>
              <a:chOff x="3441" y="1789"/>
              <a:chExt cx="901" cy="1082"/>
            </a:xfrm>
          </p:grpSpPr>
          <p:grpSp>
            <p:nvGrpSpPr>
              <p:cNvPr id="88096" name="Group 153"/>
              <p:cNvGrpSpPr>
                <a:grpSpLocks/>
              </p:cNvGrpSpPr>
              <p:nvPr/>
            </p:nvGrpSpPr>
            <p:grpSpPr bwMode="auto">
              <a:xfrm>
                <a:off x="3636" y="2095"/>
                <a:ext cx="706" cy="776"/>
                <a:chOff x="1633" y="2900"/>
                <a:chExt cx="706" cy="776"/>
              </a:xfrm>
            </p:grpSpPr>
            <p:sp>
              <p:nvSpPr>
                <p:cNvPr id="88101" name="Oval 154"/>
                <p:cNvSpPr>
                  <a:spLocks noChangeArrowheads="1"/>
                </p:cNvSpPr>
                <p:nvPr/>
              </p:nvSpPr>
              <p:spPr bwMode="auto">
                <a:xfrm>
                  <a:off x="1633" y="3192"/>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11</a:t>
                  </a:r>
                </a:p>
              </p:txBody>
            </p:sp>
            <p:grpSp>
              <p:nvGrpSpPr>
                <p:cNvPr id="88102" name="Group 155"/>
                <p:cNvGrpSpPr>
                  <a:grpSpLocks/>
                </p:cNvGrpSpPr>
                <p:nvPr/>
              </p:nvGrpSpPr>
              <p:grpSpPr bwMode="auto">
                <a:xfrm>
                  <a:off x="1832" y="3217"/>
                  <a:ext cx="507" cy="459"/>
                  <a:chOff x="1596" y="1881"/>
                  <a:chExt cx="507" cy="459"/>
                </a:xfrm>
              </p:grpSpPr>
              <p:sp>
                <p:nvSpPr>
                  <p:cNvPr id="88106" name="Oval 156"/>
                  <p:cNvSpPr>
                    <a:spLocks noChangeArrowheads="1"/>
                  </p:cNvSpPr>
                  <p:nvPr/>
                </p:nvSpPr>
                <p:spPr bwMode="auto">
                  <a:xfrm>
                    <a:off x="1914" y="2151"/>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3</a:t>
                    </a:r>
                  </a:p>
                </p:txBody>
              </p:sp>
              <p:sp>
                <p:nvSpPr>
                  <p:cNvPr id="88107" name="Oval 157"/>
                  <p:cNvSpPr>
                    <a:spLocks noChangeArrowheads="1"/>
                  </p:cNvSpPr>
                  <p:nvPr/>
                </p:nvSpPr>
                <p:spPr bwMode="auto">
                  <a:xfrm>
                    <a:off x="1596" y="2151"/>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5</a:t>
                    </a:r>
                  </a:p>
                </p:txBody>
              </p:sp>
              <p:sp>
                <p:nvSpPr>
                  <p:cNvPr id="88108" name="Oval 158"/>
                  <p:cNvSpPr>
                    <a:spLocks noChangeArrowheads="1"/>
                  </p:cNvSpPr>
                  <p:nvPr/>
                </p:nvSpPr>
                <p:spPr bwMode="auto">
                  <a:xfrm>
                    <a:off x="1792" y="1881"/>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8</a:t>
                    </a:r>
                  </a:p>
                </p:txBody>
              </p:sp>
              <p:sp>
                <p:nvSpPr>
                  <p:cNvPr id="88109" name="Line 159"/>
                  <p:cNvSpPr>
                    <a:spLocks noChangeShapeType="1"/>
                  </p:cNvSpPr>
                  <p:nvPr/>
                </p:nvSpPr>
                <p:spPr bwMode="auto">
                  <a:xfrm flipH="1">
                    <a:off x="1745" y="2033"/>
                    <a:ext cx="66" cy="145"/>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88110" name="Line 160"/>
                  <p:cNvSpPr>
                    <a:spLocks noChangeShapeType="1"/>
                  </p:cNvSpPr>
                  <p:nvPr/>
                </p:nvSpPr>
                <p:spPr bwMode="auto">
                  <a:xfrm>
                    <a:off x="1945" y="2033"/>
                    <a:ext cx="55" cy="122"/>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sp>
              <p:nvSpPr>
                <p:cNvPr id="88103" name="Oval 161"/>
                <p:cNvSpPr>
                  <a:spLocks noChangeArrowheads="1"/>
                </p:cNvSpPr>
                <p:nvPr/>
              </p:nvSpPr>
              <p:spPr bwMode="auto">
                <a:xfrm>
                  <a:off x="1851" y="2900"/>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19</a:t>
                  </a:r>
                </a:p>
              </p:txBody>
            </p:sp>
            <p:sp>
              <p:nvSpPr>
                <p:cNvPr id="88104" name="Line 162"/>
                <p:cNvSpPr>
                  <a:spLocks noChangeShapeType="1"/>
                </p:cNvSpPr>
                <p:nvPr/>
              </p:nvSpPr>
              <p:spPr bwMode="auto">
                <a:xfrm flipH="1">
                  <a:off x="1800" y="3066"/>
                  <a:ext cx="89" cy="134"/>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88105" name="Line 163"/>
                <p:cNvSpPr>
                  <a:spLocks noChangeShapeType="1"/>
                </p:cNvSpPr>
                <p:nvPr/>
              </p:nvSpPr>
              <p:spPr bwMode="auto">
                <a:xfrm>
                  <a:off x="1978" y="3078"/>
                  <a:ext cx="100" cy="144"/>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sp>
            <p:nvSpPr>
              <p:cNvPr id="88097" name="Oval 164"/>
              <p:cNvSpPr>
                <a:spLocks noChangeArrowheads="1"/>
              </p:cNvSpPr>
              <p:nvPr/>
            </p:nvSpPr>
            <p:spPr bwMode="auto">
              <a:xfrm>
                <a:off x="3441" y="2071"/>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23</a:t>
                </a:r>
              </a:p>
            </p:txBody>
          </p:sp>
          <p:sp>
            <p:nvSpPr>
              <p:cNvPr id="88098" name="Oval 165"/>
              <p:cNvSpPr>
                <a:spLocks noChangeArrowheads="1"/>
              </p:cNvSpPr>
              <p:nvPr/>
            </p:nvSpPr>
            <p:spPr bwMode="auto">
              <a:xfrm>
                <a:off x="3693" y="1789"/>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42</a:t>
                </a:r>
              </a:p>
            </p:txBody>
          </p:sp>
          <p:sp>
            <p:nvSpPr>
              <p:cNvPr id="88099" name="Line 166"/>
              <p:cNvSpPr>
                <a:spLocks noChangeShapeType="1"/>
              </p:cNvSpPr>
              <p:nvPr/>
            </p:nvSpPr>
            <p:spPr bwMode="auto">
              <a:xfrm flipH="1">
                <a:off x="3612" y="1933"/>
                <a:ext cx="100" cy="167"/>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88100" name="Line 167"/>
              <p:cNvSpPr>
                <a:spLocks noChangeShapeType="1"/>
              </p:cNvSpPr>
              <p:nvPr/>
            </p:nvSpPr>
            <p:spPr bwMode="auto">
              <a:xfrm>
                <a:off x="3823" y="1955"/>
                <a:ext cx="78" cy="156"/>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grpSp>
          <p:nvGrpSpPr>
            <p:cNvPr id="88077" name="Group 168"/>
            <p:cNvGrpSpPr>
              <a:grpSpLocks/>
            </p:cNvGrpSpPr>
            <p:nvPr/>
          </p:nvGrpSpPr>
          <p:grpSpPr bwMode="auto">
            <a:xfrm>
              <a:off x="3949" y="3256"/>
              <a:ext cx="904" cy="1064"/>
              <a:chOff x="3309" y="2529"/>
              <a:chExt cx="904" cy="1064"/>
            </a:xfrm>
          </p:grpSpPr>
          <p:sp>
            <p:nvSpPr>
              <p:cNvPr id="88081" name="Oval 169"/>
              <p:cNvSpPr>
                <a:spLocks noChangeArrowheads="1"/>
              </p:cNvSpPr>
              <p:nvPr/>
            </p:nvSpPr>
            <p:spPr bwMode="auto">
              <a:xfrm>
                <a:off x="3309" y="2856"/>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29</a:t>
                </a:r>
              </a:p>
            </p:txBody>
          </p:sp>
          <p:grpSp>
            <p:nvGrpSpPr>
              <p:cNvPr id="88082" name="Group 170"/>
              <p:cNvGrpSpPr>
                <a:grpSpLocks/>
              </p:cNvGrpSpPr>
              <p:nvPr/>
            </p:nvGrpSpPr>
            <p:grpSpPr bwMode="auto">
              <a:xfrm>
                <a:off x="3525" y="2852"/>
                <a:ext cx="688" cy="741"/>
                <a:chOff x="3643" y="814"/>
                <a:chExt cx="688" cy="741"/>
              </a:xfrm>
            </p:grpSpPr>
            <p:sp>
              <p:nvSpPr>
                <p:cNvPr id="88086" name="Oval 171"/>
                <p:cNvSpPr>
                  <a:spLocks noChangeArrowheads="1"/>
                </p:cNvSpPr>
                <p:nvPr/>
              </p:nvSpPr>
              <p:spPr bwMode="auto">
                <a:xfrm>
                  <a:off x="3643" y="1074"/>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14</a:t>
                  </a:r>
                </a:p>
              </p:txBody>
            </p:sp>
            <p:grpSp>
              <p:nvGrpSpPr>
                <p:cNvPr id="88087" name="Group 172"/>
                <p:cNvGrpSpPr>
                  <a:grpSpLocks/>
                </p:cNvGrpSpPr>
                <p:nvPr/>
              </p:nvGrpSpPr>
              <p:grpSpPr bwMode="auto">
                <a:xfrm>
                  <a:off x="3824" y="1096"/>
                  <a:ext cx="507" cy="459"/>
                  <a:chOff x="1596" y="1881"/>
                  <a:chExt cx="507" cy="459"/>
                </a:xfrm>
              </p:grpSpPr>
              <p:sp>
                <p:nvSpPr>
                  <p:cNvPr id="88091" name="Oval 173"/>
                  <p:cNvSpPr>
                    <a:spLocks noChangeArrowheads="1"/>
                  </p:cNvSpPr>
                  <p:nvPr/>
                </p:nvSpPr>
                <p:spPr bwMode="auto">
                  <a:xfrm>
                    <a:off x="1914" y="2151"/>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8</a:t>
                    </a:r>
                  </a:p>
                </p:txBody>
              </p:sp>
              <p:sp>
                <p:nvSpPr>
                  <p:cNvPr id="88092" name="Oval 174"/>
                  <p:cNvSpPr>
                    <a:spLocks noChangeArrowheads="1"/>
                  </p:cNvSpPr>
                  <p:nvPr/>
                </p:nvSpPr>
                <p:spPr bwMode="auto">
                  <a:xfrm>
                    <a:off x="1596" y="2151"/>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7</a:t>
                    </a:r>
                  </a:p>
                </p:txBody>
              </p:sp>
              <p:sp>
                <p:nvSpPr>
                  <p:cNvPr id="88093" name="Oval 175"/>
                  <p:cNvSpPr>
                    <a:spLocks noChangeArrowheads="1"/>
                  </p:cNvSpPr>
                  <p:nvPr/>
                </p:nvSpPr>
                <p:spPr bwMode="auto">
                  <a:xfrm>
                    <a:off x="1792" y="1881"/>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15</a:t>
                    </a:r>
                  </a:p>
                </p:txBody>
              </p:sp>
              <p:sp>
                <p:nvSpPr>
                  <p:cNvPr id="88094" name="Line 176"/>
                  <p:cNvSpPr>
                    <a:spLocks noChangeShapeType="1"/>
                  </p:cNvSpPr>
                  <p:nvPr/>
                </p:nvSpPr>
                <p:spPr bwMode="auto">
                  <a:xfrm flipH="1">
                    <a:off x="1745" y="2033"/>
                    <a:ext cx="66" cy="145"/>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88095" name="Line 177"/>
                  <p:cNvSpPr>
                    <a:spLocks noChangeShapeType="1"/>
                  </p:cNvSpPr>
                  <p:nvPr/>
                </p:nvSpPr>
                <p:spPr bwMode="auto">
                  <a:xfrm>
                    <a:off x="1945" y="2033"/>
                    <a:ext cx="55" cy="122"/>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sp>
              <p:nvSpPr>
                <p:cNvPr id="88088" name="Oval 178"/>
                <p:cNvSpPr>
                  <a:spLocks noChangeArrowheads="1"/>
                </p:cNvSpPr>
                <p:nvPr/>
              </p:nvSpPr>
              <p:spPr bwMode="auto">
                <a:xfrm>
                  <a:off x="3861" y="814"/>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29</a:t>
                  </a:r>
                </a:p>
              </p:txBody>
            </p:sp>
            <p:sp>
              <p:nvSpPr>
                <p:cNvPr id="88089" name="Line 179"/>
                <p:cNvSpPr>
                  <a:spLocks noChangeShapeType="1"/>
                </p:cNvSpPr>
                <p:nvPr/>
              </p:nvSpPr>
              <p:spPr bwMode="auto">
                <a:xfrm flipH="1">
                  <a:off x="3800" y="967"/>
                  <a:ext cx="78" cy="155"/>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88090" name="Line 180"/>
                <p:cNvSpPr>
                  <a:spLocks noChangeShapeType="1"/>
                </p:cNvSpPr>
                <p:nvPr/>
              </p:nvSpPr>
              <p:spPr bwMode="auto">
                <a:xfrm>
                  <a:off x="4001" y="978"/>
                  <a:ext cx="66" cy="133"/>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sp>
            <p:nvSpPr>
              <p:cNvPr id="88083" name="Oval 181"/>
              <p:cNvSpPr>
                <a:spLocks noChangeArrowheads="1"/>
              </p:cNvSpPr>
              <p:nvPr/>
            </p:nvSpPr>
            <p:spPr bwMode="auto">
              <a:xfrm>
                <a:off x="3539" y="2529"/>
                <a:ext cx="189" cy="189"/>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58</a:t>
                </a:r>
              </a:p>
            </p:txBody>
          </p:sp>
          <p:sp>
            <p:nvSpPr>
              <p:cNvPr id="88084" name="Line 182"/>
              <p:cNvSpPr>
                <a:spLocks noChangeShapeType="1"/>
              </p:cNvSpPr>
              <p:nvPr/>
            </p:nvSpPr>
            <p:spPr bwMode="auto">
              <a:xfrm flipH="1">
                <a:off x="3467" y="2711"/>
                <a:ext cx="111" cy="167"/>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88085" name="Line 183"/>
              <p:cNvSpPr>
                <a:spLocks noChangeShapeType="1"/>
              </p:cNvSpPr>
              <p:nvPr/>
            </p:nvSpPr>
            <p:spPr bwMode="auto">
              <a:xfrm>
                <a:off x="3678" y="2689"/>
                <a:ext cx="100" cy="166"/>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sp>
          <p:nvSpPr>
            <p:cNvPr id="88078" name="Oval 184"/>
            <p:cNvSpPr>
              <a:spLocks noChangeArrowheads="1"/>
            </p:cNvSpPr>
            <p:nvPr/>
          </p:nvSpPr>
          <p:spPr bwMode="auto">
            <a:xfrm>
              <a:off x="3805" y="2862"/>
              <a:ext cx="245" cy="256"/>
            </a:xfrm>
            <a:prstGeom prst="ellipse">
              <a:avLst/>
            </a:prstGeom>
            <a:solidFill>
              <a:srgbClr val="9900FF"/>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chemeClr val="bg1"/>
                  </a:solidFill>
                  <a:latin typeface="Times New Roman" panose="02020603050405020304" pitchFamily="18" charset="0"/>
                </a:rPr>
                <a:t>100</a:t>
              </a:r>
            </a:p>
          </p:txBody>
        </p:sp>
        <p:sp>
          <p:nvSpPr>
            <p:cNvPr id="88079" name="Line 185"/>
            <p:cNvSpPr>
              <a:spLocks noChangeShapeType="1"/>
            </p:cNvSpPr>
            <p:nvPr/>
          </p:nvSpPr>
          <p:spPr bwMode="auto">
            <a:xfrm flipH="1">
              <a:off x="3634" y="3100"/>
              <a:ext cx="222" cy="166"/>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8080" name="Line 186"/>
            <p:cNvSpPr>
              <a:spLocks noChangeShapeType="1"/>
            </p:cNvSpPr>
            <p:nvPr/>
          </p:nvSpPr>
          <p:spPr bwMode="auto">
            <a:xfrm>
              <a:off x="3978" y="3100"/>
              <a:ext cx="245" cy="2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88074" name="Text Box 188"/>
          <p:cNvSpPr txBox="1">
            <a:spLocks noChangeArrowheads="1"/>
          </p:cNvSpPr>
          <p:nvPr/>
        </p:nvSpPr>
        <p:spPr bwMode="auto">
          <a:xfrm>
            <a:off x="611188" y="476250"/>
            <a:ext cx="4298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dirty="0">
                <a:latin typeface="隶书" panose="02010509060101010101" pitchFamily="49" charset="-122"/>
                <a:ea typeface="隶书" panose="02010509060101010101" pitchFamily="49" charset="-122"/>
              </a:rPr>
              <a:t>例</a:t>
            </a:r>
            <a:r>
              <a:rPr kumimoji="1" lang="zh-CN" altLang="en-US" sz="2400" b="1" dirty="0">
                <a:latin typeface="Times New Roman" panose="02020603050405020304" pitchFamily="18" charset="0"/>
              </a:rPr>
              <a:t>   </a:t>
            </a:r>
            <a:r>
              <a:rPr kumimoji="1" lang="en-US" altLang="zh-CN" sz="2400" b="1" dirty="0">
                <a:latin typeface="Times New Roman" panose="02020603050405020304" pitchFamily="18" charset="0"/>
              </a:rPr>
              <a:t>w={5, 29, 7, 8, 14, 23, 3, 11}</a:t>
            </a:r>
          </a:p>
        </p:txBody>
      </p:sp>
      <p:sp>
        <p:nvSpPr>
          <p:cNvPr id="88075" name="Text Box 189">
            <a:hlinkClick r:id="rId2" action="ppaction://hlinkfile"/>
          </p:cNvPr>
          <p:cNvSpPr txBox="1">
            <a:spLocks noChangeArrowheads="1"/>
          </p:cNvSpPr>
          <p:nvPr/>
        </p:nvSpPr>
        <p:spPr bwMode="auto">
          <a:xfrm>
            <a:off x="7956550" y="6165850"/>
            <a:ext cx="10080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u="sng">
                <a:solidFill>
                  <a:srgbClr val="FF3300"/>
                </a:solidFill>
                <a:hlinkClick r:id="rId2" action="ppaction://hlinkfile"/>
              </a:rPr>
              <a:t>演　示</a:t>
            </a:r>
            <a:endParaRPr lang="zh-CN" altLang="en-US" b="1" u="sng">
              <a:solidFill>
                <a:srgbClr val="FF3300"/>
              </a:solidFill>
            </a:endParaRPr>
          </a:p>
        </p:txBody>
      </p:sp>
    </p:spTree>
    <p:extLst>
      <p:ext uri="{BB962C8B-B14F-4D97-AF65-F5344CB8AC3E}">
        <p14:creationId xmlns:p14="http://schemas.microsoft.com/office/powerpoint/2010/main" val="284147736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12"/>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17"/>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23"/>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499"/>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body" idx="1"/>
          </p:nvPr>
        </p:nvSpPr>
        <p:spPr>
          <a:xfrm>
            <a:off x="899592" y="1238250"/>
            <a:ext cx="8134672" cy="2195512"/>
          </a:xfrm>
        </p:spPr>
        <p:txBody>
          <a:bodyPr/>
          <a:lstStyle/>
          <a:p>
            <a:pPr>
              <a:spcAft>
                <a:spcPts val="1200"/>
              </a:spcAft>
            </a:pPr>
            <a:r>
              <a:rPr lang="en-US" altLang="zh-CN" sz="2400" dirty="0" smtClean="0"/>
              <a:t>1.</a:t>
            </a:r>
            <a:r>
              <a:rPr lang="zh-CN" altLang="en-US" sz="2400" dirty="0" smtClean="0"/>
              <a:t>判定树</a:t>
            </a:r>
          </a:p>
          <a:p>
            <a:pPr>
              <a:buFont typeface="Wingdings" panose="05000000000000000000" pitchFamily="2" charset="2"/>
              <a:buNone/>
            </a:pPr>
            <a:r>
              <a:rPr lang="zh-CN" altLang="en-US" sz="2400" dirty="0" smtClean="0"/>
              <a:t>	在很多问题的处理过程中，需要进行大量的条件判断，这些判断结构的设计直接影响着程序的执行效率。</a:t>
            </a:r>
          </a:p>
          <a:p>
            <a:r>
              <a:rPr lang="zh-CN" altLang="en-US" sz="2400" dirty="0" smtClean="0"/>
              <a:t>例如，编制一个程序，将百分制转换成五个等级输出。一种形式如下：</a:t>
            </a:r>
          </a:p>
          <a:p>
            <a:pPr>
              <a:buFont typeface="Wingdings" panose="05000000000000000000" pitchFamily="2" charset="2"/>
              <a:buNone/>
            </a:pPr>
            <a:r>
              <a:rPr lang="zh-CN" altLang="en-US" sz="2400" dirty="0" smtClean="0"/>
              <a:t>   </a:t>
            </a:r>
            <a:r>
              <a:rPr lang="en-US" altLang="zh-CN" sz="2400" dirty="0" smtClean="0"/>
              <a:t>if (</a:t>
            </a:r>
            <a:r>
              <a:rPr lang="en-US" altLang="zh-CN" sz="2400" dirty="0" err="1" smtClean="0"/>
              <a:t>socre</a:t>
            </a:r>
            <a:r>
              <a:rPr lang="en-US" altLang="zh-CN" sz="2400" dirty="0" smtClean="0"/>
              <a:t>&lt;60) </a:t>
            </a:r>
            <a:r>
              <a:rPr lang="en-US" altLang="zh-CN" sz="2400" dirty="0" err="1" smtClean="0"/>
              <a:t>printf</a:t>
            </a:r>
            <a:r>
              <a:rPr lang="en-US" altLang="zh-CN" sz="2400" dirty="0" smtClean="0"/>
              <a:t>(“bad”);                      </a:t>
            </a:r>
          </a:p>
          <a:p>
            <a:pPr>
              <a:buFont typeface="Wingdings" panose="05000000000000000000" pitchFamily="2" charset="2"/>
              <a:buNone/>
            </a:pPr>
            <a:r>
              <a:rPr lang="en-US" altLang="zh-CN" sz="2400" dirty="0" smtClean="0"/>
              <a:t>   else if (</a:t>
            </a:r>
            <a:r>
              <a:rPr lang="en-US" altLang="zh-CN" sz="2400" dirty="0" err="1" smtClean="0"/>
              <a:t>socre</a:t>
            </a:r>
            <a:r>
              <a:rPr lang="en-US" altLang="zh-CN" sz="2400" dirty="0" smtClean="0"/>
              <a:t>&lt;70) </a:t>
            </a:r>
            <a:r>
              <a:rPr lang="en-US" altLang="zh-CN" sz="2400" dirty="0" err="1" smtClean="0"/>
              <a:t>printf</a:t>
            </a:r>
            <a:r>
              <a:rPr lang="en-US" altLang="zh-CN" sz="2400" dirty="0" smtClean="0"/>
              <a:t>(“pass”)                         </a:t>
            </a:r>
          </a:p>
          <a:p>
            <a:pPr>
              <a:buFont typeface="Wingdings" panose="05000000000000000000" pitchFamily="2" charset="2"/>
              <a:buNone/>
            </a:pPr>
            <a:r>
              <a:rPr lang="en-US" altLang="zh-CN" sz="2400" dirty="0" smtClean="0"/>
              <a:t>   else if (score&lt;80) </a:t>
            </a:r>
            <a:r>
              <a:rPr lang="en-US" altLang="zh-CN" sz="2400" dirty="0" err="1" smtClean="0"/>
              <a:t>printf</a:t>
            </a:r>
            <a:r>
              <a:rPr lang="en-US" altLang="zh-CN" sz="2400" dirty="0" smtClean="0"/>
              <a:t>(“general”);</a:t>
            </a:r>
          </a:p>
          <a:p>
            <a:pPr>
              <a:buFont typeface="Wingdings" panose="05000000000000000000" pitchFamily="2" charset="2"/>
              <a:buNone/>
            </a:pPr>
            <a:r>
              <a:rPr lang="en-US" altLang="zh-CN" sz="2400" dirty="0" smtClean="0"/>
              <a:t>   else if (score&lt;90) </a:t>
            </a:r>
            <a:r>
              <a:rPr lang="en-US" altLang="zh-CN" sz="2400" dirty="0" err="1" smtClean="0"/>
              <a:t>printf</a:t>
            </a:r>
            <a:r>
              <a:rPr lang="en-US" altLang="zh-CN" sz="2400" dirty="0" smtClean="0"/>
              <a:t>(“good”); </a:t>
            </a:r>
          </a:p>
          <a:p>
            <a:pPr>
              <a:buFont typeface="Wingdings" panose="05000000000000000000" pitchFamily="2" charset="2"/>
              <a:buNone/>
            </a:pPr>
            <a:r>
              <a:rPr lang="en-US" altLang="zh-CN" sz="2400" dirty="0"/>
              <a:t> </a:t>
            </a:r>
            <a:r>
              <a:rPr lang="en-US" altLang="zh-CN" sz="2400" dirty="0" smtClean="0"/>
              <a:t>  else </a:t>
            </a:r>
            <a:r>
              <a:rPr lang="en-US" altLang="zh-CN" sz="2400" dirty="0" err="1" smtClean="0"/>
              <a:t>printf</a:t>
            </a:r>
            <a:r>
              <a:rPr lang="en-US" altLang="zh-CN" sz="2400" dirty="0" smtClean="0"/>
              <a:t>(“very good”);</a:t>
            </a:r>
          </a:p>
        </p:txBody>
      </p:sp>
      <p:sp>
        <p:nvSpPr>
          <p:cNvPr id="89091" name="Rectangle 5"/>
          <p:cNvSpPr>
            <a:spLocks noGrp="1" noChangeArrowheads="1"/>
          </p:cNvSpPr>
          <p:nvPr>
            <p:ph type="title"/>
          </p:nvPr>
        </p:nvSpPr>
        <p:spPr>
          <a:xfrm>
            <a:off x="1000125" y="457200"/>
            <a:ext cx="7686675" cy="762000"/>
          </a:xfrm>
        </p:spPr>
        <p:txBody>
          <a:bodyPr/>
          <a:lstStyle/>
          <a:p>
            <a:r>
              <a:rPr lang="en-US" altLang="zh-CN" sz="3600" dirty="0">
                <a:solidFill>
                  <a:srgbClr val="333399"/>
                </a:solidFill>
              </a:rPr>
              <a:t>1.4.</a:t>
            </a:r>
            <a:r>
              <a:rPr lang="en-US" altLang="zh-CN" sz="3600" dirty="0" smtClean="0"/>
              <a:t>7 </a:t>
            </a:r>
            <a:r>
              <a:rPr lang="zh-CN" altLang="en-US" sz="3600" dirty="0" smtClean="0"/>
              <a:t>赫夫曼树及其应用</a:t>
            </a:r>
          </a:p>
        </p:txBody>
      </p:sp>
      <p:sp>
        <p:nvSpPr>
          <p:cNvPr id="89092"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Tree>
    <p:extLst>
      <p:ext uri="{BB962C8B-B14F-4D97-AF65-F5344CB8AC3E}">
        <p14:creationId xmlns:p14="http://schemas.microsoft.com/office/powerpoint/2010/main" val="2851023701"/>
      </p:ext>
    </p:extLst>
  </p:cSld>
  <p:clrMapOvr>
    <a:masterClrMapping/>
  </p:clrMapOvr>
  <p:transition/>
  <p:timing>
    <p:tnLst>
      <p:par>
        <p:cTn id="1" dur="indefinite" restart="never" nodeType="tmRoot"/>
      </p:par>
    </p:tn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页脚占位符 4"/>
          <p:cNvSpPr>
            <a:spLocks noGrp="1"/>
          </p:cNvSpPr>
          <p:nvPr>
            <p:ph type="ftr" sz="quarter" idx="10"/>
          </p:nvPr>
        </p:nvSpPr>
        <p:spPr>
          <a:xfrm>
            <a:off x="3352800" y="5664200"/>
            <a:ext cx="2895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mtClean="0"/>
              <a:t>-</a:t>
            </a:r>
            <a:fld id="{ADFD60FF-AFDB-40E1-A647-86AC0AA95A8D}" type="slidenum">
              <a:rPr lang="zh-CN" altLang="en-US" smtClean="0"/>
              <a:pPr eaLnBrk="1" hangingPunct="1"/>
              <a:t>207</a:t>
            </a:fld>
            <a:r>
              <a:rPr lang="en-US" altLang="zh-CN" smtClean="0"/>
              <a:t>-</a:t>
            </a:r>
          </a:p>
        </p:txBody>
      </p:sp>
      <p:sp>
        <p:nvSpPr>
          <p:cNvPr id="27652" name="Rectangle 2"/>
          <p:cNvSpPr>
            <a:spLocks noGrp="1" noChangeArrowheads="1"/>
          </p:cNvSpPr>
          <p:nvPr>
            <p:ph type="title"/>
          </p:nvPr>
        </p:nvSpPr>
        <p:spPr/>
        <p:txBody>
          <a:bodyPr/>
          <a:lstStyle/>
          <a:p>
            <a:r>
              <a:rPr lang="en-US" altLang="zh-CN" sz="3600" dirty="0">
                <a:solidFill>
                  <a:srgbClr val="333399"/>
                </a:solidFill>
              </a:rPr>
              <a:t>1.4.</a:t>
            </a:r>
            <a:r>
              <a:rPr lang="en-US" altLang="zh-CN" sz="3600" dirty="0" smtClean="0"/>
              <a:t>7 </a:t>
            </a:r>
            <a:r>
              <a:rPr lang="zh-CN" altLang="en-US" sz="3600" dirty="0" smtClean="0"/>
              <a:t>赫夫曼树及其应用</a:t>
            </a:r>
            <a:endParaRPr lang="en-US" altLang="zh-CN" sz="2000" dirty="0" smtClean="0"/>
          </a:p>
        </p:txBody>
      </p:sp>
      <p:sp>
        <p:nvSpPr>
          <p:cNvPr id="27653" name="Rectangle 3"/>
          <p:cNvSpPr>
            <a:spLocks noGrp="1" noChangeArrowheads="1"/>
          </p:cNvSpPr>
          <p:nvPr>
            <p:ph type="body" idx="1"/>
          </p:nvPr>
        </p:nvSpPr>
        <p:spPr>
          <a:xfrm>
            <a:off x="1066800" y="1357313"/>
            <a:ext cx="7924800" cy="496887"/>
          </a:xfrm>
        </p:spPr>
        <p:txBody>
          <a:bodyPr/>
          <a:lstStyle/>
          <a:p>
            <a:pPr>
              <a:lnSpc>
                <a:spcPct val="90000"/>
              </a:lnSpc>
            </a:pPr>
            <a:r>
              <a:rPr lang="zh-CN" altLang="en-US" sz="2800" smtClean="0"/>
              <a:t>赫夫曼树的应用——最佳判定算法</a:t>
            </a:r>
          </a:p>
        </p:txBody>
      </p:sp>
      <p:graphicFrame>
        <p:nvGraphicFramePr>
          <p:cNvPr id="27650" name="Object 2"/>
          <p:cNvGraphicFramePr>
            <a:graphicFrameLocks noChangeAspect="1"/>
          </p:cNvGraphicFramePr>
          <p:nvPr/>
        </p:nvGraphicFramePr>
        <p:xfrm>
          <a:off x="4514850" y="2660650"/>
          <a:ext cx="114300" cy="215900"/>
        </p:xfrm>
        <a:graphic>
          <a:graphicData uri="http://schemas.openxmlformats.org/presentationml/2006/ole">
            <mc:AlternateContent xmlns:mc="http://schemas.openxmlformats.org/markup-compatibility/2006">
              <mc:Choice xmlns:v="urn:schemas-microsoft-com:vml" Requires="v">
                <p:oleObj spid="_x0000_s49162" name="Equation" r:id="rId3" imgW="114120" imgH="215640" progId="Equation.3">
                  <p:embed/>
                </p:oleObj>
              </mc:Choice>
              <mc:Fallback>
                <p:oleObj name="Equation" r:id="rId3" imgW="114120" imgH="215640" progId="Equation.3">
                  <p:embed/>
                  <p:pic>
                    <p:nvPicPr>
                      <p:cNvPr id="2765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2660650"/>
                        <a:ext cx="1143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2326" name="Group 6"/>
          <p:cNvGraphicFramePr>
            <a:graphicFrameLocks noGrp="1"/>
          </p:cNvGraphicFramePr>
          <p:nvPr/>
        </p:nvGraphicFramePr>
        <p:xfrm>
          <a:off x="1371600" y="1854200"/>
          <a:ext cx="6477000" cy="1235075"/>
        </p:xfrm>
        <a:graphic>
          <a:graphicData uri="http://schemas.openxmlformats.org/drawingml/2006/table">
            <a:tbl>
              <a:tblPr/>
              <a:tblGrid>
                <a:gridCol w="1054100">
                  <a:extLst>
                    <a:ext uri="{9D8B030D-6E8A-4147-A177-3AD203B41FA5}">
                      <a16:colId xmlns:a16="http://schemas.microsoft.com/office/drawing/2014/main" val="20000"/>
                    </a:ext>
                  </a:extLst>
                </a:gridCol>
                <a:gridCol w="1054100">
                  <a:extLst>
                    <a:ext uri="{9D8B030D-6E8A-4147-A177-3AD203B41FA5}">
                      <a16:colId xmlns:a16="http://schemas.microsoft.com/office/drawing/2014/main" val="20001"/>
                    </a:ext>
                  </a:extLst>
                </a:gridCol>
                <a:gridCol w="1054100">
                  <a:extLst>
                    <a:ext uri="{9D8B030D-6E8A-4147-A177-3AD203B41FA5}">
                      <a16:colId xmlns:a16="http://schemas.microsoft.com/office/drawing/2014/main" val="20002"/>
                    </a:ext>
                  </a:extLst>
                </a:gridCol>
                <a:gridCol w="1054100">
                  <a:extLst>
                    <a:ext uri="{9D8B030D-6E8A-4147-A177-3AD203B41FA5}">
                      <a16:colId xmlns:a16="http://schemas.microsoft.com/office/drawing/2014/main" val="20003"/>
                    </a:ext>
                  </a:extLst>
                </a:gridCol>
                <a:gridCol w="1054100">
                  <a:extLst>
                    <a:ext uri="{9D8B030D-6E8A-4147-A177-3AD203B41FA5}">
                      <a16:colId xmlns:a16="http://schemas.microsoft.com/office/drawing/2014/main" val="20004"/>
                    </a:ext>
                  </a:extLst>
                </a:gridCol>
                <a:gridCol w="1206500">
                  <a:extLst>
                    <a:ext uri="{9D8B030D-6E8A-4147-A177-3AD203B41FA5}">
                      <a16:colId xmlns:a16="http://schemas.microsoft.com/office/drawing/2014/main" val="20005"/>
                    </a:ext>
                  </a:extLst>
                </a:gridCol>
              </a:tblGrid>
              <a:tr h="432022">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000" b="1" i="0" u="none" strike="noStrike" cap="none" normalizeH="0" baseline="0" dirty="0" smtClean="0">
                          <a:ln>
                            <a:noFill/>
                          </a:ln>
                          <a:solidFill>
                            <a:schemeClr val="tx1"/>
                          </a:solidFill>
                          <a:effectLst/>
                          <a:latin typeface="Tahoma" pitchFamily="34" charset="0"/>
                          <a:ea typeface="宋体" pitchFamily="2" charset="-122"/>
                        </a:rPr>
                        <a:t>分数</a:t>
                      </a:r>
                    </a:p>
                  </a:txBody>
                  <a:tcPr marT="45744" marB="457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000" b="1" i="0" u="none" strike="noStrike" cap="none" normalizeH="0" baseline="0" smtClean="0">
                          <a:ln>
                            <a:noFill/>
                          </a:ln>
                          <a:solidFill>
                            <a:schemeClr val="tx1"/>
                          </a:solidFill>
                          <a:effectLst/>
                          <a:latin typeface="Tahoma" pitchFamily="34" charset="0"/>
                          <a:ea typeface="宋体" pitchFamily="2" charset="-122"/>
                        </a:rPr>
                        <a:t>0~59</a:t>
                      </a:r>
                    </a:p>
                  </a:txBody>
                  <a:tcPr marT="45744" marB="457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000" b="1" i="0" u="none" strike="noStrike" cap="none" normalizeH="0" baseline="0" smtClean="0">
                          <a:ln>
                            <a:noFill/>
                          </a:ln>
                          <a:solidFill>
                            <a:schemeClr val="tx1"/>
                          </a:solidFill>
                          <a:effectLst/>
                          <a:latin typeface="Tahoma" pitchFamily="34" charset="0"/>
                          <a:ea typeface="宋体" pitchFamily="2" charset="-122"/>
                        </a:rPr>
                        <a:t>60~69</a:t>
                      </a:r>
                    </a:p>
                  </a:txBody>
                  <a:tcPr marT="45744" marB="457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000" b="1" i="0" u="none" strike="noStrike" cap="none" normalizeH="0" baseline="0" smtClean="0">
                          <a:ln>
                            <a:noFill/>
                          </a:ln>
                          <a:solidFill>
                            <a:schemeClr val="tx1"/>
                          </a:solidFill>
                          <a:effectLst/>
                          <a:latin typeface="Tahoma" pitchFamily="34" charset="0"/>
                          <a:ea typeface="宋体" pitchFamily="2" charset="-122"/>
                        </a:rPr>
                        <a:t>70~79</a:t>
                      </a:r>
                    </a:p>
                  </a:txBody>
                  <a:tcPr marT="45744" marB="457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000" b="1" i="0" u="none" strike="noStrike" cap="none" normalizeH="0" baseline="0" smtClean="0">
                          <a:ln>
                            <a:noFill/>
                          </a:ln>
                          <a:solidFill>
                            <a:schemeClr val="tx1"/>
                          </a:solidFill>
                          <a:effectLst/>
                          <a:latin typeface="Tahoma" pitchFamily="34" charset="0"/>
                          <a:ea typeface="宋体" pitchFamily="2" charset="-122"/>
                        </a:rPr>
                        <a:t>80~89</a:t>
                      </a:r>
                    </a:p>
                  </a:txBody>
                  <a:tcPr marT="45744" marB="457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000" b="1" i="0" u="none" strike="noStrike" cap="none" normalizeH="0" baseline="0" smtClean="0">
                          <a:ln>
                            <a:noFill/>
                          </a:ln>
                          <a:solidFill>
                            <a:schemeClr val="tx1"/>
                          </a:solidFill>
                          <a:effectLst/>
                          <a:latin typeface="Tahoma" pitchFamily="34" charset="0"/>
                          <a:ea typeface="宋体" pitchFamily="2" charset="-122"/>
                        </a:rPr>
                        <a:t>90~100</a:t>
                      </a:r>
                    </a:p>
                  </a:txBody>
                  <a:tcPr marT="45744" marB="457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0"/>
                  </a:ext>
                </a:extLst>
              </a:tr>
              <a:tr h="406609">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000" b="1" i="0" u="none" strike="noStrike" cap="none" normalizeH="0" baseline="0" smtClean="0">
                          <a:ln>
                            <a:noFill/>
                          </a:ln>
                          <a:solidFill>
                            <a:schemeClr val="tx1"/>
                          </a:solidFill>
                          <a:effectLst/>
                          <a:latin typeface="Tahoma" pitchFamily="34" charset="0"/>
                          <a:ea typeface="宋体" pitchFamily="2" charset="-122"/>
                        </a:rPr>
                        <a:t>比例</a:t>
                      </a:r>
                    </a:p>
                  </a:txBody>
                  <a:tcPr marT="45744" marB="457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000" b="1" i="0" u="none" strike="noStrike" cap="none" normalizeH="0" baseline="0" smtClean="0">
                          <a:ln>
                            <a:noFill/>
                          </a:ln>
                          <a:solidFill>
                            <a:schemeClr val="tx1"/>
                          </a:solidFill>
                          <a:effectLst/>
                          <a:latin typeface="Tahoma" pitchFamily="34" charset="0"/>
                          <a:ea typeface="宋体" pitchFamily="2" charset="-122"/>
                        </a:rPr>
                        <a:t>0.05</a:t>
                      </a:r>
                    </a:p>
                  </a:txBody>
                  <a:tcPr marT="45744" marB="457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000" b="1" i="0" u="none" strike="noStrike" cap="none" normalizeH="0" baseline="0" smtClean="0">
                          <a:ln>
                            <a:noFill/>
                          </a:ln>
                          <a:solidFill>
                            <a:schemeClr val="tx1"/>
                          </a:solidFill>
                          <a:effectLst/>
                          <a:latin typeface="Tahoma" pitchFamily="34" charset="0"/>
                          <a:ea typeface="宋体" pitchFamily="2" charset="-122"/>
                        </a:rPr>
                        <a:t>0.15</a:t>
                      </a:r>
                    </a:p>
                  </a:txBody>
                  <a:tcPr marT="45744" marB="457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000" b="1" i="0" u="none" strike="noStrike" cap="none" normalizeH="0" baseline="0" smtClean="0">
                          <a:ln>
                            <a:noFill/>
                          </a:ln>
                          <a:solidFill>
                            <a:schemeClr val="tx1"/>
                          </a:solidFill>
                          <a:effectLst/>
                          <a:latin typeface="Tahoma" pitchFamily="34" charset="0"/>
                          <a:ea typeface="宋体" pitchFamily="2" charset="-122"/>
                        </a:rPr>
                        <a:t>0.40</a:t>
                      </a:r>
                    </a:p>
                  </a:txBody>
                  <a:tcPr marT="45744" marB="457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000" b="1" i="0" u="none" strike="noStrike" cap="none" normalizeH="0" baseline="0" smtClean="0">
                          <a:ln>
                            <a:noFill/>
                          </a:ln>
                          <a:solidFill>
                            <a:schemeClr val="tx1"/>
                          </a:solidFill>
                          <a:effectLst/>
                          <a:latin typeface="Tahoma" pitchFamily="34" charset="0"/>
                          <a:ea typeface="宋体" pitchFamily="2" charset="-122"/>
                        </a:rPr>
                        <a:t>0.30</a:t>
                      </a:r>
                    </a:p>
                  </a:txBody>
                  <a:tcPr marT="45744" marB="457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000" b="1" i="0" u="none" strike="noStrike" cap="none" normalizeH="0" baseline="0" smtClean="0">
                          <a:ln>
                            <a:noFill/>
                          </a:ln>
                          <a:solidFill>
                            <a:schemeClr val="tx1"/>
                          </a:solidFill>
                          <a:effectLst/>
                          <a:latin typeface="Tahoma" pitchFamily="34" charset="0"/>
                          <a:ea typeface="宋体" pitchFamily="2" charset="-122"/>
                        </a:rPr>
                        <a:t>0.10</a:t>
                      </a:r>
                    </a:p>
                  </a:txBody>
                  <a:tcPr marT="45744" marB="457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1"/>
                  </a:ext>
                </a:extLst>
              </a:tr>
              <a:tr h="39644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000" b="1" i="0" u="none" strike="noStrike" cap="none" normalizeH="0" baseline="0" smtClean="0">
                          <a:ln>
                            <a:noFill/>
                          </a:ln>
                          <a:solidFill>
                            <a:schemeClr val="tx1"/>
                          </a:solidFill>
                          <a:effectLst/>
                          <a:latin typeface="Tahoma" pitchFamily="34" charset="0"/>
                          <a:ea typeface="宋体" pitchFamily="2" charset="-122"/>
                        </a:rPr>
                        <a:t>等级</a:t>
                      </a:r>
                    </a:p>
                  </a:txBody>
                  <a:tcPr marT="45744" marB="457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000" b="1" i="0" u="none" strike="noStrike" cap="none" normalizeH="0" baseline="0" smtClean="0">
                          <a:ln>
                            <a:noFill/>
                          </a:ln>
                          <a:solidFill>
                            <a:schemeClr val="tx1"/>
                          </a:solidFill>
                          <a:effectLst/>
                          <a:latin typeface="Tahoma" pitchFamily="34" charset="0"/>
                          <a:ea typeface="宋体" pitchFamily="2" charset="-122"/>
                        </a:rPr>
                        <a:t>不及格</a:t>
                      </a:r>
                    </a:p>
                  </a:txBody>
                  <a:tcPr marT="45744" marB="457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000" b="1" i="0" u="none" strike="noStrike" cap="none" normalizeH="0" baseline="0" smtClean="0">
                          <a:ln>
                            <a:noFill/>
                          </a:ln>
                          <a:solidFill>
                            <a:schemeClr val="tx1"/>
                          </a:solidFill>
                          <a:effectLst/>
                          <a:latin typeface="Tahoma" pitchFamily="34" charset="0"/>
                          <a:ea typeface="宋体" pitchFamily="2" charset="-122"/>
                        </a:rPr>
                        <a:t>及格</a:t>
                      </a:r>
                    </a:p>
                  </a:txBody>
                  <a:tcPr marT="45744" marB="457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000" b="1" i="0" u="none" strike="noStrike" cap="none" normalizeH="0" baseline="0" dirty="0" smtClean="0">
                          <a:ln>
                            <a:noFill/>
                          </a:ln>
                          <a:solidFill>
                            <a:schemeClr val="tx1"/>
                          </a:solidFill>
                          <a:effectLst/>
                          <a:latin typeface="Tahoma" pitchFamily="34" charset="0"/>
                          <a:ea typeface="宋体" pitchFamily="2" charset="-122"/>
                        </a:rPr>
                        <a:t>中等</a:t>
                      </a:r>
                    </a:p>
                  </a:txBody>
                  <a:tcPr marT="45744" marB="457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000" b="1" i="0" u="none" strike="noStrike" cap="none" normalizeH="0" baseline="0" smtClean="0">
                          <a:ln>
                            <a:noFill/>
                          </a:ln>
                          <a:solidFill>
                            <a:schemeClr val="tx1"/>
                          </a:solidFill>
                          <a:effectLst/>
                          <a:latin typeface="Tahoma" pitchFamily="34" charset="0"/>
                          <a:ea typeface="宋体" pitchFamily="2" charset="-122"/>
                        </a:rPr>
                        <a:t>良好</a:t>
                      </a:r>
                    </a:p>
                  </a:txBody>
                  <a:tcPr marT="45744" marB="457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000" b="1" i="0" u="none" strike="noStrike" cap="none" normalizeH="0" baseline="0" smtClean="0">
                          <a:ln>
                            <a:noFill/>
                          </a:ln>
                          <a:solidFill>
                            <a:schemeClr val="tx1"/>
                          </a:solidFill>
                          <a:effectLst/>
                          <a:latin typeface="Tahoma" pitchFamily="34" charset="0"/>
                          <a:ea typeface="宋体" pitchFamily="2" charset="-122"/>
                        </a:rPr>
                        <a:t>优秀</a:t>
                      </a:r>
                    </a:p>
                  </a:txBody>
                  <a:tcPr marT="45744" marB="457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2"/>
                  </a:ext>
                </a:extLst>
              </a:tr>
            </a:tbl>
          </a:graphicData>
        </a:graphic>
      </p:graphicFrame>
      <p:sp>
        <p:nvSpPr>
          <p:cNvPr id="27684" name="Line 36"/>
          <p:cNvSpPr>
            <a:spLocks noChangeShapeType="1"/>
          </p:cNvSpPr>
          <p:nvPr/>
        </p:nvSpPr>
        <p:spPr bwMode="auto">
          <a:xfrm flipH="1">
            <a:off x="5029200" y="5207000"/>
            <a:ext cx="457200" cy="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85" name="Line 37"/>
          <p:cNvSpPr>
            <a:spLocks noChangeShapeType="1"/>
          </p:cNvSpPr>
          <p:nvPr/>
        </p:nvSpPr>
        <p:spPr bwMode="auto">
          <a:xfrm flipH="1">
            <a:off x="5715000" y="4673600"/>
            <a:ext cx="457200" cy="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86" name="Line 38"/>
          <p:cNvSpPr>
            <a:spLocks noChangeShapeType="1"/>
          </p:cNvSpPr>
          <p:nvPr/>
        </p:nvSpPr>
        <p:spPr bwMode="auto">
          <a:xfrm>
            <a:off x="6172200" y="4673600"/>
            <a:ext cx="0" cy="304800"/>
          </a:xfrm>
          <a:prstGeom prst="line">
            <a:avLst/>
          </a:prstGeom>
          <a:noFill/>
          <a:ln w="38100">
            <a:solidFill>
              <a:srgbClr val="009900"/>
            </a:solidFill>
            <a:round/>
            <a:headEnd/>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87" name="Line 39"/>
          <p:cNvSpPr>
            <a:spLocks noChangeShapeType="1"/>
          </p:cNvSpPr>
          <p:nvPr/>
        </p:nvSpPr>
        <p:spPr bwMode="auto">
          <a:xfrm flipH="1">
            <a:off x="3886200" y="4673600"/>
            <a:ext cx="457200" cy="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88" name="Line 40"/>
          <p:cNvSpPr>
            <a:spLocks noChangeShapeType="1"/>
          </p:cNvSpPr>
          <p:nvPr/>
        </p:nvSpPr>
        <p:spPr bwMode="auto">
          <a:xfrm flipH="1">
            <a:off x="2743200" y="4140200"/>
            <a:ext cx="457200" cy="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89" name="Line 41"/>
          <p:cNvSpPr>
            <a:spLocks noChangeShapeType="1"/>
          </p:cNvSpPr>
          <p:nvPr/>
        </p:nvSpPr>
        <p:spPr bwMode="auto">
          <a:xfrm flipH="1">
            <a:off x="3429000" y="3606800"/>
            <a:ext cx="457200" cy="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90" name="Line 42"/>
          <p:cNvSpPr>
            <a:spLocks noChangeShapeType="1"/>
          </p:cNvSpPr>
          <p:nvPr/>
        </p:nvSpPr>
        <p:spPr bwMode="auto">
          <a:xfrm flipH="1">
            <a:off x="1676400" y="3606800"/>
            <a:ext cx="457200" cy="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91" name="AutoShape 43"/>
          <p:cNvSpPr>
            <a:spLocks noChangeArrowheads="1"/>
          </p:cNvSpPr>
          <p:nvPr/>
        </p:nvSpPr>
        <p:spPr bwMode="auto">
          <a:xfrm>
            <a:off x="2101850" y="3378200"/>
            <a:ext cx="1403350" cy="457200"/>
          </a:xfrm>
          <a:prstGeom prst="flowChartDecision">
            <a:avLst/>
          </a:prstGeom>
          <a:gradFill rotWithShape="0">
            <a:gsLst>
              <a:gs pos="0">
                <a:srgbClr val="DDEBCF"/>
              </a:gs>
              <a:gs pos="50000">
                <a:srgbClr val="9CB86E"/>
              </a:gs>
              <a:gs pos="100000">
                <a:srgbClr val="156B13"/>
              </a:gs>
            </a:gsLst>
            <a:lin ang="5400000" scaled="1"/>
          </a:gradFill>
          <a:ln w="12700">
            <a:solidFill>
              <a:srgbClr val="009900"/>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i="1">
                <a:latin typeface="Times New Roman" panose="02020603050405020304" pitchFamily="18" charset="0"/>
              </a:rPr>
              <a:t>a</a:t>
            </a:r>
            <a:r>
              <a:rPr kumimoji="1" lang="en-US" altLang="zh-CN" sz="2400" b="1">
                <a:latin typeface="Times New Roman" panose="02020603050405020304" pitchFamily="18" charset="0"/>
              </a:rPr>
              <a:t>&lt;60?</a:t>
            </a:r>
          </a:p>
        </p:txBody>
      </p:sp>
      <p:sp>
        <p:nvSpPr>
          <p:cNvPr id="27692" name="Line 44"/>
          <p:cNvSpPr>
            <a:spLocks noChangeShapeType="1"/>
          </p:cNvSpPr>
          <p:nvPr/>
        </p:nvSpPr>
        <p:spPr bwMode="auto">
          <a:xfrm>
            <a:off x="2819400" y="3073400"/>
            <a:ext cx="0" cy="304800"/>
          </a:xfrm>
          <a:prstGeom prst="line">
            <a:avLst/>
          </a:prstGeom>
          <a:noFill/>
          <a:ln w="38100">
            <a:solidFill>
              <a:srgbClr val="009900"/>
            </a:solidFill>
            <a:round/>
            <a:headEnd/>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93" name="Line 45"/>
          <p:cNvSpPr>
            <a:spLocks noChangeShapeType="1"/>
          </p:cNvSpPr>
          <p:nvPr/>
        </p:nvSpPr>
        <p:spPr bwMode="auto">
          <a:xfrm>
            <a:off x="1676400" y="3606800"/>
            <a:ext cx="0" cy="304800"/>
          </a:xfrm>
          <a:prstGeom prst="line">
            <a:avLst/>
          </a:prstGeom>
          <a:noFill/>
          <a:ln w="38100">
            <a:solidFill>
              <a:srgbClr val="009900"/>
            </a:solidFill>
            <a:round/>
            <a:headEnd/>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2366" name="Text Box 46"/>
          <p:cNvSpPr txBox="1">
            <a:spLocks noChangeArrowheads="1"/>
          </p:cNvSpPr>
          <p:nvPr/>
        </p:nvSpPr>
        <p:spPr bwMode="auto">
          <a:xfrm>
            <a:off x="1200150" y="3892550"/>
            <a:ext cx="912813" cy="404813"/>
          </a:xfrm>
          <a:prstGeom prst="rect">
            <a:avLst/>
          </a:prstGeom>
          <a:noFill/>
          <a:ln w="38100">
            <a:solidFill>
              <a:srgbClr val="009900"/>
            </a:solidFill>
            <a:miter lim="800000"/>
            <a:headEnd/>
            <a:tailEnd/>
          </a:ln>
          <a:effectLst/>
        </p:spPr>
        <p:txBody>
          <a:bodyPr wrap="none" anchor="ctr">
            <a:spAutoFit/>
          </a:bodyPr>
          <a:lstStyle/>
          <a:p>
            <a:pPr>
              <a:defRPr/>
            </a:pPr>
            <a:r>
              <a:rPr kumimoji="1" lang="zh-CN" altLang="en-US" b="1">
                <a:solidFill>
                  <a:srgbClr val="660066"/>
                </a:solidFill>
                <a:effectLst>
                  <a:outerShdw blurRad="38100" dist="38100" dir="2700000" algn="tl">
                    <a:srgbClr val="C0C0C0"/>
                  </a:outerShdw>
                </a:effectLst>
                <a:latin typeface="Times New Roman" pitchFamily="18" charset="0"/>
              </a:rPr>
              <a:t>不及格</a:t>
            </a:r>
            <a:endParaRPr kumimoji="1" lang="zh-CN" altLang="en-US">
              <a:solidFill>
                <a:srgbClr val="660066"/>
              </a:solidFill>
              <a:latin typeface="Times New Roman" pitchFamily="18" charset="0"/>
            </a:endParaRPr>
          </a:p>
        </p:txBody>
      </p:sp>
      <p:sp>
        <p:nvSpPr>
          <p:cNvPr id="27695" name="Line 47"/>
          <p:cNvSpPr>
            <a:spLocks noChangeShapeType="1"/>
          </p:cNvSpPr>
          <p:nvPr/>
        </p:nvSpPr>
        <p:spPr bwMode="auto">
          <a:xfrm>
            <a:off x="3886200" y="3606800"/>
            <a:ext cx="0" cy="304800"/>
          </a:xfrm>
          <a:prstGeom prst="line">
            <a:avLst/>
          </a:prstGeom>
          <a:noFill/>
          <a:ln w="38100">
            <a:solidFill>
              <a:srgbClr val="009900"/>
            </a:solidFill>
            <a:round/>
            <a:headEnd/>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96" name="Line 48"/>
          <p:cNvSpPr>
            <a:spLocks noChangeShapeType="1"/>
          </p:cNvSpPr>
          <p:nvPr/>
        </p:nvSpPr>
        <p:spPr bwMode="auto">
          <a:xfrm>
            <a:off x="2743200" y="4140200"/>
            <a:ext cx="0" cy="304800"/>
          </a:xfrm>
          <a:prstGeom prst="line">
            <a:avLst/>
          </a:prstGeom>
          <a:noFill/>
          <a:ln w="38100">
            <a:solidFill>
              <a:srgbClr val="009900"/>
            </a:solidFill>
            <a:round/>
            <a:headEnd/>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97" name="Line 49"/>
          <p:cNvSpPr>
            <a:spLocks noChangeShapeType="1"/>
          </p:cNvSpPr>
          <p:nvPr/>
        </p:nvSpPr>
        <p:spPr bwMode="auto">
          <a:xfrm flipH="1">
            <a:off x="4572000" y="4140200"/>
            <a:ext cx="457200" cy="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98" name="Line 50"/>
          <p:cNvSpPr>
            <a:spLocks noChangeShapeType="1"/>
          </p:cNvSpPr>
          <p:nvPr/>
        </p:nvSpPr>
        <p:spPr bwMode="auto">
          <a:xfrm>
            <a:off x="5029200" y="4140200"/>
            <a:ext cx="0" cy="304800"/>
          </a:xfrm>
          <a:prstGeom prst="line">
            <a:avLst/>
          </a:prstGeom>
          <a:noFill/>
          <a:ln w="38100">
            <a:solidFill>
              <a:srgbClr val="009900"/>
            </a:solidFill>
            <a:round/>
            <a:headEnd/>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99" name="Line 51"/>
          <p:cNvSpPr>
            <a:spLocks noChangeShapeType="1"/>
          </p:cNvSpPr>
          <p:nvPr/>
        </p:nvSpPr>
        <p:spPr bwMode="auto">
          <a:xfrm>
            <a:off x="3886200" y="4673600"/>
            <a:ext cx="0" cy="304800"/>
          </a:xfrm>
          <a:prstGeom prst="line">
            <a:avLst/>
          </a:prstGeom>
          <a:noFill/>
          <a:ln w="38100">
            <a:solidFill>
              <a:srgbClr val="009900"/>
            </a:solidFill>
            <a:round/>
            <a:headEnd/>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00" name="Line 52"/>
          <p:cNvSpPr>
            <a:spLocks noChangeShapeType="1"/>
          </p:cNvSpPr>
          <p:nvPr/>
        </p:nvSpPr>
        <p:spPr bwMode="auto">
          <a:xfrm>
            <a:off x="5029200" y="5207000"/>
            <a:ext cx="0" cy="304800"/>
          </a:xfrm>
          <a:prstGeom prst="line">
            <a:avLst/>
          </a:prstGeom>
          <a:noFill/>
          <a:ln w="38100">
            <a:solidFill>
              <a:srgbClr val="009900"/>
            </a:solidFill>
            <a:round/>
            <a:headEnd/>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01" name="Line 53"/>
          <p:cNvSpPr>
            <a:spLocks noChangeShapeType="1"/>
          </p:cNvSpPr>
          <p:nvPr/>
        </p:nvSpPr>
        <p:spPr bwMode="auto">
          <a:xfrm flipH="1">
            <a:off x="6858000" y="5207000"/>
            <a:ext cx="457200" cy="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02" name="Line 54"/>
          <p:cNvSpPr>
            <a:spLocks noChangeShapeType="1"/>
          </p:cNvSpPr>
          <p:nvPr/>
        </p:nvSpPr>
        <p:spPr bwMode="auto">
          <a:xfrm>
            <a:off x="7315200" y="5207000"/>
            <a:ext cx="0" cy="304800"/>
          </a:xfrm>
          <a:prstGeom prst="line">
            <a:avLst/>
          </a:prstGeom>
          <a:noFill/>
          <a:ln w="38100">
            <a:solidFill>
              <a:srgbClr val="009900"/>
            </a:solidFill>
            <a:round/>
            <a:headEnd/>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03" name="Text Box 55"/>
          <p:cNvSpPr txBox="1">
            <a:spLocks noChangeArrowheads="1"/>
          </p:cNvSpPr>
          <p:nvPr/>
        </p:nvSpPr>
        <p:spPr bwMode="auto">
          <a:xfrm>
            <a:off x="1371600" y="4292600"/>
            <a:ext cx="628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rgbClr val="000099"/>
                </a:solidFill>
                <a:latin typeface="Times New Roman" panose="02020603050405020304" pitchFamily="18" charset="0"/>
              </a:rPr>
              <a:t>0.05</a:t>
            </a:r>
            <a:endParaRPr kumimoji="1" lang="zh-CN" altLang="en-US">
              <a:latin typeface="Times New Roman" panose="02020603050405020304" pitchFamily="18" charset="0"/>
            </a:endParaRPr>
          </a:p>
        </p:txBody>
      </p:sp>
      <p:sp>
        <p:nvSpPr>
          <p:cNvPr id="27704" name="Text Box 56"/>
          <p:cNvSpPr txBox="1">
            <a:spLocks noChangeArrowheads="1"/>
          </p:cNvSpPr>
          <p:nvPr/>
        </p:nvSpPr>
        <p:spPr bwMode="auto">
          <a:xfrm>
            <a:off x="2438400" y="4826000"/>
            <a:ext cx="628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rgbClr val="000099"/>
                </a:solidFill>
                <a:latin typeface="Times New Roman" panose="02020603050405020304" pitchFamily="18" charset="0"/>
              </a:rPr>
              <a:t>0.15</a:t>
            </a:r>
            <a:endParaRPr kumimoji="1" lang="zh-CN" altLang="en-US">
              <a:latin typeface="Times New Roman" panose="02020603050405020304" pitchFamily="18" charset="0"/>
            </a:endParaRPr>
          </a:p>
        </p:txBody>
      </p:sp>
      <p:sp>
        <p:nvSpPr>
          <p:cNvPr id="27705" name="Text Box 57"/>
          <p:cNvSpPr txBox="1">
            <a:spLocks noChangeArrowheads="1"/>
          </p:cNvSpPr>
          <p:nvPr/>
        </p:nvSpPr>
        <p:spPr bwMode="auto">
          <a:xfrm>
            <a:off x="3657600" y="5359400"/>
            <a:ext cx="628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rgbClr val="000099"/>
                </a:solidFill>
                <a:latin typeface="Times New Roman" panose="02020603050405020304" pitchFamily="18" charset="0"/>
              </a:rPr>
              <a:t>0.40</a:t>
            </a:r>
            <a:endParaRPr kumimoji="1" lang="zh-CN" altLang="en-US">
              <a:latin typeface="Times New Roman" panose="02020603050405020304" pitchFamily="18" charset="0"/>
            </a:endParaRPr>
          </a:p>
        </p:txBody>
      </p:sp>
      <p:sp>
        <p:nvSpPr>
          <p:cNvPr id="27706" name="Text Box 58"/>
          <p:cNvSpPr txBox="1">
            <a:spLocks noChangeArrowheads="1"/>
          </p:cNvSpPr>
          <p:nvPr/>
        </p:nvSpPr>
        <p:spPr bwMode="auto">
          <a:xfrm>
            <a:off x="4724400" y="5800725"/>
            <a:ext cx="628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rgbClr val="000099"/>
                </a:solidFill>
                <a:latin typeface="Times New Roman" panose="02020603050405020304" pitchFamily="18" charset="0"/>
              </a:rPr>
              <a:t>0.30</a:t>
            </a:r>
            <a:endParaRPr kumimoji="1" lang="zh-CN" altLang="en-US">
              <a:latin typeface="Times New Roman" panose="02020603050405020304" pitchFamily="18" charset="0"/>
            </a:endParaRPr>
          </a:p>
        </p:txBody>
      </p:sp>
      <p:sp>
        <p:nvSpPr>
          <p:cNvPr id="27707" name="Text Box 59"/>
          <p:cNvSpPr txBox="1">
            <a:spLocks noChangeArrowheads="1"/>
          </p:cNvSpPr>
          <p:nvPr/>
        </p:nvSpPr>
        <p:spPr bwMode="auto">
          <a:xfrm>
            <a:off x="7086600" y="5800725"/>
            <a:ext cx="628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rgbClr val="000099"/>
                </a:solidFill>
                <a:latin typeface="Times New Roman" panose="02020603050405020304" pitchFamily="18" charset="0"/>
              </a:rPr>
              <a:t>0.10</a:t>
            </a:r>
            <a:endParaRPr kumimoji="1" lang="zh-CN" altLang="en-US">
              <a:latin typeface="Times New Roman" panose="02020603050405020304" pitchFamily="18" charset="0"/>
            </a:endParaRPr>
          </a:p>
        </p:txBody>
      </p:sp>
      <p:sp>
        <p:nvSpPr>
          <p:cNvPr id="312380" name="Text Box 60"/>
          <p:cNvSpPr txBox="1">
            <a:spLocks noChangeArrowheads="1"/>
          </p:cNvSpPr>
          <p:nvPr/>
        </p:nvSpPr>
        <p:spPr bwMode="auto">
          <a:xfrm>
            <a:off x="3536950" y="3225800"/>
            <a:ext cx="349250" cy="366713"/>
          </a:xfrm>
          <a:prstGeom prst="rect">
            <a:avLst/>
          </a:prstGeom>
          <a:noFill/>
          <a:ln w="38100">
            <a:noFill/>
            <a:miter lim="800000"/>
            <a:headEnd/>
            <a:tailEnd/>
          </a:ln>
          <a:effec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solidFill>
                  <a:srgbClr val="000099"/>
                </a:solidFill>
                <a:effectLst>
                  <a:outerShdw blurRad="38100" dist="38100" dir="2700000" algn="tl">
                    <a:srgbClr val="C0C0C0"/>
                  </a:outerShdw>
                </a:effectLst>
                <a:latin typeface="Times New Roman" panose="02020603050405020304" pitchFamily="18" charset="0"/>
              </a:rPr>
              <a:t>N</a:t>
            </a:r>
          </a:p>
        </p:txBody>
      </p:sp>
      <p:sp>
        <p:nvSpPr>
          <p:cNvPr id="312381" name="Text Box 61"/>
          <p:cNvSpPr txBox="1">
            <a:spLocks noChangeArrowheads="1"/>
          </p:cNvSpPr>
          <p:nvPr/>
        </p:nvSpPr>
        <p:spPr bwMode="auto">
          <a:xfrm>
            <a:off x="4603750" y="3835400"/>
            <a:ext cx="349250" cy="366713"/>
          </a:xfrm>
          <a:prstGeom prst="rect">
            <a:avLst/>
          </a:prstGeom>
          <a:noFill/>
          <a:ln w="38100">
            <a:noFill/>
            <a:miter lim="800000"/>
            <a:headEnd/>
            <a:tailEnd/>
          </a:ln>
          <a:effec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solidFill>
                  <a:srgbClr val="000099"/>
                </a:solidFill>
                <a:effectLst>
                  <a:outerShdw blurRad="38100" dist="38100" dir="2700000" algn="tl">
                    <a:srgbClr val="C0C0C0"/>
                  </a:outerShdw>
                </a:effectLst>
                <a:latin typeface="Times New Roman" panose="02020603050405020304" pitchFamily="18" charset="0"/>
              </a:rPr>
              <a:t>N</a:t>
            </a:r>
          </a:p>
        </p:txBody>
      </p:sp>
      <p:sp>
        <p:nvSpPr>
          <p:cNvPr id="312382" name="Text Box 62"/>
          <p:cNvSpPr txBox="1">
            <a:spLocks noChangeArrowheads="1"/>
          </p:cNvSpPr>
          <p:nvPr/>
        </p:nvSpPr>
        <p:spPr bwMode="auto">
          <a:xfrm>
            <a:off x="5746750" y="4338638"/>
            <a:ext cx="349250" cy="366712"/>
          </a:xfrm>
          <a:prstGeom prst="rect">
            <a:avLst/>
          </a:prstGeom>
          <a:noFill/>
          <a:ln w="38100">
            <a:noFill/>
            <a:miter lim="800000"/>
            <a:headEnd/>
            <a:tailEnd/>
          </a:ln>
          <a:effec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solidFill>
                  <a:srgbClr val="000099"/>
                </a:solidFill>
                <a:effectLst>
                  <a:outerShdw blurRad="38100" dist="38100" dir="2700000" algn="tl">
                    <a:srgbClr val="C0C0C0"/>
                  </a:outerShdw>
                </a:effectLst>
                <a:latin typeface="Times New Roman" panose="02020603050405020304" pitchFamily="18" charset="0"/>
              </a:rPr>
              <a:t>N</a:t>
            </a:r>
          </a:p>
        </p:txBody>
      </p:sp>
      <p:sp>
        <p:nvSpPr>
          <p:cNvPr id="312383" name="Text Box 63"/>
          <p:cNvSpPr txBox="1">
            <a:spLocks noChangeArrowheads="1"/>
          </p:cNvSpPr>
          <p:nvPr/>
        </p:nvSpPr>
        <p:spPr bwMode="auto">
          <a:xfrm>
            <a:off x="6897688" y="4875213"/>
            <a:ext cx="349250" cy="366712"/>
          </a:xfrm>
          <a:prstGeom prst="rect">
            <a:avLst/>
          </a:prstGeom>
          <a:noFill/>
          <a:ln w="38100">
            <a:noFill/>
            <a:miter lim="800000"/>
            <a:headEnd/>
            <a:tailEnd/>
          </a:ln>
          <a:effec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solidFill>
                  <a:srgbClr val="000099"/>
                </a:solidFill>
                <a:effectLst>
                  <a:outerShdw blurRad="38100" dist="38100" dir="2700000" algn="tl">
                    <a:srgbClr val="C0C0C0"/>
                  </a:outerShdw>
                </a:effectLst>
                <a:latin typeface="Times New Roman" panose="02020603050405020304" pitchFamily="18" charset="0"/>
              </a:rPr>
              <a:t>N</a:t>
            </a:r>
          </a:p>
        </p:txBody>
      </p:sp>
      <p:sp>
        <p:nvSpPr>
          <p:cNvPr id="312384" name="Text Box 64"/>
          <p:cNvSpPr txBox="1">
            <a:spLocks noChangeArrowheads="1"/>
          </p:cNvSpPr>
          <p:nvPr/>
        </p:nvSpPr>
        <p:spPr bwMode="auto">
          <a:xfrm>
            <a:off x="5114925" y="4864100"/>
            <a:ext cx="368300" cy="396875"/>
          </a:xfrm>
          <a:prstGeom prst="rect">
            <a:avLst/>
          </a:prstGeom>
          <a:noFill/>
          <a:ln w="38100">
            <a:noFill/>
            <a:miter lim="800000"/>
            <a:headEnd/>
            <a:tailEnd/>
          </a:ln>
          <a:effectLst/>
        </p:spPr>
        <p:txBody>
          <a:bodyPr anchor="ctr">
            <a:spAutoFit/>
          </a:bodyPr>
          <a:lstStyle/>
          <a:p>
            <a:pPr>
              <a:defRPr/>
            </a:pPr>
            <a:r>
              <a:rPr kumimoji="1" lang="en-US" altLang="zh-CN" sz="2000" b="1">
                <a:solidFill>
                  <a:srgbClr val="000099"/>
                </a:solidFill>
                <a:effectLst>
                  <a:outerShdw blurRad="38100" dist="38100" dir="2700000" algn="tl">
                    <a:srgbClr val="C0C0C0"/>
                  </a:outerShdw>
                </a:effectLst>
                <a:latin typeface="Times New Roman" pitchFamily="18" charset="0"/>
              </a:rPr>
              <a:t>Y</a:t>
            </a:r>
            <a:endParaRPr kumimoji="1" lang="en-US" altLang="zh-CN" b="1">
              <a:solidFill>
                <a:srgbClr val="000099"/>
              </a:solidFill>
              <a:effectLst>
                <a:outerShdw blurRad="38100" dist="38100" dir="2700000" algn="tl">
                  <a:srgbClr val="C0C0C0"/>
                </a:outerShdw>
              </a:effectLst>
              <a:latin typeface="Times New Roman" pitchFamily="18" charset="0"/>
            </a:endParaRPr>
          </a:p>
        </p:txBody>
      </p:sp>
      <p:sp>
        <p:nvSpPr>
          <p:cNvPr id="312385" name="Text Box 65"/>
          <p:cNvSpPr txBox="1">
            <a:spLocks noChangeArrowheads="1"/>
          </p:cNvSpPr>
          <p:nvPr/>
        </p:nvSpPr>
        <p:spPr bwMode="auto">
          <a:xfrm>
            <a:off x="3940175" y="4322763"/>
            <a:ext cx="368300" cy="396875"/>
          </a:xfrm>
          <a:prstGeom prst="rect">
            <a:avLst/>
          </a:prstGeom>
          <a:noFill/>
          <a:ln w="38100">
            <a:noFill/>
            <a:miter lim="800000"/>
            <a:headEnd/>
            <a:tailEnd/>
          </a:ln>
          <a:effectLst/>
        </p:spPr>
        <p:txBody>
          <a:bodyPr anchor="ctr">
            <a:spAutoFit/>
          </a:bodyPr>
          <a:lstStyle/>
          <a:p>
            <a:pPr>
              <a:defRPr/>
            </a:pPr>
            <a:r>
              <a:rPr kumimoji="1" lang="en-US" altLang="zh-CN" sz="2000" b="1">
                <a:solidFill>
                  <a:srgbClr val="000099"/>
                </a:solidFill>
                <a:effectLst>
                  <a:outerShdw blurRad="38100" dist="38100" dir="2700000" algn="tl">
                    <a:srgbClr val="C0C0C0"/>
                  </a:outerShdw>
                </a:effectLst>
                <a:latin typeface="Times New Roman" pitchFamily="18" charset="0"/>
              </a:rPr>
              <a:t>Y</a:t>
            </a:r>
            <a:endParaRPr kumimoji="1" lang="en-US" altLang="zh-CN" b="1">
              <a:solidFill>
                <a:srgbClr val="000099"/>
              </a:solidFill>
              <a:effectLst>
                <a:outerShdw blurRad="38100" dist="38100" dir="2700000" algn="tl">
                  <a:srgbClr val="C0C0C0"/>
                </a:outerShdw>
              </a:effectLst>
              <a:latin typeface="Times New Roman" pitchFamily="18" charset="0"/>
            </a:endParaRPr>
          </a:p>
        </p:txBody>
      </p:sp>
      <p:sp>
        <p:nvSpPr>
          <p:cNvPr id="312386" name="Text Box 66"/>
          <p:cNvSpPr txBox="1">
            <a:spLocks noChangeArrowheads="1"/>
          </p:cNvSpPr>
          <p:nvPr/>
        </p:nvSpPr>
        <p:spPr bwMode="auto">
          <a:xfrm>
            <a:off x="2800350" y="3819525"/>
            <a:ext cx="368300" cy="396875"/>
          </a:xfrm>
          <a:prstGeom prst="rect">
            <a:avLst/>
          </a:prstGeom>
          <a:noFill/>
          <a:ln w="38100">
            <a:noFill/>
            <a:miter lim="800000"/>
            <a:headEnd/>
            <a:tailEnd/>
          </a:ln>
          <a:effectLst/>
        </p:spPr>
        <p:txBody>
          <a:bodyPr wrap="none" anchor="ctr">
            <a:spAutoFit/>
          </a:bodyPr>
          <a:lstStyle/>
          <a:p>
            <a:pPr>
              <a:defRPr/>
            </a:pPr>
            <a:r>
              <a:rPr kumimoji="1" lang="en-US" altLang="zh-CN" sz="2000" b="1">
                <a:solidFill>
                  <a:srgbClr val="000099"/>
                </a:solidFill>
                <a:effectLst>
                  <a:outerShdw blurRad="38100" dist="38100" dir="2700000" algn="tl">
                    <a:srgbClr val="C0C0C0"/>
                  </a:outerShdw>
                </a:effectLst>
                <a:latin typeface="Times New Roman" pitchFamily="18" charset="0"/>
              </a:rPr>
              <a:t>Y</a:t>
            </a:r>
            <a:endParaRPr kumimoji="1" lang="en-US" altLang="zh-CN" b="1">
              <a:solidFill>
                <a:srgbClr val="000099"/>
              </a:solidFill>
              <a:effectLst>
                <a:outerShdw blurRad="38100" dist="38100" dir="2700000" algn="tl">
                  <a:srgbClr val="C0C0C0"/>
                </a:outerShdw>
              </a:effectLst>
              <a:latin typeface="Times New Roman" pitchFamily="18" charset="0"/>
            </a:endParaRPr>
          </a:p>
        </p:txBody>
      </p:sp>
      <p:sp>
        <p:nvSpPr>
          <p:cNvPr id="312387" name="Text Box 67"/>
          <p:cNvSpPr txBox="1">
            <a:spLocks noChangeArrowheads="1"/>
          </p:cNvSpPr>
          <p:nvPr/>
        </p:nvSpPr>
        <p:spPr bwMode="auto">
          <a:xfrm>
            <a:off x="1730375" y="3286125"/>
            <a:ext cx="368300" cy="396875"/>
          </a:xfrm>
          <a:prstGeom prst="rect">
            <a:avLst/>
          </a:prstGeom>
          <a:noFill/>
          <a:ln w="38100">
            <a:noFill/>
            <a:miter lim="800000"/>
            <a:headEnd/>
            <a:tailEnd/>
          </a:ln>
          <a:effectLst/>
        </p:spPr>
        <p:txBody>
          <a:bodyPr wrap="none" anchor="ctr">
            <a:spAutoFit/>
          </a:bodyPr>
          <a:lstStyle/>
          <a:p>
            <a:pPr>
              <a:defRPr/>
            </a:pPr>
            <a:r>
              <a:rPr kumimoji="1" lang="en-US" altLang="zh-CN" sz="2000" b="1">
                <a:solidFill>
                  <a:srgbClr val="000099"/>
                </a:solidFill>
                <a:effectLst>
                  <a:outerShdw blurRad="38100" dist="38100" dir="2700000" algn="tl">
                    <a:srgbClr val="C0C0C0"/>
                  </a:outerShdw>
                </a:effectLst>
                <a:latin typeface="Times New Roman" pitchFamily="18" charset="0"/>
              </a:rPr>
              <a:t>Y</a:t>
            </a:r>
            <a:endParaRPr kumimoji="1" lang="en-US" altLang="zh-CN" b="1">
              <a:solidFill>
                <a:srgbClr val="000099"/>
              </a:solidFill>
              <a:effectLst>
                <a:outerShdw blurRad="38100" dist="38100" dir="2700000" algn="tl">
                  <a:srgbClr val="C0C0C0"/>
                </a:outerShdw>
              </a:effectLst>
              <a:latin typeface="Times New Roman" pitchFamily="18" charset="0"/>
            </a:endParaRPr>
          </a:p>
        </p:txBody>
      </p:sp>
      <p:sp>
        <p:nvSpPr>
          <p:cNvPr id="27716" name="AutoShape 68"/>
          <p:cNvSpPr>
            <a:spLocks noChangeArrowheads="1"/>
          </p:cNvSpPr>
          <p:nvPr/>
        </p:nvSpPr>
        <p:spPr bwMode="auto">
          <a:xfrm>
            <a:off x="3200400" y="3911600"/>
            <a:ext cx="1403350" cy="457200"/>
          </a:xfrm>
          <a:prstGeom prst="flowChartDecision">
            <a:avLst/>
          </a:prstGeom>
          <a:gradFill rotWithShape="0">
            <a:gsLst>
              <a:gs pos="0">
                <a:srgbClr val="DDEBCF"/>
              </a:gs>
              <a:gs pos="50000">
                <a:srgbClr val="9CB86E"/>
              </a:gs>
              <a:gs pos="100000">
                <a:srgbClr val="156B13"/>
              </a:gs>
            </a:gsLst>
            <a:lin ang="5400000" scaled="1"/>
          </a:gradFill>
          <a:ln w="12700">
            <a:solidFill>
              <a:srgbClr val="009900"/>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i="1">
                <a:latin typeface="Times New Roman" panose="02020603050405020304" pitchFamily="18" charset="0"/>
              </a:rPr>
              <a:t>a</a:t>
            </a:r>
            <a:r>
              <a:rPr kumimoji="1" lang="en-US" altLang="zh-CN" sz="2400" b="1">
                <a:latin typeface="Times New Roman" panose="02020603050405020304" pitchFamily="18" charset="0"/>
              </a:rPr>
              <a:t>&lt;70?</a:t>
            </a:r>
          </a:p>
        </p:txBody>
      </p:sp>
      <p:sp>
        <p:nvSpPr>
          <p:cNvPr id="27717" name="AutoShape 69"/>
          <p:cNvSpPr>
            <a:spLocks noChangeArrowheads="1"/>
          </p:cNvSpPr>
          <p:nvPr/>
        </p:nvSpPr>
        <p:spPr bwMode="auto">
          <a:xfrm>
            <a:off x="4311650" y="4445000"/>
            <a:ext cx="1403350" cy="457200"/>
          </a:xfrm>
          <a:prstGeom prst="flowChartDecision">
            <a:avLst/>
          </a:prstGeom>
          <a:gradFill rotWithShape="0">
            <a:gsLst>
              <a:gs pos="0">
                <a:srgbClr val="DDEBCF"/>
              </a:gs>
              <a:gs pos="50000">
                <a:srgbClr val="9CB86E"/>
              </a:gs>
              <a:gs pos="100000">
                <a:srgbClr val="156B13"/>
              </a:gs>
            </a:gsLst>
            <a:lin ang="5400000" scaled="1"/>
          </a:gradFill>
          <a:ln w="12700">
            <a:solidFill>
              <a:srgbClr val="009900"/>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i="1">
                <a:latin typeface="Times New Roman" panose="02020603050405020304" pitchFamily="18" charset="0"/>
              </a:rPr>
              <a:t>a</a:t>
            </a:r>
            <a:r>
              <a:rPr kumimoji="1" lang="en-US" altLang="zh-CN" sz="2400" b="1">
                <a:latin typeface="Times New Roman" panose="02020603050405020304" pitchFamily="18" charset="0"/>
              </a:rPr>
              <a:t>&lt;80?</a:t>
            </a:r>
          </a:p>
        </p:txBody>
      </p:sp>
      <p:sp>
        <p:nvSpPr>
          <p:cNvPr id="312390" name="Text Box 70"/>
          <p:cNvSpPr txBox="1">
            <a:spLocks noChangeArrowheads="1"/>
          </p:cNvSpPr>
          <p:nvPr/>
        </p:nvSpPr>
        <p:spPr bwMode="auto">
          <a:xfrm>
            <a:off x="2381250" y="4425950"/>
            <a:ext cx="682625" cy="404813"/>
          </a:xfrm>
          <a:prstGeom prst="rect">
            <a:avLst/>
          </a:prstGeom>
          <a:noFill/>
          <a:ln w="38100">
            <a:solidFill>
              <a:srgbClr val="009900"/>
            </a:solidFill>
            <a:miter lim="800000"/>
            <a:headEnd/>
            <a:tailEnd/>
          </a:ln>
          <a:effectLst/>
        </p:spPr>
        <p:txBody>
          <a:bodyPr wrap="none" anchor="ctr">
            <a:spAutoFit/>
          </a:bodyPr>
          <a:lstStyle/>
          <a:p>
            <a:pPr>
              <a:defRPr/>
            </a:pPr>
            <a:r>
              <a:rPr kumimoji="1" lang="zh-CN" altLang="en-US" b="1">
                <a:solidFill>
                  <a:srgbClr val="660066"/>
                </a:solidFill>
                <a:effectLst>
                  <a:outerShdw blurRad="38100" dist="38100" dir="2700000" algn="tl">
                    <a:srgbClr val="C0C0C0"/>
                  </a:outerShdw>
                </a:effectLst>
                <a:latin typeface="Times New Roman" pitchFamily="18" charset="0"/>
              </a:rPr>
              <a:t>及格</a:t>
            </a:r>
            <a:endParaRPr kumimoji="1" lang="zh-CN" altLang="en-US">
              <a:solidFill>
                <a:srgbClr val="660066"/>
              </a:solidFill>
              <a:latin typeface="Times New Roman" pitchFamily="18" charset="0"/>
            </a:endParaRPr>
          </a:p>
        </p:txBody>
      </p:sp>
      <p:sp>
        <p:nvSpPr>
          <p:cNvPr id="27719" name="AutoShape 71"/>
          <p:cNvSpPr>
            <a:spLocks noChangeArrowheads="1"/>
          </p:cNvSpPr>
          <p:nvPr/>
        </p:nvSpPr>
        <p:spPr bwMode="auto">
          <a:xfrm>
            <a:off x="5486400" y="4978400"/>
            <a:ext cx="1403350" cy="457200"/>
          </a:xfrm>
          <a:prstGeom prst="flowChartDecision">
            <a:avLst/>
          </a:prstGeom>
          <a:gradFill rotWithShape="0">
            <a:gsLst>
              <a:gs pos="0">
                <a:srgbClr val="DDEBCF"/>
              </a:gs>
              <a:gs pos="50000">
                <a:srgbClr val="9CB86E"/>
              </a:gs>
              <a:gs pos="100000">
                <a:srgbClr val="156B13"/>
              </a:gs>
            </a:gsLst>
            <a:lin ang="5400000" scaled="1"/>
          </a:gradFill>
          <a:ln w="12700">
            <a:solidFill>
              <a:srgbClr val="009900"/>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i="1">
                <a:latin typeface="Times New Roman" panose="02020603050405020304" pitchFamily="18" charset="0"/>
              </a:rPr>
              <a:t>a</a:t>
            </a:r>
            <a:r>
              <a:rPr kumimoji="1" lang="en-US" altLang="zh-CN" sz="2400" b="1">
                <a:latin typeface="Times New Roman" panose="02020603050405020304" pitchFamily="18" charset="0"/>
              </a:rPr>
              <a:t>&lt;90?</a:t>
            </a:r>
          </a:p>
        </p:txBody>
      </p:sp>
      <p:sp>
        <p:nvSpPr>
          <p:cNvPr id="312392" name="Text Box 72"/>
          <p:cNvSpPr txBox="1">
            <a:spLocks noChangeArrowheads="1"/>
          </p:cNvSpPr>
          <p:nvPr/>
        </p:nvSpPr>
        <p:spPr bwMode="auto">
          <a:xfrm>
            <a:off x="3562350" y="4959350"/>
            <a:ext cx="682625" cy="404813"/>
          </a:xfrm>
          <a:prstGeom prst="rect">
            <a:avLst/>
          </a:prstGeom>
          <a:noFill/>
          <a:ln w="38100">
            <a:solidFill>
              <a:srgbClr val="009900"/>
            </a:solidFill>
            <a:miter lim="800000"/>
            <a:headEnd/>
            <a:tailEnd/>
          </a:ln>
          <a:effectLst/>
        </p:spPr>
        <p:txBody>
          <a:bodyPr wrap="none" anchor="ctr">
            <a:spAutoFit/>
          </a:bodyPr>
          <a:lstStyle/>
          <a:p>
            <a:pPr>
              <a:defRPr/>
            </a:pPr>
            <a:r>
              <a:rPr kumimoji="1" lang="zh-CN" altLang="en-US" b="1">
                <a:solidFill>
                  <a:srgbClr val="660066"/>
                </a:solidFill>
                <a:effectLst>
                  <a:outerShdw blurRad="38100" dist="38100" dir="2700000" algn="tl">
                    <a:srgbClr val="C0C0C0"/>
                  </a:outerShdw>
                </a:effectLst>
                <a:latin typeface="Times New Roman" pitchFamily="18" charset="0"/>
              </a:rPr>
              <a:t>中等</a:t>
            </a:r>
            <a:endParaRPr kumimoji="1" lang="zh-CN" altLang="en-US">
              <a:solidFill>
                <a:srgbClr val="660066"/>
              </a:solidFill>
              <a:latin typeface="Times New Roman" pitchFamily="18" charset="0"/>
            </a:endParaRPr>
          </a:p>
        </p:txBody>
      </p:sp>
      <p:sp>
        <p:nvSpPr>
          <p:cNvPr id="312393" name="Text Box 73"/>
          <p:cNvSpPr txBox="1">
            <a:spLocks noChangeArrowheads="1"/>
          </p:cNvSpPr>
          <p:nvPr/>
        </p:nvSpPr>
        <p:spPr bwMode="auto">
          <a:xfrm>
            <a:off x="4629150" y="5492750"/>
            <a:ext cx="682625" cy="404813"/>
          </a:xfrm>
          <a:prstGeom prst="rect">
            <a:avLst/>
          </a:prstGeom>
          <a:noFill/>
          <a:ln w="38100">
            <a:solidFill>
              <a:srgbClr val="009900"/>
            </a:solidFill>
            <a:miter lim="800000"/>
            <a:headEnd/>
            <a:tailEnd/>
          </a:ln>
          <a:effectLst/>
        </p:spPr>
        <p:txBody>
          <a:bodyPr wrap="none" anchor="ctr">
            <a:spAutoFit/>
          </a:bodyPr>
          <a:lstStyle/>
          <a:p>
            <a:pPr>
              <a:defRPr/>
            </a:pPr>
            <a:r>
              <a:rPr kumimoji="1" lang="zh-CN" altLang="en-US" b="1">
                <a:solidFill>
                  <a:srgbClr val="660066"/>
                </a:solidFill>
                <a:effectLst>
                  <a:outerShdw blurRad="38100" dist="38100" dir="2700000" algn="tl">
                    <a:srgbClr val="C0C0C0"/>
                  </a:outerShdw>
                </a:effectLst>
                <a:latin typeface="Times New Roman" pitchFamily="18" charset="0"/>
              </a:rPr>
              <a:t>良好</a:t>
            </a:r>
            <a:endParaRPr kumimoji="1" lang="zh-CN" altLang="en-US">
              <a:solidFill>
                <a:srgbClr val="660066"/>
              </a:solidFill>
              <a:latin typeface="Times New Roman" pitchFamily="18" charset="0"/>
            </a:endParaRPr>
          </a:p>
        </p:txBody>
      </p:sp>
      <p:sp>
        <p:nvSpPr>
          <p:cNvPr id="312394" name="Text Box 74"/>
          <p:cNvSpPr txBox="1">
            <a:spLocks noChangeArrowheads="1"/>
          </p:cNvSpPr>
          <p:nvPr/>
        </p:nvSpPr>
        <p:spPr bwMode="auto">
          <a:xfrm>
            <a:off x="6991350" y="5492750"/>
            <a:ext cx="682625" cy="404813"/>
          </a:xfrm>
          <a:prstGeom prst="rect">
            <a:avLst/>
          </a:prstGeom>
          <a:noFill/>
          <a:ln w="38100">
            <a:solidFill>
              <a:srgbClr val="009900"/>
            </a:solidFill>
            <a:miter lim="800000"/>
            <a:headEnd/>
            <a:tailEnd/>
          </a:ln>
          <a:effectLst/>
        </p:spPr>
        <p:txBody>
          <a:bodyPr wrap="none" anchor="ctr">
            <a:spAutoFit/>
          </a:bodyPr>
          <a:lstStyle/>
          <a:p>
            <a:pPr>
              <a:defRPr/>
            </a:pPr>
            <a:r>
              <a:rPr kumimoji="1" lang="zh-CN" altLang="en-US" b="1">
                <a:solidFill>
                  <a:srgbClr val="660066"/>
                </a:solidFill>
                <a:effectLst>
                  <a:outerShdw blurRad="38100" dist="38100" dir="2700000" algn="tl">
                    <a:srgbClr val="C0C0C0"/>
                  </a:outerShdw>
                </a:effectLst>
                <a:latin typeface="Times New Roman" pitchFamily="18" charset="0"/>
              </a:rPr>
              <a:t>优秀</a:t>
            </a:r>
            <a:endParaRPr kumimoji="1" lang="zh-CN" altLang="en-US">
              <a:solidFill>
                <a:srgbClr val="660066"/>
              </a:solidFill>
              <a:latin typeface="Times New Roman" pitchFamily="18" charset="0"/>
            </a:endParaRPr>
          </a:p>
        </p:txBody>
      </p:sp>
      <p:sp>
        <p:nvSpPr>
          <p:cNvPr id="312395" name="AutoShape 75"/>
          <p:cNvSpPr>
            <a:spLocks noChangeArrowheads="1"/>
          </p:cNvSpPr>
          <p:nvPr/>
        </p:nvSpPr>
        <p:spPr bwMode="auto">
          <a:xfrm>
            <a:off x="6477000" y="3683000"/>
            <a:ext cx="1752600" cy="533400"/>
          </a:xfrm>
          <a:prstGeom prst="wedgeRoundRectCallout">
            <a:avLst>
              <a:gd name="adj1" fmla="val -54708"/>
              <a:gd name="adj2" fmla="val 99106"/>
              <a:gd name="adj3" fmla="val 16667"/>
            </a:avLst>
          </a:prstGeom>
          <a:solidFill>
            <a:srgbClr val="CCFF66"/>
          </a:solidFill>
          <a:ln w="28575">
            <a:solidFill>
              <a:schemeClr val="tx2"/>
            </a:solidFill>
            <a:miter lim="800000"/>
            <a:headEnd/>
            <a:tailE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rgbClr val="0000FF"/>
                </a:solidFill>
                <a:latin typeface="Times New Roman" panose="02020603050405020304" pitchFamily="18" charset="0"/>
              </a:rPr>
              <a:t>WPL=3.15</a:t>
            </a:r>
          </a:p>
        </p:txBody>
      </p:sp>
      <p:sp>
        <p:nvSpPr>
          <p:cNvPr id="27724" name="页脚占位符 3"/>
          <p:cNvSpPr txBox="1">
            <a:spLocks noGrp="1"/>
          </p:cNvSpPr>
          <p:nvPr/>
        </p:nvSpPr>
        <p:spPr bwMode="auto">
          <a:xfrm>
            <a:off x="3492500" y="6381750"/>
            <a:ext cx="381635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t>Algorithms Design Techniques and Analysis</a:t>
            </a:r>
          </a:p>
        </p:txBody>
      </p:sp>
    </p:spTree>
    <p:extLst>
      <p:ext uri="{BB962C8B-B14F-4D97-AF65-F5344CB8AC3E}">
        <p14:creationId xmlns:p14="http://schemas.microsoft.com/office/powerpoint/2010/main" val="8525406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3" fill="hold" grpId="0" nodeType="clickEffect">
                                  <p:stCondLst>
                                    <p:cond delay="0"/>
                                  </p:stCondLst>
                                  <p:childTnLst>
                                    <p:set>
                                      <p:cBhvr>
                                        <p:cTn id="6" dur="1" fill="hold">
                                          <p:stCondLst>
                                            <p:cond delay="0"/>
                                          </p:stCondLst>
                                        </p:cTn>
                                        <p:tgtEl>
                                          <p:spTgt spid="312395"/>
                                        </p:tgtEl>
                                        <p:attrNameLst>
                                          <p:attrName>style.visibility</p:attrName>
                                        </p:attrNameLst>
                                      </p:cBhvr>
                                      <p:to>
                                        <p:strVal val="visible"/>
                                      </p:to>
                                    </p:set>
                                    <p:animEffect transition="in" filter="strips(upRight)">
                                      <p:cBhvr>
                                        <p:cTn id="7" dur="500"/>
                                        <p:tgtEl>
                                          <p:spTgt spid="3123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2395" grpId="0" animBg="1" autoUpdateAnimBg="0"/>
    </p:bld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p:txBody>
          <a:bodyPr/>
          <a:lstStyle/>
          <a:p>
            <a:r>
              <a:rPr lang="en-US" altLang="zh-CN" sz="3600" dirty="0">
                <a:solidFill>
                  <a:srgbClr val="333399"/>
                </a:solidFill>
              </a:rPr>
              <a:t>1.4.</a:t>
            </a:r>
            <a:r>
              <a:rPr lang="en-US" altLang="zh-CN" sz="3600" dirty="0" smtClean="0"/>
              <a:t>7 </a:t>
            </a:r>
            <a:r>
              <a:rPr lang="zh-CN" altLang="en-US" sz="3600" dirty="0" smtClean="0"/>
              <a:t>赫夫曼树及其应用</a:t>
            </a:r>
            <a:endParaRPr lang="en-US" altLang="zh-CN" sz="2000" dirty="0" smtClean="0"/>
          </a:p>
        </p:txBody>
      </p:sp>
      <p:sp>
        <p:nvSpPr>
          <p:cNvPr id="28676" name="Rectangle 3"/>
          <p:cNvSpPr>
            <a:spLocks noGrp="1" noChangeArrowheads="1"/>
          </p:cNvSpPr>
          <p:nvPr>
            <p:ph type="body" idx="1"/>
          </p:nvPr>
        </p:nvSpPr>
        <p:spPr>
          <a:xfrm>
            <a:off x="1066800" y="1285875"/>
            <a:ext cx="7924800" cy="496888"/>
          </a:xfrm>
        </p:spPr>
        <p:txBody>
          <a:bodyPr/>
          <a:lstStyle/>
          <a:p>
            <a:pPr>
              <a:lnSpc>
                <a:spcPct val="90000"/>
              </a:lnSpc>
            </a:pPr>
            <a:r>
              <a:rPr lang="zh-CN" altLang="en-US" sz="2800" smtClean="0"/>
              <a:t>赫夫曼树的应用——最佳判定算法</a:t>
            </a:r>
          </a:p>
        </p:txBody>
      </p:sp>
      <p:graphicFrame>
        <p:nvGraphicFramePr>
          <p:cNvPr id="28674" name="Object 2"/>
          <p:cNvGraphicFramePr>
            <a:graphicFrameLocks noChangeAspect="1"/>
          </p:cNvGraphicFramePr>
          <p:nvPr/>
        </p:nvGraphicFramePr>
        <p:xfrm>
          <a:off x="4514850" y="2589213"/>
          <a:ext cx="114300" cy="215900"/>
        </p:xfrm>
        <a:graphic>
          <a:graphicData uri="http://schemas.openxmlformats.org/presentationml/2006/ole">
            <mc:AlternateContent xmlns:mc="http://schemas.openxmlformats.org/markup-compatibility/2006">
              <mc:Choice xmlns:v="urn:schemas-microsoft-com:vml" Requires="v">
                <p:oleObj spid="_x0000_s50186" name="Equation" r:id="rId3" imgW="114120" imgH="215640" progId="Equation.3">
                  <p:embed/>
                </p:oleObj>
              </mc:Choice>
              <mc:Fallback>
                <p:oleObj name="Equation" r:id="rId3" imgW="114120" imgH="215640" progId="Equation.3">
                  <p:embed/>
                  <p:pic>
                    <p:nvPicPr>
                      <p:cNvPr id="2867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2589213"/>
                        <a:ext cx="1143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3350" name="Text Box 6"/>
          <p:cNvSpPr txBox="1">
            <a:spLocks noChangeArrowheads="1"/>
          </p:cNvSpPr>
          <p:nvPr/>
        </p:nvSpPr>
        <p:spPr bwMode="auto">
          <a:xfrm>
            <a:off x="5238750" y="4964113"/>
            <a:ext cx="912813" cy="404812"/>
          </a:xfrm>
          <a:prstGeom prst="rect">
            <a:avLst/>
          </a:prstGeom>
          <a:noFill/>
          <a:ln w="38100">
            <a:solidFill>
              <a:srgbClr val="009900"/>
            </a:solidFill>
            <a:miter lim="800000"/>
            <a:headEnd/>
            <a:tailEnd/>
          </a:ln>
          <a:effectLst/>
        </p:spPr>
        <p:txBody>
          <a:bodyPr wrap="none" anchor="ctr">
            <a:spAutoFit/>
          </a:bodyPr>
          <a:lstStyle/>
          <a:p>
            <a:pPr>
              <a:defRPr/>
            </a:pPr>
            <a:r>
              <a:rPr kumimoji="1" lang="zh-CN" altLang="en-US" b="1">
                <a:solidFill>
                  <a:srgbClr val="660066"/>
                </a:solidFill>
                <a:effectLst>
                  <a:outerShdw blurRad="38100" dist="38100" dir="2700000" algn="tl">
                    <a:srgbClr val="C0C0C0"/>
                  </a:outerShdw>
                </a:effectLst>
                <a:latin typeface="Times New Roman" pitchFamily="18" charset="0"/>
              </a:rPr>
              <a:t>不及格</a:t>
            </a:r>
            <a:endParaRPr kumimoji="1" lang="zh-CN" altLang="en-US">
              <a:solidFill>
                <a:srgbClr val="660066"/>
              </a:solidFill>
              <a:latin typeface="Times New Roman" pitchFamily="18" charset="0"/>
            </a:endParaRPr>
          </a:p>
        </p:txBody>
      </p:sp>
      <p:sp>
        <p:nvSpPr>
          <p:cNvPr id="28678" name="Text Box 7"/>
          <p:cNvSpPr txBox="1">
            <a:spLocks noChangeArrowheads="1"/>
          </p:cNvSpPr>
          <p:nvPr/>
        </p:nvSpPr>
        <p:spPr bwMode="auto">
          <a:xfrm>
            <a:off x="5410200" y="5364163"/>
            <a:ext cx="628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rgbClr val="000099"/>
                </a:solidFill>
                <a:latin typeface="Times New Roman" panose="02020603050405020304" pitchFamily="18" charset="0"/>
              </a:rPr>
              <a:t>0.05</a:t>
            </a:r>
            <a:endParaRPr kumimoji="1" lang="zh-CN" altLang="en-US">
              <a:latin typeface="Times New Roman" panose="02020603050405020304" pitchFamily="18" charset="0"/>
            </a:endParaRPr>
          </a:p>
        </p:txBody>
      </p:sp>
      <p:sp>
        <p:nvSpPr>
          <p:cNvPr id="28679" name="Text Box 8"/>
          <p:cNvSpPr txBox="1">
            <a:spLocks noChangeArrowheads="1"/>
          </p:cNvSpPr>
          <p:nvPr/>
        </p:nvSpPr>
        <p:spPr bwMode="auto">
          <a:xfrm>
            <a:off x="6515100" y="4602163"/>
            <a:ext cx="628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rgbClr val="000099"/>
                </a:solidFill>
                <a:latin typeface="Times New Roman" panose="02020603050405020304" pitchFamily="18" charset="0"/>
              </a:rPr>
              <a:t>0.15</a:t>
            </a:r>
            <a:endParaRPr kumimoji="1" lang="zh-CN" altLang="en-US">
              <a:latin typeface="Times New Roman" panose="02020603050405020304" pitchFamily="18" charset="0"/>
            </a:endParaRPr>
          </a:p>
        </p:txBody>
      </p:sp>
      <p:sp>
        <p:nvSpPr>
          <p:cNvPr id="28680" name="Text Box 9"/>
          <p:cNvSpPr txBox="1">
            <a:spLocks noChangeArrowheads="1"/>
          </p:cNvSpPr>
          <p:nvPr/>
        </p:nvSpPr>
        <p:spPr bwMode="auto">
          <a:xfrm>
            <a:off x="2743200" y="3062288"/>
            <a:ext cx="628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rgbClr val="000099"/>
                </a:solidFill>
                <a:latin typeface="Times New Roman" panose="02020603050405020304" pitchFamily="18" charset="0"/>
              </a:rPr>
              <a:t>0.40</a:t>
            </a:r>
            <a:endParaRPr kumimoji="1" lang="zh-CN" altLang="en-US">
              <a:latin typeface="Times New Roman" panose="02020603050405020304" pitchFamily="18" charset="0"/>
            </a:endParaRPr>
          </a:p>
        </p:txBody>
      </p:sp>
      <p:sp>
        <p:nvSpPr>
          <p:cNvPr id="28681" name="Text Box 10"/>
          <p:cNvSpPr txBox="1">
            <a:spLocks noChangeArrowheads="1"/>
          </p:cNvSpPr>
          <p:nvPr/>
        </p:nvSpPr>
        <p:spPr bwMode="auto">
          <a:xfrm>
            <a:off x="3581400" y="3824288"/>
            <a:ext cx="628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rgbClr val="000099"/>
                </a:solidFill>
                <a:latin typeface="Times New Roman" panose="02020603050405020304" pitchFamily="18" charset="0"/>
              </a:rPr>
              <a:t>0.30</a:t>
            </a:r>
            <a:endParaRPr kumimoji="1" lang="zh-CN" altLang="en-US">
              <a:latin typeface="Times New Roman" panose="02020603050405020304" pitchFamily="18" charset="0"/>
            </a:endParaRPr>
          </a:p>
        </p:txBody>
      </p:sp>
      <p:sp>
        <p:nvSpPr>
          <p:cNvPr id="28682" name="Text Box 11"/>
          <p:cNvSpPr txBox="1">
            <a:spLocks noChangeArrowheads="1"/>
          </p:cNvSpPr>
          <p:nvPr/>
        </p:nvSpPr>
        <p:spPr bwMode="auto">
          <a:xfrm>
            <a:off x="3733800" y="5348288"/>
            <a:ext cx="628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rgbClr val="000099"/>
                </a:solidFill>
                <a:latin typeface="Times New Roman" panose="02020603050405020304" pitchFamily="18" charset="0"/>
              </a:rPr>
              <a:t>0.10</a:t>
            </a:r>
            <a:endParaRPr kumimoji="1" lang="zh-CN" altLang="en-US">
              <a:latin typeface="Times New Roman" panose="02020603050405020304" pitchFamily="18" charset="0"/>
            </a:endParaRPr>
          </a:p>
        </p:txBody>
      </p:sp>
      <p:sp>
        <p:nvSpPr>
          <p:cNvPr id="313356" name="Text Box 12"/>
          <p:cNvSpPr txBox="1">
            <a:spLocks noChangeArrowheads="1"/>
          </p:cNvSpPr>
          <p:nvPr/>
        </p:nvSpPr>
        <p:spPr bwMode="auto">
          <a:xfrm>
            <a:off x="6457950" y="4202113"/>
            <a:ext cx="682625" cy="404812"/>
          </a:xfrm>
          <a:prstGeom prst="rect">
            <a:avLst/>
          </a:prstGeom>
          <a:noFill/>
          <a:ln w="38100">
            <a:solidFill>
              <a:srgbClr val="009900"/>
            </a:solidFill>
            <a:miter lim="800000"/>
            <a:headEnd/>
            <a:tailEnd/>
          </a:ln>
          <a:effectLst/>
        </p:spPr>
        <p:txBody>
          <a:bodyPr wrap="none" anchor="ctr">
            <a:spAutoFit/>
          </a:bodyPr>
          <a:lstStyle/>
          <a:p>
            <a:pPr>
              <a:defRPr/>
            </a:pPr>
            <a:r>
              <a:rPr kumimoji="1" lang="zh-CN" altLang="en-US" b="1">
                <a:solidFill>
                  <a:srgbClr val="660066"/>
                </a:solidFill>
                <a:effectLst>
                  <a:outerShdw blurRad="38100" dist="38100" dir="2700000" algn="tl">
                    <a:srgbClr val="C0C0C0"/>
                  </a:outerShdw>
                </a:effectLst>
                <a:latin typeface="Times New Roman" pitchFamily="18" charset="0"/>
              </a:rPr>
              <a:t>及格</a:t>
            </a:r>
            <a:endParaRPr kumimoji="1" lang="zh-CN" altLang="en-US">
              <a:solidFill>
                <a:srgbClr val="660066"/>
              </a:solidFill>
              <a:latin typeface="Times New Roman" pitchFamily="18" charset="0"/>
            </a:endParaRPr>
          </a:p>
        </p:txBody>
      </p:sp>
      <p:sp>
        <p:nvSpPr>
          <p:cNvPr id="313357" name="Text Box 13"/>
          <p:cNvSpPr txBox="1">
            <a:spLocks noChangeArrowheads="1"/>
          </p:cNvSpPr>
          <p:nvPr/>
        </p:nvSpPr>
        <p:spPr bwMode="auto">
          <a:xfrm>
            <a:off x="2647950" y="2662238"/>
            <a:ext cx="682625" cy="404812"/>
          </a:xfrm>
          <a:prstGeom prst="rect">
            <a:avLst/>
          </a:prstGeom>
          <a:noFill/>
          <a:ln w="38100">
            <a:solidFill>
              <a:srgbClr val="009900"/>
            </a:solidFill>
            <a:miter lim="800000"/>
            <a:headEnd/>
            <a:tailEnd/>
          </a:ln>
          <a:effectLst/>
        </p:spPr>
        <p:txBody>
          <a:bodyPr wrap="none" anchor="ctr">
            <a:spAutoFit/>
          </a:bodyPr>
          <a:lstStyle/>
          <a:p>
            <a:pPr>
              <a:defRPr/>
            </a:pPr>
            <a:r>
              <a:rPr kumimoji="1" lang="zh-CN" altLang="en-US" b="1">
                <a:solidFill>
                  <a:srgbClr val="660066"/>
                </a:solidFill>
                <a:effectLst>
                  <a:outerShdw blurRad="38100" dist="38100" dir="2700000" algn="tl">
                    <a:srgbClr val="C0C0C0"/>
                  </a:outerShdw>
                </a:effectLst>
                <a:latin typeface="Times New Roman" pitchFamily="18" charset="0"/>
              </a:rPr>
              <a:t>中等</a:t>
            </a:r>
            <a:endParaRPr kumimoji="1" lang="zh-CN" altLang="en-US">
              <a:solidFill>
                <a:srgbClr val="660066"/>
              </a:solidFill>
              <a:latin typeface="Times New Roman" pitchFamily="18" charset="0"/>
            </a:endParaRPr>
          </a:p>
        </p:txBody>
      </p:sp>
      <p:sp>
        <p:nvSpPr>
          <p:cNvPr id="313358" name="Text Box 14"/>
          <p:cNvSpPr txBox="1">
            <a:spLocks noChangeArrowheads="1"/>
          </p:cNvSpPr>
          <p:nvPr/>
        </p:nvSpPr>
        <p:spPr bwMode="auto">
          <a:xfrm>
            <a:off x="3562350" y="3440113"/>
            <a:ext cx="682625" cy="404812"/>
          </a:xfrm>
          <a:prstGeom prst="rect">
            <a:avLst/>
          </a:prstGeom>
          <a:noFill/>
          <a:ln w="38100">
            <a:solidFill>
              <a:srgbClr val="009900"/>
            </a:solidFill>
            <a:miter lim="800000"/>
            <a:headEnd/>
            <a:tailEnd/>
          </a:ln>
          <a:effectLst/>
        </p:spPr>
        <p:txBody>
          <a:bodyPr wrap="none" anchor="ctr">
            <a:spAutoFit/>
          </a:bodyPr>
          <a:lstStyle/>
          <a:p>
            <a:pPr>
              <a:defRPr/>
            </a:pPr>
            <a:r>
              <a:rPr kumimoji="1" lang="zh-CN" altLang="en-US" b="1">
                <a:solidFill>
                  <a:srgbClr val="660066"/>
                </a:solidFill>
                <a:effectLst>
                  <a:outerShdw blurRad="38100" dist="38100" dir="2700000" algn="tl">
                    <a:srgbClr val="C0C0C0"/>
                  </a:outerShdw>
                </a:effectLst>
                <a:latin typeface="Times New Roman" pitchFamily="18" charset="0"/>
              </a:rPr>
              <a:t>良好</a:t>
            </a:r>
            <a:endParaRPr kumimoji="1" lang="zh-CN" altLang="en-US">
              <a:solidFill>
                <a:srgbClr val="660066"/>
              </a:solidFill>
              <a:latin typeface="Times New Roman" pitchFamily="18" charset="0"/>
            </a:endParaRPr>
          </a:p>
        </p:txBody>
      </p:sp>
      <p:sp>
        <p:nvSpPr>
          <p:cNvPr id="313359" name="Text Box 15"/>
          <p:cNvSpPr txBox="1">
            <a:spLocks noChangeArrowheads="1"/>
          </p:cNvSpPr>
          <p:nvPr/>
        </p:nvSpPr>
        <p:spPr bwMode="auto">
          <a:xfrm>
            <a:off x="3695700" y="4964113"/>
            <a:ext cx="682625" cy="404812"/>
          </a:xfrm>
          <a:prstGeom prst="rect">
            <a:avLst/>
          </a:prstGeom>
          <a:noFill/>
          <a:ln w="38100">
            <a:solidFill>
              <a:srgbClr val="009900"/>
            </a:solidFill>
            <a:miter lim="800000"/>
            <a:headEnd/>
            <a:tailEnd/>
          </a:ln>
          <a:effectLst/>
        </p:spPr>
        <p:txBody>
          <a:bodyPr wrap="none" anchor="ctr">
            <a:spAutoFit/>
          </a:bodyPr>
          <a:lstStyle/>
          <a:p>
            <a:pPr>
              <a:defRPr/>
            </a:pPr>
            <a:r>
              <a:rPr kumimoji="1" lang="zh-CN" altLang="en-US" b="1">
                <a:solidFill>
                  <a:srgbClr val="660066"/>
                </a:solidFill>
                <a:effectLst>
                  <a:outerShdw blurRad="38100" dist="38100" dir="2700000" algn="tl">
                    <a:srgbClr val="C0C0C0"/>
                  </a:outerShdw>
                </a:effectLst>
                <a:latin typeface="Times New Roman" pitchFamily="18" charset="0"/>
              </a:rPr>
              <a:t>优秀</a:t>
            </a:r>
            <a:endParaRPr kumimoji="1" lang="zh-CN" altLang="en-US">
              <a:solidFill>
                <a:srgbClr val="660066"/>
              </a:solidFill>
              <a:latin typeface="Times New Roman" pitchFamily="18" charset="0"/>
            </a:endParaRPr>
          </a:p>
        </p:txBody>
      </p:sp>
      <p:sp>
        <p:nvSpPr>
          <p:cNvPr id="313360" name="AutoShape 16"/>
          <p:cNvSpPr>
            <a:spLocks noChangeArrowheads="1"/>
          </p:cNvSpPr>
          <p:nvPr/>
        </p:nvSpPr>
        <p:spPr bwMode="auto">
          <a:xfrm>
            <a:off x="1295400" y="4221163"/>
            <a:ext cx="1752600" cy="533400"/>
          </a:xfrm>
          <a:prstGeom prst="wedgeRoundRectCallout">
            <a:avLst>
              <a:gd name="adj1" fmla="val 60690"/>
              <a:gd name="adj2" fmla="val -104764"/>
              <a:gd name="adj3" fmla="val 16667"/>
            </a:avLst>
          </a:prstGeom>
          <a:solidFill>
            <a:srgbClr val="CCFF66"/>
          </a:solidFill>
          <a:ln w="28575">
            <a:solidFill>
              <a:schemeClr val="tx2"/>
            </a:solidFill>
            <a:miter lim="800000"/>
            <a:headEnd/>
            <a:tailE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rgbClr val="0000FF"/>
                </a:solidFill>
                <a:latin typeface="Times New Roman" panose="02020603050405020304" pitchFamily="18" charset="0"/>
              </a:rPr>
              <a:t>WPL=2.05</a:t>
            </a:r>
          </a:p>
        </p:txBody>
      </p:sp>
      <p:sp>
        <p:nvSpPr>
          <p:cNvPr id="28688" name="AutoShape 17"/>
          <p:cNvSpPr>
            <a:spLocks noChangeArrowheads="1"/>
          </p:cNvSpPr>
          <p:nvPr/>
        </p:nvSpPr>
        <p:spPr bwMode="auto">
          <a:xfrm>
            <a:off x="3276600" y="1935163"/>
            <a:ext cx="1676400" cy="381000"/>
          </a:xfrm>
          <a:prstGeom prst="hexagon">
            <a:avLst>
              <a:gd name="adj" fmla="val 110000"/>
              <a:gd name="vf" fmla="val 115470"/>
            </a:avLst>
          </a:prstGeom>
          <a:gradFill rotWithShape="0">
            <a:gsLst>
              <a:gs pos="0">
                <a:srgbClr val="DDEBCF"/>
              </a:gs>
              <a:gs pos="50000">
                <a:srgbClr val="9CB86E"/>
              </a:gs>
              <a:gs pos="100000">
                <a:srgbClr val="156B13"/>
              </a:gs>
            </a:gsLst>
            <a:lin ang="5400000" scaled="1"/>
          </a:gradFill>
          <a:ln w="28575">
            <a:solidFill>
              <a:srgbClr val="009900"/>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latin typeface="Times New Roman" panose="02020603050405020304" pitchFamily="18" charset="0"/>
              </a:rPr>
              <a:t>70≤</a:t>
            </a:r>
            <a:r>
              <a:rPr kumimoji="1" lang="en-US" altLang="zh-CN" sz="2400" b="1" i="1">
                <a:latin typeface="Times New Roman" panose="02020603050405020304" pitchFamily="18" charset="0"/>
              </a:rPr>
              <a:t>a</a:t>
            </a:r>
            <a:r>
              <a:rPr kumimoji="1" lang="en-US" altLang="zh-CN" sz="2400" b="1">
                <a:latin typeface="Times New Roman" panose="02020603050405020304" pitchFamily="18" charset="0"/>
              </a:rPr>
              <a:t>&lt;80</a:t>
            </a:r>
          </a:p>
        </p:txBody>
      </p:sp>
      <p:sp>
        <p:nvSpPr>
          <p:cNvPr id="28689" name="AutoShape 18"/>
          <p:cNvSpPr>
            <a:spLocks noChangeArrowheads="1"/>
          </p:cNvSpPr>
          <p:nvPr/>
        </p:nvSpPr>
        <p:spPr bwMode="auto">
          <a:xfrm>
            <a:off x="4114800" y="2697163"/>
            <a:ext cx="1676400" cy="381000"/>
          </a:xfrm>
          <a:prstGeom prst="hexagon">
            <a:avLst>
              <a:gd name="adj" fmla="val 110000"/>
              <a:gd name="vf" fmla="val 115470"/>
            </a:avLst>
          </a:prstGeom>
          <a:gradFill rotWithShape="0">
            <a:gsLst>
              <a:gs pos="0">
                <a:srgbClr val="DDEBCF"/>
              </a:gs>
              <a:gs pos="50000">
                <a:srgbClr val="9CB86E"/>
              </a:gs>
              <a:gs pos="100000">
                <a:srgbClr val="156B13"/>
              </a:gs>
            </a:gsLst>
            <a:lin ang="5400000" scaled="1"/>
          </a:gradFill>
          <a:ln w="28575">
            <a:solidFill>
              <a:srgbClr val="009900"/>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latin typeface="Times New Roman" panose="02020603050405020304" pitchFamily="18" charset="0"/>
              </a:rPr>
              <a:t>80≤</a:t>
            </a:r>
            <a:r>
              <a:rPr kumimoji="1" lang="en-US" altLang="zh-CN" sz="2400" b="1" i="1">
                <a:latin typeface="Times New Roman" panose="02020603050405020304" pitchFamily="18" charset="0"/>
              </a:rPr>
              <a:t>a</a:t>
            </a:r>
            <a:r>
              <a:rPr kumimoji="1" lang="en-US" altLang="zh-CN" sz="2400" b="1">
                <a:latin typeface="Times New Roman" panose="02020603050405020304" pitchFamily="18" charset="0"/>
              </a:rPr>
              <a:t>&lt;90</a:t>
            </a:r>
          </a:p>
        </p:txBody>
      </p:sp>
      <p:sp>
        <p:nvSpPr>
          <p:cNvPr id="28690" name="Line 19"/>
          <p:cNvSpPr>
            <a:spLocks noChangeShapeType="1"/>
          </p:cNvSpPr>
          <p:nvPr/>
        </p:nvSpPr>
        <p:spPr bwMode="auto">
          <a:xfrm flipH="1">
            <a:off x="3124200" y="2316163"/>
            <a:ext cx="533400" cy="3810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91" name="Line 20"/>
          <p:cNvSpPr>
            <a:spLocks noChangeShapeType="1"/>
          </p:cNvSpPr>
          <p:nvPr/>
        </p:nvSpPr>
        <p:spPr bwMode="auto">
          <a:xfrm>
            <a:off x="4572000" y="2316163"/>
            <a:ext cx="457200" cy="3810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3365" name="Text Box 21"/>
          <p:cNvSpPr txBox="1">
            <a:spLocks noChangeArrowheads="1"/>
          </p:cNvSpPr>
          <p:nvPr/>
        </p:nvSpPr>
        <p:spPr bwMode="auto">
          <a:xfrm>
            <a:off x="3048000" y="2239963"/>
            <a:ext cx="368300" cy="396875"/>
          </a:xfrm>
          <a:prstGeom prst="rect">
            <a:avLst/>
          </a:prstGeom>
          <a:noFill/>
          <a:ln w="38100">
            <a:noFill/>
            <a:miter lim="800000"/>
            <a:headEnd/>
            <a:tailEnd/>
          </a:ln>
          <a:effectLst/>
        </p:spPr>
        <p:txBody>
          <a:bodyPr wrap="none" anchor="ctr">
            <a:spAutoFit/>
          </a:bodyPr>
          <a:lstStyle/>
          <a:p>
            <a:pPr>
              <a:defRPr/>
            </a:pPr>
            <a:r>
              <a:rPr kumimoji="1" lang="en-US" altLang="zh-CN" sz="2000" b="1">
                <a:solidFill>
                  <a:srgbClr val="000099"/>
                </a:solidFill>
                <a:effectLst>
                  <a:outerShdw blurRad="38100" dist="38100" dir="2700000" algn="tl">
                    <a:srgbClr val="C0C0C0"/>
                  </a:outerShdw>
                </a:effectLst>
                <a:latin typeface="Times New Roman" pitchFamily="18" charset="0"/>
              </a:rPr>
              <a:t>Y</a:t>
            </a:r>
            <a:endParaRPr kumimoji="1" lang="en-US" altLang="zh-CN" b="1">
              <a:solidFill>
                <a:srgbClr val="000099"/>
              </a:solidFill>
              <a:effectLst>
                <a:outerShdw blurRad="38100" dist="38100" dir="2700000" algn="tl">
                  <a:srgbClr val="C0C0C0"/>
                </a:outerShdw>
              </a:effectLst>
              <a:latin typeface="Times New Roman" pitchFamily="18" charset="0"/>
            </a:endParaRPr>
          </a:p>
        </p:txBody>
      </p:sp>
      <p:sp>
        <p:nvSpPr>
          <p:cNvPr id="313366" name="Text Box 22"/>
          <p:cNvSpPr txBox="1">
            <a:spLocks noChangeArrowheads="1"/>
          </p:cNvSpPr>
          <p:nvPr/>
        </p:nvSpPr>
        <p:spPr bwMode="auto">
          <a:xfrm>
            <a:off x="4800600" y="2239963"/>
            <a:ext cx="368300" cy="396875"/>
          </a:xfrm>
          <a:prstGeom prst="rect">
            <a:avLst/>
          </a:prstGeom>
          <a:noFill/>
          <a:ln w="38100">
            <a:noFill/>
            <a:miter lim="800000"/>
            <a:headEnd/>
            <a:tailEnd/>
          </a:ln>
          <a:effectLst/>
        </p:spPr>
        <p:txBody>
          <a:bodyPr wrap="none" anchor="ctr">
            <a:spAutoFit/>
          </a:bodyPr>
          <a:lstStyle/>
          <a:p>
            <a:pPr>
              <a:defRPr/>
            </a:pPr>
            <a:r>
              <a:rPr kumimoji="1" lang="en-US" altLang="zh-CN" sz="2000" b="1">
                <a:solidFill>
                  <a:srgbClr val="000099"/>
                </a:solidFill>
                <a:effectLst>
                  <a:outerShdw blurRad="38100" dist="38100" dir="2700000" algn="tl">
                    <a:srgbClr val="C0C0C0"/>
                  </a:outerShdw>
                </a:effectLst>
                <a:latin typeface="Times New Roman" pitchFamily="18" charset="0"/>
              </a:rPr>
              <a:t>N</a:t>
            </a:r>
            <a:endParaRPr kumimoji="1" lang="en-US" altLang="zh-CN" b="1">
              <a:solidFill>
                <a:srgbClr val="000099"/>
              </a:solidFill>
              <a:effectLst>
                <a:outerShdw blurRad="38100" dist="38100" dir="2700000" algn="tl">
                  <a:srgbClr val="C0C0C0"/>
                </a:outerShdw>
              </a:effectLst>
              <a:latin typeface="Times New Roman" pitchFamily="18" charset="0"/>
            </a:endParaRPr>
          </a:p>
        </p:txBody>
      </p:sp>
      <p:sp>
        <p:nvSpPr>
          <p:cNvPr id="28694" name="AutoShape 23"/>
          <p:cNvSpPr>
            <a:spLocks noChangeArrowheads="1"/>
          </p:cNvSpPr>
          <p:nvPr/>
        </p:nvSpPr>
        <p:spPr bwMode="auto">
          <a:xfrm>
            <a:off x="5029200" y="3459163"/>
            <a:ext cx="1676400" cy="381000"/>
          </a:xfrm>
          <a:prstGeom prst="hexagon">
            <a:avLst>
              <a:gd name="adj" fmla="val 110000"/>
              <a:gd name="vf" fmla="val 115470"/>
            </a:avLst>
          </a:prstGeom>
          <a:gradFill rotWithShape="0">
            <a:gsLst>
              <a:gs pos="0">
                <a:srgbClr val="DDEBCF"/>
              </a:gs>
              <a:gs pos="50000">
                <a:srgbClr val="9CB86E"/>
              </a:gs>
              <a:gs pos="100000">
                <a:srgbClr val="156B13"/>
              </a:gs>
            </a:gsLst>
            <a:lin ang="5400000" scaled="1"/>
          </a:gradFill>
          <a:ln w="28575">
            <a:solidFill>
              <a:srgbClr val="009900"/>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latin typeface="Times New Roman" panose="02020603050405020304" pitchFamily="18" charset="0"/>
              </a:rPr>
              <a:t>60≤</a:t>
            </a:r>
            <a:r>
              <a:rPr kumimoji="1" lang="en-US" altLang="zh-CN" sz="2400" b="1" i="1">
                <a:latin typeface="Times New Roman" panose="02020603050405020304" pitchFamily="18" charset="0"/>
              </a:rPr>
              <a:t>a</a:t>
            </a:r>
            <a:r>
              <a:rPr kumimoji="1" lang="en-US" altLang="zh-CN" sz="2400" b="1">
                <a:latin typeface="Times New Roman" panose="02020603050405020304" pitchFamily="18" charset="0"/>
              </a:rPr>
              <a:t>&lt;70</a:t>
            </a:r>
          </a:p>
        </p:txBody>
      </p:sp>
      <p:sp>
        <p:nvSpPr>
          <p:cNvPr id="28695" name="Line 24"/>
          <p:cNvSpPr>
            <a:spLocks noChangeShapeType="1"/>
          </p:cNvSpPr>
          <p:nvPr/>
        </p:nvSpPr>
        <p:spPr bwMode="auto">
          <a:xfrm flipH="1">
            <a:off x="3962400" y="3078163"/>
            <a:ext cx="533400" cy="3810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96" name="Line 25"/>
          <p:cNvSpPr>
            <a:spLocks noChangeShapeType="1"/>
          </p:cNvSpPr>
          <p:nvPr/>
        </p:nvSpPr>
        <p:spPr bwMode="auto">
          <a:xfrm>
            <a:off x="5410200" y="3078163"/>
            <a:ext cx="457200" cy="3810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3370" name="Text Box 26"/>
          <p:cNvSpPr txBox="1">
            <a:spLocks noChangeArrowheads="1"/>
          </p:cNvSpPr>
          <p:nvPr/>
        </p:nvSpPr>
        <p:spPr bwMode="auto">
          <a:xfrm>
            <a:off x="3886200" y="3001963"/>
            <a:ext cx="368300" cy="396875"/>
          </a:xfrm>
          <a:prstGeom prst="rect">
            <a:avLst/>
          </a:prstGeom>
          <a:noFill/>
          <a:ln w="38100">
            <a:noFill/>
            <a:miter lim="800000"/>
            <a:headEnd/>
            <a:tailEnd/>
          </a:ln>
          <a:effectLst/>
        </p:spPr>
        <p:txBody>
          <a:bodyPr wrap="none" anchor="ctr">
            <a:spAutoFit/>
          </a:bodyPr>
          <a:lstStyle/>
          <a:p>
            <a:pPr>
              <a:defRPr/>
            </a:pPr>
            <a:r>
              <a:rPr kumimoji="1" lang="en-US" altLang="zh-CN" sz="2000" b="1">
                <a:solidFill>
                  <a:srgbClr val="000099"/>
                </a:solidFill>
                <a:effectLst>
                  <a:outerShdw blurRad="38100" dist="38100" dir="2700000" algn="tl">
                    <a:srgbClr val="C0C0C0"/>
                  </a:outerShdw>
                </a:effectLst>
                <a:latin typeface="Times New Roman" pitchFamily="18" charset="0"/>
              </a:rPr>
              <a:t>Y</a:t>
            </a:r>
            <a:endParaRPr kumimoji="1" lang="en-US" altLang="zh-CN" b="1">
              <a:solidFill>
                <a:srgbClr val="000099"/>
              </a:solidFill>
              <a:effectLst>
                <a:outerShdw blurRad="38100" dist="38100" dir="2700000" algn="tl">
                  <a:srgbClr val="C0C0C0"/>
                </a:outerShdw>
              </a:effectLst>
              <a:latin typeface="Times New Roman" pitchFamily="18" charset="0"/>
            </a:endParaRPr>
          </a:p>
        </p:txBody>
      </p:sp>
      <p:sp>
        <p:nvSpPr>
          <p:cNvPr id="313371" name="Text Box 27"/>
          <p:cNvSpPr txBox="1">
            <a:spLocks noChangeArrowheads="1"/>
          </p:cNvSpPr>
          <p:nvPr/>
        </p:nvSpPr>
        <p:spPr bwMode="auto">
          <a:xfrm>
            <a:off x="5638800" y="3001963"/>
            <a:ext cx="368300" cy="396875"/>
          </a:xfrm>
          <a:prstGeom prst="rect">
            <a:avLst/>
          </a:prstGeom>
          <a:noFill/>
          <a:ln w="38100">
            <a:noFill/>
            <a:miter lim="800000"/>
            <a:headEnd/>
            <a:tailEnd/>
          </a:ln>
          <a:effectLst/>
        </p:spPr>
        <p:txBody>
          <a:bodyPr wrap="none" anchor="ctr">
            <a:spAutoFit/>
          </a:bodyPr>
          <a:lstStyle/>
          <a:p>
            <a:pPr>
              <a:defRPr/>
            </a:pPr>
            <a:r>
              <a:rPr kumimoji="1" lang="en-US" altLang="zh-CN" sz="2000" b="1">
                <a:solidFill>
                  <a:srgbClr val="000099"/>
                </a:solidFill>
                <a:effectLst>
                  <a:outerShdw blurRad="38100" dist="38100" dir="2700000" algn="tl">
                    <a:srgbClr val="C0C0C0"/>
                  </a:outerShdw>
                </a:effectLst>
                <a:latin typeface="Times New Roman" pitchFamily="18" charset="0"/>
              </a:rPr>
              <a:t>N</a:t>
            </a:r>
            <a:endParaRPr kumimoji="1" lang="en-US" altLang="zh-CN" b="1">
              <a:solidFill>
                <a:srgbClr val="000099"/>
              </a:solidFill>
              <a:effectLst>
                <a:outerShdw blurRad="38100" dist="38100" dir="2700000" algn="tl">
                  <a:srgbClr val="C0C0C0"/>
                </a:outerShdw>
              </a:effectLst>
              <a:latin typeface="Times New Roman" pitchFamily="18" charset="0"/>
            </a:endParaRPr>
          </a:p>
        </p:txBody>
      </p:sp>
      <p:sp>
        <p:nvSpPr>
          <p:cNvPr id="28699" name="AutoShape 28"/>
          <p:cNvSpPr>
            <a:spLocks noChangeArrowheads="1"/>
          </p:cNvSpPr>
          <p:nvPr/>
        </p:nvSpPr>
        <p:spPr bwMode="auto">
          <a:xfrm>
            <a:off x="4343400" y="4221163"/>
            <a:ext cx="1066800" cy="381000"/>
          </a:xfrm>
          <a:prstGeom prst="hexagon">
            <a:avLst>
              <a:gd name="adj" fmla="val 70000"/>
              <a:gd name="vf" fmla="val 115470"/>
            </a:avLst>
          </a:prstGeom>
          <a:gradFill rotWithShape="0">
            <a:gsLst>
              <a:gs pos="0">
                <a:srgbClr val="DDEBCF"/>
              </a:gs>
              <a:gs pos="50000">
                <a:srgbClr val="9CB86E"/>
              </a:gs>
              <a:gs pos="100000">
                <a:srgbClr val="156B13"/>
              </a:gs>
            </a:gsLst>
            <a:lin ang="5400000" scaled="1"/>
          </a:gradFill>
          <a:ln w="28575">
            <a:solidFill>
              <a:srgbClr val="009900"/>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i="1">
                <a:latin typeface="Times New Roman" panose="02020603050405020304" pitchFamily="18" charset="0"/>
              </a:rPr>
              <a:t>a</a:t>
            </a:r>
            <a:r>
              <a:rPr kumimoji="1" lang="en-US" altLang="zh-CN" sz="2400" b="1">
                <a:latin typeface="Times New Roman" panose="02020603050405020304" pitchFamily="18" charset="0"/>
              </a:rPr>
              <a:t>&lt;60</a:t>
            </a:r>
          </a:p>
        </p:txBody>
      </p:sp>
      <p:sp>
        <p:nvSpPr>
          <p:cNvPr id="28700" name="Line 29"/>
          <p:cNvSpPr>
            <a:spLocks noChangeShapeType="1"/>
          </p:cNvSpPr>
          <p:nvPr/>
        </p:nvSpPr>
        <p:spPr bwMode="auto">
          <a:xfrm flipH="1">
            <a:off x="4876800" y="3840163"/>
            <a:ext cx="533400" cy="3810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01" name="Line 30"/>
          <p:cNvSpPr>
            <a:spLocks noChangeShapeType="1"/>
          </p:cNvSpPr>
          <p:nvPr/>
        </p:nvSpPr>
        <p:spPr bwMode="auto">
          <a:xfrm>
            <a:off x="6324600" y="3840163"/>
            <a:ext cx="457200" cy="3810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3375" name="Text Box 31"/>
          <p:cNvSpPr txBox="1">
            <a:spLocks noChangeArrowheads="1"/>
          </p:cNvSpPr>
          <p:nvPr/>
        </p:nvSpPr>
        <p:spPr bwMode="auto">
          <a:xfrm>
            <a:off x="4800600" y="3763963"/>
            <a:ext cx="368300" cy="396875"/>
          </a:xfrm>
          <a:prstGeom prst="rect">
            <a:avLst/>
          </a:prstGeom>
          <a:noFill/>
          <a:ln w="38100">
            <a:noFill/>
            <a:miter lim="800000"/>
            <a:headEnd/>
            <a:tailEnd/>
          </a:ln>
          <a:effectLst/>
        </p:spPr>
        <p:txBody>
          <a:bodyPr wrap="none" anchor="ctr">
            <a:spAutoFit/>
          </a:bodyPr>
          <a:lstStyle/>
          <a:p>
            <a:pPr>
              <a:defRPr/>
            </a:pPr>
            <a:r>
              <a:rPr kumimoji="1" lang="en-US" altLang="zh-CN" sz="2000" b="1">
                <a:solidFill>
                  <a:srgbClr val="000099"/>
                </a:solidFill>
                <a:effectLst>
                  <a:outerShdw blurRad="38100" dist="38100" dir="2700000" algn="tl">
                    <a:srgbClr val="C0C0C0"/>
                  </a:outerShdw>
                </a:effectLst>
                <a:latin typeface="Times New Roman" pitchFamily="18" charset="0"/>
              </a:rPr>
              <a:t>N</a:t>
            </a:r>
            <a:endParaRPr kumimoji="1" lang="en-US" altLang="zh-CN" b="1">
              <a:solidFill>
                <a:srgbClr val="000099"/>
              </a:solidFill>
              <a:effectLst>
                <a:outerShdw blurRad="38100" dist="38100" dir="2700000" algn="tl">
                  <a:srgbClr val="C0C0C0"/>
                </a:outerShdw>
              </a:effectLst>
              <a:latin typeface="Times New Roman" pitchFamily="18" charset="0"/>
            </a:endParaRPr>
          </a:p>
        </p:txBody>
      </p:sp>
      <p:sp>
        <p:nvSpPr>
          <p:cNvPr id="313376" name="Text Box 32"/>
          <p:cNvSpPr txBox="1">
            <a:spLocks noChangeArrowheads="1"/>
          </p:cNvSpPr>
          <p:nvPr/>
        </p:nvSpPr>
        <p:spPr bwMode="auto">
          <a:xfrm>
            <a:off x="6553200" y="3763963"/>
            <a:ext cx="368300" cy="396875"/>
          </a:xfrm>
          <a:prstGeom prst="rect">
            <a:avLst/>
          </a:prstGeom>
          <a:noFill/>
          <a:ln w="38100">
            <a:noFill/>
            <a:miter lim="800000"/>
            <a:headEnd/>
            <a:tailEnd/>
          </a:ln>
          <a:effectLst/>
        </p:spPr>
        <p:txBody>
          <a:bodyPr wrap="none" anchor="ctr">
            <a:spAutoFit/>
          </a:bodyPr>
          <a:lstStyle/>
          <a:p>
            <a:pPr>
              <a:defRPr/>
            </a:pPr>
            <a:r>
              <a:rPr kumimoji="1" lang="en-US" altLang="zh-CN" sz="2000" b="1">
                <a:solidFill>
                  <a:srgbClr val="000099"/>
                </a:solidFill>
                <a:effectLst>
                  <a:outerShdw blurRad="38100" dist="38100" dir="2700000" algn="tl">
                    <a:srgbClr val="C0C0C0"/>
                  </a:outerShdw>
                </a:effectLst>
                <a:latin typeface="Times New Roman" pitchFamily="18" charset="0"/>
              </a:rPr>
              <a:t>Y</a:t>
            </a:r>
            <a:endParaRPr kumimoji="1" lang="en-US" altLang="zh-CN" b="1">
              <a:solidFill>
                <a:srgbClr val="000099"/>
              </a:solidFill>
              <a:effectLst>
                <a:outerShdw blurRad="38100" dist="38100" dir="2700000" algn="tl">
                  <a:srgbClr val="C0C0C0"/>
                </a:outerShdw>
              </a:effectLst>
              <a:latin typeface="Times New Roman" pitchFamily="18" charset="0"/>
            </a:endParaRPr>
          </a:p>
        </p:txBody>
      </p:sp>
      <p:sp>
        <p:nvSpPr>
          <p:cNvPr id="28704" name="Line 33"/>
          <p:cNvSpPr>
            <a:spLocks noChangeShapeType="1"/>
          </p:cNvSpPr>
          <p:nvPr/>
        </p:nvSpPr>
        <p:spPr bwMode="auto">
          <a:xfrm flipH="1">
            <a:off x="4038600" y="4602163"/>
            <a:ext cx="533400" cy="3810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05" name="Line 34"/>
          <p:cNvSpPr>
            <a:spLocks noChangeShapeType="1"/>
          </p:cNvSpPr>
          <p:nvPr/>
        </p:nvSpPr>
        <p:spPr bwMode="auto">
          <a:xfrm>
            <a:off x="5181600" y="4602163"/>
            <a:ext cx="457200" cy="3810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3379" name="Text Box 35"/>
          <p:cNvSpPr txBox="1">
            <a:spLocks noChangeArrowheads="1"/>
          </p:cNvSpPr>
          <p:nvPr/>
        </p:nvSpPr>
        <p:spPr bwMode="auto">
          <a:xfrm>
            <a:off x="3962400" y="4525963"/>
            <a:ext cx="368300" cy="396875"/>
          </a:xfrm>
          <a:prstGeom prst="rect">
            <a:avLst/>
          </a:prstGeom>
          <a:noFill/>
          <a:ln w="38100">
            <a:noFill/>
            <a:miter lim="800000"/>
            <a:headEnd/>
            <a:tailEnd/>
          </a:ln>
          <a:effectLst/>
        </p:spPr>
        <p:txBody>
          <a:bodyPr wrap="none" anchor="ctr">
            <a:spAutoFit/>
          </a:bodyPr>
          <a:lstStyle/>
          <a:p>
            <a:pPr>
              <a:defRPr/>
            </a:pPr>
            <a:r>
              <a:rPr kumimoji="1" lang="en-US" altLang="zh-CN" sz="2000" b="1">
                <a:solidFill>
                  <a:srgbClr val="000099"/>
                </a:solidFill>
                <a:effectLst>
                  <a:outerShdw blurRad="38100" dist="38100" dir="2700000" algn="tl">
                    <a:srgbClr val="C0C0C0"/>
                  </a:outerShdw>
                </a:effectLst>
                <a:latin typeface="Times New Roman" pitchFamily="18" charset="0"/>
              </a:rPr>
              <a:t>N</a:t>
            </a:r>
            <a:endParaRPr kumimoji="1" lang="en-US" altLang="zh-CN" b="1">
              <a:solidFill>
                <a:srgbClr val="000099"/>
              </a:solidFill>
              <a:effectLst>
                <a:outerShdw blurRad="38100" dist="38100" dir="2700000" algn="tl">
                  <a:srgbClr val="C0C0C0"/>
                </a:outerShdw>
              </a:effectLst>
              <a:latin typeface="Times New Roman" pitchFamily="18" charset="0"/>
            </a:endParaRPr>
          </a:p>
        </p:txBody>
      </p:sp>
      <p:sp>
        <p:nvSpPr>
          <p:cNvPr id="313380" name="Text Box 36"/>
          <p:cNvSpPr txBox="1">
            <a:spLocks noChangeArrowheads="1"/>
          </p:cNvSpPr>
          <p:nvPr/>
        </p:nvSpPr>
        <p:spPr bwMode="auto">
          <a:xfrm>
            <a:off x="5410200" y="4525963"/>
            <a:ext cx="368300" cy="396875"/>
          </a:xfrm>
          <a:prstGeom prst="rect">
            <a:avLst/>
          </a:prstGeom>
          <a:noFill/>
          <a:ln w="38100">
            <a:noFill/>
            <a:miter lim="800000"/>
            <a:headEnd/>
            <a:tailEnd/>
          </a:ln>
          <a:effectLst/>
        </p:spPr>
        <p:txBody>
          <a:bodyPr wrap="none" anchor="ctr">
            <a:spAutoFit/>
          </a:bodyPr>
          <a:lstStyle/>
          <a:p>
            <a:pPr>
              <a:defRPr/>
            </a:pPr>
            <a:r>
              <a:rPr kumimoji="1" lang="en-US" altLang="zh-CN" sz="2000" b="1">
                <a:solidFill>
                  <a:srgbClr val="000099"/>
                </a:solidFill>
                <a:effectLst>
                  <a:outerShdw blurRad="38100" dist="38100" dir="2700000" algn="tl">
                    <a:srgbClr val="C0C0C0"/>
                  </a:outerShdw>
                </a:effectLst>
                <a:latin typeface="Times New Roman" pitchFamily="18" charset="0"/>
              </a:rPr>
              <a:t>Y</a:t>
            </a:r>
            <a:endParaRPr kumimoji="1" lang="en-US" altLang="zh-CN" b="1">
              <a:solidFill>
                <a:srgbClr val="000099"/>
              </a:solidFill>
              <a:effectLst>
                <a:outerShdw blurRad="38100" dist="38100" dir="2700000" algn="tl">
                  <a:srgbClr val="C0C0C0"/>
                </a:outerShdw>
              </a:effectLst>
              <a:latin typeface="Times New Roman" pitchFamily="18" charset="0"/>
            </a:endParaRPr>
          </a:p>
        </p:txBody>
      </p:sp>
      <p:sp>
        <p:nvSpPr>
          <p:cNvPr id="28708"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Algorithms Design Techniques and Analysis</a:t>
            </a:r>
          </a:p>
        </p:txBody>
      </p:sp>
    </p:spTree>
    <p:extLst>
      <p:ext uri="{BB962C8B-B14F-4D97-AF65-F5344CB8AC3E}">
        <p14:creationId xmlns:p14="http://schemas.microsoft.com/office/powerpoint/2010/main" val="31248537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313360"/>
                                        </p:tgtEl>
                                        <p:attrNameLst>
                                          <p:attrName>style.visibility</p:attrName>
                                        </p:attrNameLst>
                                      </p:cBhvr>
                                      <p:to>
                                        <p:strVal val="visible"/>
                                      </p:to>
                                    </p:set>
                                    <p:animEffect transition="in" filter="strips(downLeft)">
                                      <p:cBhvr>
                                        <p:cTn id="7" dur="500"/>
                                        <p:tgtEl>
                                          <p:spTgt spid="3133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3360" grpId="0" animBg="1" autoUpdateAnimBg="0"/>
    </p:bldLst>
  </p:timing>
</p:sld>
</file>

<file path=ppt/slides/slide20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3186" name="日期占位符 3"/>
          <p:cNvSpPr>
            <a:spLocks noGrp="1"/>
          </p:cNvSpPr>
          <p:nvPr>
            <p:ph type="dt" sz="quarter" idx="4294967295"/>
          </p:nvPr>
        </p:nvSpPr>
        <p:spPr bwMode="auto">
          <a:xfrm>
            <a:off x="3492500" y="6381750"/>
            <a:ext cx="3816350" cy="431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fld id="{D3BAE431-2679-414D-9DBC-32D98AED3B8A}" type="datetime1">
              <a:rPr lang="zh-CN" altLang="en-US" sz="1400"/>
              <a:pPr algn="ctr" eaLnBrk="1" hangingPunct="1"/>
              <a:t>2022/11/20</a:t>
            </a:fld>
            <a:endParaRPr lang="en-US" altLang="zh-CN" sz="1400"/>
          </a:p>
        </p:txBody>
      </p:sp>
      <p:sp>
        <p:nvSpPr>
          <p:cNvPr id="93187" name="页脚占位符 4"/>
          <p:cNvSpPr>
            <a:spLocks noGrp="1"/>
          </p:cNvSpPr>
          <p:nvPr>
            <p:ph type="ftr" sz="quarter" idx="10"/>
          </p:nvPr>
        </p:nvSpPr>
        <p:spPr>
          <a:xfrm>
            <a:off x="3352800" y="6324600"/>
            <a:ext cx="2895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mtClean="0"/>
              <a:t>第七章 图</a:t>
            </a:r>
          </a:p>
        </p:txBody>
      </p:sp>
      <p:sp>
        <p:nvSpPr>
          <p:cNvPr id="93188" name="灯片编号占位符 5"/>
          <p:cNvSpPr>
            <a:spLocks noGrp="1"/>
          </p:cNvSpPr>
          <p:nvPr>
            <p:ph type="sldNum" sz="quarter" idx="4294967295"/>
          </p:nvPr>
        </p:nvSpPr>
        <p:spPr bwMode="auto">
          <a:xfrm>
            <a:off x="6781800" y="63246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A9049FC-686B-497D-997D-63765AEB927A}" type="slidenum">
              <a:rPr lang="en-US" altLang="zh-CN"/>
              <a:pPr eaLnBrk="1" hangingPunct="1"/>
              <a:t>209</a:t>
            </a:fld>
            <a:endParaRPr lang="en-US" altLang="zh-CN"/>
          </a:p>
        </p:txBody>
      </p:sp>
      <p:sp>
        <p:nvSpPr>
          <p:cNvPr id="93189" name="Rectangle 2"/>
          <p:cNvSpPr>
            <a:spLocks noGrp="1" noChangeArrowheads="1"/>
          </p:cNvSpPr>
          <p:nvPr>
            <p:ph type="title"/>
          </p:nvPr>
        </p:nvSpPr>
        <p:spPr>
          <a:xfrm>
            <a:off x="914400" y="404664"/>
            <a:ext cx="7772400" cy="762000"/>
          </a:xfrm>
        </p:spPr>
        <p:txBody>
          <a:bodyPr/>
          <a:lstStyle/>
          <a:p>
            <a:r>
              <a:rPr lang="en-US" altLang="zh-CN" dirty="0" smtClean="0">
                <a:solidFill>
                  <a:srgbClr val="333399"/>
                </a:solidFill>
              </a:rPr>
              <a:t>1.4.</a:t>
            </a:r>
            <a:r>
              <a:rPr lang="en-US" altLang="zh-CN" dirty="0"/>
              <a:t>8</a:t>
            </a:r>
            <a:r>
              <a:rPr lang="en-US" altLang="zh-CN" dirty="0" smtClean="0"/>
              <a:t> </a:t>
            </a:r>
            <a:r>
              <a:rPr lang="zh-CN" altLang="en-US" dirty="0" smtClean="0"/>
              <a:t>最短路径</a:t>
            </a:r>
          </a:p>
        </p:txBody>
      </p:sp>
      <p:sp>
        <p:nvSpPr>
          <p:cNvPr id="279555" name="Rectangle 3"/>
          <p:cNvSpPr>
            <a:spLocks noGrp="1" noChangeArrowheads="1"/>
          </p:cNvSpPr>
          <p:nvPr>
            <p:ph type="body" idx="1"/>
          </p:nvPr>
        </p:nvSpPr>
        <p:spPr>
          <a:xfrm>
            <a:off x="750987" y="1344960"/>
            <a:ext cx="7935813" cy="5181600"/>
          </a:xfrm>
        </p:spPr>
        <p:txBody>
          <a:bodyPr/>
          <a:lstStyle/>
          <a:p>
            <a:pPr>
              <a:lnSpc>
                <a:spcPct val="90000"/>
              </a:lnSpc>
              <a:buFont typeface="Wingdings" panose="05000000000000000000" pitchFamily="2" charset="2"/>
              <a:buChar char="v"/>
            </a:pPr>
            <a:r>
              <a:rPr lang="zh-CN" altLang="en-US" sz="2200" dirty="0" smtClean="0"/>
              <a:t>我们研究带权图，一个重要的内容就是寻找某类</a:t>
            </a:r>
            <a:r>
              <a:rPr lang="zh-CN" altLang="en-US" sz="2200" dirty="0" smtClean="0">
                <a:solidFill>
                  <a:srgbClr val="FF0000"/>
                </a:solidFill>
              </a:rPr>
              <a:t>具有最小（最大）权的子图</a:t>
            </a:r>
            <a:r>
              <a:rPr lang="zh-CN" altLang="en-US" sz="2200" dirty="0" smtClean="0"/>
              <a:t>，其中之一就是最短路问题，例如：给定一个连接各城市的铁路网络（连通的带权图），在这个网络中的两个指定的城市之间确定一条最短路。</a:t>
            </a:r>
            <a:endParaRPr lang="en-US" altLang="zh-CN" sz="2200" dirty="0" smtClean="0"/>
          </a:p>
          <a:p>
            <a:pPr>
              <a:lnSpc>
                <a:spcPct val="90000"/>
              </a:lnSpc>
              <a:buFont typeface="Wingdings" panose="05000000000000000000" pitchFamily="2" charset="2"/>
              <a:buChar char="v"/>
            </a:pPr>
            <a:r>
              <a:rPr lang="zh-CN" altLang="en-US" sz="2200" dirty="0" smtClean="0"/>
              <a:t>所谓</a:t>
            </a:r>
            <a:r>
              <a:rPr lang="zh-CN" altLang="en-US" sz="2200" dirty="0" smtClean="0">
                <a:solidFill>
                  <a:srgbClr val="FF0000"/>
                </a:solidFill>
              </a:rPr>
              <a:t>最短路径</a:t>
            </a:r>
            <a:r>
              <a:rPr lang="zh-CN" altLang="en-US" sz="2200" dirty="0" smtClean="0"/>
              <a:t>（</a:t>
            </a:r>
            <a:r>
              <a:rPr lang="en-US" altLang="zh-CN" sz="2200" dirty="0" smtClean="0"/>
              <a:t>shortest path</a:t>
            </a:r>
            <a:r>
              <a:rPr lang="zh-CN" altLang="en-US" sz="2200" dirty="0" smtClean="0"/>
              <a:t>）问题指的是：如果从图中某顶点出发（此点称为源点），经图的边到达另一顶点（称为终点）的路径不止一条，如何找到一条路径使沿此路径上各边的权值之和为最小。</a:t>
            </a:r>
          </a:p>
          <a:p>
            <a:pPr>
              <a:lnSpc>
                <a:spcPct val="90000"/>
              </a:lnSpc>
              <a:buFont typeface="Wingdings" panose="05000000000000000000" pitchFamily="2" charset="2"/>
              <a:buChar char="v"/>
            </a:pPr>
            <a:r>
              <a:rPr lang="zh-CN" altLang="en-US" sz="2200" dirty="0" smtClean="0"/>
              <a:t>设一有向网络</a:t>
            </a:r>
            <a:r>
              <a:rPr lang="en-US" altLang="zh-CN" sz="2200" dirty="0" smtClean="0"/>
              <a:t>G =</a:t>
            </a:r>
            <a:r>
              <a:rPr lang="zh-CN" altLang="en-US" sz="2200" dirty="0" smtClean="0"/>
              <a:t>（</a:t>
            </a:r>
            <a:r>
              <a:rPr lang="en-US" altLang="zh-CN" sz="2200" dirty="0" err="1" smtClean="0"/>
              <a:t>V,E</a:t>
            </a:r>
            <a:r>
              <a:rPr lang="zh-CN" altLang="en-US" sz="2200" dirty="0" smtClean="0"/>
              <a:t>），已知各边的权值，并设每边的权均大于零，以某指定</a:t>
            </a:r>
            <a:r>
              <a:rPr lang="en-US" altLang="zh-CN" sz="2200" dirty="0" err="1" smtClean="0"/>
              <a:t>V</a:t>
            </a:r>
            <a:r>
              <a:rPr lang="en-US" altLang="zh-CN" sz="2200" baseline="-30000" dirty="0" err="1" smtClean="0"/>
              <a:t>0</a:t>
            </a:r>
            <a:r>
              <a:rPr lang="zh-CN" altLang="en-US" sz="2200" dirty="0" smtClean="0"/>
              <a:t>为源点，求从</a:t>
            </a:r>
            <a:r>
              <a:rPr lang="en-US" altLang="zh-CN" sz="2200" dirty="0" err="1" smtClean="0"/>
              <a:t>V</a:t>
            </a:r>
            <a:r>
              <a:rPr lang="en-US" altLang="zh-CN" sz="2200" baseline="-30000" dirty="0" err="1" smtClean="0"/>
              <a:t>0</a:t>
            </a:r>
            <a:r>
              <a:rPr lang="zh-CN" altLang="en-US" sz="2200" dirty="0" smtClean="0"/>
              <a:t>到图的其余各点的最短路径。</a:t>
            </a:r>
          </a:p>
        </p:txBody>
      </p:sp>
    </p:spTree>
    <p:extLst>
      <p:ext uri="{BB962C8B-B14F-4D97-AF65-F5344CB8AC3E}">
        <p14:creationId xmlns:p14="http://schemas.microsoft.com/office/powerpoint/2010/main" val="1789444693"/>
      </p:ext>
    </p:extLst>
  </p:cSld>
  <p:clrMapOvr>
    <a:masterClrMapping/>
  </p:clrMapOvr>
  <p:transition>
    <p:strips dir="l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9555">
                                            <p:txEl>
                                              <p:pRg st="0" end="0"/>
                                            </p:txEl>
                                          </p:spTgt>
                                        </p:tgtEl>
                                        <p:attrNameLst>
                                          <p:attrName>style.visibility</p:attrName>
                                        </p:attrNameLst>
                                      </p:cBhvr>
                                      <p:to>
                                        <p:strVal val="visible"/>
                                      </p:to>
                                    </p:set>
                                    <p:animEffect transition="in" filter="wipe(left)">
                                      <p:cBhvr>
                                        <p:cTn id="7" dur="500"/>
                                        <p:tgtEl>
                                          <p:spTgt spid="27955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79555">
                                            <p:txEl>
                                              <p:pRg st="1" end="1"/>
                                            </p:txEl>
                                          </p:spTgt>
                                        </p:tgtEl>
                                        <p:attrNameLst>
                                          <p:attrName>style.visibility</p:attrName>
                                        </p:attrNameLst>
                                      </p:cBhvr>
                                      <p:to>
                                        <p:strVal val="visible"/>
                                      </p:to>
                                    </p:set>
                                    <p:animEffect transition="in" filter="wipe(left)">
                                      <p:cBhvr>
                                        <p:cTn id="12" dur="500"/>
                                        <p:tgtEl>
                                          <p:spTgt spid="27955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79555">
                                            <p:txEl>
                                              <p:pRg st="2" end="2"/>
                                            </p:txEl>
                                          </p:spTgt>
                                        </p:tgtEl>
                                        <p:attrNameLst>
                                          <p:attrName>style.visibility</p:attrName>
                                        </p:attrNameLst>
                                      </p:cBhvr>
                                      <p:to>
                                        <p:strVal val="visible"/>
                                      </p:to>
                                    </p:set>
                                    <p:animEffect transition="in" filter="wipe(left)">
                                      <p:cBhvr>
                                        <p:cTn id="17" dur="500"/>
                                        <p:tgtEl>
                                          <p:spTgt spid="27955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9555" grpId="0" build="p" autoUpdateAnimBg="0"/>
    </p:bld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Grp="1" noChangeArrowheads="1"/>
          </p:cNvSpPr>
          <p:nvPr>
            <p:ph type="body" idx="1"/>
          </p:nvPr>
        </p:nvSpPr>
        <p:spPr>
          <a:xfrm>
            <a:off x="940446" y="1268760"/>
            <a:ext cx="7746354" cy="5410200"/>
          </a:xfrm>
        </p:spPr>
        <p:txBody>
          <a:bodyPr/>
          <a:lstStyle/>
          <a:p>
            <a:pPr marL="180000" indent="-180000">
              <a:spcBef>
                <a:spcPct val="0"/>
              </a:spcBef>
            </a:pPr>
            <a:r>
              <a:rPr lang="zh-CN" altLang="en-US" sz="2200" dirty="0" smtClean="0">
                <a:latin typeface="宋体" panose="02010600030101010101" pitchFamily="2" charset="-122"/>
              </a:rPr>
              <a:t>求最短路长的算法是</a:t>
            </a:r>
            <a:r>
              <a:rPr lang="en-US" altLang="zh-CN" sz="2200" dirty="0" err="1" smtClean="0"/>
              <a:t>Dijkstra</a:t>
            </a:r>
            <a:r>
              <a:rPr lang="en-US" altLang="zh-CN" sz="2200" dirty="0"/>
              <a:t>(</a:t>
            </a:r>
            <a:r>
              <a:rPr lang="zh-CN" altLang="en-US" sz="2200" dirty="0" smtClean="0"/>
              <a:t>狄克斯特拉</a:t>
            </a:r>
            <a:r>
              <a:rPr lang="en-US" altLang="zh-CN" sz="2200" dirty="0" smtClean="0"/>
              <a:t>)</a:t>
            </a:r>
            <a:r>
              <a:rPr lang="zh-CN" altLang="en-US" sz="2200" dirty="0" smtClean="0">
                <a:latin typeface="宋体" panose="02010600030101010101" pitchFamily="2" charset="-122"/>
              </a:rPr>
              <a:t>于</a:t>
            </a:r>
            <a:r>
              <a:rPr lang="en-US" altLang="zh-CN" sz="2200" dirty="0" smtClean="0">
                <a:latin typeface="宋体" panose="02010600030101010101" pitchFamily="2" charset="-122"/>
              </a:rPr>
              <a:t>1959</a:t>
            </a:r>
            <a:r>
              <a:rPr lang="zh-CN" altLang="en-US" sz="2200" dirty="0" smtClean="0">
                <a:latin typeface="宋体" panose="02010600030101010101" pitchFamily="2" charset="-122"/>
              </a:rPr>
              <a:t>年提出来的，是至今公认的求最短路长的最好算法，称为</a:t>
            </a:r>
            <a:r>
              <a:rPr lang="en-US" altLang="zh-CN" sz="2200" dirty="0" err="1" smtClean="0"/>
              <a:t>Dijkstra</a:t>
            </a:r>
            <a:r>
              <a:rPr lang="zh-CN" altLang="en-US" sz="2200" dirty="0" smtClean="0">
                <a:latin typeface="宋体" panose="02010600030101010101" pitchFamily="2" charset="-122"/>
              </a:rPr>
              <a:t>算法。</a:t>
            </a:r>
            <a:endParaRPr lang="en-US" altLang="zh-CN" sz="2200" dirty="0" smtClean="0">
              <a:latin typeface="宋体" panose="02010600030101010101" pitchFamily="2" charset="-122"/>
            </a:endParaRPr>
          </a:p>
          <a:p>
            <a:pPr marL="180000" indent="-180000">
              <a:spcBef>
                <a:spcPct val="0"/>
              </a:spcBef>
            </a:pPr>
            <a:r>
              <a:rPr lang="en-US" altLang="zh-CN" sz="2200" dirty="0" err="1" smtClean="0"/>
              <a:t>Dijkstra</a:t>
            </a:r>
            <a:r>
              <a:rPr lang="zh-CN" altLang="en-US" sz="2200" dirty="0" smtClean="0"/>
              <a:t>算法</a:t>
            </a:r>
            <a:r>
              <a:rPr lang="zh-CN" altLang="en-US" sz="2200" b="1" dirty="0" smtClean="0"/>
              <a:t>功能</a:t>
            </a:r>
            <a:r>
              <a:rPr lang="en-US" altLang="zh-CN" sz="2200" dirty="0" smtClean="0"/>
              <a:t>: </a:t>
            </a:r>
            <a:r>
              <a:rPr lang="zh-CN" altLang="en-US" sz="2200" dirty="0" smtClean="0"/>
              <a:t>在连通的带权图中</a:t>
            </a:r>
            <a:r>
              <a:rPr lang="en-US" altLang="zh-CN" sz="2200" dirty="0" smtClean="0"/>
              <a:t>, </a:t>
            </a:r>
            <a:r>
              <a:rPr lang="zh-CN" altLang="en-US" sz="2200" dirty="0" smtClean="0"/>
              <a:t>求从</a:t>
            </a:r>
            <a:r>
              <a:rPr lang="en-US" altLang="zh-CN" sz="2200" dirty="0" err="1" smtClean="0"/>
              <a:t>v</a:t>
            </a:r>
            <a:r>
              <a:rPr lang="en-US" altLang="zh-CN" sz="2200" baseline="-25000" dirty="0" err="1" smtClean="0"/>
              <a:t>0</a:t>
            </a:r>
            <a:r>
              <a:rPr lang="zh-CN" altLang="en-US" sz="2200" dirty="0" smtClean="0"/>
              <a:t>到</a:t>
            </a:r>
            <a:r>
              <a:rPr lang="en-US" altLang="zh-CN" sz="2200" dirty="0" smtClean="0"/>
              <a:t>v</a:t>
            </a:r>
            <a:r>
              <a:rPr lang="zh-CN" altLang="en-US" sz="2200" dirty="0" smtClean="0"/>
              <a:t>的最短路的路长。</a:t>
            </a:r>
            <a:endParaRPr lang="en-US" altLang="zh-CN" sz="2200" dirty="0" smtClean="0">
              <a:latin typeface="宋体" panose="02010600030101010101" pitchFamily="2" charset="-122"/>
            </a:endParaRPr>
          </a:p>
          <a:p>
            <a:pPr marL="180000" indent="-180000">
              <a:spcBef>
                <a:spcPct val="0"/>
              </a:spcBef>
            </a:pPr>
            <a:r>
              <a:rPr lang="en-US" altLang="zh-CN" sz="2200" dirty="0" err="1" smtClean="0"/>
              <a:t>Dijkstra</a:t>
            </a:r>
            <a:r>
              <a:rPr lang="zh-CN" altLang="en-US" sz="2200" dirty="0" smtClean="0"/>
              <a:t>算法</a:t>
            </a:r>
            <a:r>
              <a:rPr lang="zh-CN" altLang="en-US" sz="2200" b="1" dirty="0" smtClean="0"/>
              <a:t>基本思想</a:t>
            </a:r>
            <a:r>
              <a:rPr lang="zh-CN" altLang="en-US" sz="2200" dirty="0" smtClean="0"/>
              <a:t>：将图 </a:t>
            </a:r>
            <a:r>
              <a:rPr lang="en-US" altLang="zh-CN" sz="2200" dirty="0" smtClean="0"/>
              <a:t>G </a:t>
            </a:r>
            <a:r>
              <a:rPr lang="zh-CN" altLang="en-US" sz="2200" dirty="0" smtClean="0"/>
              <a:t>中结点集合 </a:t>
            </a:r>
            <a:r>
              <a:rPr lang="en-US" altLang="zh-CN" sz="2200" dirty="0" smtClean="0"/>
              <a:t>V </a:t>
            </a:r>
            <a:r>
              <a:rPr lang="zh-CN" altLang="en-US" sz="2200" dirty="0" smtClean="0"/>
              <a:t>分成两部分，一部分称为具有 </a:t>
            </a:r>
            <a:r>
              <a:rPr lang="en-US" altLang="zh-CN" sz="2200" dirty="0" smtClean="0"/>
              <a:t>P </a:t>
            </a:r>
            <a:r>
              <a:rPr lang="zh-CN" altLang="en-US" sz="2200" dirty="0" smtClean="0"/>
              <a:t>标号的集合，另一部分称为具有 </a:t>
            </a:r>
            <a:r>
              <a:rPr lang="en-US" altLang="zh-CN" sz="2200" dirty="0" smtClean="0"/>
              <a:t>T </a:t>
            </a:r>
            <a:r>
              <a:rPr lang="zh-CN" altLang="en-US" sz="2200" dirty="0" smtClean="0"/>
              <a:t>标号的集合。</a:t>
            </a:r>
            <a:endParaRPr lang="en-US" altLang="zh-CN" sz="2200" dirty="0" smtClean="0"/>
          </a:p>
          <a:p>
            <a:r>
              <a:rPr lang="zh-CN" altLang="en-US" sz="2200" dirty="0" smtClean="0"/>
              <a:t>所谓结点ａ的 </a:t>
            </a:r>
            <a:r>
              <a:rPr lang="en-US" altLang="zh-CN" sz="2200" b="1" dirty="0" smtClean="0"/>
              <a:t>P</a:t>
            </a:r>
            <a:r>
              <a:rPr lang="zh-CN" altLang="en-US" sz="2200" b="1" dirty="0" smtClean="0"/>
              <a:t>标号</a:t>
            </a:r>
            <a:r>
              <a:rPr lang="zh-CN" altLang="en-US" sz="2200" dirty="0" smtClean="0"/>
              <a:t>是指从 </a:t>
            </a:r>
            <a:r>
              <a:rPr lang="en-US" altLang="zh-CN" sz="2200" dirty="0" err="1" smtClean="0"/>
              <a:t>v0</a:t>
            </a:r>
            <a:r>
              <a:rPr lang="en-US" altLang="zh-CN" sz="2200" dirty="0" smtClean="0"/>
              <a:t> </a:t>
            </a:r>
            <a:r>
              <a:rPr lang="zh-CN" altLang="en-US" sz="2200" dirty="0" smtClean="0"/>
              <a:t>到ａ的最短路的路长，而结点ｂ的</a:t>
            </a:r>
            <a:r>
              <a:rPr lang="zh-CN" altLang="en-US" sz="2200" b="1" dirty="0"/>
              <a:t>Ｔ标号</a:t>
            </a:r>
            <a:r>
              <a:rPr lang="zh-CN" altLang="en-US" sz="2200" dirty="0" smtClean="0"/>
              <a:t>是指从 </a:t>
            </a:r>
            <a:r>
              <a:rPr lang="en-US" altLang="zh-CN" sz="2200" dirty="0" err="1" smtClean="0"/>
              <a:t>v0</a:t>
            </a:r>
            <a:r>
              <a:rPr lang="en-US" altLang="zh-CN" sz="2200" dirty="0" smtClean="0"/>
              <a:t> </a:t>
            </a:r>
            <a:r>
              <a:rPr lang="zh-CN" altLang="en-US" sz="2200" dirty="0" smtClean="0"/>
              <a:t>到ｂ的某条路径的长度。</a:t>
            </a:r>
            <a:endParaRPr lang="en-US" altLang="zh-CN" sz="2200" dirty="0" smtClean="0"/>
          </a:p>
          <a:p>
            <a:r>
              <a:rPr lang="en-US" altLang="zh-CN" sz="2200" dirty="0" err="1" smtClean="0"/>
              <a:t>Dijkstra</a:t>
            </a:r>
            <a:r>
              <a:rPr lang="zh-CN" altLang="en-US" sz="2200" dirty="0" smtClean="0"/>
              <a:t>算法中首先将 </a:t>
            </a:r>
            <a:r>
              <a:rPr lang="en-US" altLang="zh-CN" sz="2200" dirty="0" err="1" smtClean="0"/>
              <a:t>v0</a:t>
            </a:r>
            <a:r>
              <a:rPr lang="en-US" altLang="zh-CN" sz="2200" dirty="0" smtClean="0"/>
              <a:t> </a:t>
            </a:r>
            <a:r>
              <a:rPr lang="zh-CN" altLang="en-US" sz="2200" dirty="0" smtClean="0"/>
              <a:t>取为 </a:t>
            </a:r>
            <a:r>
              <a:rPr lang="en-US" altLang="zh-CN" sz="2200" dirty="0" smtClean="0"/>
              <a:t>P </a:t>
            </a:r>
            <a:r>
              <a:rPr lang="zh-CN" altLang="en-US" sz="2200" dirty="0" smtClean="0"/>
              <a:t>标号结点，其余的点均为 </a:t>
            </a:r>
            <a:r>
              <a:rPr lang="en-US" altLang="zh-CN" sz="2200" dirty="0" smtClean="0"/>
              <a:t>T </a:t>
            </a:r>
            <a:r>
              <a:rPr lang="zh-CN" altLang="en-US" sz="2200" dirty="0" smtClean="0"/>
              <a:t>标号结点，然后逐步地将具有 </a:t>
            </a:r>
            <a:r>
              <a:rPr lang="en-US" altLang="zh-CN" sz="2200" dirty="0" smtClean="0"/>
              <a:t>T </a:t>
            </a:r>
            <a:r>
              <a:rPr lang="zh-CN" altLang="en-US" sz="2200" dirty="0" smtClean="0"/>
              <a:t>标号的结点改为 </a:t>
            </a:r>
            <a:r>
              <a:rPr lang="en-US" altLang="zh-CN" sz="2200" dirty="0" smtClean="0"/>
              <a:t>P </a:t>
            </a:r>
            <a:r>
              <a:rPr lang="zh-CN" altLang="en-US" sz="2200" dirty="0" smtClean="0"/>
              <a:t>标号结点，当结点 </a:t>
            </a:r>
            <a:r>
              <a:rPr lang="en-US" altLang="zh-CN" sz="2200" dirty="0" smtClean="0"/>
              <a:t>v </a:t>
            </a:r>
            <a:r>
              <a:rPr lang="zh-CN" altLang="en-US" sz="2200" dirty="0" smtClean="0"/>
              <a:t>也被改为 </a:t>
            </a:r>
            <a:r>
              <a:rPr lang="en-US" altLang="zh-CN" sz="2200" dirty="0" smtClean="0"/>
              <a:t>P </a:t>
            </a:r>
            <a:r>
              <a:rPr lang="zh-CN" altLang="en-US" sz="2200" dirty="0" smtClean="0"/>
              <a:t>标号时，就找到了从 </a:t>
            </a:r>
            <a:r>
              <a:rPr lang="en-US" altLang="zh-CN" sz="2200" dirty="0" err="1" smtClean="0"/>
              <a:t>v0</a:t>
            </a:r>
            <a:r>
              <a:rPr lang="en-US" altLang="zh-CN" sz="2200" dirty="0" smtClean="0"/>
              <a:t> </a:t>
            </a:r>
            <a:r>
              <a:rPr lang="zh-CN" altLang="en-US" sz="2200" dirty="0" smtClean="0"/>
              <a:t>到</a:t>
            </a:r>
            <a:r>
              <a:rPr lang="en-US" altLang="zh-CN" sz="2200" dirty="0" smtClean="0"/>
              <a:t>v </a:t>
            </a:r>
            <a:r>
              <a:rPr lang="zh-CN" altLang="en-US" sz="2200" dirty="0" smtClean="0"/>
              <a:t>的最短路径的长度。</a:t>
            </a:r>
          </a:p>
          <a:p>
            <a:pPr marL="180000" indent="-180000">
              <a:lnSpc>
                <a:spcPct val="120000"/>
              </a:lnSpc>
              <a:spcBef>
                <a:spcPct val="0"/>
              </a:spcBef>
            </a:pPr>
            <a:endParaRPr lang="en-US" altLang="zh-CN" sz="2200" dirty="0" smtClean="0"/>
          </a:p>
          <a:p>
            <a:pPr marL="180000" indent="-180000" algn="just"/>
            <a:endParaRPr lang="zh-CN" altLang="en-US" sz="2200" dirty="0" smtClean="0"/>
          </a:p>
        </p:txBody>
      </p:sp>
      <p:sp>
        <p:nvSpPr>
          <p:cNvPr id="4" name="Rectangle 2"/>
          <p:cNvSpPr>
            <a:spLocks noGrp="1" noChangeArrowheads="1"/>
          </p:cNvSpPr>
          <p:nvPr>
            <p:ph type="title"/>
          </p:nvPr>
        </p:nvSpPr>
        <p:spPr>
          <a:xfrm>
            <a:off x="914400" y="404664"/>
            <a:ext cx="7772400" cy="762000"/>
          </a:xfrm>
        </p:spPr>
        <p:txBody>
          <a:bodyPr/>
          <a:lstStyle/>
          <a:p>
            <a:r>
              <a:rPr lang="en-US" altLang="zh-CN" dirty="0" smtClean="0">
                <a:solidFill>
                  <a:srgbClr val="333399"/>
                </a:solidFill>
              </a:rPr>
              <a:t>1.4.</a:t>
            </a:r>
            <a:r>
              <a:rPr lang="en-US" altLang="zh-CN" dirty="0"/>
              <a:t>8</a:t>
            </a:r>
            <a:r>
              <a:rPr lang="en-US" altLang="zh-CN" dirty="0" smtClean="0"/>
              <a:t> </a:t>
            </a:r>
            <a:r>
              <a:rPr lang="zh-CN" altLang="en-US" dirty="0" smtClean="0"/>
              <a:t>最短路径</a:t>
            </a:r>
          </a:p>
        </p:txBody>
      </p:sp>
    </p:spTree>
    <p:extLst>
      <p:ext uri="{BB962C8B-B14F-4D97-AF65-F5344CB8AC3E}">
        <p14:creationId xmlns:p14="http://schemas.microsoft.com/office/powerpoint/2010/main" val="2215358921"/>
      </p:ext>
    </p:extLst>
  </p:cSld>
  <p:clrMapOvr>
    <a:masterClrMapping/>
  </p:clrMapOvr>
  <p:timing>
    <p:tnLst>
      <p:par>
        <p:cTn id="1" dur="indefinite" restart="never" nodeType="tmRoot"/>
      </p:par>
    </p:tn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rgbClr val="333399"/>
                </a:solidFill>
              </a:rPr>
              <a:t>1.4.</a:t>
            </a:r>
            <a:r>
              <a:rPr lang="en-US" altLang="zh-CN" dirty="0" smtClean="0"/>
              <a:t>8 </a:t>
            </a:r>
            <a:r>
              <a:rPr lang="zh-CN" altLang="en-US" dirty="0" smtClean="0"/>
              <a:t>最短路径</a:t>
            </a:r>
            <a:endParaRPr lang="zh-CN" altLang="en-US" dirty="0"/>
          </a:p>
        </p:txBody>
      </p:sp>
      <p:sp>
        <p:nvSpPr>
          <p:cNvPr id="3" name="内容占位符 2"/>
          <p:cNvSpPr>
            <a:spLocks noGrp="1"/>
          </p:cNvSpPr>
          <p:nvPr>
            <p:ph idx="1"/>
          </p:nvPr>
        </p:nvSpPr>
        <p:spPr>
          <a:xfrm>
            <a:off x="900113" y="1268413"/>
            <a:ext cx="8064375" cy="4525962"/>
          </a:xfrm>
        </p:spPr>
        <p:txBody>
          <a:bodyPr/>
          <a:lstStyle/>
          <a:p>
            <a:pPr marL="180000" indent="-180000" algn="just"/>
            <a:r>
              <a:rPr lang="en-US" altLang="zh-CN" sz="2400" dirty="0" err="1" smtClean="0"/>
              <a:t>Dijkstra</a:t>
            </a:r>
            <a:r>
              <a:rPr lang="zh-CN" altLang="en-US" sz="2400" dirty="0" smtClean="0"/>
              <a:t>算法</a:t>
            </a:r>
            <a:r>
              <a:rPr lang="zh-CN" altLang="en-US" sz="2400" b="1" dirty="0" smtClean="0"/>
              <a:t>步骤</a:t>
            </a:r>
            <a:r>
              <a:rPr lang="zh-CN" altLang="en-US" sz="2400" dirty="0" smtClean="0"/>
              <a:t>：</a:t>
            </a:r>
          </a:p>
          <a:p>
            <a:pPr marL="180000" indent="-180000">
              <a:buFontTx/>
              <a:buNone/>
            </a:pPr>
            <a:r>
              <a:rPr lang="en-US" altLang="zh-CN" sz="2400" dirty="0" smtClean="0"/>
              <a:t>	</a:t>
            </a:r>
            <a:r>
              <a:rPr lang="zh-CN" altLang="en-US" sz="2400" dirty="0" smtClean="0"/>
              <a:t>（</a:t>
            </a:r>
            <a:r>
              <a:rPr lang="en-US" altLang="zh-CN" sz="2400" dirty="0" smtClean="0"/>
              <a:t>1</a:t>
            </a:r>
            <a:r>
              <a:rPr lang="zh-CN" altLang="en-US" sz="2400" dirty="0" smtClean="0"/>
              <a:t>）初始时，</a:t>
            </a:r>
            <a:r>
              <a:rPr lang="en-US" altLang="zh-CN" sz="2400" dirty="0" smtClean="0"/>
              <a:t>S</a:t>
            </a:r>
            <a:r>
              <a:rPr lang="zh-CN" altLang="en-US" sz="2400" dirty="0" smtClean="0"/>
              <a:t>只包含源点，即</a:t>
            </a:r>
            <a:r>
              <a:rPr lang="en-US" altLang="zh-CN" sz="2400" dirty="0" smtClean="0"/>
              <a:t>S</a:t>
            </a:r>
            <a:r>
              <a:rPr lang="zh-CN" altLang="en-US" sz="2400" dirty="0" smtClean="0"/>
              <a:t>＝</a:t>
            </a:r>
            <a:r>
              <a:rPr lang="en-US" altLang="zh-CN" sz="2400" dirty="0" smtClean="0"/>
              <a:t>v</a:t>
            </a:r>
            <a:r>
              <a:rPr lang="zh-CN" altLang="en-US" sz="2400" dirty="0" smtClean="0"/>
              <a:t>的距离为</a:t>
            </a:r>
            <a:r>
              <a:rPr lang="en-US" altLang="zh-CN" sz="2400" dirty="0" smtClean="0"/>
              <a:t>0</a:t>
            </a:r>
            <a:r>
              <a:rPr lang="zh-CN" altLang="en-US" sz="2400" dirty="0" smtClean="0"/>
              <a:t>。</a:t>
            </a:r>
            <a:r>
              <a:rPr lang="en-US" altLang="zh-CN" sz="2400" dirty="0" smtClean="0"/>
              <a:t>U</a:t>
            </a:r>
            <a:r>
              <a:rPr lang="zh-CN" altLang="en-US" sz="2400" dirty="0" smtClean="0"/>
              <a:t>包含除</a:t>
            </a:r>
            <a:r>
              <a:rPr lang="en-US" altLang="zh-CN" sz="2400" dirty="0" smtClean="0"/>
              <a:t>v</a:t>
            </a:r>
            <a:r>
              <a:rPr lang="zh-CN" altLang="en-US" sz="2400" dirty="0" smtClean="0"/>
              <a:t>外的其他顶点，</a:t>
            </a:r>
            <a:r>
              <a:rPr lang="en-US" altLang="zh-CN" sz="2400" dirty="0" smtClean="0"/>
              <a:t>v</a:t>
            </a:r>
            <a:r>
              <a:rPr lang="zh-CN" altLang="en-US" sz="2400" dirty="0" smtClean="0"/>
              <a:t>到</a:t>
            </a:r>
            <a:r>
              <a:rPr lang="en-US" altLang="zh-CN" sz="2400" dirty="0" smtClean="0"/>
              <a:t>U</a:t>
            </a:r>
            <a:r>
              <a:rPr lang="zh-CN" altLang="en-US" sz="2400" dirty="0" smtClean="0"/>
              <a:t>中顶点</a:t>
            </a:r>
            <a:r>
              <a:rPr lang="en-US" altLang="zh-CN" sz="2400" dirty="0" smtClean="0"/>
              <a:t>u</a:t>
            </a:r>
            <a:r>
              <a:rPr lang="zh-CN" altLang="en-US" sz="2400" dirty="0" smtClean="0"/>
              <a:t>的距离为</a:t>
            </a:r>
            <a:r>
              <a:rPr lang="en-US" altLang="zh-CN" sz="2400" dirty="0" smtClean="0"/>
              <a:t>v</a:t>
            </a:r>
            <a:r>
              <a:rPr lang="zh-CN" altLang="en-US" sz="2400" dirty="0" smtClean="0"/>
              <a:t>到</a:t>
            </a:r>
            <a:r>
              <a:rPr lang="en-US" altLang="zh-CN" sz="2400" dirty="0" smtClean="0"/>
              <a:t>u</a:t>
            </a:r>
            <a:r>
              <a:rPr lang="zh-CN" altLang="en-US" sz="2400" dirty="0" smtClean="0"/>
              <a:t>边上的权。</a:t>
            </a:r>
          </a:p>
          <a:p>
            <a:pPr marL="180000" indent="-180000">
              <a:buFontTx/>
              <a:buNone/>
            </a:pPr>
            <a:r>
              <a:rPr lang="en-US" altLang="zh-CN" sz="2400" dirty="0" smtClean="0"/>
              <a:t>	</a:t>
            </a:r>
            <a:r>
              <a:rPr lang="zh-CN" altLang="en-US" sz="2400" dirty="0" smtClean="0"/>
              <a:t>（</a:t>
            </a:r>
            <a:r>
              <a:rPr lang="en-US" altLang="zh-CN" sz="2400" dirty="0" smtClean="0"/>
              <a:t>2</a:t>
            </a:r>
            <a:r>
              <a:rPr lang="zh-CN" altLang="en-US" sz="2400" dirty="0" smtClean="0"/>
              <a:t>）从</a:t>
            </a:r>
            <a:r>
              <a:rPr lang="en-US" altLang="zh-CN" sz="2400" dirty="0" smtClean="0"/>
              <a:t>U</a:t>
            </a:r>
            <a:r>
              <a:rPr lang="zh-CN" altLang="en-US" sz="2400" dirty="0" smtClean="0"/>
              <a:t>中选取一个距离</a:t>
            </a:r>
            <a:r>
              <a:rPr lang="en-US" altLang="zh-CN" sz="2400" dirty="0" smtClean="0"/>
              <a:t>v</a:t>
            </a:r>
            <a:r>
              <a:rPr lang="zh-CN" altLang="en-US" sz="2400" dirty="0" smtClean="0"/>
              <a:t>最小的顶点</a:t>
            </a:r>
            <a:r>
              <a:rPr lang="en-US" altLang="zh-CN" sz="2400" dirty="0" smtClean="0"/>
              <a:t>k</a:t>
            </a:r>
            <a:r>
              <a:rPr lang="zh-CN" altLang="en-US" sz="2400" dirty="0" smtClean="0"/>
              <a:t>，把</a:t>
            </a:r>
            <a:r>
              <a:rPr lang="en-US" altLang="zh-CN" sz="2400" dirty="0" smtClean="0"/>
              <a:t>k</a:t>
            </a:r>
            <a:r>
              <a:rPr lang="zh-CN" altLang="en-US" sz="2400" dirty="0" smtClean="0"/>
              <a:t>加入</a:t>
            </a:r>
            <a:r>
              <a:rPr lang="en-US" altLang="zh-CN" sz="2400" dirty="0" smtClean="0"/>
              <a:t>S</a:t>
            </a:r>
            <a:r>
              <a:rPr lang="zh-CN" altLang="en-US" sz="2400" dirty="0" smtClean="0"/>
              <a:t>中（该选定的距离就是</a:t>
            </a:r>
            <a:r>
              <a:rPr lang="en-US" altLang="zh-CN" sz="2400" dirty="0" smtClean="0"/>
              <a:t>v</a:t>
            </a:r>
            <a:r>
              <a:rPr lang="zh-CN" altLang="en-US" sz="2400" dirty="0" smtClean="0"/>
              <a:t>到</a:t>
            </a:r>
            <a:r>
              <a:rPr lang="en-US" altLang="zh-CN" sz="2400" dirty="0" smtClean="0"/>
              <a:t>k</a:t>
            </a:r>
            <a:r>
              <a:rPr lang="zh-CN" altLang="en-US" sz="2400" dirty="0" smtClean="0"/>
              <a:t>的最短路径长度）。</a:t>
            </a:r>
          </a:p>
          <a:p>
            <a:pPr marL="180000" indent="-180000">
              <a:buFontTx/>
              <a:buNone/>
            </a:pPr>
            <a:r>
              <a:rPr lang="en-US" altLang="zh-CN" sz="2400" dirty="0" smtClean="0"/>
              <a:t>	</a:t>
            </a:r>
            <a:r>
              <a:rPr lang="zh-CN" altLang="en-US" sz="2400" dirty="0" smtClean="0"/>
              <a:t>（</a:t>
            </a:r>
            <a:r>
              <a:rPr lang="en-US" altLang="zh-CN" sz="2400" dirty="0" smtClean="0"/>
              <a:t>3</a:t>
            </a:r>
            <a:r>
              <a:rPr lang="zh-CN" altLang="en-US" sz="2400" dirty="0" smtClean="0"/>
              <a:t>）以</a:t>
            </a:r>
            <a:r>
              <a:rPr lang="en-US" altLang="zh-CN" sz="2400" dirty="0" smtClean="0"/>
              <a:t>k</a:t>
            </a:r>
            <a:r>
              <a:rPr lang="zh-CN" altLang="en-US" sz="2400" dirty="0" smtClean="0"/>
              <a:t>为新考虑的中间点，修改</a:t>
            </a:r>
            <a:r>
              <a:rPr lang="en-US" altLang="zh-CN" sz="2400" dirty="0" smtClean="0"/>
              <a:t>U</a:t>
            </a:r>
            <a:r>
              <a:rPr lang="zh-CN" altLang="en-US" sz="2400" dirty="0" smtClean="0"/>
              <a:t>中各顶点的距离；若从源点</a:t>
            </a:r>
            <a:r>
              <a:rPr lang="en-US" altLang="zh-CN" sz="2400" dirty="0" smtClean="0"/>
              <a:t>v</a:t>
            </a:r>
            <a:r>
              <a:rPr lang="zh-CN" altLang="en-US" sz="2400" dirty="0" smtClean="0"/>
              <a:t>到顶点</a:t>
            </a:r>
            <a:r>
              <a:rPr lang="en-US" altLang="zh-CN" sz="2400" dirty="0" smtClean="0"/>
              <a:t>u</a:t>
            </a:r>
            <a:r>
              <a:rPr lang="zh-CN" altLang="en-US" sz="2400" dirty="0" smtClean="0"/>
              <a:t>（</a:t>
            </a:r>
            <a:r>
              <a:rPr lang="en-US" altLang="zh-CN" sz="2400" dirty="0" smtClean="0"/>
              <a:t>u ∈ U</a:t>
            </a:r>
            <a:r>
              <a:rPr lang="zh-CN" altLang="en-US" sz="2400" dirty="0" smtClean="0"/>
              <a:t>）的距离（经过顶点</a:t>
            </a:r>
            <a:r>
              <a:rPr lang="en-US" altLang="zh-CN" sz="2400" dirty="0" smtClean="0"/>
              <a:t>k</a:t>
            </a:r>
            <a:r>
              <a:rPr lang="zh-CN" altLang="en-US" sz="2400" dirty="0" smtClean="0"/>
              <a:t>）比原来距离（不经过顶点</a:t>
            </a:r>
            <a:r>
              <a:rPr lang="en-US" altLang="zh-CN" sz="2400" dirty="0" smtClean="0"/>
              <a:t>k</a:t>
            </a:r>
            <a:r>
              <a:rPr lang="zh-CN" altLang="en-US" sz="2400" dirty="0" smtClean="0"/>
              <a:t>）短，则修改顶点</a:t>
            </a:r>
            <a:r>
              <a:rPr lang="en-US" altLang="zh-CN" sz="2400" dirty="0" smtClean="0"/>
              <a:t>u</a:t>
            </a:r>
            <a:r>
              <a:rPr lang="zh-CN" altLang="en-US" sz="2400" dirty="0" smtClean="0"/>
              <a:t>的距离值。</a:t>
            </a:r>
          </a:p>
          <a:p>
            <a:pPr marL="180000" indent="-180000">
              <a:buFontTx/>
              <a:buNone/>
            </a:pPr>
            <a:r>
              <a:rPr lang="en-US" altLang="zh-CN" sz="2400" dirty="0" smtClean="0"/>
              <a:t>	</a:t>
            </a:r>
            <a:r>
              <a:rPr lang="zh-CN" altLang="en-US" sz="2400" dirty="0" smtClean="0"/>
              <a:t>（</a:t>
            </a:r>
            <a:r>
              <a:rPr lang="en-US" altLang="zh-CN" sz="2400" dirty="0" smtClean="0"/>
              <a:t>4</a:t>
            </a:r>
            <a:r>
              <a:rPr lang="zh-CN" altLang="en-US" sz="2400" dirty="0" smtClean="0"/>
              <a:t>）重复步骤（</a:t>
            </a:r>
            <a:r>
              <a:rPr lang="en-US" altLang="zh-CN" sz="2400" dirty="0" smtClean="0"/>
              <a:t>2</a:t>
            </a:r>
            <a:r>
              <a:rPr lang="zh-CN" altLang="en-US" sz="2400" dirty="0" smtClean="0"/>
              <a:t>）和（</a:t>
            </a:r>
            <a:r>
              <a:rPr lang="en-US" altLang="zh-CN" sz="2400" dirty="0" smtClean="0"/>
              <a:t>3</a:t>
            </a:r>
            <a:r>
              <a:rPr lang="zh-CN" altLang="en-US" sz="2400" dirty="0" smtClean="0"/>
              <a:t>）直到所有顶点都包含在</a:t>
            </a:r>
            <a:r>
              <a:rPr lang="en-US" altLang="zh-CN" sz="2400" dirty="0" smtClean="0"/>
              <a:t>S</a:t>
            </a:r>
            <a:r>
              <a:rPr lang="zh-CN" altLang="en-US" sz="2400" dirty="0" smtClean="0"/>
              <a:t>中。</a:t>
            </a:r>
          </a:p>
          <a:p>
            <a:endParaRPr lang="zh-CN" altLang="en-US" sz="2400" dirty="0"/>
          </a:p>
        </p:txBody>
      </p:sp>
      <p:sp>
        <p:nvSpPr>
          <p:cNvPr id="4" name="页脚占位符 3"/>
          <p:cNvSpPr>
            <a:spLocks noGrp="1"/>
          </p:cNvSpPr>
          <p:nvPr>
            <p:ph type="ftr" sz="quarter" idx="10"/>
          </p:nvPr>
        </p:nvSpPr>
        <p:spPr/>
        <p:txBody>
          <a:bodyPr/>
          <a:lstStyle/>
          <a:p>
            <a:pPr>
              <a:defRPr/>
            </a:pPr>
            <a:r>
              <a:rPr lang="en-US" altLang="zh-CN" smtClean="0"/>
              <a:t>Algorithms Design Techniques and Analysis</a:t>
            </a:r>
            <a:endParaRPr lang="en-US" altLang="zh-CN"/>
          </a:p>
        </p:txBody>
      </p:sp>
    </p:spTree>
    <p:extLst>
      <p:ext uri="{BB962C8B-B14F-4D97-AF65-F5344CB8AC3E}">
        <p14:creationId xmlns:p14="http://schemas.microsoft.com/office/powerpoint/2010/main" val="3435981442"/>
      </p:ext>
    </p:extLst>
  </p:cSld>
  <p:clrMapOvr>
    <a:masterClrMapping/>
  </p:clrMapOvr>
  <p:timing>
    <p:tnLst>
      <p:par>
        <p:cTn id="1" dur="indefinite" restart="never" nodeType="tmRoot"/>
      </p:par>
    </p:tn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body" idx="1"/>
          </p:nvPr>
        </p:nvSpPr>
        <p:spPr>
          <a:xfrm>
            <a:off x="642938" y="428625"/>
            <a:ext cx="8501062" cy="6429375"/>
          </a:xfrm>
        </p:spPr>
        <p:txBody>
          <a:bodyPr/>
          <a:lstStyle/>
          <a:p>
            <a:pPr algn="just">
              <a:buFontTx/>
              <a:buNone/>
            </a:pPr>
            <a:r>
              <a:rPr lang="en-US" altLang="zh-CN" sz="2400" smtClean="0"/>
              <a:t> </a:t>
            </a:r>
          </a:p>
        </p:txBody>
      </p:sp>
      <p:pic>
        <p:nvPicPr>
          <p:cNvPr id="94211"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8938" y="0"/>
            <a:ext cx="321945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4212"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313" y="1960563"/>
            <a:ext cx="8929687" cy="454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42486093"/>
      </p:ext>
    </p:extLst>
  </p:cSld>
  <p:clrMapOvr>
    <a:masterClrMapping/>
  </p:clrMapOvr>
  <p:timing>
    <p:tnLst>
      <p:par>
        <p:cTn id="1" dur="indefinite" restart="never" nodeType="tmRoot"/>
      </p:par>
    </p:tn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body" idx="1"/>
          </p:nvPr>
        </p:nvSpPr>
        <p:spPr>
          <a:xfrm>
            <a:off x="642938" y="428625"/>
            <a:ext cx="8501062" cy="6429375"/>
          </a:xfrm>
        </p:spPr>
        <p:txBody>
          <a:bodyPr/>
          <a:lstStyle/>
          <a:p>
            <a:pPr algn="just">
              <a:buFontTx/>
              <a:buNone/>
            </a:pPr>
            <a:r>
              <a:rPr lang="en-US" altLang="zh-CN" sz="2400" smtClean="0"/>
              <a:t> </a:t>
            </a:r>
          </a:p>
        </p:txBody>
      </p:sp>
      <p:pic>
        <p:nvPicPr>
          <p:cNvPr id="9523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1813" y="0"/>
            <a:ext cx="321945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523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 y="2000250"/>
            <a:ext cx="9053513" cy="378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93193377"/>
      </p:ext>
    </p:extLst>
  </p:cSld>
  <p:clrMapOvr>
    <a:masterClrMapping/>
  </p:clrMapOvr>
  <p:timing>
    <p:tnLst>
      <p:par>
        <p:cTn id="1" dur="indefinite" restart="never" nodeType="tmRoot"/>
      </p:par>
    </p:tnLst>
  </p:timing>
</p:sld>
</file>

<file path=ppt/theme/theme1.xml><?xml version="1.0" encoding="utf-8"?>
<a:theme xmlns:a="http://schemas.openxmlformats.org/drawingml/2006/main" name="2_template">
  <a:themeElements>
    <a:clrScheme name="1_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template">
      <a:majorFont>
        <a:latin typeface="Garamond"/>
        <a:ea typeface="宋体"/>
        <a:cs typeface=""/>
      </a:majorFont>
      <a:minorFont>
        <a:latin typeface="Times New Roman"/>
        <a:ea typeface="华文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7938"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7938"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1_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templ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templ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templ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templ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templ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templat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templ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templ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templ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templ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templ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374</TotalTime>
  <Words>19905</Words>
  <Application>Microsoft Office PowerPoint</Application>
  <PresentationFormat>全屏显示(4:3)</PresentationFormat>
  <Paragraphs>1991</Paragraphs>
  <Slides>213</Slides>
  <Notes>147</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10</vt:i4>
      </vt:variant>
      <vt:variant>
        <vt:lpstr>幻灯片标题</vt:lpstr>
      </vt:variant>
      <vt:variant>
        <vt:i4>213</vt:i4>
      </vt:variant>
    </vt:vector>
  </HeadingPairs>
  <TitlesOfParts>
    <vt:vector size="241" baseType="lpstr">
      <vt:lpstr>Monotype Sorts</vt:lpstr>
      <vt:lpstr>SymbolMT</vt:lpstr>
      <vt:lpstr>等线</vt:lpstr>
      <vt:lpstr>仿宋_GB2312</vt:lpstr>
      <vt:lpstr>黑体</vt:lpstr>
      <vt:lpstr>华文楷体</vt:lpstr>
      <vt:lpstr>华文行楷</vt:lpstr>
      <vt:lpstr>楷体</vt:lpstr>
      <vt:lpstr>楷体_GB2312</vt:lpstr>
      <vt:lpstr>隶书</vt:lpstr>
      <vt:lpstr>宋体</vt:lpstr>
      <vt:lpstr>Arial</vt:lpstr>
      <vt:lpstr>Garamond</vt:lpstr>
      <vt:lpstr>Symbol</vt:lpstr>
      <vt:lpstr>Tahoma</vt:lpstr>
      <vt:lpstr>Times New Roman</vt:lpstr>
      <vt:lpstr>Wingdings</vt:lpstr>
      <vt:lpstr>2_template</vt:lpstr>
      <vt:lpstr>Equation.3</vt:lpstr>
      <vt:lpstr>公式</vt:lpstr>
      <vt:lpstr>Equation</vt:lpstr>
      <vt:lpstr>Document</vt:lpstr>
      <vt:lpstr>Visio.Drawing.11</vt:lpstr>
      <vt:lpstr>VISIO</vt:lpstr>
      <vt:lpstr>Visio</vt:lpstr>
      <vt:lpstr>Picture2</vt:lpstr>
      <vt:lpstr>位图图像</vt:lpstr>
      <vt:lpstr>文档</vt:lpstr>
      <vt:lpstr>算法设计与分析</vt:lpstr>
      <vt:lpstr>第一章</vt:lpstr>
      <vt:lpstr>主要内容</vt:lpstr>
      <vt:lpstr>主要内容</vt:lpstr>
      <vt:lpstr>1.1.1 算法的一般描述</vt:lpstr>
      <vt:lpstr>1.1.1 算法的一般描述</vt:lpstr>
      <vt:lpstr>1.1.2 算法的基本特性</vt:lpstr>
      <vt:lpstr>1.1.3 算法与计算机程序的关系</vt:lpstr>
      <vt:lpstr>1.1.4 算法与过程的关系</vt:lpstr>
      <vt:lpstr>1.1.5 为什么要进行算法设计</vt:lpstr>
      <vt:lpstr>1.1.6 算法与数据结构的关系</vt:lpstr>
      <vt:lpstr>主要内容</vt:lpstr>
      <vt:lpstr>主要内容</vt:lpstr>
      <vt:lpstr>1.2.1 算法分析的目的</vt:lpstr>
      <vt:lpstr>1.2.2 算法分析的基本方法</vt:lpstr>
      <vt:lpstr>1.2.3 时间复杂度</vt:lpstr>
      <vt:lpstr>1.2.3 时间复杂度——基本操作</vt:lpstr>
      <vt:lpstr>1.2.3 时间复杂度——频度</vt:lpstr>
      <vt:lpstr>1.2.3 时间复杂度——构成</vt:lpstr>
      <vt:lpstr>1.2.3 时间复杂度——构成</vt:lpstr>
      <vt:lpstr>1.2.3 时间复杂度——构成</vt:lpstr>
      <vt:lpstr>1.2.3 时间复杂度——例1：寻找最大元素</vt:lpstr>
      <vt:lpstr>1.2.3 时间复杂度——例1：寻找最大元素</vt:lpstr>
      <vt:lpstr>1.2.3 时间复杂度——  例2：计算 a[0:n-1]中元素的排名 </vt:lpstr>
      <vt:lpstr>1.2.3 时间复杂度——  例2：计算 a[0:n-1] 中元素的排名 </vt:lpstr>
      <vt:lpstr>1.2.3 时间复杂度——  例3：对数组 a[0:n-1] 进行选择排序</vt:lpstr>
      <vt:lpstr>1.2.3 时间复杂度——  例3：对数组 a[0:n-1] 进行选择排序</vt:lpstr>
      <vt:lpstr>1.2.3 时间复杂度——  最好、最坏、平均情况分析</vt:lpstr>
      <vt:lpstr>1.2.3 时间复杂度——  最好、最坏、平均情况分析</vt:lpstr>
      <vt:lpstr>1.2.3 时间复杂度——  例4：顺序查找算法</vt:lpstr>
      <vt:lpstr>1.2.3 时间复杂度——  例4：顺序查找算法</vt:lpstr>
      <vt:lpstr>1.2.3 时间复杂度——渐进表示</vt:lpstr>
      <vt:lpstr>渐进表示——大 O-记号（渐近上界记号）</vt:lpstr>
      <vt:lpstr>渐进表示——大 O-记号（渐近上界记号）</vt:lpstr>
      <vt:lpstr>渐进表示——大 O-记号（渐近上界记号）</vt:lpstr>
      <vt:lpstr>渐进表示——大 O-记号（渐近上界记号）</vt:lpstr>
      <vt:lpstr>渐进表示—— -记号（渐近下界记号）</vt:lpstr>
      <vt:lpstr>渐进表示—— -记号（紧渐近界记号）</vt:lpstr>
      <vt:lpstr>渐进表示—— -记号（紧渐近界记号）</vt:lpstr>
      <vt:lpstr>PowerPoint 演示文稿</vt:lpstr>
      <vt:lpstr>渐进表示—— -记号（例：折半查找）</vt:lpstr>
      <vt:lpstr>渐进表示—— -记号（例：折半查找）</vt:lpstr>
      <vt:lpstr>渐进表示——小o-记号（非紧上界记号）</vt:lpstr>
      <vt:lpstr>渐进表示——小 -记号（非紧下界记号）</vt:lpstr>
      <vt:lpstr>渐近记号在等式和不等式中的意义</vt:lpstr>
      <vt:lpstr>渐近记号的若干性质</vt:lpstr>
      <vt:lpstr>渐近记号的若干性质</vt:lpstr>
      <vt:lpstr>渐近记号的若干性质</vt:lpstr>
      <vt:lpstr>常用阶的比较</vt:lpstr>
      <vt:lpstr>1.2.4 空间复杂度</vt:lpstr>
      <vt:lpstr>1.2.4 空间复杂度</vt:lpstr>
      <vt:lpstr>1.2.4 空间复杂度——程序所需要的空间</vt:lpstr>
      <vt:lpstr>1.2.4 空间复杂度——程序所需要的空间</vt:lpstr>
      <vt:lpstr>1.2.4 空间复杂度——程序所需要的空间</vt:lpstr>
      <vt:lpstr>1.2.4 空间复杂度——程序所需要的空间</vt:lpstr>
      <vt:lpstr>1.2.4 空间复杂度——字节数</vt:lpstr>
      <vt:lpstr>1.2.4 空间复杂度——程序所需要的空间</vt:lpstr>
      <vt:lpstr>1.2.4 空间复杂度——例1  利用应用参数</vt:lpstr>
      <vt:lpstr>1.2.4 空间复杂度——例2   顺序查找</vt:lpstr>
      <vt:lpstr>1.2.4 空间复杂度——例2   顺序查找</vt:lpstr>
      <vt:lpstr>1.2.5 最优算法</vt:lpstr>
      <vt:lpstr>1.2.6 算法正确性证明方法</vt:lpstr>
      <vt:lpstr>1.2.6 算法正确性证明——反证法</vt:lpstr>
      <vt:lpstr>1.2.6 算法正确性证明——反证法</vt:lpstr>
      <vt:lpstr>1.2.6 算法正确性证明——数学归纳法</vt:lpstr>
      <vt:lpstr>1.2.6 算法正确性证明——数学归纳法</vt:lpstr>
      <vt:lpstr>主要内容</vt:lpstr>
      <vt:lpstr>主要内容</vt:lpstr>
      <vt:lpstr>1.3.1 集合、关系、函数</vt:lpstr>
      <vt:lpstr>1.3.1 集合、关系、函数</vt:lpstr>
      <vt:lpstr>1.3.1 集合、关系、函数</vt:lpstr>
      <vt:lpstr>1.3.1 集合、关系、函数</vt:lpstr>
      <vt:lpstr>1.3.1 集合、关系、函数</vt:lpstr>
      <vt:lpstr>1.3.1 集合、关系、函数</vt:lpstr>
      <vt:lpstr>1.3.1 集合、关系、函数</vt:lpstr>
      <vt:lpstr>1.3.1 集合、关系、函数</vt:lpstr>
      <vt:lpstr>1.3.1 集合、关系、函数</vt:lpstr>
      <vt:lpstr>1.3.1 集合、关系、函数</vt:lpstr>
      <vt:lpstr>1.3.1 集合、关系、函数</vt:lpstr>
      <vt:lpstr>1.3.1 集合、关系、函数</vt:lpstr>
      <vt:lpstr>1.3.1 集合、关系、函数</vt:lpstr>
      <vt:lpstr>1.3.1 集合、关系、函数</vt:lpstr>
      <vt:lpstr>1.3.1 集合、关系、函数</vt:lpstr>
      <vt:lpstr>1.3.1 集合、关系、函数</vt:lpstr>
      <vt:lpstr>1.3.1 集合、关系、函数</vt:lpstr>
      <vt:lpstr>1.3.2 证明方法</vt:lpstr>
      <vt:lpstr>1.3.2 证明方法——直接证明</vt:lpstr>
      <vt:lpstr>1.3.2 证明方法——间接证明</vt:lpstr>
      <vt:lpstr>1.3.2 证明方法——间接证明</vt:lpstr>
      <vt:lpstr>1.3.2 证明方法——间接证明</vt:lpstr>
      <vt:lpstr>1.3.2 证明方法——间接证明</vt:lpstr>
      <vt:lpstr>1.3.2 证明方法——间接证明</vt:lpstr>
      <vt:lpstr>1.3.2 证明方法——数学归纳法</vt:lpstr>
      <vt:lpstr>1.3.2 证明方法——数学归纳法</vt:lpstr>
      <vt:lpstr>1.3.3 对数</vt:lpstr>
      <vt:lpstr>1.3.4 底函数、顶函数</vt:lpstr>
      <vt:lpstr>1.3.5 阶乘和二项式系数</vt:lpstr>
      <vt:lpstr>1.3.5 阶乘和二项式系数</vt:lpstr>
      <vt:lpstr>1.3.5 阶乘和二项式系数</vt:lpstr>
      <vt:lpstr>1.3.5 阶乘和二项式系数</vt:lpstr>
      <vt:lpstr>1.3.6 鸽巢原理</vt:lpstr>
      <vt:lpstr>1.3.6 鸽巢原理</vt:lpstr>
      <vt:lpstr>1.3.6 鸽巢原理</vt:lpstr>
      <vt:lpstr>1.3.7 和式</vt:lpstr>
      <vt:lpstr>1.3.7 和式</vt:lpstr>
      <vt:lpstr>1.3.8 递推关系</vt:lpstr>
      <vt:lpstr>1.3.8 递推关系</vt:lpstr>
      <vt:lpstr>1.3.8 递推关系</vt:lpstr>
      <vt:lpstr>1.3.8 递推关系——线性齐次递推式的求解</vt:lpstr>
      <vt:lpstr>1.3.8 递推关系——线性齐次递推式的求解</vt:lpstr>
      <vt:lpstr>1.3.8 递推关系</vt:lpstr>
      <vt:lpstr>1.3.8 递推关系——Fibonacci序列</vt:lpstr>
      <vt:lpstr>1.3.8 递推关系——非齐次递推关系的解</vt:lpstr>
      <vt:lpstr>PowerPoint 演示文稿</vt:lpstr>
      <vt:lpstr>PowerPoint 演示文稿</vt:lpstr>
      <vt:lpstr>1.3.8 递推关系——分治递推关系的解</vt:lpstr>
      <vt:lpstr>1.3.8 递推关系——展开递推式</vt:lpstr>
      <vt:lpstr>1.3.8 递推关系——展开递推式</vt:lpstr>
      <vt:lpstr>1.3.8 递推关系——展开递推式</vt:lpstr>
      <vt:lpstr>1.3.8 递推关系——展开递推式</vt:lpstr>
      <vt:lpstr>1.3.8 递推关系——展开递推式</vt:lpstr>
      <vt:lpstr>1.3.8 递推关系——展开递推式</vt:lpstr>
      <vt:lpstr>1.3.8 递推关系——代入法</vt:lpstr>
      <vt:lpstr>1.3.8 递推关系——代入法</vt:lpstr>
      <vt:lpstr>PowerPoint 演示文稿</vt:lpstr>
      <vt:lpstr>1.3.8 递推关系——代入法</vt:lpstr>
      <vt:lpstr>1.3.8 递推关系——代入法</vt:lpstr>
      <vt:lpstr>1.3.8 递推关系——代入法</vt:lpstr>
      <vt:lpstr>1.3.8 递推关系——更换变元</vt:lpstr>
      <vt:lpstr>1.3.8 递推关系——更换变元</vt:lpstr>
      <vt:lpstr>PowerPoint 演示文稿</vt:lpstr>
      <vt:lpstr>PowerPoint 演示文稿</vt:lpstr>
      <vt:lpstr>主要内容</vt:lpstr>
      <vt:lpstr>本章内容</vt:lpstr>
      <vt:lpstr> 1.4.1 基本概念和术语</vt:lpstr>
      <vt:lpstr> 1.4.1 基本概念和术语</vt:lpstr>
      <vt:lpstr>PowerPoint 演示文稿</vt:lpstr>
      <vt:lpstr>PowerPoint 演示文稿</vt:lpstr>
      <vt:lpstr>PowerPoint 演示文稿</vt:lpstr>
      <vt:lpstr>1.4.3 链表</vt:lpstr>
      <vt:lpstr>PowerPoint 演示文稿</vt:lpstr>
      <vt:lpstr>PowerPoint 演示文稿</vt:lpstr>
      <vt:lpstr>PowerPoint 演示文稿</vt:lpstr>
      <vt:lpstr>PowerPoint 演示文稿</vt:lpstr>
      <vt:lpstr>PowerPoint 演示文稿</vt:lpstr>
      <vt:lpstr>1.4.3 链表</vt:lpstr>
      <vt:lpstr>1.4.3 链表</vt:lpstr>
      <vt:lpstr>1.4.3 链表</vt:lpstr>
      <vt:lpstr>1.4.3 链表</vt:lpstr>
      <vt:lpstr>1.4.3 链表——2个主要操作</vt:lpstr>
      <vt:lpstr>1.4.3 链表——插入</vt:lpstr>
      <vt:lpstr>1.4.3 链表——插入</vt:lpstr>
      <vt:lpstr>1.4.3 链表——删除</vt:lpstr>
      <vt:lpstr>1.4.3 链表——删除</vt:lpstr>
      <vt:lpstr>PowerPoint 演示文稿</vt:lpstr>
      <vt:lpstr>1.4.4 堆栈和队列</vt:lpstr>
      <vt:lpstr>1.4.4 堆栈和队列</vt:lpstr>
      <vt:lpstr>PowerPoint 演示文稿</vt:lpstr>
      <vt:lpstr>1.4.4 堆栈和队列</vt:lpstr>
      <vt:lpstr>1.4.4 堆栈和队列</vt:lpstr>
      <vt:lpstr>1.4.4 堆栈和队列</vt:lpstr>
      <vt:lpstr>1.4.4 堆栈和队列</vt:lpstr>
      <vt:lpstr>1.4.4 堆栈和队列</vt:lpstr>
      <vt:lpstr>1.4.4 堆栈和队列</vt:lpstr>
      <vt:lpstr>1.4.4 堆栈和队列</vt:lpstr>
      <vt:lpstr>1.4.4 堆栈和队列</vt:lpstr>
      <vt:lpstr>1.4.4 堆栈和队列</vt:lpstr>
      <vt:lpstr>1.4.5 图</vt:lpstr>
      <vt:lpstr>1.4.5 图</vt:lpstr>
      <vt:lpstr>1.4.5 图</vt:lpstr>
      <vt:lpstr>1.4.5 图</vt:lpstr>
      <vt:lpstr>1.4.5 图</vt:lpstr>
      <vt:lpstr>1.4.5 图</vt:lpstr>
      <vt:lpstr>1.4.5 图——表示方法</vt:lpstr>
      <vt:lpstr>1.4.5 图——邻接矩阵</vt:lpstr>
      <vt:lpstr> 1.4.5 图——无向图的邻接矩阵</vt:lpstr>
      <vt:lpstr> 1.4.5 图——有向图的邻接矩阵</vt:lpstr>
      <vt:lpstr> 1.4.5 图——邻接矩阵的若干说明</vt:lpstr>
      <vt:lpstr> 1.4.5 图——邻接表</vt:lpstr>
      <vt:lpstr>1.4.5 图——无向图、有向图</vt:lpstr>
      <vt:lpstr>1.4.5 图——无向图的邻接表</vt:lpstr>
      <vt:lpstr>1.4.5 图——有向图的邻接表</vt:lpstr>
      <vt:lpstr>1.4.5 图——邻接表的若干说明</vt:lpstr>
      <vt:lpstr>1.4.5 图——平面图</vt:lpstr>
      <vt:lpstr>1.4.5 图——重要关系</vt:lpstr>
      <vt:lpstr>1.4.6 树、根树、二叉树</vt:lpstr>
      <vt:lpstr>1.4.6 树、根树、二叉树</vt:lpstr>
      <vt:lpstr>1.4.6 树、根树、二叉树</vt:lpstr>
      <vt:lpstr>1.4.6 树、根树、二叉树</vt:lpstr>
      <vt:lpstr>1.4.6 树、根树、二叉树</vt:lpstr>
      <vt:lpstr>1.4.6 树、根树、二叉树</vt:lpstr>
      <vt:lpstr>PowerPoint 演示文稿</vt:lpstr>
      <vt:lpstr>1.4.6 树、根树、二叉树</vt:lpstr>
      <vt:lpstr>1.4.6 树、根树、二叉树</vt:lpstr>
      <vt:lpstr>1.4.6 树、根树、二叉树</vt:lpstr>
      <vt:lpstr>二叉树的顺序存储结构:</vt:lpstr>
      <vt:lpstr>1.4.6 树、根树、二叉树</vt:lpstr>
      <vt:lpstr>1.4.6 树、根树、二叉树</vt:lpstr>
      <vt:lpstr>PowerPoint 演示文稿</vt:lpstr>
      <vt:lpstr>PowerPoint 演示文稿</vt:lpstr>
      <vt:lpstr>PowerPoint 演示文稿</vt:lpstr>
      <vt:lpstr>1.4.7 赫夫曼树及其应用</vt:lpstr>
      <vt:lpstr>PowerPoint 演示文稿</vt:lpstr>
      <vt:lpstr>1.4.7 赫夫曼树及其应用</vt:lpstr>
      <vt:lpstr>PowerPoint 演示文稿</vt:lpstr>
      <vt:lpstr>1.4.7 赫夫曼树及其应用</vt:lpstr>
      <vt:lpstr>1.4.7 赫夫曼树及其应用</vt:lpstr>
      <vt:lpstr>1.4.7 赫夫曼树及其应用</vt:lpstr>
      <vt:lpstr>1.4.8 最短路径</vt:lpstr>
      <vt:lpstr>1.4.8 最短路径</vt:lpstr>
      <vt:lpstr>1.4.8 最短路径</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算法设计与分析</dc:title>
  <dc:creator>空阶</dc:creator>
  <cp:lastModifiedBy>空阶</cp:lastModifiedBy>
  <cp:revision>154</cp:revision>
  <dcterms:created xsi:type="dcterms:W3CDTF">2022-11-18T12:20:19Z</dcterms:created>
  <dcterms:modified xsi:type="dcterms:W3CDTF">2022-11-20T12:06:18Z</dcterms:modified>
</cp:coreProperties>
</file>