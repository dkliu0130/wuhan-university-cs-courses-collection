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6" r:id="rId4"/>
    <p:sldId id="511" r:id="rId6"/>
    <p:sldId id="384" r:id="rId7"/>
    <p:sldId id="318" r:id="rId8"/>
    <p:sldId id="386" r:id="rId9"/>
    <p:sldId id="387" r:id="rId10"/>
    <p:sldId id="388" r:id="rId11"/>
    <p:sldId id="389" r:id="rId12"/>
    <p:sldId id="390"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04" r:id="rId27"/>
    <p:sldId id="405" r:id="rId28"/>
    <p:sldId id="406" r:id="rId29"/>
    <p:sldId id="407" r:id="rId30"/>
    <p:sldId id="408" r:id="rId31"/>
    <p:sldId id="409" r:id="rId32"/>
    <p:sldId id="410" r:id="rId33"/>
    <p:sldId id="411" r:id="rId34"/>
    <p:sldId id="412" r:id="rId35"/>
    <p:sldId id="413" r:id="rId36"/>
    <p:sldId id="414" r:id="rId37"/>
    <p:sldId id="432" r:id="rId38"/>
    <p:sldId id="431" r:id="rId39"/>
    <p:sldId id="433" r:id="rId40"/>
    <p:sldId id="336" r:id="rId41"/>
    <p:sldId id="337" r:id="rId42"/>
    <p:sldId id="338" r:id="rId43"/>
    <p:sldId id="437" r:id="rId44"/>
    <p:sldId id="329" r:id="rId45"/>
    <p:sldId id="326" r:id="rId46"/>
    <p:sldId id="327" r:id="rId47"/>
    <p:sldId id="328" r:id="rId48"/>
    <p:sldId id="261" r:id="rId49"/>
    <p:sldId id="324" r:id="rId50"/>
    <p:sldId id="435" r:id="rId51"/>
    <p:sldId id="456" r:id="rId52"/>
    <p:sldId id="436" r:id="rId53"/>
    <p:sldId id="512" r:id="rId54"/>
    <p:sldId id="438" r:id="rId55"/>
    <p:sldId id="260" r:id="rId56"/>
    <p:sldId id="439" r:id="rId57"/>
    <p:sldId id="440" r:id="rId58"/>
    <p:sldId id="447" r:id="rId59"/>
    <p:sldId id="441" r:id="rId60"/>
    <p:sldId id="430" r:id="rId61"/>
    <p:sldId id="448" r:id="rId62"/>
    <p:sldId id="340" r:id="rId63"/>
    <p:sldId id="341" r:id="rId64"/>
    <p:sldId id="342" r:id="rId65"/>
    <p:sldId id="450" r:id="rId66"/>
    <p:sldId id="449" r:id="rId67"/>
    <p:sldId id="426" r:id="rId68"/>
    <p:sldId id="427" r:id="rId69"/>
    <p:sldId id="442" r:id="rId70"/>
    <p:sldId id="443" r:id="rId71"/>
    <p:sldId id="444" r:id="rId72"/>
    <p:sldId id="445" r:id="rId73"/>
    <p:sldId id="446" r:id="rId74"/>
    <p:sldId id="297" r:id="rId75"/>
    <p:sldId id="298" r:id="rId76"/>
    <p:sldId id="299" r:id="rId77"/>
    <p:sldId id="301" r:id="rId78"/>
    <p:sldId id="302" r:id="rId79"/>
    <p:sldId id="305" r:id="rId80"/>
    <p:sldId id="279" r:id="rId81"/>
    <p:sldId id="280" r:id="rId82"/>
    <p:sldId id="317" r:id="rId83"/>
    <p:sldId id="282" r:id="rId84"/>
    <p:sldId id="281" r:id="rId85"/>
    <p:sldId id="417" r:id="rId86"/>
    <p:sldId id="418" r:id="rId87"/>
    <p:sldId id="320" r:id="rId88"/>
    <p:sldId id="321" r:id="rId89"/>
    <p:sldId id="322" r:id="rId90"/>
    <p:sldId id="419" r:id="rId91"/>
    <p:sldId id="420" r:id="rId92"/>
    <p:sldId id="421" r:id="rId93"/>
    <p:sldId id="422" r:id="rId94"/>
    <p:sldId id="323" r:id="rId95"/>
    <p:sldId id="423" r:id="rId96"/>
    <p:sldId id="429" r:id="rId97"/>
    <p:sldId id="451" r:id="rId98"/>
    <p:sldId id="452" r:id="rId99"/>
    <p:sldId id="454" r:id="rId100"/>
    <p:sldId id="455" r:id="rId101"/>
    <p:sldId id="453" r:id="rId102"/>
  </p:sldIdLst>
  <p:sldSz cx="9144000" cy="6858000" type="screen4x3"/>
  <p:notesSz cx="6858000" cy="9144000"/>
  <p:custDataLst>
    <p:tags r:id="rId106"/>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818"/>
  </p:normalViewPr>
  <p:slideViewPr>
    <p:cSldViewPr showGuides="1">
      <p:cViewPr varScale="1">
        <p:scale>
          <a:sx n="55" d="100"/>
          <a:sy n="55" d="100"/>
        </p:scale>
        <p:origin x="16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6" Type="http://schemas.openxmlformats.org/officeDocument/2006/relationships/tags" Target="tags/tag1.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image" Target="../media/image2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EBCB93EA-6A62-4460-B29B-7155105F2482}"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7171" name="Rectangle 2"/>
          <p:cNvSpPr>
            <a:spLocks noGrp="1" noRot="1" noChangeAspect="1" noTextEdit="1"/>
          </p:cNvSpPr>
          <p:nvPr>
            <p:ph type="sldImg"/>
          </p:nvPr>
        </p:nvSpPr>
        <p:spPr/>
      </p:sp>
      <p:sp>
        <p:nvSpPr>
          <p:cNvPr id="717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FB665-101B-46AD-8E4C-5AE93ADC48FB}" type="slidenum">
              <a:rPr lang="en-US" altLang="zh-CN" smtClean="0"/>
            </a:fld>
            <a:endParaRPr lang="en-US" altLang="zh-CN" smtClean="0"/>
          </a:p>
        </p:txBody>
      </p:sp>
      <p:sp>
        <p:nvSpPr>
          <p:cNvPr id="12291" name="Rectangle 2"/>
          <p:cNvSpPr>
            <a:spLocks noGrp="1" noRot="1" noChangeAspect="1" noChangeArrowheads="1" noTextEdit="1"/>
          </p:cNvSpPr>
          <p:nvPr>
            <p:ph type="sldImg"/>
          </p:nvPr>
        </p:nvSpPr>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315" name="Rectangle 2"/>
          <p:cNvSpPr>
            <a:spLocks noGrp="1" noRot="1" noChangeAspect="1" noTextEdit="1"/>
          </p:cNvSpPr>
          <p:nvPr>
            <p:ph type="sldImg"/>
          </p:nvPr>
        </p:nvSpPr>
        <p:spPr/>
      </p:sp>
      <p:sp>
        <p:nvSpPr>
          <p:cNvPr id="1331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6387" name="Rectangle 2"/>
          <p:cNvSpPr>
            <a:spLocks noGrp="1" noRot="1" noChangeAspect="1" noTextEdit="1"/>
          </p:cNvSpPr>
          <p:nvPr>
            <p:ph type="sldImg"/>
          </p:nvPr>
        </p:nvSpPr>
        <p:spPr/>
      </p:sp>
      <p:sp>
        <p:nvSpPr>
          <p:cNvPr id="163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8435" name="Rectangle 2"/>
          <p:cNvSpPr>
            <a:spLocks noGrp="1" noRot="1" noChangeAspect="1" noTextEdit="1"/>
          </p:cNvSpPr>
          <p:nvPr>
            <p:ph type="sldImg"/>
          </p:nvPr>
        </p:nvSpPr>
        <p:spPr/>
      </p:sp>
      <p:sp>
        <p:nvSpPr>
          <p:cNvPr id="184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0483" name="Rectangle 2"/>
          <p:cNvSpPr>
            <a:spLocks noGrp="1" noRot="1" noChangeAspect="1" noTextEdit="1"/>
          </p:cNvSpPr>
          <p:nvPr>
            <p:ph type="sldImg"/>
          </p:nvPr>
        </p:nvSpPr>
        <p:spPr/>
      </p:sp>
      <p:sp>
        <p:nvSpPr>
          <p:cNvPr id="20484" name="Rectangle 3"/>
          <p:cNvSpPr>
            <a:spLocks noGrp="1"/>
          </p:cNvSpPr>
          <p:nvPr>
            <p:ph type="body"/>
          </p:nvPr>
        </p:nvSpPr>
        <p:spPr/>
        <p:txBody>
          <a:bodyPr wrap="square" lIns="91440" tIns="45720" rIns="91440" bIns="45720" anchor="t" anchorCtr="0"/>
          <a:lstStyle/>
          <a:p>
            <a:pPr lvl="0" eaLnBrk="1" hangingPunct="1"/>
            <a:r>
              <a:rPr lang="zh-CN" altLang="en-US" dirty="0"/>
              <a:t>每个点</a:t>
            </a:r>
            <a:r>
              <a:rPr lang="en-US" altLang="zh-CN" dirty="0"/>
              <a:t>v</a:t>
            </a:r>
            <a:r>
              <a:rPr lang="zh-CN" altLang="en-US" dirty="0"/>
              <a:t>创建一个</a:t>
            </a:r>
            <a:r>
              <a:rPr lang="en-US" altLang="zh-CN" dirty="0"/>
              <a:t>makeset</a:t>
            </a:r>
            <a:endParaRPr lang="en-US" altLang="zh-CN" dirty="0"/>
          </a:p>
          <a:p>
            <a:pPr lvl="0" eaLnBrk="1" hangingPunct="1"/>
            <a:r>
              <a:rPr lang="en-US" altLang="zh-CN" dirty="0"/>
              <a:t>While</a:t>
            </a:r>
            <a:r>
              <a:rPr lang="zh-CN" altLang="en-US" dirty="0"/>
              <a:t>循环中，对每条边的两个节点进行检查，</a:t>
            </a:r>
            <a:endParaRPr lang="en-US" altLang="zh-CN" dirty="0"/>
          </a:p>
          <a:p>
            <a:pPr lvl="0" eaLnBrk="1" hangingPunct="1"/>
            <a:r>
              <a:rPr lang="zh-CN" altLang="en-US" dirty="0"/>
              <a:t>如果</a:t>
            </a:r>
            <a:r>
              <a:rPr lang="en-US" altLang="zh-CN" dirty="0">
                <a:sym typeface="Symbol" panose="05050102010706020507" pitchFamily="18" charset="2"/>
              </a:rPr>
              <a:t>FIND(x) ==FIND(y)</a:t>
            </a:r>
            <a:r>
              <a:rPr lang="zh-CN" altLang="en-US" dirty="0">
                <a:sym typeface="Symbol" panose="05050102010706020507" pitchFamily="18" charset="2"/>
              </a:rPr>
              <a:t>，表示</a:t>
            </a:r>
            <a:r>
              <a:rPr lang="zh-CN" altLang="en-US" dirty="0"/>
              <a:t>在同一颗树中，也就是说，树中已经有了这条边，或者会构成回路，所以不能加入。</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2531" name="Rectangle 2"/>
          <p:cNvSpPr>
            <a:spLocks noGrp="1" noRot="1" noChangeAspect="1" noTextEdit="1"/>
          </p:cNvSpPr>
          <p:nvPr>
            <p:ph type="sldImg"/>
          </p:nvPr>
        </p:nvSpPr>
        <p:spPr/>
      </p:sp>
      <p:sp>
        <p:nvSpPr>
          <p:cNvPr id="225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4579" name="Rectangle 2"/>
          <p:cNvSpPr>
            <a:spLocks noGrp="1" noRot="1" noChangeAspect="1" noTextEdit="1"/>
          </p:cNvSpPr>
          <p:nvPr>
            <p:ph type="sldImg"/>
          </p:nvPr>
        </p:nvSpPr>
        <p:spPr/>
      </p:sp>
      <p:sp>
        <p:nvSpPr>
          <p:cNvPr id="245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7651" name="Rectangle 2"/>
          <p:cNvSpPr>
            <a:spLocks noGrp="1" noRot="1" noChangeAspect="1" noTextEdit="1"/>
          </p:cNvSpPr>
          <p:nvPr>
            <p:ph type="sldImg"/>
          </p:nvPr>
        </p:nvSpPr>
        <p:spPr/>
      </p:sp>
      <p:sp>
        <p:nvSpPr>
          <p:cNvPr id="2765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29699" name="Rectangle 2"/>
          <p:cNvSpPr>
            <a:spLocks noGrp="1" noRot="1" noChangeAspect="1" noTextEdit="1"/>
          </p:cNvSpPr>
          <p:nvPr>
            <p:ph type="sldImg"/>
          </p:nvPr>
        </p:nvSpPr>
        <p:spPr/>
      </p:sp>
      <p:sp>
        <p:nvSpPr>
          <p:cNvPr id="2970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31747" name="Rectangle 2"/>
          <p:cNvSpPr>
            <a:spLocks noGrp="1" noRot="1" noChangeAspect="1" noTextEdit="1"/>
          </p:cNvSpPr>
          <p:nvPr>
            <p:ph type="sldImg"/>
          </p:nvPr>
        </p:nvSpPr>
        <p:spPr/>
      </p:sp>
      <p:sp>
        <p:nvSpPr>
          <p:cNvPr id="31748" name="Rectangle 3"/>
          <p:cNvSpPr>
            <a:spLocks noGrp="1"/>
          </p:cNvSpPr>
          <p:nvPr>
            <p:ph type="body"/>
          </p:nvPr>
        </p:nvSpPr>
        <p:spPr/>
        <p:txBody>
          <a:bodyPr wrap="square" lIns="91440" tIns="45720" rIns="91440" bIns="45720" anchor="t" anchorCtr="0"/>
          <a:lstStyle/>
          <a:p>
            <a:pPr lvl="0" eaLnBrk="1" hangingPunct="1"/>
            <a:r>
              <a:rPr lang="en-US" altLang="zh-CN" dirty="0"/>
              <a:t>N[y]</a:t>
            </a:r>
            <a:r>
              <a:rPr lang="zh-CN" altLang="en-US" dirty="0"/>
              <a:t>存储的是</a:t>
            </a:r>
            <a:r>
              <a:rPr lang="en-US" altLang="zh-CN" dirty="0"/>
              <a:t>y</a:t>
            </a:r>
            <a:r>
              <a:rPr lang="zh-CN" altLang="en-US" dirty="0"/>
              <a:t>点与</a:t>
            </a:r>
            <a:r>
              <a:rPr lang="en-US" altLang="zh-CN" dirty="0"/>
              <a:t>1</a:t>
            </a:r>
            <a:r>
              <a:rPr lang="zh-CN" altLang="en-US" dirty="0"/>
              <a:t>点之间的邻接关系，相邻</a:t>
            </a:r>
            <a:r>
              <a:rPr lang="en-US" altLang="zh-CN" dirty="0"/>
              <a:t>=1</a:t>
            </a:r>
            <a:endParaRPr lang="en-US" altLang="zh-CN" dirty="0"/>
          </a:p>
          <a:p>
            <a:pPr lvl="0" eaLnBrk="1" hangingPunct="1"/>
            <a:r>
              <a:rPr lang="en-US" altLang="zh-CN" dirty="0"/>
              <a:t>C[y]</a:t>
            </a:r>
            <a:r>
              <a:rPr lang="zh-CN" altLang="en-US" dirty="0"/>
              <a:t>存储的是与</a:t>
            </a:r>
            <a:r>
              <a:rPr lang="en-US" altLang="zh-CN" dirty="0"/>
              <a:t>1</a:t>
            </a:r>
            <a:r>
              <a:rPr lang="zh-CN" altLang="en-US" dirty="0"/>
              <a:t>点邻接的</a:t>
            </a:r>
            <a:r>
              <a:rPr lang="en-US" altLang="zh-CN" dirty="0"/>
              <a:t>y</a:t>
            </a:r>
            <a:r>
              <a:rPr lang="zh-CN" altLang="en-US" dirty="0"/>
              <a:t>点的路径长度</a:t>
            </a:r>
            <a:r>
              <a:rPr lang="en-US" altLang="zh-CN" dirty="0"/>
              <a:t>(</a:t>
            </a:r>
            <a:r>
              <a:rPr lang="zh-CN" altLang="en-US" dirty="0"/>
              <a:t>权值</a:t>
            </a:r>
            <a:r>
              <a:rPr lang="en-US" altLang="zh-CN" dirty="0"/>
              <a:t>)</a:t>
            </a:r>
            <a:r>
              <a:rPr lang="zh-CN" altLang="en-US" dirty="0"/>
              <a:t>，每个与</a:t>
            </a:r>
            <a:r>
              <a:rPr lang="en-US" altLang="zh-CN" dirty="0"/>
              <a:t>1</a:t>
            </a:r>
            <a:r>
              <a:rPr lang="zh-CN" altLang="en-US" dirty="0"/>
              <a:t>邻接的点都计算一遍存入</a:t>
            </a:r>
            <a:r>
              <a:rPr lang="en-US" altLang="zh-CN" dirty="0"/>
              <a:t>C[y]</a:t>
            </a:r>
            <a:r>
              <a:rPr lang="zh-CN" altLang="en-US" dirty="0"/>
              <a:t>。</a:t>
            </a:r>
            <a:endParaRPr lang="en-US" altLang="zh-CN" dirty="0"/>
          </a:p>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33795" name="Rectangle 2"/>
          <p:cNvSpPr>
            <a:spLocks noGrp="1" noRot="1" noChangeAspect="1" noTextEdit="1"/>
          </p:cNvSpPr>
          <p:nvPr>
            <p:ph type="sldImg"/>
          </p:nvPr>
        </p:nvSpPr>
        <p:spPr/>
      </p:sp>
      <p:sp>
        <p:nvSpPr>
          <p:cNvPr id="33796" name="Rectangle 3"/>
          <p:cNvSpPr>
            <a:spLocks noGrp="1"/>
          </p:cNvSpPr>
          <p:nvPr>
            <p:ph type="body"/>
          </p:nvPr>
        </p:nvSpPr>
        <p:spPr/>
        <p:txBody>
          <a:bodyPr wrap="square" lIns="91440" tIns="45720" rIns="91440" bIns="45720" anchor="t" anchorCtr="0"/>
          <a:lstStyle/>
          <a:p>
            <a:pPr lvl="0" eaLnBrk="1" hangingPunct="1"/>
            <a:r>
              <a:rPr lang="en-US" altLang="zh-CN" dirty="0"/>
              <a:t>N[w]</a:t>
            </a:r>
            <a:r>
              <a:rPr lang="zh-CN" altLang="en-US" dirty="0"/>
              <a:t>存储的是</a:t>
            </a:r>
            <a:r>
              <a:rPr lang="en-US" altLang="zh-CN" dirty="0"/>
              <a:t>w</a:t>
            </a:r>
            <a:r>
              <a:rPr lang="zh-CN" altLang="en-US" dirty="0"/>
              <a:t>点与前一个点</a:t>
            </a:r>
            <a:r>
              <a:rPr lang="en-US" altLang="zh-CN" dirty="0"/>
              <a:t>y</a:t>
            </a:r>
            <a:r>
              <a:rPr lang="zh-CN" altLang="en-US" dirty="0"/>
              <a:t>之间的邻接关系，用于表示</a:t>
            </a:r>
            <a:r>
              <a:rPr lang="en-US" altLang="zh-CN" dirty="0">
                <a:sym typeface="Symbol" panose="05050102010706020507" pitchFamily="18" charset="2"/>
              </a:rPr>
              <a:t>{y,N[y]}</a:t>
            </a:r>
            <a:r>
              <a:rPr lang="zh-CN" altLang="en-US" dirty="0">
                <a:sym typeface="Symbol" panose="05050102010706020507" pitchFamily="18" charset="2"/>
              </a:rPr>
              <a:t>这条边</a:t>
            </a:r>
            <a:endParaRPr lang="en-US" altLang="zh-CN" dirty="0"/>
          </a:p>
          <a:p>
            <a:pPr lvl="0" eaLnBrk="1" hangingPunct="1"/>
            <a:r>
              <a:rPr lang="en-US" altLang="zh-CN" dirty="0"/>
              <a:t>C[w]</a:t>
            </a:r>
            <a:r>
              <a:rPr lang="zh-CN" altLang="en-US" dirty="0"/>
              <a:t>存储的是与</a:t>
            </a:r>
            <a:r>
              <a:rPr lang="en-US" altLang="zh-CN" dirty="0"/>
              <a:t>y</a:t>
            </a:r>
            <a:r>
              <a:rPr lang="zh-CN" altLang="en-US" dirty="0"/>
              <a:t>点邻接的</a:t>
            </a:r>
            <a:r>
              <a:rPr lang="en-US" altLang="zh-CN" dirty="0"/>
              <a:t>w</a:t>
            </a:r>
            <a:r>
              <a:rPr lang="zh-CN" altLang="en-US" dirty="0"/>
              <a:t>点的路径长度</a:t>
            </a:r>
            <a:r>
              <a:rPr lang="en-US" altLang="zh-CN" dirty="0"/>
              <a:t>(</a:t>
            </a:r>
            <a:r>
              <a:rPr lang="zh-CN" altLang="en-US" dirty="0"/>
              <a:t>权值</a:t>
            </a:r>
            <a:r>
              <a:rPr lang="en-US" altLang="zh-CN" dirty="0"/>
              <a:t>)</a:t>
            </a:r>
            <a:r>
              <a:rPr lang="zh-CN" altLang="en-US" dirty="0"/>
              <a:t>，每个与</a:t>
            </a:r>
            <a:r>
              <a:rPr lang="en-US" altLang="zh-CN" dirty="0"/>
              <a:t>y</a:t>
            </a:r>
            <a:r>
              <a:rPr lang="zh-CN" altLang="en-US" dirty="0"/>
              <a:t>邻接的点都计算一遍。</a:t>
            </a:r>
            <a:endParaRPr lang="en-US" altLang="zh-CN" dirty="0"/>
          </a:p>
          <a:p>
            <a:pPr lvl="0" eaLnBrk="1" hangingPunct="1"/>
            <a:r>
              <a:rPr lang="zh-CN" altLang="en-US" dirty="0">
                <a:sym typeface="Wingdings" panose="05000000000000000000" pitchFamily="2" charset="2"/>
              </a:rPr>
              <a:t>令</a:t>
            </a:r>
            <a:r>
              <a:rPr lang="en-US" altLang="zh-CN" dirty="0">
                <a:sym typeface="Wingdings" panose="05000000000000000000" pitchFamily="2" charset="2"/>
              </a:rPr>
              <a:t>y</a:t>
            </a:r>
            <a:r>
              <a:rPr lang="en-US" altLang="zh-CN" dirty="0">
                <a:sym typeface="Symbol" panose="05050102010706020507" pitchFamily="18" charset="2"/>
              </a:rPr>
              <a:t>∈Y  </a:t>
            </a:r>
            <a:r>
              <a:rPr lang="zh-CN" altLang="en-US" dirty="0">
                <a:sym typeface="Symbol" panose="05050102010706020507" pitchFamily="18" charset="2"/>
              </a:rPr>
              <a:t>使得 </a:t>
            </a:r>
            <a:r>
              <a:rPr lang="en-US" altLang="zh-CN" dirty="0">
                <a:sym typeface="Symbol" panose="05050102010706020507" pitchFamily="18" charset="2"/>
              </a:rPr>
              <a:t>C[y] </a:t>
            </a:r>
            <a:r>
              <a:rPr lang="zh-CN" altLang="en-US" dirty="0">
                <a:sym typeface="Symbol" panose="05050102010706020507" pitchFamily="18" charset="2"/>
              </a:rPr>
              <a:t>最小：查询所有</a:t>
            </a:r>
            <a:r>
              <a:rPr lang="en-US" altLang="zh-CN" dirty="0">
                <a:sym typeface="Symbol" panose="05050102010706020507" pitchFamily="18" charset="2"/>
              </a:rPr>
              <a:t>Y</a:t>
            </a:r>
            <a:r>
              <a:rPr lang="zh-CN" altLang="en-US" dirty="0">
                <a:sym typeface="Symbol" panose="05050102010706020507" pitchFamily="18" charset="2"/>
              </a:rPr>
              <a:t>中的</a:t>
            </a:r>
            <a:r>
              <a:rPr lang="en-US" altLang="zh-CN" dirty="0">
                <a:sym typeface="Symbol" panose="05050102010706020507" pitchFamily="18" charset="2"/>
              </a:rPr>
              <a:t>y</a:t>
            </a:r>
            <a:r>
              <a:rPr lang="zh-CN" altLang="en-US" dirty="0">
                <a:sym typeface="Symbol" panose="05050102010706020507" pitchFamily="18" charset="2"/>
              </a:rPr>
              <a:t>点的</a:t>
            </a:r>
            <a:r>
              <a:rPr lang="en-US" altLang="zh-CN" dirty="0">
                <a:sym typeface="Symbol" panose="05050102010706020507" pitchFamily="18" charset="2"/>
              </a:rPr>
              <a:t>C[y]</a:t>
            </a:r>
            <a:r>
              <a:rPr lang="zh-CN" altLang="en-US" dirty="0">
                <a:sym typeface="Symbol" panose="05050102010706020507" pitchFamily="18" charset="2"/>
              </a:rPr>
              <a:t>最小值</a:t>
            </a:r>
            <a:endParaRPr lang="en-US" altLang="zh-CN" dirty="0">
              <a:sym typeface="Symbol" panose="05050102010706020507" pitchFamily="18" charset="2"/>
            </a:endParaRPr>
          </a:p>
          <a:p>
            <a:pPr lvl="0" eaLnBrk="1" hangingPunct="1"/>
            <a:r>
              <a:rPr lang="en-US" altLang="zh-CN" dirty="0">
                <a:sym typeface="Symbol" panose="05050102010706020507" pitchFamily="18" charset="2"/>
              </a:rPr>
              <a:t>14~17</a:t>
            </a:r>
            <a:r>
              <a:rPr lang="zh-CN" altLang="en-US" dirty="0">
                <a:sym typeface="Symbol" panose="05050102010706020507" pitchFamily="18" charset="2"/>
              </a:rPr>
              <a:t>步：将经过</a:t>
            </a:r>
            <a:r>
              <a:rPr lang="en-US" altLang="zh-CN" dirty="0">
                <a:sym typeface="Symbol" panose="05050102010706020507" pitchFamily="18" charset="2"/>
              </a:rPr>
              <a:t>y</a:t>
            </a:r>
            <a:r>
              <a:rPr lang="zh-CN" altLang="en-US" dirty="0">
                <a:sym typeface="Symbol" panose="05050102010706020507" pitchFamily="18" charset="2"/>
              </a:rPr>
              <a:t>点到</a:t>
            </a:r>
            <a:r>
              <a:rPr lang="en-US" altLang="zh-CN" dirty="0">
                <a:sym typeface="Symbol" panose="05050102010706020507" pitchFamily="18" charset="2"/>
              </a:rPr>
              <a:t>w</a:t>
            </a:r>
            <a:r>
              <a:rPr lang="zh-CN" altLang="en-US" dirty="0">
                <a:sym typeface="Symbol" panose="05050102010706020507" pitchFamily="18" charset="2"/>
              </a:rPr>
              <a:t>点的最短距离找到，并更新</a:t>
            </a:r>
            <a:r>
              <a:rPr lang="en-US" altLang="zh-CN" dirty="0">
                <a:sym typeface="Symbol" panose="05050102010706020507" pitchFamily="18" charset="2"/>
              </a:rPr>
              <a:t>N[w</a:t>
            </a:r>
            <a:r>
              <a:rPr lang="en-US" altLang="zh-CN" sz="1100" dirty="0">
                <a:sym typeface="Symbol" panose="05050102010706020507" pitchFamily="18" charset="2"/>
              </a:rPr>
              <a:t>],</a:t>
            </a:r>
            <a:r>
              <a:rPr lang="zh-CN" altLang="en-US" sz="1100" dirty="0">
                <a:sym typeface="Symbol" panose="05050102010706020507" pitchFamily="18" charset="2"/>
              </a:rPr>
              <a:t>和</a:t>
            </a:r>
            <a:r>
              <a:rPr lang="en-US" altLang="zh-CN" sz="1100" dirty="0">
                <a:sym typeface="Symbol" panose="05050102010706020507" pitchFamily="18" charset="2"/>
              </a:rPr>
              <a:t>C[w]</a:t>
            </a:r>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35843" name="Rectangle 2"/>
          <p:cNvSpPr>
            <a:spLocks noGrp="1" noRot="1" noChangeAspect="1" noTextEdit="1"/>
          </p:cNvSpPr>
          <p:nvPr>
            <p:ph type="sldImg"/>
          </p:nvPr>
        </p:nvSpPr>
        <p:spPr/>
      </p:sp>
      <p:sp>
        <p:nvSpPr>
          <p:cNvPr id="358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37891" name="Rectangle 2"/>
          <p:cNvSpPr>
            <a:spLocks noGrp="1" noRot="1" noChangeAspect="1" noTextEdit="1"/>
          </p:cNvSpPr>
          <p:nvPr>
            <p:ph type="sldImg"/>
          </p:nvPr>
        </p:nvSpPr>
        <p:spPr/>
      </p:sp>
      <p:sp>
        <p:nvSpPr>
          <p:cNvPr id="3789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39939" name="Rectangle 2"/>
          <p:cNvSpPr>
            <a:spLocks noGrp="1" noRot="1" noChangeAspect="1" noTextEdit="1"/>
          </p:cNvSpPr>
          <p:nvPr>
            <p:ph type="sldImg"/>
          </p:nvPr>
        </p:nvSpPr>
        <p:spPr/>
      </p:sp>
      <p:sp>
        <p:nvSpPr>
          <p:cNvPr id="3994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41987" name="Rectangle 2"/>
          <p:cNvSpPr>
            <a:spLocks noGrp="1" noRot="1" noChangeAspect="1" noTextEdit="1"/>
          </p:cNvSpPr>
          <p:nvPr>
            <p:ph type="sldImg"/>
          </p:nvPr>
        </p:nvSpPr>
        <p:spPr/>
      </p:sp>
      <p:sp>
        <p:nvSpPr>
          <p:cNvPr id="419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44035" name="Rectangle 2"/>
          <p:cNvSpPr>
            <a:spLocks noGrp="1" noRot="1" noChangeAspect="1" noTextEdit="1"/>
          </p:cNvSpPr>
          <p:nvPr>
            <p:ph type="sldImg"/>
          </p:nvPr>
        </p:nvSpPr>
        <p:spPr/>
      </p:sp>
      <p:sp>
        <p:nvSpPr>
          <p:cNvPr id="440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46083" name="Rectangle 2"/>
          <p:cNvSpPr>
            <a:spLocks noGrp="1" noRot="1" noChangeAspect="1" noTextEdit="1"/>
          </p:cNvSpPr>
          <p:nvPr>
            <p:ph type="sldImg"/>
          </p:nvPr>
        </p:nvSpPr>
        <p:spPr/>
      </p:sp>
      <p:sp>
        <p:nvSpPr>
          <p:cNvPr id="4608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48131" name="Rectangle 2"/>
          <p:cNvSpPr>
            <a:spLocks noGrp="1" noRot="1" noChangeAspect="1" noTextEdit="1"/>
          </p:cNvSpPr>
          <p:nvPr>
            <p:ph type="sldImg"/>
          </p:nvPr>
        </p:nvSpPr>
        <p:spPr/>
      </p:sp>
      <p:sp>
        <p:nvSpPr>
          <p:cNvPr id="481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50179" name="Rectangle 2"/>
          <p:cNvSpPr>
            <a:spLocks noGrp="1" noRot="1" noChangeAspect="1" noTextEdit="1"/>
          </p:cNvSpPr>
          <p:nvPr>
            <p:ph type="sldImg"/>
          </p:nvPr>
        </p:nvSpPr>
        <p:spPr/>
      </p:sp>
      <p:sp>
        <p:nvSpPr>
          <p:cNvPr id="50180" name="Rectangle 3"/>
          <p:cNvSpPr>
            <a:spLocks noGrp="1"/>
          </p:cNvSpPr>
          <p:nvPr>
            <p:ph type="body"/>
          </p:nvPr>
        </p:nvSpPr>
        <p:spPr/>
        <p:txBody>
          <a:bodyPr wrap="square" lIns="91440" tIns="45720" rIns="91440" bIns="45720" anchor="t" anchorCtr="0"/>
          <a:lstStyle/>
          <a:p>
            <a:pPr lvl="0" eaLnBrk="1" hangingPunct="1"/>
            <a:r>
              <a:rPr lang="en-US" altLang="zh-CN" dirty="0"/>
              <a:t>12</a:t>
            </a:r>
            <a:r>
              <a:rPr lang="zh-CN" altLang="en-US" dirty="0"/>
              <a:t>步，从起始点</a:t>
            </a:r>
            <a:r>
              <a:rPr lang="en-US" altLang="zh-CN" dirty="0"/>
              <a:t>1,</a:t>
            </a:r>
            <a:r>
              <a:rPr lang="zh-CN" altLang="en-US" dirty="0"/>
              <a:t>经过</a:t>
            </a:r>
            <a:r>
              <a:rPr lang="en-US" altLang="zh-CN" dirty="0"/>
              <a:t>y</a:t>
            </a:r>
            <a:r>
              <a:rPr lang="zh-CN" altLang="en-US" dirty="0"/>
              <a:t>点到达</a:t>
            </a:r>
            <a:r>
              <a:rPr lang="en-US" altLang="zh-CN" dirty="0"/>
              <a:t>w</a:t>
            </a:r>
            <a:r>
              <a:rPr lang="zh-CN" altLang="en-US" dirty="0"/>
              <a:t>点的距离</a:t>
            </a:r>
            <a:r>
              <a:rPr lang="en-US" altLang="zh-CN" dirty="0">
                <a:sym typeface="Symbol" panose="05050102010706020507" pitchFamily="18" charset="2"/>
              </a:rPr>
              <a:t>λ[y]+length[y,w]</a:t>
            </a:r>
            <a:r>
              <a:rPr lang="zh-CN" altLang="en-US" dirty="0"/>
              <a:t>，是否比原来的距离</a:t>
            </a:r>
            <a:r>
              <a:rPr lang="en-US" altLang="zh-CN" dirty="0">
                <a:sym typeface="Symbol" panose="05050102010706020507" pitchFamily="18" charset="2"/>
              </a:rPr>
              <a:t>λ[w]</a:t>
            </a:r>
            <a:r>
              <a:rPr lang="zh-CN" altLang="en-US" dirty="0"/>
              <a:t>更小</a:t>
            </a:r>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52227" name="Rectangle 2"/>
          <p:cNvSpPr>
            <a:spLocks noGrp="1" noRot="1" noChangeAspect="1" noTextEdit="1"/>
          </p:cNvSpPr>
          <p:nvPr>
            <p:ph type="sldImg"/>
          </p:nvPr>
        </p:nvSpPr>
        <p:spPr/>
      </p:sp>
      <p:sp>
        <p:nvSpPr>
          <p:cNvPr id="522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54275" name="Rectangle 2"/>
          <p:cNvSpPr>
            <a:spLocks noGrp="1" noRot="1" noChangeAspect="1" noTextEdit="1"/>
          </p:cNvSpPr>
          <p:nvPr>
            <p:ph type="sldImg"/>
          </p:nvPr>
        </p:nvSpPr>
        <p:spPr/>
      </p:sp>
      <p:sp>
        <p:nvSpPr>
          <p:cNvPr id="54276" name="Rectangle 3"/>
          <p:cNvSpPr>
            <a:spLocks noGrp="1"/>
          </p:cNvSpPr>
          <p:nvPr>
            <p:ph type="body"/>
          </p:nvPr>
        </p:nvSpPr>
        <p:spPr/>
        <p:txBody>
          <a:bodyPr wrap="square" lIns="91440" tIns="45720" rIns="91440" bIns="45720" anchor="t" anchorCtr="0"/>
          <a:lstStyle/>
          <a:p>
            <a:pPr lvl="0" eaLnBrk="1" hangingPunct="1"/>
            <a:r>
              <a:rPr lang="zh-CN" altLang="en-US" dirty="0"/>
              <a:t>因为</a:t>
            </a:r>
            <a:r>
              <a:rPr lang="en-US" altLang="zh-CN" dirty="0"/>
              <a:t>Y</a:t>
            </a:r>
            <a:r>
              <a:rPr lang="zh-CN" altLang="en-US" dirty="0"/>
              <a:t>先于</a:t>
            </a:r>
            <a:r>
              <a:rPr lang="en-US" altLang="zh-CN" dirty="0"/>
              <a:t>w</a:t>
            </a:r>
            <a:r>
              <a:rPr lang="zh-CN" altLang="en-US" dirty="0"/>
              <a:t>离开</a:t>
            </a:r>
            <a:r>
              <a:rPr lang="en-US" altLang="zh-CN" dirty="0"/>
              <a:t>Y</a:t>
            </a:r>
            <a:r>
              <a:rPr lang="zh-CN" altLang="en-US" dirty="0"/>
              <a:t>，所以</a:t>
            </a:r>
            <a:r>
              <a:rPr lang="en-US" altLang="zh-CN" dirty="0"/>
              <a:t>λ[y] ≤ λ[w] </a:t>
            </a:r>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56323" name="Rectangle 2"/>
          <p:cNvSpPr>
            <a:spLocks noGrp="1" noRot="1" noChangeAspect="1" noTextEdit="1"/>
          </p:cNvSpPr>
          <p:nvPr>
            <p:ph type="sldImg"/>
          </p:nvPr>
        </p:nvSpPr>
        <p:spPr/>
      </p:sp>
      <p:sp>
        <p:nvSpPr>
          <p:cNvPr id="563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58371" name="Rectangle 2"/>
          <p:cNvSpPr>
            <a:spLocks noGrp="1" noRot="1" noChangeAspect="1" noTextEdit="1"/>
          </p:cNvSpPr>
          <p:nvPr>
            <p:ph type="sldImg"/>
          </p:nvPr>
        </p:nvSpPr>
        <p:spPr/>
      </p:sp>
      <p:sp>
        <p:nvSpPr>
          <p:cNvPr id="5837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60419" name="Rectangle 2"/>
          <p:cNvSpPr>
            <a:spLocks noGrp="1" noRot="1" noChangeAspect="1" noTextEdit="1"/>
          </p:cNvSpPr>
          <p:nvPr>
            <p:ph type="sldImg"/>
          </p:nvPr>
        </p:nvSpPr>
        <p:spPr/>
      </p:sp>
      <p:sp>
        <p:nvSpPr>
          <p:cNvPr id="60420" name="Rectangle 3"/>
          <p:cNvSpPr>
            <a:spLocks noGrp="1"/>
          </p:cNvSpPr>
          <p:nvPr>
            <p:ph type="body"/>
          </p:nvPr>
        </p:nvSpPr>
        <p:spPr/>
        <p:txBody>
          <a:bodyPr wrap="square" lIns="91440" tIns="45720" rIns="91440" bIns="45720" anchor="t" anchorCtr="0"/>
          <a:lstStyle/>
          <a:p>
            <a:pPr lvl="0" eaLnBrk="1" hangingPunct="1"/>
            <a:r>
              <a:rPr lang="en-US" altLang="zh-CN" dirty="0"/>
              <a:t>1</a:t>
            </a:r>
            <a:r>
              <a:rPr lang="zh-CN" altLang="en-US" dirty="0"/>
              <a:t>、</a:t>
            </a:r>
            <a:r>
              <a:rPr lang="en-US" altLang="zh-CN" dirty="0"/>
              <a:t>H</a:t>
            </a:r>
            <a:r>
              <a:rPr lang="zh-CN" altLang="en-US" dirty="0"/>
              <a:t>中存放的是</a:t>
            </a:r>
            <a:r>
              <a:rPr lang="en-US" altLang="zh-CN" dirty="0"/>
              <a:t>Y</a:t>
            </a:r>
            <a:r>
              <a:rPr lang="zh-CN" altLang="en-US" dirty="0"/>
              <a:t>中的点，每次删除一个，表示移除距离最小的点到</a:t>
            </a:r>
            <a:r>
              <a:rPr lang="en-US" altLang="zh-CN" dirty="0"/>
              <a:t>X</a:t>
            </a:r>
            <a:r>
              <a:rPr lang="zh-CN" altLang="en-US" dirty="0"/>
              <a:t>中去；</a:t>
            </a:r>
            <a:endParaRPr lang="en-US" altLang="zh-CN" dirty="0"/>
          </a:p>
          <a:p>
            <a:pPr lvl="0" eaLnBrk="1" hangingPunct="1"/>
            <a:r>
              <a:rPr lang="en-US" altLang="zh-CN" dirty="0"/>
              <a:t>2</a:t>
            </a:r>
            <a:r>
              <a:rPr lang="zh-CN" altLang="en-US" dirty="0"/>
              <a:t>、插入一个新的点：与源点距离是</a:t>
            </a:r>
            <a:r>
              <a:rPr lang="en-US" altLang="zh-CN" dirty="0">
                <a:sym typeface="Symbol" panose="05050102010706020507" pitchFamily="18" charset="2"/>
              </a:rPr>
              <a:t>∞</a:t>
            </a:r>
            <a:r>
              <a:rPr lang="zh-CN" altLang="en-US" dirty="0">
                <a:sym typeface="Symbol" panose="05050102010706020507" pitchFamily="18" charset="2"/>
              </a:rPr>
              <a:t>的点不会插入</a:t>
            </a:r>
            <a:r>
              <a:rPr lang="en-US" altLang="zh-CN" dirty="0">
                <a:sym typeface="Symbol" panose="05050102010706020507" pitchFamily="18" charset="2"/>
              </a:rPr>
              <a:t>H</a:t>
            </a:r>
            <a:r>
              <a:rPr lang="zh-CN" altLang="en-US" dirty="0">
                <a:sym typeface="Symbol" panose="05050102010706020507" pitchFamily="18" charset="2"/>
              </a:rPr>
              <a:t>中，当计算出新的点距离不再是</a:t>
            </a:r>
            <a:r>
              <a:rPr lang="en-US" altLang="zh-CN" dirty="0">
                <a:sym typeface="Symbol" panose="05050102010706020507" pitchFamily="18" charset="2"/>
              </a:rPr>
              <a:t>∞</a:t>
            </a:r>
            <a:r>
              <a:rPr lang="zh-CN" altLang="en-US" dirty="0">
                <a:sym typeface="Symbol" panose="05050102010706020507" pitchFamily="18" charset="2"/>
              </a:rPr>
              <a:t>，则插入</a:t>
            </a:r>
            <a:r>
              <a:rPr lang="en-US" altLang="zh-CN" dirty="0">
                <a:sym typeface="Symbol" panose="05050102010706020507" pitchFamily="18" charset="2"/>
              </a:rPr>
              <a:t>H</a:t>
            </a:r>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62467" name="Rectangle 2"/>
          <p:cNvSpPr>
            <a:spLocks noGrp="1" noRot="1" noChangeAspect="1" noTextEdit="1"/>
          </p:cNvSpPr>
          <p:nvPr>
            <p:ph type="sldImg"/>
          </p:nvPr>
        </p:nvSpPr>
        <p:spPr/>
      </p:sp>
      <p:sp>
        <p:nvSpPr>
          <p:cNvPr id="62468" name="Rectangle 3"/>
          <p:cNvSpPr>
            <a:spLocks noGrp="1"/>
          </p:cNvSpPr>
          <p:nvPr>
            <p:ph type="body"/>
          </p:nvPr>
        </p:nvSpPr>
        <p:spPr/>
        <p:txBody>
          <a:bodyPr wrap="square" lIns="91440" tIns="45720" rIns="91440" bIns="45720" anchor="t" anchorCtr="0"/>
          <a:lstStyle/>
          <a:p>
            <a:pPr lvl="0" eaLnBrk="1" hangingPunct="1"/>
            <a:r>
              <a:rPr lang="zh-CN" altLang="en-US" dirty="0"/>
              <a:t>第</a:t>
            </a:r>
            <a:r>
              <a:rPr lang="en-US" altLang="zh-CN" dirty="0"/>
              <a:t>20</a:t>
            </a:r>
            <a:r>
              <a:rPr lang="zh-CN" altLang="en-US" dirty="0"/>
              <a:t>步：如果</a:t>
            </a:r>
            <a:r>
              <a:rPr lang="en-US" altLang="zh-CN" dirty="0"/>
              <a:t>w</a:t>
            </a:r>
            <a:r>
              <a:rPr lang="zh-CN" altLang="en-US" dirty="0"/>
              <a:t>不在</a:t>
            </a:r>
            <a:r>
              <a:rPr lang="en-US" altLang="zh-CN" dirty="0"/>
              <a:t>H</a:t>
            </a:r>
            <a:r>
              <a:rPr lang="zh-CN" altLang="en-US" dirty="0"/>
              <a:t>中（之前为无穷大），则插入；</a:t>
            </a:r>
            <a:endParaRPr lang="en-US" altLang="zh-CN" dirty="0"/>
          </a:p>
          <a:p>
            <a:pPr lvl="0" eaLnBrk="1" hangingPunct="1"/>
            <a:r>
              <a:rPr lang="zh-CN" altLang="en-US" dirty="0"/>
              <a:t>第</a:t>
            </a:r>
            <a:r>
              <a:rPr lang="en-US" altLang="zh-CN" dirty="0"/>
              <a:t>21</a:t>
            </a:r>
            <a:r>
              <a:rPr lang="zh-CN" altLang="en-US" dirty="0"/>
              <a:t>步：如果</a:t>
            </a:r>
            <a:r>
              <a:rPr lang="en-US" altLang="zh-CN" dirty="0"/>
              <a:t>w</a:t>
            </a:r>
            <a:r>
              <a:rPr lang="zh-CN" altLang="en-US" dirty="0"/>
              <a:t>已经再</a:t>
            </a:r>
            <a:r>
              <a:rPr lang="en-US" altLang="zh-CN" dirty="0"/>
              <a:t>H</a:t>
            </a:r>
            <a:r>
              <a:rPr lang="zh-CN" altLang="en-US" dirty="0"/>
              <a:t>中，则上移操作，因为新的</a:t>
            </a:r>
            <a:r>
              <a:rPr lang="en-US" altLang="zh-CN" dirty="0">
                <a:sym typeface="Symbol" panose="05050102010706020507" pitchFamily="18" charset="2"/>
              </a:rPr>
              <a:t>λ[w]</a:t>
            </a:r>
            <a:r>
              <a:rPr lang="zh-CN" altLang="en-US" dirty="0">
                <a:sym typeface="Symbol" panose="05050102010706020507" pitchFamily="18" charset="2"/>
              </a:rPr>
              <a:t>要比上一次小</a:t>
            </a:r>
            <a:endParaRPr lang="en-US" altLang="zh-CN" dirty="0">
              <a:sym typeface="Symbol" panose="05050102010706020507" pitchFamily="18" charset="2"/>
            </a:endParaRPr>
          </a:p>
          <a:p>
            <a:pPr lvl="0" eaLnBrk="1" hangingPunct="1"/>
            <a:endParaRPr lang="en-US" altLang="zh-CN" dirty="0">
              <a:sym typeface="Symbol" panose="05050102010706020507" pitchFamily="18" charset="2"/>
            </a:endParaRPr>
          </a:p>
          <a:p>
            <a:pPr lvl="0" eaLnBrk="1" hangingPunct="1"/>
            <a:r>
              <a:rPr lang="en-US" altLang="zh-CN" dirty="0"/>
              <a:t>1</a:t>
            </a:r>
            <a:r>
              <a:rPr lang="zh-CN" altLang="en-US" dirty="0"/>
              <a:t>、共有</a:t>
            </a:r>
            <a:r>
              <a:rPr lang="en-US" altLang="zh-CN" dirty="0"/>
              <a:t>n -1</a:t>
            </a:r>
            <a:r>
              <a:rPr lang="zh-CN" altLang="en-US" dirty="0"/>
              <a:t>个</a:t>
            </a:r>
            <a:r>
              <a:rPr lang="en-US" altLang="zh-CN" dirty="0">
                <a:solidFill>
                  <a:srgbClr val="FF3300"/>
                </a:solidFill>
              </a:rPr>
              <a:t>DELETEMIN</a:t>
            </a:r>
            <a:r>
              <a:rPr lang="zh-CN" altLang="en-US" dirty="0"/>
              <a:t>运算：总共在堆里删除</a:t>
            </a:r>
            <a:r>
              <a:rPr lang="en-US" altLang="zh-CN" dirty="0"/>
              <a:t>n-1</a:t>
            </a:r>
            <a:r>
              <a:rPr lang="zh-CN" altLang="en-US" dirty="0"/>
              <a:t>次根节点，</a:t>
            </a:r>
            <a:endParaRPr lang="en-US" altLang="zh-CN" dirty="0"/>
          </a:p>
          <a:p>
            <a:pPr lvl="0" eaLnBrk="1" hangingPunct="1"/>
            <a:r>
              <a:rPr lang="en-US" altLang="zh-CN" dirty="0"/>
              <a:t>2</a:t>
            </a:r>
            <a:r>
              <a:rPr lang="zh-CN" altLang="en-US" dirty="0"/>
              <a:t>、</a:t>
            </a:r>
            <a:r>
              <a:rPr lang="en-US" altLang="zh-CN" dirty="0"/>
              <a:t>n-1 </a:t>
            </a:r>
            <a:r>
              <a:rPr lang="zh-CN" altLang="en-US" dirty="0"/>
              <a:t>个</a:t>
            </a:r>
            <a:r>
              <a:rPr lang="en-US" altLang="zh-CN" dirty="0">
                <a:solidFill>
                  <a:srgbClr val="FF3300"/>
                </a:solidFill>
              </a:rPr>
              <a:t>INSERT</a:t>
            </a:r>
            <a:r>
              <a:rPr lang="en-US" altLang="zh-CN" dirty="0"/>
              <a:t> </a:t>
            </a:r>
            <a:r>
              <a:rPr lang="zh-CN" altLang="en-US" dirty="0"/>
              <a:t>运算：总共在堆里插入</a:t>
            </a:r>
            <a:r>
              <a:rPr lang="en-US" altLang="zh-CN" dirty="0"/>
              <a:t>n-1</a:t>
            </a:r>
            <a:r>
              <a:rPr lang="zh-CN" altLang="en-US" dirty="0"/>
              <a:t>次节点，</a:t>
            </a:r>
            <a:endParaRPr lang="en-US" altLang="zh-CN" dirty="0"/>
          </a:p>
          <a:p>
            <a:pPr lvl="0" eaLnBrk="1" hangingPunct="1"/>
            <a:r>
              <a:rPr lang="en-US" altLang="zh-CN" dirty="0"/>
              <a:t>3</a:t>
            </a:r>
            <a:r>
              <a:rPr lang="zh-CN" altLang="en-US" dirty="0"/>
              <a:t>、最多</a:t>
            </a:r>
            <a:r>
              <a:rPr lang="en-US" altLang="zh-CN" dirty="0"/>
              <a:t>m-n+1 </a:t>
            </a:r>
            <a:r>
              <a:rPr lang="zh-CN" altLang="en-US" dirty="0"/>
              <a:t>个</a:t>
            </a:r>
            <a:r>
              <a:rPr lang="en-US" altLang="zh-CN" dirty="0">
                <a:solidFill>
                  <a:srgbClr val="FF3300"/>
                </a:solidFill>
              </a:rPr>
              <a:t>SHIFTUP</a:t>
            </a:r>
            <a:r>
              <a:rPr lang="en-US" altLang="zh-CN" dirty="0"/>
              <a:t> </a:t>
            </a:r>
            <a:r>
              <a:rPr lang="zh-CN" altLang="en-US" dirty="0"/>
              <a:t>运算：有</a:t>
            </a:r>
            <a:r>
              <a:rPr lang="en-US" altLang="zh-CN" dirty="0"/>
              <a:t>m</a:t>
            </a:r>
            <a:r>
              <a:rPr lang="zh-CN" altLang="en-US" dirty="0"/>
              <a:t>条边，要计算</a:t>
            </a:r>
            <a:r>
              <a:rPr lang="en-US" altLang="zh-CN" dirty="0"/>
              <a:t>m</a:t>
            </a:r>
            <a:r>
              <a:rPr lang="zh-CN" altLang="en-US" dirty="0"/>
              <a:t>次最短路径，并更新最短值，去除插入值的情况，因此会有最多</a:t>
            </a:r>
            <a:r>
              <a:rPr lang="en-US" altLang="zh-CN" dirty="0"/>
              <a:t>m-n+1 </a:t>
            </a:r>
            <a:r>
              <a:rPr lang="zh-CN" altLang="en-US" dirty="0"/>
              <a:t>个</a:t>
            </a:r>
            <a:r>
              <a:rPr lang="en-US" altLang="zh-CN" dirty="0">
                <a:solidFill>
                  <a:srgbClr val="FF3300"/>
                </a:solidFill>
              </a:rPr>
              <a:t>SHIFTUP</a:t>
            </a:r>
            <a:r>
              <a:rPr lang="en-US" altLang="zh-CN" dirty="0"/>
              <a:t> </a:t>
            </a:r>
            <a:r>
              <a:rPr lang="zh-CN" altLang="en-US" dirty="0"/>
              <a:t>运算；</a:t>
            </a:r>
            <a:endParaRPr lang="zh-CN" altLang="zh-CN" dirty="0"/>
          </a:p>
          <a:p>
            <a:pPr lvl="0" eaLnBrk="1" hangingPunct="1"/>
            <a:endParaRPr lang="en-US" altLang="zh-CN" dirty="0">
              <a:sym typeface="Symbol" panose="05050102010706020507" pitchFamily="18" charset="2"/>
            </a:endParaRPr>
          </a:p>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64515" name="Rectangle 2"/>
          <p:cNvSpPr>
            <a:spLocks noGrp="1" noRot="1" noChangeAspect="1" noTextEdit="1"/>
          </p:cNvSpPr>
          <p:nvPr>
            <p:ph type="sldImg"/>
          </p:nvPr>
        </p:nvSpPr>
        <p:spPr/>
      </p:sp>
      <p:sp>
        <p:nvSpPr>
          <p:cNvPr id="64516" name="Rectangle 3"/>
          <p:cNvSpPr>
            <a:spLocks noGrp="1"/>
          </p:cNvSpPr>
          <p:nvPr>
            <p:ph type="body"/>
          </p:nvPr>
        </p:nvSpPr>
        <p:spPr/>
        <p:txBody>
          <a:bodyPr wrap="square" lIns="91440" tIns="45720" rIns="91440" bIns="45720" anchor="t" anchorCtr="0"/>
          <a:lstStyle/>
          <a:p>
            <a:pPr lvl="0" eaLnBrk="1" hangingPunct="1"/>
            <a:r>
              <a:rPr lang="en-US" altLang="zh-CN" dirty="0"/>
              <a:t>1</a:t>
            </a:r>
            <a:r>
              <a:rPr lang="zh-CN" altLang="en-US" dirty="0"/>
              <a:t>、共有</a:t>
            </a:r>
            <a:r>
              <a:rPr lang="en-US" altLang="zh-CN" dirty="0"/>
              <a:t>n -1</a:t>
            </a:r>
            <a:r>
              <a:rPr lang="zh-CN" altLang="en-US" dirty="0"/>
              <a:t>个</a:t>
            </a:r>
            <a:r>
              <a:rPr lang="en-US" altLang="zh-CN" dirty="0">
                <a:solidFill>
                  <a:srgbClr val="FF3300"/>
                </a:solidFill>
              </a:rPr>
              <a:t>DELETEMIN</a:t>
            </a:r>
            <a:r>
              <a:rPr lang="zh-CN" altLang="en-US" dirty="0"/>
              <a:t>运算：总共在堆里删除</a:t>
            </a:r>
            <a:r>
              <a:rPr lang="en-US" altLang="zh-CN" dirty="0"/>
              <a:t>n-1</a:t>
            </a:r>
            <a:r>
              <a:rPr lang="zh-CN" altLang="en-US" dirty="0"/>
              <a:t>次根节点，</a:t>
            </a:r>
            <a:endParaRPr lang="en-US" altLang="zh-CN" dirty="0"/>
          </a:p>
          <a:p>
            <a:pPr lvl="0" eaLnBrk="1" hangingPunct="1"/>
            <a:r>
              <a:rPr lang="en-US" altLang="zh-CN" dirty="0"/>
              <a:t>2</a:t>
            </a:r>
            <a:r>
              <a:rPr lang="zh-CN" altLang="en-US" dirty="0"/>
              <a:t>、</a:t>
            </a:r>
            <a:r>
              <a:rPr lang="en-US" altLang="zh-CN" dirty="0"/>
              <a:t>n-1 </a:t>
            </a:r>
            <a:r>
              <a:rPr lang="zh-CN" altLang="en-US" dirty="0"/>
              <a:t>个</a:t>
            </a:r>
            <a:r>
              <a:rPr lang="en-US" altLang="zh-CN" dirty="0">
                <a:solidFill>
                  <a:srgbClr val="FF3300"/>
                </a:solidFill>
              </a:rPr>
              <a:t>INSERT</a:t>
            </a:r>
            <a:r>
              <a:rPr lang="en-US" altLang="zh-CN" dirty="0"/>
              <a:t> </a:t>
            </a:r>
            <a:r>
              <a:rPr lang="zh-CN" altLang="en-US" dirty="0"/>
              <a:t>运算：总共在堆里插入</a:t>
            </a:r>
            <a:r>
              <a:rPr lang="en-US" altLang="zh-CN" dirty="0"/>
              <a:t>n-1</a:t>
            </a:r>
            <a:r>
              <a:rPr lang="zh-CN" altLang="en-US" dirty="0"/>
              <a:t>次节点，</a:t>
            </a:r>
            <a:endParaRPr lang="en-US" altLang="zh-CN" dirty="0"/>
          </a:p>
          <a:p>
            <a:pPr lvl="0" eaLnBrk="1" hangingPunct="1"/>
            <a:r>
              <a:rPr lang="en-US" altLang="zh-CN" dirty="0"/>
              <a:t>3</a:t>
            </a:r>
            <a:r>
              <a:rPr lang="zh-CN" altLang="en-US" dirty="0"/>
              <a:t>、最多</a:t>
            </a:r>
            <a:r>
              <a:rPr lang="en-US" altLang="zh-CN" dirty="0"/>
              <a:t>m-n+1 </a:t>
            </a:r>
            <a:r>
              <a:rPr lang="zh-CN" altLang="en-US" dirty="0"/>
              <a:t>个</a:t>
            </a:r>
            <a:r>
              <a:rPr lang="en-US" altLang="zh-CN" dirty="0">
                <a:solidFill>
                  <a:srgbClr val="FF3300"/>
                </a:solidFill>
              </a:rPr>
              <a:t>SHIFTUP</a:t>
            </a:r>
            <a:r>
              <a:rPr lang="en-US" altLang="zh-CN" dirty="0"/>
              <a:t> </a:t>
            </a:r>
            <a:r>
              <a:rPr lang="zh-CN" altLang="en-US" dirty="0"/>
              <a:t>运算：有</a:t>
            </a:r>
            <a:r>
              <a:rPr lang="en-US" altLang="zh-CN" dirty="0"/>
              <a:t>m</a:t>
            </a:r>
            <a:r>
              <a:rPr lang="zh-CN" altLang="en-US" dirty="0"/>
              <a:t>条边，要计算</a:t>
            </a:r>
            <a:r>
              <a:rPr lang="en-US" altLang="zh-CN" dirty="0"/>
              <a:t>m</a:t>
            </a:r>
            <a:r>
              <a:rPr lang="zh-CN" altLang="en-US" dirty="0"/>
              <a:t>次最短路径，并更新最短值，去除插入值的情况，因此会有最多</a:t>
            </a:r>
            <a:r>
              <a:rPr lang="en-US" altLang="zh-CN" dirty="0"/>
              <a:t>m-n+1 </a:t>
            </a:r>
            <a:r>
              <a:rPr lang="zh-CN" altLang="en-US" dirty="0"/>
              <a:t>个</a:t>
            </a:r>
            <a:r>
              <a:rPr lang="en-US" altLang="zh-CN" dirty="0">
                <a:solidFill>
                  <a:srgbClr val="FF3300"/>
                </a:solidFill>
              </a:rPr>
              <a:t>SHIFTUP</a:t>
            </a:r>
            <a:r>
              <a:rPr lang="en-US" altLang="zh-CN" dirty="0"/>
              <a:t> </a:t>
            </a:r>
            <a:r>
              <a:rPr lang="zh-CN" altLang="en-US" dirty="0"/>
              <a:t>运算；</a:t>
            </a:r>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73731" name="Rectangle 2"/>
          <p:cNvSpPr>
            <a:spLocks noGrp="1" noRot="1" noChangeAspect="1" noTextEdit="1"/>
          </p:cNvSpPr>
          <p:nvPr>
            <p:ph type="sldImg"/>
          </p:nvPr>
        </p:nvSpPr>
        <p:spPr/>
      </p:sp>
      <p:sp>
        <p:nvSpPr>
          <p:cNvPr id="737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75779" name="Rectangle 2"/>
          <p:cNvSpPr>
            <a:spLocks noGrp="1" noRot="1" noChangeAspect="1" noTextEdit="1"/>
          </p:cNvSpPr>
          <p:nvPr>
            <p:ph type="sldImg"/>
          </p:nvPr>
        </p:nvSpPr>
        <p:spPr/>
      </p:sp>
      <p:sp>
        <p:nvSpPr>
          <p:cNvPr id="757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77827" name="Rectangle 2"/>
          <p:cNvSpPr>
            <a:spLocks noGrp="1" noRot="1" noChangeAspect="1" noTextEdit="1"/>
          </p:cNvSpPr>
          <p:nvPr>
            <p:ph type="sldImg"/>
          </p:nvPr>
        </p:nvSpPr>
        <p:spPr/>
      </p:sp>
      <p:sp>
        <p:nvSpPr>
          <p:cNvPr id="778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79875" name="Rectangle 2"/>
          <p:cNvSpPr>
            <a:spLocks noGrp="1" noRot="1" noChangeAspect="1" noTextEdit="1"/>
          </p:cNvSpPr>
          <p:nvPr>
            <p:ph type="sldImg"/>
          </p:nvPr>
        </p:nvSpPr>
        <p:spPr/>
      </p:sp>
      <p:sp>
        <p:nvSpPr>
          <p:cNvPr id="7987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86019" name="Rectangle 2"/>
          <p:cNvSpPr>
            <a:spLocks noGrp="1" noRot="1" noChangeAspect="1" noTextEdit="1"/>
          </p:cNvSpPr>
          <p:nvPr>
            <p:ph type="sldImg"/>
          </p:nvPr>
        </p:nvSpPr>
        <p:spPr/>
      </p:sp>
      <p:sp>
        <p:nvSpPr>
          <p:cNvPr id="8602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p:nvPr>
        </p:nvSpPr>
        <p:spPr/>
        <p:txBody>
          <a:bodyPr wrap="square" lIns="91440" tIns="45720" rIns="91440" bIns="45720" anchor="t" anchorCtr="0"/>
          <a:lstStyle/>
          <a:p>
            <a:pPr lvl="0"/>
            <a:r>
              <a:rPr lang="en-US" altLang="zh-CN" dirty="0"/>
              <a:t>X[]</a:t>
            </a:r>
            <a:r>
              <a:rPr lang="zh-CN" altLang="en-US" dirty="0"/>
              <a:t>中存放的是每个物品放入背包的比例，如</a:t>
            </a:r>
            <a:r>
              <a:rPr lang="en-US" altLang="zh-CN" dirty="0"/>
              <a:t>1</a:t>
            </a:r>
            <a:r>
              <a:rPr lang="zh-CN" altLang="en-US" dirty="0"/>
              <a:t>表示全放，</a:t>
            </a:r>
            <a:r>
              <a:rPr lang="en-US" altLang="zh-CN" dirty="0"/>
              <a:t>1/2</a:t>
            </a:r>
            <a:r>
              <a:rPr lang="zh-CN" altLang="en-US" dirty="0"/>
              <a:t>表示放该物体的</a:t>
            </a:r>
            <a:r>
              <a:rPr lang="en-US" altLang="zh-CN" dirty="0"/>
              <a:t>1/2.</a:t>
            </a:r>
            <a:endParaRPr lang="zh-CN" altLang="en-US" dirty="0"/>
          </a:p>
        </p:txBody>
      </p:sp>
      <p:sp>
        <p:nvSpPr>
          <p:cNvPr id="880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93187" name="Rectangle 2"/>
          <p:cNvSpPr>
            <a:spLocks noGrp="1" noRot="1" noChangeAspect="1" noTextEdit="1"/>
          </p:cNvSpPr>
          <p:nvPr>
            <p:ph type="sldImg"/>
          </p:nvPr>
        </p:nvSpPr>
        <p:spPr/>
      </p:sp>
      <p:sp>
        <p:nvSpPr>
          <p:cNvPr id="931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95235" name="Rectangle 2"/>
          <p:cNvSpPr>
            <a:spLocks noGrp="1" noRot="1" noChangeAspect="1" noTextEdit="1"/>
          </p:cNvSpPr>
          <p:nvPr>
            <p:ph type="sldImg"/>
          </p:nvPr>
        </p:nvSpPr>
        <p:spPr/>
      </p:sp>
      <p:sp>
        <p:nvSpPr>
          <p:cNvPr id="952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97283" name="Rectangle 2"/>
          <p:cNvSpPr>
            <a:spLocks noGrp="1" noRot="1" noChangeAspect="1" noTextEdit="1"/>
          </p:cNvSpPr>
          <p:nvPr>
            <p:ph type="sldImg"/>
          </p:nvPr>
        </p:nvSpPr>
        <p:spPr/>
      </p:sp>
      <p:sp>
        <p:nvSpPr>
          <p:cNvPr id="9728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99331" name="Rectangle 2"/>
          <p:cNvSpPr>
            <a:spLocks noGrp="1" noRot="1" noChangeAspect="1" noTextEdit="1"/>
          </p:cNvSpPr>
          <p:nvPr>
            <p:ph type="sldImg"/>
          </p:nvPr>
        </p:nvSpPr>
        <p:spPr/>
      </p:sp>
      <p:sp>
        <p:nvSpPr>
          <p:cNvPr id="993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1379" name="Rectangle 2"/>
          <p:cNvSpPr>
            <a:spLocks noGrp="1" noRot="1" noChangeAspect="1" noTextEdit="1"/>
          </p:cNvSpPr>
          <p:nvPr>
            <p:ph type="sldImg"/>
          </p:nvPr>
        </p:nvSpPr>
        <p:spPr/>
      </p:sp>
      <p:sp>
        <p:nvSpPr>
          <p:cNvPr id="1013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1379" name="Rectangle 2"/>
          <p:cNvSpPr>
            <a:spLocks noGrp="1" noRot="1" noChangeAspect="1" noTextEdit="1"/>
          </p:cNvSpPr>
          <p:nvPr>
            <p:ph type="sldImg"/>
          </p:nvPr>
        </p:nvSpPr>
        <p:spPr/>
      </p:sp>
      <p:sp>
        <p:nvSpPr>
          <p:cNvPr id="1013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3427" name="Rectangle 2"/>
          <p:cNvSpPr>
            <a:spLocks noGrp="1" noRot="1" noChangeAspect="1" noTextEdit="1"/>
          </p:cNvSpPr>
          <p:nvPr>
            <p:ph type="sldImg"/>
          </p:nvPr>
        </p:nvSpPr>
        <p:spPr/>
      </p:sp>
      <p:sp>
        <p:nvSpPr>
          <p:cNvPr id="1034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3427" name="Rectangle 2"/>
          <p:cNvSpPr>
            <a:spLocks noGrp="1" noRot="1" noChangeAspect="1" noTextEdit="1"/>
          </p:cNvSpPr>
          <p:nvPr>
            <p:ph type="sldImg"/>
          </p:nvPr>
        </p:nvSpPr>
        <p:spPr/>
      </p:sp>
      <p:sp>
        <p:nvSpPr>
          <p:cNvPr id="1034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3427" name="Rectangle 2"/>
          <p:cNvSpPr>
            <a:spLocks noGrp="1" noRot="1" noChangeAspect="1" noTextEdit="1"/>
          </p:cNvSpPr>
          <p:nvPr>
            <p:ph type="sldImg"/>
          </p:nvPr>
        </p:nvSpPr>
        <p:spPr/>
      </p:sp>
      <p:sp>
        <p:nvSpPr>
          <p:cNvPr id="1034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3427" name="Rectangle 2"/>
          <p:cNvSpPr>
            <a:spLocks noGrp="1" noRot="1" noChangeAspect="1" noTextEdit="1"/>
          </p:cNvSpPr>
          <p:nvPr>
            <p:ph type="sldImg"/>
          </p:nvPr>
        </p:nvSpPr>
        <p:spPr/>
      </p:sp>
      <p:sp>
        <p:nvSpPr>
          <p:cNvPr id="1034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5475" name="Rectangle 2"/>
          <p:cNvSpPr>
            <a:spLocks noGrp="1" noRot="1" noChangeAspect="1" noTextEdit="1"/>
          </p:cNvSpPr>
          <p:nvPr>
            <p:ph type="sldImg"/>
          </p:nvPr>
        </p:nvSpPr>
        <p:spPr/>
      </p:sp>
      <p:sp>
        <p:nvSpPr>
          <p:cNvPr id="10547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09571" name="Rectangle 2"/>
          <p:cNvSpPr>
            <a:spLocks noGrp="1" noRot="1" noChangeAspect="1" noTextEdit="1"/>
          </p:cNvSpPr>
          <p:nvPr>
            <p:ph type="sldImg"/>
          </p:nvPr>
        </p:nvSpPr>
        <p:spPr/>
      </p:sp>
      <p:sp>
        <p:nvSpPr>
          <p:cNvPr id="10957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11619" name="Rectangle 2"/>
          <p:cNvSpPr>
            <a:spLocks noGrp="1" noRot="1" noChangeAspect="1" noTextEdit="1"/>
          </p:cNvSpPr>
          <p:nvPr>
            <p:ph type="sldImg"/>
          </p:nvPr>
        </p:nvSpPr>
        <p:spPr/>
      </p:sp>
      <p:sp>
        <p:nvSpPr>
          <p:cNvPr id="11162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13667" name="Rectangle 2"/>
          <p:cNvSpPr>
            <a:spLocks noGrp="1" noRot="1" noChangeAspect="1" noTextEdit="1"/>
          </p:cNvSpPr>
          <p:nvPr>
            <p:ph type="sldImg"/>
          </p:nvPr>
        </p:nvSpPr>
        <p:spPr/>
      </p:sp>
      <p:sp>
        <p:nvSpPr>
          <p:cNvPr id="11366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15715" name="Rectangle 2"/>
          <p:cNvSpPr>
            <a:spLocks noGrp="1" noRot="1" noChangeAspect="1" noTextEdit="1"/>
          </p:cNvSpPr>
          <p:nvPr>
            <p:ph type="sldImg"/>
          </p:nvPr>
        </p:nvSpPr>
        <p:spPr/>
      </p:sp>
      <p:sp>
        <p:nvSpPr>
          <p:cNvPr id="11571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17763" name="Rectangle 2"/>
          <p:cNvSpPr>
            <a:spLocks noGrp="1" noRot="1" noChangeAspect="1" noTextEdit="1"/>
          </p:cNvSpPr>
          <p:nvPr>
            <p:ph type="sldImg"/>
          </p:nvPr>
        </p:nvSpPr>
        <p:spPr/>
      </p:sp>
      <p:sp>
        <p:nvSpPr>
          <p:cNvPr id="117764" name="Rectangle 3"/>
          <p:cNvSpPr>
            <a:spLocks noGrp="1"/>
          </p:cNvSpPr>
          <p:nvPr>
            <p:ph type="body"/>
          </p:nvPr>
        </p:nvSpPr>
        <p:spPr/>
        <p:txBody>
          <a:bodyPr wrap="square" lIns="91440" tIns="45720" rIns="91440" bIns="45720" anchor="t" anchorCtr="0"/>
          <a:lstStyle/>
          <a:p>
            <a:pPr lvl="0" eaLnBrk="1" hangingPunct="1"/>
            <a:r>
              <a:rPr lang="zh-CN" altLang="en-US" dirty="0"/>
              <a:t>第</a:t>
            </a:r>
            <a:r>
              <a:rPr lang="en-US" altLang="zh-CN" dirty="0"/>
              <a:t>7</a:t>
            </a:r>
            <a:r>
              <a:rPr lang="zh-CN" altLang="en-US" dirty="0"/>
              <a:t>步：生成的新的节点</a:t>
            </a:r>
            <a:r>
              <a:rPr lang="en-US" altLang="zh-CN" dirty="0"/>
              <a:t>v</a:t>
            </a:r>
            <a:r>
              <a:rPr lang="zh-CN" altLang="en-US" dirty="0"/>
              <a:t>，插入到最小堆，作为候选的节点；</a:t>
            </a:r>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19811" name="Rectangle 2"/>
          <p:cNvSpPr>
            <a:spLocks noGrp="1" noRot="1" noChangeAspect="1" noTextEdit="1"/>
          </p:cNvSpPr>
          <p:nvPr>
            <p:ph type="sldImg"/>
          </p:nvPr>
        </p:nvSpPr>
        <p:spPr/>
      </p:sp>
      <p:sp>
        <p:nvSpPr>
          <p:cNvPr id="11981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3074"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3075"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62818"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r>
              <a:rPr lang="zh-CN" altLang="en-US" noProof="1"/>
              <a:t>单击此处编辑母版标题样式</a:t>
            </a:r>
            <a:endParaRPr lang="zh-CN" altLang="en-US" noProof="1"/>
          </a:p>
        </p:txBody>
      </p:sp>
      <p:sp>
        <p:nvSpPr>
          <p:cNvPr id="162819"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r>
              <a:rPr lang="zh-CN" altLang="en-US" noProof="1"/>
              <a:t>单击此处编辑母版副标题样式</a:t>
            </a:r>
            <a:endParaRPr lang="zh-CN" altLang="en-US" noProof="1"/>
          </a:p>
        </p:txBody>
      </p:sp>
      <p:sp>
        <p:nvSpPr>
          <p:cNvPr id="9" name="Rectangle 6"/>
          <p:cNvSpPr>
            <a:spLocks noGrp="1" noChangeArrowheads="1"/>
          </p:cNvSpPr>
          <p:nvPr>
            <p:ph type="ftr" sz="quarter" idx="3"/>
          </p:nvPr>
        </p:nvSpPr>
        <p:spPr bwMode="auto">
          <a:xfrm>
            <a:off x="3492500" y="6381750"/>
            <a:ext cx="3816350" cy="4318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00113" y="1268413"/>
            <a:ext cx="3816350"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868863" y="1268413"/>
            <a:ext cx="3817937" cy="218598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868863" y="3606800"/>
            <a:ext cx="3817937" cy="21875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00113" y="1268413"/>
            <a:ext cx="3816350"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868863" y="1268413"/>
            <a:ext cx="3817937"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4098" name="Picture 4" descr="index_07"/>
          <p:cNvPicPr>
            <a:picLocks noChangeAspect="1"/>
          </p:cNvPicPr>
          <p:nvPr/>
        </p:nvPicPr>
        <p:blipFill>
          <a:blip r:embed="rId3"/>
          <a:stretch>
            <a:fillRect/>
          </a:stretch>
        </p:blipFill>
        <p:spPr>
          <a:xfrm>
            <a:off x="0" y="6381750"/>
            <a:ext cx="8243888" cy="476250"/>
          </a:xfrm>
          <a:prstGeom prst="rect">
            <a:avLst/>
          </a:prstGeom>
          <a:noFill/>
          <a:ln w="9525">
            <a:noFill/>
          </a:ln>
        </p:spPr>
      </p:pic>
      <p:pic>
        <p:nvPicPr>
          <p:cNvPr id="4099" name="Picture 5" descr="200311_3"/>
          <p:cNvPicPr>
            <a:picLocks noChangeAspect="1"/>
          </p:cNvPicPr>
          <p:nvPr/>
        </p:nvPicPr>
        <p:blipFill>
          <a:blip r:embed="rId4"/>
          <a:stretch>
            <a:fillRect/>
          </a:stretch>
        </p:blipFill>
        <p:spPr>
          <a:xfrm>
            <a:off x="7308850" y="6381750"/>
            <a:ext cx="1800225" cy="476250"/>
          </a:xfrm>
          <a:prstGeom prst="rect">
            <a:avLst/>
          </a:prstGeom>
          <a:noFill/>
          <a:ln w="9525">
            <a:noFill/>
          </a:ln>
        </p:spPr>
      </p:pic>
      <p:sp>
        <p:nvSpPr>
          <p:cNvPr id="162818"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r>
              <a:rPr lang="zh-CN" altLang="en-US" noProof="1"/>
              <a:t>单击此处编辑母版标题样式</a:t>
            </a:r>
            <a:endParaRPr lang="zh-CN" altLang="en-US" noProof="1"/>
          </a:p>
        </p:txBody>
      </p:sp>
      <p:sp>
        <p:nvSpPr>
          <p:cNvPr id="162819"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r>
              <a:rPr lang="zh-CN" altLang="en-US" noProof="1"/>
              <a:t>单击此处编辑母版副标题样式</a:t>
            </a:r>
            <a:endParaRPr lang="zh-CN" altLang="en-US" noProof="1"/>
          </a:p>
        </p:txBody>
      </p:sp>
      <p:sp>
        <p:nvSpPr>
          <p:cNvPr id="9" name="Rectangle 6"/>
          <p:cNvSpPr>
            <a:spLocks noGrp="1" noChangeArrowheads="1"/>
          </p:cNvSpPr>
          <p:nvPr>
            <p:ph type="ftr" sz="quarter" idx="3"/>
          </p:nvPr>
        </p:nvSpPr>
        <p:spPr bwMode="auto">
          <a:xfrm>
            <a:off x="3492500" y="6381750"/>
            <a:ext cx="3816350" cy="4318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00113" y="1268413"/>
            <a:ext cx="3816350"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868863" y="1268413"/>
            <a:ext cx="3817937" cy="218598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868863" y="3606800"/>
            <a:ext cx="3817937" cy="21875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00113" y="1268413"/>
            <a:ext cx="3816350"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868863" y="1268413"/>
            <a:ext cx="3817937" cy="45259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jpeg"/><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7" Type="http://schemas.openxmlformats.org/officeDocument/2006/relationships/theme" Target="../theme/theme2.xml"/><Relationship Id="rId16" Type="http://schemas.openxmlformats.org/officeDocument/2006/relationships/image" Target="../media/image3.jpeg"/><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900113" y="1268413"/>
            <a:ext cx="7786687" cy="4525962"/>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pic>
        <p:nvPicPr>
          <p:cNvPr id="1028" name="Picture 4" descr="index_07"/>
          <p:cNvPicPr>
            <a:picLocks noChangeAspect="1"/>
          </p:cNvPicPr>
          <p:nvPr/>
        </p:nvPicPr>
        <p:blipFill>
          <a:blip r:embed="rId15"/>
          <a:stretch>
            <a:fillRect/>
          </a:stretch>
        </p:blipFill>
        <p:spPr>
          <a:xfrm>
            <a:off x="0" y="6381750"/>
            <a:ext cx="8243888" cy="476250"/>
          </a:xfrm>
          <a:prstGeom prst="rect">
            <a:avLst/>
          </a:prstGeom>
          <a:noFill/>
          <a:ln w="9525">
            <a:noFill/>
          </a:ln>
        </p:spPr>
      </p:pic>
      <p:pic>
        <p:nvPicPr>
          <p:cNvPr id="1029" name="Picture 5" descr="200311_3"/>
          <p:cNvPicPr>
            <a:picLocks noChangeAspect="1"/>
          </p:cNvPicPr>
          <p:nvPr/>
        </p:nvPicPr>
        <p:blipFill>
          <a:blip r:embed="rId16"/>
          <a:stretch>
            <a:fillRect/>
          </a:stretch>
        </p:blipFill>
        <p:spPr>
          <a:xfrm>
            <a:off x="7308850" y="6381750"/>
            <a:ext cx="1800225" cy="476250"/>
          </a:xfrm>
          <a:prstGeom prst="rect">
            <a:avLst/>
          </a:prstGeom>
          <a:noFill/>
          <a:ln w="9525">
            <a:noFill/>
          </a:ln>
        </p:spPr>
      </p:pic>
      <p:sp>
        <p:nvSpPr>
          <p:cNvPr id="161798" name="Rectangle 6"/>
          <p:cNvSpPr>
            <a:spLocks noGrp="1" noChangeArrowheads="1"/>
          </p:cNvSpPr>
          <p:nvPr>
            <p:ph type="ftr" sz="quarter" idx="3"/>
          </p:nvPr>
        </p:nvSpPr>
        <p:spPr bwMode="auto">
          <a:xfrm>
            <a:off x="3492500" y="6381750"/>
            <a:ext cx="3816350" cy="431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2051" name="Rectangle 3"/>
          <p:cNvSpPr>
            <a:spLocks noGrp="1"/>
          </p:cNvSpPr>
          <p:nvPr>
            <p:ph type="body"/>
          </p:nvPr>
        </p:nvSpPr>
        <p:spPr>
          <a:xfrm>
            <a:off x="900113" y="1268413"/>
            <a:ext cx="7786687" cy="4525962"/>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pic>
        <p:nvPicPr>
          <p:cNvPr id="2052" name="Picture 4" descr="index_07"/>
          <p:cNvPicPr>
            <a:picLocks noChangeAspect="1"/>
          </p:cNvPicPr>
          <p:nvPr/>
        </p:nvPicPr>
        <p:blipFill>
          <a:blip r:embed="rId15"/>
          <a:stretch>
            <a:fillRect/>
          </a:stretch>
        </p:blipFill>
        <p:spPr>
          <a:xfrm>
            <a:off x="0" y="6381750"/>
            <a:ext cx="8243888" cy="476250"/>
          </a:xfrm>
          <a:prstGeom prst="rect">
            <a:avLst/>
          </a:prstGeom>
          <a:noFill/>
          <a:ln w="9525">
            <a:noFill/>
          </a:ln>
        </p:spPr>
      </p:pic>
      <p:pic>
        <p:nvPicPr>
          <p:cNvPr id="2053" name="Picture 5" descr="200311_3"/>
          <p:cNvPicPr>
            <a:picLocks noChangeAspect="1"/>
          </p:cNvPicPr>
          <p:nvPr/>
        </p:nvPicPr>
        <p:blipFill>
          <a:blip r:embed="rId16"/>
          <a:stretch>
            <a:fillRect/>
          </a:stretch>
        </p:blipFill>
        <p:spPr>
          <a:xfrm>
            <a:off x="7308850" y="6381750"/>
            <a:ext cx="1800225" cy="476250"/>
          </a:xfrm>
          <a:prstGeom prst="rect">
            <a:avLst/>
          </a:prstGeom>
          <a:noFill/>
          <a:ln w="9525">
            <a:noFill/>
          </a:ln>
        </p:spPr>
      </p:pic>
      <p:sp>
        <p:nvSpPr>
          <p:cNvPr id="161798" name="Rectangle 6"/>
          <p:cNvSpPr>
            <a:spLocks noGrp="1" noChangeArrowheads="1"/>
          </p:cNvSpPr>
          <p:nvPr>
            <p:ph type="ftr" sz="quarter" idx="3"/>
          </p:nvPr>
        </p:nvSpPr>
        <p:spPr bwMode="auto">
          <a:xfrm>
            <a:off x="3492500" y="6381750"/>
            <a:ext cx="3816350" cy="431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5.xml"/><Relationship Id="rId2" Type="http://schemas.openxmlformats.org/officeDocument/2006/relationships/image" Target="../media/image6.png"/><Relationship Id="rId1" Type="http://schemas.openxmlformats.org/officeDocument/2006/relationships/image" Target="../media/image5.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6.xml"/><Relationship Id="rId2" Type="http://schemas.openxmlformats.org/officeDocument/2006/relationships/audio" Target="../media/audio2.wav"/><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5.xml"/><Relationship Id="rId2" Type="http://schemas.openxmlformats.org/officeDocument/2006/relationships/audio" Target="../media/audio2.wav"/><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audio" Target="../media/audio3.wav"/></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vml"/><Relationship Id="rId3" Type="http://schemas.openxmlformats.org/officeDocument/2006/relationships/slideLayout" Target="../slideLayouts/slideLayout26.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5.xml"/><Relationship Id="rId2" Type="http://schemas.openxmlformats.org/officeDocument/2006/relationships/audio" Target="../media/audio2.wav"/><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image" Target="../media/image5.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3.xml"/><Relationship Id="rId2" Type="http://schemas.openxmlformats.org/officeDocument/2006/relationships/audio" Target="../media/audio4.wav"/><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image" Target="../media/image1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image" Target="../media/image12.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2.vml"/><Relationship Id="rId3" Type="http://schemas.openxmlformats.org/officeDocument/2006/relationships/slideLayout" Target="../slideLayouts/slideLayout26.xml"/><Relationship Id="rId2" Type="http://schemas.openxmlformats.org/officeDocument/2006/relationships/image" Target="../media/image13.wmf"/><Relationship Id="rId1"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5.xml"/><Relationship Id="rId1" Type="http://schemas.openxmlformats.org/officeDocument/2006/relationships/image" Target="../media/image1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1.xml"/><Relationship Id="rId8" Type="http://schemas.openxmlformats.org/officeDocument/2006/relationships/vmlDrawing" Target="../drawings/vmlDrawing3.vml"/><Relationship Id="rId7" Type="http://schemas.openxmlformats.org/officeDocument/2006/relationships/slideLayout" Target="../slideLayouts/slideLayout25.xml"/><Relationship Id="rId6" Type="http://schemas.openxmlformats.org/officeDocument/2006/relationships/audio" Target="../media/audio2.wav"/><Relationship Id="rId5" Type="http://schemas.openxmlformats.org/officeDocument/2006/relationships/image" Target="../media/image5.GIF"/><Relationship Id="rId4" Type="http://schemas.openxmlformats.org/officeDocument/2006/relationships/image" Target="../media/image16.wmf"/><Relationship Id="rId3" Type="http://schemas.openxmlformats.org/officeDocument/2006/relationships/oleObject" Target="../embeddings/oleObject4.bin"/><Relationship Id="rId2" Type="http://schemas.openxmlformats.org/officeDocument/2006/relationships/image" Target="../media/image15.wmf"/><Relationship Id="rId1"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19.wmf"/><Relationship Id="rId1" Type="http://schemas.openxmlformats.org/officeDocument/2006/relationships/oleObject" Target="../embeddings/oleObject5.bin"/></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4.xml"/><Relationship Id="rId4" Type="http://schemas.openxmlformats.org/officeDocument/2006/relationships/image" Target="../media/image21.png"/><Relationship Id="rId3" Type="http://schemas.openxmlformats.org/officeDocument/2006/relationships/oleObject" Target="../embeddings/oleObject7.bin"/><Relationship Id="rId2" Type="http://schemas.openxmlformats.org/officeDocument/2006/relationships/image" Target="../media/image20.png"/><Relationship Id="rId1" Type="http://schemas.openxmlformats.org/officeDocument/2006/relationships/oleObject" Target="../embeddings/oleObject6.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22.emf"/></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image" Target="../media/image5.GI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54.xml"/><Relationship Id="rId4" Type="http://schemas.openxmlformats.org/officeDocument/2006/relationships/vmlDrawing" Target="../drawings/vmlDrawing6.vml"/><Relationship Id="rId3" Type="http://schemas.openxmlformats.org/officeDocument/2006/relationships/slideLayout" Target="../slideLayouts/slideLayout13.xml"/><Relationship Id="rId2" Type="http://schemas.openxmlformats.org/officeDocument/2006/relationships/image" Target="../media/image24.wmf"/><Relationship Id="rId1" Type="http://schemas.openxmlformats.org/officeDocument/2006/relationships/oleObject" Target="../embeddings/oleObject8.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2.xml"/><Relationship Id="rId1" Type="http://schemas.openxmlformats.org/officeDocument/2006/relationships/image" Target="../media/image26.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xml"/><Relationship Id="rId1"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txBox="1">
            <a:spLocks noGrp="1"/>
          </p:cNvSpPr>
          <p:nvPr>
            <p:ph type="ftr" sz="quarter" idx="3"/>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cs typeface="+mn-cs"/>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cs typeface="+mn-cs"/>
            </a:endParaRPr>
          </a:p>
        </p:txBody>
      </p:sp>
      <p:sp>
        <p:nvSpPr>
          <p:cNvPr id="6147" name="Rectangle 2"/>
          <p:cNvSpPr>
            <a:spLocks noGrp="1"/>
          </p:cNvSpPr>
          <p:nvPr>
            <p:ph type="ctrTitle"/>
          </p:nvPr>
        </p:nvSpPr>
        <p:spPr>
          <a:xfrm>
            <a:off x="903288" y="2130425"/>
            <a:ext cx="7772400" cy="1470025"/>
          </a:xfrm>
        </p:spPr>
        <p:txBody>
          <a:bodyPr vert="horz" wrap="square" lIns="91440" tIns="45720" rIns="91440" bIns="45720" anchor="ctr" anchorCtr="0"/>
          <a:lstStyle/>
          <a:p>
            <a:pPr algn="ctr" eaLnBrk="1" hangingPunct="1">
              <a:buClrTx/>
              <a:buSzTx/>
              <a:buFontTx/>
            </a:pPr>
            <a:r>
              <a:rPr lang="zh-CN" altLang="en-US" dirty="0">
                <a:solidFill>
                  <a:srgbClr val="0066CC"/>
                </a:solidFill>
                <a:latin typeface="Times New Roman" panose="02020603050405020304" pitchFamily="18" charset="0"/>
                <a:ea typeface="+mj-ea"/>
                <a:cs typeface="+mj-cs"/>
              </a:rPr>
              <a:t>第</a:t>
            </a:r>
            <a:r>
              <a:rPr lang="en-US" altLang="zh-CN" dirty="0">
                <a:solidFill>
                  <a:srgbClr val="0066CC"/>
                </a:solidFill>
                <a:latin typeface="Times New Roman" panose="02020603050405020304" pitchFamily="18" charset="0"/>
                <a:ea typeface="+mj-ea"/>
                <a:cs typeface="+mj-cs"/>
              </a:rPr>
              <a:t>5</a:t>
            </a:r>
            <a:r>
              <a:rPr lang="zh-CN" altLang="en-US" dirty="0">
                <a:solidFill>
                  <a:srgbClr val="0066CC"/>
                </a:solidFill>
                <a:latin typeface="Times New Roman" panose="02020603050405020304" pitchFamily="18" charset="0"/>
                <a:ea typeface="+mj-ea"/>
                <a:cs typeface="+mj-cs"/>
              </a:rPr>
              <a:t>讲</a:t>
            </a:r>
            <a:br>
              <a:rPr lang="en-US" altLang="zh-CN" dirty="0">
                <a:solidFill>
                  <a:srgbClr val="0066CC"/>
                </a:solidFill>
                <a:latin typeface="Times New Roman" panose="02020603050405020304" pitchFamily="18" charset="0"/>
                <a:ea typeface="+mj-ea"/>
                <a:cs typeface="+mj-cs"/>
              </a:rPr>
            </a:br>
            <a:endParaRPr lang="en-US" altLang="zh-CN" dirty="0">
              <a:solidFill>
                <a:srgbClr val="0066CC"/>
              </a:solidFill>
              <a:latin typeface="Times New Roman" panose="02020603050405020304" pitchFamily="18" charset="0"/>
              <a:ea typeface="+mj-ea"/>
              <a:cs typeface="+mj-cs"/>
            </a:endParaRPr>
          </a:p>
        </p:txBody>
      </p:sp>
      <p:sp>
        <p:nvSpPr>
          <p:cNvPr id="6148" name="Rectangle 3"/>
          <p:cNvSpPr>
            <a:spLocks noGrp="1"/>
          </p:cNvSpPr>
          <p:nvPr>
            <p:ph type="subTitle" idx="1"/>
          </p:nvPr>
        </p:nvSpPr>
        <p:spPr>
          <a:xfrm>
            <a:off x="468313" y="3284538"/>
            <a:ext cx="8064500" cy="2520950"/>
          </a:xfrm>
        </p:spPr>
        <p:txBody>
          <a:bodyPr vert="horz" wrap="square" lIns="91440" tIns="45720" rIns="91440" bIns="45720" anchor="t" anchorCtr="0"/>
          <a:lstStyle/>
          <a:p>
            <a:pPr eaLnBrk="1" hangingPunct="1">
              <a:buClrTx/>
              <a:buSzTx/>
            </a:pPr>
            <a:r>
              <a:rPr lang="en-US" altLang="en-US" sz="3200" dirty="0">
                <a:latin typeface="+mn-lt"/>
                <a:ea typeface="+mn-ea"/>
                <a:cs typeface="+mn-cs"/>
              </a:rPr>
              <a:t>贪心算法</a:t>
            </a:r>
            <a:endParaRPr lang="en-US" altLang="zh-CN" sz="3200" dirty="0">
              <a:latin typeface="+mn-lt"/>
              <a:ea typeface="+mn-ea"/>
              <a:cs typeface="+mn-cs"/>
            </a:endParaRPr>
          </a:p>
          <a:p>
            <a:pPr eaLnBrk="1" hangingPunct="1">
              <a:buClrTx/>
              <a:buSzTx/>
            </a:pPr>
            <a:endParaRPr lang="en-US" altLang="zh-CN" sz="1100" dirty="0">
              <a:latin typeface="+mn-lt"/>
              <a:ea typeface="+mn-ea"/>
              <a:cs typeface="+mn-cs"/>
            </a:endParaRPr>
          </a:p>
          <a:p>
            <a:pPr eaLnBrk="1" hangingPunct="1">
              <a:buClrTx/>
              <a:buSzTx/>
            </a:pPr>
            <a:r>
              <a:rPr lang="en-US" altLang="zh-CN" dirty="0">
                <a:latin typeface="Arial" panose="020B0604020202020204" pitchFamily="34" charset="0"/>
                <a:ea typeface="+mn-ea"/>
                <a:cs typeface="+mn-cs"/>
              </a:rPr>
              <a:t> —</a:t>
            </a:r>
            <a:r>
              <a:rPr lang="en-US" altLang="en-US" dirty="0">
                <a:latin typeface="Arial" panose="020B0604020202020204" pitchFamily="34" charset="0"/>
                <a:ea typeface="+mn-ea"/>
                <a:cs typeface="+mn-cs"/>
              </a:rPr>
              <a:t>一种求解最优化问题的有效算法</a:t>
            </a:r>
            <a:endParaRPr lang="en-US" altLang="zh-CN" sz="1900" dirty="0">
              <a:latin typeface="Arial" panose="020B0604020202020204" pitchFamily="34"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smtClean="0">
                <a:solidFill>
                  <a:schemeClr val="tx1"/>
                </a:solidFill>
                <a:latin typeface="Arial" panose="020B0604020202020204" pitchFamily="34" charset="0"/>
                <a:ea typeface="宋体" panose="02010600030101010101" pitchFamily="2" charset="-122"/>
              </a:rPr>
              <a:t>Algorithms Design Techniques and Analysis</a:t>
            </a:r>
            <a:endParaRPr lang="en-US" altLang="zh-CN" sz="1400" smtClean="0">
              <a:solidFill>
                <a:schemeClr val="tx1"/>
              </a:solidFill>
              <a:latin typeface="Arial" panose="020B0604020202020204" pitchFamily="34" charset="0"/>
              <a:ea typeface="宋体" panose="02010600030101010101" pitchFamily="2" charset="-122"/>
            </a:endParaRPr>
          </a:p>
        </p:txBody>
      </p:sp>
      <p:sp>
        <p:nvSpPr>
          <p:cNvPr id="11267" name="Rectangle 2"/>
          <p:cNvSpPr>
            <a:spLocks noGrp="1" noChangeArrowheads="1"/>
          </p:cNvSpPr>
          <p:nvPr>
            <p:ph type="title"/>
          </p:nvPr>
        </p:nvSpPr>
        <p:spPr/>
        <p:txBody>
          <a:bodyPr/>
          <a:lstStyle/>
          <a:p>
            <a:pPr eaLnBrk="1" hangingPunct="1"/>
            <a:r>
              <a:rPr lang="zh-CN" altLang="en-US" smtClean="0"/>
              <a:t>主要内容</a:t>
            </a:r>
            <a:endParaRPr lang="en-US" altLang="zh-CN" smtClean="0"/>
          </a:p>
        </p:txBody>
      </p:sp>
      <p:sp>
        <p:nvSpPr>
          <p:cNvPr id="8196" name="Rectangle 3"/>
          <p:cNvSpPr>
            <a:spLocks noGrp="1" noChangeArrowheads="1"/>
          </p:cNvSpPr>
          <p:nvPr>
            <p:ph type="body" idx="1"/>
          </p:nvPr>
        </p:nvSpPr>
        <p:spPr>
          <a:xfrm>
            <a:off x="962026" y="1883206"/>
            <a:ext cx="6210299" cy="2520117"/>
          </a:xfrm>
        </p:spPr>
        <p:txBody>
          <a:bodyPr/>
          <a:lstStyle/>
          <a:p>
            <a:pPr marL="0" lvl="1" indent="-419100" algn="l" eaLnBrk="1" hangingPunct="1">
              <a:buClrTx/>
              <a:buSzTx/>
              <a:buFontTx/>
              <a:buNone/>
              <a:defRPr/>
            </a:pPr>
            <a:r>
              <a:rPr lang="en-US" altLang="zh-CN" sz="2800" b="1" u="sng" dirty="0" smtClean="0">
                <a:latin typeface="+mn-ea"/>
                <a:ea typeface="+mn-ea"/>
                <a:cs typeface="+mn-ea"/>
                <a:sym typeface="+mn-ea"/>
              </a:rPr>
              <a:t>5.1 引言</a:t>
            </a:r>
            <a:endParaRPr lang="en-US" altLang="zh-CN" sz="2800" b="1" u="sng" dirty="0" smtClean="0">
              <a:latin typeface="+mn-ea"/>
              <a:ea typeface="+mn-ea"/>
              <a:cs typeface="+mn-ea"/>
            </a:endParaRPr>
          </a:p>
          <a:p>
            <a:pPr marL="0" lvl="1" indent="-419100" algn="l" eaLnBrk="1" hangingPunct="1">
              <a:buClrTx/>
              <a:buSzTx/>
              <a:buFontTx/>
              <a:buNone/>
              <a:defRPr/>
            </a:pPr>
            <a:r>
              <a:rPr lang="zh-CN" altLang="en-US" sz="2400" dirty="0" smtClean="0">
                <a:latin typeface="+mn-ea"/>
                <a:ea typeface="+mn-ea"/>
                <a:cs typeface="+mn-ea"/>
                <a:sym typeface="+mn-ea"/>
              </a:rPr>
              <a:t>5.2 贪心策略的算法设计思想及分析方法</a:t>
            </a:r>
            <a:endParaRPr lang="zh-CN" altLang="en-US" sz="2400" dirty="0" smtClean="0">
              <a:latin typeface="+mn-ea"/>
              <a:ea typeface="+mn-ea"/>
              <a:cs typeface="+mn-ea"/>
              <a:sym typeface="+mn-ea"/>
            </a:endParaRPr>
          </a:p>
          <a:p>
            <a:pPr marL="0" lvl="1" indent="-419100" algn="l" eaLnBrk="1" hangingPunct="1">
              <a:buClrTx/>
              <a:buSzTx/>
              <a:buFontTx/>
              <a:buNone/>
              <a:defRPr/>
            </a:pPr>
            <a:r>
              <a:rPr lang="zh-CN" altLang="en-US" sz="2400" dirty="0" smtClean="0">
                <a:latin typeface="+mn-ea"/>
                <a:ea typeface="+mn-ea"/>
                <a:cs typeface="+mn-ea"/>
                <a:sym typeface="+mn-ea"/>
              </a:rPr>
              <a:t>5.3. 贪心策略的经典应用（可选讲部分）</a:t>
            </a:r>
            <a:endParaRPr lang="zh-CN" altLang="en-US" sz="2400" dirty="0" smtClean="0">
              <a:latin typeface="+mn-ea"/>
              <a:ea typeface="+mn-ea"/>
              <a:cs typeface="+mn-ea"/>
            </a:endParaRPr>
          </a:p>
          <a:p>
            <a:pPr marL="0" lvl="1" indent="-419100" algn="l" eaLnBrk="1" hangingPunct="1">
              <a:buClrTx/>
              <a:buSzTx/>
              <a:buFontTx/>
              <a:buNone/>
              <a:defRPr/>
            </a:pPr>
            <a:endParaRPr lang="zh-CN" altLang="en-US" sz="2400" dirty="0" smtClean="0">
              <a:latin typeface="+mn-ea"/>
              <a:ea typeface="+mn-ea"/>
              <a:cs typeface="+mn-ea"/>
            </a:endParaRPr>
          </a:p>
          <a:p>
            <a:pPr marL="0" lvl="1" indent="-419100" eaLnBrk="1" hangingPunct="1">
              <a:buFontTx/>
              <a:buNone/>
              <a:defRPr/>
            </a:pPr>
            <a:endParaRPr lang="zh-CN" altLang="en-US" sz="2400" dirty="0" smtClean="0">
              <a:latin typeface="+mn-ea"/>
              <a:ea typeface="+mn-ea"/>
            </a:endParaRPr>
          </a:p>
        </p:txBody>
      </p:sp>
      <p:pic>
        <p:nvPicPr>
          <p:cNvPr id="11269" name="Picture 4" descr="j019538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40425" y="260350"/>
            <a:ext cx="12319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p:txBody>
          <a:bodyPr vert="horz" wrap="square" lIns="91440" tIns="45720" rIns="91440" bIns="45720" anchor="t" anchorCtr="0"/>
          <a:lstStyle/>
          <a:p>
            <a:pPr marL="0" indent="0">
              <a:buNone/>
            </a:pPr>
            <a:r>
              <a:rPr lang="en-US" altLang="zh-CN" sz="2400" dirty="0" smtClean="0">
                <a:latin typeface="+mn-ea"/>
                <a:cs typeface="+mn-ea"/>
              </a:rPr>
              <a:t>5.1 引言</a:t>
            </a:r>
            <a:endParaRPr lang="en-US" altLang="zh-CN" sz="2400" dirty="0" smtClean="0">
              <a:latin typeface="+mn-ea"/>
              <a:cs typeface="+mn-ea"/>
            </a:endParaRPr>
          </a:p>
          <a:p>
            <a:pPr marL="457200" lvl="1" indent="0">
              <a:buNone/>
            </a:pPr>
            <a:r>
              <a:rPr lang="en-US" altLang="zh-CN" sz="2400" dirty="0" smtClean="0">
                <a:latin typeface="+mn-ea"/>
                <a:ea typeface="+mn-ea"/>
                <a:cs typeface="+mn-ea"/>
              </a:rPr>
              <a:t>5.1.1 简单问题例的算法描述（最小生成树问题，单源点最短路径问题）</a:t>
            </a:r>
            <a:endParaRPr lang="en-US" altLang="zh-CN" sz="2400" dirty="0" smtClean="0">
              <a:latin typeface="+mn-ea"/>
              <a:ea typeface="+mn-ea"/>
              <a:cs typeface="+mn-ea"/>
            </a:endParaRPr>
          </a:p>
          <a:p>
            <a:pPr marL="457200" lvl="1" indent="0">
              <a:buNone/>
            </a:pPr>
            <a:r>
              <a:rPr lang="en-US" altLang="zh-CN" sz="2400" dirty="0" smtClean="0">
                <a:latin typeface="+mn-ea"/>
                <a:ea typeface="+mn-ea"/>
                <a:cs typeface="+mn-ea"/>
              </a:rPr>
              <a:t>5.1.2 简单问题例算法的分析</a:t>
            </a:r>
            <a:endParaRPr lang="en-US" altLang="zh-CN" sz="2400" dirty="0" smtClean="0">
              <a:latin typeface="+mn-ea"/>
              <a:ea typeface="+mn-ea"/>
              <a:cs typeface="+mn-ea"/>
            </a:endParaRPr>
          </a:p>
          <a:p>
            <a:endParaRPr lang="en-US" altLang="en-US" sz="2000" dirty="0">
              <a:latin typeface="华文楷体" panose="02010600040101010101" pitchFamily="2" charset="-122"/>
            </a:endParaRPr>
          </a:p>
        </p:txBody>
      </p:sp>
      <p:sp>
        <p:nvSpPr>
          <p:cNvPr id="8195" name="Rectangle 2"/>
          <p:cNvSpPr>
            <a:spLocks noGrp="1"/>
          </p:cNvSpPr>
          <p:nvPr>
            <p:ph type="title"/>
          </p:nvPr>
        </p:nvSpPr>
        <p:spPr/>
        <p:txBody>
          <a:bodyPr vert="horz" wrap="square" lIns="91440" tIns="45720" rIns="91440" bIns="45720" anchor="ctr" anchorCtr="0"/>
          <a:lstStyle/>
          <a:p>
            <a:pPr eaLnBrk="1" hangingPunct="1"/>
            <a:r>
              <a:rPr lang="zh-CN" altLang="en-US" dirty="0"/>
              <a:t>主要内容</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267" name="Rectangle 2"/>
          <p:cNvSpPr>
            <a:spLocks noGrp="1"/>
          </p:cNvSpPr>
          <p:nvPr>
            <p:ph type="title"/>
          </p:nvPr>
        </p:nvSpPr>
        <p:spPr/>
        <p:txBody>
          <a:bodyPr vert="horz" wrap="square" lIns="91440" tIns="45720" rIns="91440" bIns="45720" anchor="ctr" anchorCtr="0"/>
          <a:lstStyle/>
          <a:p>
            <a:pPr eaLnBrk="1" hangingPunct="1"/>
            <a:r>
              <a:rPr lang="en-US" altLang="zh-CN" dirty="0"/>
              <a:t>5.1 </a:t>
            </a:r>
            <a:r>
              <a:rPr lang="zh-CN" altLang="en-US" dirty="0"/>
              <a:t>引言</a:t>
            </a:r>
            <a:endParaRPr lang="en-US" altLang="zh-CN" dirty="0"/>
          </a:p>
        </p:txBody>
      </p:sp>
      <p:sp>
        <p:nvSpPr>
          <p:cNvPr id="16793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顾名思义，</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贪心算法</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总是作出在当前看来最好的选择。也就是说贪心算法并不从整体最优考虑，它所作出的选择只是在某种意义上的</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局部最优</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选择。当然，希望贪心算法得到的最终结果也是整体最优的。</a:t>
            </a:r>
            <a:endParaRPr kumimoji="0" lang="en-US" altLang="zh-CN" sz="24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虽然贪心算法不能对所有问题都得到整体最优解，但对许多问题它能产生整体最优解。如单源最短路径问题，最小生成树问题等。</a:t>
            </a:r>
            <a:endParaRPr kumimoji="0" lang="en-US" altLang="zh-CN" sz="2400" b="0" i="0" u="none" strike="noStrike" kern="0" cap="none" spc="0" normalizeH="0" baseline="0" noProof="0" dirty="0">
              <a:ln>
                <a:noFill/>
              </a:ln>
              <a:solidFill>
                <a:schemeClr val="accent2"/>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在一些情况下，即使贪心算法不能得到整体最优解，其最终结果却是</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最优解的很好近似</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a:t>
            </a: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2291" name="Rectangle 2"/>
          <p:cNvSpPr>
            <a:spLocks noGrp="1"/>
          </p:cNvSpPr>
          <p:nvPr>
            <p:ph type="title"/>
          </p:nvPr>
        </p:nvSpPr>
        <p:spPr/>
        <p:txBody>
          <a:bodyPr vert="horz" wrap="square" lIns="91440" tIns="45720" rIns="91440" bIns="45720" anchor="ctr" anchorCtr="0"/>
          <a:lstStyle/>
          <a:p>
            <a:pPr eaLnBrk="1" hangingPunct="1"/>
            <a:r>
              <a:rPr lang="en-US" altLang="zh-CN" dirty="0"/>
              <a:t>5.1.1 </a:t>
            </a:r>
            <a:r>
              <a:rPr lang="zh-CN" altLang="en-US" dirty="0"/>
              <a:t>最小耗费生成树</a:t>
            </a:r>
            <a:r>
              <a:rPr lang="en-US" altLang="zh-CN" dirty="0"/>
              <a:t>——Kruskal</a:t>
            </a:r>
            <a:r>
              <a:rPr lang="zh-CN" altLang="en-US" dirty="0"/>
              <a:t>算法</a:t>
            </a:r>
            <a:endParaRPr lang="en-US" altLang="zh-CN" dirty="0"/>
          </a:p>
        </p:txBody>
      </p:sp>
      <p:sp>
        <p:nvSpPr>
          <p:cNvPr id="29699" name="Rectangle 3"/>
          <p:cNvSpPr>
            <a:spLocks noGrp="1" noChangeArrowheads="1"/>
          </p:cNvSpPr>
          <p:nvPr>
            <p:ph idx="1"/>
          </p:nvPr>
        </p:nvSpPr>
        <p:spPr>
          <a:xfrm>
            <a:off x="827088"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定义</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8.1:</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 = (V, E)</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是一个具有含权边的连通无向图。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的一裸</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生成树</a:t>
            </a:r>
            <a:r>
              <a:rPr kumimoji="0" lang="en-US" altLang="zh-CN" sz="2200" b="0" i="0" u="none" strike="noStrike" kern="0" cap="none" spc="0" normalizeH="0" baseline="0" noProof="0" dirty="0">
                <a:ln>
                  <a:noFill/>
                </a:ln>
                <a:solidFill>
                  <a:srgbClr val="FF0000"/>
                </a:solidFill>
                <a:effectLst/>
                <a:uLnTx/>
                <a:uFillTx/>
                <a:latin typeface="+mn-lt"/>
                <a:ea typeface="+mn-ea"/>
                <a:cs typeface="+mn-ea"/>
              </a:rPr>
              <a:t>(V, 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是</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的作为树的子图。</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如给</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加权并且</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的各边的权的和为最小值，那么</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就称为</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最小耗费生成树</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或简称为</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最小生成树</a:t>
            </a:r>
            <a:endParaRPr kumimoji="0" lang="en-US" altLang="zh-CN" sz="2200" b="0" i="0" u="none" strike="noStrike" kern="0" cap="none" spc="0" normalizeH="0" baseline="0" noProof="0" dirty="0">
              <a:ln>
                <a:noFill/>
              </a:ln>
              <a:solidFill>
                <a:srgbClr val="FF0000"/>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7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假设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为连通的，怎么找到最小生成树</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(MST)?</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pic>
        <p:nvPicPr>
          <p:cNvPr id="12293" name="Picture 4" descr="question"/>
          <p:cNvPicPr>
            <a:picLocks noChangeAspect="1"/>
          </p:cNvPicPr>
          <p:nvPr/>
        </p:nvPicPr>
        <p:blipFill>
          <a:blip r:embed="rId1"/>
          <a:stretch>
            <a:fillRect/>
          </a:stretch>
        </p:blipFill>
        <p:spPr>
          <a:xfrm>
            <a:off x="785813" y="3571875"/>
            <a:ext cx="504825" cy="504825"/>
          </a:xfrm>
          <a:prstGeom prst="rect">
            <a:avLst/>
          </a:prstGeom>
          <a:noFill/>
          <a:ln w="9525">
            <a:noFill/>
          </a:ln>
        </p:spPr>
      </p:pic>
      <p:pic>
        <p:nvPicPr>
          <p:cNvPr id="12294" name="Picture 5" descr="def"/>
          <p:cNvPicPr>
            <a:picLocks noChangeAspect="1"/>
          </p:cNvPicPr>
          <p:nvPr/>
        </p:nvPicPr>
        <p:blipFill>
          <a:blip r:embed="rId2"/>
          <a:stretch>
            <a:fillRect/>
          </a:stretch>
        </p:blipFill>
        <p:spPr>
          <a:xfrm>
            <a:off x="855663" y="1298575"/>
            <a:ext cx="576262" cy="398463"/>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4339" name="Rectangle 2"/>
          <p:cNvSpPr>
            <a:spLocks noGrp="1"/>
          </p:cNvSpPr>
          <p:nvPr>
            <p:ph type="title"/>
          </p:nvPr>
        </p:nvSpPr>
        <p:spPr/>
        <p:txBody>
          <a:bodyPr vert="horz" wrap="square" lIns="91440" tIns="45720" rIns="91440" bIns="45720" anchor="ctr" anchorCtr="0"/>
          <a:lstStyle/>
          <a:p>
            <a:pPr eaLnBrk="1" hangingPunct="1"/>
            <a:r>
              <a:rPr lang="en-US" altLang="zh-CN" dirty="0"/>
              <a:t>5.1.1 Kruskal</a:t>
            </a:r>
            <a:r>
              <a:rPr lang="zh-CN" altLang="en-US" dirty="0"/>
              <a:t>算法基本思想</a:t>
            </a:r>
            <a:endParaRPr lang="en-US" altLang="zh-CN" dirty="0"/>
          </a:p>
        </p:txBody>
      </p:sp>
      <p:sp>
        <p:nvSpPr>
          <p:cNvPr id="175107" name="Rectangle 3"/>
          <p:cNvSpPr>
            <a:spLocks noGrp="1" noChangeArrowheads="1"/>
          </p:cNvSpPr>
          <p:nvPr>
            <p:ph idx="1"/>
          </p:nvPr>
        </p:nvSpPr>
        <p:spPr>
          <a:xfrm>
            <a:off x="900113" y="1123950"/>
            <a:ext cx="7786688" cy="46101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工作原理：维护由许多生成树组成的一个</a:t>
            </a:r>
            <a:r>
              <a:rPr kumimoji="0" lang="zh-CN" altLang="en-US" sz="2200" b="0" i="0" u="none" strike="noStrike" kern="0" cap="none" spc="0" normalizeH="0" baseline="0" noProof="0" dirty="0">
                <a:ln>
                  <a:noFill/>
                </a:ln>
                <a:solidFill>
                  <a:srgbClr val="FF0000"/>
                </a:solidFill>
                <a:effectLst/>
                <a:uLnTx/>
                <a:uFillTx/>
                <a:latin typeface="+mn-lt"/>
                <a:ea typeface="+mn-ea"/>
                <a:cs typeface="+mn-cs"/>
              </a:rPr>
              <a:t>森林</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，这些生成树</a:t>
            </a:r>
            <a:r>
              <a:rPr kumimoji="0" lang="zh-CN" altLang="en-US" sz="2200" b="0" i="0" u="none" strike="noStrike" kern="0" cap="none" spc="0" normalizeH="0" baseline="0" noProof="0" dirty="0">
                <a:ln>
                  <a:noFill/>
                </a:ln>
                <a:solidFill>
                  <a:srgbClr val="FF0000"/>
                </a:solidFill>
                <a:effectLst/>
                <a:uLnTx/>
                <a:uFillTx/>
                <a:latin typeface="+mn-lt"/>
                <a:ea typeface="+mn-ea"/>
                <a:cs typeface="+mn-cs"/>
              </a:rPr>
              <a:t>逐步合并</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直到最终森林只由一棵树组成，这棵树就是最小耗费生成树。</a:t>
            </a:r>
            <a:endParaRPr kumimoji="0" lang="en-US" altLang="zh-CN" sz="2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mn-lt"/>
                <a:ea typeface="+mn-ea"/>
                <a:cs typeface="+mn-cs"/>
              </a:rPr>
              <a:t>Step 1:</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此算法先从对权以非降序排列着手。</a:t>
            </a:r>
            <a:endParaRPr kumimoji="0" lang="en-US" altLang="zh-CN" sz="2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200" b="0" i="0" u="none" strike="noStrike" kern="0" cap="none" spc="0" normalizeH="0" baseline="0" noProof="0" dirty="0">
                <a:ln>
                  <a:noFill/>
                </a:ln>
                <a:solidFill>
                  <a:schemeClr val="accent2"/>
                </a:solidFill>
                <a:effectLst/>
                <a:uLnTx/>
                <a:uFillTx/>
                <a:latin typeface="+mn-lt"/>
                <a:ea typeface="+mn-ea"/>
                <a:cs typeface="+mn-cs"/>
              </a:rPr>
              <a:t>Step 2:</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接着从由图的顶点组成而不包含边的森林</a:t>
            </a:r>
            <a:r>
              <a:rPr kumimoji="0" lang="en-US" altLang="zh-CN" sz="2200" b="0" i="0" u="none" strike="noStrike" kern="0" cap="none" spc="0" normalizeH="0" baseline="0" noProof="0" dirty="0">
                <a:ln>
                  <a:noFill/>
                </a:ln>
                <a:solidFill>
                  <a:schemeClr val="accent2"/>
                </a:solidFill>
                <a:effectLst/>
                <a:uLnTx/>
                <a:uFillTx/>
                <a:latin typeface="+mn-lt"/>
                <a:ea typeface="+mn-ea"/>
                <a:cs typeface="+mn-cs"/>
              </a:rPr>
              <a:t>(V, T)</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开始，重复下面的这一步，直到</a:t>
            </a:r>
            <a:r>
              <a:rPr kumimoji="0" lang="en-US" altLang="zh-CN" sz="2200" b="0" i="0" u="none" strike="noStrike" kern="0" cap="none" spc="0" normalizeH="0" baseline="0" noProof="0" dirty="0">
                <a:ln>
                  <a:noFill/>
                </a:ln>
                <a:solidFill>
                  <a:schemeClr val="accent2"/>
                </a:solidFill>
                <a:effectLst/>
                <a:uLnTx/>
                <a:uFillTx/>
                <a:latin typeface="+mn-lt"/>
                <a:ea typeface="+mn-ea"/>
                <a:cs typeface="+mn-cs"/>
              </a:rPr>
              <a:t>(V, T)</a:t>
            </a:r>
            <a:r>
              <a:rPr kumimoji="0" lang="zh-CN" altLang="en-US" sz="2200" b="0" i="0" u="none" strike="noStrike" kern="0" cap="none" spc="0" normalizeH="0" baseline="0" noProof="0" dirty="0">
                <a:ln>
                  <a:noFill/>
                </a:ln>
                <a:solidFill>
                  <a:schemeClr val="accent2"/>
                </a:solidFill>
                <a:effectLst/>
                <a:uLnTx/>
                <a:uFillTx/>
                <a:latin typeface="+mn-lt"/>
                <a:ea typeface="+mn-ea"/>
                <a:cs typeface="+mn-cs"/>
              </a:rPr>
              <a:t>被变换成一棵树：</a:t>
            </a:r>
            <a:endParaRPr kumimoji="0" lang="zh-CN" altLang="en-US" sz="22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设</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(V,T)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是到现在为止构建的森林，</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e∈E</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为当前考虑的边，如果把</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e</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加到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中不生成一个回路，那么将</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e</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加入进</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，否则丢弃。</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这个处理在恰好加完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条边后结束。</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4"/>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5364" name="Oval 3"/>
          <p:cNvSpPr/>
          <p:nvPr/>
        </p:nvSpPr>
        <p:spPr>
          <a:xfrm>
            <a:off x="8532495" y="2131378"/>
            <a:ext cx="503238"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6</a:t>
            </a:r>
            <a:endParaRPr lang="en-US" altLang="zh-CN" sz="2000" dirty="0">
              <a:solidFill>
                <a:srgbClr val="FF0000"/>
              </a:solidFill>
              <a:ea typeface="宋体" panose="02010600030101010101" pitchFamily="2" charset="-122"/>
            </a:endParaRPr>
          </a:p>
        </p:txBody>
      </p:sp>
      <p:sp>
        <p:nvSpPr>
          <p:cNvPr id="15365" name="Oval 4"/>
          <p:cNvSpPr/>
          <p:nvPr/>
        </p:nvSpPr>
        <p:spPr>
          <a:xfrm>
            <a:off x="4644708" y="2059940"/>
            <a:ext cx="503237"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1</a:t>
            </a:r>
            <a:endParaRPr lang="en-US" altLang="zh-CN" sz="2000" dirty="0">
              <a:solidFill>
                <a:srgbClr val="FF0000"/>
              </a:solidFill>
              <a:ea typeface="宋体" panose="02010600030101010101" pitchFamily="2" charset="-122"/>
            </a:endParaRPr>
          </a:p>
        </p:txBody>
      </p:sp>
      <p:sp>
        <p:nvSpPr>
          <p:cNvPr id="15366" name="Oval 5"/>
          <p:cNvSpPr/>
          <p:nvPr/>
        </p:nvSpPr>
        <p:spPr>
          <a:xfrm>
            <a:off x="5508308" y="1267778"/>
            <a:ext cx="503237"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2</a:t>
            </a:r>
            <a:endParaRPr lang="en-US" altLang="zh-CN" sz="2000" dirty="0">
              <a:solidFill>
                <a:srgbClr val="FF0000"/>
              </a:solidFill>
              <a:ea typeface="宋体" panose="02010600030101010101" pitchFamily="2" charset="-122"/>
            </a:endParaRPr>
          </a:p>
        </p:txBody>
      </p:sp>
      <p:sp>
        <p:nvSpPr>
          <p:cNvPr id="15367" name="Oval 6"/>
          <p:cNvSpPr/>
          <p:nvPr/>
        </p:nvSpPr>
        <p:spPr>
          <a:xfrm>
            <a:off x="5581333" y="2923540"/>
            <a:ext cx="503237"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3</a:t>
            </a:r>
            <a:endParaRPr lang="en-US" altLang="zh-CN" sz="2000" dirty="0">
              <a:solidFill>
                <a:srgbClr val="FF0000"/>
              </a:solidFill>
              <a:ea typeface="宋体" panose="02010600030101010101" pitchFamily="2" charset="-122"/>
            </a:endParaRPr>
          </a:p>
        </p:txBody>
      </p:sp>
      <p:sp>
        <p:nvSpPr>
          <p:cNvPr id="15368" name="Oval 7"/>
          <p:cNvSpPr/>
          <p:nvPr/>
        </p:nvSpPr>
        <p:spPr>
          <a:xfrm>
            <a:off x="7668895" y="2923540"/>
            <a:ext cx="503238"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5</a:t>
            </a:r>
            <a:endParaRPr lang="en-US" altLang="zh-CN" sz="2000" dirty="0">
              <a:solidFill>
                <a:srgbClr val="FF0000"/>
              </a:solidFill>
              <a:ea typeface="宋体" panose="02010600030101010101" pitchFamily="2" charset="-122"/>
            </a:endParaRPr>
          </a:p>
        </p:txBody>
      </p:sp>
      <p:sp>
        <p:nvSpPr>
          <p:cNvPr id="15369" name="Oval 8"/>
          <p:cNvSpPr/>
          <p:nvPr/>
        </p:nvSpPr>
        <p:spPr>
          <a:xfrm>
            <a:off x="7668895" y="1267778"/>
            <a:ext cx="503238"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4</a:t>
            </a:r>
            <a:endParaRPr lang="en-US" altLang="zh-CN" sz="2000" dirty="0">
              <a:solidFill>
                <a:srgbClr val="FF0000"/>
              </a:solidFill>
              <a:ea typeface="宋体" panose="02010600030101010101" pitchFamily="2" charset="-122"/>
            </a:endParaRPr>
          </a:p>
        </p:txBody>
      </p:sp>
      <p:sp>
        <p:nvSpPr>
          <p:cNvPr id="15370" name="Line 9"/>
          <p:cNvSpPr/>
          <p:nvPr/>
        </p:nvSpPr>
        <p:spPr>
          <a:xfrm flipH="1">
            <a:off x="5005070" y="1628140"/>
            <a:ext cx="503238" cy="431800"/>
          </a:xfrm>
          <a:prstGeom prst="line">
            <a:avLst/>
          </a:prstGeom>
          <a:ln w="9525" cap="flat" cmpd="sng">
            <a:solidFill>
              <a:schemeClr val="tx1"/>
            </a:solidFill>
            <a:prstDash val="solid"/>
            <a:headEnd type="none" w="med" len="med"/>
            <a:tailEnd type="none" w="med" len="med"/>
          </a:ln>
        </p:spPr>
      </p:sp>
      <p:sp>
        <p:nvSpPr>
          <p:cNvPr id="15371" name="Line 10"/>
          <p:cNvSpPr/>
          <p:nvPr/>
        </p:nvSpPr>
        <p:spPr>
          <a:xfrm>
            <a:off x="5005070" y="2563178"/>
            <a:ext cx="576263" cy="504825"/>
          </a:xfrm>
          <a:prstGeom prst="line">
            <a:avLst/>
          </a:prstGeom>
          <a:ln w="9525" cap="flat" cmpd="sng">
            <a:solidFill>
              <a:schemeClr val="tx1"/>
            </a:solidFill>
            <a:prstDash val="solid"/>
            <a:headEnd type="none" w="med" len="med"/>
            <a:tailEnd type="none" w="med" len="med"/>
          </a:ln>
        </p:spPr>
      </p:sp>
      <p:sp>
        <p:nvSpPr>
          <p:cNvPr id="15372" name="Line 11"/>
          <p:cNvSpPr/>
          <p:nvPr/>
        </p:nvSpPr>
        <p:spPr>
          <a:xfrm>
            <a:off x="6013133" y="1483678"/>
            <a:ext cx="1655762" cy="1587"/>
          </a:xfrm>
          <a:prstGeom prst="line">
            <a:avLst/>
          </a:prstGeom>
          <a:ln w="9525" cap="flat" cmpd="sng">
            <a:solidFill>
              <a:schemeClr val="tx1"/>
            </a:solidFill>
            <a:prstDash val="solid"/>
            <a:headEnd type="none" w="med" len="med"/>
            <a:tailEnd type="none" w="med" len="med"/>
          </a:ln>
        </p:spPr>
      </p:sp>
      <p:sp>
        <p:nvSpPr>
          <p:cNvPr id="15373" name="Line 12"/>
          <p:cNvSpPr/>
          <p:nvPr/>
        </p:nvSpPr>
        <p:spPr>
          <a:xfrm>
            <a:off x="6084570" y="3212465"/>
            <a:ext cx="1584325" cy="1588"/>
          </a:xfrm>
          <a:prstGeom prst="line">
            <a:avLst/>
          </a:prstGeom>
          <a:ln w="9525" cap="flat" cmpd="sng">
            <a:solidFill>
              <a:schemeClr val="tx1"/>
            </a:solidFill>
            <a:prstDash val="solid"/>
            <a:headEnd type="none" w="med" len="med"/>
            <a:tailEnd type="none" w="med" len="med"/>
          </a:ln>
        </p:spPr>
      </p:sp>
      <p:sp>
        <p:nvSpPr>
          <p:cNvPr id="15374" name="Line 13"/>
          <p:cNvSpPr/>
          <p:nvPr/>
        </p:nvSpPr>
        <p:spPr>
          <a:xfrm>
            <a:off x="8100695" y="1699578"/>
            <a:ext cx="504825" cy="503237"/>
          </a:xfrm>
          <a:prstGeom prst="line">
            <a:avLst/>
          </a:prstGeom>
          <a:ln w="9525" cap="flat" cmpd="sng">
            <a:solidFill>
              <a:schemeClr val="tx1"/>
            </a:solidFill>
            <a:prstDash val="solid"/>
            <a:headEnd type="none" w="med" len="med"/>
            <a:tailEnd type="none" w="med" len="med"/>
          </a:ln>
        </p:spPr>
      </p:sp>
      <p:sp>
        <p:nvSpPr>
          <p:cNvPr id="15375" name="Line 14"/>
          <p:cNvSpPr/>
          <p:nvPr/>
        </p:nvSpPr>
        <p:spPr>
          <a:xfrm flipH="1">
            <a:off x="8172133" y="2636203"/>
            <a:ext cx="504825" cy="431800"/>
          </a:xfrm>
          <a:prstGeom prst="line">
            <a:avLst/>
          </a:prstGeom>
          <a:ln w="9525" cap="flat" cmpd="sng">
            <a:solidFill>
              <a:schemeClr val="tx1"/>
            </a:solidFill>
            <a:prstDash val="solid"/>
            <a:headEnd type="none" w="med" len="med"/>
            <a:tailEnd type="none" w="med" len="med"/>
          </a:ln>
        </p:spPr>
      </p:sp>
      <p:sp>
        <p:nvSpPr>
          <p:cNvPr id="15376" name="Line 15"/>
          <p:cNvSpPr/>
          <p:nvPr/>
        </p:nvSpPr>
        <p:spPr>
          <a:xfrm>
            <a:off x="5797233" y="1771015"/>
            <a:ext cx="1587" cy="1152525"/>
          </a:xfrm>
          <a:prstGeom prst="line">
            <a:avLst/>
          </a:prstGeom>
          <a:ln w="9525" cap="flat" cmpd="sng">
            <a:solidFill>
              <a:schemeClr val="tx1"/>
            </a:solidFill>
            <a:prstDash val="solid"/>
            <a:headEnd type="none" w="med" len="med"/>
            <a:tailEnd type="none" w="med" len="med"/>
          </a:ln>
        </p:spPr>
      </p:sp>
      <p:sp>
        <p:nvSpPr>
          <p:cNvPr id="15377" name="Line 16"/>
          <p:cNvSpPr/>
          <p:nvPr/>
        </p:nvSpPr>
        <p:spPr>
          <a:xfrm>
            <a:off x="7884795" y="1771015"/>
            <a:ext cx="1588" cy="1152525"/>
          </a:xfrm>
          <a:prstGeom prst="line">
            <a:avLst/>
          </a:prstGeom>
          <a:ln w="9525" cap="flat" cmpd="sng">
            <a:solidFill>
              <a:schemeClr val="tx1"/>
            </a:solidFill>
            <a:prstDash val="solid"/>
            <a:headEnd type="none" w="med" len="med"/>
            <a:tailEnd type="none" w="med" len="med"/>
          </a:ln>
        </p:spPr>
      </p:sp>
      <p:sp>
        <p:nvSpPr>
          <p:cNvPr id="15378" name="Line 17"/>
          <p:cNvSpPr/>
          <p:nvPr/>
        </p:nvSpPr>
        <p:spPr>
          <a:xfrm flipH="1">
            <a:off x="6013133" y="1628140"/>
            <a:ext cx="1655762" cy="1366838"/>
          </a:xfrm>
          <a:prstGeom prst="line">
            <a:avLst/>
          </a:prstGeom>
          <a:ln w="9525" cap="flat" cmpd="sng">
            <a:solidFill>
              <a:schemeClr val="tx1"/>
            </a:solidFill>
            <a:prstDash val="solid"/>
            <a:headEnd type="none" w="med" len="med"/>
            <a:tailEnd type="none" w="med" len="med"/>
          </a:ln>
        </p:spPr>
      </p:sp>
      <p:sp>
        <p:nvSpPr>
          <p:cNvPr id="15379" name="Text Box 18"/>
          <p:cNvSpPr txBox="1"/>
          <p:nvPr/>
        </p:nvSpPr>
        <p:spPr>
          <a:xfrm>
            <a:off x="4932045" y="1555115"/>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a:t>
            </a:r>
            <a:endParaRPr lang="en-US" altLang="zh-CN" sz="2000" dirty="0">
              <a:solidFill>
                <a:schemeClr val="tx1"/>
              </a:solidFill>
              <a:ea typeface="宋体" panose="02010600030101010101" pitchFamily="2" charset="-122"/>
            </a:endParaRPr>
          </a:p>
        </p:txBody>
      </p:sp>
      <p:sp>
        <p:nvSpPr>
          <p:cNvPr id="15380" name="Text Box 19"/>
          <p:cNvSpPr txBox="1"/>
          <p:nvPr/>
        </p:nvSpPr>
        <p:spPr>
          <a:xfrm>
            <a:off x="5005070" y="292354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2</a:t>
            </a:r>
            <a:endParaRPr lang="en-US" altLang="zh-CN" sz="2000" dirty="0">
              <a:solidFill>
                <a:schemeClr val="tx1"/>
              </a:solidFill>
              <a:ea typeface="宋体" panose="02010600030101010101" pitchFamily="2" charset="-122"/>
            </a:endParaRPr>
          </a:p>
        </p:txBody>
      </p:sp>
      <p:sp>
        <p:nvSpPr>
          <p:cNvPr id="15381" name="Text Box 20"/>
          <p:cNvSpPr txBox="1"/>
          <p:nvPr/>
        </p:nvSpPr>
        <p:spPr>
          <a:xfrm>
            <a:off x="6732270" y="2887028"/>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13</a:t>
            </a:r>
            <a:endParaRPr lang="en-US" altLang="zh-CN" sz="2000" dirty="0">
              <a:solidFill>
                <a:schemeClr val="tx1"/>
              </a:solidFill>
              <a:ea typeface="宋体" panose="02010600030101010101" pitchFamily="2" charset="-122"/>
            </a:endParaRPr>
          </a:p>
        </p:txBody>
      </p:sp>
      <p:sp>
        <p:nvSpPr>
          <p:cNvPr id="15382" name="Text Box 21"/>
          <p:cNvSpPr txBox="1"/>
          <p:nvPr/>
        </p:nvSpPr>
        <p:spPr>
          <a:xfrm>
            <a:off x="6516370" y="1483678"/>
            <a:ext cx="4381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11</a:t>
            </a:r>
            <a:endParaRPr lang="en-US" altLang="zh-CN" sz="2000" dirty="0">
              <a:solidFill>
                <a:schemeClr val="tx1"/>
              </a:solidFill>
              <a:ea typeface="宋体" panose="02010600030101010101" pitchFamily="2" charset="-122"/>
            </a:endParaRPr>
          </a:p>
        </p:txBody>
      </p:sp>
      <p:sp>
        <p:nvSpPr>
          <p:cNvPr id="15383" name="Text Box 22"/>
          <p:cNvSpPr txBox="1"/>
          <p:nvPr/>
        </p:nvSpPr>
        <p:spPr>
          <a:xfrm>
            <a:off x="8245158" y="162814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3</a:t>
            </a:r>
            <a:endParaRPr lang="en-US" altLang="zh-CN" sz="2000" dirty="0">
              <a:solidFill>
                <a:schemeClr val="tx1"/>
              </a:solidFill>
              <a:ea typeface="宋体" panose="02010600030101010101" pitchFamily="2" charset="-122"/>
            </a:endParaRPr>
          </a:p>
        </p:txBody>
      </p:sp>
      <p:sp>
        <p:nvSpPr>
          <p:cNvPr id="15384" name="Text Box 23"/>
          <p:cNvSpPr txBox="1"/>
          <p:nvPr/>
        </p:nvSpPr>
        <p:spPr>
          <a:xfrm>
            <a:off x="6781483" y="2166303"/>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9</a:t>
            </a:r>
            <a:endParaRPr lang="en-US" altLang="zh-CN" sz="2000" dirty="0">
              <a:solidFill>
                <a:schemeClr val="tx1"/>
              </a:solidFill>
              <a:ea typeface="宋体" panose="02010600030101010101" pitchFamily="2" charset="-122"/>
            </a:endParaRPr>
          </a:p>
        </p:txBody>
      </p:sp>
      <p:sp>
        <p:nvSpPr>
          <p:cNvPr id="15385" name="Text Box 24"/>
          <p:cNvSpPr txBox="1"/>
          <p:nvPr/>
        </p:nvSpPr>
        <p:spPr>
          <a:xfrm>
            <a:off x="7813358" y="2131378"/>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7</a:t>
            </a:r>
            <a:endParaRPr lang="en-US" altLang="zh-CN" sz="2000" dirty="0">
              <a:solidFill>
                <a:schemeClr val="tx1"/>
              </a:solidFill>
              <a:ea typeface="宋体" panose="02010600030101010101" pitchFamily="2" charset="-122"/>
            </a:endParaRPr>
          </a:p>
        </p:txBody>
      </p:sp>
      <p:sp>
        <p:nvSpPr>
          <p:cNvPr id="15386" name="Text Box 25"/>
          <p:cNvSpPr txBox="1"/>
          <p:nvPr/>
        </p:nvSpPr>
        <p:spPr>
          <a:xfrm>
            <a:off x="8316595" y="270764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4</a:t>
            </a:r>
            <a:endParaRPr lang="en-US" altLang="zh-CN" sz="2000" dirty="0">
              <a:solidFill>
                <a:schemeClr val="tx1"/>
              </a:solidFill>
              <a:ea typeface="宋体" panose="02010600030101010101" pitchFamily="2" charset="-122"/>
            </a:endParaRPr>
          </a:p>
        </p:txBody>
      </p:sp>
      <p:sp>
        <p:nvSpPr>
          <p:cNvPr id="15387" name="Text Box 26"/>
          <p:cNvSpPr txBox="1"/>
          <p:nvPr/>
        </p:nvSpPr>
        <p:spPr>
          <a:xfrm>
            <a:off x="5797233" y="205994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6</a:t>
            </a:r>
            <a:endParaRPr lang="en-US" altLang="zh-CN" sz="2000" dirty="0">
              <a:solidFill>
                <a:schemeClr val="tx1"/>
              </a:solidFill>
              <a:ea typeface="宋体" panose="02010600030101010101" pitchFamily="2" charset="-122"/>
            </a:endParaRPr>
          </a:p>
        </p:txBody>
      </p:sp>
      <p:graphicFrame>
        <p:nvGraphicFramePr>
          <p:cNvPr id="195611" name="Group 27"/>
          <p:cNvGraphicFramePr>
            <a:graphicFrameLocks noGrp="1"/>
          </p:cNvGraphicFramePr>
          <p:nvPr>
            <p:ph sz="half" idx="4294967295"/>
          </p:nvPr>
        </p:nvGraphicFramePr>
        <p:xfrm>
          <a:off x="611188" y="3978275"/>
          <a:ext cx="7570787" cy="822412"/>
        </p:xfrm>
        <a:graphic>
          <a:graphicData uri="http://schemas.openxmlformats.org/drawingml/2006/table">
            <a:tbl>
              <a:tblPr/>
              <a:tblGrid>
                <a:gridCol w="841375"/>
                <a:gridCol w="841375"/>
                <a:gridCol w="841375"/>
                <a:gridCol w="841375"/>
                <a:gridCol w="839787"/>
                <a:gridCol w="841375"/>
                <a:gridCol w="841375"/>
                <a:gridCol w="841375"/>
                <a:gridCol w="841375"/>
              </a:tblGrid>
              <a:tr h="4111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5643" name="Text Box 59"/>
          <p:cNvSpPr txBox="1"/>
          <p:nvPr/>
        </p:nvSpPr>
        <p:spPr>
          <a:xfrm>
            <a:off x="669925"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(1,2)</a:t>
            </a:r>
            <a:endParaRPr lang="en-US" altLang="zh-CN" sz="2000" dirty="0">
              <a:latin typeface="Arial" panose="020B0604020202020204" pitchFamily="34" charset="0"/>
              <a:ea typeface="宋体" panose="02010600030101010101" pitchFamily="2" charset="-122"/>
            </a:endParaRPr>
          </a:p>
        </p:txBody>
      </p:sp>
      <p:sp>
        <p:nvSpPr>
          <p:cNvPr id="195644" name="Text Box 60"/>
          <p:cNvSpPr txBox="1"/>
          <p:nvPr/>
        </p:nvSpPr>
        <p:spPr>
          <a:xfrm>
            <a:off x="149066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(1,3)</a:t>
            </a:r>
            <a:endParaRPr lang="en-US" altLang="zh-CN" sz="2000" dirty="0">
              <a:latin typeface="Arial" panose="020B0604020202020204" pitchFamily="34" charset="0"/>
              <a:ea typeface="宋体" panose="02010600030101010101" pitchFamily="2" charset="-122"/>
            </a:endParaRPr>
          </a:p>
        </p:txBody>
      </p:sp>
      <p:sp>
        <p:nvSpPr>
          <p:cNvPr id="195645" name="Text Box 61"/>
          <p:cNvSpPr txBox="1"/>
          <p:nvPr/>
        </p:nvSpPr>
        <p:spPr>
          <a:xfrm>
            <a:off x="235426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(4,6)</a:t>
            </a:r>
            <a:endParaRPr lang="en-US" altLang="zh-CN" sz="2000" dirty="0">
              <a:latin typeface="Arial" panose="020B0604020202020204" pitchFamily="34" charset="0"/>
              <a:ea typeface="宋体" panose="02010600030101010101" pitchFamily="2" charset="-122"/>
            </a:endParaRPr>
          </a:p>
        </p:txBody>
      </p:sp>
      <p:sp>
        <p:nvSpPr>
          <p:cNvPr id="195646" name="Text Box 62"/>
          <p:cNvSpPr txBox="1"/>
          <p:nvPr/>
        </p:nvSpPr>
        <p:spPr>
          <a:xfrm>
            <a:off x="3203575"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(5,6)</a:t>
            </a:r>
            <a:endParaRPr lang="en-US" altLang="zh-CN" sz="2000" dirty="0">
              <a:latin typeface="Arial" panose="020B0604020202020204" pitchFamily="34" charset="0"/>
              <a:ea typeface="宋体" panose="02010600030101010101" pitchFamily="2" charset="-122"/>
            </a:endParaRPr>
          </a:p>
        </p:txBody>
      </p:sp>
      <p:sp>
        <p:nvSpPr>
          <p:cNvPr id="195647" name="Text Box 63"/>
          <p:cNvSpPr txBox="1"/>
          <p:nvPr/>
        </p:nvSpPr>
        <p:spPr>
          <a:xfrm>
            <a:off x="401161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(2,3)</a:t>
            </a:r>
            <a:endParaRPr lang="en-US" altLang="zh-CN" sz="2000" dirty="0">
              <a:latin typeface="Arial" panose="020B0604020202020204" pitchFamily="34" charset="0"/>
              <a:ea typeface="宋体" panose="02010600030101010101" pitchFamily="2" charset="-122"/>
            </a:endParaRPr>
          </a:p>
        </p:txBody>
      </p:sp>
      <p:sp>
        <p:nvSpPr>
          <p:cNvPr id="195648" name="Text Box 64"/>
          <p:cNvSpPr txBox="1"/>
          <p:nvPr/>
        </p:nvSpPr>
        <p:spPr>
          <a:xfrm>
            <a:off x="487521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(4,5)</a:t>
            </a:r>
            <a:endParaRPr lang="en-US" altLang="zh-CN" sz="2000" dirty="0">
              <a:latin typeface="Arial" panose="020B0604020202020204" pitchFamily="34" charset="0"/>
              <a:ea typeface="宋体" panose="02010600030101010101" pitchFamily="2" charset="-122"/>
            </a:endParaRPr>
          </a:p>
        </p:txBody>
      </p:sp>
      <p:sp>
        <p:nvSpPr>
          <p:cNvPr id="195649" name="Text Box 65"/>
          <p:cNvSpPr txBox="1"/>
          <p:nvPr/>
        </p:nvSpPr>
        <p:spPr>
          <a:xfrm>
            <a:off x="573881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(3,4)</a:t>
            </a:r>
            <a:endParaRPr lang="en-US" altLang="zh-CN" sz="2000" dirty="0">
              <a:latin typeface="Arial" panose="020B0604020202020204" pitchFamily="34" charset="0"/>
              <a:ea typeface="宋体" panose="02010600030101010101" pitchFamily="2" charset="-122"/>
            </a:endParaRPr>
          </a:p>
        </p:txBody>
      </p:sp>
      <p:sp>
        <p:nvSpPr>
          <p:cNvPr id="195650" name="Text Box 66"/>
          <p:cNvSpPr txBox="1"/>
          <p:nvPr/>
        </p:nvSpPr>
        <p:spPr>
          <a:xfrm>
            <a:off x="6530975"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(2,4)</a:t>
            </a:r>
            <a:endParaRPr lang="en-US" altLang="zh-CN" sz="2000" dirty="0">
              <a:latin typeface="Arial" panose="020B0604020202020204" pitchFamily="34" charset="0"/>
              <a:ea typeface="宋体" panose="02010600030101010101" pitchFamily="2" charset="-122"/>
            </a:endParaRPr>
          </a:p>
        </p:txBody>
      </p:sp>
      <p:sp>
        <p:nvSpPr>
          <p:cNvPr id="195651" name="Text Box 67"/>
          <p:cNvSpPr txBox="1"/>
          <p:nvPr/>
        </p:nvSpPr>
        <p:spPr>
          <a:xfrm>
            <a:off x="7396163" y="4049713"/>
            <a:ext cx="7048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latin typeface="Arial" panose="020B0604020202020204" pitchFamily="34" charset="0"/>
                <a:ea typeface="宋体" panose="02010600030101010101" pitchFamily="2" charset="-122"/>
              </a:rPr>
              <a:t>(3,5)</a:t>
            </a:r>
            <a:endParaRPr lang="en-US" altLang="zh-CN" sz="2000" dirty="0">
              <a:latin typeface="Arial" panose="020B0604020202020204" pitchFamily="34" charset="0"/>
              <a:ea typeface="宋体" panose="02010600030101010101" pitchFamily="2" charset="-122"/>
            </a:endParaRPr>
          </a:p>
        </p:txBody>
      </p:sp>
      <p:sp>
        <p:nvSpPr>
          <p:cNvPr id="195652" name="Text Box 68"/>
          <p:cNvSpPr txBox="1"/>
          <p:nvPr/>
        </p:nvSpPr>
        <p:spPr>
          <a:xfrm>
            <a:off x="857250" y="4438650"/>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1</a:t>
            </a:r>
            <a:endParaRPr lang="en-US" altLang="zh-CN" sz="2400" dirty="0">
              <a:latin typeface="Arial" panose="020B0604020202020204" pitchFamily="34" charset="0"/>
              <a:ea typeface="宋体" panose="02010600030101010101" pitchFamily="2" charset="-122"/>
            </a:endParaRPr>
          </a:p>
        </p:txBody>
      </p:sp>
      <p:sp>
        <p:nvSpPr>
          <p:cNvPr id="195653" name="Text Box 69"/>
          <p:cNvSpPr txBox="1"/>
          <p:nvPr/>
        </p:nvSpPr>
        <p:spPr>
          <a:xfrm>
            <a:off x="1697038" y="4456113"/>
            <a:ext cx="3540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2</a:t>
            </a:r>
            <a:endParaRPr lang="en-US" altLang="zh-CN" sz="2400" dirty="0">
              <a:latin typeface="Arial" panose="020B0604020202020204" pitchFamily="34" charset="0"/>
              <a:ea typeface="宋体" panose="02010600030101010101" pitchFamily="2" charset="-122"/>
            </a:endParaRPr>
          </a:p>
        </p:txBody>
      </p:sp>
      <p:sp>
        <p:nvSpPr>
          <p:cNvPr id="195654" name="Text Box 70"/>
          <p:cNvSpPr txBox="1"/>
          <p:nvPr/>
        </p:nvSpPr>
        <p:spPr>
          <a:xfrm>
            <a:off x="2484438" y="4452938"/>
            <a:ext cx="3540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3</a:t>
            </a:r>
            <a:endParaRPr lang="en-US" altLang="zh-CN" sz="2400" dirty="0">
              <a:latin typeface="Arial" panose="020B0604020202020204" pitchFamily="34" charset="0"/>
              <a:ea typeface="宋体" panose="02010600030101010101" pitchFamily="2" charset="-122"/>
            </a:endParaRPr>
          </a:p>
        </p:txBody>
      </p:sp>
      <p:sp>
        <p:nvSpPr>
          <p:cNvPr id="195655" name="Text Box 71"/>
          <p:cNvSpPr txBox="1"/>
          <p:nvPr/>
        </p:nvSpPr>
        <p:spPr>
          <a:xfrm>
            <a:off x="3324225" y="4470400"/>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4</a:t>
            </a:r>
            <a:endParaRPr lang="en-US" altLang="zh-CN" sz="2400" dirty="0">
              <a:latin typeface="Arial" panose="020B0604020202020204" pitchFamily="34" charset="0"/>
              <a:ea typeface="宋体" panose="02010600030101010101" pitchFamily="2" charset="-122"/>
            </a:endParaRPr>
          </a:p>
        </p:txBody>
      </p:sp>
      <p:sp>
        <p:nvSpPr>
          <p:cNvPr id="195656" name="Text Box 72"/>
          <p:cNvSpPr txBox="1"/>
          <p:nvPr/>
        </p:nvSpPr>
        <p:spPr>
          <a:xfrm>
            <a:off x="4198938" y="4452938"/>
            <a:ext cx="35401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6</a:t>
            </a:r>
            <a:endParaRPr lang="en-US" altLang="zh-CN" sz="2400" dirty="0">
              <a:latin typeface="Arial" panose="020B0604020202020204" pitchFamily="34" charset="0"/>
              <a:ea typeface="宋体" panose="02010600030101010101" pitchFamily="2" charset="-122"/>
            </a:endParaRPr>
          </a:p>
        </p:txBody>
      </p:sp>
      <p:sp>
        <p:nvSpPr>
          <p:cNvPr id="195657" name="Text Box 73"/>
          <p:cNvSpPr txBox="1"/>
          <p:nvPr/>
        </p:nvSpPr>
        <p:spPr>
          <a:xfrm>
            <a:off x="5038725" y="4470400"/>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7</a:t>
            </a:r>
            <a:endParaRPr lang="en-US" altLang="zh-CN" sz="2400" dirty="0">
              <a:latin typeface="Arial" panose="020B0604020202020204" pitchFamily="34" charset="0"/>
              <a:ea typeface="宋体" panose="02010600030101010101" pitchFamily="2" charset="-122"/>
            </a:endParaRPr>
          </a:p>
        </p:txBody>
      </p:sp>
      <p:sp>
        <p:nvSpPr>
          <p:cNvPr id="195658" name="Text Box 74"/>
          <p:cNvSpPr txBox="1"/>
          <p:nvPr/>
        </p:nvSpPr>
        <p:spPr>
          <a:xfrm>
            <a:off x="5826125" y="4467225"/>
            <a:ext cx="35401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9</a:t>
            </a:r>
            <a:endParaRPr lang="en-US" altLang="zh-CN" sz="2400" dirty="0">
              <a:latin typeface="Arial" panose="020B0604020202020204" pitchFamily="34" charset="0"/>
              <a:ea typeface="宋体" panose="02010600030101010101" pitchFamily="2" charset="-122"/>
            </a:endParaRPr>
          </a:p>
        </p:txBody>
      </p:sp>
      <p:sp>
        <p:nvSpPr>
          <p:cNvPr id="195659" name="Text Box 75"/>
          <p:cNvSpPr txBox="1"/>
          <p:nvPr/>
        </p:nvSpPr>
        <p:spPr>
          <a:xfrm>
            <a:off x="6665913" y="4484688"/>
            <a:ext cx="5238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11</a:t>
            </a:r>
            <a:endParaRPr lang="en-US" altLang="zh-CN" sz="2400" dirty="0">
              <a:latin typeface="Arial" panose="020B0604020202020204" pitchFamily="34" charset="0"/>
              <a:ea typeface="宋体" panose="02010600030101010101" pitchFamily="2" charset="-122"/>
            </a:endParaRPr>
          </a:p>
        </p:txBody>
      </p:sp>
      <p:sp>
        <p:nvSpPr>
          <p:cNvPr id="195660" name="Text Box 76"/>
          <p:cNvSpPr txBox="1"/>
          <p:nvPr/>
        </p:nvSpPr>
        <p:spPr>
          <a:xfrm>
            <a:off x="7524750" y="4410075"/>
            <a:ext cx="5238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latin typeface="Arial" panose="020B0604020202020204" pitchFamily="34" charset="0"/>
                <a:ea typeface="宋体" panose="02010600030101010101" pitchFamily="2" charset="-122"/>
              </a:rPr>
              <a:t>13</a:t>
            </a:r>
            <a:endParaRPr lang="en-US" altLang="zh-CN" sz="2400" dirty="0">
              <a:latin typeface="Arial" panose="020B0604020202020204" pitchFamily="34" charset="0"/>
              <a:ea typeface="宋体" panose="02010600030101010101" pitchFamily="2" charset="-122"/>
            </a:endParaRPr>
          </a:p>
        </p:txBody>
      </p:sp>
      <p:sp>
        <p:nvSpPr>
          <p:cNvPr id="195661" name="Oval 77"/>
          <p:cNvSpPr/>
          <p:nvPr/>
        </p:nvSpPr>
        <p:spPr>
          <a:xfrm>
            <a:off x="3924300" y="2062163"/>
            <a:ext cx="503238" cy="503237"/>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6</a:t>
            </a:r>
            <a:endParaRPr lang="en-US" altLang="zh-CN" sz="2000" dirty="0">
              <a:solidFill>
                <a:srgbClr val="FF0000"/>
              </a:solidFill>
              <a:ea typeface="宋体" panose="02010600030101010101" pitchFamily="2" charset="-122"/>
            </a:endParaRPr>
          </a:p>
        </p:txBody>
      </p:sp>
      <p:sp>
        <p:nvSpPr>
          <p:cNvPr id="195662" name="Oval 78"/>
          <p:cNvSpPr/>
          <p:nvPr/>
        </p:nvSpPr>
        <p:spPr>
          <a:xfrm>
            <a:off x="36513" y="1990725"/>
            <a:ext cx="503237" cy="503238"/>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1</a:t>
            </a:r>
            <a:endParaRPr lang="en-US" altLang="zh-CN" sz="2000" dirty="0">
              <a:solidFill>
                <a:srgbClr val="FF0000"/>
              </a:solidFill>
              <a:ea typeface="宋体" panose="02010600030101010101" pitchFamily="2" charset="-122"/>
            </a:endParaRPr>
          </a:p>
        </p:txBody>
      </p:sp>
      <p:sp>
        <p:nvSpPr>
          <p:cNvPr id="195663" name="Oval 79"/>
          <p:cNvSpPr/>
          <p:nvPr/>
        </p:nvSpPr>
        <p:spPr>
          <a:xfrm>
            <a:off x="900113" y="1198563"/>
            <a:ext cx="503237" cy="503237"/>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2</a:t>
            </a:r>
            <a:endParaRPr lang="en-US" altLang="zh-CN" sz="2000" dirty="0">
              <a:solidFill>
                <a:srgbClr val="FF0000"/>
              </a:solidFill>
              <a:ea typeface="宋体" panose="02010600030101010101" pitchFamily="2" charset="-122"/>
            </a:endParaRPr>
          </a:p>
        </p:txBody>
      </p:sp>
      <p:sp>
        <p:nvSpPr>
          <p:cNvPr id="195664" name="Oval 80"/>
          <p:cNvSpPr/>
          <p:nvPr/>
        </p:nvSpPr>
        <p:spPr>
          <a:xfrm>
            <a:off x="973138" y="2854325"/>
            <a:ext cx="503237" cy="503238"/>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3</a:t>
            </a:r>
            <a:endParaRPr lang="en-US" altLang="zh-CN" sz="2000" dirty="0">
              <a:solidFill>
                <a:srgbClr val="FF0000"/>
              </a:solidFill>
              <a:ea typeface="宋体" panose="02010600030101010101" pitchFamily="2" charset="-122"/>
            </a:endParaRPr>
          </a:p>
        </p:txBody>
      </p:sp>
      <p:sp>
        <p:nvSpPr>
          <p:cNvPr id="195665" name="Oval 81"/>
          <p:cNvSpPr/>
          <p:nvPr/>
        </p:nvSpPr>
        <p:spPr>
          <a:xfrm>
            <a:off x="3060700" y="2854325"/>
            <a:ext cx="503238" cy="503238"/>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5</a:t>
            </a:r>
            <a:endParaRPr lang="en-US" altLang="zh-CN" sz="2000" dirty="0">
              <a:solidFill>
                <a:srgbClr val="FF0000"/>
              </a:solidFill>
              <a:ea typeface="宋体" panose="02010600030101010101" pitchFamily="2" charset="-122"/>
            </a:endParaRPr>
          </a:p>
        </p:txBody>
      </p:sp>
      <p:sp>
        <p:nvSpPr>
          <p:cNvPr id="195666" name="Oval 82"/>
          <p:cNvSpPr/>
          <p:nvPr/>
        </p:nvSpPr>
        <p:spPr>
          <a:xfrm>
            <a:off x="3060700" y="1198563"/>
            <a:ext cx="503238" cy="503237"/>
          </a:xfrm>
          <a:prstGeom prst="ellipse">
            <a:avLst/>
          </a:prstGeom>
          <a:solidFill>
            <a:srgbClr val="FFFF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4</a:t>
            </a:r>
            <a:endParaRPr lang="en-US" altLang="zh-CN" sz="2000" dirty="0">
              <a:solidFill>
                <a:srgbClr val="FF0000"/>
              </a:solidFill>
              <a:ea typeface="宋体" panose="02010600030101010101" pitchFamily="2" charset="-122"/>
            </a:endParaRPr>
          </a:p>
        </p:txBody>
      </p:sp>
      <p:sp>
        <p:nvSpPr>
          <p:cNvPr id="195667" name="Line 83"/>
          <p:cNvSpPr/>
          <p:nvPr/>
        </p:nvSpPr>
        <p:spPr>
          <a:xfrm flipH="1">
            <a:off x="396875" y="1558925"/>
            <a:ext cx="503238" cy="431800"/>
          </a:xfrm>
          <a:prstGeom prst="line">
            <a:avLst/>
          </a:prstGeom>
          <a:ln w="9525" cap="flat" cmpd="sng">
            <a:solidFill>
              <a:schemeClr val="tx1"/>
            </a:solidFill>
            <a:prstDash val="solid"/>
            <a:headEnd type="none" w="med" len="med"/>
            <a:tailEnd type="none" w="med" len="med"/>
          </a:ln>
        </p:spPr>
      </p:sp>
      <p:sp>
        <p:nvSpPr>
          <p:cNvPr id="195668" name="Line 84"/>
          <p:cNvSpPr/>
          <p:nvPr/>
        </p:nvSpPr>
        <p:spPr>
          <a:xfrm>
            <a:off x="396875" y="2493963"/>
            <a:ext cx="576263" cy="504825"/>
          </a:xfrm>
          <a:prstGeom prst="line">
            <a:avLst/>
          </a:prstGeom>
          <a:ln w="9525" cap="flat" cmpd="sng">
            <a:solidFill>
              <a:schemeClr val="tx1"/>
            </a:solidFill>
            <a:prstDash val="solid"/>
            <a:headEnd type="none" w="med" len="med"/>
            <a:tailEnd type="none" w="med" len="med"/>
          </a:ln>
        </p:spPr>
      </p:sp>
      <p:sp>
        <p:nvSpPr>
          <p:cNvPr id="195669" name="Line 85"/>
          <p:cNvSpPr/>
          <p:nvPr/>
        </p:nvSpPr>
        <p:spPr>
          <a:xfrm>
            <a:off x="3492500" y="1630363"/>
            <a:ext cx="504825" cy="503237"/>
          </a:xfrm>
          <a:prstGeom prst="line">
            <a:avLst/>
          </a:prstGeom>
          <a:ln w="9525" cap="flat" cmpd="sng">
            <a:solidFill>
              <a:schemeClr val="tx1"/>
            </a:solidFill>
            <a:prstDash val="solid"/>
            <a:headEnd type="none" w="med" len="med"/>
            <a:tailEnd type="none" w="med" len="med"/>
          </a:ln>
        </p:spPr>
      </p:sp>
      <p:sp>
        <p:nvSpPr>
          <p:cNvPr id="195670" name="Line 86"/>
          <p:cNvSpPr/>
          <p:nvPr/>
        </p:nvSpPr>
        <p:spPr>
          <a:xfrm flipH="1">
            <a:off x="3563938" y="2566988"/>
            <a:ext cx="504825" cy="431800"/>
          </a:xfrm>
          <a:prstGeom prst="line">
            <a:avLst/>
          </a:prstGeom>
          <a:ln w="9525" cap="flat" cmpd="sng">
            <a:solidFill>
              <a:schemeClr val="tx1"/>
            </a:solidFill>
            <a:prstDash val="solid"/>
            <a:headEnd type="none" w="med" len="med"/>
            <a:tailEnd type="none" w="med" len="med"/>
          </a:ln>
        </p:spPr>
      </p:sp>
      <p:sp>
        <p:nvSpPr>
          <p:cNvPr id="195671" name="Line 87"/>
          <p:cNvSpPr/>
          <p:nvPr/>
        </p:nvSpPr>
        <p:spPr>
          <a:xfrm>
            <a:off x="1189038" y="1701800"/>
            <a:ext cx="1587" cy="1152525"/>
          </a:xfrm>
          <a:prstGeom prst="line">
            <a:avLst/>
          </a:prstGeom>
          <a:ln w="9525" cap="flat" cmpd="sng">
            <a:solidFill>
              <a:schemeClr val="tx1"/>
            </a:solidFill>
            <a:prstDash val="solid"/>
            <a:headEnd type="none" w="med" len="med"/>
            <a:tailEnd type="none" w="med" len="med"/>
          </a:ln>
        </p:spPr>
      </p:sp>
      <p:sp>
        <p:nvSpPr>
          <p:cNvPr id="195672" name="Line 88"/>
          <p:cNvSpPr/>
          <p:nvPr/>
        </p:nvSpPr>
        <p:spPr>
          <a:xfrm>
            <a:off x="3276600" y="1701800"/>
            <a:ext cx="1588" cy="1152525"/>
          </a:xfrm>
          <a:prstGeom prst="line">
            <a:avLst/>
          </a:prstGeom>
          <a:ln w="9525" cap="flat" cmpd="sng">
            <a:solidFill>
              <a:schemeClr val="tx1"/>
            </a:solidFill>
            <a:prstDash val="solid"/>
            <a:headEnd type="none" w="med" len="med"/>
            <a:tailEnd type="none" w="med" len="med"/>
          </a:ln>
        </p:spPr>
      </p:sp>
      <p:sp>
        <p:nvSpPr>
          <p:cNvPr id="195673" name="Line 89"/>
          <p:cNvSpPr/>
          <p:nvPr/>
        </p:nvSpPr>
        <p:spPr>
          <a:xfrm flipH="1">
            <a:off x="1404938" y="1558925"/>
            <a:ext cx="1655762" cy="1366838"/>
          </a:xfrm>
          <a:prstGeom prst="line">
            <a:avLst/>
          </a:prstGeom>
          <a:ln w="9525" cap="flat" cmpd="sng">
            <a:solidFill>
              <a:schemeClr val="tx1"/>
            </a:solidFill>
            <a:prstDash val="solid"/>
            <a:headEnd type="none" w="med" len="med"/>
            <a:tailEnd type="none" w="med" len="med"/>
          </a:ln>
        </p:spPr>
      </p:sp>
      <p:sp>
        <p:nvSpPr>
          <p:cNvPr id="195674" name="Text Box 90"/>
          <p:cNvSpPr txBox="1"/>
          <p:nvPr/>
        </p:nvSpPr>
        <p:spPr>
          <a:xfrm>
            <a:off x="611188" y="5084763"/>
            <a:ext cx="3595687"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rgbClr val="FF0000"/>
                </a:solidFill>
                <a:ea typeface="宋体" panose="02010600030101010101" pitchFamily="2" charset="-122"/>
              </a:rPr>
              <a:t>!</a:t>
            </a:r>
            <a:r>
              <a:rPr lang="zh-CN" altLang="en-US" sz="2400" dirty="0">
                <a:solidFill>
                  <a:srgbClr val="FF0000"/>
                </a:solidFill>
                <a:ea typeface="宋体" panose="02010600030101010101" pitchFamily="2" charset="-122"/>
              </a:rPr>
              <a:t>构成回路</a:t>
            </a:r>
            <a:r>
              <a:rPr lang="en-US" altLang="zh-CN" sz="2400" dirty="0">
                <a:solidFill>
                  <a:srgbClr val="FF0000"/>
                </a:solidFill>
                <a:ea typeface="宋体" panose="02010600030101010101" pitchFamily="2" charset="-122"/>
              </a:rPr>
              <a:t>, </a:t>
            </a:r>
            <a:r>
              <a:rPr lang="zh-CN" altLang="en-US" sz="2400" dirty="0">
                <a:solidFill>
                  <a:srgbClr val="FF0000"/>
                </a:solidFill>
                <a:ea typeface="宋体" panose="02010600030101010101" pitchFamily="2" charset="-122"/>
              </a:rPr>
              <a:t>这条边被丢弃</a:t>
            </a:r>
            <a:r>
              <a:rPr lang="en-US" altLang="zh-CN" sz="2400" dirty="0">
                <a:solidFill>
                  <a:srgbClr val="FF0000"/>
                </a:solidFill>
                <a:ea typeface="宋体" panose="02010600030101010101" pitchFamily="2" charset="-122"/>
              </a:rPr>
              <a:t>.</a:t>
            </a:r>
            <a:endParaRPr lang="en-US" altLang="zh-CN" sz="2400" dirty="0">
              <a:solidFill>
                <a:srgbClr val="FF0000"/>
              </a:solidFill>
              <a:ea typeface="宋体" panose="02010600030101010101" pitchFamily="2" charset="-122"/>
            </a:endParaRPr>
          </a:p>
        </p:txBody>
      </p:sp>
      <p:sp>
        <p:nvSpPr>
          <p:cNvPr id="195675" name="Text Box 91"/>
          <p:cNvSpPr txBox="1"/>
          <p:nvPr/>
        </p:nvSpPr>
        <p:spPr>
          <a:xfrm>
            <a:off x="6227763" y="5300663"/>
            <a:ext cx="1420812" cy="457200"/>
          </a:xfrm>
          <a:prstGeom prst="rect">
            <a:avLst/>
          </a:prstGeom>
          <a:solidFill>
            <a:srgbClr val="FF0000"/>
          </a:solid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Success!</a:t>
            </a:r>
            <a:endParaRPr lang="en-US" altLang="zh-CN" sz="2400" dirty="0">
              <a:solidFill>
                <a:schemeClr val="tx1"/>
              </a:solidFill>
              <a:latin typeface="Arial" panose="020B0604020202020204" pitchFamily="34" charset="0"/>
              <a:ea typeface="宋体" panose="02010600030101010101" pitchFamily="2" charset="-122"/>
            </a:endParaRPr>
          </a:p>
        </p:txBody>
      </p:sp>
      <p:sp>
        <p:nvSpPr>
          <p:cNvPr id="14339" name="Rectangle 2"/>
          <p:cNvSpPr>
            <a:spLocks noGrp="1"/>
          </p:cNvSpPr>
          <p:nvPr>
            <p:ph type="title"/>
          </p:nvPr>
        </p:nvSpPr>
        <p:spPr/>
        <p:txBody>
          <a:bodyPr vert="horz" wrap="square" lIns="91440" tIns="45720" rIns="91440" bIns="45720" anchor="ctr" anchorCtr="0"/>
          <a:p>
            <a:pPr eaLnBrk="1" hangingPunct="1"/>
            <a:r>
              <a:rPr lang="en-US" altLang="zh-CN" dirty="0"/>
              <a:t>5.1.1 Kruskal</a:t>
            </a:r>
            <a:r>
              <a:rPr lang="zh-CN" altLang="en-US" dirty="0"/>
              <a:t>算法基本思想</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5663"/>
                                        </p:tgtEl>
                                        <p:attrNameLst>
                                          <p:attrName>style.visibility</p:attrName>
                                        </p:attrNameLst>
                                      </p:cBhvr>
                                      <p:to>
                                        <p:strVal val="visible"/>
                                      </p:to>
                                    </p:set>
                                    <p:animEffect transition="in" filter="checkerboard(across)">
                                      <p:cBhvr>
                                        <p:cTn id="7" dur="500"/>
                                        <p:tgtEl>
                                          <p:spTgt spid="19566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5662"/>
                                        </p:tgtEl>
                                        <p:attrNameLst>
                                          <p:attrName>style.visibility</p:attrName>
                                        </p:attrNameLst>
                                      </p:cBhvr>
                                      <p:to>
                                        <p:strVal val="visible"/>
                                      </p:to>
                                    </p:set>
                                    <p:animEffect transition="in" filter="checkerboard(across)">
                                      <p:cBhvr>
                                        <p:cTn id="10" dur="500"/>
                                        <p:tgtEl>
                                          <p:spTgt spid="19566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95664"/>
                                        </p:tgtEl>
                                        <p:attrNameLst>
                                          <p:attrName>style.visibility</p:attrName>
                                        </p:attrNameLst>
                                      </p:cBhvr>
                                      <p:to>
                                        <p:strVal val="visible"/>
                                      </p:to>
                                    </p:set>
                                    <p:animEffect transition="in" filter="checkerboard(across)">
                                      <p:cBhvr>
                                        <p:cTn id="13" dur="500"/>
                                        <p:tgtEl>
                                          <p:spTgt spid="19566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95666"/>
                                        </p:tgtEl>
                                        <p:attrNameLst>
                                          <p:attrName>style.visibility</p:attrName>
                                        </p:attrNameLst>
                                      </p:cBhvr>
                                      <p:to>
                                        <p:strVal val="visible"/>
                                      </p:to>
                                    </p:set>
                                    <p:animEffect transition="in" filter="checkerboard(across)">
                                      <p:cBhvr>
                                        <p:cTn id="16" dur="500"/>
                                        <p:tgtEl>
                                          <p:spTgt spid="195666"/>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95665"/>
                                        </p:tgtEl>
                                        <p:attrNameLst>
                                          <p:attrName>style.visibility</p:attrName>
                                        </p:attrNameLst>
                                      </p:cBhvr>
                                      <p:to>
                                        <p:strVal val="visible"/>
                                      </p:to>
                                    </p:set>
                                    <p:animEffect transition="in" filter="checkerboard(across)">
                                      <p:cBhvr>
                                        <p:cTn id="19" dur="500"/>
                                        <p:tgtEl>
                                          <p:spTgt spid="195665"/>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95661"/>
                                        </p:tgtEl>
                                        <p:attrNameLst>
                                          <p:attrName>style.visibility</p:attrName>
                                        </p:attrNameLst>
                                      </p:cBhvr>
                                      <p:to>
                                        <p:strVal val="visible"/>
                                      </p:to>
                                    </p:set>
                                    <p:animEffect transition="in" filter="checkerboard(across)">
                                      <p:cBhvr>
                                        <p:cTn id="22" dur="500"/>
                                        <p:tgtEl>
                                          <p:spTgt spid="19566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5611"/>
                                        </p:tgtEl>
                                        <p:attrNameLst>
                                          <p:attrName>style.visibility</p:attrName>
                                        </p:attrNameLst>
                                      </p:cBhvr>
                                      <p:to>
                                        <p:strVal val="visible"/>
                                      </p:to>
                                    </p:set>
                                    <p:animEffect transition="in" filter="blinds(horizontal)">
                                      <p:cBhvr>
                                        <p:cTn id="27" dur="500"/>
                                        <p:tgtEl>
                                          <p:spTgt spid="19561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95643"/>
                                        </p:tgtEl>
                                        <p:attrNameLst>
                                          <p:attrName>style.visibility</p:attrName>
                                        </p:attrNameLst>
                                      </p:cBhvr>
                                      <p:to>
                                        <p:strVal val="visible"/>
                                      </p:to>
                                    </p:set>
                                    <p:animEffect transition="in" filter="blinds(horizontal)">
                                      <p:cBhvr>
                                        <p:cTn id="30" dur="500"/>
                                        <p:tgtEl>
                                          <p:spTgt spid="19564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95644"/>
                                        </p:tgtEl>
                                        <p:attrNameLst>
                                          <p:attrName>style.visibility</p:attrName>
                                        </p:attrNameLst>
                                      </p:cBhvr>
                                      <p:to>
                                        <p:strVal val="visible"/>
                                      </p:to>
                                    </p:set>
                                    <p:animEffect transition="in" filter="blinds(horizontal)">
                                      <p:cBhvr>
                                        <p:cTn id="33" dur="500"/>
                                        <p:tgtEl>
                                          <p:spTgt spid="19564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95645"/>
                                        </p:tgtEl>
                                        <p:attrNameLst>
                                          <p:attrName>style.visibility</p:attrName>
                                        </p:attrNameLst>
                                      </p:cBhvr>
                                      <p:to>
                                        <p:strVal val="visible"/>
                                      </p:to>
                                    </p:set>
                                    <p:animEffect transition="in" filter="blinds(horizontal)">
                                      <p:cBhvr>
                                        <p:cTn id="36" dur="500"/>
                                        <p:tgtEl>
                                          <p:spTgt spid="19564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95646"/>
                                        </p:tgtEl>
                                        <p:attrNameLst>
                                          <p:attrName>style.visibility</p:attrName>
                                        </p:attrNameLst>
                                      </p:cBhvr>
                                      <p:to>
                                        <p:strVal val="visible"/>
                                      </p:to>
                                    </p:set>
                                    <p:animEffect transition="in" filter="blinds(horizontal)">
                                      <p:cBhvr>
                                        <p:cTn id="39" dur="500"/>
                                        <p:tgtEl>
                                          <p:spTgt spid="19564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95647"/>
                                        </p:tgtEl>
                                        <p:attrNameLst>
                                          <p:attrName>style.visibility</p:attrName>
                                        </p:attrNameLst>
                                      </p:cBhvr>
                                      <p:to>
                                        <p:strVal val="visible"/>
                                      </p:to>
                                    </p:set>
                                    <p:animEffect transition="in" filter="blinds(horizontal)">
                                      <p:cBhvr>
                                        <p:cTn id="42" dur="500"/>
                                        <p:tgtEl>
                                          <p:spTgt spid="19564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95648"/>
                                        </p:tgtEl>
                                        <p:attrNameLst>
                                          <p:attrName>style.visibility</p:attrName>
                                        </p:attrNameLst>
                                      </p:cBhvr>
                                      <p:to>
                                        <p:strVal val="visible"/>
                                      </p:to>
                                    </p:set>
                                    <p:animEffect transition="in" filter="blinds(horizontal)">
                                      <p:cBhvr>
                                        <p:cTn id="45" dur="500"/>
                                        <p:tgtEl>
                                          <p:spTgt spid="19564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95649"/>
                                        </p:tgtEl>
                                        <p:attrNameLst>
                                          <p:attrName>style.visibility</p:attrName>
                                        </p:attrNameLst>
                                      </p:cBhvr>
                                      <p:to>
                                        <p:strVal val="visible"/>
                                      </p:to>
                                    </p:set>
                                    <p:animEffect transition="in" filter="blinds(horizontal)">
                                      <p:cBhvr>
                                        <p:cTn id="48" dur="500"/>
                                        <p:tgtEl>
                                          <p:spTgt spid="19564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95650"/>
                                        </p:tgtEl>
                                        <p:attrNameLst>
                                          <p:attrName>style.visibility</p:attrName>
                                        </p:attrNameLst>
                                      </p:cBhvr>
                                      <p:to>
                                        <p:strVal val="visible"/>
                                      </p:to>
                                    </p:set>
                                    <p:animEffect transition="in" filter="blinds(horizontal)">
                                      <p:cBhvr>
                                        <p:cTn id="51" dur="500"/>
                                        <p:tgtEl>
                                          <p:spTgt spid="19565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95651"/>
                                        </p:tgtEl>
                                        <p:attrNameLst>
                                          <p:attrName>style.visibility</p:attrName>
                                        </p:attrNameLst>
                                      </p:cBhvr>
                                      <p:to>
                                        <p:strVal val="visible"/>
                                      </p:to>
                                    </p:set>
                                    <p:animEffect transition="in" filter="blinds(horizontal)">
                                      <p:cBhvr>
                                        <p:cTn id="54" dur="500"/>
                                        <p:tgtEl>
                                          <p:spTgt spid="195651"/>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95652"/>
                                        </p:tgtEl>
                                        <p:attrNameLst>
                                          <p:attrName>style.visibility</p:attrName>
                                        </p:attrNameLst>
                                      </p:cBhvr>
                                      <p:to>
                                        <p:strVal val="visible"/>
                                      </p:to>
                                    </p:set>
                                    <p:animEffect transition="in" filter="blinds(horizontal)">
                                      <p:cBhvr>
                                        <p:cTn id="57" dur="500"/>
                                        <p:tgtEl>
                                          <p:spTgt spid="19565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95653"/>
                                        </p:tgtEl>
                                        <p:attrNameLst>
                                          <p:attrName>style.visibility</p:attrName>
                                        </p:attrNameLst>
                                      </p:cBhvr>
                                      <p:to>
                                        <p:strVal val="visible"/>
                                      </p:to>
                                    </p:set>
                                    <p:animEffect transition="in" filter="blinds(horizontal)">
                                      <p:cBhvr>
                                        <p:cTn id="60" dur="500"/>
                                        <p:tgtEl>
                                          <p:spTgt spid="195653"/>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95654"/>
                                        </p:tgtEl>
                                        <p:attrNameLst>
                                          <p:attrName>style.visibility</p:attrName>
                                        </p:attrNameLst>
                                      </p:cBhvr>
                                      <p:to>
                                        <p:strVal val="visible"/>
                                      </p:to>
                                    </p:set>
                                    <p:animEffect transition="in" filter="blinds(horizontal)">
                                      <p:cBhvr>
                                        <p:cTn id="63" dur="500"/>
                                        <p:tgtEl>
                                          <p:spTgt spid="195654"/>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95655"/>
                                        </p:tgtEl>
                                        <p:attrNameLst>
                                          <p:attrName>style.visibility</p:attrName>
                                        </p:attrNameLst>
                                      </p:cBhvr>
                                      <p:to>
                                        <p:strVal val="visible"/>
                                      </p:to>
                                    </p:set>
                                    <p:animEffect transition="in" filter="blinds(horizontal)">
                                      <p:cBhvr>
                                        <p:cTn id="66" dur="500"/>
                                        <p:tgtEl>
                                          <p:spTgt spid="195655"/>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95656"/>
                                        </p:tgtEl>
                                        <p:attrNameLst>
                                          <p:attrName>style.visibility</p:attrName>
                                        </p:attrNameLst>
                                      </p:cBhvr>
                                      <p:to>
                                        <p:strVal val="visible"/>
                                      </p:to>
                                    </p:set>
                                    <p:animEffect transition="in" filter="blinds(horizontal)">
                                      <p:cBhvr>
                                        <p:cTn id="69" dur="500"/>
                                        <p:tgtEl>
                                          <p:spTgt spid="19565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95657"/>
                                        </p:tgtEl>
                                        <p:attrNameLst>
                                          <p:attrName>style.visibility</p:attrName>
                                        </p:attrNameLst>
                                      </p:cBhvr>
                                      <p:to>
                                        <p:strVal val="visible"/>
                                      </p:to>
                                    </p:set>
                                    <p:animEffect transition="in" filter="blinds(horizontal)">
                                      <p:cBhvr>
                                        <p:cTn id="72" dur="500"/>
                                        <p:tgtEl>
                                          <p:spTgt spid="19565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95658"/>
                                        </p:tgtEl>
                                        <p:attrNameLst>
                                          <p:attrName>style.visibility</p:attrName>
                                        </p:attrNameLst>
                                      </p:cBhvr>
                                      <p:to>
                                        <p:strVal val="visible"/>
                                      </p:to>
                                    </p:set>
                                    <p:animEffect transition="in" filter="blinds(horizontal)">
                                      <p:cBhvr>
                                        <p:cTn id="75" dur="500"/>
                                        <p:tgtEl>
                                          <p:spTgt spid="195658"/>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95659"/>
                                        </p:tgtEl>
                                        <p:attrNameLst>
                                          <p:attrName>style.visibility</p:attrName>
                                        </p:attrNameLst>
                                      </p:cBhvr>
                                      <p:to>
                                        <p:strVal val="visible"/>
                                      </p:to>
                                    </p:set>
                                    <p:animEffect transition="in" filter="blinds(horizontal)">
                                      <p:cBhvr>
                                        <p:cTn id="78" dur="500"/>
                                        <p:tgtEl>
                                          <p:spTgt spid="19565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95660"/>
                                        </p:tgtEl>
                                        <p:attrNameLst>
                                          <p:attrName>style.visibility</p:attrName>
                                        </p:attrNameLst>
                                      </p:cBhvr>
                                      <p:to>
                                        <p:strVal val="visible"/>
                                      </p:to>
                                    </p:set>
                                    <p:animEffect transition="in" filter="blinds(horizontal)">
                                      <p:cBhvr>
                                        <p:cTn id="81" dur="500"/>
                                        <p:tgtEl>
                                          <p:spTgt spid="195660"/>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mph" presetSubtype="2" fill="hold" grpId="1" nodeType="clickEffect">
                                  <p:stCondLst>
                                    <p:cond delay="0"/>
                                  </p:stCondLst>
                                  <p:childTnLst>
                                    <p:animClr clrSpc="rgb" dir="cw">
                                      <p:cBhvr override="childStyle">
                                        <p:cTn id="85" dur="2000" fill="hold"/>
                                        <p:tgtEl>
                                          <p:spTgt spid="195643"/>
                                        </p:tgtEl>
                                        <p:attrNameLst>
                                          <p:attrName>style.color</p:attrName>
                                        </p:attrNameLst>
                                      </p:cBhvr>
                                      <p:to>
                                        <a:srgbClr val="FF0000"/>
                                      </p:to>
                                    </p:animClr>
                                  </p:childTnLst>
                                </p:cTn>
                              </p:par>
                              <p:par>
                                <p:cTn id="86" presetID="3" presetClass="emph" presetSubtype="2" fill="hold" grpId="1" nodeType="withEffect">
                                  <p:stCondLst>
                                    <p:cond delay="0"/>
                                  </p:stCondLst>
                                  <p:childTnLst>
                                    <p:animClr clrSpc="rgb" dir="cw">
                                      <p:cBhvr override="childStyle">
                                        <p:cTn id="87" dur="2000" fill="hold"/>
                                        <p:tgtEl>
                                          <p:spTgt spid="195652"/>
                                        </p:tgtEl>
                                        <p:attrNameLst>
                                          <p:attrName>style.color</p:attrName>
                                        </p:attrNameLst>
                                      </p:cBhvr>
                                      <p:to>
                                        <a:srgbClr val="FF0000"/>
                                      </p:to>
                                    </p:animClr>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nodeType="clickEffect">
                                  <p:stCondLst>
                                    <p:cond delay="0"/>
                                  </p:stCondLst>
                                  <p:childTnLst>
                                    <p:set>
                                      <p:cBhvr>
                                        <p:cTn id="91" dur="1" fill="hold">
                                          <p:stCondLst>
                                            <p:cond delay="0"/>
                                          </p:stCondLst>
                                        </p:cTn>
                                        <p:tgtEl>
                                          <p:spTgt spid="195667"/>
                                        </p:tgtEl>
                                        <p:attrNameLst>
                                          <p:attrName>style.visibility</p:attrName>
                                        </p:attrNameLst>
                                      </p:cBhvr>
                                      <p:to>
                                        <p:strVal val="visible"/>
                                      </p:to>
                                    </p:set>
                                    <p:animEffect transition="in" filter="box(in)">
                                      <p:cBhvr>
                                        <p:cTn id="92" dur="500"/>
                                        <p:tgtEl>
                                          <p:spTgt spid="195667"/>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mph" presetSubtype="2" fill="hold" grpId="1" nodeType="clickEffect">
                                  <p:stCondLst>
                                    <p:cond delay="0"/>
                                  </p:stCondLst>
                                  <p:childTnLst>
                                    <p:animClr clrSpc="rgb" dir="cw">
                                      <p:cBhvr override="childStyle">
                                        <p:cTn id="96" dur="2000" fill="hold"/>
                                        <p:tgtEl>
                                          <p:spTgt spid="195644"/>
                                        </p:tgtEl>
                                        <p:attrNameLst>
                                          <p:attrName>style.color</p:attrName>
                                        </p:attrNameLst>
                                      </p:cBhvr>
                                      <p:to>
                                        <a:srgbClr val="FF0000"/>
                                      </p:to>
                                    </p:animClr>
                                  </p:childTnLst>
                                </p:cTn>
                              </p:par>
                              <p:par>
                                <p:cTn id="97" presetID="3" presetClass="emph" presetSubtype="2" fill="hold" grpId="1" nodeType="withEffect">
                                  <p:stCondLst>
                                    <p:cond delay="0"/>
                                  </p:stCondLst>
                                  <p:childTnLst>
                                    <p:animClr clrSpc="rgb" dir="cw">
                                      <p:cBhvr override="childStyle">
                                        <p:cTn id="98" dur="2000" fill="hold"/>
                                        <p:tgtEl>
                                          <p:spTgt spid="195653"/>
                                        </p:tgtEl>
                                        <p:attrNameLst>
                                          <p:attrName>style.color</p:attrName>
                                        </p:attrNameLst>
                                      </p:cBhvr>
                                      <p:to>
                                        <a:srgbClr val="FF0000"/>
                                      </p:to>
                                    </p:animClr>
                                  </p:childTnLst>
                                </p:cTn>
                              </p:par>
                            </p:childTnLst>
                          </p:cTn>
                        </p:par>
                      </p:childTnLst>
                    </p:cTn>
                  </p:par>
                  <p:par>
                    <p:cTn id="99" fill="hold">
                      <p:stCondLst>
                        <p:cond delay="indefinite"/>
                      </p:stCondLst>
                      <p:childTnLst>
                        <p:par>
                          <p:cTn id="100" fill="hold">
                            <p:stCondLst>
                              <p:cond delay="0"/>
                            </p:stCondLst>
                            <p:childTnLst>
                              <p:par>
                                <p:cTn id="101" presetID="4" presetClass="entr" presetSubtype="16" fill="hold" nodeType="clickEffect">
                                  <p:stCondLst>
                                    <p:cond delay="0"/>
                                  </p:stCondLst>
                                  <p:childTnLst>
                                    <p:set>
                                      <p:cBhvr>
                                        <p:cTn id="102" dur="1" fill="hold">
                                          <p:stCondLst>
                                            <p:cond delay="0"/>
                                          </p:stCondLst>
                                        </p:cTn>
                                        <p:tgtEl>
                                          <p:spTgt spid="195668"/>
                                        </p:tgtEl>
                                        <p:attrNameLst>
                                          <p:attrName>style.visibility</p:attrName>
                                        </p:attrNameLst>
                                      </p:cBhvr>
                                      <p:to>
                                        <p:strVal val="visible"/>
                                      </p:to>
                                    </p:set>
                                    <p:animEffect transition="in" filter="box(in)">
                                      <p:cBhvr>
                                        <p:cTn id="103" dur="500"/>
                                        <p:tgtEl>
                                          <p:spTgt spid="195668"/>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mph" presetSubtype="2" fill="hold" grpId="1" nodeType="clickEffect">
                                  <p:stCondLst>
                                    <p:cond delay="0"/>
                                  </p:stCondLst>
                                  <p:childTnLst>
                                    <p:animClr clrSpc="rgb" dir="cw">
                                      <p:cBhvr override="childStyle">
                                        <p:cTn id="107" dur="2000" fill="hold"/>
                                        <p:tgtEl>
                                          <p:spTgt spid="195645"/>
                                        </p:tgtEl>
                                        <p:attrNameLst>
                                          <p:attrName>style.color</p:attrName>
                                        </p:attrNameLst>
                                      </p:cBhvr>
                                      <p:to>
                                        <a:srgbClr val="FF0000"/>
                                      </p:to>
                                    </p:animClr>
                                  </p:childTnLst>
                                </p:cTn>
                              </p:par>
                              <p:par>
                                <p:cTn id="108" presetID="3" presetClass="emph" presetSubtype="2" fill="hold" grpId="1" nodeType="withEffect">
                                  <p:stCondLst>
                                    <p:cond delay="0"/>
                                  </p:stCondLst>
                                  <p:childTnLst>
                                    <p:animClr clrSpc="rgb" dir="cw">
                                      <p:cBhvr override="childStyle">
                                        <p:cTn id="109" dur="2000" fill="hold"/>
                                        <p:tgtEl>
                                          <p:spTgt spid="195654"/>
                                        </p:tgtEl>
                                        <p:attrNameLst>
                                          <p:attrName>style.color</p:attrName>
                                        </p:attrNameLst>
                                      </p:cBhvr>
                                      <p:to>
                                        <a:srgbClr val="FF0000"/>
                                      </p:to>
                                    </p:animClr>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nodeType="clickEffect">
                                  <p:stCondLst>
                                    <p:cond delay="0"/>
                                  </p:stCondLst>
                                  <p:childTnLst>
                                    <p:set>
                                      <p:cBhvr>
                                        <p:cTn id="113" dur="1" fill="hold">
                                          <p:stCondLst>
                                            <p:cond delay="0"/>
                                          </p:stCondLst>
                                        </p:cTn>
                                        <p:tgtEl>
                                          <p:spTgt spid="195669"/>
                                        </p:tgtEl>
                                        <p:attrNameLst>
                                          <p:attrName>style.visibility</p:attrName>
                                        </p:attrNameLst>
                                      </p:cBhvr>
                                      <p:to>
                                        <p:strVal val="visible"/>
                                      </p:to>
                                    </p:set>
                                    <p:animEffect transition="in" filter="box(in)">
                                      <p:cBhvr>
                                        <p:cTn id="114" dur="500"/>
                                        <p:tgtEl>
                                          <p:spTgt spid="195669"/>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mph" presetSubtype="2" fill="hold" grpId="1" nodeType="clickEffect">
                                  <p:stCondLst>
                                    <p:cond delay="0"/>
                                  </p:stCondLst>
                                  <p:childTnLst>
                                    <p:animClr clrSpc="rgb" dir="cw">
                                      <p:cBhvr override="childStyle">
                                        <p:cTn id="118" dur="2000" fill="hold"/>
                                        <p:tgtEl>
                                          <p:spTgt spid="195646"/>
                                        </p:tgtEl>
                                        <p:attrNameLst>
                                          <p:attrName>style.color</p:attrName>
                                        </p:attrNameLst>
                                      </p:cBhvr>
                                      <p:to>
                                        <a:srgbClr val="FF0000"/>
                                      </p:to>
                                    </p:animClr>
                                  </p:childTnLst>
                                </p:cTn>
                              </p:par>
                              <p:par>
                                <p:cTn id="119" presetID="3" presetClass="emph" presetSubtype="2" fill="hold" grpId="1" nodeType="withEffect">
                                  <p:stCondLst>
                                    <p:cond delay="0"/>
                                  </p:stCondLst>
                                  <p:childTnLst>
                                    <p:animClr clrSpc="rgb" dir="cw">
                                      <p:cBhvr override="childStyle">
                                        <p:cTn id="120" dur="2000" fill="hold"/>
                                        <p:tgtEl>
                                          <p:spTgt spid="195655"/>
                                        </p:tgtEl>
                                        <p:attrNameLst>
                                          <p:attrName>style.color</p:attrName>
                                        </p:attrNameLst>
                                      </p:cBhvr>
                                      <p:to>
                                        <a:srgbClr val="FF0000"/>
                                      </p:to>
                                    </p:animClr>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nodeType="clickEffect">
                                  <p:stCondLst>
                                    <p:cond delay="0"/>
                                  </p:stCondLst>
                                  <p:childTnLst>
                                    <p:set>
                                      <p:cBhvr>
                                        <p:cTn id="124" dur="1" fill="hold">
                                          <p:stCondLst>
                                            <p:cond delay="0"/>
                                          </p:stCondLst>
                                        </p:cTn>
                                        <p:tgtEl>
                                          <p:spTgt spid="195670"/>
                                        </p:tgtEl>
                                        <p:attrNameLst>
                                          <p:attrName>style.visibility</p:attrName>
                                        </p:attrNameLst>
                                      </p:cBhvr>
                                      <p:to>
                                        <p:strVal val="visible"/>
                                      </p:to>
                                    </p:set>
                                    <p:animEffect transition="in" filter="box(in)">
                                      <p:cBhvr>
                                        <p:cTn id="125" dur="500"/>
                                        <p:tgtEl>
                                          <p:spTgt spid="195670"/>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mph" presetSubtype="2" fill="hold" grpId="1" nodeType="clickEffect">
                                  <p:stCondLst>
                                    <p:cond delay="0"/>
                                  </p:stCondLst>
                                  <p:childTnLst>
                                    <p:animClr clrSpc="rgb" dir="cw">
                                      <p:cBhvr override="childStyle">
                                        <p:cTn id="129" dur="2000" fill="hold"/>
                                        <p:tgtEl>
                                          <p:spTgt spid="195647"/>
                                        </p:tgtEl>
                                        <p:attrNameLst>
                                          <p:attrName>style.color</p:attrName>
                                        </p:attrNameLst>
                                      </p:cBhvr>
                                      <p:to>
                                        <a:srgbClr val="FF0000"/>
                                      </p:to>
                                    </p:animClr>
                                  </p:childTnLst>
                                </p:cTn>
                              </p:par>
                              <p:par>
                                <p:cTn id="130" presetID="3" presetClass="emph" presetSubtype="2" fill="hold" grpId="1" nodeType="withEffect">
                                  <p:stCondLst>
                                    <p:cond delay="0"/>
                                  </p:stCondLst>
                                  <p:childTnLst>
                                    <p:animClr clrSpc="rgb" dir="cw">
                                      <p:cBhvr override="childStyle">
                                        <p:cTn id="131" dur="2000" fill="hold"/>
                                        <p:tgtEl>
                                          <p:spTgt spid="195656"/>
                                        </p:tgtEl>
                                        <p:attrNameLst>
                                          <p:attrName>style.color</p:attrName>
                                        </p:attrNameLst>
                                      </p:cBhvr>
                                      <p:to>
                                        <a:srgbClr val="FF0000"/>
                                      </p:to>
                                    </p:animClr>
                                  </p:childTnLst>
                                </p:cTn>
                              </p:par>
                            </p:childTnLst>
                          </p:cTn>
                        </p:par>
                      </p:childTnLst>
                    </p:cTn>
                  </p:par>
                  <p:par>
                    <p:cTn id="132" fill="hold">
                      <p:stCondLst>
                        <p:cond delay="indefinite"/>
                      </p:stCondLst>
                      <p:childTnLst>
                        <p:par>
                          <p:cTn id="133" fill="hold">
                            <p:stCondLst>
                              <p:cond delay="0"/>
                            </p:stCondLst>
                            <p:childTnLst>
                              <p:par>
                                <p:cTn id="134" presetID="4" presetClass="entr" presetSubtype="16" fill="hold" nodeType="clickEffect">
                                  <p:stCondLst>
                                    <p:cond delay="0"/>
                                  </p:stCondLst>
                                  <p:childTnLst>
                                    <p:set>
                                      <p:cBhvr>
                                        <p:cTn id="135" dur="1" fill="hold">
                                          <p:stCondLst>
                                            <p:cond delay="0"/>
                                          </p:stCondLst>
                                        </p:cTn>
                                        <p:tgtEl>
                                          <p:spTgt spid="195671"/>
                                        </p:tgtEl>
                                        <p:attrNameLst>
                                          <p:attrName>style.visibility</p:attrName>
                                        </p:attrNameLst>
                                      </p:cBhvr>
                                      <p:to>
                                        <p:strVal val="visible"/>
                                      </p:to>
                                    </p:set>
                                    <p:animEffect transition="in" filter="box(in)">
                                      <p:cBhvr>
                                        <p:cTn id="136" dur="500"/>
                                        <p:tgtEl>
                                          <p:spTgt spid="195671"/>
                                        </p:tgtEl>
                                      </p:cBhvr>
                                    </p:animEffect>
                                  </p:childTnLst>
                                </p:cTn>
                              </p:par>
                            </p:childTnLst>
                          </p:cTn>
                        </p:par>
                      </p:childTnLst>
                    </p:cTn>
                  </p:par>
                  <p:par>
                    <p:cTn id="137" fill="hold">
                      <p:stCondLst>
                        <p:cond delay="indefinite"/>
                      </p:stCondLst>
                      <p:childTnLst>
                        <p:par>
                          <p:cTn id="138" fill="hold">
                            <p:stCondLst>
                              <p:cond delay="0"/>
                            </p:stCondLst>
                            <p:childTnLst>
                              <p:par>
                                <p:cTn id="139" presetID="27" presetClass="entr" presetSubtype="0" fill="hold" grpId="0" nodeType="clickEffect">
                                  <p:stCondLst>
                                    <p:cond delay="0"/>
                                  </p:stCondLst>
                                  <p:iterate type="lt">
                                    <p:tmPct val="50000"/>
                                  </p:iterate>
                                  <p:childTnLst>
                                    <p:set>
                                      <p:cBhvr>
                                        <p:cTn id="140" dur="1" fill="hold">
                                          <p:stCondLst>
                                            <p:cond delay="0"/>
                                          </p:stCondLst>
                                        </p:cTn>
                                        <p:tgtEl>
                                          <p:spTgt spid="195674"/>
                                        </p:tgtEl>
                                        <p:attrNameLst>
                                          <p:attrName>style.visibility</p:attrName>
                                        </p:attrNameLst>
                                      </p:cBhvr>
                                      <p:to>
                                        <p:strVal val="visible"/>
                                      </p:to>
                                    </p:set>
                                    <p:anim calcmode="discrete" valueType="clr">
                                      <p:cBhvr override="childStyle">
                                        <p:cTn id="141" dur="80"/>
                                        <p:tgtEl>
                                          <p:spTgt spid="195674"/>
                                        </p:tgtEl>
                                        <p:attrNameLst>
                                          <p:attrName>style.color</p:attrName>
                                        </p:attrNameLst>
                                      </p:cBhvr>
                                      <p:tavLst>
                                        <p:tav tm="0">
                                          <p:val>
                                            <p:clrVal>
                                              <a:schemeClr val="accent2"/>
                                            </p:clrVal>
                                          </p:val>
                                        </p:tav>
                                        <p:tav tm="50000">
                                          <p:val>
                                            <p:clrVal>
                                              <a:schemeClr val="hlink"/>
                                            </p:clrVal>
                                          </p:val>
                                        </p:tav>
                                      </p:tavLst>
                                    </p:anim>
                                    <p:anim calcmode="discrete" valueType="clr">
                                      <p:cBhvr>
                                        <p:cTn id="142" dur="80"/>
                                        <p:tgtEl>
                                          <p:spTgt spid="195674"/>
                                        </p:tgtEl>
                                        <p:attrNameLst>
                                          <p:attrName>fillcolor</p:attrName>
                                        </p:attrNameLst>
                                      </p:cBhvr>
                                      <p:tavLst>
                                        <p:tav tm="0">
                                          <p:val>
                                            <p:clrVal>
                                              <a:schemeClr val="accent2"/>
                                            </p:clrVal>
                                          </p:val>
                                        </p:tav>
                                        <p:tav tm="50000">
                                          <p:val>
                                            <p:clrVal>
                                              <a:schemeClr val="hlink"/>
                                            </p:clrVal>
                                          </p:val>
                                        </p:tav>
                                      </p:tavLst>
                                    </p:anim>
                                    <p:set>
                                      <p:cBhvr>
                                        <p:cTn id="143" dur="80"/>
                                        <p:tgtEl>
                                          <p:spTgt spid="195674"/>
                                        </p:tgtEl>
                                        <p:attrNameLst>
                                          <p:attrName>fill.type</p:attrName>
                                        </p:attrNameLst>
                                      </p:cBhvr>
                                      <p:to>
                                        <p:strVal val="solid"/>
                                      </p:to>
                                    </p:set>
                                  </p:childTnLst>
                                  <p:subTnLst>
                                    <p:audio>
                                      <p:cMediaNode>
                                        <p:cTn display="0" masterRel="sameClick">
                                          <p:stCondLst>
                                            <p:cond evt="begin" delay="0">
                                              <p:tn val="139"/>
                                            </p:cond>
                                          </p:stCondLst>
                                          <p:endCondLst>
                                            <p:cond evt="onStopAudio" delay="0">
                                              <p:tgtEl>
                                                <p:sldTgt/>
                                              </p:tgtEl>
                                            </p:cond>
                                          </p:endCondLst>
                                        </p:cTn>
                                        <p:tgtEl>
                                          <p:sndTgt r:embed="rId1" name="bomb.wav"/>
                                        </p:tgtEl>
                                      </p:cMediaNode>
                                    </p:audio>
                                  </p:subTnLst>
                                </p:cTn>
                              </p:par>
                            </p:childTnLst>
                          </p:cTn>
                        </p:par>
                      </p:childTnLst>
                    </p:cTn>
                  </p:par>
                  <p:par>
                    <p:cTn id="144" fill="hold">
                      <p:stCondLst>
                        <p:cond delay="indefinite"/>
                      </p:stCondLst>
                      <p:childTnLst>
                        <p:par>
                          <p:cTn id="145" fill="hold">
                            <p:stCondLst>
                              <p:cond delay="0"/>
                            </p:stCondLst>
                            <p:childTnLst>
                              <p:par>
                                <p:cTn id="146" presetID="4" presetClass="exit" presetSubtype="16" fill="hold" nodeType="clickEffect">
                                  <p:stCondLst>
                                    <p:cond delay="0"/>
                                  </p:stCondLst>
                                  <p:childTnLst>
                                    <p:animEffect transition="out" filter="box(in)">
                                      <p:cBhvr>
                                        <p:cTn id="147" dur="500"/>
                                        <p:tgtEl>
                                          <p:spTgt spid="195671"/>
                                        </p:tgtEl>
                                      </p:cBhvr>
                                    </p:animEffect>
                                    <p:set>
                                      <p:cBhvr>
                                        <p:cTn id="148" dur="1" fill="hold">
                                          <p:stCondLst>
                                            <p:cond delay="499"/>
                                          </p:stCondLst>
                                        </p:cTn>
                                        <p:tgtEl>
                                          <p:spTgt spid="195671"/>
                                        </p:tgtEl>
                                        <p:attrNameLst>
                                          <p:attrName>style.visibility</p:attrName>
                                        </p:attrNameLst>
                                      </p:cBhvr>
                                      <p:to>
                                        <p:strVal val="hidden"/>
                                      </p:to>
                                    </p:set>
                                  </p:childTnLst>
                                </p:cTn>
                              </p:par>
                              <p:par>
                                <p:cTn id="149" presetID="2" presetClass="exit" presetSubtype="4" fill="hold" grpId="1" nodeType="withEffect">
                                  <p:stCondLst>
                                    <p:cond delay="0"/>
                                  </p:stCondLst>
                                  <p:iterate type="lt">
                                    <p:tmAbs val="0"/>
                                  </p:iterate>
                                  <p:childTnLst>
                                    <p:anim calcmode="lin" valueType="num">
                                      <p:cBhvr>
                                        <p:cTn id="150" dur="500"/>
                                        <p:tgtEl>
                                          <p:spTgt spid="195674"/>
                                        </p:tgtEl>
                                        <p:attrNameLst>
                                          <p:attrName>ppt_x</p:attrName>
                                        </p:attrNameLst>
                                      </p:cBhvr>
                                      <p:tavLst>
                                        <p:tav tm="0">
                                          <p:val>
                                            <p:strVal val="ppt_x"/>
                                          </p:val>
                                        </p:tav>
                                        <p:tav tm="100000">
                                          <p:val>
                                            <p:strVal val="ppt_x"/>
                                          </p:val>
                                        </p:tav>
                                      </p:tavLst>
                                    </p:anim>
                                    <p:anim calcmode="lin" valueType="num">
                                      <p:cBhvr>
                                        <p:cTn id="151" dur="500"/>
                                        <p:tgtEl>
                                          <p:spTgt spid="195674"/>
                                        </p:tgtEl>
                                        <p:attrNameLst>
                                          <p:attrName>ppt_y</p:attrName>
                                        </p:attrNameLst>
                                      </p:cBhvr>
                                      <p:tavLst>
                                        <p:tav tm="0">
                                          <p:val>
                                            <p:strVal val="ppt_y"/>
                                          </p:val>
                                        </p:tav>
                                        <p:tav tm="100000">
                                          <p:val>
                                            <p:strVal val="1+ppt_h/2"/>
                                          </p:val>
                                        </p:tav>
                                      </p:tavLst>
                                    </p:anim>
                                    <p:set>
                                      <p:cBhvr>
                                        <p:cTn id="152" dur="1" fill="hold">
                                          <p:stCondLst>
                                            <p:cond delay="499"/>
                                          </p:stCondLst>
                                        </p:cTn>
                                        <p:tgtEl>
                                          <p:spTgt spid="195674"/>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3" presetClass="emph" presetSubtype="2" fill="hold" grpId="1" nodeType="clickEffect">
                                  <p:stCondLst>
                                    <p:cond delay="0"/>
                                  </p:stCondLst>
                                  <p:childTnLst>
                                    <p:animClr clrSpc="rgb" dir="cw">
                                      <p:cBhvr override="childStyle">
                                        <p:cTn id="156" dur="2000" fill="hold"/>
                                        <p:tgtEl>
                                          <p:spTgt spid="195648"/>
                                        </p:tgtEl>
                                        <p:attrNameLst>
                                          <p:attrName>style.color</p:attrName>
                                        </p:attrNameLst>
                                      </p:cBhvr>
                                      <p:to>
                                        <a:srgbClr val="FF0000"/>
                                      </p:to>
                                    </p:animClr>
                                  </p:childTnLst>
                                </p:cTn>
                              </p:par>
                              <p:par>
                                <p:cTn id="157" presetID="3" presetClass="emph" presetSubtype="2" fill="hold" grpId="1" nodeType="withEffect">
                                  <p:stCondLst>
                                    <p:cond delay="0"/>
                                  </p:stCondLst>
                                  <p:childTnLst>
                                    <p:animClr clrSpc="rgb" dir="cw">
                                      <p:cBhvr override="childStyle">
                                        <p:cTn id="158" dur="2000" fill="hold"/>
                                        <p:tgtEl>
                                          <p:spTgt spid="195657"/>
                                        </p:tgtEl>
                                        <p:attrNameLst>
                                          <p:attrName>style.color</p:attrName>
                                        </p:attrNameLst>
                                      </p:cBhvr>
                                      <p:to>
                                        <a:srgbClr val="FF0000"/>
                                      </p:to>
                                    </p:animClr>
                                  </p:childTnLst>
                                </p:cTn>
                              </p:par>
                            </p:childTnLst>
                          </p:cTn>
                        </p:par>
                      </p:childTnLst>
                    </p:cTn>
                  </p:par>
                  <p:par>
                    <p:cTn id="159" fill="hold">
                      <p:stCondLst>
                        <p:cond delay="indefinite"/>
                      </p:stCondLst>
                      <p:childTnLst>
                        <p:par>
                          <p:cTn id="160" fill="hold">
                            <p:stCondLst>
                              <p:cond delay="0"/>
                            </p:stCondLst>
                            <p:childTnLst>
                              <p:par>
                                <p:cTn id="161" presetID="4" presetClass="entr" presetSubtype="16" fill="hold" nodeType="clickEffect">
                                  <p:stCondLst>
                                    <p:cond delay="0"/>
                                  </p:stCondLst>
                                  <p:childTnLst>
                                    <p:set>
                                      <p:cBhvr>
                                        <p:cTn id="162" dur="1" fill="hold">
                                          <p:stCondLst>
                                            <p:cond delay="0"/>
                                          </p:stCondLst>
                                        </p:cTn>
                                        <p:tgtEl>
                                          <p:spTgt spid="195672"/>
                                        </p:tgtEl>
                                        <p:attrNameLst>
                                          <p:attrName>style.visibility</p:attrName>
                                        </p:attrNameLst>
                                      </p:cBhvr>
                                      <p:to>
                                        <p:strVal val="visible"/>
                                      </p:to>
                                    </p:set>
                                    <p:animEffect transition="in" filter="box(in)">
                                      <p:cBhvr>
                                        <p:cTn id="163" dur="500"/>
                                        <p:tgtEl>
                                          <p:spTgt spid="195672"/>
                                        </p:tgtEl>
                                      </p:cBhvr>
                                    </p:animEffect>
                                  </p:childTnLst>
                                </p:cTn>
                              </p:par>
                            </p:childTnLst>
                          </p:cTn>
                        </p:par>
                      </p:childTnLst>
                    </p:cTn>
                  </p:par>
                  <p:par>
                    <p:cTn id="164" fill="hold">
                      <p:stCondLst>
                        <p:cond delay="indefinite"/>
                      </p:stCondLst>
                      <p:childTnLst>
                        <p:par>
                          <p:cTn id="165" fill="hold">
                            <p:stCondLst>
                              <p:cond delay="0"/>
                            </p:stCondLst>
                            <p:childTnLst>
                              <p:par>
                                <p:cTn id="166" presetID="27" presetClass="entr" presetSubtype="0" fill="hold" grpId="2" nodeType="clickEffect">
                                  <p:stCondLst>
                                    <p:cond delay="0"/>
                                  </p:stCondLst>
                                  <p:iterate type="lt">
                                    <p:tmPct val="50000"/>
                                  </p:iterate>
                                  <p:childTnLst>
                                    <p:set>
                                      <p:cBhvr>
                                        <p:cTn id="167" dur="1" fill="hold">
                                          <p:stCondLst>
                                            <p:cond delay="0"/>
                                          </p:stCondLst>
                                        </p:cTn>
                                        <p:tgtEl>
                                          <p:spTgt spid="195674"/>
                                        </p:tgtEl>
                                        <p:attrNameLst>
                                          <p:attrName>style.visibility</p:attrName>
                                        </p:attrNameLst>
                                      </p:cBhvr>
                                      <p:to>
                                        <p:strVal val="visible"/>
                                      </p:to>
                                    </p:set>
                                    <p:anim calcmode="discrete" valueType="clr">
                                      <p:cBhvr override="childStyle">
                                        <p:cTn id="168" dur="80"/>
                                        <p:tgtEl>
                                          <p:spTgt spid="195674"/>
                                        </p:tgtEl>
                                        <p:attrNameLst>
                                          <p:attrName>style.color</p:attrName>
                                        </p:attrNameLst>
                                      </p:cBhvr>
                                      <p:tavLst>
                                        <p:tav tm="0">
                                          <p:val>
                                            <p:clrVal>
                                              <a:schemeClr val="accent2"/>
                                            </p:clrVal>
                                          </p:val>
                                        </p:tav>
                                        <p:tav tm="50000">
                                          <p:val>
                                            <p:clrVal>
                                              <a:schemeClr val="hlink"/>
                                            </p:clrVal>
                                          </p:val>
                                        </p:tav>
                                      </p:tavLst>
                                    </p:anim>
                                    <p:anim calcmode="discrete" valueType="clr">
                                      <p:cBhvr>
                                        <p:cTn id="169" dur="80"/>
                                        <p:tgtEl>
                                          <p:spTgt spid="195674"/>
                                        </p:tgtEl>
                                        <p:attrNameLst>
                                          <p:attrName>fillcolor</p:attrName>
                                        </p:attrNameLst>
                                      </p:cBhvr>
                                      <p:tavLst>
                                        <p:tav tm="0">
                                          <p:val>
                                            <p:clrVal>
                                              <a:schemeClr val="accent2"/>
                                            </p:clrVal>
                                          </p:val>
                                        </p:tav>
                                        <p:tav tm="50000">
                                          <p:val>
                                            <p:clrVal>
                                              <a:schemeClr val="hlink"/>
                                            </p:clrVal>
                                          </p:val>
                                        </p:tav>
                                      </p:tavLst>
                                    </p:anim>
                                    <p:set>
                                      <p:cBhvr>
                                        <p:cTn id="170" dur="80"/>
                                        <p:tgtEl>
                                          <p:spTgt spid="195674"/>
                                        </p:tgtEl>
                                        <p:attrNameLst>
                                          <p:attrName>fill.type</p:attrName>
                                        </p:attrNameLst>
                                      </p:cBhvr>
                                      <p:to>
                                        <p:strVal val="solid"/>
                                      </p:to>
                                    </p:set>
                                  </p:childTnLst>
                                  <p:subTnLst>
                                    <p:audio>
                                      <p:cMediaNode>
                                        <p:cTn display="0" masterRel="sameClick">
                                          <p:stCondLst>
                                            <p:cond evt="begin" delay="0">
                                              <p:tn val="166"/>
                                            </p:cond>
                                          </p:stCondLst>
                                          <p:endCondLst>
                                            <p:cond evt="onStopAudio" delay="0">
                                              <p:tgtEl>
                                                <p:sldTgt/>
                                              </p:tgtEl>
                                            </p:cond>
                                          </p:endCondLst>
                                        </p:cTn>
                                        <p:tgtEl>
                                          <p:sndTgt r:embed="rId1" name="bomb.wav"/>
                                        </p:tgtEl>
                                      </p:cMediaNode>
                                    </p:audio>
                                  </p:subTnLst>
                                </p:cTn>
                              </p:par>
                              <p:par>
                                <p:cTn id="171" presetID="4" presetClass="exit" presetSubtype="16" fill="hold" nodeType="withEffect">
                                  <p:stCondLst>
                                    <p:cond delay="0"/>
                                  </p:stCondLst>
                                  <p:childTnLst>
                                    <p:animEffect transition="out" filter="box(in)">
                                      <p:cBhvr>
                                        <p:cTn id="172" dur="500"/>
                                        <p:tgtEl>
                                          <p:spTgt spid="195672"/>
                                        </p:tgtEl>
                                      </p:cBhvr>
                                    </p:animEffect>
                                    <p:set>
                                      <p:cBhvr>
                                        <p:cTn id="173" dur="1" fill="hold">
                                          <p:stCondLst>
                                            <p:cond delay="499"/>
                                          </p:stCondLst>
                                        </p:cTn>
                                        <p:tgtEl>
                                          <p:spTgt spid="195672"/>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2" presetClass="exit" presetSubtype="4" fill="hold" grpId="3" nodeType="clickEffect">
                                  <p:stCondLst>
                                    <p:cond delay="0"/>
                                  </p:stCondLst>
                                  <p:iterate type="lt">
                                    <p:tmAbs val="0"/>
                                  </p:iterate>
                                  <p:childTnLst>
                                    <p:anim calcmode="lin" valueType="num">
                                      <p:cBhvr>
                                        <p:cTn id="177" dur="500"/>
                                        <p:tgtEl>
                                          <p:spTgt spid="195674"/>
                                        </p:tgtEl>
                                        <p:attrNameLst>
                                          <p:attrName>ppt_x</p:attrName>
                                        </p:attrNameLst>
                                      </p:cBhvr>
                                      <p:tavLst>
                                        <p:tav tm="0">
                                          <p:val>
                                            <p:strVal val="ppt_x"/>
                                          </p:val>
                                        </p:tav>
                                        <p:tav tm="100000">
                                          <p:val>
                                            <p:strVal val="ppt_x"/>
                                          </p:val>
                                        </p:tav>
                                      </p:tavLst>
                                    </p:anim>
                                    <p:anim calcmode="lin" valueType="num">
                                      <p:cBhvr>
                                        <p:cTn id="178" dur="500"/>
                                        <p:tgtEl>
                                          <p:spTgt spid="195674"/>
                                        </p:tgtEl>
                                        <p:attrNameLst>
                                          <p:attrName>ppt_y</p:attrName>
                                        </p:attrNameLst>
                                      </p:cBhvr>
                                      <p:tavLst>
                                        <p:tav tm="0">
                                          <p:val>
                                            <p:strVal val="ppt_y"/>
                                          </p:val>
                                        </p:tav>
                                        <p:tav tm="100000">
                                          <p:val>
                                            <p:strVal val="1+ppt_h/2"/>
                                          </p:val>
                                        </p:tav>
                                      </p:tavLst>
                                    </p:anim>
                                    <p:set>
                                      <p:cBhvr>
                                        <p:cTn id="179" dur="1" fill="hold">
                                          <p:stCondLst>
                                            <p:cond delay="499"/>
                                          </p:stCondLst>
                                        </p:cTn>
                                        <p:tgtEl>
                                          <p:spTgt spid="195674"/>
                                        </p:tgtEl>
                                        <p:attrNameLst>
                                          <p:attrName>style.visibility</p:attrName>
                                        </p:attrNameLst>
                                      </p:cBhvr>
                                      <p:to>
                                        <p:strVal val="hidden"/>
                                      </p:to>
                                    </p:set>
                                  </p:childTnLst>
                                </p:cTn>
                              </p:par>
                            </p:childTnLst>
                          </p:cTn>
                        </p:par>
                      </p:childTnLst>
                    </p:cTn>
                  </p:par>
                  <p:par>
                    <p:cTn id="180" fill="hold">
                      <p:stCondLst>
                        <p:cond delay="indefinite"/>
                      </p:stCondLst>
                      <p:childTnLst>
                        <p:par>
                          <p:cTn id="181" fill="hold">
                            <p:stCondLst>
                              <p:cond delay="0"/>
                            </p:stCondLst>
                            <p:childTnLst>
                              <p:par>
                                <p:cTn id="182" presetID="3" presetClass="emph" presetSubtype="2" fill="hold" grpId="1" nodeType="clickEffect">
                                  <p:stCondLst>
                                    <p:cond delay="0"/>
                                  </p:stCondLst>
                                  <p:childTnLst>
                                    <p:animClr clrSpc="rgb" dir="cw">
                                      <p:cBhvr override="childStyle">
                                        <p:cTn id="183" dur="2000" fill="hold"/>
                                        <p:tgtEl>
                                          <p:spTgt spid="195658"/>
                                        </p:tgtEl>
                                        <p:attrNameLst>
                                          <p:attrName>style.color</p:attrName>
                                        </p:attrNameLst>
                                      </p:cBhvr>
                                      <p:to>
                                        <a:srgbClr val="FF0000"/>
                                      </p:to>
                                    </p:animClr>
                                  </p:childTnLst>
                                </p:cTn>
                              </p:par>
                              <p:par>
                                <p:cTn id="184" presetID="3" presetClass="emph" presetSubtype="2" fill="hold" grpId="1" nodeType="withEffect">
                                  <p:stCondLst>
                                    <p:cond delay="0"/>
                                  </p:stCondLst>
                                  <p:childTnLst>
                                    <p:animClr clrSpc="rgb" dir="cw">
                                      <p:cBhvr override="childStyle">
                                        <p:cTn id="185" dur="2000" fill="hold"/>
                                        <p:tgtEl>
                                          <p:spTgt spid="195649"/>
                                        </p:tgtEl>
                                        <p:attrNameLst>
                                          <p:attrName>style.color</p:attrName>
                                        </p:attrNameLst>
                                      </p:cBhvr>
                                      <p:to>
                                        <a:srgbClr val="FF0000"/>
                                      </p:to>
                                    </p:animClr>
                                  </p:childTnLst>
                                </p:cTn>
                              </p:par>
                            </p:childTnLst>
                          </p:cTn>
                        </p:par>
                      </p:childTnLst>
                    </p:cTn>
                  </p:par>
                  <p:par>
                    <p:cTn id="186" fill="hold">
                      <p:stCondLst>
                        <p:cond delay="indefinite"/>
                      </p:stCondLst>
                      <p:childTnLst>
                        <p:par>
                          <p:cTn id="187" fill="hold">
                            <p:stCondLst>
                              <p:cond delay="0"/>
                            </p:stCondLst>
                            <p:childTnLst>
                              <p:par>
                                <p:cTn id="188" presetID="4" presetClass="entr" presetSubtype="16" fill="hold" nodeType="clickEffect">
                                  <p:stCondLst>
                                    <p:cond delay="0"/>
                                  </p:stCondLst>
                                  <p:childTnLst>
                                    <p:set>
                                      <p:cBhvr>
                                        <p:cTn id="189" dur="1" fill="hold">
                                          <p:stCondLst>
                                            <p:cond delay="0"/>
                                          </p:stCondLst>
                                        </p:cTn>
                                        <p:tgtEl>
                                          <p:spTgt spid="195673"/>
                                        </p:tgtEl>
                                        <p:attrNameLst>
                                          <p:attrName>style.visibility</p:attrName>
                                        </p:attrNameLst>
                                      </p:cBhvr>
                                      <p:to>
                                        <p:strVal val="visible"/>
                                      </p:to>
                                    </p:set>
                                    <p:animEffect transition="in" filter="box(in)">
                                      <p:cBhvr>
                                        <p:cTn id="190" dur="500"/>
                                        <p:tgtEl>
                                          <p:spTgt spid="195673"/>
                                        </p:tgtEl>
                                      </p:cBhvr>
                                    </p:animEffect>
                                  </p:childTnLst>
                                </p:cTn>
                              </p:par>
                            </p:childTnLst>
                          </p:cTn>
                        </p:par>
                      </p:childTnLst>
                    </p:cTn>
                  </p:par>
                  <p:par>
                    <p:cTn id="191" fill="hold">
                      <p:stCondLst>
                        <p:cond delay="indefinite"/>
                      </p:stCondLst>
                      <p:childTnLst>
                        <p:par>
                          <p:cTn id="192" fill="hold">
                            <p:stCondLst>
                              <p:cond delay="0"/>
                            </p:stCondLst>
                            <p:childTnLst>
                              <p:par>
                                <p:cTn id="193" presetID="49" presetClass="entr" presetSubtype="0" decel="100000" fill="hold" grpId="0" nodeType="clickEffect">
                                  <p:stCondLst>
                                    <p:cond delay="0"/>
                                  </p:stCondLst>
                                  <p:childTnLst>
                                    <p:set>
                                      <p:cBhvr>
                                        <p:cTn id="194" dur="1" fill="hold">
                                          <p:stCondLst>
                                            <p:cond delay="0"/>
                                          </p:stCondLst>
                                        </p:cTn>
                                        <p:tgtEl>
                                          <p:spTgt spid="195675"/>
                                        </p:tgtEl>
                                        <p:attrNameLst>
                                          <p:attrName>style.visibility</p:attrName>
                                        </p:attrNameLst>
                                      </p:cBhvr>
                                      <p:to>
                                        <p:strVal val="visible"/>
                                      </p:to>
                                    </p:set>
                                    <p:anim calcmode="lin" valueType="num">
                                      <p:cBhvr>
                                        <p:cTn id="195" dur="500" fill="hold"/>
                                        <p:tgtEl>
                                          <p:spTgt spid="195675"/>
                                        </p:tgtEl>
                                        <p:attrNameLst>
                                          <p:attrName>ppt_w</p:attrName>
                                        </p:attrNameLst>
                                      </p:cBhvr>
                                      <p:tavLst>
                                        <p:tav tm="0">
                                          <p:val>
                                            <p:fltVal val="0"/>
                                          </p:val>
                                        </p:tav>
                                        <p:tav tm="100000">
                                          <p:val>
                                            <p:strVal val="#ppt_w"/>
                                          </p:val>
                                        </p:tav>
                                      </p:tavLst>
                                    </p:anim>
                                    <p:anim calcmode="lin" valueType="num">
                                      <p:cBhvr>
                                        <p:cTn id="196" dur="500" fill="hold"/>
                                        <p:tgtEl>
                                          <p:spTgt spid="195675"/>
                                        </p:tgtEl>
                                        <p:attrNameLst>
                                          <p:attrName>ppt_h</p:attrName>
                                        </p:attrNameLst>
                                      </p:cBhvr>
                                      <p:tavLst>
                                        <p:tav tm="0">
                                          <p:val>
                                            <p:fltVal val="0"/>
                                          </p:val>
                                        </p:tav>
                                        <p:tav tm="100000">
                                          <p:val>
                                            <p:strVal val="#ppt_h"/>
                                          </p:val>
                                        </p:tav>
                                      </p:tavLst>
                                    </p:anim>
                                    <p:anim calcmode="lin" valueType="num">
                                      <p:cBhvr>
                                        <p:cTn id="197" dur="500" fill="hold"/>
                                        <p:tgtEl>
                                          <p:spTgt spid="195675"/>
                                        </p:tgtEl>
                                        <p:attrNameLst>
                                          <p:attrName>style.rotation</p:attrName>
                                        </p:attrNameLst>
                                      </p:cBhvr>
                                      <p:tavLst>
                                        <p:tav tm="0">
                                          <p:val>
                                            <p:fltVal val="360"/>
                                          </p:val>
                                        </p:tav>
                                        <p:tav tm="100000">
                                          <p:val>
                                            <p:fltVal val="0"/>
                                          </p:val>
                                        </p:tav>
                                      </p:tavLst>
                                    </p:anim>
                                    <p:animEffect transition="in" filter="fade">
                                      <p:cBhvr>
                                        <p:cTn id="198" dur="500"/>
                                        <p:tgtEl>
                                          <p:spTgt spid="195675"/>
                                        </p:tgtEl>
                                      </p:cBhvr>
                                    </p:animEffect>
                                  </p:childTnLst>
                                  <p:subTnLst>
                                    <p:audio>
                                      <p:cMediaNode>
                                        <p:cTn display="0" masterRel="sameClick">
                                          <p:stCondLst>
                                            <p:cond evt="begin" delay="0">
                                              <p:tn val="193"/>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43" grpId="0"/>
      <p:bldP spid="195643" grpId="1"/>
      <p:bldP spid="195644" grpId="0"/>
      <p:bldP spid="195644" grpId="1"/>
      <p:bldP spid="195645" grpId="0"/>
      <p:bldP spid="195645" grpId="1"/>
      <p:bldP spid="195646" grpId="0"/>
      <p:bldP spid="195646" grpId="1"/>
      <p:bldP spid="195647" grpId="0"/>
      <p:bldP spid="195647" grpId="1"/>
      <p:bldP spid="195648" grpId="0"/>
      <p:bldP spid="195648" grpId="1"/>
      <p:bldP spid="195649" grpId="0"/>
      <p:bldP spid="195649" grpId="1"/>
      <p:bldP spid="195650" grpId="0"/>
      <p:bldP spid="195651" grpId="0"/>
      <p:bldP spid="195652" grpId="0"/>
      <p:bldP spid="195652" grpId="1"/>
      <p:bldP spid="195653" grpId="0"/>
      <p:bldP spid="195653" grpId="1"/>
      <p:bldP spid="195654" grpId="0"/>
      <p:bldP spid="195654" grpId="1"/>
      <p:bldP spid="195655" grpId="0"/>
      <p:bldP spid="195655" grpId="1"/>
      <p:bldP spid="195656" grpId="0"/>
      <p:bldP spid="195656" grpId="1"/>
      <p:bldP spid="195657" grpId="0"/>
      <p:bldP spid="195657" grpId="1"/>
      <p:bldP spid="195658" grpId="0"/>
      <p:bldP spid="195658" grpId="1"/>
      <p:bldP spid="195659" grpId="0"/>
      <p:bldP spid="195660" grpId="0"/>
      <p:bldP spid="195661" grpId="0" bldLvl="0" animBg="1"/>
      <p:bldP spid="195662" grpId="0" bldLvl="0" animBg="1"/>
      <p:bldP spid="195663" grpId="0" bldLvl="0" animBg="1"/>
      <p:bldP spid="195664" grpId="0" bldLvl="0" animBg="1"/>
      <p:bldP spid="195665" grpId="0" bldLvl="0" animBg="1"/>
      <p:bldP spid="195666" grpId="0" bldLvl="0" animBg="1"/>
      <p:bldP spid="195674" grpId="0"/>
      <p:bldP spid="195674" grpId="1"/>
      <p:bldP spid="195674" grpId="2"/>
      <p:bldP spid="195674" grpId="3"/>
      <p:bldP spid="19567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7411" name="Rectangle 2"/>
          <p:cNvSpPr>
            <a:spLocks noGrp="1"/>
          </p:cNvSpPr>
          <p:nvPr>
            <p:ph type="title"/>
          </p:nvPr>
        </p:nvSpPr>
        <p:spPr>
          <a:xfrm>
            <a:off x="879475" y="198438"/>
            <a:ext cx="7869238" cy="927100"/>
          </a:xfrm>
        </p:spPr>
        <p:txBody>
          <a:bodyPr vert="horz" wrap="square" lIns="91440" tIns="45720" rIns="91440" bIns="45720" anchor="ctr" anchorCtr="0"/>
          <a:lstStyle/>
          <a:p>
            <a:pPr eaLnBrk="1" hangingPunct="1"/>
            <a:r>
              <a:rPr lang="en-US" altLang="zh-CN" dirty="0"/>
              <a:t>5.1.1 Kruskal</a:t>
            </a:r>
            <a:r>
              <a:rPr lang="zh-CN" altLang="en-US" dirty="0"/>
              <a:t>算法的执行</a:t>
            </a:r>
            <a:endParaRPr lang="en-US" altLang="zh-CN" dirty="0"/>
          </a:p>
        </p:txBody>
      </p:sp>
      <p:sp>
        <p:nvSpPr>
          <p:cNvPr id="2" name="Rectangle 3"/>
          <p:cNvSpPr>
            <a:spLocks noGrp="1" noChangeArrowheads="1"/>
          </p:cNvSpPr>
          <p:nvPr>
            <p:ph idx="1"/>
          </p:nvPr>
        </p:nvSpPr>
        <p:spPr>
          <a:xfrm>
            <a:off x="900113" y="1268413"/>
            <a:ext cx="7786688" cy="40322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数据结构来表示森林</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为有效地实现此算法，我们需要某种机制来检测加入边后</a:t>
            </a:r>
            <a:r>
              <a:rPr kumimoji="0" lang="zh-CN" altLang="en-US" sz="2400" b="0" i="0" u="none" strike="noStrike" kern="0" cap="none" spc="0" normalizeH="0" baseline="0" noProof="0" dirty="0">
                <a:ln>
                  <a:noFill/>
                </a:ln>
                <a:solidFill>
                  <a:srgbClr val="FF0000"/>
                </a:solidFill>
                <a:effectLst/>
                <a:uLnTx/>
                <a:uFillTx/>
                <a:latin typeface="+mn-ea"/>
                <a:ea typeface="+mn-ea"/>
                <a:cs typeface="+mn-ea"/>
              </a:rPr>
              <a:t>是否构成回路</a:t>
            </a: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。让它在算法的每个时刻来表示森林，并且在向</a:t>
            </a:r>
            <a:r>
              <a:rPr kumimoji="0" lang="en-US" altLang="zh-CN" sz="2400" b="0" i="0" u="none" strike="noStrike" kern="0" cap="none" spc="0" normalizeH="0" baseline="0" noProof="0" dirty="0">
                <a:ln>
                  <a:noFill/>
                </a:ln>
                <a:solidFill>
                  <a:schemeClr val="accent2"/>
                </a:solidFill>
                <a:effectLst/>
                <a:uLnTx/>
                <a:uFillTx/>
                <a:latin typeface="+mn-ea"/>
                <a:ea typeface="+mn-ea"/>
                <a:cs typeface="+mn-ea"/>
              </a:rPr>
              <a:t>T</a:t>
            </a: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中添加边时动态检测是否有回路生成。</a:t>
            </a:r>
            <a:endParaRPr kumimoji="0" lang="zh-CN" altLang="en-US" sz="24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这种数据结构的一个合适选择是</a:t>
            </a:r>
            <a:r>
              <a:rPr kumimoji="0" lang="en-US" altLang="zh-CN" sz="2400" b="0" i="0" u="none" strike="noStrike" kern="0" cap="none" spc="0" normalizeH="0" baseline="0" noProof="0" dirty="0">
                <a:ln>
                  <a:noFill/>
                </a:ln>
                <a:solidFill>
                  <a:schemeClr val="accent2"/>
                </a:solidFill>
                <a:effectLst/>
                <a:uLnTx/>
                <a:uFillTx/>
                <a:latin typeface="+mn-ea"/>
                <a:ea typeface="+mn-ea"/>
                <a:cs typeface="+mn-ea"/>
              </a:rPr>
              <a:t>4.3</a:t>
            </a: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节讨论过的</a:t>
            </a:r>
            <a:r>
              <a:rPr kumimoji="0" lang="zh-CN" altLang="en-US" sz="2400" b="0" i="0" u="none" strike="noStrike" kern="0" cap="none" spc="0" normalizeH="0" baseline="0" noProof="0" dirty="0">
                <a:ln>
                  <a:noFill/>
                </a:ln>
                <a:solidFill>
                  <a:srgbClr val="FF0000"/>
                </a:solidFill>
                <a:effectLst/>
                <a:uLnTx/>
                <a:uFillTx/>
                <a:latin typeface="+mn-ea"/>
                <a:ea typeface="+mn-ea"/>
                <a:cs typeface="+mn-ea"/>
              </a:rPr>
              <a:t>不相交集表示法</a:t>
            </a:r>
            <a:endParaRPr kumimoji="0" lang="en-US" altLang="zh-CN" sz="2400" b="0" i="0" u="none" strike="noStrike" kern="0" cap="none" spc="0" normalizeH="0" baseline="0" noProof="0" dirty="0">
              <a:ln>
                <a:noFill/>
              </a:ln>
              <a:solidFill>
                <a:srgbClr val="FF0000"/>
              </a:solidFill>
              <a:effectLst/>
              <a:uLnTx/>
              <a:uFillTx/>
              <a:latin typeface="+mn-ea"/>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开始时，图的每个顶点由一棵包含一个顶点的树表示</a:t>
            </a:r>
            <a:endParaRPr kumimoji="0" lang="en-US" altLang="zh-CN" sz="2400" b="0" i="0" u="none" strike="noStrike" kern="0" cap="none" spc="0" normalizeH="0" baseline="0" noProof="0" dirty="0">
              <a:ln>
                <a:noFill/>
              </a:ln>
              <a:solidFill>
                <a:schemeClr val="accent2"/>
              </a:solidFill>
              <a:effectLst/>
              <a:uLnTx/>
              <a:uFillTx/>
              <a:latin typeface="+mn-ea"/>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ea"/>
              </a:rPr>
              <a:t>在算法的执行过程中，森林中的每个连通分量由一棵树来表示。</a:t>
            </a:r>
            <a:endParaRPr kumimoji="0" lang="en-US" altLang="zh-CN" sz="2400" b="0" i="0" u="none" strike="noStrike" kern="0" cap="none" spc="0" normalizeH="0" baseline="0" noProof="0" dirty="0">
              <a:ln>
                <a:noFill/>
              </a:ln>
              <a:solidFill>
                <a:schemeClr val="accent2"/>
              </a:solidFill>
              <a:effectLst/>
              <a:uLnTx/>
              <a:uFillTx/>
              <a:latin typeface="+mn-ea"/>
              <a:ea typeface="+mn-ea"/>
              <a:cs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9459" name="Rectangle 5"/>
          <p:cNvSpPr>
            <a:spLocks noGrp="1"/>
          </p:cNvSpPr>
          <p:nvPr>
            <p:ph idx="1"/>
          </p:nvPr>
        </p:nvSpPr>
        <p:spPr>
          <a:xfrm>
            <a:off x="899795" y="1123950"/>
            <a:ext cx="7792085" cy="5153660"/>
          </a:xfrm>
          <a:solidFill>
            <a:schemeClr val="bg1">
              <a:alpha val="100000"/>
            </a:schemeClr>
          </a:solidFill>
        </p:spPr>
        <p:txBody>
          <a:bodyPr vert="horz" wrap="square" lIns="91440" tIns="45720" rIns="91440" bIns="45720" anchor="t" anchorCtr="0"/>
          <a:lstStyle/>
          <a:p>
            <a:pPr eaLnBrk="1" hangingPunct="1">
              <a:lnSpc>
                <a:spcPct val="90000"/>
              </a:lnSpc>
              <a:buNone/>
            </a:pPr>
            <a:r>
              <a:rPr lang="zh-CN" altLang="en-US" b="1" dirty="0"/>
              <a:t>算法</a:t>
            </a:r>
            <a:r>
              <a:rPr lang="en-US" altLang="zh-CN" b="1" dirty="0"/>
              <a:t>5.1.1 KRUSKAL</a:t>
            </a:r>
            <a:endParaRPr lang="en-US" altLang="zh-CN" b="1" dirty="0"/>
          </a:p>
          <a:p>
            <a:pPr lvl="1" eaLnBrk="1" hangingPunct="1">
              <a:lnSpc>
                <a:spcPct val="90000"/>
              </a:lnSpc>
              <a:buNone/>
            </a:pPr>
            <a:r>
              <a:rPr lang="zh-CN" altLang="en-US" sz="2000" dirty="0">
                <a:latin typeface="华文楷体" panose="02010600040101010101" pitchFamily="2" charset="-122"/>
                <a:ea typeface="华文楷体" panose="02010600040101010101" pitchFamily="2" charset="-122"/>
              </a:rPr>
              <a:t>输入</a:t>
            </a:r>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包含</a:t>
            </a:r>
            <a:r>
              <a:rPr lang="en-US" altLang="zh-CN" sz="2000" dirty="0">
                <a:latin typeface="华文楷体" panose="02010600040101010101" pitchFamily="2" charset="-122"/>
                <a:ea typeface="华文楷体" panose="02010600040101010101" pitchFamily="2" charset="-122"/>
              </a:rPr>
              <a:t>n</a:t>
            </a:r>
            <a:r>
              <a:rPr lang="zh-CN" altLang="en-US" sz="2000" dirty="0">
                <a:latin typeface="华文楷体" panose="02010600040101010101" pitchFamily="2" charset="-122"/>
                <a:ea typeface="华文楷体" panose="02010600040101010101" pitchFamily="2" charset="-122"/>
              </a:rPr>
              <a:t>个顶点的含权连通无向图</a:t>
            </a:r>
            <a:r>
              <a:rPr lang="en-US" altLang="zh-CN" sz="2000" dirty="0">
                <a:latin typeface="华文楷体" panose="02010600040101010101" pitchFamily="2" charset="-122"/>
                <a:ea typeface="华文楷体" panose="02010600040101010101" pitchFamily="2" charset="-122"/>
              </a:rPr>
              <a:t>G=(V,E)</a:t>
            </a:r>
            <a:r>
              <a:rPr lang="zh-CN" altLang="en-US" sz="2000" dirty="0">
                <a:latin typeface="华文楷体" panose="02010600040101010101" pitchFamily="2" charset="-122"/>
                <a:ea typeface="华文楷体" panose="02010600040101010101" pitchFamily="2" charset="-122"/>
              </a:rPr>
              <a:t>。</a:t>
            </a:r>
            <a:endParaRPr lang="en-US" altLang="zh-CN" sz="2000" dirty="0">
              <a:latin typeface="华文楷体" panose="02010600040101010101" pitchFamily="2" charset="-122"/>
              <a:ea typeface="华文楷体" panose="02010600040101010101" pitchFamily="2" charset="-122"/>
            </a:endParaRPr>
          </a:p>
          <a:p>
            <a:pPr lvl="1" eaLnBrk="1" hangingPunct="1">
              <a:lnSpc>
                <a:spcPct val="90000"/>
              </a:lnSpc>
              <a:buNone/>
            </a:pPr>
            <a:r>
              <a:rPr lang="zh-CN" altLang="en-US" sz="2000" dirty="0">
                <a:latin typeface="华文楷体" panose="02010600040101010101" pitchFamily="2" charset="-122"/>
                <a:ea typeface="华文楷体" panose="02010600040101010101" pitchFamily="2" charset="-122"/>
              </a:rPr>
              <a:t>输出</a:t>
            </a:r>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由</a:t>
            </a:r>
            <a:r>
              <a:rPr lang="en-US" altLang="zh-CN" sz="2000" dirty="0">
                <a:latin typeface="华文楷体" panose="02010600040101010101" pitchFamily="2" charset="-122"/>
                <a:ea typeface="华文楷体" panose="02010600040101010101" pitchFamily="2" charset="-122"/>
              </a:rPr>
              <a:t>G</a:t>
            </a:r>
            <a:r>
              <a:rPr lang="zh-CN" altLang="en-US" sz="2000" dirty="0">
                <a:latin typeface="华文楷体" panose="02010600040101010101" pitchFamily="2" charset="-122"/>
                <a:ea typeface="华文楷体" panose="02010600040101010101" pitchFamily="2" charset="-122"/>
              </a:rPr>
              <a:t>生成的最小耗费生成树</a:t>
            </a:r>
            <a:r>
              <a:rPr lang="en-US" altLang="zh-CN" sz="2000" dirty="0">
                <a:latin typeface="华文楷体" panose="02010600040101010101" pitchFamily="2" charset="-122"/>
                <a:ea typeface="华文楷体" panose="02010600040101010101" pitchFamily="2" charset="-122"/>
              </a:rPr>
              <a:t>T</a:t>
            </a:r>
            <a:r>
              <a:rPr lang="zh-CN" altLang="en-US" sz="2000" dirty="0">
                <a:latin typeface="华文楷体" panose="02010600040101010101" pitchFamily="2" charset="-122"/>
                <a:ea typeface="华文楷体" panose="02010600040101010101" pitchFamily="2" charset="-122"/>
              </a:rPr>
              <a:t>组成的边的集合。</a:t>
            </a:r>
            <a:endParaRPr lang="en-US" altLang="zh-CN" sz="2000" dirty="0">
              <a:latin typeface="华文楷体" panose="02010600040101010101" pitchFamily="2" charset="-122"/>
              <a:ea typeface="华文楷体" panose="02010600040101010101" pitchFamily="2" charset="-122"/>
            </a:endParaRPr>
          </a:p>
          <a:p>
            <a:pPr lvl="1" eaLnBrk="1" hangingPunct="1">
              <a:lnSpc>
                <a:spcPct val="90000"/>
              </a:lnSpc>
              <a:buNone/>
            </a:pPr>
            <a:r>
              <a:rPr lang="en-US" altLang="zh-CN" sz="2000" dirty="0">
                <a:latin typeface="华文楷体" panose="02010600040101010101" pitchFamily="2" charset="-122"/>
                <a:ea typeface="华文楷体" panose="02010600040101010101" pitchFamily="2" charset="-122"/>
              </a:rPr>
              <a:t>	1. </a:t>
            </a:r>
            <a:r>
              <a:rPr lang="zh-CN" altLang="en-US" sz="2000" dirty="0">
                <a:latin typeface="华文楷体" panose="02010600040101010101" pitchFamily="2" charset="-122"/>
                <a:ea typeface="华文楷体" panose="02010600040101010101" pitchFamily="2" charset="-122"/>
              </a:rPr>
              <a:t>按非降序权重将</a:t>
            </a:r>
            <a:r>
              <a:rPr lang="en-US" altLang="zh-CN" sz="2000" dirty="0">
                <a:latin typeface="华文楷体" panose="02010600040101010101" pitchFamily="2" charset="-122"/>
                <a:ea typeface="华文楷体" panose="02010600040101010101" pitchFamily="2" charset="-122"/>
              </a:rPr>
              <a:t>E</a:t>
            </a:r>
            <a:r>
              <a:rPr lang="zh-CN" altLang="en-US" sz="2000" dirty="0">
                <a:latin typeface="华文楷体" panose="02010600040101010101" pitchFamily="2" charset="-122"/>
                <a:ea typeface="华文楷体" panose="02010600040101010101" pitchFamily="2" charset="-122"/>
              </a:rPr>
              <a:t>中的边排序</a:t>
            </a:r>
            <a:endParaRPr lang="en-US" altLang="zh-CN" sz="2000" dirty="0">
              <a:latin typeface="华文楷体" panose="02010600040101010101" pitchFamily="2" charset="-122"/>
              <a:ea typeface="华文楷体" panose="02010600040101010101" pitchFamily="2" charset="-122"/>
            </a:endParaRPr>
          </a:p>
          <a:p>
            <a:pPr lvl="1" eaLnBrk="1" hangingPunct="1">
              <a:lnSpc>
                <a:spcPct val="90000"/>
              </a:lnSpc>
              <a:buNone/>
            </a:pPr>
            <a:r>
              <a:rPr lang="en-US" altLang="zh-CN" sz="2000" dirty="0">
                <a:ea typeface="华文楷体" panose="02010600040101010101" pitchFamily="2" charset="-122"/>
              </a:rPr>
              <a:t>	2.</a:t>
            </a:r>
            <a:r>
              <a:rPr lang="en-US" altLang="zh-CN" sz="2000" b="1" dirty="0">
                <a:ea typeface="华文楷体" panose="02010600040101010101" pitchFamily="2" charset="-122"/>
              </a:rPr>
              <a:t>for</a:t>
            </a:r>
            <a:r>
              <a:rPr lang="en-US" altLang="zh-CN" sz="2000" dirty="0">
                <a:ea typeface="华文楷体" panose="02010600040101010101" pitchFamily="2" charset="-122"/>
              </a:rPr>
              <a:t> </a:t>
            </a:r>
            <a:r>
              <a:rPr lang="zh-CN" altLang="en-US" sz="2000" dirty="0">
                <a:ea typeface="华文楷体" panose="02010600040101010101" pitchFamily="2" charset="-122"/>
              </a:rPr>
              <a:t>每条边</a:t>
            </a:r>
            <a:r>
              <a:rPr lang="en-US" altLang="zh-CN" sz="2000" dirty="0">
                <a:ea typeface="华文楷体" panose="02010600040101010101" pitchFamily="2" charset="-122"/>
              </a:rPr>
              <a:t>v</a:t>
            </a:r>
            <a:r>
              <a:rPr lang="en-US" altLang="zh-CN" sz="2000" dirty="0">
                <a:ea typeface="华文楷体" panose="02010600040101010101" pitchFamily="2" charset="-122"/>
                <a:sym typeface="Symbol" panose="05050102010706020507" pitchFamily="18" charset="2"/>
              </a:rPr>
              <a:t>∈V</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3.	MAKESET{v}</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4.</a:t>
            </a:r>
            <a:r>
              <a:rPr lang="en-US" altLang="zh-CN" sz="2000" b="1" dirty="0">
                <a:ea typeface="华文楷体" panose="02010600040101010101" pitchFamily="2" charset="-122"/>
                <a:sym typeface="Symbol" panose="05050102010706020507" pitchFamily="18" charset="2"/>
              </a:rPr>
              <a:t>end for</a:t>
            </a:r>
            <a:endParaRPr lang="en-US" altLang="zh-CN" sz="2000" b="1"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5.T={}</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6.</a:t>
            </a:r>
            <a:r>
              <a:rPr lang="en-US" altLang="zh-CN" sz="2000" b="1" dirty="0">
                <a:ea typeface="华文楷体" panose="02010600040101010101" pitchFamily="2" charset="-122"/>
                <a:sym typeface="Symbol" panose="05050102010706020507" pitchFamily="18" charset="2"/>
              </a:rPr>
              <a:t>while</a:t>
            </a:r>
            <a:r>
              <a:rPr lang="en-US" altLang="zh-CN" sz="2000" dirty="0">
                <a:ea typeface="华文楷体" panose="02010600040101010101" pitchFamily="2" charset="-122"/>
                <a:sym typeface="Symbol" panose="05050102010706020507" pitchFamily="18" charset="2"/>
              </a:rPr>
              <a:t> |T|&lt;n-1</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7.	</a:t>
            </a:r>
            <a:r>
              <a:rPr lang="zh-CN" altLang="en-US" sz="2000" dirty="0">
                <a:ea typeface="华文楷体" panose="02010600040101010101" pitchFamily="2" charset="-122"/>
                <a:sym typeface="Symbol" panose="05050102010706020507" pitchFamily="18" charset="2"/>
              </a:rPr>
              <a:t>令</a:t>
            </a:r>
            <a:r>
              <a:rPr lang="en-US" altLang="zh-CN" sz="2000" dirty="0">
                <a:ea typeface="华文楷体" panose="02010600040101010101" pitchFamily="2" charset="-122"/>
                <a:sym typeface="Symbol" panose="05050102010706020507" pitchFamily="18" charset="2"/>
              </a:rPr>
              <a:t> (x,y)</a:t>
            </a:r>
            <a:r>
              <a:rPr lang="zh-CN" altLang="en-US" sz="2000" dirty="0">
                <a:ea typeface="华文楷体" panose="02010600040101010101" pitchFamily="2" charset="-122"/>
                <a:sym typeface="Symbol" panose="05050102010706020507" pitchFamily="18" charset="2"/>
              </a:rPr>
              <a:t>为</a:t>
            </a:r>
            <a:r>
              <a:rPr lang="en-US" altLang="zh-CN" sz="2000" dirty="0">
                <a:ea typeface="华文楷体" panose="02010600040101010101" pitchFamily="2" charset="-122"/>
                <a:sym typeface="Symbol" panose="05050102010706020507" pitchFamily="18" charset="2"/>
              </a:rPr>
              <a:t>E</a:t>
            </a:r>
            <a:r>
              <a:rPr lang="zh-CN" altLang="en-US" sz="2000" dirty="0">
                <a:ea typeface="华文楷体" panose="02010600040101010101" pitchFamily="2" charset="-122"/>
                <a:sym typeface="Symbol" panose="05050102010706020507" pitchFamily="18" charset="2"/>
              </a:rPr>
              <a:t>中的下一条边</a:t>
            </a:r>
            <a:r>
              <a:rPr lang="en-US" altLang="zh-CN" sz="2000" dirty="0">
                <a:ea typeface="华文楷体" panose="02010600040101010101" pitchFamily="2" charset="-122"/>
                <a:sym typeface="Symbol" panose="05050102010706020507" pitchFamily="18" charset="2"/>
              </a:rPr>
              <a:t>.</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8.	</a:t>
            </a:r>
            <a:r>
              <a:rPr lang="en-US" altLang="zh-CN" sz="2000" b="1" dirty="0">
                <a:ea typeface="华文楷体" panose="02010600040101010101" pitchFamily="2" charset="-122"/>
                <a:sym typeface="Symbol" panose="05050102010706020507" pitchFamily="18" charset="2"/>
              </a:rPr>
              <a:t>if</a:t>
            </a:r>
            <a:r>
              <a:rPr lang="en-US" altLang="zh-CN" sz="2000" dirty="0">
                <a:ea typeface="华文楷体" panose="02010600040101010101" pitchFamily="2" charset="-122"/>
                <a:sym typeface="Symbol" panose="05050102010706020507" pitchFamily="18" charset="2"/>
              </a:rPr>
              <a:t> FIND(x) FIND(y) </a:t>
            </a:r>
            <a:r>
              <a:rPr lang="en-US" altLang="zh-CN" sz="2000" b="1" dirty="0">
                <a:ea typeface="华文楷体" panose="02010600040101010101" pitchFamily="2" charset="-122"/>
                <a:sym typeface="Symbol" panose="05050102010706020507" pitchFamily="18" charset="2"/>
              </a:rPr>
              <a:t>then </a:t>
            </a:r>
            <a:r>
              <a:rPr lang="en-US" altLang="zh-CN" sz="2000" dirty="0">
                <a:ea typeface="华文楷体" panose="02010600040101010101" pitchFamily="2" charset="-122"/>
                <a:sym typeface="Symbol" panose="05050102010706020507" pitchFamily="18" charset="2"/>
              </a:rPr>
              <a:t>{</a:t>
            </a:r>
            <a:r>
              <a:rPr lang="zh-CN" altLang="en-US" sz="2000" dirty="0">
                <a:ea typeface="华文楷体" panose="02010600040101010101" pitchFamily="2" charset="-122"/>
                <a:sym typeface="Symbol" panose="05050102010706020507" pitchFamily="18" charset="2"/>
              </a:rPr>
              <a:t>检查</a:t>
            </a:r>
            <a:r>
              <a:rPr lang="en-US" altLang="zh-CN" sz="2000" dirty="0">
                <a:ea typeface="华文楷体" panose="02010600040101010101" pitchFamily="2" charset="-122"/>
                <a:sym typeface="Symbol" panose="05050102010706020507" pitchFamily="18" charset="2"/>
              </a:rPr>
              <a:t>x</a:t>
            </a:r>
            <a:r>
              <a:rPr lang="zh-CN" altLang="en-US" sz="2000" dirty="0">
                <a:ea typeface="华文楷体" panose="02010600040101010101" pitchFamily="2" charset="-122"/>
                <a:sym typeface="Symbol" panose="05050102010706020507" pitchFamily="18" charset="2"/>
              </a:rPr>
              <a:t>，</a:t>
            </a:r>
            <a:r>
              <a:rPr lang="en-US" altLang="zh-CN" sz="2000" dirty="0">
                <a:ea typeface="华文楷体" panose="02010600040101010101" pitchFamily="2" charset="-122"/>
                <a:sym typeface="Symbol" panose="05050102010706020507" pitchFamily="18" charset="2"/>
              </a:rPr>
              <a:t>y</a:t>
            </a:r>
            <a:r>
              <a:rPr lang="zh-CN" altLang="en-US" sz="2000" dirty="0">
                <a:ea typeface="华文楷体" panose="02010600040101010101" pitchFamily="2" charset="-122"/>
                <a:sym typeface="Symbol" panose="05050102010706020507" pitchFamily="18" charset="2"/>
              </a:rPr>
              <a:t>是否在同一颗树中</a:t>
            </a:r>
            <a:r>
              <a:rPr lang="en-US" altLang="zh-CN" sz="2000" dirty="0">
                <a:ea typeface="华文楷体" panose="02010600040101010101" pitchFamily="2" charset="-122"/>
                <a:sym typeface="Symbol" panose="05050102010706020507" pitchFamily="18" charset="2"/>
              </a:rPr>
              <a:t>}</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9.  		</a:t>
            </a:r>
            <a:r>
              <a:rPr lang="zh-CN" altLang="en-US" sz="2000" dirty="0">
                <a:ea typeface="华文楷体" panose="02010600040101010101" pitchFamily="2" charset="-122"/>
                <a:sym typeface="Symbol" panose="05050102010706020507" pitchFamily="18" charset="2"/>
              </a:rPr>
              <a:t>将</a:t>
            </a:r>
            <a:r>
              <a:rPr lang="en-US" altLang="zh-CN" sz="2000" dirty="0">
                <a:ea typeface="华文楷体" panose="02010600040101010101" pitchFamily="2" charset="-122"/>
                <a:sym typeface="Symbol" panose="05050102010706020507" pitchFamily="18" charset="2"/>
              </a:rPr>
              <a:t>(x,y) </a:t>
            </a:r>
            <a:r>
              <a:rPr lang="zh-CN" altLang="en-US" sz="2000" dirty="0">
                <a:ea typeface="华文楷体" panose="02010600040101010101" pitchFamily="2" charset="-122"/>
                <a:sym typeface="Symbol" panose="05050102010706020507" pitchFamily="18" charset="2"/>
              </a:rPr>
              <a:t>加入</a:t>
            </a:r>
            <a:r>
              <a:rPr lang="en-US" altLang="zh-CN" sz="2000" dirty="0">
                <a:ea typeface="华文楷体" panose="02010600040101010101" pitchFamily="2" charset="-122"/>
                <a:sym typeface="Symbol" panose="05050102010706020507" pitchFamily="18" charset="2"/>
              </a:rPr>
              <a:t> T</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10   		 UNION(x,y)</a:t>
            </a:r>
            <a:endParaRPr lang="en-US" altLang="zh-CN" sz="2000"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11	</a:t>
            </a:r>
            <a:r>
              <a:rPr lang="en-US" altLang="zh-CN" sz="2000" b="1" dirty="0">
                <a:ea typeface="华文楷体" panose="02010600040101010101" pitchFamily="2" charset="-122"/>
                <a:sym typeface="Symbol" panose="05050102010706020507" pitchFamily="18" charset="2"/>
              </a:rPr>
              <a:t>end if</a:t>
            </a:r>
            <a:endParaRPr lang="en-US" altLang="zh-CN" sz="2000" b="1" dirty="0">
              <a:ea typeface="华文楷体" panose="02010600040101010101" pitchFamily="2" charset="-122"/>
              <a:sym typeface="Symbol" panose="05050102010706020507" pitchFamily="18" charset="2"/>
            </a:endParaRPr>
          </a:p>
          <a:p>
            <a:pPr lvl="1" eaLnBrk="1" hangingPunct="1">
              <a:lnSpc>
                <a:spcPct val="90000"/>
              </a:lnSpc>
              <a:buNone/>
            </a:pPr>
            <a:r>
              <a:rPr lang="en-US" altLang="zh-CN" sz="2000" dirty="0">
                <a:ea typeface="华文楷体" panose="02010600040101010101" pitchFamily="2" charset="-122"/>
                <a:sym typeface="Symbol" panose="05050102010706020507" pitchFamily="18" charset="2"/>
              </a:rPr>
              <a:t>	12. </a:t>
            </a:r>
            <a:r>
              <a:rPr lang="en-US" altLang="zh-CN" sz="2000" b="1" dirty="0">
                <a:ea typeface="华文楷体" panose="02010600040101010101" pitchFamily="2" charset="-122"/>
                <a:sym typeface="Symbol" panose="05050102010706020507" pitchFamily="18" charset="2"/>
              </a:rPr>
              <a:t>end while</a:t>
            </a:r>
            <a:endParaRPr lang="en-US" altLang="zh-CN" sz="2000" b="1" dirty="0">
              <a:ea typeface="华文楷体" panose="02010600040101010101" pitchFamily="2" charset="-122"/>
              <a:sym typeface="Symbol" panose="05050102010706020507" pitchFamily="18" charset="2"/>
            </a:endParaRPr>
          </a:p>
        </p:txBody>
      </p:sp>
      <p:sp>
        <p:nvSpPr>
          <p:cNvPr id="4" name="矩形 3"/>
          <p:cNvSpPr/>
          <p:nvPr/>
        </p:nvSpPr>
        <p:spPr>
          <a:xfrm>
            <a:off x="5940108" y="1123633"/>
            <a:ext cx="3132137" cy="3416300"/>
          </a:xfrm>
          <a:prstGeom prst="rect">
            <a:avLst/>
          </a:prstGeom>
          <a:solidFill>
            <a:srgbClr val="92D050"/>
          </a:solid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a:t>
            </a:r>
            <a:r>
              <a:rPr lang="zh-CN" altLang="en-US" sz="1800" dirty="0">
                <a:solidFill>
                  <a:srgbClr val="0070C0"/>
                </a:solidFill>
                <a:latin typeface="Arial" panose="020B0604020202020204" pitchFamily="34" charset="0"/>
                <a:ea typeface="宋体" panose="02010600030101010101" pitchFamily="2" charset="-122"/>
              </a:rPr>
              <a:t>步和第</a:t>
            </a:r>
            <a:r>
              <a:rPr lang="en-US" altLang="zh-CN" sz="1800" dirty="0">
                <a:solidFill>
                  <a:srgbClr val="0070C0"/>
                </a:solidFill>
                <a:latin typeface="Arial" panose="020B0604020202020204" pitchFamily="34" charset="0"/>
                <a:ea typeface="宋体" panose="02010600030101010101" pitchFamily="2" charset="-122"/>
              </a:rPr>
              <a:t>2</a:t>
            </a:r>
            <a:r>
              <a:rPr lang="zh-CN" altLang="en-US" sz="1800" dirty="0">
                <a:solidFill>
                  <a:srgbClr val="0070C0"/>
                </a:solidFill>
                <a:latin typeface="Arial" panose="020B0604020202020204" pitchFamily="34" charset="0"/>
                <a:ea typeface="宋体" panose="02010600030101010101" pitchFamily="2" charset="-122"/>
              </a:rPr>
              <a:t>步分别花费</a:t>
            </a:r>
            <a:r>
              <a:rPr lang="en-US" altLang="zh-CN" sz="1800" dirty="0">
                <a:solidFill>
                  <a:srgbClr val="C00000"/>
                </a:solidFill>
                <a:latin typeface="Arial" panose="020B0604020202020204" pitchFamily="34" charset="0"/>
                <a:ea typeface="宋体" panose="02010600030101010101" pitchFamily="2" charset="-122"/>
              </a:rPr>
              <a:t>O(mlogm) </a:t>
            </a:r>
            <a:r>
              <a:rPr lang="zh-CN" altLang="en-US" sz="1800" dirty="0">
                <a:solidFill>
                  <a:srgbClr val="0070C0"/>
                </a:solidFill>
                <a:latin typeface="Arial" panose="020B0604020202020204" pitchFamily="34" charset="0"/>
                <a:ea typeface="宋体" panose="02010600030101010101" pitchFamily="2" charset="-122"/>
              </a:rPr>
              <a:t>和</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这里</a:t>
            </a:r>
            <a:r>
              <a:rPr lang="en-US" altLang="zh-CN" sz="1800" dirty="0">
                <a:solidFill>
                  <a:srgbClr val="0070C0"/>
                </a:solidFill>
                <a:latin typeface="Arial" panose="020B0604020202020204" pitchFamily="34" charset="0"/>
                <a:ea typeface="宋体" panose="02010600030101010101" pitchFamily="2" charset="-122"/>
              </a:rPr>
              <a:t> m = |E|. </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7</a:t>
            </a:r>
            <a:r>
              <a:rPr lang="zh-CN" altLang="en-US" sz="1800" dirty="0">
                <a:solidFill>
                  <a:srgbClr val="0070C0"/>
                </a:solidFill>
                <a:latin typeface="Arial" panose="020B0604020202020204" pitchFamily="34" charset="0"/>
                <a:ea typeface="宋体" panose="02010600030101010101" pitchFamily="2" charset="-122"/>
              </a:rPr>
              <a:t>步执行</a:t>
            </a:r>
            <a:r>
              <a:rPr lang="en-US" altLang="zh-CN" sz="1800" dirty="0">
                <a:solidFill>
                  <a:srgbClr val="0070C0"/>
                </a:solidFill>
                <a:latin typeface="Arial" panose="020B0604020202020204" pitchFamily="34" charset="0"/>
                <a:ea typeface="宋体" panose="02010600030101010101" pitchFamily="2" charset="-122"/>
              </a:rPr>
              <a:t>n-1</a:t>
            </a:r>
            <a:r>
              <a:rPr lang="zh-CN" altLang="en-US" sz="1800" dirty="0">
                <a:solidFill>
                  <a:srgbClr val="0070C0"/>
                </a:solidFill>
                <a:latin typeface="Arial" panose="020B0604020202020204" pitchFamily="34" charset="0"/>
                <a:ea typeface="宋体" panose="02010600030101010101" pitchFamily="2" charset="-122"/>
              </a:rPr>
              <a:t>次总共要</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a:t>
            </a:r>
            <a:r>
              <a:rPr lang="zh-CN" altLang="en-US" sz="1800" dirty="0">
                <a:solidFill>
                  <a:srgbClr val="0070C0"/>
                </a:solidFill>
                <a:latin typeface="Arial" panose="020B0604020202020204" pitchFamily="34" charset="0"/>
                <a:ea typeface="宋体" panose="02010600030101010101" pitchFamily="2" charset="-122"/>
              </a:rPr>
              <a:t>时间。</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合并</a:t>
            </a:r>
            <a:r>
              <a:rPr lang="en-US" altLang="zh-CN" sz="1800" dirty="0">
                <a:solidFill>
                  <a:srgbClr val="0070C0"/>
                </a:solidFill>
                <a:latin typeface="Arial" panose="020B0604020202020204" pitchFamily="34" charset="0"/>
                <a:ea typeface="宋体" panose="02010600030101010101" pitchFamily="2" charset="-122"/>
              </a:rPr>
              <a:t>UNION</a:t>
            </a:r>
            <a:r>
              <a:rPr lang="zh-CN" altLang="en-US" sz="1800" dirty="0">
                <a:solidFill>
                  <a:srgbClr val="0070C0"/>
                </a:solidFill>
                <a:latin typeface="Arial" panose="020B0604020202020204" pitchFamily="34" charset="0"/>
                <a:ea typeface="宋体" panose="02010600030101010101" pitchFamily="2" charset="-122"/>
              </a:rPr>
              <a:t>运算执行</a:t>
            </a:r>
            <a:r>
              <a:rPr lang="en-US" altLang="zh-CN" sz="1800" dirty="0">
                <a:solidFill>
                  <a:srgbClr val="0070C0"/>
                </a:solidFill>
                <a:latin typeface="Arial" panose="020B0604020202020204" pitchFamily="34" charset="0"/>
                <a:ea typeface="宋体" panose="02010600030101010101" pitchFamily="2" charset="-122"/>
              </a:rPr>
              <a:t>n-1</a:t>
            </a:r>
            <a:r>
              <a:rPr lang="zh-CN" altLang="en-US" sz="1800" dirty="0">
                <a:solidFill>
                  <a:srgbClr val="0070C0"/>
                </a:solidFill>
                <a:latin typeface="Arial" panose="020B0604020202020204" pitchFamily="34" charset="0"/>
                <a:ea typeface="宋体" panose="02010600030101010101" pitchFamily="2" charset="-122"/>
              </a:rPr>
              <a:t>次，查找</a:t>
            </a:r>
            <a:r>
              <a:rPr lang="en-US" altLang="zh-CN" sz="1800" dirty="0">
                <a:solidFill>
                  <a:srgbClr val="0070C0"/>
                </a:solidFill>
                <a:latin typeface="Arial" panose="020B0604020202020204" pitchFamily="34" charset="0"/>
                <a:ea typeface="宋体" panose="02010600030101010101" pitchFamily="2" charset="-122"/>
              </a:rPr>
              <a:t>FIND</a:t>
            </a:r>
            <a:r>
              <a:rPr lang="zh-CN" altLang="en-US" sz="1800" dirty="0">
                <a:solidFill>
                  <a:srgbClr val="0070C0"/>
                </a:solidFill>
                <a:latin typeface="Arial" panose="020B0604020202020204" pitchFamily="34" charset="0"/>
                <a:ea typeface="宋体" panose="02010600030101010101" pitchFamily="2" charset="-122"/>
              </a:rPr>
              <a:t>运算最多</a:t>
            </a:r>
            <a:r>
              <a:rPr lang="en-US" altLang="zh-CN" sz="1800" dirty="0">
                <a:solidFill>
                  <a:srgbClr val="C00000"/>
                </a:solidFill>
                <a:latin typeface="Arial" panose="020B0604020202020204" pitchFamily="34" charset="0"/>
                <a:ea typeface="宋体" panose="02010600030101010101" pitchFamily="2" charset="-122"/>
              </a:rPr>
              <a:t>2m</a:t>
            </a:r>
            <a:r>
              <a:rPr lang="zh-CN" altLang="en-US" sz="1800" dirty="0">
                <a:solidFill>
                  <a:srgbClr val="0070C0"/>
                </a:solidFill>
                <a:latin typeface="Arial" panose="020B0604020202020204" pitchFamily="34" charset="0"/>
                <a:ea typeface="宋体" panose="02010600030101010101" pitchFamily="2" charset="-122"/>
              </a:rPr>
              <a:t>次</a:t>
            </a:r>
            <a:r>
              <a:rPr lang="en-US" altLang="zh-CN" sz="1800" dirty="0">
                <a:solidFill>
                  <a:srgbClr val="0070C0"/>
                </a:solidFill>
                <a:latin typeface="Arial" panose="020B0604020202020204" pitchFamily="34" charset="0"/>
                <a:ea typeface="宋体" panose="02010600030101010101" pitchFamily="2" charset="-122"/>
              </a:rPr>
              <a:t>.</a:t>
            </a:r>
            <a:endParaRPr lang="zh-CN" altLang="en-US"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5</a:t>
            </a:r>
            <a:r>
              <a:rPr lang="zh-CN" altLang="en-US" sz="1800" dirty="0">
                <a:solidFill>
                  <a:srgbClr val="0070C0"/>
                </a:solidFill>
                <a:latin typeface="Arial" panose="020B0604020202020204" pitchFamily="34" charset="0"/>
                <a:ea typeface="宋体" panose="02010600030101010101" pitchFamily="2" charset="-122"/>
              </a:rPr>
              <a:t>步花费</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(1)</a:t>
            </a:r>
            <a:r>
              <a:rPr lang="zh-CN" altLang="en-US" sz="1800" dirty="0">
                <a:solidFill>
                  <a:srgbClr val="0070C0"/>
                </a:solidFill>
                <a:latin typeface="Arial" panose="020B0604020202020204" pitchFamily="34" charset="0"/>
                <a:ea typeface="宋体" panose="02010600030101010101" pitchFamily="2" charset="-122"/>
              </a:rPr>
              <a:t>，再加上第</a:t>
            </a:r>
            <a:r>
              <a:rPr lang="en-US" altLang="zh-CN" sz="1800" dirty="0">
                <a:solidFill>
                  <a:srgbClr val="0070C0"/>
                </a:solidFill>
                <a:latin typeface="Arial" panose="020B0604020202020204" pitchFamily="34" charset="0"/>
                <a:ea typeface="宋体" panose="02010600030101010101" pitchFamily="2" charset="-122"/>
              </a:rPr>
              <a:t>9</a:t>
            </a:r>
            <a:r>
              <a:rPr lang="zh-CN" altLang="en-US" sz="1800" dirty="0">
                <a:solidFill>
                  <a:srgbClr val="0070C0"/>
                </a:solidFill>
                <a:latin typeface="Arial" panose="020B0604020202020204" pitchFamily="34" charset="0"/>
                <a:ea typeface="宋体" panose="02010600030101010101" pitchFamily="2" charset="-122"/>
              </a:rPr>
              <a:t>步最多执行</a:t>
            </a:r>
            <a:r>
              <a:rPr lang="en-US" altLang="zh-CN" sz="1800" dirty="0">
                <a:solidFill>
                  <a:srgbClr val="0070C0"/>
                </a:solidFill>
                <a:latin typeface="Arial" panose="020B0604020202020204" pitchFamily="34" charset="0"/>
                <a:ea typeface="宋体" panose="02010600030101010101" pitchFamily="2" charset="-122"/>
              </a:rPr>
              <a:t>m</a:t>
            </a:r>
            <a:r>
              <a:rPr lang="zh-CN" altLang="en-US" sz="1800" dirty="0">
                <a:solidFill>
                  <a:srgbClr val="0070C0"/>
                </a:solidFill>
                <a:latin typeface="Arial" panose="020B0604020202020204" pitchFamily="34" charset="0"/>
                <a:ea typeface="宋体" panose="02010600030101010101" pitchFamily="2" charset="-122"/>
              </a:rPr>
              <a:t>次，它的总花费是</a:t>
            </a:r>
            <a:r>
              <a:rPr lang="en-US" altLang="zh-CN" sz="1800" dirty="0">
                <a:solidFill>
                  <a:srgbClr val="0070C0"/>
                </a:solidFill>
                <a:latin typeface="Arial" panose="020B0604020202020204" pitchFamily="34" charset="0"/>
                <a:ea typeface="宋体" panose="02010600030101010101" pitchFamily="2" charset="-122"/>
              </a:rPr>
              <a:t>O(m)</a:t>
            </a:r>
            <a:r>
              <a:rPr lang="zh-CN" altLang="en-US" sz="1800" dirty="0">
                <a:solidFill>
                  <a:srgbClr val="0070C0"/>
                </a:solidFill>
                <a:latin typeface="Arial" panose="020B0604020202020204" pitchFamily="34" charset="0"/>
                <a:ea typeface="宋体" panose="02010600030101010101" pitchFamily="2" charset="-122"/>
              </a:rPr>
              <a:t>。</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由定理</a:t>
            </a:r>
            <a:r>
              <a:rPr lang="en-US" altLang="zh-CN" sz="1800" dirty="0">
                <a:solidFill>
                  <a:srgbClr val="0070C0"/>
                </a:solidFill>
                <a:latin typeface="Arial" panose="020B0604020202020204" pitchFamily="34" charset="0"/>
                <a:ea typeface="宋体" panose="02010600030101010101" pitchFamily="2" charset="-122"/>
              </a:rPr>
              <a:t>4.3</a:t>
            </a:r>
            <a:r>
              <a:rPr lang="zh-CN" altLang="en-US" sz="1800" dirty="0">
                <a:solidFill>
                  <a:srgbClr val="0070C0"/>
                </a:solidFill>
                <a:latin typeface="Arial" panose="020B0604020202020204" pitchFamily="34" charset="0"/>
                <a:ea typeface="宋体" panose="02010600030101010101" pitchFamily="2" charset="-122"/>
              </a:rPr>
              <a:t>，这两个运算的总花费是</a:t>
            </a:r>
            <a:r>
              <a:rPr lang="en-US" altLang="zh-CN" sz="1800" dirty="0">
                <a:solidFill>
                  <a:srgbClr val="C00000"/>
                </a:solidFill>
                <a:latin typeface="Arial" panose="020B0604020202020204" pitchFamily="34" charset="0"/>
                <a:ea typeface="宋体" panose="02010600030101010101" pitchFamily="2" charset="-122"/>
              </a:rPr>
              <a:t>O(mlog*n)</a:t>
            </a:r>
            <a:r>
              <a:rPr lang="zh-CN" altLang="en-US" sz="1800" dirty="0">
                <a:solidFill>
                  <a:srgbClr val="0070C0"/>
                </a:solidFill>
                <a:latin typeface="Arial" panose="020B0604020202020204" pitchFamily="34" charset="0"/>
                <a:ea typeface="宋体" panose="02010600030101010101" pitchFamily="2" charset="-122"/>
              </a:rPr>
              <a:t>。</a:t>
            </a:r>
            <a:endParaRPr lang="en-US" altLang="zh-CN" sz="1800" dirty="0">
              <a:solidFill>
                <a:srgbClr val="0070C0"/>
              </a:solidFill>
              <a:latin typeface="Arial" panose="020B0604020202020204" pitchFamily="34" charset="0"/>
              <a:ea typeface="宋体" panose="02010600030101010101" pitchFamily="2" charset="-122"/>
            </a:endParaRPr>
          </a:p>
        </p:txBody>
      </p:sp>
      <p:sp>
        <p:nvSpPr>
          <p:cNvPr id="17411" name="Rectangle 2"/>
          <p:cNvSpPr>
            <a:spLocks noGrp="1"/>
          </p:cNvSpPr>
          <p:nvPr>
            <p:ph type="title"/>
          </p:nvPr>
        </p:nvSpPr>
        <p:spPr>
          <a:xfrm>
            <a:off x="879475" y="198438"/>
            <a:ext cx="7869238" cy="927100"/>
          </a:xfrm>
        </p:spPr>
        <p:txBody>
          <a:bodyPr vert="horz" wrap="square" lIns="91440" tIns="45720" rIns="91440" bIns="45720" anchor="ctr" anchorCtr="0"/>
          <a:p>
            <a:pPr eaLnBrk="1" hangingPunct="1"/>
            <a:r>
              <a:rPr lang="en-US" altLang="zh-CN" dirty="0"/>
              <a:t>5.1.1 Kruskal</a:t>
            </a:r>
            <a:r>
              <a:rPr lang="zh-CN" altLang="en-US" dirty="0"/>
              <a:t>算法</a:t>
            </a:r>
            <a:r>
              <a:rPr lang="en-US" altLang="zh-CN" dirty="0"/>
              <a:t>——</a:t>
            </a:r>
            <a:r>
              <a:rPr lang="zh-CN" altLang="en-US" dirty="0"/>
              <a:t>伪代码</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21507" name="Rectangle 2"/>
          <p:cNvSpPr>
            <a:spLocks noGrp="1"/>
          </p:cNvSpPr>
          <p:nvPr>
            <p:ph type="title"/>
          </p:nvPr>
        </p:nvSpPr>
        <p:spPr/>
        <p:txBody>
          <a:bodyPr vert="horz" wrap="square" lIns="91440" tIns="45720" rIns="91440" bIns="45720" anchor="ctr" anchorCtr="0"/>
          <a:lstStyle/>
          <a:p>
            <a:pPr eaLnBrk="1" hangingPunct="1"/>
            <a:r>
              <a:rPr lang="en-US" altLang="zh-CN" dirty="0"/>
              <a:t>5.1.1 </a:t>
            </a:r>
            <a:r>
              <a:rPr lang="en-US" altLang="zh-CN" dirty="0">
                <a:sym typeface="+mn-ea"/>
              </a:rPr>
              <a:t>Kruskal</a:t>
            </a:r>
            <a:r>
              <a:rPr lang="zh-CN" altLang="en-US" dirty="0">
                <a:sym typeface="+mn-ea"/>
              </a:rPr>
              <a:t>算法</a:t>
            </a:r>
            <a:r>
              <a:rPr lang="en-US" altLang="zh-CN" dirty="0"/>
              <a:t>——</a:t>
            </a:r>
            <a:r>
              <a:rPr lang="zh-CN" altLang="en-US" dirty="0"/>
              <a:t>正确性证明</a:t>
            </a:r>
            <a:endParaRPr lang="en-US" altLang="zh-CN" dirty="0"/>
          </a:p>
        </p:txBody>
      </p:sp>
      <p:sp>
        <p:nvSpPr>
          <p:cNvPr id="2" name="Rectangle 3"/>
          <p:cNvSpPr>
            <a:spLocks noGrp="1"/>
          </p:cNvSpPr>
          <p:nvPr>
            <p:ph idx="1"/>
          </p:nvPr>
        </p:nvSpPr>
        <p:spPr>
          <a:xfrm>
            <a:off x="950913" y="1268413"/>
            <a:ext cx="7724775" cy="3600450"/>
          </a:xfrm>
        </p:spPr>
        <p:txBody>
          <a:bodyPr vert="horz" wrap="square" lIns="91440" tIns="45720" rIns="91440" bIns="45720" anchor="t" anchorCtr="0"/>
          <a:lstStyle/>
          <a:p>
            <a:pPr eaLnBrk="1" hangingPunct="1"/>
            <a:r>
              <a:rPr lang="zh-CN" altLang="en-US" dirty="0"/>
              <a:t>引理</a:t>
            </a:r>
            <a:r>
              <a:rPr lang="en-US" altLang="zh-CN" dirty="0"/>
              <a:t>8.2: </a:t>
            </a:r>
            <a:r>
              <a:rPr lang="zh-CN" altLang="en-US" dirty="0"/>
              <a:t>在含权无向图中，算法</a:t>
            </a:r>
            <a:r>
              <a:rPr lang="en-US" altLang="zh-CN" dirty="0"/>
              <a:t>KRUSKAL</a:t>
            </a:r>
            <a:r>
              <a:rPr lang="zh-CN" altLang="en-US" dirty="0"/>
              <a:t>正确地找出最小生成树。</a:t>
            </a:r>
            <a:endParaRPr lang="en-US" altLang="zh-CN" dirty="0"/>
          </a:p>
          <a:p>
            <a:r>
              <a:rPr lang="zh-CN" altLang="en-US" dirty="0">
                <a:solidFill>
                  <a:srgbClr val="FF0000"/>
                </a:solidFill>
              </a:rPr>
              <a:t>反证法：假设</a:t>
            </a:r>
            <a:r>
              <a:rPr lang="en-US" altLang="zh-CN" dirty="0">
                <a:solidFill>
                  <a:srgbClr val="FF0000"/>
                </a:solidFill>
              </a:rPr>
              <a:t>KRUSKAL</a:t>
            </a:r>
            <a:r>
              <a:rPr lang="zh-CN" altLang="en-US" dirty="0">
                <a:solidFill>
                  <a:srgbClr val="FF0000"/>
                </a:solidFill>
              </a:rPr>
              <a:t>生成的不是最小生成树</a:t>
            </a:r>
            <a:endParaRPr lang="zh-CN" altLang="en-US" dirty="0">
              <a:solidFill>
                <a:srgbClr val="FF0000"/>
              </a:solidFill>
            </a:endParaRPr>
          </a:p>
          <a:p>
            <a:pPr>
              <a:buNone/>
            </a:pPr>
            <a:r>
              <a:rPr lang="en-US" altLang="zh-CN" sz="2400" dirty="0"/>
              <a:t>1).</a:t>
            </a:r>
            <a:r>
              <a:rPr lang="zh-CN" altLang="en-US" sz="2400" dirty="0"/>
              <a:t>设</a:t>
            </a:r>
            <a:r>
              <a:rPr lang="en-US" altLang="zh-CN" sz="2400" dirty="0"/>
              <a:t>KRUSKAL</a:t>
            </a:r>
            <a:r>
              <a:rPr lang="zh-CN" altLang="en-US" sz="2400" dirty="0"/>
              <a:t>生成的树为</a:t>
            </a:r>
            <a:r>
              <a:rPr lang="en-US" altLang="zh-CN" sz="2400" dirty="0"/>
              <a:t>G</a:t>
            </a:r>
            <a:r>
              <a:rPr lang="en-US" altLang="zh-CN" sz="2400" baseline="-25000" dirty="0"/>
              <a:t>0</a:t>
            </a:r>
            <a:endParaRPr lang="zh-CN" altLang="en-US" sz="2400" dirty="0"/>
          </a:p>
          <a:p>
            <a:pPr>
              <a:buNone/>
            </a:pPr>
            <a:r>
              <a:rPr lang="en-US" altLang="zh-CN" sz="2400" dirty="0"/>
              <a:t>2).</a:t>
            </a:r>
            <a:r>
              <a:rPr lang="zh-CN" altLang="en-US" sz="2400" dirty="0"/>
              <a:t>假设存在</a:t>
            </a:r>
            <a:r>
              <a:rPr lang="en-US" altLang="zh-CN" sz="2400" dirty="0"/>
              <a:t>G</a:t>
            </a:r>
            <a:r>
              <a:rPr lang="en-US" altLang="zh-CN" sz="2400" baseline="-25000" dirty="0"/>
              <a:t>min</a:t>
            </a:r>
            <a:r>
              <a:rPr lang="zh-CN" altLang="en-US" sz="2400" dirty="0"/>
              <a:t>使得</a:t>
            </a:r>
            <a:r>
              <a:rPr lang="en-US" altLang="zh-CN" sz="2400" dirty="0"/>
              <a:t>cost(G</a:t>
            </a:r>
            <a:r>
              <a:rPr lang="en-US" altLang="zh-CN" sz="2400" baseline="-25000" dirty="0"/>
              <a:t>min</a:t>
            </a:r>
            <a:r>
              <a:rPr lang="en-US" altLang="zh-CN" sz="2400" dirty="0"/>
              <a:t>)&lt;cost(G</a:t>
            </a:r>
            <a:r>
              <a:rPr lang="en-US" altLang="zh-CN" sz="2400" baseline="-25000" dirty="0"/>
              <a:t>0</a:t>
            </a:r>
            <a:r>
              <a:rPr lang="en-US" altLang="zh-CN" sz="2400" dirty="0"/>
              <a:t>)   </a:t>
            </a:r>
            <a:r>
              <a:rPr lang="zh-CN" altLang="en-US" sz="2400" dirty="0"/>
              <a:t>则在</a:t>
            </a:r>
            <a:r>
              <a:rPr lang="en-US" altLang="zh-CN" sz="2400" dirty="0"/>
              <a:t>G</a:t>
            </a:r>
            <a:r>
              <a:rPr lang="en-US" altLang="zh-CN" sz="2400" baseline="-25000" dirty="0"/>
              <a:t>min</a:t>
            </a:r>
            <a:r>
              <a:rPr lang="zh-CN" altLang="en-US" sz="2400" dirty="0"/>
              <a:t>中存在</a:t>
            </a:r>
            <a:r>
              <a:rPr lang="en-US" altLang="zh-CN" sz="2400" dirty="0"/>
              <a:t>&lt;u,v&gt;</a:t>
            </a:r>
            <a:r>
              <a:rPr lang="zh-CN" altLang="en-US" sz="2400" dirty="0"/>
              <a:t>不属于</a:t>
            </a:r>
            <a:r>
              <a:rPr lang="en-US" altLang="zh-CN" sz="2400" dirty="0"/>
              <a:t>G</a:t>
            </a:r>
            <a:r>
              <a:rPr lang="en-US" altLang="zh-CN" sz="2400" baseline="-25000" dirty="0"/>
              <a:t>0</a:t>
            </a:r>
            <a:endParaRPr lang="zh-CN" altLang="en-US" sz="2400" dirty="0"/>
          </a:p>
          <a:p>
            <a:pPr>
              <a:buNone/>
            </a:pPr>
            <a:r>
              <a:rPr lang="en-US" altLang="zh-CN" sz="2400" dirty="0"/>
              <a:t>3).</a:t>
            </a:r>
            <a:r>
              <a:rPr lang="zh-CN" altLang="en-US" sz="2400" dirty="0"/>
              <a:t>将</a:t>
            </a:r>
            <a:r>
              <a:rPr lang="en-US" altLang="zh-CN" sz="2400" dirty="0"/>
              <a:t>&lt;u,v&gt;</a:t>
            </a:r>
            <a:r>
              <a:rPr lang="zh-CN" altLang="en-US" sz="2400" dirty="0"/>
              <a:t>加入</a:t>
            </a:r>
            <a:r>
              <a:rPr lang="en-US" altLang="zh-CN" sz="2400" dirty="0"/>
              <a:t>G</a:t>
            </a:r>
            <a:r>
              <a:rPr lang="en-US" altLang="zh-CN" sz="2400" baseline="-25000" dirty="0"/>
              <a:t>0</a:t>
            </a:r>
            <a:r>
              <a:rPr lang="zh-CN" altLang="en-US" sz="2400" dirty="0"/>
              <a:t>中可得一个环，且</a:t>
            </a:r>
            <a:r>
              <a:rPr lang="en-US" altLang="zh-CN" sz="2400" dirty="0"/>
              <a:t>&lt;u,v&gt;</a:t>
            </a:r>
            <a:r>
              <a:rPr lang="zh-CN" altLang="en-US" sz="2400" dirty="0"/>
              <a:t>不是该环的最长边</a:t>
            </a:r>
            <a:r>
              <a:rPr lang="en-US" altLang="zh-CN" sz="2400" dirty="0"/>
              <a:t>(</a:t>
            </a:r>
            <a:r>
              <a:rPr lang="zh-CN" altLang="en-US" sz="2400" dirty="0"/>
              <a:t>这是因为</a:t>
            </a:r>
            <a:r>
              <a:rPr lang="en-US" altLang="zh-CN" sz="2400" dirty="0"/>
              <a:t>&lt;u,v&gt;∈G</a:t>
            </a:r>
            <a:r>
              <a:rPr lang="en-US" altLang="zh-CN" sz="2400" baseline="-25000" dirty="0"/>
              <a:t>min</a:t>
            </a:r>
            <a:r>
              <a:rPr lang="en-US" altLang="zh-CN" sz="2400" dirty="0"/>
              <a:t>)</a:t>
            </a:r>
            <a:endParaRPr lang="en-US" altLang="zh-CN" sz="2400" dirty="0"/>
          </a:p>
          <a:p>
            <a:pPr>
              <a:buNone/>
            </a:pPr>
            <a:r>
              <a:rPr lang="en-US" altLang="zh-CN" sz="2400" dirty="0"/>
              <a:t>4).</a:t>
            </a:r>
            <a:r>
              <a:rPr lang="zh-CN" altLang="en-US" sz="2400" dirty="0"/>
              <a:t>这与</a:t>
            </a:r>
            <a:r>
              <a:rPr lang="en-US" altLang="zh-CN" sz="2400" dirty="0"/>
              <a:t>KRUSKAL</a:t>
            </a:r>
            <a:r>
              <a:rPr lang="zh-CN" altLang="en-US" sz="2400" dirty="0"/>
              <a:t>每次生成最短边矛盾</a:t>
            </a:r>
            <a:endParaRPr lang="zh-CN" altLang="en-US" sz="2400" dirty="0"/>
          </a:p>
          <a:p>
            <a:pPr>
              <a:buNone/>
            </a:pPr>
            <a:r>
              <a:rPr lang="en-US" altLang="zh-CN" sz="2400" dirty="0"/>
              <a:t>5).</a:t>
            </a:r>
            <a:r>
              <a:rPr lang="zh-CN" altLang="en-US" sz="2400" dirty="0"/>
              <a:t>故假设不成立，命题得证</a:t>
            </a:r>
            <a:r>
              <a:rPr lang="en-US" altLang="zh-CN" sz="2400" dirty="0"/>
              <a:t>.</a:t>
            </a:r>
            <a:endParaRPr lang="en-US" altLang="zh-CN" sz="2400" dirty="0"/>
          </a:p>
          <a:p>
            <a:pPr>
              <a:buNone/>
            </a:pPr>
            <a:r>
              <a:rPr lang="en-US" altLang="zh-CN" dirty="0"/>
              <a:t>Proof  P241(or P153)</a:t>
            </a:r>
            <a:endParaRPr lang="en-US" altLang="zh-CN" dirty="0"/>
          </a:p>
          <a:p>
            <a:pPr>
              <a:buNone/>
            </a:pPr>
            <a:endParaRPr lang="en-US" altLang="zh-CN" dirty="0"/>
          </a:p>
          <a:p>
            <a:pPr eaLnBrk="1" hangingPunct="1"/>
            <a:endParaRPr lang="en-US" altLang="zh-CN" dirty="0"/>
          </a:p>
        </p:txBody>
      </p:sp>
      <p:pic>
        <p:nvPicPr>
          <p:cNvPr id="35844" name="Picture 4" descr="lemma"/>
          <p:cNvPicPr>
            <a:picLocks noChangeAspect="1"/>
          </p:cNvPicPr>
          <p:nvPr/>
        </p:nvPicPr>
        <p:blipFill>
          <a:blip r:embed="rId1"/>
          <a:stretch>
            <a:fillRect/>
          </a:stretch>
        </p:blipFill>
        <p:spPr>
          <a:xfrm>
            <a:off x="900113" y="1341438"/>
            <a:ext cx="358775" cy="3587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p:cTn id="7" dur="5000" fill="hold"/>
                                        <p:tgtEl>
                                          <p:spTgt spid="35844"/>
                                        </p:tgtEl>
                                        <p:attrNameLst>
                                          <p:attrName>ppt_w</p:attrName>
                                        </p:attrNameLst>
                                      </p:cBhvr>
                                      <p:tavLst>
                                        <p:tav tm="0" fmla="#ppt_w*sin(2.5*pi*$)">
                                          <p:val>
                                            <p:fltVal val="0"/>
                                          </p:val>
                                        </p:tav>
                                        <p:tav tm="100000">
                                          <p:val>
                                            <p:fltVal val="1"/>
                                          </p:val>
                                        </p:tav>
                                      </p:tavLst>
                                    </p:anim>
                                    <p:anim calcmode="lin" valueType="num">
                                      <p:cBhvr>
                                        <p:cTn id="8" dur="5000" fill="hold"/>
                                        <p:tgtEl>
                                          <p:spTgt spid="3584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blinds(horizontal)">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 calcmode="lin" valueType="num">
                                      <p:cBhvr>
                                        <p:cTn id="16"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p:cTn id="17"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 calcmode="lin" valueType="num">
                                      <p:cBhvr>
                                        <p:cTn id="22"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p:cTn id="23"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 calcmode="lin" valueType="num">
                                      <p:cBhvr>
                                        <p:cTn id="28" dur="500" fill="hold"/>
                                        <p:tgtEl>
                                          <p:spTgt spid="2">
                                            <p:txEl>
                                              <p:pRg st="3" end="3"/>
                                            </p:txEl>
                                          </p:spTgt>
                                        </p:tgtEl>
                                        <p:attrNameLst>
                                          <p:attrName>ppt_x</p:attrName>
                                        </p:attrNameLst>
                                      </p:cBhvr>
                                      <p:tavLst>
                                        <p:tav tm="0">
                                          <p:val>
                                            <p:strVal val="0-#ppt_w/2"/>
                                          </p:val>
                                        </p:tav>
                                        <p:tav tm="100000">
                                          <p:val>
                                            <p:strVal val="#ppt_x"/>
                                          </p:val>
                                        </p:tav>
                                      </p:tavLst>
                                    </p:anim>
                                    <p:anim calcmode="lin" valueType="num">
                                      <p:cBhvr>
                                        <p:cTn id="29" dur="500" fill="hold"/>
                                        <p:tgtEl>
                                          <p:spTgt spid="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 calcmode="lin" valueType="num">
                                      <p:cBhvr>
                                        <p:cTn id="34"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p:cTn id="35"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2">
                                            <p:txEl>
                                              <p:pRg st="5" end="5"/>
                                            </p:txEl>
                                          </p:spTgt>
                                        </p:tgtEl>
                                        <p:attrNameLst>
                                          <p:attrName>style.visibility</p:attrName>
                                        </p:attrNameLst>
                                      </p:cBhvr>
                                      <p:to>
                                        <p:strVal val="visible"/>
                                      </p:to>
                                    </p:set>
                                    <p:anim calcmode="lin" valueType="num">
                                      <p:cBhvr>
                                        <p:cTn id="40" dur="500" fill="hold"/>
                                        <p:tgtEl>
                                          <p:spTgt spid="2">
                                            <p:txEl>
                                              <p:pRg st="5" end="5"/>
                                            </p:txEl>
                                          </p:spTgt>
                                        </p:tgtEl>
                                        <p:attrNameLst>
                                          <p:attrName>ppt_x</p:attrName>
                                        </p:attrNameLst>
                                      </p:cBhvr>
                                      <p:tavLst>
                                        <p:tav tm="0">
                                          <p:val>
                                            <p:strVal val="0-#ppt_w/2"/>
                                          </p:val>
                                        </p:tav>
                                        <p:tav tm="100000">
                                          <p:val>
                                            <p:strVal val="#ppt_x"/>
                                          </p:val>
                                        </p:tav>
                                      </p:tavLst>
                                    </p:anim>
                                    <p:anim calcmode="lin" valueType="num">
                                      <p:cBhvr>
                                        <p:cTn id="41" dur="500" fill="hold"/>
                                        <p:tgtEl>
                                          <p:spTgt spid="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 calcmode="lin" valueType="num">
                                      <p:cBhvr>
                                        <p:cTn id="46"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p:cTn id="47"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 calcmode="lin" valueType="num">
                                      <p:cBhvr>
                                        <p:cTn id="52" dur="500" fill="hold"/>
                                        <p:tgtEl>
                                          <p:spTgt spid="2">
                                            <p:txEl>
                                              <p:pRg st="7" end="7"/>
                                            </p:txEl>
                                          </p:spTgt>
                                        </p:tgtEl>
                                        <p:attrNameLst>
                                          <p:attrName>ppt_x</p:attrName>
                                        </p:attrNameLst>
                                      </p:cBhvr>
                                      <p:tavLst>
                                        <p:tav tm="0">
                                          <p:val>
                                            <p:strVal val="0-#ppt_w/2"/>
                                          </p:val>
                                        </p:tav>
                                        <p:tav tm="100000">
                                          <p:val>
                                            <p:strVal val="#ppt_x"/>
                                          </p:val>
                                        </p:tav>
                                      </p:tavLst>
                                    </p:anim>
                                    <p:anim calcmode="lin" valueType="num">
                                      <p:cBhvr>
                                        <p:cTn id="53" dur="500" fill="hold"/>
                                        <p:tgtEl>
                                          <p:spTgt spid="2">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23555" name="Rectangle 2"/>
          <p:cNvSpPr>
            <a:spLocks noGrp="1"/>
          </p:cNvSpPr>
          <p:nvPr>
            <p:ph type="title"/>
          </p:nvPr>
        </p:nvSpPr>
        <p:spPr/>
        <p:txBody>
          <a:bodyPr vert="horz" wrap="square" lIns="91440" tIns="45720" rIns="91440" bIns="45720" anchor="ctr" anchorCtr="0"/>
          <a:lstStyle/>
          <a:p>
            <a:pPr eaLnBrk="1" hangingPunct="1"/>
            <a:r>
              <a:rPr lang="en-US" altLang="zh-CN" dirty="0"/>
              <a:t>5.1.1 </a:t>
            </a:r>
            <a:r>
              <a:rPr lang="en-US" altLang="zh-CN" dirty="0">
                <a:sym typeface="+mn-ea"/>
              </a:rPr>
              <a:t>Kruskal</a:t>
            </a:r>
            <a:r>
              <a:rPr lang="zh-CN" altLang="en-US" dirty="0">
                <a:sym typeface="+mn-ea"/>
              </a:rPr>
              <a:t>算法</a:t>
            </a:r>
            <a:r>
              <a:rPr lang="en-US" altLang="zh-CN" dirty="0"/>
              <a:t>——</a:t>
            </a:r>
            <a:r>
              <a:rPr lang="zh-CN" altLang="en-US" dirty="0"/>
              <a:t>算法分析</a:t>
            </a:r>
            <a:endParaRPr lang="en-US" altLang="zh-CN" dirty="0"/>
          </a:p>
        </p:txBody>
      </p:sp>
      <p:sp>
        <p:nvSpPr>
          <p:cNvPr id="137219" name="Rectangle 3"/>
          <p:cNvSpPr>
            <a:spLocks noGrp="1"/>
          </p:cNvSpPr>
          <p:nvPr>
            <p:ph idx="1"/>
          </p:nvPr>
        </p:nvSpPr>
        <p:spPr/>
        <p:txBody>
          <a:bodyPr vert="horz" wrap="square" lIns="91440" tIns="45720" rIns="91440" bIns="45720" anchor="t" anchorCtr="0"/>
          <a:lstStyle/>
          <a:p>
            <a:pPr eaLnBrk="1" hangingPunct="1"/>
            <a:r>
              <a:rPr lang="zh-CN" altLang="en-US" sz="2400" dirty="0"/>
              <a:t>第</a:t>
            </a:r>
            <a:r>
              <a:rPr lang="en-US" altLang="zh-CN" sz="2400" dirty="0"/>
              <a:t>1</a:t>
            </a:r>
            <a:r>
              <a:rPr lang="zh-CN" altLang="en-US" sz="2400" dirty="0"/>
              <a:t>步和第</a:t>
            </a:r>
            <a:r>
              <a:rPr lang="en-US" altLang="zh-CN" sz="2400" dirty="0"/>
              <a:t>2</a:t>
            </a:r>
            <a:r>
              <a:rPr lang="zh-CN" altLang="en-US" sz="2400" dirty="0"/>
              <a:t>步分别花费</a:t>
            </a:r>
            <a:r>
              <a:rPr lang="en-US" altLang="zh-CN" sz="2400" dirty="0"/>
              <a:t>O(mlogm) </a:t>
            </a:r>
            <a:r>
              <a:rPr lang="zh-CN" altLang="en-US" sz="2400" dirty="0"/>
              <a:t>和</a:t>
            </a:r>
            <a:r>
              <a:rPr lang="el-GR" altLang="zh-CN" sz="2400" dirty="0"/>
              <a:t>Θ</a:t>
            </a:r>
            <a:r>
              <a:rPr lang="en-US" altLang="zh-CN" sz="2400" dirty="0"/>
              <a:t>(n), </a:t>
            </a:r>
            <a:r>
              <a:rPr lang="zh-CN" altLang="en-US" sz="2400" dirty="0"/>
              <a:t>这里</a:t>
            </a:r>
            <a:r>
              <a:rPr lang="en-US" altLang="zh-CN" sz="2400" dirty="0"/>
              <a:t> m = |E|. </a:t>
            </a:r>
            <a:endParaRPr lang="en-US" altLang="zh-CN" sz="2400" dirty="0"/>
          </a:p>
          <a:p>
            <a:pPr eaLnBrk="1" hangingPunct="1"/>
            <a:r>
              <a:rPr lang="zh-CN" altLang="en-US" sz="2400" dirty="0"/>
              <a:t>第</a:t>
            </a:r>
            <a:r>
              <a:rPr lang="en-US" altLang="zh-CN" sz="2400" dirty="0"/>
              <a:t>7</a:t>
            </a:r>
            <a:r>
              <a:rPr lang="zh-CN" altLang="en-US" sz="2400" dirty="0"/>
              <a:t>步恰好执行</a:t>
            </a:r>
            <a:r>
              <a:rPr lang="en-US" altLang="zh-CN" sz="2400" dirty="0"/>
              <a:t>n-1</a:t>
            </a:r>
            <a:r>
              <a:rPr lang="zh-CN" altLang="en-US" sz="2400" dirty="0"/>
              <a:t>次，总共要</a:t>
            </a:r>
            <a:r>
              <a:rPr lang="el-GR" altLang="zh-CN" sz="2400" dirty="0"/>
              <a:t>Θ</a:t>
            </a:r>
            <a:r>
              <a:rPr lang="en-US" altLang="zh-CN" sz="2400" dirty="0"/>
              <a:t>(n)</a:t>
            </a:r>
            <a:r>
              <a:rPr lang="zh-CN" altLang="en-US" sz="2400" dirty="0"/>
              <a:t>时间。合并运算执行</a:t>
            </a:r>
            <a:r>
              <a:rPr lang="en-US" altLang="zh-CN" sz="2400" dirty="0"/>
              <a:t>n-1</a:t>
            </a:r>
            <a:r>
              <a:rPr lang="zh-CN" altLang="en-US" sz="2400" dirty="0"/>
              <a:t>次，查找运算最多</a:t>
            </a:r>
            <a:r>
              <a:rPr lang="en-US" altLang="zh-CN" sz="2400" dirty="0"/>
              <a:t>2m</a:t>
            </a:r>
            <a:r>
              <a:rPr lang="zh-CN" altLang="en-US" sz="2400" dirty="0"/>
              <a:t>次</a:t>
            </a:r>
            <a:r>
              <a:rPr lang="en-US" altLang="zh-CN" sz="2400" dirty="0"/>
              <a:t>.</a:t>
            </a:r>
            <a:endParaRPr lang="zh-CN" altLang="en-US" sz="2400" dirty="0"/>
          </a:p>
          <a:p>
            <a:pPr eaLnBrk="1" hangingPunct="1"/>
            <a:r>
              <a:rPr lang="zh-CN" altLang="en-US" sz="2400" dirty="0"/>
              <a:t>第</a:t>
            </a:r>
            <a:r>
              <a:rPr lang="en-US" altLang="zh-CN" sz="2400" dirty="0"/>
              <a:t>5</a:t>
            </a:r>
            <a:r>
              <a:rPr lang="zh-CN" altLang="en-US" sz="2400" dirty="0"/>
              <a:t>步花费</a:t>
            </a:r>
            <a:r>
              <a:rPr lang="el-GR" altLang="zh-CN" sz="2400" dirty="0"/>
              <a:t>Θ</a:t>
            </a:r>
            <a:r>
              <a:rPr lang="en-US" altLang="zh-CN" sz="2400" dirty="0"/>
              <a:t>(1)</a:t>
            </a:r>
            <a:r>
              <a:rPr lang="zh-CN" altLang="en-US" sz="2400" dirty="0"/>
              <a:t>，再加上第</a:t>
            </a:r>
            <a:r>
              <a:rPr lang="en-US" altLang="zh-CN" sz="2400" dirty="0"/>
              <a:t>9</a:t>
            </a:r>
            <a:r>
              <a:rPr lang="zh-CN" altLang="en-US" sz="2400" dirty="0"/>
              <a:t>步最多执行</a:t>
            </a:r>
            <a:r>
              <a:rPr lang="en-US" altLang="zh-CN" sz="2400" dirty="0"/>
              <a:t>m</a:t>
            </a:r>
            <a:r>
              <a:rPr lang="zh-CN" altLang="en-US" sz="2400" dirty="0"/>
              <a:t>次，它的总花费是</a:t>
            </a:r>
            <a:r>
              <a:rPr lang="en-US" altLang="zh-CN" sz="2400" dirty="0"/>
              <a:t>O(m)</a:t>
            </a:r>
            <a:r>
              <a:rPr lang="zh-CN" altLang="en-US" sz="2400" dirty="0"/>
              <a:t>。由定理</a:t>
            </a:r>
            <a:r>
              <a:rPr lang="en-US" altLang="zh-CN" sz="2400" dirty="0"/>
              <a:t>4.3</a:t>
            </a:r>
            <a:r>
              <a:rPr lang="zh-CN" altLang="en-US" sz="2400" dirty="0"/>
              <a:t>，这两个运算的总花费是</a:t>
            </a:r>
            <a:r>
              <a:rPr lang="en-US" altLang="zh-CN" sz="2400" dirty="0"/>
              <a:t>O(mlog*n)</a:t>
            </a:r>
            <a:r>
              <a:rPr lang="zh-CN" altLang="en-US" sz="2400" dirty="0"/>
              <a:t>。</a:t>
            </a:r>
            <a:endParaRPr lang="en-US" altLang="zh-CN" sz="2400" dirty="0"/>
          </a:p>
          <a:p>
            <a:pPr eaLnBrk="1" hangingPunct="1"/>
            <a:r>
              <a:rPr lang="zh-CN" altLang="en-US" sz="2400" dirty="0"/>
              <a:t>这样算法总的运行时间取决于排序步，</a:t>
            </a:r>
            <a:r>
              <a:rPr lang="zh-CN" altLang="en-US" sz="2400" dirty="0">
                <a:solidFill>
                  <a:srgbClr val="FF0000"/>
                </a:solidFill>
              </a:rPr>
              <a:t>也就是</a:t>
            </a:r>
            <a:r>
              <a:rPr lang="en-US" altLang="zh-CN" sz="2400" dirty="0">
                <a:solidFill>
                  <a:srgbClr val="FF0000"/>
                </a:solidFill>
              </a:rPr>
              <a:t>O(mlogm) </a:t>
            </a:r>
            <a:endParaRPr lang="en-US" altLang="zh-CN" sz="2400" dirty="0">
              <a:solidFill>
                <a:srgbClr val="FF0000"/>
              </a:solidFill>
            </a:endParaRPr>
          </a:p>
          <a:p>
            <a:pPr eaLnBrk="1" hangingPunct="1"/>
            <a:r>
              <a:rPr lang="en-US" altLang="zh-CN" sz="2400" dirty="0">
                <a:solidFill>
                  <a:srgbClr val="FF0000"/>
                </a:solidFill>
              </a:rPr>
              <a:t>p153</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 calcmode="lin" valueType="num">
                                      <p:cBhvr>
                                        <p:cTn id="7" dur="500" fill="hold"/>
                                        <p:tgtEl>
                                          <p:spTgt spid="13721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37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7219">
                                            <p:txEl>
                                              <p:pRg st="1" end="1"/>
                                            </p:txEl>
                                          </p:spTgt>
                                        </p:tgtEl>
                                        <p:attrNameLst>
                                          <p:attrName>style.visibility</p:attrName>
                                        </p:attrNameLst>
                                      </p:cBhvr>
                                      <p:to>
                                        <p:strVal val="visible"/>
                                      </p:to>
                                    </p:set>
                                    <p:anim calcmode="lin" valueType="num">
                                      <p:cBhvr>
                                        <p:cTn id="13" dur="500" fill="hold"/>
                                        <p:tgtEl>
                                          <p:spTgt spid="137219">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37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7219">
                                            <p:txEl>
                                              <p:pRg st="2" end="2"/>
                                            </p:txEl>
                                          </p:spTgt>
                                        </p:tgtEl>
                                        <p:attrNameLst>
                                          <p:attrName>style.visibility</p:attrName>
                                        </p:attrNameLst>
                                      </p:cBhvr>
                                      <p:to>
                                        <p:strVal val="visible"/>
                                      </p:to>
                                    </p:set>
                                    <p:anim calcmode="lin" valueType="num">
                                      <p:cBhvr>
                                        <p:cTn id="19" dur="500" fill="hold"/>
                                        <p:tgtEl>
                                          <p:spTgt spid="137219">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137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7219">
                                            <p:txEl>
                                              <p:pRg st="3" end="3"/>
                                            </p:txEl>
                                          </p:spTgt>
                                        </p:tgtEl>
                                        <p:attrNameLst>
                                          <p:attrName>style.visibility</p:attrName>
                                        </p:attrNameLst>
                                      </p:cBhvr>
                                      <p:to>
                                        <p:strVal val="visible"/>
                                      </p:to>
                                    </p:set>
                                    <p:anim calcmode="lin" valueType="num">
                                      <p:cBhvr>
                                        <p:cTn id="25" dur="500" fill="hold"/>
                                        <p:tgtEl>
                                          <p:spTgt spid="137219">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1372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7219">
                                            <p:txEl>
                                              <p:pRg st="4" end="4"/>
                                            </p:txEl>
                                          </p:spTgt>
                                        </p:tgtEl>
                                        <p:attrNameLst>
                                          <p:attrName>style.visibility</p:attrName>
                                        </p:attrNameLst>
                                      </p:cBhvr>
                                      <p:to>
                                        <p:strVal val="visible"/>
                                      </p:to>
                                    </p:set>
                                    <p:anim calcmode="lin" valueType="num">
                                      <p:cBhvr>
                                        <p:cTn id="31" dur="500" fill="hold"/>
                                        <p:tgtEl>
                                          <p:spTgt spid="137219">
                                            <p:txEl>
                                              <p:pRg st="4" end="4"/>
                                            </p:txEl>
                                          </p:spTgt>
                                        </p:tgtEl>
                                        <p:attrNameLst>
                                          <p:attrName>ppt_x</p:attrName>
                                        </p:attrNameLst>
                                      </p:cBhvr>
                                      <p:tavLst>
                                        <p:tav tm="0">
                                          <p:val>
                                            <p:strVal val="#ppt_x"/>
                                          </p:val>
                                        </p:tav>
                                        <p:tav tm="100000">
                                          <p:val>
                                            <p:strVal val="#ppt_x"/>
                                          </p:val>
                                        </p:tav>
                                      </p:tavLst>
                                    </p:anim>
                                    <p:anim calcmode="lin" valueType="num">
                                      <p:cBhvr>
                                        <p:cTn id="32" dur="500" fill="hold"/>
                                        <p:tgtEl>
                                          <p:spTgt spid="1372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25603" name="Rectangle 2"/>
          <p:cNvSpPr>
            <a:spLocks noGrp="1"/>
          </p:cNvSpPr>
          <p:nvPr>
            <p:ph type="title"/>
          </p:nvPr>
        </p:nvSpPr>
        <p:spPr/>
        <p:txBody>
          <a:bodyPr vert="horz" wrap="square" lIns="91440" tIns="45720" rIns="91440" bIns="45720" anchor="ctr" anchorCtr="0"/>
          <a:lstStyle/>
          <a:p>
            <a:pPr eaLnBrk="1" hangingPunct="1"/>
            <a:r>
              <a:rPr lang="en-US" altLang="zh-CN" dirty="0"/>
              <a:t>5.1.1  </a:t>
            </a:r>
            <a:r>
              <a:rPr lang="zh-CN" altLang="en-US" dirty="0"/>
              <a:t>最小耗费生成树</a:t>
            </a:r>
            <a:r>
              <a:rPr lang="en-US" altLang="zh-CN" dirty="0"/>
              <a:t> ——Prim</a:t>
            </a:r>
            <a:r>
              <a:rPr lang="zh-CN" altLang="en-US" dirty="0"/>
              <a:t>算法</a:t>
            </a:r>
            <a:endParaRPr lang="en-US" altLang="zh-CN" dirty="0"/>
          </a:p>
        </p:txBody>
      </p:sp>
      <p:sp>
        <p:nvSpPr>
          <p:cNvPr id="17817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基本思想</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G=(V,E)</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，为了简便起见，</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取整数集合</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{1,2,…,n}. </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算法从建立两个顶点集合开始</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X={1}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Y={2,…,n}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。接着生长一棵生成树，每次一条边。</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在每一步，它找出一条权重最小的边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x,y</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，这里</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x∈X</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 ∈Y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并且把</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移到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。重复这一步直到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为空。</a:t>
            </a:r>
            <a:endParaRPr kumimoji="0" lang="zh-CN" altLang="en-US" sz="22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 calcmode="lin" valueType="num">
                                      <p:cBhvr>
                                        <p:cTn id="7" dur="500" fill="hold"/>
                                        <p:tgtEl>
                                          <p:spTgt spid="178179">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178179">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78179">
                                            <p:txEl>
                                              <p:pRg st="0" end="0"/>
                                            </p:txEl>
                                          </p:spTgt>
                                        </p:tgtEl>
                                        <p:attrNameLst>
                                          <p:attrName>ppt_c</p:attrName>
                                        </p:attrNameLst>
                                      </p:cBhvr>
                                      <p:to>
                                        <a:schemeClr val="bg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79">
                                            <p:txEl>
                                              <p:pRg st="1" end="1"/>
                                            </p:txEl>
                                          </p:spTgt>
                                        </p:tgtEl>
                                        <p:attrNameLst>
                                          <p:attrName>style.visibility</p:attrName>
                                        </p:attrNameLst>
                                      </p:cBhvr>
                                      <p:to>
                                        <p:strVal val="visible"/>
                                      </p:to>
                                    </p:set>
                                    <p:anim calcmode="lin" valueType="num">
                                      <p:cBhvr>
                                        <p:cTn id="13" dur="500" fill="hold"/>
                                        <p:tgtEl>
                                          <p:spTgt spid="178179">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178179">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78179">
                                            <p:txEl>
                                              <p:pRg st="1" end="1"/>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8179">
                                            <p:txEl>
                                              <p:pRg st="3" end="3"/>
                                            </p:txEl>
                                          </p:spTgt>
                                        </p:tgtEl>
                                        <p:attrNameLst>
                                          <p:attrName>style.visibility</p:attrName>
                                        </p:attrNameLst>
                                      </p:cBhvr>
                                      <p:to>
                                        <p:strVal val="visible"/>
                                      </p:to>
                                    </p:set>
                                    <p:anim calcmode="lin" valueType="num">
                                      <p:cBhvr>
                                        <p:cTn id="19" dur="500" fill="hold"/>
                                        <p:tgtEl>
                                          <p:spTgt spid="178179">
                                            <p:txEl>
                                              <p:pRg st="3" end="3"/>
                                            </p:txEl>
                                          </p:spTgt>
                                        </p:tgtEl>
                                        <p:attrNameLst>
                                          <p:attrName>ppt_x</p:attrName>
                                        </p:attrNameLst>
                                      </p:cBhvr>
                                      <p:tavLst>
                                        <p:tav tm="0">
                                          <p:val>
                                            <p:strVal val="#ppt_x"/>
                                          </p:val>
                                        </p:tav>
                                        <p:tav tm="100000">
                                          <p:val>
                                            <p:strVal val="#ppt_x"/>
                                          </p:val>
                                        </p:tav>
                                      </p:tavLst>
                                    </p:anim>
                                    <p:anim calcmode="lin" valueType="num">
                                      <p:cBhvr>
                                        <p:cTn id="20" dur="500" fill="hold"/>
                                        <p:tgtEl>
                                          <p:spTgt spid="178179">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78179">
                                            <p:txEl>
                                              <p:pRg st="3" end="3"/>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8179">
                                            <p:txEl>
                                              <p:pRg st="5" end="5"/>
                                            </p:txEl>
                                          </p:spTgt>
                                        </p:tgtEl>
                                        <p:attrNameLst>
                                          <p:attrName>style.visibility</p:attrName>
                                        </p:attrNameLst>
                                      </p:cBhvr>
                                      <p:to>
                                        <p:strVal val="visible"/>
                                      </p:to>
                                    </p:set>
                                    <p:anim calcmode="lin" valueType="num">
                                      <p:cBhvr>
                                        <p:cTn id="25" dur="500" fill="hold"/>
                                        <p:tgtEl>
                                          <p:spTgt spid="178179">
                                            <p:txEl>
                                              <p:pRg st="5" end="5"/>
                                            </p:txEl>
                                          </p:spTgt>
                                        </p:tgtEl>
                                        <p:attrNameLst>
                                          <p:attrName>ppt_x</p:attrName>
                                        </p:attrNameLst>
                                      </p:cBhvr>
                                      <p:tavLst>
                                        <p:tav tm="0">
                                          <p:val>
                                            <p:strVal val="#ppt_x"/>
                                          </p:val>
                                        </p:tav>
                                        <p:tav tm="100000">
                                          <p:val>
                                            <p:strVal val="#ppt_x"/>
                                          </p:val>
                                        </p:tav>
                                      </p:tavLst>
                                    </p:anim>
                                    <p:anim calcmode="lin" valueType="num">
                                      <p:cBhvr>
                                        <p:cTn id="26" dur="500" fill="hold"/>
                                        <p:tgtEl>
                                          <p:spTgt spid="178179">
                                            <p:txEl>
                                              <p:pRg st="5" end="5"/>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78179">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26627" name="Rectangle 2"/>
          <p:cNvSpPr>
            <a:spLocks noGrp="1"/>
          </p:cNvSpPr>
          <p:nvPr>
            <p:ph type="title"/>
          </p:nvPr>
        </p:nvSpPr>
        <p:spPr/>
        <p:txBody>
          <a:bodyPr vert="horz" wrap="square" lIns="91440" tIns="45720" rIns="91440" bIns="45720" anchor="ctr" anchorCtr="0"/>
          <a:lstStyle/>
          <a:p>
            <a:pPr eaLnBrk="1" hangingPunct="1"/>
            <a:r>
              <a:rPr lang="en-US" altLang="zh-CN" dirty="0"/>
              <a:t>5.1.1 </a:t>
            </a:r>
            <a:r>
              <a:rPr lang="zh-CN" altLang="en-US" dirty="0"/>
              <a:t>最小耗费生成树</a:t>
            </a:r>
            <a:r>
              <a:rPr lang="en-US" altLang="zh-CN" dirty="0"/>
              <a:t>—— Prim</a:t>
            </a:r>
            <a:r>
              <a:rPr lang="zh-CN" altLang="en-US" dirty="0"/>
              <a:t>算法</a:t>
            </a:r>
            <a:endParaRPr lang="en-US" altLang="zh-CN" dirty="0"/>
          </a:p>
        </p:txBody>
      </p:sp>
      <p:sp>
        <p:nvSpPr>
          <p:cNvPr id="26628" name="Rectangle 3"/>
          <p:cNvSpPr>
            <a:spLocks noGrp="1"/>
          </p:cNvSpPr>
          <p:nvPr>
            <p:ph idx="1"/>
          </p:nvPr>
        </p:nvSpPr>
        <p:spPr>
          <a:xfrm>
            <a:off x="395288" y="1341438"/>
            <a:ext cx="8497887" cy="4032250"/>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marL="495300" indent="-495300" eaLnBrk="1" hangingPunct="1">
              <a:buNone/>
            </a:pPr>
            <a:r>
              <a:rPr lang="zh-CN" altLang="en-US" dirty="0"/>
              <a:t>此算法概况如下：</a:t>
            </a:r>
            <a:endParaRPr lang="en-US" altLang="zh-CN" dirty="0"/>
          </a:p>
          <a:p>
            <a:pPr marL="725805" lvl="1" indent="-268605" eaLnBrk="1" hangingPunct="1">
              <a:buFont typeface="Wingdings" panose="05000000000000000000" pitchFamily="2" charset="2"/>
              <a:buAutoNum type="arabicPeriod"/>
            </a:pPr>
            <a:r>
              <a:rPr lang="en-US" altLang="zh-CN" dirty="0">
                <a:ea typeface="华文楷体" panose="02010600040101010101" pitchFamily="2" charset="-122"/>
              </a:rPr>
              <a:t>T</a:t>
            </a:r>
            <a:r>
              <a:rPr lang="en-US" altLang="zh-CN" dirty="0">
                <a:ea typeface="华文楷体" panose="02010600040101010101" pitchFamily="2" charset="-122"/>
                <a:sym typeface="Wingdings" panose="05000000000000000000" pitchFamily="2" charset="2"/>
              </a:rPr>
              <a:t>{};  X{1};  YV-{1}</a:t>
            </a:r>
            <a:endParaRPr lang="en-US" altLang="zh-CN" dirty="0">
              <a:ea typeface="华文楷体" panose="02010600040101010101" pitchFamily="2" charset="-122"/>
              <a:sym typeface="Wingdings" panose="05000000000000000000" pitchFamily="2" charset="2"/>
            </a:endParaRPr>
          </a:p>
          <a:p>
            <a:pPr marL="725805" lvl="1" indent="-268605" eaLnBrk="1" hangingPunct="1">
              <a:buFont typeface="Wingdings" panose="05000000000000000000" pitchFamily="2" charset="2"/>
              <a:buAutoNum type="arabicPeriod"/>
            </a:pPr>
            <a:r>
              <a:rPr lang="en-US" altLang="zh-CN" b="1" dirty="0">
                <a:ea typeface="华文楷体" panose="02010600040101010101" pitchFamily="2" charset="-122"/>
                <a:sym typeface="Wingdings" panose="05000000000000000000" pitchFamily="2" charset="2"/>
              </a:rPr>
              <a:t>while</a:t>
            </a:r>
            <a:r>
              <a:rPr lang="en-US" altLang="zh-CN" dirty="0">
                <a:ea typeface="华文楷体" panose="02010600040101010101" pitchFamily="2" charset="-122"/>
                <a:sym typeface="Wingdings" panose="05000000000000000000" pitchFamily="2" charset="2"/>
              </a:rPr>
              <a:t> Y </a:t>
            </a:r>
            <a:r>
              <a:rPr lang="en-US" altLang="zh-CN" dirty="0">
                <a:ea typeface="华文楷体" panose="02010600040101010101" pitchFamily="2" charset="-122"/>
                <a:sym typeface="Symbol" panose="05050102010706020507" pitchFamily="18" charset="2"/>
              </a:rPr>
              <a:t>{}</a:t>
            </a:r>
            <a:endParaRPr lang="en-US" altLang="zh-CN" dirty="0">
              <a:ea typeface="华文楷体" panose="02010600040101010101" pitchFamily="2" charset="-122"/>
              <a:sym typeface="Symbol" panose="05050102010706020507" pitchFamily="18" charset="2"/>
            </a:endParaRPr>
          </a:p>
          <a:p>
            <a:pPr marL="725805" lvl="1" indent="-268605" eaLnBrk="1" hangingPunct="1">
              <a:buFont typeface="Wingdings" panose="05000000000000000000" pitchFamily="2" charset="2"/>
              <a:buAutoNum type="arabicPeriod"/>
            </a:pPr>
            <a:r>
              <a:rPr lang="en-US" altLang="zh-CN" dirty="0">
                <a:ea typeface="华文楷体" panose="02010600040101010101" pitchFamily="2" charset="-122"/>
                <a:sym typeface="Wingdings" panose="05000000000000000000" pitchFamily="2" charset="2"/>
              </a:rPr>
              <a:t>     </a:t>
            </a:r>
            <a:r>
              <a:rPr lang="en-US" altLang="zh-CN" dirty="0">
                <a:latin typeface="华文楷体" panose="02010600040101010101" pitchFamily="2" charset="-122"/>
                <a:ea typeface="华文楷体" panose="02010600040101010101" pitchFamily="2" charset="-122"/>
                <a:sym typeface="Wingdings" panose="05000000000000000000" pitchFamily="2" charset="2"/>
              </a:rPr>
              <a:t> </a:t>
            </a:r>
            <a:r>
              <a:rPr lang="zh-CN" altLang="en-US" dirty="0">
                <a:latin typeface="华文楷体" panose="02010600040101010101" pitchFamily="2" charset="-122"/>
                <a:ea typeface="华文楷体" panose="02010600040101010101" pitchFamily="2" charset="-122"/>
                <a:sym typeface="Wingdings" panose="05000000000000000000" pitchFamily="2" charset="2"/>
              </a:rPr>
              <a:t>设</a:t>
            </a:r>
            <a:r>
              <a:rPr lang="en-US" altLang="zh-CN" dirty="0">
                <a:ea typeface="华文楷体" panose="02010600040101010101" pitchFamily="2" charset="-122"/>
                <a:sym typeface="Wingdings" panose="05000000000000000000" pitchFamily="2" charset="2"/>
              </a:rPr>
              <a:t>(x,y)</a:t>
            </a:r>
            <a:r>
              <a:rPr lang="zh-CN" altLang="en-US" dirty="0">
                <a:latin typeface="华文楷体" panose="02010600040101010101" pitchFamily="2" charset="-122"/>
                <a:ea typeface="华文楷体" panose="02010600040101010101" pitchFamily="2" charset="-122"/>
                <a:sym typeface="Wingdings" panose="05000000000000000000" pitchFamily="2" charset="2"/>
              </a:rPr>
              <a:t>是最小权重的边，其中</a:t>
            </a:r>
            <a:r>
              <a:rPr lang="en-US" altLang="zh-CN" dirty="0">
                <a:ea typeface="华文楷体" panose="02010600040101010101" pitchFamily="2" charset="-122"/>
                <a:sym typeface="Wingdings" panose="05000000000000000000" pitchFamily="2" charset="2"/>
              </a:rPr>
              <a:t>x</a:t>
            </a:r>
            <a:r>
              <a:rPr lang="en-US" altLang="zh-CN" dirty="0">
                <a:ea typeface="华文楷体" panose="02010600040101010101" pitchFamily="2" charset="-122"/>
                <a:sym typeface="Symbol" panose="05050102010706020507" pitchFamily="18" charset="2"/>
              </a:rPr>
              <a:t>∈X and y∈Y</a:t>
            </a:r>
            <a:endParaRPr lang="en-US" altLang="zh-CN" dirty="0">
              <a:ea typeface="华文楷体" panose="02010600040101010101" pitchFamily="2" charset="-122"/>
              <a:sym typeface="Symbol" panose="05050102010706020507" pitchFamily="18" charset="2"/>
            </a:endParaRPr>
          </a:p>
          <a:p>
            <a:pPr marL="725805" lvl="1" indent="-268605" eaLnBrk="1" hangingPunct="1">
              <a:buFont typeface="Wingdings" panose="05000000000000000000" pitchFamily="2" charset="2"/>
              <a:buAutoNum type="arabicPeriod"/>
            </a:pPr>
            <a:r>
              <a:rPr lang="en-US" altLang="zh-CN" dirty="0">
                <a:ea typeface="华文楷体" panose="02010600040101010101" pitchFamily="2" charset="-122"/>
                <a:sym typeface="Symbol" panose="05050102010706020507" pitchFamily="18" charset="2"/>
              </a:rPr>
              <a:t>      X</a:t>
            </a:r>
            <a:r>
              <a:rPr lang="en-US" altLang="zh-CN" dirty="0">
                <a:ea typeface="华文楷体" panose="02010600040101010101" pitchFamily="2" charset="-122"/>
                <a:sym typeface="Wingdings" panose="05000000000000000000" pitchFamily="2" charset="2"/>
              </a:rPr>
              <a:t>X</a:t>
            </a:r>
            <a:r>
              <a:rPr lang="en-US" altLang="zh-CN" dirty="0">
                <a:ea typeface="华文楷体" panose="02010600040101010101" pitchFamily="2" charset="-122"/>
                <a:sym typeface="Symbol" panose="05050102010706020507" pitchFamily="18" charset="2"/>
              </a:rPr>
              <a:t>∪{y}</a:t>
            </a:r>
            <a:endParaRPr lang="en-US" altLang="zh-CN" dirty="0">
              <a:ea typeface="华文楷体" panose="02010600040101010101" pitchFamily="2" charset="-122"/>
              <a:sym typeface="Symbol" panose="05050102010706020507" pitchFamily="18" charset="2"/>
            </a:endParaRPr>
          </a:p>
          <a:p>
            <a:pPr marL="725805" lvl="1" indent="-268605" eaLnBrk="1" hangingPunct="1">
              <a:buFont typeface="Wingdings" panose="05000000000000000000" pitchFamily="2" charset="2"/>
              <a:buAutoNum type="arabicPeriod"/>
            </a:pPr>
            <a:r>
              <a:rPr lang="en-US" altLang="zh-CN" dirty="0">
                <a:ea typeface="华文楷体" panose="02010600040101010101" pitchFamily="2" charset="-122"/>
                <a:sym typeface="Symbol" panose="05050102010706020507" pitchFamily="18" charset="2"/>
              </a:rPr>
              <a:t>      Y</a:t>
            </a:r>
            <a:r>
              <a:rPr lang="en-US" altLang="zh-CN" dirty="0">
                <a:ea typeface="华文楷体" panose="02010600040101010101" pitchFamily="2" charset="-122"/>
                <a:sym typeface="Wingdings" panose="05000000000000000000" pitchFamily="2" charset="2"/>
              </a:rPr>
              <a:t>Y-{y}</a:t>
            </a:r>
            <a:endParaRPr lang="en-US" altLang="zh-CN" dirty="0">
              <a:ea typeface="华文楷体" panose="02010600040101010101" pitchFamily="2" charset="-122"/>
              <a:sym typeface="Wingdings" panose="05000000000000000000" pitchFamily="2" charset="2"/>
            </a:endParaRPr>
          </a:p>
          <a:p>
            <a:pPr marL="725805" lvl="1" indent="-268605" eaLnBrk="1" hangingPunct="1">
              <a:buFont typeface="Wingdings" panose="05000000000000000000" pitchFamily="2" charset="2"/>
              <a:buAutoNum type="arabicPeriod"/>
            </a:pPr>
            <a:r>
              <a:rPr lang="en-US" altLang="zh-CN" dirty="0">
                <a:ea typeface="华文楷体" panose="02010600040101010101" pitchFamily="2" charset="-122"/>
                <a:sym typeface="Wingdings" panose="05000000000000000000" pitchFamily="2" charset="2"/>
              </a:rPr>
              <a:t>      TT</a:t>
            </a:r>
            <a:r>
              <a:rPr lang="en-US" altLang="zh-CN" dirty="0">
                <a:ea typeface="华文楷体" panose="02010600040101010101" pitchFamily="2" charset="-122"/>
                <a:sym typeface="Symbol" panose="05050102010706020507" pitchFamily="18" charset="2"/>
              </a:rPr>
              <a:t>∪{(x,y)}</a:t>
            </a:r>
            <a:endParaRPr lang="en-US" altLang="zh-CN" dirty="0">
              <a:ea typeface="华文楷体" panose="02010600040101010101" pitchFamily="2" charset="-122"/>
              <a:sym typeface="Symbol" panose="05050102010706020507" pitchFamily="18" charset="2"/>
            </a:endParaRPr>
          </a:p>
          <a:p>
            <a:pPr marL="725805" lvl="1" indent="-268605" eaLnBrk="1" hangingPunct="1">
              <a:buFont typeface="Wingdings" panose="05000000000000000000" pitchFamily="2" charset="2"/>
              <a:buAutoNum type="arabicPeriod"/>
            </a:pPr>
            <a:r>
              <a:rPr lang="en-US" altLang="zh-CN" b="1" dirty="0">
                <a:ea typeface="华文楷体" panose="02010600040101010101" pitchFamily="2" charset="-122"/>
                <a:sym typeface="Symbol" panose="05050102010706020507" pitchFamily="18" charset="2"/>
              </a:rPr>
              <a:t>end while</a:t>
            </a:r>
            <a:r>
              <a:rPr lang="en-US" altLang="zh-CN" dirty="0">
                <a:ea typeface="华文楷体" panose="02010600040101010101" pitchFamily="2" charset="-122"/>
                <a:sym typeface="Wingdings" panose="05000000000000000000" pitchFamily="2" charset="2"/>
              </a:rPr>
              <a:t> </a:t>
            </a:r>
            <a:endParaRPr lang="en-US" altLang="zh-CN" dirty="0">
              <a:ea typeface="华文楷体" panose="02010600040101010101" pitchFamily="2" charset="-122"/>
            </a:endParaRPr>
          </a:p>
          <a:p>
            <a:pPr lvl="2" eaLnBrk="1" hangingPunct="1">
              <a:buNone/>
            </a:pPr>
            <a:r>
              <a:rPr lang="en-US" altLang="zh-CN" sz="1800" dirty="0">
                <a:ea typeface="华文楷体" panose="02010600040101010101" pitchFamily="2" charset="-122"/>
              </a:rPr>
              <a:t>  </a:t>
            </a:r>
            <a:endParaRPr lang="en-US" altLang="zh-CN" sz="1800" dirty="0">
              <a:ea typeface="华文楷体"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28675" name="Rectangle 2"/>
          <p:cNvSpPr>
            <a:spLocks noGrp="1"/>
          </p:cNvSpPr>
          <p:nvPr>
            <p:ph type="title"/>
          </p:nvPr>
        </p:nvSpPr>
        <p:spPr/>
        <p:txBody>
          <a:bodyPr vert="horz" wrap="square" lIns="91440" tIns="45720" rIns="91440" bIns="45720" anchor="ctr" anchorCtr="0"/>
          <a:lstStyle/>
          <a:p>
            <a:pPr eaLnBrk="1" hangingPunct="1"/>
            <a:r>
              <a:rPr lang="en-US" altLang="zh-CN" dirty="0"/>
              <a:t>5.1.1 Prim</a:t>
            </a:r>
            <a:r>
              <a:rPr lang="zh-CN" altLang="en-US" dirty="0"/>
              <a:t>算法</a:t>
            </a:r>
            <a:r>
              <a:rPr lang="en-US" altLang="zh-CN" dirty="0"/>
              <a:t>——</a:t>
            </a:r>
            <a:r>
              <a:rPr lang="zh-CN" altLang="en-US" dirty="0"/>
              <a:t>例子</a:t>
            </a:r>
            <a:endParaRPr lang="en-US" altLang="zh-CN" dirty="0"/>
          </a:p>
        </p:txBody>
      </p:sp>
      <p:sp>
        <p:nvSpPr>
          <p:cNvPr id="28676" name="Oval 3"/>
          <p:cNvSpPr/>
          <p:nvPr/>
        </p:nvSpPr>
        <p:spPr>
          <a:xfrm>
            <a:off x="5818188" y="2817813"/>
            <a:ext cx="503237"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6</a:t>
            </a:r>
            <a:endParaRPr lang="en-US" altLang="zh-CN" sz="2000" dirty="0">
              <a:solidFill>
                <a:srgbClr val="FF0000"/>
              </a:solidFill>
              <a:ea typeface="宋体" panose="02010600030101010101" pitchFamily="2" charset="-122"/>
            </a:endParaRPr>
          </a:p>
        </p:txBody>
      </p:sp>
      <p:sp>
        <p:nvSpPr>
          <p:cNvPr id="28677" name="Oval 4"/>
          <p:cNvSpPr/>
          <p:nvPr/>
        </p:nvSpPr>
        <p:spPr>
          <a:xfrm>
            <a:off x="1930400" y="2746375"/>
            <a:ext cx="503238"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1</a:t>
            </a:r>
            <a:endParaRPr lang="en-US" altLang="zh-CN" sz="2000" dirty="0">
              <a:solidFill>
                <a:srgbClr val="FF0000"/>
              </a:solidFill>
              <a:ea typeface="宋体" panose="02010600030101010101" pitchFamily="2" charset="-122"/>
            </a:endParaRPr>
          </a:p>
        </p:txBody>
      </p:sp>
      <p:sp>
        <p:nvSpPr>
          <p:cNvPr id="28678" name="Oval 5"/>
          <p:cNvSpPr/>
          <p:nvPr/>
        </p:nvSpPr>
        <p:spPr>
          <a:xfrm>
            <a:off x="2794000" y="1954213"/>
            <a:ext cx="503238"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2</a:t>
            </a:r>
            <a:endParaRPr lang="en-US" altLang="zh-CN" sz="2000" dirty="0">
              <a:solidFill>
                <a:srgbClr val="FF0000"/>
              </a:solidFill>
              <a:ea typeface="宋体" panose="02010600030101010101" pitchFamily="2" charset="-122"/>
            </a:endParaRPr>
          </a:p>
        </p:txBody>
      </p:sp>
      <p:sp>
        <p:nvSpPr>
          <p:cNvPr id="28679" name="Oval 6"/>
          <p:cNvSpPr/>
          <p:nvPr/>
        </p:nvSpPr>
        <p:spPr>
          <a:xfrm>
            <a:off x="2867025" y="3609975"/>
            <a:ext cx="503238"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3</a:t>
            </a:r>
            <a:endParaRPr lang="en-US" altLang="zh-CN" sz="2000" dirty="0">
              <a:solidFill>
                <a:srgbClr val="FF0000"/>
              </a:solidFill>
              <a:ea typeface="宋体" panose="02010600030101010101" pitchFamily="2" charset="-122"/>
            </a:endParaRPr>
          </a:p>
        </p:txBody>
      </p:sp>
      <p:sp>
        <p:nvSpPr>
          <p:cNvPr id="28680" name="Oval 7"/>
          <p:cNvSpPr/>
          <p:nvPr/>
        </p:nvSpPr>
        <p:spPr>
          <a:xfrm>
            <a:off x="4954588" y="3609975"/>
            <a:ext cx="503237" cy="503238"/>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5</a:t>
            </a:r>
            <a:endParaRPr lang="en-US" altLang="zh-CN" sz="2000" dirty="0">
              <a:solidFill>
                <a:srgbClr val="FF0000"/>
              </a:solidFill>
              <a:ea typeface="宋体" panose="02010600030101010101" pitchFamily="2" charset="-122"/>
            </a:endParaRPr>
          </a:p>
        </p:txBody>
      </p:sp>
      <p:sp>
        <p:nvSpPr>
          <p:cNvPr id="28681" name="Oval 8"/>
          <p:cNvSpPr/>
          <p:nvPr/>
        </p:nvSpPr>
        <p:spPr>
          <a:xfrm>
            <a:off x="4954588" y="1954213"/>
            <a:ext cx="503237" cy="503237"/>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ea typeface="宋体" panose="02010600030101010101" pitchFamily="2" charset="-122"/>
              </a:rPr>
              <a:t>4</a:t>
            </a:r>
            <a:endParaRPr lang="en-US" altLang="zh-CN" sz="2000" dirty="0">
              <a:solidFill>
                <a:srgbClr val="FF0000"/>
              </a:solidFill>
              <a:ea typeface="宋体" panose="02010600030101010101" pitchFamily="2" charset="-122"/>
            </a:endParaRPr>
          </a:p>
        </p:txBody>
      </p:sp>
      <p:sp>
        <p:nvSpPr>
          <p:cNvPr id="28682" name="Line 9"/>
          <p:cNvSpPr/>
          <p:nvPr/>
        </p:nvSpPr>
        <p:spPr>
          <a:xfrm flipH="1">
            <a:off x="2290763" y="2314575"/>
            <a:ext cx="503237" cy="431800"/>
          </a:xfrm>
          <a:prstGeom prst="line">
            <a:avLst/>
          </a:prstGeom>
          <a:ln w="9525" cap="flat" cmpd="sng">
            <a:solidFill>
              <a:schemeClr val="tx1"/>
            </a:solidFill>
            <a:prstDash val="solid"/>
            <a:headEnd type="none" w="med" len="med"/>
            <a:tailEnd type="none" w="med" len="med"/>
          </a:ln>
        </p:spPr>
      </p:sp>
      <p:sp>
        <p:nvSpPr>
          <p:cNvPr id="28683" name="Line 10"/>
          <p:cNvSpPr/>
          <p:nvPr/>
        </p:nvSpPr>
        <p:spPr>
          <a:xfrm>
            <a:off x="2290763" y="3249613"/>
            <a:ext cx="576262" cy="504825"/>
          </a:xfrm>
          <a:prstGeom prst="line">
            <a:avLst/>
          </a:prstGeom>
          <a:ln w="9525" cap="flat" cmpd="sng">
            <a:solidFill>
              <a:schemeClr val="tx1"/>
            </a:solidFill>
            <a:prstDash val="solid"/>
            <a:headEnd type="none" w="med" len="med"/>
            <a:tailEnd type="none" w="med" len="med"/>
          </a:ln>
        </p:spPr>
      </p:sp>
      <p:sp>
        <p:nvSpPr>
          <p:cNvPr id="192523" name="Line 11"/>
          <p:cNvSpPr/>
          <p:nvPr/>
        </p:nvSpPr>
        <p:spPr>
          <a:xfrm>
            <a:off x="3298825" y="2170113"/>
            <a:ext cx="1655763" cy="0"/>
          </a:xfrm>
          <a:prstGeom prst="line">
            <a:avLst/>
          </a:prstGeom>
          <a:ln w="9525" cap="flat" cmpd="sng">
            <a:solidFill>
              <a:schemeClr val="tx1"/>
            </a:solidFill>
            <a:prstDash val="solid"/>
            <a:headEnd type="none" w="med" len="med"/>
            <a:tailEnd type="none" w="med" len="med"/>
          </a:ln>
        </p:spPr>
      </p:sp>
      <p:sp>
        <p:nvSpPr>
          <p:cNvPr id="192524" name="Line 12"/>
          <p:cNvSpPr/>
          <p:nvPr/>
        </p:nvSpPr>
        <p:spPr>
          <a:xfrm>
            <a:off x="3370263" y="3898900"/>
            <a:ext cx="1584325" cy="0"/>
          </a:xfrm>
          <a:prstGeom prst="line">
            <a:avLst/>
          </a:prstGeom>
          <a:ln w="9525" cap="flat" cmpd="sng">
            <a:solidFill>
              <a:schemeClr val="tx1"/>
            </a:solidFill>
            <a:prstDash val="solid"/>
            <a:headEnd type="none" w="med" len="med"/>
            <a:tailEnd type="none" w="med" len="med"/>
          </a:ln>
        </p:spPr>
      </p:sp>
      <p:sp>
        <p:nvSpPr>
          <p:cNvPr id="28686" name="Line 13"/>
          <p:cNvSpPr/>
          <p:nvPr/>
        </p:nvSpPr>
        <p:spPr>
          <a:xfrm>
            <a:off x="5386388" y="2386013"/>
            <a:ext cx="504825" cy="503237"/>
          </a:xfrm>
          <a:prstGeom prst="line">
            <a:avLst/>
          </a:prstGeom>
          <a:ln w="9525" cap="flat" cmpd="sng">
            <a:solidFill>
              <a:schemeClr val="tx1"/>
            </a:solidFill>
            <a:prstDash val="solid"/>
            <a:headEnd type="none" w="med" len="med"/>
            <a:tailEnd type="none" w="med" len="med"/>
          </a:ln>
        </p:spPr>
      </p:sp>
      <p:sp>
        <p:nvSpPr>
          <p:cNvPr id="28687" name="Line 14"/>
          <p:cNvSpPr/>
          <p:nvPr/>
        </p:nvSpPr>
        <p:spPr>
          <a:xfrm flipH="1">
            <a:off x="5457825" y="3322638"/>
            <a:ext cx="504825" cy="431800"/>
          </a:xfrm>
          <a:prstGeom prst="line">
            <a:avLst/>
          </a:prstGeom>
          <a:ln w="9525" cap="flat" cmpd="sng">
            <a:solidFill>
              <a:schemeClr val="tx1"/>
            </a:solidFill>
            <a:prstDash val="solid"/>
            <a:headEnd type="none" w="med" len="med"/>
            <a:tailEnd type="none" w="med" len="med"/>
          </a:ln>
        </p:spPr>
      </p:sp>
      <p:sp>
        <p:nvSpPr>
          <p:cNvPr id="192527" name="Line 15"/>
          <p:cNvSpPr/>
          <p:nvPr/>
        </p:nvSpPr>
        <p:spPr>
          <a:xfrm>
            <a:off x="3082925" y="2457450"/>
            <a:ext cx="0" cy="1152525"/>
          </a:xfrm>
          <a:prstGeom prst="line">
            <a:avLst/>
          </a:prstGeom>
          <a:ln w="9525" cap="flat" cmpd="sng">
            <a:solidFill>
              <a:schemeClr val="tx1"/>
            </a:solidFill>
            <a:prstDash val="solid"/>
            <a:headEnd type="none" w="med" len="med"/>
            <a:tailEnd type="none" w="med" len="med"/>
          </a:ln>
        </p:spPr>
      </p:sp>
      <p:sp>
        <p:nvSpPr>
          <p:cNvPr id="192528" name="Line 16"/>
          <p:cNvSpPr/>
          <p:nvPr/>
        </p:nvSpPr>
        <p:spPr>
          <a:xfrm>
            <a:off x="5170488" y="2457450"/>
            <a:ext cx="0" cy="1152525"/>
          </a:xfrm>
          <a:prstGeom prst="line">
            <a:avLst/>
          </a:prstGeom>
          <a:ln w="9525" cap="flat" cmpd="sng">
            <a:solidFill>
              <a:schemeClr val="tx1"/>
            </a:solidFill>
            <a:prstDash val="solid"/>
            <a:headEnd type="none" w="med" len="med"/>
            <a:tailEnd type="none" w="med" len="med"/>
          </a:ln>
        </p:spPr>
      </p:sp>
      <p:sp>
        <p:nvSpPr>
          <p:cNvPr id="28690" name="Line 17"/>
          <p:cNvSpPr/>
          <p:nvPr/>
        </p:nvSpPr>
        <p:spPr>
          <a:xfrm flipH="1">
            <a:off x="3298825" y="2314575"/>
            <a:ext cx="1655763" cy="1366838"/>
          </a:xfrm>
          <a:prstGeom prst="line">
            <a:avLst/>
          </a:prstGeom>
          <a:ln w="9525" cap="flat" cmpd="sng">
            <a:solidFill>
              <a:schemeClr val="tx1"/>
            </a:solidFill>
            <a:prstDash val="solid"/>
            <a:headEnd type="none" w="med" len="med"/>
            <a:tailEnd type="none" w="med" len="med"/>
          </a:ln>
        </p:spPr>
      </p:sp>
      <p:sp>
        <p:nvSpPr>
          <p:cNvPr id="192530" name="Text Box 18"/>
          <p:cNvSpPr txBox="1"/>
          <p:nvPr/>
        </p:nvSpPr>
        <p:spPr>
          <a:xfrm>
            <a:off x="2217738" y="2241550"/>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a:t>
            </a:r>
            <a:endParaRPr lang="en-US" altLang="zh-CN" sz="2000" dirty="0">
              <a:solidFill>
                <a:schemeClr val="tx1"/>
              </a:solidFill>
              <a:ea typeface="宋体" panose="02010600030101010101" pitchFamily="2" charset="-122"/>
            </a:endParaRPr>
          </a:p>
        </p:txBody>
      </p:sp>
      <p:sp>
        <p:nvSpPr>
          <p:cNvPr id="192531" name="Text Box 19"/>
          <p:cNvSpPr txBox="1"/>
          <p:nvPr/>
        </p:nvSpPr>
        <p:spPr>
          <a:xfrm>
            <a:off x="2290763" y="3609975"/>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2</a:t>
            </a:r>
            <a:endParaRPr lang="en-US" altLang="zh-CN" sz="2000" dirty="0">
              <a:solidFill>
                <a:schemeClr val="tx1"/>
              </a:solidFill>
              <a:ea typeface="宋体" panose="02010600030101010101" pitchFamily="2" charset="-122"/>
            </a:endParaRPr>
          </a:p>
        </p:txBody>
      </p:sp>
      <p:sp>
        <p:nvSpPr>
          <p:cNvPr id="192532" name="Text Box 20"/>
          <p:cNvSpPr txBox="1"/>
          <p:nvPr/>
        </p:nvSpPr>
        <p:spPr>
          <a:xfrm>
            <a:off x="4017963" y="3573463"/>
            <a:ext cx="438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13</a:t>
            </a:r>
            <a:endParaRPr lang="en-US" altLang="zh-CN" sz="2000" dirty="0">
              <a:solidFill>
                <a:schemeClr val="tx1"/>
              </a:solidFill>
              <a:ea typeface="宋体" panose="02010600030101010101" pitchFamily="2" charset="-122"/>
            </a:endParaRPr>
          </a:p>
        </p:txBody>
      </p:sp>
      <p:sp>
        <p:nvSpPr>
          <p:cNvPr id="192533" name="Text Box 21"/>
          <p:cNvSpPr txBox="1"/>
          <p:nvPr/>
        </p:nvSpPr>
        <p:spPr>
          <a:xfrm>
            <a:off x="3802063" y="2170113"/>
            <a:ext cx="4381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11</a:t>
            </a:r>
            <a:endParaRPr lang="en-US" altLang="zh-CN" sz="2000" dirty="0">
              <a:solidFill>
                <a:schemeClr val="tx1"/>
              </a:solidFill>
              <a:ea typeface="宋体" panose="02010600030101010101" pitchFamily="2" charset="-122"/>
            </a:endParaRPr>
          </a:p>
        </p:txBody>
      </p:sp>
      <p:sp>
        <p:nvSpPr>
          <p:cNvPr id="192534" name="Text Box 22"/>
          <p:cNvSpPr txBox="1"/>
          <p:nvPr/>
        </p:nvSpPr>
        <p:spPr>
          <a:xfrm>
            <a:off x="5530850" y="2314575"/>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3</a:t>
            </a:r>
            <a:endParaRPr lang="en-US" altLang="zh-CN" sz="2000" dirty="0">
              <a:solidFill>
                <a:schemeClr val="tx1"/>
              </a:solidFill>
              <a:ea typeface="宋体" panose="02010600030101010101" pitchFamily="2" charset="-122"/>
            </a:endParaRPr>
          </a:p>
        </p:txBody>
      </p:sp>
      <p:sp>
        <p:nvSpPr>
          <p:cNvPr id="192535" name="Text Box 23"/>
          <p:cNvSpPr txBox="1"/>
          <p:nvPr/>
        </p:nvSpPr>
        <p:spPr>
          <a:xfrm>
            <a:off x="4067175" y="2852738"/>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9</a:t>
            </a:r>
            <a:endParaRPr lang="en-US" altLang="zh-CN" sz="2000" dirty="0">
              <a:solidFill>
                <a:schemeClr val="tx1"/>
              </a:solidFill>
              <a:ea typeface="宋体" panose="02010600030101010101" pitchFamily="2" charset="-122"/>
            </a:endParaRPr>
          </a:p>
        </p:txBody>
      </p:sp>
      <p:sp>
        <p:nvSpPr>
          <p:cNvPr id="192536" name="Text Box 24"/>
          <p:cNvSpPr txBox="1"/>
          <p:nvPr/>
        </p:nvSpPr>
        <p:spPr>
          <a:xfrm>
            <a:off x="5099050" y="2817813"/>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7</a:t>
            </a:r>
            <a:endParaRPr lang="en-US" altLang="zh-CN" sz="2000" dirty="0">
              <a:solidFill>
                <a:schemeClr val="tx1"/>
              </a:solidFill>
              <a:ea typeface="宋体" panose="02010600030101010101" pitchFamily="2" charset="-122"/>
            </a:endParaRPr>
          </a:p>
        </p:txBody>
      </p:sp>
      <p:sp>
        <p:nvSpPr>
          <p:cNvPr id="192537" name="Text Box 25"/>
          <p:cNvSpPr txBox="1"/>
          <p:nvPr/>
        </p:nvSpPr>
        <p:spPr>
          <a:xfrm>
            <a:off x="5602288" y="3394075"/>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4</a:t>
            </a:r>
            <a:endParaRPr lang="en-US" altLang="zh-CN" sz="2000" dirty="0">
              <a:solidFill>
                <a:schemeClr val="tx1"/>
              </a:solidFill>
              <a:ea typeface="宋体" panose="02010600030101010101" pitchFamily="2" charset="-122"/>
            </a:endParaRPr>
          </a:p>
        </p:txBody>
      </p:sp>
      <p:sp>
        <p:nvSpPr>
          <p:cNvPr id="192538" name="Text Box 26"/>
          <p:cNvSpPr txBox="1"/>
          <p:nvPr/>
        </p:nvSpPr>
        <p:spPr>
          <a:xfrm>
            <a:off x="3082925" y="2746375"/>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chemeClr val="tx1"/>
                </a:solidFill>
                <a:ea typeface="宋体" panose="02010600030101010101" pitchFamily="2" charset="-122"/>
              </a:rPr>
              <a:t>6</a:t>
            </a:r>
            <a:endParaRPr lang="en-US" altLang="zh-CN" sz="2000" dirty="0">
              <a:solidFill>
                <a:schemeClr val="tx1"/>
              </a:solidFill>
              <a:ea typeface="宋体" panose="02010600030101010101" pitchFamily="2" charset="-122"/>
            </a:endParaRPr>
          </a:p>
        </p:txBody>
      </p:sp>
      <p:sp>
        <p:nvSpPr>
          <p:cNvPr id="192539" name="Line 27"/>
          <p:cNvSpPr/>
          <p:nvPr/>
        </p:nvSpPr>
        <p:spPr>
          <a:xfrm>
            <a:off x="2627313" y="1844675"/>
            <a:ext cx="71437" cy="2305050"/>
          </a:xfrm>
          <a:prstGeom prst="line">
            <a:avLst/>
          </a:prstGeom>
          <a:ln w="19050" cap="flat" cmpd="sng">
            <a:solidFill>
              <a:srgbClr val="FF0000"/>
            </a:solidFill>
            <a:prstDash val="solid"/>
            <a:headEnd type="none" w="med" len="med"/>
            <a:tailEnd type="none" w="med" len="med"/>
          </a:ln>
        </p:spPr>
      </p:sp>
      <p:sp>
        <p:nvSpPr>
          <p:cNvPr id="192540" name="Line 28"/>
          <p:cNvSpPr/>
          <p:nvPr/>
        </p:nvSpPr>
        <p:spPr>
          <a:xfrm flipH="1">
            <a:off x="2195513" y="1916113"/>
            <a:ext cx="1801812" cy="1728787"/>
          </a:xfrm>
          <a:prstGeom prst="line">
            <a:avLst/>
          </a:prstGeom>
          <a:ln w="19050" cap="flat" cmpd="sng">
            <a:solidFill>
              <a:srgbClr val="FF0000"/>
            </a:solidFill>
            <a:prstDash val="solid"/>
            <a:headEnd type="none" w="med" len="med"/>
            <a:tailEnd type="none" w="med" len="med"/>
          </a:ln>
        </p:spPr>
      </p:sp>
      <p:sp>
        <p:nvSpPr>
          <p:cNvPr id="192541" name="Line 29"/>
          <p:cNvSpPr/>
          <p:nvPr/>
        </p:nvSpPr>
        <p:spPr>
          <a:xfrm flipH="1">
            <a:off x="4211638" y="1773238"/>
            <a:ext cx="73025" cy="2519362"/>
          </a:xfrm>
          <a:prstGeom prst="line">
            <a:avLst/>
          </a:prstGeom>
          <a:ln w="19050" cap="flat" cmpd="sng">
            <a:solidFill>
              <a:srgbClr val="FF0000"/>
            </a:solidFill>
            <a:prstDash val="solid"/>
            <a:headEnd type="none" w="med" len="med"/>
            <a:tailEnd type="none" w="med" len="med"/>
          </a:ln>
        </p:spPr>
      </p:sp>
      <p:sp>
        <p:nvSpPr>
          <p:cNvPr id="192542" name="Line 30"/>
          <p:cNvSpPr/>
          <p:nvPr/>
        </p:nvSpPr>
        <p:spPr>
          <a:xfrm flipH="1">
            <a:off x="3851275" y="1773238"/>
            <a:ext cx="2305050" cy="2519362"/>
          </a:xfrm>
          <a:prstGeom prst="line">
            <a:avLst/>
          </a:prstGeom>
          <a:ln w="19050" cap="flat" cmpd="sng">
            <a:solidFill>
              <a:srgbClr val="FF0000"/>
            </a:solidFill>
            <a:prstDash val="solid"/>
            <a:headEnd type="none" w="med" len="med"/>
            <a:tailEnd type="none" w="med" len="med"/>
          </a:ln>
        </p:spPr>
      </p:sp>
      <p:sp>
        <p:nvSpPr>
          <p:cNvPr id="192543" name="Line 31"/>
          <p:cNvSpPr/>
          <p:nvPr/>
        </p:nvSpPr>
        <p:spPr>
          <a:xfrm flipH="1">
            <a:off x="3492500" y="3068638"/>
            <a:ext cx="3384550" cy="1008062"/>
          </a:xfrm>
          <a:prstGeom prst="line">
            <a:avLst/>
          </a:prstGeom>
          <a:ln w="19050" cap="flat" cmpd="sng">
            <a:solidFill>
              <a:srgbClr val="FF0000"/>
            </a:solidFill>
            <a:prstDash val="solid"/>
            <a:headEnd type="none" w="med" len="med"/>
            <a:tailEnd type="none" w="med" len="med"/>
          </a:ln>
        </p:spPr>
      </p:sp>
      <p:sp>
        <p:nvSpPr>
          <p:cNvPr id="192544" name="Text Box 32"/>
          <p:cNvSpPr txBox="1"/>
          <p:nvPr/>
        </p:nvSpPr>
        <p:spPr>
          <a:xfrm>
            <a:off x="6084888" y="4724400"/>
            <a:ext cx="1420812" cy="457200"/>
          </a:xfrm>
          <a:prstGeom prst="rect">
            <a:avLst/>
          </a:prstGeom>
          <a:solidFill>
            <a:srgbClr val="FF0000"/>
          </a:solid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Success!</a:t>
            </a:r>
            <a:endParaRPr lang="en-US" altLang="zh-CN" sz="2400" dirty="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92539"/>
                                        </p:tgtEl>
                                        <p:attrNameLst>
                                          <p:attrName>style.visibility</p:attrName>
                                        </p:attrNameLst>
                                      </p:cBhvr>
                                      <p:to>
                                        <p:strVal val="visible"/>
                                      </p:to>
                                    </p:set>
                                    <p:animEffect transition="in" filter="box(in)">
                                      <p:cBhvr>
                                        <p:cTn id="7" dur="500"/>
                                        <p:tgtEl>
                                          <p:spTgt spid="1925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mph" presetSubtype="2" fill="hold" grpId="0" nodeType="clickEffect">
                                  <p:stCondLst>
                                    <p:cond delay="0"/>
                                  </p:stCondLst>
                                  <p:childTnLst>
                                    <p:animClr clrSpc="rgb" dir="cw">
                                      <p:cBhvr override="childStyle">
                                        <p:cTn id="11" dur="500" fill="hold"/>
                                        <p:tgtEl>
                                          <p:spTgt spid="192530"/>
                                        </p:tgtEl>
                                        <p:attrNameLst>
                                          <p:attrName>style.color</p:attrName>
                                        </p:attrNameLst>
                                      </p:cBhvr>
                                      <p:to>
                                        <a:schemeClr val="accent2"/>
                                      </p:to>
                                    </p:animClr>
                                  </p:childTnLst>
                                </p:cTn>
                              </p:par>
                              <p:par>
                                <p:cTn id="12" presetID="35" presetClass="emph" presetSubtype="0" fill="hold" grpId="1" nodeType="withEffect">
                                  <p:stCondLst>
                                    <p:cond delay="0"/>
                                  </p:stCondLst>
                                  <p:childTnLst>
                                    <p:anim calcmode="discrete" valueType="str">
                                      <p:cBhvr>
                                        <p:cTn id="13" dur="1000" fill="hold"/>
                                        <p:tgtEl>
                                          <p:spTgt spid="192530"/>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4" presetClass="exit" presetSubtype="16" fill="hold" nodeType="clickEffect">
                                  <p:stCondLst>
                                    <p:cond delay="0"/>
                                  </p:stCondLst>
                                  <p:childTnLst>
                                    <p:animEffect transition="out" filter="box(in)">
                                      <p:cBhvr>
                                        <p:cTn id="17" dur="500"/>
                                        <p:tgtEl>
                                          <p:spTgt spid="192539"/>
                                        </p:tgtEl>
                                      </p:cBhvr>
                                    </p:animEffect>
                                    <p:set>
                                      <p:cBhvr>
                                        <p:cTn id="18" dur="1" fill="hold">
                                          <p:stCondLst>
                                            <p:cond delay="499"/>
                                          </p:stCondLst>
                                        </p:cTn>
                                        <p:tgtEl>
                                          <p:spTgt spid="19253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92540"/>
                                        </p:tgtEl>
                                        <p:attrNameLst>
                                          <p:attrName>style.visibility</p:attrName>
                                        </p:attrNameLst>
                                      </p:cBhvr>
                                      <p:to>
                                        <p:strVal val="visible"/>
                                      </p:to>
                                    </p:set>
                                    <p:animEffect transition="in" filter="box(in)">
                                      <p:cBhvr>
                                        <p:cTn id="23" dur="500"/>
                                        <p:tgtEl>
                                          <p:spTgt spid="192540"/>
                                        </p:tgtEl>
                                      </p:cBhvr>
                                    </p:animEffect>
                                  </p:childTnLst>
                                </p:cTn>
                              </p:par>
                            </p:childTnLst>
                          </p:cTn>
                        </p:par>
                      </p:childTnLst>
                    </p:cTn>
                  </p:par>
                  <p:par>
                    <p:cTn id="24" fill="hold">
                      <p:stCondLst>
                        <p:cond delay="indefinite"/>
                      </p:stCondLst>
                      <p:childTnLst>
                        <p:par>
                          <p:cTn id="25" fill="hold">
                            <p:stCondLst>
                              <p:cond delay="0"/>
                            </p:stCondLst>
                            <p:childTnLst>
                              <p:par>
                                <p:cTn id="26" presetID="35" presetClass="emph" presetSubtype="0" fill="hold" grpId="0" nodeType="clickEffect">
                                  <p:stCondLst>
                                    <p:cond delay="0"/>
                                  </p:stCondLst>
                                  <p:childTnLst>
                                    <p:anim calcmode="discrete" valueType="str">
                                      <p:cBhvr>
                                        <p:cTn id="27" dur="1000" fill="hold"/>
                                        <p:tgtEl>
                                          <p:spTgt spid="192531"/>
                                        </p:tgtEl>
                                        <p:attrNameLst>
                                          <p:attrName>style.visibility</p:attrName>
                                        </p:attrNameLst>
                                      </p:cBhvr>
                                      <p:tavLst>
                                        <p:tav tm="0">
                                          <p:val>
                                            <p:strVal val="hidden"/>
                                          </p:val>
                                        </p:tav>
                                        <p:tav tm="50000">
                                          <p:val>
                                            <p:strVal val="visible"/>
                                          </p:val>
                                        </p:tav>
                                      </p:tavLst>
                                    </p:anim>
                                  </p:childTnLst>
                                </p:cTn>
                              </p:par>
                              <p:par>
                                <p:cTn id="28" presetID="3" presetClass="emph" presetSubtype="2" fill="hold" grpId="1" nodeType="withEffect">
                                  <p:stCondLst>
                                    <p:cond delay="0"/>
                                  </p:stCondLst>
                                  <p:childTnLst>
                                    <p:animClr clrSpc="rgb" dir="cw">
                                      <p:cBhvr override="childStyle">
                                        <p:cTn id="29" dur="2000" fill="hold"/>
                                        <p:tgtEl>
                                          <p:spTgt spid="192531"/>
                                        </p:tgtEl>
                                        <p:attrNameLst>
                                          <p:attrName>style.color</p:attrName>
                                        </p:attrNameLst>
                                      </p:cBhvr>
                                      <p:to>
                                        <a:schemeClr val="accent2"/>
                                      </p:to>
                                    </p:animClr>
                                  </p:childTnLst>
                                </p:cTn>
                              </p:par>
                            </p:childTnLst>
                          </p:cTn>
                        </p:par>
                      </p:childTnLst>
                    </p:cTn>
                  </p:par>
                  <p:par>
                    <p:cTn id="30" fill="hold">
                      <p:stCondLst>
                        <p:cond delay="indefinite"/>
                      </p:stCondLst>
                      <p:childTnLst>
                        <p:par>
                          <p:cTn id="31" fill="hold">
                            <p:stCondLst>
                              <p:cond delay="0"/>
                            </p:stCondLst>
                            <p:childTnLst>
                              <p:par>
                                <p:cTn id="32" presetID="4" presetClass="exit" presetSubtype="16" fill="hold" nodeType="clickEffect">
                                  <p:stCondLst>
                                    <p:cond delay="0"/>
                                  </p:stCondLst>
                                  <p:childTnLst>
                                    <p:animEffect transition="out" filter="box(in)">
                                      <p:cBhvr>
                                        <p:cTn id="33" dur="500"/>
                                        <p:tgtEl>
                                          <p:spTgt spid="192540"/>
                                        </p:tgtEl>
                                      </p:cBhvr>
                                    </p:animEffect>
                                    <p:set>
                                      <p:cBhvr>
                                        <p:cTn id="34" dur="1" fill="hold">
                                          <p:stCondLst>
                                            <p:cond delay="499"/>
                                          </p:stCondLst>
                                        </p:cTn>
                                        <p:tgtEl>
                                          <p:spTgt spid="19254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192541"/>
                                        </p:tgtEl>
                                        <p:attrNameLst>
                                          <p:attrName>style.visibility</p:attrName>
                                        </p:attrNameLst>
                                      </p:cBhvr>
                                      <p:to>
                                        <p:strVal val="visible"/>
                                      </p:to>
                                    </p:set>
                                    <p:animEffect transition="in" filter="box(in)">
                                      <p:cBhvr>
                                        <p:cTn id="39" dur="500"/>
                                        <p:tgtEl>
                                          <p:spTgt spid="192541"/>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mph" presetSubtype="2" fill="hold" grpId="0" nodeType="clickEffect">
                                  <p:stCondLst>
                                    <p:cond delay="0"/>
                                  </p:stCondLst>
                                  <p:childTnLst>
                                    <p:animClr clrSpc="rgb" dir="cw">
                                      <p:cBhvr override="childStyle">
                                        <p:cTn id="43" dur="2000" fill="hold"/>
                                        <p:tgtEl>
                                          <p:spTgt spid="192535"/>
                                        </p:tgtEl>
                                        <p:attrNameLst>
                                          <p:attrName>style.color</p:attrName>
                                        </p:attrNameLst>
                                      </p:cBhvr>
                                      <p:to>
                                        <a:schemeClr val="accent2"/>
                                      </p:to>
                                    </p:animClr>
                                  </p:childTnLst>
                                </p:cTn>
                              </p:par>
                              <p:par>
                                <p:cTn id="44" presetID="35" presetClass="emph" presetSubtype="0" fill="hold" grpId="1" nodeType="withEffect">
                                  <p:stCondLst>
                                    <p:cond delay="0"/>
                                  </p:stCondLst>
                                  <p:childTnLst>
                                    <p:anim calcmode="discrete" valueType="str">
                                      <p:cBhvr>
                                        <p:cTn id="45" dur="1000" fill="hold"/>
                                        <p:tgtEl>
                                          <p:spTgt spid="192535"/>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4" presetClass="exit" presetSubtype="16" fill="hold" nodeType="clickEffect">
                                  <p:stCondLst>
                                    <p:cond delay="0"/>
                                  </p:stCondLst>
                                  <p:childTnLst>
                                    <p:animEffect transition="out" filter="box(in)">
                                      <p:cBhvr>
                                        <p:cTn id="49" dur="500"/>
                                        <p:tgtEl>
                                          <p:spTgt spid="192541"/>
                                        </p:tgtEl>
                                      </p:cBhvr>
                                    </p:animEffect>
                                    <p:set>
                                      <p:cBhvr>
                                        <p:cTn id="50" dur="1" fill="hold">
                                          <p:stCondLst>
                                            <p:cond delay="499"/>
                                          </p:stCondLst>
                                        </p:cTn>
                                        <p:tgtEl>
                                          <p:spTgt spid="19254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nodeType="clickEffect">
                                  <p:stCondLst>
                                    <p:cond delay="0"/>
                                  </p:stCondLst>
                                  <p:childTnLst>
                                    <p:set>
                                      <p:cBhvr>
                                        <p:cTn id="54" dur="1" fill="hold">
                                          <p:stCondLst>
                                            <p:cond delay="0"/>
                                          </p:stCondLst>
                                        </p:cTn>
                                        <p:tgtEl>
                                          <p:spTgt spid="192542"/>
                                        </p:tgtEl>
                                        <p:attrNameLst>
                                          <p:attrName>style.visibility</p:attrName>
                                        </p:attrNameLst>
                                      </p:cBhvr>
                                      <p:to>
                                        <p:strVal val="visible"/>
                                      </p:to>
                                    </p:set>
                                    <p:animEffect transition="in" filter="box(in)">
                                      <p:cBhvr>
                                        <p:cTn id="55" dur="500"/>
                                        <p:tgtEl>
                                          <p:spTgt spid="192542"/>
                                        </p:tgtEl>
                                      </p:cBhvr>
                                    </p:animEffect>
                                  </p:childTnLst>
                                </p:cTn>
                              </p:par>
                            </p:childTnLst>
                          </p:cTn>
                        </p:par>
                      </p:childTnLst>
                    </p:cTn>
                  </p:par>
                  <p:par>
                    <p:cTn id="56" fill="hold">
                      <p:stCondLst>
                        <p:cond delay="indefinite"/>
                      </p:stCondLst>
                      <p:childTnLst>
                        <p:par>
                          <p:cTn id="57" fill="hold">
                            <p:stCondLst>
                              <p:cond delay="0"/>
                            </p:stCondLst>
                            <p:childTnLst>
                              <p:par>
                                <p:cTn id="58" presetID="35" presetClass="emph" presetSubtype="0" fill="hold" grpId="0" nodeType="clickEffect">
                                  <p:stCondLst>
                                    <p:cond delay="0"/>
                                  </p:stCondLst>
                                  <p:childTnLst>
                                    <p:anim calcmode="discrete" valueType="str">
                                      <p:cBhvr>
                                        <p:cTn id="59" dur="1000" fill="hold"/>
                                        <p:tgtEl>
                                          <p:spTgt spid="192534"/>
                                        </p:tgtEl>
                                        <p:attrNameLst>
                                          <p:attrName>style.visibility</p:attrName>
                                        </p:attrNameLst>
                                      </p:cBhvr>
                                      <p:tavLst>
                                        <p:tav tm="0">
                                          <p:val>
                                            <p:strVal val="hidden"/>
                                          </p:val>
                                        </p:tav>
                                        <p:tav tm="50000">
                                          <p:val>
                                            <p:strVal val="visible"/>
                                          </p:val>
                                        </p:tav>
                                      </p:tavLst>
                                    </p:anim>
                                  </p:childTnLst>
                                </p:cTn>
                              </p:par>
                              <p:par>
                                <p:cTn id="60" presetID="3" presetClass="emph" presetSubtype="2" fill="hold" grpId="1" nodeType="withEffect">
                                  <p:stCondLst>
                                    <p:cond delay="0"/>
                                  </p:stCondLst>
                                  <p:childTnLst>
                                    <p:animClr clrSpc="rgb" dir="cw">
                                      <p:cBhvr override="childStyle">
                                        <p:cTn id="61" dur="2000" fill="hold"/>
                                        <p:tgtEl>
                                          <p:spTgt spid="192534"/>
                                        </p:tgtEl>
                                        <p:attrNameLst>
                                          <p:attrName>style.color</p:attrName>
                                        </p:attrNameLst>
                                      </p:cBhvr>
                                      <p:to>
                                        <a:schemeClr val="accent2"/>
                                      </p:to>
                                    </p:animClr>
                                  </p:childTnLst>
                                </p:cTn>
                              </p:par>
                            </p:childTnLst>
                          </p:cTn>
                        </p:par>
                      </p:childTnLst>
                    </p:cTn>
                  </p:par>
                  <p:par>
                    <p:cTn id="62" fill="hold">
                      <p:stCondLst>
                        <p:cond delay="indefinite"/>
                      </p:stCondLst>
                      <p:childTnLst>
                        <p:par>
                          <p:cTn id="63" fill="hold">
                            <p:stCondLst>
                              <p:cond delay="0"/>
                            </p:stCondLst>
                            <p:childTnLst>
                              <p:par>
                                <p:cTn id="64" presetID="4" presetClass="exit" presetSubtype="16" fill="hold" nodeType="clickEffect">
                                  <p:stCondLst>
                                    <p:cond delay="0"/>
                                  </p:stCondLst>
                                  <p:childTnLst>
                                    <p:animEffect transition="out" filter="box(in)">
                                      <p:cBhvr>
                                        <p:cTn id="65" dur="500"/>
                                        <p:tgtEl>
                                          <p:spTgt spid="192542"/>
                                        </p:tgtEl>
                                      </p:cBhvr>
                                    </p:animEffect>
                                    <p:set>
                                      <p:cBhvr>
                                        <p:cTn id="66" dur="1" fill="hold">
                                          <p:stCondLst>
                                            <p:cond delay="499"/>
                                          </p:stCondLst>
                                        </p:cTn>
                                        <p:tgtEl>
                                          <p:spTgt spid="192542"/>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nodeType="clickEffect">
                                  <p:stCondLst>
                                    <p:cond delay="0"/>
                                  </p:stCondLst>
                                  <p:childTnLst>
                                    <p:set>
                                      <p:cBhvr>
                                        <p:cTn id="70" dur="1" fill="hold">
                                          <p:stCondLst>
                                            <p:cond delay="0"/>
                                          </p:stCondLst>
                                        </p:cTn>
                                        <p:tgtEl>
                                          <p:spTgt spid="192543"/>
                                        </p:tgtEl>
                                        <p:attrNameLst>
                                          <p:attrName>style.visibility</p:attrName>
                                        </p:attrNameLst>
                                      </p:cBhvr>
                                      <p:to>
                                        <p:strVal val="visible"/>
                                      </p:to>
                                    </p:set>
                                    <p:animEffect transition="in" filter="box(in)">
                                      <p:cBhvr>
                                        <p:cTn id="71" dur="500"/>
                                        <p:tgtEl>
                                          <p:spTgt spid="192543"/>
                                        </p:tgtEl>
                                      </p:cBhvr>
                                    </p:animEffect>
                                  </p:childTnLst>
                                </p:cTn>
                              </p:par>
                            </p:childTnLst>
                          </p:cTn>
                        </p:par>
                      </p:childTnLst>
                    </p:cTn>
                  </p:par>
                  <p:par>
                    <p:cTn id="72" fill="hold">
                      <p:stCondLst>
                        <p:cond delay="indefinite"/>
                      </p:stCondLst>
                      <p:childTnLst>
                        <p:par>
                          <p:cTn id="73" fill="hold">
                            <p:stCondLst>
                              <p:cond delay="0"/>
                            </p:stCondLst>
                            <p:childTnLst>
                              <p:par>
                                <p:cTn id="74" presetID="35" presetClass="emph" presetSubtype="0" fill="hold" grpId="0" nodeType="clickEffect">
                                  <p:stCondLst>
                                    <p:cond delay="0"/>
                                  </p:stCondLst>
                                  <p:childTnLst>
                                    <p:anim calcmode="discrete" valueType="str">
                                      <p:cBhvr>
                                        <p:cTn id="75" dur="1000" fill="hold"/>
                                        <p:tgtEl>
                                          <p:spTgt spid="192537"/>
                                        </p:tgtEl>
                                        <p:attrNameLst>
                                          <p:attrName>style.visibility</p:attrName>
                                        </p:attrNameLst>
                                      </p:cBhvr>
                                      <p:tavLst>
                                        <p:tav tm="0">
                                          <p:val>
                                            <p:strVal val="hidden"/>
                                          </p:val>
                                        </p:tav>
                                        <p:tav tm="50000">
                                          <p:val>
                                            <p:strVal val="visible"/>
                                          </p:val>
                                        </p:tav>
                                      </p:tavLst>
                                    </p:anim>
                                  </p:childTnLst>
                                </p:cTn>
                              </p:par>
                              <p:par>
                                <p:cTn id="76" presetID="3" presetClass="emph" presetSubtype="2" fill="hold" grpId="1" nodeType="withEffect">
                                  <p:stCondLst>
                                    <p:cond delay="0"/>
                                  </p:stCondLst>
                                  <p:childTnLst>
                                    <p:animClr clrSpc="rgb" dir="cw">
                                      <p:cBhvr override="childStyle">
                                        <p:cTn id="77" dur="2000" fill="hold"/>
                                        <p:tgtEl>
                                          <p:spTgt spid="192537"/>
                                        </p:tgtEl>
                                        <p:attrNameLst>
                                          <p:attrName>style.color</p:attrName>
                                        </p:attrNameLst>
                                      </p:cBhvr>
                                      <p:to>
                                        <a:schemeClr val="accent2"/>
                                      </p:to>
                                    </p:animClr>
                                  </p:childTnLst>
                                </p:cTn>
                              </p:par>
                            </p:childTnLst>
                          </p:cTn>
                        </p:par>
                      </p:childTnLst>
                    </p:cTn>
                  </p:par>
                  <p:par>
                    <p:cTn id="78" fill="hold">
                      <p:stCondLst>
                        <p:cond delay="indefinite"/>
                      </p:stCondLst>
                      <p:childTnLst>
                        <p:par>
                          <p:cTn id="79" fill="hold">
                            <p:stCondLst>
                              <p:cond delay="0"/>
                            </p:stCondLst>
                            <p:childTnLst>
                              <p:par>
                                <p:cTn id="80" presetID="4" presetClass="exit" presetSubtype="16" fill="hold" nodeType="clickEffect">
                                  <p:stCondLst>
                                    <p:cond delay="0"/>
                                  </p:stCondLst>
                                  <p:childTnLst>
                                    <p:animEffect transition="out" filter="box(in)">
                                      <p:cBhvr>
                                        <p:cTn id="81" dur="500"/>
                                        <p:tgtEl>
                                          <p:spTgt spid="192543"/>
                                        </p:tgtEl>
                                      </p:cBhvr>
                                    </p:animEffect>
                                    <p:set>
                                      <p:cBhvr>
                                        <p:cTn id="82" dur="1" fill="hold">
                                          <p:stCondLst>
                                            <p:cond delay="499"/>
                                          </p:stCondLst>
                                        </p:cTn>
                                        <p:tgtEl>
                                          <p:spTgt spid="19254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 presetClass="exit" presetSubtype="16" fill="hold" nodeType="clickEffect">
                                  <p:stCondLst>
                                    <p:cond delay="0"/>
                                  </p:stCondLst>
                                  <p:childTnLst>
                                    <p:animEffect transition="out" filter="box(in)">
                                      <p:cBhvr>
                                        <p:cTn id="86" dur="500"/>
                                        <p:tgtEl>
                                          <p:spTgt spid="192527"/>
                                        </p:tgtEl>
                                      </p:cBhvr>
                                    </p:animEffect>
                                    <p:set>
                                      <p:cBhvr>
                                        <p:cTn id="87" dur="1" fill="hold">
                                          <p:stCondLst>
                                            <p:cond delay="499"/>
                                          </p:stCondLst>
                                        </p:cTn>
                                        <p:tgtEl>
                                          <p:spTgt spid="192527"/>
                                        </p:tgtEl>
                                        <p:attrNameLst>
                                          <p:attrName>style.visibility</p:attrName>
                                        </p:attrNameLst>
                                      </p:cBhvr>
                                      <p:to>
                                        <p:strVal val="hidden"/>
                                      </p:to>
                                    </p:set>
                                  </p:childTnLst>
                                </p:cTn>
                              </p:par>
                              <p:par>
                                <p:cTn id="88" presetID="4" presetClass="exit" presetSubtype="16" fill="hold" grpId="0" nodeType="withEffect">
                                  <p:stCondLst>
                                    <p:cond delay="0"/>
                                  </p:stCondLst>
                                  <p:childTnLst>
                                    <p:animEffect transition="out" filter="box(in)">
                                      <p:cBhvr>
                                        <p:cTn id="89" dur="500"/>
                                        <p:tgtEl>
                                          <p:spTgt spid="192538"/>
                                        </p:tgtEl>
                                      </p:cBhvr>
                                    </p:animEffect>
                                    <p:set>
                                      <p:cBhvr>
                                        <p:cTn id="90" dur="1" fill="hold">
                                          <p:stCondLst>
                                            <p:cond delay="499"/>
                                          </p:stCondLst>
                                        </p:cTn>
                                        <p:tgtEl>
                                          <p:spTgt spid="192538"/>
                                        </p:tgtEl>
                                        <p:attrNameLst>
                                          <p:attrName>style.visibility</p:attrName>
                                        </p:attrNameLst>
                                      </p:cBhvr>
                                      <p:to>
                                        <p:strVal val="hidden"/>
                                      </p:to>
                                    </p:set>
                                  </p:childTnLst>
                                </p:cTn>
                              </p:par>
                              <p:par>
                                <p:cTn id="91" presetID="4" presetClass="exit" presetSubtype="16" fill="hold" nodeType="withEffect">
                                  <p:stCondLst>
                                    <p:cond delay="0"/>
                                  </p:stCondLst>
                                  <p:childTnLst>
                                    <p:animEffect transition="out" filter="box(in)">
                                      <p:cBhvr>
                                        <p:cTn id="92" dur="500"/>
                                        <p:tgtEl>
                                          <p:spTgt spid="192523"/>
                                        </p:tgtEl>
                                      </p:cBhvr>
                                    </p:animEffect>
                                    <p:set>
                                      <p:cBhvr>
                                        <p:cTn id="93" dur="1" fill="hold">
                                          <p:stCondLst>
                                            <p:cond delay="499"/>
                                          </p:stCondLst>
                                        </p:cTn>
                                        <p:tgtEl>
                                          <p:spTgt spid="192523"/>
                                        </p:tgtEl>
                                        <p:attrNameLst>
                                          <p:attrName>style.visibility</p:attrName>
                                        </p:attrNameLst>
                                      </p:cBhvr>
                                      <p:to>
                                        <p:strVal val="hidden"/>
                                      </p:to>
                                    </p:set>
                                  </p:childTnLst>
                                </p:cTn>
                              </p:par>
                              <p:par>
                                <p:cTn id="94" presetID="4" presetClass="exit" presetSubtype="16" fill="hold" grpId="0" nodeType="withEffect">
                                  <p:stCondLst>
                                    <p:cond delay="0"/>
                                  </p:stCondLst>
                                  <p:childTnLst>
                                    <p:animEffect transition="out" filter="box(in)">
                                      <p:cBhvr>
                                        <p:cTn id="95" dur="500"/>
                                        <p:tgtEl>
                                          <p:spTgt spid="192533"/>
                                        </p:tgtEl>
                                      </p:cBhvr>
                                    </p:animEffect>
                                    <p:set>
                                      <p:cBhvr>
                                        <p:cTn id="96" dur="1" fill="hold">
                                          <p:stCondLst>
                                            <p:cond delay="499"/>
                                          </p:stCondLst>
                                        </p:cTn>
                                        <p:tgtEl>
                                          <p:spTgt spid="192533"/>
                                        </p:tgtEl>
                                        <p:attrNameLst>
                                          <p:attrName>style.visibility</p:attrName>
                                        </p:attrNameLst>
                                      </p:cBhvr>
                                      <p:to>
                                        <p:strVal val="hidden"/>
                                      </p:to>
                                    </p:set>
                                  </p:childTnLst>
                                </p:cTn>
                              </p:par>
                              <p:par>
                                <p:cTn id="97" presetID="4" presetClass="exit" presetSubtype="16" fill="hold" nodeType="withEffect">
                                  <p:stCondLst>
                                    <p:cond delay="0"/>
                                  </p:stCondLst>
                                  <p:childTnLst>
                                    <p:animEffect transition="out" filter="box(in)">
                                      <p:cBhvr>
                                        <p:cTn id="98" dur="500"/>
                                        <p:tgtEl>
                                          <p:spTgt spid="192524"/>
                                        </p:tgtEl>
                                      </p:cBhvr>
                                    </p:animEffect>
                                    <p:set>
                                      <p:cBhvr>
                                        <p:cTn id="99" dur="1" fill="hold">
                                          <p:stCondLst>
                                            <p:cond delay="499"/>
                                          </p:stCondLst>
                                        </p:cTn>
                                        <p:tgtEl>
                                          <p:spTgt spid="192524"/>
                                        </p:tgtEl>
                                        <p:attrNameLst>
                                          <p:attrName>style.visibility</p:attrName>
                                        </p:attrNameLst>
                                      </p:cBhvr>
                                      <p:to>
                                        <p:strVal val="hidden"/>
                                      </p:to>
                                    </p:set>
                                  </p:childTnLst>
                                </p:cTn>
                              </p:par>
                              <p:par>
                                <p:cTn id="100" presetID="4" presetClass="exit" presetSubtype="16" fill="hold" grpId="0" nodeType="withEffect">
                                  <p:stCondLst>
                                    <p:cond delay="0"/>
                                  </p:stCondLst>
                                  <p:childTnLst>
                                    <p:animEffect transition="out" filter="box(in)">
                                      <p:cBhvr>
                                        <p:cTn id="101" dur="500"/>
                                        <p:tgtEl>
                                          <p:spTgt spid="192532"/>
                                        </p:tgtEl>
                                      </p:cBhvr>
                                    </p:animEffect>
                                    <p:set>
                                      <p:cBhvr>
                                        <p:cTn id="102" dur="1" fill="hold">
                                          <p:stCondLst>
                                            <p:cond delay="499"/>
                                          </p:stCondLst>
                                        </p:cTn>
                                        <p:tgtEl>
                                          <p:spTgt spid="192532"/>
                                        </p:tgtEl>
                                        <p:attrNameLst>
                                          <p:attrName>style.visibility</p:attrName>
                                        </p:attrNameLst>
                                      </p:cBhvr>
                                      <p:to>
                                        <p:strVal val="hidden"/>
                                      </p:to>
                                    </p:set>
                                  </p:childTnLst>
                                </p:cTn>
                              </p:par>
                              <p:par>
                                <p:cTn id="103" presetID="4" presetClass="exit" presetSubtype="16" fill="hold" nodeType="withEffect">
                                  <p:stCondLst>
                                    <p:cond delay="0"/>
                                  </p:stCondLst>
                                  <p:childTnLst>
                                    <p:animEffect transition="out" filter="box(in)">
                                      <p:cBhvr>
                                        <p:cTn id="104" dur="500"/>
                                        <p:tgtEl>
                                          <p:spTgt spid="192528"/>
                                        </p:tgtEl>
                                      </p:cBhvr>
                                    </p:animEffect>
                                    <p:set>
                                      <p:cBhvr>
                                        <p:cTn id="105" dur="1" fill="hold">
                                          <p:stCondLst>
                                            <p:cond delay="499"/>
                                          </p:stCondLst>
                                        </p:cTn>
                                        <p:tgtEl>
                                          <p:spTgt spid="192528"/>
                                        </p:tgtEl>
                                        <p:attrNameLst>
                                          <p:attrName>style.visibility</p:attrName>
                                        </p:attrNameLst>
                                      </p:cBhvr>
                                      <p:to>
                                        <p:strVal val="hidden"/>
                                      </p:to>
                                    </p:set>
                                  </p:childTnLst>
                                </p:cTn>
                              </p:par>
                              <p:par>
                                <p:cTn id="106" presetID="4" presetClass="exit" presetSubtype="16" fill="hold" grpId="0" nodeType="withEffect">
                                  <p:stCondLst>
                                    <p:cond delay="0"/>
                                  </p:stCondLst>
                                  <p:childTnLst>
                                    <p:animEffect transition="out" filter="box(in)">
                                      <p:cBhvr>
                                        <p:cTn id="107" dur="500"/>
                                        <p:tgtEl>
                                          <p:spTgt spid="192536"/>
                                        </p:tgtEl>
                                      </p:cBhvr>
                                    </p:animEffect>
                                    <p:set>
                                      <p:cBhvr>
                                        <p:cTn id="108" dur="1" fill="hold">
                                          <p:stCondLst>
                                            <p:cond delay="499"/>
                                          </p:stCondLst>
                                        </p:cTn>
                                        <p:tgtEl>
                                          <p:spTgt spid="192536"/>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49" presetClass="entr" presetSubtype="0" decel="100000" fill="hold" grpId="0" nodeType="clickEffect">
                                  <p:stCondLst>
                                    <p:cond delay="0"/>
                                  </p:stCondLst>
                                  <p:childTnLst>
                                    <p:set>
                                      <p:cBhvr>
                                        <p:cTn id="112" dur="1" fill="hold">
                                          <p:stCondLst>
                                            <p:cond delay="0"/>
                                          </p:stCondLst>
                                        </p:cTn>
                                        <p:tgtEl>
                                          <p:spTgt spid="192544"/>
                                        </p:tgtEl>
                                        <p:attrNameLst>
                                          <p:attrName>style.visibility</p:attrName>
                                        </p:attrNameLst>
                                      </p:cBhvr>
                                      <p:to>
                                        <p:strVal val="visible"/>
                                      </p:to>
                                    </p:set>
                                    <p:anim calcmode="lin" valueType="num">
                                      <p:cBhvr>
                                        <p:cTn id="113" dur="500" fill="hold"/>
                                        <p:tgtEl>
                                          <p:spTgt spid="192544"/>
                                        </p:tgtEl>
                                        <p:attrNameLst>
                                          <p:attrName>ppt_w</p:attrName>
                                        </p:attrNameLst>
                                      </p:cBhvr>
                                      <p:tavLst>
                                        <p:tav tm="0">
                                          <p:val>
                                            <p:fltVal val="0"/>
                                          </p:val>
                                        </p:tav>
                                        <p:tav tm="100000">
                                          <p:val>
                                            <p:strVal val="#ppt_w"/>
                                          </p:val>
                                        </p:tav>
                                      </p:tavLst>
                                    </p:anim>
                                    <p:anim calcmode="lin" valueType="num">
                                      <p:cBhvr>
                                        <p:cTn id="114" dur="500" fill="hold"/>
                                        <p:tgtEl>
                                          <p:spTgt spid="192544"/>
                                        </p:tgtEl>
                                        <p:attrNameLst>
                                          <p:attrName>ppt_h</p:attrName>
                                        </p:attrNameLst>
                                      </p:cBhvr>
                                      <p:tavLst>
                                        <p:tav tm="0">
                                          <p:val>
                                            <p:fltVal val="0"/>
                                          </p:val>
                                        </p:tav>
                                        <p:tav tm="100000">
                                          <p:val>
                                            <p:strVal val="#ppt_h"/>
                                          </p:val>
                                        </p:tav>
                                      </p:tavLst>
                                    </p:anim>
                                    <p:anim calcmode="lin" valueType="num">
                                      <p:cBhvr>
                                        <p:cTn id="115" dur="500" fill="hold"/>
                                        <p:tgtEl>
                                          <p:spTgt spid="192544"/>
                                        </p:tgtEl>
                                        <p:attrNameLst>
                                          <p:attrName>style.rotation</p:attrName>
                                        </p:attrNameLst>
                                      </p:cBhvr>
                                      <p:tavLst>
                                        <p:tav tm="0">
                                          <p:val>
                                            <p:fltVal val="360"/>
                                          </p:val>
                                        </p:tav>
                                        <p:tav tm="100000">
                                          <p:val>
                                            <p:fltVal val="0"/>
                                          </p:val>
                                        </p:tav>
                                      </p:tavLst>
                                    </p:anim>
                                    <p:animEffect transition="in" filter="fade">
                                      <p:cBhvr>
                                        <p:cTn id="116" dur="500"/>
                                        <p:tgtEl>
                                          <p:spTgt spid="192544"/>
                                        </p:tgtEl>
                                      </p:cBhvr>
                                    </p:animEffect>
                                  </p:childTnLst>
                                  <p:subTnLst>
                                    <p:audio>
                                      <p:cMediaNode>
                                        <p:cTn display="0" masterRel="sameClick">
                                          <p:stCondLst>
                                            <p:cond evt="begin" delay="0">
                                              <p:tn val="111"/>
                                            </p:cond>
                                          </p:stCondLst>
                                          <p:endCondLst>
                                            <p:cond evt="onStopAudio" delay="0">
                                              <p:tgtEl>
                                                <p:sldTgt/>
                                              </p:tgtEl>
                                            </p:cond>
                                          </p:endCondLst>
                                        </p:cTn>
                                        <p:tgtEl>
                                          <p:sndTgt r:embed="rId1" name="drumroll.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30" grpId="0"/>
      <p:bldP spid="192530" grpId="1"/>
      <p:bldP spid="192531" grpId="0"/>
      <p:bldP spid="192531" grpId="1"/>
      <p:bldP spid="192532" grpId="0"/>
      <p:bldP spid="192533" grpId="0"/>
      <p:bldP spid="192534" grpId="0"/>
      <p:bldP spid="192534" grpId="1"/>
      <p:bldP spid="192535" grpId="0"/>
      <p:bldP spid="192535" grpId="1"/>
      <p:bldP spid="192536" grpId="0"/>
      <p:bldP spid="192537" grpId="0"/>
      <p:bldP spid="192537" grpId="1"/>
      <p:bldP spid="192538" grpId="0"/>
      <p:bldP spid="192544"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30723" name="Rectangle 5"/>
          <p:cNvSpPr>
            <a:spLocks noGrp="1"/>
          </p:cNvSpPr>
          <p:nvPr>
            <p:ph idx="1"/>
          </p:nvPr>
        </p:nvSpPr>
        <p:spPr>
          <a:xfrm>
            <a:off x="747395" y="1268730"/>
            <a:ext cx="7649210" cy="4902835"/>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eaLnBrk="1" hangingPunct="1">
              <a:buNone/>
            </a:pPr>
            <a:r>
              <a:rPr lang="zh-CN" altLang="en-US" b="1" dirty="0"/>
              <a:t>算法</a:t>
            </a:r>
            <a:r>
              <a:rPr lang="en-US" altLang="zh-CN" b="1" dirty="0"/>
              <a:t>  PRIM     </a:t>
            </a:r>
            <a:endParaRPr lang="en-US" altLang="zh-CN" b="1" dirty="0"/>
          </a:p>
          <a:p>
            <a:pPr lvl="1" eaLnBrk="1" hangingPunct="1">
              <a:buNone/>
            </a:pPr>
            <a:r>
              <a:rPr lang="zh-CN" altLang="en-US" sz="2000" dirty="0"/>
              <a:t>输入</a:t>
            </a:r>
            <a:r>
              <a:rPr lang="en-US" altLang="zh-CN" sz="2000" dirty="0"/>
              <a:t>:</a:t>
            </a:r>
            <a:r>
              <a:rPr lang="zh-CN" altLang="en-US" sz="2000" dirty="0"/>
              <a:t>含权连通无向图</a:t>
            </a:r>
            <a:r>
              <a:rPr lang="en-US" altLang="zh-CN" sz="2000" dirty="0"/>
              <a:t>G=(V,E), </a:t>
            </a:r>
            <a:r>
              <a:rPr lang="zh-CN" altLang="en-US" sz="2000" dirty="0"/>
              <a:t>其中</a:t>
            </a:r>
            <a:r>
              <a:rPr lang="en-US" altLang="zh-CN" sz="2000" dirty="0"/>
              <a:t> V={1,2,..,n}.</a:t>
            </a:r>
            <a:endParaRPr lang="en-US" altLang="zh-CN" sz="2000" dirty="0"/>
          </a:p>
          <a:p>
            <a:pPr lvl="1" eaLnBrk="1" hangingPunct="1">
              <a:buNone/>
            </a:pPr>
            <a:r>
              <a:rPr lang="zh-CN" altLang="en-US" sz="2000" dirty="0"/>
              <a:t>输出</a:t>
            </a:r>
            <a:r>
              <a:rPr lang="en-US" altLang="zh-CN" sz="2000" dirty="0"/>
              <a:t>:</a:t>
            </a:r>
            <a:r>
              <a:rPr lang="zh-CN" altLang="en-US" sz="2000" dirty="0"/>
              <a:t>由</a:t>
            </a:r>
            <a:r>
              <a:rPr lang="en-US" altLang="zh-CN" sz="2000" dirty="0"/>
              <a:t>G</a:t>
            </a:r>
            <a:r>
              <a:rPr lang="zh-CN" altLang="en-US" sz="2000" dirty="0"/>
              <a:t>生成的最小耗费生成树</a:t>
            </a:r>
            <a:r>
              <a:rPr lang="en-US" altLang="zh-CN" sz="2000" dirty="0"/>
              <a:t>T</a:t>
            </a:r>
            <a:r>
              <a:rPr lang="zh-CN" altLang="en-US" sz="2000" dirty="0"/>
              <a:t>组成的边的集合。</a:t>
            </a:r>
            <a:endParaRPr lang="zh-CN" altLang="en-US" sz="2000" dirty="0"/>
          </a:p>
          <a:p>
            <a:pPr lvl="1" eaLnBrk="1" hangingPunct="1">
              <a:buNone/>
            </a:pPr>
            <a:endParaRPr lang="en-US" altLang="zh-CN" sz="2000" dirty="0"/>
          </a:p>
          <a:p>
            <a:pPr lvl="1" eaLnBrk="1" hangingPunct="1">
              <a:buNone/>
            </a:pPr>
            <a:r>
              <a:rPr lang="en-US" altLang="zh-CN" sz="2000" dirty="0"/>
              <a:t>	1.T</a:t>
            </a:r>
            <a:r>
              <a:rPr lang="en-US" altLang="zh-CN" sz="2000" dirty="0">
                <a:sym typeface="Wingdings" panose="05000000000000000000" pitchFamily="2" charset="2"/>
              </a:rPr>
              <a:t>{};   X{1};    YV-{1}</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2.</a:t>
            </a:r>
            <a:r>
              <a:rPr lang="en-US" altLang="zh-CN" sz="2000" b="1" dirty="0">
                <a:sym typeface="Wingdings" panose="05000000000000000000" pitchFamily="2" charset="2"/>
              </a:rPr>
              <a:t>for</a:t>
            </a:r>
            <a:r>
              <a:rPr lang="en-US" altLang="zh-CN" sz="2000" dirty="0">
                <a:sym typeface="Wingdings" panose="05000000000000000000" pitchFamily="2" charset="2"/>
              </a:rPr>
              <a:t> y2 </a:t>
            </a:r>
            <a:r>
              <a:rPr lang="en-US" altLang="zh-CN" sz="2000" b="1" dirty="0">
                <a:sym typeface="Wingdings" panose="05000000000000000000" pitchFamily="2" charset="2"/>
              </a:rPr>
              <a:t>to</a:t>
            </a:r>
            <a:r>
              <a:rPr lang="en-US" altLang="zh-CN" sz="2000" dirty="0">
                <a:sym typeface="Wingdings" panose="05000000000000000000" pitchFamily="2" charset="2"/>
              </a:rPr>
              <a:t> n</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3.	</a:t>
            </a:r>
            <a:r>
              <a:rPr lang="en-US" altLang="zh-CN" sz="2000" b="1" dirty="0">
                <a:sym typeface="Wingdings" panose="05000000000000000000" pitchFamily="2" charset="2"/>
              </a:rPr>
              <a:t>if</a:t>
            </a:r>
            <a:r>
              <a:rPr lang="en-US" altLang="zh-CN" sz="2000" dirty="0">
                <a:sym typeface="Wingdings" panose="05000000000000000000" pitchFamily="2" charset="2"/>
              </a:rPr>
              <a:t> y </a:t>
            </a:r>
            <a:r>
              <a:rPr lang="zh-CN" altLang="en-US" sz="2000" dirty="0">
                <a:sym typeface="Wingdings" panose="05000000000000000000" pitchFamily="2" charset="2"/>
              </a:rPr>
              <a:t>邻接于</a:t>
            </a:r>
            <a:r>
              <a:rPr lang="en-US" altLang="zh-CN" sz="2000" dirty="0">
                <a:sym typeface="Wingdings" panose="05000000000000000000" pitchFamily="2" charset="2"/>
              </a:rPr>
              <a:t>1 </a:t>
            </a:r>
            <a:r>
              <a:rPr lang="en-US" altLang="zh-CN" sz="2000" b="1" dirty="0">
                <a:sym typeface="Wingdings" panose="05000000000000000000" pitchFamily="2" charset="2"/>
              </a:rPr>
              <a:t>then</a:t>
            </a:r>
            <a:endParaRPr lang="en-US" altLang="zh-CN" sz="2000" b="1" dirty="0">
              <a:sym typeface="Wingdings" panose="05000000000000000000" pitchFamily="2" charset="2"/>
            </a:endParaRPr>
          </a:p>
          <a:p>
            <a:pPr lvl="1" eaLnBrk="1" hangingPunct="1">
              <a:buNone/>
            </a:pPr>
            <a:r>
              <a:rPr lang="en-US" altLang="zh-CN" sz="2000" dirty="0">
                <a:sym typeface="Wingdings" panose="05000000000000000000" pitchFamily="2" charset="2"/>
              </a:rPr>
              <a:t>	4.		N[y]1</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5.		C[y]c[1,y]</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6.	</a:t>
            </a:r>
            <a:r>
              <a:rPr lang="en-US" altLang="zh-CN" sz="2000" b="1" dirty="0">
                <a:sym typeface="Wingdings" panose="05000000000000000000" pitchFamily="2" charset="2"/>
              </a:rPr>
              <a:t>else</a:t>
            </a:r>
            <a:r>
              <a:rPr lang="en-US" altLang="zh-CN" sz="2000" dirty="0">
                <a:sym typeface="Wingdings" panose="05000000000000000000" pitchFamily="2" charset="2"/>
              </a:rPr>
              <a:t> C[y]</a:t>
            </a:r>
            <a:r>
              <a:rPr lang="en-US" altLang="zh-CN" sz="2000" dirty="0">
                <a:sym typeface="Symbol" panose="05050102010706020507" pitchFamily="18" charset="2"/>
              </a:rPr>
              <a:t>∞</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7.	</a:t>
            </a:r>
            <a:r>
              <a:rPr lang="en-US" altLang="zh-CN" sz="2000" b="1" dirty="0">
                <a:sym typeface="Wingdings" panose="05000000000000000000" pitchFamily="2" charset="2"/>
              </a:rPr>
              <a:t>end if</a:t>
            </a:r>
            <a:r>
              <a:rPr lang="en-US" altLang="zh-CN" sz="2000" dirty="0">
                <a:sym typeface="Wingdings" panose="05000000000000000000" pitchFamily="2" charset="2"/>
              </a:rPr>
              <a:t> </a:t>
            </a:r>
            <a:endParaRPr lang="en-US" altLang="zh-CN" sz="2000" dirty="0">
              <a:sym typeface="Wingdings" panose="05000000000000000000" pitchFamily="2" charset="2"/>
            </a:endParaRPr>
          </a:p>
          <a:p>
            <a:pPr lvl="1" eaLnBrk="1" hangingPunct="1">
              <a:buNone/>
            </a:pPr>
            <a:r>
              <a:rPr lang="en-US" altLang="zh-CN" sz="2000" dirty="0">
                <a:sym typeface="Wingdings" panose="05000000000000000000" pitchFamily="2" charset="2"/>
              </a:rPr>
              <a:t>	8.</a:t>
            </a:r>
            <a:r>
              <a:rPr lang="en-US" altLang="zh-CN" sz="2000" b="1" dirty="0">
                <a:sym typeface="Wingdings" panose="05000000000000000000" pitchFamily="2" charset="2"/>
              </a:rPr>
              <a:t>end for</a:t>
            </a:r>
            <a:r>
              <a:rPr lang="en-US" altLang="zh-CN" dirty="0">
                <a:sym typeface="Wingdings" panose="05000000000000000000" pitchFamily="2" charset="2"/>
              </a:rPr>
              <a:t>                                                  </a:t>
            </a:r>
            <a:r>
              <a:rPr lang="en-US" altLang="zh-CN" sz="2000" dirty="0">
                <a:solidFill>
                  <a:srgbClr val="FF0000"/>
                </a:solidFill>
                <a:sym typeface="Wingdings" panose="05000000000000000000" pitchFamily="2" charset="2"/>
              </a:rPr>
              <a:t>NEXT PAGE</a:t>
            </a:r>
            <a:endParaRPr lang="en-US" altLang="zh-CN" sz="2000" dirty="0">
              <a:solidFill>
                <a:srgbClr val="FF0000"/>
              </a:solidFill>
              <a:sym typeface="Wingdings" panose="05000000000000000000" pitchFamily="2" charset="2"/>
            </a:endParaRPr>
          </a:p>
        </p:txBody>
      </p:sp>
      <p:sp>
        <p:nvSpPr>
          <p:cNvPr id="4" name="矩形 3"/>
          <p:cNvSpPr/>
          <p:nvPr/>
        </p:nvSpPr>
        <p:spPr>
          <a:xfrm>
            <a:off x="5292080" y="2924577"/>
            <a:ext cx="3143250" cy="2246312"/>
          </a:xfrm>
          <a:prstGeom prst="rect">
            <a:avLst/>
          </a:prstGeom>
          <a:solidFill>
            <a:srgbClr val="92D050"/>
          </a:solid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Font typeface="Wingdings" panose="05000000000000000000" pitchFamily="2" charset="2"/>
              <a:buChar char="Ø"/>
            </a:pPr>
            <a:r>
              <a:rPr lang="zh-CN" altLang="en-US" sz="2000" dirty="0">
                <a:solidFill>
                  <a:srgbClr val="0070C0"/>
                </a:solidFill>
                <a:latin typeface="Arial" panose="020B0604020202020204" pitchFamily="34" charset="0"/>
                <a:ea typeface="宋体" panose="02010600030101010101" pitchFamily="2" charset="-122"/>
              </a:rPr>
              <a:t>第</a:t>
            </a:r>
            <a:r>
              <a:rPr lang="en-US" altLang="zh-CN" sz="2000" dirty="0">
                <a:solidFill>
                  <a:srgbClr val="0070C0"/>
                </a:solidFill>
                <a:latin typeface="Arial" panose="020B0604020202020204" pitchFamily="34" charset="0"/>
                <a:ea typeface="宋体" panose="02010600030101010101" pitchFamily="2" charset="-122"/>
              </a:rPr>
              <a:t>1</a:t>
            </a:r>
            <a:r>
              <a:rPr lang="zh-CN" altLang="en-US" sz="2000" dirty="0">
                <a:solidFill>
                  <a:srgbClr val="0070C0"/>
                </a:solidFill>
                <a:latin typeface="Arial" panose="020B0604020202020204" pitchFamily="34" charset="0"/>
                <a:ea typeface="宋体" panose="02010600030101010101" pitchFamily="2" charset="-122"/>
              </a:rPr>
              <a:t>步耗费</a:t>
            </a:r>
            <a:r>
              <a:rPr lang="en-US" altLang="zh-CN" sz="2000" dirty="0">
                <a:solidFill>
                  <a:srgbClr val="0070C0"/>
                </a:solidFill>
                <a:latin typeface="Arial" panose="020B0604020202020204" pitchFamily="34" charset="0"/>
                <a:ea typeface="宋体" panose="02010600030101010101" pitchFamily="2" charset="-122"/>
              </a:rPr>
              <a:t> </a:t>
            </a:r>
            <a:r>
              <a:rPr lang="el-GR" altLang="zh-CN" sz="2000" dirty="0">
                <a:solidFill>
                  <a:srgbClr val="0070C0"/>
                </a:solidFill>
                <a:latin typeface="Arial" panose="020B0604020202020204" pitchFamily="34" charset="0"/>
                <a:ea typeface="宋体" panose="02010600030101010101" pitchFamily="2" charset="-122"/>
              </a:rPr>
              <a:t>Θ</a:t>
            </a:r>
            <a:r>
              <a:rPr lang="en-US" altLang="zh-CN" sz="2000" dirty="0">
                <a:solidFill>
                  <a:srgbClr val="0070C0"/>
                </a:solidFill>
                <a:latin typeface="Arial" panose="020B0604020202020204" pitchFamily="34" charset="0"/>
                <a:ea typeface="宋体" panose="02010600030101010101" pitchFamily="2" charset="-122"/>
              </a:rPr>
              <a:t>(n)</a:t>
            </a:r>
            <a:r>
              <a:rPr lang="zh-CN" altLang="en-US" sz="2000" dirty="0">
                <a:solidFill>
                  <a:srgbClr val="0070C0"/>
                </a:solidFill>
                <a:latin typeface="Arial" panose="020B0604020202020204" pitchFamily="34" charset="0"/>
                <a:ea typeface="宋体" panose="02010600030101010101" pitchFamily="2" charset="-122"/>
              </a:rPr>
              <a:t>时间</a:t>
            </a:r>
            <a:r>
              <a:rPr lang="en-US" altLang="zh-CN" sz="2000" dirty="0">
                <a:solidFill>
                  <a:srgbClr val="0070C0"/>
                </a:solidFill>
                <a:latin typeface="Arial" panose="020B0604020202020204" pitchFamily="34" charset="0"/>
                <a:ea typeface="宋体" panose="02010600030101010101" pitchFamily="2" charset="-122"/>
              </a:rPr>
              <a:t>. </a:t>
            </a:r>
            <a:endParaRPr lang="en-US" altLang="zh-CN" sz="20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endParaRPr lang="en-US" altLang="zh-CN" sz="20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2000" dirty="0">
                <a:solidFill>
                  <a:srgbClr val="0070C0"/>
                </a:solidFill>
                <a:latin typeface="Arial" panose="020B0604020202020204" pitchFamily="34" charset="0"/>
                <a:ea typeface="宋体" panose="02010600030101010101" pitchFamily="2" charset="-122"/>
              </a:rPr>
              <a:t>第</a:t>
            </a:r>
            <a:r>
              <a:rPr lang="en-US" altLang="zh-CN" sz="2000" dirty="0">
                <a:solidFill>
                  <a:srgbClr val="0070C0"/>
                </a:solidFill>
                <a:latin typeface="Arial" panose="020B0604020202020204" pitchFamily="34" charset="0"/>
                <a:ea typeface="宋体" panose="02010600030101010101" pitchFamily="2" charset="-122"/>
              </a:rPr>
              <a:t>2</a:t>
            </a:r>
            <a:r>
              <a:rPr lang="zh-CN" altLang="en-US" sz="2000" dirty="0">
                <a:solidFill>
                  <a:srgbClr val="0070C0"/>
                </a:solidFill>
                <a:latin typeface="Arial" panose="020B0604020202020204" pitchFamily="34" charset="0"/>
                <a:ea typeface="宋体" panose="02010600030101010101" pitchFamily="2" charset="-122"/>
              </a:rPr>
              <a:t>步的</a:t>
            </a:r>
            <a:r>
              <a:rPr lang="en-US" altLang="zh-CN" sz="2000" dirty="0">
                <a:solidFill>
                  <a:srgbClr val="0070C0"/>
                </a:solidFill>
                <a:latin typeface="Arial" panose="020B0604020202020204" pitchFamily="34" charset="0"/>
                <a:ea typeface="宋体" panose="02010600030101010101" pitchFamily="2" charset="-122"/>
              </a:rPr>
              <a:t>for</a:t>
            </a:r>
            <a:r>
              <a:rPr lang="zh-CN" altLang="en-US" sz="2000" dirty="0">
                <a:solidFill>
                  <a:srgbClr val="0070C0"/>
                </a:solidFill>
                <a:latin typeface="Arial" panose="020B0604020202020204" pitchFamily="34" charset="0"/>
                <a:ea typeface="宋体" panose="02010600030101010101" pitchFamily="2" charset="-122"/>
              </a:rPr>
              <a:t>循环需要时间</a:t>
            </a:r>
            <a:r>
              <a:rPr lang="el-GR" altLang="zh-CN" sz="2000" dirty="0">
                <a:solidFill>
                  <a:srgbClr val="0070C0"/>
                </a:solidFill>
                <a:latin typeface="Arial" panose="020B0604020202020204" pitchFamily="34" charset="0"/>
                <a:ea typeface="宋体" panose="02010600030101010101" pitchFamily="2" charset="-122"/>
              </a:rPr>
              <a:t>Θ</a:t>
            </a:r>
            <a:r>
              <a:rPr lang="en-US" altLang="zh-CN" sz="2000" dirty="0">
                <a:solidFill>
                  <a:srgbClr val="0070C0"/>
                </a:solidFill>
                <a:latin typeface="Arial" panose="020B0604020202020204" pitchFamily="34" charset="0"/>
                <a:ea typeface="宋体" panose="02010600030101010101" pitchFamily="2" charset="-122"/>
              </a:rPr>
              <a:t>(n) .</a:t>
            </a:r>
            <a:endParaRPr lang="en-US" altLang="zh-CN" sz="20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endParaRPr lang="en-US" altLang="zh-CN" sz="20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2000" dirty="0">
                <a:solidFill>
                  <a:srgbClr val="0070C0"/>
                </a:solidFill>
                <a:latin typeface="Arial" panose="020B0604020202020204" pitchFamily="34" charset="0"/>
                <a:ea typeface="宋体" panose="02010600030101010101" pitchFamily="2" charset="-122"/>
              </a:rPr>
              <a:t>第</a:t>
            </a:r>
            <a:r>
              <a:rPr lang="en-US" altLang="zh-CN" sz="2000" dirty="0">
                <a:solidFill>
                  <a:srgbClr val="0070C0"/>
                </a:solidFill>
                <a:latin typeface="Arial" panose="020B0604020202020204" pitchFamily="34" charset="0"/>
                <a:ea typeface="宋体" panose="02010600030101010101" pitchFamily="2" charset="-122"/>
              </a:rPr>
              <a:t>3</a:t>
            </a:r>
            <a:r>
              <a:rPr lang="zh-CN" altLang="en-US" sz="2000" dirty="0">
                <a:solidFill>
                  <a:srgbClr val="0070C0"/>
                </a:solidFill>
                <a:latin typeface="Arial" panose="020B0604020202020204" pitchFamily="34" charset="0"/>
                <a:ea typeface="宋体" panose="02010600030101010101" pitchFamily="2" charset="-122"/>
              </a:rPr>
              <a:t>步到第</a:t>
            </a:r>
            <a:r>
              <a:rPr lang="en-US" altLang="zh-CN" sz="2000" dirty="0">
                <a:solidFill>
                  <a:srgbClr val="0070C0"/>
                </a:solidFill>
                <a:latin typeface="Arial" panose="020B0604020202020204" pitchFamily="34" charset="0"/>
                <a:ea typeface="宋体" panose="02010600030101010101" pitchFamily="2" charset="-122"/>
              </a:rPr>
              <a:t>6</a:t>
            </a:r>
            <a:r>
              <a:rPr lang="zh-CN" altLang="en-US" sz="2000" dirty="0">
                <a:solidFill>
                  <a:srgbClr val="0070C0"/>
                </a:solidFill>
                <a:latin typeface="Arial" panose="020B0604020202020204" pitchFamily="34" charset="0"/>
                <a:ea typeface="宋体" panose="02010600030101010101" pitchFamily="2" charset="-122"/>
              </a:rPr>
              <a:t>步需要时间</a:t>
            </a:r>
            <a:r>
              <a:rPr lang="en-US" altLang="zh-CN" sz="2000" dirty="0">
                <a:solidFill>
                  <a:srgbClr val="0070C0"/>
                </a:solidFill>
                <a:latin typeface="Arial" panose="020B0604020202020204" pitchFamily="34" charset="0"/>
                <a:ea typeface="宋体" panose="02010600030101010101" pitchFamily="2" charset="-122"/>
              </a:rPr>
              <a:t>O(n). </a:t>
            </a:r>
            <a:endParaRPr lang="en-US" altLang="zh-CN" sz="2000" dirty="0">
              <a:solidFill>
                <a:srgbClr val="0070C0"/>
              </a:solidFill>
              <a:latin typeface="Arial" panose="020B0604020202020204" pitchFamily="34" charset="0"/>
              <a:ea typeface="宋体" panose="02010600030101010101" pitchFamily="2" charset="-122"/>
            </a:endParaRPr>
          </a:p>
        </p:txBody>
      </p:sp>
      <p:sp>
        <p:nvSpPr>
          <p:cNvPr id="28675" name="Rectangle 2"/>
          <p:cNvSpPr>
            <a:spLocks noGrp="1"/>
          </p:cNvSpPr>
          <p:nvPr>
            <p:ph type="title"/>
          </p:nvPr>
        </p:nvSpPr>
        <p:spPr/>
        <p:txBody>
          <a:bodyPr vert="horz" wrap="square" lIns="91440" tIns="45720" rIns="91440" bIns="45720" anchor="ctr" anchorCtr="0"/>
          <a:p>
            <a:pPr eaLnBrk="1" hangingPunct="1"/>
            <a:r>
              <a:rPr lang="en-US" altLang="zh-CN" dirty="0"/>
              <a:t>5.1.1 Prim</a:t>
            </a:r>
            <a:r>
              <a:rPr lang="zh-CN" altLang="en-US" dirty="0"/>
              <a:t>算法</a:t>
            </a:r>
            <a:r>
              <a:rPr lang="en-US" altLang="zh-CN" dirty="0"/>
              <a:t>——</a:t>
            </a:r>
            <a:r>
              <a:rPr lang="zh-CN" altLang="en-US" dirty="0"/>
              <a:t>伪代码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32771" name="Rectangle 3"/>
          <p:cNvSpPr>
            <a:spLocks noGrp="1"/>
          </p:cNvSpPr>
          <p:nvPr>
            <p:ph idx="1"/>
          </p:nvPr>
        </p:nvSpPr>
        <p:spPr>
          <a:xfrm>
            <a:off x="971550" y="1196975"/>
            <a:ext cx="7512685" cy="4798060"/>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marL="495300" indent="-495300" eaLnBrk="1" hangingPunct="1">
              <a:lnSpc>
                <a:spcPct val="90000"/>
              </a:lnSpc>
              <a:buNone/>
            </a:pPr>
            <a:r>
              <a:rPr lang="zh-CN" altLang="en-US" b="1" dirty="0"/>
              <a:t>算法</a:t>
            </a:r>
            <a:r>
              <a:rPr lang="en-US" altLang="zh-CN" b="1" dirty="0"/>
              <a:t>  PRIM</a:t>
            </a:r>
            <a:endParaRPr lang="en-US" altLang="zh-CN" b="1" dirty="0"/>
          </a:p>
          <a:p>
            <a:pPr marL="725805" lvl="1" indent="-268605" eaLnBrk="1" hangingPunct="1">
              <a:lnSpc>
                <a:spcPct val="90000"/>
              </a:lnSpc>
              <a:buNone/>
            </a:pPr>
            <a:endParaRPr lang="en-US" altLang="zh-CN" sz="2000" dirty="0"/>
          </a:p>
          <a:p>
            <a:pPr marL="725805" lvl="1" indent="-268605" eaLnBrk="1" hangingPunct="1">
              <a:lnSpc>
                <a:spcPct val="90000"/>
              </a:lnSpc>
              <a:buNone/>
            </a:pPr>
            <a:r>
              <a:rPr lang="en-US" altLang="zh-CN" sz="2000" dirty="0"/>
              <a:t>9.   </a:t>
            </a:r>
            <a:r>
              <a:rPr lang="en-US" altLang="zh-CN" sz="2000" b="1" dirty="0"/>
              <a:t>for</a:t>
            </a:r>
            <a:r>
              <a:rPr lang="en-US" altLang="zh-CN" sz="2000" dirty="0"/>
              <a:t> j</a:t>
            </a:r>
            <a:r>
              <a:rPr lang="en-US" altLang="zh-CN" sz="2000" dirty="0">
                <a:sym typeface="Wingdings" panose="05000000000000000000" pitchFamily="2" charset="2"/>
              </a:rPr>
              <a:t>1 </a:t>
            </a:r>
            <a:r>
              <a:rPr lang="en-US" altLang="zh-CN" sz="2000" b="1" dirty="0">
                <a:sym typeface="Wingdings" panose="05000000000000000000" pitchFamily="2" charset="2"/>
              </a:rPr>
              <a:t>to</a:t>
            </a:r>
            <a:r>
              <a:rPr lang="en-US" altLang="zh-CN" sz="2000" dirty="0">
                <a:sym typeface="Wingdings" panose="05000000000000000000" pitchFamily="2" charset="2"/>
              </a:rPr>
              <a:t> n-1   {</a:t>
            </a:r>
            <a:r>
              <a:rPr lang="zh-CN" altLang="en-US" sz="2000" dirty="0">
                <a:sym typeface="Wingdings" panose="05000000000000000000" pitchFamily="2" charset="2"/>
              </a:rPr>
              <a:t>寻找</a:t>
            </a:r>
            <a:r>
              <a:rPr lang="en-US" altLang="zh-CN" sz="2000" dirty="0">
                <a:sym typeface="Wingdings" panose="05000000000000000000" pitchFamily="2" charset="2"/>
              </a:rPr>
              <a:t>n-1 </a:t>
            </a:r>
            <a:r>
              <a:rPr lang="zh-CN" altLang="en-US" sz="2000" dirty="0">
                <a:sym typeface="Wingdings" panose="05000000000000000000" pitchFamily="2" charset="2"/>
              </a:rPr>
              <a:t>条边</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10.  	</a:t>
            </a:r>
            <a:r>
              <a:rPr lang="zh-CN" altLang="en-US" sz="2000" dirty="0">
                <a:sym typeface="Wingdings" panose="05000000000000000000" pitchFamily="2" charset="2"/>
              </a:rPr>
              <a:t>令</a:t>
            </a:r>
            <a:r>
              <a:rPr lang="en-US" altLang="zh-CN" sz="2000" dirty="0">
                <a:sym typeface="Wingdings" panose="05000000000000000000" pitchFamily="2" charset="2"/>
              </a:rPr>
              <a:t>y</a:t>
            </a:r>
            <a:r>
              <a:rPr lang="en-US" altLang="zh-CN" sz="2000" dirty="0">
                <a:sym typeface="Symbol" panose="05050102010706020507" pitchFamily="18" charset="2"/>
              </a:rPr>
              <a:t>∈Y  </a:t>
            </a:r>
            <a:r>
              <a:rPr lang="zh-CN" altLang="en-US" sz="2000" dirty="0">
                <a:sym typeface="Symbol" panose="05050102010706020507" pitchFamily="18" charset="2"/>
              </a:rPr>
              <a:t>使得 </a:t>
            </a:r>
            <a:r>
              <a:rPr lang="en-US" altLang="zh-CN" sz="2000" dirty="0">
                <a:sym typeface="Symbol" panose="05050102010706020507" pitchFamily="18" charset="2"/>
              </a:rPr>
              <a:t>C[y] </a:t>
            </a:r>
            <a:r>
              <a:rPr lang="zh-CN" altLang="en-US" sz="2000" dirty="0">
                <a:sym typeface="Symbol" panose="05050102010706020507" pitchFamily="18" charset="2"/>
              </a:rPr>
              <a:t>最小</a:t>
            </a:r>
            <a:endParaRPr lang="en-US" altLang="zh-CN" sz="2000"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11.		T</a:t>
            </a:r>
            <a:r>
              <a:rPr lang="en-US" altLang="zh-CN" sz="2000" dirty="0">
                <a:sym typeface="Wingdings" panose="05000000000000000000" pitchFamily="2" charset="2"/>
              </a:rPr>
              <a:t>T</a:t>
            </a:r>
            <a:r>
              <a:rPr lang="en-US" altLang="zh-CN" sz="2000" dirty="0">
                <a:sym typeface="Symbol" panose="05050102010706020507" pitchFamily="18" charset="2"/>
              </a:rPr>
              <a:t>∪{y,N[y]}               {</a:t>
            </a:r>
            <a:r>
              <a:rPr lang="zh-CN" altLang="en-US" sz="2000" dirty="0">
                <a:sym typeface="Symbol" panose="05050102010706020507" pitchFamily="18" charset="2"/>
              </a:rPr>
              <a:t>将边</a:t>
            </a:r>
            <a:r>
              <a:rPr lang="en-US" altLang="zh-CN" sz="2000" dirty="0">
                <a:sym typeface="Symbol" panose="05050102010706020507" pitchFamily="18" charset="2"/>
              </a:rPr>
              <a:t>(y,N[y]) </a:t>
            </a:r>
            <a:r>
              <a:rPr lang="zh-CN" altLang="en-US" sz="2000" dirty="0">
                <a:sym typeface="Symbol" panose="05050102010706020507" pitchFamily="18" charset="2"/>
              </a:rPr>
              <a:t>加入</a:t>
            </a:r>
            <a:r>
              <a:rPr lang="en-US" altLang="zh-CN" sz="2000" dirty="0">
                <a:sym typeface="Symbol" panose="05050102010706020507" pitchFamily="18" charset="2"/>
              </a:rPr>
              <a:t> T}</a:t>
            </a:r>
            <a:endParaRPr lang="en-US" altLang="zh-CN" sz="2000"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12.		X</a:t>
            </a:r>
            <a:r>
              <a:rPr lang="en-US" altLang="zh-CN" sz="2000" dirty="0">
                <a:sym typeface="Wingdings" panose="05000000000000000000" pitchFamily="2" charset="2"/>
              </a:rPr>
              <a:t>X</a:t>
            </a:r>
            <a:r>
              <a:rPr lang="en-US" altLang="zh-CN" sz="2000" dirty="0">
                <a:sym typeface="Symbol" panose="05050102010706020507" pitchFamily="18" charset="2"/>
              </a:rPr>
              <a:t>∪{y}                      {</a:t>
            </a:r>
            <a:r>
              <a:rPr lang="zh-CN" altLang="en-US" sz="2000" dirty="0">
                <a:sym typeface="Symbol" panose="05050102010706020507" pitchFamily="18" charset="2"/>
              </a:rPr>
              <a:t>将顶点</a:t>
            </a:r>
            <a:r>
              <a:rPr lang="en-US" altLang="zh-CN" sz="2000" dirty="0">
                <a:sym typeface="Symbol" panose="05050102010706020507" pitchFamily="18" charset="2"/>
              </a:rPr>
              <a:t>y </a:t>
            </a:r>
            <a:r>
              <a:rPr lang="zh-CN" altLang="en-US" sz="2000" dirty="0">
                <a:sym typeface="Symbol" panose="05050102010706020507" pitchFamily="18" charset="2"/>
              </a:rPr>
              <a:t>加入</a:t>
            </a:r>
            <a:r>
              <a:rPr lang="en-US" altLang="zh-CN" sz="2000" dirty="0">
                <a:sym typeface="Symbol" panose="05050102010706020507" pitchFamily="18" charset="2"/>
              </a:rPr>
              <a:t> X}</a:t>
            </a:r>
            <a:endParaRPr lang="en-US" altLang="zh-CN" sz="2000"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13.       	Y</a:t>
            </a:r>
            <a:r>
              <a:rPr lang="en-US" altLang="zh-CN" sz="2000" dirty="0">
                <a:sym typeface="Wingdings" panose="05000000000000000000" pitchFamily="2" charset="2"/>
              </a:rPr>
              <a:t>Y-{y}                        {</a:t>
            </a:r>
            <a:r>
              <a:rPr lang="zh-CN" altLang="en-US" sz="2000" dirty="0">
                <a:sym typeface="Wingdings" panose="05000000000000000000" pitchFamily="2" charset="2"/>
              </a:rPr>
              <a:t>从</a:t>
            </a:r>
            <a:r>
              <a:rPr lang="en-US" altLang="zh-CN" sz="2000" dirty="0">
                <a:sym typeface="Wingdings" panose="05000000000000000000" pitchFamily="2" charset="2"/>
              </a:rPr>
              <a:t>Y</a:t>
            </a:r>
            <a:r>
              <a:rPr lang="zh-CN" altLang="en-US" sz="2000" dirty="0">
                <a:sym typeface="Wingdings" panose="05000000000000000000" pitchFamily="2" charset="2"/>
              </a:rPr>
              <a:t>删除顶点</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Symbol" panose="05050102010706020507" pitchFamily="18" charset="2"/>
              </a:rPr>
              <a:t>14.       	</a:t>
            </a:r>
            <a:r>
              <a:rPr lang="en-US" altLang="zh-CN" sz="2000" b="1" dirty="0">
                <a:sym typeface="Symbol" panose="05050102010706020507" pitchFamily="18" charset="2"/>
              </a:rPr>
              <a:t>for</a:t>
            </a:r>
            <a:r>
              <a:rPr lang="en-US" altLang="zh-CN" sz="2000" dirty="0">
                <a:sym typeface="Symbol" panose="05050102010706020507" pitchFamily="18" charset="2"/>
              </a:rPr>
              <a:t> </a:t>
            </a:r>
            <a:r>
              <a:rPr lang="zh-CN" altLang="en-US" sz="2000" dirty="0">
                <a:sym typeface="Symbol" panose="05050102010706020507" pitchFamily="18" charset="2"/>
              </a:rPr>
              <a:t>每个邻接于</a:t>
            </a:r>
            <a:r>
              <a:rPr lang="en-US" altLang="zh-CN" sz="2000" dirty="0">
                <a:sym typeface="Symbol" panose="05050102010706020507" pitchFamily="18" charset="2"/>
              </a:rPr>
              <a:t>y</a:t>
            </a:r>
            <a:r>
              <a:rPr lang="zh-CN" altLang="en-US" sz="2000" dirty="0">
                <a:sym typeface="Symbol" panose="05050102010706020507" pitchFamily="18" charset="2"/>
              </a:rPr>
              <a:t>的顶点 </a:t>
            </a:r>
            <a:r>
              <a:rPr lang="en-US" altLang="zh-CN" sz="2000" dirty="0">
                <a:sym typeface="Symbol" panose="05050102010706020507" pitchFamily="18" charset="2"/>
              </a:rPr>
              <a:t>w ∈Y</a:t>
            </a:r>
            <a:endParaRPr lang="en-US" altLang="zh-CN" sz="2000"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15.              		</a:t>
            </a:r>
            <a:r>
              <a:rPr lang="en-US" altLang="zh-CN" sz="2000" b="1" dirty="0">
                <a:sym typeface="Symbol" panose="05050102010706020507" pitchFamily="18" charset="2"/>
              </a:rPr>
              <a:t>if</a:t>
            </a:r>
            <a:r>
              <a:rPr lang="en-US" altLang="zh-CN" sz="2000" dirty="0">
                <a:sym typeface="Symbol" panose="05050102010706020507" pitchFamily="18" charset="2"/>
              </a:rPr>
              <a:t>    c[y,w]&lt;C[w]      </a:t>
            </a:r>
            <a:r>
              <a:rPr lang="en-US" altLang="zh-CN" sz="2000" b="1" dirty="0">
                <a:sym typeface="Symbol" panose="05050102010706020507" pitchFamily="18" charset="2"/>
              </a:rPr>
              <a:t>then</a:t>
            </a:r>
            <a:endParaRPr lang="en-US" altLang="zh-CN" sz="2000" b="1"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16.                     		N[w]</a:t>
            </a:r>
            <a:r>
              <a:rPr lang="en-US" altLang="zh-CN" sz="2000" dirty="0">
                <a:sym typeface="Wingdings" panose="05000000000000000000" pitchFamily="2" charset="2"/>
              </a:rPr>
              <a:t>y</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Symbol" panose="05050102010706020507" pitchFamily="18" charset="2"/>
              </a:rPr>
              <a:t>17.     		             C[w]</a:t>
            </a:r>
            <a:r>
              <a:rPr lang="en-US" altLang="zh-CN" sz="2000" dirty="0">
                <a:sym typeface="Wingdings" panose="05000000000000000000" pitchFamily="2" charset="2"/>
              </a:rPr>
              <a:t>c[y,w]</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Symbol" panose="05050102010706020507" pitchFamily="18" charset="2"/>
              </a:rPr>
              <a:t>18.		           </a:t>
            </a:r>
            <a:r>
              <a:rPr lang="en-US" altLang="zh-CN" sz="2000" b="1" dirty="0">
                <a:sym typeface="Symbol" panose="05050102010706020507" pitchFamily="18" charset="2"/>
              </a:rPr>
              <a:t>end if</a:t>
            </a:r>
            <a:endParaRPr lang="en-US" altLang="zh-CN" sz="2000" b="1"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19.       	</a:t>
            </a:r>
            <a:r>
              <a:rPr lang="en-US" altLang="zh-CN" sz="2000" b="1" dirty="0">
                <a:sym typeface="Symbol" panose="05050102010706020507" pitchFamily="18" charset="2"/>
              </a:rPr>
              <a:t>end for</a:t>
            </a:r>
            <a:endParaRPr lang="en-US" altLang="zh-CN" sz="2000" b="1" dirty="0">
              <a:sym typeface="Symbol" panose="05050102010706020507" pitchFamily="18" charset="2"/>
            </a:endParaRPr>
          </a:p>
          <a:p>
            <a:pPr marL="725805" lvl="1" indent="-268605" eaLnBrk="1" hangingPunct="1">
              <a:lnSpc>
                <a:spcPct val="90000"/>
              </a:lnSpc>
              <a:buNone/>
            </a:pPr>
            <a:r>
              <a:rPr lang="en-US" altLang="zh-CN" sz="2000" dirty="0">
                <a:sym typeface="Symbol" panose="05050102010706020507" pitchFamily="18" charset="2"/>
              </a:rPr>
              <a:t>20. </a:t>
            </a:r>
            <a:r>
              <a:rPr lang="en-US" altLang="zh-CN" sz="2000" b="1" dirty="0">
                <a:sym typeface="Symbol" panose="05050102010706020507" pitchFamily="18" charset="2"/>
              </a:rPr>
              <a:t>end for</a:t>
            </a:r>
            <a:r>
              <a:rPr lang="en-US" altLang="zh-CN" sz="2000" dirty="0">
                <a:sym typeface="Symbol" panose="05050102010706020507" pitchFamily="18" charset="2"/>
              </a:rPr>
              <a:t>  </a:t>
            </a:r>
            <a:endParaRPr lang="en-US" altLang="zh-CN" sz="2000" dirty="0">
              <a:sym typeface="Symbol" panose="05050102010706020507" pitchFamily="18" charset="2"/>
            </a:endParaRPr>
          </a:p>
        </p:txBody>
      </p:sp>
      <p:sp>
        <p:nvSpPr>
          <p:cNvPr id="4" name="矩形 3"/>
          <p:cNvSpPr/>
          <p:nvPr/>
        </p:nvSpPr>
        <p:spPr>
          <a:xfrm>
            <a:off x="5939641" y="2636520"/>
            <a:ext cx="2857500" cy="3692525"/>
          </a:xfrm>
          <a:prstGeom prst="rect">
            <a:avLst/>
          </a:prstGeom>
          <a:solidFill>
            <a:srgbClr val="92D050"/>
          </a:solid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10</a:t>
            </a:r>
            <a:r>
              <a:rPr lang="zh-CN" altLang="en-US" sz="1800" dirty="0">
                <a:solidFill>
                  <a:srgbClr val="0070C0"/>
                </a:solidFill>
                <a:latin typeface="Arial" panose="020B0604020202020204" pitchFamily="34" charset="0"/>
                <a:ea typeface="宋体" panose="02010600030101010101" pitchFamily="2" charset="-122"/>
              </a:rPr>
              <a:t>步搜索离</a:t>
            </a:r>
            <a:r>
              <a:rPr lang="en-US" altLang="zh-CN" sz="1800" dirty="0">
                <a:solidFill>
                  <a:srgbClr val="0070C0"/>
                </a:solidFill>
                <a:latin typeface="Arial" panose="020B0604020202020204" pitchFamily="34" charset="0"/>
                <a:ea typeface="宋体" panose="02010600030101010101" pitchFamily="2" charset="-122"/>
              </a:rPr>
              <a:t>X</a:t>
            </a:r>
            <a:r>
              <a:rPr lang="zh-CN" altLang="en-US" sz="1800" dirty="0">
                <a:solidFill>
                  <a:srgbClr val="0070C0"/>
                </a:solidFill>
                <a:latin typeface="Arial" panose="020B0604020202020204" pitchFamily="34" charset="0"/>
                <a:ea typeface="宋体" panose="02010600030101010101" pitchFamily="2" charset="-122"/>
              </a:rPr>
              <a:t>最近的顶点</a:t>
            </a:r>
            <a:r>
              <a:rPr lang="en-US" altLang="zh-CN" sz="1800" dirty="0">
                <a:solidFill>
                  <a:srgbClr val="0070C0"/>
                </a:solidFill>
                <a:latin typeface="Arial" panose="020B0604020202020204" pitchFamily="34" charset="0"/>
                <a:ea typeface="宋体" panose="02010600030101010101" pitchFamily="2" charset="-122"/>
              </a:rPr>
              <a:t>y</a:t>
            </a:r>
            <a:r>
              <a:rPr lang="zh-CN" altLang="en-US" sz="1800" dirty="0">
                <a:solidFill>
                  <a:srgbClr val="0070C0"/>
                </a:solidFill>
                <a:latin typeface="Arial" panose="020B0604020202020204" pitchFamily="34" charset="0"/>
                <a:ea typeface="宋体" panose="02010600030101010101" pitchFamily="2" charset="-122"/>
              </a:rPr>
              <a:t>，每迭代一次需要花费时间</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，而这一步执行了</a:t>
            </a:r>
            <a:r>
              <a:rPr lang="en-US" altLang="zh-CN" sz="1800" dirty="0">
                <a:solidFill>
                  <a:srgbClr val="0070C0"/>
                </a:solidFill>
                <a:latin typeface="Arial" panose="020B0604020202020204" pitchFamily="34" charset="0"/>
                <a:ea typeface="宋体" panose="02010600030101010101" pitchFamily="2" charset="-122"/>
              </a:rPr>
              <a:t>n-1</a:t>
            </a:r>
            <a:r>
              <a:rPr lang="zh-CN" altLang="en-US" sz="1800" dirty="0">
                <a:solidFill>
                  <a:srgbClr val="0070C0"/>
                </a:solidFill>
                <a:latin typeface="Arial" panose="020B0604020202020204" pitchFamily="34" charset="0"/>
                <a:ea typeface="宋体" panose="02010600030101010101" pitchFamily="2" charset="-122"/>
              </a:rPr>
              <a:t>次，所以第</a:t>
            </a:r>
            <a:r>
              <a:rPr lang="en-US" altLang="zh-CN" sz="1800" dirty="0">
                <a:solidFill>
                  <a:srgbClr val="0070C0"/>
                </a:solidFill>
                <a:latin typeface="Arial" panose="020B0604020202020204" pitchFamily="34" charset="0"/>
                <a:ea typeface="宋体" panose="02010600030101010101" pitchFamily="2" charset="-122"/>
              </a:rPr>
              <a:t>10</a:t>
            </a:r>
            <a:r>
              <a:rPr lang="zh-CN" altLang="en-US" sz="1800" dirty="0">
                <a:solidFill>
                  <a:srgbClr val="0070C0"/>
                </a:solidFill>
                <a:latin typeface="Arial" panose="020B0604020202020204" pitchFamily="34" charset="0"/>
                <a:ea typeface="宋体" panose="02010600030101010101" pitchFamily="2" charset="-122"/>
              </a:rPr>
              <a:t>步一共花费时间</a:t>
            </a:r>
            <a:r>
              <a:rPr lang="el-GR" altLang="zh-CN" sz="1800" dirty="0">
                <a:solidFill>
                  <a:srgbClr val="C00000"/>
                </a:solidFill>
                <a:latin typeface="Arial" panose="020B0604020202020204" pitchFamily="34" charset="0"/>
                <a:ea typeface="宋体" panose="02010600030101010101" pitchFamily="2" charset="-122"/>
              </a:rPr>
              <a:t>Θ</a:t>
            </a:r>
            <a:r>
              <a:rPr lang="en-US" altLang="zh-CN" sz="1800" dirty="0">
                <a:solidFill>
                  <a:srgbClr val="C00000"/>
                </a:solidFill>
                <a:latin typeface="Arial" panose="020B0604020202020204" pitchFamily="34" charset="0"/>
                <a:ea typeface="宋体" panose="02010600030101010101" pitchFamily="2" charset="-122"/>
              </a:rPr>
              <a:t>(n</a:t>
            </a:r>
            <a:r>
              <a:rPr lang="en-US" altLang="zh-CN" sz="1800" baseline="30000" dirty="0">
                <a:solidFill>
                  <a:srgbClr val="C00000"/>
                </a:solidFill>
                <a:latin typeface="Arial" panose="020B0604020202020204" pitchFamily="34" charset="0"/>
                <a:ea typeface="宋体" panose="02010600030101010101" pitchFamily="2" charset="-122"/>
              </a:rPr>
              <a:t>2</a:t>
            </a:r>
            <a:r>
              <a:rPr lang="en-US" altLang="zh-CN" sz="1800" dirty="0">
                <a:solidFill>
                  <a:srgbClr val="C00000"/>
                </a:solidFill>
                <a:latin typeface="Arial" panose="020B0604020202020204" pitchFamily="34" charset="0"/>
                <a:ea typeface="宋体" panose="02010600030101010101" pitchFamily="2" charset="-122"/>
              </a:rPr>
              <a:t>)</a:t>
            </a:r>
            <a:endParaRPr lang="en-US" altLang="zh-CN" sz="1800" dirty="0">
              <a:solidFill>
                <a:srgbClr val="C0000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11</a:t>
            </a:r>
            <a:r>
              <a:rPr lang="zh-CN" altLang="en-US" sz="1800" dirty="0">
                <a:solidFill>
                  <a:srgbClr val="0070C0"/>
                </a:solidFill>
                <a:latin typeface="Arial" panose="020B0604020202020204" pitchFamily="34" charset="0"/>
                <a:ea typeface="宋体" panose="02010600030101010101" pitchFamily="2" charset="-122"/>
              </a:rPr>
              <a:t>步、第</a:t>
            </a:r>
            <a:r>
              <a:rPr lang="en-US" altLang="zh-CN" sz="1800" dirty="0">
                <a:solidFill>
                  <a:srgbClr val="0070C0"/>
                </a:solidFill>
                <a:latin typeface="Arial" panose="020B0604020202020204" pitchFamily="34" charset="0"/>
                <a:ea typeface="宋体" panose="02010600030101010101" pitchFamily="2" charset="-122"/>
              </a:rPr>
              <a:t>12</a:t>
            </a:r>
            <a:r>
              <a:rPr lang="zh-CN" altLang="en-US" sz="1800" dirty="0">
                <a:solidFill>
                  <a:srgbClr val="0070C0"/>
                </a:solidFill>
                <a:latin typeface="Arial" panose="020B0604020202020204" pitchFamily="34" charset="0"/>
                <a:ea typeface="宋体" panose="02010600030101010101" pitchFamily="2" charset="-122"/>
              </a:rPr>
              <a:t>步和第</a:t>
            </a:r>
            <a:r>
              <a:rPr lang="en-US" altLang="zh-CN" sz="1800" dirty="0">
                <a:solidFill>
                  <a:srgbClr val="0070C0"/>
                </a:solidFill>
                <a:latin typeface="Arial" panose="020B0604020202020204" pitchFamily="34" charset="0"/>
                <a:ea typeface="宋体" panose="02010600030101010101" pitchFamily="2" charset="-122"/>
              </a:rPr>
              <a:t>13</a:t>
            </a:r>
            <a:r>
              <a:rPr lang="zh-CN" altLang="en-US" sz="1800" dirty="0">
                <a:solidFill>
                  <a:srgbClr val="0070C0"/>
                </a:solidFill>
                <a:latin typeface="Arial" panose="020B0604020202020204" pitchFamily="34" charset="0"/>
                <a:ea typeface="宋体" panose="02010600030101010101" pitchFamily="2" charset="-122"/>
              </a:rPr>
              <a:t>步，每迭代一次花费时间</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(1) </a:t>
            </a:r>
            <a:r>
              <a:rPr lang="zh-CN" altLang="en-US" sz="1800" dirty="0">
                <a:solidFill>
                  <a:srgbClr val="0070C0"/>
                </a:solidFill>
                <a:latin typeface="Arial" panose="020B0604020202020204" pitchFamily="34" charset="0"/>
                <a:ea typeface="宋体" panose="02010600030101010101" pitchFamily="2" charset="-122"/>
              </a:rPr>
              <a:t>总共花费时间</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spcBef>
                <a:spcPct val="0"/>
              </a:spcBef>
              <a:buFont typeface="Wingdings" panose="05000000000000000000" pitchFamily="2" charset="2"/>
              <a:buChar char="Ø"/>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14</a:t>
            </a:r>
            <a:r>
              <a:rPr lang="zh-CN" altLang="en-US" sz="1800" dirty="0">
                <a:solidFill>
                  <a:srgbClr val="0070C0"/>
                </a:solidFill>
                <a:latin typeface="Arial" panose="020B0604020202020204" pitchFamily="34" charset="0"/>
                <a:ea typeface="宋体" panose="02010600030101010101" pitchFamily="2" charset="-122"/>
              </a:rPr>
              <a:t>步的</a:t>
            </a:r>
            <a:r>
              <a:rPr lang="en-US" altLang="zh-CN" sz="1800" dirty="0">
                <a:solidFill>
                  <a:srgbClr val="0070C0"/>
                </a:solidFill>
                <a:latin typeface="Arial" panose="020B0604020202020204" pitchFamily="34" charset="0"/>
                <a:ea typeface="宋体" panose="02010600030101010101" pitchFamily="2" charset="-122"/>
              </a:rPr>
              <a:t>for</a:t>
            </a:r>
            <a:r>
              <a:rPr lang="zh-CN" altLang="en-US" sz="1800" dirty="0">
                <a:solidFill>
                  <a:srgbClr val="0070C0"/>
                </a:solidFill>
                <a:latin typeface="Arial" panose="020B0604020202020204" pitchFamily="34" charset="0"/>
                <a:ea typeface="宋体" panose="02010600030101010101" pitchFamily="2" charset="-122"/>
              </a:rPr>
              <a:t>循环执行了</a:t>
            </a:r>
            <a:r>
              <a:rPr lang="en-US" altLang="zh-CN" sz="1800" dirty="0">
                <a:solidFill>
                  <a:srgbClr val="0070C0"/>
                </a:solidFill>
                <a:latin typeface="Arial" panose="020B0604020202020204" pitchFamily="34" charset="0"/>
                <a:ea typeface="宋体" panose="02010600030101010101" pitchFamily="2" charset="-122"/>
              </a:rPr>
              <a:t>2m</a:t>
            </a:r>
            <a:r>
              <a:rPr lang="zh-CN" altLang="en-US" sz="1800" dirty="0">
                <a:solidFill>
                  <a:srgbClr val="0070C0"/>
                </a:solidFill>
                <a:latin typeface="Arial" panose="020B0604020202020204" pitchFamily="34" charset="0"/>
                <a:ea typeface="宋体" panose="02010600030101010101" pitchFamily="2" charset="-122"/>
              </a:rPr>
              <a:t>次，第</a:t>
            </a:r>
            <a:r>
              <a:rPr lang="en-US" altLang="zh-CN" sz="1800" dirty="0">
                <a:solidFill>
                  <a:srgbClr val="0070C0"/>
                </a:solidFill>
                <a:latin typeface="Arial" panose="020B0604020202020204" pitchFamily="34" charset="0"/>
                <a:ea typeface="宋体" panose="02010600030101010101" pitchFamily="2" charset="-122"/>
              </a:rPr>
              <a:t>14</a:t>
            </a:r>
            <a:r>
              <a:rPr lang="zh-CN" altLang="en-US" sz="1800" dirty="0">
                <a:solidFill>
                  <a:srgbClr val="0070C0"/>
                </a:solidFill>
                <a:latin typeface="Arial" panose="020B0604020202020204" pitchFamily="34" charset="0"/>
                <a:ea typeface="宋体" panose="02010600030101010101" pitchFamily="2" charset="-122"/>
              </a:rPr>
              <a:t>步一共需要的时间是</a:t>
            </a:r>
            <a:r>
              <a:rPr lang="el-GR" altLang="zh-CN" sz="1800" dirty="0">
                <a:solidFill>
                  <a:srgbClr val="C00000"/>
                </a:solidFill>
                <a:latin typeface="Arial" panose="020B0604020202020204" pitchFamily="34" charset="0"/>
                <a:ea typeface="宋体" panose="02010600030101010101" pitchFamily="2" charset="-122"/>
              </a:rPr>
              <a:t>Θ</a:t>
            </a:r>
            <a:r>
              <a:rPr lang="en-US" altLang="zh-CN" sz="1800" dirty="0">
                <a:solidFill>
                  <a:srgbClr val="C00000"/>
                </a:solidFill>
                <a:latin typeface="Arial" panose="020B0604020202020204" pitchFamily="34" charset="0"/>
                <a:ea typeface="宋体" panose="02010600030101010101" pitchFamily="2" charset="-122"/>
              </a:rPr>
              <a:t>(m)</a:t>
            </a:r>
            <a:endParaRPr lang="en-US" altLang="zh-CN" sz="1800" dirty="0">
              <a:solidFill>
                <a:srgbClr val="C00000"/>
              </a:solidFill>
              <a:latin typeface="Arial" panose="020B0604020202020204" pitchFamily="34" charset="0"/>
              <a:ea typeface="宋体" panose="02010600030101010101" pitchFamily="2" charset="-122"/>
            </a:endParaRPr>
          </a:p>
        </p:txBody>
      </p:sp>
      <p:sp>
        <p:nvSpPr>
          <p:cNvPr id="28675" name="Rectangle 2"/>
          <p:cNvSpPr>
            <a:spLocks noGrp="1"/>
          </p:cNvSpPr>
          <p:nvPr>
            <p:ph type="title"/>
          </p:nvPr>
        </p:nvSpPr>
        <p:spPr/>
        <p:txBody>
          <a:bodyPr vert="horz" wrap="square" lIns="91440" tIns="45720" rIns="91440" bIns="45720" anchor="ctr" anchorCtr="0"/>
          <a:p>
            <a:pPr eaLnBrk="1" hangingPunct="1"/>
            <a:r>
              <a:rPr lang="en-US" altLang="zh-CN" dirty="0"/>
              <a:t>5.1.1 Prim</a:t>
            </a:r>
            <a:r>
              <a:rPr lang="zh-CN" altLang="en-US" dirty="0"/>
              <a:t>算法</a:t>
            </a:r>
            <a:r>
              <a:rPr lang="en-US" altLang="zh-CN" dirty="0"/>
              <a:t>——</a:t>
            </a:r>
            <a:r>
              <a:rPr lang="zh-CN" altLang="en-US" dirty="0"/>
              <a:t>伪代码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34819" name="Rectangle 2"/>
          <p:cNvSpPr>
            <a:spLocks noGrp="1"/>
          </p:cNvSpPr>
          <p:nvPr>
            <p:ph type="title"/>
          </p:nvPr>
        </p:nvSpPr>
        <p:spPr/>
        <p:txBody>
          <a:bodyPr vert="horz" wrap="square" lIns="91440" tIns="45720" rIns="91440" bIns="45720" anchor="ctr" anchorCtr="0"/>
          <a:lstStyle/>
          <a:p>
            <a:pPr eaLnBrk="1" hangingPunct="1"/>
            <a:r>
              <a:rPr lang="en-US" altLang="zh-CN" dirty="0"/>
              <a:t>5.1.1 Prim</a:t>
            </a:r>
            <a:r>
              <a:rPr lang="zh-CN" altLang="en-US" dirty="0"/>
              <a:t>算法</a:t>
            </a:r>
            <a:r>
              <a:rPr lang="en-US" altLang="zh-CN" dirty="0"/>
              <a:t>——</a:t>
            </a:r>
            <a:r>
              <a:rPr lang="zh-CN" altLang="en-US" dirty="0"/>
              <a:t>算法分析</a:t>
            </a:r>
            <a:endParaRPr lang="en-US" altLang="zh-CN" dirty="0"/>
          </a:p>
        </p:txBody>
      </p:sp>
      <p:sp>
        <p:nvSpPr>
          <p:cNvPr id="2" name="Rectangle 3"/>
          <p:cNvSpPr>
            <a:spLocks noGrp="1"/>
          </p:cNvSpPr>
          <p:nvPr>
            <p:ph idx="1"/>
          </p:nvPr>
        </p:nvSpPr>
        <p:spPr>
          <a:xfrm>
            <a:off x="900113" y="1143000"/>
            <a:ext cx="7786687" cy="4525963"/>
          </a:xfrm>
        </p:spPr>
        <p:txBody>
          <a:bodyPr vert="horz" wrap="square" lIns="91440" tIns="45720" rIns="91440" bIns="45720" anchor="t" anchorCtr="0"/>
          <a:lstStyle/>
          <a:p>
            <a:pPr eaLnBrk="1" hangingPunct="1"/>
            <a:r>
              <a:rPr lang="zh-CN" altLang="en-US" dirty="0"/>
              <a:t>第</a:t>
            </a:r>
            <a:r>
              <a:rPr lang="en-US" altLang="zh-CN" dirty="0"/>
              <a:t>1</a:t>
            </a:r>
            <a:r>
              <a:rPr lang="zh-CN" altLang="en-US" dirty="0"/>
              <a:t>步耗费</a:t>
            </a:r>
            <a:r>
              <a:rPr lang="en-US" altLang="zh-CN" dirty="0"/>
              <a:t> </a:t>
            </a:r>
            <a:r>
              <a:rPr lang="el-GR" altLang="zh-CN" dirty="0"/>
              <a:t>Θ</a:t>
            </a:r>
            <a:r>
              <a:rPr lang="en-US" altLang="zh-CN" dirty="0"/>
              <a:t>(n)</a:t>
            </a:r>
            <a:r>
              <a:rPr lang="zh-CN" altLang="en-US" dirty="0"/>
              <a:t>时间</a:t>
            </a:r>
            <a:r>
              <a:rPr lang="en-US" altLang="zh-CN" dirty="0"/>
              <a:t>. </a:t>
            </a:r>
            <a:endParaRPr lang="en-US" altLang="zh-CN" dirty="0"/>
          </a:p>
          <a:p>
            <a:pPr eaLnBrk="1" hangingPunct="1"/>
            <a:r>
              <a:rPr lang="zh-CN" altLang="en-US" dirty="0"/>
              <a:t>第</a:t>
            </a:r>
            <a:r>
              <a:rPr lang="en-US" altLang="zh-CN" dirty="0"/>
              <a:t>2</a:t>
            </a:r>
            <a:r>
              <a:rPr lang="zh-CN" altLang="en-US" dirty="0"/>
              <a:t>步的</a:t>
            </a:r>
            <a:r>
              <a:rPr lang="en-US" altLang="zh-CN" dirty="0"/>
              <a:t>for</a:t>
            </a:r>
            <a:r>
              <a:rPr lang="zh-CN" altLang="en-US" dirty="0"/>
              <a:t>循环需要时间</a:t>
            </a:r>
            <a:r>
              <a:rPr lang="el-GR" altLang="zh-CN" dirty="0"/>
              <a:t>Θ</a:t>
            </a:r>
            <a:r>
              <a:rPr lang="en-US" altLang="zh-CN" dirty="0"/>
              <a:t>(n) .</a:t>
            </a:r>
            <a:r>
              <a:rPr lang="zh-CN" altLang="en-US" dirty="0"/>
              <a:t>第</a:t>
            </a:r>
            <a:r>
              <a:rPr lang="en-US" altLang="zh-CN" dirty="0"/>
              <a:t>3</a:t>
            </a:r>
            <a:r>
              <a:rPr lang="zh-CN" altLang="en-US" dirty="0"/>
              <a:t>步到第</a:t>
            </a:r>
            <a:r>
              <a:rPr lang="en-US" altLang="zh-CN" dirty="0"/>
              <a:t>6</a:t>
            </a:r>
            <a:r>
              <a:rPr lang="zh-CN" altLang="en-US" dirty="0"/>
              <a:t>步需要时间</a:t>
            </a:r>
            <a:r>
              <a:rPr lang="en-US" altLang="zh-CN" dirty="0"/>
              <a:t>O(n). </a:t>
            </a:r>
            <a:endParaRPr lang="en-US" altLang="zh-CN" dirty="0"/>
          </a:p>
          <a:p>
            <a:pPr eaLnBrk="1" hangingPunct="1"/>
            <a:r>
              <a:rPr lang="zh-CN" altLang="en-US" dirty="0"/>
              <a:t>第</a:t>
            </a:r>
            <a:r>
              <a:rPr lang="en-US" altLang="zh-CN" dirty="0"/>
              <a:t>10</a:t>
            </a:r>
            <a:r>
              <a:rPr lang="zh-CN" altLang="en-US" dirty="0"/>
              <a:t>步搜索离</a:t>
            </a:r>
            <a:r>
              <a:rPr lang="en-US" altLang="zh-CN" dirty="0"/>
              <a:t>X</a:t>
            </a:r>
            <a:r>
              <a:rPr lang="zh-CN" altLang="en-US" dirty="0"/>
              <a:t>最近的顶点</a:t>
            </a:r>
            <a:r>
              <a:rPr lang="en-US" altLang="zh-CN" dirty="0"/>
              <a:t>y</a:t>
            </a:r>
            <a:r>
              <a:rPr lang="zh-CN" altLang="en-US" dirty="0"/>
              <a:t>，每迭代一次需要花费时间</a:t>
            </a:r>
            <a:r>
              <a:rPr lang="el-GR" altLang="zh-CN" dirty="0"/>
              <a:t>Θ</a:t>
            </a:r>
            <a:r>
              <a:rPr lang="en-US" altLang="zh-CN" dirty="0"/>
              <a:t>(n) </a:t>
            </a:r>
            <a:r>
              <a:rPr lang="zh-CN" altLang="en-US" dirty="0"/>
              <a:t>，而这一步执行了</a:t>
            </a:r>
            <a:r>
              <a:rPr lang="en-US" altLang="zh-CN" dirty="0"/>
              <a:t>n-1</a:t>
            </a:r>
            <a:r>
              <a:rPr lang="zh-CN" altLang="en-US" dirty="0"/>
              <a:t>次，所以第</a:t>
            </a:r>
            <a:r>
              <a:rPr lang="en-US" altLang="zh-CN" dirty="0"/>
              <a:t>10</a:t>
            </a:r>
            <a:r>
              <a:rPr lang="zh-CN" altLang="en-US" dirty="0"/>
              <a:t>步一共花费时间</a:t>
            </a:r>
            <a:r>
              <a:rPr lang="el-GR" altLang="zh-CN" dirty="0"/>
              <a:t>Θ</a:t>
            </a:r>
            <a:r>
              <a:rPr lang="en-US" altLang="zh-CN" dirty="0"/>
              <a:t>(n</a:t>
            </a:r>
            <a:r>
              <a:rPr lang="en-US" altLang="zh-CN" baseline="30000" dirty="0"/>
              <a:t>2</a:t>
            </a:r>
            <a:r>
              <a:rPr lang="en-US" altLang="zh-CN" dirty="0"/>
              <a:t>)</a:t>
            </a:r>
            <a:endParaRPr lang="en-US" altLang="zh-CN" dirty="0"/>
          </a:p>
          <a:p>
            <a:pPr eaLnBrk="1" hangingPunct="1"/>
            <a:r>
              <a:rPr lang="zh-CN" altLang="en-US" dirty="0"/>
              <a:t>第</a:t>
            </a:r>
            <a:r>
              <a:rPr lang="en-US" altLang="zh-CN" dirty="0"/>
              <a:t>11</a:t>
            </a:r>
            <a:r>
              <a:rPr lang="zh-CN" altLang="en-US" dirty="0"/>
              <a:t>步、第</a:t>
            </a:r>
            <a:r>
              <a:rPr lang="en-US" altLang="zh-CN" dirty="0"/>
              <a:t>12</a:t>
            </a:r>
            <a:r>
              <a:rPr lang="zh-CN" altLang="en-US" dirty="0"/>
              <a:t>步和第</a:t>
            </a:r>
            <a:r>
              <a:rPr lang="en-US" altLang="zh-CN" dirty="0"/>
              <a:t>13</a:t>
            </a:r>
            <a:r>
              <a:rPr lang="zh-CN" altLang="en-US" dirty="0"/>
              <a:t>步，每迭代一次花费时间</a:t>
            </a:r>
            <a:r>
              <a:rPr lang="el-GR" altLang="zh-CN" dirty="0"/>
              <a:t>Θ</a:t>
            </a:r>
            <a:r>
              <a:rPr lang="en-US" altLang="zh-CN" dirty="0"/>
              <a:t>(1) </a:t>
            </a:r>
            <a:r>
              <a:rPr lang="zh-CN" altLang="en-US" dirty="0"/>
              <a:t>总共花费时间</a:t>
            </a:r>
            <a:r>
              <a:rPr lang="el-GR" altLang="zh-CN" dirty="0"/>
              <a:t>Θ</a:t>
            </a:r>
            <a:r>
              <a:rPr lang="en-US" altLang="zh-CN" dirty="0"/>
              <a:t>(n) </a:t>
            </a:r>
            <a:r>
              <a:rPr lang="zh-CN" altLang="en-US" dirty="0"/>
              <a:t>。</a:t>
            </a:r>
            <a:endParaRPr lang="en-US" altLang="zh-CN" dirty="0"/>
          </a:p>
          <a:p>
            <a:pPr eaLnBrk="1" hangingPunct="1"/>
            <a:r>
              <a:rPr lang="zh-CN" altLang="en-US" dirty="0"/>
              <a:t>第</a:t>
            </a:r>
            <a:r>
              <a:rPr lang="en-US" altLang="zh-CN" dirty="0"/>
              <a:t>14</a:t>
            </a:r>
            <a:r>
              <a:rPr lang="zh-CN" altLang="en-US" dirty="0"/>
              <a:t>步的</a:t>
            </a:r>
            <a:r>
              <a:rPr lang="en-US" altLang="zh-CN" dirty="0"/>
              <a:t>for</a:t>
            </a:r>
            <a:r>
              <a:rPr lang="zh-CN" altLang="en-US" dirty="0"/>
              <a:t>循环执行了</a:t>
            </a:r>
            <a:r>
              <a:rPr lang="en-US" altLang="zh-CN" dirty="0"/>
              <a:t>2m</a:t>
            </a:r>
            <a:r>
              <a:rPr lang="zh-CN" altLang="en-US" dirty="0"/>
              <a:t>次，第</a:t>
            </a:r>
            <a:r>
              <a:rPr lang="en-US" altLang="zh-CN" dirty="0"/>
              <a:t>14</a:t>
            </a:r>
            <a:r>
              <a:rPr lang="zh-CN" altLang="en-US" dirty="0"/>
              <a:t>步一共需要的时间是</a:t>
            </a:r>
            <a:r>
              <a:rPr lang="el-GR" altLang="zh-CN" dirty="0"/>
              <a:t>Θ</a:t>
            </a:r>
            <a:r>
              <a:rPr lang="en-US" altLang="zh-CN" dirty="0"/>
              <a:t>(m)</a:t>
            </a:r>
            <a:endParaRPr lang="en-US" altLang="zh-CN" dirty="0"/>
          </a:p>
          <a:p>
            <a:pPr eaLnBrk="1" hangingPunct="1"/>
            <a:r>
              <a:rPr lang="en-US" altLang="zh-CN" sz="2100" dirty="0"/>
              <a:t>…P156</a:t>
            </a:r>
            <a:endParaRPr lang="en-US" altLang="zh-CN" sz="2100" dirty="0"/>
          </a:p>
          <a:p>
            <a:pPr eaLnBrk="1" hangingPunct="1"/>
            <a:r>
              <a:rPr lang="zh-CN" altLang="en-US" dirty="0"/>
              <a:t>这就得到了算法的时间复杂性是</a:t>
            </a:r>
            <a:r>
              <a:rPr lang="el-GR" altLang="zh-CN" dirty="0">
                <a:solidFill>
                  <a:srgbClr val="C00000"/>
                </a:solidFill>
              </a:rPr>
              <a:t>Θ</a:t>
            </a:r>
            <a:r>
              <a:rPr lang="en-US" altLang="zh-CN" dirty="0">
                <a:solidFill>
                  <a:srgbClr val="C00000"/>
                </a:solidFill>
              </a:rPr>
              <a:t>(m+n</a:t>
            </a:r>
            <a:r>
              <a:rPr lang="en-US" altLang="zh-CN" baseline="30000" dirty="0">
                <a:solidFill>
                  <a:srgbClr val="C00000"/>
                </a:solidFill>
              </a:rPr>
              <a:t>2</a:t>
            </a:r>
            <a:r>
              <a:rPr lang="en-US" altLang="zh-CN" dirty="0">
                <a:solidFill>
                  <a:srgbClr val="C00000"/>
                </a:solidFill>
              </a:rPr>
              <a:t>) </a:t>
            </a:r>
            <a:endParaRPr lang="el-GR" altLang="zh-CN"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p:cTn id="43"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p:cTn id="44"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36867" name="Rectangle 2"/>
          <p:cNvSpPr>
            <a:spLocks noGrp="1"/>
          </p:cNvSpPr>
          <p:nvPr>
            <p:ph type="title"/>
          </p:nvPr>
        </p:nvSpPr>
        <p:spPr>
          <a:xfrm>
            <a:off x="971550" y="260350"/>
            <a:ext cx="7777163" cy="720725"/>
          </a:xfrm>
        </p:spPr>
        <p:txBody>
          <a:bodyPr vert="horz" wrap="square" lIns="91440" tIns="45720" rIns="91440" bIns="45720" anchor="ctr" anchorCtr="0"/>
          <a:lstStyle/>
          <a:p>
            <a:pPr eaLnBrk="1" hangingPunct="1"/>
            <a:r>
              <a:rPr lang="en-US" altLang="zh-CN" dirty="0"/>
              <a:t>5.1.1 Prim</a:t>
            </a:r>
            <a:r>
              <a:rPr lang="zh-CN" altLang="en-US" dirty="0"/>
              <a:t>算法</a:t>
            </a:r>
            <a:r>
              <a:rPr lang="en-US" altLang="zh-CN" dirty="0"/>
              <a:t>——</a:t>
            </a:r>
            <a:r>
              <a:rPr lang="zh-CN" altLang="en-US" dirty="0"/>
              <a:t>稠图的线性时间算法</a:t>
            </a:r>
            <a:endParaRPr lang="en-US" altLang="zh-CN" dirty="0"/>
          </a:p>
        </p:txBody>
      </p:sp>
      <p:sp>
        <p:nvSpPr>
          <p:cNvPr id="46085" name="Rectangle 5"/>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基本思想</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现在要改进算法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PRIM</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，就像曾经对算法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DIJKSTRA</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所做的那样，目标是把</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m= </a:t>
            </a:r>
            <a:r>
              <a:rPr kumimoji="0" lang="en-US" altLang="zh-CN" sz="2200" b="0" i="1" u="none" strike="noStrike" kern="0" cap="none" spc="0" normalizeH="0" baseline="0" noProof="0" dirty="0">
                <a:ln>
                  <a:noFill/>
                </a:ln>
                <a:solidFill>
                  <a:schemeClr val="accent2"/>
                </a:solidFill>
                <a:effectLst/>
                <a:uLnTx/>
                <a:uFillTx/>
                <a:latin typeface="+mn-lt"/>
                <a:ea typeface="+mn-ea"/>
                <a:cs typeface="+mn-ea"/>
              </a:rPr>
              <a:t>o</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en-US" altLang="zh-CN" sz="2200" b="0" i="0" u="none" strike="noStrike" kern="0" cap="none" spc="0" normalizeH="0" baseline="3000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的那类图的时间复杂性从</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(n</a:t>
            </a:r>
            <a:r>
              <a:rPr kumimoji="0" lang="en-US" altLang="zh-CN" sz="2200" b="0" i="0" u="none" strike="noStrike" kern="0" cap="none" spc="0" normalizeH="0" baseline="30000" noProof="0" dirty="0">
                <a:ln>
                  <a:noFill/>
                </a:ln>
                <a:solidFill>
                  <a:schemeClr val="accent2"/>
                </a:solidFill>
                <a:effectLst/>
                <a:uLnTx/>
                <a:uFillTx/>
                <a:latin typeface="+mn-lt"/>
                <a:ea typeface="+mn-ea"/>
                <a:cs typeface="+mn-ea"/>
                <a:sym typeface="Symbol" panose="05050102010706020507" pitchFamily="18" charset="2"/>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减少到</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mlogn</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。以后还要进一步改进它，使在稠图情况下，可以在对边数的线性时间内运行。</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就像在算法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SHORTESTPATH</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中那样，基本思想是用</a:t>
            </a:r>
            <a:r>
              <a:rPr kumimoji="0" lang="zh-CN" altLang="en-US" sz="2200" b="0" i="0" u="none" strike="noStrike" kern="0" cap="none" spc="0" normalizeH="0" baseline="0" noProof="0" dirty="0">
                <a:ln>
                  <a:noFill/>
                </a:ln>
                <a:solidFill>
                  <a:srgbClr val="FF0000"/>
                </a:solidFill>
                <a:effectLst/>
                <a:uLnTx/>
                <a:uFillTx/>
                <a:latin typeface="+mn-lt"/>
                <a:ea typeface="+mn-ea"/>
                <a:cs typeface="+mn-ea"/>
              </a:rPr>
              <a:t>最小堆</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数据结构</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见</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4.2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节</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来保持边界顶点集，使得可以在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200" b="0" i="0" u="none" strike="noStrike" kern="0" cap="none" spc="0" normalizeH="0" baseline="0" noProof="0" dirty="0" err="1">
                <a:ln>
                  <a:noFill/>
                </a:ln>
                <a:solidFill>
                  <a:schemeClr val="accent2"/>
                </a:solidFill>
                <a:effectLst/>
                <a:uLnTx/>
                <a:uFillTx/>
                <a:latin typeface="+mn-lt"/>
                <a:ea typeface="+mn-ea"/>
                <a:cs typeface="+mn-ea"/>
              </a:rPr>
              <a:t>logn</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时间内取得</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集中的顶点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，这个</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集中一个顶点连接的边的耗费是最小的。修改后的算法在算法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MST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中给出。</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6085">
                                            <p:txEl>
                                              <p:pRg st="1" end="1"/>
                                            </p:txEl>
                                          </p:spTgt>
                                        </p:tgtEl>
                                        <p:attrNameLst>
                                          <p:attrName>style.visibility</p:attrName>
                                        </p:attrNameLst>
                                      </p:cBhvr>
                                      <p:to>
                                        <p:strVal val="visible"/>
                                      </p:to>
                                    </p:set>
                                    <p:animEffect transition="in" filter="box(in)">
                                      <p:cBhvr>
                                        <p:cTn id="7" dur="500"/>
                                        <p:tgtEl>
                                          <p:spTgt spid="4608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6085">
                                            <p:txEl>
                                              <p:pRg st="0" end="0"/>
                                            </p:txEl>
                                          </p:spTgt>
                                        </p:tgtEl>
                                        <p:attrNameLst>
                                          <p:attrName>style.visibility</p:attrName>
                                        </p:attrNameLst>
                                      </p:cBhvr>
                                      <p:to>
                                        <p:strVal val="visible"/>
                                      </p:to>
                                    </p:set>
                                    <p:animEffect transition="in" filter="box(in)">
                                      <p:cBhvr>
                                        <p:cTn id="12" dur="500"/>
                                        <p:tgtEl>
                                          <p:spTgt spid="4608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6085">
                                            <p:txEl>
                                              <p:pRg st="3" end="3"/>
                                            </p:txEl>
                                          </p:spTgt>
                                        </p:tgtEl>
                                        <p:attrNameLst>
                                          <p:attrName>style.visibility</p:attrName>
                                        </p:attrNameLst>
                                      </p:cBhvr>
                                      <p:to>
                                        <p:strVal val="visible"/>
                                      </p:to>
                                    </p:set>
                                    <p:animEffect transition="in" filter="box(in)">
                                      <p:cBhvr>
                                        <p:cTn id="17" dur="500"/>
                                        <p:tgtEl>
                                          <p:spTgt spid="4608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38915" name="Rectangle 5"/>
          <p:cNvSpPr>
            <a:spLocks noGrp="1"/>
          </p:cNvSpPr>
          <p:nvPr>
            <p:ph idx="1"/>
          </p:nvPr>
        </p:nvSpPr>
        <p:spPr>
          <a:xfrm>
            <a:off x="914400" y="549275"/>
            <a:ext cx="8229600" cy="5438775"/>
          </a:xfrm>
          <a:solidFill>
            <a:schemeClr val="bg1">
              <a:alpha val="100000"/>
            </a:schemeClr>
          </a:solidFill>
        </p:spPr>
        <p:txBody>
          <a:bodyPr vert="horz" wrap="square" lIns="91440" tIns="45720" rIns="91440" bIns="45720" anchor="t" anchorCtr="0"/>
          <a:lstStyle/>
          <a:p>
            <a:pPr eaLnBrk="1" hangingPunct="1">
              <a:lnSpc>
                <a:spcPct val="90000"/>
              </a:lnSpc>
              <a:buNone/>
            </a:pPr>
            <a:r>
              <a:rPr lang="zh-CN" altLang="en-US" b="1" dirty="0"/>
              <a:t>算法</a:t>
            </a:r>
            <a:r>
              <a:rPr lang="en-US" altLang="zh-CN" b="1" dirty="0"/>
              <a:t>  MST</a:t>
            </a:r>
            <a:endParaRPr lang="en-US" altLang="zh-CN" b="1" dirty="0"/>
          </a:p>
          <a:p>
            <a:pPr lvl="1" eaLnBrk="1" hangingPunct="1">
              <a:lnSpc>
                <a:spcPct val="90000"/>
              </a:lnSpc>
              <a:buNone/>
            </a:pPr>
            <a:endParaRPr lang="en-US" altLang="zh-CN" sz="2000" b="1" dirty="0"/>
          </a:p>
          <a:p>
            <a:pPr lvl="1" eaLnBrk="1" hangingPunct="1">
              <a:lnSpc>
                <a:spcPct val="90000"/>
              </a:lnSpc>
              <a:buNone/>
            </a:pPr>
            <a:r>
              <a:rPr lang="zh-CN" altLang="en-US" sz="2000" dirty="0"/>
              <a:t>输入</a:t>
            </a:r>
            <a:r>
              <a:rPr lang="en-US" altLang="zh-CN" sz="2000" dirty="0"/>
              <a:t>:</a:t>
            </a:r>
            <a:r>
              <a:rPr lang="zh-CN" altLang="en-US" sz="2000" dirty="0"/>
              <a:t>含权连通无向图</a:t>
            </a:r>
            <a:r>
              <a:rPr lang="en-US" altLang="zh-CN" sz="2000" dirty="0"/>
              <a:t>G=(V,E), where V={1,2,..,n}.</a:t>
            </a:r>
            <a:endParaRPr lang="en-US" altLang="zh-CN" sz="2000" dirty="0"/>
          </a:p>
          <a:p>
            <a:pPr lvl="1" eaLnBrk="1" hangingPunct="1">
              <a:lnSpc>
                <a:spcPct val="90000"/>
              </a:lnSpc>
              <a:buNone/>
            </a:pPr>
            <a:r>
              <a:rPr lang="zh-CN" altLang="en-US" sz="2000" dirty="0"/>
              <a:t>输出</a:t>
            </a:r>
            <a:r>
              <a:rPr lang="en-US" altLang="zh-CN" sz="2000" dirty="0"/>
              <a:t>:</a:t>
            </a:r>
            <a:r>
              <a:rPr lang="zh-CN" altLang="en-US" sz="2000" dirty="0"/>
              <a:t>由</a:t>
            </a:r>
            <a:r>
              <a:rPr lang="en-US" altLang="zh-CN" sz="2000" dirty="0"/>
              <a:t>G</a:t>
            </a:r>
            <a:r>
              <a:rPr lang="zh-CN" altLang="en-US" sz="2000" dirty="0"/>
              <a:t>生成的最小耗费生成树</a:t>
            </a:r>
            <a:r>
              <a:rPr lang="en-US" altLang="zh-CN" sz="2000" dirty="0"/>
              <a:t>T</a:t>
            </a:r>
            <a:r>
              <a:rPr lang="zh-CN" altLang="en-US" sz="2000" dirty="0"/>
              <a:t>组成的边的集合。假设我们已有一个空堆</a:t>
            </a:r>
            <a:r>
              <a:rPr lang="en-US" altLang="zh-CN" sz="2000" dirty="0"/>
              <a:t>H.</a:t>
            </a:r>
            <a:endParaRPr lang="en-US" altLang="zh-CN" sz="2000" dirty="0"/>
          </a:p>
          <a:p>
            <a:pPr lvl="1" eaLnBrk="1" hangingPunct="1">
              <a:lnSpc>
                <a:spcPct val="90000"/>
              </a:lnSpc>
              <a:buNone/>
            </a:pPr>
            <a:r>
              <a:rPr lang="en-US" altLang="zh-CN" sz="2000" dirty="0"/>
              <a:t>	1.	T</a:t>
            </a:r>
            <a:r>
              <a:rPr lang="en-US" altLang="zh-CN" sz="2000" dirty="0">
                <a:sym typeface="Wingdings" panose="05000000000000000000" pitchFamily="2" charset="2"/>
              </a:rPr>
              <a:t>{};   YV-{1}</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	</a:t>
            </a:r>
            <a:r>
              <a:rPr lang="en-US" altLang="zh-CN" sz="2000" b="1" dirty="0">
                <a:sym typeface="Wingdings" panose="05000000000000000000" pitchFamily="2" charset="2"/>
              </a:rPr>
              <a:t>for</a:t>
            </a:r>
            <a:r>
              <a:rPr lang="en-US" altLang="zh-CN" sz="2000" dirty="0">
                <a:sym typeface="Wingdings" panose="05000000000000000000" pitchFamily="2" charset="2"/>
              </a:rPr>
              <a:t> y2 </a:t>
            </a:r>
            <a:r>
              <a:rPr lang="en-US" altLang="zh-CN" sz="2000" b="1" dirty="0">
                <a:sym typeface="Wingdings" panose="05000000000000000000" pitchFamily="2" charset="2"/>
              </a:rPr>
              <a:t>to</a:t>
            </a:r>
            <a:r>
              <a:rPr lang="en-US" altLang="zh-CN" sz="2000" dirty="0">
                <a:sym typeface="Wingdings" panose="05000000000000000000" pitchFamily="2" charset="2"/>
              </a:rPr>
              <a:t> n</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if</a:t>
            </a:r>
            <a:r>
              <a:rPr lang="en-US" altLang="zh-CN" sz="2000" dirty="0">
                <a:sym typeface="Wingdings" panose="05000000000000000000" pitchFamily="2" charset="2"/>
              </a:rPr>
              <a:t> y </a:t>
            </a:r>
            <a:r>
              <a:rPr lang="zh-CN" altLang="en-US" sz="2000" dirty="0">
                <a:sym typeface="Wingdings" panose="05000000000000000000" pitchFamily="2" charset="2"/>
              </a:rPr>
              <a:t>邻接于</a:t>
            </a:r>
            <a:r>
              <a:rPr lang="en-US" altLang="zh-CN" sz="2000" dirty="0">
                <a:sym typeface="Wingdings" panose="05000000000000000000" pitchFamily="2" charset="2"/>
              </a:rPr>
              <a:t>1 </a:t>
            </a:r>
            <a:r>
              <a:rPr lang="en-US" altLang="zh-CN" sz="2000" b="1" dirty="0">
                <a:sym typeface="Wingdings" panose="05000000000000000000" pitchFamily="2" charset="2"/>
              </a:rPr>
              <a:t>then</a:t>
            </a:r>
            <a:endParaRPr lang="en-US" altLang="zh-CN" sz="2000" b="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4.		N[y]1</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5.		key(y)c[1,y]</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6.		INSERT(H,y)</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7.     </a:t>
            </a:r>
            <a:r>
              <a:rPr lang="en-US" altLang="zh-CN" sz="2000" b="1" dirty="0">
                <a:sym typeface="Wingdings" panose="05000000000000000000" pitchFamily="2" charset="2"/>
              </a:rPr>
              <a:t>else</a:t>
            </a:r>
            <a:r>
              <a:rPr lang="en-US" altLang="zh-CN" sz="2000" dirty="0">
                <a:sym typeface="Wingdings" panose="05000000000000000000" pitchFamily="2" charset="2"/>
              </a:rPr>
              <a:t> key(y)</a:t>
            </a:r>
            <a:r>
              <a:rPr lang="en-US" altLang="zh-CN" sz="2000" dirty="0">
                <a:sym typeface="Symbol" panose="05050102010706020507" pitchFamily="18" charset="2"/>
              </a:rPr>
              <a:t>∞</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8.	    </a:t>
            </a:r>
            <a:r>
              <a:rPr lang="en-US" altLang="zh-CN" sz="2000" b="1" dirty="0">
                <a:sym typeface="Symbol" panose="05050102010706020507" pitchFamily="18" charset="2"/>
              </a:rPr>
              <a:t>end if</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9. </a:t>
            </a:r>
            <a:r>
              <a:rPr lang="en-US" altLang="zh-CN" sz="2000" b="1" dirty="0">
                <a:sym typeface="Symbol" panose="05050102010706020507" pitchFamily="18" charset="2"/>
              </a:rPr>
              <a:t>end for</a:t>
            </a:r>
            <a:r>
              <a:rPr lang="en-US" altLang="zh-CN" sz="2000" dirty="0">
                <a:sym typeface="Symbol" panose="05050102010706020507" pitchFamily="18" charset="2"/>
              </a:rPr>
              <a:t>                                                              </a:t>
            </a:r>
            <a:r>
              <a:rPr lang="en-US" altLang="zh-CN" sz="2000" dirty="0">
                <a:solidFill>
                  <a:srgbClr val="EB0000"/>
                </a:solidFill>
                <a:sym typeface="Symbol" panose="05050102010706020507" pitchFamily="18" charset="2"/>
              </a:rPr>
              <a:t>NEXT PAGE</a:t>
            </a:r>
            <a:endParaRPr lang="en-US" altLang="zh-CN" sz="2000" dirty="0">
              <a:solidFill>
                <a:srgbClr val="EB0000"/>
              </a:solidFill>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0963" name="Rectangle 3"/>
          <p:cNvSpPr>
            <a:spLocks noGrp="1"/>
          </p:cNvSpPr>
          <p:nvPr>
            <p:ph type="body" sz="half" idx="1"/>
          </p:nvPr>
        </p:nvSpPr>
        <p:spPr>
          <a:xfrm>
            <a:off x="457200" y="620713"/>
            <a:ext cx="8291513" cy="5357812"/>
          </a:xfrm>
          <a:solidFill>
            <a:schemeClr val="bg1">
              <a:alpha val="100000"/>
            </a:schemeClr>
          </a:solidFill>
        </p:spPr>
        <p:txBody>
          <a:bodyPr vert="horz" wrap="square" lIns="91440" tIns="45720" rIns="91440" bIns="45720" anchor="t" anchorCtr="0"/>
          <a:lstStyle/>
          <a:p>
            <a:pPr lvl="1" eaLnBrk="1" hangingPunct="1">
              <a:lnSpc>
                <a:spcPct val="90000"/>
              </a:lnSpc>
              <a:buNone/>
            </a:pPr>
            <a:r>
              <a:rPr lang="en-US" altLang="zh-CN" sz="2500" dirty="0">
                <a:latin typeface="Times New Roman" panose="02020603050405020304" pitchFamily="18" charset="0"/>
              </a:rPr>
              <a:t>	 </a:t>
            </a:r>
            <a:r>
              <a:rPr lang="zh-CN" altLang="en-US" sz="2500" dirty="0">
                <a:latin typeface="Times New Roman" panose="02020603050405020304" pitchFamily="18" charset="0"/>
              </a:rPr>
              <a:t>算法</a:t>
            </a:r>
            <a:r>
              <a:rPr lang="en-US" altLang="zh-CN" sz="2500" b="1" dirty="0">
                <a:latin typeface="Times New Roman" panose="02020603050405020304" pitchFamily="18" charset="0"/>
              </a:rPr>
              <a:t> MST</a:t>
            </a:r>
            <a:endParaRPr lang="en-US" altLang="zh-CN" sz="2500" dirty="0">
              <a:latin typeface="Times New Roman" panose="02020603050405020304" pitchFamily="18" charset="0"/>
            </a:endParaRPr>
          </a:p>
          <a:p>
            <a:pPr lvl="1" eaLnBrk="1" hangingPunct="1">
              <a:lnSpc>
                <a:spcPct val="90000"/>
              </a:lnSpc>
              <a:buNone/>
            </a:pPr>
            <a:endParaRPr lang="en-US" altLang="zh-CN" sz="2500" dirty="0">
              <a:latin typeface="Times New Roman" panose="02020603050405020304" pitchFamily="18" charset="0"/>
            </a:endParaRPr>
          </a:p>
          <a:p>
            <a:pPr lvl="1" eaLnBrk="1" hangingPunct="1">
              <a:lnSpc>
                <a:spcPct val="90000"/>
              </a:lnSpc>
              <a:buNone/>
            </a:pPr>
            <a:r>
              <a:rPr lang="en-US" altLang="zh-CN" sz="2000" dirty="0"/>
              <a:t>    10.</a:t>
            </a:r>
            <a:r>
              <a:rPr lang="en-US" altLang="zh-CN" sz="2000" b="1" dirty="0"/>
              <a:t> for</a:t>
            </a:r>
            <a:r>
              <a:rPr lang="en-US" altLang="zh-CN" sz="2000" dirty="0"/>
              <a:t> j</a:t>
            </a:r>
            <a:r>
              <a:rPr lang="en-US" altLang="zh-CN" sz="2000" dirty="0">
                <a:sym typeface="Wingdings" panose="05000000000000000000" pitchFamily="2" charset="2"/>
              </a:rPr>
              <a:t>1 </a:t>
            </a:r>
            <a:r>
              <a:rPr lang="en-US" altLang="zh-CN" sz="2000" b="1" dirty="0">
                <a:sym typeface="Wingdings" panose="05000000000000000000" pitchFamily="2" charset="2"/>
              </a:rPr>
              <a:t>to</a:t>
            </a:r>
            <a:r>
              <a:rPr lang="en-US" altLang="zh-CN" sz="2000" dirty="0">
                <a:sym typeface="Wingdings" panose="05000000000000000000" pitchFamily="2" charset="2"/>
              </a:rPr>
              <a:t> n-1                     {</a:t>
            </a:r>
            <a:r>
              <a:rPr lang="zh-CN" altLang="en-US" sz="2000" dirty="0">
                <a:sym typeface="Wingdings" panose="05000000000000000000" pitchFamily="2" charset="2"/>
              </a:rPr>
              <a:t>查找</a:t>
            </a:r>
            <a:r>
              <a:rPr lang="en-US" altLang="zh-CN" sz="2000" dirty="0">
                <a:sym typeface="Wingdings" panose="05000000000000000000" pitchFamily="2" charset="2"/>
              </a:rPr>
              <a:t>n-1 </a:t>
            </a:r>
            <a:r>
              <a:rPr lang="zh-CN" altLang="en-US" sz="2000" dirty="0">
                <a:sym typeface="Wingdings" panose="05000000000000000000" pitchFamily="2" charset="2"/>
              </a:rPr>
              <a:t>条边</a:t>
            </a:r>
            <a:r>
              <a:rPr lang="en-US" altLang="zh-CN" sz="2000" dirty="0">
                <a:sym typeface="Wingdings" panose="05000000000000000000" pitchFamily="2" charset="2"/>
              </a:rPr>
              <a:t>}</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11.      yDELETEMIN(H)</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12.      TT</a:t>
            </a:r>
            <a:r>
              <a:rPr lang="en-US" altLang="zh-CN" sz="2000" dirty="0">
                <a:sym typeface="Symbol" panose="05050102010706020507" pitchFamily="18" charset="2"/>
              </a:rPr>
              <a:t>∪{(y,N|y|)}             {</a:t>
            </a:r>
            <a:r>
              <a:rPr lang="zh-CN" altLang="en-US" sz="2000" dirty="0">
                <a:sym typeface="Symbol" panose="05050102010706020507" pitchFamily="18" charset="2"/>
              </a:rPr>
              <a:t>添加边</a:t>
            </a:r>
            <a:r>
              <a:rPr lang="en-US" altLang="zh-CN" sz="2000" dirty="0">
                <a:sym typeface="Symbol" panose="05050102010706020507" pitchFamily="18" charset="2"/>
              </a:rPr>
              <a:t>(y,N|y|)</a:t>
            </a:r>
            <a:r>
              <a:rPr lang="zh-CN" altLang="en-US" sz="2000" dirty="0">
                <a:sym typeface="Symbol" panose="05050102010706020507" pitchFamily="18" charset="2"/>
              </a:rPr>
              <a:t>到</a:t>
            </a:r>
            <a:r>
              <a:rPr lang="en-US" altLang="zh-CN" sz="2000" dirty="0">
                <a:sym typeface="Symbol" panose="05050102010706020507" pitchFamily="18" charset="2"/>
              </a:rPr>
              <a:t>T}</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13.      Y</a:t>
            </a:r>
            <a:r>
              <a:rPr lang="en-US" altLang="zh-CN" sz="2000" dirty="0">
                <a:sym typeface="Wingdings" panose="05000000000000000000" pitchFamily="2" charset="2"/>
              </a:rPr>
              <a:t>Y-{y}                         {</a:t>
            </a:r>
            <a:r>
              <a:rPr lang="zh-CN" altLang="en-US" sz="2000" dirty="0">
                <a:sym typeface="Wingdings" panose="05000000000000000000" pitchFamily="2" charset="2"/>
              </a:rPr>
              <a:t>从</a:t>
            </a:r>
            <a:r>
              <a:rPr lang="en-US" altLang="zh-CN" sz="2000" dirty="0">
                <a:sym typeface="Wingdings" panose="05000000000000000000" pitchFamily="2" charset="2"/>
              </a:rPr>
              <a:t>Y</a:t>
            </a:r>
            <a:r>
              <a:rPr lang="zh-CN" altLang="en-US" sz="2000" dirty="0">
                <a:sym typeface="Wingdings" panose="05000000000000000000" pitchFamily="2" charset="2"/>
              </a:rPr>
              <a:t>删除顶点</a:t>
            </a:r>
            <a:r>
              <a:rPr lang="en-US" altLang="zh-CN" sz="2000" dirty="0">
                <a:sym typeface="Wingdings" panose="05000000000000000000" pitchFamily="2" charset="2"/>
              </a:rPr>
              <a:t>y}</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14.      </a:t>
            </a:r>
            <a:r>
              <a:rPr lang="en-US" altLang="zh-CN" sz="2000" b="1" dirty="0">
                <a:sym typeface="Wingdings" panose="05000000000000000000" pitchFamily="2" charset="2"/>
              </a:rPr>
              <a:t>for</a:t>
            </a:r>
            <a:r>
              <a:rPr lang="en-US" altLang="zh-CN" sz="2000" dirty="0">
                <a:sym typeface="Wingdings" panose="05000000000000000000" pitchFamily="2" charset="2"/>
              </a:rPr>
              <a:t> </a:t>
            </a:r>
            <a:r>
              <a:rPr lang="en-US" altLang="zh-CN" sz="2000" dirty="0">
                <a:sym typeface="Symbol" panose="05050102010706020507" pitchFamily="18" charset="2"/>
              </a:rPr>
              <a:t> </a:t>
            </a:r>
            <a:r>
              <a:rPr lang="zh-CN" altLang="en-US" sz="2000" dirty="0">
                <a:sym typeface="Symbol" panose="05050102010706020507" pitchFamily="18" charset="2"/>
              </a:rPr>
              <a:t>每个邻接于</a:t>
            </a:r>
            <a:r>
              <a:rPr lang="en-US" altLang="zh-CN" sz="2000" dirty="0">
                <a:sym typeface="Symbol" panose="05050102010706020507" pitchFamily="18" charset="2"/>
              </a:rPr>
              <a:t>y</a:t>
            </a:r>
            <a:r>
              <a:rPr lang="zh-CN" altLang="en-US" sz="2000" dirty="0">
                <a:sym typeface="Symbol" panose="05050102010706020507" pitchFamily="18" charset="2"/>
              </a:rPr>
              <a:t>的顶点</a:t>
            </a:r>
            <a:r>
              <a:rPr lang="en-US" altLang="zh-CN" sz="2000" dirty="0">
                <a:sym typeface="Symbol" panose="05050102010706020507" pitchFamily="18" charset="2"/>
              </a:rPr>
              <a:t>w∈ Y</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15.           </a:t>
            </a:r>
            <a:r>
              <a:rPr lang="en-US" altLang="zh-CN" sz="2000" b="1" dirty="0">
                <a:sym typeface="Symbol" panose="05050102010706020507" pitchFamily="18" charset="2"/>
              </a:rPr>
              <a:t>if</a:t>
            </a:r>
            <a:r>
              <a:rPr lang="en-US" altLang="zh-CN" sz="2000" dirty="0">
                <a:sym typeface="Symbol" panose="05050102010706020507" pitchFamily="18" charset="2"/>
              </a:rPr>
              <a:t> c[y,w]&lt;key(w)  </a:t>
            </a:r>
            <a:r>
              <a:rPr lang="en-US" altLang="zh-CN" sz="2000" b="1" dirty="0">
                <a:sym typeface="Symbol" panose="05050102010706020507" pitchFamily="18" charset="2"/>
              </a:rPr>
              <a:t>then</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16.               N[w]</a:t>
            </a:r>
            <a:r>
              <a:rPr lang="en-US" altLang="zh-CN" sz="2000" dirty="0">
                <a:sym typeface="Wingdings" panose="05000000000000000000" pitchFamily="2" charset="2"/>
              </a:rPr>
              <a:t>y</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17.	    key(w)c[y,w]</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18.	</a:t>
            </a:r>
            <a:r>
              <a:rPr lang="en-US" altLang="zh-CN" sz="2000" b="1" dirty="0">
                <a:sym typeface="Wingdings" panose="05000000000000000000" pitchFamily="2" charset="2"/>
              </a:rPr>
              <a:t>end if</a:t>
            </a:r>
            <a:endParaRPr lang="en-US" altLang="zh-CN" sz="2000" b="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19.	</a:t>
            </a:r>
            <a:r>
              <a:rPr lang="en-US" altLang="zh-CN" sz="2000" b="1" dirty="0">
                <a:sym typeface="Wingdings" panose="05000000000000000000" pitchFamily="2" charset="2"/>
              </a:rPr>
              <a:t>if</a:t>
            </a:r>
            <a:r>
              <a:rPr lang="en-US" altLang="zh-CN" sz="2000" dirty="0">
                <a:sym typeface="Wingdings" panose="05000000000000000000" pitchFamily="2" charset="2"/>
              </a:rPr>
              <a:t> w     H </a:t>
            </a:r>
            <a:r>
              <a:rPr lang="en-US" altLang="zh-CN" sz="2000" b="1" dirty="0">
                <a:sym typeface="Wingdings" panose="05000000000000000000" pitchFamily="2" charset="2"/>
              </a:rPr>
              <a:t>then</a:t>
            </a:r>
            <a:r>
              <a:rPr lang="en-US" altLang="zh-CN" sz="2000" dirty="0">
                <a:sym typeface="Wingdings" panose="05000000000000000000" pitchFamily="2" charset="2"/>
              </a:rPr>
              <a:t> INSERT(H,w)</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20.	</a:t>
            </a:r>
            <a:r>
              <a:rPr lang="en-US" altLang="zh-CN" sz="2000" b="1" dirty="0">
                <a:sym typeface="Wingdings" panose="05000000000000000000" pitchFamily="2" charset="2"/>
              </a:rPr>
              <a:t>else</a:t>
            </a:r>
            <a:r>
              <a:rPr lang="en-US" altLang="zh-CN" sz="2000" dirty="0">
                <a:sym typeface="Wingdings" panose="05000000000000000000" pitchFamily="2" charset="2"/>
              </a:rPr>
              <a:t> SIFTUP(H,H</a:t>
            </a:r>
            <a:r>
              <a:rPr lang="en-US" altLang="zh-CN" sz="2000" baseline="30000" dirty="0">
                <a:sym typeface="Wingdings" panose="05000000000000000000" pitchFamily="2" charset="2"/>
              </a:rPr>
              <a:t>-1</a:t>
            </a:r>
            <a:r>
              <a:rPr lang="en-US" altLang="zh-CN" sz="2000" dirty="0">
                <a:sym typeface="Wingdings" panose="05000000000000000000" pitchFamily="2" charset="2"/>
              </a:rPr>
              <a:t>(w))</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21.        end for</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22. </a:t>
            </a:r>
            <a:r>
              <a:rPr lang="en-US" altLang="zh-CN" sz="2000" b="1" dirty="0">
                <a:sym typeface="Wingdings" panose="05000000000000000000" pitchFamily="2" charset="2"/>
              </a:rPr>
              <a:t>end for</a:t>
            </a:r>
            <a:endParaRPr lang="en-US" altLang="zh-CN" sz="2000" b="1" dirty="0">
              <a:sym typeface="Wingdings" panose="05000000000000000000" pitchFamily="2" charset="2"/>
            </a:endParaRPr>
          </a:p>
        </p:txBody>
      </p:sp>
      <p:graphicFrame>
        <p:nvGraphicFramePr>
          <p:cNvPr id="40964" name="Object 4"/>
          <p:cNvGraphicFramePr>
            <a:graphicFrameLocks noGrp="1" noChangeAspect="1"/>
          </p:cNvGraphicFramePr>
          <p:nvPr>
            <p:ph sz="half" idx="2"/>
          </p:nvPr>
        </p:nvGraphicFramePr>
        <p:xfrm>
          <a:off x="2843213" y="4437063"/>
          <a:ext cx="225425" cy="287337"/>
        </p:xfrm>
        <a:graphic>
          <a:graphicData uri="http://schemas.openxmlformats.org/presentationml/2006/ole">
            <mc:AlternateContent xmlns:mc="http://schemas.openxmlformats.org/markup-compatibility/2006">
              <mc:Choice xmlns:v="urn:schemas-microsoft-com:vml" Requires="v">
                <p:oleObj spid="_x0000_s3135" name="" r:id="rId1" imgW="127000" imgH="152400" progId="Equation.3">
                  <p:embed/>
                </p:oleObj>
              </mc:Choice>
              <mc:Fallback>
                <p:oleObj name="" r:id="rId1" imgW="127000" imgH="152400" progId="Equation.3">
                  <p:embed/>
                  <p:pic>
                    <p:nvPicPr>
                      <p:cNvPr id="0" name="图片 3079"/>
                      <p:cNvPicPr/>
                      <p:nvPr/>
                    </p:nvPicPr>
                    <p:blipFill>
                      <a:blip r:embed="rId2"/>
                      <a:srcRect/>
                      <a:stretch>
                        <a:fillRect/>
                      </a:stretch>
                    </p:blipFill>
                    <p:spPr>
                      <a:xfrm>
                        <a:off x="2843213" y="4437063"/>
                        <a:ext cx="225425" cy="287337"/>
                      </a:xfrm>
                      <a:prstGeom prst="rect">
                        <a:avLst/>
                      </a:prstGeom>
                      <a:noFill/>
                      <a:ln w="38100">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3011" name="Rectangle 2"/>
          <p:cNvSpPr>
            <a:spLocks noGrp="1"/>
          </p:cNvSpPr>
          <p:nvPr>
            <p:ph type="title"/>
          </p:nvPr>
        </p:nvSpPr>
        <p:spPr/>
        <p:txBody>
          <a:bodyPr vert="horz" wrap="square" lIns="91440" tIns="45720" rIns="91440" bIns="45720" anchor="ctr" anchorCtr="0"/>
          <a:lstStyle/>
          <a:p>
            <a:pPr eaLnBrk="1" hangingPunct="1"/>
            <a:r>
              <a:rPr lang="en-US" altLang="zh-CN" dirty="0"/>
              <a:t>5.1.1 Prim</a:t>
            </a:r>
            <a:r>
              <a:rPr lang="zh-CN" altLang="en-US" dirty="0"/>
              <a:t>算法</a:t>
            </a:r>
            <a:r>
              <a:rPr lang="en-US" altLang="zh-CN" dirty="0"/>
              <a:t>——</a:t>
            </a:r>
            <a:r>
              <a:rPr lang="zh-CN" altLang="en-US" dirty="0"/>
              <a:t>算法分析</a:t>
            </a:r>
            <a:endParaRPr lang="en-US" altLang="zh-CN" dirty="0"/>
          </a:p>
        </p:txBody>
      </p:sp>
      <p:sp>
        <p:nvSpPr>
          <p:cNvPr id="74755"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给出一个含权无向图</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，算法</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MST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400" b="0" i="0" u="none" strike="noStrike" kern="0" cap="none" spc="0" normalizeH="0" baseline="0" noProof="0" dirty="0" err="1">
                <a:ln>
                  <a:noFill/>
                </a:ln>
                <a:solidFill>
                  <a:schemeClr val="accent2"/>
                </a:solidFill>
                <a:effectLst/>
                <a:uLnTx/>
                <a:uFillTx/>
                <a:latin typeface="+mn-lt"/>
                <a:ea typeface="+mn-ea"/>
                <a:cs typeface="+mn-ea"/>
              </a:rPr>
              <a:t>mlogn</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时间内找出最小耗费生成树。如果图是稠密的，即如果时于某个</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ε&gt;0, </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m </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n</a:t>
            </a:r>
            <a:r>
              <a:rPr kumimoji="0" lang="en-US" altLang="zh-CN" sz="2400" b="0" i="0" u="none" strike="noStrike" kern="0" cap="none" spc="0" normalizeH="0" baseline="30000" noProof="0" dirty="0">
                <a:ln>
                  <a:noFill/>
                </a:ln>
                <a:solidFill>
                  <a:schemeClr val="accent2"/>
                </a:solidFill>
                <a:effectLst/>
                <a:uLnTx/>
                <a:uFillTx/>
                <a:latin typeface="+mn-lt"/>
                <a:ea typeface="+mn-ea"/>
                <a:cs typeface="+mn-ea"/>
                <a:sym typeface="Symbol" panose="05050102010706020507" pitchFamily="18" charset="2"/>
              </a:rPr>
              <a:t>1+ε</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，那么它可以被进一步改进为在</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O(m/</a:t>
            </a:r>
            <a:r>
              <a:rPr kumimoji="0" lang="en-US" altLang="zh-CN" sz="24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ε</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时间内运行。</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pic>
        <p:nvPicPr>
          <p:cNvPr id="74756" name="Picture 4" descr="theorem"/>
          <p:cNvPicPr>
            <a:picLocks noChangeAspect="1"/>
          </p:cNvPicPr>
          <p:nvPr/>
        </p:nvPicPr>
        <p:blipFill>
          <a:blip r:embed="rId1"/>
          <a:stretch>
            <a:fillRect/>
          </a:stretch>
        </p:blipFill>
        <p:spPr>
          <a:xfrm>
            <a:off x="900113" y="1341438"/>
            <a:ext cx="504825" cy="2889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74756"/>
                                        </p:tgtEl>
                                        <p:attrNameLst>
                                          <p:attrName>style.visibility</p:attrName>
                                        </p:attrNameLst>
                                      </p:cBhvr>
                                      <p:to>
                                        <p:strVal val="visible"/>
                                      </p:to>
                                    </p:set>
                                    <p:anim calcmode="lin" valueType="num">
                                      <p:cBhvr>
                                        <p:cTn id="7" dur="5000" fill="hold"/>
                                        <p:tgtEl>
                                          <p:spTgt spid="74756"/>
                                        </p:tgtEl>
                                        <p:attrNameLst>
                                          <p:attrName>ppt_w</p:attrName>
                                        </p:attrNameLst>
                                      </p:cBhvr>
                                      <p:tavLst>
                                        <p:tav tm="0" fmla="#ppt_w*sin(2.5*pi*$)">
                                          <p:val>
                                            <p:fltVal val="0"/>
                                          </p:val>
                                        </p:tav>
                                        <p:tav tm="100000">
                                          <p:val>
                                            <p:fltVal val="1"/>
                                          </p:val>
                                        </p:tav>
                                      </p:tavLst>
                                    </p:anim>
                                    <p:anim calcmode="lin" valueType="num">
                                      <p:cBhvr>
                                        <p:cTn id="8" dur="5000" fill="hold"/>
                                        <p:tgtEl>
                                          <p:spTgt spid="747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74755">
                                            <p:txEl>
                                              <p:charRg st="0" end="7"/>
                                            </p:txEl>
                                          </p:spTgt>
                                        </p:tgtEl>
                                        <p:attrNameLst>
                                          <p:attrName>style.visibility</p:attrName>
                                        </p:attrNameLst>
                                      </p:cBhvr>
                                      <p:to>
                                        <p:strVal val="visible"/>
                                      </p:to>
                                    </p:set>
                                    <p:animEffect transition="in" filter="blinds(horizontal)">
                                      <p:cBhvr>
                                        <p:cTn id="11" dur="500"/>
                                        <p:tgtEl>
                                          <p:spTgt spid="74755">
                                            <p:txEl>
                                              <p:charRg st="0"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9" presetClass="entr" presetSubtype="0" decel="100000" fill="hold" nodeType="clickEffect">
                                  <p:stCondLst>
                                    <p:cond delay="0"/>
                                  </p:stCondLst>
                                  <p:childTnLst>
                                    <p:set>
                                      <p:cBhvr>
                                        <p:cTn id="15" dur="1" fill="hold">
                                          <p:stCondLst>
                                            <p:cond delay="0"/>
                                          </p:stCondLst>
                                        </p:cTn>
                                        <p:tgtEl>
                                          <p:spTgt spid="74755">
                                            <p:txEl>
                                              <p:charRg st="8" end="98"/>
                                            </p:txEl>
                                          </p:spTgt>
                                        </p:tgtEl>
                                        <p:attrNameLst>
                                          <p:attrName>style.visibility</p:attrName>
                                        </p:attrNameLst>
                                      </p:cBhvr>
                                      <p:to>
                                        <p:strVal val="visible"/>
                                      </p:to>
                                    </p:set>
                                    <p:anim calcmode="lin" valueType="num">
                                      <p:cBhvr>
                                        <p:cTn id="16" dur="500" fill="hold"/>
                                        <p:tgtEl>
                                          <p:spTgt spid="74755">
                                            <p:txEl>
                                              <p:charRg st="8" end="98"/>
                                            </p:txEl>
                                          </p:spTgt>
                                        </p:tgtEl>
                                        <p:attrNameLst>
                                          <p:attrName>ppt_w</p:attrName>
                                        </p:attrNameLst>
                                      </p:cBhvr>
                                      <p:tavLst>
                                        <p:tav tm="0">
                                          <p:val>
                                            <p:fltVal val="0"/>
                                          </p:val>
                                        </p:tav>
                                        <p:tav tm="100000">
                                          <p:val>
                                            <p:strVal val="#ppt_w"/>
                                          </p:val>
                                        </p:tav>
                                      </p:tavLst>
                                    </p:anim>
                                    <p:anim calcmode="lin" valueType="num">
                                      <p:cBhvr>
                                        <p:cTn id="17" dur="500" fill="hold"/>
                                        <p:tgtEl>
                                          <p:spTgt spid="74755">
                                            <p:txEl>
                                              <p:charRg st="8" end="98"/>
                                            </p:txEl>
                                          </p:spTgt>
                                        </p:tgtEl>
                                        <p:attrNameLst>
                                          <p:attrName>ppt_h</p:attrName>
                                        </p:attrNameLst>
                                      </p:cBhvr>
                                      <p:tavLst>
                                        <p:tav tm="0">
                                          <p:val>
                                            <p:fltVal val="0"/>
                                          </p:val>
                                        </p:tav>
                                        <p:tav tm="100000">
                                          <p:val>
                                            <p:strVal val="#ppt_h"/>
                                          </p:val>
                                        </p:tav>
                                      </p:tavLst>
                                    </p:anim>
                                    <p:anim calcmode="lin" valueType="num">
                                      <p:cBhvr>
                                        <p:cTn id="18" dur="500" fill="hold"/>
                                        <p:tgtEl>
                                          <p:spTgt spid="74755">
                                            <p:txEl>
                                              <p:charRg st="8" end="98"/>
                                            </p:txEl>
                                          </p:spTgt>
                                        </p:tgtEl>
                                        <p:attrNameLst>
                                          <p:attrName>style.rotation</p:attrName>
                                        </p:attrNameLst>
                                      </p:cBhvr>
                                      <p:tavLst>
                                        <p:tav tm="0">
                                          <p:val>
                                            <p:fltVal val="360"/>
                                          </p:val>
                                        </p:tav>
                                        <p:tav tm="100000">
                                          <p:val>
                                            <p:fltVal val="0"/>
                                          </p:val>
                                        </p:tav>
                                      </p:tavLst>
                                    </p:anim>
                                    <p:animEffect transition="in" filter="fade">
                                      <p:cBhvr>
                                        <p:cTn id="19" dur="500"/>
                                        <p:tgtEl>
                                          <p:spTgt spid="74755">
                                            <p:txEl>
                                              <p:charRg st="8" end="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5059"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zh-CN" altLang="en-US" dirty="0"/>
              <a:t>单源点最短路径问题</a:t>
            </a:r>
            <a:endParaRPr lang="en-US" altLang="zh-CN" dirty="0"/>
          </a:p>
        </p:txBody>
      </p:sp>
      <p:sp>
        <p:nvSpPr>
          <p:cNvPr id="45060" name="Rectangle 3"/>
          <p:cNvSpPr>
            <a:spLocks noGrp="1"/>
          </p:cNvSpPr>
          <p:nvPr>
            <p:ph idx="1"/>
          </p:nvPr>
        </p:nvSpPr>
        <p:spPr/>
        <p:txBody>
          <a:bodyPr vert="horz" wrap="square" lIns="91440" tIns="45720" rIns="91440" bIns="45720" anchor="t" anchorCtr="0"/>
          <a:lstStyle/>
          <a:p>
            <a:pPr eaLnBrk="1" hangingPunct="1">
              <a:lnSpc>
                <a:spcPct val="90000"/>
              </a:lnSpc>
              <a:buNone/>
            </a:pPr>
            <a:r>
              <a:rPr lang="en-US" altLang="zh-CN" dirty="0"/>
              <a:t>       </a:t>
            </a:r>
            <a:r>
              <a:rPr lang="zh-CN" altLang="en-US" dirty="0"/>
              <a:t>问题描述</a:t>
            </a:r>
            <a:r>
              <a:rPr lang="en-US" altLang="zh-CN" dirty="0"/>
              <a:t>:</a:t>
            </a:r>
            <a:endParaRPr lang="en-US" altLang="zh-CN" dirty="0"/>
          </a:p>
          <a:p>
            <a:pPr eaLnBrk="1" hangingPunct="1">
              <a:lnSpc>
                <a:spcPct val="90000"/>
              </a:lnSpc>
            </a:pPr>
            <a:endParaRPr lang="en-US" altLang="zh-CN" sz="500" dirty="0"/>
          </a:p>
          <a:p>
            <a:pPr lvl="1" eaLnBrk="1" hangingPunct="1">
              <a:lnSpc>
                <a:spcPct val="90000"/>
              </a:lnSpc>
            </a:pPr>
            <a:r>
              <a:rPr lang="zh-CN" altLang="en-US" dirty="0">
                <a:latin typeface="Times New Roman" panose="02020603050405020304" pitchFamily="18" charset="0"/>
                <a:ea typeface="华文楷体" panose="02010600040101010101" pitchFamily="2" charset="-122"/>
              </a:rPr>
              <a:t>设</a:t>
            </a:r>
            <a:r>
              <a:rPr lang="en-US" altLang="zh-CN" i="1" dirty="0">
                <a:latin typeface="Times New Roman" panose="02020603050405020304" pitchFamily="18" charset="0"/>
                <a:ea typeface="华文楷体" panose="02010600040101010101" pitchFamily="2" charset="-122"/>
              </a:rPr>
              <a:t>G = (V, E)</a:t>
            </a:r>
            <a:r>
              <a:rPr lang="zh-CN" altLang="en-US" dirty="0">
                <a:latin typeface="Times New Roman" panose="02020603050405020304" pitchFamily="18" charset="0"/>
                <a:ea typeface="华文楷体" panose="02010600040101010101" pitchFamily="2" charset="-122"/>
              </a:rPr>
              <a:t>是一个每条边有非负长度的有向图，有一个</a:t>
            </a:r>
            <a:r>
              <a:rPr lang="zh-CN" altLang="en-US" dirty="0">
                <a:solidFill>
                  <a:srgbClr val="FF0000"/>
                </a:solidFill>
                <a:latin typeface="Times New Roman" panose="02020603050405020304" pitchFamily="18" charset="0"/>
                <a:ea typeface="华文楷体" panose="02010600040101010101" pitchFamily="2" charset="-122"/>
              </a:rPr>
              <a:t>特异顶点</a:t>
            </a:r>
            <a:r>
              <a:rPr lang="en-US" altLang="zh-CN" dirty="0">
                <a:solidFill>
                  <a:srgbClr val="FF0000"/>
                </a:solidFill>
                <a:latin typeface="Times New Roman" panose="02020603050405020304" pitchFamily="18" charset="0"/>
                <a:ea typeface="华文楷体" panose="02010600040101010101" pitchFamily="2" charset="-122"/>
              </a:rPr>
              <a:t>s</a:t>
            </a:r>
            <a:r>
              <a:rPr lang="zh-CN" altLang="en-US" dirty="0">
                <a:solidFill>
                  <a:srgbClr val="FF0000"/>
                </a:solidFill>
                <a:latin typeface="Times New Roman" panose="02020603050405020304" pitchFamily="18" charset="0"/>
                <a:ea typeface="华文楷体" panose="02010600040101010101" pitchFamily="2" charset="-122"/>
              </a:rPr>
              <a:t>称为源</a:t>
            </a:r>
            <a:r>
              <a:rPr lang="zh-CN" altLang="en-US"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lvl="1" eaLnBrk="1" hangingPunct="1">
              <a:lnSpc>
                <a:spcPct val="90000"/>
              </a:lnSpc>
            </a:pPr>
            <a:endParaRPr lang="en-US" altLang="zh-CN" dirty="0">
              <a:latin typeface="Times New Roman" panose="02020603050405020304" pitchFamily="18" charset="0"/>
              <a:ea typeface="华文楷体" panose="02010600040101010101" pitchFamily="2" charset="-122"/>
            </a:endParaRPr>
          </a:p>
          <a:p>
            <a:pPr lvl="1" eaLnBrk="1" hangingPunct="1">
              <a:lnSpc>
                <a:spcPct val="90000"/>
              </a:lnSpc>
            </a:pPr>
            <a:r>
              <a:rPr lang="zh-CN" altLang="en-US" dirty="0">
                <a:solidFill>
                  <a:srgbClr val="FF0000"/>
                </a:solidFill>
                <a:latin typeface="Times New Roman" panose="02020603050405020304" pitchFamily="18" charset="0"/>
                <a:ea typeface="华文楷体" panose="02010600040101010101" pitchFamily="2" charset="-122"/>
              </a:rPr>
              <a:t>单源最短路径问题</a:t>
            </a:r>
            <a:r>
              <a:rPr lang="zh-CN" altLang="en-US" dirty="0">
                <a:latin typeface="Times New Roman" panose="02020603050405020304" pitchFamily="18" charset="0"/>
                <a:ea typeface="华文楷体" panose="02010600040101010101" pitchFamily="2" charset="-122"/>
              </a:rPr>
              <a:t>，或者简称为</a:t>
            </a:r>
            <a:r>
              <a:rPr lang="zh-CN" altLang="en-US" dirty="0">
                <a:solidFill>
                  <a:srgbClr val="FF0000"/>
                </a:solidFill>
                <a:latin typeface="Times New Roman" panose="02020603050405020304" pitchFamily="18" charset="0"/>
                <a:ea typeface="华文楷体" panose="02010600040101010101" pitchFamily="2" charset="-122"/>
              </a:rPr>
              <a:t>最短路径问题</a:t>
            </a:r>
            <a:r>
              <a:rPr lang="zh-CN" altLang="en-US" dirty="0">
                <a:latin typeface="Times New Roman" panose="02020603050405020304" pitchFamily="18" charset="0"/>
                <a:ea typeface="华文楷体" panose="02010600040101010101" pitchFamily="2" charset="-122"/>
              </a:rPr>
              <a:t>，是要确定从</a:t>
            </a:r>
            <a:r>
              <a:rPr lang="en-US" altLang="zh-CN" dirty="0">
                <a:latin typeface="Times New Roman" panose="02020603050405020304" pitchFamily="18" charset="0"/>
                <a:ea typeface="华文楷体" panose="02010600040101010101" pitchFamily="2" charset="-122"/>
              </a:rPr>
              <a:t>s</a:t>
            </a:r>
            <a:r>
              <a:rPr lang="zh-CN" altLang="en-US" dirty="0">
                <a:latin typeface="Times New Roman" panose="02020603050405020304" pitchFamily="18" charset="0"/>
                <a:ea typeface="华文楷体" panose="02010600040101010101" pitchFamily="2" charset="-122"/>
              </a:rPr>
              <a:t>到</a:t>
            </a:r>
            <a:r>
              <a:rPr lang="en-US" altLang="zh-CN" dirty="0">
                <a:latin typeface="Times New Roman" panose="02020603050405020304" pitchFamily="18" charset="0"/>
                <a:ea typeface="华文楷体" panose="02010600040101010101" pitchFamily="2" charset="-122"/>
              </a:rPr>
              <a:t>V</a:t>
            </a:r>
            <a:r>
              <a:rPr lang="zh-CN" altLang="en-US" dirty="0">
                <a:latin typeface="Times New Roman" panose="02020603050405020304" pitchFamily="18" charset="0"/>
                <a:ea typeface="华文楷体" panose="02010600040101010101" pitchFamily="2" charset="-122"/>
              </a:rPr>
              <a:t>中每一个其他顶点的距离，这里从顶点</a:t>
            </a:r>
            <a:r>
              <a:rPr lang="en-US" altLang="zh-CN" dirty="0">
                <a:latin typeface="Times New Roman" panose="02020603050405020304" pitchFamily="18" charset="0"/>
                <a:ea typeface="华文楷体" panose="02010600040101010101" pitchFamily="2" charset="-122"/>
              </a:rPr>
              <a:t>s</a:t>
            </a:r>
            <a:r>
              <a:rPr lang="zh-CN" altLang="en-US" dirty="0">
                <a:latin typeface="Times New Roman" panose="02020603050405020304" pitchFamily="18" charset="0"/>
                <a:ea typeface="华文楷体" panose="02010600040101010101" pitchFamily="2" charset="-122"/>
              </a:rPr>
              <a:t>到顶点</a:t>
            </a:r>
            <a:r>
              <a:rPr lang="en-US" altLang="zh-CN" dirty="0">
                <a:latin typeface="Times New Roman" panose="02020603050405020304" pitchFamily="18" charset="0"/>
                <a:ea typeface="华文楷体" panose="02010600040101010101" pitchFamily="2" charset="-122"/>
              </a:rPr>
              <a:t>x</a:t>
            </a:r>
            <a:r>
              <a:rPr lang="zh-CN" altLang="en-US" dirty="0">
                <a:latin typeface="Times New Roman" panose="02020603050405020304" pitchFamily="18" charset="0"/>
                <a:ea typeface="华文楷体" panose="02010600040101010101" pitchFamily="2" charset="-122"/>
              </a:rPr>
              <a:t>的距离定义为从</a:t>
            </a:r>
            <a:r>
              <a:rPr lang="en-US" altLang="zh-CN" dirty="0">
                <a:latin typeface="Times New Roman" panose="02020603050405020304" pitchFamily="18" charset="0"/>
                <a:ea typeface="华文楷体" panose="02010600040101010101" pitchFamily="2" charset="-122"/>
              </a:rPr>
              <a:t>s</a:t>
            </a:r>
            <a:r>
              <a:rPr lang="zh-CN" altLang="en-US" dirty="0">
                <a:latin typeface="Times New Roman" panose="02020603050405020304" pitchFamily="18" charset="0"/>
                <a:ea typeface="华文楷体" panose="02010600040101010101" pitchFamily="2" charset="-122"/>
              </a:rPr>
              <a:t>到</a:t>
            </a:r>
            <a:r>
              <a:rPr lang="en-US" altLang="zh-CN" dirty="0">
                <a:latin typeface="Times New Roman" panose="02020603050405020304" pitchFamily="18" charset="0"/>
                <a:ea typeface="华文楷体" panose="02010600040101010101" pitchFamily="2" charset="-122"/>
              </a:rPr>
              <a:t>x</a:t>
            </a:r>
            <a:r>
              <a:rPr lang="zh-CN" altLang="en-US" dirty="0">
                <a:latin typeface="Times New Roman" panose="02020603050405020304" pitchFamily="18" charset="0"/>
                <a:ea typeface="华文楷体" panose="02010600040101010101" pitchFamily="2" charset="-122"/>
              </a:rPr>
              <a:t>的最短路径的长度。</a:t>
            </a:r>
            <a:endParaRPr lang="zh-CN" altLang="en-US" dirty="0">
              <a:latin typeface="Times New Roman" panose="02020603050405020304" pitchFamily="18" charset="0"/>
              <a:ea typeface="华文楷体" panose="02010600040101010101" pitchFamily="2" charset="-122"/>
            </a:endParaRPr>
          </a:p>
          <a:p>
            <a:pPr lvl="1" eaLnBrk="1" hangingPunct="1">
              <a:lnSpc>
                <a:spcPct val="90000"/>
              </a:lnSpc>
              <a:buNone/>
            </a:pPr>
            <a:endParaRPr lang="en-US" altLang="zh-CN" dirty="0">
              <a:ea typeface="华文楷体" panose="02010600040101010101" pitchFamily="2" charset="-122"/>
            </a:endParaRPr>
          </a:p>
        </p:txBody>
      </p:sp>
      <p:pic>
        <p:nvPicPr>
          <p:cNvPr id="45061" name="Picture 4" descr="question"/>
          <p:cNvPicPr>
            <a:picLocks noChangeAspect="1"/>
          </p:cNvPicPr>
          <p:nvPr/>
        </p:nvPicPr>
        <p:blipFill>
          <a:blip r:embed="rId1"/>
          <a:stretch>
            <a:fillRect/>
          </a:stretch>
        </p:blipFill>
        <p:spPr>
          <a:xfrm>
            <a:off x="971550" y="1268413"/>
            <a:ext cx="504825" cy="50482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7107"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zh-CN" altLang="en-US" dirty="0"/>
              <a:t>单源点最短路径问题</a:t>
            </a:r>
            <a:r>
              <a:rPr lang="en-US" altLang="zh-CN" dirty="0"/>
              <a:t>——Dijkstra</a:t>
            </a:r>
            <a:r>
              <a:rPr lang="zh-CN" altLang="en-US" dirty="0"/>
              <a:t>算法基本思想</a:t>
            </a:r>
            <a:endParaRPr lang="en-US" altLang="zh-CN" dirty="0"/>
          </a:p>
        </p:txBody>
      </p:sp>
      <p:sp>
        <p:nvSpPr>
          <p:cNvPr id="12291" name="Rectangle 3"/>
          <p:cNvSpPr>
            <a:spLocks noGrp="1" noChangeArrowheads="1"/>
          </p:cNvSpPr>
          <p:nvPr>
            <p:ph idx="1"/>
          </p:nvPr>
        </p:nvSpPr>
        <p:spPr>
          <a:xfrm>
            <a:off x="827088" y="1268413"/>
            <a:ext cx="7816850" cy="482441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300" b="0" i="0" u="none" strike="noStrike" kern="0" cap="none" spc="0" normalizeH="0" baseline="0" noProof="0" dirty="0">
                <a:ln>
                  <a:noFill/>
                </a:ln>
                <a:solidFill>
                  <a:srgbClr val="FF0000"/>
                </a:solidFill>
                <a:effectLst/>
                <a:uLnTx/>
                <a:uFillTx/>
                <a:latin typeface="+mn-lt"/>
                <a:ea typeface="+mn-ea"/>
                <a:cs typeface="+mn-cs"/>
              </a:rPr>
              <a:t>贪心技术</a:t>
            </a:r>
            <a:r>
              <a:rPr kumimoji="0" lang="en-US" altLang="zh-CN" sz="2300" b="0" i="0" u="none" strike="noStrike" kern="0" cap="none" spc="0" normalizeH="0" baseline="0" noProof="0" dirty="0">
                <a:ln>
                  <a:noFill/>
                </a:ln>
                <a:solidFill>
                  <a:schemeClr val="accent2"/>
                </a:solidFill>
                <a:effectLst/>
                <a:uLnTx/>
                <a:uFillTx/>
                <a:latin typeface="+mn-lt"/>
                <a:ea typeface="+mn-ea"/>
                <a:cs typeface="+mn-cs"/>
              </a:rPr>
              <a:t>: Select the path in </a:t>
            </a:r>
            <a:r>
              <a:rPr kumimoji="0" lang="en-US" altLang="zh-CN" sz="2300" b="0" i="0" u="none" strike="noStrike" kern="0" cap="none" spc="0" normalizeH="0" baseline="0" noProof="0" dirty="0" err="1">
                <a:ln>
                  <a:noFill/>
                </a:ln>
                <a:solidFill>
                  <a:schemeClr val="accent2"/>
                </a:solidFill>
                <a:effectLst/>
                <a:uLnTx/>
                <a:uFillTx/>
                <a:latin typeface="+mn-lt"/>
                <a:ea typeface="+mn-ea"/>
                <a:cs typeface="+mn-cs"/>
              </a:rPr>
              <a:t>nonincreasing</a:t>
            </a:r>
            <a:r>
              <a:rPr kumimoji="0" lang="en-US" altLang="zh-CN" sz="2300" b="0" i="0" u="none" strike="noStrike" kern="0" cap="none" spc="0" normalizeH="0" baseline="0" noProof="0" dirty="0">
                <a:ln>
                  <a:noFill/>
                </a:ln>
                <a:solidFill>
                  <a:schemeClr val="accent2"/>
                </a:solidFill>
                <a:effectLst/>
                <a:uLnTx/>
                <a:uFillTx/>
                <a:latin typeface="+mn-lt"/>
                <a:ea typeface="+mn-ea"/>
                <a:cs typeface="+mn-cs"/>
              </a:rPr>
              <a:t> order.</a:t>
            </a:r>
            <a:endParaRPr kumimoji="0" lang="en-US" altLang="zh-CN" sz="23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为简便起见，我们假设</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V={</a:t>
            </a:r>
            <a:r>
              <a:rPr kumimoji="0" lang="en-US" altLang="zh-CN" sz="2000" b="0" i="1" u="none" strike="noStrike" kern="0" cap="none" spc="0" normalizeH="0" baseline="0" noProof="0" dirty="0">
                <a:ln>
                  <a:noFill/>
                </a:ln>
                <a:solidFill>
                  <a:schemeClr val="accent2"/>
                </a:solidFill>
                <a:effectLst/>
                <a:uLnTx/>
                <a:uFillTx/>
                <a:latin typeface="+mn-lt"/>
                <a:ea typeface="+mn-ea"/>
                <a:cs typeface="+mn-ea"/>
              </a:rPr>
              <a:t>1,2,…,n</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s=1.</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初始时，将顶点分为两个集合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 = {1}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Y = {2,3,...,n}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。这样做的目的是让</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包含这样的顶点集合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从源点到这些顶点的距离已经确定。</a:t>
            </a:r>
            <a:endParaRPr kumimoji="0" lang="zh-CN" altLang="en-US"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在每一步中，我们选定源点到它的距离己经获得的一个顶点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 ∈ Y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，并将这个顶点移到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中的每个顶点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联系的是标记</a:t>
            </a:r>
            <a:r>
              <a:rPr kumimoji="0" lang="en-US" altLang="zh-CN"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，它是只经过</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中顶点的最短路径的长度，一旦顶点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 ∈ 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移到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相邻的每个顶点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w ∈ 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的标记就被更新，这表示找到了经过</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w</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的更短路径。 </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9155" name="Rectangle 5"/>
          <p:cNvSpPr>
            <a:spLocks noGrp="1"/>
          </p:cNvSpPr>
          <p:nvPr>
            <p:ph idx="1"/>
          </p:nvPr>
        </p:nvSpPr>
        <p:spPr>
          <a:xfrm>
            <a:off x="879475" y="1052830"/>
            <a:ext cx="7148195" cy="5760720"/>
          </a:xfrm>
          <a:solidFill>
            <a:schemeClr val="bg1">
              <a:alpha val="100000"/>
            </a:schemeClr>
          </a:solidFill>
        </p:spPr>
        <p:txBody>
          <a:bodyPr vert="horz" wrap="square" lIns="91440" tIns="45720" rIns="91440" bIns="45720" anchor="t" anchorCtr="0"/>
          <a:lstStyle/>
          <a:p>
            <a:pPr eaLnBrk="1" hangingPunct="1">
              <a:lnSpc>
                <a:spcPct val="80000"/>
              </a:lnSpc>
              <a:buNone/>
            </a:pPr>
            <a:r>
              <a:rPr lang="zh-CN" altLang="en-US" sz="2400" b="1" dirty="0"/>
              <a:t>算法</a:t>
            </a:r>
            <a:r>
              <a:rPr lang="en-US" altLang="zh-CN" sz="2400" b="1" dirty="0"/>
              <a:t> DIJKSTRA</a:t>
            </a:r>
            <a:r>
              <a:rPr lang="en-US" altLang="zh-CN" sz="1900" dirty="0"/>
              <a:t> </a:t>
            </a:r>
            <a:endParaRPr lang="en-US" altLang="zh-CN" sz="1900" dirty="0"/>
          </a:p>
          <a:p>
            <a:pPr lvl="1" eaLnBrk="1" hangingPunct="1">
              <a:lnSpc>
                <a:spcPct val="80000"/>
              </a:lnSpc>
              <a:buNone/>
            </a:pPr>
            <a:endParaRPr lang="en-US" altLang="zh-CN" sz="1900" b="1" dirty="0"/>
          </a:p>
          <a:p>
            <a:pPr lvl="1" eaLnBrk="1" hangingPunct="1">
              <a:lnSpc>
                <a:spcPct val="80000"/>
              </a:lnSpc>
              <a:buNone/>
            </a:pPr>
            <a:r>
              <a:rPr lang="zh-CN" altLang="en-US" sz="1900" dirty="0"/>
              <a:t>输入</a:t>
            </a:r>
            <a:r>
              <a:rPr lang="en-US" altLang="zh-CN" sz="1900" dirty="0"/>
              <a:t>:</a:t>
            </a:r>
            <a:r>
              <a:rPr lang="zh-CN" altLang="en-US" sz="1900" dirty="0"/>
              <a:t>含权有向图</a:t>
            </a:r>
            <a:r>
              <a:rPr lang="en-US" altLang="zh-CN" sz="1900" dirty="0"/>
              <a:t>G=(V,E), where V={1,2,…,n}.</a:t>
            </a:r>
            <a:endParaRPr lang="en-US" altLang="zh-CN" sz="1900" dirty="0"/>
          </a:p>
          <a:p>
            <a:pPr lvl="1" eaLnBrk="1" hangingPunct="1">
              <a:lnSpc>
                <a:spcPct val="80000"/>
              </a:lnSpc>
              <a:buNone/>
            </a:pPr>
            <a:r>
              <a:rPr lang="zh-CN" altLang="en-US" sz="1900" dirty="0"/>
              <a:t>输出</a:t>
            </a:r>
            <a:r>
              <a:rPr lang="en-US" altLang="zh-CN" sz="1900" dirty="0"/>
              <a:t>: G</a:t>
            </a:r>
            <a:r>
              <a:rPr lang="zh-CN" altLang="en-US" sz="1900" dirty="0"/>
              <a:t>中顶点</a:t>
            </a:r>
            <a:r>
              <a:rPr lang="en-US" altLang="zh-CN" sz="1900" dirty="0"/>
              <a:t>1</a:t>
            </a:r>
            <a:r>
              <a:rPr lang="zh-CN" altLang="en-US" sz="1900" dirty="0"/>
              <a:t>到其他顶点的距离。</a:t>
            </a:r>
            <a:endParaRPr lang="en-US" altLang="zh-CN" sz="1900" dirty="0"/>
          </a:p>
          <a:p>
            <a:pPr lvl="1" eaLnBrk="1" hangingPunct="1">
              <a:lnSpc>
                <a:spcPct val="80000"/>
              </a:lnSpc>
              <a:buNone/>
            </a:pPr>
            <a:r>
              <a:rPr lang="en-US" altLang="zh-CN" sz="1900" dirty="0"/>
              <a:t>	1. </a:t>
            </a:r>
            <a:r>
              <a:rPr lang="en-US" altLang="zh-CN" sz="1900" i="1" dirty="0"/>
              <a:t>X={1};  Y</a:t>
            </a:r>
            <a:r>
              <a:rPr lang="en-US" altLang="zh-CN" sz="1900" i="1" dirty="0">
                <a:sym typeface="Wingdings" panose="05000000000000000000" pitchFamily="2" charset="2"/>
              </a:rPr>
              <a:t>V-{1}; </a:t>
            </a:r>
            <a:r>
              <a:rPr lang="en-US" altLang="zh-CN" sz="1900" i="1" dirty="0">
                <a:sym typeface="Symbol" panose="05050102010706020507" pitchFamily="18" charset="2"/>
              </a:rPr>
              <a:t>λ[1]</a:t>
            </a:r>
            <a:r>
              <a:rPr lang="en-US" altLang="zh-CN" sz="1900" i="1" dirty="0">
                <a:sym typeface="Wingdings" panose="05000000000000000000" pitchFamily="2" charset="2"/>
              </a:rPr>
              <a:t>0</a:t>
            </a:r>
            <a:endParaRPr lang="en-US" altLang="zh-CN" sz="1900" i="1"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2. </a:t>
            </a:r>
            <a:r>
              <a:rPr lang="en-US" altLang="zh-CN" sz="1900" b="1" dirty="0">
                <a:sym typeface="Wingdings" panose="05000000000000000000" pitchFamily="2" charset="2"/>
              </a:rPr>
              <a:t>for</a:t>
            </a:r>
            <a:r>
              <a:rPr lang="en-US" altLang="zh-CN" sz="1900" dirty="0">
                <a:sym typeface="Wingdings" panose="05000000000000000000" pitchFamily="2" charset="2"/>
              </a:rPr>
              <a:t> </a:t>
            </a:r>
            <a:r>
              <a:rPr lang="en-US" altLang="zh-CN" sz="1900" b="1" dirty="0">
                <a:sym typeface="Wingdings" panose="05000000000000000000" pitchFamily="2" charset="2"/>
              </a:rPr>
              <a:t>y</a:t>
            </a:r>
            <a:r>
              <a:rPr lang="en-US" altLang="zh-CN" sz="1900" dirty="0">
                <a:sym typeface="Wingdings" panose="05000000000000000000" pitchFamily="2" charset="2"/>
              </a:rPr>
              <a:t></a:t>
            </a:r>
            <a:r>
              <a:rPr lang="en-US" altLang="zh-CN" sz="1900" b="1" dirty="0">
                <a:sym typeface="Wingdings" panose="05000000000000000000" pitchFamily="2" charset="2"/>
              </a:rPr>
              <a:t>2</a:t>
            </a:r>
            <a:r>
              <a:rPr lang="en-US" altLang="zh-CN" sz="1900" dirty="0">
                <a:sym typeface="Wingdings" panose="05000000000000000000" pitchFamily="2" charset="2"/>
              </a:rPr>
              <a:t> </a:t>
            </a:r>
            <a:r>
              <a:rPr lang="en-US" altLang="zh-CN" sz="1900" b="1" dirty="0">
                <a:sym typeface="Wingdings" panose="05000000000000000000" pitchFamily="2" charset="2"/>
              </a:rPr>
              <a:t>to</a:t>
            </a:r>
            <a:r>
              <a:rPr lang="en-US" altLang="zh-CN" sz="1900" dirty="0">
                <a:sym typeface="Wingdings" panose="05000000000000000000" pitchFamily="2" charset="2"/>
              </a:rPr>
              <a:t> </a:t>
            </a:r>
            <a:r>
              <a:rPr lang="en-US" altLang="zh-CN" sz="1900" i="1" dirty="0">
                <a:sym typeface="Wingdings" panose="05000000000000000000" pitchFamily="2" charset="2"/>
              </a:rPr>
              <a:t>n</a:t>
            </a:r>
            <a:endParaRPr lang="en-US" altLang="zh-CN" sz="1900" i="1"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3. 	</a:t>
            </a:r>
            <a:r>
              <a:rPr lang="en-US" altLang="zh-CN" sz="1900" b="1" dirty="0">
                <a:sym typeface="Wingdings" panose="05000000000000000000" pitchFamily="2" charset="2"/>
              </a:rPr>
              <a:t>if</a:t>
            </a:r>
            <a:r>
              <a:rPr lang="en-US" altLang="zh-CN" sz="1900" dirty="0">
                <a:sym typeface="Wingdings" panose="05000000000000000000" pitchFamily="2" charset="2"/>
              </a:rPr>
              <a:t> y </a:t>
            </a:r>
            <a:r>
              <a:rPr lang="zh-CN" altLang="en-US" sz="1900" dirty="0">
                <a:sym typeface="Wingdings" panose="05000000000000000000" pitchFamily="2" charset="2"/>
              </a:rPr>
              <a:t>相邻于</a:t>
            </a:r>
            <a:r>
              <a:rPr lang="en-US" altLang="zh-CN" sz="1900" dirty="0">
                <a:sym typeface="Wingdings" panose="05000000000000000000" pitchFamily="2" charset="2"/>
              </a:rPr>
              <a:t> 1 </a:t>
            </a:r>
            <a:r>
              <a:rPr lang="en-US" altLang="zh-CN" sz="1900" b="1" dirty="0">
                <a:sym typeface="Wingdings" panose="05000000000000000000" pitchFamily="2" charset="2"/>
              </a:rPr>
              <a:t>then </a:t>
            </a:r>
            <a:r>
              <a:rPr lang="en-US" altLang="zh-CN" sz="1900" i="1" dirty="0">
                <a:sym typeface="Symbol" panose="05050102010706020507" pitchFamily="18" charset="2"/>
              </a:rPr>
              <a:t>λ[y]</a:t>
            </a:r>
            <a:r>
              <a:rPr lang="en-US" altLang="zh-CN" sz="1900" i="1" dirty="0">
                <a:sym typeface="Wingdings" panose="05000000000000000000" pitchFamily="2" charset="2"/>
              </a:rPr>
              <a:t>length[1,y]</a:t>
            </a:r>
            <a:endParaRPr lang="en-US" altLang="zh-CN" sz="1900" i="1"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4.	</a:t>
            </a:r>
            <a:r>
              <a:rPr lang="en-US" altLang="zh-CN" sz="1900" b="1" dirty="0">
                <a:sym typeface="Wingdings" panose="05000000000000000000" pitchFamily="2" charset="2"/>
              </a:rPr>
              <a:t>else</a:t>
            </a:r>
            <a:r>
              <a:rPr lang="en-US" altLang="zh-CN" sz="1900" dirty="0">
                <a:sym typeface="Wingdings" panose="05000000000000000000" pitchFamily="2" charset="2"/>
              </a:rPr>
              <a:t> </a:t>
            </a:r>
            <a:r>
              <a:rPr lang="en-US" altLang="zh-CN" sz="1900" i="1" dirty="0">
                <a:sym typeface="Symbol" panose="05050102010706020507" pitchFamily="18" charset="2"/>
              </a:rPr>
              <a:t>λ[y]</a:t>
            </a:r>
            <a:r>
              <a:rPr lang="en-US" altLang="zh-CN" sz="1900" i="1" dirty="0">
                <a:sym typeface="Wingdings" panose="05000000000000000000" pitchFamily="2" charset="2"/>
              </a:rPr>
              <a:t> </a:t>
            </a:r>
            <a:r>
              <a:rPr lang="en-US" altLang="zh-CN" sz="1900" i="1" dirty="0">
                <a:sym typeface="Symbol" panose="05050102010706020507" pitchFamily="18" charset="2"/>
              </a:rPr>
              <a:t>∞</a:t>
            </a:r>
            <a:endParaRPr lang="en-US" altLang="zh-CN" sz="1900" i="1" dirty="0">
              <a:sym typeface="Symbol" panose="05050102010706020507" pitchFamily="18" charset="2"/>
            </a:endParaRPr>
          </a:p>
          <a:p>
            <a:pPr lvl="1" eaLnBrk="1" hangingPunct="1">
              <a:lnSpc>
                <a:spcPct val="80000"/>
              </a:lnSpc>
              <a:buNone/>
            </a:pPr>
            <a:r>
              <a:rPr lang="en-US" altLang="zh-CN" sz="1900" dirty="0">
                <a:sym typeface="Symbol" panose="05050102010706020507" pitchFamily="18" charset="2"/>
              </a:rPr>
              <a:t>	5.	</a:t>
            </a:r>
            <a:r>
              <a:rPr lang="en-US" altLang="zh-CN" sz="1900" b="1" dirty="0">
                <a:sym typeface="Symbol" panose="05050102010706020507" pitchFamily="18" charset="2"/>
              </a:rPr>
              <a:t>end if</a:t>
            </a:r>
            <a:endParaRPr lang="en-US" altLang="zh-CN" sz="1900" b="1" dirty="0">
              <a:sym typeface="Symbol" panose="05050102010706020507" pitchFamily="18" charset="2"/>
            </a:endParaRPr>
          </a:p>
          <a:p>
            <a:pPr lvl="1" eaLnBrk="1" hangingPunct="1">
              <a:lnSpc>
                <a:spcPct val="80000"/>
              </a:lnSpc>
              <a:buNone/>
            </a:pPr>
            <a:r>
              <a:rPr lang="en-US" altLang="zh-CN" sz="1900" dirty="0">
                <a:sym typeface="Symbol" panose="05050102010706020507" pitchFamily="18" charset="2"/>
              </a:rPr>
              <a:t>	6.</a:t>
            </a:r>
            <a:r>
              <a:rPr lang="en-US" altLang="zh-CN" sz="1900" b="1" dirty="0">
                <a:sym typeface="Symbol" panose="05050102010706020507" pitchFamily="18" charset="2"/>
              </a:rPr>
              <a:t>end for</a:t>
            </a:r>
            <a:endParaRPr lang="en-US" altLang="zh-CN" sz="1900" b="1" dirty="0">
              <a:sym typeface="Symbol" panose="05050102010706020507" pitchFamily="18" charset="2"/>
            </a:endParaRPr>
          </a:p>
          <a:p>
            <a:pPr lvl="1" eaLnBrk="1" hangingPunct="1">
              <a:lnSpc>
                <a:spcPct val="80000"/>
              </a:lnSpc>
              <a:buNone/>
            </a:pPr>
            <a:r>
              <a:rPr lang="en-US" altLang="zh-CN" sz="1900" dirty="0">
                <a:sym typeface="Symbol" panose="05050102010706020507" pitchFamily="18" charset="2"/>
              </a:rPr>
              <a:t>	7.</a:t>
            </a:r>
            <a:r>
              <a:rPr lang="en-US" altLang="zh-CN" sz="1900" b="1" dirty="0">
                <a:sym typeface="Symbol" panose="05050102010706020507" pitchFamily="18" charset="2"/>
              </a:rPr>
              <a:t>for</a:t>
            </a:r>
            <a:r>
              <a:rPr lang="en-US" altLang="zh-CN" sz="1900" dirty="0">
                <a:sym typeface="Symbol" panose="05050102010706020507" pitchFamily="18" charset="2"/>
              </a:rPr>
              <a:t> j</a:t>
            </a:r>
            <a:r>
              <a:rPr lang="en-US" altLang="zh-CN" sz="1900" dirty="0">
                <a:sym typeface="Wingdings" panose="05000000000000000000" pitchFamily="2" charset="2"/>
              </a:rPr>
              <a:t>1 </a:t>
            </a:r>
            <a:r>
              <a:rPr lang="en-US" altLang="zh-CN" sz="1900" b="1" dirty="0">
                <a:sym typeface="Wingdings" panose="05000000000000000000" pitchFamily="2" charset="2"/>
              </a:rPr>
              <a:t>to</a:t>
            </a:r>
            <a:r>
              <a:rPr lang="en-US" altLang="zh-CN" sz="1900" dirty="0">
                <a:sym typeface="Wingdings" panose="05000000000000000000" pitchFamily="2" charset="2"/>
              </a:rPr>
              <a:t> </a:t>
            </a:r>
            <a:r>
              <a:rPr lang="en-US" altLang="zh-CN" sz="1900" i="1" dirty="0">
                <a:sym typeface="Wingdings" panose="05000000000000000000" pitchFamily="2" charset="2"/>
              </a:rPr>
              <a:t>n-1</a:t>
            </a:r>
            <a:endParaRPr lang="en-US" altLang="zh-CN" sz="1900" i="1"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8. </a:t>
            </a:r>
            <a:r>
              <a:rPr lang="en-US" altLang="zh-CN" sz="1900" i="1" dirty="0">
                <a:sym typeface="Wingdings" panose="05000000000000000000" pitchFamily="2" charset="2"/>
              </a:rPr>
              <a:t>	</a:t>
            </a:r>
            <a:r>
              <a:rPr lang="zh-CN" altLang="en-US" sz="1900" dirty="0">
                <a:sym typeface="Wingdings" panose="05000000000000000000" pitchFamily="2" charset="2"/>
              </a:rPr>
              <a:t>令</a:t>
            </a:r>
            <a:r>
              <a:rPr lang="en-US" altLang="zh-CN" sz="1900" i="1" dirty="0">
                <a:sym typeface="Wingdings" panose="05000000000000000000" pitchFamily="2" charset="2"/>
              </a:rPr>
              <a:t>y </a:t>
            </a:r>
            <a:r>
              <a:rPr lang="en-US" altLang="zh-CN" sz="1900" i="1" dirty="0">
                <a:sym typeface="Symbol" panose="05050102010706020507" pitchFamily="18" charset="2"/>
              </a:rPr>
              <a:t>∈Y </a:t>
            </a:r>
            <a:r>
              <a:rPr lang="zh-CN" altLang="en-US" sz="1900" dirty="0">
                <a:sym typeface="Symbol" panose="05050102010706020507" pitchFamily="18" charset="2"/>
              </a:rPr>
              <a:t>使得</a:t>
            </a:r>
            <a:r>
              <a:rPr lang="en-US" altLang="zh-CN" sz="1900" i="1" dirty="0">
                <a:sym typeface="Symbol" panose="05050102010706020507" pitchFamily="18" charset="2"/>
              </a:rPr>
              <a:t>λ[y] </a:t>
            </a:r>
            <a:r>
              <a:rPr lang="zh-CN" altLang="en-US" sz="1900" dirty="0">
                <a:sym typeface="Symbol" panose="05050102010706020507" pitchFamily="18" charset="2"/>
              </a:rPr>
              <a:t>最小</a:t>
            </a:r>
            <a:endParaRPr lang="en-US" altLang="zh-CN" sz="1900" dirty="0">
              <a:sym typeface="Symbol" panose="05050102010706020507" pitchFamily="18" charset="2"/>
            </a:endParaRPr>
          </a:p>
          <a:p>
            <a:pPr lvl="1" eaLnBrk="1" hangingPunct="1">
              <a:lnSpc>
                <a:spcPct val="80000"/>
              </a:lnSpc>
              <a:buNone/>
            </a:pPr>
            <a:r>
              <a:rPr lang="en-US" altLang="zh-CN" sz="1900" dirty="0">
                <a:sym typeface="Wingdings" panose="05000000000000000000" pitchFamily="2" charset="2"/>
              </a:rPr>
              <a:t>	9.		XX </a:t>
            </a:r>
            <a:r>
              <a:rPr lang="en-US" altLang="zh-CN" sz="1900" dirty="0">
                <a:sym typeface="Symbol" panose="05050102010706020507" pitchFamily="18" charset="2"/>
              </a:rPr>
              <a:t>∪{y}              {</a:t>
            </a:r>
            <a:r>
              <a:rPr lang="zh-CN" altLang="en-US" sz="1900" dirty="0">
                <a:sym typeface="Symbol" panose="05050102010706020507" pitchFamily="18" charset="2"/>
              </a:rPr>
              <a:t>将顶点</a:t>
            </a:r>
            <a:r>
              <a:rPr lang="en-US" altLang="zh-CN" sz="1900" dirty="0">
                <a:sym typeface="Symbol" panose="05050102010706020507" pitchFamily="18" charset="2"/>
              </a:rPr>
              <a:t>y </a:t>
            </a:r>
            <a:r>
              <a:rPr lang="zh-CN" altLang="en-US" sz="1900" dirty="0">
                <a:sym typeface="Symbol" panose="05050102010706020507" pitchFamily="18" charset="2"/>
              </a:rPr>
              <a:t>加入</a:t>
            </a:r>
            <a:r>
              <a:rPr lang="en-US" altLang="zh-CN" sz="1900" dirty="0">
                <a:sym typeface="Symbol" panose="05050102010706020507" pitchFamily="18" charset="2"/>
              </a:rPr>
              <a:t>X}</a:t>
            </a:r>
            <a:endParaRPr lang="en-US" altLang="zh-CN" sz="1900" dirty="0">
              <a:sym typeface="Symbol" panose="05050102010706020507" pitchFamily="18" charset="2"/>
            </a:endParaRPr>
          </a:p>
          <a:p>
            <a:pPr lvl="1" eaLnBrk="1" hangingPunct="1">
              <a:lnSpc>
                <a:spcPct val="80000"/>
              </a:lnSpc>
              <a:buNone/>
            </a:pPr>
            <a:r>
              <a:rPr lang="en-US" altLang="zh-CN" sz="1900" dirty="0">
                <a:sym typeface="Wingdings" panose="05000000000000000000" pitchFamily="2" charset="2"/>
              </a:rPr>
              <a:t>	10.	YY-{y}                 {</a:t>
            </a:r>
            <a:r>
              <a:rPr lang="zh-CN" altLang="en-US" sz="1900" dirty="0">
                <a:sym typeface="Symbol" panose="05050102010706020507" pitchFamily="18" charset="2"/>
              </a:rPr>
              <a:t>将顶点</a:t>
            </a:r>
            <a:r>
              <a:rPr lang="en-US" altLang="zh-CN" sz="1900" dirty="0">
                <a:sym typeface="Wingdings" panose="05000000000000000000" pitchFamily="2" charset="2"/>
              </a:rPr>
              <a:t>y </a:t>
            </a:r>
            <a:r>
              <a:rPr lang="zh-CN" altLang="en-US" sz="1900" dirty="0">
                <a:sym typeface="Wingdings" panose="05000000000000000000" pitchFamily="2" charset="2"/>
              </a:rPr>
              <a:t>从</a:t>
            </a:r>
            <a:r>
              <a:rPr lang="en-US" altLang="zh-CN" sz="1900" dirty="0">
                <a:sym typeface="Wingdings" panose="05000000000000000000" pitchFamily="2" charset="2"/>
              </a:rPr>
              <a:t> Y</a:t>
            </a:r>
            <a:r>
              <a:rPr lang="zh-CN" altLang="en-US" sz="1900" dirty="0">
                <a:sym typeface="Wingdings" panose="05000000000000000000" pitchFamily="2" charset="2"/>
              </a:rPr>
              <a:t>中删除</a:t>
            </a:r>
            <a:r>
              <a:rPr lang="en-US" altLang="zh-CN" sz="1900" dirty="0">
                <a:sym typeface="Wingdings" panose="05000000000000000000" pitchFamily="2" charset="2"/>
              </a:rPr>
              <a:t>}</a:t>
            </a:r>
            <a:endParaRPr lang="en-US" altLang="zh-CN" sz="1900"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11.	</a:t>
            </a:r>
            <a:r>
              <a:rPr lang="en-US" altLang="zh-CN" sz="1900" b="1" dirty="0">
                <a:sym typeface="Wingdings" panose="05000000000000000000" pitchFamily="2" charset="2"/>
              </a:rPr>
              <a:t>for</a:t>
            </a:r>
            <a:r>
              <a:rPr lang="en-US" altLang="zh-CN" sz="1900" dirty="0">
                <a:sym typeface="Wingdings" panose="05000000000000000000" pitchFamily="2" charset="2"/>
              </a:rPr>
              <a:t> </a:t>
            </a:r>
            <a:r>
              <a:rPr lang="zh-CN" altLang="en-US" sz="1900" dirty="0">
                <a:sym typeface="Wingdings" panose="05000000000000000000" pitchFamily="2" charset="2"/>
              </a:rPr>
              <a:t>每条边</a:t>
            </a:r>
            <a:r>
              <a:rPr lang="en-US" altLang="zh-CN" sz="1900" dirty="0">
                <a:sym typeface="Wingdings" panose="05000000000000000000" pitchFamily="2" charset="2"/>
              </a:rPr>
              <a:t>(y,w)</a:t>
            </a:r>
            <a:endParaRPr lang="en-US" altLang="zh-CN" sz="1900"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12.		</a:t>
            </a:r>
            <a:r>
              <a:rPr lang="en-US" altLang="zh-CN" sz="1900" b="1" dirty="0">
                <a:sym typeface="Wingdings" panose="05000000000000000000" pitchFamily="2" charset="2"/>
              </a:rPr>
              <a:t>if</a:t>
            </a:r>
            <a:r>
              <a:rPr lang="en-US" altLang="zh-CN" sz="1900" dirty="0">
                <a:sym typeface="Wingdings" panose="05000000000000000000" pitchFamily="2" charset="2"/>
              </a:rPr>
              <a:t> w </a:t>
            </a:r>
            <a:r>
              <a:rPr lang="en-US" altLang="zh-CN" sz="1900" dirty="0">
                <a:sym typeface="Symbol" panose="05050102010706020507" pitchFamily="18" charset="2"/>
              </a:rPr>
              <a:t>∈Y </a:t>
            </a:r>
            <a:r>
              <a:rPr lang="en-US" altLang="zh-CN" sz="1900" b="1" dirty="0">
                <a:sym typeface="Symbol" panose="05050102010706020507" pitchFamily="18" charset="2"/>
              </a:rPr>
              <a:t>and</a:t>
            </a:r>
            <a:r>
              <a:rPr lang="en-US" altLang="zh-CN" sz="1900" dirty="0">
                <a:sym typeface="Symbol" panose="05050102010706020507" pitchFamily="18" charset="2"/>
              </a:rPr>
              <a:t> λ[y]+length[y,w]&lt; λ[w] </a:t>
            </a:r>
            <a:r>
              <a:rPr lang="en-US" altLang="zh-CN" sz="1900" b="1" dirty="0">
                <a:sym typeface="Symbol" panose="05050102010706020507" pitchFamily="18" charset="2"/>
              </a:rPr>
              <a:t>then</a:t>
            </a:r>
            <a:endParaRPr lang="en-US" altLang="zh-CN" sz="1900" b="1" dirty="0">
              <a:sym typeface="Symbol" panose="05050102010706020507" pitchFamily="18" charset="2"/>
            </a:endParaRPr>
          </a:p>
          <a:p>
            <a:pPr lvl="1" eaLnBrk="1" hangingPunct="1">
              <a:lnSpc>
                <a:spcPct val="80000"/>
              </a:lnSpc>
              <a:buNone/>
            </a:pPr>
            <a:r>
              <a:rPr lang="en-US" altLang="zh-CN" sz="1900" dirty="0">
                <a:sym typeface="Wingdings" panose="05000000000000000000" pitchFamily="2" charset="2"/>
              </a:rPr>
              <a:t>	13.			 </a:t>
            </a:r>
            <a:r>
              <a:rPr lang="en-US" altLang="zh-CN" sz="1900" dirty="0">
                <a:sym typeface="Symbol" panose="05050102010706020507" pitchFamily="18" charset="2"/>
              </a:rPr>
              <a:t>λ[w]</a:t>
            </a:r>
            <a:r>
              <a:rPr lang="en-US" altLang="zh-CN" sz="1900" dirty="0">
                <a:sym typeface="Wingdings" panose="05000000000000000000" pitchFamily="2" charset="2"/>
              </a:rPr>
              <a:t> </a:t>
            </a:r>
            <a:r>
              <a:rPr lang="en-US" altLang="zh-CN" sz="1900" dirty="0">
                <a:sym typeface="Symbol" panose="05050102010706020507" pitchFamily="18" charset="2"/>
              </a:rPr>
              <a:t>λ[y]+length[y,w]</a:t>
            </a:r>
            <a:endParaRPr lang="en-US" altLang="zh-CN" sz="1900"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14.	</a:t>
            </a:r>
            <a:r>
              <a:rPr lang="en-US" altLang="zh-CN" sz="1900" b="1" dirty="0">
                <a:sym typeface="Wingdings" panose="05000000000000000000" pitchFamily="2" charset="2"/>
              </a:rPr>
              <a:t>end for</a:t>
            </a:r>
            <a:endParaRPr lang="en-US" altLang="zh-CN" sz="1900" b="1" dirty="0">
              <a:sym typeface="Wingdings" panose="05000000000000000000" pitchFamily="2" charset="2"/>
            </a:endParaRPr>
          </a:p>
          <a:p>
            <a:pPr lvl="1" eaLnBrk="1" hangingPunct="1">
              <a:lnSpc>
                <a:spcPct val="80000"/>
              </a:lnSpc>
              <a:buNone/>
            </a:pPr>
            <a:r>
              <a:rPr lang="en-US" altLang="zh-CN" sz="1900" dirty="0">
                <a:sym typeface="Wingdings" panose="05000000000000000000" pitchFamily="2" charset="2"/>
              </a:rPr>
              <a:t>	15. </a:t>
            </a:r>
            <a:r>
              <a:rPr lang="en-US" altLang="zh-CN" sz="1900" b="1" dirty="0">
                <a:sym typeface="Wingdings" panose="05000000000000000000" pitchFamily="2" charset="2"/>
              </a:rPr>
              <a:t>end for</a:t>
            </a:r>
            <a:r>
              <a:rPr lang="en-US" altLang="zh-CN" sz="1900" dirty="0">
                <a:sym typeface="Wingdings" panose="05000000000000000000" pitchFamily="2" charset="2"/>
              </a:rPr>
              <a:t>	</a:t>
            </a:r>
            <a:endParaRPr lang="en-US" altLang="zh-CN" sz="1900" dirty="0">
              <a:sym typeface="Wingdings" panose="05000000000000000000" pitchFamily="2" charset="2"/>
            </a:endParaRPr>
          </a:p>
        </p:txBody>
      </p:sp>
      <p:sp>
        <p:nvSpPr>
          <p:cNvPr id="4" name="矩形 3"/>
          <p:cNvSpPr/>
          <p:nvPr/>
        </p:nvSpPr>
        <p:spPr>
          <a:xfrm>
            <a:off x="6588760" y="1196975"/>
            <a:ext cx="2500313" cy="3194050"/>
          </a:xfrm>
          <a:prstGeom prst="rect">
            <a:avLst/>
          </a:prstGeom>
          <a:solidFill>
            <a:srgbClr val="92D050"/>
          </a:solid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lnSpc>
                <a:spcPct val="80000"/>
              </a:lnSpc>
              <a:spcBef>
                <a:spcPct val="0"/>
              </a:spcBef>
              <a:buNone/>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a:t>
            </a:r>
            <a:r>
              <a:rPr lang="zh-CN" altLang="en-US" sz="1800" dirty="0">
                <a:solidFill>
                  <a:srgbClr val="0070C0"/>
                </a:solidFill>
                <a:latin typeface="Arial" panose="020B0604020202020204" pitchFamily="34" charset="0"/>
                <a:ea typeface="宋体" panose="02010600030101010101" pitchFamily="2" charset="-122"/>
              </a:rPr>
              <a:t>步</a:t>
            </a:r>
            <a:r>
              <a:rPr lang="en-US" altLang="zh-CN" sz="1800" dirty="0">
                <a:solidFill>
                  <a:srgbClr val="0070C0"/>
                </a:solidFill>
                <a:latin typeface="Arial" panose="020B0604020202020204" pitchFamily="34" charset="0"/>
                <a:ea typeface="宋体" panose="02010600030101010101" pitchFamily="2" charset="-122"/>
              </a:rPr>
              <a:t>: </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时间</a:t>
            </a:r>
            <a:r>
              <a:rPr lang="en-US" altLang="zh-CN" sz="1800" dirty="0">
                <a:solidFill>
                  <a:srgbClr val="0070C0"/>
                </a:solidFill>
                <a:latin typeface="Arial" panose="020B0604020202020204" pitchFamily="34" charset="0"/>
                <a:ea typeface="宋体" panose="02010600030101010101" pitchFamily="2" charset="-122"/>
              </a:rPr>
              <a:t>. </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3</a:t>
            </a:r>
            <a:r>
              <a:rPr lang="zh-CN" altLang="en-US" sz="1800" dirty="0">
                <a:solidFill>
                  <a:srgbClr val="0070C0"/>
                </a:solidFill>
                <a:latin typeface="Arial" panose="020B0604020202020204" pitchFamily="34" charset="0"/>
                <a:ea typeface="宋体" panose="02010600030101010101" pitchFamily="2" charset="-122"/>
              </a:rPr>
              <a:t>步</a:t>
            </a:r>
            <a:r>
              <a:rPr lang="en-US" altLang="zh-CN" sz="1800" dirty="0">
                <a:solidFill>
                  <a:srgbClr val="0070C0"/>
                </a:solidFill>
                <a:latin typeface="Arial" panose="020B0604020202020204" pitchFamily="34" charset="0"/>
                <a:ea typeface="宋体" panose="02010600030101010101" pitchFamily="2" charset="-122"/>
              </a:rPr>
              <a:t> </a:t>
            </a:r>
            <a:r>
              <a:rPr lang="zh-CN" altLang="en-US" sz="1800" dirty="0">
                <a:solidFill>
                  <a:srgbClr val="0070C0"/>
                </a:solidFill>
                <a:latin typeface="Arial" panose="020B0604020202020204" pitchFamily="34" charset="0"/>
                <a:ea typeface="宋体" panose="02010600030101010101" pitchFamily="2" charset="-122"/>
              </a:rPr>
              <a:t>和第</a:t>
            </a:r>
            <a:r>
              <a:rPr lang="en-US" altLang="zh-CN" sz="1800" dirty="0">
                <a:solidFill>
                  <a:srgbClr val="0070C0"/>
                </a:solidFill>
                <a:latin typeface="Arial" panose="020B0604020202020204" pitchFamily="34" charset="0"/>
                <a:ea typeface="宋体" panose="02010600030101010101" pitchFamily="2" charset="-122"/>
              </a:rPr>
              <a:t>4</a:t>
            </a:r>
            <a:r>
              <a:rPr lang="zh-CN" altLang="en-US" sz="1800" dirty="0">
                <a:solidFill>
                  <a:srgbClr val="0070C0"/>
                </a:solidFill>
                <a:latin typeface="Arial" panose="020B0604020202020204" pitchFamily="34" charset="0"/>
                <a:ea typeface="宋体" panose="02010600030101010101" pitchFamily="2" charset="-122"/>
              </a:rPr>
              <a:t>步</a:t>
            </a:r>
            <a:r>
              <a:rPr lang="en-US" altLang="zh-CN" sz="1800" dirty="0">
                <a:solidFill>
                  <a:srgbClr val="0070C0"/>
                </a:solidFill>
                <a:latin typeface="Arial" panose="020B0604020202020204" pitchFamily="34" charset="0"/>
                <a:ea typeface="宋体" panose="02010600030101010101" pitchFamily="2" charset="-122"/>
              </a:rPr>
              <a:t>: </a:t>
            </a:r>
            <a:r>
              <a:rPr lang="zh-CN" altLang="en-US" sz="1800" dirty="0">
                <a:solidFill>
                  <a:srgbClr val="0070C0"/>
                </a:solidFill>
                <a:latin typeface="Arial" panose="020B0604020202020204" pitchFamily="34" charset="0"/>
                <a:ea typeface="宋体" panose="02010600030101010101" pitchFamily="2" charset="-122"/>
              </a:rPr>
              <a:t>分别为</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和</a:t>
            </a:r>
            <a:r>
              <a:rPr lang="en-US" altLang="zh-CN" sz="1800" dirty="0">
                <a:solidFill>
                  <a:srgbClr val="0070C0"/>
                </a:solidFill>
                <a:latin typeface="Arial" panose="020B0604020202020204" pitchFamily="34" charset="0"/>
                <a:ea typeface="宋体" panose="02010600030101010101" pitchFamily="2" charset="-122"/>
              </a:rPr>
              <a:t>O(n)</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8</a:t>
            </a:r>
            <a:r>
              <a:rPr lang="zh-CN" altLang="en-US" sz="1800" dirty="0">
                <a:solidFill>
                  <a:srgbClr val="0070C0"/>
                </a:solidFill>
                <a:latin typeface="Arial" panose="020B0604020202020204" pitchFamily="34" charset="0"/>
                <a:ea typeface="宋体" panose="02010600030101010101" pitchFamily="2" charset="-122"/>
              </a:rPr>
              <a:t>步</a:t>
            </a:r>
            <a:r>
              <a:rPr lang="en-US" altLang="zh-CN" sz="1800" dirty="0">
                <a:solidFill>
                  <a:srgbClr val="0070C0"/>
                </a:solidFill>
                <a:latin typeface="Arial" panose="020B0604020202020204" pitchFamily="34" charset="0"/>
                <a:ea typeface="宋体" panose="02010600030101010101" pitchFamily="2" charset="-122"/>
              </a:rPr>
              <a:t>: </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a:t>
            </a:r>
            <a:r>
              <a:rPr lang="en-US" altLang="zh-CN" sz="1800" baseline="30000" dirty="0">
                <a:solidFill>
                  <a:srgbClr val="0070C0"/>
                </a:solidFill>
                <a:latin typeface="Arial" panose="020B0604020202020204" pitchFamily="34" charset="0"/>
                <a:ea typeface="宋体" panose="02010600030101010101" pitchFamily="2" charset="-122"/>
              </a:rPr>
              <a:t>2</a:t>
            </a:r>
            <a:r>
              <a:rPr lang="en-US" altLang="zh-CN" sz="1800" dirty="0">
                <a:solidFill>
                  <a:srgbClr val="0070C0"/>
                </a:solidFill>
                <a:latin typeface="Arial" panose="020B0604020202020204" pitchFamily="34" charset="0"/>
                <a:ea typeface="宋体" panose="02010600030101010101" pitchFamily="2" charset="-122"/>
              </a:rPr>
              <a:t>). </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9</a:t>
            </a:r>
            <a:r>
              <a:rPr lang="zh-CN" altLang="en-US" sz="1800" dirty="0">
                <a:solidFill>
                  <a:srgbClr val="0070C0"/>
                </a:solidFill>
                <a:latin typeface="Arial" panose="020B0604020202020204" pitchFamily="34" charset="0"/>
                <a:ea typeface="宋体" panose="02010600030101010101" pitchFamily="2" charset="-122"/>
              </a:rPr>
              <a:t>步和第</a:t>
            </a:r>
            <a:r>
              <a:rPr lang="en-US" altLang="zh-CN" sz="1800" dirty="0">
                <a:solidFill>
                  <a:srgbClr val="0070C0"/>
                </a:solidFill>
                <a:latin typeface="Arial" panose="020B0604020202020204" pitchFamily="34" charset="0"/>
                <a:ea typeface="宋体" panose="02010600030101010101" pitchFamily="2" charset="-122"/>
              </a:rPr>
              <a:t> 10</a:t>
            </a:r>
            <a:r>
              <a:rPr lang="zh-CN" altLang="en-US" sz="1800" dirty="0">
                <a:solidFill>
                  <a:srgbClr val="0070C0"/>
                </a:solidFill>
                <a:latin typeface="Arial" panose="020B0604020202020204" pitchFamily="34" charset="0"/>
                <a:ea typeface="宋体" panose="02010600030101010101" pitchFamily="2" charset="-122"/>
              </a:rPr>
              <a:t>步</a:t>
            </a:r>
            <a:r>
              <a:rPr lang="en-US" altLang="zh-CN" sz="1800" dirty="0">
                <a:solidFill>
                  <a:srgbClr val="0070C0"/>
                </a:solidFill>
                <a:latin typeface="Arial" panose="020B0604020202020204" pitchFamily="34" charset="0"/>
                <a:ea typeface="宋体" panose="02010600030101010101" pitchFamily="2" charset="-122"/>
              </a:rPr>
              <a:t>:</a:t>
            </a:r>
            <a:r>
              <a:rPr lang="zh-CN" altLang="en-US" sz="1800" dirty="0">
                <a:solidFill>
                  <a:srgbClr val="0070C0"/>
                </a:solidFill>
                <a:latin typeface="Arial" panose="020B0604020202020204" pitchFamily="34" charset="0"/>
                <a:ea typeface="宋体" panose="02010600030101010101" pitchFamily="2" charset="-122"/>
              </a:rPr>
              <a:t>每次迭代花费时间</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(1) </a:t>
            </a:r>
            <a:r>
              <a:rPr lang="zh-CN" altLang="en-US" sz="1800" dirty="0">
                <a:solidFill>
                  <a:srgbClr val="0070C0"/>
                </a:solidFill>
                <a:latin typeface="Arial" panose="020B0604020202020204" pitchFamily="34" charset="0"/>
                <a:ea typeface="宋体" panose="02010600030101010101" pitchFamily="2" charset="-122"/>
              </a:rPr>
              <a:t>，共用了</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(n) </a:t>
            </a:r>
            <a:r>
              <a:rPr lang="zh-CN" altLang="en-US" sz="1800" dirty="0">
                <a:solidFill>
                  <a:srgbClr val="0070C0"/>
                </a:solidFill>
                <a:latin typeface="Arial" panose="020B0604020202020204" pitchFamily="34" charset="0"/>
                <a:ea typeface="宋体" panose="02010600030101010101" pitchFamily="2" charset="-122"/>
              </a:rPr>
              <a:t>时间</a:t>
            </a:r>
            <a:r>
              <a:rPr lang="en-US" altLang="zh-CN" sz="1800" dirty="0">
                <a:solidFill>
                  <a:srgbClr val="0070C0"/>
                </a:solidFill>
                <a:latin typeface="Arial" panose="020B0604020202020204" pitchFamily="34" charset="0"/>
                <a:ea typeface="宋体" panose="02010600030101010101" pitchFamily="2" charset="-122"/>
              </a:rPr>
              <a:t>. </a:t>
            </a: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endParaRPr lang="en-US" altLang="zh-CN" sz="18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r>
              <a:rPr lang="zh-CN" altLang="en-US" sz="1800" dirty="0">
                <a:solidFill>
                  <a:srgbClr val="0070C0"/>
                </a:solidFill>
                <a:latin typeface="Arial" panose="020B0604020202020204" pitchFamily="34" charset="0"/>
                <a:ea typeface="宋体" panose="02010600030101010101" pitchFamily="2" charset="-122"/>
              </a:rPr>
              <a:t>第</a:t>
            </a:r>
            <a:r>
              <a:rPr lang="en-US" altLang="zh-CN" sz="1800" dirty="0">
                <a:solidFill>
                  <a:srgbClr val="0070C0"/>
                </a:solidFill>
                <a:latin typeface="Arial" panose="020B0604020202020204" pitchFamily="34" charset="0"/>
                <a:ea typeface="宋体" panose="02010600030101010101" pitchFamily="2" charset="-122"/>
              </a:rPr>
              <a:t>11</a:t>
            </a:r>
            <a:r>
              <a:rPr lang="zh-CN" altLang="en-US" sz="1800" dirty="0">
                <a:solidFill>
                  <a:srgbClr val="0070C0"/>
                </a:solidFill>
                <a:latin typeface="Arial" panose="020B0604020202020204" pitchFamily="34" charset="0"/>
                <a:ea typeface="宋体" panose="02010600030101010101" pitchFamily="2" charset="-122"/>
              </a:rPr>
              <a:t>步和第</a:t>
            </a:r>
            <a:r>
              <a:rPr lang="en-US" altLang="zh-CN" sz="1800" dirty="0">
                <a:solidFill>
                  <a:srgbClr val="0070C0"/>
                </a:solidFill>
                <a:latin typeface="Arial" panose="020B0604020202020204" pitchFamily="34" charset="0"/>
                <a:ea typeface="宋体" panose="02010600030101010101" pitchFamily="2" charset="-122"/>
              </a:rPr>
              <a:t>12</a:t>
            </a:r>
            <a:r>
              <a:rPr lang="zh-CN" altLang="en-US" sz="1800" dirty="0">
                <a:solidFill>
                  <a:srgbClr val="0070C0"/>
                </a:solidFill>
                <a:latin typeface="Arial" panose="020B0604020202020204" pitchFamily="34" charset="0"/>
                <a:ea typeface="宋体" panose="02010600030101010101" pitchFamily="2" charset="-122"/>
              </a:rPr>
              <a:t>步共需要时间</a:t>
            </a:r>
            <a:r>
              <a:rPr lang="el-GR" altLang="zh-CN" sz="1800" dirty="0">
                <a:solidFill>
                  <a:srgbClr val="0070C0"/>
                </a:solidFill>
                <a:latin typeface="Arial" panose="020B0604020202020204" pitchFamily="34" charset="0"/>
                <a:ea typeface="宋体" panose="02010600030101010101" pitchFamily="2" charset="-122"/>
              </a:rPr>
              <a:t>Θ</a:t>
            </a:r>
            <a:r>
              <a:rPr lang="en-US" altLang="zh-CN" sz="1800" dirty="0">
                <a:solidFill>
                  <a:srgbClr val="0070C0"/>
                </a:solidFill>
                <a:latin typeface="Arial" panose="020B0604020202020204" pitchFamily="34" charset="0"/>
                <a:ea typeface="宋体" panose="02010600030101010101" pitchFamily="2" charset="-122"/>
              </a:rPr>
              <a:t>(m). </a:t>
            </a:r>
            <a:r>
              <a:rPr lang="zh-CN" altLang="en-US" sz="1800" dirty="0">
                <a:solidFill>
                  <a:srgbClr val="0070C0"/>
                </a:solidFill>
                <a:latin typeface="Arial" panose="020B0604020202020204" pitchFamily="34" charset="0"/>
                <a:ea typeface="宋体" panose="02010600030101010101" pitchFamily="2" charset="-122"/>
              </a:rPr>
              <a:t>这里</a:t>
            </a:r>
            <a:r>
              <a:rPr lang="en-US" altLang="zh-CN" sz="1800" dirty="0">
                <a:solidFill>
                  <a:srgbClr val="0070C0"/>
                </a:solidFill>
                <a:latin typeface="Arial" panose="020B0604020202020204" pitchFamily="34" charset="0"/>
                <a:ea typeface="宋体" panose="02010600030101010101" pitchFamily="2" charset="-122"/>
              </a:rPr>
              <a:t>m=|E|.</a:t>
            </a:r>
            <a:endParaRPr lang="en-US" altLang="zh-CN" sz="1800" dirty="0">
              <a:solidFill>
                <a:srgbClr val="0070C0"/>
              </a:solidFill>
              <a:latin typeface="Arial" panose="020B0604020202020204" pitchFamily="34" charset="0"/>
              <a:ea typeface="宋体" panose="02010600030101010101" pitchFamily="2" charset="-122"/>
            </a:endParaRPr>
          </a:p>
        </p:txBody>
      </p:sp>
      <p:sp>
        <p:nvSpPr>
          <p:cNvPr id="47107" name="Rectangle 2"/>
          <p:cNvSpPr>
            <a:spLocks noGrp="1"/>
          </p:cNvSpPr>
          <p:nvPr>
            <p:ph type="title"/>
          </p:nvPr>
        </p:nvSpPr>
        <p:spPr/>
        <p:txBody>
          <a:bodyPr vert="horz" wrap="square" lIns="91440" tIns="45720" rIns="91440" bIns="45720" anchor="ctr" anchorCtr="0"/>
          <a:p>
            <a:pPr eaLnBrk="1" hangingPunct="1"/>
            <a:r>
              <a:rPr lang="en-US" altLang="zh-CN" dirty="0"/>
              <a:t>5.1.1Dijkstra</a:t>
            </a:r>
            <a:r>
              <a:rPr lang="zh-CN" altLang="en-US" dirty="0"/>
              <a:t>算法</a:t>
            </a:r>
            <a:r>
              <a:rPr lang="en-US" altLang="zh-CN" dirty="0"/>
              <a:t>——</a:t>
            </a:r>
            <a:r>
              <a:rPr lang="zh-CN" altLang="en-US" dirty="0"/>
              <a:t>伪代码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51203"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en-US" altLang="zh-CN" dirty="0">
                <a:sym typeface="+mn-ea"/>
              </a:rPr>
              <a:t>Dijkstra</a:t>
            </a:r>
            <a:r>
              <a:rPr lang="zh-CN" altLang="en-US" dirty="0">
                <a:sym typeface="+mn-ea"/>
              </a:rPr>
              <a:t>算法</a:t>
            </a:r>
            <a:r>
              <a:rPr lang="en-US" altLang="zh-CN" dirty="0"/>
              <a:t>——</a:t>
            </a:r>
            <a:r>
              <a:rPr lang="zh-CN" altLang="en-US" dirty="0"/>
              <a:t>例子</a:t>
            </a:r>
            <a:endParaRPr lang="en-US" altLang="zh-CN" dirty="0"/>
          </a:p>
        </p:txBody>
      </p:sp>
      <p:sp>
        <p:nvSpPr>
          <p:cNvPr id="51204" name="Rectangle 3"/>
          <p:cNvSpPr>
            <a:spLocks noGrp="1"/>
          </p:cNvSpPr>
          <p:nvPr>
            <p:ph type="body" orient="vert" idx="1"/>
          </p:nvPr>
        </p:nvSpPr>
        <p:spPr>
          <a:xfrm>
            <a:off x="900113" y="1268413"/>
            <a:ext cx="4535487" cy="2160587"/>
          </a:xfrm>
        </p:spPr>
        <p:txBody>
          <a:bodyPr wrap="square" lIns="91440" tIns="45720" rIns="91440" bIns="45720" anchor="t" anchorCtr="0"/>
          <a:lstStyle/>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buNone/>
            </a:pPr>
            <a:r>
              <a:rPr lang="en-US" altLang="zh-CN" dirty="0"/>
              <a:t>	</a:t>
            </a:r>
            <a:endParaRPr lang="en-US" altLang="zh-CN" dirty="0"/>
          </a:p>
        </p:txBody>
      </p:sp>
      <p:sp>
        <p:nvSpPr>
          <p:cNvPr id="51205" name="Oval 4"/>
          <p:cNvSpPr/>
          <p:nvPr/>
        </p:nvSpPr>
        <p:spPr>
          <a:xfrm>
            <a:off x="2555875" y="1125538"/>
            <a:ext cx="431800" cy="431800"/>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2</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06" name="Oval 7"/>
          <p:cNvSpPr/>
          <p:nvPr/>
        </p:nvSpPr>
        <p:spPr>
          <a:xfrm>
            <a:off x="4787900" y="1773238"/>
            <a:ext cx="431800" cy="431800"/>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6</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07" name="Oval 8"/>
          <p:cNvSpPr/>
          <p:nvPr/>
        </p:nvSpPr>
        <p:spPr>
          <a:xfrm>
            <a:off x="1619250" y="1773238"/>
            <a:ext cx="431800" cy="431800"/>
          </a:xfrm>
          <a:prstGeom prst="ellipse">
            <a:avLst/>
          </a:prstGeom>
          <a:solidFill>
            <a:srgbClr val="CC99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1</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08" name="Oval 9"/>
          <p:cNvSpPr/>
          <p:nvPr/>
        </p:nvSpPr>
        <p:spPr>
          <a:xfrm>
            <a:off x="3995738" y="2565400"/>
            <a:ext cx="431800" cy="431800"/>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5</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09" name="Oval 10"/>
          <p:cNvSpPr/>
          <p:nvPr/>
        </p:nvSpPr>
        <p:spPr>
          <a:xfrm>
            <a:off x="2555875" y="2565400"/>
            <a:ext cx="431800" cy="431800"/>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3</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10" name="Oval 11"/>
          <p:cNvSpPr/>
          <p:nvPr/>
        </p:nvSpPr>
        <p:spPr>
          <a:xfrm>
            <a:off x="3995738" y="1125538"/>
            <a:ext cx="431800" cy="431800"/>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3000" dirty="0">
                <a:solidFill>
                  <a:schemeClr val="tx2"/>
                </a:solidFill>
                <a:latin typeface="Arial" panose="020B0604020202020204" pitchFamily="34" charset="0"/>
                <a:ea typeface="宋体" panose="02010600030101010101" pitchFamily="2" charset="-122"/>
              </a:rPr>
              <a:t>4</a:t>
            </a:r>
            <a:endParaRPr lang="en-US" altLang="zh-CN" sz="3000" dirty="0">
              <a:solidFill>
                <a:schemeClr val="tx2"/>
              </a:solidFill>
              <a:latin typeface="Arial" panose="020B0604020202020204" pitchFamily="34" charset="0"/>
              <a:ea typeface="宋体" panose="02010600030101010101" pitchFamily="2" charset="-122"/>
            </a:endParaRPr>
          </a:p>
        </p:txBody>
      </p:sp>
      <p:sp>
        <p:nvSpPr>
          <p:cNvPr id="51211" name="Line 21"/>
          <p:cNvSpPr/>
          <p:nvPr/>
        </p:nvSpPr>
        <p:spPr>
          <a:xfrm flipV="1">
            <a:off x="1979613" y="1412875"/>
            <a:ext cx="647700" cy="360363"/>
          </a:xfrm>
          <a:prstGeom prst="line">
            <a:avLst/>
          </a:prstGeom>
          <a:ln w="9525" cap="flat" cmpd="sng">
            <a:solidFill>
              <a:schemeClr val="tx1"/>
            </a:solidFill>
            <a:prstDash val="solid"/>
            <a:headEnd type="none" w="med" len="med"/>
            <a:tailEnd type="triangle" w="med" len="med"/>
          </a:ln>
        </p:spPr>
      </p:sp>
      <p:sp>
        <p:nvSpPr>
          <p:cNvPr id="51212" name="Line 22"/>
          <p:cNvSpPr/>
          <p:nvPr/>
        </p:nvSpPr>
        <p:spPr>
          <a:xfrm>
            <a:off x="2987675" y="1341438"/>
            <a:ext cx="1008063" cy="0"/>
          </a:xfrm>
          <a:prstGeom prst="line">
            <a:avLst/>
          </a:prstGeom>
          <a:ln w="9525" cap="flat" cmpd="sng">
            <a:solidFill>
              <a:schemeClr val="tx1"/>
            </a:solidFill>
            <a:prstDash val="solid"/>
            <a:headEnd type="none" w="med" len="med"/>
            <a:tailEnd type="triangle" w="med" len="med"/>
          </a:ln>
        </p:spPr>
      </p:sp>
      <p:sp>
        <p:nvSpPr>
          <p:cNvPr id="51213" name="Line 24"/>
          <p:cNvSpPr/>
          <p:nvPr/>
        </p:nvSpPr>
        <p:spPr>
          <a:xfrm>
            <a:off x="4427538" y="1412875"/>
            <a:ext cx="431800" cy="431800"/>
          </a:xfrm>
          <a:prstGeom prst="line">
            <a:avLst/>
          </a:prstGeom>
          <a:ln w="9525" cap="flat" cmpd="sng">
            <a:solidFill>
              <a:schemeClr val="tx1"/>
            </a:solidFill>
            <a:prstDash val="solid"/>
            <a:headEnd type="none" w="med" len="med"/>
            <a:tailEnd type="triangle" w="med" len="med"/>
          </a:ln>
        </p:spPr>
      </p:sp>
      <p:sp>
        <p:nvSpPr>
          <p:cNvPr id="51214" name="Line 25"/>
          <p:cNvSpPr/>
          <p:nvPr/>
        </p:nvSpPr>
        <p:spPr>
          <a:xfrm flipV="1">
            <a:off x="4427538" y="2205038"/>
            <a:ext cx="431800" cy="504825"/>
          </a:xfrm>
          <a:prstGeom prst="line">
            <a:avLst/>
          </a:prstGeom>
          <a:ln w="9525" cap="flat" cmpd="sng">
            <a:solidFill>
              <a:schemeClr val="tx1"/>
            </a:solidFill>
            <a:prstDash val="solid"/>
            <a:headEnd type="none" w="med" len="med"/>
            <a:tailEnd type="triangle" w="med" len="med"/>
          </a:ln>
        </p:spPr>
      </p:sp>
      <p:sp>
        <p:nvSpPr>
          <p:cNvPr id="51215" name="Line 26"/>
          <p:cNvSpPr/>
          <p:nvPr/>
        </p:nvSpPr>
        <p:spPr>
          <a:xfrm>
            <a:off x="2987675" y="2854325"/>
            <a:ext cx="1008063" cy="0"/>
          </a:xfrm>
          <a:prstGeom prst="line">
            <a:avLst/>
          </a:prstGeom>
          <a:ln w="9525" cap="flat" cmpd="sng">
            <a:solidFill>
              <a:schemeClr val="tx1"/>
            </a:solidFill>
            <a:prstDash val="solid"/>
            <a:headEnd type="none" w="med" len="med"/>
            <a:tailEnd type="triangle" w="med" len="med"/>
          </a:ln>
        </p:spPr>
      </p:sp>
      <p:sp>
        <p:nvSpPr>
          <p:cNvPr id="51216" name="Line 27"/>
          <p:cNvSpPr/>
          <p:nvPr/>
        </p:nvSpPr>
        <p:spPr>
          <a:xfrm>
            <a:off x="1979613" y="2133600"/>
            <a:ext cx="576262" cy="576263"/>
          </a:xfrm>
          <a:prstGeom prst="line">
            <a:avLst/>
          </a:prstGeom>
          <a:ln w="9525" cap="flat" cmpd="sng">
            <a:solidFill>
              <a:schemeClr val="tx1"/>
            </a:solidFill>
            <a:prstDash val="solid"/>
            <a:headEnd type="none" w="med" len="med"/>
            <a:tailEnd type="triangle" w="med" len="med"/>
          </a:ln>
        </p:spPr>
      </p:sp>
      <p:sp>
        <p:nvSpPr>
          <p:cNvPr id="51217" name="Text Box 28"/>
          <p:cNvSpPr txBox="1"/>
          <p:nvPr/>
        </p:nvSpPr>
        <p:spPr>
          <a:xfrm>
            <a:off x="1816100" y="1360488"/>
            <a:ext cx="311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1</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18" name="Text Box 29"/>
          <p:cNvSpPr txBox="1"/>
          <p:nvPr/>
        </p:nvSpPr>
        <p:spPr>
          <a:xfrm>
            <a:off x="1887538" y="2441575"/>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12</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19" name="Text Box 31"/>
          <p:cNvSpPr txBox="1"/>
          <p:nvPr/>
        </p:nvSpPr>
        <p:spPr>
          <a:xfrm>
            <a:off x="3203575" y="29972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5</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0" name="Text Box 32"/>
          <p:cNvSpPr txBox="1"/>
          <p:nvPr/>
        </p:nvSpPr>
        <p:spPr>
          <a:xfrm>
            <a:off x="3275013" y="981075"/>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3</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1" name="Text Box 33"/>
          <p:cNvSpPr txBox="1"/>
          <p:nvPr/>
        </p:nvSpPr>
        <p:spPr>
          <a:xfrm>
            <a:off x="4643438" y="1341438"/>
            <a:ext cx="438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15</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2" name="Text Box 34"/>
          <p:cNvSpPr txBox="1"/>
          <p:nvPr/>
        </p:nvSpPr>
        <p:spPr>
          <a:xfrm>
            <a:off x="4643438" y="25654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4</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3" name="Line 35"/>
          <p:cNvSpPr/>
          <p:nvPr/>
        </p:nvSpPr>
        <p:spPr>
          <a:xfrm>
            <a:off x="2771775" y="1557338"/>
            <a:ext cx="0" cy="1008062"/>
          </a:xfrm>
          <a:prstGeom prst="line">
            <a:avLst/>
          </a:prstGeom>
          <a:ln w="9525" cap="flat" cmpd="sng">
            <a:solidFill>
              <a:schemeClr val="tx1"/>
            </a:solidFill>
            <a:prstDash val="solid"/>
            <a:headEnd type="none" w="med" len="med"/>
            <a:tailEnd type="triangle" w="med" len="med"/>
          </a:ln>
        </p:spPr>
      </p:sp>
      <p:sp>
        <p:nvSpPr>
          <p:cNvPr id="51224" name="Line 36"/>
          <p:cNvSpPr/>
          <p:nvPr/>
        </p:nvSpPr>
        <p:spPr>
          <a:xfrm flipH="1">
            <a:off x="2916238" y="1485900"/>
            <a:ext cx="1150937" cy="1079500"/>
          </a:xfrm>
          <a:prstGeom prst="line">
            <a:avLst/>
          </a:prstGeom>
          <a:ln w="9525" cap="flat" cmpd="sng">
            <a:solidFill>
              <a:schemeClr val="tx1"/>
            </a:solidFill>
            <a:prstDash val="solid"/>
            <a:headEnd type="none" w="med" len="med"/>
            <a:tailEnd type="triangle" w="med" len="med"/>
          </a:ln>
        </p:spPr>
      </p:sp>
      <p:sp>
        <p:nvSpPr>
          <p:cNvPr id="51225" name="Line 37"/>
          <p:cNvSpPr/>
          <p:nvPr/>
        </p:nvSpPr>
        <p:spPr>
          <a:xfrm>
            <a:off x="4211638" y="1628775"/>
            <a:ext cx="0" cy="936625"/>
          </a:xfrm>
          <a:prstGeom prst="line">
            <a:avLst/>
          </a:prstGeom>
          <a:ln w="9525" cap="flat" cmpd="sng">
            <a:solidFill>
              <a:schemeClr val="tx1"/>
            </a:solidFill>
            <a:prstDash val="solid"/>
            <a:headEnd type="none" w="med" len="med"/>
            <a:tailEnd type="triangle" w="med" len="med"/>
          </a:ln>
        </p:spPr>
      </p:sp>
      <p:sp>
        <p:nvSpPr>
          <p:cNvPr id="51226" name="Text Box 38"/>
          <p:cNvSpPr txBox="1"/>
          <p:nvPr/>
        </p:nvSpPr>
        <p:spPr>
          <a:xfrm>
            <a:off x="2484438" y="1917700"/>
            <a:ext cx="311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9</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7" name="Text Box 39"/>
          <p:cNvSpPr txBox="1"/>
          <p:nvPr/>
        </p:nvSpPr>
        <p:spPr>
          <a:xfrm>
            <a:off x="3348038" y="1989138"/>
            <a:ext cx="3111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4</a:t>
            </a:r>
            <a:endParaRPr lang="en-US" altLang="zh-CN" sz="1800" dirty="0">
              <a:solidFill>
                <a:schemeClr val="tx1"/>
              </a:solidFill>
              <a:latin typeface="Arial" panose="020B0604020202020204" pitchFamily="34" charset="0"/>
              <a:ea typeface="宋体" panose="02010600030101010101" pitchFamily="2" charset="-122"/>
            </a:endParaRPr>
          </a:p>
        </p:txBody>
      </p:sp>
      <p:sp>
        <p:nvSpPr>
          <p:cNvPr id="51228" name="Text Box 40"/>
          <p:cNvSpPr txBox="1"/>
          <p:nvPr/>
        </p:nvSpPr>
        <p:spPr>
          <a:xfrm>
            <a:off x="3851275" y="1917700"/>
            <a:ext cx="4381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13</a:t>
            </a:r>
            <a:endParaRPr lang="en-US" altLang="zh-CN" sz="1800" dirty="0">
              <a:solidFill>
                <a:schemeClr val="tx1"/>
              </a:solidFill>
              <a:latin typeface="Arial" panose="020B0604020202020204" pitchFamily="34" charset="0"/>
              <a:ea typeface="宋体" panose="02010600030101010101" pitchFamily="2" charset="-122"/>
            </a:endParaRPr>
          </a:p>
        </p:txBody>
      </p:sp>
      <p:pic>
        <p:nvPicPr>
          <p:cNvPr id="51229" name="Picture 42" descr="example"/>
          <p:cNvPicPr>
            <a:picLocks noChangeAspect="1"/>
          </p:cNvPicPr>
          <p:nvPr/>
        </p:nvPicPr>
        <p:blipFill>
          <a:blip r:embed="rId1"/>
          <a:stretch>
            <a:fillRect/>
          </a:stretch>
        </p:blipFill>
        <p:spPr>
          <a:xfrm>
            <a:off x="971550" y="1341438"/>
            <a:ext cx="342900" cy="457200"/>
          </a:xfrm>
          <a:prstGeom prst="rect">
            <a:avLst/>
          </a:prstGeom>
          <a:noFill/>
          <a:ln w="9525">
            <a:noFill/>
          </a:ln>
        </p:spPr>
      </p:pic>
      <p:sp>
        <p:nvSpPr>
          <p:cNvPr id="125996" name="Text Box 44"/>
          <p:cNvSpPr txBox="1"/>
          <p:nvPr/>
        </p:nvSpPr>
        <p:spPr>
          <a:xfrm>
            <a:off x="900113" y="3157538"/>
            <a:ext cx="1827212" cy="26479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X</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{1,2}</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{1,2,4}</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{1,2,4,3}</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{1,2,4,3,5}</a:t>
            </a:r>
            <a:endParaRPr lang="en-US" altLang="zh-CN" sz="2400" dirty="0">
              <a:solidFill>
                <a:schemeClr val="tx1"/>
              </a:solidFill>
              <a:latin typeface="Arial" panose="020B0604020202020204" pitchFamily="34" charset="0"/>
              <a:ea typeface="宋体" panose="02010600030101010101" pitchFamily="2" charset="-122"/>
            </a:endParaRPr>
          </a:p>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{1,2,4,3,5,6}</a:t>
            </a:r>
            <a:endParaRPr lang="en-US" altLang="zh-CN" sz="2400" dirty="0">
              <a:solidFill>
                <a:schemeClr val="tx1"/>
              </a:solidFill>
              <a:latin typeface="Arial" panose="020B0604020202020204" pitchFamily="34" charset="0"/>
              <a:ea typeface="宋体" panose="02010600030101010101" pitchFamily="2" charset="-122"/>
            </a:endParaRPr>
          </a:p>
        </p:txBody>
      </p:sp>
      <p:sp>
        <p:nvSpPr>
          <p:cNvPr id="51231" name="Text Box 45"/>
          <p:cNvSpPr txBox="1"/>
          <p:nvPr/>
        </p:nvSpPr>
        <p:spPr>
          <a:xfrm>
            <a:off x="5580063" y="908050"/>
            <a:ext cx="387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Y</a:t>
            </a:r>
            <a:endParaRPr lang="en-US" altLang="zh-CN" sz="2400" dirty="0">
              <a:solidFill>
                <a:schemeClr val="tx1"/>
              </a:solidFill>
              <a:latin typeface="Arial" panose="020B0604020202020204" pitchFamily="34" charset="0"/>
              <a:ea typeface="宋体" panose="02010600030101010101" pitchFamily="2" charset="-122"/>
            </a:endParaRPr>
          </a:p>
        </p:txBody>
      </p:sp>
      <p:graphicFrame>
        <p:nvGraphicFramePr>
          <p:cNvPr id="126026" name="Group 74"/>
          <p:cNvGraphicFramePr>
            <a:graphicFrameLocks noGrp="1"/>
          </p:cNvGraphicFramePr>
          <p:nvPr/>
        </p:nvGraphicFramePr>
        <p:xfrm>
          <a:off x="6084888" y="1268413"/>
          <a:ext cx="2449512" cy="842962"/>
        </p:xfrm>
        <a:graphic>
          <a:graphicData uri="http://schemas.openxmlformats.org/drawingml/2006/table">
            <a:tbl>
              <a:tblPr/>
              <a:tblGrid>
                <a:gridCol w="488950"/>
                <a:gridCol w="492125"/>
                <a:gridCol w="487362"/>
                <a:gridCol w="492125"/>
                <a:gridCol w="488950"/>
              </a:tblGrid>
              <a:tr h="431536">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3</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4</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5</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6</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426">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12</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693" marB="456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027" name="Text Box 75"/>
          <p:cNvSpPr txBox="1"/>
          <p:nvPr/>
        </p:nvSpPr>
        <p:spPr>
          <a:xfrm>
            <a:off x="6157913" y="1268413"/>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2</a:t>
            </a:r>
            <a:endParaRPr lang="en-US" altLang="zh-CN" sz="2100" dirty="0">
              <a:latin typeface="Arial" panose="020B0604020202020204" pitchFamily="34" charset="0"/>
              <a:ea typeface="宋体" panose="02010600030101010101" pitchFamily="2" charset="-122"/>
            </a:endParaRPr>
          </a:p>
        </p:txBody>
      </p:sp>
      <p:sp>
        <p:nvSpPr>
          <p:cNvPr id="126028" name="Text Box 76"/>
          <p:cNvSpPr txBox="1"/>
          <p:nvPr/>
        </p:nvSpPr>
        <p:spPr>
          <a:xfrm>
            <a:off x="6157913" y="1700213"/>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1</a:t>
            </a:r>
            <a:endParaRPr lang="en-US" altLang="zh-CN" sz="2100" dirty="0">
              <a:latin typeface="Arial" panose="020B0604020202020204" pitchFamily="34" charset="0"/>
              <a:ea typeface="宋体" panose="02010600030101010101" pitchFamily="2" charset="-122"/>
            </a:endParaRPr>
          </a:p>
        </p:txBody>
      </p:sp>
      <p:graphicFrame>
        <p:nvGraphicFramePr>
          <p:cNvPr id="126052" name="Group 100"/>
          <p:cNvGraphicFramePr>
            <a:graphicFrameLocks noGrp="1"/>
          </p:cNvGraphicFramePr>
          <p:nvPr/>
        </p:nvGraphicFramePr>
        <p:xfrm>
          <a:off x="6230938" y="2390775"/>
          <a:ext cx="2039937" cy="822436"/>
        </p:xfrm>
        <a:graphic>
          <a:graphicData uri="http://schemas.openxmlformats.org/drawingml/2006/table">
            <a:tbl>
              <a:tblPr/>
              <a:tblGrid>
                <a:gridCol w="509587"/>
                <a:gridCol w="511175"/>
                <a:gridCol w="509588"/>
                <a:gridCol w="509587"/>
              </a:tblGrid>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3</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5</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6</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10</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054" name="Text Box 102"/>
          <p:cNvSpPr txBox="1"/>
          <p:nvPr/>
        </p:nvSpPr>
        <p:spPr>
          <a:xfrm>
            <a:off x="6805613" y="2390775"/>
            <a:ext cx="331787" cy="412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4</a:t>
            </a:r>
            <a:endParaRPr lang="en-US" altLang="zh-CN" sz="2100" dirty="0">
              <a:latin typeface="Arial" panose="020B0604020202020204" pitchFamily="34" charset="0"/>
              <a:ea typeface="宋体" panose="02010600030101010101" pitchFamily="2" charset="-122"/>
            </a:endParaRPr>
          </a:p>
        </p:txBody>
      </p:sp>
      <p:sp>
        <p:nvSpPr>
          <p:cNvPr id="126055" name="Text Box 103"/>
          <p:cNvSpPr txBox="1"/>
          <p:nvPr/>
        </p:nvSpPr>
        <p:spPr>
          <a:xfrm>
            <a:off x="6850063" y="2800350"/>
            <a:ext cx="331787" cy="4127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4</a:t>
            </a:r>
            <a:endParaRPr lang="en-US" altLang="zh-CN" sz="2100" dirty="0">
              <a:latin typeface="Arial" panose="020B0604020202020204" pitchFamily="34" charset="0"/>
              <a:ea typeface="宋体" panose="02010600030101010101" pitchFamily="2" charset="-122"/>
            </a:endParaRPr>
          </a:p>
        </p:txBody>
      </p:sp>
      <p:graphicFrame>
        <p:nvGraphicFramePr>
          <p:cNvPr id="126091" name="Group 139"/>
          <p:cNvGraphicFramePr>
            <a:graphicFrameLocks noGrp="1"/>
          </p:cNvGraphicFramePr>
          <p:nvPr/>
        </p:nvGraphicFramePr>
        <p:xfrm>
          <a:off x="6302375" y="3355975"/>
          <a:ext cx="1824038" cy="822436"/>
        </p:xfrm>
        <a:graphic>
          <a:graphicData uri="http://schemas.openxmlformats.org/drawingml/2006/table">
            <a:tbl>
              <a:tblPr/>
              <a:tblGrid>
                <a:gridCol w="608013"/>
                <a:gridCol w="608012"/>
                <a:gridCol w="608013"/>
              </a:tblGrid>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5</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6</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17</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19</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092" name="Text Box 140"/>
          <p:cNvSpPr txBox="1"/>
          <p:nvPr/>
        </p:nvSpPr>
        <p:spPr>
          <a:xfrm>
            <a:off x="6446838" y="3355975"/>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3</a:t>
            </a:r>
            <a:endParaRPr lang="en-US" altLang="zh-CN" sz="2100" dirty="0">
              <a:latin typeface="Arial" panose="020B0604020202020204" pitchFamily="34" charset="0"/>
              <a:ea typeface="宋体" panose="02010600030101010101" pitchFamily="2" charset="-122"/>
            </a:endParaRPr>
          </a:p>
        </p:txBody>
      </p:sp>
      <p:sp>
        <p:nvSpPr>
          <p:cNvPr id="126093" name="Text Box 141"/>
          <p:cNvSpPr txBox="1"/>
          <p:nvPr/>
        </p:nvSpPr>
        <p:spPr>
          <a:xfrm>
            <a:off x="6446838" y="3787775"/>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8</a:t>
            </a:r>
            <a:endParaRPr lang="en-US" altLang="zh-CN" sz="2100" dirty="0">
              <a:latin typeface="Arial" panose="020B0604020202020204" pitchFamily="34" charset="0"/>
              <a:ea typeface="宋体" panose="02010600030101010101" pitchFamily="2" charset="-122"/>
            </a:endParaRPr>
          </a:p>
        </p:txBody>
      </p:sp>
      <p:graphicFrame>
        <p:nvGraphicFramePr>
          <p:cNvPr id="126108" name="Group 156"/>
          <p:cNvGraphicFramePr>
            <a:graphicFrameLocks noGrp="1"/>
          </p:cNvGraphicFramePr>
          <p:nvPr/>
        </p:nvGraphicFramePr>
        <p:xfrm>
          <a:off x="6373813" y="4364038"/>
          <a:ext cx="1031875" cy="822436"/>
        </p:xfrm>
        <a:graphic>
          <a:graphicData uri="http://schemas.openxmlformats.org/drawingml/2006/table">
            <a:tbl>
              <a:tblPr/>
              <a:tblGrid>
                <a:gridCol w="515937"/>
                <a:gridCol w="515938"/>
              </a:tblGrid>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6</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1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rPr>
                        <a:t>19</a:t>
                      </a:r>
                      <a:endParaRPr kumimoji="0" lang="en-US"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9" marB="4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109" name="Text Box 157"/>
          <p:cNvSpPr txBox="1"/>
          <p:nvPr/>
        </p:nvSpPr>
        <p:spPr>
          <a:xfrm>
            <a:off x="6475413" y="4335463"/>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5</a:t>
            </a:r>
            <a:endParaRPr lang="en-US" altLang="zh-CN" sz="2100" dirty="0">
              <a:latin typeface="Arial" panose="020B0604020202020204" pitchFamily="34" charset="0"/>
              <a:ea typeface="宋体" panose="02010600030101010101" pitchFamily="2" charset="-122"/>
            </a:endParaRPr>
          </a:p>
        </p:txBody>
      </p:sp>
      <p:sp>
        <p:nvSpPr>
          <p:cNvPr id="126110" name="Text Box 158"/>
          <p:cNvSpPr txBox="1"/>
          <p:nvPr/>
        </p:nvSpPr>
        <p:spPr>
          <a:xfrm>
            <a:off x="6373813" y="4767263"/>
            <a:ext cx="690562"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13</a:t>
            </a:r>
            <a:endParaRPr lang="en-US" altLang="zh-CN" sz="2100" dirty="0">
              <a:latin typeface="Arial" panose="020B0604020202020204" pitchFamily="34" charset="0"/>
              <a:ea typeface="宋体" panose="02010600030101010101" pitchFamily="2" charset="-122"/>
            </a:endParaRPr>
          </a:p>
        </p:txBody>
      </p:sp>
      <p:graphicFrame>
        <p:nvGraphicFramePr>
          <p:cNvPr id="126121" name="Group 169"/>
          <p:cNvGraphicFramePr>
            <a:graphicFrameLocks noGrp="1"/>
          </p:cNvGraphicFramePr>
          <p:nvPr/>
        </p:nvGraphicFramePr>
        <p:xfrm>
          <a:off x="6443663" y="5300663"/>
          <a:ext cx="527050" cy="822412"/>
        </p:xfrm>
        <a:graphic>
          <a:graphicData uri="http://schemas.openxmlformats.org/drawingml/2006/table">
            <a:tbl>
              <a:tblPr/>
              <a:tblGrid>
                <a:gridCol w="527050"/>
              </a:tblGrid>
              <a:tr h="4111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1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marT="45583" marB="4558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6122" name="Text Box 170"/>
          <p:cNvSpPr txBox="1"/>
          <p:nvPr/>
        </p:nvSpPr>
        <p:spPr>
          <a:xfrm>
            <a:off x="6516688" y="5321300"/>
            <a:ext cx="331787"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6</a:t>
            </a:r>
            <a:endParaRPr lang="en-US" altLang="zh-CN" sz="2100" dirty="0">
              <a:latin typeface="Arial" panose="020B0604020202020204" pitchFamily="34" charset="0"/>
              <a:ea typeface="宋体" panose="02010600030101010101" pitchFamily="2" charset="-122"/>
            </a:endParaRPr>
          </a:p>
        </p:txBody>
      </p:sp>
      <p:sp>
        <p:nvSpPr>
          <p:cNvPr id="126123" name="Text Box 171"/>
          <p:cNvSpPr txBox="1"/>
          <p:nvPr/>
        </p:nvSpPr>
        <p:spPr>
          <a:xfrm>
            <a:off x="6445250" y="5734050"/>
            <a:ext cx="647700" cy="4127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100" dirty="0">
                <a:latin typeface="Arial" panose="020B0604020202020204" pitchFamily="34" charset="0"/>
                <a:ea typeface="宋体" panose="02010600030101010101" pitchFamily="2" charset="-122"/>
              </a:rPr>
              <a:t>17</a:t>
            </a:r>
            <a:endParaRPr lang="en-US" altLang="zh-CN" sz="2100" dirty="0">
              <a:latin typeface="Arial" panose="020B0604020202020204" pitchFamily="34" charset="0"/>
              <a:ea typeface="宋体" panose="02010600030101010101" pitchFamily="2" charset="-122"/>
            </a:endParaRPr>
          </a:p>
        </p:txBody>
      </p:sp>
      <p:sp>
        <p:nvSpPr>
          <p:cNvPr id="126124" name="Text Box 172"/>
          <p:cNvSpPr txBox="1"/>
          <p:nvPr/>
        </p:nvSpPr>
        <p:spPr>
          <a:xfrm>
            <a:off x="3635375" y="4797425"/>
            <a:ext cx="1420813" cy="457200"/>
          </a:xfrm>
          <a:prstGeom prst="rect">
            <a:avLst/>
          </a:prstGeom>
          <a:solidFill>
            <a:srgbClr val="FF0000"/>
          </a:solid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400" dirty="0">
                <a:solidFill>
                  <a:schemeClr val="tx1"/>
                </a:solidFill>
                <a:latin typeface="Arial" panose="020B0604020202020204" pitchFamily="34" charset="0"/>
                <a:ea typeface="宋体" panose="02010600030101010101" pitchFamily="2" charset="-122"/>
              </a:rPr>
              <a:t>Success!</a:t>
            </a:r>
            <a:endParaRPr lang="en-US" altLang="zh-CN" sz="2400" dirty="0">
              <a:solidFill>
                <a:schemeClr val="tx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5996">
                                            <p:txEl>
                                              <p:pRg st="1" end="1"/>
                                            </p:txEl>
                                          </p:spTgt>
                                        </p:tgtEl>
                                        <p:attrNameLst>
                                          <p:attrName>style.visibility</p:attrName>
                                        </p:attrNameLst>
                                      </p:cBhvr>
                                      <p:to>
                                        <p:strVal val="visible"/>
                                      </p:to>
                                    </p:set>
                                    <p:animEffect transition="in" filter="blinds(horizontal)">
                                      <p:cBhvr>
                                        <p:cTn id="7" dur="500"/>
                                        <p:tgtEl>
                                          <p:spTgt spid="12599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6026"/>
                                        </p:tgtEl>
                                        <p:attrNameLst>
                                          <p:attrName>style.visibility</p:attrName>
                                        </p:attrNameLst>
                                      </p:cBhvr>
                                      <p:to>
                                        <p:strVal val="visible"/>
                                      </p:to>
                                    </p:set>
                                    <p:animEffect transition="in" filter="blinds(horizontal)">
                                      <p:cBhvr>
                                        <p:cTn id="10" dur="500"/>
                                        <p:tgtEl>
                                          <p:spTgt spid="12602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6027"/>
                                        </p:tgtEl>
                                        <p:attrNameLst>
                                          <p:attrName>style.visibility</p:attrName>
                                        </p:attrNameLst>
                                      </p:cBhvr>
                                      <p:to>
                                        <p:strVal val="visible"/>
                                      </p:to>
                                    </p:set>
                                    <p:animEffect transition="in" filter="blinds(horizontal)">
                                      <p:cBhvr>
                                        <p:cTn id="13" dur="500"/>
                                        <p:tgtEl>
                                          <p:spTgt spid="12602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6028"/>
                                        </p:tgtEl>
                                        <p:attrNameLst>
                                          <p:attrName>style.visibility</p:attrName>
                                        </p:attrNameLst>
                                      </p:cBhvr>
                                      <p:to>
                                        <p:strVal val="visible"/>
                                      </p:to>
                                    </p:set>
                                    <p:animEffect transition="in" filter="blinds(horizontal)">
                                      <p:cBhvr>
                                        <p:cTn id="16" dur="500"/>
                                        <p:tgtEl>
                                          <p:spTgt spid="126028"/>
                                        </p:tgtEl>
                                      </p:cBhvr>
                                    </p:animEffect>
                                  </p:childTnLst>
                                </p:cTn>
                              </p:par>
                            </p:childTnLst>
                          </p:cTn>
                        </p:par>
                      </p:childTnLst>
                    </p:cTn>
                  </p:par>
                  <p:par>
                    <p:cTn id="17" fill="hold">
                      <p:stCondLst>
                        <p:cond delay="indefinite"/>
                      </p:stCondLst>
                      <p:childTnLst>
                        <p:par>
                          <p:cTn id="18" fill="hold">
                            <p:stCondLst>
                              <p:cond delay="0"/>
                            </p:stCondLst>
                            <p:childTnLst>
                              <p:par>
                                <p:cTn id="19" presetID="35" presetClass="emph" presetSubtype="0" fill="hold" grpId="1" nodeType="clickEffect">
                                  <p:stCondLst>
                                    <p:cond delay="0"/>
                                  </p:stCondLst>
                                  <p:childTnLst>
                                    <p:anim calcmode="discrete" valueType="str">
                                      <p:cBhvr>
                                        <p:cTn id="20" dur="1000" fill="hold"/>
                                        <p:tgtEl>
                                          <p:spTgt spid="126027"/>
                                        </p:tgtEl>
                                        <p:attrNameLst>
                                          <p:attrName>style.visibility</p:attrName>
                                        </p:attrNameLst>
                                      </p:cBhvr>
                                      <p:tavLst>
                                        <p:tav tm="0">
                                          <p:val>
                                            <p:strVal val="hidden"/>
                                          </p:val>
                                        </p:tav>
                                        <p:tav tm="50000">
                                          <p:val>
                                            <p:strVal val="visible"/>
                                          </p:val>
                                        </p:tav>
                                      </p:tavLst>
                                    </p:anim>
                                  </p:childTnLst>
                                </p:cTn>
                              </p:par>
                              <p:par>
                                <p:cTn id="21" presetID="35" presetClass="emph" presetSubtype="0" fill="hold" grpId="1" nodeType="withEffect">
                                  <p:stCondLst>
                                    <p:cond delay="0"/>
                                  </p:stCondLst>
                                  <p:childTnLst>
                                    <p:anim calcmode="discrete" valueType="str">
                                      <p:cBhvr>
                                        <p:cTn id="22" dur="1000" fill="hold"/>
                                        <p:tgtEl>
                                          <p:spTgt spid="126028"/>
                                        </p:tgtEl>
                                        <p:attrNameLst>
                                          <p:attrName>style.visibility</p:attrName>
                                        </p:attrNameLst>
                                      </p:cBhvr>
                                      <p:tavLst>
                                        <p:tav tm="0">
                                          <p:val>
                                            <p:strVal val="hidden"/>
                                          </p:val>
                                        </p:tav>
                                        <p:tav tm="50000">
                                          <p:val>
                                            <p:strVal val="visible"/>
                                          </p:val>
                                        </p:tav>
                                      </p:tavLst>
                                    </p:anim>
                                  </p:childTnLst>
                                </p:cTn>
                              </p:par>
                              <p:par>
                                <p:cTn id="23" presetID="3" presetClass="emph" presetSubtype="2" fill="hold" grpId="2" nodeType="withEffect">
                                  <p:stCondLst>
                                    <p:cond delay="0"/>
                                  </p:stCondLst>
                                  <p:childTnLst>
                                    <p:animClr clrSpc="rgb" dir="cw">
                                      <p:cBhvr override="childStyle">
                                        <p:cTn id="24" dur="2000" fill="hold"/>
                                        <p:tgtEl>
                                          <p:spTgt spid="126027"/>
                                        </p:tgtEl>
                                        <p:attrNameLst>
                                          <p:attrName>style.color</p:attrName>
                                        </p:attrNameLst>
                                      </p:cBhvr>
                                      <p:to>
                                        <a:srgbClr val="FF0000"/>
                                      </p:to>
                                    </p:animClr>
                                  </p:childTnLst>
                                </p:cTn>
                              </p:par>
                              <p:par>
                                <p:cTn id="25" presetID="3" presetClass="emph" presetSubtype="2" fill="hold" grpId="2" nodeType="withEffect">
                                  <p:stCondLst>
                                    <p:cond delay="0"/>
                                  </p:stCondLst>
                                  <p:childTnLst>
                                    <p:animClr clrSpc="rgb" dir="cw">
                                      <p:cBhvr override="childStyle">
                                        <p:cTn id="26" dur="2000" fill="hold"/>
                                        <p:tgtEl>
                                          <p:spTgt spid="126028"/>
                                        </p:tgtEl>
                                        <p:attrNameLst>
                                          <p:attrName>style.color</p:attrName>
                                        </p:attrNameLst>
                                      </p:cBhvr>
                                      <p:to>
                                        <a:srgbClr val="FF0000"/>
                                      </p:to>
                                    </p:animClr>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5996">
                                            <p:txEl>
                                              <p:pRg st="2" end="2"/>
                                            </p:txEl>
                                          </p:spTgt>
                                        </p:tgtEl>
                                        <p:attrNameLst>
                                          <p:attrName>style.visibility</p:attrName>
                                        </p:attrNameLst>
                                      </p:cBhvr>
                                      <p:to>
                                        <p:strVal val="visible"/>
                                      </p:to>
                                    </p:set>
                                    <p:animEffect transition="in" filter="blinds(horizontal)">
                                      <p:cBhvr>
                                        <p:cTn id="31" dur="500"/>
                                        <p:tgtEl>
                                          <p:spTgt spid="125996">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26052"/>
                                        </p:tgtEl>
                                        <p:attrNameLst>
                                          <p:attrName>style.visibility</p:attrName>
                                        </p:attrNameLst>
                                      </p:cBhvr>
                                      <p:to>
                                        <p:strVal val="visible"/>
                                      </p:to>
                                    </p:set>
                                    <p:animEffect transition="in" filter="blinds(horizontal)">
                                      <p:cBhvr>
                                        <p:cTn id="36" dur="500"/>
                                        <p:tgtEl>
                                          <p:spTgt spid="12605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26054"/>
                                        </p:tgtEl>
                                        <p:attrNameLst>
                                          <p:attrName>style.visibility</p:attrName>
                                        </p:attrNameLst>
                                      </p:cBhvr>
                                      <p:to>
                                        <p:strVal val="visible"/>
                                      </p:to>
                                    </p:set>
                                    <p:animEffect transition="in" filter="blinds(horizontal)">
                                      <p:cBhvr>
                                        <p:cTn id="39" dur="500"/>
                                        <p:tgtEl>
                                          <p:spTgt spid="12605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26055"/>
                                        </p:tgtEl>
                                        <p:attrNameLst>
                                          <p:attrName>style.visibility</p:attrName>
                                        </p:attrNameLst>
                                      </p:cBhvr>
                                      <p:to>
                                        <p:strVal val="visible"/>
                                      </p:to>
                                    </p:set>
                                    <p:animEffect transition="in" filter="blinds(horizontal)">
                                      <p:cBhvr>
                                        <p:cTn id="42" dur="500"/>
                                        <p:tgtEl>
                                          <p:spTgt spid="12605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grpId="1" nodeType="clickEffect">
                                  <p:stCondLst>
                                    <p:cond delay="0"/>
                                  </p:stCondLst>
                                  <p:childTnLst>
                                    <p:animClr clrSpc="rgb" dir="cw">
                                      <p:cBhvr override="childStyle">
                                        <p:cTn id="46" dur="2000" fill="hold"/>
                                        <p:tgtEl>
                                          <p:spTgt spid="126054"/>
                                        </p:tgtEl>
                                        <p:attrNameLst>
                                          <p:attrName>style.color</p:attrName>
                                        </p:attrNameLst>
                                      </p:cBhvr>
                                      <p:to>
                                        <a:srgbClr val="FF0000"/>
                                      </p:to>
                                    </p:animClr>
                                  </p:childTnLst>
                                </p:cTn>
                              </p:par>
                              <p:par>
                                <p:cTn id="47" presetID="3" presetClass="emph" presetSubtype="2" fill="hold" grpId="1" nodeType="withEffect">
                                  <p:stCondLst>
                                    <p:cond delay="0"/>
                                  </p:stCondLst>
                                  <p:childTnLst>
                                    <p:animClr clrSpc="rgb" dir="cw">
                                      <p:cBhvr override="childStyle">
                                        <p:cTn id="48" dur="2000" fill="hold"/>
                                        <p:tgtEl>
                                          <p:spTgt spid="126055"/>
                                        </p:tgtEl>
                                        <p:attrNameLst>
                                          <p:attrName>style.color</p:attrName>
                                        </p:attrNameLst>
                                      </p:cBhvr>
                                      <p:to>
                                        <a:srgbClr val="FF0000"/>
                                      </p:to>
                                    </p:animClr>
                                  </p:childTnLst>
                                </p:cTn>
                              </p:par>
                              <p:par>
                                <p:cTn id="49" presetID="35" presetClass="emph" presetSubtype="0" fill="hold" grpId="2" nodeType="withEffect">
                                  <p:stCondLst>
                                    <p:cond delay="0"/>
                                  </p:stCondLst>
                                  <p:childTnLst>
                                    <p:anim calcmode="discrete" valueType="str">
                                      <p:cBhvr>
                                        <p:cTn id="50" dur="1000" fill="hold"/>
                                        <p:tgtEl>
                                          <p:spTgt spid="126054"/>
                                        </p:tgtEl>
                                        <p:attrNameLst>
                                          <p:attrName>style.visibility</p:attrName>
                                        </p:attrNameLst>
                                      </p:cBhvr>
                                      <p:tavLst>
                                        <p:tav tm="0">
                                          <p:val>
                                            <p:strVal val="hidden"/>
                                          </p:val>
                                        </p:tav>
                                        <p:tav tm="50000">
                                          <p:val>
                                            <p:strVal val="visible"/>
                                          </p:val>
                                        </p:tav>
                                      </p:tavLst>
                                    </p:anim>
                                  </p:childTnLst>
                                </p:cTn>
                              </p:par>
                              <p:par>
                                <p:cTn id="51" presetID="35" presetClass="emph" presetSubtype="0" fill="hold" grpId="2" nodeType="withEffect">
                                  <p:stCondLst>
                                    <p:cond delay="0"/>
                                  </p:stCondLst>
                                  <p:childTnLst>
                                    <p:anim calcmode="discrete" valueType="str">
                                      <p:cBhvr>
                                        <p:cTn id="52" dur="1000" fill="hold"/>
                                        <p:tgtEl>
                                          <p:spTgt spid="126055"/>
                                        </p:tgtEl>
                                        <p:attrNameLst>
                                          <p:attrName>style.visibility</p:attrName>
                                        </p:attrNameLst>
                                      </p:cBhvr>
                                      <p:tavLst>
                                        <p:tav tm="0">
                                          <p:val>
                                            <p:strVal val="hidden"/>
                                          </p:val>
                                        </p:tav>
                                        <p:tav tm="50000">
                                          <p:val>
                                            <p:strVal val="visible"/>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25996">
                                            <p:txEl>
                                              <p:pRg st="3" end="3"/>
                                            </p:txEl>
                                          </p:spTgt>
                                        </p:tgtEl>
                                        <p:attrNameLst>
                                          <p:attrName>style.visibility</p:attrName>
                                        </p:attrNameLst>
                                      </p:cBhvr>
                                      <p:to>
                                        <p:strVal val="visible"/>
                                      </p:to>
                                    </p:set>
                                    <p:animEffect transition="in" filter="blinds(horizontal)">
                                      <p:cBhvr>
                                        <p:cTn id="57" dur="500"/>
                                        <p:tgtEl>
                                          <p:spTgt spid="12599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6091"/>
                                        </p:tgtEl>
                                        <p:attrNameLst>
                                          <p:attrName>style.visibility</p:attrName>
                                        </p:attrNameLst>
                                      </p:cBhvr>
                                      <p:to>
                                        <p:strVal val="visible"/>
                                      </p:to>
                                    </p:set>
                                    <p:animEffect transition="in" filter="blinds(horizontal)">
                                      <p:cBhvr>
                                        <p:cTn id="62" dur="500"/>
                                        <p:tgtEl>
                                          <p:spTgt spid="126091"/>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126092"/>
                                        </p:tgtEl>
                                        <p:attrNameLst>
                                          <p:attrName>style.visibility</p:attrName>
                                        </p:attrNameLst>
                                      </p:cBhvr>
                                      <p:to>
                                        <p:strVal val="visible"/>
                                      </p:to>
                                    </p:set>
                                    <p:animEffect transition="in" filter="blinds(horizontal)">
                                      <p:cBhvr>
                                        <p:cTn id="65" dur="500"/>
                                        <p:tgtEl>
                                          <p:spTgt spid="126092"/>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126093"/>
                                        </p:tgtEl>
                                        <p:attrNameLst>
                                          <p:attrName>style.visibility</p:attrName>
                                        </p:attrNameLst>
                                      </p:cBhvr>
                                      <p:to>
                                        <p:strVal val="visible"/>
                                      </p:to>
                                    </p:set>
                                    <p:animEffect transition="in" filter="blinds(horizontal)">
                                      <p:cBhvr>
                                        <p:cTn id="68" dur="500"/>
                                        <p:tgtEl>
                                          <p:spTgt spid="126093"/>
                                        </p:tgtEl>
                                      </p:cBhvr>
                                    </p:animEffect>
                                  </p:childTnLst>
                                </p:cTn>
                              </p:par>
                            </p:childTnLst>
                          </p:cTn>
                        </p:par>
                      </p:childTnLst>
                    </p:cTn>
                  </p:par>
                  <p:par>
                    <p:cTn id="69" fill="hold">
                      <p:stCondLst>
                        <p:cond delay="indefinite"/>
                      </p:stCondLst>
                      <p:childTnLst>
                        <p:par>
                          <p:cTn id="70" fill="hold">
                            <p:stCondLst>
                              <p:cond delay="0"/>
                            </p:stCondLst>
                            <p:childTnLst>
                              <p:par>
                                <p:cTn id="71" presetID="35" presetClass="emph" presetSubtype="0" fill="hold" grpId="1" nodeType="clickEffect">
                                  <p:stCondLst>
                                    <p:cond delay="0"/>
                                  </p:stCondLst>
                                  <p:childTnLst>
                                    <p:anim calcmode="discrete" valueType="str">
                                      <p:cBhvr>
                                        <p:cTn id="72" dur="1000" fill="hold"/>
                                        <p:tgtEl>
                                          <p:spTgt spid="126092"/>
                                        </p:tgtEl>
                                        <p:attrNameLst>
                                          <p:attrName>style.visibility</p:attrName>
                                        </p:attrNameLst>
                                      </p:cBhvr>
                                      <p:tavLst>
                                        <p:tav tm="0">
                                          <p:val>
                                            <p:strVal val="hidden"/>
                                          </p:val>
                                        </p:tav>
                                        <p:tav tm="50000">
                                          <p:val>
                                            <p:strVal val="visible"/>
                                          </p:val>
                                        </p:tav>
                                      </p:tavLst>
                                    </p:anim>
                                  </p:childTnLst>
                                </p:cTn>
                              </p:par>
                              <p:par>
                                <p:cTn id="73" presetID="35" presetClass="emph" presetSubtype="0" fill="hold" grpId="1" nodeType="withEffect">
                                  <p:stCondLst>
                                    <p:cond delay="0"/>
                                  </p:stCondLst>
                                  <p:childTnLst>
                                    <p:anim calcmode="discrete" valueType="str">
                                      <p:cBhvr>
                                        <p:cTn id="74" dur="1000" fill="hold"/>
                                        <p:tgtEl>
                                          <p:spTgt spid="126093"/>
                                        </p:tgtEl>
                                        <p:attrNameLst>
                                          <p:attrName>style.visibility</p:attrName>
                                        </p:attrNameLst>
                                      </p:cBhvr>
                                      <p:tavLst>
                                        <p:tav tm="0">
                                          <p:val>
                                            <p:strVal val="hidden"/>
                                          </p:val>
                                        </p:tav>
                                        <p:tav tm="50000">
                                          <p:val>
                                            <p:strVal val="visible"/>
                                          </p:val>
                                        </p:tav>
                                      </p:tavLst>
                                    </p:anim>
                                  </p:childTnLst>
                                </p:cTn>
                              </p:par>
                              <p:par>
                                <p:cTn id="75" presetID="3" presetClass="emph" presetSubtype="2" fill="hold" grpId="2" nodeType="withEffect">
                                  <p:stCondLst>
                                    <p:cond delay="0"/>
                                  </p:stCondLst>
                                  <p:childTnLst>
                                    <p:animClr clrSpc="rgb" dir="cw">
                                      <p:cBhvr override="childStyle">
                                        <p:cTn id="76" dur="2000" fill="hold"/>
                                        <p:tgtEl>
                                          <p:spTgt spid="126092"/>
                                        </p:tgtEl>
                                        <p:attrNameLst>
                                          <p:attrName>style.color</p:attrName>
                                        </p:attrNameLst>
                                      </p:cBhvr>
                                      <p:to>
                                        <a:srgbClr val="FF0000"/>
                                      </p:to>
                                    </p:animClr>
                                  </p:childTnLst>
                                </p:cTn>
                              </p:par>
                              <p:par>
                                <p:cTn id="77" presetID="3" presetClass="emph" presetSubtype="2" fill="hold" grpId="2" nodeType="withEffect">
                                  <p:stCondLst>
                                    <p:cond delay="0"/>
                                  </p:stCondLst>
                                  <p:childTnLst>
                                    <p:animClr clrSpc="rgb" dir="cw">
                                      <p:cBhvr override="childStyle">
                                        <p:cTn id="78" dur="2000" fill="hold"/>
                                        <p:tgtEl>
                                          <p:spTgt spid="126093"/>
                                        </p:tgtEl>
                                        <p:attrNameLst>
                                          <p:attrName>style.color</p:attrName>
                                        </p:attrNameLst>
                                      </p:cBhvr>
                                      <p:to>
                                        <a:srgbClr val="FF0000"/>
                                      </p:to>
                                    </p:animClr>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125996">
                                            <p:txEl>
                                              <p:pRg st="4" end="4"/>
                                            </p:txEl>
                                          </p:spTgt>
                                        </p:tgtEl>
                                        <p:attrNameLst>
                                          <p:attrName>style.visibility</p:attrName>
                                        </p:attrNameLst>
                                      </p:cBhvr>
                                      <p:to>
                                        <p:strVal val="visible"/>
                                      </p:to>
                                    </p:set>
                                    <p:animEffect transition="in" filter="blinds(horizontal)">
                                      <p:cBhvr>
                                        <p:cTn id="83" dur="500"/>
                                        <p:tgtEl>
                                          <p:spTgt spid="125996">
                                            <p:txEl>
                                              <p:pRg st="4" end="4"/>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126108"/>
                                        </p:tgtEl>
                                        <p:attrNameLst>
                                          <p:attrName>style.visibility</p:attrName>
                                        </p:attrNameLst>
                                      </p:cBhvr>
                                      <p:to>
                                        <p:strVal val="visible"/>
                                      </p:to>
                                    </p:set>
                                    <p:animEffect transition="in" filter="blinds(horizontal)">
                                      <p:cBhvr>
                                        <p:cTn id="88" dur="500"/>
                                        <p:tgtEl>
                                          <p:spTgt spid="126108"/>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26109"/>
                                        </p:tgtEl>
                                        <p:attrNameLst>
                                          <p:attrName>style.visibility</p:attrName>
                                        </p:attrNameLst>
                                      </p:cBhvr>
                                      <p:to>
                                        <p:strVal val="visible"/>
                                      </p:to>
                                    </p:set>
                                    <p:animEffect transition="in" filter="blinds(horizontal)">
                                      <p:cBhvr>
                                        <p:cTn id="91" dur="500"/>
                                        <p:tgtEl>
                                          <p:spTgt spid="126109"/>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26110"/>
                                        </p:tgtEl>
                                        <p:attrNameLst>
                                          <p:attrName>style.visibility</p:attrName>
                                        </p:attrNameLst>
                                      </p:cBhvr>
                                      <p:to>
                                        <p:strVal val="visible"/>
                                      </p:to>
                                    </p:set>
                                    <p:animEffect transition="in" filter="blinds(horizontal)">
                                      <p:cBhvr>
                                        <p:cTn id="94" dur="500"/>
                                        <p:tgtEl>
                                          <p:spTgt spid="126110"/>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mph" presetSubtype="2" fill="hold" grpId="1" nodeType="clickEffect">
                                  <p:stCondLst>
                                    <p:cond delay="0"/>
                                  </p:stCondLst>
                                  <p:childTnLst>
                                    <p:animClr clrSpc="rgb" dir="cw">
                                      <p:cBhvr override="childStyle">
                                        <p:cTn id="98" dur="2000" fill="hold"/>
                                        <p:tgtEl>
                                          <p:spTgt spid="126109"/>
                                        </p:tgtEl>
                                        <p:attrNameLst>
                                          <p:attrName>style.color</p:attrName>
                                        </p:attrNameLst>
                                      </p:cBhvr>
                                      <p:to>
                                        <a:srgbClr val="FF0000"/>
                                      </p:to>
                                    </p:animClr>
                                  </p:childTnLst>
                                </p:cTn>
                              </p:par>
                              <p:par>
                                <p:cTn id="99" presetID="3" presetClass="emph" presetSubtype="2" fill="hold" grpId="1" nodeType="withEffect">
                                  <p:stCondLst>
                                    <p:cond delay="0"/>
                                  </p:stCondLst>
                                  <p:childTnLst>
                                    <p:animClr clrSpc="rgb" dir="cw">
                                      <p:cBhvr override="childStyle">
                                        <p:cTn id="100" dur="2000" fill="hold"/>
                                        <p:tgtEl>
                                          <p:spTgt spid="126110"/>
                                        </p:tgtEl>
                                        <p:attrNameLst>
                                          <p:attrName>style.color</p:attrName>
                                        </p:attrNameLst>
                                      </p:cBhvr>
                                      <p:to>
                                        <a:srgbClr val="FF0000"/>
                                      </p:to>
                                    </p:animClr>
                                  </p:childTnLst>
                                </p:cTn>
                              </p:par>
                              <p:par>
                                <p:cTn id="101" presetID="35" presetClass="emph" presetSubtype="0" fill="hold" grpId="2" nodeType="withEffect">
                                  <p:stCondLst>
                                    <p:cond delay="0"/>
                                  </p:stCondLst>
                                  <p:childTnLst>
                                    <p:anim calcmode="discrete" valueType="str">
                                      <p:cBhvr>
                                        <p:cTn id="102" dur="1000" fill="hold"/>
                                        <p:tgtEl>
                                          <p:spTgt spid="126109"/>
                                        </p:tgtEl>
                                        <p:attrNameLst>
                                          <p:attrName>style.visibility</p:attrName>
                                        </p:attrNameLst>
                                      </p:cBhvr>
                                      <p:tavLst>
                                        <p:tav tm="0">
                                          <p:val>
                                            <p:strVal val="hidden"/>
                                          </p:val>
                                        </p:tav>
                                        <p:tav tm="50000">
                                          <p:val>
                                            <p:strVal val="visible"/>
                                          </p:val>
                                        </p:tav>
                                      </p:tavLst>
                                    </p:anim>
                                  </p:childTnLst>
                                </p:cTn>
                              </p:par>
                              <p:par>
                                <p:cTn id="103" presetID="35" presetClass="emph" presetSubtype="0" fill="hold" grpId="2" nodeType="withEffect">
                                  <p:stCondLst>
                                    <p:cond delay="0"/>
                                  </p:stCondLst>
                                  <p:childTnLst>
                                    <p:anim calcmode="discrete" valueType="str">
                                      <p:cBhvr>
                                        <p:cTn id="104" dur="1000" fill="hold"/>
                                        <p:tgtEl>
                                          <p:spTgt spid="126110"/>
                                        </p:tgtEl>
                                        <p:attrNameLst>
                                          <p:attrName>style.visibility</p:attrName>
                                        </p:attrNameLst>
                                      </p:cBhvr>
                                      <p:tavLst>
                                        <p:tav tm="0">
                                          <p:val>
                                            <p:strVal val="hidden"/>
                                          </p:val>
                                        </p:tav>
                                        <p:tav tm="50000">
                                          <p:val>
                                            <p:strVal val="visible"/>
                                          </p:val>
                                        </p:tav>
                                      </p:tavLst>
                                    </p:anim>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125996">
                                            <p:txEl>
                                              <p:pRg st="5" end="5"/>
                                            </p:txEl>
                                          </p:spTgt>
                                        </p:tgtEl>
                                        <p:attrNameLst>
                                          <p:attrName>style.visibility</p:attrName>
                                        </p:attrNameLst>
                                      </p:cBhvr>
                                      <p:to>
                                        <p:strVal val="visible"/>
                                      </p:to>
                                    </p:set>
                                    <p:animEffect transition="in" filter="blinds(horizontal)">
                                      <p:cBhvr>
                                        <p:cTn id="109" dur="500"/>
                                        <p:tgtEl>
                                          <p:spTgt spid="125996">
                                            <p:txEl>
                                              <p:pRg st="5" end="5"/>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nodeType="clickEffect">
                                  <p:stCondLst>
                                    <p:cond delay="0"/>
                                  </p:stCondLst>
                                  <p:childTnLst>
                                    <p:set>
                                      <p:cBhvr>
                                        <p:cTn id="113" dur="1" fill="hold">
                                          <p:stCondLst>
                                            <p:cond delay="0"/>
                                          </p:stCondLst>
                                        </p:cTn>
                                        <p:tgtEl>
                                          <p:spTgt spid="126121"/>
                                        </p:tgtEl>
                                        <p:attrNameLst>
                                          <p:attrName>style.visibility</p:attrName>
                                        </p:attrNameLst>
                                      </p:cBhvr>
                                      <p:to>
                                        <p:strVal val="visible"/>
                                      </p:to>
                                    </p:set>
                                    <p:animEffect transition="in" filter="blinds(horizontal)">
                                      <p:cBhvr>
                                        <p:cTn id="114" dur="500"/>
                                        <p:tgtEl>
                                          <p:spTgt spid="126121"/>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126122"/>
                                        </p:tgtEl>
                                        <p:attrNameLst>
                                          <p:attrName>style.visibility</p:attrName>
                                        </p:attrNameLst>
                                      </p:cBhvr>
                                      <p:to>
                                        <p:strVal val="visible"/>
                                      </p:to>
                                    </p:set>
                                    <p:animEffect transition="in" filter="blinds(horizontal)">
                                      <p:cBhvr>
                                        <p:cTn id="117" dur="500"/>
                                        <p:tgtEl>
                                          <p:spTgt spid="126122"/>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126123"/>
                                        </p:tgtEl>
                                        <p:attrNameLst>
                                          <p:attrName>style.visibility</p:attrName>
                                        </p:attrNameLst>
                                      </p:cBhvr>
                                      <p:to>
                                        <p:strVal val="visible"/>
                                      </p:to>
                                    </p:set>
                                    <p:animEffect transition="in" filter="blinds(horizontal)">
                                      <p:cBhvr>
                                        <p:cTn id="120" dur="500"/>
                                        <p:tgtEl>
                                          <p:spTgt spid="126123"/>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mph" presetSubtype="2" fill="hold" grpId="1" nodeType="clickEffect">
                                  <p:stCondLst>
                                    <p:cond delay="0"/>
                                  </p:stCondLst>
                                  <p:childTnLst>
                                    <p:animClr clrSpc="rgb" dir="cw">
                                      <p:cBhvr override="childStyle">
                                        <p:cTn id="124" dur="2000" fill="hold"/>
                                        <p:tgtEl>
                                          <p:spTgt spid="126122"/>
                                        </p:tgtEl>
                                        <p:attrNameLst>
                                          <p:attrName>style.color</p:attrName>
                                        </p:attrNameLst>
                                      </p:cBhvr>
                                      <p:to>
                                        <a:srgbClr val="FF0000"/>
                                      </p:to>
                                    </p:animClr>
                                  </p:childTnLst>
                                </p:cTn>
                              </p:par>
                              <p:par>
                                <p:cTn id="125" presetID="3" presetClass="emph" presetSubtype="2" fill="hold" grpId="1" nodeType="withEffect">
                                  <p:stCondLst>
                                    <p:cond delay="0"/>
                                  </p:stCondLst>
                                  <p:childTnLst>
                                    <p:animClr clrSpc="rgb" dir="cw">
                                      <p:cBhvr override="childStyle">
                                        <p:cTn id="126" dur="2000" fill="hold"/>
                                        <p:tgtEl>
                                          <p:spTgt spid="126123"/>
                                        </p:tgtEl>
                                        <p:attrNameLst>
                                          <p:attrName>style.color</p:attrName>
                                        </p:attrNameLst>
                                      </p:cBhvr>
                                      <p:to>
                                        <a:srgbClr val="FF0000"/>
                                      </p:to>
                                    </p:animClr>
                                  </p:childTnLst>
                                </p:cTn>
                              </p:par>
                              <p:par>
                                <p:cTn id="127" presetID="35" presetClass="emph" presetSubtype="0" fill="hold" grpId="2" nodeType="withEffect">
                                  <p:stCondLst>
                                    <p:cond delay="0"/>
                                  </p:stCondLst>
                                  <p:childTnLst>
                                    <p:anim calcmode="discrete" valueType="str">
                                      <p:cBhvr>
                                        <p:cTn id="128" dur="1000" fill="hold"/>
                                        <p:tgtEl>
                                          <p:spTgt spid="126122"/>
                                        </p:tgtEl>
                                        <p:attrNameLst>
                                          <p:attrName>style.visibility</p:attrName>
                                        </p:attrNameLst>
                                      </p:cBhvr>
                                      <p:tavLst>
                                        <p:tav tm="0">
                                          <p:val>
                                            <p:strVal val="hidden"/>
                                          </p:val>
                                        </p:tav>
                                        <p:tav tm="50000">
                                          <p:val>
                                            <p:strVal val="visible"/>
                                          </p:val>
                                        </p:tav>
                                      </p:tavLst>
                                    </p:anim>
                                  </p:childTnLst>
                                </p:cTn>
                              </p:par>
                              <p:par>
                                <p:cTn id="129" presetID="35" presetClass="emph" presetSubtype="0" fill="hold" grpId="2" nodeType="withEffect">
                                  <p:stCondLst>
                                    <p:cond delay="0"/>
                                  </p:stCondLst>
                                  <p:childTnLst>
                                    <p:anim calcmode="discrete" valueType="str">
                                      <p:cBhvr>
                                        <p:cTn id="130" dur="1000" fill="hold"/>
                                        <p:tgtEl>
                                          <p:spTgt spid="126123"/>
                                        </p:tgtEl>
                                        <p:attrNameLst>
                                          <p:attrName>style.visibility</p:attrName>
                                        </p:attrNameLst>
                                      </p:cBhvr>
                                      <p:tavLst>
                                        <p:tav tm="0">
                                          <p:val>
                                            <p:strVal val="hidden"/>
                                          </p:val>
                                        </p:tav>
                                        <p:tav tm="50000">
                                          <p:val>
                                            <p:strVal val="visible"/>
                                          </p:val>
                                        </p:tav>
                                      </p:tavLst>
                                    </p:anim>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125996">
                                            <p:txEl>
                                              <p:pRg st="6" end="6"/>
                                            </p:txEl>
                                          </p:spTgt>
                                        </p:tgtEl>
                                        <p:attrNameLst>
                                          <p:attrName>style.visibility</p:attrName>
                                        </p:attrNameLst>
                                      </p:cBhvr>
                                      <p:to>
                                        <p:strVal val="visible"/>
                                      </p:to>
                                    </p:set>
                                    <p:animEffect transition="in" filter="blinds(horizontal)">
                                      <p:cBhvr>
                                        <p:cTn id="135" dur="500"/>
                                        <p:tgtEl>
                                          <p:spTgt spid="125996">
                                            <p:txEl>
                                              <p:pRg st="6" end="6"/>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49" presetClass="entr" presetSubtype="0" decel="100000" fill="hold" grpId="0" nodeType="clickEffect">
                                  <p:stCondLst>
                                    <p:cond delay="0"/>
                                  </p:stCondLst>
                                  <p:childTnLst>
                                    <p:set>
                                      <p:cBhvr>
                                        <p:cTn id="139" dur="1" fill="hold">
                                          <p:stCondLst>
                                            <p:cond delay="0"/>
                                          </p:stCondLst>
                                        </p:cTn>
                                        <p:tgtEl>
                                          <p:spTgt spid="126124"/>
                                        </p:tgtEl>
                                        <p:attrNameLst>
                                          <p:attrName>style.visibility</p:attrName>
                                        </p:attrNameLst>
                                      </p:cBhvr>
                                      <p:to>
                                        <p:strVal val="visible"/>
                                      </p:to>
                                    </p:set>
                                    <p:anim calcmode="lin" valueType="num">
                                      <p:cBhvr>
                                        <p:cTn id="140" dur="500" fill="hold"/>
                                        <p:tgtEl>
                                          <p:spTgt spid="126124"/>
                                        </p:tgtEl>
                                        <p:attrNameLst>
                                          <p:attrName>ppt_w</p:attrName>
                                        </p:attrNameLst>
                                      </p:cBhvr>
                                      <p:tavLst>
                                        <p:tav tm="0">
                                          <p:val>
                                            <p:fltVal val="0"/>
                                          </p:val>
                                        </p:tav>
                                        <p:tav tm="100000">
                                          <p:val>
                                            <p:strVal val="#ppt_w"/>
                                          </p:val>
                                        </p:tav>
                                      </p:tavLst>
                                    </p:anim>
                                    <p:anim calcmode="lin" valueType="num">
                                      <p:cBhvr>
                                        <p:cTn id="141" dur="500" fill="hold"/>
                                        <p:tgtEl>
                                          <p:spTgt spid="126124"/>
                                        </p:tgtEl>
                                        <p:attrNameLst>
                                          <p:attrName>ppt_h</p:attrName>
                                        </p:attrNameLst>
                                      </p:cBhvr>
                                      <p:tavLst>
                                        <p:tav tm="0">
                                          <p:val>
                                            <p:fltVal val="0"/>
                                          </p:val>
                                        </p:tav>
                                        <p:tav tm="100000">
                                          <p:val>
                                            <p:strVal val="#ppt_h"/>
                                          </p:val>
                                        </p:tav>
                                      </p:tavLst>
                                    </p:anim>
                                    <p:anim calcmode="lin" valueType="num">
                                      <p:cBhvr>
                                        <p:cTn id="142" dur="500" fill="hold"/>
                                        <p:tgtEl>
                                          <p:spTgt spid="126124"/>
                                        </p:tgtEl>
                                        <p:attrNameLst>
                                          <p:attrName>style.rotation</p:attrName>
                                        </p:attrNameLst>
                                      </p:cBhvr>
                                      <p:tavLst>
                                        <p:tav tm="0">
                                          <p:val>
                                            <p:fltVal val="360"/>
                                          </p:val>
                                        </p:tav>
                                        <p:tav tm="100000">
                                          <p:val>
                                            <p:fltVal val="0"/>
                                          </p:val>
                                        </p:tav>
                                      </p:tavLst>
                                    </p:anim>
                                    <p:animEffect transition="in" filter="fade">
                                      <p:cBhvr>
                                        <p:cTn id="143" dur="500"/>
                                        <p:tgtEl>
                                          <p:spTgt spid="126124"/>
                                        </p:tgtEl>
                                      </p:cBhvr>
                                    </p:animEffect>
                                  </p:childTnLst>
                                  <p:subTnLst>
                                    <p:audio>
                                      <p:cMediaNode>
                                        <p:cTn display="0" masterRel="sameClick">
                                          <p:stCondLst>
                                            <p:cond evt="begin" delay="0">
                                              <p:tn val="138"/>
                                            </p:cond>
                                          </p:stCondLst>
                                          <p:endCondLst>
                                            <p:cond evt="onStopAudio" delay="0">
                                              <p:tgtEl>
                                                <p:sldTgt/>
                                              </p:tgtEl>
                                            </p:cond>
                                          </p:endCondLst>
                                        </p:cTn>
                                        <p:tgtEl>
                                          <p:sndTgt r:embed="rId2"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27" grpId="0"/>
      <p:bldP spid="126027" grpId="1"/>
      <p:bldP spid="126027" grpId="2"/>
      <p:bldP spid="126028" grpId="0"/>
      <p:bldP spid="126028" grpId="1"/>
      <p:bldP spid="126028" grpId="2"/>
      <p:bldP spid="126054" grpId="0"/>
      <p:bldP spid="126054" grpId="1"/>
      <p:bldP spid="126054" grpId="2"/>
      <p:bldP spid="126055" grpId="0"/>
      <p:bldP spid="126055" grpId="1"/>
      <p:bldP spid="126055" grpId="2"/>
      <p:bldP spid="126092" grpId="0"/>
      <p:bldP spid="126092" grpId="1"/>
      <p:bldP spid="126092" grpId="2"/>
      <p:bldP spid="126093" grpId="0"/>
      <p:bldP spid="126093" grpId="1"/>
      <p:bldP spid="126093" grpId="2"/>
      <p:bldP spid="126109" grpId="0"/>
      <p:bldP spid="126109" grpId="1"/>
      <p:bldP spid="126109" grpId="2"/>
      <p:bldP spid="126110" grpId="0"/>
      <p:bldP spid="126110" grpId="1"/>
      <p:bldP spid="126110" grpId="2"/>
      <p:bldP spid="126122" grpId="0"/>
      <p:bldP spid="126122" grpId="1"/>
      <p:bldP spid="126122" grpId="2"/>
      <p:bldP spid="126123" grpId="0"/>
      <p:bldP spid="126123" grpId="1"/>
      <p:bldP spid="126123" grpId="2"/>
      <p:bldP spid="12612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53251"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en-US" altLang="zh-CN" dirty="0">
                <a:sym typeface="+mn-ea"/>
              </a:rPr>
              <a:t>Dijkstra</a:t>
            </a:r>
            <a:r>
              <a:rPr lang="zh-CN" altLang="en-US" dirty="0">
                <a:sym typeface="+mn-ea"/>
              </a:rPr>
              <a:t>算法</a:t>
            </a:r>
            <a:r>
              <a:rPr lang="en-US" altLang="zh-CN" dirty="0"/>
              <a:t>——</a:t>
            </a:r>
            <a:r>
              <a:rPr lang="zh-CN" altLang="en-US" dirty="0"/>
              <a:t>正确性证明</a:t>
            </a:r>
            <a:endParaRPr lang="en-US" altLang="zh-CN" dirty="0"/>
          </a:p>
        </p:txBody>
      </p:sp>
      <p:sp>
        <p:nvSpPr>
          <p:cNvPr id="22531" name="Rectangle 3"/>
          <p:cNvSpPr>
            <a:spLocks noGrp="1" noChangeArrowheads="1"/>
          </p:cNvSpPr>
          <p:nvPr>
            <p:ph idx="1"/>
          </p:nvPr>
        </p:nvSpPr>
        <p:spPr>
          <a:xfrm>
            <a:off x="755650" y="1125538"/>
            <a:ext cx="7848600" cy="46085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900" b="0" i="0" u="none" strike="noStrike" kern="0" cap="none" spc="0" normalizeH="0" baseline="0" noProof="0" dirty="0">
                <a:ln>
                  <a:noFill/>
                </a:ln>
                <a:solidFill>
                  <a:schemeClr val="accent2"/>
                </a:solidFill>
                <a:effectLst/>
                <a:uLnTx/>
                <a:uFillTx/>
                <a:latin typeface="+mn-lt"/>
                <a:ea typeface="+mn-ea"/>
                <a:cs typeface="+mn-cs"/>
              </a:rPr>
              <a:t>引理</a:t>
            </a:r>
            <a:r>
              <a:rPr kumimoji="0" lang="en-US" altLang="zh-CN" sz="1900" b="0" i="0" u="none" strike="noStrike" kern="0" cap="none" spc="0" normalizeH="0" baseline="0" noProof="0" dirty="0">
                <a:ln>
                  <a:noFill/>
                </a:ln>
                <a:solidFill>
                  <a:schemeClr val="accent2"/>
                </a:solidFill>
                <a:effectLst/>
                <a:uLnTx/>
                <a:uFillTx/>
                <a:latin typeface="+mn-lt"/>
                <a:ea typeface="+mn-ea"/>
                <a:cs typeface="+mn-cs"/>
              </a:rPr>
              <a:t>8.1:</a:t>
            </a:r>
            <a:endParaRPr kumimoji="0" lang="en-US" altLang="zh-CN" sz="19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在算法</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DIJKSTRA</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中，当顶点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在第</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8</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步中被选中，如果标记</a:t>
            </a:r>
            <a:r>
              <a:rPr kumimoji="0" lang="en-US" altLang="zh-CN"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λ</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是有限的，那么、 </a:t>
            </a:r>
            <a:r>
              <a:rPr kumimoji="0" lang="en-US" altLang="zh-CN"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λ</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 = δ[y]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(δ[y]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表示从源点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的距离）</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证明：</a:t>
            </a:r>
            <a:endParaRPr kumimoji="0" lang="en-US" altLang="zh-CN" sz="2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对顶点离开集合</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并进入</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的次序做归纳。</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个离开的顶点是</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，我们有</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λ[1]=δ[1]=0</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。假设引理中的结论对于所有在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前离开</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的顶点都成立。</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因为</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λ[y]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是有限的，则必存在从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的路径，它的长是</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λ[y]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。设</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π=1,…,</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x,w</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到</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的最短路径，其中</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x</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是在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前最迟离开</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的顶点。我们有</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λ[y] ≤ λ[w] ≤ λ[x]+length(</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x,w</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)=δ[x]+length(</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x,w</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δ[w] ≤ δ[y]. </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上述的证明基于这样一个假设，即所有的边长都是非负的。</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p149</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pic>
        <p:nvPicPr>
          <p:cNvPr id="53253" name="Picture 4" descr="lemma"/>
          <p:cNvPicPr>
            <a:picLocks noChangeAspect="1"/>
          </p:cNvPicPr>
          <p:nvPr/>
        </p:nvPicPr>
        <p:blipFill>
          <a:blip r:embed="rId1"/>
          <a:stretch>
            <a:fillRect/>
          </a:stretch>
        </p:blipFill>
        <p:spPr>
          <a:xfrm>
            <a:off x="827088" y="1123950"/>
            <a:ext cx="358775" cy="35877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55299"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en-US" altLang="zh-CN" dirty="0">
                <a:sym typeface="+mn-ea"/>
              </a:rPr>
              <a:t>Dijkstra</a:t>
            </a:r>
            <a:r>
              <a:rPr lang="zh-CN" altLang="en-US" dirty="0">
                <a:sym typeface="+mn-ea"/>
              </a:rPr>
              <a:t>算法</a:t>
            </a:r>
            <a:r>
              <a:rPr lang="en-US" altLang="zh-CN" dirty="0"/>
              <a:t>——</a:t>
            </a:r>
            <a:r>
              <a:rPr lang="zh-CN" altLang="en-US" dirty="0"/>
              <a:t>算法分析</a:t>
            </a:r>
            <a:endParaRPr lang="en-US" altLang="zh-CN" dirty="0"/>
          </a:p>
        </p:txBody>
      </p:sp>
      <p:sp>
        <p:nvSpPr>
          <p:cNvPr id="24579" name="Rectangle 3"/>
          <p:cNvSpPr>
            <a:spLocks noGrp="1" noChangeArrowheads="1"/>
          </p:cNvSpPr>
          <p:nvPr>
            <p:ph idx="1"/>
          </p:nvPr>
        </p:nvSpPr>
        <p:spPr>
          <a:xfrm>
            <a:off x="757238" y="1268413"/>
            <a:ext cx="8207375" cy="4751388"/>
          </a:xfrm>
        </p:spPr>
        <p:txBody>
          <a:bodyPr vert="horz" wrap="square" lIns="91440" tIns="45720" rIns="91440" bIns="45720" numCol="1" anchor="t" anchorCtr="0" compatLnSpc="1"/>
          <a:lstStyle/>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3</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4</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分别为</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O(n)</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8</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a:t>
            </a:r>
            <a:r>
              <a:rPr kumimoji="0" lang="en-US" altLang="zh-CN" sz="2200" b="0" i="0" u="none" strike="noStrike" kern="0" cap="none" spc="0" normalizeH="0" baseline="3000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9</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步和第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10</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每次迭代花费时间</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，共用了</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(n)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11</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步和第</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12</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步共需要时间</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(m).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这里</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m=|E|.</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7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根据以上得出算法的时间复杂性是</a:t>
            </a:r>
            <a:r>
              <a:rPr kumimoji="0" lang="el-GR" altLang="zh-CN" sz="2500" b="0" i="0" u="none" strike="noStrike" kern="0" cap="none" spc="0" normalizeH="0" baseline="0" noProof="0" dirty="0">
                <a:ln>
                  <a:noFill/>
                </a:ln>
                <a:solidFill>
                  <a:schemeClr val="accent2"/>
                </a:solidFill>
                <a:effectLst/>
                <a:uLnTx/>
                <a:uFillTx/>
                <a:latin typeface="+mn-lt"/>
                <a:ea typeface="+mn-ea"/>
                <a:cs typeface="+mn-cs"/>
              </a:rPr>
              <a:t>Θ</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(m+n</a:t>
            </a:r>
            <a:r>
              <a:rPr kumimoji="0" lang="en-US" altLang="zh-CN" sz="2500" b="0" i="0" u="none" strike="noStrike" kern="0" cap="none" spc="0" normalizeH="0" baseline="30000" noProof="0" dirty="0">
                <a:ln>
                  <a:noFill/>
                </a:ln>
                <a:solidFill>
                  <a:schemeClr val="accent2"/>
                </a:solidFill>
                <a:effectLst/>
                <a:uLnTx/>
                <a:uFillTx/>
                <a:latin typeface="+mn-lt"/>
                <a:ea typeface="+mn-ea"/>
                <a:cs typeface="+mn-cs"/>
              </a:rPr>
              <a:t>2</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 </a:t>
            </a:r>
            <a:r>
              <a:rPr kumimoji="0" lang="el-GR" altLang="zh-CN" sz="2500" b="0" i="0" u="none" strike="noStrike" kern="0" cap="none" spc="0" normalizeH="0" baseline="0" noProof="0" dirty="0">
                <a:ln>
                  <a:noFill/>
                </a:ln>
                <a:solidFill>
                  <a:schemeClr val="accent2"/>
                </a:solidFill>
                <a:effectLst/>
                <a:uLnTx/>
                <a:uFillTx/>
                <a:latin typeface="+mn-lt"/>
                <a:ea typeface="+mn-ea"/>
                <a:cs typeface="+mn-cs"/>
              </a:rPr>
              <a:t>Θ</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a:t>
            </a:r>
            <a:r>
              <a:rPr kumimoji="0" lang="en-US" altLang="zh-CN" sz="2500" b="0" i="0" u="none" strike="noStrike" kern="0" cap="none" spc="0" normalizeH="0" baseline="30000" noProof="0" dirty="0">
                <a:ln>
                  <a:noFill/>
                </a:ln>
                <a:solidFill>
                  <a:schemeClr val="accent2"/>
                </a:solidFill>
                <a:effectLst/>
                <a:uLnTx/>
                <a:uFillTx/>
                <a:latin typeface="+mn-lt"/>
                <a:ea typeface="+mn-ea"/>
                <a:cs typeface="+mn-cs"/>
              </a:rPr>
              <a:t>2</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p149</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7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  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8.1</a:t>
            </a:r>
            <a:r>
              <a:rPr kumimoji="0" lang="en-US" altLang="zh-CN" sz="1900" b="0" i="0" u="none" strike="noStrike" kern="0" cap="none" spc="0" normalizeH="0" baseline="0" noProof="0" dirty="0">
                <a:ln>
                  <a:noFill/>
                </a:ln>
                <a:solidFill>
                  <a:schemeClr val="accent2"/>
                </a:solidFill>
                <a:effectLst/>
                <a:uLnTx/>
                <a:uFillTx/>
                <a:latin typeface="+mn-lt"/>
                <a:ea typeface="+mn-ea"/>
                <a:cs typeface="+mn-cs"/>
              </a:rPr>
              <a:t> </a:t>
            </a:r>
            <a:endParaRPr kumimoji="0" lang="en-US" altLang="zh-CN" sz="19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给出一个边具有非负权的有向图</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和源顶点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s </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DIJKSTRA</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在时间</a:t>
            </a:r>
            <a:r>
              <a:rPr kumimoji="0" lang="el-GR" altLang="zh-CN" sz="2200" b="0" i="0" u="none" strike="noStrike" kern="0" cap="none" spc="0" normalizeH="0" baseline="0" noProof="0" dirty="0">
                <a:ln>
                  <a:noFill/>
                </a:ln>
                <a:solidFill>
                  <a:schemeClr val="accent2"/>
                </a:solidFill>
                <a:effectLst/>
                <a:uLnTx/>
                <a:uFillTx/>
                <a:latin typeface="+mn-lt"/>
                <a:ea typeface="+mn-ea"/>
                <a:cs typeface="+mn-ea"/>
              </a:rPr>
              <a:t>Θ</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 (n</a:t>
            </a:r>
            <a:r>
              <a:rPr kumimoji="0" lang="en-US" altLang="zh-CN" sz="2200" b="0" i="0" u="none" strike="noStrike" kern="0" cap="none" spc="0" normalizeH="0" baseline="30000" noProof="0" dirty="0">
                <a:ln>
                  <a:noFill/>
                </a:ln>
                <a:solidFill>
                  <a:schemeClr val="accent2"/>
                </a:solidFill>
                <a:effectLst/>
                <a:uLnTx/>
                <a:uFillTx/>
                <a:latin typeface="+mn-lt"/>
                <a:ea typeface="+mn-ea"/>
                <a:cs typeface="+mn-ea"/>
              </a:rPr>
              <a:t>2</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内找出从</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s</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到其他每一顶点距离的长度</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pic>
        <p:nvPicPr>
          <p:cNvPr id="55301" name="Picture 4" descr="theorem"/>
          <p:cNvPicPr>
            <a:picLocks noChangeAspect="1"/>
          </p:cNvPicPr>
          <p:nvPr/>
        </p:nvPicPr>
        <p:blipFill>
          <a:blip r:embed="rId1"/>
          <a:stretch>
            <a:fillRect/>
          </a:stretch>
        </p:blipFill>
        <p:spPr>
          <a:xfrm>
            <a:off x="857250" y="3929063"/>
            <a:ext cx="447675" cy="319087"/>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57347" name="Rectangle 2"/>
          <p:cNvSpPr>
            <a:spLocks noGrp="1"/>
          </p:cNvSpPr>
          <p:nvPr>
            <p:ph type="title"/>
          </p:nvPr>
        </p:nvSpPr>
        <p:spPr>
          <a:xfrm>
            <a:off x="468313" y="44450"/>
            <a:ext cx="8229600" cy="1139825"/>
          </a:xfrm>
        </p:spPr>
        <p:txBody>
          <a:bodyPr vert="horz" wrap="square" lIns="91440" tIns="45720" rIns="91440" bIns="45720" anchor="ctr" anchorCtr="0"/>
          <a:lstStyle/>
          <a:p>
            <a:pPr eaLnBrk="1" hangingPunct="1"/>
            <a:r>
              <a:rPr lang="en-US" altLang="zh-CN" dirty="0"/>
              <a:t>5.1.1</a:t>
            </a:r>
            <a:r>
              <a:rPr lang="en-US" altLang="zh-CN" dirty="0">
                <a:sym typeface="+mn-ea"/>
              </a:rPr>
              <a:t>Dijkstra</a:t>
            </a:r>
            <a:r>
              <a:rPr lang="zh-CN" altLang="en-US" dirty="0">
                <a:sym typeface="+mn-ea"/>
              </a:rPr>
              <a:t>算法</a:t>
            </a:r>
            <a:r>
              <a:rPr lang="en-US" altLang="zh-CN" dirty="0"/>
              <a:t>——</a:t>
            </a:r>
            <a:r>
              <a:rPr lang="zh-CN" altLang="en-US" dirty="0"/>
              <a:t>稠图的线性时间算法</a:t>
            </a:r>
            <a:endParaRPr lang="en-US" altLang="zh-CN" dirty="0"/>
          </a:p>
        </p:txBody>
      </p:sp>
      <p:sp>
        <p:nvSpPr>
          <p:cNvPr id="25603"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基本思想</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用最小堆数据结构来保持集合</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中的顶点，使</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组中离</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最近的顶点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y</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可以在</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O(log n)</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时间内被选出</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与每个顶点</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相关的键就是它的标记</a:t>
            </a:r>
            <a:r>
              <a:rPr kumimoji="0" lang="en-US" altLang="zh-CN" sz="22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[v]. </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最后的算法如算法</a:t>
            </a:r>
            <a:r>
              <a:rPr kumimoji="0" lang="en-US" altLang="zh-CN" sz="2200" b="0" i="0" u="none" strike="noStrike" kern="0" cap="none" spc="0" normalizeH="0" baseline="0" noProof="0" dirty="0">
                <a:ln>
                  <a:noFill/>
                </a:ln>
                <a:solidFill>
                  <a:schemeClr val="accent2"/>
                </a:solidFill>
                <a:effectLst/>
                <a:uLnTx/>
                <a:uFillTx/>
                <a:latin typeface="+mn-lt"/>
                <a:ea typeface="+mn-ea"/>
                <a:cs typeface="+mn-ea"/>
              </a:rPr>
              <a:t>SHORTESTPATH</a:t>
            </a:r>
            <a:r>
              <a:rPr kumimoji="0" lang="zh-CN" altLang="en-US" sz="2200" b="0" i="0" u="none" strike="noStrike" kern="0" cap="none" spc="0" normalizeH="0" baseline="0" noProof="0" dirty="0">
                <a:ln>
                  <a:noFill/>
                </a:ln>
                <a:solidFill>
                  <a:schemeClr val="accent2"/>
                </a:solidFill>
                <a:effectLst/>
                <a:uLnTx/>
                <a:uFillTx/>
                <a:latin typeface="+mn-lt"/>
                <a:ea typeface="+mn-ea"/>
                <a:cs typeface="+mn-ea"/>
              </a:rPr>
              <a:t>所示</a:t>
            </a:r>
            <a:endParaRPr kumimoji="0" lang="en-US" altLang="zh-CN" sz="2200" b="0" i="0" u="none" strike="noStrike" kern="0" cap="none" spc="0" normalizeH="0" baseline="0" noProof="0" dirty="0">
              <a:ln>
                <a:noFill/>
              </a:ln>
              <a:solidFill>
                <a:schemeClr val="accent2"/>
              </a:solidFill>
              <a:effectLst/>
              <a:uLnTx/>
              <a:uFillTx/>
              <a:latin typeface="+mn-lt"/>
              <a:ea typeface="+mn-ea"/>
              <a:cs typeface="+mn-ea"/>
            </a:endParaRPr>
          </a:p>
        </p:txBody>
      </p:sp>
      <p:pic>
        <p:nvPicPr>
          <p:cNvPr id="57349" name="Picture 4" descr="basic idea"/>
          <p:cNvPicPr>
            <a:picLocks noChangeAspect="1"/>
          </p:cNvPicPr>
          <p:nvPr/>
        </p:nvPicPr>
        <p:blipFill>
          <a:blip r:embed="rId1"/>
          <a:stretch>
            <a:fillRect/>
          </a:stretch>
        </p:blipFill>
        <p:spPr>
          <a:xfrm>
            <a:off x="827088" y="1268413"/>
            <a:ext cx="503237" cy="46672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59395" name="Rectangle 5"/>
          <p:cNvSpPr>
            <a:spLocks noGrp="1"/>
          </p:cNvSpPr>
          <p:nvPr>
            <p:ph idx="1"/>
          </p:nvPr>
        </p:nvSpPr>
        <p:spPr>
          <a:xfrm>
            <a:off x="684213" y="260350"/>
            <a:ext cx="8229600" cy="5473700"/>
          </a:xfrm>
          <a:solidFill>
            <a:schemeClr val="bg1">
              <a:alpha val="100000"/>
            </a:schemeClr>
          </a:solidFill>
        </p:spPr>
        <p:txBody>
          <a:bodyPr vert="horz" wrap="square" lIns="91440" tIns="45720" rIns="91440" bIns="45720" anchor="t" anchorCtr="0"/>
          <a:lstStyle/>
          <a:p>
            <a:pPr eaLnBrk="1" hangingPunct="1">
              <a:lnSpc>
                <a:spcPct val="80000"/>
              </a:lnSpc>
              <a:buNone/>
            </a:pPr>
            <a:r>
              <a:rPr lang="zh-CN" altLang="en-US" sz="2800" b="1" dirty="0"/>
              <a:t>算法</a:t>
            </a:r>
            <a:r>
              <a:rPr lang="en-US" altLang="zh-CN" sz="2800" b="1" dirty="0"/>
              <a:t> SHORTESTPATH</a:t>
            </a:r>
            <a:endParaRPr lang="en-US" altLang="zh-CN" sz="2800" b="1" dirty="0"/>
          </a:p>
          <a:p>
            <a:pPr lvl="1" eaLnBrk="1" hangingPunct="1">
              <a:lnSpc>
                <a:spcPct val="80000"/>
              </a:lnSpc>
              <a:buNone/>
            </a:pPr>
            <a:endParaRPr lang="en-US" altLang="zh-CN" sz="2000" b="1" dirty="0"/>
          </a:p>
          <a:p>
            <a:pPr lvl="1" eaLnBrk="1" hangingPunct="1">
              <a:lnSpc>
                <a:spcPct val="80000"/>
              </a:lnSpc>
              <a:buNone/>
            </a:pPr>
            <a:r>
              <a:rPr lang="zh-CN" altLang="en-US" sz="2000" dirty="0"/>
              <a:t>输入</a:t>
            </a:r>
            <a:r>
              <a:rPr lang="en-US" altLang="zh-CN" sz="2000" dirty="0"/>
              <a:t>:</a:t>
            </a:r>
            <a:r>
              <a:rPr lang="zh-CN" altLang="en-US" sz="2000" dirty="0"/>
              <a:t>含权有向图</a:t>
            </a:r>
            <a:r>
              <a:rPr lang="en-US" altLang="zh-CN" sz="2000" dirty="0"/>
              <a:t>G=(V,E), where V={1,2,..,n}.</a:t>
            </a:r>
            <a:endParaRPr lang="en-US" altLang="zh-CN" sz="2000" dirty="0"/>
          </a:p>
          <a:p>
            <a:pPr lvl="1" eaLnBrk="1" hangingPunct="1">
              <a:lnSpc>
                <a:spcPct val="80000"/>
              </a:lnSpc>
              <a:buNone/>
            </a:pPr>
            <a:r>
              <a:rPr lang="zh-CN" altLang="en-US" sz="2000" dirty="0"/>
              <a:t>输出</a:t>
            </a:r>
            <a:r>
              <a:rPr lang="en-US" altLang="zh-CN" sz="2000" dirty="0"/>
              <a:t>: G</a:t>
            </a:r>
            <a:r>
              <a:rPr lang="zh-CN" altLang="en-US" sz="2000" dirty="0"/>
              <a:t>中顶点</a:t>
            </a:r>
            <a:r>
              <a:rPr lang="en-US" altLang="zh-CN" sz="2000" dirty="0"/>
              <a:t>1</a:t>
            </a:r>
            <a:r>
              <a:rPr lang="zh-CN" altLang="en-US" sz="2000" dirty="0"/>
              <a:t>到其他顶点的距离。假设已有一个空堆</a:t>
            </a:r>
            <a:r>
              <a:rPr lang="en-US" altLang="zh-CN" sz="2000" dirty="0"/>
              <a:t>H</a:t>
            </a:r>
            <a:r>
              <a:rPr lang="zh-CN" altLang="en-US" sz="2000" dirty="0"/>
              <a:t>。</a:t>
            </a:r>
            <a:endParaRPr lang="en-US" altLang="zh-CN" sz="2000" dirty="0"/>
          </a:p>
          <a:p>
            <a:pPr lvl="1" eaLnBrk="1" hangingPunct="1">
              <a:lnSpc>
                <a:spcPct val="80000"/>
              </a:lnSpc>
              <a:buNone/>
            </a:pPr>
            <a:r>
              <a:rPr lang="en-US" altLang="zh-CN" sz="2000" dirty="0"/>
              <a:t>	1.Y</a:t>
            </a:r>
            <a:r>
              <a:rPr lang="en-US" altLang="zh-CN" sz="2000" dirty="0">
                <a:sym typeface="Wingdings" panose="05000000000000000000" pitchFamily="2" charset="2"/>
              </a:rPr>
              <a:t>V-{1}; </a:t>
            </a:r>
            <a:r>
              <a:rPr lang="en-US" altLang="zh-CN" sz="2000" dirty="0">
                <a:sym typeface="Symbol" panose="05050102010706020507" pitchFamily="18" charset="2"/>
              </a:rPr>
              <a:t>λ[1]</a:t>
            </a:r>
            <a:r>
              <a:rPr lang="en-US" altLang="zh-CN" sz="2000" dirty="0">
                <a:sym typeface="Wingdings" panose="05000000000000000000" pitchFamily="2" charset="2"/>
              </a:rPr>
              <a:t>0;   key(1) </a:t>
            </a:r>
            <a:r>
              <a:rPr lang="en-US" altLang="zh-CN" sz="2000" dirty="0">
                <a:sym typeface="Symbol" panose="05050102010706020507" pitchFamily="18" charset="2"/>
              </a:rPr>
              <a:t>λ[1]</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2.</a:t>
            </a:r>
            <a:r>
              <a:rPr lang="en-US" altLang="zh-CN" sz="2000" b="1" dirty="0">
                <a:sym typeface="Symbol" panose="05050102010706020507" pitchFamily="18" charset="2"/>
              </a:rPr>
              <a:t>for</a:t>
            </a:r>
            <a:r>
              <a:rPr lang="en-US" altLang="zh-CN" sz="2000" dirty="0">
                <a:sym typeface="Symbol" panose="05050102010706020507" pitchFamily="18" charset="2"/>
              </a:rPr>
              <a:t>  y</a:t>
            </a:r>
            <a:r>
              <a:rPr lang="en-US" altLang="zh-CN" sz="2000" dirty="0">
                <a:sym typeface="Wingdings" panose="05000000000000000000" pitchFamily="2" charset="2"/>
              </a:rPr>
              <a:t>2  </a:t>
            </a:r>
            <a:r>
              <a:rPr lang="en-US" altLang="zh-CN" sz="2000" b="1" dirty="0">
                <a:sym typeface="Wingdings" panose="05000000000000000000" pitchFamily="2" charset="2"/>
              </a:rPr>
              <a:t>to</a:t>
            </a:r>
            <a:r>
              <a:rPr lang="en-US" altLang="zh-CN" sz="2000" dirty="0">
                <a:sym typeface="Wingdings" panose="05000000000000000000" pitchFamily="2" charset="2"/>
              </a:rPr>
              <a:t>  n</a:t>
            </a:r>
            <a:endParaRPr lang="en-US" altLang="zh-CN" sz="2000"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if</a:t>
            </a:r>
            <a:r>
              <a:rPr lang="en-US" altLang="zh-CN" sz="2000" dirty="0">
                <a:sym typeface="Wingdings" panose="05000000000000000000" pitchFamily="2" charset="2"/>
              </a:rPr>
              <a:t>  y  </a:t>
            </a:r>
            <a:r>
              <a:rPr lang="zh-CN" altLang="en-US" sz="2000" dirty="0">
                <a:sym typeface="Wingdings" panose="05000000000000000000" pitchFamily="2" charset="2"/>
              </a:rPr>
              <a:t>邻接于</a:t>
            </a:r>
            <a:r>
              <a:rPr lang="en-US" altLang="zh-CN" sz="2000" dirty="0">
                <a:sym typeface="Wingdings" panose="05000000000000000000" pitchFamily="2" charset="2"/>
              </a:rPr>
              <a:t>1  </a:t>
            </a:r>
            <a:r>
              <a:rPr lang="en-US" altLang="zh-CN" sz="2000" b="1" dirty="0">
                <a:sym typeface="Wingdings" panose="05000000000000000000" pitchFamily="2" charset="2"/>
              </a:rPr>
              <a:t>then</a:t>
            </a:r>
            <a:endParaRPr lang="en-US" altLang="zh-CN" sz="2000" b="1" dirty="0">
              <a:sym typeface="Wingdings" panose="05000000000000000000" pitchFamily="2" charset="2"/>
            </a:endParaRPr>
          </a:p>
          <a:p>
            <a:pPr lvl="1" eaLnBrk="1" hangingPunct="1">
              <a:lnSpc>
                <a:spcPct val="80000"/>
              </a:lnSpc>
              <a:buNone/>
            </a:pPr>
            <a:r>
              <a:rPr lang="en-US" altLang="zh-CN" sz="2000" dirty="0">
                <a:sym typeface="Wingdings" panose="05000000000000000000" pitchFamily="2" charset="2"/>
              </a:rPr>
              <a:t>	4.	     </a:t>
            </a:r>
            <a:r>
              <a:rPr lang="en-US" altLang="zh-CN" sz="2000" dirty="0">
                <a:sym typeface="Symbol" panose="05050102010706020507" pitchFamily="18" charset="2"/>
              </a:rPr>
              <a:t>λ[y]=length[1,y]</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5.	      key(y)</a:t>
            </a:r>
            <a:r>
              <a:rPr lang="en-US" altLang="zh-CN" sz="2000" dirty="0">
                <a:sym typeface="Wingdings" panose="05000000000000000000" pitchFamily="2" charset="2"/>
              </a:rPr>
              <a:t> </a:t>
            </a:r>
            <a:r>
              <a:rPr lang="en-US" altLang="zh-CN" sz="2000" dirty="0">
                <a:sym typeface="Symbol" panose="05050102010706020507" pitchFamily="18" charset="2"/>
              </a:rPr>
              <a:t>λ[y]</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6.	      INSERT(H,y)</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7.	</a:t>
            </a:r>
            <a:r>
              <a:rPr lang="en-US" altLang="zh-CN" sz="2000" b="1" dirty="0">
                <a:sym typeface="Symbol" panose="05050102010706020507" pitchFamily="18" charset="2"/>
              </a:rPr>
              <a:t>else</a:t>
            </a:r>
            <a:endParaRPr lang="en-US" altLang="zh-CN" sz="2000" b="1"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8.	     λ[y]</a:t>
            </a:r>
            <a:r>
              <a:rPr lang="en-US" altLang="zh-CN" sz="2000" dirty="0">
                <a:sym typeface="Wingdings" panose="05000000000000000000" pitchFamily="2" charset="2"/>
              </a:rPr>
              <a:t> </a:t>
            </a:r>
            <a:r>
              <a:rPr lang="en-US" altLang="zh-CN" sz="2000" dirty="0">
                <a:sym typeface="Symbol" panose="05050102010706020507" pitchFamily="18" charset="2"/>
              </a:rPr>
              <a:t>∞</a:t>
            </a:r>
            <a:endParaRPr lang="en-US" altLang="zh-CN" sz="2000" dirty="0">
              <a:sym typeface="Symbol" panose="05050102010706020507" pitchFamily="18" charset="2"/>
            </a:endParaRPr>
          </a:p>
          <a:p>
            <a:pPr lvl="1" eaLnBrk="1" hangingPunct="1">
              <a:lnSpc>
                <a:spcPct val="80000"/>
              </a:lnSpc>
              <a:buNone/>
            </a:pPr>
            <a:r>
              <a:rPr lang="en-US" altLang="zh-CN" sz="2000" dirty="0"/>
              <a:t>	9.      	      key[y]</a:t>
            </a:r>
            <a:r>
              <a:rPr lang="en-US" altLang="zh-CN" sz="2000" dirty="0">
                <a:sym typeface="Wingdings" panose="05000000000000000000" pitchFamily="2" charset="2"/>
              </a:rPr>
              <a:t></a:t>
            </a:r>
            <a:r>
              <a:rPr lang="en-US" altLang="zh-CN" sz="2000" dirty="0"/>
              <a:t> </a:t>
            </a:r>
            <a:r>
              <a:rPr lang="en-US" altLang="zh-CN" sz="2000" dirty="0">
                <a:sym typeface="Symbol" panose="05050102010706020507" pitchFamily="18" charset="2"/>
              </a:rPr>
              <a:t>λ[y]</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10.	</a:t>
            </a:r>
            <a:r>
              <a:rPr lang="en-US" altLang="zh-CN" sz="2000" b="1" dirty="0">
                <a:sym typeface="Symbol" panose="05050102010706020507" pitchFamily="18" charset="2"/>
              </a:rPr>
              <a:t>end if</a:t>
            </a:r>
            <a:r>
              <a:rPr lang="en-US" altLang="zh-CN" sz="2000" dirty="0">
                <a:sym typeface="Symbol" panose="05050102010706020507" pitchFamily="18" charset="2"/>
              </a:rPr>
              <a:t>  </a:t>
            </a:r>
            <a:endParaRPr lang="en-US" altLang="zh-CN" sz="2000" dirty="0">
              <a:sym typeface="Symbol" panose="05050102010706020507" pitchFamily="18" charset="2"/>
            </a:endParaRPr>
          </a:p>
          <a:p>
            <a:pPr lvl="1" eaLnBrk="1" hangingPunct="1">
              <a:lnSpc>
                <a:spcPct val="80000"/>
              </a:lnSpc>
              <a:buNone/>
            </a:pPr>
            <a:r>
              <a:rPr lang="en-US" altLang="zh-CN" sz="2000" dirty="0">
                <a:sym typeface="Symbol" panose="05050102010706020507" pitchFamily="18" charset="2"/>
              </a:rPr>
              <a:t>  	11. </a:t>
            </a:r>
            <a:r>
              <a:rPr lang="en-US" altLang="zh-CN" sz="2000" b="1" dirty="0">
                <a:sym typeface="Symbol" panose="05050102010706020507" pitchFamily="18" charset="2"/>
              </a:rPr>
              <a:t>end for</a:t>
            </a:r>
            <a:r>
              <a:rPr lang="en-US" altLang="zh-CN" sz="2000" dirty="0">
                <a:sym typeface="Symbol" panose="05050102010706020507" pitchFamily="18" charset="2"/>
              </a:rPr>
              <a:t>                                                        </a:t>
            </a:r>
            <a:r>
              <a:rPr lang="en-US" altLang="zh-CN" sz="2000" dirty="0">
                <a:solidFill>
                  <a:schemeClr val="hlink"/>
                </a:solidFill>
                <a:sym typeface="Symbol" panose="05050102010706020507" pitchFamily="18" charset="2"/>
              </a:rPr>
              <a:t>NEXT PAGE</a:t>
            </a:r>
            <a:endParaRPr lang="en-US" altLang="zh-CN" sz="2000" dirty="0">
              <a:solidFill>
                <a:schemeClr val="hlink"/>
              </a:solidFill>
              <a:sym typeface="Symbol" panose="05050102010706020507" pitchFamily="18" charset="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43" name="Rectangle 3"/>
          <p:cNvSpPr>
            <a:spLocks noGrp="1"/>
          </p:cNvSpPr>
          <p:nvPr>
            <p:ph type="body" sz="half" idx="1"/>
          </p:nvPr>
        </p:nvSpPr>
        <p:spPr>
          <a:xfrm>
            <a:off x="601663" y="620713"/>
            <a:ext cx="8218487" cy="5068887"/>
          </a:xfrm>
          <a:solidFill>
            <a:schemeClr val="bg1">
              <a:alpha val="100000"/>
            </a:schemeClr>
          </a:solidFill>
        </p:spPr>
        <p:txBody>
          <a:bodyPr vert="horz" wrap="square" lIns="91440" tIns="45720" rIns="91440" bIns="45720" anchor="t" anchorCtr="0"/>
          <a:lstStyle/>
          <a:p>
            <a:pPr eaLnBrk="1" hangingPunct="1">
              <a:lnSpc>
                <a:spcPct val="90000"/>
              </a:lnSpc>
              <a:buClrTx/>
              <a:buSzTx/>
              <a:buFontTx/>
              <a:buNone/>
            </a:pPr>
            <a:r>
              <a:rPr lang="zh-CN" altLang="en-US" b="1" dirty="0"/>
              <a:t>算法</a:t>
            </a:r>
            <a:r>
              <a:rPr lang="en-US" altLang="zh-CN" b="1" dirty="0"/>
              <a:t> SHORTESTPATH</a:t>
            </a:r>
            <a:endParaRPr lang="en-US" altLang="zh-CN" b="1" dirty="0"/>
          </a:p>
          <a:p>
            <a:pPr lvl="1" eaLnBrk="1" hangingPunct="1">
              <a:lnSpc>
                <a:spcPct val="90000"/>
              </a:lnSpc>
              <a:buNone/>
            </a:pPr>
            <a:r>
              <a:rPr lang="en-US" altLang="zh-CN" sz="2000" dirty="0"/>
              <a:t>    12. </a:t>
            </a:r>
            <a:r>
              <a:rPr lang="en-US" altLang="zh-CN" sz="2000" b="1" dirty="0"/>
              <a:t>for</a:t>
            </a:r>
            <a:r>
              <a:rPr lang="en-US" altLang="zh-CN" sz="2000" dirty="0"/>
              <a:t> j</a:t>
            </a:r>
            <a:r>
              <a:rPr lang="en-US" altLang="zh-CN" sz="2000" dirty="0">
                <a:sym typeface="Wingdings" panose="05000000000000000000" pitchFamily="2" charset="2"/>
              </a:rPr>
              <a:t>1 </a:t>
            </a:r>
            <a:r>
              <a:rPr lang="en-US" altLang="zh-CN" sz="2000" b="1" dirty="0">
                <a:sym typeface="Wingdings" panose="05000000000000000000" pitchFamily="2" charset="2"/>
              </a:rPr>
              <a:t>to</a:t>
            </a:r>
            <a:r>
              <a:rPr lang="en-US" altLang="zh-CN" sz="2000" dirty="0">
                <a:sym typeface="Wingdings" panose="05000000000000000000" pitchFamily="2" charset="2"/>
              </a:rPr>
              <a:t> n-1</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13.	yDELETEMIN(H)</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14.	YY-{y}     {</a:t>
            </a:r>
            <a:r>
              <a:rPr lang="zh-CN" altLang="en-US" sz="2000" dirty="0">
                <a:sym typeface="Wingdings" panose="05000000000000000000" pitchFamily="2" charset="2"/>
              </a:rPr>
              <a:t>将顶点</a:t>
            </a:r>
            <a:r>
              <a:rPr lang="en-US" altLang="zh-CN" sz="2000" dirty="0">
                <a:sym typeface="Wingdings" panose="05000000000000000000" pitchFamily="2" charset="2"/>
              </a:rPr>
              <a:t>y</a:t>
            </a:r>
            <a:r>
              <a:rPr lang="zh-CN" altLang="en-US" sz="2000" dirty="0">
                <a:sym typeface="Wingdings" panose="05000000000000000000" pitchFamily="2" charset="2"/>
              </a:rPr>
              <a:t>从</a:t>
            </a:r>
            <a:r>
              <a:rPr lang="en-US" altLang="zh-CN" sz="2000" dirty="0">
                <a:sym typeface="Wingdings" panose="05000000000000000000" pitchFamily="2" charset="2"/>
              </a:rPr>
              <a:t>Y</a:t>
            </a:r>
            <a:r>
              <a:rPr lang="zh-CN" altLang="en-US" sz="2000" dirty="0">
                <a:sym typeface="Wingdings" panose="05000000000000000000" pitchFamily="2" charset="2"/>
              </a:rPr>
              <a:t>删除</a:t>
            </a:r>
            <a:r>
              <a:rPr lang="en-US" altLang="zh-CN" sz="2000" dirty="0">
                <a:sym typeface="Wingdings" panose="05000000000000000000" pitchFamily="2" charset="2"/>
              </a:rPr>
              <a:t>}</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15.	</a:t>
            </a:r>
            <a:r>
              <a:rPr lang="zh-CN" altLang="en-US" sz="2000" dirty="0">
                <a:sym typeface="Wingdings" panose="05000000000000000000" pitchFamily="2" charset="2"/>
              </a:rPr>
              <a:t> </a:t>
            </a:r>
            <a:r>
              <a:rPr lang="en-US" altLang="zh-CN" sz="2000" dirty="0">
                <a:sym typeface="Wingdings" panose="05000000000000000000" pitchFamily="2" charset="2"/>
              </a:rPr>
              <a:t>for</a:t>
            </a:r>
            <a:r>
              <a:rPr lang="zh-CN" altLang="en-US" sz="2000" dirty="0">
                <a:sym typeface="Wingdings" panose="05000000000000000000" pitchFamily="2" charset="2"/>
              </a:rPr>
              <a:t>每个邻接于</a:t>
            </a:r>
            <a:r>
              <a:rPr lang="en-US" altLang="zh-CN" sz="2000" dirty="0">
                <a:sym typeface="Wingdings" panose="05000000000000000000" pitchFamily="2" charset="2"/>
              </a:rPr>
              <a:t>y</a:t>
            </a:r>
            <a:r>
              <a:rPr lang="zh-CN" altLang="en-US" sz="2000" dirty="0">
                <a:sym typeface="Wingdings" panose="05000000000000000000" pitchFamily="2" charset="2"/>
              </a:rPr>
              <a:t>的顶点</a:t>
            </a:r>
            <a:r>
              <a:rPr lang="en-US" altLang="zh-CN" sz="2000" dirty="0">
                <a:sym typeface="Wingdings" panose="05000000000000000000" pitchFamily="2" charset="2"/>
              </a:rPr>
              <a:t>w </a:t>
            </a:r>
            <a:r>
              <a:rPr lang="en-US" altLang="zh-CN" sz="2000" dirty="0">
                <a:sym typeface="Symbol" panose="05050102010706020507" pitchFamily="18" charset="2"/>
              </a:rPr>
              <a:t>∈Y</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16.	    </a:t>
            </a:r>
            <a:r>
              <a:rPr lang="en-US" altLang="zh-CN" sz="2000" b="1" dirty="0">
                <a:sym typeface="Symbol" panose="05050102010706020507" pitchFamily="18" charset="2"/>
              </a:rPr>
              <a:t>if</a:t>
            </a:r>
            <a:r>
              <a:rPr lang="en-US" altLang="zh-CN" sz="2000" dirty="0">
                <a:sym typeface="Symbol" panose="05050102010706020507" pitchFamily="18" charset="2"/>
              </a:rPr>
              <a:t> λ[y]+length[y,w]&lt; λ[w] </a:t>
            </a:r>
            <a:r>
              <a:rPr lang="en-US" altLang="zh-CN" sz="2000" b="1" dirty="0">
                <a:sym typeface="Symbol" panose="05050102010706020507" pitchFamily="18" charset="2"/>
              </a:rPr>
              <a:t>then</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17.	 	λ[w]</a:t>
            </a:r>
            <a:r>
              <a:rPr lang="en-US" altLang="zh-CN" sz="2000" dirty="0">
                <a:sym typeface="Wingdings" panose="05000000000000000000" pitchFamily="2" charset="2"/>
              </a:rPr>
              <a:t> </a:t>
            </a:r>
            <a:r>
              <a:rPr lang="en-US" altLang="zh-CN" sz="2000" dirty="0">
                <a:sym typeface="Symbol" panose="05050102010706020507" pitchFamily="18" charset="2"/>
              </a:rPr>
              <a:t>λ[y]+length[y,w]</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18.		key(w)</a:t>
            </a:r>
            <a:r>
              <a:rPr lang="en-US" altLang="zh-CN" sz="2000" dirty="0">
                <a:sym typeface="Wingdings" panose="05000000000000000000" pitchFamily="2" charset="2"/>
              </a:rPr>
              <a:t> </a:t>
            </a:r>
            <a:r>
              <a:rPr lang="en-US" altLang="zh-CN" sz="2000" dirty="0">
                <a:sym typeface="Symbol" panose="05050102010706020507" pitchFamily="18" charset="2"/>
              </a:rPr>
              <a:t>λ[w]</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19.</a:t>
            </a:r>
            <a:r>
              <a:rPr lang="en-US" altLang="zh-CN" sz="2000" b="1" dirty="0">
                <a:sym typeface="Symbol" panose="05050102010706020507" pitchFamily="18" charset="2"/>
              </a:rPr>
              <a:t>	    end if</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20.	    </a:t>
            </a:r>
            <a:r>
              <a:rPr lang="en-US" altLang="zh-CN" sz="2000" b="1" dirty="0">
                <a:sym typeface="Symbol" panose="05050102010706020507" pitchFamily="18" charset="2"/>
              </a:rPr>
              <a:t>if</a:t>
            </a:r>
            <a:r>
              <a:rPr lang="en-US" altLang="zh-CN" sz="2000" dirty="0">
                <a:sym typeface="Symbol" panose="05050102010706020507" pitchFamily="18" charset="2"/>
              </a:rPr>
              <a:t> w    H </a:t>
            </a:r>
            <a:r>
              <a:rPr lang="en-US" altLang="zh-CN" sz="2000" b="1" dirty="0">
                <a:sym typeface="Symbol" panose="05050102010706020507" pitchFamily="18" charset="2"/>
              </a:rPr>
              <a:t>then</a:t>
            </a:r>
            <a:r>
              <a:rPr lang="en-US" altLang="zh-CN" sz="2000" dirty="0">
                <a:sym typeface="Symbol" panose="05050102010706020507" pitchFamily="18" charset="2"/>
              </a:rPr>
              <a:t> INSERT(H,w)</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21.	    </a:t>
            </a:r>
            <a:r>
              <a:rPr lang="en-US" altLang="zh-CN" sz="2000" b="1" dirty="0">
                <a:sym typeface="Symbol" panose="05050102010706020507" pitchFamily="18" charset="2"/>
              </a:rPr>
              <a:t>else</a:t>
            </a:r>
            <a:r>
              <a:rPr lang="en-US" altLang="zh-CN" sz="2000" dirty="0">
                <a:sym typeface="Symbol" panose="05050102010706020507" pitchFamily="18" charset="2"/>
              </a:rPr>
              <a:t> SIFTUP(H,H</a:t>
            </a:r>
            <a:r>
              <a:rPr lang="en-US" altLang="zh-CN" sz="2000" baseline="30000" dirty="0">
                <a:sym typeface="Symbol" panose="05050102010706020507" pitchFamily="18" charset="2"/>
              </a:rPr>
              <a:t>-1</a:t>
            </a:r>
            <a:r>
              <a:rPr lang="en-US" altLang="zh-CN" sz="2000" dirty="0">
                <a:sym typeface="Symbol" panose="05050102010706020507" pitchFamily="18" charset="2"/>
              </a:rPr>
              <a:t>(w))  {H</a:t>
            </a:r>
            <a:r>
              <a:rPr lang="en-US" altLang="zh-CN" sz="2000" baseline="30000" dirty="0">
                <a:sym typeface="Symbol" panose="05050102010706020507" pitchFamily="18" charset="2"/>
              </a:rPr>
              <a:t>-1</a:t>
            </a:r>
            <a:r>
              <a:rPr lang="en-US" altLang="zh-CN" sz="2000" dirty="0">
                <a:sym typeface="Symbol" panose="05050102010706020507" pitchFamily="18" charset="2"/>
              </a:rPr>
              <a:t>(w)</a:t>
            </a:r>
            <a:r>
              <a:rPr lang="zh-CN" altLang="en-US" sz="2000" dirty="0">
                <a:sym typeface="Symbol" panose="05050102010706020507" pitchFamily="18" charset="2"/>
              </a:rPr>
              <a:t>返回</a:t>
            </a:r>
            <a:r>
              <a:rPr lang="en-US" altLang="zh-CN" sz="2000" dirty="0">
                <a:sym typeface="Symbol" panose="05050102010706020507" pitchFamily="18" charset="2"/>
              </a:rPr>
              <a:t>w</a:t>
            </a:r>
            <a:r>
              <a:rPr lang="zh-CN" altLang="en-US" sz="2000" dirty="0">
                <a:sym typeface="Symbol" panose="05050102010706020507" pitchFamily="18" charset="2"/>
              </a:rPr>
              <a:t>在</a:t>
            </a:r>
            <a:r>
              <a:rPr lang="en-US" altLang="zh-CN" sz="2000" dirty="0">
                <a:sym typeface="Symbol" panose="05050102010706020507" pitchFamily="18" charset="2"/>
              </a:rPr>
              <a:t>H</a:t>
            </a:r>
            <a:r>
              <a:rPr lang="zh-CN" altLang="en-US" sz="2000" dirty="0">
                <a:sym typeface="Symbol" panose="05050102010706020507" pitchFamily="18" charset="2"/>
              </a:rPr>
              <a:t>中的位置</a:t>
            </a:r>
            <a:r>
              <a:rPr lang="en-US" altLang="zh-CN" sz="2000" dirty="0">
                <a:sym typeface="Symbol" panose="05050102010706020507" pitchFamily="18" charset="2"/>
              </a:rPr>
              <a:t>}</a:t>
            </a:r>
            <a:endParaRPr lang="en-US" altLang="zh-CN" sz="2000"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22.	    </a:t>
            </a:r>
            <a:r>
              <a:rPr lang="en-US" altLang="zh-CN" sz="2000" b="1" dirty="0">
                <a:sym typeface="Symbol" panose="05050102010706020507" pitchFamily="18" charset="2"/>
              </a:rPr>
              <a:t>end if</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23.	</a:t>
            </a:r>
            <a:r>
              <a:rPr lang="en-US" altLang="zh-CN" sz="2000" b="1" dirty="0">
                <a:sym typeface="Symbol" panose="05050102010706020507" pitchFamily="18" charset="2"/>
              </a:rPr>
              <a:t>end for</a:t>
            </a:r>
            <a:endParaRPr lang="en-US" altLang="zh-CN" sz="2000" b="1" dirty="0">
              <a:sym typeface="Symbol" panose="05050102010706020507" pitchFamily="18" charset="2"/>
            </a:endParaRPr>
          </a:p>
          <a:p>
            <a:pPr lvl="1" eaLnBrk="1" hangingPunct="1">
              <a:lnSpc>
                <a:spcPct val="90000"/>
              </a:lnSpc>
              <a:buNone/>
            </a:pPr>
            <a:r>
              <a:rPr lang="en-US" altLang="zh-CN" sz="2000" dirty="0">
                <a:sym typeface="Symbol" panose="05050102010706020507" pitchFamily="18" charset="2"/>
              </a:rPr>
              <a:t>	24. </a:t>
            </a:r>
            <a:r>
              <a:rPr lang="en-US" altLang="zh-CN" sz="2000" b="1" dirty="0">
                <a:sym typeface="Symbol" panose="05050102010706020507" pitchFamily="18" charset="2"/>
              </a:rPr>
              <a:t>end for</a:t>
            </a:r>
            <a:endParaRPr lang="en-US" altLang="zh-CN" sz="2000" b="1" dirty="0">
              <a:sym typeface="Symbol" panose="05050102010706020507" pitchFamily="18" charset="2"/>
            </a:endParaRPr>
          </a:p>
        </p:txBody>
      </p:sp>
      <p:graphicFrame>
        <p:nvGraphicFramePr>
          <p:cNvPr id="61444" name="Object 4"/>
          <p:cNvGraphicFramePr>
            <a:graphicFrameLocks noGrp="1" noChangeAspect="1"/>
          </p:cNvGraphicFramePr>
          <p:nvPr>
            <p:ph sz="half" idx="2"/>
          </p:nvPr>
        </p:nvGraphicFramePr>
        <p:xfrm>
          <a:off x="3203575" y="3673475"/>
          <a:ext cx="284163" cy="360363"/>
        </p:xfrm>
        <a:graphic>
          <a:graphicData uri="http://schemas.openxmlformats.org/presentationml/2006/ole">
            <mc:AlternateContent xmlns:mc="http://schemas.openxmlformats.org/markup-compatibility/2006">
              <mc:Choice xmlns:v="urn:schemas-microsoft-com:vml" Requires="v">
                <p:oleObj spid="_x0000_s4150" name="" r:id="rId1" imgW="127000" imgH="152400" progId="Equation.3">
                  <p:embed/>
                </p:oleObj>
              </mc:Choice>
              <mc:Fallback>
                <p:oleObj name="" r:id="rId1" imgW="127000" imgH="152400" progId="Equation.3">
                  <p:embed/>
                  <p:pic>
                    <p:nvPicPr>
                      <p:cNvPr id="0" name="图片 3076"/>
                      <p:cNvPicPr/>
                      <p:nvPr/>
                    </p:nvPicPr>
                    <p:blipFill>
                      <a:blip r:embed="rId2"/>
                      <a:srcRect/>
                      <a:stretch>
                        <a:fillRect/>
                      </a:stretch>
                    </p:blipFill>
                    <p:spPr>
                      <a:xfrm>
                        <a:off x="3203575" y="3673475"/>
                        <a:ext cx="284163" cy="360363"/>
                      </a:xfrm>
                      <a:prstGeom prst="rect">
                        <a:avLst/>
                      </a:prstGeom>
                      <a:noFill/>
                      <a:ln w="38100">
                        <a:miter/>
                      </a:ln>
                    </p:spPr>
                  </p:pic>
                </p:oleObj>
              </mc:Fallback>
            </mc:AlternateContent>
          </a:graphicData>
        </a:graphic>
      </p:graphicFrame>
      <p:sp>
        <p:nvSpPr>
          <p:cNvPr id="5" name="矩形 4"/>
          <p:cNvSpPr/>
          <p:nvPr/>
        </p:nvSpPr>
        <p:spPr>
          <a:xfrm>
            <a:off x="6286500" y="1285875"/>
            <a:ext cx="2786063" cy="2062163"/>
          </a:xfrm>
          <a:prstGeom prst="rect">
            <a:avLst/>
          </a:prstGeom>
          <a:solidFill>
            <a:srgbClr val="92D050"/>
          </a:solid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lnSpc>
                <a:spcPct val="80000"/>
              </a:lnSpc>
              <a:spcBef>
                <a:spcPct val="0"/>
              </a:spcBef>
              <a:buNone/>
            </a:pPr>
            <a:r>
              <a:rPr lang="zh-CN" altLang="en-US" sz="2000" dirty="0">
                <a:solidFill>
                  <a:srgbClr val="0070C0"/>
                </a:solidFill>
                <a:latin typeface="Arial" panose="020B0604020202020204" pitchFamily="34" charset="0"/>
                <a:ea typeface="宋体" panose="02010600030101010101" pitchFamily="2" charset="-122"/>
              </a:rPr>
              <a:t>这里共有</a:t>
            </a:r>
            <a:r>
              <a:rPr lang="en-US" altLang="zh-CN" sz="2000" dirty="0">
                <a:solidFill>
                  <a:srgbClr val="0070C0"/>
                </a:solidFill>
                <a:latin typeface="Arial" panose="020B0604020202020204" pitchFamily="34" charset="0"/>
                <a:ea typeface="宋体" panose="02010600030101010101" pitchFamily="2" charset="-122"/>
              </a:rPr>
              <a:t>n -1</a:t>
            </a:r>
            <a:r>
              <a:rPr lang="zh-CN" altLang="en-US" sz="2000" dirty="0">
                <a:solidFill>
                  <a:srgbClr val="0070C0"/>
                </a:solidFill>
                <a:latin typeface="Arial" panose="020B0604020202020204" pitchFamily="34" charset="0"/>
                <a:ea typeface="宋体" panose="02010600030101010101" pitchFamily="2" charset="-122"/>
              </a:rPr>
              <a:t>个</a:t>
            </a:r>
            <a:r>
              <a:rPr lang="en-US" altLang="zh-CN" sz="2000" dirty="0">
                <a:solidFill>
                  <a:srgbClr val="FF0000"/>
                </a:solidFill>
                <a:latin typeface="Arial" panose="020B0604020202020204" pitchFamily="34" charset="0"/>
                <a:ea typeface="宋体" panose="02010600030101010101" pitchFamily="2" charset="-122"/>
              </a:rPr>
              <a:t>DELETEMIN</a:t>
            </a:r>
            <a:r>
              <a:rPr lang="zh-CN" altLang="en-US" sz="2000" dirty="0">
                <a:solidFill>
                  <a:srgbClr val="0070C0"/>
                </a:solidFill>
                <a:latin typeface="Arial" panose="020B0604020202020204" pitchFamily="34" charset="0"/>
                <a:ea typeface="宋体" panose="02010600030101010101" pitchFamily="2" charset="-122"/>
              </a:rPr>
              <a:t>运算，</a:t>
            </a:r>
            <a:r>
              <a:rPr lang="en-US" altLang="zh-CN" sz="2000" dirty="0">
                <a:solidFill>
                  <a:srgbClr val="0070C0"/>
                </a:solidFill>
                <a:latin typeface="Arial" panose="020B0604020202020204" pitchFamily="34" charset="0"/>
                <a:ea typeface="宋体" panose="02010600030101010101" pitchFamily="2" charset="-122"/>
              </a:rPr>
              <a:t>n-1 </a:t>
            </a:r>
            <a:r>
              <a:rPr lang="zh-CN" altLang="en-US" sz="2000" dirty="0">
                <a:solidFill>
                  <a:srgbClr val="0070C0"/>
                </a:solidFill>
                <a:latin typeface="Arial" panose="020B0604020202020204" pitchFamily="34" charset="0"/>
                <a:ea typeface="宋体" panose="02010600030101010101" pitchFamily="2" charset="-122"/>
              </a:rPr>
              <a:t>个</a:t>
            </a:r>
            <a:r>
              <a:rPr lang="en-US" altLang="zh-CN" sz="2000" dirty="0">
                <a:solidFill>
                  <a:srgbClr val="FF0000"/>
                </a:solidFill>
                <a:latin typeface="Arial" panose="020B0604020202020204" pitchFamily="34" charset="0"/>
                <a:ea typeface="宋体" panose="02010600030101010101" pitchFamily="2" charset="-122"/>
              </a:rPr>
              <a:t>INSERT</a:t>
            </a:r>
            <a:r>
              <a:rPr lang="en-US" altLang="zh-CN" sz="2000" dirty="0">
                <a:solidFill>
                  <a:srgbClr val="0070C0"/>
                </a:solidFill>
                <a:latin typeface="Arial" panose="020B0604020202020204" pitchFamily="34" charset="0"/>
                <a:ea typeface="宋体" panose="02010600030101010101" pitchFamily="2" charset="-122"/>
              </a:rPr>
              <a:t> </a:t>
            </a:r>
            <a:r>
              <a:rPr lang="zh-CN" altLang="en-US" sz="2000" dirty="0">
                <a:solidFill>
                  <a:srgbClr val="0070C0"/>
                </a:solidFill>
                <a:latin typeface="Arial" panose="020B0604020202020204" pitchFamily="34" charset="0"/>
                <a:ea typeface="宋体" panose="02010600030101010101" pitchFamily="2" charset="-122"/>
              </a:rPr>
              <a:t>运算，最多</a:t>
            </a:r>
            <a:r>
              <a:rPr lang="en-US" altLang="zh-CN" sz="2000" dirty="0">
                <a:solidFill>
                  <a:srgbClr val="0070C0"/>
                </a:solidFill>
                <a:latin typeface="Arial" panose="020B0604020202020204" pitchFamily="34" charset="0"/>
                <a:ea typeface="宋体" panose="02010600030101010101" pitchFamily="2" charset="-122"/>
              </a:rPr>
              <a:t>m-n+1 </a:t>
            </a:r>
            <a:r>
              <a:rPr lang="zh-CN" altLang="en-US" sz="2000" dirty="0">
                <a:solidFill>
                  <a:srgbClr val="0070C0"/>
                </a:solidFill>
                <a:latin typeface="Arial" panose="020B0604020202020204" pitchFamily="34" charset="0"/>
                <a:ea typeface="宋体" panose="02010600030101010101" pitchFamily="2" charset="-122"/>
              </a:rPr>
              <a:t>个</a:t>
            </a:r>
            <a:r>
              <a:rPr lang="en-US" altLang="zh-CN" sz="2000" dirty="0">
                <a:solidFill>
                  <a:srgbClr val="FF0000"/>
                </a:solidFill>
                <a:latin typeface="Arial" panose="020B0604020202020204" pitchFamily="34" charset="0"/>
                <a:ea typeface="宋体" panose="02010600030101010101" pitchFamily="2" charset="-122"/>
              </a:rPr>
              <a:t>SHIFTUP</a:t>
            </a:r>
            <a:r>
              <a:rPr lang="en-US" altLang="zh-CN" sz="2000" dirty="0">
                <a:solidFill>
                  <a:srgbClr val="0070C0"/>
                </a:solidFill>
                <a:latin typeface="Arial" panose="020B0604020202020204" pitchFamily="34" charset="0"/>
                <a:ea typeface="宋体" panose="02010600030101010101" pitchFamily="2" charset="-122"/>
              </a:rPr>
              <a:t> </a:t>
            </a:r>
            <a:r>
              <a:rPr lang="zh-CN" altLang="en-US" sz="2000" dirty="0">
                <a:solidFill>
                  <a:srgbClr val="0070C0"/>
                </a:solidFill>
                <a:latin typeface="Arial" panose="020B0604020202020204" pitchFamily="34" charset="0"/>
                <a:ea typeface="宋体" panose="02010600030101010101" pitchFamily="2" charset="-122"/>
              </a:rPr>
              <a:t>运算。</a:t>
            </a:r>
            <a:endParaRPr lang="en-US" altLang="zh-CN" sz="2000" dirty="0">
              <a:solidFill>
                <a:srgbClr val="0070C0"/>
              </a:solidFill>
              <a:latin typeface="Arial" panose="020B0604020202020204" pitchFamily="34" charset="0"/>
              <a:ea typeface="宋体" panose="02010600030101010101" pitchFamily="2" charset="-122"/>
            </a:endParaRPr>
          </a:p>
          <a:p>
            <a:pPr marL="0" lvl="0" indent="0" eaLnBrk="1" hangingPunct="1">
              <a:lnSpc>
                <a:spcPct val="80000"/>
              </a:lnSpc>
              <a:spcBef>
                <a:spcPct val="0"/>
              </a:spcBef>
              <a:buNone/>
            </a:pPr>
            <a:r>
              <a:rPr lang="zh-CN" altLang="en-US" sz="2000" dirty="0">
                <a:solidFill>
                  <a:srgbClr val="0070C0"/>
                </a:solidFill>
                <a:latin typeface="Arial" panose="020B0604020202020204" pitchFamily="34" charset="0"/>
                <a:ea typeface="宋体" panose="02010600030101010101" pitchFamily="2" charset="-122"/>
              </a:rPr>
              <a:t>每个堆运算用</a:t>
            </a:r>
            <a:r>
              <a:rPr lang="en-US" altLang="zh-CN" sz="2000" dirty="0">
                <a:solidFill>
                  <a:srgbClr val="0070C0"/>
                </a:solidFill>
                <a:latin typeface="Arial" panose="020B0604020202020204" pitchFamily="34" charset="0"/>
                <a:ea typeface="宋体" panose="02010600030101010101" pitchFamily="2" charset="-122"/>
              </a:rPr>
              <a:t>O(logn)</a:t>
            </a:r>
            <a:r>
              <a:rPr lang="zh-CN" altLang="en-US" sz="2000" dirty="0">
                <a:solidFill>
                  <a:srgbClr val="0070C0"/>
                </a:solidFill>
                <a:latin typeface="Arial" panose="020B0604020202020204" pitchFamily="34" charset="0"/>
                <a:ea typeface="宋体" panose="02010600030101010101" pitchFamily="2" charset="-122"/>
              </a:rPr>
              <a:t>时间，得到总共需要</a:t>
            </a:r>
            <a:r>
              <a:rPr lang="en-US" altLang="zh-CN" sz="2000" dirty="0">
                <a:solidFill>
                  <a:srgbClr val="0070C0"/>
                </a:solidFill>
                <a:latin typeface="Arial" panose="020B0604020202020204" pitchFamily="34" charset="0"/>
                <a:ea typeface="宋体" panose="02010600030101010101" pitchFamily="2" charset="-122"/>
              </a:rPr>
              <a:t> O(mlog n) </a:t>
            </a:r>
            <a:r>
              <a:rPr lang="zh-CN" altLang="en-US" sz="2000" dirty="0">
                <a:solidFill>
                  <a:srgbClr val="0070C0"/>
                </a:solidFill>
                <a:latin typeface="Arial" panose="020B0604020202020204" pitchFamily="34" charset="0"/>
                <a:ea typeface="宋体" panose="02010600030101010101" pitchFamily="2" charset="-122"/>
              </a:rPr>
              <a:t>的时间。</a:t>
            </a:r>
            <a:r>
              <a:rPr lang="en-US" altLang="zh-CN" sz="2000" dirty="0">
                <a:solidFill>
                  <a:srgbClr val="0070C0"/>
                </a:solidFill>
                <a:latin typeface="Arial" panose="020B0604020202020204" pitchFamily="34" charset="0"/>
                <a:ea typeface="宋体" panose="02010600030101010101" pitchFamily="2" charset="-122"/>
              </a:rPr>
              <a:t> </a:t>
            </a:r>
            <a:endParaRPr lang="en-US" altLang="zh-CN" sz="2000" dirty="0">
              <a:solidFill>
                <a:srgbClr val="0070C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63491" name="Rectangle 2"/>
          <p:cNvSpPr>
            <a:spLocks noGrp="1"/>
          </p:cNvSpPr>
          <p:nvPr>
            <p:ph type="title"/>
          </p:nvPr>
        </p:nvSpPr>
        <p:spPr/>
        <p:txBody>
          <a:bodyPr vert="horz" wrap="square" lIns="91440" tIns="45720" rIns="91440" bIns="45720" anchor="ctr" anchorCtr="0"/>
          <a:lstStyle/>
          <a:p>
            <a:pPr eaLnBrk="1" hangingPunct="1"/>
            <a:r>
              <a:rPr lang="en-US" altLang="zh-CN" dirty="0"/>
              <a:t>5.1.1</a:t>
            </a:r>
            <a:r>
              <a:rPr lang="en-US" altLang="zh-CN" dirty="0">
                <a:sym typeface="+mn-ea"/>
              </a:rPr>
              <a:t>Dijkstra</a:t>
            </a:r>
            <a:r>
              <a:rPr lang="zh-CN" altLang="en-US" dirty="0">
                <a:sym typeface="+mn-ea"/>
              </a:rPr>
              <a:t>算法</a:t>
            </a:r>
            <a:r>
              <a:rPr lang="en-US" altLang="zh-CN" dirty="0"/>
              <a:t>——</a:t>
            </a:r>
            <a:r>
              <a:rPr lang="zh-CN" altLang="en-US" dirty="0"/>
              <a:t>算法分析</a:t>
            </a:r>
            <a:endParaRPr lang="en-US" altLang="zh-CN" dirty="0"/>
          </a:p>
        </p:txBody>
      </p:sp>
      <p:sp>
        <p:nvSpPr>
          <p:cNvPr id="27651" name="Rectangle 3"/>
          <p:cNvSpPr>
            <a:spLocks noGrp="1" noChangeArrowheads="1"/>
          </p:cNvSpPr>
          <p:nvPr>
            <p:ph idx="1"/>
          </p:nvPr>
        </p:nvSpPr>
        <p:spPr>
          <a:xfrm>
            <a:off x="900113" y="1268413"/>
            <a:ext cx="7786688" cy="441642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需要强调的</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输入算法的是邻接表，如果用邻接矩阵，我们最终会得到一个</a:t>
            </a:r>
            <a:r>
              <a:rPr kumimoji="0" lang="el-GR" altLang="zh-CN" sz="2500" b="0" i="0" u="none" strike="noStrike" kern="0" cap="none" spc="0" normalizeH="0" baseline="0" noProof="0" dirty="0">
                <a:ln>
                  <a:noFill/>
                </a:ln>
                <a:solidFill>
                  <a:schemeClr val="accent2"/>
                </a:solidFill>
                <a:effectLst/>
                <a:uLnTx/>
                <a:uFillTx/>
                <a:latin typeface="+mn-lt"/>
                <a:ea typeface="+mn-ea"/>
                <a:cs typeface="+mn-cs"/>
              </a:rPr>
              <a:t>Θ</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a:t>
            </a:r>
            <a:r>
              <a:rPr kumimoji="0" lang="en-US" altLang="zh-CN" sz="2500" b="0" i="0" u="none" strike="noStrike" kern="0" cap="none" spc="0" normalizeH="0" baseline="30000" noProof="0" dirty="0">
                <a:ln>
                  <a:noFill/>
                </a:ln>
                <a:solidFill>
                  <a:schemeClr val="accent2"/>
                </a:solidFill>
                <a:effectLst/>
                <a:uLnTx/>
                <a:uFillTx/>
                <a:latin typeface="+mn-lt"/>
                <a:ea typeface="+mn-ea"/>
                <a:cs typeface="+mn-cs"/>
              </a:rPr>
              <a:t>2</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时间的算法。</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运行时间主要取决于堆运算。</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这里共有</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 -1</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rgbClr val="FF3300"/>
                </a:solidFill>
                <a:effectLst/>
                <a:uLnTx/>
                <a:uFillTx/>
                <a:latin typeface="+mn-lt"/>
                <a:ea typeface="+mn-ea"/>
                <a:cs typeface="+mn-ea"/>
              </a:rPr>
              <a:t>DELETEMIN</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运算，</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n-1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rgbClr val="FF3300"/>
                </a:solidFill>
                <a:effectLst/>
                <a:uLnTx/>
                <a:uFillTx/>
                <a:latin typeface="+mn-lt"/>
                <a:ea typeface="+mn-ea"/>
                <a:cs typeface="+mn-ea"/>
              </a:rPr>
              <a:t>INSERT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运算，最多</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m-n+1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个</a:t>
            </a:r>
            <a:r>
              <a:rPr kumimoji="0" lang="en-US" altLang="zh-CN" sz="2000" b="0" i="0" u="none" strike="noStrike" kern="0" cap="none" spc="0" normalizeH="0" baseline="0" noProof="0" dirty="0">
                <a:ln>
                  <a:noFill/>
                </a:ln>
                <a:solidFill>
                  <a:srgbClr val="FF3300"/>
                </a:solidFill>
                <a:effectLst/>
                <a:uLnTx/>
                <a:uFillTx/>
                <a:latin typeface="+mn-lt"/>
                <a:ea typeface="+mn-ea"/>
                <a:cs typeface="+mn-ea"/>
              </a:rPr>
              <a:t>SHIFTUP</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运算。每个堆运算用</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O(</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logn</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时间，得到总共需要</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O(</a:t>
            </a:r>
            <a:r>
              <a:rPr kumimoji="0" lang="en-US" altLang="zh-CN" sz="2000" b="0" i="0" u="none" strike="noStrike" kern="0" cap="none" spc="0" normalizeH="0" baseline="0" noProof="0" dirty="0" err="1">
                <a:ln>
                  <a:noFill/>
                </a:ln>
                <a:solidFill>
                  <a:schemeClr val="accent2"/>
                </a:solidFill>
                <a:effectLst/>
                <a:uLnTx/>
                <a:uFillTx/>
                <a:latin typeface="+mn-lt"/>
                <a:ea typeface="+mn-ea"/>
                <a:cs typeface="+mn-ea"/>
              </a:rPr>
              <a:t>mlog</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n) </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的时间。</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 </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ea"/>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定理</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8.2</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给出具有非负权重的边和源顶点</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的图</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G</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，算法</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SHORTESTPATH</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可在</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O(m </a:t>
            </a:r>
            <a:r>
              <a:rPr kumimoji="0" lang="en-US" altLang="zh-CN" sz="2000" b="0" i="0" u="none" strike="noStrike" kern="0" cap="none" spc="0" normalizeH="0" baseline="0" noProof="0" dirty="0" err="1">
                <a:ln>
                  <a:noFill/>
                </a:ln>
                <a:solidFill>
                  <a:srgbClr val="FF0000"/>
                </a:solidFill>
                <a:effectLst/>
                <a:uLnTx/>
                <a:uFillTx/>
                <a:latin typeface="+mn-lt"/>
                <a:ea typeface="+mn-ea"/>
                <a:cs typeface="+mn-ea"/>
              </a:rPr>
              <a:t>logn</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时间内找出从</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s</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到其他每一个顶点的距离。</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如果图是稠密的，即对于某个</a:t>
            </a:r>
            <a:r>
              <a:rPr kumimoji="0" lang="en-US" altLang="zh-CN"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ε&gt;0 </a:t>
            </a:r>
            <a:r>
              <a:rPr kumimoji="0" lang="zh-CN" altLang="en-US"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m </a:t>
            </a:r>
            <a:r>
              <a:rPr kumimoji="0" lang="en-US" altLang="zh-CN" sz="2000" b="0" i="0" u="none" strike="noStrike" kern="0" cap="none" spc="0" normalizeH="0" baseline="0" noProof="0" dirty="0">
                <a:ln>
                  <a:noFill/>
                </a:ln>
                <a:solidFill>
                  <a:schemeClr val="accent2"/>
                </a:solidFill>
                <a:effectLst/>
                <a:uLnTx/>
                <a:uFillTx/>
                <a:latin typeface="+mn-lt"/>
                <a:ea typeface="+mn-ea"/>
                <a:cs typeface="+mn-ea"/>
                <a:sym typeface="Symbol" panose="05050102010706020507" pitchFamily="18" charset="2"/>
              </a:rPr>
              <a:t>n</a:t>
            </a:r>
            <a:r>
              <a:rPr kumimoji="0" lang="en-US" altLang="zh-CN" sz="2000" b="0" i="0" u="none" strike="noStrike" kern="0" cap="none" spc="0" normalizeH="0" baseline="30000" noProof="0" dirty="0">
                <a:ln>
                  <a:noFill/>
                </a:ln>
                <a:solidFill>
                  <a:schemeClr val="accent2"/>
                </a:solidFill>
                <a:effectLst/>
                <a:uLnTx/>
                <a:uFillTx/>
                <a:latin typeface="+mn-lt"/>
                <a:ea typeface="+mn-ea"/>
                <a:cs typeface="+mn-ea"/>
                <a:sym typeface="Symbol" panose="05050102010706020507" pitchFamily="18" charset="2"/>
              </a:rPr>
              <a:t>1+ε</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，那么它可以被改善为在时间</a:t>
            </a:r>
            <a:r>
              <a:rPr kumimoji="0" lang="en-US" altLang="zh-CN" sz="2000" b="0" i="0" u="none" strike="noStrike" kern="0" cap="none" spc="0" normalizeH="0" baseline="0" noProof="0" dirty="0">
                <a:ln>
                  <a:noFill/>
                </a:ln>
                <a:solidFill>
                  <a:srgbClr val="FF0000"/>
                </a:solidFill>
                <a:effectLst/>
                <a:uLnTx/>
                <a:uFillTx/>
                <a:latin typeface="+mn-lt"/>
                <a:ea typeface="+mn-ea"/>
                <a:cs typeface="+mn-ea"/>
                <a:sym typeface="Symbol" panose="05050102010706020507" pitchFamily="18" charset="2"/>
              </a:rPr>
              <a:t>time </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O(m/</a:t>
            </a:r>
            <a:r>
              <a:rPr kumimoji="0" lang="en-US" altLang="zh-CN" sz="2000" b="0" i="0" u="none" strike="noStrike" kern="0" cap="none" spc="0" normalizeH="0" baseline="0" noProof="0" dirty="0">
                <a:ln>
                  <a:noFill/>
                </a:ln>
                <a:solidFill>
                  <a:srgbClr val="FF0000"/>
                </a:solidFill>
                <a:effectLst/>
                <a:uLnTx/>
                <a:uFillTx/>
                <a:latin typeface="+mn-lt"/>
                <a:ea typeface="+mn-ea"/>
                <a:cs typeface="+mn-ea"/>
                <a:sym typeface="Symbol" panose="05050102010706020507" pitchFamily="18" charset="2"/>
              </a:rPr>
              <a:t>ε</a:t>
            </a:r>
            <a:r>
              <a:rPr kumimoji="0" lang="en-US" altLang="zh-CN" sz="2000" b="0" i="0" u="none" strike="noStrike" kern="0" cap="none" spc="0" normalizeH="0" baseline="0" noProof="0" dirty="0">
                <a:ln>
                  <a:noFill/>
                </a:ln>
                <a:solidFill>
                  <a:srgbClr val="FF0000"/>
                </a:solidFill>
                <a:effectLst/>
                <a:uLnTx/>
                <a:uFillTx/>
                <a:latin typeface="+mn-lt"/>
                <a:ea typeface="+mn-ea"/>
                <a:cs typeface="+mn-ea"/>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ea"/>
              </a:rPr>
              <a:t>内运行。</a:t>
            </a:r>
            <a:r>
              <a:rPr kumimoji="0" lang="en-US" altLang="zh-CN" sz="2000" b="0" i="0" u="none" strike="noStrike" kern="0" cap="none" spc="0" normalizeH="0" baseline="0" noProof="0" dirty="0">
                <a:ln>
                  <a:noFill/>
                </a:ln>
                <a:solidFill>
                  <a:schemeClr val="accent2"/>
                </a:solidFill>
                <a:effectLst/>
                <a:uLnTx/>
                <a:uFillTx/>
                <a:latin typeface="+mn-lt"/>
                <a:ea typeface="+mn-ea"/>
                <a:cs typeface="+mn-ea"/>
              </a:rPr>
              <a:t>P151</a:t>
            </a:r>
            <a:endParaRPr kumimoji="0" lang="en-US" altLang="zh-CN" sz="2000" b="0" i="0" u="none" strike="noStrike" kern="0" cap="none" spc="0" normalizeH="0" baseline="0" noProof="0" dirty="0">
              <a:ln>
                <a:noFill/>
              </a:ln>
              <a:solidFill>
                <a:schemeClr val="accent2"/>
              </a:solidFill>
              <a:effectLst/>
              <a:uLnTx/>
              <a:uFillTx/>
              <a:latin typeface="+mn-lt"/>
              <a:ea typeface="+mn-ea"/>
              <a:cs typeface="+mn-ea"/>
            </a:endParaRPr>
          </a:p>
        </p:txBody>
      </p:sp>
      <p:pic>
        <p:nvPicPr>
          <p:cNvPr id="63493" name="Picture 4" descr="theorem"/>
          <p:cNvPicPr>
            <a:picLocks noChangeAspect="1"/>
          </p:cNvPicPr>
          <p:nvPr/>
        </p:nvPicPr>
        <p:blipFill>
          <a:blip r:embed="rId1"/>
          <a:stretch>
            <a:fillRect/>
          </a:stretch>
        </p:blipFill>
        <p:spPr>
          <a:xfrm>
            <a:off x="857250" y="3286125"/>
            <a:ext cx="504825" cy="319088"/>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65539" name="灯片编号占位符 5"/>
          <p:cNvSpPr/>
          <p:nvPr/>
        </p:nvSpPr>
        <p:spPr>
          <a:xfrm>
            <a:off x="0" y="0"/>
            <a:ext cx="0" cy="0"/>
          </a:xfrm>
          <a:prstGeom prst="rect">
            <a:avLst/>
          </a:prstGeom>
          <a:noFill/>
          <a:ln w="9525">
            <a:noFill/>
          </a:ln>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endParaRPr lang="en-US" altLang="zh-CN" sz="1400" dirty="0">
              <a:solidFill>
                <a:schemeClr val="tx1"/>
              </a:solidFill>
              <a:latin typeface="Arial" panose="020B0604020202020204" pitchFamily="34" charset="0"/>
              <a:ea typeface="宋体" panose="02010600030101010101" pitchFamily="2" charset="-122"/>
            </a:endParaRPr>
          </a:p>
        </p:txBody>
      </p:sp>
      <p:sp>
        <p:nvSpPr>
          <p:cNvPr id="65540" name="Rectangle 2"/>
          <p:cNvSpPr>
            <a:spLocks noGrp="1"/>
          </p:cNvSpPr>
          <p:nvPr>
            <p:ph type="title"/>
          </p:nvPr>
        </p:nvSpPr>
        <p:spPr/>
        <p:txBody>
          <a:bodyPr vert="horz" wrap="square" lIns="91440" tIns="45720" rIns="91440" bIns="45720" anchor="ctr" anchorCtr="0"/>
          <a:lstStyle/>
          <a:p>
            <a:pPr eaLnBrk="1" hangingPunct="1"/>
            <a:r>
              <a:rPr lang="en-US" altLang="zh-CN" dirty="0"/>
              <a:t>5.1.1Floyd</a:t>
            </a:r>
            <a:r>
              <a:rPr lang="zh-CN" altLang="en-US" dirty="0"/>
              <a:t>与</a:t>
            </a:r>
            <a:r>
              <a:rPr lang="en-US" altLang="zh-CN" dirty="0"/>
              <a:t>Dijkstra</a:t>
            </a:r>
            <a:r>
              <a:rPr lang="zh-CN" altLang="en-US" dirty="0"/>
              <a:t>算法比较</a:t>
            </a:r>
            <a:endParaRPr lang="en-US" altLang="zh-CN" dirty="0"/>
          </a:p>
        </p:txBody>
      </p:sp>
      <p:sp>
        <p:nvSpPr>
          <p:cNvPr id="10" name="Rectangle 3"/>
          <p:cNvSpPr txBox="1">
            <a:spLocks noChangeArrowheads="1"/>
          </p:cNvSpPr>
          <p:nvPr/>
        </p:nvSpPr>
        <p:spPr bwMode="auto">
          <a:xfrm>
            <a:off x="900113" y="1268413"/>
            <a:ext cx="7786688" cy="353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Dijkstra</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图所有边权值都为非负的</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Floyd</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不允许所有权值为负的回路</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Dijkstra</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只可以求出任意点到达源点的最短距离</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Floyd</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可以求出任意两点间的最短距离</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Dijkstra</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算法的思想是贪心</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Floyd</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算法的思想是动态规划</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Dijkstra</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时间复杂度</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O(</a:t>
            </a:r>
            <a:r>
              <a:rPr kumimoji="0" lang="en-US" altLang="zh-CN" sz="28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800" b="0" i="0" u="none" strike="noStrike" kern="0" cap="none" spc="0" normalizeH="0" baseline="30000" noProof="0" dirty="0" err="1">
                <a:ln>
                  <a:noFill/>
                </a:ln>
                <a:solidFill>
                  <a:schemeClr val="accent2"/>
                </a:solidFill>
                <a:effectLst/>
                <a:uLnTx/>
                <a:uFillTx/>
                <a:latin typeface="+mn-lt"/>
                <a:ea typeface="+mn-ea"/>
                <a:cs typeface="+mn-cs"/>
              </a:rPr>
              <a:t>2</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Floyd</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a:t>
            </a:r>
            <a:r>
              <a:rPr kumimoji="0" lang="en-US" altLang="en-US" sz="2800" b="0" i="0" u="none" strike="noStrike" kern="0" cap="none" spc="0" normalizeH="0" baseline="0" noProof="0" dirty="0">
                <a:ln>
                  <a:noFill/>
                </a:ln>
                <a:solidFill>
                  <a:schemeClr val="accent2"/>
                </a:solidFill>
                <a:effectLst/>
                <a:uLnTx/>
                <a:uFillTx/>
                <a:latin typeface="+mn-lt"/>
                <a:ea typeface="+mn-ea"/>
                <a:cs typeface="+mn-cs"/>
              </a:rPr>
              <a:t>O(</a:t>
            </a:r>
            <a:r>
              <a:rPr kumimoji="0" lang="en-US" altLang="zh-CN" sz="28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800" b="0" i="0" u="none" strike="noStrike" kern="0" cap="none" spc="0" normalizeH="0" baseline="30000" noProof="0" dirty="0" err="1">
                <a:ln>
                  <a:noFill/>
                </a:ln>
                <a:solidFill>
                  <a:schemeClr val="accent2"/>
                </a:solidFill>
                <a:effectLst/>
                <a:uLnTx/>
                <a:uFillTx/>
                <a:latin typeface="+mn-lt"/>
                <a:ea typeface="+mn-ea"/>
                <a:cs typeface="+mn-cs"/>
              </a:rPr>
              <a:t>3</a:t>
            </a:r>
            <a:r>
              <a:rPr kumimoji="0" lang="en-US" altLang="en-US" sz="2800" b="0" i="0" u="none" strike="noStrike" kern="0" cap="none" spc="0" normalizeH="0" baseline="0" noProof="0" dirty="0">
                <a:ln>
                  <a:noFill/>
                </a:ln>
                <a:solidFill>
                  <a:schemeClr val="accent2"/>
                </a:solidFill>
                <a:effectLst/>
                <a:uLnTx/>
                <a:uFillTx/>
                <a:latin typeface="+mn-lt"/>
                <a:ea typeface="+mn-ea"/>
                <a:cs typeface="+mn-cs"/>
              </a:rPr>
              <a:t>)</a:t>
            </a:r>
            <a:endParaRPr kumimoji="0" lang="en-US" altLang="en-US" sz="28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Dijkstra </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 在网络中用得多，一个一个节点添加，加一个点刷一次路由表。</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Floyd </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算法把所有已经连接的路径都标出来，再通过不等式比较来更改路径。 </a:t>
            </a:r>
            <a:br>
              <a:rPr kumimoji="0" lang="en-US" altLang="zh-CN" sz="2800" b="0" i="0" u="none" strike="noStrike" kern="0" cap="none" spc="0" normalizeH="0" baseline="0" noProof="0" dirty="0">
                <a:ln>
                  <a:noFill/>
                </a:ln>
                <a:solidFill>
                  <a:schemeClr val="accent2"/>
                </a:solidFill>
                <a:effectLst/>
                <a:uLnTx/>
                <a:uFillTx/>
                <a:latin typeface="+mn-lt"/>
                <a:ea typeface="+mn-ea"/>
                <a:cs typeface="+mn-cs"/>
              </a:rPr>
            </a:b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a:t>
            </a:r>
            <a:br>
              <a:rPr kumimoji="0" lang="zh-CN" altLang="en-US" sz="2800" b="0" i="0" u="none" strike="noStrike" kern="0" cap="none" spc="0" normalizeH="0" baseline="0" noProof="0" dirty="0">
                <a:ln>
                  <a:noFill/>
                </a:ln>
                <a:solidFill>
                  <a:schemeClr val="accent2"/>
                </a:solidFill>
                <a:effectLst/>
                <a:uLnTx/>
                <a:uFillTx/>
                <a:latin typeface="+mn-lt"/>
                <a:ea typeface="+mn-ea"/>
                <a:cs typeface="+mn-cs"/>
              </a:rPr>
            </a:b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 </a:t>
            </a:r>
            <a:br>
              <a:rPr kumimoji="0" lang="en-US" altLang="zh-CN" sz="2800" b="0" i="0" u="none" strike="noStrike" kern="0" cap="none" spc="0" normalizeH="0" baseline="0" noProof="0" dirty="0">
                <a:ln>
                  <a:noFill/>
                </a:ln>
                <a:solidFill>
                  <a:schemeClr val="accent2"/>
                </a:solidFill>
                <a:effectLst/>
                <a:uLnTx/>
                <a:uFillTx/>
                <a:latin typeface="+mn-lt"/>
                <a:ea typeface="+mn-ea"/>
                <a:cs typeface="+mn-cs"/>
              </a:rPr>
            </a:b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a:t>
            </a:r>
            <a:br>
              <a:rPr kumimoji="0" lang="en-US" altLang="zh-CN" sz="2800" b="0" i="0" u="none" strike="noStrike" kern="0" cap="none" spc="0" normalizeH="0" baseline="0" noProof="0" dirty="0">
                <a:ln>
                  <a:noFill/>
                </a:ln>
                <a:solidFill>
                  <a:schemeClr val="accent2"/>
                </a:solidFill>
                <a:effectLst/>
                <a:uLnTx/>
                <a:uFillTx/>
                <a:latin typeface="+mn-lt"/>
                <a:ea typeface="+mn-ea"/>
                <a:cs typeface="+mn-cs"/>
              </a:rPr>
            </a:b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1"/>
          </p:nvPr>
        </p:nvSpPr>
        <p:spPr/>
        <p:txBody>
          <a:bodyPr vert="horz" wrap="square" lIns="91440" tIns="45720" rIns="91440" bIns="45720" anchor="t" anchorCtr="0"/>
          <a:lstStyle/>
          <a:p>
            <a:pPr marL="0" indent="0">
              <a:buNone/>
            </a:pPr>
            <a:r>
              <a:rPr lang="zh-CN" altLang="en-US" sz="2400" dirty="0">
                <a:latin typeface="+mn-ea"/>
                <a:sym typeface="+mn-ea"/>
              </a:rPr>
              <a:t>5.2 贪心策略的算法设计思想及分析方法</a:t>
            </a:r>
            <a:endParaRPr lang="zh-CN" altLang="en-US" sz="2400" dirty="0">
              <a:latin typeface="+mn-ea"/>
            </a:endParaRPr>
          </a:p>
          <a:p>
            <a:pPr marL="457200" lvl="1" indent="0">
              <a:buNone/>
            </a:pPr>
            <a:r>
              <a:rPr lang="zh-CN" altLang="en-US" sz="2400" dirty="0">
                <a:latin typeface="+mn-ea"/>
                <a:ea typeface="+mn-ea"/>
                <a:cs typeface="+mn-cs"/>
              </a:rPr>
              <a:t>5.2.1 可行解、部分可行解、贪心解与最优解</a:t>
            </a:r>
            <a:endParaRPr lang="zh-CN" altLang="en-US" sz="2400" dirty="0">
              <a:latin typeface="+mn-ea"/>
              <a:ea typeface="+mn-ea"/>
              <a:cs typeface="+mn-cs"/>
            </a:endParaRPr>
          </a:p>
          <a:p>
            <a:pPr marL="457200" lvl="1" indent="0">
              <a:buNone/>
            </a:pPr>
            <a:r>
              <a:rPr lang="zh-CN" altLang="en-US" sz="2400" dirty="0">
                <a:latin typeface="+mn-ea"/>
                <a:ea typeface="+mn-ea"/>
                <a:cs typeface="+mn-cs"/>
              </a:rPr>
              <a:t>5.2.2 贪心准则/贪心度量</a:t>
            </a:r>
            <a:endParaRPr lang="zh-CN" altLang="en-US" sz="2400" dirty="0">
              <a:latin typeface="+mn-ea"/>
              <a:ea typeface="+mn-ea"/>
              <a:cs typeface="+mn-cs"/>
            </a:endParaRPr>
          </a:p>
          <a:p>
            <a:pPr marL="457200" lvl="1" indent="0">
              <a:buNone/>
            </a:pPr>
            <a:r>
              <a:rPr lang="zh-CN" altLang="en-US" sz="2400" dirty="0">
                <a:latin typeface="+mn-ea"/>
                <a:ea typeface="+mn-ea"/>
                <a:cs typeface="+mn-cs"/>
              </a:rPr>
              <a:t>5.2.3 贪心算法一般框架及特点分析</a:t>
            </a:r>
            <a:endParaRPr lang="zh-CN" altLang="en-US" sz="2400" dirty="0">
              <a:latin typeface="+mn-ea"/>
              <a:ea typeface="+mn-ea"/>
              <a:cs typeface="+mn-cs"/>
            </a:endParaRPr>
          </a:p>
          <a:p>
            <a:pPr marL="457200" lvl="1" indent="0">
              <a:buNone/>
            </a:pPr>
            <a:r>
              <a:rPr lang="zh-CN" altLang="en-US" sz="2400" dirty="0">
                <a:latin typeface="+mn-ea"/>
                <a:ea typeface="+mn-ea"/>
                <a:cs typeface="+mn-cs"/>
              </a:rPr>
              <a:t>5.2.4 贪心准则的重要性（分数背包问题为例）</a:t>
            </a:r>
            <a:endParaRPr lang="zh-CN" altLang="en-US" sz="2400" dirty="0">
              <a:latin typeface="+mn-ea"/>
              <a:ea typeface="+mn-ea"/>
              <a:cs typeface="+mn-cs"/>
            </a:endParaRPr>
          </a:p>
          <a:p>
            <a:pPr marL="457200" lvl="1" indent="0">
              <a:buNone/>
            </a:pPr>
            <a:r>
              <a:rPr lang="zh-CN" altLang="en-US" sz="2400" dirty="0">
                <a:latin typeface="+mn-ea"/>
                <a:ea typeface="+mn-ea"/>
                <a:cs typeface="+mn-cs"/>
              </a:rPr>
              <a:t>5.2.5 贪心解为最优解的正确性证明（分数背包问题为例）</a:t>
            </a:r>
            <a:endParaRPr lang="zh-CN" altLang="en-US" sz="2400" dirty="0">
              <a:latin typeface="+mn-ea"/>
              <a:ea typeface="+mn-ea"/>
              <a:cs typeface="+mn-cs"/>
            </a:endParaRPr>
          </a:p>
          <a:p>
            <a:pPr marL="457200" lvl="1" indent="0">
              <a:buNone/>
            </a:pPr>
            <a:r>
              <a:rPr lang="zh-CN" altLang="en-US" sz="2400" dirty="0">
                <a:latin typeface="+mn-ea"/>
                <a:ea typeface="+mn-ea"/>
                <a:cs typeface="+mn-cs"/>
              </a:rPr>
              <a:t>5.2.6 贪心策略和动态规划策略的异同点</a:t>
            </a:r>
            <a:endParaRPr lang="zh-CN" altLang="en-US" sz="2400" dirty="0">
              <a:latin typeface="+mn-ea"/>
              <a:ea typeface="+mn-ea"/>
              <a:cs typeface="+mn-cs"/>
            </a:endParaRPr>
          </a:p>
          <a:p>
            <a:endParaRPr lang="zh-CN" altLang="en-US" sz="2000" dirty="0">
              <a:latin typeface="华文楷体" panose="02010600040101010101" pitchFamily="2" charset="-122"/>
            </a:endParaRPr>
          </a:p>
        </p:txBody>
      </p:sp>
      <p:sp>
        <p:nvSpPr>
          <p:cNvPr id="66563" name="Rectangle 2"/>
          <p:cNvSpPr>
            <a:spLocks noGrp="1"/>
          </p:cNvSpPr>
          <p:nvPr>
            <p:ph type="title"/>
          </p:nvPr>
        </p:nvSpPr>
        <p:spPr/>
        <p:txBody>
          <a:bodyPr vert="horz" wrap="square" lIns="91440" tIns="45720" rIns="91440" bIns="45720" anchor="ctr" anchorCtr="0"/>
          <a:lstStyle/>
          <a:p>
            <a:pPr eaLnBrk="1" hangingPunct="1"/>
            <a:br>
              <a:rPr lang="zh-CN" altLang="en-US" dirty="0">
                <a:latin typeface="华文楷体" panose="02010600040101010101" pitchFamily="2" charset="-122"/>
                <a:ea typeface="华文楷体" panose="02010600040101010101" pitchFamily="2" charset="-122"/>
              </a:rPr>
            </a:br>
            <a:endParaRPr lang="en-US" altLang="zh-CN" b="1" dirty="0"/>
          </a:p>
        </p:txBody>
      </p:sp>
      <p:sp>
        <p:nvSpPr>
          <p:cNvPr id="8195" name="Rectangle 2"/>
          <p:cNvSpPr>
            <a:spLocks noGrp="1"/>
          </p:cNvSpPr>
          <p:nvPr/>
        </p:nvSpPr>
        <p:spPr>
          <a:xfrm>
            <a:off x="1006475" y="396875"/>
            <a:ext cx="7869238" cy="927100"/>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eaLnBrk="1" hangingPunct="1"/>
            <a:r>
              <a:rPr lang="zh-CN" altLang="en-US" dirty="0"/>
              <a:t>主要内容</a:t>
            </a:r>
            <a:endParaRPr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2"/>
          <p:cNvSpPr>
            <a:spLocks noGrp="1"/>
          </p:cNvSpPr>
          <p:nvPr>
            <p:ph idx="1"/>
          </p:nvPr>
        </p:nvSpPr>
        <p:spPr/>
        <p:txBody>
          <a:bodyPr vert="horz" wrap="square" lIns="91440" tIns="45720" rIns="91440" bIns="45720" anchor="t" anchorCtr="0"/>
          <a:lstStyle/>
          <a:p>
            <a:endParaRPr lang="zh-CN" altLang="en-US" sz="2000" dirty="0">
              <a:latin typeface="华文楷体" panose="02010600040101010101" pitchFamily="2" charset="-122"/>
            </a:endParaRPr>
          </a:p>
        </p:txBody>
      </p:sp>
      <p:sp>
        <p:nvSpPr>
          <p:cNvPr id="67587" name="Rectangle 2"/>
          <p:cNvSpPr>
            <a:spLocks noGrp="1"/>
          </p:cNvSpPr>
          <p:nvPr>
            <p:ph type="title"/>
          </p:nvPr>
        </p:nvSpPr>
        <p:spPr/>
        <p:txBody>
          <a:bodyPr vert="horz" wrap="square" lIns="91440" tIns="45720" rIns="91440" bIns="45720" anchor="ctr" anchorCtr="0"/>
          <a:lstStyle/>
          <a:p>
            <a:pPr eaLnBrk="1" hangingPunct="1"/>
            <a:r>
              <a:rPr lang="zh-CN" altLang="en-US" dirty="0"/>
              <a:t>5.2.1 可行解、部分可行解、贪心解与最优解</a:t>
            </a:r>
            <a:br>
              <a:rPr lang="zh-CN" altLang="en-US" dirty="0">
                <a:latin typeface="华文楷体" panose="02010600040101010101" pitchFamily="2" charset="-122"/>
                <a:ea typeface="华文楷体" panose="02010600040101010101" pitchFamily="2" charset="-122"/>
              </a:rPr>
            </a:br>
            <a:endParaRPr lang="en-US" altLang="zh-CN"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内容占位符 2"/>
          <p:cNvSpPr>
            <a:spLocks noGrp="1"/>
          </p:cNvSpPr>
          <p:nvPr>
            <p:ph idx="1"/>
          </p:nvPr>
        </p:nvSpPr>
        <p:spPr/>
        <p:txBody>
          <a:bodyPr vert="horz" wrap="square" lIns="91440" tIns="45720" rIns="91440" bIns="45720" anchor="t" anchorCtr="0"/>
          <a:lstStyle/>
          <a:p>
            <a:pPr eaLnBrk="1" hangingPunct="1"/>
            <a:r>
              <a:rPr lang="zh-CN" altLang="en-US" sz="2400" dirty="0"/>
              <a:t>贪心算法在</a:t>
            </a:r>
            <a:r>
              <a:rPr lang="zh-CN" altLang="en-US" sz="2400" dirty="0">
                <a:solidFill>
                  <a:srgbClr val="FF0000"/>
                </a:solidFill>
              </a:rPr>
              <a:t>少量计算</a:t>
            </a:r>
            <a:r>
              <a:rPr lang="zh-CN" altLang="en-US" sz="2400" dirty="0"/>
              <a:t>的基础上做出正确猜想而</a:t>
            </a:r>
            <a:r>
              <a:rPr lang="zh-CN" altLang="en-US" sz="2400" dirty="0">
                <a:solidFill>
                  <a:srgbClr val="FF0000"/>
                </a:solidFill>
              </a:rPr>
              <a:t>不急于考虑以后的情况。</a:t>
            </a:r>
            <a:endParaRPr lang="en-US" altLang="zh-CN" sz="2400" dirty="0">
              <a:solidFill>
                <a:srgbClr val="FF0000"/>
              </a:solidFill>
            </a:endParaRPr>
          </a:p>
          <a:p>
            <a:pPr eaLnBrk="1" hangingPunct="1"/>
            <a:r>
              <a:rPr lang="zh-CN" altLang="en-US" sz="2400" dirty="0"/>
              <a:t>它一步步地来构筑解。每一步均是建立在</a:t>
            </a:r>
            <a:r>
              <a:rPr lang="zh-CN" altLang="en-US" sz="2400" dirty="0">
                <a:solidFill>
                  <a:srgbClr val="FF0000"/>
                </a:solidFill>
              </a:rPr>
              <a:t>局部最优解</a:t>
            </a:r>
            <a:r>
              <a:rPr lang="zh-CN" altLang="en-US" sz="2400" dirty="0"/>
              <a:t>的基础之上，而每一步又都扩大了部分解的规模。</a:t>
            </a:r>
            <a:endParaRPr lang="en-US" altLang="zh-CN" sz="2400" dirty="0"/>
          </a:p>
          <a:p>
            <a:pPr eaLnBrk="1" hangingPunct="1"/>
            <a:r>
              <a:rPr lang="zh-CN" altLang="en-US" sz="2400" dirty="0"/>
              <a:t>做出的选择产生</a:t>
            </a:r>
            <a:r>
              <a:rPr lang="zh-CN" altLang="en-US" sz="2400" dirty="0">
                <a:solidFill>
                  <a:srgbClr val="FF0000"/>
                </a:solidFill>
              </a:rPr>
              <a:t>最大的</a:t>
            </a:r>
            <a:r>
              <a:rPr lang="zh-CN" altLang="en-US" sz="2400" dirty="0"/>
              <a:t>直接收益而又保持可行性。</a:t>
            </a:r>
            <a:endParaRPr lang="en-US" altLang="zh-CN" sz="2400" dirty="0"/>
          </a:p>
          <a:p>
            <a:pPr eaLnBrk="1" hangingPunct="1"/>
            <a:r>
              <a:rPr lang="zh-CN" altLang="en-US" sz="2400" dirty="0"/>
              <a:t>因为每一步的工作很少且基于少量信息，所得算法特别有效。</a:t>
            </a:r>
            <a:endParaRPr lang="en-US" altLang="zh-CN" sz="2400" dirty="0"/>
          </a:p>
          <a:p>
            <a:pPr eaLnBrk="1" hangingPunct="1"/>
            <a:r>
              <a:rPr lang="zh-CN" altLang="en-US" sz="2400" dirty="0"/>
              <a:t>算法由一个简单的迭代过程构成，在维持可行性的前提下它</a:t>
            </a:r>
            <a:r>
              <a:rPr lang="zh-CN" altLang="en-US" sz="2400" dirty="0">
                <a:solidFill>
                  <a:srgbClr val="FF0000"/>
                </a:solidFill>
              </a:rPr>
              <a:t>选择</a:t>
            </a:r>
            <a:r>
              <a:rPr lang="zh-CN" altLang="en-US" sz="2400" dirty="0"/>
              <a:t>能产生</a:t>
            </a:r>
            <a:r>
              <a:rPr lang="zh-CN" altLang="en-US" sz="2400" dirty="0">
                <a:solidFill>
                  <a:srgbClr val="FF0000"/>
                </a:solidFill>
              </a:rPr>
              <a:t>最大</a:t>
            </a:r>
            <a:r>
              <a:rPr lang="zh-CN" altLang="en-US" sz="2400" dirty="0"/>
              <a:t>直接利益的项。</a:t>
            </a:r>
            <a:endParaRPr lang="en-US" altLang="zh-CN" sz="2400" dirty="0"/>
          </a:p>
          <a:p>
            <a:pPr eaLnBrk="1" hangingPunct="1"/>
            <a:r>
              <a:rPr lang="zh-CN" altLang="en-US" sz="2400" dirty="0"/>
              <a:t>贪心算法产生全局最优解的最重要因素是</a:t>
            </a:r>
            <a:r>
              <a:rPr lang="zh-CN" altLang="en-US" sz="2400" dirty="0">
                <a:solidFill>
                  <a:srgbClr val="FF0000"/>
                </a:solidFill>
              </a:rPr>
              <a:t>选择策略。</a:t>
            </a:r>
            <a:endParaRPr lang="en-US" altLang="zh-CN" sz="2400" dirty="0">
              <a:solidFill>
                <a:srgbClr val="FF0000"/>
              </a:solidFill>
            </a:endParaRPr>
          </a:p>
          <a:p>
            <a:endParaRPr lang="zh-CN" altLang="en-US" sz="2000" dirty="0">
              <a:latin typeface="华文楷体" panose="02010600040101010101" pitchFamily="2" charset="-122"/>
            </a:endParaRPr>
          </a:p>
        </p:txBody>
      </p:sp>
      <p:sp>
        <p:nvSpPr>
          <p:cNvPr id="68611" name="Rectangle 2"/>
          <p:cNvSpPr>
            <a:spLocks noGrp="1"/>
          </p:cNvSpPr>
          <p:nvPr>
            <p:ph type="title"/>
          </p:nvPr>
        </p:nvSpPr>
        <p:spPr/>
        <p:txBody>
          <a:bodyPr vert="horz" wrap="square" lIns="91440" tIns="45720" rIns="91440" bIns="45720" anchor="ctr" anchorCtr="0"/>
          <a:lstStyle/>
          <a:p>
            <a:pPr eaLnBrk="1" hangingPunct="1"/>
            <a:r>
              <a:rPr lang="zh-CN" altLang="en-US" dirty="0"/>
              <a:t>5.2.2 贪心准则/贪心度量</a:t>
            </a:r>
            <a:endParaRPr lang="en-US" altLang="zh-CN"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vert="horz" wrap="square" lIns="91440" tIns="45720" rIns="91440" bIns="45720" anchor="ctr" anchorCtr="0"/>
          <a:lstStyle/>
          <a:p>
            <a:pPr eaLnBrk="1" hangingPunct="1"/>
            <a:r>
              <a:rPr lang="zh-CN" altLang="en-US" dirty="0"/>
              <a:t>5.2.3 贪心算法一般框架及特点分析</a:t>
            </a:r>
            <a:endParaRPr lang="en-US" altLang="zh-CN" b="1" dirty="0"/>
          </a:p>
        </p:txBody>
      </p:sp>
      <p:sp>
        <p:nvSpPr>
          <p:cNvPr id="4" name="Rectangle 3"/>
          <p:cNvSpPr txBox="1">
            <a:spLocks noChangeArrowheads="1"/>
          </p:cNvSpPr>
          <p:nvPr/>
        </p:nvSpPr>
        <p:spPr bwMode="auto">
          <a:xfrm>
            <a:off x="1052513" y="1420813"/>
            <a:ext cx="77866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rPr>
              <a:t>Algorithm GREEDY(A,n)</a:t>
            </a:r>
            <a:endParaRPr kumimoji="0" lang="en-US" altLang="zh-CN" sz="2800" b="0" i="0" u="none" strike="noStrike" kern="0" cap="none" spc="0" normalizeH="0" baseline="0" noProof="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rPr>
              <a:t>	solution</a:t>
            </a: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Ø</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for i1 to n do</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xSELECT(A)</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if FEASIBLE(solution,x)</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then solutionUNION(solution,x)</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end if</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rPr>
              <a:t>	end for</a:t>
            </a:r>
            <a:endParaRPr kumimoji="0" lang="en-US" altLang="zh-CN" sz="2800" b="0" i="0" u="none" strike="noStrike" kern="0" cap="none" spc="0" normalizeH="0" baseline="0" noProof="0">
              <a:ln>
                <a:noFill/>
              </a:ln>
              <a:solidFill>
                <a:schemeClr val="accent2"/>
              </a:solidFill>
              <a:effectLst/>
              <a:uLnTx/>
              <a:uFillTx/>
              <a:latin typeface="+mn-lt"/>
              <a:ea typeface="+mn-ea"/>
              <a:cs typeface="+mn-cs"/>
              <a:sym typeface="Wingdings" panose="05000000000000000000" pitchFamily="2" charset="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800" b="0" i="0" u="none" strike="noStrike" kern="0" cap="none" spc="0" normalizeH="0" baseline="0" noProof="0">
                <a:ln>
                  <a:noFill/>
                </a:ln>
                <a:solidFill>
                  <a:schemeClr val="accent2"/>
                </a:solidFill>
                <a:effectLst/>
                <a:uLnTx/>
                <a:uFillTx/>
                <a:latin typeface="+mn-lt"/>
                <a:ea typeface="+mn-ea"/>
                <a:cs typeface="+mn-cs"/>
              </a:rPr>
              <a:t>return (solution)</a:t>
            </a: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72707" name="Rectangle 2"/>
          <p:cNvSpPr>
            <a:spLocks noGrp="1"/>
          </p:cNvSpPr>
          <p:nvPr>
            <p:ph type="title"/>
          </p:nvPr>
        </p:nvSpPr>
        <p:spPr/>
        <p:txBody>
          <a:bodyPr vert="horz" wrap="square" lIns="91440" tIns="45720" rIns="91440" bIns="45720" anchor="ctr" anchorCtr="0"/>
          <a:lstStyle/>
          <a:p>
            <a:pPr eaLnBrk="1" hangingPunct="1"/>
            <a:r>
              <a:rPr lang="zh-CN" altLang="en-US" dirty="0"/>
              <a:t>贪心算法特点</a:t>
            </a:r>
            <a:endParaRPr lang="en-US" altLang="zh-CN" dirty="0"/>
          </a:p>
        </p:txBody>
      </p:sp>
      <p:sp>
        <p:nvSpPr>
          <p:cNvPr id="72708" name="Rectangle 3"/>
          <p:cNvSpPr>
            <a:spLocks noGrp="1"/>
          </p:cNvSpPr>
          <p:nvPr>
            <p:ph idx="1"/>
          </p:nvPr>
        </p:nvSpPr>
        <p:spPr>
          <a:xfrm>
            <a:off x="900113" y="1268413"/>
            <a:ext cx="7786687" cy="3673475"/>
          </a:xfrm>
        </p:spPr>
        <p:txBody>
          <a:bodyPr vert="horz" wrap="square" lIns="91440" tIns="45720" rIns="91440" bIns="45720" anchor="t" anchorCtr="0"/>
          <a:lstStyle/>
          <a:p>
            <a:pPr eaLnBrk="1" hangingPunct="1"/>
            <a:endParaRPr lang="en-US" altLang="zh-CN" dirty="0"/>
          </a:p>
          <a:p>
            <a:pPr eaLnBrk="1" hangingPunct="1"/>
            <a:r>
              <a:rPr lang="zh-CN" altLang="en-US" dirty="0"/>
              <a:t>对于一个具体的问题，怎么知道是否可用贪心算法解此问题，以及能否得到问题的最优解呢</a:t>
            </a:r>
            <a:r>
              <a:rPr lang="en-US" altLang="zh-CN" dirty="0"/>
              <a:t>?</a:t>
            </a:r>
            <a:r>
              <a:rPr lang="zh-CN" altLang="en-US" dirty="0"/>
              <a:t>这个问题很难给予肯定的回答。</a:t>
            </a:r>
            <a:endParaRPr lang="en-US" altLang="zh-CN" dirty="0"/>
          </a:p>
          <a:p>
            <a:pPr eaLnBrk="1" hangingPunct="1"/>
            <a:endParaRPr lang="en-US" altLang="zh-CN" dirty="0"/>
          </a:p>
          <a:p>
            <a:pPr eaLnBrk="1" hangingPunct="1"/>
            <a:r>
              <a:rPr lang="zh-CN" altLang="en-US" dirty="0"/>
              <a:t> 但是，从许多可用贪心算法求解的问题中我们看到这类问题一般具有</a:t>
            </a:r>
            <a:r>
              <a:rPr lang="en-US" altLang="zh-CN" dirty="0"/>
              <a:t>2</a:t>
            </a:r>
            <a:r>
              <a:rPr lang="zh-CN" altLang="en-US" dirty="0"/>
              <a:t>个重要的性质：</a:t>
            </a:r>
            <a:r>
              <a:rPr lang="zh-CN" altLang="en-US" dirty="0">
                <a:solidFill>
                  <a:srgbClr val="FF0000"/>
                </a:solidFill>
              </a:rPr>
              <a:t>贪心选择性质</a:t>
            </a:r>
            <a:r>
              <a:rPr lang="zh-CN" altLang="en-US" dirty="0"/>
              <a:t>和</a:t>
            </a:r>
            <a:r>
              <a:rPr lang="zh-CN" altLang="en-US" dirty="0">
                <a:solidFill>
                  <a:srgbClr val="FF0000"/>
                </a:solidFill>
              </a:rPr>
              <a:t>最优子结构性质</a:t>
            </a:r>
            <a:r>
              <a:rPr lang="zh-CN" altLang="en-US" dirty="0"/>
              <a:t>。 </a:t>
            </a:r>
            <a:endParaRPr lang="zh-CN" altLang="en-US" dirty="0"/>
          </a:p>
          <a:p>
            <a:pPr eaLnBrk="1" hangingPunct="1"/>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74755" name="Rectangle 2"/>
          <p:cNvSpPr>
            <a:spLocks noGrp="1"/>
          </p:cNvSpPr>
          <p:nvPr>
            <p:ph type="title"/>
          </p:nvPr>
        </p:nvSpPr>
        <p:spPr/>
        <p:txBody>
          <a:bodyPr vert="horz" wrap="square" lIns="91440" tIns="45720" rIns="91440" bIns="45720" anchor="ctr" anchorCtr="0"/>
          <a:lstStyle/>
          <a:p>
            <a:pPr eaLnBrk="1" hangingPunct="1"/>
            <a:r>
              <a:rPr lang="zh-CN" altLang="en-US" dirty="0"/>
              <a:t>贪心选择性质</a:t>
            </a:r>
            <a:endParaRPr lang="en-US" altLang="zh-CN" dirty="0"/>
          </a:p>
        </p:txBody>
      </p:sp>
      <p:sp>
        <p:nvSpPr>
          <p:cNvPr id="74756" name="Rectangle 3"/>
          <p:cNvSpPr>
            <a:spLocks noGrp="1"/>
          </p:cNvSpPr>
          <p:nvPr>
            <p:ph idx="1"/>
          </p:nvPr>
        </p:nvSpPr>
        <p:spPr>
          <a:xfrm>
            <a:off x="900113" y="1268413"/>
            <a:ext cx="7786687" cy="3673475"/>
          </a:xfrm>
        </p:spPr>
        <p:txBody>
          <a:bodyPr vert="horz" wrap="square" lIns="91440" tIns="45720" rIns="91440" bIns="45720" anchor="t" anchorCtr="0"/>
          <a:lstStyle/>
          <a:p>
            <a:pPr eaLnBrk="1" hangingPunct="1"/>
            <a:r>
              <a:rPr lang="zh-CN" altLang="en-US" sz="2400" dirty="0"/>
              <a:t>所谓</a:t>
            </a:r>
            <a:r>
              <a:rPr lang="zh-CN" altLang="en-US" sz="2400" dirty="0">
                <a:solidFill>
                  <a:srgbClr val="FF0000"/>
                </a:solidFill>
              </a:rPr>
              <a:t>贪心选择性质</a:t>
            </a:r>
            <a:r>
              <a:rPr lang="zh-CN" altLang="en-US" sz="2400" dirty="0"/>
              <a:t>是指所求问题的</a:t>
            </a:r>
            <a:r>
              <a:rPr lang="zh-CN" altLang="en-US" sz="2400" dirty="0">
                <a:solidFill>
                  <a:srgbClr val="FF0000"/>
                </a:solidFill>
              </a:rPr>
              <a:t>整体最优解</a:t>
            </a:r>
            <a:r>
              <a:rPr lang="zh-CN" altLang="en-US" sz="2400" dirty="0"/>
              <a:t>可以通过一系列局部最优的选择，即贪心选择来达到。这是贪心算法可行的第一个基本要素，也是贪心算法与动态规划算法的主要区别。</a:t>
            </a:r>
            <a:endParaRPr lang="zh-CN" altLang="en-US" sz="2400" dirty="0"/>
          </a:p>
          <a:p>
            <a:pPr>
              <a:spcBef>
                <a:spcPct val="50000"/>
              </a:spcBef>
              <a:buSzPct val="75000"/>
            </a:pPr>
            <a:r>
              <a:rPr lang="zh-CN" altLang="en-US" sz="2400" dirty="0"/>
              <a:t>动态规划算法通常以</a:t>
            </a:r>
            <a:r>
              <a:rPr lang="zh-CN" altLang="en-US" sz="2400" dirty="0">
                <a:solidFill>
                  <a:srgbClr val="FF0000"/>
                </a:solidFill>
              </a:rPr>
              <a:t>自底向上</a:t>
            </a:r>
            <a:r>
              <a:rPr lang="zh-CN" altLang="en-US" sz="2400" dirty="0"/>
              <a:t>的方式解各子问题，而贪心算法则通常以</a:t>
            </a:r>
            <a:r>
              <a:rPr lang="zh-CN" altLang="en-US" sz="2400" dirty="0">
                <a:solidFill>
                  <a:srgbClr val="FF0000"/>
                </a:solidFill>
              </a:rPr>
              <a:t>自顶向下</a:t>
            </a:r>
            <a:r>
              <a:rPr lang="zh-CN" altLang="en-US" sz="2400" dirty="0"/>
              <a:t>的方式进行，以迭代的方式作出相继的贪心选择，每作一次贪心选择就将所求问题简化为规模更小的子问题。 </a:t>
            </a:r>
            <a:endParaRPr lang="zh-CN" altLang="en-US" sz="2400" dirty="0"/>
          </a:p>
          <a:p>
            <a:pPr>
              <a:spcBef>
                <a:spcPct val="50000"/>
              </a:spcBef>
              <a:buSzPct val="75000"/>
            </a:pPr>
            <a:r>
              <a:rPr lang="zh-CN" altLang="en-US" sz="2400" dirty="0"/>
              <a:t>对于一个具体问题，要确定它是否具有贪心选择性质，必须证明每一步所作的贪心选择最终导致问题的整体最优解。</a:t>
            </a:r>
            <a:endParaRPr lang="zh-CN" altLang="en-US" sz="2400" dirty="0"/>
          </a:p>
          <a:p>
            <a:pPr eaLnBrk="1" hangingPunct="1"/>
            <a:endParaRPr lang="zh-CN" altLang="en-US" dirty="0"/>
          </a:p>
          <a:p>
            <a:pPr eaLnBrk="1" hangingPunct="1"/>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76803" name="Rectangle 2"/>
          <p:cNvSpPr>
            <a:spLocks noGrp="1"/>
          </p:cNvSpPr>
          <p:nvPr>
            <p:ph type="title"/>
          </p:nvPr>
        </p:nvSpPr>
        <p:spPr/>
        <p:txBody>
          <a:bodyPr vert="horz" wrap="square" lIns="91440" tIns="45720" rIns="91440" bIns="45720" anchor="ctr" anchorCtr="0"/>
          <a:lstStyle/>
          <a:p>
            <a:pPr eaLnBrk="1" hangingPunct="1"/>
            <a:r>
              <a:rPr lang="zh-CN" altLang="en-US" dirty="0"/>
              <a:t>最优子结构性质</a:t>
            </a:r>
            <a:endParaRPr lang="en-US" altLang="zh-CN" dirty="0"/>
          </a:p>
        </p:txBody>
      </p:sp>
      <p:sp>
        <p:nvSpPr>
          <p:cNvPr id="76804" name="Rectangle 3"/>
          <p:cNvSpPr>
            <a:spLocks noGrp="1"/>
          </p:cNvSpPr>
          <p:nvPr>
            <p:ph idx="1"/>
          </p:nvPr>
        </p:nvSpPr>
        <p:spPr>
          <a:xfrm>
            <a:off x="900113" y="1268413"/>
            <a:ext cx="7786687" cy="3673475"/>
          </a:xfrm>
        </p:spPr>
        <p:txBody>
          <a:bodyPr vert="horz" wrap="square" lIns="91440" tIns="45720" rIns="91440" bIns="45720" anchor="t" anchorCtr="0"/>
          <a:lstStyle/>
          <a:p>
            <a:pPr eaLnBrk="1" hangingPunct="1"/>
            <a:r>
              <a:rPr lang="zh-CN" altLang="en-US" sz="2400" dirty="0"/>
              <a:t>当一个问题的最优解包含其子问题的最优解时，称此问题具有</a:t>
            </a:r>
            <a:r>
              <a:rPr lang="zh-CN" altLang="en-US" sz="2400" dirty="0">
                <a:solidFill>
                  <a:srgbClr val="FF0000"/>
                </a:solidFill>
              </a:rPr>
              <a:t>最优子结构性质</a:t>
            </a:r>
            <a:r>
              <a:rPr lang="zh-CN" altLang="en-US" sz="2400" dirty="0"/>
              <a:t>。问题的最优子结构性质是该问题可用动态规划算法或贪心算法求解的关键特征。</a:t>
            </a:r>
            <a:endParaRPr lang="en-US" altLang="zh-CN" sz="2400" dirty="0"/>
          </a:p>
          <a:p>
            <a:pPr eaLnBrk="1" hangingPunct="1"/>
            <a:r>
              <a:rPr lang="zh-CN" altLang="en-US" sz="2400" dirty="0"/>
              <a:t>贪心算法和动态规划算法都要求问题具有最优子结构性质，这是</a:t>
            </a:r>
            <a:r>
              <a:rPr lang="en-US" altLang="zh-CN" sz="2400" dirty="0"/>
              <a:t>2</a:t>
            </a:r>
            <a:r>
              <a:rPr lang="zh-CN" altLang="en-US" sz="2400" dirty="0"/>
              <a:t>类算法的一个共同点。但是，对于具有最优子结构的问题应该选用贪心算法还是动态规划算法求解</a:t>
            </a:r>
            <a:r>
              <a:rPr lang="en-US" altLang="zh-CN" sz="2400" dirty="0"/>
              <a:t>? </a:t>
            </a:r>
            <a:r>
              <a:rPr lang="zh-CN" altLang="en-US" sz="2400" dirty="0"/>
              <a:t>是否能用动态规划算法求解的问题也能用贪心算法求解</a:t>
            </a:r>
            <a:r>
              <a:rPr lang="en-US" altLang="zh-CN" sz="2400" dirty="0"/>
              <a:t>?</a:t>
            </a:r>
            <a:endParaRPr lang="en-US" altLang="zh-CN"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5"/>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78851"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zh-CN" altLang="en-US" dirty="0"/>
              <a:t>5.2.4 贪心准则的重要性</a:t>
            </a:r>
            <a:r>
              <a:rPr lang="en-US" altLang="zh-CN" dirty="0"/>
              <a:t>——</a:t>
            </a:r>
            <a:r>
              <a:rPr lang="zh-CN" altLang="en-US" dirty="0"/>
              <a:t>分数背包问题</a:t>
            </a:r>
            <a:endParaRPr lang="en-US" altLang="zh-CN" dirty="0"/>
          </a:p>
        </p:txBody>
      </p:sp>
      <p:sp>
        <p:nvSpPr>
          <p:cNvPr id="9219" name="Rectangle 3"/>
          <p:cNvSpPr>
            <a:spLocks noGrp="1" noChangeArrowheads="1"/>
          </p:cNvSpPr>
          <p:nvPr>
            <p:ph type="body" sz="half" idx="1"/>
          </p:nvPr>
        </p:nvSpPr>
        <p:spPr>
          <a:xfrm>
            <a:off x="817563" y="1239838"/>
            <a:ext cx="8218488" cy="4565650"/>
          </a:xfrm>
        </p:spPr>
        <p:txBody>
          <a:bodyPr vert="horz" wrap="square" lIns="91440" tIns="45720" rIns="91440" bIns="45720" numCol="1" anchor="t" anchorCtr="0" compatLnSpc="1"/>
          <a:lstStyle/>
          <a:p>
            <a:pPr eaLnBrk="1" hangingPunct="1">
              <a:lnSpc>
                <a:spcPct val="90000"/>
              </a:lnSpc>
              <a:buClrTx/>
              <a:buSzTx/>
              <a:buFontTx/>
              <a:buNone/>
            </a:pPr>
            <a:r>
              <a:rPr lang="en-US" altLang="zh-CN" dirty="0"/>
              <a:t>     </a:t>
            </a:r>
            <a:r>
              <a:rPr lang="zh-CN" altLang="en-US" dirty="0"/>
              <a:t>问题描述</a:t>
            </a:r>
            <a:r>
              <a:rPr lang="en-US" altLang="zh-CN" dirty="0"/>
              <a:t>:</a:t>
            </a:r>
            <a:r>
              <a:rPr lang="en-US" altLang="zh-CN" sz="2100" dirty="0"/>
              <a:t> </a:t>
            </a:r>
            <a:endParaRPr lang="en-US" altLang="zh-CN" sz="2100" dirty="0"/>
          </a:p>
          <a:p>
            <a:pPr lvl="1" eaLnBrk="1" hangingPunct="1">
              <a:lnSpc>
                <a:spcPct val="90000"/>
              </a:lnSpc>
            </a:pPr>
            <a:r>
              <a:rPr lang="zh-CN" altLang="en-US" sz="2400" dirty="0">
                <a:latin typeface="Times New Roman" panose="02020603050405020304" pitchFamily="18" charset="0"/>
                <a:ea typeface="华文楷体" panose="02010600040101010101" pitchFamily="2" charset="-122"/>
              </a:rPr>
              <a:t>给出</a:t>
            </a:r>
            <a:r>
              <a:rPr lang="en-US" altLang="zh-CN" sz="2400" i="1" dirty="0">
                <a:latin typeface="Times New Roman" panose="02020603050405020304" pitchFamily="18" charset="0"/>
                <a:ea typeface="华文楷体" panose="02010600040101010101" pitchFamily="2" charset="-122"/>
              </a:rPr>
              <a:t>n</a:t>
            </a:r>
            <a:r>
              <a:rPr lang="zh-CN" altLang="en-US" sz="2400" dirty="0">
                <a:latin typeface="Times New Roman" panose="02020603050405020304" pitchFamily="18" charset="0"/>
                <a:ea typeface="华文楷体" panose="02010600040101010101" pitchFamily="2" charset="-122"/>
              </a:rPr>
              <a:t>个大小为</a:t>
            </a:r>
            <a:r>
              <a:rPr lang="en-US" altLang="zh-CN" sz="2400" dirty="0">
                <a:latin typeface="Times New Roman" panose="02020603050405020304" pitchFamily="18" charset="0"/>
                <a:ea typeface="华文楷体" panose="02010600040101010101" pitchFamily="2" charset="-122"/>
              </a:rPr>
              <a:t>s</a:t>
            </a:r>
            <a:r>
              <a:rPr lang="en-US" altLang="zh-CN" sz="2400" baseline="-25000" dirty="0">
                <a:latin typeface="Times New Roman" panose="02020603050405020304" pitchFamily="18" charset="0"/>
                <a:ea typeface="华文楷体" panose="02010600040101010101" pitchFamily="2" charset="-122"/>
              </a:rPr>
              <a:t>1</a:t>
            </a:r>
            <a:r>
              <a:rPr lang="en-US" altLang="zh-CN" sz="2400" dirty="0">
                <a:latin typeface="Times New Roman" panose="02020603050405020304" pitchFamily="18" charset="0"/>
                <a:ea typeface="华文楷体" panose="02010600040101010101" pitchFamily="2" charset="-122"/>
              </a:rPr>
              <a:t>, s</a:t>
            </a:r>
            <a:r>
              <a:rPr lang="en-US" altLang="zh-CN" sz="2400" baseline="-25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 , s</a:t>
            </a:r>
            <a:r>
              <a:rPr lang="en-US" altLang="zh-CN" sz="2400" baseline="-25000" dirty="0">
                <a:latin typeface="Times New Roman" panose="02020603050405020304" pitchFamily="18" charset="0"/>
                <a:ea typeface="华文楷体" panose="02010600040101010101" pitchFamily="2" charset="-122"/>
              </a:rPr>
              <a:t>n</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值为</a:t>
            </a:r>
            <a:r>
              <a:rPr lang="en-US" altLang="zh-CN" sz="2400" dirty="0">
                <a:latin typeface="Times New Roman" panose="02020603050405020304" pitchFamily="18" charset="0"/>
                <a:ea typeface="华文楷体" panose="02010600040101010101" pitchFamily="2" charset="-122"/>
              </a:rPr>
              <a:t>v</a:t>
            </a:r>
            <a:r>
              <a:rPr lang="en-US" altLang="zh-CN" sz="2400" baseline="-25000" dirty="0">
                <a:latin typeface="Times New Roman" panose="02020603050405020304" pitchFamily="18" charset="0"/>
                <a:ea typeface="华文楷体" panose="02010600040101010101" pitchFamily="2" charset="-122"/>
              </a:rPr>
              <a:t>1</a:t>
            </a:r>
            <a:r>
              <a:rPr lang="en-US" altLang="zh-CN" sz="2400" dirty="0">
                <a:latin typeface="Times New Roman" panose="02020603050405020304" pitchFamily="18" charset="0"/>
                <a:ea typeface="华文楷体" panose="02010600040101010101" pitchFamily="2" charset="-122"/>
              </a:rPr>
              <a:t> ,v</a:t>
            </a:r>
            <a:r>
              <a:rPr lang="en-US" altLang="zh-CN" sz="2400" baseline="-25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,...,v</a:t>
            </a:r>
            <a:r>
              <a:rPr lang="en-US" altLang="zh-CN" sz="2400" baseline="-25000" dirty="0">
                <a:latin typeface="Times New Roman" panose="02020603050405020304" pitchFamily="18" charset="0"/>
                <a:ea typeface="华文楷体" panose="02010600040101010101" pitchFamily="2" charset="-122"/>
              </a:rPr>
              <a:t>n</a:t>
            </a:r>
            <a:r>
              <a:rPr lang="zh-CN" altLang="en-US" sz="2400" dirty="0">
                <a:latin typeface="Times New Roman" panose="02020603050405020304" pitchFamily="18" charset="0"/>
                <a:ea typeface="华文楷体" panose="02010600040101010101" pitchFamily="2" charset="-122"/>
              </a:rPr>
              <a:t>的项目，并设背包容量为</a:t>
            </a:r>
            <a:r>
              <a:rPr lang="en-US" altLang="zh-CN" sz="2400" dirty="0">
                <a:latin typeface="Times New Roman" panose="02020603050405020304" pitchFamily="18" charset="0"/>
                <a:ea typeface="华文楷体" panose="02010600040101010101" pitchFamily="2" charset="-122"/>
              </a:rPr>
              <a:t>C,</a:t>
            </a:r>
            <a:r>
              <a:rPr lang="zh-CN" altLang="en-US" sz="2400" dirty="0">
                <a:latin typeface="Times New Roman" panose="02020603050405020304" pitchFamily="18" charset="0"/>
                <a:ea typeface="华文楷体" panose="02010600040101010101" pitchFamily="2" charset="-122"/>
              </a:rPr>
              <a:t>要找到非负实数</a:t>
            </a:r>
            <a:r>
              <a:rPr lang="en-US" altLang="zh-CN" sz="2400" dirty="0">
                <a:latin typeface="Times New Roman" panose="02020603050405020304" pitchFamily="18" charset="0"/>
                <a:ea typeface="华文楷体" panose="02010600040101010101" pitchFamily="2" charset="-122"/>
              </a:rPr>
              <a:t>x</a:t>
            </a:r>
            <a:r>
              <a:rPr lang="en-US" altLang="zh-CN" sz="2400" baseline="-25000" dirty="0">
                <a:latin typeface="Times New Roman" panose="02020603050405020304" pitchFamily="18" charset="0"/>
                <a:ea typeface="华文楷体" panose="02010600040101010101" pitchFamily="2" charset="-122"/>
              </a:rPr>
              <a:t>1</a:t>
            </a:r>
            <a:r>
              <a:rPr lang="en-US" altLang="zh-CN" sz="2400" dirty="0">
                <a:latin typeface="Times New Roman" panose="02020603050405020304" pitchFamily="18" charset="0"/>
                <a:ea typeface="华文楷体" panose="02010600040101010101" pitchFamily="2" charset="-122"/>
              </a:rPr>
              <a:t>,x</a:t>
            </a:r>
            <a:r>
              <a:rPr lang="en-US" altLang="zh-CN" sz="2400" baseline="-25000" dirty="0">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,…x</a:t>
            </a:r>
            <a:r>
              <a:rPr lang="en-US" altLang="zh-CN" sz="2400" baseline="-25000" dirty="0">
                <a:latin typeface="Times New Roman" panose="02020603050405020304" pitchFamily="18" charset="0"/>
                <a:ea typeface="华文楷体" panose="02010600040101010101" pitchFamily="2" charset="-122"/>
              </a:rPr>
              <a:t>n</a:t>
            </a:r>
            <a:r>
              <a:rPr lang="zh-CN" altLang="en-US" sz="2400" dirty="0">
                <a:latin typeface="Times New Roman" panose="02020603050405020304" pitchFamily="18" charset="0"/>
                <a:ea typeface="华文楷体" panose="02010600040101010101" pitchFamily="2" charset="-122"/>
              </a:rPr>
              <a:t>使和</a:t>
            </a:r>
            <a:endParaRPr lang="en-US" altLang="zh-CN" sz="2400" dirty="0">
              <a:latin typeface="Times New Roman" panose="02020603050405020304" pitchFamily="18" charset="0"/>
              <a:ea typeface="华文楷体" panose="02010600040101010101" pitchFamily="2" charset="-122"/>
            </a:endParaRPr>
          </a:p>
          <a:p>
            <a:pPr lvl="1" eaLnBrk="1" hangingPunct="1">
              <a:lnSpc>
                <a:spcPct val="90000"/>
              </a:lnSpc>
            </a:pPr>
            <a:endParaRPr lang="en-US" altLang="zh-CN" sz="2400" dirty="0">
              <a:ea typeface="华文楷体" panose="02010600040101010101" pitchFamily="2" charset="-122"/>
            </a:endParaRPr>
          </a:p>
          <a:p>
            <a:pPr lvl="1" eaLnBrk="1" hangingPunct="1">
              <a:lnSpc>
                <a:spcPct val="90000"/>
              </a:lnSpc>
            </a:pPr>
            <a:endParaRPr lang="en-US" altLang="zh-CN" sz="2400" dirty="0">
              <a:ea typeface="华文楷体" panose="02010600040101010101" pitchFamily="2" charset="-122"/>
            </a:endParaRPr>
          </a:p>
          <a:p>
            <a:pPr lvl="1" eaLnBrk="1" hangingPunct="1">
              <a:lnSpc>
                <a:spcPct val="90000"/>
              </a:lnSpc>
            </a:pPr>
            <a:endParaRPr lang="en-US" altLang="zh-CN" sz="2400" dirty="0">
              <a:ea typeface="华文楷体" panose="02010600040101010101" pitchFamily="2" charset="-122"/>
            </a:endParaRPr>
          </a:p>
          <a:p>
            <a:pPr lvl="1" eaLnBrk="1" hangingPunct="1">
              <a:lnSpc>
                <a:spcPct val="90000"/>
              </a:lnSpc>
            </a:pPr>
            <a:r>
              <a:rPr lang="zh-CN" altLang="en-US" sz="2400" dirty="0">
                <a:latin typeface="华文楷体" panose="02010600040101010101" pitchFamily="2" charset="-122"/>
                <a:ea typeface="华文楷体" panose="02010600040101010101" pitchFamily="2" charset="-122"/>
              </a:rPr>
              <a:t>在约束</a:t>
            </a:r>
            <a:endParaRPr lang="en-US" altLang="zh-CN" sz="2400" dirty="0">
              <a:latin typeface="华文楷体" panose="02010600040101010101" pitchFamily="2" charset="-122"/>
              <a:ea typeface="华文楷体" panose="02010600040101010101" pitchFamily="2" charset="-122"/>
            </a:endParaRPr>
          </a:p>
          <a:p>
            <a:pPr lvl="1" eaLnBrk="1" hangingPunct="1">
              <a:lnSpc>
                <a:spcPct val="90000"/>
              </a:lnSpc>
            </a:pPr>
            <a:endParaRPr lang="en-US" altLang="zh-CN" sz="2400" dirty="0">
              <a:ea typeface="华文楷体" panose="02010600040101010101" pitchFamily="2" charset="-122"/>
            </a:endParaRPr>
          </a:p>
          <a:p>
            <a:pPr lvl="1" eaLnBrk="1" hangingPunct="1">
              <a:lnSpc>
                <a:spcPct val="90000"/>
              </a:lnSpc>
            </a:pPr>
            <a:endParaRPr lang="en-US" altLang="zh-CN" sz="2400" dirty="0">
              <a:ea typeface="华文楷体" panose="02010600040101010101" pitchFamily="2" charset="-122"/>
            </a:endParaRPr>
          </a:p>
          <a:p>
            <a:pPr lvl="1" eaLnBrk="1" hangingPunct="1">
              <a:lnSpc>
                <a:spcPct val="90000"/>
              </a:lnSpc>
            </a:pPr>
            <a:r>
              <a:rPr lang="zh-CN" altLang="en-US" sz="2400" dirty="0">
                <a:latin typeface="华文楷体" panose="02010600040101010101" pitchFamily="2" charset="-122"/>
                <a:ea typeface="华文楷体" panose="02010600040101010101" pitchFamily="2" charset="-122"/>
              </a:rPr>
              <a:t>下最大</a:t>
            </a:r>
            <a:r>
              <a:rPr lang="en-US" altLang="zh-CN" sz="2100" dirty="0">
                <a:latin typeface="华文楷体" panose="02010600040101010101" pitchFamily="2" charset="-122"/>
                <a:ea typeface="华文楷体" panose="02010600040101010101" pitchFamily="2" charset="-122"/>
              </a:rPr>
              <a:t>  </a:t>
            </a:r>
            <a:endParaRPr lang="en-US" altLang="zh-CN" sz="2100" dirty="0">
              <a:latin typeface="华文楷体" panose="02010600040101010101" pitchFamily="2" charset="-122"/>
              <a:ea typeface="华文楷体" panose="02010600040101010101" pitchFamily="2" charset="-122"/>
            </a:endParaRPr>
          </a:p>
        </p:txBody>
      </p:sp>
      <p:graphicFrame>
        <p:nvGraphicFramePr>
          <p:cNvPr id="9222" name="Object 6"/>
          <p:cNvGraphicFramePr>
            <a:graphicFrameLocks noGrp="1" noChangeAspect="1"/>
          </p:cNvGraphicFramePr>
          <p:nvPr>
            <p:ph sz="quarter" idx="2"/>
          </p:nvPr>
        </p:nvGraphicFramePr>
        <p:xfrm>
          <a:off x="3571875" y="2286000"/>
          <a:ext cx="1227138" cy="1257300"/>
        </p:xfrm>
        <a:graphic>
          <a:graphicData uri="http://schemas.openxmlformats.org/presentationml/2006/ole">
            <mc:AlternateContent xmlns:mc="http://schemas.openxmlformats.org/markup-compatibility/2006">
              <mc:Choice xmlns:v="urn:schemas-microsoft-com:vml" Requires="v">
                <p:oleObj spid="_x0000_s5227" name="" r:id="rId1" imgW="444500" imgH="431800" progId="Equation.3">
                  <p:embed/>
                </p:oleObj>
              </mc:Choice>
              <mc:Fallback>
                <p:oleObj name="" r:id="rId1" imgW="444500" imgH="431800" progId="Equation.3">
                  <p:embed/>
                  <p:pic>
                    <p:nvPicPr>
                      <p:cNvPr id="0" name="图片 3078"/>
                      <p:cNvPicPr/>
                      <p:nvPr/>
                    </p:nvPicPr>
                    <p:blipFill>
                      <a:blip r:embed="rId2"/>
                      <a:srcRect/>
                      <a:stretch>
                        <a:fillRect/>
                      </a:stretch>
                    </p:blipFill>
                    <p:spPr>
                      <a:xfrm>
                        <a:off x="3571875" y="2286000"/>
                        <a:ext cx="1227138" cy="1257300"/>
                      </a:xfrm>
                      <a:prstGeom prst="rect">
                        <a:avLst/>
                      </a:prstGeom>
                      <a:noFill/>
                      <a:ln w="38100">
                        <a:miter/>
                      </a:ln>
                    </p:spPr>
                  </p:pic>
                </p:oleObj>
              </mc:Fallback>
            </mc:AlternateContent>
          </a:graphicData>
        </a:graphic>
      </p:graphicFrame>
      <p:graphicFrame>
        <p:nvGraphicFramePr>
          <p:cNvPr id="9224" name="Object 8"/>
          <p:cNvGraphicFramePr>
            <a:graphicFrameLocks noGrp="1" noChangeAspect="1"/>
          </p:cNvGraphicFramePr>
          <p:nvPr>
            <p:ph sz="quarter" idx="3"/>
          </p:nvPr>
        </p:nvGraphicFramePr>
        <p:xfrm>
          <a:off x="3000375" y="3714750"/>
          <a:ext cx="1430338" cy="933450"/>
        </p:xfrm>
        <a:graphic>
          <a:graphicData uri="http://schemas.openxmlformats.org/presentationml/2006/ole">
            <mc:AlternateContent xmlns:mc="http://schemas.openxmlformats.org/markup-compatibility/2006">
              <mc:Choice xmlns:v="urn:schemas-microsoft-com:vml" Requires="v">
                <p:oleObj spid="_x0000_s5228" name="" r:id="rId3" imgW="698500" imgH="431800" progId="Equation.3">
                  <p:embed/>
                </p:oleObj>
              </mc:Choice>
              <mc:Fallback>
                <p:oleObj name="" r:id="rId3" imgW="698500" imgH="431800" progId="Equation.3">
                  <p:embed/>
                  <p:pic>
                    <p:nvPicPr>
                      <p:cNvPr id="0" name="图片 3077"/>
                      <p:cNvPicPr/>
                      <p:nvPr/>
                    </p:nvPicPr>
                    <p:blipFill>
                      <a:blip r:embed="rId4"/>
                      <a:srcRect/>
                      <a:stretch>
                        <a:fillRect/>
                      </a:stretch>
                    </p:blipFill>
                    <p:spPr>
                      <a:xfrm>
                        <a:off x="3000375" y="3714750"/>
                        <a:ext cx="1430338" cy="933450"/>
                      </a:xfrm>
                      <a:prstGeom prst="rect">
                        <a:avLst/>
                      </a:prstGeom>
                      <a:noFill/>
                      <a:ln w="38100">
                        <a:miter/>
                      </a:ln>
                    </p:spPr>
                  </p:pic>
                </p:oleObj>
              </mc:Fallback>
            </mc:AlternateContent>
          </a:graphicData>
        </a:graphic>
      </p:graphicFrame>
      <p:pic>
        <p:nvPicPr>
          <p:cNvPr id="9226" name="Picture 10" descr="question"/>
          <p:cNvPicPr>
            <a:picLocks noChangeAspect="1"/>
          </p:cNvPicPr>
          <p:nvPr/>
        </p:nvPicPr>
        <p:blipFill>
          <a:blip r:embed="rId5"/>
          <a:stretch>
            <a:fillRect/>
          </a:stretch>
        </p:blipFill>
        <p:spPr>
          <a:xfrm>
            <a:off x="827088" y="1268413"/>
            <a:ext cx="504825" cy="504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9226"/>
                                        </p:tgtEl>
                                        <p:attrNameLst>
                                          <p:attrName>style.visibility</p:attrName>
                                        </p:attrNameLst>
                                      </p:cBhvr>
                                      <p:to>
                                        <p:strVal val="visible"/>
                                      </p:to>
                                    </p:set>
                                    <p:anim calcmode="lin" valueType="num">
                                      <p:cBhvr>
                                        <p:cTn id="7" dur="5000" fill="hold"/>
                                        <p:tgtEl>
                                          <p:spTgt spid="9226"/>
                                        </p:tgtEl>
                                        <p:attrNameLst>
                                          <p:attrName>ppt_w</p:attrName>
                                        </p:attrNameLst>
                                      </p:cBhvr>
                                      <p:tavLst>
                                        <p:tav tm="0" fmla="#ppt_w*sin(2.5*pi*$)">
                                          <p:val>
                                            <p:fltVal val="0"/>
                                          </p:val>
                                        </p:tav>
                                        <p:tav tm="100000">
                                          <p:val>
                                            <p:fltVal val="1"/>
                                          </p:val>
                                        </p:tav>
                                      </p:tavLst>
                                    </p:anim>
                                    <p:anim calcmode="lin" valueType="num">
                                      <p:cBhvr>
                                        <p:cTn id="8" dur="5000" fill="hold"/>
                                        <p:tgtEl>
                                          <p:spTgt spid="922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9219">
                                            <p:txEl>
                                              <p:pRg st="0" end="0"/>
                                            </p:txEl>
                                          </p:spTgt>
                                        </p:tgtEl>
                                        <p:attrNameLst>
                                          <p:attrName>style.visibility</p:attrName>
                                        </p:attrNameLst>
                                      </p:cBhvr>
                                      <p:to>
                                        <p:strVal val="visible"/>
                                      </p:to>
                                    </p:set>
                                    <p:animEffect transition="in" filter="blinds(horizontal)">
                                      <p:cBhvr>
                                        <p:cTn id="11" dur="500"/>
                                        <p:tgtEl>
                                          <p:spTgt spid="921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9219">
                                            <p:txEl>
                                              <p:pRg st="1" end="1"/>
                                            </p:txEl>
                                          </p:spTgt>
                                        </p:tgtEl>
                                        <p:attrNameLst>
                                          <p:attrName>style.visibility</p:attrName>
                                        </p:attrNameLst>
                                      </p:cBhvr>
                                      <p:to>
                                        <p:strVal val="visible"/>
                                      </p:to>
                                    </p:set>
                                    <p:anim calcmode="lin" valueType="num">
                                      <p:cBhvr additive="base">
                                        <p:cTn id="16"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2" presetClass="entr" presetSubtype="4" fill="hold" nodeType="afterEffect">
                                  <p:stCondLst>
                                    <p:cond delay="0"/>
                                  </p:stCondLst>
                                  <p:childTnLst>
                                    <p:set>
                                      <p:cBhvr>
                                        <p:cTn id="20" dur="1" fill="hold">
                                          <p:stCondLst>
                                            <p:cond delay="0"/>
                                          </p:stCondLst>
                                        </p:cTn>
                                        <p:tgtEl>
                                          <p:spTgt spid="9222"/>
                                        </p:tgtEl>
                                        <p:attrNameLst>
                                          <p:attrName>style.visibility</p:attrName>
                                        </p:attrNameLst>
                                      </p:cBhvr>
                                      <p:to>
                                        <p:strVal val="visible"/>
                                      </p:to>
                                    </p:set>
                                    <p:anim calcmode="lin" valueType="num">
                                      <p:cBhvr additive="base">
                                        <p:cTn id="21" dur="500" fill="hold"/>
                                        <p:tgtEl>
                                          <p:spTgt spid="9222"/>
                                        </p:tgtEl>
                                        <p:attrNameLst>
                                          <p:attrName>ppt_x</p:attrName>
                                        </p:attrNameLst>
                                      </p:cBhvr>
                                      <p:tavLst>
                                        <p:tav tm="0">
                                          <p:val>
                                            <p:strVal val="#ppt_x"/>
                                          </p:val>
                                        </p:tav>
                                        <p:tav tm="100000">
                                          <p:val>
                                            <p:strVal val="#ppt_x"/>
                                          </p:val>
                                        </p:tav>
                                      </p:tavLst>
                                    </p:anim>
                                    <p:anim calcmode="lin" valueType="num">
                                      <p:cBhvr additive="base">
                                        <p:cTn id="22"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anim calcmode="lin" valueType="num">
                                      <p:cBhvr additive="base">
                                        <p:cTn id="27"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9224"/>
                                        </p:tgtEl>
                                        <p:attrNameLst>
                                          <p:attrName>style.visibility</p:attrName>
                                        </p:attrNameLst>
                                      </p:cBhvr>
                                      <p:to>
                                        <p:strVal val="visible"/>
                                      </p:to>
                                    </p:set>
                                    <p:anim calcmode="lin" valueType="num">
                                      <p:cBhvr additive="base">
                                        <p:cTn id="32" dur="500" fill="hold"/>
                                        <p:tgtEl>
                                          <p:spTgt spid="9224"/>
                                        </p:tgtEl>
                                        <p:attrNameLst>
                                          <p:attrName>ppt_x</p:attrName>
                                        </p:attrNameLst>
                                      </p:cBhvr>
                                      <p:tavLst>
                                        <p:tav tm="0">
                                          <p:val>
                                            <p:strVal val="#ppt_x"/>
                                          </p:val>
                                        </p:tav>
                                        <p:tav tm="100000">
                                          <p:val>
                                            <p:strVal val="#ppt_x"/>
                                          </p:val>
                                        </p:tav>
                                      </p:tavLst>
                                    </p:anim>
                                    <p:anim calcmode="lin" valueType="num">
                                      <p:cBhvr additive="base">
                                        <p:cTn id="33"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9219">
                                            <p:txEl>
                                              <p:pRg st="8" end="8"/>
                                            </p:txEl>
                                          </p:spTgt>
                                        </p:tgtEl>
                                        <p:attrNameLst>
                                          <p:attrName>style.visibility</p:attrName>
                                        </p:attrNameLst>
                                      </p:cBhvr>
                                      <p:to>
                                        <p:strVal val="visible"/>
                                      </p:to>
                                    </p:set>
                                    <p:anim calcmode="lin" valueType="num">
                                      <p:cBhvr additive="base">
                                        <p:cTn id="38" dur="500" fill="hold"/>
                                        <p:tgtEl>
                                          <p:spTgt spid="9219">
                                            <p:txEl>
                                              <p:pRg st="8" end="8"/>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92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3"/>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0899" name="Rectangle 2"/>
          <p:cNvSpPr>
            <a:spLocks noGrp="1"/>
          </p:cNvSpPr>
          <p:nvPr>
            <p:ph type="title"/>
          </p:nvPr>
        </p:nvSpPr>
        <p:spPr/>
        <p:txBody>
          <a:bodyPr vert="horz" wrap="square" lIns="91440" tIns="45720" rIns="91440" bIns="45720" anchor="ctr" anchorCtr="0"/>
          <a:lstStyle/>
          <a:p>
            <a:pPr eaLnBrk="1" hangingPunct="1"/>
            <a:r>
              <a:rPr lang="zh-CN" altLang="en-US" dirty="0"/>
              <a:t>5.2.4 贪心准则的重要性</a:t>
            </a:r>
            <a:r>
              <a:rPr lang="en-US" altLang="zh-CN" dirty="0"/>
              <a:t>——</a:t>
            </a:r>
            <a:r>
              <a:rPr lang="zh-CN" altLang="en-US" dirty="0"/>
              <a:t>例子</a:t>
            </a:r>
            <a:endParaRPr lang="en-US" altLang="zh-CN" dirty="0"/>
          </a:p>
        </p:txBody>
      </p:sp>
      <p:sp>
        <p:nvSpPr>
          <p:cNvPr id="80900" name="Rectangle 3"/>
          <p:cNvSpPr>
            <a:spLocks noGrp="1"/>
          </p:cNvSpPr>
          <p:nvPr>
            <p:ph idx="1"/>
          </p:nvPr>
        </p:nvSpPr>
        <p:spPr>
          <a:xfrm>
            <a:off x="900113" y="1268413"/>
            <a:ext cx="7605712" cy="4525962"/>
          </a:xfrm>
        </p:spPr>
        <p:txBody>
          <a:bodyPr vert="horz" wrap="square" lIns="91440" tIns="45720" rIns="91440" bIns="45720" anchor="t" anchorCtr="0"/>
          <a:lstStyle/>
          <a:p>
            <a:pPr eaLnBrk="1" hangingPunct="1"/>
            <a:r>
              <a:rPr lang="en-US" altLang="zh-CN" sz="2400" dirty="0"/>
              <a:t>n=3, C=20, (v1,v2,v3)=(25,24,15),</a:t>
            </a:r>
            <a:endParaRPr lang="en-US" altLang="zh-CN" sz="2400" dirty="0"/>
          </a:p>
          <a:p>
            <a:pPr eaLnBrk="1" hangingPunct="1">
              <a:buNone/>
            </a:pPr>
            <a:r>
              <a:rPr lang="en-US" altLang="zh-CN" sz="2400" dirty="0"/>
              <a:t>			(s1,s2,s3)=(18,15,10)</a:t>
            </a:r>
            <a:endParaRPr lang="en-US" altLang="zh-CN" sz="2400" dirty="0"/>
          </a:p>
          <a:p>
            <a:pPr eaLnBrk="1" hangingPunct="1"/>
            <a:r>
              <a:rPr lang="zh-CN" altLang="en-US" sz="2400" dirty="0"/>
              <a:t>可行方案</a:t>
            </a:r>
            <a:r>
              <a:rPr lang="en-US" altLang="zh-CN" sz="2400" dirty="0"/>
              <a:t>:</a:t>
            </a:r>
            <a:endParaRPr lang="en-US" altLang="zh-CN" sz="2400" dirty="0"/>
          </a:p>
          <a:p>
            <a:pPr eaLnBrk="1" hangingPunct="1">
              <a:buNone/>
            </a:pPr>
            <a:r>
              <a:rPr lang="en-US" altLang="zh-CN" sz="2400" dirty="0"/>
              <a:t>	    (x1,x2,x3)		</a:t>
            </a:r>
            <a:r>
              <a:rPr lang="en-US" altLang="zh-CN" sz="2400" dirty="0">
                <a:sym typeface="Symbol" panose="05050102010706020507" pitchFamily="18" charset="2"/>
              </a:rPr>
              <a:t>s</a:t>
            </a:r>
            <a:r>
              <a:rPr lang="en-US" altLang="zh-CN" sz="2400" baseline="-25000" dirty="0"/>
              <a:t>i</a:t>
            </a:r>
            <a:r>
              <a:rPr lang="en-US" altLang="zh-CN" sz="2400" dirty="0"/>
              <a:t>x</a:t>
            </a:r>
            <a:r>
              <a:rPr lang="en-US" altLang="zh-CN" sz="2400" baseline="-25000" dirty="0"/>
              <a:t>i</a:t>
            </a:r>
            <a:r>
              <a:rPr lang="en-US" altLang="zh-CN" sz="2400" dirty="0"/>
              <a:t>	 	</a:t>
            </a:r>
            <a:r>
              <a:rPr lang="en-US" altLang="zh-CN" sz="2400" dirty="0">
                <a:sym typeface="Symbol" panose="05050102010706020507" pitchFamily="18" charset="2"/>
              </a:rPr>
              <a:t>v</a:t>
            </a:r>
            <a:r>
              <a:rPr lang="en-US" altLang="zh-CN" sz="2400" baseline="-25000" dirty="0"/>
              <a:t>i</a:t>
            </a:r>
            <a:r>
              <a:rPr lang="en-US" altLang="zh-CN" sz="2400" dirty="0"/>
              <a:t>x</a:t>
            </a:r>
            <a:r>
              <a:rPr lang="en-US" altLang="zh-CN" sz="2400" baseline="-25000" dirty="0"/>
              <a:t>i</a:t>
            </a:r>
            <a:endParaRPr lang="en-US" altLang="zh-CN" sz="2400" dirty="0"/>
          </a:p>
          <a:p>
            <a:pPr eaLnBrk="1" hangingPunct="1">
              <a:buNone/>
            </a:pPr>
            <a:r>
              <a:rPr lang="en-US" altLang="zh-CN" sz="2400" dirty="0"/>
              <a:t>	(1)(1/2,1/3,1/4)		16.5		24.5   </a:t>
            </a:r>
            <a:endParaRPr lang="en-US" altLang="zh-CN" sz="2400" dirty="0"/>
          </a:p>
          <a:p>
            <a:pPr eaLnBrk="1" hangingPunct="1">
              <a:buNone/>
            </a:pPr>
            <a:r>
              <a:rPr lang="en-US" altLang="zh-CN" sz="2400" dirty="0"/>
              <a:t>	(2)(1,2/15,0)		20		28.2</a:t>
            </a:r>
            <a:endParaRPr lang="en-US" altLang="zh-CN" sz="2400" dirty="0"/>
          </a:p>
          <a:p>
            <a:pPr eaLnBrk="1" hangingPunct="1">
              <a:buNone/>
            </a:pPr>
            <a:r>
              <a:rPr lang="en-US" altLang="zh-CN" sz="2400" dirty="0"/>
              <a:t>	(3)(0,2/3,1)			20		31</a:t>
            </a:r>
            <a:endParaRPr lang="en-US" altLang="zh-CN" sz="2400" dirty="0"/>
          </a:p>
          <a:p>
            <a:pPr eaLnBrk="1" hangingPunct="1">
              <a:buNone/>
            </a:pPr>
            <a:r>
              <a:rPr lang="en-US" altLang="zh-CN" sz="2400" dirty="0"/>
              <a:t>	(4)(0,1,1/2)			20		</a:t>
            </a:r>
            <a:r>
              <a:rPr lang="en-US" altLang="zh-CN" sz="2400" dirty="0">
                <a:solidFill>
                  <a:srgbClr val="FF0000"/>
                </a:solidFill>
              </a:rPr>
              <a:t>31.5</a:t>
            </a:r>
            <a:endParaRPr lang="en-US" altLang="zh-CN" sz="2400"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3"/>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1923" name="Rectangle 2"/>
          <p:cNvSpPr>
            <a:spLocks noGrp="1"/>
          </p:cNvSpPr>
          <p:nvPr>
            <p:ph type="title"/>
          </p:nvPr>
        </p:nvSpPr>
        <p:spPr/>
        <p:txBody>
          <a:bodyPr vert="horz" wrap="square" lIns="91440" tIns="45720" rIns="91440" bIns="45720" anchor="ctr" anchorCtr="0"/>
          <a:lstStyle/>
          <a:p>
            <a:pPr eaLnBrk="1" hangingPunct="1"/>
            <a:r>
              <a:rPr lang="zh-CN" altLang="en-US" dirty="0"/>
              <a:t>选择策略</a:t>
            </a:r>
            <a:r>
              <a:rPr lang="en-US" altLang="zh-CN" dirty="0"/>
              <a:t>-1</a:t>
            </a:r>
            <a:endParaRPr lang="en-US" altLang="zh-CN" dirty="0"/>
          </a:p>
        </p:txBody>
      </p:sp>
      <p:sp>
        <p:nvSpPr>
          <p:cNvPr id="81924" name="Rectangle 3"/>
          <p:cNvSpPr>
            <a:spLocks noGrp="1"/>
          </p:cNvSpPr>
          <p:nvPr>
            <p:ph idx="1"/>
          </p:nvPr>
        </p:nvSpPr>
        <p:spPr/>
        <p:txBody>
          <a:bodyPr vert="horz" wrap="square" lIns="91440" tIns="45720" rIns="91440" bIns="45720" anchor="t" anchorCtr="0"/>
          <a:lstStyle/>
          <a:p>
            <a:pPr eaLnBrk="1" hangingPunct="1"/>
            <a:r>
              <a:rPr lang="zh-CN" altLang="en-US" dirty="0"/>
              <a:t>从剩下的物品中选择最大价值的物品装入背包，得到：</a:t>
            </a:r>
            <a:endParaRPr lang="en-US" altLang="zh-CN" dirty="0"/>
          </a:p>
          <a:p>
            <a:pPr eaLnBrk="1" hangingPunct="1"/>
            <a:endParaRPr lang="en-US" altLang="zh-CN" dirty="0"/>
          </a:p>
          <a:p>
            <a:pPr eaLnBrk="1" hangingPunct="1"/>
            <a:r>
              <a:rPr lang="zh-CN" altLang="en-US" dirty="0"/>
              <a:t>方案</a:t>
            </a:r>
            <a:r>
              <a:rPr lang="en-US" altLang="zh-CN" dirty="0"/>
              <a:t>(2)(1,2/15,0)	20	</a:t>
            </a:r>
            <a:r>
              <a:rPr lang="en-US" altLang="zh-CN" dirty="0">
                <a:solidFill>
                  <a:srgbClr val="FF0000"/>
                </a:solidFill>
              </a:rPr>
              <a:t>28.2 </a:t>
            </a:r>
            <a:r>
              <a:rPr lang="en-US" altLang="zh-CN" dirty="0"/>
              <a:t>(</a:t>
            </a:r>
            <a:r>
              <a:rPr lang="zh-CN" altLang="en-US" dirty="0"/>
              <a:t>非最优</a:t>
            </a:r>
            <a:r>
              <a:rPr lang="en-US" altLang="zh-CN" dirty="0"/>
              <a:t>)</a:t>
            </a:r>
            <a:endParaRPr lang="en-US" altLang="zh-CN" dirty="0"/>
          </a:p>
          <a:p>
            <a:pPr eaLnBrk="1" hangingPunct="1"/>
            <a:endParaRPr lang="en-US" altLang="zh-CN" dirty="0"/>
          </a:p>
          <a:p>
            <a:pPr eaLnBrk="1" hangingPunct="1"/>
            <a:r>
              <a:rPr lang="zh-CN" altLang="en-US" dirty="0"/>
              <a:t>原因：虽然价值很大，但是容量的消耗太快</a:t>
            </a:r>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3"/>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2947" name="Rectangle 2"/>
          <p:cNvSpPr>
            <a:spLocks noGrp="1"/>
          </p:cNvSpPr>
          <p:nvPr>
            <p:ph type="title"/>
          </p:nvPr>
        </p:nvSpPr>
        <p:spPr/>
        <p:txBody>
          <a:bodyPr vert="horz" wrap="square" lIns="91440" tIns="45720" rIns="91440" bIns="45720" anchor="ctr" anchorCtr="0"/>
          <a:lstStyle/>
          <a:p>
            <a:pPr eaLnBrk="1" hangingPunct="1"/>
            <a:r>
              <a:rPr lang="zh-CN" altLang="en-US" dirty="0"/>
              <a:t>选择策略</a:t>
            </a:r>
            <a:r>
              <a:rPr lang="en-US" altLang="zh-CN" dirty="0"/>
              <a:t>-2</a:t>
            </a:r>
            <a:endParaRPr lang="en-US" altLang="zh-CN" dirty="0"/>
          </a:p>
        </p:txBody>
      </p:sp>
      <p:sp>
        <p:nvSpPr>
          <p:cNvPr id="82948" name="Rectangle 3"/>
          <p:cNvSpPr>
            <a:spLocks noGrp="1"/>
          </p:cNvSpPr>
          <p:nvPr>
            <p:ph idx="1"/>
          </p:nvPr>
        </p:nvSpPr>
        <p:spPr/>
        <p:txBody>
          <a:bodyPr vert="horz" wrap="square" lIns="91440" tIns="45720" rIns="91440" bIns="45720" anchor="t" anchorCtr="0"/>
          <a:lstStyle/>
          <a:p>
            <a:pPr eaLnBrk="1" hangingPunct="1"/>
            <a:r>
              <a:rPr lang="zh-CN" altLang="en-US" dirty="0"/>
              <a:t>从剩下的物品中选择最小尺寸的物品装入背包。</a:t>
            </a:r>
            <a:endParaRPr lang="en-US" altLang="zh-CN" dirty="0"/>
          </a:p>
          <a:p>
            <a:pPr eaLnBrk="1" hangingPunct="1"/>
            <a:endParaRPr lang="en-US" altLang="zh-CN" dirty="0"/>
          </a:p>
          <a:p>
            <a:pPr eaLnBrk="1" hangingPunct="1"/>
            <a:r>
              <a:rPr lang="zh-CN" altLang="en-US" dirty="0"/>
              <a:t>方案</a:t>
            </a:r>
            <a:r>
              <a:rPr lang="en-US" altLang="zh-CN" dirty="0"/>
              <a:t>(3) (0,2/3,1)	20	</a:t>
            </a:r>
            <a:r>
              <a:rPr lang="en-US" altLang="zh-CN" dirty="0">
                <a:solidFill>
                  <a:srgbClr val="FF0000"/>
                </a:solidFill>
              </a:rPr>
              <a:t>31 </a:t>
            </a:r>
            <a:r>
              <a:rPr lang="en-US" altLang="zh-CN" dirty="0"/>
              <a:t>(</a:t>
            </a:r>
            <a:r>
              <a:rPr lang="zh-CN" altLang="en-US" dirty="0"/>
              <a:t>非最优</a:t>
            </a:r>
            <a:r>
              <a:rPr lang="en-US" altLang="zh-CN" dirty="0"/>
              <a:t>)</a:t>
            </a:r>
            <a:endParaRPr lang="en-US" altLang="zh-CN" dirty="0">
              <a:solidFill>
                <a:srgbClr val="FF0000"/>
              </a:solidFill>
            </a:endParaRPr>
          </a:p>
          <a:p>
            <a:pPr eaLnBrk="1" hangingPunct="1"/>
            <a:endParaRPr lang="en-US" altLang="zh-CN" dirty="0"/>
          </a:p>
          <a:p>
            <a:pPr eaLnBrk="1" hangingPunct="1"/>
            <a:r>
              <a:rPr lang="zh-CN" altLang="en-US" dirty="0"/>
              <a:t>原因：虽然容量损耗较少，但是价值增长速度太慢</a:t>
            </a:r>
            <a:endParaRPr lang="en-US" altLang="zh-C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3"/>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3971" name="Rectangle 2"/>
          <p:cNvSpPr>
            <a:spLocks noGrp="1"/>
          </p:cNvSpPr>
          <p:nvPr>
            <p:ph type="title"/>
          </p:nvPr>
        </p:nvSpPr>
        <p:spPr/>
        <p:txBody>
          <a:bodyPr vert="horz" wrap="square" lIns="91440" tIns="45720" rIns="91440" bIns="45720" anchor="ctr" anchorCtr="0"/>
          <a:lstStyle/>
          <a:p>
            <a:pPr eaLnBrk="1" hangingPunct="1"/>
            <a:r>
              <a:rPr lang="zh-CN" altLang="en-US" dirty="0"/>
              <a:t>选择策略</a:t>
            </a:r>
            <a:r>
              <a:rPr lang="en-US" altLang="zh-CN" dirty="0"/>
              <a:t>-3</a:t>
            </a:r>
            <a:endParaRPr lang="en-US" altLang="zh-CN" dirty="0"/>
          </a:p>
        </p:txBody>
      </p:sp>
      <p:sp>
        <p:nvSpPr>
          <p:cNvPr id="83972" name="Rectangle 3"/>
          <p:cNvSpPr>
            <a:spLocks noGrp="1"/>
          </p:cNvSpPr>
          <p:nvPr>
            <p:ph idx="1"/>
          </p:nvPr>
        </p:nvSpPr>
        <p:spPr/>
        <p:txBody>
          <a:bodyPr vert="horz" wrap="square" lIns="91440" tIns="45720" rIns="91440" bIns="45720" anchor="t" anchorCtr="0"/>
          <a:lstStyle/>
          <a:p>
            <a:pPr eaLnBrk="1" hangingPunct="1"/>
            <a:r>
              <a:rPr lang="zh-CN" altLang="en-US" dirty="0"/>
              <a:t>从剩下的物品中选择最大</a:t>
            </a:r>
            <a:r>
              <a:rPr lang="en-US" altLang="zh-CN" dirty="0"/>
              <a:t>v</a:t>
            </a:r>
            <a:r>
              <a:rPr lang="en-US" altLang="zh-CN" baseline="-25000" dirty="0"/>
              <a:t>i</a:t>
            </a:r>
            <a:r>
              <a:rPr lang="en-US" altLang="zh-CN" dirty="0"/>
              <a:t>/s</a:t>
            </a:r>
            <a:r>
              <a:rPr lang="en-US" altLang="zh-CN" baseline="-25000" dirty="0"/>
              <a:t>i</a:t>
            </a:r>
            <a:r>
              <a:rPr lang="zh-CN" altLang="en-US" dirty="0"/>
              <a:t>比率的物品装入背包。</a:t>
            </a:r>
            <a:endParaRPr lang="en-US" altLang="zh-CN" dirty="0"/>
          </a:p>
          <a:p>
            <a:pPr eaLnBrk="1" hangingPunct="1"/>
            <a:endParaRPr lang="en-US" altLang="zh-CN" dirty="0"/>
          </a:p>
          <a:p>
            <a:pPr eaLnBrk="1" hangingPunct="1"/>
            <a:r>
              <a:rPr lang="en-US" altLang="zh-CN" dirty="0"/>
              <a:t>Solution (4) (0,1,1/2)	20	</a:t>
            </a:r>
            <a:r>
              <a:rPr lang="en-US" altLang="zh-CN" dirty="0">
                <a:solidFill>
                  <a:srgbClr val="FF0000"/>
                </a:solidFill>
              </a:rPr>
              <a:t>31.5 </a:t>
            </a:r>
            <a:r>
              <a:rPr lang="en-US" altLang="zh-CN" dirty="0"/>
              <a:t>(</a:t>
            </a:r>
            <a:r>
              <a:rPr lang="zh-CN" altLang="en-US" dirty="0"/>
              <a:t>最优</a:t>
            </a:r>
            <a:r>
              <a:rPr lang="en-US" altLang="zh-CN" dirty="0"/>
              <a:t>)</a:t>
            </a:r>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4"/>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4995" name="Rectangle 2"/>
          <p:cNvSpPr>
            <a:spLocks noGrp="1"/>
          </p:cNvSpPr>
          <p:nvPr>
            <p:ph type="title"/>
          </p:nvPr>
        </p:nvSpPr>
        <p:spPr/>
        <p:txBody>
          <a:bodyPr vert="horz" wrap="square" lIns="91440" tIns="45720" rIns="91440" bIns="45720" anchor="ctr" anchorCtr="0"/>
          <a:lstStyle/>
          <a:p>
            <a:pPr eaLnBrk="1" hangingPunct="1"/>
            <a:r>
              <a:rPr lang="zh-CN" altLang="en-US" dirty="0"/>
              <a:t>5.2.4 贪心准则的重要性</a:t>
            </a:r>
            <a:r>
              <a:rPr lang="en-US" altLang="zh-CN" dirty="0"/>
              <a:t>——</a:t>
            </a:r>
            <a:r>
              <a:rPr lang="zh-CN" altLang="en-US" dirty="0"/>
              <a:t>分数背包问题</a:t>
            </a:r>
            <a:endParaRPr lang="en-US" altLang="zh-CN" dirty="0"/>
          </a:p>
        </p:txBody>
      </p:sp>
      <p:sp>
        <p:nvSpPr>
          <p:cNvPr id="10243" name="Rectangle 3"/>
          <p:cNvSpPr>
            <a:spLocks noGrp="1" noChangeArrowheads="1"/>
          </p:cNvSpPr>
          <p:nvPr>
            <p:ph type="body" sz="half" idx="1"/>
          </p:nvPr>
        </p:nvSpPr>
        <p:spPr>
          <a:xfrm>
            <a:off x="900113" y="1268413"/>
            <a:ext cx="7775575" cy="3024188"/>
          </a:xfrm>
        </p:spPr>
        <p:txBody>
          <a:bodyPr vert="horz" wrap="square" lIns="91440" tIns="45720" rIns="91440" bIns="45720" numCol="1" anchor="t" anchorCtr="0" compatLnSpc="1"/>
          <a:lstStyle/>
          <a:p>
            <a:pPr eaLnBrk="1" hangingPunct="1">
              <a:buClrTx/>
              <a:buSzTx/>
              <a:buFontTx/>
            </a:pPr>
            <a:r>
              <a:rPr lang="en-US" altLang="zh-CN" sz="2400" dirty="0"/>
              <a:t>Step 1:</a:t>
            </a:r>
            <a:endParaRPr lang="en-US" altLang="zh-CN" sz="2400" dirty="0"/>
          </a:p>
          <a:p>
            <a:pPr lvl="1" eaLnBrk="1" hangingPunct="1"/>
            <a:r>
              <a:rPr lang="zh-CN" altLang="en-US" sz="2400" dirty="0">
                <a:latin typeface="Times New Roman" panose="02020603050405020304" pitchFamily="18" charset="0"/>
                <a:ea typeface="华文楷体" panose="02010600040101010101" pitchFamily="2" charset="-122"/>
              </a:rPr>
              <a:t>每项计算</a:t>
            </a:r>
            <a:r>
              <a:rPr lang="en-US" altLang="zh-CN" sz="2400" dirty="0">
                <a:latin typeface="Times New Roman" panose="02020603050405020304" pitchFamily="18" charset="0"/>
                <a:ea typeface="华文楷体" panose="02010600040101010101" pitchFamily="2" charset="-122"/>
              </a:rPr>
              <a:t>y</a:t>
            </a:r>
            <a:r>
              <a:rPr lang="en-US" altLang="zh-CN" sz="2400" baseline="-25000" dirty="0">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=v</a:t>
            </a:r>
            <a:r>
              <a:rPr lang="en-US" altLang="zh-CN" sz="2400" baseline="-25000" dirty="0">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/s</a:t>
            </a:r>
            <a:r>
              <a:rPr lang="en-US" altLang="zh-CN" sz="2400" baseline="-25000" dirty="0">
                <a:latin typeface="Times New Roman" panose="02020603050405020304" pitchFamily="18" charset="0"/>
                <a:ea typeface="华文楷体" panose="02010600040101010101" pitchFamily="2" charset="-122"/>
              </a:rPr>
              <a:t>i</a:t>
            </a:r>
            <a:r>
              <a:rPr lang="zh-CN" altLang="en-US" sz="2400" baseline="-250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即该项值和大小的比</a:t>
            </a:r>
            <a:endParaRPr lang="zh-CN" altLang="en-US" sz="2400" dirty="0">
              <a:latin typeface="Times New Roman" panose="02020603050405020304" pitchFamily="18" charset="0"/>
              <a:ea typeface="华文楷体" panose="02010600040101010101" pitchFamily="2" charset="-122"/>
            </a:endParaRPr>
          </a:p>
          <a:p>
            <a:pPr lvl="1" eaLnBrk="1" hangingPunct="1"/>
            <a:endParaRPr lang="en-US" altLang="zh-CN" sz="2400" dirty="0">
              <a:latin typeface="Times New Roman" panose="02020603050405020304" pitchFamily="18" charset="0"/>
              <a:ea typeface="华文楷体" panose="02010600040101010101" pitchFamily="2" charset="-122"/>
            </a:endParaRPr>
          </a:p>
          <a:p>
            <a:pPr eaLnBrk="1" hangingPunct="1">
              <a:buClrTx/>
              <a:buSzTx/>
              <a:buFontTx/>
            </a:pPr>
            <a:r>
              <a:rPr lang="en-US" altLang="zh-CN" sz="2400" dirty="0"/>
              <a:t>Step 2: </a:t>
            </a:r>
            <a:endParaRPr lang="en-US" altLang="zh-CN" sz="2400" dirty="0"/>
          </a:p>
          <a:p>
            <a:pPr lvl="1" eaLnBrk="1" hangingPunct="1"/>
            <a:r>
              <a:rPr lang="zh-CN" altLang="en-US" sz="2400" dirty="0">
                <a:latin typeface="Times New Roman" panose="02020603050405020304" pitchFamily="18" charset="0"/>
                <a:ea typeface="华文楷体" panose="02010600040101010101" pitchFamily="2" charset="-122"/>
              </a:rPr>
              <a:t>再按比值的降序来排序，从第一项开始装背包，然后是第二项，依次类推，尽可能地多放，直至装满背包。</a:t>
            </a:r>
            <a:endParaRPr lang="zh-CN" altLang="en-US" sz="2400" dirty="0">
              <a:latin typeface="Times New Roman" panose="02020603050405020304" pitchFamily="18" charset="0"/>
              <a:ea typeface="华文楷体" panose="02010600040101010101" pitchFamily="2" charset="-122"/>
            </a:endParaRPr>
          </a:p>
          <a:p>
            <a:pPr lvl="1" eaLnBrk="1" hangingPunct="1"/>
            <a:endParaRPr lang="zh-CN" altLang="en-US" sz="2400" dirty="0">
              <a:ea typeface="华文楷体" panose="02010600040101010101" pitchFamily="2" charset="-122"/>
            </a:endParaRPr>
          </a:p>
          <a:p>
            <a:pPr lvl="1" eaLnBrk="1" hangingPunct="1"/>
            <a:endParaRPr lang="en-US" altLang="zh-CN" sz="2400" dirty="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 calcmode="lin" valueType="num">
                                      <p:cBhvr additive="base">
                                        <p:cTn id="19"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243">
                                            <p:txEl>
                                              <p:pRg st="4" end="4"/>
                                            </p:txEl>
                                          </p:spTgt>
                                        </p:tgtEl>
                                        <p:attrNameLst>
                                          <p:attrName>style.visibility</p:attrName>
                                        </p:attrNameLst>
                                      </p:cBhvr>
                                      <p:to>
                                        <p:strVal val="visible"/>
                                      </p:to>
                                    </p:set>
                                    <p:anim calcmode="lin" valueType="num">
                                      <p:cBhvr additive="base">
                                        <p:cTn id="25"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3"/>
          <p:cNvSpPr txBox="1">
            <a:spLocks noGrp="1"/>
          </p:cNvSpPr>
          <p:nvPr>
            <p:ph type="ftr" sz="quarter" idx="10"/>
          </p:nvPr>
        </p:nvSpPr>
        <p:spPr/>
        <p: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r>
              <a:rPr lang="en-US" altLang="zh-CN" sz="1400" dirty="0"/>
              <a:t>Algorithms Design Techniques and Analysis</a:t>
            </a:r>
            <a:endParaRPr lang="en-US" altLang="zh-CN" sz="1400" dirty="0"/>
          </a:p>
        </p:txBody>
      </p:sp>
      <p:sp>
        <p:nvSpPr>
          <p:cNvPr id="87043" name="Rectangle 2"/>
          <p:cNvSpPr>
            <a:spLocks noGrp="1"/>
          </p:cNvSpPr>
          <p:nvPr>
            <p:ph type="title"/>
          </p:nvPr>
        </p:nvSpPr>
        <p:spPr/>
        <p:txBody>
          <a:bodyPr vert="horz" wrap="square" lIns="91440" tIns="45720" rIns="91440" bIns="45720" anchor="ctr" anchorCtr="0"/>
          <a:lstStyle/>
          <a:p>
            <a:pPr eaLnBrk="1" hangingPunct="1"/>
            <a:endParaRPr lang="zh-CN" altLang="zh-CN" dirty="0"/>
          </a:p>
        </p:txBody>
      </p:sp>
      <p:sp>
        <p:nvSpPr>
          <p:cNvPr id="87044" name="Rectangle 3"/>
          <p:cNvSpPr>
            <a:spLocks noGrp="1"/>
          </p:cNvSpPr>
          <p:nvPr>
            <p:ph idx="1"/>
          </p:nvPr>
        </p:nvSpPr>
        <p:spPr>
          <a:xfrm>
            <a:off x="900113" y="476250"/>
            <a:ext cx="7786687" cy="5184775"/>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eaLnBrk="1" hangingPunct="1">
              <a:lnSpc>
                <a:spcPct val="80000"/>
              </a:lnSpc>
              <a:buNone/>
            </a:pPr>
            <a:r>
              <a:rPr lang="zh-CN" altLang="en-US" sz="1900" dirty="0"/>
              <a:t>算法</a:t>
            </a:r>
            <a:r>
              <a:rPr lang="en-US" altLang="zh-CN" sz="1900" dirty="0"/>
              <a:t>Greedy-KNAPSACK</a:t>
            </a:r>
            <a:endParaRPr lang="en-US" altLang="zh-CN" sz="1900" dirty="0"/>
          </a:p>
          <a:p>
            <a:pPr algn="just" eaLnBrk="1" hangingPunct="1">
              <a:lnSpc>
                <a:spcPct val="80000"/>
              </a:lnSpc>
              <a:buNone/>
            </a:pPr>
            <a:r>
              <a:rPr lang="zh-CN" altLang="en-US" sz="1900" b="1" dirty="0"/>
              <a:t>输入</a:t>
            </a:r>
            <a:r>
              <a:rPr lang="en-US" altLang="zh-CN" sz="1900" b="1" dirty="0"/>
              <a:t>:</a:t>
            </a:r>
            <a:r>
              <a:rPr lang="en-US" altLang="zh-CN" sz="1900" dirty="0"/>
              <a:t> </a:t>
            </a:r>
            <a:r>
              <a:rPr lang="zh-CN" altLang="en-US" sz="1900" dirty="0"/>
              <a:t>按照</a:t>
            </a:r>
            <a:r>
              <a:rPr lang="en-US" altLang="zh-CN" sz="1900" dirty="0"/>
              <a:t>v(i)/s(i)</a:t>
            </a:r>
            <a:r>
              <a:rPr lang="zh-CN" altLang="en-US" sz="1900" dirty="0"/>
              <a:t>比率降序排列的</a:t>
            </a:r>
            <a:r>
              <a:rPr lang="en-US" altLang="zh-CN" sz="1900" dirty="0"/>
              <a:t> n</a:t>
            </a:r>
            <a:r>
              <a:rPr lang="zh-CN" altLang="en-US" sz="1900" dirty="0"/>
              <a:t>个物品的容量数组</a:t>
            </a:r>
            <a:r>
              <a:rPr lang="en-US" altLang="zh-CN" sz="1900" dirty="0"/>
              <a:t>s[1..n]</a:t>
            </a:r>
            <a:r>
              <a:rPr lang="zh-CN" altLang="en-US" sz="1900" dirty="0"/>
              <a:t>和物品价值数组</a:t>
            </a:r>
            <a:r>
              <a:rPr lang="en-US" altLang="zh-CN" sz="1900" dirty="0"/>
              <a:t>v[1..n]; </a:t>
            </a:r>
            <a:r>
              <a:rPr lang="zh-CN" altLang="en-US" sz="1900" dirty="0"/>
              <a:t>背包的总容量</a:t>
            </a:r>
            <a:r>
              <a:rPr lang="en-US" altLang="zh-CN" sz="1900" dirty="0"/>
              <a:t>C, </a:t>
            </a:r>
            <a:r>
              <a:rPr lang="zh-CN" altLang="en-US" sz="1900" dirty="0"/>
              <a:t>物品的数量</a:t>
            </a:r>
            <a:r>
              <a:rPr lang="en-US" altLang="zh-CN" sz="1900" dirty="0"/>
              <a:t>n</a:t>
            </a:r>
            <a:endParaRPr lang="en-US" altLang="zh-CN" sz="1900" dirty="0"/>
          </a:p>
          <a:p>
            <a:pPr eaLnBrk="1" hangingPunct="1">
              <a:lnSpc>
                <a:spcPct val="80000"/>
              </a:lnSpc>
              <a:buNone/>
            </a:pPr>
            <a:r>
              <a:rPr lang="zh-CN" altLang="en-US" sz="1900" b="1" dirty="0"/>
              <a:t>输出</a:t>
            </a:r>
            <a:r>
              <a:rPr lang="en-US" altLang="zh-CN" sz="1900" b="1" dirty="0"/>
              <a:t>:</a:t>
            </a:r>
            <a:r>
              <a:rPr lang="en-US" altLang="zh-CN" sz="1900" dirty="0"/>
              <a:t> </a:t>
            </a:r>
            <a:r>
              <a:rPr lang="zh-CN" altLang="en-US" sz="1900" dirty="0"/>
              <a:t>最优贪心算法结果</a:t>
            </a:r>
            <a:r>
              <a:rPr lang="en-US" altLang="zh-CN" sz="1900" dirty="0"/>
              <a:t>x[1..n]  </a:t>
            </a:r>
            <a:endParaRPr lang="en-US" altLang="zh-CN" sz="1900" dirty="0"/>
          </a:p>
          <a:p>
            <a:pPr eaLnBrk="1" hangingPunct="1">
              <a:lnSpc>
                <a:spcPct val="80000"/>
              </a:lnSpc>
              <a:buNone/>
            </a:pPr>
            <a:endParaRPr lang="en-US" altLang="zh-CN" sz="1900" dirty="0"/>
          </a:p>
          <a:p>
            <a:pPr eaLnBrk="1" hangingPunct="1">
              <a:lnSpc>
                <a:spcPct val="80000"/>
              </a:lnSpc>
              <a:buNone/>
            </a:pPr>
            <a:r>
              <a:rPr lang="en-US" altLang="zh-CN" sz="1700" b="1" dirty="0"/>
              <a:t>for </a:t>
            </a:r>
            <a:r>
              <a:rPr lang="en-US" altLang="zh-CN" sz="1700" i="1" dirty="0"/>
              <a:t>i </a:t>
            </a:r>
            <a:r>
              <a:rPr lang="en-US" altLang="zh-CN" sz="1700" dirty="0"/>
              <a:t>← 0 </a:t>
            </a:r>
            <a:r>
              <a:rPr lang="en-US" altLang="zh-CN" sz="1700" b="1" dirty="0"/>
              <a:t>to </a:t>
            </a:r>
            <a:r>
              <a:rPr lang="en-US" altLang="zh-CN" sz="1700" i="1" dirty="0"/>
              <a:t>n     </a:t>
            </a:r>
            <a:r>
              <a:rPr lang="en-US" altLang="zh-CN" sz="1700" dirty="0"/>
              <a:t>{</a:t>
            </a:r>
            <a:r>
              <a:rPr lang="zh-CN" altLang="en-US" sz="1700" dirty="0"/>
              <a:t>初始化</a:t>
            </a:r>
            <a:r>
              <a:rPr lang="en-US" altLang="zh-CN" sz="1700" dirty="0"/>
              <a:t>x[i] }</a:t>
            </a:r>
            <a:endParaRPr lang="en-US" altLang="zh-CN" sz="1700" dirty="0"/>
          </a:p>
          <a:p>
            <a:pPr eaLnBrk="1" hangingPunct="1">
              <a:lnSpc>
                <a:spcPct val="80000"/>
              </a:lnSpc>
              <a:buNone/>
            </a:pPr>
            <a:r>
              <a:rPr lang="en-US" altLang="zh-CN" sz="1700" dirty="0"/>
              <a:t>	 x[</a:t>
            </a:r>
            <a:r>
              <a:rPr lang="en-US" altLang="zh-CN" sz="1700" i="1" dirty="0"/>
              <a:t>i</a:t>
            </a:r>
            <a:r>
              <a:rPr lang="en-US" altLang="zh-CN" sz="1700" dirty="0"/>
              <a:t>] ← 0</a:t>
            </a:r>
            <a:endParaRPr lang="en-US" altLang="zh-CN" sz="1700" dirty="0"/>
          </a:p>
          <a:p>
            <a:pPr eaLnBrk="1" hangingPunct="1">
              <a:lnSpc>
                <a:spcPct val="80000"/>
              </a:lnSpc>
              <a:buNone/>
            </a:pPr>
            <a:r>
              <a:rPr lang="en-US" altLang="zh-CN" sz="1700" b="1" dirty="0"/>
              <a:t>end for</a:t>
            </a:r>
            <a:endParaRPr lang="en-US" altLang="zh-CN" sz="1700" b="1" dirty="0"/>
          </a:p>
          <a:p>
            <a:pPr eaLnBrk="1" hangingPunct="1">
              <a:lnSpc>
                <a:spcPct val="80000"/>
              </a:lnSpc>
              <a:buNone/>
            </a:pPr>
            <a:r>
              <a:rPr lang="en-US" altLang="zh-CN" sz="1700" dirty="0"/>
              <a:t>cu ← C</a:t>
            </a:r>
            <a:endParaRPr lang="en-US" altLang="zh-CN" sz="1700" dirty="0"/>
          </a:p>
          <a:p>
            <a:pPr eaLnBrk="1" hangingPunct="1">
              <a:lnSpc>
                <a:spcPct val="80000"/>
              </a:lnSpc>
              <a:buNone/>
            </a:pPr>
            <a:r>
              <a:rPr lang="en-US" altLang="zh-CN" sz="1700" b="1" dirty="0"/>
              <a:t>for </a:t>
            </a:r>
            <a:r>
              <a:rPr lang="en-US" altLang="zh-CN" sz="1700" i="1" dirty="0"/>
              <a:t>i </a:t>
            </a:r>
            <a:r>
              <a:rPr lang="en-US" altLang="zh-CN" sz="1700" dirty="0"/>
              <a:t>← 0 </a:t>
            </a:r>
            <a:r>
              <a:rPr lang="en-US" altLang="zh-CN" sz="1700" b="1" dirty="0"/>
              <a:t>to </a:t>
            </a:r>
            <a:r>
              <a:rPr lang="en-US" altLang="zh-CN" sz="1700" i="1" dirty="0"/>
              <a:t>n    </a:t>
            </a:r>
            <a:r>
              <a:rPr lang="en-US" altLang="zh-CN" sz="1700" dirty="0"/>
              <a:t>{</a:t>
            </a:r>
            <a:r>
              <a:rPr lang="zh-CN" altLang="en-US" sz="1700" dirty="0"/>
              <a:t>物品按次序装入背包</a:t>
            </a:r>
            <a:r>
              <a:rPr lang="en-US" altLang="zh-CN" sz="1700" dirty="0"/>
              <a:t> }</a:t>
            </a:r>
            <a:endParaRPr lang="en-US" altLang="zh-CN" sz="1700" i="1" dirty="0"/>
          </a:p>
          <a:p>
            <a:pPr eaLnBrk="1" hangingPunct="1">
              <a:lnSpc>
                <a:spcPct val="80000"/>
              </a:lnSpc>
              <a:buNone/>
            </a:pPr>
            <a:r>
              <a:rPr lang="en-US" altLang="zh-CN" sz="1700" dirty="0"/>
              <a:t>	 </a:t>
            </a:r>
            <a:r>
              <a:rPr lang="en-US" altLang="zh-CN" sz="1700" b="1" dirty="0"/>
              <a:t>if</a:t>
            </a:r>
            <a:r>
              <a:rPr lang="en-US" altLang="zh-CN" sz="1700" dirty="0"/>
              <a:t> s[</a:t>
            </a:r>
            <a:r>
              <a:rPr lang="en-US" altLang="zh-CN" sz="1700" i="1" dirty="0"/>
              <a:t>i</a:t>
            </a:r>
            <a:r>
              <a:rPr lang="en-US" altLang="zh-CN" sz="1700" dirty="0"/>
              <a:t>] &gt; cu </a:t>
            </a:r>
            <a:r>
              <a:rPr lang="en-US" altLang="zh-CN" sz="1700" b="1" dirty="0"/>
              <a:t>then </a:t>
            </a:r>
            <a:endParaRPr lang="en-US" altLang="zh-CN" sz="1700" b="1" dirty="0"/>
          </a:p>
          <a:p>
            <a:pPr eaLnBrk="1" hangingPunct="1">
              <a:lnSpc>
                <a:spcPct val="80000"/>
              </a:lnSpc>
              <a:buNone/>
            </a:pPr>
            <a:r>
              <a:rPr lang="en-US" altLang="zh-CN" sz="1700" dirty="0"/>
              <a:t>		</a:t>
            </a:r>
            <a:r>
              <a:rPr lang="en-US" altLang="zh-CN" sz="1700" b="1" dirty="0"/>
              <a:t>exit </a:t>
            </a:r>
            <a:endParaRPr lang="en-US" altLang="zh-CN" sz="1700" b="1" dirty="0"/>
          </a:p>
          <a:p>
            <a:pPr eaLnBrk="1" hangingPunct="1">
              <a:lnSpc>
                <a:spcPct val="80000"/>
              </a:lnSpc>
              <a:buNone/>
            </a:pPr>
            <a:r>
              <a:rPr lang="en-US" altLang="zh-CN" sz="1700" dirty="0"/>
              <a:t>	</a:t>
            </a:r>
            <a:r>
              <a:rPr lang="en-US" altLang="zh-CN" sz="1700" b="1" dirty="0"/>
              <a:t>end if</a:t>
            </a:r>
            <a:endParaRPr lang="en-US" altLang="zh-CN" sz="1700" b="1" dirty="0"/>
          </a:p>
          <a:p>
            <a:pPr eaLnBrk="1" hangingPunct="1">
              <a:lnSpc>
                <a:spcPct val="80000"/>
              </a:lnSpc>
              <a:buNone/>
            </a:pPr>
            <a:r>
              <a:rPr lang="en-US" altLang="zh-CN" sz="1700" dirty="0"/>
              <a:t>      x(i)← 1</a:t>
            </a:r>
            <a:endParaRPr lang="en-US" altLang="zh-CN" sz="1700" dirty="0"/>
          </a:p>
          <a:p>
            <a:pPr eaLnBrk="1" hangingPunct="1">
              <a:lnSpc>
                <a:spcPct val="80000"/>
              </a:lnSpc>
              <a:buNone/>
            </a:pPr>
            <a:r>
              <a:rPr lang="en-US" altLang="zh-CN" sz="1700" dirty="0"/>
              <a:t>      cu ←cu-s(i)   {</a:t>
            </a:r>
            <a:r>
              <a:rPr lang="zh-CN" altLang="en-US" sz="1700" dirty="0"/>
              <a:t>剩余背包容量</a:t>
            </a:r>
            <a:r>
              <a:rPr lang="en-US" altLang="zh-CN" sz="1700" dirty="0"/>
              <a:t>}</a:t>
            </a:r>
            <a:endParaRPr lang="en-US" altLang="zh-CN" sz="1700" dirty="0"/>
          </a:p>
          <a:p>
            <a:pPr eaLnBrk="1" hangingPunct="1">
              <a:lnSpc>
                <a:spcPct val="80000"/>
              </a:lnSpc>
              <a:buNone/>
            </a:pPr>
            <a:r>
              <a:rPr lang="en-US" altLang="zh-CN" sz="1700" b="1" dirty="0"/>
              <a:t>end for</a:t>
            </a:r>
            <a:endParaRPr lang="en-US" altLang="zh-CN" sz="1700" b="1" dirty="0"/>
          </a:p>
          <a:p>
            <a:pPr eaLnBrk="1" hangingPunct="1">
              <a:lnSpc>
                <a:spcPct val="80000"/>
              </a:lnSpc>
              <a:buNone/>
            </a:pPr>
            <a:r>
              <a:rPr lang="en-US" altLang="zh-CN" sz="1900" b="1" dirty="0"/>
              <a:t>if </a:t>
            </a:r>
            <a:r>
              <a:rPr lang="en-US" altLang="zh-CN" sz="1900" dirty="0"/>
              <a:t>i ≤n </a:t>
            </a:r>
            <a:r>
              <a:rPr lang="en-US" altLang="zh-CN" sz="1900" b="1" dirty="0"/>
              <a:t>then</a:t>
            </a:r>
            <a:r>
              <a:rPr lang="en-US" altLang="zh-CN" sz="1900" dirty="0"/>
              <a:t> x(i) </a:t>
            </a:r>
            <a:r>
              <a:rPr lang="en-US" altLang="zh-CN" sz="1700" dirty="0"/>
              <a:t>←cu/s(i) </a:t>
            </a:r>
            <a:r>
              <a:rPr lang="en-US" altLang="zh-CN" sz="1700" b="1" dirty="0"/>
              <a:t>end if </a:t>
            </a:r>
            <a:r>
              <a:rPr lang="en-US" altLang="zh-CN" sz="1700" dirty="0"/>
              <a:t>{</a:t>
            </a:r>
            <a:r>
              <a:rPr lang="zh-CN" altLang="en-US" sz="1700" dirty="0"/>
              <a:t>最后剩余背包容量中装入物品</a:t>
            </a:r>
            <a:r>
              <a:rPr lang="en-US" altLang="zh-CN" sz="1700" dirty="0"/>
              <a:t>i</a:t>
            </a:r>
            <a:r>
              <a:rPr lang="zh-CN" altLang="en-US" sz="1700" dirty="0"/>
              <a:t>的比率</a:t>
            </a:r>
            <a:r>
              <a:rPr lang="en-US" altLang="zh-CN" sz="1700" dirty="0"/>
              <a:t>}</a:t>
            </a:r>
            <a:endParaRPr lang="en-US" altLang="zh-CN" sz="1700" b="1" dirty="0"/>
          </a:p>
          <a:p>
            <a:pPr eaLnBrk="1" hangingPunct="1">
              <a:lnSpc>
                <a:spcPct val="80000"/>
              </a:lnSpc>
              <a:buNone/>
            </a:pPr>
            <a:r>
              <a:rPr lang="en-US" altLang="zh-CN" sz="1900" b="1" dirty="0"/>
              <a:t>return </a:t>
            </a:r>
            <a:r>
              <a:rPr lang="en-US" altLang="zh-CN" sz="1900" dirty="0"/>
              <a:t>x</a:t>
            </a:r>
            <a:endParaRPr lang="en-US" altLang="zh-CN" sz="1900" dirty="0"/>
          </a:p>
          <a:p>
            <a:pPr eaLnBrk="1" hangingPunct="1">
              <a:lnSpc>
                <a:spcPct val="80000"/>
              </a:lnSpc>
              <a:buNone/>
            </a:pPr>
            <a:endParaRPr lang="en-US" altLang="zh-CN" sz="1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内容占位符 2"/>
          <p:cNvSpPr>
            <a:spLocks noGrp="1"/>
          </p:cNvSpPr>
          <p:nvPr>
            <p:ph idx="1"/>
          </p:nvPr>
        </p:nvSpPr>
        <p:spPr/>
        <p:txBody>
          <a:bodyPr vert="horz" wrap="square" lIns="91440" tIns="45720" rIns="91440" bIns="45720" anchor="t" anchorCtr="0"/>
          <a:lstStyle/>
          <a:p>
            <a:r>
              <a:rPr lang="zh-CN" altLang="en-US" dirty="0"/>
              <a:t>贪心算法最难的部分从不在于问题的求解，而在于正确性的证明，常用的证明方法有归纳法和交换论证法。</a:t>
            </a:r>
            <a:endParaRPr lang="zh-CN" altLang="en-US" dirty="0"/>
          </a:p>
          <a:p>
            <a:r>
              <a:rPr lang="zh-CN" altLang="en-US" dirty="0"/>
              <a:t>归纳法：对算法进行步数归纳或问题规模归纳</a:t>
            </a:r>
            <a:endParaRPr lang="zh-CN" altLang="en-US" dirty="0"/>
          </a:p>
          <a:p>
            <a:r>
              <a:rPr lang="zh-CN" altLang="en-US" dirty="0"/>
              <a:t>交换论证法：从最优解出发，在保证最优性不变的前提下，从一个最优解进行逐步替换，从而得到贪心策略的解</a:t>
            </a:r>
            <a:endParaRPr lang="zh-CN" altLang="en-US" dirty="0"/>
          </a:p>
        </p:txBody>
      </p:sp>
      <p:sp>
        <p:nvSpPr>
          <p:cNvPr id="89091" name="Rectangle 2"/>
          <p:cNvSpPr>
            <a:spLocks noGrp="1"/>
          </p:cNvSpPr>
          <p:nvPr>
            <p:ph type="title"/>
          </p:nvPr>
        </p:nvSpPr>
        <p:spPr/>
        <p:txBody>
          <a:bodyPr vert="horz" wrap="square" lIns="91440" tIns="45720" rIns="91440" bIns="45720" anchor="ctr" anchorCtr="0"/>
          <a:lstStyle/>
          <a:p>
            <a:pPr eaLnBrk="1" hangingPunct="1"/>
            <a:r>
              <a:rPr lang="zh-CN" altLang="en-US" dirty="0"/>
              <a:t>5.2.5 贪心解为最优解的正确性证明</a:t>
            </a:r>
            <a:endParaRPr lang="en-US" altLang="zh-CN"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5.2.5 贪心解为最优解的正确性证明</a:t>
            </a:r>
            <a:endParaRPr lang="zh-CN" altLang="en-US" dirty="0"/>
          </a:p>
        </p:txBody>
      </p:sp>
      <p:sp>
        <p:nvSpPr>
          <p:cNvPr id="3" name="内容占位符 2"/>
          <p:cNvSpPr>
            <a:spLocks noGrp="1"/>
          </p:cNvSpPr>
          <p:nvPr>
            <p:ph idx="1"/>
          </p:nvPr>
        </p:nvSpPr>
        <p:spPr/>
        <p:txBody>
          <a:bodyPr/>
          <a:lstStyle/>
          <a:p>
            <a:r>
              <a:rPr lang="zh-CN" altLang="en-US" dirty="0"/>
              <a:t>最优装载问题</a:t>
            </a:r>
            <a:r>
              <a:rPr lang="en-US" altLang="zh-CN" dirty="0"/>
              <a:t>:</a:t>
            </a:r>
            <a:endParaRPr lang="en-US" altLang="zh-CN" dirty="0"/>
          </a:p>
          <a:p>
            <a:pPr lvl="1"/>
            <a:r>
              <a:rPr lang="en-US" altLang="zh-CN" dirty="0"/>
              <a:t>n</a:t>
            </a:r>
            <a:r>
              <a:rPr lang="zh-CN" altLang="en-US" dirty="0"/>
              <a:t>个集装箱</a:t>
            </a:r>
            <a:r>
              <a:rPr lang="en-US" altLang="zh-CN" dirty="0"/>
              <a:t>1,2…,n</a:t>
            </a:r>
            <a:r>
              <a:rPr lang="zh-CN" altLang="en-US" dirty="0"/>
              <a:t>装上轮船，集装箱</a:t>
            </a:r>
            <a:r>
              <a:rPr lang="en-US" altLang="zh-CN" dirty="0" err="1"/>
              <a:t>i</a:t>
            </a:r>
            <a:r>
              <a:rPr lang="zh-CN" altLang="en-US" dirty="0"/>
              <a:t>的重量为</a:t>
            </a:r>
            <a:r>
              <a:rPr lang="en-US" altLang="zh-CN" dirty="0"/>
              <a:t>w </a:t>
            </a:r>
            <a:r>
              <a:rPr lang="en-US" altLang="zh-CN" baseline="-25000" dirty="0" err="1"/>
              <a:t>i</a:t>
            </a:r>
            <a:r>
              <a:rPr lang="en-US" altLang="zh-CN" baseline="-25000" dirty="0"/>
              <a:t> </a:t>
            </a:r>
            <a:r>
              <a:rPr lang="en-US" altLang="zh-CN" dirty="0"/>
              <a:t> ,</a:t>
            </a:r>
            <a:r>
              <a:rPr lang="zh-CN" altLang="en-US" dirty="0"/>
              <a:t>轮船载重量限制为</a:t>
            </a:r>
            <a:r>
              <a:rPr lang="en-US" altLang="zh-CN" dirty="0"/>
              <a:t>c,</a:t>
            </a:r>
            <a:r>
              <a:rPr lang="zh-CN" altLang="en-US" dirty="0"/>
              <a:t>无体积限制。如何使装上船的集装箱最多。</a:t>
            </a:r>
            <a:r>
              <a:rPr lang="en-US" altLang="zh-CN" dirty="0"/>
              <a:t>(</a:t>
            </a:r>
            <a:r>
              <a:rPr lang="zh-CN" altLang="en-US" dirty="0"/>
              <a:t>假设每个集装箱重量小于</a:t>
            </a:r>
            <a:r>
              <a:rPr lang="en-US" altLang="zh-CN" dirty="0"/>
              <a:t>c)</a:t>
            </a:r>
            <a:endParaRPr lang="en-US" altLang="zh-CN" dirty="0"/>
          </a:p>
          <a:p>
            <a:r>
              <a:rPr lang="zh-CN" altLang="en-US" dirty="0"/>
              <a:t>贪心策略</a:t>
            </a:r>
            <a:r>
              <a:rPr lang="en-US" altLang="zh-CN" dirty="0"/>
              <a:t>:</a:t>
            </a:r>
            <a:r>
              <a:rPr lang="zh-CN" altLang="en-US" dirty="0"/>
              <a:t>将集装箱按照从轻到重排序，轻者先装</a:t>
            </a:r>
            <a:endParaRPr lang="en-US" altLang="zh-CN" dirty="0"/>
          </a:p>
          <a:p>
            <a:r>
              <a:rPr lang="zh-CN" altLang="en-US" dirty="0"/>
              <a:t>正确性证明：对规模归纳</a:t>
            </a:r>
            <a:endParaRPr lang="en-US" altLang="zh-CN" dirty="0"/>
          </a:p>
          <a:p>
            <a:pPr lvl="1"/>
            <a:r>
              <a:rPr lang="zh-CN" altLang="en-US" dirty="0"/>
              <a:t>设箱子标号按照从轻到重记为</a:t>
            </a:r>
            <a:r>
              <a:rPr lang="en-US" altLang="zh-CN" dirty="0"/>
              <a:t>1,2,…,n</a:t>
            </a:r>
            <a:endParaRPr lang="en-US" altLang="zh-CN" dirty="0"/>
          </a:p>
          <a:p>
            <a:pPr lvl="1"/>
            <a:r>
              <a:rPr lang="en-US" altLang="zh-CN" dirty="0"/>
              <a:t>n = 1 </a:t>
            </a:r>
            <a:r>
              <a:rPr lang="zh-CN" altLang="en-US" dirty="0"/>
              <a:t>贪心选择显然得到最优解</a:t>
            </a:r>
            <a:endParaRPr lang="en-US" altLang="zh-CN" dirty="0"/>
          </a:p>
          <a:p>
            <a:pPr lvl="1"/>
            <a:r>
              <a:rPr lang="zh-CN" altLang="en-US" dirty="0"/>
              <a:t>假设对规模</a:t>
            </a:r>
            <a:r>
              <a:rPr lang="en-US" altLang="zh-CN" dirty="0"/>
              <a:t>n-1</a:t>
            </a:r>
            <a:r>
              <a:rPr lang="zh-CN" altLang="en-US" dirty="0"/>
              <a:t>的输入得到最优解，证明对规模</a:t>
            </a:r>
            <a:r>
              <a:rPr lang="en-US" altLang="zh-CN" dirty="0"/>
              <a:t>n</a:t>
            </a:r>
            <a:r>
              <a:rPr lang="zh-CN" altLang="en-US" dirty="0"/>
              <a:t>的输入也得到最优解</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内容占位符 2"/>
          <p:cNvSpPr>
            <a:spLocks noGrp="1"/>
          </p:cNvSpPr>
          <p:nvPr>
            <p:ph idx="1"/>
          </p:nvPr>
        </p:nvSpPr>
        <p:spPr/>
        <p:txBody>
          <a:bodyPr vert="horz" wrap="square" lIns="91440" tIns="45720" rIns="91440" bIns="45720" anchor="t" anchorCtr="0"/>
          <a:lstStyle/>
          <a:p>
            <a:pPr eaLnBrk="1" hangingPunct="1"/>
            <a:r>
              <a:rPr lang="zh-CN" altLang="en-US" dirty="0"/>
              <a:t>与动态规划算法比较</a:t>
            </a:r>
            <a:r>
              <a:rPr lang="en-US" altLang="zh-CN" dirty="0"/>
              <a:t>:</a:t>
            </a:r>
            <a:endParaRPr lang="en-US" altLang="zh-CN" dirty="0"/>
          </a:p>
          <a:p>
            <a:pPr lvl="1" eaLnBrk="1" hangingPunct="1"/>
            <a:endParaRPr lang="en-US" altLang="zh-CN" dirty="0">
              <a:ea typeface="华文楷体" panose="02010600040101010101" pitchFamily="2" charset="-122"/>
            </a:endParaRPr>
          </a:p>
          <a:p>
            <a:pPr lvl="1" eaLnBrk="1" hangingPunct="1"/>
            <a:r>
              <a:rPr lang="zh-CN" altLang="en-US" sz="2400" dirty="0">
                <a:latin typeface="华文楷体" panose="02010600040101010101" pitchFamily="2" charset="-122"/>
                <a:ea typeface="华文楷体" panose="02010600040101010101" pitchFamily="2" charset="-122"/>
              </a:rPr>
              <a:t>贪心算法通常用来于求解</a:t>
            </a:r>
            <a:r>
              <a:rPr lang="zh-CN" altLang="en-US" sz="2400" dirty="0">
                <a:solidFill>
                  <a:srgbClr val="FF0000"/>
                </a:solidFill>
                <a:latin typeface="华文楷体" panose="02010600040101010101" pitchFamily="2" charset="-122"/>
                <a:ea typeface="华文楷体" panose="02010600040101010101" pitchFamily="2" charset="-122"/>
              </a:rPr>
              <a:t>最优化问题</a:t>
            </a:r>
            <a:r>
              <a:rPr lang="zh-CN" altLang="en-US" sz="2400" dirty="0">
                <a:latin typeface="华文楷体" panose="02010600040101010101" pitchFamily="2" charset="-122"/>
                <a:ea typeface="华文楷体" panose="02010600040101010101" pitchFamily="2" charset="-122"/>
              </a:rPr>
              <a:t>，即量的最大化或最小化。</a:t>
            </a:r>
            <a:endParaRPr lang="en-US" altLang="zh-CN" sz="2400" dirty="0">
              <a:latin typeface="华文楷体" panose="02010600040101010101" pitchFamily="2" charset="-122"/>
              <a:ea typeface="华文楷体" panose="02010600040101010101" pitchFamily="2" charset="-122"/>
            </a:endParaRPr>
          </a:p>
          <a:p>
            <a:pPr lvl="1" eaLnBrk="1" hangingPunct="1"/>
            <a:endParaRPr lang="en-US" altLang="zh-CN" sz="2400" dirty="0">
              <a:latin typeface="华文楷体" panose="02010600040101010101" pitchFamily="2" charset="-122"/>
              <a:ea typeface="华文楷体" panose="02010600040101010101" pitchFamily="2" charset="-122"/>
            </a:endParaRPr>
          </a:p>
          <a:p>
            <a:pPr lvl="1" eaLnBrk="1" hangingPunct="1"/>
            <a:r>
              <a:rPr lang="zh-CN" altLang="en-US" sz="2400" dirty="0">
                <a:latin typeface="华文楷体" panose="02010600040101010101" pitchFamily="2" charset="-122"/>
                <a:ea typeface="华文楷体" panose="02010600040101010101" pitchFamily="2" charset="-122"/>
              </a:rPr>
              <a:t>然而，贪心算法不像动态规划算法，它通常包含一个用以寻找局部最优解的迭代过程。在某些实例中，这些局部最优解转变成了全局最优解，而在</a:t>
            </a:r>
            <a:r>
              <a:rPr lang="zh-CN" altLang="en-US" sz="2400" dirty="0">
                <a:solidFill>
                  <a:srgbClr val="FF0000"/>
                </a:solidFill>
                <a:latin typeface="华文楷体" panose="02010600040101010101" pitchFamily="2" charset="-122"/>
                <a:ea typeface="华文楷体" panose="02010600040101010101" pitchFamily="2" charset="-122"/>
              </a:rPr>
              <a:t>另外一些情况下，则无法找到最优解</a:t>
            </a:r>
            <a:r>
              <a:rPr lang="zh-CN" altLang="en-US"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endParaRPr lang="zh-CN" altLang="en-US" sz="2000" dirty="0">
              <a:latin typeface="华文楷体" panose="02010600040101010101" pitchFamily="2" charset="-122"/>
            </a:endParaRPr>
          </a:p>
        </p:txBody>
      </p:sp>
      <p:sp>
        <p:nvSpPr>
          <p:cNvPr id="90115" name="Rectangle 2"/>
          <p:cNvSpPr>
            <a:spLocks noGrp="1"/>
          </p:cNvSpPr>
          <p:nvPr>
            <p:ph type="title"/>
          </p:nvPr>
        </p:nvSpPr>
        <p:spPr/>
        <p:txBody>
          <a:bodyPr vert="horz" wrap="square" lIns="91440" tIns="45720" rIns="91440" bIns="45720" anchor="ctr" anchorCtr="0"/>
          <a:lstStyle/>
          <a:p>
            <a:pPr eaLnBrk="1" hangingPunct="1"/>
            <a:r>
              <a:rPr lang="zh-CN" altLang="en-US" dirty="0"/>
              <a:t>5.2.6 贪心策略和动态规划策略的异同点</a:t>
            </a:r>
            <a:br>
              <a:rPr lang="zh-CN" altLang="en-US" dirty="0">
                <a:latin typeface="华文楷体" panose="02010600040101010101" pitchFamily="2" charset="-122"/>
                <a:ea typeface="华文楷体" panose="02010600040101010101" pitchFamily="2" charset="-122"/>
              </a:rPr>
            </a:br>
            <a:endParaRPr lang="en-US" altLang="zh-CN"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p:txBody>
          <a:bodyPr vert="horz" wrap="square" lIns="91440" tIns="45720" rIns="91440" bIns="45720" anchor="t" anchorCtr="0"/>
          <a:lstStyle/>
          <a:p>
            <a:pPr marL="0" indent="0">
              <a:buNone/>
            </a:pPr>
            <a:r>
              <a:rPr lang="en-US" altLang="zh-CN" sz="2400" dirty="0" smtClean="0">
                <a:latin typeface="+mn-ea"/>
                <a:cs typeface="+mn-ea"/>
              </a:rPr>
              <a:t>5.1 </a:t>
            </a:r>
            <a:r>
              <a:rPr lang="zh-CN" altLang="en-US" sz="2400" dirty="0">
                <a:sym typeface="+mn-ea"/>
              </a:rPr>
              <a:t>贪心策略的经典应用（可选讲部分）</a:t>
            </a:r>
            <a:endParaRPr lang="en-US" altLang="zh-CN" sz="2400" dirty="0" smtClean="0">
              <a:latin typeface="+mn-ea"/>
              <a:cs typeface="+mn-ea"/>
            </a:endParaRPr>
          </a:p>
          <a:p>
            <a:pPr marL="457200" lvl="1" algn="l">
              <a:buClrTx/>
              <a:buSzTx/>
              <a:buFontTx/>
              <a:buNone/>
            </a:pPr>
            <a:r>
              <a:rPr lang="en-US" altLang="zh-CN" sz="2000" dirty="0" smtClean="0">
                <a:latin typeface="+mn-ea"/>
                <a:ea typeface="+mn-ea"/>
                <a:cs typeface="+mn-ea"/>
                <a:sym typeface="+mn-ea"/>
              </a:rPr>
              <a:t>5.3.1 货郎担问题的算法描述、算法分析、正确性证明、程序实现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5.3.2 最优归并模式问题的算法描述、算法分析、正确性证明、程序实现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5.3.3 多段图问题的算法描述、算法分析、正确性证明、程序实现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5.3.4 带期限作业排序问题的算法描述、算法分析、正确性证明、程序实现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5.3.5 霍夫曼编码树问题的算法描述、算法分析、正确性证明、程序实现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5.3.6 活动选择问题的算法描述、算法分析、正确性证明、程序实现</a:t>
            </a:r>
            <a:endParaRPr lang="en-US" altLang="zh-CN" sz="2000" dirty="0" smtClean="0">
              <a:latin typeface="+mn-ea"/>
              <a:ea typeface="+mn-ea"/>
              <a:cs typeface="+mn-ea"/>
            </a:endParaRPr>
          </a:p>
          <a:p>
            <a:pPr marL="457200" lvl="1" algn="l">
              <a:buClrTx/>
              <a:buSzTx/>
              <a:buFontTx/>
              <a:buNone/>
            </a:pPr>
            <a:r>
              <a:rPr lang="en-US" altLang="zh-CN" sz="2000" dirty="0" smtClean="0">
                <a:latin typeface="+mn-ea"/>
                <a:ea typeface="+mn-ea"/>
                <a:cs typeface="+mn-ea"/>
                <a:sym typeface="+mn-ea"/>
              </a:rPr>
              <a:t>5.3.7 集合覆盖问题的算法描述、算法分析、程序实现（贪心解不一定是最优解）</a:t>
            </a:r>
            <a:endParaRPr lang="en-US" altLang="zh-CN" sz="2000" dirty="0" smtClean="0">
              <a:latin typeface="+mn-ea"/>
              <a:ea typeface="+mn-ea"/>
              <a:cs typeface="+mn-ea"/>
            </a:endParaRPr>
          </a:p>
          <a:p>
            <a:pPr marL="457200" lvl="1" indent="0">
              <a:buNone/>
            </a:pPr>
            <a:endParaRPr lang="en-US" altLang="zh-CN" sz="2400" dirty="0" smtClean="0">
              <a:latin typeface="+mn-ea"/>
              <a:ea typeface="+mn-ea"/>
              <a:cs typeface="+mn-ea"/>
            </a:endParaRPr>
          </a:p>
          <a:p>
            <a:endParaRPr lang="en-US" altLang="en-US" sz="2000" dirty="0">
              <a:latin typeface="华文楷体" panose="02010600040101010101" pitchFamily="2" charset="-122"/>
            </a:endParaRPr>
          </a:p>
        </p:txBody>
      </p:sp>
      <p:sp>
        <p:nvSpPr>
          <p:cNvPr id="8195" name="Rectangle 2"/>
          <p:cNvSpPr>
            <a:spLocks noGrp="1"/>
          </p:cNvSpPr>
          <p:nvPr>
            <p:ph type="title"/>
          </p:nvPr>
        </p:nvSpPr>
        <p:spPr/>
        <p:txBody>
          <a:bodyPr vert="horz" wrap="square" lIns="91440" tIns="45720" rIns="91440" bIns="45720" anchor="ctr" anchorCtr="0"/>
          <a:lstStyle/>
          <a:p>
            <a:pPr eaLnBrk="1" hangingPunct="1"/>
            <a:r>
              <a:rPr lang="zh-CN" altLang="en-US" dirty="0"/>
              <a:t>主要内容</a:t>
            </a:r>
            <a:endParaRPr lang="en-US" altLang="zh-C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92163"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endParaRPr lang="en-US" altLang="zh-CN" dirty="0"/>
          </a:p>
        </p:txBody>
      </p:sp>
      <p:sp>
        <p:nvSpPr>
          <p:cNvPr id="8" name="内容占位符 2"/>
          <p:cNvSpPr txBox="1">
            <a:spLocks noChangeArrowheads="1"/>
          </p:cNvSpPr>
          <p:nvPr/>
        </p:nvSpPr>
        <p:spPr bwMode="auto">
          <a:xfrm>
            <a:off x="900113" y="1268413"/>
            <a:ext cx="77866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货郎担问题也叫旅行商问题，即</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TSP</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Traveling Salesman Problem</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），是数学领域中著名问题之一。</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问题描述：</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某售货员要到若干个城市销售货物，已知各城市之间的距离，要求售货员选择出发的城市及旅行路线，使每个城市经过一次，最后回到原出发城市，而总路程最短。</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相当于求距离最短的哈密尔顿回路，需求从各城市出发的最短回路，再对</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条回路求极小值。</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回路最短</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贪心选择距离短的路线</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94211"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endParaRPr lang="en-US" altLang="zh-CN" dirty="0"/>
          </a:p>
        </p:txBody>
      </p:sp>
      <p:sp>
        <p:nvSpPr>
          <p:cNvPr id="8" name="内容占位符 2"/>
          <p:cNvSpPr txBox="1">
            <a:spLocks noChangeArrowheads="1"/>
          </p:cNvSpPr>
          <p:nvPr/>
        </p:nvSpPr>
        <p:spPr bwMode="auto">
          <a:xfrm>
            <a:off x="900113" y="1268413"/>
            <a:ext cx="77866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例</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假设</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5</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个城市的费用矩阵为</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从城市</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出发</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:1-&gt;4-&gt;3-&gt;5-&gt;2-&gt;1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，总距离</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14</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从城市</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出发</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:2-&gt;5-&gt;4-&gt;1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一</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&gt;3-&gt;2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，总距离</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17</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其它城市同理，再在</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5</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条回路中选择最小距离。</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endParaRPr>
          </a:p>
        </p:txBody>
      </p:sp>
      <p:pic>
        <p:nvPicPr>
          <p:cNvPr id="94213" name="图片 4"/>
          <p:cNvPicPr>
            <a:picLocks noChangeAspect="1"/>
          </p:cNvPicPr>
          <p:nvPr/>
        </p:nvPicPr>
        <p:blipFill>
          <a:blip r:embed="rId1"/>
          <a:stretch>
            <a:fillRect/>
          </a:stretch>
        </p:blipFill>
        <p:spPr>
          <a:xfrm>
            <a:off x="2411413" y="1843088"/>
            <a:ext cx="3648075" cy="2457450"/>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9625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r>
              <a:rPr lang="en-US" altLang="zh-CN" dirty="0"/>
              <a:t>——</a:t>
            </a:r>
            <a:r>
              <a:rPr lang="zh-CN" altLang="en-US" dirty="0"/>
              <a:t>最近邻点贪心策略</a:t>
            </a:r>
            <a:endParaRPr lang="en-US" altLang="zh-CN" dirty="0"/>
          </a:p>
        </p:txBody>
      </p:sp>
      <p:pic>
        <p:nvPicPr>
          <p:cNvPr id="96260" name="图片 1"/>
          <p:cNvPicPr>
            <a:picLocks noChangeAspect="1"/>
          </p:cNvPicPr>
          <p:nvPr/>
        </p:nvPicPr>
        <p:blipFill>
          <a:blip r:embed="rId1"/>
          <a:stretch>
            <a:fillRect/>
          </a:stretch>
        </p:blipFill>
        <p:spPr>
          <a:xfrm>
            <a:off x="950913" y="1287880"/>
            <a:ext cx="7670120" cy="4909021"/>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98307"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endParaRPr lang="en-US" altLang="zh-CN" dirty="0"/>
          </a:p>
        </p:txBody>
      </p:sp>
      <p:sp>
        <p:nvSpPr>
          <p:cNvPr id="8" name="内容占位符 2"/>
          <p:cNvSpPr txBox="1">
            <a:spLocks noChangeArrowheads="1"/>
          </p:cNvSpPr>
          <p:nvPr/>
        </p:nvSpPr>
        <p:spPr bwMode="auto">
          <a:xfrm>
            <a:off x="977107" y="3041214"/>
            <a:ext cx="7786688" cy="284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从城市</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出发</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:1-&gt;4-&gt;3-&gt;5-&gt;2-&gt;1</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，总距离</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14</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从城市</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出发</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:2-&gt;5-&gt;4-&gt;1-&gt;3-&gt;2</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，总距离</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17</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其它城市同理，再在</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5</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条回路中选择最小距离。</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endParaRPr>
          </a:p>
        </p:txBody>
      </p:sp>
      <p:pic>
        <p:nvPicPr>
          <p:cNvPr id="98309" name="图片 4"/>
          <p:cNvPicPr>
            <a:picLocks noChangeAspect="1"/>
          </p:cNvPicPr>
          <p:nvPr/>
        </p:nvPicPr>
        <p:blipFill>
          <a:blip r:embed="rId1"/>
          <a:stretch>
            <a:fillRect/>
          </a:stretch>
        </p:blipFill>
        <p:spPr>
          <a:xfrm>
            <a:off x="2411413" y="1290638"/>
            <a:ext cx="4350242" cy="293045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0355"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r>
              <a:rPr lang="en-US" altLang="zh-CN" dirty="0"/>
              <a:t>——</a:t>
            </a:r>
            <a:r>
              <a:rPr lang="zh-CN" altLang="en-US" dirty="0"/>
              <a:t>时间复杂度</a:t>
            </a:r>
            <a:endParaRPr lang="en-US" altLang="zh-CN" dirty="0"/>
          </a:p>
        </p:txBody>
      </p:sp>
      <p:sp>
        <p:nvSpPr>
          <p:cNvPr id="8" name="内容占位符 2"/>
          <p:cNvSpPr txBox="1">
            <a:spLocks noChangeArrowheads="1"/>
          </p:cNvSpPr>
          <p:nvPr/>
        </p:nvSpPr>
        <p:spPr bwMode="auto">
          <a:xfrm>
            <a:off x="900113" y="1268413"/>
            <a:ext cx="77866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rgbClr val="FF0000"/>
                </a:solidFill>
                <a:effectLst/>
                <a:uLnTx/>
                <a:uFillTx/>
                <a:latin typeface="+mn-lt"/>
                <a:ea typeface="+mn-ea"/>
                <a:cs typeface="+mn-cs"/>
              </a:rPr>
              <a:t>时间复杂度分析</a:t>
            </a:r>
            <a:r>
              <a:rPr kumimoji="0" lang="en-US" altLang="zh-CN" sz="2500" b="0" i="0" u="none" strike="noStrike" kern="0" cap="none" spc="0" normalizeH="0" baseline="0" noProof="0" dirty="0">
                <a:ln>
                  <a:noFill/>
                </a:ln>
                <a:solidFill>
                  <a:srgbClr val="FF0000"/>
                </a:solidFill>
                <a:effectLst/>
                <a:uLnTx/>
                <a:uFillTx/>
                <a:latin typeface="+mn-lt"/>
                <a:ea typeface="+mn-ea"/>
                <a:cs typeface="+mn-cs"/>
              </a:rPr>
              <a:t>:</a:t>
            </a:r>
            <a:endParaRPr kumimoji="0" lang="en-US" altLang="zh-CN" sz="2500" b="0"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从一个城市出发的最短回路计算为</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0 (</a:t>
            </a:r>
            <a:r>
              <a:rPr kumimoji="0" lang="en-US" altLang="zh-CN" sz="25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500" b="0" i="0" kern="0" baseline="30000" noProof="0" dirty="0" err="1">
                <a:ln>
                  <a:noFill/>
                </a:ln>
                <a:solidFill>
                  <a:schemeClr val="accent2"/>
                </a:solidFill>
                <a:effectLst/>
                <a:uLnTx/>
                <a:uFillTx/>
                <a:latin typeface="+mn-lt"/>
                <a:ea typeface="+mn-ea"/>
                <a:cs typeface="+mn-cs"/>
              </a:rPr>
              <a:t>2</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，共</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个城市，故时间复杂度为</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0 (</a:t>
            </a:r>
            <a:r>
              <a:rPr kumimoji="0" lang="en-US" altLang="zh-CN" sz="2500" b="0" i="0" u="none" strike="noStrike" kern="0" cap="none" spc="0" normalizeH="0" baseline="0" noProof="0" dirty="0" err="1">
                <a:ln>
                  <a:noFill/>
                </a:ln>
                <a:solidFill>
                  <a:schemeClr val="accent2"/>
                </a:solidFill>
                <a:effectLst/>
                <a:uLnTx/>
                <a:uFillTx/>
                <a:latin typeface="+mn-lt"/>
                <a:ea typeface="+mn-ea"/>
                <a:cs typeface="+mn-cs"/>
              </a:rPr>
              <a:t>n</a:t>
            </a:r>
            <a:r>
              <a:rPr kumimoji="0" lang="en-US" altLang="zh-CN" sz="2500" b="0" i="0" kern="0" baseline="30000" noProof="0" dirty="0" err="1">
                <a:ln>
                  <a:noFill/>
                </a:ln>
                <a:solidFill>
                  <a:schemeClr val="accent2"/>
                </a:solidFill>
                <a:effectLst/>
                <a:uLnTx/>
                <a:uFillTx/>
                <a:latin typeface="+mn-lt"/>
                <a:ea typeface="+mn-ea"/>
                <a:cs typeface="+mn-cs"/>
              </a:rPr>
              <a:t>3</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，远小于穷举法的</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n!</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a:t>
            </a: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59632" y="1772816"/>
            <a:ext cx="6840760"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354"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0355"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5.3.1</a:t>
            </a:r>
            <a:r>
              <a:rPr lang="zh-CN" altLang="en-US" dirty="0"/>
              <a:t>货郎担问题</a:t>
            </a:r>
            <a:r>
              <a:rPr lang="en-US" altLang="zh-CN" dirty="0"/>
              <a:t>——</a:t>
            </a:r>
            <a:r>
              <a:rPr lang="zh-CN" altLang="en-US" dirty="0"/>
              <a:t>最优解分析</a:t>
            </a:r>
            <a:endParaRPr lang="en-US" altLang="zh-CN" dirty="0"/>
          </a:p>
        </p:txBody>
      </p:sp>
      <p:sp>
        <p:nvSpPr>
          <p:cNvPr id="8" name="内容占位符 2"/>
          <p:cNvSpPr txBox="1">
            <a:spLocks noChangeArrowheads="1"/>
          </p:cNvSpPr>
          <p:nvPr/>
        </p:nvSpPr>
        <p:spPr bwMode="auto">
          <a:xfrm>
            <a:off x="900113" y="1268413"/>
            <a:ext cx="7786688" cy="3312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lvl="0" eaLnBrk="1" hangingPunct="1">
              <a:defRPr/>
            </a:pPr>
            <a:r>
              <a:rPr lang="zh-CN" altLang="en-US" kern="0" dirty="0">
                <a:solidFill>
                  <a:srgbClr val="FF0000"/>
                </a:solidFill>
              </a:rPr>
              <a:t>最优解分析可得</a:t>
            </a:r>
            <a:r>
              <a:rPr lang="en-US" altLang="zh-CN" kern="0" dirty="0">
                <a:solidFill>
                  <a:srgbClr val="FF0000"/>
                </a:solidFill>
              </a:rPr>
              <a:t>:</a:t>
            </a:r>
            <a:endParaRPr lang="en-US" altLang="zh-CN" kern="0" dirty="0">
              <a:solidFill>
                <a:srgbClr val="FF0000"/>
              </a:solidFill>
            </a:endParaRPr>
          </a:p>
          <a:p>
            <a:pPr marL="0" lvl="0" indent="0" eaLnBrk="1" hangingPunct="1">
              <a:buNone/>
              <a:defRPr/>
            </a:pPr>
            <a:r>
              <a:rPr lang="zh-CN" altLang="en-US" kern="0" dirty="0"/>
              <a:t>    从城市</a:t>
            </a:r>
            <a:r>
              <a:rPr lang="en-US" altLang="zh-CN" kern="0" dirty="0"/>
              <a:t>1</a:t>
            </a:r>
            <a:r>
              <a:rPr lang="zh-CN" altLang="en-US" kern="0" dirty="0"/>
              <a:t>出发最优路线</a:t>
            </a:r>
            <a:r>
              <a:rPr lang="en-US" altLang="zh-CN" kern="0" dirty="0"/>
              <a:t>:1-&gt;2-&gt;5-&gt;4-&gt;3-&gt;1</a:t>
            </a:r>
            <a:r>
              <a:rPr lang="zh-CN" altLang="en-US" kern="0" dirty="0"/>
              <a:t>，距离</a:t>
            </a:r>
            <a:r>
              <a:rPr lang="en-US" altLang="zh-CN" kern="0" dirty="0"/>
              <a:t>13</a:t>
            </a:r>
            <a:endParaRPr lang="en-US" altLang="zh-CN" kern="0" dirty="0"/>
          </a:p>
          <a:p>
            <a:pPr marL="0" lvl="0" indent="0" eaLnBrk="1" hangingPunct="1">
              <a:buNone/>
              <a:defRPr/>
            </a:pPr>
            <a:endParaRPr lang="en-US" altLang="zh-CN" kern="0" dirty="0"/>
          </a:p>
          <a:p>
            <a:pPr lvl="0" eaLnBrk="1" hangingPunct="1">
              <a:defRPr/>
            </a:pPr>
            <a:r>
              <a:rPr lang="zh-CN" altLang="en-US" kern="0" dirty="0"/>
              <a:t>贪心法求解货郎担问题不具有贪心选择性生质和最优子结构性质。只能得到近似解，不能得到最优解。</a:t>
            </a:r>
            <a:endParaRPr lang="zh-CN" altLang="en-US" kern="0" dirty="0"/>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25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0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2403"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5.3.2</a:t>
            </a:r>
            <a:r>
              <a:rPr lang="zh-CN" altLang="en-US" dirty="0"/>
              <a:t>最优归并模式问题</a:t>
            </a:r>
            <a:endParaRPr lang="en-US" altLang="zh-CN" dirty="0"/>
          </a:p>
        </p:txBody>
      </p:sp>
      <p:sp>
        <p:nvSpPr>
          <p:cNvPr id="8"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sz="2400" dirty="0"/>
              <a:t>假设两个分别包含</a:t>
            </a:r>
            <a:r>
              <a:rPr lang="en-US" altLang="zh-CN" sz="2400" dirty="0"/>
              <a:t>n</a:t>
            </a:r>
            <a:r>
              <a:rPr lang="zh-CN" altLang="en-US" sz="2400" dirty="0"/>
              <a:t>个和</a:t>
            </a:r>
            <a:r>
              <a:rPr lang="en-US" altLang="zh-CN" sz="2400" dirty="0"/>
              <a:t>m</a:t>
            </a:r>
            <a:r>
              <a:rPr lang="zh-CN" altLang="en-US" sz="2400" dirty="0"/>
              <a:t>个记录的已分类文件可以在</a:t>
            </a:r>
            <a:r>
              <a:rPr lang="en-US" altLang="zh-CN" sz="2400" dirty="0"/>
              <a:t>o(</a:t>
            </a:r>
            <a:r>
              <a:rPr lang="en-US" altLang="zh-CN" sz="2400" dirty="0" err="1"/>
              <a:t>n+m</a:t>
            </a:r>
            <a:r>
              <a:rPr lang="en-US" altLang="zh-CN" sz="2400" dirty="0"/>
              <a:t>)</a:t>
            </a:r>
            <a:r>
              <a:rPr lang="zh-CN" altLang="en-US" sz="2400" dirty="0"/>
              <a:t>时间内归并在一起而得到一个分类文件。当要把两个以上的已分类文件归并在一起时，可以通过成对地重复归并已分类的文件来完成。</a:t>
            </a:r>
            <a:endParaRPr lang="en-US" altLang="zh-CN" sz="2400" dirty="0"/>
          </a:p>
          <a:p>
            <a:r>
              <a:rPr lang="zh-CN" altLang="en-US" sz="2400" dirty="0"/>
              <a:t>例如，假定</a:t>
            </a:r>
            <a:r>
              <a:rPr lang="en-US" altLang="zh-CN" sz="2400" dirty="0" err="1"/>
              <a:t>x1</a:t>
            </a:r>
            <a:r>
              <a:rPr lang="zh-CN" altLang="en-US" sz="2400" dirty="0"/>
              <a:t>，</a:t>
            </a:r>
            <a:r>
              <a:rPr lang="en-US" altLang="zh-CN" sz="2400" dirty="0" err="1"/>
              <a:t>x2</a:t>
            </a:r>
            <a:r>
              <a:rPr lang="zh-CN" altLang="en-US" sz="2400" dirty="0"/>
              <a:t>，</a:t>
            </a:r>
            <a:r>
              <a:rPr lang="en-US" altLang="zh-CN" sz="2400" dirty="0" err="1"/>
              <a:t>x3</a:t>
            </a:r>
            <a:r>
              <a:rPr lang="zh-CN" altLang="en-US" sz="2400" dirty="0"/>
              <a:t>，</a:t>
            </a:r>
            <a:r>
              <a:rPr lang="en-US" altLang="zh-CN" sz="2400" dirty="0" err="1"/>
              <a:t>x4</a:t>
            </a:r>
            <a:r>
              <a:rPr lang="zh-CN" altLang="en-US" sz="2400" dirty="0"/>
              <a:t>是要归并的文件，则可以首先把</a:t>
            </a:r>
            <a:r>
              <a:rPr lang="en-US" altLang="zh-CN" sz="2400" dirty="0"/>
              <a:t>xl</a:t>
            </a:r>
            <a:r>
              <a:rPr lang="zh-CN" altLang="en-US" sz="2400" dirty="0"/>
              <a:t>和</a:t>
            </a:r>
            <a:r>
              <a:rPr lang="en-US" altLang="zh-CN" sz="2400" dirty="0" err="1"/>
              <a:t>x2</a:t>
            </a:r>
            <a:r>
              <a:rPr lang="zh-CN" altLang="en-US" sz="2400" dirty="0"/>
              <a:t>归并成文件</a:t>
            </a:r>
            <a:r>
              <a:rPr lang="en-US" altLang="zh-CN" sz="2400" dirty="0" err="1"/>
              <a:t>yl</a:t>
            </a:r>
            <a:r>
              <a:rPr lang="zh-CN" altLang="en-US" sz="2400" dirty="0"/>
              <a:t>，然后将</a:t>
            </a:r>
            <a:r>
              <a:rPr lang="en-US" altLang="zh-CN" sz="2400" dirty="0" err="1"/>
              <a:t>yl</a:t>
            </a:r>
            <a:r>
              <a:rPr lang="zh-CN" altLang="en-US" sz="2400" dirty="0"/>
              <a:t>和</a:t>
            </a:r>
            <a:r>
              <a:rPr lang="en-US" altLang="zh-CN" sz="2400" dirty="0" err="1"/>
              <a:t>x3</a:t>
            </a:r>
            <a:r>
              <a:rPr lang="zh-CN" altLang="en-US" sz="2400" dirty="0"/>
              <a:t>归并成</a:t>
            </a:r>
            <a:r>
              <a:rPr lang="en-US" altLang="zh-CN" sz="2400" dirty="0" err="1"/>
              <a:t>y2</a:t>
            </a:r>
            <a:r>
              <a:rPr lang="zh-CN" altLang="en-US" sz="2400" dirty="0"/>
              <a:t>，最后将</a:t>
            </a:r>
            <a:r>
              <a:rPr lang="en-US" altLang="zh-CN" sz="2400" dirty="0" err="1"/>
              <a:t>y2</a:t>
            </a:r>
            <a:r>
              <a:rPr lang="zh-CN" altLang="en-US" sz="2400" dirty="0"/>
              <a:t>和</a:t>
            </a:r>
            <a:r>
              <a:rPr lang="en-US" altLang="zh-CN" sz="2400" dirty="0" err="1"/>
              <a:t>x4</a:t>
            </a:r>
            <a:r>
              <a:rPr lang="zh-CN" altLang="en-US" sz="2400" dirty="0"/>
              <a:t>归并，从而得到想要的分类文件；也可以先把</a:t>
            </a:r>
            <a:r>
              <a:rPr lang="en-US" altLang="zh-CN" sz="2400" dirty="0" err="1"/>
              <a:t>x1</a:t>
            </a:r>
            <a:r>
              <a:rPr lang="zh-CN" altLang="en-US" sz="2400" dirty="0"/>
              <a:t>和</a:t>
            </a:r>
            <a:r>
              <a:rPr lang="en-US" altLang="zh-CN" sz="2400" dirty="0" err="1"/>
              <a:t>x2</a:t>
            </a:r>
            <a:r>
              <a:rPr lang="zh-CN" altLang="en-US" sz="2400" dirty="0"/>
              <a:t>归并成</a:t>
            </a:r>
            <a:r>
              <a:rPr lang="en-US" altLang="zh-CN" sz="2400" dirty="0" err="1"/>
              <a:t>y1</a:t>
            </a:r>
            <a:r>
              <a:rPr lang="zh-CN" altLang="en-US" sz="2400" dirty="0"/>
              <a:t>，然后把</a:t>
            </a:r>
            <a:r>
              <a:rPr lang="en-US" altLang="zh-CN" sz="2400" dirty="0" err="1"/>
              <a:t>x3</a:t>
            </a:r>
            <a:r>
              <a:rPr lang="zh-CN" altLang="en-US" sz="2400" dirty="0"/>
              <a:t>和</a:t>
            </a:r>
            <a:r>
              <a:rPr lang="en-US" altLang="zh-CN" sz="2400" dirty="0" err="1"/>
              <a:t>x4</a:t>
            </a:r>
            <a:r>
              <a:rPr lang="zh-CN" altLang="en-US" sz="2400" dirty="0"/>
              <a:t>归并成</a:t>
            </a:r>
            <a:r>
              <a:rPr lang="en-US" altLang="zh-CN" sz="2400" dirty="0" err="1"/>
              <a:t>y2</a:t>
            </a:r>
            <a:r>
              <a:rPr lang="zh-CN" altLang="en-US" sz="2400" dirty="0"/>
              <a:t>，最后归并</a:t>
            </a:r>
            <a:r>
              <a:rPr lang="en-US" altLang="zh-CN" sz="2400" dirty="0" err="1"/>
              <a:t>y1</a:t>
            </a:r>
            <a:r>
              <a:rPr lang="zh-CN" altLang="en-US" sz="2400" dirty="0"/>
              <a:t>和</a:t>
            </a:r>
            <a:r>
              <a:rPr lang="en-US" altLang="zh-CN" sz="2400" dirty="0" err="1"/>
              <a:t>y2</a:t>
            </a:r>
            <a:r>
              <a:rPr lang="zh-CN" altLang="en-US" sz="2400" dirty="0"/>
              <a:t>而得到想要的分类文件。</a:t>
            </a:r>
            <a:endParaRPr lang="en-US" altLang="zh-CN" sz="2400" dirty="0"/>
          </a:p>
          <a:p>
            <a:endParaRPr lang="en-US" altLang="zh-CN"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2403"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5.3.2</a:t>
            </a:r>
            <a:r>
              <a:rPr lang="zh-CN" altLang="en-US" dirty="0"/>
              <a:t>最优归并模式问题</a:t>
            </a:r>
            <a:r>
              <a:rPr lang="en-US" altLang="zh-CN" dirty="0"/>
              <a:t>——</a:t>
            </a:r>
            <a:r>
              <a:rPr lang="zh-CN" altLang="en-US" dirty="0"/>
              <a:t>问题描述</a:t>
            </a:r>
            <a:endParaRPr lang="en-US" altLang="zh-CN" dirty="0"/>
          </a:p>
        </p:txBody>
      </p:sp>
      <p:sp>
        <p:nvSpPr>
          <p:cNvPr id="8"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sz="2800" dirty="0">
                <a:solidFill>
                  <a:srgbClr val="FF0000"/>
                </a:solidFill>
              </a:rPr>
              <a:t>问题描述： </a:t>
            </a:r>
            <a:r>
              <a:rPr lang="zh-CN" altLang="en-US" sz="2800" dirty="0"/>
              <a:t>给出</a:t>
            </a:r>
            <a:r>
              <a:rPr lang="en-US" altLang="zh-CN" sz="2800" dirty="0"/>
              <a:t>n</a:t>
            </a:r>
            <a:r>
              <a:rPr lang="zh-CN" altLang="en-US" sz="2800" dirty="0"/>
              <a:t>个文件，则有许多种把这些文件成对地归并成一个单一分类文件的方法。不同的配对法要求不同的计算时间。现在所要论及的问题是确定一个把</a:t>
            </a:r>
            <a:r>
              <a:rPr lang="en-US" altLang="zh-CN" sz="2800" dirty="0"/>
              <a:t>n</a:t>
            </a:r>
            <a:r>
              <a:rPr lang="zh-CN" altLang="en-US" sz="2800" dirty="0"/>
              <a:t>个已分类文件归并在一起的最优方法</a:t>
            </a:r>
            <a:r>
              <a:rPr lang="en-US" altLang="zh-CN" sz="2800" dirty="0"/>
              <a:t>(</a:t>
            </a:r>
            <a:r>
              <a:rPr lang="zh-CN" altLang="en-US" sz="2800" dirty="0"/>
              <a:t>即需要最少比较的方法</a:t>
            </a:r>
            <a:r>
              <a:rPr lang="en-US" altLang="zh-CN" sz="2800" dirty="0"/>
              <a:t>)</a:t>
            </a:r>
            <a:r>
              <a:rPr lang="zh-CN" altLang="en-US" sz="2800" dirty="0"/>
              <a:t>。</a:t>
            </a: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928688" y="457200"/>
            <a:ext cx="7758112" cy="762000"/>
          </a:xfrm>
        </p:spPr>
        <p:txBody>
          <a:bodyPr/>
          <a:lstStyle/>
          <a:p>
            <a:r>
              <a:rPr lang="zh-CN" altLang="en-US" dirty="0"/>
              <a:t>赫夫曼树及其应用</a:t>
            </a:r>
            <a:endParaRPr lang="zh-CN" altLang="en-US" dirty="0"/>
          </a:p>
        </p:txBody>
      </p:sp>
      <p:sp>
        <p:nvSpPr>
          <p:cNvPr id="25604" name="Rectangle 3"/>
          <p:cNvSpPr>
            <a:spLocks noGrp="1" noChangeArrowheads="1"/>
          </p:cNvSpPr>
          <p:nvPr>
            <p:ph type="body" sz="half" idx="1"/>
          </p:nvPr>
        </p:nvSpPr>
        <p:spPr>
          <a:xfrm>
            <a:off x="457200" y="1304925"/>
            <a:ext cx="7881938" cy="4562475"/>
          </a:xfrm>
        </p:spPr>
        <p:txBody>
          <a:bodyPr/>
          <a:lstStyle/>
          <a:p>
            <a:pPr>
              <a:lnSpc>
                <a:spcPct val="90000"/>
              </a:lnSpc>
            </a:pPr>
            <a:r>
              <a:rPr lang="zh-CN" altLang="en-US" sz="2400">
                <a:solidFill>
                  <a:srgbClr val="FF0000"/>
                </a:solidFill>
              </a:rPr>
              <a:t>赫夫曼树</a:t>
            </a:r>
            <a:r>
              <a:rPr lang="zh-CN" altLang="en-US" sz="2400"/>
              <a:t>：带权路径长度最短的树称为赫夫曼树或最优树。</a:t>
            </a:r>
            <a:endParaRPr lang="zh-CN" altLang="en-US" sz="2400"/>
          </a:p>
          <a:p>
            <a:pPr>
              <a:lnSpc>
                <a:spcPct val="90000"/>
              </a:lnSpc>
            </a:pPr>
            <a:r>
              <a:rPr lang="zh-CN" altLang="en-US" sz="2400">
                <a:solidFill>
                  <a:srgbClr val="FF0000"/>
                </a:solidFill>
              </a:rPr>
              <a:t>路径</a:t>
            </a:r>
            <a:r>
              <a:rPr lang="zh-CN" altLang="en-US" sz="2400"/>
              <a:t>：树的根结点到其余结点的分支。 </a:t>
            </a:r>
            <a:endParaRPr lang="zh-CN" altLang="en-US" sz="2400"/>
          </a:p>
          <a:p>
            <a:pPr>
              <a:lnSpc>
                <a:spcPct val="90000"/>
              </a:lnSpc>
            </a:pPr>
            <a:r>
              <a:rPr lang="zh-CN" altLang="en-US" sz="2400">
                <a:solidFill>
                  <a:srgbClr val="FF0000"/>
                </a:solidFill>
              </a:rPr>
              <a:t>结点的路径长度</a:t>
            </a:r>
            <a:r>
              <a:rPr lang="zh-CN" altLang="en-US" sz="2400"/>
              <a:t>：从根结点到该结点的路径上分支的数目。</a:t>
            </a:r>
            <a:endParaRPr lang="zh-CN" altLang="en-US" sz="2400"/>
          </a:p>
          <a:p>
            <a:pPr>
              <a:lnSpc>
                <a:spcPct val="90000"/>
              </a:lnSpc>
            </a:pPr>
            <a:r>
              <a:rPr lang="zh-CN" altLang="en-US" sz="2400">
                <a:solidFill>
                  <a:srgbClr val="FF0000"/>
                </a:solidFill>
              </a:rPr>
              <a:t>结点的带权路径长度</a:t>
            </a:r>
            <a:r>
              <a:rPr lang="zh-CN" altLang="en-US" sz="2400"/>
              <a:t>：从树根到该结点之间的路径长度与该结点上所带权值的乘积。</a:t>
            </a:r>
            <a:endParaRPr lang="zh-CN" altLang="en-US" sz="2400"/>
          </a:p>
          <a:p>
            <a:pPr>
              <a:lnSpc>
                <a:spcPct val="90000"/>
              </a:lnSpc>
            </a:pPr>
            <a:r>
              <a:rPr lang="zh-CN" altLang="en-US" sz="2400">
                <a:solidFill>
                  <a:srgbClr val="FF0000"/>
                </a:solidFill>
              </a:rPr>
              <a:t>树的带权路径长度</a:t>
            </a:r>
            <a:r>
              <a:rPr lang="zh-CN" altLang="en-US" sz="2400"/>
              <a:t>：树中所有叶子结点的带权路径长度之和。</a:t>
            </a:r>
            <a:endParaRPr lang="zh-CN" altLang="en-US" sz="2400"/>
          </a:p>
          <a:p>
            <a:pPr>
              <a:lnSpc>
                <a:spcPct val="90000"/>
              </a:lnSpc>
            </a:pPr>
            <a:endParaRPr lang="zh-CN" altLang="en-US" sz="2400"/>
          </a:p>
          <a:p>
            <a:pPr>
              <a:lnSpc>
                <a:spcPct val="90000"/>
              </a:lnSpc>
            </a:pPr>
            <a:r>
              <a:rPr lang="zh-CN" altLang="en-US" sz="2400"/>
              <a:t>在所有含</a:t>
            </a:r>
            <a:r>
              <a:rPr lang="en-US" altLang="zh-CN" sz="2400" i="1"/>
              <a:t>n</a:t>
            </a:r>
            <a:r>
              <a:rPr lang="zh-CN" altLang="en-US" sz="2400"/>
              <a:t>个叶子结点、并带相同权值的</a:t>
            </a:r>
            <a:r>
              <a:rPr lang="en-US" altLang="zh-CN" sz="2400"/>
              <a:t>m</a:t>
            </a:r>
            <a:r>
              <a:rPr lang="zh-CN" altLang="en-US" sz="2400"/>
              <a:t>叉树中，必存在一棵其带权路径长度取最小值的树，称为“</a:t>
            </a:r>
            <a:r>
              <a:rPr lang="zh-CN" altLang="en-US" sz="2400">
                <a:solidFill>
                  <a:srgbClr val="FF0000"/>
                </a:solidFill>
              </a:rPr>
              <a:t>最优树</a:t>
            </a:r>
            <a:r>
              <a:rPr lang="zh-CN" altLang="en-US" sz="2400"/>
              <a:t>”</a:t>
            </a:r>
            <a:endParaRPr lang="zh-CN" altLang="en-US" sz="2400"/>
          </a:p>
        </p:txBody>
      </p:sp>
      <p:graphicFrame>
        <p:nvGraphicFramePr>
          <p:cNvPr id="25602" name="Object 2"/>
          <p:cNvGraphicFramePr>
            <a:graphicFrameLocks noGrp="1" noChangeAspect="1"/>
          </p:cNvGraphicFramePr>
          <p:nvPr>
            <p:ph sz="half" idx="2"/>
          </p:nvPr>
        </p:nvGraphicFramePr>
        <p:xfrm>
          <a:off x="2830513" y="4318000"/>
          <a:ext cx="2066925" cy="776288"/>
        </p:xfrm>
        <a:graphic>
          <a:graphicData uri="http://schemas.openxmlformats.org/presentationml/2006/ole">
            <mc:AlternateContent xmlns:mc="http://schemas.openxmlformats.org/markup-compatibility/2006">
              <mc:Choice xmlns:v="urn:schemas-microsoft-com:vml" Requires="v">
                <p:oleObj spid="_x0000_s7194" name="公式" r:id="rId1" imgW="914400" imgH="431800" progId="Equation.3">
                  <p:embed/>
                </p:oleObj>
              </mc:Choice>
              <mc:Fallback>
                <p:oleObj name="公式" r:id="rId1" imgW="9144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4318000"/>
                        <a:ext cx="2066925" cy="776288"/>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Algorithms Design Techniques and Analysis</a:t>
            </a:r>
            <a:endParaRPr lang="en-US" altLang="zh-C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55"/>
          <p:cNvSpPr>
            <a:spLocks noGrp="1" noChangeArrowheads="1"/>
          </p:cNvSpPr>
          <p:nvPr>
            <p:ph type="title"/>
          </p:nvPr>
        </p:nvSpPr>
        <p:spPr/>
        <p:txBody>
          <a:bodyPr/>
          <a:lstStyle/>
          <a:p>
            <a:endParaRPr lang="zh-CN" altLang="zh-CN"/>
          </a:p>
        </p:txBody>
      </p:sp>
      <p:graphicFrame>
        <p:nvGraphicFramePr>
          <p:cNvPr id="26626" name="Object 2"/>
          <p:cNvGraphicFramePr>
            <a:graphicFrameLocks noGrp="1" noChangeAspect="1"/>
          </p:cNvGraphicFramePr>
          <p:nvPr>
            <p:ph sz="half" idx="1"/>
          </p:nvPr>
        </p:nvGraphicFramePr>
        <p:xfrm>
          <a:off x="792163" y="471488"/>
          <a:ext cx="7305675" cy="4352925"/>
        </p:xfrm>
        <a:graphic>
          <a:graphicData uri="http://schemas.openxmlformats.org/presentationml/2006/ole">
            <mc:AlternateContent xmlns:mc="http://schemas.openxmlformats.org/markup-compatibility/2006">
              <mc:Choice xmlns:v="urn:schemas-microsoft-com:vml" Requires="v">
                <p:oleObj spid="_x0000_s8242" name="位图图像" r:id="rId1" imgW="2466975" imgH="1800225" progId="PBrush">
                  <p:embed/>
                </p:oleObj>
              </mc:Choice>
              <mc:Fallback>
                <p:oleObj name="位图图像" r:id="rId1" imgW="2466975" imgH="1800225" progId="PBrush">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163" y="471488"/>
                        <a:ext cx="7305675"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4742" name="Object 3"/>
          <p:cNvGraphicFramePr>
            <a:graphicFrameLocks noGrp="1" noChangeAspect="1"/>
          </p:cNvGraphicFramePr>
          <p:nvPr>
            <p:ph sz="half" idx="2"/>
          </p:nvPr>
        </p:nvGraphicFramePr>
        <p:xfrm>
          <a:off x="1103313" y="4883150"/>
          <a:ext cx="6530975" cy="1327150"/>
        </p:xfrm>
        <a:graphic>
          <a:graphicData uri="http://schemas.openxmlformats.org/presentationml/2006/ole">
            <mc:AlternateContent xmlns:mc="http://schemas.openxmlformats.org/markup-compatibility/2006">
              <mc:Choice xmlns:v="urn:schemas-microsoft-com:vml" Requires="v">
                <p:oleObj spid="_x0000_s8243" name="位图图像" r:id="rId3" imgW="3390900" imgH="571500" progId="PBrush">
                  <p:embed/>
                </p:oleObj>
              </mc:Choice>
              <mc:Fallback>
                <p:oleObj name="位图图像" r:id="rId3" imgW="3390900" imgH="571500" progId="PBrus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4883150"/>
                        <a:ext cx="6530975"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9"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Algorithms Design Techniques and Analysis</a:t>
            </a: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74742"/>
                                        </p:tgtEl>
                                        <p:attrNameLst>
                                          <p:attrName>style.visibility</p:attrName>
                                        </p:attrNameLst>
                                      </p:cBhvr>
                                      <p:to>
                                        <p:strVal val="visible"/>
                                      </p:to>
                                    </p:set>
                                    <p:anim calcmode="lin" valueType="num">
                                      <p:cBhvr additive="base">
                                        <p:cTn id="7" dur="500" fill="hold"/>
                                        <p:tgtEl>
                                          <p:spTgt spid="2674742"/>
                                        </p:tgtEl>
                                        <p:attrNameLst>
                                          <p:attrName>ppt_x</p:attrName>
                                        </p:attrNameLst>
                                      </p:cBhvr>
                                      <p:tavLst>
                                        <p:tav tm="0">
                                          <p:val>
                                            <p:strVal val="#ppt_x"/>
                                          </p:val>
                                        </p:tav>
                                        <p:tav tm="100000">
                                          <p:val>
                                            <p:strVal val="#ppt_x"/>
                                          </p:val>
                                        </p:tav>
                                      </p:tavLst>
                                    </p:anim>
                                    <p:anim calcmode="lin" valueType="num">
                                      <p:cBhvr additive="base">
                                        <p:cTn id="8" dur="500" fill="hold"/>
                                        <p:tgtEl>
                                          <p:spTgt spid="26747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857250" y="457200"/>
            <a:ext cx="7829550" cy="762000"/>
          </a:xfrm>
        </p:spPr>
        <p:txBody>
          <a:bodyPr/>
          <a:lstStyle/>
          <a:p>
            <a:r>
              <a:rPr lang="zh-CN" altLang="en-US"/>
              <a:t>赫夫曼树的构造</a:t>
            </a:r>
            <a:endParaRPr lang="zh-CN" altLang="en-US"/>
          </a:p>
        </p:txBody>
      </p:sp>
      <p:sp>
        <p:nvSpPr>
          <p:cNvPr id="87043" name="Rectangle 3"/>
          <p:cNvSpPr>
            <a:spLocks noGrp="1" noChangeArrowheads="1"/>
          </p:cNvSpPr>
          <p:nvPr>
            <p:ph type="body" sz="half" idx="1"/>
          </p:nvPr>
        </p:nvSpPr>
        <p:spPr>
          <a:xfrm>
            <a:off x="457200" y="1304925"/>
            <a:ext cx="7881938" cy="4562475"/>
          </a:xfrm>
        </p:spPr>
        <p:txBody>
          <a:bodyPr/>
          <a:lstStyle/>
          <a:p>
            <a:pPr>
              <a:buFont typeface="Wingdings" panose="05000000000000000000" pitchFamily="2" charset="2"/>
              <a:buNone/>
            </a:pPr>
            <a:r>
              <a:rPr lang="en-US" altLang="zh-CN" sz="2400"/>
              <a:t>(1) </a:t>
            </a:r>
            <a:r>
              <a:rPr lang="zh-CN" altLang="en-US" sz="2400"/>
              <a:t>根据给定的</a:t>
            </a:r>
            <a:r>
              <a:rPr lang="en-US" altLang="zh-CN" sz="2400" i="1"/>
              <a:t>n</a:t>
            </a:r>
            <a:r>
              <a:rPr lang="zh-CN" altLang="en-US" sz="2400"/>
              <a:t>个权值</a:t>
            </a:r>
            <a:r>
              <a:rPr lang="en-US" altLang="zh-CN" sz="2400"/>
              <a:t>{</a:t>
            </a:r>
            <a:r>
              <a:rPr lang="en-US" altLang="zh-CN" sz="2400" i="1"/>
              <a:t>w1, w2, …, wn</a:t>
            </a:r>
            <a:r>
              <a:rPr lang="en-US" altLang="zh-CN" sz="2400"/>
              <a:t>}</a:t>
            </a:r>
            <a:r>
              <a:rPr lang="zh-CN" altLang="en-US" sz="2400"/>
              <a:t>，构造</a:t>
            </a:r>
            <a:r>
              <a:rPr lang="en-US" altLang="zh-CN" sz="2400" i="1"/>
              <a:t>n</a:t>
            </a:r>
            <a:r>
              <a:rPr lang="zh-CN" altLang="en-US" sz="2400"/>
              <a:t>棵二叉树的集合</a:t>
            </a:r>
            <a:r>
              <a:rPr lang="en-US" altLang="zh-CN" sz="2400" i="1"/>
              <a:t>F</a:t>
            </a:r>
            <a:r>
              <a:rPr lang="en-US" altLang="zh-CN" sz="2400"/>
              <a:t> = {T1, T2, …, Tn}</a:t>
            </a:r>
            <a:r>
              <a:rPr lang="zh-CN" altLang="en-US" sz="2400"/>
              <a:t>，其中每棵二叉树中均只含一个带权值为</a:t>
            </a:r>
            <a:r>
              <a:rPr lang="en-US" altLang="zh-CN" sz="2400" i="1"/>
              <a:t>wi</a:t>
            </a:r>
            <a:r>
              <a:rPr lang="zh-CN" altLang="en-US" sz="2400"/>
              <a:t>的根结点</a:t>
            </a:r>
            <a:r>
              <a:rPr lang="en-US" altLang="zh-CN" sz="2400"/>
              <a:t>,</a:t>
            </a:r>
            <a:r>
              <a:rPr lang="zh-CN" altLang="en-US" sz="2400"/>
              <a:t>其左、右子树为空树</a:t>
            </a:r>
            <a:r>
              <a:rPr lang="en-US" altLang="zh-CN" sz="2400"/>
              <a:t>;</a:t>
            </a:r>
            <a:endParaRPr lang="en-US" altLang="zh-CN" sz="2400"/>
          </a:p>
          <a:p>
            <a:pPr>
              <a:buFont typeface="Wingdings" panose="05000000000000000000" pitchFamily="2" charset="2"/>
              <a:buNone/>
            </a:pPr>
            <a:r>
              <a:rPr lang="en-US" altLang="zh-CN" sz="2400"/>
              <a:t>(2) </a:t>
            </a:r>
            <a:r>
              <a:rPr lang="zh-CN" altLang="en-US" sz="2400"/>
              <a:t>在</a:t>
            </a:r>
            <a:r>
              <a:rPr lang="en-US" altLang="zh-CN" sz="2400" i="1"/>
              <a:t>F</a:t>
            </a:r>
            <a:r>
              <a:rPr lang="zh-CN" altLang="en-US" sz="2400"/>
              <a:t>中选取其根结点的权值为最小的两棵二叉树，分别作为左、右子树构造一棵新的二叉树，并置这棵新的二叉树根结点的权值为其左、右子树根结点的权值之和</a:t>
            </a:r>
            <a:r>
              <a:rPr lang="en-US" altLang="zh-CN" sz="2400"/>
              <a:t>;</a:t>
            </a:r>
            <a:r>
              <a:rPr lang="zh-CN" altLang="en-US" sz="2400"/>
              <a:t>（根结点的权值</a:t>
            </a:r>
            <a:r>
              <a:rPr lang="en-US" altLang="zh-CN" sz="2400"/>
              <a:t>=</a:t>
            </a:r>
            <a:r>
              <a:rPr lang="zh-CN" altLang="en-US" sz="2400"/>
              <a:t>左右孩子权值之和，叶结点的权值</a:t>
            </a:r>
            <a:r>
              <a:rPr lang="en-US" altLang="zh-CN" sz="2400"/>
              <a:t>= Wi)</a:t>
            </a:r>
            <a:r>
              <a:rPr lang="zh-CN" altLang="en-US" sz="2400"/>
              <a:t>。</a:t>
            </a:r>
            <a:endParaRPr lang="en-US" altLang="zh-CN" sz="2400"/>
          </a:p>
          <a:p>
            <a:pPr>
              <a:buFont typeface="Wingdings" panose="05000000000000000000" pitchFamily="2" charset="2"/>
              <a:buNone/>
            </a:pPr>
            <a:r>
              <a:rPr lang="en-US" altLang="zh-CN" sz="2400"/>
              <a:t>(3) </a:t>
            </a:r>
            <a:r>
              <a:rPr lang="zh-CN" altLang="en-US" sz="2400"/>
              <a:t>从</a:t>
            </a:r>
            <a:r>
              <a:rPr lang="en-US" altLang="zh-CN" sz="2400" i="1"/>
              <a:t>F</a:t>
            </a:r>
            <a:r>
              <a:rPr lang="zh-CN" altLang="en-US" sz="2400"/>
              <a:t>中删去这两棵树，同时加入刚生成的新树</a:t>
            </a:r>
            <a:r>
              <a:rPr lang="en-US" altLang="zh-CN" sz="2400"/>
              <a:t>;</a:t>
            </a:r>
            <a:endParaRPr lang="en-US" altLang="zh-CN" sz="2400"/>
          </a:p>
          <a:p>
            <a:pPr>
              <a:buFont typeface="Wingdings" panose="05000000000000000000" pitchFamily="2" charset="2"/>
              <a:buNone/>
            </a:pPr>
            <a:r>
              <a:rPr lang="en-US" altLang="zh-CN" sz="2400"/>
              <a:t>(4) </a:t>
            </a:r>
            <a:r>
              <a:rPr lang="zh-CN" altLang="en-US" sz="2400"/>
              <a:t>重复</a:t>
            </a:r>
            <a:r>
              <a:rPr lang="en-US" altLang="zh-CN" sz="2400"/>
              <a:t>(2)</a:t>
            </a:r>
            <a:r>
              <a:rPr lang="zh-CN" altLang="en-US" sz="2400"/>
              <a:t>和</a:t>
            </a:r>
            <a:r>
              <a:rPr lang="en-US" altLang="zh-CN" sz="2400"/>
              <a:t>(3)</a:t>
            </a:r>
            <a:r>
              <a:rPr lang="zh-CN" altLang="en-US" sz="2400"/>
              <a:t>两步，直至</a:t>
            </a:r>
            <a:r>
              <a:rPr lang="en-US" altLang="zh-CN" sz="2400" i="1"/>
              <a:t>F</a:t>
            </a:r>
            <a:r>
              <a:rPr lang="zh-CN" altLang="en-US" sz="2400"/>
              <a:t>中只含一棵树为止</a:t>
            </a:r>
            <a:r>
              <a:rPr lang="zh-CN" altLang="en-US" sz="2800" b="1">
                <a:latin typeface="仿宋_GB2312" pitchFamily="49" charset="-122"/>
                <a:ea typeface="仿宋_GB2312" pitchFamily="49" charset="-122"/>
              </a:rPr>
              <a:t>。</a:t>
            </a:r>
            <a:endParaRPr lang="zh-CN" altLang="en-US" sz="2800" b="1">
              <a:latin typeface="仿宋_GB2312" pitchFamily="49" charset="-122"/>
              <a:ea typeface="仿宋_GB2312" pitchFamily="49" charset="-122"/>
            </a:endParaRPr>
          </a:p>
        </p:txBody>
      </p:sp>
      <p:sp>
        <p:nvSpPr>
          <p:cNvPr id="87044"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Algorithms Design Techniques and Analysis</a:t>
            </a:r>
            <a:endParaRPr lang="en-US" altLang="zh-CN"/>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2403"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5.3.2</a:t>
            </a:r>
            <a:r>
              <a:rPr lang="zh-CN" altLang="en-US" dirty="0"/>
              <a:t>最优归并模式问题</a:t>
            </a:r>
            <a:r>
              <a:rPr lang="en-US" altLang="zh-CN" dirty="0"/>
              <a:t>——</a:t>
            </a:r>
            <a:r>
              <a:rPr lang="zh-CN" altLang="en-US" dirty="0"/>
              <a:t>最优度量标准</a:t>
            </a:r>
            <a:endParaRPr lang="en-US" altLang="zh-CN" dirty="0"/>
          </a:p>
        </p:txBody>
      </p:sp>
      <p:sp>
        <p:nvSpPr>
          <p:cNvPr id="8"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sz="2800" dirty="0"/>
              <a:t>最优归并模式：赫夫曼树</a:t>
            </a:r>
            <a:endParaRPr lang="en-US" altLang="zh-CN" sz="2800" dirty="0"/>
          </a:p>
          <a:p>
            <a:r>
              <a:rPr lang="zh-CN" altLang="en-US" sz="2800" dirty="0"/>
              <a:t>最优度量标准：带权路径长度最小</a:t>
            </a:r>
            <a:endParaRPr lang="zh-CN" altLang="en-US"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2403"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5.3.2</a:t>
            </a:r>
            <a:r>
              <a:rPr lang="zh-CN" altLang="en-US" dirty="0"/>
              <a:t>最优归并模式问题</a:t>
            </a:r>
            <a:r>
              <a:rPr lang="en-US" altLang="zh-CN" dirty="0"/>
              <a:t>——</a:t>
            </a:r>
            <a:r>
              <a:rPr lang="zh-CN" altLang="en-US" dirty="0"/>
              <a:t>例子</a:t>
            </a:r>
            <a:endParaRPr lang="en-US" altLang="zh-CN" dirty="0"/>
          </a:p>
        </p:txBody>
      </p:sp>
      <p:sp>
        <p:nvSpPr>
          <p:cNvPr id="8" name="Rectangle 3"/>
          <p:cNvSpPr>
            <a:spLocks noGrp="1"/>
          </p:cNvSpPr>
          <p:nvPr>
            <p:ph type="body" sz="half" idx="1"/>
          </p:nvPr>
        </p:nvSpPr>
        <p:spPr>
          <a:xfrm>
            <a:off x="817563" y="1239838"/>
            <a:ext cx="8218487" cy="1164729"/>
          </a:xfrm>
        </p:spPr>
        <p:txBody>
          <a:bodyPr vert="horz" wrap="square" lIns="91440" tIns="45720" rIns="91440" bIns="45720" anchor="t" anchorCtr="0"/>
          <a:lstStyle/>
          <a:p>
            <a:r>
              <a:rPr lang="zh-CN" altLang="en-US" sz="2800" dirty="0"/>
              <a:t>例：将</a:t>
            </a:r>
            <a:r>
              <a:rPr lang="en-US" altLang="zh-CN" sz="2800" dirty="0"/>
              <a:t>5</a:t>
            </a:r>
            <a:r>
              <a:rPr lang="zh-CN" altLang="en-US" sz="2800" dirty="0"/>
              <a:t>个长度分别为</a:t>
            </a:r>
            <a:r>
              <a:rPr lang="en-US" altLang="zh-CN" sz="2800" dirty="0"/>
              <a:t>{20</a:t>
            </a:r>
            <a:r>
              <a:rPr lang="zh-CN" altLang="en-US" sz="2800" dirty="0"/>
              <a:t>，</a:t>
            </a:r>
            <a:r>
              <a:rPr lang="en-US" altLang="zh-CN" sz="2800" dirty="0"/>
              <a:t>30</a:t>
            </a:r>
            <a:r>
              <a:rPr lang="zh-CN" altLang="en-US" sz="2800" dirty="0"/>
              <a:t>，</a:t>
            </a:r>
            <a:r>
              <a:rPr lang="en-US" altLang="zh-CN" sz="2800" dirty="0"/>
              <a:t>30</a:t>
            </a:r>
            <a:r>
              <a:rPr lang="zh-CN" altLang="en-US" sz="2800" dirty="0"/>
              <a:t>，</a:t>
            </a:r>
            <a:r>
              <a:rPr lang="en-US" altLang="zh-CN" sz="2800" dirty="0"/>
              <a:t>10</a:t>
            </a:r>
            <a:r>
              <a:rPr lang="zh-CN" altLang="en-US" sz="2800" dirty="0"/>
              <a:t>，</a:t>
            </a:r>
            <a:r>
              <a:rPr lang="en-US" altLang="zh-CN" sz="2800" dirty="0"/>
              <a:t>5}</a:t>
            </a:r>
            <a:r>
              <a:rPr lang="zh-CN" altLang="en-US" sz="2800" dirty="0"/>
              <a:t>的有序文件（</a:t>
            </a:r>
            <a:r>
              <a:rPr lang="en-US" altLang="zh-CN" sz="2800" dirty="0" err="1"/>
              <a:t>F1</a:t>
            </a:r>
            <a:r>
              <a:rPr lang="en-US" altLang="zh-CN" sz="2800" dirty="0"/>
              <a:t>, </a:t>
            </a:r>
            <a:r>
              <a:rPr lang="en-US" altLang="zh-CN" sz="2800" dirty="0" err="1"/>
              <a:t>F2</a:t>
            </a:r>
            <a:r>
              <a:rPr lang="en-US" altLang="zh-CN" sz="2800" dirty="0"/>
              <a:t>, </a:t>
            </a:r>
            <a:r>
              <a:rPr lang="en-US" altLang="zh-CN" sz="2800" dirty="0" err="1"/>
              <a:t>F3</a:t>
            </a:r>
            <a:r>
              <a:rPr lang="en-US" altLang="zh-CN" sz="2800" dirty="0"/>
              <a:t>, </a:t>
            </a:r>
            <a:r>
              <a:rPr lang="en-US" altLang="zh-CN" sz="2800" dirty="0" err="1"/>
              <a:t>F4</a:t>
            </a:r>
            <a:r>
              <a:rPr lang="en-US" altLang="zh-CN" sz="2800" dirty="0"/>
              <a:t>, </a:t>
            </a:r>
            <a:r>
              <a:rPr lang="en-US" altLang="zh-CN" sz="2800" dirty="0" err="1"/>
              <a:t>F5</a:t>
            </a:r>
            <a:r>
              <a:rPr lang="zh-CN" altLang="en-US" sz="2800" dirty="0"/>
              <a:t>）</a:t>
            </a:r>
            <a:r>
              <a:rPr lang="en-US" altLang="zh-CN" sz="2800" dirty="0"/>
              <a:t> </a:t>
            </a:r>
            <a:r>
              <a:rPr lang="zh-CN" altLang="en-US" sz="2800" dirty="0"/>
              <a:t>两两合并成一个有序文件。</a:t>
            </a:r>
            <a:endParaRPr lang="en-US" altLang="zh-CN" sz="2800" dirty="0"/>
          </a:p>
          <a:p>
            <a:endParaRPr lang="en-US" altLang="zh-CN" sz="2800" dirty="0"/>
          </a:p>
          <a:p>
            <a:endParaRPr lang="en-US" altLang="zh-CN" sz="2800" dirty="0"/>
          </a:p>
          <a:p>
            <a:endParaRPr lang="en-US" altLang="zh-CN" sz="2800" dirty="0"/>
          </a:p>
          <a:p>
            <a:pPr marL="0" indent="0">
              <a:buNone/>
            </a:pPr>
            <a:endParaRPr lang="en-US" altLang="zh-CN" sz="2800" dirty="0"/>
          </a:p>
        </p:txBody>
      </p:sp>
      <p:sp>
        <p:nvSpPr>
          <p:cNvPr id="5" name="页脚占位符 4"/>
          <p:cNvSpPr txBox="1"/>
          <p:nvPr/>
        </p:nvSpPr>
        <p:spPr bwMode="auto">
          <a:xfrm>
            <a:off x="3996010" y="6093916"/>
            <a:ext cx="3816350" cy="4318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lvl="0" indent="0" algn="ctr" defTabSz="914400" rtl="0" eaLnBrk="1" fontAlgn="base" latinLnBrk="0" hangingPunct="1">
              <a:lnSpc>
                <a:spcPct val="100000"/>
              </a:lnSpc>
              <a:spcBef>
                <a:spcPct val="0"/>
              </a:spcBef>
              <a:spcAft>
                <a:spcPct val="0"/>
              </a:spcAft>
              <a:buNone/>
              <a:defRPr sz="1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宋体" panose="02010600030101010101" pitchFamily="2" charset="-122"/>
                <a:cs typeface="+mn-cs"/>
              </a:defRPr>
            </a:lvl9pPr>
          </a:lstStyle>
          <a:p>
            <a:r>
              <a:rPr lang="en-US" altLang="zh-CN"/>
              <a:t>Algorithms Design Techniques and Analysis</a:t>
            </a:r>
            <a:endParaRPr lang="en-US" altLang="zh-CN" dirty="0"/>
          </a:p>
        </p:txBody>
      </p:sp>
      <p:pic>
        <p:nvPicPr>
          <p:cNvPr id="3" name="图片 2"/>
          <p:cNvPicPr>
            <a:picLocks noChangeAspect="1"/>
          </p:cNvPicPr>
          <p:nvPr/>
        </p:nvPicPr>
        <p:blipFill>
          <a:blip r:embed="rId1"/>
          <a:stretch>
            <a:fillRect/>
          </a:stretch>
        </p:blipFill>
        <p:spPr>
          <a:xfrm>
            <a:off x="2267744" y="2430610"/>
            <a:ext cx="4822038" cy="335403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4451"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5.3.3</a:t>
            </a:r>
            <a:r>
              <a:rPr lang="zh-CN" altLang="en-US" dirty="0"/>
              <a:t>多段图问题</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buClrTx/>
              <a:buSzTx/>
              <a:buFontTx/>
              <a:buNone/>
            </a:pPr>
            <a:endParaRPr lang="en-US" altLang="zh-CN" sz="2100" dirty="0">
              <a:latin typeface="华文楷体" panose="02010600040101010101" pitchFamily="2" charset="-122"/>
            </a:endParaRPr>
          </a:p>
          <a:p>
            <a:pPr eaLnBrk="1" hangingPunct="1">
              <a:lnSpc>
                <a:spcPct val="90000"/>
              </a:lnSpc>
            </a:pPr>
            <a:endParaRPr lang="en-US" altLang="zh-CN" sz="2100" dirty="0">
              <a:latin typeface="华文楷体" panose="02010600040101010101" pitchFamily="2" charset="-122"/>
            </a:endParaRPr>
          </a:p>
          <a:p>
            <a:pPr eaLnBrk="1" hangingPunct="1">
              <a:lnSpc>
                <a:spcPct val="90000"/>
              </a:lnSpc>
            </a:pPr>
            <a:r>
              <a:rPr lang="zh-CN" altLang="en-US" sz="2100" dirty="0">
                <a:latin typeface="华文楷体" panose="02010600040101010101" pitchFamily="2" charset="-122"/>
              </a:rPr>
              <a:t>按照贪心算法的思路解决问题可以得到：</a:t>
            </a:r>
            <a:r>
              <a:rPr lang="en-US" altLang="zh-CN" sz="2100" dirty="0" err="1">
                <a:latin typeface="华文楷体" panose="02010600040101010101" pitchFamily="2" charset="-122"/>
              </a:rPr>
              <a:t>v1</a:t>
            </a:r>
            <a:r>
              <a:rPr lang="zh-CN" altLang="en-US" sz="2100" dirty="0">
                <a:latin typeface="华文楷体" panose="02010600040101010101" pitchFamily="2" charset="-122"/>
              </a:rPr>
              <a:t>到</a:t>
            </a:r>
            <a:r>
              <a:rPr lang="en-US" altLang="zh-CN" sz="2100" dirty="0" err="1">
                <a:latin typeface="华文楷体" panose="02010600040101010101" pitchFamily="2" charset="-122"/>
              </a:rPr>
              <a:t>v2</a:t>
            </a:r>
            <a:r>
              <a:rPr lang="zh-CN" altLang="en-US" sz="2100" dirty="0">
                <a:latin typeface="华文楷体" panose="02010600040101010101" pitchFamily="2" charset="-122"/>
              </a:rPr>
              <a:t>：</a:t>
            </a:r>
            <a:r>
              <a:rPr lang="en-US" altLang="zh-CN" sz="2100" dirty="0">
                <a:latin typeface="华文楷体" panose="02010600040101010101" pitchFamily="2" charset="-122"/>
              </a:rPr>
              <a:t>1</a:t>
            </a:r>
            <a:r>
              <a:rPr lang="zh-CN" altLang="en-US" sz="2100" dirty="0">
                <a:latin typeface="华文楷体" panose="02010600040101010101" pitchFamily="2" charset="-122"/>
              </a:rPr>
              <a:t>到</a:t>
            </a:r>
            <a:r>
              <a:rPr lang="en-US" altLang="zh-CN" sz="2100" dirty="0">
                <a:latin typeface="华文楷体" panose="02010600040101010101" pitchFamily="2" charset="-122"/>
              </a:rPr>
              <a:t>2</a:t>
            </a:r>
            <a:r>
              <a:rPr lang="zh-CN" altLang="en-US" sz="2100" dirty="0">
                <a:latin typeface="华文楷体" panose="02010600040101010101" pitchFamily="2" charset="-122"/>
              </a:rPr>
              <a:t>最短，所以选择</a:t>
            </a:r>
            <a:r>
              <a:rPr lang="en-US" altLang="zh-CN" sz="2100" dirty="0">
                <a:latin typeface="华文楷体" panose="02010600040101010101" pitchFamily="2" charset="-122"/>
              </a:rPr>
              <a:t>2</a:t>
            </a:r>
            <a:r>
              <a:rPr lang="zh-CN" altLang="en-US" sz="2100" dirty="0">
                <a:latin typeface="华文楷体" panose="02010600040101010101" pitchFamily="2" charset="-122"/>
              </a:rPr>
              <a:t>，总长</a:t>
            </a:r>
            <a:r>
              <a:rPr lang="en-US" altLang="zh-CN" sz="2100" dirty="0">
                <a:latin typeface="华文楷体" panose="02010600040101010101" pitchFamily="2" charset="-122"/>
              </a:rPr>
              <a:t>s</a:t>
            </a:r>
            <a:r>
              <a:rPr lang="zh-CN" altLang="en-US" sz="2100" dirty="0">
                <a:latin typeface="华文楷体" panose="02010600040101010101" pitchFamily="2" charset="-122"/>
              </a:rPr>
              <a:t>为</a:t>
            </a:r>
            <a:r>
              <a:rPr lang="en-US" altLang="zh-CN" sz="2100" dirty="0">
                <a:latin typeface="华文楷体" panose="02010600040101010101" pitchFamily="2" charset="-122"/>
              </a:rPr>
              <a:t>2</a:t>
            </a:r>
            <a:r>
              <a:rPr lang="zh-CN" altLang="en-US" sz="2100" dirty="0">
                <a:latin typeface="华文楷体" panose="02010600040101010101" pitchFamily="2" charset="-122"/>
              </a:rPr>
              <a:t>。</a:t>
            </a:r>
            <a:r>
              <a:rPr lang="en-US" altLang="zh-CN" sz="2100" dirty="0" err="1">
                <a:latin typeface="华文楷体" panose="02010600040101010101" pitchFamily="2" charset="-122"/>
              </a:rPr>
              <a:t>v2</a:t>
            </a:r>
            <a:r>
              <a:rPr lang="zh-CN" altLang="en-US" sz="2100" dirty="0">
                <a:latin typeface="华文楷体" panose="02010600040101010101" pitchFamily="2" charset="-122"/>
              </a:rPr>
              <a:t>到</a:t>
            </a:r>
            <a:r>
              <a:rPr lang="en-US" altLang="zh-CN" sz="2100" dirty="0" err="1">
                <a:latin typeface="华文楷体" panose="02010600040101010101" pitchFamily="2" charset="-122"/>
              </a:rPr>
              <a:t>v3</a:t>
            </a:r>
            <a:r>
              <a:rPr lang="zh-CN" altLang="en-US" sz="2100" dirty="0">
                <a:latin typeface="华文楷体" panose="02010600040101010101" pitchFamily="2" charset="-122"/>
              </a:rPr>
              <a:t>：</a:t>
            </a:r>
            <a:r>
              <a:rPr lang="en-US" altLang="zh-CN" sz="2100" dirty="0">
                <a:latin typeface="华文楷体" panose="02010600040101010101" pitchFamily="2" charset="-122"/>
              </a:rPr>
              <a:t>2</a:t>
            </a:r>
            <a:r>
              <a:rPr lang="zh-CN" altLang="en-US" sz="2100" dirty="0">
                <a:latin typeface="华文楷体" panose="02010600040101010101" pitchFamily="2" charset="-122"/>
              </a:rPr>
              <a:t>到</a:t>
            </a:r>
            <a:r>
              <a:rPr lang="en-US" altLang="zh-CN" sz="2100" dirty="0">
                <a:latin typeface="华文楷体" panose="02010600040101010101" pitchFamily="2" charset="-122"/>
              </a:rPr>
              <a:t>5</a:t>
            </a:r>
            <a:r>
              <a:rPr lang="zh-CN" altLang="en-US" sz="2100" dirty="0">
                <a:latin typeface="华文楷体" panose="02010600040101010101" pitchFamily="2" charset="-122"/>
              </a:rPr>
              <a:t>最短，所以选择</a:t>
            </a:r>
            <a:r>
              <a:rPr lang="en-US" altLang="zh-CN" sz="2100" dirty="0">
                <a:latin typeface="华文楷体" panose="02010600040101010101" pitchFamily="2" charset="-122"/>
              </a:rPr>
              <a:t>5</a:t>
            </a:r>
            <a:r>
              <a:rPr lang="zh-CN" altLang="en-US" sz="2100" dirty="0">
                <a:latin typeface="华文楷体" panose="02010600040101010101" pitchFamily="2" charset="-122"/>
              </a:rPr>
              <a:t>，总长为</a:t>
            </a:r>
            <a:r>
              <a:rPr lang="en-US" altLang="zh-CN" sz="2100" dirty="0">
                <a:latin typeface="华文楷体" panose="02010600040101010101" pitchFamily="2" charset="-122"/>
              </a:rPr>
              <a:t>2+6=8</a:t>
            </a:r>
            <a:r>
              <a:rPr lang="zh-CN" altLang="en-US" sz="2100" dirty="0">
                <a:latin typeface="华文楷体" panose="02010600040101010101" pitchFamily="2" charset="-122"/>
              </a:rPr>
              <a:t>。</a:t>
            </a:r>
            <a:r>
              <a:rPr lang="en-US" altLang="zh-CN" sz="2100" dirty="0" err="1">
                <a:latin typeface="华文楷体" panose="02010600040101010101" pitchFamily="2" charset="-122"/>
              </a:rPr>
              <a:t>v3</a:t>
            </a:r>
            <a:r>
              <a:rPr lang="zh-CN" altLang="en-US" sz="2100" dirty="0">
                <a:latin typeface="华文楷体" panose="02010600040101010101" pitchFamily="2" charset="-122"/>
              </a:rPr>
              <a:t>到</a:t>
            </a:r>
            <a:r>
              <a:rPr lang="en-US" altLang="zh-CN" sz="2100" dirty="0" err="1">
                <a:latin typeface="华文楷体" panose="02010600040101010101" pitchFamily="2" charset="-122"/>
              </a:rPr>
              <a:t>v4</a:t>
            </a:r>
            <a:r>
              <a:rPr lang="zh-CN" altLang="en-US" sz="2100" dirty="0">
                <a:latin typeface="华文楷体" panose="02010600040101010101" pitchFamily="2" charset="-122"/>
              </a:rPr>
              <a:t>：</a:t>
            </a:r>
            <a:r>
              <a:rPr lang="en-US" altLang="zh-CN" sz="2100" dirty="0">
                <a:latin typeface="华文楷体" panose="02010600040101010101" pitchFamily="2" charset="-122"/>
              </a:rPr>
              <a:t>5</a:t>
            </a:r>
            <a:r>
              <a:rPr lang="zh-CN" altLang="en-US" sz="2100" dirty="0">
                <a:latin typeface="华文楷体" panose="02010600040101010101" pitchFamily="2" charset="-122"/>
              </a:rPr>
              <a:t>到</a:t>
            </a:r>
            <a:r>
              <a:rPr lang="en-US" altLang="zh-CN" sz="2100" dirty="0">
                <a:latin typeface="华文楷体" panose="02010600040101010101" pitchFamily="2" charset="-122"/>
              </a:rPr>
              <a:t>10</a:t>
            </a:r>
            <a:r>
              <a:rPr lang="zh-CN" altLang="en-US" sz="2100" dirty="0">
                <a:latin typeface="华文楷体" panose="02010600040101010101" pitchFamily="2" charset="-122"/>
              </a:rPr>
              <a:t>最短，所以选择</a:t>
            </a:r>
            <a:r>
              <a:rPr lang="en-US" altLang="zh-CN" sz="2100" dirty="0">
                <a:latin typeface="华文楷体" panose="02010600040101010101" pitchFamily="2" charset="-122"/>
              </a:rPr>
              <a:t>10</a:t>
            </a:r>
            <a:r>
              <a:rPr lang="zh-CN" altLang="en-US" sz="2100" dirty="0">
                <a:latin typeface="华文楷体" panose="02010600040101010101" pitchFamily="2" charset="-122"/>
              </a:rPr>
              <a:t>，总长为</a:t>
            </a:r>
            <a:r>
              <a:rPr lang="en-US" altLang="zh-CN" sz="2100" dirty="0">
                <a:latin typeface="华文楷体" panose="02010600040101010101" pitchFamily="2" charset="-122"/>
              </a:rPr>
              <a:t>8+6=14</a:t>
            </a:r>
            <a:r>
              <a:rPr lang="zh-CN" altLang="en-US" sz="2100" dirty="0">
                <a:latin typeface="华文楷体" panose="02010600040101010101" pitchFamily="2" charset="-122"/>
              </a:rPr>
              <a:t>。</a:t>
            </a:r>
            <a:r>
              <a:rPr lang="en-US" altLang="zh-CN" sz="2100" dirty="0" err="1">
                <a:latin typeface="华文楷体" panose="02010600040101010101" pitchFamily="2" charset="-122"/>
              </a:rPr>
              <a:t>v4</a:t>
            </a:r>
            <a:r>
              <a:rPr lang="zh-CN" altLang="en-US" sz="2100" dirty="0">
                <a:latin typeface="华文楷体" panose="02010600040101010101" pitchFamily="2" charset="-122"/>
              </a:rPr>
              <a:t>到</a:t>
            </a:r>
            <a:r>
              <a:rPr lang="en-US" altLang="zh-CN" sz="2100" dirty="0" err="1">
                <a:latin typeface="华文楷体" panose="02010600040101010101" pitchFamily="2" charset="-122"/>
              </a:rPr>
              <a:t>v5</a:t>
            </a:r>
            <a:r>
              <a:rPr lang="zh-CN" altLang="en-US" sz="2100" dirty="0">
                <a:latin typeface="华文楷体" panose="02010600040101010101" pitchFamily="2" charset="-122"/>
              </a:rPr>
              <a:t>：</a:t>
            </a:r>
            <a:r>
              <a:rPr lang="en-US" altLang="zh-CN" sz="2100" dirty="0">
                <a:latin typeface="华文楷体" panose="02010600040101010101" pitchFamily="2" charset="-122"/>
              </a:rPr>
              <a:t>10</a:t>
            </a:r>
            <a:r>
              <a:rPr lang="zh-CN" altLang="en-US" sz="2100" dirty="0">
                <a:latin typeface="华文楷体" panose="02010600040101010101" pitchFamily="2" charset="-122"/>
              </a:rPr>
              <a:t>到</a:t>
            </a:r>
            <a:r>
              <a:rPr lang="en-US" altLang="zh-CN" sz="2100" dirty="0">
                <a:latin typeface="华文楷体" panose="02010600040101010101" pitchFamily="2" charset="-122"/>
              </a:rPr>
              <a:t>11</a:t>
            </a:r>
            <a:r>
              <a:rPr lang="zh-CN" altLang="en-US" sz="2100" dirty="0">
                <a:latin typeface="华文楷体" panose="02010600040101010101" pitchFamily="2" charset="-122"/>
              </a:rPr>
              <a:t>，总长为</a:t>
            </a:r>
            <a:r>
              <a:rPr lang="en-US" altLang="zh-CN" sz="2100" dirty="0">
                <a:latin typeface="华文楷体" panose="02010600040101010101" pitchFamily="2" charset="-122"/>
              </a:rPr>
              <a:t>14+10=24</a:t>
            </a:r>
            <a:r>
              <a:rPr lang="zh-CN" altLang="en-US" sz="2100" dirty="0">
                <a:latin typeface="华文楷体" panose="02010600040101010101" pitchFamily="2" charset="-122"/>
              </a:rPr>
              <a:t>。所以最短路径为</a:t>
            </a:r>
            <a:r>
              <a:rPr lang="en-US" altLang="zh-CN" sz="2100" dirty="0">
                <a:latin typeface="华文楷体" panose="02010600040101010101" pitchFamily="2" charset="-122"/>
              </a:rPr>
              <a:t>1,2,5,10,11</a:t>
            </a:r>
            <a:r>
              <a:rPr lang="zh-CN" altLang="en-US" sz="2100" dirty="0">
                <a:latin typeface="华文楷体" panose="02010600040101010101" pitchFamily="2" charset="-122"/>
              </a:rPr>
              <a:t>但是这明显不是最短路径，所以通过贪心算法思路解决的话是错误的。</a:t>
            </a:r>
            <a:endParaRPr lang="zh-CN" altLang="en-US" sz="2100" dirty="0">
              <a:latin typeface="华文楷体" panose="02010600040101010101" pitchFamily="2" charset="-122"/>
            </a:endParaRPr>
          </a:p>
        </p:txBody>
      </p:sp>
      <p:pic>
        <p:nvPicPr>
          <p:cNvPr id="9218" name="Picture 2" descr="https://img-blog.csdn.net/2018081614501997?watermark/2/text/aHR0cHM6Ly9ibG9nLmNzZG4ubmV0L3dlaXhpbl80MTE5MTg0Ng==/font/5a6L5L2T/fontsize/400/fill/I0JBQkFCMA==/dissolve/7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5119" y="1275632"/>
            <a:ext cx="6193761" cy="29103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9" end="9"/>
                                            </p:txEl>
                                          </p:spTgt>
                                        </p:tgtEl>
                                        <p:attrNameLst>
                                          <p:attrName>style.visibility</p:attrName>
                                        </p:attrNameLst>
                                      </p:cBhvr>
                                      <p:to>
                                        <p:strVal val="visible"/>
                                      </p:to>
                                    </p:set>
                                    <p:animEffect transition="in" filter="blinds(horizontal)">
                                      <p:cBhvr>
                                        <p:cTn id="7" dur="5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问题描述</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pPr marL="0" indent="0">
              <a:buNone/>
            </a:pPr>
            <a:r>
              <a:rPr lang="zh-CN" altLang="en-US" sz="2800" dirty="0">
                <a:solidFill>
                  <a:srgbClr val="FF0000"/>
                </a:solidFill>
              </a:rPr>
              <a:t>问题描述： </a:t>
            </a:r>
            <a:endParaRPr lang="zh-CN" altLang="en-US" sz="2800" dirty="0">
              <a:solidFill>
                <a:srgbClr val="FF0000"/>
              </a:solidFill>
            </a:endParaRPr>
          </a:p>
          <a:p>
            <a:r>
              <a:rPr lang="zh-CN" altLang="en-US" dirty="0"/>
              <a:t>带有期限的作业排序要解决的是操作系统中单机、无资源约束且每个作业可在等量的时间内完成的作业调度问题。把这个问题形式化描述为： </a:t>
            </a:r>
            <a:endParaRPr lang="zh-CN" altLang="en-US" sz="2400" dirty="0"/>
          </a:p>
          <a:p>
            <a:r>
              <a:rPr lang="zh-CN" altLang="en-US" dirty="0"/>
              <a:t>①要在⼀台机器上处理</a:t>
            </a:r>
            <a:r>
              <a:rPr lang="en-US" altLang="zh-CN" dirty="0"/>
              <a:t>n</a:t>
            </a:r>
            <a:r>
              <a:rPr lang="zh-CN" altLang="en-US" dirty="0"/>
              <a:t>个作业，每个作业可以在单位时间内完成 ；</a:t>
            </a:r>
            <a:endParaRPr lang="zh-CN" altLang="en-US" sz="2400" dirty="0"/>
          </a:p>
          <a:p>
            <a:r>
              <a:rPr lang="zh-CN" altLang="en-US" dirty="0"/>
              <a:t>②每个作业</a:t>
            </a:r>
            <a:r>
              <a:rPr lang="en-US" altLang="zh-CN" dirty="0" err="1"/>
              <a:t>i</a:t>
            </a:r>
            <a:r>
              <a:rPr lang="zh-CN" altLang="en-US" dirty="0"/>
              <a:t>都有⼀个期限值</a:t>
            </a:r>
            <a:r>
              <a:rPr lang="en-US" altLang="zh-CN" dirty="0"/>
              <a:t>di</a:t>
            </a:r>
            <a:r>
              <a:rPr lang="zh-CN" altLang="en-US" dirty="0"/>
              <a:t>，</a:t>
            </a:r>
            <a:r>
              <a:rPr lang="en-US" altLang="zh-CN" dirty="0"/>
              <a:t>di&gt;0 </a:t>
            </a:r>
            <a:r>
              <a:rPr lang="zh-CN" altLang="en-US" dirty="0"/>
              <a:t>；</a:t>
            </a:r>
            <a:endParaRPr lang="zh-CN" altLang="en-US" sz="2400" dirty="0"/>
          </a:p>
          <a:p>
            <a:r>
              <a:rPr lang="zh-CN" altLang="en-US" dirty="0"/>
              <a:t>③当作业在它规定的期限值前完成，就可以获得的效益</a:t>
            </a:r>
            <a:r>
              <a:rPr lang="en-US" altLang="zh-CN" dirty="0"/>
              <a:t>pi</a:t>
            </a:r>
            <a:r>
              <a:rPr lang="zh-CN" altLang="en-US" dirty="0"/>
              <a:t>，</a:t>
            </a:r>
            <a:r>
              <a:rPr lang="en-US" altLang="zh-CN" dirty="0"/>
              <a:t>pi&gt;0</a:t>
            </a:r>
            <a:r>
              <a:rPr lang="zh-CN" altLang="en-US" dirty="0"/>
              <a:t>；</a:t>
            </a:r>
            <a:endParaRPr lang="en-US" altLang="zh-CN" sz="21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6" dur="500"/>
                                        <p:tgtEl>
                                          <p:spTgt spid="9219">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9"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求解目标</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t>问题求解的目标是：问题的可行解是这</a:t>
            </a:r>
            <a:r>
              <a:rPr lang="en-US" altLang="zh-CN" dirty="0"/>
              <a:t>n</a:t>
            </a:r>
            <a:r>
              <a:rPr lang="zh-CN" altLang="en-US" dirty="0"/>
              <a:t>个作业的一个子集合</a:t>
            </a:r>
            <a:r>
              <a:rPr lang="en-US" altLang="zh-CN" dirty="0"/>
              <a:t>J</a:t>
            </a:r>
            <a:r>
              <a:rPr lang="zh-CN" altLang="en-US" dirty="0"/>
              <a:t>。</a:t>
            </a:r>
            <a:r>
              <a:rPr lang="en-US" altLang="zh-CN" dirty="0"/>
              <a:t>J</a:t>
            </a:r>
            <a:r>
              <a:rPr lang="zh-CN" altLang="en-US" dirty="0"/>
              <a:t>中的每个作业都能在各自的截止期限前完成后，产生一个作业效益之和 。</a:t>
            </a:r>
            <a:endParaRPr lang="en-US" altLang="zh-CN" dirty="0"/>
          </a:p>
          <a:p>
            <a:r>
              <a:rPr lang="zh-CN" altLang="en-US" dirty="0"/>
              <a:t>我们的目标就是找到一个子集</a:t>
            </a:r>
            <a:r>
              <a:rPr lang="en-US" altLang="zh-CN" dirty="0"/>
              <a:t>J</a:t>
            </a:r>
            <a:r>
              <a:rPr lang="zh-CN" altLang="en-US" dirty="0"/>
              <a:t>，</a:t>
            </a:r>
            <a:r>
              <a:rPr lang="en-US" altLang="zh-CN" dirty="0"/>
              <a:t>J</a:t>
            </a:r>
            <a:r>
              <a:rPr lang="zh-CN" altLang="en-US" dirty="0"/>
              <a:t>中的每个作业都能在各自的截止期限前完成，并且使得作业效益值的和最大。这个作业的一个子集合</a:t>
            </a:r>
            <a:r>
              <a:rPr lang="en-US" altLang="zh-CN" dirty="0"/>
              <a:t>J </a:t>
            </a:r>
            <a:r>
              <a:rPr lang="zh-CN" altLang="en-US" dirty="0"/>
              <a:t>就是所求的最优解。 </a:t>
            </a:r>
            <a:endParaRPr lang="en-US" altLang="zh-CN" sz="21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例子</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t>例</a:t>
            </a:r>
            <a:r>
              <a:rPr lang="en-US" altLang="zh-CN" dirty="0"/>
              <a:t> n=4</a:t>
            </a:r>
            <a:r>
              <a:rPr lang="zh-CN" altLang="en-US" dirty="0"/>
              <a:t>，</a:t>
            </a:r>
            <a:r>
              <a:rPr lang="en-US" altLang="zh-CN" dirty="0"/>
              <a:t>(</a:t>
            </a:r>
            <a:r>
              <a:rPr lang="en-US" altLang="zh-CN" dirty="0" err="1"/>
              <a:t>p1,p2,p3,p4</a:t>
            </a:r>
            <a:r>
              <a:rPr lang="en-US" altLang="zh-CN" dirty="0"/>
              <a:t>)=(100,10,15,20)</a:t>
            </a:r>
            <a:r>
              <a:rPr lang="zh-CN" altLang="en-US" dirty="0"/>
              <a:t>，</a:t>
            </a:r>
            <a:r>
              <a:rPr lang="en-US" altLang="zh-CN" dirty="0"/>
              <a:t>(</a:t>
            </a:r>
            <a:r>
              <a:rPr lang="en-US" altLang="zh-CN" dirty="0" err="1"/>
              <a:t>d1,d2,d3,d4</a:t>
            </a:r>
            <a:r>
              <a:rPr lang="en-US" altLang="zh-CN" dirty="0"/>
              <a:t>)=(2,1,2,1)</a:t>
            </a:r>
            <a:r>
              <a:rPr lang="zh-CN" altLang="en-US" dirty="0"/>
              <a:t>。这个问题的最优解为第</a:t>
            </a:r>
            <a:r>
              <a:rPr lang="en-US" altLang="zh-CN" dirty="0"/>
              <a:t>7</a:t>
            </a:r>
            <a:r>
              <a:rPr lang="zh-CN" altLang="en-US" dirty="0"/>
              <a:t>个，所允许的处理顺序是：先处理作业</a:t>
            </a:r>
            <a:r>
              <a:rPr lang="en-US" altLang="zh-CN" dirty="0"/>
              <a:t>4</a:t>
            </a:r>
            <a:r>
              <a:rPr lang="zh-CN" altLang="en-US" dirty="0"/>
              <a:t>，再处理作业</a:t>
            </a:r>
            <a:r>
              <a:rPr lang="en-US" altLang="zh-CN" dirty="0"/>
              <a:t>1</a:t>
            </a:r>
            <a:r>
              <a:rPr lang="zh-CN" altLang="en-US" dirty="0"/>
              <a:t>。在时间</a:t>
            </a:r>
            <a:r>
              <a:rPr lang="en-US" altLang="zh-CN" dirty="0"/>
              <a:t>0</a:t>
            </a:r>
            <a:r>
              <a:rPr lang="zh-CN" altLang="en-US" dirty="0"/>
              <a:t>开始处理作业</a:t>
            </a:r>
            <a:r>
              <a:rPr lang="en-US" altLang="zh-CN" dirty="0"/>
              <a:t>4</a:t>
            </a:r>
            <a:r>
              <a:rPr lang="zh-CN" altLang="en-US" dirty="0"/>
              <a:t>，而在时间</a:t>
            </a:r>
            <a:r>
              <a:rPr lang="en-US" altLang="zh-CN" dirty="0"/>
              <a:t>2</a:t>
            </a:r>
            <a:r>
              <a:rPr lang="zh-CN" altLang="en-US" dirty="0"/>
              <a:t>完成对作业</a:t>
            </a:r>
            <a:r>
              <a:rPr lang="en-US" altLang="zh-CN" dirty="0"/>
              <a:t>1</a:t>
            </a:r>
            <a:r>
              <a:rPr lang="zh-CN" altLang="en-US" dirty="0"/>
              <a:t>的处理。 可行解 处理顺序 效益值为： </a:t>
            </a:r>
            <a:endParaRPr lang="en-US" altLang="zh-CN" dirty="0"/>
          </a:p>
        </p:txBody>
      </p:sp>
      <p:sp>
        <p:nvSpPr>
          <p:cNvPr id="2" name="矩形 1"/>
          <p:cNvSpPr/>
          <p:nvPr/>
        </p:nvSpPr>
        <p:spPr>
          <a:xfrm>
            <a:off x="5219700" y="2852936"/>
            <a:ext cx="3816350" cy="3416320"/>
          </a:xfrm>
          <a:prstGeom prst="rect">
            <a:avLst/>
          </a:prstGeom>
          <a:solidFill>
            <a:srgbClr val="92D050"/>
          </a:solidFill>
        </p:spPr>
        <p:txBody>
          <a:bodyPr wrap="square">
            <a:spAutoFit/>
          </a:bodyPr>
          <a:lstStyle/>
          <a:p>
            <a:r>
              <a:rPr lang="en-US" altLang="zh-CN" dirty="0"/>
              <a:t>1 {1}  1 100 </a:t>
            </a:r>
            <a:endParaRPr lang="zh-CN" altLang="en-US" sz="2000" dirty="0"/>
          </a:p>
          <a:p>
            <a:r>
              <a:rPr lang="en-US" altLang="zh-CN" dirty="0"/>
              <a:t>2 {2}  2 10 </a:t>
            </a:r>
            <a:endParaRPr lang="zh-CN" altLang="en-US" sz="2000" dirty="0"/>
          </a:p>
          <a:p>
            <a:r>
              <a:rPr lang="en-US" altLang="zh-CN" dirty="0"/>
              <a:t>3 {3}  3 15 </a:t>
            </a:r>
            <a:endParaRPr lang="zh-CN" altLang="en-US" sz="2000" dirty="0"/>
          </a:p>
          <a:p>
            <a:r>
              <a:rPr lang="en-US" altLang="zh-CN" dirty="0"/>
              <a:t>4 {4}  4 20 </a:t>
            </a:r>
            <a:endParaRPr lang="zh-CN" altLang="en-US" sz="2000" dirty="0"/>
          </a:p>
          <a:p>
            <a:r>
              <a:rPr lang="en-US" altLang="zh-CN" dirty="0"/>
              <a:t>5 {1</a:t>
            </a:r>
            <a:r>
              <a:rPr lang="zh-CN" altLang="en-US" dirty="0"/>
              <a:t>，</a:t>
            </a:r>
            <a:r>
              <a:rPr lang="en-US" altLang="zh-CN" dirty="0"/>
              <a:t>2}  2</a:t>
            </a:r>
            <a:r>
              <a:rPr lang="zh-CN" altLang="en-US" dirty="0"/>
              <a:t>，</a:t>
            </a:r>
            <a:r>
              <a:rPr lang="en-US" altLang="zh-CN" dirty="0"/>
              <a:t>1 110 </a:t>
            </a:r>
            <a:endParaRPr lang="zh-CN" altLang="en-US" sz="2000" dirty="0"/>
          </a:p>
          <a:p>
            <a:r>
              <a:rPr lang="en-US" altLang="zh-CN" dirty="0"/>
              <a:t>6 {1</a:t>
            </a:r>
            <a:r>
              <a:rPr lang="zh-CN" altLang="en-US" dirty="0"/>
              <a:t>，</a:t>
            </a:r>
            <a:r>
              <a:rPr lang="en-US" altLang="zh-CN" dirty="0"/>
              <a:t>3}  1</a:t>
            </a:r>
            <a:r>
              <a:rPr lang="zh-CN" altLang="en-US" dirty="0"/>
              <a:t>，</a:t>
            </a:r>
            <a:r>
              <a:rPr lang="en-US" altLang="zh-CN" dirty="0"/>
              <a:t>3</a:t>
            </a:r>
            <a:r>
              <a:rPr lang="zh-CN" altLang="en-US" dirty="0"/>
              <a:t>或</a:t>
            </a:r>
            <a:r>
              <a:rPr lang="en-US" altLang="zh-CN" dirty="0"/>
              <a:t>3</a:t>
            </a:r>
            <a:r>
              <a:rPr lang="zh-CN" altLang="en-US" dirty="0"/>
              <a:t>，</a:t>
            </a:r>
            <a:r>
              <a:rPr lang="en-US" altLang="zh-CN" dirty="0"/>
              <a:t>1 115 </a:t>
            </a:r>
            <a:endParaRPr lang="zh-CN" altLang="en-US" sz="2000" dirty="0"/>
          </a:p>
          <a:p>
            <a:r>
              <a:rPr lang="en-US" altLang="zh-CN" dirty="0"/>
              <a:t>7 {1</a:t>
            </a:r>
            <a:r>
              <a:rPr lang="zh-CN" altLang="en-US" dirty="0"/>
              <a:t>，</a:t>
            </a:r>
            <a:r>
              <a:rPr lang="en-US" altLang="zh-CN" dirty="0"/>
              <a:t>4}  4</a:t>
            </a:r>
            <a:r>
              <a:rPr lang="zh-CN" altLang="en-US" dirty="0"/>
              <a:t>，</a:t>
            </a:r>
            <a:r>
              <a:rPr lang="en-US" altLang="zh-CN" dirty="0"/>
              <a:t>1 120 </a:t>
            </a:r>
            <a:endParaRPr lang="zh-CN" altLang="en-US" sz="2000" dirty="0"/>
          </a:p>
          <a:p>
            <a:r>
              <a:rPr lang="en-US" altLang="zh-CN" dirty="0"/>
              <a:t>8 {2</a:t>
            </a:r>
            <a:r>
              <a:rPr lang="zh-CN" altLang="en-US" dirty="0"/>
              <a:t>，</a:t>
            </a:r>
            <a:r>
              <a:rPr lang="en-US" altLang="zh-CN" dirty="0"/>
              <a:t>3}  2</a:t>
            </a:r>
            <a:r>
              <a:rPr lang="zh-CN" altLang="en-US" dirty="0"/>
              <a:t>，</a:t>
            </a:r>
            <a:r>
              <a:rPr lang="en-US" altLang="zh-CN" dirty="0"/>
              <a:t>3 25 </a:t>
            </a:r>
            <a:endParaRPr lang="zh-CN" altLang="en-US" sz="2000" dirty="0"/>
          </a:p>
          <a:p>
            <a:r>
              <a:rPr lang="en-US" altLang="zh-CN" dirty="0"/>
              <a:t>9 {3</a:t>
            </a:r>
            <a:r>
              <a:rPr lang="zh-CN" altLang="en-US" dirty="0"/>
              <a:t>，</a:t>
            </a:r>
            <a:r>
              <a:rPr lang="en-US" altLang="zh-CN" dirty="0"/>
              <a:t>4}  4</a:t>
            </a:r>
            <a:r>
              <a:rPr lang="zh-CN" altLang="en-US" dirty="0"/>
              <a:t>，</a:t>
            </a:r>
            <a:r>
              <a:rPr lang="en-US" altLang="zh-CN" dirty="0"/>
              <a:t>3 35</a:t>
            </a:r>
            <a:endParaRPr lang="en-US" altLang="zh-CN" sz="20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贪心度量标准</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t>贪心算法度量标准的选取： 目标是作业效益值的和最大</a:t>
            </a:r>
            <a:endParaRPr lang="en-US" altLang="zh-CN" dirty="0"/>
          </a:p>
          <a:p>
            <a:r>
              <a:rPr lang="zh-CN" altLang="en-US" dirty="0"/>
              <a:t>因为</a:t>
            </a:r>
            <a:r>
              <a:rPr lang="en-US" altLang="zh-CN" dirty="0"/>
              <a:t>(</a:t>
            </a:r>
            <a:r>
              <a:rPr lang="en-US" altLang="zh-CN" dirty="0" err="1"/>
              <a:t>p1,p2,p3,p4</a:t>
            </a:r>
            <a:r>
              <a:rPr lang="en-US" altLang="zh-CN" dirty="0"/>
              <a:t>)=(100,10,15,20)</a:t>
            </a:r>
            <a:endParaRPr lang="zh-CN" altLang="en-US" dirty="0"/>
          </a:p>
          <a:p>
            <a:r>
              <a:rPr lang="zh-CN" altLang="en-US" sz="2400" dirty="0"/>
              <a:t>把作业按照它们的效益值作一个非增次序的排序。作业根据效益值排序为：</a:t>
            </a:r>
            <a:r>
              <a:rPr lang="en-US" altLang="zh-CN" sz="2400" dirty="0" err="1"/>
              <a:t>P1</a:t>
            </a:r>
            <a:r>
              <a:rPr lang="zh-CN" altLang="en-US" sz="2400" dirty="0"/>
              <a:t>、</a:t>
            </a:r>
            <a:r>
              <a:rPr lang="en-US" altLang="zh-CN" sz="2400" dirty="0" err="1"/>
              <a:t>P4</a:t>
            </a:r>
            <a:r>
              <a:rPr lang="zh-CN" altLang="en-US" sz="2400" dirty="0"/>
              <a:t>、</a:t>
            </a:r>
            <a:r>
              <a:rPr lang="en-US" altLang="zh-CN" sz="2400" dirty="0" err="1"/>
              <a:t>P3</a:t>
            </a:r>
            <a:r>
              <a:rPr lang="zh-CN" altLang="en-US" sz="2400" dirty="0"/>
              <a:t>、</a:t>
            </a:r>
            <a:r>
              <a:rPr lang="en-US" altLang="zh-CN" sz="2400" dirty="0" err="1"/>
              <a:t>P2</a:t>
            </a:r>
            <a:r>
              <a:rPr lang="zh-CN" altLang="en-US" sz="2400" dirty="0"/>
              <a:t>。</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贪心度量标准</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sz="2400" dirty="0"/>
              <a:t>求解时首先把作业</a:t>
            </a:r>
            <a:r>
              <a:rPr lang="en-US" altLang="zh-CN" sz="2400" dirty="0"/>
              <a:t>1</a:t>
            </a:r>
            <a:r>
              <a:rPr lang="zh-CN" altLang="en-US" sz="2400" dirty="0"/>
              <a:t>计⼊</a:t>
            </a:r>
            <a:r>
              <a:rPr lang="en-US" altLang="zh-CN" sz="2400" dirty="0"/>
              <a:t>J</a:t>
            </a:r>
            <a:r>
              <a:rPr lang="zh-CN" altLang="en-US" sz="2400" dirty="0"/>
              <a:t>，由于作业</a:t>
            </a:r>
            <a:r>
              <a:rPr lang="en-US" altLang="zh-CN" sz="2400" dirty="0"/>
              <a:t>1</a:t>
            </a:r>
            <a:r>
              <a:rPr lang="zh-CN" altLang="en-US" sz="2400" dirty="0"/>
              <a:t>的期限值</a:t>
            </a:r>
            <a:r>
              <a:rPr lang="en-US" altLang="zh-CN" sz="2400" dirty="0" err="1"/>
              <a:t>d1</a:t>
            </a:r>
            <a:r>
              <a:rPr lang="en-US" altLang="zh-CN" sz="2400" dirty="0"/>
              <a:t>=2</a:t>
            </a:r>
            <a:r>
              <a:rPr lang="zh-CN" altLang="en-US" sz="2400" dirty="0"/>
              <a:t>，所以</a:t>
            </a:r>
            <a:r>
              <a:rPr lang="en-US" altLang="zh-CN" sz="2400" dirty="0"/>
              <a:t>J={1}</a:t>
            </a:r>
            <a:r>
              <a:rPr lang="zh-CN" altLang="en-US" sz="2400" dirty="0"/>
              <a:t>是⼀个可行解。接下来计入作业</a:t>
            </a:r>
            <a:r>
              <a:rPr lang="en-US" altLang="zh-CN" sz="2400" dirty="0"/>
              <a:t>4</a:t>
            </a:r>
            <a:r>
              <a:rPr lang="zh-CN" altLang="en-US" sz="2400" dirty="0"/>
              <a:t>。由于作业</a:t>
            </a:r>
            <a:r>
              <a:rPr lang="en-US" altLang="zh-CN" sz="2400" dirty="0"/>
              <a:t>4</a:t>
            </a:r>
            <a:r>
              <a:rPr lang="zh-CN" altLang="en-US" sz="2400" dirty="0"/>
              <a:t>的期限值</a:t>
            </a:r>
            <a:r>
              <a:rPr lang="en-US" altLang="zh-CN" sz="2400" dirty="0" err="1"/>
              <a:t>d4</a:t>
            </a:r>
            <a:r>
              <a:rPr lang="en-US" altLang="zh-CN" sz="2400" dirty="0"/>
              <a:t>=1</a:t>
            </a:r>
            <a:r>
              <a:rPr lang="zh-CN" altLang="en-US" sz="2400" dirty="0"/>
              <a:t>而作业</a:t>
            </a:r>
            <a:r>
              <a:rPr lang="en-US" altLang="zh-CN" sz="2400" dirty="0"/>
              <a:t>1</a:t>
            </a:r>
            <a:r>
              <a:rPr lang="zh-CN" altLang="en-US" sz="2400" dirty="0"/>
              <a:t>的期限值</a:t>
            </a:r>
            <a:r>
              <a:rPr lang="en-US" altLang="zh-CN" sz="2400" dirty="0" err="1"/>
              <a:t>d1</a:t>
            </a:r>
            <a:r>
              <a:rPr lang="en-US" altLang="zh-CN" sz="2400" dirty="0"/>
              <a:t>=2</a:t>
            </a:r>
            <a:r>
              <a:rPr lang="zh-CN" altLang="en-US" sz="2400" dirty="0"/>
              <a:t>，可以先完成作业</a:t>
            </a:r>
            <a:r>
              <a:rPr lang="en-US" altLang="zh-CN" sz="2400" dirty="0"/>
              <a:t>4</a:t>
            </a:r>
            <a:r>
              <a:rPr lang="zh-CN" altLang="en-US" sz="2400" dirty="0"/>
              <a:t>后再完成作业</a:t>
            </a:r>
            <a:r>
              <a:rPr lang="en-US" altLang="zh-CN" sz="2400" dirty="0"/>
              <a:t>1</a:t>
            </a:r>
            <a:r>
              <a:rPr lang="zh-CN" altLang="en-US" sz="2400" dirty="0"/>
              <a:t>，所以</a:t>
            </a:r>
            <a:r>
              <a:rPr lang="en-US" altLang="zh-CN" sz="2400" dirty="0"/>
              <a:t>J={1, 4}</a:t>
            </a:r>
            <a:r>
              <a:rPr lang="zh-CN" altLang="en-US" sz="2400" dirty="0"/>
              <a:t>是⼀个可行解。</a:t>
            </a:r>
            <a:endParaRPr lang="en-US" altLang="zh-CN" sz="2400" dirty="0"/>
          </a:p>
          <a:p>
            <a:r>
              <a:rPr lang="zh-CN" altLang="en-US" sz="2400" dirty="0"/>
              <a:t>然后考虑作业</a:t>
            </a:r>
            <a:r>
              <a:rPr lang="en-US" altLang="zh-CN" sz="2400" dirty="0"/>
              <a:t>3</a:t>
            </a:r>
            <a:r>
              <a:rPr lang="zh-CN" altLang="en-US" sz="2400" dirty="0"/>
              <a:t>，但是作业</a:t>
            </a:r>
            <a:r>
              <a:rPr lang="en-US" altLang="zh-CN" sz="2400" dirty="0"/>
              <a:t>3</a:t>
            </a:r>
            <a:r>
              <a:rPr lang="zh-CN" altLang="en-US" sz="2400" dirty="0"/>
              <a:t>的期限值</a:t>
            </a:r>
            <a:r>
              <a:rPr lang="en-US" altLang="zh-CN" sz="2400" dirty="0" err="1"/>
              <a:t>d3</a:t>
            </a:r>
            <a:r>
              <a:rPr lang="en-US" altLang="zh-CN" sz="2400" dirty="0"/>
              <a:t>=2</a:t>
            </a:r>
            <a:r>
              <a:rPr lang="zh-CN" altLang="en-US" sz="2400" dirty="0"/>
              <a:t>，计⼊</a:t>
            </a:r>
            <a:r>
              <a:rPr lang="en-US" altLang="zh-CN" sz="2400" dirty="0"/>
              <a:t>J</a:t>
            </a:r>
            <a:r>
              <a:rPr lang="zh-CN" altLang="en-US" sz="2400" dirty="0"/>
              <a:t>后就没有办法保证</a:t>
            </a:r>
            <a:r>
              <a:rPr lang="en-US" altLang="zh-CN" sz="2400" dirty="0"/>
              <a:t>J</a:t>
            </a:r>
            <a:r>
              <a:rPr lang="zh-CN" altLang="en-US" sz="2400" dirty="0"/>
              <a:t>中的每一个作业都在期限值内完成，因此计入作业</a:t>
            </a:r>
            <a:r>
              <a:rPr lang="en-US" altLang="zh-CN" sz="2400" dirty="0"/>
              <a:t>3</a:t>
            </a:r>
            <a:r>
              <a:rPr lang="zh-CN" altLang="en-US" sz="2400" dirty="0"/>
              <a:t>后不能构成一个可行解。同理计⼊</a:t>
            </a:r>
            <a:r>
              <a:rPr lang="en-US" altLang="zh-CN" sz="2400" dirty="0"/>
              <a:t>2</a:t>
            </a:r>
            <a:r>
              <a:rPr lang="zh-CN" altLang="en-US" sz="2400" dirty="0"/>
              <a:t>后也不能构成一个可行解。</a:t>
            </a:r>
            <a:endParaRPr lang="en-US" altLang="zh-CN" sz="2400" dirty="0"/>
          </a:p>
          <a:p>
            <a:r>
              <a:rPr lang="zh-CN" altLang="en-US" sz="2400" dirty="0"/>
              <a:t>由分析可知，把目标函数作为度量标准能够得到问题的最优解。</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5.3.4</a:t>
            </a:r>
            <a:r>
              <a:rPr lang="zh-CN" altLang="en-US" dirty="0"/>
              <a:t>带期限作业排序问题</a:t>
            </a:r>
            <a:r>
              <a:rPr lang="en-US" altLang="zh-CN" dirty="0"/>
              <a:t>——</a:t>
            </a:r>
            <a:r>
              <a:rPr lang="zh-CN" altLang="en-US" dirty="0"/>
              <a:t>算法</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en-US" altLang="zh-CN" dirty="0"/>
              <a:t>procedure GREEDY-JOB(</a:t>
            </a:r>
            <a:r>
              <a:rPr lang="en-US" altLang="zh-CN" dirty="0" err="1"/>
              <a:t>D,J,n</a:t>
            </a:r>
            <a:r>
              <a:rPr lang="en-US" altLang="zh-CN" dirty="0"/>
              <a:t>) </a:t>
            </a:r>
            <a:endParaRPr lang="en-US" altLang="zh-CN" sz="2400" dirty="0"/>
          </a:p>
          <a:p>
            <a:r>
              <a:rPr lang="en-US" altLang="zh-CN" dirty="0"/>
              <a:t>//</a:t>
            </a:r>
            <a:r>
              <a:rPr lang="zh-CN" altLang="en-US" dirty="0"/>
              <a:t>作业按照</a:t>
            </a:r>
            <a:r>
              <a:rPr lang="en-US" altLang="zh-CN" dirty="0" err="1"/>
              <a:t>p1≥p2</a:t>
            </a:r>
            <a:r>
              <a:rPr lang="en-US" altLang="zh-CN" dirty="0"/>
              <a:t>≥…≥</a:t>
            </a:r>
            <a:r>
              <a:rPr lang="en-US" altLang="zh-CN" dirty="0" err="1"/>
              <a:t>pn</a:t>
            </a:r>
            <a:r>
              <a:rPr lang="zh-CN" altLang="en-US" dirty="0"/>
              <a:t>的次序输⼊，它们的期限值</a:t>
            </a:r>
            <a:r>
              <a:rPr lang="en-US" altLang="zh-CN" dirty="0"/>
              <a:t>D(</a:t>
            </a:r>
            <a:r>
              <a:rPr lang="en-US" altLang="zh-CN" dirty="0" err="1"/>
              <a:t>i</a:t>
            </a:r>
            <a:r>
              <a:rPr lang="en-US" altLang="zh-CN" dirty="0"/>
              <a:t>) ≥1, </a:t>
            </a:r>
            <a:r>
              <a:rPr lang="en-US" altLang="zh-CN" dirty="0" err="1"/>
              <a:t>1≤i≤n</a:t>
            </a:r>
            <a:r>
              <a:rPr lang="en-US" altLang="zh-CN" dirty="0"/>
              <a:t>, </a:t>
            </a:r>
            <a:r>
              <a:rPr lang="en-US" altLang="zh-CN" dirty="0" err="1"/>
              <a:t>n≥1</a:t>
            </a:r>
            <a:r>
              <a:rPr lang="zh-CN" altLang="en-US" dirty="0"/>
              <a:t>。</a:t>
            </a:r>
            <a:r>
              <a:rPr lang="en-US" altLang="zh-CN" dirty="0"/>
              <a:t>J</a:t>
            </a:r>
            <a:r>
              <a:rPr lang="zh-CN" altLang="en-US" dirty="0"/>
              <a:t>是在它们的截⽌期限前完成的作业集合。 </a:t>
            </a:r>
            <a:endParaRPr lang="zh-CN" altLang="en-US" sz="2400" dirty="0"/>
          </a:p>
          <a:p>
            <a:r>
              <a:rPr lang="en-US" altLang="zh-CN" dirty="0"/>
              <a:t>J←{1} </a:t>
            </a:r>
            <a:endParaRPr lang="en-US" altLang="zh-CN" sz="2400" dirty="0"/>
          </a:p>
          <a:p>
            <a:r>
              <a:rPr lang="en-US" altLang="zh-CN" dirty="0"/>
              <a:t>For </a:t>
            </a:r>
            <a:r>
              <a:rPr lang="en-US" altLang="zh-CN" dirty="0" err="1"/>
              <a:t>i←2</a:t>
            </a:r>
            <a:r>
              <a:rPr lang="en-US" altLang="zh-CN" dirty="0"/>
              <a:t> to n do </a:t>
            </a:r>
            <a:endParaRPr lang="en-US" altLang="zh-CN" sz="2400" dirty="0"/>
          </a:p>
          <a:p>
            <a:r>
              <a:rPr lang="en-US" altLang="zh-CN" dirty="0"/>
              <a:t>If J∪{</a:t>
            </a:r>
            <a:r>
              <a:rPr lang="en-US" altLang="zh-CN" dirty="0" err="1"/>
              <a:t>i</a:t>
            </a:r>
            <a:r>
              <a:rPr lang="en-US" altLang="zh-CN" dirty="0"/>
              <a:t>}</a:t>
            </a:r>
            <a:r>
              <a:rPr lang="zh-CN" altLang="en-US" dirty="0"/>
              <a:t>的所有作业都能在它们的截⽌期限前完成 </a:t>
            </a:r>
            <a:endParaRPr lang="zh-CN" altLang="en-US" sz="2400" dirty="0"/>
          </a:p>
          <a:p>
            <a:r>
              <a:rPr lang="en-US" altLang="zh-CN" dirty="0"/>
              <a:t>Then </a:t>
            </a:r>
            <a:r>
              <a:rPr lang="en-US" altLang="zh-CN" dirty="0" err="1"/>
              <a:t>J←J</a:t>
            </a:r>
            <a:r>
              <a:rPr lang="en-US" altLang="zh-CN" dirty="0"/>
              <a:t>∪{</a:t>
            </a:r>
            <a:r>
              <a:rPr lang="en-US" altLang="zh-CN" dirty="0" err="1"/>
              <a:t>i</a:t>
            </a:r>
            <a:r>
              <a:rPr lang="en-US" altLang="zh-CN" dirty="0"/>
              <a:t>}Endif </a:t>
            </a:r>
            <a:endParaRPr lang="en-US" altLang="zh-CN" sz="2400" dirty="0"/>
          </a:p>
          <a:p>
            <a:r>
              <a:rPr lang="en-US" altLang="zh-CN" dirty="0"/>
              <a:t>Repeat </a:t>
            </a:r>
            <a:endParaRPr lang="en-US" altLang="zh-CN" sz="2400" dirty="0"/>
          </a:p>
          <a:p>
            <a:r>
              <a:rPr lang="en-US" altLang="zh-CN" dirty="0"/>
              <a:t>End GREEDY-JOB </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6" dur="500"/>
                                        <p:tgtEl>
                                          <p:spTgt spid="9219">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9" dur="500"/>
                                        <p:tgtEl>
                                          <p:spTgt spid="9219">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9219">
                                            <p:txEl>
                                              <p:pRg st="5" end="5"/>
                                            </p:txEl>
                                          </p:spTgt>
                                        </p:tgtEl>
                                        <p:attrNameLst>
                                          <p:attrName>style.visibility</p:attrName>
                                        </p:attrNameLst>
                                      </p:cBhvr>
                                      <p:to>
                                        <p:strVal val="visible"/>
                                      </p:to>
                                    </p:set>
                                    <p:animEffect transition="in" filter="blinds(horizontal)">
                                      <p:cBhvr>
                                        <p:cTn id="22" dur="500"/>
                                        <p:tgtEl>
                                          <p:spTgt spid="9219">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9219">
                                            <p:txEl>
                                              <p:pRg st="6" end="6"/>
                                            </p:txEl>
                                          </p:spTgt>
                                        </p:tgtEl>
                                        <p:attrNameLst>
                                          <p:attrName>style.visibility</p:attrName>
                                        </p:attrNameLst>
                                      </p:cBhvr>
                                      <p:to>
                                        <p:strVal val="visible"/>
                                      </p:to>
                                    </p:set>
                                    <p:animEffect transition="in" filter="blinds(horizontal)">
                                      <p:cBhvr>
                                        <p:cTn id="25" dur="500"/>
                                        <p:tgtEl>
                                          <p:spTgt spid="9219">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9219">
                                            <p:txEl>
                                              <p:pRg st="7" end="7"/>
                                            </p:txEl>
                                          </p:spTgt>
                                        </p:tgtEl>
                                        <p:attrNameLst>
                                          <p:attrName>style.visibility</p:attrName>
                                        </p:attrNameLst>
                                      </p:cBhvr>
                                      <p:to>
                                        <p:strVal val="visible"/>
                                      </p:to>
                                    </p:set>
                                    <p:animEffect transition="in" filter="blinds(horizontal)">
                                      <p:cBhvr>
                                        <p:cTn id="28" dur="500"/>
                                        <p:tgtEl>
                                          <p:spTgt spid="92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47107" name="Rectangle 3"/>
          <p:cNvSpPr>
            <a:spLocks noGrp="1" noChangeArrowheads="1"/>
          </p:cNvSpPr>
          <p:nvPr>
            <p:ph idx="1"/>
          </p:nvPr>
        </p:nvSpPr>
        <p:spPr>
          <a:xfrm>
            <a:off x="882650" y="1268413"/>
            <a:ext cx="8153400" cy="449897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500" b="0" i="0" u="none" strike="noStrike" kern="0" cap="none" spc="0" normalizeH="0" baseline="0" noProof="0" dirty="0">
                <a:ln>
                  <a:noFill/>
                </a:ln>
                <a:solidFill>
                  <a:schemeClr val="accent2"/>
                </a:solidFill>
                <a:effectLst/>
                <a:uLnTx/>
                <a:uFillTx/>
                <a:latin typeface="+mn-lt"/>
                <a:ea typeface="+mn-ea"/>
                <a:cs typeface="+mn-cs"/>
              </a:rPr>
              <a:t>问题描述</a:t>
            </a:r>
            <a:r>
              <a:rPr kumimoji="0" lang="en-US" altLang="zh-CN" sz="2500" b="0" i="0" u="none" strike="noStrike" kern="0" cap="none" spc="0" normalizeH="0" baseline="0" noProof="0" dirty="0">
                <a:ln>
                  <a:noFill/>
                </a:ln>
                <a:solidFill>
                  <a:schemeClr val="accent2"/>
                </a:solidFill>
                <a:effectLst/>
                <a:uLnTx/>
                <a:uFillTx/>
                <a:latin typeface="+mn-lt"/>
                <a:ea typeface="+mn-ea"/>
                <a:cs typeface="+mn-cs"/>
              </a:rPr>
              <a:t>: </a:t>
            </a:r>
            <a:endParaRPr kumimoji="0" lang="en-US" altLang="zh-CN" sz="25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假设有一个字符串文件，我们希望用这样一种方法尽可能多地压缩文件，但源文件能够很容易地被重建。</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 </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设文件中的字符集是</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C = {</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a:ln>
                  <a:noFill/>
                </a:ln>
                <a:solidFill>
                  <a:schemeClr val="accent2"/>
                </a:solidFill>
                <a:effectLst/>
                <a:uLnTx/>
                <a:uFillTx/>
                <a:latin typeface="+mn-lt"/>
                <a:ea typeface="+mn-ea"/>
                <a:cs typeface="+mn-ea"/>
              </a:rPr>
              <a:t>1</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a:ln>
                  <a:noFill/>
                </a:ln>
                <a:solidFill>
                  <a:schemeClr val="accent2"/>
                </a:solidFill>
                <a:effectLst/>
                <a:uLnTx/>
                <a:uFillTx/>
                <a:latin typeface="+mn-lt"/>
                <a:ea typeface="+mn-ea"/>
                <a:cs typeface="+mn-ea"/>
              </a:rPr>
              <a:t>2</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a:t>
            </a:r>
            <a:r>
              <a:rPr kumimoji="0" lang="en-US" altLang="zh-CN" sz="2400" b="0" i="1"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ea"/>
              </a:rPr>
              <a:t>n</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，又设</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f(</a:t>
            </a:r>
            <a:r>
              <a:rPr kumimoji="0" lang="en-US" altLang="zh-CN" sz="2400" b="0" i="1"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ea"/>
              </a:rPr>
              <a:t>i</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),1 </a:t>
            </a:r>
            <a:r>
              <a:rPr kumimoji="0" lang="en-US" altLang="zh-CN" sz="2400" b="0" i="1"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 </a:t>
            </a:r>
            <a:r>
              <a:rPr kumimoji="0" lang="en-US" altLang="zh-CN" sz="2400" b="0" i="1" u="none" strike="noStrike" kern="0" cap="none" spc="0" normalizeH="0" baseline="0" noProof="0" dirty="0" err="1">
                <a:ln>
                  <a:noFill/>
                </a:ln>
                <a:solidFill>
                  <a:schemeClr val="accent2"/>
                </a:solidFill>
                <a:effectLst/>
                <a:uLnTx/>
                <a:uFillTx/>
                <a:latin typeface="+mn-lt"/>
                <a:ea typeface="+mn-ea"/>
                <a:cs typeface="+mn-ea"/>
              </a:rPr>
              <a:t>i</a:t>
            </a:r>
            <a:r>
              <a:rPr kumimoji="0" lang="en-US" altLang="zh-CN" sz="2400" b="0" i="1"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400" b="0" i="1" u="none" strike="noStrike" kern="0" cap="none" spc="0" normalizeH="0" baseline="0" noProof="0" dirty="0">
                <a:ln>
                  <a:noFill/>
                </a:ln>
                <a:solidFill>
                  <a:schemeClr val="accent2"/>
                </a:solidFill>
                <a:effectLst/>
                <a:uLnTx/>
                <a:uFillTx/>
                <a:latin typeface="+mn-lt"/>
                <a:ea typeface="+mn-ea"/>
                <a:cs typeface="+mn-ea"/>
              </a:rPr>
              <a:t> 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，是文件中字符</a:t>
            </a:r>
            <a:r>
              <a:rPr kumimoji="0" lang="en-US" altLang="zh-CN" sz="2400" b="0" i="1"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ea"/>
              </a:rPr>
              <a:t>i</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的</a:t>
            </a:r>
            <a:r>
              <a:rPr kumimoji="0" lang="zh-CN" altLang="en-US" sz="2400" b="0" i="0" u="none" strike="noStrike" kern="0" cap="none" spc="0" normalizeH="0" baseline="0" noProof="0" dirty="0">
                <a:ln>
                  <a:noFill/>
                </a:ln>
                <a:solidFill>
                  <a:srgbClr val="FF0000"/>
                </a:solidFill>
                <a:effectLst/>
                <a:uLnTx/>
                <a:uFillTx/>
                <a:latin typeface="+mn-lt"/>
                <a:ea typeface="+mn-ea"/>
                <a:cs typeface="+mn-ea"/>
              </a:rPr>
              <a:t>频度</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，即文件中</a:t>
            </a:r>
            <a:r>
              <a:rPr kumimoji="0" lang="en-US" altLang="zh-CN" sz="2400" b="0" i="1" u="none" strike="noStrike" kern="0" cap="none" spc="0" normalizeH="0" baseline="0" noProof="0" dirty="0" err="1">
                <a:ln>
                  <a:noFill/>
                </a:ln>
                <a:solidFill>
                  <a:schemeClr val="accent2"/>
                </a:solidFill>
                <a:effectLst/>
                <a:uLnTx/>
                <a:uFillTx/>
                <a:latin typeface="+mn-lt"/>
                <a:ea typeface="+mn-ea"/>
                <a:cs typeface="+mn-ea"/>
              </a:rPr>
              <a:t>c</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ea"/>
              </a:rPr>
              <a:t>i</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出现的次数。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用</a:t>
            </a:r>
            <a:r>
              <a:rPr kumimoji="0" lang="zh-CN" altLang="en-US" sz="2400" b="0" i="0" u="none" strike="noStrike" kern="0" cap="none" spc="0" normalizeH="0" baseline="0" noProof="0" dirty="0">
                <a:ln>
                  <a:noFill/>
                </a:ln>
                <a:solidFill>
                  <a:srgbClr val="FF0000"/>
                </a:solidFill>
                <a:effectLst/>
                <a:uLnTx/>
                <a:uFillTx/>
                <a:latin typeface="+mn-lt"/>
                <a:ea typeface="+mn-ea"/>
                <a:cs typeface="+mn-ea"/>
              </a:rPr>
              <a:t>定长</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比特数表示每个字符，称为字符的编码，文件的大小取决于文件中的字符数。</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pic>
        <p:nvPicPr>
          <p:cNvPr id="47109" name="Picture 5" descr="question"/>
          <p:cNvPicPr>
            <a:picLocks noChangeAspect="1"/>
          </p:cNvPicPr>
          <p:nvPr/>
        </p:nvPicPr>
        <p:blipFill>
          <a:blip r:embed="rId1"/>
          <a:stretch>
            <a:fillRect/>
          </a:stretch>
        </p:blipFill>
        <p:spPr>
          <a:xfrm>
            <a:off x="900113" y="1268413"/>
            <a:ext cx="504825" cy="504825"/>
          </a:xfrm>
          <a:prstGeom prst="rect">
            <a:avLst/>
          </a:prstGeom>
          <a:noFill/>
          <a:ln w="9525">
            <a:noFill/>
          </a:ln>
        </p:spPr>
      </p:pic>
      <p:sp>
        <p:nvSpPr>
          <p:cNvPr id="10854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5.3.5</a:t>
            </a:r>
            <a:r>
              <a:rPr lang="zh-CN" altLang="en-US" dirty="0"/>
              <a:t>霍夫曼编码树</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withEffect">
                                  <p:stCondLst>
                                    <p:cond delay="0"/>
                                  </p:stCondLst>
                                  <p:childTnLst>
                                    <p:set>
                                      <p:cBhvr>
                                        <p:cTn id="6" dur="1" fill="hold">
                                          <p:stCondLst>
                                            <p:cond delay="0"/>
                                          </p:stCondLst>
                                        </p:cTn>
                                        <p:tgtEl>
                                          <p:spTgt spid="47109"/>
                                        </p:tgtEl>
                                        <p:attrNameLst>
                                          <p:attrName>style.visibility</p:attrName>
                                        </p:attrNameLst>
                                      </p:cBhvr>
                                      <p:to>
                                        <p:strVal val="visible"/>
                                      </p:to>
                                    </p:set>
                                    <p:anim calcmode="lin" valueType="num">
                                      <p:cBhvr>
                                        <p:cTn id="7" dur="5000" fill="hold"/>
                                        <p:tgtEl>
                                          <p:spTgt spid="47109"/>
                                        </p:tgtEl>
                                        <p:attrNameLst>
                                          <p:attrName>ppt_w</p:attrName>
                                        </p:attrNameLst>
                                      </p:cBhvr>
                                      <p:tavLst>
                                        <p:tav tm="0" fmla="#ppt_w*sin(2.5*pi*$)">
                                          <p:val>
                                            <p:fltVal val="0"/>
                                          </p:val>
                                        </p:tav>
                                        <p:tav tm="100000">
                                          <p:val>
                                            <p:fltVal val="1"/>
                                          </p:val>
                                        </p:tav>
                                      </p:tavLst>
                                    </p:anim>
                                    <p:anim calcmode="lin" valueType="num">
                                      <p:cBhvr>
                                        <p:cTn id="8" dur="5000" fill="hold"/>
                                        <p:tgtEl>
                                          <p:spTgt spid="47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13" dur="500"/>
                                        <p:tgtEl>
                                          <p:spTgt spid="4710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47107">
                                            <p:txEl>
                                              <p:pRg st="1" end="1"/>
                                            </p:txEl>
                                          </p:spTgt>
                                        </p:tgtEl>
                                        <p:attrNameLst>
                                          <p:attrName>style.visibility</p:attrName>
                                        </p:attrNameLst>
                                      </p:cBhvr>
                                      <p:to>
                                        <p:strVal val="visible"/>
                                      </p:to>
                                    </p:set>
                                    <p:anim calcmode="lin" valueType="num">
                                      <p:cBhvr>
                                        <p:cTn id="18" dur="500" fill="hold"/>
                                        <p:tgtEl>
                                          <p:spTgt spid="47107">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47107">
                                            <p:txEl>
                                              <p:pRg st="1" end="1"/>
                                            </p:txEl>
                                          </p:spTgt>
                                        </p:tgtEl>
                                        <p:attrNameLst>
                                          <p:attrName>ppt_h</p:attrName>
                                        </p:attrNameLst>
                                      </p:cBhvr>
                                      <p:tavLst>
                                        <p:tav tm="0">
                                          <p:val>
                                            <p:fltVal val="0"/>
                                          </p:val>
                                        </p:tav>
                                        <p:tav tm="100000">
                                          <p:val>
                                            <p:strVal val="#ppt_h"/>
                                          </p:val>
                                        </p:tav>
                                      </p:tavLst>
                                    </p:anim>
                                    <p:anim calcmode="lin" valueType="num">
                                      <p:cBhvr>
                                        <p:cTn id="20" dur="500" fill="hold"/>
                                        <p:tgtEl>
                                          <p:spTgt spid="47107">
                                            <p:txEl>
                                              <p:pRg st="1" end="1"/>
                                            </p:txEl>
                                          </p:spTgt>
                                        </p:tgtEl>
                                        <p:attrNameLst>
                                          <p:attrName>style.rotation</p:attrName>
                                        </p:attrNameLst>
                                      </p:cBhvr>
                                      <p:tavLst>
                                        <p:tav tm="0">
                                          <p:val>
                                            <p:fltVal val="360"/>
                                          </p:val>
                                        </p:tav>
                                        <p:tav tm="100000">
                                          <p:val>
                                            <p:fltVal val="0"/>
                                          </p:val>
                                        </p:tav>
                                      </p:tavLst>
                                    </p:anim>
                                    <p:animEffect transition="in" filter="fade">
                                      <p:cBhvr>
                                        <p:cTn id="21" dur="500"/>
                                        <p:tgtEl>
                                          <p:spTgt spid="4710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nodeType="clickEffect">
                                  <p:stCondLst>
                                    <p:cond delay="0"/>
                                  </p:stCondLst>
                                  <p:childTnLst>
                                    <p:set>
                                      <p:cBhvr>
                                        <p:cTn id="25" dur="1" fill="hold">
                                          <p:stCondLst>
                                            <p:cond delay="0"/>
                                          </p:stCondLst>
                                        </p:cTn>
                                        <p:tgtEl>
                                          <p:spTgt spid="47107">
                                            <p:txEl>
                                              <p:pRg st="3" end="3"/>
                                            </p:txEl>
                                          </p:spTgt>
                                        </p:tgtEl>
                                        <p:attrNameLst>
                                          <p:attrName>style.visibility</p:attrName>
                                        </p:attrNameLst>
                                      </p:cBhvr>
                                      <p:to>
                                        <p:strVal val="visible"/>
                                      </p:to>
                                    </p:set>
                                    <p:anim calcmode="lin" valueType="num">
                                      <p:cBhvr>
                                        <p:cTn id="26" dur="500" fill="hold"/>
                                        <p:tgtEl>
                                          <p:spTgt spid="47107">
                                            <p:txEl>
                                              <p:pRg st="3" end="3"/>
                                            </p:txEl>
                                          </p:spTgt>
                                        </p:tgtEl>
                                        <p:attrNameLst>
                                          <p:attrName>ppt_w</p:attrName>
                                        </p:attrNameLst>
                                      </p:cBhvr>
                                      <p:tavLst>
                                        <p:tav tm="0">
                                          <p:val>
                                            <p:fltVal val="0"/>
                                          </p:val>
                                        </p:tav>
                                        <p:tav tm="100000">
                                          <p:val>
                                            <p:strVal val="#ppt_w"/>
                                          </p:val>
                                        </p:tav>
                                      </p:tavLst>
                                    </p:anim>
                                    <p:anim calcmode="lin" valueType="num">
                                      <p:cBhvr>
                                        <p:cTn id="27" dur="500" fill="hold"/>
                                        <p:tgtEl>
                                          <p:spTgt spid="47107">
                                            <p:txEl>
                                              <p:pRg st="3" end="3"/>
                                            </p:txEl>
                                          </p:spTgt>
                                        </p:tgtEl>
                                        <p:attrNameLst>
                                          <p:attrName>ppt_h</p:attrName>
                                        </p:attrNameLst>
                                      </p:cBhvr>
                                      <p:tavLst>
                                        <p:tav tm="0">
                                          <p:val>
                                            <p:fltVal val="0"/>
                                          </p:val>
                                        </p:tav>
                                        <p:tav tm="100000">
                                          <p:val>
                                            <p:strVal val="#ppt_h"/>
                                          </p:val>
                                        </p:tav>
                                      </p:tavLst>
                                    </p:anim>
                                    <p:anim calcmode="lin" valueType="num">
                                      <p:cBhvr>
                                        <p:cTn id="28" dur="500" fill="hold"/>
                                        <p:tgtEl>
                                          <p:spTgt spid="47107">
                                            <p:txEl>
                                              <p:pRg st="3" end="3"/>
                                            </p:txEl>
                                          </p:spTgt>
                                        </p:tgtEl>
                                        <p:attrNameLst>
                                          <p:attrName>style.rotation</p:attrName>
                                        </p:attrNameLst>
                                      </p:cBhvr>
                                      <p:tavLst>
                                        <p:tav tm="0">
                                          <p:val>
                                            <p:fltVal val="360"/>
                                          </p:val>
                                        </p:tav>
                                        <p:tav tm="100000">
                                          <p:val>
                                            <p:fltVal val="0"/>
                                          </p:val>
                                        </p:tav>
                                      </p:tavLst>
                                    </p:anim>
                                    <p:animEffect transition="in" filter="fade">
                                      <p:cBhvr>
                                        <p:cTn id="29" dur="500"/>
                                        <p:tgtEl>
                                          <p:spTgt spid="47107">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nodeType="clickEffect">
                                  <p:stCondLst>
                                    <p:cond delay="0"/>
                                  </p:stCondLst>
                                  <p:childTnLst>
                                    <p:set>
                                      <p:cBhvr>
                                        <p:cTn id="33" dur="1" fill="hold">
                                          <p:stCondLst>
                                            <p:cond delay="0"/>
                                          </p:stCondLst>
                                        </p:cTn>
                                        <p:tgtEl>
                                          <p:spTgt spid="47107">
                                            <p:txEl>
                                              <p:pRg st="5" end="5"/>
                                            </p:txEl>
                                          </p:spTgt>
                                        </p:tgtEl>
                                        <p:attrNameLst>
                                          <p:attrName>style.visibility</p:attrName>
                                        </p:attrNameLst>
                                      </p:cBhvr>
                                      <p:to>
                                        <p:strVal val="visible"/>
                                      </p:to>
                                    </p:set>
                                    <p:anim calcmode="lin" valueType="num">
                                      <p:cBhvr>
                                        <p:cTn id="34" dur="500" fill="hold"/>
                                        <p:tgtEl>
                                          <p:spTgt spid="47107">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47107">
                                            <p:txEl>
                                              <p:pRg st="5" end="5"/>
                                            </p:txEl>
                                          </p:spTgt>
                                        </p:tgtEl>
                                        <p:attrNameLst>
                                          <p:attrName>ppt_h</p:attrName>
                                        </p:attrNameLst>
                                      </p:cBhvr>
                                      <p:tavLst>
                                        <p:tav tm="0">
                                          <p:val>
                                            <p:fltVal val="0"/>
                                          </p:val>
                                        </p:tav>
                                        <p:tav tm="100000">
                                          <p:val>
                                            <p:strVal val="#ppt_h"/>
                                          </p:val>
                                        </p:tav>
                                      </p:tavLst>
                                    </p:anim>
                                    <p:anim calcmode="lin" valueType="num">
                                      <p:cBhvr>
                                        <p:cTn id="36" dur="500" fill="hold"/>
                                        <p:tgtEl>
                                          <p:spTgt spid="47107">
                                            <p:txEl>
                                              <p:pRg st="5" end="5"/>
                                            </p:txEl>
                                          </p:spTgt>
                                        </p:tgtEl>
                                        <p:attrNameLst>
                                          <p:attrName>style.rotation</p:attrName>
                                        </p:attrNameLst>
                                      </p:cBhvr>
                                      <p:tavLst>
                                        <p:tav tm="0">
                                          <p:val>
                                            <p:fltVal val="360"/>
                                          </p:val>
                                        </p:tav>
                                        <p:tav tm="100000">
                                          <p:val>
                                            <p:fltVal val="0"/>
                                          </p:val>
                                        </p:tav>
                                      </p:tavLst>
                                    </p:anim>
                                    <p:animEffect transition="in" filter="fade">
                                      <p:cBhvr>
                                        <p:cTn id="37" dur="5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0595" name="Rectangle 2"/>
          <p:cNvSpPr>
            <a:spLocks noGrp="1"/>
          </p:cNvSpPr>
          <p:nvPr>
            <p:ph type="title"/>
          </p:nvPr>
        </p:nvSpPr>
        <p:spPr/>
        <p:txBody>
          <a:bodyPr vert="horz" wrap="square" lIns="91440" tIns="45720" rIns="91440" bIns="45720" anchor="ctr" anchorCtr="0"/>
          <a:lstStyle/>
          <a:p>
            <a:pPr eaLnBrk="1" hangingPunct="1"/>
            <a:r>
              <a:rPr lang="en-US" altLang="zh-CN" dirty="0"/>
              <a:t>5.3.5</a:t>
            </a:r>
            <a:r>
              <a:rPr lang="zh-CN" altLang="en-US" dirty="0"/>
              <a:t>霍夫曼编码树</a:t>
            </a:r>
            <a:r>
              <a:rPr lang="en-US" altLang="zh-CN" dirty="0"/>
              <a:t>——</a:t>
            </a:r>
            <a:r>
              <a:rPr lang="zh-CN" altLang="en-US" dirty="0"/>
              <a:t>变长编码</a:t>
            </a:r>
            <a:endParaRPr lang="en-US" altLang="zh-CN" dirty="0"/>
          </a:p>
        </p:txBody>
      </p:sp>
      <p:sp>
        <p:nvSpPr>
          <p:cNvPr id="48131" name="Rectangle 3"/>
          <p:cNvSpPr>
            <a:spLocks noGrp="1"/>
          </p:cNvSpPr>
          <p:nvPr>
            <p:ph idx="1"/>
          </p:nvPr>
        </p:nvSpPr>
        <p:spPr/>
        <p:txBody>
          <a:bodyPr vert="horz" wrap="square" lIns="91440" tIns="45720" rIns="91440" bIns="45720" anchor="t" anchorCtr="0"/>
          <a:lstStyle/>
          <a:p>
            <a:pPr eaLnBrk="1" hangingPunct="1">
              <a:lnSpc>
                <a:spcPct val="90000"/>
              </a:lnSpc>
            </a:pPr>
            <a:r>
              <a:rPr lang="zh-CN" altLang="en-US" sz="2400" dirty="0"/>
              <a:t>然而由于有些字符的频度可能远大于另外一些字符的频度，所以用</a:t>
            </a:r>
            <a:r>
              <a:rPr lang="zh-CN" altLang="en-US" sz="2400" dirty="0">
                <a:solidFill>
                  <a:srgbClr val="FF0000"/>
                </a:solidFill>
              </a:rPr>
              <a:t>变长的编码</a:t>
            </a:r>
            <a:r>
              <a:rPr lang="zh-CN" altLang="en-US" sz="2400" dirty="0"/>
              <a:t>是有道理的。从直观上说，那些频度大的字符将被赋予短的编码，而长的编码可以赋给那些频度小的字符。</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当编码在长度上变化时，我们规定一个字符的编码必须不能是另一个字符编码的前缀</a:t>
            </a:r>
            <a:r>
              <a:rPr lang="en-US" altLang="zh-CN" sz="2400" dirty="0"/>
              <a:t>(</a:t>
            </a:r>
            <a:r>
              <a:rPr lang="zh-CN" altLang="en-US" sz="2400" dirty="0"/>
              <a:t>即词头</a:t>
            </a:r>
            <a:r>
              <a:rPr lang="en-US" altLang="zh-CN" sz="2400" dirty="0"/>
              <a:t>)</a:t>
            </a:r>
            <a:r>
              <a:rPr lang="zh-CN" altLang="en-US" sz="2400" dirty="0"/>
              <a:t>，这种码称为</a:t>
            </a:r>
            <a:r>
              <a:rPr lang="zh-CN" altLang="en-US" sz="2400" dirty="0">
                <a:solidFill>
                  <a:srgbClr val="FF0000"/>
                </a:solidFill>
              </a:rPr>
              <a:t>前缀码</a:t>
            </a:r>
            <a:r>
              <a:rPr lang="zh-CN" altLang="en-US" sz="2400" dirty="0"/>
              <a:t>。</a:t>
            </a:r>
            <a:endParaRPr lang="en-US" altLang="zh-CN" sz="2400" dirty="0"/>
          </a:p>
          <a:p>
            <a:pPr eaLnBrk="1" hangingPunct="1">
              <a:lnSpc>
                <a:spcPct val="90000"/>
              </a:lnSpc>
            </a:pPr>
            <a:endParaRPr lang="en-US" altLang="zh-CN" sz="2400" dirty="0"/>
          </a:p>
          <a:p>
            <a:pPr eaLnBrk="1" hangingPunct="1">
              <a:lnSpc>
                <a:spcPct val="90000"/>
              </a:lnSpc>
            </a:pPr>
            <a:r>
              <a:rPr lang="zh-CN" altLang="en-US" sz="2400" dirty="0"/>
              <a:t>例如，如果我们把编码</a:t>
            </a:r>
            <a:r>
              <a:rPr lang="en-US" altLang="zh-CN" sz="2400" dirty="0"/>
              <a:t>10</a:t>
            </a:r>
            <a:r>
              <a:rPr lang="zh-CN" altLang="en-US" sz="2400" dirty="0"/>
              <a:t>和</a:t>
            </a:r>
            <a:r>
              <a:rPr lang="en-US" altLang="zh-CN" sz="2400" dirty="0"/>
              <a:t>101</a:t>
            </a:r>
            <a:r>
              <a:rPr lang="zh-CN" altLang="en-US" sz="2400" dirty="0"/>
              <a:t>赋予字符“</a:t>
            </a:r>
            <a:r>
              <a:rPr lang="en-US" altLang="zh-CN" sz="2400" dirty="0"/>
              <a:t>a</a:t>
            </a:r>
            <a:r>
              <a:rPr lang="zh-CN" altLang="en-US" sz="2400" dirty="0"/>
              <a:t>”和“</a:t>
            </a:r>
            <a:r>
              <a:rPr lang="en-US" altLang="zh-CN" sz="2400" dirty="0"/>
              <a:t>b</a:t>
            </a:r>
            <a:r>
              <a:rPr lang="zh-CN" altLang="en-US" sz="2400" dirty="0"/>
              <a:t>”就会存在二义性，不清楚</a:t>
            </a:r>
            <a:r>
              <a:rPr lang="en-US" altLang="zh-CN" sz="2400" dirty="0"/>
              <a:t>10</a:t>
            </a:r>
            <a:r>
              <a:rPr lang="zh-CN" altLang="en-US" sz="2400" dirty="0"/>
              <a:t>究竟是“</a:t>
            </a:r>
            <a:r>
              <a:rPr lang="en-US" altLang="zh-CN" sz="2400" dirty="0"/>
              <a:t>a</a:t>
            </a:r>
            <a:r>
              <a:rPr lang="zh-CN" altLang="en-US" sz="2400" dirty="0"/>
              <a:t>”的编码还是字符“</a:t>
            </a:r>
            <a:r>
              <a:rPr lang="en-US" altLang="zh-CN" sz="2400" dirty="0"/>
              <a:t>b</a:t>
            </a:r>
            <a:r>
              <a:rPr lang="zh-CN" altLang="en-US" sz="2400" dirty="0"/>
              <a:t>”编码的前缀。</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p:cTn id="7" dur="500" fill="hold"/>
                                        <p:tgtEl>
                                          <p:spTgt spid="4813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8131">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48131">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4813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anim calcmode="lin" valueType="num">
                                      <p:cBhvr>
                                        <p:cTn id="15" dur="500" fill="hold"/>
                                        <p:tgtEl>
                                          <p:spTgt spid="48131">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48131">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48131">
                                            <p:txEl>
                                              <p:pRg st="2" end="2"/>
                                            </p:txEl>
                                          </p:spTgt>
                                        </p:tgtEl>
                                        <p:attrNameLst>
                                          <p:attrName>style.rotation</p:attrName>
                                        </p:attrNameLst>
                                      </p:cBhvr>
                                      <p:tavLst>
                                        <p:tav tm="0">
                                          <p:val>
                                            <p:fltVal val="360"/>
                                          </p:val>
                                        </p:tav>
                                        <p:tav tm="100000">
                                          <p:val>
                                            <p:fltVal val="0"/>
                                          </p:val>
                                        </p:tav>
                                      </p:tavLst>
                                    </p:anim>
                                    <p:animEffect transition="in" filter="fade">
                                      <p:cBhvr>
                                        <p:cTn id="18" dur="500"/>
                                        <p:tgtEl>
                                          <p:spTgt spid="4813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48131">
                                            <p:txEl>
                                              <p:pRg st="4" end="4"/>
                                            </p:txEl>
                                          </p:spTgt>
                                        </p:tgtEl>
                                        <p:attrNameLst>
                                          <p:attrName>style.visibility</p:attrName>
                                        </p:attrNameLst>
                                      </p:cBhvr>
                                      <p:to>
                                        <p:strVal val="visible"/>
                                      </p:to>
                                    </p:set>
                                    <p:anim calcmode="lin" valueType="num">
                                      <p:cBhvr>
                                        <p:cTn id="23" dur="500" fill="hold"/>
                                        <p:tgtEl>
                                          <p:spTgt spid="48131">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48131">
                                            <p:txEl>
                                              <p:pRg st="4" end="4"/>
                                            </p:txEl>
                                          </p:spTgt>
                                        </p:tgtEl>
                                        <p:attrNameLst>
                                          <p:attrName>ppt_h</p:attrName>
                                        </p:attrNameLst>
                                      </p:cBhvr>
                                      <p:tavLst>
                                        <p:tav tm="0">
                                          <p:val>
                                            <p:fltVal val="0"/>
                                          </p:val>
                                        </p:tav>
                                        <p:tav tm="100000">
                                          <p:val>
                                            <p:strVal val="#ppt_h"/>
                                          </p:val>
                                        </p:tav>
                                      </p:tavLst>
                                    </p:anim>
                                    <p:anim calcmode="lin" valueType="num">
                                      <p:cBhvr>
                                        <p:cTn id="25" dur="500" fill="hold"/>
                                        <p:tgtEl>
                                          <p:spTgt spid="48131">
                                            <p:txEl>
                                              <p:pRg st="4" end="4"/>
                                            </p:txEl>
                                          </p:spTgt>
                                        </p:tgtEl>
                                        <p:attrNameLst>
                                          <p:attrName>style.rotation</p:attrName>
                                        </p:attrNameLst>
                                      </p:cBhvr>
                                      <p:tavLst>
                                        <p:tav tm="0">
                                          <p:val>
                                            <p:fltVal val="360"/>
                                          </p:val>
                                        </p:tav>
                                        <p:tav tm="100000">
                                          <p:val>
                                            <p:fltVal val="0"/>
                                          </p:val>
                                        </p:tav>
                                      </p:tavLst>
                                    </p:anim>
                                    <p:animEffect transition="in" filter="fade">
                                      <p:cBhvr>
                                        <p:cTn id="26" dur="500"/>
                                        <p:tgtEl>
                                          <p:spTgt spid="481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2643" name="Rectangle 2"/>
          <p:cNvSpPr>
            <a:spLocks noGrp="1"/>
          </p:cNvSpPr>
          <p:nvPr>
            <p:ph type="title"/>
          </p:nvPr>
        </p:nvSpPr>
        <p:spPr/>
        <p:txBody>
          <a:bodyPr vert="horz" wrap="square" lIns="91440" tIns="45720" rIns="91440" bIns="45720" anchor="ctr" anchorCtr="0"/>
          <a:lstStyle/>
          <a:p>
            <a:pPr eaLnBrk="1" hangingPunct="1"/>
            <a:r>
              <a:rPr lang="en-US" altLang="zh-CN" dirty="0"/>
              <a:t>5.3.5</a:t>
            </a:r>
            <a:r>
              <a:rPr lang="zh-CN" altLang="en-US" dirty="0"/>
              <a:t>霍夫曼编码树</a:t>
            </a:r>
            <a:r>
              <a:rPr lang="en-US" altLang="zh-CN" dirty="0"/>
              <a:t>——Huffman </a:t>
            </a:r>
            <a:r>
              <a:rPr lang="zh-CN" altLang="en-US" dirty="0"/>
              <a:t>编码</a:t>
            </a:r>
            <a:endParaRPr lang="en-US" altLang="zh-CN" dirty="0"/>
          </a:p>
        </p:txBody>
      </p:sp>
      <p:sp>
        <p:nvSpPr>
          <p:cNvPr id="49155" name="Rectangle 3"/>
          <p:cNvSpPr>
            <a:spLocks noGrp="1" noChangeArrowheads="1"/>
          </p:cNvSpPr>
          <p:nvPr>
            <p:ph idx="1"/>
          </p:nvPr>
        </p:nvSpPr>
        <p:spPr>
          <a:xfrm>
            <a:off x="862013" y="1268413"/>
            <a:ext cx="8102600" cy="460851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一旦满足前缀约束，编码就变得没有二义性了，就可以扫描比特序列直到找到某个字符的编码。</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对给定比特序列进行分析的一种方法是用一棵满二叉树，它的每一个内部节点都恰好有两个分支，标记为</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，这棵树中的叶子对应于字符，从根到叶的每一条路径上的</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的序列对应于一个字符的编码。</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Huffman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编码：</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这个算法由</a:t>
            </a:r>
            <a:r>
              <a:rPr kumimoji="0" lang="en-US" altLang="zh-CN" sz="2400" b="0" i="0" u="none" strike="noStrike" kern="0" cap="none" spc="0" normalizeH="0" baseline="0" noProof="0" dirty="0">
                <a:ln>
                  <a:noFill/>
                </a:ln>
                <a:solidFill>
                  <a:schemeClr val="accent2"/>
                </a:solidFill>
                <a:effectLst/>
                <a:uLnTx/>
                <a:uFillTx/>
                <a:latin typeface="+mn-lt"/>
                <a:ea typeface="+mn-ea"/>
                <a:cs typeface="+mn-ea"/>
              </a:rPr>
              <a:t>Huffman</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提出。由算法构造的编码满足</a:t>
            </a:r>
            <a:r>
              <a:rPr kumimoji="0" lang="zh-CN" altLang="en-US" sz="2400" b="0" i="0" u="none" strike="noStrike" kern="0" cap="none" spc="0" normalizeH="0" baseline="0" noProof="0" dirty="0">
                <a:ln>
                  <a:noFill/>
                </a:ln>
                <a:solidFill>
                  <a:srgbClr val="FF0000"/>
                </a:solidFill>
                <a:effectLst/>
                <a:uLnTx/>
                <a:uFillTx/>
                <a:latin typeface="+mn-lt"/>
                <a:ea typeface="+mn-ea"/>
                <a:cs typeface="+mn-ea"/>
              </a:rPr>
              <a:t>前缀约束</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，并且</a:t>
            </a:r>
            <a:r>
              <a:rPr kumimoji="0" lang="zh-CN" altLang="en-US" sz="2400" b="0" i="0" u="none" strike="noStrike" kern="0" cap="none" spc="0" normalizeH="0" baseline="0" noProof="0" dirty="0">
                <a:ln>
                  <a:noFill/>
                </a:ln>
                <a:solidFill>
                  <a:srgbClr val="FF0000"/>
                </a:solidFill>
                <a:effectLst/>
                <a:uLnTx/>
                <a:uFillTx/>
                <a:latin typeface="+mn-lt"/>
                <a:ea typeface="+mn-ea"/>
                <a:cs typeface="+mn-ea"/>
              </a:rPr>
              <a:t>最小化压缩</a:t>
            </a:r>
            <a:r>
              <a:rPr kumimoji="0" lang="zh-CN" altLang="en-US" sz="2400" b="0" i="0" u="none" strike="noStrike" kern="0" cap="none" spc="0" normalizeH="0" baseline="0" noProof="0" dirty="0">
                <a:ln>
                  <a:noFill/>
                </a:ln>
                <a:solidFill>
                  <a:schemeClr val="accent2"/>
                </a:solidFill>
                <a:effectLst/>
                <a:uLnTx/>
                <a:uFillTx/>
                <a:latin typeface="+mn-lt"/>
                <a:ea typeface="+mn-ea"/>
                <a:cs typeface="+mn-ea"/>
              </a:rPr>
              <a:t>文件的大小。</a:t>
            </a:r>
            <a:endParaRPr kumimoji="0" lang="en-US" altLang="zh-CN" sz="2400" b="0" i="0" u="none" strike="noStrike" kern="0" cap="none" spc="0" normalizeH="0" baseline="0" noProof="0" dirty="0">
              <a:ln>
                <a:noFill/>
              </a:ln>
              <a:solidFill>
                <a:schemeClr val="accent2"/>
              </a:solidFill>
              <a:effectLst/>
              <a:uLnTx/>
              <a:uFillTx/>
              <a:latin typeface="+mn-lt"/>
              <a:ea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anim calcmode="lin" valueType="num">
                                      <p:cBhvr additive="base">
                                        <p:cTn id="13"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9155">
                                            <p:txEl>
                                              <p:pRg st="4" end="4"/>
                                            </p:txEl>
                                          </p:spTgt>
                                        </p:tgtEl>
                                        <p:attrNameLst>
                                          <p:attrName>style.visibility</p:attrName>
                                        </p:attrNameLst>
                                      </p:cBhvr>
                                      <p:to>
                                        <p:strVal val="visible"/>
                                      </p:to>
                                    </p:set>
                                    <p:anim calcmode="lin" valueType="num">
                                      <p:cBhvr additive="base">
                                        <p:cTn id="19"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155">
                                            <p:txEl>
                                              <p:pRg st="5" end="5"/>
                                            </p:txEl>
                                          </p:spTgt>
                                        </p:tgtEl>
                                        <p:attrNameLst>
                                          <p:attrName>style.visibility</p:attrName>
                                        </p:attrNameLst>
                                      </p:cBhvr>
                                      <p:to>
                                        <p:strVal val="visible"/>
                                      </p:to>
                                    </p:set>
                                    <p:anim calcmode="lin" valueType="num">
                                      <p:cBhvr additive="base">
                                        <p:cTn id="25" dur="500" fill="hold"/>
                                        <p:tgtEl>
                                          <p:spTgt spid="4915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4"/>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4691" name="Rectangle 2"/>
          <p:cNvSpPr>
            <a:spLocks noGrp="1"/>
          </p:cNvSpPr>
          <p:nvPr>
            <p:ph type="title"/>
          </p:nvPr>
        </p:nvSpPr>
        <p:spPr/>
        <p:txBody>
          <a:bodyPr vert="horz" wrap="square" lIns="91440" tIns="45720" rIns="91440" bIns="45720" anchor="ctr" anchorCtr="0"/>
          <a:lstStyle/>
          <a:p>
            <a:pPr eaLnBrk="1" hangingPunct="1"/>
            <a:r>
              <a:rPr lang="en-US" altLang="zh-CN" dirty="0"/>
              <a:t>5.3.5</a:t>
            </a:r>
            <a:r>
              <a:rPr lang="zh-CN" altLang="en-US" dirty="0"/>
              <a:t>霍夫曼编码树</a:t>
            </a:r>
            <a:r>
              <a:rPr lang="en-US" altLang="zh-CN" dirty="0"/>
              <a:t>——</a:t>
            </a:r>
            <a:r>
              <a:rPr lang="zh-CN" altLang="en-US" dirty="0"/>
              <a:t>例子</a:t>
            </a:r>
            <a:endParaRPr lang="en-US" altLang="zh-CN" dirty="0"/>
          </a:p>
        </p:txBody>
      </p:sp>
      <p:sp>
        <p:nvSpPr>
          <p:cNvPr id="114692" name="Rectangle 3"/>
          <p:cNvSpPr>
            <a:spLocks noGrp="1"/>
          </p:cNvSpPr>
          <p:nvPr>
            <p:ph type="body" sz="half" idx="1"/>
          </p:nvPr>
        </p:nvSpPr>
        <p:spPr>
          <a:xfrm>
            <a:off x="890588" y="1268413"/>
            <a:ext cx="8218487" cy="4565650"/>
          </a:xfrm>
        </p:spPr>
        <p:txBody>
          <a:bodyPr vert="horz" wrap="square" lIns="91440" tIns="45720" rIns="91440" bIns="45720" anchor="t" anchorCtr="0"/>
          <a:lstStyle/>
          <a:p>
            <a:pPr eaLnBrk="1" hangingPunct="1">
              <a:lnSpc>
                <a:spcPct val="80000"/>
              </a:lnSpc>
              <a:buClrTx/>
              <a:buSzTx/>
              <a:buFontTx/>
            </a:pPr>
            <a:r>
              <a:rPr lang="zh-CN" altLang="en-US" dirty="0"/>
              <a:t>文件由字母</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和</a:t>
            </a:r>
            <a:r>
              <a:rPr lang="en-US" altLang="zh-CN" dirty="0"/>
              <a:t>e</a:t>
            </a:r>
            <a:r>
              <a:rPr lang="zh-CN" altLang="en-US" dirty="0"/>
              <a:t>组成</a:t>
            </a:r>
            <a:r>
              <a:rPr lang="en-US" altLang="zh-CN" dirty="0"/>
              <a:t>,  </a:t>
            </a:r>
            <a:r>
              <a:rPr lang="zh-CN" altLang="en-US" dirty="0"/>
              <a:t>频度为：</a:t>
            </a:r>
            <a:endParaRPr lang="en-US" altLang="zh-CN" dirty="0"/>
          </a:p>
        </p:txBody>
      </p:sp>
      <p:sp>
        <p:nvSpPr>
          <p:cNvPr id="51206" name="Oval 6"/>
          <p:cNvSpPr/>
          <p:nvPr/>
        </p:nvSpPr>
        <p:spPr>
          <a:xfrm>
            <a:off x="3348038" y="5019675"/>
            <a:ext cx="503237"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07" name="Oval 7"/>
          <p:cNvSpPr/>
          <p:nvPr/>
        </p:nvSpPr>
        <p:spPr>
          <a:xfrm>
            <a:off x="2411413" y="5019675"/>
            <a:ext cx="503237"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08" name="Oval 8"/>
          <p:cNvSpPr/>
          <p:nvPr/>
        </p:nvSpPr>
        <p:spPr>
          <a:xfrm>
            <a:off x="2873375" y="4300538"/>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09" name="Oval 9"/>
          <p:cNvSpPr/>
          <p:nvPr/>
        </p:nvSpPr>
        <p:spPr>
          <a:xfrm>
            <a:off x="6156325" y="5019675"/>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10" name="Oval 10"/>
          <p:cNvSpPr/>
          <p:nvPr/>
        </p:nvSpPr>
        <p:spPr>
          <a:xfrm>
            <a:off x="5651500" y="4371975"/>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11" name="Oval 11"/>
          <p:cNvSpPr/>
          <p:nvPr/>
        </p:nvSpPr>
        <p:spPr>
          <a:xfrm>
            <a:off x="5148263" y="5019675"/>
            <a:ext cx="503237"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7</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12" name="Oval 12"/>
          <p:cNvSpPr/>
          <p:nvPr/>
        </p:nvSpPr>
        <p:spPr>
          <a:xfrm>
            <a:off x="4140200" y="5019675"/>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13" name="Oval 13"/>
          <p:cNvSpPr/>
          <p:nvPr/>
        </p:nvSpPr>
        <p:spPr>
          <a:xfrm>
            <a:off x="5003800" y="3651250"/>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14" name="Oval 14"/>
          <p:cNvSpPr/>
          <p:nvPr/>
        </p:nvSpPr>
        <p:spPr>
          <a:xfrm>
            <a:off x="3924300" y="2859088"/>
            <a:ext cx="503238" cy="504825"/>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51215" name="Line 15"/>
          <p:cNvSpPr/>
          <p:nvPr/>
        </p:nvSpPr>
        <p:spPr>
          <a:xfrm>
            <a:off x="4427538" y="3219450"/>
            <a:ext cx="649287" cy="431800"/>
          </a:xfrm>
          <a:prstGeom prst="line">
            <a:avLst/>
          </a:prstGeom>
          <a:ln w="9525" cap="flat" cmpd="sng">
            <a:solidFill>
              <a:schemeClr val="tx1"/>
            </a:solidFill>
            <a:prstDash val="solid"/>
            <a:headEnd type="none" w="med" len="med"/>
            <a:tailEnd type="none" w="med" len="med"/>
          </a:ln>
        </p:spPr>
      </p:sp>
      <p:sp>
        <p:nvSpPr>
          <p:cNvPr id="51216" name="Line 16"/>
          <p:cNvSpPr/>
          <p:nvPr/>
        </p:nvSpPr>
        <p:spPr>
          <a:xfrm flipH="1">
            <a:off x="3203575" y="3292475"/>
            <a:ext cx="792163" cy="1008063"/>
          </a:xfrm>
          <a:prstGeom prst="line">
            <a:avLst/>
          </a:prstGeom>
          <a:ln w="9525" cap="flat" cmpd="sng">
            <a:solidFill>
              <a:schemeClr val="tx1"/>
            </a:solidFill>
            <a:prstDash val="solid"/>
            <a:headEnd type="none" w="med" len="med"/>
            <a:tailEnd type="none" w="med" len="med"/>
          </a:ln>
        </p:spPr>
      </p:sp>
      <p:sp>
        <p:nvSpPr>
          <p:cNvPr id="51217" name="Line 17"/>
          <p:cNvSpPr/>
          <p:nvPr/>
        </p:nvSpPr>
        <p:spPr>
          <a:xfrm flipH="1">
            <a:off x="2700338" y="4732338"/>
            <a:ext cx="215900" cy="287337"/>
          </a:xfrm>
          <a:prstGeom prst="line">
            <a:avLst/>
          </a:prstGeom>
          <a:ln w="9525" cap="flat" cmpd="sng">
            <a:solidFill>
              <a:schemeClr val="tx1"/>
            </a:solidFill>
            <a:prstDash val="solid"/>
            <a:headEnd type="none" w="med" len="med"/>
            <a:tailEnd type="none" w="med" len="med"/>
          </a:ln>
        </p:spPr>
      </p:sp>
      <p:sp>
        <p:nvSpPr>
          <p:cNvPr id="51218" name="Line 18"/>
          <p:cNvSpPr/>
          <p:nvPr/>
        </p:nvSpPr>
        <p:spPr>
          <a:xfrm>
            <a:off x="3276600" y="4803775"/>
            <a:ext cx="142875" cy="215900"/>
          </a:xfrm>
          <a:prstGeom prst="line">
            <a:avLst/>
          </a:prstGeom>
          <a:ln w="9525" cap="flat" cmpd="sng">
            <a:solidFill>
              <a:schemeClr val="tx1"/>
            </a:solidFill>
            <a:prstDash val="solid"/>
            <a:headEnd type="none" w="med" len="med"/>
            <a:tailEnd type="none" w="med" len="med"/>
          </a:ln>
        </p:spPr>
      </p:sp>
      <p:sp>
        <p:nvSpPr>
          <p:cNvPr id="51220" name="Line 20"/>
          <p:cNvSpPr/>
          <p:nvPr/>
        </p:nvSpPr>
        <p:spPr>
          <a:xfrm flipH="1">
            <a:off x="4427538" y="4156075"/>
            <a:ext cx="720725" cy="863600"/>
          </a:xfrm>
          <a:prstGeom prst="line">
            <a:avLst/>
          </a:prstGeom>
          <a:ln w="9525" cap="flat" cmpd="sng">
            <a:solidFill>
              <a:schemeClr val="tx1"/>
            </a:solidFill>
            <a:prstDash val="solid"/>
            <a:headEnd type="none" w="med" len="med"/>
            <a:tailEnd type="none" w="med" len="med"/>
          </a:ln>
        </p:spPr>
      </p:sp>
      <p:sp>
        <p:nvSpPr>
          <p:cNvPr id="51222" name="Line 22"/>
          <p:cNvSpPr/>
          <p:nvPr/>
        </p:nvSpPr>
        <p:spPr>
          <a:xfrm>
            <a:off x="5435600" y="4083050"/>
            <a:ext cx="288925" cy="360363"/>
          </a:xfrm>
          <a:prstGeom prst="line">
            <a:avLst/>
          </a:prstGeom>
          <a:ln w="9525" cap="flat" cmpd="sng">
            <a:solidFill>
              <a:schemeClr val="tx1"/>
            </a:solidFill>
            <a:prstDash val="solid"/>
            <a:headEnd type="none" w="med" len="med"/>
            <a:tailEnd type="none" w="med" len="med"/>
          </a:ln>
        </p:spPr>
      </p:sp>
      <p:sp>
        <p:nvSpPr>
          <p:cNvPr id="51223" name="Line 23"/>
          <p:cNvSpPr/>
          <p:nvPr/>
        </p:nvSpPr>
        <p:spPr>
          <a:xfrm flipH="1">
            <a:off x="5508625" y="4803775"/>
            <a:ext cx="215900" cy="215900"/>
          </a:xfrm>
          <a:prstGeom prst="line">
            <a:avLst/>
          </a:prstGeom>
          <a:ln w="9525" cap="flat" cmpd="sng">
            <a:solidFill>
              <a:schemeClr val="tx1"/>
            </a:solidFill>
            <a:prstDash val="solid"/>
            <a:headEnd type="none" w="med" len="med"/>
            <a:tailEnd type="none" w="med" len="med"/>
          </a:ln>
        </p:spPr>
      </p:sp>
      <p:sp>
        <p:nvSpPr>
          <p:cNvPr id="51224" name="Line 24"/>
          <p:cNvSpPr/>
          <p:nvPr/>
        </p:nvSpPr>
        <p:spPr>
          <a:xfrm>
            <a:off x="6084888" y="4803775"/>
            <a:ext cx="142875" cy="288925"/>
          </a:xfrm>
          <a:prstGeom prst="line">
            <a:avLst/>
          </a:prstGeom>
          <a:ln w="9525" cap="flat" cmpd="sng">
            <a:solidFill>
              <a:schemeClr val="tx1"/>
            </a:solidFill>
            <a:prstDash val="solid"/>
            <a:headEnd type="none" w="med" len="med"/>
            <a:tailEnd type="none" w="med" len="med"/>
          </a:ln>
        </p:spPr>
      </p:sp>
      <p:sp>
        <p:nvSpPr>
          <p:cNvPr id="51225" name="Text Box 25"/>
          <p:cNvSpPr txBox="1"/>
          <p:nvPr/>
        </p:nvSpPr>
        <p:spPr>
          <a:xfrm>
            <a:off x="3924300" y="2925763"/>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59</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26" name="Text Box 26"/>
          <p:cNvSpPr txBox="1"/>
          <p:nvPr/>
        </p:nvSpPr>
        <p:spPr>
          <a:xfrm>
            <a:off x="5018088" y="3703638"/>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21</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27" name="Text Box 27"/>
          <p:cNvSpPr txBox="1"/>
          <p:nvPr/>
        </p:nvSpPr>
        <p:spPr>
          <a:xfrm>
            <a:off x="2871788" y="4351338"/>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38</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28" name="Text Box 28"/>
          <p:cNvSpPr txBox="1"/>
          <p:nvPr/>
        </p:nvSpPr>
        <p:spPr>
          <a:xfrm>
            <a:off x="5703888" y="4438650"/>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11</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29" name="Text Box 29"/>
          <p:cNvSpPr txBox="1"/>
          <p:nvPr/>
        </p:nvSpPr>
        <p:spPr>
          <a:xfrm>
            <a:off x="2435225" y="5086350"/>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18</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30" name="Text Box 30"/>
          <p:cNvSpPr txBox="1"/>
          <p:nvPr/>
        </p:nvSpPr>
        <p:spPr>
          <a:xfrm>
            <a:off x="3400425" y="5086350"/>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20</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32" name="Text Box 32"/>
          <p:cNvSpPr txBox="1"/>
          <p:nvPr/>
        </p:nvSpPr>
        <p:spPr>
          <a:xfrm>
            <a:off x="4192588" y="5086350"/>
            <a:ext cx="46672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10</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34" name="Text Box 34"/>
          <p:cNvSpPr txBox="1"/>
          <p:nvPr/>
        </p:nvSpPr>
        <p:spPr>
          <a:xfrm>
            <a:off x="6208713" y="5086350"/>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4</a:t>
            </a:r>
            <a:endParaRPr lang="en-US" altLang="zh-CN" sz="2000" dirty="0">
              <a:solidFill>
                <a:srgbClr val="FF0000"/>
              </a:solidFill>
              <a:latin typeface="Arial" panose="020B0604020202020204" pitchFamily="34" charset="0"/>
              <a:ea typeface="宋体" panose="02010600030101010101" pitchFamily="2" charset="-122"/>
            </a:endParaRPr>
          </a:p>
        </p:txBody>
      </p:sp>
      <p:graphicFrame>
        <p:nvGraphicFramePr>
          <p:cNvPr id="114718" name="Object 35"/>
          <p:cNvGraphicFramePr>
            <a:graphicFrameLocks noGrp="1" noChangeAspect="1"/>
          </p:cNvGraphicFramePr>
          <p:nvPr>
            <p:ph sz="half" idx="2"/>
          </p:nvPr>
        </p:nvGraphicFramePr>
        <p:xfrm>
          <a:off x="1857375" y="1785938"/>
          <a:ext cx="5381625" cy="342900"/>
        </p:xfrm>
        <a:graphic>
          <a:graphicData uri="http://schemas.openxmlformats.org/presentationml/2006/ole">
            <mc:AlternateContent xmlns:mc="http://schemas.openxmlformats.org/markup-compatibility/2006">
              <mc:Choice xmlns:v="urn:schemas-microsoft-com:vml" Requires="v">
                <p:oleObj spid="_x0000_s6198" name="" r:id="rId1" imgW="3378200" imgH="203200" progId="Equation.3">
                  <p:embed/>
                </p:oleObj>
              </mc:Choice>
              <mc:Fallback>
                <p:oleObj name="" r:id="rId1" imgW="3378200" imgH="203200" progId="Equation.3">
                  <p:embed/>
                  <p:pic>
                    <p:nvPicPr>
                      <p:cNvPr id="0" name="图片 3075"/>
                      <p:cNvPicPr/>
                      <p:nvPr/>
                    </p:nvPicPr>
                    <p:blipFill>
                      <a:blip r:embed="rId2"/>
                      <a:srcRect/>
                      <a:stretch>
                        <a:fillRect/>
                      </a:stretch>
                    </p:blipFill>
                    <p:spPr>
                      <a:xfrm>
                        <a:off x="1857375" y="1785938"/>
                        <a:ext cx="5381625" cy="342900"/>
                      </a:xfrm>
                      <a:prstGeom prst="rect">
                        <a:avLst/>
                      </a:prstGeom>
                      <a:noFill/>
                      <a:ln w="38100">
                        <a:miter/>
                      </a:ln>
                    </p:spPr>
                  </p:pic>
                </p:oleObj>
              </mc:Fallback>
            </mc:AlternateContent>
          </a:graphicData>
        </a:graphic>
      </p:graphicFrame>
      <p:sp>
        <p:nvSpPr>
          <p:cNvPr id="51237" name="Text Box 37"/>
          <p:cNvSpPr txBox="1"/>
          <p:nvPr/>
        </p:nvSpPr>
        <p:spPr>
          <a:xfrm>
            <a:off x="2446338" y="5445125"/>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e</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38" name="Text Box 38"/>
          <p:cNvSpPr txBox="1"/>
          <p:nvPr/>
        </p:nvSpPr>
        <p:spPr>
          <a:xfrm>
            <a:off x="3414713" y="5451475"/>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solidFill>
                  <a:srgbClr val="FF0000"/>
                </a:solidFill>
                <a:latin typeface="Arial" panose="020B0604020202020204" pitchFamily="34" charset="0"/>
                <a:ea typeface="宋体" panose="02010600030101010101" pitchFamily="2" charset="-122"/>
              </a:rPr>
              <a:t>a</a:t>
            </a:r>
            <a:endParaRPr lang="en-US" altLang="zh-CN" sz="2000" dirty="0">
              <a:solidFill>
                <a:srgbClr val="FF0000"/>
              </a:solidFill>
              <a:latin typeface="Arial" panose="020B0604020202020204" pitchFamily="34" charset="0"/>
              <a:ea typeface="宋体" panose="02010600030101010101" pitchFamily="2" charset="-122"/>
            </a:endParaRPr>
          </a:p>
        </p:txBody>
      </p:sp>
      <p:sp>
        <p:nvSpPr>
          <p:cNvPr id="51239" name="Text Box 39"/>
          <p:cNvSpPr txBox="1"/>
          <p:nvPr/>
        </p:nvSpPr>
        <p:spPr>
          <a:xfrm>
            <a:off x="4211638" y="5459413"/>
            <a:ext cx="311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c</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0" name="Text Box 40"/>
          <p:cNvSpPr txBox="1"/>
          <p:nvPr/>
        </p:nvSpPr>
        <p:spPr>
          <a:xfrm>
            <a:off x="5200650" y="5445125"/>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b</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1" name="Text Box 41"/>
          <p:cNvSpPr txBox="1"/>
          <p:nvPr/>
        </p:nvSpPr>
        <p:spPr>
          <a:xfrm>
            <a:off x="6280150" y="5445125"/>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d</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2" name="Text Box 42"/>
          <p:cNvSpPr txBox="1"/>
          <p:nvPr/>
        </p:nvSpPr>
        <p:spPr>
          <a:xfrm>
            <a:off x="3598863" y="2852738"/>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3300"/>
                </a:solidFill>
                <a:latin typeface="Arial" panose="020B0604020202020204" pitchFamily="34" charset="0"/>
                <a:ea typeface="宋体" panose="02010600030101010101" pitchFamily="2" charset="-122"/>
              </a:rPr>
              <a:t>4</a:t>
            </a:r>
            <a:endParaRPr lang="en-US" altLang="zh-CN" sz="2000" i="1" dirty="0">
              <a:solidFill>
                <a:srgbClr val="FF3300"/>
              </a:solidFill>
              <a:latin typeface="Arial" panose="020B0604020202020204" pitchFamily="34" charset="0"/>
              <a:ea typeface="宋体" panose="02010600030101010101" pitchFamily="2" charset="-122"/>
            </a:endParaRPr>
          </a:p>
        </p:txBody>
      </p:sp>
      <p:sp>
        <p:nvSpPr>
          <p:cNvPr id="51243" name="Text Box 43"/>
          <p:cNvSpPr txBox="1"/>
          <p:nvPr/>
        </p:nvSpPr>
        <p:spPr>
          <a:xfrm>
            <a:off x="5580063" y="3651250"/>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2</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4" name="Text Box 44"/>
          <p:cNvSpPr txBox="1"/>
          <p:nvPr/>
        </p:nvSpPr>
        <p:spPr>
          <a:xfrm>
            <a:off x="2555875" y="4348163"/>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3300"/>
                </a:solidFill>
                <a:latin typeface="Arial" panose="020B0604020202020204" pitchFamily="34" charset="0"/>
                <a:ea typeface="宋体" panose="02010600030101010101" pitchFamily="2" charset="-122"/>
              </a:rPr>
              <a:t>3</a:t>
            </a:r>
            <a:endParaRPr lang="en-US" altLang="zh-CN" sz="2000" i="1" dirty="0">
              <a:solidFill>
                <a:srgbClr val="FF3300"/>
              </a:solidFill>
              <a:latin typeface="Arial" panose="020B0604020202020204" pitchFamily="34" charset="0"/>
              <a:ea typeface="宋体" panose="02010600030101010101" pitchFamily="2" charset="-122"/>
            </a:endParaRPr>
          </a:p>
        </p:txBody>
      </p:sp>
      <p:sp>
        <p:nvSpPr>
          <p:cNvPr id="51245" name="Text Box 45"/>
          <p:cNvSpPr txBox="1"/>
          <p:nvPr/>
        </p:nvSpPr>
        <p:spPr>
          <a:xfrm>
            <a:off x="4716463" y="3217863"/>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1</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6" name="Text Box 46"/>
          <p:cNvSpPr txBox="1"/>
          <p:nvPr/>
        </p:nvSpPr>
        <p:spPr>
          <a:xfrm>
            <a:off x="3276600" y="3506788"/>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0</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7" name="Text Box 47"/>
          <p:cNvSpPr txBox="1"/>
          <p:nvPr/>
        </p:nvSpPr>
        <p:spPr>
          <a:xfrm>
            <a:off x="2484438" y="4659313"/>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0</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8" name="Text Box 48"/>
          <p:cNvSpPr txBox="1"/>
          <p:nvPr/>
        </p:nvSpPr>
        <p:spPr>
          <a:xfrm>
            <a:off x="3348038" y="4694238"/>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1</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49" name="Text Box 49"/>
          <p:cNvSpPr txBox="1"/>
          <p:nvPr/>
        </p:nvSpPr>
        <p:spPr>
          <a:xfrm>
            <a:off x="4500563" y="4370388"/>
            <a:ext cx="325437"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0</a:t>
            </a:r>
            <a:endParaRPr lang="en-US" altLang="zh-CN" sz="2000" i="1" dirty="0">
              <a:solidFill>
                <a:srgbClr val="FF0000"/>
              </a:solidFill>
              <a:latin typeface="Arial" panose="020B0604020202020204" pitchFamily="34" charset="0"/>
              <a:ea typeface="宋体" panose="02010600030101010101" pitchFamily="2" charset="-122"/>
            </a:endParaRPr>
          </a:p>
        </p:txBody>
      </p:sp>
      <p:sp>
        <p:nvSpPr>
          <p:cNvPr id="51250" name="Text Box 50"/>
          <p:cNvSpPr txBox="1"/>
          <p:nvPr/>
        </p:nvSpPr>
        <p:spPr>
          <a:xfrm>
            <a:off x="5292725" y="4659313"/>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3300"/>
                </a:solidFill>
                <a:latin typeface="Arial" panose="020B0604020202020204" pitchFamily="34" charset="0"/>
                <a:ea typeface="宋体" panose="02010600030101010101" pitchFamily="2" charset="-122"/>
              </a:rPr>
              <a:t>0</a:t>
            </a:r>
            <a:endParaRPr lang="en-US" altLang="zh-CN" sz="2000" i="1" dirty="0">
              <a:solidFill>
                <a:srgbClr val="FF3300"/>
              </a:solidFill>
              <a:latin typeface="Arial" panose="020B0604020202020204" pitchFamily="34" charset="0"/>
              <a:ea typeface="宋体" panose="02010600030101010101" pitchFamily="2" charset="-122"/>
            </a:endParaRPr>
          </a:p>
        </p:txBody>
      </p:sp>
      <p:sp>
        <p:nvSpPr>
          <p:cNvPr id="51251" name="Text Box 51"/>
          <p:cNvSpPr txBox="1"/>
          <p:nvPr/>
        </p:nvSpPr>
        <p:spPr>
          <a:xfrm>
            <a:off x="6156325" y="4730750"/>
            <a:ext cx="325438"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solidFill>
                  <a:srgbClr val="FF0000"/>
                </a:solidFill>
                <a:latin typeface="Arial" panose="020B0604020202020204" pitchFamily="34" charset="0"/>
                <a:ea typeface="宋体" panose="02010600030101010101" pitchFamily="2" charset="-122"/>
              </a:rPr>
              <a:t>1</a:t>
            </a:r>
            <a:endParaRPr lang="en-US" altLang="zh-CN" sz="2000" i="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animEffect transition="in" filter="blinds(horizontal)">
                                      <p:cBhvr>
                                        <p:cTn id="7" dur="500"/>
                                        <p:tgtEl>
                                          <p:spTgt spid="5120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1207"/>
                                        </p:tgtEl>
                                        <p:attrNameLst>
                                          <p:attrName>style.visibility</p:attrName>
                                        </p:attrNameLst>
                                      </p:cBhvr>
                                      <p:to>
                                        <p:strVal val="visible"/>
                                      </p:to>
                                    </p:set>
                                    <p:animEffect transition="in" filter="blinds(horizontal)">
                                      <p:cBhvr>
                                        <p:cTn id="10" dur="500"/>
                                        <p:tgtEl>
                                          <p:spTgt spid="5120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1208"/>
                                        </p:tgtEl>
                                        <p:attrNameLst>
                                          <p:attrName>style.visibility</p:attrName>
                                        </p:attrNameLst>
                                      </p:cBhvr>
                                      <p:to>
                                        <p:strVal val="visible"/>
                                      </p:to>
                                    </p:set>
                                    <p:animEffect transition="in" filter="blinds(horizontal)">
                                      <p:cBhvr>
                                        <p:cTn id="13" dur="500"/>
                                        <p:tgtEl>
                                          <p:spTgt spid="5120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1209"/>
                                        </p:tgtEl>
                                        <p:attrNameLst>
                                          <p:attrName>style.visibility</p:attrName>
                                        </p:attrNameLst>
                                      </p:cBhvr>
                                      <p:to>
                                        <p:strVal val="visible"/>
                                      </p:to>
                                    </p:set>
                                    <p:animEffect transition="in" filter="blinds(horizontal)">
                                      <p:cBhvr>
                                        <p:cTn id="16" dur="500"/>
                                        <p:tgtEl>
                                          <p:spTgt spid="5120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1210"/>
                                        </p:tgtEl>
                                        <p:attrNameLst>
                                          <p:attrName>style.visibility</p:attrName>
                                        </p:attrNameLst>
                                      </p:cBhvr>
                                      <p:to>
                                        <p:strVal val="visible"/>
                                      </p:to>
                                    </p:set>
                                    <p:animEffect transition="in" filter="blinds(horizontal)">
                                      <p:cBhvr>
                                        <p:cTn id="19" dur="500"/>
                                        <p:tgtEl>
                                          <p:spTgt spid="5121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1211"/>
                                        </p:tgtEl>
                                        <p:attrNameLst>
                                          <p:attrName>style.visibility</p:attrName>
                                        </p:attrNameLst>
                                      </p:cBhvr>
                                      <p:to>
                                        <p:strVal val="visible"/>
                                      </p:to>
                                    </p:set>
                                    <p:animEffect transition="in" filter="blinds(horizontal)">
                                      <p:cBhvr>
                                        <p:cTn id="22" dur="500"/>
                                        <p:tgtEl>
                                          <p:spTgt spid="512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1212"/>
                                        </p:tgtEl>
                                        <p:attrNameLst>
                                          <p:attrName>style.visibility</p:attrName>
                                        </p:attrNameLst>
                                      </p:cBhvr>
                                      <p:to>
                                        <p:strVal val="visible"/>
                                      </p:to>
                                    </p:set>
                                    <p:animEffect transition="in" filter="blinds(horizontal)">
                                      <p:cBhvr>
                                        <p:cTn id="25" dur="500"/>
                                        <p:tgtEl>
                                          <p:spTgt spid="512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1213"/>
                                        </p:tgtEl>
                                        <p:attrNameLst>
                                          <p:attrName>style.visibility</p:attrName>
                                        </p:attrNameLst>
                                      </p:cBhvr>
                                      <p:to>
                                        <p:strVal val="visible"/>
                                      </p:to>
                                    </p:set>
                                    <p:animEffect transition="in" filter="blinds(horizontal)">
                                      <p:cBhvr>
                                        <p:cTn id="28" dur="500"/>
                                        <p:tgtEl>
                                          <p:spTgt spid="5121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1214"/>
                                        </p:tgtEl>
                                        <p:attrNameLst>
                                          <p:attrName>style.visibility</p:attrName>
                                        </p:attrNameLst>
                                      </p:cBhvr>
                                      <p:to>
                                        <p:strVal val="visible"/>
                                      </p:to>
                                    </p:set>
                                    <p:animEffect transition="in" filter="blinds(horizontal)">
                                      <p:cBhvr>
                                        <p:cTn id="31" dur="500"/>
                                        <p:tgtEl>
                                          <p:spTgt spid="51214"/>
                                        </p:tgtEl>
                                      </p:cBhvr>
                                    </p:animEffect>
                                  </p:childTnLst>
                                </p:cTn>
                              </p:par>
                              <p:par>
                                <p:cTn id="32" presetID="3" presetClass="entr" presetSubtype="10" fill="hold" nodeType="withEffect">
                                  <p:stCondLst>
                                    <p:cond delay="0"/>
                                  </p:stCondLst>
                                  <p:childTnLst>
                                    <p:set>
                                      <p:cBhvr>
                                        <p:cTn id="33" dur="1" fill="hold">
                                          <p:stCondLst>
                                            <p:cond delay="0"/>
                                          </p:stCondLst>
                                        </p:cTn>
                                        <p:tgtEl>
                                          <p:spTgt spid="51215"/>
                                        </p:tgtEl>
                                        <p:attrNameLst>
                                          <p:attrName>style.visibility</p:attrName>
                                        </p:attrNameLst>
                                      </p:cBhvr>
                                      <p:to>
                                        <p:strVal val="visible"/>
                                      </p:to>
                                    </p:set>
                                    <p:animEffect transition="in" filter="blinds(horizontal)">
                                      <p:cBhvr>
                                        <p:cTn id="34" dur="500"/>
                                        <p:tgtEl>
                                          <p:spTgt spid="51215"/>
                                        </p:tgtEl>
                                      </p:cBhvr>
                                    </p:animEffect>
                                  </p:childTnLst>
                                </p:cTn>
                              </p:par>
                              <p:par>
                                <p:cTn id="35" presetID="3" presetClass="entr" presetSubtype="10" fill="hold" nodeType="withEffect">
                                  <p:stCondLst>
                                    <p:cond delay="0"/>
                                  </p:stCondLst>
                                  <p:childTnLst>
                                    <p:set>
                                      <p:cBhvr>
                                        <p:cTn id="36" dur="1" fill="hold">
                                          <p:stCondLst>
                                            <p:cond delay="0"/>
                                          </p:stCondLst>
                                        </p:cTn>
                                        <p:tgtEl>
                                          <p:spTgt spid="51216"/>
                                        </p:tgtEl>
                                        <p:attrNameLst>
                                          <p:attrName>style.visibility</p:attrName>
                                        </p:attrNameLst>
                                      </p:cBhvr>
                                      <p:to>
                                        <p:strVal val="visible"/>
                                      </p:to>
                                    </p:set>
                                    <p:animEffect transition="in" filter="blinds(horizontal)">
                                      <p:cBhvr>
                                        <p:cTn id="37" dur="500"/>
                                        <p:tgtEl>
                                          <p:spTgt spid="51216"/>
                                        </p:tgtEl>
                                      </p:cBhvr>
                                    </p:animEffect>
                                  </p:childTnLst>
                                </p:cTn>
                              </p:par>
                              <p:par>
                                <p:cTn id="38" presetID="3" presetClass="entr" presetSubtype="10" fill="hold" nodeType="withEffect">
                                  <p:stCondLst>
                                    <p:cond delay="0"/>
                                  </p:stCondLst>
                                  <p:childTnLst>
                                    <p:set>
                                      <p:cBhvr>
                                        <p:cTn id="39" dur="1" fill="hold">
                                          <p:stCondLst>
                                            <p:cond delay="0"/>
                                          </p:stCondLst>
                                        </p:cTn>
                                        <p:tgtEl>
                                          <p:spTgt spid="51217"/>
                                        </p:tgtEl>
                                        <p:attrNameLst>
                                          <p:attrName>style.visibility</p:attrName>
                                        </p:attrNameLst>
                                      </p:cBhvr>
                                      <p:to>
                                        <p:strVal val="visible"/>
                                      </p:to>
                                    </p:set>
                                    <p:animEffect transition="in" filter="blinds(horizontal)">
                                      <p:cBhvr>
                                        <p:cTn id="40" dur="500"/>
                                        <p:tgtEl>
                                          <p:spTgt spid="51217"/>
                                        </p:tgtEl>
                                      </p:cBhvr>
                                    </p:animEffect>
                                  </p:childTnLst>
                                </p:cTn>
                              </p:par>
                              <p:par>
                                <p:cTn id="41" presetID="3" presetClass="entr" presetSubtype="10" fill="hold" nodeType="withEffect">
                                  <p:stCondLst>
                                    <p:cond delay="0"/>
                                  </p:stCondLst>
                                  <p:childTnLst>
                                    <p:set>
                                      <p:cBhvr>
                                        <p:cTn id="42" dur="1" fill="hold">
                                          <p:stCondLst>
                                            <p:cond delay="0"/>
                                          </p:stCondLst>
                                        </p:cTn>
                                        <p:tgtEl>
                                          <p:spTgt spid="51218"/>
                                        </p:tgtEl>
                                        <p:attrNameLst>
                                          <p:attrName>style.visibility</p:attrName>
                                        </p:attrNameLst>
                                      </p:cBhvr>
                                      <p:to>
                                        <p:strVal val="visible"/>
                                      </p:to>
                                    </p:set>
                                    <p:animEffect transition="in" filter="blinds(horizontal)">
                                      <p:cBhvr>
                                        <p:cTn id="43" dur="500"/>
                                        <p:tgtEl>
                                          <p:spTgt spid="51218"/>
                                        </p:tgtEl>
                                      </p:cBhvr>
                                    </p:animEffect>
                                  </p:childTnLst>
                                </p:cTn>
                              </p:par>
                              <p:par>
                                <p:cTn id="44" presetID="3" presetClass="entr" presetSubtype="10" fill="hold" nodeType="withEffect">
                                  <p:stCondLst>
                                    <p:cond delay="0"/>
                                  </p:stCondLst>
                                  <p:childTnLst>
                                    <p:set>
                                      <p:cBhvr>
                                        <p:cTn id="45" dur="1" fill="hold">
                                          <p:stCondLst>
                                            <p:cond delay="0"/>
                                          </p:stCondLst>
                                        </p:cTn>
                                        <p:tgtEl>
                                          <p:spTgt spid="51220"/>
                                        </p:tgtEl>
                                        <p:attrNameLst>
                                          <p:attrName>style.visibility</p:attrName>
                                        </p:attrNameLst>
                                      </p:cBhvr>
                                      <p:to>
                                        <p:strVal val="visible"/>
                                      </p:to>
                                    </p:set>
                                    <p:animEffect transition="in" filter="blinds(horizontal)">
                                      <p:cBhvr>
                                        <p:cTn id="46" dur="500"/>
                                        <p:tgtEl>
                                          <p:spTgt spid="51220"/>
                                        </p:tgtEl>
                                      </p:cBhvr>
                                    </p:animEffect>
                                  </p:childTnLst>
                                </p:cTn>
                              </p:par>
                              <p:par>
                                <p:cTn id="47" presetID="3" presetClass="entr" presetSubtype="10" fill="hold" nodeType="withEffect">
                                  <p:stCondLst>
                                    <p:cond delay="0"/>
                                  </p:stCondLst>
                                  <p:childTnLst>
                                    <p:set>
                                      <p:cBhvr>
                                        <p:cTn id="48" dur="1" fill="hold">
                                          <p:stCondLst>
                                            <p:cond delay="0"/>
                                          </p:stCondLst>
                                        </p:cTn>
                                        <p:tgtEl>
                                          <p:spTgt spid="51222"/>
                                        </p:tgtEl>
                                        <p:attrNameLst>
                                          <p:attrName>style.visibility</p:attrName>
                                        </p:attrNameLst>
                                      </p:cBhvr>
                                      <p:to>
                                        <p:strVal val="visible"/>
                                      </p:to>
                                    </p:set>
                                    <p:animEffect transition="in" filter="blinds(horizontal)">
                                      <p:cBhvr>
                                        <p:cTn id="49" dur="500"/>
                                        <p:tgtEl>
                                          <p:spTgt spid="51222"/>
                                        </p:tgtEl>
                                      </p:cBhvr>
                                    </p:animEffect>
                                  </p:childTnLst>
                                </p:cTn>
                              </p:par>
                              <p:par>
                                <p:cTn id="50" presetID="3" presetClass="entr" presetSubtype="10" fill="hold" nodeType="withEffect">
                                  <p:stCondLst>
                                    <p:cond delay="0"/>
                                  </p:stCondLst>
                                  <p:childTnLst>
                                    <p:set>
                                      <p:cBhvr>
                                        <p:cTn id="51" dur="1" fill="hold">
                                          <p:stCondLst>
                                            <p:cond delay="0"/>
                                          </p:stCondLst>
                                        </p:cTn>
                                        <p:tgtEl>
                                          <p:spTgt spid="51223"/>
                                        </p:tgtEl>
                                        <p:attrNameLst>
                                          <p:attrName>style.visibility</p:attrName>
                                        </p:attrNameLst>
                                      </p:cBhvr>
                                      <p:to>
                                        <p:strVal val="visible"/>
                                      </p:to>
                                    </p:set>
                                    <p:animEffect transition="in" filter="blinds(horizontal)">
                                      <p:cBhvr>
                                        <p:cTn id="52" dur="500"/>
                                        <p:tgtEl>
                                          <p:spTgt spid="51223"/>
                                        </p:tgtEl>
                                      </p:cBhvr>
                                    </p:animEffect>
                                  </p:childTnLst>
                                </p:cTn>
                              </p:par>
                              <p:par>
                                <p:cTn id="53" presetID="3" presetClass="entr" presetSubtype="10" fill="hold" nodeType="withEffect">
                                  <p:stCondLst>
                                    <p:cond delay="0"/>
                                  </p:stCondLst>
                                  <p:childTnLst>
                                    <p:set>
                                      <p:cBhvr>
                                        <p:cTn id="54" dur="1" fill="hold">
                                          <p:stCondLst>
                                            <p:cond delay="0"/>
                                          </p:stCondLst>
                                        </p:cTn>
                                        <p:tgtEl>
                                          <p:spTgt spid="51224"/>
                                        </p:tgtEl>
                                        <p:attrNameLst>
                                          <p:attrName>style.visibility</p:attrName>
                                        </p:attrNameLst>
                                      </p:cBhvr>
                                      <p:to>
                                        <p:strVal val="visible"/>
                                      </p:to>
                                    </p:set>
                                    <p:animEffect transition="in" filter="blinds(horizontal)">
                                      <p:cBhvr>
                                        <p:cTn id="55" dur="500"/>
                                        <p:tgtEl>
                                          <p:spTgt spid="51224"/>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51225"/>
                                        </p:tgtEl>
                                        <p:attrNameLst>
                                          <p:attrName>style.visibility</p:attrName>
                                        </p:attrNameLst>
                                      </p:cBhvr>
                                      <p:to>
                                        <p:strVal val="visible"/>
                                      </p:to>
                                    </p:set>
                                    <p:animEffect transition="in" filter="blinds(horizontal)">
                                      <p:cBhvr>
                                        <p:cTn id="58" dur="500"/>
                                        <p:tgtEl>
                                          <p:spTgt spid="51225"/>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51226"/>
                                        </p:tgtEl>
                                        <p:attrNameLst>
                                          <p:attrName>style.visibility</p:attrName>
                                        </p:attrNameLst>
                                      </p:cBhvr>
                                      <p:to>
                                        <p:strVal val="visible"/>
                                      </p:to>
                                    </p:set>
                                    <p:animEffect transition="in" filter="blinds(horizontal)">
                                      <p:cBhvr>
                                        <p:cTn id="61" dur="500"/>
                                        <p:tgtEl>
                                          <p:spTgt spid="51226"/>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51227"/>
                                        </p:tgtEl>
                                        <p:attrNameLst>
                                          <p:attrName>style.visibility</p:attrName>
                                        </p:attrNameLst>
                                      </p:cBhvr>
                                      <p:to>
                                        <p:strVal val="visible"/>
                                      </p:to>
                                    </p:set>
                                    <p:animEffect transition="in" filter="blinds(horizontal)">
                                      <p:cBhvr>
                                        <p:cTn id="64" dur="500"/>
                                        <p:tgtEl>
                                          <p:spTgt spid="51227"/>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51228"/>
                                        </p:tgtEl>
                                        <p:attrNameLst>
                                          <p:attrName>style.visibility</p:attrName>
                                        </p:attrNameLst>
                                      </p:cBhvr>
                                      <p:to>
                                        <p:strVal val="visible"/>
                                      </p:to>
                                    </p:set>
                                    <p:animEffect transition="in" filter="blinds(horizontal)">
                                      <p:cBhvr>
                                        <p:cTn id="67" dur="500"/>
                                        <p:tgtEl>
                                          <p:spTgt spid="51228"/>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51229"/>
                                        </p:tgtEl>
                                        <p:attrNameLst>
                                          <p:attrName>style.visibility</p:attrName>
                                        </p:attrNameLst>
                                      </p:cBhvr>
                                      <p:to>
                                        <p:strVal val="visible"/>
                                      </p:to>
                                    </p:set>
                                    <p:animEffect transition="in" filter="blinds(horizontal)">
                                      <p:cBhvr>
                                        <p:cTn id="70" dur="500"/>
                                        <p:tgtEl>
                                          <p:spTgt spid="51229"/>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51230"/>
                                        </p:tgtEl>
                                        <p:attrNameLst>
                                          <p:attrName>style.visibility</p:attrName>
                                        </p:attrNameLst>
                                      </p:cBhvr>
                                      <p:to>
                                        <p:strVal val="visible"/>
                                      </p:to>
                                    </p:set>
                                    <p:animEffect transition="in" filter="blinds(horizontal)">
                                      <p:cBhvr>
                                        <p:cTn id="73" dur="500"/>
                                        <p:tgtEl>
                                          <p:spTgt spid="51230"/>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51232"/>
                                        </p:tgtEl>
                                        <p:attrNameLst>
                                          <p:attrName>style.visibility</p:attrName>
                                        </p:attrNameLst>
                                      </p:cBhvr>
                                      <p:to>
                                        <p:strVal val="visible"/>
                                      </p:to>
                                    </p:set>
                                    <p:animEffect transition="in" filter="blinds(horizontal)">
                                      <p:cBhvr>
                                        <p:cTn id="76" dur="500"/>
                                        <p:tgtEl>
                                          <p:spTgt spid="51232"/>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51234"/>
                                        </p:tgtEl>
                                        <p:attrNameLst>
                                          <p:attrName>style.visibility</p:attrName>
                                        </p:attrNameLst>
                                      </p:cBhvr>
                                      <p:to>
                                        <p:strVal val="visible"/>
                                      </p:to>
                                    </p:set>
                                    <p:animEffect transition="in" filter="blinds(horizontal)">
                                      <p:cBhvr>
                                        <p:cTn id="79" dur="500"/>
                                        <p:tgtEl>
                                          <p:spTgt spid="51234"/>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51237"/>
                                        </p:tgtEl>
                                        <p:attrNameLst>
                                          <p:attrName>style.visibility</p:attrName>
                                        </p:attrNameLst>
                                      </p:cBhvr>
                                      <p:to>
                                        <p:strVal val="visible"/>
                                      </p:to>
                                    </p:set>
                                    <p:animEffect transition="in" filter="blinds(horizontal)">
                                      <p:cBhvr>
                                        <p:cTn id="82" dur="500"/>
                                        <p:tgtEl>
                                          <p:spTgt spid="51237"/>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51238"/>
                                        </p:tgtEl>
                                        <p:attrNameLst>
                                          <p:attrName>style.visibility</p:attrName>
                                        </p:attrNameLst>
                                      </p:cBhvr>
                                      <p:to>
                                        <p:strVal val="visible"/>
                                      </p:to>
                                    </p:set>
                                    <p:animEffect transition="in" filter="blinds(horizontal)">
                                      <p:cBhvr>
                                        <p:cTn id="85" dur="500"/>
                                        <p:tgtEl>
                                          <p:spTgt spid="51238"/>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1239"/>
                                        </p:tgtEl>
                                        <p:attrNameLst>
                                          <p:attrName>style.visibility</p:attrName>
                                        </p:attrNameLst>
                                      </p:cBhvr>
                                      <p:to>
                                        <p:strVal val="visible"/>
                                      </p:to>
                                    </p:set>
                                    <p:animEffect transition="in" filter="blinds(horizontal)">
                                      <p:cBhvr>
                                        <p:cTn id="88" dur="500"/>
                                        <p:tgtEl>
                                          <p:spTgt spid="51239"/>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51240"/>
                                        </p:tgtEl>
                                        <p:attrNameLst>
                                          <p:attrName>style.visibility</p:attrName>
                                        </p:attrNameLst>
                                      </p:cBhvr>
                                      <p:to>
                                        <p:strVal val="visible"/>
                                      </p:to>
                                    </p:set>
                                    <p:animEffect transition="in" filter="blinds(horizontal)">
                                      <p:cBhvr>
                                        <p:cTn id="91" dur="500"/>
                                        <p:tgtEl>
                                          <p:spTgt spid="51240"/>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51241"/>
                                        </p:tgtEl>
                                        <p:attrNameLst>
                                          <p:attrName>style.visibility</p:attrName>
                                        </p:attrNameLst>
                                      </p:cBhvr>
                                      <p:to>
                                        <p:strVal val="visible"/>
                                      </p:to>
                                    </p:set>
                                    <p:animEffect transition="in" filter="blinds(horizontal)">
                                      <p:cBhvr>
                                        <p:cTn id="94" dur="500"/>
                                        <p:tgtEl>
                                          <p:spTgt spid="51241"/>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51242"/>
                                        </p:tgtEl>
                                        <p:attrNameLst>
                                          <p:attrName>style.visibility</p:attrName>
                                        </p:attrNameLst>
                                      </p:cBhvr>
                                      <p:to>
                                        <p:strVal val="visible"/>
                                      </p:to>
                                    </p:set>
                                    <p:animEffect transition="in" filter="blinds(horizontal)">
                                      <p:cBhvr>
                                        <p:cTn id="97" dur="500"/>
                                        <p:tgtEl>
                                          <p:spTgt spid="51242"/>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51243"/>
                                        </p:tgtEl>
                                        <p:attrNameLst>
                                          <p:attrName>style.visibility</p:attrName>
                                        </p:attrNameLst>
                                      </p:cBhvr>
                                      <p:to>
                                        <p:strVal val="visible"/>
                                      </p:to>
                                    </p:set>
                                    <p:animEffect transition="in" filter="blinds(horizontal)">
                                      <p:cBhvr>
                                        <p:cTn id="100" dur="500"/>
                                        <p:tgtEl>
                                          <p:spTgt spid="51243"/>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51244"/>
                                        </p:tgtEl>
                                        <p:attrNameLst>
                                          <p:attrName>style.visibility</p:attrName>
                                        </p:attrNameLst>
                                      </p:cBhvr>
                                      <p:to>
                                        <p:strVal val="visible"/>
                                      </p:to>
                                    </p:set>
                                    <p:animEffect transition="in" filter="blinds(horizontal)">
                                      <p:cBhvr>
                                        <p:cTn id="103" dur="500"/>
                                        <p:tgtEl>
                                          <p:spTgt spid="51244"/>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51245"/>
                                        </p:tgtEl>
                                        <p:attrNameLst>
                                          <p:attrName>style.visibility</p:attrName>
                                        </p:attrNameLst>
                                      </p:cBhvr>
                                      <p:to>
                                        <p:strVal val="visible"/>
                                      </p:to>
                                    </p:set>
                                    <p:animEffect transition="in" filter="blinds(horizontal)">
                                      <p:cBhvr>
                                        <p:cTn id="106" dur="500"/>
                                        <p:tgtEl>
                                          <p:spTgt spid="51245"/>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51246"/>
                                        </p:tgtEl>
                                        <p:attrNameLst>
                                          <p:attrName>style.visibility</p:attrName>
                                        </p:attrNameLst>
                                      </p:cBhvr>
                                      <p:to>
                                        <p:strVal val="visible"/>
                                      </p:to>
                                    </p:set>
                                    <p:animEffect transition="in" filter="blinds(horizontal)">
                                      <p:cBhvr>
                                        <p:cTn id="109" dur="500"/>
                                        <p:tgtEl>
                                          <p:spTgt spid="51246"/>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51247"/>
                                        </p:tgtEl>
                                        <p:attrNameLst>
                                          <p:attrName>style.visibility</p:attrName>
                                        </p:attrNameLst>
                                      </p:cBhvr>
                                      <p:to>
                                        <p:strVal val="visible"/>
                                      </p:to>
                                    </p:set>
                                    <p:animEffect transition="in" filter="blinds(horizontal)">
                                      <p:cBhvr>
                                        <p:cTn id="112" dur="500"/>
                                        <p:tgtEl>
                                          <p:spTgt spid="51247"/>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51248"/>
                                        </p:tgtEl>
                                        <p:attrNameLst>
                                          <p:attrName>style.visibility</p:attrName>
                                        </p:attrNameLst>
                                      </p:cBhvr>
                                      <p:to>
                                        <p:strVal val="visible"/>
                                      </p:to>
                                    </p:set>
                                    <p:animEffect transition="in" filter="blinds(horizontal)">
                                      <p:cBhvr>
                                        <p:cTn id="115" dur="500"/>
                                        <p:tgtEl>
                                          <p:spTgt spid="51248"/>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51249"/>
                                        </p:tgtEl>
                                        <p:attrNameLst>
                                          <p:attrName>style.visibility</p:attrName>
                                        </p:attrNameLst>
                                      </p:cBhvr>
                                      <p:to>
                                        <p:strVal val="visible"/>
                                      </p:to>
                                    </p:set>
                                    <p:animEffect transition="in" filter="blinds(horizontal)">
                                      <p:cBhvr>
                                        <p:cTn id="118" dur="500"/>
                                        <p:tgtEl>
                                          <p:spTgt spid="51249"/>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51250"/>
                                        </p:tgtEl>
                                        <p:attrNameLst>
                                          <p:attrName>style.visibility</p:attrName>
                                        </p:attrNameLst>
                                      </p:cBhvr>
                                      <p:to>
                                        <p:strVal val="visible"/>
                                      </p:to>
                                    </p:set>
                                    <p:animEffect transition="in" filter="blinds(horizontal)">
                                      <p:cBhvr>
                                        <p:cTn id="121" dur="500"/>
                                        <p:tgtEl>
                                          <p:spTgt spid="51250"/>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51251"/>
                                        </p:tgtEl>
                                        <p:attrNameLst>
                                          <p:attrName>style.visibility</p:attrName>
                                        </p:attrNameLst>
                                      </p:cBhvr>
                                      <p:to>
                                        <p:strVal val="visible"/>
                                      </p:to>
                                    </p:set>
                                    <p:animEffect transition="in" filter="blinds(horizontal)">
                                      <p:cBhvr>
                                        <p:cTn id="124" dur="500"/>
                                        <p:tgtEl>
                                          <p:spTgt spid="51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P spid="51207" grpId="0" animBg="1"/>
      <p:bldP spid="51208" grpId="0" animBg="1"/>
      <p:bldP spid="51209" grpId="0" animBg="1"/>
      <p:bldP spid="51210" grpId="0" animBg="1"/>
      <p:bldP spid="51211" grpId="0" animBg="1"/>
      <p:bldP spid="51212" grpId="0" animBg="1"/>
      <p:bldP spid="51213" grpId="0" animBg="1"/>
      <p:bldP spid="51214" grpId="0" animBg="1"/>
      <p:bldP spid="51225" grpId="0"/>
      <p:bldP spid="51226" grpId="0"/>
      <p:bldP spid="51227" grpId="0"/>
      <p:bldP spid="51228" grpId="0"/>
      <p:bldP spid="51229" grpId="0"/>
      <p:bldP spid="51230" grpId="0"/>
      <p:bldP spid="51232" grpId="0"/>
      <p:bldP spid="51234" grpId="0"/>
      <p:bldP spid="51237" grpId="0"/>
      <p:bldP spid="51238" grpId="0"/>
      <p:bldP spid="51239" grpId="0"/>
      <p:bldP spid="51240" grpId="0"/>
      <p:bldP spid="51241" grpId="0"/>
      <p:bldP spid="51242" grpId="0"/>
      <p:bldP spid="51243" grpId="0"/>
      <p:bldP spid="51244" grpId="0"/>
      <p:bldP spid="51245" grpId="0"/>
      <p:bldP spid="51246" grpId="0"/>
      <p:bldP spid="51247" grpId="0"/>
      <p:bldP spid="51248" grpId="0"/>
      <p:bldP spid="51249" grpId="0"/>
      <p:bldP spid="51250" grpId="0"/>
      <p:bldP spid="5125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6739" name="Rectangle 5"/>
          <p:cNvSpPr>
            <a:spLocks noGrp="1"/>
          </p:cNvSpPr>
          <p:nvPr>
            <p:ph idx="1"/>
          </p:nvPr>
        </p:nvSpPr>
        <p:spPr>
          <a:xfrm>
            <a:off x="755650" y="476250"/>
            <a:ext cx="7994650" cy="5648325"/>
          </a:xfrm>
          <a:solidFill>
            <a:schemeClr val="bg1">
              <a:alpha val="100000"/>
            </a:schemeClr>
          </a:solidFill>
        </p:spPr>
        <p:txBody>
          <a:bodyPr vert="horz" wrap="square" lIns="91440" tIns="45720" rIns="91440" bIns="45720" anchor="t" anchorCtr="0"/>
          <a:lstStyle/>
          <a:p>
            <a:pPr marL="495300" indent="-495300" eaLnBrk="1" hangingPunct="1">
              <a:lnSpc>
                <a:spcPct val="90000"/>
              </a:lnSpc>
              <a:buNone/>
            </a:pPr>
            <a:r>
              <a:rPr lang="zh-CN" altLang="en-US" sz="2700" b="1" dirty="0"/>
              <a:t>算法</a:t>
            </a:r>
            <a:r>
              <a:rPr lang="en-US" altLang="zh-CN" sz="2700" b="1" dirty="0"/>
              <a:t> HUFFMAN</a:t>
            </a:r>
            <a:endParaRPr lang="en-US" altLang="zh-CN" sz="2700" b="1" dirty="0"/>
          </a:p>
          <a:p>
            <a:pPr marL="725805" lvl="1" indent="-268605" eaLnBrk="1" hangingPunct="1">
              <a:lnSpc>
                <a:spcPct val="90000"/>
              </a:lnSpc>
              <a:buNone/>
            </a:pPr>
            <a:endParaRPr lang="en-US" altLang="zh-CN" sz="2000" b="1" dirty="0"/>
          </a:p>
          <a:p>
            <a:pPr marL="725805" lvl="1" indent="-268605" eaLnBrk="1" hangingPunct="1">
              <a:lnSpc>
                <a:spcPct val="90000"/>
              </a:lnSpc>
              <a:buNone/>
            </a:pPr>
            <a:r>
              <a:rPr lang="zh-CN" altLang="en-US" sz="2000" dirty="0"/>
              <a:t>输入</a:t>
            </a:r>
            <a:r>
              <a:rPr lang="en-US" altLang="zh-CN" sz="2000" dirty="0"/>
              <a:t>:  n</a:t>
            </a:r>
            <a:r>
              <a:rPr lang="zh-CN" altLang="en-US" sz="2000" dirty="0"/>
              <a:t>个字符的集合</a:t>
            </a:r>
            <a:r>
              <a:rPr lang="en-US" altLang="zh-CN" sz="2000" dirty="0"/>
              <a:t>C={c</a:t>
            </a:r>
            <a:r>
              <a:rPr lang="en-US" altLang="zh-CN" sz="2000" baseline="-25000" dirty="0"/>
              <a:t>1</a:t>
            </a:r>
            <a:r>
              <a:rPr lang="en-US" altLang="zh-CN" sz="2000" dirty="0"/>
              <a:t>,c</a:t>
            </a:r>
            <a:r>
              <a:rPr lang="en-US" altLang="zh-CN" sz="2000" baseline="-25000" dirty="0"/>
              <a:t>2</a:t>
            </a:r>
            <a:r>
              <a:rPr lang="en-US" altLang="zh-CN" sz="2000" dirty="0"/>
              <a:t>,…,c</a:t>
            </a:r>
            <a:r>
              <a:rPr lang="en-US" altLang="zh-CN" sz="2000" baseline="-25000" dirty="0"/>
              <a:t>n</a:t>
            </a:r>
            <a:r>
              <a:rPr lang="en-US" altLang="zh-CN" sz="2000" dirty="0"/>
              <a:t>}</a:t>
            </a:r>
            <a:r>
              <a:rPr lang="zh-CN" altLang="en-US" sz="2000" dirty="0"/>
              <a:t>和它们的频度</a:t>
            </a:r>
            <a:r>
              <a:rPr lang="en-US" altLang="zh-CN" sz="2000" dirty="0"/>
              <a:t>{f(c</a:t>
            </a:r>
            <a:r>
              <a:rPr lang="en-US" altLang="zh-CN" sz="2000" baseline="-25000" dirty="0"/>
              <a:t>1</a:t>
            </a:r>
            <a:r>
              <a:rPr lang="en-US" altLang="zh-CN" sz="2000" dirty="0"/>
              <a:t>),f(c</a:t>
            </a:r>
            <a:r>
              <a:rPr lang="en-US" altLang="zh-CN" sz="2000" baseline="-25000" dirty="0"/>
              <a:t>2</a:t>
            </a:r>
            <a:r>
              <a:rPr lang="en-US" altLang="zh-CN" sz="2000" dirty="0"/>
              <a:t>),…,f(c</a:t>
            </a:r>
            <a:r>
              <a:rPr lang="en-US" altLang="zh-CN" sz="2000" baseline="-25000" dirty="0"/>
              <a:t>n</a:t>
            </a:r>
            <a:r>
              <a:rPr lang="en-US" altLang="zh-CN" sz="2000" dirty="0"/>
              <a:t>)}.</a:t>
            </a:r>
            <a:endParaRPr lang="en-US" altLang="zh-CN" sz="2000" dirty="0"/>
          </a:p>
          <a:p>
            <a:pPr marL="725805" lvl="1" indent="-268605" eaLnBrk="1" hangingPunct="1">
              <a:lnSpc>
                <a:spcPct val="90000"/>
              </a:lnSpc>
              <a:buNone/>
            </a:pPr>
            <a:r>
              <a:rPr lang="zh-CN" altLang="en-US" sz="2000" dirty="0"/>
              <a:t>输出</a:t>
            </a:r>
            <a:r>
              <a:rPr lang="en-US" altLang="zh-CN" sz="2000" dirty="0"/>
              <a:t>:  C</a:t>
            </a:r>
            <a:r>
              <a:rPr lang="zh-CN" altLang="en-US" sz="2000" dirty="0"/>
              <a:t>的</a:t>
            </a:r>
            <a:r>
              <a:rPr lang="en-US" altLang="zh-CN" sz="2000" dirty="0"/>
              <a:t>Huffman </a:t>
            </a:r>
            <a:r>
              <a:rPr lang="zh-CN" altLang="en-US" sz="2000" dirty="0"/>
              <a:t>树</a:t>
            </a:r>
            <a:r>
              <a:rPr lang="en-US" altLang="zh-CN" sz="2000" dirty="0"/>
              <a:t>(V,T)</a:t>
            </a:r>
            <a:endParaRPr lang="en-US" altLang="zh-CN" sz="2000" dirty="0"/>
          </a:p>
          <a:p>
            <a:pPr marL="725805" lvl="1" indent="-268605" eaLnBrk="1" hangingPunct="1">
              <a:lnSpc>
                <a:spcPct val="90000"/>
              </a:lnSpc>
              <a:buNone/>
            </a:pPr>
            <a:r>
              <a:rPr lang="en-US" altLang="zh-CN" sz="2000" dirty="0"/>
              <a:t>	1.</a:t>
            </a:r>
            <a:r>
              <a:rPr lang="zh-CN" altLang="en-US" sz="2000" dirty="0"/>
              <a:t>根据频度将所有字符插入最小堆</a:t>
            </a:r>
            <a:r>
              <a:rPr lang="en-US" altLang="zh-CN" sz="2000" dirty="0"/>
              <a:t>H</a:t>
            </a:r>
            <a:endParaRPr lang="en-US" altLang="zh-CN" sz="2000" dirty="0"/>
          </a:p>
          <a:p>
            <a:pPr marL="725805" lvl="1" indent="-268605" eaLnBrk="1" hangingPunct="1">
              <a:lnSpc>
                <a:spcPct val="90000"/>
              </a:lnSpc>
              <a:buNone/>
            </a:pPr>
            <a:r>
              <a:rPr lang="en-US" altLang="zh-CN" sz="2000" dirty="0"/>
              <a:t>	2. V</a:t>
            </a:r>
            <a:r>
              <a:rPr lang="en-US" altLang="zh-CN" sz="2000" dirty="0">
                <a:sym typeface="Wingdings" panose="05000000000000000000" pitchFamily="2" charset="2"/>
              </a:rPr>
              <a:t>C; 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3. </a:t>
            </a:r>
            <a:r>
              <a:rPr lang="en-US" altLang="zh-CN" sz="2000" b="1" dirty="0">
                <a:sym typeface="Wingdings" panose="05000000000000000000" pitchFamily="2" charset="2"/>
              </a:rPr>
              <a:t>for</a:t>
            </a:r>
            <a:r>
              <a:rPr lang="en-US" altLang="zh-CN" sz="2000" dirty="0">
                <a:sym typeface="Wingdings" panose="05000000000000000000" pitchFamily="2" charset="2"/>
              </a:rPr>
              <a:t> j1 </a:t>
            </a:r>
            <a:r>
              <a:rPr lang="en-US" altLang="zh-CN" sz="2000" b="1" dirty="0">
                <a:sym typeface="Wingdings" panose="05000000000000000000" pitchFamily="2" charset="2"/>
              </a:rPr>
              <a:t>to</a:t>
            </a:r>
            <a:r>
              <a:rPr lang="en-US" altLang="zh-CN" sz="2000" dirty="0">
                <a:sym typeface="Wingdings" panose="05000000000000000000" pitchFamily="2" charset="2"/>
              </a:rPr>
              <a:t> n-1</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4.	</a:t>
            </a:r>
            <a:r>
              <a:rPr lang="en-US" altLang="zh-CN" sz="2000" i="1" dirty="0">
                <a:sym typeface="Wingdings" panose="05000000000000000000" pitchFamily="2" charset="2"/>
              </a:rPr>
              <a:t>cDELETEMIN(H)</a:t>
            </a:r>
            <a:endParaRPr lang="en-US" altLang="zh-CN" sz="2000" i="1"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5.	</a:t>
            </a:r>
            <a:r>
              <a:rPr lang="en-US" altLang="zh-CN" sz="2000" i="1" dirty="0">
                <a:sym typeface="Wingdings" panose="05000000000000000000" pitchFamily="2" charset="2"/>
              </a:rPr>
              <a:t>c’DELETEMIN(H)</a:t>
            </a:r>
            <a:endParaRPr lang="en-US" altLang="zh-CN" sz="2000" i="1"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6.	</a:t>
            </a:r>
            <a:r>
              <a:rPr lang="en-US" altLang="zh-CN" sz="2000" i="1" dirty="0">
                <a:sym typeface="Wingdings" panose="05000000000000000000" pitchFamily="2" charset="2"/>
              </a:rPr>
              <a:t>f(v)f(c)+f(c’)</a:t>
            </a:r>
            <a:r>
              <a:rPr lang="en-US" altLang="zh-CN" sz="2000" dirty="0">
                <a:sym typeface="Wingdings" panose="05000000000000000000" pitchFamily="2" charset="2"/>
              </a:rPr>
              <a:t>        {</a:t>
            </a:r>
            <a:r>
              <a:rPr lang="en-US" altLang="zh-CN" sz="2000" i="1" dirty="0">
                <a:sym typeface="Wingdings" panose="05000000000000000000" pitchFamily="2" charset="2"/>
              </a:rPr>
              <a:t>v </a:t>
            </a:r>
            <a:r>
              <a:rPr lang="zh-CN" altLang="en-US" sz="2000" dirty="0">
                <a:sym typeface="Wingdings" panose="05000000000000000000" pitchFamily="2" charset="2"/>
              </a:rPr>
              <a:t>是一个新节点</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7.	</a:t>
            </a:r>
            <a:r>
              <a:rPr lang="en-US" altLang="zh-CN" sz="2000" i="1" dirty="0">
                <a:sym typeface="Wingdings" panose="05000000000000000000" pitchFamily="2" charset="2"/>
              </a:rPr>
              <a:t>INSERT(H,v)</a:t>
            </a:r>
            <a:endParaRPr lang="en-US" altLang="zh-CN" sz="2000" i="1"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8.	</a:t>
            </a:r>
            <a:r>
              <a:rPr lang="en-US" altLang="zh-CN" sz="2000" i="1" dirty="0">
                <a:sym typeface="Wingdings" panose="05000000000000000000" pitchFamily="2" charset="2"/>
              </a:rPr>
              <a:t>V=V </a:t>
            </a:r>
            <a:r>
              <a:rPr lang="en-US" altLang="zh-CN" sz="2000" i="1" dirty="0">
                <a:sym typeface="Symbol" panose="05050102010706020507" pitchFamily="18" charset="2"/>
              </a:rPr>
              <a:t>∪</a:t>
            </a:r>
            <a:r>
              <a:rPr lang="en-US" altLang="zh-CN" sz="2000" i="1" dirty="0">
                <a:sym typeface="Wingdings" panose="05000000000000000000" pitchFamily="2" charset="2"/>
              </a:rPr>
              <a:t>{v}</a:t>
            </a:r>
            <a:r>
              <a:rPr lang="en-US" altLang="zh-CN" sz="2000" dirty="0">
                <a:sym typeface="Wingdings" panose="05000000000000000000" pitchFamily="2" charset="2"/>
              </a:rPr>
              <a:t>    {</a:t>
            </a:r>
            <a:r>
              <a:rPr lang="zh-CN" altLang="en-US" sz="2000" dirty="0">
                <a:sym typeface="Wingdings" panose="05000000000000000000" pitchFamily="2" charset="2"/>
              </a:rPr>
              <a:t>添加</a:t>
            </a:r>
            <a:r>
              <a:rPr lang="en-US" altLang="zh-CN" sz="2000" i="1" dirty="0">
                <a:sym typeface="Wingdings" panose="05000000000000000000" pitchFamily="2" charset="2"/>
              </a:rPr>
              <a:t>v </a:t>
            </a:r>
            <a:r>
              <a:rPr lang="zh-CN" altLang="en-US" sz="2000" dirty="0">
                <a:sym typeface="Wingdings" panose="05000000000000000000" pitchFamily="2" charset="2"/>
              </a:rPr>
              <a:t>到</a:t>
            </a:r>
            <a:r>
              <a:rPr lang="en-US" altLang="zh-CN" sz="2000" i="1" dirty="0">
                <a:sym typeface="Wingdings" panose="05000000000000000000" pitchFamily="2" charset="2"/>
              </a:rPr>
              <a:t> V</a:t>
            </a:r>
            <a:r>
              <a:rPr lang="en-US" altLang="zh-CN" sz="2000" dirty="0">
                <a:sym typeface="Wingdings" panose="05000000000000000000" pitchFamily="2" charset="2"/>
              </a:rPr>
              <a: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sym typeface="Wingdings" panose="05000000000000000000" pitchFamily="2" charset="2"/>
              </a:rPr>
              <a:t>	9.	</a:t>
            </a:r>
            <a:r>
              <a:rPr lang="en-US" altLang="zh-CN" sz="2000" i="1" dirty="0">
                <a:sym typeface="Wingdings" panose="05000000000000000000" pitchFamily="2" charset="2"/>
              </a:rPr>
              <a:t>T=T </a:t>
            </a:r>
            <a:r>
              <a:rPr lang="en-US" altLang="zh-CN" sz="2000" i="1" dirty="0">
                <a:sym typeface="Symbol" panose="05050102010706020507" pitchFamily="18" charset="2"/>
              </a:rPr>
              <a:t>∪{(v,c),(v,c’)}</a:t>
            </a:r>
            <a:r>
              <a:rPr lang="en-US" altLang="zh-CN" sz="2000" dirty="0">
                <a:sym typeface="Symbol" panose="05050102010706020507" pitchFamily="18" charset="2"/>
              </a:rPr>
              <a:t>    {</a:t>
            </a:r>
            <a:r>
              <a:rPr lang="zh-CN" altLang="en-US" sz="2000" dirty="0">
                <a:sym typeface="Symbol" panose="05050102010706020507" pitchFamily="18" charset="2"/>
              </a:rPr>
              <a:t>使</a:t>
            </a:r>
            <a:r>
              <a:rPr lang="en-US" altLang="zh-CN" sz="2000" dirty="0">
                <a:sym typeface="Symbol" panose="05050102010706020507" pitchFamily="18" charset="2"/>
              </a:rPr>
              <a:t>c</a:t>
            </a:r>
            <a:r>
              <a:rPr lang="zh-CN" altLang="en-US" sz="2000" dirty="0">
                <a:sym typeface="Symbol" panose="05050102010706020507" pitchFamily="18" charset="2"/>
              </a:rPr>
              <a:t>和</a:t>
            </a:r>
            <a:r>
              <a:rPr lang="en-US" altLang="zh-CN" sz="2000" dirty="0">
                <a:sym typeface="Symbol" panose="05050102010706020507" pitchFamily="18" charset="2"/>
              </a:rPr>
              <a:t>c’</a:t>
            </a:r>
            <a:r>
              <a:rPr lang="zh-CN" altLang="en-US" sz="2000" dirty="0">
                <a:sym typeface="Symbol" panose="05050102010706020507" pitchFamily="18" charset="2"/>
              </a:rPr>
              <a:t>成为</a:t>
            </a:r>
            <a:r>
              <a:rPr lang="en-US" altLang="zh-CN" sz="2000" dirty="0">
                <a:sym typeface="Symbol" panose="05050102010706020507" pitchFamily="18" charset="2"/>
              </a:rPr>
              <a:t>T</a:t>
            </a:r>
            <a:r>
              <a:rPr lang="zh-CN" altLang="en-US" sz="2000" dirty="0">
                <a:sym typeface="Symbol" panose="05050102010706020507" pitchFamily="18" charset="2"/>
              </a:rPr>
              <a:t>中</a:t>
            </a:r>
            <a:r>
              <a:rPr lang="en-US" altLang="zh-CN" sz="2000" dirty="0">
                <a:sym typeface="Symbol" panose="05050102010706020507" pitchFamily="18" charset="2"/>
              </a:rPr>
              <a:t>v</a:t>
            </a:r>
            <a:r>
              <a:rPr lang="zh-CN" altLang="en-US" sz="2000" dirty="0">
                <a:sym typeface="Symbol" panose="05050102010706020507" pitchFamily="18" charset="2"/>
              </a:rPr>
              <a:t>的孩子</a:t>
            </a:r>
            <a:r>
              <a:rPr lang="en-US" altLang="zh-CN" sz="2000" dirty="0">
                <a:sym typeface="Symbol" panose="05050102010706020507" pitchFamily="18" charset="2"/>
              </a:rPr>
              <a:t>}</a:t>
            </a:r>
            <a:endParaRPr lang="en-US" altLang="zh-CN" sz="2000" dirty="0">
              <a:sym typeface="Wingdings" panose="05000000000000000000" pitchFamily="2" charset="2"/>
            </a:endParaRPr>
          </a:p>
          <a:p>
            <a:pPr marL="725805" lvl="1" indent="-268605" eaLnBrk="1" hangingPunct="1">
              <a:lnSpc>
                <a:spcPct val="90000"/>
              </a:lnSpc>
              <a:buNone/>
            </a:pPr>
            <a:r>
              <a:rPr lang="en-US" altLang="zh-CN" sz="2000" dirty="0"/>
              <a:t>   10. </a:t>
            </a:r>
            <a:r>
              <a:rPr lang="en-US" altLang="zh-CN" sz="2000" b="1" dirty="0"/>
              <a:t>end for</a:t>
            </a:r>
            <a:endParaRPr lang="en-US" altLang="zh-CN" sz="2000" b="1" dirty="0"/>
          </a:p>
          <a:p>
            <a:pPr marL="725805" lvl="1" indent="-268605" eaLnBrk="1" hangingPunct="1">
              <a:lnSpc>
                <a:spcPct val="90000"/>
              </a:lnSpc>
              <a:buNone/>
            </a:pPr>
            <a:endParaRPr lang="en-US" altLang="zh-CN"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页脚占位符 3"/>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18787" name="Rectangle 2"/>
          <p:cNvSpPr>
            <a:spLocks noGrp="1"/>
          </p:cNvSpPr>
          <p:nvPr>
            <p:ph type="title"/>
          </p:nvPr>
        </p:nvSpPr>
        <p:spPr/>
        <p:txBody>
          <a:bodyPr vert="horz" wrap="square" lIns="91440" tIns="45720" rIns="91440" bIns="45720" anchor="ctr" anchorCtr="0"/>
          <a:lstStyle/>
          <a:p>
            <a:pPr eaLnBrk="1" hangingPunct="1"/>
            <a:r>
              <a:rPr lang="en-US" altLang="zh-CN" dirty="0"/>
              <a:t>5.3.5</a:t>
            </a:r>
            <a:r>
              <a:rPr lang="zh-CN" altLang="en-US" dirty="0"/>
              <a:t>霍夫曼编码树</a:t>
            </a:r>
            <a:r>
              <a:rPr lang="en-US" altLang="zh-CN" dirty="0"/>
              <a:t>——</a:t>
            </a:r>
            <a:r>
              <a:rPr lang="zh-CN" altLang="en-US" dirty="0"/>
              <a:t>算法分析</a:t>
            </a:r>
            <a:endParaRPr lang="en-US" altLang="zh-CN" dirty="0"/>
          </a:p>
        </p:txBody>
      </p:sp>
      <p:sp>
        <p:nvSpPr>
          <p:cNvPr id="70659" name="Rectangle 3"/>
          <p:cNvSpPr>
            <a:spLocks noGrp="1"/>
          </p:cNvSpPr>
          <p:nvPr>
            <p:ph idx="1"/>
          </p:nvPr>
        </p:nvSpPr>
        <p:spPr/>
        <p:txBody>
          <a:bodyPr vert="horz" wrap="square" lIns="91440" tIns="45720" rIns="91440" bIns="45720" anchor="t" anchorCtr="0"/>
          <a:lstStyle/>
          <a:p>
            <a:pPr lvl="1" eaLnBrk="1" hangingPunct="1"/>
            <a:r>
              <a:rPr lang="zh-CN" altLang="en-US" dirty="0">
                <a:latin typeface="Times New Roman" panose="02020603050405020304" pitchFamily="18" charset="0"/>
                <a:ea typeface="华文楷体" panose="02010600040101010101" pitchFamily="2" charset="-122"/>
              </a:rPr>
              <a:t>把所有字符插人堆中需要时间</a:t>
            </a:r>
            <a:r>
              <a:rPr lang="en-US" altLang="zh-CN" dirty="0">
                <a:latin typeface="Times New Roman" panose="02020603050405020304" pitchFamily="18" charset="0"/>
                <a:ea typeface="华文楷体" panose="02010600040101010101" pitchFamily="2" charset="-122"/>
                <a:sym typeface="Symbol" panose="05050102010706020507" pitchFamily="18" charset="2"/>
              </a:rPr>
              <a:t>(n)</a:t>
            </a:r>
            <a:r>
              <a:rPr lang="zh-CN" altLang="en-US" dirty="0">
                <a:latin typeface="Times New Roman" panose="02020603050405020304" pitchFamily="18" charset="0"/>
                <a:ea typeface="华文楷体" panose="02010600040101010101" pitchFamily="2" charset="-122"/>
              </a:rPr>
              <a:t> 。</a:t>
            </a:r>
            <a:endParaRPr lang="en-US" altLang="zh-CN"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从堆中删除两个元素和加一个新元素需要的时间是</a:t>
            </a:r>
            <a:r>
              <a:rPr lang="en-US" altLang="zh-CN" dirty="0">
                <a:latin typeface="Times New Roman" panose="02020603050405020304" pitchFamily="18" charset="0"/>
                <a:ea typeface="华文楷体" panose="02010600040101010101" pitchFamily="2" charset="-122"/>
              </a:rPr>
              <a:t>O(log n) </a:t>
            </a:r>
            <a:r>
              <a:rPr lang="zh-CN" altLang="en-US"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因为这被重复</a:t>
            </a:r>
            <a:r>
              <a:rPr lang="en-US" altLang="zh-CN" dirty="0">
                <a:latin typeface="Times New Roman" panose="02020603050405020304" pitchFamily="18" charset="0"/>
                <a:ea typeface="华文楷体" panose="02010600040101010101" pitchFamily="2" charset="-122"/>
              </a:rPr>
              <a:t>n-1</a:t>
            </a:r>
            <a:r>
              <a:rPr lang="zh-CN" altLang="en-US" dirty="0">
                <a:latin typeface="Times New Roman" panose="02020603050405020304" pitchFamily="18" charset="0"/>
                <a:ea typeface="华文楷体" panose="02010600040101010101" pitchFamily="2" charset="-122"/>
              </a:rPr>
              <a:t>次，</a:t>
            </a:r>
            <a:r>
              <a:rPr lang="en-US" altLang="zh-CN" dirty="0">
                <a:latin typeface="Times New Roman" panose="02020603050405020304" pitchFamily="18" charset="0"/>
                <a:ea typeface="华文楷体" panose="02010600040101010101" pitchFamily="2" charset="-122"/>
              </a:rPr>
              <a:t>for</a:t>
            </a:r>
            <a:r>
              <a:rPr lang="zh-CN" altLang="en-US" dirty="0">
                <a:latin typeface="Times New Roman" panose="02020603050405020304" pitchFamily="18" charset="0"/>
                <a:ea typeface="华文楷体" panose="02010600040101010101" pitchFamily="2" charset="-122"/>
              </a:rPr>
              <a:t>循环需要的所有时间是</a:t>
            </a:r>
            <a:r>
              <a:rPr lang="en-US" altLang="zh-CN" dirty="0">
                <a:latin typeface="Times New Roman" panose="02020603050405020304" pitchFamily="18" charset="0"/>
                <a:ea typeface="华文楷体" panose="02010600040101010101" pitchFamily="2" charset="-122"/>
              </a:rPr>
              <a:t>O(nlogn) </a:t>
            </a:r>
            <a:r>
              <a:rPr lang="zh-CN" altLang="en-US" dirty="0">
                <a:latin typeface="Times New Roman" panose="02020603050405020304" pitchFamily="18" charset="0"/>
                <a:ea typeface="华文楷体" panose="02010600040101010101" pitchFamily="2" charset="-122"/>
              </a:rPr>
              <a:t>，</a:t>
            </a:r>
            <a:endParaRPr lang="en-US" altLang="zh-CN" dirty="0">
              <a:latin typeface="Times New Roman" panose="02020603050405020304" pitchFamily="18" charset="0"/>
              <a:ea typeface="华文楷体" panose="02010600040101010101" pitchFamily="2" charset="-122"/>
            </a:endParaRPr>
          </a:p>
          <a:p>
            <a:pPr lvl="1" eaLnBrk="1" hangingPunct="1"/>
            <a:endParaRPr lang="en-US" altLang="zh-CN"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就得到算法的时间复杂性是</a:t>
            </a:r>
            <a:r>
              <a:rPr lang="en-US" altLang="zh-CN" sz="2400" dirty="0">
                <a:solidFill>
                  <a:srgbClr val="FF0000"/>
                </a:solidFill>
                <a:latin typeface="Times New Roman" panose="02020603050405020304" pitchFamily="18" charset="0"/>
                <a:ea typeface="华文楷体" panose="02010600040101010101" pitchFamily="2" charset="-122"/>
              </a:rPr>
              <a:t>O(nlogn)</a:t>
            </a:r>
            <a:endParaRPr lang="en-US" altLang="zh-CN" dirty="0">
              <a:solidFill>
                <a:srgbClr val="FF0000"/>
              </a:solidFill>
              <a:latin typeface="Times New Roman" panose="02020603050405020304" pitchFamily="18" charset="0"/>
              <a:ea typeface="华文楷体" panose="02010600040101010101" pitchFamily="2" charset="-122"/>
            </a:endParaRPr>
          </a:p>
          <a:p>
            <a:pPr lvl="1" eaLnBrk="1" hangingPunct="1"/>
            <a:endParaRPr lang="en-US" altLang="zh-CN" dirty="0">
              <a:ea typeface="华文楷体" panose="02010600040101010101" pitchFamily="2" charset="-122"/>
            </a:endParaRPr>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0659">
                                            <p:txEl>
                                              <p:pRg st="2" end="2"/>
                                            </p:txEl>
                                          </p:spTgt>
                                        </p:tgtEl>
                                        <p:attrNameLst>
                                          <p:attrName>style.visibility</p:attrName>
                                        </p:attrNameLst>
                                      </p:cBhvr>
                                      <p:to>
                                        <p:strVal val="visible"/>
                                      </p:to>
                                    </p:set>
                                    <p:anim calcmode="lin" valueType="num">
                                      <p:cBhvr additive="base">
                                        <p:cTn id="19"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0659">
                                            <p:txEl>
                                              <p:pRg st="4" end="4"/>
                                            </p:txEl>
                                          </p:spTgt>
                                        </p:tgtEl>
                                        <p:attrNameLst>
                                          <p:attrName>style.visibility</p:attrName>
                                        </p:attrNameLst>
                                      </p:cBhvr>
                                      <p:to>
                                        <p:strVal val="visible"/>
                                      </p:to>
                                    </p:set>
                                    <p:anim calcmode="lin" valueType="num">
                                      <p:cBhvr additive="base">
                                        <p:cTn id="25" dur="500" fill="hold"/>
                                        <p:tgtEl>
                                          <p:spTgt spid="706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6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9150" y="1377060"/>
            <a:ext cx="7929563" cy="4103880"/>
          </a:xfrm>
          <a:prstGeom prst="rect">
            <a:avLst/>
          </a:prstGeom>
          <a:noFill/>
        </p:spPr>
        <p:txBody>
          <a:bodyPr>
            <a:spAutoFit/>
          </a:bodyPr>
          <a:lstStyle/>
          <a:p>
            <a:pPr marR="0" defTabSz="914400">
              <a:lnSpc>
                <a:spcPct val="150000"/>
              </a:lnSpc>
              <a:buClrTx/>
              <a:buSzTx/>
              <a:buFontTx/>
              <a:buNone/>
              <a:defRPr/>
            </a:pPr>
            <a:r>
              <a:rPr lang="zh-CN" altLang="zh-CN" sz="2200" dirty="0">
                <a:solidFill>
                  <a:srgbClr val="FF0000"/>
                </a:solidFill>
                <a:latin typeface="Times New Roman" panose="02020603050405020304" pitchFamily="18" charset="0"/>
                <a:ea typeface="华文楷体" panose="02010600040101010101" pitchFamily="2" charset="-122"/>
              </a:rPr>
              <a:t>【问题描述】</a:t>
            </a:r>
            <a:r>
              <a:rPr lang="zh-CN" altLang="zh-CN" sz="2200" dirty="0">
                <a:solidFill>
                  <a:schemeClr val="accent2"/>
                </a:solidFill>
                <a:latin typeface="Times New Roman" panose="02020603050405020304" pitchFamily="18" charset="0"/>
                <a:ea typeface="华文楷体" panose="02010600040101010101" pitchFamily="2" charset="-122"/>
              </a:rPr>
              <a:t>假设有一个需要使用某一资源的</a:t>
            </a:r>
            <a:r>
              <a:rPr lang="en-US" altLang="zh-CN" sz="2200" dirty="0">
                <a:solidFill>
                  <a:schemeClr val="accent2"/>
                </a:solidFill>
                <a:latin typeface="Times New Roman" panose="02020603050405020304" pitchFamily="18" charset="0"/>
                <a:ea typeface="华文楷体" panose="02010600040101010101" pitchFamily="2" charset="-122"/>
              </a:rPr>
              <a:t>n</a:t>
            </a:r>
            <a:r>
              <a:rPr lang="zh-CN" altLang="zh-CN" sz="2200" dirty="0">
                <a:solidFill>
                  <a:schemeClr val="accent2"/>
                </a:solidFill>
                <a:latin typeface="Times New Roman" panose="02020603050405020304" pitchFamily="18" charset="0"/>
                <a:ea typeface="华文楷体" panose="02010600040101010101" pitchFamily="2" charset="-122"/>
              </a:rPr>
              <a:t>个活动所组成的集合</a:t>
            </a:r>
            <a:r>
              <a:rPr lang="en-US" altLang="zh-CN" sz="2200" dirty="0">
                <a:solidFill>
                  <a:schemeClr val="accent2"/>
                </a:solidFill>
                <a:latin typeface="Times New Roman" panose="02020603050405020304" pitchFamily="18" charset="0"/>
                <a:ea typeface="华文楷体" panose="02010600040101010101" pitchFamily="2" charset="-122"/>
              </a:rPr>
              <a:t>S</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a:solidFill>
                  <a:schemeClr val="accent2"/>
                </a:solidFill>
                <a:latin typeface="Times New Roman" panose="02020603050405020304" pitchFamily="18" charset="0"/>
                <a:ea typeface="华文楷体" panose="02010600040101010101" pitchFamily="2" charset="-122"/>
              </a:rPr>
              <a:t>S={1</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a:solidFill>
                  <a:schemeClr val="accent2"/>
                </a:solidFill>
                <a:latin typeface="Times New Roman" panose="02020603050405020304" pitchFamily="18" charset="0"/>
                <a:ea typeface="华文楷体" panose="02010600040101010101" pitchFamily="2" charset="-122"/>
              </a:rPr>
              <a:t>…</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a:solidFill>
                  <a:schemeClr val="accent2"/>
                </a:solidFill>
                <a:latin typeface="Times New Roman" panose="02020603050405020304" pitchFamily="18" charset="0"/>
                <a:ea typeface="华文楷体" panose="02010600040101010101" pitchFamily="2" charset="-122"/>
              </a:rPr>
              <a:t>n}</a:t>
            </a:r>
            <a:r>
              <a:rPr lang="zh-CN" altLang="zh-CN" sz="2200" dirty="0">
                <a:solidFill>
                  <a:schemeClr val="accent2"/>
                </a:solidFill>
                <a:latin typeface="Times New Roman" panose="02020603050405020304" pitchFamily="18" charset="0"/>
                <a:ea typeface="华文楷体" panose="02010600040101010101" pitchFamily="2" charset="-122"/>
              </a:rPr>
              <a:t>。该资源任何时刻只能被一个活动所占用，活动</a:t>
            </a:r>
            <a:r>
              <a:rPr lang="en-US" altLang="zh-CN" sz="2200" dirty="0" err="1">
                <a:solidFill>
                  <a:schemeClr val="accent2"/>
                </a:solidFill>
                <a:latin typeface="Times New Roman" panose="02020603050405020304" pitchFamily="18" charset="0"/>
                <a:ea typeface="华文楷体" panose="02010600040101010101" pitchFamily="2" charset="-122"/>
              </a:rPr>
              <a:t>i</a:t>
            </a:r>
            <a:r>
              <a:rPr lang="zh-CN" altLang="zh-CN" sz="2200" dirty="0">
                <a:solidFill>
                  <a:schemeClr val="accent2"/>
                </a:solidFill>
                <a:latin typeface="Times New Roman" panose="02020603050405020304" pitchFamily="18" charset="0"/>
                <a:ea typeface="华文楷体" panose="02010600040101010101" pitchFamily="2" charset="-122"/>
              </a:rPr>
              <a:t>有一个开始时间</a:t>
            </a:r>
            <a:r>
              <a:rPr lang="en-US" altLang="zh-CN" sz="2200" dirty="0">
                <a:solidFill>
                  <a:schemeClr val="accent2"/>
                </a:solidFill>
                <a:latin typeface="Times New Roman" panose="02020603050405020304" pitchFamily="18" charset="0"/>
                <a:ea typeface="华文楷体" panose="02010600040101010101" pitchFamily="2" charset="-122"/>
              </a:rPr>
              <a:t>bi</a:t>
            </a:r>
            <a:r>
              <a:rPr lang="zh-CN" altLang="zh-CN" sz="2200" dirty="0">
                <a:solidFill>
                  <a:schemeClr val="accent2"/>
                </a:solidFill>
                <a:latin typeface="Times New Roman" panose="02020603050405020304" pitchFamily="18" charset="0"/>
                <a:ea typeface="华文楷体" panose="02010600040101010101" pitchFamily="2" charset="-122"/>
              </a:rPr>
              <a:t>和结束时间</a:t>
            </a:r>
            <a:r>
              <a:rPr lang="en-US" altLang="zh-CN" sz="2200" dirty="0" err="1">
                <a:solidFill>
                  <a:schemeClr val="accent2"/>
                </a:solidFill>
                <a:latin typeface="Times New Roman" panose="02020603050405020304" pitchFamily="18" charset="0"/>
                <a:ea typeface="华文楷体" panose="02010600040101010101" pitchFamily="2" charset="-122"/>
              </a:rPr>
              <a:t>ei</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a:solidFill>
                  <a:schemeClr val="accent2"/>
                </a:solidFill>
                <a:latin typeface="Times New Roman" panose="02020603050405020304" pitchFamily="18" charset="0"/>
                <a:ea typeface="华文楷体" panose="02010600040101010101" pitchFamily="2" charset="-122"/>
              </a:rPr>
              <a:t>bi&lt;</a:t>
            </a:r>
            <a:r>
              <a:rPr lang="en-US" altLang="zh-CN" sz="2200" dirty="0" err="1">
                <a:solidFill>
                  <a:schemeClr val="accent2"/>
                </a:solidFill>
                <a:latin typeface="Times New Roman" panose="02020603050405020304" pitchFamily="18" charset="0"/>
                <a:ea typeface="华文楷体" panose="02010600040101010101" pitchFamily="2" charset="-122"/>
              </a:rPr>
              <a:t>ei</a:t>
            </a:r>
            <a:r>
              <a:rPr lang="zh-CN" altLang="zh-CN" sz="2200" dirty="0">
                <a:solidFill>
                  <a:schemeClr val="accent2"/>
                </a:solidFill>
                <a:latin typeface="Times New Roman" panose="02020603050405020304" pitchFamily="18" charset="0"/>
                <a:ea typeface="华文楷体" panose="02010600040101010101" pitchFamily="2" charset="-122"/>
              </a:rPr>
              <a:t>），其执行时间为</a:t>
            </a:r>
            <a:r>
              <a:rPr lang="en-US" altLang="zh-CN" sz="2200" dirty="0" err="1">
                <a:solidFill>
                  <a:schemeClr val="accent2"/>
                </a:solidFill>
                <a:latin typeface="Times New Roman" panose="02020603050405020304" pitchFamily="18" charset="0"/>
                <a:ea typeface="华文楷体" panose="02010600040101010101" pitchFamily="2" charset="-122"/>
              </a:rPr>
              <a:t>ei</a:t>
            </a:r>
            <a:r>
              <a:rPr lang="en-US" altLang="zh-CN" sz="2200" dirty="0">
                <a:solidFill>
                  <a:schemeClr val="accent2"/>
                </a:solidFill>
                <a:latin typeface="Times New Roman" panose="02020603050405020304" pitchFamily="18" charset="0"/>
                <a:ea typeface="华文楷体" panose="02010600040101010101" pitchFamily="2" charset="-122"/>
              </a:rPr>
              <a:t>-bi</a:t>
            </a:r>
            <a:r>
              <a:rPr lang="zh-CN" altLang="zh-CN" sz="2200" dirty="0">
                <a:solidFill>
                  <a:schemeClr val="accent2"/>
                </a:solidFill>
                <a:latin typeface="Times New Roman" panose="02020603050405020304" pitchFamily="18" charset="0"/>
                <a:ea typeface="华文楷体" panose="02010600040101010101" pitchFamily="2" charset="-122"/>
              </a:rPr>
              <a:t>，假设最早活动执行时间为</a:t>
            </a:r>
            <a:r>
              <a:rPr lang="en-US" altLang="zh-CN" sz="2200" dirty="0">
                <a:solidFill>
                  <a:schemeClr val="accent2"/>
                </a:solidFill>
                <a:latin typeface="Times New Roman" panose="02020603050405020304" pitchFamily="18" charset="0"/>
                <a:ea typeface="华文楷体" panose="02010600040101010101" pitchFamily="2" charset="-122"/>
              </a:rPr>
              <a:t>0</a:t>
            </a:r>
            <a:r>
              <a:rPr lang="zh-CN" altLang="zh-CN" sz="2200" dirty="0">
                <a:solidFill>
                  <a:schemeClr val="accent2"/>
                </a:solidFill>
                <a:latin typeface="Times New Roman" panose="02020603050405020304" pitchFamily="18" charset="0"/>
                <a:ea typeface="华文楷体" panose="02010600040101010101" pitchFamily="2" charset="-122"/>
              </a:rPr>
              <a:t>。</a:t>
            </a:r>
            <a:endParaRPr lang="en-US" altLang="zh-CN" sz="2200" dirty="0">
              <a:solidFill>
                <a:schemeClr val="accent2"/>
              </a:solidFill>
              <a:latin typeface="Times New Roman" panose="02020603050405020304" pitchFamily="18" charset="0"/>
              <a:ea typeface="华文楷体" panose="02010600040101010101" pitchFamily="2" charset="-122"/>
            </a:endParaRPr>
          </a:p>
          <a:p>
            <a:pPr marR="0" defTabSz="914400">
              <a:lnSpc>
                <a:spcPct val="150000"/>
              </a:lnSpc>
              <a:buClrTx/>
              <a:buSzTx/>
              <a:buFontTx/>
              <a:buNone/>
              <a:defRPr/>
            </a:pPr>
            <a:r>
              <a:rPr lang="en-US" altLang="zh-CN" sz="2200" dirty="0">
                <a:solidFill>
                  <a:schemeClr val="accent2"/>
                </a:solidFill>
                <a:latin typeface="Times New Roman" panose="02020603050405020304" pitchFamily="18" charset="0"/>
                <a:ea typeface="华文楷体" panose="02010600040101010101" pitchFamily="2" charset="-122"/>
              </a:rPr>
              <a:t>    </a:t>
            </a:r>
            <a:r>
              <a:rPr lang="zh-CN" altLang="zh-CN" sz="2200" dirty="0">
                <a:solidFill>
                  <a:schemeClr val="accent2"/>
                </a:solidFill>
                <a:latin typeface="Times New Roman" panose="02020603050405020304" pitchFamily="18" charset="0"/>
                <a:ea typeface="华文楷体" panose="02010600040101010101" pitchFamily="2" charset="-122"/>
              </a:rPr>
              <a:t>一旦某个活动开始执行，中间不能被打断，直到其执行完毕。若活动</a:t>
            </a:r>
            <a:r>
              <a:rPr lang="en-US" altLang="zh-CN" sz="2200" dirty="0" err="1">
                <a:solidFill>
                  <a:schemeClr val="accent2"/>
                </a:solidFill>
                <a:latin typeface="Times New Roman" panose="02020603050405020304" pitchFamily="18" charset="0"/>
                <a:ea typeface="华文楷体" panose="02010600040101010101" pitchFamily="2" charset="-122"/>
              </a:rPr>
              <a:t>i</a:t>
            </a:r>
            <a:r>
              <a:rPr lang="zh-CN" altLang="zh-CN" sz="2200" dirty="0">
                <a:solidFill>
                  <a:schemeClr val="accent2"/>
                </a:solidFill>
                <a:latin typeface="Times New Roman" panose="02020603050405020304" pitchFamily="18" charset="0"/>
                <a:ea typeface="华文楷体" panose="02010600040101010101" pitchFamily="2" charset="-122"/>
              </a:rPr>
              <a:t>和活动</a:t>
            </a:r>
            <a:r>
              <a:rPr lang="en-US" altLang="zh-CN" sz="2200" dirty="0">
                <a:solidFill>
                  <a:schemeClr val="accent2"/>
                </a:solidFill>
                <a:latin typeface="Times New Roman" panose="02020603050405020304" pitchFamily="18" charset="0"/>
                <a:ea typeface="华文楷体" panose="02010600040101010101" pitchFamily="2" charset="-122"/>
              </a:rPr>
              <a:t>j</a:t>
            </a:r>
            <a:r>
              <a:rPr lang="zh-CN" altLang="zh-CN" sz="2200" dirty="0">
                <a:solidFill>
                  <a:schemeClr val="accent2"/>
                </a:solidFill>
                <a:latin typeface="Times New Roman" panose="02020603050405020304" pitchFamily="18" charset="0"/>
                <a:ea typeface="华文楷体" panose="02010600040101010101" pitchFamily="2" charset="-122"/>
              </a:rPr>
              <a:t>有</a:t>
            </a:r>
            <a:r>
              <a:rPr lang="en-US" altLang="zh-CN" sz="2200" dirty="0">
                <a:solidFill>
                  <a:schemeClr val="accent2"/>
                </a:solidFill>
                <a:latin typeface="Times New Roman" panose="02020603050405020304" pitchFamily="18" charset="0"/>
                <a:ea typeface="华文楷体" panose="02010600040101010101" pitchFamily="2" charset="-122"/>
              </a:rPr>
              <a:t>bi</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err="1">
                <a:solidFill>
                  <a:schemeClr val="accent2"/>
                </a:solidFill>
                <a:latin typeface="Times New Roman" panose="02020603050405020304" pitchFamily="18" charset="0"/>
                <a:ea typeface="华文楷体" panose="02010600040101010101" pitchFamily="2" charset="-122"/>
              </a:rPr>
              <a:t>ej</a:t>
            </a:r>
            <a:r>
              <a:rPr lang="zh-CN" altLang="zh-CN" sz="2200" dirty="0">
                <a:solidFill>
                  <a:schemeClr val="accent2"/>
                </a:solidFill>
                <a:latin typeface="Times New Roman" panose="02020603050405020304" pitchFamily="18" charset="0"/>
                <a:ea typeface="华文楷体" panose="02010600040101010101" pitchFamily="2" charset="-122"/>
              </a:rPr>
              <a:t>或</a:t>
            </a:r>
            <a:r>
              <a:rPr lang="en-US" altLang="zh-CN" sz="2200" dirty="0" err="1">
                <a:solidFill>
                  <a:schemeClr val="accent2"/>
                </a:solidFill>
                <a:latin typeface="Times New Roman" panose="02020603050405020304" pitchFamily="18" charset="0"/>
                <a:ea typeface="华文楷体" panose="02010600040101010101" pitchFamily="2" charset="-122"/>
              </a:rPr>
              <a:t>bj</a:t>
            </a:r>
            <a:r>
              <a:rPr lang="zh-CN" altLang="zh-CN" sz="2200" dirty="0">
                <a:solidFill>
                  <a:schemeClr val="accent2"/>
                </a:solidFill>
                <a:latin typeface="Times New Roman" panose="02020603050405020304" pitchFamily="18" charset="0"/>
                <a:ea typeface="华文楷体" panose="02010600040101010101" pitchFamily="2" charset="-122"/>
              </a:rPr>
              <a:t>≥</a:t>
            </a:r>
            <a:r>
              <a:rPr lang="en-US" altLang="zh-CN" sz="2200" dirty="0" err="1">
                <a:solidFill>
                  <a:schemeClr val="accent2"/>
                </a:solidFill>
                <a:latin typeface="Times New Roman" panose="02020603050405020304" pitchFamily="18" charset="0"/>
                <a:ea typeface="华文楷体" panose="02010600040101010101" pitchFamily="2" charset="-122"/>
              </a:rPr>
              <a:t>ei</a:t>
            </a:r>
            <a:r>
              <a:rPr lang="zh-CN" altLang="zh-CN" sz="2200" dirty="0">
                <a:solidFill>
                  <a:schemeClr val="accent2"/>
                </a:solidFill>
                <a:latin typeface="Times New Roman" panose="02020603050405020304" pitchFamily="18" charset="0"/>
                <a:ea typeface="华文楷体" panose="02010600040101010101" pitchFamily="2" charset="-122"/>
              </a:rPr>
              <a:t>，则称这两个活动兼容。</a:t>
            </a:r>
            <a:endParaRPr lang="en-US" altLang="zh-CN" sz="2200" dirty="0">
              <a:solidFill>
                <a:schemeClr val="accent2"/>
              </a:solidFill>
              <a:latin typeface="Times New Roman" panose="02020603050405020304" pitchFamily="18" charset="0"/>
              <a:ea typeface="华文楷体" panose="02010600040101010101" pitchFamily="2" charset="-122"/>
            </a:endParaRPr>
          </a:p>
          <a:p>
            <a:pPr marR="0" defTabSz="914400">
              <a:lnSpc>
                <a:spcPct val="150000"/>
              </a:lnSpc>
              <a:buClrTx/>
              <a:buSzTx/>
              <a:buFontTx/>
              <a:buNone/>
              <a:defRPr/>
            </a:pPr>
            <a:r>
              <a:rPr lang="en-US" altLang="zh-CN" sz="2200" dirty="0">
                <a:solidFill>
                  <a:schemeClr val="accent2"/>
                </a:solidFill>
                <a:latin typeface="Times New Roman" panose="02020603050405020304" pitchFamily="18" charset="0"/>
                <a:ea typeface="华文楷体" panose="02010600040101010101" pitchFamily="2" charset="-122"/>
              </a:rPr>
              <a:t>    </a:t>
            </a:r>
            <a:r>
              <a:rPr lang="zh-CN" altLang="zh-CN" sz="2200" dirty="0">
                <a:solidFill>
                  <a:schemeClr val="accent2"/>
                </a:solidFill>
                <a:latin typeface="Times New Roman" panose="02020603050405020304" pitchFamily="18" charset="0"/>
                <a:ea typeface="华文楷体" panose="02010600040101010101" pitchFamily="2" charset="-122"/>
              </a:rPr>
              <a:t>设计算法求一种最优活动安排方案，使得所有安排的活动个数最多。</a:t>
            </a:r>
            <a:endParaRPr lang="zh-CN" altLang="zh-CN" sz="2200" dirty="0">
              <a:solidFill>
                <a:schemeClr val="accent2"/>
              </a:solidFill>
              <a:latin typeface="Times New Roman" panose="02020603050405020304" pitchFamily="18" charset="0"/>
              <a:ea typeface="华文楷体" panose="02010600040101010101" pitchFamily="2" charset="-122"/>
            </a:endParaRPr>
          </a:p>
        </p:txBody>
      </p:sp>
      <p:sp>
        <p:nvSpPr>
          <p:cNvPr id="6"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p:nvPr/>
        </p:nvSpPr>
        <p:spPr>
          <a:xfrm>
            <a:off x="879475" y="1143000"/>
            <a:ext cx="8047038" cy="33605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zh-CN" altLang="zh-CN" sz="2400" dirty="0">
                <a:solidFill>
                  <a:srgbClr val="FF0000"/>
                </a:solidFill>
                <a:latin typeface="Times New Roman" panose="02020603050405020304" pitchFamily="18" charset="0"/>
                <a:ea typeface="华文楷体" panose="02010600040101010101" pitchFamily="2" charset="-122"/>
              </a:rPr>
              <a:t>【问题求解】</a:t>
            </a:r>
            <a:r>
              <a:rPr lang="zh-CN" altLang="zh-CN" sz="2400" dirty="0">
                <a:latin typeface="Times New Roman" panose="02020603050405020304" pitchFamily="18" charset="0"/>
                <a:ea typeface="华文楷体" panose="02010600040101010101" pitchFamily="2" charset="-122"/>
              </a:rPr>
              <a:t>假设活动时间的参考原点为</a:t>
            </a:r>
            <a:r>
              <a:rPr lang="en-US" altLang="zh-CN" sz="2400" dirty="0">
                <a:latin typeface="Times New Roman" panose="02020603050405020304" pitchFamily="18" charset="0"/>
                <a:ea typeface="华文楷体" panose="02010600040101010101" pitchFamily="2" charset="-122"/>
              </a:rPr>
              <a:t>0</a:t>
            </a:r>
            <a:r>
              <a:rPr lang="zh-CN" altLang="zh-CN" sz="2400" dirty="0">
                <a:latin typeface="Times New Roman" panose="02020603050405020304" pitchFamily="18" charset="0"/>
                <a:ea typeface="华文楷体" panose="02010600040101010101" pitchFamily="2" charset="-122"/>
              </a:rPr>
              <a:t>。一个活动</a:t>
            </a:r>
            <a:r>
              <a:rPr lang="en-US" altLang="zh-CN" sz="2400" dirty="0" err="1">
                <a:latin typeface="Times New Roman" panose="02020603050405020304" pitchFamily="18" charset="0"/>
                <a:ea typeface="华文楷体" panose="02010600040101010101" pitchFamily="2" charset="-122"/>
              </a:rPr>
              <a:t>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n</a:t>
            </a:r>
            <a:r>
              <a:rPr lang="zh-CN" altLang="zh-CN" sz="2400" dirty="0">
                <a:latin typeface="Times New Roman" panose="02020603050405020304" pitchFamily="18" charset="0"/>
                <a:ea typeface="华文楷体" panose="02010600040101010101" pitchFamily="2" charset="-122"/>
              </a:rPr>
              <a:t>）用一个区间</a:t>
            </a:r>
            <a:r>
              <a:rPr lang="en-US" altLang="zh-CN" sz="2400" dirty="0">
                <a:latin typeface="Times New Roman" panose="02020603050405020304" pitchFamily="18" charset="0"/>
                <a:ea typeface="华文楷体" panose="02010600040101010101" pitchFamily="2" charset="-122"/>
              </a:rPr>
              <a:t>[bi</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ei</a:t>
            </a:r>
            <a:r>
              <a:rPr lang="en-US" altLang="zh-CN" sz="2400" dirty="0">
                <a:latin typeface="Times New Roman" panose="02020603050405020304" pitchFamily="18" charset="0"/>
                <a:ea typeface="华文楷体" panose="02010600040101010101" pitchFamily="2" charset="-122"/>
              </a:rPr>
              <a:t>)</a:t>
            </a:r>
            <a:r>
              <a:rPr lang="zh-CN" altLang="zh-CN" sz="2400" dirty="0">
                <a:latin typeface="Times New Roman" panose="02020603050405020304" pitchFamily="18" charset="0"/>
                <a:ea typeface="华文楷体" panose="02010600040101010101" pitchFamily="2" charset="-122"/>
              </a:rPr>
              <a:t>表示，当活动按结束时间（右端点）递增排序后，两个活动</a:t>
            </a:r>
            <a:r>
              <a:rPr lang="en-US" altLang="zh-CN" sz="2400" dirty="0">
                <a:latin typeface="Times New Roman" panose="02020603050405020304" pitchFamily="18" charset="0"/>
                <a:ea typeface="华文楷体" panose="02010600040101010101" pitchFamily="2" charset="-122"/>
              </a:rPr>
              <a:t>[bi</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ei</a:t>
            </a:r>
            <a:r>
              <a:rPr lang="en-US" altLang="zh-CN" sz="2400" dirty="0">
                <a:latin typeface="Times New Roman" panose="02020603050405020304" pitchFamily="18" charset="0"/>
                <a:ea typeface="华文楷体" panose="02010600040101010101" pitchFamily="2" charset="-122"/>
              </a:rPr>
              <a:t>)</a:t>
            </a:r>
            <a:r>
              <a:rPr lang="zh-CN" altLang="zh-CN" sz="2400" dirty="0">
                <a:latin typeface="Times New Roman" panose="02020603050405020304" pitchFamily="18" charset="0"/>
                <a:ea typeface="华文楷体" panose="02010600040101010101" pitchFamily="2" charset="-122"/>
              </a:rPr>
              <a:t>和</a:t>
            </a:r>
            <a:r>
              <a:rPr lang="en-US"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bj</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ej</a:t>
            </a:r>
            <a:r>
              <a:rPr lang="en-US" altLang="zh-CN" sz="2400" dirty="0">
                <a:latin typeface="Times New Roman" panose="02020603050405020304" pitchFamily="18" charset="0"/>
                <a:ea typeface="华文楷体" panose="02010600040101010101" pitchFamily="2" charset="-122"/>
              </a:rPr>
              <a:t>)</a:t>
            </a:r>
            <a:r>
              <a:rPr lang="zh-CN" altLang="zh-CN" sz="2400" dirty="0">
                <a:latin typeface="Times New Roman" panose="02020603050405020304" pitchFamily="18" charset="0"/>
                <a:ea typeface="华文楷体" panose="02010600040101010101" pitchFamily="2" charset="-122"/>
              </a:rPr>
              <a:t>兼容（满足</a:t>
            </a:r>
            <a:r>
              <a:rPr lang="en-US" altLang="zh-CN" sz="2400" dirty="0">
                <a:latin typeface="Times New Roman" panose="02020603050405020304" pitchFamily="18" charset="0"/>
                <a:ea typeface="华文楷体" panose="02010600040101010101" pitchFamily="2" charset="-122"/>
              </a:rPr>
              <a:t>bi</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ej</a:t>
            </a:r>
            <a:r>
              <a:rPr lang="zh-CN" altLang="zh-CN" sz="2400" dirty="0">
                <a:latin typeface="Times New Roman" panose="02020603050405020304" pitchFamily="18" charset="0"/>
                <a:ea typeface="华文楷体" panose="02010600040101010101" pitchFamily="2" charset="-122"/>
              </a:rPr>
              <a:t>或</a:t>
            </a:r>
            <a:r>
              <a:rPr lang="en-US" altLang="zh-CN" sz="2400" dirty="0" err="1">
                <a:latin typeface="Times New Roman" panose="02020603050405020304" pitchFamily="18" charset="0"/>
                <a:ea typeface="华文楷体" panose="02010600040101010101" pitchFamily="2" charset="-122"/>
              </a:rPr>
              <a:t>bj</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ei</a:t>
            </a:r>
            <a:r>
              <a:rPr lang="zh-CN" altLang="zh-CN" sz="2400" dirty="0">
                <a:latin typeface="Times New Roman" panose="02020603050405020304" pitchFamily="18" charset="0"/>
                <a:ea typeface="华文楷体" panose="02010600040101010101" pitchFamily="2" charset="-122"/>
              </a:rPr>
              <a:t>）实际上就是指它们不相交。</a:t>
            </a:r>
            <a:endParaRPr lang="zh-CN" altLang="zh-CN" sz="2400" dirty="0">
              <a:latin typeface="Times New Roman" panose="02020603050405020304" pitchFamily="18" charset="0"/>
              <a:ea typeface="华文楷体" panose="02010600040101010101" pitchFamily="2" charset="-122"/>
            </a:endParaRPr>
          </a:p>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用数组</a:t>
            </a:r>
            <a:r>
              <a:rPr lang="en-US" altLang="zh-CN" sz="2400" dirty="0">
                <a:latin typeface="Times New Roman" panose="02020603050405020304" pitchFamily="18" charset="0"/>
                <a:ea typeface="华文楷体" panose="02010600040101010101" pitchFamily="2" charset="-122"/>
              </a:rPr>
              <a:t>A</a:t>
            </a:r>
            <a:r>
              <a:rPr lang="zh-CN" altLang="zh-CN" sz="2400" dirty="0">
                <a:latin typeface="Times New Roman" panose="02020603050405020304" pitchFamily="18" charset="0"/>
                <a:ea typeface="华文楷体" panose="02010600040101010101" pitchFamily="2" charset="-122"/>
              </a:rPr>
              <a:t>存放所有的活动，</a:t>
            </a:r>
            <a:r>
              <a:rPr lang="en-US" altLang="zh-CN" sz="2400" dirty="0">
                <a:latin typeface="Times New Roman" panose="02020603050405020304" pitchFamily="18" charset="0"/>
                <a:ea typeface="华文楷体" panose="02010600040101010101" pitchFamily="2" charset="-122"/>
              </a:rPr>
              <a:t>A[</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].b</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n</a:t>
            </a:r>
            <a:r>
              <a:rPr lang="zh-CN" altLang="zh-CN" sz="2400" dirty="0">
                <a:latin typeface="Times New Roman" panose="02020603050405020304" pitchFamily="18" charset="0"/>
                <a:ea typeface="华文楷体" panose="02010600040101010101" pitchFamily="2" charset="-122"/>
              </a:rPr>
              <a:t>），存放活动起始时间，</a:t>
            </a:r>
            <a:r>
              <a:rPr lang="en-US" altLang="zh-CN" sz="2400" dirty="0">
                <a:latin typeface="Times New Roman" panose="02020603050405020304" pitchFamily="18" charset="0"/>
                <a:ea typeface="华文楷体" panose="02010600040101010101" pitchFamily="2" charset="-122"/>
              </a:rPr>
              <a:t>A[</a:t>
            </a:r>
            <a:r>
              <a:rPr lang="en-US" altLang="zh-CN" sz="2400" dirty="0" err="1">
                <a:latin typeface="Times New Roman" panose="02020603050405020304" pitchFamily="18" charset="0"/>
                <a:ea typeface="华文楷体" panose="02010600040101010101" pitchFamily="2" charset="-122"/>
              </a:rPr>
              <a:t>i</a:t>
            </a:r>
            <a:r>
              <a:rPr lang="en-US" altLang="zh-CN" sz="2400" dirty="0">
                <a:latin typeface="Times New Roman" panose="02020603050405020304" pitchFamily="18" charset="0"/>
                <a:ea typeface="华文楷体" panose="02010600040101010101" pitchFamily="2" charset="-122"/>
              </a:rPr>
              <a:t>].e</a:t>
            </a:r>
            <a:r>
              <a:rPr lang="zh-CN" altLang="zh-CN" sz="2400" dirty="0">
                <a:latin typeface="Times New Roman" panose="02020603050405020304" pitchFamily="18" charset="0"/>
                <a:ea typeface="华文楷体" panose="02010600040101010101" pitchFamily="2" charset="-122"/>
              </a:rPr>
              <a:t>存放活动结束时间。</a:t>
            </a:r>
            <a:endParaRPr lang="zh-CN" altLang="zh-CN" sz="2400" dirty="0">
              <a:latin typeface="Times New Roman" panose="02020603050405020304" pitchFamily="18" charset="0"/>
              <a:ea typeface="华文楷体" panose="02010600040101010101" pitchFamily="2" charset="-122"/>
            </a:endParaRPr>
          </a:p>
        </p:txBody>
      </p:sp>
      <p:sp>
        <p:nvSpPr>
          <p:cNvPr id="3"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928462" y="1365483"/>
          <a:ext cx="7643817" cy="1323975"/>
        </p:xfrm>
        <a:graphic>
          <a:graphicData uri="http://schemas.openxmlformats.org/drawingml/2006/table">
            <a:tbl>
              <a:tblPr/>
              <a:tblGrid>
                <a:gridCol w="1297477"/>
                <a:gridCol w="576940"/>
                <a:gridCol w="576940"/>
                <a:gridCol w="576940"/>
                <a:gridCol w="576940"/>
                <a:gridCol w="576940"/>
                <a:gridCol w="576940"/>
                <a:gridCol w="576940"/>
                <a:gridCol w="576940"/>
                <a:gridCol w="576940"/>
                <a:gridCol w="576940"/>
                <a:gridCol w="576940"/>
              </a:tblGrid>
              <a:tr h="441325">
                <a:tc>
                  <a:txBody>
                    <a:bodyPr/>
                    <a:lstStyle/>
                    <a:p>
                      <a:pPr indent="0" algn="ctr">
                        <a:lnSpc>
                          <a:spcPct val="150000"/>
                        </a:lnSpc>
                        <a:spcAft>
                          <a:spcPts val="0"/>
                        </a:spcAft>
                      </a:pPr>
                      <a:r>
                        <a:rPr lang="en-US" sz="1800" b="1" i="1" kern="100">
                          <a:solidFill>
                            <a:srgbClr val="00B0F0"/>
                          </a:solidFill>
                          <a:latin typeface="Consolas" panose="020B0609020204030204" pitchFamily="49" charset="0"/>
                          <a:ea typeface="楷体" panose="02010609060101010101" pitchFamily="49" charset="-122"/>
                          <a:cs typeface="Consolas" panose="020B0609020204030204" pitchFamily="49" charset="0"/>
                        </a:rPr>
                        <a:t>i</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开始时间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0</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结束时间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dirty="0">
                          <a:solidFill>
                            <a:srgbClr val="0000FF"/>
                          </a:solidFill>
                          <a:latin typeface="Consolas" panose="020B0609020204030204" pitchFamily="49" charset="0"/>
                          <a:ea typeface="楷体" panose="02010609060101010101" pitchFamily="49" charset="-122"/>
                          <a:cs typeface="Consolas" panose="020B0609020204030204" pitchFamily="49" charset="0"/>
                        </a:rPr>
                        <a:t>15</a:t>
                      </a:r>
                      <a:endParaRPr lang="zh-CN" sz="1800" b="1" kern="1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40000"/>
                        <a:lumOff val="60000"/>
                      </a:schemeClr>
                    </a:solidFill>
                  </a:tcPr>
                </a:tc>
              </a:tr>
            </a:tbl>
          </a:graphicData>
        </a:graphic>
      </p:graphicFrame>
      <p:sp>
        <p:nvSpPr>
          <p:cNvPr id="122936" name="TextBox 2"/>
          <p:cNvSpPr txBox="1"/>
          <p:nvPr/>
        </p:nvSpPr>
        <p:spPr>
          <a:xfrm>
            <a:off x="928462" y="614229"/>
            <a:ext cx="8108034" cy="830997"/>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zh-CN" sz="2400" dirty="0">
                <a:latin typeface="Times New Roman" panose="02020603050405020304" pitchFamily="18" charset="0"/>
                <a:ea typeface="华文楷体" panose="02010600040101010101" pitchFamily="2" charset="-122"/>
              </a:rPr>
              <a:t>例如，对于</a:t>
            </a:r>
            <a:r>
              <a:rPr lang="zh-CN" altLang="en-US" sz="2400" dirty="0">
                <a:latin typeface="Times New Roman" panose="02020603050405020304" pitchFamily="18" charset="0"/>
                <a:ea typeface="华文楷体" panose="02010600040101010101" pitchFamily="2" charset="-122"/>
              </a:rPr>
              <a:t>下</a:t>
            </a:r>
            <a:r>
              <a:rPr lang="zh-CN" altLang="zh-CN" sz="2400" dirty="0">
                <a:latin typeface="Times New Roman" panose="02020603050405020304" pitchFamily="18" charset="0"/>
                <a:ea typeface="华文楷体" panose="02010600040101010101" pitchFamily="2" charset="-122"/>
              </a:rPr>
              <a:t>表的</a:t>
            </a:r>
            <a:r>
              <a:rPr lang="en-US" altLang="zh-CN" sz="2400" dirty="0">
                <a:latin typeface="Times New Roman" panose="02020603050405020304" pitchFamily="18" charset="0"/>
                <a:ea typeface="华文楷体" panose="02010600040101010101" pitchFamily="2" charset="-122"/>
              </a:rPr>
              <a:t>n=11</a:t>
            </a:r>
            <a:r>
              <a:rPr lang="zh-CN" altLang="zh-CN" sz="2400" dirty="0">
                <a:latin typeface="Times New Roman" panose="02020603050405020304" pitchFamily="18" charset="0"/>
                <a:ea typeface="华文楷体" panose="02010600040101010101" pitchFamily="2" charset="-122"/>
              </a:rPr>
              <a:t>个活动（已按结束时间递增排序）</a:t>
            </a:r>
            <a:r>
              <a:rPr lang="en-US" altLang="zh-CN" sz="2400" dirty="0">
                <a:latin typeface="Times New Roman" panose="02020603050405020304" pitchFamily="18" charset="0"/>
                <a:ea typeface="华文楷体" panose="02010600040101010101" pitchFamily="2" charset="-122"/>
              </a:rPr>
              <a:t>A</a:t>
            </a:r>
            <a:r>
              <a:rPr lang="zh-CN" altLang="en-US" sz="2400" dirty="0">
                <a:latin typeface="Times New Roman" panose="02020603050405020304" pitchFamily="18" charset="0"/>
                <a:ea typeface="华文楷体" panose="02010600040101010101" pitchFamily="2" charset="-122"/>
              </a:rPr>
              <a:t>：</a:t>
            </a:r>
            <a:endParaRPr lang="zh-CN" altLang="en-US" sz="2400" dirty="0">
              <a:latin typeface="Times New Roman" panose="02020603050405020304" pitchFamily="18" charset="0"/>
              <a:ea typeface="华文楷体" panose="02010600040101010101" pitchFamily="2" charset="-122"/>
            </a:endParaRPr>
          </a:p>
        </p:txBody>
      </p:sp>
      <p:sp>
        <p:nvSpPr>
          <p:cNvPr id="122937" name="TextBox 7"/>
          <p:cNvSpPr txBox="1"/>
          <p:nvPr/>
        </p:nvSpPr>
        <p:spPr>
          <a:xfrm>
            <a:off x="642938" y="2857500"/>
            <a:ext cx="4865166"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indent="0">
              <a:spcBef>
                <a:spcPct val="0"/>
              </a:spcBef>
              <a:buNone/>
            </a:pPr>
            <a:r>
              <a:rPr lang="zh-CN" altLang="en-US" sz="2400" dirty="0">
                <a:latin typeface="Times New Roman" panose="02020603050405020304" pitchFamily="18" charset="0"/>
                <a:ea typeface="华文楷体" panose="02010600040101010101" pitchFamily="2" charset="-122"/>
              </a:rPr>
              <a:t>产生最大兼容活动集合的过程：</a:t>
            </a:r>
            <a:endParaRPr lang="zh-CN" altLang="en-US" sz="2400" dirty="0">
              <a:latin typeface="Times New Roman" panose="02020603050405020304" pitchFamily="18" charset="0"/>
              <a:ea typeface="华文楷体" panose="02010600040101010101" pitchFamily="2" charset="-122"/>
            </a:endParaRPr>
          </a:p>
        </p:txBody>
      </p:sp>
      <p:sp>
        <p:nvSpPr>
          <p:cNvPr id="9" name="TextBox 8"/>
          <p:cNvSpPr txBox="1"/>
          <p:nvPr/>
        </p:nvSpPr>
        <p:spPr>
          <a:xfrm>
            <a:off x="1640944" y="3306742"/>
            <a:ext cx="1571625" cy="314007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3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4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5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6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7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8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9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10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活动</a:t>
            </a:r>
            <a:r>
              <a:rPr kumimoji="0" lang="en-US" altLang="zh-CN" sz="1800" b="0" i="0" u="none" strike="noStrike" kern="1200" cap="none" spc="0" normalizeH="0" baseline="0" noProof="0" dirty="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11   </a:t>
            </a:r>
            <a:r>
              <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en-US" altLang="zh-CN" sz="1800" b="0" i="0" u="none" strike="noStrike" kern="1200" cap="none" spc="0" normalizeH="0" baseline="0" noProof="0" dirty="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sym typeface="Symbol" panose="05050102010706020507"/>
            </a:endParaRPr>
          </a:p>
        </p:txBody>
      </p:sp>
      <p:sp>
        <p:nvSpPr>
          <p:cNvPr id="10" name="TextBox 9"/>
          <p:cNvSpPr txBox="1"/>
          <p:nvPr/>
        </p:nvSpPr>
        <p:spPr>
          <a:xfrm>
            <a:off x="4143375" y="3929063"/>
            <a:ext cx="3357562" cy="4616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en-US" sz="2400" dirty="0">
                <a:latin typeface="Times New Roman" panose="02020603050405020304" pitchFamily="18" charset="0"/>
                <a:ea typeface="华文楷体" panose="02010600040101010101" pitchFamily="2" charset="-122"/>
              </a:rPr>
              <a:t>最大兼容活动集合：</a:t>
            </a:r>
            <a:endParaRPr lang="zh-CN" altLang="en-US" sz="2400" dirty="0">
              <a:latin typeface="Times New Roman" panose="02020603050405020304" pitchFamily="18" charset="0"/>
              <a:ea typeface="华文楷体" panose="02010600040101010101" pitchFamily="2" charset="-122"/>
            </a:endParaRPr>
          </a:p>
        </p:txBody>
      </p:sp>
      <p:sp>
        <p:nvSpPr>
          <p:cNvPr id="11" name="TextBox 10"/>
          <p:cNvSpPr txBox="1"/>
          <p:nvPr/>
        </p:nvSpPr>
        <p:spPr>
          <a:xfrm>
            <a:off x="4786313" y="4429125"/>
            <a:ext cx="8572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en-US" sz="2000" dirty="0">
                <a:solidFill>
                  <a:srgbClr val="0000FF"/>
                </a:solidFill>
                <a:latin typeface="Consolas" panose="020B0609020204030204" pitchFamily="49" charset="0"/>
                <a:ea typeface="微软雅黑" panose="020B0503020204020204" charset="-122"/>
              </a:rPr>
              <a:t>活动</a:t>
            </a:r>
            <a:r>
              <a:rPr lang="en-US" altLang="zh-CN" sz="2000" dirty="0">
                <a:solidFill>
                  <a:srgbClr val="0000FF"/>
                </a:solidFill>
                <a:latin typeface="Consolas" panose="020B0609020204030204" pitchFamily="49" charset="0"/>
                <a:ea typeface="微软雅黑" panose="020B0503020204020204" charset="-122"/>
              </a:rPr>
              <a:t>1</a:t>
            </a:r>
            <a:endParaRPr lang="zh-CN" altLang="en-US" sz="2000" dirty="0">
              <a:solidFill>
                <a:srgbClr val="0000FF"/>
              </a:solidFill>
              <a:latin typeface="Consolas" panose="020B0609020204030204" pitchFamily="49" charset="0"/>
              <a:ea typeface="微软雅黑" panose="020B0503020204020204" charset="-122"/>
            </a:endParaRPr>
          </a:p>
        </p:txBody>
      </p:sp>
      <p:sp>
        <p:nvSpPr>
          <p:cNvPr id="12" name="TextBox 11"/>
          <p:cNvSpPr txBox="1"/>
          <p:nvPr/>
        </p:nvSpPr>
        <p:spPr>
          <a:xfrm>
            <a:off x="5643563" y="4429125"/>
            <a:ext cx="8572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en-US" sz="2000" dirty="0">
                <a:solidFill>
                  <a:srgbClr val="0000FF"/>
                </a:solidFill>
                <a:latin typeface="Consolas" panose="020B0609020204030204" pitchFamily="49" charset="0"/>
                <a:ea typeface="微软雅黑" panose="020B0503020204020204" charset="-122"/>
              </a:rPr>
              <a:t>活动</a:t>
            </a:r>
            <a:r>
              <a:rPr lang="en-US" altLang="zh-CN" sz="2000" dirty="0">
                <a:solidFill>
                  <a:srgbClr val="0000FF"/>
                </a:solidFill>
                <a:latin typeface="Consolas" panose="020B0609020204030204" pitchFamily="49" charset="0"/>
                <a:ea typeface="微软雅黑" panose="020B0503020204020204" charset="-122"/>
              </a:rPr>
              <a:t>4</a:t>
            </a:r>
            <a:endParaRPr lang="zh-CN" altLang="en-US" sz="2000" dirty="0">
              <a:solidFill>
                <a:srgbClr val="0000FF"/>
              </a:solidFill>
              <a:latin typeface="Consolas" panose="020B0609020204030204" pitchFamily="49" charset="0"/>
              <a:ea typeface="微软雅黑" panose="020B0503020204020204" charset="-122"/>
            </a:endParaRPr>
          </a:p>
        </p:txBody>
      </p:sp>
      <p:sp>
        <p:nvSpPr>
          <p:cNvPr id="13" name="TextBox 12"/>
          <p:cNvSpPr txBox="1"/>
          <p:nvPr/>
        </p:nvSpPr>
        <p:spPr>
          <a:xfrm>
            <a:off x="6572250" y="4429125"/>
            <a:ext cx="8572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en-US" sz="2000" dirty="0">
                <a:solidFill>
                  <a:srgbClr val="0000FF"/>
                </a:solidFill>
                <a:latin typeface="Consolas" panose="020B0609020204030204" pitchFamily="49" charset="0"/>
                <a:ea typeface="微软雅黑" panose="020B0503020204020204" charset="-122"/>
              </a:rPr>
              <a:t>活动</a:t>
            </a:r>
            <a:r>
              <a:rPr lang="en-US" altLang="zh-CN" sz="2000" dirty="0">
                <a:solidFill>
                  <a:srgbClr val="0000FF"/>
                </a:solidFill>
                <a:latin typeface="Consolas" panose="020B0609020204030204" pitchFamily="49" charset="0"/>
                <a:ea typeface="微软雅黑" panose="020B0503020204020204" charset="-122"/>
              </a:rPr>
              <a:t>8</a:t>
            </a:r>
            <a:endParaRPr lang="zh-CN" altLang="en-US" sz="2000" dirty="0">
              <a:solidFill>
                <a:srgbClr val="0000FF"/>
              </a:solidFill>
              <a:latin typeface="Consolas" panose="020B0609020204030204" pitchFamily="49" charset="0"/>
              <a:ea typeface="微软雅黑" panose="020B0503020204020204" charset="-122"/>
            </a:endParaRPr>
          </a:p>
        </p:txBody>
      </p:sp>
      <p:sp>
        <p:nvSpPr>
          <p:cNvPr id="14" name="TextBox 13"/>
          <p:cNvSpPr txBox="1"/>
          <p:nvPr/>
        </p:nvSpPr>
        <p:spPr>
          <a:xfrm>
            <a:off x="7500938" y="4429125"/>
            <a:ext cx="1071562"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en-US" sz="2000" dirty="0">
                <a:solidFill>
                  <a:srgbClr val="0000FF"/>
                </a:solidFill>
                <a:latin typeface="Consolas" panose="020B0609020204030204" pitchFamily="49" charset="0"/>
                <a:ea typeface="微软雅黑" panose="020B0503020204020204" charset="-122"/>
              </a:rPr>
              <a:t>活动</a:t>
            </a:r>
            <a:r>
              <a:rPr lang="en-US" altLang="zh-CN" sz="2000" dirty="0">
                <a:solidFill>
                  <a:srgbClr val="0000FF"/>
                </a:solidFill>
                <a:latin typeface="Consolas" panose="020B0609020204030204" pitchFamily="49" charset="0"/>
                <a:ea typeface="微软雅黑" panose="020B0503020204020204" charset="-122"/>
              </a:rPr>
              <a:t>11</a:t>
            </a:r>
            <a:endParaRPr lang="zh-CN" altLang="en-US" sz="2000" dirty="0">
              <a:solidFill>
                <a:srgbClr val="0000FF"/>
              </a:solidFill>
              <a:latin typeface="Consolas" panose="020B0609020204030204" pitchFamily="49" charset="0"/>
              <a:ea typeface="微软雅黑" panose="020B0503020204020204" charset="-122"/>
            </a:endParaRPr>
          </a:p>
        </p:txBody>
      </p:sp>
      <p:grpSp>
        <p:nvGrpSpPr>
          <p:cNvPr id="17" name="组合 16"/>
          <p:cNvGrpSpPr/>
          <p:nvPr/>
        </p:nvGrpSpPr>
        <p:grpSpPr>
          <a:xfrm>
            <a:off x="5072063" y="5000625"/>
            <a:ext cx="3071812" cy="685800"/>
            <a:chOff x="5072066" y="5000636"/>
            <a:chExt cx="3071834" cy="685862"/>
          </a:xfrm>
        </p:grpSpPr>
        <p:sp>
          <p:nvSpPr>
            <p:cNvPr id="15" name="右大括号 14"/>
            <p:cNvSpPr/>
            <p:nvPr/>
          </p:nvSpPr>
          <p:spPr>
            <a:xfrm rot="5400000">
              <a:off x="6500816" y="3571886"/>
              <a:ext cx="214332" cy="3071834"/>
            </a:xfrm>
            <a:prstGeom prst="rightBrace">
              <a:avLst/>
            </a:prstGeom>
          </p:spPr>
          <p:style>
            <a:lnRef idx="2">
              <a:schemeClr val="dk1"/>
            </a:lnRef>
            <a:fillRef idx="0">
              <a:schemeClr val="dk1"/>
            </a:fillRef>
            <a:effectRef idx="1">
              <a:schemeClr val="dk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22946" name="TextBox 15"/>
            <p:cNvSpPr txBox="1"/>
            <p:nvPr/>
          </p:nvSpPr>
          <p:spPr>
            <a:xfrm>
              <a:off x="5715008" y="5286388"/>
              <a:ext cx="1785950" cy="4001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zh-CN" altLang="en-US" sz="2000" dirty="0">
                  <a:solidFill>
                    <a:srgbClr val="0000FF"/>
                  </a:solidFill>
                  <a:latin typeface="楷体" panose="02010609060101010101" pitchFamily="49" charset="-122"/>
                  <a:ea typeface="楷体" panose="02010609060101010101" pitchFamily="49" charset="-122"/>
                </a:rPr>
                <a:t>求解结果</a:t>
              </a:r>
              <a:endParaRPr lang="zh-CN" altLang="en-US" sz="2000" dirty="0">
                <a:solidFill>
                  <a:srgbClr val="0000FF"/>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572560" cy="479549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问题表示</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struct Action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活动的类型声明</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b;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活动起始时间</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e;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活动结束时间</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bool operator&lt;(const Action &amp;s) const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重载</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&lt;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关系函数</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return e&lt;=s.e;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用于按活动结束时间递增排序</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int n=11;</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Action A[]={{0},{1,4},{3,5},{0,6},{5,7},{3,8},{5,9},{6,10},{8,11},</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{8,12},{2,13},{12,15}};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下标</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0</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不用</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2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求解结果表示</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bool flag[MAX];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标记选择的活动</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int Count=0;			</a:t>
            </a:r>
            <a:r>
              <a:rPr kumimoji="0" lang="en-US"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rPr>
              <a:t>选取的兼容活动个数</a:t>
            </a:r>
            <a:endParaRPr kumimoji="0" lang="zh-CN" altLang="zh-CN" sz="1800" b="0" i="0" u="none" strike="noStrike" kern="1200" cap="none" spc="0" normalizeH="0" baseline="0" noProof="0">
              <a:ln>
                <a:noFill/>
              </a:ln>
              <a:solidFill>
                <a:srgbClr val="00B050"/>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06" y="785794"/>
            <a:ext cx="8929718" cy="488949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void solve()				//</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求解最大兼容活动子集</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memset(flag,0,sizeof(flag));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初始化为</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false</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sort(A+1,A+n+1);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//A[1..n]</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按活动结束时间递增排序</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preend</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=0;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前一个兼容活动的结束时间</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for (int i=1;i&lt;=n;i++)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扫描所有活动</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if (A[i].b&gt;=</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preend</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找到一个兼容活动</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flag[i]=true;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选择</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A[i]</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活动</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preend</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=A[i].e;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更新</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preend</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值</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Box 1"/>
          <p:cNvSpPr txBox="1"/>
          <p:nvPr/>
        </p:nvSpPr>
        <p:spPr>
          <a:xfrm>
            <a:off x="857250" y="1428750"/>
            <a:ext cx="7858125" cy="196617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zh-CN" altLang="zh-CN" sz="2800" dirty="0">
                <a:solidFill>
                  <a:srgbClr val="FF0000"/>
                </a:solidFill>
                <a:latin typeface="Times New Roman" panose="02020603050405020304" pitchFamily="18" charset="0"/>
                <a:ea typeface="华文楷体" panose="02010600040101010101" pitchFamily="2" charset="-122"/>
              </a:rPr>
              <a:t>【算法分析】</a:t>
            </a:r>
            <a:r>
              <a:rPr lang="zh-CN" altLang="zh-CN" sz="2800" dirty="0">
                <a:latin typeface="Times New Roman" panose="02020603050405020304" pitchFamily="18" charset="0"/>
                <a:ea typeface="华文楷体" panose="02010600040101010101" pitchFamily="2" charset="-122"/>
              </a:rPr>
              <a:t>算法的主要时间花费在排序上，排序时间为</a:t>
            </a:r>
            <a:r>
              <a:rPr lang="en-US" altLang="zh-CN" sz="2800" dirty="0">
                <a:latin typeface="Times New Roman" panose="02020603050405020304" pitchFamily="18" charset="0"/>
                <a:ea typeface="华文楷体" panose="02010600040101010101" pitchFamily="2" charset="-122"/>
              </a:rPr>
              <a:t>O(</a:t>
            </a:r>
            <a:r>
              <a:rPr lang="en-US" altLang="zh-CN" sz="2800" dirty="0" err="1">
                <a:latin typeface="Times New Roman" panose="02020603050405020304" pitchFamily="18" charset="0"/>
                <a:ea typeface="华文楷体" panose="02010600040101010101" pitchFamily="2" charset="-122"/>
              </a:rPr>
              <a:t>nlog2n</a:t>
            </a:r>
            <a:r>
              <a:rPr lang="en-US" altLang="zh-CN" sz="2800" dirty="0">
                <a:latin typeface="Times New Roman" panose="02020603050405020304" pitchFamily="18" charset="0"/>
                <a:ea typeface="华文楷体" panose="02010600040101010101" pitchFamily="2" charset="-122"/>
              </a:rPr>
              <a:t>)</a:t>
            </a:r>
            <a:r>
              <a:rPr lang="zh-CN" altLang="zh-CN" sz="2800" dirty="0">
                <a:latin typeface="Times New Roman" panose="02020603050405020304" pitchFamily="18" charset="0"/>
                <a:ea typeface="华文楷体" panose="02010600040101010101" pitchFamily="2" charset="-122"/>
              </a:rPr>
              <a:t>，所以整个算法的时间复杂度为</a:t>
            </a:r>
            <a:r>
              <a:rPr lang="en-US" altLang="zh-CN" sz="2800" dirty="0">
                <a:latin typeface="Times New Roman" panose="02020603050405020304" pitchFamily="18" charset="0"/>
                <a:ea typeface="华文楷体" panose="02010600040101010101" pitchFamily="2" charset="-122"/>
              </a:rPr>
              <a:t>O(</a:t>
            </a:r>
            <a:r>
              <a:rPr lang="en-US" altLang="zh-CN" sz="2800" dirty="0" err="1">
                <a:latin typeface="Times New Roman" panose="02020603050405020304" pitchFamily="18" charset="0"/>
                <a:ea typeface="华文楷体" panose="02010600040101010101" pitchFamily="2" charset="-122"/>
              </a:rPr>
              <a:t>nlog2n</a:t>
            </a:r>
            <a:r>
              <a:rPr lang="en-US" altLang="zh-CN" sz="2800" dirty="0">
                <a:latin typeface="Times New Roman" panose="02020603050405020304" pitchFamily="18" charset="0"/>
                <a:ea typeface="华文楷体" panose="02010600040101010101" pitchFamily="2" charset="-122"/>
              </a:rPr>
              <a:t>)</a:t>
            </a:r>
            <a:r>
              <a:rPr lang="zh-CN" altLang="zh-CN" sz="2800" dirty="0">
                <a:latin typeface="Times New Roman" panose="02020603050405020304" pitchFamily="18" charset="0"/>
                <a:ea typeface="华文楷体" panose="02010600040101010101" pitchFamily="2" charset="-122"/>
              </a:rPr>
              <a:t>。</a:t>
            </a:r>
            <a:endParaRPr lang="zh-CN" altLang="zh-CN" sz="2800" dirty="0">
              <a:latin typeface="Times New Roman" panose="02020603050405020304" pitchFamily="18" charset="0"/>
              <a:ea typeface="华文楷体" panose="02010600040101010101" pitchFamily="2" charset="-122"/>
            </a:endParaRPr>
          </a:p>
        </p:txBody>
      </p:sp>
      <p:sp>
        <p:nvSpPr>
          <p:cNvPr id="3"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算法分析</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Box 1"/>
          <p:cNvSpPr txBox="1"/>
          <p:nvPr/>
        </p:nvSpPr>
        <p:spPr>
          <a:xfrm>
            <a:off x="785813" y="1071563"/>
            <a:ext cx="7858125" cy="391036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zh-CN" altLang="zh-CN" sz="2400" dirty="0">
                <a:solidFill>
                  <a:srgbClr val="FF0000"/>
                </a:solidFill>
                <a:latin typeface="Times New Roman" panose="02020603050405020304" pitchFamily="18" charset="0"/>
                <a:ea typeface="华文楷体" panose="02010600040101010101" pitchFamily="2" charset="-122"/>
              </a:rPr>
              <a:t>【算法证明】</a:t>
            </a:r>
            <a:r>
              <a:rPr lang="zh-CN" altLang="zh-CN" sz="2400" dirty="0">
                <a:latin typeface="Times New Roman" panose="02020603050405020304" pitchFamily="18" charset="0"/>
                <a:ea typeface="华文楷体" panose="02010600040101010101" pitchFamily="2" charset="-122"/>
              </a:rPr>
              <a:t>通常证明一个贪心选择得出的解是最优解的一般的方法是，构造一个初始最优解，然后对该解进行修正，使其第一步为一个贪心选择，证明总是存在一个以贪心选择开始的求解方案。</a:t>
            </a:r>
            <a:endParaRPr lang="zh-CN" altLang="zh-CN" sz="2400" dirty="0">
              <a:latin typeface="Times New Roman" panose="02020603050405020304" pitchFamily="18" charset="0"/>
              <a:ea typeface="华文楷体" panose="02010600040101010101" pitchFamily="2" charset="-122"/>
            </a:endParaRPr>
          </a:p>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对于本问题，所有活动按结束时间递增排序，就是要证明：若</a:t>
            </a:r>
            <a:r>
              <a:rPr lang="en-US" altLang="zh-CN" sz="2400" dirty="0">
                <a:latin typeface="Times New Roman" panose="02020603050405020304" pitchFamily="18" charset="0"/>
                <a:ea typeface="华文楷体" panose="02010600040101010101" pitchFamily="2" charset="-122"/>
              </a:rPr>
              <a:t>X</a:t>
            </a:r>
            <a:r>
              <a:rPr lang="zh-CN" altLang="zh-CN" sz="2400" dirty="0">
                <a:latin typeface="Times New Roman" panose="02020603050405020304" pitchFamily="18" charset="0"/>
                <a:ea typeface="华文楷体" panose="02010600040101010101" pitchFamily="2" charset="-122"/>
              </a:rPr>
              <a:t>是活动安排问题</a:t>
            </a:r>
            <a:r>
              <a:rPr lang="en-US" altLang="zh-CN" sz="2400" dirty="0">
                <a:latin typeface="Times New Roman" panose="02020603050405020304" pitchFamily="18" charset="0"/>
                <a:ea typeface="华文楷体" panose="02010600040101010101" pitchFamily="2" charset="-122"/>
              </a:rPr>
              <a:t>A</a:t>
            </a:r>
            <a:r>
              <a:rPr lang="zh-CN" altLang="zh-CN" sz="2400" dirty="0">
                <a:latin typeface="Times New Roman" panose="02020603050405020304" pitchFamily="18" charset="0"/>
                <a:ea typeface="华文楷体" panose="02010600040101010101" pitchFamily="2" charset="-122"/>
              </a:rPr>
              <a:t>的最优解，</a:t>
            </a:r>
            <a:r>
              <a:rPr lang="en-US" altLang="zh-CN" sz="2400" dirty="0">
                <a:latin typeface="Times New Roman" panose="02020603050405020304" pitchFamily="18" charset="0"/>
                <a:ea typeface="华文楷体" panose="02010600040101010101" pitchFamily="2" charset="-122"/>
              </a:rPr>
              <a:t>X=X'</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，则</a:t>
            </a:r>
            <a:r>
              <a:rPr lang="en-US" altLang="zh-CN" sz="2400" dirty="0">
                <a:latin typeface="Times New Roman" panose="02020603050405020304" pitchFamily="18" charset="0"/>
                <a:ea typeface="华文楷体" panose="02010600040101010101" pitchFamily="2" charset="-122"/>
              </a:rPr>
              <a:t>X'</a:t>
            </a:r>
            <a:r>
              <a:rPr lang="zh-CN" altLang="zh-CN" sz="2400" dirty="0">
                <a:latin typeface="Times New Roman" panose="02020603050405020304" pitchFamily="18" charset="0"/>
                <a:ea typeface="华文楷体" panose="02010600040101010101" pitchFamily="2" charset="-122"/>
              </a:rPr>
              <a:t>是</a:t>
            </a:r>
            <a:r>
              <a:rPr lang="en-US" altLang="zh-CN" sz="2400" dirty="0">
                <a:latin typeface="Times New Roman" panose="02020603050405020304" pitchFamily="18" charset="0"/>
                <a:ea typeface="华文楷体" panose="02010600040101010101" pitchFamily="2" charset="-122"/>
              </a:rPr>
              <a:t>A'={</a:t>
            </a:r>
            <a:r>
              <a:rPr lang="en-US" altLang="zh-CN" sz="2400" dirty="0" err="1">
                <a:latin typeface="Times New Roman" panose="02020603050405020304" pitchFamily="18" charset="0"/>
                <a:ea typeface="华文楷体" panose="02010600040101010101" pitchFamily="2" charset="-122"/>
              </a:rPr>
              <a:t>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A</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ei</a:t>
            </a:r>
            <a:r>
              <a:rPr lang="zh-CN"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b1</a:t>
            </a:r>
            <a:r>
              <a:rPr lang="en-US" altLang="zh-CN" sz="2400" dirty="0">
                <a:latin typeface="Times New Roman" panose="02020603050405020304" pitchFamily="18" charset="0"/>
                <a:ea typeface="华文楷体" panose="02010600040101010101" pitchFamily="2" charset="-122"/>
              </a:rPr>
              <a:t>}</a:t>
            </a:r>
            <a:r>
              <a:rPr lang="zh-CN" altLang="zh-CN" sz="2400" dirty="0">
                <a:latin typeface="Times New Roman" panose="02020603050405020304" pitchFamily="18" charset="0"/>
                <a:ea typeface="华文楷体" panose="02010600040101010101" pitchFamily="2" charset="-122"/>
              </a:rPr>
              <a:t>的活动安排问题的最优解。</a:t>
            </a:r>
            <a:endParaRPr lang="zh-CN" altLang="zh-CN" sz="2400" dirty="0">
              <a:latin typeface="Times New Roman" panose="02020603050405020304" pitchFamily="18" charset="0"/>
              <a:ea typeface="华文楷体" panose="02010600040101010101" pitchFamily="2" charset="-122"/>
            </a:endParaRPr>
          </a:p>
        </p:txBody>
      </p:sp>
      <p:sp>
        <p:nvSpPr>
          <p:cNvPr id="3"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算法证明</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375" y="1125538"/>
            <a:ext cx="7858125" cy="336053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首先证明总存在一个以活动</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开始的最优解。</a:t>
            </a:r>
            <a:endParaRPr lang="en-US" altLang="zh-CN" sz="2400" dirty="0">
              <a:latin typeface="Times New Roman" panose="02020603050405020304" pitchFamily="18" charset="0"/>
              <a:ea typeface="华文楷体" panose="02010600040101010101" pitchFamily="2" charset="-122"/>
            </a:endParaRPr>
          </a:p>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如果第一个选中的活动为</a:t>
            </a:r>
            <a:r>
              <a:rPr lang="en-US" altLang="zh-CN" sz="2400" dirty="0">
                <a:latin typeface="Times New Roman" panose="02020603050405020304" pitchFamily="18" charset="0"/>
                <a:ea typeface="华文楷体" panose="02010600040101010101" pitchFamily="2" charset="-122"/>
              </a:rPr>
              <a:t>k</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k</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），可以构造另一个最优解</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中的活动是兼容的，</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与</a:t>
            </a:r>
            <a:r>
              <a:rPr lang="en-US" altLang="zh-CN" sz="2400" dirty="0">
                <a:latin typeface="Times New Roman" panose="02020603050405020304" pitchFamily="18" charset="0"/>
                <a:ea typeface="华文楷体" panose="02010600040101010101" pitchFamily="2" charset="-122"/>
              </a:rPr>
              <a:t>X</a:t>
            </a:r>
            <a:r>
              <a:rPr lang="zh-CN" altLang="zh-CN" sz="2400" dirty="0">
                <a:latin typeface="Times New Roman" panose="02020603050405020304" pitchFamily="18" charset="0"/>
                <a:ea typeface="华文楷体" panose="02010600040101010101" pitchFamily="2" charset="-122"/>
              </a:rPr>
              <a:t>的活动数相同。</a:t>
            </a:r>
            <a:endParaRPr lang="en-US" altLang="zh-CN" sz="2400" dirty="0">
              <a:latin typeface="Times New Roman" panose="02020603050405020304" pitchFamily="18" charset="0"/>
              <a:ea typeface="华文楷体" panose="02010600040101010101" pitchFamily="2" charset="-122"/>
            </a:endParaRPr>
          </a:p>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那么用活动</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取代活动</a:t>
            </a:r>
            <a:r>
              <a:rPr lang="en-US" altLang="zh-CN" sz="2400" dirty="0">
                <a:latin typeface="Times New Roman" panose="02020603050405020304" pitchFamily="18" charset="0"/>
                <a:ea typeface="华文楷体" panose="02010600040101010101" pitchFamily="2" charset="-122"/>
              </a:rPr>
              <a:t>k</a:t>
            </a:r>
            <a:r>
              <a:rPr lang="zh-CN" altLang="zh-CN" sz="2400" dirty="0">
                <a:latin typeface="Times New Roman" panose="02020603050405020304" pitchFamily="18" charset="0"/>
                <a:ea typeface="华文楷体" panose="02010600040101010101" pitchFamily="2" charset="-122"/>
              </a:rPr>
              <a:t>得到</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，因为</a:t>
            </a:r>
            <a:r>
              <a:rPr lang="en-US" altLang="zh-CN" sz="2400" dirty="0">
                <a:latin typeface="Times New Roman" panose="02020603050405020304" pitchFamily="18" charset="0"/>
                <a:ea typeface="华文楷体" panose="02010600040101010101" pitchFamily="2" charset="-122"/>
              </a:rPr>
              <a:t>e1</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ek</a:t>
            </a:r>
            <a:r>
              <a:rPr lang="zh-CN" altLang="zh-CN" sz="2400" dirty="0">
                <a:latin typeface="Times New Roman" panose="02020603050405020304" pitchFamily="18" charset="0"/>
                <a:ea typeface="华文楷体" panose="02010600040101010101" pitchFamily="2" charset="-122"/>
              </a:rPr>
              <a:t>，所以</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中的活动是兼容的，即</a:t>
            </a:r>
            <a:r>
              <a:rPr lang="en-US" altLang="zh-CN" sz="2400" dirty="0">
                <a:latin typeface="Times New Roman" panose="02020603050405020304" pitchFamily="18" charset="0"/>
                <a:ea typeface="华文楷体" panose="02010600040101010101" pitchFamily="2" charset="-122"/>
              </a:rPr>
              <a:t>Y'</a:t>
            </a:r>
            <a:r>
              <a:rPr lang="zh-CN" altLang="zh-CN" sz="2400" dirty="0">
                <a:latin typeface="Times New Roman" panose="02020603050405020304" pitchFamily="18" charset="0"/>
                <a:ea typeface="华文楷体" panose="02010600040101010101" pitchFamily="2" charset="-122"/>
              </a:rPr>
              <a:t>也是最优的，这就说明总存在一个以活动</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开始的最优解。</a:t>
            </a:r>
            <a:endParaRPr lang="zh-CN" altLang="zh-CN" sz="2400" dirty="0">
              <a:latin typeface="Times New Roman" panose="02020603050405020304" pitchFamily="18" charset="0"/>
              <a:ea typeface="华文楷体" panose="02010600040101010101" pitchFamily="2" charset="-122"/>
            </a:endParaRPr>
          </a:p>
        </p:txBody>
      </p:sp>
      <p:sp>
        <p:nvSpPr>
          <p:cNvPr id="3"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lvl="0" eaLnBrk="1" hangingPunct="1">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r>
              <a:rPr lang="en-US" altLang="zh-CN" kern="0" dirty="0"/>
              <a:t>——</a:t>
            </a:r>
            <a:r>
              <a:rPr lang="zh-CN" altLang="en-US" kern="0" dirty="0"/>
              <a:t>算法证明</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Box 1"/>
          <p:cNvSpPr txBox="1"/>
          <p:nvPr/>
        </p:nvSpPr>
        <p:spPr>
          <a:xfrm>
            <a:off x="571500" y="1071563"/>
            <a:ext cx="8286750" cy="224837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en-US" altLang="zh-CN" sz="2000" dirty="0">
                <a:solidFill>
                  <a:srgbClr val="0000FF"/>
                </a:solidFill>
                <a:latin typeface="Consolas" panose="020B0609020204030204" pitchFamily="49" charset="0"/>
                <a:ea typeface="楷体" panose="02010609060101010101" pitchFamily="49" charset="-122"/>
              </a:rPr>
              <a:t>    </a:t>
            </a:r>
            <a:r>
              <a:rPr lang="zh-CN" altLang="zh-CN" sz="2400" dirty="0">
                <a:latin typeface="Times New Roman" panose="02020603050405020304" pitchFamily="18" charset="0"/>
                <a:ea typeface="华文楷体" panose="02010600040101010101" pitchFamily="2" charset="-122"/>
              </a:rPr>
              <a:t>当做出了对活动</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的贪心选择后，原问题就变成了在活动</a:t>
            </a:r>
            <a:r>
              <a:rPr lang="en-US" altLang="zh-CN" sz="2400" dirty="0">
                <a:latin typeface="Times New Roman" panose="02020603050405020304" pitchFamily="18" charset="0"/>
                <a:ea typeface="华文楷体" panose="02010600040101010101" pitchFamily="2" charset="-122"/>
              </a:rPr>
              <a:t>2</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n</a:t>
            </a:r>
            <a:r>
              <a:rPr lang="zh-CN" altLang="zh-CN" sz="2400" dirty="0">
                <a:latin typeface="Times New Roman" panose="02020603050405020304" pitchFamily="18" charset="0"/>
                <a:ea typeface="华文楷体" panose="02010600040101010101" pitchFamily="2" charset="-122"/>
              </a:rPr>
              <a:t>中找与活动</a:t>
            </a:r>
            <a:r>
              <a:rPr lang="en-US"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兼容的那些活动的子问题。亦即，如果</a:t>
            </a:r>
            <a:r>
              <a:rPr lang="en-US" altLang="zh-CN" sz="2400" dirty="0">
                <a:latin typeface="Times New Roman" panose="02020603050405020304" pitchFamily="18" charset="0"/>
                <a:ea typeface="华文楷体" panose="02010600040101010101" pitchFamily="2" charset="-122"/>
              </a:rPr>
              <a:t>X</a:t>
            </a:r>
            <a:r>
              <a:rPr lang="zh-CN" altLang="zh-CN" sz="2400" dirty="0">
                <a:latin typeface="Times New Roman" panose="02020603050405020304" pitchFamily="18" charset="0"/>
                <a:ea typeface="华文楷体" panose="02010600040101010101" pitchFamily="2" charset="-122"/>
              </a:rPr>
              <a:t>为原问题的一个最优解，则</a:t>
            </a:r>
            <a:r>
              <a:rPr lang="en-US" altLang="zh-CN" sz="2400" dirty="0">
                <a:latin typeface="Times New Roman" panose="02020603050405020304" pitchFamily="18" charset="0"/>
                <a:ea typeface="华文楷体" panose="02010600040101010101" pitchFamily="2" charset="-122"/>
              </a:rPr>
              <a:t>X'=X-{1}</a:t>
            </a:r>
            <a:r>
              <a:rPr lang="zh-CN" altLang="zh-CN" sz="2400" dirty="0">
                <a:latin typeface="Times New Roman" panose="02020603050405020304" pitchFamily="18" charset="0"/>
                <a:ea typeface="华文楷体" panose="02010600040101010101" pitchFamily="2" charset="-122"/>
              </a:rPr>
              <a:t>也是活动选择问题</a:t>
            </a:r>
            <a:r>
              <a:rPr lang="en-US" altLang="zh-CN" sz="2400" dirty="0">
                <a:latin typeface="Times New Roman" panose="02020603050405020304" pitchFamily="18" charset="0"/>
                <a:ea typeface="华文楷体" panose="02010600040101010101" pitchFamily="2" charset="-122"/>
              </a:rPr>
              <a:t>A</a:t>
            </a:r>
            <a:r>
              <a:rPr lang="pt-BR" altLang="zh-CN" sz="2400" dirty="0">
                <a:latin typeface="Times New Roman" panose="02020603050405020304" pitchFamily="18" charset="0"/>
                <a:ea typeface="华文楷体" panose="02010600040101010101" pitchFamily="2" charset="-122"/>
              </a:rPr>
              <a:t>'={</a:t>
            </a:r>
            <a:r>
              <a:rPr lang="en-US" altLang="zh-CN" sz="2400" dirty="0" err="1">
                <a:latin typeface="Times New Roman" panose="02020603050405020304" pitchFamily="18" charset="0"/>
                <a:ea typeface="华文楷体" panose="02010600040101010101" pitchFamily="2" charset="-122"/>
              </a:rPr>
              <a:t>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A </a:t>
            </a:r>
            <a:r>
              <a:rPr lang="pt-BR" altLang="zh-CN"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bi</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e</a:t>
            </a:r>
            <a:r>
              <a:rPr lang="pt-BR" altLang="zh-CN" sz="2400" dirty="0">
                <a:latin typeface="Times New Roman" panose="02020603050405020304" pitchFamily="18" charset="0"/>
                <a:ea typeface="华文楷体" panose="02010600040101010101" pitchFamily="2" charset="-122"/>
              </a:rPr>
              <a:t>1}</a:t>
            </a:r>
            <a:r>
              <a:rPr lang="zh-CN" altLang="zh-CN" sz="2400" dirty="0">
                <a:latin typeface="Times New Roman" panose="02020603050405020304" pitchFamily="18" charset="0"/>
                <a:ea typeface="华文楷体" panose="02010600040101010101" pitchFamily="2" charset="-122"/>
              </a:rPr>
              <a:t>的一个最优解。</a:t>
            </a:r>
            <a:endParaRPr lang="zh-CN" altLang="zh-CN" sz="2400" dirty="0">
              <a:latin typeface="Times New Roman" panose="02020603050405020304" pitchFamily="18" charset="0"/>
              <a:ea typeface="华文楷体" panose="02010600040101010101" pitchFamily="2" charset="-122"/>
            </a:endParaRPr>
          </a:p>
        </p:txBody>
      </p:sp>
      <p:sp>
        <p:nvSpPr>
          <p:cNvPr id="3" name="TextBox 2"/>
          <p:cNvSpPr txBox="1"/>
          <p:nvPr/>
        </p:nvSpPr>
        <p:spPr>
          <a:xfrm>
            <a:off x="642937" y="3429000"/>
            <a:ext cx="8143875" cy="2598738"/>
          </a:xfrm>
          <a:prstGeom prst="rect">
            <a:avLst/>
          </a:prstGeom>
        </p:spPr>
        <p:style>
          <a:lnRef idx="2">
            <a:schemeClr val="accent2"/>
          </a:lnRef>
          <a:fillRef idx="1">
            <a:schemeClr val="lt1"/>
          </a:fillRef>
          <a:effectRef idx="0">
            <a:schemeClr val="accent2"/>
          </a:effectRef>
          <a:fontRef idx="minor">
            <a:schemeClr val="dk1"/>
          </a:fontRef>
        </p:style>
        <p:txBody>
          <a:bodyPr lIns="144000" tIns="144000" bIns="144000">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0000"/>
                </a:solidFill>
                <a:effectLst/>
                <a:uLnTx/>
                <a:uFillTx/>
                <a:latin typeface="Consolas" panose="020B0609020204030204" pitchFamily="49" charset="0"/>
                <a:ea typeface="微软雅黑" panose="020B0503020204020204" charset="-122"/>
                <a:cs typeface="Consolas" panose="020B0609020204030204" pitchFamily="49" charset="0"/>
              </a:rPr>
              <a:t>    </a:t>
            </a:r>
            <a:r>
              <a:rPr kumimoji="0" lang="zh-CN" altLang="zh-CN" sz="2000" b="0" i="0" u="none" strike="noStrike" kern="1200" cap="none" spc="0" normalizeH="0" baseline="0" noProof="0">
                <a:ln>
                  <a:noFill/>
                </a:ln>
                <a:solidFill>
                  <a:srgbClr val="FF0000"/>
                </a:solidFill>
                <a:effectLst/>
                <a:uLnTx/>
                <a:uFillTx/>
                <a:latin typeface="Consolas" panose="020B0609020204030204" pitchFamily="49" charset="0"/>
                <a:ea typeface="微软雅黑" panose="020B0503020204020204" charset="-122"/>
                <a:cs typeface="Consolas" panose="020B0609020204030204" pitchFamily="49" charset="0"/>
              </a:rPr>
              <a:t>反证法</a:t>
            </a:r>
            <a:r>
              <a:rPr kumimoji="0" lang="zh-CN" altLang="en-US"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如果能找到一个</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的含有比</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X</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更多活动的解</a:t>
            </a:r>
            <a:r>
              <a:rPr kumimoji="0" lang="en-US" altLang="zh-CN" sz="2000" b="0" i="1"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Y</a:t>
            </a:r>
            <a:r>
              <a:rPr kumimoji="0" lang="en-US" altLang="zh-CN" sz="20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，则将活动</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加入</a:t>
            </a:r>
            <a:r>
              <a:rPr kumimoji="0" lang="en-US" altLang="zh-CN" sz="2000" b="0" i="1"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Y</a:t>
            </a:r>
            <a:r>
              <a:rPr kumimoji="0" lang="en-US" altLang="zh-CN" sz="20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后就得到</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的一个包含比</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X</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更多活动的解</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Y</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，这就与</a:t>
            </a:r>
            <a:r>
              <a:rPr kumimoji="0" lang="en-US" altLang="zh-CN" sz="2000" b="0" i="1"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X</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是最优解的假设相矛盾。</a:t>
            </a:r>
            <a:endPar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因此，在每一次贪心选择后，留下的是一个与原问题具有相同形式的最优化问题，即最优子结构性质。</a:t>
            </a:r>
            <a:endParaRPr kumimoji="0" lang="zh-CN" altLang="en-US" sz="2000" b="0" i="0" u="none" strike="noStrike" kern="1200" cap="none" spc="0" normalizeH="0" baseline="0" noProof="0">
              <a:ln>
                <a:noFill/>
              </a:ln>
              <a:solidFill>
                <a:schemeClr val="dk1"/>
              </a:solidFill>
              <a:effectLst/>
              <a:uLnTx/>
              <a:uFillTx/>
              <a:latin typeface="+mn-lt"/>
              <a:ea typeface="+mn-ea"/>
              <a:cs typeface="+mn-cs"/>
            </a:endParaRPr>
          </a:p>
        </p:txBody>
      </p:sp>
      <p:sp>
        <p:nvSpPr>
          <p:cNvPr id="4"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Box 1"/>
          <p:cNvSpPr txBox="1"/>
          <p:nvPr/>
        </p:nvSpPr>
        <p:spPr>
          <a:xfrm>
            <a:off x="851426" y="1340768"/>
            <a:ext cx="7869238" cy="33605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zh-CN" altLang="en-US" sz="2400" dirty="0">
                <a:solidFill>
                  <a:srgbClr val="FF0000"/>
                </a:solidFill>
                <a:latin typeface="Times New Roman" panose="02020603050405020304" pitchFamily="18" charset="0"/>
                <a:ea typeface="华文楷体" panose="02010600040101010101" pitchFamily="2" charset="-122"/>
              </a:rPr>
              <a:t>例：</a:t>
            </a:r>
            <a:r>
              <a:rPr lang="zh-CN" altLang="zh-CN" sz="2400" dirty="0">
                <a:solidFill>
                  <a:srgbClr val="FF0000"/>
                </a:solidFill>
                <a:latin typeface="Times New Roman" panose="02020603050405020304" pitchFamily="18" charset="0"/>
                <a:ea typeface="华文楷体" panose="02010600040101010101" pitchFamily="2" charset="-122"/>
              </a:rPr>
              <a:t>求解蓄栏保留问题</a:t>
            </a:r>
            <a:r>
              <a:rPr lang="zh-CN" altLang="zh-CN" sz="2400" dirty="0">
                <a:latin typeface="Times New Roman" panose="02020603050405020304" pitchFamily="18" charset="0"/>
                <a:ea typeface="华文楷体" panose="02010600040101010101" pitchFamily="2" charset="-122"/>
              </a:rPr>
              <a:t>。农场有</a:t>
            </a:r>
            <a:r>
              <a:rPr lang="en-US" altLang="zh-CN" sz="2400" dirty="0">
                <a:latin typeface="Times New Roman" panose="02020603050405020304" pitchFamily="18" charset="0"/>
                <a:ea typeface="华文楷体" panose="02010600040101010101" pitchFamily="2" charset="-122"/>
              </a:rPr>
              <a:t>n</a:t>
            </a:r>
            <a:r>
              <a:rPr lang="zh-CN" altLang="zh-CN" sz="2400" dirty="0">
                <a:latin typeface="Times New Roman" panose="02020603050405020304" pitchFamily="18" charset="0"/>
                <a:ea typeface="华文楷体" panose="02010600040101010101" pitchFamily="2" charset="-122"/>
              </a:rPr>
              <a:t>头牛，每头牛会有一个特定的时间区间</a:t>
            </a:r>
            <a:r>
              <a:rPr lang="en-US" altLang="zh-CN" sz="2400" dirty="0">
                <a:latin typeface="Times New Roman" panose="02020603050405020304" pitchFamily="18" charset="0"/>
                <a:ea typeface="华文楷体" panose="02010600040101010101" pitchFamily="2" charset="-122"/>
              </a:rPr>
              <a:t>[b</a:t>
            </a:r>
            <a:r>
              <a:rPr lang="zh-CN" altLang="zh-CN"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e]</a:t>
            </a:r>
            <a:r>
              <a:rPr lang="zh-CN" altLang="zh-CN" sz="2400" dirty="0">
                <a:latin typeface="Times New Roman" panose="02020603050405020304" pitchFamily="18" charset="0"/>
                <a:ea typeface="华文楷体" panose="02010600040101010101" pitchFamily="2" charset="-122"/>
              </a:rPr>
              <a:t>在蓄栏里挤牛奶，并且一个蓄栏里任何时刻只能有一头牛挤奶。</a:t>
            </a:r>
            <a:endParaRPr lang="en-US" altLang="zh-CN" sz="2400" dirty="0">
              <a:latin typeface="Times New Roman" panose="02020603050405020304" pitchFamily="18" charset="0"/>
              <a:ea typeface="华文楷体" panose="02010600040101010101" pitchFamily="2" charset="-122"/>
            </a:endParaRPr>
          </a:p>
          <a:p>
            <a:pPr marL="0" lvl="0" indent="0">
              <a:lnSpc>
                <a:spcPct val="150000"/>
              </a:lnSpc>
              <a:spcBef>
                <a:spcPct val="0"/>
              </a:spcBef>
              <a:buNone/>
            </a:pPr>
            <a:r>
              <a:rPr lang="en-US" altLang="zh-CN" sz="2400" dirty="0">
                <a:latin typeface="Times New Roman" panose="02020603050405020304" pitchFamily="18" charset="0"/>
                <a:ea typeface="华文楷体" panose="02010600040101010101" pitchFamily="2" charset="-122"/>
              </a:rPr>
              <a:t>    </a:t>
            </a:r>
            <a:r>
              <a:rPr lang="zh-CN" altLang="zh-CN" sz="2400" dirty="0">
                <a:latin typeface="Times New Roman" panose="02020603050405020304" pitchFamily="18" charset="0"/>
                <a:ea typeface="华文楷体" panose="02010600040101010101" pitchFamily="2" charset="-122"/>
              </a:rPr>
              <a:t>现在农场主希望知道最少蓄栏能够满足上述要求，并给出每头牛被安排的方案。对于多种可行方案，输出一种即可。</a:t>
            </a:r>
            <a:endParaRPr lang="zh-CN" altLang="zh-CN" sz="2400" dirty="0">
              <a:latin typeface="Times New Roman" panose="02020603050405020304" pitchFamily="18" charset="0"/>
              <a:ea typeface="华文楷体" panose="02010600040101010101" pitchFamily="2" charset="-122"/>
            </a:endParaRPr>
          </a:p>
        </p:txBody>
      </p:sp>
      <p:sp>
        <p:nvSpPr>
          <p:cNvPr id="3" name="Rectangle 2"/>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a:solidFill>
                  <a:schemeClr val="accent2"/>
                </a:solidFill>
                <a:latin typeface="+mj-lt"/>
                <a:ea typeface="+mj-ea"/>
                <a:cs typeface="+mj-cs"/>
              </a:defRPr>
            </a:lvl1pPr>
            <a:lvl2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5.3.6 </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活动选择问题</a:t>
            </a:r>
            <a:r>
              <a:rPr kumimoji="0" lang="en-US" altLang="zh-CN" sz="3200" b="0" i="0" u="none" strike="noStrike" kern="0" cap="none" spc="0" normalizeH="0" baseline="0" noProof="0" dirty="0">
                <a:ln>
                  <a:noFill/>
                </a:ln>
                <a:solidFill>
                  <a:schemeClr val="accent2"/>
                </a:solidFill>
                <a:effectLst/>
                <a:uLnTx/>
                <a:uFillTx/>
                <a:latin typeface="+mj-lt"/>
                <a:ea typeface="+mj-ea"/>
                <a:cs typeface="+mj-cs"/>
              </a:rPr>
              <a:t>——</a:t>
            </a:r>
            <a:r>
              <a:rPr kumimoji="0" lang="zh-CN" altLang="en-US" sz="3200" b="0" i="0" u="none" strike="noStrike" kern="0" cap="none" spc="0" normalizeH="0" baseline="0" noProof="0" dirty="0">
                <a:ln>
                  <a:noFill/>
                </a:ln>
                <a:solidFill>
                  <a:schemeClr val="accent2"/>
                </a:solidFill>
                <a:effectLst/>
                <a:uLnTx/>
                <a:uFillTx/>
                <a:latin typeface="+mj-lt"/>
                <a:ea typeface="+mj-ea"/>
                <a:cs typeface="+mj-cs"/>
              </a:rPr>
              <a:t>例子</a:t>
            </a:r>
            <a:endParaRPr kumimoji="0" lang="en-US" altLang="zh-CN" sz="3200" b="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38" y="642938"/>
            <a:ext cx="8072438" cy="1246188"/>
          </a:xfrm>
          <a:prstGeom prst="rect">
            <a:avLst/>
          </a:prstGeom>
          <a:solidFill>
            <a:schemeClr val="accent5">
              <a:lumMod val="40000"/>
              <a:lumOff val="60000"/>
            </a:schemeClr>
          </a:solidFill>
        </p:spPr>
        <p:txBody>
          <a:bodyPr>
            <a:spAutoFit/>
          </a:bodyPr>
          <a:lstStyle/>
          <a:p>
            <a:pPr marR="0" defTabSz="914400">
              <a:lnSpc>
                <a:spcPts val="3000"/>
              </a:lnSpc>
              <a:buClrTx/>
              <a:buSzTx/>
              <a:buFontTx/>
              <a:buNone/>
              <a:defRPr/>
            </a:pPr>
            <a:r>
              <a:rPr kumimoji="0" lang="en-US" altLang="zh-CN" sz="22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kumimoji="0" lang="zh-CN" altLang="zh-CN" sz="2200" kern="1200" cap="none" spc="0" normalizeH="0" baseline="0" noProof="0">
                <a:solidFill>
                  <a:srgbClr val="FF0000"/>
                </a:solidFill>
                <a:latin typeface="Consolas" panose="020B0609020204030204" pitchFamily="49" charset="0"/>
                <a:ea typeface="楷体" panose="02010609060101010101" pitchFamily="49" charset="-122"/>
                <a:cs typeface="Consolas" panose="020B0609020204030204" pitchFamily="49" charset="0"/>
              </a:rPr>
              <a:t>解：</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牛的编号为</a:t>
            </a:r>
            <a:r>
              <a:rPr kumimoji="0" lang="en-US"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i="1"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，每头牛的挤奶时间相当于一个活动，与前面活动安排问题不同，这里的活动时间是闭区间，例如</a:t>
            </a:r>
            <a:r>
              <a:rPr kumimoji="0" lang="en-US"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与</a:t>
            </a:r>
            <a:r>
              <a:rPr kumimoji="0" lang="en-US"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0" lang="en-US"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rPr>
              <a:t>是交叉的，它们不是兼容活动。</a:t>
            </a:r>
            <a:endParaRPr kumimoji="0" lang="zh-CN" altLang="zh-CN" sz="2000" kern="1200" cap="none" spc="0" normalizeH="0" baseline="0" noProof="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1075" name="TextBox 2"/>
          <p:cNvSpPr txBox="1"/>
          <p:nvPr/>
        </p:nvSpPr>
        <p:spPr>
          <a:xfrm>
            <a:off x="571500" y="2143125"/>
            <a:ext cx="8001000" cy="2862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nSpc>
                <a:spcPct val="150000"/>
              </a:lnSpc>
              <a:spcBef>
                <a:spcPct val="0"/>
              </a:spcBef>
              <a:buNone/>
            </a:pPr>
            <a:r>
              <a:rPr lang="en-US" altLang="zh-CN" sz="2000" dirty="0">
                <a:solidFill>
                  <a:srgbClr val="C00000"/>
                </a:solidFill>
                <a:latin typeface="Consolas" panose="020B0609020204030204" pitchFamily="49" charset="0"/>
                <a:ea typeface="楷体" panose="02010609060101010101" pitchFamily="49" charset="-122"/>
              </a:rPr>
              <a:t>    </a:t>
            </a:r>
            <a:r>
              <a:rPr lang="zh-CN" altLang="zh-CN" sz="2000" dirty="0">
                <a:solidFill>
                  <a:srgbClr val="C00000"/>
                </a:solidFill>
                <a:latin typeface="Consolas" panose="020B0609020204030204" pitchFamily="49" charset="0"/>
                <a:ea typeface="楷体" panose="02010609060101010101" pitchFamily="49" charset="-122"/>
              </a:rPr>
              <a:t>采用与求解活动安排问题类似的贪心思路</a:t>
            </a:r>
            <a:r>
              <a:rPr lang="zh-CN" altLang="zh-CN" sz="2000" dirty="0">
                <a:solidFill>
                  <a:srgbClr val="0000FF"/>
                </a:solidFill>
                <a:latin typeface="Consolas" panose="020B0609020204030204" pitchFamily="49" charset="0"/>
                <a:ea typeface="楷体" panose="02010609060101010101" pitchFamily="49" charset="-122"/>
              </a:rPr>
              <a:t>，将所有活动这样排序：结束时间相同按开始时间递增排序，否则按结束时间递增排序。</a:t>
            </a:r>
            <a:endParaRPr lang="en-US" altLang="zh-CN" sz="2000" dirty="0">
              <a:solidFill>
                <a:srgbClr val="0000FF"/>
              </a:solidFill>
              <a:latin typeface="Consolas" panose="020B0609020204030204" pitchFamily="49" charset="0"/>
              <a:ea typeface="楷体" panose="02010609060101010101" pitchFamily="49" charset="-122"/>
            </a:endParaRPr>
          </a:p>
          <a:p>
            <a:pPr marL="0" lvl="0" indent="0">
              <a:lnSpc>
                <a:spcPct val="150000"/>
              </a:lnSpc>
              <a:spcBef>
                <a:spcPct val="0"/>
              </a:spcBef>
              <a:buNone/>
            </a:pPr>
            <a:r>
              <a:rPr lang="en-US" altLang="zh-CN" sz="2000" dirty="0">
                <a:solidFill>
                  <a:srgbClr val="0000FF"/>
                </a:solidFill>
                <a:latin typeface="Consolas" panose="020B0609020204030204" pitchFamily="49" charset="0"/>
                <a:ea typeface="楷体" panose="02010609060101010101" pitchFamily="49" charset="-122"/>
              </a:rPr>
              <a:t>    </a:t>
            </a:r>
            <a:r>
              <a:rPr lang="zh-CN" altLang="zh-CN" sz="2000" dirty="0">
                <a:solidFill>
                  <a:srgbClr val="0000FF"/>
                </a:solidFill>
                <a:latin typeface="Consolas" panose="020B0609020204030204" pitchFamily="49" charset="0"/>
                <a:ea typeface="楷体" panose="02010609060101010101" pitchFamily="49" charset="-122"/>
              </a:rPr>
              <a:t>求出一个</a:t>
            </a:r>
            <a:r>
              <a:rPr lang="zh-CN" altLang="zh-CN" sz="2000" dirty="0">
                <a:solidFill>
                  <a:srgbClr val="C00000"/>
                </a:solidFill>
                <a:latin typeface="Consolas" panose="020B0609020204030204" pitchFamily="49" charset="0"/>
                <a:ea typeface="楷体" panose="02010609060101010101" pitchFamily="49" charset="-122"/>
              </a:rPr>
              <a:t>最大兼容活动子集</a:t>
            </a:r>
            <a:r>
              <a:rPr lang="zh-CN" altLang="zh-CN" sz="2000" dirty="0">
                <a:solidFill>
                  <a:srgbClr val="0000FF"/>
                </a:solidFill>
                <a:latin typeface="Consolas" panose="020B0609020204030204" pitchFamily="49" charset="0"/>
                <a:ea typeface="楷体" panose="02010609060101010101" pitchFamily="49" charset="-122"/>
              </a:rPr>
              <a:t>，将它们安排在一个蓄栏中（蓄栏编号为</a:t>
            </a:r>
            <a:r>
              <a:rPr lang="en-US" altLang="zh-CN" sz="2000" dirty="0">
                <a:solidFill>
                  <a:srgbClr val="0000FF"/>
                </a:solidFill>
                <a:latin typeface="Consolas" panose="020B0609020204030204" pitchFamily="49" charset="0"/>
                <a:ea typeface="楷体" panose="02010609060101010101" pitchFamily="49" charset="-122"/>
              </a:rPr>
              <a:t>1</a:t>
            </a:r>
            <a:r>
              <a:rPr lang="zh-CN" altLang="zh-CN" sz="2000" dirty="0">
                <a:solidFill>
                  <a:srgbClr val="0000FF"/>
                </a:solidFill>
                <a:latin typeface="Consolas" panose="020B0609020204030204" pitchFamily="49" charset="0"/>
                <a:ea typeface="楷体" panose="02010609060101010101" pitchFamily="49" charset="-122"/>
              </a:rPr>
              <a:t>）；如果没有安排完，再在剩余的活动再求下一个最大兼容活动子集，将它们安排在另一个蓄栏中（蓄栏编号为</a:t>
            </a:r>
            <a:r>
              <a:rPr lang="en-US" altLang="zh-CN" sz="2000" dirty="0">
                <a:solidFill>
                  <a:srgbClr val="0000FF"/>
                </a:solidFill>
                <a:latin typeface="Consolas" panose="020B0609020204030204" pitchFamily="49" charset="0"/>
                <a:ea typeface="楷体" panose="02010609060101010101" pitchFamily="49" charset="-122"/>
              </a:rPr>
              <a:t>2</a:t>
            </a:r>
            <a:r>
              <a:rPr lang="zh-CN" altLang="zh-CN" sz="2000" dirty="0">
                <a:solidFill>
                  <a:srgbClr val="0000FF"/>
                </a:solidFill>
                <a:latin typeface="Consolas" panose="020B0609020204030204" pitchFamily="49" charset="0"/>
                <a:ea typeface="楷体" panose="02010609060101010101" pitchFamily="49" charset="-122"/>
              </a:rPr>
              <a:t>），以此类推。</a:t>
            </a:r>
            <a:endParaRPr lang="en-US" altLang="zh-CN" sz="2000" dirty="0">
              <a:solidFill>
                <a:srgbClr val="0000FF"/>
              </a:solidFill>
              <a:latin typeface="Consolas" panose="020B0609020204030204" pitchFamily="49" charset="0"/>
              <a:ea typeface="楷体" panose="02010609060101010101" pitchFamily="49" charset="-122"/>
            </a:endParaRPr>
          </a:p>
          <a:p>
            <a:pPr marL="0" lvl="0" indent="0">
              <a:lnSpc>
                <a:spcPct val="150000"/>
              </a:lnSpc>
              <a:spcBef>
                <a:spcPct val="0"/>
              </a:spcBef>
              <a:buNone/>
            </a:pPr>
            <a:r>
              <a:rPr lang="en-US" altLang="zh-CN" sz="2000" dirty="0">
                <a:solidFill>
                  <a:srgbClr val="0000FF"/>
                </a:solidFill>
                <a:latin typeface="Consolas" panose="020B0609020204030204" pitchFamily="49" charset="0"/>
                <a:ea typeface="楷体" panose="02010609060101010101" pitchFamily="49" charset="-122"/>
              </a:rPr>
              <a:t>    </a:t>
            </a:r>
            <a:r>
              <a:rPr lang="zh-CN" altLang="zh-CN" sz="2000" dirty="0">
                <a:solidFill>
                  <a:srgbClr val="0000FF"/>
                </a:solidFill>
                <a:latin typeface="Consolas" panose="020B0609020204030204" pitchFamily="49" charset="0"/>
                <a:ea typeface="楷体" panose="02010609060101010101" pitchFamily="49" charset="-122"/>
              </a:rPr>
              <a:t>也就是说，</a:t>
            </a:r>
            <a:r>
              <a:rPr lang="zh-CN" altLang="zh-CN" sz="2000" dirty="0">
                <a:solidFill>
                  <a:srgbClr val="FF00FF"/>
                </a:solidFill>
                <a:latin typeface="Consolas" panose="020B0609020204030204" pitchFamily="49" charset="0"/>
                <a:ea typeface="楷体" panose="02010609060101010101" pitchFamily="49" charset="-122"/>
              </a:rPr>
              <a:t>最大兼容活动子集</a:t>
            </a:r>
            <a:r>
              <a:rPr lang="zh-CN" altLang="en-US" sz="2000" dirty="0">
                <a:solidFill>
                  <a:srgbClr val="FF00FF"/>
                </a:solidFill>
                <a:latin typeface="Consolas" panose="020B0609020204030204" pitchFamily="49" charset="0"/>
                <a:ea typeface="楷体" panose="02010609060101010101" pitchFamily="49" charset="-122"/>
              </a:rPr>
              <a:t>的</a:t>
            </a:r>
            <a:r>
              <a:rPr lang="zh-CN" altLang="zh-CN" sz="2000" dirty="0">
                <a:solidFill>
                  <a:srgbClr val="FF00FF"/>
                </a:solidFill>
                <a:latin typeface="Consolas" panose="020B0609020204030204" pitchFamily="49" charset="0"/>
                <a:ea typeface="楷体" panose="02010609060101010101" pitchFamily="49" charset="-122"/>
              </a:rPr>
              <a:t>个数就是最少蓄栏个数</a:t>
            </a:r>
            <a:r>
              <a:rPr lang="zh-CN" altLang="zh-CN" sz="2000" dirty="0">
                <a:solidFill>
                  <a:srgbClr val="0000FF"/>
                </a:solidFill>
                <a:latin typeface="Consolas" panose="020B0609020204030204" pitchFamily="49" charset="0"/>
                <a:ea typeface="楷体" panose="02010609060101010101" pitchFamily="49" charset="-122"/>
              </a:rPr>
              <a:t>。</a:t>
            </a:r>
            <a:endParaRPr lang="zh-CN" altLang="en-US" sz="2000" dirty="0">
              <a:solidFill>
                <a:schemeClr val="tx1"/>
              </a:solidFill>
              <a:latin typeface="Consolas" panose="020B0609020204030204" pitchFamily="49" charset="0"/>
              <a:ea typeface="楷体" panose="02010609060101010101"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14375" y="617538"/>
          <a:ext cx="7429499" cy="1323975"/>
        </p:xfrm>
        <a:graphic>
          <a:graphicData uri="http://schemas.openxmlformats.org/drawingml/2006/table">
            <a:tbl>
              <a:tblPr/>
              <a:tblGrid>
                <a:gridCol w="1806504"/>
                <a:gridCol w="803285"/>
                <a:gridCol w="803285"/>
                <a:gridCol w="803285"/>
                <a:gridCol w="803285"/>
                <a:gridCol w="803285"/>
                <a:gridCol w="803285"/>
                <a:gridCol w="803285"/>
              </a:tblGrid>
              <a:tr h="441325">
                <a:tc>
                  <a:txBody>
                    <a:bodyPr/>
                    <a:lstStyle/>
                    <a:p>
                      <a:pPr indent="0" algn="ctr">
                        <a:lnSpc>
                          <a:spcPct val="150000"/>
                        </a:lnSpc>
                        <a:spcAft>
                          <a:spcPts val="0"/>
                        </a:spcAft>
                      </a:pPr>
                      <a:r>
                        <a:rPr lang="en-US" sz="1800" b="1" i="1" kern="100">
                          <a:solidFill>
                            <a:srgbClr val="00B0F0"/>
                          </a:solidFill>
                          <a:latin typeface="Consolas" panose="020B0609020204030204" pitchFamily="49" charset="0"/>
                          <a:ea typeface="楷体" panose="02010609060101010101" pitchFamily="49" charset="-122"/>
                          <a:cs typeface="Consolas" panose="020B0609020204030204" pitchFamily="49" charset="0"/>
                        </a:rPr>
                        <a:t>i</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开始时间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结束时间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 name="表格 2"/>
          <p:cNvGraphicFramePr>
            <a:graphicFrameLocks noGrp="1"/>
          </p:cNvGraphicFramePr>
          <p:nvPr/>
        </p:nvGraphicFramePr>
        <p:xfrm>
          <a:off x="1643063" y="2819400"/>
          <a:ext cx="2857500" cy="1323975"/>
        </p:xfrm>
        <a:graphic>
          <a:graphicData uri="http://schemas.openxmlformats.org/drawingml/2006/table">
            <a:tbl>
              <a:tblPr/>
              <a:tblGrid>
                <a:gridCol w="714375"/>
                <a:gridCol w="714375"/>
                <a:gridCol w="714375"/>
                <a:gridCol w="714375"/>
              </a:tblGrid>
              <a:tr h="441325">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9</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4" name="表格 3"/>
          <p:cNvGraphicFramePr>
            <a:graphicFrameLocks noGrp="1"/>
          </p:cNvGraphicFramePr>
          <p:nvPr/>
        </p:nvGraphicFramePr>
        <p:xfrm>
          <a:off x="5000625" y="2819400"/>
          <a:ext cx="1428750" cy="1323975"/>
        </p:xfrm>
        <a:graphic>
          <a:graphicData uri="http://schemas.openxmlformats.org/drawingml/2006/table">
            <a:tbl>
              <a:tblPr/>
              <a:tblGrid>
                <a:gridCol w="714375"/>
                <a:gridCol w="714375"/>
              </a:tblGrid>
              <a:tr h="441325">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nvGraphicFramePr>
        <p:xfrm>
          <a:off x="6929438" y="2819400"/>
          <a:ext cx="714375" cy="1323975"/>
        </p:xfrm>
        <a:graphic>
          <a:graphicData uri="http://schemas.openxmlformats.org/drawingml/2006/table">
            <a:tbl>
              <a:tblPr/>
              <a:tblGrid>
                <a:gridCol w="714375"/>
              </a:tblGrid>
              <a:tr h="441325">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441325">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441325">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
        <p:nvSpPr>
          <p:cNvPr id="6" name="下箭头 5"/>
          <p:cNvSpPr/>
          <p:nvPr/>
        </p:nvSpPr>
        <p:spPr>
          <a:xfrm>
            <a:off x="4714875" y="2143125"/>
            <a:ext cx="214313" cy="500063"/>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9" name="组合 8"/>
          <p:cNvGrpSpPr/>
          <p:nvPr/>
        </p:nvGrpSpPr>
        <p:grpSpPr>
          <a:xfrm>
            <a:off x="2857500" y="4357688"/>
            <a:ext cx="4286250" cy="685800"/>
            <a:chOff x="2857488" y="4357694"/>
            <a:chExt cx="4286280" cy="685862"/>
          </a:xfrm>
        </p:grpSpPr>
        <p:sp>
          <p:nvSpPr>
            <p:cNvPr id="7" name="左大括号 6"/>
            <p:cNvSpPr/>
            <p:nvPr/>
          </p:nvSpPr>
          <p:spPr>
            <a:xfrm rot="16200000">
              <a:off x="4929184" y="2285998"/>
              <a:ext cx="142888" cy="428628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132185" name="TextBox 7"/>
            <p:cNvSpPr txBox="1"/>
            <p:nvPr/>
          </p:nvSpPr>
          <p:spPr>
            <a:xfrm>
              <a:off x="3357554" y="4643446"/>
              <a:ext cx="3286148" cy="40011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5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spcBef>
                  <a:spcPct val="0"/>
                </a:spcBef>
                <a:buNone/>
              </a:pPr>
              <a:r>
                <a:rPr lang="zh-CN" altLang="zh-CN" sz="2000" dirty="0">
                  <a:solidFill>
                    <a:srgbClr val="0000FF"/>
                  </a:solidFill>
                  <a:latin typeface="微软雅黑" panose="020B0503020204020204" charset="-122"/>
                  <a:ea typeface="微软雅黑" panose="020B0503020204020204" charset="-122"/>
                </a:rPr>
                <a:t>最大兼容活动子集个数为</a:t>
              </a:r>
              <a:r>
                <a:rPr lang="en-US" altLang="zh-CN" sz="2000" dirty="0">
                  <a:solidFill>
                    <a:srgbClr val="0000FF"/>
                  </a:solidFill>
                  <a:latin typeface="微软雅黑" panose="020B0503020204020204" charset="-122"/>
                  <a:ea typeface="微软雅黑" panose="020B0503020204020204" charset="-122"/>
                </a:rPr>
                <a:t>3</a:t>
              </a:r>
              <a:endParaRPr lang="zh-CN" altLang="en-US" sz="2000" dirty="0">
                <a:solidFill>
                  <a:srgbClr val="0000FF"/>
                </a:solidFill>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428604"/>
            <a:ext cx="8501122" cy="5072497"/>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180000" tIns="216000" bIns="18000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问题表示</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struct Cow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奶牛的类型声明</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no;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牛编号</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b;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起始时间</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结束时间</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bool operator&lt;(const Cow &amp;s) const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重载</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&lt;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关系函数</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if (e==s.e)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结束时间相同按开始时间递增排序</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return b&lt;=s.b;</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else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否则按结束时间递增排序</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return e&lt;=s.e;</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int n=5;</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Cow A[]={{0},{1,1,10},{2,2,4},{3,3,6},{4,5,8},{5,4,7}};</a:t>
            </a:r>
            <a:endPar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下标</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0</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不用</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求解结果表示</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int ans[MAX];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//ans[i]</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表示第</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A[i].no</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头牛的蓄栏编号</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4" y="500042"/>
            <a:ext cx="8572560" cy="562649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void solve()				//</a:t>
            </a:r>
            <a:r>
              <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求解最大兼容活动子集</a:t>
            </a:r>
            <a:r>
              <a:rPr kumimoji="0" lang="zh-CN" altLang="en-US"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个数</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sort(A+1,A+n+1);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//A[1..n]</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按指定方式排序</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memset(ans,0,sizeof(</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ans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初始化为</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0</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num=1;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蓄栏编号</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2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for (int i=1;i&lt;=n;i++)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j</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均为排序后的下标</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if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ans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[i]==0)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第</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头牛还没有安排蓄栏</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ans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[i]=num;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第</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i</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头牛安排蓄栏</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num</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int preend=A[i].e;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前一个兼容活动的结束时间</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for (int j=i+1;j&lt;=n;j++)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查找一个最大兼容活动子集</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if (A[j].b&gt;preend &amp;&amp;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ans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[j]==0)</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  </a:t>
            </a:r>
            <a:r>
              <a:rPr kumimoji="0" lang="en-US" altLang="zh-CN" sz="1800" b="0" i="0" u="none" strike="noStrike" kern="1200" cap="none" spc="0" normalizeH="0" baseline="0" noProof="0">
                <a:ln>
                  <a:noFill/>
                </a:ln>
                <a:solidFill>
                  <a:srgbClr val="9900FF"/>
                </a:solidFill>
                <a:effectLst/>
                <a:uLnTx/>
                <a:uFillTx/>
                <a:latin typeface="Consolas" panose="020B0609020204030204" pitchFamily="49" charset="0"/>
                <a:ea typeface="楷体" panose="02010609060101010101" pitchFamily="49" charset="-122"/>
                <a:cs typeface="Consolas" panose="020B0609020204030204" pitchFamily="49" charset="0"/>
              </a:rPr>
              <a:t>ans</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[j]=num;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将兼容活动子集中活动安排在</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num</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蓄栏中</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preend=A[j].e;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更新结束时间</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num++;		</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查找下一个最大兼容活动子集</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,num</a:t>
            </a:r>
            <a:r>
              <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增</a:t>
            </a:r>
            <a:r>
              <a:rPr kumimoji="0" lang="en-US"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rPr>
              <a:t>1</a:t>
            </a:r>
            <a:endParaRPr kumimoji="0" lang="zh-CN" altLang="zh-CN" sz="1800" b="0" i="0" u="none" strike="noStrike" kern="1200" cap="none" spc="0" normalizeH="0" baseline="0" noProof="0">
              <a:ln>
                <a:noFill/>
              </a:ln>
              <a:solidFill>
                <a:srgbClr val="00B0F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642918"/>
            <a:ext cx="8143932" cy="206186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lIns="216000" tIns="180000" bIns="21600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void main()</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en-US"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rPr>
              <a:t>solve();</a:t>
            </a:r>
            <a:endParaRPr kumimoji="0" lang="zh-CN" altLang="zh-CN" sz="1800" b="0" i="0" u="none" strike="noStrike" kern="1200" cap="none" spc="0" normalizeH="0" baseline="0" noProof="0">
              <a:ln>
                <a:noFill/>
              </a:ln>
              <a:solidFill>
                <a:srgbClr val="FF0000"/>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printf("</a:t>
            </a:r>
            <a:r>
              <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求解结果</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\n");</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for (int i=1;i&lt;=n;i++)</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printf("    </a:t>
            </a:r>
            <a:r>
              <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%d</a:t>
            </a:r>
            <a:r>
              <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%d\n",A[i].no,ans[i]);</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a:t>
            </a:r>
            <a:endParaRPr kumimoji="0" lang="zh-CN" altLang="zh-CN" sz="18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428750" y="617538"/>
          <a:ext cx="5822950" cy="1323975"/>
        </p:xfrm>
        <a:graphic>
          <a:graphicData uri="http://schemas.openxmlformats.org/drawingml/2006/table">
            <a:tbl>
              <a:tblPr/>
              <a:tblGrid>
                <a:gridCol w="1806510"/>
                <a:gridCol w="803288"/>
                <a:gridCol w="803288"/>
                <a:gridCol w="803288"/>
                <a:gridCol w="803288"/>
                <a:gridCol w="803288"/>
              </a:tblGrid>
              <a:tr h="441325">
                <a:tc>
                  <a:txBody>
                    <a:bodyPr/>
                    <a:lstStyle/>
                    <a:p>
                      <a:pPr indent="0" algn="ctr">
                        <a:lnSpc>
                          <a:spcPct val="150000"/>
                        </a:lnSpc>
                        <a:spcAft>
                          <a:spcPts val="0"/>
                        </a:spcAft>
                      </a:pPr>
                      <a:r>
                        <a:rPr lang="en-US" sz="1800" b="1" i="1" kern="100">
                          <a:solidFill>
                            <a:srgbClr val="00B0F0"/>
                          </a:solidFill>
                          <a:latin typeface="Consolas" panose="020B0609020204030204" pitchFamily="49" charset="0"/>
                          <a:ea typeface="楷体" panose="02010609060101010101" pitchFamily="49" charset="-122"/>
                          <a:cs typeface="Consolas" panose="020B0609020204030204" pitchFamily="49" charset="0"/>
                        </a:rPr>
                        <a:t>i</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sz="1800" b="1" kern="100">
                          <a:solidFill>
                            <a:srgbClr val="C00000"/>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C0000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开始时间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1325">
                <a:tc>
                  <a:txBody>
                    <a:bodyPr/>
                    <a:lstStyle/>
                    <a:p>
                      <a:pPr indent="0" algn="ctr">
                        <a:lnSpc>
                          <a:spcPct val="150000"/>
                        </a:lnSpc>
                        <a:spcAft>
                          <a:spcPts val="0"/>
                        </a:spcAft>
                      </a:pPr>
                      <a:r>
                        <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rPr>
                        <a:t>结束时间</a:t>
                      </a:r>
                      <a:endParaRPr lang="zh-CN" sz="1800" b="1" kern="100">
                        <a:solidFill>
                          <a:srgbClr val="00B0F0"/>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10</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8</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ctr">
                        <a:lnSpc>
                          <a:spcPct val="150000"/>
                        </a:lnSpc>
                        <a:spcAft>
                          <a:spcPts val="0"/>
                        </a:spcAft>
                      </a:pPr>
                      <a:r>
                        <a:rPr lang="en-US" alt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sz="1800" b="1" kern="100">
                        <a:solidFill>
                          <a:srgbClr val="0000FF"/>
                        </a:solidFill>
                        <a:latin typeface="Consolas" panose="020B0609020204030204" pitchFamily="49" charset="0"/>
                        <a:ea typeface="楷体" panose="02010609060101010101" pitchFamily="49" charset="-122"/>
                        <a:cs typeface="Consolas" panose="020B0609020204030204"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TextBox 2"/>
          <p:cNvSpPr txBox="1"/>
          <p:nvPr/>
        </p:nvSpPr>
        <p:spPr>
          <a:xfrm>
            <a:off x="2571750" y="3071813"/>
            <a:ext cx="3143250" cy="1938338"/>
          </a:xfrm>
          <a:prstGeom prst="rect">
            <a:avLst/>
          </a:prstGeom>
          <a:blipFill>
            <a:blip r:embed="rId1" cstate="print"/>
            <a:tile tx="0" ty="0" sx="100000" sy="100000" flip="none" algn="tl"/>
          </a:blipFill>
        </p:spPr>
        <p:style>
          <a:lnRef idx="1">
            <a:schemeClr val="accent5"/>
          </a:lnRef>
          <a:fillRef idx="2">
            <a:schemeClr val="accent5"/>
          </a:fillRef>
          <a:effectRef idx="1">
            <a:schemeClr val="accent5"/>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求解结果</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3</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:2</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5</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:3</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4</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    </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牛</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1</a:t>
            </a:r>
            <a:r>
              <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安排的蓄栏</a:t>
            </a:r>
            <a:r>
              <a:rPr kumimoji="0" lang="en-US"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rPr>
              <a:t>:4</a:t>
            </a:r>
            <a:endParaRPr kumimoji="0" lang="zh-CN" altLang="zh-CN" sz="2000" b="0" i="0" u="none" strike="noStrike" kern="1200" cap="none" spc="0" normalizeH="0" baseline="0" noProof="0">
              <a:ln>
                <a:noFill/>
              </a:ln>
              <a:solidFill>
                <a:srgbClr val="0000FF"/>
              </a:solidFill>
              <a:effectLst/>
              <a:uLnTx/>
              <a:uFillTx/>
              <a:latin typeface="Consolas" panose="020B0609020204030204" pitchFamily="49" charset="0"/>
              <a:ea typeface="楷体" panose="02010609060101010101" pitchFamily="49" charset="-122"/>
              <a:cs typeface="Consolas" panose="020B0609020204030204" pitchFamily="49" charset="0"/>
            </a:endParaRPr>
          </a:p>
        </p:txBody>
      </p:sp>
      <p:sp>
        <p:nvSpPr>
          <p:cNvPr id="4" name="下箭头 3"/>
          <p:cNvSpPr/>
          <p:nvPr/>
        </p:nvSpPr>
        <p:spPr>
          <a:xfrm>
            <a:off x="3857625" y="2214563"/>
            <a:ext cx="214313" cy="642938"/>
          </a:xfrm>
          <a:prstGeom prst="downArrow">
            <a:avLst/>
          </a:prstGeom>
        </p:spPr>
        <p:style>
          <a:lnRef idx="1">
            <a:schemeClr val="dk1"/>
          </a:lnRef>
          <a:fillRef idx="3">
            <a:schemeClr val="dk1"/>
          </a:fillRef>
          <a:effectRef idx="2">
            <a:schemeClr val="dk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b="1" dirty="0"/>
              <a:t>集合覆盖问题</a:t>
            </a:r>
            <a:r>
              <a:rPr lang="zh-CN" altLang="en-US" dirty="0"/>
              <a:t>（ </a:t>
            </a:r>
            <a:r>
              <a:rPr lang="en-US" altLang="zh-CN" b="1" dirty="0"/>
              <a:t>Set covering problem</a:t>
            </a:r>
            <a:r>
              <a:rPr lang="zh-CN" altLang="en-US" dirty="0"/>
              <a:t>，</a:t>
            </a:r>
            <a:r>
              <a:rPr lang="en-US" altLang="zh-CN" b="1" dirty="0"/>
              <a:t>SCP</a:t>
            </a:r>
            <a:r>
              <a:rPr lang="zh-CN" altLang="en-US" dirty="0"/>
              <a:t>）是组合数学、计算机科学和计算复杂性理论中的一个经典问题。</a:t>
            </a:r>
            <a:endParaRPr lang="zh-CN" altLang="en-US" dirty="0"/>
          </a:p>
          <a:p>
            <a:r>
              <a:rPr lang="zh-CN" altLang="en-US" dirty="0"/>
              <a:t>集合覆盖的决定性问题是卡普的二十一个</a:t>
            </a:r>
            <a:r>
              <a:rPr lang="en-US" altLang="zh-CN" dirty="0"/>
              <a:t>NP-</a:t>
            </a:r>
            <a:r>
              <a:rPr lang="zh-CN" altLang="en-US" dirty="0"/>
              <a:t>完全问题之一。</a:t>
            </a:r>
            <a:endParaRPr lang="zh-CN" altLang="en-US" dirty="0"/>
          </a:p>
          <a:p>
            <a:pPr eaLnBrk="1" hangingPunct="1">
              <a:lnSpc>
                <a:spcPct val="90000"/>
              </a:lnSpc>
              <a:buClrTx/>
              <a:buSzTx/>
              <a:buFontTx/>
              <a:buNone/>
            </a:pPr>
            <a:endParaRPr lang="en-US" altLang="zh-CN" sz="21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r>
              <a:rPr lang="en-US" altLang="zh-CN" dirty="0"/>
              <a:t>——</a:t>
            </a:r>
            <a:r>
              <a:rPr lang="zh-CN" altLang="en-US" dirty="0"/>
              <a:t>问题描述</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solidFill>
                  <a:srgbClr val="FF0000"/>
                </a:solidFill>
              </a:rPr>
              <a:t>问题描述：</a:t>
            </a:r>
            <a:r>
              <a:rPr lang="zh-CN" altLang="en-US" dirty="0"/>
              <a:t>一个集合</a:t>
            </a:r>
            <a:r>
              <a:rPr lang="en-US" altLang="zh-CN" dirty="0"/>
              <a:t>U</a:t>
            </a:r>
            <a:r>
              <a:rPr lang="zh-CN" altLang="en-US" dirty="0"/>
              <a:t>以及</a:t>
            </a:r>
            <a:r>
              <a:rPr lang="en-US" altLang="zh-CN" dirty="0"/>
              <a:t>U</a:t>
            </a:r>
            <a:r>
              <a:rPr lang="zh-CN" altLang="en-US" dirty="0"/>
              <a:t>内元素构成的若干个小类集合</a:t>
            </a:r>
            <a:r>
              <a:rPr lang="en-US" altLang="zh-CN" dirty="0"/>
              <a:t>S</a:t>
            </a:r>
            <a:r>
              <a:rPr lang="zh-CN" altLang="en-US" dirty="0"/>
              <a:t>，目标是找到</a:t>
            </a:r>
            <a:r>
              <a:rPr lang="en-US" altLang="zh-CN" dirty="0"/>
              <a:t>S </a:t>
            </a:r>
            <a:r>
              <a:rPr lang="zh-CN" altLang="en-US" dirty="0"/>
              <a:t>的一个子集，该子集满足所含元素包含了</a:t>
            </a:r>
            <a:r>
              <a:rPr lang="en-US" altLang="zh-CN" dirty="0"/>
              <a:t>U</a:t>
            </a:r>
            <a:r>
              <a:rPr lang="zh-CN" altLang="en-US" dirty="0"/>
              <a:t>中的所有的元素且使小类集合个数最少。</a:t>
            </a:r>
            <a:endParaRPr lang="en-US" altLang="zh-CN" dirty="0"/>
          </a:p>
          <a:p>
            <a:endParaRPr lang="en-US" altLang="zh-CN" dirty="0"/>
          </a:p>
          <a:p>
            <a:r>
              <a:rPr lang="zh-CN" altLang="en-US" dirty="0"/>
              <a:t>例如，</a:t>
            </a:r>
            <a:r>
              <a:rPr lang="en-US" altLang="zh-CN" dirty="0"/>
              <a:t>U={1,2,3,4,5}</a:t>
            </a:r>
            <a:r>
              <a:rPr lang="zh-CN" altLang="en-US" dirty="0"/>
              <a:t>，</a:t>
            </a:r>
            <a:r>
              <a:rPr lang="en-US" altLang="zh-CN" dirty="0"/>
              <a:t>S={{1,2},{3,4},{2,4,5},{4,5}},</a:t>
            </a:r>
            <a:r>
              <a:rPr lang="zh-CN" altLang="en-US" dirty="0"/>
              <a:t>找到集合能满足条件的可以有</a:t>
            </a:r>
            <a:r>
              <a:rPr lang="en-US" altLang="zh-CN" dirty="0"/>
              <a:t>O={{1,2},{3,4}{4,5}}</a:t>
            </a:r>
            <a:r>
              <a:rPr lang="zh-CN" altLang="en-US" dirty="0"/>
              <a:t>或是</a:t>
            </a:r>
            <a:r>
              <a:rPr lang="en-US" altLang="zh-CN" dirty="0"/>
              <a:t>O={{1,2},{3,4},{2,4,5}}</a:t>
            </a:r>
            <a:r>
              <a:rPr lang="zh-CN" altLang="en-US"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0"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r>
              <a:rPr lang="en-US" altLang="zh-CN" dirty="0"/>
              <a:t>——</a:t>
            </a:r>
            <a:r>
              <a:rPr lang="zh-CN" altLang="en-US" dirty="0"/>
              <a:t>贪心策略</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solidFill>
                  <a:srgbClr val="FF0000"/>
                </a:solidFill>
              </a:rPr>
              <a:t>方法</a:t>
            </a:r>
            <a:r>
              <a:rPr lang="en-US" altLang="zh-CN" dirty="0">
                <a:solidFill>
                  <a:srgbClr val="FF0000"/>
                </a:solidFill>
              </a:rPr>
              <a:t>1-</a:t>
            </a:r>
            <a:r>
              <a:rPr lang="zh-CN" altLang="en-US" dirty="0">
                <a:solidFill>
                  <a:srgbClr val="FF0000"/>
                </a:solidFill>
              </a:rPr>
              <a:t>蛮力穷举搜索</a:t>
            </a:r>
            <a:r>
              <a:rPr lang="en-US" altLang="zh-CN" dirty="0"/>
              <a:t>: </a:t>
            </a:r>
            <a:r>
              <a:rPr lang="zh-CN" altLang="en-US" dirty="0"/>
              <a:t>最少集合个数</a:t>
            </a:r>
            <a:r>
              <a:rPr lang="en-US" altLang="zh-CN" dirty="0"/>
              <a:t>k</a:t>
            </a:r>
            <a:r>
              <a:rPr lang="zh-CN" altLang="en-US" dirty="0"/>
              <a:t> 从 </a:t>
            </a:r>
            <a:r>
              <a:rPr lang="en-US" altLang="zh-CN" dirty="0"/>
              <a:t>1</a:t>
            </a:r>
            <a:r>
              <a:rPr lang="zh-CN" altLang="en-US" dirty="0"/>
              <a:t> 到 </a:t>
            </a:r>
            <a:r>
              <a:rPr lang="en-US" altLang="zh-CN" dirty="0"/>
              <a:t>m</a:t>
            </a:r>
            <a:r>
              <a:rPr lang="zh-CN" altLang="en-US" dirty="0"/>
              <a:t> 进行遍历</a:t>
            </a:r>
            <a:r>
              <a:rPr lang="en-US" altLang="zh-CN" dirty="0"/>
              <a:t>, </a:t>
            </a:r>
            <a:r>
              <a:rPr lang="zh-CN" altLang="en-US" dirty="0"/>
              <a:t>针对每个子集 </a:t>
            </a:r>
            <a:r>
              <a:rPr lang="en-US" altLang="zh-CN" dirty="0"/>
              <a:t>, </a:t>
            </a:r>
            <a:r>
              <a:rPr lang="zh-CN" altLang="en-US" dirty="0"/>
              <a:t>遍历</a:t>
            </a:r>
            <a:r>
              <a:rPr lang="en-US" altLang="zh-CN" dirty="0"/>
              <a:t>C(</a:t>
            </a:r>
            <a:r>
              <a:rPr lang="en-US" altLang="zh-CN" dirty="0" err="1"/>
              <a:t>m,k</a:t>
            </a:r>
            <a:r>
              <a:rPr lang="en-US" altLang="zh-CN" dirty="0"/>
              <a:t>)</a:t>
            </a:r>
            <a:r>
              <a:rPr lang="zh-CN" altLang="en-US" dirty="0"/>
              <a:t>  种集合组合情况。对每种情况求集合并集</a:t>
            </a:r>
            <a:r>
              <a:rPr lang="en-US" altLang="zh-CN" dirty="0"/>
              <a:t>, </a:t>
            </a:r>
            <a:r>
              <a:rPr lang="zh-CN" altLang="en-US" dirty="0"/>
              <a:t>观察是否满足全元素覆盖</a:t>
            </a:r>
            <a:r>
              <a:rPr lang="en-US" altLang="zh-CN" dirty="0"/>
              <a:t>; </a:t>
            </a:r>
            <a:r>
              <a:rPr lang="zh-CN" altLang="en-US" dirty="0"/>
              <a:t>找到第一个满足条件的情况时结束搜索</a:t>
            </a:r>
            <a:r>
              <a:rPr lang="en-US" altLang="zh-CN" dirty="0"/>
              <a:t>, </a:t>
            </a:r>
            <a:r>
              <a:rPr lang="zh-CN" altLang="en-US" dirty="0"/>
              <a:t>输出</a:t>
            </a:r>
            <a:r>
              <a:rPr lang="en-US" altLang="zh-CN" dirty="0"/>
              <a:t>k</a:t>
            </a:r>
            <a:r>
              <a:rPr lang="zh-CN" altLang="en-US" dirty="0"/>
              <a:t>。</a:t>
            </a:r>
            <a:endParaRPr lang="en-US" altLang="zh-CN" dirty="0"/>
          </a:p>
          <a:p>
            <a:r>
              <a:rPr lang="en-US" altLang="zh-CN" dirty="0"/>
              <a:t> </a:t>
            </a:r>
            <a:r>
              <a:rPr lang="zh-CN" altLang="en-US" dirty="0"/>
              <a:t>特点是可求出确切解 </a:t>
            </a:r>
            <a:r>
              <a:rPr lang="en-US" altLang="zh-CN" dirty="0"/>
              <a:t>(exact solution), </a:t>
            </a:r>
            <a:r>
              <a:rPr lang="zh-CN" altLang="en-US" dirty="0"/>
              <a:t>但是当</a:t>
            </a:r>
            <a:r>
              <a:rPr lang="en-US" altLang="zh-CN" dirty="0"/>
              <a:t>k</a:t>
            </a:r>
            <a:r>
              <a:rPr lang="zh-CN" altLang="en-US" dirty="0"/>
              <a:t>值较大时组合空间过大且涉及频繁的集合求并效率极低</a:t>
            </a:r>
            <a:r>
              <a:rPr lang="en-US" altLang="zh-CN" dirty="0"/>
              <a:t>——  n</a:t>
            </a:r>
            <a:r>
              <a:rPr lang="zh-CN" altLang="en-US" dirty="0"/>
              <a:t>和 </a:t>
            </a:r>
            <a:r>
              <a:rPr lang="en-US" altLang="zh-CN" dirty="0"/>
              <a:t>m</a:t>
            </a:r>
            <a:r>
              <a:rPr lang="zh-CN" altLang="en-US" dirty="0"/>
              <a:t> 较小时可行但较大时不可行</a:t>
            </a:r>
            <a:r>
              <a:rPr lang="en-US" altLang="zh-CN" dirty="0"/>
              <a:t>, </a:t>
            </a:r>
            <a:r>
              <a:rPr lang="zh-CN" altLang="en-US" dirty="0"/>
              <a:t>计算时间过长。</a:t>
            </a:r>
            <a:endParaRPr lang="en-US" altLang="zh-CN" dirty="0"/>
          </a:p>
          <a:p>
            <a:endParaRPr lang="en-US" altLang="zh-CN" dirty="0"/>
          </a:p>
          <a:p>
            <a:r>
              <a:rPr lang="zh-CN" altLang="en-US" dirty="0">
                <a:solidFill>
                  <a:srgbClr val="FF0000"/>
                </a:solidFill>
              </a:rPr>
              <a:t>方法</a:t>
            </a:r>
            <a:r>
              <a:rPr lang="en-US" altLang="zh-CN" dirty="0">
                <a:solidFill>
                  <a:srgbClr val="FF0000"/>
                </a:solidFill>
              </a:rPr>
              <a:t>2-</a:t>
            </a:r>
            <a:r>
              <a:rPr lang="zh-CN" altLang="en-US" dirty="0">
                <a:solidFill>
                  <a:srgbClr val="FF0000"/>
                </a:solidFill>
              </a:rPr>
              <a:t>贪心策略</a:t>
            </a:r>
            <a:r>
              <a:rPr lang="en-US" altLang="zh-CN" dirty="0"/>
              <a:t>: </a:t>
            </a:r>
            <a:r>
              <a:rPr lang="zh-CN" altLang="en-US" dirty="0"/>
              <a:t>每次迭代添加包含未覆盖元素最多的集合</a:t>
            </a:r>
            <a:r>
              <a:rPr lang="en-US" altLang="zh-CN" dirty="0"/>
              <a:t>, </a:t>
            </a:r>
            <a:r>
              <a:rPr lang="zh-CN" altLang="en-US" dirty="0"/>
              <a:t>直到满足全覆盖条件。</a:t>
            </a:r>
            <a:endParaRPr lang="en-US" altLang="zh-CN" dirty="0"/>
          </a:p>
          <a:p>
            <a:r>
              <a:rPr lang="en-US" altLang="zh-CN" dirty="0"/>
              <a:t> </a:t>
            </a:r>
            <a:r>
              <a:rPr lang="zh-CN" altLang="en-US" dirty="0"/>
              <a:t>特点是速度快但只是近似解而非确切解。</a:t>
            </a:r>
            <a:endParaRPr lang="en-US" altLang="zh-CN" sz="21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3" dur="500"/>
                                        <p:tgtEl>
                                          <p:spTgt spid="921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6"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r>
              <a:rPr lang="en-US" altLang="zh-CN" dirty="0"/>
              <a:t>——</a:t>
            </a:r>
            <a:r>
              <a:rPr lang="zh-CN" altLang="en-US" dirty="0"/>
              <a:t>例子</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t>例子：对于</a:t>
            </a:r>
            <a:r>
              <a:rPr lang="en-US" altLang="zh-CN" dirty="0"/>
              <a:t>12</a:t>
            </a:r>
            <a:r>
              <a:rPr lang="zh-CN" altLang="en-US" dirty="0"/>
              <a:t>种技能的集合</a:t>
            </a:r>
            <a:r>
              <a:rPr lang="en-US" altLang="zh-CN" dirty="0"/>
              <a:t>S={</a:t>
            </a:r>
            <a:r>
              <a:rPr lang="en-US" altLang="zh-CN" dirty="0" err="1"/>
              <a:t>a,b,c,d,e,f,g,h,i,j,k,l</a:t>
            </a:r>
            <a:r>
              <a:rPr lang="en-US" altLang="zh-CN" dirty="0"/>
              <a:t>}</a:t>
            </a:r>
            <a:r>
              <a:rPr lang="zh-CN" altLang="en-US" dirty="0"/>
              <a:t>的最佳覆盖集。现在考虑有</a:t>
            </a:r>
            <a:r>
              <a:rPr lang="en-US" altLang="zh-CN" dirty="0"/>
              <a:t>7</a:t>
            </a:r>
            <a:r>
              <a:rPr lang="zh-CN" altLang="en-US" dirty="0"/>
              <a:t>名待选选手的集合</a:t>
            </a:r>
            <a:r>
              <a:rPr lang="en-US" altLang="zh-CN" dirty="0"/>
              <a:t>P={A1,...</a:t>
            </a:r>
            <a:r>
              <a:rPr lang="en-US" altLang="zh-CN" dirty="0" err="1"/>
              <a:t>A7</a:t>
            </a:r>
            <a:r>
              <a:rPr lang="en-US" altLang="zh-CN" dirty="0"/>
              <a:t>}</a:t>
            </a:r>
            <a:r>
              <a:rPr lang="zh-CN" altLang="en-US" dirty="0"/>
              <a:t>。</a:t>
            </a:r>
            <a:r>
              <a:rPr lang="en-US" altLang="zh-CN" dirty="0"/>
              <a:t>P</a:t>
            </a:r>
            <a:r>
              <a:rPr lang="zh-CN" altLang="en-US" dirty="0"/>
              <a:t>中选手拥有的技能集合为：</a:t>
            </a:r>
            <a:r>
              <a:rPr lang="en-US" altLang="zh-CN" dirty="0"/>
              <a:t>A1={</a:t>
            </a:r>
            <a:r>
              <a:rPr lang="en-US" altLang="zh-CN" dirty="0" err="1"/>
              <a:t>a,b,c,d</a:t>
            </a:r>
            <a:r>
              <a:rPr lang="en-US" altLang="zh-CN" dirty="0"/>
              <a:t>}</a:t>
            </a:r>
            <a:r>
              <a:rPr lang="zh-CN" altLang="en-US" dirty="0"/>
              <a:t>，</a:t>
            </a:r>
            <a:r>
              <a:rPr lang="en-US" altLang="zh-CN" dirty="0" err="1"/>
              <a:t>A2</a:t>
            </a:r>
            <a:r>
              <a:rPr lang="en-US" altLang="zh-CN" dirty="0"/>
              <a:t>={</a:t>
            </a:r>
            <a:r>
              <a:rPr lang="en-US" altLang="zh-CN" dirty="0" err="1"/>
              <a:t>e,f,g,h</a:t>
            </a:r>
            <a:r>
              <a:rPr lang="en-US" altLang="zh-CN" dirty="0"/>
              <a:t>}</a:t>
            </a:r>
            <a:r>
              <a:rPr lang="zh-CN" altLang="en-US" dirty="0"/>
              <a:t>，</a:t>
            </a:r>
            <a:r>
              <a:rPr lang="en-US" altLang="zh-CN" dirty="0" err="1"/>
              <a:t>A3</a:t>
            </a:r>
            <a:r>
              <a:rPr lang="en-US" altLang="zh-CN" dirty="0"/>
              <a:t>={</a:t>
            </a:r>
            <a:r>
              <a:rPr lang="en-US" altLang="zh-CN" dirty="0" err="1"/>
              <a:t>j,k,l</a:t>
            </a:r>
            <a:r>
              <a:rPr lang="en-US" altLang="zh-CN" dirty="0"/>
              <a:t>}</a:t>
            </a:r>
            <a:r>
              <a:rPr lang="zh-CN" altLang="en-US" dirty="0"/>
              <a:t>，</a:t>
            </a:r>
            <a:r>
              <a:rPr lang="en-US" altLang="zh-CN" dirty="0" err="1"/>
              <a:t>A4</a:t>
            </a:r>
            <a:r>
              <a:rPr lang="en-US" altLang="zh-CN" dirty="0"/>
              <a:t>={</a:t>
            </a:r>
            <a:r>
              <a:rPr lang="en-US" altLang="zh-CN" dirty="0" err="1"/>
              <a:t>a,e</a:t>
            </a:r>
            <a:r>
              <a:rPr lang="en-US" altLang="zh-CN" dirty="0"/>
              <a:t>}</a:t>
            </a:r>
            <a:r>
              <a:rPr lang="zh-CN" altLang="en-US" dirty="0"/>
              <a:t>，</a:t>
            </a:r>
            <a:r>
              <a:rPr lang="en-US" altLang="zh-CN" dirty="0" err="1"/>
              <a:t>A5</a:t>
            </a:r>
            <a:r>
              <a:rPr lang="en-US" altLang="zh-CN" dirty="0"/>
              <a:t>={</a:t>
            </a:r>
            <a:r>
              <a:rPr lang="en-US" altLang="zh-CN" dirty="0" err="1"/>
              <a:t>b,f,g</a:t>
            </a:r>
            <a:r>
              <a:rPr lang="en-US" altLang="zh-CN" dirty="0"/>
              <a:t>}</a:t>
            </a:r>
            <a:r>
              <a:rPr lang="zh-CN" altLang="en-US" dirty="0"/>
              <a:t>，</a:t>
            </a:r>
            <a:r>
              <a:rPr lang="en-US" altLang="zh-CN" dirty="0" err="1"/>
              <a:t>A6</a:t>
            </a:r>
            <a:r>
              <a:rPr lang="en-US" altLang="zh-CN" dirty="0"/>
              <a:t>={</a:t>
            </a:r>
            <a:r>
              <a:rPr lang="en-US" altLang="zh-CN" dirty="0" err="1"/>
              <a:t>c,d,g,h,k,l</a:t>
            </a:r>
            <a:r>
              <a:rPr lang="en-US" altLang="zh-CN" dirty="0"/>
              <a:t>}</a:t>
            </a:r>
            <a:r>
              <a:rPr lang="zh-CN" altLang="en-US" dirty="0"/>
              <a:t>，</a:t>
            </a:r>
            <a:r>
              <a:rPr lang="en-US" altLang="zh-CN" dirty="0" err="1"/>
              <a:t>A7</a:t>
            </a:r>
            <a:r>
              <a:rPr lang="en-US" altLang="zh-CN" dirty="0"/>
              <a:t>={l}</a:t>
            </a:r>
            <a:r>
              <a:rPr lang="zh-CN" altLang="en-US" dirty="0"/>
              <a:t>。</a:t>
            </a:r>
            <a:endParaRPr lang="en-US" altLang="zh-CN" dirty="0"/>
          </a:p>
          <a:p>
            <a:r>
              <a:rPr lang="zh-CN" altLang="en-US" dirty="0"/>
              <a:t>最佳覆盖集应该是</a:t>
            </a:r>
            <a:r>
              <a:rPr lang="en-US" altLang="zh-CN" dirty="0"/>
              <a:t>C={</a:t>
            </a:r>
            <a:r>
              <a:rPr lang="en-US" altLang="zh-CN" dirty="0" err="1"/>
              <a:t>A1,A2,A3</a:t>
            </a:r>
            <a:r>
              <a:rPr lang="en-US" altLang="zh-CN" dirty="0"/>
              <a:t>}</a:t>
            </a:r>
            <a:r>
              <a:rPr lang="zh-CN" altLang="en-US" dirty="0"/>
              <a:t>。这里给出的算法选择的集合是</a:t>
            </a:r>
            <a:r>
              <a:rPr lang="en-US" altLang="zh-CN" dirty="0"/>
              <a:t>C={</a:t>
            </a:r>
            <a:r>
              <a:rPr lang="en-US" altLang="zh-CN" dirty="0" err="1"/>
              <a:t>A6,A2,A1,A3</a:t>
            </a:r>
            <a:r>
              <a:rPr lang="en-US" altLang="zh-CN" dirty="0"/>
              <a:t>}</a:t>
            </a:r>
            <a:r>
              <a:rPr lang="zh-CN" altLang="en-US" dirty="0"/>
              <a:t>。</a:t>
            </a:r>
            <a:endParaRPr lang="en-US" altLang="zh-CN" sz="2100" dirty="0">
              <a:latin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r>
              <a:rPr lang="en-US" altLang="zh-CN" dirty="0"/>
              <a:t>——</a:t>
            </a:r>
            <a:r>
              <a:rPr lang="zh-CN" altLang="en-US" dirty="0"/>
              <a:t>例子</a:t>
            </a:r>
            <a:endParaRPr lang="en-US" altLang="zh-CN" dirty="0"/>
          </a:p>
        </p:txBody>
      </p:sp>
      <p:sp>
        <p:nvSpPr>
          <p:cNvPr id="9219" name="Rectangle 3"/>
          <p:cNvSpPr>
            <a:spLocks noGrp="1"/>
          </p:cNvSpPr>
          <p:nvPr>
            <p:ph type="body" sz="half" idx="1"/>
          </p:nvPr>
        </p:nvSpPr>
        <p:spPr>
          <a:xfrm>
            <a:off x="817563" y="1239838"/>
            <a:ext cx="8218487" cy="4565650"/>
          </a:xfrm>
        </p:spPr>
        <p:txBody>
          <a:bodyPr vert="horz" wrap="square" lIns="91440" tIns="45720" rIns="91440" bIns="45720" anchor="t" anchorCtr="0"/>
          <a:lstStyle/>
          <a:p>
            <a:r>
              <a:rPr lang="zh-CN" altLang="en-US" dirty="0"/>
              <a:t>最佳覆盖集应该是</a:t>
            </a:r>
            <a:r>
              <a:rPr lang="en-US" altLang="zh-CN" dirty="0"/>
              <a:t>C={</a:t>
            </a:r>
            <a:r>
              <a:rPr lang="en-US" altLang="zh-CN" dirty="0" err="1"/>
              <a:t>A1,A2,A3</a:t>
            </a:r>
            <a:r>
              <a:rPr lang="en-US" altLang="zh-CN" dirty="0"/>
              <a:t>}</a:t>
            </a:r>
            <a:r>
              <a:rPr lang="zh-CN" altLang="en-US" dirty="0"/>
              <a:t>。这里给出的算法选择的集合是</a:t>
            </a:r>
            <a:r>
              <a:rPr lang="en-US" altLang="zh-CN" dirty="0"/>
              <a:t>C={</a:t>
            </a:r>
            <a:r>
              <a:rPr lang="en-US" altLang="zh-CN" dirty="0" err="1"/>
              <a:t>A6,A2,A1,A3</a:t>
            </a:r>
            <a:r>
              <a:rPr lang="en-US" altLang="zh-CN" dirty="0"/>
              <a:t>}</a:t>
            </a:r>
            <a:r>
              <a:rPr lang="zh-CN" altLang="en-US" dirty="0"/>
              <a:t>。</a:t>
            </a:r>
            <a:endParaRPr lang="en-US" altLang="zh-CN" sz="2100" dirty="0">
              <a:latin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1102445" y="2060848"/>
            <a:ext cx="7648722" cy="41994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txBox="1">
            <a:spLocks noGrp="1"/>
          </p:cNvSpPr>
          <p:nvPr>
            <p:ph type="ftr" sz="quarter" idx="10"/>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endParaRPr lang="en-US" altLang="zh-CN" sz="140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p:cNvSpPr>
          <p:nvPr>
            <p:ph type="title"/>
          </p:nvPr>
        </p:nvSpPr>
        <p:spPr>
          <a:xfrm>
            <a:off x="950913" y="115888"/>
            <a:ext cx="8229600" cy="1139825"/>
          </a:xfrm>
        </p:spPr>
        <p:txBody>
          <a:bodyPr vert="horz" wrap="square" lIns="91440" tIns="45720" rIns="91440" bIns="45720" anchor="ctr" anchorCtr="0"/>
          <a:lstStyle/>
          <a:p>
            <a:pPr eaLnBrk="1" hangingPunct="1"/>
            <a:r>
              <a:rPr lang="en-US" altLang="zh-CN" dirty="0"/>
              <a:t>5.3.7</a:t>
            </a:r>
            <a:r>
              <a:rPr lang="zh-CN" altLang="en-US" dirty="0"/>
              <a:t>集合覆盖问题</a:t>
            </a:r>
            <a:r>
              <a:rPr lang="en-US" altLang="zh-CN" dirty="0"/>
              <a:t>——</a:t>
            </a:r>
            <a:r>
              <a:rPr lang="zh-CN" altLang="en-US" dirty="0"/>
              <a:t>贪心的近似度分析</a:t>
            </a:r>
            <a:endParaRPr lang="en-US" altLang="zh-CN" dirty="0"/>
          </a:p>
        </p:txBody>
      </p:sp>
      <p:pic>
        <p:nvPicPr>
          <p:cNvPr id="5" name="图片 4"/>
          <p:cNvPicPr>
            <a:picLocks noChangeAspect="1"/>
          </p:cNvPicPr>
          <p:nvPr/>
        </p:nvPicPr>
        <p:blipFill>
          <a:blip r:embed="rId1"/>
          <a:stretch>
            <a:fillRect/>
          </a:stretch>
        </p:blipFill>
        <p:spPr>
          <a:xfrm>
            <a:off x="1271587" y="1223962"/>
            <a:ext cx="6600825" cy="4410075"/>
          </a:xfrm>
          <a:prstGeom prst="rect">
            <a:avLst/>
          </a:prstGeom>
        </p:spPr>
      </p:pic>
    </p:spTree>
  </p:cSld>
  <p:clrMapOvr>
    <a:masterClrMapping/>
  </p:clrMapOvr>
</p:sld>
</file>

<file path=ppt/tags/tag1.xml><?xml version="1.0" encoding="utf-8"?>
<p:tagLst xmlns:p="http://schemas.openxmlformats.org/presentationml/2006/main">
  <p:tag name="KSO_WPP_MARK_KEY" val="9d63bea9-fcf7-48d5-8575-9e0986fe5b07"/>
  <p:tag name="COMMONDATA" val="eyJoZGlkIjoiYTgzY2MxNGI5M2UyZmViNDA3YWY2YTEzOTdmM2JjNWIifQ=="/>
</p:tagLst>
</file>

<file path=ppt/theme/theme1.xml><?xml version="1.0" encoding="utf-8"?>
<a:theme xmlns:a="http://schemas.openxmlformats.org/drawingml/2006/main" name="1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
  <a:themeElements>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模版</Template>
  <TotalTime>0</TotalTime>
  <Words>21832</Words>
  <Application>WPS 演示</Application>
  <PresentationFormat>全屏显示(4:3)</PresentationFormat>
  <Paragraphs>1553</Paragraphs>
  <Slides>98</Slides>
  <Notes>61</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8</vt:i4>
      </vt:variant>
      <vt:variant>
        <vt:lpstr>幻灯片标题</vt:lpstr>
      </vt:variant>
      <vt:variant>
        <vt:i4>98</vt:i4>
      </vt:variant>
    </vt:vector>
  </HeadingPairs>
  <TitlesOfParts>
    <vt:vector size="123" baseType="lpstr">
      <vt:lpstr>Arial</vt:lpstr>
      <vt:lpstr>宋体</vt:lpstr>
      <vt:lpstr>Wingdings</vt:lpstr>
      <vt:lpstr>Garamond</vt:lpstr>
      <vt:lpstr>华文行楷</vt:lpstr>
      <vt:lpstr>Times New Roman</vt:lpstr>
      <vt:lpstr>华文楷体</vt:lpstr>
      <vt:lpstr>Symbol</vt:lpstr>
      <vt:lpstr>微软雅黑</vt:lpstr>
      <vt:lpstr>Arial Unicode MS</vt:lpstr>
      <vt:lpstr>仿宋_GB2312</vt:lpstr>
      <vt:lpstr>仿宋</vt:lpstr>
      <vt:lpstr>Consolas</vt:lpstr>
      <vt:lpstr>楷体</vt:lpstr>
      <vt:lpstr>Symbol</vt:lpstr>
      <vt:lpstr>1_template</vt:lpstr>
      <vt:lpstr>2_template</vt:lpstr>
      <vt:lpstr>Equation.3</vt:lpstr>
      <vt:lpstr>Equation.3</vt:lpstr>
      <vt:lpstr>Equation.3</vt:lpstr>
      <vt:lpstr>Equation.3</vt:lpstr>
      <vt:lpstr>Equation.3</vt:lpstr>
      <vt:lpstr>PBrush</vt:lpstr>
      <vt:lpstr>PBrush</vt:lpstr>
      <vt:lpstr>Equation.3</vt:lpstr>
      <vt:lpstr>第5讲 </vt:lpstr>
      <vt:lpstr>主要内容</vt:lpstr>
      <vt:lpstr>本章内容</vt:lpstr>
      <vt:lpstr>5.1 引言</vt:lpstr>
      <vt:lpstr>5.1.1 最小耗费生成树——Kruskal算法</vt:lpstr>
      <vt:lpstr>5.1.1 最小耗费生成树—— Kruskal算法基本思想</vt:lpstr>
      <vt:lpstr>5.1.1 Kruskal算法基本思想</vt:lpstr>
      <vt:lpstr>5.1.1 最小耗费生成树—— Kruskal算法的执行</vt:lpstr>
      <vt:lpstr>5.1.1 Kruskal算法的执行</vt:lpstr>
      <vt:lpstr>5.1.1 最小耗费生成树——正确性证明</vt:lpstr>
      <vt:lpstr>5.1.1 最小耗费生成树——算法分析</vt:lpstr>
      <vt:lpstr>5.1.1  最小耗费生成树 (Prim算法)</vt:lpstr>
      <vt:lpstr>5.1.1 最小耗费生成树—— Prim算法</vt:lpstr>
      <vt:lpstr>5.1.1 最小耗费生成树——Prim算法例子</vt:lpstr>
      <vt:lpstr>5.1.1 最小耗费生成树——Prim算法例子</vt:lpstr>
      <vt:lpstr>5.1.1 最小耗费生成树——Prim算法伪代码</vt:lpstr>
      <vt:lpstr>5.1.1 最小耗费生成树——Prim算法分析</vt:lpstr>
      <vt:lpstr>5.1.1 最小耗费生成树——Prim算法稠图的线性时间算法</vt:lpstr>
      <vt:lpstr>PowerPoint 演示文稿</vt:lpstr>
      <vt:lpstr>PowerPoint 演示文稿</vt:lpstr>
      <vt:lpstr>5.1.1 最小耗费生成树——Prim算法分析</vt:lpstr>
      <vt:lpstr>5.1.1单源点最短路径问题</vt:lpstr>
      <vt:lpstr>5.1.1单源点最短路径问题——Dijkstra算法基本思想</vt:lpstr>
      <vt:lpstr>5.1.1单源点最短路径问题——Dijkstra算法基本思想</vt:lpstr>
      <vt:lpstr>5.1.1单源点最短路径问题——例子</vt:lpstr>
      <vt:lpstr>5.1.1单源点最短路径问题——正确性证明</vt:lpstr>
      <vt:lpstr>5.1.1单源点最短路径问题——算法分析</vt:lpstr>
      <vt:lpstr>5.1.1单源点最短路径问题——稠图的线性时间算法</vt:lpstr>
      <vt:lpstr>PowerPoint 演示文稿</vt:lpstr>
      <vt:lpstr>PowerPoint 演示文稿</vt:lpstr>
      <vt:lpstr>5.1.1单源点最短路径问题——算法分析</vt:lpstr>
      <vt:lpstr>5.1.1单源点最短路径问题——Floyd与Dijkstra算法比较</vt:lpstr>
      <vt:lpstr>主要内容</vt:lpstr>
      <vt:lpstr>5.2.1 可行解、部分可行解、贪心解与最优解 </vt:lpstr>
      <vt:lpstr>5.2.2 贪心准则/贪心度量 </vt:lpstr>
      <vt:lpstr>5.2.3 贪心算法一般框架及特点分析 </vt:lpstr>
      <vt:lpstr>贪心算法特点</vt:lpstr>
      <vt:lpstr>贪心选择性质</vt:lpstr>
      <vt:lpstr>最优子结构性质</vt:lpstr>
      <vt:lpstr>5.2.4 贪心准则的重要性——分数背包问题</vt:lpstr>
      <vt:lpstr>5.2.4 贪心准则的重要性——例子</vt:lpstr>
      <vt:lpstr>选择策略-1</vt:lpstr>
      <vt:lpstr>选择策略-2</vt:lpstr>
      <vt:lpstr>选择策略-3</vt:lpstr>
      <vt:lpstr>5.2.4 贪心准则的重要性——分数背包问题</vt:lpstr>
      <vt:lpstr>PowerPoint 演示文稿</vt:lpstr>
      <vt:lpstr>5.2.5 贪心解为最优解的正确性证明</vt:lpstr>
      <vt:lpstr>5.2.5 贪心解为最优解的正确性证明</vt:lpstr>
      <vt:lpstr>5.2.6 贪心策略和动态规划策略的异同点 </vt:lpstr>
      <vt:lpstr>主要内容</vt:lpstr>
      <vt:lpstr>5.3.1货郎担问题</vt:lpstr>
      <vt:lpstr>5.3.1货郎担问题</vt:lpstr>
      <vt:lpstr>5.3.1货郎担问题——最近邻点贪心策略</vt:lpstr>
      <vt:lpstr>5.3.1货郎担问题</vt:lpstr>
      <vt:lpstr>5.3.1货郎担问题——时间复杂度</vt:lpstr>
      <vt:lpstr>5.3.1货郎担问题——最优解分析</vt:lpstr>
      <vt:lpstr>5.3.2最优归并模式问题</vt:lpstr>
      <vt:lpstr>5.3.2最优归并模式问题——问题描述</vt:lpstr>
      <vt:lpstr>赫夫曼树及其应用</vt:lpstr>
      <vt:lpstr>PowerPoint 演示文稿</vt:lpstr>
      <vt:lpstr>赫夫曼树的构造</vt:lpstr>
      <vt:lpstr>5.3.2最优归并模式问题——最优度量标准</vt:lpstr>
      <vt:lpstr>5.3.2最优归并模式问题——例子</vt:lpstr>
      <vt:lpstr>5.3.3多段图问题</vt:lpstr>
      <vt:lpstr>5.3.4带期限作业排序问题——问题描述</vt:lpstr>
      <vt:lpstr>5.3.4带期限作业排序问题——求解目标</vt:lpstr>
      <vt:lpstr>5.3.4带期限作业排序问题——例子</vt:lpstr>
      <vt:lpstr>5.3.4带期限作业排序问题——贪心度量标准</vt:lpstr>
      <vt:lpstr>5.3.4带期限作业排序问题——贪心度量标准</vt:lpstr>
      <vt:lpstr>5.3.4带期限作业排序问题——算法</vt:lpstr>
      <vt:lpstr>5.3.5霍夫曼编码树</vt:lpstr>
      <vt:lpstr>5.3.5霍夫曼编码树——变长编码</vt:lpstr>
      <vt:lpstr>5.3.5霍夫曼编码树——Huffman 编码</vt:lpstr>
      <vt:lpstr>5.3.5霍夫曼编码树——例子</vt:lpstr>
      <vt:lpstr>PowerPoint 演示文稿</vt:lpstr>
      <vt:lpstr>5.3.5霍夫曼编码树——算法分析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5.3.7集合覆盖问题</vt:lpstr>
      <vt:lpstr>5.3.7集合覆盖问题——问题描述</vt:lpstr>
      <vt:lpstr>5.3.7集合覆盖问题——贪心策略</vt:lpstr>
      <vt:lpstr>5.3.7集合覆盖问题——例子</vt:lpstr>
      <vt:lpstr>5.3.7集合覆盖问题——例子</vt:lpstr>
      <vt:lpstr>5.3.7集合覆盖问题——贪心的近似度分析</vt:lpstr>
    </vt:vector>
  </TitlesOfParts>
  <Company> dd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dwy</dc:creator>
  <cp:lastModifiedBy>田纲</cp:lastModifiedBy>
  <cp:revision>949</cp:revision>
  <dcterms:created xsi:type="dcterms:W3CDTF">2006-04-09T04:16:00Z</dcterms:created>
  <dcterms:modified xsi:type="dcterms:W3CDTF">2023-11-10T10:56:00Z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6034FE8507CD417DB6BB96BC218914B6</vt:lpwstr>
  </property>
  <property fmtid="{D5CDD505-2E9C-101B-9397-08002B2CF9AE}" pid="3" name="KSOProductBuildVer">
    <vt:lpwstr>2052-11.1.0.12650</vt:lpwstr>
  </property>
</Properties>
</file>