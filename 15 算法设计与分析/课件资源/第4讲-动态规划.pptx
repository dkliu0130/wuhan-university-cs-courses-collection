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sldIdLst>
    <p:sldId id="256" r:id="rId2"/>
    <p:sldId id="491" r:id="rId3"/>
    <p:sldId id="492" r:id="rId4"/>
    <p:sldId id="262" r:id="rId5"/>
    <p:sldId id="511" r:id="rId6"/>
    <p:sldId id="512" r:id="rId7"/>
    <p:sldId id="513" r:id="rId8"/>
    <p:sldId id="514" r:id="rId9"/>
    <p:sldId id="515" r:id="rId10"/>
    <p:sldId id="516" r:id="rId11"/>
    <p:sldId id="517" r:id="rId12"/>
    <p:sldId id="518" r:id="rId13"/>
    <p:sldId id="519" r:id="rId14"/>
    <p:sldId id="520" r:id="rId15"/>
    <p:sldId id="521" r:id="rId16"/>
    <p:sldId id="522" r:id="rId17"/>
    <p:sldId id="523" r:id="rId18"/>
    <p:sldId id="524" r:id="rId19"/>
    <p:sldId id="525" r:id="rId20"/>
    <p:sldId id="526" r:id="rId21"/>
    <p:sldId id="527" r:id="rId22"/>
    <p:sldId id="528" r:id="rId23"/>
    <p:sldId id="529" r:id="rId24"/>
    <p:sldId id="530" r:id="rId25"/>
    <p:sldId id="531" r:id="rId26"/>
    <p:sldId id="532" r:id="rId27"/>
    <p:sldId id="533" r:id="rId28"/>
    <p:sldId id="534" r:id="rId29"/>
    <p:sldId id="535" r:id="rId30"/>
    <p:sldId id="536" r:id="rId31"/>
    <p:sldId id="537" r:id="rId32"/>
    <p:sldId id="538" r:id="rId33"/>
    <p:sldId id="539" r:id="rId34"/>
    <p:sldId id="540" r:id="rId35"/>
    <p:sldId id="495" r:id="rId36"/>
    <p:sldId id="541" r:id="rId37"/>
    <p:sldId id="593" r:id="rId38"/>
    <p:sldId id="497" r:id="rId39"/>
    <p:sldId id="496" r:id="rId40"/>
    <p:sldId id="498" r:id="rId41"/>
    <p:sldId id="499" r:id="rId42"/>
    <p:sldId id="500" r:id="rId43"/>
    <p:sldId id="542" r:id="rId44"/>
    <p:sldId id="501" r:id="rId45"/>
    <p:sldId id="502" r:id="rId46"/>
    <p:sldId id="503" r:id="rId47"/>
    <p:sldId id="504" r:id="rId48"/>
    <p:sldId id="543" r:id="rId49"/>
    <p:sldId id="544" r:id="rId50"/>
    <p:sldId id="545" r:id="rId51"/>
    <p:sldId id="546" r:id="rId52"/>
    <p:sldId id="547" r:id="rId53"/>
    <p:sldId id="548" r:id="rId54"/>
    <p:sldId id="549" r:id="rId55"/>
    <p:sldId id="505" r:id="rId56"/>
    <p:sldId id="550" r:id="rId57"/>
    <p:sldId id="551" r:id="rId58"/>
    <p:sldId id="552" r:id="rId59"/>
    <p:sldId id="553" r:id="rId60"/>
    <p:sldId id="554" r:id="rId61"/>
    <p:sldId id="555" r:id="rId62"/>
    <p:sldId id="556" r:id="rId63"/>
    <p:sldId id="506" r:id="rId64"/>
    <p:sldId id="558" r:id="rId65"/>
    <p:sldId id="559" r:id="rId66"/>
    <p:sldId id="560" r:id="rId67"/>
    <p:sldId id="561" r:id="rId68"/>
    <p:sldId id="562" r:id="rId69"/>
    <p:sldId id="563" r:id="rId70"/>
    <p:sldId id="564" r:id="rId71"/>
    <p:sldId id="565" r:id="rId72"/>
    <p:sldId id="566" r:id="rId73"/>
    <p:sldId id="567" r:id="rId74"/>
    <p:sldId id="568" r:id="rId75"/>
    <p:sldId id="569" r:id="rId76"/>
    <p:sldId id="570" r:id="rId77"/>
    <p:sldId id="507" r:id="rId78"/>
    <p:sldId id="571" r:id="rId79"/>
    <p:sldId id="572" r:id="rId80"/>
    <p:sldId id="573" r:id="rId81"/>
    <p:sldId id="574" r:id="rId82"/>
    <p:sldId id="575" r:id="rId83"/>
    <p:sldId id="576" r:id="rId84"/>
    <p:sldId id="508" r:id="rId85"/>
    <p:sldId id="577" r:id="rId86"/>
    <p:sldId id="578" r:id="rId87"/>
    <p:sldId id="579" r:id="rId88"/>
    <p:sldId id="580" r:id="rId89"/>
    <p:sldId id="581" r:id="rId90"/>
    <p:sldId id="582" r:id="rId91"/>
    <p:sldId id="583" r:id="rId92"/>
    <p:sldId id="509" r:id="rId93"/>
    <p:sldId id="584" r:id="rId94"/>
    <p:sldId id="585" r:id="rId95"/>
    <p:sldId id="586" r:id="rId96"/>
    <p:sldId id="587" r:id="rId97"/>
    <p:sldId id="510" r:id="rId98"/>
    <p:sldId id="588" r:id="rId99"/>
    <p:sldId id="589" r:id="rId100"/>
    <p:sldId id="590" r:id="rId101"/>
    <p:sldId id="591" r:id="rId102"/>
    <p:sldId id="592" r:id="rId103"/>
  </p:sldIdLst>
  <p:sldSz cx="9144000" cy="6858000" type="screen4x3"/>
  <p:notesSz cx="6858000" cy="9144000"/>
  <p:custDataLst>
    <p:tags r:id="rId105"/>
  </p:custDataLst>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2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000099"/>
    <a:srgbClr val="333333"/>
    <a:srgbClr val="000066"/>
    <a:srgbClr val="660033"/>
    <a:srgbClr val="6600FF"/>
    <a:srgbClr val="FF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3"/>
    <p:restoredTop sz="88146" autoAdjust="0"/>
  </p:normalViewPr>
  <p:slideViewPr>
    <p:cSldViewPr showGuides="1">
      <p:cViewPr varScale="1">
        <p:scale>
          <a:sx n="78" d="100"/>
          <a:sy n="78" d="100"/>
        </p:scale>
        <p:origin x="1179" y="39"/>
      </p:cViewPr>
      <p:guideLst>
        <p:guide orient="horz" pos="2024"/>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421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421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9421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421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4807897A-350A-4696-8767-6037C5CAFB7E}"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a:t>
            </a:fld>
            <a:endParaRPr lang="en-US" altLang="zh-CN" dirty="0"/>
          </a:p>
        </p:txBody>
      </p:sp>
      <p:sp>
        <p:nvSpPr>
          <p:cNvPr id="5123" name="Rectangle 2"/>
          <p:cNvSpPr>
            <a:spLocks noGrp="1" noRot="1" noChangeAspect="1" noTextEdit="1"/>
          </p:cNvSpPr>
          <p:nvPr>
            <p:ph type="sldImg"/>
          </p:nvPr>
        </p:nvSpPr>
        <p:spPr/>
      </p:sp>
      <p:sp>
        <p:nvSpPr>
          <p:cNvPr id="512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a:t>
            </a:fld>
            <a:endParaRPr lang="en-US" altLang="zh-CN" dirty="0"/>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648360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a:t>
            </a:fld>
            <a:endParaRPr lang="en-US" altLang="zh-CN" dirty="0"/>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975441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4</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277859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a:t>
            </a:fld>
            <a:endParaRPr lang="en-US" altLang="zh-CN" dirty="0"/>
          </a:p>
        </p:txBody>
      </p:sp>
      <p:sp>
        <p:nvSpPr>
          <p:cNvPr id="14339" name="Rectangle 2"/>
          <p:cNvSpPr>
            <a:spLocks noGrp="1" noRot="1" noChangeAspect="1" noTextEdit="1"/>
          </p:cNvSpPr>
          <p:nvPr>
            <p:ph type="sldImg"/>
          </p:nvPr>
        </p:nvSpPr>
        <p:spPr/>
      </p:sp>
      <p:sp>
        <p:nvSpPr>
          <p:cNvPr id="1434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6</a:t>
            </a:fld>
            <a:endParaRPr lang="en-US" altLang="zh-CN" dirty="0"/>
          </a:p>
        </p:txBody>
      </p:sp>
      <p:sp>
        <p:nvSpPr>
          <p:cNvPr id="16387" name="Rectangle 2"/>
          <p:cNvSpPr>
            <a:spLocks noGrp="1" noRot="1" noChangeAspect="1" noTextEdit="1"/>
          </p:cNvSpPr>
          <p:nvPr>
            <p:ph type="sldImg"/>
          </p:nvPr>
        </p:nvSpPr>
        <p:spPr/>
      </p:sp>
      <p:sp>
        <p:nvSpPr>
          <p:cNvPr id="1638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7</a:t>
            </a:fld>
            <a:endParaRPr lang="en-US" altLang="zh-CN" dirty="0"/>
          </a:p>
        </p:txBody>
      </p:sp>
      <p:sp>
        <p:nvSpPr>
          <p:cNvPr id="18435" name="Rectangle 2"/>
          <p:cNvSpPr>
            <a:spLocks noGrp="1" noRot="1" noChangeAspect="1" noTextEdit="1"/>
          </p:cNvSpPr>
          <p:nvPr>
            <p:ph type="sldImg"/>
          </p:nvPr>
        </p:nvSpPr>
        <p:spPr/>
      </p:sp>
      <p:sp>
        <p:nvSpPr>
          <p:cNvPr id="1843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8</a:t>
            </a:fld>
            <a:endParaRPr lang="en-US" altLang="zh-CN" dirty="0"/>
          </a:p>
        </p:txBody>
      </p:sp>
      <p:sp>
        <p:nvSpPr>
          <p:cNvPr id="20483" name="Rectangle 2"/>
          <p:cNvSpPr>
            <a:spLocks noGrp="1" noRot="1" noChangeAspect="1" noTextEdit="1"/>
          </p:cNvSpPr>
          <p:nvPr>
            <p:ph type="sldImg"/>
          </p:nvPr>
        </p:nvSpPr>
        <p:spPr/>
      </p:sp>
      <p:sp>
        <p:nvSpPr>
          <p:cNvPr id="2048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9</a:t>
            </a:fld>
            <a:endParaRPr lang="en-US" altLang="zh-CN" dirty="0"/>
          </a:p>
        </p:txBody>
      </p:sp>
      <p:sp>
        <p:nvSpPr>
          <p:cNvPr id="28675" name="Rectangle 2"/>
          <p:cNvSpPr>
            <a:spLocks noGrp="1" noRot="1" noChangeAspect="1" noTextEdit="1"/>
          </p:cNvSpPr>
          <p:nvPr>
            <p:ph type="sldImg"/>
          </p:nvPr>
        </p:nvSpPr>
        <p:spPr/>
      </p:sp>
      <p:sp>
        <p:nvSpPr>
          <p:cNvPr id="2867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10</a:t>
            </a:fld>
            <a:endParaRPr lang="en-US" altLang="zh-CN" dirty="0"/>
          </a:p>
        </p:txBody>
      </p:sp>
      <p:sp>
        <p:nvSpPr>
          <p:cNvPr id="28675" name="Rectangle 2"/>
          <p:cNvSpPr>
            <a:spLocks noGrp="1" noRot="1" noChangeAspect="1" noTextEdit="1"/>
          </p:cNvSpPr>
          <p:nvPr>
            <p:ph type="sldImg"/>
          </p:nvPr>
        </p:nvSpPr>
        <p:spPr/>
      </p:sp>
      <p:sp>
        <p:nvSpPr>
          <p:cNvPr id="2867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11</a:t>
            </a:fld>
            <a:endParaRPr lang="en-US" altLang="zh-CN" dirty="0"/>
          </a:p>
        </p:txBody>
      </p:sp>
      <p:sp>
        <p:nvSpPr>
          <p:cNvPr id="32771" name="Rectangle 2"/>
          <p:cNvSpPr>
            <a:spLocks noGrp="1" noRot="1" noChangeAspect="1" noTextEdit="1"/>
          </p:cNvSpPr>
          <p:nvPr>
            <p:ph type="sldImg"/>
          </p:nvPr>
        </p:nvSpPr>
        <p:spPr/>
      </p:sp>
      <p:sp>
        <p:nvSpPr>
          <p:cNvPr id="327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12</a:t>
            </a:fld>
            <a:endParaRPr lang="en-US" altLang="zh-CN" dirty="0"/>
          </a:p>
        </p:txBody>
      </p:sp>
      <p:sp>
        <p:nvSpPr>
          <p:cNvPr id="34819" name="Rectangle 2"/>
          <p:cNvSpPr>
            <a:spLocks noGrp="1" noRot="1" noChangeAspect="1" noTextEdit="1"/>
          </p:cNvSpPr>
          <p:nvPr>
            <p:ph type="sldImg"/>
          </p:nvPr>
        </p:nvSpPr>
        <p:spPr/>
      </p:sp>
      <p:sp>
        <p:nvSpPr>
          <p:cNvPr id="3482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13</a:t>
            </a:fld>
            <a:endParaRPr lang="en-US" altLang="zh-CN" dirty="0"/>
          </a:p>
        </p:txBody>
      </p:sp>
      <p:sp>
        <p:nvSpPr>
          <p:cNvPr id="36867" name="Rectangle 2"/>
          <p:cNvSpPr>
            <a:spLocks noGrp="1" noRot="1" noChangeAspect="1" noTextEdit="1"/>
          </p:cNvSpPr>
          <p:nvPr>
            <p:ph type="sldImg"/>
          </p:nvPr>
        </p:nvSpPr>
        <p:spPr/>
      </p:sp>
      <p:sp>
        <p:nvSpPr>
          <p:cNvPr id="3686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14</a:t>
            </a:fld>
            <a:endParaRPr lang="en-US" altLang="zh-CN" dirty="0"/>
          </a:p>
        </p:txBody>
      </p:sp>
      <p:sp>
        <p:nvSpPr>
          <p:cNvPr id="38915" name="Rectangle 2"/>
          <p:cNvSpPr>
            <a:spLocks noGrp="1" noRot="1" noChangeAspect="1" noTextEdit="1"/>
          </p:cNvSpPr>
          <p:nvPr>
            <p:ph type="sldImg"/>
          </p:nvPr>
        </p:nvSpPr>
        <p:spPr/>
      </p:sp>
      <p:sp>
        <p:nvSpPr>
          <p:cNvPr id="3891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15</a:t>
            </a:fld>
            <a:endParaRPr lang="en-US" altLang="zh-CN" dirty="0"/>
          </a:p>
        </p:txBody>
      </p:sp>
      <p:sp>
        <p:nvSpPr>
          <p:cNvPr id="40963" name="Rectangle 2"/>
          <p:cNvSpPr>
            <a:spLocks noGrp="1" noRot="1" noChangeAspect="1" noTextEdit="1"/>
          </p:cNvSpPr>
          <p:nvPr>
            <p:ph type="sldImg"/>
          </p:nvPr>
        </p:nvSpPr>
        <p:spPr/>
      </p:sp>
      <p:sp>
        <p:nvSpPr>
          <p:cNvPr id="4096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16</a:t>
            </a:fld>
            <a:endParaRPr lang="en-US" altLang="zh-CN" dirty="0"/>
          </a:p>
        </p:txBody>
      </p:sp>
      <p:sp>
        <p:nvSpPr>
          <p:cNvPr id="43011" name="Rectangle 2"/>
          <p:cNvSpPr>
            <a:spLocks noGrp="1" noRot="1" noChangeAspect="1" noTextEdit="1"/>
          </p:cNvSpPr>
          <p:nvPr>
            <p:ph type="sldImg"/>
          </p:nvPr>
        </p:nvSpPr>
        <p:spPr/>
      </p:sp>
      <p:sp>
        <p:nvSpPr>
          <p:cNvPr id="4301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17</a:t>
            </a:fld>
            <a:endParaRPr lang="en-US" altLang="zh-CN" dirty="0"/>
          </a:p>
        </p:txBody>
      </p:sp>
      <p:sp>
        <p:nvSpPr>
          <p:cNvPr id="45059" name="Rectangle 2"/>
          <p:cNvSpPr>
            <a:spLocks noGrp="1" noRot="1" noChangeAspect="1" noTextEdit="1"/>
          </p:cNvSpPr>
          <p:nvPr>
            <p:ph type="sldImg"/>
          </p:nvPr>
        </p:nvSpPr>
        <p:spPr/>
      </p:sp>
      <p:sp>
        <p:nvSpPr>
          <p:cNvPr id="4506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18</a:t>
            </a:fld>
            <a:endParaRPr lang="en-US" altLang="zh-CN" dirty="0"/>
          </a:p>
        </p:txBody>
      </p:sp>
      <p:sp>
        <p:nvSpPr>
          <p:cNvPr id="47107" name="Rectangle 2"/>
          <p:cNvSpPr>
            <a:spLocks noGrp="1" noRot="1" noChangeAspect="1" noTextEdit="1"/>
          </p:cNvSpPr>
          <p:nvPr>
            <p:ph type="sldImg"/>
          </p:nvPr>
        </p:nvSpPr>
        <p:spPr/>
      </p:sp>
      <p:sp>
        <p:nvSpPr>
          <p:cNvPr id="4710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idx="1"/>
          </p:nvPr>
        </p:nvSpPr>
        <p:spPr/>
        <p:txBody>
          <a:bodyPr wrap="square" lIns="91440" tIns="45720" rIns="91440" bIns="45720" anchor="t" anchorCtr="0"/>
          <a:lstStyle/>
          <a:p>
            <a:pPr lvl="0"/>
            <a:r>
              <a:rPr lang="en-US" altLang="zh-CN" dirty="0"/>
              <a:t>   i   j </a:t>
            </a:r>
            <a:r>
              <a:rPr lang="zh-CN" altLang="en-US" dirty="0"/>
              <a:t>的变化：</a:t>
            </a:r>
            <a:endParaRPr lang="en-US" altLang="zh-CN" dirty="0"/>
          </a:p>
          <a:p>
            <a:pPr lvl="0"/>
            <a:r>
              <a:rPr lang="en-US" altLang="zh-CN" dirty="0"/>
              <a:t>L=2  (1  2), (2  3),  (3  4), (4 5)</a:t>
            </a:r>
          </a:p>
          <a:p>
            <a:pPr lvl="0"/>
            <a:r>
              <a:rPr lang="en-US" altLang="zh-CN" dirty="0"/>
              <a:t>L=3  (1 3), (2 4), (3 5)</a:t>
            </a:r>
          </a:p>
          <a:p>
            <a:pPr lvl="0"/>
            <a:r>
              <a:rPr lang="en-US" altLang="zh-CN" dirty="0"/>
              <a:t>L=4 (1 4), (2 5)</a:t>
            </a:r>
          </a:p>
          <a:p>
            <a:pPr lvl="0"/>
            <a:r>
              <a:rPr lang="en-US" altLang="zh-CN" dirty="0"/>
              <a:t>L=5  (1 5)</a:t>
            </a:r>
            <a:endParaRPr lang="zh-CN" altLang="en-US" dirty="0"/>
          </a:p>
        </p:txBody>
      </p:sp>
      <p:sp>
        <p:nvSpPr>
          <p:cNvPr id="491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t>19</a:t>
            </a:fld>
            <a:endParaRPr lang="en-US" altLang="zh-CN" sz="1200" b="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20</a:t>
            </a:fld>
            <a:endParaRPr lang="en-US" altLang="zh-CN" dirty="0"/>
          </a:p>
        </p:txBody>
      </p:sp>
      <p:sp>
        <p:nvSpPr>
          <p:cNvPr id="51203" name="Rectangle 2"/>
          <p:cNvSpPr>
            <a:spLocks noGrp="1" noRot="1" noChangeAspect="1" noTextEdit="1"/>
          </p:cNvSpPr>
          <p:nvPr>
            <p:ph type="sldImg"/>
          </p:nvPr>
        </p:nvSpPr>
        <p:spPr/>
      </p:sp>
      <p:sp>
        <p:nvSpPr>
          <p:cNvPr id="51204" name="Rectangle 3"/>
          <p:cNvSpPr>
            <a:spLocks noGrp="1"/>
          </p:cNvSpPr>
          <p:nvPr>
            <p:ph type="body" idx="1"/>
          </p:nvPr>
        </p:nvSpPr>
        <p:spPr/>
        <p:txBody>
          <a:bodyPr wrap="square" lIns="91440" tIns="45720" rIns="91440" bIns="45720" anchor="t" anchorCtr="0"/>
          <a:lstStyle/>
          <a:p>
            <a:pPr lvl="0" eaLnBrk="1" hangingPunct="1"/>
            <a:r>
              <a:rPr lang="en-US" altLang="zh-CN" dirty="0"/>
              <a:t>(A1A2)A3=200+5X4X6=320</a:t>
            </a:r>
          </a:p>
          <a:p>
            <a:pPr lvl="0" eaLnBrk="1" hangingPunct="1"/>
            <a:r>
              <a:rPr lang="en-US" altLang="zh-CN" dirty="0"/>
              <a:t>A1(A2A3)=5X10X6+240=540</a:t>
            </a:r>
          </a:p>
          <a:p>
            <a:pPr lvl="0" eaLnBrk="1" hangingPunct="1"/>
            <a:r>
              <a:rPr lang="zh-CN" altLang="en-US" dirty="0"/>
              <a:t>所以，</a:t>
            </a:r>
            <a:r>
              <a:rPr lang="en-US" altLang="zh-CN" dirty="0"/>
              <a:t>m[1,3] = 320</a:t>
            </a:r>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21</a:t>
            </a:fld>
            <a:endParaRPr lang="en-US" altLang="zh-CN" dirty="0"/>
          </a:p>
        </p:txBody>
      </p:sp>
      <p:sp>
        <p:nvSpPr>
          <p:cNvPr id="53251" name="Rectangle 2"/>
          <p:cNvSpPr>
            <a:spLocks noGrp="1" noRot="1" noChangeAspect="1" noTextEdit="1"/>
          </p:cNvSpPr>
          <p:nvPr>
            <p:ph type="sldImg"/>
          </p:nvPr>
        </p:nvSpPr>
        <p:spPr/>
      </p:sp>
      <p:sp>
        <p:nvSpPr>
          <p:cNvPr id="53252" name="Rectangle 3"/>
          <p:cNvSpPr>
            <a:spLocks noGrp="1"/>
          </p:cNvSpPr>
          <p:nvPr>
            <p:ph type="body" idx="1"/>
          </p:nvPr>
        </p:nvSpPr>
        <p:spPr/>
        <p:txBody>
          <a:bodyPr wrap="square" lIns="91440" tIns="45720" rIns="91440" bIns="45720" anchor="t" anchorCtr="0"/>
          <a:lstStyle/>
          <a:p>
            <a:pPr lvl="0" eaLnBrk="1" hangingPunct="1"/>
            <a:r>
              <a:rPr lang="en-US" altLang="zh-CN" dirty="0"/>
              <a:t>(A1</a:t>
            </a:r>
            <a:r>
              <a:rPr lang="zh-CN" altLang="en-US" dirty="0"/>
              <a:t>（</a:t>
            </a:r>
            <a:r>
              <a:rPr lang="en-US" altLang="zh-CN" dirty="0"/>
              <a:t>A2A3</a:t>
            </a:r>
            <a:r>
              <a:rPr lang="zh-CN" altLang="en-US" dirty="0"/>
              <a:t>）</a:t>
            </a:r>
            <a:r>
              <a:rPr lang="en-US" altLang="zh-CN" dirty="0"/>
              <a:t>(A4A5)A6)</a:t>
            </a:r>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22</a:t>
            </a:fld>
            <a:endParaRPr lang="en-US" altLang="zh-CN" dirty="0"/>
          </a:p>
        </p:txBody>
      </p:sp>
      <p:sp>
        <p:nvSpPr>
          <p:cNvPr id="55299" name="Rectangle 2"/>
          <p:cNvSpPr>
            <a:spLocks noGrp="1" noRot="1" noChangeAspect="1" noTextEdit="1"/>
          </p:cNvSpPr>
          <p:nvPr>
            <p:ph type="sldImg"/>
          </p:nvPr>
        </p:nvSpPr>
        <p:spPr/>
      </p:sp>
      <p:sp>
        <p:nvSpPr>
          <p:cNvPr id="5530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25</a:t>
            </a:fld>
            <a:endParaRPr lang="en-US" altLang="zh-CN" dirty="0"/>
          </a:p>
        </p:txBody>
      </p:sp>
      <p:sp>
        <p:nvSpPr>
          <p:cNvPr id="59395" name="Rectangle 2"/>
          <p:cNvSpPr>
            <a:spLocks noGrp="1" noRot="1" noChangeAspect="1" noTextEdit="1"/>
          </p:cNvSpPr>
          <p:nvPr>
            <p:ph type="sldImg"/>
          </p:nvPr>
        </p:nvSpPr>
        <p:spPr/>
      </p:sp>
      <p:sp>
        <p:nvSpPr>
          <p:cNvPr id="5939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26</a:t>
            </a:fld>
            <a:endParaRPr lang="en-US" altLang="zh-CN" dirty="0"/>
          </a:p>
        </p:txBody>
      </p:sp>
      <p:sp>
        <p:nvSpPr>
          <p:cNvPr id="61443" name="Rectangle 2"/>
          <p:cNvSpPr>
            <a:spLocks noGrp="1" noRot="1" noChangeAspect="1" noTextEdit="1"/>
          </p:cNvSpPr>
          <p:nvPr>
            <p:ph type="sldImg"/>
          </p:nvPr>
        </p:nvSpPr>
        <p:spPr/>
      </p:sp>
      <p:sp>
        <p:nvSpPr>
          <p:cNvPr id="6144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27</a:t>
            </a:fld>
            <a:endParaRPr lang="en-US" altLang="zh-CN" dirty="0"/>
          </a:p>
        </p:txBody>
      </p:sp>
      <p:sp>
        <p:nvSpPr>
          <p:cNvPr id="63491" name="Rectangle 2"/>
          <p:cNvSpPr>
            <a:spLocks noGrp="1" noRot="1" noChangeAspect="1" noTextEdit="1"/>
          </p:cNvSpPr>
          <p:nvPr>
            <p:ph type="sldImg"/>
          </p:nvPr>
        </p:nvSpPr>
        <p:spPr/>
      </p:sp>
      <p:sp>
        <p:nvSpPr>
          <p:cNvPr id="6349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28</a:t>
            </a:fld>
            <a:endParaRPr lang="en-US" altLang="zh-CN" dirty="0"/>
          </a:p>
        </p:txBody>
      </p:sp>
      <p:sp>
        <p:nvSpPr>
          <p:cNvPr id="65539" name="Rectangle 2"/>
          <p:cNvSpPr>
            <a:spLocks noGrp="1" noRot="1" noChangeAspect="1" noTextEdit="1"/>
          </p:cNvSpPr>
          <p:nvPr>
            <p:ph type="sldImg"/>
          </p:nvPr>
        </p:nvSpPr>
        <p:spPr/>
      </p:sp>
      <p:sp>
        <p:nvSpPr>
          <p:cNvPr id="6554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29</a:t>
            </a:fld>
            <a:endParaRPr lang="en-US" altLang="zh-CN" dirty="0"/>
          </a:p>
        </p:txBody>
      </p:sp>
      <p:sp>
        <p:nvSpPr>
          <p:cNvPr id="68611" name="Rectangle 2"/>
          <p:cNvSpPr>
            <a:spLocks noGrp="1" noRot="1" noChangeAspect="1" noTextEdit="1"/>
          </p:cNvSpPr>
          <p:nvPr>
            <p:ph type="sldImg"/>
          </p:nvPr>
        </p:nvSpPr>
        <p:spPr/>
      </p:sp>
      <p:sp>
        <p:nvSpPr>
          <p:cNvPr id="6861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33</a:t>
            </a:fld>
            <a:endParaRPr lang="en-US" altLang="zh-CN" dirty="0"/>
          </a:p>
        </p:txBody>
      </p:sp>
      <p:sp>
        <p:nvSpPr>
          <p:cNvPr id="73731" name="Rectangle 2"/>
          <p:cNvSpPr>
            <a:spLocks noGrp="1" noRot="1" noChangeAspect="1" noTextEdit="1"/>
          </p:cNvSpPr>
          <p:nvPr>
            <p:ph type="sldImg"/>
          </p:nvPr>
        </p:nvSpPr>
        <p:spPr/>
      </p:sp>
      <p:sp>
        <p:nvSpPr>
          <p:cNvPr id="7373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34</a:t>
            </a:fld>
            <a:endParaRPr lang="en-US" altLang="zh-CN" dirty="0"/>
          </a:p>
        </p:txBody>
      </p:sp>
      <p:sp>
        <p:nvSpPr>
          <p:cNvPr id="75779" name="Rectangle 2"/>
          <p:cNvSpPr>
            <a:spLocks noGrp="1" noRot="1" noChangeAspect="1" noTextEdit="1"/>
          </p:cNvSpPr>
          <p:nvPr>
            <p:ph type="sldImg"/>
          </p:nvPr>
        </p:nvSpPr>
        <p:spPr/>
      </p:sp>
      <p:sp>
        <p:nvSpPr>
          <p:cNvPr id="7578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35</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29778029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36</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12725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37</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621309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38</a:t>
            </a:fld>
            <a:endParaRPr lang="en-US" altLang="zh-CN" dirty="0"/>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15224445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39</a:t>
            </a:fld>
            <a:endParaRPr lang="en-US" altLang="zh-CN" dirty="0"/>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22649582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40</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2658913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41</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0164390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42</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1278980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43</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41833030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44</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13493876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45</a:t>
            </a:fld>
            <a:endParaRPr lang="en-US" altLang="zh-CN" dirty="0"/>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33248572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46</a:t>
            </a:fld>
            <a:endParaRPr lang="en-US" altLang="zh-CN" dirty="0"/>
          </a:p>
        </p:txBody>
      </p:sp>
      <p:sp>
        <p:nvSpPr>
          <p:cNvPr id="7171" name="Rectangle 2"/>
          <p:cNvSpPr>
            <a:spLocks noGrp="1" noRot="1" noChangeAspect="1" noTextEdit="1"/>
          </p:cNvSpPr>
          <p:nvPr>
            <p:ph type="sldImg"/>
          </p:nvPr>
        </p:nvSpPr>
        <p:spPr/>
      </p:sp>
      <p:sp>
        <p:nvSpPr>
          <p:cNvPr id="71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extLst>
      <p:ext uri="{BB962C8B-B14F-4D97-AF65-F5344CB8AC3E}">
        <p14:creationId xmlns:p14="http://schemas.microsoft.com/office/powerpoint/2010/main" val="17083506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47</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8479251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48</a:t>
            </a:fld>
            <a:endParaRPr lang="en-US" altLang="zh-CN" dirty="0"/>
          </a:p>
        </p:txBody>
      </p:sp>
      <p:sp>
        <p:nvSpPr>
          <p:cNvPr id="83971" name="Rectangle 2"/>
          <p:cNvSpPr>
            <a:spLocks noGrp="1" noRot="1" noChangeAspect="1" noTextEdit="1"/>
          </p:cNvSpPr>
          <p:nvPr>
            <p:ph type="sldImg"/>
          </p:nvPr>
        </p:nvSpPr>
        <p:spPr/>
      </p:sp>
      <p:sp>
        <p:nvSpPr>
          <p:cNvPr id="8397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49</a:t>
            </a:fld>
            <a:endParaRPr lang="en-US" altLang="zh-CN" dirty="0"/>
          </a:p>
        </p:txBody>
      </p:sp>
      <p:sp>
        <p:nvSpPr>
          <p:cNvPr id="86019" name="Rectangle 2"/>
          <p:cNvSpPr>
            <a:spLocks noGrp="1" noRot="1" noChangeAspect="1" noTextEdit="1"/>
          </p:cNvSpPr>
          <p:nvPr>
            <p:ph type="sldImg"/>
          </p:nvPr>
        </p:nvSpPr>
        <p:spPr/>
      </p:sp>
      <p:sp>
        <p:nvSpPr>
          <p:cNvPr id="8602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50</a:t>
            </a:fld>
            <a:endParaRPr lang="en-US" altLang="zh-CN" dirty="0"/>
          </a:p>
        </p:txBody>
      </p:sp>
      <p:sp>
        <p:nvSpPr>
          <p:cNvPr id="88067" name="Rectangle 2"/>
          <p:cNvSpPr>
            <a:spLocks noGrp="1" noRot="1" noChangeAspect="1" noTextEdit="1"/>
          </p:cNvSpPr>
          <p:nvPr>
            <p:ph type="sldImg"/>
          </p:nvPr>
        </p:nvSpPr>
        <p:spPr/>
      </p:sp>
      <p:sp>
        <p:nvSpPr>
          <p:cNvPr id="8806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51</a:t>
            </a:fld>
            <a:endParaRPr lang="en-US" altLang="zh-CN" dirty="0"/>
          </a:p>
        </p:txBody>
      </p:sp>
      <p:sp>
        <p:nvSpPr>
          <p:cNvPr id="90115" name="Rectangle 2"/>
          <p:cNvSpPr>
            <a:spLocks noGrp="1" noRot="1" noChangeAspect="1" noTextEdit="1"/>
          </p:cNvSpPr>
          <p:nvPr>
            <p:ph type="sldImg"/>
          </p:nvPr>
        </p:nvSpPr>
        <p:spPr/>
      </p:sp>
      <p:sp>
        <p:nvSpPr>
          <p:cNvPr id="90116" name="Rectangle 3"/>
          <p:cNvSpPr>
            <a:spLocks noGrp="1"/>
          </p:cNvSpPr>
          <p:nvPr>
            <p:ph type="body" idx="1"/>
          </p:nvPr>
        </p:nvSpPr>
        <p:spPr/>
        <p:txBody>
          <a:bodyPr wrap="square" lIns="91440" tIns="45720" rIns="91440" bIns="45720" anchor="t" anchorCtr="0"/>
          <a:lstStyle/>
          <a:p>
            <a:pPr lvl="0" eaLnBrk="1" hangingPunct="1"/>
            <a:r>
              <a:rPr lang="en-US" altLang="zh-CN" dirty="0"/>
              <a:t>D1:</a:t>
            </a:r>
            <a:r>
              <a:rPr lang="zh-CN" altLang="en-US" dirty="0"/>
              <a:t>所有点经过点</a:t>
            </a:r>
            <a:r>
              <a:rPr lang="en-US" altLang="zh-CN" dirty="0"/>
              <a:t>1</a:t>
            </a:r>
            <a:r>
              <a:rPr lang="zh-CN" altLang="en-US" dirty="0"/>
              <a:t>后的最短距离；</a:t>
            </a:r>
            <a:endParaRPr lang="en-US" altLang="zh-CN" dirty="0"/>
          </a:p>
          <a:p>
            <a:pPr lvl="0" eaLnBrk="1" hangingPunct="1"/>
            <a:r>
              <a:rPr lang="zh-CN" altLang="en-US" dirty="0"/>
              <a:t>  顶</a:t>
            </a:r>
            <a:r>
              <a:rPr lang="en-US" altLang="zh-CN" dirty="0"/>
              <a:t>3-</a:t>
            </a:r>
            <a:r>
              <a:rPr lang="zh-CN" altLang="en-US" dirty="0"/>
              <a:t>顶</a:t>
            </a:r>
            <a:r>
              <a:rPr lang="en-US" altLang="zh-CN" dirty="0"/>
              <a:t>2</a:t>
            </a:r>
            <a:r>
              <a:rPr lang="zh-CN" altLang="en-US" dirty="0"/>
              <a:t>，经过顶</a:t>
            </a:r>
            <a:r>
              <a:rPr lang="en-US" altLang="zh-CN" dirty="0"/>
              <a:t>1</a:t>
            </a:r>
            <a:r>
              <a:rPr lang="zh-CN" altLang="en-US" dirty="0"/>
              <a:t>，则距离变为</a:t>
            </a:r>
            <a:r>
              <a:rPr lang="en-US" altLang="zh-CN" dirty="0"/>
              <a:t>3</a:t>
            </a:r>
            <a:r>
              <a:rPr lang="zh-CN" altLang="en-US" dirty="0"/>
              <a:t>  ；  </a:t>
            </a:r>
            <a:endParaRPr lang="en-US" altLang="zh-CN" dirty="0"/>
          </a:p>
          <a:p>
            <a:pPr lvl="0" eaLnBrk="1" hangingPunct="1"/>
            <a:r>
              <a:rPr lang="en-US" altLang="zh-CN" dirty="0"/>
              <a:t>D2</a:t>
            </a:r>
            <a:r>
              <a:rPr lang="zh-CN" altLang="en-US" dirty="0"/>
              <a:t>：所有点经过点</a:t>
            </a:r>
            <a:r>
              <a:rPr lang="en-US" altLang="zh-CN" dirty="0"/>
              <a:t>1</a:t>
            </a:r>
            <a:r>
              <a:rPr lang="zh-CN" altLang="en-US" dirty="0"/>
              <a:t>，</a:t>
            </a:r>
            <a:r>
              <a:rPr lang="en-US" altLang="zh-CN" dirty="0"/>
              <a:t>2</a:t>
            </a:r>
            <a:r>
              <a:rPr lang="zh-CN" altLang="en-US" dirty="0"/>
              <a:t>后的最短距离</a:t>
            </a:r>
            <a:endParaRPr lang="en-US" altLang="zh-CN" dirty="0"/>
          </a:p>
          <a:p>
            <a:pPr lvl="0" eaLnBrk="1" hangingPunct="1"/>
            <a:r>
              <a:rPr lang="en-US" altLang="zh-CN" dirty="0"/>
              <a:t>  </a:t>
            </a:r>
            <a:r>
              <a:rPr lang="zh-CN" altLang="en-US" dirty="0"/>
              <a:t>顶</a:t>
            </a:r>
            <a:r>
              <a:rPr lang="en-US" altLang="zh-CN" dirty="0"/>
              <a:t>1-</a:t>
            </a:r>
            <a:r>
              <a:rPr lang="zh-CN" altLang="en-US" dirty="0"/>
              <a:t>顶</a:t>
            </a:r>
            <a:r>
              <a:rPr lang="en-US" altLang="zh-CN" dirty="0"/>
              <a:t>3</a:t>
            </a:r>
            <a:r>
              <a:rPr lang="zh-CN" altLang="en-US" dirty="0"/>
              <a:t>，经过顶</a:t>
            </a:r>
            <a:r>
              <a:rPr lang="en-US" altLang="zh-CN" dirty="0"/>
              <a:t>2</a:t>
            </a:r>
            <a:r>
              <a:rPr lang="zh-CN" altLang="en-US" dirty="0"/>
              <a:t>， </a:t>
            </a:r>
            <a:r>
              <a:rPr lang="en-US" altLang="zh-CN" dirty="0"/>
              <a:t>2+6=8</a:t>
            </a:r>
            <a:r>
              <a:rPr lang="zh-CN" altLang="en-US" dirty="0"/>
              <a:t>，距离变为</a:t>
            </a:r>
            <a:r>
              <a:rPr lang="en-US" altLang="zh-CN" dirty="0"/>
              <a:t>8;  </a:t>
            </a:r>
            <a:r>
              <a:rPr lang="zh-CN" altLang="en-US" dirty="0"/>
              <a:t> </a:t>
            </a:r>
            <a:endParaRPr lang="en-US" altLang="zh-CN" dirty="0"/>
          </a:p>
          <a:p>
            <a:pPr lvl="0" eaLnBrk="1" hangingPunct="1"/>
            <a:r>
              <a:rPr lang="en-US" altLang="zh-CN" dirty="0"/>
              <a:t>D3</a:t>
            </a:r>
            <a:r>
              <a:rPr lang="zh-CN" altLang="en-US" dirty="0"/>
              <a:t>：所有点经过点</a:t>
            </a:r>
            <a:r>
              <a:rPr lang="en-US" altLang="zh-CN" dirty="0"/>
              <a:t>1</a:t>
            </a:r>
            <a:r>
              <a:rPr lang="zh-CN" altLang="en-US" dirty="0"/>
              <a:t>，</a:t>
            </a:r>
            <a:r>
              <a:rPr lang="en-US" altLang="zh-CN" dirty="0"/>
              <a:t>2</a:t>
            </a:r>
            <a:r>
              <a:rPr lang="zh-CN" altLang="en-US" dirty="0"/>
              <a:t>，</a:t>
            </a:r>
            <a:r>
              <a:rPr lang="en-US" altLang="zh-CN" dirty="0"/>
              <a:t>3</a:t>
            </a:r>
            <a:r>
              <a:rPr lang="zh-CN" altLang="en-US" dirty="0"/>
              <a:t>后的最短距离  </a:t>
            </a:r>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52</a:t>
            </a:fld>
            <a:endParaRPr lang="en-US" altLang="zh-CN" dirty="0"/>
          </a:p>
        </p:txBody>
      </p:sp>
      <p:sp>
        <p:nvSpPr>
          <p:cNvPr id="94211" name="Rectangle 2"/>
          <p:cNvSpPr>
            <a:spLocks noGrp="1" noRot="1" noChangeAspect="1" noTextEdit="1"/>
          </p:cNvSpPr>
          <p:nvPr>
            <p:ph type="sldImg"/>
          </p:nvPr>
        </p:nvSpPr>
        <p:spPr/>
      </p:sp>
      <p:sp>
        <p:nvSpPr>
          <p:cNvPr id="94212"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53</a:t>
            </a:fld>
            <a:endParaRPr lang="en-US" altLang="zh-CN" dirty="0"/>
          </a:p>
        </p:txBody>
      </p:sp>
      <p:sp>
        <p:nvSpPr>
          <p:cNvPr id="92163" name="Rectangle 2"/>
          <p:cNvSpPr>
            <a:spLocks noGrp="1" noRot="1" noChangeAspect="1" noTextEdit="1"/>
          </p:cNvSpPr>
          <p:nvPr>
            <p:ph type="sldImg"/>
          </p:nvPr>
        </p:nvSpPr>
        <p:spPr/>
      </p:sp>
      <p:sp>
        <p:nvSpPr>
          <p:cNvPr id="9216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54</a:t>
            </a:fld>
            <a:endParaRPr lang="en-US" altLang="zh-CN" dirty="0"/>
          </a:p>
        </p:txBody>
      </p:sp>
      <p:sp>
        <p:nvSpPr>
          <p:cNvPr id="96259" name="Rectangle 2"/>
          <p:cNvSpPr>
            <a:spLocks noGrp="1" noRot="1" noChangeAspect="1" noTextEdit="1"/>
          </p:cNvSpPr>
          <p:nvPr>
            <p:ph type="sldImg"/>
          </p:nvPr>
        </p:nvSpPr>
        <p:spPr/>
      </p:sp>
      <p:sp>
        <p:nvSpPr>
          <p:cNvPr id="9626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55</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815808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56</a:t>
            </a:fld>
            <a:endParaRPr lang="en-US" altLang="zh-CN" dirty="0"/>
          </a:p>
        </p:txBody>
      </p:sp>
      <p:sp>
        <p:nvSpPr>
          <p:cNvPr id="100355" name="Rectangle 2"/>
          <p:cNvSpPr>
            <a:spLocks noGrp="1" noRot="1" noChangeAspect="1" noTextEdit="1"/>
          </p:cNvSpPr>
          <p:nvPr>
            <p:ph type="sldImg"/>
          </p:nvPr>
        </p:nvSpPr>
        <p:spPr/>
      </p:sp>
      <p:sp>
        <p:nvSpPr>
          <p:cNvPr id="100356"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57</a:t>
            </a:fld>
            <a:endParaRPr lang="en-US" altLang="zh-CN" dirty="0"/>
          </a:p>
        </p:txBody>
      </p:sp>
      <p:sp>
        <p:nvSpPr>
          <p:cNvPr id="102403" name="Rectangle 2"/>
          <p:cNvSpPr>
            <a:spLocks noGrp="1" noRot="1" noChangeAspect="1" noTextEdit="1"/>
          </p:cNvSpPr>
          <p:nvPr>
            <p:ph type="sldImg"/>
          </p:nvPr>
        </p:nvSpPr>
        <p:spPr/>
      </p:sp>
      <p:sp>
        <p:nvSpPr>
          <p:cNvPr id="10240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58</a:t>
            </a:fld>
            <a:endParaRPr lang="en-US" altLang="zh-CN" dirty="0"/>
          </a:p>
        </p:txBody>
      </p:sp>
      <p:sp>
        <p:nvSpPr>
          <p:cNvPr id="104451" name="Rectangle 2"/>
          <p:cNvSpPr>
            <a:spLocks noGrp="1" noRot="1" noChangeAspect="1" noTextEdit="1"/>
          </p:cNvSpPr>
          <p:nvPr>
            <p:ph type="sldImg"/>
          </p:nvPr>
        </p:nvSpPr>
        <p:spPr/>
      </p:sp>
      <p:sp>
        <p:nvSpPr>
          <p:cNvPr id="104452" name="Rectangle 3"/>
          <p:cNvSpPr>
            <a:spLocks noGrp="1"/>
          </p:cNvSpPr>
          <p:nvPr>
            <p:ph type="body" idx="1"/>
          </p:nvPr>
        </p:nvSpPr>
        <p:spPr/>
        <p:txBody>
          <a:bodyPr wrap="square" lIns="91440" tIns="45720" rIns="91440" bIns="45720" anchor="t" anchorCtr="0"/>
          <a:lstStyle/>
          <a:p>
            <a:pPr lvl="0" eaLnBrk="1" hangingPunct="1"/>
            <a:r>
              <a:rPr lang="zh-CN" altLang="en-US" dirty="0"/>
              <a:t>背包问题的已知假设：在容量</a:t>
            </a:r>
            <a:r>
              <a:rPr lang="en-US" altLang="zh-CN" dirty="0"/>
              <a:t>j</a:t>
            </a:r>
            <a:r>
              <a:rPr lang="zh-CN" altLang="en-US" dirty="0"/>
              <a:t>中，前</a:t>
            </a:r>
            <a:r>
              <a:rPr lang="en-US" altLang="zh-CN" dirty="0"/>
              <a:t>i-1</a:t>
            </a:r>
            <a:r>
              <a:rPr lang="zh-CN" altLang="en-US" dirty="0"/>
              <a:t>件物品放置的最大价值；在容量</a:t>
            </a:r>
            <a:r>
              <a:rPr lang="en-US" altLang="zh-CN" dirty="0"/>
              <a:t>j- s</a:t>
            </a:r>
            <a:r>
              <a:rPr lang="en-US" altLang="zh-CN" baseline="-25000" dirty="0"/>
              <a:t>i</a:t>
            </a:r>
            <a:r>
              <a:rPr lang="zh-CN" altLang="en-US" dirty="0"/>
              <a:t>中，前</a:t>
            </a:r>
            <a:r>
              <a:rPr lang="en-US" altLang="zh-CN" dirty="0"/>
              <a:t>i-1</a:t>
            </a:r>
            <a:r>
              <a:rPr lang="zh-CN" altLang="en-US" dirty="0"/>
              <a:t>件物品放置的最大价值；</a:t>
            </a:r>
            <a:endParaRPr lang="en-US" altLang="zh-CN" dirty="0"/>
          </a:p>
          <a:p>
            <a:pPr lvl="0" eaLnBrk="1" hangingPunct="1"/>
            <a:r>
              <a:rPr lang="zh-CN" altLang="en-US" dirty="0"/>
              <a:t>转换为，第</a:t>
            </a:r>
            <a:r>
              <a:rPr lang="en-US" altLang="zh-CN" dirty="0"/>
              <a:t>i</a:t>
            </a:r>
            <a:r>
              <a:rPr lang="zh-CN" altLang="en-US" dirty="0"/>
              <a:t>件物品放还是不放的问题；再转换为，如果不放，最大价值为</a:t>
            </a:r>
            <a:r>
              <a:rPr lang="en-US" altLang="zh-CN" dirty="0"/>
              <a:t>V[i-1,j]</a:t>
            </a:r>
            <a:r>
              <a:rPr lang="zh-CN" altLang="en-US" dirty="0"/>
              <a:t>，如果放，最大价值为</a:t>
            </a:r>
            <a:r>
              <a:rPr lang="en-US" altLang="zh-CN" dirty="0"/>
              <a:t>V[i-1</a:t>
            </a:r>
            <a:r>
              <a:rPr lang="zh-CN" altLang="en-US" dirty="0"/>
              <a:t>，</a:t>
            </a:r>
            <a:r>
              <a:rPr lang="en-US" altLang="zh-CN" dirty="0"/>
              <a:t>j- s</a:t>
            </a:r>
            <a:r>
              <a:rPr lang="en-US" altLang="zh-CN" baseline="-25000" dirty="0"/>
              <a:t>i</a:t>
            </a:r>
            <a:r>
              <a:rPr lang="en-US" altLang="zh-CN" dirty="0"/>
              <a:t>]+v</a:t>
            </a:r>
            <a:r>
              <a:rPr lang="en-US" altLang="zh-CN" baseline="-25000" dirty="0"/>
              <a:t>i</a:t>
            </a:r>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59</a:t>
            </a:fld>
            <a:endParaRPr lang="en-US" altLang="zh-CN" dirty="0"/>
          </a:p>
        </p:txBody>
      </p:sp>
      <p:sp>
        <p:nvSpPr>
          <p:cNvPr id="106499" name="Rectangle 2"/>
          <p:cNvSpPr>
            <a:spLocks noGrp="1" noRot="1" noChangeAspect="1" noTextEdit="1"/>
          </p:cNvSpPr>
          <p:nvPr>
            <p:ph type="sldImg"/>
          </p:nvPr>
        </p:nvSpPr>
        <p:spPr/>
      </p:sp>
      <p:sp>
        <p:nvSpPr>
          <p:cNvPr id="106500"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60</a:t>
            </a:fld>
            <a:endParaRPr lang="en-US" altLang="zh-CN" dirty="0"/>
          </a:p>
        </p:txBody>
      </p:sp>
      <p:sp>
        <p:nvSpPr>
          <p:cNvPr id="108547" name="Rectangle 2"/>
          <p:cNvSpPr>
            <a:spLocks noGrp="1" noRot="1" noChangeAspect="1" noTextEdit="1"/>
          </p:cNvSpPr>
          <p:nvPr>
            <p:ph type="sldImg"/>
          </p:nvPr>
        </p:nvSpPr>
        <p:spPr/>
      </p:sp>
      <p:sp>
        <p:nvSpPr>
          <p:cNvPr id="10854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61</a:t>
            </a:fld>
            <a:endParaRPr lang="en-US" altLang="zh-CN" dirty="0"/>
          </a:p>
        </p:txBody>
      </p:sp>
      <p:sp>
        <p:nvSpPr>
          <p:cNvPr id="110595" name="Rectangle 2"/>
          <p:cNvSpPr>
            <a:spLocks noGrp="1" noRot="1" noChangeAspect="1" noTextEdit="1"/>
          </p:cNvSpPr>
          <p:nvPr>
            <p:ph type="sldImg"/>
          </p:nvPr>
        </p:nvSpPr>
        <p:spPr/>
      </p:sp>
      <p:sp>
        <p:nvSpPr>
          <p:cNvPr id="110596" name="Rectangle 3"/>
          <p:cNvSpPr>
            <a:spLocks noGrp="1"/>
          </p:cNvSpPr>
          <p:nvPr>
            <p:ph type="body" idx="1"/>
          </p:nvPr>
        </p:nvSpPr>
        <p:spPr/>
        <p:txBody>
          <a:bodyPr wrap="square" lIns="91440" tIns="45720" rIns="91440" bIns="45720" anchor="t" anchorCtr="0"/>
          <a:lstStyle/>
          <a:p>
            <a:pPr lvl="0" eaLnBrk="1" hangingPunct="1"/>
            <a:r>
              <a:rPr lang="en-US" altLang="zh-CN" dirty="0"/>
              <a:t>V[2,5]=max{V[1,5],V[1,2]+4};   4</a:t>
            </a:r>
            <a:r>
              <a:rPr lang="zh-CN" altLang="en-US" dirty="0"/>
              <a:t>是第二个物品的价值</a:t>
            </a:r>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t>62</a:t>
            </a:fld>
            <a:endParaRPr lang="en-US" altLang="zh-CN"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63</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1642733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77</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27830709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84</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64924789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618173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420492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92</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3321826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20FB34-A19C-4EC3-A31A-87D7C89C8626}" type="slidenum">
              <a:rPr lang="en-US" altLang="zh-CN" smtClean="0"/>
              <a:pPr>
                <a:spcBef>
                  <a:spcPct val="0"/>
                </a:spcBef>
              </a:pPr>
              <a:t>97</a:t>
            </a:fld>
            <a:endParaRPr lang="en-US" altLang="zh-CN"/>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ndParaRPr>
          </a:p>
        </p:txBody>
      </p:sp>
    </p:spTree>
    <p:extLst>
      <p:ext uri="{BB962C8B-B14F-4D97-AF65-F5344CB8AC3E}">
        <p14:creationId xmlns:p14="http://schemas.microsoft.com/office/powerpoint/2010/main" val="21136465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8" descr="index_07"/>
          <p:cNvPicPr>
            <a:picLocks noChangeAspect="1"/>
          </p:cNvPicPr>
          <p:nvPr userDrawn="1"/>
        </p:nvPicPr>
        <p:blipFill>
          <a:blip r:embed="rId3"/>
          <a:stretch>
            <a:fillRect/>
          </a:stretch>
        </p:blipFill>
        <p:spPr>
          <a:xfrm>
            <a:off x="0" y="6381750"/>
            <a:ext cx="8243888" cy="476250"/>
          </a:xfrm>
          <a:prstGeom prst="rect">
            <a:avLst/>
          </a:prstGeom>
          <a:noFill/>
          <a:ln w="9525">
            <a:noFill/>
          </a:ln>
        </p:spPr>
      </p:pic>
      <p:pic>
        <p:nvPicPr>
          <p:cNvPr id="2051" name="Picture 9" descr="200311_3"/>
          <p:cNvPicPr>
            <a:picLocks noChangeAspect="1"/>
          </p:cNvPicPr>
          <p:nvPr userDrawn="1"/>
        </p:nvPicPr>
        <p:blipFill>
          <a:blip r:embed="rId4"/>
          <a:stretch>
            <a:fillRect/>
          </a:stretch>
        </p:blipFill>
        <p:spPr>
          <a:xfrm>
            <a:off x="7308850" y="6381750"/>
            <a:ext cx="1800225" cy="476250"/>
          </a:xfrm>
          <a:prstGeom prst="rect">
            <a:avLst/>
          </a:prstGeom>
          <a:noFill/>
          <a:ln w="9525">
            <a:noFill/>
          </a:ln>
        </p:spPr>
      </p:pic>
      <p:sp>
        <p:nvSpPr>
          <p:cNvPr id="9" name="Rectangle 10"/>
          <p:cNvSpPr>
            <a:spLocks noChangeArrowheads="1"/>
          </p:cNvSpPr>
          <p:nvPr/>
        </p:nvSpPr>
        <p:spPr bwMode="auto">
          <a:xfrm>
            <a:off x="3492500" y="6381750"/>
            <a:ext cx="38163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207874" name="Rectangle 2"/>
          <p:cNvSpPr>
            <a:spLocks noGrp="1" noChangeArrowheads="1"/>
          </p:cNvSpPr>
          <p:nvPr>
            <p:ph type="ctrTitle"/>
          </p:nvPr>
        </p:nvSpPr>
        <p:spPr>
          <a:xfrm>
            <a:off x="685800" y="2130425"/>
            <a:ext cx="7772400" cy="1470025"/>
          </a:xfrm>
        </p:spPr>
        <p:txBody>
          <a:bodyPr/>
          <a:lstStyle>
            <a:lvl1pPr>
              <a:defRPr>
                <a:solidFill>
                  <a:srgbClr val="0066CC"/>
                </a:solidFill>
                <a:latin typeface="Times New Roman" panose="02020603050405020304" pitchFamily="18" charset="0"/>
              </a:defRPr>
            </a:lvl1pPr>
          </a:lstStyle>
          <a:p>
            <a:r>
              <a:rPr lang="zh-CN" altLang="en-US"/>
              <a:t>单击此处编辑母版标题样式</a:t>
            </a:r>
          </a:p>
        </p:txBody>
      </p:sp>
      <p:sp>
        <p:nvSpPr>
          <p:cNvPr id="207875" name="Rectangle 3"/>
          <p:cNvSpPr>
            <a:spLocks noGrp="1" noChangeArrowheads="1"/>
          </p:cNvSpPr>
          <p:nvPr>
            <p:ph type="subTitle" idx="1"/>
          </p:nvPr>
        </p:nvSpPr>
        <p:spPr>
          <a:xfrm>
            <a:off x="1371600" y="3886200"/>
            <a:ext cx="6400800" cy="1752600"/>
          </a:xfrm>
        </p:spPr>
        <p:txBody>
          <a:bodyPr/>
          <a:lstStyle>
            <a:lvl1pPr marL="0" indent="0" algn="ctr">
              <a:buFontTx/>
              <a:buNone/>
              <a:defRPr>
                <a:solidFill>
                  <a:schemeClr val="hlink"/>
                </a:solidFill>
              </a:defRPr>
            </a:lvl1pPr>
          </a:lstStyle>
          <a:p>
            <a:r>
              <a:rPr lang="zh-CN" altLang="en-US"/>
              <a:t>单击此处编辑母版副标题样式</a:t>
            </a:r>
          </a:p>
        </p:txBody>
      </p:sp>
      <p:sp>
        <p:nvSpPr>
          <p:cNvPr id="10" name="Rectangle 6"/>
          <p:cNvSpPr>
            <a:spLocks noGrp="1" noChangeArrowheads="1"/>
          </p:cNvSpPr>
          <p:nvPr>
            <p:ph type="sldNum" sz="quarter" idx="4"/>
          </p:nvPr>
        </p:nvSpPr>
        <p:spPr bwMode="auto">
          <a:xfrm>
            <a:off x="6902450" y="6245225"/>
            <a:ext cx="2133600" cy="476250"/>
          </a:xfrm>
          <a:prstGeom prst="rect">
            <a:avLst/>
          </a:prstGeom>
          <a:ln>
            <a:miter lim="800000"/>
          </a:ln>
        </p:spPr>
        <p:txBody>
          <a:bodyPr vert="horz" wrap="square" lIns="91440" tIns="45720" rIns="91440" bIns="45720" numCol="1" anchor="t" anchorCtr="0" compatLnSpc="1"/>
          <a:lstStyle>
            <a:lvl1pPr>
              <a:defRPr sz="1800"/>
            </a:lvl1pPr>
          </a:lstStyle>
          <a:p>
            <a:pPr marL="0" marR="0" lvl="0" indent="0" algn="r" defTabSz="914400" rtl="0" eaLnBrk="1" fontAlgn="base" latinLnBrk="0" hangingPunct="1">
              <a:lnSpc>
                <a:spcPct val="100000"/>
              </a:lnSpc>
              <a:spcBef>
                <a:spcPct val="0"/>
              </a:spcBef>
              <a:spcAft>
                <a:spcPct val="0"/>
              </a:spcAft>
              <a:buClrTx/>
              <a:buSzTx/>
              <a:buFontTx/>
              <a:buNone/>
              <a:defRPr/>
            </a:pPr>
            <a:fld id="{88AB8731-698A-4D1D-A4FF-4CD171FBD58D}" type="slidenum">
              <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00113" y="1268413"/>
            <a:ext cx="381635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accent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269875"/>
            <a:ext cx="1966913" cy="55245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79475" y="269875"/>
            <a:ext cx="5749925" cy="55245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868863" y="1268413"/>
            <a:ext cx="3817937" cy="2185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868863" y="3606800"/>
            <a:ext cx="3817937"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文本占位符 2"/>
          <p:cNvSpPr>
            <a:spLocks noGrp="1"/>
          </p:cNvSpPr>
          <p:nvPr>
            <p:ph type="body" sz="half" idx="1"/>
          </p:nvPr>
        </p:nvSpPr>
        <p:spPr>
          <a:xfrm>
            <a:off x="900113" y="1268413"/>
            <a:ext cx="3816350"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68863" y="1268413"/>
            <a:ext cx="3817937" cy="4525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79475" y="269875"/>
            <a:ext cx="7869238" cy="927100"/>
          </a:xfrm>
        </p:spPr>
        <p:txBody>
          <a:bodyPr/>
          <a:lstStyle/>
          <a:p>
            <a:r>
              <a:rPr lang="zh-CN" altLang="en-US"/>
              <a:t>单击此处编辑母版标题样式</a:t>
            </a:r>
          </a:p>
        </p:txBody>
      </p:sp>
      <p:sp>
        <p:nvSpPr>
          <p:cNvPr id="3" name="表格占位符 2"/>
          <p:cNvSpPr>
            <a:spLocks noGrp="1"/>
          </p:cNvSpPr>
          <p:nvPr>
            <p:ph type="tbl" idx="1"/>
          </p:nvPr>
        </p:nvSpPr>
        <p:spPr>
          <a:xfrm>
            <a:off x="900113" y="1268413"/>
            <a:ext cx="7786687" cy="4525962"/>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a:ln>
                <a:noFill/>
              </a:ln>
              <a:solidFill>
                <a:schemeClr val="accent2"/>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6"/>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879475" y="269875"/>
            <a:ext cx="7869238" cy="9271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p:cNvSpPr>
          <p:nvPr>
            <p:ph type="body" idx="1"/>
          </p:nvPr>
        </p:nvSpPr>
        <p:spPr>
          <a:xfrm>
            <a:off x="900113" y="1268413"/>
            <a:ext cx="7786687" cy="45259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206852" name="Rectangle 4"/>
          <p:cNvSpPr>
            <a:spLocks noGrp="1" noChangeArrowheads="1"/>
          </p:cNvSpPr>
          <p:nvPr>
            <p:ph type="dt" sz="half" idx="2"/>
          </p:nvPr>
        </p:nvSpPr>
        <p:spPr bwMode="auto">
          <a:xfrm>
            <a:off x="10795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853" name="Rectangle 5"/>
          <p:cNvSpPr>
            <a:spLocks noGrp="1" noChangeArrowheads="1"/>
          </p:cNvSpPr>
          <p:nvPr>
            <p:ph type="ftr" sz="quarter" idx="3"/>
          </p:nvPr>
        </p:nvSpPr>
        <p:spPr bwMode="auto">
          <a:xfrm>
            <a:off x="1763713" y="6245225"/>
            <a:ext cx="5184775"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Algorithms Design Techniques and Analysis</a:t>
            </a:r>
          </a:p>
        </p:txBody>
      </p:sp>
      <p:sp>
        <p:nvSpPr>
          <p:cNvPr id="206854" name="Rectangle 6"/>
          <p:cNvSpPr>
            <a:spLocks noGrp="1" noChangeArrowheads="1"/>
          </p:cNvSpPr>
          <p:nvPr>
            <p:ph type="sldNum" sz="quarter" idx="4"/>
          </p:nvPr>
        </p:nvSpPr>
        <p:spPr bwMode="auto">
          <a:xfrm>
            <a:off x="6831013"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C0E82DCE-4DC4-4881-95CC-A233D1E5EE55}"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p:txStyles>
    <p:title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4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audio" Target="../media/audio2.wav"/><Relationship Id="rId7"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4.wmf"/><Relationship Id="rId10" Type="http://schemas.openxmlformats.org/officeDocument/2006/relationships/image" Target="../media/image7.GIF"/><Relationship Id="rId4" Type="http://schemas.openxmlformats.org/officeDocument/2006/relationships/oleObject" Target="../embeddings/oleObject1.bin"/><Relationship Id="rId9" Type="http://schemas.openxmlformats.org/officeDocument/2006/relationships/image" Target="../media/image6.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audio" Target="../media/audio2.wav"/><Relationship Id="rId7" Type="http://schemas.openxmlformats.org/officeDocument/2006/relationships/image" Target="../media/image9.wmf"/><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oleObject" Target="../embeddings/oleObject5.bin"/><Relationship Id="rId11" Type="http://schemas.openxmlformats.org/officeDocument/2006/relationships/image" Target="../media/image11.png"/><Relationship Id="rId5" Type="http://schemas.openxmlformats.org/officeDocument/2006/relationships/image" Target="../media/image8.wmf"/><Relationship Id="rId10" Type="http://schemas.openxmlformats.org/officeDocument/2006/relationships/image" Target="../media/image7.GIF"/><Relationship Id="rId4" Type="http://schemas.openxmlformats.org/officeDocument/2006/relationships/oleObject" Target="../embeddings/oleObject4.bin"/><Relationship Id="rId9" Type="http://schemas.openxmlformats.org/officeDocument/2006/relationships/image" Target="../media/image10.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2.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5.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GIF"/><Relationship Id="rId7" Type="http://schemas.openxmlformats.org/officeDocument/2006/relationships/image" Target="../media/image18.w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7.wmf"/><Relationship Id="rId4"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7.GI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9.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9.wmf"/><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26.wmf"/><Relationship Id="rId11" Type="http://schemas.openxmlformats.org/officeDocument/2006/relationships/oleObject" Target="../embeddings/oleObject20.bin"/><Relationship Id="rId5" Type="http://schemas.openxmlformats.org/officeDocument/2006/relationships/oleObject" Target="../embeddings/oleObject17.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19.bin"/></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31.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51.xml"/><Relationship Id="rId1" Type="http://schemas.openxmlformats.org/officeDocument/2006/relationships/slideLayout" Target="../slideLayouts/slideLayout12.xml"/><Relationship Id="rId6" Type="http://schemas.openxmlformats.org/officeDocument/2006/relationships/image" Target="../media/image33.wmf"/><Relationship Id="rId5" Type="http://schemas.openxmlformats.org/officeDocument/2006/relationships/oleObject" Target="../embeddings/oleObject24.bin"/><Relationship Id="rId4" Type="http://schemas.openxmlformats.org/officeDocument/2006/relationships/image" Target="../media/image32.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34.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26.bin"/><Relationship Id="rId1" Type="http://schemas.openxmlformats.org/officeDocument/2006/relationships/slideLayout" Target="../slideLayouts/slideLayout7.xml"/><Relationship Id="rId5" Type="http://schemas.openxmlformats.org/officeDocument/2006/relationships/image" Target="../media/image37.wmf"/><Relationship Id="rId4" Type="http://schemas.openxmlformats.org/officeDocument/2006/relationships/oleObject" Target="../embeddings/oleObject27.bin"/></Relationships>
</file>

<file path=ppt/slides/_rels/slide67.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28.bin"/><Relationship Id="rId1" Type="http://schemas.openxmlformats.org/officeDocument/2006/relationships/slideLayout" Target="../slideLayouts/slideLayout7.xml"/><Relationship Id="rId5" Type="http://schemas.openxmlformats.org/officeDocument/2006/relationships/image" Target="../media/image18.wmf"/><Relationship Id="rId4" Type="http://schemas.openxmlformats.org/officeDocument/2006/relationships/oleObject" Target="../embeddings/oleObject29.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image" Target="../media/image58.wmf"/><Relationship Id="rId3" Type="http://schemas.openxmlformats.org/officeDocument/2006/relationships/image" Target="../media/image48.wmf"/><Relationship Id="rId7" Type="http://schemas.openxmlformats.org/officeDocument/2006/relationships/image" Target="../media/image52.wmf"/><Relationship Id="rId12" Type="http://schemas.openxmlformats.org/officeDocument/2006/relationships/image" Target="../media/image57.wmf"/><Relationship Id="rId2" Type="http://schemas.openxmlformats.org/officeDocument/2006/relationships/image" Target="../media/image47.wmf"/><Relationship Id="rId1" Type="http://schemas.openxmlformats.org/officeDocument/2006/relationships/slideLayout" Target="../slideLayouts/slideLayout2.xml"/><Relationship Id="rId6" Type="http://schemas.openxmlformats.org/officeDocument/2006/relationships/image" Target="../media/image51.wmf"/><Relationship Id="rId11" Type="http://schemas.openxmlformats.org/officeDocument/2006/relationships/image" Target="../media/image56.wmf"/><Relationship Id="rId5" Type="http://schemas.openxmlformats.org/officeDocument/2006/relationships/image" Target="../media/image50.wmf"/><Relationship Id="rId10" Type="http://schemas.openxmlformats.org/officeDocument/2006/relationships/image" Target="../media/image55.wmf"/><Relationship Id="rId4" Type="http://schemas.openxmlformats.org/officeDocument/2006/relationships/image" Target="../media/image49.wmf"/><Relationship Id="rId9" Type="http://schemas.openxmlformats.org/officeDocument/2006/relationships/image" Target="../media/image54.w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8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8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9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9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ctrTitle"/>
          </p:nvPr>
        </p:nvSpPr>
        <p:spPr>
          <a:xfrm>
            <a:off x="1475656" y="1628800"/>
            <a:ext cx="6157913" cy="1470025"/>
          </a:xfrm>
        </p:spPr>
        <p:txBody>
          <a:bodyPr vert="horz" wrap="square" lIns="91440" tIns="45720" rIns="91440" bIns="45720" anchor="ctr" anchorCtr="0"/>
          <a:lstStyle/>
          <a:p>
            <a:pPr algn="ctr" eaLnBrk="1" hangingPunct="1">
              <a:buClrTx/>
              <a:buSzTx/>
              <a:buFontTx/>
            </a:pPr>
            <a:r>
              <a:rPr lang="zh-CN" altLang="en-US" dirty="0">
                <a:solidFill>
                  <a:schemeClr val="accent2"/>
                </a:solidFill>
                <a:latin typeface="Times New Roman" panose="02020603050405020304" pitchFamily="18" charset="0"/>
                <a:ea typeface="+mj-ea"/>
                <a:cs typeface="+mj-cs"/>
              </a:rPr>
              <a:t>第</a:t>
            </a:r>
            <a:r>
              <a:rPr lang="en-US" altLang="zh-CN" dirty="0">
                <a:solidFill>
                  <a:schemeClr val="accent2"/>
                </a:solidFill>
                <a:latin typeface="Times New Roman" panose="02020603050405020304" pitchFamily="18" charset="0"/>
                <a:ea typeface="+mj-ea"/>
                <a:cs typeface="+mj-cs"/>
              </a:rPr>
              <a:t>4</a:t>
            </a:r>
            <a:r>
              <a:rPr lang="zh-CN" altLang="en-US" dirty="0">
                <a:solidFill>
                  <a:schemeClr val="accent2"/>
                </a:solidFill>
                <a:latin typeface="Times New Roman" panose="02020603050405020304" pitchFamily="18" charset="0"/>
                <a:ea typeface="+mj-ea"/>
                <a:cs typeface="+mj-cs"/>
              </a:rPr>
              <a:t>讲</a:t>
            </a:r>
            <a:r>
              <a:rPr lang="en-US" altLang="zh-CN" sz="2800" dirty="0">
                <a:solidFill>
                  <a:srgbClr val="0066CC"/>
                </a:solidFill>
                <a:latin typeface="Times New Roman" panose="02020603050405020304" pitchFamily="18" charset="0"/>
                <a:ea typeface="+mj-ea"/>
                <a:cs typeface="+mj-cs"/>
              </a:rPr>
              <a:t> </a:t>
            </a:r>
          </a:p>
        </p:txBody>
      </p:sp>
      <p:sp>
        <p:nvSpPr>
          <p:cNvPr id="4099" name="Rectangle 3"/>
          <p:cNvSpPr>
            <a:spLocks noGrp="1"/>
          </p:cNvSpPr>
          <p:nvPr>
            <p:ph type="subTitle" idx="1"/>
          </p:nvPr>
        </p:nvSpPr>
        <p:spPr>
          <a:xfrm>
            <a:off x="935037" y="3284984"/>
            <a:ext cx="7273925" cy="1752600"/>
          </a:xfrm>
        </p:spPr>
        <p:txBody>
          <a:bodyPr vert="horz" wrap="square" lIns="91440" tIns="45720" rIns="91440" bIns="45720" anchor="t" anchorCtr="0"/>
          <a:lstStyle/>
          <a:p>
            <a:pPr eaLnBrk="1" hangingPunct="1">
              <a:buClrTx/>
              <a:buSzTx/>
            </a:pPr>
            <a:r>
              <a:rPr lang="zh-CN" altLang="en-US" sz="2900" dirty="0">
                <a:latin typeface="+mn-lt"/>
                <a:ea typeface="+mn-ea"/>
                <a:cs typeface="+mn-cs"/>
              </a:rPr>
              <a:t>动态规划</a:t>
            </a:r>
            <a:endParaRPr lang="en-US" altLang="zh-CN" sz="2900" dirty="0">
              <a:latin typeface="+mn-lt"/>
              <a:ea typeface="+mn-ea"/>
              <a:cs typeface="+mn-cs"/>
            </a:endParaRPr>
          </a:p>
          <a:p>
            <a:pPr eaLnBrk="1" hangingPunct="1">
              <a:buClrTx/>
              <a:buSzTx/>
            </a:pPr>
            <a:r>
              <a:rPr lang="en-US" altLang="zh-CN" sz="1400" dirty="0">
                <a:latin typeface="+mn-lt"/>
                <a:ea typeface="+mn-ea"/>
                <a:cs typeface="+mn-cs"/>
              </a:rPr>
              <a:t>          </a:t>
            </a:r>
          </a:p>
          <a:p>
            <a:pPr eaLnBrk="1" hangingPunct="1">
              <a:buClrTx/>
              <a:buSzTx/>
            </a:pPr>
            <a:r>
              <a:rPr lang="en-US" altLang="zh-CN" sz="2300" dirty="0">
                <a:latin typeface="Garamond" panose="02020404030301010803" pitchFamily="18" charset="0"/>
                <a:ea typeface="华文行楷" panose="02010800040101010101" pitchFamily="2" charset="-122"/>
                <a:cs typeface="+mn-cs"/>
              </a:rPr>
              <a:t>—A powerful method for combinatorial problems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1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1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6149" name="Rectangle 2"/>
          <p:cNvSpPr>
            <a:spLocks noGrp="1"/>
          </p:cNvSpPr>
          <p:nvPr>
            <p:ph type="title"/>
          </p:nvPr>
        </p:nvSpPr>
        <p:spPr/>
        <p:txBody>
          <a:bodyPr vert="horz" wrap="square" lIns="91440" tIns="45720" rIns="91440" bIns="45720" anchor="ctr" anchorCtr="0"/>
          <a:lstStyle/>
          <a:p>
            <a:pPr eaLnBrk="1" hangingPunct="1"/>
            <a:r>
              <a:rPr lang="zh-CN" altLang="en-US" b="0" dirty="0"/>
              <a:t>主要内容</a:t>
            </a:r>
            <a:endParaRPr lang="en-US" altLang="zh-CN" b="0" dirty="0"/>
          </a:p>
        </p:txBody>
      </p:sp>
      <p:sp>
        <p:nvSpPr>
          <p:cNvPr id="218115" name="Rectangle 3"/>
          <p:cNvSpPr>
            <a:spLocks noGrp="1" noChangeArrowheads="1"/>
          </p:cNvSpPr>
          <p:nvPr>
            <p:ph idx="1"/>
          </p:nvPr>
        </p:nvSpPr>
        <p:spPr>
          <a:xfrm>
            <a:off x="971600" y="1700808"/>
            <a:ext cx="8172400" cy="403244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b="1" i="0" u="sng" strike="noStrike" kern="0" cap="none" spc="0" normalizeH="0" baseline="0" noProof="0" dirty="0">
                <a:ln>
                  <a:noFill/>
                </a:ln>
                <a:solidFill>
                  <a:schemeClr val="accent2"/>
                </a:solidFill>
                <a:effectLst/>
                <a:uLnTx/>
                <a:uFillTx/>
                <a:latin typeface="+mn-ea"/>
              </a:rPr>
              <a:t>4.1 </a:t>
            </a:r>
            <a:r>
              <a:rPr kumimoji="0" lang="zh-CN" altLang="en-US" b="1" i="0" u="sng" strike="noStrike" kern="0" cap="none" spc="0" normalizeH="0" baseline="0" noProof="0" dirty="0">
                <a:ln>
                  <a:noFill/>
                </a:ln>
                <a:solidFill>
                  <a:schemeClr val="accent2"/>
                </a:solidFill>
                <a:effectLst/>
                <a:uLnTx/>
                <a:uFillTx/>
                <a:latin typeface="+mn-ea"/>
              </a:rPr>
              <a:t>引言</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b="0" i="0" u="none" strike="noStrike" kern="0" cap="none" spc="0" normalizeH="0" baseline="0" noProof="0" dirty="0">
                <a:ln>
                  <a:noFill/>
                </a:ln>
                <a:solidFill>
                  <a:schemeClr val="accent2"/>
                </a:solidFill>
                <a:effectLst/>
                <a:uLnTx/>
                <a:uFillTx/>
                <a:latin typeface="+mn-ea"/>
              </a:rPr>
              <a:t>4.2 </a:t>
            </a:r>
            <a:r>
              <a:rPr kumimoji="0" lang="zh-CN" altLang="en-US" b="0" i="0" u="none" strike="noStrike" kern="0" cap="none" spc="0" normalizeH="0" baseline="0" noProof="0" dirty="0">
                <a:ln>
                  <a:noFill/>
                </a:ln>
                <a:solidFill>
                  <a:schemeClr val="accent2"/>
                </a:solidFill>
                <a:effectLst/>
                <a:uLnTx/>
                <a:uFillTx/>
                <a:latin typeface="+mn-ea"/>
              </a:rPr>
              <a:t>动态规划策略的算法设计思想及分析方法</a:t>
            </a:r>
            <a:endParaRPr kumimoji="0" lang="en-US" altLang="zh-CN" b="0" i="0" u="none" strike="noStrike" kern="0" cap="none" spc="0" normalizeH="0" baseline="0" noProof="0" dirty="0">
              <a:ln>
                <a:noFill/>
              </a:ln>
              <a:solidFill>
                <a:schemeClr val="accent2"/>
              </a:solidFill>
              <a:effectLst/>
              <a:uLnTx/>
              <a:uFillTx/>
              <a:latin typeface="+mn-ea"/>
            </a:endParaRPr>
          </a:p>
          <a:p>
            <a:pPr>
              <a:defRPr/>
            </a:pPr>
            <a:r>
              <a:rPr lang="en-US" altLang="zh-CN" dirty="0">
                <a:latin typeface="+mn-ea"/>
              </a:rPr>
              <a:t>4.3 </a:t>
            </a:r>
            <a:r>
              <a:rPr lang="zh-CN" altLang="en-US" dirty="0">
                <a:latin typeface="+mn-ea"/>
              </a:rPr>
              <a:t>动态规划策略的经典应用（可选讲部分）</a:t>
            </a:r>
          </a:p>
          <a:p>
            <a:pPr marL="0" marR="0" lvl="0" indent="0" algn="l" defTabSz="914400" rtl="0" eaLnBrk="0" fontAlgn="base" latinLnBrk="0" hangingPunct="0">
              <a:lnSpc>
                <a:spcPct val="100000"/>
              </a:lnSpc>
              <a:spcBef>
                <a:spcPct val="20000"/>
              </a:spcBef>
              <a:spcAft>
                <a:spcPct val="0"/>
              </a:spcAft>
              <a:buClrTx/>
              <a:buSzTx/>
              <a:buNone/>
              <a:defRPr/>
            </a:pPr>
            <a:endParaRPr kumimoji="0" lang="zh-CN" altLang="en-US" b="0" i="0" u="none" strike="noStrike" kern="0" cap="none" spc="0" normalizeH="0" baseline="0" noProof="0" dirty="0">
              <a:ln>
                <a:noFill/>
              </a:ln>
              <a:solidFill>
                <a:schemeClr val="accent2"/>
              </a:solidFill>
              <a:effectLst/>
              <a:uLnTx/>
              <a:uFillTx/>
              <a:latin typeface="+mn-ea"/>
            </a:endParaRPr>
          </a:p>
        </p:txBody>
      </p:sp>
    </p:spTree>
    <p:extLst>
      <p:ext uri="{BB962C8B-B14F-4D97-AF65-F5344CB8AC3E}">
        <p14:creationId xmlns:p14="http://schemas.microsoft.com/office/powerpoint/2010/main" val="83485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0" end="0"/>
                                            </p:txEl>
                                          </p:spTgt>
                                        </p:tgtEl>
                                        <p:attrNameLst>
                                          <p:attrName>ppt_c</p:attrName>
                                        </p:attrNameLst>
                                      </p:cBhvr>
                                      <p:to>
                                        <a:schemeClr val="bg2"/>
                                      </p:to>
                                    </p:animClr>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18115">
                                            <p:txEl>
                                              <p:pRg st="1" end="1"/>
                                            </p:txEl>
                                          </p:spTgt>
                                        </p:tgtEl>
                                        <p:attrNameLst>
                                          <p:attrName>style.visibility</p:attrName>
                                        </p:attrNameLst>
                                      </p:cBhvr>
                                      <p:to>
                                        <p:strVal val="visible"/>
                                      </p:to>
                                    </p:set>
                                    <p:anim calcmode="lin" valueType="num">
                                      <p:cBhvr additive="base">
                                        <p:cTn id="13" dur="500" fill="hold"/>
                                        <p:tgtEl>
                                          <p:spTgt spid="218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811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1" end="1"/>
                                            </p:txEl>
                                          </p:spTgt>
                                        </p:tgtEl>
                                        <p:attrNameLst>
                                          <p:attrName>ppt_c</p:attrName>
                                        </p:attrNameLst>
                                      </p:cBhvr>
                                      <p:to>
                                        <a:schemeClr val="bg2"/>
                                      </p:to>
                                    </p:animClr>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218115">
                                            <p:txEl>
                                              <p:pRg st="2" end="2"/>
                                            </p:txEl>
                                          </p:spTgt>
                                        </p:tgtEl>
                                        <p:attrNameLst>
                                          <p:attrName>style.visibility</p:attrName>
                                        </p:attrNameLst>
                                      </p:cBhvr>
                                      <p:to>
                                        <p:strVal val="visible"/>
                                      </p:to>
                                    </p:set>
                                    <p:anim calcmode="lin" valueType="num">
                                      <p:cBhvr additive="base">
                                        <p:cTn id="19" dur="500" fill="hold"/>
                                        <p:tgtEl>
                                          <p:spTgt spid="218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811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2" end="2"/>
                                            </p:txEl>
                                          </p:spTgt>
                                        </p:tgtEl>
                                        <p:attrNameLst>
                                          <p:attrName>ppt_c</p:attrName>
                                        </p:attrNameLst>
                                      </p:cBhvr>
                                      <p:to>
                                        <a:schemeClr val="bg2"/>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1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1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3</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6149" name="Rectangle 2"/>
          <p:cNvSpPr>
            <a:spLocks noGrp="1"/>
          </p:cNvSpPr>
          <p:nvPr>
            <p:ph type="title"/>
          </p:nvPr>
        </p:nvSpPr>
        <p:spPr/>
        <p:txBody>
          <a:bodyPr vert="horz" wrap="square" lIns="91440" tIns="45720" rIns="91440" bIns="45720" anchor="ctr" anchorCtr="0"/>
          <a:lstStyle/>
          <a:p>
            <a:pPr eaLnBrk="1" hangingPunct="1"/>
            <a:r>
              <a:rPr lang="zh-CN" altLang="en-US" b="0" dirty="0"/>
              <a:t>主要内容</a:t>
            </a:r>
            <a:endParaRPr lang="en-US" altLang="zh-CN" b="0" dirty="0"/>
          </a:p>
        </p:txBody>
      </p:sp>
      <p:sp>
        <p:nvSpPr>
          <p:cNvPr id="218115" name="Rectangle 3"/>
          <p:cNvSpPr>
            <a:spLocks noGrp="1" noChangeArrowheads="1"/>
          </p:cNvSpPr>
          <p:nvPr>
            <p:ph idx="1"/>
          </p:nvPr>
        </p:nvSpPr>
        <p:spPr>
          <a:xfrm>
            <a:off x="971600" y="1268760"/>
            <a:ext cx="8172400" cy="4464496"/>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None/>
              <a:defRPr/>
            </a:pPr>
            <a:r>
              <a:rPr kumimoji="0" lang="en-US" altLang="zh-CN" i="0" strike="noStrike" kern="0" cap="none" spc="0" normalizeH="0" baseline="0" noProof="0" dirty="0">
                <a:ln>
                  <a:noFill/>
                </a:ln>
                <a:solidFill>
                  <a:schemeClr val="accent2"/>
                </a:solidFill>
                <a:effectLst/>
                <a:uLnTx/>
                <a:uFillTx/>
                <a:latin typeface="+mn-ea"/>
              </a:rPr>
              <a:t>4.1 </a:t>
            </a:r>
            <a:r>
              <a:rPr kumimoji="0" lang="zh-CN" altLang="en-US" i="0" strike="noStrike" kern="0" cap="none" spc="0" normalizeH="0" baseline="0" noProof="0" dirty="0">
                <a:ln>
                  <a:noFill/>
                </a:ln>
                <a:solidFill>
                  <a:schemeClr val="accent2"/>
                </a:solidFill>
                <a:effectLst/>
                <a:uLnTx/>
                <a:uFillTx/>
                <a:latin typeface="+mn-ea"/>
              </a:rPr>
              <a:t>引言</a:t>
            </a:r>
            <a:endParaRPr kumimoji="0" lang="en-US" altLang="zh-CN" i="0" strike="noStrike" kern="0" cap="none" spc="0" normalizeH="0" baseline="0" noProof="0" dirty="0">
              <a:ln>
                <a:noFill/>
              </a:ln>
              <a:solidFill>
                <a:schemeClr val="accent2"/>
              </a:solidFill>
              <a:effectLst/>
              <a:uLnTx/>
              <a:uFillTx/>
              <a:latin typeface="+mn-ea"/>
            </a:endParaRPr>
          </a:p>
          <a:p>
            <a:pPr marL="400050" lvl="1" indent="0">
              <a:buNone/>
              <a:defRPr/>
            </a:pPr>
            <a:r>
              <a:rPr lang="en-US" altLang="zh-CN" dirty="0">
                <a:latin typeface="+mn-ea"/>
                <a:ea typeface="+mn-ea"/>
              </a:rPr>
              <a:t>4.1.1</a:t>
            </a:r>
            <a:r>
              <a:rPr lang="zh-CN" altLang="en-US" dirty="0">
                <a:latin typeface="+mn-ea"/>
                <a:ea typeface="+mn-ea"/>
              </a:rPr>
              <a:t> 递归表达式的归纳求解与迭代求解方法的复杂度对比分析（斐波那契序列、二项式系数）</a:t>
            </a:r>
          </a:p>
          <a:p>
            <a:pPr marL="0" lvl="1" indent="419100" eaLnBrk="1" hangingPunct="1">
              <a:buNone/>
              <a:defRPr/>
            </a:pPr>
            <a:r>
              <a:rPr lang="en-US" altLang="zh-CN" sz="2400" dirty="0">
                <a:latin typeface="+mn-ea"/>
                <a:ea typeface="+mn-ea"/>
              </a:rPr>
              <a:t>4.1.2 </a:t>
            </a:r>
            <a:r>
              <a:rPr lang="zh-CN" altLang="en-US" sz="2400" dirty="0">
                <a:latin typeface="+mn-ea"/>
                <a:ea typeface="+mn-ea"/>
              </a:rPr>
              <a:t>最优化问题</a:t>
            </a:r>
            <a:endParaRPr lang="en-US" altLang="zh-CN" sz="2400" dirty="0">
              <a:latin typeface="+mn-ea"/>
              <a:ea typeface="+mn-ea"/>
            </a:endParaRPr>
          </a:p>
          <a:p>
            <a:pPr marL="400050" lvl="1" indent="19050" eaLnBrk="1" hangingPunct="1">
              <a:buNone/>
              <a:defRPr/>
            </a:pPr>
            <a:r>
              <a:rPr lang="en-US" altLang="zh-CN" sz="2400" dirty="0">
                <a:latin typeface="+mn-ea"/>
                <a:ea typeface="+mn-ea"/>
              </a:rPr>
              <a:t>4.1.3 </a:t>
            </a:r>
            <a:r>
              <a:rPr lang="zh-CN" altLang="en-US" sz="2400" dirty="0">
                <a:latin typeface="+mn-ea"/>
                <a:ea typeface="+mn-ea"/>
              </a:rPr>
              <a:t>简单问题例的算法描述（矩阵链乘法、最长公共子序列）</a:t>
            </a:r>
          </a:p>
          <a:p>
            <a:pPr marL="0" lvl="1" indent="419100" eaLnBrk="1" hangingPunct="1">
              <a:buNone/>
              <a:defRPr/>
            </a:pPr>
            <a:r>
              <a:rPr lang="en-US" altLang="zh-CN" sz="2400" dirty="0">
                <a:latin typeface="+mn-ea"/>
                <a:ea typeface="+mn-ea"/>
              </a:rPr>
              <a:t>4.1.4 </a:t>
            </a:r>
            <a:r>
              <a:rPr lang="zh-CN" altLang="en-US" sz="2400" dirty="0">
                <a:latin typeface="+mn-ea"/>
                <a:ea typeface="+mn-ea"/>
              </a:rPr>
              <a:t>简单问题例算法的分析</a:t>
            </a:r>
          </a:p>
          <a:p>
            <a:pPr marL="0" marR="0" lvl="0" indent="0" algn="l" defTabSz="914400" rtl="0" eaLnBrk="0" fontAlgn="base" latinLnBrk="0" hangingPunct="0">
              <a:lnSpc>
                <a:spcPct val="100000"/>
              </a:lnSpc>
              <a:spcBef>
                <a:spcPct val="20000"/>
              </a:spcBef>
              <a:spcAft>
                <a:spcPct val="0"/>
              </a:spcAft>
              <a:buClrTx/>
              <a:buSzTx/>
              <a:buNone/>
              <a:defRPr/>
            </a:pPr>
            <a:endParaRPr kumimoji="0" lang="zh-CN" altLang="en-US" b="0" i="0" u="none" strike="noStrike" kern="0" cap="none" spc="0" normalizeH="0" baseline="0" noProof="0" dirty="0">
              <a:ln>
                <a:noFill/>
              </a:ln>
              <a:solidFill>
                <a:schemeClr val="accent2"/>
              </a:solidFill>
              <a:effectLst/>
              <a:uLnTx/>
              <a:uFillTx/>
              <a:latin typeface="+mn-ea"/>
            </a:endParaRPr>
          </a:p>
        </p:txBody>
      </p:sp>
    </p:spTree>
    <p:extLst>
      <p:ext uri="{BB962C8B-B14F-4D97-AF65-F5344CB8AC3E}">
        <p14:creationId xmlns:p14="http://schemas.microsoft.com/office/powerpoint/2010/main" val="191875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0" end="0"/>
                                            </p:txEl>
                                          </p:spTgt>
                                        </p:tgtEl>
                                        <p:attrNameLst>
                                          <p:attrName>ppt_c</p:attrName>
                                        </p:attrNameLst>
                                      </p:cBhvr>
                                      <p:to>
                                        <a:schemeClr val="bg2"/>
                                      </p:to>
                                    </p:animClr>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9" presetID="2" presetClass="entr" presetSubtype="1" fill="hold" grpId="0" nodeType="withEffect">
                                  <p:stCondLst>
                                    <p:cond delay="0"/>
                                  </p:stCondLst>
                                  <p:childTnLst>
                                    <p:set>
                                      <p:cBhvr>
                                        <p:cTn id="10" dur="1" fill="hold">
                                          <p:stCondLst>
                                            <p:cond delay="0"/>
                                          </p:stCondLst>
                                        </p:cTn>
                                        <p:tgtEl>
                                          <p:spTgt spid="218115">
                                            <p:txEl>
                                              <p:pRg st="1" end="1"/>
                                            </p:txEl>
                                          </p:spTgt>
                                        </p:tgtEl>
                                        <p:attrNameLst>
                                          <p:attrName>style.visibility</p:attrName>
                                        </p:attrNameLst>
                                      </p:cBhvr>
                                      <p:to>
                                        <p:strVal val="visible"/>
                                      </p:to>
                                    </p:set>
                                    <p:anim calcmode="lin" valueType="num">
                                      <p:cBhvr additive="base">
                                        <p:cTn id="11" dur="500" fill="hold"/>
                                        <p:tgtEl>
                                          <p:spTgt spid="2181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811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1" end="1"/>
                                            </p:txEl>
                                          </p:spTgt>
                                        </p:tgtEl>
                                        <p:attrNameLst>
                                          <p:attrName>ppt_c</p:attrName>
                                        </p:attrNameLst>
                                      </p:cBhvr>
                                      <p:to>
                                        <a:schemeClr val="bg2"/>
                                      </p:to>
                                    </p:animClr>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3" presetID="2" presetClass="entr" presetSubtype="1" fill="hold" grpId="0" nodeType="withEffect">
                                  <p:stCondLst>
                                    <p:cond delay="0"/>
                                  </p:stCondLst>
                                  <p:childTnLst>
                                    <p:set>
                                      <p:cBhvr>
                                        <p:cTn id="14" dur="1" fill="hold">
                                          <p:stCondLst>
                                            <p:cond delay="0"/>
                                          </p:stCondLst>
                                        </p:cTn>
                                        <p:tgtEl>
                                          <p:spTgt spid="218115">
                                            <p:txEl>
                                              <p:pRg st="2" end="2"/>
                                            </p:txEl>
                                          </p:spTgt>
                                        </p:tgtEl>
                                        <p:attrNameLst>
                                          <p:attrName>style.visibility</p:attrName>
                                        </p:attrNameLst>
                                      </p:cBhvr>
                                      <p:to>
                                        <p:strVal val="visible"/>
                                      </p:to>
                                    </p:set>
                                    <p:anim calcmode="lin" valueType="num">
                                      <p:cBhvr additive="base">
                                        <p:cTn id="15" dur="500" fill="hold"/>
                                        <p:tgtEl>
                                          <p:spTgt spid="21811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811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2" end="2"/>
                                            </p:txEl>
                                          </p:spTgt>
                                        </p:tgtEl>
                                        <p:attrNameLst>
                                          <p:attrName>ppt_c</p:attrName>
                                        </p:attrNameLst>
                                      </p:cBhvr>
                                      <p:to>
                                        <a:schemeClr val="bg2"/>
                                      </p:to>
                                    </p:animClr>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par>
                                <p:cTn id="17" presetID="2" presetClass="entr" presetSubtype="1" fill="hold" grpId="0" nodeType="withEffect">
                                  <p:stCondLst>
                                    <p:cond delay="0"/>
                                  </p:stCondLst>
                                  <p:childTnLst>
                                    <p:set>
                                      <p:cBhvr>
                                        <p:cTn id="18" dur="1" fill="hold">
                                          <p:stCondLst>
                                            <p:cond delay="0"/>
                                          </p:stCondLst>
                                        </p:cTn>
                                        <p:tgtEl>
                                          <p:spTgt spid="218115">
                                            <p:txEl>
                                              <p:pRg st="3" end="3"/>
                                            </p:txEl>
                                          </p:spTgt>
                                        </p:tgtEl>
                                        <p:attrNameLst>
                                          <p:attrName>style.visibility</p:attrName>
                                        </p:attrNameLst>
                                      </p:cBhvr>
                                      <p:to>
                                        <p:strVal val="visible"/>
                                      </p:to>
                                    </p:set>
                                    <p:anim calcmode="lin" valueType="num">
                                      <p:cBhvr additive="base">
                                        <p:cTn id="19" dur="500" fill="hold"/>
                                        <p:tgtEl>
                                          <p:spTgt spid="2181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8115">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3" end="3"/>
                                            </p:txEl>
                                          </p:spTgt>
                                        </p:tgtEl>
                                        <p:attrNameLst>
                                          <p:attrName>ppt_c</p:attrName>
                                        </p:attrNameLst>
                                      </p:cBhvr>
                                      <p:to>
                                        <a:schemeClr val="bg2"/>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par>
                                <p:cTn id="21" presetID="2" presetClass="entr" presetSubtype="1" fill="hold" grpId="0" nodeType="withEffect">
                                  <p:stCondLst>
                                    <p:cond delay="0"/>
                                  </p:stCondLst>
                                  <p:childTnLst>
                                    <p:set>
                                      <p:cBhvr>
                                        <p:cTn id="22" dur="1" fill="hold">
                                          <p:stCondLst>
                                            <p:cond delay="0"/>
                                          </p:stCondLst>
                                        </p:cTn>
                                        <p:tgtEl>
                                          <p:spTgt spid="218115">
                                            <p:txEl>
                                              <p:pRg st="4" end="4"/>
                                            </p:txEl>
                                          </p:spTgt>
                                        </p:tgtEl>
                                        <p:attrNameLst>
                                          <p:attrName>style.visibility</p:attrName>
                                        </p:attrNameLst>
                                      </p:cBhvr>
                                      <p:to>
                                        <p:strVal val="visible"/>
                                      </p:to>
                                    </p:set>
                                    <p:anim calcmode="lin" valueType="num">
                                      <p:cBhvr additive="base">
                                        <p:cTn id="23" dur="500" fill="hold"/>
                                        <p:tgtEl>
                                          <p:spTgt spid="2181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8115">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4" end="4"/>
                                            </p:txEl>
                                          </p:spTgt>
                                        </p:tgtEl>
                                        <p:attrNameLst>
                                          <p:attrName>ppt_c</p:attrName>
                                        </p:attrNameLst>
                                      </p:cBhvr>
                                      <p:to>
                                        <a:schemeClr val="bg2"/>
                                      </p:to>
                                    </p:animClr>
                                    <p:audio>
                                      <p:cMediaNode>
                                        <p:cTn display="0" masterRel="sameClick">
                                          <p:stCondLst>
                                            <p:cond evt="begin" delay="0">
                                              <p:tn val="21"/>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2800" dirty="0">
                <a:latin typeface="+mj-ea"/>
              </a:rPr>
              <a:t>4.1.1</a:t>
            </a:r>
            <a:r>
              <a:rPr lang="zh-CN" altLang="en-US" sz="2800" dirty="0">
                <a:latin typeface="+mj-ea"/>
              </a:rPr>
              <a:t> 递归表达式的归纳求解与迭代求解方法的复杂度对比分析（斐波那契序列、二项式系数）</a:t>
            </a:r>
            <a:endParaRPr lang="en-US" altLang="zh-CN" sz="2800" dirty="0">
              <a:latin typeface="+mj-ea"/>
            </a:endParaRPr>
          </a:p>
        </p:txBody>
      </p:sp>
      <p:sp>
        <p:nvSpPr>
          <p:cNvPr id="5" name="Rectangle 3">
            <a:extLst>
              <a:ext uri="{FF2B5EF4-FFF2-40B4-BE49-F238E27FC236}">
                <a16:creationId xmlns:a16="http://schemas.microsoft.com/office/drawing/2014/main" id="{81D1C304-32AF-AF91-03E6-9D6ACA6F6690}"/>
              </a:ext>
            </a:extLst>
          </p:cNvPr>
          <p:cNvSpPr txBox="1">
            <a:spLocks/>
          </p:cNvSpPr>
          <p:nvPr/>
        </p:nvSpPr>
        <p:spPr>
          <a:xfrm>
            <a:off x="817563" y="1196975"/>
            <a:ext cx="8218487" cy="45656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har char="•"/>
              <a:defRPr sz="24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vl6pPr marL="2514600" indent="-228600" algn="l" rtl="0" fontAlgn="base">
              <a:spcBef>
                <a:spcPct val="20000"/>
              </a:spcBef>
              <a:spcAft>
                <a:spcPct val="0"/>
              </a:spcAft>
              <a:buChar char="•"/>
              <a:defRPr sz="2000">
                <a:solidFill>
                  <a:schemeClr val="tx1"/>
                </a:solidFill>
                <a:latin typeface="Arial" panose="020B0604020202020204" pitchFamily="34" charset="0"/>
                <a:ea typeface="+mj-ea"/>
              </a:defRPr>
            </a:lvl6pPr>
            <a:lvl7pPr marL="2971800" indent="-228600" algn="l" rtl="0" fontAlgn="base">
              <a:spcBef>
                <a:spcPct val="20000"/>
              </a:spcBef>
              <a:spcAft>
                <a:spcPct val="0"/>
              </a:spcAft>
              <a:buChar char="•"/>
              <a:defRPr sz="2000">
                <a:solidFill>
                  <a:schemeClr val="tx1"/>
                </a:solidFill>
                <a:latin typeface="Arial" panose="020B0604020202020204" pitchFamily="34" charset="0"/>
                <a:ea typeface="+mj-ea"/>
              </a:defRPr>
            </a:lvl7pPr>
            <a:lvl8pPr marL="3429000" indent="-228600" algn="l" rtl="0" fontAlgn="base">
              <a:spcBef>
                <a:spcPct val="20000"/>
              </a:spcBef>
              <a:spcAft>
                <a:spcPct val="0"/>
              </a:spcAft>
              <a:buChar char="•"/>
              <a:defRPr sz="2000">
                <a:solidFill>
                  <a:schemeClr val="tx1"/>
                </a:solidFill>
                <a:latin typeface="Arial" panose="020B0604020202020204" pitchFamily="34" charset="0"/>
                <a:ea typeface="+mj-ea"/>
              </a:defRPr>
            </a:lvl8pPr>
            <a:lvl9pPr marL="3886200" indent="-228600" algn="l" rtl="0" fontAlgn="base">
              <a:spcBef>
                <a:spcPct val="20000"/>
              </a:spcBef>
              <a:spcAft>
                <a:spcPct val="0"/>
              </a:spcAft>
              <a:buChar char="•"/>
              <a:defRPr sz="2000">
                <a:solidFill>
                  <a:schemeClr val="tx1"/>
                </a:solidFill>
                <a:latin typeface="Arial" panose="020B0604020202020204" pitchFamily="34" charset="0"/>
                <a:ea typeface="+mj-ea"/>
              </a:defRPr>
            </a:lvl9pPr>
          </a:lstStyle>
          <a:p>
            <a:pPr eaLnBrk="1" hangingPunct="1"/>
            <a:r>
              <a:rPr lang="zh-CN" altLang="en-US" sz="2200" b="0" kern="0"/>
              <a:t>定义</a:t>
            </a:r>
            <a:r>
              <a:rPr lang="en-US" altLang="zh-CN" sz="2200" b="0" kern="0"/>
              <a:t>Fibonacci </a:t>
            </a:r>
            <a:r>
              <a:rPr lang="zh-CN" altLang="en-US" sz="2200" b="0" kern="0"/>
              <a:t>序列</a:t>
            </a:r>
            <a:r>
              <a:rPr lang="en-US" altLang="zh-CN" sz="2200" b="0" kern="0"/>
              <a:t>f</a:t>
            </a:r>
            <a:r>
              <a:rPr lang="en-US" altLang="zh-CN" sz="2200" b="0" kern="0" baseline="-25000"/>
              <a:t>n</a:t>
            </a:r>
            <a:r>
              <a:rPr lang="zh-CN" altLang="en-US" sz="2200" b="0" kern="0" baseline="-25000">
                <a:sym typeface="Wingdings" panose="05000000000000000000" pitchFamily="2" charset="2"/>
              </a:rPr>
              <a:t>，</a:t>
            </a:r>
            <a:r>
              <a:rPr lang="zh-CN" altLang="en-US" sz="2200" b="0" kern="0">
                <a:sym typeface="Wingdings" panose="05000000000000000000" pitchFamily="2" charset="2"/>
              </a:rPr>
              <a:t>序列中的每一个数是它前面两个数的和：</a:t>
            </a:r>
          </a:p>
          <a:p>
            <a:pPr eaLnBrk="1" hangingPunct="1"/>
            <a:endParaRPr lang="en-US" altLang="zh-CN" sz="2200" b="0" kern="0"/>
          </a:p>
          <a:p>
            <a:pPr eaLnBrk="1" hangingPunct="1"/>
            <a:endParaRPr lang="en-US" altLang="zh-CN" sz="2200" b="0" kern="0"/>
          </a:p>
          <a:p>
            <a:pPr eaLnBrk="1" hangingPunct="1"/>
            <a:r>
              <a:rPr lang="zh-CN" altLang="en-US" sz="2200" b="0" kern="0"/>
              <a:t>我们来看这个序列的递归定义</a:t>
            </a:r>
            <a:endParaRPr lang="en-US" altLang="zh-CN" sz="2200" b="0" kern="0"/>
          </a:p>
          <a:p>
            <a:pPr eaLnBrk="1" hangingPunct="1"/>
            <a:endParaRPr lang="en-US" altLang="zh-CN" sz="2200" b="0" kern="0"/>
          </a:p>
          <a:p>
            <a:pPr eaLnBrk="1" hangingPunct="1"/>
            <a:endParaRPr lang="en-US" altLang="zh-CN" sz="2200" b="0" kern="0"/>
          </a:p>
          <a:p>
            <a:pPr eaLnBrk="1" hangingPunct="1"/>
            <a:r>
              <a:rPr lang="zh-CN" altLang="en-US" sz="2200" b="0" kern="0"/>
              <a:t>这个定义暗示一个看起来像下面那样表示的过程：</a:t>
            </a:r>
            <a:endParaRPr lang="en-US" altLang="zh-CN" sz="2200" b="0" kern="0"/>
          </a:p>
          <a:p>
            <a:pPr eaLnBrk="1" hangingPunct="1"/>
            <a:r>
              <a:rPr lang="en-US" altLang="zh-CN" sz="2200" b="0" kern="0"/>
              <a:t>:</a:t>
            </a:r>
            <a:endParaRPr lang="en-US" altLang="zh-CN" sz="2200" b="0" kern="0" dirty="0"/>
          </a:p>
        </p:txBody>
      </p:sp>
      <p:graphicFrame>
        <p:nvGraphicFramePr>
          <p:cNvPr id="6" name="Object 7">
            <a:extLst>
              <a:ext uri="{FF2B5EF4-FFF2-40B4-BE49-F238E27FC236}">
                <a16:creationId xmlns:a16="http://schemas.microsoft.com/office/drawing/2014/main" id="{208EC1F0-01F1-F54C-D7D6-5F6D0DE1CA7A}"/>
              </a:ext>
            </a:extLst>
          </p:cNvPr>
          <p:cNvGraphicFramePr>
            <a:graphicFrameLocks noChangeAspect="1"/>
          </p:cNvGraphicFramePr>
          <p:nvPr/>
        </p:nvGraphicFramePr>
        <p:xfrm>
          <a:off x="6721475" y="2252663"/>
          <a:ext cx="109538" cy="215900"/>
        </p:xfrm>
        <a:graphic>
          <a:graphicData uri="http://schemas.openxmlformats.org/presentationml/2006/ole">
            <mc:AlternateContent xmlns:mc="http://schemas.openxmlformats.org/markup-compatibility/2006">
              <mc:Choice xmlns:v="urn:schemas-microsoft-com:vml" Requires="v">
                <p:oleObj r:id="rId4" imgW="114300" imgH="215900" progId="Equation.3">
                  <p:embed/>
                </p:oleObj>
              </mc:Choice>
              <mc:Fallback>
                <p:oleObj r:id="rId4" imgW="114300" imgH="215900" progId="Equation.3">
                  <p:embed/>
                  <p:pic>
                    <p:nvPicPr>
                      <p:cNvPr id="11271" name="Object 7"/>
                      <p:cNvPicPr/>
                      <p:nvPr/>
                    </p:nvPicPr>
                    <p:blipFill>
                      <a:blip r:embed="rId5"/>
                      <a:srcRect/>
                      <a:stretch>
                        <a:fillRect/>
                      </a:stretch>
                    </p:blipFill>
                    <p:spPr>
                      <a:xfrm>
                        <a:off x="6721475" y="2252663"/>
                        <a:ext cx="109538" cy="215900"/>
                      </a:xfrm>
                      <a:prstGeom prst="rect">
                        <a:avLst/>
                      </a:prstGeom>
                      <a:noFill/>
                      <a:ln w="38100">
                        <a:miter/>
                      </a:ln>
                    </p:spPr>
                  </p:pic>
                </p:oleObj>
              </mc:Fallback>
            </mc:AlternateContent>
          </a:graphicData>
        </a:graphic>
      </p:graphicFrame>
      <p:graphicFrame>
        <p:nvGraphicFramePr>
          <p:cNvPr id="7" name="Object 9">
            <a:extLst>
              <a:ext uri="{FF2B5EF4-FFF2-40B4-BE49-F238E27FC236}">
                <a16:creationId xmlns:a16="http://schemas.microsoft.com/office/drawing/2014/main" id="{8D5CF0ED-44EB-CEEA-4DE4-0553CAF8DC03}"/>
              </a:ext>
            </a:extLst>
          </p:cNvPr>
          <p:cNvGraphicFramePr>
            <a:graphicFrameLocks noChangeAspect="1"/>
          </p:cNvGraphicFramePr>
          <p:nvPr/>
        </p:nvGraphicFramePr>
        <p:xfrm>
          <a:off x="1182688" y="1801813"/>
          <a:ext cx="6813550" cy="536575"/>
        </p:xfrm>
        <a:graphic>
          <a:graphicData uri="http://schemas.openxmlformats.org/presentationml/2006/ole">
            <mc:AlternateContent xmlns:mc="http://schemas.openxmlformats.org/markup-compatibility/2006">
              <mc:Choice xmlns:v="urn:schemas-microsoft-com:vml" Requires="v">
                <p:oleObj r:id="rId6" imgW="3060700" imgH="228600" progId="Equation.3">
                  <p:embed/>
                </p:oleObj>
              </mc:Choice>
              <mc:Fallback>
                <p:oleObj r:id="rId6" imgW="3060700" imgH="228600" progId="Equation.3">
                  <p:embed/>
                  <p:pic>
                    <p:nvPicPr>
                      <p:cNvPr id="7177" name="Object 9"/>
                      <p:cNvPicPr/>
                      <p:nvPr/>
                    </p:nvPicPr>
                    <p:blipFill>
                      <a:blip r:embed="rId7"/>
                      <a:srcRect/>
                      <a:stretch>
                        <a:fillRect/>
                      </a:stretch>
                    </p:blipFill>
                    <p:spPr>
                      <a:xfrm>
                        <a:off x="1182688" y="1801813"/>
                        <a:ext cx="6813550" cy="536575"/>
                      </a:xfrm>
                      <a:prstGeom prst="rect">
                        <a:avLst/>
                      </a:prstGeom>
                      <a:noFill/>
                      <a:ln w="38100">
                        <a:miter/>
                      </a:ln>
                    </p:spPr>
                  </p:pic>
                </p:oleObj>
              </mc:Fallback>
            </mc:AlternateContent>
          </a:graphicData>
        </a:graphic>
      </p:graphicFrame>
      <p:graphicFrame>
        <p:nvGraphicFramePr>
          <p:cNvPr id="8" name="Object 11">
            <a:extLst>
              <a:ext uri="{FF2B5EF4-FFF2-40B4-BE49-F238E27FC236}">
                <a16:creationId xmlns:a16="http://schemas.microsoft.com/office/drawing/2014/main" id="{18980E4B-3DB2-8ED2-5045-92476CD5C4A8}"/>
              </a:ext>
            </a:extLst>
          </p:cNvPr>
          <p:cNvGraphicFramePr>
            <a:graphicFrameLocks noChangeAspect="1"/>
          </p:cNvGraphicFramePr>
          <p:nvPr/>
        </p:nvGraphicFramePr>
        <p:xfrm>
          <a:off x="1331913" y="2781300"/>
          <a:ext cx="5976937" cy="989013"/>
        </p:xfrm>
        <a:graphic>
          <a:graphicData uri="http://schemas.openxmlformats.org/presentationml/2006/ole">
            <mc:AlternateContent xmlns:mc="http://schemas.openxmlformats.org/markup-compatibility/2006">
              <mc:Choice xmlns:v="urn:schemas-microsoft-com:vml" Requires="v">
                <p:oleObj r:id="rId8" imgW="2755900" imgH="457200" progId="Equation.3">
                  <p:embed/>
                </p:oleObj>
              </mc:Choice>
              <mc:Fallback>
                <p:oleObj r:id="rId8" imgW="2755900" imgH="457200" progId="Equation.3">
                  <p:embed/>
                  <p:pic>
                    <p:nvPicPr>
                      <p:cNvPr id="7179" name="Object 11"/>
                      <p:cNvPicPr/>
                      <p:nvPr/>
                    </p:nvPicPr>
                    <p:blipFill>
                      <a:blip r:embed="rId9"/>
                      <a:stretch>
                        <a:fillRect/>
                      </a:stretch>
                    </p:blipFill>
                    <p:spPr>
                      <a:xfrm>
                        <a:off x="1331913" y="2781300"/>
                        <a:ext cx="5976937" cy="989013"/>
                      </a:xfrm>
                      <a:prstGeom prst="rect">
                        <a:avLst/>
                      </a:prstGeom>
                      <a:noFill/>
                      <a:ln w="38100">
                        <a:noFill/>
                        <a:miter/>
                      </a:ln>
                    </p:spPr>
                  </p:pic>
                </p:oleObj>
              </mc:Fallback>
            </mc:AlternateContent>
          </a:graphicData>
        </a:graphic>
      </p:graphicFrame>
      <p:sp>
        <p:nvSpPr>
          <p:cNvPr id="9" name="Text Box 13">
            <a:extLst>
              <a:ext uri="{FF2B5EF4-FFF2-40B4-BE49-F238E27FC236}">
                <a16:creationId xmlns:a16="http://schemas.microsoft.com/office/drawing/2014/main" id="{7850C18A-C578-F8BE-2217-50D67C253C5C}"/>
              </a:ext>
            </a:extLst>
          </p:cNvPr>
          <p:cNvSpPr txBox="1"/>
          <p:nvPr/>
        </p:nvSpPr>
        <p:spPr>
          <a:xfrm>
            <a:off x="1763713" y="4041775"/>
            <a:ext cx="4457700" cy="1187450"/>
          </a:xfrm>
          <a:prstGeom prst="rect">
            <a:avLst/>
          </a:prstGeom>
          <a:solidFill>
            <a:schemeClr val="bg1"/>
          </a:solid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342900" lvl="0" indent="-342900" eaLnBrk="1" hangingPunct="1">
              <a:spcBef>
                <a:spcPct val="0"/>
              </a:spcBef>
              <a:buAutoNum type="arabicPeriod"/>
            </a:pPr>
            <a:r>
              <a:rPr lang="en-US" altLang="zh-CN" dirty="0">
                <a:latin typeface="Arial" panose="020B0604020202020204" pitchFamily="34" charset="0"/>
                <a:ea typeface="宋体" panose="02010600030101010101" pitchFamily="2" charset="-122"/>
              </a:rPr>
              <a:t>procedure f(n)</a:t>
            </a:r>
          </a:p>
          <a:p>
            <a:pPr marL="342900" lvl="0" indent="-342900" eaLnBrk="1" hangingPunct="1">
              <a:spcBef>
                <a:spcPct val="0"/>
              </a:spcBef>
              <a:buAutoNum type="arabicPeriod"/>
            </a:pPr>
            <a:r>
              <a:rPr lang="en-US" altLang="zh-CN" dirty="0">
                <a:latin typeface="Arial" panose="020B0604020202020204" pitchFamily="34" charset="0"/>
                <a:ea typeface="宋体" panose="02010600030101010101" pitchFamily="2" charset="-122"/>
              </a:rPr>
              <a:t>if (n=1) or (n=2) then return 1</a:t>
            </a:r>
          </a:p>
          <a:p>
            <a:pPr marL="342900" lvl="0" indent="-342900" eaLnBrk="1" hangingPunct="1">
              <a:spcBef>
                <a:spcPct val="0"/>
              </a:spcBef>
              <a:buAutoNum type="arabicPeriod"/>
            </a:pPr>
            <a:r>
              <a:rPr lang="en-US" altLang="zh-CN" dirty="0">
                <a:latin typeface="Arial" panose="020B0604020202020204" pitchFamily="34" charset="0"/>
                <a:ea typeface="宋体" panose="02010600030101010101" pitchFamily="2" charset="-122"/>
              </a:rPr>
              <a:t>else return f(n-1)+f(n-2)</a:t>
            </a:r>
          </a:p>
        </p:txBody>
      </p:sp>
      <p:pic>
        <p:nvPicPr>
          <p:cNvPr id="10" name="Picture 14" descr="question">
            <a:extLst>
              <a:ext uri="{FF2B5EF4-FFF2-40B4-BE49-F238E27FC236}">
                <a16:creationId xmlns:a16="http://schemas.microsoft.com/office/drawing/2014/main" id="{F0E865E3-9E2D-5A61-148A-7BDD4F6792AC}"/>
              </a:ext>
            </a:extLst>
          </p:cNvPr>
          <p:cNvPicPr>
            <a:picLocks noChangeAspect="1"/>
          </p:cNvPicPr>
          <p:nvPr/>
        </p:nvPicPr>
        <p:blipFill>
          <a:blip r:embed="rId10"/>
          <a:stretch>
            <a:fillRect/>
          </a:stretch>
        </p:blipFill>
        <p:spPr>
          <a:xfrm>
            <a:off x="900113" y="5373688"/>
            <a:ext cx="360362" cy="360362"/>
          </a:xfrm>
          <a:prstGeom prst="rect">
            <a:avLst/>
          </a:prstGeom>
          <a:noFill/>
          <a:ln w="9525">
            <a:noFill/>
          </a:ln>
        </p:spPr>
      </p:pic>
      <p:sp>
        <p:nvSpPr>
          <p:cNvPr id="11" name="Text Box 15">
            <a:extLst>
              <a:ext uri="{FF2B5EF4-FFF2-40B4-BE49-F238E27FC236}">
                <a16:creationId xmlns:a16="http://schemas.microsoft.com/office/drawing/2014/main" id="{9C720069-6068-762A-0501-6FB3DAD44896}"/>
              </a:ext>
            </a:extLst>
          </p:cNvPr>
          <p:cNvSpPr txBox="1"/>
          <p:nvPr/>
        </p:nvSpPr>
        <p:spPr>
          <a:xfrm>
            <a:off x="1527175" y="5321300"/>
            <a:ext cx="3398838" cy="46196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zh-CN" altLang="en-US" dirty="0">
                <a:solidFill>
                  <a:srgbClr val="FF3300"/>
                </a:solidFill>
                <a:ea typeface="宋体" panose="02010600030101010101" pitchFamily="2" charset="-122"/>
              </a:rPr>
              <a:t>传统的解决方法是什么</a:t>
            </a:r>
            <a:r>
              <a:rPr lang="en-US" altLang="zh-CN" dirty="0">
                <a:solidFill>
                  <a:srgbClr val="FF3300"/>
                </a:solidFill>
                <a:ea typeface="宋体" panose="02010600030101010101" pitchFamily="2" charset="-122"/>
              </a:rPr>
              <a:t>?</a:t>
            </a:r>
          </a:p>
        </p:txBody>
      </p:sp>
    </p:spTree>
    <p:extLst>
      <p:ext uri="{BB962C8B-B14F-4D97-AF65-F5344CB8AC3E}">
        <p14:creationId xmlns:p14="http://schemas.microsoft.com/office/powerpoint/2010/main" val="284341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2" presetClass="entr" presetSubtype="4"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blinds(horizontal)">
                                      <p:cBhvr>
                                        <p:cTn id="28" dur="500"/>
                                        <p:tgtEl>
                                          <p:spTgt spid="5">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blinds(horizontal)">
                                      <p:cBhvr>
                                        <p:cTn id="33" dur="500"/>
                                        <p:tgtEl>
                                          <p:spTgt spid="5">
                                            <p:txEl>
                                              <p:pRg st="6" end="6"/>
                                            </p:txEl>
                                          </p:spTgt>
                                        </p:tgtEl>
                                      </p:cBhvr>
                                    </p:animEffect>
                                  </p:childTnLst>
                                </p:cTn>
                              </p:par>
                            </p:childTnLst>
                          </p:cTn>
                        </p:par>
                        <p:par>
                          <p:cTn id="34" fill="hold">
                            <p:stCondLst>
                              <p:cond delay="500"/>
                            </p:stCondLst>
                            <p:childTnLst>
                              <p:par>
                                <p:cTn id="35" presetID="4" presetClass="entr" presetSubtype="16"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in)">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9" presetClass="entr" presetSubtype="1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0" fill="hold"/>
                                        <p:tgtEl>
                                          <p:spTgt spid="10"/>
                                        </p:tgtEl>
                                        <p:attrNameLst>
                                          <p:attrName>ppt_w</p:attrName>
                                        </p:attrNameLst>
                                      </p:cBhvr>
                                      <p:tavLst>
                                        <p:tav tm="0" fmla="#ppt_w*sin(2.5*pi*$)">
                                          <p:val>
                                            <p:fltVal val="0"/>
                                          </p:val>
                                        </p:tav>
                                        <p:tav tm="100000">
                                          <p:val>
                                            <p:fltVal val="1"/>
                                          </p:val>
                                        </p:tav>
                                      </p:tavLst>
                                    </p:anim>
                                    <p:anim calcmode="lin" valueType="num">
                                      <p:cBhvr>
                                        <p:cTn id="43" dur="5000" fill="hold"/>
                                        <p:tgtEl>
                                          <p:spTgt spid="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
                                            </p:cond>
                                          </p:stCondLst>
                                          <p:endCondLst>
                                            <p:cond evt="onStopAudio" delay="0">
                                              <p:tgtEl>
                                                <p:sldTgt/>
                                              </p:tgtEl>
                                            </p:cond>
                                          </p:endCondLst>
                                        </p:cTn>
                                        <p:tgtEl>
                                          <p:sndTgt r:embed="rId3" name="chimes.wav"/>
                                        </p:tgtEl>
                                      </p:cMediaNode>
                                    </p:audio>
                                  </p:subTnLst>
                                </p:cTn>
                              </p:par>
                              <p:par>
                                <p:cTn id="44" presetID="27" presetClass="entr" presetSubtype="0" fill="hold" nodeType="withEffect">
                                  <p:stCondLst>
                                    <p:cond delay="0"/>
                                  </p:stCondLst>
                                  <p:iterate type="lt">
                                    <p:tmPct val="50000"/>
                                  </p:iterate>
                                  <p:childTnLst>
                                    <p:set>
                                      <p:cBhvr>
                                        <p:cTn id="45" dur="1" fill="hold">
                                          <p:stCondLst>
                                            <p:cond delay="0"/>
                                          </p:stCondLst>
                                        </p:cTn>
                                        <p:tgtEl>
                                          <p:spTgt spid="11">
                                            <p:txEl>
                                              <p:pRg st="0" end="0"/>
                                            </p:txEl>
                                          </p:spTgt>
                                        </p:tgtEl>
                                        <p:attrNameLst>
                                          <p:attrName>style.visibility</p:attrName>
                                        </p:attrNameLst>
                                      </p:cBhvr>
                                      <p:to>
                                        <p:strVal val="visible"/>
                                      </p:to>
                                    </p:set>
                                    <p:anim calcmode="discrete" valueType="clr">
                                      <p:cBhvr override="childStyle">
                                        <p:cTn id="46" dur="80"/>
                                        <p:tgtEl>
                                          <p:spTgt spid="1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11">
                                            <p:txEl>
                                              <p:pRg st="0" end="0"/>
                                            </p:txEl>
                                          </p:spTgt>
                                        </p:tgtEl>
                                        <p:attrNameLst>
                                          <p:attrName>fillcolor</p:attrName>
                                        </p:attrNameLst>
                                      </p:cBhvr>
                                      <p:tavLst>
                                        <p:tav tm="0">
                                          <p:val>
                                            <p:clrVal>
                                              <a:schemeClr val="accent2"/>
                                            </p:clrVal>
                                          </p:val>
                                        </p:tav>
                                        <p:tav tm="50000">
                                          <p:val>
                                            <p:clrVal>
                                              <a:schemeClr val="hlink"/>
                                            </p:clrVal>
                                          </p:val>
                                        </p:tav>
                                      </p:tavLst>
                                    </p:anim>
                                    <p:set>
                                      <p:cBhvr>
                                        <p:cTn id="48" dur="80"/>
                                        <p:tgtEl>
                                          <p:spTgt spid="11">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5"/>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3315" name="页脚占位符 6"/>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3316" name="灯片编号占位符 7"/>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13317" name="Rectangle 2"/>
          <p:cNvSpPr>
            <a:spLocks noGrp="1"/>
          </p:cNvSpPr>
          <p:nvPr>
            <p:ph type="title"/>
          </p:nvPr>
        </p:nvSpPr>
        <p:spPr>
          <a:xfrm>
            <a:off x="5868194" y="1211743"/>
            <a:ext cx="3214687" cy="927100"/>
          </a:xfrm>
          <a:solidFill>
            <a:srgbClr val="92D050">
              <a:alpha val="100000"/>
            </a:srgbClr>
          </a:solidFill>
        </p:spPr>
        <p:txBody>
          <a:bodyPr vert="horz" wrap="square" lIns="91440" tIns="45720" rIns="91440" bIns="45720" anchor="ctr" anchorCtr="0"/>
          <a:lstStyle/>
          <a:p>
            <a:pPr eaLnBrk="1" hangingPunct="1"/>
            <a:r>
              <a:rPr lang="zh-CN" altLang="en-US" dirty="0"/>
              <a:t>递归算法的缺陷</a:t>
            </a:r>
            <a:endParaRPr lang="en-US" altLang="zh-CN" dirty="0"/>
          </a:p>
        </p:txBody>
      </p:sp>
      <p:sp>
        <p:nvSpPr>
          <p:cNvPr id="8195" name="Rectangle 3"/>
          <p:cNvSpPr>
            <a:spLocks noGrp="1"/>
          </p:cNvSpPr>
          <p:nvPr>
            <p:ph type="body" sz="half" idx="1"/>
          </p:nvPr>
        </p:nvSpPr>
        <p:spPr>
          <a:xfrm>
            <a:off x="863600" y="1370013"/>
            <a:ext cx="8291513" cy="4565650"/>
          </a:xfrm>
        </p:spPr>
        <p:txBody>
          <a:bodyPr vert="horz" wrap="square" lIns="91440" tIns="45720" rIns="91440" bIns="45720" anchor="t" anchorCtr="0"/>
          <a:lstStyle/>
          <a:p>
            <a:pPr eaLnBrk="1" hangingPunct="1">
              <a:lnSpc>
                <a:spcPct val="80000"/>
              </a:lnSpc>
              <a:buClrTx/>
              <a:buSzTx/>
              <a:buFontTx/>
            </a:pPr>
            <a:r>
              <a:rPr lang="zh-CN" altLang="en-US" sz="2000" dirty="0"/>
              <a:t>我们把递推式做适当的展开：</a:t>
            </a:r>
          </a:p>
          <a:p>
            <a:pPr eaLnBrk="1" hangingPunct="1">
              <a:lnSpc>
                <a:spcPct val="80000"/>
              </a:lnSpc>
              <a:buClrTx/>
              <a:buSzTx/>
              <a:buFontTx/>
            </a:pPr>
            <a:endParaRPr lang="en-US" altLang="zh-CN" sz="2000" dirty="0"/>
          </a:p>
          <a:p>
            <a:pPr eaLnBrk="1" hangingPunct="1">
              <a:lnSpc>
                <a:spcPct val="80000"/>
              </a:lnSpc>
              <a:buClrTx/>
              <a:buSzTx/>
              <a:buFontTx/>
            </a:pPr>
            <a:endParaRPr lang="en-US" altLang="zh-CN" sz="2000" dirty="0"/>
          </a:p>
          <a:p>
            <a:pPr eaLnBrk="1" hangingPunct="1">
              <a:lnSpc>
                <a:spcPct val="80000"/>
              </a:lnSpc>
              <a:buClrTx/>
              <a:buSzTx/>
              <a:buFontTx/>
            </a:pPr>
            <a:endParaRPr lang="en-US" altLang="zh-CN" sz="2000" dirty="0"/>
          </a:p>
          <a:p>
            <a:pPr eaLnBrk="1" hangingPunct="1">
              <a:lnSpc>
                <a:spcPct val="80000"/>
              </a:lnSpc>
              <a:buClrTx/>
              <a:buSzTx/>
              <a:buFontTx/>
              <a:buNone/>
            </a:pPr>
            <a:endParaRPr lang="en-US" altLang="zh-CN" sz="2000" dirty="0"/>
          </a:p>
          <a:p>
            <a:pPr eaLnBrk="1" hangingPunct="1">
              <a:lnSpc>
                <a:spcPct val="80000"/>
              </a:lnSpc>
              <a:buClrTx/>
              <a:buSzTx/>
              <a:buFontTx/>
            </a:pPr>
            <a:r>
              <a:rPr lang="zh-CN" altLang="en-US" sz="2000" dirty="0"/>
              <a:t>这导致了巨大数量的重复调用。假设计算</a:t>
            </a:r>
            <a:r>
              <a:rPr lang="en-US" altLang="zh-CN" sz="2000" dirty="0"/>
              <a:t>f(1)</a:t>
            </a:r>
            <a:r>
              <a:rPr lang="zh-CN" altLang="en-US" sz="2000" dirty="0"/>
              <a:t>和</a:t>
            </a:r>
            <a:r>
              <a:rPr lang="en-US" altLang="zh-CN" sz="2000" dirty="0"/>
              <a:t>f(2)</a:t>
            </a:r>
            <a:r>
              <a:rPr lang="zh-CN" altLang="en-US" sz="2000" dirty="0"/>
              <a:t>需要一个单位时间，那么这个过程的时间复杂性可以表示为</a:t>
            </a:r>
          </a:p>
          <a:p>
            <a:pPr eaLnBrk="1" hangingPunct="1">
              <a:lnSpc>
                <a:spcPct val="80000"/>
              </a:lnSpc>
              <a:buClrTx/>
              <a:buSzTx/>
              <a:buFontTx/>
            </a:pPr>
            <a:endParaRPr lang="en-US" altLang="zh-CN" sz="2000" dirty="0"/>
          </a:p>
          <a:p>
            <a:pPr eaLnBrk="1" hangingPunct="1">
              <a:lnSpc>
                <a:spcPct val="80000"/>
              </a:lnSpc>
              <a:buClrTx/>
              <a:buSzTx/>
              <a:buFontTx/>
            </a:pPr>
            <a:endParaRPr lang="en-US" altLang="zh-CN" sz="2000" dirty="0"/>
          </a:p>
          <a:p>
            <a:pPr eaLnBrk="1" hangingPunct="1">
              <a:lnSpc>
                <a:spcPct val="80000"/>
              </a:lnSpc>
              <a:buClrTx/>
              <a:buSzTx/>
              <a:buFontTx/>
            </a:pPr>
            <a:endParaRPr lang="en-US" altLang="zh-CN" sz="2000" dirty="0"/>
          </a:p>
          <a:p>
            <a:pPr eaLnBrk="1" hangingPunct="1">
              <a:lnSpc>
                <a:spcPct val="80000"/>
              </a:lnSpc>
              <a:buClrTx/>
              <a:buSzTx/>
              <a:buFontTx/>
            </a:pPr>
            <a:r>
              <a:rPr lang="zh-CN" altLang="en-US" sz="2000" dirty="0"/>
              <a:t>递推式的解是</a:t>
            </a:r>
            <a:r>
              <a:rPr lang="en-US" altLang="zh-CN" sz="2000" dirty="0"/>
              <a:t>:</a:t>
            </a:r>
          </a:p>
          <a:p>
            <a:pPr eaLnBrk="1" hangingPunct="1">
              <a:lnSpc>
                <a:spcPct val="80000"/>
              </a:lnSpc>
              <a:buClrTx/>
              <a:buSzTx/>
              <a:buFontTx/>
            </a:pPr>
            <a:endParaRPr lang="en-US" altLang="zh-CN" sz="2000" dirty="0"/>
          </a:p>
          <a:p>
            <a:pPr eaLnBrk="1" hangingPunct="1">
              <a:lnSpc>
                <a:spcPct val="80000"/>
              </a:lnSpc>
              <a:buClrTx/>
              <a:buSzTx/>
              <a:buFontTx/>
            </a:pPr>
            <a:r>
              <a:rPr lang="zh-CN" altLang="en-US" sz="2000" dirty="0"/>
              <a:t>可以看出，计算</a:t>
            </a:r>
            <a:r>
              <a:rPr lang="en-US" altLang="zh-CN" sz="2000" dirty="0"/>
              <a:t>f(n)</a:t>
            </a:r>
            <a:r>
              <a:rPr lang="zh-CN" altLang="en-US" sz="2000" dirty="0"/>
              <a:t>所需要的运行时间对于</a:t>
            </a:r>
            <a:r>
              <a:rPr lang="en-US" altLang="zh-CN" sz="2000" dirty="0"/>
              <a:t>n</a:t>
            </a:r>
            <a:r>
              <a:rPr lang="zh-CN" altLang="en-US" sz="2000" dirty="0"/>
              <a:t>的值是</a:t>
            </a:r>
            <a:r>
              <a:rPr lang="zh-CN" altLang="en-US" sz="2000" dirty="0">
                <a:solidFill>
                  <a:srgbClr val="FF0000"/>
                </a:solidFill>
              </a:rPr>
              <a:t>指数的</a:t>
            </a:r>
            <a:r>
              <a:rPr lang="zh-CN" altLang="en-US" sz="2000" dirty="0"/>
              <a:t>，</a:t>
            </a:r>
          </a:p>
          <a:p>
            <a:pPr eaLnBrk="1" hangingPunct="1">
              <a:lnSpc>
                <a:spcPct val="80000"/>
              </a:lnSpc>
              <a:buClrTx/>
              <a:buSzTx/>
              <a:buFontTx/>
            </a:pPr>
            <a:endParaRPr lang="en-US" altLang="zh-CN" sz="2000" dirty="0"/>
          </a:p>
        </p:txBody>
      </p:sp>
      <p:graphicFrame>
        <p:nvGraphicFramePr>
          <p:cNvPr id="8202" name="Object 10"/>
          <p:cNvGraphicFramePr>
            <a:graphicFrameLocks noGrp="1" noChangeAspect="1"/>
          </p:cNvGraphicFramePr>
          <p:nvPr>
            <p:ph sz="quarter" idx="2"/>
          </p:nvPr>
        </p:nvGraphicFramePr>
        <p:xfrm>
          <a:off x="2771775" y="1557338"/>
          <a:ext cx="3024188" cy="1138237"/>
        </p:xfrm>
        <a:graphic>
          <a:graphicData uri="http://schemas.openxmlformats.org/presentationml/2006/ole">
            <mc:AlternateContent xmlns:mc="http://schemas.openxmlformats.org/markup-compatibility/2006">
              <mc:Choice xmlns:v="urn:schemas-microsoft-com:vml" Requires="v">
                <p:oleObj r:id="rId4" imgW="1752600" imgH="660400" progId="Equation.3">
                  <p:embed/>
                </p:oleObj>
              </mc:Choice>
              <mc:Fallback>
                <p:oleObj r:id="rId4" imgW="1752600" imgH="660400" progId="Equation.3">
                  <p:embed/>
                  <p:pic>
                    <p:nvPicPr>
                      <p:cNvPr id="8202" name="Object 10"/>
                      <p:cNvPicPr/>
                      <p:nvPr/>
                    </p:nvPicPr>
                    <p:blipFill>
                      <a:blip r:embed="rId5"/>
                      <a:srcRect/>
                      <a:stretch>
                        <a:fillRect/>
                      </a:stretch>
                    </p:blipFill>
                    <p:spPr>
                      <a:xfrm>
                        <a:off x="2771775" y="1557338"/>
                        <a:ext cx="3024188" cy="1138237"/>
                      </a:xfrm>
                      <a:prstGeom prst="rect">
                        <a:avLst/>
                      </a:prstGeom>
                      <a:noFill/>
                      <a:ln w="38100">
                        <a:miter/>
                      </a:ln>
                    </p:spPr>
                  </p:pic>
                </p:oleObj>
              </mc:Fallback>
            </mc:AlternateContent>
          </a:graphicData>
        </a:graphic>
      </p:graphicFrame>
      <p:graphicFrame>
        <p:nvGraphicFramePr>
          <p:cNvPr id="8204" name="Object 12"/>
          <p:cNvGraphicFramePr>
            <a:graphicFrameLocks noGrp="1" noChangeAspect="1"/>
          </p:cNvGraphicFramePr>
          <p:nvPr>
            <p:ph sz="quarter" idx="3"/>
          </p:nvPr>
        </p:nvGraphicFramePr>
        <p:xfrm>
          <a:off x="2428875" y="3286125"/>
          <a:ext cx="3883025" cy="733425"/>
        </p:xfrm>
        <a:graphic>
          <a:graphicData uri="http://schemas.openxmlformats.org/presentationml/2006/ole">
            <mc:AlternateContent xmlns:mc="http://schemas.openxmlformats.org/markup-compatibility/2006">
              <mc:Choice xmlns:v="urn:schemas-microsoft-com:vml" Requires="v">
                <p:oleObj r:id="rId6" imgW="2628900" imgH="469900" progId="Equation.3">
                  <p:embed/>
                </p:oleObj>
              </mc:Choice>
              <mc:Fallback>
                <p:oleObj r:id="rId6" imgW="2628900" imgH="469900" progId="Equation.3">
                  <p:embed/>
                  <p:pic>
                    <p:nvPicPr>
                      <p:cNvPr id="8204" name="Object 12"/>
                      <p:cNvPicPr/>
                      <p:nvPr/>
                    </p:nvPicPr>
                    <p:blipFill>
                      <a:blip r:embed="rId7"/>
                      <a:srcRect/>
                      <a:stretch>
                        <a:fillRect/>
                      </a:stretch>
                    </p:blipFill>
                    <p:spPr>
                      <a:xfrm>
                        <a:off x="2428875" y="3286125"/>
                        <a:ext cx="3883025" cy="733425"/>
                      </a:xfrm>
                      <a:prstGeom prst="rect">
                        <a:avLst/>
                      </a:prstGeom>
                      <a:noFill/>
                      <a:ln w="38100">
                        <a:miter/>
                      </a:ln>
                    </p:spPr>
                  </p:pic>
                </p:oleObj>
              </mc:Fallback>
            </mc:AlternateContent>
          </a:graphicData>
        </a:graphic>
      </p:graphicFrame>
      <p:graphicFrame>
        <p:nvGraphicFramePr>
          <p:cNvPr id="8206" name="Object 14"/>
          <p:cNvGraphicFramePr>
            <a:graphicFrameLocks noChangeAspect="1"/>
          </p:cNvGraphicFramePr>
          <p:nvPr/>
        </p:nvGraphicFramePr>
        <p:xfrm>
          <a:off x="3000375" y="4071938"/>
          <a:ext cx="2843213" cy="484187"/>
        </p:xfrm>
        <a:graphic>
          <a:graphicData uri="http://schemas.openxmlformats.org/presentationml/2006/ole">
            <mc:AlternateContent xmlns:mc="http://schemas.openxmlformats.org/markup-compatibility/2006">
              <mc:Choice xmlns:v="urn:schemas-microsoft-com:vml" Requires="v">
                <p:oleObj r:id="rId8" imgW="1346200" imgH="228600" progId="Equation.3">
                  <p:embed/>
                </p:oleObj>
              </mc:Choice>
              <mc:Fallback>
                <p:oleObj r:id="rId8" imgW="1346200" imgH="228600" progId="Equation.3">
                  <p:embed/>
                  <p:pic>
                    <p:nvPicPr>
                      <p:cNvPr id="8206" name="Object 14"/>
                      <p:cNvPicPr/>
                      <p:nvPr/>
                    </p:nvPicPr>
                    <p:blipFill>
                      <a:blip r:embed="rId9"/>
                      <a:stretch>
                        <a:fillRect/>
                      </a:stretch>
                    </p:blipFill>
                    <p:spPr>
                      <a:xfrm>
                        <a:off x="3000375" y="4071938"/>
                        <a:ext cx="2843213" cy="484187"/>
                      </a:xfrm>
                      <a:prstGeom prst="rect">
                        <a:avLst/>
                      </a:prstGeom>
                      <a:noFill/>
                      <a:ln w="38100">
                        <a:noFill/>
                        <a:miter/>
                      </a:ln>
                    </p:spPr>
                  </p:pic>
                </p:oleObj>
              </mc:Fallback>
            </mc:AlternateContent>
          </a:graphicData>
        </a:graphic>
      </p:graphicFrame>
      <p:pic>
        <p:nvPicPr>
          <p:cNvPr id="8207" name="Picture 15" descr="question"/>
          <p:cNvPicPr>
            <a:picLocks noChangeAspect="1"/>
          </p:cNvPicPr>
          <p:nvPr/>
        </p:nvPicPr>
        <p:blipFill>
          <a:blip r:embed="rId10"/>
          <a:stretch>
            <a:fillRect/>
          </a:stretch>
        </p:blipFill>
        <p:spPr>
          <a:xfrm>
            <a:off x="900113" y="5353050"/>
            <a:ext cx="360362" cy="360363"/>
          </a:xfrm>
          <a:prstGeom prst="rect">
            <a:avLst/>
          </a:prstGeom>
          <a:noFill/>
          <a:ln w="9525">
            <a:noFill/>
          </a:ln>
        </p:spPr>
      </p:pic>
      <p:sp>
        <p:nvSpPr>
          <p:cNvPr id="8208" name="Text Box 16"/>
          <p:cNvSpPr txBox="1"/>
          <p:nvPr/>
        </p:nvSpPr>
        <p:spPr>
          <a:xfrm>
            <a:off x="1527175" y="5300663"/>
            <a:ext cx="3878263"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rgbClr val="FF3300"/>
                </a:solidFill>
                <a:ea typeface="宋体" panose="02010600030101010101" pitchFamily="2" charset="-122"/>
              </a:rPr>
              <a:t>Much more efficient solution?</a:t>
            </a:r>
          </a:p>
        </p:txBody>
      </p:sp>
      <p:pic>
        <p:nvPicPr>
          <p:cNvPr id="2060" name="Picture 12"/>
          <p:cNvPicPr>
            <a:picLocks noChangeAspect="1"/>
          </p:cNvPicPr>
          <p:nvPr/>
        </p:nvPicPr>
        <p:blipFill>
          <a:blip r:embed="rId11"/>
          <a:stretch>
            <a:fillRect/>
          </a:stretch>
        </p:blipFill>
        <p:spPr>
          <a:xfrm>
            <a:off x="5929313" y="4103688"/>
            <a:ext cx="3214687" cy="396875"/>
          </a:xfrm>
          <a:prstGeom prst="rect">
            <a:avLst/>
          </a:prstGeom>
          <a:noFill/>
          <a:ln w="25400">
            <a:noFill/>
          </a:ln>
        </p:spPr>
      </p:pic>
      <p:sp>
        <p:nvSpPr>
          <p:cNvPr id="2" name="Rectangle 2">
            <a:extLst>
              <a:ext uri="{FF2B5EF4-FFF2-40B4-BE49-F238E27FC236}">
                <a16:creationId xmlns:a16="http://schemas.microsoft.com/office/drawing/2014/main" id="{8FA568DD-0DAC-FF06-AB04-69574CDFFBDC}"/>
              </a:ext>
            </a:extLst>
          </p:cNvPr>
          <p:cNvSpPr txBox="1">
            <a:spLocks noChangeArrowheads="1"/>
          </p:cNvSpPr>
          <p:nvPr/>
        </p:nvSpPr>
        <p:spPr>
          <a:xfrm>
            <a:off x="879475" y="269875"/>
            <a:ext cx="7869238" cy="927100"/>
          </a:xfrm>
          <a:prstGeom prst="rect">
            <a:avLst/>
          </a:prstGeom>
          <a:noFill/>
          <a:ln w="9525">
            <a:noFill/>
          </a:ln>
        </p:spPr>
        <p:txBody>
          <a:bodyPr anchor="ctr" anchorCtr="0"/>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sz="2800" kern="0" dirty="0">
                <a:latin typeface="+mj-ea"/>
              </a:rPr>
              <a:t>4.1.1</a:t>
            </a:r>
            <a:r>
              <a:rPr lang="zh-CN" altLang="en-US" sz="2800" kern="0" dirty="0">
                <a:latin typeface="+mj-ea"/>
              </a:rPr>
              <a:t> 递归表达式的归纳求解与迭代求解方法的复杂度对比分析（斐波那契序列、二项式系数）</a:t>
            </a:r>
            <a:endParaRPr lang="en-US" altLang="zh-CN" sz="280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8202"/>
                                        </p:tgtEl>
                                        <p:attrNameLst>
                                          <p:attrName>style.visibility</p:attrName>
                                        </p:attrNameLst>
                                      </p:cBhvr>
                                      <p:to>
                                        <p:strVal val="visible"/>
                                      </p:to>
                                    </p:set>
                                    <p:animEffect transition="in" filter="blinds(horizontal)">
                                      <p:cBhvr>
                                        <p:cTn id="12" dur="500"/>
                                        <p:tgtEl>
                                          <p:spTgt spid="820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195">
                                            <p:txEl>
                                              <p:pRg st="5" end="5"/>
                                            </p:txEl>
                                          </p:spTgt>
                                        </p:tgtEl>
                                        <p:attrNameLst>
                                          <p:attrName>style.visibility</p:attrName>
                                        </p:attrNameLst>
                                      </p:cBhvr>
                                      <p:to>
                                        <p:strVal val="visible"/>
                                      </p:to>
                                    </p:set>
                                    <p:anim calcmode="lin" valueType="num">
                                      <p:cBhvr additive="base">
                                        <p:cTn id="17" dur="500" fill="hold"/>
                                        <p:tgtEl>
                                          <p:spTgt spid="8195">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195">
                                            <p:txEl>
                                              <p:pRg st="5" end="5"/>
                                            </p:txEl>
                                          </p:spTgt>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8204"/>
                                        </p:tgtEl>
                                        <p:attrNameLst>
                                          <p:attrName>style.visibility</p:attrName>
                                        </p:attrNameLst>
                                      </p:cBhvr>
                                      <p:to>
                                        <p:strVal val="visible"/>
                                      </p:to>
                                    </p:set>
                                    <p:animEffect transition="in" filter="blinds(horizontal)">
                                      <p:cBhvr>
                                        <p:cTn id="22" dur="500"/>
                                        <p:tgtEl>
                                          <p:spTgt spid="820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195">
                                            <p:txEl>
                                              <p:pRg st="9" end="9"/>
                                            </p:txEl>
                                          </p:spTgt>
                                        </p:tgtEl>
                                        <p:attrNameLst>
                                          <p:attrName>style.visibility</p:attrName>
                                        </p:attrNameLst>
                                      </p:cBhvr>
                                      <p:to>
                                        <p:strVal val="visible"/>
                                      </p:to>
                                    </p:set>
                                    <p:animEffect transition="in" filter="blinds(horizontal)">
                                      <p:cBhvr>
                                        <p:cTn id="27" dur="500"/>
                                        <p:tgtEl>
                                          <p:spTgt spid="8195">
                                            <p:txEl>
                                              <p:pRg st="9" end="9"/>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8206"/>
                                        </p:tgtEl>
                                        <p:attrNameLst>
                                          <p:attrName>style.visibility</p:attrName>
                                        </p:attrNameLst>
                                      </p:cBhvr>
                                      <p:to>
                                        <p:strVal val="visible"/>
                                      </p:to>
                                    </p:set>
                                    <p:animEffect transition="in" filter="blinds(horizontal)">
                                      <p:cBhvr>
                                        <p:cTn id="30" dur="500"/>
                                        <p:tgtEl>
                                          <p:spTgt spid="820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060"/>
                                        </p:tgtEl>
                                        <p:attrNameLst>
                                          <p:attrName>style.visibility</p:attrName>
                                        </p:attrNameLst>
                                      </p:cBhvr>
                                      <p:to>
                                        <p:strVal val="visible"/>
                                      </p:to>
                                    </p:set>
                                    <p:animEffect transition="in" filter="blinds(horizontal)">
                                      <p:cBhvr>
                                        <p:cTn id="35" dur="500"/>
                                        <p:tgtEl>
                                          <p:spTgt spid="2060"/>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8195">
                                            <p:txEl>
                                              <p:pRg st="11" end="11"/>
                                            </p:txEl>
                                          </p:spTgt>
                                        </p:tgtEl>
                                        <p:attrNameLst>
                                          <p:attrName>style.visibility</p:attrName>
                                        </p:attrNameLst>
                                      </p:cBhvr>
                                      <p:to>
                                        <p:strVal val="visible"/>
                                      </p:to>
                                    </p:set>
                                    <p:anim calcmode="lin" valueType="num">
                                      <p:cBhvr additive="base">
                                        <p:cTn id="40" dur="500" fill="hold"/>
                                        <p:tgtEl>
                                          <p:spTgt spid="8195">
                                            <p:txEl>
                                              <p:pRg st="11" end="11"/>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819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9" presetClass="entr" presetSubtype="10" fill="hold" nodeType="clickEffect">
                                  <p:stCondLst>
                                    <p:cond delay="0"/>
                                  </p:stCondLst>
                                  <p:childTnLst>
                                    <p:set>
                                      <p:cBhvr>
                                        <p:cTn id="45" dur="1" fill="hold">
                                          <p:stCondLst>
                                            <p:cond delay="0"/>
                                          </p:stCondLst>
                                        </p:cTn>
                                        <p:tgtEl>
                                          <p:spTgt spid="8207"/>
                                        </p:tgtEl>
                                        <p:attrNameLst>
                                          <p:attrName>style.visibility</p:attrName>
                                        </p:attrNameLst>
                                      </p:cBhvr>
                                      <p:to>
                                        <p:strVal val="visible"/>
                                      </p:to>
                                    </p:set>
                                    <p:anim calcmode="lin" valueType="num">
                                      <p:cBhvr>
                                        <p:cTn id="46" dur="5000" fill="hold"/>
                                        <p:tgtEl>
                                          <p:spTgt spid="8207"/>
                                        </p:tgtEl>
                                        <p:attrNameLst>
                                          <p:attrName>ppt_w</p:attrName>
                                        </p:attrNameLst>
                                      </p:cBhvr>
                                      <p:tavLst>
                                        <p:tav tm="0" fmla="#ppt_w*sin(2.5*pi*$)">
                                          <p:val>
                                            <p:fltVal val="0"/>
                                          </p:val>
                                        </p:tav>
                                        <p:tav tm="100000">
                                          <p:val>
                                            <p:fltVal val="1"/>
                                          </p:val>
                                        </p:tav>
                                      </p:tavLst>
                                    </p:anim>
                                    <p:anim calcmode="lin" valueType="num">
                                      <p:cBhvr>
                                        <p:cTn id="47" dur="5000" fill="hold"/>
                                        <p:tgtEl>
                                          <p:spTgt spid="820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3" name="chimes.wav"/>
                                        </p:tgtEl>
                                      </p:cMediaNode>
                                    </p:audio>
                                  </p:subTnLst>
                                </p:cTn>
                              </p:par>
                              <p:par>
                                <p:cTn id="48" presetID="27" presetClass="entr" presetSubtype="0" fill="hold" nodeType="withEffect">
                                  <p:stCondLst>
                                    <p:cond delay="0"/>
                                  </p:stCondLst>
                                  <p:iterate type="lt">
                                    <p:tmPct val="50000"/>
                                  </p:iterate>
                                  <p:childTnLst>
                                    <p:set>
                                      <p:cBhvr>
                                        <p:cTn id="49" dur="1" fill="hold">
                                          <p:stCondLst>
                                            <p:cond delay="0"/>
                                          </p:stCondLst>
                                        </p:cTn>
                                        <p:tgtEl>
                                          <p:spTgt spid="8208">
                                            <p:txEl>
                                              <p:pRg st="0" end="0"/>
                                            </p:txEl>
                                          </p:spTgt>
                                        </p:tgtEl>
                                        <p:attrNameLst>
                                          <p:attrName>style.visibility</p:attrName>
                                        </p:attrNameLst>
                                      </p:cBhvr>
                                      <p:to>
                                        <p:strVal val="visible"/>
                                      </p:to>
                                    </p:set>
                                    <p:anim calcmode="discrete" valueType="clr">
                                      <p:cBhvr override="childStyle">
                                        <p:cTn id="50" dur="80"/>
                                        <p:tgtEl>
                                          <p:spTgt spid="820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8208">
                                            <p:txEl>
                                              <p:pRg st="0" end="0"/>
                                            </p:txEl>
                                          </p:spTgt>
                                        </p:tgtEl>
                                        <p:attrNameLst>
                                          <p:attrName>fillcolor</p:attrName>
                                        </p:attrNameLst>
                                      </p:cBhvr>
                                      <p:tavLst>
                                        <p:tav tm="0">
                                          <p:val>
                                            <p:clrVal>
                                              <a:schemeClr val="accent2"/>
                                            </p:clrVal>
                                          </p:val>
                                        </p:tav>
                                        <p:tav tm="50000">
                                          <p:val>
                                            <p:clrVal>
                                              <a:schemeClr val="hlink"/>
                                            </p:clrVal>
                                          </p:val>
                                        </p:tav>
                                      </p:tavLst>
                                    </p:anim>
                                    <p:set>
                                      <p:cBhvr>
                                        <p:cTn id="52" dur="80"/>
                                        <p:tgtEl>
                                          <p:spTgt spid="8208">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5363"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5364"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6</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15365" name="Rectangle 2"/>
          <p:cNvSpPr>
            <a:spLocks noGrp="1"/>
          </p:cNvSpPr>
          <p:nvPr>
            <p:ph type="title"/>
          </p:nvPr>
        </p:nvSpPr>
        <p:spPr>
          <a:xfrm>
            <a:off x="971550" y="1204913"/>
            <a:ext cx="7869238" cy="927100"/>
          </a:xfrm>
        </p:spPr>
        <p:txBody>
          <a:bodyPr vert="horz" wrap="square" lIns="91440" tIns="45720" rIns="91440" bIns="45720" anchor="ctr" anchorCtr="0"/>
          <a:lstStyle/>
          <a:p>
            <a:pPr eaLnBrk="1" hangingPunct="1"/>
            <a:r>
              <a:rPr lang="zh-CN" altLang="en-US" dirty="0"/>
              <a:t>一种有效算法</a:t>
            </a:r>
            <a:endParaRPr lang="en-US" altLang="zh-CN" dirty="0"/>
          </a:p>
        </p:txBody>
      </p:sp>
      <p:sp>
        <p:nvSpPr>
          <p:cNvPr id="9219" name="Rectangle 3"/>
          <p:cNvSpPr>
            <a:spLocks noGrp="1"/>
          </p:cNvSpPr>
          <p:nvPr>
            <p:ph idx="1"/>
          </p:nvPr>
        </p:nvSpPr>
        <p:spPr>
          <a:xfrm>
            <a:off x="881063" y="2132013"/>
            <a:ext cx="7786687" cy="2881312"/>
          </a:xfrm>
        </p:spPr>
        <p:txBody>
          <a:bodyPr vert="horz" wrap="square" lIns="91440" tIns="45720" rIns="91440" bIns="45720" anchor="t" anchorCtr="0"/>
          <a:lstStyle/>
          <a:p>
            <a:pPr eaLnBrk="1" hangingPunct="1">
              <a:lnSpc>
                <a:spcPct val="90000"/>
              </a:lnSpc>
            </a:pPr>
            <a:r>
              <a:rPr lang="zh-CN" altLang="en-US" dirty="0"/>
              <a:t>采取</a:t>
            </a:r>
            <a:r>
              <a:rPr lang="zh-CN" altLang="en-US" dirty="0">
                <a:solidFill>
                  <a:srgbClr val="FF0000"/>
                </a:solidFill>
              </a:rPr>
              <a:t>自底向上的方式</a:t>
            </a:r>
            <a:r>
              <a:rPr lang="zh-CN" altLang="en-US" dirty="0"/>
              <a:t>递推求值，并把</a:t>
            </a:r>
            <a:r>
              <a:rPr lang="zh-CN" altLang="en-US" dirty="0">
                <a:solidFill>
                  <a:srgbClr val="FF0000"/>
                </a:solidFill>
              </a:rPr>
              <a:t>中间结果</a:t>
            </a:r>
            <a:r>
              <a:rPr lang="zh-CN" altLang="en-US" dirty="0"/>
              <a:t>存储起来以便以后用来计算所需要求的解。利用这种技术可以设计出特别有效的算法来解决许多组合最优化问题。</a:t>
            </a:r>
            <a:endParaRPr lang="en-US" altLang="zh-CN" dirty="0"/>
          </a:p>
          <a:p>
            <a:pPr eaLnBrk="1" hangingPunct="1">
              <a:lnSpc>
                <a:spcPct val="90000"/>
              </a:lnSpc>
            </a:pPr>
            <a:endParaRPr lang="en-US" altLang="zh-CN" dirty="0"/>
          </a:p>
          <a:p>
            <a:pPr eaLnBrk="1" hangingPunct="1">
              <a:lnSpc>
                <a:spcPct val="90000"/>
              </a:lnSpc>
            </a:pPr>
            <a:r>
              <a:rPr lang="zh-CN" altLang="en-US" dirty="0"/>
              <a:t>对于</a:t>
            </a:r>
            <a:r>
              <a:rPr lang="en-US" altLang="zh-CN" dirty="0"/>
              <a:t>Fibonacci </a:t>
            </a:r>
            <a:r>
              <a:rPr lang="zh-CN" altLang="en-US" dirty="0"/>
              <a:t>函数来说，如果从</a:t>
            </a:r>
            <a:r>
              <a:rPr lang="en-US" altLang="zh-CN" dirty="0"/>
              <a:t>f</a:t>
            </a:r>
            <a:r>
              <a:rPr lang="en-US" altLang="zh-CN" baseline="-25000" dirty="0"/>
              <a:t>1</a:t>
            </a:r>
            <a:r>
              <a:rPr lang="zh-CN" altLang="en-US" dirty="0"/>
              <a:t>开始自底向上地计算直至到</a:t>
            </a:r>
            <a:r>
              <a:rPr lang="en-US" altLang="zh-CN" dirty="0"/>
              <a:t>f</a:t>
            </a:r>
            <a:r>
              <a:rPr lang="en-US" altLang="zh-CN" baseline="-25000" dirty="0"/>
              <a:t>n</a:t>
            </a:r>
            <a:r>
              <a:rPr lang="zh-CN" altLang="en-US" baseline="-25000" dirty="0"/>
              <a:t>，</a:t>
            </a:r>
            <a:r>
              <a:rPr lang="zh-CN" altLang="en-US" dirty="0"/>
              <a:t>只需要</a:t>
            </a:r>
            <a:r>
              <a:rPr lang="el-GR" altLang="zh-CN" dirty="0">
                <a:latin typeface="宋体" panose="02010600030101010101" pitchFamily="2" charset="-122"/>
              </a:rPr>
              <a:t>Θ</a:t>
            </a:r>
            <a:r>
              <a:rPr lang="en-US" altLang="zh-CN" dirty="0"/>
              <a:t>(n)</a:t>
            </a:r>
            <a:r>
              <a:rPr lang="zh-CN" altLang="en-US" dirty="0"/>
              <a:t>时间和</a:t>
            </a:r>
            <a:r>
              <a:rPr lang="el-GR" altLang="zh-CN" dirty="0">
                <a:latin typeface="宋体" panose="02010600030101010101" pitchFamily="2" charset="-122"/>
              </a:rPr>
              <a:t>Θ</a:t>
            </a:r>
            <a:r>
              <a:rPr lang="en-US" altLang="zh-CN" dirty="0"/>
              <a:t>(1)</a:t>
            </a:r>
            <a:r>
              <a:rPr lang="zh-CN" altLang="en-US" dirty="0"/>
              <a:t>空间。和上面的方法相比，可以很大程度地降低时间复杂度。</a:t>
            </a:r>
          </a:p>
          <a:p>
            <a:pPr eaLnBrk="1" hangingPunct="1">
              <a:lnSpc>
                <a:spcPct val="90000"/>
              </a:lnSpc>
            </a:pPr>
            <a:endParaRPr lang="zh-CN" altLang="en-US" dirty="0"/>
          </a:p>
          <a:p>
            <a:pPr eaLnBrk="1" hangingPunct="1">
              <a:lnSpc>
                <a:spcPct val="90000"/>
              </a:lnSpc>
            </a:pPr>
            <a:endParaRPr lang="en-US" altLang="zh-CN" dirty="0"/>
          </a:p>
          <a:p>
            <a:pPr eaLnBrk="1" hangingPunct="1">
              <a:lnSpc>
                <a:spcPct val="90000"/>
              </a:lnSpc>
            </a:pPr>
            <a:endParaRPr lang="en-US" altLang="zh-CN" dirty="0"/>
          </a:p>
        </p:txBody>
      </p:sp>
      <p:sp>
        <p:nvSpPr>
          <p:cNvPr id="3" name="Rectangle 2">
            <a:extLst>
              <a:ext uri="{FF2B5EF4-FFF2-40B4-BE49-F238E27FC236}">
                <a16:creationId xmlns:a16="http://schemas.microsoft.com/office/drawing/2014/main" id="{54F18FDF-6CD5-9E9D-D7A9-031C022DE833}"/>
              </a:ext>
            </a:extLst>
          </p:cNvPr>
          <p:cNvSpPr txBox="1">
            <a:spLocks noChangeArrowheads="1"/>
          </p:cNvSpPr>
          <p:nvPr/>
        </p:nvSpPr>
        <p:spPr>
          <a:xfrm>
            <a:off x="879475" y="269875"/>
            <a:ext cx="7869238" cy="927100"/>
          </a:xfrm>
          <a:prstGeom prst="rect">
            <a:avLst/>
          </a:prstGeom>
          <a:noFill/>
          <a:ln w="9525">
            <a:noFill/>
          </a:ln>
        </p:spPr>
        <p:txBody>
          <a:bodyPr anchor="ctr" anchorCtr="0"/>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sz="2800" kern="0" dirty="0">
                <a:latin typeface="+mj-ea"/>
              </a:rPr>
              <a:t>4.1.1</a:t>
            </a:r>
            <a:r>
              <a:rPr lang="zh-CN" altLang="en-US" sz="2800" kern="0" dirty="0">
                <a:latin typeface="+mj-ea"/>
              </a:rPr>
              <a:t> 递归表达式的归纳求解与迭代求解方法的复杂度对比分析（斐波那契序列、二项式系数）</a:t>
            </a:r>
            <a:endParaRPr lang="en-US" altLang="zh-CN" sz="280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 calcmode="lin" valueType="num">
                                      <p:cBhvr additive="base">
                                        <p:cTn id="12"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21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5"/>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7411" name="页脚占位符 6"/>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7412" name="灯片编号占位符 7"/>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7</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10243" name="Rectangle 3"/>
          <p:cNvSpPr>
            <a:spLocks noGrp="1"/>
          </p:cNvSpPr>
          <p:nvPr>
            <p:ph type="body" sz="half" idx="1"/>
          </p:nvPr>
        </p:nvSpPr>
        <p:spPr>
          <a:xfrm>
            <a:off x="817563" y="1196975"/>
            <a:ext cx="8218487" cy="4565650"/>
          </a:xfrm>
        </p:spPr>
        <p:txBody>
          <a:bodyPr vert="horz" wrap="square" lIns="91440" tIns="45720" rIns="91440" bIns="45720" anchor="t" anchorCtr="0"/>
          <a:lstStyle/>
          <a:p>
            <a:pPr eaLnBrk="1" hangingPunct="1">
              <a:lnSpc>
                <a:spcPct val="130000"/>
              </a:lnSpc>
              <a:buClrTx/>
              <a:buSzTx/>
              <a:buFontTx/>
            </a:pPr>
            <a:r>
              <a:rPr lang="zh-CN" altLang="en-US" sz="2000" dirty="0"/>
              <a:t>二项式系数定义如下</a:t>
            </a:r>
            <a:r>
              <a:rPr lang="en-US" altLang="zh-CN" sz="2000" dirty="0"/>
              <a:t>:</a:t>
            </a:r>
          </a:p>
          <a:p>
            <a:pPr eaLnBrk="1" hangingPunct="1">
              <a:lnSpc>
                <a:spcPct val="130000"/>
              </a:lnSpc>
              <a:buClrTx/>
              <a:buSzTx/>
              <a:buFontTx/>
            </a:pPr>
            <a:endParaRPr lang="en-US" altLang="zh-CN" sz="2000" dirty="0"/>
          </a:p>
          <a:p>
            <a:pPr eaLnBrk="1" hangingPunct="1">
              <a:lnSpc>
                <a:spcPct val="130000"/>
              </a:lnSpc>
              <a:buClrTx/>
              <a:buSzTx/>
              <a:buFontTx/>
            </a:pPr>
            <a:endParaRPr lang="en-US" altLang="zh-CN" sz="2000" dirty="0"/>
          </a:p>
          <a:p>
            <a:pPr eaLnBrk="1" hangingPunct="1">
              <a:lnSpc>
                <a:spcPct val="130000"/>
              </a:lnSpc>
              <a:buClrTx/>
              <a:buSzTx/>
              <a:buFontTx/>
            </a:pPr>
            <a:r>
              <a:rPr lang="zh-CN" altLang="en-US" sz="2000" dirty="0"/>
              <a:t>与</a:t>
            </a:r>
            <a:r>
              <a:rPr lang="en-US" altLang="zh-CN" sz="2000" dirty="0"/>
              <a:t>Fibonacci </a:t>
            </a:r>
            <a:r>
              <a:rPr lang="zh-CN" altLang="en-US" sz="2000" dirty="0"/>
              <a:t>系数类似</a:t>
            </a:r>
            <a:r>
              <a:rPr lang="en-US" altLang="zh-CN" sz="2000" dirty="0"/>
              <a:t>, </a:t>
            </a:r>
            <a:r>
              <a:rPr lang="zh-CN" altLang="en-US" sz="2000" dirty="0"/>
              <a:t>递归算法的时间复杂度正比于其自身：</a:t>
            </a:r>
            <a:endParaRPr lang="en-US" altLang="zh-CN" sz="2000" dirty="0"/>
          </a:p>
          <a:p>
            <a:pPr eaLnBrk="1" hangingPunct="1">
              <a:lnSpc>
                <a:spcPct val="130000"/>
              </a:lnSpc>
              <a:buClrTx/>
              <a:buSzTx/>
              <a:buFontTx/>
              <a:buNone/>
            </a:pPr>
            <a:endParaRPr lang="en-US" altLang="zh-CN" sz="2000" dirty="0"/>
          </a:p>
          <a:p>
            <a:pPr eaLnBrk="1" hangingPunct="1">
              <a:lnSpc>
                <a:spcPct val="130000"/>
              </a:lnSpc>
              <a:buClrTx/>
              <a:buSzTx/>
              <a:buFontTx/>
              <a:buNone/>
            </a:pPr>
            <a:r>
              <a:rPr lang="zh-CN" altLang="en-US" sz="2000" dirty="0"/>
              <a:t>此函数增长迅速</a:t>
            </a:r>
            <a:r>
              <a:rPr lang="en-US" altLang="zh-CN" sz="2000" dirty="0"/>
              <a:t>. </a:t>
            </a:r>
            <a:r>
              <a:rPr lang="zh-CN" altLang="en-US" sz="2000" dirty="0">
                <a:solidFill>
                  <a:srgbClr val="FF0000"/>
                </a:solidFill>
              </a:rPr>
              <a:t>例如</a:t>
            </a:r>
            <a:r>
              <a:rPr lang="en-US" altLang="zh-CN" sz="2000" dirty="0">
                <a:solidFill>
                  <a:srgbClr val="FF0000"/>
                </a:solidFill>
              </a:rPr>
              <a:t>,</a:t>
            </a:r>
            <a:r>
              <a:rPr lang="en-US" altLang="zh-CN" sz="2000" dirty="0">
                <a:solidFill>
                  <a:srgbClr val="FF3300"/>
                </a:solidFill>
              </a:rPr>
              <a:t> </a:t>
            </a:r>
            <a:r>
              <a:rPr lang="zh-CN" altLang="en-US" sz="2000" dirty="0">
                <a:solidFill>
                  <a:srgbClr val="FF3300"/>
                </a:solidFill>
              </a:rPr>
              <a:t>当</a:t>
            </a:r>
            <a:r>
              <a:rPr lang="en-US" altLang="zh-CN" sz="2000" dirty="0">
                <a:solidFill>
                  <a:srgbClr val="FF3300"/>
                </a:solidFill>
              </a:rPr>
              <a:t>k=n/2 (</a:t>
            </a:r>
            <a:r>
              <a:rPr lang="zh-CN" altLang="en-US" sz="2000" dirty="0">
                <a:solidFill>
                  <a:srgbClr val="FF3300"/>
                </a:solidFill>
              </a:rPr>
              <a:t>假设</a:t>
            </a:r>
            <a:r>
              <a:rPr lang="en-US" altLang="zh-CN" sz="2000" dirty="0">
                <a:solidFill>
                  <a:srgbClr val="FF3300"/>
                </a:solidFill>
              </a:rPr>
              <a:t> n </a:t>
            </a:r>
            <a:r>
              <a:rPr lang="zh-CN" altLang="en-US" sz="2000" dirty="0">
                <a:solidFill>
                  <a:srgbClr val="FF3300"/>
                </a:solidFill>
              </a:rPr>
              <a:t>是偶数</a:t>
            </a:r>
            <a:r>
              <a:rPr lang="en-US" altLang="zh-CN" sz="2000" dirty="0">
                <a:solidFill>
                  <a:srgbClr val="FF3300"/>
                </a:solidFill>
              </a:rPr>
              <a:t>), </a:t>
            </a:r>
            <a:r>
              <a:rPr lang="zh-CN" altLang="en-US" sz="2000" dirty="0">
                <a:solidFill>
                  <a:srgbClr val="FF3300"/>
                </a:solidFill>
              </a:rPr>
              <a:t>可知：</a:t>
            </a:r>
            <a:endParaRPr lang="en-US" altLang="zh-CN" sz="2000" dirty="0">
              <a:solidFill>
                <a:srgbClr val="FF3300"/>
              </a:solidFill>
            </a:endParaRPr>
          </a:p>
          <a:p>
            <a:pPr eaLnBrk="1" hangingPunct="1">
              <a:lnSpc>
                <a:spcPct val="130000"/>
              </a:lnSpc>
              <a:buClrTx/>
              <a:buSzTx/>
              <a:buFontTx/>
            </a:pPr>
            <a:endParaRPr lang="en-US" altLang="zh-CN" sz="2000" dirty="0">
              <a:solidFill>
                <a:srgbClr val="FF3300"/>
              </a:solidFill>
            </a:endParaRPr>
          </a:p>
        </p:txBody>
      </p:sp>
      <p:graphicFrame>
        <p:nvGraphicFramePr>
          <p:cNvPr id="10247" name="Object 7"/>
          <p:cNvGraphicFramePr>
            <a:graphicFrameLocks noGrp="1" noChangeAspect="1"/>
          </p:cNvGraphicFramePr>
          <p:nvPr>
            <p:ph sz="quarter" idx="2"/>
          </p:nvPr>
        </p:nvGraphicFramePr>
        <p:xfrm>
          <a:off x="2286000" y="1571625"/>
          <a:ext cx="4089400" cy="1146175"/>
        </p:xfrm>
        <a:graphic>
          <a:graphicData uri="http://schemas.openxmlformats.org/presentationml/2006/ole">
            <mc:AlternateContent xmlns:mc="http://schemas.openxmlformats.org/markup-compatibility/2006">
              <mc:Choice xmlns:v="urn:schemas-microsoft-com:vml" Requires="v">
                <p:oleObj r:id="rId3" imgW="2730500" imgH="723900" progId="Equation.3">
                  <p:embed/>
                </p:oleObj>
              </mc:Choice>
              <mc:Fallback>
                <p:oleObj r:id="rId3" imgW="2730500" imgH="723900" progId="Equation.3">
                  <p:embed/>
                  <p:pic>
                    <p:nvPicPr>
                      <p:cNvPr id="10247" name="Object 7"/>
                      <p:cNvPicPr/>
                      <p:nvPr/>
                    </p:nvPicPr>
                    <p:blipFill>
                      <a:blip r:embed="rId4"/>
                      <a:srcRect/>
                      <a:stretch>
                        <a:fillRect/>
                      </a:stretch>
                    </p:blipFill>
                    <p:spPr>
                      <a:xfrm>
                        <a:off x="2286000" y="1571625"/>
                        <a:ext cx="4089400" cy="1146175"/>
                      </a:xfrm>
                      <a:prstGeom prst="rect">
                        <a:avLst/>
                      </a:prstGeom>
                      <a:noFill/>
                      <a:ln w="38100">
                        <a:miter/>
                      </a:ln>
                    </p:spPr>
                  </p:pic>
                </p:oleObj>
              </mc:Fallback>
            </mc:AlternateContent>
          </a:graphicData>
        </a:graphic>
      </p:graphicFrame>
      <p:graphicFrame>
        <p:nvGraphicFramePr>
          <p:cNvPr id="10251" name="Object 11"/>
          <p:cNvGraphicFramePr>
            <a:graphicFrameLocks noGrp="1" noChangeAspect="1"/>
          </p:cNvGraphicFramePr>
          <p:nvPr>
            <p:ph sz="quarter" idx="3"/>
          </p:nvPr>
        </p:nvGraphicFramePr>
        <p:xfrm>
          <a:off x="3500438" y="2857500"/>
          <a:ext cx="1617662" cy="752475"/>
        </p:xfrm>
        <a:graphic>
          <a:graphicData uri="http://schemas.openxmlformats.org/presentationml/2006/ole">
            <mc:AlternateContent xmlns:mc="http://schemas.openxmlformats.org/markup-compatibility/2006">
              <mc:Choice xmlns:v="urn:schemas-microsoft-com:vml" Requires="v">
                <p:oleObj r:id="rId5" imgW="1066800" imgH="469900" progId="Equation.3">
                  <p:embed/>
                </p:oleObj>
              </mc:Choice>
              <mc:Fallback>
                <p:oleObj r:id="rId5" imgW="1066800" imgH="469900" progId="Equation.3">
                  <p:embed/>
                  <p:pic>
                    <p:nvPicPr>
                      <p:cNvPr id="10251" name="Object 11"/>
                      <p:cNvPicPr/>
                      <p:nvPr/>
                    </p:nvPicPr>
                    <p:blipFill>
                      <a:blip r:embed="rId6"/>
                      <a:srcRect/>
                      <a:stretch>
                        <a:fillRect/>
                      </a:stretch>
                    </p:blipFill>
                    <p:spPr>
                      <a:xfrm>
                        <a:off x="3500438" y="2857500"/>
                        <a:ext cx="1617662" cy="752475"/>
                      </a:xfrm>
                      <a:prstGeom prst="rect">
                        <a:avLst/>
                      </a:prstGeom>
                      <a:noFill/>
                      <a:ln w="38100">
                        <a:miter/>
                      </a:ln>
                    </p:spPr>
                  </p:pic>
                </p:oleObj>
              </mc:Fallback>
            </mc:AlternateContent>
          </a:graphicData>
        </a:graphic>
      </p:graphicFrame>
      <p:graphicFrame>
        <p:nvGraphicFramePr>
          <p:cNvPr id="10253" name="Object 13"/>
          <p:cNvGraphicFramePr>
            <a:graphicFrameLocks noChangeAspect="1"/>
          </p:cNvGraphicFramePr>
          <p:nvPr/>
        </p:nvGraphicFramePr>
        <p:xfrm>
          <a:off x="2316163" y="4149725"/>
          <a:ext cx="4848225" cy="887413"/>
        </p:xfrm>
        <a:graphic>
          <a:graphicData uri="http://schemas.openxmlformats.org/presentationml/2006/ole">
            <mc:AlternateContent xmlns:mc="http://schemas.openxmlformats.org/markup-compatibility/2006">
              <mc:Choice xmlns:v="urn:schemas-microsoft-com:vml" Requires="v">
                <p:oleObj r:id="rId7" imgW="2565400" imgH="469900" progId="Equation.3">
                  <p:embed/>
                </p:oleObj>
              </mc:Choice>
              <mc:Fallback>
                <p:oleObj r:id="rId7" imgW="2565400" imgH="469900" progId="Equation.3">
                  <p:embed/>
                  <p:pic>
                    <p:nvPicPr>
                      <p:cNvPr id="10253" name="Object 13"/>
                      <p:cNvPicPr/>
                      <p:nvPr/>
                    </p:nvPicPr>
                    <p:blipFill>
                      <a:blip r:embed="rId8"/>
                      <a:stretch>
                        <a:fillRect/>
                      </a:stretch>
                    </p:blipFill>
                    <p:spPr>
                      <a:xfrm>
                        <a:off x="2316163" y="4149725"/>
                        <a:ext cx="4848225" cy="887413"/>
                      </a:xfrm>
                      <a:prstGeom prst="rect">
                        <a:avLst/>
                      </a:prstGeom>
                      <a:noFill/>
                      <a:ln w="38100">
                        <a:noFill/>
                        <a:miter/>
                      </a:ln>
                    </p:spPr>
                  </p:pic>
                </p:oleObj>
              </mc:Fallback>
            </mc:AlternateContent>
          </a:graphicData>
        </a:graphic>
      </p:graphicFrame>
      <p:sp>
        <p:nvSpPr>
          <p:cNvPr id="4" name="Rectangle 2">
            <a:extLst>
              <a:ext uri="{FF2B5EF4-FFF2-40B4-BE49-F238E27FC236}">
                <a16:creationId xmlns:a16="http://schemas.microsoft.com/office/drawing/2014/main" id="{0E672227-92F8-8F9F-D317-A9A637D5B099}"/>
              </a:ext>
            </a:extLst>
          </p:cNvPr>
          <p:cNvSpPr txBox="1">
            <a:spLocks noChangeArrowheads="1"/>
          </p:cNvSpPr>
          <p:nvPr/>
        </p:nvSpPr>
        <p:spPr>
          <a:xfrm>
            <a:off x="879475" y="269875"/>
            <a:ext cx="7869238" cy="927100"/>
          </a:xfrm>
          <a:prstGeom prst="rect">
            <a:avLst/>
          </a:prstGeom>
          <a:noFill/>
          <a:ln w="9525">
            <a:noFill/>
          </a:ln>
        </p:spPr>
        <p:txBody>
          <a:bodyPr anchor="ctr" anchorCtr="0"/>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sz="2800" kern="0" dirty="0">
                <a:latin typeface="+mj-ea"/>
              </a:rPr>
              <a:t>4.1.1</a:t>
            </a:r>
            <a:r>
              <a:rPr lang="zh-CN" altLang="en-US" sz="2800" kern="0" dirty="0">
                <a:latin typeface="+mj-ea"/>
              </a:rPr>
              <a:t> 递归表达式的归纳求解与迭代求解方法的复杂度对比分析（斐波那契序列、二项式系数）</a:t>
            </a:r>
            <a:endParaRPr lang="en-US" altLang="zh-CN" sz="280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247"/>
                                        </p:tgtEl>
                                        <p:attrNameLst>
                                          <p:attrName>style.visibility</p:attrName>
                                        </p:attrNameLst>
                                      </p:cBhvr>
                                      <p:to>
                                        <p:strVal val="visible"/>
                                      </p:to>
                                    </p:set>
                                    <p:animEffect transition="in" filter="blinds(horizontal)">
                                      <p:cBhvr>
                                        <p:cTn id="11" dur="500"/>
                                        <p:tgtEl>
                                          <p:spTgt spid="1024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6" dur="500"/>
                                        <p:tgtEl>
                                          <p:spTgt spid="1024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21" dur="500"/>
                                        <p:tgtEl>
                                          <p:spTgt spid="10243">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0251"/>
                                        </p:tgtEl>
                                        <p:attrNameLst>
                                          <p:attrName>style.visibility</p:attrName>
                                        </p:attrNameLst>
                                      </p:cBhvr>
                                      <p:to>
                                        <p:strVal val="visible"/>
                                      </p:to>
                                    </p:set>
                                    <p:animEffect transition="in" filter="blinds(horizontal)">
                                      <p:cBhvr>
                                        <p:cTn id="24" dur="500"/>
                                        <p:tgtEl>
                                          <p:spTgt spid="10251"/>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0253"/>
                                        </p:tgtEl>
                                        <p:attrNameLst>
                                          <p:attrName>style.visibility</p:attrName>
                                        </p:attrNameLst>
                                      </p:cBhvr>
                                      <p:to>
                                        <p:strVal val="visible"/>
                                      </p:to>
                                    </p:set>
                                    <p:anim calcmode="lin" valueType="num">
                                      <p:cBhvr additive="base">
                                        <p:cTn id="29" dur="500" fill="hold"/>
                                        <p:tgtEl>
                                          <p:spTgt spid="10253"/>
                                        </p:tgtEl>
                                        <p:attrNameLst>
                                          <p:attrName>ppt_x</p:attrName>
                                        </p:attrNameLst>
                                      </p:cBhvr>
                                      <p:tavLst>
                                        <p:tav tm="0">
                                          <p:val>
                                            <p:strVal val="#ppt_x"/>
                                          </p:val>
                                        </p:tav>
                                        <p:tav tm="100000">
                                          <p:val>
                                            <p:strVal val="#ppt_x"/>
                                          </p:val>
                                        </p:tav>
                                      </p:tavLst>
                                    </p:anim>
                                    <p:anim calcmode="lin" valueType="num">
                                      <p:cBhvr additive="base">
                                        <p:cTn id="30" dur="500" fill="hold"/>
                                        <p:tgtEl>
                                          <p:spTgt spid="102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4"/>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9459" name="页脚占位符 5"/>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9460" name="灯片编号占位符 6"/>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8</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19461" name="Rectangle 3"/>
          <p:cNvSpPr>
            <a:spLocks noGrp="1"/>
          </p:cNvSpPr>
          <p:nvPr>
            <p:ph type="body" sz="half" idx="1"/>
          </p:nvPr>
        </p:nvSpPr>
        <p:spPr>
          <a:xfrm>
            <a:off x="900113" y="1268413"/>
            <a:ext cx="7775575" cy="4487862"/>
          </a:xfrm>
        </p:spPr>
        <p:txBody>
          <a:bodyPr vert="horz" wrap="square" lIns="91440" tIns="45720" rIns="91440" bIns="45720" anchor="t" anchorCtr="0"/>
          <a:lstStyle/>
          <a:p>
            <a:pPr eaLnBrk="1" hangingPunct="1">
              <a:buClrTx/>
              <a:buSzTx/>
              <a:buFontTx/>
            </a:pPr>
            <a:r>
              <a:rPr lang="zh-CN" altLang="en-US" dirty="0"/>
              <a:t>一种有效计算</a:t>
            </a:r>
            <a:r>
              <a:rPr lang="en-US" altLang="zh-CN" dirty="0"/>
              <a:t>     </a:t>
            </a:r>
            <a:r>
              <a:rPr lang="zh-CN" altLang="en-US" dirty="0"/>
              <a:t>的方法可以用按行构造帕斯卡三角来进行，</a:t>
            </a:r>
            <a:endParaRPr lang="en-US" altLang="zh-CN" dirty="0"/>
          </a:p>
          <a:p>
            <a:pPr eaLnBrk="1" hangingPunct="1">
              <a:buClrTx/>
              <a:buSzTx/>
              <a:buFontTx/>
            </a:pPr>
            <a:endParaRPr lang="en-US" altLang="zh-CN" dirty="0"/>
          </a:p>
          <a:p>
            <a:pPr eaLnBrk="1" hangingPunct="1">
              <a:buClrTx/>
              <a:buSzTx/>
              <a:buFontTx/>
            </a:pPr>
            <a:r>
              <a:rPr lang="zh-CN" altLang="en-US" dirty="0"/>
              <a:t>一旦计算出      的值，计算就立即停止。 </a:t>
            </a:r>
          </a:p>
          <a:p>
            <a:pPr eaLnBrk="1" hangingPunct="1">
              <a:buClrTx/>
              <a:buSzTx/>
              <a:buFontTx/>
            </a:pPr>
            <a:endParaRPr lang="en-US" altLang="zh-CN" dirty="0"/>
          </a:p>
          <a:p>
            <a:pPr eaLnBrk="1" hangingPunct="1">
              <a:buClrTx/>
              <a:buSzTx/>
              <a:buFontTx/>
            </a:pPr>
            <a:endParaRPr lang="en-US" altLang="zh-CN" dirty="0"/>
          </a:p>
        </p:txBody>
      </p:sp>
      <p:graphicFrame>
        <p:nvGraphicFramePr>
          <p:cNvPr id="19462" name="Object 12"/>
          <p:cNvGraphicFramePr>
            <a:graphicFrameLocks noGrp="1" noChangeAspect="1"/>
          </p:cNvGraphicFramePr>
          <p:nvPr>
            <p:ph sz="half" idx="2"/>
          </p:nvPr>
        </p:nvGraphicFramePr>
        <p:xfrm>
          <a:off x="3071813" y="1103313"/>
          <a:ext cx="479425" cy="852487"/>
        </p:xfrm>
        <a:graphic>
          <a:graphicData uri="http://schemas.openxmlformats.org/presentationml/2006/ole">
            <mc:AlternateContent xmlns:mc="http://schemas.openxmlformats.org/markup-compatibility/2006">
              <mc:Choice xmlns:v="urn:schemas-microsoft-com:vml" Requires="v">
                <p:oleObj r:id="rId3" imgW="279400" imgH="469900" progId="Equation.3">
                  <p:embed/>
                </p:oleObj>
              </mc:Choice>
              <mc:Fallback>
                <p:oleObj r:id="rId3" imgW="279400" imgH="469900" progId="Equation.3">
                  <p:embed/>
                  <p:pic>
                    <p:nvPicPr>
                      <p:cNvPr id="19462" name="Object 12"/>
                      <p:cNvPicPr/>
                      <p:nvPr/>
                    </p:nvPicPr>
                    <p:blipFill>
                      <a:blip r:embed="rId4"/>
                      <a:srcRect/>
                      <a:stretch>
                        <a:fillRect/>
                      </a:stretch>
                    </p:blipFill>
                    <p:spPr>
                      <a:xfrm>
                        <a:off x="3071813" y="1103313"/>
                        <a:ext cx="479425" cy="852487"/>
                      </a:xfrm>
                      <a:prstGeom prst="rect">
                        <a:avLst/>
                      </a:prstGeom>
                      <a:noFill/>
                      <a:ln w="38100">
                        <a:miter/>
                      </a:ln>
                    </p:spPr>
                  </p:pic>
                </p:oleObj>
              </mc:Fallback>
            </mc:AlternateContent>
          </a:graphicData>
        </a:graphic>
      </p:graphicFrame>
      <p:grpSp>
        <p:nvGrpSpPr>
          <p:cNvPr id="19463" name="Group 16"/>
          <p:cNvGrpSpPr/>
          <p:nvPr/>
        </p:nvGrpSpPr>
        <p:grpSpPr>
          <a:xfrm>
            <a:off x="285750" y="3284538"/>
            <a:ext cx="5572125" cy="2089150"/>
            <a:chOff x="1338" y="2205"/>
            <a:chExt cx="3991" cy="1316"/>
          </a:xfrm>
        </p:grpSpPr>
        <p:sp>
          <p:nvSpPr>
            <p:cNvPr id="19468" name="AutoShape 17"/>
            <p:cNvSpPr/>
            <p:nvPr/>
          </p:nvSpPr>
          <p:spPr>
            <a:xfrm>
              <a:off x="1338" y="2205"/>
              <a:ext cx="3991" cy="1316"/>
            </a:xfrm>
            <a:prstGeom prst="triangle">
              <a:avLst>
                <a:gd name="adj" fmla="val 50000"/>
              </a:avLst>
            </a:prstGeom>
            <a:solidFill>
              <a:schemeClr val="accent1"/>
            </a:solidFill>
            <a:ln w="25400" cap="flat" cmpd="sng">
              <a:solidFill>
                <a:schemeClr val="tx1"/>
              </a:solidFill>
              <a:prstDash val="dash"/>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b="1" dirty="0">
                <a:solidFill>
                  <a:schemeClr val="tx1"/>
                </a:solidFill>
                <a:latin typeface="Arial" panose="020B0604020202020204" pitchFamily="34" charset="0"/>
                <a:ea typeface="宋体" panose="02010600030101010101" pitchFamily="2" charset="-122"/>
              </a:endParaRPr>
            </a:p>
          </p:txBody>
        </p:sp>
        <p:sp>
          <p:nvSpPr>
            <p:cNvPr id="19469" name="Text Box 18"/>
            <p:cNvSpPr txBox="1"/>
            <p:nvPr/>
          </p:nvSpPr>
          <p:spPr>
            <a:xfrm>
              <a:off x="1594" y="2415"/>
              <a:ext cx="3076" cy="1096"/>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		        1</a:t>
              </a:r>
            </a:p>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		1	1</a:t>
              </a:r>
            </a:p>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	       1             2             1</a:t>
              </a:r>
            </a:p>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	1	3	3	1</a:t>
              </a:r>
            </a:p>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        1	        4	        6	        4	        1</a:t>
              </a:r>
            </a:p>
            <a:p>
              <a:pPr marL="0" lvl="0" indent="0" eaLnBrk="1" hangingPunct="1">
                <a:spcBef>
                  <a:spcPct val="0"/>
                </a:spcBef>
                <a:buNone/>
              </a:pPr>
              <a:r>
                <a:rPr lang="en-US" altLang="zh-CN" sz="1800" dirty="0">
                  <a:solidFill>
                    <a:schemeClr val="tx1"/>
                  </a:solidFill>
                  <a:latin typeface="Arial" panose="020B0604020202020204" pitchFamily="34" charset="0"/>
                  <a:ea typeface="宋体" panose="02010600030101010101" pitchFamily="2" charset="-122"/>
                </a:rPr>
                <a:t>1	5	10	10	5	1</a:t>
              </a:r>
            </a:p>
          </p:txBody>
        </p:sp>
      </p:grpSp>
      <p:graphicFrame>
        <p:nvGraphicFramePr>
          <p:cNvPr id="19464" name="Object 3"/>
          <p:cNvGraphicFramePr>
            <a:graphicFrameLocks noChangeAspect="1"/>
          </p:cNvGraphicFramePr>
          <p:nvPr/>
        </p:nvGraphicFramePr>
        <p:xfrm>
          <a:off x="2838450" y="2247900"/>
          <a:ext cx="479425" cy="852488"/>
        </p:xfrm>
        <a:graphic>
          <a:graphicData uri="http://schemas.openxmlformats.org/presentationml/2006/ole">
            <mc:AlternateContent xmlns:mc="http://schemas.openxmlformats.org/markup-compatibility/2006">
              <mc:Choice xmlns:v="urn:schemas-microsoft-com:vml" Requires="v">
                <p:oleObj r:id="rId3" imgW="279400" imgH="469900" progId="Equation.3">
                  <p:embed/>
                </p:oleObj>
              </mc:Choice>
              <mc:Fallback>
                <p:oleObj r:id="rId3" imgW="279400" imgH="469900" progId="Equation.3">
                  <p:embed/>
                  <p:pic>
                    <p:nvPicPr>
                      <p:cNvPr id="19464" name="Object 3"/>
                      <p:cNvPicPr/>
                      <p:nvPr/>
                    </p:nvPicPr>
                    <p:blipFill>
                      <a:blip r:embed="rId4"/>
                      <a:stretch>
                        <a:fillRect/>
                      </a:stretch>
                    </p:blipFill>
                    <p:spPr>
                      <a:xfrm>
                        <a:off x="2838450" y="2247900"/>
                        <a:ext cx="479425" cy="852488"/>
                      </a:xfrm>
                      <a:prstGeom prst="rect">
                        <a:avLst/>
                      </a:prstGeom>
                      <a:noFill/>
                      <a:ln w="38100">
                        <a:noFill/>
                        <a:miter/>
                      </a:ln>
                    </p:spPr>
                  </p:pic>
                </p:oleObj>
              </mc:Fallback>
            </mc:AlternateContent>
          </a:graphicData>
        </a:graphic>
      </p:graphicFrame>
      <p:sp>
        <p:nvSpPr>
          <p:cNvPr id="19465" name="矩形 11"/>
          <p:cNvSpPr/>
          <p:nvPr/>
        </p:nvSpPr>
        <p:spPr>
          <a:xfrm>
            <a:off x="2214563" y="5429250"/>
            <a:ext cx="1984375"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zh-CN" altLang="zh-CN" sz="1800" b="1" dirty="0">
                <a:solidFill>
                  <a:schemeClr val="tx1"/>
                </a:solidFill>
                <a:latin typeface="Arial" panose="020B0604020202020204" pitchFamily="34" charset="0"/>
                <a:ea typeface="宋体" panose="02010600030101010101" pitchFamily="2" charset="-122"/>
              </a:rPr>
              <a:t>帕斯卡三角形</a:t>
            </a:r>
            <a:endParaRPr lang="zh-CN" altLang="en-US" sz="1800" b="1" dirty="0">
              <a:solidFill>
                <a:schemeClr val="tx1"/>
              </a:solidFill>
              <a:latin typeface="Arial" panose="020B0604020202020204" pitchFamily="34" charset="0"/>
              <a:ea typeface="宋体" panose="02010600030101010101" pitchFamily="2" charset="-122"/>
            </a:endParaRPr>
          </a:p>
        </p:txBody>
      </p:sp>
      <p:sp>
        <p:nvSpPr>
          <p:cNvPr id="4111" name="Rectangle 15"/>
          <p:cNvSpPr>
            <a:spLocks noChangeArrowheads="1"/>
          </p:cNvSpPr>
          <p:nvPr/>
        </p:nvSpPr>
        <p:spPr bwMode="auto">
          <a:xfrm>
            <a:off x="6143625" y="3143250"/>
            <a:ext cx="3000375" cy="2335213"/>
          </a:xfrm>
          <a:prstGeom prst="rect">
            <a:avLst/>
          </a:prstGeom>
          <a:solidFill>
            <a:srgbClr val="FFFFFF"/>
          </a:solidFill>
          <a:ln w="25400" cap="flat" cmpd="sng" algn="ctr">
            <a:noFill/>
            <a:prstDash val="solid"/>
            <a:miter lim="800000"/>
          </a:ln>
          <a:effectLst/>
        </p:spPr>
        <p:txBody>
          <a:bodyPr bIns="133308"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000" b="1" i="0" u="none" strike="noStrike" kern="1200" cap="none" spc="0" normalizeH="0" baseline="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rPr>
              <a:t>1、每个数等于它上方两数之和。</a:t>
            </a:r>
            <a:endParaRPr kumimoji="0" lang="zh-CN" altLang="zh-CN"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000" b="1" i="0" u="none" strike="noStrike" kern="1200" cap="none" spc="0" normalizeH="0" baseline="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rPr>
              <a:t>2、每行数字左右对称，由1开始逐渐变大。</a:t>
            </a:r>
            <a:endParaRPr kumimoji="0" lang="zh-CN" altLang="zh-CN"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000" b="1" i="0" u="none" strike="noStrike" kern="1200" cap="none" spc="0" normalizeH="0" baseline="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rPr>
              <a:t>3、第n行的数字有n项。</a:t>
            </a:r>
            <a:endParaRPr kumimoji="0" lang="zh-CN" altLang="zh-CN" sz="20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zh-CN" sz="2000" b="1" i="0" u="none" strike="noStrike" kern="1200" cap="none" spc="0" normalizeH="0" baseline="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rPr>
              <a:t>4、第n行数字和为</a:t>
            </a:r>
            <a:r>
              <a:rPr kumimoji="0" lang="en-US" altLang="zh-CN" sz="2000" b="1" i="0" u="none" strike="noStrike" kern="1200" cap="none" spc="0" normalizeH="0" baseline="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rPr>
              <a:t>2</a:t>
            </a:r>
            <a:r>
              <a:rPr kumimoji="0" lang="en-US" altLang="zh-CN" sz="2000" b="1" i="0" u="none" strike="noStrike" kern="1200" cap="none" spc="0" normalizeH="0" baseline="3000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rPr>
              <a:t>n-1</a:t>
            </a:r>
            <a:endParaRPr kumimoji="0" lang="zh-CN" altLang="zh-CN" sz="2000" b="1" i="0" u="none" strike="noStrike" kern="1200" cap="none" spc="0" normalizeH="0" baseline="3000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endParaRPr>
          </a:p>
          <a:p>
            <a:pPr marL="0" marR="0" lvl="0" indent="317500" algn="l" defTabSz="914400" rtl="0" eaLnBrk="0" fontAlgn="base" latinLnBrk="0" hangingPunct="0">
              <a:lnSpc>
                <a:spcPct val="100000"/>
              </a:lnSpc>
              <a:spcBef>
                <a:spcPct val="0"/>
              </a:spcBef>
              <a:spcAft>
                <a:spcPct val="0"/>
              </a:spcAft>
              <a:buClrTx/>
              <a:buSzTx/>
              <a:buFontTx/>
              <a:buNone/>
              <a:defRPr/>
            </a:pPr>
            <a:r>
              <a:rPr kumimoji="0" lang="zh-CN" altLang="zh-CN" sz="1000" b="0" i="0" u="none" strike="noStrike" kern="1200" cap="none" spc="0" normalizeH="0" baseline="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rPr>
              <a:t>  </a:t>
            </a:r>
          </a:p>
          <a:p>
            <a:pPr marL="0" marR="0" lvl="0" indent="317500" algn="l" defTabSz="914400" rtl="0" eaLnBrk="0" fontAlgn="base" latinLnBrk="0" hangingPunct="0">
              <a:lnSpc>
                <a:spcPct val="100000"/>
              </a:lnSpc>
              <a:spcBef>
                <a:spcPct val="0"/>
              </a:spcBef>
              <a:spcAft>
                <a:spcPct val="0"/>
              </a:spcAft>
              <a:buClrTx/>
              <a:buSzTx/>
              <a:buFontTx/>
              <a:buNone/>
              <a:defRPr/>
            </a:pPr>
            <a:r>
              <a:rPr kumimoji="0" lang="zh-CN" sz="1000" b="0" i="0" u="none" strike="noStrike" kern="1200" cap="none" spc="0" normalizeH="0" baseline="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rPr>
              <a:t>。</a:t>
            </a:r>
            <a:endParaRPr kumimoji="0" lang="zh-CN" sz="900" b="0" i="0" u="none" strike="noStrike" kern="1200" cap="none" spc="0" normalizeH="0" baseline="0" noProof="0" dirty="0">
              <a:ln>
                <a:noFill/>
              </a:ln>
              <a:solidFill>
                <a:srgbClr val="333333"/>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6" name="Rectangle 2">
            <a:extLst>
              <a:ext uri="{FF2B5EF4-FFF2-40B4-BE49-F238E27FC236}">
                <a16:creationId xmlns:a16="http://schemas.microsoft.com/office/drawing/2014/main" id="{771D61E4-7C03-EBF6-B3A9-2F4416C921BA}"/>
              </a:ext>
            </a:extLst>
          </p:cNvPr>
          <p:cNvSpPr txBox="1">
            <a:spLocks noChangeArrowheads="1"/>
          </p:cNvSpPr>
          <p:nvPr/>
        </p:nvSpPr>
        <p:spPr>
          <a:xfrm>
            <a:off x="879475" y="269875"/>
            <a:ext cx="7869238" cy="927100"/>
          </a:xfrm>
          <a:prstGeom prst="rect">
            <a:avLst/>
          </a:prstGeom>
          <a:noFill/>
          <a:ln w="9525">
            <a:noFill/>
          </a:ln>
        </p:spPr>
        <p:txBody>
          <a:bodyPr anchor="ctr" anchorCtr="0"/>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sz="2800" kern="0" dirty="0">
                <a:latin typeface="+mj-ea"/>
              </a:rPr>
              <a:t>4.1.1</a:t>
            </a:r>
            <a:r>
              <a:rPr lang="zh-CN" altLang="en-US" sz="2800" kern="0" dirty="0">
                <a:latin typeface="+mj-ea"/>
              </a:rPr>
              <a:t> 递归表达式的归纳求解与迭代求解方法的复杂度对比分析（斐波那契序列、二项式系数）</a:t>
            </a:r>
            <a:endParaRPr lang="en-US" altLang="zh-CN" sz="2800" kern="0" dirty="0">
              <a:latin typeface="+mj-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27651"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27652"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9</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13315" name="Rectangle 3"/>
          <p:cNvSpPr>
            <a:spLocks noGrp="1"/>
          </p:cNvSpPr>
          <p:nvPr>
            <p:ph idx="1"/>
          </p:nvPr>
        </p:nvSpPr>
        <p:spPr/>
        <p:txBody>
          <a:bodyPr vert="horz" wrap="square" lIns="91440" tIns="45720" rIns="91440" bIns="45720" anchor="t" anchorCtr="0"/>
          <a:lstStyle/>
          <a:p>
            <a:pPr eaLnBrk="1" hangingPunct="1">
              <a:lnSpc>
                <a:spcPct val="90000"/>
              </a:lnSpc>
            </a:pPr>
            <a:r>
              <a:rPr lang="zh-CN" altLang="zh-CN" sz="2800" dirty="0"/>
              <a:t>通常采用动态规划</a:t>
            </a:r>
            <a:r>
              <a:rPr lang="zh-CN" altLang="en-US" sz="2800" dirty="0"/>
              <a:t>对问题进行</a:t>
            </a:r>
            <a:r>
              <a:rPr lang="zh-CN" altLang="zh-CN" sz="2800" dirty="0">
                <a:solidFill>
                  <a:srgbClr val="FF0000"/>
                </a:solidFill>
              </a:rPr>
              <a:t>优化</a:t>
            </a:r>
            <a:r>
              <a:rPr lang="zh-CN" altLang="zh-CN" sz="2800" dirty="0"/>
              <a:t>。</a:t>
            </a:r>
            <a:r>
              <a:rPr lang="zh-CN" altLang="en-US" sz="2800" dirty="0"/>
              <a:t>对于一个</a:t>
            </a:r>
            <a:r>
              <a:rPr lang="zh-CN" altLang="zh-CN" sz="2800" dirty="0"/>
              <a:t>问题，可以有很多可能的解决方案。每个解决方案有一个值，我们希望找到一个最佳的（最小或最大）值</a:t>
            </a:r>
            <a:r>
              <a:rPr lang="zh-CN" altLang="en-US" sz="2800" dirty="0"/>
              <a:t>对应的</a:t>
            </a:r>
            <a:r>
              <a:rPr lang="zh-CN" altLang="zh-CN" sz="2800" dirty="0"/>
              <a:t>解决方案，我们称这样的解决办法</a:t>
            </a:r>
            <a:r>
              <a:rPr lang="zh-CN" altLang="en-US" sz="2800" dirty="0"/>
              <a:t>为</a:t>
            </a:r>
            <a:r>
              <a:rPr lang="zh-CN" altLang="zh-CN" sz="2800" dirty="0">
                <a:solidFill>
                  <a:srgbClr val="FF0000"/>
                </a:solidFill>
              </a:rPr>
              <a:t>最优的解决方案</a:t>
            </a:r>
            <a:r>
              <a:rPr lang="zh-CN" altLang="zh-CN" sz="2800" dirty="0"/>
              <a:t>。</a:t>
            </a:r>
            <a:endParaRPr lang="en-US" altLang="zh-CN" sz="2800" dirty="0"/>
          </a:p>
        </p:txBody>
      </p:sp>
      <p:sp>
        <p:nvSpPr>
          <p:cNvPr id="2" name="Rectangle 2">
            <a:extLst>
              <a:ext uri="{FF2B5EF4-FFF2-40B4-BE49-F238E27FC236}">
                <a16:creationId xmlns:a16="http://schemas.microsoft.com/office/drawing/2014/main" id="{12C05580-9246-C6BA-6712-624A09CBB090}"/>
              </a:ext>
            </a:extLst>
          </p:cNvPr>
          <p:cNvSpPr>
            <a:spLocks noGrp="1" noChangeArrowheads="1"/>
          </p:cNvSpPr>
          <p:nvPr>
            <p:ph type="title"/>
          </p:nvPr>
        </p:nvSpPr>
        <p:spPr>
          <a:xfrm>
            <a:off x="879475" y="269875"/>
            <a:ext cx="7869238" cy="927100"/>
          </a:xfrm>
        </p:spPr>
        <p:txBody>
          <a:bodyPr/>
          <a:lstStyle/>
          <a:p>
            <a:pPr eaLnBrk="1" hangingPunct="1">
              <a:defRPr/>
            </a:pPr>
            <a:r>
              <a:rPr lang="en-US" altLang="zh-CN" dirty="0">
                <a:latin typeface="+mj-ea"/>
              </a:rPr>
              <a:t>4.1.2 </a:t>
            </a:r>
            <a:r>
              <a:rPr lang="zh-CN" altLang="en-US" dirty="0">
                <a:latin typeface="+mj-ea"/>
              </a:rPr>
              <a:t>最优化问题</a:t>
            </a:r>
            <a:endParaRPr lang="en-US" altLang="zh-CN" b="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27651"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27652"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10</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4" name="TextBox 3"/>
          <p:cNvSpPr txBox="1"/>
          <p:nvPr/>
        </p:nvSpPr>
        <p:spPr>
          <a:xfrm>
            <a:off x="992287" y="1494474"/>
            <a:ext cx="7540154" cy="124675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457200" indent="-457200">
              <a:lnSpc>
                <a:spcPts val="3000"/>
              </a:lnSpc>
              <a:spcBef>
                <a:spcPts val="600"/>
              </a:spcBef>
              <a:buBlip>
                <a:blip r:embed="rId3"/>
              </a:buBlip>
            </a:pPr>
            <a:r>
              <a:rPr lang="zh-CN" altLang="zh-CN" sz="2400" dirty="0">
                <a:solidFill>
                  <a:srgbClr val="FF0000"/>
                </a:solidFill>
              </a:rPr>
              <a:t>最优性原理：</a:t>
            </a:r>
            <a:r>
              <a:rPr lang="zh-CN" altLang="zh-CN" sz="2400" dirty="0">
                <a:solidFill>
                  <a:schemeClr val="accent2"/>
                </a:solidFill>
              </a:rPr>
              <a:t>如果问题的最优解所包含的子问题的解也是最优的</a:t>
            </a:r>
            <a:r>
              <a:rPr lang="zh-CN" altLang="en-US" sz="2400" dirty="0">
                <a:solidFill>
                  <a:schemeClr val="accent2"/>
                </a:solidFill>
              </a:rPr>
              <a:t>，</a:t>
            </a:r>
            <a:r>
              <a:rPr lang="zh-CN" altLang="zh-CN" sz="2400" dirty="0">
                <a:solidFill>
                  <a:schemeClr val="accent2"/>
                </a:solidFill>
              </a:rPr>
              <a:t>就称该问题具有最优子结构</a:t>
            </a:r>
            <a:r>
              <a:rPr lang="zh-CN" altLang="en-US" sz="2400" dirty="0">
                <a:solidFill>
                  <a:schemeClr val="accent2"/>
                </a:solidFill>
              </a:rPr>
              <a:t>，</a:t>
            </a:r>
            <a:r>
              <a:rPr lang="zh-CN" altLang="zh-CN" sz="2400" dirty="0">
                <a:solidFill>
                  <a:schemeClr val="accent2"/>
                </a:solidFill>
              </a:rPr>
              <a:t>即满足最优性原理。</a:t>
            </a:r>
          </a:p>
        </p:txBody>
      </p:sp>
      <p:grpSp>
        <p:nvGrpSpPr>
          <p:cNvPr id="25" name="组合 24"/>
          <p:cNvGrpSpPr/>
          <p:nvPr/>
        </p:nvGrpSpPr>
        <p:grpSpPr>
          <a:xfrm>
            <a:off x="1421935" y="2852936"/>
            <a:ext cx="7110506" cy="2928958"/>
            <a:chOff x="785786" y="3571876"/>
            <a:chExt cx="7072362" cy="2928958"/>
          </a:xfrm>
        </p:grpSpPr>
        <p:graphicFrame>
          <p:nvGraphicFramePr>
            <p:cNvPr id="26" name="Object 1"/>
            <p:cNvGraphicFramePr>
              <a:graphicFrameLocks noChangeAspect="1"/>
            </p:cNvGraphicFramePr>
            <p:nvPr/>
          </p:nvGraphicFramePr>
          <p:xfrm>
            <a:off x="818443" y="3571876"/>
            <a:ext cx="867462" cy="357190"/>
          </p:xfrm>
          <a:graphic>
            <a:graphicData uri="http://schemas.openxmlformats.org/presentationml/2006/ole">
              <mc:AlternateContent xmlns:mc="http://schemas.openxmlformats.org/markup-compatibility/2006">
                <mc:Choice xmlns:v="urn:schemas-microsoft-com:vml" Requires="v">
                  <p:oleObj r:id="rId4" imgW="508000" imgH="190500" progId="">
                    <p:embed/>
                  </p:oleObj>
                </mc:Choice>
                <mc:Fallback>
                  <p:oleObj r:id="rId4" imgW="508000" imgH="190500" progId="">
                    <p:embed/>
                    <p:pic>
                      <p:nvPicPr>
                        <p:cNvPr id="26"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443" y="3571876"/>
                          <a:ext cx="867462"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3"/>
            <p:cNvGraphicFramePr>
              <a:graphicFrameLocks noChangeAspect="1"/>
            </p:cNvGraphicFramePr>
            <p:nvPr/>
          </p:nvGraphicFramePr>
          <p:xfrm>
            <a:off x="785786" y="4000504"/>
            <a:ext cx="3941407" cy="571504"/>
          </p:xfrm>
          <a:graphic>
            <a:graphicData uri="http://schemas.openxmlformats.org/presentationml/2006/ole">
              <mc:AlternateContent xmlns:mc="http://schemas.openxmlformats.org/markup-compatibility/2006">
                <mc:Choice xmlns:v="urn:schemas-microsoft-com:vml" Requires="v">
                  <p:oleObj r:id="rId6" imgW="1905000" imgH="279400" progId="">
                    <p:embed/>
                  </p:oleObj>
                </mc:Choice>
                <mc:Fallback>
                  <p:oleObj r:id="rId6" imgW="1905000" imgH="279400" progId="">
                    <p:embed/>
                    <p:pic>
                      <p:nvPicPr>
                        <p:cNvPr id="27"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786" y="4000504"/>
                          <a:ext cx="3941407"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6"/>
            <p:cNvSpPr txBox="1"/>
            <p:nvPr/>
          </p:nvSpPr>
          <p:spPr>
            <a:xfrm>
              <a:off x="5000628" y="3786190"/>
              <a:ext cx="2857520" cy="707886"/>
            </a:xfrm>
            <a:prstGeom prst="rect">
              <a:avLst/>
            </a:prstGeom>
            <a:noFill/>
          </p:spPr>
          <p:txBody>
            <a:bodyPr wrap="square" rtlCol="0">
              <a:spAutoFit/>
            </a:bodyPr>
            <a:lstStyle/>
            <a:p>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到</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pt-BR"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的最短路径长度</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cxnSp>
          <p:nvCxnSpPr>
            <p:cNvPr id="29" name="直接箭头连接符 28"/>
            <p:cNvCxnSpPr/>
            <p:nvPr/>
          </p:nvCxnSpPr>
          <p:spPr>
            <a:xfrm rot="5400000" flipH="1" flipV="1">
              <a:off x="3250397" y="4679165"/>
              <a:ext cx="500066"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0" name="TextBox 9"/>
            <p:cNvSpPr txBox="1"/>
            <p:nvPr/>
          </p:nvSpPr>
          <p:spPr>
            <a:xfrm>
              <a:off x="2285984" y="5000636"/>
              <a:ext cx="2571768" cy="369332"/>
            </a:xfrm>
            <a:prstGeom prst="rect">
              <a:avLst/>
            </a:prstGeom>
            <a:noFill/>
          </p:spPr>
          <p:txBody>
            <a:bodyPr wrap="square" rtlCol="0">
              <a:spAutoFit/>
            </a:bodyPr>
            <a:lstStyle/>
            <a:p>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子问题的解也是最优的</a:t>
              </a:r>
              <a:endParaRPr lang="zh-CN" altLang="en-US" sz="1800"/>
            </a:p>
          </p:txBody>
        </p:sp>
        <p:sp>
          <p:nvSpPr>
            <p:cNvPr id="31" name="椭圆 30"/>
            <p:cNvSpPr/>
            <p:nvPr/>
          </p:nvSpPr>
          <p:spPr>
            <a:xfrm>
              <a:off x="2571736" y="5715016"/>
              <a:ext cx="341939" cy="4186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i="1">
                  <a:solidFill>
                    <a:srgbClr val="0000FF"/>
                  </a:solidFill>
                  <a:latin typeface="Consolas" panose="020B0609020204030204" pitchFamily="49" charset="0"/>
                  <a:ea typeface="楷体" panose="02010609060101010101" pitchFamily="49" charset="-122"/>
                  <a:cs typeface="Consolas" panose="020B0609020204030204" pitchFamily="49" charset="0"/>
                </a:rPr>
                <a:t>t</a:t>
              </a:r>
              <a:endParaRPr lang="zh-CN" altLang="en-US" sz="1600" i="1"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2" name="椭圆 31"/>
            <p:cNvSpPr/>
            <p:nvPr/>
          </p:nvSpPr>
          <p:spPr>
            <a:xfrm>
              <a:off x="4015747" y="5715016"/>
              <a:ext cx="341939" cy="4186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i="1">
                  <a:solidFill>
                    <a:srgbClr val="0000FF"/>
                  </a:solidFill>
                  <a:latin typeface="Consolas" panose="020B0609020204030204" pitchFamily="49" charset="0"/>
                  <a:ea typeface="楷体" panose="02010609060101010101" pitchFamily="49" charset="-122"/>
                  <a:cs typeface="Consolas" panose="020B0609020204030204" pitchFamily="49" charset="0"/>
                </a:rPr>
                <a:t>s</a:t>
              </a:r>
              <a:endParaRPr lang="zh-CN" altLang="en-US" sz="1600" i="1"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33" name="直接箭头连接符 32"/>
            <p:cNvCxnSpPr>
              <a:stCxn id="31" idx="6"/>
              <a:endCxn id="32" idx="2"/>
            </p:cNvCxnSpPr>
            <p:nvPr/>
          </p:nvCxnSpPr>
          <p:spPr>
            <a:xfrm>
              <a:off x="2913675" y="5924346"/>
              <a:ext cx="1102072" cy="1588"/>
            </a:xfrm>
            <a:prstGeom prst="straightConnector1">
              <a:avLst/>
            </a:prstGeom>
            <a:ln w="19050">
              <a:tailEnd type="arrow"/>
            </a:ln>
          </p:spPr>
          <p:style>
            <a:lnRef idx="2">
              <a:schemeClr val="accent6"/>
            </a:lnRef>
            <a:fillRef idx="0">
              <a:schemeClr val="accent6"/>
            </a:fillRef>
            <a:effectRef idx="1">
              <a:schemeClr val="accent6"/>
            </a:effectRef>
            <a:fontRef idx="minor">
              <a:schemeClr val="tx1"/>
            </a:fontRef>
          </p:style>
        </p:cxnSp>
        <p:sp>
          <p:nvSpPr>
            <p:cNvPr id="34" name="TextBox 14"/>
            <p:cNvSpPr txBox="1"/>
            <p:nvPr/>
          </p:nvSpPr>
          <p:spPr>
            <a:xfrm>
              <a:off x="3000364" y="5572140"/>
              <a:ext cx="1071570" cy="338554"/>
            </a:xfrm>
            <a:prstGeom prst="rect">
              <a:avLst/>
            </a:prstGeom>
            <a:noFill/>
          </p:spPr>
          <p:txBody>
            <a:bodyPr wrap="square" rtlCol="0">
              <a:spAutoFit/>
            </a:bodyPr>
            <a:lstStyle/>
            <a:p>
              <a:r>
                <a:rPr lang="en-US" altLang="zh-CN" sz="1600" i="1">
                  <a:solidFill>
                    <a:srgbClr val="0000FF"/>
                  </a:solidFill>
                  <a:latin typeface="Consolas" panose="020B0609020204030204" pitchFamily="49" charset="0"/>
                  <a:cs typeface="Consolas" panose="020B0609020204030204" pitchFamily="49" charset="0"/>
                </a:rPr>
                <a:t>c</a:t>
              </a:r>
              <a:r>
                <a:rPr lang="en-US" altLang="zh-CN" sz="1600">
                  <a:solidFill>
                    <a:srgbClr val="0000FF"/>
                  </a:solidFill>
                  <a:latin typeface="Consolas" panose="020B0609020204030204" pitchFamily="49" charset="0"/>
                  <a:cs typeface="Consolas" panose="020B0609020204030204" pitchFamily="49" charset="0"/>
                </a:rPr>
                <a:t>(</a:t>
              </a:r>
              <a:r>
                <a:rPr lang="en-US" altLang="zh-CN" sz="1600" i="1">
                  <a:solidFill>
                    <a:srgbClr val="0000FF"/>
                  </a:solidFill>
                  <a:latin typeface="Consolas" panose="020B0609020204030204" pitchFamily="49" charset="0"/>
                  <a:cs typeface="Consolas" panose="020B0609020204030204" pitchFamily="49" charset="0"/>
                </a:rPr>
                <a:t>t</a:t>
              </a:r>
              <a:r>
                <a:rPr lang="en-US" altLang="zh-CN" sz="1600">
                  <a:solidFill>
                    <a:srgbClr val="0000FF"/>
                  </a:solidFill>
                  <a:latin typeface="Consolas" panose="020B0609020204030204" pitchFamily="49" charset="0"/>
                  <a:cs typeface="Consolas" panose="020B0609020204030204" pitchFamily="49" charset="0"/>
                </a:rPr>
                <a:t>,</a:t>
              </a:r>
              <a:r>
                <a:rPr lang="en-US" altLang="zh-CN" sz="1600" i="1">
                  <a:solidFill>
                    <a:srgbClr val="0000FF"/>
                  </a:solidFill>
                  <a:latin typeface="Consolas" panose="020B0609020204030204" pitchFamily="49" charset="0"/>
                  <a:cs typeface="Consolas" panose="020B0609020204030204" pitchFamily="49" charset="0"/>
                </a:rPr>
                <a:t>s</a:t>
              </a:r>
              <a:r>
                <a:rPr lang="en-US" altLang="zh-CN" sz="1600">
                  <a:solidFill>
                    <a:srgbClr val="0000FF"/>
                  </a:solidFill>
                  <a:latin typeface="Consolas" panose="020B0609020204030204" pitchFamily="49" charset="0"/>
                  <a:cs typeface="Consolas" panose="020B0609020204030204" pitchFamily="49" charset="0"/>
                </a:rPr>
                <a:t>)</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5" name="TextBox 15"/>
            <p:cNvSpPr txBox="1"/>
            <p:nvPr/>
          </p:nvSpPr>
          <p:spPr>
            <a:xfrm>
              <a:off x="2428860" y="6162280"/>
              <a:ext cx="785818" cy="338554"/>
            </a:xfrm>
            <a:prstGeom prst="rect">
              <a:avLst/>
            </a:prstGeom>
            <a:noFill/>
          </p:spPr>
          <p:txBody>
            <a:bodyPr wrap="square" rtlCol="0">
              <a:spAutoFit/>
            </a:bodyPr>
            <a:lstStyle/>
            <a:p>
              <a:r>
                <a:rPr lang="en-US" altLang="zh-CN" sz="1600" i="1">
                  <a:solidFill>
                    <a:srgbClr val="0000FF"/>
                  </a:solidFill>
                  <a:latin typeface="Consolas" panose="020B0609020204030204" pitchFamily="49" charset="0"/>
                  <a:cs typeface="Consolas" panose="020B0609020204030204" pitchFamily="49" charset="0"/>
                </a:rPr>
                <a:t>f</a:t>
              </a:r>
              <a:r>
                <a:rPr lang="en-US" altLang="zh-CN" sz="1600">
                  <a:solidFill>
                    <a:srgbClr val="0000FF"/>
                  </a:solidFill>
                  <a:latin typeface="Consolas" panose="020B0609020204030204" pitchFamily="49" charset="0"/>
                  <a:cs typeface="Consolas" panose="020B0609020204030204" pitchFamily="49" charset="0"/>
                </a:rPr>
                <a:t>(</a:t>
              </a:r>
              <a:r>
                <a:rPr lang="en-US" altLang="zh-CN" sz="1600" i="1">
                  <a:solidFill>
                    <a:srgbClr val="0000FF"/>
                  </a:solidFill>
                  <a:latin typeface="Consolas" panose="020B0609020204030204" pitchFamily="49" charset="0"/>
                  <a:cs typeface="Consolas" panose="020B0609020204030204" pitchFamily="49" charset="0"/>
                </a:rPr>
                <a:t>t</a:t>
              </a:r>
              <a:r>
                <a:rPr lang="en-US" altLang="zh-CN" sz="1600">
                  <a:solidFill>
                    <a:srgbClr val="0000FF"/>
                  </a:solidFill>
                  <a:latin typeface="Consolas" panose="020B0609020204030204" pitchFamily="49" charset="0"/>
                  <a:cs typeface="Consolas" panose="020B0609020204030204" pitchFamily="49" charset="0"/>
                </a:rPr>
                <a:t>)</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6" name="TextBox 16"/>
            <p:cNvSpPr txBox="1"/>
            <p:nvPr/>
          </p:nvSpPr>
          <p:spPr>
            <a:xfrm>
              <a:off x="3857620" y="6162280"/>
              <a:ext cx="785818" cy="338554"/>
            </a:xfrm>
            <a:prstGeom prst="rect">
              <a:avLst/>
            </a:prstGeom>
            <a:noFill/>
          </p:spPr>
          <p:txBody>
            <a:bodyPr wrap="square" rtlCol="0">
              <a:spAutoFit/>
            </a:bodyPr>
            <a:lstStyle/>
            <a:p>
              <a:r>
                <a:rPr lang="en-US" altLang="zh-CN" sz="1600" i="1">
                  <a:solidFill>
                    <a:srgbClr val="0000FF"/>
                  </a:solidFill>
                  <a:latin typeface="Consolas" panose="020B0609020204030204" pitchFamily="49" charset="0"/>
                  <a:cs typeface="Consolas" panose="020B0609020204030204" pitchFamily="49" charset="0"/>
                </a:rPr>
                <a:t>f</a:t>
              </a:r>
              <a:r>
                <a:rPr lang="en-US" altLang="zh-CN" sz="1600">
                  <a:solidFill>
                    <a:srgbClr val="0000FF"/>
                  </a:solidFill>
                  <a:latin typeface="Consolas" panose="020B0609020204030204" pitchFamily="49" charset="0"/>
                  <a:cs typeface="Consolas" panose="020B0609020204030204" pitchFamily="49" charset="0"/>
                </a:rPr>
                <a:t>(</a:t>
              </a:r>
              <a:r>
                <a:rPr lang="en-US" altLang="zh-CN" sz="1600" i="1">
                  <a:solidFill>
                    <a:srgbClr val="0000FF"/>
                  </a:solidFill>
                  <a:latin typeface="Consolas" panose="020B0609020204030204" pitchFamily="49" charset="0"/>
                  <a:cs typeface="Consolas" panose="020B0609020204030204" pitchFamily="49" charset="0"/>
                </a:rPr>
                <a:t>s</a:t>
              </a:r>
              <a:r>
                <a:rPr lang="en-US" altLang="zh-CN" sz="1600">
                  <a:solidFill>
                    <a:srgbClr val="0000FF"/>
                  </a:solidFill>
                  <a:latin typeface="Consolas" panose="020B0609020204030204" pitchFamily="49" charset="0"/>
                  <a:cs typeface="Consolas" panose="020B0609020204030204" pitchFamily="49" charset="0"/>
                </a:rPr>
                <a:t>)</a:t>
              </a:r>
              <a:endParaRPr lang="zh-CN" altLang="en-US" sz="1600">
                <a:solidFill>
                  <a:srgbClr val="0000FF"/>
                </a:solidFill>
                <a:latin typeface="Consolas" panose="020B0609020204030204" pitchFamily="49" charset="0"/>
                <a:cs typeface="Consolas" panose="020B0609020204030204" pitchFamily="49" charset="0"/>
              </a:endParaRPr>
            </a:p>
          </p:txBody>
        </p:sp>
      </p:grpSp>
      <p:sp>
        <p:nvSpPr>
          <p:cNvPr id="2" name="Rectangle 2">
            <a:extLst>
              <a:ext uri="{FF2B5EF4-FFF2-40B4-BE49-F238E27FC236}">
                <a16:creationId xmlns:a16="http://schemas.microsoft.com/office/drawing/2014/main" id="{693B7E62-081F-4D7F-C0CD-577214B509BC}"/>
              </a:ext>
            </a:extLst>
          </p:cNvPr>
          <p:cNvSpPr>
            <a:spLocks noGrp="1" noChangeArrowheads="1"/>
          </p:cNvSpPr>
          <p:nvPr>
            <p:ph type="title"/>
          </p:nvPr>
        </p:nvSpPr>
        <p:spPr>
          <a:xfrm>
            <a:off x="879475" y="269875"/>
            <a:ext cx="7869238" cy="927100"/>
          </a:xfrm>
        </p:spPr>
        <p:txBody>
          <a:bodyPr/>
          <a:lstStyle/>
          <a:p>
            <a:pPr eaLnBrk="1" hangingPunct="1">
              <a:defRPr/>
            </a:pPr>
            <a:r>
              <a:rPr lang="en-US" altLang="zh-CN" dirty="0">
                <a:latin typeface="+mj-ea"/>
              </a:rPr>
              <a:t>4.1.2 </a:t>
            </a:r>
            <a:r>
              <a:rPr lang="zh-CN" altLang="en-US" dirty="0">
                <a:latin typeface="+mj-ea"/>
              </a:rPr>
              <a:t>最优化问题</a:t>
            </a:r>
            <a:endParaRPr lang="en-US" altLang="zh-CN" b="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317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17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11</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9699" name="Rectangle 3"/>
          <p:cNvSpPr>
            <a:spLocks noGrp="1" noChangeArrowheads="1"/>
          </p:cNvSpPr>
          <p:nvPr>
            <p:ph idx="1"/>
          </p:nvPr>
        </p:nvSpPr>
        <p:spPr>
          <a:xfrm>
            <a:off x="900113" y="1368425"/>
            <a:ext cx="7786688" cy="438785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问题描述</a:t>
            </a:r>
            <a:r>
              <a:rPr kumimoji="0" lang="en-US" altLang="zh-CN" sz="1800" b="0" i="0" u="none" strike="noStrike" kern="0" cap="none" spc="0" normalizeH="0" baseline="0" noProof="0" dirty="0">
                <a:ln>
                  <a:noFill/>
                </a:ln>
                <a:solidFill>
                  <a:schemeClr val="accent2"/>
                </a:solidFill>
                <a:effectLst/>
                <a:uLnTx/>
                <a:uFillTx/>
                <a:latin typeface="+mn-lt"/>
                <a:ea typeface="+mn-ea"/>
                <a:cs typeface="+mn-cs"/>
              </a:rPr>
              <a:t>: </a:t>
            </a: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ea"/>
                <a:ea typeface="+mn-ea"/>
              </a:rPr>
              <a:t>给定</a:t>
            </a:r>
            <a:r>
              <a:rPr kumimoji="0" lang="en-US" sz="2000" b="0" i="0" u="none" strike="noStrike" kern="0" cap="none" spc="0" normalizeH="0" baseline="0" noProof="0" dirty="0">
                <a:ln>
                  <a:noFill/>
                </a:ln>
                <a:solidFill>
                  <a:schemeClr val="accent2"/>
                </a:solidFill>
                <a:effectLst/>
                <a:uLnTx/>
                <a:uFillTx/>
                <a:latin typeface="+mn-ea"/>
                <a:ea typeface="+mn-ea"/>
              </a:rPr>
              <a:t>n</a:t>
            </a:r>
            <a:r>
              <a:rPr kumimoji="0" lang="zh-CN" altLang="en-US" sz="2000" b="0" i="0" u="none" strike="noStrike" kern="0" cap="none" spc="0" normalizeH="0" baseline="0" noProof="0" dirty="0">
                <a:ln>
                  <a:noFill/>
                </a:ln>
                <a:solidFill>
                  <a:schemeClr val="accent2"/>
                </a:solidFill>
                <a:effectLst/>
                <a:uLnTx/>
                <a:uFillTx/>
                <a:latin typeface="+mn-ea"/>
                <a:ea typeface="+mn-ea"/>
              </a:rPr>
              <a:t>个矩阵</a:t>
            </a:r>
            <a:r>
              <a:rPr kumimoji="0" lang="en-US" altLang="zh-CN" sz="2000" b="0" i="0" u="none" strike="noStrike" kern="0" cap="none" spc="0" normalizeH="0" baseline="0" noProof="0" dirty="0">
                <a:ln>
                  <a:noFill/>
                </a:ln>
                <a:solidFill>
                  <a:schemeClr val="accent2"/>
                </a:solidFill>
                <a:effectLst/>
                <a:uLnTx/>
                <a:uFillTx/>
                <a:latin typeface="+mn-ea"/>
                <a:ea typeface="+mn-ea"/>
              </a:rPr>
              <a:t>{</a:t>
            </a:r>
            <a:r>
              <a:rPr kumimoji="0" lang="en-US" sz="2000" b="0" i="0" u="none" strike="noStrike" kern="0" cap="none" spc="0" normalizeH="0" baseline="0" noProof="0" dirty="0">
                <a:ln>
                  <a:noFill/>
                </a:ln>
                <a:solidFill>
                  <a:schemeClr val="accent2"/>
                </a:solidFill>
                <a:effectLst/>
                <a:uLnTx/>
                <a:uFillTx/>
                <a:latin typeface="+mn-ea"/>
                <a:ea typeface="+mn-ea"/>
              </a:rPr>
              <a:t>A1,A2,…,An}，</a:t>
            </a:r>
            <a:r>
              <a:rPr kumimoji="0" lang="zh-CN" altLang="en-US" sz="2000" b="0" i="0" u="none" strike="noStrike" kern="0" cap="none" spc="0" normalizeH="0" baseline="0" noProof="0" dirty="0">
                <a:ln>
                  <a:noFill/>
                </a:ln>
                <a:solidFill>
                  <a:schemeClr val="accent2"/>
                </a:solidFill>
                <a:effectLst/>
                <a:uLnTx/>
                <a:uFillTx/>
                <a:latin typeface="+mn-ea"/>
                <a:ea typeface="+mn-ea"/>
              </a:rPr>
              <a:t>其中</a:t>
            </a:r>
            <a:r>
              <a:rPr kumimoji="0" lang="en-US" sz="2000" b="0" i="0" u="none" strike="noStrike" kern="0" cap="none" spc="0" normalizeH="0" baseline="0" noProof="0" dirty="0">
                <a:ln>
                  <a:noFill/>
                </a:ln>
                <a:solidFill>
                  <a:schemeClr val="accent2"/>
                </a:solidFill>
                <a:effectLst/>
                <a:uLnTx/>
                <a:uFillTx/>
                <a:latin typeface="+mn-ea"/>
                <a:ea typeface="+mn-ea"/>
              </a:rPr>
              <a:t>Ai</a:t>
            </a:r>
            <a:r>
              <a:rPr kumimoji="0" lang="zh-CN" altLang="en-US" sz="2000" b="0" i="0" u="none" strike="noStrike" kern="0" cap="none" spc="0" normalizeH="0" baseline="0" noProof="0" dirty="0">
                <a:ln>
                  <a:noFill/>
                </a:ln>
                <a:solidFill>
                  <a:schemeClr val="accent2"/>
                </a:solidFill>
                <a:effectLst/>
                <a:uLnTx/>
                <a:uFillTx/>
                <a:latin typeface="+mn-ea"/>
                <a:ea typeface="+mn-ea"/>
              </a:rPr>
              <a:t>与</a:t>
            </a:r>
            <a:r>
              <a:rPr kumimoji="0" lang="en-US" sz="2000" b="0" i="0" u="none" strike="noStrike" kern="0" cap="none" spc="0" normalizeH="0" baseline="0" noProof="0" dirty="0">
                <a:ln>
                  <a:noFill/>
                </a:ln>
                <a:solidFill>
                  <a:schemeClr val="accent2"/>
                </a:solidFill>
                <a:effectLst/>
                <a:uLnTx/>
                <a:uFillTx/>
                <a:latin typeface="+mn-ea"/>
                <a:ea typeface="+mn-ea"/>
              </a:rPr>
              <a:t>Ai+1</a:t>
            </a:r>
            <a:r>
              <a:rPr kumimoji="0" lang="zh-CN" altLang="en-US" sz="2000" b="0" i="0" u="none" strike="noStrike" kern="0" cap="none" spc="0" normalizeH="0" baseline="0" noProof="0" dirty="0">
                <a:ln>
                  <a:noFill/>
                </a:ln>
                <a:solidFill>
                  <a:schemeClr val="accent2"/>
                </a:solidFill>
                <a:effectLst/>
                <a:uLnTx/>
                <a:uFillTx/>
                <a:latin typeface="+mn-ea"/>
                <a:ea typeface="+mn-ea"/>
              </a:rPr>
              <a:t>是可乘的，</a:t>
            </a:r>
            <a:r>
              <a:rPr kumimoji="0" lang="en-US" sz="2000" b="0" i="0" u="none" strike="noStrike" kern="0" cap="none" spc="0" normalizeH="0" baseline="0" noProof="0" dirty="0" err="1">
                <a:ln>
                  <a:noFill/>
                </a:ln>
                <a:solidFill>
                  <a:schemeClr val="accent2"/>
                </a:solidFill>
                <a:effectLst/>
                <a:uLnTx/>
                <a:uFillTx/>
                <a:latin typeface="+mn-ea"/>
                <a:ea typeface="+mn-ea"/>
              </a:rPr>
              <a:t>i</a:t>
            </a:r>
            <a:r>
              <a:rPr kumimoji="0" lang="en-US" sz="2000" b="0" i="0" u="none" strike="noStrike" kern="0" cap="none" spc="0" normalizeH="0" baseline="0" noProof="0" dirty="0">
                <a:ln>
                  <a:noFill/>
                </a:ln>
                <a:solidFill>
                  <a:schemeClr val="accent2"/>
                </a:solidFill>
                <a:effectLst/>
                <a:uLnTx/>
                <a:uFillTx/>
                <a:latin typeface="+mn-ea"/>
                <a:ea typeface="+mn-ea"/>
              </a:rPr>
              <a:t>=1,2,…,n-1。</a:t>
            </a:r>
            <a:r>
              <a:rPr kumimoji="0" lang="zh-CN" altLang="en-US" sz="2000" b="0" i="0" u="none" strike="noStrike" kern="0" cap="none" spc="0" normalizeH="0" baseline="0" noProof="0" dirty="0">
                <a:ln>
                  <a:noFill/>
                </a:ln>
                <a:solidFill>
                  <a:schemeClr val="accent2"/>
                </a:solidFill>
                <a:effectLst/>
                <a:uLnTx/>
                <a:uFillTx/>
                <a:latin typeface="+mn-ea"/>
                <a:ea typeface="+mn-ea"/>
              </a:rPr>
              <a:t>要算出这</a:t>
            </a:r>
            <a:r>
              <a:rPr kumimoji="0" lang="en-US" sz="2000" b="0" i="0" u="none" strike="noStrike" kern="0" cap="none" spc="0" normalizeH="0" baseline="0" noProof="0" dirty="0">
                <a:ln>
                  <a:noFill/>
                </a:ln>
                <a:solidFill>
                  <a:schemeClr val="accent2"/>
                </a:solidFill>
                <a:effectLst/>
                <a:uLnTx/>
                <a:uFillTx/>
                <a:latin typeface="+mn-ea"/>
                <a:ea typeface="+mn-ea"/>
              </a:rPr>
              <a:t>n</a:t>
            </a:r>
            <a:r>
              <a:rPr kumimoji="0" lang="zh-CN" altLang="en-US" sz="2000" b="0" i="0" u="none" strike="noStrike" kern="0" cap="none" spc="0" normalizeH="0" baseline="0" noProof="0" dirty="0">
                <a:ln>
                  <a:noFill/>
                </a:ln>
                <a:solidFill>
                  <a:schemeClr val="accent2"/>
                </a:solidFill>
                <a:effectLst/>
                <a:uLnTx/>
                <a:uFillTx/>
                <a:latin typeface="+mn-ea"/>
                <a:ea typeface="+mn-ea"/>
              </a:rPr>
              <a:t>个矩阵的</a:t>
            </a:r>
            <a:r>
              <a:rPr kumimoji="0" lang="zh-CN" altLang="en-US" sz="2000" b="0" i="0" u="none" strike="noStrike" kern="0" cap="none" spc="0" normalizeH="0" baseline="0" noProof="0" dirty="0">
                <a:ln>
                  <a:noFill/>
                </a:ln>
                <a:solidFill>
                  <a:srgbClr val="FF0000"/>
                </a:solidFill>
                <a:effectLst/>
                <a:uLnTx/>
                <a:uFillTx/>
                <a:latin typeface="+mn-ea"/>
                <a:ea typeface="+mn-ea"/>
              </a:rPr>
              <a:t>连乘积</a:t>
            </a:r>
            <a:r>
              <a:rPr kumimoji="0" lang="en-US" sz="2000" b="0" i="0" u="none" strike="noStrike" kern="0" cap="none" spc="0" normalizeH="0" baseline="0" noProof="0" dirty="0">
                <a:ln>
                  <a:noFill/>
                </a:ln>
                <a:solidFill>
                  <a:schemeClr val="accent2"/>
                </a:solidFill>
                <a:effectLst/>
                <a:uLnTx/>
                <a:uFillTx/>
                <a:latin typeface="+mn-ea"/>
                <a:ea typeface="+mn-ea"/>
              </a:rPr>
              <a:t>A1A2…An。</a:t>
            </a:r>
            <a:endParaRPr kumimoji="0" lang="en-US" altLang="zh-CN" sz="20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ea"/>
                <a:ea typeface="+mn-ea"/>
              </a:rPr>
              <a:t>由于矩阵乘法满足结合律，故计算矩阵的连乘积可以有许多不同的计算次序。这种计算次序可以用</a:t>
            </a:r>
            <a:r>
              <a:rPr kumimoji="0" lang="zh-CN" altLang="en-US" sz="2000" b="0" i="0" u="none" strike="noStrike" kern="0" cap="none" spc="0" normalizeH="0" baseline="0" noProof="0" dirty="0">
                <a:ln>
                  <a:noFill/>
                </a:ln>
                <a:solidFill>
                  <a:srgbClr val="FF0000"/>
                </a:solidFill>
                <a:effectLst/>
                <a:uLnTx/>
                <a:uFillTx/>
                <a:latin typeface="+mn-ea"/>
                <a:ea typeface="+mn-ea"/>
              </a:rPr>
              <a:t>加括号</a:t>
            </a:r>
            <a:r>
              <a:rPr kumimoji="0" lang="zh-CN" altLang="en-US" sz="2000" b="0" i="0" u="none" strike="noStrike" kern="0" cap="none" spc="0" normalizeH="0" baseline="0" noProof="0" dirty="0">
                <a:ln>
                  <a:noFill/>
                </a:ln>
                <a:solidFill>
                  <a:schemeClr val="accent2"/>
                </a:solidFill>
                <a:effectLst/>
                <a:uLnTx/>
                <a:uFillTx/>
                <a:latin typeface="+mn-ea"/>
                <a:ea typeface="+mn-ea"/>
              </a:rPr>
              <a:t>的方式来确定。若一个矩阵连乘积的计算次序完全确定，也就是说该连乘积已</a:t>
            </a:r>
            <a:r>
              <a:rPr kumimoji="0" lang="zh-CN" altLang="en-US" sz="2000" b="0" i="0" u="none" strike="noStrike" kern="0" cap="none" spc="0" normalizeH="0" baseline="0" noProof="0" dirty="0">
                <a:ln>
                  <a:noFill/>
                </a:ln>
                <a:solidFill>
                  <a:srgbClr val="FF0000"/>
                </a:solidFill>
                <a:effectLst/>
                <a:uLnTx/>
                <a:uFillTx/>
                <a:latin typeface="+mn-ea"/>
                <a:ea typeface="+mn-ea"/>
              </a:rPr>
              <a:t>完全加括号</a:t>
            </a:r>
            <a:r>
              <a:rPr kumimoji="0" lang="zh-CN" altLang="en-US" sz="2000" b="0" i="0" u="none" strike="noStrike" kern="0" cap="none" spc="0" normalizeH="0" baseline="0" noProof="0" dirty="0">
                <a:ln>
                  <a:noFill/>
                </a:ln>
                <a:solidFill>
                  <a:schemeClr val="accent2"/>
                </a:solidFill>
                <a:effectLst/>
                <a:uLnTx/>
                <a:uFillTx/>
                <a:latin typeface="+mn-ea"/>
                <a:ea typeface="+mn-ea"/>
              </a:rPr>
              <a:t>，则可以依此次序反复调用</a:t>
            </a:r>
            <a:r>
              <a:rPr kumimoji="0" lang="en-US" altLang="zh-CN" sz="2000" b="0" i="0" u="none" strike="noStrike" kern="0" cap="none" spc="0" normalizeH="0" baseline="0" noProof="0" dirty="0">
                <a:ln>
                  <a:noFill/>
                </a:ln>
                <a:solidFill>
                  <a:schemeClr val="accent2"/>
                </a:solidFill>
                <a:effectLst/>
                <a:uLnTx/>
                <a:uFillTx/>
                <a:latin typeface="+mn-ea"/>
                <a:ea typeface="+mn-ea"/>
              </a:rPr>
              <a:t>2</a:t>
            </a:r>
            <a:r>
              <a:rPr kumimoji="0" lang="zh-CN" altLang="en-US" sz="2000" b="0" i="0" u="none" strike="noStrike" kern="0" cap="none" spc="0" normalizeH="0" baseline="0" noProof="0" dirty="0">
                <a:ln>
                  <a:noFill/>
                </a:ln>
                <a:solidFill>
                  <a:schemeClr val="accent2"/>
                </a:solidFill>
                <a:effectLst/>
                <a:uLnTx/>
                <a:uFillTx/>
                <a:latin typeface="+mn-ea"/>
                <a:ea typeface="+mn-ea"/>
              </a:rPr>
              <a:t>个矩阵相乘的标准算法计算出矩阵连乘积。</a:t>
            </a:r>
            <a:endParaRPr kumimoji="0" lang="en-US" altLang="zh-CN" sz="20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ea"/>
                <a:ea typeface="+mn-ea"/>
              </a:rPr>
              <a:t>例如，矩阵连乘积</a:t>
            </a:r>
            <a:r>
              <a:rPr kumimoji="0" lang="en-US" sz="2000" b="0" i="0" u="none" strike="noStrike" kern="0" cap="none" spc="0" normalizeH="0" baseline="0" noProof="0" dirty="0">
                <a:ln>
                  <a:noFill/>
                </a:ln>
                <a:solidFill>
                  <a:schemeClr val="accent2"/>
                </a:solidFill>
                <a:effectLst/>
                <a:uLnTx/>
                <a:uFillTx/>
                <a:latin typeface="+mn-ea"/>
                <a:ea typeface="+mn-ea"/>
              </a:rPr>
              <a:t>A1A2A3A4</a:t>
            </a:r>
            <a:r>
              <a:rPr kumimoji="0" lang="zh-CN" altLang="en-US" sz="2000" b="0" i="0" u="none" strike="noStrike" kern="0" cap="none" spc="0" normalizeH="0" baseline="0" noProof="0" dirty="0">
                <a:ln>
                  <a:noFill/>
                </a:ln>
                <a:solidFill>
                  <a:schemeClr val="accent2"/>
                </a:solidFill>
                <a:effectLst/>
                <a:uLnTx/>
                <a:uFillTx/>
                <a:latin typeface="+mn-ea"/>
                <a:ea typeface="+mn-ea"/>
              </a:rPr>
              <a:t>有</a:t>
            </a:r>
            <a:r>
              <a:rPr kumimoji="0" lang="en-US" altLang="zh-CN" sz="2000" b="0" i="0" u="none" strike="noStrike" kern="0" cap="none" spc="0" normalizeH="0" baseline="0" noProof="0" dirty="0">
                <a:ln>
                  <a:noFill/>
                </a:ln>
                <a:solidFill>
                  <a:schemeClr val="accent2"/>
                </a:solidFill>
                <a:effectLst/>
                <a:uLnTx/>
                <a:uFillTx/>
                <a:latin typeface="+mn-ea"/>
                <a:ea typeface="+mn-ea"/>
              </a:rPr>
              <a:t>5</a:t>
            </a:r>
            <a:r>
              <a:rPr kumimoji="0" lang="zh-CN" altLang="en-US" sz="2000" b="0" i="0" u="none" strike="noStrike" kern="0" cap="none" spc="0" normalizeH="0" baseline="0" noProof="0" dirty="0">
                <a:ln>
                  <a:noFill/>
                </a:ln>
                <a:solidFill>
                  <a:schemeClr val="accent2"/>
                </a:solidFill>
                <a:effectLst/>
                <a:uLnTx/>
                <a:uFillTx/>
                <a:latin typeface="+mn-ea"/>
                <a:ea typeface="+mn-ea"/>
              </a:rPr>
              <a:t>种不同的完全加括号的方式</a:t>
            </a:r>
            <a:endParaRPr kumimoji="0" lang="en-US" altLang="zh-CN" sz="2000" b="0" i="0" u="none" strike="noStrike" kern="0" cap="none" spc="0" normalizeH="0" baseline="0" noProof="0" dirty="0">
              <a:ln>
                <a:noFill/>
              </a:ln>
              <a:solidFill>
                <a:schemeClr val="accent2"/>
              </a:solidFill>
              <a:effectLst/>
              <a:uLnTx/>
              <a:uFillTx/>
              <a:latin typeface="+mn-ea"/>
              <a:ea typeface="+mn-ea"/>
            </a:endParaRP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1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2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3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4))) ,</a:t>
            </a: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1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2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3)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4)) ,</a:t>
            </a: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1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2)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3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4)) ,</a:t>
            </a: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1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2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3))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4) ,</a:t>
            </a: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1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2)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3) </a:t>
            </a:r>
            <a:r>
              <a:rPr kumimoji="0" lang="en-US" altLang="zh-CN" sz="2000" b="0" i="1" u="none" strike="noStrike" kern="0" cap="none" spc="0" normalizeH="0" baseline="0" noProof="0" dirty="0">
                <a:ln>
                  <a:noFill/>
                </a:ln>
                <a:solidFill>
                  <a:schemeClr val="tx1"/>
                </a:solidFill>
                <a:effectLst/>
                <a:uLnTx/>
                <a:uFillTx/>
                <a:latin typeface="Arial" panose="020B0604020202020204" pitchFamily="34" charset="0"/>
                <a:ea typeface="+mj-ea"/>
              </a:rPr>
              <a:t>A</a:t>
            </a:r>
            <a:r>
              <a:rPr kumimoji="0" lang="en-US" altLang="zh-CN" sz="2000" b="0" i="0" u="none" strike="noStrike" kern="0" cap="none" spc="0" normalizeH="0" baseline="0" noProof="0" dirty="0">
                <a:ln>
                  <a:noFill/>
                </a:ln>
                <a:solidFill>
                  <a:schemeClr val="tx1"/>
                </a:solidFill>
                <a:effectLst/>
                <a:uLnTx/>
                <a:uFillTx/>
                <a:latin typeface="Arial" panose="020B0604020202020204" pitchFamily="34" charset="0"/>
                <a:ea typeface="+mj-ea"/>
              </a:rPr>
              <a:t>4).</a:t>
            </a:r>
          </a:p>
        </p:txBody>
      </p:sp>
      <p:pic>
        <p:nvPicPr>
          <p:cNvPr id="29700" name="Picture 4" descr="question"/>
          <p:cNvPicPr>
            <a:picLocks noChangeAspect="1"/>
          </p:cNvPicPr>
          <p:nvPr/>
        </p:nvPicPr>
        <p:blipFill>
          <a:blip r:embed="rId4"/>
          <a:stretch>
            <a:fillRect/>
          </a:stretch>
        </p:blipFill>
        <p:spPr>
          <a:xfrm>
            <a:off x="900113" y="1296988"/>
            <a:ext cx="431800" cy="431800"/>
          </a:xfrm>
          <a:prstGeom prst="rect">
            <a:avLst/>
          </a:prstGeom>
          <a:noFill/>
          <a:ln w="9525">
            <a:noFill/>
          </a:ln>
        </p:spPr>
      </p:pic>
      <p:sp>
        <p:nvSpPr>
          <p:cNvPr id="4" name="Rectangle 2">
            <a:extLst>
              <a:ext uri="{FF2B5EF4-FFF2-40B4-BE49-F238E27FC236}">
                <a16:creationId xmlns:a16="http://schemas.microsoft.com/office/drawing/2014/main" id="{8FFA4B50-C973-1DEB-FC10-C689DC6CA853}"/>
              </a:ext>
            </a:extLst>
          </p:cNvPr>
          <p:cNvSpPr>
            <a:spLocks noGrp="1" noChangeArrowheads="1"/>
          </p:cNvSpPr>
          <p:nvPr>
            <p:ph type="title"/>
          </p:nvPr>
        </p:nvSpPr>
        <p:spPr>
          <a:xfrm>
            <a:off x="879475" y="269875"/>
            <a:ext cx="7869238" cy="927100"/>
          </a:xfrm>
        </p:spPr>
        <p:txBody>
          <a:bodyPr/>
          <a:lstStyle/>
          <a:p>
            <a:pPr eaLnBrk="1" hangingPunct="1">
              <a:defRPr/>
            </a:pPr>
            <a:r>
              <a:rPr lang="en-US" altLang="zh-CN" dirty="0">
                <a:latin typeface="+mj-ea"/>
              </a:rPr>
              <a:t>4.1.3 </a:t>
            </a:r>
            <a:r>
              <a:rPr lang="zh-CN" altLang="en-US" dirty="0">
                <a:latin typeface="+mj-ea"/>
              </a:rPr>
              <a:t>简单问题例的算法描述（矩阵链乘法、最长公共子序列）</a:t>
            </a:r>
            <a:endParaRPr lang="en-US" altLang="zh-CN" b="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9700"/>
                                        </p:tgtEl>
                                        <p:attrNameLst>
                                          <p:attrName>style.visibility</p:attrName>
                                        </p:attrNameLst>
                                      </p:cBhvr>
                                      <p:to>
                                        <p:strVal val="visible"/>
                                      </p:to>
                                    </p:set>
                                    <p:anim calcmode="lin" valueType="num">
                                      <p:cBhvr>
                                        <p:cTn id="7" dur="500" fill="hold"/>
                                        <p:tgtEl>
                                          <p:spTgt spid="29700"/>
                                        </p:tgtEl>
                                        <p:attrNameLst>
                                          <p:attrName>ppt_w</p:attrName>
                                        </p:attrNameLst>
                                      </p:cBhvr>
                                      <p:tavLst>
                                        <p:tav tm="0">
                                          <p:val>
                                            <p:fltVal val="0"/>
                                          </p:val>
                                        </p:tav>
                                        <p:tav tm="100000">
                                          <p:val>
                                            <p:strVal val="#ppt_w"/>
                                          </p:val>
                                        </p:tav>
                                      </p:tavLst>
                                    </p:anim>
                                    <p:anim calcmode="lin" valueType="num">
                                      <p:cBhvr>
                                        <p:cTn id="8" dur="500" fill="hold"/>
                                        <p:tgtEl>
                                          <p:spTgt spid="2970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11" dur="500"/>
                                        <p:tgtEl>
                                          <p:spTgt spid="2969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29699">
                                            <p:txEl>
                                              <p:pRg st="1" end="1"/>
                                            </p:txEl>
                                          </p:spTgt>
                                        </p:tgtEl>
                                        <p:attrNameLst>
                                          <p:attrName>style.visibility</p:attrName>
                                        </p:attrNameLst>
                                      </p:cBhvr>
                                      <p:to>
                                        <p:strVal val="visible"/>
                                      </p:to>
                                    </p:set>
                                    <p:anim calcmode="lin" valueType="num">
                                      <p:cBhvr additive="base">
                                        <p:cTn id="16"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9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9699">
                                            <p:txEl>
                                              <p:pRg st="2" end="2"/>
                                            </p:txEl>
                                          </p:spTgt>
                                        </p:tgtEl>
                                        <p:attrNameLst>
                                          <p:attrName>style.visibility</p:attrName>
                                        </p:attrNameLst>
                                      </p:cBhvr>
                                      <p:to>
                                        <p:strVal val="visible"/>
                                      </p:to>
                                    </p:set>
                                    <p:anim calcmode="lin" valueType="num">
                                      <p:cBhvr additive="base">
                                        <p:cTn id="22"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96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9699">
                                            <p:txEl>
                                              <p:pRg st="3" end="3"/>
                                            </p:txEl>
                                          </p:spTgt>
                                        </p:tgtEl>
                                        <p:attrNameLst>
                                          <p:attrName>style.visibility</p:attrName>
                                        </p:attrNameLst>
                                      </p:cBhvr>
                                      <p:to>
                                        <p:strVal val="visible"/>
                                      </p:to>
                                    </p:set>
                                    <p:anim calcmode="lin" valueType="num">
                                      <p:cBhvr additive="base">
                                        <p:cTn id="28" dur="5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96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9699">
                                            <p:txEl>
                                              <p:pRg st="4" end="4"/>
                                            </p:txEl>
                                          </p:spTgt>
                                        </p:tgtEl>
                                        <p:attrNameLst>
                                          <p:attrName>style.visibility</p:attrName>
                                        </p:attrNameLst>
                                      </p:cBhvr>
                                      <p:to>
                                        <p:strVal val="visible"/>
                                      </p:to>
                                    </p:set>
                                    <p:anim calcmode="lin" valueType="num">
                                      <p:cBhvr additive="base">
                                        <p:cTn id="34" dur="500" fill="hold"/>
                                        <p:tgtEl>
                                          <p:spTgt spid="29699">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9699">
                                            <p:txEl>
                                              <p:pRg st="4" end="4"/>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9699">
                                            <p:txEl>
                                              <p:pRg st="5" end="5"/>
                                            </p:txEl>
                                          </p:spTgt>
                                        </p:tgtEl>
                                        <p:attrNameLst>
                                          <p:attrName>style.visibility</p:attrName>
                                        </p:attrNameLst>
                                      </p:cBhvr>
                                      <p:to>
                                        <p:strVal val="visible"/>
                                      </p:to>
                                    </p:set>
                                    <p:anim calcmode="lin" valueType="num">
                                      <p:cBhvr additive="base">
                                        <p:cTn id="38" dur="500" fill="hold"/>
                                        <p:tgtEl>
                                          <p:spTgt spid="29699">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9699">
                                            <p:txEl>
                                              <p:pRg st="5" end="5"/>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9699">
                                            <p:txEl>
                                              <p:pRg st="6" end="6"/>
                                            </p:txEl>
                                          </p:spTgt>
                                        </p:tgtEl>
                                        <p:attrNameLst>
                                          <p:attrName>style.visibility</p:attrName>
                                        </p:attrNameLst>
                                      </p:cBhvr>
                                      <p:to>
                                        <p:strVal val="visible"/>
                                      </p:to>
                                    </p:set>
                                    <p:anim calcmode="lin" valueType="num">
                                      <p:cBhvr additive="base">
                                        <p:cTn id="42" dur="500" fill="hold"/>
                                        <p:tgtEl>
                                          <p:spTgt spid="29699">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9699">
                                            <p:txEl>
                                              <p:pRg st="6" end="6"/>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29699">
                                            <p:txEl>
                                              <p:pRg st="7" end="7"/>
                                            </p:txEl>
                                          </p:spTgt>
                                        </p:tgtEl>
                                        <p:attrNameLst>
                                          <p:attrName>style.visibility</p:attrName>
                                        </p:attrNameLst>
                                      </p:cBhvr>
                                      <p:to>
                                        <p:strVal val="visible"/>
                                      </p:to>
                                    </p:set>
                                    <p:anim calcmode="lin" valueType="num">
                                      <p:cBhvr additive="base">
                                        <p:cTn id="46"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9699">
                                            <p:txEl>
                                              <p:pRg st="7" end="7"/>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29699">
                                            <p:txEl>
                                              <p:pRg st="8" end="8"/>
                                            </p:txEl>
                                          </p:spTgt>
                                        </p:tgtEl>
                                        <p:attrNameLst>
                                          <p:attrName>style.visibility</p:attrName>
                                        </p:attrNameLst>
                                      </p:cBhvr>
                                      <p:to>
                                        <p:strVal val="visible"/>
                                      </p:to>
                                    </p:set>
                                    <p:anim calcmode="lin" valueType="num">
                                      <p:cBhvr additive="base">
                                        <p:cTn id="50" dur="500" fill="hold"/>
                                        <p:tgtEl>
                                          <p:spTgt spid="29699">
                                            <p:txEl>
                                              <p:pRg st="8" end="8"/>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296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4"/>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33795" name="页脚占位符 5"/>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3796" name="灯片编号占位符 6"/>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12</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33797" name="Rectangle 3"/>
          <p:cNvSpPr>
            <a:spLocks noGrp="1"/>
          </p:cNvSpPr>
          <p:nvPr>
            <p:ph type="body" sz="half" idx="1"/>
          </p:nvPr>
        </p:nvSpPr>
        <p:spPr>
          <a:xfrm>
            <a:off x="817563" y="1125538"/>
            <a:ext cx="8147050" cy="1089025"/>
          </a:xfrm>
        </p:spPr>
        <p:txBody>
          <a:bodyPr vert="horz" wrap="square" lIns="91440" tIns="45720" rIns="91440" bIns="45720" anchor="t" anchorCtr="0"/>
          <a:lstStyle/>
          <a:p>
            <a:pPr eaLnBrk="1" hangingPunct="1">
              <a:lnSpc>
                <a:spcPct val="80000"/>
              </a:lnSpc>
              <a:buClrTx/>
              <a:buSzTx/>
              <a:buFontTx/>
            </a:pPr>
            <a:r>
              <a:rPr lang="zh-CN" altLang="en-US" sz="2000" dirty="0"/>
              <a:t>每一种完全加括号的方式对应于一个矩阵连乘积的计算次序，这决定着作乘积所需要的计算量。</a:t>
            </a:r>
            <a:endParaRPr lang="en-US" altLang="zh-CN" sz="2200" dirty="0"/>
          </a:p>
          <a:p>
            <a:pPr eaLnBrk="1" hangingPunct="1">
              <a:lnSpc>
                <a:spcPct val="80000"/>
              </a:lnSpc>
              <a:buClrTx/>
              <a:buSzTx/>
              <a:buFontTx/>
            </a:pPr>
            <a:r>
              <a:rPr lang="zh-CN" altLang="zh-CN" sz="2000" dirty="0"/>
              <a:t>首先考虑两个矩阵相乘的成本。标准的算法由下面的伪代码给出</a:t>
            </a:r>
            <a:r>
              <a:rPr lang="en-US" altLang="zh-CN" sz="2000" dirty="0"/>
              <a:t>:</a:t>
            </a:r>
            <a:endParaRPr lang="en-US" altLang="zh-CN" sz="2200" dirty="0"/>
          </a:p>
        </p:txBody>
      </p:sp>
      <p:sp>
        <p:nvSpPr>
          <p:cNvPr id="30736" name="Text Box 16"/>
          <p:cNvSpPr txBox="1"/>
          <p:nvPr/>
        </p:nvSpPr>
        <p:spPr>
          <a:xfrm>
            <a:off x="251520" y="2094835"/>
            <a:ext cx="5400675" cy="4384675"/>
          </a:xfrm>
          <a:prstGeom prst="rect">
            <a:avLst/>
          </a:prstGeom>
          <a:solidFill>
            <a:schemeClr val="bg1"/>
          </a:solidFill>
          <a:ln w="25400"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457200" lvl="1" indent="0" eaLnBrk="1" hangingPunct="1">
              <a:spcBef>
                <a:spcPct val="0"/>
              </a:spcBef>
              <a:buNone/>
            </a:pPr>
            <a:r>
              <a:rPr lang="en-US" altLang="zh-CN" sz="2000" dirty="0">
                <a:ea typeface="宋体" panose="02010600030101010101" pitchFamily="2" charset="-122"/>
              </a:rPr>
              <a:t>Algorithm MATRIX-MULTIPLY(</a:t>
            </a:r>
            <a:r>
              <a:rPr lang="en-US" altLang="zh-CN" sz="2000" i="1" dirty="0">
                <a:ea typeface="宋体" panose="02010600030101010101" pitchFamily="2" charset="-122"/>
              </a:rPr>
              <a:t>A</a:t>
            </a:r>
            <a:r>
              <a:rPr lang="en-US" altLang="zh-CN" sz="2000" dirty="0">
                <a:ea typeface="宋体" panose="02010600030101010101" pitchFamily="2" charset="-122"/>
              </a:rPr>
              <a:t>, </a:t>
            </a:r>
            <a:r>
              <a:rPr lang="en-US" altLang="zh-CN" sz="2000" i="1" dirty="0">
                <a:ea typeface="宋体" panose="02010600030101010101" pitchFamily="2" charset="-122"/>
              </a:rPr>
              <a:t>B</a:t>
            </a:r>
            <a:r>
              <a:rPr lang="en-US" altLang="zh-CN" sz="2000" dirty="0">
                <a:ea typeface="宋体" panose="02010600030101010101" pitchFamily="2" charset="-122"/>
              </a:rPr>
              <a:t>)</a:t>
            </a:r>
          </a:p>
          <a:p>
            <a:pPr marL="457200" lvl="1" indent="0" eaLnBrk="1" hangingPunct="1">
              <a:spcBef>
                <a:spcPct val="0"/>
              </a:spcBef>
              <a:buNone/>
            </a:pPr>
            <a:r>
              <a:rPr lang="en-US" altLang="zh-CN" sz="2000" b="1" dirty="0">
                <a:ea typeface="宋体" panose="02010600030101010101" pitchFamily="2" charset="-122"/>
              </a:rPr>
              <a:t>if </a:t>
            </a:r>
            <a:r>
              <a:rPr lang="en-US" altLang="zh-CN" sz="2000" i="1" dirty="0">
                <a:ea typeface="宋体" panose="02010600030101010101" pitchFamily="2" charset="-122"/>
              </a:rPr>
              <a:t>columns</a:t>
            </a:r>
            <a:r>
              <a:rPr lang="en-US" altLang="zh-CN" sz="2000" dirty="0">
                <a:ea typeface="宋体" panose="02010600030101010101" pitchFamily="2" charset="-122"/>
              </a:rPr>
              <a:t>[</a:t>
            </a:r>
            <a:r>
              <a:rPr lang="en-US" altLang="zh-CN" sz="2000" i="1" dirty="0">
                <a:ea typeface="宋体" panose="02010600030101010101" pitchFamily="2" charset="-122"/>
              </a:rPr>
              <a:t>A</a:t>
            </a:r>
            <a:r>
              <a:rPr lang="en-US" altLang="zh-CN" sz="2000" dirty="0">
                <a:ea typeface="宋体" panose="02010600030101010101" pitchFamily="2" charset="-122"/>
              </a:rPr>
              <a:t>] ≠ </a:t>
            </a:r>
            <a:r>
              <a:rPr lang="en-US" altLang="zh-CN" sz="2000" i="1" dirty="0">
                <a:ea typeface="宋体" panose="02010600030101010101" pitchFamily="2" charset="-122"/>
              </a:rPr>
              <a:t>rows</a:t>
            </a:r>
            <a:r>
              <a:rPr lang="en-US" altLang="zh-CN" sz="2000" dirty="0">
                <a:ea typeface="宋体" panose="02010600030101010101" pitchFamily="2" charset="-122"/>
              </a:rPr>
              <a:t>[</a:t>
            </a:r>
            <a:r>
              <a:rPr lang="en-US" altLang="zh-CN" sz="2000" i="1" dirty="0">
                <a:ea typeface="宋体" panose="02010600030101010101" pitchFamily="2" charset="-122"/>
              </a:rPr>
              <a:t>B</a:t>
            </a:r>
            <a:r>
              <a:rPr lang="en-US" altLang="zh-CN" sz="2000" dirty="0">
                <a:ea typeface="宋体" panose="02010600030101010101" pitchFamily="2" charset="-122"/>
              </a:rPr>
              <a:t>]</a:t>
            </a:r>
          </a:p>
          <a:p>
            <a:pPr marL="457200" lvl="1" indent="0" eaLnBrk="1" hangingPunct="1">
              <a:spcBef>
                <a:spcPct val="0"/>
              </a:spcBef>
              <a:buNone/>
            </a:pPr>
            <a:r>
              <a:rPr lang="en-US" altLang="zh-CN" sz="2000" b="1" dirty="0">
                <a:ea typeface="宋体" panose="02010600030101010101" pitchFamily="2" charset="-122"/>
              </a:rPr>
              <a:t>then error </a:t>
            </a:r>
            <a:r>
              <a:rPr lang="en-US" altLang="zh-CN" sz="2000" dirty="0">
                <a:ea typeface="宋体" panose="02010600030101010101" pitchFamily="2" charset="-122"/>
              </a:rPr>
              <a:t>"incompatible dimensions"</a:t>
            </a:r>
          </a:p>
          <a:p>
            <a:pPr marL="457200" lvl="1" indent="0" eaLnBrk="1" hangingPunct="1">
              <a:spcBef>
                <a:spcPct val="0"/>
              </a:spcBef>
              <a:buNone/>
            </a:pPr>
            <a:r>
              <a:rPr lang="en-US" altLang="zh-CN" sz="2000" b="1" dirty="0">
                <a:ea typeface="宋体" panose="02010600030101010101" pitchFamily="2" charset="-122"/>
              </a:rPr>
              <a:t>else for </a:t>
            </a:r>
            <a:r>
              <a:rPr lang="en-US" altLang="zh-CN" sz="2000" i="1" dirty="0">
                <a:ea typeface="宋体" panose="02010600030101010101" pitchFamily="2" charset="-122"/>
              </a:rPr>
              <a:t>i </a:t>
            </a:r>
            <a:r>
              <a:rPr lang="en-US" altLang="zh-CN" sz="2000" dirty="0">
                <a:ea typeface="宋体" panose="02010600030101010101" pitchFamily="2" charset="-122"/>
              </a:rPr>
              <a:t>← 1 </a:t>
            </a:r>
            <a:r>
              <a:rPr lang="en-US" altLang="zh-CN" sz="2000" b="1" dirty="0">
                <a:ea typeface="宋体" panose="02010600030101010101" pitchFamily="2" charset="-122"/>
              </a:rPr>
              <a:t>to </a:t>
            </a:r>
            <a:r>
              <a:rPr lang="en-US" altLang="zh-CN" sz="2000" i="1" dirty="0">
                <a:ea typeface="宋体" panose="02010600030101010101" pitchFamily="2" charset="-122"/>
              </a:rPr>
              <a:t>rows</a:t>
            </a:r>
            <a:r>
              <a:rPr lang="en-US" altLang="zh-CN" sz="2000" dirty="0">
                <a:ea typeface="宋体" panose="02010600030101010101" pitchFamily="2" charset="-122"/>
              </a:rPr>
              <a:t>[</a:t>
            </a:r>
            <a:r>
              <a:rPr lang="en-US" altLang="zh-CN" sz="2000" i="1" dirty="0">
                <a:ea typeface="宋体" panose="02010600030101010101" pitchFamily="2" charset="-122"/>
              </a:rPr>
              <a:t>A</a:t>
            </a:r>
            <a:r>
              <a:rPr lang="en-US" altLang="zh-CN" sz="2000" dirty="0">
                <a:ea typeface="宋体" panose="02010600030101010101" pitchFamily="2" charset="-122"/>
              </a:rPr>
              <a:t>]  //p</a:t>
            </a:r>
          </a:p>
          <a:p>
            <a:pPr marL="914400" lvl="2" indent="0" eaLnBrk="1" hangingPunct="1">
              <a:spcBef>
                <a:spcPct val="0"/>
              </a:spcBef>
              <a:buNone/>
            </a:pPr>
            <a:r>
              <a:rPr lang="en-US" altLang="zh-CN" dirty="0"/>
              <a:t>  </a:t>
            </a:r>
            <a:r>
              <a:rPr lang="en-US" altLang="zh-CN" b="1" dirty="0"/>
              <a:t> for </a:t>
            </a:r>
            <a:r>
              <a:rPr lang="en-US" altLang="zh-CN" i="1" dirty="0"/>
              <a:t>j </a:t>
            </a:r>
            <a:r>
              <a:rPr lang="en-US" altLang="zh-CN" dirty="0"/>
              <a:t>← 1 </a:t>
            </a:r>
            <a:r>
              <a:rPr lang="en-US" altLang="zh-CN" b="1" dirty="0"/>
              <a:t>to </a:t>
            </a:r>
            <a:r>
              <a:rPr lang="en-US" altLang="zh-CN" i="1" dirty="0"/>
              <a:t>columns</a:t>
            </a:r>
            <a:r>
              <a:rPr lang="en-US" altLang="zh-CN" dirty="0"/>
              <a:t>[</a:t>
            </a:r>
            <a:r>
              <a:rPr lang="en-US" altLang="zh-CN" i="1" dirty="0"/>
              <a:t>B</a:t>
            </a:r>
            <a:r>
              <a:rPr lang="en-US" altLang="zh-CN" dirty="0"/>
              <a:t>]   //r</a:t>
            </a:r>
          </a:p>
          <a:p>
            <a:pPr marL="1371600" lvl="3" indent="0" eaLnBrk="1" hangingPunct="1">
              <a:spcBef>
                <a:spcPct val="0"/>
              </a:spcBef>
              <a:buNone/>
            </a:pPr>
            <a:r>
              <a:rPr lang="en-US" altLang="zh-CN" i="1" dirty="0">
                <a:solidFill>
                  <a:schemeClr val="accent2"/>
                </a:solidFill>
              </a:rPr>
              <a:t>C</a:t>
            </a:r>
            <a:r>
              <a:rPr lang="en-US" altLang="zh-CN" dirty="0">
                <a:solidFill>
                  <a:schemeClr val="accent2"/>
                </a:solidFill>
              </a:rPr>
              <a:t>[</a:t>
            </a:r>
            <a:r>
              <a:rPr lang="en-US" altLang="zh-CN" i="1" dirty="0">
                <a:solidFill>
                  <a:schemeClr val="accent2"/>
                </a:solidFill>
              </a:rPr>
              <a:t>i</a:t>
            </a:r>
            <a:r>
              <a:rPr lang="en-US" altLang="zh-CN" dirty="0">
                <a:solidFill>
                  <a:schemeClr val="accent2"/>
                </a:solidFill>
              </a:rPr>
              <a:t>, </a:t>
            </a:r>
            <a:r>
              <a:rPr lang="en-US" altLang="zh-CN" i="1" dirty="0">
                <a:solidFill>
                  <a:schemeClr val="accent2"/>
                </a:solidFill>
              </a:rPr>
              <a:t>j</a:t>
            </a:r>
            <a:r>
              <a:rPr lang="en-US" altLang="zh-CN" dirty="0">
                <a:solidFill>
                  <a:schemeClr val="accent2"/>
                </a:solidFill>
              </a:rPr>
              <a:t>] ← 0</a:t>
            </a:r>
          </a:p>
          <a:p>
            <a:pPr marL="1371600" lvl="3" indent="0" eaLnBrk="1" hangingPunct="1">
              <a:spcBef>
                <a:spcPct val="0"/>
              </a:spcBef>
              <a:buNone/>
            </a:pPr>
            <a:r>
              <a:rPr lang="en-US" altLang="zh-CN" dirty="0">
                <a:solidFill>
                  <a:schemeClr val="accent2"/>
                </a:solidFill>
              </a:rPr>
              <a:t> </a:t>
            </a:r>
            <a:r>
              <a:rPr lang="en-US" altLang="zh-CN" b="1" dirty="0">
                <a:solidFill>
                  <a:schemeClr val="accent2"/>
                </a:solidFill>
              </a:rPr>
              <a:t>for </a:t>
            </a:r>
            <a:r>
              <a:rPr lang="en-US" altLang="zh-CN" i="1" dirty="0">
                <a:solidFill>
                  <a:schemeClr val="accent2"/>
                </a:solidFill>
              </a:rPr>
              <a:t>k </a:t>
            </a:r>
            <a:r>
              <a:rPr lang="en-US" altLang="zh-CN" dirty="0">
                <a:solidFill>
                  <a:schemeClr val="accent2"/>
                </a:solidFill>
              </a:rPr>
              <a:t>← 1 </a:t>
            </a:r>
            <a:r>
              <a:rPr lang="en-US" altLang="zh-CN" b="1" dirty="0">
                <a:solidFill>
                  <a:schemeClr val="accent2"/>
                </a:solidFill>
              </a:rPr>
              <a:t>to </a:t>
            </a:r>
            <a:r>
              <a:rPr lang="en-US" altLang="zh-CN" i="1" dirty="0">
                <a:solidFill>
                  <a:schemeClr val="accent2"/>
                </a:solidFill>
              </a:rPr>
              <a:t>columns</a:t>
            </a:r>
            <a:r>
              <a:rPr lang="en-US" altLang="zh-CN" dirty="0">
                <a:solidFill>
                  <a:schemeClr val="accent2"/>
                </a:solidFill>
              </a:rPr>
              <a:t>[</a:t>
            </a:r>
            <a:r>
              <a:rPr lang="en-US" altLang="zh-CN" i="1" dirty="0">
                <a:solidFill>
                  <a:schemeClr val="accent2"/>
                </a:solidFill>
              </a:rPr>
              <a:t>A</a:t>
            </a:r>
            <a:r>
              <a:rPr lang="en-US" altLang="zh-CN" dirty="0">
                <a:solidFill>
                  <a:schemeClr val="accent2"/>
                </a:solidFill>
              </a:rPr>
              <a:t>]  //q</a:t>
            </a:r>
          </a:p>
          <a:p>
            <a:pPr marL="1371600" lvl="3" indent="0" eaLnBrk="1" hangingPunct="1">
              <a:spcBef>
                <a:spcPct val="0"/>
              </a:spcBef>
              <a:buNone/>
            </a:pPr>
            <a:r>
              <a:rPr lang="en-US" altLang="zh-CN" dirty="0">
                <a:solidFill>
                  <a:schemeClr val="accent2"/>
                </a:solidFill>
              </a:rPr>
              <a:t>	</a:t>
            </a:r>
            <a:r>
              <a:rPr lang="en-US" altLang="zh-CN" i="1" dirty="0">
                <a:solidFill>
                  <a:schemeClr val="accent2"/>
                </a:solidFill>
              </a:rPr>
              <a:t>C</a:t>
            </a:r>
            <a:r>
              <a:rPr lang="en-US" altLang="zh-CN" dirty="0">
                <a:solidFill>
                  <a:schemeClr val="accent2"/>
                </a:solidFill>
              </a:rPr>
              <a:t>[</a:t>
            </a:r>
            <a:r>
              <a:rPr lang="en-US" altLang="zh-CN" i="1" dirty="0">
                <a:solidFill>
                  <a:schemeClr val="accent2"/>
                </a:solidFill>
              </a:rPr>
              <a:t>i</a:t>
            </a:r>
            <a:r>
              <a:rPr lang="en-US" altLang="zh-CN" dirty="0">
                <a:solidFill>
                  <a:schemeClr val="accent2"/>
                </a:solidFill>
              </a:rPr>
              <a:t>, </a:t>
            </a:r>
            <a:r>
              <a:rPr lang="en-US" altLang="zh-CN" i="1" dirty="0">
                <a:solidFill>
                  <a:schemeClr val="accent2"/>
                </a:solidFill>
              </a:rPr>
              <a:t>j</a:t>
            </a:r>
            <a:r>
              <a:rPr lang="en-US" altLang="zh-CN" dirty="0">
                <a:solidFill>
                  <a:schemeClr val="accent2"/>
                </a:solidFill>
              </a:rPr>
              <a:t>] ← </a:t>
            </a:r>
            <a:r>
              <a:rPr lang="en-US" altLang="zh-CN" i="1" dirty="0">
                <a:solidFill>
                  <a:schemeClr val="accent2"/>
                </a:solidFill>
              </a:rPr>
              <a:t>C</a:t>
            </a:r>
            <a:r>
              <a:rPr lang="en-US" altLang="zh-CN" dirty="0">
                <a:solidFill>
                  <a:schemeClr val="accent2"/>
                </a:solidFill>
              </a:rPr>
              <a:t>[</a:t>
            </a:r>
            <a:r>
              <a:rPr lang="en-US" altLang="zh-CN" i="1" dirty="0">
                <a:solidFill>
                  <a:schemeClr val="accent2"/>
                </a:solidFill>
              </a:rPr>
              <a:t>i</a:t>
            </a:r>
            <a:r>
              <a:rPr lang="en-US" altLang="zh-CN" dirty="0">
                <a:solidFill>
                  <a:schemeClr val="accent2"/>
                </a:solidFill>
              </a:rPr>
              <a:t>, </a:t>
            </a:r>
            <a:r>
              <a:rPr lang="en-US" altLang="zh-CN" i="1" dirty="0">
                <a:solidFill>
                  <a:schemeClr val="accent2"/>
                </a:solidFill>
              </a:rPr>
              <a:t>j</a:t>
            </a:r>
            <a:r>
              <a:rPr lang="en-US" altLang="zh-CN" dirty="0">
                <a:solidFill>
                  <a:schemeClr val="accent2"/>
                </a:solidFill>
              </a:rPr>
              <a:t>] + </a:t>
            </a:r>
            <a:r>
              <a:rPr lang="en-US" altLang="zh-CN" i="1" dirty="0">
                <a:solidFill>
                  <a:schemeClr val="accent2"/>
                </a:solidFill>
              </a:rPr>
              <a:t>A</a:t>
            </a:r>
            <a:r>
              <a:rPr lang="en-US" altLang="zh-CN" dirty="0">
                <a:solidFill>
                  <a:schemeClr val="accent2"/>
                </a:solidFill>
              </a:rPr>
              <a:t>[</a:t>
            </a:r>
            <a:r>
              <a:rPr lang="en-US" altLang="zh-CN" i="1" dirty="0">
                <a:solidFill>
                  <a:schemeClr val="accent2"/>
                </a:solidFill>
              </a:rPr>
              <a:t>i</a:t>
            </a:r>
            <a:r>
              <a:rPr lang="en-US" altLang="zh-CN" dirty="0">
                <a:solidFill>
                  <a:schemeClr val="accent2"/>
                </a:solidFill>
              </a:rPr>
              <a:t>, </a:t>
            </a:r>
            <a:r>
              <a:rPr lang="en-US" altLang="zh-CN" i="1" dirty="0">
                <a:solidFill>
                  <a:schemeClr val="accent2"/>
                </a:solidFill>
              </a:rPr>
              <a:t>k</a:t>
            </a:r>
            <a:r>
              <a:rPr lang="en-US" altLang="zh-CN" dirty="0">
                <a:solidFill>
                  <a:schemeClr val="accent2"/>
                </a:solidFill>
              </a:rPr>
              <a:t>] · </a:t>
            </a:r>
            <a:r>
              <a:rPr lang="en-US" altLang="zh-CN" i="1" dirty="0">
                <a:solidFill>
                  <a:schemeClr val="accent2"/>
                </a:solidFill>
              </a:rPr>
              <a:t>B</a:t>
            </a:r>
            <a:r>
              <a:rPr lang="en-US" altLang="zh-CN" dirty="0">
                <a:solidFill>
                  <a:schemeClr val="accent2"/>
                </a:solidFill>
              </a:rPr>
              <a:t>[</a:t>
            </a:r>
            <a:r>
              <a:rPr lang="en-US" altLang="zh-CN" i="1" dirty="0">
                <a:solidFill>
                  <a:schemeClr val="accent2"/>
                </a:solidFill>
              </a:rPr>
              <a:t>k</a:t>
            </a:r>
            <a:r>
              <a:rPr lang="en-US" altLang="zh-CN" dirty="0">
                <a:solidFill>
                  <a:schemeClr val="accent2"/>
                </a:solidFill>
              </a:rPr>
              <a:t>, </a:t>
            </a:r>
            <a:r>
              <a:rPr lang="en-US" altLang="zh-CN" i="1" dirty="0">
                <a:solidFill>
                  <a:schemeClr val="accent2"/>
                </a:solidFill>
              </a:rPr>
              <a:t>j</a:t>
            </a:r>
            <a:r>
              <a:rPr lang="en-US" altLang="zh-CN" dirty="0">
                <a:solidFill>
                  <a:schemeClr val="accent2"/>
                </a:solidFill>
              </a:rPr>
              <a:t>]</a:t>
            </a:r>
          </a:p>
          <a:p>
            <a:pPr marL="1371600" lvl="3" indent="0" eaLnBrk="1" hangingPunct="1">
              <a:spcBef>
                <a:spcPct val="0"/>
              </a:spcBef>
              <a:buNone/>
            </a:pPr>
            <a:r>
              <a:rPr lang="en-US" altLang="zh-CN" b="1" dirty="0">
                <a:solidFill>
                  <a:schemeClr val="accent2"/>
                </a:solidFill>
              </a:rPr>
              <a:t>end for</a:t>
            </a:r>
          </a:p>
          <a:p>
            <a:pPr marL="914400" lvl="2" indent="0" eaLnBrk="1" hangingPunct="1">
              <a:spcBef>
                <a:spcPct val="0"/>
              </a:spcBef>
              <a:buNone/>
            </a:pPr>
            <a:r>
              <a:rPr lang="en-US" altLang="zh-CN" b="1" dirty="0"/>
              <a:t>  end for</a:t>
            </a:r>
          </a:p>
          <a:p>
            <a:pPr marL="914400" lvl="2" indent="0" eaLnBrk="1" hangingPunct="1">
              <a:spcBef>
                <a:spcPct val="0"/>
              </a:spcBef>
              <a:buNone/>
            </a:pPr>
            <a:r>
              <a:rPr lang="en-US" altLang="zh-CN" b="1" dirty="0"/>
              <a:t>end for</a:t>
            </a:r>
          </a:p>
          <a:p>
            <a:pPr marL="457200" lvl="1" indent="0" eaLnBrk="1" hangingPunct="1">
              <a:spcBef>
                <a:spcPct val="0"/>
              </a:spcBef>
              <a:buNone/>
            </a:pPr>
            <a:r>
              <a:rPr lang="en-US" altLang="zh-CN" sz="2000" b="1" dirty="0">
                <a:ea typeface="宋体" panose="02010600030101010101" pitchFamily="2" charset="-122"/>
              </a:rPr>
              <a:t>end if</a:t>
            </a:r>
          </a:p>
          <a:p>
            <a:pPr marL="457200" lvl="1" indent="0" eaLnBrk="1" hangingPunct="1">
              <a:spcBef>
                <a:spcPct val="0"/>
              </a:spcBef>
              <a:buNone/>
            </a:pPr>
            <a:r>
              <a:rPr lang="en-US" altLang="zh-CN" sz="2000" b="1" dirty="0">
                <a:ea typeface="宋体" panose="02010600030101010101" pitchFamily="2" charset="-122"/>
              </a:rPr>
              <a:t>return </a:t>
            </a:r>
            <a:r>
              <a:rPr lang="en-US" altLang="zh-CN" sz="2000" i="1" dirty="0">
                <a:ea typeface="宋体" panose="02010600030101010101" pitchFamily="2" charset="-122"/>
              </a:rPr>
              <a:t>C</a:t>
            </a:r>
            <a:endParaRPr lang="en-US" altLang="zh-CN" sz="2000" dirty="0">
              <a:ea typeface="宋体" panose="02010600030101010101" pitchFamily="2" charset="-122"/>
            </a:endParaRPr>
          </a:p>
        </p:txBody>
      </p:sp>
      <p:sp>
        <p:nvSpPr>
          <p:cNvPr id="30738" name="AutoShape 18"/>
          <p:cNvSpPr/>
          <p:nvPr/>
        </p:nvSpPr>
        <p:spPr>
          <a:xfrm>
            <a:off x="5538788" y="2070100"/>
            <a:ext cx="3605212" cy="3694113"/>
          </a:xfrm>
          <a:prstGeom prst="cloudCallout">
            <a:avLst>
              <a:gd name="adj1" fmla="val -66690"/>
              <a:gd name="adj2" fmla="val 7884"/>
            </a:avLst>
          </a:prstGeom>
          <a:solidFill>
            <a:srgbClr val="FFCC99"/>
          </a:solidFill>
          <a:ln w="25400"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eaLnBrk="1" hangingPunct="1">
              <a:lnSpc>
                <a:spcPct val="90000"/>
              </a:lnSpc>
              <a:buNone/>
            </a:pPr>
            <a:r>
              <a:rPr lang="zh-CN" altLang="en-US" sz="1800" dirty="0">
                <a:solidFill>
                  <a:srgbClr val="FF3300"/>
                </a:solidFill>
                <a:latin typeface="Arial" panose="020B0604020202020204" pitchFamily="34" charset="0"/>
                <a:ea typeface="宋体" panose="02010600030101010101" pitchFamily="2" charset="-122"/>
              </a:rPr>
              <a:t>相乘的两个矩阵必须是兼容的（</a:t>
            </a:r>
            <a:r>
              <a:rPr lang="en-US" altLang="zh-CN" sz="1800" b="1" i="1" dirty="0">
                <a:solidFill>
                  <a:schemeClr val="hlink"/>
                </a:solidFill>
                <a:latin typeface="Arial" panose="020B0604020202020204" pitchFamily="34" charset="0"/>
                <a:ea typeface="宋体" panose="02010600030101010101" pitchFamily="2" charset="-122"/>
              </a:rPr>
              <a:t>compatible</a:t>
            </a:r>
            <a:r>
              <a:rPr lang="zh-CN" altLang="en-US" sz="1800" b="1" i="1" dirty="0">
                <a:solidFill>
                  <a:schemeClr val="hlink"/>
                </a:solidFill>
                <a:latin typeface="Arial" panose="020B0604020202020204" pitchFamily="34" charset="0"/>
                <a:ea typeface="宋体" panose="02010600030101010101" pitchFamily="2" charset="-122"/>
              </a:rPr>
              <a:t>）</a:t>
            </a:r>
            <a:r>
              <a:rPr lang="en-US" altLang="zh-CN" sz="1800" dirty="0">
                <a:solidFill>
                  <a:srgbClr val="FF3300"/>
                </a:solidFill>
                <a:latin typeface="Arial" panose="020B0604020202020204" pitchFamily="34" charset="0"/>
                <a:ea typeface="宋体" panose="02010600030101010101" pitchFamily="2" charset="-122"/>
              </a:rPr>
              <a:t>:</a:t>
            </a:r>
            <a:r>
              <a:rPr lang="zh-CN" altLang="en-US" sz="1800" dirty="0">
                <a:solidFill>
                  <a:srgbClr val="FF3300"/>
                </a:solidFill>
                <a:latin typeface="Arial" panose="020B0604020202020204" pitchFamily="34" charset="0"/>
                <a:ea typeface="宋体" panose="02010600030101010101" pitchFamily="2" charset="-122"/>
              </a:rPr>
              <a:t>即</a:t>
            </a:r>
            <a:r>
              <a:rPr lang="en-US" altLang="zh-CN" sz="1800" dirty="0">
                <a:solidFill>
                  <a:srgbClr val="FF3300"/>
                </a:solidFill>
                <a:latin typeface="Arial" panose="020B0604020202020204" pitchFamily="34" charset="0"/>
                <a:ea typeface="宋体" panose="02010600030101010101" pitchFamily="2" charset="-122"/>
              </a:rPr>
              <a:t>A</a:t>
            </a:r>
            <a:r>
              <a:rPr lang="zh-CN" altLang="en-US" sz="1800" dirty="0">
                <a:solidFill>
                  <a:srgbClr val="FF3300"/>
                </a:solidFill>
                <a:latin typeface="Arial" panose="020B0604020202020204" pitchFamily="34" charset="0"/>
                <a:ea typeface="宋体" panose="02010600030101010101" pitchFamily="2" charset="-122"/>
              </a:rPr>
              <a:t>矩阵的列数必须等于</a:t>
            </a:r>
            <a:r>
              <a:rPr lang="en-US" altLang="zh-CN" sz="1800" dirty="0">
                <a:solidFill>
                  <a:srgbClr val="FF3300"/>
                </a:solidFill>
                <a:latin typeface="Arial" panose="020B0604020202020204" pitchFamily="34" charset="0"/>
                <a:ea typeface="宋体" panose="02010600030101010101" pitchFamily="2" charset="-122"/>
              </a:rPr>
              <a:t>B</a:t>
            </a:r>
            <a:r>
              <a:rPr lang="zh-CN" altLang="en-US" sz="1800" dirty="0">
                <a:solidFill>
                  <a:srgbClr val="FF3300"/>
                </a:solidFill>
                <a:latin typeface="Arial" panose="020B0604020202020204" pitchFamily="34" charset="0"/>
                <a:ea typeface="宋体" panose="02010600030101010101" pitchFamily="2" charset="-122"/>
              </a:rPr>
              <a:t>矩阵的行</a:t>
            </a:r>
            <a:r>
              <a:rPr lang="en-US" altLang="zh-CN" sz="1800" dirty="0">
                <a:solidFill>
                  <a:srgbClr val="FF3300"/>
                </a:solidFill>
                <a:latin typeface="Arial" panose="020B0604020202020204" pitchFamily="34" charset="0"/>
                <a:ea typeface="宋体" panose="02010600030101010101" pitchFamily="2" charset="-122"/>
              </a:rPr>
              <a:t>. </a:t>
            </a:r>
            <a:r>
              <a:rPr lang="zh-CN" altLang="en-US" sz="1800" dirty="0">
                <a:solidFill>
                  <a:srgbClr val="FF3300"/>
                </a:solidFill>
                <a:latin typeface="Arial" panose="020B0604020202020204" pitchFamily="34" charset="0"/>
                <a:ea typeface="宋体" panose="02010600030101010101" pitchFamily="2" charset="-122"/>
              </a:rPr>
              <a:t>若</a:t>
            </a:r>
            <a:r>
              <a:rPr lang="en-US" altLang="zh-CN" sz="1800" dirty="0">
                <a:solidFill>
                  <a:srgbClr val="FF3300"/>
                </a:solidFill>
                <a:latin typeface="Arial" panose="020B0604020202020204" pitchFamily="34" charset="0"/>
                <a:ea typeface="宋体" panose="02010600030101010101" pitchFamily="2" charset="-122"/>
              </a:rPr>
              <a:t>A</a:t>
            </a:r>
            <a:r>
              <a:rPr lang="zh-CN" altLang="en-US" sz="1800" dirty="0">
                <a:solidFill>
                  <a:srgbClr val="FF3300"/>
                </a:solidFill>
                <a:latin typeface="Arial" panose="020B0604020202020204" pitchFamily="34" charset="0"/>
                <a:ea typeface="宋体" panose="02010600030101010101" pitchFamily="2" charset="-122"/>
              </a:rPr>
              <a:t>是一个</a:t>
            </a:r>
            <a:r>
              <a:rPr lang="en-US" altLang="zh-CN" sz="1800" dirty="0">
                <a:solidFill>
                  <a:srgbClr val="FF3300"/>
                </a:solidFill>
                <a:latin typeface="Arial" panose="020B0604020202020204" pitchFamily="34" charset="0"/>
                <a:ea typeface="宋体" panose="02010600030101010101" pitchFamily="2" charset="-122"/>
              </a:rPr>
              <a:t>p×q</a:t>
            </a:r>
            <a:r>
              <a:rPr lang="zh-CN" altLang="en-US" sz="1800" dirty="0">
                <a:solidFill>
                  <a:srgbClr val="FF3300"/>
                </a:solidFill>
                <a:latin typeface="Arial" panose="020B0604020202020204" pitchFamily="34" charset="0"/>
                <a:ea typeface="宋体" panose="02010600030101010101" pitchFamily="2" charset="-122"/>
              </a:rPr>
              <a:t>矩阵，</a:t>
            </a:r>
            <a:r>
              <a:rPr lang="en-US" altLang="zh-CN" sz="1800" dirty="0">
                <a:solidFill>
                  <a:srgbClr val="FF3300"/>
                </a:solidFill>
                <a:latin typeface="Arial" panose="020B0604020202020204" pitchFamily="34" charset="0"/>
                <a:ea typeface="宋体" panose="02010600030101010101" pitchFamily="2" charset="-122"/>
              </a:rPr>
              <a:t>B</a:t>
            </a:r>
            <a:r>
              <a:rPr lang="zh-CN" altLang="en-US" sz="1800" dirty="0">
                <a:solidFill>
                  <a:srgbClr val="FF3300"/>
                </a:solidFill>
                <a:latin typeface="Arial" panose="020B0604020202020204" pitchFamily="34" charset="0"/>
                <a:ea typeface="宋体" panose="02010600030101010101" pitchFamily="2" charset="-122"/>
              </a:rPr>
              <a:t>是一个</a:t>
            </a:r>
            <a:r>
              <a:rPr lang="en-US" altLang="zh-CN" sz="1800" dirty="0">
                <a:solidFill>
                  <a:srgbClr val="FF3300"/>
                </a:solidFill>
                <a:latin typeface="Arial" panose="020B0604020202020204" pitchFamily="34" charset="0"/>
                <a:ea typeface="宋体" panose="02010600030101010101" pitchFamily="2" charset="-122"/>
              </a:rPr>
              <a:t>q×r</a:t>
            </a:r>
            <a:r>
              <a:rPr lang="zh-CN" altLang="en-US" sz="1800" dirty="0">
                <a:solidFill>
                  <a:srgbClr val="FF3300"/>
                </a:solidFill>
                <a:latin typeface="Arial" panose="020B0604020202020204" pitchFamily="34" charset="0"/>
                <a:ea typeface="宋体" panose="02010600030101010101" pitchFamily="2" charset="-122"/>
              </a:rPr>
              <a:t>矩阵，则计算其乘积</a:t>
            </a:r>
            <a:r>
              <a:rPr lang="en-US" altLang="zh-CN" sz="1800" dirty="0">
                <a:solidFill>
                  <a:srgbClr val="FF3300"/>
                </a:solidFill>
                <a:latin typeface="Arial" panose="020B0604020202020204" pitchFamily="34" charset="0"/>
                <a:ea typeface="宋体" panose="02010600030101010101" pitchFamily="2" charset="-122"/>
              </a:rPr>
              <a:t>C=AB</a:t>
            </a:r>
            <a:r>
              <a:rPr lang="zh-CN" altLang="en-US" sz="1800" dirty="0">
                <a:solidFill>
                  <a:srgbClr val="FF3300"/>
                </a:solidFill>
                <a:latin typeface="Arial" panose="020B0604020202020204" pitchFamily="34" charset="0"/>
                <a:ea typeface="宋体" panose="02010600030101010101" pitchFamily="2" charset="-122"/>
              </a:rPr>
              <a:t>的标准算法中，需要进行</a:t>
            </a:r>
            <a:r>
              <a:rPr lang="en-US" altLang="zh-CN" sz="1800" dirty="0">
                <a:solidFill>
                  <a:srgbClr val="FF3300"/>
                </a:solidFill>
                <a:latin typeface="Arial" panose="020B0604020202020204" pitchFamily="34" charset="0"/>
                <a:ea typeface="宋体" panose="02010600030101010101" pitchFamily="2" charset="-122"/>
              </a:rPr>
              <a:t>pqr</a:t>
            </a:r>
            <a:r>
              <a:rPr lang="zh-CN" altLang="en-US" sz="1800" dirty="0">
                <a:solidFill>
                  <a:srgbClr val="FF3300"/>
                </a:solidFill>
                <a:latin typeface="Arial" panose="020B0604020202020204" pitchFamily="34" charset="0"/>
                <a:ea typeface="宋体" panose="02010600030101010101" pitchFamily="2" charset="-122"/>
              </a:rPr>
              <a:t>次数乘。</a:t>
            </a:r>
            <a:r>
              <a:rPr lang="en-US" altLang="zh-CN" sz="1800" dirty="0">
                <a:solidFill>
                  <a:srgbClr val="FF3300"/>
                </a:solidFill>
                <a:latin typeface="Arial" panose="020B0604020202020204" pitchFamily="34" charset="0"/>
                <a:ea typeface="宋体" panose="02010600030101010101" pitchFamily="2" charset="-122"/>
              </a:rPr>
              <a:t> </a:t>
            </a:r>
          </a:p>
          <a:p>
            <a:pPr marL="0" lvl="0" indent="0" algn="ctr" eaLnBrk="1" hangingPunct="1">
              <a:spcBef>
                <a:spcPct val="0"/>
              </a:spcBef>
              <a:buNone/>
            </a:pPr>
            <a:endParaRPr lang="en-US" altLang="zh-CN" sz="1800" dirty="0">
              <a:solidFill>
                <a:schemeClr val="tx1"/>
              </a:solidFill>
              <a:latin typeface="Arial" panose="020B0604020202020204" pitchFamily="34" charset="0"/>
              <a:ea typeface="宋体" panose="02010600030101010101" pitchFamily="2" charset="-122"/>
            </a:endParaRPr>
          </a:p>
        </p:txBody>
      </p:sp>
      <p:sp>
        <p:nvSpPr>
          <p:cNvPr id="4" name="Rectangle 2">
            <a:extLst>
              <a:ext uri="{FF2B5EF4-FFF2-40B4-BE49-F238E27FC236}">
                <a16:creationId xmlns:a16="http://schemas.microsoft.com/office/drawing/2014/main" id="{7B85C937-A46A-73BF-5D86-70DB00F70F9A}"/>
              </a:ext>
            </a:extLst>
          </p:cNvPr>
          <p:cNvSpPr>
            <a:spLocks noGrp="1" noChangeArrowheads="1"/>
          </p:cNvSpPr>
          <p:nvPr>
            <p:ph type="title"/>
          </p:nvPr>
        </p:nvSpPr>
        <p:spPr>
          <a:xfrm>
            <a:off x="879475" y="269875"/>
            <a:ext cx="7869238" cy="927100"/>
          </a:xfrm>
        </p:spPr>
        <p:txBody>
          <a:bodyPr/>
          <a:lstStyle/>
          <a:p>
            <a:pPr eaLnBrk="1" hangingPunct="1">
              <a:defRPr/>
            </a:pPr>
            <a:r>
              <a:rPr lang="en-US" altLang="zh-CN" dirty="0">
                <a:latin typeface="+mj-ea"/>
              </a:rPr>
              <a:t>4.1.3 </a:t>
            </a:r>
            <a:r>
              <a:rPr lang="zh-CN" altLang="en-US" dirty="0">
                <a:latin typeface="+mj-ea"/>
              </a:rPr>
              <a:t>简单问题例的算法描述（矩阵链乘法、最长公共子序列）</a:t>
            </a:r>
            <a:endParaRPr lang="en-US" altLang="zh-CN" b="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0736"/>
                                        </p:tgtEl>
                                        <p:attrNameLst>
                                          <p:attrName>style.visibility</p:attrName>
                                        </p:attrNameLst>
                                      </p:cBhvr>
                                      <p:to>
                                        <p:strVal val="visible"/>
                                      </p:to>
                                    </p:set>
                                    <p:anim calcmode="lin" valueType="num">
                                      <p:cBhvr>
                                        <p:cTn id="7" dur="500" fill="hold"/>
                                        <p:tgtEl>
                                          <p:spTgt spid="30736"/>
                                        </p:tgtEl>
                                        <p:attrNameLst>
                                          <p:attrName>ppt_w</p:attrName>
                                        </p:attrNameLst>
                                      </p:cBhvr>
                                      <p:tavLst>
                                        <p:tav tm="0">
                                          <p:val>
                                            <p:fltVal val="0"/>
                                          </p:val>
                                        </p:tav>
                                        <p:tav tm="100000">
                                          <p:val>
                                            <p:strVal val="#ppt_w"/>
                                          </p:val>
                                        </p:tav>
                                      </p:tavLst>
                                    </p:anim>
                                    <p:anim calcmode="lin" valueType="num">
                                      <p:cBhvr>
                                        <p:cTn id="8" dur="500" fill="hold"/>
                                        <p:tgtEl>
                                          <p:spTgt spid="3073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0738"/>
                                        </p:tgtEl>
                                        <p:attrNameLst>
                                          <p:attrName>style.visibility</p:attrName>
                                        </p:attrNameLst>
                                      </p:cBhvr>
                                      <p:to>
                                        <p:strVal val="visible"/>
                                      </p:to>
                                    </p:set>
                                    <p:anim calcmode="lin" valueType="num">
                                      <p:cBhvr>
                                        <p:cTn id="13" dur="500" fill="hold"/>
                                        <p:tgtEl>
                                          <p:spTgt spid="30738"/>
                                        </p:tgtEl>
                                        <p:attrNameLst>
                                          <p:attrName>ppt_w</p:attrName>
                                        </p:attrNameLst>
                                      </p:cBhvr>
                                      <p:tavLst>
                                        <p:tav tm="0">
                                          <p:val>
                                            <p:fltVal val="0"/>
                                          </p:val>
                                        </p:tav>
                                        <p:tav tm="100000">
                                          <p:val>
                                            <p:strVal val="#ppt_w"/>
                                          </p:val>
                                        </p:tav>
                                      </p:tavLst>
                                    </p:anim>
                                    <p:anim calcmode="lin" valueType="num">
                                      <p:cBhvr>
                                        <p:cTn id="14" dur="500" fill="hold"/>
                                        <p:tgtEl>
                                          <p:spTgt spid="30738"/>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xit" presetSubtype="32" fill="hold" grpId="1" nodeType="clickEffect">
                                  <p:stCondLst>
                                    <p:cond delay="0"/>
                                  </p:stCondLst>
                                  <p:childTnLst>
                                    <p:anim calcmode="lin" valueType="num">
                                      <p:cBhvr>
                                        <p:cTn id="18" dur="500"/>
                                        <p:tgtEl>
                                          <p:spTgt spid="30738"/>
                                        </p:tgtEl>
                                        <p:attrNameLst>
                                          <p:attrName>ppt_w</p:attrName>
                                        </p:attrNameLst>
                                      </p:cBhvr>
                                      <p:tavLst>
                                        <p:tav tm="0">
                                          <p:val>
                                            <p:strVal val="ppt_w"/>
                                          </p:val>
                                        </p:tav>
                                        <p:tav tm="100000">
                                          <p:val>
                                            <p:fltVal val="0"/>
                                          </p:val>
                                        </p:tav>
                                      </p:tavLst>
                                    </p:anim>
                                    <p:anim calcmode="lin" valueType="num">
                                      <p:cBhvr>
                                        <p:cTn id="19" dur="500"/>
                                        <p:tgtEl>
                                          <p:spTgt spid="30738"/>
                                        </p:tgtEl>
                                        <p:attrNameLst>
                                          <p:attrName>ppt_h</p:attrName>
                                        </p:attrNameLst>
                                      </p:cBhvr>
                                      <p:tavLst>
                                        <p:tav tm="0">
                                          <p:val>
                                            <p:strVal val="ppt_h"/>
                                          </p:val>
                                        </p:tav>
                                        <p:tav tm="100000">
                                          <p:val>
                                            <p:fltVal val="0"/>
                                          </p:val>
                                        </p:tav>
                                      </p:tavLst>
                                    </p:anim>
                                    <p:set>
                                      <p:cBhvr>
                                        <p:cTn id="20" dur="1" fill="hold">
                                          <p:stCondLst>
                                            <p:cond delay="499"/>
                                          </p:stCondLst>
                                        </p:cTn>
                                        <p:tgtEl>
                                          <p:spTgt spid="307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6" grpId="0" animBg="1"/>
      <p:bldP spid="30738" grpId="0" animBg="1"/>
      <p:bldP spid="3073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4"/>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35843" name="页脚占位符 5"/>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5844" name="灯片编号占位符 6"/>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13</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32771" name="Rectangle 3"/>
          <p:cNvSpPr>
            <a:spLocks noGrp="1"/>
          </p:cNvSpPr>
          <p:nvPr>
            <p:ph type="body" sz="half" idx="1"/>
          </p:nvPr>
        </p:nvSpPr>
        <p:spPr>
          <a:xfrm>
            <a:off x="744538" y="1203325"/>
            <a:ext cx="8291512" cy="1001713"/>
          </a:xfrm>
        </p:spPr>
        <p:txBody>
          <a:bodyPr vert="horz" wrap="square" lIns="91440" tIns="45720" rIns="91440" bIns="45720" anchor="t" anchorCtr="0"/>
          <a:lstStyle/>
          <a:p>
            <a:pPr eaLnBrk="1" hangingPunct="1">
              <a:lnSpc>
                <a:spcPct val="80000"/>
              </a:lnSpc>
              <a:buClrTx/>
              <a:buSzTx/>
              <a:buFontTx/>
            </a:pPr>
            <a:r>
              <a:rPr lang="zh-CN" altLang="en-US" dirty="0"/>
              <a:t>先考察</a:t>
            </a:r>
            <a:r>
              <a:rPr lang="en-US" altLang="zh-CN" dirty="0"/>
              <a:t>3</a:t>
            </a:r>
            <a:r>
              <a:rPr lang="zh-CN" altLang="en-US" dirty="0"/>
              <a:t>个矩阵</a:t>
            </a:r>
            <a:r>
              <a:rPr lang="en-US" altLang="zh-CN" dirty="0"/>
              <a:t>{A1,A2,A3}</a:t>
            </a:r>
            <a:r>
              <a:rPr lang="zh-CN" altLang="en-US" dirty="0"/>
              <a:t>连乘的情况。设这三个矩阵的维数分别为</a:t>
            </a:r>
            <a:r>
              <a:rPr lang="en-US" altLang="zh-CN" dirty="0"/>
              <a:t>10 × 100, 100 × 5, and 5 × 50</a:t>
            </a:r>
            <a:r>
              <a:rPr lang="zh-CN" altLang="en-US" dirty="0"/>
              <a:t>。</a:t>
            </a:r>
            <a:endParaRPr lang="en-US" altLang="zh-CN" sz="900" dirty="0"/>
          </a:p>
        </p:txBody>
      </p:sp>
      <p:graphicFrame>
        <p:nvGraphicFramePr>
          <p:cNvPr id="32812" name="Group 44"/>
          <p:cNvGraphicFramePr>
            <a:graphicFrameLocks noGrp="1"/>
          </p:cNvGraphicFramePr>
          <p:nvPr>
            <p:ph sz="half" idx="1"/>
          </p:nvPr>
        </p:nvGraphicFramePr>
        <p:xfrm>
          <a:off x="576263" y="2349500"/>
          <a:ext cx="8388350" cy="1951038"/>
        </p:xfrm>
        <a:graphic>
          <a:graphicData uri="http://schemas.openxmlformats.org/drawingml/2006/table">
            <a:tbl>
              <a:tblPr/>
              <a:tblGrid>
                <a:gridCol w="2097087">
                  <a:extLst>
                    <a:ext uri="{9D8B030D-6E8A-4147-A177-3AD203B41FA5}">
                      <a16:colId xmlns:a16="http://schemas.microsoft.com/office/drawing/2014/main" val="20000"/>
                    </a:ext>
                  </a:extLst>
                </a:gridCol>
                <a:gridCol w="2079625">
                  <a:extLst>
                    <a:ext uri="{9D8B030D-6E8A-4147-A177-3AD203B41FA5}">
                      <a16:colId xmlns:a16="http://schemas.microsoft.com/office/drawing/2014/main" val="20001"/>
                    </a:ext>
                  </a:extLst>
                </a:gridCol>
                <a:gridCol w="2232025">
                  <a:extLst>
                    <a:ext uri="{9D8B030D-6E8A-4147-A177-3AD203B41FA5}">
                      <a16:colId xmlns:a16="http://schemas.microsoft.com/office/drawing/2014/main" val="20002"/>
                    </a:ext>
                  </a:extLst>
                </a:gridCol>
                <a:gridCol w="1979613">
                  <a:extLst>
                    <a:ext uri="{9D8B030D-6E8A-4147-A177-3AD203B41FA5}">
                      <a16:colId xmlns:a16="http://schemas.microsoft.com/office/drawing/2014/main" val="20003"/>
                    </a:ext>
                  </a:extLst>
                </a:gridCol>
              </a:tblGrid>
              <a:tr h="70008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rgbClr val="FF3300"/>
                          </a:solidFill>
                          <a:effectLst/>
                          <a:latin typeface="Times New Roman" panose="02020603050405020304" pitchFamily="18" charset="0"/>
                          <a:ea typeface="华文楷体" panose="02010600040101010101" pitchFamily="2" charset="-122"/>
                        </a:rPr>
                        <a:t>加括号方式</a:t>
                      </a:r>
                      <a:endParaRPr kumimoji="0" lang="en-US" altLang="zh-CN" sz="1800" b="0" i="0" u="none" strike="noStrike" cap="none" normalizeH="0" baseline="0" dirty="0">
                        <a:ln>
                          <a:noFill/>
                        </a:ln>
                        <a:solidFill>
                          <a:srgbClr val="FF3300"/>
                        </a:solidFill>
                        <a:effectLst/>
                        <a:latin typeface="Times New Roman" panose="0202060305040502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rgbClr val="FF3300"/>
                          </a:solidFill>
                          <a:effectLst/>
                          <a:latin typeface="Times New Roman" panose="02020603050405020304" pitchFamily="18" charset="0"/>
                          <a:ea typeface="华文楷体" panose="02010600040101010101" pitchFamily="2" charset="-122"/>
                        </a:rPr>
                        <a:t>第一次相乘次数</a:t>
                      </a:r>
                      <a:endParaRPr kumimoji="0" lang="en-US" altLang="zh-CN" sz="1800" b="0" i="0" u="none" strike="noStrike" cap="none" normalizeH="0" baseline="0" dirty="0">
                        <a:ln>
                          <a:noFill/>
                        </a:ln>
                        <a:solidFill>
                          <a:srgbClr val="FF3300"/>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rgbClr val="FF3300"/>
                          </a:solidFill>
                          <a:effectLst/>
                          <a:latin typeface="Times New Roman" panose="02020603050405020304" pitchFamily="18" charset="0"/>
                          <a:ea typeface="华文楷体" panose="02010600040101010101" pitchFamily="2" charset="-122"/>
                        </a:rPr>
                        <a:t>第二次相乘次数</a:t>
                      </a:r>
                      <a:endParaRPr kumimoji="0" lang="en-US" altLang="zh-CN" sz="1800" b="0" i="0" u="none" strike="noStrike" cap="none" normalizeH="0" baseline="0" dirty="0">
                        <a:ln>
                          <a:noFill/>
                        </a:ln>
                        <a:solidFill>
                          <a:srgbClr val="FF3300"/>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0" i="0" u="none" strike="noStrike" cap="none" normalizeH="0" baseline="0" dirty="0">
                          <a:ln>
                            <a:noFill/>
                          </a:ln>
                          <a:solidFill>
                            <a:srgbClr val="FF3300"/>
                          </a:solidFill>
                          <a:effectLst/>
                          <a:latin typeface="Times New Roman" panose="02020603050405020304" pitchFamily="18" charset="0"/>
                          <a:ea typeface="华文楷体" panose="02010600040101010101" pitchFamily="2" charset="-122"/>
                        </a:rPr>
                        <a:t>总相乘次数</a:t>
                      </a:r>
                      <a:endParaRPr kumimoji="0" lang="en-US" altLang="zh-CN" sz="1800" b="0" i="0" u="none" strike="noStrike" cap="none" normalizeH="0" baseline="0" dirty="0">
                        <a:ln>
                          <a:noFill/>
                        </a:ln>
                        <a:solidFill>
                          <a:srgbClr val="FF3300"/>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5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rgbClr val="FF3300"/>
                          </a:solidFill>
                          <a:effectLst/>
                          <a:latin typeface="Times New Roman" panose="02020603050405020304" pitchFamily="18" charset="0"/>
                          <a:ea typeface="华文楷体" panose="02010600040101010101" pitchFamily="2" charset="-122"/>
                        </a:rPr>
                        <a:t>((A1 A2)A3)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rgbClr val="FF3300"/>
                          </a:solidFill>
                          <a:effectLst/>
                          <a:latin typeface="Times New Roman" panose="02020603050405020304" pitchFamily="18" charset="0"/>
                          <a:ea typeface="华文楷体" panose="02010600040101010101" pitchFamily="2" charset="-122"/>
                        </a:rPr>
                        <a:t>10.100.5=5000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rgbClr val="FF3300"/>
                          </a:solidFill>
                          <a:effectLst/>
                          <a:latin typeface="Times New Roman" panose="02020603050405020304" pitchFamily="18" charset="0"/>
                          <a:ea typeface="华文楷体" panose="02010600040101010101" pitchFamily="2" charset="-122"/>
                        </a:rPr>
                        <a:t>10.5.50=2500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rgbClr val="FF3300"/>
                          </a:solidFill>
                          <a:effectLst/>
                          <a:latin typeface="Times New Roman" panose="02020603050405020304" pitchFamily="18" charset="0"/>
                          <a:ea typeface="华文楷体" panose="02010600040101010101" pitchFamily="2" charset="-122"/>
                        </a:rPr>
                        <a:t>7500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rgbClr val="FF3300"/>
                          </a:solidFill>
                          <a:effectLst/>
                          <a:latin typeface="Times New Roman" panose="02020603050405020304" pitchFamily="18" charset="0"/>
                          <a:ea typeface="华文楷体" panose="02010600040101010101" pitchFamily="2" charset="-122"/>
                        </a:rPr>
                        <a:t>(A1(A2 A3))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rgbClr val="FF3300"/>
                          </a:solidFill>
                          <a:effectLst/>
                          <a:latin typeface="Times New Roman" panose="02020603050405020304" pitchFamily="18" charset="0"/>
                          <a:ea typeface="华文楷体" panose="02010600040101010101" pitchFamily="2" charset="-122"/>
                        </a:rPr>
                        <a:t>100.5.50=25000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rgbClr val="FF3300"/>
                          </a:solidFill>
                          <a:effectLst/>
                          <a:latin typeface="Times New Roman" panose="02020603050405020304" pitchFamily="18" charset="0"/>
                          <a:ea typeface="华文楷体" panose="02010600040101010101" pitchFamily="2" charset="-122"/>
                        </a:rPr>
                        <a:t>10.100.50=50000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0" i="0" u="none" strike="noStrike" cap="none" normalizeH="0" baseline="0">
                          <a:ln>
                            <a:noFill/>
                          </a:ln>
                          <a:solidFill>
                            <a:srgbClr val="FF3300"/>
                          </a:solidFill>
                          <a:effectLst/>
                          <a:latin typeface="Times New Roman" panose="02020603050405020304" pitchFamily="18" charset="0"/>
                          <a:ea typeface="华文楷体" panose="02010600040101010101" pitchFamily="2" charset="-122"/>
                        </a:rPr>
                        <a:t>75000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32813" name="Picture 45" descr="question"/>
          <p:cNvPicPr>
            <a:picLocks noChangeAspect="1"/>
          </p:cNvPicPr>
          <p:nvPr/>
        </p:nvPicPr>
        <p:blipFill>
          <a:blip r:embed="rId4"/>
          <a:stretch>
            <a:fillRect/>
          </a:stretch>
        </p:blipFill>
        <p:spPr>
          <a:xfrm>
            <a:off x="539750" y="4365625"/>
            <a:ext cx="431800" cy="431800"/>
          </a:xfrm>
          <a:prstGeom prst="rect">
            <a:avLst/>
          </a:prstGeom>
          <a:noFill/>
          <a:ln w="9525">
            <a:noFill/>
          </a:ln>
        </p:spPr>
      </p:pic>
      <p:sp>
        <p:nvSpPr>
          <p:cNvPr id="32814" name="Text Box 46"/>
          <p:cNvSpPr txBox="1"/>
          <p:nvPr/>
        </p:nvSpPr>
        <p:spPr>
          <a:xfrm>
            <a:off x="971550" y="4483100"/>
            <a:ext cx="7958138" cy="1016000"/>
          </a:xfrm>
          <a:prstGeom prst="rect">
            <a:avLst/>
          </a:prstGeom>
          <a:noFill/>
          <a:ln w="25400">
            <a:noFill/>
          </a:ln>
        </p:spPr>
        <p:txBody>
          <a:bodyPr>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zh-CN" altLang="en-US" sz="2000" dirty="0">
                <a:latin typeface="Arial" panose="020B0604020202020204" pitchFamily="34" charset="0"/>
                <a:ea typeface="宋体" panose="02010600030101010101" pitchFamily="2" charset="-122"/>
              </a:rPr>
              <a:t>问题</a:t>
            </a:r>
            <a:endParaRPr lang="en-US" altLang="zh-CN" sz="2000" dirty="0">
              <a:latin typeface="Arial" panose="020B0604020202020204" pitchFamily="34" charset="0"/>
              <a:ea typeface="宋体" panose="02010600030101010101" pitchFamily="2" charset="-122"/>
            </a:endParaRPr>
          </a:p>
          <a:p>
            <a:pPr marL="457200" lvl="1" indent="0" eaLnBrk="1" hangingPunct="1">
              <a:spcBef>
                <a:spcPct val="0"/>
              </a:spcBef>
              <a:buNone/>
            </a:pPr>
            <a:r>
              <a:rPr lang="zh-CN" altLang="en-US" sz="2000" dirty="0">
                <a:latin typeface="Times New Roman" panose="02020603050405020304" pitchFamily="18" charset="0"/>
                <a:ea typeface="宋体" panose="02010600030101010101" pitchFamily="2" charset="-122"/>
              </a:rPr>
              <a:t>如何确定计算矩阵连乘积</a:t>
            </a:r>
            <a:r>
              <a:rPr lang="en-US" altLang="zh-CN" sz="2000" dirty="0">
                <a:latin typeface="Times New Roman" panose="02020603050405020304" pitchFamily="18" charset="0"/>
                <a:ea typeface="宋体" panose="02010600030101010101" pitchFamily="2" charset="-122"/>
              </a:rPr>
              <a:t>A1A2…An</a:t>
            </a:r>
            <a:r>
              <a:rPr lang="zh-CN" altLang="en-US" sz="2000" dirty="0">
                <a:latin typeface="Times New Roman" panose="02020603050405020304" pitchFamily="18" charset="0"/>
                <a:ea typeface="宋体" panose="02010600030101010101" pitchFamily="2" charset="-122"/>
              </a:rPr>
              <a:t>的计算次序（完全加括号方式），使得依此次序计算矩阵连乘积需要的</a:t>
            </a:r>
            <a:r>
              <a:rPr lang="zh-CN" altLang="en-US" sz="2000" dirty="0">
                <a:solidFill>
                  <a:srgbClr val="FF0000"/>
                </a:solidFill>
                <a:latin typeface="Times New Roman" panose="02020603050405020304" pitchFamily="18" charset="0"/>
                <a:ea typeface="宋体" panose="02010600030101010101" pitchFamily="2" charset="-122"/>
              </a:rPr>
              <a:t>数乘次数最少。</a:t>
            </a:r>
            <a:endParaRPr lang="en-US" altLang="zh-CN" sz="2000" dirty="0">
              <a:solidFill>
                <a:srgbClr val="FF0000"/>
              </a:solidFill>
              <a:latin typeface="Times New Roman" panose="02020603050405020304" pitchFamily="18" charset="0"/>
              <a:ea typeface="宋体" panose="02010600030101010101" pitchFamily="2" charset="-122"/>
            </a:endParaRPr>
          </a:p>
        </p:txBody>
      </p:sp>
      <p:sp>
        <p:nvSpPr>
          <p:cNvPr id="6" name="Rectangle 2">
            <a:extLst>
              <a:ext uri="{FF2B5EF4-FFF2-40B4-BE49-F238E27FC236}">
                <a16:creationId xmlns:a16="http://schemas.microsoft.com/office/drawing/2014/main" id="{C9D6D700-B721-9F64-E8D5-F3F008B76D0F}"/>
              </a:ext>
            </a:extLst>
          </p:cNvPr>
          <p:cNvSpPr>
            <a:spLocks noGrp="1" noChangeArrowheads="1"/>
          </p:cNvSpPr>
          <p:nvPr>
            <p:ph type="title"/>
          </p:nvPr>
        </p:nvSpPr>
        <p:spPr>
          <a:xfrm>
            <a:off x="879475" y="269875"/>
            <a:ext cx="7869238" cy="927100"/>
          </a:xfrm>
        </p:spPr>
        <p:txBody>
          <a:bodyPr/>
          <a:lstStyle/>
          <a:p>
            <a:pPr eaLnBrk="1" hangingPunct="1">
              <a:defRPr/>
            </a:pPr>
            <a:r>
              <a:rPr lang="en-US" altLang="zh-CN" dirty="0">
                <a:latin typeface="+mj-ea"/>
              </a:rPr>
              <a:t>4.1.3 </a:t>
            </a:r>
            <a:r>
              <a:rPr lang="zh-CN" altLang="en-US" dirty="0">
                <a:latin typeface="+mj-ea"/>
              </a:rPr>
              <a:t>简单问题例的算法描述（矩阵链乘法、最长公共子序列）</a:t>
            </a:r>
            <a:endParaRPr lang="en-US" altLang="zh-CN" b="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p:cTn id="7" dur="500" fill="hold"/>
                                        <p:tgtEl>
                                          <p:spTgt spid="3277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277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2812"/>
                                        </p:tgtEl>
                                        <p:attrNameLst>
                                          <p:attrName>style.visibility</p:attrName>
                                        </p:attrNameLst>
                                      </p:cBhvr>
                                      <p:to>
                                        <p:strVal val="visible"/>
                                      </p:to>
                                    </p:set>
                                    <p:anim calcmode="lin" valueType="num">
                                      <p:cBhvr>
                                        <p:cTn id="13" dur="500" fill="hold"/>
                                        <p:tgtEl>
                                          <p:spTgt spid="32812"/>
                                        </p:tgtEl>
                                        <p:attrNameLst>
                                          <p:attrName>ppt_w</p:attrName>
                                        </p:attrNameLst>
                                      </p:cBhvr>
                                      <p:tavLst>
                                        <p:tav tm="0">
                                          <p:val>
                                            <p:fltVal val="0"/>
                                          </p:val>
                                        </p:tav>
                                        <p:tav tm="100000">
                                          <p:val>
                                            <p:strVal val="#ppt_w"/>
                                          </p:val>
                                        </p:tav>
                                      </p:tavLst>
                                    </p:anim>
                                    <p:anim calcmode="lin" valueType="num">
                                      <p:cBhvr>
                                        <p:cTn id="14" dur="500" fill="hold"/>
                                        <p:tgtEl>
                                          <p:spTgt spid="3281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2813"/>
                                        </p:tgtEl>
                                        <p:attrNameLst>
                                          <p:attrName>style.visibility</p:attrName>
                                        </p:attrNameLst>
                                      </p:cBhvr>
                                      <p:to>
                                        <p:strVal val="visible"/>
                                      </p:to>
                                    </p:set>
                                    <p:animEffect transition="in" filter="blinds(horizontal)">
                                      <p:cBhvr>
                                        <p:cTn id="19" dur="500"/>
                                        <p:tgtEl>
                                          <p:spTgt spid="32813"/>
                                        </p:tgtEl>
                                      </p:cBhvr>
                                    </p:animEffect>
                                  </p:childTnLst>
                                  <p:subTnLst>
                                    <p:audio>
                                      <p:cMediaNode>
                                        <p:cTn display="0" masterRel="sameClick">
                                          <p:stCondLst>
                                            <p:cond evt="begin" delay="0">
                                              <p:tn val="17"/>
                                            </p:cond>
                                          </p:stCondLst>
                                          <p:endCondLst>
                                            <p:cond evt="onStopAudio" delay="0">
                                              <p:tgtEl>
                                                <p:sldTgt/>
                                              </p:tgtEl>
                                            </p:cond>
                                          </p:endCondLst>
                                        </p:cTn>
                                        <p:tgtEl>
                                          <p:sndTgt r:embed="rId3" name="chimes.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2814">
                                            <p:txEl>
                                              <p:pRg st="0" end="0"/>
                                            </p:txEl>
                                          </p:spTgt>
                                        </p:tgtEl>
                                        <p:attrNameLst>
                                          <p:attrName>style.visibility</p:attrName>
                                        </p:attrNameLst>
                                      </p:cBhvr>
                                      <p:to>
                                        <p:strVal val="visible"/>
                                      </p:to>
                                    </p:set>
                                    <p:anim calcmode="lin" valueType="num">
                                      <p:cBhvr additive="base">
                                        <p:cTn id="24" dur="500" fill="hold"/>
                                        <p:tgtEl>
                                          <p:spTgt spid="32814">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28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2814">
                                            <p:txEl>
                                              <p:pRg st="1" end="1"/>
                                            </p:txEl>
                                          </p:spTgt>
                                        </p:tgtEl>
                                        <p:attrNameLst>
                                          <p:attrName>style.visibility</p:attrName>
                                        </p:attrNameLst>
                                      </p:cBhvr>
                                      <p:to>
                                        <p:strVal val="visible"/>
                                      </p:to>
                                    </p:set>
                                    <p:anim calcmode="lin" valueType="num">
                                      <p:cBhvr additive="base">
                                        <p:cTn id="30" dur="500" fill="hold"/>
                                        <p:tgtEl>
                                          <p:spTgt spid="32814">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28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4"/>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37891" name="页脚占位符 5"/>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7892" name="灯片编号占位符 6"/>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14</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37893" name="Rectangle 2"/>
          <p:cNvSpPr>
            <a:spLocks noGrp="1"/>
          </p:cNvSpPr>
          <p:nvPr>
            <p:ph type="title"/>
          </p:nvPr>
        </p:nvSpPr>
        <p:spPr>
          <a:xfrm>
            <a:off x="827088" y="115888"/>
            <a:ext cx="8229600" cy="1139825"/>
          </a:xfrm>
        </p:spPr>
        <p:txBody>
          <a:bodyPr vert="horz" wrap="square" lIns="91440" tIns="45720" rIns="91440" bIns="45720" anchor="ctr" anchorCtr="0"/>
          <a:lstStyle/>
          <a:p>
            <a:pPr eaLnBrk="1" hangingPunct="1"/>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a:t>
            </a:r>
            <a:r>
              <a:rPr lang="zh-CN" altLang="en-US" dirty="0">
                <a:latin typeface="+mj-ea"/>
              </a:rPr>
              <a:t>蛮力方法</a:t>
            </a:r>
            <a:r>
              <a:rPr lang="en-US" altLang="zh-CN" dirty="0">
                <a:latin typeface="+mj-ea"/>
              </a:rPr>
              <a:t>: </a:t>
            </a:r>
            <a:r>
              <a:rPr lang="zh-CN" altLang="en-US" dirty="0">
                <a:latin typeface="+mj-ea"/>
              </a:rPr>
              <a:t>穷举</a:t>
            </a:r>
            <a:endParaRPr lang="en-US" altLang="zh-CN" dirty="0">
              <a:latin typeface="+mj-ea"/>
            </a:endParaRPr>
          </a:p>
        </p:txBody>
      </p:sp>
      <p:sp>
        <p:nvSpPr>
          <p:cNvPr id="33795" name="Rectangle 3"/>
          <p:cNvSpPr>
            <a:spLocks noGrp="1" noChangeArrowheads="1"/>
          </p:cNvSpPr>
          <p:nvPr>
            <p:ph type="body" sz="half" idx="1"/>
          </p:nvPr>
        </p:nvSpPr>
        <p:spPr>
          <a:xfrm>
            <a:off x="890588" y="1484313"/>
            <a:ext cx="8218488" cy="4824413"/>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基本思路</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对于</a:t>
            </a:r>
            <a:r>
              <a:rPr kumimoji="0" lang="en-US" altLang="zh-CN" sz="2000" b="0" i="0" u="none" strike="noStrike" kern="0" cap="none" spc="0" normalizeH="0" baseline="0" noProof="0" dirty="0">
                <a:ln>
                  <a:noFill/>
                </a:ln>
                <a:solidFill>
                  <a:schemeClr val="accent2"/>
                </a:solidFill>
                <a:effectLst/>
                <a:uLnTx/>
                <a:uFillTx/>
                <a:latin typeface="+mn-lt"/>
                <a:ea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rPr>
              <a:t>个矩阵的连乘积，设其不同的计算次序为</a:t>
            </a:r>
            <a:r>
              <a:rPr kumimoji="0" lang="en-US" altLang="zh-CN" sz="2000" b="0" i="0" u="none" strike="noStrike" kern="0" cap="none" spc="0" normalizeH="0" baseline="0" noProof="0" dirty="0">
                <a:ln>
                  <a:noFill/>
                </a:ln>
                <a:solidFill>
                  <a:schemeClr val="accent2"/>
                </a:solidFill>
                <a:effectLst/>
                <a:uLnTx/>
                <a:uFillTx/>
                <a:latin typeface="+mn-lt"/>
                <a:ea typeface="+mn-ea"/>
              </a:rPr>
              <a:t>P(n)</a:t>
            </a: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accent2"/>
              </a:solidFill>
              <a:effectLst/>
              <a:uLnTx/>
              <a:uFillTx/>
              <a:latin typeface="+mn-lt"/>
              <a:ea typeface="+mn-ea"/>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当</a:t>
            </a:r>
            <a:r>
              <a:rPr kumimoji="0" lang="en-US" altLang="zh-CN" sz="2000" b="0" i="1" u="none" strike="noStrike" kern="0" cap="none" spc="0" normalizeH="0" baseline="0" noProof="0" dirty="0">
                <a:ln>
                  <a:noFill/>
                </a:ln>
                <a:solidFill>
                  <a:schemeClr val="accent2"/>
                </a:solidFill>
                <a:effectLst/>
                <a:uLnTx/>
                <a:uFillTx/>
                <a:latin typeface="+mn-lt"/>
                <a:ea typeface="+mn-ea"/>
              </a:rPr>
              <a:t>n </a:t>
            </a:r>
            <a:r>
              <a:rPr kumimoji="0" lang="en-US" altLang="zh-CN" sz="2000" b="0" i="0" u="none" strike="noStrike" kern="0" cap="none" spc="0" normalizeH="0" baseline="0" noProof="0" dirty="0">
                <a:ln>
                  <a:noFill/>
                </a:ln>
                <a:solidFill>
                  <a:schemeClr val="accent2"/>
                </a:solidFill>
                <a:effectLst/>
                <a:uLnTx/>
                <a:uFillTx/>
                <a:latin typeface="+mn-lt"/>
                <a:ea typeface="+mn-ea"/>
              </a:rPr>
              <a:t>= 1, </a:t>
            </a:r>
            <a:r>
              <a:rPr kumimoji="0" lang="zh-CN" altLang="en-US" sz="2000" b="0" i="0" u="none" strike="noStrike" kern="0" cap="none" spc="0" normalizeH="0" baseline="0" noProof="0" dirty="0">
                <a:ln>
                  <a:noFill/>
                </a:ln>
                <a:solidFill>
                  <a:schemeClr val="accent2"/>
                </a:solidFill>
                <a:effectLst/>
                <a:uLnTx/>
                <a:uFillTx/>
                <a:latin typeface="+mn-lt"/>
                <a:ea typeface="+mn-ea"/>
              </a:rPr>
              <a:t>只有一个矩阵，因此</a:t>
            </a:r>
            <a:r>
              <a:rPr kumimoji="0" lang="en-US" altLang="zh-CN" sz="2000" b="0" i="0" u="none" strike="noStrike" kern="0" cap="none" spc="0" normalizeH="0" baseline="0" noProof="0" dirty="0">
                <a:ln>
                  <a:noFill/>
                </a:ln>
                <a:solidFill>
                  <a:schemeClr val="accent2"/>
                </a:solidFill>
                <a:effectLst/>
                <a:uLnTx/>
                <a:uFillTx/>
                <a:latin typeface="+mn-lt"/>
                <a:ea typeface="+mn-ea"/>
              </a:rPr>
              <a:t>P(n)=1</a:t>
            </a: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10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rPr>
              <a:t>当</a:t>
            </a:r>
            <a:r>
              <a:rPr kumimoji="0" lang="en-US" altLang="zh-CN" sz="2000" b="0" i="1" u="none" strike="noStrike" kern="0" cap="none" spc="0" normalizeH="0" baseline="0" noProof="0" dirty="0">
                <a:ln>
                  <a:noFill/>
                </a:ln>
                <a:solidFill>
                  <a:schemeClr val="accent2"/>
                </a:solidFill>
                <a:effectLst/>
                <a:uLnTx/>
                <a:uFillTx/>
                <a:latin typeface="+mn-lt"/>
                <a:ea typeface="+mn-ea"/>
              </a:rPr>
              <a:t>n </a:t>
            </a:r>
            <a:r>
              <a:rPr kumimoji="0" lang="en-US" altLang="zh-CN" sz="2000" b="0" i="0" u="none" strike="noStrike" kern="0" cap="none" spc="0" normalizeH="0" baseline="0" noProof="0" dirty="0">
                <a:ln>
                  <a:noFill/>
                </a:ln>
                <a:solidFill>
                  <a:schemeClr val="accent2"/>
                </a:solidFill>
                <a:effectLst/>
                <a:uLnTx/>
                <a:uFillTx/>
                <a:latin typeface="+mn-lt"/>
                <a:ea typeface="+mn-ea"/>
              </a:rPr>
              <a:t>≥ 2,</a:t>
            </a:r>
            <a:r>
              <a:rPr kumimoji="0" lang="zh-CN" altLang="en-US" sz="2000" b="0" i="0" u="none" strike="noStrike" kern="0" cap="none" spc="0" normalizeH="0" baseline="0" noProof="0" dirty="0">
                <a:ln>
                  <a:noFill/>
                </a:ln>
                <a:solidFill>
                  <a:schemeClr val="accent2"/>
                </a:solidFill>
                <a:effectLst/>
                <a:uLnTx/>
                <a:uFillTx/>
                <a:latin typeface="+mn-lt"/>
                <a:ea typeface="+mn-ea"/>
              </a:rPr>
              <a:t>对于前</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个矩阵有</a:t>
            </a:r>
            <a:r>
              <a:rPr kumimoji="0" lang="en-US" altLang="zh-CN" sz="2000" b="0" i="0" u="none" strike="noStrike" kern="0" cap="none" spc="0" normalizeH="0" baseline="0" noProof="0" dirty="0">
                <a:ln>
                  <a:noFill/>
                </a:ln>
                <a:solidFill>
                  <a:schemeClr val="accent2"/>
                </a:solidFill>
                <a:effectLst/>
                <a:uLnTx/>
                <a:uFillTx/>
                <a:latin typeface="+mn-lt"/>
                <a:ea typeface="+mn-ea"/>
              </a:rPr>
              <a:t>P(k)</a:t>
            </a:r>
            <a:r>
              <a:rPr kumimoji="0" lang="zh-CN" altLang="en-US" sz="2000" b="0" i="0" u="none" strike="noStrike" kern="0" cap="none" spc="0" normalizeH="0" baseline="0" noProof="0" dirty="0">
                <a:ln>
                  <a:noFill/>
                </a:ln>
                <a:solidFill>
                  <a:schemeClr val="accent2"/>
                </a:solidFill>
                <a:effectLst/>
                <a:uLnTx/>
                <a:uFillTx/>
                <a:latin typeface="+mn-lt"/>
                <a:ea typeface="+mn-ea"/>
              </a:rPr>
              <a:t>种方法放置括号。对于</a:t>
            </a:r>
            <a:r>
              <a:rPr kumimoji="0" lang="en-US" altLang="zh-CN" sz="2000" b="0" i="0" u="none" strike="noStrike" kern="0" cap="none" spc="0" normalizeH="0" baseline="0" noProof="0" dirty="0">
                <a:ln>
                  <a:noFill/>
                </a:ln>
                <a:solidFill>
                  <a:schemeClr val="accent2"/>
                </a:solidFill>
                <a:effectLst/>
                <a:uLnTx/>
                <a:uFillTx/>
                <a:latin typeface="+mn-lt"/>
                <a:ea typeface="+mn-ea"/>
              </a:rPr>
              <a:t>P(k)</a:t>
            </a:r>
            <a:r>
              <a:rPr kumimoji="0" lang="zh-CN" altLang="en-US" sz="2000" b="0" i="0" u="none" strike="noStrike" kern="0" cap="none" spc="0" normalizeH="0" baseline="0" noProof="0" dirty="0">
                <a:ln>
                  <a:noFill/>
                </a:ln>
                <a:solidFill>
                  <a:schemeClr val="accent2"/>
                </a:solidFill>
                <a:effectLst/>
                <a:uLnTx/>
                <a:uFillTx/>
                <a:latin typeface="+mn-lt"/>
                <a:ea typeface="+mn-ea"/>
              </a:rPr>
              <a:t>中的每一种方法，可对余下的</a:t>
            </a:r>
            <a:r>
              <a:rPr kumimoji="0" lang="en-US" altLang="zh-CN" sz="2000" b="0" i="0" u="none" strike="noStrike" kern="0" cap="none" spc="0" normalizeH="0" baseline="0" noProof="0" dirty="0">
                <a:ln>
                  <a:noFill/>
                </a:ln>
                <a:solidFill>
                  <a:schemeClr val="accent2"/>
                </a:solidFill>
                <a:effectLst/>
                <a:uLnTx/>
                <a:uFillTx/>
                <a:latin typeface="+mn-lt"/>
                <a:ea typeface="+mn-ea"/>
              </a:rPr>
              <a:t>P( n-k)</a:t>
            </a:r>
            <a:r>
              <a:rPr kumimoji="0" lang="zh-CN" altLang="en-US" sz="2000" b="0" i="0" u="none" strike="noStrike" kern="0" cap="none" spc="0" normalizeH="0" baseline="0" noProof="0" dirty="0">
                <a:ln>
                  <a:noFill/>
                </a:ln>
                <a:solidFill>
                  <a:schemeClr val="accent2"/>
                </a:solidFill>
                <a:effectLst/>
                <a:uLnTx/>
                <a:uFillTx/>
                <a:latin typeface="+mn-lt"/>
                <a:ea typeface="+mn-ea"/>
              </a:rPr>
              <a:t>个矩阵放置括号，总共有</a:t>
            </a:r>
            <a:r>
              <a:rPr kumimoji="0" lang="en-US" altLang="zh-CN" sz="2000" b="0" i="0" u="none" strike="noStrike" kern="0" cap="none" spc="0" normalizeH="0" baseline="0" noProof="0" dirty="0">
                <a:ln>
                  <a:noFill/>
                </a:ln>
                <a:solidFill>
                  <a:schemeClr val="accent2"/>
                </a:solidFill>
                <a:effectLst/>
                <a:uLnTx/>
                <a:uFillTx/>
                <a:latin typeface="+mn-lt"/>
                <a:ea typeface="+mn-ea"/>
              </a:rPr>
              <a:t>P(k)P(n-k)</a:t>
            </a:r>
            <a:r>
              <a:rPr kumimoji="0" lang="zh-CN" altLang="en-US" sz="2000" b="0" i="0" u="none" strike="noStrike" kern="0" cap="none" spc="0" normalizeH="0" baseline="0" noProof="0" dirty="0">
                <a:ln>
                  <a:noFill/>
                </a:ln>
                <a:solidFill>
                  <a:schemeClr val="accent2"/>
                </a:solidFill>
                <a:effectLst/>
                <a:uLnTx/>
                <a:uFillTx/>
                <a:latin typeface="+mn-lt"/>
                <a:ea typeface="+mn-ea"/>
              </a:rPr>
              <a:t> 种方法。由于可以假设</a:t>
            </a:r>
            <a:r>
              <a:rPr kumimoji="0" lang="en-US" altLang="zh-CN" sz="2000" b="0" i="0" u="none" strike="noStrike" kern="0" cap="none" spc="0" normalizeH="0" baseline="0" noProof="0" dirty="0">
                <a:ln>
                  <a:noFill/>
                </a:ln>
                <a:solidFill>
                  <a:schemeClr val="accent2"/>
                </a:solidFill>
                <a:effectLst/>
                <a:uLnTx/>
                <a:uFillTx/>
                <a:latin typeface="+mn-lt"/>
                <a:ea typeface="+mn-ea"/>
              </a:rPr>
              <a:t>k</a:t>
            </a:r>
            <a:r>
              <a:rPr kumimoji="0" lang="zh-CN" altLang="en-US" sz="2000" b="0" i="0" u="none" strike="noStrike" kern="0" cap="none" spc="0" normalizeH="0" baseline="0" noProof="0" dirty="0">
                <a:ln>
                  <a:noFill/>
                </a:ln>
                <a:solidFill>
                  <a:schemeClr val="accent2"/>
                </a:solidFill>
                <a:effectLst/>
                <a:uLnTx/>
                <a:uFillTx/>
                <a:latin typeface="+mn-lt"/>
                <a:ea typeface="+mn-ea"/>
              </a:rPr>
              <a:t>是</a:t>
            </a:r>
            <a:r>
              <a:rPr kumimoji="0" lang="en-US" altLang="zh-CN" sz="2000" b="0" i="0" u="none" strike="noStrike" kern="0" cap="none" spc="0" normalizeH="0" baseline="0" noProof="0" dirty="0">
                <a:ln>
                  <a:noFill/>
                </a:ln>
                <a:solidFill>
                  <a:schemeClr val="accent2"/>
                </a:solidFill>
                <a:effectLst/>
                <a:uLnTx/>
                <a:uFillTx/>
                <a:latin typeface="+mn-lt"/>
                <a:ea typeface="+mn-ea"/>
              </a:rPr>
              <a:t>1</a:t>
            </a:r>
            <a:r>
              <a:rPr kumimoji="0" lang="zh-CN" altLang="en-US" sz="2000" b="0" i="0" u="none" strike="noStrike" kern="0" cap="none" spc="0" normalizeH="0" baseline="0" noProof="0" dirty="0">
                <a:ln>
                  <a:noFill/>
                </a:ln>
                <a:solidFill>
                  <a:schemeClr val="accent2"/>
                </a:solidFill>
                <a:effectLst/>
                <a:uLnTx/>
                <a:uFillTx/>
                <a:latin typeface="+mn-lt"/>
                <a:ea typeface="+mn-ea"/>
              </a:rPr>
              <a:t>到</a:t>
            </a:r>
            <a:r>
              <a:rPr kumimoji="0" lang="en-US" altLang="zh-CN" sz="2000" b="0" i="0" u="none" strike="noStrike" kern="0" cap="none" spc="0" normalizeH="0" baseline="0" noProof="0" dirty="0">
                <a:ln>
                  <a:noFill/>
                </a:ln>
                <a:solidFill>
                  <a:schemeClr val="accent2"/>
                </a:solidFill>
                <a:effectLst/>
                <a:uLnTx/>
                <a:uFillTx/>
                <a:latin typeface="+mn-lt"/>
                <a:ea typeface="+mn-ea"/>
              </a:rPr>
              <a:t>n-1</a:t>
            </a:r>
            <a:r>
              <a:rPr kumimoji="0" lang="zh-CN" altLang="en-US" sz="2000" b="0" i="0" u="none" strike="noStrike" kern="0" cap="none" spc="0" normalizeH="0" baseline="0" noProof="0" dirty="0">
                <a:ln>
                  <a:noFill/>
                </a:ln>
                <a:solidFill>
                  <a:schemeClr val="accent2"/>
                </a:solidFill>
                <a:effectLst/>
                <a:uLnTx/>
                <a:uFillTx/>
                <a:latin typeface="+mn-lt"/>
                <a:ea typeface="+mn-ea"/>
              </a:rPr>
              <a:t>中的任意值，对于</a:t>
            </a:r>
            <a:r>
              <a:rPr kumimoji="0" lang="en-US" altLang="zh-CN" sz="2000" b="0" i="0" u="none" strike="noStrike" kern="0" cap="none" spc="0" normalizeH="0" baseline="0" noProof="0" dirty="0">
                <a:ln>
                  <a:noFill/>
                </a:ln>
                <a:solidFill>
                  <a:schemeClr val="accent2"/>
                </a:solidFill>
                <a:effectLst/>
                <a:uLnTx/>
                <a:uFillTx/>
                <a:latin typeface="+mn-lt"/>
                <a:ea typeface="+mn-ea"/>
              </a:rPr>
              <a:t>n</a:t>
            </a:r>
            <a:r>
              <a:rPr kumimoji="0" lang="zh-CN" altLang="en-US" sz="2000" b="0" i="0" u="none" strike="noStrike" kern="0" cap="none" spc="0" normalizeH="0" baseline="0" noProof="0" dirty="0">
                <a:ln>
                  <a:noFill/>
                </a:ln>
                <a:solidFill>
                  <a:schemeClr val="accent2"/>
                </a:solidFill>
                <a:effectLst/>
                <a:uLnTx/>
                <a:uFillTx/>
                <a:latin typeface="+mn-lt"/>
                <a:ea typeface="+mn-ea"/>
              </a:rPr>
              <a:t>个矩阵放置括号的所有方法数由下面的和式给出</a:t>
            </a:r>
            <a:r>
              <a:rPr kumimoji="0" lang="en-US" altLang="zh-CN" sz="2000" b="0" i="0" u="none" strike="noStrike" kern="0" cap="none" spc="0" normalizeH="0" baseline="0" noProof="0" dirty="0">
                <a:ln>
                  <a:noFill/>
                </a:ln>
                <a:solidFill>
                  <a:schemeClr val="accent2"/>
                </a:solidFill>
                <a:effectLst/>
                <a:uLnTx/>
                <a:uFillTx/>
                <a:latin typeface="+mn-lt"/>
                <a:ea typeface="+mn-ea"/>
              </a:rPr>
              <a:t>:</a:t>
            </a:r>
          </a:p>
        </p:txBody>
      </p:sp>
      <p:graphicFrame>
        <p:nvGraphicFramePr>
          <p:cNvPr id="33797" name="Object 5"/>
          <p:cNvGraphicFramePr>
            <a:graphicFrameLocks noGrp="1" noChangeAspect="1"/>
          </p:cNvGraphicFramePr>
          <p:nvPr>
            <p:ph sz="half" idx="2"/>
          </p:nvPr>
        </p:nvGraphicFramePr>
        <p:xfrm>
          <a:off x="2857500" y="4357688"/>
          <a:ext cx="3759200" cy="1198562"/>
        </p:xfrm>
        <a:graphic>
          <a:graphicData uri="http://schemas.openxmlformats.org/presentationml/2006/ole">
            <mc:AlternateContent xmlns:mc="http://schemas.openxmlformats.org/markup-compatibility/2006">
              <mc:Choice xmlns:v="urn:schemas-microsoft-com:vml" Requires="v">
                <p:oleObj r:id="rId3" imgW="2273300" imgH="685800" progId="Equation.3">
                  <p:embed/>
                </p:oleObj>
              </mc:Choice>
              <mc:Fallback>
                <p:oleObj r:id="rId3" imgW="2273300" imgH="685800" progId="Equation.3">
                  <p:embed/>
                  <p:pic>
                    <p:nvPicPr>
                      <p:cNvPr id="33797" name="Object 5"/>
                      <p:cNvPicPr/>
                      <p:nvPr/>
                    </p:nvPicPr>
                    <p:blipFill>
                      <a:blip r:embed="rId4"/>
                      <a:srcRect/>
                      <a:stretch>
                        <a:fillRect/>
                      </a:stretch>
                    </p:blipFill>
                    <p:spPr>
                      <a:xfrm>
                        <a:off x="2857500" y="4357688"/>
                        <a:ext cx="3759200" cy="1198562"/>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left)">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wipe(left)">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795">
                                            <p:txEl>
                                              <p:pRg st="4" end="4"/>
                                            </p:txEl>
                                          </p:spTgt>
                                        </p:tgtEl>
                                        <p:attrNameLst>
                                          <p:attrName>style.visibility</p:attrName>
                                        </p:attrNameLst>
                                      </p:cBhvr>
                                      <p:to>
                                        <p:strVal val="visible"/>
                                      </p:to>
                                    </p:set>
                                    <p:animEffect transition="in" filter="wipe(left)">
                                      <p:cBhvr>
                                        <p:cTn id="17" dur="500"/>
                                        <p:tgtEl>
                                          <p:spTgt spid="3379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3795">
                                            <p:txEl>
                                              <p:pRg st="6" end="6"/>
                                            </p:txEl>
                                          </p:spTgt>
                                        </p:tgtEl>
                                        <p:attrNameLst>
                                          <p:attrName>style.visibility</p:attrName>
                                        </p:attrNameLst>
                                      </p:cBhvr>
                                      <p:to>
                                        <p:strVal val="visible"/>
                                      </p:to>
                                    </p:set>
                                    <p:animEffect transition="in" filter="wipe(up)">
                                      <p:cBhvr>
                                        <p:cTn id="22" dur="500"/>
                                        <p:tgtEl>
                                          <p:spTgt spid="33795">
                                            <p:txEl>
                                              <p:pRg st="6" end="6"/>
                                            </p:txEl>
                                          </p:spTgt>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33797"/>
                                        </p:tgtEl>
                                        <p:attrNameLst>
                                          <p:attrName>style.visibility</p:attrName>
                                        </p:attrNameLst>
                                      </p:cBhvr>
                                      <p:to>
                                        <p:strVal val="visible"/>
                                      </p:to>
                                    </p:set>
                                    <p:animEffect transition="in" filter="wipe(up)">
                                      <p:cBhvr>
                                        <p:cTn id="26" dur="5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39939"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39940"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15</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34819" name="Rectangle 3"/>
          <p:cNvSpPr>
            <a:spLocks noGrp="1" noChangeArrowheads="1"/>
          </p:cNvSpPr>
          <p:nvPr>
            <p:ph idx="1"/>
          </p:nvPr>
        </p:nvSpPr>
        <p:spPr>
          <a:xfrm>
            <a:off x="900113" y="1916113"/>
            <a:ext cx="7786688" cy="3025775"/>
          </a:xfrm>
        </p:spPr>
        <p:txBody>
          <a:bodyPr vert="horz" wrap="square" lIns="91440" tIns="45720" rIns="91440" bIns="45720" numCol="1" anchor="t" anchorCtr="0" compatLnSpc="1"/>
          <a:lstStyle/>
          <a:p>
            <a:pPr eaLnBrk="1" hangingPunct="1"/>
            <a:r>
              <a:rPr lang="zh-CN" altLang="en-US" sz="2200" dirty="0"/>
              <a:t>递推式的解   </a:t>
            </a:r>
            <a:r>
              <a:rPr lang="en-US" altLang="zh-CN" sz="2200" dirty="0"/>
              <a:t>p133</a:t>
            </a:r>
          </a:p>
          <a:p>
            <a:pPr eaLnBrk="1" hangingPunct="1"/>
            <a:endParaRPr lang="en-US" altLang="zh-CN" sz="2200" dirty="0"/>
          </a:p>
          <a:p>
            <a:pPr eaLnBrk="1" hangingPunct="1"/>
            <a:endParaRPr lang="en-US" altLang="zh-CN" sz="2200" dirty="0"/>
          </a:p>
          <a:p>
            <a:pPr eaLnBrk="1" hangingPunct="1"/>
            <a:r>
              <a:rPr lang="zh-CN" altLang="en-US" sz="2200" dirty="0"/>
              <a:t>由于对于每个括弧号表达式，找到数量乘法次数的时间耗费是</a:t>
            </a:r>
            <a:r>
              <a:rPr lang="en-US" altLang="zh-CN" sz="2000" dirty="0">
                <a:latin typeface="华文楷体" panose="02010600040101010101" pitchFamily="2" charset="-122"/>
                <a:sym typeface="Symbol" panose="05050102010706020507" pitchFamily="18" charset="2"/>
              </a:rPr>
              <a:t></a:t>
            </a:r>
            <a:r>
              <a:rPr lang="en-US" altLang="zh-CN" sz="2200" dirty="0"/>
              <a:t>(n)</a:t>
            </a:r>
            <a:r>
              <a:rPr lang="zh-CN" altLang="en-US" sz="2200" dirty="0"/>
              <a:t>，这样用蛮力方法可以求得找到</a:t>
            </a:r>
            <a:r>
              <a:rPr lang="en-US" altLang="zh-CN" sz="2200" dirty="0"/>
              <a:t>n</a:t>
            </a:r>
            <a:r>
              <a:rPr lang="zh-CN" altLang="en-US" sz="2200" dirty="0"/>
              <a:t>个矩阵相乘的最优方法所需的运行时间是</a:t>
            </a:r>
            <a:r>
              <a:rPr lang="en-US" altLang="zh-CN" sz="2000" dirty="0">
                <a:solidFill>
                  <a:srgbClr val="FF0000"/>
                </a:solidFill>
                <a:cs typeface="Arial" panose="020B0604020202020204" pitchFamily="34" charset="0"/>
              </a:rPr>
              <a:t>Ω </a:t>
            </a:r>
            <a:r>
              <a:rPr lang="en-US" altLang="zh-CN" sz="2200" dirty="0">
                <a:solidFill>
                  <a:srgbClr val="FF0000"/>
                </a:solidFill>
              </a:rPr>
              <a:t>(4</a:t>
            </a:r>
            <a:r>
              <a:rPr lang="en-US" altLang="zh-CN" sz="2200" baseline="30000" dirty="0">
                <a:solidFill>
                  <a:srgbClr val="FF0000"/>
                </a:solidFill>
              </a:rPr>
              <a:t>n</a:t>
            </a:r>
            <a:r>
              <a:rPr lang="en-US" altLang="zh-CN" sz="2200" dirty="0">
                <a:solidFill>
                  <a:srgbClr val="FF0000"/>
                </a:solidFill>
              </a:rPr>
              <a:t>/n</a:t>
            </a:r>
            <a:r>
              <a:rPr lang="en-US" altLang="zh-CN" sz="2200" baseline="30000" dirty="0">
                <a:solidFill>
                  <a:srgbClr val="FF0000"/>
                </a:solidFill>
              </a:rPr>
              <a:t>0.5</a:t>
            </a:r>
            <a:r>
              <a:rPr lang="en-US" altLang="zh-CN" sz="2200" dirty="0">
                <a:solidFill>
                  <a:srgbClr val="FF0000"/>
                </a:solidFill>
              </a:rPr>
              <a:t>),</a:t>
            </a:r>
            <a:r>
              <a:rPr lang="zh-CN" altLang="en-US" sz="2200" dirty="0"/>
              <a:t>它甚至对于一个中等规模的</a:t>
            </a:r>
            <a:r>
              <a:rPr lang="en-US" altLang="zh-CN" sz="2200" dirty="0"/>
              <a:t>n</a:t>
            </a:r>
            <a:r>
              <a:rPr lang="zh-CN" altLang="en-US" sz="2200" dirty="0"/>
              <a:t>值也是不切实际的。</a:t>
            </a:r>
            <a:endParaRPr lang="en-US" altLang="zh-CN" sz="2200" dirty="0"/>
          </a:p>
        </p:txBody>
      </p:sp>
      <p:graphicFrame>
        <p:nvGraphicFramePr>
          <p:cNvPr id="7170" name="Object 4"/>
          <p:cNvGraphicFramePr>
            <a:graphicFrameLocks noChangeAspect="1"/>
          </p:cNvGraphicFramePr>
          <p:nvPr/>
        </p:nvGraphicFramePr>
        <p:xfrm>
          <a:off x="3906838" y="1773238"/>
          <a:ext cx="4751387" cy="828675"/>
        </p:xfrm>
        <a:graphic>
          <a:graphicData uri="http://schemas.openxmlformats.org/presentationml/2006/ole">
            <mc:AlternateContent xmlns:mc="http://schemas.openxmlformats.org/markup-compatibility/2006">
              <mc:Choice xmlns:v="urn:schemas-microsoft-com:vml" Requires="v">
                <p:oleObj r:id="rId3" imgW="2616200" imgH="457200" progId="Equation.DSMT4">
                  <p:embed/>
                </p:oleObj>
              </mc:Choice>
              <mc:Fallback>
                <p:oleObj r:id="rId3" imgW="2616200" imgH="457200" progId="Equation.DSMT4">
                  <p:embed/>
                  <p:pic>
                    <p:nvPicPr>
                      <p:cNvPr id="7170" name="Object 4"/>
                      <p:cNvPicPr/>
                      <p:nvPr/>
                    </p:nvPicPr>
                    <p:blipFill>
                      <a:blip r:embed="rId4"/>
                      <a:stretch>
                        <a:fillRect/>
                      </a:stretch>
                    </p:blipFill>
                    <p:spPr>
                      <a:xfrm>
                        <a:off x="3906838" y="1773238"/>
                        <a:ext cx="4751387" cy="828675"/>
                      </a:xfrm>
                      <a:prstGeom prst="rect">
                        <a:avLst/>
                      </a:prstGeom>
                      <a:noFill/>
                      <a:ln w="38100">
                        <a:noFill/>
                        <a:miter/>
                      </a:ln>
                    </p:spPr>
                  </p:pic>
                </p:oleObj>
              </mc:Fallback>
            </mc:AlternateContent>
          </a:graphicData>
        </a:graphic>
      </p:graphicFrame>
      <p:sp>
        <p:nvSpPr>
          <p:cNvPr id="4" name="Rectangle 2">
            <a:extLst>
              <a:ext uri="{FF2B5EF4-FFF2-40B4-BE49-F238E27FC236}">
                <a16:creationId xmlns:a16="http://schemas.microsoft.com/office/drawing/2014/main" id="{40B976CE-5088-D3FC-2E22-0E08D3FD5822}"/>
              </a:ext>
            </a:extLst>
          </p:cNvPr>
          <p:cNvSpPr>
            <a:spLocks noGrp="1"/>
          </p:cNvSpPr>
          <p:nvPr>
            <p:ph type="title"/>
          </p:nvPr>
        </p:nvSpPr>
        <p:spPr>
          <a:xfrm>
            <a:off x="827088" y="115888"/>
            <a:ext cx="8229600" cy="1139825"/>
          </a:xfrm>
        </p:spPr>
        <p:txBody>
          <a:bodyPr vert="horz" wrap="square" lIns="91440" tIns="45720" rIns="91440" bIns="45720" anchor="ctr" anchorCtr="0"/>
          <a:lstStyle/>
          <a:p>
            <a:pPr eaLnBrk="1" hangingPunct="1"/>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a:t>
            </a:r>
            <a:r>
              <a:rPr lang="zh-CN" altLang="en-US" dirty="0">
                <a:latin typeface="+mj-ea"/>
              </a:rPr>
              <a:t>蛮力方法</a:t>
            </a:r>
            <a:r>
              <a:rPr lang="en-US" altLang="zh-CN" dirty="0">
                <a:latin typeface="+mj-ea"/>
              </a:rPr>
              <a:t>: </a:t>
            </a:r>
            <a:r>
              <a:rPr lang="zh-CN" altLang="en-US" dirty="0">
                <a:latin typeface="+mj-ea"/>
              </a:rPr>
              <a:t>穷举</a:t>
            </a:r>
            <a:endParaRPr lang="en-US" altLang="zh-CN"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0"/>
                                        </p:tgtEl>
                                        <p:attrNameLst>
                                          <p:attrName>style.visibility</p:attrName>
                                        </p:attrNameLst>
                                      </p:cBhvr>
                                      <p:to>
                                        <p:strVal val="visible"/>
                                      </p:to>
                                    </p:set>
                                    <p:anim calcmode="lin" valueType="num">
                                      <p:cBhvr additive="base">
                                        <p:cTn id="13" dur="500" fill="hold"/>
                                        <p:tgtEl>
                                          <p:spTgt spid="7170"/>
                                        </p:tgtEl>
                                        <p:attrNameLst>
                                          <p:attrName>ppt_x</p:attrName>
                                        </p:attrNameLst>
                                      </p:cBhvr>
                                      <p:tavLst>
                                        <p:tav tm="0">
                                          <p:val>
                                            <p:strVal val="#ppt_x"/>
                                          </p:val>
                                        </p:tav>
                                        <p:tav tm="100000">
                                          <p:val>
                                            <p:strVal val="#ppt_x"/>
                                          </p:val>
                                        </p:tav>
                                      </p:tavLst>
                                    </p:anim>
                                    <p:anim calcmode="lin" valueType="num">
                                      <p:cBhvr additive="base">
                                        <p:cTn id="14"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4819">
                                            <p:txEl>
                                              <p:pRg st="3" end="3"/>
                                            </p:txEl>
                                          </p:spTgt>
                                        </p:tgtEl>
                                        <p:attrNameLst>
                                          <p:attrName>style.visibility</p:attrName>
                                        </p:attrNameLst>
                                      </p:cBhvr>
                                      <p:to>
                                        <p:strVal val="visible"/>
                                      </p:to>
                                    </p:set>
                                    <p:anim calcmode="lin" valueType="num">
                                      <p:cBhvr additive="base">
                                        <p:cTn id="19" dur="500" fill="hold"/>
                                        <p:tgtEl>
                                          <p:spTgt spid="3481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81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4198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198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16</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77827" name="Rectangle 3"/>
          <p:cNvSpPr>
            <a:spLocks noGrp="1" noChangeArrowheads="1"/>
          </p:cNvSpPr>
          <p:nvPr>
            <p:ph idx="1"/>
          </p:nvPr>
        </p:nvSpPr>
        <p:spPr>
          <a:xfrm>
            <a:off x="962025" y="1268730"/>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将这个计算次序在矩阵</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A(k)</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A(k+1)</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之间将</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矩阵链断开</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，则生成两个矩阵链</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1 </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en-US" altLang="zh-CN" sz="2400" b="0" i="1" u="none" strike="noStrike" kern="0" cap="none" spc="0" normalizeH="0" baseline="0" noProof="0" dirty="0" err="1">
                <a:ln>
                  <a:noFill/>
                </a:ln>
                <a:solidFill>
                  <a:schemeClr val="accent2"/>
                </a:solidFill>
                <a:effectLst/>
                <a:uLnTx/>
                <a:uFillTx/>
                <a:latin typeface="+mn-lt"/>
                <a:ea typeface="+mn-ea"/>
                <a:cs typeface="+mn-cs"/>
              </a:rPr>
              <a:t>A</a:t>
            </a:r>
            <a:r>
              <a:rPr kumimoji="0" lang="en-US" altLang="zh-CN" sz="2400" b="0" i="1" u="none" strike="noStrike" kern="0" cap="none" spc="0" normalizeH="0" baseline="-25000" noProof="0" dirty="0" err="1">
                <a:ln>
                  <a:noFill/>
                </a:ln>
                <a:solidFill>
                  <a:schemeClr val="accent2"/>
                </a:solidFill>
                <a:effectLst/>
                <a:uLnTx/>
                <a:uFillTx/>
                <a:latin typeface="+mn-lt"/>
                <a:ea typeface="+mn-ea"/>
                <a:cs typeface="+mn-cs"/>
              </a:rPr>
              <a:t>k</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1" u="none" strike="noStrike" kern="0" cap="none" spc="0" normalizeH="0" baseline="-25000" noProof="0" dirty="0">
                <a:ln>
                  <a:noFill/>
                </a:ln>
                <a:solidFill>
                  <a:schemeClr val="accent2"/>
                </a:solidFill>
                <a:effectLst/>
                <a:uLnTx/>
                <a:uFillTx/>
                <a:latin typeface="+mn-lt"/>
                <a:ea typeface="+mn-ea"/>
                <a:cs typeface="+mn-cs"/>
              </a:rPr>
              <a:t>k</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 </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1" u="none" strike="noStrike" kern="0" cap="none" spc="0" normalizeH="0" baseline="-25000" noProof="0" dirty="0">
                <a:ln>
                  <a:noFill/>
                </a:ln>
                <a:solidFill>
                  <a:schemeClr val="accent2"/>
                </a:solidFill>
                <a:effectLst/>
                <a:uLnTx/>
                <a:uFillTx/>
                <a:latin typeface="+mn-lt"/>
                <a:ea typeface="+mn-ea"/>
                <a:cs typeface="+mn-cs"/>
              </a:rPr>
              <a:t>n</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 </a:t>
            </a:r>
            <a:r>
              <a:rPr kumimoji="0" lang="zh-CN" altLang="en-US" sz="2400" b="0" i="1"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计算</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 </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1" u="none" strike="noStrike" kern="0" cap="none" spc="0" normalizeH="0" baseline="-25000" noProof="0" dirty="0">
                <a:ln>
                  <a:noFill/>
                </a:ln>
                <a:solidFill>
                  <a:schemeClr val="accent2"/>
                </a:solidFill>
                <a:effectLst/>
                <a:uLnTx/>
                <a:uFillTx/>
                <a:latin typeface="+mn-lt"/>
                <a:ea typeface="+mn-ea"/>
                <a:cs typeface="+mn-cs"/>
              </a:rPr>
              <a:t>n</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的最优次序所包含的计算</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矩阵子链 </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1 </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en-US" altLang="zh-CN" sz="2400" b="0" i="1" u="none" strike="noStrike" kern="0" cap="none" spc="0" normalizeH="0" baseline="0" noProof="0" dirty="0" err="1">
                <a:ln>
                  <a:noFill/>
                </a:ln>
                <a:solidFill>
                  <a:schemeClr val="accent2"/>
                </a:solidFill>
                <a:effectLst/>
                <a:uLnTx/>
                <a:uFillTx/>
                <a:latin typeface="+mn-lt"/>
                <a:ea typeface="+mn-ea"/>
                <a:cs typeface="+mn-cs"/>
              </a:rPr>
              <a:t>A</a:t>
            </a:r>
            <a:r>
              <a:rPr kumimoji="0" lang="en-US" altLang="zh-CN" sz="2400" b="0" i="1" u="none" strike="noStrike" kern="0" cap="none" spc="0" normalizeH="0" baseline="-25000" noProof="0" dirty="0" err="1">
                <a:ln>
                  <a:noFill/>
                </a:ln>
                <a:solidFill>
                  <a:schemeClr val="accent2"/>
                </a:solidFill>
                <a:effectLst/>
                <a:uLnTx/>
                <a:uFillTx/>
                <a:latin typeface="+mn-lt"/>
                <a:ea typeface="+mn-ea"/>
                <a:cs typeface="+mn-cs"/>
              </a:rPr>
              <a:t>k</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1" u="none" strike="noStrike" kern="0" cap="none" spc="0" normalizeH="0" baseline="-25000" noProof="0" dirty="0">
                <a:ln>
                  <a:noFill/>
                </a:ln>
                <a:solidFill>
                  <a:schemeClr val="accent2"/>
                </a:solidFill>
                <a:effectLst/>
                <a:uLnTx/>
                <a:uFillTx/>
                <a:latin typeface="+mn-lt"/>
                <a:ea typeface="+mn-ea"/>
                <a:cs typeface="+mn-cs"/>
              </a:rPr>
              <a:t>k</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 </a:t>
            </a:r>
            <a:r>
              <a:rPr kumimoji="0" lang="en-US" altLang="zh-CN" sz="2400" b="0" i="1"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1" u="none" strike="noStrike" kern="0" cap="none" spc="0" normalizeH="0" baseline="-25000" noProof="0" dirty="0">
                <a:ln>
                  <a:noFill/>
                </a:ln>
                <a:solidFill>
                  <a:schemeClr val="accent2"/>
                </a:solidFill>
                <a:effectLst/>
                <a:uLnTx/>
                <a:uFillTx/>
                <a:latin typeface="+mn-lt"/>
                <a:ea typeface="+mn-ea"/>
                <a:cs typeface="+mn-cs"/>
              </a:rPr>
              <a:t>n</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的次序</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也是最优的</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ea"/>
                <a:ea typeface="+mn-ea"/>
              </a:rPr>
              <a:t>矩阵子链的所耗费的计算量越低，则矩阵链</a:t>
            </a:r>
            <a:r>
              <a:rPr kumimoji="0" lang="en-US" altLang="zh-CN" sz="2200" b="0" i="1" u="none" strike="noStrike" kern="0" cap="none" spc="0" normalizeH="0" baseline="0" noProof="0" dirty="0">
                <a:ln>
                  <a:noFill/>
                </a:ln>
                <a:solidFill>
                  <a:schemeClr val="accent2"/>
                </a:solidFill>
                <a:effectLst/>
                <a:uLnTx/>
                <a:uFillTx/>
                <a:latin typeface="+mn-ea"/>
                <a:ea typeface="+mn-ea"/>
              </a:rPr>
              <a:t>A</a:t>
            </a:r>
            <a:r>
              <a:rPr kumimoji="0" lang="en-US" altLang="zh-CN" sz="2200" b="0" i="0" u="none" strike="noStrike" kern="0" cap="none" spc="0" normalizeH="0" baseline="-25000" noProof="0" dirty="0">
                <a:ln>
                  <a:noFill/>
                </a:ln>
                <a:solidFill>
                  <a:schemeClr val="accent2"/>
                </a:solidFill>
                <a:effectLst/>
                <a:uLnTx/>
                <a:uFillTx/>
                <a:latin typeface="+mn-ea"/>
                <a:ea typeface="+mn-ea"/>
              </a:rPr>
              <a:t>1</a:t>
            </a:r>
            <a:r>
              <a:rPr kumimoji="0" lang="en-US" altLang="zh-CN" sz="2200" b="0" i="0" u="none" strike="noStrike" kern="0" cap="none" spc="0" normalizeH="0" baseline="0" noProof="0" dirty="0">
                <a:ln>
                  <a:noFill/>
                </a:ln>
                <a:solidFill>
                  <a:schemeClr val="accent2"/>
                </a:solidFill>
                <a:effectLst/>
                <a:uLnTx/>
                <a:uFillTx/>
                <a:latin typeface="+mn-ea"/>
                <a:ea typeface="+mn-ea"/>
              </a:rPr>
              <a:t> .. </a:t>
            </a:r>
            <a:r>
              <a:rPr kumimoji="0" lang="en-US" altLang="zh-CN" sz="2200" b="0" i="1" u="none" strike="noStrike" kern="0" cap="none" spc="0" normalizeH="0" baseline="0" noProof="0" dirty="0">
                <a:ln>
                  <a:noFill/>
                </a:ln>
                <a:solidFill>
                  <a:schemeClr val="accent2"/>
                </a:solidFill>
                <a:effectLst/>
                <a:uLnTx/>
                <a:uFillTx/>
                <a:latin typeface="+mn-ea"/>
                <a:ea typeface="+mn-ea"/>
              </a:rPr>
              <a:t>A</a:t>
            </a:r>
            <a:r>
              <a:rPr kumimoji="0" lang="en-US" altLang="zh-CN" sz="2200" b="0" i="1" u="none" strike="noStrike" kern="0" cap="none" spc="0" normalizeH="0" baseline="-25000" noProof="0" dirty="0">
                <a:ln>
                  <a:noFill/>
                </a:ln>
                <a:solidFill>
                  <a:schemeClr val="accent2"/>
                </a:solidFill>
                <a:effectLst/>
                <a:uLnTx/>
                <a:uFillTx/>
                <a:latin typeface="+mn-ea"/>
                <a:ea typeface="+mn-ea"/>
              </a:rPr>
              <a:t>n</a:t>
            </a:r>
            <a:r>
              <a:rPr kumimoji="0" lang="zh-CN" altLang="en-US" sz="2200" b="0" i="0" u="none" strike="noStrike" kern="0" cap="none" spc="0" normalizeH="0" baseline="0" noProof="0" dirty="0">
                <a:ln>
                  <a:noFill/>
                </a:ln>
                <a:solidFill>
                  <a:schemeClr val="accent2"/>
                </a:solidFill>
                <a:effectLst/>
                <a:uLnTx/>
                <a:uFillTx/>
                <a:latin typeface="+mn-ea"/>
                <a:ea typeface="+mn-ea"/>
              </a:rPr>
              <a:t>所耗费的计算量越低</a:t>
            </a:r>
            <a:endParaRPr kumimoji="0" lang="en-US" altLang="zh-CN" sz="22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endPar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742950" marR="0" lvl="1" indent="-285750" algn="l" defTabSz="914400" rtl="0" eaLnBrk="1" fontAlgn="base" latinLnBrk="0" hangingPunct="1">
              <a:lnSpc>
                <a:spcPct val="9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ea"/>
                <a:ea typeface="+mn-ea"/>
              </a:rPr>
              <a:t>总共的计算量包括</a:t>
            </a:r>
            <a:r>
              <a:rPr kumimoji="0" lang="en-US" altLang="zh-CN" sz="2200" b="0" i="0" u="none" strike="noStrike" kern="0" cap="none" spc="0" normalizeH="0" baseline="0" noProof="0" dirty="0">
                <a:ln>
                  <a:noFill/>
                </a:ln>
                <a:solidFill>
                  <a:schemeClr val="accent2"/>
                </a:solidFill>
                <a:effectLst/>
                <a:uLnTx/>
                <a:uFillTx/>
                <a:latin typeface="+mn-ea"/>
                <a:ea typeface="+mn-ea"/>
              </a:rPr>
              <a:t> cost( </a:t>
            </a:r>
            <a:r>
              <a:rPr kumimoji="0" lang="en-US" altLang="zh-CN" sz="2200" b="0" i="1" u="none" strike="noStrike" kern="0" cap="none" spc="0" normalizeH="0" baseline="0" noProof="0" dirty="0">
                <a:ln>
                  <a:noFill/>
                </a:ln>
                <a:solidFill>
                  <a:schemeClr val="accent2"/>
                </a:solidFill>
                <a:effectLst/>
                <a:uLnTx/>
                <a:uFillTx/>
                <a:latin typeface="+mn-ea"/>
                <a:ea typeface="+mn-ea"/>
              </a:rPr>
              <a:t>A</a:t>
            </a:r>
            <a:r>
              <a:rPr kumimoji="0" lang="en-US" altLang="zh-CN" sz="2200" b="0" i="0" u="none" strike="noStrike" kern="0" cap="none" spc="0" normalizeH="0" baseline="-25000" noProof="0" dirty="0">
                <a:ln>
                  <a:noFill/>
                </a:ln>
                <a:solidFill>
                  <a:schemeClr val="accent2"/>
                </a:solidFill>
                <a:effectLst/>
                <a:uLnTx/>
                <a:uFillTx/>
                <a:latin typeface="+mn-ea"/>
                <a:ea typeface="+mn-ea"/>
              </a:rPr>
              <a:t>1</a:t>
            </a:r>
            <a:r>
              <a:rPr kumimoji="0" lang="en-US" altLang="zh-CN" sz="2200" b="0" i="0" u="none" strike="noStrike" kern="0" cap="none" spc="0" normalizeH="0" baseline="0" noProof="0" dirty="0">
                <a:ln>
                  <a:noFill/>
                </a:ln>
                <a:solidFill>
                  <a:schemeClr val="accent2"/>
                </a:solidFill>
                <a:effectLst/>
                <a:uLnTx/>
                <a:uFillTx/>
                <a:latin typeface="+mn-ea"/>
                <a:ea typeface="+mn-ea"/>
              </a:rPr>
              <a:t> .. </a:t>
            </a:r>
            <a:r>
              <a:rPr kumimoji="0" lang="en-US" altLang="zh-CN" sz="2200" b="0" i="1" u="none" strike="noStrike" kern="0" cap="none" spc="0" normalizeH="0" baseline="0" noProof="0" dirty="0" err="1">
                <a:ln>
                  <a:noFill/>
                </a:ln>
                <a:solidFill>
                  <a:schemeClr val="accent2"/>
                </a:solidFill>
                <a:effectLst/>
                <a:uLnTx/>
                <a:uFillTx/>
                <a:latin typeface="+mn-ea"/>
                <a:ea typeface="+mn-ea"/>
              </a:rPr>
              <a:t>A</a:t>
            </a:r>
            <a:r>
              <a:rPr kumimoji="0" lang="en-US" altLang="zh-CN" sz="2200" b="0" i="1" u="none" strike="noStrike" kern="0" cap="none" spc="0" normalizeH="0" baseline="-25000" noProof="0" dirty="0" err="1">
                <a:ln>
                  <a:noFill/>
                </a:ln>
                <a:solidFill>
                  <a:schemeClr val="accent2"/>
                </a:solidFill>
                <a:effectLst/>
                <a:uLnTx/>
                <a:uFillTx/>
                <a:latin typeface="+mn-ea"/>
                <a:ea typeface="+mn-ea"/>
              </a:rPr>
              <a:t>k</a:t>
            </a:r>
            <a:r>
              <a:rPr kumimoji="0" lang="en-US" altLang="zh-CN" sz="2200" b="0" i="0" u="none" strike="noStrike" kern="0" cap="none" spc="0" normalizeH="0" baseline="0" noProof="0" dirty="0">
                <a:ln>
                  <a:noFill/>
                </a:ln>
                <a:solidFill>
                  <a:schemeClr val="accent2"/>
                </a:solidFill>
                <a:effectLst/>
                <a:uLnTx/>
                <a:uFillTx/>
                <a:latin typeface="+mn-ea"/>
                <a:ea typeface="+mn-ea"/>
              </a:rPr>
              <a:t>) + cost( </a:t>
            </a:r>
            <a:r>
              <a:rPr kumimoji="0" lang="en-US" altLang="zh-CN" sz="2200" b="0" i="1" u="none" strike="noStrike" kern="0" cap="none" spc="0" normalizeH="0" baseline="0" noProof="0" dirty="0">
                <a:ln>
                  <a:noFill/>
                </a:ln>
                <a:solidFill>
                  <a:schemeClr val="accent2"/>
                </a:solidFill>
                <a:effectLst/>
                <a:uLnTx/>
                <a:uFillTx/>
                <a:latin typeface="+mn-ea"/>
                <a:ea typeface="+mn-ea"/>
              </a:rPr>
              <a:t>A</a:t>
            </a:r>
            <a:r>
              <a:rPr kumimoji="0" lang="en-US" altLang="zh-CN" sz="2200" b="0" i="1" u="none" strike="noStrike" kern="0" cap="none" spc="0" normalizeH="0" baseline="-25000" noProof="0" dirty="0">
                <a:ln>
                  <a:noFill/>
                </a:ln>
                <a:solidFill>
                  <a:schemeClr val="accent2"/>
                </a:solidFill>
                <a:effectLst/>
                <a:uLnTx/>
                <a:uFillTx/>
                <a:latin typeface="+mn-ea"/>
                <a:ea typeface="+mn-ea"/>
              </a:rPr>
              <a:t>k</a:t>
            </a:r>
            <a:r>
              <a:rPr kumimoji="0" lang="en-US" altLang="zh-CN" sz="2200" b="0" i="0" u="none" strike="noStrike" kern="0" cap="none" spc="0" normalizeH="0" baseline="-25000" noProof="0" dirty="0">
                <a:ln>
                  <a:noFill/>
                </a:ln>
                <a:solidFill>
                  <a:schemeClr val="accent2"/>
                </a:solidFill>
                <a:effectLst/>
                <a:uLnTx/>
                <a:uFillTx/>
                <a:latin typeface="+mn-ea"/>
                <a:ea typeface="+mn-ea"/>
              </a:rPr>
              <a:t>+1</a:t>
            </a:r>
            <a:r>
              <a:rPr kumimoji="0" lang="en-US" altLang="zh-CN" sz="2200" b="0" i="0" u="none" strike="noStrike" kern="0" cap="none" spc="0" normalizeH="0" baseline="0" noProof="0" dirty="0">
                <a:ln>
                  <a:noFill/>
                </a:ln>
                <a:solidFill>
                  <a:schemeClr val="accent2"/>
                </a:solidFill>
                <a:effectLst/>
                <a:uLnTx/>
                <a:uFillTx/>
                <a:latin typeface="+mn-ea"/>
                <a:ea typeface="+mn-ea"/>
              </a:rPr>
              <a:t> .. </a:t>
            </a:r>
            <a:r>
              <a:rPr kumimoji="0" lang="en-US" altLang="zh-CN" sz="2200" b="0" i="1" u="none" strike="noStrike" kern="0" cap="none" spc="0" normalizeH="0" baseline="0" noProof="0" dirty="0">
                <a:ln>
                  <a:noFill/>
                </a:ln>
                <a:solidFill>
                  <a:schemeClr val="accent2"/>
                </a:solidFill>
                <a:effectLst/>
                <a:uLnTx/>
                <a:uFillTx/>
                <a:latin typeface="+mn-ea"/>
                <a:ea typeface="+mn-ea"/>
              </a:rPr>
              <a:t>A</a:t>
            </a:r>
            <a:r>
              <a:rPr kumimoji="0" lang="en-US" altLang="zh-CN" sz="2200" b="0" i="1" u="none" strike="noStrike" kern="0" cap="none" spc="0" normalizeH="0" baseline="-25000" noProof="0" dirty="0">
                <a:ln>
                  <a:noFill/>
                </a:ln>
                <a:solidFill>
                  <a:schemeClr val="accent2"/>
                </a:solidFill>
                <a:effectLst/>
                <a:uLnTx/>
                <a:uFillTx/>
                <a:latin typeface="+mn-ea"/>
                <a:ea typeface="+mn-ea"/>
              </a:rPr>
              <a:t>n</a:t>
            </a:r>
            <a:r>
              <a:rPr kumimoji="0" lang="en-US" altLang="zh-CN" sz="2200" b="0" i="0" u="none" strike="noStrike" kern="0" cap="none" spc="0" normalizeH="0" baseline="0" noProof="0" dirty="0">
                <a:ln>
                  <a:noFill/>
                </a:ln>
                <a:solidFill>
                  <a:schemeClr val="accent2"/>
                </a:solidFill>
                <a:effectLst/>
                <a:uLnTx/>
                <a:uFillTx/>
                <a:latin typeface="+mn-ea"/>
                <a:ea typeface="+mn-ea"/>
              </a:rPr>
              <a:t>) + cost </a:t>
            </a:r>
            <a:r>
              <a:rPr kumimoji="0" lang="zh-CN" altLang="en-US" sz="2200" b="0" i="0" u="none" strike="noStrike" kern="0" cap="none" spc="0" normalizeH="0" baseline="0" noProof="0" dirty="0">
                <a:ln>
                  <a:noFill/>
                </a:ln>
                <a:solidFill>
                  <a:schemeClr val="accent2"/>
                </a:solidFill>
                <a:effectLst/>
                <a:uLnTx/>
                <a:uFillTx/>
                <a:latin typeface="+mn-ea"/>
                <a:ea typeface="+mn-ea"/>
              </a:rPr>
              <a:t>（两个矩阵子链的乘积生成的矩阵相乘）。而无论子问题的解决方案如何，最后一项的计算量不变。</a:t>
            </a:r>
            <a:endParaRPr kumimoji="0" lang="en-US" altLang="zh-CN" sz="2200" b="0" i="0" u="none" strike="noStrike" kern="0" cap="none" spc="0" normalizeH="0" baseline="0" noProof="0" dirty="0">
              <a:ln>
                <a:noFill/>
              </a:ln>
              <a:solidFill>
                <a:schemeClr val="accent2"/>
              </a:solidFill>
              <a:effectLst/>
              <a:uLnTx/>
              <a:uFillTx/>
              <a:latin typeface="+mn-ea"/>
              <a:ea typeface="+mn-ea"/>
            </a:endParaRPr>
          </a:p>
        </p:txBody>
      </p:sp>
      <p:sp>
        <p:nvSpPr>
          <p:cNvPr id="7" name="Rectangle 2"/>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kumimoji="0" lang="zh-CN" altLang="en-US" sz="3200" i="0" u="none" strike="noStrike" kern="0" cap="none" spc="0" normalizeH="0" baseline="0" noProof="0" dirty="0">
                <a:ln>
                  <a:noFill/>
                </a:ln>
                <a:solidFill>
                  <a:schemeClr val="accent2"/>
                </a:solidFill>
                <a:effectLst/>
                <a:uLnTx/>
                <a:uFillTx/>
                <a:latin typeface="+mj-lt"/>
                <a:ea typeface="+mj-ea"/>
                <a:cs typeface="+mj-cs"/>
              </a:rPr>
              <a:t>最优子结构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44035"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4036"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17</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44037" name="Rectangle 3"/>
          <p:cNvSpPr>
            <a:spLocks noGrp="1"/>
          </p:cNvSpPr>
          <p:nvPr>
            <p:ph idx="1"/>
          </p:nvPr>
        </p:nvSpPr>
        <p:spPr>
          <a:xfrm>
            <a:off x="827088" y="1125538"/>
            <a:ext cx="7786687" cy="4608512"/>
          </a:xfrm>
        </p:spPr>
        <p:txBody>
          <a:bodyPr vert="horz" wrap="square" lIns="91440" tIns="45720" rIns="91440" bIns="45720" anchor="t" anchorCtr="0"/>
          <a:lstStyle/>
          <a:p>
            <a:pPr eaLnBrk="1" hangingPunct="1"/>
            <a:r>
              <a:rPr lang="zh-CN" altLang="en-US" dirty="0"/>
              <a:t>将矩阵连乘积</a:t>
            </a:r>
            <a:r>
              <a:rPr lang="en-US" altLang="zh-CN" dirty="0"/>
              <a:t>A(i)A(i+1)…A(j)</a:t>
            </a:r>
            <a:r>
              <a:rPr lang="zh-CN" altLang="en-US" dirty="0"/>
              <a:t>简记为</a:t>
            </a:r>
            <a:r>
              <a:rPr lang="en-US" altLang="zh-CN" dirty="0"/>
              <a:t>A[i:j]，</a:t>
            </a:r>
            <a:r>
              <a:rPr lang="zh-CN" altLang="en-US" dirty="0"/>
              <a:t>设计算</a:t>
            </a:r>
            <a:r>
              <a:rPr lang="en-US" altLang="zh-CN" dirty="0"/>
              <a:t>A[i:j](1 &lt;= i &lt;= j &lt;= n)</a:t>
            </a:r>
            <a:r>
              <a:rPr lang="zh-CN" altLang="en-US" dirty="0"/>
              <a:t>所需要的</a:t>
            </a:r>
            <a:r>
              <a:rPr lang="zh-CN" altLang="en-US" dirty="0">
                <a:solidFill>
                  <a:srgbClr val="FF0000"/>
                </a:solidFill>
              </a:rPr>
              <a:t>最少数乘次数</a:t>
            </a:r>
            <a:r>
              <a:rPr lang="en-US" altLang="zh-CN" dirty="0">
                <a:solidFill>
                  <a:srgbClr val="FF0000"/>
                </a:solidFill>
              </a:rPr>
              <a:t>m[i,j]，</a:t>
            </a:r>
            <a:r>
              <a:rPr lang="zh-CN" altLang="en-US" dirty="0"/>
              <a:t>则原问题的最优值为</a:t>
            </a:r>
            <a:r>
              <a:rPr lang="en-US" altLang="zh-CN" dirty="0"/>
              <a:t>m[1,n]</a:t>
            </a:r>
          </a:p>
          <a:p>
            <a:r>
              <a:rPr lang="zh-CN" altLang="en-US" dirty="0"/>
              <a:t>当</a:t>
            </a:r>
            <a:r>
              <a:rPr lang="en-US" altLang="zh-CN" dirty="0"/>
              <a:t>i = j</a:t>
            </a:r>
            <a:r>
              <a:rPr lang="zh-CN" altLang="en-US" dirty="0"/>
              <a:t>时，</a:t>
            </a:r>
            <a:r>
              <a:rPr lang="en-US" altLang="zh-CN" dirty="0"/>
              <a:t>A[i:j]=Ai，</a:t>
            </a:r>
            <a:r>
              <a:rPr lang="zh-CN" altLang="en-US" dirty="0"/>
              <a:t>因此，</a:t>
            </a:r>
            <a:r>
              <a:rPr lang="en-US" altLang="zh-CN" dirty="0"/>
              <a:t>m[i,i] = 0，i = 1,2,…,n</a:t>
            </a:r>
          </a:p>
          <a:p>
            <a:r>
              <a:rPr lang="zh-CN" altLang="en-US" dirty="0"/>
              <a:t>当</a:t>
            </a:r>
            <a:r>
              <a:rPr lang="en-US" altLang="zh-CN" dirty="0"/>
              <a:t>i &lt; j</a:t>
            </a:r>
            <a:r>
              <a:rPr lang="zh-CN" altLang="en-US" dirty="0"/>
              <a:t>时，</a:t>
            </a:r>
            <a:r>
              <a:rPr lang="en-US" altLang="zh-CN" dirty="0">
                <a:solidFill>
                  <a:srgbClr val="FF0000"/>
                </a:solidFill>
              </a:rPr>
              <a:t>m[i,j] = m[i,k] + m[k+1,j] + p(i-1)p(k)p(j)</a:t>
            </a:r>
          </a:p>
          <a:p>
            <a:pPr lvl="1"/>
            <a:r>
              <a:rPr lang="zh-CN" altLang="en-US" dirty="0"/>
              <a:t>这里</a:t>
            </a:r>
            <a:r>
              <a:rPr lang="en-US" altLang="zh-CN" dirty="0"/>
              <a:t>A(i)</a:t>
            </a:r>
            <a:r>
              <a:rPr lang="zh-CN" altLang="en-US" dirty="0"/>
              <a:t>的维数为</a:t>
            </a:r>
            <a:r>
              <a:rPr lang="en-US" altLang="zh-CN" dirty="0"/>
              <a:t>p(i-1)*p (i)(</a:t>
            </a:r>
            <a:r>
              <a:rPr lang="zh-CN" altLang="en-US" dirty="0"/>
              <a:t>注：</a:t>
            </a:r>
            <a:r>
              <a:rPr lang="en-US" altLang="zh-CN" dirty="0"/>
              <a:t>p(i-1)</a:t>
            </a:r>
            <a:r>
              <a:rPr lang="zh-CN" altLang="en-US" dirty="0"/>
              <a:t>为矩阵</a:t>
            </a:r>
            <a:r>
              <a:rPr lang="en-US" altLang="zh-CN" dirty="0"/>
              <a:t>A(i)</a:t>
            </a:r>
            <a:r>
              <a:rPr lang="zh-CN" altLang="en-US" dirty="0"/>
              <a:t>的行数，</a:t>
            </a:r>
            <a:r>
              <a:rPr lang="en-US" altLang="zh-CN" dirty="0"/>
              <a:t>p(i)</a:t>
            </a:r>
            <a:r>
              <a:rPr lang="zh-CN" altLang="en-US" dirty="0"/>
              <a:t>为矩阵</a:t>
            </a:r>
            <a:r>
              <a:rPr lang="en-US" altLang="zh-CN" dirty="0"/>
              <a:t>A[i]</a:t>
            </a:r>
            <a:r>
              <a:rPr lang="zh-CN" altLang="en-US" dirty="0"/>
              <a:t>的列数</a:t>
            </a:r>
            <a:r>
              <a:rPr lang="en-US" altLang="zh-CN" dirty="0"/>
              <a:t>)</a:t>
            </a:r>
          </a:p>
          <a:p>
            <a:r>
              <a:rPr lang="zh-CN" altLang="en-US" dirty="0"/>
              <a:t>可以递归地定义</a:t>
            </a:r>
            <a:r>
              <a:rPr lang="en-US" altLang="zh-CN" dirty="0"/>
              <a:t>m[i,j]</a:t>
            </a:r>
            <a:r>
              <a:rPr lang="zh-CN" altLang="en-US" dirty="0"/>
              <a:t>为：</a:t>
            </a:r>
          </a:p>
          <a:p>
            <a:pPr lvl="1" eaLnBrk="1" hangingPunct="1">
              <a:buNone/>
            </a:pPr>
            <a:endParaRPr lang="en-US" altLang="zh-CN" sz="1800" dirty="0"/>
          </a:p>
        </p:txBody>
      </p:sp>
      <p:graphicFrame>
        <p:nvGraphicFramePr>
          <p:cNvPr id="44038" name="Object 4"/>
          <p:cNvGraphicFramePr>
            <a:graphicFrameLocks noChangeAspect="1"/>
          </p:cNvGraphicFramePr>
          <p:nvPr/>
        </p:nvGraphicFramePr>
        <p:xfrm>
          <a:off x="1403350" y="4652963"/>
          <a:ext cx="6624638" cy="1042987"/>
        </p:xfrm>
        <a:graphic>
          <a:graphicData uri="http://schemas.openxmlformats.org/presentationml/2006/ole">
            <mc:AlternateContent xmlns:mc="http://schemas.openxmlformats.org/markup-compatibility/2006">
              <mc:Choice xmlns:v="urn:schemas-microsoft-com:vml" Requires="v">
                <p:oleObj r:id="rId3" imgW="3708400" imgH="584200" progId="Equation.DSMT4">
                  <p:embed/>
                </p:oleObj>
              </mc:Choice>
              <mc:Fallback>
                <p:oleObj r:id="rId3" imgW="3708400" imgH="584200" progId="Equation.DSMT4">
                  <p:embed/>
                  <p:pic>
                    <p:nvPicPr>
                      <p:cNvPr id="44038" name="Object 4"/>
                      <p:cNvPicPr/>
                      <p:nvPr/>
                    </p:nvPicPr>
                    <p:blipFill>
                      <a:blip r:embed="rId4"/>
                      <a:stretch>
                        <a:fillRect/>
                      </a:stretch>
                    </p:blipFill>
                    <p:spPr>
                      <a:xfrm>
                        <a:off x="1403350" y="4652963"/>
                        <a:ext cx="6624638" cy="1042987"/>
                      </a:xfrm>
                      <a:prstGeom prst="rect">
                        <a:avLst/>
                      </a:prstGeom>
                      <a:noFill/>
                      <a:ln w="38100">
                        <a:noFill/>
                        <a:miter/>
                      </a:ln>
                    </p:spPr>
                  </p:pic>
                </p:oleObj>
              </mc:Fallback>
            </mc:AlternateContent>
          </a:graphicData>
        </a:graphic>
      </p:graphicFrame>
      <p:sp>
        <p:nvSpPr>
          <p:cNvPr id="4" name="Rectangle 2">
            <a:extLst>
              <a:ext uri="{FF2B5EF4-FFF2-40B4-BE49-F238E27FC236}">
                <a16:creationId xmlns:a16="http://schemas.microsoft.com/office/drawing/2014/main" id="{AFA753F7-A9AD-78DA-F324-338615437BB6}"/>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kumimoji="0" lang="zh-CN" altLang="en-US" sz="3200" i="0" u="none" strike="noStrike" kern="0" cap="none" spc="0" normalizeH="0" baseline="0" noProof="0" dirty="0">
                <a:ln>
                  <a:noFill/>
                </a:ln>
                <a:solidFill>
                  <a:schemeClr val="accent2"/>
                </a:solidFill>
                <a:effectLst/>
                <a:uLnTx/>
                <a:uFillTx/>
                <a:latin typeface="+mj-lt"/>
                <a:ea typeface="+mj-ea"/>
                <a:cs typeface="+mj-cs"/>
              </a:rPr>
              <a:t>最优子结构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46083"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6084"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18</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38915" name="Rectangle 3"/>
          <p:cNvSpPr>
            <a:spLocks noGrp="1"/>
          </p:cNvSpPr>
          <p:nvPr>
            <p:ph idx="1"/>
          </p:nvPr>
        </p:nvSpPr>
        <p:spPr>
          <a:xfrm>
            <a:off x="755650" y="1628458"/>
            <a:ext cx="8229600" cy="4464050"/>
          </a:xfrm>
        </p:spPr>
        <p:txBody>
          <a:bodyPr vert="horz" wrap="square" lIns="91440" tIns="45720" rIns="91440" bIns="45720" anchor="t" anchorCtr="0"/>
          <a:lstStyle/>
          <a:p>
            <a:pPr eaLnBrk="1" hangingPunct="1">
              <a:lnSpc>
                <a:spcPct val="80000"/>
              </a:lnSpc>
            </a:pPr>
            <a:r>
              <a:rPr lang="zh-CN" altLang="zh-CN" dirty="0"/>
              <a:t>下面的伪代码假定矩阵</a:t>
            </a:r>
            <a:r>
              <a:rPr lang="en-US" altLang="zh-CN" i="1" dirty="0"/>
              <a:t>A</a:t>
            </a:r>
            <a:r>
              <a:rPr lang="en-US" altLang="zh-CN" i="1" baseline="-25000" dirty="0"/>
              <a:t>i </a:t>
            </a:r>
            <a:r>
              <a:rPr lang="zh-CN" altLang="zh-CN" dirty="0"/>
              <a:t>尺寸</a:t>
            </a:r>
            <a:r>
              <a:rPr lang="en-US" altLang="zh-CN" dirty="0"/>
              <a:t>p(i-1)×p(i) for </a:t>
            </a:r>
            <a:r>
              <a:rPr lang="en-US" altLang="zh-CN" i="1" dirty="0"/>
              <a:t>i </a:t>
            </a:r>
            <a:r>
              <a:rPr lang="en-US" altLang="zh-CN" dirty="0"/>
              <a:t>= 1, 2, ..., </a:t>
            </a:r>
            <a:r>
              <a:rPr lang="en-US" altLang="zh-CN" i="1" dirty="0"/>
              <a:t>n</a:t>
            </a:r>
            <a:r>
              <a:rPr lang="en-US" altLang="zh-CN" dirty="0"/>
              <a:t>. </a:t>
            </a:r>
          </a:p>
          <a:p>
            <a:pPr eaLnBrk="1" hangingPunct="1">
              <a:lnSpc>
                <a:spcPct val="80000"/>
              </a:lnSpc>
            </a:pPr>
            <a:endParaRPr lang="en-US" altLang="zh-CN" dirty="0"/>
          </a:p>
          <a:p>
            <a:pPr eaLnBrk="1" hangingPunct="1">
              <a:lnSpc>
                <a:spcPct val="80000"/>
              </a:lnSpc>
            </a:pPr>
            <a:r>
              <a:rPr lang="zh-CN" altLang="en-US" dirty="0"/>
              <a:t>输入是</a:t>
            </a:r>
            <a:r>
              <a:rPr lang="en-US" altLang="zh-CN" i="1" dirty="0"/>
              <a:t>p = p[0], p[1], ..., p[n],</a:t>
            </a:r>
            <a:r>
              <a:rPr lang="en-US" altLang="zh-CN" dirty="0"/>
              <a:t> </a:t>
            </a:r>
            <a:r>
              <a:rPr lang="zh-CN" altLang="en-US" dirty="0"/>
              <a:t>其中</a:t>
            </a:r>
            <a:r>
              <a:rPr lang="en-US" altLang="zh-CN" i="1" dirty="0"/>
              <a:t>length</a:t>
            </a:r>
            <a:r>
              <a:rPr lang="en-US" altLang="zh-CN" dirty="0"/>
              <a:t>[</a:t>
            </a:r>
            <a:r>
              <a:rPr lang="en-US" altLang="zh-CN" i="1" dirty="0"/>
              <a:t>p</a:t>
            </a:r>
            <a:r>
              <a:rPr lang="en-US" altLang="zh-CN" dirty="0"/>
              <a:t>] = </a:t>
            </a:r>
            <a:r>
              <a:rPr lang="en-US" altLang="zh-CN" i="1" dirty="0"/>
              <a:t>n </a:t>
            </a:r>
            <a:r>
              <a:rPr lang="en-US" altLang="zh-CN" dirty="0"/>
              <a:t>+ 1. </a:t>
            </a:r>
          </a:p>
          <a:p>
            <a:pPr eaLnBrk="1" hangingPunct="1">
              <a:lnSpc>
                <a:spcPct val="80000"/>
              </a:lnSpc>
            </a:pPr>
            <a:endParaRPr lang="en-US" altLang="zh-CN" dirty="0"/>
          </a:p>
          <a:p>
            <a:pPr eaLnBrk="1" hangingPunct="1">
              <a:lnSpc>
                <a:spcPct val="80000"/>
              </a:lnSpc>
            </a:pPr>
            <a:r>
              <a:rPr lang="zh-CN" altLang="zh-CN" dirty="0"/>
              <a:t>该过程使用的辅助表</a:t>
            </a:r>
            <a:r>
              <a:rPr lang="en-US" altLang="zh-CN" i="1" dirty="0">
                <a:solidFill>
                  <a:srgbClr val="FF0000"/>
                </a:solidFill>
              </a:rPr>
              <a:t>m</a:t>
            </a:r>
            <a:r>
              <a:rPr lang="en-US" altLang="zh-CN" dirty="0">
                <a:solidFill>
                  <a:srgbClr val="FF0000"/>
                </a:solidFill>
              </a:rPr>
              <a:t>[1..</a:t>
            </a:r>
            <a:r>
              <a:rPr lang="en-US" altLang="zh-CN" i="1" dirty="0">
                <a:solidFill>
                  <a:srgbClr val="FF0000"/>
                </a:solidFill>
              </a:rPr>
              <a:t>n</a:t>
            </a:r>
            <a:r>
              <a:rPr lang="en-US" altLang="zh-CN" dirty="0">
                <a:solidFill>
                  <a:srgbClr val="FF0000"/>
                </a:solidFill>
              </a:rPr>
              <a:t>, 1..</a:t>
            </a:r>
            <a:r>
              <a:rPr lang="en-US" altLang="zh-CN" i="1" dirty="0">
                <a:solidFill>
                  <a:srgbClr val="FF0000"/>
                </a:solidFill>
              </a:rPr>
              <a:t>n</a:t>
            </a:r>
            <a:r>
              <a:rPr lang="en-US" altLang="zh-CN" dirty="0">
                <a:solidFill>
                  <a:srgbClr val="FF0000"/>
                </a:solidFill>
              </a:rPr>
              <a:t>]</a:t>
            </a:r>
            <a:r>
              <a:rPr lang="zh-CN" altLang="zh-CN" dirty="0"/>
              <a:t>用于存储的最小</a:t>
            </a:r>
            <a:r>
              <a:rPr lang="en-US" altLang="zh-CN" i="1" dirty="0"/>
              <a:t>m</a:t>
            </a:r>
            <a:r>
              <a:rPr lang="en-US" altLang="zh-CN" dirty="0"/>
              <a:t>[</a:t>
            </a:r>
            <a:r>
              <a:rPr lang="en-US" altLang="zh-CN" i="1" dirty="0"/>
              <a:t>i</a:t>
            </a:r>
            <a:r>
              <a:rPr lang="en-US" altLang="zh-CN" dirty="0"/>
              <a:t>, </a:t>
            </a:r>
            <a:r>
              <a:rPr lang="en-US" altLang="zh-CN" i="1" dirty="0"/>
              <a:t>j</a:t>
            </a:r>
            <a:r>
              <a:rPr lang="en-US" altLang="zh-CN" dirty="0"/>
              <a:t>] </a:t>
            </a:r>
            <a:r>
              <a:rPr lang="zh-CN" altLang="en-US" dirty="0"/>
              <a:t>的计算耗费</a:t>
            </a:r>
            <a:endParaRPr lang="en-US" altLang="zh-CN" dirty="0"/>
          </a:p>
          <a:p>
            <a:pPr eaLnBrk="1" hangingPunct="1">
              <a:lnSpc>
                <a:spcPct val="80000"/>
              </a:lnSpc>
            </a:pPr>
            <a:endParaRPr lang="en-US" altLang="zh-CN" dirty="0"/>
          </a:p>
          <a:p>
            <a:pPr eaLnBrk="1" hangingPunct="1">
              <a:lnSpc>
                <a:spcPct val="80000"/>
              </a:lnSpc>
            </a:pPr>
            <a:r>
              <a:rPr lang="zh-CN" altLang="zh-CN" dirty="0"/>
              <a:t>辅助表</a:t>
            </a:r>
            <a:r>
              <a:rPr lang="en-US" altLang="zh-CN" i="1" dirty="0">
                <a:solidFill>
                  <a:srgbClr val="FF0000"/>
                </a:solidFill>
              </a:rPr>
              <a:t>s</a:t>
            </a:r>
            <a:r>
              <a:rPr lang="en-US" altLang="zh-CN" dirty="0">
                <a:solidFill>
                  <a:srgbClr val="FF0000"/>
                </a:solidFill>
              </a:rPr>
              <a:t>[1..</a:t>
            </a:r>
            <a:r>
              <a:rPr lang="en-US" altLang="zh-CN" i="1" dirty="0">
                <a:solidFill>
                  <a:srgbClr val="FF0000"/>
                </a:solidFill>
              </a:rPr>
              <a:t>n</a:t>
            </a:r>
            <a:r>
              <a:rPr lang="en-US" altLang="zh-CN" dirty="0">
                <a:solidFill>
                  <a:srgbClr val="FF0000"/>
                </a:solidFill>
              </a:rPr>
              <a:t>, 1..</a:t>
            </a:r>
            <a:r>
              <a:rPr lang="en-US" altLang="zh-CN" i="1" dirty="0">
                <a:solidFill>
                  <a:srgbClr val="FF0000"/>
                </a:solidFill>
              </a:rPr>
              <a:t>n</a:t>
            </a:r>
            <a:r>
              <a:rPr lang="en-US" altLang="zh-CN" dirty="0">
                <a:solidFill>
                  <a:srgbClr val="FF0000"/>
                </a:solidFill>
              </a:rPr>
              <a:t>]</a:t>
            </a:r>
            <a:r>
              <a:rPr lang="zh-CN" altLang="zh-CN" dirty="0"/>
              <a:t>记录索引k达到最佳的成本计算</a:t>
            </a:r>
            <a:r>
              <a:rPr lang="zh-CN" altLang="en-US" dirty="0"/>
              <a:t>时的</a:t>
            </a:r>
            <a:r>
              <a:rPr lang="en-US" altLang="zh-CN" i="1" dirty="0"/>
              <a:t>m</a:t>
            </a:r>
            <a:r>
              <a:rPr lang="en-US" altLang="zh-CN" dirty="0"/>
              <a:t>[</a:t>
            </a:r>
            <a:r>
              <a:rPr lang="en-US" altLang="zh-CN" i="1" dirty="0"/>
              <a:t>i</a:t>
            </a:r>
            <a:r>
              <a:rPr lang="en-US" altLang="zh-CN" dirty="0"/>
              <a:t>, </a:t>
            </a:r>
            <a:r>
              <a:rPr lang="en-US" altLang="zh-CN" i="1" dirty="0"/>
              <a:t>j</a:t>
            </a:r>
            <a:r>
              <a:rPr lang="en-US" altLang="zh-CN" dirty="0"/>
              <a:t>]</a:t>
            </a:r>
            <a:r>
              <a:rPr lang="zh-CN" altLang="en-US" dirty="0"/>
              <a:t>，</a:t>
            </a:r>
            <a:r>
              <a:rPr lang="zh-CN" altLang="zh-CN" dirty="0"/>
              <a:t>我们将使用表S构建一个最</a:t>
            </a:r>
            <a:r>
              <a:rPr lang="zh-CN" altLang="en-US" dirty="0"/>
              <a:t>优方案。</a:t>
            </a:r>
            <a:endParaRPr lang="en-US" altLang="zh-CN" dirty="0"/>
          </a:p>
        </p:txBody>
      </p:sp>
      <p:sp>
        <p:nvSpPr>
          <p:cNvPr id="10" name="Rectangle 2"/>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kumimoji="0" lang="zh-CN" altLang="en-US" sz="3200" i="0" u="none" strike="noStrike" kern="0" cap="none" spc="0" normalizeH="0" baseline="0" noProof="0" dirty="0">
                <a:ln>
                  <a:noFill/>
                </a:ln>
                <a:solidFill>
                  <a:schemeClr val="accent2"/>
                </a:solidFill>
                <a:effectLst/>
                <a:uLnTx/>
                <a:uFillTx/>
                <a:latin typeface="+mj-lt"/>
                <a:ea typeface="+mj-ea"/>
                <a:cs typeface="+mj-cs"/>
              </a:rPr>
              <a:t>伪代码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 calcmode="lin" valueType="num">
                                      <p:cBhvr additive="base">
                                        <p:cTn id="7" dur="500" fill="hold"/>
                                        <p:tgtEl>
                                          <p:spTgt spid="38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915">
                                            <p:txEl>
                                              <p:pRg st="2" end="2"/>
                                            </p:txEl>
                                          </p:spTgt>
                                        </p:tgtEl>
                                        <p:attrNameLst>
                                          <p:attrName>style.visibility</p:attrName>
                                        </p:attrNameLst>
                                      </p:cBhvr>
                                      <p:to>
                                        <p:strVal val="visible"/>
                                      </p:to>
                                    </p:set>
                                    <p:anim calcmode="lin" valueType="num">
                                      <p:cBhvr additive="base">
                                        <p:cTn id="13" dur="500" fill="hold"/>
                                        <p:tgtEl>
                                          <p:spTgt spid="389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915">
                                            <p:txEl>
                                              <p:pRg st="4" end="4"/>
                                            </p:txEl>
                                          </p:spTgt>
                                        </p:tgtEl>
                                        <p:attrNameLst>
                                          <p:attrName>style.visibility</p:attrName>
                                        </p:attrNameLst>
                                      </p:cBhvr>
                                      <p:to>
                                        <p:strVal val="visible"/>
                                      </p:to>
                                    </p:set>
                                    <p:anim calcmode="lin" valueType="num">
                                      <p:cBhvr additive="base">
                                        <p:cTn id="19" dur="500" fill="hold"/>
                                        <p:tgtEl>
                                          <p:spTgt spid="389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915">
                                            <p:txEl>
                                              <p:pRg st="6" end="6"/>
                                            </p:txEl>
                                          </p:spTgt>
                                        </p:tgtEl>
                                        <p:attrNameLst>
                                          <p:attrName>style.visibility</p:attrName>
                                        </p:attrNameLst>
                                      </p:cBhvr>
                                      <p:to>
                                        <p:strVal val="visible"/>
                                      </p:to>
                                    </p:set>
                                    <p:anim calcmode="lin" valueType="num">
                                      <p:cBhvr additive="base">
                                        <p:cTn id="25" dur="500" fill="hold"/>
                                        <p:tgtEl>
                                          <p:spTgt spid="3891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1"/>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48131" name="页脚占位符 2"/>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48132" name="灯片编号占位符 3"/>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19</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 name="Rectangle 1">
            <a:extLst>
              <a:ext uri="{FF2B5EF4-FFF2-40B4-BE49-F238E27FC236}">
                <a16:creationId xmlns:a16="http://schemas.microsoft.com/office/drawing/2014/main" id="{0E52A4C9-6100-F57B-FFBA-6814651E3BEF}"/>
              </a:ext>
            </a:extLst>
          </p:cNvPr>
          <p:cNvSpPr/>
          <p:nvPr/>
        </p:nvSpPr>
        <p:spPr bwMode="auto">
          <a:xfrm>
            <a:off x="935658" y="1190634"/>
            <a:ext cx="7668790" cy="5530841"/>
          </a:xfrm>
          <a:prstGeom prst="rect">
            <a:avLst/>
          </a:prstGeom>
          <a:solidFill>
            <a:schemeClr val="bg1"/>
          </a:solidFill>
          <a:ln w="25400"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en-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5061" name="Rectangle 2"/>
          <p:cNvSpPr>
            <a:spLocks noGrp="1" noChangeArrowheads="1"/>
          </p:cNvSpPr>
          <p:nvPr>
            <p:ph type="body" idx="1"/>
          </p:nvPr>
        </p:nvSpPr>
        <p:spPr>
          <a:xfrm>
            <a:off x="917231" y="1190634"/>
            <a:ext cx="7687217" cy="5689600"/>
          </a:xfrm>
          <a:solidFill>
            <a:schemeClr val="tx1"/>
          </a:solidFill>
          <a:ln>
            <a:solidFill>
              <a:schemeClr val="tx1"/>
            </a:solidFill>
          </a:ln>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mn-lt"/>
                <a:ea typeface="+mn-ea"/>
                <a:cs typeface="+mn-cs"/>
              </a:rPr>
              <a:t>Algorithm MATRIX-CHAIN-ORDER(p)</a:t>
            </a: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mn-lt"/>
                <a:ea typeface="+mn-ea"/>
                <a:cs typeface="+mn-cs"/>
              </a:rPr>
              <a:t> n ← length[p] – 1  //n</a:t>
            </a:r>
            <a:r>
              <a:rPr kumimoji="0" lang="zh-CN" altLang="en-US" sz="2000" b="0" i="0" u="none" strike="noStrike" kern="0" cap="none" spc="0" normalizeH="0" baseline="0" noProof="0" dirty="0">
                <a:ln>
                  <a:noFill/>
                </a:ln>
                <a:solidFill>
                  <a:srgbClr val="003399"/>
                </a:solidFill>
                <a:effectLst/>
                <a:uLnTx/>
                <a:uFillTx/>
                <a:latin typeface="+mn-lt"/>
                <a:ea typeface="+mn-ea"/>
                <a:cs typeface="+mn-cs"/>
              </a:rPr>
              <a:t>个矩阵</a:t>
            </a:r>
            <a:endParaRPr kumimoji="0" lang="en-US" altLang="zh-CN" sz="2000" b="0" i="0" u="none" strike="noStrike" kern="0" cap="none" spc="0" normalizeH="0" baseline="0" noProof="0" dirty="0">
              <a:ln>
                <a:noFill/>
              </a:ln>
              <a:solidFill>
                <a:srgbClr val="003399"/>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mn-lt"/>
                <a:ea typeface="+mn-ea"/>
                <a:cs typeface="+mn-cs"/>
              </a:rPr>
              <a:t> </a:t>
            </a:r>
            <a:r>
              <a:rPr kumimoji="0" lang="en-US" altLang="zh-CN" sz="2000" b="1" i="0" u="none" strike="noStrike" kern="0" cap="none" spc="0" normalizeH="0" baseline="0" noProof="0" dirty="0">
                <a:ln>
                  <a:noFill/>
                </a:ln>
                <a:solidFill>
                  <a:srgbClr val="003399"/>
                </a:solidFill>
                <a:effectLst/>
                <a:uLnTx/>
                <a:uFillTx/>
                <a:latin typeface="+mn-lt"/>
                <a:ea typeface="+mn-ea"/>
                <a:cs typeface="+mn-cs"/>
              </a:rPr>
              <a:t>for </a:t>
            </a:r>
            <a:r>
              <a:rPr kumimoji="0" lang="en-US" altLang="zh-CN" sz="2000" b="0" i="0" u="none" strike="noStrike" kern="0" cap="none" spc="0" normalizeH="0" baseline="0" noProof="0" dirty="0" err="1">
                <a:ln>
                  <a:noFill/>
                </a:ln>
                <a:solidFill>
                  <a:srgbClr val="003399"/>
                </a:solidFill>
                <a:effectLst/>
                <a:uLnTx/>
                <a:uFillTx/>
                <a:latin typeface="+mn-lt"/>
                <a:ea typeface="+mn-ea"/>
                <a:cs typeface="+mn-cs"/>
              </a:rPr>
              <a:t>i</a:t>
            </a:r>
            <a:r>
              <a:rPr kumimoji="0" lang="en-US" altLang="zh-CN" sz="2000" b="0" i="0" u="none" strike="noStrike" kern="0" cap="none" spc="0" normalizeH="0" baseline="0" noProof="0" dirty="0">
                <a:ln>
                  <a:noFill/>
                </a:ln>
                <a:solidFill>
                  <a:srgbClr val="003399"/>
                </a:solidFill>
                <a:effectLst/>
                <a:uLnTx/>
                <a:uFillTx/>
                <a:latin typeface="+mn-lt"/>
                <a:ea typeface="+mn-ea"/>
                <a:cs typeface="+mn-cs"/>
              </a:rPr>
              <a:t> ← 1 </a:t>
            </a:r>
            <a:r>
              <a:rPr kumimoji="0" lang="en-US" altLang="zh-CN" sz="2000" b="1" i="0" u="none" strike="noStrike" kern="0" cap="none" spc="0" normalizeH="0" baseline="0" noProof="0" dirty="0">
                <a:ln>
                  <a:noFill/>
                </a:ln>
                <a:solidFill>
                  <a:srgbClr val="003399"/>
                </a:solidFill>
                <a:effectLst/>
                <a:uLnTx/>
                <a:uFillTx/>
                <a:latin typeface="+mn-lt"/>
                <a:ea typeface="+mn-ea"/>
                <a:cs typeface="+mn-cs"/>
              </a:rPr>
              <a:t>to </a:t>
            </a:r>
            <a:r>
              <a:rPr kumimoji="0" lang="en-US" altLang="zh-CN" sz="2000" b="0" i="0" u="none" strike="noStrike" kern="0" cap="none" spc="0" normalizeH="0" baseline="0" noProof="0" dirty="0">
                <a:ln>
                  <a:noFill/>
                </a:ln>
                <a:solidFill>
                  <a:srgbClr val="003399"/>
                </a:solidFill>
                <a:effectLst/>
                <a:uLnTx/>
                <a:uFillTx/>
                <a:latin typeface="+mn-lt"/>
                <a:ea typeface="+mn-ea"/>
                <a:cs typeface="+mn-cs"/>
              </a:rPr>
              <a:t>n</a:t>
            </a: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mn-lt"/>
                <a:ea typeface="+mn-ea"/>
                <a:cs typeface="+mn-cs"/>
              </a:rPr>
              <a:t>	m[</a:t>
            </a:r>
            <a:r>
              <a:rPr kumimoji="0" lang="en-US" altLang="zh-CN" sz="2000" b="0" i="0" u="none" strike="noStrike" kern="0" cap="none" spc="0" normalizeH="0" baseline="0" noProof="0" dirty="0" err="1">
                <a:ln>
                  <a:noFill/>
                </a:ln>
                <a:solidFill>
                  <a:srgbClr val="003399"/>
                </a:solidFill>
                <a:effectLst/>
                <a:uLnTx/>
                <a:uFillTx/>
                <a:latin typeface="+mn-lt"/>
                <a:ea typeface="+mn-ea"/>
                <a:cs typeface="+mn-cs"/>
              </a:rPr>
              <a:t>i</a:t>
            </a:r>
            <a:r>
              <a:rPr kumimoji="0" lang="en-US" altLang="zh-CN" sz="2000" b="0" i="0" u="none" strike="noStrike" kern="0" cap="none" spc="0" normalizeH="0" baseline="0" noProof="0" dirty="0">
                <a:ln>
                  <a:noFill/>
                </a:ln>
                <a:solidFill>
                  <a:srgbClr val="003399"/>
                </a:solidFill>
                <a:effectLst/>
                <a:uLnTx/>
                <a:uFillTx/>
                <a:latin typeface="+mn-lt"/>
                <a:ea typeface="+mn-ea"/>
                <a:cs typeface="+mn-cs"/>
              </a:rPr>
              <a:t>, </a:t>
            </a:r>
            <a:r>
              <a:rPr kumimoji="0" lang="en-US" altLang="zh-CN" sz="2000" b="0" i="0" u="none" strike="noStrike" kern="0" cap="none" spc="0" normalizeH="0" baseline="0" noProof="0" dirty="0" err="1">
                <a:ln>
                  <a:noFill/>
                </a:ln>
                <a:solidFill>
                  <a:srgbClr val="003399"/>
                </a:solidFill>
                <a:effectLst/>
                <a:uLnTx/>
                <a:uFillTx/>
                <a:latin typeface="+mn-lt"/>
                <a:ea typeface="+mn-ea"/>
                <a:cs typeface="+mn-cs"/>
              </a:rPr>
              <a:t>i</a:t>
            </a:r>
            <a:r>
              <a:rPr kumimoji="0" lang="en-US" altLang="zh-CN" sz="2000" b="0" i="0" u="none" strike="noStrike" kern="0" cap="none" spc="0" normalizeH="0" baseline="0" noProof="0" dirty="0">
                <a:ln>
                  <a:noFill/>
                </a:ln>
                <a:solidFill>
                  <a:srgbClr val="003399"/>
                </a:solidFill>
                <a:effectLst/>
                <a:uLnTx/>
                <a:uFillTx/>
                <a:latin typeface="+mn-lt"/>
                <a:ea typeface="+mn-ea"/>
                <a:cs typeface="+mn-cs"/>
              </a:rPr>
              <a:t>] ← 0</a:t>
            </a: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mn-lt"/>
                <a:ea typeface="+mn-ea"/>
                <a:cs typeface="+mn-cs"/>
              </a:rPr>
              <a:t> end for</a:t>
            </a: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mn-lt"/>
                <a:ea typeface="+mn-ea"/>
                <a:cs typeface="+mn-cs"/>
              </a:rPr>
              <a:t> </a:t>
            </a:r>
            <a:r>
              <a:rPr kumimoji="0" lang="en-US" altLang="zh-CN" sz="2000" b="1" i="0" u="none" strike="noStrike" kern="0" cap="none" spc="0" normalizeH="0" baseline="0" noProof="0" dirty="0">
                <a:ln>
                  <a:noFill/>
                </a:ln>
                <a:solidFill>
                  <a:srgbClr val="003399"/>
                </a:solidFill>
                <a:effectLst/>
                <a:uLnTx/>
                <a:uFillTx/>
                <a:latin typeface="+mn-lt"/>
                <a:ea typeface="+mn-ea"/>
                <a:cs typeface="+mn-cs"/>
              </a:rPr>
              <a:t>for </a:t>
            </a:r>
            <a:r>
              <a:rPr kumimoji="0" lang="en-US" altLang="zh-CN" sz="2000" b="0" i="1" u="none" strike="noStrike" kern="0" cap="none" spc="0" normalizeH="0" baseline="0" noProof="0" dirty="0">
                <a:ln>
                  <a:noFill/>
                </a:ln>
                <a:solidFill>
                  <a:srgbClr val="003399"/>
                </a:solidFill>
                <a:effectLst/>
                <a:uLnTx/>
                <a:uFillTx/>
                <a:latin typeface="+mn-lt"/>
                <a:ea typeface="+mn-ea"/>
                <a:cs typeface="+mn-cs"/>
              </a:rPr>
              <a:t>l </a:t>
            </a:r>
            <a:r>
              <a:rPr kumimoji="0" lang="en-US" altLang="zh-CN" sz="2000" b="0" i="0" u="none" strike="noStrike" kern="0" cap="none" spc="0" normalizeH="0" baseline="0" noProof="0" dirty="0">
                <a:ln>
                  <a:noFill/>
                </a:ln>
                <a:solidFill>
                  <a:srgbClr val="003399"/>
                </a:solidFill>
                <a:effectLst/>
                <a:uLnTx/>
                <a:uFillTx/>
                <a:latin typeface="+mn-lt"/>
                <a:ea typeface="+mn-ea"/>
                <a:cs typeface="+mn-cs"/>
              </a:rPr>
              <a:t>← 2 </a:t>
            </a:r>
            <a:r>
              <a:rPr kumimoji="0" lang="en-US" altLang="zh-CN" sz="2000" b="1" i="0" u="none" strike="noStrike" kern="0" cap="none" spc="0" normalizeH="0" baseline="0" noProof="0" dirty="0">
                <a:ln>
                  <a:noFill/>
                </a:ln>
                <a:solidFill>
                  <a:srgbClr val="003399"/>
                </a:solidFill>
                <a:effectLst/>
                <a:uLnTx/>
                <a:uFillTx/>
                <a:latin typeface="+mn-lt"/>
                <a:ea typeface="+mn-ea"/>
                <a:cs typeface="+mn-cs"/>
              </a:rPr>
              <a:t>to </a:t>
            </a:r>
            <a:r>
              <a:rPr kumimoji="0" lang="en-US" altLang="zh-CN" sz="2000" b="0" i="0" u="none" strike="noStrike" kern="0" cap="none" spc="0" normalizeH="0" baseline="0" noProof="0" dirty="0">
                <a:ln>
                  <a:noFill/>
                </a:ln>
                <a:solidFill>
                  <a:srgbClr val="003399"/>
                </a:solidFill>
                <a:effectLst/>
                <a:uLnTx/>
                <a:uFillTx/>
                <a:latin typeface="+mn-lt"/>
                <a:ea typeface="+mn-ea"/>
                <a:cs typeface="+mn-cs"/>
              </a:rPr>
              <a:t>n       ▹</a:t>
            </a:r>
            <a:r>
              <a:rPr kumimoji="0" lang="en-US" altLang="zh-CN" sz="2000" b="0" i="1" u="none" strike="noStrike" kern="0" cap="none" spc="0" normalizeH="0" baseline="0" noProof="0" dirty="0">
                <a:ln>
                  <a:noFill/>
                </a:ln>
                <a:solidFill>
                  <a:srgbClr val="003399"/>
                </a:solidFill>
                <a:effectLst/>
                <a:uLnTx/>
                <a:uFillTx/>
                <a:latin typeface="+mn-lt"/>
                <a:ea typeface="+mn-ea"/>
                <a:cs typeface="+mn-cs"/>
              </a:rPr>
              <a:t>l </a:t>
            </a:r>
            <a:r>
              <a:rPr kumimoji="0" lang="en-US" altLang="zh-CN" sz="2000" b="0" i="0" u="none" strike="noStrike" kern="0" cap="none" spc="0" normalizeH="0" baseline="0" noProof="0" dirty="0">
                <a:ln>
                  <a:noFill/>
                </a:ln>
                <a:solidFill>
                  <a:srgbClr val="003399"/>
                </a:solidFill>
                <a:effectLst/>
                <a:uLnTx/>
                <a:uFillTx/>
                <a:latin typeface="+mn-lt"/>
                <a:ea typeface="+mn-ea"/>
                <a:cs typeface="+mn-cs"/>
              </a:rPr>
              <a:t>is the chain length.</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003399"/>
                </a:solidFill>
                <a:effectLst/>
                <a:uLnTx/>
                <a:uFillTx/>
                <a:latin typeface="Arial" panose="020B0604020202020204" pitchFamily="34" charset="0"/>
                <a:ea typeface="华文行楷" panose="02010800040101010101" pitchFamily="2" charset="-122"/>
              </a:rPr>
              <a:t>for </a:t>
            </a:r>
            <a:r>
              <a:rPr kumimoji="0" lang="en-US" altLang="zh-CN" sz="2000" b="0" i="0" u="none" strike="noStrike" kern="0" cap="none" spc="0" normalizeH="0" baseline="0" noProof="0" dirty="0" err="1">
                <a:ln>
                  <a:noFill/>
                </a:ln>
                <a:solidFill>
                  <a:srgbClr val="003399"/>
                </a:solidFill>
                <a:effectLst/>
                <a:uLnTx/>
                <a:uFillTx/>
                <a:latin typeface="Arial" panose="020B0604020202020204" pitchFamily="34" charset="0"/>
                <a:ea typeface="华文行楷" panose="02010800040101010101" pitchFamily="2" charset="-122"/>
              </a:rPr>
              <a:t>i</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华文行楷" panose="02010800040101010101" pitchFamily="2" charset="-122"/>
              </a:rPr>
              <a:t> ← 1 </a:t>
            </a:r>
            <a:r>
              <a:rPr kumimoji="0" lang="en-US" altLang="zh-CN" sz="2000" b="1" i="0" u="none" strike="noStrike" kern="0" cap="none" spc="0" normalizeH="0" baseline="0" noProof="0" dirty="0">
                <a:ln>
                  <a:noFill/>
                </a:ln>
                <a:solidFill>
                  <a:srgbClr val="003399"/>
                </a:solidFill>
                <a:effectLst/>
                <a:uLnTx/>
                <a:uFillTx/>
                <a:latin typeface="Arial" panose="020B0604020202020204" pitchFamily="34" charset="0"/>
                <a:ea typeface="华文行楷" panose="02010800040101010101" pitchFamily="2" charset="-122"/>
              </a:rPr>
              <a:t>to </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华文行楷" panose="02010800040101010101" pitchFamily="2" charset="-122"/>
              </a:rPr>
              <a:t>n – (</a:t>
            </a:r>
            <a:r>
              <a:rPr kumimoji="0" lang="en-US" altLang="zh-CN" sz="2000" b="0" i="1" u="none" strike="noStrike" kern="0" cap="none" spc="0" normalizeH="0" baseline="0" noProof="0" dirty="0">
                <a:ln>
                  <a:noFill/>
                </a:ln>
                <a:solidFill>
                  <a:srgbClr val="003399"/>
                </a:solidFill>
                <a:effectLst/>
                <a:uLnTx/>
                <a:uFillTx/>
                <a:latin typeface="+mn-lt"/>
                <a:ea typeface="华文行楷" panose="02010800040101010101" pitchFamily="2" charset="-122"/>
              </a:rPr>
              <a:t>l</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华文行楷" panose="02010800040101010101" pitchFamily="2" charset="-122"/>
              </a:rPr>
              <a:t> – 1)</a:t>
            </a:r>
          </a:p>
          <a:p>
            <a:pPr marL="1143000" marR="0" lvl="2"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j ← </a:t>
            </a:r>
            <a:r>
              <a:rPr kumimoji="0" lang="en-US" altLang="zh-CN" sz="2000" b="0" i="0" u="none" strike="noStrike" kern="0" cap="none" spc="0" normalizeH="0" baseline="0" noProof="0" dirty="0" err="1">
                <a:ln>
                  <a:noFill/>
                </a:ln>
                <a:solidFill>
                  <a:srgbClr val="003399"/>
                </a:solidFill>
                <a:effectLst/>
                <a:uLnTx/>
                <a:uFillTx/>
                <a:latin typeface="Arial" panose="020B0604020202020204" pitchFamily="34" charset="0"/>
                <a:ea typeface="+mj-ea"/>
              </a:rPr>
              <a:t>i</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 + (</a:t>
            </a:r>
            <a:r>
              <a:rPr kumimoji="0" lang="en-US" altLang="zh-CN" sz="2000" b="0" i="1" u="none" strike="noStrike" kern="0" cap="none" spc="0" normalizeH="0" baseline="0" noProof="0" dirty="0">
                <a:ln>
                  <a:noFill/>
                </a:ln>
                <a:solidFill>
                  <a:srgbClr val="003399"/>
                </a:solidFill>
                <a:effectLst/>
                <a:uLnTx/>
                <a:uFillTx/>
                <a:latin typeface="+mn-lt"/>
                <a:ea typeface="+mj-ea"/>
              </a:rPr>
              <a:t>l</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 – 1)</a:t>
            </a:r>
          </a:p>
          <a:p>
            <a:pPr marL="1143000" marR="0" lvl="2"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m[</a:t>
            </a:r>
            <a:r>
              <a:rPr kumimoji="0" lang="en-US" altLang="zh-CN" sz="2000" b="0" i="0" u="none" strike="noStrike" kern="0" cap="none" spc="0" normalizeH="0" baseline="0" noProof="0" dirty="0" err="1">
                <a:ln>
                  <a:noFill/>
                </a:ln>
                <a:solidFill>
                  <a:srgbClr val="003399"/>
                </a:solidFill>
                <a:effectLst/>
                <a:uLnTx/>
                <a:uFillTx/>
                <a:latin typeface="Arial" panose="020B0604020202020204" pitchFamily="34" charset="0"/>
                <a:ea typeface="+mj-ea"/>
              </a:rPr>
              <a:t>i</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 j] ← ∞</a:t>
            </a:r>
          </a:p>
          <a:p>
            <a:pPr marL="1143000" marR="0" lvl="2" indent="-228600" algn="l" defTabSz="914400" rtl="0" eaLnBrk="1" fontAlgn="base" latinLnBrk="0" hangingPunct="1">
              <a:lnSpc>
                <a:spcPct val="8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003399"/>
                </a:solidFill>
                <a:effectLst/>
                <a:uLnTx/>
                <a:uFillTx/>
                <a:latin typeface="Arial" panose="020B0604020202020204" pitchFamily="34" charset="0"/>
                <a:ea typeface="+mj-ea"/>
              </a:rPr>
              <a:t>for </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k ← </a:t>
            </a:r>
            <a:r>
              <a:rPr kumimoji="0" lang="en-US" altLang="zh-CN" sz="2000" b="0" i="0" u="none" strike="noStrike" kern="0" cap="none" spc="0" normalizeH="0" baseline="0" noProof="0" dirty="0" err="1">
                <a:ln>
                  <a:noFill/>
                </a:ln>
                <a:solidFill>
                  <a:srgbClr val="003399"/>
                </a:solidFill>
                <a:effectLst/>
                <a:uLnTx/>
                <a:uFillTx/>
                <a:latin typeface="Arial" panose="020B0604020202020204" pitchFamily="34" charset="0"/>
                <a:ea typeface="+mj-ea"/>
              </a:rPr>
              <a:t>i</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 </a:t>
            </a:r>
            <a:r>
              <a:rPr kumimoji="0" lang="en-US" altLang="zh-CN" sz="2000" b="1" i="0" u="none" strike="noStrike" kern="0" cap="none" spc="0" normalizeH="0" baseline="0" noProof="0" dirty="0">
                <a:ln>
                  <a:noFill/>
                </a:ln>
                <a:solidFill>
                  <a:srgbClr val="003399"/>
                </a:solidFill>
                <a:effectLst/>
                <a:uLnTx/>
                <a:uFillTx/>
                <a:latin typeface="Arial" panose="020B0604020202020204" pitchFamily="34" charset="0"/>
                <a:ea typeface="+mj-ea"/>
              </a:rPr>
              <a:t>to </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j - 1</a:t>
            </a: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q ← m[</a:t>
            </a:r>
            <a:r>
              <a:rPr kumimoji="0" lang="en-US" altLang="zh-CN" sz="2000" b="0" i="0" u="none" strike="noStrike" kern="0" cap="none" spc="0" normalizeH="0" baseline="0" noProof="0" dirty="0" err="1">
                <a:ln>
                  <a:noFill/>
                </a:ln>
                <a:solidFill>
                  <a:srgbClr val="003399"/>
                </a:solidFill>
                <a:effectLst/>
                <a:uLnTx/>
                <a:uFillTx/>
                <a:latin typeface="Arial" panose="020B0604020202020204" pitchFamily="34" charset="0"/>
                <a:ea typeface="+mj-ea"/>
              </a:rPr>
              <a:t>i</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 k] + m[k + 1, j] + p[i-1] p[k]p[j] //</a:t>
            </a:r>
            <a:r>
              <a:rPr kumimoji="0" lang="zh-CN" altLang="en-US" sz="2000" b="0" i="0" u="none" strike="noStrike" kern="0" cap="none" spc="0" normalizeH="0" baseline="0" noProof="0" dirty="0">
                <a:ln>
                  <a:noFill/>
                </a:ln>
                <a:solidFill>
                  <a:srgbClr val="003399"/>
                </a:solidFill>
                <a:effectLst/>
                <a:uLnTx/>
                <a:uFillTx/>
                <a:latin typeface="Arial" panose="020B0604020202020204" pitchFamily="34" charset="0"/>
                <a:ea typeface="+mj-ea"/>
              </a:rPr>
              <a:t>矩阵乘法次数</a:t>
            </a:r>
            <a:endPar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endParaRP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003399"/>
                </a:solidFill>
                <a:effectLst/>
                <a:uLnTx/>
                <a:uFillTx/>
                <a:latin typeface="Arial" panose="020B0604020202020204" pitchFamily="34" charset="0"/>
                <a:ea typeface="+mj-ea"/>
              </a:rPr>
              <a:t>if </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q &lt; m[</a:t>
            </a:r>
            <a:r>
              <a:rPr kumimoji="0" lang="en-US" altLang="zh-CN" sz="2000" b="0" i="0" u="none" strike="noStrike" kern="0" cap="none" spc="0" normalizeH="0" baseline="0" noProof="0" dirty="0" err="1">
                <a:ln>
                  <a:noFill/>
                </a:ln>
                <a:solidFill>
                  <a:srgbClr val="003399"/>
                </a:solidFill>
                <a:effectLst/>
                <a:uLnTx/>
                <a:uFillTx/>
                <a:latin typeface="Arial" panose="020B0604020202020204" pitchFamily="34" charset="0"/>
                <a:ea typeface="+mj-ea"/>
              </a:rPr>
              <a:t>i</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 j]  //</a:t>
            </a:r>
            <a:r>
              <a:rPr kumimoji="0" lang="zh-CN" altLang="en-US" sz="2000" b="0" i="0" u="none" strike="noStrike" kern="0" cap="none" spc="0" normalizeH="0" baseline="0" noProof="0" dirty="0">
                <a:ln>
                  <a:noFill/>
                </a:ln>
                <a:solidFill>
                  <a:srgbClr val="003399"/>
                </a:solidFill>
                <a:effectLst/>
                <a:uLnTx/>
                <a:uFillTx/>
                <a:latin typeface="Arial" panose="020B0604020202020204" pitchFamily="34" charset="0"/>
                <a:ea typeface="+mj-ea"/>
              </a:rPr>
              <a:t>最小数乘次数</a:t>
            </a:r>
            <a:endPar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endParaRP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003399"/>
                </a:solidFill>
                <a:effectLst/>
                <a:uLnTx/>
                <a:uFillTx/>
                <a:latin typeface="Arial" panose="020B0604020202020204" pitchFamily="34" charset="0"/>
                <a:ea typeface="+mj-ea"/>
              </a:rPr>
              <a:t>then </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m[</a:t>
            </a:r>
            <a:r>
              <a:rPr kumimoji="0" lang="en-US" altLang="zh-CN" sz="2000" b="0" i="0" u="none" strike="noStrike" kern="0" cap="none" spc="0" normalizeH="0" baseline="0" noProof="0" dirty="0" err="1">
                <a:ln>
                  <a:noFill/>
                </a:ln>
                <a:solidFill>
                  <a:srgbClr val="003399"/>
                </a:solidFill>
                <a:effectLst/>
                <a:uLnTx/>
                <a:uFillTx/>
                <a:latin typeface="Arial" panose="020B0604020202020204" pitchFamily="34" charset="0"/>
                <a:ea typeface="+mj-ea"/>
              </a:rPr>
              <a:t>i</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 j] ← q, s[</a:t>
            </a:r>
            <a:r>
              <a:rPr kumimoji="0" lang="en-US" altLang="zh-CN" sz="2000" b="0" i="0" u="none" strike="noStrike" kern="0" cap="none" spc="0" normalizeH="0" baseline="0" noProof="0" dirty="0" err="1">
                <a:ln>
                  <a:noFill/>
                </a:ln>
                <a:solidFill>
                  <a:srgbClr val="003399"/>
                </a:solidFill>
                <a:effectLst/>
                <a:uLnTx/>
                <a:uFillTx/>
                <a:latin typeface="Arial" panose="020B0604020202020204" pitchFamily="34" charset="0"/>
                <a:ea typeface="+mj-ea"/>
              </a:rPr>
              <a:t>i</a:t>
            </a: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 j] ← k</a:t>
            </a:r>
          </a:p>
          <a:p>
            <a:pPr marL="1600200" marR="0" lvl="3"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end if</a:t>
            </a:r>
          </a:p>
          <a:p>
            <a:pPr marL="1143000" marR="0" lvl="2" indent="-2286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mj-ea"/>
              </a:rPr>
              <a:t>end for</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Arial" panose="020B0604020202020204" pitchFamily="34" charset="0"/>
                <a:ea typeface="华文行楷" panose="02010800040101010101" pitchFamily="2" charset="-122"/>
              </a:rPr>
              <a:t>end for</a:t>
            </a: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3399"/>
                </a:solidFill>
                <a:effectLst/>
                <a:uLnTx/>
                <a:uFillTx/>
                <a:latin typeface="+mn-lt"/>
                <a:ea typeface="+mn-ea"/>
                <a:cs typeface="+mn-cs"/>
              </a:rPr>
              <a:t> end for</a:t>
            </a:r>
          </a:p>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003399"/>
                </a:solidFill>
                <a:effectLst/>
                <a:uLnTx/>
                <a:uFillTx/>
                <a:latin typeface="+mn-lt"/>
                <a:ea typeface="+mn-ea"/>
                <a:cs typeface="+mn-cs"/>
              </a:rPr>
              <a:t>return </a:t>
            </a:r>
            <a:r>
              <a:rPr kumimoji="0" lang="en-US" altLang="zh-CN" sz="2000" b="0" i="0" u="none" strike="noStrike" kern="0" cap="none" spc="0" normalizeH="0" baseline="0" noProof="0" dirty="0">
                <a:ln>
                  <a:noFill/>
                </a:ln>
                <a:solidFill>
                  <a:srgbClr val="003399"/>
                </a:solidFill>
                <a:effectLst/>
                <a:uLnTx/>
                <a:uFillTx/>
                <a:latin typeface="+mn-lt"/>
                <a:ea typeface="+mn-ea"/>
                <a:cs typeface="+mn-cs"/>
              </a:rPr>
              <a:t>m and s</a:t>
            </a: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rgbClr val="003399"/>
              </a:solidFill>
              <a:effectLst/>
              <a:uLnTx/>
              <a:uFillTx/>
              <a:latin typeface="+mn-lt"/>
              <a:ea typeface="+mn-ea"/>
              <a:cs typeface="+mn-cs"/>
            </a:endParaRPr>
          </a:p>
        </p:txBody>
      </p:sp>
      <p:sp>
        <p:nvSpPr>
          <p:cNvPr id="3" name="Rectangle 2">
            <a:extLst>
              <a:ext uri="{FF2B5EF4-FFF2-40B4-BE49-F238E27FC236}">
                <a16:creationId xmlns:a16="http://schemas.microsoft.com/office/drawing/2014/main" id="{167E3B71-3D47-463A-3F64-6752324BF657}"/>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kumimoji="0" lang="zh-CN" altLang="en-US" sz="3200" i="0" u="none" strike="noStrike" kern="0" cap="none" spc="0" normalizeH="0" baseline="0" noProof="0" dirty="0">
                <a:ln>
                  <a:noFill/>
                </a:ln>
                <a:solidFill>
                  <a:schemeClr val="accent2"/>
                </a:solidFill>
                <a:effectLst/>
                <a:uLnTx/>
                <a:uFillTx/>
                <a:latin typeface="+mj-lt"/>
                <a:ea typeface="+mj-ea"/>
                <a:cs typeface="+mj-cs"/>
              </a:rPr>
              <a:t>伪代码</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50179"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50180"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20</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50182" name="Rectangle 4"/>
          <p:cNvSpPr/>
          <p:nvPr/>
        </p:nvSpPr>
        <p:spPr>
          <a:xfrm>
            <a:off x="1187450" y="1341438"/>
            <a:ext cx="7488238" cy="701675"/>
          </a:xfrm>
          <a:prstGeom prst="rect">
            <a:avLst/>
          </a:prstGeom>
          <a:noFill/>
          <a:ln w="25400">
            <a:noFill/>
          </a:ln>
        </p:spPr>
        <p:txBody>
          <a:bodyPr>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i="1" dirty="0">
                <a:latin typeface="Arial" panose="020B0604020202020204" pitchFamily="34" charset="0"/>
                <a:ea typeface="宋体" panose="02010600030101010101" pitchFamily="2" charset="-122"/>
              </a:rPr>
              <a:t>The length of chain is 5, and the dimmensions  is:</a:t>
            </a:r>
          </a:p>
          <a:p>
            <a:pPr marL="0" lvl="0" indent="0" eaLnBrk="1" hangingPunct="1">
              <a:spcBef>
                <a:spcPct val="0"/>
              </a:spcBef>
              <a:buNone/>
            </a:pPr>
            <a:r>
              <a:rPr lang="en-US" altLang="zh-CN" sz="2000" i="1" dirty="0">
                <a:latin typeface="Arial" panose="020B0604020202020204" pitchFamily="34" charset="0"/>
                <a:ea typeface="宋体" panose="02010600030101010101" pitchFamily="2" charset="-122"/>
              </a:rPr>
              <a:t>A</a:t>
            </a:r>
            <a:r>
              <a:rPr lang="en-US" altLang="zh-CN" sz="2000" baseline="-25000" dirty="0">
                <a:latin typeface="Arial" panose="020B0604020202020204" pitchFamily="34" charset="0"/>
                <a:ea typeface="宋体" panose="02010600030101010101" pitchFamily="2" charset="-122"/>
              </a:rPr>
              <a:t>1</a:t>
            </a:r>
            <a:r>
              <a:rPr lang="en-US" altLang="zh-CN" sz="2000" dirty="0">
                <a:latin typeface="Arial" panose="020B0604020202020204" pitchFamily="34" charset="0"/>
                <a:ea typeface="宋体" panose="02010600030101010101" pitchFamily="2" charset="-122"/>
              </a:rPr>
              <a:t> 5 × 10,   </a:t>
            </a:r>
            <a:r>
              <a:rPr lang="en-US" altLang="zh-CN" sz="2000" i="1" dirty="0">
                <a:latin typeface="Arial" panose="020B0604020202020204" pitchFamily="34" charset="0"/>
                <a:ea typeface="宋体" panose="02010600030101010101" pitchFamily="2" charset="-122"/>
              </a:rPr>
              <a:t>A</a:t>
            </a:r>
            <a:r>
              <a:rPr lang="en-US" altLang="zh-CN" sz="2000" baseline="-25000" dirty="0">
                <a:latin typeface="Arial" panose="020B0604020202020204" pitchFamily="34" charset="0"/>
                <a:ea typeface="宋体" panose="02010600030101010101" pitchFamily="2" charset="-122"/>
              </a:rPr>
              <a:t>2</a:t>
            </a:r>
            <a:r>
              <a:rPr lang="en-US" altLang="zh-CN" sz="2000" dirty="0">
                <a:latin typeface="Arial" panose="020B0604020202020204" pitchFamily="34" charset="0"/>
                <a:ea typeface="宋体" panose="02010600030101010101" pitchFamily="2" charset="-122"/>
              </a:rPr>
              <a:t> 10 × 4, </a:t>
            </a:r>
            <a:r>
              <a:rPr lang="en-US" altLang="zh-CN" sz="2000" i="1" dirty="0">
                <a:latin typeface="Arial" panose="020B0604020202020204" pitchFamily="34" charset="0"/>
                <a:ea typeface="宋体" panose="02010600030101010101" pitchFamily="2" charset="-122"/>
              </a:rPr>
              <a:t>A</a:t>
            </a:r>
            <a:r>
              <a:rPr lang="en-US" altLang="zh-CN" sz="2000" baseline="-25000" dirty="0">
                <a:latin typeface="Arial" panose="020B0604020202020204" pitchFamily="34" charset="0"/>
                <a:ea typeface="宋体" panose="02010600030101010101" pitchFamily="2" charset="-122"/>
              </a:rPr>
              <a:t>3</a:t>
            </a:r>
            <a:r>
              <a:rPr lang="en-US" altLang="zh-CN" sz="2000" dirty="0">
                <a:latin typeface="Arial" panose="020B0604020202020204" pitchFamily="34" charset="0"/>
                <a:ea typeface="宋体" panose="02010600030101010101" pitchFamily="2" charset="-122"/>
              </a:rPr>
              <a:t> 4 × 6, </a:t>
            </a:r>
            <a:r>
              <a:rPr lang="en-US" altLang="zh-CN" sz="2000" i="1" dirty="0">
                <a:latin typeface="Arial" panose="020B0604020202020204" pitchFamily="34" charset="0"/>
                <a:ea typeface="宋体" panose="02010600030101010101" pitchFamily="2" charset="-122"/>
              </a:rPr>
              <a:t>A</a:t>
            </a:r>
            <a:r>
              <a:rPr lang="en-US" altLang="zh-CN" sz="2000" baseline="-25000" dirty="0">
                <a:latin typeface="Arial" panose="020B0604020202020204" pitchFamily="34" charset="0"/>
                <a:ea typeface="宋体" panose="02010600030101010101" pitchFamily="2" charset="-122"/>
              </a:rPr>
              <a:t>4</a:t>
            </a:r>
            <a:r>
              <a:rPr lang="en-US" altLang="zh-CN" sz="2000" dirty="0">
                <a:latin typeface="Arial" panose="020B0604020202020204" pitchFamily="34" charset="0"/>
                <a:ea typeface="宋体" panose="02010600030101010101" pitchFamily="2" charset="-122"/>
              </a:rPr>
              <a:t> 6 × 10, </a:t>
            </a:r>
            <a:r>
              <a:rPr lang="en-US" altLang="zh-CN" sz="2000" i="1" dirty="0">
                <a:latin typeface="Arial" panose="020B0604020202020204" pitchFamily="34" charset="0"/>
                <a:ea typeface="宋体" panose="02010600030101010101" pitchFamily="2" charset="-122"/>
              </a:rPr>
              <a:t>A</a:t>
            </a:r>
            <a:r>
              <a:rPr lang="en-US" altLang="zh-CN" sz="2000" baseline="-25000" dirty="0">
                <a:latin typeface="Arial" panose="020B0604020202020204" pitchFamily="34" charset="0"/>
                <a:ea typeface="宋体" panose="02010600030101010101" pitchFamily="2" charset="-122"/>
              </a:rPr>
              <a:t>5</a:t>
            </a:r>
            <a:r>
              <a:rPr lang="en-US" altLang="zh-CN" sz="2000" dirty="0">
                <a:latin typeface="Arial" panose="020B0604020202020204" pitchFamily="34" charset="0"/>
                <a:ea typeface="宋体" panose="02010600030101010101" pitchFamily="2" charset="-122"/>
              </a:rPr>
              <a:t> 10 × 2</a:t>
            </a:r>
          </a:p>
        </p:txBody>
      </p:sp>
      <p:graphicFrame>
        <p:nvGraphicFramePr>
          <p:cNvPr id="39994" name="Group 58"/>
          <p:cNvGraphicFramePr>
            <a:graphicFrameLocks noGrp="1"/>
          </p:cNvGraphicFramePr>
          <p:nvPr>
            <p:ph idx="1"/>
          </p:nvPr>
        </p:nvGraphicFramePr>
        <p:xfrm>
          <a:off x="827088" y="2349500"/>
          <a:ext cx="7786687" cy="2447926"/>
        </p:xfrm>
        <a:graphic>
          <a:graphicData uri="http://schemas.openxmlformats.org/drawingml/2006/table">
            <a:tbl>
              <a:tblPr/>
              <a:tblGrid>
                <a:gridCol w="1557337">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gridCol w="1557337">
                  <a:extLst>
                    <a:ext uri="{9D8B030D-6E8A-4147-A177-3AD203B41FA5}">
                      <a16:colId xmlns:a16="http://schemas.microsoft.com/office/drawing/2014/main" val="20002"/>
                    </a:ext>
                  </a:extLst>
                </a:gridCol>
                <a:gridCol w="1557338">
                  <a:extLst>
                    <a:ext uri="{9D8B030D-6E8A-4147-A177-3AD203B41FA5}">
                      <a16:colId xmlns:a16="http://schemas.microsoft.com/office/drawing/2014/main" val="20003"/>
                    </a:ext>
                  </a:extLst>
                </a:gridCol>
                <a:gridCol w="1557337">
                  <a:extLst>
                    <a:ext uri="{9D8B030D-6E8A-4147-A177-3AD203B41FA5}">
                      <a16:colId xmlns:a16="http://schemas.microsoft.com/office/drawing/2014/main" val="20004"/>
                    </a:ext>
                  </a:extLst>
                </a:gridCol>
              </a:tblGrid>
              <a:tr h="4937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921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921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93713">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accent2"/>
                        </a:solidFill>
                        <a:effectLst/>
                        <a:latin typeface="Times New Roman" panose="02020603050405020304" pitchFamily="18" charset="0"/>
                        <a:ea typeface="华文楷体"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9989" name="Text Box 53"/>
          <p:cNvSpPr txBox="1"/>
          <p:nvPr/>
        </p:nvSpPr>
        <p:spPr>
          <a:xfrm>
            <a:off x="971550" y="2349500"/>
            <a:ext cx="13287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m[1,1]=0</a:t>
            </a:r>
          </a:p>
        </p:txBody>
      </p:sp>
      <p:sp>
        <p:nvSpPr>
          <p:cNvPr id="39990" name="Text Box 54"/>
          <p:cNvSpPr txBox="1"/>
          <p:nvPr/>
        </p:nvSpPr>
        <p:spPr>
          <a:xfrm>
            <a:off x="2555875" y="2852738"/>
            <a:ext cx="13287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m[2,2]=0</a:t>
            </a:r>
          </a:p>
        </p:txBody>
      </p:sp>
      <p:sp>
        <p:nvSpPr>
          <p:cNvPr id="39991" name="Text Box 55"/>
          <p:cNvSpPr txBox="1"/>
          <p:nvPr/>
        </p:nvSpPr>
        <p:spPr>
          <a:xfrm>
            <a:off x="4068763" y="3357563"/>
            <a:ext cx="1328737"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m[3,3]=0</a:t>
            </a:r>
          </a:p>
        </p:txBody>
      </p:sp>
      <p:sp>
        <p:nvSpPr>
          <p:cNvPr id="39992" name="Text Box 56"/>
          <p:cNvSpPr txBox="1"/>
          <p:nvPr/>
        </p:nvSpPr>
        <p:spPr>
          <a:xfrm>
            <a:off x="5653088" y="3860800"/>
            <a:ext cx="1328737"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m[4,4]=0</a:t>
            </a:r>
          </a:p>
        </p:txBody>
      </p:sp>
      <p:sp>
        <p:nvSpPr>
          <p:cNvPr id="39993" name="Text Box 57"/>
          <p:cNvSpPr txBox="1"/>
          <p:nvPr/>
        </p:nvSpPr>
        <p:spPr>
          <a:xfrm>
            <a:off x="7164388" y="4365625"/>
            <a:ext cx="1328737"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m[5,5]=0</a:t>
            </a:r>
          </a:p>
        </p:txBody>
      </p:sp>
      <p:sp>
        <p:nvSpPr>
          <p:cNvPr id="39996" name="Text Box 60"/>
          <p:cNvSpPr txBox="1"/>
          <p:nvPr/>
        </p:nvSpPr>
        <p:spPr>
          <a:xfrm>
            <a:off x="2339975" y="2349500"/>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m[1,2]=200</a:t>
            </a:r>
          </a:p>
        </p:txBody>
      </p:sp>
      <p:sp>
        <p:nvSpPr>
          <p:cNvPr id="39997" name="Text Box 61"/>
          <p:cNvSpPr txBox="1"/>
          <p:nvPr/>
        </p:nvSpPr>
        <p:spPr>
          <a:xfrm>
            <a:off x="3924300" y="2852738"/>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m[2,3]=240</a:t>
            </a:r>
          </a:p>
        </p:txBody>
      </p:sp>
      <p:sp>
        <p:nvSpPr>
          <p:cNvPr id="39998" name="Text Box 62"/>
          <p:cNvSpPr txBox="1"/>
          <p:nvPr/>
        </p:nvSpPr>
        <p:spPr>
          <a:xfrm>
            <a:off x="5435600" y="3357563"/>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m[3,4]=240</a:t>
            </a:r>
          </a:p>
        </p:txBody>
      </p:sp>
      <p:sp>
        <p:nvSpPr>
          <p:cNvPr id="39999" name="Text Box 63"/>
          <p:cNvSpPr txBox="1"/>
          <p:nvPr/>
        </p:nvSpPr>
        <p:spPr>
          <a:xfrm>
            <a:off x="7004050" y="3835400"/>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m[4,5]=120</a:t>
            </a:r>
          </a:p>
        </p:txBody>
      </p:sp>
      <p:sp>
        <p:nvSpPr>
          <p:cNvPr id="40000" name="Text Box 64"/>
          <p:cNvSpPr txBox="1"/>
          <p:nvPr/>
        </p:nvSpPr>
        <p:spPr>
          <a:xfrm>
            <a:off x="3908425" y="2349500"/>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m[1,3]=320</a:t>
            </a:r>
          </a:p>
        </p:txBody>
      </p:sp>
      <p:sp>
        <p:nvSpPr>
          <p:cNvPr id="40001" name="Text Box 65"/>
          <p:cNvSpPr txBox="1"/>
          <p:nvPr/>
        </p:nvSpPr>
        <p:spPr>
          <a:xfrm>
            <a:off x="5435600" y="2852738"/>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m[2,4]=640</a:t>
            </a:r>
          </a:p>
        </p:txBody>
      </p:sp>
      <p:sp>
        <p:nvSpPr>
          <p:cNvPr id="40002" name="Text Box 66"/>
          <p:cNvSpPr txBox="1"/>
          <p:nvPr/>
        </p:nvSpPr>
        <p:spPr>
          <a:xfrm>
            <a:off x="7004050" y="3357563"/>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m[3,5]=168</a:t>
            </a:r>
          </a:p>
        </p:txBody>
      </p:sp>
      <p:sp>
        <p:nvSpPr>
          <p:cNvPr id="40003" name="Text Box 67"/>
          <p:cNvSpPr txBox="1"/>
          <p:nvPr/>
        </p:nvSpPr>
        <p:spPr>
          <a:xfrm>
            <a:off x="5435600" y="2349500"/>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m[1,4]=620</a:t>
            </a:r>
          </a:p>
        </p:txBody>
      </p:sp>
      <p:sp>
        <p:nvSpPr>
          <p:cNvPr id="40004" name="Text Box 68"/>
          <p:cNvSpPr txBox="1"/>
          <p:nvPr/>
        </p:nvSpPr>
        <p:spPr>
          <a:xfrm>
            <a:off x="7004050" y="2852738"/>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m[2,5]=248</a:t>
            </a:r>
          </a:p>
        </p:txBody>
      </p:sp>
      <p:sp>
        <p:nvSpPr>
          <p:cNvPr id="40005" name="Text Box 69"/>
          <p:cNvSpPr txBox="1"/>
          <p:nvPr/>
        </p:nvSpPr>
        <p:spPr>
          <a:xfrm>
            <a:off x="7004050" y="2349500"/>
            <a:ext cx="1633538" cy="45720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dirty="0">
                <a:solidFill>
                  <a:schemeClr val="tx2"/>
                </a:solidFill>
                <a:ea typeface="宋体" panose="02010600030101010101" pitchFamily="2" charset="-122"/>
              </a:rPr>
              <a:t>m[1,5]=348</a:t>
            </a:r>
          </a:p>
        </p:txBody>
      </p:sp>
      <p:sp>
        <p:nvSpPr>
          <p:cNvPr id="4" name="Rectangle 2">
            <a:extLst>
              <a:ext uri="{FF2B5EF4-FFF2-40B4-BE49-F238E27FC236}">
                <a16:creationId xmlns:a16="http://schemas.microsoft.com/office/drawing/2014/main" id="{41557F2C-F67B-D950-AC07-3C854520BD0C}"/>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kern="0" dirty="0">
                <a:sym typeface="+mn-ea"/>
              </a:rPr>
              <a:t>例子</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9994"/>
                                        </p:tgtEl>
                                        <p:attrNameLst>
                                          <p:attrName>style.visibility</p:attrName>
                                        </p:attrNameLst>
                                      </p:cBhvr>
                                      <p:to>
                                        <p:strVal val="visible"/>
                                      </p:to>
                                    </p:set>
                                    <p:anim calcmode="lin" valueType="num">
                                      <p:cBhvr>
                                        <p:cTn id="7" dur="500" fill="hold"/>
                                        <p:tgtEl>
                                          <p:spTgt spid="39994"/>
                                        </p:tgtEl>
                                        <p:attrNameLst>
                                          <p:attrName>ppt_w</p:attrName>
                                        </p:attrNameLst>
                                      </p:cBhvr>
                                      <p:tavLst>
                                        <p:tav tm="0">
                                          <p:val>
                                            <p:fltVal val="0"/>
                                          </p:val>
                                        </p:tav>
                                        <p:tav tm="100000">
                                          <p:val>
                                            <p:strVal val="#ppt_w"/>
                                          </p:val>
                                        </p:tav>
                                      </p:tavLst>
                                    </p:anim>
                                    <p:anim calcmode="lin" valueType="num">
                                      <p:cBhvr>
                                        <p:cTn id="8" dur="500" fill="hold"/>
                                        <p:tgtEl>
                                          <p:spTgt spid="3999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9989"/>
                                        </p:tgtEl>
                                        <p:attrNameLst>
                                          <p:attrName>style.visibility</p:attrName>
                                        </p:attrNameLst>
                                      </p:cBhvr>
                                      <p:to>
                                        <p:strVal val="visible"/>
                                      </p:to>
                                    </p:set>
                                    <p:anim calcmode="lin" valueType="num">
                                      <p:cBhvr>
                                        <p:cTn id="13" dur="500" fill="hold"/>
                                        <p:tgtEl>
                                          <p:spTgt spid="39989"/>
                                        </p:tgtEl>
                                        <p:attrNameLst>
                                          <p:attrName>ppt_w</p:attrName>
                                        </p:attrNameLst>
                                      </p:cBhvr>
                                      <p:tavLst>
                                        <p:tav tm="0">
                                          <p:val>
                                            <p:fltVal val="0"/>
                                          </p:val>
                                        </p:tav>
                                        <p:tav tm="100000">
                                          <p:val>
                                            <p:strVal val="#ppt_w"/>
                                          </p:val>
                                        </p:tav>
                                      </p:tavLst>
                                    </p:anim>
                                    <p:anim calcmode="lin" valueType="num">
                                      <p:cBhvr>
                                        <p:cTn id="14" dur="500" fill="hold"/>
                                        <p:tgtEl>
                                          <p:spTgt spid="39989"/>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1" fill="hold">
                                          <p:stCondLst>
                                            <p:cond delay="0"/>
                                          </p:stCondLst>
                                        </p:cTn>
                                        <p:tgtEl>
                                          <p:spTgt spid="39990"/>
                                        </p:tgtEl>
                                        <p:attrNameLst>
                                          <p:attrName>style.visibility</p:attrName>
                                        </p:attrNameLst>
                                      </p:cBhvr>
                                      <p:to>
                                        <p:strVal val="visible"/>
                                      </p:to>
                                    </p:set>
                                    <p:anim calcmode="lin" valueType="num">
                                      <p:cBhvr>
                                        <p:cTn id="17" dur="500" fill="hold"/>
                                        <p:tgtEl>
                                          <p:spTgt spid="39990"/>
                                        </p:tgtEl>
                                        <p:attrNameLst>
                                          <p:attrName>ppt_w</p:attrName>
                                        </p:attrNameLst>
                                      </p:cBhvr>
                                      <p:tavLst>
                                        <p:tav tm="0">
                                          <p:val>
                                            <p:fltVal val="0"/>
                                          </p:val>
                                        </p:tav>
                                        <p:tav tm="100000">
                                          <p:val>
                                            <p:strVal val="#ppt_w"/>
                                          </p:val>
                                        </p:tav>
                                      </p:tavLst>
                                    </p:anim>
                                    <p:anim calcmode="lin" valueType="num">
                                      <p:cBhvr>
                                        <p:cTn id="18" dur="500" fill="hold"/>
                                        <p:tgtEl>
                                          <p:spTgt spid="39990"/>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1" fill="hold">
                                          <p:stCondLst>
                                            <p:cond delay="0"/>
                                          </p:stCondLst>
                                        </p:cTn>
                                        <p:tgtEl>
                                          <p:spTgt spid="39991"/>
                                        </p:tgtEl>
                                        <p:attrNameLst>
                                          <p:attrName>style.visibility</p:attrName>
                                        </p:attrNameLst>
                                      </p:cBhvr>
                                      <p:to>
                                        <p:strVal val="visible"/>
                                      </p:to>
                                    </p:set>
                                    <p:anim calcmode="lin" valueType="num">
                                      <p:cBhvr>
                                        <p:cTn id="21" dur="500" fill="hold"/>
                                        <p:tgtEl>
                                          <p:spTgt spid="39991"/>
                                        </p:tgtEl>
                                        <p:attrNameLst>
                                          <p:attrName>ppt_w</p:attrName>
                                        </p:attrNameLst>
                                      </p:cBhvr>
                                      <p:tavLst>
                                        <p:tav tm="0">
                                          <p:val>
                                            <p:fltVal val="0"/>
                                          </p:val>
                                        </p:tav>
                                        <p:tav tm="100000">
                                          <p:val>
                                            <p:strVal val="#ppt_w"/>
                                          </p:val>
                                        </p:tav>
                                      </p:tavLst>
                                    </p:anim>
                                    <p:anim calcmode="lin" valueType="num">
                                      <p:cBhvr>
                                        <p:cTn id="22" dur="500" fill="hold"/>
                                        <p:tgtEl>
                                          <p:spTgt spid="39991"/>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39992"/>
                                        </p:tgtEl>
                                        <p:attrNameLst>
                                          <p:attrName>style.visibility</p:attrName>
                                        </p:attrNameLst>
                                      </p:cBhvr>
                                      <p:to>
                                        <p:strVal val="visible"/>
                                      </p:to>
                                    </p:set>
                                    <p:anim calcmode="lin" valueType="num">
                                      <p:cBhvr>
                                        <p:cTn id="25" dur="500" fill="hold"/>
                                        <p:tgtEl>
                                          <p:spTgt spid="39992"/>
                                        </p:tgtEl>
                                        <p:attrNameLst>
                                          <p:attrName>ppt_w</p:attrName>
                                        </p:attrNameLst>
                                      </p:cBhvr>
                                      <p:tavLst>
                                        <p:tav tm="0">
                                          <p:val>
                                            <p:fltVal val="0"/>
                                          </p:val>
                                        </p:tav>
                                        <p:tav tm="100000">
                                          <p:val>
                                            <p:strVal val="#ppt_w"/>
                                          </p:val>
                                        </p:tav>
                                      </p:tavLst>
                                    </p:anim>
                                    <p:anim calcmode="lin" valueType="num">
                                      <p:cBhvr>
                                        <p:cTn id="26" dur="500" fill="hold"/>
                                        <p:tgtEl>
                                          <p:spTgt spid="39992"/>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39993"/>
                                        </p:tgtEl>
                                        <p:attrNameLst>
                                          <p:attrName>style.visibility</p:attrName>
                                        </p:attrNameLst>
                                      </p:cBhvr>
                                      <p:to>
                                        <p:strVal val="visible"/>
                                      </p:to>
                                    </p:set>
                                    <p:anim calcmode="lin" valueType="num">
                                      <p:cBhvr>
                                        <p:cTn id="29" dur="500" fill="hold"/>
                                        <p:tgtEl>
                                          <p:spTgt spid="39993"/>
                                        </p:tgtEl>
                                        <p:attrNameLst>
                                          <p:attrName>ppt_w</p:attrName>
                                        </p:attrNameLst>
                                      </p:cBhvr>
                                      <p:tavLst>
                                        <p:tav tm="0">
                                          <p:val>
                                            <p:fltVal val="0"/>
                                          </p:val>
                                        </p:tav>
                                        <p:tav tm="100000">
                                          <p:val>
                                            <p:strVal val="#ppt_w"/>
                                          </p:val>
                                        </p:tav>
                                      </p:tavLst>
                                    </p:anim>
                                    <p:anim calcmode="lin" valueType="num">
                                      <p:cBhvr>
                                        <p:cTn id="30" dur="500" fill="hold"/>
                                        <p:tgtEl>
                                          <p:spTgt spid="39993"/>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9996"/>
                                        </p:tgtEl>
                                        <p:attrNameLst>
                                          <p:attrName>style.visibility</p:attrName>
                                        </p:attrNameLst>
                                      </p:cBhvr>
                                      <p:to>
                                        <p:strVal val="visible"/>
                                      </p:to>
                                    </p:set>
                                    <p:animEffect transition="in" filter="wipe(down)">
                                      <p:cBhvr>
                                        <p:cTn id="35" dur="500"/>
                                        <p:tgtEl>
                                          <p:spTgt spid="3999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9997"/>
                                        </p:tgtEl>
                                        <p:attrNameLst>
                                          <p:attrName>style.visibility</p:attrName>
                                        </p:attrNameLst>
                                      </p:cBhvr>
                                      <p:to>
                                        <p:strVal val="visible"/>
                                      </p:to>
                                    </p:set>
                                    <p:animEffect transition="in" filter="wipe(down)">
                                      <p:cBhvr>
                                        <p:cTn id="40" dur="500"/>
                                        <p:tgtEl>
                                          <p:spTgt spid="3999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39998"/>
                                        </p:tgtEl>
                                        <p:attrNameLst>
                                          <p:attrName>style.visibility</p:attrName>
                                        </p:attrNameLst>
                                      </p:cBhvr>
                                      <p:to>
                                        <p:strVal val="visible"/>
                                      </p:to>
                                    </p:set>
                                    <p:animEffect transition="in" filter="wipe(down)">
                                      <p:cBhvr>
                                        <p:cTn id="45" dur="500"/>
                                        <p:tgtEl>
                                          <p:spTgt spid="3999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39999"/>
                                        </p:tgtEl>
                                        <p:attrNameLst>
                                          <p:attrName>style.visibility</p:attrName>
                                        </p:attrNameLst>
                                      </p:cBhvr>
                                      <p:to>
                                        <p:strVal val="visible"/>
                                      </p:to>
                                    </p:set>
                                    <p:animEffect transition="in" filter="wipe(down)">
                                      <p:cBhvr>
                                        <p:cTn id="50" dur="500"/>
                                        <p:tgtEl>
                                          <p:spTgt spid="39999"/>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grpId="0" nodeType="clickEffect">
                                  <p:stCondLst>
                                    <p:cond delay="0"/>
                                  </p:stCondLst>
                                  <p:childTnLst>
                                    <p:set>
                                      <p:cBhvr>
                                        <p:cTn id="54" dur="1" fill="hold">
                                          <p:stCondLst>
                                            <p:cond delay="0"/>
                                          </p:stCondLst>
                                        </p:cTn>
                                        <p:tgtEl>
                                          <p:spTgt spid="40000"/>
                                        </p:tgtEl>
                                        <p:attrNameLst>
                                          <p:attrName>style.visibility</p:attrName>
                                        </p:attrNameLst>
                                      </p:cBhvr>
                                      <p:to>
                                        <p:strVal val="visible"/>
                                      </p:to>
                                    </p:set>
                                    <p:anim calcmode="lin" valueType="num">
                                      <p:cBhvr>
                                        <p:cTn id="55" dur="500" fill="hold"/>
                                        <p:tgtEl>
                                          <p:spTgt spid="40000"/>
                                        </p:tgtEl>
                                        <p:attrNameLst>
                                          <p:attrName>ppt_w</p:attrName>
                                        </p:attrNameLst>
                                      </p:cBhvr>
                                      <p:tavLst>
                                        <p:tav tm="0">
                                          <p:val>
                                            <p:fltVal val="0"/>
                                          </p:val>
                                        </p:tav>
                                        <p:tav tm="100000">
                                          <p:val>
                                            <p:strVal val="#ppt_w"/>
                                          </p:val>
                                        </p:tav>
                                      </p:tavLst>
                                    </p:anim>
                                    <p:anim calcmode="lin" valueType="num">
                                      <p:cBhvr>
                                        <p:cTn id="56" dur="500" fill="hold"/>
                                        <p:tgtEl>
                                          <p:spTgt spid="40000"/>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40001"/>
                                        </p:tgtEl>
                                        <p:attrNameLst>
                                          <p:attrName>style.visibility</p:attrName>
                                        </p:attrNameLst>
                                      </p:cBhvr>
                                      <p:to>
                                        <p:strVal val="visible"/>
                                      </p:to>
                                    </p:set>
                                    <p:anim calcmode="lin" valueType="num">
                                      <p:cBhvr>
                                        <p:cTn id="61" dur="500" fill="hold"/>
                                        <p:tgtEl>
                                          <p:spTgt spid="40001"/>
                                        </p:tgtEl>
                                        <p:attrNameLst>
                                          <p:attrName>ppt_w</p:attrName>
                                        </p:attrNameLst>
                                      </p:cBhvr>
                                      <p:tavLst>
                                        <p:tav tm="0">
                                          <p:val>
                                            <p:fltVal val="0"/>
                                          </p:val>
                                        </p:tav>
                                        <p:tav tm="100000">
                                          <p:val>
                                            <p:strVal val="#ppt_w"/>
                                          </p:val>
                                        </p:tav>
                                      </p:tavLst>
                                    </p:anim>
                                    <p:anim calcmode="lin" valueType="num">
                                      <p:cBhvr>
                                        <p:cTn id="62" dur="500" fill="hold"/>
                                        <p:tgtEl>
                                          <p:spTgt spid="40001"/>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40002"/>
                                        </p:tgtEl>
                                        <p:attrNameLst>
                                          <p:attrName>style.visibility</p:attrName>
                                        </p:attrNameLst>
                                      </p:cBhvr>
                                      <p:to>
                                        <p:strVal val="visible"/>
                                      </p:to>
                                    </p:set>
                                    <p:anim calcmode="lin" valueType="num">
                                      <p:cBhvr>
                                        <p:cTn id="67" dur="500" fill="hold"/>
                                        <p:tgtEl>
                                          <p:spTgt spid="40002"/>
                                        </p:tgtEl>
                                        <p:attrNameLst>
                                          <p:attrName>ppt_w</p:attrName>
                                        </p:attrNameLst>
                                      </p:cBhvr>
                                      <p:tavLst>
                                        <p:tav tm="0">
                                          <p:val>
                                            <p:fltVal val="0"/>
                                          </p:val>
                                        </p:tav>
                                        <p:tav tm="100000">
                                          <p:val>
                                            <p:strVal val="#ppt_w"/>
                                          </p:val>
                                        </p:tav>
                                      </p:tavLst>
                                    </p:anim>
                                    <p:anim calcmode="lin" valueType="num">
                                      <p:cBhvr>
                                        <p:cTn id="68" dur="500" fill="hold"/>
                                        <p:tgtEl>
                                          <p:spTgt spid="40002"/>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9" presetClass="entr" presetSubtype="10" fill="hold" grpId="0" nodeType="clickEffect">
                                  <p:stCondLst>
                                    <p:cond delay="0"/>
                                  </p:stCondLst>
                                  <p:childTnLst>
                                    <p:set>
                                      <p:cBhvr>
                                        <p:cTn id="72" dur="1" fill="hold">
                                          <p:stCondLst>
                                            <p:cond delay="0"/>
                                          </p:stCondLst>
                                        </p:cTn>
                                        <p:tgtEl>
                                          <p:spTgt spid="40003"/>
                                        </p:tgtEl>
                                        <p:attrNameLst>
                                          <p:attrName>style.visibility</p:attrName>
                                        </p:attrNameLst>
                                      </p:cBhvr>
                                      <p:to>
                                        <p:strVal val="visible"/>
                                      </p:to>
                                    </p:set>
                                    <p:anim calcmode="lin" valueType="num">
                                      <p:cBhvr>
                                        <p:cTn id="73" dur="5000" fill="hold"/>
                                        <p:tgtEl>
                                          <p:spTgt spid="40003"/>
                                        </p:tgtEl>
                                        <p:attrNameLst>
                                          <p:attrName>ppt_w</p:attrName>
                                        </p:attrNameLst>
                                      </p:cBhvr>
                                      <p:tavLst>
                                        <p:tav tm="0" fmla="#ppt_w*sin(2.5*pi*$)">
                                          <p:val>
                                            <p:fltVal val="0"/>
                                          </p:val>
                                        </p:tav>
                                        <p:tav tm="100000">
                                          <p:val>
                                            <p:fltVal val="1"/>
                                          </p:val>
                                        </p:tav>
                                      </p:tavLst>
                                    </p:anim>
                                    <p:anim calcmode="lin" valueType="num">
                                      <p:cBhvr>
                                        <p:cTn id="74" dur="5000" fill="hold"/>
                                        <p:tgtEl>
                                          <p:spTgt spid="40003"/>
                                        </p:tgtEl>
                                        <p:attrNameLst>
                                          <p:attrName>ppt_h</p:attrName>
                                        </p:attrNameLst>
                                      </p:cBhvr>
                                      <p:tavLst>
                                        <p:tav tm="0">
                                          <p:val>
                                            <p:strVal val="#ppt_h"/>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9" presetClass="entr" presetSubtype="10" fill="hold" grpId="0" nodeType="clickEffect">
                                  <p:stCondLst>
                                    <p:cond delay="0"/>
                                  </p:stCondLst>
                                  <p:childTnLst>
                                    <p:set>
                                      <p:cBhvr>
                                        <p:cTn id="78" dur="1" fill="hold">
                                          <p:stCondLst>
                                            <p:cond delay="0"/>
                                          </p:stCondLst>
                                        </p:cTn>
                                        <p:tgtEl>
                                          <p:spTgt spid="40004"/>
                                        </p:tgtEl>
                                        <p:attrNameLst>
                                          <p:attrName>style.visibility</p:attrName>
                                        </p:attrNameLst>
                                      </p:cBhvr>
                                      <p:to>
                                        <p:strVal val="visible"/>
                                      </p:to>
                                    </p:set>
                                    <p:anim calcmode="lin" valueType="num">
                                      <p:cBhvr>
                                        <p:cTn id="79" dur="5000" fill="hold"/>
                                        <p:tgtEl>
                                          <p:spTgt spid="40004"/>
                                        </p:tgtEl>
                                        <p:attrNameLst>
                                          <p:attrName>ppt_w</p:attrName>
                                        </p:attrNameLst>
                                      </p:cBhvr>
                                      <p:tavLst>
                                        <p:tav tm="0" fmla="#ppt_w*sin(2.5*pi*$)">
                                          <p:val>
                                            <p:fltVal val="0"/>
                                          </p:val>
                                        </p:tav>
                                        <p:tav tm="100000">
                                          <p:val>
                                            <p:fltVal val="1"/>
                                          </p:val>
                                        </p:tav>
                                      </p:tavLst>
                                    </p:anim>
                                    <p:anim calcmode="lin" valueType="num">
                                      <p:cBhvr>
                                        <p:cTn id="80" dur="5000" fill="hold"/>
                                        <p:tgtEl>
                                          <p:spTgt spid="40004"/>
                                        </p:tgtEl>
                                        <p:attrNameLst>
                                          <p:attrName>ppt_h</p:attrName>
                                        </p:attrNameLst>
                                      </p:cBhvr>
                                      <p:tavLst>
                                        <p:tav tm="0">
                                          <p:val>
                                            <p:strVal val="#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0005"/>
                                        </p:tgtEl>
                                        <p:attrNameLst>
                                          <p:attrName>style.visibility</p:attrName>
                                        </p:attrNameLst>
                                      </p:cBhvr>
                                      <p:to>
                                        <p:strVal val="visible"/>
                                      </p:to>
                                    </p:set>
                                    <p:anim calcmode="lin" valueType="num">
                                      <p:cBhvr additive="base">
                                        <p:cTn id="85" dur="500" fill="hold"/>
                                        <p:tgtEl>
                                          <p:spTgt spid="40005"/>
                                        </p:tgtEl>
                                        <p:attrNameLst>
                                          <p:attrName>ppt_x</p:attrName>
                                        </p:attrNameLst>
                                      </p:cBhvr>
                                      <p:tavLst>
                                        <p:tav tm="0">
                                          <p:val>
                                            <p:strVal val="#ppt_x"/>
                                          </p:val>
                                        </p:tav>
                                        <p:tav tm="100000">
                                          <p:val>
                                            <p:strVal val="#ppt_x"/>
                                          </p:val>
                                        </p:tav>
                                      </p:tavLst>
                                    </p:anim>
                                    <p:anim calcmode="lin" valueType="num">
                                      <p:cBhvr additive="base">
                                        <p:cTn id="86" dur="500" fill="hold"/>
                                        <p:tgtEl>
                                          <p:spTgt spid="40005"/>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3" presetClass="emph" presetSubtype="2" fill="hold" grpId="1" nodeType="clickEffect">
                                  <p:stCondLst>
                                    <p:cond delay="0"/>
                                  </p:stCondLst>
                                  <p:childTnLst>
                                    <p:animClr clrSpc="rgb" dir="cw">
                                      <p:cBhvr override="childStyle">
                                        <p:cTn id="90" dur="2000" fill="hold"/>
                                        <p:tgtEl>
                                          <p:spTgt spid="40005"/>
                                        </p:tgtEl>
                                        <p:attrNameLst>
                                          <p:attrName>style.color</p:attrName>
                                        </p:attrNameLst>
                                      </p:cBhvr>
                                      <p:to>
                                        <a:srgbClr val="FF33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89" grpId="0"/>
      <p:bldP spid="39990" grpId="0"/>
      <p:bldP spid="39991" grpId="0"/>
      <p:bldP spid="39992" grpId="0"/>
      <p:bldP spid="39993" grpId="0"/>
      <p:bldP spid="39996" grpId="0"/>
      <p:bldP spid="39997" grpId="0"/>
      <p:bldP spid="39998" grpId="0"/>
      <p:bldP spid="39999" grpId="0"/>
      <p:bldP spid="40000" grpId="0"/>
      <p:bldP spid="40001" grpId="0"/>
      <p:bldP spid="40002" grpId="0"/>
      <p:bldP spid="40003" grpId="0"/>
      <p:bldP spid="40004" grpId="0"/>
      <p:bldP spid="40005" grpId="0"/>
      <p:bldP spid="40005"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5222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5222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21</a:t>
            </a:fld>
            <a:endParaRPr lang="en-US" altLang="zh-CN" sz="1400" dirty="0">
              <a:solidFill>
                <a:schemeClr val="tx1"/>
              </a:solidFill>
              <a:latin typeface="Arial" panose="020B0604020202020204" pitchFamily="34" charset="0"/>
              <a:ea typeface="宋体" panose="02010600030101010101" pitchFamily="2" charset="-122"/>
            </a:endParaRPr>
          </a:p>
        </p:txBody>
      </p:sp>
      <p:graphicFrame>
        <p:nvGraphicFramePr>
          <p:cNvPr id="23" name="Group 91"/>
          <p:cNvGraphicFramePr>
            <a:graphicFrameLocks noGrp="1"/>
          </p:cNvGraphicFramePr>
          <p:nvPr/>
        </p:nvGraphicFramePr>
        <p:xfrm>
          <a:off x="1214438" y="1500188"/>
          <a:ext cx="6553200" cy="1139829"/>
        </p:xfrm>
        <a:graphic>
          <a:graphicData uri="http://schemas.openxmlformats.org/drawingml/2006/table">
            <a:tbl>
              <a:tblPr/>
              <a:tblGrid>
                <a:gridCol w="1108075">
                  <a:extLst>
                    <a:ext uri="{9D8B030D-6E8A-4147-A177-3AD203B41FA5}">
                      <a16:colId xmlns:a16="http://schemas.microsoft.com/office/drawing/2014/main" val="20000"/>
                    </a:ext>
                  </a:extLst>
                </a:gridCol>
                <a:gridCol w="1108075">
                  <a:extLst>
                    <a:ext uri="{9D8B030D-6E8A-4147-A177-3AD203B41FA5}">
                      <a16:colId xmlns:a16="http://schemas.microsoft.com/office/drawing/2014/main" val="20001"/>
                    </a:ext>
                  </a:extLst>
                </a:gridCol>
                <a:gridCol w="938213">
                  <a:extLst>
                    <a:ext uri="{9D8B030D-6E8A-4147-A177-3AD203B41FA5}">
                      <a16:colId xmlns:a16="http://schemas.microsoft.com/office/drawing/2014/main" val="20002"/>
                    </a:ext>
                  </a:extLst>
                </a:gridCol>
                <a:gridCol w="938212">
                  <a:extLst>
                    <a:ext uri="{9D8B030D-6E8A-4147-A177-3AD203B41FA5}">
                      <a16:colId xmlns:a16="http://schemas.microsoft.com/office/drawing/2014/main" val="20003"/>
                    </a:ext>
                  </a:extLst>
                </a:gridCol>
                <a:gridCol w="1108075">
                  <a:extLst>
                    <a:ext uri="{9D8B030D-6E8A-4147-A177-3AD203B41FA5}">
                      <a16:colId xmlns:a16="http://schemas.microsoft.com/office/drawing/2014/main" val="20004"/>
                    </a:ext>
                  </a:extLst>
                </a:gridCol>
                <a:gridCol w="1352550">
                  <a:extLst>
                    <a:ext uri="{9D8B030D-6E8A-4147-A177-3AD203B41FA5}">
                      <a16:colId xmlns:a16="http://schemas.microsoft.com/office/drawing/2014/main" val="20005"/>
                    </a:ext>
                  </a:extLst>
                </a:gridCol>
              </a:tblGrid>
              <a:tr h="51807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r>
                        <a:rPr kumimoji="1" lang="en-US" altLang="zh-CN" sz="28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1</a:t>
                      </a:r>
                    </a:p>
                  </a:txBody>
                  <a:tcPr marT="45679" marB="456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2</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3</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4</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1" lang="en-US" altLang="zh-CN" sz="2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5</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r>
                        <a:rPr kumimoji="1" lang="en-US" altLang="zh-CN" sz="28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6</a:t>
                      </a:r>
                    </a:p>
                  </a:txBody>
                  <a:tcPr marT="45679" marB="456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175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35</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79" marB="456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35</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a:t>
                      </a: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20</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20</a:t>
                      </a: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25</a:t>
                      </a:r>
                    </a:p>
                  </a:txBody>
                  <a:tcPr marT="45679" marB="456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52253" name="Picture 18" descr="t31"/>
          <p:cNvPicPr>
            <a:picLocks noChangeAspect="1"/>
          </p:cNvPicPr>
          <p:nvPr/>
        </p:nvPicPr>
        <p:blipFill>
          <a:blip r:embed="rId3"/>
          <a:stretch>
            <a:fillRect/>
          </a:stretch>
        </p:blipFill>
        <p:spPr>
          <a:xfrm>
            <a:off x="642938" y="2714625"/>
            <a:ext cx="8305800" cy="2686050"/>
          </a:xfrm>
          <a:prstGeom prst="rect">
            <a:avLst/>
          </a:prstGeom>
          <a:noFill/>
          <a:ln w="9525">
            <a:noFill/>
          </a:ln>
        </p:spPr>
      </p:pic>
      <p:sp>
        <p:nvSpPr>
          <p:cNvPr id="4" name="Rectangle 2">
            <a:extLst>
              <a:ext uri="{FF2B5EF4-FFF2-40B4-BE49-F238E27FC236}">
                <a16:creationId xmlns:a16="http://schemas.microsoft.com/office/drawing/2014/main" id="{135B6027-CE7D-10B6-1B49-1F894844ECFB}"/>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kern="0" dirty="0">
                <a:sym typeface="+mn-ea"/>
              </a:rPr>
              <a:t>例子</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54275"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54276"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22</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41987" name="Rectangle 3"/>
          <p:cNvSpPr>
            <a:spLocks noGrp="1"/>
          </p:cNvSpPr>
          <p:nvPr>
            <p:ph idx="1"/>
          </p:nvPr>
        </p:nvSpPr>
        <p:spPr>
          <a:xfrm>
            <a:off x="827405" y="1471295"/>
            <a:ext cx="8153400" cy="4498975"/>
          </a:xfrm>
        </p:spPr>
        <p:txBody>
          <a:bodyPr vert="horz" wrap="square" lIns="91440" tIns="45720" rIns="91440" bIns="45720" anchor="t" anchorCtr="0"/>
          <a:lstStyle/>
          <a:p>
            <a:pPr eaLnBrk="1" hangingPunct="1"/>
            <a:r>
              <a:rPr lang="zh-CN" altLang="en-US" dirty="0"/>
              <a:t>算法</a:t>
            </a:r>
            <a:r>
              <a:rPr lang="en-US" altLang="zh-CN" dirty="0"/>
              <a:t>matrixChain</a:t>
            </a:r>
            <a:r>
              <a:rPr lang="zh-CN" altLang="en-US" dirty="0"/>
              <a:t>的主要计算量取决于算法中对</a:t>
            </a:r>
            <a:r>
              <a:rPr lang="en-US" altLang="zh-CN" i="1" dirty="0"/>
              <a:t>l</a:t>
            </a:r>
            <a:r>
              <a:rPr lang="zh-CN" altLang="en-US" dirty="0"/>
              <a:t>，</a:t>
            </a:r>
            <a:r>
              <a:rPr lang="en-US" altLang="zh-CN" dirty="0"/>
              <a:t>i</a:t>
            </a:r>
            <a:r>
              <a:rPr lang="zh-CN" altLang="en-US" dirty="0"/>
              <a:t>和</a:t>
            </a:r>
            <a:r>
              <a:rPr lang="en-US" altLang="zh-CN" dirty="0"/>
              <a:t>k</a:t>
            </a:r>
            <a:r>
              <a:rPr lang="zh-CN" altLang="en-US" dirty="0"/>
              <a:t>的</a:t>
            </a:r>
            <a:r>
              <a:rPr lang="en-US" altLang="zh-CN" dirty="0"/>
              <a:t>3</a:t>
            </a:r>
            <a:r>
              <a:rPr lang="zh-CN" altLang="en-US" dirty="0"/>
              <a:t>重循环。循环体内的计算量为</a:t>
            </a:r>
            <a:r>
              <a:rPr lang="en-US" altLang="zh-CN" dirty="0"/>
              <a:t>O(1)</a:t>
            </a:r>
            <a:r>
              <a:rPr lang="zh-CN" altLang="en-US" dirty="0"/>
              <a:t>，而</a:t>
            </a:r>
            <a:r>
              <a:rPr lang="en-US" altLang="zh-CN" dirty="0"/>
              <a:t>3</a:t>
            </a:r>
            <a:r>
              <a:rPr lang="zh-CN" altLang="en-US" dirty="0"/>
              <a:t>重循环的总次数为</a:t>
            </a:r>
            <a:r>
              <a:rPr lang="en-US" altLang="zh-CN" dirty="0"/>
              <a:t>O(n</a:t>
            </a:r>
            <a:r>
              <a:rPr lang="en-US" altLang="zh-CN" baseline="30000" dirty="0"/>
              <a:t>3</a:t>
            </a:r>
            <a:r>
              <a:rPr lang="en-US" altLang="zh-CN" dirty="0"/>
              <a:t>)</a:t>
            </a:r>
            <a:r>
              <a:rPr lang="zh-CN" altLang="en-US" dirty="0"/>
              <a:t>。</a:t>
            </a:r>
            <a:endParaRPr lang="en-US" altLang="zh-CN" dirty="0"/>
          </a:p>
          <a:p>
            <a:pPr eaLnBrk="1" hangingPunct="1"/>
            <a:r>
              <a:rPr lang="zh-CN" altLang="en-US" dirty="0"/>
              <a:t>算法的时间复杂性是</a:t>
            </a:r>
            <a:r>
              <a:rPr lang="en-US" altLang="zh-CN" dirty="0">
                <a:cs typeface="Arial" panose="020B0604020202020204" pitchFamily="34" charset="0"/>
              </a:rPr>
              <a:t>Ω(n</a:t>
            </a:r>
            <a:r>
              <a:rPr lang="en-US" altLang="zh-CN" baseline="30000" dirty="0">
                <a:cs typeface="Arial" panose="020B0604020202020204" pitchFamily="34" charset="0"/>
              </a:rPr>
              <a:t>3</a:t>
            </a:r>
            <a:r>
              <a:rPr lang="en-US" altLang="zh-CN" dirty="0">
                <a:cs typeface="Arial" panose="020B0604020202020204" pitchFamily="34" charset="0"/>
              </a:rPr>
              <a:t>). </a:t>
            </a:r>
            <a:r>
              <a:rPr lang="zh-CN" altLang="en-US" dirty="0">
                <a:cs typeface="Arial" panose="020B0604020202020204" pitchFamily="34" charset="0"/>
              </a:rPr>
              <a:t>算法的空间复杂度是</a:t>
            </a:r>
            <a:r>
              <a:rPr lang="en-US" altLang="zh-CN" dirty="0"/>
              <a:t>Θ(</a:t>
            </a:r>
            <a:r>
              <a:rPr lang="en-US" altLang="zh-CN" i="1" dirty="0"/>
              <a:t>n</a:t>
            </a:r>
            <a:r>
              <a:rPr lang="en-US" altLang="zh-CN" baseline="30000" dirty="0"/>
              <a:t>2</a:t>
            </a:r>
            <a:r>
              <a:rPr lang="en-US" altLang="zh-CN" dirty="0"/>
              <a:t>) </a:t>
            </a:r>
            <a:r>
              <a:rPr lang="zh-CN" altLang="en-US" dirty="0"/>
              <a:t>用于存储</a:t>
            </a:r>
            <a:r>
              <a:rPr lang="en-US" altLang="zh-CN" i="1" dirty="0"/>
              <a:t>m </a:t>
            </a:r>
            <a:r>
              <a:rPr lang="zh-CN" altLang="en-US" dirty="0"/>
              <a:t>和</a:t>
            </a:r>
            <a:r>
              <a:rPr lang="en-US" altLang="zh-CN" i="1" dirty="0"/>
              <a:t>s </a:t>
            </a:r>
            <a:r>
              <a:rPr lang="zh-CN" altLang="en-US" dirty="0"/>
              <a:t>表</a:t>
            </a:r>
            <a:r>
              <a:rPr lang="en-US" altLang="zh-CN" dirty="0"/>
              <a:t>.</a:t>
            </a:r>
          </a:p>
          <a:p>
            <a:pPr eaLnBrk="1" hangingPunct="1"/>
            <a:endParaRPr lang="en-US" altLang="zh-CN" dirty="0"/>
          </a:p>
        </p:txBody>
      </p:sp>
      <p:sp>
        <p:nvSpPr>
          <p:cNvPr id="2" name="Rectangle 2">
            <a:extLst>
              <a:ext uri="{FF2B5EF4-FFF2-40B4-BE49-F238E27FC236}">
                <a16:creationId xmlns:a16="http://schemas.microsoft.com/office/drawing/2014/main" id="{5A3CA8C1-D675-D906-FEC8-EEE2FD782052}"/>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kern="0" dirty="0">
                <a:latin typeface="+mj-ea"/>
                <a:sym typeface="+mn-ea"/>
              </a:rPr>
              <a:t>算法分析</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 calcmode="lin" valueType="num">
                                      <p:cBhvr additive="base">
                                        <p:cTn id="7" dur="5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987">
                                            <p:txEl>
                                              <p:pRg st="1" end="1"/>
                                            </p:txEl>
                                          </p:spTgt>
                                        </p:tgtEl>
                                        <p:attrNameLst>
                                          <p:attrName>style.visibility</p:attrName>
                                        </p:attrNameLst>
                                      </p:cBhvr>
                                      <p:to>
                                        <p:strVal val="visible"/>
                                      </p:to>
                                    </p:set>
                                    <p:anim calcmode="lin" valueType="num">
                                      <p:cBhvr additive="base">
                                        <p:cTn id="13"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56323"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56324"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23</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25283" name="Rectangle 3"/>
          <p:cNvSpPr>
            <a:spLocks noGrp="1"/>
          </p:cNvSpPr>
          <p:nvPr>
            <p:ph idx="1"/>
          </p:nvPr>
        </p:nvSpPr>
        <p:spPr>
          <a:xfrm>
            <a:off x="827088" y="1341438"/>
            <a:ext cx="8066087" cy="4248150"/>
          </a:xfrm>
        </p:spPr>
        <p:txBody>
          <a:bodyPr vert="horz" wrap="square" lIns="91440" tIns="45720" rIns="91440" bIns="45720" anchor="t" anchorCtr="0"/>
          <a:lstStyle/>
          <a:p>
            <a:pPr>
              <a:spcBef>
                <a:spcPct val="50000"/>
              </a:spcBef>
              <a:buClr>
                <a:schemeClr val="accent2"/>
              </a:buClr>
              <a:buSzPct val="75000"/>
            </a:pPr>
            <a:r>
              <a:rPr lang="zh-CN" altLang="en-US" dirty="0">
                <a:latin typeface="华文楷体" panose="02010600040101010101" pitchFamily="2" charset="-122"/>
              </a:rPr>
              <a:t>若给定序列</a:t>
            </a:r>
            <a:r>
              <a:rPr lang="en-US" altLang="zh-CN" dirty="0">
                <a:latin typeface="华文楷体" panose="02010600040101010101" pitchFamily="2" charset="-122"/>
              </a:rPr>
              <a:t>X={x</a:t>
            </a:r>
            <a:r>
              <a:rPr lang="en-US" altLang="zh-CN" baseline="-25000" dirty="0">
                <a:latin typeface="华文楷体" panose="02010600040101010101" pitchFamily="2" charset="-122"/>
              </a:rPr>
              <a:t>1</a:t>
            </a:r>
            <a:r>
              <a:rPr lang="en-US" altLang="zh-CN" dirty="0">
                <a:latin typeface="华文楷体" panose="02010600040101010101" pitchFamily="2" charset="-122"/>
              </a:rPr>
              <a:t>,x</a:t>
            </a:r>
            <a:r>
              <a:rPr lang="en-US" altLang="zh-CN" baseline="-25000" dirty="0">
                <a:latin typeface="华文楷体" panose="02010600040101010101" pitchFamily="2" charset="-122"/>
              </a:rPr>
              <a:t>2</a:t>
            </a:r>
            <a:r>
              <a:rPr lang="en-US" altLang="zh-CN" dirty="0">
                <a:latin typeface="华文楷体" panose="02010600040101010101" pitchFamily="2" charset="-122"/>
              </a:rPr>
              <a:t>,</a:t>
            </a:r>
            <a:r>
              <a:rPr lang="en-US" altLang="zh-CN" dirty="0">
                <a:latin typeface="Arial" panose="020B0604020202020204" pitchFamily="34" charset="0"/>
              </a:rPr>
              <a:t>…</a:t>
            </a:r>
            <a:r>
              <a:rPr lang="en-US" altLang="zh-CN" dirty="0">
                <a:latin typeface="华文楷体" panose="02010600040101010101" pitchFamily="2" charset="-122"/>
              </a:rPr>
              <a:t>,x</a:t>
            </a:r>
            <a:r>
              <a:rPr lang="en-US" altLang="zh-CN" baseline="-25000" dirty="0">
                <a:latin typeface="华文楷体" panose="02010600040101010101" pitchFamily="2" charset="-122"/>
              </a:rPr>
              <a:t>m</a:t>
            </a:r>
            <a:r>
              <a:rPr lang="en-US" altLang="zh-CN" dirty="0">
                <a:latin typeface="华文楷体" panose="02010600040101010101" pitchFamily="2" charset="-122"/>
              </a:rPr>
              <a:t>}</a:t>
            </a:r>
            <a:r>
              <a:rPr lang="zh-CN" altLang="en-US" dirty="0">
                <a:latin typeface="华文楷体" panose="02010600040101010101" pitchFamily="2" charset="-122"/>
              </a:rPr>
              <a:t>，则另一序列</a:t>
            </a:r>
            <a:r>
              <a:rPr lang="en-US" altLang="zh-CN" dirty="0">
                <a:latin typeface="华文楷体" panose="02010600040101010101" pitchFamily="2" charset="-122"/>
              </a:rPr>
              <a:t>Z={z</a:t>
            </a:r>
            <a:r>
              <a:rPr lang="en-US" altLang="zh-CN" baseline="-25000" dirty="0">
                <a:latin typeface="华文楷体" panose="02010600040101010101" pitchFamily="2" charset="-122"/>
              </a:rPr>
              <a:t>1</a:t>
            </a:r>
            <a:r>
              <a:rPr lang="en-US" altLang="zh-CN" dirty="0">
                <a:latin typeface="华文楷体" panose="02010600040101010101" pitchFamily="2" charset="-122"/>
              </a:rPr>
              <a:t>,z</a:t>
            </a:r>
            <a:r>
              <a:rPr lang="en-US" altLang="zh-CN" baseline="-25000" dirty="0">
                <a:latin typeface="华文楷体" panose="02010600040101010101" pitchFamily="2" charset="-122"/>
              </a:rPr>
              <a:t>2</a:t>
            </a:r>
            <a:r>
              <a:rPr lang="en-US" altLang="zh-CN" dirty="0">
                <a:latin typeface="华文楷体" panose="02010600040101010101" pitchFamily="2" charset="-122"/>
              </a:rPr>
              <a:t>,</a:t>
            </a:r>
            <a:r>
              <a:rPr lang="en-US" altLang="zh-CN" dirty="0">
                <a:latin typeface="Arial" panose="020B0604020202020204" pitchFamily="34" charset="0"/>
              </a:rPr>
              <a:t>…</a:t>
            </a:r>
            <a:r>
              <a:rPr lang="en-US" altLang="zh-CN" dirty="0">
                <a:latin typeface="华文楷体" panose="02010600040101010101" pitchFamily="2" charset="-122"/>
              </a:rPr>
              <a:t>,z</a:t>
            </a:r>
            <a:r>
              <a:rPr lang="en-US" altLang="zh-CN" baseline="-25000" dirty="0">
                <a:latin typeface="华文楷体" panose="02010600040101010101" pitchFamily="2" charset="-122"/>
              </a:rPr>
              <a:t>k</a:t>
            </a:r>
            <a:r>
              <a:rPr lang="en-US" altLang="zh-CN" dirty="0">
                <a:latin typeface="华文楷体" panose="02010600040101010101" pitchFamily="2" charset="-122"/>
              </a:rPr>
              <a:t>}</a:t>
            </a:r>
            <a:r>
              <a:rPr lang="zh-CN" altLang="en-US" dirty="0">
                <a:latin typeface="华文楷体" panose="02010600040101010101" pitchFamily="2" charset="-122"/>
              </a:rPr>
              <a:t>，</a:t>
            </a:r>
            <a:r>
              <a:rPr lang="en-US" altLang="zh-CN" dirty="0">
                <a:latin typeface="华文楷体" panose="02010600040101010101" pitchFamily="2" charset="-122"/>
              </a:rPr>
              <a:t>Z</a:t>
            </a:r>
            <a:r>
              <a:rPr lang="zh-CN" altLang="en-US" dirty="0">
                <a:latin typeface="华文楷体" panose="02010600040101010101" pitchFamily="2" charset="-122"/>
              </a:rPr>
              <a:t>是</a:t>
            </a:r>
            <a:r>
              <a:rPr lang="en-US" altLang="zh-CN" dirty="0">
                <a:latin typeface="华文楷体" panose="02010600040101010101" pitchFamily="2" charset="-122"/>
              </a:rPr>
              <a:t>X</a:t>
            </a:r>
            <a:r>
              <a:rPr lang="zh-CN" altLang="en-US" dirty="0">
                <a:latin typeface="华文楷体" panose="02010600040101010101" pitchFamily="2" charset="-122"/>
              </a:rPr>
              <a:t>的</a:t>
            </a:r>
            <a:r>
              <a:rPr lang="zh-CN" altLang="en-US" dirty="0">
                <a:solidFill>
                  <a:srgbClr val="FF0000"/>
                </a:solidFill>
                <a:latin typeface="华文楷体" panose="02010600040101010101" pitchFamily="2" charset="-122"/>
              </a:rPr>
              <a:t>子序列</a:t>
            </a:r>
            <a:r>
              <a:rPr lang="zh-CN" altLang="en-US" dirty="0">
                <a:latin typeface="华文楷体" panose="02010600040101010101" pitchFamily="2" charset="-122"/>
              </a:rPr>
              <a:t>是指存在一个严格递增下标序列</a:t>
            </a:r>
            <a:r>
              <a:rPr lang="en-US" altLang="zh-CN" dirty="0">
                <a:latin typeface="华文楷体" panose="02010600040101010101" pitchFamily="2" charset="-122"/>
              </a:rPr>
              <a:t>{i</a:t>
            </a:r>
            <a:r>
              <a:rPr lang="en-US" altLang="zh-CN" baseline="-25000" dirty="0">
                <a:latin typeface="华文楷体" panose="02010600040101010101" pitchFamily="2" charset="-122"/>
              </a:rPr>
              <a:t>1</a:t>
            </a:r>
            <a:r>
              <a:rPr lang="en-US" altLang="zh-CN" dirty="0">
                <a:latin typeface="华文楷体" panose="02010600040101010101" pitchFamily="2" charset="-122"/>
              </a:rPr>
              <a:t>,i</a:t>
            </a:r>
            <a:r>
              <a:rPr lang="en-US" altLang="zh-CN" baseline="-25000" dirty="0">
                <a:latin typeface="华文楷体" panose="02010600040101010101" pitchFamily="2" charset="-122"/>
              </a:rPr>
              <a:t>2</a:t>
            </a:r>
            <a:r>
              <a:rPr lang="en-US" altLang="zh-CN" dirty="0">
                <a:latin typeface="华文楷体" panose="02010600040101010101" pitchFamily="2" charset="-122"/>
              </a:rPr>
              <a:t>,</a:t>
            </a:r>
            <a:r>
              <a:rPr lang="en-US" altLang="zh-CN" dirty="0">
                <a:latin typeface="Arial" panose="020B0604020202020204" pitchFamily="34" charset="0"/>
              </a:rPr>
              <a:t>…</a:t>
            </a:r>
            <a:r>
              <a:rPr lang="en-US" altLang="zh-CN" dirty="0">
                <a:latin typeface="华文楷体" panose="02010600040101010101" pitchFamily="2" charset="-122"/>
              </a:rPr>
              <a:t>,i</a:t>
            </a:r>
            <a:r>
              <a:rPr lang="en-US" altLang="zh-CN" baseline="-25000" dirty="0">
                <a:latin typeface="华文楷体" panose="02010600040101010101" pitchFamily="2" charset="-122"/>
              </a:rPr>
              <a:t>k</a:t>
            </a:r>
            <a:r>
              <a:rPr lang="en-US" altLang="zh-CN" dirty="0">
                <a:latin typeface="华文楷体" panose="02010600040101010101" pitchFamily="2" charset="-122"/>
              </a:rPr>
              <a:t>}</a:t>
            </a:r>
            <a:r>
              <a:rPr lang="zh-CN" altLang="en-US" dirty="0">
                <a:latin typeface="华文楷体" panose="02010600040101010101" pitchFamily="2" charset="-122"/>
              </a:rPr>
              <a:t>使得对于所有</a:t>
            </a:r>
            <a:r>
              <a:rPr lang="en-US" altLang="zh-CN" dirty="0">
                <a:latin typeface="华文楷体" panose="02010600040101010101" pitchFamily="2" charset="-122"/>
              </a:rPr>
              <a:t>j=1,2,</a:t>
            </a:r>
            <a:r>
              <a:rPr lang="en-US" altLang="zh-CN" dirty="0">
                <a:latin typeface="Arial" panose="020B0604020202020204" pitchFamily="34" charset="0"/>
              </a:rPr>
              <a:t>…</a:t>
            </a:r>
            <a:r>
              <a:rPr lang="en-US" altLang="zh-CN" dirty="0">
                <a:latin typeface="华文楷体" panose="02010600040101010101" pitchFamily="2" charset="-122"/>
              </a:rPr>
              <a:t>,k</a:t>
            </a:r>
            <a:r>
              <a:rPr lang="zh-CN" altLang="en-US" dirty="0">
                <a:latin typeface="华文楷体" panose="02010600040101010101" pitchFamily="2" charset="-122"/>
              </a:rPr>
              <a:t>有：</a:t>
            </a:r>
            <a:r>
              <a:rPr lang="en-US" altLang="zh-CN" dirty="0">
                <a:latin typeface="华文楷体" panose="02010600040101010101" pitchFamily="2" charset="-122"/>
              </a:rPr>
              <a:t>z</a:t>
            </a:r>
            <a:r>
              <a:rPr lang="en-US" altLang="zh-CN" baseline="-25000" dirty="0">
                <a:latin typeface="华文楷体" panose="02010600040101010101" pitchFamily="2" charset="-122"/>
              </a:rPr>
              <a:t>j</a:t>
            </a:r>
            <a:r>
              <a:rPr lang="en-US" altLang="zh-CN" dirty="0">
                <a:latin typeface="华文楷体" panose="02010600040101010101" pitchFamily="2" charset="-122"/>
              </a:rPr>
              <a:t>=x</a:t>
            </a:r>
            <a:r>
              <a:rPr lang="en-US" altLang="zh-CN" baseline="-25000" dirty="0">
                <a:latin typeface="华文楷体" panose="02010600040101010101" pitchFamily="2" charset="-122"/>
              </a:rPr>
              <a:t>i</a:t>
            </a:r>
            <a:r>
              <a:rPr lang="en-US" altLang="zh-CN" baseline="-50000" dirty="0">
                <a:latin typeface="华文楷体" panose="02010600040101010101" pitchFamily="2" charset="-122"/>
              </a:rPr>
              <a:t>j</a:t>
            </a:r>
            <a:r>
              <a:rPr lang="zh-CN" altLang="en-US" dirty="0">
                <a:latin typeface="华文楷体" panose="02010600040101010101" pitchFamily="2" charset="-122"/>
              </a:rPr>
              <a:t>。</a:t>
            </a:r>
            <a:endParaRPr lang="en-US" altLang="zh-CN" dirty="0">
              <a:latin typeface="华文楷体" panose="02010600040101010101" pitchFamily="2" charset="-122"/>
            </a:endParaRPr>
          </a:p>
          <a:p>
            <a:pPr>
              <a:spcBef>
                <a:spcPct val="50000"/>
              </a:spcBef>
              <a:buClr>
                <a:schemeClr val="accent2"/>
              </a:buClr>
              <a:buSzPct val="75000"/>
            </a:pPr>
            <a:r>
              <a:rPr lang="zh-CN" altLang="en-US" dirty="0">
                <a:latin typeface="华文楷体" panose="02010600040101010101" pitchFamily="2" charset="-122"/>
              </a:rPr>
              <a:t>例如，序列</a:t>
            </a:r>
            <a:r>
              <a:rPr lang="en-US" altLang="zh-CN" dirty="0">
                <a:latin typeface="华文楷体" panose="02010600040101010101" pitchFamily="2" charset="-122"/>
              </a:rPr>
              <a:t>Z={B</a:t>
            </a:r>
            <a:r>
              <a:rPr lang="zh-CN" altLang="en-US" dirty="0">
                <a:latin typeface="华文楷体" panose="02010600040101010101" pitchFamily="2" charset="-122"/>
              </a:rPr>
              <a:t>，</a:t>
            </a:r>
            <a:r>
              <a:rPr lang="en-US" altLang="zh-CN" dirty="0">
                <a:latin typeface="华文楷体" panose="02010600040101010101" pitchFamily="2" charset="-122"/>
              </a:rPr>
              <a:t>C</a:t>
            </a:r>
            <a:r>
              <a:rPr lang="zh-CN" altLang="en-US" dirty="0">
                <a:latin typeface="华文楷体" panose="02010600040101010101" pitchFamily="2" charset="-122"/>
              </a:rPr>
              <a:t>，</a:t>
            </a:r>
            <a:r>
              <a:rPr lang="en-US" altLang="zh-CN" dirty="0">
                <a:latin typeface="华文楷体" panose="02010600040101010101" pitchFamily="2" charset="-122"/>
              </a:rPr>
              <a:t>D</a:t>
            </a:r>
            <a:r>
              <a:rPr lang="zh-CN" altLang="en-US" dirty="0">
                <a:latin typeface="华文楷体" panose="02010600040101010101" pitchFamily="2" charset="-122"/>
              </a:rPr>
              <a:t>，</a:t>
            </a:r>
            <a:r>
              <a:rPr lang="en-US" altLang="zh-CN" dirty="0">
                <a:latin typeface="华文楷体" panose="02010600040101010101" pitchFamily="2" charset="-122"/>
              </a:rPr>
              <a:t>B}</a:t>
            </a:r>
            <a:r>
              <a:rPr lang="zh-CN" altLang="en-US" dirty="0">
                <a:latin typeface="华文楷体" panose="02010600040101010101" pitchFamily="2" charset="-122"/>
              </a:rPr>
              <a:t>是序列</a:t>
            </a:r>
            <a:r>
              <a:rPr lang="en-US" altLang="zh-CN" dirty="0">
                <a:latin typeface="华文楷体" panose="02010600040101010101" pitchFamily="2" charset="-122"/>
              </a:rPr>
              <a:t>X={A</a:t>
            </a:r>
            <a:r>
              <a:rPr lang="zh-CN" altLang="en-US" dirty="0">
                <a:latin typeface="华文楷体" panose="02010600040101010101" pitchFamily="2" charset="-122"/>
              </a:rPr>
              <a:t>，</a:t>
            </a:r>
            <a:r>
              <a:rPr lang="en-US" altLang="zh-CN" dirty="0">
                <a:latin typeface="华文楷体" panose="02010600040101010101" pitchFamily="2" charset="-122"/>
              </a:rPr>
              <a:t>B</a:t>
            </a:r>
            <a:r>
              <a:rPr lang="zh-CN" altLang="en-US" dirty="0">
                <a:latin typeface="华文楷体" panose="02010600040101010101" pitchFamily="2" charset="-122"/>
              </a:rPr>
              <a:t>，</a:t>
            </a:r>
            <a:r>
              <a:rPr lang="en-US" altLang="zh-CN" dirty="0">
                <a:latin typeface="华文楷体" panose="02010600040101010101" pitchFamily="2" charset="-122"/>
              </a:rPr>
              <a:t>C</a:t>
            </a:r>
            <a:r>
              <a:rPr lang="zh-CN" altLang="en-US" dirty="0">
                <a:latin typeface="华文楷体" panose="02010600040101010101" pitchFamily="2" charset="-122"/>
              </a:rPr>
              <a:t>，</a:t>
            </a:r>
            <a:r>
              <a:rPr lang="en-US" altLang="zh-CN" dirty="0">
                <a:latin typeface="华文楷体" panose="02010600040101010101" pitchFamily="2" charset="-122"/>
              </a:rPr>
              <a:t>B</a:t>
            </a:r>
            <a:r>
              <a:rPr lang="zh-CN" altLang="en-US" dirty="0">
                <a:latin typeface="华文楷体" panose="02010600040101010101" pitchFamily="2" charset="-122"/>
              </a:rPr>
              <a:t>，</a:t>
            </a:r>
            <a:r>
              <a:rPr lang="en-US" altLang="zh-CN" dirty="0">
                <a:latin typeface="华文楷体" panose="02010600040101010101" pitchFamily="2" charset="-122"/>
              </a:rPr>
              <a:t>D</a:t>
            </a:r>
            <a:r>
              <a:rPr lang="zh-CN" altLang="en-US" dirty="0">
                <a:latin typeface="华文楷体" panose="02010600040101010101" pitchFamily="2" charset="-122"/>
              </a:rPr>
              <a:t>，</a:t>
            </a:r>
            <a:r>
              <a:rPr lang="en-US" altLang="zh-CN" dirty="0">
                <a:latin typeface="华文楷体" panose="02010600040101010101" pitchFamily="2" charset="-122"/>
              </a:rPr>
              <a:t>A</a:t>
            </a:r>
            <a:r>
              <a:rPr lang="zh-CN" altLang="en-US" dirty="0">
                <a:latin typeface="华文楷体" panose="02010600040101010101" pitchFamily="2" charset="-122"/>
              </a:rPr>
              <a:t>，</a:t>
            </a:r>
            <a:r>
              <a:rPr lang="en-US" altLang="zh-CN" dirty="0">
                <a:latin typeface="华文楷体" panose="02010600040101010101" pitchFamily="2" charset="-122"/>
              </a:rPr>
              <a:t>B}</a:t>
            </a:r>
            <a:r>
              <a:rPr lang="zh-CN" altLang="en-US" dirty="0">
                <a:latin typeface="华文楷体" panose="02010600040101010101" pitchFamily="2" charset="-122"/>
              </a:rPr>
              <a:t>的子序列，相应的递增下标序列为</a:t>
            </a:r>
            <a:r>
              <a:rPr lang="en-US" altLang="zh-CN" dirty="0">
                <a:latin typeface="华文楷体" panose="02010600040101010101" pitchFamily="2" charset="-122"/>
              </a:rPr>
              <a:t>{2</a:t>
            </a:r>
            <a:r>
              <a:rPr lang="zh-CN" altLang="en-US" dirty="0">
                <a:latin typeface="华文楷体" panose="02010600040101010101" pitchFamily="2" charset="-122"/>
              </a:rPr>
              <a:t>，</a:t>
            </a:r>
            <a:r>
              <a:rPr lang="en-US" altLang="zh-CN" dirty="0">
                <a:latin typeface="华文楷体" panose="02010600040101010101" pitchFamily="2" charset="-122"/>
              </a:rPr>
              <a:t>3</a:t>
            </a:r>
            <a:r>
              <a:rPr lang="zh-CN" altLang="en-US" dirty="0">
                <a:latin typeface="华文楷体" panose="02010600040101010101" pitchFamily="2" charset="-122"/>
              </a:rPr>
              <a:t>，</a:t>
            </a:r>
            <a:r>
              <a:rPr lang="en-US" altLang="zh-CN" dirty="0">
                <a:latin typeface="华文楷体" panose="02010600040101010101" pitchFamily="2" charset="-122"/>
              </a:rPr>
              <a:t>5</a:t>
            </a:r>
            <a:r>
              <a:rPr lang="zh-CN" altLang="en-US" dirty="0">
                <a:latin typeface="华文楷体" panose="02010600040101010101" pitchFamily="2" charset="-122"/>
              </a:rPr>
              <a:t>，</a:t>
            </a:r>
            <a:r>
              <a:rPr lang="en-US" altLang="zh-CN" dirty="0">
                <a:latin typeface="华文楷体" panose="02010600040101010101" pitchFamily="2" charset="-122"/>
              </a:rPr>
              <a:t>7}</a:t>
            </a:r>
            <a:r>
              <a:rPr lang="zh-CN" altLang="en-US" dirty="0">
                <a:latin typeface="华文楷体" panose="02010600040101010101" pitchFamily="2" charset="-122"/>
              </a:rPr>
              <a:t>。</a:t>
            </a:r>
          </a:p>
          <a:p>
            <a:pPr>
              <a:spcBef>
                <a:spcPct val="50000"/>
              </a:spcBef>
              <a:buClr>
                <a:schemeClr val="accent2"/>
              </a:buClr>
              <a:buSzPct val="75000"/>
            </a:pPr>
            <a:r>
              <a:rPr lang="zh-CN" altLang="en-US" dirty="0">
                <a:latin typeface="华文楷体" panose="02010600040101010101" pitchFamily="2" charset="-122"/>
              </a:rPr>
              <a:t>给定</a:t>
            </a:r>
            <a:r>
              <a:rPr lang="en-US" altLang="zh-CN" dirty="0">
                <a:latin typeface="华文楷体" panose="02010600040101010101" pitchFamily="2" charset="-122"/>
              </a:rPr>
              <a:t>2</a:t>
            </a:r>
            <a:r>
              <a:rPr lang="zh-CN" altLang="en-US" dirty="0">
                <a:latin typeface="华文楷体" panose="02010600040101010101" pitchFamily="2" charset="-122"/>
              </a:rPr>
              <a:t>个序列</a:t>
            </a:r>
            <a:r>
              <a:rPr lang="en-US" altLang="zh-CN" dirty="0">
                <a:latin typeface="华文楷体" panose="02010600040101010101" pitchFamily="2" charset="-122"/>
              </a:rPr>
              <a:t>X</a:t>
            </a:r>
            <a:r>
              <a:rPr lang="zh-CN" altLang="en-US" dirty="0">
                <a:latin typeface="华文楷体" panose="02010600040101010101" pitchFamily="2" charset="-122"/>
              </a:rPr>
              <a:t>和</a:t>
            </a:r>
            <a:r>
              <a:rPr lang="en-US" altLang="zh-CN" dirty="0">
                <a:latin typeface="华文楷体" panose="02010600040101010101" pitchFamily="2" charset="-122"/>
              </a:rPr>
              <a:t>Y</a:t>
            </a:r>
            <a:r>
              <a:rPr lang="zh-CN" altLang="en-US" dirty="0">
                <a:latin typeface="华文楷体" panose="02010600040101010101" pitchFamily="2" charset="-122"/>
              </a:rPr>
              <a:t>，当另一序列</a:t>
            </a:r>
            <a:r>
              <a:rPr lang="en-US" altLang="zh-CN" dirty="0">
                <a:latin typeface="华文楷体" panose="02010600040101010101" pitchFamily="2" charset="-122"/>
              </a:rPr>
              <a:t>Z</a:t>
            </a:r>
            <a:r>
              <a:rPr lang="zh-CN" altLang="en-US" dirty="0">
                <a:latin typeface="华文楷体" panose="02010600040101010101" pitchFamily="2" charset="-122"/>
              </a:rPr>
              <a:t>既是</a:t>
            </a:r>
            <a:r>
              <a:rPr lang="en-US" altLang="zh-CN" dirty="0">
                <a:latin typeface="华文楷体" panose="02010600040101010101" pitchFamily="2" charset="-122"/>
              </a:rPr>
              <a:t>X</a:t>
            </a:r>
            <a:r>
              <a:rPr lang="zh-CN" altLang="en-US" dirty="0">
                <a:latin typeface="华文楷体" panose="02010600040101010101" pitchFamily="2" charset="-122"/>
              </a:rPr>
              <a:t>的子序列又是</a:t>
            </a:r>
            <a:r>
              <a:rPr lang="en-US" altLang="zh-CN" dirty="0">
                <a:latin typeface="华文楷体" panose="02010600040101010101" pitchFamily="2" charset="-122"/>
              </a:rPr>
              <a:t>Y</a:t>
            </a:r>
            <a:r>
              <a:rPr lang="zh-CN" altLang="en-US" dirty="0">
                <a:latin typeface="华文楷体" panose="02010600040101010101" pitchFamily="2" charset="-122"/>
              </a:rPr>
              <a:t>的子序列时，称</a:t>
            </a:r>
            <a:r>
              <a:rPr lang="en-US" altLang="zh-CN" dirty="0">
                <a:latin typeface="华文楷体" panose="02010600040101010101" pitchFamily="2" charset="-122"/>
              </a:rPr>
              <a:t>Z</a:t>
            </a:r>
            <a:r>
              <a:rPr lang="zh-CN" altLang="en-US" dirty="0">
                <a:latin typeface="华文楷体" panose="02010600040101010101" pitchFamily="2" charset="-122"/>
              </a:rPr>
              <a:t>是序列</a:t>
            </a:r>
            <a:r>
              <a:rPr lang="en-US" altLang="zh-CN" dirty="0">
                <a:latin typeface="华文楷体" panose="02010600040101010101" pitchFamily="2" charset="-122"/>
              </a:rPr>
              <a:t>X</a:t>
            </a:r>
            <a:r>
              <a:rPr lang="zh-CN" altLang="en-US" dirty="0">
                <a:latin typeface="华文楷体" panose="02010600040101010101" pitchFamily="2" charset="-122"/>
              </a:rPr>
              <a:t>和</a:t>
            </a:r>
            <a:r>
              <a:rPr lang="en-US" altLang="zh-CN" dirty="0">
                <a:latin typeface="华文楷体" panose="02010600040101010101" pitchFamily="2" charset="-122"/>
              </a:rPr>
              <a:t>Y</a:t>
            </a:r>
            <a:r>
              <a:rPr lang="zh-CN" altLang="en-US" dirty="0">
                <a:latin typeface="华文楷体" panose="02010600040101010101" pitchFamily="2" charset="-122"/>
              </a:rPr>
              <a:t>的</a:t>
            </a:r>
            <a:r>
              <a:rPr lang="zh-CN" altLang="en-US" dirty="0">
                <a:solidFill>
                  <a:srgbClr val="FF0000"/>
                </a:solidFill>
                <a:latin typeface="华文楷体" panose="02010600040101010101" pitchFamily="2" charset="-122"/>
              </a:rPr>
              <a:t>公共子序列</a:t>
            </a:r>
            <a:r>
              <a:rPr lang="zh-CN" altLang="en-US" dirty="0">
                <a:latin typeface="华文楷体" panose="02010600040101010101" pitchFamily="2" charset="-122"/>
              </a:rPr>
              <a:t>。</a:t>
            </a:r>
          </a:p>
          <a:p>
            <a:pPr>
              <a:spcBef>
                <a:spcPct val="50000"/>
              </a:spcBef>
              <a:buClr>
                <a:schemeClr val="accent2"/>
              </a:buClr>
              <a:buSzPct val="75000"/>
            </a:pPr>
            <a:r>
              <a:rPr lang="zh-CN" altLang="en-US" dirty="0">
                <a:latin typeface="华文楷体" panose="02010600040101010101" pitchFamily="2" charset="-122"/>
              </a:rPr>
              <a:t>给定</a:t>
            </a:r>
            <a:r>
              <a:rPr lang="en-US" altLang="zh-CN" dirty="0">
                <a:latin typeface="华文楷体" panose="02010600040101010101" pitchFamily="2" charset="-122"/>
              </a:rPr>
              <a:t>2</a:t>
            </a:r>
            <a:r>
              <a:rPr lang="zh-CN" altLang="en-US" dirty="0">
                <a:latin typeface="华文楷体" panose="02010600040101010101" pitchFamily="2" charset="-122"/>
              </a:rPr>
              <a:t>个序列</a:t>
            </a:r>
            <a:r>
              <a:rPr lang="en-US" altLang="zh-CN" dirty="0">
                <a:latin typeface="华文楷体" panose="02010600040101010101" pitchFamily="2" charset="-122"/>
              </a:rPr>
              <a:t>X={x</a:t>
            </a:r>
            <a:r>
              <a:rPr lang="en-US" altLang="zh-CN" baseline="-25000" dirty="0">
                <a:latin typeface="华文楷体" panose="02010600040101010101" pitchFamily="2" charset="-122"/>
              </a:rPr>
              <a:t>1</a:t>
            </a:r>
            <a:r>
              <a:rPr lang="en-US" altLang="zh-CN" dirty="0">
                <a:latin typeface="华文楷体" panose="02010600040101010101" pitchFamily="2" charset="-122"/>
              </a:rPr>
              <a:t>,x</a:t>
            </a:r>
            <a:r>
              <a:rPr lang="en-US" altLang="zh-CN" baseline="-25000" dirty="0">
                <a:latin typeface="华文楷体" panose="02010600040101010101" pitchFamily="2" charset="-122"/>
              </a:rPr>
              <a:t>2</a:t>
            </a:r>
            <a:r>
              <a:rPr lang="en-US" altLang="zh-CN" dirty="0">
                <a:latin typeface="华文楷体" panose="02010600040101010101" pitchFamily="2" charset="-122"/>
              </a:rPr>
              <a:t>,</a:t>
            </a:r>
            <a:r>
              <a:rPr lang="en-US" altLang="zh-CN" dirty="0">
                <a:latin typeface="Arial" panose="020B0604020202020204" pitchFamily="34" charset="0"/>
              </a:rPr>
              <a:t>…</a:t>
            </a:r>
            <a:r>
              <a:rPr lang="en-US" altLang="zh-CN" dirty="0">
                <a:latin typeface="华文楷体" panose="02010600040101010101" pitchFamily="2" charset="-122"/>
              </a:rPr>
              <a:t>,x</a:t>
            </a:r>
            <a:r>
              <a:rPr lang="en-US" altLang="zh-CN" baseline="-25000" dirty="0">
                <a:latin typeface="华文楷体" panose="02010600040101010101" pitchFamily="2" charset="-122"/>
              </a:rPr>
              <a:t>m</a:t>
            </a:r>
            <a:r>
              <a:rPr lang="en-US" altLang="zh-CN" dirty="0">
                <a:latin typeface="华文楷体" panose="02010600040101010101" pitchFamily="2" charset="-122"/>
              </a:rPr>
              <a:t>}</a:t>
            </a:r>
            <a:r>
              <a:rPr lang="zh-CN" altLang="en-US" dirty="0">
                <a:latin typeface="华文楷体" panose="02010600040101010101" pitchFamily="2" charset="-122"/>
              </a:rPr>
              <a:t>和</a:t>
            </a:r>
            <a:r>
              <a:rPr lang="en-US" altLang="zh-CN" dirty="0">
                <a:latin typeface="华文楷体" panose="02010600040101010101" pitchFamily="2" charset="-122"/>
              </a:rPr>
              <a:t>Y={y</a:t>
            </a:r>
            <a:r>
              <a:rPr lang="en-US" altLang="zh-CN" baseline="-25000" dirty="0">
                <a:latin typeface="华文楷体" panose="02010600040101010101" pitchFamily="2" charset="-122"/>
              </a:rPr>
              <a:t>1</a:t>
            </a:r>
            <a:r>
              <a:rPr lang="en-US" altLang="zh-CN" dirty="0">
                <a:latin typeface="华文楷体" panose="02010600040101010101" pitchFamily="2" charset="-122"/>
              </a:rPr>
              <a:t>,y</a:t>
            </a:r>
            <a:r>
              <a:rPr lang="en-US" altLang="zh-CN" baseline="-25000" dirty="0">
                <a:latin typeface="华文楷体" panose="02010600040101010101" pitchFamily="2" charset="-122"/>
              </a:rPr>
              <a:t>2</a:t>
            </a:r>
            <a:r>
              <a:rPr lang="en-US" altLang="zh-CN" dirty="0">
                <a:latin typeface="华文楷体" panose="02010600040101010101" pitchFamily="2" charset="-122"/>
              </a:rPr>
              <a:t>,</a:t>
            </a:r>
            <a:r>
              <a:rPr lang="en-US" altLang="zh-CN" dirty="0">
                <a:latin typeface="Arial" panose="020B0604020202020204" pitchFamily="34" charset="0"/>
              </a:rPr>
              <a:t>…</a:t>
            </a:r>
            <a:r>
              <a:rPr lang="en-US" altLang="zh-CN" dirty="0">
                <a:latin typeface="华文楷体" panose="02010600040101010101" pitchFamily="2" charset="-122"/>
              </a:rPr>
              <a:t>,y</a:t>
            </a:r>
            <a:r>
              <a:rPr lang="en-US" altLang="zh-CN" baseline="-25000" dirty="0">
                <a:latin typeface="华文楷体" panose="02010600040101010101" pitchFamily="2" charset="-122"/>
              </a:rPr>
              <a:t>n</a:t>
            </a:r>
            <a:r>
              <a:rPr lang="en-US" altLang="zh-CN" dirty="0">
                <a:latin typeface="华文楷体" panose="02010600040101010101" pitchFamily="2" charset="-122"/>
              </a:rPr>
              <a:t>}</a:t>
            </a:r>
            <a:r>
              <a:rPr lang="zh-CN" altLang="en-US" dirty="0">
                <a:latin typeface="华文楷体" panose="02010600040101010101" pitchFamily="2" charset="-122"/>
              </a:rPr>
              <a:t>，找出</a:t>
            </a:r>
            <a:r>
              <a:rPr lang="en-US" altLang="zh-CN" dirty="0">
                <a:latin typeface="华文楷体" panose="02010600040101010101" pitchFamily="2" charset="-122"/>
              </a:rPr>
              <a:t>X</a:t>
            </a:r>
            <a:r>
              <a:rPr lang="zh-CN" altLang="en-US" dirty="0">
                <a:latin typeface="华文楷体" panose="02010600040101010101" pitchFamily="2" charset="-122"/>
              </a:rPr>
              <a:t>和</a:t>
            </a:r>
            <a:r>
              <a:rPr lang="en-US" altLang="zh-CN" dirty="0">
                <a:latin typeface="华文楷体" panose="02010600040101010101" pitchFamily="2" charset="-122"/>
              </a:rPr>
              <a:t>Y</a:t>
            </a:r>
            <a:r>
              <a:rPr lang="zh-CN" altLang="en-US" dirty="0">
                <a:latin typeface="华文楷体" panose="02010600040101010101" pitchFamily="2" charset="-122"/>
              </a:rPr>
              <a:t>的</a:t>
            </a:r>
            <a:r>
              <a:rPr lang="zh-CN" altLang="en-US" dirty="0">
                <a:solidFill>
                  <a:srgbClr val="FF0000"/>
                </a:solidFill>
                <a:latin typeface="华文楷体" panose="02010600040101010101" pitchFamily="2" charset="-122"/>
              </a:rPr>
              <a:t>最长公共子序列</a:t>
            </a:r>
            <a:r>
              <a:rPr lang="zh-CN" altLang="en-US" dirty="0">
                <a:latin typeface="华文楷体" panose="02010600040101010101" pitchFamily="2" charset="-122"/>
              </a:rPr>
              <a:t>。 </a:t>
            </a:r>
          </a:p>
        </p:txBody>
      </p:sp>
      <p:sp>
        <p:nvSpPr>
          <p:cNvPr id="2" name="Rectangle 2">
            <a:extLst>
              <a:ext uri="{FF2B5EF4-FFF2-40B4-BE49-F238E27FC236}">
                <a16:creationId xmlns:a16="http://schemas.microsoft.com/office/drawing/2014/main" id="{1BAB9E95-DB4E-4C90-E0D2-AE827D54DE4E}"/>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kern="0" dirty="0">
                <a:latin typeface="+mj-ea"/>
                <a:sym typeface="+mn-ea"/>
              </a:rPr>
              <a:t>最长公共子序列</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anim calcmode="lin" valueType="num">
                                      <p:cBhvr additive="base">
                                        <p:cTn id="7" dur="500" fill="hold"/>
                                        <p:tgtEl>
                                          <p:spTgt spid="225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2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283">
                                            <p:txEl>
                                              <p:pRg st="1" end="1"/>
                                            </p:txEl>
                                          </p:spTgt>
                                        </p:tgtEl>
                                        <p:attrNameLst>
                                          <p:attrName>style.visibility</p:attrName>
                                        </p:attrNameLst>
                                      </p:cBhvr>
                                      <p:to>
                                        <p:strVal val="visible"/>
                                      </p:to>
                                    </p:set>
                                    <p:anim calcmode="lin" valueType="num">
                                      <p:cBhvr additive="base">
                                        <p:cTn id="13" dur="500" fill="hold"/>
                                        <p:tgtEl>
                                          <p:spTgt spid="2252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2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283">
                                            <p:txEl>
                                              <p:pRg st="2" end="2"/>
                                            </p:txEl>
                                          </p:spTgt>
                                        </p:tgtEl>
                                        <p:attrNameLst>
                                          <p:attrName>style.visibility</p:attrName>
                                        </p:attrNameLst>
                                      </p:cBhvr>
                                      <p:to>
                                        <p:strVal val="visible"/>
                                      </p:to>
                                    </p:set>
                                    <p:anim calcmode="lin" valueType="num">
                                      <p:cBhvr additive="base">
                                        <p:cTn id="19" dur="500" fill="hold"/>
                                        <p:tgtEl>
                                          <p:spTgt spid="2252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2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5283">
                                            <p:txEl>
                                              <p:pRg st="3" end="3"/>
                                            </p:txEl>
                                          </p:spTgt>
                                        </p:tgtEl>
                                        <p:attrNameLst>
                                          <p:attrName>style.visibility</p:attrName>
                                        </p:attrNameLst>
                                      </p:cBhvr>
                                      <p:to>
                                        <p:strVal val="visible"/>
                                      </p:to>
                                    </p:set>
                                    <p:anim calcmode="lin" valueType="num">
                                      <p:cBhvr additive="base">
                                        <p:cTn id="25" dur="500" fill="hold"/>
                                        <p:tgtEl>
                                          <p:spTgt spid="2252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28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573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573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24</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27331" name="Rectangle 3"/>
          <p:cNvSpPr>
            <a:spLocks noGrp="1"/>
          </p:cNvSpPr>
          <p:nvPr>
            <p:ph idx="1"/>
          </p:nvPr>
        </p:nvSpPr>
        <p:spPr>
          <a:xfrm>
            <a:off x="899592" y="1340768"/>
            <a:ext cx="7786687" cy="3529013"/>
          </a:xfrm>
        </p:spPr>
        <p:txBody>
          <a:bodyPr vert="horz" wrap="square" lIns="91440" tIns="45720" rIns="91440" bIns="45720" anchor="t" anchorCtr="0"/>
          <a:lstStyle/>
          <a:p>
            <a:pPr eaLnBrk="1" hangingPunct="1">
              <a:lnSpc>
                <a:spcPct val="80000"/>
              </a:lnSpc>
            </a:pPr>
            <a:r>
              <a:rPr lang="zh-CN" altLang="en-US" dirty="0"/>
              <a:t>在</a:t>
            </a:r>
            <a:r>
              <a:rPr lang="zh-CN" altLang="en-US" dirty="0">
                <a:solidFill>
                  <a:srgbClr val="FF0000"/>
                </a:solidFill>
              </a:rPr>
              <a:t>字母表</a:t>
            </a:r>
            <a:r>
              <a:rPr lang="en-US" altLang="zh-CN" dirty="0">
                <a:solidFill>
                  <a:srgbClr val="FF0000"/>
                </a:solidFill>
              </a:rPr>
              <a:t>E</a:t>
            </a:r>
            <a:r>
              <a:rPr lang="zh-CN" altLang="en-US" dirty="0"/>
              <a:t>上，分别给出两个长度为</a:t>
            </a:r>
            <a:r>
              <a:rPr lang="en-US" altLang="zh-CN" dirty="0"/>
              <a:t>n</a:t>
            </a:r>
            <a:r>
              <a:rPr lang="zh-CN" altLang="en-US" dirty="0"/>
              <a:t>和</a:t>
            </a:r>
            <a:r>
              <a:rPr lang="en-US" altLang="zh-CN" dirty="0"/>
              <a:t>m</a:t>
            </a:r>
            <a:r>
              <a:rPr lang="zh-CN" altLang="en-US" dirty="0"/>
              <a:t>的字符串</a:t>
            </a:r>
            <a:r>
              <a:rPr lang="en-US" altLang="zh-CN" dirty="0"/>
              <a:t>A</a:t>
            </a:r>
            <a:r>
              <a:rPr lang="zh-CN" altLang="en-US" dirty="0"/>
              <a:t>和</a:t>
            </a:r>
            <a:r>
              <a:rPr lang="en-US" altLang="zh-CN" dirty="0"/>
              <a:t>B</a:t>
            </a:r>
            <a:r>
              <a:rPr lang="zh-CN" altLang="en-US" dirty="0"/>
              <a:t>，确定在</a:t>
            </a:r>
            <a:r>
              <a:rPr lang="en-US" altLang="zh-CN" dirty="0"/>
              <a:t>A</a:t>
            </a:r>
            <a:r>
              <a:rPr lang="zh-CN" altLang="en-US" dirty="0"/>
              <a:t>和</a:t>
            </a:r>
            <a:r>
              <a:rPr lang="en-US" altLang="zh-CN" dirty="0"/>
              <a:t>B</a:t>
            </a:r>
            <a:r>
              <a:rPr lang="zh-CN" altLang="en-US" dirty="0"/>
              <a:t>中最长公共子序列的长度。</a:t>
            </a:r>
            <a:endParaRPr lang="en-US" altLang="zh-CN" dirty="0"/>
          </a:p>
          <a:p>
            <a:pPr eaLnBrk="1" hangingPunct="1">
              <a:lnSpc>
                <a:spcPct val="80000"/>
              </a:lnSpc>
            </a:pPr>
            <a:endParaRPr lang="en-US" altLang="zh-CN" dirty="0"/>
          </a:p>
          <a:p>
            <a:pPr eaLnBrk="1" hangingPunct="1">
              <a:lnSpc>
                <a:spcPct val="80000"/>
              </a:lnSpc>
            </a:pPr>
            <a:r>
              <a:rPr lang="zh-CN" altLang="en-US" dirty="0"/>
              <a:t>如果∑</a:t>
            </a:r>
            <a:r>
              <a:rPr lang="en-US" altLang="zh-CN" dirty="0"/>
              <a:t>={x</a:t>
            </a:r>
            <a:r>
              <a:rPr lang="zh-CN" altLang="en-US" dirty="0"/>
              <a:t>，</a:t>
            </a:r>
            <a:r>
              <a:rPr lang="en-US" altLang="zh-CN" dirty="0"/>
              <a:t>y</a:t>
            </a:r>
            <a:r>
              <a:rPr lang="zh-CN" altLang="en-US" dirty="0"/>
              <a:t>，</a:t>
            </a:r>
            <a:r>
              <a:rPr lang="en-US" altLang="zh-CN" dirty="0"/>
              <a:t>z}</a:t>
            </a:r>
            <a:r>
              <a:rPr lang="zh-CN" altLang="en-US" dirty="0"/>
              <a:t>，</a:t>
            </a:r>
            <a:r>
              <a:rPr lang="en-US" altLang="zh-CN" dirty="0"/>
              <a:t>A=zxyxyz</a:t>
            </a:r>
            <a:r>
              <a:rPr lang="zh-CN" altLang="en-US" dirty="0"/>
              <a:t>和</a:t>
            </a:r>
            <a:r>
              <a:rPr lang="en-US" altLang="zh-CN" dirty="0"/>
              <a:t>B=xyyzx</a:t>
            </a:r>
            <a:r>
              <a:rPr lang="zh-CN" altLang="en-US" dirty="0"/>
              <a:t>，那么</a:t>
            </a:r>
            <a:r>
              <a:rPr lang="en-US" altLang="zh-CN" dirty="0"/>
              <a:t>xyy</a:t>
            </a:r>
            <a:r>
              <a:rPr lang="zh-CN" altLang="en-US" dirty="0"/>
              <a:t>同时是</a:t>
            </a:r>
            <a:r>
              <a:rPr lang="en-US" altLang="zh-CN" dirty="0"/>
              <a:t>A</a:t>
            </a:r>
            <a:r>
              <a:rPr lang="zh-CN" altLang="en-US" dirty="0"/>
              <a:t>和</a:t>
            </a:r>
            <a:r>
              <a:rPr lang="en-US" altLang="zh-CN" dirty="0"/>
              <a:t>B</a:t>
            </a:r>
            <a:r>
              <a:rPr lang="zh-CN" altLang="en-US" dirty="0"/>
              <a:t>的长度为</a:t>
            </a:r>
            <a:r>
              <a:rPr lang="en-US" altLang="zh-CN" dirty="0"/>
              <a:t>3</a:t>
            </a:r>
            <a:r>
              <a:rPr lang="zh-CN" altLang="en-US" dirty="0"/>
              <a:t>的子序列。然而，它不是</a:t>
            </a:r>
            <a:r>
              <a:rPr lang="en-US" altLang="zh-CN" dirty="0"/>
              <a:t>A</a:t>
            </a:r>
            <a:r>
              <a:rPr lang="zh-CN" altLang="en-US" dirty="0"/>
              <a:t>和</a:t>
            </a:r>
            <a:r>
              <a:rPr lang="en-US" altLang="zh-CN" dirty="0"/>
              <a:t>B</a:t>
            </a:r>
            <a:r>
              <a:rPr lang="zh-CN" altLang="en-US" dirty="0"/>
              <a:t>最长的公共子序列，因为字符串</a:t>
            </a:r>
            <a:r>
              <a:rPr lang="en-US" altLang="zh-CN" dirty="0"/>
              <a:t>xyyz</a:t>
            </a:r>
            <a:r>
              <a:rPr lang="zh-CN" altLang="en-US" dirty="0"/>
              <a:t>，也是</a:t>
            </a:r>
            <a:r>
              <a:rPr lang="en-US" altLang="zh-CN" dirty="0"/>
              <a:t>A</a:t>
            </a:r>
            <a:r>
              <a:rPr lang="zh-CN" altLang="en-US" dirty="0"/>
              <a:t>和</a:t>
            </a:r>
            <a:r>
              <a:rPr lang="en-US" altLang="zh-CN" dirty="0"/>
              <a:t>B</a:t>
            </a:r>
            <a:r>
              <a:rPr lang="zh-CN" altLang="en-US" dirty="0"/>
              <a:t>公共的子序列，由于这两个字符串没有比</a:t>
            </a:r>
            <a:r>
              <a:rPr lang="en-US" altLang="zh-CN" dirty="0"/>
              <a:t>4</a:t>
            </a:r>
            <a:r>
              <a:rPr lang="zh-CN" altLang="en-US" dirty="0"/>
              <a:t>更长的公共子序列，因此，</a:t>
            </a:r>
            <a:r>
              <a:rPr lang="en-US" altLang="zh-CN" dirty="0"/>
              <a:t>A</a:t>
            </a:r>
            <a:r>
              <a:rPr lang="zh-CN" altLang="en-US" dirty="0"/>
              <a:t>和</a:t>
            </a:r>
            <a:r>
              <a:rPr lang="en-US" altLang="zh-CN" dirty="0"/>
              <a:t>B</a:t>
            </a:r>
            <a:r>
              <a:rPr lang="zh-CN" altLang="en-US" dirty="0"/>
              <a:t>的</a:t>
            </a:r>
            <a:r>
              <a:rPr lang="zh-CN" altLang="en-US" dirty="0">
                <a:solidFill>
                  <a:srgbClr val="FF0000"/>
                </a:solidFill>
              </a:rPr>
              <a:t>最长的公共子序列的长度</a:t>
            </a:r>
            <a:r>
              <a:rPr lang="zh-CN" altLang="en-US" dirty="0"/>
              <a:t>是</a:t>
            </a:r>
            <a:r>
              <a:rPr lang="en-US" altLang="zh-CN" dirty="0"/>
              <a:t>4</a:t>
            </a:r>
            <a:r>
              <a:rPr lang="zh-CN" altLang="en-US" dirty="0"/>
              <a:t>。</a:t>
            </a:r>
            <a:endParaRPr lang="en-US" altLang="zh-CN" dirty="0"/>
          </a:p>
          <a:p>
            <a:pPr lvl="1" eaLnBrk="1" hangingPunct="1">
              <a:lnSpc>
                <a:spcPct val="80000"/>
              </a:lnSpc>
            </a:pPr>
            <a:endParaRPr lang="en-US" altLang="zh-CN" sz="2400" dirty="0"/>
          </a:p>
          <a:p>
            <a:pPr eaLnBrk="1" hangingPunct="1">
              <a:lnSpc>
                <a:spcPct val="80000"/>
              </a:lnSpc>
              <a:buNone/>
            </a:pPr>
            <a:r>
              <a:rPr lang="en-US" altLang="zh-CN" dirty="0"/>
              <a:t>	</a:t>
            </a:r>
          </a:p>
        </p:txBody>
      </p:sp>
      <p:sp>
        <p:nvSpPr>
          <p:cNvPr id="2" name="Rectangle 2">
            <a:extLst>
              <a:ext uri="{FF2B5EF4-FFF2-40B4-BE49-F238E27FC236}">
                <a16:creationId xmlns:a16="http://schemas.microsoft.com/office/drawing/2014/main" id="{94925CE7-BFCC-B616-A067-0A576BB33B02}"/>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kern="0" dirty="0">
                <a:latin typeface="+mj-ea"/>
                <a:sym typeface="+mn-ea"/>
              </a:rPr>
              <a:t>最长公共子序列</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anim calcmode="lin" valueType="num">
                                      <p:cBhvr additive="base">
                                        <p:cTn id="7" dur="500" fill="hold"/>
                                        <p:tgtEl>
                                          <p:spTgt spid="2273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73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7331">
                                            <p:txEl>
                                              <p:pRg st="2" end="2"/>
                                            </p:txEl>
                                          </p:spTgt>
                                        </p:tgtEl>
                                        <p:attrNameLst>
                                          <p:attrName>style.visibility</p:attrName>
                                        </p:attrNameLst>
                                      </p:cBhvr>
                                      <p:to>
                                        <p:strVal val="visible"/>
                                      </p:to>
                                    </p:set>
                                    <p:anim calcmode="lin" valueType="num">
                                      <p:cBhvr additive="base">
                                        <p:cTn id="13" dur="500" fill="hold"/>
                                        <p:tgtEl>
                                          <p:spTgt spid="22733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73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7331">
                                            <p:txEl>
                                              <p:pRg st="4" end="4"/>
                                            </p:txEl>
                                          </p:spTgt>
                                        </p:tgtEl>
                                        <p:attrNameLst>
                                          <p:attrName>style.visibility</p:attrName>
                                        </p:attrNameLst>
                                      </p:cBhvr>
                                      <p:to>
                                        <p:strVal val="visible"/>
                                      </p:to>
                                    </p:set>
                                    <p:anim calcmode="lin" valueType="num">
                                      <p:cBhvr additive="base">
                                        <p:cTn id="19" dur="500" fill="hold"/>
                                        <p:tgtEl>
                                          <p:spTgt spid="22733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733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58371"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58372"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25</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96259"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问题描述</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ea"/>
                <a:ea typeface="+mn-ea"/>
              </a:rPr>
              <a:t>在最长公共子序列问题中</a:t>
            </a:r>
            <a:r>
              <a:rPr kumimoji="0" lang="zh-CN" altLang="en-US" sz="2200" b="1" i="0" u="none" strike="noStrike" kern="0" cap="none" spc="0" normalizeH="0" baseline="0" noProof="0" dirty="0">
                <a:ln>
                  <a:noFill/>
                </a:ln>
                <a:solidFill>
                  <a:srgbClr val="FF3300"/>
                </a:solidFill>
                <a:effectLst/>
                <a:uLnTx/>
                <a:uFillTx/>
                <a:latin typeface="Arial" panose="020B0604020202020204" pitchFamily="34" charset="0"/>
                <a:ea typeface="华文行楷" panose="02010800040101010101" pitchFamily="2" charset="-122"/>
              </a:rPr>
              <a:t>（</a:t>
            </a:r>
            <a:r>
              <a:rPr kumimoji="0" lang="en-US" altLang="zh-CN" sz="2200" b="1" i="0" u="none" strike="noStrike" kern="0" cap="none" spc="0" normalizeH="0" baseline="0" noProof="0" dirty="0">
                <a:ln>
                  <a:noFill/>
                </a:ln>
                <a:solidFill>
                  <a:srgbClr val="FF3300"/>
                </a:solidFill>
                <a:effectLst/>
                <a:uLnTx/>
                <a:uFillTx/>
                <a:latin typeface="Arial" panose="020B0604020202020204" pitchFamily="34" charset="0"/>
                <a:ea typeface="华文行楷" panose="02010800040101010101" pitchFamily="2" charset="-122"/>
              </a:rPr>
              <a:t>longest-common-subsequence  (LCS) problem</a:t>
            </a:r>
            <a:r>
              <a:rPr kumimoji="0" lang="zh-CN" altLang="en-US" sz="2200" b="1" i="0" u="none" strike="noStrike" kern="0" cap="none" spc="0" normalizeH="0" baseline="0" noProof="0" dirty="0">
                <a:ln>
                  <a:noFill/>
                </a:ln>
                <a:solidFill>
                  <a:srgbClr val="FF3300"/>
                </a:solidFill>
                <a:effectLst/>
                <a:uLnTx/>
                <a:uFillTx/>
                <a:latin typeface="Arial" panose="020B0604020202020204" pitchFamily="34" charset="0"/>
                <a:ea typeface="华文行楷" panose="02010800040101010101" pitchFamily="2" charset="-122"/>
              </a:rPr>
              <a:t>）</a:t>
            </a:r>
            <a:r>
              <a:rPr kumimoji="0" lang="en-US" altLang="zh-CN" sz="22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rPr>
              <a:t>, </a:t>
            </a:r>
            <a:r>
              <a:rPr kumimoji="0" lang="zh-CN" altLang="en-US" sz="2200" b="0" i="0" u="none" strike="noStrike" kern="0" cap="none" spc="0" normalizeH="0" baseline="0" noProof="0" dirty="0">
                <a:ln>
                  <a:noFill/>
                </a:ln>
                <a:solidFill>
                  <a:schemeClr val="accent2"/>
                </a:solidFill>
                <a:effectLst/>
                <a:uLnTx/>
                <a:uFillTx/>
                <a:latin typeface="+mn-ea"/>
                <a:ea typeface="+mn-ea"/>
              </a:rPr>
              <a:t>给定两个序列</a:t>
            </a:r>
            <a:r>
              <a:rPr kumimoji="0" lang="en-US" altLang="zh-CN" sz="2200" b="0" i="0" u="none" strike="noStrike" kern="0" cap="none" spc="0" normalizeH="0" baseline="0" noProof="0" dirty="0">
                <a:ln>
                  <a:noFill/>
                </a:ln>
                <a:solidFill>
                  <a:schemeClr val="accent2"/>
                </a:solidFill>
                <a:effectLst/>
                <a:uLnTx/>
                <a:uFillTx/>
                <a:latin typeface="+mn-ea"/>
                <a:ea typeface="+mn-ea"/>
              </a:rPr>
              <a:t>A</a:t>
            </a:r>
            <a:r>
              <a:rPr kumimoji="0" lang="en-US" altLang="zh-CN" sz="2200" b="0" i="1" u="none" strike="noStrike" kern="0" cap="none" spc="0" normalizeH="0" baseline="0" noProof="0" dirty="0">
                <a:ln>
                  <a:noFill/>
                </a:ln>
                <a:solidFill>
                  <a:schemeClr val="accent2"/>
                </a:solidFill>
                <a:effectLst/>
                <a:uLnTx/>
                <a:uFillTx/>
                <a:latin typeface="+mn-ea"/>
                <a:ea typeface="+mn-ea"/>
              </a:rPr>
              <a:t> </a:t>
            </a:r>
            <a:r>
              <a:rPr kumimoji="0" lang="en-US" altLang="zh-CN" sz="2200" b="0" i="0" u="none" strike="noStrike" kern="0" cap="none" spc="0" normalizeH="0" baseline="0" noProof="0" dirty="0">
                <a:ln>
                  <a:noFill/>
                </a:ln>
                <a:solidFill>
                  <a:schemeClr val="accent2"/>
                </a:solidFill>
                <a:effectLst/>
                <a:uLnTx/>
                <a:uFillTx/>
                <a:latin typeface="+mn-ea"/>
                <a:ea typeface="+mn-ea"/>
              </a:rPr>
              <a:t>= </a:t>
            </a:r>
            <a:r>
              <a:rPr kumimoji="0" lang="en-US" altLang="zh-CN" sz="2200" b="0" i="1" u="none" strike="noStrike" kern="0" cap="none" spc="0" normalizeH="0" baseline="0" noProof="0" dirty="0">
                <a:ln>
                  <a:noFill/>
                </a:ln>
                <a:solidFill>
                  <a:schemeClr val="accent2"/>
                </a:solidFill>
                <a:effectLst/>
                <a:uLnTx/>
                <a:uFillTx/>
                <a:latin typeface="+mn-ea"/>
                <a:ea typeface="+mn-ea"/>
              </a:rPr>
              <a:t>a</a:t>
            </a:r>
            <a:r>
              <a:rPr kumimoji="0" lang="en-US" altLang="zh-CN" sz="2200" b="0" i="0" u="none" strike="noStrike" kern="0" cap="none" spc="0" normalizeH="0" baseline="-25000" noProof="0" dirty="0">
                <a:ln>
                  <a:noFill/>
                </a:ln>
                <a:solidFill>
                  <a:schemeClr val="accent2"/>
                </a:solidFill>
                <a:effectLst/>
                <a:uLnTx/>
                <a:uFillTx/>
                <a:latin typeface="+mn-ea"/>
                <a:ea typeface="+mn-ea"/>
              </a:rPr>
              <a:t>1</a:t>
            </a:r>
            <a:r>
              <a:rPr kumimoji="0" lang="en-US" altLang="zh-CN" sz="2200" b="0" i="0" u="none" strike="noStrike" kern="0" cap="none" spc="0" normalizeH="0" baseline="0" noProof="0" dirty="0">
                <a:ln>
                  <a:noFill/>
                </a:ln>
                <a:solidFill>
                  <a:schemeClr val="accent2"/>
                </a:solidFill>
                <a:effectLst/>
                <a:uLnTx/>
                <a:uFillTx/>
                <a:latin typeface="+mn-ea"/>
                <a:ea typeface="+mn-ea"/>
              </a:rPr>
              <a:t>, </a:t>
            </a:r>
            <a:r>
              <a:rPr kumimoji="0" lang="en-US" altLang="zh-CN" sz="2200" b="0" i="1" u="none" strike="noStrike" kern="0" cap="none" spc="0" normalizeH="0" baseline="0" noProof="0" dirty="0">
                <a:ln>
                  <a:noFill/>
                </a:ln>
                <a:solidFill>
                  <a:schemeClr val="accent2"/>
                </a:solidFill>
                <a:effectLst/>
                <a:uLnTx/>
                <a:uFillTx/>
                <a:latin typeface="+mn-ea"/>
                <a:ea typeface="+mn-ea"/>
              </a:rPr>
              <a:t>a</a:t>
            </a:r>
            <a:r>
              <a:rPr kumimoji="0" lang="en-US" altLang="zh-CN" sz="2200" b="0" i="0" u="none" strike="noStrike" kern="0" cap="none" spc="0" normalizeH="0" baseline="-25000" noProof="0" dirty="0">
                <a:ln>
                  <a:noFill/>
                </a:ln>
                <a:solidFill>
                  <a:schemeClr val="accent2"/>
                </a:solidFill>
                <a:effectLst/>
                <a:uLnTx/>
                <a:uFillTx/>
                <a:latin typeface="+mn-ea"/>
                <a:ea typeface="+mn-ea"/>
              </a:rPr>
              <a:t>2</a:t>
            </a:r>
            <a:r>
              <a:rPr kumimoji="0" lang="en-US" altLang="zh-CN" sz="2200" b="0" i="0" u="none" strike="noStrike" kern="0" cap="none" spc="0" normalizeH="0" baseline="0" noProof="0" dirty="0">
                <a:ln>
                  <a:noFill/>
                </a:ln>
                <a:solidFill>
                  <a:schemeClr val="accent2"/>
                </a:solidFill>
                <a:effectLst/>
                <a:uLnTx/>
                <a:uFillTx/>
                <a:latin typeface="+mn-ea"/>
                <a:ea typeface="+mn-ea"/>
              </a:rPr>
              <a:t>, ...,</a:t>
            </a:r>
            <a:r>
              <a:rPr kumimoji="0" lang="en-US" altLang="zh-CN" sz="2200" b="0" i="1" u="none" strike="noStrike" kern="0" cap="none" spc="0" normalizeH="0" baseline="0" noProof="0" dirty="0">
                <a:ln>
                  <a:noFill/>
                </a:ln>
                <a:solidFill>
                  <a:schemeClr val="accent2"/>
                </a:solidFill>
                <a:effectLst/>
                <a:uLnTx/>
                <a:uFillTx/>
                <a:latin typeface="+mn-ea"/>
                <a:ea typeface="+mn-ea"/>
              </a:rPr>
              <a:t>a</a:t>
            </a:r>
            <a:r>
              <a:rPr kumimoji="0" lang="en-US" altLang="zh-CN" sz="2200" b="0" i="1" u="none" strike="noStrike" kern="0" cap="none" spc="0" normalizeH="0" baseline="-25000" noProof="0" dirty="0">
                <a:ln>
                  <a:noFill/>
                </a:ln>
                <a:solidFill>
                  <a:schemeClr val="accent2"/>
                </a:solidFill>
                <a:effectLst/>
                <a:uLnTx/>
                <a:uFillTx/>
                <a:latin typeface="+mn-ea"/>
                <a:ea typeface="+mn-ea"/>
              </a:rPr>
              <a:t>m</a:t>
            </a:r>
            <a:r>
              <a:rPr kumimoji="0" lang="en-US" altLang="zh-CN" sz="2200" b="0" i="0" u="none" strike="noStrike" kern="0" cap="none" spc="0" normalizeH="0" baseline="0" noProof="0" dirty="0">
                <a:ln>
                  <a:noFill/>
                </a:ln>
                <a:solidFill>
                  <a:schemeClr val="accent2"/>
                </a:solidFill>
                <a:effectLst/>
                <a:uLnTx/>
                <a:uFillTx/>
                <a:latin typeface="+mn-ea"/>
                <a:ea typeface="+mn-ea"/>
              </a:rPr>
              <a:t> and </a:t>
            </a:r>
            <a:r>
              <a:rPr kumimoji="0" lang="en-US" altLang="zh-CN" sz="2200" b="0" i="1" u="none" strike="noStrike" kern="0" cap="none" spc="0" normalizeH="0" baseline="0" noProof="0" dirty="0">
                <a:ln>
                  <a:noFill/>
                </a:ln>
                <a:solidFill>
                  <a:schemeClr val="accent2"/>
                </a:solidFill>
                <a:effectLst/>
                <a:uLnTx/>
                <a:uFillTx/>
                <a:latin typeface="+mn-ea"/>
                <a:ea typeface="+mn-ea"/>
              </a:rPr>
              <a:t>B </a:t>
            </a:r>
            <a:r>
              <a:rPr kumimoji="0" lang="en-US" altLang="zh-CN" sz="2200" b="0" i="0" u="none" strike="noStrike" kern="0" cap="none" spc="0" normalizeH="0" baseline="0" noProof="0" dirty="0">
                <a:ln>
                  <a:noFill/>
                </a:ln>
                <a:solidFill>
                  <a:schemeClr val="accent2"/>
                </a:solidFill>
                <a:effectLst/>
                <a:uLnTx/>
                <a:uFillTx/>
                <a:latin typeface="+mn-ea"/>
                <a:ea typeface="+mn-ea"/>
              </a:rPr>
              <a:t>= </a:t>
            </a:r>
            <a:r>
              <a:rPr kumimoji="0" lang="en-US" altLang="zh-CN" sz="2200" b="0" i="1" u="none" strike="noStrike" kern="0" cap="none" spc="0" normalizeH="0" baseline="0" noProof="0" dirty="0">
                <a:ln>
                  <a:noFill/>
                </a:ln>
                <a:solidFill>
                  <a:schemeClr val="accent2"/>
                </a:solidFill>
                <a:effectLst/>
                <a:uLnTx/>
                <a:uFillTx/>
                <a:latin typeface="+mn-ea"/>
                <a:ea typeface="+mn-ea"/>
              </a:rPr>
              <a:t>b</a:t>
            </a:r>
            <a:r>
              <a:rPr kumimoji="0" lang="en-US" altLang="zh-CN" sz="2200" b="0" i="0" u="none" strike="noStrike" kern="0" cap="none" spc="0" normalizeH="0" baseline="-25000" noProof="0" dirty="0">
                <a:ln>
                  <a:noFill/>
                </a:ln>
                <a:solidFill>
                  <a:schemeClr val="accent2"/>
                </a:solidFill>
                <a:effectLst/>
                <a:uLnTx/>
                <a:uFillTx/>
                <a:latin typeface="+mn-ea"/>
                <a:ea typeface="+mn-ea"/>
              </a:rPr>
              <a:t>1</a:t>
            </a:r>
            <a:r>
              <a:rPr kumimoji="0" lang="en-US" altLang="zh-CN" sz="2200" b="0" i="0" u="none" strike="noStrike" kern="0" cap="none" spc="0" normalizeH="0" baseline="0" noProof="0" dirty="0">
                <a:ln>
                  <a:noFill/>
                </a:ln>
                <a:solidFill>
                  <a:schemeClr val="accent2"/>
                </a:solidFill>
                <a:effectLst/>
                <a:uLnTx/>
                <a:uFillTx/>
                <a:latin typeface="+mn-ea"/>
                <a:ea typeface="+mn-ea"/>
              </a:rPr>
              <a:t>, </a:t>
            </a:r>
            <a:r>
              <a:rPr kumimoji="0" lang="en-US" altLang="zh-CN" sz="2200" b="0" i="1" u="none" strike="noStrike" kern="0" cap="none" spc="0" normalizeH="0" baseline="0" noProof="0" dirty="0">
                <a:ln>
                  <a:noFill/>
                </a:ln>
                <a:solidFill>
                  <a:schemeClr val="accent2"/>
                </a:solidFill>
                <a:effectLst/>
                <a:uLnTx/>
                <a:uFillTx/>
                <a:latin typeface="+mn-ea"/>
                <a:ea typeface="+mn-ea"/>
              </a:rPr>
              <a:t>b</a:t>
            </a:r>
            <a:r>
              <a:rPr kumimoji="0" lang="en-US" altLang="zh-CN" sz="2200" b="0" i="0" u="none" strike="noStrike" kern="0" cap="none" spc="0" normalizeH="0" baseline="-25000" noProof="0" dirty="0">
                <a:ln>
                  <a:noFill/>
                </a:ln>
                <a:solidFill>
                  <a:schemeClr val="accent2"/>
                </a:solidFill>
                <a:effectLst/>
                <a:uLnTx/>
                <a:uFillTx/>
                <a:latin typeface="+mn-ea"/>
                <a:ea typeface="+mn-ea"/>
              </a:rPr>
              <a:t>2</a:t>
            </a:r>
            <a:r>
              <a:rPr kumimoji="0" lang="en-US" altLang="zh-CN" sz="2200" b="0" i="0" u="none" strike="noStrike" kern="0" cap="none" spc="0" normalizeH="0" baseline="0" noProof="0" dirty="0">
                <a:ln>
                  <a:noFill/>
                </a:ln>
                <a:solidFill>
                  <a:schemeClr val="accent2"/>
                </a:solidFill>
                <a:effectLst/>
                <a:uLnTx/>
                <a:uFillTx/>
                <a:latin typeface="+mn-ea"/>
                <a:ea typeface="+mn-ea"/>
              </a:rPr>
              <a:t>, ..., </a:t>
            </a:r>
            <a:r>
              <a:rPr kumimoji="0" lang="en-US" altLang="zh-CN" sz="2200" b="0" i="1" u="none" strike="noStrike" kern="0" cap="none" spc="0" normalizeH="0" baseline="0" noProof="0" dirty="0" err="1">
                <a:ln>
                  <a:noFill/>
                </a:ln>
                <a:solidFill>
                  <a:schemeClr val="accent2"/>
                </a:solidFill>
                <a:effectLst/>
                <a:uLnTx/>
                <a:uFillTx/>
                <a:latin typeface="+mn-ea"/>
                <a:ea typeface="+mn-ea"/>
              </a:rPr>
              <a:t>b</a:t>
            </a:r>
            <a:r>
              <a:rPr kumimoji="0" lang="en-US" altLang="zh-CN" sz="2200" b="0" i="1" u="none" strike="noStrike" kern="0" cap="none" spc="0" normalizeH="0" baseline="-25000" noProof="0" dirty="0" err="1">
                <a:ln>
                  <a:noFill/>
                </a:ln>
                <a:solidFill>
                  <a:schemeClr val="accent2"/>
                </a:solidFill>
                <a:effectLst/>
                <a:uLnTx/>
                <a:uFillTx/>
                <a:latin typeface="+mn-ea"/>
                <a:ea typeface="+mn-ea"/>
              </a:rPr>
              <a:t>n</a:t>
            </a:r>
            <a:r>
              <a:rPr kumimoji="0" lang="en-US" altLang="zh-CN" sz="2200" b="0" i="0" u="none" strike="noStrike" kern="0" cap="none" spc="0" normalizeH="0" baseline="0" noProof="0" dirty="0">
                <a:ln>
                  <a:noFill/>
                </a:ln>
                <a:solidFill>
                  <a:schemeClr val="accent2"/>
                </a:solidFill>
                <a:effectLst/>
                <a:uLnTx/>
                <a:uFillTx/>
                <a:latin typeface="+mn-ea"/>
                <a:ea typeface="+mn-ea"/>
              </a:rPr>
              <a:t> </a:t>
            </a:r>
            <a:r>
              <a:rPr kumimoji="0" lang="zh-CN" altLang="en-US" sz="2200" b="0" i="0" u="none" strike="noStrike" kern="0" cap="none" spc="0" normalizeH="0" baseline="0" noProof="0" dirty="0">
                <a:ln>
                  <a:noFill/>
                </a:ln>
                <a:solidFill>
                  <a:schemeClr val="accent2"/>
                </a:solidFill>
                <a:effectLst/>
                <a:uLnTx/>
                <a:uFillTx/>
                <a:latin typeface="+mn-ea"/>
                <a:ea typeface="+mn-ea"/>
              </a:rPr>
              <a:t>，并希望找到</a:t>
            </a:r>
            <a:r>
              <a:rPr kumimoji="0" lang="en-US" altLang="zh-CN" sz="2200" b="0" i="0" u="none" strike="noStrike" kern="0" cap="none" spc="0" normalizeH="0" baseline="0" noProof="0" dirty="0">
                <a:ln>
                  <a:noFill/>
                </a:ln>
                <a:solidFill>
                  <a:schemeClr val="accent2"/>
                </a:solidFill>
                <a:effectLst/>
                <a:uLnTx/>
                <a:uFillTx/>
                <a:latin typeface="+mn-ea"/>
                <a:ea typeface="+mn-ea"/>
              </a:rPr>
              <a:t>A</a:t>
            </a:r>
            <a:r>
              <a:rPr kumimoji="0" lang="zh-CN" altLang="en-US" sz="2200" b="0" i="0" u="none" strike="noStrike" kern="0" cap="none" spc="0" normalizeH="0" baseline="0" noProof="0" dirty="0">
                <a:ln>
                  <a:noFill/>
                </a:ln>
                <a:solidFill>
                  <a:schemeClr val="accent2"/>
                </a:solidFill>
                <a:effectLst/>
                <a:uLnTx/>
                <a:uFillTx/>
                <a:latin typeface="+mn-ea"/>
                <a:ea typeface="+mn-ea"/>
              </a:rPr>
              <a:t>和</a:t>
            </a:r>
            <a:r>
              <a:rPr kumimoji="0" lang="en-US" altLang="zh-CN" sz="2200" b="0" i="0" u="none" strike="noStrike" kern="0" cap="none" spc="0" normalizeH="0" baseline="0" noProof="0" dirty="0">
                <a:ln>
                  <a:noFill/>
                </a:ln>
                <a:solidFill>
                  <a:schemeClr val="accent2"/>
                </a:solidFill>
                <a:effectLst/>
                <a:uLnTx/>
                <a:uFillTx/>
                <a:latin typeface="+mn-ea"/>
                <a:ea typeface="+mn-ea"/>
              </a:rPr>
              <a:t>B</a:t>
            </a:r>
            <a:r>
              <a:rPr kumimoji="0" lang="zh-CN" altLang="en-US" sz="2200" b="0" i="0" u="none" strike="noStrike" kern="0" cap="none" spc="0" normalizeH="0" baseline="0" noProof="0" dirty="0">
                <a:ln>
                  <a:noFill/>
                </a:ln>
                <a:solidFill>
                  <a:schemeClr val="accent2"/>
                </a:solidFill>
                <a:effectLst/>
                <a:uLnTx/>
                <a:uFillTx/>
                <a:latin typeface="+mn-ea"/>
                <a:ea typeface="+mn-ea"/>
              </a:rPr>
              <a:t>中的最长公共子序列以及序列长度。</a:t>
            </a:r>
            <a:r>
              <a:rPr kumimoji="0" lang="en-US" altLang="zh-CN" sz="2200" b="0" i="0" u="none" strike="noStrike" kern="0" cap="none" spc="0" normalizeH="0" baseline="0" noProof="0" dirty="0">
                <a:ln>
                  <a:noFill/>
                </a:ln>
                <a:solidFill>
                  <a:schemeClr val="accent2"/>
                </a:solidFill>
                <a:effectLst/>
                <a:uLnTx/>
                <a:uFillTx/>
                <a:latin typeface="+mn-ea"/>
                <a:ea typeface="+mn-ea"/>
              </a:rPr>
              <a:t>.</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1800" b="0" i="0" u="none" strike="noStrike" kern="0" cap="none" spc="0" normalizeH="0" baseline="0" noProof="0" dirty="0">
              <a:ln>
                <a:noFill/>
              </a:ln>
              <a:solidFill>
                <a:schemeClr val="accent2"/>
              </a:solidFill>
              <a:effectLst/>
              <a:uLnTx/>
              <a:uFillTx/>
              <a:latin typeface="+mn-lt"/>
              <a:ea typeface="+mn-ea"/>
              <a:cs typeface="+mn-cs"/>
            </a:endParaRPr>
          </a:p>
        </p:txBody>
      </p:sp>
      <p:pic>
        <p:nvPicPr>
          <p:cNvPr id="96260" name="Picture 4" descr="question"/>
          <p:cNvPicPr>
            <a:picLocks noChangeAspect="1"/>
          </p:cNvPicPr>
          <p:nvPr/>
        </p:nvPicPr>
        <p:blipFill>
          <a:blip r:embed="rId4"/>
          <a:stretch>
            <a:fillRect/>
          </a:stretch>
        </p:blipFill>
        <p:spPr>
          <a:xfrm>
            <a:off x="900113" y="1296988"/>
            <a:ext cx="431800" cy="431800"/>
          </a:xfrm>
          <a:prstGeom prst="rect">
            <a:avLst/>
          </a:prstGeom>
          <a:noFill/>
          <a:ln w="9525">
            <a:noFill/>
          </a:ln>
        </p:spPr>
      </p:pic>
      <p:sp>
        <p:nvSpPr>
          <p:cNvPr id="4" name="Rectangle 2">
            <a:extLst>
              <a:ext uri="{FF2B5EF4-FFF2-40B4-BE49-F238E27FC236}">
                <a16:creationId xmlns:a16="http://schemas.microsoft.com/office/drawing/2014/main" id="{4B40BE24-372F-4D86-BEAA-A234F7B05B2E}"/>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kern="0" dirty="0">
                <a:latin typeface="+mj-ea"/>
                <a:sym typeface="+mn-ea"/>
              </a:rPr>
              <a:t>最长公共子序列</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box(in)">
                                      <p:cBhvr>
                                        <p:cTn id="7" dur="500"/>
                                        <p:tgtEl>
                                          <p:spTgt spid="96260"/>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8" presetID="3" presetClass="entr" presetSubtype="10" fill="hold" nodeType="withEffect">
                                  <p:stCondLst>
                                    <p:cond delay="0"/>
                                  </p:stCondLst>
                                  <p:childTnLst>
                                    <p:set>
                                      <p:cBhvr>
                                        <p:cTn id="9" dur="1" fill="hold">
                                          <p:stCondLst>
                                            <p:cond delay="0"/>
                                          </p:stCondLst>
                                        </p:cTn>
                                        <p:tgtEl>
                                          <p:spTgt spid="96259">
                                            <p:txEl>
                                              <p:pRg st="0" end="0"/>
                                            </p:txEl>
                                          </p:spTgt>
                                        </p:tgtEl>
                                        <p:attrNameLst>
                                          <p:attrName>style.visibility</p:attrName>
                                        </p:attrNameLst>
                                      </p:cBhvr>
                                      <p:to>
                                        <p:strVal val="visible"/>
                                      </p:to>
                                    </p:set>
                                    <p:animEffect transition="in" filter="blinds(horizontal)">
                                      <p:cBhvr>
                                        <p:cTn id="10" dur="500"/>
                                        <p:tgtEl>
                                          <p:spTgt spid="9625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96259">
                                            <p:txEl>
                                              <p:pRg st="2" end="2"/>
                                            </p:txEl>
                                          </p:spTgt>
                                        </p:tgtEl>
                                        <p:attrNameLst>
                                          <p:attrName>style.visibility</p:attrName>
                                        </p:attrNameLst>
                                      </p:cBhvr>
                                      <p:to>
                                        <p:strVal val="visible"/>
                                      </p:to>
                                    </p:set>
                                    <p:anim calcmode="lin" valueType="num">
                                      <p:cBhvr additive="base">
                                        <p:cTn id="15" dur="500" fill="hold"/>
                                        <p:tgtEl>
                                          <p:spTgt spid="962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625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0419"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0420"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26</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60421"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a:t>
            </a:r>
            <a:r>
              <a:rPr lang="zh-CN" altLang="en-US" dirty="0">
                <a:latin typeface="+mj-ea"/>
                <a:sym typeface="+mn-ea"/>
              </a:rPr>
              <a:t> </a:t>
            </a:r>
            <a:r>
              <a:rPr lang="zh-CN" altLang="en-US" dirty="0">
                <a:latin typeface="+mj-ea"/>
              </a:rPr>
              <a:t>蛮力搜索算法</a:t>
            </a:r>
            <a:endParaRPr lang="en-US" altLang="zh-CN" dirty="0">
              <a:latin typeface="+mj-ea"/>
            </a:endParaRPr>
          </a:p>
        </p:txBody>
      </p:sp>
      <p:sp>
        <p:nvSpPr>
          <p:cNvPr id="21507" name="Rectangle 3"/>
          <p:cNvSpPr>
            <a:spLocks noGrp="1"/>
          </p:cNvSpPr>
          <p:nvPr>
            <p:ph idx="1"/>
          </p:nvPr>
        </p:nvSpPr>
        <p:spPr/>
        <p:txBody>
          <a:bodyPr vert="horz" wrap="square" lIns="91440" tIns="45720" rIns="91440" bIns="45720" anchor="t" anchorCtr="0"/>
          <a:lstStyle/>
          <a:p>
            <a:pPr eaLnBrk="1" hangingPunct="1">
              <a:lnSpc>
                <a:spcPct val="90000"/>
              </a:lnSpc>
            </a:pPr>
            <a:r>
              <a:rPr lang="zh-CN" altLang="en-US" dirty="0"/>
              <a:t>列举</a:t>
            </a:r>
            <a:r>
              <a:rPr lang="en-US" altLang="zh-CN" dirty="0"/>
              <a:t>A</a:t>
            </a:r>
            <a:r>
              <a:rPr lang="zh-CN" altLang="en-US" dirty="0"/>
              <a:t>所有的</a:t>
            </a:r>
            <a:r>
              <a:rPr lang="en-US" altLang="zh-CN" dirty="0"/>
              <a:t>2</a:t>
            </a:r>
            <a:r>
              <a:rPr lang="en-US" altLang="zh-CN" baseline="30000" dirty="0"/>
              <a:t>n</a:t>
            </a:r>
            <a:r>
              <a:rPr lang="zh-CN" altLang="en-US" dirty="0"/>
              <a:t>个子序列</a:t>
            </a:r>
            <a:endParaRPr lang="en-US" altLang="zh-CN" dirty="0"/>
          </a:p>
          <a:p>
            <a:pPr lvl="1" eaLnBrk="1" hangingPunct="1">
              <a:lnSpc>
                <a:spcPct val="90000"/>
              </a:lnSpc>
            </a:pPr>
            <a:endParaRPr lang="en-US" altLang="zh-CN" i="1" dirty="0"/>
          </a:p>
          <a:p>
            <a:pPr eaLnBrk="1" hangingPunct="1">
              <a:lnSpc>
                <a:spcPct val="90000"/>
              </a:lnSpc>
            </a:pPr>
            <a:r>
              <a:rPr lang="zh-CN" altLang="en-US" dirty="0"/>
              <a:t>对于每一个子序列在</a:t>
            </a:r>
            <a:r>
              <a:rPr lang="en-US" altLang="zh-CN" dirty="0">
                <a:sym typeface="Symbol" panose="05050102010706020507" pitchFamily="18" charset="2"/>
              </a:rPr>
              <a:t> </a:t>
            </a:r>
            <a:r>
              <a:rPr lang="en-US" altLang="zh-CN" dirty="0"/>
              <a:t>( m)</a:t>
            </a:r>
            <a:r>
              <a:rPr lang="zh-CN" altLang="en-US" dirty="0"/>
              <a:t>时间内来确定它是否也是</a:t>
            </a:r>
            <a:r>
              <a:rPr lang="en-US" altLang="zh-CN" dirty="0"/>
              <a:t>B</a:t>
            </a:r>
            <a:r>
              <a:rPr lang="zh-CN" altLang="en-US" dirty="0"/>
              <a:t>的子序列</a:t>
            </a:r>
            <a:endParaRPr lang="en-US" altLang="zh-CN" dirty="0">
              <a:sym typeface="Symbol" panose="05050102010706020507" pitchFamily="18" charset="2"/>
            </a:endParaRPr>
          </a:p>
          <a:p>
            <a:pPr lvl="1" eaLnBrk="1" hangingPunct="1">
              <a:lnSpc>
                <a:spcPct val="90000"/>
              </a:lnSpc>
            </a:pPr>
            <a:endParaRPr lang="en-US" altLang="zh-CN" dirty="0">
              <a:sym typeface="Symbol" panose="05050102010706020507" pitchFamily="18" charset="2"/>
            </a:endParaRPr>
          </a:p>
          <a:p>
            <a:pPr eaLnBrk="1" hangingPunct="1">
              <a:lnSpc>
                <a:spcPct val="90000"/>
              </a:lnSpc>
            </a:pPr>
            <a:r>
              <a:rPr lang="zh-CN" altLang="en-US" dirty="0"/>
              <a:t>很明显，此算法的时间复杂性是</a:t>
            </a:r>
            <a:r>
              <a:rPr lang="en-US" altLang="zh-CN" dirty="0">
                <a:sym typeface="Symbol" panose="05050102010706020507" pitchFamily="18" charset="2"/>
              </a:rPr>
              <a:t>(m2</a:t>
            </a:r>
            <a:r>
              <a:rPr lang="en-US" altLang="zh-CN" baseline="30000" dirty="0">
                <a:sym typeface="Symbol" panose="05050102010706020507" pitchFamily="18" charset="2"/>
              </a:rPr>
              <a:t>n</a:t>
            </a:r>
            <a:r>
              <a:rPr lang="en-US" altLang="zh-CN" dirty="0">
                <a:sym typeface="Symbol" panose="05050102010706020507" pitchFamily="18" charset="2"/>
              </a:rPr>
              <a:t>)</a:t>
            </a:r>
            <a:r>
              <a:rPr lang="en-US" altLang="zh-CN" dirty="0"/>
              <a:t>,</a:t>
            </a:r>
            <a:r>
              <a:rPr lang="zh-CN" altLang="en-US" dirty="0"/>
              <a:t>是指数复杂性的。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507">
                                            <p:txEl>
                                              <p:pRg st="2" end="2"/>
                                            </p:txEl>
                                          </p:spTgt>
                                        </p:tgtEl>
                                        <p:attrNameLst>
                                          <p:attrName>style.visibility</p:attrName>
                                        </p:attrNameLst>
                                      </p:cBhvr>
                                      <p:to>
                                        <p:strVal val="visible"/>
                                      </p:to>
                                    </p:set>
                                    <p:anim calcmode="lin" valueType="num">
                                      <p:cBhvr additive="base">
                                        <p:cTn id="13"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507">
                                            <p:txEl>
                                              <p:pRg st="4" end="4"/>
                                            </p:txEl>
                                          </p:spTgt>
                                        </p:tgtEl>
                                        <p:attrNameLst>
                                          <p:attrName>style.visibility</p:attrName>
                                        </p:attrNameLst>
                                      </p:cBhvr>
                                      <p:to>
                                        <p:strVal val="visible"/>
                                      </p:to>
                                    </p:set>
                                    <p:anim calcmode="lin" valueType="num">
                                      <p:cBhvr additive="base">
                                        <p:cTn id="19" dur="5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246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246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27</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2531" name="Rectangle 3"/>
          <p:cNvSpPr>
            <a:spLocks noGrp="1" noChangeArrowheads="1"/>
          </p:cNvSpPr>
          <p:nvPr>
            <p:ph idx="1"/>
          </p:nvPr>
        </p:nvSpPr>
        <p:spPr>
          <a:xfrm>
            <a:off x="900113" y="1268413"/>
            <a:ext cx="8064500" cy="468153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5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设序列</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A={a</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1</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2</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t>
            </a:r>
            <a:r>
              <a:rPr kumimoji="0" lang="en-US" altLang="zh-CN" sz="2400" b="0" i="0" u="none" strike="noStrike" kern="0" cap="none" spc="0" normalizeH="0" baseline="0" noProof="0" dirty="0">
                <a:ln>
                  <a:noFill/>
                </a:ln>
                <a:solidFill>
                  <a:schemeClr val="accent2"/>
                </a:solidFill>
                <a:effectLst/>
                <a:uLnTx/>
                <a:uFillTx/>
                <a:latin typeface="Arial" panose="020B0604020202020204"/>
                <a:ea typeface="+mn-ea"/>
                <a:cs typeface="+mn-cs"/>
              </a:rPr>
              <a:t>…</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n</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B={b</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1</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2</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t>
            </a:r>
            <a:r>
              <a:rPr kumimoji="0" lang="en-US" altLang="zh-CN" sz="2400" b="0" i="0" u="none" strike="noStrike" kern="0" cap="none" spc="0" normalizeH="0" baseline="0" noProof="0" dirty="0">
                <a:ln>
                  <a:noFill/>
                </a:ln>
                <a:solidFill>
                  <a:schemeClr val="accent2"/>
                </a:solidFill>
                <a:effectLst/>
                <a:uLnTx/>
                <a:uFillTx/>
                <a:latin typeface="Arial" panose="020B0604020202020204"/>
                <a:ea typeface="+mn-ea"/>
                <a:cs typeface="+mn-cs"/>
              </a:rPr>
              <a:t>…</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m</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的最长公共子序列为</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C={c</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1</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,c</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2</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t>
            </a:r>
            <a:r>
              <a:rPr kumimoji="0" lang="en-US" altLang="zh-CN" sz="2400" b="0" i="0" u="none" strike="noStrike" kern="0" cap="none" spc="0" normalizeH="0" baseline="0" noProof="0" dirty="0">
                <a:ln>
                  <a:noFill/>
                </a:ln>
                <a:solidFill>
                  <a:schemeClr val="accent2"/>
                </a:solidFill>
                <a:effectLst/>
                <a:uLnTx/>
                <a:uFillTx/>
                <a:latin typeface="Arial" panose="020B0604020202020204"/>
                <a:ea typeface="+mn-ea"/>
                <a:cs typeface="+mn-cs"/>
              </a:rPr>
              <a:t>…</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,c</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k</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，则</a:t>
            </a:r>
          </a:p>
          <a:p>
            <a:pPr marL="342900" marR="0" lvl="0" indent="-342900" algn="l" defTabSz="914400" rtl="0" eaLnBrk="0" fontAlgn="base" latinLnBrk="0" hangingPunct="0">
              <a:lnSpc>
                <a:spcPct val="100000"/>
              </a:lnSpc>
              <a:spcBef>
                <a:spcPct val="50000"/>
              </a:spcBef>
              <a:spcAft>
                <a:spcPct val="0"/>
              </a:spcAft>
              <a:buClrTx/>
              <a:buSzTx/>
              <a:buFontTx/>
              <a:buChar char="•"/>
              <a:defRPr/>
            </a:pP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(1)</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若</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n</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m</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，则</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c</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k</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n</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m</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，且</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C</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k-1</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是</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n-1</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m-1</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的最长公共子序列。</a:t>
            </a:r>
          </a:p>
          <a:p>
            <a:pPr marL="342900" marR="0" lvl="0" indent="-342900" algn="l" defTabSz="914400" rtl="0" eaLnBrk="0" fontAlgn="base" latinLnBrk="0" hangingPunct="0">
              <a:lnSpc>
                <a:spcPct val="100000"/>
              </a:lnSpc>
              <a:spcBef>
                <a:spcPct val="50000"/>
              </a:spcBef>
              <a:spcAft>
                <a:spcPct val="0"/>
              </a:spcAft>
              <a:buClrTx/>
              <a:buSzTx/>
              <a:buFontTx/>
              <a:buChar char="•"/>
              <a:defRPr/>
            </a:pP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(2)</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若</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n</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m</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且</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c</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k</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n</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则</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C</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是</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n-1</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B</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的最长公共子序列。</a:t>
            </a:r>
          </a:p>
          <a:p>
            <a:pPr marL="342900" marR="0" lvl="0" indent="-342900" algn="l" defTabSz="914400" rtl="0" eaLnBrk="0" fontAlgn="base" latinLnBrk="0" hangingPunct="0">
              <a:lnSpc>
                <a:spcPct val="100000"/>
              </a:lnSpc>
              <a:spcBef>
                <a:spcPct val="50000"/>
              </a:spcBef>
              <a:spcAft>
                <a:spcPct val="0"/>
              </a:spcAft>
              <a:buClrTx/>
              <a:buSzTx/>
              <a:buFontTx/>
              <a:buChar char="•"/>
              <a:defRPr/>
            </a:pP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(3)</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若</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a</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n</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m</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且</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c</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k</a:t>
            </a:r>
            <a:r>
              <a:rPr kumimoji="0" lang="en-US" altLang="zh-CN" sz="2400" b="0" i="0" u="none" strike="noStrike" kern="0" cap="none" spc="0" normalizeH="0" baseline="0" noProof="0" dirty="0" err="1">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err="1">
                <a:ln>
                  <a:noFill/>
                </a:ln>
                <a:solidFill>
                  <a:schemeClr val="accent2"/>
                </a:solidFill>
                <a:effectLst/>
                <a:uLnTx/>
                <a:uFillTx/>
                <a:latin typeface="华文楷体" panose="02010600040101010101" pitchFamily="2" charset="-122"/>
                <a:ea typeface="+mn-ea"/>
                <a:cs typeface="+mn-cs"/>
              </a:rPr>
              <a:t>m</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，则</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C</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是</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A</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B</a:t>
            </a:r>
            <a:r>
              <a:rPr kumimoji="0" lang="en-US" altLang="zh-CN" sz="2400" b="0" i="0" u="none" strike="noStrike" kern="0" cap="none" spc="0" normalizeH="0" baseline="-25000" noProof="0" dirty="0">
                <a:ln>
                  <a:noFill/>
                </a:ln>
                <a:solidFill>
                  <a:schemeClr val="accent2"/>
                </a:solidFill>
                <a:effectLst/>
                <a:uLnTx/>
                <a:uFillTx/>
                <a:latin typeface="华文楷体" panose="02010600040101010101" pitchFamily="2" charset="-122"/>
                <a:ea typeface="+mn-ea"/>
                <a:cs typeface="+mn-cs"/>
              </a:rPr>
              <a:t>m-1</a:t>
            </a:r>
            <a:r>
              <a:rPr kumimoji="0" lang="zh-CN" altLang="en-US" sz="2400" b="0" i="0" u="none" strike="noStrike" kern="0" cap="none" spc="0" normalizeH="0" baseline="0" noProof="0" dirty="0">
                <a:ln>
                  <a:noFill/>
                </a:ln>
                <a:solidFill>
                  <a:schemeClr val="accent2"/>
                </a:solidFill>
                <a:effectLst/>
                <a:uLnTx/>
                <a:uFillTx/>
                <a:latin typeface="华文楷体" panose="02010600040101010101" pitchFamily="2" charset="-122"/>
                <a:ea typeface="+mn-ea"/>
                <a:cs typeface="+mn-cs"/>
              </a:rPr>
              <a:t>的最长公共子序列</a:t>
            </a:r>
            <a:r>
              <a:rPr kumimoji="0" lang="zh-CN" altLang="en-US" sz="2400" b="0" i="0" u="none" strike="noStrike" kern="0" cap="none" spc="0" normalizeH="0" baseline="0" noProof="0" dirty="0">
                <a:ln>
                  <a:noFill/>
                </a:ln>
                <a:solidFill>
                  <a:schemeClr val="accent6">
                    <a:lumMod val="60000"/>
                    <a:lumOff val="40000"/>
                  </a:schemeClr>
                </a:solidFill>
                <a:effectLst/>
                <a:uLnTx/>
                <a:uFillTx/>
                <a:latin typeface="华文楷体" panose="02010600040101010101" pitchFamily="2" charset="-122"/>
                <a:ea typeface="+mn-ea"/>
                <a:cs typeface="+mn-cs"/>
              </a:rPr>
              <a:t>。</a:t>
            </a:r>
            <a:endParaRPr kumimoji="0" lang="en-US" altLang="zh-CN" sz="2400" b="0" i="0" u="none" strike="noStrike" kern="0" cap="none" spc="0" normalizeH="0" baseline="0" noProof="0" dirty="0">
              <a:ln>
                <a:noFill/>
              </a:ln>
              <a:solidFill>
                <a:schemeClr val="accent6">
                  <a:lumMod val="60000"/>
                  <a:lumOff val="40000"/>
                </a:schemeClr>
              </a:solidFill>
              <a:effectLst/>
              <a:uLnTx/>
              <a:uFillTx/>
              <a:latin typeface="华文楷体" panose="02010600040101010101" pitchFamily="2" charset="-122"/>
              <a:ea typeface="+mn-ea"/>
              <a:cs typeface="+mn-cs"/>
            </a:endParaRPr>
          </a:p>
          <a:p>
            <a:pPr marL="342900" marR="0" lvl="0" indent="-342900" algn="l" defTabSz="914400" rtl="0" eaLnBrk="0" fontAlgn="base" latinLnBrk="0" hangingPunct="0">
              <a:lnSpc>
                <a:spcPct val="100000"/>
              </a:lnSpc>
              <a:spcBef>
                <a:spcPct val="50000"/>
              </a:spcBef>
              <a:spcAft>
                <a:spcPct val="0"/>
              </a:spcAft>
              <a:buClrTx/>
              <a:buSzTx/>
              <a:buFontTx/>
              <a:buChar char="•"/>
              <a:defRPr/>
            </a:pPr>
            <a:r>
              <a:rPr kumimoji="0" lang="zh-CN" altLang="en-US" sz="2400" b="1" i="0" u="none" strike="noStrike" kern="0" cap="none" spc="0" normalizeH="0" baseline="0" noProof="0" dirty="0">
                <a:ln>
                  <a:noFill/>
                </a:ln>
                <a:solidFill>
                  <a:schemeClr val="accent2"/>
                </a:solidFill>
                <a:effectLst/>
                <a:uLnTx/>
                <a:uFillTx/>
                <a:latin typeface="Arial" panose="020B0604020202020204" pitchFamily="34" charset="0"/>
                <a:ea typeface="楷体_GB2312" pitchFamily="49" charset="-122"/>
                <a:cs typeface="+mn-cs"/>
              </a:rPr>
              <a:t>由此可见，</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楷体_GB2312" pitchFamily="49" charset="-122"/>
                <a:cs typeface="+mn-cs"/>
              </a:rPr>
              <a:t>2</a:t>
            </a:r>
            <a:r>
              <a:rPr kumimoji="0" lang="zh-CN" altLang="en-US" sz="2400" b="1" i="0" u="none" strike="noStrike" kern="0" cap="none" spc="0" normalizeH="0" baseline="0" noProof="0" dirty="0">
                <a:ln>
                  <a:noFill/>
                </a:ln>
                <a:solidFill>
                  <a:schemeClr val="accent2"/>
                </a:solidFill>
                <a:effectLst/>
                <a:uLnTx/>
                <a:uFillTx/>
                <a:latin typeface="Arial" panose="020B0604020202020204" pitchFamily="34" charset="0"/>
                <a:ea typeface="楷体_GB2312" pitchFamily="49" charset="-122"/>
                <a:cs typeface="+mn-cs"/>
              </a:rPr>
              <a:t>个序列的最长公共子序列包含了这</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楷体_GB2312" pitchFamily="49" charset="-122"/>
                <a:cs typeface="+mn-cs"/>
              </a:rPr>
              <a:t>2</a:t>
            </a:r>
            <a:r>
              <a:rPr kumimoji="0" lang="zh-CN" altLang="en-US" sz="2400" b="1" i="0" u="none" strike="noStrike" kern="0" cap="none" spc="0" normalizeH="0" baseline="0" noProof="0" dirty="0">
                <a:ln>
                  <a:noFill/>
                </a:ln>
                <a:solidFill>
                  <a:schemeClr val="accent2"/>
                </a:solidFill>
                <a:effectLst/>
                <a:uLnTx/>
                <a:uFillTx/>
                <a:latin typeface="Arial" panose="020B0604020202020204" pitchFamily="34" charset="0"/>
                <a:ea typeface="楷体_GB2312" pitchFamily="49" charset="-122"/>
                <a:cs typeface="+mn-cs"/>
              </a:rPr>
              <a:t>个序列的前缀的最长公共子序列。因此，最长公共子序列问题具有</a:t>
            </a:r>
            <a:r>
              <a:rPr kumimoji="0" lang="zh-CN" altLang="en-US" sz="24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最优子结构性质</a:t>
            </a:r>
            <a:r>
              <a:rPr kumimoji="0" lang="zh-CN" altLang="en-US" sz="2400" b="1" i="0" u="none" strike="noStrike" kern="0" cap="none" spc="0" normalizeH="0" baseline="0" noProof="0" dirty="0">
                <a:ln>
                  <a:noFill/>
                </a:ln>
                <a:solidFill>
                  <a:schemeClr val="accent2"/>
                </a:solidFill>
                <a:effectLst/>
                <a:uLnTx/>
                <a:uFillTx/>
                <a:latin typeface="Arial" panose="020B0604020202020204" pitchFamily="34" charset="0"/>
                <a:ea typeface="楷体_GB2312" pitchFamily="49" charset="-122"/>
                <a:cs typeface="+mn-cs"/>
              </a:rPr>
              <a:t>。 </a:t>
            </a:r>
          </a:p>
          <a:p>
            <a:pPr marL="342900" marR="0" lvl="0" indent="-342900" algn="l" defTabSz="914400" rtl="0" eaLnBrk="0" fontAlgn="base" latinLnBrk="0" hangingPunct="0">
              <a:lnSpc>
                <a:spcPct val="100000"/>
              </a:lnSpc>
              <a:spcBef>
                <a:spcPct val="50000"/>
              </a:spcBef>
              <a:spcAft>
                <a:spcPct val="0"/>
              </a:spcAft>
              <a:buClrTx/>
              <a:buSzTx/>
              <a:buFontTx/>
              <a:buChar char="•"/>
              <a:defRPr/>
            </a:pPr>
            <a:endParaRPr kumimoji="0" lang="zh-CN" altLang="en-US" sz="2400" b="0" i="0" u="none" strike="noStrike" kern="0" cap="none" spc="0" normalizeH="0" baseline="0" noProof="0" dirty="0">
              <a:ln>
                <a:noFill/>
              </a:ln>
              <a:solidFill>
                <a:schemeClr val="accent6">
                  <a:lumMod val="60000"/>
                  <a:lumOff val="40000"/>
                </a:schemeClr>
              </a:solidFill>
              <a:effectLst/>
              <a:uLnTx/>
              <a:uFillTx/>
              <a:latin typeface="华文楷体" panose="02010600040101010101" pitchFamily="2" charset="-122"/>
              <a:ea typeface="+mn-ea"/>
              <a:cs typeface="+mn-cs"/>
            </a:endParaRPr>
          </a:p>
        </p:txBody>
      </p:sp>
      <p:sp>
        <p:nvSpPr>
          <p:cNvPr id="4" name="Rectangle 2">
            <a:extLst>
              <a:ext uri="{FF2B5EF4-FFF2-40B4-BE49-F238E27FC236}">
                <a16:creationId xmlns:a16="http://schemas.microsoft.com/office/drawing/2014/main" id="{F433F799-9179-59ED-8D1C-0351BF0F6AE7}"/>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kern="0" dirty="0">
                <a:latin typeface="+mj-ea"/>
                <a:sym typeface="+mn-ea"/>
              </a:rPr>
              <a:t>基本思想</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10" dur="500"/>
                                        <p:tgtEl>
                                          <p:spTgt spid="2253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3" dur="500"/>
                                        <p:tgtEl>
                                          <p:spTgt spid="2253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16" dur="500"/>
                                        <p:tgtEl>
                                          <p:spTgt spid="22531">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19"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4515"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4516"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28</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4579" name="Rectangle 3"/>
          <p:cNvSpPr>
            <a:spLocks noGrp="1" noChangeArrowheads="1"/>
          </p:cNvSpPr>
          <p:nvPr>
            <p:ph idx="1"/>
          </p:nvPr>
        </p:nvSpPr>
        <p:spPr>
          <a:xfrm>
            <a:off x="735013" y="1125538"/>
            <a:ext cx="8229600" cy="478155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 设序列</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A={a</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2</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n</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B={b</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1</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,b</a:t>
            </a:r>
            <a:r>
              <a:rPr kumimoji="0" lang="en-US" altLang="zh-CN" sz="2400" b="0" i="0" u="none" strike="noStrike" kern="0" cap="none" spc="0" normalizeH="0" baseline="-25000" noProof="0" dirty="0">
                <a:ln>
                  <a:noFill/>
                </a:ln>
                <a:solidFill>
                  <a:schemeClr val="accent2"/>
                </a:solidFill>
                <a:effectLst/>
                <a:uLnTx/>
                <a:uFillTx/>
                <a:latin typeface="+mn-lt"/>
                <a:ea typeface="+mn-ea"/>
                <a:cs typeface="+mn-cs"/>
              </a:rPr>
              <a:t>2</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400" b="0" i="0" u="none" strike="noStrike" kern="0" cap="none" spc="0" normalizeH="0" baseline="0" noProof="0" dirty="0" err="1">
                <a:ln>
                  <a:noFill/>
                </a:ln>
                <a:solidFill>
                  <a:schemeClr val="accent2"/>
                </a:solidFill>
                <a:effectLst/>
                <a:uLnTx/>
                <a:uFillTx/>
                <a:latin typeface="+mn-lt"/>
                <a:ea typeface="+mn-ea"/>
                <a:cs typeface="+mn-cs"/>
              </a:rPr>
              <a:t>b</a:t>
            </a:r>
            <a:r>
              <a:rPr kumimoji="0" lang="en-US" altLang="zh-CN" sz="2400" b="0" i="0" u="none" strike="noStrike" kern="0" cap="none" spc="0" normalizeH="0" baseline="-25000" noProof="0" dirty="0" err="1">
                <a:ln>
                  <a:noFill/>
                </a:ln>
                <a:solidFill>
                  <a:schemeClr val="accent2"/>
                </a:solidFill>
                <a:effectLst/>
                <a:uLnTx/>
                <a:uFillTx/>
                <a:latin typeface="+mn-lt"/>
                <a:ea typeface="+mn-ea"/>
                <a:cs typeface="+mn-cs"/>
              </a:rPr>
              <a:t>m</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，令</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L[</a:t>
            </a:r>
            <a:r>
              <a:rPr kumimoji="0" lang="en-US" altLang="zh-CN" sz="2400" b="0" i="0" u="none" strike="noStrike" kern="0" cap="none" spc="0" normalizeH="0" baseline="0" noProof="0" dirty="0" err="1">
                <a:ln>
                  <a:noFill/>
                </a:ln>
                <a:solidFill>
                  <a:schemeClr val="accent2"/>
                </a:solidFill>
                <a:effectLst/>
                <a:uLnTx/>
                <a:uFillTx/>
                <a:latin typeface="+mn-lt"/>
                <a:ea typeface="+mn-ea"/>
                <a:cs typeface="+mn-cs"/>
              </a:rPr>
              <a:t>i</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j]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表示</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B</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的最长公共子序列的</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长度</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accent6">
                  <a:lumMod val="60000"/>
                  <a:lumOff val="40000"/>
                </a:schemeClr>
              </a:solidFill>
              <a:effectLst/>
              <a:uLnTx/>
              <a:uFillTx/>
              <a:latin typeface="华文楷体" panose="02010600040101010101" pitchFamily="2" charset="-122"/>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观察结论</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7.1</a:t>
            </a:r>
            <a:endParaRPr kumimoji="0" lang="en-US" altLang="zh-CN" sz="2400" b="0" i="0" u="none" strike="noStrike" kern="0" cap="none" spc="0" normalizeH="0" baseline="0" noProof="0" dirty="0">
              <a:ln>
                <a:noFill/>
              </a:ln>
              <a:solidFill>
                <a:schemeClr val="accent6">
                  <a:lumMod val="60000"/>
                  <a:lumOff val="40000"/>
                </a:schemeClr>
              </a:solidFill>
              <a:effectLst/>
              <a:uLnTx/>
              <a:uFillTx/>
              <a:latin typeface="华文楷体" panose="02010600040101010101" pitchFamily="2" charset="-122"/>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     如果</a:t>
            </a:r>
            <a:r>
              <a:rPr kumimoji="0" lang="en-US" altLang="zh-CN" sz="2400" b="0" i="0" u="none" strike="noStrike" kern="0" cap="none" spc="0" normalizeH="0" baseline="0" noProof="0" dirty="0" err="1">
                <a:ln>
                  <a:noFill/>
                </a:ln>
                <a:solidFill>
                  <a:schemeClr val="accent2"/>
                </a:solidFill>
                <a:effectLst/>
                <a:uLnTx/>
                <a:uFillTx/>
                <a:latin typeface="+mn-lt"/>
                <a:ea typeface="+mn-ea"/>
                <a:cs typeface="+mn-cs"/>
              </a:rPr>
              <a:t>i</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和</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j</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都大于</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0</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，那么</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p:txBody>
      </p:sp>
      <p:pic>
        <p:nvPicPr>
          <p:cNvPr id="64519" name="Picture 8"/>
          <p:cNvPicPr>
            <a:picLocks noChangeAspect="1"/>
          </p:cNvPicPr>
          <p:nvPr/>
        </p:nvPicPr>
        <p:blipFill>
          <a:blip r:embed="rId3"/>
          <a:stretch>
            <a:fillRect/>
          </a:stretch>
        </p:blipFill>
        <p:spPr>
          <a:xfrm>
            <a:off x="1143000" y="3571875"/>
            <a:ext cx="6965950" cy="1071563"/>
          </a:xfrm>
          <a:prstGeom prst="rect">
            <a:avLst/>
          </a:prstGeom>
          <a:noFill/>
          <a:ln w="25400">
            <a:noFill/>
          </a:ln>
        </p:spPr>
      </p:pic>
      <p:sp>
        <p:nvSpPr>
          <p:cNvPr id="5" name="Rectangle 2">
            <a:extLst>
              <a:ext uri="{FF2B5EF4-FFF2-40B4-BE49-F238E27FC236}">
                <a16:creationId xmlns:a16="http://schemas.microsoft.com/office/drawing/2014/main" id="{B2EA6894-3529-1C07-DE51-B455E165379D}"/>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dirty="0">
                <a:latin typeface="+mj-ea"/>
                <a:sym typeface="+mn-ea"/>
              </a:rPr>
              <a:t>最优子结构</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3"/>
          <p:cNvSpPr txBox="1">
            <a:spLocks noGrp="1"/>
          </p:cNvSpPr>
          <p:nvPr>
            <p:ph type="ftr" sz="quarter" idx="11"/>
          </p:nvPr>
        </p:nvSpPr>
        <p:spPr>
          <a:xfrm>
            <a:off x="107950" y="6245225"/>
            <a:ext cx="2133600" cy="476250"/>
          </a:xfrm>
        </p:spPr>
        <p:txBody>
          <a:bodyPr/>
          <a:lstStyle/>
          <a:p>
            <a:pPr marL="0" indent="0"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7587" name="Rectangle 3"/>
          <p:cNvSpPr>
            <a:spLocks noGrp="1"/>
          </p:cNvSpPr>
          <p:nvPr>
            <p:ph idx="1"/>
          </p:nvPr>
        </p:nvSpPr>
        <p:spPr>
          <a:xfrm>
            <a:off x="611560" y="1149024"/>
            <a:ext cx="8229600" cy="5708976"/>
          </a:xfrm>
          <a:solidFill>
            <a:schemeClr val="bg1">
              <a:alpha val="100000"/>
            </a:schemeClr>
          </a:solidFill>
        </p:spPr>
        <p:txBody>
          <a:bodyPr vert="horz" wrap="square" lIns="91440" tIns="45720" rIns="91440" bIns="45720" anchor="t" anchorCtr="0"/>
          <a:lstStyle/>
          <a:p>
            <a:pPr eaLnBrk="1" hangingPunct="1">
              <a:lnSpc>
                <a:spcPct val="90000"/>
              </a:lnSpc>
              <a:buNone/>
            </a:pPr>
            <a:r>
              <a:rPr lang="zh-CN" altLang="en-US" b="1" dirty="0"/>
              <a:t>算法</a:t>
            </a:r>
            <a:r>
              <a:rPr lang="en-US" altLang="zh-CN" b="1" dirty="0"/>
              <a:t>7.1 LCS</a:t>
            </a:r>
          </a:p>
          <a:p>
            <a:pPr lvl="1" eaLnBrk="1" hangingPunct="1">
              <a:lnSpc>
                <a:spcPct val="90000"/>
              </a:lnSpc>
              <a:buNone/>
            </a:pPr>
            <a:r>
              <a:rPr lang="zh-CN" altLang="en-US" sz="2000" dirty="0"/>
              <a:t>输入</a:t>
            </a:r>
            <a:r>
              <a:rPr lang="en-US" altLang="zh-CN" sz="2000" dirty="0"/>
              <a:t>:</a:t>
            </a:r>
            <a:r>
              <a:rPr lang="zh-CN" altLang="en-US" sz="2000" dirty="0"/>
              <a:t>字母表∑上的两个字符串</a:t>
            </a:r>
            <a:r>
              <a:rPr lang="en-US" altLang="zh-CN" sz="2000" dirty="0"/>
              <a:t>A</a:t>
            </a:r>
            <a:r>
              <a:rPr lang="zh-CN" altLang="en-US" sz="2000" dirty="0"/>
              <a:t>和</a:t>
            </a:r>
            <a:r>
              <a:rPr lang="en-US" altLang="zh-CN" sz="2000" dirty="0"/>
              <a:t>B</a:t>
            </a:r>
            <a:r>
              <a:rPr lang="zh-CN" altLang="en-US" sz="2000" dirty="0"/>
              <a:t>，长度分别为</a:t>
            </a:r>
            <a:r>
              <a:rPr lang="en-US" altLang="zh-CN" sz="2000" dirty="0"/>
              <a:t>n</a:t>
            </a:r>
            <a:r>
              <a:rPr lang="zh-CN" altLang="en-US" sz="2000" dirty="0"/>
              <a:t>和</a:t>
            </a:r>
            <a:r>
              <a:rPr lang="en-US" altLang="zh-CN" sz="2000" dirty="0"/>
              <a:t>m</a:t>
            </a:r>
          </a:p>
          <a:p>
            <a:pPr lvl="1" eaLnBrk="1" hangingPunct="1">
              <a:lnSpc>
                <a:spcPct val="90000"/>
              </a:lnSpc>
              <a:buNone/>
            </a:pPr>
            <a:r>
              <a:rPr lang="zh-CN" altLang="en-US" sz="2000" dirty="0"/>
              <a:t>输出</a:t>
            </a:r>
            <a:r>
              <a:rPr lang="en-US" altLang="zh-CN" sz="2000" dirty="0"/>
              <a:t>:</a:t>
            </a:r>
            <a:r>
              <a:rPr lang="zh-CN" altLang="en-US" sz="2000" dirty="0"/>
              <a:t> </a:t>
            </a:r>
            <a:r>
              <a:rPr lang="en-US" altLang="zh-CN" sz="2000" dirty="0"/>
              <a:t>A</a:t>
            </a:r>
            <a:r>
              <a:rPr lang="zh-CN" altLang="en-US" sz="2000" dirty="0"/>
              <a:t>和</a:t>
            </a:r>
            <a:r>
              <a:rPr lang="en-US" altLang="zh-CN" sz="2000" dirty="0"/>
              <a:t>B</a:t>
            </a:r>
            <a:r>
              <a:rPr lang="zh-CN" altLang="en-US" sz="2000" dirty="0"/>
              <a:t>最长公共子序列的长度。</a:t>
            </a:r>
            <a:endParaRPr lang="en-US" altLang="zh-CN" sz="2000" dirty="0"/>
          </a:p>
          <a:p>
            <a:pPr lvl="1" eaLnBrk="1" hangingPunct="1">
              <a:lnSpc>
                <a:spcPct val="90000"/>
              </a:lnSpc>
              <a:buNone/>
            </a:pPr>
            <a:r>
              <a:rPr lang="en-US" altLang="zh-CN" sz="2000" dirty="0"/>
              <a:t>      1.</a:t>
            </a:r>
            <a:r>
              <a:rPr lang="en-US" altLang="zh-CN" sz="2000" b="1" dirty="0"/>
              <a:t> for</a:t>
            </a:r>
            <a:r>
              <a:rPr lang="en-US" altLang="zh-CN" sz="2000" dirty="0"/>
              <a:t> </a:t>
            </a:r>
            <a:r>
              <a:rPr lang="en-US" altLang="zh-CN" sz="2000" i="1" dirty="0"/>
              <a:t>i</a:t>
            </a:r>
            <a:r>
              <a:rPr lang="en-US" altLang="zh-CN" sz="2000" i="1" dirty="0">
                <a:sym typeface="Wingdings" panose="05000000000000000000" pitchFamily="2" charset="2"/>
              </a:rPr>
              <a:t>0</a:t>
            </a:r>
            <a:r>
              <a:rPr lang="en-US" altLang="zh-CN" sz="2000" dirty="0">
                <a:sym typeface="Wingdings" panose="05000000000000000000" pitchFamily="2" charset="2"/>
              </a:rPr>
              <a:t> </a:t>
            </a:r>
            <a:r>
              <a:rPr lang="en-US" altLang="zh-CN" sz="2000" b="1" dirty="0">
                <a:sym typeface="Wingdings" panose="05000000000000000000" pitchFamily="2" charset="2"/>
              </a:rPr>
              <a:t>to</a:t>
            </a:r>
            <a:r>
              <a:rPr lang="en-US" altLang="zh-CN" sz="2000" dirty="0">
                <a:sym typeface="Wingdings" panose="05000000000000000000" pitchFamily="2" charset="2"/>
              </a:rPr>
              <a:t> </a:t>
            </a:r>
            <a:r>
              <a:rPr lang="en-US" altLang="zh-CN" sz="2000" i="1" dirty="0">
                <a:sym typeface="Wingdings" panose="05000000000000000000" pitchFamily="2" charset="2"/>
              </a:rPr>
              <a:t>n  //j=0</a:t>
            </a:r>
            <a:r>
              <a:rPr lang="zh-CN" altLang="en-US" sz="2000" i="1" dirty="0">
                <a:sym typeface="Wingdings" panose="05000000000000000000" pitchFamily="2" charset="2"/>
              </a:rPr>
              <a:t>时，</a:t>
            </a:r>
            <a:r>
              <a:rPr lang="en-US" altLang="zh-CN" sz="2000" dirty="0">
                <a:sym typeface="Wingdings" panose="05000000000000000000" pitchFamily="2" charset="2"/>
              </a:rPr>
              <a:t> L[i,j]=0 </a:t>
            </a:r>
            <a:endParaRPr lang="en-US" altLang="zh-CN" sz="2000" b="1" dirty="0"/>
          </a:p>
          <a:p>
            <a:pPr lvl="1" eaLnBrk="1" hangingPunct="1">
              <a:lnSpc>
                <a:spcPct val="90000"/>
              </a:lnSpc>
              <a:buNone/>
            </a:pPr>
            <a:r>
              <a:rPr lang="en-US" altLang="zh-CN" sz="2000" dirty="0"/>
              <a:t>      2.    </a:t>
            </a:r>
            <a:r>
              <a:rPr lang="en-US" altLang="zh-CN" sz="2000" dirty="0">
                <a:sym typeface="Wingdings" panose="05000000000000000000" pitchFamily="2" charset="2"/>
              </a:rPr>
              <a:t>L[i,0] 0</a:t>
            </a:r>
          </a:p>
          <a:p>
            <a:pPr lvl="1" eaLnBrk="1" hangingPunct="1">
              <a:lnSpc>
                <a:spcPct val="90000"/>
              </a:lnSpc>
              <a:buNone/>
            </a:pPr>
            <a:r>
              <a:rPr lang="en-US" altLang="zh-CN" sz="2000" dirty="0">
                <a:sym typeface="Wingdings" panose="05000000000000000000" pitchFamily="2" charset="2"/>
              </a:rPr>
              <a:t>      3. </a:t>
            </a:r>
            <a:r>
              <a:rPr lang="en-US" altLang="zh-CN" sz="2000" b="1" dirty="0"/>
              <a:t>end for</a:t>
            </a:r>
            <a:endParaRPr lang="en-US" altLang="zh-CN" sz="2000" i="1" dirty="0">
              <a:solidFill>
                <a:srgbClr val="FF0000"/>
              </a:solidFill>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4. </a:t>
            </a:r>
            <a:r>
              <a:rPr lang="en-US" altLang="zh-CN" sz="2000" b="1" dirty="0"/>
              <a:t>for</a:t>
            </a:r>
            <a:r>
              <a:rPr lang="en-US" altLang="zh-CN" sz="2000" dirty="0"/>
              <a:t> </a:t>
            </a:r>
            <a:r>
              <a:rPr lang="en-US" altLang="zh-CN" sz="2000" i="1" dirty="0"/>
              <a:t>j</a:t>
            </a:r>
            <a:r>
              <a:rPr lang="en-US" altLang="zh-CN" sz="2000" i="1" dirty="0">
                <a:sym typeface="Wingdings" panose="05000000000000000000" pitchFamily="2" charset="2"/>
              </a:rPr>
              <a:t>0</a:t>
            </a:r>
            <a:r>
              <a:rPr lang="en-US" altLang="zh-CN" sz="2000" dirty="0">
                <a:sym typeface="Wingdings" panose="05000000000000000000" pitchFamily="2" charset="2"/>
              </a:rPr>
              <a:t> </a:t>
            </a:r>
            <a:r>
              <a:rPr lang="en-US" altLang="zh-CN" sz="2000" b="1" dirty="0">
                <a:sym typeface="Wingdings" panose="05000000000000000000" pitchFamily="2" charset="2"/>
              </a:rPr>
              <a:t>to</a:t>
            </a:r>
            <a:r>
              <a:rPr lang="en-US" altLang="zh-CN" sz="2000" dirty="0">
                <a:sym typeface="Wingdings" panose="05000000000000000000" pitchFamily="2" charset="2"/>
              </a:rPr>
              <a:t> </a:t>
            </a:r>
            <a:r>
              <a:rPr lang="en-US" altLang="zh-CN" sz="2000" i="1" dirty="0">
                <a:sym typeface="Wingdings" panose="05000000000000000000" pitchFamily="2" charset="2"/>
              </a:rPr>
              <a:t>m //i=0</a:t>
            </a:r>
            <a:r>
              <a:rPr lang="zh-CN" altLang="en-US" sz="2000" i="1" dirty="0">
                <a:sym typeface="Wingdings" panose="05000000000000000000" pitchFamily="2" charset="2"/>
              </a:rPr>
              <a:t>时，</a:t>
            </a:r>
            <a:r>
              <a:rPr lang="en-US" altLang="zh-CN" sz="2000" dirty="0">
                <a:sym typeface="Wingdings" panose="05000000000000000000" pitchFamily="2" charset="2"/>
              </a:rPr>
              <a:t> L[i,j]=0 </a:t>
            </a:r>
            <a:endParaRPr lang="en-US" altLang="zh-CN" sz="2000" i="1"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5.    L[0,j] 0</a:t>
            </a:r>
            <a:endParaRPr lang="en-US" altLang="zh-CN" sz="2000" dirty="0"/>
          </a:p>
          <a:p>
            <a:pPr lvl="1" eaLnBrk="1" hangingPunct="1">
              <a:lnSpc>
                <a:spcPct val="90000"/>
              </a:lnSpc>
              <a:buNone/>
            </a:pPr>
            <a:r>
              <a:rPr lang="en-US" altLang="zh-CN" sz="2000" dirty="0"/>
              <a:t>      6. </a:t>
            </a:r>
            <a:r>
              <a:rPr lang="en-US" altLang="zh-CN" sz="2000" b="1" dirty="0"/>
              <a:t>end for</a:t>
            </a:r>
            <a:endParaRPr lang="en-US" altLang="zh-CN" sz="2000" dirty="0">
              <a:sym typeface="Wingdings" panose="05000000000000000000" pitchFamily="2" charset="2"/>
            </a:endParaRPr>
          </a:p>
          <a:p>
            <a:pPr lvl="1" eaLnBrk="1" hangingPunct="1">
              <a:lnSpc>
                <a:spcPct val="90000"/>
              </a:lnSpc>
              <a:buNone/>
            </a:pPr>
            <a:r>
              <a:rPr lang="en-US" altLang="zh-CN" sz="2000" dirty="0">
                <a:sym typeface="Wingdings" panose="05000000000000000000" pitchFamily="2" charset="2"/>
              </a:rPr>
              <a:t>      7. </a:t>
            </a:r>
            <a:r>
              <a:rPr lang="en-US" altLang="zh-CN" sz="2000" b="1" dirty="0"/>
              <a:t>for</a:t>
            </a:r>
            <a:r>
              <a:rPr lang="en-US" altLang="zh-CN" sz="2000" dirty="0"/>
              <a:t> </a:t>
            </a:r>
            <a:r>
              <a:rPr lang="en-US" altLang="zh-CN" sz="2000" i="1" dirty="0"/>
              <a:t>i</a:t>
            </a:r>
            <a:r>
              <a:rPr lang="en-US" altLang="zh-CN" sz="2000" i="1" dirty="0">
                <a:sym typeface="Wingdings" panose="05000000000000000000" pitchFamily="2" charset="2"/>
              </a:rPr>
              <a:t>0</a:t>
            </a:r>
            <a:r>
              <a:rPr lang="en-US" altLang="zh-CN" sz="2000" dirty="0">
                <a:sym typeface="Wingdings" panose="05000000000000000000" pitchFamily="2" charset="2"/>
              </a:rPr>
              <a:t> </a:t>
            </a:r>
            <a:r>
              <a:rPr lang="en-US" altLang="zh-CN" sz="2000" b="1" dirty="0">
                <a:sym typeface="Wingdings" panose="05000000000000000000" pitchFamily="2" charset="2"/>
              </a:rPr>
              <a:t>to</a:t>
            </a:r>
            <a:r>
              <a:rPr lang="en-US" altLang="zh-CN" sz="2000" dirty="0">
                <a:sym typeface="Wingdings" panose="05000000000000000000" pitchFamily="2" charset="2"/>
              </a:rPr>
              <a:t> </a:t>
            </a:r>
            <a:r>
              <a:rPr lang="en-US" altLang="zh-CN" sz="2000" i="1" dirty="0">
                <a:sym typeface="Wingdings" panose="05000000000000000000" pitchFamily="2" charset="2"/>
              </a:rPr>
              <a:t>n</a:t>
            </a:r>
            <a:endParaRPr lang="en-US" altLang="zh-CN" sz="2000" dirty="0">
              <a:sym typeface="Wingdings" panose="05000000000000000000" pitchFamily="2" charset="2"/>
            </a:endParaRPr>
          </a:p>
          <a:p>
            <a:pPr lvl="1" eaLnBrk="1" hangingPunct="1">
              <a:lnSpc>
                <a:spcPct val="90000"/>
              </a:lnSpc>
              <a:buNone/>
            </a:pPr>
            <a:r>
              <a:rPr lang="en-US" altLang="zh-CN" sz="2000" dirty="0"/>
              <a:t>      8.      </a:t>
            </a:r>
            <a:r>
              <a:rPr lang="en-US" altLang="zh-CN" sz="2000" b="1" dirty="0"/>
              <a:t>for</a:t>
            </a:r>
            <a:r>
              <a:rPr lang="en-US" altLang="zh-CN" sz="2000" dirty="0"/>
              <a:t> </a:t>
            </a:r>
            <a:r>
              <a:rPr lang="en-US" altLang="zh-CN" sz="2000" i="1" dirty="0"/>
              <a:t>j</a:t>
            </a:r>
            <a:r>
              <a:rPr lang="en-US" altLang="zh-CN" sz="2000" i="1" dirty="0">
                <a:sym typeface="Wingdings" panose="05000000000000000000" pitchFamily="2" charset="2"/>
              </a:rPr>
              <a:t>0</a:t>
            </a:r>
            <a:r>
              <a:rPr lang="en-US" altLang="zh-CN" sz="2000" dirty="0">
                <a:sym typeface="Wingdings" panose="05000000000000000000" pitchFamily="2" charset="2"/>
              </a:rPr>
              <a:t> </a:t>
            </a:r>
            <a:r>
              <a:rPr lang="en-US" altLang="zh-CN" sz="2000" b="1" dirty="0">
                <a:sym typeface="Wingdings" panose="05000000000000000000" pitchFamily="2" charset="2"/>
              </a:rPr>
              <a:t>to</a:t>
            </a:r>
            <a:r>
              <a:rPr lang="en-US" altLang="zh-CN" sz="2000" dirty="0">
                <a:sym typeface="Wingdings" panose="05000000000000000000" pitchFamily="2" charset="2"/>
              </a:rPr>
              <a:t> </a:t>
            </a:r>
            <a:r>
              <a:rPr lang="en-US" altLang="zh-CN" sz="2000" i="1" dirty="0">
                <a:sym typeface="Wingdings" panose="05000000000000000000" pitchFamily="2" charset="2"/>
              </a:rPr>
              <a:t>m</a:t>
            </a:r>
            <a:endParaRPr lang="en-US" altLang="zh-CN" sz="2000" dirty="0"/>
          </a:p>
          <a:p>
            <a:pPr lvl="1" eaLnBrk="1" hangingPunct="1">
              <a:lnSpc>
                <a:spcPct val="90000"/>
              </a:lnSpc>
              <a:buNone/>
            </a:pPr>
            <a:r>
              <a:rPr lang="en-US" altLang="zh-CN" sz="2000" i="1" dirty="0"/>
              <a:t>      9.          </a:t>
            </a:r>
            <a:r>
              <a:rPr lang="en-US" altLang="zh-CN" sz="2000" b="1" dirty="0"/>
              <a:t>if</a:t>
            </a:r>
            <a:r>
              <a:rPr lang="en-US" altLang="zh-CN" sz="2000" dirty="0"/>
              <a:t> </a:t>
            </a:r>
            <a:r>
              <a:rPr lang="en-US" altLang="zh-CN" sz="2000" dirty="0">
                <a:sym typeface="Wingdings" panose="05000000000000000000" pitchFamily="2" charset="2"/>
              </a:rPr>
              <a:t>a</a:t>
            </a:r>
            <a:r>
              <a:rPr lang="en-US" altLang="zh-CN" sz="2000" baseline="-25000" dirty="0">
                <a:sym typeface="Wingdings" panose="05000000000000000000" pitchFamily="2" charset="2"/>
              </a:rPr>
              <a:t>i </a:t>
            </a:r>
            <a:r>
              <a:rPr lang="en-US" altLang="zh-CN" sz="2000" dirty="0"/>
              <a:t>=</a:t>
            </a:r>
            <a:r>
              <a:rPr lang="en-US" altLang="zh-CN" sz="2000" dirty="0">
                <a:sym typeface="Wingdings" panose="05000000000000000000" pitchFamily="2" charset="2"/>
              </a:rPr>
              <a:t> b</a:t>
            </a:r>
            <a:r>
              <a:rPr lang="en-US" altLang="zh-CN" sz="2000" baseline="-25000" dirty="0">
                <a:sym typeface="Wingdings" panose="05000000000000000000" pitchFamily="2" charset="2"/>
              </a:rPr>
              <a:t>j </a:t>
            </a:r>
            <a:r>
              <a:rPr lang="en-US" altLang="zh-CN" sz="2000" b="1" dirty="0"/>
              <a:t>then</a:t>
            </a:r>
            <a:r>
              <a:rPr lang="en-US" altLang="zh-CN" sz="2000" dirty="0"/>
              <a:t> </a:t>
            </a:r>
            <a:r>
              <a:rPr lang="en-US" altLang="zh-CN" sz="2000" dirty="0">
                <a:sym typeface="Wingdings" panose="05000000000000000000" pitchFamily="2" charset="2"/>
              </a:rPr>
              <a:t>L[i,j] L[i-1,j-1] + 1</a:t>
            </a:r>
          </a:p>
          <a:p>
            <a:pPr lvl="1" eaLnBrk="1" hangingPunct="1">
              <a:lnSpc>
                <a:spcPct val="90000"/>
              </a:lnSpc>
              <a:buNone/>
            </a:pPr>
            <a:r>
              <a:rPr lang="en-US" altLang="zh-CN" sz="2000" i="1" dirty="0">
                <a:sym typeface="Wingdings" panose="05000000000000000000" pitchFamily="2" charset="2"/>
              </a:rPr>
              <a:t>      </a:t>
            </a:r>
            <a:r>
              <a:rPr lang="en-US" altLang="zh-CN" sz="2000" dirty="0">
                <a:sym typeface="Wingdings" panose="05000000000000000000" pitchFamily="2" charset="2"/>
              </a:rPr>
              <a:t>10.        </a:t>
            </a:r>
            <a:r>
              <a:rPr lang="en-US" altLang="zh-CN" sz="2000" b="1" dirty="0">
                <a:sym typeface="Wingdings" panose="05000000000000000000" pitchFamily="2" charset="2"/>
              </a:rPr>
              <a:t>else</a:t>
            </a:r>
            <a:r>
              <a:rPr lang="en-US" altLang="zh-CN" sz="2000" dirty="0">
                <a:sym typeface="Wingdings" panose="05000000000000000000" pitchFamily="2" charset="2"/>
              </a:rPr>
              <a:t> L[i,j] max{L[i,j-1], L[i-1,j]}</a:t>
            </a:r>
          </a:p>
          <a:p>
            <a:pPr lvl="1" eaLnBrk="1" hangingPunct="1">
              <a:lnSpc>
                <a:spcPct val="90000"/>
              </a:lnSpc>
              <a:buNone/>
            </a:pPr>
            <a:r>
              <a:rPr lang="en-US" altLang="zh-CN" sz="2000" dirty="0"/>
              <a:t>      11.        </a:t>
            </a:r>
            <a:r>
              <a:rPr lang="en-US" altLang="zh-CN" sz="2000" b="1" dirty="0"/>
              <a:t>end if</a:t>
            </a:r>
          </a:p>
          <a:p>
            <a:pPr lvl="1" eaLnBrk="1" hangingPunct="1">
              <a:lnSpc>
                <a:spcPct val="90000"/>
              </a:lnSpc>
              <a:buNone/>
            </a:pPr>
            <a:r>
              <a:rPr lang="en-US" altLang="zh-CN" sz="2000" dirty="0"/>
              <a:t>      12.    </a:t>
            </a:r>
            <a:r>
              <a:rPr lang="en-US" altLang="zh-CN" sz="2000" b="1" dirty="0"/>
              <a:t>end for</a:t>
            </a:r>
          </a:p>
          <a:p>
            <a:pPr lvl="1" eaLnBrk="1" hangingPunct="1">
              <a:lnSpc>
                <a:spcPct val="90000"/>
              </a:lnSpc>
              <a:buNone/>
            </a:pPr>
            <a:r>
              <a:rPr lang="en-US" altLang="zh-CN" sz="2000" b="1" dirty="0"/>
              <a:t>      </a:t>
            </a:r>
            <a:r>
              <a:rPr lang="en-US" altLang="zh-CN" sz="2000" dirty="0"/>
              <a:t>13.</a:t>
            </a:r>
            <a:r>
              <a:rPr lang="en-US" altLang="zh-CN" sz="2000" b="1" dirty="0"/>
              <a:t>end for</a:t>
            </a:r>
          </a:p>
          <a:p>
            <a:pPr lvl="1" eaLnBrk="1" hangingPunct="1">
              <a:lnSpc>
                <a:spcPct val="90000"/>
              </a:lnSpc>
              <a:buNone/>
            </a:pPr>
            <a:r>
              <a:rPr lang="en-US" altLang="zh-CN" sz="2000" b="1" dirty="0"/>
              <a:t>      </a:t>
            </a:r>
            <a:r>
              <a:rPr lang="en-US" altLang="zh-CN" sz="2000" dirty="0"/>
              <a:t>14. </a:t>
            </a:r>
            <a:r>
              <a:rPr lang="en-US" altLang="zh-CN" sz="2000" b="1" dirty="0"/>
              <a:t>return </a:t>
            </a:r>
            <a:r>
              <a:rPr lang="en-US" altLang="zh-CN" sz="2000" dirty="0"/>
              <a:t>L[n,m]</a:t>
            </a:r>
          </a:p>
        </p:txBody>
      </p:sp>
      <p:sp>
        <p:nvSpPr>
          <p:cNvPr id="3" name="Rectangle 2">
            <a:extLst>
              <a:ext uri="{FF2B5EF4-FFF2-40B4-BE49-F238E27FC236}">
                <a16:creationId xmlns:a16="http://schemas.microsoft.com/office/drawing/2014/main" id="{9FF26081-87B2-84E3-A41B-E4E43319A2C4}"/>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dirty="0">
                <a:latin typeface="+mj-ea"/>
                <a:sym typeface="+mn-ea"/>
              </a:rPr>
              <a:t>伪代码</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9635"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9636"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30</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69637" name="Rectangle 2"/>
          <p:cNvSpPr>
            <a:spLocks noGrp="1"/>
          </p:cNvSpPr>
          <p:nvPr>
            <p:ph idx="1"/>
          </p:nvPr>
        </p:nvSpPr>
        <p:spPr>
          <a:xfrm>
            <a:off x="457200" y="1268760"/>
            <a:ext cx="8229600" cy="1150938"/>
          </a:xfrm>
        </p:spPr>
        <p:txBody>
          <a:bodyPr vert="horz" wrap="square" lIns="91440" tIns="45720" rIns="91440" bIns="45720" anchor="t" anchorCtr="0"/>
          <a:lstStyle/>
          <a:p>
            <a:pPr eaLnBrk="1" hangingPunct="1"/>
            <a:r>
              <a:rPr lang="en-US" altLang="zh-CN" dirty="0">
                <a:solidFill>
                  <a:schemeClr val="tx2"/>
                </a:solidFill>
              </a:rPr>
              <a:t>Example</a:t>
            </a:r>
            <a:r>
              <a:rPr lang="en-US" altLang="zh-CN" dirty="0"/>
              <a:t>:</a:t>
            </a:r>
            <a:r>
              <a:rPr lang="en-US" altLang="zh-CN" i="1" dirty="0"/>
              <a:t>X </a:t>
            </a:r>
            <a:r>
              <a:rPr lang="en-US" altLang="zh-CN" dirty="0"/>
              <a:t>= </a:t>
            </a:r>
            <a:r>
              <a:rPr lang="en-US" altLang="zh-CN" i="1" dirty="0"/>
              <a:t>A</a:t>
            </a:r>
            <a:r>
              <a:rPr lang="en-US" altLang="zh-CN" dirty="0"/>
              <a:t>, </a:t>
            </a:r>
            <a:r>
              <a:rPr lang="en-US" altLang="zh-CN" i="1" dirty="0"/>
              <a:t>B</a:t>
            </a:r>
            <a:r>
              <a:rPr lang="en-US" altLang="zh-CN" dirty="0"/>
              <a:t>, </a:t>
            </a:r>
            <a:r>
              <a:rPr lang="en-US" altLang="zh-CN" i="1" dirty="0"/>
              <a:t>C</a:t>
            </a:r>
            <a:r>
              <a:rPr lang="en-US" altLang="zh-CN" dirty="0"/>
              <a:t>, </a:t>
            </a:r>
            <a:r>
              <a:rPr lang="en-US" altLang="zh-CN" i="1" dirty="0"/>
              <a:t>B</a:t>
            </a:r>
            <a:r>
              <a:rPr lang="en-US" altLang="zh-CN" dirty="0"/>
              <a:t>,</a:t>
            </a:r>
            <a:r>
              <a:rPr lang="en-US" altLang="zh-CN" i="1" dirty="0"/>
              <a:t>D</a:t>
            </a:r>
            <a:r>
              <a:rPr lang="en-US" altLang="zh-CN" dirty="0"/>
              <a:t>, </a:t>
            </a:r>
            <a:r>
              <a:rPr lang="en-US" altLang="zh-CN" i="1" dirty="0"/>
              <a:t>A</a:t>
            </a:r>
            <a:r>
              <a:rPr lang="en-US" altLang="zh-CN" dirty="0"/>
              <a:t>, </a:t>
            </a:r>
            <a:r>
              <a:rPr lang="en-US" altLang="zh-CN" i="1" dirty="0"/>
              <a:t>B</a:t>
            </a:r>
            <a:r>
              <a:rPr lang="en-US" altLang="zh-CN" dirty="0"/>
              <a:t> and </a:t>
            </a:r>
            <a:r>
              <a:rPr lang="en-US" altLang="zh-CN" i="1" dirty="0"/>
              <a:t>Y </a:t>
            </a:r>
            <a:r>
              <a:rPr lang="en-US" altLang="zh-CN" dirty="0"/>
              <a:t>= </a:t>
            </a:r>
            <a:r>
              <a:rPr lang="en-US" altLang="zh-CN" i="1" dirty="0"/>
              <a:t>B</a:t>
            </a:r>
            <a:r>
              <a:rPr lang="en-US" altLang="zh-CN" dirty="0"/>
              <a:t>, </a:t>
            </a:r>
            <a:r>
              <a:rPr lang="en-US" altLang="zh-CN" i="1" dirty="0"/>
              <a:t>D</a:t>
            </a:r>
            <a:r>
              <a:rPr lang="en-US" altLang="zh-CN" dirty="0"/>
              <a:t>, </a:t>
            </a:r>
            <a:r>
              <a:rPr lang="en-US" altLang="zh-CN" i="1" dirty="0"/>
              <a:t>C</a:t>
            </a:r>
            <a:r>
              <a:rPr lang="en-US" altLang="zh-CN" dirty="0"/>
              <a:t>, </a:t>
            </a:r>
            <a:r>
              <a:rPr lang="en-US" altLang="zh-CN" i="1" dirty="0"/>
              <a:t>A</a:t>
            </a:r>
            <a:r>
              <a:rPr lang="en-US" altLang="zh-CN" dirty="0"/>
              <a:t>, </a:t>
            </a:r>
            <a:r>
              <a:rPr lang="en-US" altLang="zh-CN" i="1" dirty="0"/>
              <a:t>B</a:t>
            </a:r>
            <a:r>
              <a:rPr lang="en-US" altLang="zh-CN" dirty="0"/>
              <a:t>, </a:t>
            </a:r>
            <a:r>
              <a:rPr lang="en-US" altLang="zh-CN" i="1" dirty="0"/>
              <a:t>A</a:t>
            </a:r>
            <a:r>
              <a:rPr lang="en-US" altLang="zh-CN" dirty="0"/>
              <a:t>.</a:t>
            </a:r>
          </a:p>
        </p:txBody>
      </p:sp>
      <p:pic>
        <p:nvPicPr>
          <p:cNvPr id="69638" name="Picture 3"/>
          <p:cNvPicPr>
            <a:picLocks noChangeAspect="1"/>
          </p:cNvPicPr>
          <p:nvPr/>
        </p:nvPicPr>
        <p:blipFill>
          <a:blip r:embed="rId2"/>
          <a:stretch>
            <a:fillRect/>
          </a:stretch>
        </p:blipFill>
        <p:spPr>
          <a:xfrm>
            <a:off x="2148681" y="1741488"/>
            <a:ext cx="4846638" cy="5116512"/>
          </a:xfrm>
          <a:prstGeom prst="rect">
            <a:avLst/>
          </a:prstGeom>
          <a:noFill/>
          <a:ln w="25400">
            <a:noFill/>
          </a:ln>
        </p:spPr>
      </p:pic>
      <p:sp>
        <p:nvSpPr>
          <p:cNvPr id="3" name="Rectangle 2">
            <a:extLst>
              <a:ext uri="{FF2B5EF4-FFF2-40B4-BE49-F238E27FC236}">
                <a16:creationId xmlns:a16="http://schemas.microsoft.com/office/drawing/2014/main" id="{ED3672C3-5C64-83F5-D04A-BABB15C42F8B}"/>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dirty="0">
                <a:latin typeface="+mj-ea"/>
                <a:sym typeface="+mn-ea"/>
              </a:rPr>
              <a:t>例子</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70659"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70660"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31</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70661" name="Rectangle 2"/>
          <p:cNvSpPr>
            <a:spLocks noGrp="1"/>
          </p:cNvSpPr>
          <p:nvPr>
            <p:ph idx="1"/>
          </p:nvPr>
        </p:nvSpPr>
        <p:spPr>
          <a:xfrm>
            <a:off x="971600" y="1267374"/>
            <a:ext cx="7473950" cy="5211763"/>
          </a:xfrm>
          <a:solidFill>
            <a:schemeClr val="bg1">
              <a:alpha val="100000"/>
            </a:schemeClr>
          </a:solidFill>
          <a:ln>
            <a:solidFill>
              <a:schemeClr val="tx1">
                <a:alpha val="100000"/>
              </a:schemeClr>
            </a:solidFill>
            <a:miter lim="800000"/>
          </a:ln>
        </p:spPr>
        <p:txBody>
          <a:bodyPr vert="horz" wrap="square" lIns="91440" tIns="45720" rIns="91440" bIns="45720" anchor="t" anchorCtr="0"/>
          <a:lstStyle/>
          <a:p>
            <a:pPr>
              <a:lnSpc>
                <a:spcPct val="80000"/>
              </a:lnSpc>
              <a:buNone/>
            </a:pPr>
            <a:r>
              <a:rPr lang="en-US" altLang="zh-CN" sz="1600" dirty="0"/>
              <a:t>Algorithm LCS-LENGTH(</a:t>
            </a:r>
            <a:r>
              <a:rPr lang="en-US" altLang="zh-CN" sz="1600" i="1" dirty="0"/>
              <a:t>X</a:t>
            </a:r>
            <a:r>
              <a:rPr lang="en-US" altLang="zh-CN" sz="1600" dirty="0"/>
              <a:t>, </a:t>
            </a:r>
            <a:r>
              <a:rPr lang="en-US" altLang="zh-CN" sz="1600" i="1" dirty="0"/>
              <a:t>Y</a:t>
            </a:r>
            <a:r>
              <a:rPr lang="en-US" altLang="zh-CN" sz="1600" dirty="0"/>
              <a:t>)</a:t>
            </a:r>
          </a:p>
          <a:p>
            <a:pPr>
              <a:lnSpc>
                <a:spcPct val="80000"/>
              </a:lnSpc>
              <a:buNone/>
            </a:pPr>
            <a:endParaRPr lang="en-US" altLang="zh-CN" sz="1600" dirty="0"/>
          </a:p>
          <a:p>
            <a:pPr>
              <a:lnSpc>
                <a:spcPct val="80000"/>
              </a:lnSpc>
              <a:buNone/>
            </a:pPr>
            <a:r>
              <a:rPr lang="en-US" altLang="zh-CN" sz="1600" dirty="0"/>
              <a:t> </a:t>
            </a:r>
            <a:r>
              <a:rPr lang="en-US" altLang="zh-CN" sz="1600" i="1" dirty="0"/>
              <a:t>m </a:t>
            </a:r>
            <a:r>
              <a:rPr lang="en-US" altLang="zh-CN" sz="1600" dirty="0"/>
              <a:t>← </a:t>
            </a:r>
            <a:r>
              <a:rPr lang="en-US" altLang="zh-CN" sz="1600" i="1" dirty="0"/>
              <a:t>length</a:t>
            </a:r>
            <a:r>
              <a:rPr lang="en-US" altLang="zh-CN" sz="1600" dirty="0"/>
              <a:t>[</a:t>
            </a:r>
            <a:r>
              <a:rPr lang="en-US" altLang="zh-CN" sz="1600" i="1" dirty="0"/>
              <a:t>X</a:t>
            </a:r>
            <a:r>
              <a:rPr lang="en-US" altLang="zh-CN" sz="1600" dirty="0"/>
              <a:t>]</a:t>
            </a:r>
          </a:p>
          <a:p>
            <a:pPr>
              <a:lnSpc>
                <a:spcPct val="80000"/>
              </a:lnSpc>
              <a:buNone/>
            </a:pPr>
            <a:r>
              <a:rPr lang="en-US" altLang="zh-CN" sz="1600" dirty="0"/>
              <a:t> </a:t>
            </a:r>
            <a:r>
              <a:rPr lang="en-US" altLang="zh-CN" sz="1600" i="1" dirty="0"/>
              <a:t>n </a:t>
            </a:r>
            <a:r>
              <a:rPr lang="en-US" altLang="zh-CN" sz="1600" dirty="0"/>
              <a:t>← </a:t>
            </a:r>
            <a:r>
              <a:rPr lang="en-US" altLang="zh-CN" sz="1600" i="1" dirty="0"/>
              <a:t>length</a:t>
            </a:r>
            <a:r>
              <a:rPr lang="en-US" altLang="zh-CN" sz="1600" dirty="0"/>
              <a:t>[</a:t>
            </a:r>
            <a:r>
              <a:rPr lang="en-US" altLang="zh-CN" sz="1600" i="1" dirty="0"/>
              <a:t>Y</a:t>
            </a:r>
            <a:r>
              <a:rPr lang="en-US" altLang="zh-CN" sz="1600" dirty="0"/>
              <a:t>]</a:t>
            </a:r>
          </a:p>
          <a:p>
            <a:pPr>
              <a:lnSpc>
                <a:spcPct val="80000"/>
              </a:lnSpc>
              <a:buNone/>
            </a:pPr>
            <a:r>
              <a:rPr lang="en-US" altLang="zh-CN" sz="1600" b="1" dirty="0"/>
              <a:t>for </a:t>
            </a:r>
            <a:r>
              <a:rPr lang="en-US" altLang="zh-CN" sz="1600" i="1" dirty="0"/>
              <a:t>i </a:t>
            </a:r>
            <a:r>
              <a:rPr lang="en-US" altLang="zh-CN" sz="1600" dirty="0"/>
              <a:t>← 0 </a:t>
            </a:r>
            <a:r>
              <a:rPr lang="en-US" altLang="zh-CN" sz="1600" b="1" dirty="0"/>
              <a:t>to </a:t>
            </a:r>
            <a:r>
              <a:rPr lang="en-US" altLang="zh-CN" sz="1600" i="1" dirty="0"/>
              <a:t>m</a:t>
            </a:r>
          </a:p>
          <a:p>
            <a:pPr>
              <a:lnSpc>
                <a:spcPct val="80000"/>
              </a:lnSpc>
              <a:buNone/>
            </a:pPr>
            <a:r>
              <a:rPr lang="en-US" altLang="zh-CN" sz="1600" dirty="0"/>
              <a:t>	 </a:t>
            </a:r>
            <a:r>
              <a:rPr lang="en-US" altLang="zh-CN" sz="1600" i="1" dirty="0"/>
              <a:t>L</a:t>
            </a:r>
            <a:r>
              <a:rPr lang="en-US" altLang="zh-CN" sz="1600" dirty="0"/>
              <a:t>[</a:t>
            </a:r>
            <a:r>
              <a:rPr lang="en-US" altLang="zh-CN" sz="1600" i="1" dirty="0"/>
              <a:t>i</a:t>
            </a:r>
            <a:r>
              <a:rPr lang="en-US" altLang="zh-CN" sz="1600" dirty="0"/>
              <a:t>, 0] ← 0</a:t>
            </a:r>
          </a:p>
          <a:p>
            <a:pPr>
              <a:lnSpc>
                <a:spcPct val="80000"/>
              </a:lnSpc>
              <a:buNone/>
            </a:pPr>
            <a:r>
              <a:rPr lang="en-US" altLang="zh-CN" sz="1600" dirty="0"/>
              <a:t>end for</a:t>
            </a:r>
          </a:p>
          <a:p>
            <a:pPr>
              <a:lnSpc>
                <a:spcPct val="80000"/>
              </a:lnSpc>
              <a:buNone/>
            </a:pPr>
            <a:r>
              <a:rPr lang="en-US" altLang="zh-CN" sz="1600" b="1" dirty="0"/>
              <a:t>for </a:t>
            </a:r>
            <a:r>
              <a:rPr lang="en-US" altLang="zh-CN" sz="1600" i="1" dirty="0"/>
              <a:t>j </a:t>
            </a:r>
            <a:r>
              <a:rPr lang="en-US" altLang="zh-CN" sz="1600" dirty="0"/>
              <a:t>← 0 </a:t>
            </a:r>
            <a:r>
              <a:rPr lang="en-US" altLang="zh-CN" sz="1600" b="1" dirty="0"/>
              <a:t>to </a:t>
            </a:r>
            <a:r>
              <a:rPr lang="en-US" altLang="zh-CN" sz="1600" i="1" dirty="0"/>
              <a:t>n</a:t>
            </a:r>
          </a:p>
          <a:p>
            <a:pPr>
              <a:lnSpc>
                <a:spcPct val="80000"/>
              </a:lnSpc>
              <a:buNone/>
            </a:pPr>
            <a:r>
              <a:rPr lang="en-US" altLang="zh-CN" sz="1600" dirty="0"/>
              <a:t>	</a:t>
            </a:r>
            <a:r>
              <a:rPr lang="en-US" altLang="zh-CN" sz="1600" b="1" dirty="0"/>
              <a:t> </a:t>
            </a:r>
            <a:r>
              <a:rPr lang="en-US" altLang="zh-CN" sz="1600" b="1" i="1" dirty="0"/>
              <a:t>L</a:t>
            </a:r>
            <a:r>
              <a:rPr lang="en-US" altLang="zh-CN" sz="1600" dirty="0"/>
              <a:t>[0, </a:t>
            </a:r>
            <a:r>
              <a:rPr lang="en-US" altLang="zh-CN" sz="1600" i="1" dirty="0"/>
              <a:t>j</a:t>
            </a:r>
            <a:r>
              <a:rPr lang="en-US" altLang="zh-CN" sz="1600" dirty="0"/>
              <a:t>] ← 0</a:t>
            </a:r>
          </a:p>
          <a:p>
            <a:pPr>
              <a:lnSpc>
                <a:spcPct val="80000"/>
              </a:lnSpc>
              <a:buNone/>
            </a:pPr>
            <a:r>
              <a:rPr lang="en-US" altLang="zh-CN" sz="1600" dirty="0"/>
              <a:t>end for</a:t>
            </a:r>
          </a:p>
          <a:p>
            <a:pPr>
              <a:lnSpc>
                <a:spcPct val="80000"/>
              </a:lnSpc>
              <a:buNone/>
            </a:pPr>
            <a:r>
              <a:rPr lang="en-US" altLang="zh-CN" sz="1600" dirty="0"/>
              <a:t> </a:t>
            </a:r>
            <a:r>
              <a:rPr lang="en-US" altLang="zh-CN" sz="1600" b="1" dirty="0"/>
              <a:t>for </a:t>
            </a:r>
            <a:r>
              <a:rPr lang="en-US" altLang="zh-CN" sz="1600" i="1" dirty="0"/>
              <a:t>i </a:t>
            </a:r>
            <a:r>
              <a:rPr lang="en-US" altLang="zh-CN" sz="1600" dirty="0"/>
              <a:t>← 1 </a:t>
            </a:r>
            <a:r>
              <a:rPr lang="en-US" altLang="zh-CN" sz="1600" b="1" dirty="0"/>
              <a:t>to </a:t>
            </a:r>
            <a:r>
              <a:rPr lang="en-US" altLang="zh-CN" sz="1600" i="1" dirty="0"/>
              <a:t>m</a:t>
            </a:r>
          </a:p>
          <a:p>
            <a:pPr>
              <a:lnSpc>
                <a:spcPct val="80000"/>
              </a:lnSpc>
              <a:buNone/>
            </a:pPr>
            <a:r>
              <a:rPr lang="en-US" altLang="zh-CN" sz="1600" dirty="0"/>
              <a:t> 	</a:t>
            </a:r>
            <a:r>
              <a:rPr lang="en-US" altLang="zh-CN" sz="1600" b="1" dirty="0"/>
              <a:t>for </a:t>
            </a:r>
            <a:r>
              <a:rPr lang="en-US" altLang="zh-CN" sz="1600" i="1" dirty="0"/>
              <a:t>j </a:t>
            </a:r>
            <a:r>
              <a:rPr lang="en-US" altLang="zh-CN" sz="1600" dirty="0"/>
              <a:t>← 1 </a:t>
            </a:r>
            <a:r>
              <a:rPr lang="en-US" altLang="zh-CN" sz="1600" b="1" dirty="0"/>
              <a:t>to </a:t>
            </a:r>
            <a:r>
              <a:rPr lang="en-US" altLang="zh-CN" sz="1600" i="1" dirty="0"/>
              <a:t>n</a:t>
            </a:r>
          </a:p>
          <a:p>
            <a:pPr lvl="1">
              <a:lnSpc>
                <a:spcPct val="80000"/>
              </a:lnSpc>
              <a:buNone/>
            </a:pPr>
            <a:r>
              <a:rPr lang="en-US" altLang="zh-CN" sz="1800" b="1" dirty="0"/>
              <a:t>	if </a:t>
            </a:r>
            <a:r>
              <a:rPr lang="en-US" altLang="zh-CN" sz="1800" i="1" dirty="0"/>
              <a:t>x</a:t>
            </a:r>
            <a:r>
              <a:rPr lang="en-US" altLang="zh-CN" sz="1800" i="1" baseline="-25000" dirty="0"/>
              <a:t>i</a:t>
            </a:r>
            <a:r>
              <a:rPr lang="en-US" altLang="zh-CN" sz="1800" i="1" dirty="0"/>
              <a:t> </a:t>
            </a:r>
            <a:r>
              <a:rPr lang="en-US" altLang="zh-CN" sz="1800" dirty="0"/>
              <a:t>= </a:t>
            </a:r>
            <a:r>
              <a:rPr lang="en-US" altLang="zh-CN" sz="1800" i="1" dirty="0"/>
              <a:t>y</a:t>
            </a:r>
            <a:r>
              <a:rPr lang="en-US" altLang="zh-CN" sz="1800" i="1" baseline="-25000" dirty="0"/>
              <a:t>j</a:t>
            </a:r>
            <a:r>
              <a:rPr lang="en-US" altLang="zh-CN" sz="1800" i="1" dirty="0"/>
              <a:t>  </a:t>
            </a:r>
            <a:r>
              <a:rPr lang="en-US" altLang="zh-CN" sz="1800" b="1" dirty="0"/>
              <a:t>then L</a:t>
            </a:r>
            <a:r>
              <a:rPr lang="en-US" altLang="zh-CN" sz="1800" dirty="0"/>
              <a:t>[</a:t>
            </a:r>
            <a:r>
              <a:rPr lang="en-US" altLang="zh-CN" sz="1800" i="1" dirty="0"/>
              <a:t>i</a:t>
            </a:r>
            <a:r>
              <a:rPr lang="en-US" altLang="zh-CN" sz="1800" dirty="0"/>
              <a:t>, </a:t>
            </a:r>
            <a:r>
              <a:rPr lang="en-US" altLang="zh-CN" sz="1800" i="1" dirty="0"/>
              <a:t>j</a:t>
            </a:r>
            <a:r>
              <a:rPr lang="en-US" altLang="zh-CN" sz="1800" dirty="0"/>
              <a:t>] ← </a:t>
            </a:r>
            <a:r>
              <a:rPr lang="en-US" altLang="zh-CN" sz="1800" i="1" dirty="0"/>
              <a:t>L</a:t>
            </a:r>
            <a:r>
              <a:rPr lang="en-US" altLang="zh-CN" sz="1800" dirty="0"/>
              <a:t>[</a:t>
            </a:r>
            <a:r>
              <a:rPr lang="en-US" altLang="zh-CN" sz="1800" i="1" dirty="0"/>
              <a:t>i </a:t>
            </a:r>
            <a:r>
              <a:rPr lang="en-US" altLang="zh-CN" sz="1800" dirty="0"/>
              <a:t>- 1, </a:t>
            </a:r>
            <a:r>
              <a:rPr lang="en-US" altLang="zh-CN" sz="1800" i="1" dirty="0"/>
              <a:t>j </a:t>
            </a:r>
            <a:r>
              <a:rPr lang="en-US" altLang="zh-CN" sz="1800" dirty="0"/>
              <a:t>- 1] + 1, </a:t>
            </a:r>
            <a:r>
              <a:rPr lang="en-US" altLang="zh-CN" sz="1800" i="1" dirty="0">
                <a:solidFill>
                  <a:srgbClr val="FF0000"/>
                </a:solidFill>
              </a:rPr>
              <a:t>b</a:t>
            </a:r>
            <a:r>
              <a:rPr lang="en-US" altLang="zh-CN" sz="1800" dirty="0">
                <a:solidFill>
                  <a:srgbClr val="FF0000"/>
                </a:solidFill>
              </a:rPr>
              <a:t>[</a:t>
            </a:r>
            <a:r>
              <a:rPr lang="en-US" altLang="zh-CN" sz="1800" i="1" dirty="0">
                <a:solidFill>
                  <a:srgbClr val="FF0000"/>
                </a:solidFill>
              </a:rPr>
              <a:t>i</a:t>
            </a:r>
            <a:r>
              <a:rPr lang="en-US" altLang="zh-CN" sz="1800" dirty="0">
                <a:solidFill>
                  <a:srgbClr val="FF0000"/>
                </a:solidFill>
              </a:rPr>
              <a:t>, </a:t>
            </a:r>
            <a:r>
              <a:rPr lang="en-US" altLang="zh-CN" sz="1800" i="1" dirty="0">
                <a:solidFill>
                  <a:srgbClr val="FF0000"/>
                </a:solidFill>
              </a:rPr>
              <a:t>j</a:t>
            </a:r>
            <a:r>
              <a:rPr lang="en-US" altLang="zh-CN" sz="1800" dirty="0">
                <a:solidFill>
                  <a:srgbClr val="FF0000"/>
                </a:solidFill>
              </a:rPr>
              <a:t>] ← "↖"</a:t>
            </a:r>
          </a:p>
          <a:p>
            <a:pPr lvl="1">
              <a:lnSpc>
                <a:spcPct val="80000"/>
              </a:lnSpc>
              <a:buNone/>
            </a:pPr>
            <a:r>
              <a:rPr lang="en-US" altLang="zh-CN" sz="1800" b="1" dirty="0"/>
              <a:t>    else if </a:t>
            </a:r>
            <a:r>
              <a:rPr lang="en-US" altLang="zh-CN" sz="1800" b="1" i="1" dirty="0"/>
              <a:t>L</a:t>
            </a:r>
            <a:r>
              <a:rPr lang="en-US" altLang="zh-CN" sz="1800" dirty="0"/>
              <a:t>[</a:t>
            </a:r>
            <a:r>
              <a:rPr lang="en-US" altLang="zh-CN" sz="1800" i="1" dirty="0"/>
              <a:t>i </a:t>
            </a:r>
            <a:r>
              <a:rPr lang="en-US" altLang="zh-CN" sz="1800" dirty="0"/>
              <a:t>- 1, </a:t>
            </a:r>
            <a:r>
              <a:rPr lang="en-US" altLang="zh-CN" sz="1800" i="1" dirty="0"/>
              <a:t>j</a:t>
            </a:r>
            <a:r>
              <a:rPr lang="en-US" altLang="zh-CN" sz="1800" dirty="0"/>
              <a:t>] ≥ </a:t>
            </a:r>
            <a:r>
              <a:rPr lang="en-US" altLang="zh-CN" sz="1800" i="1" dirty="0"/>
              <a:t>c</a:t>
            </a:r>
            <a:r>
              <a:rPr lang="en-US" altLang="zh-CN" sz="1800" dirty="0"/>
              <a:t>[</a:t>
            </a:r>
            <a:r>
              <a:rPr lang="en-US" altLang="zh-CN" sz="1800" i="1" dirty="0"/>
              <a:t>i</a:t>
            </a:r>
            <a:r>
              <a:rPr lang="en-US" altLang="zh-CN" sz="1800" dirty="0"/>
              <a:t>, </a:t>
            </a:r>
            <a:r>
              <a:rPr lang="en-US" altLang="zh-CN" sz="1800" i="1" dirty="0"/>
              <a:t>j </a:t>
            </a:r>
            <a:r>
              <a:rPr lang="en-US" altLang="zh-CN" sz="1800" dirty="0"/>
              <a:t>- 1]  </a:t>
            </a:r>
            <a:r>
              <a:rPr lang="en-US" altLang="zh-CN" sz="1800" b="1" dirty="0"/>
              <a:t>then </a:t>
            </a:r>
            <a:r>
              <a:rPr lang="en-US" altLang="zh-CN" sz="1800" b="1" i="1" dirty="0"/>
              <a:t>L</a:t>
            </a:r>
            <a:r>
              <a:rPr lang="en-US" altLang="zh-CN" sz="1800" dirty="0"/>
              <a:t>[</a:t>
            </a:r>
            <a:r>
              <a:rPr lang="en-US" altLang="zh-CN" sz="1800" i="1" dirty="0"/>
              <a:t>i</a:t>
            </a:r>
            <a:r>
              <a:rPr lang="en-US" altLang="zh-CN" sz="1800" dirty="0"/>
              <a:t>, </a:t>
            </a:r>
            <a:r>
              <a:rPr lang="en-US" altLang="zh-CN" sz="1800" i="1" dirty="0"/>
              <a:t>j</a:t>
            </a:r>
            <a:r>
              <a:rPr lang="en-US" altLang="zh-CN" sz="1800" dirty="0"/>
              <a:t>] ← </a:t>
            </a:r>
            <a:r>
              <a:rPr lang="en-US" altLang="zh-CN" sz="1800" i="1" dirty="0"/>
              <a:t>L</a:t>
            </a:r>
            <a:r>
              <a:rPr lang="en-US" altLang="zh-CN" sz="1800" dirty="0"/>
              <a:t>[</a:t>
            </a:r>
            <a:r>
              <a:rPr lang="en-US" altLang="zh-CN" sz="1800" i="1" dirty="0"/>
              <a:t>i </a:t>
            </a:r>
            <a:r>
              <a:rPr lang="en-US" altLang="zh-CN" sz="1800" dirty="0"/>
              <a:t>- 1, </a:t>
            </a:r>
            <a:r>
              <a:rPr lang="en-US" altLang="zh-CN" sz="1800" i="1" dirty="0"/>
              <a:t>j</a:t>
            </a:r>
            <a:r>
              <a:rPr lang="en-US" altLang="zh-CN" sz="1800" dirty="0"/>
              <a:t>], </a:t>
            </a:r>
            <a:r>
              <a:rPr lang="en-US" altLang="zh-CN" sz="1800" i="1" dirty="0">
                <a:solidFill>
                  <a:srgbClr val="FF0000"/>
                </a:solidFill>
              </a:rPr>
              <a:t>b</a:t>
            </a:r>
            <a:r>
              <a:rPr lang="en-US" altLang="zh-CN" sz="1800" dirty="0">
                <a:solidFill>
                  <a:srgbClr val="FF0000"/>
                </a:solidFill>
              </a:rPr>
              <a:t>[</a:t>
            </a:r>
            <a:r>
              <a:rPr lang="en-US" altLang="zh-CN" sz="1800" i="1" dirty="0">
                <a:solidFill>
                  <a:srgbClr val="FF0000"/>
                </a:solidFill>
              </a:rPr>
              <a:t>i</a:t>
            </a:r>
            <a:r>
              <a:rPr lang="en-US" altLang="zh-CN" sz="1800" dirty="0">
                <a:solidFill>
                  <a:srgbClr val="FF0000"/>
                </a:solidFill>
              </a:rPr>
              <a:t>, </a:t>
            </a:r>
            <a:r>
              <a:rPr lang="en-US" altLang="zh-CN" sz="1800" i="1" dirty="0">
                <a:solidFill>
                  <a:srgbClr val="FF0000"/>
                </a:solidFill>
              </a:rPr>
              <a:t>j</a:t>
            </a:r>
            <a:r>
              <a:rPr lang="en-US" altLang="zh-CN" sz="1800" dirty="0">
                <a:solidFill>
                  <a:srgbClr val="FF0000"/>
                </a:solidFill>
              </a:rPr>
              <a:t>] ← "↑"</a:t>
            </a:r>
            <a:r>
              <a:rPr lang="en-US" altLang="zh-CN" sz="1800" dirty="0"/>
              <a:t>		</a:t>
            </a:r>
          </a:p>
          <a:p>
            <a:pPr lvl="1">
              <a:lnSpc>
                <a:spcPct val="80000"/>
              </a:lnSpc>
              <a:buNone/>
            </a:pPr>
            <a:r>
              <a:rPr lang="en-US" altLang="zh-CN" sz="1800" b="1" dirty="0"/>
              <a:t>    else </a:t>
            </a:r>
            <a:r>
              <a:rPr lang="en-US" altLang="zh-CN" sz="1800" b="1" i="1" dirty="0"/>
              <a:t>L</a:t>
            </a:r>
            <a:r>
              <a:rPr lang="en-US" altLang="zh-CN" sz="1800" dirty="0"/>
              <a:t>[</a:t>
            </a:r>
            <a:r>
              <a:rPr lang="en-US" altLang="zh-CN" sz="1800" i="1" dirty="0"/>
              <a:t>i</a:t>
            </a:r>
            <a:r>
              <a:rPr lang="en-US" altLang="zh-CN" sz="1800" dirty="0"/>
              <a:t>, </a:t>
            </a:r>
            <a:r>
              <a:rPr lang="en-US" altLang="zh-CN" sz="1800" i="1" dirty="0"/>
              <a:t>j</a:t>
            </a:r>
            <a:r>
              <a:rPr lang="en-US" altLang="zh-CN" sz="1800" dirty="0"/>
              <a:t>] ← </a:t>
            </a:r>
            <a:r>
              <a:rPr lang="en-US" altLang="zh-CN" sz="1800" i="1" dirty="0"/>
              <a:t>L</a:t>
            </a:r>
            <a:r>
              <a:rPr lang="en-US" altLang="zh-CN" sz="1800" dirty="0"/>
              <a:t>[</a:t>
            </a:r>
            <a:r>
              <a:rPr lang="en-US" altLang="zh-CN" sz="1800" i="1" dirty="0"/>
              <a:t>i</a:t>
            </a:r>
            <a:r>
              <a:rPr lang="en-US" altLang="zh-CN" sz="1800" dirty="0"/>
              <a:t>, </a:t>
            </a:r>
            <a:r>
              <a:rPr lang="en-US" altLang="zh-CN" sz="1800" i="1" dirty="0"/>
              <a:t>j </a:t>
            </a:r>
            <a:r>
              <a:rPr lang="en-US" altLang="zh-CN" sz="1800" dirty="0"/>
              <a:t>- 1], </a:t>
            </a:r>
            <a:r>
              <a:rPr lang="en-US" altLang="zh-CN" sz="1800" i="1" dirty="0">
                <a:solidFill>
                  <a:srgbClr val="FF0000"/>
                </a:solidFill>
              </a:rPr>
              <a:t>b</a:t>
            </a:r>
            <a:r>
              <a:rPr lang="en-US" altLang="zh-CN" sz="1800" dirty="0">
                <a:solidFill>
                  <a:srgbClr val="FF0000"/>
                </a:solidFill>
              </a:rPr>
              <a:t>[</a:t>
            </a:r>
            <a:r>
              <a:rPr lang="en-US" altLang="zh-CN" sz="1800" i="1" dirty="0">
                <a:solidFill>
                  <a:srgbClr val="FF0000"/>
                </a:solidFill>
              </a:rPr>
              <a:t>i</a:t>
            </a:r>
            <a:r>
              <a:rPr lang="en-US" altLang="zh-CN" sz="1800" dirty="0">
                <a:solidFill>
                  <a:srgbClr val="FF0000"/>
                </a:solidFill>
              </a:rPr>
              <a:t>, </a:t>
            </a:r>
            <a:r>
              <a:rPr lang="en-US" altLang="zh-CN" sz="1800" i="1" dirty="0">
                <a:solidFill>
                  <a:srgbClr val="FF0000"/>
                </a:solidFill>
              </a:rPr>
              <a:t>j</a:t>
            </a:r>
            <a:r>
              <a:rPr lang="en-US" altLang="zh-CN" sz="1800" dirty="0">
                <a:solidFill>
                  <a:srgbClr val="FF0000"/>
                </a:solidFill>
              </a:rPr>
              <a:t>] ← " ← “</a:t>
            </a:r>
          </a:p>
          <a:p>
            <a:pPr lvl="1">
              <a:lnSpc>
                <a:spcPct val="80000"/>
              </a:lnSpc>
              <a:buNone/>
            </a:pPr>
            <a:r>
              <a:rPr lang="en-US" altLang="zh-CN" sz="1800" dirty="0"/>
              <a:t>   end if</a:t>
            </a:r>
          </a:p>
          <a:p>
            <a:pPr lvl="1">
              <a:lnSpc>
                <a:spcPct val="80000"/>
              </a:lnSpc>
              <a:buNone/>
            </a:pPr>
            <a:r>
              <a:rPr lang="en-US" altLang="zh-CN" sz="1800" dirty="0"/>
              <a:t>end for</a:t>
            </a:r>
          </a:p>
          <a:p>
            <a:pPr>
              <a:lnSpc>
                <a:spcPct val="80000"/>
              </a:lnSpc>
              <a:buNone/>
            </a:pPr>
            <a:r>
              <a:rPr lang="en-US" altLang="zh-CN" sz="1600" dirty="0"/>
              <a:t>end for</a:t>
            </a:r>
          </a:p>
          <a:p>
            <a:pPr>
              <a:lnSpc>
                <a:spcPct val="80000"/>
              </a:lnSpc>
              <a:buNone/>
            </a:pPr>
            <a:r>
              <a:rPr lang="en-US" altLang="zh-CN" sz="1600" b="1" dirty="0">
                <a:solidFill>
                  <a:srgbClr val="FF0000"/>
                </a:solidFill>
              </a:rPr>
              <a:t>return </a:t>
            </a:r>
            <a:r>
              <a:rPr lang="en-US" altLang="zh-CN" sz="1600" b="1" i="1" dirty="0">
                <a:solidFill>
                  <a:srgbClr val="FF0000"/>
                </a:solidFill>
              </a:rPr>
              <a:t>L</a:t>
            </a:r>
            <a:r>
              <a:rPr lang="en-US" altLang="zh-CN" sz="1600" i="1" dirty="0">
                <a:solidFill>
                  <a:srgbClr val="FF0000"/>
                </a:solidFill>
              </a:rPr>
              <a:t> </a:t>
            </a:r>
            <a:r>
              <a:rPr lang="en-US" altLang="zh-CN" sz="1600" dirty="0">
                <a:solidFill>
                  <a:srgbClr val="FF0000"/>
                </a:solidFill>
              </a:rPr>
              <a:t>and </a:t>
            </a:r>
            <a:r>
              <a:rPr lang="en-US" altLang="zh-CN" sz="1600" i="1" dirty="0">
                <a:solidFill>
                  <a:srgbClr val="FF0000"/>
                </a:solidFill>
              </a:rPr>
              <a:t>b</a:t>
            </a:r>
            <a:endParaRPr lang="en-US" altLang="zh-CN" sz="1600" dirty="0">
              <a:solidFill>
                <a:srgbClr val="FF0000"/>
              </a:solidFill>
            </a:endParaRPr>
          </a:p>
        </p:txBody>
      </p:sp>
      <p:sp>
        <p:nvSpPr>
          <p:cNvPr id="2" name="Rectangle 2">
            <a:extLst>
              <a:ext uri="{FF2B5EF4-FFF2-40B4-BE49-F238E27FC236}">
                <a16:creationId xmlns:a16="http://schemas.microsoft.com/office/drawing/2014/main" id="{00AC13D2-01B4-498A-9FD7-EBB92B2E556D}"/>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dirty="0">
                <a:latin typeface="+mj-ea"/>
                <a:sym typeface="+mn-ea"/>
              </a:rPr>
              <a:t>伪代码</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71683"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71684"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32</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71686" name="Rectangle 3"/>
          <p:cNvSpPr>
            <a:spLocks noGrp="1"/>
          </p:cNvSpPr>
          <p:nvPr>
            <p:ph idx="1"/>
          </p:nvPr>
        </p:nvSpPr>
        <p:spPr>
          <a:xfrm>
            <a:off x="900113" y="1484313"/>
            <a:ext cx="7786687" cy="3673475"/>
          </a:xfrm>
          <a:solidFill>
            <a:schemeClr val="bg1">
              <a:alpha val="100000"/>
            </a:schemeClr>
          </a:solidFill>
          <a:ln>
            <a:solidFill>
              <a:schemeClr val="tx1">
                <a:alpha val="100000"/>
              </a:schemeClr>
            </a:solidFill>
            <a:miter lim="800000"/>
          </a:ln>
        </p:spPr>
        <p:txBody>
          <a:bodyPr vert="horz" wrap="square" lIns="91440" tIns="45720" rIns="91440" bIns="45720" anchor="t" anchorCtr="0"/>
          <a:lstStyle/>
          <a:p>
            <a:pPr eaLnBrk="1" hangingPunct="1">
              <a:lnSpc>
                <a:spcPct val="80000"/>
              </a:lnSpc>
              <a:buNone/>
            </a:pPr>
            <a:r>
              <a:rPr lang="zh-CN" altLang="en-US" dirty="0"/>
              <a:t>算法</a:t>
            </a:r>
            <a:r>
              <a:rPr lang="en-US" altLang="zh-CN" dirty="0"/>
              <a:t>PRINT-LCS(</a:t>
            </a:r>
            <a:r>
              <a:rPr lang="en-US" altLang="zh-CN" i="1" dirty="0"/>
              <a:t>b</a:t>
            </a:r>
            <a:r>
              <a:rPr lang="en-US" altLang="zh-CN" dirty="0"/>
              <a:t>, </a:t>
            </a:r>
            <a:r>
              <a:rPr lang="en-US" altLang="zh-CN" i="1" dirty="0"/>
              <a:t>X</a:t>
            </a:r>
            <a:r>
              <a:rPr lang="en-US" altLang="zh-CN" dirty="0"/>
              <a:t>, </a:t>
            </a:r>
            <a:r>
              <a:rPr lang="en-US" altLang="zh-CN" i="1" dirty="0"/>
              <a:t>i</a:t>
            </a:r>
            <a:r>
              <a:rPr lang="en-US" altLang="zh-CN" dirty="0"/>
              <a:t>, </a:t>
            </a:r>
            <a:r>
              <a:rPr lang="en-US" altLang="zh-CN" i="1" dirty="0"/>
              <a:t>j</a:t>
            </a:r>
            <a:r>
              <a:rPr lang="en-US" altLang="zh-CN" dirty="0"/>
              <a:t>)</a:t>
            </a:r>
          </a:p>
          <a:p>
            <a:pPr eaLnBrk="1" hangingPunct="1">
              <a:lnSpc>
                <a:spcPct val="80000"/>
              </a:lnSpc>
              <a:buNone/>
            </a:pPr>
            <a:r>
              <a:rPr lang="en-US" altLang="zh-CN" dirty="0"/>
              <a:t> </a:t>
            </a:r>
          </a:p>
          <a:p>
            <a:pPr eaLnBrk="1" hangingPunct="1">
              <a:lnSpc>
                <a:spcPct val="80000"/>
              </a:lnSpc>
              <a:buNone/>
            </a:pPr>
            <a:r>
              <a:rPr lang="en-US" altLang="zh-CN" b="1" dirty="0"/>
              <a:t> if </a:t>
            </a:r>
            <a:r>
              <a:rPr lang="en-US" altLang="zh-CN" i="1" dirty="0"/>
              <a:t>i </a:t>
            </a:r>
            <a:r>
              <a:rPr lang="en-US" altLang="zh-CN" dirty="0"/>
              <a:t>= 0 or </a:t>
            </a:r>
            <a:r>
              <a:rPr lang="en-US" altLang="zh-CN" i="1" dirty="0"/>
              <a:t>j </a:t>
            </a:r>
            <a:r>
              <a:rPr lang="en-US" altLang="zh-CN" dirty="0"/>
              <a:t>= 0  </a:t>
            </a:r>
            <a:r>
              <a:rPr lang="en-US" altLang="zh-CN" b="1" dirty="0"/>
              <a:t>then return</a:t>
            </a:r>
          </a:p>
          <a:p>
            <a:pPr eaLnBrk="1" hangingPunct="1">
              <a:lnSpc>
                <a:spcPct val="80000"/>
              </a:lnSpc>
              <a:buNone/>
            </a:pPr>
            <a:r>
              <a:rPr lang="en-US" altLang="zh-CN" b="1" dirty="0"/>
              <a:t> end if</a:t>
            </a:r>
          </a:p>
          <a:p>
            <a:pPr eaLnBrk="1" hangingPunct="1">
              <a:lnSpc>
                <a:spcPct val="80000"/>
              </a:lnSpc>
              <a:buNone/>
            </a:pPr>
            <a:endParaRPr lang="en-US" altLang="zh-CN" b="1" dirty="0"/>
          </a:p>
          <a:p>
            <a:pPr eaLnBrk="1" hangingPunct="1">
              <a:lnSpc>
                <a:spcPct val="80000"/>
              </a:lnSpc>
              <a:buNone/>
            </a:pPr>
            <a:r>
              <a:rPr lang="en-US" altLang="zh-CN" dirty="0"/>
              <a:t> </a:t>
            </a:r>
            <a:r>
              <a:rPr lang="en-US" altLang="zh-CN" b="1" dirty="0"/>
              <a:t>if </a:t>
            </a:r>
            <a:r>
              <a:rPr lang="en-US" altLang="zh-CN" i="1" dirty="0"/>
              <a:t>b</a:t>
            </a:r>
            <a:r>
              <a:rPr lang="en-US" altLang="zh-CN" dirty="0"/>
              <a:t>[</a:t>
            </a:r>
            <a:r>
              <a:rPr lang="en-US" altLang="zh-CN" i="1" dirty="0"/>
              <a:t>i</a:t>
            </a:r>
            <a:r>
              <a:rPr lang="en-US" altLang="zh-CN" dirty="0"/>
              <a:t>, </a:t>
            </a:r>
            <a:r>
              <a:rPr lang="en-US" altLang="zh-CN" i="1" dirty="0"/>
              <a:t>j</a:t>
            </a:r>
            <a:r>
              <a:rPr lang="en-US" altLang="zh-CN" dirty="0"/>
              <a:t>] = "↖“ </a:t>
            </a:r>
            <a:r>
              <a:rPr lang="en-US" altLang="zh-CN" b="1" dirty="0"/>
              <a:t>then </a:t>
            </a:r>
            <a:r>
              <a:rPr lang="en-US" altLang="zh-CN" dirty="0"/>
              <a:t>PRINT-LCS(</a:t>
            </a:r>
            <a:r>
              <a:rPr lang="en-US" altLang="zh-CN" i="1" dirty="0"/>
              <a:t>b</a:t>
            </a:r>
            <a:r>
              <a:rPr lang="en-US" altLang="zh-CN" dirty="0"/>
              <a:t>, </a:t>
            </a:r>
            <a:r>
              <a:rPr lang="en-US" altLang="zh-CN" i="1" dirty="0"/>
              <a:t>X</a:t>
            </a:r>
            <a:r>
              <a:rPr lang="en-US" altLang="zh-CN" dirty="0"/>
              <a:t>, </a:t>
            </a:r>
            <a:r>
              <a:rPr lang="en-US" altLang="zh-CN" i="1" dirty="0"/>
              <a:t>i </a:t>
            </a:r>
            <a:r>
              <a:rPr lang="en-US" altLang="zh-CN" dirty="0"/>
              <a:t>- 1, </a:t>
            </a:r>
            <a:r>
              <a:rPr lang="en-US" altLang="zh-CN" i="1" dirty="0"/>
              <a:t>j </a:t>
            </a:r>
            <a:r>
              <a:rPr lang="en-US" altLang="zh-CN" dirty="0"/>
              <a:t>- 1), </a:t>
            </a:r>
            <a:r>
              <a:rPr lang="en-US" altLang="zh-CN" dirty="0">
                <a:solidFill>
                  <a:srgbClr val="FF0000"/>
                </a:solidFill>
              </a:rPr>
              <a:t>print </a:t>
            </a:r>
            <a:r>
              <a:rPr lang="en-US" altLang="zh-CN" i="1" dirty="0">
                <a:solidFill>
                  <a:srgbClr val="FF0000"/>
                </a:solidFill>
              </a:rPr>
              <a:t>x</a:t>
            </a:r>
            <a:r>
              <a:rPr lang="en-US" altLang="zh-CN" i="1" baseline="-25000" dirty="0">
                <a:solidFill>
                  <a:srgbClr val="FF0000"/>
                </a:solidFill>
              </a:rPr>
              <a:t>i</a:t>
            </a:r>
          </a:p>
          <a:p>
            <a:pPr eaLnBrk="1" hangingPunct="1">
              <a:lnSpc>
                <a:spcPct val="80000"/>
              </a:lnSpc>
              <a:buNone/>
            </a:pPr>
            <a:r>
              <a:rPr lang="en-US" altLang="zh-CN" dirty="0"/>
              <a:t> </a:t>
            </a:r>
            <a:r>
              <a:rPr lang="en-US" altLang="zh-CN" b="1" dirty="0"/>
              <a:t>else if </a:t>
            </a:r>
            <a:r>
              <a:rPr lang="en-US" altLang="zh-CN" i="1" dirty="0"/>
              <a:t>b</a:t>
            </a:r>
            <a:r>
              <a:rPr lang="en-US" altLang="zh-CN" dirty="0"/>
              <a:t>[</a:t>
            </a:r>
            <a:r>
              <a:rPr lang="en-US" altLang="zh-CN" i="1" dirty="0"/>
              <a:t>i</a:t>
            </a:r>
            <a:r>
              <a:rPr lang="en-US" altLang="zh-CN" dirty="0"/>
              <a:t>, </a:t>
            </a:r>
            <a:r>
              <a:rPr lang="en-US" altLang="zh-CN" i="1" dirty="0"/>
              <a:t>j</a:t>
            </a:r>
            <a:r>
              <a:rPr lang="en-US" altLang="zh-CN" dirty="0"/>
              <a:t>] = "↑“ </a:t>
            </a:r>
            <a:r>
              <a:rPr lang="en-US" altLang="zh-CN" b="1" dirty="0"/>
              <a:t>then </a:t>
            </a:r>
            <a:r>
              <a:rPr lang="en-US" altLang="zh-CN" dirty="0"/>
              <a:t>PRINT-LCS(</a:t>
            </a:r>
            <a:r>
              <a:rPr lang="en-US" altLang="zh-CN" i="1" dirty="0"/>
              <a:t>b</a:t>
            </a:r>
            <a:r>
              <a:rPr lang="en-US" altLang="zh-CN" dirty="0"/>
              <a:t>, </a:t>
            </a:r>
            <a:r>
              <a:rPr lang="en-US" altLang="zh-CN" i="1" dirty="0"/>
              <a:t>X</a:t>
            </a:r>
            <a:r>
              <a:rPr lang="en-US" altLang="zh-CN" dirty="0"/>
              <a:t>, </a:t>
            </a:r>
            <a:r>
              <a:rPr lang="en-US" altLang="zh-CN" i="1" dirty="0"/>
              <a:t>i </a:t>
            </a:r>
            <a:r>
              <a:rPr lang="en-US" altLang="zh-CN" dirty="0"/>
              <a:t>- 1, </a:t>
            </a:r>
            <a:r>
              <a:rPr lang="en-US" altLang="zh-CN" i="1" dirty="0"/>
              <a:t>j</a:t>
            </a:r>
            <a:r>
              <a:rPr lang="en-US" altLang="zh-CN" dirty="0"/>
              <a:t>)</a:t>
            </a:r>
          </a:p>
          <a:p>
            <a:pPr eaLnBrk="1" hangingPunct="1">
              <a:lnSpc>
                <a:spcPct val="80000"/>
              </a:lnSpc>
              <a:buNone/>
            </a:pPr>
            <a:r>
              <a:rPr lang="en-US" altLang="zh-CN" dirty="0"/>
              <a:t> </a:t>
            </a:r>
            <a:r>
              <a:rPr lang="en-US" altLang="zh-CN" b="1" dirty="0"/>
              <a:t>else </a:t>
            </a:r>
            <a:r>
              <a:rPr lang="en-US" altLang="zh-CN" dirty="0"/>
              <a:t>PRINT-LCS(</a:t>
            </a:r>
            <a:r>
              <a:rPr lang="en-US" altLang="zh-CN" i="1" dirty="0"/>
              <a:t>b</a:t>
            </a:r>
            <a:r>
              <a:rPr lang="en-US" altLang="zh-CN" dirty="0"/>
              <a:t>, </a:t>
            </a:r>
            <a:r>
              <a:rPr lang="en-US" altLang="zh-CN" i="1" dirty="0"/>
              <a:t>X</a:t>
            </a:r>
            <a:r>
              <a:rPr lang="en-US" altLang="zh-CN" dirty="0"/>
              <a:t>, </a:t>
            </a:r>
            <a:r>
              <a:rPr lang="en-US" altLang="zh-CN" i="1" dirty="0"/>
              <a:t>i</a:t>
            </a:r>
            <a:r>
              <a:rPr lang="en-US" altLang="zh-CN" dirty="0"/>
              <a:t>, </a:t>
            </a:r>
            <a:r>
              <a:rPr lang="en-US" altLang="zh-CN" i="1" dirty="0"/>
              <a:t>j </a:t>
            </a:r>
            <a:r>
              <a:rPr lang="en-US" altLang="zh-CN" dirty="0"/>
              <a:t>- 1)</a:t>
            </a:r>
          </a:p>
          <a:p>
            <a:pPr eaLnBrk="1" hangingPunct="1">
              <a:lnSpc>
                <a:spcPct val="80000"/>
              </a:lnSpc>
              <a:buNone/>
            </a:pPr>
            <a:r>
              <a:rPr lang="en-US" altLang="zh-CN" dirty="0"/>
              <a:t> end if</a:t>
            </a:r>
          </a:p>
        </p:txBody>
      </p:sp>
      <p:sp>
        <p:nvSpPr>
          <p:cNvPr id="4" name="Rectangle 2">
            <a:extLst>
              <a:ext uri="{FF2B5EF4-FFF2-40B4-BE49-F238E27FC236}">
                <a16:creationId xmlns:a16="http://schemas.microsoft.com/office/drawing/2014/main" id="{A724C9D8-266A-FD8F-0B30-B4F21C2D0567}"/>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dirty="0">
                <a:latin typeface="+mj-ea"/>
                <a:sym typeface="+mn-ea"/>
              </a:rPr>
              <a:t>追踪解</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7270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7270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33</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99331" name="Rectangle 3"/>
          <p:cNvSpPr>
            <a:spLocks noGrp="1"/>
          </p:cNvSpPr>
          <p:nvPr>
            <p:ph idx="1"/>
          </p:nvPr>
        </p:nvSpPr>
        <p:spPr/>
        <p:txBody>
          <a:bodyPr vert="horz" wrap="square" lIns="91440" tIns="45720" rIns="91440" bIns="45720" anchor="t" anchorCtr="0"/>
          <a:lstStyle/>
          <a:p>
            <a:r>
              <a:rPr lang="zh-CN" altLang="en-US" dirty="0">
                <a:latin typeface="+mn-ea"/>
              </a:rPr>
              <a:t>在算法</a:t>
            </a:r>
            <a:r>
              <a:rPr lang="en-US" altLang="zh-CN" dirty="0">
                <a:latin typeface="+mn-ea"/>
              </a:rPr>
              <a:t>LCS-LENGTH</a:t>
            </a:r>
            <a:r>
              <a:rPr lang="zh-CN" altLang="en-US" dirty="0">
                <a:latin typeface="+mn-ea"/>
              </a:rPr>
              <a:t>和</a:t>
            </a:r>
            <a:r>
              <a:rPr lang="en-US" altLang="zh-CN" dirty="0">
                <a:latin typeface="+mn-ea"/>
              </a:rPr>
              <a:t>PRINT-LCS</a:t>
            </a:r>
            <a:r>
              <a:rPr lang="zh-CN" altLang="en-US" dirty="0">
                <a:latin typeface="+mn-ea"/>
              </a:rPr>
              <a:t>中，可进一步将数组</a:t>
            </a:r>
            <a:r>
              <a:rPr lang="en-US" altLang="zh-CN" dirty="0">
                <a:solidFill>
                  <a:srgbClr val="FF0000"/>
                </a:solidFill>
                <a:latin typeface="+mn-ea"/>
              </a:rPr>
              <a:t>b</a:t>
            </a:r>
            <a:r>
              <a:rPr lang="zh-CN" altLang="en-US" dirty="0">
                <a:solidFill>
                  <a:srgbClr val="FF0000"/>
                </a:solidFill>
                <a:latin typeface="+mn-ea"/>
              </a:rPr>
              <a:t>省去</a:t>
            </a:r>
            <a:r>
              <a:rPr lang="zh-CN" altLang="en-US" dirty="0">
                <a:latin typeface="+mn-ea"/>
              </a:rPr>
              <a:t>。事实上，数组元素</a:t>
            </a:r>
            <a:r>
              <a:rPr lang="en-US" altLang="zh-CN" dirty="0">
                <a:latin typeface="+mn-ea"/>
              </a:rPr>
              <a:t>L[i][j]</a:t>
            </a:r>
            <a:r>
              <a:rPr lang="zh-CN" altLang="en-US" dirty="0">
                <a:latin typeface="+mn-ea"/>
              </a:rPr>
              <a:t>的值仅由</a:t>
            </a:r>
            <a:r>
              <a:rPr lang="en-US" altLang="zh-CN" dirty="0">
                <a:latin typeface="+mn-ea"/>
              </a:rPr>
              <a:t>L[i-1][j-1]</a:t>
            </a:r>
            <a:r>
              <a:rPr lang="zh-CN" altLang="en-US" dirty="0">
                <a:latin typeface="+mn-ea"/>
              </a:rPr>
              <a:t>，</a:t>
            </a:r>
            <a:r>
              <a:rPr lang="en-US" altLang="zh-CN" dirty="0">
                <a:latin typeface="+mn-ea"/>
              </a:rPr>
              <a:t>L[i-1][j]</a:t>
            </a:r>
            <a:r>
              <a:rPr lang="zh-CN" altLang="en-US" dirty="0">
                <a:latin typeface="+mn-ea"/>
              </a:rPr>
              <a:t>和</a:t>
            </a:r>
            <a:r>
              <a:rPr lang="en-US" altLang="zh-CN" dirty="0">
                <a:latin typeface="+mn-ea"/>
              </a:rPr>
              <a:t>L[i][j-1]</a:t>
            </a:r>
            <a:r>
              <a:rPr lang="zh-CN" altLang="en-US" dirty="0">
                <a:latin typeface="+mn-ea"/>
              </a:rPr>
              <a:t>这</a:t>
            </a:r>
            <a:r>
              <a:rPr lang="en-US" altLang="zh-CN" dirty="0">
                <a:latin typeface="+mn-ea"/>
              </a:rPr>
              <a:t>3</a:t>
            </a:r>
            <a:r>
              <a:rPr lang="zh-CN" altLang="en-US" dirty="0">
                <a:latin typeface="+mn-ea"/>
              </a:rPr>
              <a:t>个数组元素的值所确定。对于给定的数组元素</a:t>
            </a:r>
            <a:r>
              <a:rPr lang="en-US" altLang="zh-CN" dirty="0">
                <a:latin typeface="+mn-ea"/>
              </a:rPr>
              <a:t>L[i][j]</a:t>
            </a:r>
            <a:r>
              <a:rPr lang="zh-CN" altLang="en-US" dirty="0">
                <a:latin typeface="+mn-ea"/>
              </a:rPr>
              <a:t>，可以不借助于数组</a:t>
            </a:r>
            <a:r>
              <a:rPr lang="en-US" altLang="zh-CN" dirty="0">
                <a:latin typeface="+mn-ea"/>
              </a:rPr>
              <a:t>b</a:t>
            </a:r>
            <a:r>
              <a:rPr lang="zh-CN" altLang="en-US" dirty="0">
                <a:latin typeface="+mn-ea"/>
              </a:rPr>
              <a:t>而仅借助于</a:t>
            </a:r>
            <a:r>
              <a:rPr lang="en-US" altLang="zh-CN" dirty="0">
                <a:latin typeface="+mn-ea"/>
              </a:rPr>
              <a:t>L</a:t>
            </a:r>
            <a:r>
              <a:rPr lang="zh-CN" altLang="en-US" dirty="0">
                <a:latin typeface="+mn-ea"/>
              </a:rPr>
              <a:t>本身在时间内确定</a:t>
            </a:r>
            <a:r>
              <a:rPr lang="en-US" altLang="zh-CN" dirty="0">
                <a:latin typeface="+mn-ea"/>
              </a:rPr>
              <a:t>L[i][j]</a:t>
            </a:r>
            <a:r>
              <a:rPr lang="zh-CN" altLang="en-US" dirty="0">
                <a:latin typeface="+mn-ea"/>
              </a:rPr>
              <a:t>的值是由</a:t>
            </a:r>
            <a:r>
              <a:rPr lang="en-US" altLang="zh-CN" dirty="0">
                <a:latin typeface="+mn-ea"/>
              </a:rPr>
              <a:t>L[i-1][j-1]</a:t>
            </a:r>
            <a:r>
              <a:rPr lang="zh-CN" altLang="en-US" dirty="0">
                <a:latin typeface="+mn-ea"/>
              </a:rPr>
              <a:t>，</a:t>
            </a:r>
            <a:r>
              <a:rPr lang="en-US" altLang="zh-CN" dirty="0">
                <a:latin typeface="+mn-ea"/>
              </a:rPr>
              <a:t>L[i-1][j]</a:t>
            </a:r>
            <a:r>
              <a:rPr lang="zh-CN" altLang="en-US" dirty="0">
                <a:latin typeface="+mn-ea"/>
              </a:rPr>
              <a:t>和</a:t>
            </a:r>
            <a:r>
              <a:rPr lang="en-US" altLang="zh-CN" dirty="0">
                <a:latin typeface="+mn-ea"/>
              </a:rPr>
              <a:t>L[i][j-1]</a:t>
            </a:r>
            <a:r>
              <a:rPr lang="zh-CN" altLang="en-US" dirty="0">
                <a:latin typeface="+mn-ea"/>
              </a:rPr>
              <a:t>中哪一个值所确定的。</a:t>
            </a:r>
          </a:p>
          <a:p>
            <a:r>
              <a:rPr lang="zh-CN" altLang="en-US" dirty="0">
                <a:latin typeface="+mn-ea"/>
              </a:rPr>
              <a:t>如果只需要计算最长公共子序列的长度，则算法的空间需求可大大减少。事实上，在计算</a:t>
            </a:r>
            <a:r>
              <a:rPr lang="en-US" altLang="zh-CN" dirty="0">
                <a:latin typeface="+mn-ea"/>
              </a:rPr>
              <a:t>L[i][j]</a:t>
            </a:r>
            <a:r>
              <a:rPr lang="zh-CN" altLang="en-US" dirty="0">
                <a:latin typeface="+mn-ea"/>
              </a:rPr>
              <a:t>时，只用到数组</a:t>
            </a:r>
            <a:r>
              <a:rPr lang="en-US" altLang="zh-CN" dirty="0">
                <a:latin typeface="+mn-ea"/>
              </a:rPr>
              <a:t>L</a:t>
            </a:r>
            <a:r>
              <a:rPr lang="zh-CN" altLang="en-US" dirty="0">
                <a:latin typeface="+mn-ea"/>
              </a:rPr>
              <a:t>的第</a:t>
            </a:r>
            <a:r>
              <a:rPr lang="en-US" altLang="zh-CN" dirty="0">
                <a:latin typeface="+mn-ea"/>
              </a:rPr>
              <a:t>i</a:t>
            </a:r>
            <a:r>
              <a:rPr lang="zh-CN" altLang="en-US" dirty="0">
                <a:latin typeface="+mn-ea"/>
              </a:rPr>
              <a:t>行和第</a:t>
            </a:r>
            <a:r>
              <a:rPr lang="en-US" altLang="zh-CN" dirty="0">
                <a:latin typeface="+mn-ea"/>
              </a:rPr>
              <a:t>i-1</a:t>
            </a:r>
            <a:r>
              <a:rPr lang="zh-CN" altLang="en-US" dirty="0">
                <a:latin typeface="+mn-ea"/>
              </a:rPr>
              <a:t>行。因此，</a:t>
            </a:r>
            <a:r>
              <a:rPr lang="zh-CN" altLang="en-US" dirty="0">
                <a:solidFill>
                  <a:srgbClr val="FF0000"/>
                </a:solidFill>
                <a:latin typeface="+mn-ea"/>
              </a:rPr>
              <a:t>用</a:t>
            </a:r>
            <a:r>
              <a:rPr lang="en-US" altLang="zh-CN" dirty="0">
                <a:solidFill>
                  <a:srgbClr val="FF0000"/>
                </a:solidFill>
                <a:latin typeface="+mn-ea"/>
              </a:rPr>
              <a:t>2</a:t>
            </a:r>
            <a:r>
              <a:rPr lang="zh-CN" altLang="en-US" dirty="0">
                <a:solidFill>
                  <a:srgbClr val="FF0000"/>
                </a:solidFill>
                <a:latin typeface="+mn-ea"/>
              </a:rPr>
              <a:t>行的数组空间</a:t>
            </a:r>
            <a:r>
              <a:rPr lang="zh-CN" altLang="en-US" dirty="0">
                <a:latin typeface="+mn-ea"/>
              </a:rPr>
              <a:t>就可以计算出最长公共子序列的长度。进一步的分析还可将空间需求减至</a:t>
            </a:r>
            <a:r>
              <a:rPr lang="en-US" altLang="zh-CN" dirty="0">
                <a:latin typeface="+mn-ea"/>
              </a:rPr>
              <a:t>O(min(m,n))</a:t>
            </a:r>
            <a:r>
              <a:rPr lang="zh-CN" altLang="en-US" dirty="0">
                <a:latin typeface="+mn-ea"/>
              </a:rPr>
              <a:t>。</a:t>
            </a:r>
          </a:p>
        </p:txBody>
      </p:sp>
      <p:sp>
        <p:nvSpPr>
          <p:cNvPr id="4" name="Rectangle 2">
            <a:extLst>
              <a:ext uri="{FF2B5EF4-FFF2-40B4-BE49-F238E27FC236}">
                <a16:creationId xmlns:a16="http://schemas.microsoft.com/office/drawing/2014/main" id="{93613511-8B07-BD46-3C5C-2DB37A1F811E}"/>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dirty="0">
                <a:latin typeface="+mj-ea"/>
                <a:sym typeface="+mn-ea"/>
              </a:rPr>
              <a:t>算法改进</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blinds(horizontal)">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blinds(horizontal)">
                                      <p:cBhvr>
                                        <p:cTn id="12" dur="500"/>
                                        <p:tgtEl>
                                          <p:spTgt spid="993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74755"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74756"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34</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99331"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514350" indent="-457200" eaLnBrk="1" hangingPunct="1">
              <a:defRPr/>
            </a:pPr>
            <a:r>
              <a:rPr kumimoji="0" lang="zh-CN" altLang="en-US" sz="3000" b="0" i="0" u="none" strike="noStrike" kern="0" cap="none" spc="0" normalizeH="0" baseline="0" noProof="0" dirty="0">
                <a:ln>
                  <a:noFill/>
                </a:ln>
                <a:solidFill>
                  <a:schemeClr val="accent2"/>
                </a:solidFill>
                <a:effectLst/>
                <a:uLnTx/>
                <a:uFillTx/>
                <a:latin typeface="+mn-ea"/>
                <a:ea typeface="+mn-ea"/>
                <a:sym typeface="Symbol" panose="05050102010706020507" pitchFamily="18" charset="2"/>
              </a:rPr>
              <a:t>最长公共子序列问题的最优解能够在</a:t>
            </a:r>
            <a:r>
              <a:rPr kumimoji="0" lang="en-US" altLang="zh-CN" sz="3000" b="0" i="0" u="none" strike="noStrike" kern="0" cap="none" spc="0" normalizeH="0" baseline="0" noProof="0" dirty="0">
                <a:ln>
                  <a:noFill/>
                </a:ln>
                <a:solidFill>
                  <a:srgbClr val="FF0000"/>
                </a:solidFill>
                <a:effectLst/>
                <a:uLnTx/>
                <a:uFillTx/>
                <a:latin typeface="+mn-ea"/>
                <a:ea typeface="+mn-ea"/>
                <a:sym typeface="Symbol" panose="05050102010706020507" pitchFamily="18" charset="2"/>
              </a:rPr>
              <a:t>(nm)</a:t>
            </a:r>
            <a:r>
              <a:rPr kumimoji="0" lang="zh-CN" altLang="en-US" sz="3000" b="0" i="0" u="none" strike="noStrike" kern="0" cap="none" spc="0" normalizeH="0" baseline="0" noProof="0" dirty="0">
                <a:ln>
                  <a:noFill/>
                </a:ln>
                <a:solidFill>
                  <a:schemeClr val="accent2"/>
                </a:solidFill>
                <a:effectLst/>
                <a:uLnTx/>
                <a:uFillTx/>
                <a:latin typeface="+mn-ea"/>
                <a:ea typeface="+mn-ea"/>
                <a:sym typeface="Symbol" panose="05050102010706020507" pitchFamily="18" charset="2"/>
              </a:rPr>
              <a:t>时间和</a:t>
            </a:r>
            <a:r>
              <a:rPr kumimoji="0" lang="en-US" altLang="zh-CN" sz="3000" b="0" i="0" u="none" strike="noStrike" kern="0" cap="none" spc="0" normalizeH="0" baseline="0" noProof="0" dirty="0">
                <a:ln>
                  <a:noFill/>
                </a:ln>
                <a:solidFill>
                  <a:srgbClr val="FF0000"/>
                </a:solidFill>
                <a:effectLst/>
                <a:uLnTx/>
                <a:uFillTx/>
                <a:latin typeface="+mn-ea"/>
                <a:ea typeface="+mn-ea"/>
                <a:sym typeface="Symbol" panose="05050102010706020507" pitchFamily="18" charset="2"/>
              </a:rPr>
              <a:t>(min{</a:t>
            </a:r>
            <a:r>
              <a:rPr kumimoji="0" lang="en-US" altLang="zh-CN" sz="3000" b="0" i="0" u="none" strike="noStrike" kern="0" cap="none" spc="0" normalizeH="0" baseline="0" noProof="0" dirty="0" err="1">
                <a:ln>
                  <a:noFill/>
                </a:ln>
                <a:solidFill>
                  <a:srgbClr val="FF0000"/>
                </a:solidFill>
                <a:effectLst/>
                <a:uLnTx/>
                <a:uFillTx/>
                <a:latin typeface="+mn-ea"/>
                <a:ea typeface="+mn-ea"/>
                <a:sym typeface="Symbol" panose="05050102010706020507" pitchFamily="18" charset="2"/>
              </a:rPr>
              <a:t>m,n</a:t>
            </a:r>
            <a:r>
              <a:rPr kumimoji="0" lang="en-US" altLang="zh-CN" sz="3000" b="0" i="0" u="none" strike="noStrike" kern="0" cap="none" spc="0" normalizeH="0" baseline="0" noProof="0" dirty="0">
                <a:ln>
                  <a:noFill/>
                </a:ln>
                <a:solidFill>
                  <a:srgbClr val="FF0000"/>
                </a:solidFill>
                <a:effectLst/>
                <a:uLnTx/>
                <a:uFillTx/>
                <a:latin typeface="+mn-ea"/>
                <a:ea typeface="+mn-ea"/>
                <a:sym typeface="Symbol" panose="05050102010706020507" pitchFamily="18" charset="2"/>
              </a:rPr>
              <a:t>})</a:t>
            </a:r>
            <a:r>
              <a:rPr kumimoji="0" lang="zh-CN" altLang="en-US" sz="3000" b="0" i="0" u="none" strike="noStrike" kern="0" cap="none" spc="0" normalizeH="0" baseline="0" noProof="0" dirty="0">
                <a:ln>
                  <a:noFill/>
                </a:ln>
                <a:solidFill>
                  <a:schemeClr val="accent2"/>
                </a:solidFill>
                <a:effectLst/>
                <a:uLnTx/>
                <a:uFillTx/>
                <a:latin typeface="+mn-ea"/>
                <a:ea typeface="+mn-ea"/>
                <a:sym typeface="Symbol" panose="05050102010706020507" pitchFamily="18" charset="2"/>
              </a:rPr>
              <a:t>空间内得到。</a:t>
            </a:r>
            <a:endParaRPr kumimoji="0" lang="en-US" altLang="zh-CN" sz="3000" b="0" i="0" u="none" strike="noStrike" kern="0" cap="none" spc="0" normalizeH="0" baseline="0" noProof="0" dirty="0">
              <a:ln>
                <a:noFill/>
              </a:ln>
              <a:solidFill>
                <a:schemeClr val="accent2"/>
              </a:solidFill>
              <a:effectLst/>
              <a:uLnTx/>
              <a:uFillTx/>
              <a:latin typeface="+mn-ea"/>
              <a:ea typeface="+mn-ea"/>
              <a:sym typeface="Symbol" panose="05050102010706020507" pitchFamily="18" charset="2"/>
            </a:endParaRPr>
          </a:p>
        </p:txBody>
      </p:sp>
      <p:sp>
        <p:nvSpPr>
          <p:cNvPr id="4" name="Rectangle 2">
            <a:extLst>
              <a:ext uri="{FF2B5EF4-FFF2-40B4-BE49-F238E27FC236}">
                <a16:creationId xmlns:a16="http://schemas.microsoft.com/office/drawing/2014/main" id="{6C669907-5B81-DF47-FDA9-B226FA9BAEF5}"/>
              </a:ext>
            </a:extLst>
          </p:cNvPr>
          <p:cNvSpPr txBox="1">
            <a:spLocks noChangeArrowheads="1"/>
          </p:cNvSpPr>
          <p:nvPr/>
        </p:nvSpPr>
        <p:spPr bwMode="auto">
          <a:xfrm>
            <a:off x="879475" y="269875"/>
            <a:ext cx="7869238"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dirty="0">
                <a:latin typeface="+mj-ea"/>
              </a:rPr>
              <a:t>4.1.3 </a:t>
            </a:r>
            <a:r>
              <a:rPr lang="zh-CN" altLang="en-US" dirty="0">
                <a:latin typeface="+mj-ea"/>
              </a:rPr>
              <a:t>简单问题例的算法描述（矩阵链乘法、最长公共子序列）</a:t>
            </a:r>
            <a:r>
              <a:rPr lang="en-US" altLang="zh-CN" dirty="0">
                <a:latin typeface="+mj-ea"/>
                <a:sym typeface="+mn-ea"/>
              </a:rPr>
              <a:t>— </a:t>
            </a:r>
            <a:r>
              <a:rPr lang="zh-CN" altLang="en-US" dirty="0">
                <a:latin typeface="+mj-ea"/>
                <a:sym typeface="+mn-ea"/>
              </a:rPr>
              <a:t>算法分析</a:t>
            </a:r>
            <a:endParaRPr kumimoji="0" lang="zh-CN" altLang="en-US" sz="3200" i="0" u="none" strike="noStrike" kern="0" cap="none" spc="0" normalizeH="0" baseline="0" noProof="0" dirty="0">
              <a:ln>
                <a:noFill/>
              </a:ln>
              <a:solidFill>
                <a:schemeClr val="accent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 calcmode="lin" valueType="num">
                                      <p:cBhvr additive="base">
                                        <p:cTn id="7" dur="500" fill="hold"/>
                                        <p:tgtEl>
                                          <p:spTgt spid="993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93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dirty="0">
                <a:latin typeface="+mj-ea"/>
              </a:rPr>
              <a:t>4.1.4 </a:t>
            </a:r>
            <a:r>
              <a:rPr lang="zh-CN" altLang="en-US" dirty="0">
                <a:latin typeface="+mj-ea"/>
              </a:rPr>
              <a:t>简单问题例算法的分析</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eaLnBrk="1" hangingPunct="1"/>
            <a:r>
              <a:rPr lang="en-US" altLang="zh-CN" dirty="0">
                <a:latin typeface="华文楷体" panose="02010600040101010101" pitchFamily="2" charset="-122"/>
              </a:rPr>
              <a:t> </a:t>
            </a:r>
            <a:r>
              <a:rPr lang="zh-CN" altLang="zh-CN" dirty="0">
                <a:solidFill>
                  <a:srgbClr val="FF0000"/>
                </a:solidFill>
                <a:latin typeface="华文楷体" panose="02010600040101010101" pitchFamily="2" charset="-122"/>
              </a:rPr>
              <a:t>动态规划</a:t>
            </a:r>
            <a:r>
              <a:rPr lang="zh-CN" altLang="zh-CN" dirty="0">
                <a:latin typeface="华文楷体" panose="02010600040101010101" pitchFamily="2" charset="-122"/>
              </a:rPr>
              <a:t>是一种解决多阶段决策问题的优化方法</a:t>
            </a:r>
            <a:r>
              <a:rPr lang="zh-CN" altLang="en-US" dirty="0">
                <a:latin typeface="华文楷体" panose="02010600040101010101" pitchFamily="2" charset="-122"/>
              </a:rPr>
              <a:t>，</a:t>
            </a:r>
            <a:r>
              <a:rPr lang="zh-CN" altLang="zh-CN" dirty="0">
                <a:latin typeface="华文楷体" panose="02010600040101010101" pitchFamily="2" charset="-122"/>
              </a:rPr>
              <a:t>把多阶段过程转化为一系列单阶段问题</a:t>
            </a:r>
            <a:r>
              <a:rPr lang="zh-CN" altLang="en-US" dirty="0">
                <a:latin typeface="华文楷体" panose="02010600040101010101" pitchFamily="2" charset="-122"/>
              </a:rPr>
              <a:t>，</a:t>
            </a:r>
            <a:r>
              <a:rPr lang="zh-CN" altLang="zh-CN" dirty="0">
                <a:latin typeface="华文楷体" panose="02010600040101010101" pitchFamily="2" charset="-122"/>
              </a:rPr>
              <a:t>利用各阶段之间的关系</a:t>
            </a:r>
            <a:r>
              <a:rPr lang="zh-CN" altLang="en-US" dirty="0">
                <a:latin typeface="华文楷体" panose="02010600040101010101" pitchFamily="2" charset="-122"/>
              </a:rPr>
              <a:t>，</a:t>
            </a:r>
            <a:r>
              <a:rPr lang="zh-CN" altLang="zh-CN" dirty="0">
                <a:latin typeface="华文楷体" panose="02010600040101010101" pitchFamily="2" charset="-122"/>
              </a:rPr>
              <a:t>逐个求解。</a:t>
            </a:r>
            <a:endParaRPr lang="zh-CN" altLang="en-US" dirty="0">
              <a:latin typeface="华文楷体" panose="02010600040101010101" pitchFamily="2" charset="-122"/>
            </a:endParaRPr>
          </a:p>
          <a:p>
            <a:pPr eaLnBrk="1" hangingPunct="1"/>
            <a:endParaRPr lang="en-US" altLang="zh-CN" dirty="0"/>
          </a:p>
        </p:txBody>
      </p:sp>
    </p:spTree>
    <p:extLst>
      <p:ext uri="{BB962C8B-B14F-4D97-AF65-F5344CB8AC3E}">
        <p14:creationId xmlns:p14="http://schemas.microsoft.com/office/powerpoint/2010/main" val="11211184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dirty="0">
                <a:latin typeface="+mj-ea"/>
              </a:rPr>
              <a:t>4.1.4 </a:t>
            </a:r>
            <a:r>
              <a:rPr lang="zh-CN" altLang="en-US" dirty="0">
                <a:latin typeface="+mj-ea"/>
              </a:rPr>
              <a:t>简单问题例算法的分析</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eaLnBrk="1" hangingPunct="1"/>
            <a:r>
              <a:rPr lang="zh-CN" altLang="en-US" dirty="0">
                <a:latin typeface="华文楷体" panose="02010600040101010101" pitchFamily="2" charset="-122"/>
              </a:rPr>
              <a:t>动态规划算法与分治法类似，其基本思想也是将待求解问题分解成若干个子问题。</a:t>
            </a:r>
          </a:p>
          <a:p>
            <a:pPr eaLnBrk="1" hangingPunct="1"/>
            <a:endParaRPr lang="zh-CN" altLang="en-US" dirty="0">
              <a:latin typeface="华文楷体" panose="02010600040101010101" pitchFamily="2" charset="-122"/>
            </a:endParaRPr>
          </a:p>
          <a:p>
            <a:pPr eaLnBrk="1" hangingPunct="1"/>
            <a:endParaRPr lang="en-US" altLang="zh-CN" dirty="0"/>
          </a:p>
        </p:txBody>
      </p:sp>
      <p:sp>
        <p:nvSpPr>
          <p:cNvPr id="3" name="矩形 18">
            <a:extLst>
              <a:ext uri="{FF2B5EF4-FFF2-40B4-BE49-F238E27FC236}">
                <a16:creationId xmlns:a16="http://schemas.microsoft.com/office/drawing/2014/main" id="{09BB7793-8F41-0261-8DFB-259FBEC6915A}"/>
              </a:ext>
            </a:extLst>
          </p:cNvPr>
          <p:cNvSpPr/>
          <p:nvPr/>
        </p:nvSpPr>
        <p:spPr>
          <a:xfrm>
            <a:off x="879475" y="2276872"/>
            <a:ext cx="8143875" cy="3143250"/>
          </a:xfrm>
          <a:prstGeom prst="rect">
            <a:avLst/>
          </a:prstGeom>
          <a:solidFill>
            <a:schemeClr val="accent2"/>
          </a:solidFill>
          <a:ln w="25400" cap="flat" cmpd="sng">
            <a:solidFill>
              <a:schemeClr val="tx1"/>
            </a:solidFill>
            <a:prstDash val="solid"/>
            <a:round/>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b="1" dirty="0">
              <a:solidFill>
                <a:schemeClr val="tx1"/>
              </a:solidFill>
              <a:latin typeface="Arial" panose="020B0604020202020204" pitchFamily="34" charset="0"/>
              <a:ea typeface="宋体" panose="02010600030101010101" pitchFamily="2" charset="-122"/>
            </a:endParaRPr>
          </a:p>
        </p:txBody>
      </p:sp>
      <p:grpSp>
        <p:nvGrpSpPr>
          <p:cNvPr id="4" name="Group 1043">
            <a:extLst>
              <a:ext uri="{FF2B5EF4-FFF2-40B4-BE49-F238E27FC236}">
                <a16:creationId xmlns:a16="http://schemas.microsoft.com/office/drawing/2014/main" id="{BF24AEBA-10E4-81A1-DCFA-AF5E25720A7C}"/>
              </a:ext>
            </a:extLst>
          </p:cNvPr>
          <p:cNvGrpSpPr/>
          <p:nvPr/>
        </p:nvGrpSpPr>
        <p:grpSpPr>
          <a:xfrm>
            <a:off x="950912" y="2348310"/>
            <a:ext cx="7981950" cy="2944812"/>
            <a:chOff x="432" y="1824"/>
            <a:chExt cx="5184" cy="1936"/>
          </a:xfrm>
        </p:grpSpPr>
        <p:sp>
          <p:nvSpPr>
            <p:cNvPr id="5" name="AutoShape 1044">
              <a:extLst>
                <a:ext uri="{FF2B5EF4-FFF2-40B4-BE49-F238E27FC236}">
                  <a16:creationId xmlns:a16="http://schemas.microsoft.com/office/drawing/2014/main" id="{154CD924-7B39-0CE9-BCF0-D905B92C4468}"/>
                </a:ext>
              </a:extLst>
            </p:cNvPr>
            <p:cNvSpPr/>
            <p:nvPr/>
          </p:nvSpPr>
          <p:spPr>
            <a:xfrm>
              <a:off x="576" y="1824"/>
              <a:ext cx="768" cy="576"/>
            </a:xfrm>
            <a:prstGeom prst="triangle">
              <a:avLst>
                <a:gd name="adj" fmla="val 50000"/>
              </a:avLst>
            </a:prstGeom>
            <a:solidFill>
              <a:schemeClr val="bg1"/>
            </a:solidFill>
            <a:ln w="38100" cap="flat" cmpd="sng">
              <a:solidFill>
                <a:srgbClr val="F8FC6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a:spcBef>
                  <a:spcPct val="0"/>
                </a:spcBef>
                <a:buNone/>
              </a:pPr>
              <a:r>
                <a:rPr lang="en-US" altLang="zh-CN" sz="3200" b="1" dirty="0">
                  <a:solidFill>
                    <a:schemeClr val="tx1"/>
                  </a:solidFill>
                  <a:latin typeface="Arial Rounded MT Bold" pitchFamily="34" charset="0"/>
                  <a:ea typeface="宋体" panose="02010600030101010101" pitchFamily="2" charset="-122"/>
                </a:rPr>
                <a:t>T(n)</a:t>
              </a:r>
            </a:p>
          </p:txBody>
        </p:sp>
        <p:sp>
          <p:nvSpPr>
            <p:cNvPr id="6" name="Oval 1045">
              <a:extLst>
                <a:ext uri="{FF2B5EF4-FFF2-40B4-BE49-F238E27FC236}">
                  <a16:creationId xmlns:a16="http://schemas.microsoft.com/office/drawing/2014/main" id="{8E915C62-1500-9552-2C4C-7B8164D99F2F}"/>
                </a:ext>
              </a:extLst>
            </p:cNvPr>
            <p:cNvSpPr/>
            <p:nvPr/>
          </p:nvSpPr>
          <p:spPr>
            <a:xfrm>
              <a:off x="2736" y="1920"/>
              <a:ext cx="504" cy="384"/>
            </a:xfrm>
            <a:prstGeom prst="ellipse">
              <a:avLst/>
            </a:prstGeom>
            <a:solidFill>
              <a:schemeClr val="bg1"/>
            </a:solidFill>
            <a:ln w="38100" cap="flat" cmpd="sng">
              <a:solidFill>
                <a:srgbClr val="F8FC62"/>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a:spcBef>
                  <a:spcPct val="0"/>
                </a:spcBef>
                <a:buNone/>
              </a:pPr>
              <a:r>
                <a:rPr lang="en-US" altLang="zh-CN" sz="3200" b="1" dirty="0">
                  <a:solidFill>
                    <a:schemeClr val="tx1"/>
                  </a:solidFill>
                  <a:latin typeface="Arial Rounded MT Bold" pitchFamily="34" charset="0"/>
                  <a:ea typeface="宋体" panose="02010600030101010101" pitchFamily="2" charset="-122"/>
                </a:rPr>
                <a:t>n</a:t>
              </a:r>
            </a:p>
          </p:txBody>
        </p:sp>
        <p:sp>
          <p:nvSpPr>
            <p:cNvPr id="7" name="AutoShape 1046">
              <a:extLst>
                <a:ext uri="{FF2B5EF4-FFF2-40B4-BE49-F238E27FC236}">
                  <a16:creationId xmlns:a16="http://schemas.microsoft.com/office/drawing/2014/main" id="{11C136FC-E5A6-E4F7-13ED-B3B98E5B83EC}"/>
                </a:ext>
              </a:extLst>
            </p:cNvPr>
            <p:cNvSpPr/>
            <p:nvPr/>
          </p:nvSpPr>
          <p:spPr>
            <a:xfrm>
              <a:off x="432" y="2976"/>
              <a:ext cx="864" cy="784"/>
            </a:xfrm>
            <a:prstGeom prst="triangle">
              <a:avLst>
                <a:gd name="adj" fmla="val 50000"/>
              </a:avLst>
            </a:prstGeom>
            <a:solidFill>
              <a:schemeClr val="bg1"/>
            </a:solidFill>
            <a:ln w="38100" cap="flat" cmpd="sng">
              <a:solidFill>
                <a:srgbClr val="F8FC6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a:spcBef>
                  <a:spcPct val="0"/>
                </a:spcBef>
                <a:buNone/>
              </a:pPr>
              <a:r>
                <a:rPr lang="en-US" altLang="zh-CN" sz="2800" b="1" dirty="0">
                  <a:solidFill>
                    <a:schemeClr val="tx1"/>
                  </a:solidFill>
                  <a:latin typeface="Arial Rounded MT Bold" pitchFamily="34" charset="0"/>
                  <a:ea typeface="宋体" panose="02010600030101010101" pitchFamily="2" charset="-122"/>
                </a:rPr>
                <a:t>T(n/2)</a:t>
              </a:r>
            </a:p>
          </p:txBody>
        </p:sp>
        <p:sp>
          <p:nvSpPr>
            <p:cNvPr id="8" name="AutoShape 1047">
              <a:extLst>
                <a:ext uri="{FF2B5EF4-FFF2-40B4-BE49-F238E27FC236}">
                  <a16:creationId xmlns:a16="http://schemas.microsoft.com/office/drawing/2014/main" id="{6A2C6D54-1F34-B1B3-ACF9-4D304E64EF72}"/>
                </a:ext>
              </a:extLst>
            </p:cNvPr>
            <p:cNvSpPr/>
            <p:nvPr/>
          </p:nvSpPr>
          <p:spPr>
            <a:xfrm>
              <a:off x="1920" y="2976"/>
              <a:ext cx="864" cy="784"/>
            </a:xfrm>
            <a:prstGeom prst="triangle">
              <a:avLst>
                <a:gd name="adj" fmla="val 50000"/>
              </a:avLst>
            </a:prstGeom>
            <a:solidFill>
              <a:schemeClr val="bg1"/>
            </a:solidFill>
            <a:ln w="38100" cap="flat" cmpd="sng">
              <a:solidFill>
                <a:srgbClr val="F8FC6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a:spcBef>
                  <a:spcPct val="0"/>
                </a:spcBef>
                <a:buNone/>
              </a:pPr>
              <a:r>
                <a:rPr lang="en-US" altLang="zh-CN" sz="2800" b="1" dirty="0">
                  <a:solidFill>
                    <a:schemeClr val="tx1"/>
                  </a:solidFill>
                  <a:latin typeface="Arial Rounded MT Bold" pitchFamily="34" charset="0"/>
                  <a:ea typeface="宋体" panose="02010600030101010101" pitchFamily="2" charset="-122"/>
                </a:rPr>
                <a:t>T(n/2)</a:t>
              </a:r>
            </a:p>
          </p:txBody>
        </p:sp>
        <p:sp>
          <p:nvSpPr>
            <p:cNvPr id="9" name="AutoShape 1048">
              <a:extLst>
                <a:ext uri="{FF2B5EF4-FFF2-40B4-BE49-F238E27FC236}">
                  <a16:creationId xmlns:a16="http://schemas.microsoft.com/office/drawing/2014/main" id="{3E6C8B56-9AE9-A058-A5EB-E40D38E82587}"/>
                </a:ext>
              </a:extLst>
            </p:cNvPr>
            <p:cNvSpPr/>
            <p:nvPr/>
          </p:nvSpPr>
          <p:spPr>
            <a:xfrm>
              <a:off x="3360" y="2976"/>
              <a:ext cx="864" cy="784"/>
            </a:xfrm>
            <a:prstGeom prst="triangle">
              <a:avLst>
                <a:gd name="adj" fmla="val 50000"/>
              </a:avLst>
            </a:prstGeom>
            <a:solidFill>
              <a:schemeClr val="bg1"/>
            </a:solidFill>
            <a:ln w="38100" cap="flat" cmpd="sng">
              <a:solidFill>
                <a:srgbClr val="F8FC6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a:spcBef>
                  <a:spcPct val="0"/>
                </a:spcBef>
                <a:buNone/>
              </a:pPr>
              <a:r>
                <a:rPr lang="en-US" altLang="zh-CN" sz="2800" b="1" dirty="0">
                  <a:solidFill>
                    <a:schemeClr val="tx1"/>
                  </a:solidFill>
                  <a:latin typeface="Arial Rounded MT Bold" pitchFamily="34" charset="0"/>
                  <a:ea typeface="宋体" panose="02010600030101010101" pitchFamily="2" charset="-122"/>
                </a:rPr>
                <a:t>T(n/2)</a:t>
              </a:r>
            </a:p>
          </p:txBody>
        </p:sp>
        <p:sp>
          <p:nvSpPr>
            <p:cNvPr id="10" name="AutoShape 1049">
              <a:extLst>
                <a:ext uri="{FF2B5EF4-FFF2-40B4-BE49-F238E27FC236}">
                  <a16:creationId xmlns:a16="http://schemas.microsoft.com/office/drawing/2014/main" id="{C99575BE-E899-1E93-B5A1-41ECE6DED97C}"/>
                </a:ext>
              </a:extLst>
            </p:cNvPr>
            <p:cNvSpPr/>
            <p:nvPr/>
          </p:nvSpPr>
          <p:spPr>
            <a:xfrm>
              <a:off x="4752" y="2976"/>
              <a:ext cx="864" cy="784"/>
            </a:xfrm>
            <a:prstGeom prst="triangle">
              <a:avLst>
                <a:gd name="adj" fmla="val 50000"/>
              </a:avLst>
            </a:prstGeom>
            <a:solidFill>
              <a:schemeClr val="bg1"/>
            </a:solidFill>
            <a:ln w="38100" cap="flat" cmpd="sng">
              <a:solidFill>
                <a:srgbClr val="F8FC62"/>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algn="ctr">
                <a:spcBef>
                  <a:spcPct val="0"/>
                </a:spcBef>
                <a:buNone/>
              </a:pPr>
              <a:r>
                <a:rPr lang="en-US" altLang="zh-CN" sz="2800" b="1" dirty="0">
                  <a:solidFill>
                    <a:schemeClr val="tx1"/>
                  </a:solidFill>
                  <a:latin typeface="Arial Rounded MT Bold" pitchFamily="34" charset="0"/>
                  <a:ea typeface="宋体" panose="02010600030101010101" pitchFamily="2" charset="-122"/>
                </a:rPr>
                <a:t>T(n/2)</a:t>
              </a:r>
            </a:p>
          </p:txBody>
        </p:sp>
        <p:sp>
          <p:nvSpPr>
            <p:cNvPr id="11" name="Rectangle 1050">
              <a:extLst>
                <a:ext uri="{FF2B5EF4-FFF2-40B4-BE49-F238E27FC236}">
                  <a16:creationId xmlns:a16="http://schemas.microsoft.com/office/drawing/2014/main" id="{C1111FC7-29BB-684F-7AA7-5E35BC6BA484}"/>
                </a:ext>
              </a:extLst>
            </p:cNvPr>
            <p:cNvSpPr/>
            <p:nvPr/>
          </p:nvSpPr>
          <p:spPr>
            <a:xfrm>
              <a:off x="1824" y="2016"/>
              <a:ext cx="266" cy="36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200" b="1" dirty="0">
                  <a:solidFill>
                    <a:schemeClr val="bg1"/>
                  </a:solidFill>
                  <a:latin typeface="Arial Rounded MT Bold" pitchFamily="34" charset="0"/>
                  <a:ea typeface="宋体" panose="02010600030101010101" pitchFamily="2" charset="-122"/>
                </a:rPr>
                <a:t>=</a:t>
              </a:r>
            </a:p>
          </p:txBody>
        </p:sp>
        <p:cxnSp>
          <p:nvCxnSpPr>
            <p:cNvPr id="12" name="AutoShape 1051">
              <a:extLst>
                <a:ext uri="{FF2B5EF4-FFF2-40B4-BE49-F238E27FC236}">
                  <a16:creationId xmlns:a16="http://schemas.microsoft.com/office/drawing/2014/main" id="{3428C854-1B7A-A180-EE03-E083EE18F4AA}"/>
                </a:ext>
              </a:extLst>
            </p:cNvPr>
            <p:cNvCxnSpPr/>
            <p:nvPr/>
          </p:nvCxnSpPr>
          <p:spPr>
            <a:xfrm flipH="1">
              <a:off x="816" y="2352"/>
              <a:ext cx="2153" cy="480"/>
            </a:xfrm>
            <a:prstGeom prst="straightConnector1">
              <a:avLst/>
            </a:prstGeom>
            <a:ln w="38100" cap="flat" cmpd="sng">
              <a:solidFill>
                <a:srgbClr val="FFFF00"/>
              </a:solidFill>
              <a:prstDash val="solid"/>
              <a:headEnd type="none" w="med" len="med"/>
              <a:tailEnd type="triangle" w="med" len="med"/>
            </a:ln>
          </p:spPr>
        </p:cxnSp>
        <p:cxnSp>
          <p:nvCxnSpPr>
            <p:cNvPr id="13" name="AutoShape 1052">
              <a:extLst>
                <a:ext uri="{FF2B5EF4-FFF2-40B4-BE49-F238E27FC236}">
                  <a16:creationId xmlns:a16="http://schemas.microsoft.com/office/drawing/2014/main" id="{A0A7EE54-3E1F-DB63-CE38-9ADD3695C5CD}"/>
                </a:ext>
              </a:extLst>
            </p:cNvPr>
            <p:cNvCxnSpPr/>
            <p:nvPr/>
          </p:nvCxnSpPr>
          <p:spPr>
            <a:xfrm>
              <a:off x="3024" y="2352"/>
              <a:ext cx="803" cy="512"/>
            </a:xfrm>
            <a:prstGeom prst="straightConnector1">
              <a:avLst/>
            </a:prstGeom>
            <a:ln w="38100" cap="flat" cmpd="sng">
              <a:solidFill>
                <a:srgbClr val="FFFF00"/>
              </a:solidFill>
              <a:prstDash val="solid"/>
              <a:headEnd type="none" w="med" len="med"/>
              <a:tailEnd type="triangle" w="med" len="med"/>
            </a:ln>
          </p:spPr>
        </p:cxnSp>
        <p:cxnSp>
          <p:nvCxnSpPr>
            <p:cNvPr id="14" name="AutoShape 1053">
              <a:extLst>
                <a:ext uri="{FF2B5EF4-FFF2-40B4-BE49-F238E27FC236}">
                  <a16:creationId xmlns:a16="http://schemas.microsoft.com/office/drawing/2014/main" id="{792210F1-DA50-83CC-8CA1-DA24C16A24A9}"/>
                </a:ext>
              </a:extLst>
            </p:cNvPr>
            <p:cNvCxnSpPr/>
            <p:nvPr/>
          </p:nvCxnSpPr>
          <p:spPr>
            <a:xfrm>
              <a:off x="2976" y="2352"/>
              <a:ext cx="2281" cy="512"/>
            </a:xfrm>
            <a:prstGeom prst="straightConnector1">
              <a:avLst/>
            </a:prstGeom>
            <a:ln w="38100" cap="flat" cmpd="sng">
              <a:solidFill>
                <a:srgbClr val="FFFF00"/>
              </a:solidFill>
              <a:prstDash val="solid"/>
              <a:headEnd type="none" w="med" len="med"/>
              <a:tailEnd type="triangle" w="med" len="med"/>
            </a:ln>
          </p:spPr>
        </p:cxnSp>
        <p:cxnSp>
          <p:nvCxnSpPr>
            <p:cNvPr id="15" name="AutoShape 1054">
              <a:extLst>
                <a:ext uri="{FF2B5EF4-FFF2-40B4-BE49-F238E27FC236}">
                  <a16:creationId xmlns:a16="http://schemas.microsoft.com/office/drawing/2014/main" id="{82874480-0E03-A988-6812-0C11E001BB38}"/>
                </a:ext>
              </a:extLst>
            </p:cNvPr>
            <p:cNvCxnSpPr/>
            <p:nvPr/>
          </p:nvCxnSpPr>
          <p:spPr>
            <a:xfrm flipH="1">
              <a:off x="2304" y="2352"/>
              <a:ext cx="675" cy="512"/>
            </a:xfrm>
            <a:prstGeom prst="straightConnector1">
              <a:avLst/>
            </a:prstGeom>
            <a:ln w="38100" cap="flat" cmpd="sng">
              <a:solidFill>
                <a:srgbClr val="F8FC62"/>
              </a:solidFill>
              <a:prstDash val="solid"/>
              <a:headEnd type="none" w="med" len="med"/>
              <a:tailEnd type="triangle" w="med" len="med"/>
            </a:ln>
          </p:spPr>
        </p:cxnSp>
      </p:grpSp>
    </p:spTree>
    <p:extLst>
      <p:ext uri="{BB962C8B-B14F-4D97-AF65-F5344CB8AC3E}">
        <p14:creationId xmlns:p14="http://schemas.microsoft.com/office/powerpoint/2010/main" val="851335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dirty="0">
                <a:latin typeface="+mj-ea"/>
              </a:rPr>
              <a:t>4.1.4 </a:t>
            </a:r>
            <a:r>
              <a:rPr lang="zh-CN" altLang="en-US" dirty="0">
                <a:latin typeface="+mj-ea"/>
              </a:rPr>
              <a:t>简单问题例算法的分析</a:t>
            </a:r>
            <a:endParaRPr lang="en-US" altLang="zh-CN" b="0" dirty="0">
              <a:latin typeface="+mj-ea"/>
            </a:endParaRPr>
          </a:p>
        </p:txBody>
      </p:sp>
      <p:sp>
        <p:nvSpPr>
          <p:cNvPr id="17" name="Rectangle 3">
            <a:extLst>
              <a:ext uri="{FF2B5EF4-FFF2-40B4-BE49-F238E27FC236}">
                <a16:creationId xmlns:a16="http://schemas.microsoft.com/office/drawing/2014/main" id="{39FC21A1-2FD7-B534-0CC9-4E527CF8F799}"/>
              </a:ext>
            </a:extLst>
          </p:cNvPr>
          <p:cNvSpPr>
            <a:spLocks noGrp="1"/>
          </p:cNvSpPr>
          <p:nvPr>
            <p:ph idx="1"/>
          </p:nvPr>
        </p:nvSpPr>
        <p:spPr>
          <a:xfrm>
            <a:off x="900113" y="1268413"/>
            <a:ext cx="7786687" cy="4525962"/>
          </a:xfrm>
        </p:spPr>
        <p:txBody>
          <a:bodyPr vert="horz" wrap="square" lIns="91440" tIns="45720" rIns="91440" bIns="45720" anchor="t" anchorCtr="0"/>
          <a:lstStyle/>
          <a:p>
            <a:pPr>
              <a:lnSpc>
                <a:spcPct val="125000"/>
              </a:lnSpc>
              <a:spcBef>
                <a:spcPct val="50000"/>
              </a:spcBef>
            </a:pPr>
            <a:r>
              <a:rPr lang="zh-CN" altLang="en-US" dirty="0">
                <a:latin typeface="华文楷体" panose="02010600040101010101" pitchFamily="2" charset="-122"/>
              </a:rPr>
              <a:t>但是经分解得到的子问题往往不是互相独立的。不同子问题的数目常常只有多项式量级。在用分治法求解时，有些子问题被</a:t>
            </a:r>
            <a:r>
              <a:rPr lang="zh-CN" altLang="en-US" dirty="0">
                <a:solidFill>
                  <a:srgbClr val="FF0000"/>
                </a:solidFill>
                <a:latin typeface="华文楷体" panose="02010600040101010101" pitchFamily="2" charset="-122"/>
              </a:rPr>
              <a:t>重复计算了许多次</a:t>
            </a:r>
            <a:r>
              <a:rPr lang="zh-CN" altLang="en-US" dirty="0">
                <a:latin typeface="华文楷体" panose="02010600040101010101" pitchFamily="2" charset="-122"/>
              </a:rPr>
              <a:t>。</a:t>
            </a:r>
          </a:p>
          <a:p>
            <a:pPr>
              <a:lnSpc>
                <a:spcPct val="125000"/>
              </a:lnSpc>
              <a:spcBef>
                <a:spcPct val="50000"/>
              </a:spcBef>
            </a:pPr>
            <a:r>
              <a:rPr lang="zh-CN" altLang="en-US" dirty="0">
                <a:latin typeface="华文楷体" panose="02010600040101010101" pitchFamily="2" charset="-122"/>
              </a:rPr>
              <a:t>如果能够</a:t>
            </a:r>
            <a:r>
              <a:rPr lang="zh-CN" altLang="en-US" dirty="0">
                <a:solidFill>
                  <a:srgbClr val="FF0000"/>
                </a:solidFill>
                <a:latin typeface="华文楷体" panose="02010600040101010101" pitchFamily="2" charset="-122"/>
              </a:rPr>
              <a:t>保存</a:t>
            </a:r>
            <a:r>
              <a:rPr lang="zh-CN" altLang="en-US" dirty="0">
                <a:latin typeface="华文楷体" panose="02010600040101010101" pitchFamily="2" charset="-122"/>
              </a:rPr>
              <a:t>已解决的子问题的答案，而在需要时再找出已求得的答案，就可以避免大量重复计算，从而得到多项式时间算法。</a:t>
            </a:r>
          </a:p>
          <a:p>
            <a:pPr eaLnBrk="1" hangingPunct="1"/>
            <a:endParaRPr lang="en-US" altLang="zh-CN" dirty="0"/>
          </a:p>
        </p:txBody>
      </p:sp>
      <p:sp>
        <p:nvSpPr>
          <p:cNvPr id="18" name="Rectangle 18">
            <a:extLst>
              <a:ext uri="{FF2B5EF4-FFF2-40B4-BE49-F238E27FC236}">
                <a16:creationId xmlns:a16="http://schemas.microsoft.com/office/drawing/2014/main" id="{AAFE5328-D2C3-8EB4-CB51-AA7D582DAF8B}"/>
              </a:ext>
            </a:extLst>
          </p:cNvPr>
          <p:cNvSpPr>
            <a:spLocks noChangeArrowheads="1"/>
          </p:cNvSpPr>
          <p:nvPr/>
        </p:nvSpPr>
        <p:spPr bwMode="auto">
          <a:xfrm>
            <a:off x="1115616" y="4149080"/>
            <a:ext cx="7786688" cy="2016125"/>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Those who cannot remember the past are doomed to repeat it. </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                                         </a:t>
            </a:r>
            <a:r>
              <a:rPr kumimoji="0" lang="en-US" altLang="zh-CN" sz="1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Arial" panose="020B0604020202020204" pitchFamily="34" charset="0"/>
                <a:ea typeface="楷体_GB2312" pitchFamily="49" charset="-122"/>
                <a:cs typeface="+mn-cs"/>
              </a:rPr>
              <a:t>-----George Santayana,   </a:t>
            </a: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bg1"/>
                </a:solidFill>
                <a:effectLst>
                  <a:outerShdw blurRad="38100" dist="38100" dir="2700000" algn="tl">
                    <a:srgbClr val="C0C0C0"/>
                  </a:outerShdw>
                </a:effectLst>
                <a:uLnTx/>
                <a:uFillTx/>
                <a:latin typeface="Arial" panose="020B0604020202020204" pitchFamily="34" charset="0"/>
                <a:ea typeface="楷体_GB2312" pitchFamily="49" charset="-122"/>
                <a:cs typeface="+mn-cs"/>
              </a:rPr>
              <a:t>                                                                                                          </a:t>
            </a:r>
            <a:r>
              <a:rPr kumimoji="0" lang="en-US" altLang="zh-CN" sz="1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Arial" panose="020B0604020202020204" pitchFamily="34" charset="0"/>
                <a:ea typeface="华文行楷" panose="02010800040101010101" pitchFamily="2" charset="-122"/>
                <a:cs typeface="+mn-cs"/>
              </a:rPr>
              <a:t>(1905)</a:t>
            </a:r>
          </a:p>
        </p:txBody>
      </p:sp>
    </p:spTree>
    <p:extLst>
      <p:ext uri="{BB962C8B-B14F-4D97-AF65-F5344CB8AC3E}">
        <p14:creationId xmlns:p14="http://schemas.microsoft.com/office/powerpoint/2010/main" val="692714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1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1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38</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6149" name="Rectangle 2"/>
          <p:cNvSpPr>
            <a:spLocks noGrp="1"/>
          </p:cNvSpPr>
          <p:nvPr>
            <p:ph type="title"/>
          </p:nvPr>
        </p:nvSpPr>
        <p:spPr/>
        <p:txBody>
          <a:bodyPr vert="horz" wrap="square" lIns="91440" tIns="45720" rIns="91440" bIns="45720" anchor="ctr" anchorCtr="0"/>
          <a:lstStyle/>
          <a:p>
            <a:pPr eaLnBrk="1" hangingPunct="1"/>
            <a:r>
              <a:rPr lang="zh-CN" altLang="en-US" b="0" dirty="0"/>
              <a:t>主要内容</a:t>
            </a:r>
            <a:endParaRPr lang="en-US" altLang="zh-CN" b="0" dirty="0"/>
          </a:p>
        </p:txBody>
      </p:sp>
      <p:sp>
        <p:nvSpPr>
          <p:cNvPr id="218115" name="Rectangle 3"/>
          <p:cNvSpPr>
            <a:spLocks noGrp="1" noChangeArrowheads="1"/>
          </p:cNvSpPr>
          <p:nvPr>
            <p:ph idx="1"/>
          </p:nvPr>
        </p:nvSpPr>
        <p:spPr>
          <a:xfrm>
            <a:off x="971600" y="1700808"/>
            <a:ext cx="8172400" cy="403244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i="0" strike="noStrike" kern="0" cap="none" spc="0" normalizeH="0" baseline="0" noProof="0" dirty="0">
                <a:ln>
                  <a:noFill/>
                </a:ln>
                <a:solidFill>
                  <a:schemeClr val="accent2"/>
                </a:solidFill>
                <a:effectLst/>
                <a:uLnTx/>
                <a:uFillTx/>
                <a:latin typeface="+mn-ea"/>
              </a:rPr>
              <a:t>4.1 </a:t>
            </a:r>
            <a:r>
              <a:rPr kumimoji="0" lang="zh-CN" altLang="en-US" i="0" strike="noStrike" kern="0" cap="none" spc="0" normalizeH="0" baseline="0" noProof="0" dirty="0">
                <a:ln>
                  <a:noFill/>
                </a:ln>
                <a:solidFill>
                  <a:schemeClr val="accent2"/>
                </a:solidFill>
                <a:effectLst/>
                <a:uLnTx/>
                <a:uFillTx/>
                <a:latin typeface="+mn-ea"/>
              </a:rPr>
              <a:t>引言</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b="1" i="0" u="sng" strike="noStrike" kern="0" cap="none" spc="0" normalizeH="0" baseline="0" noProof="0" dirty="0">
                <a:ln>
                  <a:noFill/>
                </a:ln>
                <a:solidFill>
                  <a:schemeClr val="accent2"/>
                </a:solidFill>
                <a:effectLst/>
                <a:uLnTx/>
                <a:uFillTx/>
                <a:latin typeface="+mn-ea"/>
              </a:rPr>
              <a:t>4.2 </a:t>
            </a:r>
            <a:r>
              <a:rPr kumimoji="0" lang="zh-CN" altLang="en-US" b="1" i="0" u="sng" strike="noStrike" kern="0" cap="none" spc="0" normalizeH="0" baseline="0" noProof="0" dirty="0">
                <a:ln>
                  <a:noFill/>
                </a:ln>
                <a:solidFill>
                  <a:schemeClr val="accent2"/>
                </a:solidFill>
                <a:effectLst/>
                <a:uLnTx/>
                <a:uFillTx/>
                <a:latin typeface="+mn-ea"/>
              </a:rPr>
              <a:t>动态规划策略的算法设计思想及分析方法</a:t>
            </a:r>
            <a:endParaRPr kumimoji="0" lang="en-US" altLang="zh-CN" b="1" i="0" u="sng" strike="noStrike" kern="0" cap="none" spc="0" normalizeH="0" baseline="0" noProof="0" dirty="0">
              <a:ln>
                <a:noFill/>
              </a:ln>
              <a:solidFill>
                <a:schemeClr val="accent2"/>
              </a:solidFill>
              <a:effectLst/>
              <a:uLnTx/>
              <a:uFillTx/>
              <a:latin typeface="+mn-ea"/>
            </a:endParaRPr>
          </a:p>
          <a:p>
            <a:pPr>
              <a:defRPr/>
            </a:pPr>
            <a:r>
              <a:rPr lang="en-US" altLang="zh-CN" dirty="0">
                <a:latin typeface="+mn-ea"/>
              </a:rPr>
              <a:t>4.3 </a:t>
            </a:r>
            <a:r>
              <a:rPr lang="zh-CN" altLang="en-US" dirty="0">
                <a:latin typeface="+mn-ea"/>
              </a:rPr>
              <a:t>动态规划策略的经典应用（可选讲部分）</a:t>
            </a:r>
          </a:p>
          <a:p>
            <a:pPr marL="0" marR="0" lvl="0" indent="0" algn="l" defTabSz="914400" rtl="0" eaLnBrk="0" fontAlgn="base" latinLnBrk="0" hangingPunct="0">
              <a:lnSpc>
                <a:spcPct val="100000"/>
              </a:lnSpc>
              <a:spcBef>
                <a:spcPct val="20000"/>
              </a:spcBef>
              <a:spcAft>
                <a:spcPct val="0"/>
              </a:spcAft>
              <a:buClrTx/>
              <a:buSzTx/>
              <a:buNone/>
              <a:defRPr/>
            </a:pPr>
            <a:endParaRPr kumimoji="0" lang="zh-CN" altLang="en-US" b="0" i="0" u="none" strike="noStrike" kern="0" cap="none" spc="0" normalizeH="0" baseline="0" noProof="0" dirty="0">
              <a:ln>
                <a:noFill/>
              </a:ln>
              <a:solidFill>
                <a:schemeClr val="accent2"/>
              </a:solidFill>
              <a:effectLst/>
              <a:uLnTx/>
              <a:uFillTx/>
              <a:latin typeface="+mn-ea"/>
            </a:endParaRPr>
          </a:p>
        </p:txBody>
      </p:sp>
    </p:spTree>
    <p:extLst>
      <p:ext uri="{BB962C8B-B14F-4D97-AF65-F5344CB8AC3E}">
        <p14:creationId xmlns:p14="http://schemas.microsoft.com/office/powerpoint/2010/main" val="257934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0" end="0"/>
                                            </p:txEl>
                                          </p:spTgt>
                                        </p:tgtEl>
                                        <p:attrNameLst>
                                          <p:attrName>ppt_c</p:attrName>
                                        </p:attrNameLst>
                                      </p:cBhvr>
                                      <p:to>
                                        <a:schemeClr val="bg2"/>
                                      </p:to>
                                    </p:animClr>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18115">
                                            <p:txEl>
                                              <p:pRg st="1" end="1"/>
                                            </p:txEl>
                                          </p:spTgt>
                                        </p:tgtEl>
                                        <p:attrNameLst>
                                          <p:attrName>style.visibility</p:attrName>
                                        </p:attrNameLst>
                                      </p:cBhvr>
                                      <p:to>
                                        <p:strVal val="visible"/>
                                      </p:to>
                                    </p:set>
                                    <p:anim calcmode="lin" valueType="num">
                                      <p:cBhvr additive="base">
                                        <p:cTn id="13" dur="500" fill="hold"/>
                                        <p:tgtEl>
                                          <p:spTgt spid="218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811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1" end="1"/>
                                            </p:txEl>
                                          </p:spTgt>
                                        </p:tgtEl>
                                        <p:attrNameLst>
                                          <p:attrName>ppt_c</p:attrName>
                                        </p:attrNameLst>
                                      </p:cBhvr>
                                      <p:to>
                                        <a:schemeClr val="bg2"/>
                                      </p:to>
                                    </p:animClr>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218115">
                                            <p:txEl>
                                              <p:pRg st="2" end="2"/>
                                            </p:txEl>
                                          </p:spTgt>
                                        </p:tgtEl>
                                        <p:attrNameLst>
                                          <p:attrName>style.visibility</p:attrName>
                                        </p:attrNameLst>
                                      </p:cBhvr>
                                      <p:to>
                                        <p:strVal val="visible"/>
                                      </p:to>
                                    </p:set>
                                    <p:anim calcmode="lin" valueType="num">
                                      <p:cBhvr additive="base">
                                        <p:cTn id="19" dur="500" fill="hold"/>
                                        <p:tgtEl>
                                          <p:spTgt spid="218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811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2" end="2"/>
                                            </p:txEl>
                                          </p:spTgt>
                                        </p:tgtEl>
                                        <p:attrNameLst>
                                          <p:attrName>ppt_c</p:attrName>
                                        </p:attrNameLst>
                                      </p:cBhvr>
                                      <p:to>
                                        <a:schemeClr val="bg2"/>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1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1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39</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6149" name="Rectangle 2"/>
          <p:cNvSpPr>
            <a:spLocks noGrp="1"/>
          </p:cNvSpPr>
          <p:nvPr>
            <p:ph type="title"/>
          </p:nvPr>
        </p:nvSpPr>
        <p:spPr/>
        <p:txBody>
          <a:bodyPr vert="horz" wrap="square" lIns="91440" tIns="45720" rIns="91440" bIns="45720" anchor="ctr" anchorCtr="0"/>
          <a:lstStyle/>
          <a:p>
            <a:pPr eaLnBrk="1" hangingPunct="1"/>
            <a:r>
              <a:rPr lang="zh-CN" altLang="en-US" b="0" dirty="0"/>
              <a:t>主要内容</a:t>
            </a:r>
            <a:endParaRPr lang="en-US" altLang="zh-CN" b="0" dirty="0"/>
          </a:p>
        </p:txBody>
      </p:sp>
      <p:sp>
        <p:nvSpPr>
          <p:cNvPr id="218115" name="Rectangle 3"/>
          <p:cNvSpPr>
            <a:spLocks noGrp="1" noChangeArrowheads="1"/>
          </p:cNvSpPr>
          <p:nvPr>
            <p:ph idx="1"/>
          </p:nvPr>
        </p:nvSpPr>
        <p:spPr>
          <a:xfrm>
            <a:off x="971600" y="1268760"/>
            <a:ext cx="8172400" cy="4464496"/>
          </a:xfrm>
        </p:spPr>
        <p:txBody>
          <a:bodyPr vert="horz" wrap="square" lIns="91440" tIns="45720" rIns="91440" bIns="45720" numCol="1" anchor="t" anchorCtr="0" compatLnSpc="1"/>
          <a:lstStyle/>
          <a:p>
            <a:pPr marL="0" lvl="0" indent="0">
              <a:buNone/>
              <a:defRPr/>
            </a:pPr>
            <a:r>
              <a:rPr lang="en-US" altLang="zh-CN" dirty="0">
                <a:latin typeface="+mn-ea"/>
              </a:rPr>
              <a:t>4.2 </a:t>
            </a:r>
            <a:r>
              <a:rPr lang="zh-CN" altLang="en-US" dirty="0">
                <a:latin typeface="+mn-ea"/>
              </a:rPr>
              <a:t>动态规划策略的算法设计思想及分析方法</a:t>
            </a:r>
          </a:p>
          <a:p>
            <a:pPr marL="457200" lvl="1" indent="0">
              <a:buNone/>
              <a:defRPr/>
            </a:pPr>
            <a:r>
              <a:rPr lang="en-US" altLang="zh-CN" sz="2400" dirty="0">
                <a:latin typeface="+mn-ea"/>
                <a:ea typeface="+mn-ea"/>
              </a:rPr>
              <a:t>4.2.1 </a:t>
            </a:r>
            <a:r>
              <a:rPr lang="zh-CN" altLang="en-US" sz="2400" dirty="0">
                <a:latin typeface="+mn-ea"/>
                <a:ea typeface="+mn-ea"/>
              </a:rPr>
              <a:t>动态规划策略适用的问题分析</a:t>
            </a:r>
          </a:p>
          <a:p>
            <a:pPr marL="457200" lvl="1" indent="0">
              <a:buNone/>
              <a:defRPr/>
            </a:pPr>
            <a:r>
              <a:rPr lang="en-US" altLang="zh-CN" sz="2400" dirty="0">
                <a:latin typeface="+mn-ea"/>
                <a:ea typeface="+mn-ea"/>
              </a:rPr>
              <a:t>4.2.2 </a:t>
            </a:r>
            <a:r>
              <a:rPr lang="zh-CN" altLang="en-US" sz="2400" dirty="0">
                <a:latin typeface="+mn-ea"/>
                <a:ea typeface="+mn-ea"/>
              </a:rPr>
              <a:t>动态规划算法一般框架及特点分析</a:t>
            </a:r>
          </a:p>
          <a:p>
            <a:pPr marL="457200" lvl="1" indent="0">
              <a:buNone/>
              <a:defRPr/>
            </a:pPr>
            <a:r>
              <a:rPr lang="en-US" altLang="zh-CN" sz="2400" dirty="0">
                <a:latin typeface="+mn-ea"/>
                <a:ea typeface="+mn-ea"/>
              </a:rPr>
              <a:t>4.2.3 </a:t>
            </a:r>
            <a:r>
              <a:rPr lang="zh-CN" altLang="en-US" sz="2400" dirty="0">
                <a:latin typeface="+mn-ea"/>
                <a:ea typeface="+mn-ea"/>
              </a:rPr>
              <a:t>动态规划算法设计的关键因素</a:t>
            </a:r>
          </a:p>
          <a:p>
            <a:pPr marL="457200" lvl="1" indent="0">
              <a:buNone/>
              <a:defRPr/>
            </a:pPr>
            <a:r>
              <a:rPr lang="en-US" altLang="zh-CN" sz="2400" dirty="0">
                <a:latin typeface="+mn-ea"/>
                <a:ea typeface="+mn-ea"/>
              </a:rPr>
              <a:t>4.2.4 </a:t>
            </a:r>
            <a:r>
              <a:rPr lang="zh-CN" altLang="en-US" sz="2400" dirty="0">
                <a:latin typeface="+mn-ea"/>
                <a:ea typeface="+mn-ea"/>
              </a:rPr>
              <a:t>动态规划和分治策略的异同点</a:t>
            </a:r>
          </a:p>
        </p:txBody>
      </p:sp>
    </p:spTree>
    <p:extLst>
      <p:ext uri="{BB962C8B-B14F-4D97-AF65-F5344CB8AC3E}">
        <p14:creationId xmlns:p14="http://schemas.microsoft.com/office/powerpoint/2010/main" val="46850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0" end="0"/>
                                            </p:txEl>
                                          </p:spTgt>
                                        </p:tgtEl>
                                        <p:attrNameLst>
                                          <p:attrName>ppt_c</p:attrName>
                                        </p:attrNameLst>
                                      </p:cBhvr>
                                      <p:to>
                                        <a:schemeClr val="bg2"/>
                                      </p:to>
                                    </p:animClr>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9" presetID="2" presetClass="entr" presetSubtype="1" fill="hold" grpId="0" nodeType="withEffect">
                                  <p:stCondLst>
                                    <p:cond delay="0"/>
                                  </p:stCondLst>
                                  <p:childTnLst>
                                    <p:set>
                                      <p:cBhvr>
                                        <p:cTn id="10" dur="1" fill="hold">
                                          <p:stCondLst>
                                            <p:cond delay="0"/>
                                          </p:stCondLst>
                                        </p:cTn>
                                        <p:tgtEl>
                                          <p:spTgt spid="218115">
                                            <p:txEl>
                                              <p:pRg st="1" end="1"/>
                                            </p:txEl>
                                          </p:spTgt>
                                        </p:tgtEl>
                                        <p:attrNameLst>
                                          <p:attrName>style.visibility</p:attrName>
                                        </p:attrNameLst>
                                      </p:cBhvr>
                                      <p:to>
                                        <p:strVal val="visible"/>
                                      </p:to>
                                    </p:set>
                                    <p:anim calcmode="lin" valueType="num">
                                      <p:cBhvr additive="base">
                                        <p:cTn id="11" dur="500" fill="hold"/>
                                        <p:tgtEl>
                                          <p:spTgt spid="2181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811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1" end="1"/>
                                            </p:txEl>
                                          </p:spTgt>
                                        </p:tgtEl>
                                        <p:attrNameLst>
                                          <p:attrName>ppt_c</p:attrName>
                                        </p:attrNameLst>
                                      </p:cBhvr>
                                      <p:to>
                                        <a:schemeClr val="bg2"/>
                                      </p:to>
                                    </p:animClr>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3" presetID="2" presetClass="entr" presetSubtype="1" fill="hold" grpId="0" nodeType="withEffect">
                                  <p:stCondLst>
                                    <p:cond delay="0"/>
                                  </p:stCondLst>
                                  <p:childTnLst>
                                    <p:set>
                                      <p:cBhvr>
                                        <p:cTn id="14" dur="1" fill="hold">
                                          <p:stCondLst>
                                            <p:cond delay="0"/>
                                          </p:stCondLst>
                                        </p:cTn>
                                        <p:tgtEl>
                                          <p:spTgt spid="218115">
                                            <p:txEl>
                                              <p:pRg st="2" end="2"/>
                                            </p:txEl>
                                          </p:spTgt>
                                        </p:tgtEl>
                                        <p:attrNameLst>
                                          <p:attrName>style.visibility</p:attrName>
                                        </p:attrNameLst>
                                      </p:cBhvr>
                                      <p:to>
                                        <p:strVal val="visible"/>
                                      </p:to>
                                    </p:set>
                                    <p:anim calcmode="lin" valueType="num">
                                      <p:cBhvr additive="base">
                                        <p:cTn id="15" dur="500" fill="hold"/>
                                        <p:tgtEl>
                                          <p:spTgt spid="21811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811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2" end="2"/>
                                            </p:txEl>
                                          </p:spTgt>
                                        </p:tgtEl>
                                        <p:attrNameLst>
                                          <p:attrName>ppt_c</p:attrName>
                                        </p:attrNameLst>
                                      </p:cBhvr>
                                      <p:to>
                                        <a:schemeClr val="bg2"/>
                                      </p:to>
                                    </p:animClr>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par>
                                <p:cTn id="17" presetID="2" presetClass="entr" presetSubtype="1" fill="hold" grpId="0" nodeType="withEffect">
                                  <p:stCondLst>
                                    <p:cond delay="0"/>
                                  </p:stCondLst>
                                  <p:childTnLst>
                                    <p:set>
                                      <p:cBhvr>
                                        <p:cTn id="18" dur="1" fill="hold">
                                          <p:stCondLst>
                                            <p:cond delay="0"/>
                                          </p:stCondLst>
                                        </p:cTn>
                                        <p:tgtEl>
                                          <p:spTgt spid="218115">
                                            <p:txEl>
                                              <p:pRg st="3" end="3"/>
                                            </p:txEl>
                                          </p:spTgt>
                                        </p:tgtEl>
                                        <p:attrNameLst>
                                          <p:attrName>style.visibility</p:attrName>
                                        </p:attrNameLst>
                                      </p:cBhvr>
                                      <p:to>
                                        <p:strVal val="visible"/>
                                      </p:to>
                                    </p:set>
                                    <p:anim calcmode="lin" valueType="num">
                                      <p:cBhvr additive="base">
                                        <p:cTn id="19" dur="500" fill="hold"/>
                                        <p:tgtEl>
                                          <p:spTgt spid="2181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8115">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3" end="3"/>
                                            </p:txEl>
                                          </p:spTgt>
                                        </p:tgtEl>
                                        <p:attrNameLst>
                                          <p:attrName>ppt_c</p:attrName>
                                        </p:attrNameLst>
                                      </p:cBhvr>
                                      <p:to>
                                        <a:schemeClr val="bg2"/>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par>
                                <p:cTn id="21" presetID="2" presetClass="entr" presetSubtype="1" fill="hold" grpId="0" nodeType="withEffect">
                                  <p:stCondLst>
                                    <p:cond delay="0"/>
                                  </p:stCondLst>
                                  <p:childTnLst>
                                    <p:set>
                                      <p:cBhvr>
                                        <p:cTn id="22" dur="1" fill="hold">
                                          <p:stCondLst>
                                            <p:cond delay="0"/>
                                          </p:stCondLst>
                                        </p:cTn>
                                        <p:tgtEl>
                                          <p:spTgt spid="218115">
                                            <p:txEl>
                                              <p:pRg st="4" end="4"/>
                                            </p:txEl>
                                          </p:spTgt>
                                        </p:tgtEl>
                                        <p:attrNameLst>
                                          <p:attrName>style.visibility</p:attrName>
                                        </p:attrNameLst>
                                      </p:cBhvr>
                                      <p:to>
                                        <p:strVal val="visible"/>
                                      </p:to>
                                    </p:set>
                                    <p:anim calcmode="lin" valueType="num">
                                      <p:cBhvr additive="base">
                                        <p:cTn id="23" dur="500" fill="hold"/>
                                        <p:tgtEl>
                                          <p:spTgt spid="2181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8115">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4" end="4"/>
                                            </p:txEl>
                                          </p:spTgt>
                                        </p:tgtEl>
                                        <p:attrNameLst>
                                          <p:attrName>ppt_c</p:attrName>
                                        </p:attrNameLst>
                                      </p:cBhvr>
                                      <p:to>
                                        <a:schemeClr val="bg2"/>
                                      </p:to>
                                    </p:animClr>
                                    <p:audio>
                                      <p:cMediaNode>
                                        <p:cTn display="0" masterRel="sameClick">
                                          <p:stCondLst>
                                            <p:cond evt="begin" delay="0">
                                              <p:tn val="21"/>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4.2.1 </a:t>
            </a:r>
            <a:r>
              <a:rPr lang="zh-CN" altLang="en-US" sz="3200" dirty="0">
                <a:latin typeface="+mj-ea"/>
              </a:rPr>
              <a:t>动态规划策略适用的问题分析</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a:lnSpc>
                <a:spcPct val="90000"/>
              </a:lnSpc>
            </a:pPr>
            <a:r>
              <a:rPr lang="zh-CN" altLang="en-US" dirty="0"/>
              <a:t>动态规划算法与分治法类似，其基本思想也是将待求解问题分解成若干个子问题。</a:t>
            </a:r>
            <a:endParaRPr lang="en-US" altLang="zh-CN" dirty="0"/>
          </a:p>
          <a:p>
            <a:pPr>
              <a:lnSpc>
                <a:spcPct val="90000"/>
              </a:lnSpc>
            </a:pPr>
            <a:endParaRPr lang="zh-CN" altLang="en-US" dirty="0"/>
          </a:p>
          <a:p>
            <a:pPr>
              <a:lnSpc>
                <a:spcPct val="90000"/>
              </a:lnSpc>
            </a:pPr>
            <a:r>
              <a:rPr lang="zh-CN" altLang="en-US" dirty="0"/>
              <a:t>但是经分解得到的子问题往往不是互相独立的。不同子问题的数目常常只有多项式量级。在用分治法求解时，有些子问题被重复计算了许多次。</a:t>
            </a:r>
            <a:endParaRPr lang="en-US" altLang="zh-CN" dirty="0"/>
          </a:p>
          <a:p>
            <a:pPr>
              <a:lnSpc>
                <a:spcPct val="90000"/>
              </a:lnSpc>
            </a:pPr>
            <a:endParaRPr lang="zh-CN" altLang="en-US" dirty="0"/>
          </a:p>
          <a:p>
            <a:pPr>
              <a:lnSpc>
                <a:spcPct val="90000"/>
              </a:lnSpc>
            </a:pPr>
            <a:r>
              <a:rPr lang="zh-CN" altLang="en-US" dirty="0"/>
              <a:t>如果能够保存已解决的子问题的答案，而在需要时再找出已求得的答案，就可以避免大量重复计算，从而得到多项式时间算法。</a:t>
            </a:r>
          </a:p>
        </p:txBody>
      </p:sp>
    </p:spTree>
    <p:extLst>
      <p:ext uri="{BB962C8B-B14F-4D97-AF65-F5344CB8AC3E}">
        <p14:creationId xmlns:p14="http://schemas.microsoft.com/office/powerpoint/2010/main" val="437667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4.2.2 </a:t>
            </a:r>
            <a:r>
              <a:rPr lang="zh-CN" altLang="en-US" sz="3200" dirty="0">
                <a:latin typeface="+mj-ea"/>
              </a:rPr>
              <a:t>动态规划算法一般框架及特点分析</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eaLnBrk="1" hangingPunct="1">
              <a:lnSpc>
                <a:spcPct val="90000"/>
              </a:lnSpc>
              <a:buClr>
                <a:srgbClr val="A50021"/>
              </a:buClr>
              <a:buSzPct val="75000"/>
            </a:pPr>
            <a:r>
              <a:rPr lang="zh-CN" altLang="en-US" sz="2800" dirty="0"/>
              <a:t>动态规划的基本步骤</a:t>
            </a:r>
            <a:endParaRPr lang="en-US" altLang="zh-CN" sz="2800" dirty="0"/>
          </a:p>
          <a:p>
            <a:pPr marL="914400" lvl="1" indent="-457200" eaLnBrk="1" hangingPunct="1">
              <a:lnSpc>
                <a:spcPct val="90000"/>
              </a:lnSpc>
              <a:buClr>
                <a:srgbClr val="A50021"/>
              </a:buClr>
              <a:buSzPct val="75000"/>
              <a:buFont typeface="+mj-lt"/>
              <a:buAutoNum type="arabicParenR"/>
            </a:pPr>
            <a:r>
              <a:rPr lang="zh-CN" altLang="en-US" dirty="0">
                <a:latin typeface="+mn-ea"/>
                <a:ea typeface="+mn-ea"/>
              </a:rPr>
              <a:t>找出最优解的性质，并刻划其结构特征。</a:t>
            </a:r>
          </a:p>
          <a:p>
            <a:pPr marL="914400" lvl="1" indent="-457200" eaLnBrk="1" hangingPunct="1">
              <a:lnSpc>
                <a:spcPct val="90000"/>
              </a:lnSpc>
              <a:buClr>
                <a:srgbClr val="A50021"/>
              </a:buClr>
              <a:buSzPct val="75000"/>
              <a:buFont typeface="+mj-lt"/>
              <a:buAutoNum type="arabicParenR"/>
            </a:pPr>
            <a:r>
              <a:rPr lang="zh-CN" altLang="en-US" dirty="0">
                <a:latin typeface="+mn-ea"/>
                <a:ea typeface="+mn-ea"/>
              </a:rPr>
              <a:t>递归地定义最优值。</a:t>
            </a:r>
          </a:p>
          <a:p>
            <a:pPr marL="914400" lvl="1" indent="-457200" eaLnBrk="1" hangingPunct="1">
              <a:lnSpc>
                <a:spcPct val="90000"/>
              </a:lnSpc>
              <a:buClr>
                <a:srgbClr val="A50021"/>
              </a:buClr>
              <a:buSzPct val="75000"/>
              <a:buFont typeface="+mj-lt"/>
              <a:buAutoNum type="arabicParenR"/>
            </a:pPr>
            <a:r>
              <a:rPr lang="zh-CN" altLang="en-US" dirty="0">
                <a:latin typeface="+mn-ea"/>
                <a:ea typeface="+mn-ea"/>
              </a:rPr>
              <a:t>以自底向上的方式计算出最优值。</a:t>
            </a:r>
          </a:p>
          <a:p>
            <a:pPr marL="914400" lvl="1" indent="-457200" eaLnBrk="1" hangingPunct="1">
              <a:lnSpc>
                <a:spcPct val="90000"/>
              </a:lnSpc>
              <a:buClr>
                <a:srgbClr val="A50021"/>
              </a:buClr>
              <a:buSzPct val="75000"/>
              <a:buFont typeface="+mj-lt"/>
              <a:buAutoNum type="arabicParenR"/>
            </a:pPr>
            <a:r>
              <a:rPr lang="zh-CN" altLang="en-US" dirty="0">
                <a:latin typeface="+mn-ea"/>
                <a:ea typeface="+mn-ea"/>
              </a:rPr>
              <a:t>根据计算最优值时得到的信息，构造最优解。</a:t>
            </a:r>
          </a:p>
          <a:p>
            <a:pPr indent="-285750">
              <a:defRPr/>
            </a:pPr>
            <a:endParaRPr kumimoji="0" lang="zh-CN" altLang="en-US" sz="2200" b="0" i="0" u="none" strike="noStrike" kern="0" cap="none" spc="0" normalizeH="0" baseline="0" noProof="0" dirty="0">
              <a:ln>
                <a:noFill/>
              </a:ln>
              <a:solidFill>
                <a:schemeClr val="accent2"/>
              </a:solidFill>
              <a:effectLst/>
              <a:uLnTx/>
              <a:uFillTx/>
              <a:latin typeface="+mn-ea"/>
              <a:ea typeface="+mn-ea"/>
            </a:endParaRPr>
          </a:p>
        </p:txBody>
      </p:sp>
    </p:spTree>
    <p:extLst>
      <p:ext uri="{BB962C8B-B14F-4D97-AF65-F5344CB8AC3E}">
        <p14:creationId xmlns:p14="http://schemas.microsoft.com/office/powerpoint/2010/main" val="2520763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4.2.3 </a:t>
            </a:r>
            <a:r>
              <a:rPr lang="zh-CN" altLang="en-US" sz="3200" dirty="0">
                <a:latin typeface="+mj-ea"/>
              </a:rPr>
              <a:t>动态规划算法设计的关键因素</a:t>
            </a:r>
            <a:r>
              <a:rPr lang="en-US" altLang="zh-CN" dirty="0">
                <a:latin typeface="+mj-ea"/>
              </a:rPr>
              <a:t>-</a:t>
            </a:r>
            <a:r>
              <a:rPr lang="zh-CN" altLang="en-US" dirty="0">
                <a:latin typeface="+mj-ea"/>
              </a:rPr>
              <a:t>最优子结构</a:t>
            </a:r>
            <a:endParaRPr lang="en-US" altLang="zh-CN"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a:buClr>
                <a:schemeClr val="accent2"/>
              </a:buClr>
            </a:pPr>
            <a:r>
              <a:rPr lang="zh-CN" altLang="en-US" dirty="0">
                <a:latin typeface="+mn-ea"/>
              </a:rPr>
              <a:t>矩阵连乘计算次序问题的最优解包含着其子问题的最优解。这种性质称为</a:t>
            </a:r>
            <a:r>
              <a:rPr lang="zh-CN" altLang="en-US" b="1" dirty="0">
                <a:solidFill>
                  <a:srgbClr val="FF0000"/>
                </a:solidFill>
                <a:latin typeface="+mn-ea"/>
              </a:rPr>
              <a:t>最优子结构性质</a:t>
            </a:r>
            <a:r>
              <a:rPr lang="zh-CN" altLang="en-US" dirty="0">
                <a:latin typeface="+mn-ea"/>
              </a:rPr>
              <a:t>。</a:t>
            </a:r>
            <a:endParaRPr lang="en-US" altLang="zh-CN" dirty="0">
              <a:latin typeface="+mn-ea"/>
            </a:endParaRPr>
          </a:p>
          <a:p>
            <a:pPr>
              <a:buClr>
                <a:schemeClr val="accent2"/>
              </a:buClr>
            </a:pPr>
            <a:endParaRPr lang="zh-CN" altLang="en-US" dirty="0">
              <a:latin typeface="+mn-ea"/>
            </a:endParaRPr>
          </a:p>
          <a:p>
            <a:pPr>
              <a:buClr>
                <a:schemeClr val="accent2"/>
              </a:buClr>
            </a:pPr>
            <a:r>
              <a:rPr lang="zh-CN" altLang="en-US" dirty="0">
                <a:latin typeface="+mn-ea"/>
              </a:rPr>
              <a:t>利用问题的最优子结构性质，以自底向上的方式递归地从子问题的最优解逐步构造出整个问题的最优解。最优子结构是问题能用动态规划算法求解的前提。</a:t>
            </a:r>
          </a:p>
        </p:txBody>
      </p:sp>
      <p:sp>
        <p:nvSpPr>
          <p:cNvPr id="3" name="Text Box 5">
            <a:extLst>
              <a:ext uri="{FF2B5EF4-FFF2-40B4-BE49-F238E27FC236}">
                <a16:creationId xmlns:a16="http://schemas.microsoft.com/office/drawing/2014/main" id="{FF44DC1D-1386-528C-2D09-81CD39727110}"/>
              </a:ext>
            </a:extLst>
          </p:cNvPr>
          <p:cNvSpPr txBox="1"/>
          <p:nvPr/>
        </p:nvSpPr>
        <p:spPr>
          <a:xfrm>
            <a:off x="601663" y="4437112"/>
            <a:ext cx="8424862" cy="873125"/>
          </a:xfrm>
          <a:prstGeom prst="rect">
            <a:avLst/>
          </a:prstGeom>
          <a:solidFill>
            <a:schemeClr val="hlink"/>
          </a:solidFill>
          <a:ln w="50800" cap="flat" cmpd="sng">
            <a:solidFill>
              <a:srgbClr val="FF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zh-CN" altLang="en-US" b="1" dirty="0">
                <a:solidFill>
                  <a:schemeClr val="tx1"/>
                </a:solidFill>
                <a:latin typeface="Arial" panose="020B0604020202020204" pitchFamily="34" charset="0"/>
                <a:ea typeface="黑体" panose="02010609060101010101" pitchFamily="49" charset="-122"/>
              </a:rPr>
              <a:t>同一个问题可以有多种</a:t>
            </a:r>
            <a:r>
              <a:rPr lang="zh-CN" altLang="zh-CN" b="1" dirty="0">
                <a:solidFill>
                  <a:schemeClr val="tx1"/>
                </a:solidFill>
                <a:latin typeface="Arial" panose="020B0604020202020204" pitchFamily="34" charset="0"/>
                <a:ea typeface="黑体" panose="02010609060101010101" pitchFamily="49" charset="-122"/>
              </a:rPr>
              <a:t>方式刻划</a:t>
            </a:r>
            <a:r>
              <a:rPr lang="zh-CN" altLang="zh-CN" b="1" dirty="0">
                <a:solidFill>
                  <a:schemeClr val="tx1"/>
                </a:solidFill>
                <a:latin typeface="Arial" panose="020B0604020202020204" pitchFamily="34" charset="0"/>
                <a:ea typeface="楷体_GB2312"/>
              </a:rPr>
              <a:t>它</a:t>
            </a:r>
            <a:r>
              <a:rPr lang="zh-CN" altLang="zh-CN" b="1" dirty="0">
                <a:solidFill>
                  <a:schemeClr val="tx1"/>
                </a:solidFill>
                <a:latin typeface="Arial" panose="020B0604020202020204" pitchFamily="34" charset="0"/>
                <a:ea typeface="黑体" panose="02010609060101010101" pitchFamily="49" charset="-122"/>
              </a:rPr>
              <a:t>的最优子结构，有些表示方法的求解速度更快（空间占用小，问题的维度低）</a:t>
            </a:r>
            <a:endParaRPr lang="en-US" altLang="zh-CN" b="1" dirty="0">
              <a:solidFill>
                <a:schemeClr val="tx1"/>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281463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4.2.3 </a:t>
            </a:r>
            <a:r>
              <a:rPr lang="zh-CN" altLang="en-US" sz="3200" dirty="0">
                <a:latin typeface="+mj-ea"/>
              </a:rPr>
              <a:t>动态规划算法设计的关键因素</a:t>
            </a:r>
            <a:r>
              <a:rPr lang="en-US" altLang="zh-CN" sz="3200" dirty="0">
                <a:latin typeface="+mj-ea"/>
              </a:rPr>
              <a:t>-</a:t>
            </a:r>
            <a:r>
              <a:rPr lang="zh-CN" altLang="en-US" sz="3200" dirty="0">
                <a:latin typeface="+mj-ea"/>
              </a:rPr>
              <a:t>重叠子问题</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a:buClr>
                <a:schemeClr val="accent2"/>
              </a:buClr>
            </a:pPr>
            <a:r>
              <a:rPr lang="zh-CN" altLang="en-US" dirty="0">
                <a:latin typeface="+mn-ea"/>
              </a:rPr>
              <a:t>递归算法求解问题时，每次产生的子问题并不总是新问题，有些子问题被反复计算多次。这种性质称为</a:t>
            </a:r>
            <a:r>
              <a:rPr lang="zh-CN" altLang="en-US" b="1" dirty="0">
                <a:solidFill>
                  <a:srgbClr val="FF0000"/>
                </a:solidFill>
                <a:latin typeface="+mn-ea"/>
              </a:rPr>
              <a:t>子问题的重叠性质</a:t>
            </a:r>
            <a:r>
              <a:rPr lang="zh-CN" altLang="en-US" dirty="0">
                <a:latin typeface="+mn-ea"/>
              </a:rPr>
              <a:t>。</a:t>
            </a:r>
          </a:p>
          <a:p>
            <a:pPr>
              <a:buClr>
                <a:schemeClr val="accent2"/>
              </a:buClr>
            </a:pPr>
            <a:r>
              <a:rPr lang="zh-CN" altLang="en-US" dirty="0">
                <a:latin typeface="+mn-ea"/>
              </a:rPr>
              <a:t>动态规划算法，对每一个子问题只解一次，而后将其解保存在一个表格中，当再次需要解此子问题时，只是简单地用常数时间查看一下结果。 </a:t>
            </a:r>
          </a:p>
          <a:p>
            <a:pPr>
              <a:buClr>
                <a:schemeClr val="accent2"/>
              </a:buClr>
            </a:pPr>
            <a:r>
              <a:rPr lang="zh-CN" altLang="en-US" dirty="0">
                <a:latin typeface="+mn-ea"/>
              </a:rPr>
              <a:t>通常不同的子问题个数随问题的大小呈多项式增长。因此用动态规划算法只需要多项式时间，从而获得较高的解题效率。 </a:t>
            </a:r>
          </a:p>
        </p:txBody>
      </p:sp>
    </p:spTree>
    <p:extLst>
      <p:ext uri="{BB962C8B-B14F-4D97-AF65-F5344CB8AC3E}">
        <p14:creationId xmlns:p14="http://schemas.microsoft.com/office/powerpoint/2010/main" val="38910476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4.2.4 </a:t>
            </a:r>
            <a:r>
              <a:rPr lang="zh-CN" altLang="en-US" sz="3200" dirty="0">
                <a:latin typeface="+mj-ea"/>
              </a:rPr>
              <a:t>动态规划和分治策略的异同点</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共同点</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p>
          <a:p>
            <a:pPr marL="914400" marR="0" lvl="1" indent="-457200" algn="l" defTabSz="914400" rtl="0" eaLnBrk="1" fontAlgn="base" latinLnBrk="0" hangingPunct="1">
              <a:lnSpc>
                <a:spcPct val="100000"/>
              </a:lnSpc>
              <a:spcBef>
                <a:spcPct val="20000"/>
              </a:spcBef>
              <a:spcAft>
                <a:spcPct val="0"/>
              </a:spcAft>
              <a:buClrTx/>
              <a:buSzTx/>
              <a:buFont typeface="+mj-lt"/>
              <a:buAutoNum type="arabicPeriod"/>
              <a:defRPr/>
            </a:pPr>
            <a:r>
              <a:rPr kumimoji="0" lang="zh-CN" altLang="en-US" sz="2400" b="0" i="0" u="none" strike="noStrike" kern="0" cap="none" spc="0" normalizeH="0" baseline="0" noProof="0" dirty="0">
                <a:ln>
                  <a:noFill/>
                </a:ln>
                <a:solidFill>
                  <a:schemeClr val="accent2"/>
                </a:solidFill>
                <a:effectLst/>
                <a:uLnTx/>
                <a:uFillTx/>
                <a:latin typeface="+mn-ea"/>
                <a:ea typeface="+mn-ea"/>
              </a:rPr>
              <a:t>动态规划与分治方法相似，通过合并多个子问题的解来解决整体问题。</a:t>
            </a:r>
            <a:endParaRPr kumimoji="0" lang="en-US" altLang="zh-CN" sz="24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endParaRPr kumimoji="0" lang="en-US" altLang="zh-CN" sz="28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区别</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p>
          <a:p>
            <a:pPr marL="914400" marR="0" lvl="1" indent="-457200" algn="l" defTabSz="914400" rtl="0" eaLnBrk="1" fontAlgn="base" latinLnBrk="0" hangingPunct="1">
              <a:lnSpc>
                <a:spcPct val="100000"/>
              </a:lnSpc>
              <a:spcBef>
                <a:spcPct val="20000"/>
              </a:spcBef>
              <a:spcAft>
                <a:spcPct val="0"/>
              </a:spcAft>
              <a:buClrTx/>
              <a:buSzTx/>
              <a:buFontTx/>
              <a:buAutoNum type="arabicPeriod"/>
              <a:defRPr/>
            </a:pPr>
            <a:r>
              <a:rPr kumimoji="0" lang="zh-CN" altLang="en-US" sz="2400" b="0" i="0" u="none" strike="noStrike" kern="0" cap="none" spc="0" normalizeH="0" baseline="0" noProof="0" dirty="0">
                <a:ln>
                  <a:noFill/>
                </a:ln>
                <a:solidFill>
                  <a:srgbClr val="FF0000"/>
                </a:solidFill>
                <a:effectLst/>
                <a:uLnTx/>
                <a:uFillTx/>
                <a:latin typeface="+mn-ea"/>
                <a:ea typeface="+mn-ea"/>
                <a:cs typeface="+mn-cs"/>
              </a:rPr>
              <a:t>分治法</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是把大问题分解成一些</a:t>
            </a:r>
            <a:r>
              <a:rPr kumimoji="0" lang="zh-CN" altLang="en-US" sz="2400" b="0" i="0" u="none" strike="noStrike" kern="0" cap="none" spc="0" normalizeH="0" baseline="0" noProof="0" dirty="0">
                <a:ln>
                  <a:noFill/>
                </a:ln>
                <a:solidFill>
                  <a:srgbClr val="FF0000"/>
                </a:solidFill>
                <a:effectLst/>
                <a:uLnTx/>
                <a:uFillTx/>
                <a:latin typeface="+mn-ea"/>
                <a:ea typeface="+mn-ea"/>
                <a:cs typeface="+mn-cs"/>
              </a:rPr>
              <a:t>相互独立的</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子问题，</a:t>
            </a:r>
            <a:r>
              <a:rPr kumimoji="0" lang="zh-CN" altLang="en-US" sz="2400" b="0" i="0" u="none" strike="noStrike" kern="0" cap="none" spc="0" normalizeH="0" baseline="0" noProof="0" dirty="0">
                <a:ln>
                  <a:noFill/>
                </a:ln>
                <a:solidFill>
                  <a:srgbClr val="FF0000"/>
                </a:solidFill>
                <a:effectLst/>
                <a:uLnTx/>
                <a:uFillTx/>
                <a:latin typeface="+mn-ea"/>
                <a:ea typeface="+mn-ea"/>
                <a:cs typeface="+mn-cs"/>
              </a:rPr>
              <a:t>递归</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的求解这些子问题然后将他们</a:t>
            </a:r>
            <a:r>
              <a:rPr kumimoji="0" lang="zh-CN" altLang="en-US" sz="2400" b="0" i="0" u="none" strike="noStrike" kern="0" cap="none" spc="0" normalizeH="0" baseline="0" noProof="0" dirty="0">
                <a:ln>
                  <a:noFill/>
                </a:ln>
                <a:solidFill>
                  <a:srgbClr val="FF0000"/>
                </a:solidFill>
                <a:effectLst/>
                <a:uLnTx/>
                <a:uFillTx/>
                <a:latin typeface="+mn-ea"/>
                <a:ea typeface="+mn-ea"/>
                <a:cs typeface="+mn-cs"/>
              </a:rPr>
              <a:t>合并</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来得到整个问题的解</a:t>
            </a:r>
            <a:endParaRPr kumimoji="0" lang="en-US" altLang="zh-CN" sz="2400" b="0" i="0" u="none" strike="noStrike" kern="0" cap="none" spc="0" normalizeH="0" baseline="0" noProof="0" dirty="0">
              <a:ln>
                <a:noFill/>
              </a:ln>
              <a:solidFill>
                <a:schemeClr val="accent2"/>
              </a:solidFill>
              <a:effectLst/>
              <a:uLnTx/>
              <a:uFillTx/>
              <a:latin typeface="+mn-ea"/>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mn-ea"/>
                <a:ea typeface="+mn-ea"/>
                <a:cs typeface="+mn-cs"/>
              </a:rPr>
              <a:t>2. </a:t>
            </a:r>
            <a:r>
              <a:rPr kumimoji="0" lang="zh-CN" altLang="en-US" sz="2400" b="0" i="0" u="none" strike="noStrike" kern="0" cap="none" spc="0" normalizeH="0" baseline="0" noProof="0" dirty="0">
                <a:ln>
                  <a:noFill/>
                </a:ln>
                <a:solidFill>
                  <a:srgbClr val="FF0000"/>
                </a:solidFill>
                <a:effectLst/>
                <a:uLnTx/>
                <a:uFillTx/>
                <a:latin typeface="+mn-ea"/>
                <a:ea typeface="+mn-ea"/>
                <a:cs typeface="+mn-cs"/>
              </a:rPr>
              <a:t>动态规划</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是通过组合子问题的解来解决整个大问题。各个子问题</a:t>
            </a:r>
            <a:r>
              <a:rPr kumimoji="0" lang="zh-CN" altLang="en-US" sz="2400" b="0" i="0" u="none" strike="noStrike" kern="0" cap="none" spc="0" normalizeH="0" baseline="0" noProof="0" dirty="0">
                <a:ln>
                  <a:noFill/>
                </a:ln>
                <a:solidFill>
                  <a:srgbClr val="FF0000"/>
                </a:solidFill>
                <a:effectLst/>
                <a:uLnTx/>
                <a:uFillTx/>
                <a:latin typeface="+mn-ea"/>
                <a:ea typeface="+mn-ea"/>
                <a:cs typeface="+mn-cs"/>
              </a:rPr>
              <a:t>不是独立的</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，也就是各个子问题包含公共子问题。它可以避免遇到的子问题的重复求解。</a:t>
            </a:r>
            <a:endParaRPr kumimoji="0" lang="en-US" altLang="zh-CN" sz="2400" b="0" i="0" u="none" strike="noStrike" kern="0" cap="none" spc="0" normalizeH="0" baseline="0" noProof="0" dirty="0">
              <a:ln>
                <a:noFill/>
              </a:ln>
              <a:solidFill>
                <a:schemeClr val="accent2"/>
              </a:solidFill>
              <a:effectLst/>
              <a:uLnTx/>
              <a:uFillTx/>
              <a:latin typeface="+mn-ea"/>
              <a:ea typeface="+mn-ea"/>
              <a:cs typeface="+mn-cs"/>
            </a:endParaRPr>
          </a:p>
        </p:txBody>
      </p:sp>
    </p:spTree>
    <p:extLst>
      <p:ext uri="{BB962C8B-B14F-4D97-AF65-F5344CB8AC3E}">
        <p14:creationId xmlns:p14="http://schemas.microsoft.com/office/powerpoint/2010/main" val="4226134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1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1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45</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6149" name="Rectangle 2"/>
          <p:cNvSpPr>
            <a:spLocks noGrp="1"/>
          </p:cNvSpPr>
          <p:nvPr>
            <p:ph type="title"/>
          </p:nvPr>
        </p:nvSpPr>
        <p:spPr/>
        <p:txBody>
          <a:bodyPr vert="horz" wrap="square" lIns="91440" tIns="45720" rIns="91440" bIns="45720" anchor="ctr" anchorCtr="0"/>
          <a:lstStyle/>
          <a:p>
            <a:pPr eaLnBrk="1" hangingPunct="1"/>
            <a:r>
              <a:rPr lang="zh-CN" altLang="en-US" b="0" dirty="0"/>
              <a:t>主要内容</a:t>
            </a:r>
            <a:endParaRPr lang="en-US" altLang="zh-CN" b="0" dirty="0"/>
          </a:p>
        </p:txBody>
      </p:sp>
      <p:sp>
        <p:nvSpPr>
          <p:cNvPr id="218115" name="Rectangle 3"/>
          <p:cNvSpPr>
            <a:spLocks noGrp="1" noChangeArrowheads="1"/>
          </p:cNvSpPr>
          <p:nvPr>
            <p:ph idx="1"/>
          </p:nvPr>
        </p:nvSpPr>
        <p:spPr>
          <a:xfrm>
            <a:off x="971600" y="1700808"/>
            <a:ext cx="8172400" cy="403244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i="0" strike="noStrike" kern="0" cap="none" spc="0" normalizeH="0" baseline="0" noProof="0" dirty="0">
                <a:ln>
                  <a:noFill/>
                </a:ln>
                <a:solidFill>
                  <a:schemeClr val="accent2"/>
                </a:solidFill>
                <a:effectLst/>
                <a:uLnTx/>
                <a:uFillTx/>
                <a:latin typeface="+mn-ea"/>
              </a:rPr>
              <a:t>4.1 </a:t>
            </a:r>
            <a:r>
              <a:rPr kumimoji="0" lang="zh-CN" altLang="en-US" i="0" strike="noStrike" kern="0" cap="none" spc="0" normalizeH="0" baseline="0" noProof="0" dirty="0">
                <a:ln>
                  <a:noFill/>
                </a:ln>
                <a:solidFill>
                  <a:schemeClr val="accent2"/>
                </a:solidFill>
                <a:effectLst/>
                <a:uLnTx/>
                <a:uFillTx/>
                <a:latin typeface="+mn-ea"/>
              </a:rPr>
              <a:t>引言</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i="0" strike="noStrike" kern="0" cap="none" spc="0" normalizeH="0" baseline="0" noProof="0" dirty="0">
                <a:ln>
                  <a:noFill/>
                </a:ln>
                <a:solidFill>
                  <a:schemeClr val="accent2"/>
                </a:solidFill>
                <a:effectLst/>
                <a:uLnTx/>
                <a:uFillTx/>
                <a:latin typeface="+mn-ea"/>
              </a:rPr>
              <a:t>4.2 </a:t>
            </a:r>
            <a:r>
              <a:rPr kumimoji="0" lang="zh-CN" altLang="en-US" i="0" strike="noStrike" kern="0" cap="none" spc="0" normalizeH="0" baseline="0" noProof="0" dirty="0">
                <a:ln>
                  <a:noFill/>
                </a:ln>
                <a:solidFill>
                  <a:schemeClr val="accent2"/>
                </a:solidFill>
                <a:effectLst/>
                <a:uLnTx/>
                <a:uFillTx/>
                <a:latin typeface="+mn-ea"/>
              </a:rPr>
              <a:t>动态规划策略的算法设计思想及分析方法</a:t>
            </a:r>
            <a:endParaRPr kumimoji="0" lang="en-US" altLang="zh-CN" i="0" strike="noStrike" kern="0" cap="none" spc="0" normalizeH="0" baseline="0" noProof="0" dirty="0">
              <a:ln>
                <a:noFill/>
              </a:ln>
              <a:solidFill>
                <a:schemeClr val="accent2"/>
              </a:solidFill>
              <a:effectLst/>
              <a:uLnTx/>
              <a:uFillTx/>
              <a:latin typeface="+mn-ea"/>
            </a:endParaRPr>
          </a:p>
          <a:p>
            <a:pPr>
              <a:defRPr/>
            </a:pPr>
            <a:r>
              <a:rPr lang="en-US" altLang="zh-CN" b="1" u="sng" dirty="0">
                <a:latin typeface="+mn-ea"/>
              </a:rPr>
              <a:t>4.3 </a:t>
            </a:r>
            <a:r>
              <a:rPr lang="zh-CN" altLang="en-US" b="1" u="sng" dirty="0">
                <a:latin typeface="+mn-ea"/>
              </a:rPr>
              <a:t>动态规划策略的经典应用（可选讲部分）</a:t>
            </a:r>
          </a:p>
          <a:p>
            <a:pPr marL="0" marR="0" lvl="0" indent="0" algn="l" defTabSz="914400" rtl="0" eaLnBrk="0" fontAlgn="base" latinLnBrk="0" hangingPunct="0">
              <a:lnSpc>
                <a:spcPct val="100000"/>
              </a:lnSpc>
              <a:spcBef>
                <a:spcPct val="20000"/>
              </a:spcBef>
              <a:spcAft>
                <a:spcPct val="0"/>
              </a:spcAft>
              <a:buClrTx/>
              <a:buSzTx/>
              <a:buNone/>
              <a:defRPr/>
            </a:pPr>
            <a:endParaRPr kumimoji="0" lang="zh-CN" altLang="en-US" b="0" i="0" u="none" strike="noStrike" kern="0" cap="none" spc="0" normalizeH="0" baseline="0" noProof="0" dirty="0">
              <a:ln>
                <a:noFill/>
              </a:ln>
              <a:solidFill>
                <a:schemeClr val="accent2"/>
              </a:solidFill>
              <a:effectLst/>
              <a:uLnTx/>
              <a:uFillTx/>
              <a:latin typeface="+mn-ea"/>
            </a:endParaRPr>
          </a:p>
        </p:txBody>
      </p:sp>
    </p:spTree>
    <p:extLst>
      <p:ext uri="{BB962C8B-B14F-4D97-AF65-F5344CB8AC3E}">
        <p14:creationId xmlns:p14="http://schemas.microsoft.com/office/powerpoint/2010/main" val="102983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0" end="0"/>
                                            </p:txEl>
                                          </p:spTgt>
                                        </p:tgtEl>
                                        <p:attrNameLst>
                                          <p:attrName>ppt_c</p:attrName>
                                        </p:attrNameLst>
                                      </p:cBhvr>
                                      <p:to>
                                        <a:schemeClr val="bg2"/>
                                      </p:to>
                                    </p:animClr>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18115">
                                            <p:txEl>
                                              <p:pRg st="1" end="1"/>
                                            </p:txEl>
                                          </p:spTgt>
                                        </p:tgtEl>
                                        <p:attrNameLst>
                                          <p:attrName>style.visibility</p:attrName>
                                        </p:attrNameLst>
                                      </p:cBhvr>
                                      <p:to>
                                        <p:strVal val="visible"/>
                                      </p:to>
                                    </p:set>
                                    <p:anim calcmode="lin" valueType="num">
                                      <p:cBhvr additive="base">
                                        <p:cTn id="13" dur="500" fill="hold"/>
                                        <p:tgtEl>
                                          <p:spTgt spid="218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811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1" end="1"/>
                                            </p:txEl>
                                          </p:spTgt>
                                        </p:tgtEl>
                                        <p:attrNameLst>
                                          <p:attrName>ppt_c</p:attrName>
                                        </p:attrNameLst>
                                      </p:cBhvr>
                                      <p:to>
                                        <a:schemeClr val="bg2"/>
                                      </p:to>
                                    </p:animClr>
                                    <p:audio>
                                      <p:cMediaNode>
                                        <p:cTn display="0" masterRel="sameClick">
                                          <p:stCondLst>
                                            <p:cond evt="begin" delay="0">
                                              <p:tn val="11"/>
                                            </p:cond>
                                          </p:stCondLst>
                                          <p:endCondLst>
                                            <p:cond evt="onStopAudio" delay="0">
                                              <p:tgtEl>
                                                <p:sldTgt/>
                                              </p:tgtEl>
                                            </p:cond>
                                          </p:endCondLst>
                                        </p:cTn>
                                        <p:tgtEl>
                                          <p:sndTgt r:embed="rId3" name="type.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218115">
                                            <p:txEl>
                                              <p:pRg st="2" end="2"/>
                                            </p:txEl>
                                          </p:spTgt>
                                        </p:tgtEl>
                                        <p:attrNameLst>
                                          <p:attrName>style.visibility</p:attrName>
                                        </p:attrNameLst>
                                      </p:cBhvr>
                                      <p:to>
                                        <p:strVal val="visible"/>
                                      </p:to>
                                    </p:set>
                                    <p:anim calcmode="lin" valueType="num">
                                      <p:cBhvr additive="base">
                                        <p:cTn id="19" dur="500" fill="hold"/>
                                        <p:tgtEl>
                                          <p:spTgt spid="218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811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2" end="2"/>
                                            </p:txEl>
                                          </p:spTgt>
                                        </p:tgtEl>
                                        <p:attrNameLst>
                                          <p:attrName>ppt_c</p:attrName>
                                        </p:attrNameLst>
                                      </p:cBhvr>
                                      <p:to>
                                        <a:schemeClr val="bg2"/>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61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61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46</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6149" name="Rectangle 2"/>
          <p:cNvSpPr>
            <a:spLocks noGrp="1"/>
          </p:cNvSpPr>
          <p:nvPr>
            <p:ph type="title"/>
          </p:nvPr>
        </p:nvSpPr>
        <p:spPr/>
        <p:txBody>
          <a:bodyPr vert="horz" wrap="square" lIns="91440" tIns="45720" rIns="91440" bIns="45720" anchor="ctr" anchorCtr="0"/>
          <a:lstStyle/>
          <a:p>
            <a:pPr eaLnBrk="1" hangingPunct="1"/>
            <a:r>
              <a:rPr lang="zh-CN" altLang="en-US" b="0" dirty="0"/>
              <a:t>主要内容</a:t>
            </a:r>
            <a:endParaRPr lang="en-US" altLang="zh-CN" b="0" dirty="0"/>
          </a:p>
        </p:txBody>
      </p:sp>
      <p:sp>
        <p:nvSpPr>
          <p:cNvPr id="218115" name="Rectangle 3"/>
          <p:cNvSpPr>
            <a:spLocks noGrp="1" noChangeArrowheads="1"/>
          </p:cNvSpPr>
          <p:nvPr>
            <p:ph idx="1"/>
          </p:nvPr>
        </p:nvSpPr>
        <p:spPr>
          <a:xfrm>
            <a:off x="971600" y="1268760"/>
            <a:ext cx="8172400" cy="4464496"/>
          </a:xfrm>
        </p:spPr>
        <p:txBody>
          <a:bodyPr vert="horz" wrap="square" lIns="91440" tIns="45720" rIns="91440" bIns="45720" numCol="1" anchor="t" anchorCtr="0" compatLnSpc="1"/>
          <a:lstStyle/>
          <a:p>
            <a:pPr marL="0" lvl="0" indent="0">
              <a:buNone/>
              <a:defRPr/>
            </a:pPr>
            <a:r>
              <a:rPr lang="en-US" altLang="zh-CN" dirty="0">
                <a:latin typeface="+mn-ea"/>
              </a:rPr>
              <a:t>4.3 </a:t>
            </a:r>
            <a:r>
              <a:rPr lang="zh-CN" altLang="en-US" dirty="0">
                <a:latin typeface="+mn-ea"/>
              </a:rPr>
              <a:t>动态规划策略的经典应用（可选讲部分）</a:t>
            </a:r>
          </a:p>
          <a:p>
            <a:pPr marL="457200" lvl="1" indent="0">
              <a:buNone/>
              <a:defRPr/>
            </a:pPr>
            <a:r>
              <a:rPr lang="en-US" altLang="zh-CN" sz="2400" dirty="0">
                <a:latin typeface="+mn-ea"/>
                <a:ea typeface="+mn-ea"/>
              </a:rPr>
              <a:t>4.3.1 </a:t>
            </a:r>
            <a:r>
              <a:rPr lang="zh-CN" altLang="en-US" sz="2400" dirty="0">
                <a:latin typeface="+mn-ea"/>
                <a:ea typeface="+mn-ea"/>
              </a:rPr>
              <a:t>所有点对最短路径问题</a:t>
            </a:r>
            <a:endParaRPr lang="en-US" altLang="zh-CN" sz="2400" dirty="0">
              <a:latin typeface="+mn-ea"/>
              <a:ea typeface="+mn-ea"/>
            </a:endParaRPr>
          </a:p>
          <a:p>
            <a:pPr marL="457200" lvl="1" indent="0">
              <a:buNone/>
              <a:defRPr/>
            </a:pPr>
            <a:r>
              <a:rPr lang="en-US" altLang="zh-CN" sz="2400" dirty="0">
                <a:latin typeface="+mn-ea"/>
                <a:ea typeface="+mn-ea"/>
              </a:rPr>
              <a:t>4.3.2 0/1</a:t>
            </a:r>
            <a:r>
              <a:rPr lang="zh-CN" altLang="en-US" sz="2400" dirty="0">
                <a:latin typeface="+mn-ea"/>
                <a:ea typeface="+mn-ea"/>
              </a:rPr>
              <a:t>背包问题</a:t>
            </a:r>
          </a:p>
          <a:p>
            <a:pPr marL="457200" lvl="1" indent="0">
              <a:buNone/>
              <a:defRPr/>
            </a:pPr>
            <a:r>
              <a:rPr lang="en-US" altLang="zh-CN" sz="2400" dirty="0">
                <a:latin typeface="+mn-ea"/>
                <a:ea typeface="+mn-ea"/>
              </a:rPr>
              <a:t>4.3.3 </a:t>
            </a:r>
            <a:r>
              <a:rPr lang="zh-CN" altLang="en-US" sz="2400" dirty="0">
                <a:latin typeface="+mn-ea"/>
                <a:ea typeface="+mn-ea"/>
              </a:rPr>
              <a:t>多段图问题</a:t>
            </a:r>
          </a:p>
          <a:p>
            <a:pPr marL="457200" lvl="1" indent="0">
              <a:buNone/>
              <a:defRPr/>
            </a:pPr>
            <a:r>
              <a:rPr lang="en-US" altLang="zh-CN" sz="2400" dirty="0">
                <a:latin typeface="+mn-ea"/>
                <a:ea typeface="+mn-ea"/>
              </a:rPr>
              <a:t>4.3.4 </a:t>
            </a:r>
            <a:r>
              <a:rPr lang="zh-CN" altLang="en-US" sz="2400" dirty="0">
                <a:latin typeface="+mn-ea"/>
                <a:ea typeface="+mn-ea"/>
              </a:rPr>
              <a:t>最优二分检索树问题</a:t>
            </a:r>
            <a:endParaRPr lang="en-US" altLang="zh-CN" sz="2400" dirty="0">
              <a:latin typeface="+mn-ea"/>
              <a:ea typeface="+mn-ea"/>
            </a:endParaRPr>
          </a:p>
          <a:p>
            <a:pPr marL="457200" lvl="1" indent="0">
              <a:buNone/>
              <a:defRPr/>
            </a:pPr>
            <a:r>
              <a:rPr lang="en-US" altLang="zh-CN" sz="2400" dirty="0">
                <a:latin typeface="+mn-ea"/>
                <a:ea typeface="+mn-ea"/>
              </a:rPr>
              <a:t>4.3.5 </a:t>
            </a:r>
            <a:r>
              <a:rPr lang="zh-CN" altLang="en-US" sz="2400" dirty="0">
                <a:latin typeface="+mn-ea"/>
                <a:ea typeface="+mn-ea"/>
              </a:rPr>
              <a:t>货郎担问题</a:t>
            </a:r>
          </a:p>
          <a:p>
            <a:pPr marL="457200" lvl="1" indent="0">
              <a:buNone/>
              <a:defRPr/>
            </a:pPr>
            <a:r>
              <a:rPr lang="en-US" altLang="zh-CN" sz="2400" dirty="0">
                <a:latin typeface="+mn-ea"/>
                <a:ea typeface="+mn-ea"/>
              </a:rPr>
              <a:t>4.3.6 </a:t>
            </a:r>
            <a:r>
              <a:rPr lang="zh-CN" altLang="en-US" sz="2400" dirty="0">
                <a:latin typeface="+mn-ea"/>
                <a:ea typeface="+mn-ea"/>
              </a:rPr>
              <a:t>可靠性设计问题</a:t>
            </a:r>
          </a:p>
          <a:p>
            <a:pPr marL="457200" lvl="1" indent="0">
              <a:buNone/>
              <a:defRPr/>
            </a:pPr>
            <a:r>
              <a:rPr lang="en-US" altLang="zh-CN" sz="2400" dirty="0">
                <a:latin typeface="+mn-ea"/>
                <a:ea typeface="+mn-ea"/>
              </a:rPr>
              <a:t>4.3.7 </a:t>
            </a:r>
            <a:r>
              <a:rPr lang="zh-CN" altLang="en-US" sz="2400" dirty="0">
                <a:latin typeface="+mn-ea"/>
                <a:ea typeface="+mn-ea"/>
              </a:rPr>
              <a:t>流水线调度问题</a:t>
            </a:r>
            <a:endParaRPr lang="zh-CN" altLang="en-US" dirty="0">
              <a:latin typeface="+mn-ea"/>
            </a:endParaRPr>
          </a:p>
        </p:txBody>
      </p:sp>
    </p:spTree>
    <p:extLst>
      <p:ext uri="{BB962C8B-B14F-4D97-AF65-F5344CB8AC3E}">
        <p14:creationId xmlns:p14="http://schemas.microsoft.com/office/powerpoint/2010/main" val="2456017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0" end="0"/>
                                            </p:txEl>
                                          </p:spTgt>
                                        </p:tgtEl>
                                        <p:attrNameLst>
                                          <p:attrName>ppt_c</p:attrName>
                                        </p:attrNameLst>
                                      </p:cBhvr>
                                      <p:to>
                                        <a:schemeClr val="bg2"/>
                                      </p:to>
                                    </p:animClr>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9" presetID="2" presetClass="entr" presetSubtype="1" fill="hold" grpId="0" nodeType="withEffect">
                                  <p:stCondLst>
                                    <p:cond delay="0"/>
                                  </p:stCondLst>
                                  <p:childTnLst>
                                    <p:set>
                                      <p:cBhvr>
                                        <p:cTn id="10" dur="1" fill="hold">
                                          <p:stCondLst>
                                            <p:cond delay="0"/>
                                          </p:stCondLst>
                                        </p:cTn>
                                        <p:tgtEl>
                                          <p:spTgt spid="218115">
                                            <p:txEl>
                                              <p:pRg st="1" end="1"/>
                                            </p:txEl>
                                          </p:spTgt>
                                        </p:tgtEl>
                                        <p:attrNameLst>
                                          <p:attrName>style.visibility</p:attrName>
                                        </p:attrNameLst>
                                      </p:cBhvr>
                                      <p:to>
                                        <p:strVal val="visible"/>
                                      </p:to>
                                    </p:set>
                                    <p:anim calcmode="lin" valueType="num">
                                      <p:cBhvr additive="base">
                                        <p:cTn id="11" dur="500" fill="hold"/>
                                        <p:tgtEl>
                                          <p:spTgt spid="2181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8115">
                                            <p:txEl>
                                              <p:pRg st="1" end="1"/>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1" end="1"/>
                                            </p:txEl>
                                          </p:spTgt>
                                        </p:tgtEl>
                                        <p:attrNameLst>
                                          <p:attrName>ppt_c</p:attrName>
                                        </p:attrNameLst>
                                      </p:cBhvr>
                                      <p:to>
                                        <a:schemeClr val="bg2"/>
                                      </p:to>
                                    </p:animClr>
                                    <p:audio>
                                      <p:cMediaNode>
                                        <p:cTn display="0" masterRel="sameClick">
                                          <p:stCondLst>
                                            <p:cond evt="begin" delay="0">
                                              <p:tn val="9"/>
                                            </p:cond>
                                          </p:stCondLst>
                                          <p:endCondLst>
                                            <p:cond evt="onStopAudio" delay="0">
                                              <p:tgtEl>
                                                <p:sldTgt/>
                                              </p:tgtEl>
                                            </p:cond>
                                          </p:endCondLst>
                                        </p:cTn>
                                        <p:tgtEl>
                                          <p:sndTgt r:embed="rId3" name="type.wav"/>
                                        </p:tgtEl>
                                      </p:cMediaNode>
                                    </p:audio>
                                  </p:subTnLst>
                                </p:cTn>
                              </p:par>
                              <p:par>
                                <p:cTn id="13" presetID="2" presetClass="entr" presetSubtype="1" fill="hold" grpId="0" nodeType="withEffect">
                                  <p:stCondLst>
                                    <p:cond delay="0"/>
                                  </p:stCondLst>
                                  <p:childTnLst>
                                    <p:set>
                                      <p:cBhvr>
                                        <p:cTn id="14" dur="1" fill="hold">
                                          <p:stCondLst>
                                            <p:cond delay="0"/>
                                          </p:stCondLst>
                                        </p:cTn>
                                        <p:tgtEl>
                                          <p:spTgt spid="218115">
                                            <p:txEl>
                                              <p:pRg st="2" end="2"/>
                                            </p:txEl>
                                          </p:spTgt>
                                        </p:tgtEl>
                                        <p:attrNameLst>
                                          <p:attrName>style.visibility</p:attrName>
                                        </p:attrNameLst>
                                      </p:cBhvr>
                                      <p:to>
                                        <p:strVal val="visible"/>
                                      </p:to>
                                    </p:set>
                                    <p:anim calcmode="lin" valueType="num">
                                      <p:cBhvr additive="base">
                                        <p:cTn id="15" dur="500" fill="hold"/>
                                        <p:tgtEl>
                                          <p:spTgt spid="21811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8115">
                                            <p:txEl>
                                              <p:pRg st="2" end="2"/>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2" end="2"/>
                                            </p:txEl>
                                          </p:spTgt>
                                        </p:tgtEl>
                                        <p:attrNameLst>
                                          <p:attrName>ppt_c</p:attrName>
                                        </p:attrNameLst>
                                      </p:cBhvr>
                                      <p:to>
                                        <a:schemeClr val="bg2"/>
                                      </p:to>
                                    </p:animClr>
                                    <p:audio>
                                      <p:cMediaNode>
                                        <p:cTn display="0" masterRel="sameClick">
                                          <p:stCondLst>
                                            <p:cond evt="begin" delay="0">
                                              <p:tn val="13"/>
                                            </p:cond>
                                          </p:stCondLst>
                                          <p:endCondLst>
                                            <p:cond evt="onStopAudio" delay="0">
                                              <p:tgtEl>
                                                <p:sldTgt/>
                                              </p:tgtEl>
                                            </p:cond>
                                          </p:endCondLst>
                                        </p:cTn>
                                        <p:tgtEl>
                                          <p:sndTgt r:embed="rId3" name="type.wav"/>
                                        </p:tgtEl>
                                      </p:cMediaNode>
                                    </p:audio>
                                  </p:subTnLst>
                                </p:cTn>
                              </p:par>
                              <p:par>
                                <p:cTn id="17" presetID="2" presetClass="entr" presetSubtype="1" fill="hold" grpId="0" nodeType="withEffect">
                                  <p:stCondLst>
                                    <p:cond delay="0"/>
                                  </p:stCondLst>
                                  <p:childTnLst>
                                    <p:set>
                                      <p:cBhvr>
                                        <p:cTn id="18" dur="1" fill="hold">
                                          <p:stCondLst>
                                            <p:cond delay="0"/>
                                          </p:stCondLst>
                                        </p:cTn>
                                        <p:tgtEl>
                                          <p:spTgt spid="218115">
                                            <p:txEl>
                                              <p:pRg st="3" end="3"/>
                                            </p:txEl>
                                          </p:spTgt>
                                        </p:tgtEl>
                                        <p:attrNameLst>
                                          <p:attrName>style.visibility</p:attrName>
                                        </p:attrNameLst>
                                      </p:cBhvr>
                                      <p:to>
                                        <p:strVal val="visible"/>
                                      </p:to>
                                    </p:set>
                                    <p:anim calcmode="lin" valueType="num">
                                      <p:cBhvr additive="base">
                                        <p:cTn id="19" dur="500" fill="hold"/>
                                        <p:tgtEl>
                                          <p:spTgt spid="2181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8115">
                                            <p:txEl>
                                              <p:pRg st="3" end="3"/>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3" end="3"/>
                                            </p:txEl>
                                          </p:spTgt>
                                        </p:tgtEl>
                                        <p:attrNameLst>
                                          <p:attrName>ppt_c</p:attrName>
                                        </p:attrNameLst>
                                      </p:cBhvr>
                                      <p:to>
                                        <a:schemeClr val="bg2"/>
                                      </p:to>
                                    </p:animClr>
                                    <p:audio>
                                      <p:cMediaNode>
                                        <p:cTn display="0" masterRel="sameClick">
                                          <p:stCondLst>
                                            <p:cond evt="begin" delay="0">
                                              <p:tn val="17"/>
                                            </p:cond>
                                          </p:stCondLst>
                                          <p:endCondLst>
                                            <p:cond evt="onStopAudio" delay="0">
                                              <p:tgtEl>
                                                <p:sldTgt/>
                                              </p:tgtEl>
                                            </p:cond>
                                          </p:endCondLst>
                                        </p:cTn>
                                        <p:tgtEl>
                                          <p:sndTgt r:embed="rId3" name="type.wav"/>
                                        </p:tgtEl>
                                      </p:cMediaNode>
                                    </p:audio>
                                  </p:subTnLst>
                                </p:cTn>
                              </p:par>
                              <p:par>
                                <p:cTn id="21" presetID="2" presetClass="entr" presetSubtype="1" fill="hold" grpId="0" nodeType="withEffect">
                                  <p:stCondLst>
                                    <p:cond delay="0"/>
                                  </p:stCondLst>
                                  <p:childTnLst>
                                    <p:set>
                                      <p:cBhvr>
                                        <p:cTn id="22" dur="1" fill="hold">
                                          <p:stCondLst>
                                            <p:cond delay="0"/>
                                          </p:stCondLst>
                                        </p:cTn>
                                        <p:tgtEl>
                                          <p:spTgt spid="218115">
                                            <p:txEl>
                                              <p:pRg st="4" end="4"/>
                                            </p:txEl>
                                          </p:spTgt>
                                        </p:tgtEl>
                                        <p:attrNameLst>
                                          <p:attrName>style.visibility</p:attrName>
                                        </p:attrNameLst>
                                      </p:cBhvr>
                                      <p:to>
                                        <p:strVal val="visible"/>
                                      </p:to>
                                    </p:set>
                                    <p:anim calcmode="lin" valueType="num">
                                      <p:cBhvr additive="base">
                                        <p:cTn id="23" dur="500" fill="hold"/>
                                        <p:tgtEl>
                                          <p:spTgt spid="2181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8115">
                                            <p:txEl>
                                              <p:pRg st="4" end="4"/>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4" end="4"/>
                                            </p:txEl>
                                          </p:spTgt>
                                        </p:tgtEl>
                                        <p:attrNameLst>
                                          <p:attrName>ppt_c</p:attrName>
                                        </p:attrNameLst>
                                      </p:cBhvr>
                                      <p:to>
                                        <a:schemeClr val="bg2"/>
                                      </p:to>
                                    </p:animClr>
                                    <p:audio>
                                      <p:cMediaNode>
                                        <p:cTn display="0" masterRel="sameClick">
                                          <p:stCondLst>
                                            <p:cond evt="begin" delay="0">
                                              <p:tn val="21"/>
                                            </p:cond>
                                          </p:stCondLst>
                                          <p:endCondLst>
                                            <p:cond evt="onStopAudio" delay="0">
                                              <p:tgtEl>
                                                <p:sldTgt/>
                                              </p:tgtEl>
                                            </p:cond>
                                          </p:endCondLst>
                                        </p:cTn>
                                        <p:tgtEl>
                                          <p:sndTgt r:embed="rId3" name="type.wav"/>
                                        </p:tgtEl>
                                      </p:cMediaNode>
                                    </p:audio>
                                  </p:subTnLst>
                                </p:cTn>
                              </p:par>
                              <p:par>
                                <p:cTn id="25" presetID="2" presetClass="entr" presetSubtype="1" fill="hold" grpId="0" nodeType="withEffect">
                                  <p:stCondLst>
                                    <p:cond delay="0"/>
                                  </p:stCondLst>
                                  <p:childTnLst>
                                    <p:set>
                                      <p:cBhvr>
                                        <p:cTn id="26" dur="1" fill="hold">
                                          <p:stCondLst>
                                            <p:cond delay="0"/>
                                          </p:stCondLst>
                                        </p:cTn>
                                        <p:tgtEl>
                                          <p:spTgt spid="218115">
                                            <p:txEl>
                                              <p:pRg st="5" end="5"/>
                                            </p:txEl>
                                          </p:spTgt>
                                        </p:tgtEl>
                                        <p:attrNameLst>
                                          <p:attrName>style.visibility</p:attrName>
                                        </p:attrNameLst>
                                      </p:cBhvr>
                                      <p:to>
                                        <p:strVal val="visible"/>
                                      </p:to>
                                    </p:set>
                                    <p:anim calcmode="lin" valueType="num">
                                      <p:cBhvr additive="base">
                                        <p:cTn id="27" dur="500" fill="hold"/>
                                        <p:tgtEl>
                                          <p:spTgt spid="21811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8115">
                                            <p:txEl>
                                              <p:pRg st="5" end="5"/>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5" end="5"/>
                                            </p:txEl>
                                          </p:spTgt>
                                        </p:tgtEl>
                                        <p:attrNameLst>
                                          <p:attrName>ppt_c</p:attrName>
                                        </p:attrNameLst>
                                      </p:cBhvr>
                                      <p:to>
                                        <a:schemeClr val="bg2"/>
                                      </p:to>
                                    </p:animClr>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par>
                                <p:cTn id="29" presetID="2" presetClass="entr" presetSubtype="1" fill="hold" grpId="0" nodeType="withEffect">
                                  <p:stCondLst>
                                    <p:cond delay="0"/>
                                  </p:stCondLst>
                                  <p:childTnLst>
                                    <p:set>
                                      <p:cBhvr>
                                        <p:cTn id="30" dur="1" fill="hold">
                                          <p:stCondLst>
                                            <p:cond delay="0"/>
                                          </p:stCondLst>
                                        </p:cTn>
                                        <p:tgtEl>
                                          <p:spTgt spid="218115">
                                            <p:txEl>
                                              <p:pRg st="6" end="6"/>
                                            </p:txEl>
                                          </p:spTgt>
                                        </p:tgtEl>
                                        <p:attrNameLst>
                                          <p:attrName>style.visibility</p:attrName>
                                        </p:attrNameLst>
                                      </p:cBhvr>
                                      <p:to>
                                        <p:strVal val="visible"/>
                                      </p:to>
                                    </p:set>
                                    <p:anim calcmode="lin" valueType="num">
                                      <p:cBhvr additive="base">
                                        <p:cTn id="31" dur="500" fill="hold"/>
                                        <p:tgtEl>
                                          <p:spTgt spid="21811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8115">
                                            <p:txEl>
                                              <p:pRg st="6" end="6"/>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6" end="6"/>
                                            </p:txEl>
                                          </p:spTgt>
                                        </p:tgtEl>
                                        <p:attrNameLst>
                                          <p:attrName>ppt_c</p:attrName>
                                        </p:attrNameLst>
                                      </p:cBhvr>
                                      <p:to>
                                        <a:schemeClr val="bg2"/>
                                      </p:to>
                                    </p:animClr>
                                    <p:audio>
                                      <p:cMediaNode>
                                        <p:cTn display="0" masterRel="sameClick">
                                          <p:stCondLst>
                                            <p:cond evt="begin" delay="0">
                                              <p:tn val="29"/>
                                            </p:cond>
                                          </p:stCondLst>
                                          <p:endCondLst>
                                            <p:cond evt="onStopAudio" delay="0">
                                              <p:tgtEl>
                                                <p:sldTgt/>
                                              </p:tgtEl>
                                            </p:cond>
                                          </p:endCondLst>
                                        </p:cTn>
                                        <p:tgtEl>
                                          <p:sndTgt r:embed="rId3" name="type.wav"/>
                                        </p:tgtEl>
                                      </p:cMediaNode>
                                    </p:audio>
                                  </p:subTnLst>
                                </p:cTn>
                              </p:par>
                              <p:par>
                                <p:cTn id="33" presetID="2" presetClass="entr" presetSubtype="1" fill="hold" grpId="0" nodeType="withEffect">
                                  <p:stCondLst>
                                    <p:cond delay="0"/>
                                  </p:stCondLst>
                                  <p:childTnLst>
                                    <p:set>
                                      <p:cBhvr>
                                        <p:cTn id="34" dur="1" fill="hold">
                                          <p:stCondLst>
                                            <p:cond delay="0"/>
                                          </p:stCondLst>
                                        </p:cTn>
                                        <p:tgtEl>
                                          <p:spTgt spid="218115">
                                            <p:txEl>
                                              <p:pRg st="7" end="7"/>
                                            </p:txEl>
                                          </p:spTgt>
                                        </p:tgtEl>
                                        <p:attrNameLst>
                                          <p:attrName>style.visibility</p:attrName>
                                        </p:attrNameLst>
                                      </p:cBhvr>
                                      <p:to>
                                        <p:strVal val="visible"/>
                                      </p:to>
                                    </p:set>
                                    <p:anim calcmode="lin" valueType="num">
                                      <p:cBhvr additive="base">
                                        <p:cTn id="35" dur="500" fill="hold"/>
                                        <p:tgtEl>
                                          <p:spTgt spid="218115">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18115">
                                            <p:txEl>
                                              <p:pRg st="7" end="7"/>
                                            </p:txEl>
                                          </p:spTgt>
                                        </p:tgtEl>
                                        <p:attrNameLst>
                                          <p:attrName>ppt_y</p:attrName>
                                        </p:attrNameLst>
                                      </p:cBhvr>
                                      <p:tavLst>
                                        <p:tav tm="0">
                                          <p:val>
                                            <p:strVal val="0-#ppt_h/2"/>
                                          </p:val>
                                        </p:tav>
                                        <p:tav tm="100000">
                                          <p:val>
                                            <p:strVal val="#ppt_y"/>
                                          </p:val>
                                        </p:tav>
                                      </p:tavLst>
                                    </p:anim>
                                  </p:childTnLst>
                                  <p:subTnLst>
                                    <p:animClr clrSpc="rgb" dir="cw">
                                      <p:cBhvr override="childStyle">
                                        <p:cTn dur="1" fill="hold" display="0" masterRel="nextClick" afterEffect="1"/>
                                        <p:tgtEl>
                                          <p:spTgt spid="218115">
                                            <p:txEl>
                                              <p:pRg st="7" end="7"/>
                                            </p:txEl>
                                          </p:spTgt>
                                        </p:tgtEl>
                                        <p:attrNameLst>
                                          <p:attrName>ppt_c</p:attrName>
                                        </p:attrNameLst>
                                      </p:cBhvr>
                                      <p:to>
                                        <a:schemeClr val="bg2"/>
                                      </p:to>
                                    </p:animClr>
                                    <p:audio>
                                      <p:cMediaNode>
                                        <p:cTn display="0" masterRel="sameClick">
                                          <p:stCondLst>
                                            <p:cond evt="begin" delay="0">
                                              <p:tn val="33"/>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4.3.1 </a:t>
            </a:r>
            <a:r>
              <a:rPr lang="zh-CN" altLang="en-US" sz="3200" dirty="0">
                <a:latin typeface="+mj-ea"/>
              </a:rPr>
              <a:t>所有点对最短路径问题</a:t>
            </a:r>
            <a:endParaRPr lang="en-US" altLang="zh-CN" b="0" dirty="0">
              <a:latin typeface="+mj-ea"/>
            </a:endParaRPr>
          </a:p>
        </p:txBody>
      </p:sp>
      <p:sp>
        <p:nvSpPr>
          <p:cNvPr id="4" name="Rectangle 3">
            <a:extLst>
              <a:ext uri="{FF2B5EF4-FFF2-40B4-BE49-F238E27FC236}">
                <a16:creationId xmlns:a16="http://schemas.microsoft.com/office/drawing/2014/main" id="{1B1C10D0-76FF-43E3-6760-AC9D6FCF42A1}"/>
              </a:ext>
            </a:extLst>
          </p:cNvPr>
          <p:cNvSpPr>
            <a:spLocks noGrp="1" noChangeArrowheads="1"/>
          </p:cNvSpPr>
          <p:nvPr>
            <p:ph idx="1"/>
          </p:nvPr>
        </p:nvSpPr>
        <p:spPr>
          <a:xfrm>
            <a:off x="900113" y="1268413"/>
            <a:ext cx="7786688" cy="43211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800" b="0" i="0" u="none" strike="noStrike" kern="0" cap="none" spc="0" normalizeH="0" baseline="0" noProof="0" dirty="0">
                <a:ln>
                  <a:noFill/>
                </a:ln>
                <a:solidFill>
                  <a:schemeClr val="accent2"/>
                </a:solidFill>
                <a:effectLst/>
                <a:uLnTx/>
                <a:uFillTx/>
                <a:latin typeface="+mn-lt"/>
                <a:ea typeface="+mn-ea"/>
                <a:cs typeface="+mn-cs"/>
              </a:rPr>
              <a:t>问题描述</a:t>
            </a:r>
            <a:r>
              <a:rPr kumimoji="0" lang="en-US" altLang="zh-CN" sz="2800" b="0" i="0" u="none" strike="noStrike" kern="0" cap="none" spc="0" normalizeH="0" baseline="0" noProof="0" dirty="0">
                <a:ln>
                  <a:noFill/>
                </a:ln>
                <a:solidFill>
                  <a:schemeClr val="accent2"/>
                </a:solidFill>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Tx/>
              <a:buSzTx/>
              <a:buFontTx/>
              <a:buNone/>
              <a:defRPr/>
            </a:pPr>
            <a:endParaRPr kumimoji="0" lang="en-US" altLang="zh-CN" sz="28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设</a:t>
            </a:r>
            <a:r>
              <a:rPr kumimoji="0" lang="en-US" altLang="zh-CN" sz="2400" b="0" i="0" u="none" strike="noStrike" kern="0" cap="none" spc="0" normalizeH="0" baseline="0" noProof="0" dirty="0">
                <a:ln>
                  <a:noFill/>
                </a:ln>
                <a:solidFill>
                  <a:schemeClr val="accent2"/>
                </a:solidFill>
                <a:effectLst/>
                <a:uLnTx/>
                <a:uFillTx/>
                <a:latin typeface="+mn-lt"/>
                <a:ea typeface="+mn-ea"/>
              </a:rPr>
              <a:t>G=</a:t>
            </a:r>
            <a:r>
              <a:rPr kumimoji="0" lang="zh-CN" altLang="en-US" sz="2400" b="0" i="0" u="none" strike="noStrike" kern="0" cap="none" spc="0" normalizeH="0" baseline="0" noProof="0" dirty="0">
                <a:ln>
                  <a:noFill/>
                </a:ln>
                <a:solidFill>
                  <a:schemeClr val="accent2"/>
                </a:solidFill>
                <a:effectLst/>
                <a:uLnTx/>
                <a:uFillTx/>
                <a:latin typeface="+mn-lt"/>
                <a:ea typeface="+mn-ea"/>
              </a:rPr>
              <a:t>（</a:t>
            </a:r>
            <a:r>
              <a:rPr kumimoji="0" lang="en-US" altLang="zh-CN" sz="2400" b="0" i="0" u="none" strike="noStrike" kern="0" cap="none" spc="0" normalizeH="0" baseline="0" noProof="0" dirty="0">
                <a:ln>
                  <a:noFill/>
                </a:ln>
                <a:solidFill>
                  <a:schemeClr val="accent2"/>
                </a:solidFill>
                <a:effectLst/>
                <a:uLnTx/>
                <a:uFillTx/>
                <a:latin typeface="+mn-lt"/>
                <a:ea typeface="+mn-ea"/>
              </a:rPr>
              <a:t>V, E</a:t>
            </a:r>
            <a:r>
              <a:rPr kumimoji="0" lang="zh-CN" altLang="en-US" sz="2400" b="0" i="0" u="none" strike="noStrike" kern="0" cap="none" spc="0" normalizeH="0" baseline="0" noProof="0" dirty="0">
                <a:ln>
                  <a:noFill/>
                </a:ln>
                <a:solidFill>
                  <a:schemeClr val="accent2"/>
                </a:solidFill>
                <a:effectLst/>
                <a:uLnTx/>
                <a:uFillTx/>
                <a:latin typeface="+mn-lt"/>
                <a:ea typeface="+mn-ea"/>
              </a:rPr>
              <a:t>）是一个有向图，其中的每条边</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en-US" altLang="zh-CN" sz="2400" b="0" i="0" u="none" strike="noStrike" kern="0" cap="none" spc="0" normalizeH="0" baseline="0" noProof="0" dirty="0" err="1">
                <a:ln>
                  <a:noFill/>
                </a:ln>
                <a:solidFill>
                  <a:schemeClr val="accent2"/>
                </a:solidFill>
                <a:effectLst/>
                <a:uLnTx/>
                <a:uFillTx/>
                <a:latin typeface="+mn-lt"/>
                <a:ea typeface="+mn-ea"/>
              </a:rPr>
              <a:t>i,j</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有一个非负的长度</a:t>
            </a:r>
            <a:r>
              <a:rPr kumimoji="0" lang="en-US" altLang="zh-CN" sz="2400" b="0" i="0" u="none" strike="noStrike" kern="0" cap="none" spc="0" normalizeH="0" baseline="0" noProof="0" dirty="0">
                <a:ln>
                  <a:noFill/>
                </a:ln>
                <a:solidFill>
                  <a:schemeClr val="accent2"/>
                </a:solidFill>
                <a:effectLst/>
                <a:uLnTx/>
                <a:uFillTx/>
                <a:latin typeface="+mn-lt"/>
                <a:ea typeface="+mn-ea"/>
              </a:rPr>
              <a:t>l[</a:t>
            </a:r>
            <a:r>
              <a:rPr kumimoji="0" lang="en-US" altLang="zh-CN" sz="2400" b="0" i="0" u="none" strike="noStrike" kern="0" cap="none" spc="0" normalizeH="0" baseline="0" noProof="0" dirty="0" err="1">
                <a:ln>
                  <a:noFill/>
                </a:ln>
                <a:solidFill>
                  <a:schemeClr val="accent2"/>
                </a:solidFill>
                <a:effectLst/>
                <a:uLnTx/>
                <a:uFillTx/>
                <a:latin typeface="+mn-lt"/>
                <a:ea typeface="+mn-ea"/>
              </a:rPr>
              <a:t>i,j</a:t>
            </a:r>
            <a:r>
              <a:rPr kumimoji="0" lang="en-US" altLang="zh-CN" sz="2400" b="0" i="0" u="none" strike="noStrike" kern="0" cap="none" spc="0" normalizeH="0" baseline="0" noProof="0" dirty="0">
                <a:ln>
                  <a:noFill/>
                </a:ln>
                <a:solidFill>
                  <a:schemeClr val="accent2"/>
                </a:solidFill>
                <a:effectLst/>
                <a:uLnTx/>
                <a:uFillTx/>
                <a:latin typeface="+mn-lt"/>
                <a:ea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rPr>
              <a:t>，如果从顶点</a:t>
            </a:r>
            <a:r>
              <a:rPr kumimoji="0" lang="en-US" altLang="zh-CN" sz="2400" b="0" i="0" u="none" strike="noStrike" kern="0" cap="none" spc="0" normalizeH="0" baseline="0" noProof="0" dirty="0" err="1">
                <a:ln>
                  <a:noFill/>
                </a:ln>
                <a:solidFill>
                  <a:schemeClr val="accent2"/>
                </a:solidFill>
                <a:effectLst/>
                <a:uLnTx/>
                <a:uFillTx/>
                <a:latin typeface="+mn-lt"/>
                <a:ea typeface="+mn-ea"/>
              </a:rPr>
              <a:t>i</a:t>
            </a:r>
            <a:r>
              <a:rPr kumimoji="0" lang="zh-CN" altLang="en-US" sz="2400" b="0" i="0" u="none" strike="noStrike" kern="0" cap="none" spc="0" normalizeH="0" baseline="0" noProof="0" dirty="0">
                <a:ln>
                  <a:noFill/>
                </a:ln>
                <a:solidFill>
                  <a:schemeClr val="accent2"/>
                </a:solidFill>
                <a:effectLst/>
                <a:uLnTx/>
                <a:uFillTx/>
                <a:latin typeface="+mn-lt"/>
                <a:ea typeface="+mn-ea"/>
              </a:rPr>
              <a:t>到顶点</a:t>
            </a:r>
            <a:r>
              <a:rPr kumimoji="0" lang="en-US" altLang="zh-CN" sz="2400" b="0" i="0" u="none" strike="noStrike" kern="0" cap="none" spc="0" normalizeH="0" baseline="0" noProof="0" dirty="0">
                <a:ln>
                  <a:noFill/>
                </a:ln>
                <a:solidFill>
                  <a:schemeClr val="accent2"/>
                </a:solidFill>
                <a:effectLst/>
                <a:uLnTx/>
                <a:uFillTx/>
                <a:latin typeface="+mn-lt"/>
                <a:ea typeface="+mn-ea"/>
              </a:rPr>
              <a:t>j</a:t>
            </a:r>
            <a:r>
              <a:rPr kumimoji="0" lang="zh-CN" altLang="en-US" sz="2400" b="0" i="0" u="none" strike="noStrike" kern="0" cap="none" spc="0" normalizeH="0" baseline="0" noProof="0" dirty="0">
                <a:ln>
                  <a:noFill/>
                </a:ln>
                <a:solidFill>
                  <a:schemeClr val="accent2"/>
                </a:solidFill>
                <a:effectLst/>
                <a:uLnTx/>
                <a:uFillTx/>
                <a:latin typeface="+mn-lt"/>
                <a:ea typeface="+mn-ea"/>
              </a:rPr>
              <a:t>没有边，则</a:t>
            </a:r>
            <a:r>
              <a:rPr kumimoji="0" lang="en-US" altLang="zh-CN" sz="2400" b="0" i="0" u="none" strike="noStrike" kern="0" cap="none" spc="0" normalizeH="0" baseline="0" noProof="0" dirty="0">
                <a:ln>
                  <a:noFill/>
                </a:ln>
                <a:solidFill>
                  <a:schemeClr val="accent2"/>
                </a:solidFill>
                <a:effectLst/>
                <a:uLnTx/>
                <a:uFillTx/>
                <a:latin typeface="+mn-lt"/>
                <a:ea typeface="+mn-ea"/>
              </a:rPr>
              <a:t>l[</a:t>
            </a:r>
            <a:r>
              <a:rPr kumimoji="0" lang="en-US" altLang="zh-CN" sz="2400" b="0" i="0" u="none" strike="noStrike" kern="0" cap="none" spc="0" normalizeH="0" baseline="0" noProof="0" dirty="0" err="1">
                <a:ln>
                  <a:noFill/>
                </a:ln>
                <a:solidFill>
                  <a:schemeClr val="accent2"/>
                </a:solidFill>
                <a:effectLst/>
                <a:uLnTx/>
                <a:uFillTx/>
                <a:latin typeface="+mn-lt"/>
                <a:ea typeface="+mn-ea"/>
              </a:rPr>
              <a:t>i,j</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问题是要找出从每个顶点到其他所有顶点的距离，这里，从顶点</a:t>
            </a:r>
            <a:r>
              <a:rPr kumimoji="0" lang="en-US" altLang="zh-CN" sz="2400" b="0" i="0" u="none" strike="noStrike" kern="0" cap="none" spc="0" normalizeH="0" baseline="0" noProof="0" dirty="0">
                <a:ln>
                  <a:noFill/>
                </a:ln>
                <a:solidFill>
                  <a:schemeClr val="accent2"/>
                </a:solidFill>
                <a:effectLst/>
                <a:uLnTx/>
                <a:uFillTx/>
                <a:latin typeface="+mn-lt"/>
                <a:ea typeface="+mn-ea"/>
              </a:rPr>
              <a:t>x</a:t>
            </a:r>
            <a:r>
              <a:rPr kumimoji="0" lang="zh-CN" altLang="en-US" sz="2400" b="0" i="0" u="none" strike="noStrike" kern="0" cap="none" spc="0" normalizeH="0" baseline="0" noProof="0" dirty="0">
                <a:ln>
                  <a:noFill/>
                </a:ln>
                <a:solidFill>
                  <a:schemeClr val="accent2"/>
                </a:solidFill>
                <a:effectLst/>
                <a:uLnTx/>
                <a:uFillTx/>
                <a:latin typeface="+mn-lt"/>
                <a:ea typeface="+mn-ea"/>
              </a:rPr>
              <a:t>到顶点</a:t>
            </a:r>
            <a:r>
              <a:rPr kumimoji="0" lang="en-US" altLang="zh-CN" sz="2400" b="0" i="0" u="none" strike="noStrike" kern="0" cap="none" spc="0" normalizeH="0" baseline="0" noProof="0" dirty="0">
                <a:ln>
                  <a:noFill/>
                </a:ln>
                <a:solidFill>
                  <a:schemeClr val="accent2"/>
                </a:solidFill>
                <a:effectLst/>
                <a:uLnTx/>
                <a:uFillTx/>
                <a:latin typeface="+mn-lt"/>
                <a:ea typeface="+mn-ea"/>
              </a:rPr>
              <a:t>y</a:t>
            </a:r>
            <a:r>
              <a:rPr kumimoji="0" lang="zh-CN" altLang="en-US" sz="2400" b="0" i="0" u="none" strike="noStrike" kern="0" cap="none" spc="0" normalizeH="0" baseline="0" noProof="0" dirty="0">
                <a:ln>
                  <a:noFill/>
                </a:ln>
                <a:solidFill>
                  <a:schemeClr val="accent2"/>
                </a:solidFill>
                <a:effectLst/>
                <a:uLnTx/>
                <a:uFillTx/>
                <a:latin typeface="+mn-lt"/>
                <a:ea typeface="+mn-ea"/>
              </a:rPr>
              <a:t>的距离是指从</a:t>
            </a:r>
            <a:r>
              <a:rPr kumimoji="0" lang="en-US" altLang="zh-CN" sz="2400" b="0" i="0" u="none" strike="noStrike" kern="0" cap="none" spc="0" normalizeH="0" baseline="0" noProof="0" dirty="0">
                <a:ln>
                  <a:noFill/>
                </a:ln>
                <a:solidFill>
                  <a:schemeClr val="accent2"/>
                </a:solidFill>
                <a:effectLst/>
                <a:uLnTx/>
                <a:uFillTx/>
                <a:latin typeface="+mn-lt"/>
                <a:ea typeface="+mn-ea"/>
              </a:rPr>
              <a:t>x</a:t>
            </a:r>
            <a:r>
              <a:rPr kumimoji="0" lang="zh-CN" altLang="en-US" sz="2400" b="0" i="0" u="none" strike="noStrike" kern="0" cap="none" spc="0" normalizeH="0" baseline="0" noProof="0" dirty="0">
                <a:ln>
                  <a:noFill/>
                </a:ln>
                <a:solidFill>
                  <a:schemeClr val="accent2"/>
                </a:solidFill>
                <a:effectLst/>
                <a:uLnTx/>
                <a:uFillTx/>
                <a:latin typeface="+mn-lt"/>
                <a:ea typeface="+mn-ea"/>
              </a:rPr>
              <a:t>到</a:t>
            </a:r>
            <a:r>
              <a:rPr kumimoji="0" lang="en-US" altLang="zh-CN" sz="2400" b="0" i="0" u="none" strike="noStrike" kern="0" cap="none" spc="0" normalizeH="0" baseline="0" noProof="0" dirty="0">
                <a:ln>
                  <a:noFill/>
                </a:ln>
                <a:solidFill>
                  <a:schemeClr val="accent2"/>
                </a:solidFill>
                <a:effectLst/>
                <a:uLnTx/>
                <a:uFillTx/>
                <a:latin typeface="+mn-lt"/>
                <a:ea typeface="+mn-ea"/>
              </a:rPr>
              <a:t>y</a:t>
            </a:r>
            <a:r>
              <a:rPr kumimoji="0" lang="zh-CN" altLang="en-US" sz="2400" b="0" i="0" u="none" strike="noStrike" kern="0" cap="none" spc="0" normalizeH="0" baseline="0" noProof="0" dirty="0">
                <a:ln>
                  <a:noFill/>
                </a:ln>
                <a:solidFill>
                  <a:schemeClr val="accent2"/>
                </a:solidFill>
                <a:effectLst/>
                <a:uLnTx/>
                <a:uFillTx/>
                <a:latin typeface="+mn-lt"/>
                <a:ea typeface="+mn-ea"/>
              </a:rPr>
              <a:t>的最短路径的长度。</a:t>
            </a:r>
            <a:endParaRPr kumimoji="0" lang="en-US" altLang="zh-CN" sz="2400" b="0" i="0" u="none" strike="noStrike" kern="0" cap="none" spc="0" normalizeH="0" baseline="0" noProof="0" dirty="0">
              <a:ln>
                <a:noFill/>
              </a:ln>
              <a:solidFill>
                <a:schemeClr val="accent2"/>
              </a:solidFill>
              <a:effectLst/>
              <a:uLnTx/>
              <a:uFillTx/>
              <a:latin typeface="+mn-lt"/>
              <a:ea typeface="+mn-ea"/>
            </a:endParaRPr>
          </a:p>
        </p:txBody>
      </p:sp>
      <p:pic>
        <p:nvPicPr>
          <p:cNvPr id="5" name="Picture 4" descr="question">
            <a:extLst>
              <a:ext uri="{FF2B5EF4-FFF2-40B4-BE49-F238E27FC236}">
                <a16:creationId xmlns:a16="http://schemas.microsoft.com/office/drawing/2014/main" id="{36AC6F83-9A03-49B2-FD65-B0F7481C426F}"/>
              </a:ext>
            </a:extLst>
          </p:cNvPr>
          <p:cNvPicPr>
            <a:picLocks noChangeAspect="1"/>
          </p:cNvPicPr>
          <p:nvPr/>
        </p:nvPicPr>
        <p:blipFill>
          <a:blip r:embed="rId4"/>
          <a:stretch>
            <a:fillRect/>
          </a:stretch>
        </p:blipFill>
        <p:spPr>
          <a:xfrm>
            <a:off x="900113" y="1268413"/>
            <a:ext cx="504825" cy="504825"/>
          </a:xfrm>
          <a:prstGeom prst="rect">
            <a:avLst/>
          </a:prstGeom>
          <a:noFill/>
          <a:ln w="9525">
            <a:noFill/>
          </a:ln>
        </p:spPr>
      </p:pic>
    </p:spTree>
    <p:extLst>
      <p:ext uri="{BB962C8B-B14F-4D97-AF65-F5344CB8AC3E}">
        <p14:creationId xmlns:p14="http://schemas.microsoft.com/office/powerpoint/2010/main" val="329535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blinds(horizontal)">
                                      <p:cBhvr>
                                        <p:cTn id="11" dur="5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 calcmode="lin" valueType="num">
                                      <p:cBhvr additive="base">
                                        <p:cTn id="1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8294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294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48</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 name="Rectangle 3"/>
          <p:cNvSpPr>
            <a:spLocks noGrp="1" noChangeArrowheads="1"/>
          </p:cNvSpPr>
          <p:nvPr>
            <p:ph idx="1"/>
          </p:nvPr>
        </p:nvSpPr>
        <p:spPr>
          <a:xfrm>
            <a:off x="900113" y="1268413"/>
            <a:ext cx="7786688" cy="43211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如果有一个矩阵</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D=[d(</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ij</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，其中</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d(</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ij</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)&gt;0</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表示</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城市到</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j</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城市的距离。若</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与</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j</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之间无路可通，那么</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d(</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ij</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就是无穷大。又有</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d(ii)=0</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。编写一个程序，通过这个距离矩阵</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D</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，把任意两个城市之间的最短与其行径的路径找出来。</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我们可以将问题分解，如何找出最短路径呢，这里还是用到动态规划的知识：</a:t>
            </a:r>
            <a:endParaRPr kumimoji="0" lang="en-US" altLang="zh-CN" sz="20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a:ln>
                  <a:noFill/>
                </a:ln>
                <a:solidFill>
                  <a:schemeClr val="accent2"/>
                </a:solidFill>
                <a:effectLst/>
                <a:uLnTx/>
                <a:uFillTx/>
                <a:latin typeface="+mn-ea"/>
                <a:ea typeface="+mn-ea"/>
              </a:rPr>
              <a:t>对于任何一个城市而言，</a:t>
            </a:r>
            <a:r>
              <a:rPr kumimoji="0" lang="en-US" altLang="zh-CN" sz="1800" b="0" i="0" u="none" strike="noStrike" kern="0" cap="none" spc="0" normalizeH="0" baseline="0" noProof="0" dirty="0" err="1">
                <a:ln>
                  <a:noFill/>
                </a:ln>
                <a:solidFill>
                  <a:schemeClr val="accent2"/>
                </a:solidFill>
                <a:effectLst/>
                <a:uLnTx/>
                <a:uFillTx/>
                <a:latin typeface="+mn-ea"/>
                <a:ea typeface="+mn-ea"/>
              </a:rPr>
              <a:t>i</a:t>
            </a:r>
            <a:r>
              <a:rPr kumimoji="0" lang="zh-CN" altLang="en-US" sz="1800" b="0" i="0" u="none" strike="noStrike" kern="0" cap="none" spc="0" normalizeH="0" baseline="0" noProof="0" dirty="0">
                <a:ln>
                  <a:noFill/>
                </a:ln>
                <a:solidFill>
                  <a:schemeClr val="accent2"/>
                </a:solidFill>
                <a:effectLst/>
                <a:uLnTx/>
                <a:uFillTx/>
                <a:latin typeface="+mn-ea"/>
                <a:ea typeface="+mn-ea"/>
              </a:rPr>
              <a:t>到</a:t>
            </a:r>
            <a:r>
              <a:rPr kumimoji="0" lang="en-US" altLang="zh-CN" sz="1800" b="0" i="0" u="none" strike="noStrike" kern="0" cap="none" spc="0" normalizeH="0" baseline="0" noProof="0" dirty="0">
                <a:ln>
                  <a:noFill/>
                </a:ln>
                <a:solidFill>
                  <a:schemeClr val="accent2"/>
                </a:solidFill>
                <a:effectLst/>
                <a:uLnTx/>
                <a:uFillTx/>
                <a:latin typeface="+mn-ea"/>
                <a:ea typeface="+mn-ea"/>
              </a:rPr>
              <a:t>j</a:t>
            </a:r>
            <a:r>
              <a:rPr kumimoji="0" lang="zh-CN" altLang="en-US" sz="1800" b="0" i="0" u="none" strike="noStrike" kern="0" cap="none" spc="0" normalizeH="0" baseline="0" noProof="0" dirty="0">
                <a:ln>
                  <a:noFill/>
                </a:ln>
                <a:solidFill>
                  <a:schemeClr val="accent2"/>
                </a:solidFill>
                <a:effectLst/>
                <a:uLnTx/>
                <a:uFillTx/>
                <a:latin typeface="+mn-ea"/>
                <a:ea typeface="+mn-ea"/>
              </a:rPr>
              <a:t>的最短距离不外乎存在经过</a:t>
            </a:r>
            <a:r>
              <a:rPr kumimoji="0" lang="en-US" altLang="zh-CN" sz="1800" b="0" i="0" u="none" strike="noStrike" kern="0" cap="none" spc="0" normalizeH="0" baseline="0" noProof="0" dirty="0" err="1">
                <a:ln>
                  <a:noFill/>
                </a:ln>
                <a:solidFill>
                  <a:schemeClr val="accent2"/>
                </a:solidFill>
                <a:effectLst/>
                <a:uLnTx/>
                <a:uFillTx/>
                <a:latin typeface="+mn-ea"/>
                <a:ea typeface="+mn-ea"/>
              </a:rPr>
              <a:t>i</a:t>
            </a:r>
            <a:r>
              <a:rPr kumimoji="0" lang="zh-CN" altLang="en-US" sz="1800" b="0" i="0" u="none" strike="noStrike" kern="0" cap="none" spc="0" normalizeH="0" baseline="0" noProof="0" dirty="0">
                <a:ln>
                  <a:noFill/>
                </a:ln>
                <a:solidFill>
                  <a:schemeClr val="accent2"/>
                </a:solidFill>
                <a:effectLst/>
                <a:uLnTx/>
                <a:uFillTx/>
                <a:latin typeface="+mn-ea"/>
                <a:ea typeface="+mn-ea"/>
              </a:rPr>
              <a:t>与</a:t>
            </a:r>
            <a:r>
              <a:rPr kumimoji="0" lang="en-US" altLang="zh-CN" sz="1800" b="0" i="0" u="none" strike="noStrike" kern="0" cap="none" spc="0" normalizeH="0" baseline="0" noProof="0" dirty="0">
                <a:ln>
                  <a:noFill/>
                </a:ln>
                <a:solidFill>
                  <a:schemeClr val="accent2"/>
                </a:solidFill>
                <a:effectLst/>
                <a:uLnTx/>
                <a:uFillTx/>
                <a:latin typeface="+mn-ea"/>
                <a:ea typeface="+mn-ea"/>
              </a:rPr>
              <a:t>j</a:t>
            </a:r>
            <a:r>
              <a:rPr kumimoji="0" lang="zh-CN" altLang="en-US" sz="1800" b="0" i="0" u="none" strike="noStrike" kern="0" cap="none" spc="0" normalizeH="0" baseline="0" noProof="0" dirty="0">
                <a:ln>
                  <a:noFill/>
                </a:ln>
                <a:solidFill>
                  <a:schemeClr val="accent2"/>
                </a:solidFill>
                <a:effectLst/>
                <a:uLnTx/>
                <a:uFillTx/>
                <a:latin typeface="+mn-ea"/>
                <a:ea typeface="+mn-ea"/>
              </a:rPr>
              <a:t>之间的</a:t>
            </a:r>
            <a:r>
              <a:rPr kumimoji="0" lang="en-US" altLang="zh-CN" sz="1800" b="0" i="0" u="none" strike="noStrike" kern="0" cap="none" spc="0" normalizeH="0" baseline="0" noProof="0" dirty="0">
                <a:ln>
                  <a:noFill/>
                </a:ln>
                <a:solidFill>
                  <a:srgbClr val="FF0000"/>
                </a:solidFill>
                <a:effectLst/>
                <a:uLnTx/>
                <a:uFillTx/>
                <a:latin typeface="+mn-ea"/>
                <a:ea typeface="+mn-ea"/>
              </a:rPr>
              <a:t>k</a:t>
            </a:r>
            <a:r>
              <a:rPr kumimoji="0" lang="zh-CN" altLang="en-US" sz="1800" b="0" i="0" u="none" strike="noStrike" kern="0" cap="none" spc="0" normalizeH="0" baseline="0" noProof="0" dirty="0">
                <a:ln>
                  <a:noFill/>
                </a:ln>
                <a:solidFill>
                  <a:srgbClr val="FF0000"/>
                </a:solidFill>
                <a:effectLst/>
                <a:uLnTx/>
                <a:uFillTx/>
                <a:latin typeface="+mn-ea"/>
                <a:ea typeface="+mn-ea"/>
              </a:rPr>
              <a:t>和不经过</a:t>
            </a:r>
            <a:r>
              <a:rPr kumimoji="0" lang="en-US" altLang="zh-CN" sz="1800" b="0" i="0" u="none" strike="noStrike" kern="0" cap="none" spc="0" normalizeH="0" baseline="0" noProof="0" dirty="0">
                <a:ln>
                  <a:noFill/>
                </a:ln>
                <a:solidFill>
                  <a:srgbClr val="FF0000"/>
                </a:solidFill>
                <a:effectLst/>
                <a:uLnTx/>
                <a:uFillTx/>
                <a:latin typeface="+mn-ea"/>
                <a:ea typeface="+mn-ea"/>
              </a:rPr>
              <a:t>k</a:t>
            </a:r>
            <a:r>
              <a:rPr kumimoji="0" lang="zh-CN" altLang="en-US" sz="1800" b="0" i="0" u="none" strike="noStrike" kern="0" cap="none" spc="0" normalizeH="0" baseline="0" noProof="0" dirty="0">
                <a:ln>
                  <a:noFill/>
                </a:ln>
                <a:solidFill>
                  <a:schemeClr val="accent2"/>
                </a:solidFill>
                <a:effectLst/>
                <a:uLnTx/>
                <a:uFillTx/>
                <a:latin typeface="+mn-ea"/>
                <a:ea typeface="+mn-ea"/>
              </a:rPr>
              <a:t>两种可能。</a:t>
            </a:r>
            <a:endParaRPr kumimoji="0" lang="en-US" altLang="zh-CN" sz="18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a:ln>
                  <a:noFill/>
                </a:ln>
                <a:solidFill>
                  <a:schemeClr val="accent2"/>
                </a:solidFill>
                <a:effectLst/>
                <a:uLnTx/>
                <a:uFillTx/>
                <a:latin typeface="+mn-ea"/>
                <a:ea typeface="+mn-ea"/>
              </a:rPr>
              <a:t>所以可以令</a:t>
            </a:r>
            <a:r>
              <a:rPr kumimoji="0" lang="en-US" altLang="zh-CN" sz="1800" b="0" i="0" u="none" strike="noStrike" kern="0" cap="none" spc="0" normalizeH="0" baseline="0" noProof="0" dirty="0">
                <a:ln>
                  <a:noFill/>
                </a:ln>
                <a:solidFill>
                  <a:schemeClr val="accent2"/>
                </a:solidFill>
                <a:effectLst/>
                <a:uLnTx/>
                <a:uFillTx/>
                <a:latin typeface="+mn-ea"/>
                <a:ea typeface="+mn-ea"/>
              </a:rPr>
              <a:t>k=1</a:t>
            </a:r>
            <a:r>
              <a:rPr kumimoji="0" lang="zh-CN" altLang="en-US" sz="1800" b="0" i="0" u="none" strike="noStrike" kern="0" cap="none" spc="0" normalizeH="0" baseline="0" noProof="0" dirty="0">
                <a:ln>
                  <a:noFill/>
                </a:ln>
                <a:solidFill>
                  <a:schemeClr val="accent2"/>
                </a:solidFill>
                <a:effectLst/>
                <a:uLnTx/>
                <a:uFillTx/>
                <a:latin typeface="+mn-ea"/>
                <a:ea typeface="+mn-ea"/>
              </a:rPr>
              <a:t>，</a:t>
            </a:r>
            <a:r>
              <a:rPr kumimoji="0" lang="en-US" altLang="zh-CN" sz="1800" b="0" i="0" u="none" strike="noStrike" kern="0" cap="none" spc="0" normalizeH="0" baseline="0" noProof="0" dirty="0">
                <a:ln>
                  <a:noFill/>
                </a:ln>
                <a:solidFill>
                  <a:schemeClr val="accent2"/>
                </a:solidFill>
                <a:effectLst/>
                <a:uLnTx/>
                <a:uFillTx/>
                <a:latin typeface="+mn-ea"/>
                <a:ea typeface="+mn-ea"/>
              </a:rPr>
              <a:t>2</a:t>
            </a:r>
            <a:r>
              <a:rPr kumimoji="0" lang="zh-CN" altLang="en-US" sz="1800" b="0" i="0" u="none" strike="noStrike" kern="0" cap="none" spc="0" normalizeH="0" baseline="0" noProof="0" dirty="0">
                <a:ln>
                  <a:noFill/>
                </a:ln>
                <a:solidFill>
                  <a:schemeClr val="accent2"/>
                </a:solidFill>
                <a:effectLst/>
                <a:uLnTx/>
                <a:uFillTx/>
                <a:latin typeface="+mn-ea"/>
                <a:ea typeface="+mn-ea"/>
              </a:rPr>
              <a:t>，</a:t>
            </a:r>
            <a:r>
              <a:rPr kumimoji="0" lang="en-US" altLang="zh-CN" sz="1800" b="0" i="0" u="none" strike="noStrike" kern="0" cap="none" spc="0" normalizeH="0" baseline="0" noProof="0" dirty="0">
                <a:ln>
                  <a:noFill/>
                </a:ln>
                <a:solidFill>
                  <a:schemeClr val="accent2"/>
                </a:solidFill>
                <a:effectLst/>
                <a:uLnTx/>
                <a:uFillTx/>
                <a:latin typeface="+mn-ea"/>
                <a:ea typeface="+mn-ea"/>
              </a:rPr>
              <a:t>3</a:t>
            </a:r>
            <a:r>
              <a:rPr kumimoji="0" lang="zh-CN" altLang="en-US" sz="1800" b="0" i="0" u="none" strike="noStrike" kern="0" cap="none" spc="0" normalizeH="0" baseline="0" noProof="0" dirty="0">
                <a:ln>
                  <a:noFill/>
                </a:ln>
                <a:solidFill>
                  <a:schemeClr val="accent2"/>
                </a:solidFill>
                <a:effectLst/>
                <a:uLnTx/>
                <a:uFillTx/>
                <a:latin typeface="+mn-ea"/>
                <a:ea typeface="+mn-ea"/>
              </a:rPr>
              <a:t>，</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a:t>
            </a:r>
            <a:r>
              <a:rPr kumimoji="0" lang="en-US" altLang="zh-CN" sz="1800" b="0" i="0" u="none" strike="noStrike" kern="0" cap="none" spc="0" normalizeH="0" baseline="0" noProof="0" dirty="0">
                <a:ln>
                  <a:noFill/>
                </a:ln>
                <a:solidFill>
                  <a:schemeClr val="accent2"/>
                </a:solidFill>
                <a:effectLst/>
                <a:uLnTx/>
                <a:uFillTx/>
                <a:latin typeface="+mn-ea"/>
                <a:ea typeface="+mn-ea"/>
              </a:rPr>
              <a:t>n(n</a:t>
            </a:r>
            <a:r>
              <a:rPr kumimoji="0" lang="zh-CN" altLang="en-US" sz="1800" b="0" i="0" u="none" strike="noStrike" kern="0" cap="none" spc="0" normalizeH="0" baseline="0" noProof="0" dirty="0">
                <a:ln>
                  <a:noFill/>
                </a:ln>
                <a:solidFill>
                  <a:schemeClr val="accent2"/>
                </a:solidFill>
                <a:effectLst/>
                <a:uLnTx/>
                <a:uFillTx/>
                <a:latin typeface="+mn-ea"/>
                <a:ea typeface="+mn-ea"/>
              </a:rPr>
              <a:t>是城市的数目</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，再检查</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ij</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与</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ik</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kj</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的值；</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ik</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与</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kj</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分别是目前为止所知道的</a:t>
            </a:r>
            <a:r>
              <a:rPr kumimoji="0" lang="en-US" altLang="zh-CN" sz="1800" b="0" i="0" u="none" strike="noStrike" kern="0" cap="none" spc="0" normalizeH="0" baseline="0" noProof="0" dirty="0" err="1">
                <a:ln>
                  <a:noFill/>
                </a:ln>
                <a:solidFill>
                  <a:schemeClr val="accent2"/>
                </a:solidFill>
                <a:effectLst/>
                <a:uLnTx/>
                <a:uFillTx/>
                <a:latin typeface="+mn-ea"/>
                <a:ea typeface="+mn-ea"/>
              </a:rPr>
              <a:t>i</a:t>
            </a:r>
            <a:r>
              <a:rPr kumimoji="0" lang="zh-CN" altLang="en-US" sz="1800" b="0" i="0" u="none" strike="noStrike" kern="0" cap="none" spc="0" normalizeH="0" baseline="0" noProof="0" dirty="0">
                <a:ln>
                  <a:noFill/>
                </a:ln>
                <a:solidFill>
                  <a:schemeClr val="accent2"/>
                </a:solidFill>
                <a:effectLst/>
                <a:uLnTx/>
                <a:uFillTx/>
                <a:latin typeface="+mn-ea"/>
                <a:ea typeface="+mn-ea"/>
              </a:rPr>
              <a:t>到</a:t>
            </a:r>
            <a:r>
              <a:rPr kumimoji="0" lang="en-US" altLang="zh-CN" sz="1800" b="0" i="0" u="none" strike="noStrike" kern="0" cap="none" spc="0" normalizeH="0" baseline="0" noProof="0" dirty="0">
                <a:ln>
                  <a:noFill/>
                </a:ln>
                <a:solidFill>
                  <a:schemeClr val="accent2"/>
                </a:solidFill>
                <a:effectLst/>
                <a:uLnTx/>
                <a:uFillTx/>
                <a:latin typeface="+mn-ea"/>
                <a:ea typeface="+mn-ea"/>
              </a:rPr>
              <a:t>k</a:t>
            </a:r>
            <a:r>
              <a:rPr kumimoji="0" lang="zh-CN" altLang="en-US" sz="1800" b="0" i="0" u="none" strike="noStrike" kern="0" cap="none" spc="0" normalizeH="0" baseline="0" noProof="0" dirty="0">
                <a:ln>
                  <a:noFill/>
                </a:ln>
                <a:solidFill>
                  <a:schemeClr val="accent2"/>
                </a:solidFill>
                <a:effectLst/>
                <a:uLnTx/>
                <a:uFillTx/>
                <a:latin typeface="+mn-ea"/>
                <a:ea typeface="+mn-ea"/>
              </a:rPr>
              <a:t>与</a:t>
            </a:r>
            <a:r>
              <a:rPr kumimoji="0" lang="en-US" altLang="zh-CN" sz="1800" b="0" i="0" u="none" strike="noStrike" kern="0" cap="none" spc="0" normalizeH="0" baseline="0" noProof="0" dirty="0">
                <a:ln>
                  <a:noFill/>
                </a:ln>
                <a:solidFill>
                  <a:schemeClr val="accent2"/>
                </a:solidFill>
                <a:effectLst/>
                <a:uLnTx/>
                <a:uFillTx/>
                <a:latin typeface="+mn-ea"/>
                <a:ea typeface="+mn-ea"/>
              </a:rPr>
              <a:t>k</a:t>
            </a:r>
            <a:r>
              <a:rPr kumimoji="0" lang="zh-CN" altLang="en-US" sz="1800" b="0" i="0" u="none" strike="noStrike" kern="0" cap="none" spc="0" normalizeH="0" baseline="0" noProof="0" dirty="0">
                <a:ln>
                  <a:noFill/>
                </a:ln>
                <a:solidFill>
                  <a:schemeClr val="accent2"/>
                </a:solidFill>
                <a:effectLst/>
                <a:uLnTx/>
                <a:uFillTx/>
                <a:latin typeface="+mn-ea"/>
                <a:ea typeface="+mn-ea"/>
              </a:rPr>
              <a:t>到</a:t>
            </a:r>
            <a:r>
              <a:rPr kumimoji="0" lang="en-US" altLang="zh-CN" sz="1800" b="0" i="0" u="none" strike="noStrike" kern="0" cap="none" spc="0" normalizeH="0" baseline="0" noProof="0" dirty="0">
                <a:ln>
                  <a:noFill/>
                </a:ln>
                <a:solidFill>
                  <a:schemeClr val="accent2"/>
                </a:solidFill>
                <a:effectLst/>
                <a:uLnTx/>
                <a:uFillTx/>
                <a:latin typeface="+mn-ea"/>
                <a:ea typeface="+mn-ea"/>
              </a:rPr>
              <a:t>j</a:t>
            </a:r>
            <a:r>
              <a:rPr kumimoji="0" lang="zh-CN" altLang="en-US" sz="1800" b="0" i="0" u="none" strike="noStrike" kern="0" cap="none" spc="0" normalizeH="0" baseline="0" noProof="0" dirty="0">
                <a:ln>
                  <a:noFill/>
                </a:ln>
                <a:solidFill>
                  <a:schemeClr val="accent2"/>
                </a:solidFill>
                <a:effectLst/>
                <a:uLnTx/>
                <a:uFillTx/>
                <a:latin typeface="+mn-ea"/>
                <a:ea typeface="+mn-ea"/>
              </a:rPr>
              <a:t>的最短距离，因此</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ik</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kj</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就是</a:t>
            </a:r>
            <a:r>
              <a:rPr kumimoji="0" lang="en-US" altLang="zh-CN" sz="1800" b="0" i="0" u="none" strike="noStrike" kern="0" cap="none" spc="0" normalizeH="0" baseline="0" noProof="0" dirty="0" err="1">
                <a:ln>
                  <a:noFill/>
                </a:ln>
                <a:solidFill>
                  <a:schemeClr val="accent2"/>
                </a:solidFill>
                <a:effectLst/>
                <a:uLnTx/>
                <a:uFillTx/>
                <a:latin typeface="+mn-ea"/>
                <a:ea typeface="+mn-ea"/>
              </a:rPr>
              <a:t>i</a:t>
            </a:r>
            <a:r>
              <a:rPr kumimoji="0" lang="zh-CN" altLang="en-US" sz="1800" b="0" i="0" u="none" strike="noStrike" kern="0" cap="none" spc="0" normalizeH="0" baseline="0" noProof="0" dirty="0">
                <a:ln>
                  <a:noFill/>
                </a:ln>
                <a:solidFill>
                  <a:schemeClr val="accent2"/>
                </a:solidFill>
                <a:effectLst/>
                <a:uLnTx/>
                <a:uFillTx/>
                <a:latin typeface="+mn-ea"/>
                <a:ea typeface="+mn-ea"/>
              </a:rPr>
              <a:t>到</a:t>
            </a:r>
            <a:r>
              <a:rPr kumimoji="0" lang="en-US" altLang="zh-CN" sz="1800" b="0" i="0" u="none" strike="noStrike" kern="0" cap="none" spc="0" normalizeH="0" baseline="0" noProof="0" dirty="0">
                <a:ln>
                  <a:noFill/>
                </a:ln>
                <a:solidFill>
                  <a:schemeClr val="accent2"/>
                </a:solidFill>
                <a:effectLst/>
                <a:uLnTx/>
                <a:uFillTx/>
                <a:latin typeface="+mn-ea"/>
                <a:ea typeface="+mn-ea"/>
              </a:rPr>
              <a:t>j</a:t>
            </a:r>
            <a:r>
              <a:rPr kumimoji="0" lang="zh-CN" altLang="en-US" sz="1800" b="0" i="0" u="none" strike="noStrike" kern="0" cap="none" spc="0" normalizeH="0" baseline="0" noProof="0" dirty="0">
                <a:ln>
                  <a:noFill/>
                </a:ln>
                <a:solidFill>
                  <a:schemeClr val="accent2"/>
                </a:solidFill>
                <a:effectLst/>
                <a:uLnTx/>
                <a:uFillTx/>
                <a:latin typeface="+mn-ea"/>
                <a:ea typeface="+mn-ea"/>
              </a:rPr>
              <a:t>经过</a:t>
            </a:r>
            <a:r>
              <a:rPr kumimoji="0" lang="en-US" altLang="zh-CN" sz="1800" b="0" i="0" u="none" strike="noStrike" kern="0" cap="none" spc="0" normalizeH="0" baseline="0" noProof="0" dirty="0">
                <a:ln>
                  <a:noFill/>
                </a:ln>
                <a:solidFill>
                  <a:schemeClr val="accent2"/>
                </a:solidFill>
                <a:effectLst/>
                <a:uLnTx/>
                <a:uFillTx/>
                <a:latin typeface="+mn-ea"/>
                <a:ea typeface="+mn-ea"/>
              </a:rPr>
              <a:t>k</a:t>
            </a:r>
            <a:r>
              <a:rPr kumimoji="0" lang="zh-CN" altLang="en-US" sz="1800" b="0" i="0" u="none" strike="noStrike" kern="0" cap="none" spc="0" normalizeH="0" baseline="0" noProof="0" dirty="0">
                <a:ln>
                  <a:noFill/>
                </a:ln>
                <a:solidFill>
                  <a:schemeClr val="accent2"/>
                </a:solidFill>
                <a:effectLst/>
                <a:uLnTx/>
                <a:uFillTx/>
                <a:latin typeface="+mn-ea"/>
                <a:ea typeface="+mn-ea"/>
              </a:rPr>
              <a:t>的最短距离。每当一个</a:t>
            </a:r>
            <a:r>
              <a:rPr kumimoji="0" lang="en-US" altLang="zh-CN" sz="1800" b="0" i="0" u="none" strike="noStrike" kern="0" cap="none" spc="0" normalizeH="0" baseline="0" noProof="0" dirty="0">
                <a:ln>
                  <a:noFill/>
                </a:ln>
                <a:solidFill>
                  <a:schemeClr val="accent2"/>
                </a:solidFill>
                <a:effectLst/>
                <a:uLnTx/>
                <a:uFillTx/>
                <a:latin typeface="+mn-ea"/>
                <a:ea typeface="+mn-ea"/>
              </a:rPr>
              <a:t>k</a:t>
            </a:r>
            <a:r>
              <a:rPr kumimoji="0" lang="zh-CN" altLang="en-US" sz="1800" b="0" i="0" u="none" strike="noStrike" kern="0" cap="none" spc="0" normalizeH="0" baseline="0" noProof="0" dirty="0">
                <a:ln>
                  <a:noFill/>
                </a:ln>
                <a:solidFill>
                  <a:schemeClr val="accent2"/>
                </a:solidFill>
                <a:effectLst/>
                <a:uLnTx/>
                <a:uFillTx/>
                <a:latin typeface="+mn-ea"/>
                <a:ea typeface="+mn-ea"/>
              </a:rPr>
              <a:t>查完了，</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ij</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就是目前的</a:t>
            </a:r>
            <a:r>
              <a:rPr kumimoji="0" lang="en-US" altLang="zh-CN" sz="1800" b="0" i="0" u="none" strike="noStrike" kern="0" cap="none" spc="0" normalizeH="0" baseline="0" noProof="0" dirty="0" err="1">
                <a:ln>
                  <a:noFill/>
                </a:ln>
                <a:solidFill>
                  <a:schemeClr val="accent2"/>
                </a:solidFill>
                <a:effectLst/>
                <a:uLnTx/>
                <a:uFillTx/>
                <a:latin typeface="+mn-ea"/>
                <a:ea typeface="+mn-ea"/>
              </a:rPr>
              <a:t>i</a:t>
            </a:r>
            <a:r>
              <a:rPr kumimoji="0" lang="zh-CN" altLang="en-US" sz="1800" b="0" i="0" u="none" strike="noStrike" kern="0" cap="none" spc="0" normalizeH="0" baseline="0" noProof="0" dirty="0">
                <a:ln>
                  <a:noFill/>
                </a:ln>
                <a:solidFill>
                  <a:schemeClr val="accent2"/>
                </a:solidFill>
                <a:effectLst/>
                <a:uLnTx/>
                <a:uFillTx/>
                <a:latin typeface="+mn-ea"/>
                <a:ea typeface="+mn-ea"/>
              </a:rPr>
              <a:t>到</a:t>
            </a:r>
            <a:r>
              <a:rPr kumimoji="0" lang="en-US" altLang="zh-CN" sz="1800" b="0" i="0" u="none" strike="noStrike" kern="0" cap="none" spc="0" normalizeH="0" baseline="0" noProof="0" dirty="0">
                <a:ln>
                  <a:noFill/>
                </a:ln>
                <a:solidFill>
                  <a:schemeClr val="accent2"/>
                </a:solidFill>
                <a:effectLst/>
                <a:uLnTx/>
                <a:uFillTx/>
                <a:latin typeface="+mn-ea"/>
                <a:ea typeface="+mn-ea"/>
              </a:rPr>
              <a:t>j</a:t>
            </a:r>
            <a:r>
              <a:rPr kumimoji="0" lang="zh-CN" altLang="en-US" sz="1800" b="0" i="0" u="none" strike="noStrike" kern="0" cap="none" spc="0" normalizeH="0" baseline="0" noProof="0" dirty="0">
                <a:ln>
                  <a:noFill/>
                </a:ln>
                <a:solidFill>
                  <a:schemeClr val="accent2"/>
                </a:solidFill>
                <a:effectLst/>
                <a:uLnTx/>
                <a:uFillTx/>
                <a:latin typeface="+mn-ea"/>
                <a:ea typeface="+mn-ea"/>
              </a:rPr>
              <a:t>的最短距离。</a:t>
            </a:r>
            <a:endParaRPr kumimoji="0" lang="en-US" altLang="zh-CN" sz="18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a:ln>
                  <a:noFill/>
                </a:ln>
                <a:solidFill>
                  <a:schemeClr val="accent2"/>
                </a:solidFill>
                <a:effectLst/>
                <a:uLnTx/>
                <a:uFillTx/>
                <a:latin typeface="+mn-ea"/>
                <a:ea typeface="+mn-ea"/>
              </a:rPr>
              <a:t>重复这一过程，最后当递归查完所有的</a:t>
            </a:r>
            <a:r>
              <a:rPr kumimoji="0" lang="en-US" altLang="zh-CN" sz="1800" b="0" i="0" u="none" strike="noStrike" kern="0" cap="none" spc="0" normalizeH="0" baseline="0" noProof="0" dirty="0">
                <a:ln>
                  <a:noFill/>
                </a:ln>
                <a:solidFill>
                  <a:schemeClr val="accent2"/>
                </a:solidFill>
                <a:effectLst/>
                <a:uLnTx/>
                <a:uFillTx/>
                <a:latin typeface="+mn-ea"/>
                <a:ea typeface="+mn-ea"/>
              </a:rPr>
              <a:t>k</a:t>
            </a:r>
            <a:r>
              <a:rPr kumimoji="0" lang="zh-CN" altLang="en-US" sz="1800" b="0" i="0" u="none" strike="noStrike" kern="0" cap="none" spc="0" normalizeH="0" baseline="0" noProof="0" dirty="0">
                <a:ln>
                  <a:noFill/>
                </a:ln>
                <a:solidFill>
                  <a:schemeClr val="accent2"/>
                </a:solidFill>
                <a:effectLst/>
                <a:uLnTx/>
                <a:uFillTx/>
                <a:latin typeface="+mn-ea"/>
                <a:ea typeface="+mn-ea"/>
              </a:rPr>
              <a:t>时，</a:t>
            </a:r>
            <a:r>
              <a:rPr kumimoji="0" lang="en-US" altLang="zh-CN" sz="1800" b="0" i="0" u="none" strike="noStrike" kern="0" cap="none" spc="0" normalizeH="0" baseline="0" noProof="0" dirty="0">
                <a:ln>
                  <a:noFill/>
                </a:ln>
                <a:solidFill>
                  <a:schemeClr val="accent2"/>
                </a:solidFill>
                <a:effectLst/>
                <a:uLnTx/>
                <a:uFillTx/>
                <a:latin typeface="+mn-ea"/>
                <a:ea typeface="+mn-ea"/>
              </a:rPr>
              <a:t>d(</a:t>
            </a:r>
            <a:r>
              <a:rPr kumimoji="0" lang="en-US" altLang="zh-CN" sz="1800" b="0" i="0" u="none" strike="noStrike" kern="0" cap="none" spc="0" normalizeH="0" baseline="0" noProof="0" dirty="0" err="1">
                <a:ln>
                  <a:noFill/>
                </a:ln>
                <a:solidFill>
                  <a:schemeClr val="accent2"/>
                </a:solidFill>
                <a:effectLst/>
                <a:uLnTx/>
                <a:uFillTx/>
                <a:latin typeface="+mn-ea"/>
                <a:ea typeface="+mn-ea"/>
              </a:rPr>
              <a:t>ij</a:t>
            </a:r>
            <a:r>
              <a:rPr kumimoji="0" lang="en-US" altLang="zh-CN" sz="1800" b="0" i="0" u="none" strike="noStrike" kern="0" cap="none" spc="0" normalizeH="0" baseline="0" noProof="0" dirty="0">
                <a:ln>
                  <a:noFill/>
                </a:ln>
                <a:solidFill>
                  <a:schemeClr val="accent2"/>
                </a:solidFill>
                <a:effectLst/>
                <a:uLnTx/>
                <a:uFillTx/>
                <a:latin typeface="+mn-ea"/>
                <a:ea typeface="+mn-ea"/>
              </a:rPr>
              <a:t>)</a:t>
            </a:r>
            <a:r>
              <a:rPr kumimoji="0" lang="zh-CN" altLang="en-US" sz="1800" b="0" i="0" u="none" strike="noStrike" kern="0" cap="none" spc="0" normalizeH="0" baseline="0" noProof="0" dirty="0">
                <a:ln>
                  <a:noFill/>
                </a:ln>
                <a:solidFill>
                  <a:schemeClr val="accent2"/>
                </a:solidFill>
                <a:effectLst/>
                <a:uLnTx/>
                <a:uFillTx/>
                <a:latin typeface="+mn-ea"/>
                <a:ea typeface="+mn-ea"/>
              </a:rPr>
              <a:t>里面存放的就是</a:t>
            </a:r>
            <a:r>
              <a:rPr kumimoji="0" lang="en-US" altLang="zh-CN" sz="1800" b="0" i="0" u="none" strike="noStrike" kern="0" cap="none" spc="0" normalizeH="0" baseline="0" noProof="0" dirty="0" err="1">
                <a:ln>
                  <a:noFill/>
                </a:ln>
                <a:solidFill>
                  <a:schemeClr val="accent2"/>
                </a:solidFill>
                <a:effectLst/>
                <a:uLnTx/>
                <a:uFillTx/>
                <a:latin typeface="+mn-ea"/>
                <a:ea typeface="+mn-ea"/>
              </a:rPr>
              <a:t>i</a:t>
            </a:r>
            <a:r>
              <a:rPr kumimoji="0" lang="zh-CN" altLang="en-US" sz="1800" b="0" i="0" u="none" strike="noStrike" kern="0" cap="none" spc="0" normalizeH="0" baseline="0" noProof="0" dirty="0">
                <a:ln>
                  <a:noFill/>
                </a:ln>
                <a:solidFill>
                  <a:schemeClr val="accent2"/>
                </a:solidFill>
                <a:effectLst/>
                <a:uLnTx/>
                <a:uFillTx/>
                <a:latin typeface="+mn-ea"/>
                <a:ea typeface="+mn-ea"/>
              </a:rPr>
              <a:t>到</a:t>
            </a:r>
            <a:r>
              <a:rPr kumimoji="0" lang="en-US" altLang="zh-CN" sz="1800" b="0" i="0" u="none" strike="noStrike" kern="0" cap="none" spc="0" normalizeH="0" baseline="0" noProof="0" dirty="0">
                <a:ln>
                  <a:noFill/>
                </a:ln>
                <a:solidFill>
                  <a:schemeClr val="accent2"/>
                </a:solidFill>
                <a:effectLst/>
                <a:uLnTx/>
                <a:uFillTx/>
                <a:latin typeface="+mn-ea"/>
                <a:ea typeface="+mn-ea"/>
              </a:rPr>
              <a:t>j</a:t>
            </a:r>
            <a:r>
              <a:rPr kumimoji="0" lang="zh-CN" altLang="en-US" sz="1800" b="0" i="0" u="none" strike="noStrike" kern="0" cap="none" spc="0" normalizeH="0" baseline="0" noProof="0" dirty="0">
                <a:ln>
                  <a:noFill/>
                </a:ln>
                <a:solidFill>
                  <a:schemeClr val="accent2"/>
                </a:solidFill>
                <a:effectLst/>
                <a:uLnTx/>
                <a:uFillTx/>
                <a:latin typeface="+mn-ea"/>
                <a:ea typeface="+mn-ea"/>
              </a:rPr>
              <a:t>之间的最短距离了</a:t>
            </a:r>
            <a:r>
              <a:rPr kumimoji="0" lang="zh-CN" altLang="en-US" sz="2600" b="0" i="0" u="none" strike="noStrike" kern="0" cap="none" spc="0" normalizeH="0" baseline="0" noProof="0" dirty="0">
                <a:ln>
                  <a:noFill/>
                </a:ln>
                <a:solidFill>
                  <a:schemeClr val="accent2"/>
                </a:solidFill>
                <a:effectLst/>
                <a:uLnTx/>
                <a:uFillTx/>
                <a:latin typeface="+mn-ea"/>
                <a:ea typeface="+mn-ea"/>
              </a:rPr>
              <a:t>。</a:t>
            </a:r>
          </a:p>
        </p:txBody>
      </p:sp>
      <p:sp>
        <p:nvSpPr>
          <p:cNvPr id="5" name="Rectangle 2">
            <a:extLst>
              <a:ext uri="{FF2B5EF4-FFF2-40B4-BE49-F238E27FC236}">
                <a16:creationId xmlns:a16="http://schemas.microsoft.com/office/drawing/2014/main" id="{DF8E34E0-EDFB-A06C-FEC3-2CEBF1480874}"/>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4.3.1 </a:t>
            </a:r>
            <a:r>
              <a:rPr lang="zh-CN" altLang="en-US" sz="3200" dirty="0">
                <a:latin typeface="+mj-ea"/>
              </a:rPr>
              <a:t>所有点对最短路径问题</a:t>
            </a:r>
            <a:endParaRPr lang="en-US" altLang="zh-CN" b="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blinds(horizontal)">
                                      <p:cBhvr>
                                        <p:cTn id="13" dur="500"/>
                                        <p:tgtEl>
                                          <p:spTgt spid="2">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blinds(horizontal)">
                                      <p:cBhvr>
                                        <p:cTn id="1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5"/>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84995" name="页脚占位符 6"/>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4996" name="灯片编号占位符 7"/>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49</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84997"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4.3.1 </a:t>
            </a:r>
            <a:r>
              <a:rPr lang="zh-CN" altLang="en-US" dirty="0">
                <a:latin typeface="+mj-ea"/>
              </a:rPr>
              <a:t>所有点对最短路径问题</a:t>
            </a:r>
            <a:r>
              <a:rPr lang="en-US" altLang="zh-CN" dirty="0">
                <a:latin typeface="+mj-ea"/>
              </a:rPr>
              <a:t>—</a:t>
            </a:r>
            <a:r>
              <a:rPr lang="zh-CN" altLang="en-US" dirty="0">
                <a:latin typeface="+mj-ea"/>
              </a:rPr>
              <a:t>递推式</a:t>
            </a:r>
            <a:endParaRPr lang="en-US" altLang="zh-CN" dirty="0">
              <a:latin typeface="+mj-ea"/>
            </a:endParaRPr>
          </a:p>
        </p:txBody>
      </p:sp>
      <p:sp>
        <p:nvSpPr>
          <p:cNvPr id="49155" name="Rectangle 3"/>
          <p:cNvSpPr>
            <a:spLocks noGrp="1"/>
          </p:cNvSpPr>
          <p:nvPr>
            <p:ph type="body" sz="half" idx="1"/>
          </p:nvPr>
        </p:nvSpPr>
        <p:spPr>
          <a:xfrm>
            <a:off x="817563" y="1196975"/>
            <a:ext cx="8218487" cy="4565650"/>
          </a:xfrm>
        </p:spPr>
        <p:txBody>
          <a:bodyPr vert="horz" wrap="square" lIns="91440" tIns="45720" rIns="91440" bIns="45720" anchor="t" anchorCtr="0"/>
          <a:lstStyle/>
          <a:p>
            <a:pPr eaLnBrk="1" hangingPunct="1">
              <a:lnSpc>
                <a:spcPct val="90000"/>
              </a:lnSpc>
              <a:buClrTx/>
              <a:buSzTx/>
              <a:buFontTx/>
            </a:pPr>
            <a:r>
              <a:rPr lang="zh-CN" altLang="en-US" sz="2200" dirty="0"/>
              <a:t>设</a:t>
            </a:r>
            <a:r>
              <a:rPr lang="en-US" altLang="zh-CN" sz="2200" dirty="0"/>
              <a:t>i</a:t>
            </a:r>
            <a:r>
              <a:rPr lang="zh-CN" altLang="en-US" sz="2200" dirty="0"/>
              <a:t>和</a:t>
            </a:r>
            <a:r>
              <a:rPr lang="en-US" altLang="zh-CN" sz="2200" dirty="0"/>
              <a:t>j</a:t>
            </a:r>
            <a:r>
              <a:rPr lang="zh-CN" altLang="en-US" sz="2200" dirty="0"/>
              <a:t>是</a:t>
            </a:r>
            <a:r>
              <a:rPr lang="en-US" altLang="zh-CN" sz="2200" dirty="0"/>
              <a:t>V</a:t>
            </a:r>
            <a:r>
              <a:rPr lang="zh-CN" altLang="en-US" sz="2200" dirty="0"/>
              <a:t>中两个不同的顶点</a:t>
            </a:r>
            <a:r>
              <a:rPr lang="en-US" altLang="zh-CN" sz="2200" dirty="0"/>
              <a:t>,</a:t>
            </a:r>
            <a:r>
              <a:rPr lang="zh-CN" altLang="en-US" sz="2200" dirty="0"/>
              <a:t>定义       是从</a:t>
            </a:r>
            <a:r>
              <a:rPr lang="en-US" altLang="zh-CN" sz="2200" dirty="0"/>
              <a:t>i</a:t>
            </a:r>
            <a:r>
              <a:rPr lang="zh-CN" altLang="en-US" sz="2200" dirty="0"/>
              <a:t>到</a:t>
            </a:r>
            <a:r>
              <a:rPr lang="en-US" altLang="zh-CN" sz="2200" dirty="0"/>
              <a:t>j</a:t>
            </a:r>
            <a:r>
              <a:rPr lang="zh-CN" altLang="en-US" sz="2200" dirty="0"/>
              <a:t>，并且不经过</a:t>
            </a:r>
            <a:r>
              <a:rPr lang="en-US" altLang="zh-CN" sz="2200" dirty="0"/>
              <a:t>{k+1, k +2,··, n</a:t>
            </a:r>
            <a:r>
              <a:rPr lang="zh-CN" altLang="en-US" sz="2200" dirty="0"/>
              <a:t>｝中任何顶点的最短路径的长度。</a:t>
            </a:r>
          </a:p>
          <a:p>
            <a:pPr eaLnBrk="1" hangingPunct="1">
              <a:lnSpc>
                <a:spcPct val="90000"/>
              </a:lnSpc>
              <a:buClrTx/>
              <a:buSzTx/>
              <a:buFontTx/>
            </a:pPr>
            <a:endParaRPr lang="en-US" altLang="zh-CN" sz="2200" dirty="0"/>
          </a:p>
          <a:p>
            <a:pPr eaLnBrk="1" hangingPunct="1">
              <a:lnSpc>
                <a:spcPct val="90000"/>
              </a:lnSpc>
              <a:buClrTx/>
              <a:buSzTx/>
              <a:buFontTx/>
            </a:pPr>
            <a:endParaRPr lang="en-US" altLang="zh-CN" sz="2200" dirty="0"/>
          </a:p>
          <a:p>
            <a:pPr eaLnBrk="1" hangingPunct="1">
              <a:lnSpc>
                <a:spcPct val="90000"/>
              </a:lnSpc>
              <a:buClrTx/>
              <a:buSzTx/>
              <a:buFontTx/>
            </a:pPr>
            <a:r>
              <a:rPr lang="en-US" altLang="zh-CN" sz="2200" dirty="0"/>
              <a:t>                         </a:t>
            </a:r>
            <a:r>
              <a:rPr lang="zh-CN" altLang="en-US" sz="2200" dirty="0"/>
              <a:t>是从</a:t>
            </a:r>
            <a:r>
              <a:rPr lang="en-US" altLang="zh-CN" sz="2200" dirty="0"/>
              <a:t>i</a:t>
            </a:r>
            <a:r>
              <a:rPr lang="zh-CN" altLang="en-US" sz="2200" dirty="0"/>
              <a:t>到</a:t>
            </a:r>
            <a:r>
              <a:rPr lang="en-US" altLang="zh-CN" sz="2200" dirty="0"/>
              <a:t>J</a:t>
            </a:r>
            <a:r>
              <a:rPr lang="zh-CN" altLang="en-US" sz="2200" dirty="0"/>
              <a:t>，除了可能经过顶点</a:t>
            </a:r>
            <a:r>
              <a:rPr lang="en-US" altLang="zh-CN" sz="2200" dirty="0"/>
              <a:t>1</a:t>
            </a:r>
            <a:r>
              <a:rPr lang="zh-CN" altLang="en-US" sz="2200" dirty="0"/>
              <a:t>以外，不经过任何其他顶点的最短路径。      是从</a:t>
            </a:r>
            <a:r>
              <a:rPr lang="en-US" altLang="zh-CN" sz="2200" dirty="0"/>
              <a:t>i</a:t>
            </a:r>
            <a:r>
              <a:rPr lang="zh-CN" altLang="en-US" sz="2200" dirty="0"/>
              <a:t>到</a:t>
            </a:r>
            <a:r>
              <a:rPr lang="en-US" altLang="zh-CN" sz="2200" dirty="0"/>
              <a:t>j</a:t>
            </a:r>
            <a:r>
              <a:rPr lang="zh-CN" altLang="en-US" sz="2200" dirty="0"/>
              <a:t>，除了可能经过顶点</a:t>
            </a:r>
            <a:r>
              <a:rPr lang="en-US" altLang="zh-CN" sz="2200" dirty="0"/>
              <a:t>1</a:t>
            </a:r>
            <a:r>
              <a:rPr lang="zh-CN" altLang="en-US" sz="2200" dirty="0"/>
              <a:t>、顶点</a:t>
            </a:r>
            <a:r>
              <a:rPr lang="en-US" altLang="zh-CN" sz="2200" dirty="0"/>
              <a:t>2</a:t>
            </a:r>
            <a:r>
              <a:rPr lang="zh-CN" altLang="en-US" sz="2200" dirty="0"/>
              <a:t>或同时经过它们以外，不经过任何其他顶点的最短路径，等等。这样由定义可知，        是从</a:t>
            </a:r>
            <a:r>
              <a:rPr lang="en-US" altLang="zh-CN" sz="2200" dirty="0"/>
              <a:t>i</a:t>
            </a:r>
            <a:r>
              <a:rPr lang="zh-CN" altLang="en-US" sz="2200" dirty="0"/>
              <a:t>到</a:t>
            </a:r>
            <a:r>
              <a:rPr lang="en-US" altLang="zh-CN" sz="2200" dirty="0"/>
              <a:t>j</a:t>
            </a:r>
            <a:r>
              <a:rPr lang="zh-CN" altLang="en-US" sz="2200" dirty="0"/>
              <a:t>的最短路径长度，也就是从</a:t>
            </a:r>
            <a:r>
              <a:rPr lang="en-US" altLang="zh-CN" sz="2200" dirty="0"/>
              <a:t>i</a:t>
            </a:r>
            <a:r>
              <a:rPr lang="zh-CN" altLang="en-US" sz="2200" dirty="0"/>
              <a:t>到</a:t>
            </a:r>
            <a:r>
              <a:rPr lang="en-US" altLang="zh-CN" sz="2200" dirty="0"/>
              <a:t>j</a:t>
            </a:r>
            <a:r>
              <a:rPr lang="zh-CN" altLang="en-US" sz="2200" dirty="0"/>
              <a:t>的距离。给出这个定义，可以递归地计算</a:t>
            </a:r>
          </a:p>
          <a:p>
            <a:pPr eaLnBrk="1" hangingPunct="1">
              <a:lnSpc>
                <a:spcPct val="90000"/>
              </a:lnSpc>
              <a:buClrTx/>
              <a:buSzTx/>
              <a:buFontTx/>
            </a:pPr>
            <a:endParaRPr lang="zh-CN" altLang="en-US" sz="2200" dirty="0"/>
          </a:p>
          <a:p>
            <a:pPr eaLnBrk="1" hangingPunct="1">
              <a:lnSpc>
                <a:spcPct val="90000"/>
              </a:lnSpc>
              <a:buClrTx/>
              <a:buSzTx/>
              <a:buFontTx/>
            </a:pPr>
            <a:endParaRPr lang="zh-CN" altLang="en-US" sz="2200" dirty="0"/>
          </a:p>
          <a:p>
            <a:pPr eaLnBrk="1" hangingPunct="1">
              <a:lnSpc>
                <a:spcPct val="90000"/>
              </a:lnSpc>
              <a:buClrTx/>
              <a:buSzTx/>
              <a:buFontTx/>
            </a:pPr>
            <a:endParaRPr lang="en-US" altLang="zh-CN" sz="2000" dirty="0"/>
          </a:p>
        </p:txBody>
      </p:sp>
      <p:graphicFrame>
        <p:nvGraphicFramePr>
          <p:cNvPr id="49161" name="Object 9"/>
          <p:cNvGraphicFramePr>
            <a:graphicFrameLocks noGrp="1" noChangeAspect="1"/>
          </p:cNvGraphicFramePr>
          <p:nvPr>
            <p:ph sz="quarter" idx="2"/>
          </p:nvPr>
        </p:nvGraphicFramePr>
        <p:xfrm>
          <a:off x="5357813" y="1071563"/>
          <a:ext cx="547687" cy="576262"/>
        </p:xfrm>
        <a:graphic>
          <a:graphicData uri="http://schemas.openxmlformats.org/presentationml/2006/ole">
            <mc:AlternateContent xmlns:mc="http://schemas.openxmlformats.org/markup-compatibility/2006">
              <mc:Choice xmlns:v="urn:schemas-microsoft-com:vml" Requires="v">
                <p:oleObj r:id="rId3" imgW="241300" imgH="254000" progId="Equation.3">
                  <p:embed/>
                </p:oleObj>
              </mc:Choice>
              <mc:Fallback>
                <p:oleObj r:id="rId3" imgW="241300" imgH="254000" progId="Equation.3">
                  <p:embed/>
                  <p:pic>
                    <p:nvPicPr>
                      <p:cNvPr id="49161" name="Object 9"/>
                      <p:cNvPicPr/>
                      <p:nvPr/>
                    </p:nvPicPr>
                    <p:blipFill>
                      <a:blip r:embed="rId4"/>
                      <a:srcRect/>
                      <a:stretch>
                        <a:fillRect/>
                      </a:stretch>
                    </p:blipFill>
                    <p:spPr>
                      <a:xfrm>
                        <a:off x="5357813" y="1071563"/>
                        <a:ext cx="547687" cy="576262"/>
                      </a:xfrm>
                      <a:prstGeom prst="rect">
                        <a:avLst/>
                      </a:prstGeom>
                      <a:noFill/>
                      <a:ln w="38100">
                        <a:miter/>
                      </a:ln>
                    </p:spPr>
                  </p:pic>
                </p:oleObj>
              </mc:Fallback>
            </mc:AlternateContent>
          </a:graphicData>
        </a:graphic>
      </p:graphicFrame>
      <p:graphicFrame>
        <p:nvGraphicFramePr>
          <p:cNvPr id="49166" name="Object 14"/>
          <p:cNvGraphicFramePr>
            <a:graphicFrameLocks noChangeAspect="1"/>
          </p:cNvGraphicFramePr>
          <p:nvPr/>
        </p:nvGraphicFramePr>
        <p:xfrm>
          <a:off x="4000500" y="2857500"/>
          <a:ext cx="542925" cy="571500"/>
        </p:xfrm>
        <a:graphic>
          <a:graphicData uri="http://schemas.openxmlformats.org/presentationml/2006/ole">
            <mc:AlternateContent xmlns:mc="http://schemas.openxmlformats.org/markup-compatibility/2006">
              <mc:Choice xmlns:v="urn:schemas-microsoft-com:vml" Requires="v">
                <p:oleObj r:id="rId5" imgW="241300" imgH="254000" progId="Equation.3">
                  <p:embed/>
                </p:oleObj>
              </mc:Choice>
              <mc:Fallback>
                <p:oleObj r:id="rId5" imgW="241300" imgH="254000" progId="Equation.3">
                  <p:embed/>
                  <p:pic>
                    <p:nvPicPr>
                      <p:cNvPr id="49166" name="Object 14"/>
                      <p:cNvPicPr/>
                      <p:nvPr/>
                    </p:nvPicPr>
                    <p:blipFill>
                      <a:blip r:embed="rId6"/>
                      <a:stretch>
                        <a:fillRect/>
                      </a:stretch>
                    </p:blipFill>
                    <p:spPr>
                      <a:xfrm>
                        <a:off x="4000500" y="2857500"/>
                        <a:ext cx="542925" cy="571500"/>
                      </a:xfrm>
                      <a:prstGeom prst="rect">
                        <a:avLst/>
                      </a:prstGeom>
                      <a:noFill/>
                      <a:ln w="38100">
                        <a:noFill/>
                        <a:miter/>
                      </a:ln>
                    </p:spPr>
                  </p:pic>
                </p:oleObj>
              </mc:Fallback>
            </mc:AlternateContent>
          </a:graphicData>
        </a:graphic>
      </p:graphicFrame>
      <p:graphicFrame>
        <p:nvGraphicFramePr>
          <p:cNvPr id="49167" name="Object 15"/>
          <p:cNvGraphicFramePr>
            <a:graphicFrameLocks noChangeAspect="1"/>
          </p:cNvGraphicFramePr>
          <p:nvPr/>
        </p:nvGraphicFramePr>
        <p:xfrm>
          <a:off x="4143375" y="3357563"/>
          <a:ext cx="571500" cy="601662"/>
        </p:xfrm>
        <a:graphic>
          <a:graphicData uri="http://schemas.openxmlformats.org/presentationml/2006/ole">
            <mc:AlternateContent xmlns:mc="http://schemas.openxmlformats.org/markup-compatibility/2006">
              <mc:Choice xmlns:v="urn:schemas-microsoft-com:vml" Requires="v">
                <p:oleObj r:id="rId7" imgW="241300" imgH="254000" progId="Equation.3">
                  <p:embed/>
                </p:oleObj>
              </mc:Choice>
              <mc:Fallback>
                <p:oleObj r:id="rId7" imgW="241300" imgH="254000" progId="Equation.3">
                  <p:embed/>
                  <p:pic>
                    <p:nvPicPr>
                      <p:cNvPr id="49167" name="Object 15"/>
                      <p:cNvPicPr/>
                      <p:nvPr/>
                    </p:nvPicPr>
                    <p:blipFill>
                      <a:blip r:embed="rId8"/>
                      <a:stretch>
                        <a:fillRect/>
                      </a:stretch>
                    </p:blipFill>
                    <p:spPr>
                      <a:xfrm>
                        <a:off x="4143375" y="3357563"/>
                        <a:ext cx="571500" cy="601662"/>
                      </a:xfrm>
                      <a:prstGeom prst="rect">
                        <a:avLst/>
                      </a:prstGeom>
                      <a:noFill/>
                      <a:ln w="38100">
                        <a:noFill/>
                        <a:miter/>
                      </a:ln>
                    </p:spPr>
                  </p:pic>
                </p:oleObj>
              </mc:Fallback>
            </mc:AlternateContent>
          </a:graphicData>
        </a:graphic>
      </p:graphicFrame>
      <p:graphicFrame>
        <p:nvGraphicFramePr>
          <p:cNvPr id="49168" name="Object 16"/>
          <p:cNvGraphicFramePr>
            <a:graphicFrameLocks noChangeAspect="1"/>
          </p:cNvGraphicFramePr>
          <p:nvPr/>
        </p:nvGraphicFramePr>
        <p:xfrm>
          <a:off x="1116013" y="2492375"/>
          <a:ext cx="1970087" cy="512763"/>
        </p:xfrm>
        <a:graphic>
          <a:graphicData uri="http://schemas.openxmlformats.org/presentationml/2006/ole">
            <mc:AlternateContent xmlns:mc="http://schemas.openxmlformats.org/markup-compatibility/2006">
              <mc:Choice xmlns:v="urn:schemas-microsoft-com:vml" Requires="v">
                <p:oleObj r:id="rId9" imgW="977265" imgH="254000" progId="Equation.3">
                  <p:embed/>
                </p:oleObj>
              </mc:Choice>
              <mc:Fallback>
                <p:oleObj r:id="rId9" imgW="977265" imgH="254000" progId="Equation.3">
                  <p:embed/>
                  <p:pic>
                    <p:nvPicPr>
                      <p:cNvPr id="49168" name="Object 16"/>
                      <p:cNvPicPr/>
                      <p:nvPr/>
                    </p:nvPicPr>
                    <p:blipFill>
                      <a:blip r:embed="rId10"/>
                      <a:stretch>
                        <a:fillRect/>
                      </a:stretch>
                    </p:blipFill>
                    <p:spPr>
                      <a:xfrm>
                        <a:off x="1116013" y="2492375"/>
                        <a:ext cx="1970087" cy="512763"/>
                      </a:xfrm>
                      <a:prstGeom prst="rect">
                        <a:avLst/>
                      </a:prstGeom>
                      <a:noFill/>
                      <a:ln w="38100">
                        <a:noFill/>
                        <a:miter/>
                      </a:ln>
                    </p:spPr>
                  </p:pic>
                </p:oleObj>
              </mc:Fallback>
            </mc:AlternateContent>
          </a:graphicData>
        </a:graphic>
      </p:graphicFrame>
      <p:graphicFrame>
        <p:nvGraphicFramePr>
          <p:cNvPr id="49169" name="Object 17"/>
          <p:cNvGraphicFramePr>
            <a:graphicFrameLocks noChangeAspect="1"/>
          </p:cNvGraphicFramePr>
          <p:nvPr/>
        </p:nvGraphicFramePr>
        <p:xfrm>
          <a:off x="1857375" y="4429125"/>
          <a:ext cx="5689600" cy="1065213"/>
        </p:xfrm>
        <a:graphic>
          <a:graphicData uri="http://schemas.openxmlformats.org/presentationml/2006/ole">
            <mc:AlternateContent xmlns:mc="http://schemas.openxmlformats.org/markup-compatibility/2006">
              <mc:Choice xmlns:v="urn:schemas-microsoft-com:vml" Requires="v">
                <p:oleObj r:id="rId11" imgW="2717800" imgH="508000" progId="Equation.3">
                  <p:embed/>
                </p:oleObj>
              </mc:Choice>
              <mc:Fallback>
                <p:oleObj r:id="rId11" imgW="2717800" imgH="508000" progId="Equation.3">
                  <p:embed/>
                  <p:pic>
                    <p:nvPicPr>
                      <p:cNvPr id="49169" name="Object 17"/>
                      <p:cNvPicPr/>
                      <p:nvPr/>
                    </p:nvPicPr>
                    <p:blipFill>
                      <a:blip r:embed="rId12"/>
                      <a:stretch>
                        <a:fillRect/>
                      </a:stretch>
                    </p:blipFill>
                    <p:spPr>
                      <a:xfrm>
                        <a:off x="1857375" y="4429125"/>
                        <a:ext cx="5689600" cy="1065213"/>
                      </a:xfrm>
                      <a:prstGeom prst="rect">
                        <a:avLst/>
                      </a:prstGeom>
                      <a:noFill/>
                      <a:ln w="38100">
                        <a:noFill/>
                        <a:miter/>
                      </a:ln>
                    </p:spPr>
                  </p:pic>
                </p:oleObj>
              </mc:Fallback>
            </mc:AlternateContent>
          </a:graphicData>
        </a:graphic>
      </p:graphicFrame>
      <p:graphicFrame>
        <p:nvGraphicFramePr>
          <p:cNvPr id="2" name="Object 7"/>
          <p:cNvGraphicFramePr>
            <a:graphicFrameLocks noChangeAspect="1"/>
          </p:cNvGraphicFramePr>
          <p:nvPr/>
        </p:nvGraphicFramePr>
        <p:xfrm>
          <a:off x="7143750" y="3714750"/>
          <a:ext cx="542925" cy="571500"/>
        </p:xfrm>
        <a:graphic>
          <a:graphicData uri="http://schemas.openxmlformats.org/presentationml/2006/ole">
            <mc:AlternateContent xmlns:mc="http://schemas.openxmlformats.org/markup-compatibility/2006">
              <mc:Choice xmlns:v="urn:schemas-microsoft-com:vml" Requires="v">
                <p:oleObj r:id="rId13" imgW="241300" imgH="254000" progId="Equation.3">
                  <p:embed/>
                </p:oleObj>
              </mc:Choice>
              <mc:Fallback>
                <p:oleObj r:id="rId13" imgW="241300" imgH="254000" progId="Equation.3">
                  <p:embed/>
                  <p:pic>
                    <p:nvPicPr>
                      <p:cNvPr id="2" name="Object 7"/>
                      <p:cNvPicPr/>
                      <p:nvPr/>
                    </p:nvPicPr>
                    <p:blipFill>
                      <a:blip r:embed="rId8"/>
                      <a:stretch>
                        <a:fillRect/>
                      </a:stretch>
                    </p:blipFill>
                    <p:spPr>
                      <a:xfrm>
                        <a:off x="7143750" y="3714750"/>
                        <a:ext cx="542925" cy="5715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blinds(horizontal)">
                                      <p:cBhvr>
                                        <p:cTn id="7" dur="500"/>
                                        <p:tgtEl>
                                          <p:spTgt spid="4915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9161"/>
                                        </p:tgtEl>
                                        <p:attrNameLst>
                                          <p:attrName>style.visibility</p:attrName>
                                        </p:attrNameLst>
                                      </p:cBhvr>
                                      <p:to>
                                        <p:strVal val="visible"/>
                                      </p:to>
                                    </p:set>
                                    <p:animEffect transition="in" filter="blinds(horizontal)">
                                      <p:cBhvr>
                                        <p:cTn id="10" dur="500"/>
                                        <p:tgtEl>
                                          <p:spTgt spid="4916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9155">
                                            <p:txEl>
                                              <p:pRg st="3" end="3"/>
                                            </p:txEl>
                                          </p:spTgt>
                                        </p:tgtEl>
                                        <p:attrNameLst>
                                          <p:attrName>style.visibility</p:attrName>
                                        </p:attrNameLst>
                                      </p:cBhvr>
                                      <p:to>
                                        <p:strVal val="visible"/>
                                      </p:to>
                                    </p:set>
                                    <p:animEffect transition="in" filter="blinds(horizontal)">
                                      <p:cBhvr>
                                        <p:cTn id="15" dur="500"/>
                                        <p:tgtEl>
                                          <p:spTgt spid="4915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9168"/>
                                        </p:tgtEl>
                                        <p:attrNameLst>
                                          <p:attrName>style.visibility</p:attrName>
                                        </p:attrNameLst>
                                      </p:cBhvr>
                                      <p:to>
                                        <p:strVal val="visible"/>
                                      </p:to>
                                    </p:set>
                                    <p:animEffect transition="in" filter="blinds(horizontal)">
                                      <p:cBhvr>
                                        <p:cTn id="18" dur="500"/>
                                        <p:tgtEl>
                                          <p:spTgt spid="49168"/>
                                        </p:tgtEl>
                                      </p:cBhvr>
                                    </p:animEffect>
                                  </p:childTnLst>
                                </p:cTn>
                              </p:par>
                              <p:par>
                                <p:cTn id="19" presetID="3" presetClass="entr" presetSubtype="10" fill="hold" nodeType="withEffect">
                                  <p:stCondLst>
                                    <p:cond delay="0"/>
                                  </p:stCondLst>
                                  <p:childTnLst>
                                    <p:set>
                                      <p:cBhvr>
                                        <p:cTn id="20" dur="1" fill="hold">
                                          <p:stCondLst>
                                            <p:cond delay="0"/>
                                          </p:stCondLst>
                                        </p:cTn>
                                        <p:tgtEl>
                                          <p:spTgt spid="49166"/>
                                        </p:tgtEl>
                                        <p:attrNameLst>
                                          <p:attrName>style.visibility</p:attrName>
                                        </p:attrNameLst>
                                      </p:cBhvr>
                                      <p:to>
                                        <p:strVal val="visible"/>
                                      </p:to>
                                    </p:set>
                                    <p:animEffect transition="in" filter="blinds(horizontal)">
                                      <p:cBhvr>
                                        <p:cTn id="21" dur="500"/>
                                        <p:tgtEl>
                                          <p:spTgt spid="49166"/>
                                        </p:tgtEl>
                                      </p:cBhvr>
                                    </p:animEffect>
                                  </p:childTnLst>
                                </p:cTn>
                              </p:par>
                              <p:par>
                                <p:cTn id="22" presetID="3" presetClass="entr" presetSubtype="10" fill="hold" nodeType="withEffect">
                                  <p:stCondLst>
                                    <p:cond delay="0"/>
                                  </p:stCondLst>
                                  <p:childTnLst>
                                    <p:set>
                                      <p:cBhvr>
                                        <p:cTn id="23" dur="1" fill="hold">
                                          <p:stCondLst>
                                            <p:cond delay="0"/>
                                          </p:stCondLst>
                                        </p:cTn>
                                        <p:tgtEl>
                                          <p:spTgt spid="49167"/>
                                        </p:tgtEl>
                                        <p:attrNameLst>
                                          <p:attrName>style.visibility</p:attrName>
                                        </p:attrNameLst>
                                      </p:cBhvr>
                                      <p:to>
                                        <p:strVal val="visible"/>
                                      </p:to>
                                    </p:set>
                                    <p:animEffect transition="in" filter="blinds(horizontal)">
                                      <p:cBhvr>
                                        <p:cTn id="24" dur="500"/>
                                        <p:tgtEl>
                                          <p:spTgt spid="4916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9169"/>
                                        </p:tgtEl>
                                        <p:attrNameLst>
                                          <p:attrName>style.visibility</p:attrName>
                                        </p:attrNameLst>
                                      </p:cBhvr>
                                      <p:to>
                                        <p:strVal val="visible"/>
                                      </p:to>
                                    </p:set>
                                    <p:anim calcmode="lin" valueType="num">
                                      <p:cBhvr additive="base">
                                        <p:cTn id="29" dur="500" fill="hold"/>
                                        <p:tgtEl>
                                          <p:spTgt spid="49169"/>
                                        </p:tgtEl>
                                        <p:attrNameLst>
                                          <p:attrName>ppt_x</p:attrName>
                                        </p:attrNameLst>
                                      </p:cBhvr>
                                      <p:tavLst>
                                        <p:tav tm="0">
                                          <p:val>
                                            <p:strVal val="#ppt_x"/>
                                          </p:val>
                                        </p:tav>
                                        <p:tav tm="100000">
                                          <p:val>
                                            <p:strVal val="#ppt_x"/>
                                          </p:val>
                                        </p:tav>
                                      </p:tavLst>
                                    </p:anim>
                                    <p:anim calcmode="lin" valueType="num">
                                      <p:cBhvr additive="base">
                                        <p:cTn id="30" dur="500" fill="hold"/>
                                        <p:tgtEl>
                                          <p:spTgt spid="49169"/>
                                        </p:tgtEl>
                                        <p:attrNameLst>
                                          <p:attrName>ppt_y</p:attrName>
                                        </p:attrNameLst>
                                      </p:cBhvr>
                                      <p:tavLst>
                                        <p:tav tm="0">
                                          <p:val>
                                            <p:strVal val="1+#ppt_h/2"/>
                                          </p:val>
                                        </p:tav>
                                        <p:tav tm="100000">
                                          <p:val>
                                            <p:strVal val="#ppt_y"/>
                                          </p:val>
                                        </p:tav>
                                      </p:tavLst>
                                    </p:anim>
                                  </p:childTnLst>
                                </p:cTn>
                              </p:par>
                              <p:par>
                                <p:cTn id="31" presetID="3" presetClass="entr" presetSubtype="1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87043"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7044"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50</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87045"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4.3.1 </a:t>
            </a:r>
            <a:r>
              <a:rPr lang="zh-CN" altLang="en-US" dirty="0">
                <a:latin typeface="+mj-ea"/>
              </a:rPr>
              <a:t>所有点对最短路径问题</a:t>
            </a:r>
            <a:r>
              <a:rPr lang="en-US" altLang="zh-CN" dirty="0">
                <a:latin typeface="+mj-ea"/>
              </a:rPr>
              <a:t>—Floyd</a:t>
            </a:r>
            <a:r>
              <a:rPr lang="zh-CN" altLang="en-US" dirty="0">
                <a:latin typeface="+mj-ea"/>
              </a:rPr>
              <a:t>算法</a:t>
            </a:r>
            <a:endParaRPr lang="en-US" altLang="zh-CN" dirty="0">
              <a:latin typeface="+mj-ea"/>
            </a:endParaRPr>
          </a:p>
        </p:txBody>
      </p:sp>
      <p:sp>
        <p:nvSpPr>
          <p:cNvPr id="2" name="Rectangle 3"/>
          <p:cNvSpPr>
            <a:spLocks noGrp="1"/>
          </p:cNvSpPr>
          <p:nvPr>
            <p:ph idx="1"/>
          </p:nvPr>
        </p:nvSpPr>
        <p:spPr/>
        <p:txBody>
          <a:bodyPr vert="horz" wrap="square" lIns="91440" tIns="45720" rIns="91440" bIns="45720" anchor="t" anchorCtr="0"/>
          <a:lstStyle/>
          <a:p>
            <a:pPr eaLnBrk="1" hangingPunct="1"/>
            <a:r>
              <a:rPr lang="zh-CN" altLang="en-US" dirty="0"/>
              <a:t>下面是</a:t>
            </a:r>
            <a:r>
              <a:rPr lang="en-US" altLang="zh-CN" dirty="0">
                <a:solidFill>
                  <a:srgbClr val="FF0000"/>
                </a:solidFill>
              </a:rPr>
              <a:t>Floyd</a:t>
            </a:r>
            <a:r>
              <a:rPr lang="zh-CN" altLang="en-US" dirty="0"/>
              <a:t>设计出的算法，用自底向上地解上面的递推式的方法来处理。</a:t>
            </a:r>
            <a:endParaRPr lang="en-US" altLang="zh-CN" dirty="0"/>
          </a:p>
          <a:p>
            <a:pPr eaLnBrk="1" hangingPunct="1"/>
            <a:r>
              <a:rPr lang="zh-CN" altLang="en-US" dirty="0"/>
              <a:t>它用</a:t>
            </a:r>
            <a:r>
              <a:rPr lang="en-US" altLang="zh-CN" dirty="0"/>
              <a:t>n+l</a:t>
            </a:r>
            <a:r>
              <a:rPr lang="zh-CN" altLang="en-US" dirty="0"/>
              <a:t>个</a:t>
            </a:r>
            <a:r>
              <a:rPr lang="en-US" altLang="zh-CN" dirty="0"/>
              <a:t>nx n</a:t>
            </a:r>
            <a:r>
              <a:rPr lang="zh-CN" altLang="en-US" dirty="0"/>
              <a:t>维矩阵</a:t>
            </a:r>
            <a:r>
              <a:rPr lang="en-US" altLang="zh-CN" i="1" dirty="0"/>
              <a:t>D</a:t>
            </a:r>
            <a:r>
              <a:rPr lang="en-US" altLang="zh-CN" i="1" baseline="-25000" dirty="0"/>
              <a:t>0</a:t>
            </a:r>
            <a:r>
              <a:rPr lang="en-US" altLang="zh-CN" i="1" dirty="0"/>
              <a:t>, D</a:t>
            </a:r>
            <a:r>
              <a:rPr lang="en-US" altLang="zh-CN" i="1" baseline="-25000" dirty="0"/>
              <a:t>1</a:t>
            </a:r>
            <a:r>
              <a:rPr lang="en-US" altLang="zh-CN" i="1" dirty="0"/>
              <a:t>,. . . , D</a:t>
            </a:r>
            <a:r>
              <a:rPr lang="en-US" altLang="zh-CN" i="1" baseline="-25000" dirty="0"/>
              <a:t>n</a:t>
            </a:r>
            <a:r>
              <a:rPr lang="zh-CN" altLang="en-US" dirty="0"/>
              <a:t>来计算最短约束路径的长度。</a:t>
            </a:r>
            <a:endParaRPr lang="en-US" altLang="zh-CN" sz="1800" dirty="0"/>
          </a:p>
          <a:p>
            <a:pPr eaLnBrk="1" hangingPunct="1"/>
            <a:r>
              <a:rPr lang="zh-CN" altLang="en-US" dirty="0"/>
              <a:t>开始时，如果</a:t>
            </a:r>
            <a:r>
              <a:rPr lang="en-US" altLang="zh-CN" i="1" dirty="0"/>
              <a:t>i </a:t>
            </a:r>
            <a:r>
              <a:rPr lang="en-US" altLang="zh-CN" i="1" dirty="0">
                <a:cs typeface="Arial" panose="020B0604020202020204" pitchFamily="34" charset="0"/>
              </a:rPr>
              <a:t>≠</a:t>
            </a:r>
            <a:r>
              <a:rPr lang="en-US" altLang="zh-CN" i="1" dirty="0"/>
              <a:t>j</a:t>
            </a:r>
            <a:r>
              <a:rPr lang="zh-CN" altLang="en-US" dirty="0"/>
              <a:t>并且</a:t>
            </a:r>
            <a:r>
              <a:rPr lang="en-US" altLang="zh-CN" dirty="0"/>
              <a:t>(i,j)</a:t>
            </a:r>
            <a:r>
              <a:rPr lang="zh-CN" altLang="en-US" dirty="0"/>
              <a:t>是</a:t>
            </a:r>
            <a:r>
              <a:rPr lang="en-US" altLang="zh-CN" dirty="0"/>
              <a:t>G</a:t>
            </a:r>
            <a:r>
              <a:rPr lang="zh-CN" altLang="en-US" dirty="0"/>
              <a:t>中的边，则置</a:t>
            </a:r>
            <a:r>
              <a:rPr lang="en-US" altLang="zh-CN" dirty="0"/>
              <a:t>D</a:t>
            </a:r>
            <a:r>
              <a:rPr lang="en-US" altLang="zh-CN" baseline="-25000" dirty="0"/>
              <a:t>0</a:t>
            </a:r>
            <a:r>
              <a:rPr lang="en-US" altLang="zh-CN" dirty="0"/>
              <a:t>[i,i] = 0 </a:t>
            </a:r>
            <a:r>
              <a:rPr lang="zh-CN" altLang="en-US" dirty="0"/>
              <a:t>，</a:t>
            </a:r>
            <a:r>
              <a:rPr lang="en-US" altLang="zh-CN" dirty="0"/>
              <a:t> D</a:t>
            </a:r>
            <a:r>
              <a:rPr lang="en-US" altLang="zh-CN" baseline="-25000" dirty="0"/>
              <a:t>0</a:t>
            </a:r>
            <a:r>
              <a:rPr lang="en-US" altLang="zh-CN" dirty="0"/>
              <a:t>[i,j]=l[i,j] </a:t>
            </a:r>
            <a:r>
              <a:rPr lang="zh-CN" altLang="en-US" dirty="0"/>
              <a:t>；否则置</a:t>
            </a:r>
            <a:r>
              <a:rPr lang="en-US" altLang="zh-CN" dirty="0"/>
              <a:t>D</a:t>
            </a:r>
            <a:r>
              <a:rPr lang="en-US" altLang="zh-CN" baseline="-25000" dirty="0"/>
              <a:t>0</a:t>
            </a:r>
            <a:r>
              <a:rPr lang="en-US" altLang="zh-CN" dirty="0"/>
              <a:t>[i,j] = </a:t>
            </a:r>
            <a:r>
              <a:rPr lang="en-US" altLang="en-US" dirty="0"/>
              <a:t>∞ </a:t>
            </a:r>
            <a:r>
              <a:rPr lang="zh-CN" altLang="en-US" dirty="0"/>
              <a:t>。</a:t>
            </a:r>
            <a:endParaRPr lang="en-US" altLang="zh-CN" dirty="0"/>
          </a:p>
          <a:p>
            <a:pPr eaLnBrk="1" hangingPunct="1"/>
            <a:r>
              <a:rPr lang="zh-CN" altLang="en-US" dirty="0"/>
              <a:t>然后做</a:t>
            </a:r>
            <a:r>
              <a:rPr lang="en-US" altLang="zh-CN" dirty="0"/>
              <a:t>n</a:t>
            </a:r>
            <a:r>
              <a:rPr lang="zh-CN" altLang="en-US" dirty="0"/>
              <a:t>次迭代，使在第</a:t>
            </a:r>
            <a:r>
              <a:rPr lang="en-US" altLang="zh-CN" dirty="0"/>
              <a:t>k</a:t>
            </a:r>
            <a:r>
              <a:rPr lang="zh-CN" altLang="en-US" dirty="0"/>
              <a:t>次迭代后，</a:t>
            </a:r>
            <a:r>
              <a:rPr lang="en-US" altLang="zh-CN" dirty="0"/>
              <a:t> D</a:t>
            </a:r>
            <a:r>
              <a:rPr lang="en-US" altLang="zh-CN" baseline="-25000" dirty="0"/>
              <a:t>k</a:t>
            </a:r>
            <a:r>
              <a:rPr lang="en-US" altLang="zh-CN" dirty="0"/>
              <a:t>[i,j]</a:t>
            </a:r>
            <a:r>
              <a:rPr lang="zh-CN" altLang="en-US" dirty="0"/>
              <a:t>含有从顶点</a:t>
            </a:r>
            <a:r>
              <a:rPr lang="en-US" altLang="zh-CN" dirty="0"/>
              <a:t>i</a:t>
            </a:r>
            <a:r>
              <a:rPr lang="zh-CN" altLang="en-US" dirty="0"/>
              <a:t>到顶点</a:t>
            </a:r>
            <a:r>
              <a:rPr lang="en-US" altLang="zh-CN" dirty="0"/>
              <a:t>j</a:t>
            </a:r>
            <a:r>
              <a:rPr lang="zh-CN" altLang="en-US" dirty="0"/>
              <a:t>，且不经过编号大于</a:t>
            </a:r>
            <a:r>
              <a:rPr lang="en-US" altLang="zh-CN" dirty="0"/>
              <a:t>k</a:t>
            </a:r>
            <a:r>
              <a:rPr lang="zh-CN" altLang="en-US" dirty="0"/>
              <a:t>的任何顶点的最短路径的长度。</a:t>
            </a:r>
            <a:endParaRPr lang="en-US" altLang="zh-CN" dirty="0"/>
          </a:p>
          <a:p>
            <a:pPr eaLnBrk="1" hangingPunct="1"/>
            <a:r>
              <a:rPr lang="zh-CN" altLang="en-US" dirty="0"/>
              <a:t>这样在第</a:t>
            </a:r>
            <a:r>
              <a:rPr lang="en-US" altLang="zh-CN" dirty="0"/>
              <a:t>k</a:t>
            </a:r>
            <a:r>
              <a:rPr lang="zh-CN" altLang="en-US" dirty="0"/>
              <a:t>次迭代中，可以用公式计算</a:t>
            </a:r>
            <a:r>
              <a:rPr lang="en-US" altLang="zh-CN" dirty="0"/>
              <a:t>D</a:t>
            </a:r>
            <a:r>
              <a:rPr lang="en-US" altLang="zh-CN" baseline="-25000" dirty="0"/>
              <a:t>k</a:t>
            </a:r>
            <a:r>
              <a:rPr lang="en-US" altLang="zh-CN" dirty="0"/>
              <a:t>[i,j]</a:t>
            </a:r>
            <a:r>
              <a:rPr lang="zh-CN" altLang="en-US" dirty="0"/>
              <a:t>：</a:t>
            </a:r>
            <a:endParaRPr lang="en-US" altLang="zh-CN" dirty="0"/>
          </a:p>
          <a:p>
            <a:pPr eaLnBrk="1" hangingPunct="1"/>
            <a:endParaRPr lang="en-US" altLang="zh-CN" dirty="0"/>
          </a:p>
        </p:txBody>
      </p:sp>
      <p:pic>
        <p:nvPicPr>
          <p:cNvPr id="50183" name="Picture 7"/>
          <p:cNvPicPr>
            <a:picLocks noChangeAspect="1"/>
          </p:cNvPicPr>
          <p:nvPr/>
        </p:nvPicPr>
        <p:blipFill>
          <a:blip r:embed="rId3"/>
          <a:stretch>
            <a:fillRect/>
          </a:stretch>
        </p:blipFill>
        <p:spPr>
          <a:xfrm>
            <a:off x="2143125" y="5357813"/>
            <a:ext cx="4648200" cy="342900"/>
          </a:xfrm>
          <a:prstGeom prst="rect">
            <a:avLst/>
          </a:prstGeom>
          <a:noFill/>
          <a:ln w="254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0183"/>
                                        </p:tgtEl>
                                        <p:attrNameLst>
                                          <p:attrName>style.visibility</p:attrName>
                                        </p:attrNameLst>
                                      </p:cBhvr>
                                      <p:to>
                                        <p:strVal val="visible"/>
                                      </p:to>
                                    </p:set>
                                    <p:anim calcmode="lin" valueType="num">
                                      <p:cBhvr additive="base">
                                        <p:cTn id="37" dur="500" fill="hold"/>
                                        <p:tgtEl>
                                          <p:spTgt spid="50183"/>
                                        </p:tgtEl>
                                        <p:attrNameLst>
                                          <p:attrName>ppt_x</p:attrName>
                                        </p:attrNameLst>
                                      </p:cBhvr>
                                      <p:tavLst>
                                        <p:tav tm="0">
                                          <p:val>
                                            <p:strVal val="#ppt_x"/>
                                          </p:val>
                                        </p:tav>
                                        <p:tav tm="100000">
                                          <p:val>
                                            <p:strVal val="#ppt_x"/>
                                          </p:val>
                                        </p:tav>
                                      </p:tavLst>
                                    </p:anim>
                                    <p:anim calcmode="lin" valueType="num">
                                      <p:cBhvr additive="base">
                                        <p:cTn id="38" dur="500" fill="hold"/>
                                        <p:tgtEl>
                                          <p:spTgt spid="501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4"/>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89091" name="页脚占位符 5"/>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89092" name="灯片编号占位符 6"/>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51</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89093"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4.3.1 </a:t>
            </a:r>
            <a:r>
              <a:rPr lang="zh-CN" altLang="en-US" dirty="0">
                <a:latin typeface="+mj-ea"/>
              </a:rPr>
              <a:t>所有点对最短路径问题</a:t>
            </a:r>
            <a:r>
              <a:rPr lang="en-US" altLang="zh-CN" dirty="0">
                <a:latin typeface="+mj-ea"/>
              </a:rPr>
              <a:t>—</a:t>
            </a:r>
            <a:r>
              <a:rPr lang="zh-CN" altLang="en-US" dirty="0">
                <a:latin typeface="+mj-ea"/>
              </a:rPr>
              <a:t>例子</a:t>
            </a:r>
            <a:endParaRPr lang="en-US" altLang="zh-CN" dirty="0">
              <a:latin typeface="+mj-ea"/>
            </a:endParaRPr>
          </a:p>
        </p:txBody>
      </p:sp>
      <p:sp>
        <p:nvSpPr>
          <p:cNvPr id="51203" name="Rectangle 3"/>
          <p:cNvSpPr>
            <a:spLocks noGrp="1"/>
          </p:cNvSpPr>
          <p:nvPr>
            <p:ph type="body" sz="half" idx="1"/>
          </p:nvPr>
        </p:nvSpPr>
        <p:spPr>
          <a:xfrm>
            <a:off x="852488" y="1196975"/>
            <a:ext cx="4224337" cy="792163"/>
          </a:xfrm>
        </p:spPr>
        <p:txBody>
          <a:bodyPr vert="horz" wrap="square" lIns="91440" tIns="45720" rIns="91440" bIns="45720" anchor="t" anchorCtr="0"/>
          <a:lstStyle/>
          <a:p>
            <a:pPr eaLnBrk="1" hangingPunct="1">
              <a:buClrTx/>
              <a:buSzTx/>
              <a:buFontTx/>
              <a:buNone/>
            </a:pPr>
            <a:r>
              <a:rPr lang="zh-CN" altLang="en-US" dirty="0"/>
              <a:t>考虑图</a:t>
            </a:r>
            <a:r>
              <a:rPr lang="en-US" altLang="zh-CN" dirty="0"/>
              <a:t>7.4</a:t>
            </a:r>
            <a:r>
              <a:rPr lang="zh-CN" altLang="en-US" dirty="0"/>
              <a:t>所示的有向图</a:t>
            </a:r>
          </a:p>
          <a:p>
            <a:pPr eaLnBrk="1" hangingPunct="1">
              <a:buClrTx/>
              <a:buSzTx/>
              <a:buFontTx/>
              <a:buNone/>
            </a:pPr>
            <a:endParaRPr lang="en-US" altLang="zh-CN" dirty="0"/>
          </a:p>
        </p:txBody>
      </p:sp>
      <p:graphicFrame>
        <p:nvGraphicFramePr>
          <p:cNvPr id="51206" name="Object 6"/>
          <p:cNvGraphicFramePr>
            <a:graphicFrameLocks noGrp="1" noChangeAspect="1"/>
          </p:cNvGraphicFramePr>
          <p:nvPr>
            <p:ph sz="half" idx="2"/>
          </p:nvPr>
        </p:nvGraphicFramePr>
        <p:xfrm>
          <a:off x="4211638" y="2781300"/>
          <a:ext cx="3959225" cy="2655888"/>
        </p:xfrm>
        <a:graphic>
          <a:graphicData uri="http://schemas.openxmlformats.org/presentationml/2006/ole">
            <mc:AlternateContent xmlns:mc="http://schemas.openxmlformats.org/markup-compatibility/2006">
              <mc:Choice xmlns:v="urn:schemas-microsoft-com:vml" Requires="v">
                <p:oleObj r:id="rId3" imgW="2120900" imgH="1422400" progId="Equation.3">
                  <p:embed/>
                </p:oleObj>
              </mc:Choice>
              <mc:Fallback>
                <p:oleObj r:id="rId3" imgW="2120900" imgH="1422400" progId="Equation.3">
                  <p:embed/>
                  <p:pic>
                    <p:nvPicPr>
                      <p:cNvPr id="51206" name="Object 6"/>
                      <p:cNvPicPr/>
                      <p:nvPr/>
                    </p:nvPicPr>
                    <p:blipFill>
                      <a:blip r:embed="rId4"/>
                      <a:srcRect/>
                      <a:stretch>
                        <a:fillRect/>
                      </a:stretch>
                    </p:blipFill>
                    <p:spPr>
                      <a:xfrm>
                        <a:off x="4211638" y="2781300"/>
                        <a:ext cx="3959225" cy="2655888"/>
                      </a:xfrm>
                      <a:prstGeom prst="rect">
                        <a:avLst/>
                      </a:prstGeom>
                      <a:noFill/>
                      <a:ln w="38100">
                        <a:miter/>
                      </a:ln>
                    </p:spPr>
                  </p:pic>
                </p:oleObj>
              </mc:Fallback>
            </mc:AlternateContent>
          </a:graphicData>
        </a:graphic>
      </p:graphicFrame>
      <p:sp>
        <p:nvSpPr>
          <p:cNvPr id="51208" name="Oval 8"/>
          <p:cNvSpPr/>
          <p:nvPr/>
        </p:nvSpPr>
        <p:spPr>
          <a:xfrm>
            <a:off x="2195513" y="1771650"/>
            <a:ext cx="576262" cy="576263"/>
          </a:xfrm>
          <a:prstGeom prst="ellipse">
            <a:avLst/>
          </a:prstGeom>
          <a:noFill/>
          <a:ln w="25400" cap="flat" cmpd="sng">
            <a:solidFill>
              <a:schemeClr val="tx1"/>
            </a:solidFill>
            <a:prstDash val="solid"/>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b="1" dirty="0">
              <a:solidFill>
                <a:schemeClr val="tx1"/>
              </a:solidFill>
              <a:latin typeface="Arial" panose="020B0604020202020204" pitchFamily="34" charset="0"/>
              <a:ea typeface="宋体" panose="02010600030101010101" pitchFamily="2" charset="-122"/>
            </a:endParaRPr>
          </a:p>
        </p:txBody>
      </p:sp>
      <p:sp>
        <p:nvSpPr>
          <p:cNvPr id="51209" name="Oval 9"/>
          <p:cNvSpPr/>
          <p:nvPr/>
        </p:nvSpPr>
        <p:spPr>
          <a:xfrm>
            <a:off x="2987675" y="3140075"/>
            <a:ext cx="576263" cy="576263"/>
          </a:xfrm>
          <a:prstGeom prst="ellipse">
            <a:avLst/>
          </a:prstGeom>
          <a:noFill/>
          <a:ln w="25400" cap="flat" cmpd="sng">
            <a:solidFill>
              <a:schemeClr val="tx1"/>
            </a:solidFill>
            <a:prstDash val="solid"/>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b="1" dirty="0">
              <a:solidFill>
                <a:schemeClr val="tx1"/>
              </a:solidFill>
              <a:latin typeface="Arial" panose="020B0604020202020204" pitchFamily="34" charset="0"/>
              <a:ea typeface="宋体" panose="02010600030101010101" pitchFamily="2" charset="-122"/>
            </a:endParaRPr>
          </a:p>
        </p:txBody>
      </p:sp>
      <p:sp>
        <p:nvSpPr>
          <p:cNvPr id="51210" name="Oval 10"/>
          <p:cNvSpPr/>
          <p:nvPr/>
        </p:nvSpPr>
        <p:spPr>
          <a:xfrm>
            <a:off x="1547813" y="3140075"/>
            <a:ext cx="576262" cy="576263"/>
          </a:xfrm>
          <a:prstGeom prst="ellipse">
            <a:avLst/>
          </a:prstGeom>
          <a:noFill/>
          <a:ln w="25400" cap="flat" cmpd="sng">
            <a:solidFill>
              <a:schemeClr val="tx1"/>
            </a:solidFill>
            <a:prstDash val="solid"/>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en-US" sz="1800" b="1" dirty="0">
              <a:solidFill>
                <a:schemeClr val="tx1"/>
              </a:solidFill>
              <a:latin typeface="Arial" panose="020B0604020202020204" pitchFamily="34" charset="0"/>
              <a:ea typeface="宋体" panose="02010600030101010101" pitchFamily="2" charset="-122"/>
            </a:endParaRPr>
          </a:p>
        </p:txBody>
      </p:sp>
      <p:sp>
        <p:nvSpPr>
          <p:cNvPr id="51211" name="Line 11"/>
          <p:cNvSpPr/>
          <p:nvPr/>
        </p:nvSpPr>
        <p:spPr>
          <a:xfrm flipH="1">
            <a:off x="1690688" y="2058988"/>
            <a:ext cx="504825" cy="1081087"/>
          </a:xfrm>
          <a:prstGeom prst="line">
            <a:avLst/>
          </a:prstGeom>
          <a:ln w="25400" cap="flat" cmpd="sng">
            <a:solidFill>
              <a:schemeClr val="tx1"/>
            </a:solidFill>
            <a:prstDash val="solid"/>
            <a:headEnd type="none" w="med" len="med"/>
            <a:tailEnd type="triangle" w="med" len="med"/>
          </a:ln>
        </p:spPr>
      </p:sp>
      <p:sp>
        <p:nvSpPr>
          <p:cNvPr id="51212" name="Line 12"/>
          <p:cNvSpPr/>
          <p:nvPr/>
        </p:nvSpPr>
        <p:spPr>
          <a:xfrm flipV="1">
            <a:off x="1906588" y="2274888"/>
            <a:ext cx="360362" cy="865187"/>
          </a:xfrm>
          <a:prstGeom prst="line">
            <a:avLst/>
          </a:prstGeom>
          <a:ln w="25400" cap="flat" cmpd="sng">
            <a:solidFill>
              <a:schemeClr val="tx1"/>
            </a:solidFill>
            <a:prstDash val="solid"/>
            <a:headEnd type="none" w="med" len="med"/>
            <a:tailEnd type="triangle" w="med" len="med"/>
          </a:ln>
        </p:spPr>
      </p:sp>
      <p:sp>
        <p:nvSpPr>
          <p:cNvPr id="51213" name="Line 13"/>
          <p:cNvSpPr/>
          <p:nvPr/>
        </p:nvSpPr>
        <p:spPr>
          <a:xfrm>
            <a:off x="2627313" y="2347913"/>
            <a:ext cx="503237" cy="792162"/>
          </a:xfrm>
          <a:prstGeom prst="line">
            <a:avLst/>
          </a:prstGeom>
          <a:ln w="25400" cap="flat" cmpd="sng">
            <a:solidFill>
              <a:schemeClr val="tx1"/>
            </a:solidFill>
            <a:prstDash val="solid"/>
            <a:headEnd type="none" w="med" len="med"/>
            <a:tailEnd type="triangle" w="med" len="med"/>
          </a:ln>
        </p:spPr>
      </p:sp>
      <p:sp>
        <p:nvSpPr>
          <p:cNvPr id="51214" name="Line 14"/>
          <p:cNvSpPr/>
          <p:nvPr/>
        </p:nvSpPr>
        <p:spPr>
          <a:xfrm flipH="1" flipV="1">
            <a:off x="2698750" y="2203450"/>
            <a:ext cx="576263" cy="936625"/>
          </a:xfrm>
          <a:prstGeom prst="line">
            <a:avLst/>
          </a:prstGeom>
          <a:ln w="25400" cap="flat" cmpd="sng">
            <a:solidFill>
              <a:schemeClr val="tx1"/>
            </a:solidFill>
            <a:prstDash val="solid"/>
            <a:headEnd type="none" w="med" len="med"/>
            <a:tailEnd type="triangle" w="med" len="med"/>
          </a:ln>
        </p:spPr>
      </p:sp>
      <p:sp>
        <p:nvSpPr>
          <p:cNvPr id="51215" name="Line 15"/>
          <p:cNvSpPr/>
          <p:nvPr/>
        </p:nvSpPr>
        <p:spPr>
          <a:xfrm>
            <a:off x="2122488" y="3500438"/>
            <a:ext cx="865187" cy="0"/>
          </a:xfrm>
          <a:prstGeom prst="line">
            <a:avLst/>
          </a:prstGeom>
          <a:ln w="25400" cap="flat" cmpd="sng">
            <a:solidFill>
              <a:schemeClr val="tx1"/>
            </a:solidFill>
            <a:prstDash val="solid"/>
            <a:headEnd type="none" w="med" len="med"/>
            <a:tailEnd type="triangle" w="med" len="med"/>
          </a:ln>
        </p:spPr>
      </p:sp>
      <p:sp>
        <p:nvSpPr>
          <p:cNvPr id="51216" name="Text Box 16"/>
          <p:cNvSpPr txBox="1"/>
          <p:nvPr/>
        </p:nvSpPr>
        <p:spPr>
          <a:xfrm>
            <a:off x="2266950" y="1771650"/>
            <a:ext cx="395288"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rgbClr val="FF3300"/>
                </a:solidFill>
                <a:latin typeface="Arial" panose="020B0604020202020204" pitchFamily="34" charset="0"/>
                <a:ea typeface="宋体" panose="02010600030101010101" pitchFamily="2" charset="-122"/>
              </a:rPr>
              <a:t>1</a:t>
            </a:r>
          </a:p>
        </p:txBody>
      </p:sp>
      <p:sp>
        <p:nvSpPr>
          <p:cNvPr id="51218" name="Text Box 18"/>
          <p:cNvSpPr txBox="1"/>
          <p:nvPr/>
        </p:nvSpPr>
        <p:spPr>
          <a:xfrm>
            <a:off x="1598613" y="3155950"/>
            <a:ext cx="395287"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rgbClr val="FF3300"/>
                </a:solidFill>
                <a:latin typeface="Arial" panose="020B0604020202020204" pitchFamily="34" charset="0"/>
                <a:ea typeface="宋体" panose="02010600030101010101" pitchFamily="2" charset="-122"/>
              </a:rPr>
              <a:t>2</a:t>
            </a:r>
          </a:p>
        </p:txBody>
      </p:sp>
      <p:sp>
        <p:nvSpPr>
          <p:cNvPr id="51219" name="Text Box 19"/>
          <p:cNvSpPr txBox="1"/>
          <p:nvPr/>
        </p:nvSpPr>
        <p:spPr>
          <a:xfrm>
            <a:off x="3111500" y="3155950"/>
            <a:ext cx="395288"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rgbClr val="FF3300"/>
                </a:solidFill>
                <a:latin typeface="Arial" panose="020B0604020202020204" pitchFamily="34" charset="0"/>
                <a:ea typeface="宋体" panose="02010600030101010101" pitchFamily="2" charset="-122"/>
              </a:rPr>
              <a:t>3</a:t>
            </a:r>
          </a:p>
        </p:txBody>
      </p:sp>
      <p:sp>
        <p:nvSpPr>
          <p:cNvPr id="51221" name="Text Box 21"/>
          <p:cNvSpPr txBox="1"/>
          <p:nvPr/>
        </p:nvSpPr>
        <p:spPr>
          <a:xfrm>
            <a:off x="1671638" y="2219325"/>
            <a:ext cx="395287"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chemeClr val="tx1"/>
                </a:solidFill>
                <a:latin typeface="Arial" panose="020B0604020202020204" pitchFamily="34" charset="0"/>
                <a:ea typeface="宋体" panose="02010600030101010101" pitchFamily="2" charset="-122"/>
              </a:rPr>
              <a:t>2</a:t>
            </a:r>
          </a:p>
        </p:txBody>
      </p:sp>
      <p:sp>
        <p:nvSpPr>
          <p:cNvPr id="51222" name="Text Box 22"/>
          <p:cNvSpPr txBox="1"/>
          <p:nvPr/>
        </p:nvSpPr>
        <p:spPr>
          <a:xfrm>
            <a:off x="2030413" y="2508250"/>
            <a:ext cx="395287"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chemeClr val="tx1"/>
                </a:solidFill>
                <a:latin typeface="Arial" panose="020B0604020202020204" pitchFamily="34" charset="0"/>
                <a:ea typeface="宋体" panose="02010600030101010101" pitchFamily="2" charset="-122"/>
              </a:rPr>
              <a:t>8</a:t>
            </a:r>
          </a:p>
        </p:txBody>
      </p:sp>
      <p:sp>
        <p:nvSpPr>
          <p:cNvPr id="51223" name="Text Box 23"/>
          <p:cNvSpPr txBox="1"/>
          <p:nvPr/>
        </p:nvSpPr>
        <p:spPr>
          <a:xfrm>
            <a:off x="2319338" y="3011488"/>
            <a:ext cx="395287"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chemeClr val="tx1"/>
                </a:solidFill>
                <a:latin typeface="Arial" panose="020B0604020202020204" pitchFamily="34" charset="0"/>
                <a:ea typeface="宋体" panose="02010600030101010101" pitchFamily="2" charset="-122"/>
              </a:rPr>
              <a:t>6</a:t>
            </a:r>
          </a:p>
        </p:txBody>
      </p:sp>
      <p:sp>
        <p:nvSpPr>
          <p:cNvPr id="51225" name="Text Box 25"/>
          <p:cNvSpPr txBox="1"/>
          <p:nvPr/>
        </p:nvSpPr>
        <p:spPr>
          <a:xfrm>
            <a:off x="2520950" y="2446338"/>
            <a:ext cx="395288"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chemeClr val="tx1"/>
                </a:solidFill>
                <a:latin typeface="Arial" panose="020B0604020202020204" pitchFamily="34" charset="0"/>
                <a:ea typeface="宋体" panose="02010600030101010101" pitchFamily="2" charset="-122"/>
              </a:rPr>
              <a:t>9</a:t>
            </a:r>
          </a:p>
        </p:txBody>
      </p:sp>
      <p:sp>
        <p:nvSpPr>
          <p:cNvPr id="51226" name="Text Box 26"/>
          <p:cNvSpPr txBox="1"/>
          <p:nvPr/>
        </p:nvSpPr>
        <p:spPr>
          <a:xfrm>
            <a:off x="3038475" y="2363788"/>
            <a:ext cx="395288" cy="5492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3000" dirty="0">
                <a:solidFill>
                  <a:schemeClr val="tx1"/>
                </a:solidFill>
                <a:latin typeface="Arial" panose="020B0604020202020204" pitchFamily="34" charset="0"/>
                <a:ea typeface="宋体" panose="02010600030101010101" pitchFamily="2" charset="-122"/>
              </a:rPr>
              <a:t>1</a:t>
            </a:r>
          </a:p>
        </p:txBody>
      </p:sp>
      <p:sp>
        <p:nvSpPr>
          <p:cNvPr id="51231" name="Text Box 31"/>
          <p:cNvSpPr txBox="1"/>
          <p:nvPr/>
        </p:nvSpPr>
        <p:spPr>
          <a:xfrm>
            <a:off x="827088" y="3860800"/>
            <a:ext cx="2084387" cy="904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buNone/>
            </a:pPr>
            <a:r>
              <a:rPr lang="zh-CN" altLang="en-US" dirty="0">
                <a:ea typeface="宋体" panose="02010600030101010101" pitchFamily="2" charset="-122"/>
              </a:rPr>
              <a:t>矩阵</a:t>
            </a:r>
            <a:r>
              <a:rPr lang="en-US" altLang="zh-CN" dirty="0">
                <a:ea typeface="宋体" panose="02010600030101010101" pitchFamily="2" charset="-122"/>
              </a:rPr>
              <a:t>D0,D1,D2</a:t>
            </a:r>
          </a:p>
          <a:p>
            <a:pPr marL="0" lvl="0" indent="0" eaLnBrk="1" hangingPunct="1">
              <a:buNone/>
            </a:pPr>
            <a:r>
              <a:rPr lang="en-US" altLang="zh-CN" dirty="0">
                <a:ea typeface="宋体" panose="02010600030101010101" pitchFamily="2" charset="-122"/>
              </a:rPr>
              <a:t>and D3 </a:t>
            </a:r>
            <a:r>
              <a:rPr lang="zh-CN" altLang="en-US" dirty="0">
                <a:ea typeface="宋体" panose="02010600030101010101" pitchFamily="2" charset="-122"/>
              </a:rPr>
              <a:t>是</a:t>
            </a:r>
            <a:r>
              <a:rPr lang="en-US" altLang="zh-CN" dirty="0">
                <a:ea typeface="宋体" panose="02010600030101010101" pitchFamily="2" charset="-122"/>
              </a:rPr>
              <a:t>:</a:t>
            </a:r>
            <a:endParaRPr lang="en-US" altLang="zh-CN" b="1" dirty="0">
              <a:solidFill>
                <a:schemeClr val="tx1"/>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51203">
                                            <p:txEl>
                                              <p:pRg st="0" end="0"/>
                                            </p:txEl>
                                          </p:spTgt>
                                        </p:tgtEl>
                                        <p:attrNameLst>
                                          <p:attrName>style.visibility</p:attrName>
                                        </p:attrNameLst>
                                      </p:cBhvr>
                                      <p:to>
                                        <p:strVal val="visible"/>
                                      </p:to>
                                    </p:set>
                                    <p:anim calcmode="discrete" valueType="clr">
                                      <p:cBhvr override="childStyle">
                                        <p:cTn id="7" dur="80"/>
                                        <p:tgtEl>
                                          <p:spTgt spid="5120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120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51203">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3" presetClass="entr" presetSubtype="16" fill="hold" grpId="0" nodeType="clickEffect">
                                  <p:stCondLst>
                                    <p:cond delay="0"/>
                                  </p:stCondLst>
                                  <p:childTnLst>
                                    <p:set>
                                      <p:cBhvr>
                                        <p:cTn id="13" dur="1" fill="hold">
                                          <p:stCondLst>
                                            <p:cond delay="0"/>
                                          </p:stCondLst>
                                        </p:cTn>
                                        <p:tgtEl>
                                          <p:spTgt spid="51208"/>
                                        </p:tgtEl>
                                        <p:attrNameLst>
                                          <p:attrName>style.visibility</p:attrName>
                                        </p:attrNameLst>
                                      </p:cBhvr>
                                      <p:to>
                                        <p:strVal val="visible"/>
                                      </p:to>
                                    </p:set>
                                    <p:anim calcmode="lin" valueType="num">
                                      <p:cBhvr>
                                        <p:cTn id="14" dur="500" fill="hold"/>
                                        <p:tgtEl>
                                          <p:spTgt spid="51208"/>
                                        </p:tgtEl>
                                        <p:attrNameLst>
                                          <p:attrName>ppt_w</p:attrName>
                                        </p:attrNameLst>
                                      </p:cBhvr>
                                      <p:tavLst>
                                        <p:tav tm="0">
                                          <p:val>
                                            <p:fltVal val="0"/>
                                          </p:val>
                                        </p:tav>
                                        <p:tav tm="100000">
                                          <p:val>
                                            <p:strVal val="#ppt_w"/>
                                          </p:val>
                                        </p:tav>
                                      </p:tavLst>
                                    </p:anim>
                                    <p:anim calcmode="lin" valueType="num">
                                      <p:cBhvr>
                                        <p:cTn id="15" dur="500" fill="hold"/>
                                        <p:tgtEl>
                                          <p:spTgt spid="51208"/>
                                        </p:tgtEl>
                                        <p:attrNameLst>
                                          <p:attrName>ppt_h</p:attrName>
                                        </p:attrNameLst>
                                      </p:cBhvr>
                                      <p:tavLst>
                                        <p:tav tm="0">
                                          <p:val>
                                            <p:fltVal val="0"/>
                                          </p:val>
                                        </p:tav>
                                        <p:tav tm="100000">
                                          <p:val>
                                            <p:strVal val="#ppt_h"/>
                                          </p:val>
                                        </p:tav>
                                      </p:tavLst>
                                    </p:anim>
                                  </p:childTnLst>
                                </p:cTn>
                              </p:par>
                              <p:par>
                                <p:cTn id="16" presetID="23" presetClass="entr" presetSubtype="16" fill="hold" grpId="0" nodeType="withEffect">
                                  <p:stCondLst>
                                    <p:cond delay="0"/>
                                  </p:stCondLst>
                                  <p:childTnLst>
                                    <p:set>
                                      <p:cBhvr>
                                        <p:cTn id="17" dur="1" fill="hold">
                                          <p:stCondLst>
                                            <p:cond delay="0"/>
                                          </p:stCondLst>
                                        </p:cTn>
                                        <p:tgtEl>
                                          <p:spTgt spid="51209"/>
                                        </p:tgtEl>
                                        <p:attrNameLst>
                                          <p:attrName>style.visibility</p:attrName>
                                        </p:attrNameLst>
                                      </p:cBhvr>
                                      <p:to>
                                        <p:strVal val="visible"/>
                                      </p:to>
                                    </p:set>
                                    <p:anim calcmode="lin" valueType="num">
                                      <p:cBhvr>
                                        <p:cTn id="18" dur="500" fill="hold"/>
                                        <p:tgtEl>
                                          <p:spTgt spid="51209"/>
                                        </p:tgtEl>
                                        <p:attrNameLst>
                                          <p:attrName>ppt_w</p:attrName>
                                        </p:attrNameLst>
                                      </p:cBhvr>
                                      <p:tavLst>
                                        <p:tav tm="0">
                                          <p:val>
                                            <p:fltVal val="0"/>
                                          </p:val>
                                        </p:tav>
                                        <p:tav tm="100000">
                                          <p:val>
                                            <p:strVal val="#ppt_w"/>
                                          </p:val>
                                        </p:tav>
                                      </p:tavLst>
                                    </p:anim>
                                    <p:anim calcmode="lin" valueType="num">
                                      <p:cBhvr>
                                        <p:cTn id="19" dur="500" fill="hold"/>
                                        <p:tgtEl>
                                          <p:spTgt spid="51209"/>
                                        </p:tgtEl>
                                        <p:attrNameLst>
                                          <p:attrName>ppt_h</p:attrName>
                                        </p:attrNameLst>
                                      </p:cBhvr>
                                      <p:tavLst>
                                        <p:tav tm="0">
                                          <p:val>
                                            <p:fltVal val="0"/>
                                          </p:val>
                                        </p:tav>
                                        <p:tav tm="100000">
                                          <p:val>
                                            <p:strVal val="#ppt_h"/>
                                          </p:val>
                                        </p:tav>
                                      </p:tavLst>
                                    </p:anim>
                                  </p:childTnLst>
                                </p:cTn>
                              </p:par>
                              <p:par>
                                <p:cTn id="20" presetID="23" presetClass="entr" presetSubtype="16" fill="hold" grpId="0" nodeType="withEffect">
                                  <p:stCondLst>
                                    <p:cond delay="0"/>
                                  </p:stCondLst>
                                  <p:childTnLst>
                                    <p:set>
                                      <p:cBhvr>
                                        <p:cTn id="21" dur="1" fill="hold">
                                          <p:stCondLst>
                                            <p:cond delay="0"/>
                                          </p:stCondLst>
                                        </p:cTn>
                                        <p:tgtEl>
                                          <p:spTgt spid="51210"/>
                                        </p:tgtEl>
                                        <p:attrNameLst>
                                          <p:attrName>style.visibility</p:attrName>
                                        </p:attrNameLst>
                                      </p:cBhvr>
                                      <p:to>
                                        <p:strVal val="visible"/>
                                      </p:to>
                                    </p:set>
                                    <p:anim calcmode="lin" valueType="num">
                                      <p:cBhvr>
                                        <p:cTn id="22" dur="500" fill="hold"/>
                                        <p:tgtEl>
                                          <p:spTgt spid="51210"/>
                                        </p:tgtEl>
                                        <p:attrNameLst>
                                          <p:attrName>ppt_w</p:attrName>
                                        </p:attrNameLst>
                                      </p:cBhvr>
                                      <p:tavLst>
                                        <p:tav tm="0">
                                          <p:val>
                                            <p:fltVal val="0"/>
                                          </p:val>
                                        </p:tav>
                                        <p:tav tm="100000">
                                          <p:val>
                                            <p:strVal val="#ppt_w"/>
                                          </p:val>
                                        </p:tav>
                                      </p:tavLst>
                                    </p:anim>
                                    <p:anim calcmode="lin" valueType="num">
                                      <p:cBhvr>
                                        <p:cTn id="23" dur="500" fill="hold"/>
                                        <p:tgtEl>
                                          <p:spTgt spid="51210"/>
                                        </p:tgtEl>
                                        <p:attrNameLst>
                                          <p:attrName>ppt_h</p:attrName>
                                        </p:attrNameLst>
                                      </p:cBhvr>
                                      <p:tavLst>
                                        <p:tav tm="0">
                                          <p:val>
                                            <p:fltVal val="0"/>
                                          </p:val>
                                        </p:tav>
                                        <p:tav tm="100000">
                                          <p:val>
                                            <p:strVal val="#ppt_h"/>
                                          </p:val>
                                        </p:tav>
                                      </p:tavLst>
                                    </p:anim>
                                  </p:childTnLst>
                                </p:cTn>
                              </p:par>
                              <p:par>
                                <p:cTn id="24" presetID="23" presetClass="entr" presetSubtype="16" fill="hold" nodeType="withEffect">
                                  <p:stCondLst>
                                    <p:cond delay="0"/>
                                  </p:stCondLst>
                                  <p:childTnLst>
                                    <p:set>
                                      <p:cBhvr>
                                        <p:cTn id="25" dur="1" fill="hold">
                                          <p:stCondLst>
                                            <p:cond delay="0"/>
                                          </p:stCondLst>
                                        </p:cTn>
                                        <p:tgtEl>
                                          <p:spTgt spid="51211"/>
                                        </p:tgtEl>
                                        <p:attrNameLst>
                                          <p:attrName>style.visibility</p:attrName>
                                        </p:attrNameLst>
                                      </p:cBhvr>
                                      <p:to>
                                        <p:strVal val="visible"/>
                                      </p:to>
                                    </p:set>
                                    <p:anim calcmode="lin" valueType="num">
                                      <p:cBhvr>
                                        <p:cTn id="26" dur="500" fill="hold"/>
                                        <p:tgtEl>
                                          <p:spTgt spid="51211"/>
                                        </p:tgtEl>
                                        <p:attrNameLst>
                                          <p:attrName>ppt_w</p:attrName>
                                        </p:attrNameLst>
                                      </p:cBhvr>
                                      <p:tavLst>
                                        <p:tav tm="0">
                                          <p:val>
                                            <p:fltVal val="0"/>
                                          </p:val>
                                        </p:tav>
                                        <p:tav tm="100000">
                                          <p:val>
                                            <p:strVal val="#ppt_w"/>
                                          </p:val>
                                        </p:tav>
                                      </p:tavLst>
                                    </p:anim>
                                    <p:anim calcmode="lin" valueType="num">
                                      <p:cBhvr>
                                        <p:cTn id="27" dur="500" fill="hold"/>
                                        <p:tgtEl>
                                          <p:spTgt spid="51211"/>
                                        </p:tgtEl>
                                        <p:attrNameLst>
                                          <p:attrName>ppt_h</p:attrName>
                                        </p:attrNameLst>
                                      </p:cBhvr>
                                      <p:tavLst>
                                        <p:tav tm="0">
                                          <p:val>
                                            <p:fltVal val="0"/>
                                          </p:val>
                                        </p:tav>
                                        <p:tav tm="100000">
                                          <p:val>
                                            <p:strVal val="#ppt_h"/>
                                          </p:val>
                                        </p:tav>
                                      </p:tavLst>
                                    </p:anim>
                                  </p:childTnLst>
                                </p:cTn>
                              </p:par>
                              <p:par>
                                <p:cTn id="28" presetID="23" presetClass="entr" presetSubtype="16" fill="hold" nodeType="withEffect">
                                  <p:stCondLst>
                                    <p:cond delay="0"/>
                                  </p:stCondLst>
                                  <p:childTnLst>
                                    <p:set>
                                      <p:cBhvr>
                                        <p:cTn id="29" dur="1" fill="hold">
                                          <p:stCondLst>
                                            <p:cond delay="0"/>
                                          </p:stCondLst>
                                        </p:cTn>
                                        <p:tgtEl>
                                          <p:spTgt spid="51212"/>
                                        </p:tgtEl>
                                        <p:attrNameLst>
                                          <p:attrName>style.visibility</p:attrName>
                                        </p:attrNameLst>
                                      </p:cBhvr>
                                      <p:to>
                                        <p:strVal val="visible"/>
                                      </p:to>
                                    </p:set>
                                    <p:anim calcmode="lin" valueType="num">
                                      <p:cBhvr>
                                        <p:cTn id="30" dur="500" fill="hold"/>
                                        <p:tgtEl>
                                          <p:spTgt spid="51212"/>
                                        </p:tgtEl>
                                        <p:attrNameLst>
                                          <p:attrName>ppt_w</p:attrName>
                                        </p:attrNameLst>
                                      </p:cBhvr>
                                      <p:tavLst>
                                        <p:tav tm="0">
                                          <p:val>
                                            <p:fltVal val="0"/>
                                          </p:val>
                                        </p:tav>
                                        <p:tav tm="100000">
                                          <p:val>
                                            <p:strVal val="#ppt_w"/>
                                          </p:val>
                                        </p:tav>
                                      </p:tavLst>
                                    </p:anim>
                                    <p:anim calcmode="lin" valueType="num">
                                      <p:cBhvr>
                                        <p:cTn id="31" dur="500" fill="hold"/>
                                        <p:tgtEl>
                                          <p:spTgt spid="51212"/>
                                        </p:tgtEl>
                                        <p:attrNameLst>
                                          <p:attrName>ppt_h</p:attrName>
                                        </p:attrNameLst>
                                      </p:cBhvr>
                                      <p:tavLst>
                                        <p:tav tm="0">
                                          <p:val>
                                            <p:fltVal val="0"/>
                                          </p:val>
                                        </p:tav>
                                        <p:tav tm="100000">
                                          <p:val>
                                            <p:strVal val="#ppt_h"/>
                                          </p:val>
                                        </p:tav>
                                      </p:tavLst>
                                    </p:anim>
                                  </p:childTnLst>
                                </p:cTn>
                              </p:par>
                              <p:par>
                                <p:cTn id="32" presetID="23" presetClass="entr" presetSubtype="16" fill="hold" nodeType="withEffect">
                                  <p:stCondLst>
                                    <p:cond delay="0"/>
                                  </p:stCondLst>
                                  <p:childTnLst>
                                    <p:set>
                                      <p:cBhvr>
                                        <p:cTn id="33" dur="1" fill="hold">
                                          <p:stCondLst>
                                            <p:cond delay="0"/>
                                          </p:stCondLst>
                                        </p:cTn>
                                        <p:tgtEl>
                                          <p:spTgt spid="51213"/>
                                        </p:tgtEl>
                                        <p:attrNameLst>
                                          <p:attrName>style.visibility</p:attrName>
                                        </p:attrNameLst>
                                      </p:cBhvr>
                                      <p:to>
                                        <p:strVal val="visible"/>
                                      </p:to>
                                    </p:set>
                                    <p:anim calcmode="lin" valueType="num">
                                      <p:cBhvr>
                                        <p:cTn id="34" dur="500" fill="hold"/>
                                        <p:tgtEl>
                                          <p:spTgt spid="51213"/>
                                        </p:tgtEl>
                                        <p:attrNameLst>
                                          <p:attrName>ppt_w</p:attrName>
                                        </p:attrNameLst>
                                      </p:cBhvr>
                                      <p:tavLst>
                                        <p:tav tm="0">
                                          <p:val>
                                            <p:fltVal val="0"/>
                                          </p:val>
                                        </p:tav>
                                        <p:tav tm="100000">
                                          <p:val>
                                            <p:strVal val="#ppt_w"/>
                                          </p:val>
                                        </p:tav>
                                      </p:tavLst>
                                    </p:anim>
                                    <p:anim calcmode="lin" valueType="num">
                                      <p:cBhvr>
                                        <p:cTn id="35" dur="500" fill="hold"/>
                                        <p:tgtEl>
                                          <p:spTgt spid="51213"/>
                                        </p:tgtEl>
                                        <p:attrNameLst>
                                          <p:attrName>ppt_h</p:attrName>
                                        </p:attrNameLst>
                                      </p:cBhvr>
                                      <p:tavLst>
                                        <p:tav tm="0">
                                          <p:val>
                                            <p:fltVal val="0"/>
                                          </p:val>
                                        </p:tav>
                                        <p:tav tm="100000">
                                          <p:val>
                                            <p:strVal val="#ppt_h"/>
                                          </p:val>
                                        </p:tav>
                                      </p:tavLst>
                                    </p:anim>
                                  </p:childTnLst>
                                </p:cTn>
                              </p:par>
                              <p:par>
                                <p:cTn id="36" presetID="23" presetClass="entr" presetSubtype="16" fill="hold" nodeType="withEffect">
                                  <p:stCondLst>
                                    <p:cond delay="0"/>
                                  </p:stCondLst>
                                  <p:childTnLst>
                                    <p:set>
                                      <p:cBhvr>
                                        <p:cTn id="37" dur="1" fill="hold">
                                          <p:stCondLst>
                                            <p:cond delay="0"/>
                                          </p:stCondLst>
                                        </p:cTn>
                                        <p:tgtEl>
                                          <p:spTgt spid="51214"/>
                                        </p:tgtEl>
                                        <p:attrNameLst>
                                          <p:attrName>style.visibility</p:attrName>
                                        </p:attrNameLst>
                                      </p:cBhvr>
                                      <p:to>
                                        <p:strVal val="visible"/>
                                      </p:to>
                                    </p:set>
                                    <p:anim calcmode="lin" valueType="num">
                                      <p:cBhvr>
                                        <p:cTn id="38" dur="500" fill="hold"/>
                                        <p:tgtEl>
                                          <p:spTgt spid="51214"/>
                                        </p:tgtEl>
                                        <p:attrNameLst>
                                          <p:attrName>ppt_w</p:attrName>
                                        </p:attrNameLst>
                                      </p:cBhvr>
                                      <p:tavLst>
                                        <p:tav tm="0">
                                          <p:val>
                                            <p:fltVal val="0"/>
                                          </p:val>
                                        </p:tav>
                                        <p:tav tm="100000">
                                          <p:val>
                                            <p:strVal val="#ppt_w"/>
                                          </p:val>
                                        </p:tav>
                                      </p:tavLst>
                                    </p:anim>
                                    <p:anim calcmode="lin" valueType="num">
                                      <p:cBhvr>
                                        <p:cTn id="39" dur="500" fill="hold"/>
                                        <p:tgtEl>
                                          <p:spTgt spid="51214"/>
                                        </p:tgtEl>
                                        <p:attrNameLst>
                                          <p:attrName>ppt_h</p:attrName>
                                        </p:attrNameLst>
                                      </p:cBhvr>
                                      <p:tavLst>
                                        <p:tav tm="0">
                                          <p:val>
                                            <p:fltVal val="0"/>
                                          </p:val>
                                        </p:tav>
                                        <p:tav tm="100000">
                                          <p:val>
                                            <p:strVal val="#ppt_h"/>
                                          </p:val>
                                        </p:tav>
                                      </p:tavLst>
                                    </p:anim>
                                  </p:childTnLst>
                                </p:cTn>
                              </p:par>
                              <p:par>
                                <p:cTn id="40" presetID="23" presetClass="entr" presetSubtype="16" fill="hold" nodeType="withEffect">
                                  <p:stCondLst>
                                    <p:cond delay="0"/>
                                  </p:stCondLst>
                                  <p:childTnLst>
                                    <p:set>
                                      <p:cBhvr>
                                        <p:cTn id="41" dur="1" fill="hold">
                                          <p:stCondLst>
                                            <p:cond delay="0"/>
                                          </p:stCondLst>
                                        </p:cTn>
                                        <p:tgtEl>
                                          <p:spTgt spid="51215"/>
                                        </p:tgtEl>
                                        <p:attrNameLst>
                                          <p:attrName>style.visibility</p:attrName>
                                        </p:attrNameLst>
                                      </p:cBhvr>
                                      <p:to>
                                        <p:strVal val="visible"/>
                                      </p:to>
                                    </p:set>
                                    <p:anim calcmode="lin" valueType="num">
                                      <p:cBhvr>
                                        <p:cTn id="42" dur="500" fill="hold"/>
                                        <p:tgtEl>
                                          <p:spTgt spid="51215"/>
                                        </p:tgtEl>
                                        <p:attrNameLst>
                                          <p:attrName>ppt_w</p:attrName>
                                        </p:attrNameLst>
                                      </p:cBhvr>
                                      <p:tavLst>
                                        <p:tav tm="0">
                                          <p:val>
                                            <p:fltVal val="0"/>
                                          </p:val>
                                        </p:tav>
                                        <p:tav tm="100000">
                                          <p:val>
                                            <p:strVal val="#ppt_w"/>
                                          </p:val>
                                        </p:tav>
                                      </p:tavLst>
                                    </p:anim>
                                    <p:anim calcmode="lin" valueType="num">
                                      <p:cBhvr>
                                        <p:cTn id="43" dur="500" fill="hold"/>
                                        <p:tgtEl>
                                          <p:spTgt spid="51215"/>
                                        </p:tgtEl>
                                        <p:attrNameLst>
                                          <p:attrName>ppt_h</p:attrName>
                                        </p:attrNameLst>
                                      </p:cBhvr>
                                      <p:tavLst>
                                        <p:tav tm="0">
                                          <p:val>
                                            <p:fltVal val="0"/>
                                          </p:val>
                                        </p:tav>
                                        <p:tav tm="100000">
                                          <p:val>
                                            <p:strVal val="#ppt_h"/>
                                          </p:val>
                                        </p:tav>
                                      </p:tavLst>
                                    </p:anim>
                                  </p:childTnLst>
                                </p:cTn>
                              </p:par>
                              <p:par>
                                <p:cTn id="44" presetID="23" presetClass="entr" presetSubtype="16" fill="hold" grpId="0" nodeType="withEffect">
                                  <p:stCondLst>
                                    <p:cond delay="0"/>
                                  </p:stCondLst>
                                  <p:childTnLst>
                                    <p:set>
                                      <p:cBhvr>
                                        <p:cTn id="45" dur="1" fill="hold">
                                          <p:stCondLst>
                                            <p:cond delay="0"/>
                                          </p:stCondLst>
                                        </p:cTn>
                                        <p:tgtEl>
                                          <p:spTgt spid="51216"/>
                                        </p:tgtEl>
                                        <p:attrNameLst>
                                          <p:attrName>style.visibility</p:attrName>
                                        </p:attrNameLst>
                                      </p:cBhvr>
                                      <p:to>
                                        <p:strVal val="visible"/>
                                      </p:to>
                                    </p:set>
                                    <p:anim calcmode="lin" valueType="num">
                                      <p:cBhvr>
                                        <p:cTn id="46" dur="500" fill="hold"/>
                                        <p:tgtEl>
                                          <p:spTgt spid="51216"/>
                                        </p:tgtEl>
                                        <p:attrNameLst>
                                          <p:attrName>ppt_w</p:attrName>
                                        </p:attrNameLst>
                                      </p:cBhvr>
                                      <p:tavLst>
                                        <p:tav tm="0">
                                          <p:val>
                                            <p:fltVal val="0"/>
                                          </p:val>
                                        </p:tav>
                                        <p:tav tm="100000">
                                          <p:val>
                                            <p:strVal val="#ppt_w"/>
                                          </p:val>
                                        </p:tav>
                                      </p:tavLst>
                                    </p:anim>
                                    <p:anim calcmode="lin" valueType="num">
                                      <p:cBhvr>
                                        <p:cTn id="47" dur="500" fill="hold"/>
                                        <p:tgtEl>
                                          <p:spTgt spid="51216"/>
                                        </p:tgtEl>
                                        <p:attrNameLst>
                                          <p:attrName>ppt_h</p:attrName>
                                        </p:attrNameLst>
                                      </p:cBhvr>
                                      <p:tavLst>
                                        <p:tav tm="0">
                                          <p:val>
                                            <p:fltVal val="0"/>
                                          </p:val>
                                        </p:tav>
                                        <p:tav tm="100000">
                                          <p:val>
                                            <p:strVal val="#ppt_h"/>
                                          </p:val>
                                        </p:tav>
                                      </p:tavLst>
                                    </p:anim>
                                  </p:childTnLst>
                                </p:cTn>
                              </p:par>
                              <p:par>
                                <p:cTn id="48" presetID="23" presetClass="entr" presetSubtype="16" fill="hold" grpId="0" nodeType="withEffect">
                                  <p:stCondLst>
                                    <p:cond delay="0"/>
                                  </p:stCondLst>
                                  <p:childTnLst>
                                    <p:set>
                                      <p:cBhvr>
                                        <p:cTn id="49" dur="1" fill="hold">
                                          <p:stCondLst>
                                            <p:cond delay="0"/>
                                          </p:stCondLst>
                                        </p:cTn>
                                        <p:tgtEl>
                                          <p:spTgt spid="51218"/>
                                        </p:tgtEl>
                                        <p:attrNameLst>
                                          <p:attrName>style.visibility</p:attrName>
                                        </p:attrNameLst>
                                      </p:cBhvr>
                                      <p:to>
                                        <p:strVal val="visible"/>
                                      </p:to>
                                    </p:set>
                                    <p:anim calcmode="lin" valueType="num">
                                      <p:cBhvr>
                                        <p:cTn id="50" dur="500" fill="hold"/>
                                        <p:tgtEl>
                                          <p:spTgt spid="51218"/>
                                        </p:tgtEl>
                                        <p:attrNameLst>
                                          <p:attrName>ppt_w</p:attrName>
                                        </p:attrNameLst>
                                      </p:cBhvr>
                                      <p:tavLst>
                                        <p:tav tm="0">
                                          <p:val>
                                            <p:fltVal val="0"/>
                                          </p:val>
                                        </p:tav>
                                        <p:tav tm="100000">
                                          <p:val>
                                            <p:strVal val="#ppt_w"/>
                                          </p:val>
                                        </p:tav>
                                      </p:tavLst>
                                    </p:anim>
                                    <p:anim calcmode="lin" valueType="num">
                                      <p:cBhvr>
                                        <p:cTn id="51" dur="500" fill="hold"/>
                                        <p:tgtEl>
                                          <p:spTgt spid="51218"/>
                                        </p:tgtEl>
                                        <p:attrNameLst>
                                          <p:attrName>ppt_h</p:attrName>
                                        </p:attrNameLst>
                                      </p:cBhvr>
                                      <p:tavLst>
                                        <p:tav tm="0">
                                          <p:val>
                                            <p:fltVal val="0"/>
                                          </p:val>
                                        </p:tav>
                                        <p:tav tm="100000">
                                          <p:val>
                                            <p:strVal val="#ppt_h"/>
                                          </p:val>
                                        </p:tav>
                                      </p:tavLst>
                                    </p:anim>
                                  </p:childTnLst>
                                </p:cTn>
                              </p:par>
                              <p:par>
                                <p:cTn id="52" presetID="23" presetClass="entr" presetSubtype="16" fill="hold" grpId="0" nodeType="withEffect">
                                  <p:stCondLst>
                                    <p:cond delay="0"/>
                                  </p:stCondLst>
                                  <p:childTnLst>
                                    <p:set>
                                      <p:cBhvr>
                                        <p:cTn id="53" dur="1" fill="hold">
                                          <p:stCondLst>
                                            <p:cond delay="0"/>
                                          </p:stCondLst>
                                        </p:cTn>
                                        <p:tgtEl>
                                          <p:spTgt spid="51219"/>
                                        </p:tgtEl>
                                        <p:attrNameLst>
                                          <p:attrName>style.visibility</p:attrName>
                                        </p:attrNameLst>
                                      </p:cBhvr>
                                      <p:to>
                                        <p:strVal val="visible"/>
                                      </p:to>
                                    </p:set>
                                    <p:anim calcmode="lin" valueType="num">
                                      <p:cBhvr>
                                        <p:cTn id="54" dur="500" fill="hold"/>
                                        <p:tgtEl>
                                          <p:spTgt spid="51219"/>
                                        </p:tgtEl>
                                        <p:attrNameLst>
                                          <p:attrName>ppt_w</p:attrName>
                                        </p:attrNameLst>
                                      </p:cBhvr>
                                      <p:tavLst>
                                        <p:tav tm="0">
                                          <p:val>
                                            <p:fltVal val="0"/>
                                          </p:val>
                                        </p:tav>
                                        <p:tav tm="100000">
                                          <p:val>
                                            <p:strVal val="#ppt_w"/>
                                          </p:val>
                                        </p:tav>
                                      </p:tavLst>
                                    </p:anim>
                                    <p:anim calcmode="lin" valueType="num">
                                      <p:cBhvr>
                                        <p:cTn id="55" dur="500" fill="hold"/>
                                        <p:tgtEl>
                                          <p:spTgt spid="51219"/>
                                        </p:tgtEl>
                                        <p:attrNameLst>
                                          <p:attrName>ppt_h</p:attrName>
                                        </p:attrNameLst>
                                      </p:cBhvr>
                                      <p:tavLst>
                                        <p:tav tm="0">
                                          <p:val>
                                            <p:fltVal val="0"/>
                                          </p:val>
                                        </p:tav>
                                        <p:tav tm="100000">
                                          <p:val>
                                            <p:strVal val="#ppt_h"/>
                                          </p:val>
                                        </p:tav>
                                      </p:tavLst>
                                    </p:anim>
                                  </p:childTnLst>
                                </p:cTn>
                              </p:par>
                              <p:par>
                                <p:cTn id="56" presetID="23" presetClass="entr" presetSubtype="16" fill="hold" grpId="0" nodeType="withEffect">
                                  <p:stCondLst>
                                    <p:cond delay="0"/>
                                  </p:stCondLst>
                                  <p:childTnLst>
                                    <p:set>
                                      <p:cBhvr>
                                        <p:cTn id="57" dur="1" fill="hold">
                                          <p:stCondLst>
                                            <p:cond delay="0"/>
                                          </p:stCondLst>
                                        </p:cTn>
                                        <p:tgtEl>
                                          <p:spTgt spid="51221"/>
                                        </p:tgtEl>
                                        <p:attrNameLst>
                                          <p:attrName>style.visibility</p:attrName>
                                        </p:attrNameLst>
                                      </p:cBhvr>
                                      <p:to>
                                        <p:strVal val="visible"/>
                                      </p:to>
                                    </p:set>
                                    <p:anim calcmode="lin" valueType="num">
                                      <p:cBhvr>
                                        <p:cTn id="58" dur="500" fill="hold"/>
                                        <p:tgtEl>
                                          <p:spTgt spid="51221"/>
                                        </p:tgtEl>
                                        <p:attrNameLst>
                                          <p:attrName>ppt_w</p:attrName>
                                        </p:attrNameLst>
                                      </p:cBhvr>
                                      <p:tavLst>
                                        <p:tav tm="0">
                                          <p:val>
                                            <p:fltVal val="0"/>
                                          </p:val>
                                        </p:tav>
                                        <p:tav tm="100000">
                                          <p:val>
                                            <p:strVal val="#ppt_w"/>
                                          </p:val>
                                        </p:tav>
                                      </p:tavLst>
                                    </p:anim>
                                    <p:anim calcmode="lin" valueType="num">
                                      <p:cBhvr>
                                        <p:cTn id="59" dur="500" fill="hold"/>
                                        <p:tgtEl>
                                          <p:spTgt spid="51221"/>
                                        </p:tgtEl>
                                        <p:attrNameLst>
                                          <p:attrName>ppt_h</p:attrName>
                                        </p:attrNameLst>
                                      </p:cBhvr>
                                      <p:tavLst>
                                        <p:tav tm="0">
                                          <p:val>
                                            <p:fltVal val="0"/>
                                          </p:val>
                                        </p:tav>
                                        <p:tav tm="100000">
                                          <p:val>
                                            <p:strVal val="#ppt_h"/>
                                          </p:val>
                                        </p:tav>
                                      </p:tavLst>
                                    </p:anim>
                                  </p:childTnLst>
                                </p:cTn>
                              </p:par>
                              <p:par>
                                <p:cTn id="60" presetID="23" presetClass="entr" presetSubtype="16" fill="hold" grpId="0" nodeType="withEffect">
                                  <p:stCondLst>
                                    <p:cond delay="0"/>
                                  </p:stCondLst>
                                  <p:childTnLst>
                                    <p:set>
                                      <p:cBhvr>
                                        <p:cTn id="61" dur="1" fill="hold">
                                          <p:stCondLst>
                                            <p:cond delay="0"/>
                                          </p:stCondLst>
                                        </p:cTn>
                                        <p:tgtEl>
                                          <p:spTgt spid="51222"/>
                                        </p:tgtEl>
                                        <p:attrNameLst>
                                          <p:attrName>style.visibility</p:attrName>
                                        </p:attrNameLst>
                                      </p:cBhvr>
                                      <p:to>
                                        <p:strVal val="visible"/>
                                      </p:to>
                                    </p:set>
                                    <p:anim calcmode="lin" valueType="num">
                                      <p:cBhvr>
                                        <p:cTn id="62" dur="500" fill="hold"/>
                                        <p:tgtEl>
                                          <p:spTgt spid="51222"/>
                                        </p:tgtEl>
                                        <p:attrNameLst>
                                          <p:attrName>ppt_w</p:attrName>
                                        </p:attrNameLst>
                                      </p:cBhvr>
                                      <p:tavLst>
                                        <p:tav tm="0">
                                          <p:val>
                                            <p:fltVal val="0"/>
                                          </p:val>
                                        </p:tav>
                                        <p:tav tm="100000">
                                          <p:val>
                                            <p:strVal val="#ppt_w"/>
                                          </p:val>
                                        </p:tav>
                                      </p:tavLst>
                                    </p:anim>
                                    <p:anim calcmode="lin" valueType="num">
                                      <p:cBhvr>
                                        <p:cTn id="63" dur="500" fill="hold"/>
                                        <p:tgtEl>
                                          <p:spTgt spid="51222"/>
                                        </p:tgtEl>
                                        <p:attrNameLst>
                                          <p:attrName>ppt_h</p:attrName>
                                        </p:attrNameLst>
                                      </p:cBhvr>
                                      <p:tavLst>
                                        <p:tav tm="0">
                                          <p:val>
                                            <p:fltVal val="0"/>
                                          </p:val>
                                        </p:tav>
                                        <p:tav tm="100000">
                                          <p:val>
                                            <p:strVal val="#ppt_h"/>
                                          </p:val>
                                        </p:tav>
                                      </p:tavLst>
                                    </p:anim>
                                  </p:childTnLst>
                                </p:cTn>
                              </p:par>
                              <p:par>
                                <p:cTn id="64" presetID="23" presetClass="entr" presetSubtype="16" fill="hold" grpId="0" nodeType="withEffect">
                                  <p:stCondLst>
                                    <p:cond delay="0"/>
                                  </p:stCondLst>
                                  <p:childTnLst>
                                    <p:set>
                                      <p:cBhvr>
                                        <p:cTn id="65" dur="1" fill="hold">
                                          <p:stCondLst>
                                            <p:cond delay="0"/>
                                          </p:stCondLst>
                                        </p:cTn>
                                        <p:tgtEl>
                                          <p:spTgt spid="51223"/>
                                        </p:tgtEl>
                                        <p:attrNameLst>
                                          <p:attrName>style.visibility</p:attrName>
                                        </p:attrNameLst>
                                      </p:cBhvr>
                                      <p:to>
                                        <p:strVal val="visible"/>
                                      </p:to>
                                    </p:set>
                                    <p:anim calcmode="lin" valueType="num">
                                      <p:cBhvr>
                                        <p:cTn id="66" dur="500" fill="hold"/>
                                        <p:tgtEl>
                                          <p:spTgt spid="51223"/>
                                        </p:tgtEl>
                                        <p:attrNameLst>
                                          <p:attrName>ppt_w</p:attrName>
                                        </p:attrNameLst>
                                      </p:cBhvr>
                                      <p:tavLst>
                                        <p:tav tm="0">
                                          <p:val>
                                            <p:fltVal val="0"/>
                                          </p:val>
                                        </p:tav>
                                        <p:tav tm="100000">
                                          <p:val>
                                            <p:strVal val="#ppt_w"/>
                                          </p:val>
                                        </p:tav>
                                      </p:tavLst>
                                    </p:anim>
                                    <p:anim calcmode="lin" valueType="num">
                                      <p:cBhvr>
                                        <p:cTn id="67" dur="500" fill="hold"/>
                                        <p:tgtEl>
                                          <p:spTgt spid="51223"/>
                                        </p:tgtEl>
                                        <p:attrNameLst>
                                          <p:attrName>ppt_h</p:attrName>
                                        </p:attrNameLst>
                                      </p:cBhvr>
                                      <p:tavLst>
                                        <p:tav tm="0">
                                          <p:val>
                                            <p:fltVal val="0"/>
                                          </p:val>
                                        </p:tav>
                                        <p:tav tm="100000">
                                          <p:val>
                                            <p:strVal val="#ppt_h"/>
                                          </p:val>
                                        </p:tav>
                                      </p:tavLst>
                                    </p:anim>
                                  </p:childTnLst>
                                </p:cTn>
                              </p:par>
                              <p:par>
                                <p:cTn id="68" presetID="23" presetClass="entr" presetSubtype="16" fill="hold" grpId="0" nodeType="withEffect">
                                  <p:stCondLst>
                                    <p:cond delay="0"/>
                                  </p:stCondLst>
                                  <p:childTnLst>
                                    <p:set>
                                      <p:cBhvr>
                                        <p:cTn id="69" dur="1" fill="hold">
                                          <p:stCondLst>
                                            <p:cond delay="0"/>
                                          </p:stCondLst>
                                        </p:cTn>
                                        <p:tgtEl>
                                          <p:spTgt spid="51225"/>
                                        </p:tgtEl>
                                        <p:attrNameLst>
                                          <p:attrName>style.visibility</p:attrName>
                                        </p:attrNameLst>
                                      </p:cBhvr>
                                      <p:to>
                                        <p:strVal val="visible"/>
                                      </p:to>
                                    </p:set>
                                    <p:anim calcmode="lin" valueType="num">
                                      <p:cBhvr>
                                        <p:cTn id="70" dur="500" fill="hold"/>
                                        <p:tgtEl>
                                          <p:spTgt spid="51225"/>
                                        </p:tgtEl>
                                        <p:attrNameLst>
                                          <p:attrName>ppt_w</p:attrName>
                                        </p:attrNameLst>
                                      </p:cBhvr>
                                      <p:tavLst>
                                        <p:tav tm="0">
                                          <p:val>
                                            <p:fltVal val="0"/>
                                          </p:val>
                                        </p:tav>
                                        <p:tav tm="100000">
                                          <p:val>
                                            <p:strVal val="#ppt_w"/>
                                          </p:val>
                                        </p:tav>
                                      </p:tavLst>
                                    </p:anim>
                                    <p:anim calcmode="lin" valueType="num">
                                      <p:cBhvr>
                                        <p:cTn id="71" dur="500" fill="hold"/>
                                        <p:tgtEl>
                                          <p:spTgt spid="51225"/>
                                        </p:tgtEl>
                                        <p:attrNameLst>
                                          <p:attrName>ppt_h</p:attrName>
                                        </p:attrNameLst>
                                      </p:cBhvr>
                                      <p:tavLst>
                                        <p:tav tm="0">
                                          <p:val>
                                            <p:fltVal val="0"/>
                                          </p:val>
                                        </p:tav>
                                        <p:tav tm="100000">
                                          <p:val>
                                            <p:strVal val="#ppt_h"/>
                                          </p:val>
                                        </p:tav>
                                      </p:tavLst>
                                    </p:anim>
                                  </p:childTnLst>
                                </p:cTn>
                              </p:par>
                              <p:par>
                                <p:cTn id="72" presetID="23" presetClass="entr" presetSubtype="16" fill="hold" grpId="0" nodeType="withEffect">
                                  <p:stCondLst>
                                    <p:cond delay="0"/>
                                  </p:stCondLst>
                                  <p:childTnLst>
                                    <p:set>
                                      <p:cBhvr>
                                        <p:cTn id="73" dur="1" fill="hold">
                                          <p:stCondLst>
                                            <p:cond delay="0"/>
                                          </p:stCondLst>
                                        </p:cTn>
                                        <p:tgtEl>
                                          <p:spTgt spid="51226"/>
                                        </p:tgtEl>
                                        <p:attrNameLst>
                                          <p:attrName>style.visibility</p:attrName>
                                        </p:attrNameLst>
                                      </p:cBhvr>
                                      <p:to>
                                        <p:strVal val="visible"/>
                                      </p:to>
                                    </p:set>
                                    <p:anim calcmode="lin" valueType="num">
                                      <p:cBhvr>
                                        <p:cTn id="74" dur="500" fill="hold"/>
                                        <p:tgtEl>
                                          <p:spTgt spid="51226"/>
                                        </p:tgtEl>
                                        <p:attrNameLst>
                                          <p:attrName>ppt_w</p:attrName>
                                        </p:attrNameLst>
                                      </p:cBhvr>
                                      <p:tavLst>
                                        <p:tav tm="0">
                                          <p:val>
                                            <p:fltVal val="0"/>
                                          </p:val>
                                        </p:tav>
                                        <p:tav tm="100000">
                                          <p:val>
                                            <p:strVal val="#ppt_w"/>
                                          </p:val>
                                        </p:tav>
                                      </p:tavLst>
                                    </p:anim>
                                    <p:anim calcmode="lin" valueType="num">
                                      <p:cBhvr>
                                        <p:cTn id="75" dur="500" fill="hold"/>
                                        <p:tgtEl>
                                          <p:spTgt spid="51226"/>
                                        </p:tgtEl>
                                        <p:attrNameLst>
                                          <p:attrName>ppt_h</p:attrName>
                                        </p:attrNameLst>
                                      </p:cBhvr>
                                      <p:tavLst>
                                        <p:tav tm="0">
                                          <p:val>
                                            <p:flt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27" presetClass="entr" presetSubtype="0" fill="hold" nodeType="clickEffect">
                                  <p:stCondLst>
                                    <p:cond delay="0"/>
                                  </p:stCondLst>
                                  <p:iterate type="lt">
                                    <p:tmPct val="50000"/>
                                  </p:iterate>
                                  <p:childTnLst>
                                    <p:set>
                                      <p:cBhvr>
                                        <p:cTn id="79" dur="1" fill="hold">
                                          <p:stCondLst>
                                            <p:cond delay="0"/>
                                          </p:stCondLst>
                                        </p:cTn>
                                        <p:tgtEl>
                                          <p:spTgt spid="51231">
                                            <p:txEl>
                                              <p:pRg st="0" end="0"/>
                                            </p:txEl>
                                          </p:spTgt>
                                        </p:tgtEl>
                                        <p:attrNameLst>
                                          <p:attrName>style.visibility</p:attrName>
                                        </p:attrNameLst>
                                      </p:cBhvr>
                                      <p:to>
                                        <p:strVal val="visible"/>
                                      </p:to>
                                    </p:set>
                                    <p:anim calcmode="discrete" valueType="clr">
                                      <p:cBhvr override="childStyle">
                                        <p:cTn id="80" dur="80"/>
                                        <p:tgtEl>
                                          <p:spTgt spid="5123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1" dur="80"/>
                                        <p:tgtEl>
                                          <p:spTgt spid="51231">
                                            <p:txEl>
                                              <p:pRg st="0" end="0"/>
                                            </p:txEl>
                                          </p:spTgt>
                                        </p:tgtEl>
                                        <p:attrNameLst>
                                          <p:attrName>fillcolor</p:attrName>
                                        </p:attrNameLst>
                                      </p:cBhvr>
                                      <p:tavLst>
                                        <p:tav tm="0">
                                          <p:val>
                                            <p:clrVal>
                                              <a:schemeClr val="accent2"/>
                                            </p:clrVal>
                                          </p:val>
                                        </p:tav>
                                        <p:tav tm="50000">
                                          <p:val>
                                            <p:clrVal>
                                              <a:schemeClr val="hlink"/>
                                            </p:clrVal>
                                          </p:val>
                                        </p:tav>
                                      </p:tavLst>
                                    </p:anim>
                                    <p:set>
                                      <p:cBhvr>
                                        <p:cTn id="82" dur="80"/>
                                        <p:tgtEl>
                                          <p:spTgt spid="51231">
                                            <p:txEl>
                                              <p:pRg st="0" end="0"/>
                                            </p:txEl>
                                          </p:spTgt>
                                        </p:tgtEl>
                                        <p:attrNameLst>
                                          <p:attrName>fill.type</p:attrName>
                                        </p:attrNameLst>
                                      </p:cBhvr>
                                      <p:to>
                                        <p:strVal val="solid"/>
                                      </p:to>
                                    </p:set>
                                  </p:childTnLst>
                                </p:cTn>
                              </p:par>
                              <p:par>
                                <p:cTn id="83" presetID="27" presetClass="entr" presetSubtype="0" fill="hold" nodeType="withEffect">
                                  <p:stCondLst>
                                    <p:cond delay="0"/>
                                  </p:stCondLst>
                                  <p:iterate type="lt">
                                    <p:tmPct val="50000"/>
                                  </p:iterate>
                                  <p:childTnLst>
                                    <p:set>
                                      <p:cBhvr>
                                        <p:cTn id="84" dur="1" fill="hold">
                                          <p:stCondLst>
                                            <p:cond delay="0"/>
                                          </p:stCondLst>
                                        </p:cTn>
                                        <p:tgtEl>
                                          <p:spTgt spid="51231">
                                            <p:txEl>
                                              <p:pRg st="1" end="1"/>
                                            </p:txEl>
                                          </p:spTgt>
                                        </p:tgtEl>
                                        <p:attrNameLst>
                                          <p:attrName>style.visibility</p:attrName>
                                        </p:attrNameLst>
                                      </p:cBhvr>
                                      <p:to>
                                        <p:strVal val="visible"/>
                                      </p:to>
                                    </p:set>
                                    <p:anim calcmode="discrete" valueType="clr">
                                      <p:cBhvr override="childStyle">
                                        <p:cTn id="85" dur="80"/>
                                        <p:tgtEl>
                                          <p:spTgt spid="5123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6" dur="80"/>
                                        <p:tgtEl>
                                          <p:spTgt spid="51231">
                                            <p:txEl>
                                              <p:pRg st="1" end="1"/>
                                            </p:txEl>
                                          </p:spTgt>
                                        </p:tgtEl>
                                        <p:attrNameLst>
                                          <p:attrName>fillcolor</p:attrName>
                                        </p:attrNameLst>
                                      </p:cBhvr>
                                      <p:tavLst>
                                        <p:tav tm="0">
                                          <p:val>
                                            <p:clrVal>
                                              <a:schemeClr val="accent2"/>
                                            </p:clrVal>
                                          </p:val>
                                        </p:tav>
                                        <p:tav tm="50000">
                                          <p:val>
                                            <p:clrVal>
                                              <a:schemeClr val="hlink"/>
                                            </p:clrVal>
                                          </p:val>
                                        </p:tav>
                                      </p:tavLst>
                                    </p:anim>
                                    <p:set>
                                      <p:cBhvr>
                                        <p:cTn id="87" dur="80"/>
                                        <p:tgtEl>
                                          <p:spTgt spid="51231">
                                            <p:txEl>
                                              <p:pRg st="1" end="1"/>
                                            </p:txEl>
                                          </p:spTgt>
                                        </p:tgtEl>
                                        <p:attrNameLst>
                                          <p:attrName>fill.type</p:attrName>
                                        </p:attrNameLst>
                                      </p:cBhvr>
                                      <p:to>
                                        <p:strVal val="solid"/>
                                      </p:to>
                                    </p:set>
                                  </p:childTnLst>
                                </p:cTn>
                              </p:par>
                            </p:childTnLst>
                          </p:cTn>
                        </p:par>
                      </p:childTnLst>
                    </p:cTn>
                  </p:par>
                  <p:par>
                    <p:cTn id="88" fill="hold">
                      <p:stCondLst>
                        <p:cond delay="indefinite"/>
                      </p:stCondLst>
                      <p:childTnLst>
                        <p:par>
                          <p:cTn id="89" fill="hold">
                            <p:stCondLst>
                              <p:cond delay="0"/>
                            </p:stCondLst>
                            <p:childTnLst>
                              <p:par>
                                <p:cTn id="90" presetID="23" presetClass="entr" presetSubtype="16" fill="hold" nodeType="clickEffect">
                                  <p:stCondLst>
                                    <p:cond delay="0"/>
                                  </p:stCondLst>
                                  <p:childTnLst>
                                    <p:set>
                                      <p:cBhvr>
                                        <p:cTn id="91" dur="1" fill="hold">
                                          <p:stCondLst>
                                            <p:cond delay="0"/>
                                          </p:stCondLst>
                                        </p:cTn>
                                        <p:tgtEl>
                                          <p:spTgt spid="51206"/>
                                        </p:tgtEl>
                                        <p:attrNameLst>
                                          <p:attrName>style.visibility</p:attrName>
                                        </p:attrNameLst>
                                      </p:cBhvr>
                                      <p:to>
                                        <p:strVal val="visible"/>
                                      </p:to>
                                    </p:set>
                                    <p:anim calcmode="lin" valueType="num">
                                      <p:cBhvr>
                                        <p:cTn id="92" dur="500" fill="hold"/>
                                        <p:tgtEl>
                                          <p:spTgt spid="51206"/>
                                        </p:tgtEl>
                                        <p:attrNameLst>
                                          <p:attrName>ppt_w</p:attrName>
                                        </p:attrNameLst>
                                      </p:cBhvr>
                                      <p:tavLst>
                                        <p:tav tm="0">
                                          <p:val>
                                            <p:fltVal val="0"/>
                                          </p:val>
                                        </p:tav>
                                        <p:tav tm="100000">
                                          <p:val>
                                            <p:strVal val="#ppt_w"/>
                                          </p:val>
                                        </p:tav>
                                      </p:tavLst>
                                    </p:anim>
                                    <p:anim calcmode="lin" valueType="num">
                                      <p:cBhvr>
                                        <p:cTn id="93" dur="500" fill="hold"/>
                                        <p:tgtEl>
                                          <p:spTgt spid="5120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 grpId="0" animBg="1"/>
      <p:bldP spid="51209" grpId="0" animBg="1"/>
      <p:bldP spid="51210" grpId="0" animBg="1"/>
      <p:bldP spid="51216" grpId="0"/>
      <p:bldP spid="51218" grpId="0"/>
      <p:bldP spid="51219" grpId="0"/>
      <p:bldP spid="51221" grpId="0"/>
      <p:bldP spid="51222" grpId="0"/>
      <p:bldP spid="51223" grpId="0"/>
      <p:bldP spid="51225" grpId="0"/>
      <p:bldP spid="5122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9318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9318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52</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50181" name="Rectangle 3"/>
          <p:cNvSpPr>
            <a:spLocks noGrp="1" noChangeArrowheads="1"/>
          </p:cNvSpPr>
          <p:nvPr>
            <p:ph idx="1"/>
          </p:nvPr>
        </p:nvSpPr>
        <p:spPr>
          <a:xfrm>
            <a:off x="827584" y="1124744"/>
            <a:ext cx="7942263" cy="5472113"/>
          </a:xfrm>
          <a:solidFill>
            <a:schemeClr val="bg1"/>
          </a:solidFill>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chemeClr val="accent2"/>
                </a:solidFill>
                <a:effectLst/>
                <a:uLnTx/>
                <a:uFillTx/>
                <a:latin typeface="+mn-lt"/>
                <a:ea typeface="+mn-ea"/>
                <a:cs typeface="+mn-cs"/>
              </a:rPr>
              <a:t>算法</a:t>
            </a:r>
            <a:r>
              <a:rPr kumimoji="0" lang="en-US" altLang="zh-CN" sz="2400" b="1" i="0" u="none" strike="noStrike" kern="0" cap="none" spc="0" normalizeH="0" baseline="0" noProof="0" dirty="0">
                <a:ln>
                  <a:noFill/>
                </a:ln>
                <a:solidFill>
                  <a:schemeClr val="accent2"/>
                </a:solidFill>
                <a:effectLst/>
                <a:uLnTx/>
                <a:uFillTx/>
                <a:latin typeface="+mn-lt"/>
                <a:ea typeface="+mn-ea"/>
                <a:cs typeface="+mn-cs"/>
              </a:rPr>
              <a:t>7.3 FLOYD</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rPr>
              <a:t>输入</a:t>
            </a:r>
            <a:r>
              <a:rPr kumimoji="0" lang="en-US" altLang="zh-CN" sz="2400" b="0" i="0" u="none" strike="noStrike" kern="0" cap="none" spc="0" normalizeH="0" baseline="0" noProof="0" dirty="0">
                <a:ln>
                  <a:noFill/>
                </a:ln>
                <a:solidFill>
                  <a:schemeClr val="accent2"/>
                </a:solidFill>
                <a:effectLst/>
                <a:uLnTx/>
                <a:uFillTx/>
                <a:latin typeface="+mn-lt"/>
                <a:ea typeface="+mn-ea"/>
              </a:rPr>
              <a:t>: </a:t>
            </a:r>
            <a:r>
              <a:rPr kumimoji="0" lang="en-US" altLang="zh-CN" sz="2400" b="0" i="1" u="none" strike="noStrike" kern="0" cap="none" spc="0" normalizeH="0" baseline="0" noProof="0" dirty="0" err="1">
                <a:ln>
                  <a:noFill/>
                </a:ln>
                <a:solidFill>
                  <a:schemeClr val="accent2"/>
                </a:solidFill>
                <a:effectLst/>
                <a:uLnTx/>
                <a:uFillTx/>
                <a:latin typeface="+mn-lt"/>
                <a:ea typeface="+mn-ea"/>
              </a:rPr>
              <a:t>n</a:t>
            </a:r>
            <a:r>
              <a:rPr kumimoji="0" lang="en-US" altLang="zh-CN" sz="2400" b="0" i="1" u="none" strike="noStrike" kern="0" cap="none" spc="0" normalizeH="0" baseline="0" noProof="0" dirty="0" err="1">
                <a:ln>
                  <a:noFill/>
                </a:ln>
                <a:solidFill>
                  <a:schemeClr val="accent2"/>
                </a:solidFill>
                <a:effectLst/>
                <a:uLnTx/>
                <a:uFillTx/>
                <a:latin typeface="+mn-lt"/>
                <a:ea typeface="+mn-ea"/>
                <a:sym typeface="Symbol" panose="05050102010706020507" pitchFamily="18" charset="2"/>
              </a:rPr>
              <a:t>×n</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维矩阵</a:t>
            </a:r>
            <a:r>
              <a:rPr kumimoji="0" lang="en-US" altLang="zh-CN"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l[1..n,1..n]</a:t>
            </a:r>
            <a:r>
              <a:rPr kumimoji="0" lang="zh-CN" altLang="en-US"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对于有向图</a:t>
            </a:r>
            <a:r>
              <a:rPr kumimoji="0" lang="en-US" altLang="zh-CN"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G=({1,2,…,n},E)</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中的边</a:t>
            </a:r>
            <a:r>
              <a:rPr kumimoji="0" lang="en-US" altLang="zh-CN"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r>
              <a:rPr kumimoji="0" lang="en-US" altLang="zh-CN" sz="2400" b="0" i="1" u="none" strike="noStrike" kern="0" cap="none" spc="0" normalizeH="0" baseline="0" noProof="0" dirty="0" err="1">
                <a:ln>
                  <a:noFill/>
                </a:ln>
                <a:solidFill>
                  <a:schemeClr val="accent2"/>
                </a:solidFill>
                <a:effectLst/>
                <a:uLnTx/>
                <a:uFillTx/>
                <a:latin typeface="+mn-lt"/>
                <a:ea typeface="+mn-ea"/>
                <a:sym typeface="Symbol" panose="05050102010706020507" pitchFamily="18" charset="2"/>
              </a:rPr>
              <a:t>i,j</a:t>
            </a:r>
            <a:r>
              <a:rPr kumimoji="0" lang="en-US" altLang="zh-CN"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的长度是</a:t>
            </a:r>
            <a:r>
              <a:rPr kumimoji="0" lang="en-US" altLang="zh-CN"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l[</a:t>
            </a:r>
            <a:r>
              <a:rPr kumimoji="0" lang="en-US" altLang="zh-CN" sz="2400" b="0" i="1" u="none" strike="noStrike" kern="0" cap="none" spc="0" normalizeH="0" baseline="0" noProof="0" dirty="0" err="1">
                <a:ln>
                  <a:noFill/>
                </a:ln>
                <a:solidFill>
                  <a:schemeClr val="accent2"/>
                </a:solidFill>
                <a:effectLst/>
                <a:uLnTx/>
                <a:uFillTx/>
                <a:latin typeface="+mn-lt"/>
                <a:ea typeface="+mn-ea"/>
                <a:sym typeface="Symbol" panose="05050102010706020507" pitchFamily="18" charset="2"/>
              </a:rPr>
              <a:t>i,j</a:t>
            </a:r>
            <a:r>
              <a:rPr kumimoji="0" lang="en-US" altLang="zh-CN"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r>
              <a:rPr kumimoji="0" lang="zh-CN" altLang="en-US"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endParaRPr kumimoji="0" lang="en-US" altLang="zh-CN" sz="2400" b="0" i="1" u="none" strike="noStrike" kern="0" cap="none" spc="0" normalizeH="0" baseline="0" noProof="0" dirty="0">
              <a:ln>
                <a:noFill/>
              </a:ln>
              <a:solidFill>
                <a:schemeClr val="accent2"/>
              </a:solidFill>
              <a:effectLst/>
              <a:uLnTx/>
              <a:uFillTx/>
              <a:latin typeface="+mn-lt"/>
              <a:ea typeface="+mn-ea"/>
              <a:sym typeface="Symbol" panose="05050102010706020507" pitchFamily="18" charset="2"/>
            </a:endParaRP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输出</a:t>
            </a: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 </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矩阵</a:t>
            </a: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D </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使得</a:t>
            </a: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D[</a:t>
            </a:r>
            <a:r>
              <a:rPr kumimoji="0" lang="en-US" altLang="zh-CN" sz="2400" b="0" i="0" u="none" strike="noStrike" kern="0" cap="none" spc="0" normalizeH="0" baseline="0" noProof="0" dirty="0" err="1">
                <a:ln>
                  <a:noFill/>
                </a:ln>
                <a:solidFill>
                  <a:schemeClr val="accent2"/>
                </a:solidFill>
                <a:effectLst/>
                <a:uLnTx/>
                <a:uFillTx/>
                <a:latin typeface="+mn-lt"/>
                <a:ea typeface="+mn-ea"/>
                <a:sym typeface="Symbol" panose="05050102010706020507" pitchFamily="18" charset="2"/>
              </a:rPr>
              <a:t>i,j</a:t>
            </a: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a:t>
            </a:r>
            <a:r>
              <a:rPr kumimoji="0" lang="en-US" altLang="zh-CN" sz="2400" b="0" i="0" u="none" strike="noStrike" kern="0" cap="none" spc="0" normalizeH="0" baseline="0" noProof="0" dirty="0" err="1">
                <a:ln>
                  <a:noFill/>
                </a:ln>
                <a:solidFill>
                  <a:schemeClr val="accent2"/>
                </a:solidFill>
                <a:effectLst/>
                <a:uLnTx/>
                <a:uFillTx/>
                <a:latin typeface="+mn-lt"/>
                <a:ea typeface="+mn-ea"/>
                <a:sym typeface="Symbol" panose="05050102010706020507" pitchFamily="18" charset="2"/>
              </a:rPr>
              <a:t>i</a:t>
            </a: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 </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到</a:t>
            </a:r>
            <a:r>
              <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 j</a:t>
            </a:r>
            <a:r>
              <a:rPr kumimoji="0" lang="zh-CN" altLang="en-US"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rPr>
              <a:t>的距离。</a:t>
            </a:r>
            <a:endParaRPr kumimoji="0" lang="en-US" altLang="zh-CN" sz="2400" b="0" i="0" u="none" strike="noStrike" kern="0" cap="none" spc="0" normalizeH="0" baseline="0" noProof="0" dirty="0">
              <a:ln>
                <a:noFill/>
              </a:ln>
              <a:solidFill>
                <a:schemeClr val="accent2"/>
              </a:solidFill>
              <a:effectLst/>
              <a:uLnTx/>
              <a:uFillTx/>
              <a:latin typeface="+mn-lt"/>
              <a:ea typeface="+mn-ea"/>
              <a:sym typeface="Symbol" panose="05050102010706020507" pitchFamily="18" charset="2"/>
            </a:endParaRP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	1. </a:t>
            </a:r>
            <a:r>
              <a:rPr kumimoji="0" lang="en-US" altLang="zh-CN" sz="2400" b="0" i="1" u="none" strike="noStrike" kern="0" cap="none" spc="0" normalizeH="0" baseline="0" noProof="0" dirty="0" err="1">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D</a:t>
            </a:r>
            <a:r>
              <a:rPr kumimoji="0" lang="en-US" altLang="zh-CN" sz="2400" b="0" i="1" u="none" strike="noStrike" kern="0" cap="none" spc="0" normalizeH="0" baseline="0" noProof="0" dirty="0" err="1">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l</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zh-CN" altLang="en-US" sz="2400" b="0" i="0" u="none" strike="noStrike" kern="0" cap="none" spc="0" normalizeH="0" baseline="0" noProof="0" dirty="0">
                <a:ln>
                  <a:noFill/>
                </a:ln>
                <a:solidFill>
                  <a:schemeClr val="accent2"/>
                </a:solidFill>
                <a:effectLst/>
                <a:uLnTx/>
                <a:uFillTx/>
                <a:latin typeface="+mn-lt"/>
                <a:ea typeface="+mn-ea"/>
                <a:sym typeface="Wingdings" panose="05000000000000000000" pitchFamily="2" charset="2"/>
              </a:rPr>
              <a:t>将输入矩阵</a:t>
            </a:r>
            <a:r>
              <a:rPr kumimoji="0" lang="en-US" altLang="zh-CN" sz="2400" b="0" i="1" u="none" strike="noStrike" kern="0" cap="none" spc="0" normalizeH="0" baseline="0" noProof="0" dirty="0">
                <a:ln>
                  <a:noFill/>
                </a:ln>
                <a:solidFill>
                  <a:schemeClr val="accent2"/>
                </a:solidFill>
                <a:effectLst/>
                <a:uLnTx/>
                <a:uFillTx/>
                <a:latin typeface="+mn-lt"/>
                <a:ea typeface="+mn-ea"/>
                <a:sym typeface="Wingdings" panose="05000000000000000000" pitchFamily="2" charset="2"/>
              </a:rPr>
              <a:t>l</a:t>
            </a:r>
            <a:r>
              <a:rPr kumimoji="0" lang="zh-CN" altLang="en-US" sz="2400" b="0" i="0" u="none" strike="noStrike" kern="0" cap="none" spc="0" normalizeH="0" baseline="0" noProof="0" dirty="0">
                <a:ln>
                  <a:noFill/>
                </a:ln>
                <a:solidFill>
                  <a:schemeClr val="accent2"/>
                </a:solidFill>
                <a:effectLst/>
                <a:uLnTx/>
                <a:uFillTx/>
                <a:latin typeface="+mn-lt"/>
                <a:ea typeface="+mn-ea"/>
                <a:sym typeface="Wingdings" panose="05000000000000000000" pitchFamily="2" charset="2"/>
              </a:rPr>
              <a:t>复制到</a:t>
            </a:r>
            <a:r>
              <a:rPr kumimoji="0" lang="en-US" altLang="zh-CN" sz="2400" b="0" i="0" u="none" strike="noStrike" kern="0" cap="none" spc="0" normalizeH="0" baseline="0" noProof="0" dirty="0">
                <a:ln>
                  <a:noFill/>
                </a:ln>
                <a:solidFill>
                  <a:schemeClr val="accent2"/>
                </a:solidFill>
                <a:effectLst/>
                <a:uLnTx/>
                <a:uFillTx/>
                <a:latin typeface="+mn-lt"/>
                <a:ea typeface="+mn-ea"/>
                <a:sym typeface="Wingdings" panose="05000000000000000000" pitchFamily="2" charset="2"/>
              </a:rPr>
              <a:t>D</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2. </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for</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k1</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to</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n</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3.	</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for</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i1</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to</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n</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4.		</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for</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j1</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to</a:t>
            </a: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n</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	5.		   </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D[</a:t>
            </a:r>
            <a:r>
              <a:rPr kumimoji="0" lang="en-US" altLang="zh-CN" sz="2400" b="0" i="1" u="none" strike="noStrike" kern="0" cap="none" spc="0" normalizeH="0" baseline="0" noProof="0" dirty="0" err="1">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i,j</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]=min{D[</a:t>
            </a:r>
            <a:r>
              <a:rPr kumimoji="0" lang="en-US" altLang="zh-CN" sz="2400" b="0" i="1" u="none" strike="noStrike" kern="0" cap="none" spc="0" normalizeH="0" baseline="0" noProof="0" dirty="0" err="1">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i,j</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],D[</a:t>
            </a:r>
            <a:r>
              <a:rPr kumimoji="0" lang="en-US" altLang="zh-CN" sz="2400" b="0" i="1" u="none" strike="noStrike" kern="0" cap="none" spc="0" normalizeH="0" baseline="0" noProof="0" dirty="0" err="1">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i,k</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]+D[</a:t>
            </a:r>
            <a:r>
              <a:rPr kumimoji="0" lang="en-US" altLang="zh-CN" sz="2400" b="0" i="1" u="none" strike="noStrike" kern="0" cap="none" spc="0" normalizeH="0" baseline="0" noProof="0" dirty="0" err="1">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k,j</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Wingdings" panose="05000000000000000000" pitchFamily="2" charset="2"/>
              </a:rPr>
              <a:t>]}</a:t>
            </a:r>
            <a:r>
              <a:rPr kumimoji="0" lang="en-US" altLang="zh-CN" sz="2400" b="0" i="1"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 </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	6.		</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end for</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	7.	</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end for</a:t>
            </a:r>
          </a:p>
          <a:p>
            <a:pPr marL="742950" marR="0" lvl="1" indent="-28575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	8.</a:t>
            </a:r>
            <a:r>
              <a:rPr kumimoji="0" lang="en-US" altLang="zh-CN" sz="2400" b="1"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sym typeface="Symbol" panose="05050102010706020507" pitchFamily="18" charset="2"/>
              </a:rPr>
              <a:t>end for</a:t>
            </a:r>
          </a:p>
          <a:p>
            <a:pPr marL="742950" marR="0" lvl="1" indent="-285750" algn="l" defTabSz="914400" rtl="0" eaLnBrk="1" fontAlgn="base" latinLnBrk="0" hangingPunct="1">
              <a:lnSpc>
                <a:spcPct val="80000"/>
              </a:lnSpc>
              <a:spcBef>
                <a:spcPct val="20000"/>
              </a:spcBef>
              <a:spcAft>
                <a:spcPct val="0"/>
              </a:spcAft>
              <a:buClrTx/>
              <a:buSzTx/>
              <a:buFontTx/>
              <a:buNone/>
              <a:defRPr/>
            </a:pPr>
            <a:endPar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rgbClr val="FF3300"/>
                </a:solidFill>
                <a:effectLst/>
                <a:uLnTx/>
                <a:uFillTx/>
                <a:latin typeface="+mn-lt"/>
                <a:ea typeface="+mn-ea"/>
                <a:cs typeface="+mn-cs"/>
              </a:rPr>
              <a:t>显然，算法的运行时间是</a:t>
            </a:r>
            <a:r>
              <a:rPr kumimoji="0" lang="el-GR" altLang="zh-CN" sz="2200" b="0" i="0" u="none" strike="noStrike" kern="0" cap="none" spc="0" normalizeH="0" baseline="0" noProof="0" dirty="0">
                <a:ln>
                  <a:noFill/>
                </a:ln>
                <a:solidFill>
                  <a:srgbClr val="FF3300"/>
                </a:solidFill>
                <a:effectLst/>
                <a:uLnTx/>
                <a:uFillTx/>
                <a:latin typeface="宋体" panose="02010600030101010101" pitchFamily="2" charset="-122"/>
                <a:ea typeface="+mn-ea"/>
                <a:cs typeface="+mn-cs"/>
              </a:rPr>
              <a:t>Θ</a:t>
            </a:r>
            <a:r>
              <a:rPr kumimoji="0" lang="en-US" altLang="zh-CN" sz="2200" b="0" i="0" u="none" strike="noStrike" kern="0" cap="none" spc="0" normalizeH="0" baseline="0" noProof="0" dirty="0">
                <a:ln>
                  <a:noFill/>
                </a:ln>
                <a:solidFill>
                  <a:srgbClr val="FF3300"/>
                </a:solidFill>
                <a:effectLst/>
                <a:uLnTx/>
                <a:uFillTx/>
                <a:latin typeface="宋体" panose="02010600030101010101" pitchFamily="2" charset="-122"/>
                <a:ea typeface="+mn-ea"/>
                <a:cs typeface="+mn-cs"/>
              </a:rPr>
              <a:t>(n</a:t>
            </a:r>
            <a:r>
              <a:rPr kumimoji="0" lang="en-US" altLang="zh-CN" sz="2200" b="0" i="0" u="none" strike="noStrike" kern="0" cap="none" spc="0" normalizeH="0" baseline="30000" noProof="0" dirty="0">
                <a:ln>
                  <a:noFill/>
                </a:ln>
                <a:solidFill>
                  <a:srgbClr val="FF3300"/>
                </a:solidFill>
                <a:effectLst/>
                <a:uLnTx/>
                <a:uFillTx/>
                <a:latin typeface="宋体" panose="02010600030101010101" pitchFamily="2" charset="-122"/>
                <a:ea typeface="+mn-ea"/>
                <a:cs typeface="+mn-cs"/>
              </a:rPr>
              <a:t>3</a:t>
            </a:r>
            <a:r>
              <a:rPr kumimoji="0" lang="en-US" altLang="zh-CN" sz="2200" b="0" i="0" u="none" strike="noStrike" kern="0" cap="none" spc="0" normalizeH="0" baseline="0" noProof="0" dirty="0">
                <a:ln>
                  <a:noFill/>
                </a:ln>
                <a:solidFill>
                  <a:srgbClr val="FF3300"/>
                </a:solidFill>
                <a:effectLst/>
                <a:uLnTx/>
                <a:uFillTx/>
                <a:latin typeface="宋体" panose="02010600030101010101" pitchFamily="2" charset="-122"/>
                <a:ea typeface="+mn-ea"/>
                <a:cs typeface="+mn-cs"/>
              </a:rPr>
              <a:t>)</a:t>
            </a:r>
            <a:r>
              <a:rPr kumimoji="0" lang="zh-CN" altLang="en-US" sz="2200" b="0" i="0" u="none" strike="noStrike" kern="0" cap="none" spc="0" normalizeH="0" baseline="0" noProof="0" dirty="0">
                <a:ln>
                  <a:noFill/>
                </a:ln>
                <a:solidFill>
                  <a:srgbClr val="FF3300"/>
                </a:solidFill>
                <a:effectLst/>
                <a:uLnTx/>
                <a:uFillTx/>
                <a:latin typeface="+mn-lt"/>
                <a:ea typeface="+mn-ea"/>
                <a:cs typeface="+mn-cs"/>
              </a:rPr>
              <a:t>，它的空间复杂性是</a:t>
            </a:r>
            <a:r>
              <a:rPr kumimoji="0" lang="el-GR" altLang="zh-CN" sz="2200" b="0" i="0" u="none" strike="noStrike" kern="0" cap="none" spc="0" normalizeH="0" baseline="0" noProof="0" dirty="0">
                <a:ln>
                  <a:noFill/>
                </a:ln>
                <a:solidFill>
                  <a:srgbClr val="FF3300"/>
                </a:solidFill>
                <a:effectLst/>
                <a:uLnTx/>
                <a:uFillTx/>
                <a:latin typeface="宋体" panose="02010600030101010101" pitchFamily="2" charset="-122"/>
                <a:ea typeface="+mn-ea"/>
                <a:cs typeface="+mn-cs"/>
              </a:rPr>
              <a:t>Θ</a:t>
            </a:r>
            <a:r>
              <a:rPr kumimoji="0" lang="en-US" altLang="zh-CN" sz="2200" b="0" i="0" u="none" strike="noStrike" kern="0" cap="none" spc="0" normalizeH="0" baseline="0" noProof="0" dirty="0">
                <a:ln>
                  <a:noFill/>
                </a:ln>
                <a:solidFill>
                  <a:srgbClr val="FF3300"/>
                </a:solidFill>
                <a:effectLst/>
                <a:uLnTx/>
                <a:uFillTx/>
                <a:latin typeface="宋体" panose="02010600030101010101" pitchFamily="2" charset="-122"/>
                <a:ea typeface="+mn-ea"/>
                <a:cs typeface="+mn-cs"/>
              </a:rPr>
              <a:t>(n</a:t>
            </a:r>
            <a:r>
              <a:rPr kumimoji="0" lang="en-US" altLang="zh-CN" sz="2200" b="0" i="0" u="none" strike="noStrike" kern="0" cap="none" spc="0" normalizeH="0" baseline="30000" noProof="0" dirty="0">
                <a:ln>
                  <a:noFill/>
                </a:ln>
                <a:solidFill>
                  <a:srgbClr val="FF3300"/>
                </a:solidFill>
                <a:effectLst/>
                <a:uLnTx/>
                <a:uFillTx/>
                <a:latin typeface="宋体" panose="02010600030101010101" pitchFamily="2" charset="-122"/>
                <a:ea typeface="+mn-ea"/>
                <a:cs typeface="+mn-cs"/>
              </a:rPr>
              <a:t>2</a:t>
            </a:r>
            <a:r>
              <a:rPr kumimoji="0" lang="en-US" altLang="zh-CN" sz="2200" b="0" i="0" u="none" strike="noStrike" kern="0" cap="none" spc="0" normalizeH="0" baseline="0" noProof="0" dirty="0">
                <a:ln>
                  <a:noFill/>
                </a:ln>
                <a:solidFill>
                  <a:srgbClr val="FF3300"/>
                </a:solidFill>
                <a:effectLst/>
                <a:uLnTx/>
                <a:uFillTx/>
                <a:latin typeface="宋体" panose="02010600030101010101" pitchFamily="2" charset="-122"/>
                <a:ea typeface="+mn-ea"/>
                <a:cs typeface="+mn-cs"/>
              </a:rPr>
              <a:t>)</a:t>
            </a:r>
            <a:r>
              <a:rPr kumimoji="0" lang="zh-CN" altLang="en-US" sz="2200" b="0" i="0" u="none" strike="noStrike" kern="0" cap="none" spc="0" normalizeH="0" baseline="0" noProof="0" dirty="0">
                <a:ln>
                  <a:noFill/>
                </a:ln>
                <a:solidFill>
                  <a:srgbClr val="FF3300"/>
                </a:solidFill>
                <a:effectLst/>
                <a:uLnTx/>
                <a:uFillTx/>
                <a:latin typeface="宋体" panose="02010600030101010101" pitchFamily="2" charset="-122"/>
                <a:ea typeface="+mn-ea"/>
                <a:cs typeface="+mn-cs"/>
              </a:rPr>
              <a:t>。</a:t>
            </a:r>
            <a:endParaRPr kumimoji="0" lang="en-US" altLang="zh-CN" sz="1800" b="0" i="0" u="none" strike="noStrike" kern="0" cap="none" spc="0" normalizeH="0" baseline="0" noProof="0" dirty="0">
              <a:ln>
                <a:noFill/>
              </a:ln>
              <a:solidFill>
                <a:srgbClr val="FF3300"/>
              </a:solidFill>
              <a:effectLst/>
              <a:uLnTx/>
              <a:uFillTx/>
              <a:latin typeface="+mn-lt"/>
              <a:ea typeface="+mn-ea"/>
              <a:cs typeface="+mn-cs"/>
            </a:endParaRPr>
          </a:p>
        </p:txBody>
      </p:sp>
      <p:sp>
        <p:nvSpPr>
          <p:cNvPr id="2" name="Rectangle 2">
            <a:extLst>
              <a:ext uri="{FF2B5EF4-FFF2-40B4-BE49-F238E27FC236}">
                <a16:creationId xmlns:a16="http://schemas.microsoft.com/office/drawing/2014/main" id="{9F96369F-8D34-04F0-964B-1EB44D7303C8}"/>
              </a:ext>
            </a:extLst>
          </p:cNvPr>
          <p:cNvSpPr>
            <a:spLocks noGrp="1"/>
          </p:cNvSpPr>
          <p:nvPr>
            <p:ph type="title"/>
          </p:nvPr>
        </p:nvSpPr>
        <p:spPr>
          <a:xfrm>
            <a:off x="879475" y="269875"/>
            <a:ext cx="7869238" cy="927100"/>
          </a:xfrm>
        </p:spPr>
        <p:txBody>
          <a:bodyPr vert="horz" wrap="square" lIns="91440" tIns="45720" rIns="91440" bIns="45720" anchor="ctr" anchorCtr="0"/>
          <a:lstStyle/>
          <a:p>
            <a:pPr eaLnBrk="1" hangingPunct="1"/>
            <a:r>
              <a:rPr lang="en-US" altLang="zh-CN" dirty="0">
                <a:latin typeface="+mj-ea"/>
              </a:rPr>
              <a:t>4.3.1 </a:t>
            </a:r>
            <a:r>
              <a:rPr lang="zh-CN" altLang="en-US" dirty="0">
                <a:latin typeface="+mj-ea"/>
              </a:rPr>
              <a:t>所有点对最短路径问题</a:t>
            </a:r>
            <a:r>
              <a:rPr lang="en-US" altLang="zh-CN" dirty="0">
                <a:latin typeface="+mj-ea"/>
              </a:rPr>
              <a:t>—</a:t>
            </a:r>
            <a:r>
              <a:rPr lang="zh-CN" altLang="en-US" dirty="0">
                <a:latin typeface="+mj-ea"/>
              </a:rPr>
              <a:t>伪代码</a:t>
            </a:r>
            <a:endParaRPr lang="en-US" altLang="zh-CN" dirty="0">
              <a:latin typeface="+mj-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91139"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91140"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53</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91141" name="Rectangle 2"/>
          <p:cNvSpPr>
            <a:spLocks noGrp="1"/>
          </p:cNvSpPr>
          <p:nvPr>
            <p:ph type="title"/>
          </p:nvPr>
        </p:nvSpPr>
        <p:spPr>
          <a:xfrm>
            <a:off x="879475" y="269875"/>
            <a:ext cx="8085138" cy="927100"/>
          </a:xfrm>
        </p:spPr>
        <p:txBody>
          <a:bodyPr vert="horz" wrap="square" lIns="91440" tIns="45720" rIns="91440" bIns="45720" anchor="ctr" anchorCtr="0"/>
          <a:lstStyle/>
          <a:p>
            <a:pPr eaLnBrk="1" hangingPunct="1"/>
            <a:r>
              <a:rPr lang="en-US" altLang="zh-CN" dirty="0">
                <a:latin typeface="+mj-ea"/>
              </a:rPr>
              <a:t>4.3.1 </a:t>
            </a:r>
            <a:r>
              <a:rPr lang="zh-CN" altLang="en-US" dirty="0">
                <a:latin typeface="+mj-ea"/>
              </a:rPr>
              <a:t>所有点对最短路径问题</a:t>
            </a:r>
            <a:r>
              <a:rPr lang="en-US" altLang="zh-CN" dirty="0">
                <a:latin typeface="+mj-ea"/>
              </a:rPr>
              <a:t>—</a:t>
            </a:r>
            <a:r>
              <a:rPr lang="zh-CN" altLang="en-US" dirty="0">
                <a:latin typeface="+mj-ea"/>
              </a:rPr>
              <a:t>空间复杂度</a:t>
            </a:r>
            <a:endParaRPr lang="en-US" altLang="zh-CN" dirty="0">
              <a:latin typeface="+mj-ea"/>
            </a:endParaRPr>
          </a:p>
        </p:txBody>
      </p:sp>
      <p:sp>
        <p:nvSpPr>
          <p:cNvPr id="91142" name="Rectangle 3"/>
          <p:cNvSpPr>
            <a:spLocks noGrp="1"/>
          </p:cNvSpPr>
          <p:nvPr>
            <p:ph idx="1"/>
          </p:nvPr>
        </p:nvSpPr>
        <p:spPr>
          <a:xfrm>
            <a:off x="900113" y="1268413"/>
            <a:ext cx="7786687" cy="3532187"/>
          </a:xfrm>
        </p:spPr>
        <p:txBody>
          <a:bodyPr vert="horz" wrap="square" lIns="91440" tIns="45720" rIns="91440" bIns="45720" anchor="t" anchorCtr="0"/>
          <a:lstStyle/>
          <a:p>
            <a:pPr eaLnBrk="1" hangingPunct="1">
              <a:lnSpc>
                <a:spcPct val="90000"/>
              </a:lnSpc>
            </a:pPr>
            <a:r>
              <a:rPr lang="zh-CN" altLang="en-US" sz="2800" dirty="0"/>
              <a:t>一个重要的发现是，在第</a:t>
            </a:r>
            <a:r>
              <a:rPr lang="en-US" altLang="zh-CN" sz="2800" dirty="0"/>
              <a:t>k</a:t>
            </a:r>
            <a:r>
              <a:rPr lang="zh-CN" altLang="en-US" sz="2800" dirty="0"/>
              <a:t>次迭代中第</a:t>
            </a:r>
            <a:r>
              <a:rPr lang="en-US" altLang="zh-CN" sz="2800" dirty="0"/>
              <a:t>k</a:t>
            </a:r>
            <a:r>
              <a:rPr lang="zh-CN" altLang="en-US" sz="2800" dirty="0"/>
              <a:t>行和第</a:t>
            </a:r>
            <a:r>
              <a:rPr lang="en-US" altLang="zh-CN" sz="2800" dirty="0"/>
              <a:t>k</a:t>
            </a:r>
            <a:r>
              <a:rPr lang="zh-CN" altLang="en-US" sz="2800" dirty="0"/>
              <a:t>列都是不变的，因此可以仅用</a:t>
            </a:r>
            <a:r>
              <a:rPr lang="en-US" altLang="zh-CN" sz="2800" dirty="0"/>
              <a:t>D</a:t>
            </a:r>
            <a:r>
              <a:rPr lang="zh-CN" altLang="en-US" sz="2800" dirty="0"/>
              <a:t>矩阵的一个副本来进行计算。仅用一个</a:t>
            </a:r>
            <a:r>
              <a:rPr lang="en-US" altLang="zh-CN" sz="2800" i="1" dirty="0"/>
              <a:t>n </a:t>
            </a:r>
            <a:r>
              <a:rPr lang="en-US" altLang="zh-CN" sz="2800" i="1" dirty="0">
                <a:sym typeface="Symbol" panose="05050102010706020507" pitchFamily="18" charset="2"/>
              </a:rPr>
              <a:t></a:t>
            </a:r>
            <a:r>
              <a:rPr lang="en-US" altLang="zh-CN" sz="2800" i="1" dirty="0"/>
              <a:t> n</a:t>
            </a:r>
            <a:r>
              <a:rPr lang="zh-CN" altLang="en-US" sz="2800" dirty="0"/>
              <a:t>矩阵执行这个计算的算法由算法</a:t>
            </a:r>
            <a:r>
              <a:rPr lang="en-US" altLang="zh-CN" sz="2800" dirty="0"/>
              <a:t>FLOYD</a:t>
            </a:r>
            <a:r>
              <a:rPr lang="zh-CN" altLang="en-US" sz="2800" dirty="0"/>
              <a:t>给出。</a:t>
            </a:r>
          </a:p>
          <a:p>
            <a:pPr eaLnBrk="1" hangingPunct="1">
              <a:lnSpc>
                <a:spcPct val="90000"/>
              </a:lnSpc>
            </a:pPr>
            <a:endParaRPr lang="en-US" altLang="zh-CN"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95235"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95236"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54</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95237"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4.3.1 </a:t>
            </a:r>
            <a:r>
              <a:rPr lang="zh-CN" altLang="en-US" dirty="0">
                <a:latin typeface="+mj-ea"/>
              </a:rPr>
              <a:t>所有点对最短路径问题</a:t>
            </a:r>
            <a:r>
              <a:rPr lang="en-US" altLang="zh-CN" dirty="0">
                <a:latin typeface="+mj-ea"/>
              </a:rPr>
              <a:t>—Floyd</a:t>
            </a:r>
            <a:r>
              <a:rPr lang="zh-CN" altLang="en-US" dirty="0">
                <a:latin typeface="+mj-ea"/>
              </a:rPr>
              <a:t>与</a:t>
            </a:r>
            <a:r>
              <a:rPr lang="en-US" altLang="zh-CN" dirty="0">
                <a:latin typeface="+mj-ea"/>
              </a:rPr>
              <a:t>Dijkstra</a:t>
            </a:r>
            <a:r>
              <a:rPr lang="zh-CN" altLang="en-US" dirty="0">
                <a:latin typeface="+mj-ea"/>
              </a:rPr>
              <a:t>算法比较</a:t>
            </a:r>
            <a:endParaRPr lang="en-US" altLang="zh-CN" dirty="0">
              <a:latin typeface="+mj-ea"/>
            </a:endParaRPr>
          </a:p>
        </p:txBody>
      </p:sp>
      <p:sp>
        <p:nvSpPr>
          <p:cNvPr id="95238" name="Rectangle 3"/>
          <p:cNvSpPr>
            <a:spLocks noGrp="1"/>
          </p:cNvSpPr>
          <p:nvPr>
            <p:ph idx="1"/>
          </p:nvPr>
        </p:nvSpPr>
        <p:spPr>
          <a:xfrm>
            <a:off x="902470" y="1340768"/>
            <a:ext cx="7786687" cy="3532187"/>
          </a:xfrm>
        </p:spPr>
        <p:txBody>
          <a:bodyPr vert="horz" wrap="square" lIns="91440" tIns="45720" rIns="91440" bIns="45720" anchor="t" anchorCtr="0"/>
          <a:lstStyle/>
          <a:p>
            <a:pPr eaLnBrk="1" hangingPunct="1">
              <a:lnSpc>
                <a:spcPct val="90000"/>
              </a:lnSpc>
            </a:pPr>
            <a:r>
              <a:rPr lang="en-US" altLang="zh-CN" dirty="0"/>
              <a:t>Dijkstra</a:t>
            </a:r>
            <a:r>
              <a:rPr lang="zh-CN" altLang="en-US" dirty="0"/>
              <a:t>算法</a:t>
            </a:r>
            <a:r>
              <a:rPr lang="en-US" altLang="zh-CN" dirty="0"/>
              <a:t>,</a:t>
            </a:r>
            <a:r>
              <a:rPr lang="zh-CN" altLang="en-US" dirty="0"/>
              <a:t>图所有边权值都为非负的</a:t>
            </a:r>
            <a:r>
              <a:rPr lang="en-US" altLang="zh-CN" dirty="0"/>
              <a:t>; Floyd</a:t>
            </a:r>
            <a:r>
              <a:rPr lang="zh-CN" altLang="en-US" dirty="0"/>
              <a:t>算法</a:t>
            </a:r>
            <a:r>
              <a:rPr lang="en-US" altLang="zh-CN" dirty="0"/>
              <a:t>,</a:t>
            </a:r>
            <a:r>
              <a:rPr lang="zh-CN" altLang="en-US" dirty="0"/>
              <a:t>不允许所有权值为负的回路</a:t>
            </a:r>
            <a:r>
              <a:rPr lang="en-US" altLang="zh-CN" dirty="0"/>
              <a:t>,</a:t>
            </a:r>
          </a:p>
          <a:p>
            <a:pPr eaLnBrk="1" hangingPunct="1">
              <a:lnSpc>
                <a:spcPct val="90000"/>
              </a:lnSpc>
            </a:pPr>
            <a:r>
              <a:rPr lang="en-US" altLang="zh-CN" dirty="0"/>
              <a:t>Dijkstra</a:t>
            </a:r>
            <a:r>
              <a:rPr lang="zh-CN" altLang="en-US" dirty="0"/>
              <a:t>只可以求出任意点到达源点的最短距离</a:t>
            </a:r>
            <a:r>
              <a:rPr lang="en-US" altLang="zh-CN" dirty="0"/>
              <a:t>; Floyd</a:t>
            </a:r>
            <a:r>
              <a:rPr lang="zh-CN" altLang="en-US" dirty="0"/>
              <a:t>可以求出任意两点间的最短距离</a:t>
            </a:r>
            <a:r>
              <a:rPr lang="en-US" altLang="zh-CN" dirty="0"/>
              <a:t>,</a:t>
            </a:r>
          </a:p>
          <a:p>
            <a:pPr eaLnBrk="1" hangingPunct="1">
              <a:lnSpc>
                <a:spcPct val="90000"/>
              </a:lnSpc>
            </a:pPr>
            <a:r>
              <a:rPr lang="en-US" altLang="zh-CN" dirty="0"/>
              <a:t>Dijkstra</a:t>
            </a:r>
            <a:r>
              <a:rPr lang="zh-CN" altLang="en-US" dirty="0"/>
              <a:t>算法的思想是贪心</a:t>
            </a:r>
            <a:r>
              <a:rPr lang="en-US" altLang="zh-CN" dirty="0"/>
              <a:t>, Floyd</a:t>
            </a:r>
            <a:r>
              <a:rPr lang="zh-CN" altLang="en-US" dirty="0"/>
              <a:t>算法的思想是动态规划</a:t>
            </a:r>
            <a:endParaRPr lang="en-US" altLang="zh-CN" dirty="0"/>
          </a:p>
          <a:p>
            <a:pPr eaLnBrk="1" hangingPunct="1">
              <a:lnSpc>
                <a:spcPct val="90000"/>
              </a:lnSpc>
            </a:pPr>
            <a:r>
              <a:rPr lang="en-US" altLang="zh-CN" dirty="0"/>
              <a:t>Dijkstra</a:t>
            </a:r>
            <a:r>
              <a:rPr lang="zh-CN" altLang="en-US" dirty="0"/>
              <a:t>时间复杂度</a:t>
            </a:r>
            <a:r>
              <a:rPr lang="en-US" altLang="zh-CN" dirty="0"/>
              <a:t>O(n</a:t>
            </a:r>
            <a:r>
              <a:rPr lang="en-US" altLang="zh-CN" baseline="30000" dirty="0"/>
              <a:t>2</a:t>
            </a:r>
            <a:r>
              <a:rPr lang="en-US" altLang="zh-CN" dirty="0"/>
              <a:t>)</a:t>
            </a:r>
            <a:r>
              <a:rPr lang="zh-CN" altLang="en-US" dirty="0"/>
              <a:t>，</a:t>
            </a:r>
            <a:r>
              <a:rPr lang="en-US" altLang="zh-CN" dirty="0"/>
              <a:t> Floyd</a:t>
            </a:r>
            <a:r>
              <a:rPr lang="zh-CN" altLang="en-US" dirty="0"/>
              <a:t>算法</a:t>
            </a:r>
            <a:r>
              <a:rPr lang="en-US" altLang="en-US" dirty="0"/>
              <a:t>O(</a:t>
            </a:r>
            <a:r>
              <a:rPr lang="en-US" altLang="zh-CN" dirty="0"/>
              <a:t>n</a:t>
            </a:r>
            <a:r>
              <a:rPr lang="en-US" altLang="zh-CN" baseline="30000" dirty="0"/>
              <a:t>3</a:t>
            </a:r>
            <a:r>
              <a:rPr lang="en-US" altLang="en-US" dirty="0"/>
              <a:t>)</a:t>
            </a:r>
          </a:p>
          <a:p>
            <a:pPr eaLnBrk="1" hangingPunct="1">
              <a:lnSpc>
                <a:spcPct val="90000"/>
              </a:lnSpc>
            </a:pPr>
            <a:r>
              <a:rPr lang="en-US" altLang="zh-CN" dirty="0"/>
              <a:t>Dijkstra </a:t>
            </a:r>
            <a:r>
              <a:rPr lang="zh-CN" altLang="en-US" dirty="0"/>
              <a:t>算法 在网络中用得多，一个一个节点添加，加一个点刷一次路由表。</a:t>
            </a:r>
            <a:r>
              <a:rPr lang="en-US" altLang="zh-CN" dirty="0"/>
              <a:t>Floyd </a:t>
            </a:r>
            <a:r>
              <a:rPr lang="zh-CN" altLang="en-US" dirty="0"/>
              <a:t>算法把所有已经连接的路径都标出来，再通过不等式比较来更改路径。 </a:t>
            </a:r>
            <a:br>
              <a:rPr lang="en-US" altLang="zh-CN" sz="2800" dirty="0"/>
            </a:br>
            <a:r>
              <a:rPr lang="en-US" altLang="zh-CN" sz="2800" dirty="0"/>
              <a:t> </a:t>
            </a:r>
            <a:br>
              <a:rPr lang="zh-CN" altLang="en-US" sz="2800" dirty="0"/>
            </a:br>
            <a:r>
              <a:rPr lang="zh-CN" altLang="en-US" sz="2800" dirty="0"/>
              <a:t> </a:t>
            </a:r>
            <a:br>
              <a:rPr lang="en-US" altLang="zh-CN" sz="2800" dirty="0"/>
            </a:br>
            <a:r>
              <a:rPr lang="en-US" altLang="zh-CN" sz="2800" dirty="0"/>
              <a:t> </a:t>
            </a:r>
            <a:br>
              <a:rPr lang="en-US" altLang="zh-CN" sz="2800" dirty="0"/>
            </a:br>
            <a:endParaRPr lang="en-US" altLang="zh-CN"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4.3.2 0/1</a:t>
            </a:r>
            <a:r>
              <a:rPr lang="zh-CN" altLang="en-US" sz="3200" dirty="0">
                <a:latin typeface="+mj-ea"/>
              </a:rPr>
              <a:t>背包问题</a:t>
            </a:r>
            <a:endParaRPr lang="en-US" altLang="zh-CN" b="0" dirty="0">
              <a:latin typeface="+mj-ea"/>
            </a:endParaRPr>
          </a:p>
        </p:txBody>
      </p:sp>
      <p:sp>
        <p:nvSpPr>
          <p:cNvPr id="4" name="Rectangle 3">
            <a:extLst>
              <a:ext uri="{FF2B5EF4-FFF2-40B4-BE49-F238E27FC236}">
                <a16:creationId xmlns:a16="http://schemas.microsoft.com/office/drawing/2014/main" id="{FFC16A7C-F55B-548B-1CB4-9A5B2B9DD114}"/>
              </a:ext>
            </a:extLst>
          </p:cNvPr>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       </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问题描述</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rPr>
              <a:t>背包问题可以定义如下</a:t>
            </a:r>
            <a:endParaRPr kumimoji="0" lang="en-US" altLang="zh-CN" sz="2400" b="0" i="0" u="none" strike="noStrike" kern="0" cap="none" spc="0" normalizeH="0" baseline="0" noProof="0" dirty="0">
              <a:ln>
                <a:noFill/>
              </a:ln>
              <a:solidFill>
                <a:schemeClr val="accent2"/>
              </a:solidFill>
              <a:effectLst/>
              <a:uLnTx/>
              <a:uFillTx/>
              <a:latin typeface="+mn-ea"/>
              <a:ea typeface="+mn-ea"/>
            </a:endParaRPr>
          </a:p>
          <a:p>
            <a:pPr marL="742950" marR="0" lvl="1" indent="-285750" algn="l" defTabSz="914400" rtl="0" eaLnBrk="1" fontAlgn="base" latinLnBrk="0" hangingPunct="1">
              <a:lnSpc>
                <a:spcPct val="8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Arial" panose="020B0604020202020204" pitchFamily="34" charset="0"/>
              <a:ea typeface="华文行楷" panose="02010800040101010101" pitchFamily="2" charset="-122"/>
            </a:endParaRPr>
          </a:p>
          <a:p>
            <a:pPr marL="1143000" marR="0" lvl="2" indent="-228600" algn="l" defTabSz="914400" rtl="0" eaLnBrk="1" fontAlgn="base" latinLnBrk="0" hangingPunct="1">
              <a:lnSpc>
                <a:spcPts val="2600"/>
              </a:lnSpc>
              <a:spcBef>
                <a:spcPts val="0"/>
              </a:spcBef>
              <a:spcAft>
                <a:spcPts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设</a:t>
            </a:r>
            <a:r>
              <a:rPr kumimoji="0" lang="en-US" altLang="zh-CN" sz="2400" b="0" i="0" u="none" strike="noStrike" kern="0" cap="none" spc="0" normalizeH="0" baseline="0" noProof="0" dirty="0">
                <a:ln>
                  <a:noFill/>
                </a:ln>
                <a:solidFill>
                  <a:schemeClr val="accent2"/>
                </a:solidFill>
                <a:effectLst/>
                <a:uLnTx/>
                <a:uFillTx/>
                <a:latin typeface="+mn-lt"/>
                <a:ea typeface="+mn-ea"/>
              </a:rPr>
              <a:t>U = {u</a:t>
            </a:r>
            <a:r>
              <a:rPr kumimoji="0" lang="en-US" altLang="zh-CN" sz="2400" b="0" i="0" u="none" strike="noStrike" kern="0" cap="none" spc="0" normalizeH="0" baseline="-25000" noProof="0" dirty="0">
                <a:ln>
                  <a:noFill/>
                </a:ln>
                <a:solidFill>
                  <a:schemeClr val="accent2"/>
                </a:solidFill>
                <a:effectLst/>
                <a:uLnTx/>
                <a:uFillTx/>
                <a:latin typeface="+mn-lt"/>
                <a:ea typeface="+mn-ea"/>
              </a:rPr>
              <a:t>1</a:t>
            </a:r>
            <a:r>
              <a:rPr kumimoji="0" lang="en-US" altLang="zh-CN" sz="2400" b="0" i="0" u="none" strike="noStrike" kern="0" cap="none" spc="0" normalizeH="0" baseline="0" noProof="0" dirty="0">
                <a:ln>
                  <a:noFill/>
                </a:ln>
                <a:solidFill>
                  <a:schemeClr val="accent2"/>
                </a:solidFill>
                <a:effectLst/>
                <a:uLnTx/>
                <a:uFillTx/>
                <a:latin typeface="+mn-lt"/>
                <a:ea typeface="+mn-ea"/>
              </a:rPr>
              <a:t>,u</a:t>
            </a:r>
            <a:r>
              <a:rPr kumimoji="0" lang="en-US" altLang="zh-CN" sz="2400" b="0" i="0" u="none" strike="noStrike" kern="0" cap="none" spc="0" normalizeH="0" baseline="-25000" noProof="0" dirty="0">
                <a:ln>
                  <a:noFill/>
                </a:ln>
                <a:solidFill>
                  <a:schemeClr val="accent2"/>
                </a:solidFill>
                <a:effectLst/>
                <a:uLnTx/>
                <a:uFillTx/>
                <a:latin typeface="+mn-lt"/>
                <a:ea typeface="+mn-ea"/>
              </a:rPr>
              <a:t>2</a:t>
            </a:r>
            <a:r>
              <a:rPr kumimoji="0" lang="en-US" altLang="zh-CN" sz="2400" b="0" i="0" u="none" strike="noStrike" kern="0" cap="none" spc="0" normalizeH="0" baseline="0" noProof="0" dirty="0">
                <a:ln>
                  <a:noFill/>
                </a:ln>
                <a:solidFill>
                  <a:schemeClr val="accent2"/>
                </a:solidFill>
                <a:effectLst/>
                <a:uLnTx/>
                <a:uFillTx/>
                <a:latin typeface="+mn-lt"/>
                <a:ea typeface="+mn-ea"/>
              </a:rPr>
              <a:t>,. . . ,u</a:t>
            </a:r>
            <a:r>
              <a:rPr kumimoji="0" lang="en-US" altLang="zh-CN" sz="2400" b="0" i="0" u="none" strike="noStrike" kern="0" cap="none" spc="0" normalizeH="0" baseline="-25000" noProof="0" dirty="0">
                <a:ln>
                  <a:noFill/>
                </a:ln>
                <a:solidFill>
                  <a:schemeClr val="accent2"/>
                </a:solidFill>
                <a:effectLst/>
                <a:uLnTx/>
                <a:uFillTx/>
                <a:latin typeface="+mn-lt"/>
                <a:ea typeface="+mn-ea"/>
              </a:rPr>
              <a:t>n</a:t>
            </a:r>
            <a:r>
              <a:rPr kumimoji="0" lang="en-US" altLang="zh-CN" sz="2400" b="0" i="0" u="none" strike="noStrike" kern="0" cap="none" spc="0" normalizeH="0" baseline="0" noProof="0" dirty="0">
                <a:ln>
                  <a:noFill/>
                </a:ln>
                <a:solidFill>
                  <a:schemeClr val="accent2"/>
                </a:solidFill>
                <a:effectLst/>
                <a:uLnTx/>
                <a:uFillTx/>
                <a:latin typeface="+mn-lt"/>
                <a:ea typeface="+mn-ea"/>
              </a:rPr>
              <a:t>}</a:t>
            </a:r>
            <a:r>
              <a:rPr kumimoji="0" lang="zh-CN" altLang="en-US" sz="2400" b="0" i="0" u="none" strike="noStrike" kern="0" cap="none" spc="0" normalizeH="0" baseline="0" noProof="0" dirty="0">
                <a:ln>
                  <a:noFill/>
                </a:ln>
                <a:solidFill>
                  <a:schemeClr val="accent2"/>
                </a:solidFill>
                <a:effectLst/>
                <a:uLnTx/>
                <a:uFillTx/>
                <a:latin typeface="+mn-lt"/>
                <a:ea typeface="+mn-ea"/>
              </a:rPr>
              <a:t>是一个准备放入容量为</a:t>
            </a:r>
            <a:r>
              <a:rPr kumimoji="0" lang="en-US" altLang="zh-CN" sz="2400" b="0" i="0" u="none" strike="noStrike" kern="0" cap="none" spc="0" normalizeH="0" baseline="0" noProof="0" dirty="0">
                <a:ln>
                  <a:noFill/>
                </a:ln>
                <a:solidFill>
                  <a:schemeClr val="accent2"/>
                </a:solidFill>
                <a:effectLst/>
                <a:uLnTx/>
                <a:uFillTx/>
                <a:latin typeface="+mn-lt"/>
                <a:ea typeface="+mn-ea"/>
              </a:rPr>
              <a:t>C</a:t>
            </a:r>
            <a:r>
              <a:rPr kumimoji="0" lang="zh-CN" altLang="en-US" sz="2400" b="0" i="0" u="none" strike="noStrike" kern="0" cap="none" spc="0" normalizeH="0" baseline="0" noProof="0" dirty="0">
                <a:ln>
                  <a:noFill/>
                </a:ln>
                <a:solidFill>
                  <a:schemeClr val="accent2"/>
                </a:solidFill>
                <a:effectLst/>
                <a:uLnTx/>
                <a:uFillTx/>
                <a:latin typeface="+mn-lt"/>
                <a:ea typeface="+mn-ea"/>
              </a:rPr>
              <a:t>的背包中的</a:t>
            </a:r>
            <a:r>
              <a:rPr kumimoji="0" lang="en-US" altLang="zh-CN" sz="2400" b="0" i="0" u="none" strike="noStrike" kern="0" cap="none" spc="0" normalizeH="0" baseline="0" noProof="0" dirty="0">
                <a:ln>
                  <a:noFill/>
                </a:ln>
                <a:solidFill>
                  <a:schemeClr val="accent2"/>
                </a:solidFill>
                <a:effectLst/>
                <a:uLnTx/>
                <a:uFillTx/>
                <a:latin typeface="+mn-lt"/>
                <a:ea typeface="+mn-ea"/>
              </a:rPr>
              <a:t>n</a:t>
            </a:r>
            <a:r>
              <a:rPr kumimoji="0" lang="zh-CN" altLang="en-US" sz="2400" b="0" i="0" u="none" strike="noStrike" kern="0" cap="none" spc="0" normalizeH="0" baseline="0" noProof="0" dirty="0">
                <a:ln>
                  <a:noFill/>
                </a:ln>
                <a:solidFill>
                  <a:schemeClr val="accent2"/>
                </a:solidFill>
                <a:effectLst/>
                <a:uLnTx/>
                <a:uFillTx/>
                <a:latin typeface="+mn-lt"/>
                <a:ea typeface="+mn-ea"/>
              </a:rPr>
              <a:t>项物品的集合。</a:t>
            </a: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1143000" marR="0" lvl="2" indent="-228600" algn="l" defTabSz="914400" rtl="0" eaLnBrk="1" fontAlgn="base" latinLnBrk="0" hangingPunct="1">
              <a:lnSpc>
                <a:spcPts val="2600"/>
              </a:lnSpc>
              <a:spcBef>
                <a:spcPts val="0"/>
              </a:spcBef>
              <a:spcAft>
                <a:spcPts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对于</a:t>
            </a:r>
            <a:r>
              <a:rPr kumimoji="0" lang="en-US" altLang="zh-CN" sz="2400" b="0" i="0" u="none" strike="noStrike" kern="0" cap="none" spc="0" normalizeH="0" baseline="0" noProof="0" dirty="0">
                <a:ln>
                  <a:noFill/>
                </a:ln>
                <a:solidFill>
                  <a:schemeClr val="accent2"/>
                </a:solidFill>
                <a:effectLst/>
                <a:uLnTx/>
                <a:uFillTx/>
                <a:latin typeface="+mn-lt"/>
                <a:ea typeface="+mn-ea"/>
              </a:rPr>
              <a:t>1 </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rPr>
              <a:t>≤</a:t>
            </a:r>
            <a:r>
              <a:rPr kumimoji="0" lang="en-US" altLang="zh-CN" sz="2400" b="0" i="0" u="none" strike="noStrike" kern="0" cap="none" spc="0" normalizeH="0" baseline="0" noProof="0" dirty="0">
                <a:ln>
                  <a:noFill/>
                </a:ln>
                <a:solidFill>
                  <a:schemeClr val="accent2"/>
                </a:solidFill>
                <a:effectLst/>
                <a:uLnTx/>
                <a:uFillTx/>
                <a:latin typeface="+mn-lt"/>
                <a:ea typeface="+mn-ea"/>
              </a:rPr>
              <a:t> j </a:t>
            </a:r>
            <a:r>
              <a:rPr kumimoji="0" lang="en-US" altLang="zh-CN" sz="2400" b="0" i="0" u="none" strike="noStrike" kern="0" cap="none" spc="0" normalizeH="0" baseline="0" noProof="0" dirty="0">
                <a:ln>
                  <a:noFill/>
                </a:ln>
                <a:solidFill>
                  <a:schemeClr val="accent2"/>
                </a:solidFill>
                <a:effectLst/>
                <a:uLnTx/>
                <a:uFillTx/>
                <a:latin typeface="+mn-lt"/>
                <a:ea typeface="+mn-ea"/>
                <a:cs typeface="Arial" panose="020B0604020202020204" pitchFamily="34" charset="0"/>
              </a:rPr>
              <a:t>≤</a:t>
            </a:r>
            <a:r>
              <a:rPr kumimoji="0" lang="en-US" altLang="zh-CN" sz="2400" b="0" i="0" u="none" strike="noStrike" kern="0" cap="none" spc="0" normalizeH="0" baseline="0" noProof="0" dirty="0">
                <a:ln>
                  <a:noFill/>
                </a:ln>
                <a:solidFill>
                  <a:schemeClr val="accent2"/>
                </a:solidFill>
                <a:effectLst/>
                <a:uLnTx/>
                <a:uFillTx/>
                <a:latin typeface="+mn-lt"/>
                <a:ea typeface="+mn-ea"/>
              </a:rPr>
              <a:t> n</a:t>
            </a:r>
            <a:r>
              <a:rPr kumimoji="0" lang="zh-CN" altLang="en-US" sz="2400" b="0" i="0" u="none" strike="noStrike" kern="0" cap="none" spc="0" normalizeH="0" baseline="0" noProof="0" dirty="0">
                <a:ln>
                  <a:noFill/>
                </a:ln>
                <a:solidFill>
                  <a:schemeClr val="accent2"/>
                </a:solidFill>
                <a:effectLst/>
                <a:uLnTx/>
                <a:uFillTx/>
                <a:latin typeface="+mn-lt"/>
                <a:ea typeface="+mn-ea"/>
              </a:rPr>
              <a:t>。，令</a:t>
            </a:r>
            <a:r>
              <a:rPr kumimoji="0" lang="en-US" altLang="zh-CN" sz="2400" b="0" i="0" u="none" strike="noStrike" kern="0" cap="none" spc="0" normalizeH="0" baseline="0" noProof="0" dirty="0" err="1">
                <a:ln>
                  <a:noFill/>
                </a:ln>
                <a:solidFill>
                  <a:schemeClr val="accent2"/>
                </a:solidFill>
                <a:effectLst/>
                <a:uLnTx/>
                <a:uFillTx/>
                <a:latin typeface="+mn-lt"/>
                <a:ea typeface="+mn-ea"/>
              </a:rPr>
              <a:t>s</a:t>
            </a:r>
            <a:r>
              <a:rPr kumimoji="0" lang="en-US" altLang="zh-CN" sz="2400" b="0" i="0" u="none" strike="noStrike" kern="0" cap="none" spc="0" normalizeH="0" baseline="-25000" noProof="0" dirty="0" err="1">
                <a:ln>
                  <a:noFill/>
                </a:ln>
                <a:solidFill>
                  <a:schemeClr val="accent2"/>
                </a:solidFill>
                <a:effectLst/>
                <a:uLnTx/>
                <a:uFillTx/>
                <a:latin typeface="+mn-lt"/>
                <a:ea typeface="+mn-ea"/>
              </a:rPr>
              <a:t>j</a:t>
            </a:r>
            <a:r>
              <a:rPr kumimoji="0" lang="en-US" altLang="zh-CN" sz="2400" b="0" i="0" u="none" strike="noStrike" kern="0" cap="none" spc="0" normalizeH="0" baseline="0" noProof="0" dirty="0">
                <a:ln>
                  <a:noFill/>
                </a:ln>
                <a:solidFill>
                  <a:schemeClr val="accent2"/>
                </a:solidFill>
                <a:effectLst/>
                <a:uLnTx/>
                <a:uFillTx/>
                <a:latin typeface="+mn-lt"/>
                <a:ea typeface="+mn-ea"/>
              </a:rPr>
              <a:t> </a:t>
            </a:r>
            <a:r>
              <a:rPr kumimoji="0" lang="zh-CN" altLang="en-US" sz="2400" b="0" i="0" u="none" strike="noStrike" kern="0" cap="none" spc="0" normalizeH="0" baseline="0" noProof="0" dirty="0">
                <a:ln>
                  <a:noFill/>
                </a:ln>
                <a:solidFill>
                  <a:schemeClr val="accent2"/>
                </a:solidFill>
                <a:effectLst/>
                <a:uLnTx/>
                <a:uFillTx/>
                <a:latin typeface="+mn-lt"/>
                <a:ea typeface="+mn-ea"/>
              </a:rPr>
              <a:t>和</a:t>
            </a:r>
            <a:r>
              <a:rPr kumimoji="0" lang="en-US" altLang="zh-CN" sz="2400" b="0" i="0" u="none" strike="noStrike" kern="0" cap="none" spc="0" normalizeH="0" baseline="0" noProof="0" dirty="0" err="1">
                <a:ln>
                  <a:noFill/>
                </a:ln>
                <a:solidFill>
                  <a:schemeClr val="accent2"/>
                </a:solidFill>
                <a:effectLst/>
                <a:uLnTx/>
                <a:uFillTx/>
                <a:latin typeface="+mn-lt"/>
                <a:ea typeface="+mn-ea"/>
              </a:rPr>
              <a:t>v</a:t>
            </a:r>
            <a:r>
              <a:rPr kumimoji="0" lang="en-US" altLang="zh-CN" sz="2400" b="0" i="0" u="none" strike="noStrike" kern="0" cap="none" spc="0" normalizeH="0" baseline="-25000" noProof="0" dirty="0" err="1">
                <a:ln>
                  <a:noFill/>
                </a:ln>
                <a:solidFill>
                  <a:schemeClr val="accent2"/>
                </a:solidFill>
                <a:effectLst/>
                <a:uLnTx/>
                <a:uFillTx/>
                <a:latin typeface="+mn-lt"/>
                <a:ea typeface="+mn-ea"/>
              </a:rPr>
              <a:t>j</a:t>
            </a:r>
            <a:r>
              <a:rPr kumimoji="0" lang="zh-CN" altLang="en-US" sz="2400" b="0" i="0" u="none" strike="noStrike" kern="0" cap="none" spc="0" normalizeH="0" baseline="0" noProof="0" dirty="0">
                <a:ln>
                  <a:noFill/>
                </a:ln>
                <a:solidFill>
                  <a:schemeClr val="accent2"/>
                </a:solidFill>
                <a:effectLst/>
                <a:uLnTx/>
                <a:uFillTx/>
                <a:latin typeface="+mn-lt"/>
                <a:ea typeface="+mn-ea"/>
              </a:rPr>
              <a:t>分别为第</a:t>
            </a:r>
            <a:r>
              <a:rPr kumimoji="0" lang="en-US" altLang="zh-CN" sz="2400" b="0" i="0" u="none" strike="noStrike" kern="0" cap="none" spc="0" normalizeH="0" baseline="0" noProof="0" dirty="0">
                <a:ln>
                  <a:noFill/>
                </a:ln>
                <a:solidFill>
                  <a:schemeClr val="accent2"/>
                </a:solidFill>
                <a:effectLst/>
                <a:uLnTx/>
                <a:uFillTx/>
                <a:latin typeface="+mn-lt"/>
                <a:ea typeface="+mn-ea"/>
              </a:rPr>
              <a:t>j</a:t>
            </a:r>
            <a:r>
              <a:rPr kumimoji="0" lang="zh-CN" altLang="en-US" sz="2400" b="0" i="0" u="none" strike="noStrike" kern="0" cap="none" spc="0" normalizeH="0" baseline="0" noProof="0" dirty="0">
                <a:ln>
                  <a:noFill/>
                </a:ln>
                <a:solidFill>
                  <a:schemeClr val="accent2"/>
                </a:solidFill>
                <a:effectLst/>
                <a:uLnTx/>
                <a:uFillTx/>
                <a:latin typeface="+mn-lt"/>
                <a:ea typeface="+mn-ea"/>
              </a:rPr>
              <a:t>项物品的体积和价值，这里</a:t>
            </a:r>
            <a:r>
              <a:rPr kumimoji="0" lang="zh-CN" altLang="en-US" sz="2400" b="0" i="0" u="none" strike="noStrike" kern="0" cap="none" spc="0" normalizeH="0" baseline="0" noProof="0" dirty="0">
                <a:ln>
                  <a:noFill/>
                </a:ln>
                <a:solidFill>
                  <a:schemeClr val="tx1"/>
                </a:solidFill>
                <a:effectLst/>
                <a:uLnTx/>
                <a:uFillTx/>
                <a:latin typeface="+mn-lt"/>
                <a:ea typeface="+mn-ea"/>
              </a:rPr>
              <a:t>，</a:t>
            </a:r>
            <a:r>
              <a:rPr kumimoji="0" lang="en-US" altLang="zh-CN" sz="2400" b="0" i="0" u="none" strike="noStrike" kern="0" cap="none" spc="0" normalizeH="0" baseline="0" noProof="0" dirty="0">
                <a:ln>
                  <a:noFill/>
                </a:ln>
                <a:solidFill>
                  <a:srgbClr val="FF0000"/>
                </a:solidFill>
                <a:effectLst/>
                <a:uLnTx/>
                <a:uFillTx/>
                <a:latin typeface="+mn-lt"/>
                <a:ea typeface="+mn-ea"/>
              </a:rPr>
              <a:t> C </a:t>
            </a:r>
            <a:r>
              <a:rPr kumimoji="0" lang="zh-CN" altLang="en-US" sz="2400" b="0" i="0" u="none" strike="noStrike" kern="0" cap="none" spc="0" normalizeH="0" baseline="0" noProof="0" dirty="0">
                <a:ln>
                  <a:noFill/>
                </a:ln>
                <a:solidFill>
                  <a:srgbClr val="FF0000"/>
                </a:solidFill>
                <a:effectLst/>
                <a:uLnTx/>
                <a:uFillTx/>
                <a:latin typeface="+mn-lt"/>
                <a:ea typeface="+mn-ea"/>
              </a:rPr>
              <a:t>，</a:t>
            </a:r>
            <a:r>
              <a:rPr kumimoji="0" lang="en-US" altLang="zh-CN" sz="2400" b="0" i="0" u="none" strike="noStrike" kern="0" cap="none" spc="0" normalizeH="0" baseline="0" noProof="0" dirty="0">
                <a:ln>
                  <a:noFill/>
                </a:ln>
                <a:solidFill>
                  <a:srgbClr val="FF0000"/>
                </a:solidFill>
                <a:effectLst/>
                <a:uLnTx/>
                <a:uFillTx/>
                <a:latin typeface="+mn-lt"/>
                <a:ea typeface="+mn-ea"/>
              </a:rPr>
              <a:t> </a:t>
            </a:r>
            <a:r>
              <a:rPr kumimoji="0" lang="en-US" altLang="zh-CN" sz="2400" b="0" i="0" u="none" strike="noStrike" kern="0" cap="none" spc="0" normalizeH="0" baseline="0" noProof="0" dirty="0" err="1">
                <a:ln>
                  <a:noFill/>
                </a:ln>
                <a:solidFill>
                  <a:srgbClr val="FF0000"/>
                </a:solidFill>
                <a:effectLst/>
                <a:uLnTx/>
                <a:uFillTx/>
                <a:latin typeface="+mn-lt"/>
                <a:ea typeface="+mn-ea"/>
              </a:rPr>
              <a:t>s</a:t>
            </a:r>
            <a:r>
              <a:rPr kumimoji="0" lang="en-US" altLang="zh-CN" sz="2400" b="0" i="0" u="none" strike="noStrike" kern="0" cap="none" spc="0" normalizeH="0" baseline="-25000" noProof="0" dirty="0" err="1">
                <a:ln>
                  <a:noFill/>
                </a:ln>
                <a:solidFill>
                  <a:srgbClr val="FF0000"/>
                </a:solidFill>
                <a:effectLst/>
                <a:uLnTx/>
                <a:uFillTx/>
                <a:latin typeface="+mn-lt"/>
                <a:ea typeface="+mn-ea"/>
              </a:rPr>
              <a:t>j</a:t>
            </a:r>
            <a:r>
              <a:rPr kumimoji="0" lang="zh-CN" altLang="en-US" sz="2400" b="0" i="0" u="none" strike="noStrike" kern="0" cap="none" spc="0" normalizeH="0" baseline="0" noProof="0" dirty="0">
                <a:ln>
                  <a:noFill/>
                </a:ln>
                <a:solidFill>
                  <a:srgbClr val="FF0000"/>
                </a:solidFill>
                <a:effectLst/>
                <a:uLnTx/>
                <a:uFillTx/>
                <a:latin typeface="Arial" panose="020B0604020202020204" pitchFamily="34" charset="0"/>
                <a:ea typeface="+mj-ea"/>
              </a:rPr>
              <a:t> ， </a:t>
            </a:r>
            <a:r>
              <a:rPr kumimoji="0" lang="en-US" altLang="zh-CN" sz="2400" b="0" i="0" u="none" strike="noStrike" kern="0" cap="none" spc="0" normalizeH="0" baseline="0" noProof="0" dirty="0" err="1">
                <a:ln>
                  <a:noFill/>
                </a:ln>
                <a:solidFill>
                  <a:srgbClr val="FF0000"/>
                </a:solidFill>
                <a:effectLst/>
                <a:uLnTx/>
                <a:uFillTx/>
                <a:latin typeface="+mn-lt"/>
                <a:ea typeface="+mn-ea"/>
              </a:rPr>
              <a:t>v</a:t>
            </a:r>
            <a:r>
              <a:rPr kumimoji="0" lang="en-US" altLang="zh-CN" sz="2400" b="0" i="0" u="none" strike="noStrike" kern="0" cap="none" spc="0" normalizeH="0" baseline="-25000" noProof="0" dirty="0" err="1">
                <a:ln>
                  <a:noFill/>
                </a:ln>
                <a:solidFill>
                  <a:srgbClr val="FF0000"/>
                </a:solidFill>
                <a:effectLst/>
                <a:uLnTx/>
                <a:uFillTx/>
                <a:latin typeface="+mn-lt"/>
                <a:ea typeface="+mn-ea"/>
              </a:rPr>
              <a:t>j</a:t>
            </a:r>
            <a:r>
              <a:rPr kumimoji="0" lang="zh-CN" altLang="en-US" sz="2400" b="0" i="0" u="none" strike="noStrike" kern="0" cap="none" spc="0" normalizeH="0" baseline="0" noProof="0" dirty="0">
                <a:ln>
                  <a:noFill/>
                </a:ln>
                <a:solidFill>
                  <a:schemeClr val="accent2"/>
                </a:solidFill>
                <a:effectLst/>
                <a:uLnTx/>
                <a:uFillTx/>
                <a:latin typeface="+mn-lt"/>
                <a:ea typeface="+mn-ea"/>
              </a:rPr>
              <a:t>和</a:t>
            </a:r>
            <a:r>
              <a:rPr kumimoji="0" lang="en-US" altLang="zh-CN" sz="2400" b="0" i="0" u="none" strike="noStrike" kern="0" cap="none" spc="0" normalizeH="0" baseline="0" noProof="0" dirty="0">
                <a:ln>
                  <a:noFill/>
                </a:ln>
                <a:solidFill>
                  <a:schemeClr val="accent2"/>
                </a:solidFill>
                <a:effectLst/>
                <a:uLnTx/>
                <a:uFillTx/>
                <a:latin typeface="+mn-lt"/>
                <a:ea typeface="+mn-ea"/>
              </a:rPr>
              <a:t>j</a:t>
            </a:r>
            <a:r>
              <a:rPr kumimoji="0" lang="zh-CN" altLang="en-US" sz="2400" b="0" i="0" u="none" strike="noStrike" kern="0" cap="none" spc="0" normalizeH="0" baseline="0" noProof="0" dirty="0">
                <a:ln>
                  <a:noFill/>
                </a:ln>
                <a:solidFill>
                  <a:schemeClr val="accent2"/>
                </a:solidFill>
                <a:effectLst/>
                <a:uLnTx/>
                <a:uFillTx/>
                <a:latin typeface="+mn-lt"/>
                <a:ea typeface="+mn-ea"/>
              </a:rPr>
              <a:t>都是正整数</a:t>
            </a:r>
          </a:p>
          <a:p>
            <a:pPr marL="1143000" marR="0" lvl="2" indent="-228600" algn="l" defTabSz="914400" rtl="0" eaLnBrk="1" fontAlgn="base" latinLnBrk="0" hangingPunct="1">
              <a:lnSpc>
                <a:spcPct val="8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endParaRPr>
          </a:p>
          <a:p>
            <a:pPr marL="1143000" marR="0" lvl="2" indent="-228600" algn="l" defTabSz="914400" rtl="0" eaLnBrk="1" fontAlgn="base" latinLnBrk="0" hangingPunct="1">
              <a:lnSpc>
                <a:spcPts val="26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rPr>
              <a:t>我们要解决的问题是用</a:t>
            </a:r>
            <a:r>
              <a:rPr kumimoji="0" lang="en-US" altLang="zh-CN" sz="2400" b="0" i="0" u="none" strike="noStrike" kern="0" cap="none" spc="0" normalizeH="0" baseline="0" noProof="0" dirty="0">
                <a:ln>
                  <a:noFill/>
                </a:ln>
                <a:solidFill>
                  <a:schemeClr val="accent2"/>
                </a:solidFill>
                <a:effectLst/>
                <a:uLnTx/>
                <a:uFillTx/>
                <a:latin typeface="+mn-lt"/>
                <a:ea typeface="+mn-ea"/>
              </a:rPr>
              <a:t>U</a:t>
            </a:r>
            <a:r>
              <a:rPr kumimoji="0" lang="zh-CN" altLang="en-US" sz="2400" b="0" i="0" u="none" strike="noStrike" kern="0" cap="none" spc="0" normalizeH="0" baseline="0" noProof="0" dirty="0">
                <a:ln>
                  <a:noFill/>
                </a:ln>
                <a:solidFill>
                  <a:schemeClr val="accent2"/>
                </a:solidFill>
                <a:effectLst/>
                <a:uLnTx/>
                <a:uFillTx/>
                <a:latin typeface="+mn-lt"/>
                <a:ea typeface="+mn-ea"/>
              </a:rPr>
              <a:t>中的一些物品来装满背包，这些物品的总体积不超过</a:t>
            </a:r>
            <a:r>
              <a:rPr kumimoji="0" lang="en-US" altLang="zh-CN" sz="2400" b="0" i="0" u="none" strike="noStrike" kern="0" cap="none" spc="0" normalizeH="0" baseline="0" noProof="0" dirty="0">
                <a:ln>
                  <a:noFill/>
                </a:ln>
                <a:solidFill>
                  <a:schemeClr val="accent2"/>
                </a:solidFill>
                <a:effectLst/>
                <a:uLnTx/>
                <a:uFillTx/>
                <a:latin typeface="+mn-lt"/>
                <a:ea typeface="+mn-ea"/>
              </a:rPr>
              <a:t>C</a:t>
            </a:r>
            <a:r>
              <a:rPr kumimoji="0" lang="zh-CN" altLang="en-US" sz="2400" b="0" i="0" u="none" strike="noStrike" kern="0" cap="none" spc="0" normalizeH="0" baseline="0" noProof="0" dirty="0">
                <a:ln>
                  <a:noFill/>
                </a:ln>
                <a:solidFill>
                  <a:schemeClr val="accent2"/>
                </a:solidFill>
                <a:effectLst/>
                <a:uLnTx/>
                <a:uFillTx/>
                <a:latin typeface="+mn-lt"/>
                <a:ea typeface="+mn-ea"/>
              </a:rPr>
              <a:t>，然而要使它们的总价值最大。</a:t>
            </a:r>
            <a:endParaRPr kumimoji="0" lang="en-US" altLang="zh-CN" sz="2400" b="0" i="0" u="none" strike="noStrike" kern="0" cap="none" spc="0" normalizeH="0" baseline="0" noProof="0" dirty="0">
              <a:ln>
                <a:noFill/>
              </a:ln>
              <a:solidFill>
                <a:schemeClr val="accent2"/>
              </a:solidFill>
              <a:effectLst/>
              <a:uLnTx/>
              <a:uFillTx/>
              <a:latin typeface="+mn-lt"/>
              <a:ea typeface="+mn-ea"/>
            </a:endParaRPr>
          </a:p>
        </p:txBody>
      </p:sp>
      <p:pic>
        <p:nvPicPr>
          <p:cNvPr id="5" name="Picture 4" descr="question">
            <a:extLst>
              <a:ext uri="{FF2B5EF4-FFF2-40B4-BE49-F238E27FC236}">
                <a16:creationId xmlns:a16="http://schemas.microsoft.com/office/drawing/2014/main" id="{E5E5B397-03BB-EECD-6C7A-7B8462AD0EC6}"/>
              </a:ext>
            </a:extLst>
          </p:cNvPr>
          <p:cNvPicPr>
            <a:picLocks noChangeAspect="1"/>
          </p:cNvPicPr>
          <p:nvPr/>
        </p:nvPicPr>
        <p:blipFill>
          <a:blip r:embed="rId4"/>
          <a:stretch>
            <a:fillRect/>
          </a:stretch>
        </p:blipFill>
        <p:spPr>
          <a:xfrm>
            <a:off x="900113" y="1268413"/>
            <a:ext cx="504825" cy="504825"/>
          </a:xfrm>
          <a:prstGeom prst="rect">
            <a:avLst/>
          </a:prstGeom>
          <a:noFill/>
          <a:ln w="9525">
            <a:noFill/>
          </a:ln>
        </p:spPr>
      </p:pic>
    </p:spTree>
    <p:extLst>
      <p:ext uri="{BB962C8B-B14F-4D97-AF65-F5344CB8AC3E}">
        <p14:creationId xmlns:p14="http://schemas.microsoft.com/office/powerpoint/2010/main" val="714256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par>
                                <p:cTn id="9" presetID="3" presetClass="entr" presetSubtype="10" fill="hold"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blinds(horizontal)">
                                      <p:cBhvr>
                                        <p:cTn id="11" dur="5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 calcmode="lin" valueType="num">
                                      <p:cBhvr additive="base">
                                        <p:cTn id="1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 calcmode="lin" valueType="num">
                                      <p:cBhvr additive="base">
                                        <p:cTn id="22"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 calcmode="lin" valueType="num">
                                      <p:cBhvr additive="base">
                                        <p:cTn id="28"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 calcmode="lin" valueType="num">
                                      <p:cBhvr additive="base">
                                        <p:cTn id="34"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5"/>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99331" name="页脚占位符 6"/>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99332" name="灯片编号占位符 7"/>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56</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99334" name="Rectangle 3"/>
          <p:cNvSpPr>
            <a:spLocks noGrp="1"/>
          </p:cNvSpPr>
          <p:nvPr>
            <p:ph type="body" sz="half" idx="1"/>
          </p:nvPr>
        </p:nvSpPr>
        <p:spPr>
          <a:xfrm>
            <a:off x="817563" y="1196975"/>
            <a:ext cx="8218487" cy="4565650"/>
          </a:xfrm>
        </p:spPr>
        <p:txBody>
          <a:bodyPr vert="horz" wrap="square" lIns="91440" tIns="45720" rIns="91440" bIns="45720" anchor="t" anchorCtr="0"/>
          <a:lstStyle/>
          <a:p>
            <a:pPr eaLnBrk="1" hangingPunct="1">
              <a:buClrTx/>
              <a:buSzTx/>
              <a:buFontTx/>
            </a:pPr>
            <a:r>
              <a:rPr lang="zh-CN" altLang="en-US" dirty="0"/>
              <a:t>更形式地，给出有</a:t>
            </a:r>
            <a:r>
              <a:rPr lang="en-US" altLang="zh-CN" dirty="0"/>
              <a:t>n</a:t>
            </a:r>
            <a:r>
              <a:rPr lang="zh-CN" altLang="en-US" dirty="0"/>
              <a:t>项物品的</a:t>
            </a:r>
            <a:r>
              <a:rPr lang="en-US" altLang="zh-CN" dirty="0"/>
              <a:t>U</a:t>
            </a:r>
            <a:r>
              <a:rPr lang="zh-CN" altLang="en-US" dirty="0"/>
              <a:t>，我们要找出一个子集合</a:t>
            </a:r>
            <a:r>
              <a:rPr lang="en-US" altLang="zh-CN" dirty="0"/>
              <a:t>S    </a:t>
            </a:r>
          </a:p>
          <a:p>
            <a:pPr eaLnBrk="1" hangingPunct="1">
              <a:buClrTx/>
              <a:buSzTx/>
              <a:buFontTx/>
            </a:pPr>
            <a:r>
              <a:rPr lang="en-US" altLang="zh-CN" dirty="0"/>
              <a:t> </a:t>
            </a:r>
          </a:p>
          <a:p>
            <a:pPr eaLnBrk="1" hangingPunct="1">
              <a:buClrTx/>
              <a:buSzTx/>
              <a:buFontTx/>
            </a:pPr>
            <a:r>
              <a:rPr lang="zh-CN" altLang="en-US" dirty="0"/>
              <a:t>使得</a:t>
            </a:r>
            <a:r>
              <a:rPr lang="en-US" altLang="zh-CN" dirty="0"/>
              <a:t>            </a:t>
            </a:r>
            <a:r>
              <a:rPr lang="zh-CN" altLang="en-US" dirty="0"/>
              <a:t>在约束条件                    下最大。                            </a:t>
            </a:r>
            <a:endParaRPr lang="en-US" altLang="zh-CN" dirty="0"/>
          </a:p>
          <a:p>
            <a:pPr eaLnBrk="1" hangingPunct="1">
              <a:buClrTx/>
              <a:buSzTx/>
              <a:buFontTx/>
              <a:buNone/>
            </a:pPr>
            <a:endParaRPr lang="en-US" altLang="zh-CN" dirty="0"/>
          </a:p>
        </p:txBody>
      </p:sp>
      <p:graphicFrame>
        <p:nvGraphicFramePr>
          <p:cNvPr id="99335" name="Object 8"/>
          <p:cNvGraphicFramePr>
            <a:graphicFrameLocks noGrp="1" noChangeAspect="1"/>
          </p:cNvGraphicFramePr>
          <p:nvPr>
            <p:ph sz="quarter" idx="2"/>
          </p:nvPr>
        </p:nvGraphicFramePr>
        <p:xfrm>
          <a:off x="1919288" y="1981200"/>
          <a:ext cx="777875" cy="806450"/>
        </p:xfrm>
        <a:graphic>
          <a:graphicData uri="http://schemas.openxmlformats.org/presentationml/2006/ole">
            <mc:AlternateContent xmlns:mc="http://schemas.openxmlformats.org/markup-compatibility/2006">
              <mc:Choice xmlns:v="urn:schemas-microsoft-com:vml" Requires="v">
                <p:oleObj r:id="rId3" imgW="355600" imgH="368300" progId="Equation.3">
                  <p:embed/>
                </p:oleObj>
              </mc:Choice>
              <mc:Fallback>
                <p:oleObj r:id="rId3" imgW="355600" imgH="368300" progId="Equation.3">
                  <p:embed/>
                  <p:pic>
                    <p:nvPicPr>
                      <p:cNvPr id="99335" name="Object 8"/>
                      <p:cNvPicPr/>
                      <p:nvPr/>
                    </p:nvPicPr>
                    <p:blipFill>
                      <a:blip r:embed="rId4"/>
                      <a:srcRect/>
                      <a:stretch>
                        <a:fillRect/>
                      </a:stretch>
                    </p:blipFill>
                    <p:spPr>
                      <a:xfrm>
                        <a:off x="1919288" y="1981200"/>
                        <a:ext cx="777875" cy="806450"/>
                      </a:xfrm>
                      <a:prstGeom prst="rect">
                        <a:avLst/>
                      </a:prstGeom>
                      <a:noFill/>
                      <a:ln w="38100">
                        <a:miter/>
                      </a:ln>
                    </p:spPr>
                  </p:pic>
                </p:oleObj>
              </mc:Fallback>
            </mc:AlternateContent>
          </a:graphicData>
        </a:graphic>
      </p:graphicFrame>
      <p:graphicFrame>
        <p:nvGraphicFramePr>
          <p:cNvPr id="99336" name="Object 10"/>
          <p:cNvGraphicFramePr>
            <a:graphicFrameLocks noGrp="1" noChangeAspect="1"/>
          </p:cNvGraphicFramePr>
          <p:nvPr>
            <p:ph sz="quarter" idx="3"/>
          </p:nvPr>
        </p:nvGraphicFramePr>
        <p:xfrm>
          <a:off x="4391025" y="2017713"/>
          <a:ext cx="1362075" cy="835025"/>
        </p:xfrm>
        <a:graphic>
          <a:graphicData uri="http://schemas.openxmlformats.org/presentationml/2006/ole">
            <mc:AlternateContent xmlns:mc="http://schemas.openxmlformats.org/markup-compatibility/2006">
              <mc:Choice xmlns:v="urn:schemas-microsoft-com:vml" Requires="v">
                <p:oleObj r:id="rId5" imgW="635000" imgH="368300" progId="Equation.3">
                  <p:embed/>
                </p:oleObj>
              </mc:Choice>
              <mc:Fallback>
                <p:oleObj r:id="rId5" imgW="635000" imgH="368300" progId="Equation.3">
                  <p:embed/>
                  <p:pic>
                    <p:nvPicPr>
                      <p:cNvPr id="99336" name="Object 10"/>
                      <p:cNvPicPr/>
                      <p:nvPr/>
                    </p:nvPicPr>
                    <p:blipFill>
                      <a:blip r:embed="rId6"/>
                      <a:srcRect/>
                      <a:stretch>
                        <a:fillRect/>
                      </a:stretch>
                    </p:blipFill>
                    <p:spPr>
                      <a:xfrm>
                        <a:off x="4391025" y="2017713"/>
                        <a:ext cx="1362075" cy="835025"/>
                      </a:xfrm>
                      <a:prstGeom prst="rect">
                        <a:avLst/>
                      </a:prstGeom>
                      <a:noFill/>
                      <a:ln w="38100">
                        <a:miter/>
                      </a:ln>
                    </p:spPr>
                  </p:pic>
                </p:oleObj>
              </mc:Fallback>
            </mc:AlternateContent>
          </a:graphicData>
        </a:graphic>
      </p:graphicFrame>
      <p:sp>
        <p:nvSpPr>
          <p:cNvPr id="4" name="Rectangle 2">
            <a:extLst>
              <a:ext uri="{FF2B5EF4-FFF2-40B4-BE49-F238E27FC236}">
                <a16:creationId xmlns:a16="http://schemas.microsoft.com/office/drawing/2014/main" id="{7D809F75-0D01-2A1D-0AFC-9EDFCE03B13A}"/>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4.3.2 0/1</a:t>
            </a:r>
            <a:r>
              <a:rPr lang="zh-CN" altLang="en-US" sz="3200" dirty="0">
                <a:latin typeface="+mj-ea"/>
              </a:rPr>
              <a:t>背包问题</a:t>
            </a:r>
            <a:endParaRPr lang="en-US" altLang="zh-CN" b="0" dirty="0">
              <a:latin typeface="+mj-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01379"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01380"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57</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101381"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4.3.2 0/1</a:t>
            </a:r>
            <a:r>
              <a:rPr lang="zh-CN" altLang="en-US" dirty="0">
                <a:latin typeface="+mj-ea"/>
              </a:rPr>
              <a:t>背包问题</a:t>
            </a:r>
            <a:r>
              <a:rPr lang="en-US" altLang="zh-CN" dirty="0">
                <a:latin typeface="+mj-ea"/>
              </a:rPr>
              <a:t>—</a:t>
            </a:r>
            <a:r>
              <a:rPr lang="zh-CN" altLang="en-US" dirty="0">
                <a:latin typeface="+mj-ea"/>
              </a:rPr>
              <a:t>基本思想</a:t>
            </a:r>
            <a:endParaRPr lang="en-US" altLang="zh-CN" dirty="0">
              <a:latin typeface="+mj-ea"/>
            </a:endParaRPr>
          </a:p>
        </p:txBody>
      </p:sp>
      <p:sp>
        <p:nvSpPr>
          <p:cNvPr id="2" name="Rectangle 3"/>
          <p:cNvSpPr>
            <a:spLocks noGrp="1"/>
          </p:cNvSpPr>
          <p:nvPr>
            <p:ph idx="1"/>
          </p:nvPr>
        </p:nvSpPr>
        <p:spPr/>
        <p:txBody>
          <a:bodyPr vert="horz" wrap="square" lIns="91440" tIns="45720" rIns="91440" bIns="45720" anchor="t" anchorCtr="0"/>
          <a:lstStyle/>
          <a:p>
            <a:pPr eaLnBrk="1" hangingPunct="1"/>
            <a:r>
              <a:rPr lang="zh-CN" altLang="en-US" dirty="0"/>
              <a:t>设</a:t>
            </a:r>
            <a:r>
              <a:rPr lang="en-US" altLang="zh-CN" dirty="0">
                <a:solidFill>
                  <a:srgbClr val="FF0000"/>
                </a:solidFill>
              </a:rPr>
              <a:t>V[i,j]</a:t>
            </a:r>
            <a:r>
              <a:rPr lang="zh-CN" altLang="en-US" dirty="0"/>
              <a:t>用来表示从前</a:t>
            </a:r>
            <a:r>
              <a:rPr lang="en-US" altLang="zh-CN" dirty="0"/>
              <a:t>i</a:t>
            </a:r>
            <a:r>
              <a:rPr lang="zh-CN" altLang="en-US" dirty="0"/>
              <a:t>项</a:t>
            </a:r>
            <a:r>
              <a:rPr lang="en-US" altLang="zh-CN" dirty="0"/>
              <a:t>{u</a:t>
            </a:r>
            <a:r>
              <a:rPr lang="en-US" altLang="zh-CN" baseline="-25000" dirty="0"/>
              <a:t>1</a:t>
            </a:r>
            <a:r>
              <a:rPr lang="en-US" altLang="zh-CN" dirty="0"/>
              <a:t>,…,u</a:t>
            </a:r>
            <a:r>
              <a:rPr lang="en-US" altLang="zh-CN" baseline="-25000" dirty="0"/>
              <a:t>i</a:t>
            </a:r>
            <a:r>
              <a:rPr lang="en-US" altLang="zh-CN" dirty="0"/>
              <a:t>} </a:t>
            </a:r>
            <a:r>
              <a:rPr lang="zh-CN" altLang="en-US" dirty="0"/>
              <a:t>中取出来的装入体积为</a:t>
            </a:r>
            <a:r>
              <a:rPr lang="en-US" altLang="zh-CN" dirty="0"/>
              <a:t>j</a:t>
            </a:r>
            <a:r>
              <a:rPr lang="zh-CN" altLang="en-US" dirty="0"/>
              <a:t>的背包的物品的</a:t>
            </a:r>
            <a:r>
              <a:rPr lang="zh-CN" altLang="en-US" dirty="0">
                <a:solidFill>
                  <a:srgbClr val="FF0000"/>
                </a:solidFill>
              </a:rPr>
              <a:t>最大价值</a:t>
            </a:r>
            <a:r>
              <a:rPr lang="zh-CN" altLang="en-US" dirty="0"/>
              <a:t>。这里，</a:t>
            </a:r>
            <a:r>
              <a:rPr lang="en-US" altLang="zh-CN" dirty="0"/>
              <a:t>i</a:t>
            </a:r>
            <a:r>
              <a:rPr lang="zh-CN" altLang="en-US" dirty="0"/>
              <a:t>的范围是从</a:t>
            </a:r>
            <a:r>
              <a:rPr lang="en-US" altLang="zh-CN" dirty="0"/>
              <a:t>0</a:t>
            </a:r>
            <a:r>
              <a:rPr lang="zh-CN" altLang="en-US" dirty="0"/>
              <a:t>到</a:t>
            </a:r>
            <a:r>
              <a:rPr lang="en-US" altLang="zh-CN" dirty="0"/>
              <a:t>n</a:t>
            </a:r>
            <a:r>
              <a:rPr lang="zh-CN" altLang="en-US" dirty="0"/>
              <a:t>，</a:t>
            </a:r>
            <a:r>
              <a:rPr lang="en-US" altLang="zh-CN" dirty="0"/>
              <a:t>j</a:t>
            </a:r>
            <a:r>
              <a:rPr lang="zh-CN" altLang="en-US" dirty="0"/>
              <a:t>的范围是</a:t>
            </a:r>
            <a:r>
              <a:rPr lang="en-US" altLang="zh-CN" dirty="0"/>
              <a:t>0</a:t>
            </a:r>
            <a:r>
              <a:rPr lang="zh-CN" altLang="en-US" dirty="0"/>
              <a:t>到</a:t>
            </a:r>
            <a:r>
              <a:rPr lang="en-US" altLang="zh-CN" dirty="0"/>
              <a:t>C</a:t>
            </a:r>
            <a:r>
              <a:rPr lang="zh-CN" altLang="en-US" dirty="0"/>
              <a:t>。</a:t>
            </a:r>
          </a:p>
          <a:p>
            <a:pPr lvl="1" eaLnBrk="1" hangingPunct="1"/>
            <a:endParaRPr lang="en-US" altLang="zh-CN" dirty="0"/>
          </a:p>
          <a:p>
            <a:pPr eaLnBrk="1" hangingPunct="1"/>
            <a:r>
              <a:rPr lang="en-US" altLang="zh-CN" dirty="0"/>
              <a:t>V[0,j]</a:t>
            </a:r>
            <a:r>
              <a:rPr lang="zh-CN" altLang="en-US" dirty="0"/>
              <a:t> 对于所有</a:t>
            </a:r>
            <a:r>
              <a:rPr lang="en-US" altLang="zh-CN" dirty="0"/>
              <a:t>j</a:t>
            </a:r>
            <a:r>
              <a:rPr lang="zh-CN" altLang="en-US" dirty="0"/>
              <a:t>的值是</a:t>
            </a:r>
            <a:r>
              <a:rPr lang="en-US" altLang="zh-CN" dirty="0"/>
              <a:t>0</a:t>
            </a:r>
            <a:r>
              <a:rPr lang="zh-CN" altLang="en-US" dirty="0"/>
              <a:t>，这是由于背包中什么也没有。另一方面，</a:t>
            </a:r>
            <a:r>
              <a:rPr lang="en-US" altLang="zh-CN" dirty="0"/>
              <a:t> V[i,0]</a:t>
            </a:r>
            <a:r>
              <a:rPr lang="zh-CN" altLang="en-US" dirty="0"/>
              <a:t>对于所有</a:t>
            </a:r>
            <a:r>
              <a:rPr lang="en-US" altLang="zh-CN" dirty="0"/>
              <a:t>i</a:t>
            </a:r>
            <a:r>
              <a:rPr lang="zh-CN" altLang="en-US" dirty="0"/>
              <a:t>的值为</a:t>
            </a:r>
            <a:r>
              <a:rPr lang="en-US" altLang="zh-CN" dirty="0"/>
              <a:t>0</a:t>
            </a:r>
            <a:r>
              <a:rPr lang="zh-CN" altLang="en-US" dirty="0"/>
              <a:t>，因为没有东西可放到为</a:t>
            </a:r>
            <a:r>
              <a:rPr lang="en-US" altLang="zh-CN" dirty="0"/>
              <a:t>0</a:t>
            </a:r>
            <a:r>
              <a:rPr lang="zh-CN" altLang="en-US" dirty="0"/>
              <a:t>的背包里。</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03427"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03428"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58</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rgbClr val="FF0000"/>
                </a:solidFill>
                <a:effectLst/>
                <a:uLnTx/>
                <a:uFillTx/>
                <a:latin typeface="+mn-lt"/>
                <a:ea typeface="+mn-ea"/>
                <a:cs typeface="+mn-cs"/>
              </a:rPr>
              <a:t>背包问题特点</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是：每种物品仅有一件，可以选择放或不放。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rgbClr val="FF0000"/>
                </a:solidFill>
                <a:effectLst/>
                <a:uLnTx/>
                <a:uFillTx/>
                <a:latin typeface="+mn-lt"/>
                <a:ea typeface="+mn-ea"/>
                <a:cs typeface="+mn-cs"/>
              </a:rPr>
              <a:t>用子问题定义状态</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：即</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V[</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i,j</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表示前</a:t>
            </a:r>
            <a:r>
              <a:rPr kumimoji="0" lang="en-US" sz="2000" b="0" i="0" u="none" strike="noStrike" kern="0" cap="none" spc="0" normalizeH="0" baseline="0" noProof="0" dirty="0" err="1">
                <a:ln>
                  <a:noFill/>
                </a:ln>
                <a:solidFill>
                  <a:schemeClr val="accent2"/>
                </a:solidFill>
                <a:effectLst/>
                <a:uLnTx/>
                <a:uFillTx/>
                <a:latin typeface="+mn-lt"/>
                <a:ea typeface="+mn-ea"/>
                <a:cs typeface="+mn-cs"/>
              </a:rPr>
              <a:t>i</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件物品恰放入一个容量为</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j</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的背包可以获得的最大价值。则其</a:t>
            </a:r>
            <a:r>
              <a:rPr kumimoji="0" lang="zh-CN" altLang="en-US" sz="2000" b="0" i="0" u="none" strike="noStrike" kern="0" cap="none" spc="0" normalizeH="0" baseline="0" noProof="0" dirty="0">
                <a:ln>
                  <a:noFill/>
                </a:ln>
                <a:solidFill>
                  <a:srgbClr val="FF0000"/>
                </a:solidFill>
                <a:effectLst/>
                <a:uLnTx/>
                <a:uFillTx/>
                <a:latin typeface="+mn-lt"/>
                <a:ea typeface="+mn-ea"/>
                <a:cs typeface="+mn-cs"/>
              </a:rPr>
              <a:t>状态转移方程</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便是：</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           V[</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i,j</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a:t>
            </a:r>
            <a:r>
              <a:rPr kumimoji="0" lang="en-US" sz="2000" b="0" i="0" u="none" strike="noStrike" kern="0" cap="none" spc="0" normalizeH="0" baseline="0" noProof="0" dirty="0">
                <a:ln>
                  <a:noFill/>
                </a:ln>
                <a:solidFill>
                  <a:schemeClr val="accent2"/>
                </a:solidFill>
                <a:effectLst/>
                <a:uLnTx/>
                <a:uFillTx/>
                <a:latin typeface="+mn-lt"/>
                <a:ea typeface="+mn-ea"/>
                <a:cs typeface="+mn-cs"/>
              </a:rPr>
              <a:t>=max{</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V[i-1,j]</a:t>
            </a:r>
            <a:r>
              <a:rPr kumimoji="0" lang="en-US" sz="20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 V[i</a:t>
            </a:r>
            <a:r>
              <a:rPr kumimoji="0" lang="en-US" sz="20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j- </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s</a:t>
            </a:r>
            <a:r>
              <a:rPr kumimoji="0" lang="en-US" sz="2000" b="0" i="0" u="none" strike="noStrike" kern="0" cap="none" spc="0" normalizeH="0" baseline="-25000" noProof="0" dirty="0" err="1">
                <a:ln>
                  <a:noFill/>
                </a:ln>
                <a:solidFill>
                  <a:schemeClr val="accent2"/>
                </a:solidFill>
                <a:effectLst/>
                <a:uLnTx/>
                <a:uFillTx/>
                <a:latin typeface="+mn-lt"/>
                <a:ea typeface="+mn-ea"/>
                <a:cs typeface="+mn-cs"/>
              </a:rPr>
              <a:t>i</a:t>
            </a:r>
            <a:r>
              <a:rPr kumimoji="0" lang="en-US" sz="20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v</a:t>
            </a:r>
            <a:r>
              <a:rPr kumimoji="0" lang="en-US" sz="2000" b="0" i="0" u="none" strike="noStrike" kern="0" cap="none" spc="0" normalizeH="0" baseline="-25000" noProof="0" dirty="0">
                <a:ln>
                  <a:noFill/>
                </a:ln>
                <a:solidFill>
                  <a:schemeClr val="accent2"/>
                </a:solidFill>
                <a:effectLst/>
                <a:uLnTx/>
                <a:uFillTx/>
                <a:latin typeface="+mn-lt"/>
                <a:ea typeface="+mn-ea"/>
                <a:cs typeface="+mn-cs"/>
              </a:rPr>
              <a:t>i</a:t>
            </a:r>
            <a:r>
              <a:rPr kumimoji="0" lang="en-US" sz="2000" b="0" i="0" u="none" strike="noStrike" kern="0" cap="none" spc="0" normalizeH="0" baseline="0" noProof="0" dirty="0">
                <a:ln>
                  <a:noFill/>
                </a:ln>
                <a:solidFill>
                  <a:schemeClr val="accent2"/>
                </a:solidFill>
                <a:effectLst/>
                <a:uLnTx/>
                <a:uFillTx/>
                <a:latin typeface="+mn-lt"/>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20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针对“将前</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件物品放入容量为</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v</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的背包中”这个子问题，若只考虑第</a:t>
            </a:r>
            <a:r>
              <a:rPr kumimoji="0" lang="en-US" altLang="zh-CN" sz="2000" b="0" i="0" u="none" strike="noStrike" kern="0" cap="none" spc="0" normalizeH="0" baseline="0" noProof="0" dirty="0" err="1">
                <a:ln>
                  <a:noFill/>
                </a:ln>
                <a:solidFill>
                  <a:schemeClr val="accent2"/>
                </a:solidFill>
                <a:effectLst/>
                <a:uLnTx/>
                <a:uFillTx/>
                <a:latin typeface="+mn-lt"/>
                <a:ea typeface="+mn-ea"/>
                <a:cs typeface="+mn-cs"/>
              </a:rPr>
              <a:t>i</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件物品的策略（放或不放），那么就可以转化为一个只牵扯前</a:t>
            </a:r>
            <a:r>
              <a:rPr kumimoji="0" lang="en-US" altLang="zh-CN" sz="2000" b="0" i="0" u="none" strike="noStrike" kern="0" cap="none" spc="0" normalizeH="0" baseline="0" noProof="0" dirty="0">
                <a:ln>
                  <a:noFill/>
                </a:ln>
                <a:solidFill>
                  <a:schemeClr val="accent2"/>
                </a:solidFill>
                <a:effectLst/>
                <a:uLnTx/>
                <a:uFillTx/>
                <a:latin typeface="+mn-lt"/>
                <a:ea typeface="+mn-ea"/>
                <a:cs typeface="+mn-cs"/>
              </a:rPr>
              <a:t>i-1</a:t>
            </a:r>
            <a:r>
              <a:rPr kumimoji="0" lang="zh-CN" altLang="en-US" sz="2000" b="0" i="0" u="none" strike="noStrike" kern="0" cap="none" spc="0" normalizeH="0" baseline="0" noProof="0" dirty="0">
                <a:ln>
                  <a:noFill/>
                </a:ln>
                <a:solidFill>
                  <a:schemeClr val="accent2"/>
                </a:solidFill>
                <a:effectLst/>
                <a:uLnTx/>
                <a:uFillTx/>
                <a:latin typeface="+mn-lt"/>
                <a:ea typeface="+mn-ea"/>
                <a:cs typeface="+mn-cs"/>
              </a:rPr>
              <a:t>件物品的问题。</a:t>
            </a:r>
            <a:endParaRPr kumimoji="0" lang="en-US" altLang="zh-CN" sz="20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a:ln>
                  <a:noFill/>
                </a:ln>
                <a:solidFill>
                  <a:schemeClr val="accent2"/>
                </a:solidFill>
                <a:effectLst/>
                <a:uLnTx/>
                <a:uFillTx/>
                <a:latin typeface="+mn-lt"/>
                <a:ea typeface="+mn-ea"/>
              </a:rPr>
              <a:t>如果不放第</a:t>
            </a:r>
            <a:r>
              <a:rPr kumimoji="0" lang="en-US" altLang="zh-CN" sz="1800" b="0" i="0" u="none" strike="noStrike" kern="0" cap="none" spc="0" normalizeH="0" baseline="0" noProof="0" dirty="0" err="1">
                <a:ln>
                  <a:noFill/>
                </a:ln>
                <a:solidFill>
                  <a:schemeClr val="accent2"/>
                </a:solidFill>
                <a:effectLst/>
                <a:uLnTx/>
                <a:uFillTx/>
                <a:latin typeface="+mn-lt"/>
                <a:ea typeface="+mn-ea"/>
              </a:rPr>
              <a:t>i</a:t>
            </a:r>
            <a:r>
              <a:rPr kumimoji="0" lang="zh-CN" altLang="en-US" sz="1800" b="0" i="0" u="none" strike="noStrike" kern="0" cap="none" spc="0" normalizeH="0" baseline="0" noProof="0" dirty="0">
                <a:ln>
                  <a:noFill/>
                </a:ln>
                <a:solidFill>
                  <a:schemeClr val="accent2"/>
                </a:solidFill>
                <a:effectLst/>
                <a:uLnTx/>
                <a:uFillTx/>
                <a:latin typeface="+mn-lt"/>
                <a:ea typeface="+mn-ea"/>
              </a:rPr>
              <a:t>件物品，那么问题就转化为“前</a:t>
            </a:r>
            <a:r>
              <a:rPr kumimoji="0" lang="en-US" altLang="zh-CN" sz="1800" b="0" i="0" u="none" strike="noStrike" kern="0" cap="none" spc="0" normalizeH="0" baseline="0" noProof="0" dirty="0">
                <a:ln>
                  <a:noFill/>
                </a:ln>
                <a:solidFill>
                  <a:schemeClr val="accent2"/>
                </a:solidFill>
                <a:effectLst/>
                <a:uLnTx/>
                <a:uFillTx/>
                <a:latin typeface="+mn-lt"/>
                <a:ea typeface="+mn-ea"/>
              </a:rPr>
              <a:t>i-1</a:t>
            </a:r>
            <a:r>
              <a:rPr kumimoji="0" lang="zh-CN" altLang="en-US" sz="1800" b="0" i="0" u="none" strike="noStrike" kern="0" cap="none" spc="0" normalizeH="0" baseline="0" noProof="0" dirty="0">
                <a:ln>
                  <a:noFill/>
                </a:ln>
                <a:solidFill>
                  <a:schemeClr val="accent2"/>
                </a:solidFill>
                <a:effectLst/>
                <a:uLnTx/>
                <a:uFillTx/>
                <a:latin typeface="+mn-lt"/>
                <a:ea typeface="+mn-ea"/>
              </a:rPr>
              <a:t>件物品放入容量为</a:t>
            </a:r>
            <a:r>
              <a:rPr kumimoji="0" lang="en-US" altLang="zh-CN"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j</a:t>
            </a:r>
            <a:r>
              <a:rPr kumimoji="0" lang="zh-CN" altLang="en-US" sz="1800" b="0" i="0" u="none" strike="noStrike" kern="0" cap="none" spc="0" normalizeH="0" baseline="0" noProof="0" dirty="0">
                <a:ln>
                  <a:noFill/>
                </a:ln>
                <a:solidFill>
                  <a:schemeClr val="accent2"/>
                </a:solidFill>
                <a:effectLst/>
                <a:uLnTx/>
                <a:uFillTx/>
                <a:latin typeface="+mn-lt"/>
                <a:ea typeface="+mn-ea"/>
              </a:rPr>
              <a:t>的背包中”，价值为</a:t>
            </a:r>
            <a:r>
              <a:rPr kumimoji="0" lang="en-US" altLang="zh-CN"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V[i-1,j]</a:t>
            </a:r>
            <a:r>
              <a:rPr kumimoji="0" lang="zh-CN" altLang="en-US" sz="1800" b="0" i="0" u="none" strike="noStrike" kern="0" cap="none" spc="0" normalizeH="0" baseline="0" noProof="0" dirty="0">
                <a:ln>
                  <a:noFill/>
                </a:ln>
                <a:solidFill>
                  <a:schemeClr val="accent2"/>
                </a:solidFill>
                <a:effectLst/>
                <a:uLnTx/>
                <a:uFillTx/>
                <a:latin typeface="+mn-lt"/>
                <a:ea typeface="+mn-ea"/>
              </a:rPr>
              <a:t>；</a:t>
            </a:r>
            <a:endParaRPr kumimoji="0" lang="en-US" altLang="zh-CN" sz="1800" b="0" i="0" u="none" strike="noStrike" kern="0" cap="none" spc="0" normalizeH="0" baseline="0" noProof="0" dirty="0">
              <a:ln>
                <a:noFill/>
              </a:ln>
              <a:solidFill>
                <a:schemeClr val="accent2"/>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1800" b="0" i="0" u="none" strike="noStrike" kern="0" cap="none" spc="0" normalizeH="0" baseline="0" noProof="0" dirty="0">
                <a:ln>
                  <a:noFill/>
                </a:ln>
                <a:solidFill>
                  <a:schemeClr val="accent2"/>
                </a:solidFill>
                <a:effectLst/>
                <a:uLnTx/>
                <a:uFillTx/>
                <a:latin typeface="+mn-lt"/>
                <a:ea typeface="+mn-ea"/>
              </a:rPr>
              <a:t>如果放第</a:t>
            </a:r>
            <a:r>
              <a:rPr kumimoji="0" lang="en-US" altLang="zh-CN" sz="1800" b="0" i="0" u="none" strike="noStrike" kern="0" cap="none" spc="0" normalizeH="0" baseline="0" noProof="0" dirty="0" err="1">
                <a:ln>
                  <a:noFill/>
                </a:ln>
                <a:solidFill>
                  <a:schemeClr val="accent2"/>
                </a:solidFill>
                <a:effectLst/>
                <a:uLnTx/>
                <a:uFillTx/>
                <a:latin typeface="+mn-lt"/>
                <a:ea typeface="+mn-ea"/>
              </a:rPr>
              <a:t>i</a:t>
            </a:r>
            <a:r>
              <a:rPr kumimoji="0" lang="zh-CN" altLang="en-US" sz="1800" b="0" i="0" u="none" strike="noStrike" kern="0" cap="none" spc="0" normalizeH="0" baseline="0" noProof="0" dirty="0">
                <a:ln>
                  <a:noFill/>
                </a:ln>
                <a:solidFill>
                  <a:schemeClr val="accent2"/>
                </a:solidFill>
                <a:effectLst/>
                <a:uLnTx/>
                <a:uFillTx/>
                <a:latin typeface="+mn-lt"/>
                <a:ea typeface="+mn-ea"/>
              </a:rPr>
              <a:t>件物品，那么问题就转化为“前</a:t>
            </a:r>
            <a:r>
              <a:rPr kumimoji="0" lang="en-US" altLang="zh-CN" sz="1800" b="0" i="0" u="none" strike="noStrike" kern="0" cap="none" spc="0" normalizeH="0" baseline="0" noProof="0" dirty="0">
                <a:ln>
                  <a:noFill/>
                </a:ln>
                <a:solidFill>
                  <a:schemeClr val="accent2"/>
                </a:solidFill>
                <a:effectLst/>
                <a:uLnTx/>
                <a:uFillTx/>
                <a:latin typeface="+mn-lt"/>
                <a:ea typeface="+mn-ea"/>
              </a:rPr>
              <a:t>i-1</a:t>
            </a:r>
            <a:r>
              <a:rPr kumimoji="0" lang="zh-CN" altLang="en-US" sz="1800" b="0" i="0" u="none" strike="noStrike" kern="0" cap="none" spc="0" normalizeH="0" baseline="0" noProof="0" dirty="0">
                <a:ln>
                  <a:noFill/>
                </a:ln>
                <a:solidFill>
                  <a:schemeClr val="accent2"/>
                </a:solidFill>
                <a:effectLst/>
                <a:uLnTx/>
                <a:uFillTx/>
                <a:latin typeface="+mn-lt"/>
                <a:ea typeface="+mn-ea"/>
              </a:rPr>
              <a:t>件物品放入剩下的容量为</a:t>
            </a:r>
            <a:r>
              <a:rPr kumimoji="0" lang="en-US" altLang="zh-CN"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j- </a:t>
            </a:r>
            <a:r>
              <a:rPr kumimoji="0" lang="en-US" altLang="zh-CN" sz="1800" b="0" i="0" u="none" strike="noStrike" kern="0" cap="none" spc="0" normalizeH="0" baseline="0" noProof="0" dirty="0" err="1">
                <a:ln>
                  <a:noFill/>
                </a:ln>
                <a:solidFill>
                  <a:schemeClr val="accent2"/>
                </a:solidFill>
                <a:effectLst/>
                <a:uLnTx/>
                <a:uFillTx/>
                <a:latin typeface="+mn-lt"/>
                <a:ea typeface="华文行楷" panose="02010800040101010101" pitchFamily="2" charset="-122"/>
              </a:rPr>
              <a:t>s</a:t>
            </a:r>
            <a:r>
              <a:rPr kumimoji="0" lang="en-US" sz="1800" b="0" i="0" u="none" strike="noStrike" kern="0" cap="none" spc="0" normalizeH="0" baseline="-25000" noProof="0" dirty="0" err="1">
                <a:ln>
                  <a:noFill/>
                </a:ln>
                <a:solidFill>
                  <a:schemeClr val="accent2"/>
                </a:solidFill>
                <a:effectLst/>
                <a:uLnTx/>
                <a:uFillTx/>
                <a:latin typeface="+mn-lt"/>
                <a:ea typeface="华文行楷" panose="02010800040101010101" pitchFamily="2" charset="-122"/>
              </a:rPr>
              <a:t>i</a:t>
            </a:r>
            <a:r>
              <a:rPr kumimoji="0" lang="zh-CN" altLang="en-US" sz="1800" b="0" i="0" u="none" strike="noStrike" kern="0" cap="none" spc="0" normalizeH="0" baseline="0" noProof="0" dirty="0">
                <a:ln>
                  <a:noFill/>
                </a:ln>
                <a:solidFill>
                  <a:schemeClr val="accent2"/>
                </a:solidFill>
                <a:effectLst/>
                <a:uLnTx/>
                <a:uFillTx/>
                <a:latin typeface="+mn-lt"/>
                <a:ea typeface="+mn-ea"/>
              </a:rPr>
              <a:t>的背包中”，此时能获得的最大价值就是</a:t>
            </a:r>
            <a:r>
              <a:rPr kumimoji="0" lang="en-US" altLang="zh-CN"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V[i</a:t>
            </a:r>
            <a:r>
              <a:rPr kumimoji="0" lang="en-US"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-1</a:t>
            </a:r>
            <a:r>
              <a:rPr kumimoji="0" lang="zh-CN" altLang="en-US"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a:t>
            </a:r>
            <a:r>
              <a:rPr kumimoji="0" lang="en-US" altLang="zh-CN"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j- </a:t>
            </a:r>
            <a:r>
              <a:rPr kumimoji="0" lang="en-US" altLang="zh-CN" sz="1800" b="0" i="0" u="none" strike="noStrike" kern="0" cap="none" spc="0" normalizeH="0" baseline="0" noProof="0" dirty="0" err="1">
                <a:ln>
                  <a:noFill/>
                </a:ln>
                <a:solidFill>
                  <a:schemeClr val="accent2"/>
                </a:solidFill>
                <a:effectLst/>
                <a:uLnTx/>
                <a:uFillTx/>
                <a:latin typeface="+mn-lt"/>
                <a:ea typeface="华文行楷" panose="02010800040101010101" pitchFamily="2" charset="-122"/>
              </a:rPr>
              <a:t>s</a:t>
            </a:r>
            <a:r>
              <a:rPr kumimoji="0" lang="en-US" sz="1800" b="0" i="0" u="none" strike="noStrike" kern="0" cap="none" spc="0" normalizeH="0" baseline="-25000" noProof="0" dirty="0" err="1">
                <a:ln>
                  <a:noFill/>
                </a:ln>
                <a:solidFill>
                  <a:schemeClr val="accent2"/>
                </a:solidFill>
                <a:effectLst/>
                <a:uLnTx/>
                <a:uFillTx/>
                <a:latin typeface="+mn-lt"/>
                <a:ea typeface="华文行楷" panose="02010800040101010101" pitchFamily="2" charset="-122"/>
              </a:rPr>
              <a:t>i</a:t>
            </a:r>
            <a:r>
              <a:rPr kumimoji="0" lang="en-US"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a:t>
            </a:r>
            <a:r>
              <a:rPr kumimoji="0" lang="zh-CN" altLang="en-US" sz="1800" b="0" i="0" u="none" strike="noStrike" kern="0" cap="none" spc="0" normalizeH="0" baseline="0" noProof="0" dirty="0">
                <a:ln>
                  <a:noFill/>
                </a:ln>
                <a:solidFill>
                  <a:schemeClr val="accent2"/>
                </a:solidFill>
                <a:effectLst/>
                <a:uLnTx/>
                <a:uFillTx/>
                <a:latin typeface="+mn-lt"/>
                <a:ea typeface="+mn-ea"/>
              </a:rPr>
              <a:t>再加上通过放入第</a:t>
            </a:r>
            <a:r>
              <a:rPr kumimoji="0" lang="en-US" altLang="zh-CN" sz="1800" b="0" i="0" u="none" strike="noStrike" kern="0" cap="none" spc="0" normalizeH="0" baseline="0" noProof="0" dirty="0" err="1">
                <a:ln>
                  <a:noFill/>
                </a:ln>
                <a:solidFill>
                  <a:schemeClr val="accent2"/>
                </a:solidFill>
                <a:effectLst/>
                <a:uLnTx/>
                <a:uFillTx/>
                <a:latin typeface="+mn-lt"/>
                <a:ea typeface="+mn-ea"/>
              </a:rPr>
              <a:t>i</a:t>
            </a:r>
            <a:r>
              <a:rPr kumimoji="0" lang="zh-CN" altLang="en-US" sz="1800" b="0" i="0" u="none" strike="noStrike" kern="0" cap="none" spc="0" normalizeH="0" baseline="0" noProof="0" dirty="0">
                <a:ln>
                  <a:noFill/>
                </a:ln>
                <a:solidFill>
                  <a:schemeClr val="accent2"/>
                </a:solidFill>
                <a:effectLst/>
                <a:uLnTx/>
                <a:uFillTx/>
                <a:latin typeface="+mn-lt"/>
                <a:ea typeface="+mn-ea"/>
              </a:rPr>
              <a:t>件物品获得的价值</a:t>
            </a:r>
            <a:r>
              <a:rPr kumimoji="0" lang="en-US" altLang="zh-CN" sz="1800" b="0" i="0" u="none" strike="noStrike" kern="0" cap="none" spc="0" normalizeH="0" baseline="0" noProof="0" dirty="0">
                <a:ln>
                  <a:noFill/>
                </a:ln>
                <a:solidFill>
                  <a:schemeClr val="accent2"/>
                </a:solidFill>
                <a:effectLst/>
                <a:uLnTx/>
                <a:uFillTx/>
                <a:latin typeface="+mn-lt"/>
                <a:ea typeface="华文行楷" panose="02010800040101010101" pitchFamily="2" charset="-122"/>
              </a:rPr>
              <a:t>v</a:t>
            </a:r>
            <a:r>
              <a:rPr kumimoji="0" lang="en-US" sz="1800" b="0" i="0" u="none" strike="noStrike" kern="0" cap="none" spc="0" normalizeH="0" baseline="-25000" noProof="0" dirty="0">
                <a:ln>
                  <a:noFill/>
                </a:ln>
                <a:solidFill>
                  <a:schemeClr val="accent2"/>
                </a:solidFill>
                <a:effectLst/>
                <a:uLnTx/>
                <a:uFillTx/>
                <a:latin typeface="+mn-lt"/>
                <a:ea typeface="华文行楷" panose="02010800040101010101" pitchFamily="2" charset="-122"/>
              </a:rPr>
              <a:t>i </a:t>
            </a:r>
            <a:r>
              <a:rPr kumimoji="0" lang="zh-CN" altLang="en-US" sz="1800" b="0" i="0" u="none" strike="noStrike" kern="0" cap="none" spc="0" normalizeH="0" baseline="0" noProof="0" dirty="0">
                <a:ln>
                  <a:noFill/>
                </a:ln>
                <a:solidFill>
                  <a:schemeClr val="accent2"/>
                </a:solidFill>
                <a:effectLst/>
                <a:uLnTx/>
                <a:uFillTx/>
                <a:latin typeface="+mn-lt"/>
                <a:ea typeface="+mn-ea"/>
              </a:rPr>
              <a:t>。</a:t>
            </a:r>
            <a:endParaRPr kumimoji="0" lang="en-US" sz="1800" b="0" i="0" u="none" strike="noStrike" kern="0" cap="none" spc="0" normalizeH="0" baseline="0" noProof="0" dirty="0">
              <a:ln>
                <a:noFill/>
              </a:ln>
              <a:solidFill>
                <a:schemeClr val="accent2"/>
              </a:solidFill>
              <a:effectLst/>
              <a:uLnTx/>
              <a:uFillTx/>
              <a:latin typeface="+mn-lt"/>
              <a:ea typeface="+mn-ea"/>
            </a:endParaRPr>
          </a:p>
        </p:txBody>
      </p:sp>
      <p:sp>
        <p:nvSpPr>
          <p:cNvPr id="5" name="Rectangle 2">
            <a:extLst>
              <a:ext uri="{FF2B5EF4-FFF2-40B4-BE49-F238E27FC236}">
                <a16:creationId xmlns:a16="http://schemas.microsoft.com/office/drawing/2014/main" id="{75802ABD-A8F2-C08F-AE92-B1B6123A4A18}"/>
              </a:ext>
            </a:extLst>
          </p:cNvPr>
          <p:cNvSpPr>
            <a:spLocks noGrp="1"/>
          </p:cNvSpPr>
          <p:nvPr>
            <p:ph type="title"/>
          </p:nvPr>
        </p:nvSpPr>
        <p:spPr>
          <a:xfrm>
            <a:off x="879475" y="269875"/>
            <a:ext cx="7869238" cy="927100"/>
          </a:xfrm>
        </p:spPr>
        <p:txBody>
          <a:bodyPr vert="horz" wrap="square" lIns="91440" tIns="45720" rIns="91440" bIns="45720" anchor="ctr" anchorCtr="0"/>
          <a:lstStyle/>
          <a:p>
            <a:pPr eaLnBrk="1" hangingPunct="1"/>
            <a:r>
              <a:rPr lang="en-US" altLang="zh-CN" dirty="0">
                <a:latin typeface="+mj-ea"/>
              </a:rPr>
              <a:t>4.3.2 0/1</a:t>
            </a:r>
            <a:r>
              <a:rPr lang="zh-CN" altLang="en-US" dirty="0">
                <a:latin typeface="+mj-ea"/>
              </a:rPr>
              <a:t>背包问题</a:t>
            </a:r>
            <a:r>
              <a:rPr lang="en-US" altLang="zh-CN" dirty="0">
                <a:latin typeface="+mj-ea"/>
              </a:rPr>
              <a:t>—</a:t>
            </a:r>
            <a:r>
              <a:rPr lang="zh-CN" altLang="en-US" dirty="0">
                <a:latin typeface="+mj-ea"/>
              </a:rPr>
              <a:t>基本思想</a:t>
            </a:r>
            <a:endParaRPr lang="en-US" altLang="zh-CN"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4"/>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05475" name="页脚占位符 5"/>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05476" name="灯片编号占位符 6"/>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59</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57347" name="Rectangle 3"/>
          <p:cNvSpPr>
            <a:spLocks noGrp="1"/>
          </p:cNvSpPr>
          <p:nvPr>
            <p:ph type="body" sz="half" idx="1"/>
          </p:nvPr>
        </p:nvSpPr>
        <p:spPr>
          <a:xfrm>
            <a:off x="746125" y="1239838"/>
            <a:ext cx="8218488" cy="4565650"/>
          </a:xfrm>
        </p:spPr>
        <p:txBody>
          <a:bodyPr vert="horz" wrap="square" lIns="91440" tIns="45720" rIns="91440" bIns="45720" anchor="t" anchorCtr="0"/>
          <a:lstStyle/>
          <a:p>
            <a:pPr marL="533400" indent="-533400" eaLnBrk="1" hangingPunct="1">
              <a:lnSpc>
                <a:spcPct val="90000"/>
              </a:lnSpc>
              <a:buClrTx/>
              <a:buSzTx/>
              <a:buFontTx/>
              <a:buNone/>
            </a:pPr>
            <a:r>
              <a:rPr lang="en-US" altLang="zh-CN" dirty="0"/>
              <a:t>V[i,j]</a:t>
            </a:r>
            <a:r>
              <a:rPr lang="zh-CN" altLang="en-US" dirty="0"/>
              <a:t>是下面两个量的最大值</a:t>
            </a:r>
            <a:r>
              <a:rPr lang="en-US" altLang="zh-CN" dirty="0"/>
              <a:t>:</a:t>
            </a:r>
          </a:p>
          <a:p>
            <a:pPr marL="533400" indent="-533400" eaLnBrk="1" hangingPunct="1">
              <a:lnSpc>
                <a:spcPct val="90000"/>
              </a:lnSpc>
              <a:buClrTx/>
              <a:buSzTx/>
              <a:buFontTx/>
              <a:buAutoNum type="arabicPeriod"/>
            </a:pPr>
            <a:r>
              <a:rPr lang="en-US" altLang="zh-CN" dirty="0">
                <a:solidFill>
                  <a:srgbClr val="FF3300"/>
                </a:solidFill>
              </a:rPr>
              <a:t>V[i-1,j]:</a:t>
            </a:r>
            <a:r>
              <a:rPr lang="zh-CN" altLang="en-US" dirty="0"/>
              <a:t>仅用最优的方法取自</a:t>
            </a:r>
            <a:r>
              <a:rPr lang="en-US" altLang="zh-CN" dirty="0"/>
              <a:t>{u</a:t>
            </a:r>
            <a:r>
              <a:rPr lang="en-US" altLang="zh-CN" baseline="-25000" dirty="0"/>
              <a:t>1</a:t>
            </a:r>
            <a:r>
              <a:rPr lang="en-US" altLang="zh-CN" dirty="0"/>
              <a:t> ,u</a:t>
            </a:r>
            <a:r>
              <a:rPr lang="en-US" altLang="zh-CN" baseline="-25000" dirty="0"/>
              <a:t>2</a:t>
            </a:r>
            <a:r>
              <a:rPr lang="en-US" altLang="zh-CN" dirty="0"/>
              <a:t>,. . . ,u</a:t>
            </a:r>
            <a:r>
              <a:rPr lang="en-US" altLang="zh-CN" baseline="-25000" dirty="0"/>
              <a:t>i-1</a:t>
            </a:r>
            <a:r>
              <a:rPr lang="en-US" altLang="zh-CN" dirty="0"/>
              <a:t>}</a:t>
            </a:r>
            <a:r>
              <a:rPr lang="zh-CN" altLang="en-US" dirty="0"/>
              <a:t>的物品去装入体积为</a:t>
            </a:r>
            <a:r>
              <a:rPr lang="en-US" altLang="zh-CN" dirty="0"/>
              <a:t>j</a:t>
            </a:r>
            <a:r>
              <a:rPr lang="zh-CN" altLang="en-US" dirty="0"/>
              <a:t>的背包所得到的价值最大值。</a:t>
            </a:r>
            <a:endParaRPr lang="en-US" altLang="zh-CN" dirty="0"/>
          </a:p>
          <a:p>
            <a:pPr marL="533400" indent="-533400" eaLnBrk="1" hangingPunct="1">
              <a:lnSpc>
                <a:spcPct val="90000"/>
              </a:lnSpc>
              <a:buClrTx/>
              <a:buSzTx/>
              <a:buFont typeface="Wingdings" panose="05000000000000000000" pitchFamily="2" charset="2"/>
              <a:buAutoNum type="arabicPeriod"/>
            </a:pPr>
            <a:endParaRPr lang="en-US" altLang="zh-CN" dirty="0"/>
          </a:p>
          <a:p>
            <a:pPr marL="533400" indent="-533400" eaLnBrk="1" hangingPunct="1">
              <a:lnSpc>
                <a:spcPct val="90000"/>
              </a:lnSpc>
              <a:buClrTx/>
              <a:buSzTx/>
              <a:buFont typeface="Wingdings" panose="05000000000000000000" pitchFamily="2" charset="2"/>
              <a:buAutoNum type="arabicPeriod"/>
            </a:pPr>
            <a:r>
              <a:rPr lang="en-US" altLang="zh-CN" dirty="0">
                <a:solidFill>
                  <a:srgbClr val="FF3300"/>
                </a:solidFill>
              </a:rPr>
              <a:t>V[i-1,j-s</a:t>
            </a:r>
            <a:r>
              <a:rPr lang="en-US" altLang="zh-CN" baseline="-25000" dirty="0">
                <a:solidFill>
                  <a:srgbClr val="FF3300"/>
                </a:solidFill>
              </a:rPr>
              <a:t>i</a:t>
            </a:r>
            <a:r>
              <a:rPr lang="en-US" altLang="zh-CN" dirty="0">
                <a:solidFill>
                  <a:srgbClr val="FF3300"/>
                </a:solidFill>
              </a:rPr>
              <a:t>]+v</a:t>
            </a:r>
            <a:r>
              <a:rPr lang="en-US" altLang="zh-CN" baseline="-25000" dirty="0">
                <a:solidFill>
                  <a:srgbClr val="FF3300"/>
                </a:solidFill>
              </a:rPr>
              <a:t>i</a:t>
            </a:r>
            <a:r>
              <a:rPr lang="en-US" altLang="zh-CN" dirty="0">
                <a:solidFill>
                  <a:srgbClr val="FF3300"/>
                </a:solidFill>
              </a:rPr>
              <a:t>:</a:t>
            </a:r>
            <a:r>
              <a:rPr lang="zh-CN" altLang="en-US" dirty="0"/>
              <a:t>用最优的方法取自</a:t>
            </a:r>
            <a:r>
              <a:rPr lang="en-US" altLang="zh-CN" dirty="0"/>
              <a:t>{u</a:t>
            </a:r>
            <a:r>
              <a:rPr lang="en-US" altLang="zh-CN" baseline="-25000" dirty="0"/>
              <a:t>1</a:t>
            </a:r>
            <a:r>
              <a:rPr lang="en-US" altLang="zh-CN" dirty="0"/>
              <a:t> ,u</a:t>
            </a:r>
            <a:r>
              <a:rPr lang="en-US" altLang="zh-CN" baseline="-25000" dirty="0"/>
              <a:t>2</a:t>
            </a:r>
            <a:r>
              <a:rPr lang="en-US" altLang="zh-CN" dirty="0"/>
              <a:t>,. . .,u</a:t>
            </a:r>
            <a:r>
              <a:rPr lang="en-US" altLang="zh-CN" baseline="-25000" dirty="0"/>
              <a:t>i-1</a:t>
            </a:r>
            <a:r>
              <a:rPr lang="en-US" altLang="zh-CN" dirty="0"/>
              <a:t>}</a:t>
            </a:r>
            <a:r>
              <a:rPr lang="zh-CN" altLang="en-US" dirty="0"/>
              <a:t>的物品去装入体积为</a:t>
            </a:r>
            <a:r>
              <a:rPr lang="en-US" altLang="zh-CN" dirty="0"/>
              <a:t>j-s</a:t>
            </a:r>
            <a:r>
              <a:rPr lang="en-US" altLang="zh-CN" baseline="-25000" dirty="0"/>
              <a:t>i</a:t>
            </a:r>
            <a:r>
              <a:rPr lang="zh-CN" altLang="en-US" dirty="0"/>
              <a:t>的背包所得到的价值最大值加上物品</a:t>
            </a:r>
            <a:r>
              <a:rPr lang="en-US" altLang="zh-CN" dirty="0"/>
              <a:t>u</a:t>
            </a:r>
            <a:r>
              <a:rPr lang="en-US" altLang="zh-CN" baseline="-25000" dirty="0"/>
              <a:t>i</a:t>
            </a:r>
            <a:r>
              <a:rPr lang="zh-CN" altLang="en-US" dirty="0"/>
              <a:t>的价值。这仅应用于如果</a:t>
            </a:r>
            <a:r>
              <a:rPr lang="en-US" altLang="zh-CN" dirty="0"/>
              <a:t>j≥s</a:t>
            </a:r>
            <a:r>
              <a:rPr lang="en-US" altLang="zh-CN" baseline="-25000" dirty="0"/>
              <a:t>i</a:t>
            </a:r>
            <a:r>
              <a:rPr lang="zh-CN" altLang="en-US" dirty="0"/>
              <a:t>以及它等于把物品</a:t>
            </a:r>
            <a:r>
              <a:rPr lang="en-US" altLang="zh-CN" dirty="0"/>
              <a:t>u</a:t>
            </a:r>
            <a:r>
              <a:rPr lang="en-US" altLang="zh-CN" baseline="-25000" dirty="0"/>
              <a:t>i</a:t>
            </a:r>
            <a:r>
              <a:rPr lang="zh-CN" altLang="en-US" dirty="0"/>
              <a:t>加到背包上的情况。</a:t>
            </a:r>
          </a:p>
        </p:txBody>
      </p:sp>
      <p:graphicFrame>
        <p:nvGraphicFramePr>
          <p:cNvPr id="57350" name="Object 6"/>
          <p:cNvGraphicFramePr>
            <a:graphicFrameLocks noGrp="1" noChangeAspect="1"/>
          </p:cNvGraphicFramePr>
          <p:nvPr>
            <p:ph sz="half" idx="2"/>
          </p:nvPr>
        </p:nvGraphicFramePr>
        <p:xfrm>
          <a:off x="1928813" y="4364038"/>
          <a:ext cx="5722937" cy="1068387"/>
        </p:xfrm>
        <a:graphic>
          <a:graphicData uri="http://schemas.openxmlformats.org/presentationml/2006/ole">
            <mc:AlternateContent xmlns:mc="http://schemas.openxmlformats.org/markup-compatibility/2006">
              <mc:Choice xmlns:v="urn:schemas-microsoft-com:vml" Requires="v">
                <p:oleObj r:id="rId3" imgW="3810000" imgH="711200" progId="Equation.3">
                  <p:embed/>
                </p:oleObj>
              </mc:Choice>
              <mc:Fallback>
                <p:oleObj r:id="rId3" imgW="3810000" imgH="711200" progId="Equation.3">
                  <p:embed/>
                  <p:pic>
                    <p:nvPicPr>
                      <p:cNvPr id="57350" name="Object 6"/>
                      <p:cNvPicPr/>
                      <p:nvPr/>
                    </p:nvPicPr>
                    <p:blipFill>
                      <a:blip r:embed="rId4"/>
                      <a:srcRect/>
                      <a:stretch>
                        <a:fillRect/>
                      </a:stretch>
                    </p:blipFill>
                    <p:spPr>
                      <a:xfrm>
                        <a:off x="1928813" y="4364038"/>
                        <a:ext cx="5722937" cy="1068387"/>
                      </a:xfrm>
                      <a:prstGeom prst="rect">
                        <a:avLst/>
                      </a:prstGeom>
                      <a:noFill/>
                      <a:ln w="38100">
                        <a:miter/>
                      </a:ln>
                    </p:spPr>
                  </p:pic>
                </p:oleObj>
              </mc:Fallback>
            </mc:AlternateContent>
          </a:graphicData>
        </a:graphic>
      </p:graphicFrame>
      <p:sp>
        <p:nvSpPr>
          <p:cNvPr id="4" name="Rectangle 2">
            <a:extLst>
              <a:ext uri="{FF2B5EF4-FFF2-40B4-BE49-F238E27FC236}">
                <a16:creationId xmlns:a16="http://schemas.microsoft.com/office/drawing/2014/main" id="{491A916E-3A21-AECA-6F64-8E6764F3D60E}"/>
              </a:ext>
            </a:extLst>
          </p:cNvPr>
          <p:cNvSpPr>
            <a:spLocks noGrp="1"/>
          </p:cNvSpPr>
          <p:nvPr>
            <p:ph type="title"/>
          </p:nvPr>
        </p:nvSpPr>
        <p:spPr>
          <a:xfrm>
            <a:off x="879475" y="269875"/>
            <a:ext cx="7869238" cy="927100"/>
          </a:xfrm>
        </p:spPr>
        <p:txBody>
          <a:bodyPr vert="horz" wrap="square" lIns="91440" tIns="45720" rIns="91440" bIns="45720" anchor="ctr" anchorCtr="0"/>
          <a:lstStyle/>
          <a:p>
            <a:pPr eaLnBrk="1" hangingPunct="1"/>
            <a:r>
              <a:rPr lang="en-US" altLang="zh-CN" dirty="0">
                <a:latin typeface="+mj-ea"/>
              </a:rPr>
              <a:t>4.3.2 0/1</a:t>
            </a:r>
            <a:r>
              <a:rPr lang="zh-CN" altLang="en-US" dirty="0">
                <a:latin typeface="+mj-ea"/>
              </a:rPr>
              <a:t>背包问题</a:t>
            </a:r>
            <a:r>
              <a:rPr lang="en-US" altLang="zh-CN" dirty="0">
                <a:latin typeface="+mj-ea"/>
              </a:rPr>
              <a:t>—</a:t>
            </a:r>
            <a:r>
              <a:rPr lang="zh-CN" altLang="en-US" dirty="0">
                <a:latin typeface="+mj-ea"/>
              </a:rPr>
              <a:t>观察结论</a:t>
            </a:r>
            <a:endParaRPr lang="en-US" altLang="zh-CN"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blinds(horizontal)">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 calcmode="lin" valueType="num">
                                      <p:cBhvr additive="base">
                                        <p:cTn id="12" dur="500" fill="hold"/>
                                        <p:tgtEl>
                                          <p:spTgt spid="5734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73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7347">
                                            <p:txEl>
                                              <p:pRg st="3" end="3"/>
                                            </p:txEl>
                                          </p:spTgt>
                                        </p:tgtEl>
                                        <p:attrNameLst>
                                          <p:attrName>style.visibility</p:attrName>
                                        </p:attrNameLst>
                                      </p:cBhvr>
                                      <p:to>
                                        <p:strVal val="visible"/>
                                      </p:to>
                                    </p:set>
                                    <p:anim calcmode="lin" valueType="num">
                                      <p:cBhvr additive="base">
                                        <p:cTn id="18" dur="500" fill="hold"/>
                                        <p:tgtEl>
                                          <p:spTgt spid="57347">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73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7350"/>
                                        </p:tgtEl>
                                        <p:attrNameLst>
                                          <p:attrName>style.visibility</p:attrName>
                                        </p:attrNameLst>
                                      </p:cBhvr>
                                      <p:to>
                                        <p:strVal val="visible"/>
                                      </p:to>
                                    </p:set>
                                    <p:anim calcmode="lin" valueType="num">
                                      <p:cBhvr additive="base">
                                        <p:cTn id="24" dur="500" fill="hold"/>
                                        <p:tgtEl>
                                          <p:spTgt spid="57350"/>
                                        </p:tgtEl>
                                        <p:attrNameLst>
                                          <p:attrName>ppt_x</p:attrName>
                                        </p:attrNameLst>
                                      </p:cBhvr>
                                      <p:tavLst>
                                        <p:tav tm="0">
                                          <p:val>
                                            <p:strVal val="#ppt_x"/>
                                          </p:val>
                                        </p:tav>
                                        <p:tav tm="100000">
                                          <p:val>
                                            <p:strVal val="#ppt_x"/>
                                          </p:val>
                                        </p:tav>
                                      </p:tavLst>
                                    </p:anim>
                                    <p:anim calcmode="lin" valueType="num">
                                      <p:cBhvr additive="base">
                                        <p:cTn id="25" dur="500" fill="hold"/>
                                        <p:tgtEl>
                                          <p:spTgt spid="573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4"/>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07523" name="页脚占位符 5"/>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07524" name="灯片编号占位符 6"/>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60</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107525" name="Rectangle 5"/>
          <p:cNvSpPr>
            <a:spLocks noGrp="1"/>
          </p:cNvSpPr>
          <p:nvPr>
            <p:ph type="body" sz="half" idx="1"/>
          </p:nvPr>
        </p:nvSpPr>
        <p:spPr>
          <a:xfrm>
            <a:off x="740162" y="1180693"/>
            <a:ext cx="8218487" cy="5677307"/>
          </a:xfrm>
          <a:solidFill>
            <a:schemeClr val="bg1">
              <a:alpha val="100000"/>
            </a:schemeClr>
          </a:solidFill>
        </p:spPr>
        <p:txBody>
          <a:bodyPr vert="horz" wrap="square" lIns="91440" tIns="45720" rIns="91440" bIns="45720" anchor="t" anchorCtr="0"/>
          <a:lstStyle/>
          <a:p>
            <a:pPr eaLnBrk="1" hangingPunct="1">
              <a:buClrTx/>
              <a:buSzTx/>
              <a:buFontTx/>
              <a:buNone/>
            </a:pPr>
            <a:r>
              <a:rPr lang="zh-CN" altLang="en-US" sz="2000" b="1" dirty="0"/>
              <a:t>算法</a:t>
            </a:r>
            <a:r>
              <a:rPr lang="en-US" altLang="zh-CN" sz="2000" b="1" dirty="0"/>
              <a:t>7.4 KNAPSACK</a:t>
            </a:r>
          </a:p>
          <a:p>
            <a:pPr lvl="1" eaLnBrk="1" hangingPunct="1">
              <a:buNone/>
            </a:pPr>
            <a:r>
              <a:rPr lang="zh-CN" altLang="en-US" sz="1800" dirty="0"/>
              <a:t>输入</a:t>
            </a:r>
            <a:r>
              <a:rPr lang="en-US" altLang="zh-CN" sz="1800" dirty="0"/>
              <a:t>:</a:t>
            </a:r>
            <a:r>
              <a:rPr lang="zh-CN" altLang="en-US" sz="1800" dirty="0"/>
              <a:t>物品集合</a:t>
            </a:r>
            <a:r>
              <a:rPr lang="en-US" altLang="zh-CN" sz="1800" dirty="0"/>
              <a:t>U={u</a:t>
            </a:r>
            <a:r>
              <a:rPr lang="en-US" altLang="zh-CN" sz="1800" baseline="-25000" dirty="0"/>
              <a:t>1</a:t>
            </a:r>
            <a:r>
              <a:rPr lang="en-US" altLang="zh-CN" sz="1800" dirty="0"/>
              <a:t>,u</a:t>
            </a:r>
            <a:r>
              <a:rPr lang="en-US" altLang="zh-CN" sz="1800" baseline="-25000" dirty="0"/>
              <a:t>2</a:t>
            </a:r>
            <a:r>
              <a:rPr lang="en-US" altLang="zh-CN" sz="1800" dirty="0"/>
              <a:t>,…,u</a:t>
            </a:r>
            <a:r>
              <a:rPr lang="en-US" altLang="zh-CN" sz="1800" baseline="-25000" dirty="0"/>
              <a:t>n</a:t>
            </a:r>
            <a:r>
              <a:rPr lang="en-US" altLang="zh-CN" sz="1800" dirty="0"/>
              <a:t>}</a:t>
            </a:r>
            <a:r>
              <a:rPr lang="zh-CN" altLang="en-US" sz="1800" dirty="0"/>
              <a:t>，体积分别为</a:t>
            </a:r>
            <a:r>
              <a:rPr lang="en-US" altLang="zh-CN" sz="1800" dirty="0"/>
              <a:t>s</a:t>
            </a:r>
            <a:r>
              <a:rPr lang="en-US" altLang="zh-CN" sz="1800" baseline="-25000" dirty="0"/>
              <a:t>1</a:t>
            </a:r>
            <a:r>
              <a:rPr lang="en-US" altLang="zh-CN" sz="1800" dirty="0"/>
              <a:t>,s</a:t>
            </a:r>
            <a:r>
              <a:rPr lang="en-US" altLang="zh-CN" sz="1800" baseline="-25000" dirty="0"/>
              <a:t>2</a:t>
            </a:r>
            <a:r>
              <a:rPr lang="en-US" altLang="zh-CN" sz="1800" dirty="0"/>
              <a:t>,…,s</a:t>
            </a:r>
            <a:r>
              <a:rPr lang="en-US" altLang="zh-CN" sz="1800" baseline="-25000" dirty="0"/>
              <a:t>n</a:t>
            </a:r>
            <a:r>
              <a:rPr lang="en-US" altLang="zh-CN" sz="1800" dirty="0"/>
              <a:t> </a:t>
            </a:r>
            <a:r>
              <a:rPr lang="zh-CN" altLang="en-US" sz="1800" dirty="0"/>
              <a:t>，价值分别为</a:t>
            </a:r>
            <a:r>
              <a:rPr lang="en-US" altLang="zh-CN" sz="1800" dirty="0"/>
              <a:t>v</a:t>
            </a:r>
            <a:r>
              <a:rPr lang="en-US" altLang="zh-CN" sz="1800" baseline="-25000" dirty="0"/>
              <a:t>1</a:t>
            </a:r>
            <a:r>
              <a:rPr lang="en-US" altLang="zh-CN" sz="1800" dirty="0"/>
              <a:t>,v</a:t>
            </a:r>
            <a:r>
              <a:rPr lang="en-US" altLang="zh-CN" sz="1800" baseline="-25000" dirty="0"/>
              <a:t>2</a:t>
            </a:r>
            <a:r>
              <a:rPr lang="en-US" altLang="zh-CN" sz="1800" dirty="0"/>
              <a:t>,…,v</a:t>
            </a:r>
            <a:r>
              <a:rPr lang="en-US" altLang="zh-CN" sz="1800" baseline="-25000" dirty="0"/>
              <a:t>n</a:t>
            </a:r>
            <a:r>
              <a:rPr lang="en-US" altLang="zh-CN" sz="1800" dirty="0"/>
              <a:t> </a:t>
            </a:r>
            <a:r>
              <a:rPr lang="zh-CN" altLang="en-US" sz="1800" dirty="0"/>
              <a:t>，容量为</a:t>
            </a:r>
            <a:r>
              <a:rPr lang="en-US" altLang="zh-CN" sz="1800" dirty="0"/>
              <a:t>C</a:t>
            </a:r>
            <a:r>
              <a:rPr lang="zh-CN" altLang="en-US" sz="1800" dirty="0"/>
              <a:t>的背包。</a:t>
            </a:r>
            <a:endParaRPr lang="en-US" altLang="zh-CN" sz="1800" dirty="0"/>
          </a:p>
          <a:p>
            <a:pPr lvl="1" eaLnBrk="1" hangingPunct="1">
              <a:buNone/>
            </a:pPr>
            <a:r>
              <a:rPr lang="zh-CN" altLang="en-US" sz="1800" dirty="0"/>
              <a:t>输出</a:t>
            </a:r>
            <a:r>
              <a:rPr lang="en-US" altLang="zh-CN" sz="1800" dirty="0"/>
              <a:t>: </a:t>
            </a:r>
            <a:r>
              <a:rPr lang="en-US" altLang="zh-CN" sz="1800" dirty="0">
                <a:sym typeface="Symbol" panose="05050102010706020507" pitchFamily="18" charset="2"/>
              </a:rPr>
              <a:t>∑</a:t>
            </a:r>
            <a:r>
              <a:rPr lang="en-US" altLang="zh-CN" sz="1800" baseline="-25000" dirty="0">
                <a:sym typeface="Symbol" panose="05050102010706020507" pitchFamily="18" charset="2"/>
              </a:rPr>
              <a:t>ui ∈S</a:t>
            </a:r>
            <a:r>
              <a:rPr lang="en-US" altLang="zh-CN" sz="1800" dirty="0">
                <a:sym typeface="Symbol" panose="05050102010706020507" pitchFamily="18" charset="2"/>
              </a:rPr>
              <a:t> v</a:t>
            </a:r>
            <a:r>
              <a:rPr lang="en-US" altLang="zh-CN" sz="1800" baseline="-25000" dirty="0">
                <a:sym typeface="Symbol" panose="05050102010706020507" pitchFamily="18" charset="2"/>
              </a:rPr>
              <a:t>i</a:t>
            </a:r>
            <a:r>
              <a:rPr lang="zh-CN" altLang="en-US" sz="1800" dirty="0">
                <a:sym typeface="Symbol" panose="05050102010706020507" pitchFamily="18" charset="2"/>
              </a:rPr>
              <a:t>的最大总价值，且满足</a:t>
            </a:r>
            <a:r>
              <a:rPr lang="en-US" altLang="zh-CN" sz="1800" dirty="0">
                <a:sym typeface="Symbol" panose="05050102010706020507" pitchFamily="18" charset="2"/>
              </a:rPr>
              <a:t>∑</a:t>
            </a:r>
            <a:r>
              <a:rPr lang="en-US" altLang="zh-CN" sz="1800" baseline="-25000" dirty="0">
                <a:sym typeface="Symbol" panose="05050102010706020507" pitchFamily="18" charset="2"/>
              </a:rPr>
              <a:t>ui ∈S</a:t>
            </a:r>
            <a:r>
              <a:rPr lang="en-US" altLang="zh-CN" sz="1800" dirty="0">
                <a:sym typeface="Symbol" panose="05050102010706020507" pitchFamily="18" charset="2"/>
              </a:rPr>
              <a:t> s</a:t>
            </a:r>
            <a:r>
              <a:rPr lang="en-US" altLang="zh-CN" sz="1800" baseline="-25000" dirty="0">
                <a:sym typeface="Symbol" panose="05050102010706020507" pitchFamily="18" charset="2"/>
              </a:rPr>
              <a:t>i</a:t>
            </a:r>
            <a:r>
              <a:rPr lang="en-US" altLang="zh-CN" sz="1800" dirty="0">
                <a:sym typeface="Symbol" panose="05050102010706020507" pitchFamily="18" charset="2"/>
              </a:rPr>
              <a:t> C </a:t>
            </a:r>
            <a:r>
              <a:rPr lang="zh-CN" altLang="en-US" sz="1800" dirty="0">
                <a:sym typeface="Symbol" panose="05050102010706020507" pitchFamily="18" charset="2"/>
              </a:rPr>
              <a:t>，其中</a:t>
            </a:r>
            <a:r>
              <a:rPr lang="en-US" altLang="zh-CN" sz="1800" dirty="0">
                <a:sym typeface="Symbol" panose="05050102010706020507" pitchFamily="18" charset="2"/>
              </a:rPr>
              <a:t>S U.</a:t>
            </a:r>
          </a:p>
          <a:p>
            <a:pPr lvl="1" eaLnBrk="1" hangingPunct="1">
              <a:buNone/>
            </a:pPr>
            <a:r>
              <a:rPr lang="en-US" altLang="zh-CN" sz="1800" dirty="0">
                <a:sym typeface="Symbol" panose="05050102010706020507" pitchFamily="18" charset="2"/>
              </a:rPr>
              <a:t>	1. </a:t>
            </a:r>
            <a:r>
              <a:rPr lang="en-US" altLang="zh-CN" sz="1800" b="1" dirty="0">
                <a:sym typeface="Symbol" panose="05050102010706020507" pitchFamily="18" charset="2"/>
              </a:rPr>
              <a:t>for</a:t>
            </a:r>
            <a:r>
              <a:rPr lang="en-US" altLang="zh-CN" sz="1800" dirty="0">
                <a:sym typeface="Symbol" panose="05050102010706020507" pitchFamily="18" charset="2"/>
              </a:rPr>
              <a:t> i</a:t>
            </a:r>
            <a:r>
              <a:rPr lang="en-US" altLang="zh-CN" sz="1800" dirty="0">
                <a:sym typeface="Wingdings" panose="05000000000000000000" pitchFamily="2" charset="2"/>
              </a:rPr>
              <a:t>0 </a:t>
            </a:r>
            <a:r>
              <a:rPr lang="en-US" altLang="zh-CN" sz="1800" b="1" dirty="0">
                <a:sym typeface="Wingdings" panose="05000000000000000000" pitchFamily="2" charset="2"/>
              </a:rPr>
              <a:t>to</a:t>
            </a:r>
            <a:r>
              <a:rPr lang="en-US" altLang="zh-CN" sz="1800" dirty="0">
                <a:sym typeface="Wingdings" panose="05000000000000000000" pitchFamily="2" charset="2"/>
              </a:rPr>
              <a:t> n</a:t>
            </a:r>
          </a:p>
          <a:p>
            <a:pPr lvl="1" eaLnBrk="1" hangingPunct="1">
              <a:buNone/>
            </a:pPr>
            <a:r>
              <a:rPr lang="en-US" altLang="zh-CN" sz="1800" dirty="0">
                <a:sym typeface="Wingdings" panose="05000000000000000000" pitchFamily="2" charset="2"/>
              </a:rPr>
              <a:t>	2.	</a:t>
            </a:r>
            <a:r>
              <a:rPr lang="en-US" altLang="zh-CN" sz="1800" i="1" dirty="0">
                <a:sym typeface="Wingdings" panose="05000000000000000000" pitchFamily="2" charset="2"/>
              </a:rPr>
              <a:t>V[i,0]0</a:t>
            </a:r>
          </a:p>
          <a:p>
            <a:pPr lvl="1" eaLnBrk="1" hangingPunct="1">
              <a:buNone/>
            </a:pPr>
            <a:r>
              <a:rPr lang="en-US" altLang="zh-CN" sz="1800" dirty="0">
                <a:sym typeface="Wingdings" panose="05000000000000000000" pitchFamily="2" charset="2"/>
              </a:rPr>
              <a:t>	3.</a:t>
            </a:r>
            <a:r>
              <a:rPr lang="en-US" altLang="zh-CN" sz="1800" b="1" dirty="0">
                <a:sym typeface="Wingdings" panose="05000000000000000000" pitchFamily="2" charset="2"/>
              </a:rPr>
              <a:t>end for</a:t>
            </a:r>
          </a:p>
          <a:p>
            <a:pPr lvl="1" eaLnBrk="1" hangingPunct="1">
              <a:buNone/>
            </a:pPr>
            <a:r>
              <a:rPr lang="en-US" altLang="zh-CN" sz="1800" dirty="0">
                <a:sym typeface="Wingdings" panose="05000000000000000000" pitchFamily="2" charset="2"/>
              </a:rPr>
              <a:t>	4. </a:t>
            </a:r>
            <a:r>
              <a:rPr lang="en-US" altLang="zh-CN" sz="1800" b="1" dirty="0">
                <a:sym typeface="Wingdings" panose="05000000000000000000" pitchFamily="2" charset="2"/>
              </a:rPr>
              <a:t>for</a:t>
            </a:r>
            <a:r>
              <a:rPr lang="en-US" altLang="zh-CN" sz="1800" dirty="0">
                <a:sym typeface="Wingdings" panose="05000000000000000000" pitchFamily="2" charset="2"/>
              </a:rPr>
              <a:t> j0 </a:t>
            </a:r>
            <a:r>
              <a:rPr lang="en-US" altLang="zh-CN" sz="1800" b="1" dirty="0">
                <a:sym typeface="Wingdings" panose="05000000000000000000" pitchFamily="2" charset="2"/>
              </a:rPr>
              <a:t>to</a:t>
            </a:r>
            <a:r>
              <a:rPr lang="en-US" altLang="zh-CN" sz="1800" dirty="0">
                <a:sym typeface="Wingdings" panose="05000000000000000000" pitchFamily="2" charset="2"/>
              </a:rPr>
              <a:t> n</a:t>
            </a:r>
          </a:p>
          <a:p>
            <a:pPr lvl="1" eaLnBrk="1" hangingPunct="1">
              <a:buNone/>
            </a:pPr>
            <a:r>
              <a:rPr lang="en-US" altLang="zh-CN" sz="1800" dirty="0">
                <a:sym typeface="Wingdings" panose="05000000000000000000" pitchFamily="2" charset="2"/>
              </a:rPr>
              <a:t>	5. </a:t>
            </a:r>
            <a:r>
              <a:rPr lang="en-US" altLang="zh-CN" sz="1800" i="1" dirty="0">
                <a:sym typeface="Wingdings" panose="05000000000000000000" pitchFamily="2" charset="2"/>
              </a:rPr>
              <a:t>	V[0,j]0</a:t>
            </a:r>
          </a:p>
          <a:p>
            <a:pPr lvl="1" eaLnBrk="1" hangingPunct="1">
              <a:buNone/>
            </a:pPr>
            <a:r>
              <a:rPr lang="en-US" altLang="zh-CN" sz="1800" dirty="0">
                <a:sym typeface="Wingdings" panose="05000000000000000000" pitchFamily="2" charset="2"/>
              </a:rPr>
              <a:t>	6</a:t>
            </a:r>
            <a:r>
              <a:rPr lang="en-US" altLang="zh-CN" sz="1800" b="1" dirty="0">
                <a:sym typeface="Wingdings" panose="05000000000000000000" pitchFamily="2" charset="2"/>
              </a:rPr>
              <a:t>. end for</a:t>
            </a:r>
          </a:p>
          <a:p>
            <a:pPr lvl="1" eaLnBrk="1" hangingPunct="1">
              <a:buNone/>
            </a:pPr>
            <a:r>
              <a:rPr lang="en-US" altLang="zh-CN" sz="1700" dirty="0">
                <a:sym typeface="Wingdings" panose="05000000000000000000" pitchFamily="2" charset="2"/>
              </a:rPr>
              <a:t> 	</a:t>
            </a:r>
            <a:r>
              <a:rPr lang="en-US" altLang="zh-CN" sz="1900" dirty="0">
                <a:sym typeface="Wingdings" panose="05000000000000000000" pitchFamily="2" charset="2"/>
              </a:rPr>
              <a:t>7. </a:t>
            </a:r>
            <a:r>
              <a:rPr lang="en-US" altLang="zh-CN" sz="1900" b="1" dirty="0">
                <a:sym typeface="Wingdings" panose="05000000000000000000" pitchFamily="2" charset="2"/>
              </a:rPr>
              <a:t>for</a:t>
            </a:r>
            <a:r>
              <a:rPr lang="en-US" altLang="zh-CN" sz="1900" dirty="0">
                <a:sym typeface="Wingdings" panose="05000000000000000000" pitchFamily="2" charset="2"/>
              </a:rPr>
              <a:t> i1 </a:t>
            </a:r>
            <a:r>
              <a:rPr lang="en-US" altLang="zh-CN" sz="1900" b="1" dirty="0">
                <a:sym typeface="Wingdings" panose="05000000000000000000" pitchFamily="2" charset="2"/>
              </a:rPr>
              <a:t>to</a:t>
            </a:r>
            <a:r>
              <a:rPr lang="en-US" altLang="zh-CN" sz="1900" dirty="0">
                <a:sym typeface="Wingdings" panose="05000000000000000000" pitchFamily="2" charset="2"/>
              </a:rPr>
              <a:t> n</a:t>
            </a:r>
          </a:p>
          <a:p>
            <a:pPr lvl="1" eaLnBrk="1" hangingPunct="1">
              <a:buNone/>
            </a:pPr>
            <a:r>
              <a:rPr lang="en-US" altLang="zh-CN" sz="1900" dirty="0">
                <a:sym typeface="Wingdings" panose="05000000000000000000" pitchFamily="2" charset="2"/>
              </a:rPr>
              <a:t>	8.	</a:t>
            </a:r>
            <a:r>
              <a:rPr lang="en-US" altLang="zh-CN" sz="1900" b="1" dirty="0">
                <a:sym typeface="Wingdings" panose="05000000000000000000" pitchFamily="2" charset="2"/>
              </a:rPr>
              <a:t>for</a:t>
            </a:r>
            <a:r>
              <a:rPr lang="en-US" altLang="zh-CN" sz="1900" dirty="0">
                <a:sym typeface="Wingdings" panose="05000000000000000000" pitchFamily="2" charset="2"/>
              </a:rPr>
              <a:t> j1 </a:t>
            </a:r>
            <a:r>
              <a:rPr lang="en-US" altLang="zh-CN" sz="1900" b="1" dirty="0">
                <a:sym typeface="Wingdings" panose="05000000000000000000" pitchFamily="2" charset="2"/>
              </a:rPr>
              <a:t>to</a:t>
            </a:r>
            <a:r>
              <a:rPr lang="en-US" altLang="zh-CN" sz="1900" dirty="0">
                <a:sym typeface="Wingdings" panose="05000000000000000000" pitchFamily="2" charset="2"/>
              </a:rPr>
              <a:t> C</a:t>
            </a:r>
          </a:p>
          <a:p>
            <a:pPr lvl="1" eaLnBrk="1" hangingPunct="1">
              <a:buNone/>
            </a:pPr>
            <a:r>
              <a:rPr lang="en-US" altLang="zh-CN" sz="1900" dirty="0">
                <a:sym typeface="Symbol" panose="05050102010706020507" pitchFamily="18" charset="2"/>
              </a:rPr>
              <a:t>	9.		</a:t>
            </a:r>
            <a:r>
              <a:rPr lang="en-US" altLang="zh-CN" sz="1900" i="1" dirty="0">
                <a:sym typeface="Symbol" panose="05050102010706020507" pitchFamily="18" charset="2"/>
              </a:rPr>
              <a:t>V[i,j]</a:t>
            </a:r>
            <a:r>
              <a:rPr lang="en-US" altLang="zh-CN" sz="1900" i="1" dirty="0">
                <a:sym typeface="Wingdings" panose="05000000000000000000" pitchFamily="2" charset="2"/>
              </a:rPr>
              <a:t>V[i-1,j]</a:t>
            </a:r>
          </a:p>
          <a:p>
            <a:pPr lvl="1" eaLnBrk="1" hangingPunct="1">
              <a:buNone/>
            </a:pPr>
            <a:r>
              <a:rPr lang="en-US" altLang="zh-CN" sz="1900" dirty="0">
                <a:sym typeface="Symbol" panose="05050102010706020507" pitchFamily="18" charset="2"/>
              </a:rPr>
              <a:t>	1.		</a:t>
            </a:r>
            <a:r>
              <a:rPr lang="en-US" altLang="zh-CN" sz="1900" b="1" dirty="0">
                <a:sym typeface="Symbol" panose="05050102010706020507" pitchFamily="18" charset="2"/>
              </a:rPr>
              <a:t>if</a:t>
            </a:r>
            <a:r>
              <a:rPr lang="en-US" altLang="zh-CN" sz="1900" dirty="0">
                <a:sym typeface="Symbol" panose="05050102010706020507" pitchFamily="18" charset="2"/>
              </a:rPr>
              <a:t> </a:t>
            </a:r>
            <a:r>
              <a:rPr lang="en-US" altLang="zh-CN" sz="1900" i="1" dirty="0">
                <a:sym typeface="Symbol" panose="05050102010706020507" pitchFamily="18" charset="2"/>
              </a:rPr>
              <a:t>s</a:t>
            </a:r>
            <a:r>
              <a:rPr lang="en-US" altLang="zh-CN" sz="1900" i="1" baseline="-25000" dirty="0">
                <a:sym typeface="Symbol" panose="05050102010706020507" pitchFamily="18" charset="2"/>
              </a:rPr>
              <a:t>i</a:t>
            </a:r>
            <a:r>
              <a:rPr lang="en-US" altLang="zh-CN" sz="1900" i="1" dirty="0">
                <a:sym typeface="Symbol" panose="05050102010706020507" pitchFamily="18" charset="2"/>
              </a:rPr>
              <a:t> j</a:t>
            </a:r>
            <a:r>
              <a:rPr lang="en-US" altLang="zh-CN" sz="1900" dirty="0">
                <a:sym typeface="Symbol" panose="05050102010706020507" pitchFamily="18" charset="2"/>
              </a:rPr>
              <a:t> </a:t>
            </a:r>
            <a:r>
              <a:rPr lang="en-US" altLang="zh-CN" sz="1900" b="1" dirty="0">
                <a:sym typeface="Symbol" panose="05050102010706020507" pitchFamily="18" charset="2"/>
              </a:rPr>
              <a:t>then</a:t>
            </a:r>
            <a:r>
              <a:rPr lang="en-US" altLang="zh-CN" sz="1900" dirty="0">
                <a:sym typeface="Symbol" panose="05050102010706020507" pitchFamily="18" charset="2"/>
              </a:rPr>
              <a:t> </a:t>
            </a:r>
            <a:r>
              <a:rPr lang="en-US" altLang="zh-CN" sz="1900" i="1" dirty="0">
                <a:sym typeface="Symbol" panose="05050102010706020507" pitchFamily="18" charset="2"/>
              </a:rPr>
              <a:t>V[i,j]</a:t>
            </a:r>
            <a:r>
              <a:rPr lang="en-US" altLang="zh-CN" sz="1900" i="1" dirty="0">
                <a:sym typeface="Wingdings" panose="05000000000000000000" pitchFamily="2" charset="2"/>
              </a:rPr>
              <a:t>max{V[i,j],V[i-1,j-s</a:t>
            </a:r>
            <a:r>
              <a:rPr lang="en-US" altLang="zh-CN" sz="1900" i="1" baseline="-25000" dirty="0">
                <a:sym typeface="Wingdings" panose="05000000000000000000" pitchFamily="2" charset="2"/>
              </a:rPr>
              <a:t>i</a:t>
            </a:r>
            <a:r>
              <a:rPr lang="en-US" altLang="zh-CN" sz="1900" i="1" dirty="0">
                <a:sym typeface="Wingdings" panose="05000000000000000000" pitchFamily="2" charset="2"/>
              </a:rPr>
              <a:t>]+v</a:t>
            </a:r>
            <a:r>
              <a:rPr lang="en-US" altLang="zh-CN" sz="1900" i="1" baseline="-25000" dirty="0">
                <a:sym typeface="Wingdings" panose="05000000000000000000" pitchFamily="2" charset="2"/>
              </a:rPr>
              <a:t>i</a:t>
            </a:r>
            <a:r>
              <a:rPr lang="en-US" altLang="zh-CN" sz="1900" i="1" dirty="0">
                <a:sym typeface="Wingdings" panose="05000000000000000000" pitchFamily="2" charset="2"/>
              </a:rPr>
              <a:t>}</a:t>
            </a:r>
          </a:p>
          <a:p>
            <a:pPr lvl="1" eaLnBrk="1" hangingPunct="1">
              <a:buNone/>
            </a:pPr>
            <a:r>
              <a:rPr lang="en-US" altLang="zh-CN" sz="1900" dirty="0">
                <a:sym typeface="Symbol" panose="05050102010706020507" pitchFamily="18" charset="2"/>
              </a:rPr>
              <a:t>    	11.	</a:t>
            </a:r>
            <a:r>
              <a:rPr lang="en-US" altLang="zh-CN" sz="1900" b="1" dirty="0">
                <a:sym typeface="Symbol" panose="05050102010706020507" pitchFamily="18" charset="2"/>
              </a:rPr>
              <a:t>end for</a:t>
            </a:r>
          </a:p>
          <a:p>
            <a:pPr lvl="1" eaLnBrk="1" hangingPunct="1">
              <a:buNone/>
            </a:pPr>
            <a:r>
              <a:rPr lang="en-US" altLang="zh-CN" sz="1900" dirty="0">
                <a:sym typeface="Symbol" panose="05050102010706020507" pitchFamily="18" charset="2"/>
              </a:rPr>
              <a:t>	12. </a:t>
            </a:r>
            <a:r>
              <a:rPr lang="en-US" altLang="zh-CN" sz="1900" b="1" dirty="0">
                <a:sym typeface="Symbol" panose="05050102010706020507" pitchFamily="18" charset="2"/>
              </a:rPr>
              <a:t>end for</a:t>
            </a:r>
          </a:p>
          <a:p>
            <a:pPr lvl="1" eaLnBrk="1" hangingPunct="1">
              <a:buNone/>
            </a:pPr>
            <a:r>
              <a:rPr lang="en-US" altLang="zh-CN" sz="1900" dirty="0">
                <a:sym typeface="Symbol" panose="05050102010706020507" pitchFamily="18" charset="2"/>
              </a:rPr>
              <a:t>	13. </a:t>
            </a:r>
            <a:r>
              <a:rPr lang="en-US" altLang="zh-CN" sz="1900" b="1" dirty="0">
                <a:sym typeface="Symbol" panose="05050102010706020507" pitchFamily="18" charset="2"/>
              </a:rPr>
              <a:t>return </a:t>
            </a:r>
            <a:r>
              <a:rPr lang="en-US" altLang="zh-CN" sz="1900" dirty="0">
                <a:sym typeface="Symbol" panose="05050102010706020507" pitchFamily="18" charset="2"/>
              </a:rPr>
              <a:t>V[n,C]</a:t>
            </a:r>
            <a:endParaRPr lang="en-US" altLang="zh-CN" sz="1800" dirty="0">
              <a:solidFill>
                <a:srgbClr val="FF3300"/>
              </a:solidFill>
              <a:sym typeface="Symbol" panose="05050102010706020507" pitchFamily="18" charset="2"/>
            </a:endParaRPr>
          </a:p>
        </p:txBody>
      </p:sp>
      <p:sp>
        <p:nvSpPr>
          <p:cNvPr id="2" name="Rectangle 2">
            <a:extLst>
              <a:ext uri="{FF2B5EF4-FFF2-40B4-BE49-F238E27FC236}">
                <a16:creationId xmlns:a16="http://schemas.microsoft.com/office/drawing/2014/main" id="{FE500E20-B11F-8FBD-DA16-8A1DE8B5A760}"/>
              </a:ext>
            </a:extLst>
          </p:cNvPr>
          <p:cNvSpPr>
            <a:spLocks noGrp="1"/>
          </p:cNvSpPr>
          <p:nvPr>
            <p:ph type="title"/>
          </p:nvPr>
        </p:nvSpPr>
        <p:spPr>
          <a:xfrm>
            <a:off x="879475" y="269875"/>
            <a:ext cx="7869238" cy="927100"/>
          </a:xfrm>
        </p:spPr>
        <p:txBody>
          <a:bodyPr vert="horz" wrap="square" lIns="91440" tIns="45720" rIns="91440" bIns="45720" anchor="ctr" anchorCtr="0"/>
          <a:lstStyle/>
          <a:p>
            <a:pPr eaLnBrk="1" hangingPunct="1"/>
            <a:r>
              <a:rPr lang="en-US" altLang="zh-CN" dirty="0">
                <a:latin typeface="+mj-ea"/>
              </a:rPr>
              <a:t>4.3.2 0/1</a:t>
            </a:r>
            <a:r>
              <a:rPr lang="zh-CN" altLang="en-US" dirty="0">
                <a:latin typeface="+mj-ea"/>
              </a:rPr>
              <a:t>背包问题</a:t>
            </a:r>
            <a:r>
              <a:rPr lang="en-US" altLang="zh-CN" dirty="0">
                <a:latin typeface="+mj-ea"/>
              </a:rPr>
              <a:t>—</a:t>
            </a:r>
            <a:r>
              <a:rPr lang="zh-CN" altLang="en-US" dirty="0">
                <a:latin typeface="+mj-ea"/>
              </a:rPr>
              <a:t>伪代码</a:t>
            </a:r>
            <a:endParaRPr lang="en-US" altLang="zh-CN" dirty="0">
              <a:latin typeface="+mj-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4"/>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09571" name="页脚占位符 5"/>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09572" name="灯片编号占位符 6"/>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61</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109574" name="Rectangle 3"/>
          <p:cNvSpPr>
            <a:spLocks noGrp="1"/>
          </p:cNvSpPr>
          <p:nvPr>
            <p:ph type="body" sz="half" idx="1"/>
          </p:nvPr>
        </p:nvSpPr>
        <p:spPr>
          <a:xfrm>
            <a:off x="900113" y="1268413"/>
            <a:ext cx="7775575" cy="431800"/>
          </a:xfrm>
        </p:spPr>
        <p:txBody>
          <a:bodyPr vert="horz" wrap="square" lIns="91440" tIns="45720" rIns="91440" bIns="45720" anchor="t" anchorCtr="0"/>
          <a:lstStyle/>
          <a:p>
            <a:pPr eaLnBrk="1" hangingPunct="1">
              <a:buClrTx/>
              <a:buSzTx/>
              <a:buFontTx/>
            </a:pPr>
            <a:r>
              <a:rPr lang="zh-CN" altLang="en-US" dirty="0"/>
              <a:t>容量</a:t>
            </a:r>
            <a:r>
              <a:rPr lang="en-US" altLang="zh-CN" dirty="0"/>
              <a:t>: 9; </a:t>
            </a:r>
            <a:r>
              <a:rPr lang="en-US" altLang="zh-CN" dirty="0">
                <a:solidFill>
                  <a:srgbClr val="FF3300"/>
                </a:solidFill>
              </a:rPr>
              <a:t>4 </a:t>
            </a:r>
            <a:r>
              <a:rPr lang="zh-CN" altLang="en-US" dirty="0">
                <a:solidFill>
                  <a:srgbClr val="FF3300"/>
                </a:solidFill>
              </a:rPr>
              <a:t>种体积的物品</a:t>
            </a:r>
            <a:r>
              <a:rPr lang="en-US" altLang="zh-CN" dirty="0"/>
              <a:t>: 2, 3, 4, 5; </a:t>
            </a:r>
            <a:r>
              <a:rPr lang="zh-CN" altLang="en-US" dirty="0"/>
              <a:t>价值分别为</a:t>
            </a:r>
            <a:r>
              <a:rPr lang="en-US" altLang="zh-CN" dirty="0"/>
              <a:t>: 3, 4, 5, 7.</a:t>
            </a:r>
          </a:p>
        </p:txBody>
      </p:sp>
      <p:graphicFrame>
        <p:nvGraphicFramePr>
          <p:cNvPr id="191662" name="Group 174"/>
          <p:cNvGraphicFramePr>
            <a:graphicFrameLocks noGrp="1"/>
          </p:cNvGraphicFramePr>
          <p:nvPr>
            <p:ph sz="half" idx="1"/>
          </p:nvPr>
        </p:nvGraphicFramePr>
        <p:xfrm>
          <a:off x="1042988" y="2636838"/>
          <a:ext cx="7643812" cy="3517900"/>
        </p:xfrm>
        <a:graphic>
          <a:graphicData uri="http://schemas.openxmlformats.org/drawingml/2006/table">
            <a:tbl>
              <a:tblPr/>
              <a:tblGrid>
                <a:gridCol w="695325">
                  <a:extLst>
                    <a:ext uri="{9D8B030D-6E8A-4147-A177-3AD203B41FA5}">
                      <a16:colId xmlns:a16="http://schemas.microsoft.com/office/drawing/2014/main" val="20000"/>
                    </a:ext>
                  </a:extLst>
                </a:gridCol>
                <a:gridCol w="693737">
                  <a:extLst>
                    <a:ext uri="{9D8B030D-6E8A-4147-A177-3AD203B41FA5}">
                      <a16:colId xmlns:a16="http://schemas.microsoft.com/office/drawing/2014/main" val="20001"/>
                    </a:ext>
                  </a:extLst>
                </a:gridCol>
                <a:gridCol w="695325">
                  <a:extLst>
                    <a:ext uri="{9D8B030D-6E8A-4147-A177-3AD203B41FA5}">
                      <a16:colId xmlns:a16="http://schemas.microsoft.com/office/drawing/2014/main" val="20002"/>
                    </a:ext>
                  </a:extLst>
                </a:gridCol>
                <a:gridCol w="693738">
                  <a:extLst>
                    <a:ext uri="{9D8B030D-6E8A-4147-A177-3AD203B41FA5}">
                      <a16:colId xmlns:a16="http://schemas.microsoft.com/office/drawing/2014/main" val="20003"/>
                    </a:ext>
                  </a:extLst>
                </a:gridCol>
                <a:gridCol w="695325">
                  <a:extLst>
                    <a:ext uri="{9D8B030D-6E8A-4147-A177-3AD203B41FA5}">
                      <a16:colId xmlns:a16="http://schemas.microsoft.com/office/drawing/2014/main" val="20004"/>
                    </a:ext>
                  </a:extLst>
                </a:gridCol>
                <a:gridCol w="696912">
                  <a:extLst>
                    <a:ext uri="{9D8B030D-6E8A-4147-A177-3AD203B41FA5}">
                      <a16:colId xmlns:a16="http://schemas.microsoft.com/office/drawing/2014/main" val="20005"/>
                    </a:ext>
                  </a:extLst>
                </a:gridCol>
                <a:gridCol w="695325">
                  <a:extLst>
                    <a:ext uri="{9D8B030D-6E8A-4147-A177-3AD203B41FA5}">
                      <a16:colId xmlns:a16="http://schemas.microsoft.com/office/drawing/2014/main" val="20006"/>
                    </a:ext>
                  </a:extLst>
                </a:gridCol>
                <a:gridCol w="693738">
                  <a:extLst>
                    <a:ext uri="{9D8B030D-6E8A-4147-A177-3AD203B41FA5}">
                      <a16:colId xmlns:a16="http://schemas.microsoft.com/office/drawing/2014/main" val="20007"/>
                    </a:ext>
                  </a:extLst>
                </a:gridCol>
                <a:gridCol w="695325">
                  <a:extLst>
                    <a:ext uri="{9D8B030D-6E8A-4147-A177-3AD203B41FA5}">
                      <a16:colId xmlns:a16="http://schemas.microsoft.com/office/drawing/2014/main" val="20008"/>
                    </a:ext>
                  </a:extLst>
                </a:gridCol>
                <a:gridCol w="693737">
                  <a:extLst>
                    <a:ext uri="{9D8B030D-6E8A-4147-A177-3AD203B41FA5}">
                      <a16:colId xmlns:a16="http://schemas.microsoft.com/office/drawing/2014/main" val="20009"/>
                    </a:ext>
                  </a:extLst>
                </a:gridCol>
                <a:gridCol w="695325">
                  <a:extLst>
                    <a:ext uri="{9D8B030D-6E8A-4147-A177-3AD203B41FA5}">
                      <a16:colId xmlns:a16="http://schemas.microsoft.com/office/drawing/2014/main" val="20010"/>
                    </a:ext>
                  </a:extLst>
                </a:gridCol>
              </a:tblGrid>
              <a:tr h="587375">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7</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8</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9</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4200">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0</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87375">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1</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87375">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2</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84200">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3</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87375">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rPr>
                        <a:t>4</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defRPr sz="2000">
                          <a:solidFill>
                            <a:schemeClr val="accent2"/>
                          </a:solidFill>
                          <a:latin typeface="Times New Roman" panose="02020603050405020304" pitchFamily="18" charset="0"/>
                          <a:ea typeface="华文楷体" panose="02010600040101010101" pitchFamily="2" charset="-122"/>
                        </a:defRPr>
                      </a:lvl1pPr>
                      <a:lvl2pPr marL="742950" indent="-285750" eaLnBrk="0" hangingPunct="0">
                        <a:spcBef>
                          <a:spcPct val="20000"/>
                        </a:spcBef>
                        <a:defRPr sz="2000">
                          <a:solidFill>
                            <a:schemeClr val="accent2"/>
                          </a:solidFill>
                          <a:latin typeface="Arial" panose="020B0604020202020204" pitchFamily="34" charset="0"/>
                          <a:ea typeface="华文行楷" panose="02010800040101010101" pitchFamily="2" charset="-122"/>
                        </a:defRPr>
                      </a:lvl2pPr>
                      <a:lvl3pPr marL="1143000" indent="-228600" eaLnBrk="0" hangingPunct="0">
                        <a:spcBef>
                          <a:spcPct val="20000"/>
                        </a:spcBef>
                        <a:defRPr>
                          <a:solidFill>
                            <a:schemeClr val="accent2"/>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109661" name="Text Box 176"/>
          <p:cNvSpPr txBox="1"/>
          <p:nvPr/>
        </p:nvSpPr>
        <p:spPr>
          <a:xfrm>
            <a:off x="3616325" y="1922463"/>
            <a:ext cx="184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endParaRPr lang="zh-CN" altLang="zh-CN" sz="1800" b="1" dirty="0">
              <a:solidFill>
                <a:schemeClr val="tx1"/>
              </a:solidFill>
              <a:latin typeface="Arial" panose="020B0604020202020204" pitchFamily="34" charset="0"/>
              <a:ea typeface="宋体" panose="02010600030101010101" pitchFamily="2" charset="-122"/>
            </a:endParaRPr>
          </a:p>
        </p:txBody>
      </p:sp>
      <p:sp>
        <p:nvSpPr>
          <p:cNvPr id="191665" name="Text Box 177"/>
          <p:cNvSpPr txBox="1"/>
          <p:nvPr/>
        </p:nvSpPr>
        <p:spPr>
          <a:xfrm>
            <a:off x="4224338" y="1916113"/>
            <a:ext cx="1068387" cy="396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ea typeface="宋体" panose="02010600030101010101" pitchFamily="2" charset="-122"/>
              </a:rPr>
              <a:t>initialize</a:t>
            </a:r>
          </a:p>
        </p:txBody>
      </p:sp>
      <p:sp>
        <p:nvSpPr>
          <p:cNvPr id="191666" name="Text Box 178"/>
          <p:cNvSpPr txBox="1"/>
          <p:nvPr/>
        </p:nvSpPr>
        <p:spPr>
          <a:xfrm>
            <a:off x="1908175" y="33496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67" name="Text Box 179"/>
          <p:cNvSpPr txBox="1"/>
          <p:nvPr/>
        </p:nvSpPr>
        <p:spPr>
          <a:xfrm>
            <a:off x="1908175" y="3925888"/>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68" name="Text Box 180"/>
          <p:cNvSpPr txBox="1"/>
          <p:nvPr/>
        </p:nvSpPr>
        <p:spPr>
          <a:xfrm>
            <a:off x="1908175"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69" name="Text Box 181"/>
          <p:cNvSpPr txBox="1"/>
          <p:nvPr/>
        </p:nvSpPr>
        <p:spPr>
          <a:xfrm>
            <a:off x="1908175" y="50847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1" name="Text Box 183"/>
          <p:cNvSpPr txBox="1"/>
          <p:nvPr/>
        </p:nvSpPr>
        <p:spPr>
          <a:xfrm>
            <a:off x="1908175" y="56610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2" name="Text Box 184"/>
          <p:cNvSpPr txBox="1"/>
          <p:nvPr/>
        </p:nvSpPr>
        <p:spPr>
          <a:xfrm>
            <a:off x="2627313" y="33575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3" name="Text Box 185"/>
          <p:cNvSpPr txBox="1"/>
          <p:nvPr/>
        </p:nvSpPr>
        <p:spPr>
          <a:xfrm>
            <a:off x="3324225" y="33575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4" name="Text Box 186"/>
          <p:cNvSpPr txBox="1"/>
          <p:nvPr/>
        </p:nvSpPr>
        <p:spPr>
          <a:xfrm>
            <a:off x="3995738" y="33575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5" name="Text Box 187"/>
          <p:cNvSpPr txBox="1"/>
          <p:nvPr/>
        </p:nvSpPr>
        <p:spPr>
          <a:xfrm>
            <a:off x="4692650" y="33575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6" name="Text Box 188"/>
          <p:cNvSpPr txBox="1"/>
          <p:nvPr/>
        </p:nvSpPr>
        <p:spPr>
          <a:xfrm>
            <a:off x="5437188" y="3341688"/>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7" name="Text Box 189"/>
          <p:cNvSpPr txBox="1"/>
          <p:nvPr/>
        </p:nvSpPr>
        <p:spPr>
          <a:xfrm>
            <a:off x="6156325" y="33496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8" name="Text Box 190"/>
          <p:cNvSpPr txBox="1"/>
          <p:nvPr/>
        </p:nvSpPr>
        <p:spPr>
          <a:xfrm>
            <a:off x="6853238" y="33496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79" name="Text Box 191"/>
          <p:cNvSpPr txBox="1"/>
          <p:nvPr/>
        </p:nvSpPr>
        <p:spPr>
          <a:xfrm>
            <a:off x="7524750" y="33496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80" name="Text Box 192"/>
          <p:cNvSpPr txBox="1"/>
          <p:nvPr/>
        </p:nvSpPr>
        <p:spPr>
          <a:xfrm>
            <a:off x="8221663" y="33496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81" name="Text Box 193"/>
          <p:cNvSpPr txBox="1"/>
          <p:nvPr/>
        </p:nvSpPr>
        <p:spPr>
          <a:xfrm>
            <a:off x="2627313" y="1916113"/>
            <a:ext cx="4029075" cy="396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ea typeface="宋体" panose="02010600030101010101" pitchFamily="2" charset="-122"/>
              </a:rPr>
              <a:t>Consider put item 1 into the knapsack</a:t>
            </a:r>
          </a:p>
        </p:txBody>
      </p:sp>
      <p:sp>
        <p:nvSpPr>
          <p:cNvPr id="191682" name="Text Box 194"/>
          <p:cNvSpPr txBox="1"/>
          <p:nvPr/>
        </p:nvSpPr>
        <p:spPr>
          <a:xfrm>
            <a:off x="2627313"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83" name="Text Box 195"/>
          <p:cNvSpPr txBox="1"/>
          <p:nvPr/>
        </p:nvSpPr>
        <p:spPr>
          <a:xfrm>
            <a:off x="3324225"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84" name="Text Box 196"/>
          <p:cNvSpPr txBox="1"/>
          <p:nvPr/>
        </p:nvSpPr>
        <p:spPr>
          <a:xfrm>
            <a:off x="3995738"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85" name="Text Box 197"/>
          <p:cNvSpPr txBox="1"/>
          <p:nvPr/>
        </p:nvSpPr>
        <p:spPr>
          <a:xfrm>
            <a:off x="4692650"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86" name="Text Box 198"/>
          <p:cNvSpPr txBox="1"/>
          <p:nvPr/>
        </p:nvSpPr>
        <p:spPr>
          <a:xfrm>
            <a:off x="5435600"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87" name="Text Box 199"/>
          <p:cNvSpPr txBox="1"/>
          <p:nvPr/>
        </p:nvSpPr>
        <p:spPr>
          <a:xfrm>
            <a:off x="6156325"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88" name="Text Box 200"/>
          <p:cNvSpPr txBox="1"/>
          <p:nvPr/>
        </p:nvSpPr>
        <p:spPr>
          <a:xfrm>
            <a:off x="6853238"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89" name="Text Box 201"/>
          <p:cNvSpPr txBox="1"/>
          <p:nvPr/>
        </p:nvSpPr>
        <p:spPr>
          <a:xfrm>
            <a:off x="7573963"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90" name="Text Box 202"/>
          <p:cNvSpPr txBox="1"/>
          <p:nvPr/>
        </p:nvSpPr>
        <p:spPr>
          <a:xfrm>
            <a:off x="8221663" y="39338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91" name="Text Box 203"/>
          <p:cNvSpPr txBox="1"/>
          <p:nvPr/>
        </p:nvSpPr>
        <p:spPr>
          <a:xfrm>
            <a:off x="2627313" y="1916113"/>
            <a:ext cx="4029075" cy="396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ea typeface="宋体" panose="02010600030101010101" pitchFamily="2" charset="-122"/>
              </a:rPr>
              <a:t>Consider put item 2 into the knapsack</a:t>
            </a:r>
          </a:p>
        </p:txBody>
      </p:sp>
      <p:sp>
        <p:nvSpPr>
          <p:cNvPr id="191692" name="Text Box 204"/>
          <p:cNvSpPr txBox="1"/>
          <p:nvPr/>
        </p:nvSpPr>
        <p:spPr>
          <a:xfrm>
            <a:off x="2605088"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694" name="Text Box 206"/>
          <p:cNvSpPr txBox="1"/>
          <p:nvPr/>
        </p:nvSpPr>
        <p:spPr>
          <a:xfrm>
            <a:off x="3276600"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695" name="Text Box 207"/>
          <p:cNvSpPr txBox="1"/>
          <p:nvPr/>
        </p:nvSpPr>
        <p:spPr>
          <a:xfrm>
            <a:off x="3995738"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008000"/>
                </a:solidFill>
                <a:latin typeface="Arial" panose="020B0604020202020204" pitchFamily="34" charset="0"/>
                <a:ea typeface="宋体" panose="02010600030101010101" pitchFamily="2" charset="-122"/>
              </a:rPr>
              <a:t>4</a:t>
            </a:r>
          </a:p>
        </p:txBody>
      </p:sp>
      <p:sp>
        <p:nvSpPr>
          <p:cNvPr id="191696" name="Text Box 208"/>
          <p:cNvSpPr txBox="1"/>
          <p:nvPr/>
        </p:nvSpPr>
        <p:spPr>
          <a:xfrm>
            <a:off x="4692650"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008000"/>
                </a:solidFill>
                <a:latin typeface="Arial" panose="020B0604020202020204" pitchFamily="34" charset="0"/>
                <a:ea typeface="宋体" panose="02010600030101010101" pitchFamily="2" charset="-122"/>
              </a:rPr>
              <a:t>4</a:t>
            </a:r>
          </a:p>
        </p:txBody>
      </p:sp>
      <p:sp>
        <p:nvSpPr>
          <p:cNvPr id="191697" name="Text Box 209"/>
          <p:cNvSpPr txBox="1"/>
          <p:nvPr/>
        </p:nvSpPr>
        <p:spPr>
          <a:xfrm>
            <a:off x="5413375"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FF3300"/>
                </a:solidFill>
                <a:latin typeface="Arial" panose="020B0604020202020204" pitchFamily="34" charset="0"/>
                <a:ea typeface="宋体" panose="02010600030101010101" pitchFamily="2" charset="-122"/>
              </a:rPr>
              <a:t>7</a:t>
            </a:r>
          </a:p>
        </p:txBody>
      </p:sp>
      <p:sp>
        <p:nvSpPr>
          <p:cNvPr id="191698" name="Text Box 210"/>
          <p:cNvSpPr txBox="1"/>
          <p:nvPr/>
        </p:nvSpPr>
        <p:spPr>
          <a:xfrm>
            <a:off x="6132513"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FF3300"/>
                </a:solidFill>
                <a:latin typeface="Arial" panose="020B0604020202020204" pitchFamily="34" charset="0"/>
                <a:ea typeface="宋体" panose="02010600030101010101" pitchFamily="2" charset="-122"/>
              </a:rPr>
              <a:t>7</a:t>
            </a:r>
          </a:p>
        </p:txBody>
      </p:sp>
      <p:sp>
        <p:nvSpPr>
          <p:cNvPr id="191699" name="Text Box 211"/>
          <p:cNvSpPr txBox="1"/>
          <p:nvPr/>
        </p:nvSpPr>
        <p:spPr>
          <a:xfrm>
            <a:off x="6877050"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FF3300"/>
                </a:solidFill>
                <a:latin typeface="Arial" panose="020B0604020202020204" pitchFamily="34" charset="0"/>
                <a:ea typeface="宋体" panose="02010600030101010101" pitchFamily="2" charset="-122"/>
              </a:rPr>
              <a:t>7</a:t>
            </a:r>
          </a:p>
        </p:txBody>
      </p:sp>
      <p:sp>
        <p:nvSpPr>
          <p:cNvPr id="191700" name="Text Box 212"/>
          <p:cNvSpPr txBox="1"/>
          <p:nvPr/>
        </p:nvSpPr>
        <p:spPr>
          <a:xfrm>
            <a:off x="7596188"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FF3300"/>
                </a:solidFill>
                <a:latin typeface="Arial" panose="020B0604020202020204" pitchFamily="34" charset="0"/>
                <a:ea typeface="宋体" panose="02010600030101010101" pitchFamily="2" charset="-122"/>
              </a:rPr>
              <a:t>7</a:t>
            </a:r>
          </a:p>
        </p:txBody>
      </p:sp>
      <p:sp>
        <p:nvSpPr>
          <p:cNvPr id="191701" name="Text Box 213"/>
          <p:cNvSpPr txBox="1"/>
          <p:nvPr/>
        </p:nvSpPr>
        <p:spPr>
          <a:xfrm>
            <a:off x="8221663" y="4508500"/>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FF3300"/>
                </a:solidFill>
                <a:latin typeface="Arial" panose="020B0604020202020204" pitchFamily="34" charset="0"/>
                <a:ea typeface="宋体" panose="02010600030101010101" pitchFamily="2" charset="-122"/>
              </a:rPr>
              <a:t>7</a:t>
            </a:r>
          </a:p>
        </p:txBody>
      </p:sp>
      <p:sp>
        <p:nvSpPr>
          <p:cNvPr id="191702" name="Text Box 214"/>
          <p:cNvSpPr txBox="1"/>
          <p:nvPr/>
        </p:nvSpPr>
        <p:spPr>
          <a:xfrm>
            <a:off x="2630488" y="1916113"/>
            <a:ext cx="4029075" cy="396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ea typeface="宋体" panose="02010600030101010101" pitchFamily="2" charset="-122"/>
              </a:rPr>
              <a:t>Consider put item 3 into the knapsack</a:t>
            </a:r>
          </a:p>
        </p:txBody>
      </p:sp>
      <p:sp>
        <p:nvSpPr>
          <p:cNvPr id="191703" name="Text Box 215"/>
          <p:cNvSpPr txBox="1"/>
          <p:nvPr/>
        </p:nvSpPr>
        <p:spPr>
          <a:xfrm>
            <a:off x="2605088" y="507841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704" name="Text Box 216"/>
          <p:cNvSpPr txBox="1"/>
          <p:nvPr/>
        </p:nvSpPr>
        <p:spPr>
          <a:xfrm>
            <a:off x="3276600" y="50847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705" name="Text Box 217"/>
          <p:cNvSpPr txBox="1"/>
          <p:nvPr/>
        </p:nvSpPr>
        <p:spPr>
          <a:xfrm>
            <a:off x="3995738" y="50847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008000"/>
                </a:solidFill>
                <a:latin typeface="Arial" panose="020B0604020202020204" pitchFamily="34" charset="0"/>
                <a:ea typeface="宋体" panose="02010600030101010101" pitchFamily="2" charset="-122"/>
              </a:rPr>
              <a:t>4</a:t>
            </a:r>
          </a:p>
        </p:txBody>
      </p:sp>
      <p:sp>
        <p:nvSpPr>
          <p:cNvPr id="191706" name="Text Box 218"/>
          <p:cNvSpPr txBox="1"/>
          <p:nvPr/>
        </p:nvSpPr>
        <p:spPr>
          <a:xfrm>
            <a:off x="4692650" y="50847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000099"/>
                </a:solidFill>
                <a:latin typeface="Arial" panose="020B0604020202020204" pitchFamily="34" charset="0"/>
                <a:ea typeface="宋体" panose="02010600030101010101" pitchFamily="2" charset="-122"/>
              </a:rPr>
              <a:t>5</a:t>
            </a:r>
          </a:p>
        </p:txBody>
      </p:sp>
      <p:sp>
        <p:nvSpPr>
          <p:cNvPr id="191707" name="Text Box 219"/>
          <p:cNvSpPr txBox="1"/>
          <p:nvPr/>
        </p:nvSpPr>
        <p:spPr>
          <a:xfrm>
            <a:off x="5413375" y="50847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hlink"/>
                </a:solidFill>
                <a:latin typeface="Arial" panose="020B0604020202020204" pitchFamily="34" charset="0"/>
                <a:ea typeface="宋体" panose="02010600030101010101" pitchFamily="2" charset="-122"/>
              </a:rPr>
              <a:t>7</a:t>
            </a:r>
          </a:p>
        </p:txBody>
      </p:sp>
      <p:sp>
        <p:nvSpPr>
          <p:cNvPr id="191708" name="Text Box 220"/>
          <p:cNvSpPr txBox="1"/>
          <p:nvPr/>
        </p:nvSpPr>
        <p:spPr>
          <a:xfrm>
            <a:off x="6084888" y="50847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6600FF"/>
                </a:solidFill>
                <a:latin typeface="Arial" panose="020B0604020202020204" pitchFamily="34" charset="0"/>
                <a:ea typeface="宋体" panose="02010600030101010101" pitchFamily="2" charset="-122"/>
              </a:rPr>
              <a:t>8</a:t>
            </a:r>
          </a:p>
        </p:txBody>
      </p:sp>
      <p:sp>
        <p:nvSpPr>
          <p:cNvPr id="191709" name="Text Box 221"/>
          <p:cNvSpPr txBox="1"/>
          <p:nvPr/>
        </p:nvSpPr>
        <p:spPr>
          <a:xfrm>
            <a:off x="6877050" y="50847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660033"/>
                </a:solidFill>
                <a:latin typeface="Arial" panose="020B0604020202020204" pitchFamily="34" charset="0"/>
                <a:ea typeface="宋体" panose="02010600030101010101" pitchFamily="2" charset="-122"/>
              </a:rPr>
              <a:t>9</a:t>
            </a:r>
          </a:p>
        </p:txBody>
      </p:sp>
      <p:sp>
        <p:nvSpPr>
          <p:cNvPr id="191710" name="Text Box 222"/>
          <p:cNvSpPr txBox="1"/>
          <p:nvPr/>
        </p:nvSpPr>
        <p:spPr>
          <a:xfrm>
            <a:off x="7596188" y="5084763"/>
            <a:ext cx="311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660033"/>
                </a:solidFill>
                <a:latin typeface="Arial" panose="020B0604020202020204" pitchFamily="34" charset="0"/>
                <a:ea typeface="宋体" panose="02010600030101010101" pitchFamily="2" charset="-122"/>
              </a:rPr>
              <a:t>9</a:t>
            </a:r>
          </a:p>
        </p:txBody>
      </p:sp>
      <p:sp>
        <p:nvSpPr>
          <p:cNvPr id="191711" name="Text Box 223"/>
          <p:cNvSpPr txBox="1"/>
          <p:nvPr/>
        </p:nvSpPr>
        <p:spPr>
          <a:xfrm>
            <a:off x="8221663" y="5084763"/>
            <a:ext cx="438150" cy="366712"/>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FF3300"/>
                </a:solidFill>
                <a:latin typeface="Arial" panose="020B0604020202020204" pitchFamily="34" charset="0"/>
                <a:ea typeface="宋体" panose="02010600030101010101" pitchFamily="2" charset="-122"/>
              </a:rPr>
              <a:t>12</a:t>
            </a:r>
          </a:p>
        </p:txBody>
      </p:sp>
      <p:sp>
        <p:nvSpPr>
          <p:cNvPr id="191712" name="Text Box 224"/>
          <p:cNvSpPr txBox="1"/>
          <p:nvPr/>
        </p:nvSpPr>
        <p:spPr>
          <a:xfrm>
            <a:off x="2627313" y="1916113"/>
            <a:ext cx="4029075" cy="396875"/>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2000" dirty="0">
                <a:ea typeface="宋体" panose="02010600030101010101" pitchFamily="2" charset="-122"/>
              </a:rPr>
              <a:t>Consider put item 4 into the knapsack</a:t>
            </a:r>
          </a:p>
        </p:txBody>
      </p:sp>
      <p:sp>
        <p:nvSpPr>
          <p:cNvPr id="191713" name="Text Box 225"/>
          <p:cNvSpPr txBox="1"/>
          <p:nvPr/>
        </p:nvSpPr>
        <p:spPr>
          <a:xfrm>
            <a:off x="2620963" y="564832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0</a:t>
            </a:r>
          </a:p>
        </p:txBody>
      </p:sp>
      <p:sp>
        <p:nvSpPr>
          <p:cNvPr id="191714" name="Text Box 226"/>
          <p:cNvSpPr txBox="1"/>
          <p:nvPr/>
        </p:nvSpPr>
        <p:spPr>
          <a:xfrm>
            <a:off x="3292475" y="565467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tx1"/>
                </a:solidFill>
                <a:latin typeface="Arial" panose="020B0604020202020204" pitchFamily="34" charset="0"/>
                <a:ea typeface="宋体" panose="02010600030101010101" pitchFamily="2" charset="-122"/>
              </a:rPr>
              <a:t>3</a:t>
            </a:r>
          </a:p>
        </p:txBody>
      </p:sp>
      <p:sp>
        <p:nvSpPr>
          <p:cNvPr id="191715" name="Text Box 227"/>
          <p:cNvSpPr txBox="1"/>
          <p:nvPr/>
        </p:nvSpPr>
        <p:spPr>
          <a:xfrm>
            <a:off x="4011613" y="565467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008000"/>
                </a:solidFill>
                <a:latin typeface="Arial" panose="020B0604020202020204" pitchFamily="34" charset="0"/>
                <a:ea typeface="宋体" panose="02010600030101010101" pitchFamily="2" charset="-122"/>
              </a:rPr>
              <a:t>4</a:t>
            </a:r>
          </a:p>
        </p:txBody>
      </p:sp>
      <p:sp>
        <p:nvSpPr>
          <p:cNvPr id="191716" name="Text Box 228"/>
          <p:cNvSpPr txBox="1"/>
          <p:nvPr/>
        </p:nvSpPr>
        <p:spPr>
          <a:xfrm>
            <a:off x="4708525" y="565467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000066"/>
                </a:solidFill>
                <a:latin typeface="Arial" panose="020B0604020202020204" pitchFamily="34" charset="0"/>
                <a:ea typeface="宋体" panose="02010600030101010101" pitchFamily="2" charset="-122"/>
              </a:rPr>
              <a:t>5</a:t>
            </a:r>
          </a:p>
        </p:txBody>
      </p:sp>
      <p:sp>
        <p:nvSpPr>
          <p:cNvPr id="191717" name="Text Box 229"/>
          <p:cNvSpPr txBox="1"/>
          <p:nvPr/>
        </p:nvSpPr>
        <p:spPr>
          <a:xfrm>
            <a:off x="5429250" y="565467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chemeClr val="hlink"/>
                </a:solidFill>
                <a:latin typeface="Arial" panose="020B0604020202020204" pitchFamily="34" charset="0"/>
                <a:ea typeface="宋体" panose="02010600030101010101" pitchFamily="2" charset="-122"/>
              </a:rPr>
              <a:t>7</a:t>
            </a:r>
          </a:p>
        </p:txBody>
      </p:sp>
      <p:sp>
        <p:nvSpPr>
          <p:cNvPr id="191718" name="Text Box 230"/>
          <p:cNvSpPr txBox="1"/>
          <p:nvPr/>
        </p:nvSpPr>
        <p:spPr>
          <a:xfrm>
            <a:off x="6100763" y="5654675"/>
            <a:ext cx="311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6600FF"/>
                </a:solidFill>
                <a:latin typeface="Arial" panose="020B0604020202020204" pitchFamily="34" charset="0"/>
                <a:ea typeface="宋体" panose="02010600030101010101" pitchFamily="2" charset="-122"/>
              </a:rPr>
              <a:t>8</a:t>
            </a:r>
          </a:p>
        </p:txBody>
      </p:sp>
      <p:sp>
        <p:nvSpPr>
          <p:cNvPr id="191719" name="Text Box 231"/>
          <p:cNvSpPr txBox="1"/>
          <p:nvPr/>
        </p:nvSpPr>
        <p:spPr>
          <a:xfrm>
            <a:off x="6892925" y="5654675"/>
            <a:ext cx="438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003399"/>
                </a:solidFill>
                <a:latin typeface="Arial" panose="020B0604020202020204" pitchFamily="34" charset="0"/>
                <a:ea typeface="宋体" panose="02010600030101010101" pitchFamily="2" charset="-122"/>
              </a:rPr>
              <a:t>10</a:t>
            </a:r>
          </a:p>
        </p:txBody>
      </p:sp>
      <p:sp>
        <p:nvSpPr>
          <p:cNvPr id="191720" name="Text Box 232"/>
          <p:cNvSpPr txBox="1"/>
          <p:nvPr/>
        </p:nvSpPr>
        <p:spPr>
          <a:xfrm>
            <a:off x="7612063" y="5654675"/>
            <a:ext cx="438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333333"/>
                </a:solidFill>
                <a:latin typeface="Arial" panose="020B0604020202020204" pitchFamily="34" charset="0"/>
                <a:ea typeface="宋体" panose="02010600030101010101" pitchFamily="2" charset="-122"/>
              </a:rPr>
              <a:t>11</a:t>
            </a:r>
          </a:p>
        </p:txBody>
      </p:sp>
      <p:sp>
        <p:nvSpPr>
          <p:cNvPr id="191721" name="Text Box 233"/>
          <p:cNvSpPr txBox="1"/>
          <p:nvPr/>
        </p:nvSpPr>
        <p:spPr>
          <a:xfrm>
            <a:off x="8237538" y="5654675"/>
            <a:ext cx="438150" cy="366713"/>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solidFill>
                  <a:srgbClr val="000099"/>
                </a:solidFill>
                <a:latin typeface="Arial" panose="020B0604020202020204" pitchFamily="34" charset="0"/>
                <a:ea typeface="宋体" panose="02010600030101010101" pitchFamily="2" charset="-122"/>
              </a:rPr>
              <a:t>12</a:t>
            </a:r>
          </a:p>
        </p:txBody>
      </p:sp>
      <p:sp>
        <p:nvSpPr>
          <p:cNvPr id="191722" name="Text Box 234"/>
          <p:cNvSpPr txBox="1"/>
          <p:nvPr/>
        </p:nvSpPr>
        <p:spPr>
          <a:xfrm>
            <a:off x="1500188" y="1928813"/>
            <a:ext cx="6927850" cy="641350"/>
          </a:xfrm>
          <a:prstGeom prst="rect">
            <a:avLst/>
          </a:prstGeom>
          <a:noFill/>
          <a:ln w="25400">
            <a:noFill/>
          </a:ln>
        </p:spPr>
        <p:txBody>
          <a:bodyPr wrap="none">
            <a:spAutoFit/>
          </a:bodyPr>
          <a:lstStyle>
            <a:lvl1pPr marL="342900" indent="-342900" algn="l" rtl="0" eaLnBrk="0" fontAlgn="base" hangingPunct="0">
              <a:spcBef>
                <a:spcPct val="20000"/>
              </a:spcBef>
              <a:spcAft>
                <a:spcPct val="0"/>
              </a:spcAft>
              <a:buChar char="•"/>
              <a:defRPr sz="2400" b="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200">
                <a:solidFill>
                  <a:schemeClr val="accent2"/>
                </a:solidFill>
                <a:latin typeface="Arial" panose="020B0604020202020204" pitchFamily="34" charset="0"/>
                <a:ea typeface="华文行楷" panose="02010800040101010101" pitchFamily="2" charset="-122"/>
              </a:defRPr>
            </a:lvl2pPr>
            <a:lvl3pPr marL="1143000" indent="-228600" algn="l" rtl="0" eaLnBrk="0" fontAlgn="base" hangingPunct="0">
              <a:spcBef>
                <a:spcPct val="20000"/>
              </a:spcBef>
              <a:spcAft>
                <a:spcPct val="0"/>
              </a:spcAft>
              <a:buChar char="•"/>
              <a:defRPr sz="2000">
                <a:solidFill>
                  <a:schemeClr val="accent2"/>
                </a:solidFill>
                <a:latin typeface="Arial" panose="020B0604020202020204" pitchFamily="34" charset="0"/>
                <a:ea typeface="+mj-ea"/>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j-ea"/>
              </a:defRPr>
            </a:lvl5pPr>
          </a:lstStyle>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The maximum value is 12 and there are two optimal solutions:</a:t>
            </a:r>
          </a:p>
          <a:p>
            <a:pPr marL="0" lvl="0" indent="0" eaLnBrk="1" hangingPunct="1">
              <a:spcBef>
                <a:spcPct val="0"/>
              </a:spcBef>
              <a:buNone/>
            </a:pPr>
            <a:r>
              <a:rPr lang="en-US" altLang="zh-CN" sz="1800" b="1" dirty="0">
                <a:latin typeface="Arial" panose="020B0604020202020204" pitchFamily="34" charset="0"/>
                <a:ea typeface="宋体" panose="02010600030101010101" pitchFamily="2" charset="-122"/>
              </a:rPr>
              <a:t>1,2,3 and 3,4.</a:t>
            </a:r>
          </a:p>
        </p:txBody>
      </p:sp>
      <p:sp>
        <p:nvSpPr>
          <p:cNvPr id="4" name="Rectangle 2">
            <a:extLst>
              <a:ext uri="{FF2B5EF4-FFF2-40B4-BE49-F238E27FC236}">
                <a16:creationId xmlns:a16="http://schemas.microsoft.com/office/drawing/2014/main" id="{33BBC087-73B3-F1CF-E158-E43D724099E6}"/>
              </a:ext>
            </a:extLst>
          </p:cNvPr>
          <p:cNvSpPr>
            <a:spLocks noGrp="1"/>
          </p:cNvSpPr>
          <p:nvPr>
            <p:ph type="title"/>
          </p:nvPr>
        </p:nvSpPr>
        <p:spPr>
          <a:xfrm>
            <a:off x="879475" y="269875"/>
            <a:ext cx="7869238" cy="927100"/>
          </a:xfrm>
        </p:spPr>
        <p:txBody>
          <a:bodyPr vert="horz" wrap="square" lIns="91440" tIns="45720" rIns="91440" bIns="45720" anchor="ctr" anchorCtr="0"/>
          <a:lstStyle/>
          <a:p>
            <a:pPr eaLnBrk="1" hangingPunct="1"/>
            <a:r>
              <a:rPr lang="en-US" altLang="zh-CN" dirty="0">
                <a:latin typeface="+mj-ea"/>
              </a:rPr>
              <a:t>4.3.2 0/1</a:t>
            </a:r>
            <a:r>
              <a:rPr lang="zh-CN" altLang="en-US" dirty="0">
                <a:latin typeface="+mj-ea"/>
              </a:rPr>
              <a:t>背包问题</a:t>
            </a:r>
            <a:r>
              <a:rPr lang="en-US" altLang="zh-CN" dirty="0">
                <a:latin typeface="+mj-ea"/>
              </a:rPr>
              <a:t>—</a:t>
            </a:r>
            <a:r>
              <a:rPr lang="zh-CN" altLang="en-US" dirty="0">
                <a:latin typeface="+mj-ea"/>
              </a:rPr>
              <a:t>例子</a:t>
            </a:r>
            <a:endParaRPr lang="en-US" altLang="zh-CN"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91662"/>
                                        </p:tgtEl>
                                        <p:attrNameLst>
                                          <p:attrName>style.visibility</p:attrName>
                                        </p:attrNameLst>
                                      </p:cBhvr>
                                      <p:to>
                                        <p:strVal val="visible"/>
                                      </p:to>
                                    </p:set>
                                    <p:anim calcmode="lin" valueType="num">
                                      <p:cBhvr>
                                        <p:cTn id="7" dur="500" fill="hold"/>
                                        <p:tgtEl>
                                          <p:spTgt spid="191662"/>
                                        </p:tgtEl>
                                        <p:attrNameLst>
                                          <p:attrName>ppt_w</p:attrName>
                                        </p:attrNameLst>
                                      </p:cBhvr>
                                      <p:tavLst>
                                        <p:tav tm="0">
                                          <p:val>
                                            <p:fltVal val="0"/>
                                          </p:val>
                                        </p:tav>
                                        <p:tav tm="100000">
                                          <p:val>
                                            <p:strVal val="#ppt_w"/>
                                          </p:val>
                                        </p:tav>
                                      </p:tavLst>
                                    </p:anim>
                                    <p:anim calcmode="lin" valueType="num">
                                      <p:cBhvr>
                                        <p:cTn id="8" dur="500" fill="hold"/>
                                        <p:tgtEl>
                                          <p:spTgt spid="19166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7" presetClass="entr" presetSubtype="0" fill="hold" grpId="0" nodeType="clickEffect">
                                  <p:stCondLst>
                                    <p:cond delay="0"/>
                                  </p:stCondLst>
                                  <p:iterate type="lt">
                                    <p:tmPct val="50000"/>
                                  </p:iterate>
                                  <p:childTnLst>
                                    <p:set>
                                      <p:cBhvr>
                                        <p:cTn id="12" dur="1" fill="hold">
                                          <p:stCondLst>
                                            <p:cond delay="0"/>
                                          </p:stCondLst>
                                        </p:cTn>
                                        <p:tgtEl>
                                          <p:spTgt spid="191665"/>
                                        </p:tgtEl>
                                        <p:attrNameLst>
                                          <p:attrName>style.visibility</p:attrName>
                                        </p:attrNameLst>
                                      </p:cBhvr>
                                      <p:to>
                                        <p:strVal val="visible"/>
                                      </p:to>
                                    </p:set>
                                    <p:anim calcmode="discrete" valueType="clr">
                                      <p:cBhvr override="childStyle">
                                        <p:cTn id="13" dur="80"/>
                                        <p:tgtEl>
                                          <p:spTgt spid="191665"/>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191665"/>
                                        </p:tgtEl>
                                        <p:attrNameLst>
                                          <p:attrName>fillcolor</p:attrName>
                                        </p:attrNameLst>
                                      </p:cBhvr>
                                      <p:tavLst>
                                        <p:tav tm="0">
                                          <p:val>
                                            <p:clrVal>
                                              <a:schemeClr val="accent2"/>
                                            </p:clrVal>
                                          </p:val>
                                        </p:tav>
                                        <p:tav tm="50000">
                                          <p:val>
                                            <p:clrVal>
                                              <a:schemeClr val="hlink"/>
                                            </p:clrVal>
                                          </p:val>
                                        </p:tav>
                                      </p:tavLst>
                                    </p:anim>
                                    <p:set>
                                      <p:cBhvr>
                                        <p:cTn id="15" dur="80"/>
                                        <p:tgtEl>
                                          <p:spTgt spid="191665"/>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91666"/>
                                        </p:tgtEl>
                                        <p:attrNameLst>
                                          <p:attrName>style.visibility</p:attrName>
                                        </p:attrNameLst>
                                      </p:cBhvr>
                                      <p:to>
                                        <p:strVal val="visible"/>
                                      </p:to>
                                    </p:set>
                                    <p:animEffect transition="in" filter="wipe(down)">
                                      <p:cBhvr>
                                        <p:cTn id="20" dur="500"/>
                                        <p:tgtEl>
                                          <p:spTgt spid="19166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91667"/>
                                        </p:tgtEl>
                                        <p:attrNameLst>
                                          <p:attrName>style.visibility</p:attrName>
                                        </p:attrNameLst>
                                      </p:cBhvr>
                                      <p:to>
                                        <p:strVal val="visible"/>
                                      </p:to>
                                    </p:set>
                                    <p:animEffect transition="in" filter="wipe(down)">
                                      <p:cBhvr>
                                        <p:cTn id="23" dur="500"/>
                                        <p:tgtEl>
                                          <p:spTgt spid="19166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91668"/>
                                        </p:tgtEl>
                                        <p:attrNameLst>
                                          <p:attrName>style.visibility</p:attrName>
                                        </p:attrNameLst>
                                      </p:cBhvr>
                                      <p:to>
                                        <p:strVal val="visible"/>
                                      </p:to>
                                    </p:set>
                                    <p:animEffect transition="in" filter="wipe(down)">
                                      <p:cBhvr>
                                        <p:cTn id="26" dur="500"/>
                                        <p:tgtEl>
                                          <p:spTgt spid="191668"/>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91669"/>
                                        </p:tgtEl>
                                        <p:attrNameLst>
                                          <p:attrName>style.visibility</p:attrName>
                                        </p:attrNameLst>
                                      </p:cBhvr>
                                      <p:to>
                                        <p:strVal val="visible"/>
                                      </p:to>
                                    </p:set>
                                    <p:animEffect transition="in" filter="wipe(down)">
                                      <p:cBhvr>
                                        <p:cTn id="29" dur="500"/>
                                        <p:tgtEl>
                                          <p:spTgt spid="19166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91671"/>
                                        </p:tgtEl>
                                        <p:attrNameLst>
                                          <p:attrName>style.visibility</p:attrName>
                                        </p:attrNameLst>
                                      </p:cBhvr>
                                      <p:to>
                                        <p:strVal val="visible"/>
                                      </p:to>
                                    </p:set>
                                    <p:animEffect transition="in" filter="wipe(down)">
                                      <p:cBhvr>
                                        <p:cTn id="32" dur="500"/>
                                        <p:tgtEl>
                                          <p:spTgt spid="19167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91672"/>
                                        </p:tgtEl>
                                        <p:attrNameLst>
                                          <p:attrName>style.visibility</p:attrName>
                                        </p:attrNameLst>
                                      </p:cBhvr>
                                      <p:to>
                                        <p:strVal val="visible"/>
                                      </p:to>
                                    </p:set>
                                    <p:animEffect transition="in" filter="wipe(down)">
                                      <p:cBhvr>
                                        <p:cTn id="37" dur="500"/>
                                        <p:tgtEl>
                                          <p:spTgt spid="19167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91673"/>
                                        </p:tgtEl>
                                        <p:attrNameLst>
                                          <p:attrName>style.visibility</p:attrName>
                                        </p:attrNameLst>
                                      </p:cBhvr>
                                      <p:to>
                                        <p:strVal val="visible"/>
                                      </p:to>
                                    </p:set>
                                    <p:animEffect transition="in" filter="wipe(down)">
                                      <p:cBhvr>
                                        <p:cTn id="40" dur="500"/>
                                        <p:tgtEl>
                                          <p:spTgt spid="19167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91674"/>
                                        </p:tgtEl>
                                        <p:attrNameLst>
                                          <p:attrName>style.visibility</p:attrName>
                                        </p:attrNameLst>
                                      </p:cBhvr>
                                      <p:to>
                                        <p:strVal val="visible"/>
                                      </p:to>
                                    </p:set>
                                    <p:animEffect transition="in" filter="wipe(down)">
                                      <p:cBhvr>
                                        <p:cTn id="43" dur="500"/>
                                        <p:tgtEl>
                                          <p:spTgt spid="191674"/>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91675"/>
                                        </p:tgtEl>
                                        <p:attrNameLst>
                                          <p:attrName>style.visibility</p:attrName>
                                        </p:attrNameLst>
                                      </p:cBhvr>
                                      <p:to>
                                        <p:strVal val="visible"/>
                                      </p:to>
                                    </p:set>
                                    <p:animEffect transition="in" filter="wipe(down)">
                                      <p:cBhvr>
                                        <p:cTn id="46" dur="500"/>
                                        <p:tgtEl>
                                          <p:spTgt spid="191675"/>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91676"/>
                                        </p:tgtEl>
                                        <p:attrNameLst>
                                          <p:attrName>style.visibility</p:attrName>
                                        </p:attrNameLst>
                                      </p:cBhvr>
                                      <p:to>
                                        <p:strVal val="visible"/>
                                      </p:to>
                                    </p:set>
                                    <p:animEffect transition="in" filter="wipe(down)">
                                      <p:cBhvr>
                                        <p:cTn id="49" dur="500"/>
                                        <p:tgtEl>
                                          <p:spTgt spid="191676"/>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91677"/>
                                        </p:tgtEl>
                                        <p:attrNameLst>
                                          <p:attrName>style.visibility</p:attrName>
                                        </p:attrNameLst>
                                      </p:cBhvr>
                                      <p:to>
                                        <p:strVal val="visible"/>
                                      </p:to>
                                    </p:set>
                                    <p:animEffect transition="in" filter="wipe(down)">
                                      <p:cBhvr>
                                        <p:cTn id="52" dur="500"/>
                                        <p:tgtEl>
                                          <p:spTgt spid="191677"/>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91678"/>
                                        </p:tgtEl>
                                        <p:attrNameLst>
                                          <p:attrName>style.visibility</p:attrName>
                                        </p:attrNameLst>
                                      </p:cBhvr>
                                      <p:to>
                                        <p:strVal val="visible"/>
                                      </p:to>
                                    </p:set>
                                    <p:animEffect transition="in" filter="wipe(down)">
                                      <p:cBhvr>
                                        <p:cTn id="55" dur="500"/>
                                        <p:tgtEl>
                                          <p:spTgt spid="191678"/>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191679"/>
                                        </p:tgtEl>
                                        <p:attrNameLst>
                                          <p:attrName>style.visibility</p:attrName>
                                        </p:attrNameLst>
                                      </p:cBhvr>
                                      <p:to>
                                        <p:strVal val="visible"/>
                                      </p:to>
                                    </p:set>
                                    <p:animEffect transition="in" filter="wipe(down)">
                                      <p:cBhvr>
                                        <p:cTn id="58" dur="500"/>
                                        <p:tgtEl>
                                          <p:spTgt spid="191679"/>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91680"/>
                                        </p:tgtEl>
                                        <p:attrNameLst>
                                          <p:attrName>style.visibility</p:attrName>
                                        </p:attrNameLst>
                                      </p:cBhvr>
                                      <p:to>
                                        <p:strVal val="visible"/>
                                      </p:to>
                                    </p:set>
                                    <p:animEffect transition="in" filter="wipe(down)">
                                      <p:cBhvr>
                                        <p:cTn id="61" dur="500"/>
                                        <p:tgtEl>
                                          <p:spTgt spid="191680"/>
                                        </p:tgtEl>
                                      </p:cBhvr>
                                    </p:animEffect>
                                  </p:childTnLst>
                                </p:cTn>
                              </p:par>
                            </p:childTnLst>
                          </p:cTn>
                        </p:par>
                      </p:childTnLst>
                    </p:cTn>
                  </p:par>
                  <p:par>
                    <p:cTn id="62" fill="hold">
                      <p:stCondLst>
                        <p:cond delay="indefinite"/>
                      </p:stCondLst>
                      <p:childTnLst>
                        <p:par>
                          <p:cTn id="63" fill="hold">
                            <p:stCondLst>
                              <p:cond delay="0"/>
                            </p:stCondLst>
                            <p:childTnLst>
                              <p:par>
                                <p:cTn id="64" presetID="27" presetClass="exit" presetSubtype="0" fill="hold" grpId="1" nodeType="clickEffect">
                                  <p:stCondLst>
                                    <p:cond delay="0"/>
                                  </p:stCondLst>
                                  <p:iterate type="lt">
                                    <p:tmPct val="50000"/>
                                  </p:iterate>
                                  <p:childTnLst>
                                    <p:anim calcmode="discrete" valueType="clr">
                                      <p:cBhvr override="childStyle">
                                        <p:cTn id="65" dur="80"/>
                                        <p:tgtEl>
                                          <p:spTgt spid="191665"/>
                                        </p:tgtEl>
                                        <p:attrNameLst>
                                          <p:attrName>style.color</p:attrName>
                                        </p:attrNameLst>
                                      </p:cBhvr>
                                      <p:tavLst>
                                        <p:tav tm="0">
                                          <p:val>
                                            <p:clrVal>
                                              <a:schemeClr val="hlink"/>
                                            </p:clrVal>
                                          </p:val>
                                        </p:tav>
                                        <p:tav tm="50000">
                                          <p:val>
                                            <p:clrVal>
                                              <a:schemeClr val="accent2"/>
                                            </p:clrVal>
                                          </p:val>
                                        </p:tav>
                                      </p:tavLst>
                                    </p:anim>
                                    <p:anim calcmode="discrete" valueType="clr">
                                      <p:cBhvr>
                                        <p:cTn id="66" dur="80"/>
                                        <p:tgtEl>
                                          <p:spTgt spid="191665"/>
                                        </p:tgtEl>
                                        <p:attrNameLst>
                                          <p:attrName>fillcolor</p:attrName>
                                        </p:attrNameLst>
                                      </p:cBhvr>
                                      <p:tavLst>
                                        <p:tav tm="0">
                                          <p:val>
                                            <p:clrVal>
                                              <a:schemeClr val="hlink"/>
                                            </p:clrVal>
                                          </p:val>
                                        </p:tav>
                                        <p:tav tm="50000">
                                          <p:val>
                                            <p:clrVal>
                                              <a:schemeClr val="accent2"/>
                                            </p:clrVal>
                                          </p:val>
                                        </p:tav>
                                      </p:tavLst>
                                    </p:anim>
                                    <p:set>
                                      <p:cBhvr>
                                        <p:cTn id="67" dur="80"/>
                                        <p:tgtEl>
                                          <p:spTgt spid="191665"/>
                                        </p:tgtEl>
                                        <p:attrNameLst>
                                          <p:attrName>fill.type</p:attrName>
                                        </p:attrNameLst>
                                      </p:cBhvr>
                                      <p:to>
                                        <p:strVal val="solid"/>
                                      </p:to>
                                    </p:set>
                                    <p:set>
                                      <p:cBhvr>
                                        <p:cTn id="68" dur="1" fill="hold">
                                          <p:stCondLst>
                                            <p:cond delay="79"/>
                                          </p:stCondLst>
                                        </p:cTn>
                                        <p:tgtEl>
                                          <p:spTgt spid="19166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7" presetClass="entr" presetSubtype="0" fill="hold" grpId="0" nodeType="clickEffect">
                                  <p:stCondLst>
                                    <p:cond delay="0"/>
                                  </p:stCondLst>
                                  <p:iterate type="lt">
                                    <p:tmPct val="50000"/>
                                  </p:iterate>
                                  <p:childTnLst>
                                    <p:set>
                                      <p:cBhvr>
                                        <p:cTn id="72" dur="1" fill="hold">
                                          <p:stCondLst>
                                            <p:cond delay="0"/>
                                          </p:stCondLst>
                                        </p:cTn>
                                        <p:tgtEl>
                                          <p:spTgt spid="191681"/>
                                        </p:tgtEl>
                                        <p:attrNameLst>
                                          <p:attrName>style.visibility</p:attrName>
                                        </p:attrNameLst>
                                      </p:cBhvr>
                                      <p:to>
                                        <p:strVal val="visible"/>
                                      </p:to>
                                    </p:set>
                                    <p:anim calcmode="discrete" valueType="clr">
                                      <p:cBhvr override="childStyle">
                                        <p:cTn id="73" dur="80"/>
                                        <p:tgtEl>
                                          <p:spTgt spid="191681"/>
                                        </p:tgtEl>
                                        <p:attrNameLst>
                                          <p:attrName>style.color</p:attrName>
                                        </p:attrNameLst>
                                      </p:cBhvr>
                                      <p:tavLst>
                                        <p:tav tm="0">
                                          <p:val>
                                            <p:clrVal>
                                              <a:schemeClr val="accent2"/>
                                            </p:clrVal>
                                          </p:val>
                                        </p:tav>
                                        <p:tav tm="50000">
                                          <p:val>
                                            <p:clrVal>
                                              <a:schemeClr val="hlink"/>
                                            </p:clrVal>
                                          </p:val>
                                        </p:tav>
                                      </p:tavLst>
                                    </p:anim>
                                    <p:anim calcmode="discrete" valueType="clr">
                                      <p:cBhvr>
                                        <p:cTn id="74" dur="80"/>
                                        <p:tgtEl>
                                          <p:spTgt spid="191681"/>
                                        </p:tgtEl>
                                        <p:attrNameLst>
                                          <p:attrName>fillcolor</p:attrName>
                                        </p:attrNameLst>
                                      </p:cBhvr>
                                      <p:tavLst>
                                        <p:tav tm="0">
                                          <p:val>
                                            <p:clrVal>
                                              <a:schemeClr val="accent2"/>
                                            </p:clrVal>
                                          </p:val>
                                        </p:tav>
                                        <p:tav tm="50000">
                                          <p:val>
                                            <p:clrVal>
                                              <a:schemeClr val="hlink"/>
                                            </p:clrVal>
                                          </p:val>
                                        </p:tav>
                                      </p:tavLst>
                                    </p:anim>
                                    <p:set>
                                      <p:cBhvr>
                                        <p:cTn id="75" dur="80"/>
                                        <p:tgtEl>
                                          <p:spTgt spid="191681"/>
                                        </p:tgtEl>
                                        <p:attrNameLst>
                                          <p:attrName>fill.type</p:attrName>
                                        </p:attrNameLst>
                                      </p:cBhvr>
                                      <p:to>
                                        <p:strVal val="solid"/>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191682"/>
                                        </p:tgtEl>
                                        <p:attrNameLst>
                                          <p:attrName>style.visibility</p:attrName>
                                        </p:attrNameLst>
                                      </p:cBhvr>
                                      <p:to>
                                        <p:strVal val="visible"/>
                                      </p:to>
                                    </p:set>
                                    <p:animEffect transition="in" filter="wipe(down)">
                                      <p:cBhvr>
                                        <p:cTn id="80" dur="500"/>
                                        <p:tgtEl>
                                          <p:spTgt spid="19168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191683"/>
                                        </p:tgtEl>
                                        <p:attrNameLst>
                                          <p:attrName>style.visibility</p:attrName>
                                        </p:attrNameLst>
                                      </p:cBhvr>
                                      <p:to>
                                        <p:strVal val="visible"/>
                                      </p:to>
                                    </p:set>
                                    <p:animEffect transition="in" filter="wipe(down)">
                                      <p:cBhvr>
                                        <p:cTn id="85" dur="500"/>
                                        <p:tgtEl>
                                          <p:spTgt spid="19168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191684"/>
                                        </p:tgtEl>
                                        <p:attrNameLst>
                                          <p:attrName>style.visibility</p:attrName>
                                        </p:attrNameLst>
                                      </p:cBhvr>
                                      <p:to>
                                        <p:strVal val="visible"/>
                                      </p:to>
                                    </p:set>
                                    <p:animEffect transition="in" filter="wipe(down)">
                                      <p:cBhvr>
                                        <p:cTn id="90" dur="500"/>
                                        <p:tgtEl>
                                          <p:spTgt spid="19168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191685"/>
                                        </p:tgtEl>
                                        <p:attrNameLst>
                                          <p:attrName>style.visibility</p:attrName>
                                        </p:attrNameLst>
                                      </p:cBhvr>
                                      <p:to>
                                        <p:strVal val="visible"/>
                                      </p:to>
                                    </p:set>
                                    <p:animEffect transition="in" filter="wipe(down)">
                                      <p:cBhvr>
                                        <p:cTn id="95" dur="500"/>
                                        <p:tgtEl>
                                          <p:spTgt spid="191685"/>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191686"/>
                                        </p:tgtEl>
                                        <p:attrNameLst>
                                          <p:attrName>style.visibility</p:attrName>
                                        </p:attrNameLst>
                                      </p:cBhvr>
                                      <p:to>
                                        <p:strVal val="visible"/>
                                      </p:to>
                                    </p:set>
                                    <p:animEffect transition="in" filter="wipe(down)">
                                      <p:cBhvr>
                                        <p:cTn id="100" dur="500"/>
                                        <p:tgtEl>
                                          <p:spTgt spid="191686"/>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191687"/>
                                        </p:tgtEl>
                                        <p:attrNameLst>
                                          <p:attrName>style.visibility</p:attrName>
                                        </p:attrNameLst>
                                      </p:cBhvr>
                                      <p:to>
                                        <p:strVal val="visible"/>
                                      </p:to>
                                    </p:set>
                                    <p:animEffect transition="in" filter="wipe(down)">
                                      <p:cBhvr>
                                        <p:cTn id="105" dur="500"/>
                                        <p:tgtEl>
                                          <p:spTgt spid="191687"/>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191688"/>
                                        </p:tgtEl>
                                        <p:attrNameLst>
                                          <p:attrName>style.visibility</p:attrName>
                                        </p:attrNameLst>
                                      </p:cBhvr>
                                      <p:to>
                                        <p:strVal val="visible"/>
                                      </p:to>
                                    </p:set>
                                    <p:animEffect transition="in" filter="wipe(down)">
                                      <p:cBhvr>
                                        <p:cTn id="110" dur="500"/>
                                        <p:tgtEl>
                                          <p:spTgt spid="191688"/>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191689"/>
                                        </p:tgtEl>
                                        <p:attrNameLst>
                                          <p:attrName>style.visibility</p:attrName>
                                        </p:attrNameLst>
                                      </p:cBhvr>
                                      <p:to>
                                        <p:strVal val="visible"/>
                                      </p:to>
                                    </p:set>
                                    <p:animEffect transition="in" filter="wipe(down)">
                                      <p:cBhvr>
                                        <p:cTn id="115" dur="500"/>
                                        <p:tgtEl>
                                          <p:spTgt spid="191689"/>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grpId="0" nodeType="clickEffect">
                                  <p:stCondLst>
                                    <p:cond delay="0"/>
                                  </p:stCondLst>
                                  <p:childTnLst>
                                    <p:set>
                                      <p:cBhvr>
                                        <p:cTn id="119" dur="1" fill="hold">
                                          <p:stCondLst>
                                            <p:cond delay="0"/>
                                          </p:stCondLst>
                                        </p:cTn>
                                        <p:tgtEl>
                                          <p:spTgt spid="191690"/>
                                        </p:tgtEl>
                                        <p:attrNameLst>
                                          <p:attrName>style.visibility</p:attrName>
                                        </p:attrNameLst>
                                      </p:cBhvr>
                                      <p:to>
                                        <p:strVal val="visible"/>
                                      </p:to>
                                    </p:set>
                                    <p:animEffect transition="in" filter="wipe(down)">
                                      <p:cBhvr>
                                        <p:cTn id="120" dur="500"/>
                                        <p:tgtEl>
                                          <p:spTgt spid="191690"/>
                                        </p:tgtEl>
                                      </p:cBhvr>
                                    </p:animEffect>
                                  </p:childTnLst>
                                </p:cTn>
                              </p:par>
                            </p:childTnLst>
                          </p:cTn>
                        </p:par>
                      </p:childTnLst>
                    </p:cTn>
                  </p:par>
                  <p:par>
                    <p:cTn id="121" fill="hold">
                      <p:stCondLst>
                        <p:cond delay="indefinite"/>
                      </p:stCondLst>
                      <p:childTnLst>
                        <p:par>
                          <p:cTn id="122" fill="hold">
                            <p:stCondLst>
                              <p:cond delay="0"/>
                            </p:stCondLst>
                            <p:childTnLst>
                              <p:par>
                                <p:cTn id="123" presetID="27" presetClass="exit" presetSubtype="0" fill="hold" grpId="1" nodeType="clickEffect">
                                  <p:stCondLst>
                                    <p:cond delay="0"/>
                                  </p:stCondLst>
                                  <p:iterate type="lt">
                                    <p:tmPct val="50000"/>
                                  </p:iterate>
                                  <p:childTnLst>
                                    <p:anim calcmode="discrete" valueType="clr">
                                      <p:cBhvr override="childStyle">
                                        <p:cTn id="124" dur="80"/>
                                        <p:tgtEl>
                                          <p:spTgt spid="191681"/>
                                        </p:tgtEl>
                                        <p:attrNameLst>
                                          <p:attrName>style.color</p:attrName>
                                        </p:attrNameLst>
                                      </p:cBhvr>
                                      <p:tavLst>
                                        <p:tav tm="0">
                                          <p:val>
                                            <p:clrVal>
                                              <a:schemeClr val="hlink"/>
                                            </p:clrVal>
                                          </p:val>
                                        </p:tav>
                                        <p:tav tm="50000">
                                          <p:val>
                                            <p:clrVal>
                                              <a:schemeClr val="accent2"/>
                                            </p:clrVal>
                                          </p:val>
                                        </p:tav>
                                      </p:tavLst>
                                    </p:anim>
                                    <p:anim calcmode="discrete" valueType="clr">
                                      <p:cBhvr>
                                        <p:cTn id="125" dur="80"/>
                                        <p:tgtEl>
                                          <p:spTgt spid="191681"/>
                                        </p:tgtEl>
                                        <p:attrNameLst>
                                          <p:attrName>fillcolor</p:attrName>
                                        </p:attrNameLst>
                                      </p:cBhvr>
                                      <p:tavLst>
                                        <p:tav tm="0">
                                          <p:val>
                                            <p:clrVal>
                                              <a:schemeClr val="hlink"/>
                                            </p:clrVal>
                                          </p:val>
                                        </p:tav>
                                        <p:tav tm="50000">
                                          <p:val>
                                            <p:clrVal>
                                              <a:schemeClr val="accent2"/>
                                            </p:clrVal>
                                          </p:val>
                                        </p:tav>
                                      </p:tavLst>
                                    </p:anim>
                                    <p:set>
                                      <p:cBhvr>
                                        <p:cTn id="126" dur="80"/>
                                        <p:tgtEl>
                                          <p:spTgt spid="191681"/>
                                        </p:tgtEl>
                                        <p:attrNameLst>
                                          <p:attrName>fill.type</p:attrName>
                                        </p:attrNameLst>
                                      </p:cBhvr>
                                      <p:to>
                                        <p:strVal val="solid"/>
                                      </p:to>
                                    </p:set>
                                    <p:set>
                                      <p:cBhvr>
                                        <p:cTn id="127" dur="1" fill="hold">
                                          <p:stCondLst>
                                            <p:cond delay="79"/>
                                          </p:stCondLst>
                                        </p:cTn>
                                        <p:tgtEl>
                                          <p:spTgt spid="191681"/>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27" presetClass="entr" presetSubtype="0" fill="hold" grpId="0" nodeType="clickEffect">
                                  <p:stCondLst>
                                    <p:cond delay="0"/>
                                  </p:stCondLst>
                                  <p:iterate type="lt">
                                    <p:tmPct val="50000"/>
                                  </p:iterate>
                                  <p:childTnLst>
                                    <p:set>
                                      <p:cBhvr>
                                        <p:cTn id="131" dur="1" fill="hold">
                                          <p:stCondLst>
                                            <p:cond delay="0"/>
                                          </p:stCondLst>
                                        </p:cTn>
                                        <p:tgtEl>
                                          <p:spTgt spid="191691"/>
                                        </p:tgtEl>
                                        <p:attrNameLst>
                                          <p:attrName>style.visibility</p:attrName>
                                        </p:attrNameLst>
                                      </p:cBhvr>
                                      <p:to>
                                        <p:strVal val="visible"/>
                                      </p:to>
                                    </p:set>
                                    <p:anim calcmode="discrete" valueType="clr">
                                      <p:cBhvr override="childStyle">
                                        <p:cTn id="132" dur="80"/>
                                        <p:tgtEl>
                                          <p:spTgt spid="191691"/>
                                        </p:tgtEl>
                                        <p:attrNameLst>
                                          <p:attrName>style.color</p:attrName>
                                        </p:attrNameLst>
                                      </p:cBhvr>
                                      <p:tavLst>
                                        <p:tav tm="0">
                                          <p:val>
                                            <p:clrVal>
                                              <a:schemeClr val="accent2"/>
                                            </p:clrVal>
                                          </p:val>
                                        </p:tav>
                                        <p:tav tm="50000">
                                          <p:val>
                                            <p:clrVal>
                                              <a:schemeClr val="hlink"/>
                                            </p:clrVal>
                                          </p:val>
                                        </p:tav>
                                      </p:tavLst>
                                    </p:anim>
                                    <p:anim calcmode="discrete" valueType="clr">
                                      <p:cBhvr>
                                        <p:cTn id="133" dur="80"/>
                                        <p:tgtEl>
                                          <p:spTgt spid="191691"/>
                                        </p:tgtEl>
                                        <p:attrNameLst>
                                          <p:attrName>fillcolor</p:attrName>
                                        </p:attrNameLst>
                                      </p:cBhvr>
                                      <p:tavLst>
                                        <p:tav tm="0">
                                          <p:val>
                                            <p:clrVal>
                                              <a:schemeClr val="accent2"/>
                                            </p:clrVal>
                                          </p:val>
                                        </p:tav>
                                        <p:tav tm="50000">
                                          <p:val>
                                            <p:clrVal>
                                              <a:schemeClr val="hlink"/>
                                            </p:clrVal>
                                          </p:val>
                                        </p:tav>
                                      </p:tavLst>
                                    </p:anim>
                                    <p:set>
                                      <p:cBhvr>
                                        <p:cTn id="134" dur="80"/>
                                        <p:tgtEl>
                                          <p:spTgt spid="191691"/>
                                        </p:tgtEl>
                                        <p:attrNameLst>
                                          <p:attrName>fill.type</p:attrName>
                                        </p:attrNameLst>
                                      </p:cBhvr>
                                      <p:to>
                                        <p:strVal val="solid"/>
                                      </p:to>
                                    </p:set>
                                  </p:childTnLst>
                                </p:cTn>
                              </p:par>
                            </p:childTnLst>
                          </p:cTn>
                        </p:par>
                      </p:childTnLst>
                    </p:cTn>
                  </p:par>
                  <p:par>
                    <p:cTn id="135" fill="hold">
                      <p:stCondLst>
                        <p:cond delay="indefinite"/>
                      </p:stCondLst>
                      <p:childTnLst>
                        <p:par>
                          <p:cTn id="136" fill="hold">
                            <p:stCondLst>
                              <p:cond delay="0"/>
                            </p:stCondLst>
                            <p:childTnLst>
                              <p:par>
                                <p:cTn id="137" presetID="22" presetClass="entr" presetSubtype="4" fill="hold" grpId="0" nodeType="clickEffect">
                                  <p:stCondLst>
                                    <p:cond delay="0"/>
                                  </p:stCondLst>
                                  <p:childTnLst>
                                    <p:set>
                                      <p:cBhvr>
                                        <p:cTn id="138" dur="1" fill="hold">
                                          <p:stCondLst>
                                            <p:cond delay="0"/>
                                          </p:stCondLst>
                                        </p:cTn>
                                        <p:tgtEl>
                                          <p:spTgt spid="191692"/>
                                        </p:tgtEl>
                                        <p:attrNameLst>
                                          <p:attrName>style.visibility</p:attrName>
                                        </p:attrNameLst>
                                      </p:cBhvr>
                                      <p:to>
                                        <p:strVal val="visible"/>
                                      </p:to>
                                    </p:set>
                                    <p:animEffect transition="in" filter="wipe(down)">
                                      <p:cBhvr>
                                        <p:cTn id="139" dur="500"/>
                                        <p:tgtEl>
                                          <p:spTgt spid="191692"/>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4" fill="hold" grpId="0" nodeType="clickEffect">
                                  <p:stCondLst>
                                    <p:cond delay="0"/>
                                  </p:stCondLst>
                                  <p:childTnLst>
                                    <p:set>
                                      <p:cBhvr>
                                        <p:cTn id="143" dur="1" fill="hold">
                                          <p:stCondLst>
                                            <p:cond delay="0"/>
                                          </p:stCondLst>
                                        </p:cTn>
                                        <p:tgtEl>
                                          <p:spTgt spid="191694"/>
                                        </p:tgtEl>
                                        <p:attrNameLst>
                                          <p:attrName>style.visibility</p:attrName>
                                        </p:attrNameLst>
                                      </p:cBhvr>
                                      <p:to>
                                        <p:strVal val="visible"/>
                                      </p:to>
                                    </p:set>
                                    <p:animEffect transition="in" filter="wipe(down)">
                                      <p:cBhvr>
                                        <p:cTn id="144" dur="500"/>
                                        <p:tgtEl>
                                          <p:spTgt spid="191694"/>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grpId="0" nodeType="clickEffect">
                                  <p:stCondLst>
                                    <p:cond delay="0"/>
                                  </p:stCondLst>
                                  <p:childTnLst>
                                    <p:set>
                                      <p:cBhvr>
                                        <p:cTn id="148" dur="1" fill="hold">
                                          <p:stCondLst>
                                            <p:cond delay="0"/>
                                          </p:stCondLst>
                                        </p:cTn>
                                        <p:tgtEl>
                                          <p:spTgt spid="191695"/>
                                        </p:tgtEl>
                                        <p:attrNameLst>
                                          <p:attrName>style.visibility</p:attrName>
                                        </p:attrNameLst>
                                      </p:cBhvr>
                                      <p:to>
                                        <p:strVal val="visible"/>
                                      </p:to>
                                    </p:set>
                                    <p:animEffect transition="in" filter="wipe(down)">
                                      <p:cBhvr>
                                        <p:cTn id="149" dur="500"/>
                                        <p:tgtEl>
                                          <p:spTgt spid="191695"/>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4" fill="hold" grpId="0" nodeType="clickEffect">
                                  <p:stCondLst>
                                    <p:cond delay="0"/>
                                  </p:stCondLst>
                                  <p:childTnLst>
                                    <p:set>
                                      <p:cBhvr>
                                        <p:cTn id="153" dur="1" fill="hold">
                                          <p:stCondLst>
                                            <p:cond delay="0"/>
                                          </p:stCondLst>
                                        </p:cTn>
                                        <p:tgtEl>
                                          <p:spTgt spid="191696"/>
                                        </p:tgtEl>
                                        <p:attrNameLst>
                                          <p:attrName>style.visibility</p:attrName>
                                        </p:attrNameLst>
                                      </p:cBhvr>
                                      <p:to>
                                        <p:strVal val="visible"/>
                                      </p:to>
                                    </p:set>
                                    <p:animEffect transition="in" filter="wipe(down)">
                                      <p:cBhvr>
                                        <p:cTn id="154" dur="500"/>
                                        <p:tgtEl>
                                          <p:spTgt spid="191696"/>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4" fill="hold" grpId="0" nodeType="clickEffect">
                                  <p:stCondLst>
                                    <p:cond delay="0"/>
                                  </p:stCondLst>
                                  <p:childTnLst>
                                    <p:set>
                                      <p:cBhvr>
                                        <p:cTn id="158" dur="1" fill="hold">
                                          <p:stCondLst>
                                            <p:cond delay="0"/>
                                          </p:stCondLst>
                                        </p:cTn>
                                        <p:tgtEl>
                                          <p:spTgt spid="191697"/>
                                        </p:tgtEl>
                                        <p:attrNameLst>
                                          <p:attrName>style.visibility</p:attrName>
                                        </p:attrNameLst>
                                      </p:cBhvr>
                                      <p:to>
                                        <p:strVal val="visible"/>
                                      </p:to>
                                    </p:set>
                                    <p:animEffect transition="in" filter="wipe(down)">
                                      <p:cBhvr>
                                        <p:cTn id="159" dur="500"/>
                                        <p:tgtEl>
                                          <p:spTgt spid="191697"/>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4" fill="hold" grpId="0" nodeType="clickEffect">
                                  <p:stCondLst>
                                    <p:cond delay="0"/>
                                  </p:stCondLst>
                                  <p:childTnLst>
                                    <p:set>
                                      <p:cBhvr>
                                        <p:cTn id="163" dur="1" fill="hold">
                                          <p:stCondLst>
                                            <p:cond delay="0"/>
                                          </p:stCondLst>
                                        </p:cTn>
                                        <p:tgtEl>
                                          <p:spTgt spid="191698"/>
                                        </p:tgtEl>
                                        <p:attrNameLst>
                                          <p:attrName>style.visibility</p:attrName>
                                        </p:attrNameLst>
                                      </p:cBhvr>
                                      <p:to>
                                        <p:strVal val="visible"/>
                                      </p:to>
                                    </p:set>
                                    <p:animEffect transition="in" filter="wipe(down)">
                                      <p:cBhvr>
                                        <p:cTn id="164" dur="500"/>
                                        <p:tgtEl>
                                          <p:spTgt spid="191698"/>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4" fill="hold" grpId="0" nodeType="clickEffect">
                                  <p:stCondLst>
                                    <p:cond delay="0"/>
                                  </p:stCondLst>
                                  <p:childTnLst>
                                    <p:set>
                                      <p:cBhvr>
                                        <p:cTn id="168" dur="1" fill="hold">
                                          <p:stCondLst>
                                            <p:cond delay="0"/>
                                          </p:stCondLst>
                                        </p:cTn>
                                        <p:tgtEl>
                                          <p:spTgt spid="191699"/>
                                        </p:tgtEl>
                                        <p:attrNameLst>
                                          <p:attrName>style.visibility</p:attrName>
                                        </p:attrNameLst>
                                      </p:cBhvr>
                                      <p:to>
                                        <p:strVal val="visible"/>
                                      </p:to>
                                    </p:set>
                                    <p:animEffect transition="in" filter="wipe(down)">
                                      <p:cBhvr>
                                        <p:cTn id="169" dur="500"/>
                                        <p:tgtEl>
                                          <p:spTgt spid="191699"/>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4" fill="hold" grpId="0" nodeType="clickEffect">
                                  <p:stCondLst>
                                    <p:cond delay="0"/>
                                  </p:stCondLst>
                                  <p:childTnLst>
                                    <p:set>
                                      <p:cBhvr>
                                        <p:cTn id="173" dur="1" fill="hold">
                                          <p:stCondLst>
                                            <p:cond delay="0"/>
                                          </p:stCondLst>
                                        </p:cTn>
                                        <p:tgtEl>
                                          <p:spTgt spid="191700"/>
                                        </p:tgtEl>
                                        <p:attrNameLst>
                                          <p:attrName>style.visibility</p:attrName>
                                        </p:attrNameLst>
                                      </p:cBhvr>
                                      <p:to>
                                        <p:strVal val="visible"/>
                                      </p:to>
                                    </p:set>
                                    <p:animEffect transition="in" filter="wipe(down)">
                                      <p:cBhvr>
                                        <p:cTn id="174" dur="500"/>
                                        <p:tgtEl>
                                          <p:spTgt spid="191700"/>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4" fill="hold" grpId="0" nodeType="clickEffect">
                                  <p:stCondLst>
                                    <p:cond delay="0"/>
                                  </p:stCondLst>
                                  <p:childTnLst>
                                    <p:set>
                                      <p:cBhvr>
                                        <p:cTn id="178" dur="1" fill="hold">
                                          <p:stCondLst>
                                            <p:cond delay="0"/>
                                          </p:stCondLst>
                                        </p:cTn>
                                        <p:tgtEl>
                                          <p:spTgt spid="191701"/>
                                        </p:tgtEl>
                                        <p:attrNameLst>
                                          <p:attrName>style.visibility</p:attrName>
                                        </p:attrNameLst>
                                      </p:cBhvr>
                                      <p:to>
                                        <p:strVal val="visible"/>
                                      </p:to>
                                    </p:set>
                                    <p:animEffect transition="in" filter="wipe(down)">
                                      <p:cBhvr>
                                        <p:cTn id="179" dur="500"/>
                                        <p:tgtEl>
                                          <p:spTgt spid="191701"/>
                                        </p:tgtEl>
                                      </p:cBhvr>
                                    </p:animEffect>
                                  </p:childTnLst>
                                </p:cTn>
                              </p:par>
                            </p:childTnLst>
                          </p:cTn>
                        </p:par>
                      </p:childTnLst>
                    </p:cTn>
                  </p:par>
                  <p:par>
                    <p:cTn id="180" fill="hold">
                      <p:stCondLst>
                        <p:cond delay="indefinite"/>
                      </p:stCondLst>
                      <p:childTnLst>
                        <p:par>
                          <p:cTn id="181" fill="hold">
                            <p:stCondLst>
                              <p:cond delay="0"/>
                            </p:stCondLst>
                            <p:childTnLst>
                              <p:par>
                                <p:cTn id="182" presetID="27" presetClass="exit" presetSubtype="0" fill="hold" grpId="1" nodeType="clickEffect">
                                  <p:stCondLst>
                                    <p:cond delay="0"/>
                                  </p:stCondLst>
                                  <p:iterate type="lt">
                                    <p:tmPct val="50000"/>
                                  </p:iterate>
                                  <p:childTnLst>
                                    <p:anim calcmode="discrete" valueType="clr">
                                      <p:cBhvr override="childStyle">
                                        <p:cTn id="183" dur="80"/>
                                        <p:tgtEl>
                                          <p:spTgt spid="191691"/>
                                        </p:tgtEl>
                                        <p:attrNameLst>
                                          <p:attrName>style.color</p:attrName>
                                        </p:attrNameLst>
                                      </p:cBhvr>
                                      <p:tavLst>
                                        <p:tav tm="0">
                                          <p:val>
                                            <p:clrVal>
                                              <a:schemeClr val="hlink"/>
                                            </p:clrVal>
                                          </p:val>
                                        </p:tav>
                                        <p:tav tm="50000">
                                          <p:val>
                                            <p:clrVal>
                                              <a:schemeClr val="accent2"/>
                                            </p:clrVal>
                                          </p:val>
                                        </p:tav>
                                      </p:tavLst>
                                    </p:anim>
                                    <p:anim calcmode="discrete" valueType="clr">
                                      <p:cBhvr>
                                        <p:cTn id="184" dur="80"/>
                                        <p:tgtEl>
                                          <p:spTgt spid="191691"/>
                                        </p:tgtEl>
                                        <p:attrNameLst>
                                          <p:attrName>fillcolor</p:attrName>
                                        </p:attrNameLst>
                                      </p:cBhvr>
                                      <p:tavLst>
                                        <p:tav tm="0">
                                          <p:val>
                                            <p:clrVal>
                                              <a:schemeClr val="hlink"/>
                                            </p:clrVal>
                                          </p:val>
                                        </p:tav>
                                        <p:tav tm="50000">
                                          <p:val>
                                            <p:clrVal>
                                              <a:schemeClr val="accent2"/>
                                            </p:clrVal>
                                          </p:val>
                                        </p:tav>
                                      </p:tavLst>
                                    </p:anim>
                                    <p:set>
                                      <p:cBhvr>
                                        <p:cTn id="185" dur="80"/>
                                        <p:tgtEl>
                                          <p:spTgt spid="191691"/>
                                        </p:tgtEl>
                                        <p:attrNameLst>
                                          <p:attrName>fill.type</p:attrName>
                                        </p:attrNameLst>
                                      </p:cBhvr>
                                      <p:to>
                                        <p:strVal val="solid"/>
                                      </p:to>
                                    </p:set>
                                    <p:set>
                                      <p:cBhvr>
                                        <p:cTn id="186" dur="1" fill="hold">
                                          <p:stCondLst>
                                            <p:cond delay="79"/>
                                          </p:stCondLst>
                                        </p:cTn>
                                        <p:tgtEl>
                                          <p:spTgt spid="191691"/>
                                        </p:tgtEl>
                                        <p:attrNameLst>
                                          <p:attrName>style.visibility</p:attrName>
                                        </p:attrNameLst>
                                      </p:cBhvr>
                                      <p:to>
                                        <p:strVal val="hidden"/>
                                      </p:to>
                                    </p:set>
                                  </p:childTnLst>
                                </p:cTn>
                              </p:par>
                            </p:childTnLst>
                          </p:cTn>
                        </p:par>
                      </p:childTnLst>
                    </p:cTn>
                  </p:par>
                  <p:par>
                    <p:cTn id="187" fill="hold">
                      <p:stCondLst>
                        <p:cond delay="indefinite"/>
                      </p:stCondLst>
                      <p:childTnLst>
                        <p:par>
                          <p:cTn id="188" fill="hold">
                            <p:stCondLst>
                              <p:cond delay="0"/>
                            </p:stCondLst>
                            <p:childTnLst>
                              <p:par>
                                <p:cTn id="189" presetID="27" presetClass="entr" presetSubtype="0" fill="hold" grpId="1" nodeType="clickEffect">
                                  <p:stCondLst>
                                    <p:cond delay="0"/>
                                  </p:stCondLst>
                                  <p:iterate type="lt">
                                    <p:tmPct val="50000"/>
                                  </p:iterate>
                                  <p:childTnLst>
                                    <p:set>
                                      <p:cBhvr>
                                        <p:cTn id="190" dur="1" fill="hold">
                                          <p:stCondLst>
                                            <p:cond delay="0"/>
                                          </p:stCondLst>
                                        </p:cTn>
                                        <p:tgtEl>
                                          <p:spTgt spid="191702"/>
                                        </p:tgtEl>
                                        <p:attrNameLst>
                                          <p:attrName>style.visibility</p:attrName>
                                        </p:attrNameLst>
                                      </p:cBhvr>
                                      <p:to>
                                        <p:strVal val="visible"/>
                                      </p:to>
                                    </p:set>
                                    <p:anim calcmode="discrete" valueType="clr">
                                      <p:cBhvr override="childStyle">
                                        <p:cTn id="191" dur="80"/>
                                        <p:tgtEl>
                                          <p:spTgt spid="191702"/>
                                        </p:tgtEl>
                                        <p:attrNameLst>
                                          <p:attrName>style.color</p:attrName>
                                        </p:attrNameLst>
                                      </p:cBhvr>
                                      <p:tavLst>
                                        <p:tav tm="0">
                                          <p:val>
                                            <p:clrVal>
                                              <a:schemeClr val="accent2"/>
                                            </p:clrVal>
                                          </p:val>
                                        </p:tav>
                                        <p:tav tm="50000">
                                          <p:val>
                                            <p:clrVal>
                                              <a:schemeClr val="hlink"/>
                                            </p:clrVal>
                                          </p:val>
                                        </p:tav>
                                      </p:tavLst>
                                    </p:anim>
                                    <p:anim calcmode="discrete" valueType="clr">
                                      <p:cBhvr>
                                        <p:cTn id="192" dur="80"/>
                                        <p:tgtEl>
                                          <p:spTgt spid="191702"/>
                                        </p:tgtEl>
                                        <p:attrNameLst>
                                          <p:attrName>fillcolor</p:attrName>
                                        </p:attrNameLst>
                                      </p:cBhvr>
                                      <p:tavLst>
                                        <p:tav tm="0">
                                          <p:val>
                                            <p:clrVal>
                                              <a:schemeClr val="accent2"/>
                                            </p:clrVal>
                                          </p:val>
                                        </p:tav>
                                        <p:tav tm="50000">
                                          <p:val>
                                            <p:clrVal>
                                              <a:schemeClr val="hlink"/>
                                            </p:clrVal>
                                          </p:val>
                                        </p:tav>
                                      </p:tavLst>
                                    </p:anim>
                                    <p:set>
                                      <p:cBhvr>
                                        <p:cTn id="193" dur="80"/>
                                        <p:tgtEl>
                                          <p:spTgt spid="191702"/>
                                        </p:tgtEl>
                                        <p:attrNameLst>
                                          <p:attrName>fill.type</p:attrName>
                                        </p:attrNameLst>
                                      </p:cBhvr>
                                      <p:to>
                                        <p:strVal val="solid"/>
                                      </p:to>
                                    </p:set>
                                  </p:childTnLst>
                                </p:cTn>
                              </p:par>
                            </p:childTnLst>
                          </p:cTn>
                        </p:par>
                      </p:childTnLst>
                    </p:cTn>
                  </p:par>
                  <p:par>
                    <p:cTn id="194" fill="hold">
                      <p:stCondLst>
                        <p:cond delay="indefinite"/>
                      </p:stCondLst>
                      <p:childTnLst>
                        <p:par>
                          <p:cTn id="195" fill="hold">
                            <p:stCondLst>
                              <p:cond delay="0"/>
                            </p:stCondLst>
                            <p:childTnLst>
                              <p:par>
                                <p:cTn id="196" presetID="22" presetClass="entr" presetSubtype="4" fill="hold" grpId="0" nodeType="clickEffect">
                                  <p:stCondLst>
                                    <p:cond delay="0"/>
                                  </p:stCondLst>
                                  <p:childTnLst>
                                    <p:set>
                                      <p:cBhvr>
                                        <p:cTn id="197" dur="1" fill="hold">
                                          <p:stCondLst>
                                            <p:cond delay="0"/>
                                          </p:stCondLst>
                                        </p:cTn>
                                        <p:tgtEl>
                                          <p:spTgt spid="191703"/>
                                        </p:tgtEl>
                                        <p:attrNameLst>
                                          <p:attrName>style.visibility</p:attrName>
                                        </p:attrNameLst>
                                      </p:cBhvr>
                                      <p:to>
                                        <p:strVal val="visible"/>
                                      </p:to>
                                    </p:set>
                                    <p:animEffect transition="in" filter="wipe(down)">
                                      <p:cBhvr>
                                        <p:cTn id="198" dur="500"/>
                                        <p:tgtEl>
                                          <p:spTgt spid="191703"/>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4" fill="hold" grpId="0" nodeType="clickEffect">
                                  <p:stCondLst>
                                    <p:cond delay="0"/>
                                  </p:stCondLst>
                                  <p:childTnLst>
                                    <p:set>
                                      <p:cBhvr>
                                        <p:cTn id="202" dur="1" fill="hold">
                                          <p:stCondLst>
                                            <p:cond delay="0"/>
                                          </p:stCondLst>
                                        </p:cTn>
                                        <p:tgtEl>
                                          <p:spTgt spid="191704"/>
                                        </p:tgtEl>
                                        <p:attrNameLst>
                                          <p:attrName>style.visibility</p:attrName>
                                        </p:attrNameLst>
                                      </p:cBhvr>
                                      <p:to>
                                        <p:strVal val="visible"/>
                                      </p:to>
                                    </p:set>
                                    <p:animEffect transition="in" filter="wipe(down)">
                                      <p:cBhvr>
                                        <p:cTn id="203" dur="500"/>
                                        <p:tgtEl>
                                          <p:spTgt spid="191704"/>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4" fill="hold" grpId="0" nodeType="clickEffect">
                                  <p:stCondLst>
                                    <p:cond delay="0"/>
                                  </p:stCondLst>
                                  <p:childTnLst>
                                    <p:set>
                                      <p:cBhvr>
                                        <p:cTn id="207" dur="1" fill="hold">
                                          <p:stCondLst>
                                            <p:cond delay="0"/>
                                          </p:stCondLst>
                                        </p:cTn>
                                        <p:tgtEl>
                                          <p:spTgt spid="191705"/>
                                        </p:tgtEl>
                                        <p:attrNameLst>
                                          <p:attrName>style.visibility</p:attrName>
                                        </p:attrNameLst>
                                      </p:cBhvr>
                                      <p:to>
                                        <p:strVal val="visible"/>
                                      </p:to>
                                    </p:set>
                                    <p:animEffect transition="in" filter="wipe(down)">
                                      <p:cBhvr>
                                        <p:cTn id="208" dur="500"/>
                                        <p:tgtEl>
                                          <p:spTgt spid="191705"/>
                                        </p:tgtEl>
                                      </p:cBhvr>
                                    </p:animEffect>
                                  </p:childTnLst>
                                </p:cTn>
                              </p:par>
                            </p:childTnLst>
                          </p:cTn>
                        </p:par>
                      </p:childTnLst>
                    </p:cTn>
                  </p:par>
                  <p:par>
                    <p:cTn id="209" fill="hold">
                      <p:stCondLst>
                        <p:cond delay="indefinite"/>
                      </p:stCondLst>
                      <p:childTnLst>
                        <p:par>
                          <p:cTn id="210" fill="hold">
                            <p:stCondLst>
                              <p:cond delay="0"/>
                            </p:stCondLst>
                            <p:childTnLst>
                              <p:par>
                                <p:cTn id="211" presetID="22" presetClass="entr" presetSubtype="4" fill="hold" grpId="0" nodeType="clickEffect">
                                  <p:stCondLst>
                                    <p:cond delay="0"/>
                                  </p:stCondLst>
                                  <p:childTnLst>
                                    <p:set>
                                      <p:cBhvr>
                                        <p:cTn id="212" dur="1" fill="hold">
                                          <p:stCondLst>
                                            <p:cond delay="0"/>
                                          </p:stCondLst>
                                        </p:cTn>
                                        <p:tgtEl>
                                          <p:spTgt spid="191706"/>
                                        </p:tgtEl>
                                        <p:attrNameLst>
                                          <p:attrName>style.visibility</p:attrName>
                                        </p:attrNameLst>
                                      </p:cBhvr>
                                      <p:to>
                                        <p:strVal val="visible"/>
                                      </p:to>
                                    </p:set>
                                    <p:animEffect transition="in" filter="wipe(down)">
                                      <p:cBhvr>
                                        <p:cTn id="213" dur="500"/>
                                        <p:tgtEl>
                                          <p:spTgt spid="191706"/>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4" fill="hold" grpId="0" nodeType="clickEffect">
                                  <p:stCondLst>
                                    <p:cond delay="0"/>
                                  </p:stCondLst>
                                  <p:childTnLst>
                                    <p:set>
                                      <p:cBhvr>
                                        <p:cTn id="217" dur="1" fill="hold">
                                          <p:stCondLst>
                                            <p:cond delay="0"/>
                                          </p:stCondLst>
                                        </p:cTn>
                                        <p:tgtEl>
                                          <p:spTgt spid="191707"/>
                                        </p:tgtEl>
                                        <p:attrNameLst>
                                          <p:attrName>style.visibility</p:attrName>
                                        </p:attrNameLst>
                                      </p:cBhvr>
                                      <p:to>
                                        <p:strVal val="visible"/>
                                      </p:to>
                                    </p:set>
                                    <p:animEffect transition="in" filter="wipe(down)">
                                      <p:cBhvr>
                                        <p:cTn id="218" dur="500"/>
                                        <p:tgtEl>
                                          <p:spTgt spid="191707"/>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4" fill="hold" grpId="0" nodeType="clickEffect">
                                  <p:stCondLst>
                                    <p:cond delay="0"/>
                                  </p:stCondLst>
                                  <p:childTnLst>
                                    <p:set>
                                      <p:cBhvr>
                                        <p:cTn id="222" dur="1" fill="hold">
                                          <p:stCondLst>
                                            <p:cond delay="0"/>
                                          </p:stCondLst>
                                        </p:cTn>
                                        <p:tgtEl>
                                          <p:spTgt spid="191708"/>
                                        </p:tgtEl>
                                        <p:attrNameLst>
                                          <p:attrName>style.visibility</p:attrName>
                                        </p:attrNameLst>
                                      </p:cBhvr>
                                      <p:to>
                                        <p:strVal val="visible"/>
                                      </p:to>
                                    </p:set>
                                    <p:animEffect transition="in" filter="wipe(down)">
                                      <p:cBhvr>
                                        <p:cTn id="223" dur="500"/>
                                        <p:tgtEl>
                                          <p:spTgt spid="191708"/>
                                        </p:tgtEl>
                                      </p:cBhvr>
                                    </p:animEffect>
                                  </p:childTnLst>
                                </p:cTn>
                              </p:par>
                            </p:childTnLst>
                          </p:cTn>
                        </p:par>
                      </p:childTnLst>
                    </p:cTn>
                  </p:par>
                  <p:par>
                    <p:cTn id="224" fill="hold">
                      <p:stCondLst>
                        <p:cond delay="indefinite"/>
                      </p:stCondLst>
                      <p:childTnLst>
                        <p:par>
                          <p:cTn id="225" fill="hold">
                            <p:stCondLst>
                              <p:cond delay="0"/>
                            </p:stCondLst>
                            <p:childTnLst>
                              <p:par>
                                <p:cTn id="226" presetID="22" presetClass="entr" presetSubtype="4" fill="hold" grpId="0" nodeType="clickEffect">
                                  <p:stCondLst>
                                    <p:cond delay="0"/>
                                  </p:stCondLst>
                                  <p:childTnLst>
                                    <p:set>
                                      <p:cBhvr>
                                        <p:cTn id="227" dur="1" fill="hold">
                                          <p:stCondLst>
                                            <p:cond delay="0"/>
                                          </p:stCondLst>
                                        </p:cTn>
                                        <p:tgtEl>
                                          <p:spTgt spid="191709"/>
                                        </p:tgtEl>
                                        <p:attrNameLst>
                                          <p:attrName>style.visibility</p:attrName>
                                        </p:attrNameLst>
                                      </p:cBhvr>
                                      <p:to>
                                        <p:strVal val="visible"/>
                                      </p:to>
                                    </p:set>
                                    <p:animEffect transition="in" filter="wipe(down)">
                                      <p:cBhvr>
                                        <p:cTn id="228" dur="500"/>
                                        <p:tgtEl>
                                          <p:spTgt spid="191709"/>
                                        </p:tgtEl>
                                      </p:cBhvr>
                                    </p:animEffect>
                                  </p:childTnLst>
                                </p:cTn>
                              </p:par>
                            </p:childTnLst>
                          </p:cTn>
                        </p:par>
                      </p:childTnLst>
                    </p:cTn>
                  </p:par>
                  <p:par>
                    <p:cTn id="229" fill="hold">
                      <p:stCondLst>
                        <p:cond delay="indefinite"/>
                      </p:stCondLst>
                      <p:childTnLst>
                        <p:par>
                          <p:cTn id="230" fill="hold">
                            <p:stCondLst>
                              <p:cond delay="0"/>
                            </p:stCondLst>
                            <p:childTnLst>
                              <p:par>
                                <p:cTn id="231" presetID="22" presetClass="entr" presetSubtype="4" fill="hold" grpId="0" nodeType="clickEffect">
                                  <p:stCondLst>
                                    <p:cond delay="0"/>
                                  </p:stCondLst>
                                  <p:childTnLst>
                                    <p:set>
                                      <p:cBhvr>
                                        <p:cTn id="232" dur="1" fill="hold">
                                          <p:stCondLst>
                                            <p:cond delay="0"/>
                                          </p:stCondLst>
                                        </p:cTn>
                                        <p:tgtEl>
                                          <p:spTgt spid="191710"/>
                                        </p:tgtEl>
                                        <p:attrNameLst>
                                          <p:attrName>style.visibility</p:attrName>
                                        </p:attrNameLst>
                                      </p:cBhvr>
                                      <p:to>
                                        <p:strVal val="visible"/>
                                      </p:to>
                                    </p:set>
                                    <p:animEffect transition="in" filter="wipe(down)">
                                      <p:cBhvr>
                                        <p:cTn id="233" dur="500"/>
                                        <p:tgtEl>
                                          <p:spTgt spid="191710"/>
                                        </p:tgtEl>
                                      </p:cBhvr>
                                    </p:animEffect>
                                  </p:childTnLst>
                                </p:cTn>
                              </p:par>
                            </p:childTnLst>
                          </p:cTn>
                        </p:par>
                      </p:childTnLst>
                    </p:cTn>
                  </p:par>
                  <p:par>
                    <p:cTn id="234" fill="hold">
                      <p:stCondLst>
                        <p:cond delay="indefinite"/>
                      </p:stCondLst>
                      <p:childTnLst>
                        <p:par>
                          <p:cTn id="235" fill="hold">
                            <p:stCondLst>
                              <p:cond delay="0"/>
                            </p:stCondLst>
                            <p:childTnLst>
                              <p:par>
                                <p:cTn id="236" presetID="22" presetClass="entr" presetSubtype="4" fill="hold" grpId="0" nodeType="clickEffect">
                                  <p:stCondLst>
                                    <p:cond delay="0"/>
                                  </p:stCondLst>
                                  <p:childTnLst>
                                    <p:set>
                                      <p:cBhvr>
                                        <p:cTn id="237" dur="1" fill="hold">
                                          <p:stCondLst>
                                            <p:cond delay="0"/>
                                          </p:stCondLst>
                                        </p:cTn>
                                        <p:tgtEl>
                                          <p:spTgt spid="191711"/>
                                        </p:tgtEl>
                                        <p:attrNameLst>
                                          <p:attrName>style.visibility</p:attrName>
                                        </p:attrNameLst>
                                      </p:cBhvr>
                                      <p:to>
                                        <p:strVal val="visible"/>
                                      </p:to>
                                    </p:set>
                                    <p:animEffect transition="in" filter="wipe(down)">
                                      <p:cBhvr>
                                        <p:cTn id="238" dur="500"/>
                                        <p:tgtEl>
                                          <p:spTgt spid="191711"/>
                                        </p:tgtEl>
                                      </p:cBhvr>
                                    </p:animEffect>
                                  </p:childTnLst>
                                </p:cTn>
                              </p:par>
                            </p:childTnLst>
                          </p:cTn>
                        </p:par>
                      </p:childTnLst>
                    </p:cTn>
                  </p:par>
                  <p:par>
                    <p:cTn id="239" fill="hold">
                      <p:stCondLst>
                        <p:cond delay="indefinite"/>
                      </p:stCondLst>
                      <p:childTnLst>
                        <p:par>
                          <p:cTn id="240" fill="hold">
                            <p:stCondLst>
                              <p:cond delay="0"/>
                            </p:stCondLst>
                            <p:childTnLst>
                              <p:par>
                                <p:cTn id="241" presetID="27" presetClass="exit" presetSubtype="0" fill="hold" grpId="0" nodeType="clickEffect">
                                  <p:stCondLst>
                                    <p:cond delay="0"/>
                                  </p:stCondLst>
                                  <p:iterate type="lt">
                                    <p:tmPct val="50000"/>
                                  </p:iterate>
                                  <p:childTnLst>
                                    <p:anim calcmode="discrete" valueType="clr">
                                      <p:cBhvr override="childStyle">
                                        <p:cTn id="242" dur="80"/>
                                        <p:tgtEl>
                                          <p:spTgt spid="191702"/>
                                        </p:tgtEl>
                                        <p:attrNameLst>
                                          <p:attrName>style.color</p:attrName>
                                        </p:attrNameLst>
                                      </p:cBhvr>
                                      <p:tavLst>
                                        <p:tav tm="0">
                                          <p:val>
                                            <p:clrVal>
                                              <a:schemeClr val="hlink"/>
                                            </p:clrVal>
                                          </p:val>
                                        </p:tav>
                                        <p:tav tm="50000">
                                          <p:val>
                                            <p:clrVal>
                                              <a:schemeClr val="accent2"/>
                                            </p:clrVal>
                                          </p:val>
                                        </p:tav>
                                      </p:tavLst>
                                    </p:anim>
                                    <p:anim calcmode="discrete" valueType="clr">
                                      <p:cBhvr>
                                        <p:cTn id="243" dur="80"/>
                                        <p:tgtEl>
                                          <p:spTgt spid="191702"/>
                                        </p:tgtEl>
                                        <p:attrNameLst>
                                          <p:attrName>fillcolor</p:attrName>
                                        </p:attrNameLst>
                                      </p:cBhvr>
                                      <p:tavLst>
                                        <p:tav tm="0">
                                          <p:val>
                                            <p:clrVal>
                                              <a:schemeClr val="hlink"/>
                                            </p:clrVal>
                                          </p:val>
                                        </p:tav>
                                        <p:tav tm="50000">
                                          <p:val>
                                            <p:clrVal>
                                              <a:schemeClr val="accent2"/>
                                            </p:clrVal>
                                          </p:val>
                                        </p:tav>
                                      </p:tavLst>
                                    </p:anim>
                                    <p:set>
                                      <p:cBhvr>
                                        <p:cTn id="244" dur="80"/>
                                        <p:tgtEl>
                                          <p:spTgt spid="191702"/>
                                        </p:tgtEl>
                                        <p:attrNameLst>
                                          <p:attrName>fill.type</p:attrName>
                                        </p:attrNameLst>
                                      </p:cBhvr>
                                      <p:to>
                                        <p:strVal val="solid"/>
                                      </p:to>
                                    </p:set>
                                    <p:set>
                                      <p:cBhvr>
                                        <p:cTn id="245" dur="1" fill="hold">
                                          <p:stCondLst>
                                            <p:cond delay="79"/>
                                          </p:stCondLst>
                                        </p:cTn>
                                        <p:tgtEl>
                                          <p:spTgt spid="191702"/>
                                        </p:tgtEl>
                                        <p:attrNameLst>
                                          <p:attrName>style.visibility</p:attrName>
                                        </p:attrNameLst>
                                      </p:cBhvr>
                                      <p:to>
                                        <p:strVal val="hidden"/>
                                      </p:to>
                                    </p:set>
                                  </p:childTnLst>
                                </p:cTn>
                              </p:par>
                            </p:childTnLst>
                          </p:cTn>
                        </p:par>
                      </p:childTnLst>
                    </p:cTn>
                  </p:par>
                  <p:par>
                    <p:cTn id="246" fill="hold">
                      <p:stCondLst>
                        <p:cond delay="indefinite"/>
                      </p:stCondLst>
                      <p:childTnLst>
                        <p:par>
                          <p:cTn id="247" fill="hold">
                            <p:stCondLst>
                              <p:cond delay="0"/>
                            </p:stCondLst>
                            <p:childTnLst>
                              <p:par>
                                <p:cTn id="248" presetID="27" presetClass="entr" presetSubtype="0" fill="hold" grpId="1" nodeType="clickEffect">
                                  <p:stCondLst>
                                    <p:cond delay="0"/>
                                  </p:stCondLst>
                                  <p:iterate type="lt">
                                    <p:tmPct val="50000"/>
                                  </p:iterate>
                                  <p:childTnLst>
                                    <p:set>
                                      <p:cBhvr>
                                        <p:cTn id="249" dur="1" fill="hold">
                                          <p:stCondLst>
                                            <p:cond delay="0"/>
                                          </p:stCondLst>
                                        </p:cTn>
                                        <p:tgtEl>
                                          <p:spTgt spid="191712"/>
                                        </p:tgtEl>
                                        <p:attrNameLst>
                                          <p:attrName>style.visibility</p:attrName>
                                        </p:attrNameLst>
                                      </p:cBhvr>
                                      <p:to>
                                        <p:strVal val="visible"/>
                                      </p:to>
                                    </p:set>
                                    <p:anim calcmode="discrete" valueType="clr">
                                      <p:cBhvr override="childStyle">
                                        <p:cTn id="250" dur="80"/>
                                        <p:tgtEl>
                                          <p:spTgt spid="191712"/>
                                        </p:tgtEl>
                                        <p:attrNameLst>
                                          <p:attrName>style.color</p:attrName>
                                        </p:attrNameLst>
                                      </p:cBhvr>
                                      <p:tavLst>
                                        <p:tav tm="0">
                                          <p:val>
                                            <p:clrVal>
                                              <a:schemeClr val="accent2"/>
                                            </p:clrVal>
                                          </p:val>
                                        </p:tav>
                                        <p:tav tm="50000">
                                          <p:val>
                                            <p:clrVal>
                                              <a:schemeClr val="hlink"/>
                                            </p:clrVal>
                                          </p:val>
                                        </p:tav>
                                      </p:tavLst>
                                    </p:anim>
                                    <p:anim calcmode="discrete" valueType="clr">
                                      <p:cBhvr>
                                        <p:cTn id="251" dur="80"/>
                                        <p:tgtEl>
                                          <p:spTgt spid="191712"/>
                                        </p:tgtEl>
                                        <p:attrNameLst>
                                          <p:attrName>fillcolor</p:attrName>
                                        </p:attrNameLst>
                                      </p:cBhvr>
                                      <p:tavLst>
                                        <p:tav tm="0">
                                          <p:val>
                                            <p:clrVal>
                                              <a:schemeClr val="accent2"/>
                                            </p:clrVal>
                                          </p:val>
                                        </p:tav>
                                        <p:tav tm="50000">
                                          <p:val>
                                            <p:clrVal>
                                              <a:schemeClr val="hlink"/>
                                            </p:clrVal>
                                          </p:val>
                                        </p:tav>
                                      </p:tavLst>
                                    </p:anim>
                                    <p:set>
                                      <p:cBhvr>
                                        <p:cTn id="252" dur="80"/>
                                        <p:tgtEl>
                                          <p:spTgt spid="191712"/>
                                        </p:tgtEl>
                                        <p:attrNameLst>
                                          <p:attrName>fill.type</p:attrName>
                                        </p:attrNameLst>
                                      </p:cBhvr>
                                      <p:to>
                                        <p:strVal val="solid"/>
                                      </p:to>
                                    </p:set>
                                  </p:childTnLst>
                                </p:cTn>
                              </p:par>
                            </p:childTnLst>
                          </p:cTn>
                        </p:par>
                      </p:childTnLst>
                    </p:cTn>
                  </p:par>
                  <p:par>
                    <p:cTn id="253" fill="hold">
                      <p:stCondLst>
                        <p:cond delay="indefinite"/>
                      </p:stCondLst>
                      <p:childTnLst>
                        <p:par>
                          <p:cTn id="254" fill="hold">
                            <p:stCondLst>
                              <p:cond delay="0"/>
                            </p:stCondLst>
                            <p:childTnLst>
                              <p:par>
                                <p:cTn id="255" presetID="22" presetClass="entr" presetSubtype="4" fill="hold" grpId="0" nodeType="clickEffect">
                                  <p:stCondLst>
                                    <p:cond delay="0"/>
                                  </p:stCondLst>
                                  <p:childTnLst>
                                    <p:set>
                                      <p:cBhvr>
                                        <p:cTn id="256" dur="1" fill="hold">
                                          <p:stCondLst>
                                            <p:cond delay="0"/>
                                          </p:stCondLst>
                                        </p:cTn>
                                        <p:tgtEl>
                                          <p:spTgt spid="191713"/>
                                        </p:tgtEl>
                                        <p:attrNameLst>
                                          <p:attrName>style.visibility</p:attrName>
                                        </p:attrNameLst>
                                      </p:cBhvr>
                                      <p:to>
                                        <p:strVal val="visible"/>
                                      </p:to>
                                    </p:set>
                                    <p:animEffect transition="in" filter="wipe(down)">
                                      <p:cBhvr>
                                        <p:cTn id="257" dur="500"/>
                                        <p:tgtEl>
                                          <p:spTgt spid="191713"/>
                                        </p:tgtEl>
                                      </p:cBhvr>
                                    </p:animEffect>
                                  </p:childTnLst>
                                </p:cTn>
                              </p:par>
                            </p:childTnLst>
                          </p:cTn>
                        </p:par>
                      </p:childTnLst>
                    </p:cTn>
                  </p:par>
                  <p:par>
                    <p:cTn id="258" fill="hold">
                      <p:stCondLst>
                        <p:cond delay="indefinite"/>
                      </p:stCondLst>
                      <p:childTnLst>
                        <p:par>
                          <p:cTn id="259" fill="hold">
                            <p:stCondLst>
                              <p:cond delay="0"/>
                            </p:stCondLst>
                            <p:childTnLst>
                              <p:par>
                                <p:cTn id="260" presetID="22" presetClass="entr" presetSubtype="4" fill="hold" grpId="0" nodeType="clickEffect">
                                  <p:stCondLst>
                                    <p:cond delay="0"/>
                                  </p:stCondLst>
                                  <p:childTnLst>
                                    <p:set>
                                      <p:cBhvr>
                                        <p:cTn id="261" dur="1" fill="hold">
                                          <p:stCondLst>
                                            <p:cond delay="0"/>
                                          </p:stCondLst>
                                        </p:cTn>
                                        <p:tgtEl>
                                          <p:spTgt spid="191714"/>
                                        </p:tgtEl>
                                        <p:attrNameLst>
                                          <p:attrName>style.visibility</p:attrName>
                                        </p:attrNameLst>
                                      </p:cBhvr>
                                      <p:to>
                                        <p:strVal val="visible"/>
                                      </p:to>
                                    </p:set>
                                    <p:animEffect transition="in" filter="wipe(down)">
                                      <p:cBhvr>
                                        <p:cTn id="262" dur="500"/>
                                        <p:tgtEl>
                                          <p:spTgt spid="191714"/>
                                        </p:tgtEl>
                                      </p:cBhvr>
                                    </p:animEffect>
                                  </p:childTnLst>
                                </p:cTn>
                              </p:par>
                            </p:childTnLst>
                          </p:cTn>
                        </p:par>
                      </p:childTnLst>
                    </p:cTn>
                  </p:par>
                  <p:par>
                    <p:cTn id="263" fill="hold">
                      <p:stCondLst>
                        <p:cond delay="indefinite"/>
                      </p:stCondLst>
                      <p:childTnLst>
                        <p:par>
                          <p:cTn id="264" fill="hold">
                            <p:stCondLst>
                              <p:cond delay="0"/>
                            </p:stCondLst>
                            <p:childTnLst>
                              <p:par>
                                <p:cTn id="265" presetID="22" presetClass="entr" presetSubtype="4" fill="hold" grpId="0" nodeType="clickEffect">
                                  <p:stCondLst>
                                    <p:cond delay="0"/>
                                  </p:stCondLst>
                                  <p:childTnLst>
                                    <p:set>
                                      <p:cBhvr>
                                        <p:cTn id="266" dur="1" fill="hold">
                                          <p:stCondLst>
                                            <p:cond delay="0"/>
                                          </p:stCondLst>
                                        </p:cTn>
                                        <p:tgtEl>
                                          <p:spTgt spid="191715"/>
                                        </p:tgtEl>
                                        <p:attrNameLst>
                                          <p:attrName>style.visibility</p:attrName>
                                        </p:attrNameLst>
                                      </p:cBhvr>
                                      <p:to>
                                        <p:strVal val="visible"/>
                                      </p:to>
                                    </p:set>
                                    <p:animEffect transition="in" filter="wipe(down)">
                                      <p:cBhvr>
                                        <p:cTn id="267" dur="500"/>
                                        <p:tgtEl>
                                          <p:spTgt spid="191715"/>
                                        </p:tgtEl>
                                      </p:cBhvr>
                                    </p:animEffect>
                                  </p:childTnLst>
                                </p:cTn>
                              </p:par>
                            </p:childTnLst>
                          </p:cTn>
                        </p:par>
                      </p:childTnLst>
                    </p:cTn>
                  </p:par>
                  <p:par>
                    <p:cTn id="268" fill="hold">
                      <p:stCondLst>
                        <p:cond delay="indefinite"/>
                      </p:stCondLst>
                      <p:childTnLst>
                        <p:par>
                          <p:cTn id="269" fill="hold">
                            <p:stCondLst>
                              <p:cond delay="0"/>
                            </p:stCondLst>
                            <p:childTnLst>
                              <p:par>
                                <p:cTn id="270" presetID="22" presetClass="entr" presetSubtype="4" fill="hold" grpId="0" nodeType="clickEffect">
                                  <p:stCondLst>
                                    <p:cond delay="0"/>
                                  </p:stCondLst>
                                  <p:childTnLst>
                                    <p:set>
                                      <p:cBhvr>
                                        <p:cTn id="271" dur="1" fill="hold">
                                          <p:stCondLst>
                                            <p:cond delay="0"/>
                                          </p:stCondLst>
                                        </p:cTn>
                                        <p:tgtEl>
                                          <p:spTgt spid="191716"/>
                                        </p:tgtEl>
                                        <p:attrNameLst>
                                          <p:attrName>style.visibility</p:attrName>
                                        </p:attrNameLst>
                                      </p:cBhvr>
                                      <p:to>
                                        <p:strVal val="visible"/>
                                      </p:to>
                                    </p:set>
                                    <p:animEffect transition="in" filter="wipe(down)">
                                      <p:cBhvr>
                                        <p:cTn id="272" dur="500"/>
                                        <p:tgtEl>
                                          <p:spTgt spid="191716"/>
                                        </p:tgtEl>
                                      </p:cBhvr>
                                    </p:animEffect>
                                  </p:childTnLst>
                                </p:cTn>
                              </p:par>
                            </p:childTnLst>
                          </p:cTn>
                        </p:par>
                      </p:childTnLst>
                    </p:cTn>
                  </p:par>
                  <p:par>
                    <p:cTn id="273" fill="hold">
                      <p:stCondLst>
                        <p:cond delay="indefinite"/>
                      </p:stCondLst>
                      <p:childTnLst>
                        <p:par>
                          <p:cTn id="274" fill="hold">
                            <p:stCondLst>
                              <p:cond delay="0"/>
                            </p:stCondLst>
                            <p:childTnLst>
                              <p:par>
                                <p:cTn id="275" presetID="22" presetClass="entr" presetSubtype="4" fill="hold" grpId="0" nodeType="clickEffect">
                                  <p:stCondLst>
                                    <p:cond delay="0"/>
                                  </p:stCondLst>
                                  <p:childTnLst>
                                    <p:set>
                                      <p:cBhvr>
                                        <p:cTn id="276" dur="1" fill="hold">
                                          <p:stCondLst>
                                            <p:cond delay="0"/>
                                          </p:stCondLst>
                                        </p:cTn>
                                        <p:tgtEl>
                                          <p:spTgt spid="191717"/>
                                        </p:tgtEl>
                                        <p:attrNameLst>
                                          <p:attrName>style.visibility</p:attrName>
                                        </p:attrNameLst>
                                      </p:cBhvr>
                                      <p:to>
                                        <p:strVal val="visible"/>
                                      </p:to>
                                    </p:set>
                                    <p:animEffect transition="in" filter="wipe(down)">
                                      <p:cBhvr>
                                        <p:cTn id="277" dur="500"/>
                                        <p:tgtEl>
                                          <p:spTgt spid="191717"/>
                                        </p:tgtEl>
                                      </p:cBhvr>
                                    </p:animEffect>
                                  </p:childTnLst>
                                </p:cTn>
                              </p:par>
                            </p:childTnLst>
                          </p:cTn>
                        </p:par>
                      </p:childTnLst>
                    </p:cTn>
                  </p:par>
                  <p:par>
                    <p:cTn id="278" fill="hold">
                      <p:stCondLst>
                        <p:cond delay="indefinite"/>
                      </p:stCondLst>
                      <p:childTnLst>
                        <p:par>
                          <p:cTn id="279" fill="hold">
                            <p:stCondLst>
                              <p:cond delay="0"/>
                            </p:stCondLst>
                            <p:childTnLst>
                              <p:par>
                                <p:cTn id="280" presetID="22" presetClass="entr" presetSubtype="4" fill="hold" grpId="0" nodeType="clickEffect">
                                  <p:stCondLst>
                                    <p:cond delay="0"/>
                                  </p:stCondLst>
                                  <p:childTnLst>
                                    <p:set>
                                      <p:cBhvr>
                                        <p:cTn id="281" dur="1" fill="hold">
                                          <p:stCondLst>
                                            <p:cond delay="0"/>
                                          </p:stCondLst>
                                        </p:cTn>
                                        <p:tgtEl>
                                          <p:spTgt spid="191718"/>
                                        </p:tgtEl>
                                        <p:attrNameLst>
                                          <p:attrName>style.visibility</p:attrName>
                                        </p:attrNameLst>
                                      </p:cBhvr>
                                      <p:to>
                                        <p:strVal val="visible"/>
                                      </p:to>
                                    </p:set>
                                    <p:animEffect transition="in" filter="wipe(down)">
                                      <p:cBhvr>
                                        <p:cTn id="282" dur="500"/>
                                        <p:tgtEl>
                                          <p:spTgt spid="191718"/>
                                        </p:tgtEl>
                                      </p:cBhvr>
                                    </p:animEffect>
                                  </p:childTnLst>
                                </p:cTn>
                              </p:par>
                            </p:childTnLst>
                          </p:cTn>
                        </p:par>
                      </p:childTnLst>
                    </p:cTn>
                  </p:par>
                  <p:par>
                    <p:cTn id="283" fill="hold">
                      <p:stCondLst>
                        <p:cond delay="indefinite"/>
                      </p:stCondLst>
                      <p:childTnLst>
                        <p:par>
                          <p:cTn id="284" fill="hold">
                            <p:stCondLst>
                              <p:cond delay="0"/>
                            </p:stCondLst>
                            <p:childTnLst>
                              <p:par>
                                <p:cTn id="285" presetID="22" presetClass="entr" presetSubtype="4" fill="hold" grpId="0" nodeType="clickEffect">
                                  <p:stCondLst>
                                    <p:cond delay="0"/>
                                  </p:stCondLst>
                                  <p:childTnLst>
                                    <p:set>
                                      <p:cBhvr>
                                        <p:cTn id="286" dur="1" fill="hold">
                                          <p:stCondLst>
                                            <p:cond delay="0"/>
                                          </p:stCondLst>
                                        </p:cTn>
                                        <p:tgtEl>
                                          <p:spTgt spid="191719"/>
                                        </p:tgtEl>
                                        <p:attrNameLst>
                                          <p:attrName>style.visibility</p:attrName>
                                        </p:attrNameLst>
                                      </p:cBhvr>
                                      <p:to>
                                        <p:strVal val="visible"/>
                                      </p:to>
                                    </p:set>
                                    <p:animEffect transition="in" filter="wipe(down)">
                                      <p:cBhvr>
                                        <p:cTn id="287" dur="500"/>
                                        <p:tgtEl>
                                          <p:spTgt spid="191719"/>
                                        </p:tgtEl>
                                      </p:cBhvr>
                                    </p:animEffect>
                                  </p:childTnLst>
                                </p:cTn>
                              </p:par>
                            </p:childTnLst>
                          </p:cTn>
                        </p:par>
                      </p:childTnLst>
                    </p:cTn>
                  </p:par>
                  <p:par>
                    <p:cTn id="288" fill="hold">
                      <p:stCondLst>
                        <p:cond delay="indefinite"/>
                      </p:stCondLst>
                      <p:childTnLst>
                        <p:par>
                          <p:cTn id="289" fill="hold">
                            <p:stCondLst>
                              <p:cond delay="0"/>
                            </p:stCondLst>
                            <p:childTnLst>
                              <p:par>
                                <p:cTn id="290" presetID="22" presetClass="entr" presetSubtype="4" fill="hold" grpId="0" nodeType="clickEffect">
                                  <p:stCondLst>
                                    <p:cond delay="0"/>
                                  </p:stCondLst>
                                  <p:childTnLst>
                                    <p:set>
                                      <p:cBhvr>
                                        <p:cTn id="291" dur="1" fill="hold">
                                          <p:stCondLst>
                                            <p:cond delay="0"/>
                                          </p:stCondLst>
                                        </p:cTn>
                                        <p:tgtEl>
                                          <p:spTgt spid="191720"/>
                                        </p:tgtEl>
                                        <p:attrNameLst>
                                          <p:attrName>style.visibility</p:attrName>
                                        </p:attrNameLst>
                                      </p:cBhvr>
                                      <p:to>
                                        <p:strVal val="visible"/>
                                      </p:to>
                                    </p:set>
                                    <p:animEffect transition="in" filter="wipe(down)">
                                      <p:cBhvr>
                                        <p:cTn id="292" dur="500"/>
                                        <p:tgtEl>
                                          <p:spTgt spid="191720"/>
                                        </p:tgtEl>
                                      </p:cBhvr>
                                    </p:animEffect>
                                  </p:childTnLst>
                                </p:cTn>
                              </p:par>
                            </p:childTnLst>
                          </p:cTn>
                        </p:par>
                      </p:childTnLst>
                    </p:cTn>
                  </p:par>
                  <p:par>
                    <p:cTn id="293" fill="hold">
                      <p:stCondLst>
                        <p:cond delay="indefinite"/>
                      </p:stCondLst>
                      <p:childTnLst>
                        <p:par>
                          <p:cTn id="294" fill="hold">
                            <p:stCondLst>
                              <p:cond delay="0"/>
                            </p:stCondLst>
                            <p:childTnLst>
                              <p:par>
                                <p:cTn id="295" presetID="22" presetClass="entr" presetSubtype="4" fill="hold" grpId="0" nodeType="clickEffect">
                                  <p:stCondLst>
                                    <p:cond delay="0"/>
                                  </p:stCondLst>
                                  <p:childTnLst>
                                    <p:set>
                                      <p:cBhvr>
                                        <p:cTn id="296" dur="1" fill="hold">
                                          <p:stCondLst>
                                            <p:cond delay="0"/>
                                          </p:stCondLst>
                                        </p:cTn>
                                        <p:tgtEl>
                                          <p:spTgt spid="191721"/>
                                        </p:tgtEl>
                                        <p:attrNameLst>
                                          <p:attrName>style.visibility</p:attrName>
                                        </p:attrNameLst>
                                      </p:cBhvr>
                                      <p:to>
                                        <p:strVal val="visible"/>
                                      </p:to>
                                    </p:set>
                                    <p:animEffect transition="in" filter="wipe(down)">
                                      <p:cBhvr>
                                        <p:cTn id="297" dur="500"/>
                                        <p:tgtEl>
                                          <p:spTgt spid="191721"/>
                                        </p:tgtEl>
                                      </p:cBhvr>
                                    </p:animEffect>
                                  </p:childTnLst>
                                </p:cTn>
                              </p:par>
                            </p:childTnLst>
                          </p:cTn>
                        </p:par>
                      </p:childTnLst>
                    </p:cTn>
                  </p:par>
                  <p:par>
                    <p:cTn id="298" fill="hold">
                      <p:stCondLst>
                        <p:cond delay="indefinite"/>
                      </p:stCondLst>
                      <p:childTnLst>
                        <p:par>
                          <p:cTn id="299" fill="hold">
                            <p:stCondLst>
                              <p:cond delay="0"/>
                            </p:stCondLst>
                            <p:childTnLst>
                              <p:par>
                                <p:cTn id="300" presetID="27" presetClass="exit" presetSubtype="0" fill="hold" grpId="0" nodeType="clickEffect">
                                  <p:stCondLst>
                                    <p:cond delay="0"/>
                                  </p:stCondLst>
                                  <p:iterate type="lt">
                                    <p:tmPct val="50000"/>
                                  </p:iterate>
                                  <p:childTnLst>
                                    <p:anim calcmode="discrete" valueType="clr">
                                      <p:cBhvr override="childStyle">
                                        <p:cTn id="301" dur="80"/>
                                        <p:tgtEl>
                                          <p:spTgt spid="191712"/>
                                        </p:tgtEl>
                                        <p:attrNameLst>
                                          <p:attrName>style.color</p:attrName>
                                        </p:attrNameLst>
                                      </p:cBhvr>
                                      <p:tavLst>
                                        <p:tav tm="0">
                                          <p:val>
                                            <p:clrVal>
                                              <a:schemeClr val="hlink"/>
                                            </p:clrVal>
                                          </p:val>
                                        </p:tav>
                                        <p:tav tm="50000">
                                          <p:val>
                                            <p:clrVal>
                                              <a:schemeClr val="accent2"/>
                                            </p:clrVal>
                                          </p:val>
                                        </p:tav>
                                      </p:tavLst>
                                    </p:anim>
                                    <p:anim calcmode="discrete" valueType="clr">
                                      <p:cBhvr>
                                        <p:cTn id="302" dur="80"/>
                                        <p:tgtEl>
                                          <p:spTgt spid="191712"/>
                                        </p:tgtEl>
                                        <p:attrNameLst>
                                          <p:attrName>fillcolor</p:attrName>
                                        </p:attrNameLst>
                                      </p:cBhvr>
                                      <p:tavLst>
                                        <p:tav tm="0">
                                          <p:val>
                                            <p:clrVal>
                                              <a:schemeClr val="hlink"/>
                                            </p:clrVal>
                                          </p:val>
                                        </p:tav>
                                        <p:tav tm="50000">
                                          <p:val>
                                            <p:clrVal>
                                              <a:schemeClr val="accent2"/>
                                            </p:clrVal>
                                          </p:val>
                                        </p:tav>
                                      </p:tavLst>
                                    </p:anim>
                                    <p:set>
                                      <p:cBhvr>
                                        <p:cTn id="303" dur="80"/>
                                        <p:tgtEl>
                                          <p:spTgt spid="191712"/>
                                        </p:tgtEl>
                                        <p:attrNameLst>
                                          <p:attrName>fill.type</p:attrName>
                                        </p:attrNameLst>
                                      </p:cBhvr>
                                      <p:to>
                                        <p:strVal val="solid"/>
                                      </p:to>
                                    </p:set>
                                    <p:set>
                                      <p:cBhvr>
                                        <p:cTn id="304" dur="1" fill="hold">
                                          <p:stCondLst>
                                            <p:cond delay="79"/>
                                          </p:stCondLst>
                                        </p:cTn>
                                        <p:tgtEl>
                                          <p:spTgt spid="191712"/>
                                        </p:tgtEl>
                                        <p:attrNameLst>
                                          <p:attrName>style.visibility</p:attrName>
                                        </p:attrNameLst>
                                      </p:cBhvr>
                                      <p:to>
                                        <p:strVal val="hidden"/>
                                      </p:to>
                                    </p:set>
                                  </p:childTnLst>
                                </p:cTn>
                              </p:par>
                            </p:childTnLst>
                          </p:cTn>
                        </p:par>
                      </p:childTnLst>
                    </p:cTn>
                  </p:par>
                  <p:par>
                    <p:cTn id="305" fill="hold">
                      <p:stCondLst>
                        <p:cond delay="indefinite"/>
                      </p:stCondLst>
                      <p:childTnLst>
                        <p:par>
                          <p:cTn id="306" fill="hold">
                            <p:stCondLst>
                              <p:cond delay="0"/>
                            </p:stCondLst>
                            <p:childTnLst>
                              <p:par>
                                <p:cTn id="307" presetID="3" presetClass="emph" presetSubtype="2" fill="hold" grpId="1" nodeType="clickEffect">
                                  <p:stCondLst>
                                    <p:cond delay="0"/>
                                  </p:stCondLst>
                                  <p:childTnLst>
                                    <p:animClr clrSpc="rgb" dir="cw">
                                      <p:cBhvr override="childStyle">
                                        <p:cTn id="308" dur="2000" fill="hold"/>
                                        <p:tgtEl>
                                          <p:spTgt spid="191721"/>
                                        </p:tgtEl>
                                        <p:attrNameLst>
                                          <p:attrName>style.color</p:attrName>
                                        </p:attrNameLst>
                                      </p:cBhvr>
                                      <p:to>
                                        <a:srgbClr val="FF3300"/>
                                      </p:to>
                                    </p:animClr>
                                  </p:childTnLst>
                                </p:cTn>
                              </p:par>
                              <p:par>
                                <p:cTn id="309" presetID="3" presetClass="emph" presetSubtype="2" fill="hold" grpId="1" nodeType="withEffect">
                                  <p:stCondLst>
                                    <p:cond delay="0"/>
                                  </p:stCondLst>
                                  <p:childTnLst>
                                    <p:animClr clrSpc="rgb" dir="cw">
                                      <p:cBhvr override="childStyle">
                                        <p:cTn id="310" dur="2000" fill="hold"/>
                                        <p:tgtEl>
                                          <p:spTgt spid="191711"/>
                                        </p:tgtEl>
                                        <p:attrNameLst>
                                          <p:attrName>style.color</p:attrName>
                                        </p:attrNameLst>
                                      </p:cBhvr>
                                      <p:to>
                                        <a:srgbClr val="FF3300"/>
                                      </p:to>
                                    </p:animClr>
                                  </p:childTnLst>
                                </p:cTn>
                              </p:par>
                            </p:childTnLst>
                          </p:cTn>
                        </p:par>
                      </p:childTnLst>
                    </p:cTn>
                  </p:par>
                  <p:par>
                    <p:cTn id="311" fill="hold">
                      <p:stCondLst>
                        <p:cond delay="indefinite"/>
                      </p:stCondLst>
                      <p:childTnLst>
                        <p:par>
                          <p:cTn id="312" fill="hold">
                            <p:stCondLst>
                              <p:cond delay="0"/>
                            </p:stCondLst>
                            <p:childTnLst>
                              <p:par>
                                <p:cTn id="313" presetID="27" presetClass="entr" presetSubtype="0" fill="hold" nodeType="clickEffect">
                                  <p:stCondLst>
                                    <p:cond delay="0"/>
                                  </p:stCondLst>
                                  <p:iterate type="lt">
                                    <p:tmPct val="50000"/>
                                  </p:iterate>
                                  <p:childTnLst>
                                    <p:set>
                                      <p:cBhvr>
                                        <p:cTn id="314" dur="1" fill="hold">
                                          <p:stCondLst>
                                            <p:cond delay="0"/>
                                          </p:stCondLst>
                                        </p:cTn>
                                        <p:tgtEl>
                                          <p:spTgt spid="191722">
                                            <p:txEl>
                                              <p:pRg st="0" end="0"/>
                                            </p:txEl>
                                          </p:spTgt>
                                        </p:tgtEl>
                                        <p:attrNameLst>
                                          <p:attrName>style.visibility</p:attrName>
                                        </p:attrNameLst>
                                      </p:cBhvr>
                                      <p:to>
                                        <p:strVal val="visible"/>
                                      </p:to>
                                    </p:set>
                                    <p:anim calcmode="discrete" valueType="clr">
                                      <p:cBhvr override="childStyle">
                                        <p:cTn id="315" dur="80"/>
                                        <p:tgtEl>
                                          <p:spTgt spid="19172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16" dur="80"/>
                                        <p:tgtEl>
                                          <p:spTgt spid="191722">
                                            <p:txEl>
                                              <p:pRg st="0" end="0"/>
                                            </p:txEl>
                                          </p:spTgt>
                                        </p:tgtEl>
                                        <p:attrNameLst>
                                          <p:attrName>fillcolor</p:attrName>
                                        </p:attrNameLst>
                                      </p:cBhvr>
                                      <p:tavLst>
                                        <p:tav tm="0">
                                          <p:val>
                                            <p:clrVal>
                                              <a:schemeClr val="accent2"/>
                                            </p:clrVal>
                                          </p:val>
                                        </p:tav>
                                        <p:tav tm="50000">
                                          <p:val>
                                            <p:clrVal>
                                              <a:schemeClr val="hlink"/>
                                            </p:clrVal>
                                          </p:val>
                                        </p:tav>
                                      </p:tavLst>
                                    </p:anim>
                                    <p:set>
                                      <p:cBhvr>
                                        <p:cTn id="317" dur="80"/>
                                        <p:tgtEl>
                                          <p:spTgt spid="191722">
                                            <p:txEl>
                                              <p:pRg st="0" end="0"/>
                                            </p:txEl>
                                          </p:spTgt>
                                        </p:tgtEl>
                                        <p:attrNameLst>
                                          <p:attrName>fill.type</p:attrName>
                                        </p:attrNameLst>
                                      </p:cBhvr>
                                      <p:to>
                                        <p:strVal val="solid"/>
                                      </p:to>
                                    </p:set>
                                  </p:childTnLst>
                                </p:cTn>
                              </p:par>
                              <p:par>
                                <p:cTn id="318" presetID="27" presetClass="entr" presetSubtype="0" fill="hold" nodeType="withEffect">
                                  <p:stCondLst>
                                    <p:cond delay="0"/>
                                  </p:stCondLst>
                                  <p:iterate type="lt">
                                    <p:tmPct val="50000"/>
                                  </p:iterate>
                                  <p:childTnLst>
                                    <p:set>
                                      <p:cBhvr>
                                        <p:cTn id="319" dur="1" fill="hold">
                                          <p:stCondLst>
                                            <p:cond delay="0"/>
                                          </p:stCondLst>
                                        </p:cTn>
                                        <p:tgtEl>
                                          <p:spTgt spid="191722">
                                            <p:txEl>
                                              <p:pRg st="1" end="1"/>
                                            </p:txEl>
                                          </p:spTgt>
                                        </p:tgtEl>
                                        <p:attrNameLst>
                                          <p:attrName>style.visibility</p:attrName>
                                        </p:attrNameLst>
                                      </p:cBhvr>
                                      <p:to>
                                        <p:strVal val="visible"/>
                                      </p:to>
                                    </p:set>
                                    <p:anim calcmode="discrete" valueType="clr">
                                      <p:cBhvr override="childStyle">
                                        <p:cTn id="320" dur="80"/>
                                        <p:tgtEl>
                                          <p:spTgt spid="19172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1" dur="80"/>
                                        <p:tgtEl>
                                          <p:spTgt spid="191722">
                                            <p:txEl>
                                              <p:pRg st="1" end="1"/>
                                            </p:txEl>
                                          </p:spTgt>
                                        </p:tgtEl>
                                        <p:attrNameLst>
                                          <p:attrName>fillcolor</p:attrName>
                                        </p:attrNameLst>
                                      </p:cBhvr>
                                      <p:tavLst>
                                        <p:tav tm="0">
                                          <p:val>
                                            <p:clrVal>
                                              <a:schemeClr val="accent2"/>
                                            </p:clrVal>
                                          </p:val>
                                        </p:tav>
                                        <p:tav tm="50000">
                                          <p:val>
                                            <p:clrVal>
                                              <a:schemeClr val="hlink"/>
                                            </p:clrVal>
                                          </p:val>
                                        </p:tav>
                                      </p:tavLst>
                                    </p:anim>
                                    <p:set>
                                      <p:cBhvr>
                                        <p:cTn id="322" dur="80"/>
                                        <p:tgtEl>
                                          <p:spTgt spid="191722">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665" grpId="0"/>
      <p:bldP spid="191665" grpId="1"/>
      <p:bldP spid="191666" grpId="0"/>
      <p:bldP spid="191667" grpId="0"/>
      <p:bldP spid="191668" grpId="0"/>
      <p:bldP spid="191669" grpId="0"/>
      <p:bldP spid="191671" grpId="0"/>
      <p:bldP spid="191672" grpId="0"/>
      <p:bldP spid="191673" grpId="0"/>
      <p:bldP spid="191674" grpId="0"/>
      <p:bldP spid="191675" grpId="0"/>
      <p:bldP spid="191676" grpId="0"/>
      <p:bldP spid="191677" grpId="0"/>
      <p:bldP spid="191678" grpId="0"/>
      <p:bldP spid="191679" grpId="0"/>
      <p:bldP spid="191680" grpId="0"/>
      <p:bldP spid="191681" grpId="0"/>
      <p:bldP spid="191681" grpId="1"/>
      <p:bldP spid="191682" grpId="0"/>
      <p:bldP spid="191683" grpId="0"/>
      <p:bldP spid="191684" grpId="0"/>
      <p:bldP spid="191685" grpId="0"/>
      <p:bldP spid="191686" grpId="0"/>
      <p:bldP spid="191687" grpId="0"/>
      <p:bldP spid="191688" grpId="0"/>
      <p:bldP spid="191689" grpId="0"/>
      <p:bldP spid="191690" grpId="0"/>
      <p:bldP spid="191691" grpId="0"/>
      <p:bldP spid="191691" grpId="1"/>
      <p:bldP spid="191692" grpId="0"/>
      <p:bldP spid="191694" grpId="0"/>
      <p:bldP spid="191695" grpId="0"/>
      <p:bldP spid="191696" grpId="0"/>
      <p:bldP spid="191697" grpId="0"/>
      <p:bldP spid="191698" grpId="0"/>
      <p:bldP spid="191699" grpId="0"/>
      <p:bldP spid="191700" grpId="0"/>
      <p:bldP spid="191701" grpId="0"/>
      <p:bldP spid="191702" grpId="0"/>
      <p:bldP spid="191702" grpId="1"/>
      <p:bldP spid="191703" grpId="0"/>
      <p:bldP spid="191704" grpId="0"/>
      <p:bldP spid="191705" grpId="0"/>
      <p:bldP spid="191706" grpId="0"/>
      <p:bldP spid="191707" grpId="0"/>
      <p:bldP spid="191708" grpId="0"/>
      <p:bldP spid="191709" grpId="0"/>
      <p:bldP spid="191710" grpId="0"/>
      <p:bldP spid="191711" grpId="0"/>
      <p:bldP spid="191711" grpId="1"/>
      <p:bldP spid="191712" grpId="0"/>
      <p:bldP spid="191712" grpId="1"/>
      <p:bldP spid="191713" grpId="0"/>
      <p:bldP spid="191714" grpId="0"/>
      <p:bldP spid="191715" grpId="0"/>
      <p:bldP spid="191716" grpId="0"/>
      <p:bldP spid="191717" grpId="0"/>
      <p:bldP spid="191718" grpId="0"/>
      <p:bldP spid="191719" grpId="0"/>
      <p:bldP spid="191720" grpId="0"/>
      <p:bldP spid="191721" grpId="0"/>
      <p:bldP spid="191721"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3"/>
          <p:cNvSpPr txBox="1">
            <a:spLocks noGrp="1"/>
          </p:cNvSpPr>
          <p:nvPr>
            <p:ph type="dt" sz="half" idx="10"/>
          </p:nvPr>
        </p:nvSpPr>
        <p:spPr/>
        <p:txBody>
          <a:bodyPr/>
          <a:lstStyle/>
          <a:p>
            <a:pPr marL="0" indent="0" eaLnBrk="1" hangingPunct="1">
              <a:spcBef>
                <a:spcPct val="0"/>
              </a:spcBef>
              <a:buNone/>
            </a:pPr>
            <a:fld id="{BB962C8B-B14F-4D97-AF65-F5344CB8AC3E}" type="datetime1">
              <a:rPr lang="zh-CN" altLang="en-US" sz="1400" dirty="0">
                <a:solidFill>
                  <a:schemeClr val="tx1"/>
                </a:solidFill>
                <a:latin typeface="Arial" panose="020B0604020202020204" pitchFamily="34" charset="0"/>
                <a:ea typeface="宋体" panose="02010600030101010101" pitchFamily="2" charset="-122"/>
              </a:rPr>
              <a:t>2024-12-12</a:t>
            </a:fld>
            <a:endParaRPr lang="zh-CN" altLang="en-US" sz="1400" dirty="0">
              <a:solidFill>
                <a:schemeClr val="tx1"/>
              </a:solidFill>
              <a:latin typeface="Arial" panose="020B0604020202020204" pitchFamily="34" charset="0"/>
              <a:ea typeface="宋体" panose="02010600030101010101" pitchFamily="2" charset="-122"/>
            </a:endParaRPr>
          </a:p>
        </p:txBody>
      </p:sp>
      <p:sp>
        <p:nvSpPr>
          <p:cNvPr id="111619" name="页脚占位符 4"/>
          <p:cNvSpPr txBox="1">
            <a:spLocks noGrp="1"/>
          </p:cNvSpPr>
          <p:nvPr>
            <p:ph type="ftr" sz="quarter" idx="11"/>
          </p:nvPr>
        </p:nvSpPr>
        <p:spPr/>
        <p:txBody>
          <a:bodyPr/>
          <a:lstStyle/>
          <a:p>
            <a:pPr marL="0" indent="0" algn="ctr" eaLnBrk="1" hangingPunct="1">
              <a:spcBef>
                <a:spcPct val="0"/>
              </a:spcBef>
              <a:buNone/>
            </a:pPr>
            <a:r>
              <a:rPr lang="en-US" altLang="zh-CN" sz="1400" dirty="0">
                <a:solidFill>
                  <a:schemeClr val="tx1"/>
                </a:solidFill>
                <a:latin typeface="Arial" panose="020B0604020202020204" pitchFamily="34" charset="0"/>
                <a:ea typeface="宋体" panose="02010600030101010101" pitchFamily="2" charset="-122"/>
              </a:rPr>
              <a:t>Algorithms Design Techniques and Analysis</a:t>
            </a:r>
          </a:p>
        </p:txBody>
      </p:sp>
      <p:sp>
        <p:nvSpPr>
          <p:cNvPr id="111620" name="灯片编号占位符 5"/>
          <p:cNvSpPr txBox="1">
            <a:spLocks noGrp="1"/>
          </p:cNvSpPr>
          <p:nvPr>
            <p:ph type="sldNum" sz="quarter" idx="12"/>
          </p:nvPr>
        </p:nvSpPr>
        <p:spPr/>
        <p:txBody>
          <a:bodyPr/>
          <a:lstStyle/>
          <a:p>
            <a:pPr marL="0" indent="0" algn="r" eaLnBrk="1" hangingPunct="1">
              <a:spcBef>
                <a:spcPct val="0"/>
              </a:spcBef>
              <a:buNone/>
            </a:pPr>
            <a:fld id="{9A0DB2DC-4C9A-4742-B13C-FB6460FD3503}" type="slidenum">
              <a:rPr lang="en-US" altLang="zh-CN" sz="1400" dirty="0">
                <a:solidFill>
                  <a:schemeClr val="tx1"/>
                </a:solidFill>
                <a:latin typeface="Arial" panose="020B0604020202020204" pitchFamily="34" charset="0"/>
                <a:ea typeface="宋体" panose="02010600030101010101" pitchFamily="2" charset="-122"/>
              </a:rPr>
              <a:t>62</a:t>
            </a:fld>
            <a:endParaRPr lang="en-US" altLang="zh-CN" sz="1400" dirty="0">
              <a:solidFill>
                <a:schemeClr val="tx1"/>
              </a:solidFill>
              <a:latin typeface="Arial" panose="020B0604020202020204" pitchFamily="34" charset="0"/>
              <a:ea typeface="宋体" panose="02010600030101010101" pitchFamily="2" charset="-122"/>
            </a:endParaRPr>
          </a:p>
        </p:txBody>
      </p:sp>
      <p:sp>
        <p:nvSpPr>
          <p:cNvPr id="2" name="Rectangle 3"/>
          <p:cNvSpPr>
            <a:spLocks noGrp="1" noChangeArrowheads="1"/>
          </p:cNvSpPr>
          <p:nvPr>
            <p:ph idx="1"/>
          </p:nvPr>
        </p:nvSpPr>
        <p:spPr>
          <a:xfrm>
            <a:off x="900113" y="1268413"/>
            <a:ext cx="77866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很明显，由于计算表的每一项需要</a:t>
            </a:r>
            <a:r>
              <a:rPr kumimoji="0" lang="el-GR" altLang="zh-CN"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Θ</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(1)</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时间，算法的时间复杂度恰好是表的大小</a:t>
            </a:r>
            <a:r>
              <a:rPr kumimoji="0" lang="el-GR" altLang="zh-CN" sz="2400" b="0" i="0" u="none" strike="noStrike" kern="0" cap="none" spc="0" normalizeH="0" baseline="0" noProof="0" dirty="0">
                <a:ln>
                  <a:noFill/>
                </a:ln>
                <a:solidFill>
                  <a:schemeClr val="accent2"/>
                </a:solidFill>
                <a:effectLst/>
                <a:uLnTx/>
                <a:uFillTx/>
                <a:latin typeface="宋体" panose="02010600030101010101" pitchFamily="2" charset="-122"/>
                <a:ea typeface="+mn-ea"/>
                <a:cs typeface="+mn-cs"/>
              </a:rPr>
              <a:t>Θ</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en-US" altLang="zh-CN" sz="2400" b="0" i="0" u="none" strike="noStrike" kern="0" cap="none" spc="0" normalizeH="0" baseline="0" noProof="0" dirty="0" err="1">
                <a:ln>
                  <a:noFill/>
                </a:ln>
                <a:solidFill>
                  <a:schemeClr val="accent2"/>
                </a:solidFill>
                <a:effectLst/>
                <a:uLnTx/>
                <a:uFillTx/>
                <a:latin typeface="+mn-lt"/>
                <a:ea typeface="+mn-ea"/>
                <a:cs typeface="+mn-cs"/>
              </a:rPr>
              <a:t>nC</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由于计算当前行只需要上一次计算的行，因此对算法稍作修改可以使其只需要</a:t>
            </a:r>
            <a:r>
              <a:rPr kumimoji="0" lang="el-GR" altLang="zh-CN" sz="2400" b="0" i="0" u="none" strike="noStrike" kern="0" cap="none" spc="0" normalizeH="0" baseline="0" noProof="0" dirty="0">
                <a:ln>
                  <a:noFill/>
                </a:ln>
                <a:solidFill>
                  <a:schemeClr val="accent2"/>
                </a:solidFill>
                <a:effectLst/>
                <a:uLnTx/>
                <a:uFillTx/>
                <a:latin typeface="+mn-lt"/>
                <a:ea typeface="+mn-ea"/>
                <a:cs typeface="+mn-cs"/>
              </a:rPr>
              <a:t>Θ</a:t>
            </a:r>
            <a:r>
              <a:rPr kumimoji="0" lang="en-US" altLang="zh-CN" sz="2400" b="0" i="0" u="none" strike="noStrike" kern="0" cap="none" spc="0" normalizeH="0" baseline="0" noProof="0" dirty="0">
                <a:ln>
                  <a:noFill/>
                </a:ln>
                <a:solidFill>
                  <a:schemeClr val="accent2"/>
                </a:solidFill>
                <a:effectLst/>
                <a:uLnTx/>
                <a:uFillTx/>
                <a:latin typeface="+mn-lt"/>
                <a:ea typeface="+mn-ea"/>
                <a:cs typeface="+mn-cs"/>
              </a:rPr>
              <a:t>(C)</a:t>
            </a: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的空间。</a:t>
            </a: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lt"/>
                <a:ea typeface="+mn-ea"/>
                <a:cs typeface="+mn-cs"/>
              </a:rPr>
              <a:t>定理</a:t>
            </a:r>
            <a:endParaRPr kumimoji="0" lang="en-US" altLang="zh-CN" sz="2400" b="0" i="0" u="none" strike="noStrike" kern="0" cap="none" spc="0" normalizeH="0" baseline="0" noProof="0" dirty="0">
              <a:ln>
                <a:noFill/>
              </a:ln>
              <a:solidFill>
                <a:schemeClr val="accent2"/>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zh-CN" altLang="en-US" sz="2200" b="0" i="0" u="none" strike="noStrike" kern="0" cap="none" spc="0" normalizeH="0" baseline="0" noProof="0" dirty="0">
                <a:ln>
                  <a:noFill/>
                </a:ln>
                <a:solidFill>
                  <a:schemeClr val="accent2"/>
                </a:solidFill>
                <a:effectLst/>
                <a:uLnTx/>
                <a:uFillTx/>
                <a:latin typeface="+mn-lt"/>
                <a:ea typeface="+mn-ea"/>
              </a:rPr>
              <a:t>背包问题的最优解能够在</a:t>
            </a:r>
            <a:r>
              <a:rPr kumimoji="0" lang="el-GR" altLang="zh-CN" sz="2200" b="0" i="0" u="none" strike="noStrike" kern="0" cap="none" spc="0" normalizeH="0" baseline="0" noProof="0" dirty="0">
                <a:ln>
                  <a:noFill/>
                </a:ln>
                <a:solidFill>
                  <a:srgbClr val="FF0000"/>
                </a:solidFill>
                <a:effectLst/>
                <a:uLnTx/>
                <a:uFillTx/>
                <a:latin typeface="+mn-lt"/>
                <a:ea typeface="+mn-ea"/>
              </a:rPr>
              <a:t>Θ</a:t>
            </a:r>
            <a:r>
              <a:rPr kumimoji="0" lang="en-US" altLang="zh-CN" sz="2200" b="0" i="0" u="none" strike="noStrike" kern="0" cap="none" spc="0" normalizeH="0" baseline="0" noProof="0" dirty="0">
                <a:ln>
                  <a:noFill/>
                </a:ln>
                <a:solidFill>
                  <a:srgbClr val="FF0000"/>
                </a:solidFill>
                <a:effectLst/>
                <a:uLnTx/>
                <a:uFillTx/>
                <a:latin typeface="+mn-lt"/>
                <a:ea typeface="+mn-ea"/>
              </a:rPr>
              <a:t>(</a:t>
            </a:r>
            <a:r>
              <a:rPr kumimoji="0" lang="en-US" altLang="zh-CN" sz="2200" b="0" i="0" u="none" strike="noStrike" kern="0" cap="none" spc="0" normalizeH="0" baseline="0" noProof="0" dirty="0" err="1">
                <a:ln>
                  <a:noFill/>
                </a:ln>
                <a:solidFill>
                  <a:srgbClr val="FF0000"/>
                </a:solidFill>
                <a:effectLst/>
                <a:uLnTx/>
                <a:uFillTx/>
                <a:latin typeface="+mn-lt"/>
                <a:ea typeface="+mn-ea"/>
              </a:rPr>
              <a:t>nC</a:t>
            </a:r>
            <a:r>
              <a:rPr kumimoji="0" lang="en-US" altLang="zh-CN" sz="2200" b="0" i="0" u="none" strike="noStrike" kern="0" cap="none" spc="0" normalizeH="0" baseline="0" noProof="0" dirty="0">
                <a:ln>
                  <a:noFill/>
                </a:ln>
                <a:solidFill>
                  <a:srgbClr val="FF0000"/>
                </a:solidFill>
                <a:effectLst/>
                <a:uLnTx/>
                <a:uFillTx/>
                <a:latin typeface="+mn-lt"/>
                <a:ea typeface="+mn-ea"/>
              </a:rPr>
              <a:t>)</a:t>
            </a:r>
            <a:r>
              <a:rPr kumimoji="0" lang="zh-CN" altLang="en-US" sz="2200" b="0" i="0" u="none" strike="noStrike" kern="0" cap="none" spc="0" normalizeH="0" baseline="0" noProof="0" dirty="0">
                <a:ln>
                  <a:noFill/>
                </a:ln>
                <a:solidFill>
                  <a:srgbClr val="FF0000"/>
                </a:solidFill>
                <a:effectLst/>
                <a:uLnTx/>
                <a:uFillTx/>
                <a:latin typeface="+mn-lt"/>
                <a:ea typeface="+mn-ea"/>
              </a:rPr>
              <a:t>的时间</a:t>
            </a:r>
            <a:r>
              <a:rPr kumimoji="0" lang="zh-CN" altLang="en-US" sz="2200" b="0" i="0" u="none" strike="noStrike" kern="0" cap="none" spc="0" normalizeH="0" baseline="0" noProof="0" dirty="0">
                <a:ln>
                  <a:noFill/>
                </a:ln>
                <a:solidFill>
                  <a:schemeClr val="accent2"/>
                </a:solidFill>
                <a:effectLst/>
                <a:uLnTx/>
                <a:uFillTx/>
                <a:latin typeface="+mn-lt"/>
                <a:ea typeface="+mn-ea"/>
              </a:rPr>
              <a:t>内和</a:t>
            </a:r>
            <a:r>
              <a:rPr kumimoji="0" lang="el-GR" altLang="zh-CN" sz="2200" b="0" i="0" u="none" strike="noStrike" kern="0" cap="none" spc="0" normalizeH="0" baseline="0" noProof="0" dirty="0">
                <a:ln>
                  <a:noFill/>
                </a:ln>
                <a:solidFill>
                  <a:srgbClr val="FF0000"/>
                </a:solidFill>
                <a:effectLst/>
                <a:uLnTx/>
                <a:uFillTx/>
                <a:latin typeface="+mn-lt"/>
                <a:ea typeface="+mn-ea"/>
              </a:rPr>
              <a:t>Θ</a:t>
            </a:r>
            <a:r>
              <a:rPr kumimoji="0" lang="en-US" altLang="zh-CN" sz="2200" b="0" i="0" u="none" strike="noStrike" kern="0" cap="none" spc="0" normalizeH="0" baseline="0" noProof="0" dirty="0">
                <a:ln>
                  <a:noFill/>
                </a:ln>
                <a:solidFill>
                  <a:srgbClr val="FF0000"/>
                </a:solidFill>
                <a:effectLst/>
                <a:uLnTx/>
                <a:uFillTx/>
                <a:latin typeface="+mn-lt"/>
                <a:ea typeface="+mn-ea"/>
              </a:rPr>
              <a:t>(C)</a:t>
            </a:r>
            <a:r>
              <a:rPr kumimoji="0" lang="zh-CN" altLang="en-US" sz="2200" b="0" i="0" u="none" strike="noStrike" kern="0" cap="none" spc="0" normalizeH="0" baseline="0" noProof="0" dirty="0">
                <a:ln>
                  <a:noFill/>
                </a:ln>
                <a:solidFill>
                  <a:srgbClr val="FF0000"/>
                </a:solidFill>
                <a:effectLst/>
                <a:uLnTx/>
                <a:uFillTx/>
                <a:latin typeface="+mn-lt"/>
                <a:ea typeface="+mn-ea"/>
              </a:rPr>
              <a:t>的空间</a:t>
            </a:r>
            <a:r>
              <a:rPr kumimoji="0" lang="zh-CN" altLang="en-US" sz="2200" b="0" i="0" u="none" strike="noStrike" kern="0" cap="none" spc="0" normalizeH="0" baseline="0" noProof="0" dirty="0">
                <a:ln>
                  <a:noFill/>
                </a:ln>
                <a:solidFill>
                  <a:schemeClr val="accent2"/>
                </a:solidFill>
                <a:effectLst/>
                <a:uLnTx/>
                <a:uFillTx/>
                <a:latin typeface="+mn-lt"/>
                <a:ea typeface="+mn-ea"/>
              </a:rPr>
              <a:t>内得到。 </a:t>
            </a:r>
            <a:endParaRPr kumimoji="0" lang="en-US" altLang="zh-CN" sz="2200" b="0" i="0" u="none" strike="noStrike" kern="0" cap="none" spc="0" normalizeH="0" baseline="0" noProof="0" dirty="0">
              <a:ln>
                <a:noFill/>
              </a:ln>
              <a:solidFill>
                <a:schemeClr val="accent2"/>
              </a:solidFill>
              <a:effectLst/>
              <a:uLnTx/>
              <a:uFillTx/>
              <a:latin typeface="+mn-lt"/>
              <a:ea typeface="+mn-ea"/>
            </a:endParaRPr>
          </a:p>
        </p:txBody>
      </p:sp>
      <p:sp>
        <p:nvSpPr>
          <p:cNvPr id="5" name="Rectangle 2">
            <a:extLst>
              <a:ext uri="{FF2B5EF4-FFF2-40B4-BE49-F238E27FC236}">
                <a16:creationId xmlns:a16="http://schemas.microsoft.com/office/drawing/2014/main" id="{16F8DA4B-1036-3141-41EF-5AABCF356414}"/>
              </a:ext>
            </a:extLst>
          </p:cNvPr>
          <p:cNvSpPr>
            <a:spLocks noGrp="1"/>
          </p:cNvSpPr>
          <p:nvPr>
            <p:ph type="title"/>
          </p:nvPr>
        </p:nvSpPr>
        <p:spPr>
          <a:xfrm>
            <a:off x="879475" y="269875"/>
            <a:ext cx="7869238" cy="927100"/>
          </a:xfrm>
        </p:spPr>
        <p:txBody>
          <a:bodyPr vert="horz" wrap="square" lIns="91440" tIns="45720" rIns="91440" bIns="45720" anchor="ctr" anchorCtr="0"/>
          <a:lstStyle/>
          <a:p>
            <a:pPr eaLnBrk="1" hangingPunct="1"/>
            <a:r>
              <a:rPr lang="en-US" altLang="zh-CN" dirty="0">
                <a:latin typeface="+mj-ea"/>
              </a:rPr>
              <a:t>4.3.2 0/1</a:t>
            </a:r>
            <a:r>
              <a:rPr lang="zh-CN" altLang="en-US" dirty="0">
                <a:latin typeface="+mj-ea"/>
              </a:rPr>
              <a:t>背包问题</a:t>
            </a:r>
            <a:r>
              <a:rPr lang="en-US" altLang="zh-CN" dirty="0">
                <a:latin typeface="+mj-ea"/>
              </a:rPr>
              <a:t>—</a:t>
            </a:r>
            <a:r>
              <a:rPr lang="zh-CN" altLang="en-US" dirty="0">
                <a:latin typeface="+mj-ea"/>
              </a:rPr>
              <a:t>算法分析</a:t>
            </a:r>
            <a:endParaRPr lang="en-US" altLang="zh-CN"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blinds(horizontal)">
                                      <p:cBhvr>
                                        <p:cTn id="19" dur="500"/>
                                        <p:tgtEl>
                                          <p:spTgt spid="2">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 calcmode="lin" valueType="num">
                                      <p:cBhvr additive="base">
                                        <p:cTn id="24"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4.3.3 </a:t>
            </a:r>
            <a:r>
              <a:rPr lang="zh-CN" altLang="en-US" sz="3200" dirty="0">
                <a:latin typeface="+mj-ea"/>
              </a:rPr>
              <a:t>多段图问题</a:t>
            </a:r>
            <a:endParaRPr lang="en-US" altLang="zh-CN" b="0" dirty="0">
              <a:latin typeface="+mj-ea"/>
            </a:endParaRPr>
          </a:p>
        </p:txBody>
      </p:sp>
      <p:pic>
        <p:nvPicPr>
          <p:cNvPr id="4" name="图片 1">
            <a:extLst>
              <a:ext uri="{FF2B5EF4-FFF2-40B4-BE49-F238E27FC236}">
                <a16:creationId xmlns:a16="http://schemas.microsoft.com/office/drawing/2014/main" id="{9830904E-54DB-BAA2-C3F1-E47E8947732A}"/>
              </a:ext>
            </a:extLst>
          </p:cNvPr>
          <p:cNvPicPr>
            <a:picLocks noChangeAspect="1"/>
          </p:cNvPicPr>
          <p:nvPr/>
        </p:nvPicPr>
        <p:blipFill>
          <a:blip r:embed="rId3"/>
          <a:stretch>
            <a:fillRect/>
          </a:stretch>
        </p:blipFill>
        <p:spPr>
          <a:xfrm>
            <a:off x="1475656" y="1340768"/>
            <a:ext cx="6716861" cy="2275066"/>
          </a:xfrm>
          <a:prstGeom prst="rect">
            <a:avLst/>
          </a:prstGeom>
        </p:spPr>
      </p:pic>
    </p:spTree>
    <p:extLst>
      <p:ext uri="{BB962C8B-B14F-4D97-AF65-F5344CB8AC3E}">
        <p14:creationId xmlns:p14="http://schemas.microsoft.com/office/powerpoint/2010/main" val="42067803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组合 77"/>
          <p:cNvGrpSpPr/>
          <p:nvPr/>
        </p:nvGrpSpPr>
        <p:grpSpPr>
          <a:xfrm>
            <a:off x="1547664" y="2426082"/>
            <a:ext cx="6357982" cy="3071834"/>
            <a:chOff x="1000100" y="2786058"/>
            <a:chExt cx="6357982" cy="3071834"/>
          </a:xfrm>
        </p:grpSpPr>
        <p:sp>
          <p:nvSpPr>
            <p:cNvPr id="3" name="椭圆 2"/>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cs typeface="Consolas" panose="020B0609020204030204" pitchFamily="49" charset="0"/>
                </a:rPr>
                <a:t>A</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4" name="椭圆 3"/>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B</a:t>
              </a:r>
              <a:r>
                <a:rPr lang="en-US" altLang="zh-CN" sz="2000" baseline="-25000">
                  <a:solidFill>
                    <a:srgbClr val="0000FF"/>
                  </a:solidFill>
                  <a:latin typeface="Consolas" panose="020B0609020204030204" pitchFamily="49" charset="0"/>
                  <a:cs typeface="Consolas" panose="020B0609020204030204" pitchFamily="49" charset="0"/>
                </a:rPr>
                <a:t>1</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B</a:t>
              </a:r>
              <a:r>
                <a:rPr lang="en-US" altLang="zh-CN" sz="2000" baseline="-25000">
                  <a:solidFill>
                    <a:srgbClr val="0000FF"/>
                  </a:solidFill>
                  <a:latin typeface="Consolas" panose="020B0609020204030204" pitchFamily="49" charset="0"/>
                  <a:cs typeface="Consolas" panose="020B0609020204030204" pitchFamily="49" charset="0"/>
                </a:rPr>
                <a:t>2</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B</a:t>
              </a:r>
              <a:r>
                <a:rPr lang="en-US" altLang="zh-CN" sz="2000" baseline="-25000">
                  <a:solidFill>
                    <a:srgbClr val="0000FF"/>
                  </a:solidFill>
                  <a:latin typeface="Consolas" panose="020B0609020204030204" pitchFamily="49" charset="0"/>
                  <a:cs typeface="Consolas" panose="020B0609020204030204" pitchFamily="49" charset="0"/>
                </a:rPr>
                <a:t>3</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C</a:t>
              </a:r>
              <a:r>
                <a:rPr lang="en-US" altLang="zh-CN" sz="2000" baseline="-25000">
                  <a:solidFill>
                    <a:srgbClr val="0000FF"/>
                  </a:solidFill>
                  <a:latin typeface="Consolas" panose="020B0609020204030204" pitchFamily="49" charset="0"/>
                  <a:cs typeface="Consolas" panose="020B0609020204030204" pitchFamily="49" charset="0"/>
                </a:rPr>
                <a:t>1</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C</a:t>
              </a:r>
              <a:r>
                <a:rPr lang="en-US" altLang="zh-CN" sz="2000" baseline="-25000">
                  <a:solidFill>
                    <a:srgbClr val="0000FF"/>
                  </a:solidFill>
                  <a:latin typeface="Consolas" panose="020B0609020204030204" pitchFamily="49" charset="0"/>
                  <a:cs typeface="Consolas" panose="020B0609020204030204" pitchFamily="49" charset="0"/>
                </a:rPr>
                <a:t>2</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C</a:t>
              </a:r>
              <a:r>
                <a:rPr lang="en-US" altLang="zh-CN" sz="2000" baseline="-25000">
                  <a:solidFill>
                    <a:srgbClr val="0000FF"/>
                  </a:solidFill>
                  <a:latin typeface="Consolas" panose="020B0609020204030204" pitchFamily="49" charset="0"/>
                  <a:cs typeface="Consolas" panose="020B0609020204030204" pitchFamily="49" charset="0"/>
                </a:rPr>
                <a:t>3</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D</a:t>
              </a:r>
              <a:r>
                <a:rPr lang="en-US" altLang="zh-CN" sz="2000" baseline="-25000">
                  <a:solidFill>
                    <a:srgbClr val="0000FF"/>
                  </a:solidFill>
                  <a:latin typeface="Consolas" panose="020B0609020204030204" pitchFamily="49" charset="0"/>
                  <a:cs typeface="Consolas" panose="020B0609020204030204" pitchFamily="49" charset="0"/>
                </a:rPr>
                <a:t>1</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D</a:t>
              </a:r>
              <a:r>
                <a:rPr lang="en-US" altLang="zh-CN" sz="2000" baseline="-25000">
                  <a:solidFill>
                    <a:srgbClr val="0000FF"/>
                  </a:solidFill>
                  <a:latin typeface="Consolas" panose="020B0609020204030204" pitchFamily="49" charset="0"/>
                  <a:cs typeface="Consolas" panose="020B0609020204030204" pitchFamily="49" charset="0"/>
                </a:rPr>
                <a:t>2</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4" name="椭圆 13"/>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E</a:t>
              </a:r>
              <a:endParaRPr lang="zh-CN" altLang="en-US" sz="2000" baseline="-25000">
                <a:solidFill>
                  <a:srgbClr val="0000FF"/>
                </a:solidFill>
                <a:latin typeface="Consolas" panose="020B0609020204030204" pitchFamily="49" charset="0"/>
                <a:cs typeface="Consolas" panose="020B0609020204030204" pitchFamily="49" charset="0"/>
              </a:endParaRPr>
            </a:p>
          </p:txBody>
        </p:sp>
        <p:cxnSp>
          <p:nvCxnSpPr>
            <p:cNvPr id="16" name="直接箭头连接符 15"/>
            <p:cNvCxnSpPr>
              <a:stCxn id="3" idx="7"/>
              <a:endCxn id="4"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1714480" y="3429000"/>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cxnSp>
          <p:nvCxnSpPr>
            <p:cNvPr id="19" name="直接箭头连接符 18"/>
            <p:cNvCxnSpPr>
              <a:stCxn id="3" idx="6"/>
              <a:endCxn id="7"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3" idx="5"/>
              <a:endCxn id="8"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4"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4"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4" name="直接箭头连接符 3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8" name="直接箭头连接符 37"/>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40" name="直接箭头连接符 39"/>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3" name="直接箭头连接符 42"/>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5" name="直接箭头连接符 44"/>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47" name="直接箭头连接符 46"/>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49" name="直接箭头连接符 48"/>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2" name="直接箭头连接符 51"/>
            <p:cNvCxnSpPr>
              <a:stCxn id="12" idx="6"/>
              <a:endCxn id="14"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4" name="直接箭头连接符 53"/>
            <p:cNvCxnSpPr>
              <a:stCxn id="13" idx="6"/>
              <a:endCxn id="14"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5" name="TextBox 54"/>
            <p:cNvSpPr txBox="1"/>
            <p:nvPr/>
          </p:nvSpPr>
          <p:spPr>
            <a:xfrm>
              <a:off x="1866880" y="4000504"/>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56" name="TextBox 55"/>
            <p:cNvSpPr txBox="1"/>
            <p:nvPr/>
          </p:nvSpPr>
          <p:spPr>
            <a:xfrm>
              <a:off x="1928794" y="4786322"/>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3</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57" name="TextBox 56"/>
            <p:cNvSpPr txBox="1"/>
            <p:nvPr/>
          </p:nvSpPr>
          <p:spPr>
            <a:xfrm>
              <a:off x="2928926" y="2786058"/>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7</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58" name="TextBox 57"/>
            <p:cNvSpPr txBox="1"/>
            <p:nvPr/>
          </p:nvSpPr>
          <p:spPr>
            <a:xfrm>
              <a:off x="2954326" y="3139301"/>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59" name="TextBox 58"/>
            <p:cNvSpPr txBox="1"/>
            <p:nvPr/>
          </p:nvSpPr>
          <p:spPr>
            <a:xfrm>
              <a:off x="2908288" y="3740152"/>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3</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0" name="TextBox 59"/>
            <p:cNvSpPr txBox="1"/>
            <p:nvPr/>
          </p:nvSpPr>
          <p:spPr>
            <a:xfrm>
              <a:off x="3000364" y="4038604"/>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1" name="TextBox 60"/>
            <p:cNvSpPr txBox="1"/>
            <p:nvPr/>
          </p:nvSpPr>
          <p:spPr>
            <a:xfrm>
              <a:off x="2844788" y="4941898"/>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6</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2" name="TextBox 61"/>
            <p:cNvSpPr txBox="1"/>
            <p:nvPr/>
          </p:nvSpPr>
          <p:spPr>
            <a:xfrm>
              <a:off x="2997188" y="5580893"/>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5</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3" name="TextBox 62"/>
            <p:cNvSpPr txBox="1"/>
            <p:nvPr/>
          </p:nvSpPr>
          <p:spPr>
            <a:xfrm>
              <a:off x="4786314" y="2928934"/>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3</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4" name="TextBox 63"/>
            <p:cNvSpPr txBox="1"/>
            <p:nvPr/>
          </p:nvSpPr>
          <p:spPr>
            <a:xfrm>
              <a:off x="4714876" y="3332977"/>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5" name="TextBox 64"/>
            <p:cNvSpPr txBox="1"/>
            <p:nvPr/>
          </p:nvSpPr>
          <p:spPr>
            <a:xfrm>
              <a:off x="4500562" y="3794943"/>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6</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6" name="TextBox 65"/>
            <p:cNvSpPr txBox="1"/>
            <p:nvPr/>
          </p:nvSpPr>
          <p:spPr>
            <a:xfrm>
              <a:off x="4572000" y="4286256"/>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3</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7" name="TextBox 66"/>
            <p:cNvSpPr txBox="1"/>
            <p:nvPr/>
          </p:nvSpPr>
          <p:spPr>
            <a:xfrm>
              <a:off x="4441824" y="4866513"/>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3</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8" name="TextBox 67"/>
            <p:cNvSpPr txBox="1"/>
            <p:nvPr/>
          </p:nvSpPr>
          <p:spPr>
            <a:xfrm>
              <a:off x="4760914" y="5454664"/>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3</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9" name="TextBox 68"/>
            <p:cNvSpPr txBox="1"/>
            <p:nvPr/>
          </p:nvSpPr>
          <p:spPr>
            <a:xfrm>
              <a:off x="6143636" y="4559308"/>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70" name="TextBox 69"/>
            <p:cNvSpPr txBox="1"/>
            <p:nvPr/>
          </p:nvSpPr>
          <p:spPr>
            <a:xfrm>
              <a:off x="6215074" y="3500438"/>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3</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71" name="TextBox 70"/>
            <p:cNvSpPr txBox="1"/>
            <p:nvPr/>
          </p:nvSpPr>
          <p:spPr>
            <a:xfrm>
              <a:off x="3000364" y="4357694"/>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cxnSp>
          <p:nvCxnSpPr>
            <p:cNvPr id="73" name="直接箭头连接符 72"/>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75" name="TextBox 74"/>
            <p:cNvSpPr txBox="1"/>
            <p:nvPr/>
          </p:nvSpPr>
          <p:spPr>
            <a:xfrm>
              <a:off x="3149588" y="5214950"/>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5" name="矩形 4"/>
          <p:cNvSpPr/>
          <p:nvPr/>
        </p:nvSpPr>
        <p:spPr>
          <a:xfrm>
            <a:off x="879475" y="1194619"/>
            <a:ext cx="8017769" cy="1231106"/>
          </a:xfrm>
          <a:prstGeom prst="rect">
            <a:avLst/>
          </a:prstGeom>
        </p:spPr>
        <p:txBody>
          <a:bodyPr wrap="square">
            <a:spAutoFit/>
          </a:bodyPr>
          <a:lstStyle/>
          <a:p>
            <a:r>
              <a:rPr lang="en-US" altLang="zh-CN" sz="2000" dirty="0">
                <a:solidFill>
                  <a:srgbClr val="FF0000"/>
                </a:solidFill>
                <a:latin typeface="Consolas" panose="020B0609020204030204" pitchFamily="49" charset="0"/>
                <a:ea typeface="微软雅黑" panose="020B0503020204020204" charset="-122"/>
                <a:cs typeface="Consolas" panose="020B0609020204030204" pitchFamily="49" charset="0"/>
              </a:rPr>
              <a:t> </a:t>
            </a:r>
            <a:r>
              <a:rPr lang="zh-CN" altLang="en-US" sz="2000" dirty="0">
                <a:solidFill>
                  <a:srgbClr val="FF0000"/>
                </a:solidFill>
                <a:latin typeface="Consolas" panose="020B0609020204030204" pitchFamily="49" charset="0"/>
                <a:ea typeface="微软雅黑" panose="020B0503020204020204" charset="-122"/>
                <a:cs typeface="Consolas" panose="020B0609020204030204" pitchFamily="49" charset="0"/>
              </a:rPr>
              <a:t>多段图问题</a:t>
            </a:r>
            <a:r>
              <a:rPr lang="zh-CN" altLang="zh-CN" sz="2000" dirty="0">
                <a:solidFill>
                  <a:srgbClr val="FF0000"/>
                </a:solidFill>
                <a:latin typeface="Consolas" panose="020B0609020204030204" pitchFamily="49" charset="0"/>
                <a:ea typeface="微软雅黑" panose="020B0503020204020204" charset="-122"/>
                <a:cs typeface="Consolas" panose="020B0609020204030204" pitchFamily="49" charset="0"/>
              </a:rPr>
              <a:t>示例</a:t>
            </a:r>
            <a:r>
              <a:rPr lang="zh-CN" altLang="en-US" sz="2000" dirty="0">
                <a:solidFill>
                  <a:srgbClr val="FF0000"/>
                </a:solidFill>
                <a:latin typeface="Consolas" panose="020B0609020204030204" pitchFamily="49" charset="0"/>
                <a:ea typeface="微软雅黑" panose="020B0503020204020204"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在</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处有一水库</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现需要从</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点铺设一条管道到</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点</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边上的数字表示与其相连的两个地点之间所需修建的管道长度</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用</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数组表示</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例如</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baseline="-25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。现要找出一条</a:t>
            </a:r>
            <a:r>
              <a:rPr lang="zh-CN" altLang="zh-CN" dirty="0">
                <a:solidFill>
                  <a:srgbClr val="9900FF"/>
                </a:solidFill>
                <a:latin typeface="Consolas" panose="020B0609020204030204" pitchFamily="49" charset="0"/>
                <a:ea typeface="楷体" panose="02010609060101010101" pitchFamily="49" charset="-122"/>
                <a:cs typeface="Consolas" panose="020B0609020204030204" pitchFamily="49" charset="0"/>
              </a:rPr>
              <a:t>从</a:t>
            </a:r>
            <a:r>
              <a:rPr lang="en-US" altLang="zh-CN" i="1" dirty="0">
                <a:solidFill>
                  <a:srgbClr val="9900FF"/>
                </a:solidFill>
                <a:latin typeface="Consolas" panose="020B0609020204030204" pitchFamily="49" charset="0"/>
                <a:ea typeface="楷体" panose="02010609060101010101" pitchFamily="49" charset="-122"/>
                <a:cs typeface="Consolas" panose="020B0609020204030204" pitchFamily="49" charset="0"/>
              </a:rPr>
              <a:t>A</a:t>
            </a:r>
            <a:r>
              <a:rPr lang="zh-CN" altLang="zh-CN" dirty="0">
                <a:solidFill>
                  <a:srgbClr val="9900FF"/>
                </a:solidFill>
                <a:latin typeface="Consolas" panose="020B0609020204030204" pitchFamily="49" charset="0"/>
                <a:ea typeface="楷体" panose="02010609060101010101" pitchFamily="49" charset="-122"/>
                <a:cs typeface="Consolas" panose="020B0609020204030204" pitchFamily="49" charset="0"/>
              </a:rPr>
              <a:t>到</a:t>
            </a:r>
            <a:r>
              <a:rPr lang="en-US" altLang="zh-CN" i="1" dirty="0">
                <a:solidFill>
                  <a:srgbClr val="9900FF"/>
                </a:solidFill>
                <a:latin typeface="Consolas" panose="020B0609020204030204" pitchFamily="49" charset="0"/>
                <a:ea typeface="楷体" panose="02010609060101010101" pitchFamily="49" charset="-122"/>
                <a:cs typeface="Consolas" panose="020B0609020204030204" pitchFamily="49" charset="0"/>
              </a:rPr>
              <a:t>E</a:t>
            </a:r>
            <a:r>
              <a:rPr lang="zh-CN" altLang="zh-CN" dirty="0">
                <a:solidFill>
                  <a:srgbClr val="9900FF"/>
                </a:solidFill>
                <a:latin typeface="Consolas" panose="020B0609020204030204" pitchFamily="49" charset="0"/>
                <a:ea typeface="楷体" panose="02010609060101010101" pitchFamily="49" charset="-122"/>
                <a:cs typeface="Consolas" panose="020B0609020204030204" pitchFamily="49" charset="0"/>
              </a:rPr>
              <a:t>的修建线路</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使得所需修建的管道长度最短。</a:t>
            </a:r>
            <a:endParaRPr lang="zh-CN" altLang="en-US" dirty="0"/>
          </a:p>
        </p:txBody>
      </p:sp>
      <p:sp>
        <p:nvSpPr>
          <p:cNvPr id="2" name="Rectangle 2">
            <a:extLst>
              <a:ext uri="{FF2B5EF4-FFF2-40B4-BE49-F238E27FC236}">
                <a16:creationId xmlns:a16="http://schemas.microsoft.com/office/drawing/2014/main" id="{1A25FA3B-5D68-776D-74F1-62C89F4FBB72}"/>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endParaRPr lang="en-US" altLang="zh-CN" b="0" kern="0" dirty="0">
              <a:latin typeface="+mj-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701370" y="405001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cs typeface="Consolas" panose="020B0609020204030204" pitchFamily="49" charset="0"/>
              </a:rPr>
              <a:t>A</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4" name="椭圆 3"/>
          <p:cNvSpPr/>
          <p:nvPr/>
        </p:nvSpPr>
        <p:spPr>
          <a:xfrm>
            <a:off x="3130130" y="283556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B</a:t>
            </a:r>
            <a:r>
              <a:rPr lang="en-US" altLang="zh-CN" sz="2000" baseline="-25000">
                <a:solidFill>
                  <a:srgbClr val="0000FF"/>
                </a:solidFill>
                <a:latin typeface="Consolas" panose="020B0609020204030204" pitchFamily="49" charset="0"/>
                <a:cs typeface="Consolas" panose="020B0609020204030204" pitchFamily="49" charset="0"/>
              </a:rPr>
              <a:t>1</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7" name="椭圆 6"/>
          <p:cNvSpPr/>
          <p:nvPr/>
        </p:nvSpPr>
        <p:spPr>
          <a:xfrm>
            <a:off x="3130130" y="405001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B</a:t>
            </a:r>
            <a:r>
              <a:rPr lang="en-US" altLang="zh-CN" sz="2000" baseline="-25000">
                <a:solidFill>
                  <a:srgbClr val="0000FF"/>
                </a:solidFill>
                <a:latin typeface="Consolas" panose="020B0609020204030204" pitchFamily="49" charset="0"/>
                <a:cs typeface="Consolas" panose="020B0609020204030204" pitchFamily="49" charset="0"/>
              </a:rPr>
              <a:t>2</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3130130" y="526445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B</a:t>
            </a:r>
            <a:r>
              <a:rPr lang="en-US" altLang="zh-CN" sz="2000" baseline="-25000">
                <a:solidFill>
                  <a:srgbClr val="0000FF"/>
                </a:solidFill>
                <a:latin typeface="Consolas" panose="020B0609020204030204" pitchFamily="49" charset="0"/>
                <a:cs typeface="Consolas" panose="020B0609020204030204" pitchFamily="49" charset="0"/>
              </a:rPr>
              <a:t>3</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4773204" y="283556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C</a:t>
            </a:r>
            <a:r>
              <a:rPr lang="en-US" altLang="zh-CN" sz="2000" baseline="-25000">
                <a:solidFill>
                  <a:srgbClr val="0000FF"/>
                </a:solidFill>
                <a:latin typeface="Consolas" panose="020B0609020204030204" pitchFamily="49" charset="0"/>
                <a:cs typeface="Consolas" panose="020B0609020204030204" pitchFamily="49" charset="0"/>
              </a:rPr>
              <a:t>1</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4773204" y="405001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C</a:t>
            </a:r>
            <a:r>
              <a:rPr lang="en-US" altLang="zh-CN" sz="2000" baseline="-25000">
                <a:solidFill>
                  <a:srgbClr val="0000FF"/>
                </a:solidFill>
                <a:latin typeface="Consolas" panose="020B0609020204030204" pitchFamily="49" charset="0"/>
                <a:cs typeface="Consolas" panose="020B0609020204030204" pitchFamily="49" charset="0"/>
              </a:rPr>
              <a:t>2</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4773204" y="526445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C</a:t>
            </a:r>
            <a:r>
              <a:rPr lang="en-US" altLang="zh-CN" sz="2000" baseline="-25000">
                <a:solidFill>
                  <a:srgbClr val="0000FF"/>
                </a:solidFill>
                <a:latin typeface="Consolas" panose="020B0609020204030204" pitchFamily="49" charset="0"/>
                <a:cs typeface="Consolas" panose="020B0609020204030204" pitchFamily="49" charset="0"/>
              </a:rPr>
              <a:t>3</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2" name="椭圆 11"/>
          <p:cNvSpPr/>
          <p:nvPr/>
        </p:nvSpPr>
        <p:spPr>
          <a:xfrm>
            <a:off x="6273402" y="347850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D</a:t>
            </a:r>
            <a:r>
              <a:rPr lang="en-US" altLang="zh-CN" sz="2000" baseline="-25000">
                <a:solidFill>
                  <a:srgbClr val="0000FF"/>
                </a:solidFill>
                <a:latin typeface="Consolas" panose="020B0609020204030204" pitchFamily="49" charset="0"/>
                <a:cs typeface="Consolas" panose="020B0609020204030204" pitchFamily="49" charset="0"/>
              </a:rPr>
              <a:t>1</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3" name="椭圆 12"/>
          <p:cNvSpPr/>
          <p:nvPr/>
        </p:nvSpPr>
        <p:spPr>
          <a:xfrm>
            <a:off x="6273402" y="469295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D</a:t>
            </a:r>
            <a:r>
              <a:rPr lang="en-US" altLang="zh-CN" sz="2000" baseline="-25000">
                <a:solidFill>
                  <a:srgbClr val="0000FF"/>
                </a:solidFill>
                <a:latin typeface="Consolas" panose="020B0609020204030204" pitchFamily="49" charset="0"/>
                <a:cs typeface="Consolas" panose="020B0609020204030204" pitchFamily="49" charset="0"/>
              </a:rPr>
              <a:t>2</a:t>
            </a:r>
            <a:endParaRPr lang="zh-CN" altLang="en-US" sz="2000" baseline="-25000">
              <a:solidFill>
                <a:srgbClr val="0000FF"/>
              </a:solidFill>
              <a:latin typeface="Consolas" panose="020B0609020204030204" pitchFamily="49" charset="0"/>
              <a:cs typeface="Consolas" panose="020B0609020204030204" pitchFamily="49" charset="0"/>
            </a:endParaRPr>
          </a:p>
        </p:txBody>
      </p:sp>
      <p:sp>
        <p:nvSpPr>
          <p:cNvPr id="14" name="椭圆 13"/>
          <p:cNvSpPr/>
          <p:nvPr/>
        </p:nvSpPr>
        <p:spPr>
          <a:xfrm>
            <a:off x="7630724" y="405001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E</a:t>
            </a:r>
            <a:endParaRPr lang="zh-CN" altLang="en-US" sz="2000" baseline="-25000">
              <a:solidFill>
                <a:srgbClr val="0000FF"/>
              </a:solidFill>
              <a:latin typeface="Consolas" panose="020B0609020204030204" pitchFamily="49" charset="0"/>
              <a:cs typeface="Consolas" panose="020B0609020204030204" pitchFamily="49" charset="0"/>
            </a:endParaRPr>
          </a:p>
        </p:txBody>
      </p:sp>
      <p:cxnSp>
        <p:nvCxnSpPr>
          <p:cNvPr id="16" name="直接箭头连接符 15"/>
          <p:cNvCxnSpPr>
            <a:stCxn id="3" idx="7"/>
            <a:endCxn id="4" idx="2"/>
          </p:cNvCxnSpPr>
          <p:nvPr/>
        </p:nvCxnSpPr>
        <p:spPr>
          <a:xfrm rot="5400000" flipH="1" flipV="1">
            <a:off x="2079855" y="307297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2558626" y="3192756"/>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cxnSp>
        <p:nvCxnSpPr>
          <p:cNvPr id="19" name="直接箭头连接符 18"/>
          <p:cNvCxnSpPr>
            <a:stCxn id="3" idx="6"/>
            <a:endCxn id="7" idx="2"/>
          </p:cNvCxnSpPr>
          <p:nvPr/>
        </p:nvCxnSpPr>
        <p:spPr>
          <a:xfrm>
            <a:off x="2129998" y="430004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3" idx="5"/>
            <a:endCxn id="8" idx="2"/>
          </p:cNvCxnSpPr>
          <p:nvPr/>
        </p:nvCxnSpPr>
        <p:spPr>
          <a:xfrm rot="16200000" flipH="1">
            <a:off x="2079855" y="446421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4" idx="6"/>
            <a:endCxn id="9" idx="2"/>
          </p:cNvCxnSpPr>
          <p:nvPr/>
        </p:nvCxnSpPr>
        <p:spPr>
          <a:xfrm>
            <a:off x="3558758" y="308559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4" idx="5"/>
            <a:endCxn id="10" idx="1"/>
          </p:cNvCxnSpPr>
          <p:nvPr/>
        </p:nvCxnSpPr>
        <p:spPr>
          <a:xfrm rot="16200000" flipH="1">
            <a:off x="3735558" y="302282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7" idx="6"/>
            <a:endCxn id="10" idx="2"/>
          </p:cNvCxnSpPr>
          <p:nvPr/>
        </p:nvCxnSpPr>
        <p:spPr>
          <a:xfrm>
            <a:off x="3558758" y="430004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7" idx="7"/>
            <a:endCxn id="9" idx="3"/>
          </p:cNvCxnSpPr>
          <p:nvPr/>
        </p:nvCxnSpPr>
        <p:spPr>
          <a:xfrm rot="5400000" flipH="1" flipV="1">
            <a:off x="3735558" y="302282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7" idx="5"/>
            <a:endCxn id="11" idx="1"/>
          </p:cNvCxnSpPr>
          <p:nvPr/>
        </p:nvCxnSpPr>
        <p:spPr>
          <a:xfrm rot="16200000" flipH="1">
            <a:off x="3735558" y="423727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4" name="直接箭头连接符 33"/>
          <p:cNvCxnSpPr>
            <a:endCxn id="10" idx="3"/>
          </p:cNvCxnSpPr>
          <p:nvPr/>
        </p:nvCxnSpPr>
        <p:spPr>
          <a:xfrm flipV="1">
            <a:off x="3495987" y="447684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8" idx="6"/>
            <a:endCxn id="11" idx="2"/>
          </p:cNvCxnSpPr>
          <p:nvPr/>
        </p:nvCxnSpPr>
        <p:spPr>
          <a:xfrm>
            <a:off x="3558758" y="551449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8" name="直接箭头连接符 37"/>
          <p:cNvCxnSpPr>
            <a:stCxn id="9" idx="6"/>
            <a:endCxn id="12" idx="1"/>
          </p:cNvCxnSpPr>
          <p:nvPr/>
        </p:nvCxnSpPr>
        <p:spPr>
          <a:xfrm>
            <a:off x="5201832" y="308559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40" name="直接箭头连接符 39"/>
          <p:cNvCxnSpPr>
            <a:stCxn id="9" idx="5"/>
            <a:endCxn id="13" idx="1"/>
          </p:cNvCxnSpPr>
          <p:nvPr/>
        </p:nvCxnSpPr>
        <p:spPr>
          <a:xfrm rot="16200000" flipH="1">
            <a:off x="4985723" y="341573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3" name="直接箭头连接符 42"/>
          <p:cNvCxnSpPr>
            <a:stCxn id="10" idx="7"/>
            <a:endCxn id="12" idx="2"/>
          </p:cNvCxnSpPr>
          <p:nvPr/>
        </p:nvCxnSpPr>
        <p:spPr>
          <a:xfrm rot="5400000" flipH="1" flipV="1">
            <a:off x="5508879" y="335872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5" name="直接箭头连接符 44"/>
          <p:cNvCxnSpPr>
            <a:stCxn id="10" idx="5"/>
            <a:endCxn id="13" idx="2"/>
          </p:cNvCxnSpPr>
          <p:nvPr/>
        </p:nvCxnSpPr>
        <p:spPr>
          <a:xfrm rot="16200000" flipH="1">
            <a:off x="5473160" y="414274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47" name="直接箭头连接符 46"/>
          <p:cNvCxnSpPr>
            <a:stCxn id="11" idx="6"/>
            <a:endCxn id="13" idx="3"/>
          </p:cNvCxnSpPr>
          <p:nvPr/>
        </p:nvCxnSpPr>
        <p:spPr>
          <a:xfrm flipV="1">
            <a:off x="5201832" y="511978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49" name="直接箭头连接符 48"/>
          <p:cNvCxnSpPr>
            <a:stCxn id="11" idx="7"/>
            <a:endCxn id="12" idx="3"/>
          </p:cNvCxnSpPr>
          <p:nvPr/>
        </p:nvCxnSpPr>
        <p:spPr>
          <a:xfrm rot="5400000" flipH="1" flipV="1">
            <a:off x="5021442" y="402296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2" name="直接箭头连接符 51"/>
          <p:cNvCxnSpPr>
            <a:stCxn id="12" idx="6"/>
            <a:endCxn id="14" idx="1"/>
          </p:cNvCxnSpPr>
          <p:nvPr/>
        </p:nvCxnSpPr>
        <p:spPr>
          <a:xfrm>
            <a:off x="6702030" y="372854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4" name="直接箭头连接符 53"/>
          <p:cNvCxnSpPr>
            <a:stCxn id="13" idx="6"/>
            <a:endCxn id="14" idx="3"/>
          </p:cNvCxnSpPr>
          <p:nvPr/>
        </p:nvCxnSpPr>
        <p:spPr>
          <a:xfrm flipV="1">
            <a:off x="6702030" y="447684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5" name="TextBox 54"/>
          <p:cNvSpPr txBox="1"/>
          <p:nvPr/>
        </p:nvSpPr>
        <p:spPr>
          <a:xfrm>
            <a:off x="2568150" y="3978574"/>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56" name="TextBox 55"/>
          <p:cNvSpPr txBox="1"/>
          <p:nvPr/>
        </p:nvSpPr>
        <p:spPr>
          <a:xfrm>
            <a:off x="2630064" y="4764392"/>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3</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57" name="TextBox 56"/>
          <p:cNvSpPr txBox="1"/>
          <p:nvPr/>
        </p:nvSpPr>
        <p:spPr>
          <a:xfrm>
            <a:off x="3630196" y="2764128"/>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7</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58" name="TextBox 57"/>
          <p:cNvSpPr txBox="1"/>
          <p:nvPr/>
        </p:nvSpPr>
        <p:spPr>
          <a:xfrm>
            <a:off x="3655596" y="3117371"/>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59" name="TextBox 58"/>
          <p:cNvSpPr txBox="1"/>
          <p:nvPr/>
        </p:nvSpPr>
        <p:spPr>
          <a:xfrm>
            <a:off x="3609558" y="3718222"/>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3</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0" name="TextBox 59"/>
          <p:cNvSpPr txBox="1"/>
          <p:nvPr/>
        </p:nvSpPr>
        <p:spPr>
          <a:xfrm>
            <a:off x="3701634" y="4016674"/>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1" name="TextBox 60"/>
          <p:cNvSpPr txBox="1"/>
          <p:nvPr/>
        </p:nvSpPr>
        <p:spPr>
          <a:xfrm>
            <a:off x="3546058" y="4919968"/>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6</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2" name="TextBox 61"/>
          <p:cNvSpPr txBox="1"/>
          <p:nvPr/>
        </p:nvSpPr>
        <p:spPr>
          <a:xfrm>
            <a:off x="3698458" y="5558963"/>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5</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3" name="TextBox 62"/>
          <p:cNvSpPr txBox="1"/>
          <p:nvPr/>
        </p:nvSpPr>
        <p:spPr>
          <a:xfrm>
            <a:off x="5487584" y="2907004"/>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3</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4" name="TextBox 63"/>
          <p:cNvSpPr txBox="1"/>
          <p:nvPr/>
        </p:nvSpPr>
        <p:spPr>
          <a:xfrm>
            <a:off x="5416146" y="3311047"/>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5" name="TextBox 64"/>
          <p:cNvSpPr txBox="1"/>
          <p:nvPr/>
        </p:nvSpPr>
        <p:spPr>
          <a:xfrm>
            <a:off x="5201832" y="3773013"/>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6</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6" name="TextBox 65"/>
          <p:cNvSpPr txBox="1"/>
          <p:nvPr/>
        </p:nvSpPr>
        <p:spPr>
          <a:xfrm>
            <a:off x="5273270" y="4264326"/>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3</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7" name="TextBox 66"/>
          <p:cNvSpPr txBox="1"/>
          <p:nvPr/>
        </p:nvSpPr>
        <p:spPr>
          <a:xfrm>
            <a:off x="5143094" y="4844583"/>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3</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68" name="TextBox 67"/>
          <p:cNvSpPr txBox="1"/>
          <p:nvPr/>
        </p:nvSpPr>
        <p:spPr>
          <a:xfrm>
            <a:off x="5462184" y="5432734"/>
            <a:ext cx="214314" cy="276999"/>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3</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69" name="TextBox 68"/>
          <p:cNvSpPr txBox="1"/>
          <p:nvPr/>
        </p:nvSpPr>
        <p:spPr>
          <a:xfrm>
            <a:off x="6987782" y="4478640"/>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70" name="TextBox 69"/>
          <p:cNvSpPr txBox="1"/>
          <p:nvPr/>
        </p:nvSpPr>
        <p:spPr>
          <a:xfrm>
            <a:off x="7059220" y="3558699"/>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3</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71" name="TextBox 70"/>
          <p:cNvSpPr txBox="1"/>
          <p:nvPr/>
        </p:nvSpPr>
        <p:spPr>
          <a:xfrm>
            <a:off x="3701634" y="4335764"/>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4</a:t>
            </a:r>
            <a:endParaRPr lang="zh-CN" altLang="en-US" sz="1800">
              <a:solidFill>
                <a:srgbClr val="0000FF"/>
              </a:solidFill>
              <a:latin typeface="Consolas" panose="020B0609020204030204" pitchFamily="49" charset="0"/>
              <a:cs typeface="Consolas" panose="020B0609020204030204" pitchFamily="49" charset="0"/>
            </a:endParaRPr>
          </a:p>
        </p:txBody>
      </p:sp>
      <p:cxnSp>
        <p:nvCxnSpPr>
          <p:cNvPr id="73" name="直接箭头连接符 72"/>
          <p:cNvCxnSpPr>
            <a:stCxn id="8" idx="7"/>
            <a:endCxn id="9" idx="4"/>
          </p:cNvCxnSpPr>
          <p:nvPr/>
        </p:nvCxnSpPr>
        <p:spPr>
          <a:xfrm rot="5400000" flipH="1" flipV="1">
            <a:off x="3240723" y="359089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75" name="TextBox 74"/>
          <p:cNvSpPr txBox="1"/>
          <p:nvPr/>
        </p:nvSpPr>
        <p:spPr>
          <a:xfrm>
            <a:off x="3987386" y="5130335"/>
            <a:ext cx="214314" cy="276999"/>
          </a:xfrm>
          <a:prstGeom prst="rect">
            <a:avLst/>
          </a:prstGeom>
          <a:noFill/>
        </p:spPr>
        <p:txBody>
          <a:bodyPr wrap="square" lIns="0" tIns="0" rIns="0" bIns="0" rtlCol="0">
            <a:spAutoFit/>
          </a:bodyPr>
          <a:lstStyle/>
          <a:p>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grpSp>
        <p:nvGrpSpPr>
          <p:cNvPr id="74" name="组合 73"/>
          <p:cNvGrpSpPr/>
          <p:nvPr/>
        </p:nvGrpSpPr>
        <p:grpSpPr>
          <a:xfrm>
            <a:off x="1487056" y="2140432"/>
            <a:ext cx="928694" cy="3909844"/>
            <a:chOff x="785786" y="2090924"/>
            <a:chExt cx="928694" cy="3909844"/>
          </a:xfrm>
        </p:grpSpPr>
        <p:sp>
          <p:nvSpPr>
            <p:cNvPr id="53" name="圆角矩形 52"/>
            <p:cNvSpPr/>
            <p:nvPr/>
          </p:nvSpPr>
          <p:spPr>
            <a:xfrm>
              <a:off x="785786"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72" name="TextBox 71"/>
            <p:cNvSpPr txBox="1"/>
            <p:nvPr/>
          </p:nvSpPr>
          <p:spPr>
            <a:xfrm>
              <a:off x="959504" y="2090924"/>
              <a:ext cx="642942" cy="369332"/>
            </a:xfrm>
            <a:prstGeom prst="rect">
              <a:avLst/>
            </a:prstGeom>
            <a:noFill/>
          </p:spPr>
          <p:txBody>
            <a:bodyPr wrap="square" rtlCol="0">
              <a:spAutoFit/>
            </a:bodyPr>
            <a:lstStyle/>
            <a:p>
              <a:r>
                <a:rPr lang="en-US" altLang="zh-CN" sz="1800" i="1" dirty="0">
                  <a:solidFill>
                    <a:srgbClr val="0000FF"/>
                  </a:solidFill>
                  <a:latin typeface="Consolas" panose="020B0609020204030204" pitchFamily="49" charset="0"/>
                  <a:cs typeface="Consolas" panose="020B0609020204030204" pitchFamily="49" charset="0"/>
                </a:rPr>
                <a:t>k</a:t>
              </a:r>
              <a:r>
                <a:rPr lang="en-US" altLang="zh-CN" sz="1800" dirty="0">
                  <a:solidFill>
                    <a:srgbClr val="0000FF"/>
                  </a:solidFill>
                  <a:latin typeface="Consolas" panose="020B0609020204030204" pitchFamily="49" charset="0"/>
                  <a:cs typeface="Consolas" panose="020B0609020204030204" pitchFamily="49" charset="0"/>
                </a:rPr>
                <a:t>=1</a:t>
              </a:r>
              <a:endParaRPr lang="zh-CN" altLang="en-US" sz="1800" dirty="0">
                <a:solidFill>
                  <a:srgbClr val="0000FF"/>
                </a:solidFill>
                <a:latin typeface="Consolas" panose="020B0609020204030204" pitchFamily="49" charset="0"/>
                <a:cs typeface="Consolas" panose="020B0609020204030204" pitchFamily="49" charset="0"/>
              </a:endParaRPr>
            </a:p>
          </p:txBody>
        </p:sp>
      </p:grpSp>
      <p:grpSp>
        <p:nvGrpSpPr>
          <p:cNvPr id="78" name="组合 77"/>
          <p:cNvGrpSpPr/>
          <p:nvPr/>
        </p:nvGrpSpPr>
        <p:grpSpPr>
          <a:xfrm>
            <a:off x="2915816" y="2132856"/>
            <a:ext cx="928694" cy="3917420"/>
            <a:chOff x="500034" y="2083348"/>
            <a:chExt cx="928694" cy="3917420"/>
          </a:xfrm>
        </p:grpSpPr>
        <p:sp>
          <p:nvSpPr>
            <p:cNvPr id="79" name="圆角矩形 78"/>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80" name="TextBox 79"/>
            <p:cNvSpPr txBox="1"/>
            <p:nvPr/>
          </p:nvSpPr>
          <p:spPr>
            <a:xfrm>
              <a:off x="678629" y="2083348"/>
              <a:ext cx="642942" cy="369332"/>
            </a:xfrm>
            <a:prstGeom prst="rect">
              <a:avLst/>
            </a:prstGeom>
            <a:noFill/>
          </p:spPr>
          <p:txBody>
            <a:bodyPr wrap="square" rtlCol="0">
              <a:spAutoFit/>
            </a:bodyPr>
            <a:lstStyle/>
            <a:p>
              <a:r>
                <a:rPr lang="en-US" altLang="zh-CN" sz="1800" i="1" dirty="0">
                  <a:solidFill>
                    <a:srgbClr val="0000FF"/>
                  </a:solidFill>
                  <a:latin typeface="Consolas" panose="020B0609020204030204" pitchFamily="49" charset="0"/>
                  <a:cs typeface="Consolas" panose="020B0609020204030204" pitchFamily="49" charset="0"/>
                </a:rPr>
                <a:t>k</a:t>
              </a:r>
              <a:r>
                <a:rPr lang="en-US" altLang="zh-CN" sz="1800" dirty="0">
                  <a:solidFill>
                    <a:srgbClr val="0000FF"/>
                  </a:solidFill>
                  <a:latin typeface="Consolas" panose="020B0609020204030204" pitchFamily="49" charset="0"/>
                  <a:cs typeface="Consolas" panose="020B0609020204030204" pitchFamily="49" charset="0"/>
                </a:rPr>
                <a:t>=2</a:t>
              </a:r>
              <a:endParaRPr lang="zh-CN" altLang="en-US" sz="1800" dirty="0">
                <a:solidFill>
                  <a:srgbClr val="0000FF"/>
                </a:solidFill>
                <a:latin typeface="Consolas" panose="020B0609020204030204" pitchFamily="49" charset="0"/>
                <a:cs typeface="Consolas" panose="020B0609020204030204" pitchFamily="49" charset="0"/>
              </a:endParaRPr>
            </a:p>
          </p:txBody>
        </p:sp>
      </p:grpSp>
      <p:grpSp>
        <p:nvGrpSpPr>
          <p:cNvPr id="81" name="组合 80"/>
          <p:cNvGrpSpPr/>
          <p:nvPr/>
        </p:nvGrpSpPr>
        <p:grpSpPr>
          <a:xfrm>
            <a:off x="4487452" y="2146889"/>
            <a:ext cx="928694" cy="3903387"/>
            <a:chOff x="500034" y="2097381"/>
            <a:chExt cx="928694" cy="3903387"/>
          </a:xfrm>
        </p:grpSpPr>
        <p:sp>
          <p:nvSpPr>
            <p:cNvPr id="82" name="圆角矩形 81"/>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83" name="TextBox 82"/>
            <p:cNvSpPr txBox="1"/>
            <p:nvPr/>
          </p:nvSpPr>
          <p:spPr>
            <a:xfrm>
              <a:off x="709471" y="2097381"/>
              <a:ext cx="642942" cy="369332"/>
            </a:xfrm>
            <a:prstGeom prst="rect">
              <a:avLst/>
            </a:prstGeom>
            <a:noFill/>
          </p:spPr>
          <p:txBody>
            <a:bodyPr wrap="square" rtlCol="0">
              <a:spAutoFit/>
            </a:bodyPr>
            <a:lstStyle/>
            <a:p>
              <a:r>
                <a:rPr lang="en-US" altLang="zh-CN" sz="1800" i="1" dirty="0">
                  <a:solidFill>
                    <a:srgbClr val="0000FF"/>
                  </a:solidFill>
                  <a:latin typeface="Consolas" panose="020B0609020204030204" pitchFamily="49" charset="0"/>
                  <a:cs typeface="Consolas" panose="020B0609020204030204" pitchFamily="49" charset="0"/>
                </a:rPr>
                <a:t>k</a:t>
              </a:r>
              <a:r>
                <a:rPr lang="en-US" altLang="zh-CN" sz="1800" dirty="0">
                  <a:solidFill>
                    <a:srgbClr val="0000FF"/>
                  </a:solidFill>
                  <a:latin typeface="Consolas" panose="020B0609020204030204" pitchFamily="49" charset="0"/>
                  <a:cs typeface="Consolas" panose="020B0609020204030204" pitchFamily="49" charset="0"/>
                </a:rPr>
                <a:t>=3</a:t>
              </a:r>
              <a:endParaRPr lang="zh-CN" altLang="en-US" sz="1800" dirty="0">
                <a:solidFill>
                  <a:srgbClr val="0000FF"/>
                </a:solidFill>
                <a:latin typeface="Consolas" panose="020B0609020204030204" pitchFamily="49" charset="0"/>
                <a:cs typeface="Consolas" panose="020B0609020204030204" pitchFamily="49" charset="0"/>
              </a:endParaRPr>
            </a:p>
          </p:txBody>
        </p:sp>
      </p:grpSp>
      <p:grpSp>
        <p:nvGrpSpPr>
          <p:cNvPr id="84" name="组合 83"/>
          <p:cNvGrpSpPr/>
          <p:nvPr/>
        </p:nvGrpSpPr>
        <p:grpSpPr>
          <a:xfrm>
            <a:off x="5916212" y="2147995"/>
            <a:ext cx="928694" cy="3902281"/>
            <a:chOff x="500034" y="2098487"/>
            <a:chExt cx="928694" cy="3902281"/>
          </a:xfrm>
        </p:grpSpPr>
        <p:sp>
          <p:nvSpPr>
            <p:cNvPr id="85" name="圆角矩形 84"/>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86" name="TextBox 85"/>
            <p:cNvSpPr txBox="1"/>
            <p:nvPr/>
          </p:nvSpPr>
          <p:spPr>
            <a:xfrm>
              <a:off x="680089" y="2098487"/>
              <a:ext cx="642942" cy="369332"/>
            </a:xfrm>
            <a:prstGeom prst="rect">
              <a:avLst/>
            </a:prstGeom>
            <a:noFill/>
          </p:spPr>
          <p:txBody>
            <a:bodyPr wrap="square" rtlCol="0">
              <a:spAutoFit/>
            </a:bodyPr>
            <a:lstStyle/>
            <a:p>
              <a:r>
                <a:rPr lang="en-US" altLang="zh-CN" sz="1800" i="1" dirty="0">
                  <a:solidFill>
                    <a:srgbClr val="0000FF"/>
                  </a:solidFill>
                  <a:latin typeface="Consolas" panose="020B0609020204030204" pitchFamily="49" charset="0"/>
                  <a:cs typeface="Consolas" panose="020B0609020204030204" pitchFamily="49" charset="0"/>
                </a:rPr>
                <a:t>k</a:t>
              </a:r>
              <a:r>
                <a:rPr lang="en-US" altLang="zh-CN" sz="1800" dirty="0">
                  <a:solidFill>
                    <a:srgbClr val="0000FF"/>
                  </a:solidFill>
                  <a:latin typeface="Consolas" panose="020B0609020204030204" pitchFamily="49" charset="0"/>
                  <a:cs typeface="Consolas" panose="020B0609020204030204" pitchFamily="49" charset="0"/>
                </a:rPr>
                <a:t>=4</a:t>
              </a:r>
              <a:endParaRPr lang="zh-CN" altLang="en-US" sz="1800" dirty="0">
                <a:solidFill>
                  <a:srgbClr val="0000FF"/>
                </a:solidFill>
                <a:latin typeface="Consolas" panose="020B0609020204030204" pitchFamily="49" charset="0"/>
                <a:cs typeface="Consolas" panose="020B0609020204030204" pitchFamily="49" charset="0"/>
              </a:endParaRPr>
            </a:p>
          </p:txBody>
        </p:sp>
      </p:grpSp>
      <p:grpSp>
        <p:nvGrpSpPr>
          <p:cNvPr id="87" name="组合 86"/>
          <p:cNvGrpSpPr/>
          <p:nvPr/>
        </p:nvGrpSpPr>
        <p:grpSpPr>
          <a:xfrm>
            <a:off x="7344972" y="2166763"/>
            <a:ext cx="928694" cy="3883513"/>
            <a:chOff x="500034" y="2117255"/>
            <a:chExt cx="928694" cy="3883513"/>
          </a:xfrm>
        </p:grpSpPr>
        <p:sp>
          <p:nvSpPr>
            <p:cNvPr id="88" name="圆角矩形 87"/>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89" name="TextBox 88"/>
            <p:cNvSpPr txBox="1"/>
            <p:nvPr/>
          </p:nvSpPr>
          <p:spPr>
            <a:xfrm>
              <a:off x="693589" y="2117255"/>
              <a:ext cx="642942" cy="369332"/>
            </a:xfrm>
            <a:prstGeom prst="rect">
              <a:avLst/>
            </a:prstGeom>
            <a:noFill/>
          </p:spPr>
          <p:txBody>
            <a:bodyPr wrap="square" rtlCol="0">
              <a:spAutoFit/>
            </a:bodyPr>
            <a:lstStyle/>
            <a:p>
              <a:r>
                <a:rPr lang="en-US" altLang="zh-CN" sz="1800" i="1" dirty="0">
                  <a:solidFill>
                    <a:srgbClr val="0000FF"/>
                  </a:solidFill>
                  <a:latin typeface="Consolas" panose="020B0609020204030204" pitchFamily="49" charset="0"/>
                  <a:cs typeface="Consolas" panose="020B0609020204030204" pitchFamily="49" charset="0"/>
                </a:rPr>
                <a:t>k</a:t>
              </a:r>
              <a:r>
                <a:rPr lang="en-US" altLang="zh-CN" sz="1800" dirty="0">
                  <a:solidFill>
                    <a:srgbClr val="0000FF"/>
                  </a:solidFill>
                  <a:latin typeface="Consolas" panose="020B0609020204030204" pitchFamily="49" charset="0"/>
                  <a:cs typeface="Consolas" panose="020B0609020204030204" pitchFamily="49" charset="0"/>
                </a:rPr>
                <a:t>=5</a:t>
              </a:r>
              <a:endParaRPr lang="zh-CN" altLang="en-US" sz="1800" dirty="0">
                <a:solidFill>
                  <a:srgbClr val="0000FF"/>
                </a:solidFill>
                <a:latin typeface="Consolas" panose="020B0609020204030204" pitchFamily="49" charset="0"/>
                <a:cs typeface="Consolas" panose="020B0609020204030204" pitchFamily="49" charset="0"/>
              </a:endParaRPr>
            </a:p>
          </p:txBody>
        </p:sp>
      </p:grpSp>
      <p:sp>
        <p:nvSpPr>
          <p:cNvPr id="2" name="矩形 1"/>
          <p:cNvSpPr/>
          <p:nvPr/>
        </p:nvSpPr>
        <p:spPr>
          <a:xfrm>
            <a:off x="1087110" y="1164266"/>
            <a:ext cx="7497729" cy="923330"/>
          </a:xfrm>
          <a:prstGeom prst="rect">
            <a:avLst/>
          </a:prstGeom>
        </p:spPr>
        <p:txBody>
          <a:bodyPr wrap="square">
            <a:spAutoFit/>
          </a:bodyPr>
          <a:lstStyle/>
          <a:p>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在从</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的过程中</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依据按位置所做的决策的次数及所做决策的先后次序</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将问题分为</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个阶段</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阶段变量用于表示各阶段</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这里阶段变量</a:t>
            </a:r>
            <a:r>
              <a:rPr lang="en-US" altLang="zh-CN" i="1" dirty="0">
                <a:solidFill>
                  <a:srgbClr val="0000FF"/>
                </a:solidFill>
                <a:latin typeface="Consolas" panose="020B0609020204030204" pitchFamily="49" charset="0"/>
                <a:ea typeface="楷体" panose="02010609060101010101" pitchFamily="49" charset="-122"/>
                <a:cs typeface="Consolas" panose="020B0609020204030204" pitchFamily="49" charset="0"/>
              </a:rPr>
              <a:t>k</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为</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en-US"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图中第</a:t>
            </a:r>
            <a:r>
              <a:rPr lang="en-US"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阶段是</a:t>
            </a:r>
            <a:r>
              <a:rPr lang="zh-CN" altLang="zh-CN" dirty="0">
                <a:solidFill>
                  <a:srgbClr val="006600"/>
                </a:solidFill>
                <a:latin typeface="Consolas" panose="020B0609020204030204" pitchFamily="49" charset="0"/>
                <a:ea typeface="楷体" panose="02010609060101010101" pitchFamily="49" charset="-122"/>
                <a:cs typeface="Consolas" panose="020B0609020204030204" pitchFamily="49" charset="0"/>
              </a:rPr>
              <a:t>虚拟</a:t>
            </a:r>
            <a:r>
              <a:rPr lang="zh-CN" altLang="zh-CN" dirty="0">
                <a:solidFill>
                  <a:srgbClr val="0000FF"/>
                </a:solidFill>
                <a:latin typeface="Consolas" panose="020B0609020204030204" pitchFamily="49" charset="0"/>
                <a:ea typeface="楷体" panose="02010609060101010101" pitchFamily="49" charset="-122"/>
                <a:cs typeface="Consolas" panose="020B0609020204030204" pitchFamily="49" charset="0"/>
              </a:rPr>
              <a:t>的一个边界阶段。</a:t>
            </a:r>
            <a:endParaRPr lang="zh-CN" altLang="en-US" dirty="0"/>
          </a:p>
        </p:txBody>
      </p:sp>
      <p:sp>
        <p:nvSpPr>
          <p:cNvPr id="5" name="Rectangle 2">
            <a:extLst>
              <a:ext uri="{FF2B5EF4-FFF2-40B4-BE49-F238E27FC236}">
                <a16:creationId xmlns:a16="http://schemas.microsoft.com/office/drawing/2014/main" id="{0470C1A4-DF28-F916-19C0-FDFA658990DE}"/>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endParaRPr lang="en-US" altLang="zh-CN" b="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0"/>
                                          </p:stCondLst>
                                        </p:cTn>
                                        <p:tgtEl>
                                          <p:spTgt spid="7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500"/>
                                  </p:stCondLst>
                                  <p:childTnLst>
                                    <p:set>
                                      <p:cBhvr>
                                        <p:cTn id="9" dur="1" fill="hold">
                                          <p:stCondLst>
                                            <p:cond delay="0"/>
                                          </p:stCondLst>
                                        </p:cTn>
                                        <p:tgtEl>
                                          <p:spTgt spid="7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500"/>
                                  </p:stCondLst>
                                  <p:childTnLst>
                                    <p:set>
                                      <p:cBhvr>
                                        <p:cTn id="12" dur="1" fill="hold">
                                          <p:stCondLst>
                                            <p:cond delay="0"/>
                                          </p:stCondLst>
                                        </p:cTn>
                                        <p:tgtEl>
                                          <p:spTgt spid="81"/>
                                        </p:tgtEl>
                                        <p:attrNameLst>
                                          <p:attrName>style.visibility</p:attrName>
                                        </p:attrNameLst>
                                      </p:cBhvr>
                                      <p:to>
                                        <p:strVal val="visible"/>
                                      </p:to>
                                    </p:set>
                                  </p:childTnLst>
                                </p:cTn>
                              </p:par>
                              <p:par>
                                <p:cTn id="13" presetID="1" presetClass="entr" presetSubtype="0" fill="hold" nodeType="withEffect">
                                  <p:stCondLst>
                                    <p:cond delay="500"/>
                                  </p:stCondLst>
                                  <p:childTnLst>
                                    <p:set>
                                      <p:cBhvr>
                                        <p:cTn id="14" dur="1" fill="hold">
                                          <p:stCondLst>
                                            <p:cond delay="0"/>
                                          </p:stCondLst>
                                        </p:cTn>
                                        <p:tgtEl>
                                          <p:spTgt spid="84"/>
                                        </p:tgtEl>
                                        <p:attrNameLst>
                                          <p:attrName>style.visibility</p:attrName>
                                        </p:attrNameLst>
                                      </p:cBhvr>
                                      <p:to>
                                        <p:strVal val="visible"/>
                                      </p:to>
                                    </p:set>
                                  </p:childTnLst>
                                </p:cTn>
                              </p:par>
                              <p:par>
                                <p:cTn id="15" presetID="1" presetClass="entr" presetSubtype="0" fill="hold" nodeType="withEffect">
                                  <p:stCondLst>
                                    <p:cond delay="500"/>
                                  </p:stCondLst>
                                  <p:childTnLst>
                                    <p:set>
                                      <p:cBhvr>
                                        <p:cTn id="16"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23728" y="1060538"/>
            <a:ext cx="5072098" cy="2586083"/>
            <a:chOff x="1000100" y="2786058"/>
            <a:chExt cx="6357982" cy="3088932"/>
          </a:xfrm>
        </p:grpSpPr>
        <p:sp>
          <p:nvSpPr>
            <p:cNvPr id="3" name="椭圆 2"/>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cs typeface="Consolas" panose="020B0609020204030204" pitchFamily="49" charset="0"/>
                </a:rPr>
                <a:t>A</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4" name="椭圆 3"/>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dirty="0">
                  <a:solidFill>
                    <a:srgbClr val="0000FF"/>
                  </a:solidFill>
                  <a:latin typeface="Consolas" panose="020B0609020204030204" pitchFamily="49" charset="0"/>
                  <a:cs typeface="Consolas" panose="020B0609020204030204" pitchFamily="49" charset="0"/>
                </a:rPr>
                <a:t>B</a:t>
              </a:r>
              <a:r>
                <a:rPr lang="en-US" altLang="zh-CN" sz="1600" baseline="-25000" dirty="0">
                  <a:solidFill>
                    <a:srgbClr val="0000FF"/>
                  </a:solidFill>
                  <a:latin typeface="Consolas" panose="020B0609020204030204" pitchFamily="49" charset="0"/>
                  <a:cs typeface="Consolas" panose="020B0609020204030204" pitchFamily="49" charset="0"/>
                </a:rPr>
                <a:t>1</a:t>
              </a:r>
              <a:endParaRPr lang="zh-CN" altLang="en-US" sz="1600" baseline="-25000" dirty="0">
                <a:solidFill>
                  <a:srgbClr val="0000FF"/>
                </a:solidFill>
                <a:latin typeface="Consolas" panose="020B0609020204030204" pitchFamily="49" charset="0"/>
                <a:cs typeface="Consolas" panose="020B0609020204030204" pitchFamily="49" charset="0"/>
              </a:endParaRPr>
            </a:p>
          </p:txBody>
        </p:sp>
        <p:sp>
          <p:nvSpPr>
            <p:cNvPr id="5" name="椭圆 4"/>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6" name="椭圆 5"/>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t>
              </a:r>
              <a:r>
                <a:rPr lang="en-US" altLang="zh-CN" sz="1600" baseline="-25000">
                  <a:solidFill>
                    <a:srgbClr val="0000FF"/>
                  </a:solidFill>
                  <a:latin typeface="Consolas" panose="020B0609020204030204" pitchFamily="49" charset="0"/>
                  <a:cs typeface="Consolas" panose="020B0609020204030204" pitchFamily="49" charset="0"/>
                </a:rPr>
                <a:t>3</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7" name="椭圆 6"/>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1</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3</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D</a:t>
              </a:r>
              <a:r>
                <a:rPr lang="en-US" altLang="zh-CN" sz="1600" baseline="-25000">
                  <a:solidFill>
                    <a:srgbClr val="0000FF"/>
                  </a:solidFill>
                  <a:latin typeface="Consolas" panose="020B0609020204030204" pitchFamily="49" charset="0"/>
                  <a:cs typeface="Consolas" panose="020B0609020204030204" pitchFamily="49" charset="0"/>
                </a:rPr>
                <a:t>1</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D</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2" name="椭圆 11"/>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E</a:t>
              </a:r>
              <a:endParaRPr lang="zh-CN" altLang="en-US" sz="2000" baseline="-25000">
                <a:solidFill>
                  <a:srgbClr val="0000FF"/>
                </a:solidFill>
                <a:latin typeface="Consolas" panose="020B0609020204030204" pitchFamily="49" charset="0"/>
                <a:cs typeface="Consolas" panose="020B0609020204030204" pitchFamily="49" charset="0"/>
              </a:endParaRPr>
            </a:p>
          </p:txBody>
        </p:sp>
        <p:cxnSp>
          <p:nvCxnSpPr>
            <p:cNvPr id="13" name="直接箭头连接符 12"/>
            <p:cNvCxnSpPr>
              <a:stCxn id="3" idx="7"/>
              <a:endCxn id="4"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15" name="直接箭头连接符 14"/>
            <p:cNvCxnSpPr>
              <a:stCxn id="3" idx="6"/>
              <a:endCxn id="5"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3" name="TextBox 32"/>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4" name="TextBox 33"/>
            <p:cNvSpPr txBox="1"/>
            <p:nvPr/>
          </p:nvSpPr>
          <p:spPr>
            <a:xfrm>
              <a:off x="2928926" y="2786058"/>
              <a:ext cx="214315" cy="330860"/>
            </a:xfrm>
            <a:prstGeom prst="rect">
              <a:avLst/>
            </a:prstGeom>
            <a:noFill/>
          </p:spPr>
          <p:txBody>
            <a:bodyPr wrap="square" lIns="0" tIns="0" rIns="0" bIns="0" rtlCol="0">
              <a:spAutoFit/>
            </a:bodyPr>
            <a:lstStyle/>
            <a:p>
              <a:r>
                <a:rPr lang="en-US" altLang="zh-CN" sz="1800">
                  <a:solidFill>
                    <a:srgbClr val="C00000"/>
                  </a:solidFill>
                  <a:latin typeface="Consolas" panose="020B0609020204030204" pitchFamily="49" charset="0"/>
                  <a:cs typeface="Consolas" panose="020B0609020204030204" pitchFamily="49" charset="0"/>
                </a:rPr>
                <a:t>7</a:t>
              </a:r>
              <a:endParaRPr lang="zh-CN" altLang="en-US" sz="1800">
                <a:solidFill>
                  <a:srgbClr val="C00000"/>
                </a:solidFill>
                <a:latin typeface="Consolas" panose="020B0609020204030204" pitchFamily="49" charset="0"/>
                <a:cs typeface="Consolas" panose="020B0609020204030204"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6" name="TextBox 35"/>
            <p:cNvSpPr txBox="1"/>
            <p:nvPr/>
          </p:nvSpPr>
          <p:spPr>
            <a:xfrm>
              <a:off x="2908288" y="3740151"/>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6</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5</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1" name="TextBox 40"/>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6</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3" name="TextBox 42"/>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4" name="TextBox 43"/>
            <p:cNvSpPr txBox="1"/>
            <p:nvPr/>
          </p:nvSpPr>
          <p:spPr>
            <a:xfrm>
              <a:off x="4441824" y="486651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5" name="TextBox 44"/>
            <p:cNvSpPr txBox="1"/>
            <p:nvPr/>
          </p:nvSpPr>
          <p:spPr>
            <a:xfrm>
              <a:off x="4760914" y="5454664"/>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6" name="TextBox 45"/>
            <p:cNvSpPr txBox="1"/>
            <p:nvPr/>
          </p:nvSpPr>
          <p:spPr>
            <a:xfrm>
              <a:off x="6143636" y="455930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7" name="TextBox 46"/>
            <p:cNvSpPr txBox="1"/>
            <p:nvPr/>
          </p:nvSpPr>
          <p:spPr>
            <a:xfrm>
              <a:off x="6215074" y="350043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8" name="TextBox 47"/>
            <p:cNvSpPr txBox="1"/>
            <p:nvPr/>
          </p:nvSpPr>
          <p:spPr>
            <a:xfrm>
              <a:off x="3000364" y="43576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grpSp>
      <p:sp>
        <p:nvSpPr>
          <p:cNvPr id="51" name="TextBox 50"/>
          <p:cNvSpPr txBox="1"/>
          <p:nvPr/>
        </p:nvSpPr>
        <p:spPr>
          <a:xfrm>
            <a:off x="683568" y="3570665"/>
            <a:ext cx="7715304" cy="861774"/>
          </a:xfrm>
          <a:prstGeom prst="rect">
            <a:avLst/>
          </a:prstGeom>
          <a:noFill/>
        </p:spPr>
        <p:txBody>
          <a:bodyPr wrap="square" rtlCol="0">
            <a:spAutoFit/>
          </a:bodyPr>
          <a:lstStyle/>
          <a:p>
            <a:pPr>
              <a:lnSpc>
                <a:spcPts val="3000"/>
              </a:lnSpc>
            </a:pPr>
            <a:r>
              <a:rPr lang="en-US"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设最优指标函数</a:t>
            </a:r>
            <a:r>
              <a:rPr lang="pt-BR"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f</a:t>
            </a:r>
            <a:r>
              <a:rPr lang="pt-BR"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pt-BR"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pt-BR"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表示</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pt-BR" altLang="zh-CN" sz="2000" i="1" dirty="0" err="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到终点</a:t>
            </a:r>
            <a:r>
              <a:rPr lang="pt-BR" altLang="zh-CN" sz="2000" i="1" dirty="0">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的最短路径长度</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用</a:t>
            </a:r>
            <a:r>
              <a:rPr lang="pt-BR" altLang="zh-CN" sz="2000" i="1" dirty="0" err="1">
                <a:solidFill>
                  <a:srgbClr val="0000FF"/>
                </a:solidFill>
                <a:latin typeface="Consolas" panose="020B0609020204030204" pitchFamily="49" charset="0"/>
                <a:ea typeface="楷体" panose="02010609060101010101" pitchFamily="49" charset="-122"/>
                <a:cs typeface="Consolas" panose="020B0609020204030204" pitchFamily="49" charset="0"/>
              </a:rPr>
              <a:t>k</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表示阶段</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则对应的状态转移方程如下：</a:t>
            </a:r>
          </a:p>
        </p:txBody>
      </p:sp>
      <p:sp>
        <p:nvSpPr>
          <p:cNvPr id="283650" name="Rectangle 2"/>
          <p:cNvSpPr>
            <a:spLocks noChangeArrowheads="1"/>
          </p:cNvSpPr>
          <p:nvPr/>
        </p:nvSpPr>
        <p:spPr bwMode="auto">
          <a:xfrm>
            <a:off x="0" y="0"/>
            <a:ext cx="184731" cy="461665"/>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Consolas" panose="020B0609020204030204" pitchFamily="49" charset="0"/>
              <a:cs typeface="Consolas" panose="020B0609020204030204" pitchFamily="49" charset="0"/>
            </a:endParaRPr>
          </a:p>
        </p:txBody>
      </p:sp>
      <p:graphicFrame>
        <p:nvGraphicFramePr>
          <p:cNvPr id="283649" name="Object 1"/>
          <p:cNvGraphicFramePr>
            <a:graphicFrameLocks noChangeAspect="1"/>
          </p:cNvGraphicFramePr>
          <p:nvPr/>
        </p:nvGraphicFramePr>
        <p:xfrm>
          <a:off x="1085365" y="4857760"/>
          <a:ext cx="4129577" cy="571504"/>
        </p:xfrm>
        <a:graphic>
          <a:graphicData uri="http://schemas.openxmlformats.org/presentationml/2006/ole">
            <mc:AlternateContent xmlns:mc="http://schemas.openxmlformats.org/markup-compatibility/2006">
              <mc:Choice xmlns:v="urn:schemas-microsoft-com:vml" Requires="v">
                <p:oleObj r:id="rId2" imgW="51206400" imgH="7010400" progId="">
                  <p:embed/>
                </p:oleObj>
              </mc:Choice>
              <mc:Fallback>
                <p:oleObj r:id="rId2" imgW="51206400" imgH="7010400" progId="">
                  <p:embed/>
                  <p:pic>
                    <p:nvPicPr>
                      <p:cNvPr id="283649"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365" y="4857760"/>
                        <a:ext cx="4129577"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3652" name="Rectangle 4"/>
          <p:cNvSpPr>
            <a:spLocks noChangeArrowheads="1"/>
          </p:cNvSpPr>
          <p:nvPr/>
        </p:nvSpPr>
        <p:spPr bwMode="auto">
          <a:xfrm>
            <a:off x="0" y="0"/>
            <a:ext cx="184731" cy="461665"/>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Consolas" panose="020B0609020204030204" pitchFamily="49" charset="0"/>
              <a:cs typeface="Consolas" panose="020B0609020204030204" pitchFamily="49" charset="0"/>
            </a:endParaRPr>
          </a:p>
        </p:txBody>
      </p:sp>
      <p:graphicFrame>
        <p:nvGraphicFramePr>
          <p:cNvPr id="283651" name="Object 3"/>
          <p:cNvGraphicFramePr>
            <a:graphicFrameLocks noChangeAspect="1"/>
          </p:cNvGraphicFramePr>
          <p:nvPr/>
        </p:nvGraphicFramePr>
        <p:xfrm>
          <a:off x="1142976" y="4338895"/>
          <a:ext cx="1071570" cy="375989"/>
        </p:xfrm>
        <a:graphic>
          <a:graphicData uri="http://schemas.openxmlformats.org/presentationml/2006/ole">
            <mc:AlternateContent xmlns:mc="http://schemas.openxmlformats.org/markup-compatibility/2006">
              <mc:Choice xmlns:v="urn:schemas-microsoft-com:vml" Requires="v">
                <p:oleObj r:id="rId4" imgW="13106400" imgH="4572000" progId="">
                  <p:embed/>
                </p:oleObj>
              </mc:Choice>
              <mc:Fallback>
                <p:oleObj r:id="rId4" imgW="13106400" imgH="4572000" progId="">
                  <p:embed/>
                  <p:pic>
                    <p:nvPicPr>
                      <p:cNvPr id="28365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2976" y="4338895"/>
                        <a:ext cx="1071570" cy="375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 name="TextBox 56"/>
          <p:cNvSpPr txBox="1"/>
          <p:nvPr/>
        </p:nvSpPr>
        <p:spPr>
          <a:xfrm>
            <a:off x="6215074" y="4071942"/>
            <a:ext cx="2500330" cy="1938992"/>
          </a:xfrm>
          <a:prstGeom prst="rect">
            <a:avLst/>
          </a:prstGeom>
          <a:noFill/>
        </p:spPr>
        <p:txBody>
          <a:bodyPr wrap="square" rtlCol="0">
            <a:spAutoFit/>
          </a:bodyPr>
          <a:lstStyle/>
          <a:p>
            <a:pPr>
              <a:lnSpc>
                <a:spcPct val="150000"/>
              </a:lnSpc>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p>
          <a:p>
            <a:pPr>
              <a:lnSpc>
                <a:spcPct val="150000"/>
              </a:lnSpc>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取</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S</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的元素</a:t>
            </a:r>
            <a:endPar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a:p>
            <a:pPr>
              <a:lnSpc>
                <a:spcPct val="150000"/>
              </a:lnSpc>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p>
          <a:p>
            <a:pPr>
              <a:lnSpc>
                <a:spcPct val="150000"/>
              </a:lnSpc>
            </a:pP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取</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的元素</a:t>
            </a:r>
          </a:p>
        </p:txBody>
      </p:sp>
      <p:sp>
        <p:nvSpPr>
          <p:cNvPr id="58" name="TextBox 57"/>
          <p:cNvSpPr txBox="1"/>
          <p:nvPr/>
        </p:nvSpPr>
        <p:spPr>
          <a:xfrm>
            <a:off x="5651195" y="4357694"/>
            <a:ext cx="492443" cy="1571636"/>
          </a:xfrm>
          <a:prstGeom prst="rect">
            <a:avLst/>
          </a:prstGeom>
          <a:noFill/>
        </p:spPr>
        <p:txBody>
          <a:bodyPr vert="eaVert" wrap="square" rtlCol="0">
            <a:spAutoFit/>
          </a:bodyPr>
          <a:lstStyle/>
          <a:p>
            <a:r>
              <a:rPr lang="zh-CN" altLang="en-US" sz="2000" spc="600">
                <a:solidFill>
                  <a:srgbClr val="C00000"/>
                </a:solidFill>
                <a:latin typeface="Consolas" panose="020B0609020204030204" pitchFamily="49" charset="0"/>
                <a:ea typeface="微软雅黑" panose="020B0503020204020204" charset="-122"/>
                <a:cs typeface="Consolas" panose="020B0609020204030204" pitchFamily="49" charset="0"/>
              </a:rPr>
              <a:t>符号示例</a:t>
            </a:r>
          </a:p>
        </p:txBody>
      </p:sp>
      <p:sp>
        <p:nvSpPr>
          <p:cNvPr id="52" name="Rectangle 2">
            <a:extLst>
              <a:ext uri="{FF2B5EF4-FFF2-40B4-BE49-F238E27FC236}">
                <a16:creationId xmlns:a16="http://schemas.microsoft.com/office/drawing/2014/main" id="{9C698E26-BB29-C8CB-7402-D45E7364A945}"/>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endParaRPr lang="en-US" altLang="zh-CN" b="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36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36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5852" y="1500174"/>
            <a:ext cx="2714644" cy="1415530"/>
          </a:xfrm>
          <a:prstGeom prst="rect">
            <a:avLst/>
          </a:prstGeom>
        </p:spPr>
        <p:style>
          <a:lnRef idx="2">
            <a:schemeClr val="accent2"/>
          </a:lnRef>
          <a:fillRef idx="1">
            <a:schemeClr val="lt1"/>
          </a:fillRef>
          <a:effectRef idx="0">
            <a:schemeClr val="accent2"/>
          </a:effectRef>
          <a:fontRef idx="minor">
            <a:schemeClr val="dk1"/>
          </a:fontRef>
        </p:style>
        <p:txBody>
          <a:bodyPr wrap="square" lIns="180000" tIns="216000" rIns="180000" bIns="180000" rtlCol="0">
            <a:spAutoFit/>
          </a:bodyPr>
          <a:lstStyle/>
          <a:p>
            <a:pPr marL="457200" indent="-457200">
              <a:lnSpc>
                <a:spcPct val="150000"/>
              </a:lnSpc>
              <a:buBlip>
                <a:blip r:embed="rId2"/>
              </a:buBlip>
            </a:pPr>
            <a:r>
              <a:rPr lang="zh-CN" altLang="zh-CN" sz="2200">
                <a:solidFill>
                  <a:srgbClr val="0000FF"/>
                </a:solidFill>
                <a:latin typeface="Consolas" panose="020B0609020204030204" pitchFamily="49" charset="0"/>
                <a:ea typeface="微软雅黑" panose="020B0503020204020204" charset="-122"/>
                <a:cs typeface="Consolas" panose="020B0609020204030204" pitchFamily="49" charset="0"/>
              </a:rPr>
              <a:t>逆序解法</a:t>
            </a:r>
            <a:endParaRPr lang="en-US" altLang="zh-CN" sz="2200">
              <a:solidFill>
                <a:srgbClr val="0000FF"/>
              </a:solidFill>
              <a:latin typeface="Consolas" panose="020B0609020204030204" pitchFamily="49" charset="0"/>
              <a:ea typeface="微软雅黑" panose="020B0503020204020204" charset="-122"/>
              <a:cs typeface="Consolas" panose="020B0609020204030204" pitchFamily="49" charset="0"/>
            </a:endParaRPr>
          </a:p>
          <a:p>
            <a:pPr marL="457200" indent="-457200">
              <a:lnSpc>
                <a:spcPct val="150000"/>
              </a:lnSpc>
              <a:buBlip>
                <a:blip r:embed="rId2"/>
              </a:buBlip>
            </a:pPr>
            <a:r>
              <a:rPr lang="zh-CN" altLang="zh-CN" sz="2200">
                <a:solidFill>
                  <a:srgbClr val="0000FF"/>
                </a:solidFill>
                <a:latin typeface="Consolas" panose="020B0609020204030204" pitchFamily="49" charset="0"/>
                <a:ea typeface="微软雅黑" panose="020B0503020204020204" charset="-122"/>
                <a:cs typeface="Consolas" panose="020B0609020204030204" pitchFamily="49" charset="0"/>
              </a:rPr>
              <a:t>顺序解法</a:t>
            </a:r>
            <a:endParaRPr lang="zh-CN" altLang="en-US" sz="2200">
              <a:solidFill>
                <a:srgbClr val="0000FF"/>
              </a:solidFill>
              <a:latin typeface="Consolas" panose="020B0609020204030204" pitchFamily="49" charset="0"/>
              <a:ea typeface="微软雅黑" panose="020B0503020204020204" charset="-122"/>
              <a:cs typeface="Consolas" panose="020B0609020204030204" pitchFamily="49" charset="0"/>
            </a:endParaRPr>
          </a:p>
        </p:txBody>
      </p:sp>
      <p:sp>
        <p:nvSpPr>
          <p:cNvPr id="2" name="Rectangle 2">
            <a:extLst>
              <a:ext uri="{FF2B5EF4-FFF2-40B4-BE49-F238E27FC236}">
                <a16:creationId xmlns:a16="http://schemas.microsoft.com/office/drawing/2014/main" id="{505FA22F-B8A3-2BCF-EAA9-8F659EC707BD}"/>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endParaRPr lang="en-US" altLang="zh-CN" b="0" kern="0" dirty="0">
              <a:latin typeface="+mj-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7224" y="3786190"/>
            <a:ext cx="8001056" cy="400110"/>
          </a:xfrm>
          <a:prstGeom prst="rect">
            <a:avLst/>
          </a:prstGeom>
          <a:noFill/>
        </p:spPr>
        <p:txBody>
          <a:bodyPr wrap="square" rtlCol="0">
            <a:spAutoFit/>
          </a:bodyPr>
          <a:lstStyle/>
          <a:p>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求解</a:t>
            </a:r>
            <a:r>
              <a:rPr lang="pt-BR"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E</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pt-BR"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的过程</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用</a:t>
            </a:r>
            <a:r>
              <a:rPr lang="pt-BR" altLang="zh-CN" sz="2000">
                <a:solidFill>
                  <a:srgbClr val="9900FF"/>
                </a:solidFill>
                <a:latin typeface="Consolas" panose="020B0609020204030204" pitchFamily="49" charset="0"/>
                <a:ea typeface="楷体" panose="02010609060101010101" pitchFamily="49" charset="-122"/>
                <a:cs typeface="Consolas" panose="020B0609020204030204" pitchFamily="49" charset="0"/>
              </a:rPr>
              <a:t>next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表示路径上一个顶点的后继顶点</a:t>
            </a:r>
            <a:r>
              <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p>
        </p:txBody>
      </p:sp>
      <p:grpSp>
        <p:nvGrpSpPr>
          <p:cNvPr id="4" name="组合 3"/>
          <p:cNvGrpSpPr/>
          <p:nvPr/>
        </p:nvGrpSpPr>
        <p:grpSpPr>
          <a:xfrm>
            <a:off x="928662" y="1142984"/>
            <a:ext cx="5072098" cy="2586083"/>
            <a:chOff x="1000100" y="2786058"/>
            <a:chExt cx="6357982" cy="3088932"/>
          </a:xfrm>
        </p:grpSpPr>
        <p:sp>
          <p:nvSpPr>
            <p:cNvPr id="5" name="椭圆 4"/>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cs typeface="Consolas" panose="020B0609020204030204" pitchFamily="49" charset="0"/>
                </a:rPr>
                <a:t>A</a:t>
              </a:r>
              <a:endParaRPr lang="zh-CN" altLang="en-US" sz="2000">
                <a:solidFill>
                  <a:srgbClr val="0000FF"/>
                </a:solidFill>
                <a:latin typeface="Consolas" panose="020B0609020204030204" pitchFamily="49" charset="0"/>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t>
              </a:r>
              <a:r>
                <a:rPr lang="en-US" altLang="zh-CN" sz="1600" baseline="-25000">
                  <a:solidFill>
                    <a:srgbClr val="0000FF"/>
                  </a:solidFill>
                  <a:latin typeface="Consolas" panose="020B0609020204030204" pitchFamily="49" charset="0"/>
                  <a:cs typeface="Consolas" panose="020B0609020204030204" pitchFamily="49" charset="0"/>
                </a:rPr>
                <a:t>1</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t>
              </a:r>
              <a:r>
                <a:rPr lang="en-US" altLang="zh-CN" sz="1600" baseline="-25000">
                  <a:solidFill>
                    <a:srgbClr val="0000FF"/>
                  </a:solidFill>
                  <a:latin typeface="Consolas" panose="020B0609020204030204" pitchFamily="49" charset="0"/>
                  <a:cs typeface="Consolas" panose="020B0609020204030204" pitchFamily="49" charset="0"/>
                </a:rPr>
                <a:t>3</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1</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C</a:t>
              </a:r>
              <a:r>
                <a:rPr lang="en-US" altLang="zh-CN" sz="1600" baseline="-25000">
                  <a:solidFill>
                    <a:srgbClr val="0000FF"/>
                  </a:solidFill>
                  <a:latin typeface="Consolas" panose="020B0609020204030204" pitchFamily="49" charset="0"/>
                  <a:cs typeface="Consolas" panose="020B0609020204030204" pitchFamily="49" charset="0"/>
                </a:rPr>
                <a:t>3</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D</a:t>
              </a:r>
              <a:r>
                <a:rPr lang="en-US" altLang="zh-CN" sz="1600" baseline="-25000">
                  <a:solidFill>
                    <a:srgbClr val="0000FF"/>
                  </a:solidFill>
                  <a:latin typeface="Consolas" panose="020B0609020204030204" pitchFamily="49" charset="0"/>
                  <a:cs typeface="Consolas" panose="020B0609020204030204" pitchFamily="49" charset="0"/>
                </a:rPr>
                <a:t>1</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D</a:t>
              </a:r>
              <a:r>
                <a:rPr lang="en-US" altLang="zh-CN" sz="1600" baseline="-25000">
                  <a:solidFill>
                    <a:srgbClr val="0000FF"/>
                  </a:solidFill>
                  <a:latin typeface="Consolas" panose="020B0609020204030204" pitchFamily="49" charset="0"/>
                  <a:cs typeface="Consolas" panose="020B0609020204030204" pitchFamily="49" charset="0"/>
                </a:rPr>
                <a:t>2</a:t>
              </a:r>
              <a:endParaRPr lang="zh-CN" altLang="en-US" sz="1600" baseline="-25000">
                <a:solidFill>
                  <a:srgbClr val="0000FF"/>
                </a:solidFill>
                <a:latin typeface="Consolas" panose="020B0609020204030204" pitchFamily="49" charset="0"/>
                <a:cs typeface="Consolas" panose="020B0609020204030204" pitchFamily="49" charset="0"/>
              </a:endParaRPr>
            </a:p>
          </p:txBody>
        </p:sp>
        <p:sp>
          <p:nvSpPr>
            <p:cNvPr id="14" name="椭圆 13"/>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cs typeface="Consolas" panose="020B0609020204030204" pitchFamily="49" charset="0"/>
                </a:rPr>
                <a:t>E</a:t>
              </a:r>
              <a:endParaRPr lang="zh-CN" altLang="en-US" sz="2000" baseline="-25000">
                <a:solidFill>
                  <a:srgbClr val="0000FF"/>
                </a:solidFill>
                <a:latin typeface="Consolas" panose="020B0609020204030204" pitchFamily="49" charset="0"/>
                <a:cs typeface="Consolas" panose="020B0609020204030204" pitchFamily="49" charset="0"/>
              </a:endParaRPr>
            </a:p>
          </p:txBody>
        </p:sp>
        <p:cxnSp>
          <p:nvCxnSpPr>
            <p:cNvPr id="15" name="直接箭头连接符 14"/>
            <p:cNvCxnSpPr>
              <a:stCxn id="5" idx="7"/>
              <a:endCxn id="6"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17" name="直接箭头连接符 16"/>
            <p:cNvCxnSpPr>
              <a:stCxn id="5" idx="6"/>
              <a:endCxn id="7"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7</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6</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5</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6</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6" name="TextBox 45"/>
            <p:cNvSpPr txBox="1"/>
            <p:nvPr/>
          </p:nvSpPr>
          <p:spPr>
            <a:xfrm>
              <a:off x="4441824" y="486651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7" name="TextBox 46"/>
            <p:cNvSpPr txBox="1"/>
            <p:nvPr/>
          </p:nvSpPr>
          <p:spPr>
            <a:xfrm>
              <a:off x="4760914" y="5454664"/>
              <a:ext cx="214315" cy="294097"/>
            </a:xfrm>
            <a:prstGeom prst="rect">
              <a:avLst/>
            </a:prstGeom>
            <a:noFill/>
          </p:spPr>
          <p:txBody>
            <a:bodyPr wrap="square" lIns="0" tIns="0" rIns="0" bIns="0" rtlCol="0">
              <a:spAutoFit/>
            </a:bodyPr>
            <a:lstStyle/>
            <a:p>
              <a:r>
                <a:rPr lang="en-US" altLang="zh-CN" sz="1600">
                  <a:solidFill>
                    <a:srgbClr val="C00000"/>
                  </a:solidFill>
                  <a:latin typeface="Consolas" panose="020B0609020204030204" pitchFamily="49" charset="0"/>
                  <a:cs typeface="Consolas" panose="020B0609020204030204" pitchFamily="49" charset="0"/>
                </a:rPr>
                <a:t>3</a:t>
              </a:r>
              <a:endParaRPr lang="zh-CN" altLang="en-US" sz="1600">
                <a:solidFill>
                  <a:srgbClr val="C00000"/>
                </a:solidFill>
                <a:latin typeface="Consolas" panose="020B0609020204030204" pitchFamily="49" charset="0"/>
                <a:cs typeface="Consolas" panose="020B0609020204030204" pitchFamily="49" charset="0"/>
              </a:endParaRPr>
            </a:p>
          </p:txBody>
        </p:sp>
        <p:sp>
          <p:nvSpPr>
            <p:cNvPr id="48" name="TextBox 47"/>
            <p:cNvSpPr txBox="1"/>
            <p:nvPr/>
          </p:nvSpPr>
          <p:spPr>
            <a:xfrm>
              <a:off x="6143636" y="455930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49" name="TextBox 48"/>
            <p:cNvSpPr txBox="1"/>
            <p:nvPr/>
          </p:nvSpPr>
          <p:spPr>
            <a:xfrm>
              <a:off x="6215074" y="350043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3</a:t>
              </a:r>
              <a:endParaRPr lang="zh-CN" altLang="en-US" sz="1600">
                <a:solidFill>
                  <a:srgbClr val="0000FF"/>
                </a:solidFill>
                <a:latin typeface="Consolas" panose="020B0609020204030204" pitchFamily="49" charset="0"/>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4</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cs typeface="Consolas" panose="020B0609020204030204" pitchFamily="49" charset="0"/>
                </a:rPr>
                <a:t>2</a:t>
              </a:r>
              <a:endParaRPr lang="zh-CN" altLang="en-US" sz="1600">
                <a:solidFill>
                  <a:srgbClr val="0000FF"/>
                </a:solidFill>
                <a:latin typeface="Consolas" panose="020B0609020204030204" pitchFamily="49" charset="0"/>
                <a:cs typeface="Consolas" panose="020B0609020204030204" pitchFamily="49" charset="0"/>
              </a:endParaRPr>
            </a:p>
          </p:txBody>
        </p:sp>
      </p:grpSp>
      <p:sp>
        <p:nvSpPr>
          <p:cNvPr id="53" name="TextBox 52"/>
          <p:cNvSpPr txBox="1"/>
          <p:nvPr/>
        </p:nvSpPr>
        <p:spPr>
          <a:xfrm>
            <a:off x="1000100" y="4286256"/>
            <a:ext cx="5643602" cy="2015936"/>
          </a:xfrm>
          <a:prstGeom prst="rect">
            <a:avLst/>
          </a:prstGeom>
          <a:noFill/>
        </p:spPr>
        <p:txBody>
          <a:bodyPr wrap="square" rtlCol="0">
            <a:spAutoFit/>
          </a:bodyPr>
          <a:lstStyle/>
          <a:p>
            <a:pPr>
              <a:lnSpc>
                <a:spcPts val="3000"/>
              </a:lnSpc>
            </a:pP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① 第</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5</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阶段</a:t>
            </a:r>
          </a:p>
          <a:p>
            <a:pPr>
              <a:lnSpc>
                <a:spcPts val="3000"/>
              </a:lnSpc>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(E)=0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ts val="3000"/>
              </a:lnSpc>
            </a:pP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② 第</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4</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阶段</a:t>
            </a:r>
          </a:p>
          <a:p>
            <a:pPr>
              <a:lnSpc>
                <a:spcPts val="3000"/>
              </a:lnSpc>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)=MIN(c(D</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(E))=3</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9900FF"/>
                </a:solidFill>
                <a:latin typeface="Consolas" panose="020B0609020204030204" pitchFamily="49" charset="0"/>
                <a:ea typeface="仿宋" panose="02010609060101010101" pitchFamily="49" charset="-122"/>
                <a:cs typeface="Consolas" panose="020B0609020204030204" pitchFamily="49" charset="0"/>
              </a:rPr>
              <a:t>next(D</a:t>
            </a:r>
            <a:r>
              <a:rPr lang="en-US" altLang="zh-CN" sz="1800" baseline="-25000">
                <a:solidFill>
                  <a:srgbClr val="99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a:solidFill>
                  <a:srgbClr val="9900FF"/>
                </a:solidFill>
                <a:latin typeface="Consolas" panose="020B0609020204030204" pitchFamily="49" charset="0"/>
                <a:ea typeface="仿宋" panose="02010609060101010101" pitchFamily="49" charset="-122"/>
                <a:cs typeface="Consolas" panose="020B0609020204030204" pitchFamily="49" charset="0"/>
              </a:rPr>
              <a:t>)=E</a:t>
            </a:r>
            <a:endParaRPr lang="zh-CN" altLang="zh-CN" sz="1800">
              <a:solidFill>
                <a:srgbClr val="9900FF"/>
              </a:solidFill>
              <a:latin typeface="Consolas" panose="020B0609020204030204" pitchFamily="49" charset="0"/>
              <a:ea typeface="仿宋" panose="02010609060101010101" pitchFamily="49" charset="-122"/>
              <a:cs typeface="Consolas" panose="020B0609020204030204" pitchFamily="49" charset="0"/>
            </a:endParaRPr>
          </a:p>
          <a:p>
            <a:pPr>
              <a:lnSpc>
                <a:spcPts val="3000"/>
              </a:lnSpc>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)=MIN(c(D</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(E))=4</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9900FF"/>
                </a:solidFill>
                <a:latin typeface="Consolas" panose="020B0609020204030204" pitchFamily="49" charset="0"/>
                <a:ea typeface="仿宋" panose="02010609060101010101" pitchFamily="49" charset="-122"/>
                <a:cs typeface="Consolas" panose="020B0609020204030204" pitchFamily="49" charset="0"/>
              </a:rPr>
              <a:t>next(D</a:t>
            </a:r>
            <a:r>
              <a:rPr lang="en-US" altLang="zh-CN" sz="1800" baseline="-25000">
                <a:solidFill>
                  <a:srgbClr val="99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a:solidFill>
                  <a:srgbClr val="9900FF"/>
                </a:solidFill>
                <a:latin typeface="Consolas" panose="020B0609020204030204" pitchFamily="49" charset="0"/>
                <a:ea typeface="仿宋" panose="02010609060101010101" pitchFamily="49" charset="-122"/>
                <a:cs typeface="Consolas" panose="020B0609020204030204" pitchFamily="49" charset="0"/>
              </a:rPr>
              <a:t>)=E</a:t>
            </a:r>
            <a:endParaRPr lang="zh-CN" altLang="zh-CN" sz="1800">
              <a:solidFill>
                <a:srgbClr val="99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4" name="组合 53"/>
          <p:cNvGrpSpPr/>
          <p:nvPr/>
        </p:nvGrpSpPr>
        <p:grpSpPr>
          <a:xfrm>
            <a:off x="4357686" y="1428737"/>
            <a:ext cx="928694" cy="2471811"/>
            <a:chOff x="500034" y="2428869"/>
            <a:chExt cx="928694" cy="2986771"/>
          </a:xfrm>
        </p:grpSpPr>
        <p:sp>
          <p:nvSpPr>
            <p:cNvPr id="55" name="圆角矩形 54"/>
            <p:cNvSpPr/>
            <p:nvPr/>
          </p:nvSpPr>
          <p:spPr>
            <a:xfrm>
              <a:off x="500034" y="2428869"/>
              <a:ext cx="928694" cy="2503306"/>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714348" y="4932174"/>
              <a:ext cx="642942" cy="483466"/>
            </a:xfrm>
            <a:prstGeom prst="rect">
              <a:avLst/>
            </a:prstGeom>
            <a:noFill/>
          </p:spPr>
          <p:txBody>
            <a:bodyPr wrap="square" rtlCol="0">
              <a:spAutoFit/>
            </a:bodyPr>
            <a:lstStyle/>
            <a:p>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=4</a:t>
              </a:r>
              <a:endParaRPr lang="zh-CN" altLang="en-US" sz="2000">
                <a:solidFill>
                  <a:srgbClr val="0000FF"/>
                </a:solidFill>
                <a:latin typeface="Consolas" panose="020B0609020204030204" pitchFamily="49" charset="0"/>
                <a:cs typeface="Consolas" panose="020B0609020204030204" pitchFamily="49" charset="0"/>
              </a:endParaRPr>
            </a:p>
          </p:txBody>
        </p:sp>
      </p:grpSp>
      <p:sp>
        <p:nvSpPr>
          <p:cNvPr id="57" name="TextBox 56"/>
          <p:cNvSpPr txBox="1"/>
          <p:nvPr/>
        </p:nvSpPr>
        <p:spPr>
          <a:xfrm>
            <a:off x="6215074" y="2643182"/>
            <a:ext cx="2428892" cy="707886"/>
          </a:xfrm>
          <a:prstGeom prst="rect">
            <a:avLst/>
          </a:prstGeom>
          <a:noFill/>
        </p:spPr>
        <p:txBody>
          <a:bodyPr wrap="square" rtlCol="0">
            <a:spAutoFit/>
          </a:bodyPr>
          <a:lstStyle/>
          <a:p>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pt-BR"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到终点</a:t>
            </a:r>
            <a:r>
              <a:rPr lang="pt-BR"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的最短路径长度</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58" name="Rectangle 2">
            <a:extLst>
              <a:ext uri="{FF2B5EF4-FFF2-40B4-BE49-F238E27FC236}">
                <a16:creationId xmlns:a16="http://schemas.microsoft.com/office/drawing/2014/main" id="{1DBEE34D-ECC7-9CB9-06C0-E1C0B80AD5A7}"/>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逆序解法</a:t>
            </a:r>
            <a:endParaRPr lang="en-US" altLang="zh-CN" b="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722050" y="1230140"/>
            <a:ext cx="5072098" cy="2586082"/>
            <a:chOff x="1000100" y="2786058"/>
            <a:chExt cx="6357982" cy="3088932"/>
          </a:xfrm>
        </p:grpSpPr>
        <p:sp>
          <p:nvSpPr>
            <p:cNvPr id="3" name="椭圆 2"/>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椭圆 3"/>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椭圆 4"/>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3" name="直接箭头连接符 12"/>
            <p:cNvCxnSpPr>
              <a:stCxn id="3" idx="7"/>
              <a:endCxn id="4"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3" idx="6"/>
              <a:endCxn id="5"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TextBox 32"/>
            <p:cNvSpPr txBox="1"/>
            <p:nvPr/>
          </p:nvSpPr>
          <p:spPr>
            <a:xfrm>
              <a:off x="1928794" y="478632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1" name="TextBox 50"/>
          <p:cNvSpPr txBox="1"/>
          <p:nvPr/>
        </p:nvSpPr>
        <p:spPr>
          <a:xfrm>
            <a:off x="754883" y="4046431"/>
            <a:ext cx="2000264" cy="400110"/>
          </a:xfrm>
          <a:prstGeom prst="rect">
            <a:avLst/>
          </a:prstGeom>
          <a:noFill/>
        </p:spPr>
        <p:txBody>
          <a:bodyPr wrap="square" rtlCol="0">
            <a:spAutoFit/>
          </a:bodyPr>
          <a:lstStyle/>
          <a:p>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③ 第</a:t>
            </a:r>
            <a:r>
              <a:rPr lang="en-US"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3</a:t>
            </a:r>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阶段</a:t>
            </a:r>
            <a:endParaRPr lang="zh-CN" altLang="en-US" sz="2000" dirty="0">
              <a:solidFill>
                <a:srgbClr val="C00000"/>
              </a:solidFill>
              <a:latin typeface="Consolas" panose="020B0609020204030204" pitchFamily="49" charset="0"/>
              <a:ea typeface="楷体" panose="02010609060101010101" pitchFamily="49" charset="-122"/>
              <a:cs typeface="Consolas" panose="020B0609020204030204" pitchFamily="49" charset="0"/>
            </a:endParaRPr>
          </a:p>
        </p:txBody>
      </p:sp>
      <p:pic>
        <p:nvPicPr>
          <p:cNvPr id="280577" name="Picture 1"/>
          <p:cNvPicPr>
            <a:picLocks noChangeAspect="1" noChangeArrowheads="1"/>
          </p:cNvPicPr>
          <p:nvPr/>
        </p:nvPicPr>
        <p:blipFill>
          <a:blip r:embed="rId2" cstate="print"/>
          <a:srcRect/>
          <a:stretch>
            <a:fillRect/>
          </a:stretch>
        </p:blipFill>
        <p:spPr bwMode="auto">
          <a:xfrm>
            <a:off x="1853743" y="4467344"/>
            <a:ext cx="5786478" cy="1710880"/>
          </a:xfrm>
          <a:prstGeom prst="rect">
            <a:avLst/>
          </a:prstGeom>
          <a:noFill/>
          <a:ln w="9525">
            <a:noFill/>
            <a:miter lim="800000"/>
            <a:headEnd/>
            <a:tailEnd/>
          </a:ln>
        </p:spPr>
      </p:pic>
      <p:grpSp>
        <p:nvGrpSpPr>
          <p:cNvPr id="53" name="组合 52"/>
          <p:cNvGrpSpPr/>
          <p:nvPr/>
        </p:nvGrpSpPr>
        <p:grpSpPr>
          <a:xfrm>
            <a:off x="5008066" y="1015826"/>
            <a:ext cx="928694" cy="3471943"/>
            <a:chOff x="500034" y="2202647"/>
            <a:chExt cx="928694" cy="4195265"/>
          </a:xfrm>
        </p:grpSpPr>
        <p:sp>
          <p:nvSpPr>
            <p:cNvPr id="54" name="圆角矩形 53"/>
            <p:cNvSpPr/>
            <p:nvPr/>
          </p:nvSpPr>
          <p:spPr>
            <a:xfrm>
              <a:off x="500034" y="2202647"/>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5" name="TextBox 54"/>
            <p:cNvSpPr txBox="1"/>
            <p:nvPr/>
          </p:nvSpPr>
          <p:spPr>
            <a:xfrm>
              <a:off x="642910" y="5914446"/>
              <a:ext cx="642942" cy="483466"/>
            </a:xfrm>
            <a:prstGeom prst="rect">
              <a:avLst/>
            </a:prstGeom>
            <a:noFill/>
          </p:spPr>
          <p:txBody>
            <a:bodyPr wrap="square" rtlCol="0">
              <a:spAutoFit/>
            </a:bodyPr>
            <a:lstStyle/>
            <a:p>
              <a:r>
                <a:rPr lang="en-US" altLang="zh-CN" sz="2000" i="1" dirty="0">
                  <a:solidFill>
                    <a:srgbClr val="0000FF"/>
                  </a:solidFill>
                  <a:latin typeface="Consolas" panose="020B0609020204030204" pitchFamily="49" charset="0"/>
                  <a:cs typeface="Consolas" panose="020B0609020204030204" pitchFamily="49" charset="0"/>
                </a:rPr>
                <a:t>k</a:t>
              </a:r>
              <a:r>
                <a:rPr lang="en-US" altLang="zh-CN" sz="2000" dirty="0">
                  <a:solidFill>
                    <a:srgbClr val="0000FF"/>
                  </a:solidFill>
                  <a:latin typeface="Consolas" panose="020B0609020204030204" pitchFamily="49" charset="0"/>
                  <a:cs typeface="Consolas" panose="020B0609020204030204" pitchFamily="49" charset="0"/>
                </a:rPr>
                <a:t>=3</a:t>
              </a:r>
              <a:endParaRPr lang="zh-CN" altLang="en-US" sz="2000" dirty="0">
                <a:solidFill>
                  <a:srgbClr val="0000FF"/>
                </a:solidFill>
                <a:latin typeface="Consolas" panose="020B0609020204030204" pitchFamily="49" charset="0"/>
                <a:cs typeface="Consolas" panose="020B0609020204030204" pitchFamily="49" charset="0"/>
              </a:endParaRPr>
            </a:p>
          </p:txBody>
        </p:sp>
      </p:grpSp>
      <p:sp>
        <p:nvSpPr>
          <p:cNvPr id="52" name="Rectangle 2">
            <a:extLst>
              <a:ext uri="{FF2B5EF4-FFF2-40B4-BE49-F238E27FC236}">
                <a16:creationId xmlns:a16="http://schemas.microsoft.com/office/drawing/2014/main" id="{66F410D1-4508-D9BC-C417-4FE90694EDC2}"/>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逆序解法</a:t>
            </a:r>
            <a:endParaRPr lang="en-US" altLang="zh-CN" b="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05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242362" y="1082800"/>
            <a:ext cx="5072098" cy="2586082"/>
            <a:chOff x="1000100" y="2786058"/>
            <a:chExt cx="6357982" cy="3088932"/>
          </a:xfrm>
        </p:grpSpPr>
        <p:sp>
          <p:nvSpPr>
            <p:cNvPr id="3" name="椭圆 2"/>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椭圆 3"/>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椭圆 4"/>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dirty="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dirty="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3" name="直接箭头连接符 12"/>
            <p:cNvCxnSpPr>
              <a:stCxn id="3" idx="7"/>
              <a:endCxn id="4"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3" idx="6"/>
              <a:endCxn id="5"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TextBox 32"/>
            <p:cNvSpPr txBox="1"/>
            <p:nvPr/>
          </p:nvSpPr>
          <p:spPr>
            <a:xfrm>
              <a:off x="1928794" y="478632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1" name="TextBox 50"/>
          <p:cNvSpPr txBox="1"/>
          <p:nvPr/>
        </p:nvSpPr>
        <p:spPr>
          <a:xfrm>
            <a:off x="879475" y="3990182"/>
            <a:ext cx="2000264" cy="400110"/>
          </a:xfrm>
          <a:prstGeom prst="rect">
            <a:avLst/>
          </a:prstGeom>
          <a:noFill/>
        </p:spPr>
        <p:txBody>
          <a:bodyPr wrap="square" rtlCol="0">
            <a:spAutoFit/>
          </a:bodyPr>
          <a:lstStyle/>
          <a:p>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④ 第</a:t>
            </a:r>
            <a:r>
              <a:rPr lang="en-US"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2</a:t>
            </a:r>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阶段</a:t>
            </a:r>
          </a:p>
        </p:txBody>
      </p:sp>
      <p:pic>
        <p:nvPicPr>
          <p:cNvPr id="293890" name="Picture 2"/>
          <p:cNvPicPr>
            <a:picLocks noChangeAspect="1" noChangeArrowheads="1"/>
          </p:cNvPicPr>
          <p:nvPr/>
        </p:nvPicPr>
        <p:blipFill>
          <a:blip r:embed="rId2" cstate="print"/>
          <a:srcRect/>
          <a:stretch>
            <a:fillRect/>
          </a:stretch>
        </p:blipFill>
        <p:spPr bwMode="auto">
          <a:xfrm>
            <a:off x="2239428" y="4302869"/>
            <a:ext cx="5286412" cy="2402508"/>
          </a:xfrm>
          <a:prstGeom prst="rect">
            <a:avLst/>
          </a:prstGeom>
          <a:noFill/>
          <a:ln w="9525">
            <a:noFill/>
            <a:miter lim="800000"/>
            <a:headEnd/>
            <a:tailEnd/>
          </a:ln>
        </p:spPr>
      </p:pic>
      <p:grpSp>
        <p:nvGrpSpPr>
          <p:cNvPr id="54" name="组合 53"/>
          <p:cNvGrpSpPr/>
          <p:nvPr/>
        </p:nvGrpSpPr>
        <p:grpSpPr>
          <a:xfrm>
            <a:off x="3242494" y="939924"/>
            <a:ext cx="928694" cy="3369728"/>
            <a:chOff x="500034" y="2428868"/>
            <a:chExt cx="928694" cy="4071755"/>
          </a:xfrm>
        </p:grpSpPr>
        <p:sp>
          <p:nvSpPr>
            <p:cNvPr id="55" name="圆角矩形 54"/>
            <p:cNvSpPr/>
            <p:nvPr/>
          </p:nvSpPr>
          <p:spPr>
            <a:xfrm>
              <a:off x="500034" y="2428868"/>
              <a:ext cx="928694" cy="357190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785786" y="6054347"/>
              <a:ext cx="642942" cy="446276"/>
            </a:xfrm>
            <a:prstGeom prst="rect">
              <a:avLst/>
            </a:prstGeom>
            <a:noFill/>
          </p:spPr>
          <p:txBody>
            <a:bodyPr wrap="square" rtlCol="0">
              <a:spAutoFit/>
            </a:bodyPr>
            <a:lstStyle/>
            <a:p>
              <a:r>
                <a:rPr lang="en-US" altLang="zh-CN" sz="1800" i="1">
                  <a:solidFill>
                    <a:srgbClr val="0000FF"/>
                  </a:solidFill>
                  <a:latin typeface="Consolas" panose="020B0609020204030204" pitchFamily="49" charset="0"/>
                  <a:cs typeface="Consolas" panose="020B0609020204030204" pitchFamily="49" charset="0"/>
                </a:rPr>
                <a:t>k</a:t>
              </a:r>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52" name="Rectangle 2">
            <a:extLst>
              <a:ext uri="{FF2B5EF4-FFF2-40B4-BE49-F238E27FC236}">
                <a16:creationId xmlns:a16="http://schemas.microsoft.com/office/drawing/2014/main" id="{1B814E4E-1A69-CE32-8DE8-71D54673AA42}"/>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逆序解法</a:t>
            </a:r>
            <a:endParaRPr lang="en-US" altLang="zh-CN" b="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8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843808" y="1165919"/>
            <a:ext cx="5072098" cy="2586082"/>
            <a:chOff x="1000100" y="2786058"/>
            <a:chExt cx="6357982" cy="3088932"/>
          </a:xfrm>
        </p:grpSpPr>
        <p:sp>
          <p:nvSpPr>
            <p:cNvPr id="3" name="椭圆 2"/>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 name="椭圆 3"/>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 name="椭圆 4"/>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3" name="直接箭头连接符 12"/>
            <p:cNvCxnSpPr>
              <a:stCxn id="3" idx="7"/>
              <a:endCxn id="4"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3" idx="6"/>
              <a:endCxn id="5"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 name="直接箭头连接符 15"/>
            <p:cNvCxnSpPr>
              <a:stCxn id="3" idx="5"/>
              <a:endCxn id="6" idx="2"/>
            </p:cNvCxnSpPr>
            <p:nvPr/>
          </p:nvCxnSpPr>
          <p:spPr>
            <a:xfrm rot="16200000" flipH="1">
              <a:off x="1378585" y="4486146"/>
              <a:ext cx="1037646" cy="1062903"/>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7" name="直接箭头连接符 16"/>
            <p:cNvCxnSpPr>
              <a:stCxn id="4" idx="6"/>
              <a:endCxn id="7"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4" idx="5"/>
              <a:endCxn id="8"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5" idx="6"/>
              <a:endCxn id="8"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5" idx="7"/>
              <a:endCxn id="7"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5" idx="5"/>
              <a:endCxn id="9"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endCxn id="8" idx="3"/>
            </p:cNvCxnSpPr>
            <p:nvPr/>
          </p:nvCxnSpPr>
          <p:spPr>
            <a:xfrm flipV="1">
              <a:off x="2794717" y="4498775"/>
              <a:ext cx="1339988" cy="959480"/>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6" idx="6"/>
              <a:endCxn id="9"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7" idx="6"/>
              <a:endCxn id="10"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7" idx="5"/>
              <a:endCxn id="11"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7"/>
              <a:endCxn id="10"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8" idx="5"/>
              <a:endCxn id="11" idx="2"/>
            </p:cNvCxnSpPr>
            <p:nvPr/>
          </p:nvCxnSpPr>
          <p:spPr>
            <a:xfrm rot="16200000" flipH="1">
              <a:off x="4771890" y="4164675"/>
              <a:ext cx="466142" cy="1134341"/>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9" idx="6"/>
              <a:endCxn id="11"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9" idx="7"/>
              <a:endCxn id="10"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0" idx="6"/>
              <a:endCxn id="12"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6"/>
              <a:endCxn id="12" idx="3"/>
            </p:cNvCxnSpPr>
            <p:nvPr/>
          </p:nvCxnSpPr>
          <p:spPr>
            <a:xfrm flipV="1">
              <a:off x="6000760" y="4498775"/>
              <a:ext cx="991465" cy="466142"/>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3" name="TextBox 32"/>
            <p:cNvSpPr txBox="1"/>
            <p:nvPr/>
          </p:nvSpPr>
          <p:spPr>
            <a:xfrm>
              <a:off x="1928794" y="478632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4" name="TextBox 33"/>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4714876" y="333297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572000" y="428625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49" name="直接箭头连接符 48"/>
            <p:cNvCxnSpPr>
              <a:stCxn id="6" idx="7"/>
              <a:endCxn id="7"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1" name="TextBox 50"/>
          <p:cNvSpPr txBox="1"/>
          <p:nvPr/>
        </p:nvSpPr>
        <p:spPr>
          <a:xfrm>
            <a:off x="1178695" y="3988876"/>
            <a:ext cx="2000264" cy="400110"/>
          </a:xfrm>
          <a:prstGeom prst="rect">
            <a:avLst/>
          </a:prstGeom>
          <a:noFill/>
        </p:spPr>
        <p:txBody>
          <a:bodyPr wrap="square" rtlCol="0">
            <a:spAutoFit/>
          </a:bodyPr>
          <a:lstStyle/>
          <a:p>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⑤ 第</a:t>
            </a:r>
            <a:r>
              <a:rPr lang="en-US"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1</a:t>
            </a:r>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阶段</a:t>
            </a:r>
          </a:p>
        </p:txBody>
      </p:sp>
      <p:grpSp>
        <p:nvGrpSpPr>
          <p:cNvPr id="293888" name="组合 53"/>
          <p:cNvGrpSpPr/>
          <p:nvPr/>
        </p:nvGrpSpPr>
        <p:grpSpPr>
          <a:xfrm>
            <a:off x="2629494" y="1265876"/>
            <a:ext cx="928694" cy="2757563"/>
            <a:chOff x="500034" y="2428869"/>
            <a:chExt cx="928694" cy="3332055"/>
          </a:xfrm>
        </p:grpSpPr>
        <p:sp>
          <p:nvSpPr>
            <p:cNvPr id="55" name="圆角矩形 54"/>
            <p:cNvSpPr/>
            <p:nvPr/>
          </p:nvSpPr>
          <p:spPr>
            <a:xfrm>
              <a:off x="500034" y="2428869"/>
              <a:ext cx="928694" cy="2727810"/>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277458"/>
              <a:ext cx="642942" cy="483466"/>
            </a:xfrm>
            <a:prstGeom prst="rect">
              <a:avLst/>
            </a:prstGeom>
            <a:noFill/>
          </p:spPr>
          <p:txBody>
            <a:bodyPr wrap="square" rtlCol="0">
              <a:spAutoFit/>
            </a:bodyPr>
            <a:lstStyle/>
            <a:p>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=1</a:t>
              </a:r>
              <a:endParaRPr lang="zh-CN" altLang="en-US" sz="2000">
                <a:solidFill>
                  <a:srgbClr val="0000FF"/>
                </a:solidFill>
                <a:latin typeface="Consolas" panose="020B0609020204030204" pitchFamily="49" charset="0"/>
                <a:cs typeface="Consolas" panose="020B0609020204030204" pitchFamily="49" charset="0"/>
              </a:endParaRPr>
            </a:p>
          </p:txBody>
        </p:sp>
      </p:grpSp>
      <p:pic>
        <p:nvPicPr>
          <p:cNvPr id="294914" name="Picture 2"/>
          <p:cNvPicPr>
            <a:picLocks noChangeAspect="1" noChangeArrowheads="1"/>
          </p:cNvPicPr>
          <p:nvPr/>
        </p:nvPicPr>
        <p:blipFill>
          <a:blip r:embed="rId2" cstate="print"/>
          <a:srcRect/>
          <a:stretch>
            <a:fillRect/>
          </a:stretch>
        </p:blipFill>
        <p:spPr bwMode="auto">
          <a:xfrm>
            <a:off x="2102974" y="4300702"/>
            <a:ext cx="5857916" cy="985444"/>
          </a:xfrm>
          <a:prstGeom prst="rect">
            <a:avLst/>
          </a:prstGeom>
          <a:noFill/>
          <a:ln w="9525">
            <a:noFill/>
            <a:miter lim="800000"/>
            <a:headEnd/>
            <a:tailEnd/>
          </a:ln>
        </p:spPr>
      </p:pic>
      <p:sp>
        <p:nvSpPr>
          <p:cNvPr id="57" name="TextBox 56"/>
          <p:cNvSpPr txBox="1"/>
          <p:nvPr/>
        </p:nvSpPr>
        <p:spPr>
          <a:xfrm>
            <a:off x="285720" y="5214950"/>
            <a:ext cx="8501122" cy="1246495"/>
          </a:xfrm>
          <a:prstGeom prst="rect">
            <a:avLst/>
          </a:prstGeom>
          <a:noFill/>
        </p:spPr>
        <p:txBody>
          <a:bodyPr wrap="square" rtlCol="0">
            <a:spAutoFit/>
          </a:bodyPr>
          <a:lstStyle/>
          <a:p>
            <a:pPr>
              <a:lnSpc>
                <a:spcPts val="3000"/>
              </a:lnSpc>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由</a:t>
            </a:r>
            <a:r>
              <a:rPr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(A)=12</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求出的最短路径长度为</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12</a:t>
            </a:r>
          </a:p>
          <a:p>
            <a:pPr>
              <a:lnSpc>
                <a:spcPts val="3000"/>
              </a:lnSpc>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由</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next(A)=B</a:t>
            </a:r>
            <a:r>
              <a:rPr lang="en-US" altLang="zh-CN" sz="18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next(B</a:t>
            </a:r>
            <a:r>
              <a:rPr lang="en-US" altLang="zh-CN" sz="18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8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next(C</a:t>
            </a:r>
            <a:r>
              <a:rPr lang="en-US" altLang="zh-CN" sz="18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8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next(D</a:t>
            </a:r>
            <a:r>
              <a:rPr lang="en-US" altLang="zh-CN" sz="18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en-US"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推出最短路径为</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A→B</a:t>
            </a:r>
            <a:r>
              <a:rPr lang="en-US" altLang="zh-CN" sz="1800" baseline="-25000">
                <a:solidFill>
                  <a:srgbClr val="FF0000"/>
                </a:solidFill>
                <a:latin typeface="Consolas" panose="020B0609020204030204" pitchFamily="49" charset="0"/>
                <a:ea typeface="楷体" panose="02010609060101010101" pitchFamily="49" charset="-122"/>
                <a:cs typeface="Consolas" panose="020B0609020204030204" pitchFamily="49" charset="0"/>
              </a:rPr>
              <a:t>3</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→C</a:t>
            </a:r>
            <a:r>
              <a:rPr lang="en-US" altLang="zh-CN" sz="1800" baseline="-25000">
                <a:solidFill>
                  <a:srgbClr val="FF0000"/>
                </a:solidFill>
                <a:latin typeface="Consolas" panose="020B0609020204030204" pitchFamily="49" charset="0"/>
                <a:ea typeface="楷体" panose="02010609060101010101" pitchFamily="49" charset="-122"/>
                <a:cs typeface="Consolas" panose="020B0609020204030204" pitchFamily="49" charset="0"/>
              </a:rPr>
              <a:t>2</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→D</a:t>
            </a:r>
            <a:r>
              <a:rPr lang="en-US" altLang="zh-CN" sz="1800" baseline="-25000">
                <a:solidFill>
                  <a:srgbClr val="FF0000"/>
                </a:solidFill>
                <a:latin typeface="Consolas" panose="020B0609020204030204" pitchFamily="49" charset="0"/>
                <a:ea typeface="楷体" panose="02010609060101010101" pitchFamily="49" charset="-122"/>
                <a:cs typeface="Consolas" panose="020B0609020204030204" pitchFamily="49" charset="0"/>
              </a:rPr>
              <a:t>2</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→E</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p>
        </p:txBody>
      </p:sp>
      <p:sp>
        <p:nvSpPr>
          <p:cNvPr id="52" name="Rectangle 2">
            <a:extLst>
              <a:ext uri="{FF2B5EF4-FFF2-40B4-BE49-F238E27FC236}">
                <a16:creationId xmlns:a16="http://schemas.microsoft.com/office/drawing/2014/main" id="{5433E0B2-2486-763E-7C71-77CD559EA726}"/>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逆序解法</a:t>
            </a:r>
            <a:endParaRPr lang="en-US" altLang="zh-CN" b="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49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1142984"/>
            <a:ext cx="6215106" cy="400110"/>
          </a:xfrm>
          <a:prstGeom prst="rect">
            <a:avLst/>
          </a:prstGeom>
          <a:noFill/>
        </p:spPr>
        <p:txBody>
          <a:bodyPr wrap="square" rtlCol="0">
            <a:spAutoFit/>
          </a:bodyPr>
          <a:lstStyle/>
          <a:p>
            <a:r>
              <a:rPr lang="pt-BR"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pt-BR"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对应的的状态转移方程如下：</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279554" name="Rectangle 2"/>
          <p:cNvSpPr>
            <a:spLocks noChangeArrowheads="1"/>
          </p:cNvSpPr>
          <p:nvPr/>
        </p:nvSpPr>
        <p:spPr bwMode="auto">
          <a:xfrm>
            <a:off x="0" y="0"/>
            <a:ext cx="184731" cy="461665"/>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Consolas" panose="020B0609020204030204" pitchFamily="49" charset="0"/>
              <a:cs typeface="Consolas" panose="020B0609020204030204" pitchFamily="49" charset="0"/>
            </a:endParaRPr>
          </a:p>
        </p:txBody>
      </p:sp>
      <p:graphicFrame>
        <p:nvGraphicFramePr>
          <p:cNvPr id="279553" name="Object 1"/>
          <p:cNvGraphicFramePr>
            <a:graphicFrameLocks noChangeAspect="1"/>
          </p:cNvGraphicFramePr>
          <p:nvPr/>
        </p:nvGraphicFramePr>
        <p:xfrm>
          <a:off x="818443" y="1857364"/>
          <a:ext cx="867462" cy="357190"/>
        </p:xfrm>
        <a:graphic>
          <a:graphicData uri="http://schemas.openxmlformats.org/presentationml/2006/ole">
            <mc:AlternateContent xmlns:mc="http://schemas.openxmlformats.org/markup-compatibility/2006">
              <mc:Choice xmlns:v="urn:schemas-microsoft-com:vml" Requires="v">
                <p:oleObj r:id="rId2" imgW="508000" imgH="190500" progId="">
                  <p:embed/>
                </p:oleObj>
              </mc:Choice>
              <mc:Fallback>
                <p:oleObj r:id="rId2" imgW="508000" imgH="190500" progId="">
                  <p:embed/>
                  <p:pic>
                    <p:nvPicPr>
                      <p:cNvPr id="279553"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443" y="1857364"/>
                        <a:ext cx="867462" cy="357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9556" name="Rectangle 4"/>
          <p:cNvSpPr>
            <a:spLocks noChangeArrowheads="1"/>
          </p:cNvSpPr>
          <p:nvPr/>
        </p:nvSpPr>
        <p:spPr bwMode="auto">
          <a:xfrm>
            <a:off x="0" y="0"/>
            <a:ext cx="184731" cy="461665"/>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latin typeface="Consolas" panose="020B0609020204030204" pitchFamily="49" charset="0"/>
              <a:cs typeface="Consolas" panose="020B0609020204030204" pitchFamily="49" charset="0"/>
            </a:endParaRPr>
          </a:p>
        </p:txBody>
      </p:sp>
      <p:graphicFrame>
        <p:nvGraphicFramePr>
          <p:cNvPr id="279555" name="Object 3"/>
          <p:cNvGraphicFramePr>
            <a:graphicFrameLocks noChangeAspect="1"/>
          </p:cNvGraphicFramePr>
          <p:nvPr/>
        </p:nvGraphicFramePr>
        <p:xfrm>
          <a:off x="785786" y="2285992"/>
          <a:ext cx="3941407" cy="571504"/>
        </p:xfrm>
        <a:graphic>
          <a:graphicData uri="http://schemas.openxmlformats.org/presentationml/2006/ole">
            <mc:AlternateContent xmlns:mc="http://schemas.openxmlformats.org/markup-compatibility/2006">
              <mc:Choice xmlns:v="urn:schemas-microsoft-com:vml" Requires="v">
                <p:oleObj r:id="rId4" imgW="1905000" imgH="279400" progId="">
                  <p:embed/>
                </p:oleObj>
              </mc:Choice>
              <mc:Fallback>
                <p:oleObj r:id="rId4" imgW="1905000" imgH="279400" progId="">
                  <p:embed/>
                  <p:pic>
                    <p:nvPicPr>
                      <p:cNvPr id="27955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786" y="2285992"/>
                        <a:ext cx="3941407"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组合 7"/>
          <p:cNvGrpSpPr/>
          <p:nvPr/>
        </p:nvGrpSpPr>
        <p:grpSpPr>
          <a:xfrm>
            <a:off x="928662" y="3210253"/>
            <a:ext cx="5072098" cy="2586082"/>
            <a:chOff x="1000100" y="2786058"/>
            <a:chExt cx="6357982" cy="3088932"/>
          </a:xfrm>
        </p:grpSpPr>
        <p:sp>
          <p:nvSpPr>
            <p:cNvPr id="9" name="椭圆 8"/>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5" name="椭圆 14"/>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6" name="椭圆 15"/>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7" name="椭圆 16"/>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8" name="椭圆 17"/>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9" name="直接箭头连接符 18"/>
            <p:cNvCxnSpPr>
              <a:stCxn id="9" idx="7"/>
              <a:endCxn id="10"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21" name="直接箭头连接符 20"/>
            <p:cNvCxnSpPr>
              <a:stCxn id="9" idx="6"/>
              <a:endCxn id="11"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9" idx="5"/>
              <a:endCxn id="12"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10" idx="6"/>
              <a:endCxn id="13"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10" idx="5"/>
              <a:endCxn id="14"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11" idx="6"/>
              <a:endCxn id="14"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11" idx="7"/>
              <a:endCxn id="13"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11" idx="5"/>
              <a:endCxn id="15"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endCxn id="14"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2" idx="6"/>
              <a:endCxn id="15"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3" idx="6"/>
              <a:endCxn id="16"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3" idx="5"/>
              <a:endCxn id="17"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4" idx="7"/>
              <a:endCxn id="16"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4" idx="5"/>
              <a:endCxn id="17"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5" idx="6"/>
              <a:endCxn id="17"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5" name="直接箭头连接符 34"/>
            <p:cNvCxnSpPr>
              <a:stCxn id="15" idx="7"/>
              <a:endCxn id="16"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16" idx="6"/>
              <a:endCxn id="18"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7" name="直接箭头连接符 36"/>
            <p:cNvCxnSpPr>
              <a:stCxn id="17" idx="6"/>
              <a:endCxn id="18"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8" name="TextBox 37"/>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1" name="TextBox 50"/>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2" name="TextBox 51"/>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3" name="TextBox 52"/>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4" name="TextBox 53"/>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5" name="直接箭头连接符 54"/>
            <p:cNvCxnSpPr>
              <a:stCxn id="12" idx="7"/>
              <a:endCxn id="13"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6" name="TextBox 55"/>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7" name="TextBox 56"/>
          <p:cNvSpPr txBox="1"/>
          <p:nvPr/>
        </p:nvSpPr>
        <p:spPr>
          <a:xfrm>
            <a:off x="5286380" y="1571612"/>
            <a:ext cx="2857520" cy="707886"/>
          </a:xfrm>
          <a:prstGeom prst="rect">
            <a:avLst/>
          </a:prstGeom>
          <a:noFill/>
        </p:spPr>
        <p:txBody>
          <a:bodyPr wrap="square" rtlCol="0">
            <a:spAutoFit/>
          </a:bodyPr>
          <a:lstStyle/>
          <a:p>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到</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pt-BR"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的最短路径长度</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4" name="Rectangle 2">
            <a:extLst>
              <a:ext uri="{FF2B5EF4-FFF2-40B4-BE49-F238E27FC236}">
                <a16:creationId xmlns:a16="http://schemas.microsoft.com/office/drawing/2014/main" id="{E37E7D03-C769-927F-098A-60CEC3EB9D23}"/>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顺序解法</a:t>
            </a:r>
            <a:endParaRPr lang="en-US" altLang="zh-CN" b="0" kern="0" dirty="0">
              <a:latin typeface="+mj-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9532" y="3856961"/>
            <a:ext cx="8215370" cy="400110"/>
          </a:xfrm>
          <a:prstGeom prst="rect">
            <a:avLst/>
          </a:prstGeom>
          <a:noFill/>
        </p:spPr>
        <p:txBody>
          <a:bodyPr wrap="square" rtlCol="0">
            <a:spAutoFit/>
          </a:bodyPr>
          <a:lstStyle/>
          <a:p>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用</a:t>
            </a:r>
            <a:r>
              <a:rPr lang="pt-BR" altLang="zh-CN" sz="2000" dirty="0" err="1">
                <a:solidFill>
                  <a:srgbClr val="0000FF"/>
                </a:solidFill>
                <a:latin typeface="Consolas" panose="020B0609020204030204" pitchFamily="49" charset="0"/>
                <a:ea typeface="楷体" panose="02010609060101010101" pitchFamily="49" charset="-122"/>
                <a:cs typeface="Consolas" panose="020B0609020204030204" pitchFamily="49" charset="0"/>
              </a:rPr>
              <a:t>pre</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表示路径上一个顶点的前驱顶点</a:t>
            </a:r>
            <a:r>
              <a:rPr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其求解</a:t>
            </a:r>
            <a:r>
              <a:rPr lang="pt-BR"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A</a:t>
            </a:r>
            <a:r>
              <a:rPr lang="pt-BR"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pt-BR" altLang="zh-CN" sz="2000" i="1" dirty="0">
                <a:solidFill>
                  <a:srgbClr val="0000FF"/>
                </a:solidFill>
                <a:latin typeface="Consolas" panose="020B0609020204030204" pitchFamily="49" charset="0"/>
                <a:ea typeface="楷体" panose="02010609060101010101" pitchFamily="49" charset="-122"/>
                <a:cs typeface="Consolas" panose="020B0609020204030204" pitchFamily="49" charset="0"/>
              </a:rPr>
              <a:t>E</a:t>
            </a:r>
            <a:r>
              <a:rPr lang="zh-CN" altLang="zh-CN" sz="2000" dirty="0">
                <a:solidFill>
                  <a:srgbClr val="0000FF"/>
                </a:solidFill>
                <a:latin typeface="Consolas" panose="020B0609020204030204" pitchFamily="49" charset="0"/>
                <a:ea typeface="楷体" panose="02010609060101010101" pitchFamily="49" charset="-122"/>
                <a:cs typeface="Consolas" panose="020B0609020204030204" pitchFamily="49" charset="0"/>
              </a:rPr>
              <a:t>的过程：</a:t>
            </a:r>
          </a:p>
        </p:txBody>
      </p:sp>
      <p:grpSp>
        <p:nvGrpSpPr>
          <p:cNvPr id="4" name="组合 3"/>
          <p:cNvGrpSpPr/>
          <p:nvPr/>
        </p:nvGrpSpPr>
        <p:grpSpPr>
          <a:xfrm>
            <a:off x="1043608" y="1049314"/>
            <a:ext cx="5072098" cy="2586082"/>
            <a:chOff x="1000100" y="2786058"/>
            <a:chExt cx="6357982" cy="3088932"/>
          </a:xfrm>
        </p:grpSpPr>
        <p:sp>
          <p:nvSpPr>
            <p:cNvPr id="5" name="椭圆 4"/>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5" idx="7"/>
              <a:endCxn id="6"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7" name="直接箭头连接符 16"/>
            <p:cNvCxnSpPr>
              <a:stCxn id="5" idx="6"/>
              <a:endCxn id="7"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714348" y="4100177"/>
            <a:ext cx="5643602" cy="2400657"/>
          </a:xfrm>
          <a:prstGeom prst="rect">
            <a:avLst/>
          </a:prstGeom>
          <a:noFill/>
        </p:spPr>
        <p:txBody>
          <a:bodyPr wrap="square" rtlCol="0">
            <a:spAutoFit/>
          </a:bodyPr>
          <a:lstStyle/>
          <a:p>
            <a:pPr>
              <a:lnSpc>
                <a:spcPts val="3000"/>
              </a:lnSpc>
            </a:pP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① 第</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阶段</a:t>
            </a:r>
          </a:p>
          <a:p>
            <a:pPr>
              <a:lnSpc>
                <a:spcPts val="3000"/>
              </a:lnSpc>
            </a:pPr>
            <a:r>
              <a:rPr lang="pt-BR"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nSpc>
                <a:spcPts val="3000"/>
              </a:lnSpc>
            </a:pP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② 第</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2</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阶段</a:t>
            </a:r>
          </a:p>
          <a:p>
            <a:pPr>
              <a:lnSpc>
                <a:spcPts val="3000"/>
              </a:lnSpc>
            </a:pPr>
            <a:r>
              <a:rPr lang="pt-BR"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)=MIN(</a:t>
            </a:r>
            <a:r>
              <a:rPr lang="pt-BR"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(A)+c(A</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pre(B</a:t>
            </a:r>
            <a:r>
              <a:rPr lang="pt-BR" altLang="zh-CN" sz="18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1</a:t>
            </a:r>
            <a:r>
              <a:rPr lang="pt-BR"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)=A</a:t>
            </a:r>
            <a:endParaRPr lang="zh-CN" altLang="zh-CN" sz="180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nSpc>
                <a:spcPts val="3000"/>
              </a:lnSpc>
            </a:pPr>
            <a:r>
              <a:rPr lang="pt-BR"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)=MIN(</a:t>
            </a:r>
            <a:r>
              <a:rPr lang="pt-BR"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(A)+c(A</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pre(B</a:t>
            </a:r>
            <a:r>
              <a:rPr lang="pt-BR" altLang="zh-CN" sz="18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2</a:t>
            </a:r>
            <a:r>
              <a:rPr lang="pt-BR"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)=A</a:t>
            </a:r>
            <a:endParaRPr lang="zh-CN" altLang="zh-CN" sz="180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nSpc>
                <a:spcPts val="3000"/>
              </a:lnSpc>
            </a:pPr>
            <a:r>
              <a:rPr lang="pt-BR"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)=MIN(</a:t>
            </a:r>
            <a:r>
              <a:rPr lang="pt-BR"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(A)+c(A</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pt-BR"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pt-BR"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pre(B</a:t>
            </a:r>
            <a:r>
              <a:rPr lang="pt-BR" altLang="zh-CN" sz="1800" baseline="-25000">
                <a:solidFill>
                  <a:srgbClr val="006600"/>
                </a:solidFill>
                <a:latin typeface="Consolas" panose="020B0609020204030204" pitchFamily="49" charset="0"/>
                <a:ea typeface="仿宋" panose="02010609060101010101" pitchFamily="49" charset="-122"/>
                <a:cs typeface="Consolas" panose="020B0609020204030204" pitchFamily="49" charset="0"/>
              </a:rPr>
              <a:t>3</a:t>
            </a:r>
            <a:r>
              <a:rPr lang="pt-BR"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)=A</a:t>
            </a:r>
            <a:endParaRPr lang="zh-CN" altLang="zh-CN" sz="18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54" name="组合 53"/>
          <p:cNvGrpSpPr/>
          <p:nvPr/>
        </p:nvGrpSpPr>
        <p:grpSpPr>
          <a:xfrm>
            <a:off x="1900864" y="1049314"/>
            <a:ext cx="928694" cy="3026852"/>
            <a:chOff x="500034" y="2428869"/>
            <a:chExt cx="928694" cy="3864653"/>
          </a:xfrm>
        </p:grpSpPr>
        <p:sp>
          <p:nvSpPr>
            <p:cNvPr id="55" name="圆角矩形 54"/>
            <p:cNvSpPr/>
            <p:nvPr/>
          </p:nvSpPr>
          <p:spPr>
            <a:xfrm>
              <a:off x="500034"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847246"/>
              <a:ext cx="642942" cy="446276"/>
            </a:xfrm>
            <a:prstGeom prst="rect">
              <a:avLst/>
            </a:prstGeom>
            <a:noFill/>
          </p:spPr>
          <p:txBody>
            <a:bodyPr wrap="square" rtlCol="0">
              <a:spAutoFit/>
            </a:bodyPr>
            <a:lstStyle/>
            <a:p>
              <a:r>
                <a:rPr lang="en-US" altLang="zh-CN" sz="1800" i="1">
                  <a:solidFill>
                    <a:srgbClr val="0000FF"/>
                  </a:solidFill>
                  <a:latin typeface="Consolas" panose="020B0609020204030204" pitchFamily="49" charset="0"/>
                  <a:cs typeface="Consolas" panose="020B0609020204030204" pitchFamily="49" charset="0"/>
                </a:rPr>
                <a:t>k</a:t>
              </a:r>
              <a:r>
                <a:rPr lang="en-US" altLang="zh-CN" sz="1800">
                  <a:solidFill>
                    <a:srgbClr val="0000FF"/>
                  </a:solidFill>
                  <a:latin typeface="Consolas" panose="020B0609020204030204" pitchFamily="49" charset="0"/>
                  <a:cs typeface="Consolas" panose="020B0609020204030204" pitchFamily="49" charset="0"/>
                </a:rPr>
                <a:t>=2</a:t>
              </a:r>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57" name="TextBox 56"/>
          <p:cNvSpPr txBox="1"/>
          <p:nvPr/>
        </p:nvSpPr>
        <p:spPr>
          <a:xfrm>
            <a:off x="6401458" y="2278074"/>
            <a:ext cx="2857520" cy="707886"/>
          </a:xfrm>
          <a:prstGeom prst="rect">
            <a:avLst/>
          </a:prstGeom>
          <a:noFill/>
        </p:spPr>
        <p:txBody>
          <a:bodyPr wrap="square" rtlCol="0">
            <a:spAutoFit/>
          </a:bodyPr>
          <a:lstStyle/>
          <a:p>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A</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到</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状态</a:t>
            </a:r>
            <a:r>
              <a:rPr lang="pt-BR"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s</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的最短路径长度</a:t>
            </a:r>
            <a:endParaRPr lang="zh-CN" altLang="en-US" sz="2000">
              <a:latin typeface="Consolas" panose="020B0609020204030204" pitchFamily="49" charset="0"/>
              <a:ea typeface="仿宋" panose="02010609060101010101" pitchFamily="49" charset="-122"/>
              <a:cs typeface="Consolas" panose="020B0609020204030204" pitchFamily="49" charset="0"/>
            </a:endParaRPr>
          </a:p>
        </p:txBody>
      </p:sp>
      <p:sp>
        <p:nvSpPr>
          <p:cNvPr id="2" name="Rectangle 2">
            <a:extLst>
              <a:ext uri="{FF2B5EF4-FFF2-40B4-BE49-F238E27FC236}">
                <a16:creationId xmlns:a16="http://schemas.microsoft.com/office/drawing/2014/main" id="{E55FC4DF-B055-D778-FD3D-864EBD8827C6}"/>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顺序解法</a:t>
            </a:r>
            <a:endParaRPr lang="en-US" altLang="zh-CN" b="0" kern="0" dirty="0">
              <a:latin typeface="+mj-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2123728" y="1187381"/>
            <a:ext cx="5072098" cy="2586082"/>
            <a:chOff x="1000100" y="2786058"/>
            <a:chExt cx="6357982" cy="3088932"/>
          </a:xfrm>
        </p:grpSpPr>
        <p:sp>
          <p:nvSpPr>
            <p:cNvPr id="5" name="椭圆 4"/>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5" idx="7"/>
              <a:endCxn id="6"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7" name="直接箭头连接符 16"/>
            <p:cNvCxnSpPr>
              <a:stCxn id="5" idx="6"/>
              <a:endCxn id="7"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895461" y="3964875"/>
            <a:ext cx="2071702" cy="400110"/>
          </a:xfrm>
          <a:prstGeom prst="rect">
            <a:avLst/>
          </a:prstGeom>
          <a:noFill/>
        </p:spPr>
        <p:txBody>
          <a:bodyPr wrap="square" rtlCol="0">
            <a:spAutoFit/>
          </a:bodyPr>
          <a:lstStyle/>
          <a:p>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③ 第</a:t>
            </a:r>
            <a:r>
              <a:rPr lang="en-US"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3</a:t>
            </a:r>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阶段</a:t>
            </a:r>
          </a:p>
        </p:txBody>
      </p:sp>
      <p:grpSp>
        <p:nvGrpSpPr>
          <p:cNvPr id="4" name="组合 53"/>
          <p:cNvGrpSpPr/>
          <p:nvPr/>
        </p:nvGrpSpPr>
        <p:grpSpPr>
          <a:xfrm>
            <a:off x="4325606" y="1015900"/>
            <a:ext cx="928694" cy="3229111"/>
            <a:chOff x="500034" y="2428869"/>
            <a:chExt cx="928694" cy="3901843"/>
          </a:xfrm>
        </p:grpSpPr>
        <p:sp>
          <p:nvSpPr>
            <p:cNvPr id="55" name="圆角矩形 54"/>
            <p:cNvSpPr/>
            <p:nvPr/>
          </p:nvSpPr>
          <p:spPr>
            <a:xfrm>
              <a:off x="500034"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=3</a:t>
              </a:r>
              <a:endParaRPr lang="zh-CN" altLang="en-US" sz="2000">
                <a:solidFill>
                  <a:srgbClr val="0000FF"/>
                </a:solidFill>
                <a:latin typeface="Consolas" panose="020B0609020204030204" pitchFamily="49" charset="0"/>
                <a:cs typeface="Consolas" panose="020B0609020204030204" pitchFamily="49" charset="0"/>
              </a:endParaRPr>
            </a:p>
          </p:txBody>
        </p:sp>
      </p:grpSp>
      <p:pic>
        <p:nvPicPr>
          <p:cNvPr id="295938" name="Picture 2"/>
          <p:cNvPicPr>
            <a:picLocks noChangeAspect="1" noChangeArrowheads="1"/>
          </p:cNvPicPr>
          <p:nvPr/>
        </p:nvPicPr>
        <p:blipFill>
          <a:blip r:embed="rId2" cstate="print"/>
          <a:srcRect/>
          <a:stretch>
            <a:fillRect/>
          </a:stretch>
        </p:blipFill>
        <p:spPr bwMode="auto">
          <a:xfrm>
            <a:off x="2349467" y="4211191"/>
            <a:ext cx="5429288" cy="2652239"/>
          </a:xfrm>
          <a:prstGeom prst="rect">
            <a:avLst/>
          </a:prstGeom>
          <a:noFill/>
          <a:ln w="9525">
            <a:noFill/>
            <a:miter lim="800000"/>
            <a:headEnd/>
            <a:tailEnd/>
          </a:ln>
        </p:spPr>
      </p:pic>
      <p:sp>
        <p:nvSpPr>
          <p:cNvPr id="54" name="Rectangle 2">
            <a:extLst>
              <a:ext uri="{FF2B5EF4-FFF2-40B4-BE49-F238E27FC236}">
                <a16:creationId xmlns:a16="http://schemas.microsoft.com/office/drawing/2014/main" id="{498B5B06-B4F6-1D6A-E90A-28685610F281}"/>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顺序解法</a:t>
            </a:r>
            <a:endParaRPr lang="en-US" altLang="zh-CN" b="0" kern="0" dirty="0">
              <a:latin typeface="+mj-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1840500" y="1528976"/>
            <a:ext cx="5072098" cy="2586082"/>
            <a:chOff x="1000100" y="2786058"/>
            <a:chExt cx="6357982" cy="3088932"/>
          </a:xfrm>
        </p:grpSpPr>
        <p:sp>
          <p:nvSpPr>
            <p:cNvPr id="5" name="椭圆 4"/>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5" idx="7"/>
              <a:endCxn id="6"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7" name="直接箭头连接符 16"/>
            <p:cNvCxnSpPr>
              <a:stCxn id="5" idx="6"/>
              <a:endCxn id="7"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78585" y="4486146"/>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98775"/>
              <a:ext cx="991465" cy="46614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928662" y="4581304"/>
            <a:ext cx="2071702" cy="400110"/>
          </a:xfrm>
          <a:prstGeom prst="rect">
            <a:avLst/>
          </a:prstGeom>
          <a:noFill/>
        </p:spPr>
        <p:txBody>
          <a:bodyPr wrap="square" rtlCol="0">
            <a:spAutoFit/>
          </a:bodyPr>
          <a:lstStyle/>
          <a:p>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④ 第</a:t>
            </a:r>
            <a:r>
              <a:rPr lang="en-US"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4</a:t>
            </a:r>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阶段</a:t>
            </a:r>
          </a:p>
        </p:txBody>
      </p:sp>
      <p:grpSp>
        <p:nvGrpSpPr>
          <p:cNvPr id="3" name="组合 53"/>
          <p:cNvGrpSpPr/>
          <p:nvPr/>
        </p:nvGrpSpPr>
        <p:grpSpPr>
          <a:xfrm>
            <a:off x="5198086" y="1386013"/>
            <a:ext cx="928694" cy="3229111"/>
            <a:chOff x="500034" y="2428869"/>
            <a:chExt cx="928694" cy="3901843"/>
          </a:xfrm>
        </p:grpSpPr>
        <p:sp>
          <p:nvSpPr>
            <p:cNvPr id="55" name="圆角矩形 54"/>
            <p:cNvSpPr/>
            <p:nvPr/>
          </p:nvSpPr>
          <p:spPr>
            <a:xfrm>
              <a:off x="500034"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=4</a:t>
              </a:r>
              <a:endParaRPr lang="zh-CN" altLang="en-US" sz="2000">
                <a:solidFill>
                  <a:srgbClr val="0000FF"/>
                </a:solidFill>
                <a:latin typeface="Consolas" panose="020B0609020204030204" pitchFamily="49" charset="0"/>
                <a:cs typeface="Consolas" panose="020B0609020204030204" pitchFamily="49" charset="0"/>
              </a:endParaRPr>
            </a:p>
          </p:txBody>
        </p:sp>
      </p:grpSp>
      <p:pic>
        <p:nvPicPr>
          <p:cNvPr id="296962" name="Picture 2"/>
          <p:cNvPicPr>
            <a:picLocks noChangeAspect="1" noChangeArrowheads="1"/>
          </p:cNvPicPr>
          <p:nvPr/>
        </p:nvPicPr>
        <p:blipFill>
          <a:blip r:embed="rId2" cstate="print"/>
          <a:srcRect/>
          <a:stretch>
            <a:fillRect/>
          </a:stretch>
        </p:blipFill>
        <p:spPr bwMode="auto">
          <a:xfrm>
            <a:off x="1840500" y="5138708"/>
            <a:ext cx="5572164" cy="1719292"/>
          </a:xfrm>
          <a:prstGeom prst="rect">
            <a:avLst/>
          </a:prstGeom>
          <a:noFill/>
          <a:ln w="9525">
            <a:noFill/>
            <a:miter lim="800000"/>
            <a:headEnd/>
            <a:tailEnd/>
          </a:ln>
        </p:spPr>
      </p:pic>
      <p:sp>
        <p:nvSpPr>
          <p:cNvPr id="4" name="Rectangle 2">
            <a:extLst>
              <a:ext uri="{FF2B5EF4-FFF2-40B4-BE49-F238E27FC236}">
                <a16:creationId xmlns:a16="http://schemas.microsoft.com/office/drawing/2014/main" id="{5926C134-97F8-BB9D-3A3F-6B22351E6F85}"/>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顺序解法</a:t>
            </a:r>
            <a:endParaRPr lang="en-US" altLang="zh-CN" b="0" kern="0" dirty="0">
              <a:latin typeface="+mj-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1638412" y="968483"/>
            <a:ext cx="5072098" cy="2586082"/>
            <a:chOff x="1000100" y="2786058"/>
            <a:chExt cx="6357982" cy="3088932"/>
          </a:xfrm>
        </p:grpSpPr>
        <p:sp>
          <p:nvSpPr>
            <p:cNvPr id="5" name="椭圆 4"/>
            <p:cNvSpPr/>
            <p:nvPr/>
          </p:nvSpPr>
          <p:spPr>
            <a:xfrm>
              <a:off x="1000100" y="4071942"/>
              <a:ext cx="428628"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椭圆 5"/>
            <p:cNvSpPr/>
            <p:nvPr/>
          </p:nvSpPr>
          <p:spPr>
            <a:xfrm>
              <a:off x="2428860"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7" name="椭圆 6"/>
            <p:cNvSpPr/>
            <p:nvPr/>
          </p:nvSpPr>
          <p:spPr>
            <a:xfrm>
              <a:off x="2428860"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8" name="椭圆 7"/>
            <p:cNvSpPr/>
            <p:nvPr/>
          </p:nvSpPr>
          <p:spPr>
            <a:xfrm>
              <a:off x="2428860"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B</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 name="椭圆 8"/>
            <p:cNvSpPr/>
            <p:nvPr/>
          </p:nvSpPr>
          <p:spPr>
            <a:xfrm>
              <a:off x="4071934" y="2857496"/>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0" name="椭圆 9"/>
            <p:cNvSpPr/>
            <p:nvPr/>
          </p:nvSpPr>
          <p:spPr>
            <a:xfrm>
              <a:off x="4071934" y="4071942"/>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1" name="椭圆 10"/>
            <p:cNvSpPr/>
            <p:nvPr/>
          </p:nvSpPr>
          <p:spPr>
            <a:xfrm>
              <a:off x="4071934" y="528638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C</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2" name="椭圆 11"/>
            <p:cNvSpPr/>
            <p:nvPr/>
          </p:nvSpPr>
          <p:spPr>
            <a:xfrm>
              <a:off x="5572132" y="3500438"/>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1</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3" name="椭圆 12"/>
            <p:cNvSpPr/>
            <p:nvPr/>
          </p:nvSpPr>
          <p:spPr>
            <a:xfrm>
              <a:off x="5572132" y="4714884"/>
              <a:ext cx="428628" cy="5000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D</a:t>
              </a:r>
              <a:r>
                <a:rPr lang="en-US" altLang="zh-CN"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14" name="椭圆 13"/>
            <p:cNvSpPr/>
            <p:nvPr/>
          </p:nvSpPr>
          <p:spPr>
            <a:xfrm>
              <a:off x="6929454" y="4071942"/>
              <a:ext cx="428628" cy="50006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E</a:t>
              </a:r>
              <a:endParaRPr lang="zh-CN" altLang="en-US" sz="2000" baseline="-25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5" name="直接箭头连接符 14"/>
            <p:cNvCxnSpPr>
              <a:stCxn id="5" idx="7"/>
              <a:endCxn id="6" idx="2"/>
            </p:cNvCxnSpPr>
            <p:nvPr/>
          </p:nvCxnSpPr>
          <p:spPr>
            <a:xfrm rot="5400000" flipH="1" flipV="1">
              <a:off x="1378585" y="3094901"/>
              <a:ext cx="1037646" cy="106290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Box 15"/>
            <p:cNvSpPr txBox="1"/>
            <p:nvPr/>
          </p:nvSpPr>
          <p:spPr>
            <a:xfrm>
              <a:off x="1698561" y="338349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17" name="直接箭头连接符 16"/>
            <p:cNvCxnSpPr>
              <a:stCxn id="5" idx="6"/>
              <a:endCxn id="7" idx="2"/>
            </p:cNvCxnSpPr>
            <p:nvPr/>
          </p:nvCxnSpPr>
          <p:spPr>
            <a:xfrm>
              <a:off x="1428728" y="4321975"/>
              <a:ext cx="100013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8" name="直接箭头连接符 17"/>
            <p:cNvCxnSpPr>
              <a:stCxn id="5" idx="5"/>
              <a:endCxn id="8" idx="2"/>
            </p:cNvCxnSpPr>
            <p:nvPr/>
          </p:nvCxnSpPr>
          <p:spPr>
            <a:xfrm rot="16200000" flipH="1">
              <a:off x="1378585" y="4486146"/>
              <a:ext cx="1037646" cy="1062903"/>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6"/>
              <a:endCxn id="9" idx="2"/>
            </p:cNvCxnSpPr>
            <p:nvPr/>
          </p:nvCxnSpPr>
          <p:spPr>
            <a:xfrm>
              <a:off x="2857488" y="3107529"/>
              <a:ext cx="1214446" cy="15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5"/>
              <a:endCxn id="10" idx="1"/>
            </p:cNvCxnSpPr>
            <p:nvPr/>
          </p:nvCxnSpPr>
          <p:spPr>
            <a:xfrm rot="16200000" flipH="1">
              <a:off x="3034288" y="3044758"/>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7" idx="6"/>
              <a:endCxn id="10" idx="2"/>
            </p:cNvCxnSpPr>
            <p:nvPr/>
          </p:nvCxnSpPr>
          <p:spPr>
            <a:xfrm>
              <a:off x="2857488" y="4321975"/>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7" idx="7"/>
              <a:endCxn id="9" idx="3"/>
            </p:cNvCxnSpPr>
            <p:nvPr/>
          </p:nvCxnSpPr>
          <p:spPr>
            <a:xfrm rot="5400000" flipH="1" flipV="1">
              <a:off x="3034288" y="3044758"/>
              <a:ext cx="860846" cy="1339988"/>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7" idx="5"/>
              <a:endCxn id="11" idx="1"/>
            </p:cNvCxnSpPr>
            <p:nvPr/>
          </p:nvCxnSpPr>
          <p:spPr>
            <a:xfrm rot="16200000" flipH="1">
              <a:off x="3034288" y="4259204"/>
              <a:ext cx="860846" cy="13399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直接箭头连接符 23"/>
            <p:cNvCxnSpPr>
              <a:endCxn id="10" idx="3"/>
            </p:cNvCxnSpPr>
            <p:nvPr/>
          </p:nvCxnSpPr>
          <p:spPr>
            <a:xfrm flipV="1">
              <a:off x="2794717" y="4498775"/>
              <a:ext cx="1339988" cy="959480"/>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6"/>
              <a:endCxn id="11" idx="2"/>
            </p:cNvCxnSpPr>
            <p:nvPr/>
          </p:nvCxnSpPr>
          <p:spPr>
            <a:xfrm>
              <a:off x="2857488" y="5536421"/>
              <a:ext cx="1214446"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9" idx="6"/>
              <a:endCxn id="12" idx="1"/>
            </p:cNvCxnSpPr>
            <p:nvPr/>
          </p:nvCxnSpPr>
          <p:spPr>
            <a:xfrm>
              <a:off x="4500562" y="3107529"/>
              <a:ext cx="1134341" cy="466142"/>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9" idx="5"/>
              <a:endCxn id="13" idx="1"/>
            </p:cNvCxnSpPr>
            <p:nvPr/>
          </p:nvCxnSpPr>
          <p:spPr>
            <a:xfrm rot="16200000" flipH="1">
              <a:off x="4284453" y="3437667"/>
              <a:ext cx="1503788"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0" idx="7"/>
              <a:endCxn id="12" idx="2"/>
            </p:cNvCxnSpPr>
            <p:nvPr/>
          </p:nvCxnSpPr>
          <p:spPr>
            <a:xfrm rot="5400000" flipH="1" flipV="1">
              <a:off x="4807609" y="3380653"/>
              <a:ext cx="394704" cy="1134341"/>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直接箭头连接符 28"/>
            <p:cNvCxnSpPr>
              <a:stCxn id="10" idx="5"/>
              <a:endCxn id="13" idx="2"/>
            </p:cNvCxnSpPr>
            <p:nvPr/>
          </p:nvCxnSpPr>
          <p:spPr>
            <a:xfrm rot="16200000" flipH="1">
              <a:off x="4771890" y="4164675"/>
              <a:ext cx="466142" cy="1134341"/>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30" name="直接箭头连接符 29"/>
            <p:cNvCxnSpPr>
              <a:stCxn id="11" idx="6"/>
              <a:endCxn id="13" idx="3"/>
            </p:cNvCxnSpPr>
            <p:nvPr/>
          </p:nvCxnSpPr>
          <p:spPr>
            <a:xfrm flipV="1">
              <a:off x="4500562" y="5141717"/>
              <a:ext cx="1134341" cy="394704"/>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cxnSp>
          <p:nvCxnSpPr>
            <p:cNvPr id="31" name="直接箭头连接符 30"/>
            <p:cNvCxnSpPr>
              <a:stCxn id="11" idx="7"/>
              <a:endCxn id="12" idx="3"/>
            </p:cNvCxnSpPr>
            <p:nvPr/>
          </p:nvCxnSpPr>
          <p:spPr>
            <a:xfrm rot="5400000" flipH="1" flipV="1">
              <a:off x="4320172" y="4044890"/>
              <a:ext cx="1432350" cy="1197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2" name="直接箭头连接符 31"/>
            <p:cNvCxnSpPr>
              <a:stCxn id="12" idx="6"/>
              <a:endCxn id="14" idx="1"/>
            </p:cNvCxnSpPr>
            <p:nvPr/>
          </p:nvCxnSpPr>
          <p:spPr>
            <a:xfrm>
              <a:off x="6000760" y="3750471"/>
              <a:ext cx="991465" cy="39470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3" idx="6"/>
              <a:endCxn id="14" idx="3"/>
            </p:cNvCxnSpPr>
            <p:nvPr/>
          </p:nvCxnSpPr>
          <p:spPr>
            <a:xfrm flipV="1">
              <a:off x="6000760" y="4498775"/>
              <a:ext cx="991465" cy="466142"/>
            </a:xfrm>
            <a:prstGeom prst="straightConnector1">
              <a:avLst/>
            </a:prstGeom>
            <a:ln w="38100">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866880" y="40005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5" name="TextBox 34"/>
            <p:cNvSpPr txBox="1"/>
            <p:nvPr/>
          </p:nvSpPr>
          <p:spPr>
            <a:xfrm>
              <a:off x="1928794" y="478632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6" name="TextBox 35"/>
            <p:cNvSpPr txBox="1"/>
            <p:nvPr/>
          </p:nvSpPr>
          <p:spPr>
            <a:xfrm>
              <a:off x="2928926" y="278605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7</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7" name="TextBox 36"/>
            <p:cNvSpPr txBox="1"/>
            <p:nvPr/>
          </p:nvSpPr>
          <p:spPr>
            <a:xfrm>
              <a:off x="2954326" y="3139301"/>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8" name="TextBox 37"/>
            <p:cNvSpPr txBox="1"/>
            <p:nvPr/>
          </p:nvSpPr>
          <p:spPr>
            <a:xfrm>
              <a:off x="2908288" y="3740152"/>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39" name="TextBox 38"/>
            <p:cNvSpPr txBox="1"/>
            <p:nvPr/>
          </p:nvSpPr>
          <p:spPr>
            <a:xfrm>
              <a:off x="3000364" y="403860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0" name="TextBox 39"/>
            <p:cNvSpPr txBox="1"/>
            <p:nvPr/>
          </p:nvSpPr>
          <p:spPr>
            <a:xfrm>
              <a:off x="2781109" y="488122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1" name="TextBox 40"/>
            <p:cNvSpPr txBox="1"/>
            <p:nvPr/>
          </p:nvSpPr>
          <p:spPr>
            <a:xfrm>
              <a:off x="2997189" y="558089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5</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2" name="TextBox 41"/>
            <p:cNvSpPr txBox="1"/>
            <p:nvPr/>
          </p:nvSpPr>
          <p:spPr>
            <a:xfrm>
              <a:off x="4786314" y="292893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3" name="TextBox 42"/>
            <p:cNvSpPr txBox="1"/>
            <p:nvPr/>
          </p:nvSpPr>
          <p:spPr>
            <a:xfrm>
              <a:off x="4714876" y="3332977"/>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4" name="TextBox 43"/>
            <p:cNvSpPr txBox="1"/>
            <p:nvPr/>
          </p:nvSpPr>
          <p:spPr>
            <a:xfrm>
              <a:off x="4500562" y="379494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6</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5" name="TextBox 44"/>
            <p:cNvSpPr txBox="1"/>
            <p:nvPr/>
          </p:nvSpPr>
          <p:spPr>
            <a:xfrm>
              <a:off x="4572000" y="4286256"/>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6" name="TextBox 45"/>
            <p:cNvSpPr txBox="1"/>
            <p:nvPr/>
          </p:nvSpPr>
          <p:spPr>
            <a:xfrm>
              <a:off x="4441824" y="4866513"/>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7" name="TextBox 46"/>
            <p:cNvSpPr txBox="1"/>
            <p:nvPr/>
          </p:nvSpPr>
          <p:spPr>
            <a:xfrm>
              <a:off x="4760914" y="5454665"/>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6143636" y="4559308"/>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49" name="TextBox 48"/>
            <p:cNvSpPr txBox="1"/>
            <p:nvPr/>
          </p:nvSpPr>
          <p:spPr>
            <a:xfrm>
              <a:off x="6215074" y="3500439"/>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3</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50" name="TextBox 49"/>
            <p:cNvSpPr txBox="1"/>
            <p:nvPr/>
          </p:nvSpPr>
          <p:spPr>
            <a:xfrm>
              <a:off x="3000364" y="4357694"/>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4</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cxnSp>
          <p:nvCxnSpPr>
            <p:cNvPr id="51" name="直接箭头连接符 50"/>
            <p:cNvCxnSpPr>
              <a:stCxn id="8" idx="7"/>
              <a:endCxn id="9" idx="4"/>
            </p:cNvCxnSpPr>
            <p:nvPr/>
          </p:nvCxnSpPr>
          <p:spPr>
            <a:xfrm rot="5400000" flipH="1" flipV="1">
              <a:off x="2539453" y="3612827"/>
              <a:ext cx="2002059" cy="1491531"/>
            </a:xfrm>
            <a:prstGeom prst="straightConnector1">
              <a:avLst/>
            </a:prstGeom>
            <a:ln>
              <a:solidFill>
                <a:srgbClr val="C00000"/>
              </a:solidFill>
              <a:tailEnd type="arrow"/>
            </a:ln>
          </p:spPr>
          <p:style>
            <a:lnRef idx="1">
              <a:schemeClr val="dk1"/>
            </a:lnRef>
            <a:fillRef idx="0">
              <a:schemeClr val="dk1"/>
            </a:fillRef>
            <a:effectRef idx="0">
              <a:schemeClr val="dk1"/>
            </a:effectRef>
            <a:fontRef idx="minor">
              <a:schemeClr val="tx1"/>
            </a:fontRef>
          </p:style>
        </p:cxnSp>
        <p:sp>
          <p:nvSpPr>
            <p:cNvPr id="52" name="TextBox 51"/>
            <p:cNvSpPr txBox="1"/>
            <p:nvPr/>
          </p:nvSpPr>
          <p:spPr>
            <a:xfrm>
              <a:off x="3149588" y="5214950"/>
              <a:ext cx="214315" cy="294097"/>
            </a:xfrm>
            <a:prstGeom prst="rect">
              <a:avLst/>
            </a:prstGeom>
            <a:noFill/>
          </p:spPr>
          <p:txBody>
            <a:bodyPr wrap="square" lIns="0" tIns="0" rIns="0" bIns="0" rtlCol="0">
              <a:spAutoFit/>
            </a:bodyPr>
            <a:lstStyle/>
            <a:p>
              <a:r>
                <a:rPr lang="en-US" altLang="zh-CN" sz="1600">
                  <a:solidFill>
                    <a:srgbClr val="0000FF"/>
                  </a:solidFill>
                  <a:latin typeface="Consolas" panose="020B0609020204030204" pitchFamily="49" charset="0"/>
                  <a:ea typeface="楷体" panose="02010609060101010101" pitchFamily="49" charset="-122"/>
                  <a:cs typeface="Consolas" panose="020B0609020204030204" pitchFamily="49" charset="0"/>
                </a:rPr>
                <a:t>2</a:t>
              </a:r>
              <a:endParaRPr lang="zh-CN" altLang="en-US" sz="16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grpSp>
      <p:sp>
        <p:nvSpPr>
          <p:cNvPr id="53" name="TextBox 52"/>
          <p:cNvSpPr txBox="1"/>
          <p:nvPr/>
        </p:nvSpPr>
        <p:spPr>
          <a:xfrm>
            <a:off x="883557" y="3671444"/>
            <a:ext cx="2071702" cy="400110"/>
          </a:xfrm>
          <a:prstGeom prst="rect">
            <a:avLst/>
          </a:prstGeom>
          <a:noFill/>
        </p:spPr>
        <p:txBody>
          <a:bodyPr wrap="square" rtlCol="0">
            <a:spAutoFit/>
          </a:bodyPr>
          <a:lstStyle/>
          <a:p>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⑤ 第</a:t>
            </a:r>
            <a:r>
              <a:rPr lang="en-US"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5</a:t>
            </a:r>
            <a:r>
              <a:rPr lang="zh-CN" altLang="zh-CN" sz="2000" dirty="0">
                <a:solidFill>
                  <a:srgbClr val="C00000"/>
                </a:solidFill>
                <a:latin typeface="Consolas" panose="020B0609020204030204" pitchFamily="49" charset="0"/>
                <a:ea typeface="楷体" panose="02010609060101010101" pitchFamily="49" charset="-122"/>
                <a:cs typeface="Consolas" panose="020B0609020204030204" pitchFamily="49" charset="0"/>
              </a:rPr>
              <a:t>阶段</a:t>
            </a:r>
          </a:p>
        </p:txBody>
      </p:sp>
      <p:grpSp>
        <p:nvGrpSpPr>
          <p:cNvPr id="3" name="组合 53"/>
          <p:cNvGrpSpPr/>
          <p:nvPr/>
        </p:nvGrpSpPr>
        <p:grpSpPr>
          <a:xfrm>
            <a:off x="4995998" y="1028292"/>
            <a:ext cx="928694" cy="3026339"/>
            <a:chOff x="500034" y="2428869"/>
            <a:chExt cx="928694" cy="3901843"/>
          </a:xfrm>
        </p:grpSpPr>
        <p:sp>
          <p:nvSpPr>
            <p:cNvPr id="55" name="圆角矩形 54"/>
            <p:cNvSpPr/>
            <p:nvPr/>
          </p:nvSpPr>
          <p:spPr>
            <a:xfrm>
              <a:off x="500034" y="2428869"/>
              <a:ext cx="928694" cy="3418378"/>
            </a:xfrm>
            <a:prstGeom prst="roundRect">
              <a:avLst/>
            </a:prstGeom>
            <a:noFill/>
            <a:ln>
              <a:solidFill>
                <a:srgbClr val="99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56" name="TextBox 55"/>
            <p:cNvSpPr txBox="1"/>
            <p:nvPr/>
          </p:nvSpPr>
          <p:spPr>
            <a:xfrm>
              <a:off x="642910" y="5847246"/>
              <a:ext cx="642942" cy="483466"/>
            </a:xfrm>
            <a:prstGeom prst="rect">
              <a:avLst/>
            </a:prstGeom>
            <a:noFill/>
          </p:spPr>
          <p:txBody>
            <a:bodyPr wrap="square" rtlCol="0">
              <a:spAutoFit/>
            </a:bodyPr>
            <a:lstStyle/>
            <a:p>
              <a:r>
                <a:rPr lang="en-US" altLang="zh-CN" sz="2000" i="1">
                  <a:solidFill>
                    <a:srgbClr val="0000FF"/>
                  </a:solidFill>
                  <a:latin typeface="Consolas" panose="020B0609020204030204" pitchFamily="49" charset="0"/>
                  <a:cs typeface="Consolas" panose="020B0609020204030204" pitchFamily="49" charset="0"/>
                </a:rPr>
                <a:t>k</a:t>
              </a:r>
              <a:r>
                <a:rPr lang="en-US" altLang="zh-CN" sz="2000">
                  <a:solidFill>
                    <a:srgbClr val="0000FF"/>
                  </a:solidFill>
                  <a:latin typeface="Consolas" panose="020B0609020204030204" pitchFamily="49" charset="0"/>
                  <a:cs typeface="Consolas" panose="020B0609020204030204" pitchFamily="49" charset="0"/>
                </a:rPr>
                <a:t>=4</a:t>
              </a:r>
              <a:endParaRPr lang="zh-CN" altLang="en-US" sz="2000">
                <a:solidFill>
                  <a:srgbClr val="0000FF"/>
                </a:solidFill>
                <a:latin typeface="Consolas" panose="020B0609020204030204" pitchFamily="49" charset="0"/>
                <a:cs typeface="Consolas" panose="020B0609020204030204" pitchFamily="49" charset="0"/>
              </a:endParaRPr>
            </a:p>
          </p:txBody>
        </p:sp>
      </p:grpSp>
      <p:pic>
        <p:nvPicPr>
          <p:cNvPr id="297986" name="Picture 2"/>
          <p:cNvPicPr>
            <a:picLocks noChangeAspect="1" noChangeArrowheads="1"/>
          </p:cNvPicPr>
          <p:nvPr/>
        </p:nvPicPr>
        <p:blipFill>
          <a:blip r:embed="rId2" cstate="print"/>
          <a:srcRect/>
          <a:stretch>
            <a:fillRect/>
          </a:stretch>
        </p:blipFill>
        <p:spPr bwMode="auto">
          <a:xfrm>
            <a:off x="1988376" y="4049273"/>
            <a:ext cx="5517212" cy="714380"/>
          </a:xfrm>
          <a:prstGeom prst="rect">
            <a:avLst/>
          </a:prstGeom>
          <a:noFill/>
          <a:ln w="9525">
            <a:noFill/>
            <a:miter lim="800000"/>
            <a:headEnd/>
            <a:tailEnd/>
          </a:ln>
        </p:spPr>
      </p:pic>
      <p:sp>
        <p:nvSpPr>
          <p:cNvPr id="57" name="TextBox 56"/>
          <p:cNvSpPr txBox="1"/>
          <p:nvPr/>
        </p:nvSpPr>
        <p:spPr>
          <a:xfrm>
            <a:off x="571472" y="4643446"/>
            <a:ext cx="7715304" cy="1290225"/>
          </a:xfrm>
          <a:prstGeom prst="rect">
            <a:avLst/>
          </a:prstGeom>
          <a:noFill/>
        </p:spPr>
        <p:txBody>
          <a:bodyPr wrap="square" rtlCol="0">
            <a:spAutoFit/>
          </a:bodyPr>
          <a:lstStyle/>
          <a:p>
            <a:pPr>
              <a:lnSpc>
                <a:spcPct val="15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由</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(E)=12</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求出的最短路径长度为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12</a:t>
            </a:r>
          </a:p>
          <a:p>
            <a:pPr>
              <a:lnSpc>
                <a:spcPct val="15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由</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pre(E)=D</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pre(D</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)=C</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pre(C</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pre(B</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推出最短路径为</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A→B</a:t>
            </a:r>
            <a:r>
              <a:rPr lang="en-US" altLang="zh-CN" sz="180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3</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→C</a:t>
            </a:r>
            <a:r>
              <a:rPr lang="en-US" altLang="zh-CN" sz="180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sz="1800" baseline="-2500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→E</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Rectangle 2">
            <a:extLst>
              <a:ext uri="{FF2B5EF4-FFF2-40B4-BE49-F238E27FC236}">
                <a16:creationId xmlns:a16="http://schemas.microsoft.com/office/drawing/2014/main" id="{068F8A58-A557-D289-D718-C8F3D52271B1}"/>
              </a:ext>
            </a:extLst>
          </p:cNvPr>
          <p:cNvSpPr txBox="1">
            <a:spLocks noChangeArrowheads="1"/>
          </p:cNvSpPr>
          <p:nvPr/>
        </p:nvSpPr>
        <p:spPr>
          <a:xfrm>
            <a:off x="879475" y="269875"/>
            <a:ext cx="7869238" cy="927100"/>
          </a:xfrm>
          <a:prstGeom prst="rect">
            <a:avLst/>
          </a:prstGeom>
        </p:spPr>
        <p:txBody>
          <a:bodyPr/>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dirty="0">
                <a:latin typeface="+mj-ea"/>
              </a:rPr>
              <a:t>4.3.3 </a:t>
            </a:r>
            <a:r>
              <a:rPr lang="zh-CN" altLang="en-US" kern="0" dirty="0">
                <a:latin typeface="+mj-ea"/>
              </a:rPr>
              <a:t>多段图问题</a:t>
            </a:r>
            <a:r>
              <a:rPr lang="en-US" altLang="zh-CN" kern="0" dirty="0">
                <a:latin typeface="+mj-ea"/>
              </a:rPr>
              <a:t>-</a:t>
            </a:r>
            <a:r>
              <a:rPr lang="zh-CN" altLang="en-US" kern="0" dirty="0">
                <a:latin typeface="+mj-ea"/>
              </a:rPr>
              <a:t>顺序解法</a:t>
            </a:r>
            <a:endParaRPr lang="en-US" altLang="zh-CN" b="0" kern="0" dirty="0">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9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4.3.4 </a:t>
            </a:r>
            <a:r>
              <a:rPr lang="zh-CN" altLang="en-US" sz="3200" dirty="0">
                <a:latin typeface="+mj-ea"/>
              </a:rPr>
              <a:t>最优二分检索树问题</a:t>
            </a:r>
            <a:endParaRPr lang="en-US" altLang="zh-CN" b="0" dirty="0">
              <a:latin typeface="+mj-ea"/>
            </a:endParaRPr>
          </a:p>
        </p:txBody>
      </p:sp>
      <p:sp>
        <p:nvSpPr>
          <p:cNvPr id="13316" name="Rectangle 3"/>
          <p:cNvSpPr>
            <a:spLocks noGrp="1" noChangeArrowheads="1"/>
          </p:cNvSpPr>
          <p:nvPr>
            <p:ph type="body" idx="1"/>
          </p:nvPr>
        </p:nvSpPr>
        <p:spPr>
          <a:xfrm>
            <a:off x="817563" y="1268413"/>
            <a:ext cx="5698653" cy="4646612"/>
          </a:xfrm>
        </p:spPr>
        <p:txBody>
          <a:bodyPr/>
          <a:lstStyle/>
          <a:p>
            <a:r>
              <a:rPr lang="zh-CN" altLang="en-US" dirty="0"/>
              <a:t>什么是二叉搜索树？</a:t>
            </a:r>
          </a:p>
          <a:p>
            <a:pPr lvl="1"/>
            <a:r>
              <a:rPr lang="zh-CN" altLang="en-US" sz="2400" dirty="0">
                <a:latin typeface="+mn-ea"/>
                <a:ea typeface="+mn-ea"/>
              </a:rPr>
              <a:t>若它的左子树不空，则左子树上所有节点的值均小于它的根节点的值；</a:t>
            </a:r>
          </a:p>
          <a:p>
            <a:pPr lvl="1"/>
            <a:r>
              <a:rPr lang="zh-CN" altLang="en-US" sz="2400" dirty="0">
                <a:latin typeface="+mn-ea"/>
                <a:ea typeface="+mn-ea"/>
              </a:rPr>
              <a:t>若它的右子树不空，则右子树上所有节点的值均大于它的根节点的值；</a:t>
            </a:r>
          </a:p>
          <a:p>
            <a:pPr lvl="1"/>
            <a:r>
              <a:rPr lang="zh-CN" altLang="en-US" sz="2400" dirty="0">
                <a:latin typeface="+mn-ea"/>
                <a:ea typeface="+mn-ea"/>
              </a:rPr>
              <a:t>它的左、右子树也分别为二叉排序树</a:t>
            </a:r>
          </a:p>
          <a:p>
            <a:r>
              <a:rPr lang="zh-CN" altLang="en-US" dirty="0"/>
              <a:t>在随机的情况下，二叉查找树的平均查找长度和</a:t>
            </a:r>
            <a:r>
              <a:rPr lang="en-US" altLang="zh-CN" i="1" dirty="0" err="1"/>
              <a:t>logn</a:t>
            </a:r>
            <a:r>
              <a:rPr lang="zh-CN" altLang="en-US" dirty="0"/>
              <a:t>是等数量级的。</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grpSp>
        <p:nvGrpSpPr>
          <p:cNvPr id="4" name="组合 6">
            <a:extLst>
              <a:ext uri="{FF2B5EF4-FFF2-40B4-BE49-F238E27FC236}">
                <a16:creationId xmlns:a16="http://schemas.microsoft.com/office/drawing/2014/main" id="{57EB9397-A7FC-CE32-C8F7-60844D93435A}"/>
              </a:ext>
            </a:extLst>
          </p:cNvPr>
          <p:cNvGrpSpPr/>
          <p:nvPr/>
        </p:nvGrpSpPr>
        <p:grpSpPr>
          <a:xfrm>
            <a:off x="6149975" y="1268413"/>
            <a:ext cx="2994025" cy="3429000"/>
            <a:chOff x="3408" y="960"/>
            <a:chExt cx="1886" cy="2160"/>
          </a:xfrm>
          <a:solidFill>
            <a:srgbClr val="FFC000"/>
          </a:solidFill>
        </p:grpSpPr>
        <p:sp>
          <p:nvSpPr>
            <p:cNvPr id="5" name="椭圆 7">
              <a:extLst>
                <a:ext uri="{FF2B5EF4-FFF2-40B4-BE49-F238E27FC236}">
                  <a16:creationId xmlns:a16="http://schemas.microsoft.com/office/drawing/2014/main" id="{C2EC6E06-DB88-35AB-4229-31BA767D4EA7}"/>
                </a:ext>
              </a:extLst>
            </p:cNvPr>
            <p:cNvSpPr/>
            <p:nvPr/>
          </p:nvSpPr>
          <p:spPr>
            <a:xfrm>
              <a:off x="4176" y="960"/>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6" name="椭圆 8">
              <a:extLst>
                <a:ext uri="{FF2B5EF4-FFF2-40B4-BE49-F238E27FC236}">
                  <a16:creationId xmlns:a16="http://schemas.microsoft.com/office/drawing/2014/main" id="{320EE801-A428-A42B-D524-0627033F2FBA}"/>
                </a:ext>
              </a:extLst>
            </p:cNvPr>
            <p:cNvSpPr/>
            <p:nvPr/>
          </p:nvSpPr>
          <p:spPr>
            <a:xfrm>
              <a:off x="3408" y="1728"/>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7" name="椭圆 9">
              <a:extLst>
                <a:ext uri="{FF2B5EF4-FFF2-40B4-BE49-F238E27FC236}">
                  <a16:creationId xmlns:a16="http://schemas.microsoft.com/office/drawing/2014/main" id="{3B3EB593-9BFD-D446-A400-C7B09E383888}"/>
                </a:ext>
              </a:extLst>
            </p:cNvPr>
            <p:cNvSpPr/>
            <p:nvPr/>
          </p:nvSpPr>
          <p:spPr>
            <a:xfrm>
              <a:off x="3792" y="1344"/>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8" name="椭圆 10">
              <a:extLst>
                <a:ext uri="{FF2B5EF4-FFF2-40B4-BE49-F238E27FC236}">
                  <a16:creationId xmlns:a16="http://schemas.microsoft.com/office/drawing/2014/main" id="{DF7BD30E-D960-16CC-FF1B-E2777C2FA45B}"/>
                </a:ext>
              </a:extLst>
            </p:cNvPr>
            <p:cNvSpPr/>
            <p:nvPr/>
          </p:nvSpPr>
          <p:spPr>
            <a:xfrm>
              <a:off x="4560" y="1344"/>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9" name="椭圆 11">
              <a:extLst>
                <a:ext uri="{FF2B5EF4-FFF2-40B4-BE49-F238E27FC236}">
                  <a16:creationId xmlns:a16="http://schemas.microsoft.com/office/drawing/2014/main" id="{CF536F3D-6E43-E3BC-A4DA-72CF600311E9}"/>
                </a:ext>
              </a:extLst>
            </p:cNvPr>
            <p:cNvSpPr/>
            <p:nvPr/>
          </p:nvSpPr>
          <p:spPr>
            <a:xfrm>
              <a:off x="4992" y="1776"/>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0" name="椭圆 12">
              <a:extLst>
                <a:ext uri="{FF2B5EF4-FFF2-40B4-BE49-F238E27FC236}">
                  <a16:creationId xmlns:a16="http://schemas.microsoft.com/office/drawing/2014/main" id="{510D446B-BE86-0A59-F998-9F01CC603781}"/>
                </a:ext>
              </a:extLst>
            </p:cNvPr>
            <p:cNvSpPr/>
            <p:nvPr/>
          </p:nvSpPr>
          <p:spPr>
            <a:xfrm>
              <a:off x="4176" y="1728"/>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1" name="椭圆 13">
              <a:extLst>
                <a:ext uri="{FF2B5EF4-FFF2-40B4-BE49-F238E27FC236}">
                  <a16:creationId xmlns:a16="http://schemas.microsoft.com/office/drawing/2014/main" id="{1FA630F0-7279-E6D8-2049-5D230A6213AE}"/>
                </a:ext>
              </a:extLst>
            </p:cNvPr>
            <p:cNvSpPr/>
            <p:nvPr/>
          </p:nvSpPr>
          <p:spPr>
            <a:xfrm>
              <a:off x="4656" y="2160"/>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2" name="椭圆 14">
              <a:extLst>
                <a:ext uri="{FF2B5EF4-FFF2-40B4-BE49-F238E27FC236}">
                  <a16:creationId xmlns:a16="http://schemas.microsoft.com/office/drawing/2014/main" id="{57A29CCE-6332-7440-74C7-1FC82EB504CB}"/>
                </a:ext>
              </a:extLst>
            </p:cNvPr>
            <p:cNvSpPr/>
            <p:nvPr/>
          </p:nvSpPr>
          <p:spPr>
            <a:xfrm>
              <a:off x="4656" y="2880"/>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3" name="椭圆 15">
              <a:extLst>
                <a:ext uri="{FF2B5EF4-FFF2-40B4-BE49-F238E27FC236}">
                  <a16:creationId xmlns:a16="http://schemas.microsoft.com/office/drawing/2014/main" id="{EFB9E51B-E459-A3B9-CCDC-5C3B1B480938}"/>
                </a:ext>
              </a:extLst>
            </p:cNvPr>
            <p:cNvSpPr/>
            <p:nvPr/>
          </p:nvSpPr>
          <p:spPr>
            <a:xfrm>
              <a:off x="3832" y="2108"/>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4" name="椭圆 16">
              <a:extLst>
                <a:ext uri="{FF2B5EF4-FFF2-40B4-BE49-F238E27FC236}">
                  <a16:creationId xmlns:a16="http://schemas.microsoft.com/office/drawing/2014/main" id="{28E2B4EB-B991-8152-9CEA-35E90FE4EB91}"/>
                </a:ext>
              </a:extLst>
            </p:cNvPr>
            <p:cNvSpPr/>
            <p:nvPr/>
          </p:nvSpPr>
          <p:spPr>
            <a:xfrm>
              <a:off x="4992" y="2496"/>
              <a:ext cx="240" cy="240"/>
            </a:xfrm>
            <a:prstGeom prst="ellipse">
              <a:avLst/>
            </a:prstGeom>
            <a:grpFill/>
            <a:ln w="28575"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cxnSp>
          <p:nvCxnSpPr>
            <p:cNvPr id="15" name="直接箭头连接符 17">
              <a:extLst>
                <a:ext uri="{FF2B5EF4-FFF2-40B4-BE49-F238E27FC236}">
                  <a16:creationId xmlns:a16="http://schemas.microsoft.com/office/drawing/2014/main" id="{C60617B9-8229-2593-0539-36B329D1B461}"/>
                </a:ext>
              </a:extLst>
            </p:cNvPr>
            <p:cNvCxnSpPr>
              <a:stCxn id="5" idx="3"/>
              <a:endCxn id="7" idx="7"/>
            </p:cNvCxnSpPr>
            <p:nvPr/>
          </p:nvCxnSpPr>
          <p:spPr>
            <a:xfrm flipH="1">
              <a:off x="3997" y="1174"/>
              <a:ext cx="214" cy="196"/>
            </a:xfrm>
            <a:prstGeom prst="straightConnector1">
              <a:avLst/>
            </a:prstGeom>
            <a:grpFill/>
            <a:ln w="28575" cap="flat" cmpd="sng">
              <a:solidFill>
                <a:schemeClr val="bg1"/>
              </a:solidFill>
              <a:prstDash val="solid"/>
              <a:headEnd type="none" w="med" len="med"/>
              <a:tailEnd type="none" w="med" len="med"/>
            </a:ln>
          </p:spPr>
        </p:cxnSp>
        <p:cxnSp>
          <p:nvCxnSpPr>
            <p:cNvPr id="16" name="直接箭头连接符 18">
              <a:extLst>
                <a:ext uri="{FF2B5EF4-FFF2-40B4-BE49-F238E27FC236}">
                  <a16:creationId xmlns:a16="http://schemas.microsoft.com/office/drawing/2014/main" id="{127F1396-E573-F07A-8B82-8D2E3E5418E4}"/>
                </a:ext>
              </a:extLst>
            </p:cNvPr>
            <p:cNvCxnSpPr>
              <a:stCxn id="7" idx="3"/>
              <a:endCxn id="6" idx="7"/>
            </p:cNvCxnSpPr>
            <p:nvPr/>
          </p:nvCxnSpPr>
          <p:spPr>
            <a:xfrm flipH="1">
              <a:off x="3613" y="1558"/>
              <a:ext cx="214" cy="196"/>
            </a:xfrm>
            <a:prstGeom prst="straightConnector1">
              <a:avLst/>
            </a:prstGeom>
            <a:grpFill/>
            <a:ln w="28575" cap="flat" cmpd="sng">
              <a:solidFill>
                <a:schemeClr val="bg1"/>
              </a:solidFill>
              <a:prstDash val="solid"/>
              <a:headEnd type="none" w="med" len="med"/>
              <a:tailEnd type="none" w="med" len="med"/>
            </a:ln>
          </p:spPr>
        </p:cxnSp>
        <p:cxnSp>
          <p:nvCxnSpPr>
            <p:cNvPr id="17" name="直接箭头连接符 19">
              <a:extLst>
                <a:ext uri="{FF2B5EF4-FFF2-40B4-BE49-F238E27FC236}">
                  <a16:creationId xmlns:a16="http://schemas.microsoft.com/office/drawing/2014/main" id="{4CA396DA-BA98-9449-EF2C-1349471E4F6C}"/>
                </a:ext>
              </a:extLst>
            </p:cNvPr>
            <p:cNvCxnSpPr>
              <a:stCxn id="7" idx="5"/>
              <a:endCxn id="10" idx="1"/>
            </p:cNvCxnSpPr>
            <p:nvPr/>
          </p:nvCxnSpPr>
          <p:spPr>
            <a:xfrm>
              <a:off x="3997" y="1558"/>
              <a:ext cx="214" cy="196"/>
            </a:xfrm>
            <a:prstGeom prst="straightConnector1">
              <a:avLst/>
            </a:prstGeom>
            <a:grpFill/>
            <a:ln w="28575" cap="flat" cmpd="sng">
              <a:solidFill>
                <a:schemeClr val="bg1"/>
              </a:solidFill>
              <a:prstDash val="solid"/>
              <a:headEnd type="none" w="med" len="med"/>
              <a:tailEnd type="none" w="med" len="med"/>
            </a:ln>
          </p:spPr>
        </p:cxnSp>
        <p:cxnSp>
          <p:nvCxnSpPr>
            <p:cNvPr id="18" name="直接箭头连接符 20">
              <a:extLst>
                <a:ext uri="{FF2B5EF4-FFF2-40B4-BE49-F238E27FC236}">
                  <a16:creationId xmlns:a16="http://schemas.microsoft.com/office/drawing/2014/main" id="{763DEBAB-77E8-CDCE-2275-9D2F7B8588F8}"/>
                </a:ext>
              </a:extLst>
            </p:cNvPr>
            <p:cNvCxnSpPr>
              <a:stCxn id="5" idx="5"/>
              <a:endCxn id="8" idx="1"/>
            </p:cNvCxnSpPr>
            <p:nvPr/>
          </p:nvCxnSpPr>
          <p:spPr>
            <a:xfrm>
              <a:off x="4381" y="1174"/>
              <a:ext cx="214" cy="196"/>
            </a:xfrm>
            <a:prstGeom prst="straightConnector1">
              <a:avLst/>
            </a:prstGeom>
            <a:grpFill/>
            <a:ln w="28575" cap="flat" cmpd="sng">
              <a:solidFill>
                <a:schemeClr val="bg1"/>
              </a:solidFill>
              <a:prstDash val="solid"/>
              <a:headEnd type="none" w="med" len="med"/>
              <a:tailEnd type="none" w="med" len="med"/>
            </a:ln>
          </p:spPr>
        </p:cxnSp>
        <p:cxnSp>
          <p:nvCxnSpPr>
            <p:cNvPr id="19" name="直接箭头连接符 21">
              <a:extLst>
                <a:ext uri="{FF2B5EF4-FFF2-40B4-BE49-F238E27FC236}">
                  <a16:creationId xmlns:a16="http://schemas.microsoft.com/office/drawing/2014/main" id="{5BA9AD72-2814-B4B6-3C2C-F3E5D2D808B1}"/>
                </a:ext>
              </a:extLst>
            </p:cNvPr>
            <p:cNvCxnSpPr>
              <a:stCxn id="8" idx="5"/>
              <a:endCxn id="9" idx="1"/>
            </p:cNvCxnSpPr>
            <p:nvPr/>
          </p:nvCxnSpPr>
          <p:spPr>
            <a:xfrm>
              <a:off x="4765" y="1558"/>
              <a:ext cx="262" cy="244"/>
            </a:xfrm>
            <a:prstGeom prst="straightConnector1">
              <a:avLst/>
            </a:prstGeom>
            <a:grpFill/>
            <a:ln w="28575" cap="flat" cmpd="sng">
              <a:solidFill>
                <a:schemeClr val="bg1"/>
              </a:solidFill>
              <a:prstDash val="solid"/>
              <a:headEnd type="none" w="med" len="med"/>
              <a:tailEnd type="none" w="med" len="med"/>
            </a:ln>
          </p:spPr>
        </p:cxnSp>
        <p:cxnSp>
          <p:nvCxnSpPr>
            <p:cNvPr id="20" name="直接箭头连接符 22">
              <a:extLst>
                <a:ext uri="{FF2B5EF4-FFF2-40B4-BE49-F238E27FC236}">
                  <a16:creationId xmlns:a16="http://schemas.microsoft.com/office/drawing/2014/main" id="{B946800C-F04E-FDA5-563F-A3AD53248271}"/>
                </a:ext>
              </a:extLst>
            </p:cNvPr>
            <p:cNvCxnSpPr>
              <a:stCxn id="9" idx="3"/>
              <a:endCxn id="11" idx="7"/>
            </p:cNvCxnSpPr>
            <p:nvPr/>
          </p:nvCxnSpPr>
          <p:spPr>
            <a:xfrm flipH="1">
              <a:off x="4861" y="1990"/>
              <a:ext cx="166" cy="196"/>
            </a:xfrm>
            <a:prstGeom prst="straightConnector1">
              <a:avLst/>
            </a:prstGeom>
            <a:grpFill/>
            <a:ln w="28575" cap="flat" cmpd="sng">
              <a:solidFill>
                <a:schemeClr val="bg1"/>
              </a:solidFill>
              <a:prstDash val="solid"/>
              <a:headEnd type="none" w="med" len="med"/>
              <a:tailEnd type="none" w="med" len="med"/>
            </a:ln>
          </p:spPr>
        </p:cxnSp>
        <p:cxnSp>
          <p:nvCxnSpPr>
            <p:cNvPr id="21" name="直接箭头连接符 23">
              <a:extLst>
                <a:ext uri="{FF2B5EF4-FFF2-40B4-BE49-F238E27FC236}">
                  <a16:creationId xmlns:a16="http://schemas.microsoft.com/office/drawing/2014/main" id="{D24B99AB-2768-FF0D-0A35-462865DB381C}"/>
                </a:ext>
              </a:extLst>
            </p:cNvPr>
            <p:cNvCxnSpPr>
              <a:stCxn id="11" idx="5"/>
              <a:endCxn id="14" idx="1"/>
            </p:cNvCxnSpPr>
            <p:nvPr/>
          </p:nvCxnSpPr>
          <p:spPr>
            <a:xfrm>
              <a:off x="4861" y="2374"/>
              <a:ext cx="166" cy="148"/>
            </a:xfrm>
            <a:prstGeom prst="straightConnector1">
              <a:avLst/>
            </a:prstGeom>
            <a:grpFill/>
            <a:ln w="28575" cap="flat" cmpd="sng">
              <a:solidFill>
                <a:schemeClr val="bg1"/>
              </a:solidFill>
              <a:prstDash val="solid"/>
              <a:headEnd type="none" w="med" len="med"/>
              <a:tailEnd type="none" w="med" len="med"/>
            </a:ln>
          </p:spPr>
        </p:cxnSp>
        <p:cxnSp>
          <p:nvCxnSpPr>
            <p:cNvPr id="22" name="直接箭头连接符 24">
              <a:extLst>
                <a:ext uri="{FF2B5EF4-FFF2-40B4-BE49-F238E27FC236}">
                  <a16:creationId xmlns:a16="http://schemas.microsoft.com/office/drawing/2014/main" id="{BF7CD314-C84C-4282-ADD9-4311A0F9A1CF}"/>
                </a:ext>
              </a:extLst>
            </p:cNvPr>
            <p:cNvCxnSpPr>
              <a:stCxn id="14" idx="3"/>
              <a:endCxn id="12" idx="7"/>
            </p:cNvCxnSpPr>
            <p:nvPr/>
          </p:nvCxnSpPr>
          <p:spPr>
            <a:xfrm flipH="1">
              <a:off x="4861" y="2710"/>
              <a:ext cx="166" cy="196"/>
            </a:xfrm>
            <a:prstGeom prst="straightConnector1">
              <a:avLst/>
            </a:prstGeom>
            <a:grpFill/>
            <a:ln w="28575" cap="flat" cmpd="sng">
              <a:solidFill>
                <a:schemeClr val="bg1"/>
              </a:solidFill>
              <a:prstDash val="solid"/>
              <a:headEnd type="none" w="med" len="med"/>
              <a:tailEnd type="none" w="med" len="med"/>
            </a:ln>
          </p:spPr>
        </p:cxnSp>
        <p:sp>
          <p:nvSpPr>
            <p:cNvPr id="23" name="文本框 60438">
              <a:extLst>
                <a:ext uri="{FF2B5EF4-FFF2-40B4-BE49-F238E27FC236}">
                  <a16:creationId xmlns:a16="http://schemas.microsoft.com/office/drawing/2014/main" id="{6B570D09-C539-A6D7-24B5-81EF89C2432D}"/>
                </a:ext>
              </a:extLst>
            </p:cNvPr>
            <p:cNvSpPr txBox="1"/>
            <p:nvPr/>
          </p:nvSpPr>
          <p:spPr>
            <a:xfrm>
              <a:off x="4149" y="976"/>
              <a:ext cx="298"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45</a:t>
              </a:r>
            </a:p>
          </p:txBody>
        </p:sp>
        <p:sp>
          <p:nvSpPr>
            <p:cNvPr id="24" name="文本框 60439">
              <a:extLst>
                <a:ext uri="{FF2B5EF4-FFF2-40B4-BE49-F238E27FC236}">
                  <a16:creationId xmlns:a16="http://schemas.microsoft.com/office/drawing/2014/main" id="{4E1E6E77-6360-F6F4-714E-73E3506C8248}"/>
                </a:ext>
              </a:extLst>
            </p:cNvPr>
            <p:cNvSpPr txBox="1"/>
            <p:nvPr/>
          </p:nvSpPr>
          <p:spPr>
            <a:xfrm>
              <a:off x="3767" y="1356"/>
              <a:ext cx="298"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12</a:t>
              </a:r>
            </a:p>
          </p:txBody>
        </p:sp>
        <p:sp>
          <p:nvSpPr>
            <p:cNvPr id="25" name="文本框 60440">
              <a:extLst>
                <a:ext uri="{FF2B5EF4-FFF2-40B4-BE49-F238E27FC236}">
                  <a16:creationId xmlns:a16="http://schemas.microsoft.com/office/drawing/2014/main" id="{21BF1EF1-4347-0DEA-0379-76A8EFD61DDA}"/>
                </a:ext>
              </a:extLst>
            </p:cNvPr>
            <p:cNvSpPr txBox="1"/>
            <p:nvPr/>
          </p:nvSpPr>
          <p:spPr>
            <a:xfrm>
              <a:off x="4535" y="1360"/>
              <a:ext cx="298"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53</a:t>
              </a:r>
            </a:p>
          </p:txBody>
        </p:sp>
        <p:sp>
          <p:nvSpPr>
            <p:cNvPr id="26" name="文本框 60441">
              <a:extLst>
                <a:ext uri="{FF2B5EF4-FFF2-40B4-BE49-F238E27FC236}">
                  <a16:creationId xmlns:a16="http://schemas.microsoft.com/office/drawing/2014/main" id="{67F22717-6B2B-7385-B897-741499182382}"/>
                </a:ext>
              </a:extLst>
            </p:cNvPr>
            <p:cNvSpPr txBox="1"/>
            <p:nvPr/>
          </p:nvSpPr>
          <p:spPr>
            <a:xfrm>
              <a:off x="3424" y="1748"/>
              <a:ext cx="207"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3</a:t>
              </a:r>
            </a:p>
          </p:txBody>
        </p:sp>
        <p:sp>
          <p:nvSpPr>
            <p:cNvPr id="27" name="文本框 60442">
              <a:extLst>
                <a:ext uri="{FF2B5EF4-FFF2-40B4-BE49-F238E27FC236}">
                  <a16:creationId xmlns:a16="http://schemas.microsoft.com/office/drawing/2014/main" id="{9530E75B-E126-4C65-913F-82D2E6866565}"/>
                </a:ext>
              </a:extLst>
            </p:cNvPr>
            <p:cNvSpPr txBox="1"/>
            <p:nvPr/>
          </p:nvSpPr>
          <p:spPr>
            <a:xfrm>
              <a:off x="4143" y="1740"/>
              <a:ext cx="298"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37</a:t>
              </a:r>
            </a:p>
          </p:txBody>
        </p:sp>
        <p:sp>
          <p:nvSpPr>
            <p:cNvPr id="28" name="文本框 60443">
              <a:extLst>
                <a:ext uri="{FF2B5EF4-FFF2-40B4-BE49-F238E27FC236}">
                  <a16:creationId xmlns:a16="http://schemas.microsoft.com/office/drawing/2014/main" id="{D2AA87C4-789E-B2FD-F06D-554712E8DD0F}"/>
                </a:ext>
              </a:extLst>
            </p:cNvPr>
            <p:cNvSpPr txBox="1"/>
            <p:nvPr/>
          </p:nvSpPr>
          <p:spPr>
            <a:xfrm>
              <a:off x="3803" y="2120"/>
              <a:ext cx="298"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24</a:t>
              </a:r>
            </a:p>
          </p:txBody>
        </p:sp>
        <p:sp>
          <p:nvSpPr>
            <p:cNvPr id="29" name="文本框 60444">
              <a:extLst>
                <a:ext uri="{FF2B5EF4-FFF2-40B4-BE49-F238E27FC236}">
                  <a16:creationId xmlns:a16="http://schemas.microsoft.com/office/drawing/2014/main" id="{70B9C3F8-0945-B05A-3F71-FD1D9090A779}"/>
                </a:ext>
              </a:extLst>
            </p:cNvPr>
            <p:cNvSpPr txBox="1"/>
            <p:nvPr/>
          </p:nvSpPr>
          <p:spPr>
            <a:xfrm>
              <a:off x="4938" y="1800"/>
              <a:ext cx="356" cy="19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400" b="1" dirty="0">
                  <a:latin typeface="Verdana" panose="020B0604030504040204" pitchFamily="34" charset="0"/>
                </a:rPr>
                <a:t>100</a:t>
              </a:r>
            </a:p>
          </p:txBody>
        </p:sp>
        <p:sp>
          <p:nvSpPr>
            <p:cNvPr id="30" name="文本框 60445">
              <a:extLst>
                <a:ext uri="{FF2B5EF4-FFF2-40B4-BE49-F238E27FC236}">
                  <a16:creationId xmlns:a16="http://schemas.microsoft.com/office/drawing/2014/main" id="{8D779DA4-002C-2404-6373-6325D2DD0AD5}"/>
                </a:ext>
              </a:extLst>
            </p:cNvPr>
            <p:cNvSpPr txBox="1"/>
            <p:nvPr/>
          </p:nvSpPr>
          <p:spPr>
            <a:xfrm>
              <a:off x="4631" y="2176"/>
              <a:ext cx="298"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61</a:t>
              </a:r>
            </a:p>
          </p:txBody>
        </p:sp>
        <p:sp>
          <p:nvSpPr>
            <p:cNvPr id="31" name="文本框 60446">
              <a:extLst>
                <a:ext uri="{FF2B5EF4-FFF2-40B4-BE49-F238E27FC236}">
                  <a16:creationId xmlns:a16="http://schemas.microsoft.com/office/drawing/2014/main" id="{8E0DD40B-3104-62C7-D56F-4634F0883E7A}"/>
                </a:ext>
              </a:extLst>
            </p:cNvPr>
            <p:cNvSpPr txBox="1"/>
            <p:nvPr/>
          </p:nvSpPr>
          <p:spPr>
            <a:xfrm>
              <a:off x="4959" y="2512"/>
              <a:ext cx="298"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90</a:t>
              </a:r>
            </a:p>
          </p:txBody>
        </p:sp>
        <p:sp>
          <p:nvSpPr>
            <p:cNvPr id="32" name="文本框 60447">
              <a:extLst>
                <a:ext uri="{FF2B5EF4-FFF2-40B4-BE49-F238E27FC236}">
                  <a16:creationId xmlns:a16="http://schemas.microsoft.com/office/drawing/2014/main" id="{461173C3-881F-3120-3352-2DC4FBC776F9}"/>
                </a:ext>
              </a:extLst>
            </p:cNvPr>
            <p:cNvSpPr txBox="1"/>
            <p:nvPr/>
          </p:nvSpPr>
          <p:spPr>
            <a:xfrm>
              <a:off x="4631" y="2896"/>
              <a:ext cx="298" cy="212"/>
            </a:xfrm>
            <a:prstGeom prst="rect">
              <a:avLst/>
            </a:prstGeom>
            <a:grpFill/>
            <a:ln w="9525">
              <a:noFill/>
            </a:ln>
          </p:spPr>
          <p:txBody>
            <a:bodyPr wrap="non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ctr"/>
              <a:r>
                <a:rPr lang="ja-JP" altLang="en-US" sz="1600" b="1" dirty="0">
                  <a:latin typeface="Verdana" panose="020B0604030504040204" pitchFamily="34" charset="0"/>
                </a:rPr>
                <a:t>78</a:t>
              </a:r>
            </a:p>
          </p:txBody>
        </p:sp>
        <p:cxnSp>
          <p:nvCxnSpPr>
            <p:cNvPr id="33" name="直接箭头连接符 35">
              <a:extLst>
                <a:ext uri="{FF2B5EF4-FFF2-40B4-BE49-F238E27FC236}">
                  <a16:creationId xmlns:a16="http://schemas.microsoft.com/office/drawing/2014/main" id="{39370AAE-5AF0-4672-B313-4683CECD394D}"/>
                </a:ext>
              </a:extLst>
            </p:cNvPr>
            <p:cNvCxnSpPr>
              <a:stCxn id="10" idx="3"/>
              <a:endCxn id="13" idx="7"/>
            </p:cNvCxnSpPr>
            <p:nvPr/>
          </p:nvCxnSpPr>
          <p:spPr>
            <a:xfrm flipH="1">
              <a:off x="4037" y="1942"/>
              <a:ext cx="174" cy="192"/>
            </a:xfrm>
            <a:prstGeom prst="straightConnector1">
              <a:avLst/>
            </a:prstGeom>
            <a:grpFill/>
            <a:ln w="28575" cap="flat" cmpd="sng">
              <a:solidFill>
                <a:schemeClr val="bg1"/>
              </a:solidFill>
              <a:prstDash val="solid"/>
              <a:headEnd type="none" w="med" len="med"/>
              <a:tailEnd type="none" w="med" len="med"/>
            </a:ln>
          </p:spPr>
        </p:cxnSp>
      </p:grpSp>
    </p:spTree>
    <p:extLst>
      <p:ext uri="{BB962C8B-B14F-4D97-AF65-F5344CB8AC3E}">
        <p14:creationId xmlns:p14="http://schemas.microsoft.com/office/powerpoint/2010/main" val="32339725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869238" cy="4525963"/>
          </a:xfrm>
        </p:spPr>
        <p:txBody>
          <a:bodyPr vert="horz" wrap="square" lIns="91440" tIns="45720" rIns="91440" bIns="45720" numCol="1" anchor="t" anchorCtr="0" compatLnSpc="1"/>
          <a:lstStyle/>
          <a:p>
            <a:r>
              <a:rPr lang="zh-CN" altLang="en-US" dirty="0"/>
              <a:t>具体地，设</a:t>
            </a:r>
            <a:r>
              <a:rPr lang="en-US" altLang="zh-CN" dirty="0"/>
              <a:t>S={</a:t>
            </a:r>
            <a:r>
              <a:rPr lang="en-US" altLang="zh-CN" dirty="0" err="1"/>
              <a:t>x</a:t>
            </a:r>
            <a:r>
              <a:rPr lang="en-US" altLang="zh-CN" baseline="-25000" dirty="0" err="1"/>
              <a:t>1</a:t>
            </a:r>
            <a:r>
              <a:rPr lang="en-US" altLang="zh-CN" dirty="0" err="1"/>
              <a:t>,x</a:t>
            </a:r>
            <a:r>
              <a:rPr lang="en-US" altLang="zh-CN" baseline="-25000" dirty="0" err="1"/>
              <a:t>2</a:t>
            </a:r>
            <a:r>
              <a:rPr lang="en-US" altLang="zh-CN" dirty="0"/>
              <a:t>,...,</a:t>
            </a:r>
            <a:r>
              <a:rPr lang="en-US" altLang="zh-CN" dirty="0" err="1"/>
              <a:t>x</a:t>
            </a:r>
            <a:r>
              <a:rPr lang="en-US" altLang="zh-CN" baseline="-25000" dirty="0" err="1"/>
              <a:t>n</a:t>
            </a:r>
            <a:r>
              <a:rPr lang="en-US" altLang="zh-CN" dirty="0"/>
              <a:t>}</a:t>
            </a:r>
            <a:r>
              <a:rPr lang="zh-CN" altLang="en-US" dirty="0"/>
              <a:t>是一个有序集，且</a:t>
            </a:r>
            <a:r>
              <a:rPr lang="en-US" altLang="zh-CN" dirty="0" err="1"/>
              <a:t>x</a:t>
            </a:r>
            <a:r>
              <a:rPr lang="en-US" altLang="zh-CN" baseline="-25000" dirty="0" err="1"/>
              <a:t>1</a:t>
            </a:r>
            <a:r>
              <a:rPr lang="en-US" altLang="zh-CN" dirty="0"/>
              <a:t>&lt;</a:t>
            </a:r>
            <a:r>
              <a:rPr lang="en-US" altLang="zh-CN" dirty="0" err="1"/>
              <a:t>x</a:t>
            </a:r>
            <a:r>
              <a:rPr lang="en-US" altLang="zh-CN" baseline="-25000" dirty="0" err="1"/>
              <a:t>2</a:t>
            </a:r>
            <a:r>
              <a:rPr lang="en-US" altLang="zh-CN" dirty="0"/>
              <a:t>&lt;...&lt;</a:t>
            </a:r>
            <a:r>
              <a:rPr lang="en-US" altLang="zh-CN" dirty="0" err="1"/>
              <a:t>x</a:t>
            </a:r>
            <a:r>
              <a:rPr lang="en-US" altLang="zh-CN" baseline="-25000" dirty="0" err="1"/>
              <a:t>n</a:t>
            </a:r>
            <a:r>
              <a:rPr lang="zh-CN" altLang="en-US" dirty="0"/>
              <a:t>。表示有序集</a:t>
            </a:r>
            <a:r>
              <a:rPr lang="en-US" altLang="zh-CN" dirty="0"/>
              <a:t>S</a:t>
            </a:r>
            <a:r>
              <a:rPr lang="zh-CN" altLang="en-US" dirty="0"/>
              <a:t>的二叉搜索树利用二叉树的结点来存储有序集中的元素。它具有下述性质：存储于每个结点中的元素</a:t>
            </a:r>
            <a:r>
              <a:rPr lang="en-US" altLang="zh-CN" dirty="0"/>
              <a:t>x</a:t>
            </a:r>
            <a:r>
              <a:rPr lang="zh-CN" altLang="en-US" dirty="0"/>
              <a:t>大于其左子树中任一结点所存储的元素，小于其右子树中任一结点所存储的元素。二叉搜索树的叶结点是形如</a:t>
            </a:r>
            <a:r>
              <a:rPr lang="en-US" altLang="zh-CN" dirty="0"/>
              <a:t>(x</a:t>
            </a:r>
            <a:r>
              <a:rPr lang="en-US" altLang="zh-CN" baseline="-25000" dirty="0"/>
              <a:t>i</a:t>
            </a:r>
            <a:r>
              <a:rPr lang="zh-CN" altLang="en-US" dirty="0"/>
              <a:t>，</a:t>
            </a:r>
            <a:r>
              <a:rPr lang="en-US" altLang="zh-CN" dirty="0" err="1"/>
              <a:t>x</a:t>
            </a:r>
            <a:r>
              <a:rPr lang="en-US" altLang="zh-CN" baseline="-25000" dirty="0" err="1"/>
              <a:t>i+1</a:t>
            </a:r>
            <a:r>
              <a:rPr lang="en-US" altLang="zh-CN" dirty="0"/>
              <a:t>)</a:t>
            </a:r>
            <a:r>
              <a:rPr lang="zh-CN" altLang="en-US" dirty="0"/>
              <a:t>的开区间。在表示</a:t>
            </a:r>
            <a:r>
              <a:rPr lang="en-US" altLang="zh-CN" dirty="0"/>
              <a:t>S</a:t>
            </a:r>
            <a:r>
              <a:rPr lang="zh-CN" altLang="en-US" dirty="0"/>
              <a:t>的二叉搜索树中搜索一个元素</a:t>
            </a:r>
            <a:r>
              <a:rPr lang="en-US" altLang="zh-CN" dirty="0"/>
              <a:t>x</a:t>
            </a:r>
            <a:r>
              <a:rPr lang="zh-CN" altLang="en-US" dirty="0"/>
              <a:t>，返回的结果有两种情形：</a:t>
            </a:r>
          </a:p>
          <a:p>
            <a:pPr lvl="1"/>
            <a:r>
              <a:rPr lang="zh-CN" altLang="en-US" sz="2400" dirty="0"/>
              <a:t>在二叉搜索树的内结点中找到</a:t>
            </a:r>
            <a:r>
              <a:rPr lang="en-US" altLang="zh-CN" sz="2400" dirty="0"/>
              <a:t>x=x</a:t>
            </a:r>
            <a:r>
              <a:rPr lang="en-US" altLang="zh-CN" sz="2400" baseline="-25000" dirty="0"/>
              <a:t>i</a:t>
            </a:r>
            <a:r>
              <a:rPr lang="zh-CN" altLang="en-US" sz="2400" dirty="0"/>
              <a:t>。</a:t>
            </a:r>
          </a:p>
          <a:p>
            <a:pPr lvl="1"/>
            <a:r>
              <a:rPr lang="zh-CN" altLang="en-US" sz="2400" dirty="0"/>
              <a:t>在二叉搜索树的叶结点中确定</a:t>
            </a:r>
            <a:r>
              <a:rPr lang="en-US" altLang="zh-CN" sz="2400" dirty="0"/>
              <a:t>x∈(x</a:t>
            </a:r>
            <a:r>
              <a:rPr lang="en-US" altLang="zh-CN" sz="2400" baseline="-25000" dirty="0"/>
              <a:t>i</a:t>
            </a:r>
            <a:r>
              <a:rPr lang="zh-CN" altLang="en-US" sz="2400" dirty="0"/>
              <a:t>，</a:t>
            </a:r>
            <a:r>
              <a:rPr lang="en-US" altLang="zh-CN" sz="2400" dirty="0" err="1"/>
              <a:t>x</a:t>
            </a:r>
            <a:r>
              <a:rPr lang="en-US" altLang="zh-CN" sz="2400" baseline="-25000" dirty="0" err="1"/>
              <a:t>i+1</a:t>
            </a:r>
            <a:r>
              <a:rPr lang="en-US" altLang="zh-CN" sz="2400" dirty="0"/>
              <a:t>)</a:t>
            </a:r>
            <a:r>
              <a:rPr lang="zh-CN" altLang="en-US" sz="2400" dirty="0"/>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78</a:t>
            </a:fld>
            <a:endParaRPr lang="en-US" altLang="zh-CN" sz="1400" b="0" dirty="0"/>
          </a:p>
        </p:txBody>
      </p:sp>
      <p:sp>
        <p:nvSpPr>
          <p:cNvPr id="5" name="Rectangle 2">
            <a:extLst>
              <a:ext uri="{FF2B5EF4-FFF2-40B4-BE49-F238E27FC236}">
                <a16:creationId xmlns:a16="http://schemas.microsoft.com/office/drawing/2014/main" id="{F4682F95-9AEA-DC36-6EE5-F9411B461A8C}"/>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4.3.4 </a:t>
            </a:r>
            <a:r>
              <a:rPr lang="zh-CN" altLang="en-US" sz="3200" dirty="0">
                <a:latin typeface="+mj-ea"/>
              </a:rPr>
              <a:t>最优二分检索树问题</a:t>
            </a:r>
            <a:endParaRPr lang="en-US" altLang="zh-CN" b="0" dirty="0">
              <a:latin typeface="+mj-e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869238" cy="4525963"/>
          </a:xfrm>
        </p:spPr>
        <p:txBody>
          <a:bodyPr vert="horz" wrap="square" lIns="91440" tIns="45720" rIns="91440" bIns="45720" numCol="1" anchor="t" anchorCtr="0" compatLnSpc="1"/>
          <a:lstStyle/>
          <a:p>
            <a:pPr>
              <a:spcAft>
                <a:spcPct val="100000"/>
              </a:spcAft>
            </a:pPr>
            <a:r>
              <a:rPr lang="zh-CN" altLang="en-US" sz="2000" dirty="0"/>
              <a:t>设第一种情形中找到元素</a:t>
            </a:r>
            <a:r>
              <a:rPr lang="en-US" altLang="zh-CN" sz="2000" dirty="0"/>
              <a:t>x=x</a:t>
            </a:r>
            <a:r>
              <a:rPr lang="en-US" altLang="zh-CN" sz="2000" baseline="-25000" dirty="0"/>
              <a:t>i</a:t>
            </a:r>
            <a:r>
              <a:rPr lang="zh-CN" altLang="en-US" sz="2000" dirty="0"/>
              <a:t>的概率为</a:t>
            </a:r>
            <a:r>
              <a:rPr lang="en-US" altLang="zh-CN" sz="2000" dirty="0"/>
              <a:t>b</a:t>
            </a:r>
            <a:r>
              <a:rPr lang="en-US" altLang="zh-CN" sz="2000" baseline="-25000" dirty="0"/>
              <a:t>i</a:t>
            </a:r>
            <a:r>
              <a:rPr lang="zh-CN" altLang="en-US" sz="2000" dirty="0"/>
              <a:t>；在第二种情形中确定</a:t>
            </a:r>
            <a:r>
              <a:rPr lang="en-US" altLang="zh-CN" sz="2000" dirty="0"/>
              <a:t>x∈(x</a:t>
            </a:r>
            <a:r>
              <a:rPr lang="en-US" altLang="zh-CN" sz="2000" baseline="-25000" dirty="0"/>
              <a:t>i</a:t>
            </a:r>
            <a:r>
              <a:rPr lang="zh-CN" altLang="en-US" sz="2000" dirty="0"/>
              <a:t>，</a:t>
            </a:r>
            <a:r>
              <a:rPr lang="en-US" altLang="zh-CN" sz="2000" dirty="0" err="1"/>
              <a:t>x</a:t>
            </a:r>
            <a:r>
              <a:rPr lang="en-US" altLang="zh-CN" sz="2000" baseline="-25000" dirty="0" err="1"/>
              <a:t>i+1</a:t>
            </a:r>
            <a:r>
              <a:rPr lang="en-US" altLang="zh-CN" sz="2000" dirty="0"/>
              <a:t>)</a:t>
            </a:r>
            <a:r>
              <a:rPr lang="zh-CN" altLang="en-US" sz="2000" dirty="0"/>
              <a:t>的概率为</a:t>
            </a:r>
            <a:r>
              <a:rPr lang="en-US" altLang="zh-CN" sz="2000" dirty="0"/>
              <a:t>a</a:t>
            </a:r>
            <a:r>
              <a:rPr lang="en-US" altLang="zh-CN" sz="2000" baseline="-25000" dirty="0"/>
              <a:t>i</a:t>
            </a:r>
            <a:r>
              <a:rPr lang="zh-CN" altLang="en-US" sz="2000" dirty="0"/>
              <a:t>。并约定</a:t>
            </a:r>
            <a:r>
              <a:rPr lang="en-US" altLang="zh-CN" sz="2000" dirty="0" err="1"/>
              <a:t>x</a:t>
            </a:r>
            <a:r>
              <a:rPr lang="en-US" altLang="zh-CN" sz="2000" baseline="-25000" dirty="0" err="1"/>
              <a:t>0</a:t>
            </a:r>
            <a:r>
              <a:rPr lang="en-US" altLang="zh-CN" sz="2000" dirty="0"/>
              <a:t>=-∞</a:t>
            </a:r>
            <a:r>
              <a:rPr lang="zh-CN" altLang="en-US" sz="2000" dirty="0"/>
              <a:t>，</a:t>
            </a:r>
            <a:r>
              <a:rPr lang="en-US" altLang="zh-CN" sz="2000" dirty="0" err="1"/>
              <a:t>x</a:t>
            </a:r>
            <a:r>
              <a:rPr lang="en-US" altLang="zh-CN" sz="2000" baseline="-25000" dirty="0" err="1"/>
              <a:t>n+1</a:t>
            </a:r>
            <a:r>
              <a:rPr lang="en-US" altLang="zh-CN" sz="2000" dirty="0"/>
              <a:t>=+∞</a:t>
            </a:r>
            <a:r>
              <a:rPr lang="zh-CN" altLang="en-US" sz="2000" dirty="0"/>
              <a:t>。显然有</a:t>
            </a:r>
          </a:p>
          <a:p>
            <a:endParaRPr lang="en-US" altLang="zh-CN" sz="2000" dirty="0"/>
          </a:p>
          <a:p>
            <a:r>
              <a:rPr lang="en-US" altLang="zh-CN" sz="2000" dirty="0"/>
              <a:t>(</a:t>
            </a:r>
            <a:r>
              <a:rPr lang="en-US" altLang="zh-CN" sz="2000" dirty="0" err="1"/>
              <a:t>a</a:t>
            </a:r>
            <a:r>
              <a:rPr lang="en-US" altLang="zh-CN" sz="2000" baseline="-25000" dirty="0" err="1"/>
              <a:t>0</a:t>
            </a:r>
            <a:r>
              <a:rPr lang="en-US" altLang="zh-CN" sz="2000" dirty="0" err="1"/>
              <a:t>,b</a:t>
            </a:r>
            <a:r>
              <a:rPr lang="en-US" altLang="zh-CN" sz="2000" baseline="-25000" dirty="0" err="1"/>
              <a:t>1</a:t>
            </a:r>
            <a:r>
              <a:rPr lang="en-US" altLang="zh-CN" sz="2000" dirty="0" err="1"/>
              <a:t>,a</a:t>
            </a:r>
            <a:r>
              <a:rPr lang="en-US" altLang="zh-CN" sz="2000" baseline="-25000" dirty="0" err="1"/>
              <a:t>1</a:t>
            </a:r>
            <a:r>
              <a:rPr lang="en-US" altLang="zh-CN" sz="2000" dirty="0"/>
              <a:t>,...,</a:t>
            </a:r>
            <a:r>
              <a:rPr lang="en-US" altLang="zh-CN" sz="2000" dirty="0" err="1"/>
              <a:t>b</a:t>
            </a:r>
            <a:r>
              <a:rPr lang="en-US" altLang="zh-CN" sz="2000" baseline="-25000" dirty="0" err="1"/>
              <a:t>n</a:t>
            </a:r>
            <a:r>
              <a:rPr lang="en-US" altLang="zh-CN" sz="2000" dirty="0" err="1"/>
              <a:t>,a</a:t>
            </a:r>
            <a:r>
              <a:rPr lang="en-US" altLang="zh-CN" sz="2000" baseline="-25000" dirty="0" err="1"/>
              <a:t>n</a:t>
            </a:r>
            <a:r>
              <a:rPr lang="en-US" altLang="zh-CN" sz="2000" dirty="0"/>
              <a:t>)</a:t>
            </a:r>
            <a:r>
              <a:rPr lang="zh-CN" altLang="en-US" sz="2000" dirty="0"/>
              <a:t>称为集合</a:t>
            </a:r>
            <a:r>
              <a:rPr lang="en-US" altLang="zh-CN" sz="2000" dirty="0"/>
              <a:t>S</a:t>
            </a:r>
            <a:r>
              <a:rPr lang="zh-CN" altLang="en-US" sz="2000" dirty="0"/>
              <a:t>的存取概率分布。</a:t>
            </a:r>
          </a:p>
          <a:p>
            <a:pPr>
              <a:spcAft>
                <a:spcPct val="100000"/>
              </a:spcAft>
            </a:pPr>
            <a:r>
              <a:rPr lang="zh-CN" altLang="en-US" sz="2000" dirty="0"/>
              <a:t>在表示</a:t>
            </a:r>
            <a:r>
              <a:rPr lang="en-US" altLang="zh-CN" sz="2000" dirty="0"/>
              <a:t>S</a:t>
            </a:r>
            <a:r>
              <a:rPr lang="zh-CN" altLang="en-US" sz="2000" dirty="0"/>
              <a:t>的二叉搜索树</a:t>
            </a:r>
            <a:r>
              <a:rPr lang="en-US" altLang="zh-CN" sz="2000" dirty="0"/>
              <a:t>T</a:t>
            </a:r>
            <a:r>
              <a:rPr lang="zh-CN" altLang="en-US" sz="2000" dirty="0"/>
              <a:t>中，设存储元素</a:t>
            </a:r>
            <a:r>
              <a:rPr lang="en-US" altLang="zh-CN" sz="2000" dirty="0"/>
              <a:t>x</a:t>
            </a:r>
            <a:r>
              <a:rPr lang="en-US" altLang="zh-CN" sz="2000" baseline="-25000" dirty="0"/>
              <a:t>i</a:t>
            </a:r>
            <a:r>
              <a:rPr lang="zh-CN" altLang="en-US" sz="2000" dirty="0"/>
              <a:t>的结点深度为</a:t>
            </a:r>
            <a:r>
              <a:rPr lang="en-US" altLang="zh-CN" sz="2000" dirty="0"/>
              <a:t>c</a:t>
            </a:r>
            <a:r>
              <a:rPr lang="en-US" altLang="zh-CN" sz="2000" baseline="-25000" dirty="0"/>
              <a:t>i</a:t>
            </a:r>
            <a:r>
              <a:rPr lang="zh-CN" altLang="en-US" sz="2000" dirty="0"/>
              <a:t>；存储叶结点</a:t>
            </a:r>
            <a:r>
              <a:rPr lang="en-US" altLang="zh-CN" sz="2000" dirty="0"/>
              <a:t>(</a:t>
            </a:r>
            <a:r>
              <a:rPr lang="en-US" altLang="zh-CN" sz="2000" dirty="0" err="1"/>
              <a:t>x</a:t>
            </a:r>
            <a:r>
              <a:rPr lang="en-US" altLang="zh-CN" sz="2000" baseline="-25000" dirty="0" err="1"/>
              <a:t>j</a:t>
            </a:r>
            <a:r>
              <a:rPr lang="en-US" altLang="zh-CN" sz="2000" dirty="0" err="1"/>
              <a:t>,x</a:t>
            </a:r>
            <a:r>
              <a:rPr lang="en-US" altLang="zh-CN" sz="2000" baseline="-25000" dirty="0" err="1"/>
              <a:t>j+1</a:t>
            </a:r>
            <a:r>
              <a:rPr lang="en-US" altLang="zh-CN" sz="2000" dirty="0"/>
              <a:t>)</a:t>
            </a:r>
            <a:r>
              <a:rPr lang="zh-CN" altLang="en-US" sz="2000" dirty="0"/>
              <a:t>的结点深度为</a:t>
            </a:r>
            <a:r>
              <a:rPr lang="en-US" altLang="zh-CN" sz="2000" dirty="0" err="1"/>
              <a:t>d</a:t>
            </a:r>
            <a:r>
              <a:rPr lang="en-US" altLang="zh-CN" sz="2000" baseline="-25000" dirty="0" err="1"/>
              <a:t>j</a:t>
            </a:r>
            <a:r>
              <a:rPr lang="zh-CN" altLang="en-US" sz="2000" dirty="0"/>
              <a:t>，则</a:t>
            </a:r>
          </a:p>
          <a:p>
            <a:endParaRPr lang="en-US" altLang="zh-CN" sz="2000" dirty="0"/>
          </a:p>
          <a:p>
            <a:endParaRPr lang="en-US" altLang="zh-CN" sz="2000" dirty="0"/>
          </a:p>
          <a:p>
            <a:r>
              <a:rPr lang="zh-CN" altLang="en-US" sz="2000" dirty="0"/>
              <a:t>表示在二叉搜索树</a:t>
            </a:r>
            <a:r>
              <a:rPr lang="en-US" altLang="zh-CN" sz="2000" dirty="0"/>
              <a:t>T</a:t>
            </a:r>
            <a:r>
              <a:rPr lang="zh-CN" altLang="en-US" sz="2000" dirty="0"/>
              <a:t>中作一次搜索所需要的平均比较次数。</a:t>
            </a:r>
            <a:r>
              <a:rPr lang="en-US" altLang="zh-CN" sz="2000" dirty="0"/>
              <a:t>P</a:t>
            </a:r>
            <a:r>
              <a:rPr lang="zh-CN" altLang="en-US" sz="2000" dirty="0"/>
              <a:t>又称为二叉搜索树</a:t>
            </a:r>
            <a:r>
              <a:rPr lang="en-US" altLang="zh-CN" sz="2000" dirty="0"/>
              <a:t>T</a:t>
            </a:r>
            <a:r>
              <a:rPr lang="zh-CN" altLang="en-US" sz="2000" dirty="0"/>
              <a:t>的平均路长。在一般情况下，不同的二叉树的平均路长时不相同的。</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79</a:t>
            </a:fld>
            <a:endParaRPr lang="en-US" altLang="zh-CN" sz="1400" b="0" dirty="0"/>
          </a:p>
        </p:txBody>
      </p:sp>
      <p:pic>
        <p:nvPicPr>
          <p:cNvPr id="2" name="图片 1"/>
          <p:cNvPicPr>
            <a:picLocks noChangeAspect="1"/>
          </p:cNvPicPr>
          <p:nvPr/>
        </p:nvPicPr>
        <p:blipFill>
          <a:blip r:embed="rId2"/>
          <a:stretch>
            <a:fillRect/>
          </a:stretch>
        </p:blipFill>
        <p:spPr>
          <a:xfrm>
            <a:off x="2618188" y="1988840"/>
            <a:ext cx="4330300" cy="648072"/>
          </a:xfrm>
          <a:prstGeom prst="rect">
            <a:avLst/>
          </a:prstGeom>
        </p:spPr>
      </p:pic>
      <p:pic>
        <p:nvPicPr>
          <p:cNvPr id="4" name="图片 3"/>
          <p:cNvPicPr>
            <a:picLocks noChangeAspect="1"/>
          </p:cNvPicPr>
          <p:nvPr/>
        </p:nvPicPr>
        <p:blipFill>
          <a:blip r:embed="rId3"/>
          <a:stretch>
            <a:fillRect/>
          </a:stretch>
        </p:blipFill>
        <p:spPr>
          <a:xfrm>
            <a:off x="3563888" y="3811182"/>
            <a:ext cx="2293180" cy="648072"/>
          </a:xfrm>
          <a:prstGeom prst="rect">
            <a:avLst/>
          </a:prstGeom>
        </p:spPr>
      </p:pic>
      <p:sp>
        <p:nvSpPr>
          <p:cNvPr id="7" name="Rectangle 2">
            <a:extLst>
              <a:ext uri="{FF2B5EF4-FFF2-40B4-BE49-F238E27FC236}">
                <a16:creationId xmlns:a16="http://schemas.microsoft.com/office/drawing/2014/main" id="{3A37789A-C39B-A01E-5D66-4A127C75B888}"/>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4.3.4 </a:t>
            </a:r>
            <a:r>
              <a:rPr lang="zh-CN" altLang="en-US" sz="3200" dirty="0">
                <a:latin typeface="+mj-ea"/>
              </a:rPr>
              <a:t>最优二分检索树问题</a:t>
            </a:r>
            <a:endParaRPr lang="en-US" altLang="zh-CN" b="0" dirty="0">
              <a:latin typeface="+mj-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80</a:t>
            </a:fld>
            <a:endParaRPr lang="en-US" altLang="zh-CN" sz="1400" b="0" dirty="0"/>
          </a:p>
        </p:txBody>
      </p:sp>
      <p:sp>
        <p:nvSpPr>
          <p:cNvPr id="8198"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4.3.4 </a:t>
            </a:r>
            <a:r>
              <a:rPr lang="zh-CN" altLang="en-US" dirty="0">
                <a:latin typeface="+mj-ea"/>
              </a:rPr>
              <a:t>最优二分检索树问题</a:t>
            </a:r>
            <a:r>
              <a:rPr lang="en-US" altLang="zh-CN" dirty="0">
                <a:latin typeface="+mj-ea"/>
              </a:rPr>
              <a:t>—</a:t>
            </a:r>
            <a:r>
              <a:rPr lang="zh-CN" altLang="en-US" dirty="0">
                <a:latin typeface="+mj-ea"/>
              </a:rPr>
              <a:t>期望耗费</a:t>
            </a:r>
            <a:endParaRPr lang="en-US" altLang="zh-CN" dirty="0">
              <a:latin typeface="+mj-ea"/>
            </a:endParaRPr>
          </a:p>
        </p:txBody>
      </p:sp>
      <p:grpSp>
        <p:nvGrpSpPr>
          <p:cNvPr id="9" name="组合 8"/>
          <p:cNvGrpSpPr/>
          <p:nvPr/>
        </p:nvGrpSpPr>
        <p:grpSpPr>
          <a:xfrm>
            <a:off x="3923928" y="1196974"/>
            <a:ext cx="4671592" cy="4683125"/>
            <a:chOff x="2347" y="911"/>
            <a:chExt cx="3125" cy="3088"/>
          </a:xfrm>
        </p:grpSpPr>
        <p:pic>
          <p:nvPicPr>
            <p:cNvPr id="43" name="图片 42"/>
            <p:cNvPicPr/>
            <p:nvPr/>
          </p:nvPicPr>
          <p:blipFill>
            <a:blip r:embed="rId2"/>
            <a:stretch>
              <a:fillRect/>
            </a:stretch>
          </p:blipFill>
          <p:spPr>
            <a:xfrm>
              <a:off x="2347" y="911"/>
              <a:ext cx="3114" cy="3088"/>
            </a:xfrm>
            <a:prstGeom prst="rect">
              <a:avLst/>
            </a:prstGeom>
            <a:solidFill>
              <a:schemeClr val="bg1"/>
            </a:solidFill>
            <a:ln w="38100">
              <a:noFill/>
              <a:miter/>
            </a:ln>
          </p:spPr>
        </p:pic>
        <p:sp>
          <p:nvSpPr>
            <p:cNvPr id="44" name="直接连接符 43"/>
            <p:cNvSpPr/>
            <p:nvPr/>
          </p:nvSpPr>
          <p:spPr>
            <a:xfrm>
              <a:off x="2352" y="1104"/>
              <a:ext cx="3120" cy="0"/>
            </a:xfrm>
            <a:prstGeom prst="line">
              <a:avLst/>
            </a:prstGeom>
            <a:ln w="9525" cap="flat" cmpd="sng">
              <a:solidFill>
                <a:schemeClr val="tx1"/>
              </a:solidFill>
              <a:prstDash val="solid"/>
              <a:headEnd type="none" w="med" len="med"/>
              <a:tailEnd type="none" w="med" len="med"/>
            </a:ln>
          </p:spPr>
        </p:sp>
        <p:sp>
          <p:nvSpPr>
            <p:cNvPr id="45" name="直接连接符 44"/>
            <p:cNvSpPr/>
            <p:nvPr/>
          </p:nvSpPr>
          <p:spPr>
            <a:xfrm>
              <a:off x="2352" y="3792"/>
              <a:ext cx="3120" cy="0"/>
            </a:xfrm>
            <a:prstGeom prst="line">
              <a:avLst/>
            </a:prstGeom>
            <a:ln w="9525" cap="flat" cmpd="sng">
              <a:solidFill>
                <a:schemeClr val="tx1"/>
              </a:solidFill>
              <a:prstDash val="solid"/>
              <a:headEnd type="none" w="med" len="med"/>
              <a:tailEnd type="none" w="med" len="med"/>
            </a:ln>
          </p:spPr>
        </p:sp>
      </p:grpSp>
      <p:grpSp>
        <p:nvGrpSpPr>
          <p:cNvPr id="10" name="组合 9"/>
          <p:cNvGrpSpPr/>
          <p:nvPr/>
        </p:nvGrpSpPr>
        <p:grpSpPr>
          <a:xfrm>
            <a:off x="879475" y="1700808"/>
            <a:ext cx="2673351" cy="2620965"/>
            <a:chOff x="403" y="1663"/>
            <a:chExt cx="1684" cy="1332"/>
          </a:xfrm>
        </p:grpSpPr>
        <p:sp>
          <p:nvSpPr>
            <p:cNvPr id="11" name="椭圆 10"/>
            <p:cNvSpPr/>
            <p:nvPr/>
          </p:nvSpPr>
          <p:spPr>
            <a:xfrm>
              <a:off x="951" y="1663"/>
              <a:ext cx="232" cy="220"/>
            </a:xfrm>
            <a:prstGeom prst="ellipse">
              <a:avLst/>
            </a:prstGeom>
            <a:solidFill>
              <a:schemeClr val="accent1"/>
            </a:solidFill>
            <a:ln w="19050"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2" name="椭圆 11"/>
            <p:cNvSpPr/>
            <p:nvPr/>
          </p:nvSpPr>
          <p:spPr>
            <a:xfrm>
              <a:off x="547" y="1987"/>
              <a:ext cx="232" cy="220"/>
            </a:xfrm>
            <a:prstGeom prst="ellipse">
              <a:avLst/>
            </a:prstGeom>
            <a:solidFill>
              <a:schemeClr val="accent1"/>
            </a:solidFill>
            <a:ln w="19050"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3" name="椭圆 12"/>
            <p:cNvSpPr/>
            <p:nvPr/>
          </p:nvSpPr>
          <p:spPr>
            <a:xfrm>
              <a:off x="1363" y="1979"/>
              <a:ext cx="232" cy="220"/>
            </a:xfrm>
            <a:prstGeom prst="ellipse">
              <a:avLst/>
            </a:prstGeom>
            <a:solidFill>
              <a:schemeClr val="accent1"/>
            </a:solidFill>
            <a:ln w="19050"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4" name="椭圆 13"/>
            <p:cNvSpPr/>
            <p:nvPr/>
          </p:nvSpPr>
          <p:spPr>
            <a:xfrm>
              <a:off x="1062" y="2410"/>
              <a:ext cx="232" cy="220"/>
            </a:xfrm>
            <a:prstGeom prst="ellipse">
              <a:avLst/>
            </a:prstGeom>
            <a:solidFill>
              <a:schemeClr val="accent1"/>
            </a:solidFill>
            <a:ln w="19050"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5" name="椭圆 14"/>
            <p:cNvSpPr/>
            <p:nvPr/>
          </p:nvSpPr>
          <p:spPr>
            <a:xfrm>
              <a:off x="1688" y="2408"/>
              <a:ext cx="232" cy="220"/>
            </a:xfrm>
            <a:prstGeom prst="ellipse">
              <a:avLst/>
            </a:prstGeom>
            <a:solidFill>
              <a:schemeClr val="accent1"/>
            </a:solidFill>
            <a:ln w="19050" cap="flat" cmpd="sng">
              <a:solidFill>
                <a:schemeClr val="bg1"/>
              </a:solidFill>
              <a:prstDash val="solid"/>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6" name="矩形 15"/>
            <p:cNvSpPr/>
            <p:nvPr/>
          </p:nvSpPr>
          <p:spPr>
            <a:xfrm>
              <a:off x="671" y="2403"/>
              <a:ext cx="216" cy="188"/>
            </a:xfrm>
            <a:prstGeom prst="rect">
              <a:avLst/>
            </a:prstGeom>
            <a:solidFill>
              <a:srgbClr val="FFCC00"/>
            </a:solidFill>
            <a:ln w="19050" cap="flat" cmpd="sng">
              <a:solidFill>
                <a:schemeClr val="bg1"/>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7" name="矩形 16"/>
            <p:cNvSpPr/>
            <p:nvPr/>
          </p:nvSpPr>
          <p:spPr>
            <a:xfrm>
              <a:off x="403" y="2407"/>
              <a:ext cx="216" cy="188"/>
            </a:xfrm>
            <a:prstGeom prst="rect">
              <a:avLst/>
            </a:prstGeom>
            <a:solidFill>
              <a:srgbClr val="FFCC00"/>
            </a:solidFill>
            <a:ln w="19050" cap="flat" cmpd="sng">
              <a:solidFill>
                <a:schemeClr val="bg1"/>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8" name="矩形 17"/>
            <p:cNvSpPr/>
            <p:nvPr/>
          </p:nvSpPr>
          <p:spPr>
            <a:xfrm>
              <a:off x="1563" y="2799"/>
              <a:ext cx="216" cy="188"/>
            </a:xfrm>
            <a:prstGeom prst="rect">
              <a:avLst/>
            </a:prstGeom>
            <a:solidFill>
              <a:srgbClr val="FFCC00"/>
            </a:solidFill>
            <a:ln w="19050" cap="flat" cmpd="sng">
              <a:solidFill>
                <a:schemeClr val="bg1"/>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9" name="矩形 18"/>
            <p:cNvSpPr/>
            <p:nvPr/>
          </p:nvSpPr>
          <p:spPr>
            <a:xfrm>
              <a:off x="1215" y="2807"/>
              <a:ext cx="216" cy="188"/>
            </a:xfrm>
            <a:prstGeom prst="rect">
              <a:avLst/>
            </a:prstGeom>
            <a:solidFill>
              <a:srgbClr val="FFCC00"/>
            </a:solidFill>
            <a:ln w="19050" cap="flat" cmpd="sng">
              <a:solidFill>
                <a:schemeClr val="bg1"/>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0" name="矩形 19"/>
            <p:cNvSpPr/>
            <p:nvPr/>
          </p:nvSpPr>
          <p:spPr>
            <a:xfrm>
              <a:off x="911" y="2807"/>
              <a:ext cx="216" cy="188"/>
            </a:xfrm>
            <a:prstGeom prst="rect">
              <a:avLst/>
            </a:prstGeom>
            <a:solidFill>
              <a:srgbClr val="FFCC00"/>
            </a:solidFill>
            <a:ln w="19050" cap="flat" cmpd="sng">
              <a:solidFill>
                <a:schemeClr val="bg1"/>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1" name="矩形 20"/>
            <p:cNvSpPr/>
            <p:nvPr/>
          </p:nvSpPr>
          <p:spPr>
            <a:xfrm>
              <a:off x="1871" y="2795"/>
              <a:ext cx="216" cy="188"/>
            </a:xfrm>
            <a:prstGeom prst="rect">
              <a:avLst/>
            </a:prstGeom>
            <a:solidFill>
              <a:srgbClr val="FFCC00"/>
            </a:solidFill>
            <a:ln w="19050" cap="flat" cmpd="sng">
              <a:solidFill>
                <a:schemeClr val="bg1"/>
              </a:solidFill>
              <a:prstDash val="solid"/>
              <a:miter/>
              <a:headEnd type="none" w="med" len="med"/>
              <a:tailEnd type="none" w="med" len="med"/>
            </a:ln>
          </p:spPr>
          <p:txBody>
            <a:bodyPr/>
            <a:ls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2" name="直接连接符 21"/>
            <p:cNvSpPr/>
            <p:nvPr/>
          </p:nvSpPr>
          <p:spPr>
            <a:xfrm flipH="1">
              <a:off x="502" y="2191"/>
              <a:ext cx="109" cy="216"/>
            </a:xfrm>
            <a:prstGeom prst="line">
              <a:avLst/>
            </a:prstGeom>
            <a:ln w="19050" cap="flat" cmpd="sng">
              <a:solidFill>
                <a:schemeClr val="bg1"/>
              </a:solidFill>
              <a:prstDash val="solid"/>
              <a:headEnd type="none" w="med" len="med"/>
              <a:tailEnd type="none" w="med" len="med"/>
            </a:ln>
          </p:spPr>
        </p:sp>
        <p:sp>
          <p:nvSpPr>
            <p:cNvPr id="23" name="直接连接符 22"/>
            <p:cNvSpPr/>
            <p:nvPr/>
          </p:nvSpPr>
          <p:spPr>
            <a:xfrm>
              <a:off x="694" y="2199"/>
              <a:ext cx="82" cy="208"/>
            </a:xfrm>
            <a:prstGeom prst="line">
              <a:avLst/>
            </a:prstGeom>
            <a:ln w="19050" cap="flat" cmpd="sng">
              <a:solidFill>
                <a:schemeClr val="bg1"/>
              </a:solidFill>
              <a:prstDash val="solid"/>
              <a:headEnd type="none" w="med" len="med"/>
              <a:tailEnd type="none" w="med" len="med"/>
            </a:ln>
          </p:spPr>
        </p:sp>
        <p:sp>
          <p:nvSpPr>
            <p:cNvPr id="24" name="直接连接符 23"/>
            <p:cNvSpPr/>
            <p:nvPr/>
          </p:nvSpPr>
          <p:spPr>
            <a:xfrm flipH="1">
              <a:off x="648" y="1866"/>
              <a:ext cx="360" cy="128"/>
            </a:xfrm>
            <a:prstGeom prst="line">
              <a:avLst/>
            </a:prstGeom>
            <a:ln w="19050" cap="flat" cmpd="sng">
              <a:solidFill>
                <a:schemeClr val="bg1"/>
              </a:solidFill>
              <a:prstDash val="solid"/>
              <a:headEnd type="none" w="med" len="med"/>
              <a:tailEnd type="none" w="med" len="med"/>
            </a:ln>
          </p:spPr>
        </p:sp>
        <p:sp>
          <p:nvSpPr>
            <p:cNvPr id="25" name="直接连接符 24"/>
            <p:cNvSpPr/>
            <p:nvPr/>
          </p:nvSpPr>
          <p:spPr>
            <a:xfrm>
              <a:off x="1107" y="1879"/>
              <a:ext cx="371" cy="104"/>
            </a:xfrm>
            <a:prstGeom prst="line">
              <a:avLst/>
            </a:prstGeom>
            <a:ln w="19050" cap="flat" cmpd="sng">
              <a:solidFill>
                <a:schemeClr val="bg1"/>
              </a:solidFill>
              <a:prstDash val="solid"/>
              <a:headEnd type="none" w="med" len="med"/>
              <a:tailEnd type="none" w="med" len="med"/>
            </a:ln>
          </p:spPr>
        </p:sp>
        <p:sp>
          <p:nvSpPr>
            <p:cNvPr id="26" name="直接连接符 25"/>
            <p:cNvSpPr/>
            <p:nvPr/>
          </p:nvSpPr>
          <p:spPr>
            <a:xfrm flipH="1">
              <a:off x="1176" y="2194"/>
              <a:ext cx="286" cy="221"/>
            </a:xfrm>
            <a:prstGeom prst="line">
              <a:avLst/>
            </a:prstGeom>
            <a:ln w="19050" cap="flat" cmpd="sng">
              <a:solidFill>
                <a:schemeClr val="bg1"/>
              </a:solidFill>
              <a:prstDash val="solid"/>
              <a:headEnd type="none" w="med" len="med"/>
              <a:tailEnd type="none" w="med" len="med"/>
            </a:ln>
          </p:spPr>
        </p:sp>
        <p:sp>
          <p:nvSpPr>
            <p:cNvPr id="27" name="直接连接符 26"/>
            <p:cNvSpPr/>
            <p:nvPr/>
          </p:nvSpPr>
          <p:spPr>
            <a:xfrm>
              <a:off x="1504" y="2194"/>
              <a:ext cx="297" cy="213"/>
            </a:xfrm>
            <a:prstGeom prst="line">
              <a:avLst/>
            </a:prstGeom>
            <a:ln w="19050" cap="flat" cmpd="sng">
              <a:solidFill>
                <a:schemeClr val="bg1"/>
              </a:solidFill>
              <a:prstDash val="solid"/>
              <a:headEnd type="none" w="med" len="med"/>
              <a:tailEnd type="none" w="med" len="med"/>
            </a:ln>
          </p:spPr>
        </p:sp>
        <p:sp>
          <p:nvSpPr>
            <p:cNvPr id="28" name="直接连接符 27"/>
            <p:cNvSpPr/>
            <p:nvPr/>
          </p:nvSpPr>
          <p:spPr>
            <a:xfrm flipH="1">
              <a:off x="1008" y="2612"/>
              <a:ext cx="110" cy="195"/>
            </a:xfrm>
            <a:prstGeom prst="line">
              <a:avLst/>
            </a:prstGeom>
            <a:ln w="19050" cap="flat" cmpd="sng">
              <a:solidFill>
                <a:schemeClr val="bg1"/>
              </a:solidFill>
              <a:prstDash val="solid"/>
              <a:headEnd type="none" w="med" len="med"/>
              <a:tailEnd type="none" w="med" len="med"/>
            </a:ln>
          </p:spPr>
        </p:sp>
        <p:sp>
          <p:nvSpPr>
            <p:cNvPr id="29" name="直接连接符 28"/>
            <p:cNvSpPr/>
            <p:nvPr/>
          </p:nvSpPr>
          <p:spPr>
            <a:xfrm>
              <a:off x="1208" y="2626"/>
              <a:ext cx="110" cy="184"/>
            </a:xfrm>
            <a:prstGeom prst="line">
              <a:avLst/>
            </a:prstGeom>
            <a:ln w="19050" cap="flat" cmpd="sng">
              <a:solidFill>
                <a:schemeClr val="bg1"/>
              </a:solidFill>
              <a:prstDash val="solid"/>
              <a:headEnd type="none" w="med" len="med"/>
              <a:tailEnd type="none" w="med" len="med"/>
            </a:ln>
          </p:spPr>
        </p:sp>
        <p:sp>
          <p:nvSpPr>
            <p:cNvPr id="30" name="直接连接符 29"/>
            <p:cNvSpPr/>
            <p:nvPr/>
          </p:nvSpPr>
          <p:spPr>
            <a:xfrm flipH="1">
              <a:off x="1664" y="2623"/>
              <a:ext cx="99" cy="179"/>
            </a:xfrm>
            <a:prstGeom prst="line">
              <a:avLst/>
            </a:prstGeom>
            <a:ln w="19050" cap="flat" cmpd="sng">
              <a:solidFill>
                <a:schemeClr val="bg1"/>
              </a:solidFill>
              <a:prstDash val="solid"/>
              <a:headEnd type="none" w="med" len="med"/>
              <a:tailEnd type="none" w="med" len="med"/>
            </a:ln>
          </p:spPr>
        </p:sp>
        <p:sp>
          <p:nvSpPr>
            <p:cNvPr id="31" name="直接连接符 30"/>
            <p:cNvSpPr/>
            <p:nvPr/>
          </p:nvSpPr>
          <p:spPr>
            <a:xfrm>
              <a:off x="1840" y="2626"/>
              <a:ext cx="139" cy="170"/>
            </a:xfrm>
            <a:prstGeom prst="line">
              <a:avLst/>
            </a:prstGeom>
            <a:ln w="19050" cap="flat" cmpd="sng">
              <a:solidFill>
                <a:schemeClr val="bg1"/>
              </a:solidFill>
              <a:prstDash val="solid"/>
              <a:headEnd type="none" w="med" len="med"/>
              <a:tailEnd type="none" w="med" len="med"/>
            </a:ln>
          </p:spPr>
        </p:sp>
        <p:pic>
          <p:nvPicPr>
            <p:cNvPr id="32" name="图片 31"/>
            <p:cNvPicPr/>
            <p:nvPr/>
          </p:nvPicPr>
          <p:blipFill>
            <a:blip r:embed="rId3"/>
            <a:stretch>
              <a:fillRect/>
            </a:stretch>
          </p:blipFill>
          <p:spPr>
            <a:xfrm>
              <a:off x="439" y="2411"/>
              <a:ext cx="134" cy="172"/>
            </a:xfrm>
            <a:prstGeom prst="rect">
              <a:avLst/>
            </a:prstGeom>
            <a:solidFill>
              <a:srgbClr val="FFCC00"/>
            </a:solidFill>
            <a:ln w="38100">
              <a:noFill/>
              <a:miter/>
            </a:ln>
          </p:spPr>
        </p:pic>
        <p:pic>
          <p:nvPicPr>
            <p:cNvPr id="33" name="图片 32"/>
            <p:cNvPicPr/>
            <p:nvPr/>
          </p:nvPicPr>
          <p:blipFill>
            <a:blip r:embed="rId4"/>
            <a:stretch>
              <a:fillRect/>
            </a:stretch>
          </p:blipFill>
          <p:spPr>
            <a:xfrm>
              <a:off x="712" y="2415"/>
              <a:ext cx="124" cy="163"/>
            </a:xfrm>
            <a:prstGeom prst="rect">
              <a:avLst/>
            </a:prstGeom>
            <a:solidFill>
              <a:srgbClr val="FFCC00"/>
            </a:solidFill>
            <a:ln w="38100">
              <a:noFill/>
              <a:miter/>
            </a:ln>
          </p:spPr>
        </p:pic>
        <p:pic>
          <p:nvPicPr>
            <p:cNvPr id="34" name="图片 33"/>
            <p:cNvPicPr/>
            <p:nvPr/>
          </p:nvPicPr>
          <p:blipFill>
            <a:blip r:embed="rId5"/>
            <a:stretch>
              <a:fillRect/>
            </a:stretch>
          </p:blipFill>
          <p:spPr>
            <a:xfrm>
              <a:off x="952" y="2822"/>
              <a:ext cx="134" cy="162"/>
            </a:xfrm>
            <a:prstGeom prst="rect">
              <a:avLst/>
            </a:prstGeom>
            <a:solidFill>
              <a:srgbClr val="FFCC00"/>
            </a:solidFill>
            <a:ln w="38100">
              <a:noFill/>
              <a:miter/>
            </a:ln>
          </p:spPr>
        </p:pic>
        <p:pic>
          <p:nvPicPr>
            <p:cNvPr id="35" name="图片 34"/>
            <p:cNvPicPr/>
            <p:nvPr/>
          </p:nvPicPr>
          <p:blipFill>
            <a:blip r:embed="rId6"/>
            <a:stretch>
              <a:fillRect/>
            </a:stretch>
          </p:blipFill>
          <p:spPr>
            <a:xfrm>
              <a:off x="1257" y="2814"/>
              <a:ext cx="134" cy="172"/>
            </a:xfrm>
            <a:prstGeom prst="rect">
              <a:avLst/>
            </a:prstGeom>
            <a:solidFill>
              <a:srgbClr val="FFCC00"/>
            </a:solidFill>
            <a:ln w="38100">
              <a:noFill/>
              <a:miter/>
            </a:ln>
          </p:spPr>
        </p:pic>
        <p:pic>
          <p:nvPicPr>
            <p:cNvPr id="36" name="图片 35"/>
            <p:cNvPicPr/>
            <p:nvPr/>
          </p:nvPicPr>
          <p:blipFill>
            <a:blip r:embed="rId7"/>
            <a:stretch>
              <a:fillRect/>
            </a:stretch>
          </p:blipFill>
          <p:spPr>
            <a:xfrm>
              <a:off x="1606" y="2812"/>
              <a:ext cx="134" cy="163"/>
            </a:xfrm>
            <a:prstGeom prst="rect">
              <a:avLst/>
            </a:prstGeom>
            <a:solidFill>
              <a:srgbClr val="FFCC00"/>
            </a:solidFill>
            <a:ln w="38100">
              <a:noFill/>
              <a:miter/>
            </a:ln>
          </p:spPr>
        </p:pic>
        <p:pic>
          <p:nvPicPr>
            <p:cNvPr id="37" name="图片 36"/>
            <p:cNvPicPr/>
            <p:nvPr/>
          </p:nvPicPr>
          <p:blipFill>
            <a:blip r:embed="rId8"/>
            <a:stretch>
              <a:fillRect/>
            </a:stretch>
          </p:blipFill>
          <p:spPr>
            <a:xfrm>
              <a:off x="1912" y="2800"/>
              <a:ext cx="134" cy="172"/>
            </a:xfrm>
            <a:prstGeom prst="rect">
              <a:avLst/>
            </a:prstGeom>
            <a:solidFill>
              <a:srgbClr val="FFCC00"/>
            </a:solidFill>
            <a:ln w="38100">
              <a:noFill/>
              <a:miter/>
            </a:ln>
          </p:spPr>
        </p:pic>
        <p:pic>
          <p:nvPicPr>
            <p:cNvPr id="38" name="图片 37"/>
            <p:cNvPicPr/>
            <p:nvPr/>
          </p:nvPicPr>
          <p:blipFill>
            <a:blip r:embed="rId9"/>
            <a:stretch>
              <a:fillRect/>
            </a:stretch>
          </p:blipFill>
          <p:spPr>
            <a:xfrm>
              <a:off x="600" y="2011"/>
              <a:ext cx="115" cy="162"/>
            </a:xfrm>
            <a:prstGeom prst="rect">
              <a:avLst/>
            </a:prstGeom>
            <a:noFill/>
            <a:ln w="38100">
              <a:noFill/>
              <a:miter/>
            </a:ln>
          </p:spPr>
        </p:pic>
        <p:pic>
          <p:nvPicPr>
            <p:cNvPr id="39" name="图片 38"/>
            <p:cNvPicPr/>
            <p:nvPr/>
          </p:nvPicPr>
          <p:blipFill>
            <a:blip r:embed="rId10"/>
            <a:stretch>
              <a:fillRect/>
            </a:stretch>
          </p:blipFill>
          <p:spPr>
            <a:xfrm>
              <a:off x="1008" y="1683"/>
              <a:ext cx="125" cy="162"/>
            </a:xfrm>
            <a:prstGeom prst="rect">
              <a:avLst/>
            </a:prstGeom>
            <a:noFill/>
            <a:ln w="38100">
              <a:noFill/>
              <a:miter/>
            </a:ln>
          </p:spPr>
        </p:pic>
        <p:pic>
          <p:nvPicPr>
            <p:cNvPr id="40" name="图片 39"/>
            <p:cNvPicPr/>
            <p:nvPr/>
          </p:nvPicPr>
          <p:blipFill>
            <a:blip r:embed="rId11"/>
            <a:stretch>
              <a:fillRect/>
            </a:stretch>
          </p:blipFill>
          <p:spPr>
            <a:xfrm>
              <a:off x="1115" y="2431"/>
              <a:ext cx="125" cy="171"/>
            </a:xfrm>
            <a:prstGeom prst="rect">
              <a:avLst/>
            </a:prstGeom>
            <a:noFill/>
            <a:ln w="38100">
              <a:noFill/>
              <a:miter/>
            </a:ln>
          </p:spPr>
        </p:pic>
        <p:pic>
          <p:nvPicPr>
            <p:cNvPr id="41" name="图片 40"/>
            <p:cNvPicPr/>
            <p:nvPr/>
          </p:nvPicPr>
          <p:blipFill>
            <a:blip r:embed="rId12"/>
            <a:stretch>
              <a:fillRect/>
            </a:stretch>
          </p:blipFill>
          <p:spPr>
            <a:xfrm>
              <a:off x="1416" y="2008"/>
              <a:ext cx="125" cy="162"/>
            </a:xfrm>
            <a:prstGeom prst="rect">
              <a:avLst/>
            </a:prstGeom>
            <a:noFill/>
            <a:ln w="38100">
              <a:noFill/>
              <a:miter/>
            </a:ln>
          </p:spPr>
        </p:pic>
        <p:pic>
          <p:nvPicPr>
            <p:cNvPr id="42" name="图片 41"/>
            <p:cNvPicPr/>
            <p:nvPr/>
          </p:nvPicPr>
          <p:blipFill>
            <a:blip r:embed="rId13"/>
            <a:stretch>
              <a:fillRect/>
            </a:stretch>
          </p:blipFill>
          <p:spPr>
            <a:xfrm>
              <a:off x="1741" y="2431"/>
              <a:ext cx="125" cy="171"/>
            </a:xfrm>
            <a:prstGeom prst="rect">
              <a:avLst/>
            </a:prstGeom>
            <a:noFill/>
            <a:ln w="38100">
              <a:noFill/>
              <a:miter/>
            </a:ln>
          </p:spPr>
        </p:pic>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869238" cy="4525963"/>
          </a:xfrm>
        </p:spPr>
        <p:txBody>
          <a:bodyPr vert="horz" wrap="square" lIns="91440" tIns="45720" rIns="91440" bIns="45720" numCol="1" anchor="t" anchorCtr="0" compatLnSpc="1"/>
          <a:lstStyle/>
          <a:p>
            <a:r>
              <a:rPr lang="zh-CN" altLang="en-US" dirty="0"/>
              <a:t>最优二叉搜索树问题是对于有序集</a:t>
            </a:r>
            <a:r>
              <a:rPr lang="en-US" altLang="zh-CN" dirty="0"/>
              <a:t>S</a:t>
            </a:r>
            <a:r>
              <a:rPr lang="zh-CN" altLang="en-US" dirty="0"/>
              <a:t>及其存取概率分布</a:t>
            </a:r>
            <a:r>
              <a:rPr lang="en-US" altLang="zh-CN" dirty="0"/>
              <a:t>(</a:t>
            </a:r>
            <a:r>
              <a:rPr lang="en-US" altLang="zh-CN" dirty="0" err="1"/>
              <a:t>a</a:t>
            </a:r>
            <a:r>
              <a:rPr lang="en-US" altLang="zh-CN" baseline="-25000" dirty="0" err="1"/>
              <a:t>0</a:t>
            </a:r>
            <a:r>
              <a:rPr lang="en-US" altLang="zh-CN" dirty="0" err="1"/>
              <a:t>,b</a:t>
            </a:r>
            <a:r>
              <a:rPr lang="en-US" altLang="zh-CN" baseline="-25000" dirty="0" err="1"/>
              <a:t>1</a:t>
            </a:r>
            <a:r>
              <a:rPr lang="en-US" altLang="zh-CN" dirty="0" err="1"/>
              <a:t>,a</a:t>
            </a:r>
            <a:r>
              <a:rPr lang="en-US" altLang="zh-CN" baseline="-25000" dirty="0" err="1"/>
              <a:t>1</a:t>
            </a:r>
            <a:r>
              <a:rPr lang="en-US" altLang="zh-CN" dirty="0"/>
              <a:t>,...,</a:t>
            </a:r>
            <a:r>
              <a:rPr lang="en-US" altLang="zh-CN" dirty="0" err="1"/>
              <a:t>b</a:t>
            </a:r>
            <a:r>
              <a:rPr lang="en-US" altLang="zh-CN" baseline="-25000" dirty="0" err="1"/>
              <a:t>n</a:t>
            </a:r>
            <a:r>
              <a:rPr lang="en-US" altLang="zh-CN" dirty="0" err="1"/>
              <a:t>,a</a:t>
            </a:r>
            <a:r>
              <a:rPr lang="en-US" altLang="zh-CN" baseline="-25000" dirty="0" err="1"/>
              <a:t>n</a:t>
            </a:r>
            <a:r>
              <a:rPr lang="en-US" altLang="zh-CN" dirty="0"/>
              <a:t>)</a:t>
            </a:r>
            <a:r>
              <a:rPr lang="zh-CN" altLang="en-US" dirty="0"/>
              <a:t>，在所有表示有序集</a:t>
            </a:r>
            <a:r>
              <a:rPr lang="en-US" altLang="zh-CN" dirty="0"/>
              <a:t>S</a:t>
            </a:r>
            <a:r>
              <a:rPr lang="zh-CN" altLang="en-US" dirty="0"/>
              <a:t>的二叉搜索树中找出一棵具有最小平均路长的二叉搜索树。</a:t>
            </a:r>
          </a:p>
          <a:p>
            <a:r>
              <a:rPr lang="zh-CN" altLang="en-US" dirty="0"/>
              <a:t>有</a:t>
            </a:r>
            <a:r>
              <a:rPr lang="en-US" altLang="zh-CN" dirty="0"/>
              <a:t>n</a:t>
            </a:r>
            <a:r>
              <a:rPr lang="zh-CN" altLang="en-US" dirty="0"/>
              <a:t>个节点的二叉树的个数为：</a:t>
            </a:r>
            <a:r>
              <a:rPr lang="en-US" altLang="zh-CN" dirty="0"/>
              <a:t>Ω(</a:t>
            </a:r>
            <a:r>
              <a:rPr lang="en-US" altLang="zh-CN" dirty="0" err="1"/>
              <a:t>4</a:t>
            </a:r>
            <a:r>
              <a:rPr lang="en-US" altLang="zh-CN" baseline="30000" dirty="0" err="1"/>
              <a:t>n</a:t>
            </a:r>
            <a:r>
              <a:rPr lang="en-US" altLang="zh-CN" dirty="0"/>
              <a:t>/</a:t>
            </a:r>
            <a:r>
              <a:rPr lang="en-US" altLang="zh-CN" dirty="0" err="1"/>
              <a:t>n</a:t>
            </a:r>
            <a:r>
              <a:rPr lang="en-US" altLang="zh-CN" baseline="30000" dirty="0" err="1"/>
              <a:t>3</a:t>
            </a:r>
            <a:r>
              <a:rPr lang="en-US" altLang="zh-CN" baseline="30000" dirty="0"/>
              <a:t>/2</a:t>
            </a:r>
            <a:r>
              <a:rPr lang="en-US" altLang="zh-CN" dirty="0"/>
              <a:t>)</a:t>
            </a:r>
            <a:r>
              <a:rPr lang="zh-CN" altLang="en-US" dirty="0"/>
              <a:t>。穷举搜索法的时间复杂度为指数级。</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81</a:t>
            </a:fld>
            <a:endParaRPr lang="en-US" altLang="zh-CN" sz="1400" b="0" dirty="0"/>
          </a:p>
        </p:txBody>
      </p:sp>
      <p:sp>
        <p:nvSpPr>
          <p:cNvPr id="5" name="Rectangle 2">
            <a:extLst>
              <a:ext uri="{FF2B5EF4-FFF2-40B4-BE49-F238E27FC236}">
                <a16:creationId xmlns:a16="http://schemas.microsoft.com/office/drawing/2014/main" id="{24B5DBA6-0F62-52ED-98D8-C6095970B1A0}"/>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4.3.4 </a:t>
            </a:r>
            <a:r>
              <a:rPr lang="zh-CN" altLang="en-US" sz="3200" dirty="0">
                <a:latin typeface="+mj-ea"/>
              </a:rPr>
              <a:t>最优二分检索树问题</a:t>
            </a:r>
            <a:endParaRPr lang="en-US" altLang="zh-CN" b="0" dirty="0">
              <a:latin typeface="+mj-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869238" cy="4525963"/>
          </a:xfrm>
        </p:spPr>
        <p:txBody>
          <a:bodyPr vert="horz" wrap="square" lIns="91440" tIns="45720" rIns="91440" bIns="45720" numCol="1" anchor="t" anchorCtr="0" compatLnSpc="1"/>
          <a:lstStyle/>
          <a:p>
            <a:pPr>
              <a:spcAft>
                <a:spcPct val="200000"/>
              </a:spcAft>
            </a:pPr>
            <a:r>
              <a:rPr lang="zh-CN" altLang="en-US" sz="1800" dirty="0"/>
              <a:t>二叉搜索树</a:t>
            </a:r>
            <a:r>
              <a:rPr lang="en-US" altLang="zh-CN" sz="1800" dirty="0"/>
              <a:t>T</a:t>
            </a:r>
            <a:r>
              <a:rPr lang="zh-CN" altLang="en-US" sz="1800" dirty="0"/>
              <a:t>的一棵含有结点</a:t>
            </a:r>
            <a:r>
              <a:rPr lang="en-US" altLang="zh-CN" sz="1800" dirty="0"/>
              <a:t>x</a:t>
            </a:r>
            <a:r>
              <a:rPr lang="en-US" altLang="zh-CN" sz="1800" baseline="-25000" dirty="0"/>
              <a:t>i</a:t>
            </a:r>
            <a:r>
              <a:rPr lang="en-US" altLang="zh-CN" sz="1800" dirty="0"/>
              <a:t>,...,</a:t>
            </a:r>
            <a:r>
              <a:rPr lang="en-US" altLang="zh-CN" sz="1800" dirty="0" err="1"/>
              <a:t>x</a:t>
            </a:r>
            <a:r>
              <a:rPr lang="en-US" altLang="zh-CN" sz="1800" baseline="-25000" dirty="0" err="1"/>
              <a:t>j</a:t>
            </a:r>
            <a:r>
              <a:rPr lang="zh-CN" altLang="en-US" sz="1800" dirty="0"/>
              <a:t>和叶结点</a:t>
            </a:r>
            <a:r>
              <a:rPr lang="en-US" altLang="zh-CN" sz="1800" dirty="0"/>
              <a:t>(x</a:t>
            </a:r>
            <a:r>
              <a:rPr lang="en-US" altLang="zh-CN" sz="1800" baseline="-25000" dirty="0"/>
              <a:t>i-</a:t>
            </a:r>
            <a:r>
              <a:rPr lang="en-US" altLang="zh-CN" sz="1800" baseline="-25000" dirty="0" err="1"/>
              <a:t>1</a:t>
            </a:r>
            <a:r>
              <a:rPr lang="en-US" altLang="zh-CN" sz="1800" dirty="0" err="1"/>
              <a:t>,x</a:t>
            </a:r>
            <a:r>
              <a:rPr lang="en-US" altLang="zh-CN" sz="1800" baseline="-25000" dirty="0" err="1"/>
              <a:t>i</a:t>
            </a:r>
            <a:r>
              <a:rPr lang="en-US" altLang="zh-CN" sz="1800" dirty="0"/>
              <a:t>),...,(</a:t>
            </a:r>
            <a:r>
              <a:rPr lang="en-US" altLang="zh-CN" sz="1800" dirty="0" err="1"/>
              <a:t>x</a:t>
            </a:r>
            <a:r>
              <a:rPr lang="en-US" altLang="zh-CN" sz="1800" baseline="-25000" dirty="0" err="1"/>
              <a:t>j</a:t>
            </a:r>
            <a:r>
              <a:rPr lang="en-US" altLang="zh-CN" sz="1800" dirty="0" err="1"/>
              <a:t>,x</a:t>
            </a:r>
            <a:r>
              <a:rPr lang="en-US" altLang="zh-CN" sz="1800" baseline="-25000" dirty="0" err="1"/>
              <a:t>j+1</a:t>
            </a:r>
            <a:r>
              <a:rPr lang="en-US" altLang="zh-CN" sz="1800" dirty="0"/>
              <a:t>)</a:t>
            </a:r>
            <a:r>
              <a:rPr lang="zh-CN" altLang="en-US" sz="1800" dirty="0"/>
              <a:t>的子树可以看作是有序集</a:t>
            </a:r>
            <a:r>
              <a:rPr lang="en-US" altLang="zh-CN" sz="1800" dirty="0"/>
              <a:t>{x</a:t>
            </a:r>
            <a:r>
              <a:rPr lang="en-US" altLang="zh-CN" sz="1800" baseline="-25000" dirty="0"/>
              <a:t>i</a:t>
            </a:r>
            <a:r>
              <a:rPr lang="en-US" altLang="zh-CN" sz="1800" dirty="0"/>
              <a:t>,...,</a:t>
            </a:r>
            <a:r>
              <a:rPr lang="en-US" altLang="zh-CN" sz="1800" dirty="0" err="1"/>
              <a:t>x</a:t>
            </a:r>
            <a:r>
              <a:rPr lang="en-US" altLang="zh-CN" sz="1800" baseline="-25000" dirty="0" err="1"/>
              <a:t>j</a:t>
            </a:r>
            <a:r>
              <a:rPr lang="en-US" altLang="zh-CN" sz="1800" dirty="0"/>
              <a:t>}</a:t>
            </a:r>
            <a:r>
              <a:rPr lang="zh-CN" altLang="en-US" sz="1800" dirty="0"/>
              <a:t>关于全集合</a:t>
            </a:r>
            <a:r>
              <a:rPr lang="en-US" altLang="zh-CN" sz="1800" dirty="0"/>
              <a:t>{</a:t>
            </a:r>
            <a:r>
              <a:rPr lang="en-US" altLang="zh-CN" sz="1800" dirty="0" err="1"/>
              <a:t>x</a:t>
            </a:r>
            <a:r>
              <a:rPr lang="en-US" altLang="zh-CN" sz="1800" baseline="-25000" dirty="0" err="1"/>
              <a:t>i-1</a:t>
            </a:r>
            <a:r>
              <a:rPr lang="en-US" altLang="zh-CN" sz="1800" dirty="0" err="1"/>
              <a:t>,x</a:t>
            </a:r>
            <a:r>
              <a:rPr lang="en-US" altLang="zh-CN" sz="1800" baseline="-25000" dirty="0" err="1"/>
              <a:t>j+1</a:t>
            </a:r>
            <a:r>
              <a:rPr lang="en-US" altLang="zh-CN" sz="1800" dirty="0"/>
              <a:t>}</a:t>
            </a:r>
            <a:r>
              <a:rPr lang="zh-CN" altLang="en-US" sz="1800" dirty="0"/>
              <a:t>的一棵二叉搜索树，其存取概率为下面的条件概率</a:t>
            </a:r>
          </a:p>
          <a:p>
            <a:r>
              <a:rPr lang="zh-CN" altLang="en-US" sz="1800" dirty="0"/>
              <a:t>其中，</a:t>
            </a:r>
            <a:r>
              <a:rPr lang="en-US" altLang="zh-CN" sz="1800" dirty="0" err="1"/>
              <a:t>w</a:t>
            </a:r>
            <a:r>
              <a:rPr lang="en-US" altLang="zh-CN" sz="1800" baseline="-25000" dirty="0" err="1"/>
              <a:t>ij</a:t>
            </a:r>
            <a:r>
              <a:rPr lang="en-US" altLang="zh-CN" sz="1800" dirty="0"/>
              <a:t>=</a:t>
            </a:r>
            <a:r>
              <a:rPr lang="en-US" altLang="zh-CN" sz="1800" dirty="0" err="1"/>
              <a:t>a</a:t>
            </a:r>
            <a:r>
              <a:rPr lang="en-US" altLang="zh-CN" sz="1800" baseline="-25000" dirty="0" err="1"/>
              <a:t>i-1</a:t>
            </a:r>
            <a:r>
              <a:rPr lang="en-US" altLang="zh-CN" sz="1800" dirty="0" err="1"/>
              <a:t>+b</a:t>
            </a:r>
            <a:r>
              <a:rPr lang="en-US" altLang="zh-CN" sz="1800" baseline="-25000" dirty="0" err="1"/>
              <a:t>i</a:t>
            </a:r>
            <a:r>
              <a:rPr lang="en-US" altLang="zh-CN" sz="1800" dirty="0"/>
              <a:t>+...+</a:t>
            </a:r>
            <a:r>
              <a:rPr lang="en-US" altLang="zh-CN" sz="1800" dirty="0" err="1"/>
              <a:t>b</a:t>
            </a:r>
            <a:r>
              <a:rPr lang="en-US" altLang="zh-CN" sz="1800" baseline="-25000" dirty="0" err="1"/>
              <a:t>j</a:t>
            </a:r>
            <a:r>
              <a:rPr lang="en-US" altLang="zh-CN" sz="1800" dirty="0" err="1"/>
              <a:t>+a</a:t>
            </a:r>
            <a:r>
              <a:rPr lang="en-US" altLang="zh-CN" sz="1800" baseline="-25000" dirty="0" err="1"/>
              <a:t>j</a:t>
            </a:r>
            <a:r>
              <a:rPr lang="zh-CN" altLang="en-US" sz="1800" dirty="0"/>
              <a:t>。</a:t>
            </a:r>
          </a:p>
          <a:p>
            <a:pPr>
              <a:spcAft>
                <a:spcPct val="150000"/>
              </a:spcAft>
            </a:pPr>
            <a:r>
              <a:rPr lang="zh-CN" altLang="en-US" sz="1800" dirty="0"/>
              <a:t>设</a:t>
            </a:r>
            <a:r>
              <a:rPr lang="en-US" altLang="zh-CN" sz="1800" dirty="0" err="1"/>
              <a:t>T</a:t>
            </a:r>
            <a:r>
              <a:rPr lang="en-US" altLang="zh-CN" sz="1800" baseline="-25000" dirty="0" err="1"/>
              <a:t>ij</a:t>
            </a:r>
            <a:r>
              <a:rPr lang="zh-CN" altLang="en-US" sz="1800" dirty="0"/>
              <a:t>是有序集合</a:t>
            </a:r>
            <a:r>
              <a:rPr lang="en-US" altLang="zh-CN" sz="1800" dirty="0"/>
              <a:t>{x</a:t>
            </a:r>
            <a:r>
              <a:rPr lang="en-US" altLang="zh-CN" sz="1800" baseline="-25000" dirty="0"/>
              <a:t>i</a:t>
            </a:r>
            <a:r>
              <a:rPr lang="en-US" altLang="zh-CN" sz="1800" dirty="0"/>
              <a:t>,...,</a:t>
            </a:r>
            <a:r>
              <a:rPr lang="en-US" altLang="zh-CN" sz="1800" dirty="0" err="1"/>
              <a:t>x</a:t>
            </a:r>
            <a:r>
              <a:rPr lang="en-US" altLang="zh-CN" sz="1800" baseline="-25000" dirty="0" err="1"/>
              <a:t>j</a:t>
            </a:r>
            <a:r>
              <a:rPr lang="en-US" altLang="zh-CN" sz="1800" dirty="0"/>
              <a:t>}</a:t>
            </a:r>
            <a:r>
              <a:rPr lang="zh-CN" altLang="en-US" sz="1800" dirty="0"/>
              <a:t>关于存取概率</a:t>
            </a:r>
            <a:r>
              <a:rPr lang="en-US" altLang="zh-CN" sz="1800" dirty="0"/>
              <a:t>P</a:t>
            </a:r>
            <a:r>
              <a:rPr lang="zh-CN" altLang="en-US" sz="1800" dirty="0"/>
              <a:t>的一棵最优二叉搜索树，其平均路长为</a:t>
            </a:r>
            <a:r>
              <a:rPr lang="en-US" altLang="zh-CN" sz="1800" dirty="0" err="1"/>
              <a:t>p</a:t>
            </a:r>
            <a:r>
              <a:rPr lang="en-US" altLang="zh-CN" sz="1800" baseline="-25000" dirty="0" err="1"/>
              <a:t>ij</a:t>
            </a:r>
            <a:r>
              <a:rPr lang="zh-CN" altLang="en-US" sz="1800" dirty="0"/>
              <a:t>。</a:t>
            </a:r>
            <a:r>
              <a:rPr lang="en-US" altLang="zh-CN" sz="1800" dirty="0" err="1"/>
              <a:t>T</a:t>
            </a:r>
            <a:r>
              <a:rPr lang="en-US" altLang="zh-CN" sz="1800" baseline="-25000" dirty="0" err="1"/>
              <a:t>ij</a:t>
            </a:r>
            <a:r>
              <a:rPr lang="zh-CN" altLang="en-US" sz="1800" dirty="0"/>
              <a:t>的根结点存储元素</a:t>
            </a:r>
            <a:r>
              <a:rPr lang="en-US" altLang="zh-CN" sz="1800" dirty="0" err="1"/>
              <a:t>x</a:t>
            </a:r>
            <a:r>
              <a:rPr lang="en-US" altLang="zh-CN" sz="1800" baseline="-25000" dirty="0" err="1"/>
              <a:t>m</a:t>
            </a:r>
            <a:r>
              <a:rPr lang="zh-CN" altLang="en-US" sz="1800" dirty="0"/>
              <a:t>，其左右子树</a:t>
            </a:r>
            <a:r>
              <a:rPr lang="en-US" altLang="zh-CN" sz="1800" dirty="0"/>
              <a:t>T</a:t>
            </a:r>
            <a:r>
              <a:rPr lang="en-US" altLang="zh-CN" sz="1800" baseline="-25000" dirty="0"/>
              <a:t>l</a:t>
            </a:r>
            <a:r>
              <a:rPr lang="zh-CN" altLang="en-US" sz="1800" dirty="0"/>
              <a:t>和</a:t>
            </a:r>
            <a:r>
              <a:rPr lang="en-US" altLang="zh-CN" sz="1800" dirty="0"/>
              <a:t>T</a:t>
            </a:r>
            <a:r>
              <a:rPr lang="en-US" altLang="zh-CN" sz="1800" baseline="-25000" dirty="0"/>
              <a:t>r</a:t>
            </a:r>
            <a:r>
              <a:rPr lang="zh-CN" altLang="en-US" sz="1800" dirty="0"/>
              <a:t>的平均路长分别为</a:t>
            </a:r>
            <a:r>
              <a:rPr lang="en-US" altLang="zh-CN" sz="1800" dirty="0"/>
              <a:t>p</a:t>
            </a:r>
            <a:r>
              <a:rPr lang="en-US" altLang="zh-CN" sz="1800" baseline="-25000" dirty="0"/>
              <a:t>l</a:t>
            </a:r>
            <a:r>
              <a:rPr lang="zh-CN" altLang="en-US" sz="1800" dirty="0"/>
              <a:t>和</a:t>
            </a:r>
            <a:r>
              <a:rPr lang="en-US" altLang="zh-CN" sz="1800" dirty="0" err="1"/>
              <a:t>p</a:t>
            </a:r>
            <a:r>
              <a:rPr lang="en-US" altLang="zh-CN" sz="1800" baseline="-25000" dirty="0" err="1"/>
              <a:t>r</a:t>
            </a:r>
            <a:r>
              <a:rPr lang="zh-CN" altLang="en-US" sz="1800" dirty="0"/>
              <a:t>。由于</a:t>
            </a:r>
            <a:r>
              <a:rPr lang="en-US" altLang="zh-CN" sz="1800" dirty="0"/>
              <a:t>T</a:t>
            </a:r>
            <a:r>
              <a:rPr lang="en-US" altLang="zh-CN" sz="1800" baseline="-25000" dirty="0"/>
              <a:t>l</a:t>
            </a:r>
            <a:r>
              <a:rPr lang="zh-CN" altLang="en-US" sz="1800" dirty="0"/>
              <a:t>和</a:t>
            </a:r>
            <a:r>
              <a:rPr lang="en-US" altLang="zh-CN" sz="1800" dirty="0"/>
              <a:t>T</a:t>
            </a:r>
            <a:r>
              <a:rPr lang="en-US" altLang="zh-CN" sz="1800" baseline="-25000" dirty="0"/>
              <a:t>r</a:t>
            </a:r>
            <a:r>
              <a:rPr lang="zh-CN" altLang="en-US" sz="1800" dirty="0"/>
              <a:t>中结点深度是他们在</a:t>
            </a:r>
            <a:r>
              <a:rPr lang="en-US" altLang="zh-CN" sz="1800" dirty="0" err="1"/>
              <a:t>T</a:t>
            </a:r>
            <a:r>
              <a:rPr lang="en-US" altLang="zh-CN" sz="1800" baseline="-25000" dirty="0" err="1"/>
              <a:t>ij</a:t>
            </a:r>
            <a:r>
              <a:rPr lang="zh-CN" altLang="en-US" sz="1800" dirty="0"/>
              <a:t>中的结点深度减</a:t>
            </a:r>
            <a:r>
              <a:rPr lang="en-US" altLang="zh-CN" sz="1800" dirty="0"/>
              <a:t>1</a:t>
            </a:r>
            <a:r>
              <a:rPr lang="zh-CN" altLang="en-US" sz="1800" dirty="0"/>
              <a:t>，故我们有</a:t>
            </a:r>
          </a:p>
          <a:p>
            <a:r>
              <a:rPr lang="zh-CN" altLang="en-US" sz="1800" dirty="0"/>
              <a:t>由于</a:t>
            </a:r>
            <a:r>
              <a:rPr lang="en-US" altLang="zh-CN" sz="1800" dirty="0"/>
              <a:t>T</a:t>
            </a:r>
            <a:r>
              <a:rPr lang="en-US" altLang="zh-CN" sz="1800" baseline="-25000" dirty="0"/>
              <a:t>l</a:t>
            </a:r>
            <a:r>
              <a:rPr lang="zh-CN" altLang="en-US" sz="1800" dirty="0"/>
              <a:t>是关于集合</a:t>
            </a:r>
            <a:r>
              <a:rPr lang="en-US" altLang="zh-CN" sz="1800" dirty="0"/>
              <a:t>{x</a:t>
            </a:r>
            <a:r>
              <a:rPr lang="en-US" altLang="zh-CN" sz="1800" baseline="-25000" dirty="0"/>
              <a:t>i</a:t>
            </a:r>
            <a:r>
              <a:rPr lang="en-US" altLang="zh-CN" sz="1800" dirty="0"/>
              <a:t>,...</a:t>
            </a:r>
            <a:r>
              <a:rPr lang="en-US" altLang="zh-CN" sz="1800" dirty="0" err="1"/>
              <a:t>x</a:t>
            </a:r>
            <a:r>
              <a:rPr lang="en-US" altLang="zh-CN" sz="1800" baseline="-25000" dirty="0" err="1"/>
              <a:t>m</a:t>
            </a:r>
            <a:r>
              <a:rPr lang="en-US" altLang="zh-CN" sz="1800" baseline="-25000" dirty="0"/>
              <a:t>-1</a:t>
            </a:r>
            <a:r>
              <a:rPr lang="en-US" altLang="zh-CN" sz="1800" dirty="0"/>
              <a:t>}</a:t>
            </a:r>
            <a:r>
              <a:rPr lang="zh-CN" altLang="en-US" sz="1800" dirty="0"/>
              <a:t>的一棵二叉搜索树，故</a:t>
            </a:r>
            <a:r>
              <a:rPr lang="en-US" altLang="zh-CN" sz="1800" dirty="0" err="1"/>
              <a:t>p</a:t>
            </a:r>
            <a:r>
              <a:rPr lang="en-US" altLang="zh-CN" sz="1800" baseline="-25000" dirty="0" err="1"/>
              <a:t>l</a:t>
            </a:r>
            <a:r>
              <a:rPr lang="en-US" altLang="zh-CN" sz="1800" dirty="0" err="1"/>
              <a:t>≥p</a:t>
            </a:r>
            <a:r>
              <a:rPr lang="en-US" altLang="zh-CN" sz="1800" baseline="-25000" dirty="0" err="1"/>
              <a:t>i,m-1</a:t>
            </a:r>
            <a:r>
              <a:rPr lang="zh-CN" altLang="en-US" sz="1800" dirty="0"/>
              <a:t>。若</a:t>
            </a:r>
            <a:r>
              <a:rPr lang="en-US" altLang="zh-CN" sz="1800" dirty="0"/>
              <a:t>p</a:t>
            </a:r>
            <a:r>
              <a:rPr lang="en-US" altLang="zh-CN" sz="1800" baseline="-25000" dirty="0"/>
              <a:t>l</a:t>
            </a:r>
            <a:r>
              <a:rPr lang="en-US" altLang="zh-CN" sz="1800" dirty="0"/>
              <a:t>&gt;</a:t>
            </a:r>
            <a:r>
              <a:rPr lang="en-US" altLang="zh-CN" sz="1800" dirty="0" err="1"/>
              <a:t>p</a:t>
            </a:r>
            <a:r>
              <a:rPr lang="en-US" altLang="zh-CN" sz="1800" baseline="-25000" dirty="0" err="1"/>
              <a:t>i,m</a:t>
            </a:r>
            <a:r>
              <a:rPr lang="en-US" altLang="zh-CN" sz="1800" baseline="-25000" dirty="0"/>
              <a:t>-1</a:t>
            </a:r>
            <a:r>
              <a:rPr lang="zh-CN" altLang="en-US" sz="1800" dirty="0"/>
              <a:t>，则用</a:t>
            </a:r>
            <a:r>
              <a:rPr lang="en-US" altLang="zh-CN" sz="1800" dirty="0" err="1"/>
              <a:t>T</a:t>
            </a:r>
            <a:r>
              <a:rPr lang="en-US" altLang="zh-CN" sz="1800" baseline="-25000" dirty="0" err="1"/>
              <a:t>i.m</a:t>
            </a:r>
            <a:r>
              <a:rPr lang="en-US" altLang="zh-CN" sz="1800" baseline="-25000" dirty="0"/>
              <a:t>-1</a:t>
            </a:r>
            <a:r>
              <a:rPr lang="zh-CN" altLang="en-US" sz="1800" dirty="0"/>
              <a:t>替换</a:t>
            </a:r>
            <a:r>
              <a:rPr lang="en-US" altLang="zh-CN" sz="1800" dirty="0"/>
              <a:t>T</a:t>
            </a:r>
            <a:r>
              <a:rPr lang="en-US" altLang="zh-CN" sz="1800" baseline="-25000" dirty="0"/>
              <a:t>l</a:t>
            </a:r>
            <a:r>
              <a:rPr lang="zh-CN" altLang="en-US" sz="1800" dirty="0"/>
              <a:t>可得到平均路长比</a:t>
            </a:r>
            <a:r>
              <a:rPr lang="en-US" altLang="zh-CN" sz="1800" dirty="0" err="1"/>
              <a:t>T</a:t>
            </a:r>
            <a:r>
              <a:rPr lang="en-US" altLang="zh-CN" sz="1800" baseline="-25000" dirty="0" err="1"/>
              <a:t>ij</a:t>
            </a:r>
            <a:r>
              <a:rPr lang="zh-CN" altLang="en-US" sz="1800" dirty="0"/>
              <a:t>更小的二叉搜索树。这与</a:t>
            </a:r>
            <a:r>
              <a:rPr lang="en-US" altLang="zh-CN" sz="1800" dirty="0" err="1"/>
              <a:t>T</a:t>
            </a:r>
            <a:r>
              <a:rPr lang="en-US" altLang="zh-CN" sz="1800" baseline="-25000" dirty="0" err="1"/>
              <a:t>ij</a:t>
            </a:r>
            <a:r>
              <a:rPr lang="zh-CN" altLang="en-US" sz="1800" dirty="0"/>
              <a:t>是最优二叉搜索树矛盾。故</a:t>
            </a:r>
            <a:r>
              <a:rPr lang="en-US" altLang="zh-CN" sz="1800" dirty="0" err="1"/>
              <a:t>T</a:t>
            </a:r>
            <a:r>
              <a:rPr lang="en-US" altLang="zh-CN" sz="1800" baseline="-25000" dirty="0" err="1"/>
              <a:t>ij</a:t>
            </a:r>
            <a:r>
              <a:rPr lang="zh-CN" altLang="en-US" sz="1800" dirty="0"/>
              <a:t>是一个最优二叉搜索树。同理可证也是一棵最优二叉搜索树。</a:t>
            </a:r>
          </a:p>
          <a:p>
            <a:r>
              <a:rPr lang="zh-CN" altLang="en-US" sz="1800" dirty="0"/>
              <a:t>因此最优二叉搜索树具有最优子结构性质。</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82</a:t>
            </a:fld>
            <a:endParaRPr lang="en-US" altLang="zh-CN" sz="1400" b="0" dirty="0"/>
          </a:p>
        </p:txBody>
      </p:sp>
      <p:sp>
        <p:nvSpPr>
          <p:cNvPr id="8198"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4.3.4 </a:t>
            </a:r>
            <a:r>
              <a:rPr lang="zh-CN" altLang="en-US" dirty="0">
                <a:latin typeface="+mj-ea"/>
              </a:rPr>
              <a:t>最优二分检索树问题</a:t>
            </a:r>
            <a:r>
              <a:rPr lang="en-US" altLang="zh-CN" dirty="0">
                <a:latin typeface="+mj-ea"/>
              </a:rPr>
              <a:t>—</a:t>
            </a:r>
            <a:r>
              <a:rPr lang="zh-CN" altLang="en-US" dirty="0">
                <a:latin typeface="+mj-ea"/>
              </a:rPr>
              <a:t>最优子结构</a:t>
            </a:r>
            <a:endParaRPr lang="en-US" altLang="zh-CN" dirty="0">
              <a:latin typeface="+mj-ea"/>
            </a:endParaRPr>
          </a:p>
        </p:txBody>
      </p:sp>
      <p:pic>
        <p:nvPicPr>
          <p:cNvPr id="2" name="图片 1"/>
          <p:cNvPicPr>
            <a:picLocks noChangeAspect="1"/>
          </p:cNvPicPr>
          <p:nvPr/>
        </p:nvPicPr>
        <p:blipFill>
          <a:blip r:embed="rId2"/>
          <a:stretch>
            <a:fillRect/>
          </a:stretch>
        </p:blipFill>
        <p:spPr>
          <a:xfrm>
            <a:off x="3995936" y="2060848"/>
            <a:ext cx="4496031" cy="819192"/>
          </a:xfrm>
          <a:prstGeom prst="rect">
            <a:avLst/>
          </a:prstGeom>
        </p:spPr>
      </p:pic>
      <p:pic>
        <p:nvPicPr>
          <p:cNvPr id="4" name="图片 3"/>
          <p:cNvPicPr>
            <a:picLocks noChangeAspect="1"/>
          </p:cNvPicPr>
          <p:nvPr/>
        </p:nvPicPr>
        <p:blipFill>
          <a:blip r:embed="rId3"/>
          <a:stretch>
            <a:fillRect/>
          </a:stretch>
        </p:blipFill>
        <p:spPr>
          <a:xfrm>
            <a:off x="2915816" y="3956188"/>
            <a:ext cx="3200564" cy="38102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869238" cy="4525963"/>
          </a:xfrm>
        </p:spPr>
        <p:txBody>
          <a:bodyPr vert="horz" wrap="square" lIns="91440" tIns="45720" rIns="91440" bIns="45720" numCol="1" anchor="t" anchorCtr="0" compatLnSpc="1"/>
          <a:lstStyle/>
          <a:p>
            <a:pPr>
              <a:lnSpc>
                <a:spcPct val="90000"/>
              </a:lnSpc>
            </a:pPr>
            <a:r>
              <a:rPr lang="zh-CN" altLang="en-US" dirty="0"/>
              <a:t>最优二叉搜索树</a:t>
            </a:r>
            <a:r>
              <a:rPr lang="en-US" altLang="zh-CN" dirty="0" err="1"/>
              <a:t>T</a:t>
            </a:r>
            <a:r>
              <a:rPr lang="en-US" altLang="zh-CN" baseline="-25000" dirty="0" err="1"/>
              <a:t>ij</a:t>
            </a:r>
            <a:r>
              <a:rPr lang="zh-CN" altLang="en-US" dirty="0"/>
              <a:t>的平均路长为</a:t>
            </a:r>
            <a:r>
              <a:rPr lang="en-US" altLang="zh-CN" dirty="0" err="1"/>
              <a:t>p</a:t>
            </a:r>
            <a:r>
              <a:rPr lang="en-US" altLang="zh-CN" baseline="-25000" dirty="0" err="1"/>
              <a:t>ij</a:t>
            </a:r>
            <a:r>
              <a:rPr lang="zh-CN" altLang="en-US" dirty="0"/>
              <a:t>，则所求的最优值为</a:t>
            </a:r>
            <a:r>
              <a:rPr lang="en-US" altLang="zh-CN" dirty="0" err="1"/>
              <a:t>p</a:t>
            </a:r>
            <a:r>
              <a:rPr lang="en-US" altLang="zh-CN" baseline="-25000" dirty="0" err="1"/>
              <a:t>1,n</a:t>
            </a:r>
            <a:r>
              <a:rPr lang="zh-CN" altLang="en-US" dirty="0"/>
              <a:t>。由最优二叉搜索树问题的最优子结构性质可建立计算</a:t>
            </a:r>
            <a:r>
              <a:rPr lang="en-US" altLang="zh-CN" dirty="0" err="1"/>
              <a:t>p</a:t>
            </a:r>
            <a:r>
              <a:rPr lang="en-US" altLang="zh-CN" baseline="-25000" dirty="0" err="1"/>
              <a:t>ij</a:t>
            </a:r>
            <a:r>
              <a:rPr lang="zh-CN" altLang="en-US" dirty="0"/>
              <a:t>的递归式如下：</a:t>
            </a:r>
          </a:p>
          <a:p>
            <a:pPr>
              <a:lnSpc>
                <a:spcPct val="90000"/>
              </a:lnSpc>
            </a:pPr>
            <a:endParaRPr lang="zh-CN" altLang="en-US" dirty="0"/>
          </a:p>
          <a:p>
            <a:pPr>
              <a:lnSpc>
                <a:spcPct val="90000"/>
              </a:lnSpc>
            </a:pPr>
            <a:r>
              <a:rPr lang="zh-CN" altLang="en-US" dirty="0"/>
              <a:t>记</a:t>
            </a:r>
            <a:r>
              <a:rPr lang="en-US" altLang="zh-CN" dirty="0" err="1"/>
              <a:t>w</a:t>
            </a:r>
            <a:r>
              <a:rPr lang="en-US" altLang="zh-CN" baseline="-25000" dirty="0" err="1"/>
              <a:t>i,j</a:t>
            </a:r>
            <a:r>
              <a:rPr lang="en-US" altLang="zh-CN" dirty="0" err="1"/>
              <a:t>p</a:t>
            </a:r>
            <a:r>
              <a:rPr lang="en-US" altLang="zh-CN" baseline="-25000" dirty="0" err="1"/>
              <a:t>i,j</a:t>
            </a:r>
            <a:r>
              <a:rPr lang="zh-CN" altLang="en-US" dirty="0"/>
              <a:t>为</a:t>
            </a:r>
            <a:r>
              <a:rPr lang="en-US" altLang="zh-CN" dirty="0"/>
              <a:t>m(</a:t>
            </a:r>
            <a:r>
              <a:rPr lang="en-US" altLang="zh-CN" dirty="0" err="1"/>
              <a:t>i,j</a:t>
            </a:r>
            <a:r>
              <a:rPr lang="en-US" altLang="zh-CN" dirty="0"/>
              <a:t>)</a:t>
            </a:r>
            <a:r>
              <a:rPr lang="zh-CN" altLang="en-US" dirty="0"/>
              <a:t>，则</a:t>
            </a:r>
            <a:r>
              <a:rPr lang="en-US" altLang="zh-CN" dirty="0"/>
              <a:t>m(</a:t>
            </a:r>
            <a:r>
              <a:rPr lang="en-US" altLang="zh-CN" dirty="0" err="1"/>
              <a:t>1,n</a:t>
            </a:r>
            <a:r>
              <a:rPr lang="en-US" altLang="zh-CN" dirty="0"/>
              <a:t>)=</a:t>
            </a:r>
            <a:r>
              <a:rPr lang="en-US" altLang="zh-CN" dirty="0" err="1"/>
              <a:t>w</a:t>
            </a:r>
            <a:r>
              <a:rPr lang="en-US" altLang="zh-CN" baseline="-25000" dirty="0" err="1"/>
              <a:t>1,n</a:t>
            </a:r>
            <a:r>
              <a:rPr lang="en-US" altLang="zh-CN" dirty="0" err="1"/>
              <a:t>p</a:t>
            </a:r>
            <a:r>
              <a:rPr lang="en-US" altLang="zh-CN" baseline="-25000" dirty="0" err="1"/>
              <a:t>1,n</a:t>
            </a:r>
            <a:r>
              <a:rPr lang="en-US" altLang="zh-CN" dirty="0"/>
              <a:t>=</a:t>
            </a:r>
            <a:r>
              <a:rPr lang="en-US" altLang="zh-CN" dirty="0" err="1"/>
              <a:t>p</a:t>
            </a:r>
            <a:r>
              <a:rPr lang="en-US" altLang="zh-CN" baseline="-25000" dirty="0" err="1"/>
              <a:t>1,n</a:t>
            </a:r>
            <a:r>
              <a:rPr lang="zh-CN" altLang="en-US" dirty="0"/>
              <a:t>为所求的最优值。计算</a:t>
            </a:r>
            <a:r>
              <a:rPr lang="en-US" altLang="zh-CN" dirty="0"/>
              <a:t>m(</a:t>
            </a:r>
            <a:r>
              <a:rPr lang="en-US" altLang="zh-CN" dirty="0" err="1"/>
              <a:t>i,j</a:t>
            </a:r>
            <a:r>
              <a:rPr lang="en-US" altLang="zh-CN" dirty="0"/>
              <a:t>)</a:t>
            </a:r>
            <a:r>
              <a:rPr lang="zh-CN" altLang="en-US" dirty="0"/>
              <a:t>的递归式为</a:t>
            </a:r>
          </a:p>
          <a:p>
            <a:pPr>
              <a:lnSpc>
                <a:spcPct val="90000"/>
              </a:lnSpc>
              <a:spcBef>
                <a:spcPct val="50000"/>
              </a:spcBef>
              <a:spcAft>
                <a:spcPct val="50000"/>
              </a:spcAft>
            </a:pPr>
            <a:endParaRPr lang="zh-CN" altLang="en-US" dirty="0"/>
          </a:p>
          <a:p>
            <a:pPr>
              <a:lnSpc>
                <a:spcPct val="90000"/>
              </a:lnSpc>
            </a:pPr>
            <a:r>
              <a:rPr lang="zh-CN" altLang="en-US" dirty="0"/>
              <a:t>注意到，</a:t>
            </a:r>
          </a:p>
          <a:p>
            <a:pPr>
              <a:lnSpc>
                <a:spcPct val="90000"/>
              </a:lnSpc>
              <a:spcAft>
                <a:spcPct val="50000"/>
              </a:spcAft>
            </a:pPr>
            <a:endParaRPr lang="zh-CN" altLang="en-US" dirty="0"/>
          </a:p>
          <a:p>
            <a:pPr>
              <a:lnSpc>
                <a:spcPct val="90000"/>
              </a:lnSpc>
            </a:pPr>
            <a:r>
              <a:rPr lang="zh-CN" altLang="en-US" dirty="0"/>
              <a:t>可以得到</a:t>
            </a:r>
            <a:r>
              <a:rPr lang="en-US" altLang="zh-CN" dirty="0"/>
              <a:t>O(</a:t>
            </a:r>
            <a:r>
              <a:rPr lang="en-US" altLang="zh-CN" dirty="0" err="1"/>
              <a:t>n</a:t>
            </a:r>
            <a:r>
              <a:rPr lang="en-US" altLang="zh-CN" baseline="30000" dirty="0" err="1"/>
              <a:t>2</a:t>
            </a:r>
            <a:r>
              <a:rPr lang="en-US" altLang="zh-CN" dirty="0"/>
              <a:t>)</a:t>
            </a:r>
            <a:r>
              <a:rPr lang="zh-CN" altLang="en-US" dirty="0"/>
              <a:t>的算法</a:t>
            </a:r>
            <a:endParaRPr lang="en-US" altLang="zh-CN" dirty="0"/>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83</a:t>
            </a:fld>
            <a:endParaRPr lang="en-US" altLang="zh-CN" sz="1400" b="0" dirty="0"/>
          </a:p>
        </p:txBody>
      </p:sp>
      <p:pic>
        <p:nvPicPr>
          <p:cNvPr id="5" name="图片 4"/>
          <p:cNvPicPr>
            <a:picLocks noChangeAspect="1"/>
          </p:cNvPicPr>
          <p:nvPr/>
        </p:nvPicPr>
        <p:blipFill>
          <a:blip r:embed="rId2"/>
          <a:stretch>
            <a:fillRect/>
          </a:stretch>
        </p:blipFill>
        <p:spPr>
          <a:xfrm>
            <a:off x="1766414" y="2270158"/>
            <a:ext cx="6259726" cy="470563"/>
          </a:xfrm>
          <a:prstGeom prst="rect">
            <a:avLst/>
          </a:prstGeom>
        </p:spPr>
      </p:pic>
      <p:pic>
        <p:nvPicPr>
          <p:cNvPr id="6" name="图片 5"/>
          <p:cNvPicPr>
            <a:picLocks noChangeAspect="1"/>
          </p:cNvPicPr>
          <p:nvPr/>
        </p:nvPicPr>
        <p:blipFill>
          <a:blip r:embed="rId3"/>
          <a:stretch>
            <a:fillRect/>
          </a:stretch>
        </p:blipFill>
        <p:spPr>
          <a:xfrm>
            <a:off x="2627784" y="3531394"/>
            <a:ext cx="5022095" cy="829120"/>
          </a:xfrm>
          <a:prstGeom prst="rect">
            <a:avLst/>
          </a:prstGeom>
        </p:spPr>
      </p:pic>
      <p:pic>
        <p:nvPicPr>
          <p:cNvPr id="7" name="图片 6"/>
          <p:cNvPicPr>
            <a:picLocks noChangeAspect="1"/>
          </p:cNvPicPr>
          <p:nvPr/>
        </p:nvPicPr>
        <p:blipFill>
          <a:blip r:embed="rId4"/>
          <a:stretch>
            <a:fillRect/>
          </a:stretch>
        </p:blipFill>
        <p:spPr>
          <a:xfrm>
            <a:off x="1212463" y="4638615"/>
            <a:ext cx="7556888" cy="533427"/>
          </a:xfrm>
          <a:prstGeom prst="rect">
            <a:avLst/>
          </a:prstGeom>
        </p:spPr>
      </p:pic>
      <p:sp>
        <p:nvSpPr>
          <p:cNvPr id="9" name="Rectangle 2">
            <a:extLst>
              <a:ext uri="{FF2B5EF4-FFF2-40B4-BE49-F238E27FC236}">
                <a16:creationId xmlns:a16="http://schemas.microsoft.com/office/drawing/2014/main" id="{D5035EBC-2CCE-4E6E-9993-7C58B7D23296}"/>
              </a:ext>
            </a:extLst>
          </p:cNvPr>
          <p:cNvSpPr>
            <a:spLocks noGrp="1"/>
          </p:cNvSpPr>
          <p:nvPr>
            <p:ph type="title"/>
          </p:nvPr>
        </p:nvSpPr>
        <p:spPr>
          <a:xfrm>
            <a:off x="879475" y="269875"/>
            <a:ext cx="7869238" cy="927100"/>
          </a:xfrm>
        </p:spPr>
        <p:txBody>
          <a:bodyPr vert="horz" wrap="square" lIns="91440" tIns="45720" rIns="91440" bIns="45720" anchor="ctr" anchorCtr="0"/>
          <a:lstStyle/>
          <a:p>
            <a:pPr eaLnBrk="1" hangingPunct="1"/>
            <a:r>
              <a:rPr lang="en-US" altLang="zh-CN" dirty="0">
                <a:latin typeface="+mj-ea"/>
              </a:rPr>
              <a:t>4.3.4 </a:t>
            </a:r>
            <a:r>
              <a:rPr lang="zh-CN" altLang="en-US" dirty="0">
                <a:latin typeface="+mj-ea"/>
              </a:rPr>
              <a:t>最优二分检索树问题</a:t>
            </a:r>
            <a:r>
              <a:rPr lang="en-US" altLang="zh-CN" dirty="0">
                <a:latin typeface="+mj-ea"/>
              </a:rPr>
              <a:t>—</a:t>
            </a:r>
            <a:r>
              <a:rPr lang="zh-CN" altLang="en-US" dirty="0">
                <a:latin typeface="+mj-ea"/>
              </a:rPr>
              <a:t>最优子结构</a:t>
            </a:r>
            <a:endParaRPr lang="en-US" altLang="zh-CN" dirty="0">
              <a:latin typeface="+mj-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4.3.5 </a:t>
            </a:r>
            <a:r>
              <a:rPr lang="zh-CN" altLang="en-US" sz="3200" dirty="0">
                <a:latin typeface="+mj-ea"/>
              </a:rPr>
              <a:t>货郎担问题</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货郎担问题也叫旅行商题(traveling salesman problem )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其一般提法为:有</a:t>
            </a:r>
            <a:r>
              <a:rPr kumimoji="0" lang="en-US" altLang="zh-CN" sz="2400" b="0" i="0" u="none" strike="noStrike" kern="0" cap="none" spc="0" normalizeH="0" baseline="0" noProof="0" dirty="0">
                <a:ln>
                  <a:noFill/>
                </a:ln>
                <a:solidFill>
                  <a:schemeClr val="accent2"/>
                </a:solidFill>
                <a:effectLst/>
                <a:uLnTx/>
                <a:uFillTx/>
                <a:latin typeface="+mn-ea"/>
                <a:ea typeface="+mn-ea"/>
                <a:cs typeface="+mn-cs"/>
              </a:rPr>
              <a:t>n</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个城市，用1，2，…，</a:t>
            </a:r>
            <a:r>
              <a:rPr kumimoji="0" lang="en-US" altLang="zh-CN" sz="2400" b="0" i="0" u="none" strike="noStrike" kern="0" cap="none" spc="0" normalizeH="0" baseline="0" noProof="0" dirty="0">
                <a:ln>
                  <a:noFill/>
                </a:ln>
                <a:solidFill>
                  <a:schemeClr val="accent2"/>
                </a:solidFill>
                <a:effectLst/>
                <a:uLnTx/>
                <a:uFillTx/>
                <a:latin typeface="+mn-ea"/>
                <a:ea typeface="+mn-ea"/>
                <a:cs typeface="+mn-cs"/>
              </a:rPr>
              <a:t>n</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表示，城i, j之间的距离为d</a:t>
            </a:r>
            <a:r>
              <a:rPr kumimoji="0" lang="en-US" altLang="zh-CN" sz="2400" b="0" i="0" u="none" strike="noStrike" kern="0" cap="none" spc="0" normalizeH="0" baseline="0" noProof="0" dirty="0" err="1">
                <a:ln>
                  <a:noFill/>
                </a:ln>
                <a:solidFill>
                  <a:schemeClr val="accent2"/>
                </a:solidFill>
                <a:effectLst/>
                <a:uLnTx/>
                <a:uFillTx/>
                <a:latin typeface="+mn-ea"/>
                <a:ea typeface="+mn-ea"/>
                <a:cs typeface="+mn-cs"/>
              </a:rPr>
              <a:t>ij</a:t>
            </a:r>
            <a:r>
              <a:rPr kumimoji="0" lang="zh-CN" altLang="en-US" sz="2400" b="0" i="0" u="none" strike="noStrike" kern="0" cap="none" spc="0" normalizeH="0" baseline="0" noProof="0" dirty="0">
                <a:ln>
                  <a:noFill/>
                </a:ln>
                <a:solidFill>
                  <a:schemeClr val="accent2"/>
                </a:solidFill>
                <a:effectLst/>
                <a:uLnTx/>
                <a:uFillTx/>
                <a:latin typeface="+mn-ea"/>
                <a:ea typeface="+mn-ea"/>
                <a:cs typeface="+mn-cs"/>
              </a:rPr>
              <a:t>，有一个货郎从城1出发到其他城市一次且仅一次，最后回到城市1，怎样选择行走路线使总路程最短?</a:t>
            </a:r>
          </a:p>
        </p:txBody>
      </p:sp>
    </p:spTree>
    <p:extLst>
      <p:ext uri="{BB962C8B-B14F-4D97-AF65-F5344CB8AC3E}">
        <p14:creationId xmlns:p14="http://schemas.microsoft.com/office/powerpoint/2010/main" val="21306055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pPr lvl="0">
              <a:defRPr/>
            </a:pPr>
            <a:r>
              <a:rPr lang="zh-CN" altLang="en-US" dirty="0">
                <a:latin typeface="+mn-ea"/>
              </a:rPr>
              <a:t>阶段变量</a:t>
            </a:r>
            <a:r>
              <a:rPr lang="en-US" altLang="zh-CN" dirty="0">
                <a:latin typeface="+mn-ea"/>
              </a:rPr>
              <a:t>k</a:t>
            </a:r>
            <a:r>
              <a:rPr lang="zh-CN" altLang="en-US" dirty="0">
                <a:latin typeface="+mn-ea"/>
              </a:rPr>
              <a:t>：按所经过的城市个数划分阶段</a:t>
            </a:r>
            <a:r>
              <a:rPr lang="en-US" altLang="zh-CN" dirty="0">
                <a:latin typeface="+mn-ea"/>
              </a:rPr>
              <a:t>k</a:t>
            </a:r>
            <a:r>
              <a:rPr lang="zh-CN" altLang="en-US" dirty="0">
                <a:latin typeface="+mn-ea"/>
              </a:rPr>
              <a:t>，</a:t>
            </a:r>
            <a:r>
              <a:rPr lang="en-US" altLang="zh-CN" dirty="0">
                <a:latin typeface="+mn-ea"/>
              </a:rPr>
              <a:t>k=1</a:t>
            </a:r>
            <a:r>
              <a:rPr lang="zh-CN" altLang="en-US" dirty="0">
                <a:latin typeface="+mn-ea"/>
              </a:rPr>
              <a:t>，</a:t>
            </a:r>
            <a:r>
              <a:rPr lang="en-US" altLang="zh-CN" dirty="0">
                <a:latin typeface="+mn-ea"/>
              </a:rPr>
              <a:t>2</a:t>
            </a:r>
            <a:r>
              <a:rPr lang="zh-CN" altLang="en-US" dirty="0">
                <a:latin typeface="+mn-ea"/>
              </a:rPr>
              <a:t>，</a:t>
            </a:r>
            <a:r>
              <a:rPr lang="en-US" altLang="zh-CN" dirty="0">
                <a:latin typeface="+mn-ea"/>
              </a:rPr>
              <a:t>…,n-1.</a:t>
            </a:r>
          </a:p>
          <a:p>
            <a:pPr lvl="0">
              <a:defRPr/>
            </a:pPr>
            <a:r>
              <a:rPr lang="zh-CN" altLang="en-US" dirty="0">
                <a:latin typeface="+mn-ea"/>
              </a:rPr>
              <a:t>状态变量</a:t>
            </a:r>
            <a:r>
              <a:rPr lang="en-US" altLang="zh-CN" dirty="0" err="1">
                <a:latin typeface="+mn-ea"/>
              </a:rPr>
              <a:t>S</a:t>
            </a:r>
            <a:r>
              <a:rPr lang="en-US" altLang="zh-CN" baseline="-25000" dirty="0" err="1">
                <a:latin typeface="+mn-ea"/>
              </a:rPr>
              <a:t>k</a:t>
            </a:r>
            <a:r>
              <a:rPr lang="zh-CN" altLang="en-US" dirty="0">
                <a:latin typeface="+mn-ea"/>
              </a:rPr>
              <a:t>：设第</a:t>
            </a:r>
            <a:r>
              <a:rPr lang="en-US" altLang="zh-CN" dirty="0">
                <a:latin typeface="+mn-ea"/>
              </a:rPr>
              <a:t>k</a:t>
            </a:r>
            <a:r>
              <a:rPr lang="zh-CN" altLang="en-US" dirty="0">
                <a:latin typeface="+mn-ea"/>
              </a:rPr>
              <a:t>阶段到达城市</a:t>
            </a:r>
            <a:r>
              <a:rPr lang="en-US" altLang="zh-CN" dirty="0" err="1">
                <a:latin typeface="+mn-ea"/>
              </a:rPr>
              <a:t>i</a:t>
            </a:r>
            <a:r>
              <a:rPr lang="zh-CN" altLang="en-US" dirty="0">
                <a:latin typeface="+mn-ea"/>
              </a:rPr>
              <a:t>时途中所经过的</a:t>
            </a:r>
            <a:r>
              <a:rPr lang="en-US" altLang="zh-CN" dirty="0">
                <a:latin typeface="+mn-ea"/>
              </a:rPr>
              <a:t>k</a:t>
            </a:r>
            <a:r>
              <a:rPr lang="zh-CN" altLang="en-US" dirty="0">
                <a:latin typeface="+mn-ea"/>
              </a:rPr>
              <a:t>个城集合为</a:t>
            </a:r>
            <a:r>
              <a:rPr lang="en-US" altLang="zh-CN" dirty="0">
                <a:latin typeface="+mn-ea"/>
              </a:rPr>
              <a:t>S</a:t>
            </a:r>
            <a:r>
              <a:rPr lang="zh-CN" altLang="en-US" dirty="0">
                <a:latin typeface="+mn-ea"/>
              </a:rPr>
              <a:t>，则</a:t>
            </a:r>
            <a:r>
              <a:rPr lang="en-US" altLang="zh-CN" dirty="0" err="1">
                <a:latin typeface="+mn-ea"/>
              </a:rPr>
              <a:t>S</a:t>
            </a:r>
            <a:r>
              <a:rPr lang="en-US" altLang="zh-CN" baseline="-25000" dirty="0" err="1">
                <a:latin typeface="+mn-ea"/>
              </a:rPr>
              <a:t>k</a:t>
            </a:r>
            <a:r>
              <a:rPr lang="en-US" altLang="zh-CN" dirty="0">
                <a:latin typeface="+mn-ea"/>
              </a:rPr>
              <a:t>=</a:t>
            </a:r>
            <a:r>
              <a:rPr lang="zh-CN" altLang="en-US" dirty="0">
                <a:latin typeface="+mn-ea"/>
              </a:rPr>
              <a:t>（</a:t>
            </a:r>
            <a:r>
              <a:rPr lang="en-US" altLang="zh-CN" dirty="0">
                <a:latin typeface="+mn-ea"/>
              </a:rPr>
              <a:t>S</a:t>
            </a:r>
            <a:r>
              <a:rPr lang="zh-CN" altLang="en-US" dirty="0">
                <a:latin typeface="+mn-ea"/>
              </a:rPr>
              <a:t>，</a:t>
            </a:r>
            <a:r>
              <a:rPr lang="en-US" altLang="zh-CN" dirty="0" err="1">
                <a:latin typeface="+mn-ea"/>
              </a:rPr>
              <a:t>i</a:t>
            </a:r>
            <a:r>
              <a:rPr lang="zh-CN" altLang="en-US" dirty="0">
                <a:latin typeface="+mn-ea"/>
              </a:rPr>
              <a:t>）其中</a:t>
            </a:r>
            <a:endParaRPr lang="en-US" altLang="zh-CN" dirty="0">
              <a:latin typeface="+mn-ea"/>
            </a:endParaRPr>
          </a:p>
          <a:p>
            <a:pPr lvl="0">
              <a:defRPr/>
            </a:pPr>
            <a:r>
              <a:rPr lang="en-US" altLang="zh-CN" dirty="0">
                <a:latin typeface="+mn-ea"/>
              </a:rPr>
              <a:t>S⊂ {2</a:t>
            </a:r>
            <a:r>
              <a:rPr lang="zh-CN" altLang="en-US" dirty="0">
                <a:latin typeface="+mn-ea"/>
              </a:rPr>
              <a:t> </a:t>
            </a:r>
            <a:r>
              <a:rPr lang="en-US" altLang="zh-CN" dirty="0">
                <a:latin typeface="+mn-ea"/>
              </a:rPr>
              <a:t>,3,…,</a:t>
            </a:r>
            <a:r>
              <a:rPr lang="en-US" altLang="zh-CN" dirty="0" err="1">
                <a:latin typeface="+mn-ea"/>
              </a:rPr>
              <a:t>i-1,i+1</a:t>
            </a:r>
            <a:r>
              <a:rPr lang="en-US" altLang="zh-CN" dirty="0">
                <a:latin typeface="+mn-ea"/>
              </a:rPr>
              <a:t>,…,n}  |S|=k</a:t>
            </a:r>
          </a:p>
          <a:p>
            <a:pPr lvl="0">
              <a:defRPr/>
            </a:pPr>
            <a:r>
              <a:rPr lang="zh-CN" altLang="en-US" dirty="0">
                <a:latin typeface="+mn-ea"/>
              </a:rPr>
              <a:t>决策变量</a:t>
            </a:r>
            <a:r>
              <a:rPr lang="en-US" altLang="zh-CN" dirty="0" err="1">
                <a:latin typeface="+mn-ea"/>
              </a:rPr>
              <a:t>x</a:t>
            </a:r>
            <a:r>
              <a:rPr lang="en-US" altLang="zh-CN" baseline="-25000" dirty="0" err="1">
                <a:latin typeface="+mn-ea"/>
              </a:rPr>
              <a:t>k</a:t>
            </a:r>
            <a:r>
              <a:rPr lang="zh-CN" altLang="en-US" dirty="0">
                <a:latin typeface="+mn-ea"/>
              </a:rPr>
              <a:t>：第</a:t>
            </a:r>
            <a:r>
              <a:rPr lang="en-US" altLang="zh-CN" dirty="0">
                <a:latin typeface="+mn-ea"/>
              </a:rPr>
              <a:t>k</a:t>
            </a:r>
            <a:r>
              <a:rPr lang="zh-CN" altLang="en-US" dirty="0">
                <a:latin typeface="+mn-ea"/>
              </a:rPr>
              <a:t>阶段到达城市</a:t>
            </a:r>
            <a:r>
              <a:rPr lang="en-US" altLang="zh-CN" dirty="0" err="1">
                <a:latin typeface="+mn-ea"/>
              </a:rPr>
              <a:t>i</a:t>
            </a:r>
            <a:r>
              <a:rPr lang="zh-CN" altLang="en-US" dirty="0">
                <a:latin typeface="+mn-ea"/>
              </a:rPr>
              <a:t>的最短路线上邻接</a:t>
            </a:r>
            <a:r>
              <a:rPr lang="en-US" altLang="zh-CN" dirty="0" err="1">
                <a:latin typeface="+mn-ea"/>
              </a:rPr>
              <a:t>i</a:t>
            </a:r>
            <a:r>
              <a:rPr lang="zh-CN" altLang="en-US" dirty="0">
                <a:latin typeface="+mn-ea"/>
              </a:rPr>
              <a:t>的</a:t>
            </a:r>
          </a:p>
          <a:p>
            <a:pPr lvl="0">
              <a:defRPr/>
            </a:pPr>
            <a:r>
              <a:rPr lang="zh-CN" altLang="en-US" dirty="0">
                <a:latin typeface="+mn-ea"/>
              </a:rPr>
              <a:t>前一个城市</a:t>
            </a:r>
            <a:r>
              <a:rPr lang="en-US" altLang="zh-CN" dirty="0">
                <a:latin typeface="+mn-ea"/>
              </a:rPr>
              <a:t>j</a:t>
            </a:r>
            <a:r>
              <a:rPr lang="zh-CN" altLang="en-US" dirty="0">
                <a:latin typeface="+mn-ea"/>
              </a:rPr>
              <a:t>。</a:t>
            </a:r>
            <a:endParaRPr lang="en-US" altLang="zh-CN" dirty="0">
              <a:latin typeface="+mn-ea"/>
            </a:endParaRPr>
          </a:p>
          <a:p>
            <a:pPr lvl="0">
              <a:defRPr/>
            </a:pPr>
            <a:r>
              <a:rPr lang="en-US" altLang="zh-CN" dirty="0">
                <a:latin typeface="+mn-ea"/>
              </a:rPr>
              <a:t>            j=2,3</a:t>
            </a:r>
            <a:r>
              <a:rPr lang="zh-CN" altLang="en-US" dirty="0">
                <a:latin typeface="+mn-ea"/>
              </a:rPr>
              <a:t>，</a:t>
            </a:r>
            <a:r>
              <a:rPr lang="en-US" altLang="zh-CN" dirty="0">
                <a:latin typeface="+mn-ea"/>
              </a:rPr>
              <a:t>…</a:t>
            </a:r>
            <a:r>
              <a:rPr lang="zh-CN" altLang="en-US" dirty="0">
                <a:latin typeface="+mn-ea"/>
              </a:rPr>
              <a:t>，</a:t>
            </a:r>
            <a:r>
              <a:rPr lang="en-US" altLang="zh-CN" dirty="0">
                <a:latin typeface="+mn-ea"/>
              </a:rPr>
              <a:t>n.</a:t>
            </a:r>
          </a:p>
          <a:p>
            <a:pPr lvl="0">
              <a:defRPr/>
            </a:pPr>
            <a:r>
              <a:rPr lang="zh-CN" altLang="en-US" dirty="0">
                <a:latin typeface="+mn-ea"/>
              </a:rPr>
              <a:t>例如</a:t>
            </a:r>
            <a:r>
              <a:rPr lang="en-US" altLang="zh-CN" dirty="0" err="1">
                <a:latin typeface="+mn-ea"/>
              </a:rPr>
              <a:t>x</a:t>
            </a:r>
            <a:r>
              <a:rPr lang="en-US" altLang="zh-CN" baseline="-25000" dirty="0" err="1">
                <a:latin typeface="+mn-ea"/>
              </a:rPr>
              <a:t>3</a:t>
            </a:r>
            <a:r>
              <a:rPr lang="en-US" altLang="zh-CN" dirty="0">
                <a:latin typeface="+mn-ea"/>
              </a:rPr>
              <a:t>({2,3,4},5)=3</a:t>
            </a:r>
            <a:r>
              <a:rPr lang="zh-CN" altLang="en-US" dirty="0">
                <a:latin typeface="+mn-ea"/>
              </a:rPr>
              <a:t>，</a:t>
            </a:r>
          </a:p>
          <a:p>
            <a:pPr lvl="0">
              <a:defRPr/>
            </a:pPr>
            <a:r>
              <a:rPr lang="zh-CN" altLang="en-US" dirty="0">
                <a:latin typeface="+mn-ea"/>
              </a:rPr>
              <a:t>表示推销商从城</a:t>
            </a:r>
            <a:r>
              <a:rPr lang="en-US" altLang="zh-CN" dirty="0">
                <a:latin typeface="+mn-ea"/>
              </a:rPr>
              <a:t>1</a:t>
            </a:r>
            <a:r>
              <a:rPr lang="zh-CN" altLang="en-US" dirty="0">
                <a:latin typeface="+mn-ea"/>
              </a:rPr>
              <a:t>出发途径城市</a:t>
            </a:r>
            <a:r>
              <a:rPr lang="en-US" altLang="zh-CN" dirty="0">
                <a:latin typeface="+mn-ea"/>
              </a:rPr>
              <a:t>{2,3,4}</a:t>
            </a:r>
            <a:r>
              <a:rPr lang="zh-CN" altLang="en-US" dirty="0">
                <a:latin typeface="+mn-ea"/>
              </a:rPr>
              <a:t>到达城市</a:t>
            </a:r>
            <a:r>
              <a:rPr lang="en-US" altLang="zh-CN" dirty="0">
                <a:latin typeface="+mn-ea"/>
              </a:rPr>
              <a:t>5</a:t>
            </a:r>
            <a:r>
              <a:rPr lang="zh-CN" altLang="en-US" dirty="0">
                <a:latin typeface="+mn-ea"/>
              </a:rPr>
              <a:t>时，</a:t>
            </a:r>
          </a:p>
          <a:p>
            <a:pPr lvl="0">
              <a:defRPr/>
            </a:pPr>
            <a:r>
              <a:rPr lang="zh-CN" altLang="en-US" dirty="0">
                <a:latin typeface="+mn-ea"/>
              </a:rPr>
              <a:t>须先途经城市</a:t>
            </a:r>
            <a:r>
              <a:rPr lang="en-US" altLang="zh-CN" dirty="0">
                <a:latin typeface="+mn-ea"/>
              </a:rPr>
              <a:t>{2,4}</a:t>
            </a:r>
            <a:r>
              <a:rPr lang="zh-CN" altLang="en-US" dirty="0">
                <a:latin typeface="+mn-ea"/>
              </a:rPr>
              <a:t>到达城市</a:t>
            </a:r>
            <a:r>
              <a:rPr lang="en-US" altLang="zh-CN" dirty="0">
                <a:latin typeface="+mn-ea"/>
              </a:rPr>
              <a:t>3</a:t>
            </a:r>
            <a:r>
              <a:rPr lang="zh-CN" altLang="en-US" dirty="0">
                <a:latin typeface="+mn-ea"/>
              </a:rPr>
              <a:t>，再去城市</a:t>
            </a:r>
            <a:r>
              <a:rPr lang="en-US" altLang="zh-CN" dirty="0">
                <a:latin typeface="+mn-ea"/>
              </a:rPr>
              <a:t>5.</a:t>
            </a:r>
          </a:p>
          <a:p>
            <a:pPr lvl="0">
              <a:defRPr/>
            </a:pPr>
            <a:endParaRPr lang="en-US" altLang="zh-CN" dirty="0">
              <a:latin typeface="+mn-ea"/>
            </a:endParaRPr>
          </a:p>
          <a:p>
            <a:pPr lvl="0">
              <a:defRPr/>
            </a:pPr>
            <a:endParaRPr lang="en-US" altLang="zh-CN" dirty="0">
              <a:latin typeface="+mn-ea"/>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85</a:t>
            </a:fld>
            <a:endParaRPr lang="en-US" altLang="zh-CN" sz="1400" b="0" dirty="0"/>
          </a:p>
        </p:txBody>
      </p:sp>
      <p:sp>
        <p:nvSpPr>
          <p:cNvPr id="8198"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4.3.5 </a:t>
            </a:r>
            <a:r>
              <a:rPr lang="zh-CN" altLang="en-US" dirty="0">
                <a:latin typeface="+mj-ea"/>
              </a:rPr>
              <a:t>货郎担问题</a:t>
            </a:r>
            <a:endParaRPr lang="en-US" altLang="zh-CN" dirty="0">
              <a:latin typeface="+mj-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pPr lvl="0">
              <a:defRPr/>
            </a:pPr>
            <a:r>
              <a:rPr lang="zh-CN" altLang="en-US" dirty="0">
                <a:latin typeface="+mn-ea"/>
              </a:rPr>
              <a:t>阶段指标函数</a:t>
            </a:r>
            <a:r>
              <a:rPr lang="en-US" altLang="zh-CN" dirty="0" err="1">
                <a:latin typeface="+mn-ea"/>
              </a:rPr>
              <a:t>d</a:t>
            </a:r>
            <a:r>
              <a:rPr lang="en-US" altLang="zh-CN" baseline="-25000" dirty="0" err="1">
                <a:latin typeface="+mn-ea"/>
              </a:rPr>
              <a:t>ji</a:t>
            </a:r>
            <a:r>
              <a:rPr lang="en-US" altLang="zh-CN" dirty="0">
                <a:latin typeface="+mn-ea"/>
              </a:rPr>
              <a:t>:</a:t>
            </a:r>
            <a:r>
              <a:rPr lang="zh-CN" altLang="en-US" dirty="0">
                <a:latin typeface="+mn-ea"/>
              </a:rPr>
              <a:t>设从城市</a:t>
            </a:r>
            <a:r>
              <a:rPr lang="en-US" altLang="zh-CN" dirty="0">
                <a:latin typeface="+mn-ea"/>
              </a:rPr>
              <a:t>1</a:t>
            </a:r>
            <a:r>
              <a:rPr lang="zh-CN" altLang="en-US" dirty="0">
                <a:latin typeface="+mn-ea"/>
              </a:rPr>
              <a:t>出发，第</a:t>
            </a:r>
            <a:r>
              <a:rPr lang="en-US" altLang="zh-CN" dirty="0">
                <a:latin typeface="+mn-ea"/>
              </a:rPr>
              <a:t>k-1</a:t>
            </a:r>
            <a:r>
              <a:rPr lang="zh-CN" altLang="en-US" dirty="0">
                <a:latin typeface="+mn-ea"/>
              </a:rPr>
              <a:t>阶段到达到城市</a:t>
            </a:r>
            <a:r>
              <a:rPr lang="en-US" altLang="zh-CN" dirty="0">
                <a:latin typeface="+mn-ea"/>
              </a:rPr>
              <a:t>j</a:t>
            </a:r>
            <a:r>
              <a:rPr lang="zh-CN" altLang="en-US" dirty="0">
                <a:latin typeface="+mn-ea"/>
              </a:rPr>
              <a:t>，则城市与下一阶段</a:t>
            </a:r>
            <a:r>
              <a:rPr lang="en-US" altLang="zh-CN" dirty="0">
                <a:latin typeface="+mn-ea"/>
              </a:rPr>
              <a:t>(</a:t>
            </a:r>
            <a:r>
              <a:rPr lang="zh-CN" altLang="en-US" dirty="0">
                <a:latin typeface="+mn-ea"/>
              </a:rPr>
              <a:t>第</a:t>
            </a:r>
            <a:r>
              <a:rPr lang="en-US" altLang="zh-CN" dirty="0">
                <a:latin typeface="+mn-ea"/>
              </a:rPr>
              <a:t>k</a:t>
            </a:r>
            <a:r>
              <a:rPr lang="zh-CN" altLang="en-US" dirty="0">
                <a:latin typeface="+mn-ea"/>
              </a:rPr>
              <a:t>阶段</a:t>
            </a:r>
            <a:r>
              <a:rPr lang="en-US" altLang="zh-CN" dirty="0">
                <a:latin typeface="+mn-ea"/>
              </a:rPr>
              <a:t>)</a:t>
            </a:r>
            <a:r>
              <a:rPr lang="zh-CN" altLang="en-US" dirty="0">
                <a:latin typeface="+mn-ea"/>
              </a:rPr>
              <a:t>的目的地城市</a:t>
            </a:r>
            <a:r>
              <a:rPr lang="en-US" altLang="zh-CN" dirty="0" err="1">
                <a:latin typeface="+mn-ea"/>
              </a:rPr>
              <a:t>i</a:t>
            </a:r>
            <a:r>
              <a:rPr lang="zh-CN" altLang="en-US" dirty="0">
                <a:latin typeface="+mn-ea"/>
              </a:rPr>
              <a:t>之间的距离为</a:t>
            </a:r>
            <a:r>
              <a:rPr lang="en-US" altLang="zh-CN" dirty="0" err="1">
                <a:latin typeface="+mn-ea"/>
              </a:rPr>
              <a:t>d</a:t>
            </a:r>
            <a:r>
              <a:rPr lang="en-US" altLang="zh-CN" baseline="-25000" dirty="0" err="1">
                <a:latin typeface="+mn-ea"/>
              </a:rPr>
              <a:t>ji</a:t>
            </a:r>
            <a:endParaRPr lang="en-US" altLang="zh-CN" baseline="-25000" dirty="0">
              <a:latin typeface="+mn-ea"/>
            </a:endParaRPr>
          </a:p>
          <a:p>
            <a:pPr>
              <a:defRPr/>
            </a:pPr>
            <a:r>
              <a:rPr lang="zh-CN" altLang="en-US" dirty="0">
                <a:latin typeface="+mn-ea"/>
              </a:rPr>
              <a:t>最优指标函数</a:t>
            </a:r>
            <a:r>
              <a:rPr lang="en-US" altLang="zh-CN" dirty="0" err="1">
                <a:latin typeface="+mn-ea"/>
              </a:rPr>
              <a:t>f</a:t>
            </a:r>
            <a:r>
              <a:rPr lang="en-US" altLang="zh-CN" baseline="-25000" dirty="0" err="1">
                <a:latin typeface="+mn-ea"/>
              </a:rPr>
              <a:t>k</a:t>
            </a:r>
            <a:r>
              <a:rPr lang="en-US" altLang="zh-CN" dirty="0">
                <a:latin typeface="+mn-ea"/>
              </a:rPr>
              <a:t>(</a:t>
            </a:r>
            <a:r>
              <a:rPr lang="en-US" altLang="zh-CN" dirty="0" err="1">
                <a:latin typeface="+mn-ea"/>
              </a:rPr>
              <a:t>S,i</a:t>
            </a:r>
            <a:r>
              <a:rPr lang="en-US" altLang="zh-CN" dirty="0">
                <a:latin typeface="+mn-ea"/>
              </a:rPr>
              <a:t>)</a:t>
            </a:r>
            <a:r>
              <a:rPr lang="zh-CN" altLang="en-US" dirty="0">
                <a:latin typeface="+mn-ea"/>
              </a:rPr>
              <a:t>：从城市</a:t>
            </a:r>
            <a:r>
              <a:rPr lang="en-US" altLang="zh-CN" dirty="0">
                <a:latin typeface="+mn-ea"/>
              </a:rPr>
              <a:t>1</a:t>
            </a:r>
            <a:r>
              <a:rPr lang="zh-CN" altLang="en-US" dirty="0">
                <a:latin typeface="+mn-ea"/>
              </a:rPr>
              <a:t>出发，经过</a:t>
            </a:r>
            <a:r>
              <a:rPr lang="en-US" altLang="zh-CN" dirty="0">
                <a:latin typeface="+mn-ea"/>
              </a:rPr>
              <a:t>S</a:t>
            </a:r>
            <a:r>
              <a:rPr lang="zh-CN" altLang="en-US" dirty="0">
                <a:latin typeface="+mn-ea"/>
              </a:rPr>
              <a:t>中</a:t>
            </a:r>
            <a:r>
              <a:rPr lang="en-US" altLang="zh-CN" dirty="0">
                <a:latin typeface="+mn-ea"/>
              </a:rPr>
              <a:t>k</a:t>
            </a:r>
            <a:r>
              <a:rPr lang="zh-CN" altLang="en-US" dirty="0">
                <a:latin typeface="+mn-ea"/>
              </a:rPr>
              <a:t>个城市，到达城市</a:t>
            </a:r>
            <a:r>
              <a:rPr lang="en-US" altLang="zh-CN" dirty="0" err="1">
                <a:latin typeface="+mn-ea"/>
              </a:rPr>
              <a:t>i</a:t>
            </a:r>
            <a:r>
              <a:rPr lang="zh-CN" altLang="en-US" dirty="0">
                <a:latin typeface="+mn-ea"/>
              </a:rPr>
              <a:t>的最短距离。</a:t>
            </a:r>
            <a:endParaRPr lang="en-US" altLang="zh-CN" dirty="0">
              <a:latin typeface="+mn-ea"/>
            </a:endParaRPr>
          </a:p>
          <a:p>
            <a:pPr>
              <a:defRPr/>
            </a:pPr>
            <a:r>
              <a:rPr lang="zh-CN" altLang="en-US" dirty="0">
                <a:latin typeface="+mn-ea"/>
              </a:rPr>
              <a:t>动态规划的递推关系为：</a:t>
            </a:r>
            <a:endParaRPr lang="en-US" altLang="zh-CN" dirty="0">
              <a:latin typeface="+mn-ea"/>
            </a:endParaRPr>
          </a:p>
          <a:p>
            <a:pPr>
              <a:defRPr/>
            </a:pPr>
            <a:endParaRPr lang="en-US" altLang="zh-CN" dirty="0">
              <a:latin typeface="+mn-ea"/>
            </a:endParaRPr>
          </a:p>
          <a:p>
            <a:pPr lvl="0">
              <a:defRPr/>
            </a:pPr>
            <a:endParaRPr lang="en-US" altLang="zh-CN" dirty="0">
              <a:latin typeface="+mn-ea"/>
            </a:endParaRPr>
          </a:p>
          <a:p>
            <a:pPr lvl="0">
              <a:defRPr/>
            </a:pPr>
            <a:endParaRPr lang="en-US" altLang="zh-CN" dirty="0">
              <a:latin typeface="+mn-ea"/>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86</a:t>
            </a:fld>
            <a:endParaRPr lang="en-US" altLang="zh-CN" sz="1400" b="0" dirty="0"/>
          </a:p>
        </p:txBody>
      </p:sp>
      <p:sp>
        <p:nvSpPr>
          <p:cNvPr id="8198"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4.3.5 </a:t>
            </a:r>
            <a:r>
              <a:rPr lang="zh-CN" altLang="en-US" dirty="0">
                <a:latin typeface="+mj-ea"/>
              </a:rPr>
              <a:t>货郎担问题</a:t>
            </a:r>
            <a:endParaRPr lang="en-US" altLang="zh-CN" dirty="0">
              <a:latin typeface="+mj-ea"/>
            </a:endParaRPr>
          </a:p>
        </p:txBody>
      </p:sp>
      <p:pic>
        <p:nvPicPr>
          <p:cNvPr id="2" name="图片 1">
            <a:extLst>
              <a:ext uri="{FF2B5EF4-FFF2-40B4-BE49-F238E27FC236}">
                <a16:creationId xmlns:a16="http://schemas.microsoft.com/office/drawing/2014/main" id="{38B8A19E-E4AD-4E72-A228-5D2862F1C613}"/>
              </a:ext>
            </a:extLst>
          </p:cNvPr>
          <p:cNvPicPr>
            <a:picLocks noChangeAspect="1"/>
          </p:cNvPicPr>
          <p:nvPr/>
        </p:nvPicPr>
        <p:blipFill>
          <a:blip r:embed="rId2"/>
          <a:stretch>
            <a:fillRect/>
          </a:stretch>
        </p:blipFill>
        <p:spPr>
          <a:xfrm>
            <a:off x="2033587" y="3717032"/>
            <a:ext cx="5076825" cy="933450"/>
          </a:xfrm>
          <a:prstGeom prst="rect">
            <a:avLst/>
          </a:prstGeom>
        </p:spPr>
      </p:pic>
      <p:sp>
        <p:nvSpPr>
          <p:cNvPr id="4" name="矩形 3">
            <a:extLst>
              <a:ext uri="{FF2B5EF4-FFF2-40B4-BE49-F238E27FC236}">
                <a16:creationId xmlns:a16="http://schemas.microsoft.com/office/drawing/2014/main" id="{3E813497-EAEA-424E-860F-81B7D5B789B8}"/>
              </a:ext>
            </a:extLst>
          </p:cNvPr>
          <p:cNvSpPr/>
          <p:nvPr/>
        </p:nvSpPr>
        <p:spPr>
          <a:xfrm>
            <a:off x="1259631" y="4871046"/>
            <a:ext cx="7489081" cy="830997"/>
          </a:xfrm>
          <a:prstGeom prst="rect">
            <a:avLst/>
          </a:prstGeom>
        </p:spPr>
        <p:txBody>
          <a:bodyPr wrap="square">
            <a:spAutoFit/>
          </a:bodyPr>
          <a:lstStyle/>
          <a:p>
            <a:r>
              <a:rPr lang="zh-CN" altLang="en-US" sz="2400" dirty="0">
                <a:solidFill>
                  <a:schemeClr val="accent2"/>
                </a:solidFill>
                <a:latin typeface="+mn-ea"/>
                <a:ea typeface="+mn-ea"/>
              </a:rPr>
              <a:t>最后算出f</a:t>
            </a:r>
            <a:r>
              <a:rPr lang="en-US" altLang="zh-CN" sz="2400" baseline="-25000" dirty="0">
                <a:solidFill>
                  <a:schemeClr val="accent2"/>
                </a:solidFill>
                <a:latin typeface="+mn-ea"/>
                <a:ea typeface="+mn-ea"/>
              </a:rPr>
              <a:t>n-1</a:t>
            </a:r>
            <a:r>
              <a:rPr lang="en-US" altLang="zh-CN" sz="2400" dirty="0">
                <a:solidFill>
                  <a:schemeClr val="accent2"/>
                </a:solidFill>
                <a:latin typeface="+mn-ea"/>
                <a:ea typeface="+mn-ea"/>
              </a:rPr>
              <a:t>(</a:t>
            </a:r>
            <a:r>
              <a:rPr lang="en-US" altLang="zh-CN" sz="2400" dirty="0" err="1">
                <a:solidFill>
                  <a:schemeClr val="accent2"/>
                </a:solidFill>
                <a:latin typeface="+mn-ea"/>
                <a:ea typeface="+mn-ea"/>
              </a:rPr>
              <a:t>N,1</a:t>
            </a:r>
            <a:r>
              <a:rPr lang="en-US" altLang="zh-CN" sz="2400" dirty="0">
                <a:solidFill>
                  <a:schemeClr val="accent2"/>
                </a:solidFill>
                <a:latin typeface="+mn-ea"/>
                <a:ea typeface="+mn-ea"/>
              </a:rPr>
              <a:t>)</a:t>
            </a:r>
            <a:r>
              <a:rPr lang="zh-CN" altLang="en-US" sz="2400" dirty="0">
                <a:solidFill>
                  <a:schemeClr val="accent2"/>
                </a:solidFill>
                <a:latin typeface="+mn-ea"/>
                <a:ea typeface="+mn-ea"/>
              </a:rPr>
              <a:t>, N</a:t>
            </a:r>
            <a:r>
              <a:rPr lang="en-US" altLang="zh-CN" sz="2400" dirty="0">
                <a:solidFill>
                  <a:schemeClr val="accent2"/>
                </a:solidFill>
                <a:latin typeface="+mn-ea"/>
                <a:ea typeface="+mn-ea"/>
              </a:rPr>
              <a:t>=</a:t>
            </a:r>
            <a:r>
              <a:rPr lang="zh-CN" altLang="en-US" sz="2400" dirty="0">
                <a:solidFill>
                  <a:schemeClr val="accent2"/>
                </a:solidFill>
                <a:latin typeface="+mn-ea"/>
                <a:ea typeface="+mn-ea"/>
              </a:rPr>
              <a:t>{2,3，</a:t>
            </a:r>
            <a:r>
              <a:rPr lang="en-US" altLang="zh-CN" sz="2400" dirty="0">
                <a:solidFill>
                  <a:schemeClr val="accent2"/>
                </a:solidFill>
                <a:latin typeface="+mn-ea"/>
                <a:ea typeface="+mn-ea"/>
              </a:rPr>
              <a:t>…,n</a:t>
            </a:r>
            <a:r>
              <a:rPr lang="zh-CN" altLang="en-US" sz="2400" dirty="0">
                <a:solidFill>
                  <a:schemeClr val="accent2"/>
                </a:solidFill>
                <a:latin typeface="+mn-ea"/>
                <a:ea typeface="+mn-ea"/>
              </a:rPr>
              <a:t>}，即为全程的最短距离，同时可得最优策略，即最优行走路线.</a:t>
            </a:r>
          </a:p>
        </p:txBody>
      </p:sp>
    </p:spTree>
    <p:extLst>
      <p:ext uri="{BB962C8B-B14F-4D97-AF65-F5344CB8AC3E}">
        <p14:creationId xmlns:p14="http://schemas.microsoft.com/office/powerpoint/2010/main" val="12397377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C081F-2613-42EB-BF4F-1A6E1CAA1612}"/>
              </a:ext>
            </a:extLst>
          </p:cNvPr>
          <p:cNvSpPr>
            <a:spLocks noGrp="1"/>
          </p:cNvSpPr>
          <p:nvPr>
            <p:ph type="title"/>
          </p:nvPr>
        </p:nvSpPr>
        <p:spPr/>
        <p:txBody>
          <a:bodyPr/>
          <a:lstStyle/>
          <a:p>
            <a:r>
              <a:rPr lang="en-US" altLang="zh-CN" dirty="0">
                <a:latin typeface="+mj-ea"/>
              </a:rPr>
              <a:t>4.3.5 </a:t>
            </a:r>
            <a:r>
              <a:rPr lang="zh-CN" altLang="en-US" dirty="0">
                <a:latin typeface="+mj-ea"/>
              </a:rPr>
              <a:t>货郎担问题</a:t>
            </a:r>
          </a:p>
        </p:txBody>
      </p:sp>
      <p:sp>
        <p:nvSpPr>
          <p:cNvPr id="3" name="内容占位符 2">
            <a:extLst>
              <a:ext uri="{FF2B5EF4-FFF2-40B4-BE49-F238E27FC236}">
                <a16:creationId xmlns:a16="http://schemas.microsoft.com/office/drawing/2014/main" id="{3305F5B2-6C4B-4B0E-BB65-61DA7A7C6A1D}"/>
              </a:ext>
            </a:extLst>
          </p:cNvPr>
          <p:cNvSpPr>
            <a:spLocks noGrp="1"/>
          </p:cNvSpPr>
          <p:nvPr>
            <p:ph idx="1"/>
          </p:nvPr>
        </p:nvSpPr>
        <p:spPr/>
        <p:txBody>
          <a:bodyPr/>
          <a:lstStyle/>
          <a:p>
            <a:r>
              <a:rPr lang="zh-CN" altLang="en-US" dirty="0"/>
              <a:t>例</a:t>
            </a:r>
            <a:r>
              <a:rPr lang="en-US" altLang="zh-CN" dirty="0"/>
              <a:t>:</a:t>
            </a:r>
            <a:r>
              <a:rPr lang="zh-CN" altLang="en-US" dirty="0"/>
              <a:t>已知</a:t>
            </a:r>
            <a:r>
              <a:rPr lang="en-US" altLang="zh-CN" dirty="0"/>
              <a:t>4</a:t>
            </a:r>
            <a:r>
              <a:rPr lang="zh-CN" altLang="en-US" dirty="0"/>
              <a:t>个城市间距离如表</a:t>
            </a:r>
            <a:r>
              <a:rPr lang="en-US" altLang="zh-CN" dirty="0"/>
              <a:t>1</a:t>
            </a:r>
            <a:r>
              <a:rPr lang="zh-CN" altLang="en-US" dirty="0"/>
              <a:t>，求从城市</a:t>
            </a:r>
            <a:r>
              <a:rPr lang="en-US" altLang="zh-CN" dirty="0"/>
              <a:t>1</a:t>
            </a:r>
            <a:r>
              <a:rPr lang="zh-CN" altLang="en-US" dirty="0"/>
              <a:t>出发，经其与城市一次且仅一次最优回到城市</a:t>
            </a:r>
            <a:r>
              <a:rPr lang="en-US" altLang="zh-CN" dirty="0"/>
              <a:t>1</a:t>
            </a:r>
            <a:r>
              <a:rPr lang="zh-CN" altLang="en-US" dirty="0"/>
              <a:t>的最短路与距离。</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zh-CN" altLang="en-US" dirty="0"/>
              <a:t>解</a:t>
            </a:r>
            <a:r>
              <a:rPr lang="en-US" altLang="zh-CN" dirty="0"/>
              <a:t>:</a:t>
            </a:r>
            <a:r>
              <a:rPr lang="zh-CN" altLang="en-US" dirty="0"/>
              <a:t>由边界条件知</a:t>
            </a:r>
            <a:r>
              <a:rPr lang="en-US" altLang="zh-CN" dirty="0"/>
              <a:t>:</a:t>
            </a:r>
          </a:p>
          <a:p>
            <a:pPr marL="0" indent="0">
              <a:buNone/>
            </a:pPr>
            <a:endParaRPr lang="zh-CN" altLang="en-US" dirty="0"/>
          </a:p>
          <a:p>
            <a:endParaRPr lang="zh-CN" altLang="en-US" dirty="0"/>
          </a:p>
        </p:txBody>
      </p:sp>
      <p:sp>
        <p:nvSpPr>
          <p:cNvPr id="4" name="日期占位符 3">
            <a:extLst>
              <a:ext uri="{FF2B5EF4-FFF2-40B4-BE49-F238E27FC236}">
                <a16:creationId xmlns:a16="http://schemas.microsoft.com/office/drawing/2014/main" id="{10AB319E-1496-45DB-9EA9-A51CA86E2718}"/>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5A9F0D5F-9647-4354-9C2F-BA4112CEE0B5}"/>
              </a:ext>
            </a:extLst>
          </p:cNvPr>
          <p:cNvPicPr>
            <a:picLocks noChangeAspect="1"/>
          </p:cNvPicPr>
          <p:nvPr/>
        </p:nvPicPr>
        <p:blipFill>
          <a:blip r:embed="rId3"/>
          <a:stretch>
            <a:fillRect/>
          </a:stretch>
        </p:blipFill>
        <p:spPr>
          <a:xfrm>
            <a:off x="2019300" y="2276872"/>
            <a:ext cx="5105400" cy="1809750"/>
          </a:xfrm>
          <a:prstGeom prst="rect">
            <a:avLst/>
          </a:prstGeom>
        </p:spPr>
      </p:pic>
      <p:pic>
        <p:nvPicPr>
          <p:cNvPr id="6" name="图片 5">
            <a:extLst>
              <a:ext uri="{FF2B5EF4-FFF2-40B4-BE49-F238E27FC236}">
                <a16:creationId xmlns:a16="http://schemas.microsoft.com/office/drawing/2014/main" id="{9EB9EE78-A20C-4FBD-A6CC-87C0DE93001E}"/>
              </a:ext>
            </a:extLst>
          </p:cNvPr>
          <p:cNvPicPr>
            <a:picLocks noChangeAspect="1"/>
          </p:cNvPicPr>
          <p:nvPr/>
        </p:nvPicPr>
        <p:blipFill>
          <a:blip r:embed="rId4"/>
          <a:stretch>
            <a:fillRect/>
          </a:stretch>
        </p:blipFill>
        <p:spPr>
          <a:xfrm>
            <a:off x="1528762" y="4806194"/>
            <a:ext cx="6086475" cy="1000125"/>
          </a:xfrm>
          <a:prstGeom prst="rect">
            <a:avLst/>
          </a:prstGeom>
        </p:spPr>
      </p:pic>
    </p:spTree>
    <p:extLst>
      <p:ext uri="{BB962C8B-B14F-4D97-AF65-F5344CB8AC3E}">
        <p14:creationId xmlns:p14="http://schemas.microsoft.com/office/powerpoint/2010/main" val="36635137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C081F-2613-42EB-BF4F-1A6E1CAA1612}"/>
              </a:ext>
            </a:extLst>
          </p:cNvPr>
          <p:cNvSpPr>
            <a:spLocks noGrp="1"/>
          </p:cNvSpPr>
          <p:nvPr>
            <p:ph type="title"/>
          </p:nvPr>
        </p:nvSpPr>
        <p:spPr/>
        <p:txBody>
          <a:bodyPr/>
          <a:lstStyle/>
          <a:p>
            <a:r>
              <a:rPr lang="en-US" altLang="zh-CN" dirty="0">
                <a:latin typeface="+mj-ea"/>
              </a:rPr>
              <a:t>4.3.5 </a:t>
            </a:r>
            <a:r>
              <a:rPr lang="zh-CN" altLang="en-US" dirty="0">
                <a:latin typeface="+mj-ea"/>
              </a:rPr>
              <a:t>货郎担问题</a:t>
            </a:r>
          </a:p>
        </p:txBody>
      </p:sp>
      <p:sp>
        <p:nvSpPr>
          <p:cNvPr id="3" name="内容占位符 2">
            <a:extLst>
              <a:ext uri="{FF2B5EF4-FFF2-40B4-BE49-F238E27FC236}">
                <a16:creationId xmlns:a16="http://schemas.microsoft.com/office/drawing/2014/main" id="{3305F5B2-6C4B-4B0E-BB65-61DA7A7C6A1D}"/>
              </a:ext>
            </a:extLst>
          </p:cNvPr>
          <p:cNvSpPr>
            <a:spLocks noGrp="1"/>
          </p:cNvSpPr>
          <p:nvPr>
            <p:ph idx="1"/>
          </p:nvPr>
        </p:nvSpPr>
        <p:spPr/>
        <p:txBody>
          <a:bodyPr/>
          <a:lstStyle/>
          <a:p>
            <a:r>
              <a:rPr lang="zh-CN" altLang="en-US" dirty="0"/>
              <a:t>当</a:t>
            </a:r>
            <a:r>
              <a:rPr lang="en-US" altLang="zh-CN" dirty="0"/>
              <a:t>k=1</a:t>
            </a:r>
            <a:r>
              <a:rPr lang="zh-CN" altLang="en-US" dirty="0"/>
              <a:t>时，从城市</a:t>
            </a:r>
            <a:r>
              <a:rPr lang="en-US" altLang="zh-CN" dirty="0"/>
              <a:t>1</a:t>
            </a:r>
            <a:r>
              <a:rPr lang="zh-CN" altLang="en-US" dirty="0"/>
              <a:t>出发，经过</a:t>
            </a:r>
            <a:r>
              <a:rPr lang="en-US" altLang="zh-CN" dirty="0"/>
              <a:t>1</a:t>
            </a:r>
            <a:r>
              <a:rPr lang="zh-CN" altLang="en-US" dirty="0"/>
              <a:t>个城市到达城市</a:t>
            </a:r>
            <a:r>
              <a:rPr lang="en-US" altLang="zh-CN" dirty="0" err="1"/>
              <a:t>i</a:t>
            </a:r>
            <a:r>
              <a:rPr lang="zh-CN" altLang="en-US" dirty="0"/>
              <a:t>的最短距离为</a:t>
            </a:r>
            <a:r>
              <a:rPr lang="en-US" altLang="zh-CN" dirty="0"/>
              <a:t>:</a:t>
            </a:r>
          </a:p>
          <a:p>
            <a:endParaRPr lang="en-US" altLang="zh-CN" dirty="0"/>
          </a:p>
          <a:p>
            <a:endParaRPr lang="en-US" altLang="zh-CN" dirty="0"/>
          </a:p>
          <a:p>
            <a:pPr marL="0" indent="0">
              <a:buNone/>
            </a:pPr>
            <a:r>
              <a:rPr lang="zh-CN" altLang="en-US" dirty="0"/>
              <a:t>即从城市</a:t>
            </a:r>
            <a:r>
              <a:rPr lang="en-US" altLang="zh-CN" dirty="0"/>
              <a:t>1</a:t>
            </a:r>
            <a:r>
              <a:rPr lang="zh-CN" altLang="en-US" dirty="0"/>
              <a:t>出发，途经</a:t>
            </a:r>
            <a:r>
              <a:rPr lang="en-US" altLang="zh-CN" dirty="0"/>
              <a:t>1</a:t>
            </a:r>
            <a:r>
              <a:rPr lang="zh-CN" altLang="en-US" dirty="0"/>
              <a:t>个城市去城</a:t>
            </a:r>
            <a:r>
              <a:rPr lang="en-US" altLang="zh-CN" dirty="0"/>
              <a:t>2</a:t>
            </a:r>
            <a:r>
              <a:rPr lang="zh-CN" altLang="en-US" dirty="0"/>
              <a:t>，应先到</a:t>
            </a:r>
            <a:r>
              <a:rPr lang="en-US" altLang="zh-CN" dirty="0"/>
              <a:t>4</a:t>
            </a:r>
            <a:r>
              <a:rPr lang="zh-CN" altLang="en-US" dirty="0"/>
              <a:t>，再到</a:t>
            </a:r>
            <a:r>
              <a:rPr lang="en-US" altLang="zh-CN" dirty="0"/>
              <a:t>2.</a:t>
            </a: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即从城市</a:t>
            </a:r>
            <a:r>
              <a:rPr lang="en-US" altLang="zh-CN" dirty="0"/>
              <a:t>1</a:t>
            </a:r>
            <a:r>
              <a:rPr lang="zh-CN" altLang="en-US" dirty="0"/>
              <a:t>出发，途经</a:t>
            </a:r>
            <a:r>
              <a:rPr lang="en-US" altLang="zh-CN" dirty="0"/>
              <a:t>1</a:t>
            </a:r>
            <a:r>
              <a:rPr lang="zh-CN" altLang="en-US" dirty="0"/>
              <a:t>个城市去城</a:t>
            </a:r>
            <a:r>
              <a:rPr lang="en-US" altLang="zh-CN" dirty="0"/>
              <a:t>3</a:t>
            </a:r>
            <a:r>
              <a:rPr lang="zh-CN" altLang="en-US" dirty="0"/>
              <a:t>，应先到</a:t>
            </a:r>
            <a:r>
              <a:rPr lang="en-US" altLang="zh-CN" dirty="0"/>
              <a:t>4</a:t>
            </a:r>
            <a:r>
              <a:rPr lang="zh-CN" altLang="en-US" dirty="0"/>
              <a:t>，再到</a:t>
            </a:r>
            <a:r>
              <a:rPr lang="en-US" altLang="zh-CN" dirty="0" err="1"/>
              <a:t>3a</a:t>
            </a:r>
            <a:endParaRPr lang="en-US" altLang="zh-CN" dirty="0"/>
          </a:p>
          <a:p>
            <a:pPr marL="0" indent="0">
              <a:buNone/>
            </a:pPr>
            <a:endParaRPr lang="zh-CN" altLang="en-US" dirty="0"/>
          </a:p>
          <a:p>
            <a:endParaRPr lang="zh-CN" altLang="en-US" dirty="0"/>
          </a:p>
        </p:txBody>
      </p:sp>
      <p:sp>
        <p:nvSpPr>
          <p:cNvPr id="4" name="日期占位符 3">
            <a:extLst>
              <a:ext uri="{FF2B5EF4-FFF2-40B4-BE49-F238E27FC236}">
                <a16:creationId xmlns:a16="http://schemas.microsoft.com/office/drawing/2014/main" id="{10AB319E-1496-45DB-9EA9-A51CA86E2718}"/>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8" name="图片 7">
            <a:extLst>
              <a:ext uri="{FF2B5EF4-FFF2-40B4-BE49-F238E27FC236}">
                <a16:creationId xmlns:a16="http://schemas.microsoft.com/office/drawing/2014/main" id="{38EF397C-B5DD-43A4-B050-E13F11C4CD38}"/>
              </a:ext>
            </a:extLst>
          </p:cNvPr>
          <p:cNvPicPr>
            <a:picLocks noChangeAspect="1"/>
          </p:cNvPicPr>
          <p:nvPr/>
        </p:nvPicPr>
        <p:blipFill>
          <a:blip r:embed="rId3"/>
          <a:stretch>
            <a:fillRect/>
          </a:stretch>
        </p:blipFill>
        <p:spPr>
          <a:xfrm>
            <a:off x="2843808" y="1772816"/>
            <a:ext cx="5172075" cy="876300"/>
          </a:xfrm>
          <a:prstGeom prst="rect">
            <a:avLst/>
          </a:prstGeom>
        </p:spPr>
      </p:pic>
      <p:pic>
        <p:nvPicPr>
          <p:cNvPr id="9" name="图片 8">
            <a:extLst>
              <a:ext uri="{FF2B5EF4-FFF2-40B4-BE49-F238E27FC236}">
                <a16:creationId xmlns:a16="http://schemas.microsoft.com/office/drawing/2014/main" id="{D20DB0B7-4F81-4A79-AC2C-2CA013FEC539}"/>
              </a:ext>
            </a:extLst>
          </p:cNvPr>
          <p:cNvPicPr>
            <a:picLocks noChangeAspect="1"/>
          </p:cNvPicPr>
          <p:nvPr/>
        </p:nvPicPr>
        <p:blipFill>
          <a:blip r:embed="rId4"/>
          <a:stretch>
            <a:fillRect/>
          </a:stretch>
        </p:blipFill>
        <p:spPr>
          <a:xfrm>
            <a:off x="2843808" y="3531394"/>
            <a:ext cx="4589616" cy="1582287"/>
          </a:xfrm>
          <a:prstGeom prst="rect">
            <a:avLst/>
          </a:prstGeom>
        </p:spPr>
      </p:pic>
    </p:spTree>
    <p:extLst>
      <p:ext uri="{BB962C8B-B14F-4D97-AF65-F5344CB8AC3E}">
        <p14:creationId xmlns:p14="http://schemas.microsoft.com/office/powerpoint/2010/main" val="36738624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00329E-B0F1-44DB-B223-6D7687922FA9}"/>
              </a:ext>
            </a:extLst>
          </p:cNvPr>
          <p:cNvSpPr>
            <a:spLocks noGrp="1"/>
          </p:cNvSpPr>
          <p:nvPr>
            <p:ph type="title"/>
          </p:nvPr>
        </p:nvSpPr>
        <p:spPr/>
        <p:txBody>
          <a:bodyPr/>
          <a:lstStyle/>
          <a:p>
            <a:r>
              <a:rPr lang="en-US" altLang="zh-CN" dirty="0">
                <a:latin typeface="+mj-ea"/>
              </a:rPr>
              <a:t>4.3.5 </a:t>
            </a:r>
            <a:r>
              <a:rPr lang="zh-CN" altLang="en-US" dirty="0">
                <a:latin typeface="+mj-ea"/>
              </a:rPr>
              <a:t>货郎担问题</a:t>
            </a:r>
          </a:p>
        </p:txBody>
      </p:sp>
      <p:sp>
        <p:nvSpPr>
          <p:cNvPr id="3" name="内容占位符 2">
            <a:extLst>
              <a:ext uri="{FF2B5EF4-FFF2-40B4-BE49-F238E27FC236}">
                <a16:creationId xmlns:a16="http://schemas.microsoft.com/office/drawing/2014/main" id="{23160CCF-F114-47A1-B069-735BEBF45307}"/>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r>
              <a:rPr lang="zh-CN" altLang="en-US" dirty="0"/>
              <a:t>即从城市</a:t>
            </a:r>
            <a:r>
              <a:rPr lang="en-US" altLang="zh-CN" dirty="0"/>
              <a:t>1</a:t>
            </a:r>
            <a:r>
              <a:rPr lang="zh-CN" altLang="en-US" dirty="0"/>
              <a:t>出发，途经</a:t>
            </a:r>
            <a:r>
              <a:rPr lang="en-US" altLang="zh-CN" dirty="0"/>
              <a:t>1</a:t>
            </a:r>
            <a:r>
              <a:rPr lang="zh-CN" altLang="en-US" dirty="0"/>
              <a:t>个城市去城</a:t>
            </a:r>
            <a:r>
              <a:rPr lang="en-US" altLang="zh-CN" dirty="0"/>
              <a:t>4</a:t>
            </a:r>
            <a:r>
              <a:rPr lang="zh-CN" altLang="en-US" dirty="0"/>
              <a:t>，应先到</a:t>
            </a:r>
            <a:r>
              <a:rPr lang="en-US" altLang="zh-CN" dirty="0"/>
              <a:t>2</a:t>
            </a:r>
            <a:r>
              <a:rPr lang="zh-CN" altLang="en-US" dirty="0"/>
              <a:t>，再到</a:t>
            </a:r>
            <a:r>
              <a:rPr lang="en-US" altLang="zh-CN" dirty="0"/>
              <a:t>4.</a:t>
            </a:r>
          </a:p>
          <a:p>
            <a:endParaRPr lang="en-US" altLang="zh-CN" dirty="0"/>
          </a:p>
          <a:p>
            <a:r>
              <a:rPr lang="zh-CN" altLang="en-US" dirty="0"/>
              <a:t>当</a:t>
            </a:r>
            <a:r>
              <a:rPr lang="en-US" altLang="zh-CN" dirty="0"/>
              <a:t>k=2</a:t>
            </a:r>
            <a:r>
              <a:rPr lang="zh-CN" altLang="en-US" dirty="0"/>
              <a:t>时，从城市</a:t>
            </a:r>
            <a:r>
              <a:rPr lang="en-US" altLang="zh-CN" dirty="0"/>
              <a:t>1</a:t>
            </a:r>
            <a:r>
              <a:rPr lang="zh-CN" altLang="en-US" dirty="0"/>
              <a:t>出发，途经</a:t>
            </a:r>
            <a:r>
              <a:rPr lang="en-US" altLang="zh-CN" dirty="0"/>
              <a:t>2</a:t>
            </a:r>
            <a:r>
              <a:rPr lang="zh-CN" altLang="en-US" dirty="0"/>
              <a:t>个城市到达城市</a:t>
            </a:r>
            <a:r>
              <a:rPr lang="en-US" altLang="zh-CN" dirty="0" err="1"/>
              <a:t>i</a:t>
            </a:r>
            <a:r>
              <a:rPr lang="zh-CN" altLang="en-US" dirty="0"/>
              <a:t>的最短距离为</a:t>
            </a:r>
          </a:p>
          <a:p>
            <a:endParaRPr lang="en-US" altLang="zh-CN" dirty="0"/>
          </a:p>
          <a:p>
            <a:endParaRPr lang="zh-CN" altLang="en-US" dirty="0"/>
          </a:p>
        </p:txBody>
      </p:sp>
      <p:sp>
        <p:nvSpPr>
          <p:cNvPr id="4" name="日期占位符 3">
            <a:extLst>
              <a:ext uri="{FF2B5EF4-FFF2-40B4-BE49-F238E27FC236}">
                <a16:creationId xmlns:a16="http://schemas.microsoft.com/office/drawing/2014/main" id="{6E9E87AB-3B5C-4DC0-9F61-E1E4A0CFAAA7}"/>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D49FAAB8-484D-46A5-AD9F-0ABCF90BBD61}"/>
              </a:ext>
            </a:extLst>
          </p:cNvPr>
          <p:cNvPicPr>
            <a:picLocks noChangeAspect="1"/>
          </p:cNvPicPr>
          <p:nvPr/>
        </p:nvPicPr>
        <p:blipFill>
          <a:blip r:embed="rId2"/>
          <a:stretch>
            <a:fillRect/>
          </a:stretch>
        </p:blipFill>
        <p:spPr>
          <a:xfrm>
            <a:off x="2339752" y="1412776"/>
            <a:ext cx="4474783" cy="1728192"/>
          </a:xfrm>
          <a:prstGeom prst="rect">
            <a:avLst/>
          </a:prstGeom>
        </p:spPr>
      </p:pic>
      <p:pic>
        <p:nvPicPr>
          <p:cNvPr id="6" name="图片 5">
            <a:extLst>
              <a:ext uri="{FF2B5EF4-FFF2-40B4-BE49-F238E27FC236}">
                <a16:creationId xmlns:a16="http://schemas.microsoft.com/office/drawing/2014/main" id="{0BC0F608-F5A3-4A94-861B-F5565CE5082C}"/>
              </a:ext>
            </a:extLst>
          </p:cNvPr>
          <p:cNvPicPr>
            <a:picLocks noChangeAspect="1"/>
          </p:cNvPicPr>
          <p:nvPr/>
        </p:nvPicPr>
        <p:blipFill>
          <a:blip r:embed="rId3"/>
          <a:stretch>
            <a:fillRect/>
          </a:stretch>
        </p:blipFill>
        <p:spPr>
          <a:xfrm>
            <a:off x="3024514" y="5038426"/>
            <a:ext cx="3381375" cy="361950"/>
          </a:xfrm>
          <a:prstGeom prst="rect">
            <a:avLst/>
          </a:prstGeom>
        </p:spPr>
      </p:pic>
      <p:pic>
        <p:nvPicPr>
          <p:cNvPr id="7" name="图片 6">
            <a:extLst>
              <a:ext uri="{FF2B5EF4-FFF2-40B4-BE49-F238E27FC236}">
                <a16:creationId xmlns:a16="http://schemas.microsoft.com/office/drawing/2014/main" id="{88A71A86-B9F0-4E75-9F4B-B1A63EF3FE10}"/>
              </a:ext>
            </a:extLst>
          </p:cNvPr>
          <p:cNvPicPr>
            <a:picLocks noChangeAspect="1"/>
          </p:cNvPicPr>
          <p:nvPr/>
        </p:nvPicPr>
        <p:blipFill>
          <a:blip r:embed="rId4"/>
          <a:stretch>
            <a:fillRect/>
          </a:stretch>
        </p:blipFill>
        <p:spPr>
          <a:xfrm>
            <a:off x="2252990" y="5489276"/>
            <a:ext cx="4924425" cy="1133475"/>
          </a:xfrm>
          <a:prstGeom prst="rect">
            <a:avLst/>
          </a:prstGeom>
        </p:spPr>
      </p:pic>
    </p:spTree>
    <p:extLst>
      <p:ext uri="{BB962C8B-B14F-4D97-AF65-F5344CB8AC3E}">
        <p14:creationId xmlns:p14="http://schemas.microsoft.com/office/powerpoint/2010/main" val="23807611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9DFF7-2647-4E4A-9F83-B5BB224DCBE5}"/>
              </a:ext>
            </a:extLst>
          </p:cNvPr>
          <p:cNvSpPr>
            <a:spLocks noGrp="1"/>
          </p:cNvSpPr>
          <p:nvPr>
            <p:ph type="title"/>
          </p:nvPr>
        </p:nvSpPr>
        <p:spPr/>
        <p:txBody>
          <a:bodyPr/>
          <a:lstStyle/>
          <a:p>
            <a:r>
              <a:rPr lang="en-US" altLang="zh-CN" dirty="0">
                <a:latin typeface="+mj-ea"/>
              </a:rPr>
              <a:t>4.3.5 </a:t>
            </a:r>
            <a:r>
              <a:rPr lang="zh-CN" altLang="en-US" dirty="0">
                <a:latin typeface="+mj-ea"/>
              </a:rPr>
              <a:t>货郎担问题</a:t>
            </a:r>
          </a:p>
        </p:txBody>
      </p:sp>
      <p:pic>
        <p:nvPicPr>
          <p:cNvPr id="10" name="内容占位符 9">
            <a:extLst>
              <a:ext uri="{FF2B5EF4-FFF2-40B4-BE49-F238E27FC236}">
                <a16:creationId xmlns:a16="http://schemas.microsoft.com/office/drawing/2014/main" id="{5E7E4209-F253-4328-9283-0B61A513C88F}"/>
              </a:ext>
            </a:extLst>
          </p:cNvPr>
          <p:cNvPicPr>
            <a:picLocks noGrp="1" noChangeAspect="1"/>
          </p:cNvPicPr>
          <p:nvPr>
            <p:ph idx="1"/>
          </p:nvPr>
        </p:nvPicPr>
        <p:blipFill>
          <a:blip r:embed="rId2"/>
          <a:stretch>
            <a:fillRect/>
          </a:stretch>
        </p:blipFill>
        <p:spPr>
          <a:xfrm>
            <a:off x="2627784" y="3535362"/>
            <a:ext cx="3467100" cy="371475"/>
          </a:xfrm>
          <a:prstGeom prst="rect">
            <a:avLst/>
          </a:prstGeom>
        </p:spPr>
      </p:pic>
      <p:sp>
        <p:nvSpPr>
          <p:cNvPr id="4" name="日期占位符 3">
            <a:extLst>
              <a:ext uri="{FF2B5EF4-FFF2-40B4-BE49-F238E27FC236}">
                <a16:creationId xmlns:a16="http://schemas.microsoft.com/office/drawing/2014/main" id="{2D657BF3-DBC6-4A39-83FB-6BBC93AA5BB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877B6302-7EC2-41C7-8BB6-D00B4EEF2F82}"/>
              </a:ext>
            </a:extLst>
          </p:cNvPr>
          <p:cNvPicPr>
            <a:picLocks noChangeAspect="1"/>
          </p:cNvPicPr>
          <p:nvPr/>
        </p:nvPicPr>
        <p:blipFill>
          <a:blip r:embed="rId3"/>
          <a:stretch>
            <a:fillRect/>
          </a:stretch>
        </p:blipFill>
        <p:spPr>
          <a:xfrm>
            <a:off x="2339752" y="1268413"/>
            <a:ext cx="3667125" cy="352425"/>
          </a:xfrm>
          <a:prstGeom prst="rect">
            <a:avLst/>
          </a:prstGeom>
        </p:spPr>
      </p:pic>
      <p:pic>
        <p:nvPicPr>
          <p:cNvPr id="8" name="图片 7">
            <a:extLst>
              <a:ext uri="{FF2B5EF4-FFF2-40B4-BE49-F238E27FC236}">
                <a16:creationId xmlns:a16="http://schemas.microsoft.com/office/drawing/2014/main" id="{EDF1665F-40C6-4584-A200-CCA3968ECC8B}"/>
              </a:ext>
            </a:extLst>
          </p:cNvPr>
          <p:cNvPicPr>
            <a:picLocks noChangeAspect="1"/>
          </p:cNvPicPr>
          <p:nvPr/>
        </p:nvPicPr>
        <p:blipFill>
          <a:blip r:embed="rId4"/>
          <a:stretch>
            <a:fillRect/>
          </a:stretch>
        </p:blipFill>
        <p:spPr>
          <a:xfrm>
            <a:off x="1835696" y="3970053"/>
            <a:ext cx="5305425" cy="1304925"/>
          </a:xfrm>
          <a:prstGeom prst="rect">
            <a:avLst/>
          </a:prstGeom>
        </p:spPr>
      </p:pic>
      <p:pic>
        <p:nvPicPr>
          <p:cNvPr id="9" name="图片 8">
            <a:extLst>
              <a:ext uri="{FF2B5EF4-FFF2-40B4-BE49-F238E27FC236}">
                <a16:creationId xmlns:a16="http://schemas.microsoft.com/office/drawing/2014/main" id="{13D85B19-BB64-4F3F-A97B-D5AFF78656B9}"/>
              </a:ext>
            </a:extLst>
          </p:cNvPr>
          <p:cNvPicPr>
            <a:picLocks noChangeAspect="1"/>
          </p:cNvPicPr>
          <p:nvPr/>
        </p:nvPicPr>
        <p:blipFill>
          <a:blip r:embed="rId5"/>
          <a:stretch>
            <a:fillRect/>
          </a:stretch>
        </p:blipFill>
        <p:spPr>
          <a:xfrm>
            <a:off x="1723473" y="1692276"/>
            <a:ext cx="5410200" cy="1371600"/>
          </a:xfrm>
          <a:prstGeom prst="rect">
            <a:avLst/>
          </a:prstGeom>
        </p:spPr>
      </p:pic>
    </p:spTree>
    <p:extLst>
      <p:ext uri="{BB962C8B-B14F-4D97-AF65-F5344CB8AC3E}">
        <p14:creationId xmlns:p14="http://schemas.microsoft.com/office/powerpoint/2010/main" val="25903201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B13435-C6C8-4F43-BCBF-B7169A6E5352}"/>
              </a:ext>
            </a:extLst>
          </p:cNvPr>
          <p:cNvSpPr>
            <a:spLocks noGrp="1"/>
          </p:cNvSpPr>
          <p:nvPr>
            <p:ph type="title"/>
          </p:nvPr>
        </p:nvSpPr>
        <p:spPr/>
        <p:txBody>
          <a:bodyPr/>
          <a:lstStyle/>
          <a:p>
            <a:r>
              <a:rPr lang="en-US" altLang="zh-CN" dirty="0">
                <a:latin typeface="+mj-ea"/>
              </a:rPr>
              <a:t>4.3.5 </a:t>
            </a:r>
            <a:r>
              <a:rPr lang="zh-CN" altLang="en-US" dirty="0">
                <a:latin typeface="+mj-ea"/>
              </a:rPr>
              <a:t>货郎担问题</a:t>
            </a:r>
          </a:p>
        </p:txBody>
      </p:sp>
      <p:sp>
        <p:nvSpPr>
          <p:cNvPr id="3" name="内容占位符 2">
            <a:extLst>
              <a:ext uri="{FF2B5EF4-FFF2-40B4-BE49-F238E27FC236}">
                <a16:creationId xmlns:a16="http://schemas.microsoft.com/office/drawing/2014/main" id="{4B9BB1E4-250F-46E0-A7DA-F2A04BA5F6A9}"/>
              </a:ext>
            </a:extLst>
          </p:cNvPr>
          <p:cNvSpPr>
            <a:spLocks noGrp="1"/>
          </p:cNvSpPr>
          <p:nvPr>
            <p:ph idx="1"/>
          </p:nvPr>
        </p:nvSpPr>
        <p:spPr/>
        <p:txBody>
          <a:bodyPr/>
          <a:lstStyle/>
          <a:p>
            <a:r>
              <a:rPr lang="zh-CN" altLang="en-US" dirty="0"/>
              <a:t>当</a:t>
            </a:r>
            <a:r>
              <a:rPr lang="en-US" altLang="zh-CN" dirty="0"/>
              <a:t>k=3</a:t>
            </a:r>
            <a:r>
              <a:rPr lang="zh-CN" altLang="en-US" dirty="0"/>
              <a:t>时，从城市</a:t>
            </a:r>
            <a:r>
              <a:rPr lang="en-US" altLang="zh-CN" dirty="0"/>
              <a:t>1</a:t>
            </a:r>
            <a:r>
              <a:rPr lang="zh-CN" altLang="en-US" dirty="0"/>
              <a:t>出发，途经</a:t>
            </a:r>
            <a:r>
              <a:rPr lang="en-US" altLang="zh-CN" dirty="0"/>
              <a:t>3</a:t>
            </a:r>
            <a:r>
              <a:rPr lang="zh-CN" altLang="en-US" dirty="0"/>
              <a:t>个城市到达城市</a:t>
            </a:r>
            <a:r>
              <a:rPr lang="en-US" altLang="zh-CN" dirty="0"/>
              <a:t>1</a:t>
            </a:r>
            <a:r>
              <a:rPr lang="zh-CN" altLang="en-US" dirty="0"/>
              <a:t>的最短距离</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货郎担的最短路线是</a:t>
            </a:r>
            <a:r>
              <a:rPr lang="en-US" altLang="zh-CN" dirty="0"/>
              <a:t>1 -&gt;2-&gt;4-&gt;3-&gt;1</a:t>
            </a:r>
            <a:r>
              <a:rPr lang="zh-CN" altLang="en-US" dirty="0"/>
              <a:t>。行走距离为</a:t>
            </a:r>
            <a:r>
              <a:rPr lang="en-US" altLang="zh-CN" dirty="0"/>
              <a:t>23</a:t>
            </a:r>
          </a:p>
          <a:p>
            <a:endParaRPr lang="zh-CN" altLang="en-US" dirty="0"/>
          </a:p>
          <a:p>
            <a:endParaRPr lang="zh-CN" altLang="en-US" dirty="0"/>
          </a:p>
        </p:txBody>
      </p:sp>
      <p:sp>
        <p:nvSpPr>
          <p:cNvPr id="4" name="日期占位符 3">
            <a:extLst>
              <a:ext uri="{FF2B5EF4-FFF2-40B4-BE49-F238E27FC236}">
                <a16:creationId xmlns:a16="http://schemas.microsoft.com/office/drawing/2014/main" id="{53A8428A-B7A1-4F26-855C-B807D002A80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5127097D-7632-4DAE-AF5F-85CDAAA569C6}"/>
              </a:ext>
            </a:extLst>
          </p:cNvPr>
          <p:cNvPicPr>
            <a:picLocks noChangeAspect="1"/>
          </p:cNvPicPr>
          <p:nvPr/>
        </p:nvPicPr>
        <p:blipFill>
          <a:blip r:embed="rId2"/>
          <a:stretch>
            <a:fillRect/>
          </a:stretch>
        </p:blipFill>
        <p:spPr>
          <a:xfrm>
            <a:off x="1691680" y="2276241"/>
            <a:ext cx="5429250" cy="342900"/>
          </a:xfrm>
          <a:prstGeom prst="rect">
            <a:avLst/>
          </a:prstGeom>
        </p:spPr>
      </p:pic>
      <p:pic>
        <p:nvPicPr>
          <p:cNvPr id="6" name="图片 5">
            <a:extLst>
              <a:ext uri="{FF2B5EF4-FFF2-40B4-BE49-F238E27FC236}">
                <a16:creationId xmlns:a16="http://schemas.microsoft.com/office/drawing/2014/main" id="{FD77C000-D76B-4D47-BA0D-756D797AC7C4}"/>
              </a:ext>
            </a:extLst>
          </p:cNvPr>
          <p:cNvPicPr>
            <a:picLocks noChangeAspect="1"/>
          </p:cNvPicPr>
          <p:nvPr/>
        </p:nvPicPr>
        <p:blipFill>
          <a:blip r:embed="rId3"/>
          <a:stretch>
            <a:fillRect/>
          </a:stretch>
        </p:blipFill>
        <p:spPr>
          <a:xfrm>
            <a:off x="1259632" y="3069991"/>
            <a:ext cx="6762750" cy="1333500"/>
          </a:xfrm>
          <a:prstGeom prst="rect">
            <a:avLst/>
          </a:prstGeom>
        </p:spPr>
      </p:pic>
    </p:spTree>
    <p:extLst>
      <p:ext uri="{BB962C8B-B14F-4D97-AF65-F5344CB8AC3E}">
        <p14:creationId xmlns:p14="http://schemas.microsoft.com/office/powerpoint/2010/main" val="31928854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4.3.6 </a:t>
            </a:r>
            <a:r>
              <a:rPr lang="zh-CN" altLang="en-US" sz="3200" dirty="0">
                <a:latin typeface="+mj-ea"/>
              </a:rPr>
              <a:t>可靠性设计问题</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pPr lvl="0">
              <a:defRPr/>
            </a:pPr>
            <a:r>
              <a:rPr lang="zh-CN" altLang="en-US" sz="2400" dirty="0"/>
              <a:t>可靠性设计：一个系统由</a:t>
            </a:r>
            <a:r>
              <a:rPr lang="en-US" altLang="zh-CN" sz="2400" b="1" dirty="0"/>
              <a:t>n</a:t>
            </a:r>
            <a:r>
              <a:rPr lang="zh-CN" altLang="en-US" sz="2400" dirty="0"/>
              <a:t>级设备串联而成，为了增强可靠性，每级都可能并联了不止一台同样的设备。所以每级用的设备越多系统的可靠性越高。</a:t>
            </a:r>
            <a:endParaRPr lang="en-US" altLang="zh-CN" sz="2400" dirty="0"/>
          </a:p>
          <a:p>
            <a:pPr lvl="0">
              <a:defRPr/>
            </a:pPr>
            <a:r>
              <a:rPr lang="zh-CN" altLang="en-US" sz="2400" dirty="0"/>
              <a:t>但是设备都是有成本的，假定设备</a:t>
            </a:r>
            <a:r>
              <a:rPr lang="en-US" altLang="zh-CN" sz="2400" b="1" dirty="0"/>
              <a:t>Di</a:t>
            </a:r>
            <a:r>
              <a:rPr lang="zh-CN" altLang="en-US" sz="2400" dirty="0"/>
              <a:t>的成本是</a:t>
            </a:r>
            <a:r>
              <a:rPr lang="en-US" altLang="zh-CN" sz="2400" b="1" dirty="0"/>
              <a:t>ci</a:t>
            </a:r>
            <a:r>
              <a:rPr lang="zh-CN" altLang="en-US" sz="2400" dirty="0"/>
              <a:t>，设计该系统允许的投资不超过</a:t>
            </a:r>
            <a:r>
              <a:rPr lang="en-US" altLang="zh-CN" sz="2400" b="1" dirty="0"/>
              <a:t>c</a:t>
            </a:r>
            <a:r>
              <a:rPr lang="zh-CN" altLang="en-US" sz="2400" dirty="0"/>
              <a:t>，那么，该如何设计该系统（即各级采用多少设备）使得这个系统的可靠性最高。试设计一个动态规划算法求解可靠性设计。</a:t>
            </a: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pic>
        <p:nvPicPr>
          <p:cNvPr id="2" name="Picture 4" descr="https://img-blog.csdn.net/20130514100638038">
            <a:extLst>
              <a:ext uri="{FF2B5EF4-FFF2-40B4-BE49-F238E27FC236}">
                <a16:creationId xmlns:a16="http://schemas.microsoft.com/office/drawing/2014/main" id="{D6EC3583-F4C1-34EB-680D-7E30A59F51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4005064"/>
            <a:ext cx="6038850" cy="2771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35493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pPr lvl="0">
              <a:defRPr/>
            </a:pPr>
            <a:r>
              <a:rPr lang="zh-CN" altLang="en-US" dirty="0"/>
              <a:t>如果第</a:t>
            </a:r>
            <a:r>
              <a:rPr lang="en-US" altLang="zh-CN" dirty="0" err="1"/>
              <a:t>i</a:t>
            </a:r>
            <a:r>
              <a:rPr lang="zh-CN" altLang="en-US" dirty="0"/>
              <a:t>级的设备</a:t>
            </a:r>
            <a:r>
              <a:rPr lang="en-US" altLang="zh-CN" dirty="0"/>
              <a:t>Di</a:t>
            </a:r>
            <a:r>
              <a:rPr lang="zh-CN" altLang="en-US" dirty="0"/>
              <a:t>的台数为</a:t>
            </a:r>
            <a:r>
              <a:rPr lang="en-US" altLang="zh-CN" dirty="0"/>
              <a:t>mi,</a:t>
            </a:r>
            <a:r>
              <a:rPr lang="zh-CN" altLang="en-US" dirty="0"/>
              <a:t>那么这</a:t>
            </a:r>
            <a:r>
              <a:rPr lang="en-US" altLang="zh-CN" dirty="0"/>
              <a:t>mi</a:t>
            </a:r>
            <a:r>
              <a:rPr lang="zh-CN" altLang="en-US" dirty="0"/>
              <a:t>台设备同时出现故障的概率为</a:t>
            </a:r>
            <a:r>
              <a:rPr lang="en-US" altLang="zh-CN" dirty="0"/>
              <a:t>(1-</a:t>
            </a:r>
            <a:r>
              <a:rPr lang="en-US" altLang="zh-CN" dirty="0" err="1"/>
              <a:t>ri</a:t>
            </a:r>
            <a:r>
              <a:rPr lang="en-US" altLang="zh-CN" dirty="0"/>
              <a:t>)</a:t>
            </a:r>
            <a:r>
              <a:rPr lang="en-US" altLang="zh-CN" baseline="30000" dirty="0"/>
              <a:t>mi </a:t>
            </a:r>
            <a:r>
              <a:rPr lang="zh-CN" altLang="en-US" baseline="30000" dirty="0"/>
              <a:t>，</a:t>
            </a:r>
            <a:r>
              <a:rPr lang="zh-CN" altLang="en-US" dirty="0"/>
              <a:t>从而第</a:t>
            </a:r>
            <a:r>
              <a:rPr lang="en-US" altLang="zh-CN" dirty="0" err="1"/>
              <a:t>i</a:t>
            </a:r>
            <a:r>
              <a:rPr lang="zh-CN" altLang="en-US" dirty="0"/>
              <a:t>级的可靠性就变成</a:t>
            </a:r>
            <a:r>
              <a:rPr lang="en-US" altLang="zh-CN" dirty="0"/>
              <a:t>1-(1-</a:t>
            </a:r>
            <a:r>
              <a:rPr lang="en-US" altLang="zh-CN" dirty="0" err="1"/>
              <a:t>ri</a:t>
            </a:r>
            <a:r>
              <a:rPr lang="en-US" altLang="zh-CN" dirty="0"/>
              <a:t>)</a:t>
            </a:r>
            <a:r>
              <a:rPr lang="en-US" altLang="zh-CN" baseline="30000" dirty="0"/>
              <a:t>mi</a:t>
            </a:r>
            <a:r>
              <a:rPr lang="zh-CN" altLang="en-US" dirty="0"/>
              <a:t> 。例如</a:t>
            </a:r>
            <a:r>
              <a:rPr lang="en-US" altLang="zh-CN" dirty="0"/>
              <a:t>,</a:t>
            </a:r>
            <a:r>
              <a:rPr lang="zh-CN" altLang="en-US" dirty="0"/>
              <a:t>假定</a:t>
            </a:r>
            <a:r>
              <a:rPr lang="en-US" altLang="zh-CN" dirty="0" err="1"/>
              <a:t>ri</a:t>
            </a:r>
            <a:r>
              <a:rPr lang="en-US" altLang="zh-CN" dirty="0"/>
              <a:t>=0.99 ,mi=2,</a:t>
            </a:r>
            <a:r>
              <a:rPr lang="zh-CN" altLang="en-US" dirty="0"/>
              <a:t>于是这一级的可靠性就是</a:t>
            </a:r>
            <a:r>
              <a:rPr lang="en-US" altLang="zh-CN" dirty="0"/>
              <a:t>0.9999</a:t>
            </a:r>
            <a:r>
              <a:rPr lang="zh-CN" altLang="en-US" dirty="0"/>
              <a:t>。</a:t>
            </a:r>
            <a:endParaRPr lang="en-US" altLang="zh-CN" dirty="0"/>
          </a:p>
          <a:p>
            <a:pPr lvl="0">
              <a:defRPr/>
            </a:pPr>
            <a:r>
              <a:rPr lang="zh-CN" altLang="en-US" dirty="0"/>
              <a:t>不过在任何实际系统中</a:t>
            </a:r>
            <a:r>
              <a:rPr lang="en-US" altLang="zh-CN" dirty="0"/>
              <a:t>, </a:t>
            </a:r>
            <a:r>
              <a:rPr lang="zh-CN" altLang="en-US" dirty="0"/>
              <a:t>每一级的可靠性要比</a:t>
            </a:r>
            <a:r>
              <a:rPr lang="en-US" altLang="zh-CN" dirty="0"/>
              <a:t>1-(1-</a:t>
            </a:r>
            <a:r>
              <a:rPr lang="en-US" altLang="zh-CN" dirty="0" err="1"/>
              <a:t>ri</a:t>
            </a:r>
            <a:r>
              <a:rPr lang="en-US" altLang="zh-CN" dirty="0"/>
              <a:t>)</a:t>
            </a:r>
            <a:r>
              <a:rPr lang="en-US" altLang="zh-CN" baseline="30000" dirty="0"/>
              <a:t>mi</a:t>
            </a:r>
            <a:r>
              <a:rPr lang="zh-CN" altLang="en-US" dirty="0"/>
              <a:t> 小一些</a:t>
            </a:r>
            <a:r>
              <a:rPr lang="en-US" altLang="zh-CN" dirty="0"/>
              <a:t>, </a:t>
            </a:r>
            <a:r>
              <a:rPr lang="zh-CN" altLang="en-US" dirty="0"/>
              <a:t>这是由于这些开关线路本身并不是完全可靠的</a:t>
            </a:r>
            <a:r>
              <a:rPr lang="en-US" altLang="zh-CN" dirty="0"/>
              <a:t>, </a:t>
            </a:r>
            <a:r>
              <a:rPr lang="zh-CN" altLang="en-US" dirty="0"/>
              <a:t>而且同一类设备的失误率也不可能是完全独立的</a:t>
            </a:r>
            <a:r>
              <a:rPr lang="en-US" altLang="zh-CN" dirty="0"/>
              <a:t>(</a:t>
            </a:r>
            <a:r>
              <a:rPr lang="zh-CN" altLang="en-US" dirty="0"/>
              <a:t>例如</a:t>
            </a:r>
            <a:r>
              <a:rPr lang="en-US" altLang="zh-CN" dirty="0"/>
              <a:t>, </a:t>
            </a:r>
            <a:r>
              <a:rPr lang="zh-CN" altLang="en-US" dirty="0"/>
              <a:t>由于设计不当所造成的失误</a:t>
            </a:r>
            <a:r>
              <a:rPr lang="en-US" altLang="zh-CN" dirty="0"/>
              <a:t>) </a:t>
            </a:r>
            <a:r>
              <a:rPr lang="zh-CN" altLang="en-US" dirty="0"/>
              <a:t>。</a:t>
            </a:r>
            <a:endParaRPr lang="en-US" altLang="zh-CN" dirty="0"/>
          </a:p>
          <a:p>
            <a:pPr lvl="0">
              <a:defRPr/>
            </a:pPr>
            <a:r>
              <a:rPr lang="zh-CN" altLang="en-US" dirty="0"/>
              <a:t>基于以上分析</a:t>
            </a:r>
            <a:r>
              <a:rPr lang="en-US" altLang="zh-CN" dirty="0"/>
              <a:t>, </a:t>
            </a:r>
            <a:r>
              <a:rPr lang="zh-CN" altLang="en-US" dirty="0"/>
              <a:t>不妨假设第</a:t>
            </a:r>
            <a:r>
              <a:rPr lang="en-US" altLang="zh-CN" dirty="0" err="1"/>
              <a:t>i</a:t>
            </a:r>
            <a:r>
              <a:rPr lang="en-US" altLang="zh-CN" dirty="0"/>
              <a:t> </a:t>
            </a:r>
            <a:r>
              <a:rPr lang="zh-CN" altLang="en-US" dirty="0"/>
              <a:t>级的可靠性由函数</a:t>
            </a:r>
            <a:r>
              <a:rPr lang="en-US" altLang="zh-CN" dirty="0"/>
              <a:t>φ(mi)</a:t>
            </a:r>
            <a:r>
              <a:rPr lang="zh-CN" altLang="en-US" dirty="0"/>
              <a:t>给定</a:t>
            </a:r>
            <a:r>
              <a:rPr lang="en-US" altLang="zh-CN" dirty="0"/>
              <a:t>, </a:t>
            </a:r>
            <a:r>
              <a:rPr lang="en-US" altLang="zh-CN" dirty="0" err="1"/>
              <a:t>1≤i≤n</a:t>
            </a:r>
            <a:r>
              <a:rPr lang="en-US" altLang="zh-CN" dirty="0"/>
              <a:t> </a:t>
            </a:r>
            <a:r>
              <a:rPr lang="zh-CN" altLang="en-US" dirty="0"/>
              <a:t>。由于系统中每种设备至少有一台，用</a:t>
            </a:r>
            <a:r>
              <a:rPr lang="en-US" altLang="zh-CN" dirty="0" err="1"/>
              <a:t>ui</a:t>
            </a:r>
            <a:r>
              <a:rPr lang="zh-CN" altLang="en-US" dirty="0"/>
              <a:t>表示最多的台数。</a:t>
            </a: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93</a:t>
            </a:fld>
            <a:endParaRPr lang="en-US" altLang="zh-CN" sz="1400" b="0" dirty="0"/>
          </a:p>
        </p:txBody>
      </p:sp>
      <p:sp>
        <p:nvSpPr>
          <p:cNvPr id="5" name="Rectangle 2">
            <a:extLst>
              <a:ext uri="{FF2B5EF4-FFF2-40B4-BE49-F238E27FC236}">
                <a16:creationId xmlns:a16="http://schemas.microsoft.com/office/drawing/2014/main" id="{C103A913-E317-4158-1D28-EDB6706BF135}"/>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4.3.6 </a:t>
            </a:r>
            <a:r>
              <a:rPr lang="zh-CN" altLang="en-US" sz="3200" dirty="0">
                <a:latin typeface="+mj-ea"/>
              </a:rPr>
              <a:t>可靠性设计问题</a:t>
            </a:r>
            <a:endParaRPr lang="en-US" altLang="zh-CN" b="0" dirty="0">
              <a:latin typeface="+mj-ea"/>
            </a:endParaRPr>
          </a:p>
        </p:txBody>
      </p:sp>
    </p:spTree>
    <p:extLst>
      <p:ext uri="{BB962C8B-B14F-4D97-AF65-F5344CB8AC3E}">
        <p14:creationId xmlns:p14="http://schemas.microsoft.com/office/powerpoint/2010/main" val="1413244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pPr lvl="0">
              <a:defRPr/>
            </a:pPr>
            <a:r>
              <a:rPr lang="zh-CN" altLang="en-US" dirty="0"/>
              <a:t>例子：设计一个由设备</a:t>
            </a:r>
            <a:r>
              <a:rPr lang="en-US" altLang="zh-CN" dirty="0" err="1"/>
              <a:t>D1,D2</a:t>
            </a:r>
            <a:r>
              <a:rPr lang="en-US" altLang="zh-CN" dirty="0"/>
              <a:t> ,</a:t>
            </a:r>
            <a:r>
              <a:rPr lang="en-US" altLang="zh-CN" dirty="0" err="1"/>
              <a:t>D3</a:t>
            </a:r>
            <a:r>
              <a:rPr lang="en-US" altLang="zh-CN" dirty="0"/>
              <a:t> </a:t>
            </a:r>
            <a:r>
              <a:rPr lang="zh-CN" altLang="en-US" dirty="0"/>
              <a:t>组成的三级系统。每台设备的成本分别为</a:t>
            </a:r>
            <a:r>
              <a:rPr lang="en-US" altLang="zh-CN" dirty="0"/>
              <a:t>30</a:t>
            </a:r>
            <a:r>
              <a:rPr lang="zh-CN" altLang="en-US" dirty="0"/>
              <a:t>元</a:t>
            </a:r>
            <a:r>
              <a:rPr lang="en-US" altLang="zh-CN" dirty="0"/>
              <a:t>,15</a:t>
            </a:r>
            <a:r>
              <a:rPr lang="zh-CN" altLang="en-US" dirty="0"/>
              <a:t>元和</a:t>
            </a:r>
            <a:r>
              <a:rPr lang="en-US" altLang="zh-CN" dirty="0"/>
              <a:t>20</a:t>
            </a:r>
            <a:r>
              <a:rPr lang="zh-CN" altLang="en-US" dirty="0"/>
              <a:t>元</a:t>
            </a:r>
            <a:r>
              <a:rPr lang="en-US" altLang="zh-CN" dirty="0"/>
              <a:t>, </a:t>
            </a:r>
            <a:r>
              <a:rPr lang="zh-CN" altLang="en-US" dirty="0"/>
              <a:t>可靠性分别是</a:t>
            </a:r>
            <a:r>
              <a:rPr lang="en-US" altLang="zh-CN" dirty="0"/>
              <a:t>0.9 , 0.8 </a:t>
            </a:r>
            <a:r>
              <a:rPr lang="zh-CN" altLang="en-US" dirty="0"/>
              <a:t>和</a:t>
            </a:r>
            <a:r>
              <a:rPr lang="en-US" altLang="zh-CN" dirty="0"/>
              <a:t>0.5 , </a:t>
            </a:r>
            <a:r>
              <a:rPr lang="zh-CN" altLang="en-US" dirty="0"/>
              <a:t>计划建立该系统的投资不得超过</a:t>
            </a:r>
            <a:r>
              <a:rPr lang="en-US" altLang="zh-CN" dirty="0"/>
              <a:t>105</a:t>
            </a:r>
            <a:r>
              <a:rPr lang="zh-CN" altLang="en-US" dirty="0"/>
              <a:t>元。假定</a:t>
            </a:r>
            <a:r>
              <a:rPr lang="en-US" altLang="zh-CN" dirty="0"/>
              <a:t>, </a:t>
            </a:r>
            <a:r>
              <a:rPr lang="zh-CN" altLang="en-US" dirty="0"/>
              <a:t>若</a:t>
            </a:r>
            <a:r>
              <a:rPr lang="en-US" altLang="zh-CN" dirty="0" err="1"/>
              <a:t>i</a:t>
            </a:r>
            <a:r>
              <a:rPr lang="zh-CN" altLang="en-US" dirty="0"/>
              <a:t>级有</a:t>
            </a:r>
            <a:r>
              <a:rPr lang="en-US" altLang="zh-CN" dirty="0"/>
              <a:t>mi</a:t>
            </a:r>
            <a:r>
              <a:rPr lang="zh-CN" altLang="en-US" dirty="0"/>
              <a:t>台设备</a:t>
            </a:r>
            <a:r>
              <a:rPr lang="en-US" altLang="zh-CN" dirty="0"/>
              <a:t>Di</a:t>
            </a:r>
            <a:r>
              <a:rPr lang="zh-CN" altLang="en-US" dirty="0"/>
              <a:t>并联</a:t>
            </a:r>
            <a:r>
              <a:rPr lang="en-US" altLang="zh-CN" dirty="0"/>
              <a:t>, </a:t>
            </a:r>
            <a:r>
              <a:rPr lang="zh-CN" altLang="en-US" dirty="0"/>
              <a:t>则该级的可靠性</a:t>
            </a:r>
            <a:r>
              <a:rPr lang="en-US" altLang="zh-CN" dirty="0"/>
              <a:t>φ(mi) = 1-(1-</a:t>
            </a:r>
            <a:r>
              <a:rPr lang="en-US" altLang="zh-CN" dirty="0" err="1"/>
              <a:t>ri</a:t>
            </a:r>
            <a:r>
              <a:rPr lang="en-US" altLang="zh-CN" dirty="0"/>
              <a:t>)</a:t>
            </a:r>
            <a:r>
              <a:rPr lang="en-US" altLang="zh-CN" baseline="30000" dirty="0"/>
              <a:t>mi</a:t>
            </a:r>
            <a:r>
              <a:rPr lang="zh-CN" altLang="en-US" dirty="0"/>
              <a:t> 。上述条件可以表示为</a:t>
            </a:r>
            <a:r>
              <a:rPr lang="en-US" altLang="zh-CN" dirty="0"/>
              <a:t>: c=105; </a:t>
            </a:r>
            <a:r>
              <a:rPr lang="en-US" altLang="zh-CN" dirty="0" err="1"/>
              <a:t>c1</a:t>
            </a:r>
            <a:r>
              <a:rPr lang="en-US" altLang="zh-CN" dirty="0"/>
              <a:t>=30 , </a:t>
            </a:r>
            <a:r>
              <a:rPr lang="en-US" altLang="zh-CN" dirty="0" err="1"/>
              <a:t>c2</a:t>
            </a:r>
            <a:r>
              <a:rPr lang="en-US" altLang="zh-CN" dirty="0"/>
              <a:t>=15 , </a:t>
            </a:r>
            <a:r>
              <a:rPr lang="en-US" altLang="zh-CN" dirty="0" err="1"/>
              <a:t>c3</a:t>
            </a:r>
            <a:r>
              <a:rPr lang="en-US" altLang="zh-CN" dirty="0"/>
              <a:t>=20 ; </a:t>
            </a:r>
            <a:r>
              <a:rPr lang="en-US" altLang="zh-CN" dirty="0" err="1"/>
              <a:t>r1</a:t>
            </a:r>
            <a:r>
              <a:rPr lang="en-US" altLang="zh-CN" dirty="0"/>
              <a:t>=0.9 , </a:t>
            </a:r>
            <a:r>
              <a:rPr lang="en-US" altLang="zh-CN" dirty="0" err="1"/>
              <a:t>r2</a:t>
            </a:r>
            <a:r>
              <a:rPr lang="en-US" altLang="zh-CN" dirty="0"/>
              <a:t>=0.8 , </a:t>
            </a:r>
            <a:r>
              <a:rPr lang="en-US" altLang="zh-CN" dirty="0" err="1"/>
              <a:t>r3</a:t>
            </a:r>
            <a:r>
              <a:rPr lang="en-US" altLang="zh-CN" dirty="0"/>
              <a:t>=0.5</a:t>
            </a:r>
            <a:r>
              <a:rPr lang="zh-CN" altLang="en-US" dirty="0"/>
              <a:t>。由此立即可得</a:t>
            </a:r>
            <a:r>
              <a:rPr lang="en-US" altLang="zh-CN" dirty="0"/>
              <a:t>: </a:t>
            </a:r>
            <a:r>
              <a:rPr lang="en-US" altLang="zh-CN" dirty="0" err="1"/>
              <a:t>u1</a:t>
            </a:r>
            <a:r>
              <a:rPr lang="en-US" altLang="zh-CN" dirty="0"/>
              <a:t>=2 , </a:t>
            </a:r>
            <a:r>
              <a:rPr lang="en-US" altLang="zh-CN" dirty="0" err="1"/>
              <a:t>u2</a:t>
            </a:r>
            <a:r>
              <a:rPr lang="en-US" altLang="zh-CN" dirty="0"/>
              <a:t> =3 ,</a:t>
            </a:r>
            <a:r>
              <a:rPr lang="en-US" altLang="zh-CN" dirty="0" err="1"/>
              <a:t>u3</a:t>
            </a:r>
            <a:r>
              <a:rPr lang="en-US" altLang="zh-CN" dirty="0"/>
              <a:t> =3</a:t>
            </a:r>
            <a:r>
              <a:rPr lang="zh-CN" altLang="en-US" dirty="0"/>
              <a:t>。</a:t>
            </a: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94</a:t>
            </a:fld>
            <a:endParaRPr lang="en-US" altLang="zh-CN" sz="1400" b="0" dirty="0"/>
          </a:p>
        </p:txBody>
      </p:sp>
      <p:sp>
        <p:nvSpPr>
          <p:cNvPr id="5" name="Rectangle 2">
            <a:extLst>
              <a:ext uri="{FF2B5EF4-FFF2-40B4-BE49-F238E27FC236}">
                <a16:creationId xmlns:a16="http://schemas.microsoft.com/office/drawing/2014/main" id="{8404590A-D3E5-F7E5-C84F-CBEBE53084B9}"/>
              </a:ext>
            </a:extLst>
          </p:cNvPr>
          <p:cNvSpPr txBox="1">
            <a:spLocks noChangeArrowheads="1"/>
          </p:cNvSpPr>
          <p:nvPr/>
        </p:nvSpPr>
        <p:spPr>
          <a:xfrm>
            <a:off x="1031875" y="422275"/>
            <a:ext cx="7869238" cy="927100"/>
          </a:xfrm>
          <a:prstGeom prst="rect">
            <a:avLst/>
          </a:prstGeom>
          <a:noFill/>
          <a:ln w="9525">
            <a:noFill/>
          </a:ln>
        </p:spPr>
        <p:txBody>
          <a:bodyPr anchor="ctr" anchorCtr="0"/>
          <a:lstStyle>
            <a:lvl1pPr algn="l" rtl="0" eaLnBrk="0" fontAlgn="base" hangingPunct="0">
              <a:spcBef>
                <a:spcPct val="0"/>
              </a:spcBef>
              <a:spcAft>
                <a:spcPct val="0"/>
              </a:spcAft>
              <a:defRPr sz="3200" b="1">
                <a:solidFill>
                  <a:schemeClr val="accent2"/>
                </a:solidFill>
                <a:latin typeface="+mj-lt"/>
                <a:ea typeface="+mj-ea"/>
                <a:cs typeface="+mj-cs"/>
              </a:defRPr>
            </a:lvl1pPr>
            <a:lvl2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2pPr>
            <a:lvl3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3pPr>
            <a:lvl4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4pPr>
            <a:lvl5pPr algn="l" rtl="0" eaLnBrk="0" fontAlgn="base" hangingPunct="0">
              <a:spcBef>
                <a:spcPct val="0"/>
              </a:spcBef>
              <a:spcAft>
                <a:spcPct val="0"/>
              </a:spcAft>
              <a:defRPr sz="3200" b="1">
                <a:solidFill>
                  <a:schemeClr val="accent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3200" b="1">
                <a:solidFill>
                  <a:schemeClr val="accent2"/>
                </a:solidFill>
                <a:latin typeface="Garamond" panose="02020404030301010803" pitchFamily="18" charset="0"/>
                <a:ea typeface="宋体" panose="02010600030101010101" pitchFamily="2" charset="-122"/>
              </a:defRPr>
            </a:lvl9pPr>
          </a:lstStyle>
          <a:p>
            <a:pPr eaLnBrk="1" hangingPunct="1">
              <a:defRPr/>
            </a:pPr>
            <a:r>
              <a:rPr lang="en-US" altLang="zh-CN" kern="0">
                <a:latin typeface="+mj-ea"/>
              </a:rPr>
              <a:t>4.3.6 </a:t>
            </a:r>
            <a:r>
              <a:rPr lang="zh-CN" altLang="en-US" kern="0">
                <a:latin typeface="+mj-ea"/>
              </a:rPr>
              <a:t>可靠性设计问题</a:t>
            </a:r>
            <a:endParaRPr lang="en-US" altLang="zh-CN" b="0" kern="0" dirty="0">
              <a:latin typeface="+mj-ea"/>
            </a:endParaRPr>
          </a:p>
        </p:txBody>
      </p:sp>
    </p:spTree>
    <p:extLst>
      <p:ext uri="{BB962C8B-B14F-4D97-AF65-F5344CB8AC3E}">
        <p14:creationId xmlns:p14="http://schemas.microsoft.com/office/powerpoint/2010/main" val="27766950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r>
              <a:rPr lang="zh-CN" altLang="en-US" dirty="0"/>
              <a:t>求解过程</a:t>
            </a:r>
          </a:p>
          <a:p>
            <a:r>
              <a:rPr lang="en-US" altLang="zh-CN" dirty="0" err="1"/>
              <a:t>Sij</a:t>
            </a:r>
            <a:r>
              <a:rPr lang="zh-CN" altLang="en-US" dirty="0"/>
              <a:t>  表示对第</a:t>
            </a:r>
            <a:r>
              <a:rPr lang="en-US" altLang="zh-CN" dirty="0" err="1"/>
              <a:t>i</a:t>
            </a:r>
            <a:r>
              <a:rPr lang="zh-CN" altLang="en-US" dirty="0"/>
              <a:t>个设备选择 </a:t>
            </a:r>
            <a:r>
              <a:rPr lang="en-US" altLang="zh-CN" dirty="0"/>
              <a:t>j </a:t>
            </a:r>
            <a:r>
              <a:rPr lang="zh-CN" altLang="en-US" dirty="0"/>
              <a:t>个</a:t>
            </a:r>
          </a:p>
          <a:p>
            <a:r>
              <a:rPr lang="en-US" altLang="zh-CN" dirty="0"/>
              <a:t>Si  </a:t>
            </a:r>
            <a:r>
              <a:rPr lang="zh-CN" altLang="en-US" dirty="0"/>
              <a:t>包含了第</a:t>
            </a:r>
            <a:r>
              <a:rPr lang="en-US" altLang="zh-CN" dirty="0" err="1"/>
              <a:t>i</a:t>
            </a:r>
            <a:r>
              <a:rPr lang="zh-CN" altLang="en-US" dirty="0"/>
              <a:t>个设备所有可能的情况。</a:t>
            </a:r>
          </a:p>
          <a:p>
            <a:r>
              <a:rPr lang="en-US" altLang="zh-CN" dirty="0"/>
              <a:t>S</a:t>
            </a:r>
            <a:r>
              <a:rPr lang="zh-CN" altLang="en-US" dirty="0"/>
              <a:t>（</a:t>
            </a:r>
            <a:r>
              <a:rPr lang="en-US" altLang="zh-CN" dirty="0" err="1"/>
              <a:t>i</a:t>
            </a:r>
            <a:r>
              <a:rPr lang="zh-CN" altLang="en-US" dirty="0"/>
              <a:t>，</a:t>
            </a:r>
            <a:r>
              <a:rPr lang="en-US" altLang="zh-CN" dirty="0"/>
              <a:t>j</a:t>
            </a:r>
            <a:r>
              <a:rPr lang="zh-CN" altLang="en-US" dirty="0"/>
              <a:t>），</a:t>
            </a:r>
            <a:r>
              <a:rPr lang="en-US" altLang="zh-CN" dirty="0"/>
              <a:t>Si</a:t>
            </a:r>
            <a:r>
              <a:rPr lang="zh-CN" altLang="en-US" dirty="0"/>
              <a:t>的值都是前面代表可靠性，后面代表价格。</a:t>
            </a:r>
          </a:p>
          <a:p>
            <a:r>
              <a:rPr lang="zh-CN" altLang="en-US" dirty="0"/>
              <a:t>支配：花了更多的钱，可靠性反而低，可以删除。</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95</a:t>
            </a:fld>
            <a:endParaRPr lang="en-US" altLang="zh-CN" sz="1400" b="0" dirty="0"/>
          </a:p>
        </p:txBody>
      </p:sp>
      <p:sp>
        <p:nvSpPr>
          <p:cNvPr id="5" name="Rectangle 2">
            <a:extLst>
              <a:ext uri="{FF2B5EF4-FFF2-40B4-BE49-F238E27FC236}">
                <a16:creationId xmlns:a16="http://schemas.microsoft.com/office/drawing/2014/main" id="{D8E93F20-C748-1D59-F3AC-42BE3B550482}"/>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4.3.6 </a:t>
            </a:r>
            <a:r>
              <a:rPr lang="zh-CN" altLang="en-US" sz="3200" dirty="0">
                <a:latin typeface="+mj-ea"/>
              </a:rPr>
              <a:t>可靠性设计问题</a:t>
            </a:r>
            <a:endParaRPr lang="en-US" altLang="zh-CN" b="0" dirty="0">
              <a:latin typeface="+mj-ea"/>
            </a:endParaRPr>
          </a:p>
        </p:txBody>
      </p:sp>
    </p:spTree>
    <p:extLst>
      <p:ext uri="{BB962C8B-B14F-4D97-AF65-F5344CB8AC3E}">
        <p14:creationId xmlns:p14="http://schemas.microsoft.com/office/powerpoint/2010/main" val="116947954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FAF64F3-9B5A-4F33-8B39-5385CC79BC21}"/>
              </a:ext>
            </a:extLst>
          </p:cNvPr>
          <p:cNvSpPr>
            <a:spLocks noGrp="1"/>
          </p:cNvSpPr>
          <p:nvPr>
            <p:ph idx="1"/>
          </p:nvPr>
        </p:nvSpPr>
        <p:spPr/>
        <p:txBody>
          <a:bodyPr/>
          <a:lstStyle/>
          <a:p>
            <a:r>
              <a:rPr lang="en-US" altLang="zh-CN" sz="1800" dirty="0" err="1"/>
              <a:t>S11</a:t>
            </a:r>
            <a:r>
              <a:rPr lang="en-US" altLang="zh-CN" sz="1800" dirty="0"/>
              <a:t>  = { (0 .9 , 30) } </a:t>
            </a:r>
            <a:r>
              <a:rPr lang="en-US" altLang="zh-CN" sz="1800" dirty="0" err="1"/>
              <a:t>S12</a:t>
            </a:r>
            <a:r>
              <a:rPr lang="en-US" altLang="zh-CN" sz="1800" dirty="0"/>
              <a:t> = {( 0 .99 , 60) }</a:t>
            </a:r>
          </a:p>
          <a:p>
            <a:r>
              <a:rPr lang="zh-CN" altLang="en-US" sz="1800" dirty="0"/>
              <a:t>得</a:t>
            </a:r>
            <a:r>
              <a:rPr lang="en-US" altLang="zh-CN" sz="1800" dirty="0" err="1"/>
              <a:t>S1</a:t>
            </a:r>
            <a:r>
              <a:rPr lang="en-US" altLang="zh-CN" sz="1800" dirty="0"/>
              <a:t> = { (0  .9 , 30) , ( 0 .99 , 60) }</a:t>
            </a:r>
          </a:p>
          <a:p>
            <a:r>
              <a:rPr lang="zh-CN" altLang="en-US" sz="1800" dirty="0"/>
              <a:t>由</a:t>
            </a:r>
            <a:r>
              <a:rPr lang="en-US" altLang="zh-CN" sz="1800" dirty="0" err="1"/>
              <a:t>S21</a:t>
            </a:r>
            <a:r>
              <a:rPr lang="en-US" altLang="zh-CN" sz="1800" dirty="0"/>
              <a:t> = {  (0 .72 , 45 ) , (0 .792 , 75) }  </a:t>
            </a:r>
            <a:r>
              <a:rPr lang="en-US" altLang="zh-CN" sz="1800" dirty="0" err="1"/>
              <a:t>S22</a:t>
            </a:r>
            <a:r>
              <a:rPr lang="en-US" altLang="zh-CN" sz="1800" dirty="0"/>
              <a:t> =  {( 0 .864 , 60 )}  </a:t>
            </a:r>
            <a:r>
              <a:rPr lang="en-US" altLang="zh-CN" sz="1800" dirty="0" err="1"/>
              <a:t>S23</a:t>
            </a:r>
            <a:r>
              <a:rPr lang="en-US" altLang="zh-CN" sz="1800" dirty="0"/>
              <a:t> = {( 0 .8928 ,  75) }</a:t>
            </a:r>
          </a:p>
          <a:p>
            <a:r>
              <a:rPr lang="zh-CN" altLang="en-US" sz="1800" dirty="0"/>
              <a:t>得</a:t>
            </a:r>
            <a:r>
              <a:rPr lang="en-US" altLang="zh-CN" sz="1800" dirty="0" err="1"/>
              <a:t>S2</a:t>
            </a:r>
            <a:r>
              <a:rPr lang="en-US" altLang="zh-CN" sz="1800" dirty="0"/>
              <a:t> = { (0  .72 , 45 ) , (0 .864 , 60) , ( 0 .8928 , 75) }</a:t>
            </a:r>
          </a:p>
          <a:p>
            <a:r>
              <a:rPr lang="zh-CN" altLang="en-US" sz="1800" dirty="0"/>
              <a:t>注意</a:t>
            </a:r>
            <a:r>
              <a:rPr lang="en-US" altLang="zh-CN" sz="1800" dirty="0"/>
              <a:t>: </a:t>
            </a:r>
            <a:r>
              <a:rPr lang="en-US" altLang="zh-CN" sz="1800" dirty="0" err="1"/>
              <a:t>S22</a:t>
            </a:r>
            <a:r>
              <a:rPr lang="zh-CN" altLang="en-US" sz="1800" dirty="0"/>
              <a:t>中已删去了由</a:t>
            </a:r>
            <a:r>
              <a:rPr lang="en-US" altLang="zh-CN" sz="1800" dirty="0"/>
              <a:t>(0 .99 , 60 )</a:t>
            </a:r>
            <a:r>
              <a:rPr lang="zh-CN" altLang="en-US" sz="1800" dirty="0"/>
              <a:t>所得到的序偶</a:t>
            </a:r>
            <a:r>
              <a:rPr lang="en-US" altLang="zh-CN" sz="1800" dirty="0"/>
              <a:t>( 0 .9504 , 90) </a:t>
            </a:r>
            <a:r>
              <a:rPr lang="zh-CN" altLang="en-US" sz="1800" dirty="0"/>
              <a:t>。因为这只剩下</a:t>
            </a:r>
            <a:r>
              <a:rPr lang="en-US" altLang="zh-CN" sz="1800" dirty="0"/>
              <a:t>15 </a:t>
            </a:r>
            <a:r>
              <a:rPr lang="zh-CN" altLang="en-US" sz="1800" dirty="0"/>
              <a:t>元</a:t>
            </a:r>
            <a:r>
              <a:rPr lang="en-US" altLang="zh-CN" sz="1800" dirty="0"/>
              <a:t>, </a:t>
            </a:r>
            <a:r>
              <a:rPr lang="zh-CN" altLang="en-US" sz="1800" dirty="0"/>
              <a:t>不足以让</a:t>
            </a:r>
            <a:r>
              <a:rPr lang="en-US" altLang="zh-CN" sz="1800" dirty="0" err="1"/>
              <a:t>m3</a:t>
            </a:r>
            <a:r>
              <a:rPr lang="en-US" altLang="zh-CN" sz="1800" dirty="0"/>
              <a:t> = 1</a:t>
            </a:r>
            <a:r>
              <a:rPr lang="zh-CN" altLang="en-US" sz="1800" dirty="0"/>
              <a:t>。</a:t>
            </a:r>
          </a:p>
          <a:p>
            <a:r>
              <a:rPr lang="zh-CN" altLang="en-US" sz="1800" dirty="0"/>
              <a:t>说明</a:t>
            </a:r>
            <a:r>
              <a:rPr lang="en-US" altLang="zh-CN" sz="1800" dirty="0"/>
              <a:t>: </a:t>
            </a:r>
            <a:r>
              <a:rPr lang="zh-CN" altLang="en-US" sz="1800" dirty="0"/>
              <a:t>归并时由于</a:t>
            </a:r>
            <a:r>
              <a:rPr lang="en-US" altLang="zh-CN" sz="1800" dirty="0"/>
              <a:t>( 0 .792 , 75 )</a:t>
            </a:r>
            <a:r>
              <a:rPr lang="zh-CN" altLang="en-US" sz="1800" dirty="0"/>
              <a:t>受</a:t>
            </a:r>
            <a:r>
              <a:rPr lang="en-US" altLang="zh-CN" sz="1800" dirty="0"/>
              <a:t>( 0 .864 , 60 )</a:t>
            </a:r>
            <a:r>
              <a:rPr lang="zh-CN" altLang="en-US" sz="1800" dirty="0"/>
              <a:t>支配</a:t>
            </a:r>
            <a:r>
              <a:rPr lang="en-US" altLang="zh-CN" sz="1800" dirty="0"/>
              <a:t>, </a:t>
            </a:r>
            <a:r>
              <a:rPr lang="zh-CN" altLang="en-US" sz="1800" dirty="0"/>
              <a:t>故舍去。</a:t>
            </a:r>
          </a:p>
          <a:p>
            <a:r>
              <a:rPr lang="zh-CN" altLang="en-US" sz="1800" dirty="0"/>
              <a:t>由 </a:t>
            </a:r>
            <a:r>
              <a:rPr lang="en-US" altLang="zh-CN" sz="1800" dirty="0" err="1"/>
              <a:t>S31</a:t>
            </a:r>
            <a:r>
              <a:rPr lang="en-US" altLang="zh-CN" sz="1800" dirty="0"/>
              <a:t>= {  (0 .36 , 65 ) , (0 .432 , 80) , ( 0 .4464 , 95) }</a:t>
            </a:r>
          </a:p>
          <a:p>
            <a:r>
              <a:rPr lang="en-US" altLang="zh-CN" sz="1800" dirty="0" err="1"/>
              <a:t>S32</a:t>
            </a:r>
            <a:r>
              <a:rPr lang="en-US" altLang="zh-CN" sz="1800" dirty="0"/>
              <a:t>=  { (0 .54 , 85 ) , (0 .648 , 100 )}</a:t>
            </a:r>
          </a:p>
          <a:p>
            <a:r>
              <a:rPr lang="en-US" altLang="zh-CN" sz="1800" dirty="0" err="1"/>
              <a:t>S33</a:t>
            </a:r>
            <a:r>
              <a:rPr lang="en-US" altLang="zh-CN" sz="1800" dirty="0"/>
              <a:t>=  { (0 .63 , 105) }</a:t>
            </a:r>
          </a:p>
          <a:p>
            <a:r>
              <a:rPr lang="zh-CN" altLang="en-US" sz="1800" dirty="0"/>
              <a:t>得</a:t>
            </a:r>
            <a:r>
              <a:rPr lang="en-US" altLang="zh-CN" sz="1800" dirty="0" err="1"/>
              <a:t>S3</a:t>
            </a:r>
            <a:r>
              <a:rPr lang="en-US" altLang="zh-CN" sz="1800" dirty="0"/>
              <a:t> = { (0  .36 , 65 ) , (0 , 432 , 80) , ( 0 .54 , 85) , ( 0 .648 , 100) }</a:t>
            </a:r>
          </a:p>
          <a:p>
            <a:r>
              <a:rPr lang="zh-CN" altLang="en-US" sz="1800" dirty="0"/>
              <a:t>最优设计有</a:t>
            </a:r>
            <a:r>
              <a:rPr lang="en-US" altLang="zh-CN" sz="1800" dirty="0"/>
              <a:t>0  .648 </a:t>
            </a:r>
            <a:r>
              <a:rPr lang="zh-CN" altLang="en-US" sz="1800" dirty="0"/>
              <a:t>的可靠性</a:t>
            </a:r>
            <a:r>
              <a:rPr lang="en-US" altLang="zh-CN" sz="1800" dirty="0"/>
              <a:t>, </a:t>
            </a:r>
            <a:r>
              <a:rPr lang="zh-CN" altLang="en-US" sz="1800" dirty="0"/>
              <a:t>需用资金</a:t>
            </a:r>
            <a:r>
              <a:rPr lang="en-US" altLang="zh-CN" sz="1800" dirty="0"/>
              <a:t>100 </a:t>
            </a:r>
            <a:r>
              <a:rPr lang="zh-CN" altLang="en-US" sz="1800" dirty="0"/>
              <a:t>元。通过对这些</a:t>
            </a:r>
            <a:r>
              <a:rPr lang="en-US" altLang="zh-CN" sz="1800" dirty="0"/>
              <a:t>Si </a:t>
            </a:r>
            <a:r>
              <a:rPr lang="zh-CN" altLang="en-US" sz="1800" dirty="0"/>
              <a:t>的回溯</a:t>
            </a:r>
            <a:r>
              <a:rPr lang="en-US" altLang="zh-CN" sz="1800" dirty="0"/>
              <a:t>, </a:t>
            </a:r>
            <a:r>
              <a:rPr lang="zh-CN" altLang="en-US" sz="1800" dirty="0"/>
              <a:t>求出</a:t>
            </a:r>
            <a:r>
              <a:rPr lang="en-US" altLang="zh-CN" sz="1800" dirty="0" err="1"/>
              <a:t>m1</a:t>
            </a:r>
            <a:r>
              <a:rPr lang="en-US" altLang="zh-CN" sz="1800" dirty="0"/>
              <a:t> = 1 ,  </a:t>
            </a:r>
            <a:r>
              <a:rPr lang="en-US" altLang="zh-CN" sz="1800" dirty="0" err="1"/>
              <a:t>m2</a:t>
            </a:r>
            <a:r>
              <a:rPr lang="en-US" altLang="zh-CN" sz="1800" dirty="0"/>
              <a:t>= 2 , </a:t>
            </a:r>
            <a:r>
              <a:rPr lang="en-US" altLang="zh-CN" sz="1800" dirty="0" err="1"/>
              <a:t>m3</a:t>
            </a:r>
            <a:r>
              <a:rPr lang="en-US" altLang="zh-CN" sz="1800" dirty="0"/>
              <a:t> = 2 </a:t>
            </a:r>
            <a:r>
              <a:rPr lang="zh-CN" altLang="en-US" sz="1800" dirty="0"/>
              <a:t>。</a:t>
            </a:r>
          </a:p>
          <a:p>
            <a:endParaRPr lang="zh-CN" altLang="en-US" dirty="0"/>
          </a:p>
        </p:txBody>
      </p:sp>
      <p:sp>
        <p:nvSpPr>
          <p:cNvPr id="4" name="日期占位符 3">
            <a:extLst>
              <a:ext uri="{FF2B5EF4-FFF2-40B4-BE49-F238E27FC236}">
                <a16:creationId xmlns:a16="http://schemas.microsoft.com/office/drawing/2014/main" id="{E7389A52-DE8A-4322-B175-74DE8CB8169E}"/>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AEA39D45-B1D8-4002-A8C4-627E529B9B2A}" type="datetime1">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2024-12-12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Rectangle 2">
            <a:extLst>
              <a:ext uri="{FF2B5EF4-FFF2-40B4-BE49-F238E27FC236}">
                <a16:creationId xmlns:a16="http://schemas.microsoft.com/office/drawing/2014/main" id="{D5E451B3-6E25-1CCE-137D-C93A85B2D989}"/>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4.3.6 </a:t>
            </a:r>
            <a:r>
              <a:rPr lang="zh-CN" altLang="en-US" sz="3200" dirty="0">
                <a:latin typeface="+mj-ea"/>
              </a:rPr>
              <a:t>可靠性设计问题</a:t>
            </a:r>
            <a:endParaRPr lang="en-US" altLang="zh-CN" b="0" dirty="0">
              <a:latin typeface="+mj-ea"/>
            </a:endParaRPr>
          </a:p>
        </p:txBody>
      </p:sp>
    </p:spTree>
    <p:extLst>
      <p:ext uri="{BB962C8B-B14F-4D97-AF65-F5344CB8AC3E}">
        <p14:creationId xmlns:p14="http://schemas.microsoft.com/office/powerpoint/2010/main" val="92583253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500">
                <a:solidFill>
                  <a:schemeClr val="accent2"/>
                </a:solidFill>
                <a:latin typeface="Times New Roman" panose="02020603050405020304" pitchFamily="18" charset="0"/>
                <a:ea typeface="华文楷体" panose="02010600040101010101" pitchFamily="2" charset="-122"/>
              </a:defRPr>
            </a:lvl1pPr>
            <a:lvl2pPr marL="742950" indent="-285750">
              <a:spcBef>
                <a:spcPct val="20000"/>
              </a:spcBef>
              <a:buChar char="•"/>
              <a:defRPr sz="2200">
                <a:solidFill>
                  <a:schemeClr val="accent2"/>
                </a:solidFill>
                <a:latin typeface="Arial" panose="020B0604020202020204" pitchFamily="34" charset="0"/>
                <a:ea typeface="华文行楷" panose="02010800040101010101" pitchFamily="2" charset="-122"/>
              </a:defRPr>
            </a:lvl2pPr>
            <a:lvl3pPr marL="1143000" indent="-228600">
              <a:spcBef>
                <a:spcPct val="20000"/>
              </a:spcBef>
              <a:buChar char="•"/>
              <a:defRPr sz="2000">
                <a:solidFill>
                  <a:schemeClr val="accent2"/>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1400">
                <a:solidFill>
                  <a:schemeClr val="tx1"/>
                </a:solidFill>
                <a:latin typeface="Arial" panose="020B0604020202020204" pitchFamily="34" charset="0"/>
                <a:ea typeface="宋体" panose="02010600030101010101" pitchFamily="2" charset="-122"/>
              </a:rPr>
              <a:t>Algorithms Design Techniques and Analysis</a:t>
            </a:r>
          </a:p>
        </p:txBody>
      </p:sp>
      <p:sp>
        <p:nvSpPr>
          <p:cNvPr id="10243" name="Rectangle 2"/>
          <p:cNvSpPr>
            <a:spLocks noGrp="1" noChangeArrowheads="1"/>
          </p:cNvSpPr>
          <p:nvPr>
            <p:ph type="title"/>
          </p:nvPr>
        </p:nvSpPr>
        <p:spPr/>
        <p:txBody>
          <a:bodyPr/>
          <a:lstStyle/>
          <a:p>
            <a:pPr eaLnBrk="1" hangingPunct="1">
              <a:defRPr/>
            </a:pPr>
            <a:r>
              <a:rPr lang="en-US" altLang="zh-CN" sz="3200" dirty="0">
                <a:latin typeface="+mj-ea"/>
              </a:rPr>
              <a:t>4.3.7 </a:t>
            </a:r>
            <a:r>
              <a:rPr lang="zh-CN" altLang="en-US" sz="3200" dirty="0">
                <a:latin typeface="+mj-ea"/>
              </a:rPr>
              <a:t>流水线调度问题</a:t>
            </a:r>
            <a:endParaRPr lang="en-US" altLang="zh-CN" b="0" dirty="0">
              <a:latin typeface="+mj-ea"/>
            </a:endParaRPr>
          </a:p>
        </p:txBody>
      </p:sp>
      <p:sp>
        <p:nvSpPr>
          <p:cNvPr id="13316" name="Rectangle 3"/>
          <p:cNvSpPr>
            <a:spLocks noGrp="1" noChangeArrowheads="1"/>
          </p:cNvSpPr>
          <p:nvPr>
            <p:ph type="body" idx="1"/>
          </p:nvPr>
        </p:nvSpPr>
        <p:spPr>
          <a:xfrm>
            <a:off x="817563" y="1268413"/>
            <a:ext cx="7931150" cy="4646612"/>
          </a:xfrm>
        </p:spPr>
        <p:txBody>
          <a:bodyPr/>
          <a:lstStyle/>
          <a:p>
            <a:r>
              <a:rPr lang="en-US" altLang="zh-CN" dirty="0"/>
              <a:t>n</a:t>
            </a:r>
            <a:r>
              <a:rPr lang="zh-CN" altLang="en-US" dirty="0"/>
              <a:t>个作业</a:t>
            </a:r>
            <a:r>
              <a:rPr lang="en-US" altLang="zh-CN" dirty="0"/>
              <a:t>{1</a:t>
            </a:r>
            <a:r>
              <a:rPr lang="zh-CN" altLang="en-US" dirty="0"/>
              <a:t>，</a:t>
            </a:r>
            <a:r>
              <a:rPr lang="en-US" altLang="zh-CN" dirty="0"/>
              <a:t>2</a:t>
            </a:r>
            <a:r>
              <a:rPr lang="zh-CN" altLang="en-US" dirty="0"/>
              <a:t>，</a:t>
            </a:r>
            <a:r>
              <a:rPr lang="en-US" altLang="zh-CN" dirty="0">
                <a:latin typeface="Times New Roman" panose="02020603050405020304" pitchFamily="18" charset="0"/>
              </a:rPr>
              <a:t>…</a:t>
            </a:r>
            <a:r>
              <a:rPr lang="zh-CN" altLang="en-US" dirty="0"/>
              <a:t>，</a:t>
            </a:r>
            <a:r>
              <a:rPr lang="en-US" altLang="zh-CN" dirty="0"/>
              <a:t>n}</a:t>
            </a:r>
            <a:r>
              <a:rPr lang="zh-CN" altLang="en-US" dirty="0"/>
              <a:t>要在由</a:t>
            </a:r>
            <a:r>
              <a:rPr lang="en-US" altLang="zh-CN" dirty="0"/>
              <a:t>2</a:t>
            </a:r>
            <a:r>
              <a:rPr lang="zh-CN" altLang="en-US" dirty="0"/>
              <a:t>台机器</a:t>
            </a:r>
            <a:r>
              <a:rPr lang="en-US" altLang="zh-CN" dirty="0"/>
              <a:t>M1</a:t>
            </a:r>
            <a:r>
              <a:rPr lang="zh-CN" altLang="en-US" dirty="0"/>
              <a:t>和</a:t>
            </a:r>
            <a:r>
              <a:rPr lang="en-US" altLang="zh-CN" dirty="0"/>
              <a:t>M2</a:t>
            </a:r>
            <a:r>
              <a:rPr lang="zh-CN" altLang="en-US" dirty="0"/>
              <a:t>组成的流水线上完成加工。每个作业加工的顺序都是先在</a:t>
            </a:r>
            <a:r>
              <a:rPr lang="en-US" altLang="zh-CN" dirty="0"/>
              <a:t>M1</a:t>
            </a:r>
            <a:r>
              <a:rPr lang="zh-CN" altLang="en-US" dirty="0"/>
              <a:t>上加工，然后在</a:t>
            </a:r>
            <a:r>
              <a:rPr lang="en-US" altLang="zh-CN" dirty="0"/>
              <a:t>M2</a:t>
            </a:r>
            <a:r>
              <a:rPr lang="zh-CN" altLang="en-US" dirty="0"/>
              <a:t>上加工。</a:t>
            </a:r>
            <a:r>
              <a:rPr lang="en-US" altLang="zh-CN" dirty="0"/>
              <a:t>M1</a:t>
            </a:r>
            <a:r>
              <a:rPr lang="zh-CN" altLang="en-US" dirty="0"/>
              <a:t>和</a:t>
            </a:r>
            <a:r>
              <a:rPr lang="en-US" altLang="zh-CN" dirty="0"/>
              <a:t>M2</a:t>
            </a:r>
            <a:r>
              <a:rPr lang="zh-CN" altLang="en-US" dirty="0"/>
              <a:t>加工作业</a:t>
            </a:r>
            <a:r>
              <a:rPr lang="en-US" altLang="zh-CN" dirty="0" err="1"/>
              <a:t>i</a:t>
            </a:r>
            <a:r>
              <a:rPr lang="zh-CN" altLang="en-US" dirty="0"/>
              <a:t>所需的时间分别为</a:t>
            </a:r>
            <a:r>
              <a:rPr lang="en-US" altLang="zh-CN" dirty="0"/>
              <a:t>ai</a:t>
            </a:r>
            <a:r>
              <a:rPr lang="zh-CN" altLang="en-US" dirty="0"/>
              <a:t>和</a:t>
            </a:r>
            <a:r>
              <a:rPr lang="en-US" altLang="zh-CN" dirty="0"/>
              <a:t>bi</a:t>
            </a:r>
            <a:r>
              <a:rPr lang="zh-CN" altLang="en-US" dirty="0"/>
              <a:t>。</a:t>
            </a:r>
          </a:p>
          <a:p>
            <a:r>
              <a:rPr lang="zh-CN" altLang="en-US" dirty="0"/>
              <a:t>流水作业调度问题要求确定这</a:t>
            </a:r>
            <a:r>
              <a:rPr lang="en-US" altLang="zh-CN" dirty="0"/>
              <a:t>n</a:t>
            </a:r>
            <a:r>
              <a:rPr lang="zh-CN" altLang="en-US" dirty="0"/>
              <a:t>个作业的最优加工顺序，使得从第一个作业在机器</a:t>
            </a:r>
            <a:r>
              <a:rPr lang="en-US" altLang="zh-CN" dirty="0"/>
              <a:t>M1</a:t>
            </a:r>
            <a:r>
              <a:rPr lang="zh-CN" altLang="en-US" dirty="0"/>
              <a:t>上开始加工，到最后一个作业在机器</a:t>
            </a:r>
            <a:r>
              <a:rPr lang="en-US" altLang="zh-CN" dirty="0"/>
              <a:t>M2</a:t>
            </a:r>
            <a:r>
              <a:rPr lang="zh-CN" altLang="en-US" dirty="0"/>
              <a:t>上加工完成所需的时间最少。</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Tree>
    <p:extLst>
      <p:ext uri="{BB962C8B-B14F-4D97-AF65-F5344CB8AC3E}">
        <p14:creationId xmlns:p14="http://schemas.microsoft.com/office/powerpoint/2010/main" val="9809371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r>
              <a:rPr lang="zh-CN" altLang="en-US" dirty="0"/>
              <a:t>直观上，一个最优调度应使机器</a:t>
            </a:r>
            <a:r>
              <a:rPr lang="en-US" altLang="zh-CN" dirty="0" err="1"/>
              <a:t>M1</a:t>
            </a:r>
            <a:r>
              <a:rPr lang="zh-CN" altLang="en-US" dirty="0"/>
              <a:t>没有空闲时间，且机器</a:t>
            </a:r>
            <a:r>
              <a:rPr lang="en-US" altLang="zh-CN" dirty="0" err="1"/>
              <a:t>M2</a:t>
            </a:r>
            <a:r>
              <a:rPr lang="zh-CN" altLang="en-US" dirty="0"/>
              <a:t>的空闲时间最少。在一般情况下，机器</a:t>
            </a:r>
            <a:r>
              <a:rPr lang="en-US" altLang="zh-CN" dirty="0" err="1"/>
              <a:t>M2</a:t>
            </a:r>
            <a:r>
              <a:rPr lang="zh-CN" altLang="en-US" dirty="0"/>
              <a:t>上会有机器空闲和作业积压</a:t>
            </a:r>
            <a:r>
              <a:rPr lang="en-US" altLang="zh-CN" dirty="0"/>
              <a:t>2</a:t>
            </a:r>
            <a:r>
              <a:rPr lang="zh-CN" altLang="en-US" dirty="0"/>
              <a:t>种情况。</a:t>
            </a:r>
          </a:p>
          <a:p>
            <a:r>
              <a:rPr lang="zh-CN" altLang="en-US" dirty="0"/>
              <a:t>设全部作业的集合为</a:t>
            </a:r>
            <a:r>
              <a:rPr lang="en-US" altLang="zh-CN" dirty="0"/>
              <a:t>N={1</a:t>
            </a:r>
            <a:r>
              <a:rPr lang="zh-CN" altLang="en-US" dirty="0"/>
              <a:t>，</a:t>
            </a:r>
            <a:r>
              <a:rPr lang="en-US" altLang="zh-CN" dirty="0"/>
              <a:t>2</a:t>
            </a:r>
            <a:r>
              <a:rPr lang="zh-CN" altLang="en-US" dirty="0"/>
              <a:t>，</a:t>
            </a:r>
            <a:r>
              <a:rPr lang="en-US" altLang="zh-CN" dirty="0">
                <a:latin typeface="Times New Roman" panose="02020603050405020304" pitchFamily="18" charset="0"/>
              </a:rPr>
              <a:t>…</a:t>
            </a:r>
            <a:r>
              <a:rPr lang="zh-CN" altLang="en-US" dirty="0"/>
              <a:t>，</a:t>
            </a:r>
            <a:r>
              <a:rPr lang="en-US" altLang="zh-CN" dirty="0"/>
              <a:t>n}</a:t>
            </a:r>
            <a:r>
              <a:rPr lang="zh-CN" altLang="en-US" dirty="0"/>
              <a:t>。</a:t>
            </a:r>
            <a:r>
              <a:rPr lang="en-US" altLang="zh-CN" dirty="0"/>
              <a:t>S</a:t>
            </a:r>
            <a:r>
              <a:rPr lang="zh-CN" altLang="en-US" dirty="0"/>
              <a:t>是</a:t>
            </a:r>
            <a:r>
              <a:rPr lang="en-US" altLang="zh-CN" dirty="0"/>
              <a:t>N</a:t>
            </a:r>
            <a:r>
              <a:rPr lang="zh-CN" altLang="en-US" dirty="0"/>
              <a:t>的作业子集。在一般情况下，机器</a:t>
            </a:r>
            <a:r>
              <a:rPr lang="en-US" altLang="zh-CN" dirty="0" err="1"/>
              <a:t>M1</a:t>
            </a:r>
            <a:r>
              <a:rPr lang="zh-CN" altLang="en-US" dirty="0"/>
              <a:t>开始加工</a:t>
            </a:r>
            <a:r>
              <a:rPr lang="en-US" altLang="zh-CN" dirty="0"/>
              <a:t>S</a:t>
            </a:r>
            <a:r>
              <a:rPr lang="zh-CN" altLang="en-US" dirty="0"/>
              <a:t>中作业时，机器</a:t>
            </a:r>
            <a:r>
              <a:rPr lang="en-US" altLang="zh-CN" dirty="0" err="1"/>
              <a:t>M2</a:t>
            </a:r>
            <a:r>
              <a:rPr lang="zh-CN" altLang="en-US" dirty="0"/>
              <a:t>还在加工其他作业，要等时间</a:t>
            </a:r>
            <a:r>
              <a:rPr lang="en-US" altLang="zh-CN" dirty="0"/>
              <a:t>t</a:t>
            </a:r>
            <a:r>
              <a:rPr lang="zh-CN" altLang="en-US" dirty="0"/>
              <a:t>后才可利用。将这种情况下完成</a:t>
            </a:r>
            <a:r>
              <a:rPr lang="en-US" altLang="zh-CN" dirty="0"/>
              <a:t>S</a:t>
            </a:r>
            <a:r>
              <a:rPr lang="zh-CN" altLang="en-US" dirty="0"/>
              <a:t>中作业所需的最短时间记为</a:t>
            </a:r>
            <a:r>
              <a:rPr lang="en-US" altLang="zh-CN" dirty="0"/>
              <a:t>T(</a:t>
            </a:r>
            <a:r>
              <a:rPr lang="en-US" altLang="zh-CN" dirty="0" err="1"/>
              <a:t>S,t</a:t>
            </a:r>
            <a:r>
              <a:rPr lang="en-US" altLang="zh-CN" dirty="0"/>
              <a:t>)</a:t>
            </a:r>
            <a:r>
              <a:rPr lang="zh-CN" altLang="en-US" dirty="0"/>
              <a:t>。流水作业调度问题的最优值为</a:t>
            </a:r>
            <a:r>
              <a:rPr lang="en-US" altLang="zh-CN" dirty="0"/>
              <a:t>T(</a:t>
            </a:r>
            <a:r>
              <a:rPr lang="en-US" altLang="zh-CN" dirty="0" err="1"/>
              <a:t>N,0</a:t>
            </a:r>
            <a:r>
              <a:rPr lang="en-US" altLang="zh-CN" dirty="0"/>
              <a:t>)</a:t>
            </a:r>
            <a:r>
              <a:rPr lang="zh-CN" altLang="en-US" dirty="0"/>
              <a:t>。</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98</a:t>
            </a:fld>
            <a:endParaRPr lang="en-US" altLang="zh-CN" sz="1400" b="0" dirty="0"/>
          </a:p>
        </p:txBody>
      </p:sp>
      <p:sp>
        <p:nvSpPr>
          <p:cNvPr id="5" name="Rectangle 2">
            <a:extLst>
              <a:ext uri="{FF2B5EF4-FFF2-40B4-BE49-F238E27FC236}">
                <a16:creationId xmlns:a16="http://schemas.microsoft.com/office/drawing/2014/main" id="{3532FB44-1C39-9393-449E-A486AD0A58F3}"/>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4.3.7 </a:t>
            </a:r>
            <a:r>
              <a:rPr lang="zh-CN" altLang="en-US" sz="3200" dirty="0">
                <a:latin typeface="+mj-ea"/>
              </a:rPr>
              <a:t>流水线调度问题</a:t>
            </a:r>
            <a:endParaRPr lang="en-US" altLang="zh-CN" b="0" dirty="0">
              <a:latin typeface="+mj-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r>
              <a:rPr lang="zh-CN" altLang="en-US" sz="2000" dirty="0"/>
              <a:t>设</a:t>
            </a:r>
            <a:r>
              <a:rPr lang="en-US" altLang="zh-CN" sz="2000" dirty="0"/>
              <a:t>π</a:t>
            </a:r>
            <a:r>
              <a:rPr lang="zh-CN" altLang="en-US" sz="2000" dirty="0"/>
              <a:t>是所给</a:t>
            </a:r>
            <a:r>
              <a:rPr lang="en-US" altLang="zh-CN" sz="2000" dirty="0"/>
              <a:t>n</a:t>
            </a:r>
            <a:r>
              <a:rPr lang="zh-CN" altLang="en-US" sz="2000" dirty="0"/>
              <a:t>个流水作业的一个最优调度，它所需的加工时间为 </a:t>
            </a:r>
            <a:r>
              <a:rPr lang="en-US" altLang="zh-CN" sz="2000" dirty="0"/>
              <a:t>a</a:t>
            </a:r>
            <a:r>
              <a:rPr lang="en-US" altLang="zh-CN" sz="2000" baseline="-25000" dirty="0"/>
              <a:t>π(1)</a:t>
            </a:r>
            <a:r>
              <a:rPr lang="en-US" altLang="zh-CN" sz="2000" dirty="0"/>
              <a:t>+T’</a:t>
            </a:r>
            <a:r>
              <a:rPr lang="zh-CN" altLang="en-US" sz="2000" dirty="0"/>
              <a:t>。其中</a:t>
            </a:r>
            <a:r>
              <a:rPr lang="en-US" altLang="zh-CN" sz="2000" dirty="0"/>
              <a:t>T’</a:t>
            </a:r>
            <a:r>
              <a:rPr lang="zh-CN" altLang="en-US" sz="2000" dirty="0"/>
              <a:t>是在机器</a:t>
            </a:r>
            <a:r>
              <a:rPr lang="en-US" altLang="zh-CN" sz="2000" dirty="0" err="1"/>
              <a:t>M2</a:t>
            </a:r>
            <a:r>
              <a:rPr lang="zh-CN" altLang="en-US" sz="2000" dirty="0"/>
              <a:t>的等待时间为</a:t>
            </a:r>
            <a:r>
              <a:rPr lang="en-US" altLang="zh-CN" sz="2000" dirty="0"/>
              <a:t>b</a:t>
            </a:r>
            <a:r>
              <a:rPr lang="en-US" altLang="zh-CN" sz="2000" baseline="-25000" dirty="0"/>
              <a:t>π(1)</a:t>
            </a:r>
            <a:r>
              <a:rPr lang="zh-CN" altLang="en-US" sz="2000" dirty="0"/>
              <a:t>时，安排作业</a:t>
            </a:r>
            <a:r>
              <a:rPr lang="en-US" altLang="zh-CN" sz="2000" dirty="0"/>
              <a:t>π(2)</a:t>
            </a:r>
            <a:r>
              <a:rPr lang="zh-CN" altLang="en-US" sz="2000" dirty="0"/>
              <a:t>，</a:t>
            </a:r>
            <a:r>
              <a:rPr lang="en-US" altLang="zh-CN" sz="2000" dirty="0">
                <a:latin typeface="Times New Roman" panose="02020603050405020304" pitchFamily="18" charset="0"/>
              </a:rPr>
              <a:t>…</a:t>
            </a:r>
            <a:r>
              <a:rPr lang="zh-CN" altLang="en-US" sz="2000" dirty="0"/>
              <a:t>，</a:t>
            </a:r>
            <a:r>
              <a:rPr lang="en-US" altLang="zh-CN" sz="2000" dirty="0"/>
              <a:t>π(n)</a:t>
            </a:r>
            <a:r>
              <a:rPr lang="zh-CN" altLang="en-US" sz="2000" dirty="0"/>
              <a:t>所需的时间。记</a:t>
            </a:r>
            <a:r>
              <a:rPr lang="en-US" altLang="zh-CN" sz="2000" dirty="0"/>
              <a:t>S=N-{π(1)}</a:t>
            </a:r>
            <a:r>
              <a:rPr lang="zh-CN" altLang="en-US" sz="2000" dirty="0"/>
              <a:t>，则有</a:t>
            </a:r>
            <a:r>
              <a:rPr lang="en-US" altLang="zh-CN" sz="2000" dirty="0"/>
              <a:t>T’=T(</a:t>
            </a:r>
            <a:r>
              <a:rPr lang="en-US" altLang="zh-CN" sz="2000" dirty="0" err="1"/>
              <a:t>S,b</a:t>
            </a:r>
            <a:r>
              <a:rPr lang="en-US" altLang="zh-CN" sz="2000" baseline="-25000" dirty="0"/>
              <a:t>π(1)</a:t>
            </a:r>
            <a:r>
              <a:rPr lang="en-US" altLang="zh-CN" sz="2000" dirty="0"/>
              <a:t>)</a:t>
            </a:r>
            <a:r>
              <a:rPr lang="zh-CN" altLang="en-US" sz="2000" dirty="0"/>
              <a:t>。</a:t>
            </a:r>
          </a:p>
          <a:p>
            <a:r>
              <a:rPr lang="zh-CN" altLang="en-US" sz="2000" dirty="0"/>
              <a:t>证明：事实上，由</a:t>
            </a:r>
            <a:r>
              <a:rPr lang="en-US" altLang="zh-CN" sz="2000" dirty="0"/>
              <a:t>T</a:t>
            </a:r>
            <a:r>
              <a:rPr lang="zh-CN" altLang="en-US" sz="2000" dirty="0"/>
              <a:t>的定义知</a:t>
            </a:r>
            <a:r>
              <a:rPr lang="en-US" altLang="zh-CN" sz="2000" dirty="0" err="1"/>
              <a:t>T’≥T</a:t>
            </a:r>
            <a:r>
              <a:rPr lang="en-US" altLang="zh-CN" sz="2000" dirty="0"/>
              <a:t>(</a:t>
            </a:r>
            <a:r>
              <a:rPr lang="en-US" altLang="zh-CN" sz="2000" dirty="0" err="1"/>
              <a:t>S,b</a:t>
            </a:r>
            <a:r>
              <a:rPr lang="en-US" altLang="zh-CN" sz="2000" baseline="-25000" dirty="0"/>
              <a:t>π(1)</a:t>
            </a:r>
            <a:r>
              <a:rPr lang="en-US" altLang="zh-CN" sz="2000" dirty="0"/>
              <a:t>)</a:t>
            </a:r>
            <a:r>
              <a:rPr lang="zh-CN" altLang="en-US" sz="2000" dirty="0"/>
              <a:t>。若</a:t>
            </a:r>
            <a:r>
              <a:rPr lang="en-US" altLang="zh-CN" sz="2000" dirty="0"/>
              <a:t>T’&gt;T(</a:t>
            </a:r>
            <a:r>
              <a:rPr lang="en-US" altLang="zh-CN" sz="2000" dirty="0" err="1"/>
              <a:t>S,b</a:t>
            </a:r>
            <a:r>
              <a:rPr lang="en-US" altLang="zh-CN" sz="2000" baseline="-25000" dirty="0"/>
              <a:t>π(1)</a:t>
            </a:r>
            <a:r>
              <a:rPr lang="en-US" altLang="zh-CN" sz="2000" dirty="0"/>
              <a:t>)</a:t>
            </a:r>
            <a:r>
              <a:rPr lang="zh-CN" altLang="en-US" sz="2000" dirty="0"/>
              <a:t>，设</a:t>
            </a:r>
            <a:r>
              <a:rPr lang="en-US" altLang="zh-CN" sz="2000" dirty="0"/>
              <a:t>π’</a:t>
            </a:r>
            <a:r>
              <a:rPr lang="zh-CN" altLang="en-US" sz="2000" dirty="0"/>
              <a:t>是作业集</a:t>
            </a:r>
            <a:r>
              <a:rPr lang="en-US" altLang="zh-CN" sz="2000" dirty="0"/>
              <a:t>S</a:t>
            </a:r>
            <a:r>
              <a:rPr lang="zh-CN" altLang="en-US" sz="2000" dirty="0"/>
              <a:t>在机器</a:t>
            </a:r>
            <a:r>
              <a:rPr lang="en-US" altLang="zh-CN" sz="2000" dirty="0" err="1"/>
              <a:t>M2</a:t>
            </a:r>
            <a:r>
              <a:rPr lang="zh-CN" altLang="en-US" sz="2000" dirty="0"/>
              <a:t>的等待时间为</a:t>
            </a:r>
            <a:r>
              <a:rPr lang="en-US" altLang="zh-CN" sz="2000" dirty="0"/>
              <a:t>b</a:t>
            </a:r>
            <a:r>
              <a:rPr lang="en-US" altLang="zh-CN" sz="2000" baseline="-25000" dirty="0"/>
              <a:t>π(1)</a:t>
            </a:r>
            <a:r>
              <a:rPr lang="zh-CN" altLang="en-US" sz="2000" dirty="0"/>
              <a:t>情况下的一个最优调度。则</a:t>
            </a:r>
            <a:r>
              <a:rPr lang="en-US" altLang="zh-CN" sz="2000" dirty="0"/>
              <a:t>π(1)</a:t>
            </a:r>
            <a:r>
              <a:rPr lang="zh-CN" altLang="en-US" sz="2000" dirty="0"/>
              <a:t>，</a:t>
            </a:r>
            <a:r>
              <a:rPr lang="en-US" altLang="zh-CN" sz="2000" dirty="0"/>
              <a:t>π’(2)</a:t>
            </a:r>
            <a:r>
              <a:rPr lang="zh-CN" altLang="en-US" sz="2000" dirty="0"/>
              <a:t>，</a:t>
            </a:r>
            <a:r>
              <a:rPr lang="en-US" altLang="zh-CN" sz="2000" dirty="0">
                <a:latin typeface="Times New Roman" panose="02020603050405020304" pitchFamily="18" charset="0"/>
              </a:rPr>
              <a:t>…</a:t>
            </a:r>
            <a:r>
              <a:rPr lang="zh-CN" altLang="en-US" sz="2000" dirty="0"/>
              <a:t>，</a:t>
            </a:r>
            <a:r>
              <a:rPr lang="en-US" altLang="zh-CN" sz="2000" dirty="0"/>
              <a:t>π’(n)</a:t>
            </a:r>
            <a:r>
              <a:rPr lang="zh-CN" altLang="en-US" sz="2000" dirty="0"/>
              <a:t>是</a:t>
            </a:r>
            <a:r>
              <a:rPr lang="en-US" altLang="zh-CN" sz="2000" dirty="0"/>
              <a:t>N</a:t>
            </a:r>
            <a:r>
              <a:rPr lang="zh-CN" altLang="en-US" sz="2000" dirty="0"/>
              <a:t>的一个调度，且该调度所需的时间为</a:t>
            </a:r>
            <a:r>
              <a:rPr lang="en-US" altLang="zh-CN" sz="2000" dirty="0"/>
              <a:t>a</a:t>
            </a:r>
            <a:r>
              <a:rPr lang="en-US" altLang="zh-CN" sz="2000" baseline="-25000" dirty="0"/>
              <a:t>π(1)</a:t>
            </a:r>
            <a:r>
              <a:rPr lang="en-US" altLang="zh-CN" sz="2000" dirty="0"/>
              <a:t>+T(</a:t>
            </a:r>
            <a:r>
              <a:rPr lang="en-US" altLang="zh-CN" sz="2000" dirty="0" err="1"/>
              <a:t>S,b</a:t>
            </a:r>
            <a:r>
              <a:rPr lang="en-US" altLang="zh-CN" sz="2000" baseline="-25000" dirty="0"/>
              <a:t>π(1)</a:t>
            </a:r>
            <a:r>
              <a:rPr lang="en-US" altLang="zh-CN" sz="2000" dirty="0"/>
              <a:t>)&lt;aπ(1)+T’</a:t>
            </a:r>
            <a:r>
              <a:rPr lang="zh-CN" altLang="en-US" sz="2000" dirty="0"/>
              <a:t>。这与</a:t>
            </a:r>
            <a:r>
              <a:rPr lang="en-US" altLang="zh-CN" sz="2000" dirty="0"/>
              <a:t>π</a:t>
            </a:r>
            <a:r>
              <a:rPr lang="zh-CN" altLang="en-US" sz="2000" dirty="0"/>
              <a:t>是</a:t>
            </a:r>
            <a:r>
              <a:rPr lang="en-US" altLang="zh-CN" sz="2000" dirty="0"/>
              <a:t>N</a:t>
            </a:r>
            <a:r>
              <a:rPr lang="zh-CN" altLang="en-US" sz="2000" dirty="0"/>
              <a:t>的最优调度矛盾。故</a:t>
            </a:r>
            <a:r>
              <a:rPr lang="en-US" altLang="zh-CN" sz="2000" dirty="0" err="1"/>
              <a:t>T’≤T</a:t>
            </a:r>
            <a:r>
              <a:rPr lang="en-US" altLang="zh-CN" sz="2000" dirty="0"/>
              <a:t>(</a:t>
            </a:r>
            <a:r>
              <a:rPr lang="en-US" altLang="zh-CN" sz="2000" dirty="0" err="1"/>
              <a:t>S,b</a:t>
            </a:r>
            <a:r>
              <a:rPr lang="en-US" altLang="zh-CN" sz="2000" baseline="-25000" dirty="0"/>
              <a:t>π(1)</a:t>
            </a:r>
            <a:r>
              <a:rPr lang="en-US" altLang="zh-CN" sz="2000" dirty="0"/>
              <a:t>)</a:t>
            </a:r>
            <a:r>
              <a:rPr lang="zh-CN" altLang="en-US" sz="2000" dirty="0"/>
              <a:t>。从而</a:t>
            </a:r>
            <a:r>
              <a:rPr lang="en-US" altLang="zh-CN" sz="2000" dirty="0"/>
              <a:t>T’=T(</a:t>
            </a:r>
            <a:r>
              <a:rPr lang="en-US" altLang="zh-CN" sz="2000" dirty="0" err="1"/>
              <a:t>S,b</a:t>
            </a:r>
            <a:r>
              <a:rPr lang="en-US" altLang="zh-CN" sz="2000" baseline="-25000" dirty="0"/>
              <a:t>π(1)</a:t>
            </a:r>
            <a:r>
              <a:rPr lang="en-US" altLang="zh-CN" sz="2000" dirty="0"/>
              <a:t>)</a:t>
            </a:r>
            <a:r>
              <a:rPr lang="zh-CN" altLang="en-US" sz="2000" dirty="0"/>
              <a:t>。这就证明了流水作业调度问题具有最优子结构的性质。</a:t>
            </a:r>
          </a:p>
          <a:p>
            <a:pPr>
              <a:spcAft>
                <a:spcPct val="400000"/>
              </a:spcAft>
            </a:pPr>
            <a:r>
              <a:rPr lang="zh-CN" altLang="en-US" sz="2000" dirty="0"/>
              <a:t>由流水作业调度问题的最优子结构性质可知，</a:t>
            </a:r>
          </a:p>
          <a:p>
            <a:r>
              <a:rPr lang="zh-CN" altLang="en-US" sz="2000" dirty="0">
                <a:solidFill>
                  <a:srgbClr val="FF0000"/>
                </a:solidFill>
              </a:rPr>
              <a:t>思考：直接利用该递归关系构造动态规划算法。 </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99</a:t>
            </a:fld>
            <a:endParaRPr lang="en-US" altLang="zh-CN" sz="1400" b="0" dirty="0"/>
          </a:p>
        </p:txBody>
      </p:sp>
      <p:pic>
        <p:nvPicPr>
          <p:cNvPr id="2" name="图片 1"/>
          <p:cNvPicPr>
            <a:picLocks noChangeAspect="1"/>
          </p:cNvPicPr>
          <p:nvPr/>
        </p:nvPicPr>
        <p:blipFill>
          <a:blip r:embed="rId2"/>
          <a:stretch>
            <a:fillRect/>
          </a:stretch>
        </p:blipFill>
        <p:spPr>
          <a:xfrm>
            <a:off x="1476227" y="4581128"/>
            <a:ext cx="5759746" cy="1098606"/>
          </a:xfrm>
          <a:prstGeom prst="rect">
            <a:avLst/>
          </a:prstGeom>
        </p:spPr>
      </p:pic>
      <p:sp>
        <p:nvSpPr>
          <p:cNvPr id="6" name="Rectangle 2">
            <a:extLst>
              <a:ext uri="{FF2B5EF4-FFF2-40B4-BE49-F238E27FC236}">
                <a16:creationId xmlns:a16="http://schemas.microsoft.com/office/drawing/2014/main" id="{7F9983F8-2D37-E884-1C0C-EF2A68DDA6FC}"/>
              </a:ext>
            </a:extLst>
          </p:cNvPr>
          <p:cNvSpPr>
            <a:spLocks noGrp="1" noChangeArrowheads="1"/>
          </p:cNvSpPr>
          <p:nvPr>
            <p:ph type="title"/>
          </p:nvPr>
        </p:nvSpPr>
        <p:spPr>
          <a:xfrm>
            <a:off x="879475" y="269875"/>
            <a:ext cx="7869238" cy="927100"/>
          </a:xfrm>
        </p:spPr>
        <p:txBody>
          <a:bodyPr/>
          <a:lstStyle/>
          <a:p>
            <a:pPr eaLnBrk="1" hangingPunct="1">
              <a:defRPr/>
            </a:pPr>
            <a:r>
              <a:rPr lang="en-US" altLang="zh-CN" sz="3200" dirty="0">
                <a:latin typeface="+mj-ea"/>
              </a:rPr>
              <a:t>4.3.7 </a:t>
            </a:r>
            <a:r>
              <a:rPr lang="zh-CN" altLang="en-US" sz="3200" dirty="0">
                <a:latin typeface="+mj-ea"/>
              </a:rPr>
              <a:t>流水线调度问题</a:t>
            </a:r>
            <a:endParaRPr lang="en-US" altLang="zh-CN" b="0" dirty="0">
              <a:latin typeface="+mj-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pPr>
              <a:lnSpc>
                <a:spcPct val="90000"/>
              </a:lnSpc>
            </a:pPr>
            <a:r>
              <a:rPr lang="zh-CN" altLang="en-US" sz="2000" dirty="0"/>
              <a:t>对递归式的深入分析表明，算法可进一步得到简化。</a:t>
            </a:r>
          </a:p>
          <a:p>
            <a:pPr>
              <a:lnSpc>
                <a:spcPct val="90000"/>
              </a:lnSpc>
            </a:pPr>
            <a:r>
              <a:rPr lang="zh-CN" altLang="en-US" sz="2000" dirty="0"/>
              <a:t>设</a:t>
            </a:r>
            <a:r>
              <a:rPr lang="en-US" altLang="zh-CN" sz="2000" dirty="0"/>
              <a:t>π</a:t>
            </a:r>
            <a:r>
              <a:rPr lang="zh-CN" altLang="en-US" sz="2000" dirty="0"/>
              <a:t>是作业集</a:t>
            </a:r>
            <a:r>
              <a:rPr lang="en-US" altLang="zh-CN" sz="2000" dirty="0"/>
              <a:t>S</a:t>
            </a:r>
            <a:r>
              <a:rPr lang="zh-CN" altLang="en-US" sz="2000" dirty="0"/>
              <a:t>在机器</a:t>
            </a:r>
            <a:r>
              <a:rPr lang="en-US" altLang="zh-CN" sz="2000" dirty="0" err="1"/>
              <a:t>M2</a:t>
            </a:r>
            <a:r>
              <a:rPr lang="zh-CN" altLang="en-US" sz="2000" dirty="0"/>
              <a:t>的等待时间为</a:t>
            </a:r>
            <a:r>
              <a:rPr lang="en-US" altLang="zh-CN" sz="2000" dirty="0"/>
              <a:t>t</a:t>
            </a:r>
            <a:r>
              <a:rPr lang="zh-CN" altLang="en-US" sz="2000" dirty="0"/>
              <a:t>时的任一最优调度。若</a:t>
            </a:r>
            <a:r>
              <a:rPr lang="en-US" altLang="zh-CN" sz="2000" dirty="0"/>
              <a:t>π(1)=</a:t>
            </a:r>
            <a:r>
              <a:rPr lang="en-US" altLang="zh-CN" sz="2000" dirty="0" err="1"/>
              <a:t>i</a:t>
            </a:r>
            <a:r>
              <a:rPr lang="en-US" altLang="zh-CN" sz="2000" dirty="0"/>
              <a:t>, π(2)=j</a:t>
            </a:r>
            <a:r>
              <a:rPr lang="zh-CN" altLang="en-US" sz="2000" dirty="0"/>
              <a:t>。则由动态规划递归式可得：</a:t>
            </a:r>
          </a:p>
          <a:p>
            <a:pPr algn="r">
              <a:lnSpc>
                <a:spcPct val="90000"/>
              </a:lnSpc>
              <a:buNone/>
            </a:pPr>
            <a:r>
              <a:rPr lang="en-US" altLang="zh-CN" sz="2000" dirty="0"/>
              <a:t>T(</a:t>
            </a:r>
            <a:r>
              <a:rPr lang="en-US" altLang="zh-CN" sz="2000" dirty="0" err="1"/>
              <a:t>S,t</a:t>
            </a:r>
            <a:r>
              <a:rPr lang="en-US" altLang="zh-CN" sz="2000" dirty="0"/>
              <a:t>)=</a:t>
            </a:r>
            <a:r>
              <a:rPr lang="en-US" altLang="zh-CN" sz="2000" dirty="0" err="1"/>
              <a:t>ai+T</a:t>
            </a:r>
            <a:r>
              <a:rPr lang="en-US" altLang="zh-CN" sz="2000" dirty="0"/>
              <a:t>(S-{</a:t>
            </a:r>
            <a:r>
              <a:rPr lang="en-US" altLang="zh-CN" sz="2000" dirty="0" err="1"/>
              <a:t>i</a:t>
            </a:r>
            <a:r>
              <a:rPr lang="en-US" altLang="zh-CN" sz="2000" dirty="0"/>
              <a:t>},</a:t>
            </a:r>
            <a:r>
              <a:rPr lang="en-US" altLang="zh-CN" sz="2000" dirty="0" err="1"/>
              <a:t>bi+max</a:t>
            </a:r>
            <a:r>
              <a:rPr lang="en-US" altLang="zh-CN" sz="2000" dirty="0"/>
              <a:t>{t-</a:t>
            </a:r>
            <a:r>
              <a:rPr lang="en-US" altLang="zh-CN" sz="2000" dirty="0" err="1"/>
              <a:t>ai,0</a:t>
            </a:r>
            <a:r>
              <a:rPr lang="en-US" altLang="zh-CN" sz="2000" dirty="0"/>
              <a:t>})=</a:t>
            </a:r>
            <a:r>
              <a:rPr lang="en-US" altLang="zh-CN" sz="2000" dirty="0" err="1"/>
              <a:t>ai+aj+T</a:t>
            </a:r>
            <a:r>
              <a:rPr lang="en-US" altLang="zh-CN" sz="2000" dirty="0"/>
              <a:t>(S-{</a:t>
            </a:r>
            <a:r>
              <a:rPr lang="en-US" altLang="zh-CN" sz="2000" dirty="0" err="1"/>
              <a:t>i,j</a:t>
            </a:r>
            <a:r>
              <a:rPr lang="en-US" altLang="zh-CN" sz="2000" dirty="0"/>
              <a:t>},</a:t>
            </a:r>
            <a:r>
              <a:rPr lang="en-US" altLang="zh-CN" sz="2000" dirty="0" err="1"/>
              <a:t>tij</a:t>
            </a:r>
            <a:r>
              <a:rPr lang="en-US" altLang="zh-CN" sz="2000" dirty="0"/>
              <a:t>)</a:t>
            </a:r>
          </a:p>
          <a:p>
            <a:pPr>
              <a:lnSpc>
                <a:spcPct val="90000"/>
              </a:lnSpc>
              <a:spcAft>
                <a:spcPct val="400000"/>
              </a:spcAft>
            </a:pPr>
            <a:r>
              <a:rPr lang="zh-CN" altLang="en-US" sz="2000" dirty="0"/>
              <a:t>其中，</a:t>
            </a:r>
          </a:p>
          <a:p>
            <a:pPr>
              <a:lnSpc>
                <a:spcPct val="90000"/>
              </a:lnSpc>
            </a:pPr>
            <a:endParaRPr lang="en-US" altLang="zh-CN" sz="2000" dirty="0"/>
          </a:p>
          <a:p>
            <a:pPr>
              <a:lnSpc>
                <a:spcPct val="90000"/>
              </a:lnSpc>
            </a:pPr>
            <a:endParaRPr lang="en-US" altLang="zh-CN" sz="2000" dirty="0"/>
          </a:p>
          <a:p>
            <a:pPr>
              <a:lnSpc>
                <a:spcPct val="90000"/>
              </a:lnSpc>
            </a:pPr>
            <a:endParaRPr lang="en-US" altLang="zh-CN" sz="2000" dirty="0"/>
          </a:p>
          <a:p>
            <a:pPr>
              <a:lnSpc>
                <a:spcPct val="90000"/>
              </a:lnSpc>
            </a:pPr>
            <a:r>
              <a:rPr lang="zh-CN" altLang="en-US" sz="2000" dirty="0"/>
              <a:t>如果作业</a:t>
            </a:r>
            <a:r>
              <a:rPr lang="en-US" altLang="zh-CN" sz="2000" dirty="0" err="1"/>
              <a:t>i</a:t>
            </a:r>
            <a:r>
              <a:rPr lang="zh-CN" altLang="en-US" sz="2000" dirty="0"/>
              <a:t>和</a:t>
            </a:r>
            <a:r>
              <a:rPr lang="en-US" altLang="zh-CN" sz="2000" dirty="0"/>
              <a:t>j</a:t>
            </a:r>
            <a:r>
              <a:rPr lang="zh-CN" altLang="en-US" sz="2000" dirty="0"/>
              <a:t>满足</a:t>
            </a:r>
            <a:r>
              <a:rPr lang="en-US" altLang="zh-CN" sz="2000" dirty="0"/>
              <a:t>min{</a:t>
            </a:r>
            <a:r>
              <a:rPr lang="en-US" altLang="zh-CN" sz="2000" dirty="0" err="1"/>
              <a:t>bi,aj</a:t>
            </a:r>
            <a:r>
              <a:rPr lang="en-US" altLang="zh-CN" sz="2000" dirty="0"/>
              <a:t>}≥min{</a:t>
            </a:r>
            <a:r>
              <a:rPr lang="en-US" altLang="zh-CN" sz="2000" dirty="0" err="1"/>
              <a:t>bj,ai</a:t>
            </a:r>
            <a:r>
              <a:rPr lang="en-US" altLang="zh-CN" sz="2000" dirty="0"/>
              <a:t>}</a:t>
            </a:r>
            <a:r>
              <a:rPr lang="zh-CN" altLang="en-US" sz="2000" dirty="0"/>
              <a:t>，则称作业</a:t>
            </a:r>
            <a:r>
              <a:rPr lang="en-US" altLang="zh-CN" sz="2000" dirty="0" err="1"/>
              <a:t>i</a:t>
            </a:r>
            <a:r>
              <a:rPr lang="zh-CN" altLang="en-US" sz="2000" dirty="0"/>
              <a:t>和</a:t>
            </a:r>
            <a:r>
              <a:rPr lang="en-US" altLang="zh-CN" sz="2000" dirty="0"/>
              <a:t>j</a:t>
            </a:r>
            <a:r>
              <a:rPr lang="zh-CN" altLang="en-US" sz="2000" dirty="0"/>
              <a:t>满足</a:t>
            </a:r>
            <a:r>
              <a:rPr lang="en-US" altLang="zh-CN" sz="2000" dirty="0"/>
              <a:t>Johnson</a:t>
            </a:r>
            <a:r>
              <a:rPr lang="zh-CN" altLang="en-US" sz="2000" dirty="0"/>
              <a:t>不等式。</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0" cap="none" spc="0" normalizeH="0" baseline="0" noProof="0" dirty="0">
              <a:ln>
                <a:noFill/>
              </a:ln>
              <a:solidFill>
                <a:schemeClr val="accent2"/>
              </a:solidFill>
              <a:effectLst/>
              <a:uLnTx/>
              <a:uFillTx/>
              <a:latin typeface="+mn-ea"/>
              <a:ea typeface="+mn-ea"/>
              <a:cs typeface="+mn-cs"/>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100</a:t>
            </a:fld>
            <a:endParaRPr lang="en-US" altLang="zh-CN" sz="1400" b="0" dirty="0"/>
          </a:p>
        </p:txBody>
      </p:sp>
      <p:sp>
        <p:nvSpPr>
          <p:cNvPr id="8198"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4.3.7 </a:t>
            </a:r>
            <a:r>
              <a:rPr lang="zh-CN" altLang="en-US" dirty="0">
                <a:latin typeface="+mj-ea"/>
              </a:rPr>
              <a:t>流水线调度问题</a:t>
            </a:r>
            <a:r>
              <a:rPr lang="en-US" altLang="zh-CN" dirty="0">
                <a:latin typeface="+mj-ea"/>
              </a:rPr>
              <a:t>—Johnson</a:t>
            </a:r>
            <a:r>
              <a:rPr lang="zh-CN" altLang="en-US" dirty="0">
                <a:latin typeface="+mj-ea"/>
              </a:rPr>
              <a:t>不等式</a:t>
            </a:r>
            <a:endParaRPr lang="en-US" altLang="zh-CN" dirty="0">
              <a:latin typeface="+mj-ea"/>
            </a:endParaRPr>
          </a:p>
        </p:txBody>
      </p:sp>
      <p:pic>
        <p:nvPicPr>
          <p:cNvPr id="4" name="图片 3"/>
          <p:cNvPicPr>
            <a:picLocks noChangeAspect="1"/>
          </p:cNvPicPr>
          <p:nvPr/>
        </p:nvPicPr>
        <p:blipFill>
          <a:blip r:embed="rId2"/>
          <a:stretch>
            <a:fillRect/>
          </a:stretch>
        </p:blipFill>
        <p:spPr>
          <a:xfrm>
            <a:off x="2030111" y="2789549"/>
            <a:ext cx="5867702" cy="19432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pPr>
              <a:lnSpc>
                <a:spcPct val="90000"/>
              </a:lnSpc>
              <a:spcBef>
                <a:spcPct val="10000"/>
              </a:spcBef>
            </a:pPr>
            <a:r>
              <a:rPr lang="zh-CN" altLang="en-US" sz="2000" dirty="0"/>
              <a:t>交换作业</a:t>
            </a:r>
            <a:r>
              <a:rPr lang="en-US" altLang="zh-CN" sz="2000" dirty="0" err="1"/>
              <a:t>i</a:t>
            </a:r>
            <a:r>
              <a:rPr lang="zh-CN" altLang="en-US" sz="2000" dirty="0"/>
              <a:t>和作业</a:t>
            </a:r>
            <a:r>
              <a:rPr lang="en-US" altLang="zh-CN" sz="2000" dirty="0"/>
              <a:t>j</a:t>
            </a:r>
            <a:r>
              <a:rPr lang="zh-CN" altLang="en-US" sz="2000" dirty="0"/>
              <a:t>的加工顺序，得到作业集</a:t>
            </a:r>
            <a:r>
              <a:rPr lang="en-US" altLang="zh-CN" sz="2000" dirty="0"/>
              <a:t>S</a:t>
            </a:r>
            <a:r>
              <a:rPr lang="zh-CN" altLang="en-US" sz="2000" dirty="0"/>
              <a:t>的另一调度，它所需的加工时间为</a:t>
            </a:r>
            <a:r>
              <a:rPr lang="en-US" altLang="zh-CN" sz="2000" dirty="0"/>
              <a:t>T’(</a:t>
            </a:r>
            <a:r>
              <a:rPr lang="en-US" altLang="zh-CN" sz="2000" dirty="0" err="1"/>
              <a:t>S,t</a:t>
            </a:r>
            <a:r>
              <a:rPr lang="en-US" altLang="zh-CN" sz="2000" dirty="0"/>
              <a:t>)=</a:t>
            </a:r>
            <a:r>
              <a:rPr lang="en-US" altLang="zh-CN" sz="2000" dirty="0" err="1"/>
              <a:t>ai+aj+T</a:t>
            </a:r>
            <a:r>
              <a:rPr lang="en-US" altLang="zh-CN" sz="2000" dirty="0"/>
              <a:t>(S-{</a:t>
            </a:r>
            <a:r>
              <a:rPr lang="en-US" altLang="zh-CN" sz="2000" dirty="0" err="1"/>
              <a:t>i,j</a:t>
            </a:r>
            <a:r>
              <a:rPr lang="en-US" altLang="zh-CN" sz="2000" dirty="0"/>
              <a:t>},</a:t>
            </a:r>
            <a:r>
              <a:rPr lang="en-US" altLang="zh-CN" sz="2000" dirty="0" err="1"/>
              <a:t>tji</a:t>
            </a:r>
            <a:r>
              <a:rPr lang="en-US" altLang="zh-CN" sz="2000" dirty="0"/>
              <a:t>)</a:t>
            </a:r>
          </a:p>
          <a:p>
            <a:pPr>
              <a:lnSpc>
                <a:spcPct val="90000"/>
              </a:lnSpc>
              <a:spcBef>
                <a:spcPct val="10000"/>
              </a:spcBef>
            </a:pPr>
            <a:r>
              <a:rPr lang="zh-CN" altLang="en-US" sz="2000" dirty="0"/>
              <a:t>其中，</a:t>
            </a:r>
            <a:endParaRPr lang="en-US" altLang="zh-CN" sz="2000" dirty="0"/>
          </a:p>
          <a:p>
            <a:pPr>
              <a:lnSpc>
                <a:spcPct val="90000"/>
              </a:lnSpc>
              <a:spcBef>
                <a:spcPct val="10000"/>
              </a:spcBef>
            </a:pPr>
            <a:endParaRPr lang="zh-CN" altLang="en-US" sz="2000" dirty="0"/>
          </a:p>
          <a:p>
            <a:pPr>
              <a:lnSpc>
                <a:spcPct val="90000"/>
              </a:lnSpc>
              <a:spcBef>
                <a:spcPct val="10000"/>
              </a:spcBef>
              <a:spcAft>
                <a:spcPct val="450000"/>
              </a:spcAft>
            </a:pPr>
            <a:r>
              <a:rPr lang="zh-CN" altLang="en-US" sz="2000" dirty="0"/>
              <a:t>当作业</a:t>
            </a:r>
            <a:r>
              <a:rPr lang="en-US" altLang="zh-CN" sz="2000" dirty="0" err="1"/>
              <a:t>i</a:t>
            </a:r>
            <a:r>
              <a:rPr lang="zh-CN" altLang="en-US" sz="2000" dirty="0"/>
              <a:t>和</a:t>
            </a:r>
            <a:r>
              <a:rPr lang="en-US" altLang="zh-CN" sz="2000" dirty="0"/>
              <a:t>j</a:t>
            </a:r>
            <a:r>
              <a:rPr lang="zh-CN" altLang="en-US" sz="2000" dirty="0"/>
              <a:t>满足</a:t>
            </a:r>
            <a:r>
              <a:rPr lang="en-US" altLang="zh-CN" sz="2000" dirty="0"/>
              <a:t>Johnson</a:t>
            </a:r>
            <a:r>
              <a:rPr lang="zh-CN" altLang="en-US" sz="2000" dirty="0"/>
              <a:t>不等式时，有</a:t>
            </a:r>
          </a:p>
          <a:p>
            <a:pPr>
              <a:lnSpc>
                <a:spcPct val="90000"/>
              </a:lnSpc>
              <a:spcBef>
                <a:spcPct val="10000"/>
              </a:spcBef>
            </a:pPr>
            <a:endParaRPr lang="en-US" altLang="zh-CN" sz="2000" dirty="0"/>
          </a:p>
          <a:p>
            <a:pPr>
              <a:lnSpc>
                <a:spcPct val="90000"/>
              </a:lnSpc>
              <a:spcBef>
                <a:spcPct val="10000"/>
              </a:spcBef>
            </a:pPr>
            <a:r>
              <a:rPr lang="zh-CN" altLang="en-US" sz="2000" dirty="0"/>
              <a:t>由此可见当作业</a:t>
            </a:r>
            <a:r>
              <a:rPr lang="en-US" altLang="zh-CN" sz="2000" dirty="0" err="1"/>
              <a:t>i</a:t>
            </a:r>
            <a:r>
              <a:rPr lang="zh-CN" altLang="en-US" sz="2000" dirty="0"/>
              <a:t>和作业</a:t>
            </a:r>
            <a:r>
              <a:rPr lang="en-US" altLang="zh-CN" sz="2000" dirty="0"/>
              <a:t>j</a:t>
            </a:r>
            <a:r>
              <a:rPr lang="zh-CN" altLang="en-US" sz="2000" dirty="0"/>
              <a:t>不满足</a:t>
            </a:r>
            <a:r>
              <a:rPr lang="en-US" altLang="zh-CN" sz="2000" dirty="0"/>
              <a:t>Johnson</a:t>
            </a:r>
            <a:r>
              <a:rPr lang="zh-CN" altLang="en-US" sz="2000" dirty="0"/>
              <a:t>不等式时，交换它们的加工顺序后，不增加加工时间。对于流水作业调度问题，必存在最优调度</a:t>
            </a:r>
            <a:r>
              <a:rPr lang="en-US" altLang="zh-CN" sz="2000" dirty="0"/>
              <a:t> </a:t>
            </a:r>
            <a:r>
              <a:rPr lang="zh-CN" altLang="en-US" sz="2000" dirty="0"/>
              <a:t>，使得作业</a:t>
            </a:r>
            <a:r>
              <a:rPr lang="en-US" altLang="zh-CN" sz="2000" dirty="0"/>
              <a:t>(</a:t>
            </a:r>
            <a:r>
              <a:rPr lang="en-US" altLang="zh-CN" sz="2000" dirty="0" err="1"/>
              <a:t>i</a:t>
            </a:r>
            <a:r>
              <a:rPr lang="en-US" altLang="zh-CN" sz="2000" dirty="0"/>
              <a:t>)</a:t>
            </a:r>
            <a:r>
              <a:rPr lang="zh-CN" altLang="en-US" sz="2000" dirty="0"/>
              <a:t>和</a:t>
            </a:r>
            <a:r>
              <a:rPr lang="en-US" altLang="zh-CN" sz="2000" dirty="0"/>
              <a:t>(</a:t>
            </a:r>
            <a:r>
              <a:rPr lang="en-US" altLang="zh-CN" sz="2000" dirty="0" err="1"/>
              <a:t>i+1</a:t>
            </a:r>
            <a:r>
              <a:rPr lang="en-US" altLang="zh-CN" sz="2000" dirty="0"/>
              <a:t>)</a:t>
            </a:r>
            <a:r>
              <a:rPr lang="zh-CN" altLang="en-US" sz="2000" dirty="0"/>
              <a:t>满足</a:t>
            </a:r>
            <a:r>
              <a:rPr lang="en-US" altLang="zh-CN" sz="2000" dirty="0"/>
              <a:t>Johnson</a:t>
            </a:r>
            <a:r>
              <a:rPr lang="zh-CN" altLang="en-US" sz="2000" dirty="0"/>
              <a:t>不等式。进一步还可以证明，调度满足</a:t>
            </a:r>
            <a:r>
              <a:rPr lang="en-US" altLang="zh-CN" sz="2000" dirty="0"/>
              <a:t>Johnson</a:t>
            </a:r>
            <a:r>
              <a:rPr lang="zh-CN" altLang="en-US" sz="2000" dirty="0"/>
              <a:t>法则当且仅当对任意</a:t>
            </a:r>
            <a:r>
              <a:rPr lang="en-US" altLang="zh-CN" sz="2000" dirty="0" err="1"/>
              <a:t>i</a:t>
            </a:r>
            <a:r>
              <a:rPr lang="en-US" altLang="zh-CN" sz="2000" dirty="0"/>
              <a:t>&lt;j</a:t>
            </a:r>
            <a:r>
              <a:rPr lang="zh-CN" altLang="en-US" sz="2000" dirty="0"/>
              <a:t>有</a:t>
            </a:r>
            <a:endParaRPr lang="en-US" altLang="zh-CN" sz="2000" dirty="0"/>
          </a:p>
          <a:p>
            <a:pPr>
              <a:lnSpc>
                <a:spcPct val="90000"/>
              </a:lnSpc>
              <a:spcBef>
                <a:spcPct val="10000"/>
              </a:spcBef>
            </a:pPr>
            <a:endParaRPr lang="zh-CN" altLang="en-US" sz="2000" dirty="0"/>
          </a:p>
          <a:p>
            <a:pPr>
              <a:lnSpc>
                <a:spcPct val="90000"/>
              </a:lnSpc>
              <a:spcBef>
                <a:spcPct val="10000"/>
              </a:spcBef>
            </a:pPr>
            <a:r>
              <a:rPr lang="zh-CN" altLang="en-US" sz="2000" dirty="0">
                <a:solidFill>
                  <a:srgbClr val="FF0000"/>
                </a:solidFill>
              </a:rPr>
              <a:t>由此可知，所有满足</a:t>
            </a:r>
            <a:r>
              <a:rPr lang="en-US" altLang="zh-CN" sz="2000" dirty="0">
                <a:solidFill>
                  <a:srgbClr val="FF0000"/>
                </a:solidFill>
              </a:rPr>
              <a:t>Johnson</a:t>
            </a:r>
            <a:r>
              <a:rPr lang="zh-CN" altLang="en-US" sz="2000" dirty="0">
                <a:solidFill>
                  <a:srgbClr val="FF0000"/>
                </a:solidFill>
              </a:rPr>
              <a:t>法则的调度均为最优调度。</a:t>
            </a:r>
            <a:endParaRPr kumimoji="0" lang="zh-CN" altLang="en-US" sz="2400" b="0" i="0" u="none" strike="noStrike" kern="0" cap="none" spc="0" normalizeH="0" baseline="0" noProof="0" dirty="0">
              <a:ln>
                <a:noFill/>
              </a:ln>
              <a:solidFill>
                <a:srgbClr val="FF0000"/>
              </a:solidFill>
              <a:effectLst/>
              <a:uLnTx/>
              <a:uFillTx/>
              <a:latin typeface="+mn-ea"/>
            </a:endParaRP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101</a:t>
            </a:fld>
            <a:endParaRPr lang="en-US" altLang="zh-CN" sz="1400" b="0" dirty="0"/>
          </a:p>
        </p:txBody>
      </p:sp>
      <p:sp>
        <p:nvSpPr>
          <p:cNvPr id="8198"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4.3.7 </a:t>
            </a:r>
            <a:r>
              <a:rPr lang="zh-CN" altLang="en-US" dirty="0">
                <a:latin typeface="+mj-ea"/>
              </a:rPr>
              <a:t>流水线调度问题</a:t>
            </a:r>
            <a:r>
              <a:rPr lang="en-US" altLang="zh-CN" dirty="0">
                <a:latin typeface="+mj-ea"/>
              </a:rPr>
              <a:t>—Johnson</a:t>
            </a:r>
            <a:r>
              <a:rPr lang="zh-CN" altLang="en-US" dirty="0">
                <a:latin typeface="+mj-ea"/>
              </a:rPr>
              <a:t>不等式</a:t>
            </a:r>
            <a:endParaRPr lang="en-US" altLang="zh-CN" dirty="0">
              <a:latin typeface="+mj-ea"/>
            </a:endParaRPr>
          </a:p>
        </p:txBody>
      </p:sp>
      <p:pic>
        <p:nvPicPr>
          <p:cNvPr id="2" name="图片 1"/>
          <p:cNvPicPr>
            <a:picLocks noChangeAspect="1"/>
          </p:cNvPicPr>
          <p:nvPr/>
        </p:nvPicPr>
        <p:blipFill>
          <a:blip r:embed="rId2"/>
          <a:stretch>
            <a:fillRect/>
          </a:stretch>
        </p:blipFill>
        <p:spPr>
          <a:xfrm>
            <a:off x="2030166" y="1844824"/>
            <a:ext cx="4800847" cy="400071"/>
          </a:xfrm>
          <a:prstGeom prst="rect">
            <a:avLst/>
          </a:prstGeom>
        </p:spPr>
      </p:pic>
      <p:pic>
        <p:nvPicPr>
          <p:cNvPr id="5" name="图片 4"/>
          <p:cNvPicPr>
            <a:picLocks noChangeAspect="1"/>
          </p:cNvPicPr>
          <p:nvPr/>
        </p:nvPicPr>
        <p:blipFill>
          <a:blip r:embed="rId3"/>
          <a:stretch>
            <a:fillRect/>
          </a:stretch>
        </p:blipFill>
        <p:spPr>
          <a:xfrm>
            <a:off x="2030166" y="2821306"/>
            <a:ext cx="4940554" cy="1632034"/>
          </a:xfrm>
          <a:prstGeom prst="rect">
            <a:avLst/>
          </a:prstGeom>
        </p:spPr>
      </p:pic>
      <p:pic>
        <p:nvPicPr>
          <p:cNvPr id="6" name="图片 5"/>
          <p:cNvPicPr>
            <a:picLocks noChangeAspect="1"/>
          </p:cNvPicPr>
          <p:nvPr/>
        </p:nvPicPr>
        <p:blipFill>
          <a:blip r:embed="rId4"/>
          <a:stretch>
            <a:fillRect/>
          </a:stretch>
        </p:blipFill>
        <p:spPr>
          <a:xfrm>
            <a:off x="2841547" y="5568204"/>
            <a:ext cx="3029106" cy="342918"/>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00113" y="1268413"/>
            <a:ext cx="7786688" cy="4525963"/>
          </a:xfrm>
        </p:spPr>
        <p:txBody>
          <a:bodyPr vert="horz" wrap="square" lIns="91440" tIns="45720" rIns="91440" bIns="45720" numCol="1" anchor="t" anchorCtr="0" compatLnSpc="1"/>
          <a:lstStyle/>
          <a:p>
            <a:r>
              <a:rPr lang="zh-CN" altLang="en-US" dirty="0"/>
              <a:t>流水作业调度问题的</a:t>
            </a:r>
            <a:r>
              <a:rPr lang="en-US" altLang="zh-CN" dirty="0"/>
              <a:t>Johnson</a:t>
            </a:r>
            <a:r>
              <a:rPr lang="zh-CN" altLang="en-US" dirty="0"/>
              <a:t>算法：</a:t>
            </a:r>
          </a:p>
          <a:p>
            <a:pPr lvl="1"/>
            <a:r>
              <a:rPr lang="zh-CN" altLang="en-US" sz="2400" dirty="0">
                <a:latin typeface="+mn-ea"/>
                <a:ea typeface="+mn-ea"/>
              </a:rPr>
              <a:t>令</a:t>
            </a:r>
            <a:r>
              <a:rPr lang="en-US" altLang="zh-CN" sz="2400" dirty="0" err="1">
                <a:latin typeface="+mn-ea"/>
                <a:ea typeface="+mn-ea"/>
              </a:rPr>
              <a:t>N</a:t>
            </a:r>
            <a:r>
              <a:rPr lang="en-US" altLang="zh-CN" sz="2400" baseline="-25000" dirty="0" err="1">
                <a:latin typeface="+mn-ea"/>
                <a:ea typeface="+mn-ea"/>
              </a:rPr>
              <a:t>1</a:t>
            </a:r>
            <a:r>
              <a:rPr lang="en-US" altLang="zh-CN" sz="2400" dirty="0">
                <a:latin typeface="+mn-ea"/>
                <a:ea typeface="+mn-ea"/>
              </a:rPr>
              <a:t>={</a:t>
            </a:r>
            <a:r>
              <a:rPr lang="en-US" altLang="zh-CN" sz="2400" dirty="0" err="1">
                <a:latin typeface="+mn-ea"/>
                <a:ea typeface="+mn-ea"/>
              </a:rPr>
              <a:t>i|a</a:t>
            </a:r>
            <a:r>
              <a:rPr lang="en-US" altLang="zh-CN" sz="2400" baseline="-25000" dirty="0" err="1">
                <a:latin typeface="+mn-ea"/>
                <a:ea typeface="+mn-ea"/>
              </a:rPr>
              <a:t>i</a:t>
            </a:r>
            <a:r>
              <a:rPr lang="en-US" altLang="zh-CN" sz="2400" dirty="0">
                <a:latin typeface="+mn-ea"/>
                <a:ea typeface="+mn-ea"/>
              </a:rPr>
              <a:t>&lt;b</a:t>
            </a:r>
            <a:r>
              <a:rPr lang="en-US" altLang="zh-CN" sz="2400" baseline="-25000" dirty="0">
                <a:latin typeface="+mn-ea"/>
                <a:ea typeface="+mn-ea"/>
              </a:rPr>
              <a:t>i</a:t>
            </a:r>
            <a:r>
              <a:rPr lang="en-US" altLang="zh-CN" sz="2400" dirty="0">
                <a:latin typeface="+mn-ea"/>
                <a:ea typeface="+mn-ea"/>
              </a:rPr>
              <a:t>}</a:t>
            </a:r>
            <a:r>
              <a:rPr lang="zh-CN" altLang="en-US" sz="2400" dirty="0">
                <a:latin typeface="+mn-ea"/>
                <a:ea typeface="+mn-ea"/>
              </a:rPr>
              <a:t>，</a:t>
            </a:r>
            <a:r>
              <a:rPr lang="en-US" altLang="zh-CN" sz="2400" dirty="0" err="1">
                <a:latin typeface="+mn-ea"/>
                <a:ea typeface="+mn-ea"/>
              </a:rPr>
              <a:t>N</a:t>
            </a:r>
            <a:r>
              <a:rPr lang="en-US" altLang="zh-CN" sz="2400" baseline="-25000" dirty="0" err="1">
                <a:latin typeface="+mn-ea"/>
                <a:ea typeface="+mn-ea"/>
              </a:rPr>
              <a:t>2</a:t>
            </a:r>
            <a:r>
              <a:rPr lang="en-US" altLang="zh-CN" sz="2400" dirty="0">
                <a:latin typeface="+mn-ea"/>
                <a:ea typeface="+mn-ea"/>
              </a:rPr>
              <a:t>={</a:t>
            </a:r>
            <a:r>
              <a:rPr lang="en-US" altLang="zh-CN" sz="2400" dirty="0" err="1">
                <a:latin typeface="+mn-ea"/>
                <a:ea typeface="+mn-ea"/>
              </a:rPr>
              <a:t>i|a</a:t>
            </a:r>
            <a:r>
              <a:rPr lang="en-US" altLang="zh-CN" sz="2400" baseline="-25000" dirty="0" err="1">
                <a:latin typeface="+mn-ea"/>
                <a:ea typeface="+mn-ea"/>
              </a:rPr>
              <a:t>i</a:t>
            </a:r>
            <a:r>
              <a:rPr lang="en-US" altLang="zh-CN" sz="2400" dirty="0" err="1">
                <a:latin typeface="+mn-ea"/>
                <a:ea typeface="+mn-ea"/>
              </a:rPr>
              <a:t>≥b</a:t>
            </a:r>
            <a:r>
              <a:rPr lang="en-US" altLang="zh-CN" sz="2400" baseline="-25000" dirty="0" err="1">
                <a:latin typeface="+mn-ea"/>
                <a:ea typeface="+mn-ea"/>
              </a:rPr>
              <a:t>i</a:t>
            </a:r>
            <a:r>
              <a:rPr lang="en-US" altLang="zh-CN" sz="2400" dirty="0">
                <a:latin typeface="+mn-ea"/>
                <a:ea typeface="+mn-ea"/>
              </a:rPr>
              <a:t>}</a:t>
            </a:r>
            <a:r>
              <a:rPr lang="zh-CN" altLang="en-US" sz="2400" dirty="0">
                <a:latin typeface="+mn-ea"/>
                <a:ea typeface="+mn-ea"/>
              </a:rPr>
              <a:t>；</a:t>
            </a:r>
          </a:p>
          <a:p>
            <a:pPr lvl="1"/>
            <a:r>
              <a:rPr lang="zh-CN" altLang="en-US" sz="2400" dirty="0">
                <a:latin typeface="+mn-ea"/>
                <a:ea typeface="+mn-ea"/>
              </a:rPr>
              <a:t>将</a:t>
            </a:r>
            <a:r>
              <a:rPr lang="en-US" altLang="zh-CN" sz="2400" dirty="0" err="1">
                <a:latin typeface="+mn-ea"/>
                <a:ea typeface="+mn-ea"/>
              </a:rPr>
              <a:t>N</a:t>
            </a:r>
            <a:r>
              <a:rPr lang="en-US" altLang="zh-CN" sz="2400" baseline="-25000" dirty="0" err="1">
                <a:latin typeface="+mn-ea"/>
                <a:ea typeface="+mn-ea"/>
              </a:rPr>
              <a:t>1</a:t>
            </a:r>
            <a:r>
              <a:rPr lang="zh-CN" altLang="en-US" sz="2400" dirty="0">
                <a:latin typeface="+mn-ea"/>
                <a:ea typeface="+mn-ea"/>
              </a:rPr>
              <a:t>中作业依</a:t>
            </a:r>
            <a:r>
              <a:rPr lang="en-US" altLang="zh-CN" sz="2400" dirty="0">
                <a:latin typeface="+mn-ea"/>
                <a:ea typeface="+mn-ea"/>
              </a:rPr>
              <a:t>a</a:t>
            </a:r>
            <a:r>
              <a:rPr lang="en-US" altLang="zh-CN" sz="2400" baseline="-25000" dirty="0">
                <a:latin typeface="+mn-ea"/>
                <a:ea typeface="+mn-ea"/>
              </a:rPr>
              <a:t>i</a:t>
            </a:r>
            <a:r>
              <a:rPr lang="zh-CN" altLang="en-US" sz="2400" dirty="0">
                <a:latin typeface="+mn-ea"/>
                <a:ea typeface="+mn-ea"/>
              </a:rPr>
              <a:t>的非减序排序；将</a:t>
            </a:r>
            <a:r>
              <a:rPr lang="en-US" altLang="zh-CN" sz="2400" dirty="0" err="1">
                <a:latin typeface="+mn-ea"/>
                <a:ea typeface="+mn-ea"/>
              </a:rPr>
              <a:t>N</a:t>
            </a:r>
            <a:r>
              <a:rPr lang="en-US" altLang="zh-CN" sz="2400" baseline="-25000" dirty="0" err="1">
                <a:latin typeface="+mn-ea"/>
                <a:ea typeface="+mn-ea"/>
              </a:rPr>
              <a:t>2</a:t>
            </a:r>
            <a:r>
              <a:rPr lang="zh-CN" altLang="en-US" sz="2400" dirty="0">
                <a:latin typeface="+mn-ea"/>
                <a:ea typeface="+mn-ea"/>
              </a:rPr>
              <a:t>中作业依</a:t>
            </a:r>
            <a:r>
              <a:rPr lang="en-US" altLang="zh-CN" sz="2400" dirty="0">
                <a:latin typeface="+mn-ea"/>
                <a:ea typeface="+mn-ea"/>
              </a:rPr>
              <a:t>b</a:t>
            </a:r>
            <a:r>
              <a:rPr lang="en-US" altLang="zh-CN" sz="2400" baseline="-25000" dirty="0">
                <a:latin typeface="+mn-ea"/>
                <a:ea typeface="+mn-ea"/>
              </a:rPr>
              <a:t>i</a:t>
            </a:r>
            <a:r>
              <a:rPr lang="zh-CN" altLang="en-US" sz="2400" dirty="0">
                <a:latin typeface="+mn-ea"/>
                <a:ea typeface="+mn-ea"/>
              </a:rPr>
              <a:t>的非增序排序；</a:t>
            </a:r>
          </a:p>
          <a:p>
            <a:pPr lvl="1"/>
            <a:r>
              <a:rPr lang="en-US" altLang="zh-CN" sz="2400" dirty="0" err="1">
                <a:latin typeface="+mn-ea"/>
                <a:ea typeface="+mn-ea"/>
              </a:rPr>
              <a:t>N</a:t>
            </a:r>
            <a:r>
              <a:rPr lang="en-US" altLang="zh-CN" sz="2400" baseline="-25000" dirty="0" err="1">
                <a:latin typeface="+mn-ea"/>
                <a:ea typeface="+mn-ea"/>
              </a:rPr>
              <a:t>1</a:t>
            </a:r>
            <a:r>
              <a:rPr lang="zh-CN" altLang="en-US" sz="2400" dirty="0">
                <a:latin typeface="+mn-ea"/>
                <a:ea typeface="+mn-ea"/>
              </a:rPr>
              <a:t>中作业接</a:t>
            </a:r>
            <a:r>
              <a:rPr lang="en-US" altLang="zh-CN" sz="2400" dirty="0" err="1">
                <a:latin typeface="+mn-ea"/>
                <a:ea typeface="+mn-ea"/>
              </a:rPr>
              <a:t>N</a:t>
            </a:r>
            <a:r>
              <a:rPr lang="en-US" altLang="zh-CN" sz="2400" baseline="-25000" dirty="0" err="1">
                <a:latin typeface="+mn-ea"/>
                <a:ea typeface="+mn-ea"/>
              </a:rPr>
              <a:t>2</a:t>
            </a:r>
            <a:r>
              <a:rPr lang="zh-CN" altLang="en-US" sz="2400" dirty="0">
                <a:latin typeface="+mn-ea"/>
                <a:ea typeface="+mn-ea"/>
              </a:rPr>
              <a:t>中作业构成满足</a:t>
            </a:r>
            <a:r>
              <a:rPr lang="en-US" altLang="zh-CN" sz="2400" dirty="0">
                <a:latin typeface="+mn-ea"/>
                <a:ea typeface="+mn-ea"/>
              </a:rPr>
              <a:t>Johnson</a:t>
            </a:r>
            <a:r>
              <a:rPr lang="zh-CN" altLang="en-US" sz="2400" dirty="0">
                <a:latin typeface="+mn-ea"/>
                <a:ea typeface="+mn-ea"/>
              </a:rPr>
              <a:t>法则的最优调度。</a:t>
            </a:r>
          </a:p>
          <a:p>
            <a:r>
              <a:rPr lang="zh-CN" altLang="en-US" dirty="0">
                <a:solidFill>
                  <a:srgbClr val="FF0000"/>
                </a:solidFill>
              </a:rPr>
              <a:t>思考</a:t>
            </a:r>
            <a:r>
              <a:rPr lang="zh-CN" altLang="en-US" dirty="0"/>
              <a:t>：上述步骤得到的作业序列满足</a:t>
            </a:r>
            <a:r>
              <a:rPr lang="en-US" altLang="zh-CN" dirty="0"/>
              <a:t>Johnson</a:t>
            </a:r>
            <a:r>
              <a:rPr lang="zh-CN" altLang="en-US" dirty="0"/>
              <a:t>法则。</a:t>
            </a:r>
          </a:p>
          <a:p>
            <a:r>
              <a:rPr lang="zh-CN" altLang="en-US" dirty="0"/>
              <a:t>算法复杂度分析：算法的主要计算时间花在对作业集的排序。因此，在最坏情况下算法所需的计算时间为</a:t>
            </a:r>
            <a:r>
              <a:rPr lang="en-US" altLang="zh-CN" dirty="0"/>
              <a:t>O(</a:t>
            </a:r>
            <a:r>
              <a:rPr lang="en-US" altLang="zh-CN" dirty="0" err="1"/>
              <a:t>nlogn</a:t>
            </a:r>
            <a:r>
              <a:rPr lang="en-US" altLang="zh-CN" dirty="0"/>
              <a:t>)</a:t>
            </a:r>
            <a:r>
              <a:rPr lang="zh-CN" altLang="en-US" dirty="0"/>
              <a:t>。所需的空间为</a:t>
            </a:r>
            <a:r>
              <a:rPr lang="en-US" altLang="zh-CN" dirty="0"/>
              <a:t>O(n)</a:t>
            </a:r>
            <a:r>
              <a:rPr lang="zh-CN" altLang="en-US" dirty="0"/>
              <a:t>。</a:t>
            </a:r>
          </a:p>
        </p:txBody>
      </p:sp>
      <p:sp>
        <p:nvSpPr>
          <p:cNvPr id="8195" name="日期占位符 3"/>
          <p:cNvSpPr txBox="1">
            <a:spLocks noGrp="1"/>
          </p:cNvSpPr>
          <p:nvPr>
            <p:ph type="dt" sz="half" idx="10"/>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buNone/>
            </a:pPr>
            <a:fld id="{BB962C8B-B14F-4D97-AF65-F5344CB8AC3E}" type="datetime1">
              <a:rPr lang="zh-CN" altLang="en-US" sz="1400" b="0" dirty="0"/>
              <a:t>2024-12-12</a:t>
            </a:fld>
            <a:endParaRPr lang="zh-CN" altLang="en-US" sz="1400" b="0" dirty="0"/>
          </a:p>
        </p:txBody>
      </p:sp>
      <p:sp>
        <p:nvSpPr>
          <p:cNvPr id="8196" name="页脚占位符 4"/>
          <p:cNvSpPr txBox="1">
            <a:spLocks noGrp="1"/>
          </p:cNvSpPr>
          <p:nvPr>
            <p:ph type="ftr" sz="quarter" idx="11"/>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buNone/>
            </a:pPr>
            <a:r>
              <a:rPr lang="en-US" altLang="zh-CN" sz="1400" b="0" dirty="0"/>
              <a:t>Algorithms Design Techniques and Analysis</a:t>
            </a:r>
          </a:p>
        </p:txBody>
      </p:sp>
      <p:sp>
        <p:nvSpPr>
          <p:cNvPr id="819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None/>
            </a:pPr>
            <a:fld id="{9A0DB2DC-4C9A-4742-B13C-FB6460FD3503}" type="slidenum">
              <a:rPr lang="en-US" altLang="zh-CN" sz="1400" b="0" dirty="0"/>
              <a:t>102</a:t>
            </a:fld>
            <a:endParaRPr lang="en-US" altLang="zh-CN" sz="1400" b="0" dirty="0"/>
          </a:p>
        </p:txBody>
      </p:sp>
      <p:sp>
        <p:nvSpPr>
          <p:cNvPr id="8198" name="Rectangle 2"/>
          <p:cNvSpPr>
            <a:spLocks noGrp="1"/>
          </p:cNvSpPr>
          <p:nvPr>
            <p:ph type="title"/>
          </p:nvPr>
        </p:nvSpPr>
        <p:spPr/>
        <p:txBody>
          <a:bodyPr vert="horz" wrap="square" lIns="91440" tIns="45720" rIns="91440" bIns="45720" anchor="ctr" anchorCtr="0"/>
          <a:lstStyle/>
          <a:p>
            <a:pPr eaLnBrk="1" hangingPunct="1"/>
            <a:r>
              <a:rPr lang="en-US" altLang="zh-CN" dirty="0">
                <a:latin typeface="+mj-ea"/>
              </a:rPr>
              <a:t>4.3.7 </a:t>
            </a:r>
            <a:r>
              <a:rPr lang="zh-CN" altLang="en-US" dirty="0">
                <a:latin typeface="+mj-ea"/>
              </a:rPr>
              <a:t>流水线调度问题</a:t>
            </a:r>
            <a:r>
              <a:rPr lang="en-US" altLang="zh-CN" dirty="0">
                <a:latin typeface="+mj-ea"/>
              </a:rPr>
              <a:t>—</a:t>
            </a:r>
            <a:r>
              <a:rPr lang="zh-CN" altLang="en-US" dirty="0">
                <a:latin typeface="+mj-ea"/>
              </a:rPr>
              <a:t>算法分析</a:t>
            </a:r>
            <a:endParaRPr lang="en-US" altLang="zh-CN" dirty="0">
              <a:latin typeface="+mj-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51979f1-3b71-4d7a-9cb7-72beb08d7e48"/>
  <p:tag name="COMMONDATA" val="eyJoZGlkIjoiYTgzY2MxNGI5M2UyZmViNDA3YWY2YTEzOTdmM2JjNWIifQ=="/>
</p:tagLst>
</file>

<file path=ppt/theme/theme1.xml><?xml version="1.0" encoding="utf-8"?>
<a:theme xmlns:a="http://schemas.openxmlformats.org/drawingml/2006/main" name="template">
  <a:themeElements>
    <a:clrScheme nam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mplate">
      <a:majorFont>
        <a:latin typeface="Garamond"/>
        <a:ea typeface="宋体"/>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5890</TotalTime>
  <Words>12209</Words>
  <Application>Microsoft Office PowerPoint</Application>
  <PresentationFormat>全屏显示(4:3)</PresentationFormat>
  <Paragraphs>1425</Paragraphs>
  <Slides>102</Slides>
  <Notes>64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102</vt:i4>
      </vt:variant>
    </vt:vector>
  </HeadingPairs>
  <TitlesOfParts>
    <vt:vector size="115" baseType="lpstr">
      <vt:lpstr>华文楷体</vt:lpstr>
      <vt:lpstr>宋体</vt:lpstr>
      <vt:lpstr>Arial</vt:lpstr>
      <vt:lpstr>Arial Rounded MT Bold</vt:lpstr>
      <vt:lpstr>Consolas</vt:lpstr>
      <vt:lpstr>Garamond</vt:lpstr>
      <vt:lpstr>Symbol</vt:lpstr>
      <vt:lpstr>Times New Roman</vt:lpstr>
      <vt:lpstr>Verdana</vt:lpstr>
      <vt:lpstr>Wingdings</vt:lpstr>
      <vt:lpstr>template</vt:lpstr>
      <vt:lpstr>Equation.3</vt:lpstr>
      <vt:lpstr>Equation.DSMT4</vt:lpstr>
      <vt:lpstr>第4讲 </vt:lpstr>
      <vt:lpstr>主要内容</vt:lpstr>
      <vt:lpstr>主要内容</vt:lpstr>
      <vt:lpstr>4.1.1 递归表达式的归纳求解与迭代求解方法的复杂度对比分析（斐波那契序列、二项式系数）</vt:lpstr>
      <vt:lpstr>递归算法的缺陷</vt:lpstr>
      <vt:lpstr>一种有效算法</vt:lpstr>
      <vt:lpstr>PowerPoint 演示文稿</vt:lpstr>
      <vt:lpstr>PowerPoint 演示文稿</vt:lpstr>
      <vt:lpstr>4.1.2 最优化问题</vt:lpstr>
      <vt:lpstr>4.1.2 最优化问题</vt:lpstr>
      <vt:lpstr>4.1.3 简单问题例的算法描述（矩阵链乘法、最长公共子序列）</vt:lpstr>
      <vt:lpstr>4.1.3 简单问题例的算法描述（矩阵链乘法、最长公共子序列）</vt:lpstr>
      <vt:lpstr>4.1.3 简单问题例的算法描述（矩阵链乘法、最长公共子序列）</vt:lpstr>
      <vt:lpstr>4.1.3 简单问题例的算法描述（矩阵链乘法、最长公共子序列）—蛮力方法: 穷举</vt:lpstr>
      <vt:lpstr>4.1.3 简单问题例的算法描述（矩阵链乘法、最长公共子序列）—蛮力方法: 穷举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4.1.3 简单问题例的算法描述（矩阵链乘法、最长公共子序列）— 蛮力搜索算法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4.1.4 简单问题例算法的分析</vt:lpstr>
      <vt:lpstr>4.1.4 简单问题例算法的分析</vt:lpstr>
      <vt:lpstr>4.1.4 简单问题例算法的分析</vt:lpstr>
      <vt:lpstr>主要内容</vt:lpstr>
      <vt:lpstr>主要内容</vt:lpstr>
      <vt:lpstr>4.2.1 动态规划策略适用的问题分析</vt:lpstr>
      <vt:lpstr>4.2.2 动态规划算法一般框架及特点分析</vt:lpstr>
      <vt:lpstr>4.2.3 动态规划算法设计的关键因素-最优子结构</vt:lpstr>
      <vt:lpstr>4.2.3 动态规划算法设计的关键因素-重叠子问题</vt:lpstr>
      <vt:lpstr>4.2.4 动态规划和分治策略的异同点</vt:lpstr>
      <vt:lpstr>主要内容</vt:lpstr>
      <vt:lpstr>主要内容</vt:lpstr>
      <vt:lpstr>4.3.1 所有点对最短路径问题</vt:lpstr>
      <vt:lpstr>4.3.1 所有点对最短路径问题</vt:lpstr>
      <vt:lpstr>4.3.1 所有点对最短路径问题—递推式</vt:lpstr>
      <vt:lpstr>4.3.1 所有点对最短路径问题—Floyd算法</vt:lpstr>
      <vt:lpstr>4.3.1 所有点对最短路径问题—例子</vt:lpstr>
      <vt:lpstr>4.3.1 所有点对最短路径问题—伪代码</vt:lpstr>
      <vt:lpstr>4.3.1 所有点对最短路径问题—空间复杂度</vt:lpstr>
      <vt:lpstr>4.3.1 所有点对最短路径问题—Floyd与Dijkstra算法比较</vt:lpstr>
      <vt:lpstr>4.3.2 0/1背包问题</vt:lpstr>
      <vt:lpstr>4.3.2 0/1背包问题</vt:lpstr>
      <vt:lpstr>4.3.2 0/1背包问题—基本思想</vt:lpstr>
      <vt:lpstr>4.3.2 0/1背包问题—基本思想</vt:lpstr>
      <vt:lpstr>4.3.2 0/1背包问题—观察结论</vt:lpstr>
      <vt:lpstr>4.3.2 0/1背包问题—伪代码</vt:lpstr>
      <vt:lpstr>4.3.2 0/1背包问题—例子</vt:lpstr>
      <vt:lpstr>4.3.2 0/1背包问题—算法分析</vt:lpstr>
      <vt:lpstr>4.3.3 多段图问题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4.3.4 最优二分检索树问题</vt:lpstr>
      <vt:lpstr>4.3.4 最优二分检索树问题</vt:lpstr>
      <vt:lpstr>4.3.4 最优二分检索树问题</vt:lpstr>
      <vt:lpstr>4.3.4 最优二分检索树问题—期望耗费</vt:lpstr>
      <vt:lpstr>4.3.4 最优二分检索树问题</vt:lpstr>
      <vt:lpstr>4.3.4 最优二分检索树问题—最优子结构</vt:lpstr>
      <vt:lpstr>4.3.4 最优二分检索树问题—最优子结构</vt:lpstr>
      <vt:lpstr>4.3.5 货郎担问题</vt:lpstr>
      <vt:lpstr>4.3.5 货郎担问题</vt:lpstr>
      <vt:lpstr>4.3.5 货郎担问题</vt:lpstr>
      <vt:lpstr>4.3.5 货郎担问题</vt:lpstr>
      <vt:lpstr>4.3.5 货郎担问题</vt:lpstr>
      <vt:lpstr>4.3.5 货郎担问题</vt:lpstr>
      <vt:lpstr>4.3.5 货郎担问题</vt:lpstr>
      <vt:lpstr>4.3.5 货郎担问题</vt:lpstr>
      <vt:lpstr>4.3.6 可靠性设计问题</vt:lpstr>
      <vt:lpstr>4.3.6 可靠性设计问题</vt:lpstr>
      <vt:lpstr>PowerPoint 演示文稿</vt:lpstr>
      <vt:lpstr>4.3.6 可靠性设计问题</vt:lpstr>
      <vt:lpstr>4.3.6 可靠性设计问题</vt:lpstr>
      <vt:lpstr>4.3.7 流水线调度问题</vt:lpstr>
      <vt:lpstr>4.3.7 流水线调度问题</vt:lpstr>
      <vt:lpstr>4.3.7 流水线调度问题</vt:lpstr>
      <vt:lpstr>4.3.7 流水线调度问题—Johnson不等式</vt:lpstr>
      <vt:lpstr>4.3.7 流水线调度问题—Johnson不等式</vt:lpstr>
      <vt:lpstr>4.3.7 流水线调度问题—算法分析</vt:lpstr>
    </vt:vector>
  </TitlesOfParts>
  <Company> dd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Programming</dc:title>
  <dc:creator>dwy</dc:creator>
  <cp:lastModifiedBy>651359657@qq.com</cp:lastModifiedBy>
  <cp:revision>1027</cp:revision>
  <dcterms:created xsi:type="dcterms:W3CDTF">2006-04-06T03:34:00Z</dcterms:created>
  <dcterms:modified xsi:type="dcterms:W3CDTF">2024-12-12T14:01:17Z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535B9D116277414FB5EDFF76672E4CC3</vt:lpwstr>
  </property>
  <property fmtid="{D5CDD505-2E9C-101B-9397-08002B2CF9AE}" pid="3" name="KSOProductBuildVer">
    <vt:lpwstr>2052-11.1.0.12763</vt:lpwstr>
  </property>
</Properties>
</file>