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91"/>
  </p:notesMasterIdLst>
  <p:sldIdLst>
    <p:sldId id="256" r:id="rId3"/>
    <p:sldId id="425" r:id="rId4"/>
    <p:sldId id="426" r:id="rId5"/>
    <p:sldId id="427" r:id="rId6"/>
    <p:sldId id="257" r:id="rId7"/>
    <p:sldId id="432" r:id="rId8"/>
    <p:sldId id="433" r:id="rId9"/>
    <p:sldId id="434" r:id="rId10"/>
    <p:sldId id="435" r:id="rId11"/>
    <p:sldId id="430" r:id="rId12"/>
    <p:sldId id="431" r:id="rId13"/>
    <p:sldId id="438" r:id="rId14"/>
    <p:sldId id="259" r:id="rId15"/>
    <p:sldId id="260" r:id="rId16"/>
    <p:sldId id="261" r:id="rId17"/>
    <p:sldId id="326" r:id="rId18"/>
    <p:sldId id="262" r:id="rId19"/>
    <p:sldId id="333" r:id="rId20"/>
    <p:sldId id="334" r:id="rId21"/>
    <p:sldId id="303" r:id="rId22"/>
    <p:sldId id="263" r:id="rId23"/>
    <p:sldId id="439" r:id="rId24"/>
    <p:sldId id="440" r:id="rId25"/>
    <p:sldId id="436" r:id="rId26"/>
    <p:sldId id="437" r:id="rId27"/>
    <p:sldId id="301" r:id="rId28"/>
    <p:sldId id="269" r:id="rId29"/>
    <p:sldId id="300" r:id="rId30"/>
    <p:sldId id="321" r:id="rId31"/>
    <p:sldId id="323" r:id="rId32"/>
    <p:sldId id="320" r:id="rId33"/>
    <p:sldId id="428" r:id="rId34"/>
    <p:sldId id="319" r:id="rId35"/>
    <p:sldId id="332" r:id="rId36"/>
    <p:sldId id="359" r:id="rId37"/>
    <p:sldId id="267" r:id="rId38"/>
    <p:sldId id="268" r:id="rId39"/>
    <p:sldId id="272" r:id="rId40"/>
    <p:sldId id="322" r:id="rId41"/>
    <p:sldId id="324" r:id="rId42"/>
    <p:sldId id="273" r:id="rId43"/>
    <p:sldId id="298" r:id="rId44"/>
    <p:sldId id="325" r:id="rId45"/>
    <p:sldId id="355" r:id="rId46"/>
    <p:sldId id="356" r:id="rId47"/>
    <p:sldId id="357" r:id="rId48"/>
    <p:sldId id="335" r:id="rId49"/>
    <p:sldId id="278" r:id="rId50"/>
    <p:sldId id="277" r:id="rId51"/>
    <p:sldId id="348" r:id="rId52"/>
    <p:sldId id="337" r:id="rId53"/>
    <p:sldId id="338" r:id="rId54"/>
    <p:sldId id="429" r:id="rId55"/>
    <p:sldId id="327" r:id="rId56"/>
    <p:sldId id="275" r:id="rId57"/>
    <p:sldId id="274" r:id="rId58"/>
    <p:sldId id="328" r:id="rId59"/>
    <p:sldId id="329" r:id="rId60"/>
    <p:sldId id="330" r:id="rId61"/>
    <p:sldId id="331" r:id="rId62"/>
    <p:sldId id="341" r:id="rId63"/>
    <p:sldId id="276" r:id="rId64"/>
    <p:sldId id="340" r:id="rId65"/>
    <p:sldId id="279" r:id="rId66"/>
    <p:sldId id="280" r:id="rId67"/>
    <p:sldId id="346" r:id="rId68"/>
    <p:sldId id="347" r:id="rId69"/>
    <p:sldId id="342" r:id="rId70"/>
    <p:sldId id="281" r:id="rId71"/>
    <p:sldId id="358" r:id="rId72"/>
    <p:sldId id="343" r:id="rId73"/>
    <p:sldId id="285" r:id="rId74"/>
    <p:sldId id="286" r:id="rId75"/>
    <p:sldId id="344" r:id="rId76"/>
    <p:sldId id="345" r:id="rId77"/>
    <p:sldId id="349" r:id="rId78"/>
    <p:sldId id="282" r:id="rId79"/>
    <p:sldId id="290" r:id="rId80"/>
    <p:sldId id="362" r:id="rId81"/>
    <p:sldId id="291" r:id="rId82"/>
    <p:sldId id="350" r:id="rId83"/>
    <p:sldId id="351" r:id="rId84"/>
    <p:sldId id="352" r:id="rId85"/>
    <p:sldId id="360" r:id="rId86"/>
    <p:sldId id="361" r:id="rId87"/>
    <p:sldId id="353" r:id="rId88"/>
    <p:sldId id="292" r:id="rId89"/>
    <p:sldId id="354" r:id="rId90"/>
  </p:sldIdLst>
  <p:sldSz cx="9144000" cy="6858000" type="screen4x3"/>
  <p:notesSz cx="6858000" cy="9144000"/>
  <p:custDataLst>
    <p:tags r:id="rId92"/>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12" autoAdjust="0"/>
    <p:restoredTop sz="84644"/>
  </p:normalViewPr>
  <p:slideViewPr>
    <p:cSldViewPr showGuides="1">
      <p:cViewPr varScale="1">
        <p:scale>
          <a:sx n="89" d="100"/>
          <a:sy n="89" d="100"/>
        </p:scale>
        <p:origin x="627"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gs" Target="tags/tag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4199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29B0E71-59FE-4109-80F9-152D5025071C}"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so.csdn.net/so/search?q=%E7%BA%BF%E6%80%A7&amp;spm=1001.2101.3001.7020"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a:t>
            </a:fld>
            <a:endParaRPr lang="en-US" altLang="zh-CN" dirty="0"/>
          </a:p>
        </p:txBody>
      </p:sp>
      <p:sp>
        <p:nvSpPr>
          <p:cNvPr id="5123" name="Rectangle 2"/>
          <p:cNvSpPr>
            <a:spLocks noGrp="1" noRot="1" noChangeAspect="1" noTextEdit="1"/>
          </p:cNvSpPr>
          <p:nvPr>
            <p:ph type="sldImg"/>
          </p:nvPr>
        </p:nvSpPr>
        <p:spPr>
          <a:ln/>
        </p:spPr>
      </p:sp>
      <p:sp>
        <p:nvSpPr>
          <p:cNvPr id="512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ln/>
        </p:spPr>
      </p:sp>
      <p:sp>
        <p:nvSpPr>
          <p:cNvPr id="12291" name="备注占位符 2"/>
          <p:cNvSpPr>
            <a:spLocks noGrp="1"/>
          </p:cNvSpPr>
          <p:nvPr>
            <p:ph type="body" idx="1"/>
          </p:nvPr>
        </p:nvSpPr>
        <p:spPr>
          <a:ln/>
        </p:spPr>
        <p:txBody>
          <a:bodyPr wrap="square" lIns="91440" tIns="45720" rIns="91440" bIns="45720" anchor="t" anchorCtr="0"/>
          <a:lstStyle/>
          <a:p>
            <a:pPr lvl="0"/>
            <a:r>
              <a:rPr lang="en-US" altLang="zh-CN" dirty="0"/>
              <a:t>n,</a:t>
            </a:r>
            <a:r>
              <a:rPr lang="en-US" altLang="zh-CN" b="1" dirty="0">
                <a:solidFill>
                  <a:srgbClr val="000080"/>
                </a:solidFill>
                <a:latin typeface="Times New Roman" panose="02020603050405020304" pitchFamily="18" charset="0"/>
                <a:ea typeface="华文中宋" panose="02010600040101010101" pitchFamily="2" charset="-122"/>
              </a:rPr>
              <a:t> n′</a:t>
            </a:r>
            <a:r>
              <a:rPr lang="zh-CN" altLang="en-US" b="1" dirty="0">
                <a:solidFill>
                  <a:srgbClr val="000080"/>
                </a:solidFill>
                <a:latin typeface="Times New Roman" panose="02020603050405020304" pitchFamily="18" charset="0"/>
                <a:ea typeface="华文中宋" panose="02010600040101010101" pitchFamily="2" charset="-122"/>
              </a:rPr>
              <a:t>表示相同时间，第一台机器处理问题的规模和第二台机器处理问题的规模；</a:t>
            </a:r>
            <a:endParaRPr lang="en-US" altLang="zh-CN" dirty="0">
              <a:ea typeface="华文中宋" panose="02010600040101010101" pitchFamily="2" charset="-122"/>
            </a:endParaRPr>
          </a:p>
          <a:p>
            <a:pPr lvl="0"/>
            <a:endParaRPr lang="zh-CN" altLang="en-US" dirty="0"/>
          </a:p>
        </p:txBody>
      </p:sp>
      <p:sp>
        <p:nvSpPr>
          <p:cNvPr id="122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a:t>
            </a:fld>
            <a:endParaRPr lang="en-US" altLang="zh-CN" dirty="0"/>
          </a:p>
        </p:txBody>
      </p:sp>
    </p:spTree>
    <p:extLst>
      <p:ext uri="{BB962C8B-B14F-4D97-AF65-F5344CB8AC3E}">
        <p14:creationId xmlns:p14="http://schemas.microsoft.com/office/powerpoint/2010/main" val="1567372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9</a:t>
            </a:fld>
            <a:endParaRPr lang="en-US" altLang="zh-CN" dirty="0"/>
          </a:p>
        </p:txBody>
      </p:sp>
      <p:sp>
        <p:nvSpPr>
          <p:cNvPr id="15363" name="Rectangle 2"/>
          <p:cNvSpPr>
            <a:spLocks noGrp="1" noRot="1" noChangeAspect="1" noTextEdit="1"/>
          </p:cNvSpPr>
          <p:nvPr>
            <p:ph type="sldImg"/>
          </p:nvPr>
        </p:nvSpPr>
        <p:spPr>
          <a:ln/>
        </p:spPr>
      </p:sp>
      <p:sp>
        <p:nvSpPr>
          <p:cNvPr id="1536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2664397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10</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872798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11</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3144538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12</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2077037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13</a:t>
            </a:fld>
            <a:endParaRPr lang="en-US" altLang="zh-CN" dirty="0"/>
          </a:p>
        </p:txBody>
      </p:sp>
      <p:sp>
        <p:nvSpPr>
          <p:cNvPr id="17411" name="Rectangle 2"/>
          <p:cNvSpPr>
            <a:spLocks noGrp="1" noRot="1" noChangeAspect="1" noTextEdit="1"/>
          </p:cNvSpPr>
          <p:nvPr>
            <p:ph type="sldImg"/>
          </p:nvPr>
        </p:nvSpPr>
        <p:spPr>
          <a:ln/>
        </p:spPr>
      </p:sp>
      <p:sp>
        <p:nvSpPr>
          <p:cNvPr id="17412"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14</a:t>
            </a:fld>
            <a:endParaRPr lang="en-US" altLang="zh-CN" dirty="0"/>
          </a:p>
        </p:txBody>
      </p:sp>
      <p:sp>
        <p:nvSpPr>
          <p:cNvPr id="19459" name="Rectangle 2"/>
          <p:cNvSpPr>
            <a:spLocks noGrp="1" noRot="1" noChangeAspect="1" noTextEdit="1"/>
          </p:cNvSpPr>
          <p:nvPr>
            <p:ph type="sldImg"/>
          </p:nvPr>
        </p:nvSpPr>
        <p:spPr>
          <a:ln/>
        </p:spPr>
      </p:sp>
      <p:sp>
        <p:nvSpPr>
          <p:cNvPr id="1946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15</a:t>
            </a:fld>
            <a:endParaRPr lang="en-US" altLang="zh-CN" dirty="0"/>
          </a:p>
        </p:txBody>
      </p:sp>
      <p:sp>
        <p:nvSpPr>
          <p:cNvPr id="21507" name="Rectangle 2"/>
          <p:cNvSpPr>
            <a:spLocks noGrp="1" noRot="1" noChangeAspect="1" noTextEdit="1"/>
          </p:cNvSpPr>
          <p:nvPr>
            <p:ph type="sldImg"/>
          </p:nvPr>
        </p:nvSpPr>
        <p:spPr>
          <a:ln/>
        </p:spPr>
      </p:sp>
      <p:sp>
        <p:nvSpPr>
          <p:cNvPr id="21508"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16</a:t>
            </a:fld>
            <a:endParaRPr lang="en-US" altLang="zh-CN" dirty="0"/>
          </a:p>
        </p:txBody>
      </p:sp>
      <p:sp>
        <p:nvSpPr>
          <p:cNvPr id="23555" name="Rectangle 2"/>
          <p:cNvSpPr>
            <a:spLocks noGrp="1" noRot="1" noChangeAspect="1" noTextEdit="1"/>
          </p:cNvSpPr>
          <p:nvPr>
            <p:ph type="sldImg"/>
          </p:nvPr>
        </p:nvSpPr>
        <p:spPr>
          <a:ln/>
        </p:spPr>
      </p:sp>
      <p:sp>
        <p:nvSpPr>
          <p:cNvPr id="23556" name="Rectangle 3"/>
          <p:cNvSpPr>
            <a:spLocks noGrp="1"/>
          </p:cNvSpPr>
          <p:nvPr>
            <p:ph type="body" idx="1"/>
          </p:nvPr>
        </p:nvSpPr>
        <p:spPr>
          <a:ln/>
        </p:spPr>
        <p:txBody>
          <a:bodyPr wrap="square" lIns="91440" tIns="45720" rIns="91440" bIns="45720" anchor="t" anchorCtr="0"/>
          <a:lstStyle/>
          <a:p>
            <a:pPr lvl="0"/>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17</a:t>
            </a:fld>
            <a:endParaRPr lang="en-US" altLang="zh-CN" dirty="0"/>
          </a:p>
        </p:txBody>
      </p:sp>
      <p:sp>
        <p:nvSpPr>
          <p:cNvPr id="25603" name="Rectangle 2"/>
          <p:cNvSpPr>
            <a:spLocks noGrp="1" noRot="1" noChangeAspect="1" noTextEdit="1"/>
          </p:cNvSpPr>
          <p:nvPr>
            <p:ph type="sldImg"/>
          </p:nvPr>
        </p:nvSpPr>
        <p:spPr>
          <a:ln/>
        </p:spPr>
      </p:sp>
      <p:sp>
        <p:nvSpPr>
          <p:cNvPr id="2560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20</a:t>
            </a:fld>
            <a:endParaRPr lang="en-US" altLang="zh-CN" dirty="0"/>
          </a:p>
        </p:txBody>
      </p:sp>
      <p:sp>
        <p:nvSpPr>
          <p:cNvPr id="29699" name="Rectangle 2"/>
          <p:cNvSpPr>
            <a:spLocks noGrp="1" noRot="1" noChangeAspect="1" noTextEdit="1"/>
          </p:cNvSpPr>
          <p:nvPr>
            <p:ph type="sldImg"/>
          </p:nvPr>
        </p:nvSpPr>
        <p:spPr>
          <a:ln/>
        </p:spPr>
      </p:sp>
      <p:sp>
        <p:nvSpPr>
          <p:cNvPr id="2970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21</a:t>
            </a:fld>
            <a:endParaRPr lang="en-US" altLang="zh-CN" dirty="0"/>
          </a:p>
        </p:txBody>
      </p:sp>
      <p:sp>
        <p:nvSpPr>
          <p:cNvPr id="31747" name="Rectangle 2"/>
          <p:cNvSpPr>
            <a:spLocks noGrp="1" noRot="1" noChangeAspect="1" noTextEdit="1"/>
          </p:cNvSpPr>
          <p:nvPr>
            <p:ph type="sldImg"/>
          </p:nvPr>
        </p:nvSpPr>
        <p:spPr>
          <a:ln/>
        </p:spPr>
      </p:sp>
      <p:sp>
        <p:nvSpPr>
          <p:cNvPr id="31748"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23</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2929022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24</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3684662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25</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34997355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27</a:t>
            </a:fld>
            <a:endParaRPr lang="en-US" altLang="zh-CN" dirty="0"/>
          </a:p>
        </p:txBody>
      </p:sp>
      <p:sp>
        <p:nvSpPr>
          <p:cNvPr id="47107" name="Rectangle 2"/>
          <p:cNvSpPr>
            <a:spLocks noGrp="1" noRot="1" noChangeAspect="1" noTextEdit="1"/>
          </p:cNvSpPr>
          <p:nvPr>
            <p:ph type="sldImg"/>
          </p:nvPr>
        </p:nvSpPr>
        <p:spPr>
          <a:ln/>
        </p:spPr>
      </p:sp>
      <p:sp>
        <p:nvSpPr>
          <p:cNvPr id="47108"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3319458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30</a:t>
            </a:fld>
            <a:endParaRPr lang="en-US" altLang="zh-CN" dirty="0"/>
          </a:p>
        </p:txBody>
      </p:sp>
      <p:sp>
        <p:nvSpPr>
          <p:cNvPr id="54275" name="Rectangle 2"/>
          <p:cNvSpPr>
            <a:spLocks noGrp="1" noRot="1" noChangeAspect="1" noTextEdit="1"/>
          </p:cNvSpPr>
          <p:nvPr>
            <p:ph type="sldImg"/>
          </p:nvPr>
        </p:nvSpPr>
        <p:spPr>
          <a:ln/>
        </p:spPr>
      </p:sp>
      <p:sp>
        <p:nvSpPr>
          <p:cNvPr id="54276" name="Rectangle 3"/>
          <p:cNvSpPr>
            <a:spLocks noGrp="1"/>
          </p:cNvSpPr>
          <p:nvPr>
            <p:ph type="body" idx="1"/>
          </p:nvPr>
        </p:nvSpPr>
        <p:spPr>
          <a:ln/>
        </p:spPr>
        <p:txBody>
          <a:bodyPr wrap="square" lIns="91440" tIns="45720" rIns="91440" bIns="45720" anchor="t" anchorCtr="0"/>
          <a:lstStyle/>
          <a:p>
            <a:pPr lvl="0"/>
            <a:endParaRPr lang="zh-CN" altLang="zh-CN" dirty="0"/>
          </a:p>
        </p:txBody>
      </p:sp>
    </p:spTree>
    <p:extLst>
      <p:ext uri="{BB962C8B-B14F-4D97-AF65-F5344CB8AC3E}">
        <p14:creationId xmlns:p14="http://schemas.microsoft.com/office/powerpoint/2010/main" val="560805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33</a:t>
            </a:fld>
            <a:endParaRPr lang="en-US" altLang="zh-CN" dirty="0"/>
          </a:p>
        </p:txBody>
      </p:sp>
      <p:sp>
        <p:nvSpPr>
          <p:cNvPr id="36867" name="Rectangle 2"/>
          <p:cNvSpPr>
            <a:spLocks noGrp="1" noRot="1" noChangeAspect="1" noTextEdit="1"/>
          </p:cNvSpPr>
          <p:nvPr>
            <p:ph type="sldImg"/>
          </p:nvPr>
        </p:nvSpPr>
        <p:spPr>
          <a:ln/>
        </p:spPr>
      </p:sp>
      <p:sp>
        <p:nvSpPr>
          <p:cNvPr id="36868"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34</a:t>
            </a:fld>
            <a:endParaRPr lang="en-US" altLang="zh-CN" dirty="0"/>
          </a:p>
        </p:txBody>
      </p:sp>
      <p:sp>
        <p:nvSpPr>
          <p:cNvPr id="38915" name="Rectangle 2"/>
          <p:cNvSpPr>
            <a:spLocks noGrp="1" noRot="1" noChangeAspect="1" noTextEdit="1"/>
          </p:cNvSpPr>
          <p:nvPr>
            <p:ph type="sldImg"/>
          </p:nvPr>
        </p:nvSpPr>
        <p:spPr>
          <a:ln/>
        </p:spPr>
      </p:sp>
      <p:sp>
        <p:nvSpPr>
          <p:cNvPr id="38916"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36</a:t>
            </a:fld>
            <a:endParaRPr lang="en-US" altLang="zh-CN" dirty="0"/>
          </a:p>
        </p:txBody>
      </p:sp>
      <p:sp>
        <p:nvSpPr>
          <p:cNvPr id="41987" name="Rectangle 2"/>
          <p:cNvSpPr>
            <a:spLocks noGrp="1" noRot="1" noChangeAspect="1" noTextEdit="1"/>
          </p:cNvSpPr>
          <p:nvPr>
            <p:ph type="sldImg"/>
          </p:nvPr>
        </p:nvSpPr>
        <p:spPr>
          <a:ln/>
        </p:spPr>
      </p:sp>
      <p:sp>
        <p:nvSpPr>
          <p:cNvPr id="41988"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37</a:t>
            </a:fld>
            <a:endParaRPr lang="en-US" altLang="zh-CN" dirty="0"/>
          </a:p>
        </p:txBody>
      </p:sp>
      <p:sp>
        <p:nvSpPr>
          <p:cNvPr id="44035" name="Rectangle 2"/>
          <p:cNvSpPr>
            <a:spLocks noGrp="1" noRot="1" noChangeAspect="1" noTextEdit="1"/>
          </p:cNvSpPr>
          <p:nvPr>
            <p:ph type="sldImg"/>
          </p:nvPr>
        </p:nvSpPr>
        <p:spPr>
          <a:ln/>
        </p:spPr>
      </p:sp>
      <p:sp>
        <p:nvSpPr>
          <p:cNvPr id="44036"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38</a:t>
            </a:fld>
            <a:endParaRPr lang="en-US" altLang="zh-CN" dirty="0"/>
          </a:p>
        </p:txBody>
      </p:sp>
      <p:sp>
        <p:nvSpPr>
          <p:cNvPr id="56323" name="Rectangle 2"/>
          <p:cNvSpPr>
            <a:spLocks noGrp="1" noRot="1" noChangeAspect="1" noTextEdit="1"/>
          </p:cNvSpPr>
          <p:nvPr>
            <p:ph type="sldImg"/>
          </p:nvPr>
        </p:nvSpPr>
        <p:spPr>
          <a:ln/>
        </p:spPr>
      </p:sp>
      <p:sp>
        <p:nvSpPr>
          <p:cNvPr id="5632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40</a:t>
            </a:fld>
            <a:endParaRPr lang="en-US" altLang="zh-CN" dirty="0"/>
          </a:p>
        </p:txBody>
      </p:sp>
      <p:sp>
        <p:nvSpPr>
          <p:cNvPr id="59395" name="Rectangle 2"/>
          <p:cNvSpPr>
            <a:spLocks noGrp="1" noRot="1" noChangeAspect="1" noTextEdit="1"/>
          </p:cNvSpPr>
          <p:nvPr>
            <p:ph type="sldImg"/>
          </p:nvPr>
        </p:nvSpPr>
        <p:spPr>
          <a:ln/>
        </p:spPr>
      </p:sp>
      <p:sp>
        <p:nvSpPr>
          <p:cNvPr id="59396" name="Rectangle 3"/>
          <p:cNvSpPr>
            <a:spLocks noGrp="1"/>
          </p:cNvSpPr>
          <p:nvPr>
            <p:ph type="body" idx="1"/>
          </p:nvPr>
        </p:nvSpPr>
        <p:spPr>
          <a:ln/>
        </p:spPr>
        <p:txBody>
          <a:bodyPr wrap="square" lIns="91440" tIns="45720" rIns="91440" bIns="45720" anchor="t" anchorCtr="0"/>
          <a:lstStyle/>
          <a:p>
            <a:pPr lvl="0"/>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41</a:t>
            </a:fld>
            <a:endParaRPr lang="en-US" altLang="zh-CN" dirty="0"/>
          </a:p>
        </p:txBody>
      </p:sp>
      <p:sp>
        <p:nvSpPr>
          <p:cNvPr id="61443" name="Rectangle 2"/>
          <p:cNvSpPr>
            <a:spLocks noGrp="1" noRot="1" noChangeAspect="1" noTextEdit="1"/>
          </p:cNvSpPr>
          <p:nvPr>
            <p:ph type="sldImg"/>
          </p:nvPr>
        </p:nvSpPr>
        <p:spPr>
          <a:ln/>
        </p:spPr>
      </p:sp>
      <p:sp>
        <p:nvSpPr>
          <p:cNvPr id="6144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48</a:t>
            </a:fld>
            <a:endParaRPr lang="en-US" altLang="zh-CN" dirty="0"/>
          </a:p>
        </p:txBody>
      </p:sp>
      <p:sp>
        <p:nvSpPr>
          <p:cNvPr id="81923" name="Rectangle 2"/>
          <p:cNvSpPr>
            <a:spLocks noGrp="1" noRot="1" noChangeAspect="1" noTextEdit="1"/>
          </p:cNvSpPr>
          <p:nvPr>
            <p:ph type="sldImg"/>
          </p:nvPr>
        </p:nvSpPr>
        <p:spPr>
          <a:ln/>
        </p:spPr>
      </p:sp>
      <p:sp>
        <p:nvSpPr>
          <p:cNvPr id="8192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550870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49</a:t>
            </a:fld>
            <a:endParaRPr lang="en-US" altLang="zh-CN" dirty="0"/>
          </a:p>
        </p:txBody>
      </p:sp>
      <p:sp>
        <p:nvSpPr>
          <p:cNvPr id="83971" name="Rectangle 2"/>
          <p:cNvSpPr>
            <a:spLocks noGrp="1" noRot="1" noChangeAspect="1" noTextEdit="1"/>
          </p:cNvSpPr>
          <p:nvPr>
            <p:ph type="sldImg"/>
          </p:nvPr>
        </p:nvSpPr>
        <p:spPr>
          <a:ln/>
        </p:spPr>
      </p:sp>
      <p:sp>
        <p:nvSpPr>
          <p:cNvPr id="83972"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12735030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55</a:t>
            </a:fld>
            <a:endParaRPr lang="en-US" altLang="zh-CN" dirty="0"/>
          </a:p>
        </p:txBody>
      </p:sp>
      <p:sp>
        <p:nvSpPr>
          <p:cNvPr id="71683" name="Rectangle 2"/>
          <p:cNvSpPr>
            <a:spLocks noGrp="1" noRot="1" noChangeAspect="1" noTextEdit="1"/>
          </p:cNvSpPr>
          <p:nvPr>
            <p:ph type="sldImg"/>
          </p:nvPr>
        </p:nvSpPr>
        <p:spPr>
          <a:ln/>
        </p:spPr>
      </p:sp>
      <p:sp>
        <p:nvSpPr>
          <p:cNvPr id="7168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31039415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56</a:t>
            </a:fld>
            <a:endParaRPr lang="en-US" altLang="zh-CN" dirty="0"/>
          </a:p>
        </p:txBody>
      </p:sp>
      <p:sp>
        <p:nvSpPr>
          <p:cNvPr id="68611" name="Rectangle 2"/>
          <p:cNvSpPr>
            <a:spLocks noGrp="1" noRot="1" noChangeAspect="1" noTextEdit="1"/>
          </p:cNvSpPr>
          <p:nvPr>
            <p:ph type="sldImg"/>
          </p:nvPr>
        </p:nvSpPr>
        <p:spPr>
          <a:ln/>
        </p:spPr>
      </p:sp>
      <p:sp>
        <p:nvSpPr>
          <p:cNvPr id="68612"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31939185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62</a:t>
            </a:fld>
            <a:endParaRPr lang="en-US" altLang="zh-CN" dirty="0"/>
          </a:p>
        </p:txBody>
      </p:sp>
      <p:sp>
        <p:nvSpPr>
          <p:cNvPr id="78851" name="Rectangle 2"/>
          <p:cNvSpPr>
            <a:spLocks noGrp="1" noRot="1" noChangeAspect="1" noTextEdit="1"/>
          </p:cNvSpPr>
          <p:nvPr>
            <p:ph type="sldImg"/>
          </p:nvPr>
        </p:nvSpPr>
        <p:spPr>
          <a:ln/>
        </p:spPr>
      </p:sp>
      <p:sp>
        <p:nvSpPr>
          <p:cNvPr id="78852"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41254149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64</a:t>
            </a:fld>
            <a:endParaRPr lang="en-US" altLang="zh-CN" dirty="0"/>
          </a:p>
        </p:txBody>
      </p:sp>
      <p:sp>
        <p:nvSpPr>
          <p:cNvPr id="91139" name="Rectangle 2"/>
          <p:cNvSpPr>
            <a:spLocks noGrp="1" noRot="1" noChangeAspect="1" noTextEdit="1"/>
          </p:cNvSpPr>
          <p:nvPr>
            <p:ph type="sldImg"/>
          </p:nvPr>
        </p:nvSpPr>
        <p:spPr>
          <a:ln/>
        </p:spPr>
      </p:sp>
      <p:sp>
        <p:nvSpPr>
          <p:cNvPr id="9114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65</a:t>
            </a:fld>
            <a:endParaRPr lang="en-US" altLang="zh-CN" dirty="0"/>
          </a:p>
        </p:txBody>
      </p:sp>
      <p:sp>
        <p:nvSpPr>
          <p:cNvPr id="93187" name="Rectangle 2"/>
          <p:cNvSpPr>
            <a:spLocks noGrp="1" noRot="1" noChangeAspect="1" noTextEdit="1"/>
          </p:cNvSpPr>
          <p:nvPr>
            <p:ph type="sldImg"/>
          </p:nvPr>
        </p:nvSpPr>
        <p:spPr>
          <a:ln/>
        </p:spPr>
      </p:sp>
      <p:sp>
        <p:nvSpPr>
          <p:cNvPr id="93188"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69</a:t>
            </a:fld>
            <a:endParaRPr lang="en-US" altLang="zh-CN" dirty="0"/>
          </a:p>
        </p:txBody>
      </p:sp>
      <p:sp>
        <p:nvSpPr>
          <p:cNvPr id="98307" name="Rectangle 2"/>
          <p:cNvSpPr>
            <a:spLocks noGrp="1" noRot="1" noChangeAspect="1" noTextEdit="1"/>
          </p:cNvSpPr>
          <p:nvPr>
            <p:ph type="sldImg"/>
          </p:nvPr>
        </p:nvSpPr>
        <p:spPr>
          <a:ln/>
        </p:spPr>
      </p:sp>
      <p:sp>
        <p:nvSpPr>
          <p:cNvPr id="98308" name="Rectangle 3"/>
          <p:cNvSpPr>
            <a:spLocks noGrp="1"/>
          </p:cNvSpPr>
          <p:nvPr>
            <p:ph type="body" idx="1"/>
          </p:nvPr>
        </p:nvSpPr>
        <p:spPr>
          <a:ln/>
        </p:spPr>
        <p:txBody>
          <a:bodyPr wrap="square" lIns="91440" tIns="45720" rIns="91440" bIns="45720" anchor="t" anchorCtr="0"/>
          <a:lstStyle/>
          <a:p>
            <a:pPr lvl="0" eaLnBrk="1" hangingPunct="1"/>
            <a:r>
              <a:rPr lang="zh-CN" altLang="en-US" dirty="0"/>
              <a:t>独立集：在</a:t>
            </a:r>
            <a:r>
              <a:rPr lang="en-US" altLang="zh-CN" dirty="0"/>
              <a:t>G</a:t>
            </a:r>
            <a:r>
              <a:rPr lang="zh-CN" altLang="en-US" dirty="0"/>
              <a:t>中两两之间互不相连的点集合</a:t>
            </a:r>
            <a:br>
              <a:rPr lang="zh-CN" altLang="en-US" dirty="0"/>
            </a:br>
            <a:r>
              <a:rPr lang="zh-CN" altLang="en-US" dirty="0"/>
              <a:t>顶点覆盖：</a:t>
            </a:r>
            <a:r>
              <a:rPr lang="en-US" altLang="zh-CN" dirty="0"/>
              <a:t>G</a:t>
            </a:r>
            <a:r>
              <a:rPr lang="zh-CN" altLang="en-US" dirty="0"/>
              <a:t>中的任意边的至少一个端点属于</a:t>
            </a:r>
            <a:r>
              <a:rPr lang="en-US" altLang="zh-CN" dirty="0"/>
              <a:t>S</a:t>
            </a:r>
            <a:r>
              <a:rPr lang="zh-CN" altLang="en-US" dirty="0"/>
              <a:t>的顶点集合</a:t>
            </a:r>
            <a:r>
              <a:rPr lang="en-US" altLang="zh-CN" dirty="0"/>
              <a:t>S⊆V</a:t>
            </a:r>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70</a:t>
            </a:fld>
            <a:endParaRPr lang="en-US" altLang="zh-CN" dirty="0"/>
          </a:p>
        </p:txBody>
      </p:sp>
      <p:sp>
        <p:nvSpPr>
          <p:cNvPr id="100355" name="Rectangle 2"/>
          <p:cNvSpPr>
            <a:spLocks noGrp="1" noRot="1" noChangeAspect="1" noTextEdit="1"/>
          </p:cNvSpPr>
          <p:nvPr>
            <p:ph type="sldImg"/>
          </p:nvPr>
        </p:nvSpPr>
        <p:spPr>
          <a:ln/>
        </p:spPr>
      </p:sp>
      <p:sp>
        <p:nvSpPr>
          <p:cNvPr id="100356" name="Rectangle 3"/>
          <p:cNvSpPr>
            <a:spLocks noGrp="1"/>
          </p:cNvSpPr>
          <p:nvPr>
            <p:ph type="body" idx="1"/>
          </p:nvPr>
        </p:nvSpPr>
        <p:spPr>
          <a:ln/>
        </p:spPr>
        <p:txBody>
          <a:bodyPr wrap="square" lIns="91440" tIns="45720" rIns="91440" bIns="45720" anchor="t" anchorCtr="0"/>
          <a:lstStyle/>
          <a:p>
            <a:pPr lvl="0" eaLnBrk="1" hangingPunct="1"/>
            <a:r>
              <a:rPr lang="zh-CN" altLang="en-US" dirty="0"/>
              <a:t>独立集：在</a:t>
            </a:r>
            <a:r>
              <a:rPr lang="en-US" altLang="zh-CN" dirty="0"/>
              <a:t>G</a:t>
            </a:r>
            <a:r>
              <a:rPr lang="zh-CN" altLang="en-US" dirty="0"/>
              <a:t>中两两之间互不相连的点集合</a:t>
            </a:r>
            <a:br>
              <a:rPr lang="zh-CN" altLang="en-US" dirty="0"/>
            </a:br>
            <a:r>
              <a:rPr lang="zh-CN" altLang="en-US" dirty="0"/>
              <a:t>顶点覆盖：</a:t>
            </a:r>
            <a:r>
              <a:rPr lang="en-US" altLang="zh-CN" dirty="0"/>
              <a:t>G</a:t>
            </a:r>
            <a:r>
              <a:rPr lang="zh-CN" altLang="en-US" dirty="0"/>
              <a:t>中的任意边的至少一个端点属于</a:t>
            </a:r>
            <a:r>
              <a:rPr lang="en-US" altLang="zh-CN" dirty="0"/>
              <a:t>S</a:t>
            </a:r>
            <a:r>
              <a:rPr lang="zh-CN" altLang="en-US" dirty="0"/>
              <a:t>的顶点集合</a:t>
            </a:r>
            <a:r>
              <a:rPr lang="en-US" altLang="zh-CN" dirty="0"/>
              <a:t>S⊆V</a:t>
            </a:r>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72</a:t>
            </a:fld>
            <a:endParaRPr lang="en-US" altLang="zh-CN" dirty="0"/>
          </a:p>
        </p:txBody>
      </p:sp>
      <p:sp>
        <p:nvSpPr>
          <p:cNvPr id="103427" name="Rectangle 2"/>
          <p:cNvSpPr>
            <a:spLocks noGrp="1" noRot="1" noChangeAspect="1" noTextEdit="1"/>
          </p:cNvSpPr>
          <p:nvPr>
            <p:ph type="sldImg"/>
          </p:nvPr>
        </p:nvSpPr>
        <p:spPr>
          <a:ln/>
        </p:spPr>
      </p:sp>
      <p:sp>
        <p:nvSpPr>
          <p:cNvPr id="103428" name="Rectangle 3"/>
          <p:cNvSpPr>
            <a:spLocks noGrp="1"/>
          </p:cNvSpPr>
          <p:nvPr>
            <p:ph type="body" idx="1"/>
          </p:nvPr>
        </p:nvSpPr>
        <p:spPr>
          <a:ln/>
        </p:spPr>
        <p:txBody>
          <a:bodyPr wrap="square" lIns="91440" tIns="45720" rIns="91440" bIns="45720" anchor="t" anchorCtr="0"/>
          <a:lstStyle/>
          <a:p>
            <a:pPr lvl="0" eaLnBrk="1" hangingPunct="1"/>
            <a:r>
              <a:rPr lang="zh-CN" altLang="en-US" dirty="0"/>
              <a:t>每个文字构成一个节点，节点之间用边连接，</a:t>
            </a:r>
            <a:endParaRPr lang="en-US" altLang="zh-CN" dirty="0"/>
          </a:p>
          <a:p>
            <a:pPr lvl="0" eaLnBrk="1" hangingPunct="1"/>
            <a:r>
              <a:rPr lang="en-US" altLang="zh-CN" dirty="0"/>
              <a:t>1</a:t>
            </a:r>
            <a:r>
              <a:rPr lang="zh-CN" altLang="en-US" dirty="0"/>
              <a:t>、子句内部节点之间没有边，</a:t>
            </a:r>
            <a:endParaRPr lang="en-US" altLang="zh-CN" dirty="0"/>
          </a:p>
          <a:p>
            <a:pPr lvl="0" eaLnBrk="1" hangingPunct="1"/>
            <a:r>
              <a:rPr lang="en-US" altLang="zh-CN" dirty="0"/>
              <a:t>2</a:t>
            </a:r>
            <a:r>
              <a:rPr lang="zh-CN" altLang="en-US" dirty="0"/>
              <a:t>、一个文字与它的否定构成的节点之间没有边</a:t>
            </a:r>
            <a:endParaRPr lang="en-US" altLang="zh-CN" dirty="0"/>
          </a:p>
          <a:p>
            <a:pPr lvl="0" eaLnBrk="1" hangingPunct="1"/>
            <a:r>
              <a:rPr lang="zh-CN" altLang="en-US" dirty="0"/>
              <a:t>转换为多个三角形，找到一个三角形（</a:t>
            </a:r>
            <a:r>
              <a:rPr lang="en-US" altLang="zh-CN" dirty="0"/>
              <a:t>m</a:t>
            </a:r>
            <a:r>
              <a:rPr lang="zh-CN" altLang="en-US" dirty="0"/>
              <a:t>个节点的子图），如果三个节点都为真指派，则存在一个大小为</a:t>
            </a:r>
            <a:r>
              <a:rPr lang="en-US" altLang="zh-CN" dirty="0"/>
              <a:t>m</a:t>
            </a:r>
            <a:r>
              <a:rPr lang="zh-CN" altLang="en-US" dirty="0"/>
              <a:t>的团集；</a:t>
            </a:r>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73</a:t>
            </a:fld>
            <a:endParaRPr lang="en-US" altLang="zh-CN" dirty="0"/>
          </a:p>
        </p:txBody>
      </p:sp>
      <p:sp>
        <p:nvSpPr>
          <p:cNvPr id="105475" name="Rectangle 2"/>
          <p:cNvSpPr>
            <a:spLocks noGrp="1" noRot="1" noChangeAspect="1" noTextEdit="1"/>
          </p:cNvSpPr>
          <p:nvPr>
            <p:ph type="sldImg"/>
          </p:nvPr>
        </p:nvSpPr>
        <p:spPr>
          <a:ln/>
        </p:spPr>
      </p:sp>
      <p:sp>
        <p:nvSpPr>
          <p:cNvPr id="105476"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ln/>
        </p:spPr>
        <p:txBody>
          <a:bodyPr wrap="square" lIns="91440" tIns="45720" rIns="91440" bIns="45720" anchor="t" anchorCtr="0"/>
          <a:lstStyle/>
          <a:p>
            <a:pPr lvl="0"/>
            <a:r>
              <a:rPr lang="zh-CN" altLang="en-US" dirty="0"/>
              <a:t>同一子句中的文字，或者互补的文字，之间不能连线</a:t>
            </a:r>
          </a:p>
        </p:txBody>
      </p:sp>
      <p:sp>
        <p:nvSpPr>
          <p:cNvPr id="1075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dirty="0"/>
              <a:t>74</a:t>
            </a:fld>
            <a:endParaRPr lang="en-US" altLang="zh-CN"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77</a:t>
            </a:fld>
            <a:endParaRPr lang="en-US" altLang="zh-CN" dirty="0"/>
          </a:p>
        </p:txBody>
      </p:sp>
      <p:sp>
        <p:nvSpPr>
          <p:cNvPr id="120835" name="Rectangle 2"/>
          <p:cNvSpPr>
            <a:spLocks noGrp="1" noRot="1" noChangeAspect="1" noTextEdit="1"/>
          </p:cNvSpPr>
          <p:nvPr>
            <p:ph type="sldImg"/>
          </p:nvPr>
        </p:nvSpPr>
        <p:spPr>
          <a:ln/>
        </p:spPr>
      </p:sp>
      <p:sp>
        <p:nvSpPr>
          <p:cNvPr id="120836"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78</a:t>
            </a:fld>
            <a:endParaRPr lang="en-US" altLang="zh-CN" dirty="0"/>
          </a:p>
        </p:txBody>
      </p:sp>
      <p:sp>
        <p:nvSpPr>
          <p:cNvPr id="122883" name="Rectangle 2"/>
          <p:cNvSpPr>
            <a:spLocks noGrp="1" noRot="1" noChangeAspect="1" noTextEdit="1"/>
          </p:cNvSpPr>
          <p:nvPr>
            <p:ph type="sldImg"/>
          </p:nvPr>
        </p:nvSpPr>
        <p:spPr>
          <a:ln/>
        </p:spPr>
      </p:sp>
      <p:sp>
        <p:nvSpPr>
          <p:cNvPr id="122884"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79</a:t>
            </a:fld>
            <a:endParaRPr lang="en-US" altLang="zh-CN" dirty="0"/>
          </a:p>
        </p:txBody>
      </p:sp>
      <p:sp>
        <p:nvSpPr>
          <p:cNvPr id="124931" name="Rectangle 2"/>
          <p:cNvSpPr>
            <a:spLocks noGrp="1" noRot="1" noChangeAspect="1" noTextEdit="1"/>
          </p:cNvSpPr>
          <p:nvPr>
            <p:ph type="sldImg"/>
          </p:nvPr>
        </p:nvSpPr>
        <p:spPr>
          <a:ln/>
        </p:spPr>
      </p:sp>
      <p:sp>
        <p:nvSpPr>
          <p:cNvPr id="124932" name="Rectangle 3"/>
          <p:cNvSpPr>
            <a:spLocks noGrp="1"/>
          </p:cNvSpPr>
          <p:nvPr>
            <p:ph type="body" idx="1"/>
          </p:nvPr>
        </p:nvSpPr>
        <p:spPr>
          <a:ln/>
        </p:spPr>
        <p:txBody>
          <a:bodyPr wrap="square" lIns="91440" tIns="45720" rIns="91440" bIns="45720" anchor="t" anchorCtr="0"/>
          <a:lstStyle/>
          <a:p>
            <a:pPr lvl="0" eaLnBrk="1" hangingPunct="1"/>
            <a:r>
              <a:rPr lang="zh-CN" altLang="en-US" dirty="0"/>
              <a:t>最后一列的取值总是为真，所以它是重言式。</a:t>
            </a:r>
            <a:endParaRPr lang="en-US" altLang="zh-CN" dirty="0"/>
          </a:p>
          <a:p>
            <a:pPr lvl="0" eaLnBrk="1" hangingPunct="1"/>
            <a:r>
              <a:rPr lang="zh-CN" altLang="en-US" dirty="0"/>
              <a:t>├ 断定符（公式在 </a:t>
            </a:r>
            <a:r>
              <a:rPr lang="en-US" altLang="zh-CN" dirty="0"/>
              <a:t>L </a:t>
            </a:r>
            <a:r>
              <a:rPr lang="zh-CN" altLang="en-US" dirty="0"/>
              <a:t>中可证）</a:t>
            </a:r>
            <a:br>
              <a:rPr lang="zh-CN" altLang="en-US" dirty="0"/>
            </a:br>
            <a:r>
              <a:rPr lang="zh-CN" altLang="en-US" dirty="0"/>
              <a:t>╞ 满足符（公式在 </a:t>
            </a:r>
            <a:r>
              <a:rPr lang="en-US" altLang="zh-CN" dirty="0"/>
              <a:t>E</a:t>
            </a:r>
            <a:r>
              <a:rPr lang="zh-CN" altLang="en-US" dirty="0"/>
              <a:t>上有效，公式在 </a:t>
            </a:r>
            <a:r>
              <a:rPr lang="en-US" altLang="zh-CN" dirty="0"/>
              <a:t>E</a:t>
            </a:r>
            <a:r>
              <a:rPr lang="zh-CN" altLang="en-US" dirty="0"/>
              <a:t>上可满足）</a:t>
            </a:r>
            <a:br>
              <a:rPr lang="zh-CN" altLang="en-US" dirty="0"/>
            </a:br>
            <a:r>
              <a:rPr lang="zh-CN" altLang="en-US" dirty="0"/>
              <a:t>┐命题的 “非”运算</a:t>
            </a:r>
            <a:br>
              <a:rPr lang="zh-CN" altLang="en-US" dirty="0"/>
            </a:br>
            <a:r>
              <a:rPr lang="zh-CN" altLang="en-US" dirty="0"/>
              <a:t>∧ 命题的 “合取 ”（“与”）运算</a:t>
            </a:r>
            <a:br>
              <a:rPr lang="zh-CN" altLang="en-US" dirty="0"/>
            </a:br>
            <a:r>
              <a:rPr lang="zh-CN" altLang="en-US" dirty="0"/>
              <a:t>∨ 命题的 “析取 ”（“或”，“可兼或 ”）运算</a:t>
            </a:r>
            <a:br>
              <a:rPr lang="zh-CN" altLang="en-US" dirty="0"/>
            </a:br>
            <a:r>
              <a:rPr lang="zh-CN" altLang="en-US" dirty="0"/>
              <a:t>→ 命题的 “条件 ”运算</a:t>
            </a:r>
            <a:br>
              <a:rPr lang="zh-CN" altLang="en-US" dirty="0"/>
            </a:br>
            <a:r>
              <a:rPr lang="en-US" altLang="zh-CN" dirty="0"/>
              <a:t>A&lt;=&gt;B </a:t>
            </a:r>
            <a:r>
              <a:rPr lang="zh-CN" altLang="en-US" dirty="0"/>
              <a:t>命题 </a:t>
            </a:r>
            <a:r>
              <a:rPr lang="en-US" altLang="zh-CN" dirty="0"/>
              <a:t>A </a:t>
            </a:r>
            <a:r>
              <a:rPr lang="zh-CN" altLang="en-US" dirty="0"/>
              <a:t>与 </a:t>
            </a:r>
            <a:r>
              <a:rPr lang="en-US" altLang="zh-CN" dirty="0"/>
              <a:t>B </a:t>
            </a:r>
            <a:r>
              <a:rPr lang="zh-CN" altLang="en-US" dirty="0"/>
              <a:t>等价关系</a:t>
            </a:r>
            <a:br>
              <a:rPr lang="zh-CN" altLang="en-US" dirty="0"/>
            </a:br>
            <a:r>
              <a:rPr lang="en-US" altLang="zh-CN" dirty="0"/>
              <a:t>A=&gt;B </a:t>
            </a:r>
            <a:r>
              <a:rPr lang="zh-CN" altLang="en-US" dirty="0"/>
              <a:t>命题 </a:t>
            </a:r>
            <a:r>
              <a:rPr lang="en-US" altLang="zh-CN" dirty="0"/>
              <a:t>A </a:t>
            </a:r>
            <a:r>
              <a:rPr lang="zh-CN" altLang="en-US" dirty="0"/>
              <a:t>与 </a:t>
            </a:r>
            <a:r>
              <a:rPr lang="en-US" altLang="zh-CN" dirty="0"/>
              <a:t>B </a:t>
            </a:r>
            <a:r>
              <a:rPr lang="zh-CN" altLang="en-US" dirty="0"/>
              <a:t>的蕴涵关系</a:t>
            </a:r>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80</a:t>
            </a:fld>
            <a:endParaRPr lang="en-US" altLang="zh-CN" dirty="0"/>
          </a:p>
        </p:txBody>
      </p:sp>
      <p:sp>
        <p:nvSpPr>
          <p:cNvPr id="126979" name="Rectangle 2"/>
          <p:cNvSpPr>
            <a:spLocks noGrp="1" noRot="1" noChangeAspect="1" noTextEdit="1"/>
          </p:cNvSpPr>
          <p:nvPr>
            <p:ph type="sldImg"/>
          </p:nvPr>
        </p:nvSpPr>
        <p:spPr>
          <a:ln/>
        </p:spPr>
      </p:sp>
      <p:sp>
        <p:nvSpPr>
          <p:cNvPr id="12698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ln/>
        </p:spPr>
        <p:txBody>
          <a:bodyPr wrap="square" lIns="91440" tIns="45720" rIns="91440" bIns="45720" anchor="t" anchorCtr="0"/>
          <a:lstStyle/>
          <a:p>
            <a:pPr lvl="0"/>
            <a:r>
              <a:rPr lang="zh-CN" altLang="en-US" dirty="0">
                <a:hlinkClick r:id="rId3"/>
              </a:rPr>
              <a:t>线性</a:t>
            </a:r>
            <a:r>
              <a:rPr lang="zh-CN" altLang="en-US" dirty="0"/>
              <a:t>规划是研究线性约束条件下线性目标函数的极值问题的数学理论和方法</a:t>
            </a:r>
          </a:p>
        </p:txBody>
      </p:sp>
      <p:sp>
        <p:nvSpPr>
          <p:cNvPr id="1310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dirty="0"/>
              <a:t>83</a:t>
            </a:fld>
            <a:endParaRPr lang="en-US" altLang="zh-CN" sz="12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ln/>
        </p:spPr>
        <p:txBody>
          <a:bodyPr wrap="square" lIns="91440" tIns="45720" rIns="91440" bIns="45720" anchor="t" anchorCtr="0"/>
          <a:lstStyle/>
          <a:p>
            <a:pPr lvl="0"/>
            <a:r>
              <a:rPr lang="zh-CN" altLang="en-US" dirty="0"/>
              <a:t>素数一般指质数。质数是指在大于</a:t>
            </a:r>
            <a:r>
              <a:rPr lang="en-US" altLang="zh-CN" dirty="0"/>
              <a:t>1</a:t>
            </a:r>
            <a:r>
              <a:rPr lang="zh-CN" altLang="en-US" dirty="0"/>
              <a:t>的自然数中，除了</a:t>
            </a:r>
            <a:r>
              <a:rPr lang="en-US" altLang="zh-CN" dirty="0"/>
              <a:t>1</a:t>
            </a:r>
            <a:r>
              <a:rPr lang="zh-CN" altLang="en-US" dirty="0"/>
              <a:t>和它本身以外不再有其他因数的自然数。</a:t>
            </a:r>
            <a:endParaRPr lang="en-US" altLang="zh-CN" dirty="0"/>
          </a:p>
          <a:p>
            <a:pPr lvl="0"/>
            <a:r>
              <a:rPr lang="en-US" altLang="zh-CN" dirty="0"/>
              <a:t>**</a:t>
            </a:r>
            <a:r>
              <a:rPr lang="zh-CN" altLang="en-US" dirty="0"/>
              <a:t>判断方法</a:t>
            </a:r>
            <a:r>
              <a:rPr lang="en-US" altLang="zh-CN" dirty="0"/>
              <a:t>1</a:t>
            </a:r>
            <a:r>
              <a:rPr lang="zh-CN" altLang="en-US" dirty="0"/>
              <a:t>：仔细思考就会发现，其实数字</a:t>
            </a:r>
            <a:r>
              <a:rPr lang="en-US" altLang="zh-CN" dirty="0"/>
              <a:t>x</a:t>
            </a:r>
            <a:r>
              <a:rPr lang="zh-CN" altLang="en-US" dirty="0"/>
              <a:t>的因数分成两大部分，一部分是小于</a:t>
            </a:r>
            <a:r>
              <a:rPr lang="en-US" altLang="zh-CN" dirty="0"/>
              <a:t>x</a:t>
            </a:r>
            <a:r>
              <a:rPr lang="zh-CN" altLang="en-US" dirty="0"/>
              <a:t>的平方根，另外一部分大于</a:t>
            </a:r>
            <a:r>
              <a:rPr lang="en-US" altLang="zh-CN" dirty="0"/>
              <a:t>x</a:t>
            </a:r>
            <a:r>
              <a:rPr lang="zh-CN" altLang="en-US" dirty="0"/>
              <a:t>的平方根，小于平方根和大于平方根的部分是一一对应的，因而可以只判断从</a:t>
            </a:r>
            <a:r>
              <a:rPr lang="en-US" altLang="zh-CN" dirty="0"/>
              <a:t>2</a:t>
            </a:r>
            <a:r>
              <a:rPr lang="zh-CN" altLang="en-US" dirty="0"/>
              <a:t>到平方根的数字是否都能被整除即可。</a:t>
            </a:r>
            <a:endParaRPr lang="en-US" altLang="zh-CN" dirty="0"/>
          </a:p>
          <a:p>
            <a:pPr lvl="0"/>
            <a:r>
              <a:rPr lang="en-US" altLang="zh-CN" dirty="0"/>
              <a:t>**</a:t>
            </a:r>
            <a:r>
              <a:rPr lang="zh-CN" altLang="en-US" dirty="0"/>
              <a:t>判断方法</a:t>
            </a:r>
            <a:r>
              <a:rPr lang="en-US" altLang="zh-CN" dirty="0"/>
              <a:t>2</a:t>
            </a:r>
            <a:r>
              <a:rPr lang="zh-CN" altLang="en-US" dirty="0"/>
              <a:t>根据数论理论可以把数字分成</a:t>
            </a:r>
            <a:r>
              <a:rPr lang="en-US" altLang="zh-CN" dirty="0"/>
              <a:t>6</a:t>
            </a:r>
            <a:r>
              <a:rPr lang="zh-CN" altLang="en-US" dirty="0"/>
              <a:t>个大部分，</a:t>
            </a:r>
            <a:r>
              <a:rPr lang="en-US" altLang="zh-CN" dirty="0"/>
              <a:t>6i,6i+1,6i+2,6i+3,6i+4,6i+5</a:t>
            </a:r>
            <a:r>
              <a:rPr lang="zh-CN" altLang="en-US" dirty="0"/>
              <a:t>，也就是说数字</a:t>
            </a:r>
            <a:r>
              <a:rPr lang="en-US" altLang="zh-CN" dirty="0"/>
              <a:t>x%6</a:t>
            </a:r>
            <a:r>
              <a:rPr lang="zh-CN" altLang="en-US" dirty="0"/>
              <a:t>计算的值一定是</a:t>
            </a:r>
            <a:r>
              <a:rPr lang="en-US" altLang="zh-CN" dirty="0"/>
              <a:t>0,1,2,3,4,5</a:t>
            </a:r>
            <a:r>
              <a:rPr lang="zh-CN" altLang="en-US" dirty="0"/>
              <a:t>这</a:t>
            </a:r>
            <a:r>
              <a:rPr lang="en-US" altLang="zh-CN" dirty="0"/>
              <a:t>6</a:t>
            </a:r>
            <a:r>
              <a:rPr lang="zh-CN" altLang="en-US" dirty="0"/>
              <a:t>个数字，而</a:t>
            </a:r>
            <a:r>
              <a:rPr lang="en-US" altLang="zh-CN" dirty="0"/>
              <a:t>6i,6i+2,6i+3,6i+4</a:t>
            </a:r>
            <a:r>
              <a:rPr lang="zh-CN" altLang="en-US" dirty="0"/>
              <a:t>一定就是合数，它们都有除了</a:t>
            </a:r>
            <a:r>
              <a:rPr lang="en-US" altLang="zh-CN" dirty="0"/>
              <a:t>1</a:t>
            </a:r>
            <a:r>
              <a:rPr lang="zh-CN" altLang="en-US" dirty="0"/>
              <a:t>之外的因数，只有</a:t>
            </a:r>
            <a:r>
              <a:rPr lang="en-US" altLang="zh-CN" dirty="0"/>
              <a:t>6i+1</a:t>
            </a:r>
            <a:r>
              <a:rPr lang="zh-CN" altLang="en-US" dirty="0"/>
              <a:t>和</a:t>
            </a:r>
            <a:r>
              <a:rPr lang="en-US" altLang="zh-CN" dirty="0"/>
              <a:t>6i+5</a:t>
            </a:r>
            <a:r>
              <a:rPr lang="zh-CN" altLang="en-US" dirty="0"/>
              <a:t>可能是素数，因而一旦判定数字大于等于</a:t>
            </a:r>
            <a:r>
              <a:rPr lang="en-US" altLang="zh-CN" dirty="0"/>
              <a:t>6</a:t>
            </a:r>
            <a:r>
              <a:rPr lang="zh-CN" altLang="en-US" dirty="0"/>
              <a:t>且取模结果为</a:t>
            </a:r>
            <a:r>
              <a:rPr lang="en-US" altLang="zh-CN" dirty="0"/>
              <a:t>0,2,3,4</a:t>
            </a:r>
            <a:r>
              <a:rPr lang="zh-CN" altLang="en-US" dirty="0"/>
              <a:t>就可以判定不是素数。</a:t>
            </a:r>
          </a:p>
        </p:txBody>
      </p:sp>
      <p:sp>
        <p:nvSpPr>
          <p:cNvPr id="1351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dirty="0"/>
              <a:t>86</a:t>
            </a:fld>
            <a:endParaRPr lang="en-US" altLang="zh-CN" sz="12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87</a:t>
            </a:fld>
            <a:endParaRPr lang="en-US" altLang="zh-CN" dirty="0"/>
          </a:p>
        </p:txBody>
      </p:sp>
      <p:sp>
        <p:nvSpPr>
          <p:cNvPr id="137219" name="Rectangle 2"/>
          <p:cNvSpPr>
            <a:spLocks noGrp="1" noRot="1" noChangeAspect="1" noTextEdit="1"/>
          </p:cNvSpPr>
          <p:nvPr>
            <p:ph type="sldImg"/>
          </p:nvPr>
        </p:nvSpPr>
        <p:spPr>
          <a:ln/>
        </p:spPr>
      </p:sp>
      <p:sp>
        <p:nvSpPr>
          <p:cNvPr id="137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2051"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33122"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pPr lvl="0"/>
            <a:r>
              <a:rPr lang="zh-CN" altLang="en-US" noProof="0"/>
              <a:t>单击此处编辑母版标题样式</a:t>
            </a:r>
          </a:p>
        </p:txBody>
      </p:sp>
      <p:sp>
        <p:nvSpPr>
          <p:cNvPr id="133123"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lvl="0"/>
            <a:r>
              <a:rPr lang="zh-CN" altLang="en-US" noProof="0"/>
              <a:t>单击此处编辑母版副标题样式</a:t>
            </a:r>
          </a:p>
        </p:txBody>
      </p:sp>
      <p:sp>
        <p:nvSpPr>
          <p:cNvPr id="9" name="Rectangle 6"/>
          <p:cNvSpPr>
            <a:spLocks noGrp="1" noChangeArrowheads="1"/>
          </p:cNvSpPr>
          <p:nvPr>
            <p:ph type="ftr" sz="quarter" idx="3"/>
          </p:nvPr>
        </p:nvSpPr>
        <p:spPr bwMode="auto">
          <a:xfrm>
            <a:off x="3492500" y="6381750"/>
            <a:ext cx="3816350" cy="4318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68863" y="1268413"/>
            <a:ext cx="3817937" cy="2185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868863" y="3606800"/>
            <a:ext cx="3817937"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2051"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33122"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pPr lvl="0"/>
            <a:r>
              <a:rPr lang="zh-CN" altLang="en-US" noProof="0"/>
              <a:t>单击此处编辑母版标题样式</a:t>
            </a:r>
          </a:p>
        </p:txBody>
      </p:sp>
      <p:sp>
        <p:nvSpPr>
          <p:cNvPr id="133123"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lvl="0"/>
            <a:r>
              <a:rPr lang="zh-CN" altLang="en-US" noProof="0"/>
              <a:t>单击此处编辑母版副标题样式</a:t>
            </a:r>
          </a:p>
        </p:txBody>
      </p:sp>
      <p:sp>
        <p:nvSpPr>
          <p:cNvPr id="9" name="Rectangle 6"/>
          <p:cNvSpPr>
            <a:spLocks noGrp="1" noChangeArrowheads="1"/>
          </p:cNvSpPr>
          <p:nvPr>
            <p:ph type="ftr" sz="quarter" idx="3"/>
          </p:nvPr>
        </p:nvSpPr>
        <p:spPr bwMode="auto">
          <a:xfrm>
            <a:off x="3492500" y="6381750"/>
            <a:ext cx="3816350" cy="4318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68863" y="1268413"/>
            <a:ext cx="3817937" cy="2185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868863" y="3606800"/>
            <a:ext cx="3817937"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jpeg"/><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idx="1"/>
          </p:nvPr>
        </p:nvSpPr>
        <p:spPr>
          <a:xfrm>
            <a:off x="900113" y="1268413"/>
            <a:ext cx="7786687" cy="45259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pic>
        <p:nvPicPr>
          <p:cNvPr id="1028" name="Picture 4" descr="index_07"/>
          <p:cNvPicPr>
            <a:picLocks noChangeAspect="1"/>
          </p:cNvPicPr>
          <p:nvPr/>
        </p:nvPicPr>
        <p:blipFill>
          <a:blip r:embed="rId16"/>
          <a:stretch>
            <a:fillRect/>
          </a:stretch>
        </p:blipFill>
        <p:spPr>
          <a:xfrm>
            <a:off x="0" y="6381750"/>
            <a:ext cx="8243888" cy="476250"/>
          </a:xfrm>
          <a:prstGeom prst="rect">
            <a:avLst/>
          </a:prstGeom>
          <a:noFill/>
          <a:ln w="9525">
            <a:noFill/>
          </a:ln>
        </p:spPr>
      </p:pic>
      <p:pic>
        <p:nvPicPr>
          <p:cNvPr id="1029" name="Picture 5" descr="200311_3"/>
          <p:cNvPicPr>
            <a:picLocks noChangeAspect="1"/>
          </p:cNvPicPr>
          <p:nvPr/>
        </p:nvPicPr>
        <p:blipFill>
          <a:blip r:embed="rId17"/>
          <a:stretch>
            <a:fillRect/>
          </a:stretch>
        </p:blipFill>
        <p:spPr>
          <a:xfrm>
            <a:off x="7308850" y="6381750"/>
            <a:ext cx="1800225" cy="476250"/>
          </a:xfrm>
          <a:prstGeom prst="rect">
            <a:avLst/>
          </a:prstGeom>
          <a:noFill/>
          <a:ln w="9525">
            <a:noFill/>
          </a:ln>
        </p:spPr>
      </p:pic>
      <p:sp>
        <p:nvSpPr>
          <p:cNvPr id="132102"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idx="1"/>
          </p:nvPr>
        </p:nvSpPr>
        <p:spPr>
          <a:xfrm>
            <a:off x="900113" y="1268413"/>
            <a:ext cx="7786687" cy="45259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pic>
        <p:nvPicPr>
          <p:cNvPr id="1028" name="Picture 4" descr="index_07"/>
          <p:cNvPicPr>
            <a:picLocks noChangeAspect="1"/>
          </p:cNvPicPr>
          <p:nvPr/>
        </p:nvPicPr>
        <p:blipFill>
          <a:blip r:embed="rId16"/>
          <a:stretch>
            <a:fillRect/>
          </a:stretch>
        </p:blipFill>
        <p:spPr>
          <a:xfrm>
            <a:off x="0" y="6381750"/>
            <a:ext cx="8243888" cy="476250"/>
          </a:xfrm>
          <a:prstGeom prst="rect">
            <a:avLst/>
          </a:prstGeom>
          <a:noFill/>
          <a:ln w="9525">
            <a:noFill/>
          </a:ln>
        </p:spPr>
      </p:pic>
      <p:pic>
        <p:nvPicPr>
          <p:cNvPr id="1029" name="Picture 5" descr="200311_3"/>
          <p:cNvPicPr>
            <a:picLocks noChangeAspect="1"/>
          </p:cNvPicPr>
          <p:nvPr/>
        </p:nvPicPr>
        <p:blipFill>
          <a:blip r:embed="rId17"/>
          <a:stretch>
            <a:fillRect/>
          </a:stretch>
        </p:blipFill>
        <p:spPr>
          <a:xfrm>
            <a:off x="7308850" y="6381750"/>
            <a:ext cx="1800225" cy="476250"/>
          </a:xfrm>
          <a:prstGeom prst="rect">
            <a:avLst/>
          </a:prstGeom>
          <a:noFill/>
          <a:ln w="9525">
            <a:noFill/>
          </a:ln>
        </p:spPr>
      </p:pic>
      <p:sp>
        <p:nvSpPr>
          <p:cNvPr id="132102"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4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13.wmf"/></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club.newoo.com/dispbbs.asp?boardid=61&amp;id=11168" TargetMode="External"/><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18.GIF"/><Relationship Id="rId3" Type="http://schemas.openxmlformats.org/officeDocument/2006/relationships/notesSlide" Target="../notesSlides/notesSlide32.xml"/><Relationship Id="rId7" Type="http://schemas.openxmlformats.org/officeDocument/2006/relationships/image" Target="../media/image9.jpeg"/><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4.bin"/><Relationship Id="rId4" Type="http://schemas.openxmlformats.org/officeDocument/2006/relationships/audio" Target="../media/audio1.wav"/></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9.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image" Target="../media/image21.wmf"/><Relationship Id="rId4" Type="http://schemas.openxmlformats.org/officeDocument/2006/relationships/oleObject" Target="../embeddings/oleObject6.bin"/></Relationships>
</file>

<file path=ppt/slides/_rels/slide7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24.png"/><Relationship Id="rId5" Type="http://schemas.openxmlformats.org/officeDocument/2006/relationships/image" Target="../media/image23.wmf"/><Relationship Id="rId4" Type="http://schemas.openxmlformats.org/officeDocument/2006/relationships/oleObject" Target="../embeddings/oleObject7.bin"/></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9.jpeg"/><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image" Target="../media/image25.wmf"/><Relationship Id="rId5" Type="http://schemas.openxmlformats.org/officeDocument/2006/relationships/oleObject" Target="../embeddings/oleObject8.bin"/><Relationship Id="rId4" Type="http://schemas.openxmlformats.org/officeDocument/2006/relationships/audio" Target="../media/audio1.wav"/></Relationships>
</file>

<file path=ppt/slides/_rels/slide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9.jpeg"/><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25.wmf"/><Relationship Id="rId5" Type="http://schemas.openxmlformats.org/officeDocument/2006/relationships/oleObject" Target="../embeddings/oleObject8.bin"/><Relationship Id="rId4" Type="http://schemas.openxmlformats.org/officeDocument/2006/relationships/audio" Target="../media/audio1.wav"/></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txBox="1">
            <a:spLocks noGrp="1"/>
          </p:cNvSpPr>
          <p:nvPr>
            <p:ph type="ftr" sz="quarter" idx="3"/>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cs typeface="+mn-cs"/>
              </a:rPr>
              <a:t>Algorithms Design Techniques and Analysis</a:t>
            </a:r>
          </a:p>
        </p:txBody>
      </p:sp>
      <p:sp>
        <p:nvSpPr>
          <p:cNvPr id="4099" name="Rectangle 2"/>
          <p:cNvSpPr>
            <a:spLocks noGrp="1"/>
          </p:cNvSpPr>
          <p:nvPr>
            <p:ph type="ctrTitle"/>
          </p:nvPr>
        </p:nvSpPr>
        <p:spPr>
          <a:ln/>
        </p:spPr>
        <p:txBody>
          <a:bodyPr vert="horz" wrap="square" lIns="91440" tIns="45720" rIns="91440" bIns="45720" anchor="ctr" anchorCtr="0"/>
          <a:lstStyle/>
          <a:p>
            <a:pPr algn="ctr" eaLnBrk="1" hangingPunct="1">
              <a:buClrTx/>
              <a:buSzTx/>
              <a:buFontTx/>
            </a:pPr>
            <a:r>
              <a:rPr lang="zh-CN" altLang="en-US" sz="3600" dirty="0">
                <a:solidFill>
                  <a:srgbClr val="0066CC"/>
                </a:solidFill>
                <a:latin typeface="Times New Roman" panose="02020603050405020304" pitchFamily="18" charset="0"/>
                <a:ea typeface="+mj-ea"/>
                <a:cs typeface="+mj-cs"/>
              </a:rPr>
              <a:t>第</a:t>
            </a:r>
            <a:r>
              <a:rPr lang="en-US" altLang="zh-CN" sz="3600" dirty="0">
                <a:solidFill>
                  <a:srgbClr val="0066CC"/>
                </a:solidFill>
                <a:latin typeface="Times New Roman" panose="02020603050405020304" pitchFamily="18" charset="0"/>
                <a:ea typeface="+mj-ea"/>
                <a:cs typeface="+mj-cs"/>
              </a:rPr>
              <a:t> 7</a:t>
            </a:r>
            <a:r>
              <a:rPr lang="zh-CN" altLang="en-US" sz="3600" dirty="0"/>
              <a:t>讲</a:t>
            </a:r>
            <a:endParaRPr lang="en-US" altLang="zh-CN" sz="3600" dirty="0">
              <a:solidFill>
                <a:srgbClr val="0066CC"/>
              </a:solidFill>
              <a:latin typeface="Times New Roman" panose="02020603050405020304" pitchFamily="18" charset="0"/>
              <a:ea typeface="+mj-ea"/>
              <a:cs typeface="+mj-cs"/>
            </a:endParaRPr>
          </a:p>
        </p:txBody>
      </p:sp>
      <p:sp>
        <p:nvSpPr>
          <p:cNvPr id="4100" name="Rectangle 3"/>
          <p:cNvSpPr>
            <a:spLocks noGrp="1"/>
          </p:cNvSpPr>
          <p:nvPr>
            <p:ph type="subTitle" idx="1"/>
          </p:nvPr>
        </p:nvSpPr>
        <p:spPr>
          <a:ln/>
        </p:spPr>
        <p:txBody>
          <a:bodyPr vert="horz" wrap="square" lIns="91440" tIns="45720" rIns="91440" bIns="45720" anchor="t" anchorCtr="0"/>
          <a:lstStyle/>
          <a:p>
            <a:pPr eaLnBrk="1" hangingPunct="1">
              <a:buClrTx/>
              <a:buSzTx/>
            </a:pPr>
            <a:r>
              <a:rPr lang="en-US" altLang="zh-CN" sz="3300" dirty="0">
                <a:latin typeface="+mn-lt"/>
                <a:ea typeface="+mn-ea"/>
                <a:cs typeface="+mn-cs"/>
              </a:rPr>
              <a:t>NP</a:t>
            </a:r>
            <a:r>
              <a:rPr lang="zh-CN" altLang="en-US" sz="3300" dirty="0">
                <a:latin typeface="+mn-lt"/>
                <a:ea typeface="+mn-ea"/>
                <a:cs typeface="+mn-cs"/>
              </a:rPr>
              <a:t>完全问题</a:t>
            </a:r>
            <a:endParaRPr lang="en-US" altLang="zh-CN" sz="3300" dirty="0">
              <a:latin typeface="+mn-lt"/>
              <a:ea typeface="+mn-ea"/>
              <a:cs typeface="+mn-cs"/>
            </a:endParaRPr>
          </a:p>
          <a:p>
            <a:pPr eaLnBrk="1" hangingPunct="1">
              <a:buClrTx/>
              <a:buSzTx/>
            </a:pPr>
            <a:endParaRPr lang="en-US" altLang="zh-CN" sz="1600" dirty="0">
              <a:latin typeface="+mn-lt"/>
              <a:ea typeface="+mn-ea"/>
              <a:cs typeface="+mn-cs"/>
            </a:endParaRPr>
          </a:p>
          <a:p>
            <a:pPr algn="r" eaLnBrk="1" hangingPunct="1">
              <a:buClrTx/>
              <a:buSzTx/>
            </a:pPr>
            <a:r>
              <a:rPr lang="en-US" altLang="zh-CN" dirty="0">
                <a:latin typeface="+mn-lt"/>
                <a:ea typeface="+mn-ea"/>
                <a:cs typeface="+mn-cs"/>
              </a:rPr>
              <a:t>——Computability Theory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000" dirty="0"/>
              <a:t>7</a:t>
            </a:r>
            <a:r>
              <a:rPr lang="zh-CN" altLang="en-US" sz="2000" dirty="0"/>
              <a:t>.1 引言</a:t>
            </a:r>
          </a:p>
          <a:p>
            <a:pPr lvl="1"/>
            <a:r>
              <a:rPr lang="en-US" altLang="zh-CN" sz="2000" dirty="0">
                <a:latin typeface="华文楷体" panose="02010600040101010101" pitchFamily="2" charset="-122"/>
                <a:ea typeface="华文楷体" panose="02010600040101010101" pitchFamily="2" charset="-122"/>
                <a:cs typeface="华文楷体" panose="02010600040101010101" pitchFamily="2" charset="-122"/>
              </a:rPr>
              <a:t>7</a:t>
            </a:r>
            <a:r>
              <a:rPr lang="zh-CN" altLang="en-US" sz="2000" dirty="0">
                <a:latin typeface="华文楷体" panose="02010600040101010101" pitchFamily="2" charset="-122"/>
                <a:ea typeface="华文楷体" panose="02010600040101010101" pitchFamily="2" charset="-122"/>
                <a:cs typeface="华文楷体" panose="02010600040101010101" pitchFamily="2" charset="-122"/>
              </a:rPr>
              <a:t>.1.1 问题复杂性类</a:t>
            </a:r>
          </a:p>
          <a:p>
            <a:pPr lvl="1"/>
            <a:r>
              <a:rPr lang="en-US" altLang="zh-CN" sz="2000" dirty="0">
                <a:latin typeface="华文楷体" panose="02010600040101010101" pitchFamily="2" charset="-122"/>
                <a:ea typeface="华文楷体" panose="02010600040101010101" pitchFamily="2" charset="-122"/>
                <a:cs typeface="华文楷体" panose="02010600040101010101" pitchFamily="2" charset="-122"/>
              </a:rPr>
              <a:t>7</a:t>
            </a:r>
            <a:r>
              <a:rPr lang="zh-CN" altLang="en-US" sz="2000" dirty="0">
                <a:latin typeface="华文楷体" panose="02010600040101010101" pitchFamily="2" charset="-122"/>
                <a:ea typeface="华文楷体" panose="02010600040101010101" pitchFamily="2" charset="-122"/>
                <a:cs typeface="华文楷体" panose="02010600040101010101" pitchFamily="2" charset="-122"/>
              </a:rPr>
              <a:t>.1.2 算法复杂度与问题复杂度关系</a:t>
            </a:r>
          </a:p>
          <a:p>
            <a:pPr lvl="1"/>
            <a:r>
              <a:rPr lang="en-US" altLang="zh-CN" sz="2000" dirty="0">
                <a:latin typeface="华文楷体" panose="02010600040101010101" pitchFamily="2" charset="-122"/>
                <a:ea typeface="华文楷体" panose="02010600040101010101" pitchFamily="2" charset="-122"/>
                <a:cs typeface="华文楷体" panose="02010600040101010101" pitchFamily="2" charset="-122"/>
              </a:rPr>
              <a:t>7</a:t>
            </a:r>
            <a:r>
              <a:rPr lang="zh-CN" altLang="en-US" sz="2000" dirty="0">
                <a:latin typeface="华文楷体" panose="02010600040101010101" pitchFamily="2" charset="-122"/>
                <a:ea typeface="华文楷体" panose="02010600040101010101" pitchFamily="2" charset="-122"/>
                <a:cs typeface="华文楷体" panose="02010600040101010101" pitchFamily="2" charset="-122"/>
              </a:rPr>
              <a:t>.1.3 可计算问题、判定问题</a:t>
            </a:r>
          </a:p>
          <a:p>
            <a:pPr lvl="1"/>
            <a:r>
              <a:rPr lang="en-US" altLang="zh-CN" sz="2000" dirty="0">
                <a:latin typeface="华文楷体" panose="02010600040101010101" pitchFamily="2" charset="-122"/>
                <a:ea typeface="华文楷体" panose="02010600040101010101" pitchFamily="2" charset="-122"/>
                <a:cs typeface="华文楷体" panose="02010600040101010101" pitchFamily="2" charset="-122"/>
              </a:rPr>
              <a:t>7</a:t>
            </a:r>
            <a:r>
              <a:rPr lang="zh-CN" altLang="en-US" sz="2000" dirty="0">
                <a:latin typeface="华文楷体" panose="02010600040101010101" pitchFamily="2" charset="-122"/>
                <a:ea typeface="华文楷体" panose="02010600040101010101" pitchFamily="2" charset="-122"/>
                <a:cs typeface="华文楷体" panose="02010600040101010101" pitchFamily="2" charset="-122"/>
              </a:rPr>
              <a:t>.1.4 确定图灵机模型、确定算法</a:t>
            </a:r>
          </a:p>
          <a:p>
            <a:pPr lvl="1"/>
            <a:r>
              <a:rPr lang="en-US" altLang="zh-CN" sz="2000" dirty="0">
                <a:latin typeface="华文楷体" panose="02010600040101010101" pitchFamily="2" charset="-122"/>
                <a:ea typeface="华文楷体" panose="02010600040101010101" pitchFamily="2" charset="-122"/>
                <a:cs typeface="华文楷体" panose="02010600040101010101" pitchFamily="2" charset="-122"/>
              </a:rPr>
              <a:t>7</a:t>
            </a:r>
            <a:r>
              <a:rPr lang="zh-CN" altLang="en-US" sz="2000" dirty="0">
                <a:latin typeface="华文楷体" panose="02010600040101010101" pitchFamily="2" charset="-122"/>
                <a:ea typeface="华文楷体" panose="02010600040101010101" pitchFamily="2" charset="-122"/>
                <a:cs typeface="华文楷体" panose="02010600040101010101" pitchFamily="2" charset="-122"/>
              </a:rPr>
              <a:t>.1.5 不确定图灵机模型、不确定算法</a:t>
            </a:r>
          </a:p>
          <a:p>
            <a:r>
              <a:rPr lang="en-US" altLang="zh-CN" sz="2000" dirty="0"/>
              <a:t>7</a:t>
            </a:r>
            <a:r>
              <a:rPr lang="zh-CN" altLang="en-US" sz="2000" dirty="0"/>
              <a:t>.2 P类、NP类</a:t>
            </a:r>
          </a:p>
          <a:p>
            <a:pPr lvl="1"/>
            <a:r>
              <a:rPr lang="en-US" altLang="zh-CN" sz="2000" dirty="0">
                <a:latin typeface="+mn-ea"/>
                <a:ea typeface="+mn-ea"/>
                <a:cs typeface="+mn-ea"/>
              </a:rPr>
              <a:t>7</a:t>
            </a:r>
            <a:r>
              <a:rPr lang="zh-CN" altLang="en-US" sz="2000" dirty="0">
                <a:latin typeface="+mn-ea"/>
                <a:ea typeface="+mn-ea"/>
                <a:cs typeface="+mn-ea"/>
              </a:rPr>
              <a:t>.2.1 P类定义、性质及举例</a:t>
            </a:r>
          </a:p>
          <a:p>
            <a:pPr lvl="1"/>
            <a:r>
              <a:rPr lang="en-US" altLang="zh-CN" sz="2000" dirty="0">
                <a:latin typeface="+mn-ea"/>
                <a:ea typeface="+mn-ea"/>
                <a:cs typeface="+mn-ea"/>
              </a:rPr>
              <a:t>7</a:t>
            </a:r>
            <a:r>
              <a:rPr lang="zh-CN" altLang="en-US" sz="2000" dirty="0">
                <a:latin typeface="+mn-ea"/>
                <a:ea typeface="+mn-ea"/>
                <a:cs typeface="+mn-ea"/>
              </a:rPr>
              <a:t>.2.2 NP类定义及举例</a:t>
            </a:r>
          </a:p>
          <a:p>
            <a:pPr lvl="1"/>
            <a:r>
              <a:rPr lang="en-US" altLang="zh-CN" sz="2000" dirty="0">
                <a:latin typeface="+mn-ea"/>
                <a:ea typeface="+mn-ea"/>
                <a:cs typeface="+mn-ea"/>
              </a:rPr>
              <a:t>7</a:t>
            </a:r>
            <a:r>
              <a:rPr lang="zh-CN" altLang="en-US" sz="2000" dirty="0">
                <a:latin typeface="+mn-ea"/>
                <a:ea typeface="+mn-ea"/>
                <a:cs typeface="+mn-ea"/>
              </a:rPr>
              <a:t>.2.3 P类和NP类的关系、COOK定理</a:t>
            </a:r>
          </a:p>
          <a:p>
            <a:endParaRPr lang="zh-CN" altLang="en-US" sz="2000" dirty="0"/>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zh-CN" altLang="en-US" b="1" dirty="0"/>
              <a:t>本章内容</a:t>
            </a:r>
            <a:endParaRPr lang="en-US" altLang="zh-C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000" dirty="0"/>
              <a:t>7.3</a:t>
            </a:r>
            <a:r>
              <a:rPr lang="zh-CN" altLang="en-US" sz="2000" dirty="0"/>
              <a:t>. 多项式归约及NP-完全类</a:t>
            </a:r>
          </a:p>
          <a:p>
            <a:pPr lvl="1"/>
            <a:r>
              <a:rPr lang="en-US" altLang="zh-CN" sz="2000" dirty="0">
                <a:latin typeface="+mn-ea"/>
                <a:ea typeface="+mn-ea"/>
                <a:cs typeface="+mn-ea"/>
              </a:rPr>
              <a:t>7.3</a:t>
            </a:r>
            <a:r>
              <a:rPr lang="zh-CN" altLang="en-US" sz="2000" dirty="0">
                <a:latin typeface="+mn-ea"/>
                <a:ea typeface="+mn-ea"/>
                <a:cs typeface="+mn-ea"/>
              </a:rPr>
              <a:t>.1 多项式归约定义</a:t>
            </a:r>
          </a:p>
          <a:p>
            <a:pPr lvl="1"/>
            <a:r>
              <a:rPr lang="en-US" altLang="zh-CN" sz="2000" dirty="0">
                <a:latin typeface="+mn-ea"/>
                <a:ea typeface="+mn-ea"/>
                <a:cs typeface="+mn-ea"/>
              </a:rPr>
              <a:t>7.3</a:t>
            </a:r>
            <a:r>
              <a:rPr lang="zh-CN" altLang="en-US" sz="2000" dirty="0">
                <a:latin typeface="+mn-ea"/>
                <a:ea typeface="+mn-ea"/>
                <a:cs typeface="+mn-ea"/>
              </a:rPr>
              <a:t>.2 多项式归约性质</a:t>
            </a:r>
          </a:p>
          <a:p>
            <a:pPr lvl="1"/>
            <a:r>
              <a:rPr lang="en-US" altLang="zh-CN" sz="2000" dirty="0">
                <a:latin typeface="+mn-ea"/>
                <a:ea typeface="+mn-ea"/>
                <a:cs typeface="+mn-ea"/>
              </a:rPr>
              <a:t>7.3</a:t>
            </a:r>
            <a:r>
              <a:rPr lang="zh-CN" altLang="en-US" sz="2000" dirty="0">
                <a:latin typeface="+mn-ea"/>
                <a:ea typeface="+mn-ea"/>
                <a:cs typeface="+mn-ea"/>
              </a:rPr>
              <a:t>.3 NP-难类、NP-完全类</a:t>
            </a:r>
          </a:p>
          <a:p>
            <a:pPr lvl="1"/>
            <a:r>
              <a:rPr lang="en-US" altLang="zh-CN" sz="2000" dirty="0">
                <a:latin typeface="+mn-ea"/>
                <a:ea typeface="+mn-ea"/>
                <a:cs typeface="+mn-ea"/>
              </a:rPr>
              <a:t>7.3</a:t>
            </a:r>
            <a:r>
              <a:rPr lang="zh-CN" altLang="en-US" sz="2000" dirty="0">
                <a:latin typeface="+mn-ea"/>
                <a:ea typeface="+mn-ea"/>
                <a:cs typeface="+mn-ea"/>
              </a:rPr>
              <a:t>.4 NP-完全性证明</a:t>
            </a:r>
          </a:p>
          <a:p>
            <a:pPr lvl="1"/>
            <a:r>
              <a:rPr lang="en-US" altLang="zh-CN" sz="2000" dirty="0">
                <a:latin typeface="+mn-ea"/>
                <a:ea typeface="+mn-ea"/>
                <a:cs typeface="+mn-ea"/>
              </a:rPr>
              <a:t>7.3</a:t>
            </a:r>
            <a:r>
              <a:rPr lang="zh-CN" altLang="en-US" sz="2000" dirty="0">
                <a:latin typeface="+mn-ea"/>
                <a:ea typeface="+mn-ea"/>
                <a:cs typeface="+mn-ea"/>
              </a:rPr>
              <a:t>.5 其他问题复杂性类</a:t>
            </a:r>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zh-CN" altLang="en-US" b="1" dirty="0"/>
              <a:t>本章内容</a:t>
            </a:r>
            <a:endParaRPr lang="en-US" altLang="zh-CN"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7.1</a:t>
            </a:r>
            <a:r>
              <a:rPr lang="zh-CN" altLang="en-US"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.1 问题复杂性类</a:t>
            </a:r>
          </a:p>
          <a:p>
            <a:r>
              <a:rPr lang="en-US" altLang="zh-CN"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7.1</a:t>
            </a:r>
            <a:r>
              <a:rPr lang="zh-CN" altLang="en-US"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.2 算法复杂度与问题复杂度关系</a:t>
            </a:r>
          </a:p>
          <a:p>
            <a:r>
              <a:rPr lang="en-US" altLang="zh-CN"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7.1</a:t>
            </a:r>
            <a:r>
              <a:rPr lang="zh-CN" altLang="en-US"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.3可计算问题、判定问题</a:t>
            </a:r>
          </a:p>
          <a:p>
            <a:r>
              <a:rPr lang="en-US" altLang="zh-CN"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7.1</a:t>
            </a:r>
            <a:r>
              <a:rPr lang="zh-CN" altLang="en-US"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.4 确定图灵机模型、确定算法</a:t>
            </a:r>
          </a:p>
          <a:p>
            <a:r>
              <a:rPr lang="en-US" altLang="zh-CN"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7.1</a:t>
            </a:r>
            <a:r>
              <a:rPr lang="zh-CN" altLang="en-US" sz="2300"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.5 不确定图灵机模型、不确定算法</a:t>
            </a:r>
          </a:p>
          <a:p>
            <a:endParaRPr lang="zh-CN" altLang="en-US" sz="2000" dirty="0"/>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en-US" altLang="zh-CN" dirty="0"/>
              <a:t>7.1</a:t>
            </a:r>
            <a:r>
              <a:rPr lang="zh-CN" altLang="en-US" dirty="0"/>
              <a:t> 引言</a:t>
            </a:r>
            <a:endParaRPr lang="en-US" altLang="zh-CN" b="1" dirty="0"/>
          </a:p>
        </p:txBody>
      </p:sp>
    </p:spTree>
    <p:extLst>
      <p:ext uri="{BB962C8B-B14F-4D97-AF65-F5344CB8AC3E}">
        <p14:creationId xmlns:p14="http://schemas.microsoft.com/office/powerpoint/2010/main" val="2585403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en-US" altLang="zh-CN" dirty="0"/>
              <a:t>7.1.1 </a:t>
            </a:r>
            <a:r>
              <a:rPr lang="zh-CN" altLang="en-US" dirty="0"/>
              <a:t>问题复杂性类</a:t>
            </a:r>
            <a:r>
              <a:rPr lang="en-US" altLang="zh-CN" dirty="0"/>
              <a:t> </a:t>
            </a:r>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pPr eaLnBrk="1" hangingPunct="1">
              <a:lnSpc>
                <a:spcPct val="90000"/>
              </a:lnSpc>
            </a:pPr>
            <a:r>
              <a:rPr lang="zh-CN" altLang="en-US" dirty="0"/>
              <a:t>设</a:t>
            </a:r>
            <a:r>
              <a:rPr lang="en-US" altLang="zh-CN" dirty="0">
                <a:latin typeface="宋体" panose="02010600030101010101" pitchFamily="2" charset="-122"/>
              </a:rPr>
              <a:t>∏</a:t>
            </a:r>
            <a:r>
              <a:rPr lang="zh-CN" altLang="en-US" dirty="0"/>
              <a:t>是任意问题，如果对问题</a:t>
            </a:r>
            <a:r>
              <a:rPr lang="en-US" altLang="zh-CN" dirty="0">
                <a:latin typeface="宋体" panose="02010600030101010101" pitchFamily="2" charset="-122"/>
              </a:rPr>
              <a:t>∏</a:t>
            </a:r>
            <a:r>
              <a:rPr lang="zh-CN" altLang="en-US" dirty="0"/>
              <a:t>存在一个算法，它的时间复杂性是</a:t>
            </a:r>
            <a:r>
              <a:rPr lang="en-US" altLang="zh-CN" dirty="0"/>
              <a:t>O(n</a:t>
            </a:r>
            <a:r>
              <a:rPr lang="en-US" altLang="zh-CN" baseline="30000" dirty="0"/>
              <a:t>k</a:t>
            </a:r>
            <a:r>
              <a:rPr lang="en-US" altLang="zh-CN" dirty="0"/>
              <a:t>)</a:t>
            </a:r>
            <a:r>
              <a:rPr lang="zh-CN" altLang="en-US" dirty="0"/>
              <a:t>，其中</a:t>
            </a:r>
            <a:r>
              <a:rPr lang="en-US" altLang="zh-CN" dirty="0">
                <a:latin typeface="宋体" panose="02010600030101010101" pitchFamily="2" charset="-122"/>
              </a:rPr>
              <a:t>n</a:t>
            </a:r>
            <a:r>
              <a:rPr lang="zh-CN" altLang="en-US" dirty="0"/>
              <a:t>是输入大小，</a:t>
            </a:r>
            <a:r>
              <a:rPr lang="en-US" altLang="zh-CN" dirty="0"/>
              <a:t>k</a:t>
            </a:r>
            <a:r>
              <a:rPr lang="zh-CN" altLang="en-US" dirty="0"/>
              <a:t>是非负整数，我们说存在着求解问题</a:t>
            </a:r>
            <a:r>
              <a:rPr lang="en-US" altLang="zh-CN" dirty="0"/>
              <a:t>n</a:t>
            </a:r>
            <a:r>
              <a:rPr lang="zh-CN" altLang="en-US" dirty="0"/>
              <a:t>的</a:t>
            </a:r>
            <a:r>
              <a:rPr lang="zh-CN" altLang="en-US" dirty="0">
                <a:solidFill>
                  <a:srgbClr val="FF0000"/>
                </a:solidFill>
              </a:rPr>
              <a:t>多项式时间算法</a:t>
            </a:r>
            <a:r>
              <a:rPr lang="zh-CN" altLang="en-US" dirty="0"/>
              <a:t>。这类算法在</a:t>
            </a:r>
            <a:r>
              <a:rPr lang="zh-CN" altLang="en-US" dirty="0">
                <a:solidFill>
                  <a:srgbClr val="FF0000"/>
                </a:solidFill>
              </a:rPr>
              <a:t>可以接受的时间</a:t>
            </a:r>
            <a:r>
              <a:rPr lang="zh-CN" altLang="en-US" dirty="0"/>
              <a:t>内实现问题求解， </a:t>
            </a:r>
            <a:r>
              <a:rPr lang="en-US" altLang="zh-CN" dirty="0"/>
              <a:t>e.g., </a:t>
            </a:r>
            <a:r>
              <a:rPr lang="zh-CN" altLang="en-US" dirty="0"/>
              <a:t>排序、串匹配、矩阵相乘。</a:t>
            </a:r>
            <a:endParaRPr lang="en-US" altLang="zh-CN" dirty="0"/>
          </a:p>
          <a:p>
            <a:pPr eaLnBrk="1" hangingPunct="1">
              <a:lnSpc>
                <a:spcPct val="90000"/>
              </a:lnSpc>
            </a:pPr>
            <a:r>
              <a:rPr lang="zh-CN" altLang="en-US" dirty="0"/>
              <a:t>但是，现实世界中的许多有趣问题并不属于这个范畴，因为求解这些问题所需要的时间量要用</a:t>
            </a:r>
            <a:r>
              <a:rPr lang="zh-CN" altLang="en-US" dirty="0">
                <a:solidFill>
                  <a:srgbClr val="FF0000"/>
                </a:solidFill>
              </a:rPr>
              <a:t>指数和超指数函数</a:t>
            </a:r>
            <a:r>
              <a:rPr lang="en-US" altLang="zh-CN" dirty="0"/>
              <a:t>(</a:t>
            </a:r>
            <a:r>
              <a:rPr lang="zh-CN" altLang="en-US" dirty="0"/>
              <a:t>如</a:t>
            </a:r>
            <a:r>
              <a:rPr lang="en-US" altLang="zh-CN" dirty="0"/>
              <a:t>2</a:t>
            </a:r>
            <a:r>
              <a:rPr lang="en-US" altLang="zh-CN" baseline="30000" dirty="0"/>
              <a:t>n</a:t>
            </a:r>
            <a:r>
              <a:rPr lang="zh-CN" altLang="en-US" dirty="0"/>
              <a:t>和</a:t>
            </a:r>
            <a:r>
              <a:rPr lang="en-US" altLang="zh-CN" dirty="0"/>
              <a:t>n!</a:t>
            </a:r>
            <a:r>
              <a:rPr lang="zh-CN" altLang="en-US" dirty="0"/>
              <a:t>）来测度。随着问题规模的增长而</a:t>
            </a:r>
            <a:r>
              <a:rPr lang="zh-CN" altLang="en-US" dirty="0">
                <a:solidFill>
                  <a:srgbClr val="FF0000"/>
                </a:solidFill>
              </a:rPr>
              <a:t>快速增长</a:t>
            </a:r>
            <a:r>
              <a:rPr lang="zh-CN" altLang="en-US" dirty="0"/>
              <a:t>。</a:t>
            </a:r>
            <a:endParaRPr lang="en-US" altLang="zh-CN" dirty="0"/>
          </a:p>
          <a:p>
            <a:pPr eaLnBrk="1" hangingPunct="1">
              <a:lnSpc>
                <a:spcPct val="90000"/>
              </a:lnSpc>
            </a:pPr>
            <a:r>
              <a:rPr lang="zh-CN" altLang="en-US" dirty="0"/>
              <a:t>在计算机科学界已达成这样的共识，认为存在多项式时间算法的问题是</a:t>
            </a:r>
            <a:r>
              <a:rPr lang="zh-CN" altLang="en-US" dirty="0">
                <a:solidFill>
                  <a:srgbClr val="FF0000"/>
                </a:solidFill>
              </a:rPr>
              <a:t>易求解</a:t>
            </a:r>
            <a:r>
              <a:rPr lang="zh-CN" altLang="en-US" dirty="0"/>
              <a:t>的，而对于那些不大可能存在多项式时间算法的问题是</a:t>
            </a:r>
            <a:r>
              <a:rPr lang="zh-CN" altLang="en-US" dirty="0">
                <a:solidFill>
                  <a:srgbClr val="FF0000"/>
                </a:solidFill>
              </a:rPr>
              <a:t>难解的</a:t>
            </a:r>
            <a:r>
              <a:rPr lang="zh-CN" altLang="en-US"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ln/>
        </p:spPr>
        <p:txBody>
          <a:bodyPr vert="horz" wrap="square" lIns="91440" tIns="45720" rIns="91440" bIns="45720" anchor="ctr" anchorCtr="0"/>
          <a:lstStyle/>
          <a:p>
            <a:pPr eaLnBrk="1" hangingPunct="1"/>
            <a:r>
              <a:rPr lang="zh-CN" altLang="en-US" dirty="0"/>
              <a:t>易解问题与难解问题的主要区别</a:t>
            </a:r>
          </a:p>
        </p:txBody>
      </p:sp>
      <p:sp>
        <p:nvSpPr>
          <p:cNvPr id="320515" name="Rectangle 3"/>
          <p:cNvSpPr>
            <a:spLocks noGrp="1"/>
          </p:cNvSpPr>
          <p:nvPr>
            <p:ph type="body" sz="half" idx="1"/>
          </p:nvPr>
        </p:nvSpPr>
        <p:spPr>
          <a:xfrm>
            <a:off x="609600" y="1295400"/>
            <a:ext cx="8153400" cy="3886200"/>
          </a:xfrm>
          <a:ln/>
        </p:spPr>
        <p:txBody>
          <a:bodyPr vert="horz" wrap="square" lIns="91440" tIns="45720" rIns="91440" bIns="45720" anchor="t" anchorCtr="0"/>
          <a:lstStyle/>
          <a:p>
            <a:pPr marL="495300" indent="-495300">
              <a:buClrTx/>
              <a:buSzTx/>
              <a:buFontTx/>
              <a:buNone/>
            </a:pPr>
            <a:r>
              <a:rPr lang="en-US" altLang="zh-CN" sz="2200" dirty="0"/>
              <a:t>      </a:t>
            </a:r>
            <a:r>
              <a:rPr lang="zh-CN" altLang="en-US" sz="2400" dirty="0"/>
              <a:t>在学术界已达成这样的共识：把多项式时间复杂性作为易解问题与难解问题的分界线，主要原因有：</a:t>
            </a:r>
          </a:p>
          <a:p>
            <a:pPr marL="495300" indent="-495300">
              <a:buClrTx/>
              <a:buSzTx/>
              <a:buFontTx/>
              <a:buNone/>
            </a:pPr>
            <a:r>
              <a:rPr lang="en-US" altLang="zh-CN" sz="2400" dirty="0"/>
              <a:t>1) </a:t>
            </a:r>
            <a:r>
              <a:rPr lang="zh-CN" altLang="en-US" sz="2400" dirty="0"/>
              <a:t>多项式函数与指数函数的增长率有本质差别</a:t>
            </a:r>
          </a:p>
        </p:txBody>
      </p:sp>
      <p:graphicFrame>
        <p:nvGraphicFramePr>
          <p:cNvPr id="321370" name="Group 858"/>
          <p:cNvGraphicFramePr>
            <a:graphicFrameLocks noGrp="1"/>
          </p:cNvGraphicFramePr>
          <p:nvPr>
            <p:ph sz="half" idx="1"/>
          </p:nvPr>
        </p:nvGraphicFramePr>
        <p:xfrm>
          <a:off x="914400" y="2971800"/>
          <a:ext cx="7543800" cy="2560640"/>
        </p:xfrm>
        <a:graphic>
          <a:graphicData uri="http://schemas.openxmlformats.org/drawingml/2006/table">
            <a:tbl>
              <a:tblPr/>
              <a:tblGrid>
                <a:gridCol w="1428750">
                  <a:extLst>
                    <a:ext uri="{9D8B030D-6E8A-4147-A177-3AD203B41FA5}">
                      <a16:colId xmlns:a16="http://schemas.microsoft.com/office/drawing/2014/main" val="20000"/>
                    </a:ext>
                  </a:extLst>
                </a:gridCol>
                <a:gridCol w="752475">
                  <a:extLst>
                    <a:ext uri="{9D8B030D-6E8A-4147-A177-3AD203B41FA5}">
                      <a16:colId xmlns:a16="http://schemas.microsoft.com/office/drawing/2014/main" val="20001"/>
                    </a:ext>
                  </a:extLst>
                </a:gridCol>
                <a:gridCol w="655638">
                  <a:extLst>
                    <a:ext uri="{9D8B030D-6E8A-4147-A177-3AD203B41FA5}">
                      <a16:colId xmlns:a16="http://schemas.microsoft.com/office/drawing/2014/main" val="20002"/>
                    </a:ext>
                  </a:extLst>
                </a:gridCol>
                <a:gridCol w="896937">
                  <a:extLst>
                    <a:ext uri="{9D8B030D-6E8A-4147-A177-3AD203B41FA5}">
                      <a16:colId xmlns:a16="http://schemas.microsoft.com/office/drawing/2014/main" val="20003"/>
                    </a:ext>
                  </a:extLst>
                </a:gridCol>
                <a:gridCol w="792163">
                  <a:extLst>
                    <a:ext uri="{9D8B030D-6E8A-4147-A177-3AD203B41FA5}">
                      <a16:colId xmlns:a16="http://schemas.microsoft.com/office/drawing/2014/main" val="20004"/>
                    </a:ext>
                  </a:extLst>
                </a:gridCol>
                <a:gridCol w="941387">
                  <a:extLst>
                    <a:ext uri="{9D8B030D-6E8A-4147-A177-3AD203B41FA5}">
                      <a16:colId xmlns:a16="http://schemas.microsoft.com/office/drawing/2014/main" val="20005"/>
                    </a:ext>
                  </a:extLst>
                </a:gridCol>
                <a:gridCol w="1030288">
                  <a:extLst>
                    <a:ext uri="{9D8B030D-6E8A-4147-A177-3AD203B41FA5}">
                      <a16:colId xmlns:a16="http://schemas.microsoft.com/office/drawing/2014/main" val="20006"/>
                    </a:ext>
                  </a:extLst>
                </a:gridCol>
                <a:gridCol w="1046162">
                  <a:extLst>
                    <a:ext uri="{9D8B030D-6E8A-4147-A177-3AD203B41FA5}">
                      <a16:colId xmlns:a16="http://schemas.microsoft.com/office/drawing/2014/main" val="20007"/>
                    </a:ext>
                  </a:extLst>
                </a:gridCol>
              </a:tblGrid>
              <a:tr h="457257">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a:ln>
                            <a:noFill/>
                          </a:ln>
                          <a:solidFill>
                            <a:srgbClr val="000080"/>
                          </a:solidFill>
                          <a:effectLst/>
                          <a:latin typeface="华文中宋" panose="02010600040101010101" pitchFamily="2" charset="-122"/>
                          <a:ea typeface="华文中宋" panose="02010600040101010101" pitchFamily="2" charset="-122"/>
                          <a:cs typeface="Times New Roman" panose="02020603050405020304" pitchFamily="18" charset="0"/>
                        </a:rPr>
                        <a:t>问题规模</a:t>
                      </a:r>
                      <a:r>
                        <a:rPr kumimoji="0" lang="en-US" altLang="zh-CN" sz="22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5">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a:ln>
                            <a:noFill/>
                          </a:ln>
                          <a:solidFill>
                            <a:srgbClr val="000080"/>
                          </a:solidFill>
                          <a:effectLst/>
                          <a:latin typeface="华文中宋" panose="02010600040101010101" pitchFamily="2" charset="-122"/>
                          <a:ea typeface="华文中宋" panose="02010600040101010101" pitchFamily="2" charset="-122"/>
                          <a:cs typeface="Times New Roman" panose="02020603050405020304" pitchFamily="18" charset="0"/>
                        </a:rPr>
                        <a:t>多项式函数</a:t>
                      </a:r>
                      <a:endParaRPr kumimoji="0" lang="zh-CN" altLang="en-US"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a:ln>
                            <a:noFill/>
                          </a:ln>
                          <a:solidFill>
                            <a:srgbClr val="000080"/>
                          </a:solidFill>
                          <a:effectLst/>
                          <a:latin typeface="华文中宋" panose="02010600040101010101" pitchFamily="2" charset="-122"/>
                          <a:ea typeface="华文中宋" panose="02010600040101010101" pitchFamily="2" charset="-122"/>
                          <a:cs typeface="Times New Roman" panose="02020603050405020304" pitchFamily="18" charset="0"/>
                        </a:rPr>
                        <a:t>指数函数</a:t>
                      </a:r>
                      <a:endParaRPr kumimoji="0" lang="zh-CN" altLang="en-US"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426773">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logn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nlogn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r>
                        <a:rPr kumimoji="0" lang="en-US" altLang="zh-CN" sz="22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r>
                        <a:rPr kumimoji="0" lang="en-US" altLang="zh-CN" sz="22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kumimoji="0" lang="en-US" altLang="zh-CN" sz="22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2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32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2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3.3</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33.2</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1024</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3628800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32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4.3</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86.4</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400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8000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1048376</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2.4E18</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32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5.6</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282.2</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2500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125000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1.0E15</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3.0E64</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2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6.6</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664.4</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1.3E30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9.3E157</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26" marB="45726"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31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7520365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20515">
                                            <p:txEl>
                                              <p:pRg st="1" end="1"/>
                                            </p:txEl>
                                          </p:spTgt>
                                        </p:tgtEl>
                                        <p:attrNameLst>
                                          <p:attrName>style.visibility</p:attrName>
                                        </p:attrNameLst>
                                      </p:cBhvr>
                                      <p:to>
                                        <p:strVal val="visible"/>
                                      </p:to>
                                    </p:set>
                                    <p:anim to="" calcmode="lin" valueType="num">
                                      <p:cBhvr>
                                        <p:cTn id="7" dur="1" fill="hold"/>
                                        <p:tgtEl>
                                          <p:spTgt spid="320515">
                                            <p:txEl>
                                              <p:pRg st="1" end="1"/>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21370"/>
                                        </p:tgtEl>
                                        <p:attrNameLst>
                                          <p:attrName>style.visibility</p:attrName>
                                        </p:attrNameLst>
                                      </p:cBhvr>
                                      <p:to>
                                        <p:strVal val="visible"/>
                                      </p:to>
                                    </p:set>
                                    <p:anim to="" calcmode="lin" valueType="num">
                                      <p:cBhvr>
                                        <p:cTn id="12" dur="1" fill="hold"/>
                                        <p:tgtEl>
                                          <p:spTgt spid="321370"/>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ln/>
        </p:spPr>
        <p:txBody>
          <a:bodyPr vert="horz" wrap="square" lIns="91440" tIns="45720" rIns="91440" bIns="45720" anchor="ctr" anchorCtr="0"/>
          <a:lstStyle/>
          <a:p>
            <a:endParaRPr lang="zh-CN" altLang="zh-CN" dirty="0"/>
          </a:p>
        </p:txBody>
      </p:sp>
      <p:sp>
        <p:nvSpPr>
          <p:cNvPr id="11267" name="Rectangle 3"/>
          <p:cNvSpPr>
            <a:spLocks noGrp="1"/>
          </p:cNvSpPr>
          <p:nvPr>
            <p:ph idx="1"/>
          </p:nvPr>
        </p:nvSpPr>
        <p:spPr>
          <a:ln/>
        </p:spPr>
        <p:txBody>
          <a:bodyPr vert="horz" wrap="square" lIns="91440" tIns="45720" rIns="91440" bIns="45720" anchor="t" anchorCtr="0"/>
          <a:lstStyle/>
          <a:p>
            <a:pPr>
              <a:buNone/>
            </a:pPr>
            <a:r>
              <a:rPr lang="en-US" altLang="zh-CN" dirty="0"/>
              <a:t>2) </a:t>
            </a:r>
            <a:r>
              <a:rPr lang="zh-CN" altLang="en-US" dirty="0"/>
              <a:t>计算机性能的提高对易解问题与难解问题算法的影响</a:t>
            </a:r>
          </a:p>
          <a:p>
            <a:pPr>
              <a:buNone/>
            </a:pPr>
            <a:r>
              <a:rPr lang="zh-CN" altLang="en-US" dirty="0"/>
              <a:t>    </a:t>
            </a:r>
            <a:r>
              <a:rPr lang="zh-CN" altLang="en-US" sz="2400" dirty="0"/>
              <a:t>假设求解同一个问题有</a:t>
            </a:r>
            <a:r>
              <a:rPr lang="en-US" altLang="zh-CN" sz="2400" dirty="0"/>
              <a:t>5</a:t>
            </a:r>
            <a:r>
              <a:rPr lang="zh-CN" altLang="en-US" sz="2400" dirty="0"/>
              <a:t>个算法</a:t>
            </a:r>
            <a:r>
              <a:rPr lang="en-US" altLang="zh-CN" sz="2400" dirty="0"/>
              <a:t>A1~A5</a:t>
            </a:r>
            <a:r>
              <a:rPr lang="zh-CN" altLang="en-US" sz="2400" dirty="0"/>
              <a:t>，时间复杂度</a:t>
            </a:r>
            <a:r>
              <a:rPr lang="en-US" altLang="zh-CN" sz="2400" dirty="0"/>
              <a:t>T(n)</a:t>
            </a:r>
            <a:r>
              <a:rPr lang="zh-CN" altLang="en-US" sz="2400" dirty="0"/>
              <a:t>如下表，假定计算机</a:t>
            </a:r>
            <a:r>
              <a:rPr lang="en-US" altLang="zh-CN" sz="2400" dirty="0"/>
              <a:t>C2</a:t>
            </a:r>
            <a:r>
              <a:rPr lang="zh-CN" altLang="en-US" sz="2400" dirty="0"/>
              <a:t>的速度是计算机</a:t>
            </a:r>
            <a:r>
              <a:rPr lang="en-US" altLang="zh-CN" sz="2400" dirty="0"/>
              <a:t>C1</a:t>
            </a:r>
            <a:r>
              <a:rPr lang="zh-CN" altLang="en-US" sz="2400" dirty="0"/>
              <a:t>的</a:t>
            </a:r>
            <a:r>
              <a:rPr lang="en-US" altLang="zh-CN" sz="2400" dirty="0"/>
              <a:t>10</a:t>
            </a:r>
            <a:r>
              <a:rPr lang="zh-CN" altLang="en-US" sz="2400" dirty="0"/>
              <a:t>倍。下表给出了在相同时间内不同算法能处理的问题规模情况：</a:t>
            </a:r>
            <a:r>
              <a:rPr lang="zh-CN" altLang="en-US" dirty="0"/>
              <a:t> </a:t>
            </a:r>
          </a:p>
          <a:p>
            <a:pPr>
              <a:buNone/>
            </a:pPr>
            <a:endParaRPr lang="en-US" altLang="zh-CN" dirty="0"/>
          </a:p>
        </p:txBody>
      </p:sp>
      <p:sp>
        <p:nvSpPr>
          <p:cNvPr id="11268" name="Rectangle 24"/>
          <p:cNvSpPr/>
          <p:nvPr/>
        </p:nvSpPr>
        <p:spPr>
          <a:xfrm>
            <a:off x="444500" y="1981200"/>
            <a:ext cx="2211388" cy="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graphicFrame>
        <p:nvGraphicFramePr>
          <p:cNvPr id="327895" name="Group 215"/>
          <p:cNvGraphicFramePr>
            <a:graphicFrameLocks noGrp="1"/>
          </p:cNvGraphicFramePr>
          <p:nvPr/>
        </p:nvGraphicFramePr>
        <p:xfrm>
          <a:off x="990600" y="3581400"/>
          <a:ext cx="6884988" cy="2112964"/>
        </p:xfrm>
        <a:graphic>
          <a:graphicData uri="http://schemas.openxmlformats.org/drawingml/2006/table">
            <a:tbl>
              <a:tblPr/>
              <a:tblGrid>
                <a:gridCol w="10668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2151063">
                  <a:extLst>
                    <a:ext uri="{9D8B030D-6E8A-4147-A177-3AD203B41FA5}">
                      <a16:colId xmlns:a16="http://schemas.microsoft.com/office/drawing/2014/main" val="20003"/>
                    </a:ext>
                  </a:extLst>
                </a:gridCol>
                <a:gridCol w="1152525">
                  <a:extLst>
                    <a:ext uri="{9D8B030D-6E8A-4147-A177-3AD203B41FA5}">
                      <a16:colId xmlns:a16="http://schemas.microsoft.com/office/drawing/2014/main" val="20004"/>
                    </a:ext>
                  </a:extLst>
                </a:gridCol>
              </a:tblGrid>
              <a:tr h="33655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T(n)</a:t>
                      </a:r>
                      <a:endParaRPr kumimoji="0" lang="en-US" altLang="zh-CN" sz="16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6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80"/>
                          </a:solidFill>
                          <a:effectLst/>
                          <a:latin typeface="华文中宋" panose="02010600040101010101" pitchFamily="2" charset="-122"/>
                          <a:ea typeface="华文中宋" panose="02010600040101010101" pitchFamily="2" charset="-122"/>
                          <a:cs typeface="Times New Roman" panose="02020603050405020304" pitchFamily="18" charset="0"/>
                        </a:rPr>
                        <a:t>变化</a:t>
                      </a:r>
                      <a:endParaRPr kumimoji="0" lang="zh-CN" altLang="en-US"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13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n′=10n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20n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5000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n′=10n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5nlogn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250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1842</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n&lt;n′&lt;10n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7.37</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3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2n</a:t>
                      </a:r>
                      <a:r>
                        <a:rPr kumimoji="0" lang="en-US" altLang="zh-CN" sz="16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70</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223</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3.16</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kumimoji="0" lang="en-US" altLang="zh-CN" sz="16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13</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16</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n′=n+log10≈n+3</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1313" name="Object 2"/>
          <p:cNvGraphicFramePr>
            <a:graphicFrameLocks noChangeAspect="1"/>
          </p:cNvGraphicFramePr>
          <p:nvPr/>
        </p:nvGraphicFramePr>
        <p:xfrm>
          <a:off x="5181600" y="4953000"/>
          <a:ext cx="381000" cy="287338"/>
        </p:xfrm>
        <a:graphic>
          <a:graphicData uri="http://schemas.openxmlformats.org/presentationml/2006/ole">
            <mc:AlternateContent xmlns:mc="http://schemas.openxmlformats.org/markup-compatibility/2006">
              <mc:Choice xmlns:v="urn:schemas-microsoft-com:vml" Requires="v">
                <p:oleObj spid="_x0000_s1050" r:id="rId4" imgW="304800" imgH="228600" progId="">
                  <p:embed/>
                </p:oleObj>
              </mc:Choice>
              <mc:Fallback>
                <p:oleObj r:id="rId4" imgW="304800" imgH="228600" progId="">
                  <p:embed/>
                  <p:pic>
                    <p:nvPicPr>
                      <p:cNvPr id="11313" name="Object 2"/>
                      <p:cNvPicPr/>
                      <p:nvPr/>
                    </p:nvPicPr>
                    <p:blipFill>
                      <a:blip r:embed="rId5"/>
                      <a:stretch>
                        <a:fillRect/>
                      </a:stretch>
                    </p:blipFill>
                    <p:spPr>
                      <a:xfrm>
                        <a:off x="5181600" y="4953000"/>
                        <a:ext cx="381000" cy="287338"/>
                      </a:xfrm>
                      <a:prstGeom prst="rect">
                        <a:avLst/>
                      </a:prstGeom>
                      <a:noFill/>
                      <a:ln w="38100">
                        <a:noFill/>
                        <a:miter/>
                      </a:ln>
                    </p:spPr>
                  </p:pic>
                </p:oleObj>
              </mc:Fallback>
            </mc:AlternateContent>
          </a:graphicData>
        </a:graphic>
      </p:graphicFrame>
      <p:graphicFrame>
        <p:nvGraphicFramePr>
          <p:cNvPr id="11314" name="Object 3"/>
          <p:cNvGraphicFramePr>
            <a:graphicFrameLocks noChangeAspect="1"/>
          </p:cNvGraphicFramePr>
          <p:nvPr/>
        </p:nvGraphicFramePr>
        <p:xfrm>
          <a:off x="4800600" y="4648200"/>
          <a:ext cx="381000" cy="287338"/>
        </p:xfrm>
        <a:graphic>
          <a:graphicData uri="http://schemas.openxmlformats.org/presentationml/2006/ole">
            <mc:AlternateContent xmlns:mc="http://schemas.openxmlformats.org/markup-compatibility/2006">
              <mc:Choice xmlns:v="urn:schemas-microsoft-com:vml" Requires="v">
                <p:oleObj spid="_x0000_s1051" r:id="rId4" imgW="304800" imgH="228600" progId="">
                  <p:embed/>
                </p:oleObj>
              </mc:Choice>
              <mc:Fallback>
                <p:oleObj r:id="rId4" imgW="304800" imgH="228600" progId="">
                  <p:embed/>
                  <p:pic>
                    <p:nvPicPr>
                      <p:cNvPr id="11314" name="Object 3"/>
                      <p:cNvPicPr/>
                      <p:nvPr/>
                    </p:nvPicPr>
                    <p:blipFill>
                      <a:blip r:embed="rId5"/>
                      <a:stretch>
                        <a:fillRect/>
                      </a:stretch>
                    </p:blipFill>
                    <p:spPr>
                      <a:xfrm>
                        <a:off x="4800600" y="4648200"/>
                        <a:ext cx="381000" cy="287338"/>
                      </a:xfrm>
                      <a:prstGeom prst="rect">
                        <a:avLst/>
                      </a:prstGeom>
                      <a:noFill/>
                      <a:ln w="38100">
                        <a:noFill/>
                        <a:miter/>
                      </a:ln>
                    </p:spPr>
                  </p:pic>
                </p:oleObj>
              </mc:Fallback>
            </mc:AlternateContent>
          </a:graphicData>
        </a:graphic>
      </p:graphicFrame>
      <p:sp>
        <p:nvSpPr>
          <p:cNvPr id="11315"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26119909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25"/>
          <p:cNvSpPr>
            <a:spLocks noGrp="1"/>
          </p:cNvSpPr>
          <p:nvPr>
            <p:ph type="title"/>
          </p:nvPr>
        </p:nvSpPr>
        <p:spPr>
          <a:ln/>
        </p:spPr>
        <p:txBody>
          <a:bodyPr vert="horz" wrap="square" lIns="91440" tIns="45720" rIns="91440" bIns="45720" anchor="ctr" anchorCtr="0"/>
          <a:lstStyle/>
          <a:p>
            <a:endParaRPr lang="zh-CN" altLang="zh-CN" dirty="0"/>
          </a:p>
        </p:txBody>
      </p:sp>
      <p:sp>
        <p:nvSpPr>
          <p:cNvPr id="13315" name="Rectangle 3"/>
          <p:cNvSpPr>
            <a:spLocks noGrp="1"/>
          </p:cNvSpPr>
          <p:nvPr>
            <p:ph type="body" sz="half" idx="1"/>
          </p:nvPr>
        </p:nvSpPr>
        <p:spPr>
          <a:xfrm>
            <a:off x="609600" y="1371600"/>
            <a:ext cx="8077200" cy="1066800"/>
          </a:xfrm>
          <a:ln/>
        </p:spPr>
        <p:txBody>
          <a:bodyPr vert="horz" wrap="square" lIns="91440" tIns="45720" rIns="91440" bIns="45720" anchor="t" anchorCtr="0"/>
          <a:lstStyle/>
          <a:p>
            <a:pPr marL="495300" indent="-495300">
              <a:buClrTx/>
              <a:buSzTx/>
              <a:buFontTx/>
              <a:buNone/>
            </a:pPr>
            <a:r>
              <a:rPr lang="en-US" altLang="zh-CN" sz="2200" dirty="0"/>
              <a:t>3) </a:t>
            </a:r>
            <a:r>
              <a:rPr lang="zh-CN" altLang="en-US" sz="2400" dirty="0"/>
              <a:t>多项式时间复杂性忽略了系数，不影响易解问题与难解问题的划分</a:t>
            </a:r>
          </a:p>
        </p:txBody>
      </p:sp>
      <p:graphicFrame>
        <p:nvGraphicFramePr>
          <p:cNvPr id="328935" name="Group 231"/>
          <p:cNvGraphicFramePr>
            <a:graphicFrameLocks noGrp="1"/>
          </p:cNvGraphicFramePr>
          <p:nvPr>
            <p:ph sz="half" idx="1"/>
          </p:nvPr>
        </p:nvGraphicFramePr>
        <p:xfrm>
          <a:off x="1066800" y="2286000"/>
          <a:ext cx="7239000" cy="2325701"/>
        </p:xfrm>
        <a:graphic>
          <a:graphicData uri="http://schemas.openxmlformats.org/drawingml/2006/table">
            <a:tbl>
              <a:tblPr/>
              <a:tblGrid>
                <a:gridCol w="1343025">
                  <a:extLst>
                    <a:ext uri="{9D8B030D-6E8A-4147-A177-3AD203B41FA5}">
                      <a16:colId xmlns:a16="http://schemas.microsoft.com/office/drawing/2014/main" val="20000"/>
                    </a:ext>
                  </a:extLst>
                </a:gridCol>
                <a:gridCol w="1069975">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tblGrid>
              <a:tr h="365738">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80"/>
                          </a:solidFill>
                          <a:effectLst/>
                          <a:latin typeface="华文中宋" panose="02010600040101010101" pitchFamily="2" charset="-122"/>
                          <a:ea typeface="华文中宋" panose="02010600040101010101" pitchFamily="2" charset="-122"/>
                          <a:cs typeface="Times New Roman" panose="02020603050405020304" pitchFamily="18" charset="0"/>
                        </a:rPr>
                        <a:t>问题规模</a:t>
                      </a:r>
                      <a:r>
                        <a:rPr kumimoji="0" lang="en-US" altLang="zh-CN" sz="1800" b="1" i="0" u="none" strike="noStrike" cap="none" normalizeH="0" baseline="0" dirty="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8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80"/>
                          </a:solidFill>
                          <a:effectLst/>
                          <a:latin typeface="华文中宋" panose="02010600040101010101" pitchFamily="2" charset="-122"/>
                          <a:ea typeface="华文中宋" panose="02010600040101010101" pitchFamily="2" charset="-122"/>
                          <a:cs typeface="Times New Roman" panose="02020603050405020304" pitchFamily="18" charset="0"/>
                        </a:rPr>
                        <a:t>多项式函数</a:t>
                      </a:r>
                      <a:endParaRPr kumimoji="0" lang="zh-CN" altLang="en-US"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80"/>
                          </a:solidFill>
                          <a:effectLst/>
                          <a:latin typeface="华文中宋" panose="02010600040101010101" pitchFamily="2" charset="-122"/>
                          <a:ea typeface="华文中宋" panose="02010600040101010101" pitchFamily="2" charset="-122"/>
                          <a:cs typeface="Times New Roman" panose="02020603050405020304" pitchFamily="18" charset="0"/>
                        </a:rPr>
                        <a:t>指数函数</a:t>
                      </a:r>
                      <a:endParaRPr kumimoji="0" lang="zh-CN" altLang="en-US" sz="18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65738">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r>
                        <a:rPr kumimoji="0" lang="en-US" altLang="zh-CN" sz="18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8</a:t>
                      </a:r>
                      <a:r>
                        <a:rPr kumimoji="0" lang="en-US" altLang="zh-CN" sz="18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r>
                        <a:rPr kumimoji="0" lang="en-US" altLang="zh-CN" sz="18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1000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1.1</a:t>
                      </a:r>
                      <a:r>
                        <a:rPr kumimoji="0" lang="en-US" altLang="zh-CN" sz="18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kumimoji="0" lang="en-US" altLang="zh-CN" sz="1800" b="1" i="0" u="none" strike="noStrike" cap="none" normalizeH="0" baseline="3000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0.01n</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362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390625</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5</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1.611</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1.035</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3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2.594</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1.072</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203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16</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2000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13780.6</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282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1000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24</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11</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3000</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2.47×10</a:t>
                      </a:r>
                      <a:r>
                        <a:rPr kumimoji="0" lang="en-US" altLang="zh-CN" sz="1800" b="1" i="0" u="none" strike="noStrike" cap="none" normalizeH="0" baseline="3000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41</a:t>
                      </a:r>
                      <a:endParaRPr kumimoji="0" lang="en-US" altLang="zh-CN" sz="1800" b="0" i="0" u="none" strike="noStrike" cap="none" normalizeH="0" baseline="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80"/>
                          </a:solidFill>
                          <a:effectLst/>
                          <a:latin typeface="Times New Roman" panose="02020603050405020304" pitchFamily="18" charset="0"/>
                          <a:ea typeface="华文中宋" panose="02010600040101010101" pitchFamily="2" charset="-122"/>
                          <a:cs typeface="Times New Roman" panose="02020603050405020304" pitchFamily="18" charset="0"/>
                        </a:rPr>
                        <a:t>1024</a:t>
                      </a:r>
                      <a:endParaRPr kumimoji="0" lang="en-US" altLang="zh-CN" sz="1800" b="0" i="0" u="none" strike="noStrike" cap="none" normalizeH="0" baseline="0" dirty="0">
                        <a:ln>
                          <a:noFill/>
                        </a:ln>
                        <a:solidFill>
                          <a:schemeClr val="tx1"/>
                        </a:solidFill>
                        <a:effectLst/>
                        <a:latin typeface="Arial" panose="020B0604020202020204" pitchFamily="34" charset="0"/>
                        <a:ea typeface="华文中宋" panose="02010600040101010101" pitchFamily="2" charset="-122"/>
                        <a:cs typeface="Times New Roman" panose="02020603050405020304" pitchFamily="18" charset="0"/>
                      </a:endParaRPr>
                    </a:p>
                  </a:txBody>
                  <a:tcPr marT="45711" marB="4571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28936" name="Rectangle 232"/>
          <p:cNvSpPr/>
          <p:nvPr/>
        </p:nvSpPr>
        <p:spPr>
          <a:xfrm>
            <a:off x="685800" y="4953000"/>
            <a:ext cx="8229600" cy="8223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zh-CN" altLang="en-US" sz="2400" b="1" dirty="0">
                <a:solidFill>
                  <a:schemeClr val="tx1"/>
                </a:solidFill>
                <a:latin typeface="Arial" panose="020B0604020202020204" pitchFamily="34" charset="0"/>
                <a:ea typeface="宋体" panose="02010600030101010101" pitchFamily="2" charset="-122"/>
              </a:rPr>
              <a:t>观察结论：</a:t>
            </a:r>
            <a:r>
              <a:rPr lang="en-US" altLang="zh-CN" sz="2400" b="1" dirty="0">
                <a:solidFill>
                  <a:schemeClr val="tx1"/>
                </a:solidFill>
                <a:latin typeface="Arial" panose="020B0604020202020204" pitchFamily="34" charset="0"/>
                <a:ea typeface="宋体" panose="02010600030101010101" pitchFamily="2" charset="-122"/>
              </a:rPr>
              <a:t>n≤100</a:t>
            </a:r>
            <a:r>
              <a:rPr lang="zh-CN" altLang="en-US" sz="2400" b="1" dirty="0">
                <a:solidFill>
                  <a:schemeClr val="tx1"/>
                </a:solidFill>
                <a:latin typeface="Arial" panose="020B0604020202020204" pitchFamily="34" charset="0"/>
                <a:ea typeface="宋体" panose="02010600030101010101" pitchFamily="2" charset="-122"/>
              </a:rPr>
              <a:t>时，（不自然的）多项式函数值大于指数函数值，但</a:t>
            </a:r>
            <a:r>
              <a:rPr lang="en-US" altLang="zh-CN" sz="2400" b="1" dirty="0">
                <a:solidFill>
                  <a:srgbClr val="FF0000"/>
                </a:solidFill>
                <a:latin typeface="Arial" panose="020B0604020202020204" pitchFamily="34" charset="0"/>
                <a:ea typeface="宋体" panose="02010600030101010101" pitchFamily="2" charset="-122"/>
              </a:rPr>
              <a:t>n</a:t>
            </a:r>
            <a:r>
              <a:rPr lang="zh-CN" altLang="en-US" sz="2400" b="1" dirty="0">
                <a:solidFill>
                  <a:srgbClr val="FF0000"/>
                </a:solidFill>
                <a:latin typeface="Arial" panose="020B0604020202020204" pitchFamily="34" charset="0"/>
                <a:ea typeface="宋体" panose="02010600030101010101" pitchFamily="2" charset="-122"/>
              </a:rPr>
              <a:t>充分大时，指数函数仍然超过多项式函数</a:t>
            </a:r>
            <a:r>
              <a:rPr lang="zh-CN" altLang="en-US" sz="2400" b="1" dirty="0">
                <a:solidFill>
                  <a:schemeClr val="tx1"/>
                </a:solidFill>
                <a:latin typeface="Arial" panose="020B0604020202020204" pitchFamily="34" charset="0"/>
                <a:ea typeface="宋体" panose="02010600030101010101" pitchFamily="2" charset="-122"/>
              </a:rPr>
              <a:t>。</a:t>
            </a:r>
          </a:p>
        </p:txBody>
      </p:sp>
      <p:sp>
        <p:nvSpPr>
          <p:cNvPr id="1336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6972292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28936">
                                            <p:txEl>
                                              <p:pRg st="0" end="0"/>
                                            </p:txEl>
                                          </p:spTgt>
                                        </p:tgtEl>
                                        <p:attrNameLst>
                                          <p:attrName>style.visibility</p:attrName>
                                        </p:attrNameLst>
                                      </p:cBhvr>
                                      <p:to>
                                        <p:strVal val="visible"/>
                                      </p:to>
                                    </p:set>
                                    <p:anim to="" calcmode="lin" valueType="num">
                                      <p:cBhvr>
                                        <p:cTn id="7" dur="1" fill="hold"/>
                                        <p:tgtEl>
                                          <p:spTgt spid="328936">
                                            <p:txEl>
                                              <p:pRg st="0" end="0"/>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4339" name="Rectangle 2"/>
          <p:cNvSpPr>
            <a:spLocks noGrp="1"/>
          </p:cNvSpPr>
          <p:nvPr>
            <p:ph type="title"/>
          </p:nvPr>
        </p:nvSpPr>
        <p:spPr>
          <a:ln/>
        </p:spPr>
        <p:txBody>
          <a:bodyPr vert="horz" wrap="square" lIns="91440" tIns="45720" rIns="91440" bIns="45720" anchor="ctr" anchorCtr="0"/>
          <a:lstStyle/>
          <a:p>
            <a:pPr eaLnBrk="1" hangingPunct="1"/>
            <a:r>
              <a:rPr lang="zh-CN" altLang="en-US" dirty="0"/>
              <a:t>难解问题</a:t>
            </a:r>
            <a:endParaRPr lang="en-US" altLang="zh-CN" dirty="0"/>
          </a:p>
        </p:txBody>
      </p:sp>
      <p:sp>
        <p:nvSpPr>
          <p:cNvPr id="11267" name="Rectangle 3"/>
          <p:cNvSpPr>
            <a:spLocks noGrp="1" noChangeArrowheads="1"/>
          </p:cNvSpPr>
          <p:nvPr>
            <p:ph idx="1"/>
          </p:nvPr>
        </p:nvSpPr>
        <p:spPr>
          <a:xfrm>
            <a:off x="838200" y="1371600"/>
            <a:ext cx="8001000" cy="4267200"/>
          </a:xfrm>
        </p:spPr>
        <p:txBody>
          <a:bodyPr vert="horz" wrap="square" lIns="91440" tIns="45720" rIns="91440" bIns="45720" numCol="1" anchor="t" anchorCtr="0" compatLnSpc="1"/>
          <a:lstStyle/>
          <a:p>
            <a:pPr indent="-285750" eaLnBrk="1" hangingPunct="1">
              <a:lnSpc>
                <a:spcPct val="80000"/>
              </a:lnSpc>
              <a:defRPr/>
            </a:pPr>
            <a:r>
              <a:rPr kumimoji="0" lang="zh-CN" altLang="en-US" b="0" i="0" u="none" strike="noStrike" kern="0" cap="none" spc="0" normalizeH="0" baseline="0" noProof="0" dirty="0">
                <a:ln>
                  <a:noFill/>
                </a:ln>
                <a:solidFill>
                  <a:schemeClr val="accent2"/>
                </a:solidFill>
                <a:effectLst/>
                <a:uLnTx/>
                <a:uFillTx/>
                <a:latin typeface="+mn-lt"/>
                <a:ea typeface="+mn-ea"/>
              </a:rPr>
              <a:t>这一类含有许许多多问题，其中还包含了数百个著名的问题，它们有一个共同的特性，即如果它们中的一个是多项式可解的，那么所有其他的问题也是多项式可解的。</a:t>
            </a:r>
            <a:endParaRPr kumimoji="0" lang="en-US" altLang="zh-CN"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endParaRPr>
          </a:p>
          <a:p>
            <a:pPr marL="342900" marR="0" lvl="1" defTabSz="914400" eaLnBrk="1" latinLnBrk="0" hangingPunct="1">
              <a:lnSpc>
                <a:spcPct val="80000"/>
              </a:lnSpc>
              <a:buClrTx/>
              <a:buSzTx/>
              <a:buFontTx/>
              <a:buChar char="•"/>
              <a:defRPr/>
            </a:pPr>
            <a:r>
              <a:rPr lang="zh-CN" altLang="en-US" sz="2500" dirty="0">
                <a:latin typeface="+mn-lt"/>
                <a:ea typeface="+mn-ea"/>
                <a:cs typeface="+mn-cs"/>
              </a:rPr>
              <a:t>此外，现存的求解这些问题的算法的运行时间，对于中等大小的输入也要用</a:t>
            </a:r>
            <a:r>
              <a:rPr lang="zh-CN" altLang="en-US" sz="2500" dirty="0">
                <a:solidFill>
                  <a:srgbClr val="FF0000"/>
                </a:solidFill>
                <a:latin typeface="+mn-lt"/>
                <a:ea typeface="+mn-ea"/>
                <a:cs typeface="+mn-cs"/>
              </a:rPr>
              <a:t>几百或几千年来测度</a:t>
            </a:r>
            <a:r>
              <a:rPr lang="zh-CN" altLang="en-US" sz="2500" dirty="0">
                <a:latin typeface="+mn-lt"/>
                <a:ea typeface="+mn-ea"/>
                <a:cs typeface="+mn-cs"/>
              </a:rPr>
              <a:t>。</a:t>
            </a:r>
            <a:endParaRPr lang="en-US" altLang="zh-CN" sz="2500" dirty="0">
              <a:latin typeface="+mn-lt"/>
              <a:ea typeface="+mn-ea"/>
              <a:cs typeface="+mn-cs"/>
            </a:endParaRPr>
          </a:p>
        </p:txBody>
      </p:sp>
    </p:spTree>
    <p:extLst>
      <p:ext uri="{BB962C8B-B14F-4D97-AF65-F5344CB8AC3E}">
        <p14:creationId xmlns:p14="http://schemas.microsoft.com/office/powerpoint/2010/main" val="358111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2" dur="500"/>
                                        <p:tgtEl>
                                          <p:spTgt spid="1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en-US" altLang="zh-CN" dirty="0"/>
              <a:t>7.1.2 </a:t>
            </a:r>
            <a:r>
              <a:rPr lang="zh-CN" altLang="en-US" dirty="0"/>
              <a:t>算法复杂性与问题复杂性关系</a:t>
            </a:r>
            <a:r>
              <a:rPr lang="en-US" altLang="zh-CN" dirty="0"/>
              <a:t> </a:t>
            </a:r>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pPr eaLnBrk="1" hangingPunct="1">
              <a:lnSpc>
                <a:spcPct val="90000"/>
              </a:lnSpc>
            </a:pPr>
            <a:r>
              <a:rPr lang="zh-CN" altLang="en-US" dirty="0"/>
              <a:t>算法作为求解问题的方法，可以求解现实世界中很多问题，但有些问题仍然无法用任何算法求解，有些问题虽然有算法可以求解，但需要太长的运行时间或太大的存储空间</a:t>
            </a:r>
            <a:endParaRPr lang="en-US" altLang="zh-CN" dirty="0"/>
          </a:p>
          <a:p>
            <a:pPr eaLnBrk="1" hangingPunct="1">
              <a:lnSpc>
                <a:spcPct val="90000"/>
              </a:lnSpc>
            </a:pPr>
            <a:r>
              <a:rPr lang="zh-CN" altLang="en-US" dirty="0"/>
              <a:t>算法的复杂性是指解决问题的一个具体的算法的执行时间，这是算法的性质；问题的复杂性是指这个问题本身的复杂程度。</a:t>
            </a:r>
            <a:endParaRPr lang="en-US" altLang="zh-CN" dirty="0"/>
          </a:p>
          <a:p>
            <a:pPr eaLnBrk="1" hangingPunct="1">
              <a:lnSpc>
                <a:spcPct val="90000"/>
              </a:lnSpc>
            </a:pPr>
            <a:r>
              <a:rPr lang="zh-CN" altLang="en-US" dirty="0"/>
              <a:t> 很明显，问题复杂度是固有的，算法复杂度是依赖于很多现有条件的（包括逻辑条件和物理条件，前者是设计方案能力，后者是实现能力）</a:t>
            </a:r>
            <a:endParaRPr lang="en-US" altLang="zh-CN" dirty="0"/>
          </a:p>
        </p:txBody>
      </p:sp>
    </p:spTree>
    <p:extLst>
      <p:ext uri="{BB962C8B-B14F-4D97-AF65-F5344CB8AC3E}">
        <p14:creationId xmlns:p14="http://schemas.microsoft.com/office/powerpoint/2010/main" val="251237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en-US" altLang="zh-CN" dirty="0"/>
              <a:t>7.1.3 </a:t>
            </a:r>
            <a:r>
              <a:rPr lang="zh-CN" altLang="en-US" dirty="0"/>
              <a:t>可计算问题、判定问题</a:t>
            </a:r>
            <a:r>
              <a:rPr lang="en-US" altLang="zh-CN" dirty="0"/>
              <a:t> </a:t>
            </a:r>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pPr eaLnBrk="1" hangingPunct="1">
              <a:lnSpc>
                <a:spcPct val="90000"/>
              </a:lnSpc>
            </a:pPr>
            <a:r>
              <a:rPr lang="zh-CN" altLang="en-US" dirty="0"/>
              <a:t>计算复杂性理论有两个基本论题：</a:t>
            </a:r>
            <a:r>
              <a:rPr lang="en-US" altLang="zh-CN" dirty="0"/>
              <a:t>Church-Turing</a:t>
            </a:r>
            <a:r>
              <a:rPr lang="zh-CN" altLang="en-US" dirty="0"/>
              <a:t>图灵论题和</a:t>
            </a:r>
            <a:r>
              <a:rPr lang="en-US" altLang="zh-CN" dirty="0"/>
              <a:t>Cook-Karp</a:t>
            </a:r>
            <a:r>
              <a:rPr lang="zh-CN" altLang="en-US" dirty="0"/>
              <a:t>库克论题</a:t>
            </a:r>
          </a:p>
          <a:p>
            <a:pPr eaLnBrk="1" hangingPunct="1">
              <a:lnSpc>
                <a:spcPct val="90000"/>
              </a:lnSpc>
            </a:pPr>
            <a:r>
              <a:rPr lang="en-US" altLang="zh-CN" dirty="0"/>
              <a:t>Church-Turing</a:t>
            </a:r>
            <a:r>
              <a:rPr lang="zh-CN" altLang="en-US" dirty="0"/>
              <a:t>论题：一个问题是可计算的当且仅当它在图灵机上经过有限次计算得到正确的结果。这个论题把人类所面临的问题分为两类：一类是可计算的，另一类是不可计算的。但“有限次计算”是一个宽松的条件</a:t>
            </a:r>
          </a:p>
          <a:p>
            <a:pPr eaLnBrk="1" hangingPunct="1">
              <a:lnSpc>
                <a:spcPct val="90000"/>
              </a:lnSpc>
            </a:pPr>
            <a:r>
              <a:rPr lang="en-US" altLang="zh-CN" dirty="0"/>
              <a:t>Cook-Karp</a:t>
            </a:r>
            <a:r>
              <a:rPr lang="zh-CN" altLang="en-US" dirty="0"/>
              <a:t>论题：一个问题是实际可计算的当且仅当它在图灵机上经过多项式时间（步数）计算得到正确的结果。</a:t>
            </a:r>
            <a:r>
              <a:rPr lang="en-US" altLang="zh-CN" dirty="0"/>
              <a:t>Cook-Karp</a:t>
            </a:r>
            <a:r>
              <a:rPr lang="zh-CN" altLang="en-US" dirty="0"/>
              <a:t>论题将</a:t>
            </a:r>
            <a:r>
              <a:rPr lang="zh-CN" altLang="en-US" b="1" dirty="0">
                <a:solidFill>
                  <a:srgbClr val="FF0000"/>
                </a:solidFill>
              </a:rPr>
              <a:t>可计算问题类</a:t>
            </a:r>
            <a:r>
              <a:rPr lang="zh-CN" altLang="en-US" dirty="0"/>
              <a:t>进一步划分成两类：一类是</a:t>
            </a:r>
            <a:r>
              <a:rPr lang="zh-CN" altLang="en-US" b="1" dirty="0">
                <a:solidFill>
                  <a:srgbClr val="FF0000"/>
                </a:solidFill>
              </a:rPr>
              <a:t>实际可计算的</a:t>
            </a:r>
            <a:r>
              <a:rPr lang="zh-CN" altLang="en-US" dirty="0"/>
              <a:t>，另一类是</a:t>
            </a:r>
            <a:r>
              <a:rPr lang="zh-CN" altLang="en-US" b="1" dirty="0">
                <a:solidFill>
                  <a:srgbClr val="FF0000"/>
                </a:solidFill>
              </a:rPr>
              <a:t>实际不可计算的</a:t>
            </a:r>
          </a:p>
          <a:p>
            <a:pPr eaLnBrk="1" hangingPunct="1">
              <a:lnSpc>
                <a:spcPct val="90000"/>
              </a:lnSpc>
            </a:pPr>
            <a:endParaRPr lang="en-US" altLang="zh-CN" dirty="0"/>
          </a:p>
        </p:txBody>
      </p:sp>
    </p:spTree>
    <p:extLst>
      <p:ext uri="{BB962C8B-B14F-4D97-AF65-F5344CB8AC3E}">
        <p14:creationId xmlns:p14="http://schemas.microsoft.com/office/powerpoint/2010/main" val="212960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en-US" altLang="zh-CN" dirty="0"/>
              <a:t>7.1.3 </a:t>
            </a:r>
            <a:r>
              <a:rPr lang="zh-CN" altLang="en-US" dirty="0"/>
              <a:t>可计算问题、判定问题</a:t>
            </a:r>
            <a:r>
              <a:rPr lang="en-US" altLang="zh-CN" dirty="0"/>
              <a:t> </a:t>
            </a:r>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pPr eaLnBrk="1" hangingPunct="1">
              <a:lnSpc>
                <a:spcPct val="90000"/>
              </a:lnSpc>
            </a:pPr>
            <a:r>
              <a:rPr lang="zh-CN" altLang="en-US" sz="2800" dirty="0">
                <a:solidFill>
                  <a:srgbClr val="FF0000"/>
                </a:solidFill>
              </a:rPr>
              <a:t>难解问题</a:t>
            </a:r>
            <a:r>
              <a:rPr lang="zh-CN" altLang="en-US" sz="2800" dirty="0"/>
              <a:t>：虽没找到多项式时间算法，但按指数时间算法的难解问题至少在理论上可以用计算机求解。</a:t>
            </a:r>
            <a:endParaRPr lang="en-US" altLang="zh-CN" sz="2800" dirty="0"/>
          </a:p>
          <a:p>
            <a:pPr eaLnBrk="1" hangingPunct="1">
              <a:lnSpc>
                <a:spcPct val="90000"/>
              </a:lnSpc>
            </a:pPr>
            <a:r>
              <a:rPr lang="zh-CN" altLang="en-US" sz="2800" dirty="0"/>
              <a:t>但有些问题不论耗多少时间也不能用计算机求解。</a:t>
            </a:r>
            <a:endParaRPr lang="en-US" altLang="zh-CN" sz="2800" dirty="0"/>
          </a:p>
          <a:p>
            <a:pPr eaLnBrk="1" hangingPunct="1">
              <a:lnSpc>
                <a:spcPct val="90000"/>
              </a:lnSpc>
            </a:pPr>
            <a:r>
              <a:rPr lang="zh-CN" altLang="en-US" sz="2800" dirty="0"/>
              <a:t>不能用计算机求解（不论耗费多少时间）的问题称为</a:t>
            </a:r>
            <a:r>
              <a:rPr lang="zh-CN" altLang="en-US" sz="2800" dirty="0">
                <a:solidFill>
                  <a:srgbClr val="FF0000"/>
                </a:solidFill>
              </a:rPr>
              <a:t>不可解问题</a:t>
            </a:r>
            <a:r>
              <a:rPr lang="zh-CN" altLang="en-US" sz="2800" dirty="0"/>
              <a:t>。</a:t>
            </a:r>
            <a:endParaRPr lang="en-US" altLang="zh-CN" sz="2800" dirty="0"/>
          </a:p>
        </p:txBody>
      </p:sp>
    </p:spTree>
    <p:extLst>
      <p:ext uri="{BB962C8B-B14F-4D97-AF65-F5344CB8AC3E}">
        <p14:creationId xmlns:p14="http://schemas.microsoft.com/office/powerpoint/2010/main" val="218748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6387" name="Rectangle 2"/>
          <p:cNvSpPr>
            <a:spLocks noGrp="1"/>
          </p:cNvSpPr>
          <p:nvPr>
            <p:ph type="title"/>
          </p:nvPr>
        </p:nvSpPr>
        <p:spPr>
          <a:ln/>
        </p:spPr>
        <p:txBody>
          <a:bodyPr vert="horz" wrap="square" lIns="91440" tIns="45720" rIns="91440" bIns="45720" anchor="ctr" anchorCtr="0"/>
          <a:lstStyle/>
          <a:p>
            <a:pPr eaLnBrk="1" hangingPunct="1"/>
            <a:r>
              <a:rPr lang="zh-CN" altLang="en-US" dirty="0"/>
              <a:t>判定问题和最优化问题</a:t>
            </a:r>
            <a:endParaRPr lang="en-US" altLang="zh-CN" dirty="0"/>
          </a:p>
        </p:txBody>
      </p:sp>
      <p:sp>
        <p:nvSpPr>
          <p:cNvPr id="12291" name="Rectangle 3"/>
          <p:cNvSpPr>
            <a:spLocks noGrp="1" noChangeArrowheads="1"/>
          </p:cNvSpPr>
          <p:nvPr>
            <p:ph idx="1"/>
          </p:nvPr>
        </p:nvSpPr>
        <p:spPr>
          <a:xfrm>
            <a:off x="900113" y="1268413"/>
            <a:ext cx="7786688" cy="4370388"/>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100" b="0" i="0" u="none" strike="noStrike" kern="0" cap="none" spc="0" normalizeH="0" baseline="0" noProof="0" dirty="0">
                <a:ln>
                  <a:noFill/>
                </a:ln>
                <a:solidFill>
                  <a:srgbClr val="FF0000"/>
                </a:solidFill>
                <a:effectLst/>
                <a:uLnTx/>
                <a:uFillTx/>
                <a:latin typeface="+mn-lt"/>
                <a:ea typeface="+mn-ea"/>
                <a:cs typeface="+mn-cs"/>
              </a:rPr>
              <a:t>判定问题</a:t>
            </a:r>
            <a:r>
              <a:rPr kumimoji="0" lang="en-US" altLang="zh-CN" sz="2100" b="0" i="0" u="none" strike="noStrike" kern="0" cap="none" spc="0" normalizeH="0" baseline="0" noProof="0" dirty="0">
                <a:ln>
                  <a:noFill/>
                </a:ln>
                <a:solidFill>
                  <a:srgbClr val="FF0000"/>
                </a:solidFill>
                <a:effectLst/>
                <a:uLnTx/>
                <a:uFillTx/>
                <a:latin typeface="+mn-lt"/>
                <a:ea typeface="+mn-ea"/>
                <a:cs typeface="+mn-cs"/>
              </a:rPr>
              <a:t>:</a:t>
            </a: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在研究</a:t>
            </a:r>
            <a:r>
              <a:rPr kumimoji="0" lang="en-US" altLang="zh-CN" sz="2000" b="0" i="0" u="none" strike="noStrike" kern="0" cap="none" spc="0" normalizeH="0" baseline="0" noProof="0" dirty="0">
                <a:ln>
                  <a:noFill/>
                </a:ln>
                <a:solidFill>
                  <a:schemeClr val="accent2"/>
                </a:solidFill>
                <a:effectLst/>
                <a:uLnTx/>
                <a:uFillTx/>
                <a:latin typeface="+mn-lt"/>
                <a:ea typeface="+mn-ea"/>
              </a:rPr>
              <a:t>NP</a:t>
            </a:r>
            <a:r>
              <a:rPr kumimoji="0" lang="zh-CN" altLang="en-US" sz="2000" b="0" i="0" u="none" strike="noStrike" kern="0" cap="none" spc="0" normalizeH="0" baseline="0" noProof="0" dirty="0">
                <a:ln>
                  <a:noFill/>
                </a:ln>
                <a:solidFill>
                  <a:schemeClr val="accent2"/>
                </a:solidFill>
                <a:effectLst/>
                <a:uLnTx/>
                <a:uFillTx/>
                <a:latin typeface="+mn-lt"/>
                <a:ea typeface="+mn-ea"/>
              </a:rPr>
              <a:t>完全性理论时，我们很容易重述一个问题使它的解只有两个结论</a:t>
            </a:r>
            <a:r>
              <a:rPr kumimoji="0" lang="en-US" altLang="zh-CN" sz="2000" b="0" i="0" u="none" strike="noStrike" kern="0" cap="none" spc="0" normalizeH="0" baseline="0" noProof="0" dirty="0">
                <a:ln>
                  <a:noFill/>
                </a:ln>
                <a:solidFill>
                  <a:schemeClr val="accent2"/>
                </a:solidFill>
                <a:effectLst/>
                <a:uLnTx/>
                <a:uFillTx/>
                <a:latin typeface="+mn-lt"/>
                <a:ea typeface="+mn-ea"/>
              </a:rPr>
              <a:t>:</a:t>
            </a:r>
            <a:r>
              <a:rPr kumimoji="0" lang="en-US" altLang="zh-CN" sz="2000" b="0" i="0" u="none" strike="noStrike" kern="0" cap="none" spc="0" normalizeH="0" baseline="0" noProof="0" dirty="0">
                <a:ln>
                  <a:noFill/>
                </a:ln>
                <a:solidFill>
                  <a:srgbClr val="FF0000"/>
                </a:solidFill>
                <a:effectLst/>
                <a:uLnTx/>
                <a:uFillTx/>
                <a:latin typeface="+mn-lt"/>
                <a:ea typeface="+mn-ea"/>
              </a:rPr>
              <a:t>yes</a:t>
            </a:r>
            <a:r>
              <a:rPr kumimoji="0" lang="zh-CN" altLang="en-US" sz="2000" b="0" i="0" u="none" strike="noStrike" kern="0" cap="none" spc="0" normalizeH="0" baseline="0" noProof="0" dirty="0">
                <a:ln>
                  <a:noFill/>
                </a:ln>
                <a:solidFill>
                  <a:schemeClr val="accent2"/>
                </a:solidFill>
                <a:effectLst/>
                <a:uLnTx/>
                <a:uFillTx/>
                <a:latin typeface="+mn-lt"/>
                <a:ea typeface="+mn-ea"/>
              </a:rPr>
              <a:t>或</a:t>
            </a:r>
            <a:r>
              <a:rPr kumimoji="0" lang="en-US" altLang="zh-CN" sz="2000" b="0" i="0" u="none" strike="noStrike" kern="0" cap="none" spc="0" normalizeH="0" baseline="0" noProof="0" dirty="0">
                <a:ln>
                  <a:noFill/>
                </a:ln>
                <a:solidFill>
                  <a:srgbClr val="FF3300"/>
                </a:solidFill>
                <a:effectLst/>
                <a:uLnTx/>
                <a:uFillTx/>
                <a:latin typeface="+mn-lt"/>
                <a:ea typeface="+mn-ea"/>
              </a:rPr>
              <a:t>no</a:t>
            </a:r>
            <a:r>
              <a:rPr kumimoji="0" lang="zh-CN" altLang="en-US" sz="2000" b="0" i="0" u="none" strike="noStrike" kern="0" cap="none" spc="0" normalizeH="0" baseline="0" noProof="0" dirty="0">
                <a:ln>
                  <a:noFill/>
                </a:ln>
                <a:solidFill>
                  <a:srgbClr val="FF3300"/>
                </a:solidFill>
                <a:effectLst/>
                <a:uLnTx/>
                <a:uFillTx/>
                <a:latin typeface="+mn-lt"/>
                <a:ea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rPr>
              <a:t>在这种情况下，称问题为判定问题。</a:t>
            </a:r>
            <a:endParaRPr kumimoji="0" lang="en-US" altLang="zh-CN" sz="16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1600" b="0" i="0" u="none" strike="noStrike" kern="0" cap="none" spc="0" normalizeH="0" baseline="0" noProof="0" dirty="0">
              <a:ln>
                <a:noFill/>
              </a:ln>
              <a:solidFill>
                <a:schemeClr val="accent2"/>
              </a:solidFill>
              <a:effectLst/>
              <a:uLnTx/>
              <a:uFillTx/>
              <a:latin typeface="+mn-lt"/>
              <a:ea typeface="+mn-ea"/>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100" b="0" i="0" u="none" strike="noStrike" kern="0" cap="none" spc="0" normalizeH="0" baseline="0" noProof="0" dirty="0">
                <a:ln>
                  <a:noFill/>
                </a:ln>
                <a:solidFill>
                  <a:srgbClr val="FF0000"/>
                </a:solidFill>
                <a:effectLst/>
                <a:uLnTx/>
                <a:uFillTx/>
                <a:latin typeface="+mn-lt"/>
                <a:ea typeface="+mn-ea"/>
                <a:cs typeface="+mn-cs"/>
              </a:rPr>
              <a:t>最优化问题</a:t>
            </a:r>
            <a:r>
              <a:rPr kumimoji="0" lang="en-US" altLang="zh-CN" sz="2100" b="0" i="0" u="none" strike="noStrike" kern="0" cap="none" spc="0" normalizeH="0" baseline="0" noProof="0" dirty="0">
                <a:ln>
                  <a:noFill/>
                </a:ln>
                <a:solidFill>
                  <a:srgbClr val="FF0000"/>
                </a:solidFill>
                <a:effectLst/>
                <a:uLnTx/>
                <a:uFillTx/>
                <a:latin typeface="+mn-lt"/>
                <a:ea typeface="+mn-ea"/>
                <a:cs typeface="+mn-cs"/>
              </a:rPr>
              <a:t>:</a:t>
            </a:r>
            <a:r>
              <a:rPr kumimoji="0" lang="en-US" altLang="zh-CN" sz="1700" b="0" i="0" u="none" strike="noStrike" kern="0" cap="none" spc="0" normalizeH="0" baseline="0" noProof="0" dirty="0">
                <a:ln>
                  <a:noFill/>
                </a:ln>
                <a:solidFill>
                  <a:srgbClr val="FF0000"/>
                </a:solidFill>
                <a:effectLst/>
                <a:uLnTx/>
                <a:uFillTx/>
                <a:latin typeface="+mn-lt"/>
                <a:ea typeface="+mn-ea"/>
                <a:cs typeface="+mn-cs"/>
              </a:rPr>
              <a:t> </a:t>
            </a: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与此相对照，最优化问题是关心某个量的</a:t>
            </a:r>
            <a:r>
              <a:rPr kumimoji="0" lang="zh-CN" altLang="en-US" sz="2000" b="0" i="0" u="none" strike="noStrike" kern="0" cap="none" spc="0" normalizeH="0" baseline="0" noProof="0" dirty="0">
                <a:ln>
                  <a:noFill/>
                </a:ln>
                <a:solidFill>
                  <a:srgbClr val="FF0000"/>
                </a:solidFill>
                <a:effectLst/>
                <a:uLnTx/>
                <a:uFillTx/>
                <a:latin typeface="+mn-lt"/>
                <a:ea typeface="+mn-ea"/>
              </a:rPr>
              <a:t>最大化或最小化</a:t>
            </a:r>
            <a:r>
              <a:rPr kumimoji="0" lang="zh-CN" altLang="en-US" sz="2000" b="0" i="0" u="none" strike="noStrike" kern="0" cap="none" spc="0" normalizeH="0" baseline="0" noProof="0" dirty="0">
                <a:ln>
                  <a:noFill/>
                </a:ln>
                <a:solidFill>
                  <a:schemeClr val="accent2"/>
                </a:solidFill>
                <a:effectLst/>
                <a:uLnTx/>
                <a:uFillTx/>
                <a:latin typeface="+mn-lt"/>
                <a:ea typeface="+mn-ea"/>
              </a:rPr>
              <a:t>的问题。在前面的章节中，已经遇到过大量的最优化问题，像找出一张表中的最大或最小元素的问题，在有向图中寻找最短路径间题和计算一个无向图的最小生成树的问题。</a:t>
            </a:r>
            <a:endParaRPr kumimoji="0" lang="en-US" altLang="zh-CN" sz="20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 如果我们有一个求解判定问题的有效算法，那么很容易把它</a:t>
            </a:r>
            <a:r>
              <a:rPr kumimoji="0" lang="zh-CN" altLang="en-US" sz="2100" b="0" i="0" u="none" strike="noStrike" kern="0" cap="none" spc="0" normalizeH="0" baseline="0" noProof="0" dirty="0">
                <a:ln>
                  <a:noFill/>
                </a:ln>
                <a:solidFill>
                  <a:srgbClr val="FF0000"/>
                </a:solidFill>
                <a:effectLst/>
                <a:uLnTx/>
                <a:uFillTx/>
                <a:latin typeface="+mn-lt"/>
                <a:ea typeface="+mn-ea"/>
                <a:cs typeface="+mn-cs"/>
              </a:rPr>
              <a:t>变成</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求解与它相对应的最优化问题的算法。 反之亦然。</a:t>
            </a:r>
            <a:endParaRPr kumimoji="0" lang="en-US" altLang="zh-CN" sz="2100" b="0" i="0" u="none" strike="noStrike" kern="0" cap="none" spc="0" normalizeH="0" baseline="0" noProof="0" dirty="0">
              <a:ln>
                <a:noFill/>
              </a:ln>
              <a:solidFill>
                <a:schemeClr val="accent2"/>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12291">
                                            <p:txEl>
                                              <p:pRg st="0" end="0"/>
                                            </p:txEl>
                                          </p:spTgt>
                                        </p:tgtEl>
                                        <p:attrNameLst>
                                          <p:attrName>ppt_c</p:attrName>
                                        </p:attrNameLst>
                                      </p:cBhvr>
                                      <p:to>
                                        <a:srgbClr val="FF0000"/>
                                      </p:to>
                                    </p:animClr>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Effect transition="in" filter="blinds(horizontal)">
                                      <p:cBhvr>
                                        <p:cTn id="13" dur="500"/>
                                        <p:tgtEl>
                                          <p:spTgt spid="12291">
                                            <p:txEl>
                                              <p:pRg st="1" end="1"/>
                                            </p:txEl>
                                          </p:spTgt>
                                        </p:tgtEl>
                                      </p:cBhvr>
                                    </p:animEffect>
                                  </p:childTnLst>
                                  <p:subTnLst>
                                    <p:animClr clrSpc="rgb" dir="cw">
                                      <p:cBhvr override="childStyle">
                                        <p:cTn dur="1" fill="hold" display="0" masterRel="nextClick" afterEffect="1"/>
                                        <p:tgtEl>
                                          <p:spTgt spid="12291">
                                            <p:txEl>
                                              <p:pRg st="1" end="1"/>
                                            </p:txEl>
                                          </p:spTgt>
                                        </p:tgtEl>
                                        <p:attrNameLst>
                                          <p:attrName>ppt_c</p:attrName>
                                        </p:attrNameLst>
                                      </p:cBhvr>
                                      <p:to>
                                        <a:schemeClr val="bg2"/>
                                      </p:to>
                                    </p:animClr>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2291">
                                            <p:txEl>
                                              <p:pRg st="3" end="3"/>
                                            </p:txEl>
                                          </p:spTgt>
                                        </p:tgtEl>
                                        <p:attrNameLst>
                                          <p:attrName>style.visibility</p:attrName>
                                        </p:attrNameLst>
                                      </p:cBhvr>
                                      <p:to>
                                        <p:strVal val="visible"/>
                                      </p:to>
                                    </p:set>
                                    <p:anim calcmode="lin" valueType="num">
                                      <p:cBhvr additive="base">
                                        <p:cTn id="18" dur="500" fill="hold"/>
                                        <p:tgtEl>
                                          <p:spTgt spid="12291">
                                            <p:txEl>
                                              <p:pRg st="3" end="3"/>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2291">
                                            <p:txEl>
                                              <p:pRg st="3" end="3"/>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12291">
                                            <p:txEl>
                                              <p:pRg st="3" end="3"/>
                                            </p:txEl>
                                          </p:spTgt>
                                        </p:tgtEl>
                                        <p:attrNameLst>
                                          <p:attrName>ppt_c</p:attrName>
                                        </p:attrNameLst>
                                      </p:cBhvr>
                                      <p:to>
                                        <a:srgbClr val="FF0000"/>
                                      </p:to>
                                    </p:animClr>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2291">
                                            <p:txEl>
                                              <p:pRg st="4" end="4"/>
                                            </p:txEl>
                                          </p:spTgt>
                                        </p:tgtEl>
                                        <p:attrNameLst>
                                          <p:attrName>style.visibility</p:attrName>
                                        </p:attrNameLst>
                                      </p:cBhvr>
                                      <p:to>
                                        <p:strVal val="visible"/>
                                      </p:to>
                                    </p:set>
                                    <p:animEffect transition="in" filter="blinds(horizontal)">
                                      <p:cBhvr>
                                        <p:cTn id="24" dur="500"/>
                                        <p:tgtEl>
                                          <p:spTgt spid="12291">
                                            <p:txEl>
                                              <p:pRg st="4" end="4"/>
                                            </p:txEl>
                                          </p:spTgt>
                                        </p:tgtEl>
                                      </p:cBhvr>
                                    </p:animEffect>
                                  </p:childTnLst>
                                  <p:subTnLst>
                                    <p:animClr clrSpc="rgb" dir="cw">
                                      <p:cBhvr override="childStyle">
                                        <p:cTn dur="1" fill="hold" display="0" masterRel="nextClick" afterEffect="1"/>
                                        <p:tgtEl>
                                          <p:spTgt spid="12291">
                                            <p:txEl>
                                              <p:pRg st="4" end="4"/>
                                            </p:txEl>
                                          </p:spTgt>
                                        </p:tgtEl>
                                        <p:attrNameLst>
                                          <p:attrName>ppt_c</p:attrName>
                                        </p:attrNameLst>
                                      </p:cBhvr>
                                      <p:to>
                                        <a:schemeClr val="bg2"/>
                                      </p:to>
                                    </p:animClr>
                                  </p:sub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29" dur="500"/>
                                        <p:tgtEl>
                                          <p:spTgt spid="12291">
                                            <p:txEl>
                                              <p:pRg st="6" end="6"/>
                                            </p:txEl>
                                          </p:spTgt>
                                        </p:tgtEl>
                                      </p:cBhvr>
                                    </p:animEffect>
                                  </p:childTnLst>
                                  <p:subTnLst>
                                    <p:animClr clrSpc="rgb" dir="cw">
                                      <p:cBhvr override="childStyle">
                                        <p:cTn dur="1" fill="hold" display="0" masterRel="nextClick" afterEffect="1"/>
                                        <p:tgtEl>
                                          <p:spTgt spid="12291">
                                            <p:txEl>
                                              <p:pRg st="6" end="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8435" name="Rectangle 2"/>
          <p:cNvSpPr>
            <a:spLocks noGrp="1"/>
          </p:cNvSpPr>
          <p:nvPr>
            <p:ph type="title"/>
          </p:nvPr>
        </p:nvSpPr>
        <p:spPr>
          <a:ln/>
        </p:spPr>
        <p:txBody>
          <a:bodyPr vert="horz" wrap="square" lIns="91440" tIns="45720" rIns="91440" bIns="45720" anchor="ctr" anchorCtr="0"/>
          <a:lstStyle/>
          <a:p>
            <a:pPr eaLnBrk="1" hangingPunct="1"/>
            <a:r>
              <a:rPr lang="zh-CN" altLang="en-US" dirty="0"/>
              <a:t>例子 </a:t>
            </a:r>
            <a:r>
              <a:rPr lang="en-US" altLang="zh-CN" dirty="0"/>
              <a:t>ELEMENT UNIQUENESS</a:t>
            </a:r>
            <a:r>
              <a:rPr lang="zh-CN" altLang="en-US" dirty="0"/>
              <a:t>问题</a:t>
            </a:r>
            <a:endParaRPr lang="en-US" altLang="zh-CN" dirty="0"/>
          </a:p>
        </p:txBody>
      </p:sp>
      <p:sp>
        <p:nvSpPr>
          <p:cNvPr id="13315"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设</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S</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是一个实数序列，</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ELEMENT UNIQUENESS</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问题为，是否</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S</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中的所有的数都是不同的。</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判定问题</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ELEMENT UNIQUENESS.</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输入</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一个整数序列</a:t>
            </a:r>
            <a:r>
              <a:rPr kumimoji="0" lang="en-US" altLang="zh-CN" sz="2200" b="0" i="0" u="none" strike="noStrike" kern="0" cap="none" spc="0" normalizeH="0" baseline="0" noProof="0" dirty="0">
                <a:ln>
                  <a:noFill/>
                </a:ln>
                <a:solidFill>
                  <a:schemeClr val="accent2"/>
                </a:solidFill>
                <a:effectLst/>
                <a:uLnTx/>
                <a:uFillTx/>
                <a:latin typeface="+mn-lt"/>
                <a:ea typeface="+mn-ea"/>
              </a:rPr>
              <a:t>S</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问题</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在</a:t>
            </a:r>
            <a:r>
              <a:rPr kumimoji="0" lang="en-US" altLang="zh-CN" sz="2200" b="0" i="0" u="none" strike="noStrike" kern="0" cap="none" spc="0" normalizeH="0" baseline="0" noProof="0" dirty="0">
                <a:ln>
                  <a:noFill/>
                </a:ln>
                <a:solidFill>
                  <a:schemeClr val="accent2"/>
                </a:solidFill>
                <a:effectLst/>
                <a:uLnTx/>
                <a:uFillTx/>
                <a:latin typeface="+mn-lt"/>
                <a:ea typeface="+mn-ea"/>
              </a:rPr>
              <a:t>S</a:t>
            </a:r>
            <a:r>
              <a:rPr kumimoji="0" lang="zh-CN" altLang="en-US" sz="2200" b="0" i="0" u="none" strike="noStrike" kern="0" cap="none" spc="0" normalizeH="0" baseline="0" noProof="0" dirty="0">
                <a:ln>
                  <a:noFill/>
                </a:ln>
                <a:solidFill>
                  <a:schemeClr val="accent2"/>
                </a:solidFill>
                <a:effectLst/>
                <a:uLnTx/>
                <a:uFillTx/>
                <a:latin typeface="+mn-lt"/>
                <a:ea typeface="+mn-ea"/>
              </a:rPr>
              <a:t>中存在两个相等的元素吗</a:t>
            </a:r>
            <a:r>
              <a:rPr kumimoji="0" lang="en-US" altLang="zh-CN" sz="2200" b="0" i="0" u="none" strike="noStrike" kern="0" cap="none" spc="0" normalizeH="0" baseline="0" noProof="0" dirty="0">
                <a:ln>
                  <a:noFill/>
                </a:ln>
                <a:solidFill>
                  <a:schemeClr val="accent2"/>
                </a:solidFill>
                <a:effectLst/>
                <a:uLnTx/>
                <a:uFillTx/>
                <a:latin typeface="+mn-lt"/>
                <a:ea typeface="+mn-ea"/>
              </a:rPr>
              <a:t>?</a:t>
            </a: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最优问题</a:t>
            </a:r>
            <a:r>
              <a:rPr kumimoji="0" lang="en-US" altLang="zh-CN" sz="2500" b="0" i="0" u="none" strike="noStrike" kern="0" cap="none" spc="0" normalizeH="0" baseline="0" noProof="0" dirty="0">
                <a:ln>
                  <a:noFill/>
                </a:ln>
                <a:solidFill>
                  <a:srgbClr val="FF0000"/>
                </a:solidFill>
                <a:effectLst/>
                <a:uLnTx/>
                <a:uFillTx/>
                <a:latin typeface="+mn-lt"/>
                <a:ea typeface="+mn-ea"/>
                <a:cs typeface="+mn-cs"/>
              </a:rPr>
              <a:t>:</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ELEMENT COUNT</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输入</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一个整数序列</a:t>
            </a:r>
            <a:r>
              <a:rPr kumimoji="0" lang="en-US" altLang="zh-CN" sz="2200" b="0" i="0" u="none" strike="noStrike" kern="0" cap="none" spc="0" normalizeH="0" baseline="0" noProof="0" dirty="0">
                <a:ln>
                  <a:noFill/>
                </a:ln>
                <a:solidFill>
                  <a:schemeClr val="accent2"/>
                </a:solidFill>
                <a:effectLst/>
                <a:uLnTx/>
                <a:uFillTx/>
                <a:latin typeface="+mn-lt"/>
                <a:ea typeface="+mn-ea"/>
              </a:rPr>
              <a:t>S</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输出</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一个在</a:t>
            </a:r>
            <a:r>
              <a:rPr kumimoji="0" lang="en-US" altLang="zh-CN" sz="2200" b="0" i="0" u="none" strike="noStrike" kern="0" cap="none" spc="0" normalizeH="0" baseline="0" noProof="0" dirty="0">
                <a:ln>
                  <a:noFill/>
                </a:ln>
                <a:solidFill>
                  <a:schemeClr val="accent2"/>
                </a:solidFill>
                <a:effectLst/>
                <a:uLnTx/>
                <a:uFillTx/>
                <a:latin typeface="+mn-lt"/>
                <a:ea typeface="+mn-ea"/>
              </a:rPr>
              <a:t>S</a:t>
            </a:r>
            <a:r>
              <a:rPr kumimoji="0" lang="zh-CN" altLang="en-US" sz="2200" b="0" i="0" u="none" strike="noStrike" kern="0" cap="none" spc="0" normalizeH="0" baseline="0" noProof="0" dirty="0">
                <a:ln>
                  <a:noFill/>
                </a:ln>
                <a:solidFill>
                  <a:schemeClr val="accent2"/>
                </a:solidFill>
                <a:effectLst/>
                <a:uLnTx/>
                <a:uFillTx/>
                <a:latin typeface="+mn-lt"/>
                <a:ea typeface="+mn-ea"/>
              </a:rPr>
              <a:t>中频度最高的元素。</a:t>
            </a:r>
            <a:endPar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defRPr/>
            </a:pPr>
            <a:endParaRPr kumimoji="0" lang="en-US" altLang="zh-CN" sz="2200" b="0" i="0" u="none" strike="noStrike" kern="0" cap="none" spc="0" normalizeH="0" baseline="0" noProof="0" dirty="0">
              <a:ln>
                <a:noFill/>
              </a:ln>
              <a:solidFill>
                <a:srgbClr val="FF3300"/>
              </a:solidFill>
              <a:effectLst/>
              <a:uLnTx/>
              <a:uFillTx/>
              <a:latin typeface="Arial" panose="020B0604020202020204" pitchFamily="34" charset="0"/>
              <a:ea typeface="华文行楷" panose="02010800040101010101" pitchFamily="2" charset="-122"/>
            </a:endParaRP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rgbClr val="FF3300"/>
                </a:solidFill>
                <a:effectLst/>
                <a:uLnTx/>
                <a:uFillTx/>
                <a:latin typeface="+mn-lt"/>
                <a:ea typeface="+mn-ea"/>
              </a:rPr>
              <a:t>这个问题可以用显而易见的方法在最优的时间</a:t>
            </a:r>
            <a:r>
              <a:rPr kumimoji="0" lang="en-US" altLang="zh-CN" sz="2400" b="0" i="0" u="none" strike="noStrike" kern="0" cap="none" spc="0" normalizeH="0" baseline="0" noProof="0" dirty="0">
                <a:ln>
                  <a:noFill/>
                </a:ln>
                <a:solidFill>
                  <a:srgbClr val="FF3300"/>
                </a:solidFill>
                <a:effectLst/>
                <a:uLnTx/>
                <a:uFillTx/>
                <a:latin typeface="+mn-lt"/>
                <a:ea typeface="+mn-ea"/>
              </a:rPr>
              <a:t>O(</a:t>
            </a:r>
            <a:r>
              <a:rPr kumimoji="0" lang="en-US" altLang="zh-CN" sz="2400" b="0" i="0" u="none" strike="noStrike" kern="0" cap="none" spc="0" normalizeH="0" baseline="0" noProof="0" dirty="0" err="1">
                <a:ln>
                  <a:noFill/>
                </a:ln>
                <a:solidFill>
                  <a:srgbClr val="FF3300"/>
                </a:solidFill>
                <a:effectLst/>
                <a:uLnTx/>
                <a:uFillTx/>
                <a:latin typeface="+mn-lt"/>
                <a:ea typeface="+mn-ea"/>
              </a:rPr>
              <a:t>nlogn</a:t>
            </a:r>
            <a:r>
              <a:rPr kumimoji="0" lang="en-US" altLang="zh-CN" sz="2400" b="0" i="0" u="none" strike="noStrike" kern="0" cap="none" spc="0" normalizeH="0" baseline="0" noProof="0" dirty="0">
                <a:ln>
                  <a:noFill/>
                </a:ln>
                <a:solidFill>
                  <a:srgbClr val="FF3300"/>
                </a:solidFill>
                <a:effectLst/>
                <a:uLnTx/>
                <a:uFillTx/>
                <a:latin typeface="+mn-lt"/>
                <a:ea typeface="+mn-ea"/>
              </a:rPr>
              <a:t>)</a:t>
            </a:r>
            <a:r>
              <a:rPr kumimoji="0" lang="zh-CN" altLang="en-US" sz="2400" b="0" i="0" u="none" strike="noStrike" kern="0" cap="none" spc="0" normalizeH="0" baseline="0" noProof="0" dirty="0">
                <a:ln>
                  <a:noFill/>
                </a:ln>
                <a:solidFill>
                  <a:srgbClr val="FF3300"/>
                </a:solidFill>
                <a:effectLst/>
                <a:uLnTx/>
                <a:uFillTx/>
                <a:latin typeface="+mn-lt"/>
                <a:ea typeface="+mn-ea"/>
              </a:rPr>
              <a:t>解决，这意味着它是易解的。</a:t>
            </a:r>
          </a:p>
          <a:p>
            <a:pPr marL="742950" marR="0" lvl="1" indent="-285750" algn="l" defTabSz="914400" rtl="0" eaLnBrk="1" fontAlgn="base" latinLnBrk="0" hangingPunct="1">
              <a:lnSpc>
                <a:spcPct val="8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rgbClr val="FF3300"/>
              </a:solidFill>
              <a:effectLst/>
              <a:uLnTx/>
              <a:uFillTx/>
              <a:latin typeface="Times New Roman" panose="02020603050405020304" pitchFamily="18" charset="0"/>
              <a:ea typeface="华文行楷" panose="02010800040101010101" pitchFamily="2" charset="-122"/>
            </a:endParaRPr>
          </a:p>
        </p:txBody>
      </p:sp>
      <p:pic>
        <p:nvPicPr>
          <p:cNvPr id="18437" name="Picture 4" descr="example"/>
          <p:cNvPicPr>
            <a:picLocks noChangeAspect="1"/>
          </p:cNvPicPr>
          <p:nvPr/>
        </p:nvPicPr>
        <p:blipFill>
          <a:blip r:embed="rId3"/>
          <a:stretch>
            <a:fillRect/>
          </a:stretch>
        </p:blipFill>
        <p:spPr>
          <a:xfrm>
            <a:off x="914400" y="1295400"/>
            <a:ext cx="342900" cy="457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5">
                                            <p:txEl>
                                              <p:pRg st="2" end="2"/>
                                            </p:txEl>
                                          </p:spTgt>
                                        </p:tgtEl>
                                        <p:attrNameLst>
                                          <p:attrName>style.visibility</p:attrName>
                                        </p:attrNameLst>
                                      </p:cBhvr>
                                      <p:to>
                                        <p:strVal val="visible"/>
                                      </p:to>
                                    </p:set>
                                    <p:anim calcmode="lin" valueType="num">
                                      <p:cBhvr additive="base">
                                        <p:cTn id="7"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anim calcmode="lin" valueType="num">
                                      <p:cBhvr additive="base">
                                        <p:cTn id="13" dur="500" fill="hold"/>
                                        <p:tgtEl>
                                          <p:spTgt spid="13315">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anim calcmode="lin" valueType="num">
                                      <p:cBhvr additive="base">
                                        <p:cTn id="19" dur="500" fill="hold"/>
                                        <p:tgtEl>
                                          <p:spTgt spid="13315">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315">
                                            <p:txEl>
                                              <p:pRg st="5" end="5"/>
                                            </p:txEl>
                                          </p:spTgt>
                                        </p:tgtEl>
                                        <p:attrNameLst>
                                          <p:attrName>style.visibility</p:attrName>
                                        </p:attrNameLst>
                                      </p:cBhvr>
                                      <p:to>
                                        <p:strVal val="visible"/>
                                      </p:to>
                                    </p:set>
                                    <p:anim calcmode="lin" valueType="num">
                                      <p:cBhvr additive="base">
                                        <p:cTn id="25" dur="500" fill="hold"/>
                                        <p:tgtEl>
                                          <p:spTgt spid="1331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anim calcmode="lin" valueType="num">
                                      <p:cBhvr additive="base">
                                        <p:cTn id="31" dur="500" fill="hold"/>
                                        <p:tgtEl>
                                          <p:spTgt spid="13315">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3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3315">
                                            <p:txEl>
                                              <p:pRg st="7" end="7"/>
                                            </p:txEl>
                                          </p:spTgt>
                                        </p:tgtEl>
                                        <p:attrNameLst>
                                          <p:attrName>style.visibility</p:attrName>
                                        </p:attrNameLst>
                                      </p:cBhvr>
                                      <p:to>
                                        <p:strVal val="visible"/>
                                      </p:to>
                                    </p:set>
                                    <p:anim calcmode="lin" valueType="num">
                                      <p:cBhvr additive="base">
                                        <p:cTn id="37" dur="500" fill="hold"/>
                                        <p:tgtEl>
                                          <p:spTgt spid="13315">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331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nodeType="clickEffect">
                                  <p:stCondLst>
                                    <p:cond delay="0"/>
                                  </p:stCondLst>
                                  <p:iterate type="lt">
                                    <p:tmPct val="50000"/>
                                  </p:iterate>
                                  <p:childTnLst>
                                    <p:set>
                                      <p:cBhvr>
                                        <p:cTn id="42" dur="1" fill="hold">
                                          <p:stCondLst>
                                            <p:cond delay="0"/>
                                          </p:stCondLst>
                                        </p:cTn>
                                        <p:tgtEl>
                                          <p:spTgt spid="13315">
                                            <p:txEl>
                                              <p:pRg st="9" end="9"/>
                                            </p:txEl>
                                          </p:spTgt>
                                        </p:tgtEl>
                                        <p:attrNameLst>
                                          <p:attrName>style.visibility</p:attrName>
                                        </p:attrNameLst>
                                      </p:cBhvr>
                                      <p:to>
                                        <p:strVal val="visible"/>
                                      </p:to>
                                    </p:set>
                                    <p:anim calcmode="discrete" valueType="clr">
                                      <p:cBhvr override="childStyle">
                                        <p:cTn id="43" dur="80"/>
                                        <p:tgtEl>
                                          <p:spTgt spid="13315">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13315">
                                            <p:txEl>
                                              <p:pRg st="9" end="9"/>
                                            </p:txEl>
                                          </p:spTgt>
                                        </p:tgtEl>
                                        <p:attrNameLst>
                                          <p:attrName>fillcolor</p:attrName>
                                        </p:attrNameLst>
                                      </p:cBhvr>
                                      <p:tavLst>
                                        <p:tav tm="0">
                                          <p:val>
                                            <p:clrVal>
                                              <a:schemeClr val="accent2"/>
                                            </p:clrVal>
                                          </p:val>
                                        </p:tav>
                                        <p:tav tm="50000">
                                          <p:val>
                                            <p:clrVal>
                                              <a:schemeClr val="hlink"/>
                                            </p:clrVal>
                                          </p:val>
                                        </p:tav>
                                      </p:tavLst>
                                    </p:anim>
                                    <p:set>
                                      <p:cBhvr>
                                        <p:cTn id="45" dur="80"/>
                                        <p:tgtEl>
                                          <p:spTgt spid="13315">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20483" name="Rectangle 2"/>
          <p:cNvSpPr>
            <a:spLocks noGrp="1"/>
          </p:cNvSpPr>
          <p:nvPr>
            <p:ph type="title"/>
          </p:nvPr>
        </p:nvSpPr>
        <p:spPr>
          <a:ln/>
        </p:spPr>
        <p:txBody>
          <a:bodyPr vert="horz" wrap="square" lIns="91440" tIns="45720" rIns="91440" bIns="45720" anchor="ctr" anchorCtr="0"/>
          <a:lstStyle/>
          <a:p>
            <a:pPr eaLnBrk="1" hangingPunct="1"/>
            <a:r>
              <a:rPr lang="zh-CN" altLang="en-US" dirty="0"/>
              <a:t>例子 </a:t>
            </a:r>
            <a:r>
              <a:rPr lang="en-US" altLang="zh-CN" dirty="0"/>
              <a:t>COLORING</a:t>
            </a:r>
            <a:r>
              <a:rPr lang="zh-CN" altLang="en-US" dirty="0"/>
              <a:t>问题（图着色问题）</a:t>
            </a:r>
            <a:endParaRPr lang="en-US" altLang="zh-CN" dirty="0"/>
          </a:p>
        </p:txBody>
      </p:sp>
      <p:sp>
        <p:nvSpPr>
          <p:cNvPr id="14339" name="Rectangle 3"/>
          <p:cNvSpPr>
            <a:spLocks noGrp="1"/>
          </p:cNvSpPr>
          <p:nvPr>
            <p:ph idx="1"/>
          </p:nvPr>
        </p:nvSpPr>
        <p:spPr>
          <a:ln/>
        </p:spPr>
        <p:txBody>
          <a:bodyPr vert="horz" wrap="square" lIns="91440" tIns="45720" rIns="91440" bIns="45720" anchor="t" anchorCtr="0"/>
          <a:lstStyle/>
          <a:p>
            <a:pPr eaLnBrk="1" hangingPunct="1">
              <a:lnSpc>
                <a:spcPct val="90000"/>
              </a:lnSpc>
              <a:buNone/>
            </a:pPr>
            <a:r>
              <a:rPr lang="en-US" altLang="zh-CN" dirty="0"/>
              <a:t>	</a:t>
            </a:r>
            <a:r>
              <a:rPr lang="zh-CN" altLang="en-US" dirty="0"/>
              <a:t>给出一个无向图</a:t>
            </a:r>
            <a:r>
              <a:rPr lang="en-US" altLang="zh-CN" dirty="0"/>
              <a:t>G = (V, E)</a:t>
            </a:r>
            <a:r>
              <a:rPr lang="zh-CN" altLang="en-US" dirty="0"/>
              <a:t>，用</a:t>
            </a:r>
            <a:r>
              <a:rPr lang="en-US" altLang="zh-CN" dirty="0"/>
              <a:t>k</a:t>
            </a:r>
            <a:r>
              <a:rPr lang="zh-CN" altLang="en-US" dirty="0"/>
              <a:t>种颜色对</a:t>
            </a:r>
            <a:r>
              <a:rPr lang="en-US" altLang="zh-CN" dirty="0"/>
              <a:t>G</a:t>
            </a:r>
            <a:r>
              <a:rPr lang="zh-CN" altLang="en-US" dirty="0"/>
              <a:t>着色是这样的问题</a:t>
            </a:r>
            <a:r>
              <a:rPr lang="en-US" altLang="zh-CN" dirty="0"/>
              <a:t>:</a:t>
            </a:r>
            <a:r>
              <a:rPr lang="zh-CN" altLang="en-US" dirty="0"/>
              <a:t>对于</a:t>
            </a:r>
            <a:r>
              <a:rPr lang="en-US" altLang="zh-CN" dirty="0"/>
              <a:t>V</a:t>
            </a:r>
            <a:r>
              <a:rPr lang="zh-CN" altLang="en-US" dirty="0"/>
              <a:t>中的每一个顶点用</a:t>
            </a:r>
            <a:r>
              <a:rPr lang="en-US" altLang="zh-CN" dirty="0"/>
              <a:t>k</a:t>
            </a:r>
            <a:r>
              <a:rPr lang="zh-CN" altLang="en-US" dirty="0"/>
              <a:t>种颜色中的一种对它着色，使图中没有两个邻接顶点有相同的颜色。</a:t>
            </a:r>
            <a:endParaRPr lang="en-US" altLang="zh-CN" dirty="0"/>
          </a:p>
          <a:p>
            <a:pPr eaLnBrk="1" hangingPunct="1">
              <a:lnSpc>
                <a:spcPct val="90000"/>
              </a:lnSpc>
              <a:buNone/>
            </a:pPr>
            <a:endParaRPr lang="en-US" altLang="zh-CN" sz="2400" dirty="0">
              <a:solidFill>
                <a:srgbClr val="FF0000"/>
              </a:solidFill>
            </a:endParaRPr>
          </a:p>
          <a:p>
            <a:pPr eaLnBrk="1" hangingPunct="1">
              <a:lnSpc>
                <a:spcPct val="90000"/>
              </a:lnSpc>
              <a:buNone/>
            </a:pPr>
            <a:r>
              <a:rPr lang="zh-CN" altLang="en-US" dirty="0">
                <a:solidFill>
                  <a:srgbClr val="FF0000"/>
                </a:solidFill>
              </a:rPr>
              <a:t>这个问题是难解的</a:t>
            </a:r>
            <a:r>
              <a:rPr lang="en-US" altLang="zh-CN" dirty="0">
                <a:solidFill>
                  <a:srgbClr val="FF0000"/>
                </a:solidFill>
              </a:rPr>
              <a:t>. </a:t>
            </a:r>
          </a:p>
        </p:txBody>
      </p:sp>
      <p:pic>
        <p:nvPicPr>
          <p:cNvPr id="20485" name="Picture 4" descr="example"/>
          <p:cNvPicPr>
            <a:picLocks noChangeAspect="1"/>
          </p:cNvPicPr>
          <p:nvPr/>
        </p:nvPicPr>
        <p:blipFill>
          <a:blip r:embed="rId3"/>
          <a:stretch>
            <a:fillRect/>
          </a:stretch>
        </p:blipFill>
        <p:spPr>
          <a:xfrm>
            <a:off x="914400" y="1295400"/>
            <a:ext cx="342900" cy="457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4339">
                                            <p:txEl>
                                              <p:pRg st="2" end="2"/>
                                            </p:txEl>
                                          </p:spTgt>
                                        </p:tgtEl>
                                        <p:attrNameLst>
                                          <p:attrName>style.visibility</p:attrName>
                                        </p:attrNameLst>
                                      </p:cBhvr>
                                      <p:to>
                                        <p:strVal val="visible"/>
                                      </p:to>
                                    </p:set>
                                    <p:anim calcmode="discrete" valueType="clr">
                                      <p:cBhvr override="childStyle">
                                        <p:cTn id="7" dur="80"/>
                                        <p:tgtEl>
                                          <p:spTgt spid="1433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4339">
                                            <p:txEl>
                                              <p:pRg st="2" end="2"/>
                                            </p:txEl>
                                          </p:spTgt>
                                        </p:tgtEl>
                                        <p:attrNameLst>
                                          <p:attrName>fillcolor</p:attrName>
                                        </p:attrNameLst>
                                      </p:cBhvr>
                                      <p:tavLst>
                                        <p:tav tm="0">
                                          <p:val>
                                            <p:clrVal>
                                              <a:schemeClr val="accent2"/>
                                            </p:clrVal>
                                          </p:val>
                                        </p:tav>
                                        <p:tav tm="50000">
                                          <p:val>
                                            <p:clrVal>
                                              <a:schemeClr val="hlink"/>
                                            </p:clrVal>
                                          </p:val>
                                        </p:tav>
                                      </p:tavLst>
                                    </p:anim>
                                    <p:set>
                                      <p:cBhvr>
                                        <p:cTn id="9" dur="80"/>
                                        <p:tgtEl>
                                          <p:spTgt spid="1433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ln/>
        </p:spPr>
        <p:txBody>
          <a:bodyPr vert="horz" wrap="square" lIns="91440" tIns="45720" rIns="91440" bIns="45720" anchor="ctr" anchorCtr="0"/>
          <a:lstStyle/>
          <a:p>
            <a:r>
              <a:rPr lang="zh-CN" altLang="en-US" dirty="0"/>
              <a:t>例子</a:t>
            </a:r>
            <a:r>
              <a:rPr lang="en-US" altLang="zh-CN" dirty="0"/>
              <a:t> COLORING</a:t>
            </a:r>
            <a:r>
              <a:rPr lang="zh-CN" altLang="en-US" dirty="0"/>
              <a:t>问题（图着色问题）</a:t>
            </a:r>
          </a:p>
        </p:txBody>
      </p:sp>
      <p:sp>
        <p:nvSpPr>
          <p:cNvPr id="22531" name="Rectangle 3"/>
          <p:cNvSpPr>
            <a:spLocks noGrp="1"/>
          </p:cNvSpPr>
          <p:nvPr>
            <p:ph idx="1"/>
          </p:nvPr>
        </p:nvSpPr>
        <p:spPr>
          <a:xfrm>
            <a:off x="838200" y="1295400"/>
            <a:ext cx="5265738" cy="4824413"/>
          </a:xfrm>
          <a:ln/>
        </p:spPr>
        <p:txBody>
          <a:bodyPr vert="horz" wrap="square" lIns="91440" tIns="45720" rIns="91440" bIns="45720" anchor="t" anchorCtr="0"/>
          <a:lstStyle/>
          <a:p>
            <a:pPr>
              <a:lnSpc>
                <a:spcPct val="80000"/>
              </a:lnSpc>
            </a:pPr>
            <a:r>
              <a:rPr lang="zh-CN" altLang="en-US" sz="2100" dirty="0"/>
              <a:t>输入</a:t>
            </a:r>
            <a:r>
              <a:rPr lang="en-US" altLang="zh-CN" sz="2100" dirty="0"/>
              <a:t>:  (</a:t>
            </a:r>
            <a:r>
              <a:rPr lang="zh-CN" altLang="en-US" sz="2100" dirty="0"/>
              <a:t>着色数</a:t>
            </a:r>
            <a:r>
              <a:rPr lang="en-US" altLang="zh-CN" sz="2100" dirty="0"/>
              <a:t>)k, (</a:t>
            </a:r>
            <a:r>
              <a:rPr lang="zh-CN" altLang="en-US" sz="2100" dirty="0"/>
              <a:t>节点数</a:t>
            </a:r>
            <a:r>
              <a:rPr lang="en-US" altLang="zh-CN" sz="2100" dirty="0"/>
              <a:t>)5 ,(</a:t>
            </a:r>
            <a:r>
              <a:rPr lang="zh-CN" altLang="en-US" sz="2100" dirty="0"/>
              <a:t>图的边</a:t>
            </a:r>
            <a:r>
              <a:rPr lang="en-US" altLang="zh-CN" sz="2100" dirty="0"/>
              <a:t>) (1,2)(1,4)... </a:t>
            </a:r>
          </a:p>
          <a:p>
            <a:pPr>
              <a:lnSpc>
                <a:spcPct val="80000"/>
              </a:lnSpc>
            </a:pPr>
            <a:endParaRPr lang="en-US" altLang="zh-CN" sz="2100" dirty="0"/>
          </a:p>
          <a:p>
            <a:pPr>
              <a:lnSpc>
                <a:spcPct val="80000"/>
              </a:lnSpc>
            </a:pPr>
            <a:r>
              <a:rPr lang="zh-CN" altLang="en-US" sz="2100" dirty="0"/>
              <a:t>写出长度为</a:t>
            </a:r>
            <a:r>
              <a:rPr lang="en-US" altLang="zh-CN" sz="2100" dirty="0"/>
              <a:t>n(</a:t>
            </a:r>
            <a:r>
              <a:rPr lang="zh-CN" altLang="en-US" sz="2100" dirty="0"/>
              <a:t>节点数</a:t>
            </a:r>
            <a:r>
              <a:rPr lang="en-US" altLang="zh-CN" sz="2100" dirty="0"/>
              <a:t>)</a:t>
            </a:r>
            <a:r>
              <a:rPr lang="zh-CN" altLang="en-US" sz="2100" dirty="0"/>
              <a:t>的字符串</a:t>
            </a:r>
            <a:r>
              <a:rPr lang="en-US" altLang="zh-CN" sz="2100" dirty="0"/>
              <a:t>,</a:t>
            </a:r>
            <a:r>
              <a:rPr lang="zh-CN" altLang="en-US" sz="2100" dirty="0"/>
              <a:t>例如</a:t>
            </a:r>
            <a:r>
              <a:rPr lang="en-US" altLang="zh-CN" sz="2100" dirty="0"/>
              <a:t>,RGRBG, RGRB, RBYGO, RGRBY, R%*$@</a:t>
            </a:r>
            <a:r>
              <a:rPr lang="zh-CN" altLang="en-US" sz="2100" dirty="0"/>
              <a:t>等，至少有</a:t>
            </a:r>
            <a:r>
              <a:rPr lang="en-US" altLang="zh-CN" sz="2100" dirty="0"/>
              <a:t>k</a:t>
            </a:r>
            <a:r>
              <a:rPr lang="en-US" altLang="zh-CN" sz="2100" baseline="30000" dirty="0"/>
              <a:t>n</a:t>
            </a:r>
            <a:r>
              <a:rPr lang="zh-CN" altLang="en-US" sz="2100" dirty="0"/>
              <a:t>个不同着色情况。</a:t>
            </a:r>
            <a:endParaRPr lang="en-US" altLang="zh-CN" sz="2100" dirty="0"/>
          </a:p>
          <a:p>
            <a:pPr>
              <a:lnSpc>
                <a:spcPct val="80000"/>
              </a:lnSpc>
            </a:pPr>
            <a:endParaRPr lang="en-US" altLang="zh-CN" sz="2100" dirty="0"/>
          </a:p>
          <a:p>
            <a:pPr>
              <a:lnSpc>
                <a:spcPct val="80000"/>
              </a:lnSpc>
            </a:pPr>
            <a:r>
              <a:rPr lang="zh-CN" altLang="en-US" sz="2100" dirty="0"/>
              <a:t>找到符合要求（任何两个邻接顶点颜色不同）的最小的</a:t>
            </a:r>
            <a:r>
              <a:rPr lang="en-US" altLang="zh-CN" sz="2100" dirty="0"/>
              <a:t>k</a:t>
            </a:r>
            <a:r>
              <a:rPr lang="zh-CN" altLang="en-US" sz="2100" dirty="0"/>
              <a:t>值</a:t>
            </a:r>
            <a:endParaRPr lang="en-US" altLang="zh-CN" sz="2100" dirty="0"/>
          </a:p>
          <a:p>
            <a:pPr>
              <a:lnSpc>
                <a:spcPct val="80000"/>
              </a:lnSpc>
            </a:pPr>
            <a:endParaRPr lang="en-US" altLang="zh-CN" sz="2100" dirty="0"/>
          </a:p>
        </p:txBody>
      </p:sp>
      <p:sp>
        <p:nvSpPr>
          <p:cNvPr id="22532" name="Oval 4"/>
          <p:cNvSpPr/>
          <p:nvPr/>
        </p:nvSpPr>
        <p:spPr>
          <a:xfrm>
            <a:off x="7092950" y="1268413"/>
            <a:ext cx="431800" cy="288925"/>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22533" name="Oval 5"/>
          <p:cNvSpPr/>
          <p:nvPr/>
        </p:nvSpPr>
        <p:spPr>
          <a:xfrm>
            <a:off x="6300788" y="3141663"/>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3</a:t>
            </a:r>
          </a:p>
        </p:txBody>
      </p:sp>
      <p:sp>
        <p:nvSpPr>
          <p:cNvPr id="22534" name="Oval 6"/>
          <p:cNvSpPr/>
          <p:nvPr/>
        </p:nvSpPr>
        <p:spPr>
          <a:xfrm>
            <a:off x="7235825" y="1125538"/>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1</a:t>
            </a:r>
          </a:p>
        </p:txBody>
      </p:sp>
      <p:sp>
        <p:nvSpPr>
          <p:cNvPr id="22535" name="Oval 7"/>
          <p:cNvSpPr/>
          <p:nvPr/>
        </p:nvSpPr>
        <p:spPr>
          <a:xfrm>
            <a:off x="6732588" y="2205038"/>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2</a:t>
            </a:r>
          </a:p>
        </p:txBody>
      </p:sp>
      <p:sp>
        <p:nvSpPr>
          <p:cNvPr id="22536" name="Oval 8"/>
          <p:cNvSpPr/>
          <p:nvPr/>
        </p:nvSpPr>
        <p:spPr>
          <a:xfrm>
            <a:off x="7812088" y="2205038"/>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4</a:t>
            </a:r>
          </a:p>
        </p:txBody>
      </p:sp>
      <p:sp>
        <p:nvSpPr>
          <p:cNvPr id="22537" name="Oval 10"/>
          <p:cNvSpPr/>
          <p:nvPr/>
        </p:nvSpPr>
        <p:spPr>
          <a:xfrm>
            <a:off x="8388350" y="3141663"/>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5</a:t>
            </a:r>
          </a:p>
        </p:txBody>
      </p:sp>
      <p:cxnSp>
        <p:nvCxnSpPr>
          <p:cNvPr id="22538" name="AutoShape 11"/>
          <p:cNvCxnSpPr>
            <a:stCxn id="22534" idx="3"/>
            <a:endCxn id="22535" idx="0"/>
          </p:cNvCxnSpPr>
          <p:nvPr/>
        </p:nvCxnSpPr>
        <p:spPr>
          <a:xfrm flipH="1">
            <a:off x="6911975" y="1431925"/>
            <a:ext cx="376238" cy="773113"/>
          </a:xfrm>
          <a:prstGeom prst="straightConnector1">
            <a:avLst/>
          </a:prstGeom>
          <a:ln w="9525" cap="flat" cmpd="sng">
            <a:solidFill>
              <a:schemeClr val="tx1"/>
            </a:solidFill>
            <a:prstDash val="solid"/>
            <a:headEnd type="none" w="med" len="med"/>
            <a:tailEnd type="none" w="med" len="med"/>
          </a:ln>
        </p:spPr>
      </p:cxnSp>
      <p:cxnSp>
        <p:nvCxnSpPr>
          <p:cNvPr id="22539" name="AutoShape 12"/>
          <p:cNvCxnSpPr>
            <a:stCxn id="22534" idx="5"/>
            <a:endCxn id="22536" idx="0"/>
          </p:cNvCxnSpPr>
          <p:nvPr/>
        </p:nvCxnSpPr>
        <p:spPr>
          <a:xfrm>
            <a:off x="7542213" y="1431925"/>
            <a:ext cx="449262" cy="773113"/>
          </a:xfrm>
          <a:prstGeom prst="straightConnector1">
            <a:avLst/>
          </a:prstGeom>
          <a:ln w="9525" cap="flat" cmpd="sng">
            <a:solidFill>
              <a:schemeClr val="tx1"/>
            </a:solidFill>
            <a:prstDash val="solid"/>
            <a:headEnd type="none" w="med" len="med"/>
            <a:tailEnd type="none" w="med" len="med"/>
          </a:ln>
        </p:spPr>
      </p:cxnSp>
      <p:cxnSp>
        <p:nvCxnSpPr>
          <p:cNvPr id="22540" name="AutoShape 13"/>
          <p:cNvCxnSpPr>
            <a:stCxn id="22535" idx="6"/>
            <a:endCxn id="22536" idx="2"/>
          </p:cNvCxnSpPr>
          <p:nvPr/>
        </p:nvCxnSpPr>
        <p:spPr>
          <a:xfrm>
            <a:off x="7091363" y="2384425"/>
            <a:ext cx="720725" cy="0"/>
          </a:xfrm>
          <a:prstGeom prst="straightConnector1">
            <a:avLst/>
          </a:prstGeom>
          <a:ln w="9525" cap="flat" cmpd="sng">
            <a:solidFill>
              <a:schemeClr val="tx1"/>
            </a:solidFill>
            <a:prstDash val="solid"/>
            <a:headEnd type="none" w="med" len="med"/>
            <a:tailEnd type="none" w="med" len="med"/>
          </a:ln>
        </p:spPr>
      </p:cxnSp>
      <p:cxnSp>
        <p:nvCxnSpPr>
          <p:cNvPr id="22541" name="AutoShape 14"/>
          <p:cNvCxnSpPr>
            <a:stCxn id="22533" idx="6"/>
            <a:endCxn id="22537" idx="2"/>
          </p:cNvCxnSpPr>
          <p:nvPr/>
        </p:nvCxnSpPr>
        <p:spPr>
          <a:xfrm>
            <a:off x="6659563" y="3321050"/>
            <a:ext cx="1728787" cy="0"/>
          </a:xfrm>
          <a:prstGeom prst="straightConnector1">
            <a:avLst/>
          </a:prstGeom>
          <a:ln w="9525" cap="flat" cmpd="sng">
            <a:solidFill>
              <a:schemeClr val="tx1"/>
            </a:solidFill>
            <a:prstDash val="solid"/>
            <a:headEnd type="none" w="med" len="med"/>
            <a:tailEnd type="none" w="med" len="med"/>
          </a:ln>
        </p:spPr>
      </p:cxnSp>
      <p:cxnSp>
        <p:nvCxnSpPr>
          <p:cNvPr id="22542" name="AutoShape 15"/>
          <p:cNvCxnSpPr>
            <a:stCxn id="22535" idx="3"/>
            <a:endCxn id="22533" idx="0"/>
          </p:cNvCxnSpPr>
          <p:nvPr/>
        </p:nvCxnSpPr>
        <p:spPr>
          <a:xfrm flipH="1">
            <a:off x="6480175" y="2511425"/>
            <a:ext cx="304800" cy="630238"/>
          </a:xfrm>
          <a:prstGeom prst="straightConnector1">
            <a:avLst/>
          </a:prstGeom>
          <a:ln w="9525" cap="flat" cmpd="sng">
            <a:solidFill>
              <a:schemeClr val="tx1"/>
            </a:solidFill>
            <a:prstDash val="solid"/>
            <a:headEnd type="none" w="med" len="med"/>
            <a:tailEnd type="none" w="med" len="med"/>
          </a:ln>
        </p:spPr>
      </p:cxnSp>
      <p:cxnSp>
        <p:nvCxnSpPr>
          <p:cNvPr id="22543" name="AutoShape 16"/>
          <p:cNvCxnSpPr>
            <a:stCxn id="22536" idx="5"/>
            <a:endCxn id="22537" idx="0"/>
          </p:cNvCxnSpPr>
          <p:nvPr/>
        </p:nvCxnSpPr>
        <p:spPr>
          <a:xfrm>
            <a:off x="8118475" y="2511425"/>
            <a:ext cx="449263" cy="630238"/>
          </a:xfrm>
          <a:prstGeom prst="straightConnector1">
            <a:avLst/>
          </a:prstGeom>
          <a:ln w="9525" cap="flat" cmpd="sng">
            <a:solidFill>
              <a:schemeClr val="tx1"/>
            </a:solidFill>
            <a:prstDash val="solid"/>
            <a:headEnd type="none" w="med" len="med"/>
            <a:tailEnd type="none" w="med" len="med"/>
          </a:ln>
        </p:spPr>
      </p:cxnSp>
      <p:cxnSp>
        <p:nvCxnSpPr>
          <p:cNvPr id="22544" name="AutoShape 17"/>
          <p:cNvCxnSpPr>
            <a:stCxn id="22533" idx="7"/>
            <a:endCxn id="22536" idx="3"/>
          </p:cNvCxnSpPr>
          <p:nvPr/>
        </p:nvCxnSpPr>
        <p:spPr>
          <a:xfrm flipV="1">
            <a:off x="6607175" y="2511425"/>
            <a:ext cx="1257300" cy="682625"/>
          </a:xfrm>
          <a:prstGeom prst="straightConnector1">
            <a:avLst/>
          </a:prstGeom>
          <a:ln w="9525" cap="flat" cmpd="sng">
            <a:solidFill>
              <a:schemeClr val="tx1"/>
            </a:solidFill>
            <a:prstDash val="solid"/>
            <a:headEnd type="none" w="med" len="med"/>
            <a:tailEnd type="none" w="med" len="med"/>
          </a:ln>
        </p:spPr>
      </p:cxnSp>
      <p:cxnSp>
        <p:nvCxnSpPr>
          <p:cNvPr id="22545" name="AutoShape 18"/>
          <p:cNvCxnSpPr>
            <a:stCxn id="22535" idx="5"/>
            <a:endCxn id="22537" idx="1"/>
          </p:cNvCxnSpPr>
          <p:nvPr/>
        </p:nvCxnSpPr>
        <p:spPr>
          <a:xfrm>
            <a:off x="7038975" y="2511425"/>
            <a:ext cx="1401763" cy="682625"/>
          </a:xfrm>
          <a:prstGeom prst="straightConnector1">
            <a:avLst/>
          </a:prstGeom>
          <a:ln w="9525" cap="flat" cmpd="sng">
            <a:solidFill>
              <a:schemeClr val="tx1"/>
            </a:solidFill>
            <a:prstDash val="soli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24579" name="Rectangle 2"/>
          <p:cNvSpPr>
            <a:spLocks noGrp="1"/>
          </p:cNvSpPr>
          <p:nvPr>
            <p:ph type="title"/>
          </p:nvPr>
        </p:nvSpPr>
        <p:spPr>
          <a:ln/>
        </p:spPr>
        <p:txBody>
          <a:bodyPr vert="horz" wrap="square" lIns="91440" tIns="45720" rIns="91440" bIns="45720" anchor="ctr" anchorCtr="0"/>
          <a:lstStyle/>
          <a:p>
            <a:pPr eaLnBrk="1" hangingPunct="1"/>
            <a:r>
              <a:rPr lang="zh-CN" altLang="en-US" dirty="0"/>
              <a:t>例子</a:t>
            </a:r>
            <a:r>
              <a:rPr lang="en-US" altLang="zh-CN" dirty="0"/>
              <a:t> 2 (Continue)</a:t>
            </a:r>
          </a:p>
        </p:txBody>
      </p:sp>
      <p:sp>
        <p:nvSpPr>
          <p:cNvPr id="15363"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rgbClr val="FF0000"/>
                </a:solidFill>
                <a:effectLst/>
                <a:uLnTx/>
                <a:uFillTx/>
                <a:latin typeface="+mn-lt"/>
                <a:ea typeface="+mn-ea"/>
                <a:cs typeface="+mn-cs"/>
              </a:rPr>
              <a:t>判定问题</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COLORING</a:t>
            </a: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     输入</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一个无向图</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G = (V, E)</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和一个正整数</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k</a:t>
            </a:r>
            <a:r>
              <a:rPr kumimoji="0" lang="en-US" altLang="zh-CN" sz="2400" b="0" i="0" u="none" strike="noStrike" kern="0" cap="none" spc="0" normalizeH="0" baseline="0" noProof="0" dirty="0">
                <a:ln>
                  <a:noFill/>
                </a:ln>
                <a:solidFill>
                  <a:schemeClr val="accent2"/>
                </a:solidFill>
                <a:effectLst/>
                <a:uLnTx/>
                <a:uFillTx/>
                <a:latin typeface="+mn-lt"/>
                <a:ea typeface="+mn-ea"/>
                <a:cs typeface="+mn-cs"/>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1</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     问题</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:G</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可以</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k</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着色吗</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即</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G</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最少可以用</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k</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种颜色着色吗</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这个问题的一个最优形式是，对一个图着色，使图中没有两个邻接的顶点有相同的颜色，所需要的最少颜色数是多少</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这个数记为</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χ(G)</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，称为</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G</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的色数。</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rgbClr val="FF0000"/>
                </a:solidFill>
                <a:effectLst/>
                <a:uLnTx/>
                <a:uFillTx/>
                <a:latin typeface="+mn-lt"/>
                <a:ea typeface="+mn-ea"/>
                <a:cs typeface="+mn-cs"/>
              </a:rPr>
              <a:t>最优化问题</a:t>
            </a:r>
            <a:r>
              <a:rPr kumimoji="0" lang="en-US" altLang="zh-CN" sz="2400" b="0" i="0" u="none" strike="noStrike" kern="0" cap="none" spc="0" normalizeH="0" baseline="0" noProof="0" dirty="0">
                <a:ln>
                  <a:noFill/>
                </a:ln>
                <a:solidFill>
                  <a:srgbClr val="FF0000"/>
                </a:solidFill>
                <a:effectLst/>
                <a:uLnTx/>
                <a:uFillTx/>
                <a:latin typeface="+mn-lt"/>
                <a:ea typeface="+mn-ea"/>
                <a:cs typeface="+mn-cs"/>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en-US" altLang="zh-CN" sz="2400" b="0" i="0" u="none" strike="noStrike" kern="0" cap="none" spc="0" normalizeH="0" baseline="0" noProof="0" dirty="0">
                <a:ln>
                  <a:noFill/>
                </a:ln>
                <a:solidFill>
                  <a:schemeClr val="hlink"/>
                </a:solidFill>
                <a:effectLst/>
                <a:uLnTx/>
                <a:uFillTx/>
                <a:latin typeface="+mn-lt"/>
                <a:ea typeface="+mn-ea"/>
                <a:cs typeface="+mn-cs"/>
              </a:rPr>
              <a:t>CHROMATIC NUMBER</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rPr>
              <a:t>输入：一个无向图</a:t>
            </a:r>
            <a:r>
              <a:rPr kumimoji="0" lang="en-US" altLang="zh-CN" sz="2400" b="0" i="0" u="none" strike="noStrike" kern="0" cap="none" spc="0" normalizeH="0" baseline="0" noProof="0" dirty="0">
                <a:ln>
                  <a:noFill/>
                </a:ln>
                <a:solidFill>
                  <a:schemeClr val="accent2"/>
                </a:solidFill>
                <a:effectLst/>
                <a:uLnTx/>
                <a:uFillTx/>
                <a:latin typeface="+mn-lt"/>
                <a:ea typeface="+mn-ea"/>
              </a:rPr>
              <a:t>G=(V,E)</a:t>
            </a:r>
            <a:r>
              <a:rPr kumimoji="0" lang="zh-CN" altLang="en-US" sz="2400" b="0" i="0" u="none" strike="noStrike" kern="0" cap="none" spc="0" normalizeH="0" baseline="0" noProof="0" dirty="0">
                <a:ln>
                  <a:noFill/>
                </a:ln>
                <a:solidFill>
                  <a:schemeClr val="accent2"/>
                </a:solidFill>
                <a:effectLst/>
                <a:uLnTx/>
                <a:uFillTx/>
                <a:latin typeface="+mn-lt"/>
                <a:ea typeface="+mn-ea"/>
              </a:rPr>
              <a:t>。</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rPr>
              <a:t>输出：</a:t>
            </a:r>
            <a:r>
              <a:rPr kumimoji="0" lang="en-US" altLang="zh-CN" sz="2400" b="0" i="0" u="none" strike="noStrike" kern="0" cap="none" spc="0" normalizeH="0" baseline="0" noProof="0" dirty="0">
                <a:ln>
                  <a:noFill/>
                </a:ln>
                <a:solidFill>
                  <a:schemeClr val="accent2"/>
                </a:solidFill>
                <a:effectLst/>
                <a:uLnTx/>
                <a:uFillTx/>
                <a:latin typeface="+mn-lt"/>
                <a:ea typeface="+mn-ea"/>
              </a:rPr>
              <a:t> G</a:t>
            </a:r>
            <a:r>
              <a:rPr kumimoji="0" lang="zh-CN" altLang="en-US" sz="2400" b="0" i="0" u="none" strike="noStrike" kern="0" cap="none" spc="0" normalizeH="0" baseline="0" noProof="0" dirty="0">
                <a:ln>
                  <a:noFill/>
                </a:ln>
                <a:solidFill>
                  <a:schemeClr val="accent2"/>
                </a:solidFill>
                <a:effectLst/>
                <a:uLnTx/>
                <a:uFillTx/>
                <a:latin typeface="+mn-lt"/>
                <a:ea typeface="+mn-ea"/>
              </a:rPr>
              <a:t>的色数。</a:t>
            </a:r>
            <a:endParaRPr kumimoji="0" lang="en-US" altLang="zh-CN" sz="2400" b="0" i="0" u="none" strike="noStrike" kern="0" cap="none" spc="0" normalizeH="0" baseline="0" noProof="0" dirty="0">
              <a:ln>
                <a:noFill/>
              </a:ln>
              <a:solidFill>
                <a:schemeClr val="accent2"/>
              </a:solidFill>
              <a:effectLst/>
              <a:uLnTx/>
              <a:uFillTx/>
              <a:latin typeface="+mn-lt"/>
              <a:ea typeface="+mn-ea"/>
            </a:endParaRPr>
          </a:p>
        </p:txBody>
      </p:sp>
      <p:pic>
        <p:nvPicPr>
          <p:cNvPr id="24581" name="Picture 4" descr="example"/>
          <p:cNvPicPr>
            <a:picLocks noChangeAspect="1"/>
          </p:cNvPicPr>
          <p:nvPr/>
        </p:nvPicPr>
        <p:blipFill>
          <a:blip r:embed="rId3"/>
          <a:stretch>
            <a:fillRect/>
          </a:stretch>
        </p:blipFill>
        <p:spPr>
          <a:xfrm>
            <a:off x="914400" y="1295400"/>
            <a:ext cx="342900" cy="457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xEl>
                                              <p:pRg st="6" end="6"/>
                                            </p:txEl>
                                          </p:spTgt>
                                        </p:tgtEl>
                                        <p:attrNameLst>
                                          <p:attrName>style.visibility</p:attrName>
                                        </p:attrNameLst>
                                      </p:cBhvr>
                                      <p:to>
                                        <p:strVal val="visible"/>
                                      </p:to>
                                    </p:set>
                                    <p:anim calcmode="lin" valueType="num">
                                      <p:cBhvr additive="base">
                                        <p:cTn id="7"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363">
                                            <p:txEl>
                                              <p:pRg st="7" end="7"/>
                                            </p:txEl>
                                          </p:spTgt>
                                        </p:tgtEl>
                                        <p:attrNameLst>
                                          <p:attrName>style.visibility</p:attrName>
                                        </p:attrNameLst>
                                      </p:cBhvr>
                                      <p:to>
                                        <p:strVal val="visible"/>
                                      </p:to>
                                    </p:set>
                                    <p:anim calcmode="lin" valueType="num">
                                      <p:cBhvr additive="base">
                                        <p:cTn id="13" dur="500" fill="hold"/>
                                        <p:tgtEl>
                                          <p:spTgt spid="15363">
                                            <p:txEl>
                                              <p:pRg st="7" end="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5363">
                                            <p:txEl>
                                              <p:pRg st="8" end="8"/>
                                            </p:txEl>
                                          </p:spTgt>
                                        </p:tgtEl>
                                        <p:attrNameLst>
                                          <p:attrName>style.visibility</p:attrName>
                                        </p:attrNameLst>
                                      </p:cBhvr>
                                      <p:to>
                                        <p:strVal val="visible"/>
                                      </p:to>
                                    </p:set>
                                    <p:anim calcmode="lin" valueType="num">
                                      <p:cBhvr additive="base">
                                        <p:cTn id="19" dur="500" fill="hold"/>
                                        <p:tgtEl>
                                          <p:spTgt spid="15363">
                                            <p:txEl>
                                              <p:pRg st="8" end="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ln/>
        </p:spPr>
        <p:txBody>
          <a:bodyPr vert="horz" wrap="square" lIns="91440" tIns="45720" rIns="91440" bIns="45720" anchor="ctr" anchorCtr="0"/>
          <a:lstStyle/>
          <a:p>
            <a:r>
              <a:rPr lang="zh-CN" altLang="en-US" dirty="0"/>
              <a:t>四色猜想</a:t>
            </a:r>
          </a:p>
        </p:txBody>
      </p:sp>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zh-CN" sz="2400" b="0" i="0" u="none" strike="noStrike" kern="0" cap="none" spc="0" normalizeH="0" baseline="0" noProof="0" dirty="0">
                <a:ln>
                  <a:noFill/>
                </a:ln>
                <a:solidFill>
                  <a:schemeClr val="accent2"/>
                </a:solidFill>
                <a:effectLst>
                  <a:outerShdw blurRad="38100" dist="38100" dir="2700000" algn="tl">
                    <a:srgbClr val="FFFFFF"/>
                  </a:outerShdw>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 地图四色定理</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(Four color theorem)</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最先是由一位叫古德里（</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Francis Guthrie</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）的英国大学生提出来的。</a:t>
            </a:r>
            <a:br>
              <a:rPr kumimoji="0" lang="en-US" altLang="zh-CN" sz="2400" b="0" i="0" u="none" strike="noStrike" kern="0" cap="none" spc="0" normalizeH="0" baseline="0" noProof="0" dirty="0">
                <a:ln>
                  <a:noFill/>
                </a:ln>
                <a:solidFill>
                  <a:schemeClr val="accent2"/>
                </a:solidFill>
                <a:effectLst/>
                <a:uLnTx/>
                <a:uFillTx/>
                <a:latin typeface="+mn-lt"/>
                <a:ea typeface="+mn-ea"/>
                <a:cs typeface="+mn-cs"/>
              </a:rPr>
            </a:br>
            <a:br>
              <a:rPr kumimoji="0" lang="en-US" altLang="zh-CN" sz="2400" b="0" i="0" u="none" strike="noStrike" kern="0" cap="none" spc="0" normalizeH="0" baseline="0" noProof="0" dirty="0">
                <a:ln>
                  <a:noFill/>
                </a:ln>
                <a:solidFill>
                  <a:schemeClr val="accent2"/>
                </a:solidFill>
                <a:effectLst/>
                <a:uLnTx/>
                <a:uFillTx/>
                <a:latin typeface="+mn-lt"/>
                <a:ea typeface="+mn-ea"/>
                <a:cs typeface="+mn-cs"/>
              </a:rPr>
            </a:b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四色问题的内容是：“任何一张地图只用四种颜色就能使具有共同边界的国家着上不同的颜色。”</a:t>
            </a:r>
            <a:br>
              <a:rPr kumimoji="0" lang="en-US" altLang="zh-CN" sz="2400" b="0" i="0" u="none" strike="noStrike" kern="0" cap="none" spc="0" normalizeH="0" baseline="0" noProof="0" dirty="0">
                <a:ln>
                  <a:noFill/>
                </a:ln>
                <a:solidFill>
                  <a:schemeClr val="accent2"/>
                </a:solidFill>
                <a:effectLst/>
                <a:uLnTx/>
                <a:uFillTx/>
                <a:latin typeface="+mn-lt"/>
                <a:ea typeface="+mn-ea"/>
                <a:cs typeface="+mn-cs"/>
              </a:rPr>
            </a:b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p:txBody>
      </p:sp>
      <p:sp>
        <p:nvSpPr>
          <p:cNvPr id="2662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26629" name="Picture 4" descr="usa"/>
          <p:cNvPicPr>
            <a:picLocks noChangeAspect="1"/>
          </p:cNvPicPr>
          <p:nvPr/>
        </p:nvPicPr>
        <p:blipFill>
          <a:blip r:embed="rId2"/>
          <a:stretch>
            <a:fillRect/>
          </a:stretch>
        </p:blipFill>
        <p:spPr>
          <a:xfrm>
            <a:off x="2057400" y="3048000"/>
            <a:ext cx="5105400" cy="2776538"/>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ln/>
        </p:spPr>
        <p:txBody>
          <a:bodyPr vert="horz" wrap="square" lIns="91440" tIns="45720" rIns="91440" bIns="45720" anchor="ctr" anchorCtr="0"/>
          <a:lstStyle/>
          <a:p>
            <a:r>
              <a:rPr lang="zh-CN" altLang="en-US" dirty="0"/>
              <a:t>四色猜想</a:t>
            </a:r>
          </a:p>
        </p:txBody>
      </p:sp>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zh-CN" sz="2400" b="0" i="0" u="none" strike="noStrike" kern="0" cap="none" spc="0" normalizeH="0" baseline="0" noProof="0" dirty="0">
                <a:ln>
                  <a:noFill/>
                </a:ln>
                <a:solidFill>
                  <a:schemeClr val="accent2"/>
                </a:solidFill>
                <a:effectLst>
                  <a:outerShdw blurRad="38100" dist="38100" dir="2700000" algn="tl">
                    <a:srgbClr val="FFFFFF"/>
                  </a:outerShdw>
                </a:effectLst>
                <a:uLnTx/>
                <a:uFillTx/>
                <a:latin typeface="+mn-lt"/>
                <a:ea typeface="+mn-ea"/>
                <a:cs typeface="+mn-cs"/>
              </a:rPr>
              <a:t> </a:t>
            </a:r>
            <a:r>
              <a:rPr kumimoji="0" lang="zh-CN" altLang="zh-CN" sz="2400" b="0" i="0" u="none" strike="noStrike" kern="0" cap="none" spc="0" normalizeH="0" baseline="0" noProof="0" dirty="0">
                <a:ln>
                  <a:noFill/>
                </a:ln>
                <a:solidFill>
                  <a:schemeClr val="accent2"/>
                </a:solidFill>
                <a:effectLst/>
                <a:uLnTx/>
                <a:uFillTx/>
                <a:latin typeface="+mn-lt"/>
                <a:ea typeface="+mn-ea"/>
                <a:cs typeface="+mn-cs"/>
              </a:rPr>
              <a:t>1852</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年，刚从伦敦大学毕业的</a:t>
            </a:r>
            <a:r>
              <a:rPr kumimoji="0" lang="zh-CN" altLang="zh-CN" sz="2500" b="0" i="0" u="none" strike="noStrike" kern="0" cap="none" spc="0" normalizeH="0" baseline="0" noProof="0" dirty="0">
                <a:ln>
                  <a:noFill/>
                </a:ln>
                <a:solidFill>
                  <a:schemeClr val="hlink"/>
                </a:solidFill>
                <a:effectLst/>
                <a:uLnTx/>
                <a:uFillTx/>
                <a:latin typeface="+mn-lt"/>
                <a:ea typeface="+mn-ea"/>
                <a:cs typeface="+mn-cs"/>
              </a:rPr>
              <a:t>Francis Guthrie</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提出了四色猜想。</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zh-CN" sz="2400" b="0" i="0" u="none" strike="noStrike" kern="0" cap="none" spc="0" normalizeH="0" baseline="0" noProof="0" dirty="0">
                <a:ln>
                  <a:noFill/>
                </a:ln>
                <a:solidFill>
                  <a:schemeClr val="accent2"/>
                </a:solidFill>
                <a:effectLst/>
                <a:uLnTx/>
                <a:uFillTx/>
                <a:latin typeface="+mn-lt"/>
                <a:ea typeface="+mn-ea"/>
                <a:cs typeface="+mn-cs"/>
              </a:rPr>
              <a:t>1878</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年著名的英国数学家</a:t>
            </a:r>
            <a:r>
              <a:rPr kumimoji="0" lang="zh-CN" altLang="zh-CN" sz="2500" b="0" i="0" u="none" strike="noStrike" kern="0" cap="none" spc="0" normalizeH="0" baseline="0" noProof="0" dirty="0">
                <a:ln>
                  <a:noFill/>
                </a:ln>
                <a:solidFill>
                  <a:schemeClr val="hlink"/>
                </a:solidFill>
                <a:effectLst/>
                <a:uLnTx/>
                <a:uFillTx/>
                <a:latin typeface="+mn-lt"/>
                <a:ea typeface="+mn-ea"/>
                <a:cs typeface="+mn-cs"/>
              </a:rPr>
              <a:t>Cayley</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向数学界征求解答。</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此后数学家 </a:t>
            </a:r>
            <a:r>
              <a:rPr kumimoji="0" lang="zh-CN" altLang="zh-CN" sz="2400" b="0" i="0" u="none" strike="noStrike" kern="0" cap="none" spc="0" normalizeH="0" baseline="0" noProof="0" dirty="0">
                <a:ln>
                  <a:noFill/>
                </a:ln>
                <a:solidFill>
                  <a:schemeClr val="hlink"/>
                </a:solidFill>
                <a:effectLst/>
                <a:uLnTx/>
                <a:uFillTx/>
                <a:latin typeface="宋体" panose="02010600030101010101" pitchFamily="2" charset="-122"/>
                <a:ea typeface="+mn-ea"/>
                <a:cs typeface="+mn-cs"/>
              </a:rPr>
              <a:t>Heawood</a:t>
            </a:r>
            <a:r>
              <a:rPr kumimoji="0" lang="zh-CN" altLang="zh-CN"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花费了毕生的精力致力于四色研究，于</a:t>
            </a:r>
            <a:r>
              <a:rPr kumimoji="0" lang="zh-CN" altLang="zh-CN"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1890</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年证明了五色定理（</a:t>
            </a:r>
            <a:r>
              <a:rPr kumimoji="0" lang="zh-CN" altLang="en-US" sz="2400" b="0"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每个平面图都是</a:t>
            </a:r>
            <a:r>
              <a:rPr kumimoji="0" lang="zh-CN" altLang="zh-CN" sz="2400" b="0"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5</a:t>
            </a:r>
            <a:r>
              <a:rPr kumimoji="0" lang="zh-CN" altLang="en-US" sz="2400" b="0"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顶点可着色的</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直到</a:t>
            </a:r>
            <a:r>
              <a:rPr kumimoji="0" lang="zh-CN" altLang="zh-CN" sz="2400" b="0" i="0" u="none" strike="noStrike" kern="0" cap="none" spc="0" normalizeH="0" baseline="0" noProof="0" dirty="0">
                <a:ln>
                  <a:noFill/>
                </a:ln>
                <a:solidFill>
                  <a:schemeClr val="accent2"/>
                </a:solidFill>
                <a:effectLst/>
                <a:uLnTx/>
                <a:uFillTx/>
                <a:latin typeface="+mn-lt"/>
                <a:ea typeface="+mn-ea"/>
                <a:cs typeface="+mn-cs"/>
              </a:rPr>
              <a:t>1976</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年</a:t>
            </a:r>
            <a:r>
              <a:rPr kumimoji="0" lang="zh-CN" altLang="zh-CN" sz="2400" b="0" i="0" u="none" strike="noStrike" kern="0" cap="none" spc="0" normalizeH="0" baseline="0" noProof="0" dirty="0">
                <a:ln>
                  <a:noFill/>
                </a:ln>
                <a:solidFill>
                  <a:schemeClr val="accent2"/>
                </a:solidFill>
                <a:effectLst/>
                <a:uLnTx/>
                <a:uFillTx/>
                <a:latin typeface="+mn-lt"/>
                <a:ea typeface="+mn-ea"/>
                <a:cs typeface="+mn-cs"/>
              </a:rPr>
              <a:t>6</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月，美国数学家 </a:t>
            </a:r>
            <a:r>
              <a:rPr kumimoji="0" lang="zh-CN" altLang="zh-CN" sz="2400" b="0" i="0" u="none" strike="noStrike" kern="0" cap="none" spc="0" normalizeH="0" baseline="0" noProof="0" dirty="0">
                <a:ln>
                  <a:noFill/>
                </a:ln>
                <a:solidFill>
                  <a:schemeClr val="hlink"/>
                </a:solidFill>
                <a:effectLst/>
                <a:uLnTx/>
                <a:uFillTx/>
                <a:latin typeface="宋体" panose="02010600030101010101" pitchFamily="2" charset="-122"/>
                <a:ea typeface="+mn-ea"/>
                <a:cs typeface="+mn-cs"/>
              </a:rPr>
              <a:t>K. Appel</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与 </a:t>
            </a:r>
            <a:r>
              <a:rPr kumimoji="0" lang="zh-CN" altLang="zh-CN" sz="2400" b="0" i="0" u="none" strike="noStrike" kern="0" cap="none" spc="0" normalizeH="0" baseline="0" noProof="0" dirty="0">
                <a:ln>
                  <a:noFill/>
                </a:ln>
                <a:solidFill>
                  <a:schemeClr val="hlink"/>
                </a:solidFill>
                <a:effectLst/>
                <a:uLnTx/>
                <a:uFillTx/>
                <a:latin typeface="宋体" panose="02010600030101010101" pitchFamily="2" charset="-122"/>
                <a:ea typeface="+mn-ea"/>
                <a:cs typeface="+mn-cs"/>
              </a:rPr>
              <a:t>W. Haken</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，在</a:t>
            </a:r>
            <a:r>
              <a:rPr kumimoji="0" lang="zh-CN" altLang="zh-CN" sz="2400" b="0" i="0" u="none" strike="noStrike" kern="0" cap="none" spc="0" normalizeH="0" baseline="0" noProof="0" dirty="0">
                <a:ln>
                  <a:noFill/>
                </a:ln>
                <a:solidFill>
                  <a:schemeClr val="accent2"/>
                </a:solidFill>
                <a:effectLst/>
                <a:uLnTx/>
                <a:uFillTx/>
                <a:latin typeface="+mn-lt"/>
                <a:ea typeface="+mn-ea"/>
                <a:cs typeface="+mn-cs"/>
              </a:rPr>
              <a:t>3</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台不同的电子计算机上，用了</a:t>
            </a:r>
            <a:r>
              <a:rPr kumimoji="0" lang="zh-CN" altLang="zh-CN" sz="2400" b="0" i="0" u="none" strike="noStrike" kern="0" cap="none" spc="0" normalizeH="0" baseline="0" noProof="0" dirty="0">
                <a:ln>
                  <a:noFill/>
                </a:ln>
                <a:solidFill>
                  <a:schemeClr val="accent2"/>
                </a:solidFill>
                <a:effectLst/>
                <a:uLnTx/>
                <a:uFillTx/>
                <a:latin typeface="+mn-lt"/>
                <a:ea typeface="+mn-ea"/>
                <a:cs typeface="+mn-cs"/>
              </a:rPr>
              <a:t>1200</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小时，</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作了</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100</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亿判断，</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才终于完成了</a:t>
            </a:r>
            <a:r>
              <a:rPr kumimoji="0" lang="zh-CN" altLang="en-US" sz="2400" b="0" i="0" u="none" strike="noStrike" kern="0" cap="none" spc="0" normalizeH="0" baseline="0" noProof="0" dirty="0">
                <a:ln>
                  <a:noFill/>
                </a:ln>
                <a:solidFill>
                  <a:schemeClr val="accent2"/>
                </a:solidFill>
                <a:effectLst/>
                <a:uLnTx/>
                <a:uFillTx/>
                <a:latin typeface="Arial" panose="020B0604020202020204"/>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四色猜想</a:t>
            </a:r>
            <a:r>
              <a:rPr kumimoji="0" lang="zh-CN" altLang="en-US" sz="2400" b="0" i="0" u="none" strike="noStrike" kern="0" cap="none" spc="0" normalizeH="0" baseline="0" noProof="0" dirty="0">
                <a:ln>
                  <a:noFill/>
                </a:ln>
                <a:solidFill>
                  <a:schemeClr val="accent2"/>
                </a:solidFill>
                <a:effectLst/>
                <a:uLnTx/>
                <a:uFillTx/>
                <a:latin typeface="Arial" panose="020B0604020202020204"/>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的计算机证明。</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 </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p:txBody>
      </p:sp>
      <p:sp>
        <p:nvSpPr>
          <p:cNvPr id="2765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28675" name="Rectangle 2"/>
          <p:cNvSpPr>
            <a:spLocks noGrp="1"/>
          </p:cNvSpPr>
          <p:nvPr>
            <p:ph type="title"/>
          </p:nvPr>
        </p:nvSpPr>
        <p:spPr>
          <a:ln/>
        </p:spPr>
        <p:txBody>
          <a:bodyPr vert="horz" wrap="square" lIns="91440" tIns="45720" rIns="91440" bIns="45720" anchor="ctr" anchorCtr="0"/>
          <a:lstStyle/>
          <a:p>
            <a:pPr eaLnBrk="1" hangingPunct="1"/>
            <a:r>
              <a:rPr lang="zh-CN" altLang="en-US" dirty="0"/>
              <a:t>例子</a:t>
            </a:r>
            <a:r>
              <a:rPr lang="en-US" altLang="zh-CN" dirty="0"/>
              <a:t> 3</a:t>
            </a:r>
          </a:p>
        </p:txBody>
      </p:sp>
      <p:sp>
        <p:nvSpPr>
          <p:cNvPr id="153603"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给出一个无向图</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G=(V,E)</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，对于某个正整数</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k, G</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中大小为</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k</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的团集，是指</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G</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中有</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k</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个顶点的一个完全子图。团集问题是问一个无向图是否包含一个预定大小的团集。</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判定问题</a:t>
            </a:r>
            <a:r>
              <a:rPr kumimoji="0" lang="en-US" altLang="zh-CN" sz="2500" b="0" i="0" u="none" strike="noStrike" kern="0" cap="none" spc="0" normalizeH="0" baseline="0" noProof="0" dirty="0">
                <a:ln>
                  <a:noFill/>
                </a:ln>
                <a:solidFill>
                  <a:srgbClr val="FF0000"/>
                </a:solidFill>
                <a:effectLst/>
                <a:uLnTx/>
                <a:uFillTx/>
                <a:latin typeface="+mn-lt"/>
                <a:ea typeface="+mn-ea"/>
                <a:cs typeface="+mn-cs"/>
              </a:rPr>
              <a:t>: </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CLIQUE.</a:t>
            </a: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输入</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一个无向图</a:t>
            </a:r>
            <a:r>
              <a:rPr kumimoji="0" lang="en-US" altLang="zh-CN" sz="2200" b="0" i="0" u="none" strike="noStrike" kern="0" cap="none" spc="0" normalizeH="0" baseline="0" noProof="0" dirty="0">
                <a:ln>
                  <a:noFill/>
                </a:ln>
                <a:solidFill>
                  <a:schemeClr val="accent2"/>
                </a:solidFill>
                <a:effectLst/>
                <a:uLnTx/>
                <a:uFillTx/>
                <a:latin typeface="+mn-lt"/>
                <a:ea typeface="+mn-ea"/>
              </a:rPr>
              <a:t>G=(V,E)</a:t>
            </a:r>
            <a:r>
              <a:rPr kumimoji="0" lang="zh-CN" altLang="en-US" sz="2200" b="0" i="0" u="none" strike="noStrike" kern="0" cap="none" spc="0" normalizeH="0" baseline="0" noProof="0" dirty="0">
                <a:ln>
                  <a:noFill/>
                </a:ln>
                <a:solidFill>
                  <a:schemeClr val="accent2"/>
                </a:solidFill>
                <a:effectLst/>
                <a:uLnTx/>
                <a:uFillTx/>
                <a:latin typeface="+mn-lt"/>
                <a:ea typeface="+mn-ea"/>
              </a:rPr>
              <a:t>和一个正整数</a:t>
            </a:r>
            <a:r>
              <a:rPr kumimoji="0" lang="en-US" altLang="zh-CN" sz="2200" b="0" i="0" u="none" strike="noStrike" kern="0" cap="none" spc="0" normalizeH="0" baseline="0" noProof="0" dirty="0">
                <a:ln>
                  <a:noFill/>
                </a:ln>
                <a:solidFill>
                  <a:schemeClr val="accent2"/>
                </a:solidFill>
                <a:effectLst/>
                <a:uLnTx/>
                <a:uFillTx/>
                <a:latin typeface="+mn-lt"/>
                <a:ea typeface="+mn-ea"/>
              </a:rPr>
              <a:t>k</a:t>
            </a:r>
            <a:r>
              <a:rPr kumimoji="0" lang="zh-CN" altLang="en-US" sz="2200" b="0" i="0" u="none" strike="noStrike" kern="0" cap="none" spc="0" normalizeH="0" baseline="0" noProof="0" dirty="0">
                <a:ln>
                  <a:noFill/>
                </a:ln>
                <a:solidFill>
                  <a:schemeClr val="accent2"/>
                </a:solidFill>
                <a:effectLst/>
                <a:uLnTx/>
                <a:uFillTx/>
                <a:latin typeface="+mn-lt"/>
                <a:ea typeface="+mn-ea"/>
              </a:rPr>
              <a:t>。</a:t>
            </a:r>
            <a:endParaRPr kumimoji="0" lang="en-US" altLang="zh-CN" sz="22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问题</a:t>
            </a:r>
            <a:r>
              <a:rPr kumimoji="0" lang="en-US" altLang="zh-CN" sz="2200" b="0" i="0" u="none" strike="noStrike" kern="0" cap="none" spc="0" normalizeH="0" baseline="0" noProof="0" dirty="0">
                <a:ln>
                  <a:noFill/>
                </a:ln>
                <a:solidFill>
                  <a:schemeClr val="accent2"/>
                </a:solidFill>
                <a:effectLst/>
                <a:uLnTx/>
                <a:uFillTx/>
                <a:latin typeface="+mn-lt"/>
                <a:ea typeface="+mn-ea"/>
              </a:rPr>
              <a:t>: G</a:t>
            </a:r>
            <a:r>
              <a:rPr kumimoji="0" lang="zh-CN" altLang="en-US" sz="2200" b="0" i="0" u="none" strike="noStrike" kern="0" cap="none" spc="0" normalizeH="0" baseline="0" noProof="0" dirty="0">
                <a:ln>
                  <a:noFill/>
                </a:ln>
                <a:solidFill>
                  <a:schemeClr val="accent2"/>
                </a:solidFill>
                <a:effectLst/>
                <a:uLnTx/>
                <a:uFillTx/>
                <a:latin typeface="+mn-lt"/>
                <a:ea typeface="+mn-ea"/>
              </a:rPr>
              <a:t>有大小为</a:t>
            </a:r>
            <a:r>
              <a:rPr kumimoji="0" lang="en-US" altLang="zh-CN" sz="2200" b="0" i="0" u="none" strike="noStrike" kern="0" cap="none" spc="0" normalizeH="0" baseline="0" noProof="0" dirty="0">
                <a:ln>
                  <a:noFill/>
                </a:ln>
                <a:solidFill>
                  <a:schemeClr val="accent2"/>
                </a:solidFill>
                <a:effectLst/>
                <a:uLnTx/>
                <a:uFillTx/>
                <a:latin typeface="+mn-lt"/>
                <a:ea typeface="+mn-ea"/>
              </a:rPr>
              <a:t>k</a:t>
            </a:r>
            <a:r>
              <a:rPr kumimoji="0" lang="zh-CN" altLang="en-US" sz="2200" b="0" i="0" u="none" strike="noStrike" kern="0" cap="none" spc="0" normalizeH="0" baseline="0" noProof="0" dirty="0">
                <a:ln>
                  <a:noFill/>
                </a:ln>
                <a:solidFill>
                  <a:schemeClr val="accent2"/>
                </a:solidFill>
                <a:effectLst/>
                <a:uLnTx/>
                <a:uFillTx/>
                <a:latin typeface="+mn-lt"/>
                <a:ea typeface="+mn-ea"/>
              </a:rPr>
              <a:t>的团集吗</a:t>
            </a:r>
            <a:r>
              <a:rPr kumimoji="0" lang="en-US" altLang="zh-CN" sz="2200" b="0" i="0" u="none" strike="noStrike" kern="0" cap="none" spc="0" normalizeH="0" baseline="0" noProof="0" dirty="0">
                <a:ln>
                  <a:noFill/>
                </a:ln>
                <a:solidFill>
                  <a:schemeClr val="accent2"/>
                </a:solidFill>
                <a:effectLst/>
                <a:uLnTx/>
                <a:uFillTx/>
                <a:latin typeface="+mn-lt"/>
                <a:ea typeface="+mn-ea"/>
              </a:rPr>
              <a:t>? </a:t>
            </a: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最优化问题</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MAX-CLIQUE.</a:t>
            </a: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输入：一个无向图</a:t>
            </a:r>
            <a:r>
              <a:rPr kumimoji="0" lang="en-US" altLang="zh-CN" sz="2200" b="0" i="0" u="none" strike="noStrike" kern="0" cap="none" spc="0" normalizeH="0" baseline="0" noProof="0" dirty="0">
                <a:ln>
                  <a:noFill/>
                </a:ln>
                <a:solidFill>
                  <a:schemeClr val="accent2"/>
                </a:solidFill>
                <a:effectLst/>
                <a:uLnTx/>
                <a:uFillTx/>
                <a:latin typeface="+mn-lt"/>
                <a:ea typeface="+mn-ea"/>
              </a:rPr>
              <a:t>G=(V,E).</a:t>
            </a: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200" b="0" i="0" u="none" strike="noStrike" kern="0" cap="none" spc="0" normalizeH="0" baseline="0" noProof="0" dirty="0">
                <a:ln>
                  <a:noFill/>
                </a:ln>
                <a:solidFill>
                  <a:schemeClr val="accent2"/>
                </a:solidFill>
                <a:effectLst/>
                <a:uLnTx/>
                <a:uFillTx/>
                <a:latin typeface="+mn-lt"/>
                <a:ea typeface="+mn-ea"/>
              </a:rPr>
              <a:t>输出</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一个正整数</a:t>
            </a:r>
            <a:r>
              <a:rPr kumimoji="0" lang="en-US" altLang="zh-CN" sz="2200" b="0" i="0" u="none" strike="noStrike" kern="0" cap="none" spc="0" normalizeH="0" baseline="0" noProof="0" dirty="0">
                <a:ln>
                  <a:noFill/>
                </a:ln>
                <a:solidFill>
                  <a:schemeClr val="accent2"/>
                </a:solidFill>
                <a:effectLst/>
                <a:uLnTx/>
                <a:uFillTx/>
                <a:latin typeface="+mn-lt"/>
                <a:ea typeface="+mn-ea"/>
              </a:rPr>
              <a:t>k</a:t>
            </a:r>
            <a:r>
              <a:rPr kumimoji="0" lang="zh-CN" altLang="en-US" sz="2200" b="0" i="0" u="none" strike="noStrike" kern="0" cap="none" spc="0" normalizeH="0" baseline="0" noProof="0" dirty="0">
                <a:ln>
                  <a:noFill/>
                </a:ln>
                <a:solidFill>
                  <a:schemeClr val="accent2"/>
                </a:solidFill>
                <a:effectLst/>
                <a:uLnTx/>
                <a:uFillTx/>
                <a:latin typeface="+mn-lt"/>
                <a:ea typeface="+mn-ea"/>
              </a:rPr>
              <a:t>，它是</a:t>
            </a:r>
            <a:r>
              <a:rPr kumimoji="0" lang="en-US" altLang="zh-CN" sz="2200" b="0" i="0" u="none" strike="noStrike" kern="0" cap="none" spc="0" normalizeH="0" baseline="0" noProof="0" dirty="0">
                <a:ln>
                  <a:noFill/>
                </a:ln>
                <a:solidFill>
                  <a:schemeClr val="accent2"/>
                </a:solidFill>
                <a:effectLst/>
                <a:uLnTx/>
                <a:uFillTx/>
                <a:latin typeface="+mn-lt"/>
                <a:ea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rPr>
              <a:t>中最大团集的大小</a:t>
            </a:r>
            <a:endParaRPr kumimoji="0" lang="en-US" altLang="zh-CN" sz="2200" b="0" i="0" u="none" strike="noStrike" kern="0" cap="none" spc="0" normalizeH="0" baseline="0" noProof="0" dirty="0">
              <a:ln>
                <a:noFill/>
              </a:ln>
              <a:solidFill>
                <a:srgbClr val="FF3300"/>
              </a:solidFill>
              <a:effectLst/>
              <a:uLnTx/>
              <a:uFillTx/>
              <a:latin typeface="+mn-lt"/>
              <a:ea typeface="+mn-ea"/>
            </a:endParaRPr>
          </a:p>
        </p:txBody>
      </p:sp>
      <p:pic>
        <p:nvPicPr>
          <p:cNvPr id="28677" name="Picture 4" descr="example"/>
          <p:cNvPicPr>
            <a:picLocks noChangeAspect="1"/>
          </p:cNvPicPr>
          <p:nvPr/>
        </p:nvPicPr>
        <p:blipFill>
          <a:blip r:embed="rId3"/>
          <a:stretch>
            <a:fillRect/>
          </a:stretch>
        </p:blipFill>
        <p:spPr>
          <a:xfrm>
            <a:off x="914400" y="1295400"/>
            <a:ext cx="342900" cy="457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3603">
                                            <p:txEl>
                                              <p:pRg st="3" end="3"/>
                                            </p:txEl>
                                          </p:spTgt>
                                        </p:tgtEl>
                                        <p:attrNameLst>
                                          <p:attrName>style.visibility</p:attrName>
                                        </p:attrNameLst>
                                      </p:cBhvr>
                                      <p:to>
                                        <p:strVal val="visible"/>
                                      </p:to>
                                    </p:set>
                                    <p:anim calcmode="lin" valueType="num">
                                      <p:cBhvr additive="base">
                                        <p:cTn id="7" dur="500" fill="hold"/>
                                        <p:tgtEl>
                                          <p:spTgt spid="153603">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3603">
                                            <p:txEl>
                                              <p:pRg st="4" end="4"/>
                                            </p:txEl>
                                          </p:spTgt>
                                        </p:tgtEl>
                                        <p:attrNameLst>
                                          <p:attrName>style.visibility</p:attrName>
                                        </p:attrNameLst>
                                      </p:cBhvr>
                                      <p:to>
                                        <p:strVal val="visible"/>
                                      </p:to>
                                    </p:set>
                                    <p:anim calcmode="lin" valueType="num">
                                      <p:cBhvr additive="base">
                                        <p:cTn id="13" dur="500" fill="hold"/>
                                        <p:tgtEl>
                                          <p:spTgt spid="153603">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3603">
                                            <p:txEl>
                                              <p:pRg st="5" end="5"/>
                                            </p:txEl>
                                          </p:spTgt>
                                        </p:tgtEl>
                                        <p:attrNameLst>
                                          <p:attrName>style.visibility</p:attrName>
                                        </p:attrNameLst>
                                      </p:cBhvr>
                                      <p:to>
                                        <p:strVal val="visible"/>
                                      </p:to>
                                    </p:set>
                                    <p:anim calcmode="lin" valueType="num">
                                      <p:cBhvr additive="base">
                                        <p:cTn id="19" dur="500" fill="hold"/>
                                        <p:tgtEl>
                                          <p:spTgt spid="15360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53603">
                                            <p:txEl>
                                              <p:pRg st="6" end="6"/>
                                            </p:txEl>
                                          </p:spTgt>
                                        </p:tgtEl>
                                        <p:attrNameLst>
                                          <p:attrName>style.visibility</p:attrName>
                                        </p:attrNameLst>
                                      </p:cBhvr>
                                      <p:to>
                                        <p:strVal val="visible"/>
                                      </p:to>
                                    </p:set>
                                    <p:anim calcmode="lin" valueType="num">
                                      <p:cBhvr additive="base">
                                        <p:cTn id="25" dur="500" fill="hold"/>
                                        <p:tgtEl>
                                          <p:spTgt spid="153603">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360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53603">
                                            <p:txEl>
                                              <p:pRg st="7" end="7"/>
                                            </p:txEl>
                                          </p:spTgt>
                                        </p:tgtEl>
                                        <p:attrNameLst>
                                          <p:attrName>style.visibility</p:attrName>
                                        </p:attrNameLst>
                                      </p:cBhvr>
                                      <p:to>
                                        <p:strVal val="visible"/>
                                      </p:to>
                                    </p:set>
                                    <p:anim calcmode="lin" valueType="num">
                                      <p:cBhvr additive="base">
                                        <p:cTn id="31" dur="500" fill="hold"/>
                                        <p:tgtEl>
                                          <p:spTgt spid="153603">
                                            <p:txEl>
                                              <p:pRg st="7" end="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360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0723" name="Rectangle 2"/>
          <p:cNvSpPr>
            <a:spLocks noGrp="1"/>
          </p:cNvSpPr>
          <p:nvPr>
            <p:ph type="title"/>
          </p:nvPr>
        </p:nvSpPr>
        <p:spPr>
          <a:ln/>
        </p:spPr>
        <p:txBody>
          <a:bodyPr vert="horz" wrap="square" lIns="91440" tIns="45720" rIns="91440" bIns="45720" anchor="ctr" anchorCtr="0"/>
          <a:lstStyle/>
          <a:p>
            <a:pPr eaLnBrk="1" hangingPunct="1"/>
            <a:r>
              <a:rPr lang="en-US" altLang="zh-CN" dirty="0"/>
              <a:t> </a:t>
            </a:r>
          </a:p>
        </p:txBody>
      </p:sp>
      <p:sp>
        <p:nvSpPr>
          <p:cNvPr id="16387" name="Rectangle 3"/>
          <p:cNvSpPr>
            <a:spLocks noGrp="1"/>
          </p:cNvSpPr>
          <p:nvPr>
            <p:ph idx="1"/>
          </p:nvPr>
        </p:nvSpPr>
        <p:spPr>
          <a:xfrm>
            <a:off x="838200" y="1219200"/>
            <a:ext cx="8229600" cy="4648200"/>
          </a:xfrm>
          <a:ln/>
        </p:spPr>
        <p:txBody>
          <a:bodyPr vert="horz" wrap="square" lIns="91440" tIns="45720" rIns="91440" bIns="45720" anchor="t" anchorCtr="0"/>
          <a:lstStyle/>
          <a:p>
            <a:pPr eaLnBrk="1" hangingPunct="1">
              <a:lnSpc>
                <a:spcPct val="90000"/>
              </a:lnSpc>
            </a:pPr>
            <a:r>
              <a:rPr lang="zh-CN" altLang="en-US" sz="2400" dirty="0"/>
              <a:t>如果我们有一个求解判定问题的有效算法，那么很容易把它变成求解与它相对应的最优化问题的算法。</a:t>
            </a:r>
            <a:endParaRPr lang="en-US" altLang="zh-CN" sz="2400" dirty="0"/>
          </a:p>
          <a:p>
            <a:pPr eaLnBrk="1" hangingPunct="1">
              <a:lnSpc>
                <a:spcPct val="90000"/>
              </a:lnSpc>
            </a:pPr>
            <a:endParaRPr lang="en-US" altLang="zh-CN" sz="2400" dirty="0"/>
          </a:p>
          <a:p>
            <a:pPr eaLnBrk="1" hangingPunct="1">
              <a:lnSpc>
                <a:spcPct val="90000"/>
              </a:lnSpc>
            </a:pPr>
            <a:r>
              <a:rPr lang="zh-CN" altLang="en-US" sz="2400" dirty="0"/>
              <a:t>例如，我们有一个求解图着色判定问题的算法</a:t>
            </a:r>
            <a:r>
              <a:rPr lang="en-US" altLang="zh-CN" sz="2400" dirty="0"/>
              <a:t>A</a:t>
            </a:r>
            <a:r>
              <a:rPr lang="zh-CN" altLang="en-US" sz="2400" dirty="0"/>
              <a:t>，则可以用二分搜索并且把算法</a:t>
            </a:r>
            <a:r>
              <a:rPr lang="en-US" altLang="zh-CN" sz="2400" dirty="0"/>
              <a:t>A</a:t>
            </a:r>
            <a:r>
              <a:rPr lang="zh-CN" altLang="en-US" sz="2400" dirty="0"/>
              <a:t>作为子程序来找出图</a:t>
            </a:r>
            <a:r>
              <a:rPr lang="en-US" altLang="zh-CN" sz="2400" dirty="0"/>
              <a:t>G</a:t>
            </a:r>
            <a:r>
              <a:rPr lang="zh-CN" altLang="en-US" sz="2400" dirty="0"/>
              <a:t>的色数。很清楚，</a:t>
            </a:r>
            <a:r>
              <a:rPr lang="en-US" altLang="zh-CN" sz="2400" dirty="0"/>
              <a:t>1&lt;=x (G)&lt;=n</a:t>
            </a:r>
            <a:r>
              <a:rPr lang="zh-CN" altLang="en-US" sz="2400" dirty="0"/>
              <a:t>，这里</a:t>
            </a:r>
            <a:r>
              <a:rPr lang="en-US" altLang="zh-CN" sz="2400" dirty="0"/>
              <a:t>n</a:t>
            </a:r>
            <a:r>
              <a:rPr lang="zh-CN" altLang="en-US" sz="2400" dirty="0"/>
              <a:t>是</a:t>
            </a:r>
            <a:r>
              <a:rPr lang="en-US" altLang="zh-CN" sz="2400" dirty="0"/>
              <a:t>G</a:t>
            </a:r>
            <a:r>
              <a:rPr lang="zh-CN" altLang="en-US" sz="2400" dirty="0"/>
              <a:t>中顶点数，因此仅用</a:t>
            </a:r>
            <a:r>
              <a:rPr lang="en-US" altLang="zh-CN" sz="2400" dirty="0"/>
              <a:t>O(1og n)</a:t>
            </a:r>
            <a:r>
              <a:rPr lang="zh-CN" altLang="en-US" sz="2400" dirty="0"/>
              <a:t>次调用算法</a:t>
            </a:r>
            <a:r>
              <a:rPr lang="en-US" altLang="zh-CN" sz="2400" dirty="0"/>
              <a:t>A</a:t>
            </a:r>
            <a:r>
              <a:rPr lang="zh-CN" altLang="en-US" sz="2400" dirty="0"/>
              <a:t>就可以找到</a:t>
            </a:r>
            <a:r>
              <a:rPr lang="en-US" altLang="zh-CN" sz="2400" dirty="0"/>
              <a:t>G</a:t>
            </a:r>
            <a:r>
              <a:rPr lang="zh-CN" altLang="en-US" sz="2400" dirty="0"/>
              <a:t>的色数。由于我们正处理多项式时间的算法，</a:t>
            </a:r>
            <a:r>
              <a:rPr lang="en-US" altLang="zh-CN" sz="2400" dirty="0"/>
              <a:t> log n</a:t>
            </a:r>
            <a:r>
              <a:rPr lang="zh-CN" altLang="en-US" sz="2400" dirty="0"/>
              <a:t>因子是不重要的。</a:t>
            </a:r>
            <a:endParaRPr lang="en-US" altLang="zh-CN" sz="2400" dirty="0"/>
          </a:p>
          <a:p>
            <a:pPr eaLnBrk="1" hangingPunct="1">
              <a:lnSpc>
                <a:spcPct val="90000"/>
              </a:lnSpc>
            </a:pPr>
            <a:endParaRPr lang="en-US" altLang="zh-CN" sz="2400" dirty="0"/>
          </a:p>
          <a:p>
            <a:pPr eaLnBrk="1" hangingPunct="1">
              <a:lnSpc>
                <a:spcPct val="90000"/>
              </a:lnSpc>
            </a:pPr>
            <a:r>
              <a:rPr lang="zh-CN" altLang="en-US" sz="2400" dirty="0"/>
              <a:t>因为这个理由，在</a:t>
            </a:r>
            <a:r>
              <a:rPr lang="en-US" altLang="zh-CN" sz="2400" dirty="0"/>
              <a:t>NP</a:t>
            </a:r>
            <a:r>
              <a:rPr lang="zh-CN" altLang="en-US" sz="2400" dirty="0"/>
              <a:t>完全问题的研究中，甚至在一般意义上的计算复杂性或可计算性的研究中，把注意力限制在</a:t>
            </a:r>
            <a:r>
              <a:rPr lang="zh-CN" altLang="en-US" sz="2400" dirty="0">
                <a:solidFill>
                  <a:srgbClr val="FF0000"/>
                </a:solidFill>
              </a:rPr>
              <a:t>判定问题</a:t>
            </a:r>
            <a:r>
              <a:rPr lang="zh-CN" altLang="en-US" sz="2400" dirty="0"/>
              <a:t>上会比较容易一些</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6387">
                                            <p:txEl>
                                              <p:pRg st="2" end="2"/>
                                            </p:txEl>
                                          </p:spTgt>
                                        </p:tgtEl>
                                        <p:attrNameLst>
                                          <p:attrName>style.visibility</p:attrName>
                                        </p:attrNameLst>
                                      </p:cBhvr>
                                      <p:to>
                                        <p:strVal val="visible"/>
                                      </p:to>
                                    </p:set>
                                    <p:animEffect transition="in" filter="blinds(horizontal)">
                                      <p:cBhvr>
                                        <p:cTn id="13" dur="500"/>
                                        <p:tgtEl>
                                          <p:spTgt spid="1638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6387">
                                            <p:txEl>
                                              <p:pRg st="4" end="4"/>
                                            </p:txEl>
                                          </p:spTgt>
                                        </p:tgtEl>
                                        <p:attrNameLst>
                                          <p:attrName>style.visibility</p:attrName>
                                        </p:attrNameLst>
                                      </p:cBhvr>
                                      <p:to>
                                        <p:strVal val="visible"/>
                                      </p:to>
                                    </p:set>
                                    <p:animEffect transition="in" filter="blinds(horizontal)">
                                      <p:cBhvr>
                                        <p:cTn id="18" dur="500"/>
                                        <p:tgtEl>
                                          <p:spTgt spid="163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DA8AAB-A3AC-4BBD-9E1F-EAB71C7F266E}"/>
              </a:ext>
            </a:extLst>
          </p:cNvPr>
          <p:cNvSpPr>
            <a:spLocks noGrp="1"/>
          </p:cNvSpPr>
          <p:nvPr>
            <p:ph type="title"/>
          </p:nvPr>
        </p:nvSpPr>
        <p:spPr/>
        <p:txBody>
          <a:bodyPr/>
          <a:lstStyle/>
          <a:p>
            <a:r>
              <a:rPr lang="en-US" altLang="zh-CN" dirty="0"/>
              <a:t>7.1.4 </a:t>
            </a:r>
            <a:r>
              <a:rPr lang="zh-CN" altLang="en-US" dirty="0"/>
              <a:t>确定图灵机模型、确定算法</a:t>
            </a:r>
          </a:p>
        </p:txBody>
      </p:sp>
      <p:sp>
        <p:nvSpPr>
          <p:cNvPr id="3" name="内容占位符 2">
            <a:extLst>
              <a:ext uri="{FF2B5EF4-FFF2-40B4-BE49-F238E27FC236}">
                <a16:creationId xmlns:a16="http://schemas.microsoft.com/office/drawing/2014/main" id="{FBFC71DE-6C9A-485E-B048-17D27DDBAD17}"/>
              </a:ext>
            </a:extLst>
          </p:cNvPr>
          <p:cNvSpPr>
            <a:spLocks noGrp="1"/>
          </p:cNvSpPr>
          <p:nvPr>
            <p:ph idx="1"/>
          </p:nvPr>
        </p:nvSpPr>
        <p:spPr/>
        <p:txBody>
          <a:bodyPr/>
          <a:lstStyle/>
          <a:p>
            <a:r>
              <a:rPr lang="zh-CN" altLang="en-US" sz="2000" dirty="0"/>
              <a:t>图灵机是一种数学计算模型，它定义了一个抽象机器，该抽象机器根据规则表来操纵带子上的符号。尽管该模型很简单，但是在任何给定计算机算法的情况下，都可以构建出模拟该算法逻辑的图灵机。</a:t>
            </a:r>
          </a:p>
          <a:p>
            <a:r>
              <a:rPr lang="zh-CN" altLang="en-US" sz="2000" dirty="0"/>
              <a:t>简单点说，图灵机就是一个模拟算法运行的抽象机器。它是这样定义的：</a:t>
            </a:r>
          </a:p>
          <a:p>
            <a:pPr lvl="1"/>
            <a:r>
              <a:rPr lang="zh-CN" altLang="en-US" sz="1700" dirty="0">
                <a:latin typeface="+mn-ea"/>
                <a:ea typeface="+mn-ea"/>
              </a:rPr>
              <a:t>有一个无限长度的磁带，这个磁带被分成了一个接一个的单元格，磁带被用于写入字母和符号。</a:t>
            </a:r>
          </a:p>
          <a:p>
            <a:pPr lvl="1"/>
            <a:r>
              <a:rPr lang="zh-CN" altLang="en-US" sz="1700" dirty="0">
                <a:latin typeface="+mn-ea"/>
                <a:ea typeface="+mn-ea"/>
              </a:rPr>
              <a:t>一个读写磁带的磁头，这个磁头负责控制堆磁带的写入和左右移动。</a:t>
            </a:r>
          </a:p>
          <a:p>
            <a:pPr lvl="1"/>
            <a:r>
              <a:rPr lang="zh-CN" altLang="en-US" sz="1700" dirty="0">
                <a:latin typeface="+mn-ea"/>
                <a:ea typeface="+mn-ea"/>
              </a:rPr>
              <a:t>一个状态寄存器，用来存储图灵机的状态。</a:t>
            </a:r>
          </a:p>
          <a:p>
            <a:pPr lvl="1"/>
            <a:r>
              <a:rPr lang="zh-CN" altLang="en-US" sz="1700" dirty="0">
                <a:latin typeface="+mn-ea"/>
                <a:ea typeface="+mn-ea"/>
              </a:rPr>
              <a:t>一个指令表，可以根据机器当前所处的状态和磁带上当前的符号，指示机器进行特定的操作。比如：擦除或者写入一个符号、向左或者向右移动磁头。</a:t>
            </a:r>
          </a:p>
          <a:p>
            <a:pPr lvl="1"/>
            <a:r>
              <a:rPr lang="zh-CN" altLang="en-US" sz="1700" dirty="0">
                <a:latin typeface="+mn-ea"/>
                <a:ea typeface="+mn-ea"/>
              </a:rPr>
              <a:t>可以看到整个图灵机基本上模拟了程序的执行步骤。</a:t>
            </a:r>
          </a:p>
          <a:p>
            <a:endParaRPr lang="zh-CN" altLang="en-US" dirty="0"/>
          </a:p>
        </p:txBody>
      </p:sp>
    </p:spTree>
    <p:extLst>
      <p:ext uri="{BB962C8B-B14F-4D97-AF65-F5344CB8AC3E}">
        <p14:creationId xmlns:p14="http://schemas.microsoft.com/office/powerpoint/2010/main" val="11160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zh-CN" altLang="en-US" dirty="0"/>
              <a:t>确定图灵机模型</a:t>
            </a:r>
            <a:endParaRPr lang="en-US" altLang="zh-CN" dirty="0"/>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r>
              <a:rPr lang="zh-CN" altLang="en-US" dirty="0"/>
              <a:t>在确定性图灵机（</a:t>
            </a:r>
            <a:r>
              <a:rPr lang="en-US" altLang="zh-CN" dirty="0"/>
              <a:t>DTM</a:t>
            </a:r>
            <a:r>
              <a:rPr lang="zh-CN" altLang="en-US" dirty="0"/>
              <a:t>）中，其控制规则规定了在任何给定情况下最多只能执行一个动作。</a:t>
            </a:r>
          </a:p>
          <a:p>
            <a:r>
              <a:rPr lang="zh-CN" altLang="en-US" dirty="0"/>
              <a:t>确定性图灵机具有转换功能，对于磁带头下的给定状态和符号，该转换功能指定了三件事：</a:t>
            </a:r>
          </a:p>
          <a:p>
            <a:r>
              <a:rPr lang="zh-CN" altLang="en-US" dirty="0"/>
              <a:t>要写入磁带的符号，头部应移动的方向（向左，向右或都不向），以及有限控制的后续状态。</a:t>
            </a:r>
          </a:p>
          <a:p>
            <a:r>
              <a:rPr lang="zh-CN" altLang="en-US" dirty="0"/>
              <a:t>例如，状态</a:t>
            </a:r>
            <a:r>
              <a:rPr lang="en-US" altLang="zh-CN" dirty="0"/>
              <a:t>3</a:t>
            </a:r>
            <a:r>
              <a:rPr lang="zh-CN" altLang="en-US" dirty="0"/>
              <a:t>的磁带上的</a:t>
            </a:r>
            <a:r>
              <a:rPr lang="en-US" altLang="zh-CN" dirty="0"/>
              <a:t>X</a:t>
            </a:r>
            <a:r>
              <a:rPr lang="zh-CN" altLang="en-US" dirty="0"/>
              <a:t>可能会使</a:t>
            </a:r>
            <a:r>
              <a:rPr lang="en-US" altLang="zh-CN" dirty="0"/>
              <a:t>DTM</a:t>
            </a:r>
            <a:r>
              <a:rPr lang="zh-CN" altLang="en-US" dirty="0"/>
              <a:t>在磁带上写</a:t>
            </a:r>
            <a:r>
              <a:rPr lang="en-US" altLang="zh-CN" dirty="0"/>
              <a:t>Y</a:t>
            </a:r>
            <a:r>
              <a:rPr lang="zh-CN" altLang="en-US" dirty="0"/>
              <a:t>，将磁头向右移动一个位置，然后切换到状态</a:t>
            </a:r>
            <a:r>
              <a:rPr lang="en-US" altLang="zh-CN" dirty="0"/>
              <a:t>5</a:t>
            </a:r>
            <a:r>
              <a:rPr lang="zh-CN" altLang="en-US" dirty="0"/>
              <a:t>。</a:t>
            </a:r>
          </a:p>
        </p:txBody>
      </p:sp>
    </p:spTree>
    <p:extLst>
      <p:ext uri="{BB962C8B-B14F-4D97-AF65-F5344CB8AC3E}">
        <p14:creationId xmlns:p14="http://schemas.microsoft.com/office/powerpoint/2010/main" val="3517620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2" dur="500"/>
                                        <p:tgtEl>
                                          <p:spTgt spid="10243">
                                            <p:txEl>
                                              <p:pRg st="3" end="3"/>
                                            </p:txEl>
                                          </p:spTgt>
                                        </p:tgtEl>
                                      </p:cBhvr>
                                    </p:animEffect>
                                  </p:childTnLst>
                                  <p:subTnLst>
                                    <p:animClr clrSpc="rgb" dir="cw">
                                      <p:cBhvr override="childStyle">
                                        <p:cTn dur="1" fill="hold" display="0" masterRel="nextClick" afterEffect="1"/>
                                        <p:tgtEl>
                                          <p:spTgt spid="10243">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zh-CN" altLang="en-US" dirty="0"/>
              <a:t>确定算法</a:t>
            </a:r>
            <a:endParaRPr lang="en-US" altLang="zh-CN" dirty="0"/>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pPr lvl="0" eaLnBrk="1" hangingPunct="1">
              <a:defRPr/>
            </a:pPr>
            <a:r>
              <a:rPr lang="en-US" altLang="zh-CN" dirty="0"/>
              <a:t> </a:t>
            </a:r>
            <a:r>
              <a:rPr lang="zh-CN" altLang="en-US" dirty="0"/>
              <a:t>定义</a:t>
            </a:r>
            <a:r>
              <a:rPr lang="en-US" altLang="zh-CN" dirty="0"/>
              <a:t>  </a:t>
            </a:r>
            <a:r>
              <a:rPr lang="zh-CN" altLang="en-US" dirty="0"/>
              <a:t>确定性算法</a:t>
            </a:r>
            <a:endParaRPr lang="en-US" altLang="zh-CN" dirty="0"/>
          </a:p>
          <a:p>
            <a:pPr lvl="1" eaLnBrk="1" hangingPunct="1">
              <a:defRPr/>
            </a:pPr>
            <a:r>
              <a:rPr lang="zh-CN" altLang="en-US" sz="2500" dirty="0">
                <a:latin typeface="+mn-lt"/>
                <a:ea typeface="+mn-ea"/>
                <a:cs typeface="+mn-cs"/>
              </a:rPr>
              <a:t>设</a:t>
            </a:r>
            <a:r>
              <a:rPr lang="en-US" altLang="zh-CN" sz="2500" dirty="0">
                <a:latin typeface="+mn-lt"/>
                <a:ea typeface="+mn-ea"/>
                <a:cs typeface="+mn-cs"/>
              </a:rPr>
              <a:t>A</a:t>
            </a:r>
            <a:r>
              <a:rPr lang="zh-CN" altLang="en-US" sz="2500" dirty="0">
                <a:latin typeface="+mn-lt"/>
                <a:ea typeface="+mn-ea"/>
                <a:cs typeface="+mn-cs"/>
              </a:rPr>
              <a:t>是求解问题</a:t>
            </a:r>
            <a:r>
              <a:rPr lang="en-US" altLang="zh-CN" sz="2500" dirty="0">
                <a:latin typeface="+mn-lt"/>
                <a:ea typeface="+mn-ea"/>
                <a:cs typeface="+mn-cs"/>
              </a:rPr>
              <a:t>∏</a:t>
            </a:r>
            <a:r>
              <a:rPr lang="zh-CN" altLang="en-US" sz="2500" dirty="0">
                <a:latin typeface="+mn-lt"/>
                <a:ea typeface="+mn-ea"/>
                <a:cs typeface="+mn-cs"/>
              </a:rPr>
              <a:t>的一个算法，如果在展示问题</a:t>
            </a:r>
            <a:r>
              <a:rPr lang="en-US" altLang="zh-CN" sz="2500" dirty="0">
                <a:latin typeface="+mn-lt"/>
                <a:ea typeface="+mn-ea"/>
                <a:cs typeface="+mn-cs"/>
              </a:rPr>
              <a:t>∏</a:t>
            </a:r>
            <a:r>
              <a:rPr lang="zh-CN" altLang="en-US" sz="2500" dirty="0">
                <a:latin typeface="+mn-lt"/>
                <a:ea typeface="+mn-ea"/>
                <a:cs typeface="+mn-cs"/>
              </a:rPr>
              <a:t>的一个实例时，在整个执行过程中，每一步都只有一种选择，则称</a:t>
            </a:r>
            <a:r>
              <a:rPr lang="en-US" altLang="zh-CN" sz="2500" dirty="0">
                <a:latin typeface="+mn-lt"/>
                <a:ea typeface="+mn-ea"/>
                <a:cs typeface="+mn-cs"/>
              </a:rPr>
              <a:t>A</a:t>
            </a:r>
            <a:r>
              <a:rPr lang="zh-CN" altLang="en-US" sz="2500" dirty="0">
                <a:latin typeface="+mn-lt"/>
                <a:ea typeface="+mn-ea"/>
                <a:cs typeface="+mn-cs"/>
              </a:rPr>
              <a:t>是确定性算法。因此如果对于同样的输入，实例一遍又一遍地执行，它的输出从不改变。</a:t>
            </a:r>
            <a:endParaRPr lang="en-US" altLang="zh-CN" sz="2500" dirty="0">
              <a:latin typeface="+mn-lt"/>
              <a:ea typeface="+mn-ea"/>
              <a:cs typeface="+mn-cs"/>
            </a:endParaRPr>
          </a:p>
          <a:p>
            <a:pPr lvl="1" eaLnBrk="1" hangingPunct="1">
              <a:defRPr/>
            </a:pPr>
            <a:r>
              <a:rPr lang="zh-CN" altLang="en-US" sz="2500" dirty="0">
                <a:latin typeface="+mn-lt"/>
                <a:ea typeface="+mn-ea"/>
                <a:cs typeface="+mn-cs"/>
              </a:rPr>
              <a:t>特点：对同一输入实例，运行算法</a:t>
            </a:r>
            <a:r>
              <a:rPr lang="en-US" altLang="zh-CN" sz="2500" dirty="0">
                <a:latin typeface="+mn-lt"/>
                <a:ea typeface="+mn-ea"/>
                <a:cs typeface="+mn-cs"/>
              </a:rPr>
              <a:t>A</a:t>
            </a:r>
            <a:r>
              <a:rPr lang="zh-CN" altLang="en-US" sz="2500" dirty="0">
                <a:latin typeface="+mn-lt"/>
                <a:ea typeface="+mn-ea"/>
                <a:cs typeface="+mn-cs"/>
              </a:rPr>
              <a:t>，所得结果是一样的。</a:t>
            </a:r>
            <a:endParaRPr lang="en-US" altLang="zh-CN" sz="2500" dirty="0">
              <a:latin typeface="+mn-lt"/>
              <a:ea typeface="+mn-ea"/>
              <a:cs typeface="+mn-cs"/>
            </a:endParaRPr>
          </a:p>
        </p:txBody>
      </p:sp>
    </p:spTree>
    <p:extLst>
      <p:ext uri="{BB962C8B-B14F-4D97-AF65-F5344CB8AC3E}">
        <p14:creationId xmlns:p14="http://schemas.microsoft.com/office/powerpoint/2010/main" val="302693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en-US" altLang="zh-CN" dirty="0"/>
              <a:t>7.1.5 </a:t>
            </a:r>
            <a:r>
              <a:rPr lang="zh-CN" altLang="en-US" dirty="0"/>
              <a:t>不确定图灵机模型、不确定算法</a:t>
            </a:r>
            <a:endParaRPr lang="en-US" altLang="zh-CN" dirty="0"/>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r>
              <a:rPr lang="zh-CN" altLang="en-US" dirty="0"/>
              <a:t>不确定图灵机模型：</a:t>
            </a:r>
            <a:endParaRPr lang="en-US" altLang="zh-CN" dirty="0"/>
          </a:p>
          <a:p>
            <a:pPr lvl="1"/>
            <a:r>
              <a:rPr lang="zh-CN" altLang="en-US" dirty="0">
                <a:latin typeface="+mn-ea"/>
                <a:ea typeface="+mn-ea"/>
              </a:rPr>
              <a:t>在理论计算机科学中，不确定性图灵机（</a:t>
            </a:r>
            <a:r>
              <a:rPr lang="en-US" altLang="zh-CN" dirty="0" err="1">
                <a:latin typeface="+mn-ea"/>
                <a:ea typeface="+mn-ea"/>
              </a:rPr>
              <a:t>NTM</a:t>
            </a:r>
            <a:r>
              <a:rPr lang="zh-CN" altLang="en-US" dirty="0">
                <a:latin typeface="+mn-ea"/>
                <a:ea typeface="+mn-ea"/>
              </a:rPr>
              <a:t>）是一种理论计算模型，其控制规则在某些给定情况下指定了多个可能的动作。 也就是说，</a:t>
            </a:r>
            <a:r>
              <a:rPr lang="en-US" altLang="zh-CN" dirty="0" err="1">
                <a:latin typeface="+mn-ea"/>
                <a:ea typeface="+mn-ea"/>
              </a:rPr>
              <a:t>NTM</a:t>
            </a:r>
            <a:r>
              <a:rPr lang="zh-CN" altLang="en-US" dirty="0">
                <a:latin typeface="+mn-ea"/>
                <a:ea typeface="+mn-ea"/>
              </a:rPr>
              <a:t>的下一个状态不是完全由其动作和它所看到的当前符号决定的（不同于确定性图灵机）。</a:t>
            </a:r>
          </a:p>
          <a:p>
            <a:pPr lvl="1"/>
            <a:r>
              <a:rPr lang="zh-CN" altLang="en-US" dirty="0">
                <a:latin typeface="+mn-ea"/>
                <a:ea typeface="+mn-ea"/>
              </a:rPr>
              <a:t>例如，状态</a:t>
            </a:r>
            <a:r>
              <a:rPr lang="en-US" altLang="zh-CN" dirty="0">
                <a:latin typeface="+mn-ea"/>
                <a:ea typeface="+mn-ea"/>
              </a:rPr>
              <a:t>3</a:t>
            </a:r>
            <a:r>
              <a:rPr lang="zh-CN" altLang="en-US" dirty="0">
                <a:latin typeface="+mn-ea"/>
                <a:ea typeface="+mn-ea"/>
              </a:rPr>
              <a:t>的磁带上的</a:t>
            </a:r>
            <a:r>
              <a:rPr lang="en-US" altLang="zh-CN" dirty="0">
                <a:latin typeface="+mn-ea"/>
                <a:ea typeface="+mn-ea"/>
              </a:rPr>
              <a:t>X</a:t>
            </a:r>
            <a:r>
              <a:rPr lang="zh-CN" altLang="en-US" dirty="0">
                <a:latin typeface="+mn-ea"/>
                <a:ea typeface="+mn-ea"/>
              </a:rPr>
              <a:t>可能允许</a:t>
            </a:r>
            <a:r>
              <a:rPr lang="en-US" altLang="zh-CN" dirty="0" err="1">
                <a:latin typeface="+mn-ea"/>
                <a:ea typeface="+mn-ea"/>
              </a:rPr>
              <a:t>NTM</a:t>
            </a:r>
            <a:r>
              <a:rPr lang="zh-CN" altLang="en-US" dirty="0">
                <a:latin typeface="+mn-ea"/>
                <a:ea typeface="+mn-ea"/>
              </a:rPr>
              <a:t>：</a:t>
            </a:r>
          </a:p>
          <a:p>
            <a:pPr lvl="1"/>
            <a:r>
              <a:rPr lang="zh-CN" altLang="en-US" dirty="0">
                <a:latin typeface="+mn-ea"/>
                <a:ea typeface="+mn-ea"/>
              </a:rPr>
              <a:t>输入</a:t>
            </a:r>
            <a:r>
              <a:rPr lang="en-US" altLang="zh-CN" dirty="0">
                <a:latin typeface="+mn-ea"/>
                <a:ea typeface="+mn-ea"/>
              </a:rPr>
              <a:t>Y</a:t>
            </a:r>
            <a:r>
              <a:rPr lang="zh-CN" altLang="en-US" dirty="0">
                <a:latin typeface="+mn-ea"/>
                <a:ea typeface="+mn-ea"/>
              </a:rPr>
              <a:t>，向右移动，然后切换到状态</a:t>
            </a:r>
            <a:r>
              <a:rPr lang="en-US" altLang="zh-CN" dirty="0">
                <a:latin typeface="+mn-ea"/>
                <a:ea typeface="+mn-ea"/>
              </a:rPr>
              <a:t>5</a:t>
            </a:r>
            <a:r>
              <a:rPr lang="zh-CN" altLang="en-US" dirty="0">
                <a:latin typeface="+mn-ea"/>
                <a:ea typeface="+mn-ea"/>
              </a:rPr>
              <a:t>或者写一个</a:t>
            </a:r>
            <a:r>
              <a:rPr lang="en-US" altLang="zh-CN" dirty="0">
                <a:latin typeface="+mn-ea"/>
                <a:ea typeface="+mn-ea"/>
              </a:rPr>
              <a:t>X</a:t>
            </a:r>
            <a:r>
              <a:rPr lang="zh-CN" altLang="en-US" dirty="0">
                <a:latin typeface="+mn-ea"/>
                <a:ea typeface="+mn-ea"/>
              </a:rPr>
              <a:t>，向左移动，并停留在状态</a:t>
            </a:r>
            <a:r>
              <a:rPr lang="en-US" altLang="zh-CN" dirty="0">
                <a:latin typeface="+mn-ea"/>
                <a:ea typeface="+mn-ea"/>
              </a:rPr>
              <a:t>3</a:t>
            </a:r>
            <a:r>
              <a:rPr lang="zh-CN" altLang="en-US" dirty="0">
                <a:latin typeface="+mn-ea"/>
                <a:ea typeface="+mn-ea"/>
              </a:rPr>
              <a:t>。</a:t>
            </a:r>
          </a:p>
          <a:p>
            <a:pPr eaLnBrk="1" hangingPunct="1">
              <a:lnSpc>
                <a:spcPct val="90000"/>
              </a:lnSpc>
            </a:pPr>
            <a:endParaRPr lang="en-US" altLang="zh-CN" dirty="0"/>
          </a:p>
        </p:txBody>
      </p:sp>
    </p:spTree>
    <p:extLst>
      <p:ext uri="{BB962C8B-B14F-4D97-AF65-F5344CB8AC3E}">
        <p14:creationId xmlns:p14="http://schemas.microsoft.com/office/powerpoint/2010/main" val="225271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2" dur="500"/>
                                        <p:tgtEl>
                                          <p:spTgt spid="10243">
                                            <p:txEl>
                                              <p:pRg st="3" end="3"/>
                                            </p:txEl>
                                          </p:spTgt>
                                        </p:tgtEl>
                                      </p:cBhvr>
                                    </p:animEffect>
                                  </p:childTnLst>
                                  <p:subTnLst>
                                    <p:animClr clrSpc="rgb" dir="cw">
                                      <p:cBhvr override="childStyle">
                                        <p:cTn dur="1" fill="hold" display="0" masterRel="nextClick" afterEffect="1"/>
                                        <p:tgtEl>
                                          <p:spTgt spid="10243">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5059" name="Rectangle 2"/>
          <p:cNvSpPr>
            <a:spLocks noGrp="1"/>
          </p:cNvSpPr>
          <p:nvPr>
            <p:ph type="title"/>
          </p:nvPr>
        </p:nvSpPr>
        <p:spPr>
          <a:ln/>
        </p:spPr>
        <p:txBody>
          <a:bodyPr vert="horz" wrap="square" lIns="91440" tIns="45720" rIns="91440" bIns="45720" anchor="ctr" anchorCtr="0"/>
          <a:lstStyle/>
          <a:p>
            <a:pPr eaLnBrk="1" hangingPunct="1"/>
            <a:r>
              <a:rPr lang="zh-CN" altLang="en-US" dirty="0"/>
              <a:t>不确定性算法</a:t>
            </a:r>
            <a:endParaRPr lang="en-US" altLang="zh-CN" dirty="0"/>
          </a:p>
        </p:txBody>
      </p:sp>
      <p:sp>
        <p:nvSpPr>
          <p:cNvPr id="147459" name="Rectangle 3"/>
          <p:cNvSpPr>
            <a:spLocks noGrp="1" noChangeArrowheads="1"/>
          </p:cNvSpPr>
          <p:nvPr>
            <p:ph idx="1"/>
          </p:nvPr>
        </p:nvSpPr>
        <p:spPr>
          <a:xfrm>
            <a:off x="900113" y="1268413"/>
            <a:ext cx="7786688" cy="31511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ea typeface="+mn-ea"/>
              </a:rPr>
              <a:t>对于输入</a:t>
            </a:r>
            <a:r>
              <a:rPr kumimoji="0" lang="en-US" altLang="zh-CN" sz="2400" b="0" i="1" u="none" strike="noStrike" kern="0" cap="none" spc="0" normalizeH="0" baseline="0" noProof="0" dirty="0">
                <a:ln>
                  <a:noFill/>
                </a:ln>
                <a:solidFill>
                  <a:schemeClr val="accent2"/>
                </a:solidFill>
                <a:effectLst/>
                <a:uLnTx/>
                <a:uFillTx/>
                <a:ea typeface="+mn-ea"/>
              </a:rPr>
              <a:t>x </a:t>
            </a:r>
            <a:r>
              <a:rPr kumimoji="0" lang="zh-CN" altLang="en-US" sz="2400" b="0" i="0" u="none" strike="noStrike" kern="0" cap="none" spc="0" normalizeH="0" baseline="0" noProof="0" dirty="0">
                <a:ln>
                  <a:noFill/>
                </a:ln>
                <a:solidFill>
                  <a:schemeClr val="accent2"/>
                </a:solidFill>
                <a:effectLst/>
                <a:uLnTx/>
                <a:uFillTx/>
                <a:ea typeface="+mn-ea"/>
              </a:rPr>
              <a:t>，一个</a:t>
            </a:r>
            <a:r>
              <a:rPr kumimoji="0" lang="zh-CN" altLang="en-US" sz="2400" b="0" i="0" u="none" strike="noStrike" kern="0" cap="none" spc="0" normalizeH="0" baseline="0" noProof="0" dirty="0">
                <a:ln>
                  <a:noFill/>
                </a:ln>
                <a:solidFill>
                  <a:srgbClr val="FF0000"/>
                </a:solidFill>
                <a:effectLst/>
                <a:uLnTx/>
                <a:uFillTx/>
                <a:ea typeface="+mn-ea"/>
              </a:rPr>
              <a:t>不确定性算法</a:t>
            </a:r>
            <a:r>
              <a:rPr kumimoji="0" lang="zh-CN" altLang="en-US" sz="2400" b="0" i="0" u="none" strike="noStrike" kern="0" cap="none" spc="0" normalizeH="0" baseline="0" noProof="0" dirty="0">
                <a:ln>
                  <a:noFill/>
                </a:ln>
                <a:solidFill>
                  <a:schemeClr val="accent2"/>
                </a:solidFill>
                <a:effectLst/>
                <a:uLnTx/>
                <a:uFillTx/>
                <a:ea typeface="+mn-ea"/>
              </a:rPr>
              <a:t>由下列两个阶段组成</a:t>
            </a:r>
            <a:r>
              <a:rPr kumimoji="0" lang="en-US" altLang="zh-CN" sz="2400" b="0" i="0" u="none" strike="noStrike" kern="0" cap="none" spc="0" normalizeH="0" baseline="0" noProof="0" dirty="0">
                <a:ln>
                  <a:noFill/>
                </a:ln>
                <a:solidFill>
                  <a:schemeClr val="accent2"/>
                </a:solidFill>
                <a:effectLst/>
                <a:uLnTx/>
                <a:uFillTx/>
                <a:ea typeface="+mn-ea"/>
              </a:rPr>
              <a:t>:</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rPr>
              <a:t>猜测阶段</a:t>
            </a:r>
            <a:endParaRPr kumimoji="0" lang="en-US" altLang="zh-CN" sz="24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rPr>
              <a:t>验证阶段</a:t>
            </a:r>
            <a:endParaRPr kumimoji="0" lang="en-US" altLang="zh-CN" sz="24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200" b="0" i="0" u="none" strike="noStrike" kern="0" cap="none" spc="0" normalizeH="0" baseline="0" noProof="0" dirty="0">
              <a:ln>
                <a:noFill/>
              </a:ln>
              <a:solidFill>
                <a:schemeClr val="accent2"/>
              </a:solidFill>
              <a:effectLst/>
              <a:uLnTx/>
              <a:uFillTx/>
              <a:latin typeface="+mn-ea"/>
              <a:ea typeface="+mn-ea"/>
            </a:endParaRPr>
          </a:p>
        </p:txBody>
      </p:sp>
    </p:spTree>
    <p:extLst>
      <p:ext uri="{BB962C8B-B14F-4D97-AF65-F5344CB8AC3E}">
        <p14:creationId xmlns:p14="http://schemas.microsoft.com/office/powerpoint/2010/main" val="2228638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blinds(horizontal)">
                                      <p:cBhvr>
                                        <p:cTn id="7" dur="500"/>
                                        <p:tgtEl>
                                          <p:spTgt spid="147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7459">
                                            <p:txEl>
                                              <p:pRg st="2" end="2"/>
                                            </p:txEl>
                                          </p:spTgt>
                                        </p:tgtEl>
                                        <p:attrNameLst>
                                          <p:attrName>style.visibility</p:attrName>
                                        </p:attrNameLst>
                                      </p:cBhvr>
                                      <p:to>
                                        <p:strVal val="visible"/>
                                      </p:to>
                                    </p:set>
                                    <p:anim calcmode="lin" valueType="num">
                                      <p:cBhvr additive="base">
                                        <p:cTn id="12" dur="500" fill="hold"/>
                                        <p:tgtEl>
                                          <p:spTgt spid="147459">
                                            <p:txEl>
                                              <p:pRg st="2" end="2"/>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474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47459">
                                            <p:txEl>
                                              <p:pRg st="4" end="4"/>
                                            </p:txEl>
                                          </p:spTgt>
                                        </p:tgtEl>
                                        <p:attrNameLst>
                                          <p:attrName>style.visibility</p:attrName>
                                        </p:attrNameLst>
                                      </p:cBhvr>
                                      <p:to>
                                        <p:strVal val="visible"/>
                                      </p:to>
                                    </p:set>
                                    <p:anim calcmode="lin" valueType="num">
                                      <p:cBhvr additive="base">
                                        <p:cTn id="18" dur="500" fill="hold"/>
                                        <p:tgtEl>
                                          <p:spTgt spid="147459">
                                            <p:txEl>
                                              <p:pRg st="4" end="4"/>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474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6083" name="Rectangle 2"/>
          <p:cNvSpPr>
            <a:spLocks noGrp="1"/>
          </p:cNvSpPr>
          <p:nvPr>
            <p:ph type="title"/>
          </p:nvPr>
        </p:nvSpPr>
        <p:spPr>
          <a:ln/>
        </p:spPr>
        <p:txBody>
          <a:bodyPr vert="horz" wrap="square" lIns="91440" tIns="45720" rIns="91440" bIns="45720" anchor="ctr" anchorCtr="0"/>
          <a:lstStyle/>
          <a:p>
            <a:pPr marL="609600" indent="-609600" eaLnBrk="1" hangingPunct="1"/>
            <a:r>
              <a:rPr lang="zh-CN" altLang="en-US" dirty="0"/>
              <a:t>不确定性算法</a:t>
            </a:r>
            <a:r>
              <a:rPr lang="en-US" altLang="zh-CN" dirty="0"/>
              <a:t>——</a:t>
            </a:r>
            <a:r>
              <a:rPr lang="zh-CN" altLang="en-US" dirty="0"/>
              <a:t>猜测阶段</a:t>
            </a:r>
            <a:endParaRPr lang="en-US" altLang="zh-CN" dirty="0"/>
          </a:p>
        </p:txBody>
      </p:sp>
      <p:sp>
        <p:nvSpPr>
          <p:cNvPr id="22531" name="Rectangle 3"/>
          <p:cNvSpPr>
            <a:spLocks noGrp="1"/>
          </p:cNvSpPr>
          <p:nvPr>
            <p:ph idx="1"/>
          </p:nvPr>
        </p:nvSpPr>
        <p:spPr>
          <a:xfrm>
            <a:off x="838200" y="1295400"/>
            <a:ext cx="8229600" cy="5257800"/>
          </a:xfrm>
          <a:ln/>
        </p:spPr>
        <p:txBody>
          <a:bodyPr vert="horz" wrap="square" lIns="91440" tIns="45720" rIns="91440" bIns="45720" anchor="t" anchorCtr="0"/>
          <a:lstStyle/>
          <a:p>
            <a:pPr marL="476250" indent="-476250" eaLnBrk="1" hangingPunct="1"/>
            <a:r>
              <a:rPr lang="zh-CN" altLang="en-US" sz="2400" dirty="0"/>
              <a:t>在这个阶段产生一个</a:t>
            </a:r>
            <a:r>
              <a:rPr lang="zh-CN" altLang="en-US" sz="2400" dirty="0">
                <a:solidFill>
                  <a:srgbClr val="FF0000"/>
                </a:solidFill>
              </a:rPr>
              <a:t>任意字符串</a:t>
            </a:r>
            <a:r>
              <a:rPr lang="en-US" altLang="zh-CN" sz="2400" dirty="0">
                <a:solidFill>
                  <a:srgbClr val="FF0000"/>
                </a:solidFill>
              </a:rPr>
              <a:t>y</a:t>
            </a:r>
            <a:r>
              <a:rPr lang="zh-CN" altLang="en-US" sz="2400" dirty="0"/>
              <a:t>，它可能对应于输入实例的一个解，也可以不对应解。</a:t>
            </a:r>
            <a:endParaRPr lang="en-US" altLang="zh-CN" sz="2400" dirty="0"/>
          </a:p>
          <a:p>
            <a:pPr marL="476250" indent="-476250" eaLnBrk="1" hangingPunct="1"/>
            <a:endParaRPr lang="en-US" altLang="zh-CN" sz="2400" dirty="0"/>
          </a:p>
          <a:p>
            <a:pPr marL="476250" indent="-476250" eaLnBrk="1" hangingPunct="1"/>
            <a:r>
              <a:rPr lang="zh-CN" altLang="en-US" sz="2400" dirty="0"/>
              <a:t>事实上，它甚至可能不是所求解的合适形式，它可能在不确定性算法的不同次运行中不同。</a:t>
            </a:r>
            <a:endParaRPr lang="en-US" altLang="zh-CN" sz="2400" dirty="0"/>
          </a:p>
          <a:p>
            <a:pPr marL="476250" indent="-476250" eaLnBrk="1" hangingPunct="1"/>
            <a:r>
              <a:rPr lang="zh-CN" altLang="en-US" sz="2400" strike="sngStrike" dirty="0">
                <a:solidFill>
                  <a:srgbClr val="FF0000"/>
                </a:solidFill>
              </a:rPr>
              <a:t>它仅仅要求在多项式步数内产生这个串，即在</a:t>
            </a:r>
            <a:r>
              <a:rPr lang="en-US" altLang="zh-CN" sz="2400" strike="sngStrike" dirty="0">
                <a:solidFill>
                  <a:srgbClr val="FF0000"/>
                </a:solidFill>
              </a:rPr>
              <a:t>O(n</a:t>
            </a:r>
            <a:r>
              <a:rPr lang="en-US" altLang="zh-CN" sz="2400" strike="sngStrike" baseline="30000" dirty="0">
                <a:solidFill>
                  <a:srgbClr val="FF0000"/>
                </a:solidFill>
              </a:rPr>
              <a:t>i</a:t>
            </a:r>
            <a:r>
              <a:rPr lang="en-US" altLang="zh-CN" sz="2400" strike="sngStrike" dirty="0">
                <a:solidFill>
                  <a:srgbClr val="FF0000"/>
                </a:solidFill>
              </a:rPr>
              <a:t>)</a:t>
            </a:r>
            <a:r>
              <a:rPr lang="zh-CN" altLang="en-US" sz="2400" strike="sngStrike" dirty="0">
                <a:solidFill>
                  <a:srgbClr val="FF0000"/>
                </a:solidFill>
              </a:rPr>
              <a:t>时间内，这里</a:t>
            </a:r>
            <a:r>
              <a:rPr lang="en-US" altLang="zh-CN" sz="2400" strike="sngStrike" dirty="0">
                <a:solidFill>
                  <a:srgbClr val="FF0000"/>
                </a:solidFill>
              </a:rPr>
              <a:t>n=|x| </a:t>
            </a:r>
            <a:r>
              <a:rPr lang="zh-CN" altLang="en-US" sz="2400" strike="sngStrike" dirty="0">
                <a:solidFill>
                  <a:srgbClr val="FF0000"/>
                </a:solidFill>
              </a:rPr>
              <a:t>，</a:t>
            </a:r>
            <a:r>
              <a:rPr lang="en-US" altLang="zh-CN" sz="2400" strike="sngStrike" dirty="0">
                <a:solidFill>
                  <a:srgbClr val="FF0000"/>
                </a:solidFill>
              </a:rPr>
              <a:t>i</a:t>
            </a:r>
            <a:r>
              <a:rPr lang="zh-CN" altLang="en-US" sz="2400" strike="sngStrike" dirty="0">
                <a:solidFill>
                  <a:srgbClr val="FF0000"/>
                </a:solidFill>
              </a:rPr>
              <a:t>是非负整数。对于许多问题，这一阶段可以在线性时间内完成。</a:t>
            </a:r>
            <a:endParaRPr lang="en-US" altLang="zh-CN" sz="2400" strike="sngStrike" dirty="0">
              <a:solidFill>
                <a:srgbClr val="FF0000"/>
              </a:solidFill>
            </a:endParaRPr>
          </a:p>
          <a:p>
            <a:pPr marL="476250" indent="-476250" eaLnBrk="1" hangingPunct="1"/>
            <a:endParaRPr lang="en-US" altLang="zh-CN" sz="2400" dirty="0"/>
          </a:p>
        </p:txBody>
      </p:sp>
    </p:spTree>
    <p:extLst>
      <p:ext uri="{BB962C8B-B14F-4D97-AF65-F5344CB8AC3E}">
        <p14:creationId xmlns:p14="http://schemas.microsoft.com/office/powerpoint/2010/main" val="221212661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7" dur="500"/>
                                        <p:tgtEl>
                                          <p:spTgt spid="225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8131" name="Rectangle 2"/>
          <p:cNvSpPr>
            <a:spLocks noGrp="1"/>
          </p:cNvSpPr>
          <p:nvPr>
            <p:ph type="title"/>
          </p:nvPr>
        </p:nvSpPr>
        <p:spPr>
          <a:ln/>
        </p:spPr>
        <p:txBody>
          <a:bodyPr vert="horz" wrap="square" lIns="91440" tIns="45720" rIns="91440" bIns="45720" anchor="ctr" anchorCtr="0"/>
          <a:lstStyle/>
          <a:p>
            <a:pPr marL="609600" indent="-609600" eaLnBrk="1" hangingPunct="1"/>
            <a:r>
              <a:rPr lang="zh-CN" altLang="en-US" dirty="0"/>
              <a:t>不确定性算法</a:t>
            </a:r>
            <a:r>
              <a:rPr lang="en-US" altLang="zh-CN" dirty="0"/>
              <a:t>——</a:t>
            </a:r>
            <a:r>
              <a:rPr lang="zh-CN" altLang="en-US" dirty="0"/>
              <a:t>验证阶段</a:t>
            </a:r>
            <a:endParaRPr lang="en-US" altLang="zh-CN" dirty="0"/>
          </a:p>
        </p:txBody>
      </p:sp>
      <p:sp>
        <p:nvSpPr>
          <p:cNvPr id="146435" name="Rectangle 3"/>
          <p:cNvSpPr>
            <a:spLocks noGrp="1" noChangeArrowheads="1"/>
          </p:cNvSpPr>
          <p:nvPr>
            <p:ph idx="1"/>
          </p:nvPr>
        </p:nvSpPr>
        <p:spPr>
          <a:xfrm>
            <a:off x="685800" y="1268413"/>
            <a:ext cx="7924800" cy="4675188"/>
          </a:xfrm>
        </p:spPr>
        <p:txBody>
          <a:bodyPr vert="horz" wrap="square" lIns="91440" tIns="45720" rIns="91440" bIns="45720" numCol="1" anchor="t" anchorCtr="0" compatLnSpc="1"/>
          <a:lstStyle/>
          <a:p>
            <a:pPr marL="476250" marR="0" lvl="0" indent="-476250" algn="l" defTabSz="914400" rtl="0" eaLnBrk="1" fontAlgn="base" latinLnBrk="0" hangingPunct="1">
              <a:lnSpc>
                <a:spcPct val="9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在这个阶段，一个不确定性算法验证两件事</a:t>
            </a:r>
            <a:endParaRPr kumimoji="0" lang="en-US" altLang="zh-CN" sz="2600" b="0" i="0" u="none" strike="noStrike" kern="0" cap="none" spc="0" normalizeH="0" baseline="0" noProof="0" dirty="0">
              <a:ln>
                <a:noFill/>
              </a:ln>
              <a:solidFill>
                <a:schemeClr val="accent2"/>
              </a:solidFill>
              <a:effectLst/>
              <a:uLnTx/>
              <a:uFillTx/>
              <a:latin typeface="+mn-lt"/>
              <a:ea typeface="+mn-ea"/>
              <a:cs typeface="+mn-cs"/>
            </a:endParaRPr>
          </a:p>
          <a:p>
            <a:pPr marL="876300" marR="0" lvl="1" indent="-419100" algn="l" defTabSz="914400" rtl="0" eaLnBrk="1" fontAlgn="base" latinLnBrk="0" hangingPunct="1">
              <a:lnSpc>
                <a:spcPct val="90000"/>
              </a:lnSpc>
              <a:spcBef>
                <a:spcPct val="20000"/>
              </a:spcBef>
              <a:spcAft>
                <a:spcPct val="0"/>
              </a:spcAft>
              <a:buClrTx/>
              <a:buSzTx/>
              <a:buFontTx/>
              <a:buChar char="•"/>
              <a:defRPr/>
            </a:pPr>
            <a:r>
              <a:rPr kumimoji="0" lang="zh-CN" altLang="en-US" sz="2300" b="0" i="0" u="none" strike="noStrike" kern="0" cap="none" spc="0" normalizeH="0" baseline="0" noProof="0" dirty="0">
                <a:ln>
                  <a:noFill/>
                </a:ln>
                <a:solidFill>
                  <a:schemeClr val="accent2"/>
                </a:solidFill>
                <a:effectLst/>
                <a:uLnTx/>
                <a:uFillTx/>
                <a:latin typeface="+mn-lt"/>
                <a:ea typeface="+mn-ea"/>
              </a:rPr>
              <a:t>首先，它检查产生的解串</a:t>
            </a:r>
            <a:r>
              <a:rPr kumimoji="0" lang="en-US" altLang="zh-CN" sz="2300" b="0" i="0" u="none" strike="noStrike" kern="0" cap="none" spc="0" normalizeH="0" baseline="0" noProof="0" dirty="0">
                <a:ln>
                  <a:noFill/>
                </a:ln>
                <a:solidFill>
                  <a:schemeClr val="accent2"/>
                </a:solidFill>
                <a:effectLst/>
                <a:uLnTx/>
                <a:uFillTx/>
                <a:latin typeface="+mn-lt"/>
                <a:ea typeface="+mn-ea"/>
              </a:rPr>
              <a:t>y</a:t>
            </a:r>
            <a:r>
              <a:rPr kumimoji="0" lang="zh-CN" altLang="en-US" sz="2300" b="0" i="0" u="none" strike="noStrike" kern="0" cap="none" spc="0" normalizeH="0" baseline="0" noProof="0" dirty="0">
                <a:ln>
                  <a:noFill/>
                </a:ln>
                <a:solidFill>
                  <a:schemeClr val="accent2"/>
                </a:solidFill>
                <a:effectLst/>
                <a:uLnTx/>
                <a:uFillTx/>
                <a:latin typeface="+mn-lt"/>
                <a:ea typeface="+mn-ea"/>
              </a:rPr>
              <a:t>是否有</a:t>
            </a:r>
            <a:r>
              <a:rPr kumimoji="0" lang="zh-CN" altLang="en-US" sz="2300" b="0" i="0" u="none" strike="noStrike" kern="0" cap="none" spc="0" normalizeH="0" baseline="0" noProof="0" dirty="0">
                <a:ln>
                  <a:noFill/>
                </a:ln>
                <a:solidFill>
                  <a:srgbClr val="FF0000"/>
                </a:solidFill>
                <a:effectLst/>
                <a:uLnTx/>
                <a:uFillTx/>
                <a:latin typeface="+mn-lt"/>
                <a:ea typeface="+mn-ea"/>
              </a:rPr>
              <a:t>合适的形式</a:t>
            </a:r>
            <a:r>
              <a:rPr kumimoji="0" lang="zh-CN" altLang="en-US" sz="2300" b="0" i="0" u="none" strike="noStrike" kern="0" cap="none" spc="0" normalizeH="0" baseline="0" noProof="0" dirty="0">
                <a:ln>
                  <a:noFill/>
                </a:ln>
                <a:solidFill>
                  <a:schemeClr val="accent2"/>
                </a:solidFill>
                <a:effectLst/>
                <a:uLnTx/>
                <a:uFillTx/>
                <a:latin typeface="+mn-lt"/>
                <a:ea typeface="+mn-ea"/>
              </a:rPr>
              <a:t>，</a:t>
            </a:r>
            <a:endParaRPr kumimoji="0" lang="en-US" altLang="zh-CN" sz="2300" b="0" i="0" u="none" strike="noStrike" kern="0" cap="none" spc="0" normalizeH="0" baseline="0" noProof="0" dirty="0">
              <a:ln>
                <a:noFill/>
              </a:ln>
              <a:solidFill>
                <a:schemeClr val="accent2"/>
              </a:solidFill>
              <a:effectLst/>
              <a:uLnTx/>
              <a:uFillTx/>
              <a:latin typeface="+mn-lt"/>
              <a:ea typeface="+mn-ea"/>
            </a:endParaRPr>
          </a:p>
          <a:p>
            <a:pPr marL="1295400" marR="0" lvl="2" indent="-3810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如果不是，则算法停下并回答</a:t>
            </a:r>
            <a:r>
              <a:rPr kumimoji="0" lang="en-US" altLang="zh-CN" sz="2400" b="0" i="0" u="none" strike="noStrike" kern="0" cap="none" spc="0" normalizeH="0" baseline="0" noProof="0" dirty="0">
                <a:ln>
                  <a:noFill/>
                </a:ln>
                <a:solidFill>
                  <a:schemeClr val="accent2"/>
                </a:solidFill>
                <a:effectLst/>
                <a:uLnTx/>
                <a:uFillTx/>
                <a:latin typeface="+mn-lt"/>
                <a:ea typeface="+mn-ea"/>
              </a:rPr>
              <a:t>no; </a:t>
            </a:r>
            <a:endParaRPr kumimoji="0" lang="en-US" altLang="zh-CN" sz="2100" b="0" i="0" u="none" strike="noStrike" kern="0" cap="none" spc="0" normalizeH="0" baseline="0" noProof="0" dirty="0">
              <a:ln>
                <a:noFill/>
              </a:ln>
              <a:solidFill>
                <a:schemeClr val="accent2"/>
              </a:solidFill>
              <a:effectLst/>
              <a:uLnTx/>
              <a:uFillTx/>
              <a:latin typeface="+mn-lt"/>
              <a:ea typeface="+mn-ea"/>
            </a:endParaRPr>
          </a:p>
          <a:p>
            <a:pPr marL="876300" marR="0" lvl="1" indent="-419100" algn="l" defTabSz="914400" rtl="0" eaLnBrk="1" fontAlgn="base" latinLnBrk="0" hangingPunct="1">
              <a:lnSpc>
                <a:spcPct val="90000"/>
              </a:lnSpc>
              <a:spcBef>
                <a:spcPct val="20000"/>
              </a:spcBef>
              <a:spcAft>
                <a:spcPct val="0"/>
              </a:spcAft>
              <a:buClrTx/>
              <a:buSzTx/>
              <a:buFontTx/>
              <a:buChar char="•"/>
              <a:defRPr/>
            </a:pPr>
            <a:r>
              <a:rPr kumimoji="0" lang="zh-CN" altLang="en-US" sz="2300" b="0" i="0" u="none" strike="noStrike" kern="0" cap="none" spc="0" normalizeH="0" baseline="0" noProof="0" dirty="0">
                <a:ln>
                  <a:noFill/>
                </a:ln>
                <a:solidFill>
                  <a:schemeClr val="accent2"/>
                </a:solidFill>
                <a:effectLst/>
                <a:uLnTx/>
                <a:uFillTx/>
                <a:latin typeface="+mn-lt"/>
                <a:ea typeface="+mn-ea"/>
              </a:rPr>
              <a:t>另一方面，如果</a:t>
            </a:r>
            <a:r>
              <a:rPr kumimoji="0" lang="en-US" altLang="zh-CN" sz="2300" b="0" i="0" u="none" strike="noStrike" kern="0" cap="none" spc="0" normalizeH="0" baseline="0" noProof="0" dirty="0">
                <a:ln>
                  <a:noFill/>
                </a:ln>
                <a:solidFill>
                  <a:schemeClr val="accent2"/>
                </a:solidFill>
                <a:effectLst/>
                <a:uLnTx/>
                <a:uFillTx/>
                <a:latin typeface="+mn-lt"/>
                <a:ea typeface="+mn-ea"/>
              </a:rPr>
              <a:t>y</a:t>
            </a:r>
            <a:r>
              <a:rPr kumimoji="0" lang="zh-CN" altLang="en-US" sz="2300" b="0" i="0" u="none" strike="noStrike" kern="0" cap="none" spc="0" normalizeH="0" baseline="0" noProof="0" dirty="0">
                <a:ln>
                  <a:noFill/>
                </a:ln>
                <a:solidFill>
                  <a:schemeClr val="accent2"/>
                </a:solidFill>
                <a:effectLst/>
                <a:uLnTx/>
                <a:uFillTx/>
                <a:latin typeface="+mn-lt"/>
                <a:ea typeface="+mn-ea"/>
              </a:rPr>
              <a:t>是合适形式，那么算法继续检查它是否是问题实例</a:t>
            </a:r>
            <a:r>
              <a:rPr kumimoji="0" lang="en-US" altLang="zh-CN" sz="2300" b="0" i="0" u="none" strike="noStrike" kern="0" cap="none" spc="0" normalizeH="0" baseline="0" noProof="0" dirty="0">
                <a:ln>
                  <a:noFill/>
                </a:ln>
                <a:solidFill>
                  <a:schemeClr val="accent2"/>
                </a:solidFill>
                <a:effectLst/>
                <a:uLnTx/>
                <a:uFillTx/>
                <a:latin typeface="+mn-lt"/>
                <a:ea typeface="+mn-ea"/>
              </a:rPr>
              <a:t>x</a:t>
            </a:r>
            <a:r>
              <a:rPr kumimoji="0" lang="zh-CN" altLang="en-US" sz="2300" b="0" i="0" u="none" strike="noStrike" kern="0" cap="none" spc="0" normalizeH="0" baseline="0" noProof="0" dirty="0">
                <a:ln>
                  <a:noFill/>
                </a:ln>
                <a:solidFill>
                  <a:schemeClr val="accent2"/>
                </a:solidFill>
                <a:effectLst/>
                <a:uLnTx/>
                <a:uFillTx/>
                <a:latin typeface="+mn-lt"/>
                <a:ea typeface="+mn-ea"/>
              </a:rPr>
              <a:t>的</a:t>
            </a:r>
            <a:r>
              <a:rPr kumimoji="0" lang="zh-CN" altLang="en-US" sz="2300" b="0" i="0" u="none" strike="noStrike" kern="0" cap="none" spc="0" normalizeH="0" baseline="0" noProof="0" dirty="0">
                <a:ln>
                  <a:noFill/>
                </a:ln>
                <a:solidFill>
                  <a:srgbClr val="FF0000"/>
                </a:solidFill>
                <a:effectLst/>
                <a:uLnTx/>
                <a:uFillTx/>
                <a:latin typeface="+mn-lt"/>
                <a:ea typeface="+mn-ea"/>
              </a:rPr>
              <a:t>解</a:t>
            </a:r>
            <a:r>
              <a:rPr kumimoji="0" lang="zh-CN" altLang="en-US" sz="2300" b="0" i="0" u="none" strike="noStrike" kern="0" cap="none" spc="0" normalizeH="0" baseline="0" noProof="0" dirty="0">
                <a:ln>
                  <a:noFill/>
                </a:ln>
                <a:solidFill>
                  <a:schemeClr val="accent2"/>
                </a:solidFill>
                <a:effectLst/>
                <a:uLnTx/>
                <a:uFillTx/>
                <a:latin typeface="+mn-lt"/>
                <a:ea typeface="+mn-ea"/>
              </a:rPr>
              <a:t>，如果它确实是实例</a:t>
            </a:r>
            <a:r>
              <a:rPr kumimoji="0" lang="en-US" altLang="zh-CN" sz="2300" b="0" i="0" u="none" strike="noStrike" kern="0" cap="none" spc="0" normalizeH="0" baseline="0" noProof="0" dirty="0">
                <a:ln>
                  <a:noFill/>
                </a:ln>
                <a:solidFill>
                  <a:schemeClr val="accent2"/>
                </a:solidFill>
                <a:effectLst/>
                <a:uLnTx/>
                <a:uFillTx/>
                <a:latin typeface="+mn-lt"/>
                <a:ea typeface="+mn-ea"/>
              </a:rPr>
              <a:t>x</a:t>
            </a:r>
            <a:r>
              <a:rPr kumimoji="0" lang="zh-CN" altLang="en-US" sz="2300" b="0" i="0" u="none" strike="noStrike" kern="0" cap="none" spc="0" normalizeH="0" baseline="0" noProof="0" dirty="0">
                <a:ln>
                  <a:noFill/>
                </a:ln>
                <a:solidFill>
                  <a:schemeClr val="accent2"/>
                </a:solidFill>
                <a:effectLst/>
                <a:uLnTx/>
                <a:uFillTx/>
                <a:latin typeface="+mn-lt"/>
                <a:ea typeface="+mn-ea"/>
              </a:rPr>
              <a:t>的解，那么它停下并且回答</a:t>
            </a:r>
            <a:r>
              <a:rPr kumimoji="0" lang="en-US" altLang="zh-CN" sz="2300" b="0" i="0" u="none" strike="noStrike" kern="0" cap="none" spc="0" normalizeH="0" baseline="0" noProof="0" dirty="0">
                <a:ln>
                  <a:noFill/>
                </a:ln>
                <a:solidFill>
                  <a:schemeClr val="accent2"/>
                </a:solidFill>
                <a:effectLst/>
                <a:uLnTx/>
                <a:uFillTx/>
                <a:latin typeface="+mn-lt"/>
                <a:ea typeface="+mn-ea"/>
              </a:rPr>
              <a:t>yes</a:t>
            </a:r>
            <a:r>
              <a:rPr kumimoji="0" lang="zh-CN" altLang="en-US" sz="2300" b="0" i="0" u="none" strike="noStrike" kern="0" cap="none" spc="0" normalizeH="0" baseline="0" noProof="0" dirty="0">
                <a:ln>
                  <a:noFill/>
                </a:ln>
                <a:solidFill>
                  <a:schemeClr val="accent2"/>
                </a:solidFill>
                <a:effectLst/>
                <a:uLnTx/>
                <a:uFillTx/>
                <a:latin typeface="+mn-lt"/>
                <a:ea typeface="+mn-ea"/>
              </a:rPr>
              <a:t>，否则它停下并回答</a:t>
            </a:r>
            <a:r>
              <a:rPr kumimoji="0" lang="en-US" altLang="zh-CN" sz="2300" b="0" i="0" u="none" strike="noStrike" kern="0" cap="none" spc="0" normalizeH="0" baseline="0" noProof="0" dirty="0">
                <a:ln>
                  <a:noFill/>
                </a:ln>
                <a:solidFill>
                  <a:schemeClr val="accent2"/>
                </a:solidFill>
                <a:effectLst/>
                <a:uLnTx/>
                <a:uFillTx/>
                <a:latin typeface="+mn-lt"/>
                <a:ea typeface="+mn-ea"/>
              </a:rPr>
              <a:t>no</a:t>
            </a:r>
            <a:r>
              <a:rPr kumimoji="0" lang="zh-CN" altLang="en-US" sz="2300" b="0" i="0" u="none" strike="noStrike" kern="0" cap="none" spc="0" normalizeH="0" baseline="0" noProof="0" dirty="0">
                <a:ln>
                  <a:noFill/>
                </a:ln>
                <a:solidFill>
                  <a:schemeClr val="accent2"/>
                </a:solidFill>
                <a:effectLst/>
                <a:uLnTx/>
                <a:uFillTx/>
                <a:latin typeface="+mn-lt"/>
                <a:ea typeface="+mn-ea"/>
              </a:rPr>
              <a:t>。</a:t>
            </a:r>
            <a:endParaRPr kumimoji="0" lang="en-US" altLang="zh-CN" sz="2300" b="0" i="0" u="none" strike="noStrike" kern="0" cap="none" spc="0" normalizeH="0" baseline="0" noProof="0" dirty="0">
              <a:ln>
                <a:noFill/>
              </a:ln>
              <a:solidFill>
                <a:schemeClr val="accent2"/>
              </a:solidFill>
              <a:effectLst/>
              <a:uLnTx/>
              <a:uFillTx/>
              <a:latin typeface="+mn-lt"/>
              <a:ea typeface="+mn-ea"/>
            </a:endParaRPr>
          </a:p>
          <a:p>
            <a:pPr marL="876300" marR="0" lvl="1" indent="-419100" algn="l" defTabSz="914400" rtl="0" eaLnBrk="1" fontAlgn="base" latinLnBrk="0" hangingPunct="1">
              <a:lnSpc>
                <a:spcPct val="90000"/>
              </a:lnSpc>
              <a:spcBef>
                <a:spcPct val="20000"/>
              </a:spcBef>
              <a:spcAft>
                <a:spcPct val="0"/>
              </a:spcAft>
              <a:buClrTx/>
              <a:buSzTx/>
              <a:buFontTx/>
              <a:buChar char="•"/>
              <a:defRPr/>
            </a:pPr>
            <a:endParaRPr kumimoji="0" lang="en-US" altLang="zh-CN" sz="2300" b="0" i="0" u="none" strike="noStrike" kern="0" cap="none" spc="0" normalizeH="0" baseline="0" noProof="0" dirty="0">
              <a:ln>
                <a:noFill/>
              </a:ln>
              <a:solidFill>
                <a:schemeClr val="accent2"/>
              </a:solidFill>
              <a:effectLst/>
              <a:uLnTx/>
              <a:uFillTx/>
              <a:latin typeface="+mn-lt"/>
              <a:ea typeface="+mn-ea"/>
            </a:endParaRPr>
          </a:p>
          <a:p>
            <a:pPr marL="476250" marR="0" lvl="0" indent="-476250" algn="l" defTabSz="914400" rtl="0" eaLnBrk="1" fontAlgn="base" latinLnBrk="0" hangingPunct="1">
              <a:lnSpc>
                <a:spcPct val="90000"/>
              </a:lnSpc>
              <a:spcBef>
                <a:spcPct val="20000"/>
              </a:spcBef>
              <a:spcAft>
                <a:spcPct val="0"/>
              </a:spcAft>
              <a:buClrTx/>
              <a:buSzTx/>
              <a:buFontTx/>
              <a:buChar char="•"/>
              <a:defRPr/>
            </a:pPr>
            <a:r>
              <a:rPr kumimoji="0" lang="zh-CN" altLang="en-US" sz="2600" b="0" i="0" u="none" strike="sngStrike" kern="0" cap="none" spc="0" normalizeH="0" baseline="0" noProof="0" dirty="0">
                <a:ln>
                  <a:noFill/>
                </a:ln>
                <a:solidFill>
                  <a:srgbClr val="FF0000"/>
                </a:solidFill>
                <a:effectLst/>
                <a:uLnTx/>
                <a:uFillTx/>
                <a:latin typeface="+mn-lt"/>
                <a:ea typeface="+mn-ea"/>
                <a:cs typeface="+mn-cs"/>
              </a:rPr>
              <a:t>我们也要求这个阶段在多项式步数内完成，即在</a:t>
            </a:r>
            <a:r>
              <a:rPr kumimoji="0" lang="en-US" altLang="zh-CN" sz="2600" b="0" i="0" u="none" strike="sngStrike" kern="0" cap="none" spc="0" normalizeH="0" baseline="0" noProof="0" dirty="0">
                <a:ln>
                  <a:noFill/>
                </a:ln>
                <a:solidFill>
                  <a:srgbClr val="FF0000"/>
                </a:solidFill>
                <a:effectLst/>
                <a:uLnTx/>
                <a:uFillTx/>
                <a:latin typeface="+mn-lt"/>
                <a:ea typeface="+mn-ea"/>
                <a:cs typeface="+mn-cs"/>
              </a:rPr>
              <a:t>O(</a:t>
            </a:r>
            <a:r>
              <a:rPr kumimoji="0" lang="en-US" altLang="zh-CN" sz="2600" b="0" i="0" u="none" strike="sngStrike" kern="0" cap="none" spc="0" normalizeH="0" baseline="0" noProof="0" dirty="0" err="1">
                <a:ln>
                  <a:noFill/>
                </a:ln>
                <a:solidFill>
                  <a:srgbClr val="FF0000"/>
                </a:solidFill>
                <a:effectLst/>
                <a:uLnTx/>
                <a:uFillTx/>
                <a:latin typeface="+mn-lt"/>
                <a:ea typeface="+mn-ea"/>
                <a:cs typeface="+mn-cs"/>
              </a:rPr>
              <a:t>n</a:t>
            </a:r>
            <a:r>
              <a:rPr kumimoji="0" lang="en-US" altLang="zh-CN" sz="2600" b="0" i="0" u="none" strike="sngStrike" kern="0" cap="none" spc="0" normalizeH="0" baseline="30000" noProof="0" dirty="0" err="1">
                <a:ln>
                  <a:noFill/>
                </a:ln>
                <a:solidFill>
                  <a:srgbClr val="FF0000"/>
                </a:solidFill>
                <a:effectLst/>
                <a:uLnTx/>
                <a:uFillTx/>
                <a:latin typeface="+mn-lt"/>
                <a:ea typeface="+mn-ea"/>
                <a:cs typeface="+mn-cs"/>
              </a:rPr>
              <a:t>j</a:t>
            </a:r>
            <a:r>
              <a:rPr kumimoji="0" lang="en-US" altLang="zh-CN" sz="2600" b="0" i="0" u="none" strike="sngStrike" kern="0" cap="none" spc="0" normalizeH="0" baseline="0" noProof="0" dirty="0">
                <a:ln>
                  <a:noFill/>
                </a:ln>
                <a:solidFill>
                  <a:srgbClr val="FF0000"/>
                </a:solidFill>
                <a:effectLst/>
                <a:uLnTx/>
                <a:uFillTx/>
                <a:latin typeface="+mn-lt"/>
                <a:ea typeface="+mn-ea"/>
                <a:cs typeface="+mn-cs"/>
              </a:rPr>
              <a:t>)</a:t>
            </a:r>
            <a:r>
              <a:rPr kumimoji="0" lang="zh-CN" altLang="en-US" sz="2600" b="0" i="0" u="none" strike="sngStrike" kern="0" cap="none" spc="0" normalizeH="0" baseline="0" noProof="0" dirty="0">
                <a:ln>
                  <a:noFill/>
                </a:ln>
                <a:solidFill>
                  <a:srgbClr val="FF0000"/>
                </a:solidFill>
                <a:effectLst/>
                <a:uLnTx/>
                <a:uFillTx/>
                <a:latin typeface="+mn-lt"/>
                <a:ea typeface="+mn-ea"/>
                <a:cs typeface="+mn-cs"/>
              </a:rPr>
              <a:t>时间内，这里</a:t>
            </a:r>
            <a:r>
              <a:rPr kumimoji="0" lang="en-US" altLang="zh-CN" sz="2600" b="0" i="0" u="none" strike="sngStrike" kern="0" cap="none" spc="0" normalizeH="0" baseline="0" noProof="0" dirty="0">
                <a:ln>
                  <a:noFill/>
                </a:ln>
                <a:solidFill>
                  <a:srgbClr val="FF0000"/>
                </a:solidFill>
                <a:effectLst/>
                <a:uLnTx/>
                <a:uFillTx/>
                <a:latin typeface="+mn-lt"/>
                <a:ea typeface="+mn-ea"/>
                <a:cs typeface="+mn-cs"/>
              </a:rPr>
              <a:t>j</a:t>
            </a:r>
            <a:r>
              <a:rPr kumimoji="0" lang="zh-CN" altLang="en-US" sz="2600" b="0" i="0" u="none" strike="sngStrike" kern="0" cap="none" spc="0" normalizeH="0" baseline="0" noProof="0" dirty="0">
                <a:ln>
                  <a:noFill/>
                </a:ln>
                <a:solidFill>
                  <a:srgbClr val="FF0000"/>
                </a:solidFill>
                <a:effectLst/>
                <a:uLnTx/>
                <a:uFillTx/>
                <a:latin typeface="+mn-lt"/>
                <a:ea typeface="+mn-ea"/>
                <a:cs typeface="+mn-cs"/>
              </a:rPr>
              <a:t>是一个非负整数。</a:t>
            </a:r>
            <a:endParaRPr kumimoji="0" lang="en-US" altLang="zh-CN" sz="2500" b="0" i="0" u="none" strike="sngStrike" kern="0" cap="none" spc="0" normalizeH="0" baseline="0" noProof="0" dirty="0">
              <a:ln>
                <a:noFill/>
              </a:ln>
              <a:solidFill>
                <a:srgbClr val="FF0000"/>
              </a:solidFill>
              <a:effectLst/>
              <a:uLnTx/>
              <a:uFillTx/>
              <a:latin typeface="+mn-lt"/>
              <a:ea typeface="+mn-ea"/>
              <a:cs typeface="+mn-cs"/>
            </a:endParaRPr>
          </a:p>
        </p:txBody>
      </p:sp>
    </p:spTree>
    <p:extLst>
      <p:ext uri="{BB962C8B-B14F-4D97-AF65-F5344CB8AC3E}">
        <p14:creationId xmlns:p14="http://schemas.microsoft.com/office/powerpoint/2010/main" val="11352357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blinds(horizontal)">
                                      <p:cBhvr>
                                        <p:cTn id="7" dur="500"/>
                                        <p:tgtEl>
                                          <p:spTgt spid="146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6435">
                                            <p:txEl>
                                              <p:pRg st="1" end="1"/>
                                            </p:txEl>
                                          </p:spTgt>
                                        </p:tgtEl>
                                        <p:attrNameLst>
                                          <p:attrName>style.visibility</p:attrName>
                                        </p:attrNameLst>
                                      </p:cBhvr>
                                      <p:to>
                                        <p:strVal val="visible"/>
                                      </p:to>
                                    </p:set>
                                    <p:animEffect transition="in" filter="blinds(horizontal)">
                                      <p:cBhvr>
                                        <p:cTn id="12" dur="500"/>
                                        <p:tgtEl>
                                          <p:spTgt spid="146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46435">
                                            <p:txEl>
                                              <p:pRg st="2" end="2"/>
                                            </p:txEl>
                                          </p:spTgt>
                                        </p:tgtEl>
                                        <p:attrNameLst>
                                          <p:attrName>style.visibility</p:attrName>
                                        </p:attrNameLst>
                                      </p:cBhvr>
                                      <p:to>
                                        <p:strVal val="visible"/>
                                      </p:to>
                                    </p:set>
                                    <p:anim calcmode="lin" valueType="num">
                                      <p:cBhvr additive="base">
                                        <p:cTn id="17" dur="500" fill="hold"/>
                                        <p:tgtEl>
                                          <p:spTgt spid="14643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64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46435">
                                            <p:txEl>
                                              <p:pRg st="3" end="3"/>
                                            </p:txEl>
                                          </p:spTgt>
                                        </p:tgtEl>
                                        <p:attrNameLst>
                                          <p:attrName>style.visibility</p:attrName>
                                        </p:attrNameLst>
                                      </p:cBhvr>
                                      <p:to>
                                        <p:strVal val="visible"/>
                                      </p:to>
                                    </p:set>
                                    <p:anim calcmode="lin" valueType="num">
                                      <p:cBhvr additive="base">
                                        <p:cTn id="23" dur="500" fill="hold"/>
                                        <p:tgtEl>
                                          <p:spTgt spid="146435">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46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46435">
                                            <p:txEl>
                                              <p:pRg st="5" end="5"/>
                                            </p:txEl>
                                          </p:spTgt>
                                        </p:tgtEl>
                                        <p:attrNameLst>
                                          <p:attrName>style.visibility</p:attrName>
                                        </p:attrNameLst>
                                      </p:cBhvr>
                                      <p:to>
                                        <p:strVal val="visible"/>
                                      </p:to>
                                    </p:set>
                                    <p:animEffect transition="in" filter="blinds(horizontal)">
                                      <p:cBhvr>
                                        <p:cTn id="29" dur="500"/>
                                        <p:tgtEl>
                                          <p:spTgt spid="146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ln/>
        </p:spPr>
        <p:txBody>
          <a:bodyPr vert="horz" wrap="square" lIns="91440" tIns="45720" rIns="91440" bIns="45720" anchor="ctr" anchorCtr="0"/>
          <a:lstStyle/>
          <a:p>
            <a:endParaRPr lang="zh-CN" altLang="zh-CN" dirty="0"/>
          </a:p>
        </p:txBody>
      </p:sp>
      <p:sp>
        <p:nvSpPr>
          <p:cNvPr id="52227" name="Rectangle 3"/>
          <p:cNvSpPr>
            <a:spLocks noGrp="1"/>
          </p:cNvSpPr>
          <p:nvPr>
            <p:ph idx="1"/>
          </p:nvPr>
        </p:nvSpPr>
        <p:spPr>
          <a:ln/>
        </p:spPr>
        <p:txBody>
          <a:bodyPr vert="horz" wrap="square" lIns="91440" tIns="45720" rIns="91440" bIns="45720" anchor="t" anchorCtr="0"/>
          <a:lstStyle/>
          <a:p>
            <a:pPr>
              <a:buNone/>
            </a:pPr>
            <a:r>
              <a:rPr lang="zh-CN" altLang="en-US" dirty="0"/>
              <a:t>注意对不确定性算法输出</a:t>
            </a:r>
            <a:r>
              <a:rPr lang="en-US" altLang="zh-CN" dirty="0"/>
              <a:t>yes/no</a:t>
            </a:r>
            <a:r>
              <a:rPr lang="zh-CN" altLang="en-US" dirty="0"/>
              <a:t>的理解：</a:t>
            </a:r>
          </a:p>
          <a:p>
            <a:r>
              <a:rPr lang="zh-CN" altLang="en-US" dirty="0"/>
              <a:t>若输出</a:t>
            </a:r>
            <a:r>
              <a:rPr lang="en-US" altLang="zh-CN" dirty="0"/>
              <a:t>no</a:t>
            </a:r>
            <a:r>
              <a:rPr lang="zh-CN" altLang="en-US" dirty="0"/>
              <a:t>，并不意味着不存在一个满足要求的解，因为猜测可能不正确；</a:t>
            </a:r>
            <a:endParaRPr lang="en-US" altLang="zh-CN" dirty="0"/>
          </a:p>
          <a:p>
            <a:r>
              <a:rPr lang="zh-CN" altLang="en-US" dirty="0"/>
              <a:t>若输出</a:t>
            </a:r>
            <a:r>
              <a:rPr lang="en-US" altLang="zh-CN" dirty="0"/>
              <a:t>yes</a:t>
            </a:r>
            <a:r>
              <a:rPr lang="zh-CN" altLang="en-US" dirty="0"/>
              <a:t>，则意味着对于该判定问题的某一输入实例，至少存在一个满足要求的解。</a:t>
            </a:r>
          </a:p>
        </p:txBody>
      </p:sp>
      <p:sp>
        <p:nvSpPr>
          <p:cNvPr id="5222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5227371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ln/>
        </p:spPr>
        <p:txBody>
          <a:bodyPr vert="horz" wrap="square" lIns="91440" tIns="45720" rIns="91440" bIns="45720" anchor="ctr" anchorCtr="0"/>
          <a:lstStyle/>
          <a:p>
            <a:r>
              <a:rPr lang="zh-CN" altLang="en-US" dirty="0"/>
              <a:t>不确定的算法</a:t>
            </a:r>
            <a:r>
              <a:rPr lang="en-US" altLang="zh-CN" dirty="0"/>
              <a:t>——</a:t>
            </a:r>
            <a:r>
              <a:rPr lang="zh-CN" altLang="en-US" dirty="0"/>
              <a:t>伪代码</a:t>
            </a:r>
          </a:p>
        </p:txBody>
      </p:sp>
      <p:sp>
        <p:nvSpPr>
          <p:cNvPr id="53251" name="Rectangle 3"/>
          <p:cNvSpPr>
            <a:spLocks noGrp="1"/>
          </p:cNvSpPr>
          <p:nvPr>
            <p:ph idx="1"/>
          </p:nvPr>
        </p:nvSpPr>
        <p:spPr>
          <a:ln/>
        </p:spPr>
        <p:txBody>
          <a:bodyPr vert="horz" wrap="square" lIns="91440" tIns="45720" rIns="91440" bIns="45720" anchor="t" anchorCtr="0"/>
          <a:lstStyle/>
          <a:p>
            <a:r>
              <a:rPr lang="en-US" altLang="zh-CN" b="1" dirty="0"/>
              <a:t>Void</a:t>
            </a:r>
            <a:r>
              <a:rPr lang="en-US" altLang="zh-CN" dirty="0"/>
              <a:t> nondetA(String input)</a:t>
            </a:r>
          </a:p>
          <a:p>
            <a:pPr>
              <a:buFont typeface="Wingdings" panose="05000000000000000000" pitchFamily="2" charset="2"/>
              <a:buNone/>
            </a:pPr>
            <a:r>
              <a:rPr lang="en-US" altLang="zh-CN" dirty="0"/>
              <a:t>     </a:t>
            </a:r>
            <a:r>
              <a:rPr lang="en-US" altLang="zh-CN" b="1" dirty="0"/>
              <a:t>String</a:t>
            </a:r>
            <a:r>
              <a:rPr lang="en-US" altLang="zh-CN" dirty="0"/>
              <a:t> s=genCertif();</a:t>
            </a:r>
          </a:p>
          <a:p>
            <a:pPr>
              <a:buFont typeface="Wingdings" panose="05000000000000000000" pitchFamily="2" charset="2"/>
              <a:buNone/>
            </a:pPr>
            <a:r>
              <a:rPr lang="en-US" altLang="zh-CN" dirty="0"/>
              <a:t>     </a:t>
            </a:r>
            <a:r>
              <a:rPr lang="en-US" altLang="zh-CN" b="1" dirty="0"/>
              <a:t>boolean</a:t>
            </a:r>
            <a:r>
              <a:rPr lang="en-US" altLang="zh-CN" dirty="0"/>
              <a:t> checkOK=verifyA(input,s)</a:t>
            </a:r>
          </a:p>
          <a:p>
            <a:pPr>
              <a:buFont typeface="Wingdings" panose="05000000000000000000" pitchFamily="2" charset="2"/>
              <a:buNone/>
            </a:pPr>
            <a:r>
              <a:rPr lang="en-US" altLang="zh-CN" dirty="0"/>
              <a:t>     </a:t>
            </a:r>
            <a:r>
              <a:rPr lang="en-US" altLang="zh-CN" b="1" dirty="0"/>
              <a:t>if</a:t>
            </a:r>
            <a:r>
              <a:rPr lang="en-US" altLang="zh-CN" dirty="0"/>
              <a:t> (checkOK)</a:t>
            </a:r>
          </a:p>
          <a:p>
            <a:pPr>
              <a:buFont typeface="Wingdings" panose="05000000000000000000" pitchFamily="2" charset="2"/>
              <a:buNone/>
            </a:pPr>
            <a:r>
              <a:rPr lang="en-US" altLang="zh-CN" dirty="0"/>
              <a:t>         Output “yes“</a:t>
            </a:r>
          </a:p>
          <a:p>
            <a:pPr>
              <a:buFont typeface="Wingdings" panose="05000000000000000000" pitchFamily="2" charset="2"/>
              <a:buNone/>
            </a:pPr>
            <a:r>
              <a:rPr lang="en-US" altLang="zh-CN" dirty="0"/>
              <a:t>     </a:t>
            </a:r>
            <a:r>
              <a:rPr lang="en-US" altLang="zh-CN" b="1" dirty="0"/>
              <a:t>return</a:t>
            </a:r>
          </a:p>
          <a:p>
            <a:r>
              <a:rPr lang="en-US" altLang="zh-CN" b="1" dirty="0"/>
              <a:t>checOK</a:t>
            </a:r>
            <a:r>
              <a:rPr lang="zh-CN" altLang="en-US" b="1" dirty="0"/>
              <a:t>为</a:t>
            </a:r>
            <a:r>
              <a:rPr lang="en-US" altLang="zh-CN" b="1" dirty="0"/>
              <a:t>false</a:t>
            </a:r>
            <a:r>
              <a:rPr lang="zh-CN" altLang="en-US" b="1" dirty="0"/>
              <a:t>时不作反应</a:t>
            </a:r>
            <a:r>
              <a:rPr lang="en-US" altLang="zh-CN" b="1" dirty="0"/>
              <a:t>.</a:t>
            </a:r>
          </a:p>
          <a:p>
            <a:endParaRPr lang="en-US" altLang="zh-CN" b="1" dirty="0"/>
          </a:p>
          <a:p>
            <a:endParaRPr lang="en-US" altLang="zh-CN" b="1" dirty="0"/>
          </a:p>
          <a:p>
            <a:endParaRPr lang="en-US" altLang="zh-CN" dirty="0"/>
          </a:p>
        </p:txBody>
      </p:sp>
    </p:spTree>
    <p:extLst>
      <p:ext uri="{BB962C8B-B14F-4D97-AF65-F5344CB8AC3E}">
        <p14:creationId xmlns:p14="http://schemas.microsoft.com/office/powerpoint/2010/main" val="102322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3" name="Rectangle 3"/>
          <p:cNvSpPr>
            <a:spLocks noGrp="1"/>
          </p:cNvSpPr>
          <p:nvPr>
            <p:ph idx="1"/>
          </p:nvPr>
        </p:nvSpPr>
        <p:spPr>
          <a:xfrm>
            <a:off x="457200" y="1219200"/>
            <a:ext cx="8153400" cy="4876800"/>
          </a:xfrm>
          <a:ln/>
        </p:spPr>
        <p:txBody>
          <a:bodyPr vert="horz" wrap="square" lIns="91440" tIns="45720" rIns="91440" bIns="45720" anchor="t" anchorCtr="0"/>
          <a:lstStyle/>
          <a:p>
            <a:pPr>
              <a:lnSpc>
                <a:spcPct val="110000"/>
              </a:lnSpc>
            </a:pPr>
            <a:r>
              <a:rPr lang="zh-CN" altLang="en-US" sz="2400" dirty="0"/>
              <a:t>定义</a:t>
            </a:r>
            <a:r>
              <a:rPr lang="en-US" altLang="zh-CN" sz="2400" dirty="0"/>
              <a:t>(</a:t>
            </a:r>
            <a:r>
              <a:rPr lang="zh-CN" altLang="en-US" sz="2400" dirty="0">
                <a:solidFill>
                  <a:srgbClr val="FF0000"/>
                </a:solidFill>
              </a:rPr>
              <a:t>不确定性算法</a:t>
            </a:r>
            <a:r>
              <a:rPr lang="en-US" altLang="zh-CN" sz="2400" dirty="0"/>
              <a:t>):</a:t>
            </a:r>
            <a:r>
              <a:rPr lang="zh-CN" altLang="en-US" sz="2400" dirty="0"/>
              <a:t>设</a:t>
            </a:r>
            <a:r>
              <a:rPr lang="en-US" altLang="zh-CN" sz="2400" dirty="0"/>
              <a:t>A</a:t>
            </a:r>
            <a:r>
              <a:rPr lang="zh-CN" altLang="en-US" sz="2400" dirty="0"/>
              <a:t>是求解问题∏的一个算法，如果算法</a:t>
            </a:r>
            <a:r>
              <a:rPr lang="en-US" altLang="zh-CN" sz="2400" dirty="0"/>
              <a:t>A</a:t>
            </a:r>
            <a:r>
              <a:rPr lang="zh-CN" altLang="en-US" sz="2400" dirty="0"/>
              <a:t>以如下</a:t>
            </a:r>
            <a:r>
              <a:rPr lang="zh-CN" altLang="en-US" sz="2400" dirty="0">
                <a:solidFill>
                  <a:srgbClr val="FF0000"/>
                </a:solidFill>
              </a:rPr>
              <a:t>猜测</a:t>
            </a:r>
            <a:r>
              <a:rPr lang="en-US" altLang="zh-CN" sz="2400" dirty="0">
                <a:solidFill>
                  <a:srgbClr val="FF0000"/>
                </a:solidFill>
              </a:rPr>
              <a:t>+</a:t>
            </a:r>
            <a:r>
              <a:rPr lang="zh-CN" altLang="en-US" sz="2400" dirty="0">
                <a:solidFill>
                  <a:srgbClr val="FF0000"/>
                </a:solidFill>
              </a:rPr>
              <a:t>验证的方式工作</a:t>
            </a:r>
            <a:r>
              <a:rPr lang="zh-CN" altLang="en-US" sz="2400" dirty="0"/>
              <a:t>，称算法</a:t>
            </a:r>
            <a:r>
              <a:rPr lang="en-US" altLang="zh-CN" sz="2400" dirty="0"/>
              <a:t>A</a:t>
            </a:r>
            <a:r>
              <a:rPr lang="zh-CN" altLang="en-US" sz="2400" dirty="0"/>
              <a:t>为不确定性</a:t>
            </a:r>
            <a:r>
              <a:rPr lang="en-US" altLang="zh-CN" sz="2400" dirty="0"/>
              <a:t>(nondeterminism)</a:t>
            </a:r>
            <a:r>
              <a:rPr lang="zh-CN" altLang="en-US" sz="2400" dirty="0"/>
              <a:t>算法：</a:t>
            </a:r>
          </a:p>
          <a:p>
            <a:pPr>
              <a:lnSpc>
                <a:spcPct val="110000"/>
              </a:lnSpc>
            </a:pPr>
            <a:r>
              <a:rPr lang="zh-CN" altLang="en-US" sz="2400" dirty="0">
                <a:solidFill>
                  <a:srgbClr val="FF0000"/>
                </a:solidFill>
              </a:rPr>
              <a:t>猜测阶段</a:t>
            </a:r>
            <a:r>
              <a:rPr lang="zh-CN" altLang="en-US" sz="2400" dirty="0"/>
              <a:t>：对问题的输入实例产生一个任意字串</a:t>
            </a:r>
            <a:r>
              <a:rPr lang="en-US" altLang="zh-CN" sz="2400" dirty="0"/>
              <a:t>y</a:t>
            </a:r>
            <a:r>
              <a:rPr lang="zh-CN" altLang="en-US" sz="2400" dirty="0"/>
              <a:t>，在算法的每次运行，</a:t>
            </a:r>
            <a:r>
              <a:rPr lang="en-US" altLang="zh-CN" sz="2400" dirty="0"/>
              <a:t>y</a:t>
            </a:r>
            <a:r>
              <a:rPr lang="zh-CN" altLang="en-US" sz="2400" dirty="0"/>
              <a:t>可能不同，因此猜测是以不确定的形式工作。</a:t>
            </a:r>
            <a:r>
              <a:rPr lang="zh-CN" altLang="en-US" sz="2400" strike="sngStrike" dirty="0">
                <a:solidFill>
                  <a:srgbClr val="FF0000"/>
                </a:solidFill>
              </a:rPr>
              <a:t>这个工作一般可以在线性时间内完成。</a:t>
            </a:r>
          </a:p>
          <a:p>
            <a:pPr>
              <a:lnSpc>
                <a:spcPct val="110000"/>
              </a:lnSpc>
            </a:pPr>
            <a:r>
              <a:rPr lang="zh-CN" altLang="en-US" sz="2400" dirty="0">
                <a:solidFill>
                  <a:srgbClr val="FF0000"/>
                </a:solidFill>
              </a:rPr>
              <a:t>验证阶段</a:t>
            </a:r>
            <a:r>
              <a:rPr lang="zh-CN" altLang="en-US" sz="2400" dirty="0"/>
              <a:t>：在这个阶段，用一个确定性算法验证两件事：首先验证猜测的</a:t>
            </a:r>
            <a:r>
              <a:rPr lang="en-US" altLang="zh-CN" sz="2400" dirty="0"/>
              <a:t>y</a:t>
            </a:r>
            <a:r>
              <a:rPr lang="zh-CN" altLang="en-US" sz="2400" dirty="0"/>
              <a:t>是否是合适的形式，若不是，则算法停下并回答</a:t>
            </a:r>
            <a:r>
              <a:rPr lang="en-US" altLang="zh-CN" sz="2400" dirty="0"/>
              <a:t>no</a:t>
            </a:r>
            <a:r>
              <a:rPr lang="zh-CN" altLang="en-US" sz="2400" dirty="0"/>
              <a:t>；若是合适形式，则继续检查它是否是问题</a:t>
            </a:r>
            <a:r>
              <a:rPr lang="en-US" altLang="zh-CN" sz="2400" dirty="0"/>
              <a:t>x</a:t>
            </a:r>
            <a:r>
              <a:rPr lang="zh-CN" altLang="en-US" sz="2400" dirty="0"/>
              <a:t>的解，如果确实是</a:t>
            </a:r>
            <a:r>
              <a:rPr lang="en-US" altLang="zh-CN" sz="2400" dirty="0"/>
              <a:t>x</a:t>
            </a:r>
            <a:r>
              <a:rPr lang="zh-CN" altLang="en-US" sz="2400" dirty="0"/>
              <a:t>的解，则停下并回答</a:t>
            </a:r>
            <a:r>
              <a:rPr lang="en-US" altLang="zh-CN" sz="2400" dirty="0"/>
              <a:t>yes</a:t>
            </a:r>
            <a:r>
              <a:rPr lang="zh-CN" altLang="en-US" sz="2400" dirty="0"/>
              <a:t>，否则停下并回答</a:t>
            </a:r>
            <a:r>
              <a:rPr lang="en-US" altLang="zh-CN" sz="2400" dirty="0"/>
              <a:t>no</a:t>
            </a:r>
            <a:r>
              <a:rPr lang="zh-CN" altLang="en-US" sz="2400" dirty="0"/>
              <a:t>。</a:t>
            </a:r>
            <a:r>
              <a:rPr lang="zh-CN" altLang="en-US" sz="2400" strike="sngStrike" dirty="0">
                <a:solidFill>
                  <a:srgbClr val="FF0000"/>
                </a:solidFill>
              </a:rPr>
              <a:t>要求验证阶段在多项式时间内完成。</a:t>
            </a:r>
            <a:r>
              <a:rPr lang="zh-CN" altLang="en-US" sz="2200" strike="sngStrike" dirty="0">
                <a:solidFill>
                  <a:srgbClr val="FF0000"/>
                </a:solidFill>
              </a:rPr>
              <a:t> </a:t>
            </a:r>
          </a:p>
        </p:txBody>
      </p:sp>
      <p:sp>
        <p:nvSpPr>
          <p:cNvPr id="51203" name="Rectangle 4"/>
          <p:cNvSpPr>
            <a:spLocks noGrp="1"/>
          </p:cNvSpPr>
          <p:nvPr>
            <p:ph type="title"/>
          </p:nvPr>
        </p:nvSpPr>
        <p:spPr>
          <a:ln/>
        </p:spPr>
        <p:txBody>
          <a:bodyPr vert="horz" wrap="square" lIns="91440" tIns="45720" rIns="91440" bIns="45720" anchor="ctr" anchorCtr="0"/>
          <a:lstStyle/>
          <a:p>
            <a:r>
              <a:rPr lang="zh-CN" altLang="en-US" dirty="0"/>
              <a:t>不确定性算法</a:t>
            </a:r>
          </a:p>
        </p:txBody>
      </p:sp>
      <p:sp>
        <p:nvSpPr>
          <p:cNvPr id="5120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20560553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32803">
                                            <p:txEl>
                                              <p:pRg st="1" end="1"/>
                                            </p:txEl>
                                          </p:spTgt>
                                        </p:tgtEl>
                                        <p:attrNameLst>
                                          <p:attrName>style.visibility</p:attrName>
                                        </p:attrNameLst>
                                      </p:cBhvr>
                                      <p:to>
                                        <p:strVal val="visible"/>
                                      </p:to>
                                    </p:set>
                                    <p:anim to="" calcmode="lin" valueType="num">
                                      <p:cBhvr>
                                        <p:cTn id="7" dur="1" fill="hold"/>
                                        <p:tgtEl>
                                          <p:spTgt spid="332803">
                                            <p:txEl>
                                              <p:pRg st="1" end="1"/>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32803">
                                            <p:txEl>
                                              <p:pRg st="2" end="2"/>
                                            </p:txEl>
                                          </p:spTgt>
                                        </p:tgtEl>
                                        <p:attrNameLst>
                                          <p:attrName>style.visibility</p:attrName>
                                        </p:attrNameLst>
                                      </p:cBhvr>
                                      <p:to>
                                        <p:strVal val="visible"/>
                                      </p:to>
                                    </p:set>
                                    <p:anim to="" calcmode="lin" valueType="num">
                                      <p:cBhvr>
                                        <p:cTn id="12" dur="1" fill="hold"/>
                                        <p:tgtEl>
                                          <p:spTgt spid="332803">
                                            <p:txEl>
                                              <p:pRg st="2" end="2"/>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300" dirty="0">
                <a:solidFill>
                  <a:srgbClr val="FF0000"/>
                </a:solidFill>
                <a:latin typeface="+mn-ea"/>
                <a:ea typeface="+mn-ea"/>
                <a:cs typeface="+mn-ea"/>
              </a:rPr>
              <a:t>7.2</a:t>
            </a:r>
            <a:r>
              <a:rPr lang="zh-CN" altLang="en-US" sz="2300" dirty="0">
                <a:solidFill>
                  <a:srgbClr val="FF0000"/>
                </a:solidFill>
                <a:latin typeface="+mn-ea"/>
                <a:ea typeface="+mn-ea"/>
                <a:cs typeface="+mn-ea"/>
              </a:rPr>
              <a:t>.1 P类定义、性质及举例</a:t>
            </a:r>
          </a:p>
          <a:p>
            <a:r>
              <a:rPr lang="en-US" altLang="zh-CN" sz="2300" dirty="0">
                <a:solidFill>
                  <a:srgbClr val="FF0000"/>
                </a:solidFill>
                <a:latin typeface="+mn-ea"/>
                <a:ea typeface="+mn-ea"/>
                <a:cs typeface="+mn-ea"/>
              </a:rPr>
              <a:t>7.2</a:t>
            </a:r>
            <a:r>
              <a:rPr lang="zh-CN" altLang="en-US" sz="2300" dirty="0">
                <a:solidFill>
                  <a:srgbClr val="FF0000"/>
                </a:solidFill>
                <a:latin typeface="+mn-ea"/>
                <a:ea typeface="+mn-ea"/>
                <a:cs typeface="+mn-ea"/>
              </a:rPr>
              <a:t>.2 NP类定义及举例</a:t>
            </a:r>
          </a:p>
          <a:p>
            <a:r>
              <a:rPr lang="en-US" altLang="zh-CN" sz="2300" dirty="0">
                <a:solidFill>
                  <a:srgbClr val="FF0000"/>
                </a:solidFill>
                <a:latin typeface="+mn-ea"/>
                <a:ea typeface="+mn-ea"/>
                <a:cs typeface="+mn-ea"/>
              </a:rPr>
              <a:t>7.2</a:t>
            </a:r>
            <a:r>
              <a:rPr lang="zh-CN" altLang="en-US" sz="2300" dirty="0">
                <a:solidFill>
                  <a:srgbClr val="FF0000"/>
                </a:solidFill>
                <a:latin typeface="+mn-ea"/>
                <a:ea typeface="+mn-ea"/>
                <a:cs typeface="+mn-ea"/>
              </a:rPr>
              <a:t>.3 P类和NP类的关系、COOK定理</a:t>
            </a:r>
          </a:p>
          <a:p>
            <a:endParaRPr lang="zh-CN" altLang="en-US" sz="2000" dirty="0"/>
          </a:p>
        </p:txBody>
      </p:sp>
      <p:sp>
        <p:nvSpPr>
          <p:cNvPr id="6147" name="Rectangle 2"/>
          <p:cNvSpPr>
            <a:spLocks noGrp="1"/>
          </p:cNvSpPr>
          <p:nvPr>
            <p:ph type="title"/>
          </p:nvPr>
        </p:nvSpPr>
        <p:spPr/>
        <p:txBody>
          <a:bodyPr vert="horz" wrap="square" lIns="91440" tIns="45720" rIns="91440" bIns="45720" anchor="ctr" anchorCtr="0"/>
          <a:lstStyle/>
          <a:p>
            <a:r>
              <a:rPr lang="en-US" altLang="zh-CN" dirty="0"/>
              <a:t>7.2</a:t>
            </a:r>
            <a:r>
              <a:rPr lang="zh-CN" altLang="en-US" dirty="0"/>
              <a:t> P类、NP类</a:t>
            </a:r>
          </a:p>
        </p:txBody>
      </p:sp>
    </p:spTree>
    <p:extLst>
      <p:ext uri="{BB962C8B-B14F-4D97-AF65-F5344CB8AC3E}">
        <p14:creationId xmlns:p14="http://schemas.microsoft.com/office/powerpoint/2010/main" val="1828174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5843" name="Rectangle 2"/>
          <p:cNvSpPr>
            <a:spLocks noGrp="1"/>
          </p:cNvSpPr>
          <p:nvPr>
            <p:ph type="title"/>
          </p:nvPr>
        </p:nvSpPr>
        <p:spPr>
          <a:ln/>
        </p:spPr>
        <p:txBody>
          <a:bodyPr vert="horz" wrap="square" lIns="91440" tIns="45720" rIns="91440" bIns="45720" anchor="ctr" anchorCtr="0"/>
          <a:lstStyle/>
          <a:p>
            <a:pPr eaLnBrk="1" hangingPunct="1"/>
            <a:r>
              <a:rPr lang="en-US" altLang="zh-CN" dirty="0"/>
              <a:t>7.2.1 P</a:t>
            </a:r>
            <a:r>
              <a:rPr lang="zh-CN" altLang="en-US" dirty="0"/>
              <a:t>类</a:t>
            </a:r>
            <a:endParaRPr lang="en-US" altLang="zh-CN" dirty="0"/>
          </a:p>
        </p:txBody>
      </p:sp>
      <p:sp>
        <p:nvSpPr>
          <p:cNvPr id="17411"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定义</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10.2  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类问题</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rgbClr val="FF0000"/>
                </a:solidFill>
                <a:effectLst/>
                <a:uLnTx/>
                <a:uFillTx/>
                <a:latin typeface="+mn-lt"/>
                <a:ea typeface="+mn-ea"/>
              </a:rPr>
              <a:t>判定问题的</a:t>
            </a:r>
            <a:r>
              <a:rPr kumimoji="0" lang="en-US" altLang="zh-CN" sz="2400" b="0" i="0" u="none" strike="noStrike" kern="0" cap="none" spc="0" normalizeH="0" baseline="0" noProof="0" dirty="0">
                <a:ln>
                  <a:noFill/>
                </a:ln>
                <a:solidFill>
                  <a:srgbClr val="FF0000"/>
                </a:solidFill>
                <a:effectLst/>
                <a:uLnTx/>
                <a:uFillTx/>
                <a:latin typeface="+mn-lt"/>
                <a:ea typeface="+mn-ea"/>
              </a:rPr>
              <a:t>P</a:t>
            </a:r>
            <a:r>
              <a:rPr kumimoji="0" lang="zh-CN" altLang="en-US" sz="2400" b="0" i="0" u="none" strike="noStrike" kern="0" cap="none" spc="0" normalizeH="0" baseline="0" noProof="0" dirty="0">
                <a:ln>
                  <a:noFill/>
                </a:ln>
                <a:solidFill>
                  <a:srgbClr val="FF0000"/>
                </a:solidFill>
                <a:effectLst/>
                <a:uLnTx/>
                <a:uFillTx/>
                <a:latin typeface="+mn-lt"/>
                <a:ea typeface="+mn-ea"/>
              </a:rPr>
              <a:t>类</a:t>
            </a:r>
            <a:r>
              <a:rPr kumimoji="0" lang="zh-CN" altLang="en-US" sz="2400" b="0" i="0" u="none" strike="noStrike" kern="0" cap="none" spc="0" normalizeH="0" baseline="0" noProof="0" dirty="0">
                <a:ln>
                  <a:noFill/>
                </a:ln>
                <a:solidFill>
                  <a:schemeClr val="accent2"/>
                </a:solidFill>
                <a:effectLst/>
                <a:uLnTx/>
                <a:uFillTx/>
                <a:latin typeface="+mn-lt"/>
                <a:ea typeface="+mn-ea"/>
              </a:rPr>
              <a:t>由这样的判定问题组成，它们的</a:t>
            </a:r>
            <a:r>
              <a:rPr kumimoji="0" lang="en-US" altLang="zh-CN" sz="2400" b="0" i="1" u="none" strike="noStrike" kern="0" cap="none" spc="0" normalizeH="0" baseline="0" noProof="0" dirty="0">
                <a:ln>
                  <a:noFill/>
                </a:ln>
                <a:solidFill>
                  <a:schemeClr val="accent2"/>
                </a:solidFill>
                <a:effectLst/>
                <a:uLnTx/>
                <a:uFillTx/>
                <a:latin typeface="+mn-lt"/>
                <a:ea typeface="+mn-ea"/>
              </a:rPr>
              <a:t>yes/no</a:t>
            </a:r>
            <a:r>
              <a:rPr kumimoji="0" lang="zh-CN" altLang="en-US" sz="2400" b="0" i="0" u="none" strike="noStrike" kern="0" cap="none" spc="0" normalizeH="0" baseline="0" noProof="0" dirty="0">
                <a:ln>
                  <a:noFill/>
                </a:ln>
                <a:solidFill>
                  <a:schemeClr val="accent2"/>
                </a:solidFill>
                <a:effectLst/>
                <a:uLnTx/>
                <a:uFillTx/>
                <a:latin typeface="+mn-lt"/>
                <a:ea typeface="+mn-ea"/>
              </a:rPr>
              <a:t>解可以用</a:t>
            </a:r>
            <a:r>
              <a:rPr kumimoji="0" lang="zh-CN" altLang="en-US" sz="2400" b="0" i="0" u="none" strike="noStrike" kern="0" cap="none" spc="0" normalizeH="0" baseline="0" noProof="0" dirty="0">
                <a:ln>
                  <a:noFill/>
                </a:ln>
                <a:solidFill>
                  <a:srgbClr val="FF0000"/>
                </a:solidFill>
                <a:effectLst/>
                <a:uLnTx/>
                <a:uFillTx/>
                <a:latin typeface="+mn-lt"/>
                <a:ea typeface="+mn-ea"/>
              </a:rPr>
              <a:t>确定性算法在运行多项式步数</a:t>
            </a:r>
            <a:r>
              <a:rPr kumimoji="0" lang="zh-CN" altLang="en-US" sz="2400" b="0" i="0" u="none" strike="noStrike" kern="0" cap="none" spc="0" normalizeH="0" baseline="0" noProof="0" dirty="0">
                <a:ln>
                  <a:noFill/>
                </a:ln>
                <a:solidFill>
                  <a:schemeClr val="accent2"/>
                </a:solidFill>
                <a:effectLst/>
                <a:uLnTx/>
                <a:uFillTx/>
                <a:latin typeface="+mn-lt"/>
                <a:ea typeface="+mn-ea"/>
              </a:rPr>
              <a:t>内，例如在</a:t>
            </a:r>
            <a:r>
              <a:rPr kumimoji="0" lang="en-US" altLang="zh-CN" sz="2400" b="0" i="0" u="none" strike="noStrike" kern="0" cap="none" spc="0" normalizeH="0" baseline="0" noProof="0" dirty="0">
                <a:ln>
                  <a:noFill/>
                </a:ln>
                <a:solidFill>
                  <a:schemeClr val="accent2"/>
                </a:solidFill>
                <a:effectLst/>
                <a:uLnTx/>
                <a:uFillTx/>
                <a:latin typeface="+mn-lt"/>
                <a:ea typeface="+mn-ea"/>
              </a:rPr>
              <a:t>O(</a:t>
            </a:r>
            <a:r>
              <a:rPr kumimoji="0" lang="en-US" altLang="zh-CN" sz="2400" b="0" i="0" u="none" strike="noStrike" kern="0" cap="none" spc="0" normalizeH="0" baseline="0" noProof="0" dirty="0" err="1">
                <a:ln>
                  <a:noFill/>
                </a:ln>
                <a:solidFill>
                  <a:schemeClr val="accent2"/>
                </a:solidFill>
                <a:effectLst/>
                <a:uLnTx/>
                <a:uFillTx/>
                <a:latin typeface="+mn-lt"/>
                <a:ea typeface="+mn-ea"/>
              </a:rPr>
              <a:t>n</a:t>
            </a:r>
            <a:r>
              <a:rPr kumimoji="0" lang="en-US" altLang="zh-CN" sz="2400" b="0" i="0" u="none" strike="noStrike" kern="0" cap="none" spc="0" normalizeH="0" baseline="30000" noProof="0" dirty="0" err="1">
                <a:ln>
                  <a:noFill/>
                </a:ln>
                <a:solidFill>
                  <a:schemeClr val="accent2"/>
                </a:solidFill>
                <a:effectLst/>
                <a:uLnTx/>
                <a:uFillTx/>
                <a:latin typeface="+mn-lt"/>
                <a:ea typeface="+mn-ea"/>
              </a:rPr>
              <a:t>k</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步内得到，其中</a:t>
            </a:r>
            <a:r>
              <a:rPr kumimoji="0" lang="en-US" altLang="zh-CN" sz="2400" b="0" i="1" u="none" strike="noStrike" kern="0" cap="none" spc="0" normalizeH="0" baseline="0" noProof="0" dirty="0">
                <a:ln>
                  <a:noFill/>
                </a:ln>
                <a:solidFill>
                  <a:schemeClr val="accent2"/>
                </a:solidFill>
                <a:effectLst/>
                <a:uLnTx/>
                <a:uFillTx/>
                <a:latin typeface="+mn-lt"/>
                <a:ea typeface="+mn-ea"/>
              </a:rPr>
              <a:t>k</a:t>
            </a:r>
            <a:r>
              <a:rPr kumimoji="0" lang="zh-CN" altLang="en-US" sz="2400" b="0" i="0" u="none" strike="noStrike" kern="0" cap="none" spc="0" normalizeH="0" baseline="0" noProof="0" dirty="0">
                <a:ln>
                  <a:noFill/>
                </a:ln>
                <a:solidFill>
                  <a:schemeClr val="accent2"/>
                </a:solidFill>
                <a:effectLst/>
                <a:uLnTx/>
                <a:uFillTx/>
                <a:latin typeface="+mn-lt"/>
                <a:ea typeface="+mn-ea"/>
              </a:rPr>
              <a:t>是某个非负整数，</a:t>
            </a:r>
            <a:r>
              <a:rPr kumimoji="0" lang="en-US" altLang="zh-CN" sz="2400" b="0" i="0" u="none" strike="noStrike" kern="0" cap="none" spc="0" normalizeH="0" baseline="0" noProof="0" dirty="0">
                <a:ln>
                  <a:noFill/>
                </a:ln>
                <a:solidFill>
                  <a:schemeClr val="accent2"/>
                </a:solidFill>
                <a:effectLst/>
                <a:uLnTx/>
                <a:uFillTx/>
                <a:latin typeface="+mn-lt"/>
                <a:ea typeface="+mn-ea"/>
              </a:rPr>
              <a:t>n</a:t>
            </a:r>
            <a:r>
              <a:rPr kumimoji="0" lang="zh-CN" altLang="en-US" sz="2400" b="0" i="0" u="none" strike="noStrike" kern="0" cap="none" spc="0" normalizeH="0" baseline="0" noProof="0" dirty="0">
                <a:ln>
                  <a:noFill/>
                </a:ln>
                <a:solidFill>
                  <a:schemeClr val="accent2"/>
                </a:solidFill>
                <a:effectLst/>
                <a:uLnTx/>
                <a:uFillTx/>
                <a:latin typeface="+mn-lt"/>
                <a:ea typeface="+mn-ea"/>
              </a:rPr>
              <a:t>是输入大小。</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也就是说：如果对于某个判定问题∏，存在一个非负整数</a:t>
            </a:r>
            <a:r>
              <a:rPr kumimoji="0" lang="en-US" altLang="zh-CN" sz="2400" b="0" i="0" u="none" strike="noStrike" kern="0" cap="none" spc="0" normalizeH="0" baseline="0" noProof="0" dirty="0">
                <a:ln>
                  <a:noFill/>
                </a:ln>
                <a:solidFill>
                  <a:schemeClr val="accent2"/>
                </a:solidFill>
                <a:effectLst/>
                <a:uLnTx/>
                <a:uFillTx/>
                <a:latin typeface="+mn-lt"/>
                <a:ea typeface="+mn-ea"/>
              </a:rPr>
              <a:t>k</a:t>
            </a:r>
            <a:r>
              <a:rPr kumimoji="0" lang="zh-CN" altLang="en-US" sz="2400" b="0" i="0" u="none" strike="noStrike" kern="0" cap="none" spc="0" normalizeH="0" baseline="0" noProof="0" dirty="0">
                <a:ln>
                  <a:noFill/>
                </a:ln>
                <a:solidFill>
                  <a:schemeClr val="accent2"/>
                </a:solidFill>
                <a:effectLst/>
                <a:uLnTx/>
                <a:uFillTx/>
                <a:latin typeface="+mn-lt"/>
                <a:ea typeface="+mn-ea"/>
              </a:rPr>
              <a:t>，对于输入规模为</a:t>
            </a:r>
            <a:r>
              <a:rPr kumimoji="0" lang="en-US" altLang="zh-CN" sz="2400" b="0" i="0" u="none" strike="noStrike" kern="0" cap="none" spc="0" normalizeH="0" baseline="0" noProof="0" dirty="0">
                <a:ln>
                  <a:noFill/>
                </a:ln>
                <a:solidFill>
                  <a:schemeClr val="accent2"/>
                </a:solidFill>
                <a:effectLst/>
                <a:uLnTx/>
                <a:uFillTx/>
                <a:latin typeface="+mn-lt"/>
                <a:ea typeface="+mn-ea"/>
              </a:rPr>
              <a:t>n</a:t>
            </a:r>
            <a:r>
              <a:rPr kumimoji="0" lang="zh-CN" altLang="en-US" sz="2400" b="0" i="0" u="none" strike="noStrike" kern="0" cap="none" spc="0" normalizeH="0" baseline="0" noProof="0" dirty="0">
                <a:ln>
                  <a:noFill/>
                </a:ln>
                <a:solidFill>
                  <a:schemeClr val="accent2"/>
                </a:solidFill>
                <a:effectLst/>
                <a:uLnTx/>
                <a:uFillTx/>
                <a:latin typeface="+mn-lt"/>
                <a:ea typeface="+mn-ea"/>
              </a:rPr>
              <a:t>的实例，能够以</a:t>
            </a:r>
            <a:r>
              <a:rPr kumimoji="0" lang="en-US" altLang="zh-CN" sz="2400" b="0" i="0" u="none" strike="noStrike" kern="0" cap="none" spc="0" normalizeH="0" baseline="0" noProof="0" dirty="0">
                <a:ln>
                  <a:noFill/>
                </a:ln>
                <a:solidFill>
                  <a:schemeClr val="accent2"/>
                </a:solidFill>
                <a:effectLst/>
                <a:uLnTx/>
                <a:uFillTx/>
                <a:latin typeface="+mn-lt"/>
                <a:ea typeface="+mn-ea"/>
              </a:rPr>
              <a:t>O(</a:t>
            </a:r>
            <a:r>
              <a:rPr kumimoji="0" lang="en-US" altLang="zh-CN" sz="2400" b="0" i="0" u="none" strike="noStrike" kern="0" cap="none" spc="0" normalizeH="0" baseline="0" noProof="0" dirty="0" err="1">
                <a:ln>
                  <a:noFill/>
                </a:ln>
                <a:solidFill>
                  <a:schemeClr val="accent2"/>
                </a:solidFill>
                <a:effectLst/>
                <a:uLnTx/>
                <a:uFillTx/>
                <a:latin typeface="+mn-lt"/>
                <a:ea typeface="+mn-ea"/>
              </a:rPr>
              <a:t>n</a:t>
            </a:r>
            <a:r>
              <a:rPr kumimoji="0" lang="en-US" altLang="zh-CN" sz="2400" b="0" i="0" u="none" strike="noStrike" kern="0" cap="none" spc="0" normalizeH="0" baseline="30000" noProof="0" dirty="0" err="1">
                <a:ln>
                  <a:noFill/>
                </a:ln>
                <a:solidFill>
                  <a:schemeClr val="accent2"/>
                </a:solidFill>
                <a:effectLst/>
                <a:uLnTx/>
                <a:uFillTx/>
                <a:latin typeface="+mn-lt"/>
                <a:ea typeface="+mn-ea"/>
              </a:rPr>
              <a:t>k</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的时间运行一个确定性算法，得到</a:t>
            </a:r>
            <a:r>
              <a:rPr kumimoji="0" lang="en-US" altLang="zh-CN" sz="2400" b="0" i="0" u="none" strike="noStrike" kern="0" cap="none" spc="0" normalizeH="0" baseline="0" noProof="0" dirty="0">
                <a:ln>
                  <a:noFill/>
                </a:ln>
                <a:solidFill>
                  <a:schemeClr val="accent2"/>
                </a:solidFill>
                <a:effectLst/>
                <a:uLnTx/>
                <a:uFillTx/>
                <a:latin typeface="+mn-lt"/>
                <a:ea typeface="+mn-ea"/>
              </a:rPr>
              <a:t>yes</a:t>
            </a:r>
            <a:r>
              <a:rPr kumimoji="0" lang="zh-CN" altLang="en-US" sz="2400" b="0" i="0" u="none" strike="noStrike" kern="0" cap="none" spc="0" normalizeH="0" baseline="0" noProof="0" dirty="0">
                <a:ln>
                  <a:noFill/>
                </a:ln>
                <a:solidFill>
                  <a:schemeClr val="accent2"/>
                </a:solidFill>
                <a:effectLst/>
                <a:uLnTx/>
                <a:uFillTx/>
                <a:latin typeface="+mn-lt"/>
                <a:ea typeface="+mn-ea"/>
              </a:rPr>
              <a:t>或</a:t>
            </a:r>
            <a:r>
              <a:rPr kumimoji="0" lang="en-US" altLang="zh-CN" sz="2400" b="0" i="0" u="none" strike="noStrike" kern="0" cap="none" spc="0" normalizeH="0" baseline="0" noProof="0" dirty="0">
                <a:ln>
                  <a:noFill/>
                </a:ln>
                <a:solidFill>
                  <a:schemeClr val="accent2"/>
                </a:solidFill>
                <a:effectLst/>
                <a:uLnTx/>
                <a:uFillTx/>
                <a:latin typeface="+mn-lt"/>
                <a:ea typeface="+mn-ea"/>
              </a:rPr>
              <a:t>no</a:t>
            </a:r>
            <a:r>
              <a:rPr kumimoji="0" lang="zh-CN" altLang="en-US" sz="2400" b="0" i="0" u="none" strike="noStrike" kern="0" cap="none" spc="0" normalizeH="0" baseline="0" noProof="0" dirty="0">
                <a:ln>
                  <a:noFill/>
                </a:ln>
                <a:solidFill>
                  <a:schemeClr val="accent2"/>
                </a:solidFill>
                <a:effectLst/>
                <a:uLnTx/>
                <a:uFillTx/>
                <a:latin typeface="+mn-lt"/>
                <a:ea typeface="+mn-ea"/>
              </a:rPr>
              <a:t>的答案，则称该判定问题∏是一个</a:t>
            </a:r>
            <a:r>
              <a:rPr kumimoji="0" lang="en-US" altLang="zh-CN" sz="2400" b="0" i="0" u="none" strike="noStrike" kern="0" cap="none" spc="0" normalizeH="0" baseline="0" noProof="0" dirty="0">
                <a:ln>
                  <a:noFill/>
                </a:ln>
                <a:solidFill>
                  <a:srgbClr val="FF0000"/>
                </a:solidFill>
                <a:effectLst/>
                <a:uLnTx/>
                <a:uFillTx/>
                <a:latin typeface="+mn-lt"/>
                <a:ea typeface="+mn-ea"/>
              </a:rPr>
              <a:t>P(Polynomial)</a:t>
            </a:r>
            <a:r>
              <a:rPr kumimoji="0" lang="zh-CN" altLang="en-US" sz="2400" b="0" i="0" u="none" strike="noStrike" kern="0" cap="none" spc="0" normalizeH="0" baseline="0" noProof="0" dirty="0">
                <a:ln>
                  <a:noFill/>
                </a:ln>
                <a:solidFill>
                  <a:srgbClr val="FF0000"/>
                </a:solidFill>
                <a:effectLst/>
                <a:uLnTx/>
                <a:uFillTx/>
                <a:latin typeface="+mn-lt"/>
                <a:ea typeface="+mn-ea"/>
              </a:rPr>
              <a:t>类问题</a:t>
            </a:r>
            <a:r>
              <a:rPr kumimoji="0" lang="zh-CN" altLang="en-US" sz="2400" b="0" i="0" u="none" strike="noStrike" kern="0" cap="none" spc="0" normalizeH="0" baseline="0" noProof="0" dirty="0">
                <a:ln>
                  <a:noFill/>
                </a:ln>
                <a:solidFill>
                  <a:schemeClr val="accent2"/>
                </a:solidFill>
                <a:effectLst/>
                <a:uLnTx/>
                <a:uFillTx/>
                <a:latin typeface="+mn-lt"/>
                <a:ea typeface="+mn-ea"/>
              </a:rPr>
              <a:t>。（</a:t>
            </a:r>
            <a:r>
              <a:rPr kumimoji="0" lang="en-US" altLang="zh-CN" sz="2400" b="0" i="0" u="none" strike="noStrike" kern="0" cap="none" spc="0" normalizeH="0" baseline="0" noProof="0" dirty="0">
                <a:ln>
                  <a:noFill/>
                </a:ln>
                <a:solidFill>
                  <a:srgbClr val="FF0000"/>
                </a:solidFill>
                <a:effectLst/>
                <a:uLnTx/>
                <a:uFillTx/>
                <a:latin typeface="Arial" panose="020B0604020202020204" pitchFamily="34" charset="0"/>
                <a:ea typeface="华文行楷" panose="02010800040101010101" pitchFamily="2" charset="-122"/>
              </a:rPr>
              <a:t>Polynomial</a:t>
            </a:r>
            <a:r>
              <a:rPr kumimoji="0" lang="zh-CN" altLang="en-US"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多项式</a:t>
            </a:r>
            <a:r>
              <a:rPr kumimoji="0" lang="zh-CN" altLang="en-US" sz="2400" b="0" i="0" u="none" strike="noStrike" kern="0" cap="none" spc="0" normalizeH="0" baseline="0" noProof="0" dirty="0">
                <a:ln>
                  <a:noFill/>
                </a:ln>
                <a:solidFill>
                  <a:schemeClr val="accent2"/>
                </a:solidFill>
                <a:effectLst/>
                <a:uLnTx/>
                <a:uFillTx/>
                <a:latin typeface="+mn-lt"/>
                <a:ea typeface="+mn-ea"/>
              </a:rPr>
              <a:t>）</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事实上，所有易解问题都是</a:t>
            </a:r>
            <a:r>
              <a:rPr kumimoji="0" lang="en-US" altLang="zh-CN" sz="20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P</a:t>
            </a:r>
            <a:r>
              <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类问题。</a:t>
            </a: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000" b="1" i="0" u="none" strike="noStrike" kern="0" cap="none" spc="0" normalizeH="0" baseline="0" noProof="0" dirty="0">
              <a:ln>
                <a:noFill/>
              </a:ln>
              <a:solidFill>
                <a:schemeClr val="accent2"/>
              </a:solidFill>
              <a:effectLst/>
              <a:uLnTx/>
              <a:uFillTx/>
              <a:latin typeface="+mn-lt"/>
              <a:ea typeface="+mn-ea"/>
            </a:endParaRPr>
          </a:p>
        </p:txBody>
      </p:sp>
      <p:pic>
        <p:nvPicPr>
          <p:cNvPr id="17413" name="Picture 5" descr="def"/>
          <p:cNvPicPr>
            <a:picLocks noChangeAspect="1"/>
          </p:cNvPicPr>
          <p:nvPr/>
        </p:nvPicPr>
        <p:blipFill>
          <a:blip r:embed="rId4"/>
          <a:stretch>
            <a:fillRect/>
          </a:stretch>
        </p:blipFill>
        <p:spPr>
          <a:xfrm>
            <a:off x="762000" y="1295400"/>
            <a:ext cx="576263" cy="3984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7413"/>
                                        </p:tgtEl>
                                        <p:attrNameLst>
                                          <p:attrName>style.visibility</p:attrName>
                                        </p:attrNameLst>
                                      </p:cBhvr>
                                      <p:to>
                                        <p:strVal val="visible"/>
                                      </p:to>
                                    </p:set>
                                    <p:anim calcmode="lin" valueType="num">
                                      <p:cBhvr>
                                        <p:cTn id="7" dur="500" fill="hold"/>
                                        <p:tgtEl>
                                          <p:spTgt spid="17413"/>
                                        </p:tgtEl>
                                        <p:attrNameLst>
                                          <p:attrName>ppt_w</p:attrName>
                                        </p:attrNameLst>
                                      </p:cBhvr>
                                      <p:tavLst>
                                        <p:tav tm="0">
                                          <p:val>
                                            <p:fltVal val="0"/>
                                          </p:val>
                                        </p:tav>
                                        <p:tav tm="100000">
                                          <p:val>
                                            <p:strVal val="#ppt_w"/>
                                          </p:val>
                                        </p:tav>
                                      </p:tavLst>
                                    </p:anim>
                                    <p:anim calcmode="lin" valueType="num">
                                      <p:cBhvr>
                                        <p:cTn id="8" dur="500" fill="hold"/>
                                        <p:tgtEl>
                                          <p:spTgt spid="17413"/>
                                        </p:tgtEl>
                                        <p:attrNameLst>
                                          <p:attrName>ppt_h</p:attrName>
                                        </p:attrNameLst>
                                      </p:cBhvr>
                                      <p:tavLst>
                                        <p:tav tm="0">
                                          <p:val>
                                            <p:fltVal val="0"/>
                                          </p:val>
                                        </p:tav>
                                        <p:tav tm="100000">
                                          <p:val>
                                            <p:strVal val="#ppt_h"/>
                                          </p:val>
                                        </p:tav>
                                      </p:tavLst>
                                    </p:anim>
                                    <p:anim calcmode="lin" valueType="num">
                                      <p:cBhvr>
                                        <p:cTn id="9" dur="500" fill="hold"/>
                                        <p:tgtEl>
                                          <p:spTgt spid="17413"/>
                                        </p:tgtEl>
                                        <p:attrNameLst>
                                          <p:attrName>style.rotation</p:attrName>
                                        </p:attrNameLst>
                                      </p:cBhvr>
                                      <p:tavLst>
                                        <p:tav tm="0">
                                          <p:val>
                                            <p:fltVal val="360"/>
                                          </p:val>
                                        </p:tav>
                                        <p:tav tm="100000">
                                          <p:val>
                                            <p:fltVal val="0"/>
                                          </p:val>
                                        </p:tav>
                                      </p:tavLst>
                                    </p:anim>
                                    <p:animEffect transition="in" filter="fade">
                                      <p:cBhvr>
                                        <p:cTn id="10" dur="500"/>
                                        <p:tgtEl>
                                          <p:spTgt spid="17413"/>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11" presetID="3" presetClass="entr" presetSubtype="10" fill="hold" nodeType="with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13" dur="500"/>
                                        <p:tgtEl>
                                          <p:spTgt spid="174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8" dur="500"/>
                                        <p:tgtEl>
                                          <p:spTgt spid="174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23" dur="500"/>
                                        <p:tgtEl>
                                          <p:spTgt spid="174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28" dur="500"/>
                                        <p:tgtEl>
                                          <p:spTgt spid="17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7891" name="Rectangle 2"/>
          <p:cNvSpPr>
            <a:spLocks noGrp="1"/>
          </p:cNvSpPr>
          <p:nvPr>
            <p:ph type="title"/>
          </p:nvPr>
        </p:nvSpPr>
        <p:spPr>
          <a:ln/>
        </p:spPr>
        <p:txBody>
          <a:bodyPr vert="horz" wrap="square" lIns="91440" tIns="45720" rIns="91440" bIns="45720" anchor="ctr" anchorCtr="0"/>
          <a:lstStyle/>
          <a:p>
            <a:pPr eaLnBrk="1" hangingPunct="1"/>
            <a:r>
              <a:rPr lang="en-US" altLang="zh-CN" dirty="0"/>
              <a:t>P</a:t>
            </a:r>
            <a:r>
              <a:rPr lang="zh-CN" altLang="en-US" dirty="0"/>
              <a:t>类问题例子</a:t>
            </a:r>
            <a:endParaRPr lang="en-US" altLang="zh-CN" dirty="0"/>
          </a:p>
        </p:txBody>
      </p:sp>
      <p:sp>
        <p:nvSpPr>
          <p:cNvPr id="4" name="矩形 3"/>
          <p:cNvSpPr/>
          <p:nvPr/>
        </p:nvSpPr>
        <p:spPr>
          <a:xfrm>
            <a:off x="990600" y="1196975"/>
            <a:ext cx="7467600" cy="3416300"/>
          </a:xfrm>
          <a:prstGeom prst="rect">
            <a:avLst/>
          </a:prstGeom>
        </p:spPr>
        <p:txBody>
          <a:bodyPr>
            <a:spAutoFit/>
          </a:bodyP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排序问题</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457200" marR="0" lvl="1"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给出一个</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n</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个整数的表，它们是否按非降序排列</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 </a:t>
            </a:r>
          </a:p>
          <a:p>
            <a:pPr marL="457200" marR="0" lvl="1" indent="0" algn="l" defTabSz="914400" rtl="0" eaLnBrk="1" fontAlgn="base" latinLnBrk="0" hangingPunct="1">
              <a:lnSpc>
                <a:spcPct val="900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不相交集问题</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457200" marR="0" lvl="1"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给出两个整数集合，它们的交集是否为空</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a:t>
            </a:r>
          </a:p>
          <a:p>
            <a:pPr marL="457200" marR="0" lvl="1" indent="0" algn="l" defTabSz="914400" rtl="0" eaLnBrk="1" fontAlgn="base" latinLnBrk="0" hangingPunct="1">
              <a:lnSpc>
                <a:spcPct val="900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最短路径问题</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457200" marR="0" lvl="1"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给出一个边上有正权的有向图</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G = (V, E) </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，两个特异的顶点</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s, t ∈ V</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和一个正整数</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k</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，在</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s</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到</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t</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间是否存在一条路径，它的长度最多是</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k</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p:cNvSpPr>
            <a:spLocks noGrp="1"/>
          </p:cNvSpPr>
          <p:nvPr>
            <p:ph idx="1"/>
          </p:nvPr>
        </p:nvSpPr>
        <p:spPr>
          <a:ln/>
        </p:spPr>
        <p:txBody>
          <a:bodyPr vert="horz" wrap="square" lIns="91440" tIns="45720" rIns="91440" bIns="45720" anchor="t" anchorCtr="0"/>
          <a:lstStyle/>
          <a:p>
            <a:pPr eaLnBrk="1" hangingPunct="1">
              <a:lnSpc>
                <a:spcPct val="90000"/>
              </a:lnSpc>
            </a:pPr>
            <a:r>
              <a:rPr lang="en-US" altLang="zh-CN" sz="2000" dirty="0">
                <a:solidFill>
                  <a:srgbClr val="FF0000"/>
                </a:solidFill>
              </a:rPr>
              <a:t>2</a:t>
            </a:r>
            <a:r>
              <a:rPr lang="zh-CN" altLang="en-US" sz="2000" dirty="0">
                <a:solidFill>
                  <a:srgbClr val="FF0000"/>
                </a:solidFill>
              </a:rPr>
              <a:t>着色问题</a:t>
            </a:r>
            <a:r>
              <a:rPr lang="en-US" altLang="zh-CN" sz="2000" dirty="0"/>
              <a:t>:</a:t>
            </a:r>
          </a:p>
          <a:p>
            <a:pPr lvl="1" eaLnBrk="1" hangingPunct="1">
              <a:lnSpc>
                <a:spcPct val="90000"/>
              </a:lnSpc>
            </a:pPr>
            <a:r>
              <a:rPr lang="zh-CN" altLang="en-US" sz="2000" dirty="0"/>
              <a:t>给出一个无向图</a:t>
            </a:r>
            <a:r>
              <a:rPr lang="en-US" altLang="zh-CN" sz="2000" dirty="0"/>
              <a:t>G </a:t>
            </a:r>
            <a:r>
              <a:rPr lang="zh-CN" altLang="en-US" sz="2000" dirty="0"/>
              <a:t>，它是否是</a:t>
            </a:r>
            <a:r>
              <a:rPr lang="en-US" altLang="zh-CN" sz="2000" dirty="0"/>
              <a:t>2</a:t>
            </a:r>
            <a:r>
              <a:rPr lang="zh-CN" altLang="en-US" sz="2000" dirty="0"/>
              <a:t>可着色的</a:t>
            </a:r>
            <a:r>
              <a:rPr lang="en-US" altLang="zh-CN" sz="2000" dirty="0"/>
              <a:t>?</a:t>
            </a:r>
            <a:r>
              <a:rPr lang="zh-CN" altLang="en-US" sz="2000" dirty="0"/>
              <a:t>即它的顶点是否可仅用两种颜色着色，使两个邻接顶点不会分配相同的颜色</a:t>
            </a:r>
            <a:r>
              <a:rPr lang="en-US" altLang="zh-CN" sz="2000" dirty="0"/>
              <a:t>?</a:t>
            </a:r>
            <a:r>
              <a:rPr lang="zh-CN" altLang="en-US" sz="2000" dirty="0"/>
              <a:t>注意，当且仅当</a:t>
            </a:r>
            <a:r>
              <a:rPr lang="en-US" altLang="zh-CN" sz="2000" dirty="0"/>
              <a:t>G</a:t>
            </a:r>
            <a:r>
              <a:rPr lang="zh-CN" altLang="en-US" sz="2000" dirty="0"/>
              <a:t>是二分图，即当且仅当它不包含奇数长的回路时，它是</a:t>
            </a:r>
            <a:r>
              <a:rPr lang="en-US" altLang="zh-CN" sz="2000" dirty="0"/>
              <a:t>2</a:t>
            </a:r>
            <a:r>
              <a:rPr lang="zh-CN" altLang="en-US" sz="2000" dirty="0"/>
              <a:t>可着色的。</a:t>
            </a:r>
            <a:endParaRPr lang="en-US" altLang="zh-CN" sz="2000" dirty="0"/>
          </a:p>
          <a:p>
            <a:pPr eaLnBrk="1" hangingPunct="1">
              <a:lnSpc>
                <a:spcPct val="90000"/>
              </a:lnSpc>
            </a:pPr>
            <a:endParaRPr lang="en-US" altLang="zh-CN" sz="2000" dirty="0"/>
          </a:p>
          <a:p>
            <a:pPr eaLnBrk="1" hangingPunct="1">
              <a:lnSpc>
                <a:spcPct val="90000"/>
              </a:lnSpc>
            </a:pPr>
            <a:endParaRPr lang="en-US" altLang="zh-CN" sz="2000" dirty="0"/>
          </a:p>
          <a:p>
            <a:pPr eaLnBrk="1" hangingPunct="1">
              <a:lnSpc>
                <a:spcPct val="90000"/>
              </a:lnSpc>
            </a:pPr>
            <a:endParaRPr lang="en-US" altLang="zh-CN" sz="2000" dirty="0"/>
          </a:p>
          <a:p>
            <a:pPr eaLnBrk="1" hangingPunct="1">
              <a:lnSpc>
                <a:spcPct val="90000"/>
              </a:lnSpc>
            </a:pPr>
            <a:endParaRPr lang="en-US" altLang="zh-CN" sz="2000" dirty="0"/>
          </a:p>
          <a:p>
            <a:pPr eaLnBrk="1" hangingPunct="1">
              <a:lnSpc>
                <a:spcPct val="90000"/>
              </a:lnSpc>
            </a:pPr>
            <a:endParaRPr lang="en-US" altLang="zh-CN" sz="2000" dirty="0"/>
          </a:p>
          <a:p>
            <a:pPr eaLnBrk="1" hangingPunct="1">
              <a:lnSpc>
                <a:spcPct val="90000"/>
              </a:lnSpc>
            </a:pPr>
            <a:endParaRPr lang="en-US" altLang="zh-CN" sz="2000" dirty="0"/>
          </a:p>
          <a:p>
            <a:pPr eaLnBrk="1" hangingPunct="1">
              <a:lnSpc>
                <a:spcPct val="90000"/>
              </a:lnSpc>
            </a:pPr>
            <a:r>
              <a:rPr lang="en-US" altLang="zh-CN" sz="2000" dirty="0">
                <a:solidFill>
                  <a:srgbClr val="FF0000"/>
                </a:solidFill>
              </a:rPr>
              <a:t>2</a:t>
            </a:r>
            <a:r>
              <a:rPr lang="zh-CN" altLang="en-US" sz="2000" dirty="0">
                <a:solidFill>
                  <a:srgbClr val="FF0000"/>
                </a:solidFill>
              </a:rPr>
              <a:t>可满足问题</a:t>
            </a:r>
            <a:r>
              <a:rPr lang="en-US" altLang="zh-CN" sz="2000" dirty="0"/>
              <a:t>: </a:t>
            </a:r>
          </a:p>
          <a:p>
            <a:pPr lvl="1" eaLnBrk="1" hangingPunct="1">
              <a:lnSpc>
                <a:spcPct val="90000"/>
              </a:lnSpc>
            </a:pPr>
            <a:r>
              <a:rPr lang="zh-CN" altLang="en-US" sz="2000" dirty="0"/>
              <a:t>给出一个合取范式</a:t>
            </a:r>
            <a:r>
              <a:rPr lang="en-US" altLang="zh-CN" sz="2000" dirty="0"/>
              <a:t>(CNF)</a:t>
            </a:r>
            <a:r>
              <a:rPr lang="zh-CN" altLang="en-US" sz="2000" dirty="0"/>
              <a:t>形式的布尔表达式</a:t>
            </a:r>
            <a:r>
              <a:rPr lang="en-US" altLang="zh-CN" sz="2000" dirty="0"/>
              <a:t>f</a:t>
            </a:r>
            <a:r>
              <a:rPr lang="zh-CN" altLang="en-US" sz="2000" dirty="0"/>
              <a:t>，这里每个子句恰好由两个文字组成，问</a:t>
            </a:r>
            <a:r>
              <a:rPr lang="en-US" altLang="zh-CN" sz="2000" dirty="0"/>
              <a:t>f</a:t>
            </a:r>
            <a:r>
              <a:rPr lang="zh-CN" altLang="en-US" sz="2000" dirty="0"/>
              <a:t>是可满足的吗？</a:t>
            </a:r>
            <a:endParaRPr lang="en-US" altLang="zh-CN" sz="2000" dirty="0"/>
          </a:p>
          <a:p>
            <a:endParaRPr lang="zh-CN" altLang="en-US" dirty="0"/>
          </a:p>
        </p:txBody>
      </p:sp>
      <p:sp>
        <p:nvSpPr>
          <p:cNvPr id="39939"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9940" name="Rectangle 2"/>
          <p:cNvSpPr>
            <a:spLocks noGrp="1"/>
          </p:cNvSpPr>
          <p:nvPr>
            <p:ph type="title"/>
          </p:nvPr>
        </p:nvSpPr>
        <p:spPr>
          <a:ln/>
        </p:spPr>
        <p:txBody>
          <a:bodyPr vert="horz" wrap="square" lIns="91440" tIns="45720" rIns="91440" bIns="45720" anchor="ctr" anchorCtr="0"/>
          <a:lstStyle/>
          <a:p>
            <a:pPr eaLnBrk="1" hangingPunct="1"/>
            <a:r>
              <a:rPr lang="en-US" altLang="zh-CN" dirty="0"/>
              <a:t>P</a:t>
            </a:r>
            <a:r>
              <a:rPr lang="zh-CN" altLang="en-US" dirty="0"/>
              <a:t>类问题例子</a:t>
            </a:r>
            <a:endParaRPr lang="en-US" altLang="zh-CN" dirty="0"/>
          </a:p>
        </p:txBody>
      </p:sp>
      <p:pic>
        <p:nvPicPr>
          <p:cNvPr id="39941" name="Picture 2" descr="二分图模型"/>
          <p:cNvPicPr>
            <a:picLocks noChangeAspect="1"/>
          </p:cNvPicPr>
          <p:nvPr/>
        </p:nvPicPr>
        <p:blipFill>
          <a:blip r:embed="rId2"/>
          <a:stretch>
            <a:fillRect/>
          </a:stretch>
        </p:blipFill>
        <p:spPr>
          <a:xfrm>
            <a:off x="4413250" y="2667000"/>
            <a:ext cx="1000125" cy="1895475"/>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0963" name="Rectangle 2"/>
          <p:cNvSpPr>
            <a:spLocks noGrp="1"/>
          </p:cNvSpPr>
          <p:nvPr>
            <p:ph type="title"/>
          </p:nvPr>
        </p:nvSpPr>
        <p:spPr>
          <a:ln/>
        </p:spPr>
        <p:txBody>
          <a:bodyPr vert="horz" wrap="square" lIns="91440" tIns="45720" rIns="91440" bIns="45720" anchor="ctr" anchorCtr="0"/>
          <a:lstStyle/>
          <a:p>
            <a:pPr eaLnBrk="1" hangingPunct="1"/>
            <a:r>
              <a:rPr lang="en-US" altLang="zh-CN" dirty="0"/>
              <a:t>P</a:t>
            </a:r>
            <a:r>
              <a:rPr lang="zh-CN" altLang="en-US" dirty="0"/>
              <a:t>类问题性质</a:t>
            </a:r>
            <a:endParaRPr lang="en-US" altLang="zh-CN" dirty="0"/>
          </a:p>
        </p:txBody>
      </p:sp>
      <p:sp>
        <p:nvSpPr>
          <p:cNvPr id="20483" name="Rectangle 3"/>
          <p:cNvSpPr>
            <a:spLocks noGrp="1" noChangeArrowheads="1"/>
          </p:cNvSpPr>
          <p:nvPr>
            <p:ph idx="1"/>
          </p:nvPr>
        </p:nvSpPr>
        <p:spPr>
          <a:xfrm>
            <a:off x="900113" y="1268413"/>
            <a:ext cx="7786688" cy="3989388"/>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如果对于任意问题</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C</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5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的补也在</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C</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中，我们说问题类</a:t>
            </a:r>
            <a:r>
              <a:rPr kumimoji="0" lang="en-US" altLang="zh-CN" sz="25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en-US" altLang="zh-CN" sz="25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C</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在</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补运算下是封闭</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的。</a:t>
            </a: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例如，</a:t>
            </a:r>
            <a:r>
              <a:rPr kumimoji="0" lang="en-US" altLang="zh-CN" sz="2200" b="0" i="0" u="none" strike="noStrike" kern="0" cap="none" spc="0" normalizeH="0" baseline="0" noProof="0" dirty="0">
                <a:ln>
                  <a:noFill/>
                </a:ln>
                <a:solidFill>
                  <a:schemeClr val="accent2"/>
                </a:solidFill>
                <a:effectLst/>
                <a:uLnTx/>
                <a:uFillTx/>
                <a:latin typeface="+mn-lt"/>
                <a:ea typeface="+mn-ea"/>
              </a:rPr>
              <a:t>2</a:t>
            </a:r>
            <a:r>
              <a:rPr kumimoji="0" lang="zh-CN" altLang="en-US" sz="2200" b="0" i="0" u="none" strike="noStrike" kern="0" cap="none" spc="0" normalizeH="0" baseline="0" noProof="0" dirty="0">
                <a:ln>
                  <a:noFill/>
                </a:ln>
                <a:solidFill>
                  <a:schemeClr val="accent2"/>
                </a:solidFill>
                <a:effectLst/>
                <a:uLnTx/>
                <a:uFillTx/>
                <a:latin typeface="+mn-lt"/>
                <a:ea typeface="+mn-ea"/>
              </a:rPr>
              <a:t>着色问题的补可以陈述如下</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给出一个图</a:t>
            </a:r>
            <a:r>
              <a:rPr kumimoji="0" lang="en-US" altLang="zh-CN" sz="2200" b="0" i="0" u="none" strike="noStrike" kern="0" cap="none" spc="0" normalizeH="0" baseline="0" noProof="0" dirty="0">
                <a:ln>
                  <a:noFill/>
                </a:ln>
                <a:solidFill>
                  <a:schemeClr val="accent2"/>
                </a:solidFill>
                <a:effectLst/>
                <a:uLnTx/>
                <a:uFillTx/>
                <a:latin typeface="+mn-lt"/>
                <a:ea typeface="+mn-ea"/>
              </a:rPr>
              <a:t>G </a:t>
            </a:r>
            <a:r>
              <a:rPr kumimoji="0" lang="zh-CN" altLang="en-US" sz="2200" b="0" i="0" u="none" strike="noStrike" kern="0" cap="none" spc="0" normalizeH="0" baseline="0" noProof="0" dirty="0">
                <a:ln>
                  <a:noFill/>
                </a:ln>
                <a:solidFill>
                  <a:schemeClr val="accent2"/>
                </a:solidFill>
                <a:effectLst/>
                <a:uLnTx/>
                <a:uFillTx/>
                <a:latin typeface="+mn-lt"/>
                <a:ea typeface="+mn-ea"/>
              </a:rPr>
              <a:t>，它是不</a:t>
            </a:r>
            <a:r>
              <a:rPr kumimoji="0" lang="en-US" altLang="zh-CN" sz="2200" b="0" i="0" u="none" strike="noStrike" kern="0" cap="none" spc="0" normalizeH="0" baseline="0" noProof="0" dirty="0">
                <a:ln>
                  <a:noFill/>
                </a:ln>
                <a:solidFill>
                  <a:schemeClr val="accent2"/>
                </a:solidFill>
                <a:effectLst/>
                <a:uLnTx/>
                <a:uFillTx/>
                <a:latin typeface="+mn-lt"/>
                <a:ea typeface="+mn-ea"/>
              </a:rPr>
              <a:t>2</a:t>
            </a:r>
            <a:r>
              <a:rPr kumimoji="0" lang="zh-CN" altLang="en-US" sz="2200" b="0" i="0" u="none" strike="noStrike" kern="0" cap="none" spc="0" normalizeH="0" baseline="0" noProof="0" dirty="0">
                <a:ln>
                  <a:noFill/>
                </a:ln>
                <a:solidFill>
                  <a:schemeClr val="accent2"/>
                </a:solidFill>
                <a:effectLst/>
                <a:uLnTx/>
                <a:uFillTx/>
                <a:latin typeface="+mn-lt"/>
                <a:ea typeface="+mn-ea"/>
              </a:rPr>
              <a:t>可着色的吗</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我们称这个问题为</a:t>
            </a:r>
            <a:r>
              <a:rPr kumimoji="0" lang="en-US" altLang="zh-CN" sz="2200" b="0" i="0" u="none" strike="noStrike" kern="0" cap="none" spc="0" normalizeH="0" baseline="0" noProof="0" dirty="0">
                <a:ln>
                  <a:noFill/>
                </a:ln>
                <a:solidFill>
                  <a:schemeClr val="accent2"/>
                </a:solidFill>
                <a:effectLst/>
                <a:uLnTx/>
                <a:uFillTx/>
                <a:latin typeface="+mn-lt"/>
                <a:ea typeface="+mn-ea"/>
              </a:rPr>
              <a:t>NOT-2-COLOR</a:t>
            </a:r>
            <a:r>
              <a:rPr kumimoji="0" lang="zh-CN" altLang="en-US" sz="2200" b="0" i="0" u="none" strike="noStrike" kern="0" cap="none" spc="0" normalizeH="0" baseline="0" noProof="0" dirty="0">
                <a:ln>
                  <a:noFill/>
                </a:ln>
                <a:solidFill>
                  <a:schemeClr val="accent2"/>
                </a:solidFill>
                <a:effectLst/>
                <a:uLnTx/>
                <a:uFillTx/>
                <a:latin typeface="+mn-lt"/>
                <a:ea typeface="+mn-ea"/>
              </a:rPr>
              <a:t>问题。它是属于</a:t>
            </a:r>
            <a:r>
              <a:rPr kumimoji="0" lang="en-US" altLang="zh-CN" sz="2200" b="0" i="0" u="none" strike="noStrike" kern="0" cap="none" spc="0" normalizeH="0" baseline="0" noProof="0" dirty="0">
                <a:ln>
                  <a:noFill/>
                </a:ln>
                <a:solidFill>
                  <a:schemeClr val="accent2"/>
                </a:solidFill>
                <a:effectLst/>
                <a:uLnTx/>
                <a:uFillTx/>
                <a:latin typeface="+mn-lt"/>
                <a:ea typeface="+mn-ea"/>
              </a:rPr>
              <a:t>P</a:t>
            </a:r>
            <a:r>
              <a:rPr kumimoji="0" lang="zh-CN" altLang="en-US" sz="2200" b="0" i="0" u="none" strike="noStrike" kern="0" cap="none" spc="0" normalizeH="0" baseline="0" noProof="0" dirty="0">
                <a:ln>
                  <a:noFill/>
                </a:ln>
                <a:solidFill>
                  <a:schemeClr val="accent2"/>
                </a:solidFill>
                <a:effectLst/>
                <a:uLnTx/>
                <a:uFillTx/>
                <a:latin typeface="+mn-lt"/>
                <a:ea typeface="+mn-ea"/>
              </a:rPr>
              <a:t>的。</a:t>
            </a: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zh-CN" altLang="en-US" sz="2200" b="0" i="0" u="none" strike="noStrike" kern="0" cap="none" spc="0" normalizeH="0" baseline="0" noProof="0" dirty="0">
              <a:ln>
                <a:noFill/>
              </a:ln>
              <a:solidFill>
                <a:schemeClr val="accent2"/>
              </a:solidFill>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endParaRPr kumimoji="0" lang="en-US" altLang="zh-CN" sz="21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mn-lt"/>
                <a:ea typeface="+mn-ea"/>
              </a:rPr>
              <a:t>P</a:t>
            </a:r>
            <a:r>
              <a:rPr kumimoji="0" lang="zh-CN" altLang="en-US" sz="2200" b="0" i="0" u="none" strike="noStrike" kern="0" cap="none" spc="0" normalizeH="0" baseline="0" noProof="0" dirty="0">
                <a:ln>
                  <a:noFill/>
                </a:ln>
                <a:solidFill>
                  <a:schemeClr val="accent2"/>
                </a:solidFill>
                <a:effectLst/>
                <a:uLnTx/>
                <a:uFillTx/>
                <a:latin typeface="+mn-lt"/>
                <a:ea typeface="+mn-ea"/>
              </a:rPr>
              <a:t>类问题在</a:t>
            </a:r>
            <a:r>
              <a:rPr kumimoji="0" lang="zh-CN" altLang="en-US" sz="2200" b="0" i="0" u="none" strike="noStrike" kern="0" cap="none" spc="0" normalizeH="0" baseline="0" noProof="0" dirty="0">
                <a:ln>
                  <a:noFill/>
                </a:ln>
                <a:solidFill>
                  <a:srgbClr val="FF0000"/>
                </a:solidFill>
                <a:effectLst/>
                <a:uLnTx/>
                <a:uFillTx/>
                <a:latin typeface="+mn-lt"/>
                <a:ea typeface="+mn-ea"/>
              </a:rPr>
              <a:t>补运算下是封闭的</a:t>
            </a:r>
            <a:r>
              <a:rPr kumimoji="0" lang="zh-CN" altLang="en-US" sz="2200" b="0" i="0" u="none" strike="noStrike" kern="0" cap="none" spc="0" normalizeH="0" baseline="0" noProof="0" dirty="0">
                <a:ln>
                  <a:noFill/>
                </a:ln>
                <a:solidFill>
                  <a:schemeClr val="accent2"/>
                </a:solidFill>
                <a:effectLst/>
                <a:uLnTx/>
                <a:uFillTx/>
                <a:latin typeface="+mn-lt"/>
                <a:ea typeface="+mn-ea"/>
              </a:rPr>
              <a:t>。</a:t>
            </a:r>
            <a:endParaRPr kumimoji="0" lang="en-US" altLang="zh-CN" sz="2200" b="0" i="0" u="none" strike="noStrike" kern="0" cap="none" spc="0" normalizeH="0" baseline="0" noProof="0" dirty="0">
              <a:ln>
                <a:noFill/>
              </a:ln>
              <a:solidFill>
                <a:schemeClr val="accent2"/>
              </a:solidFill>
              <a:effectLst/>
              <a:uLnTx/>
              <a:uFillTx/>
              <a:latin typeface="+mn-lt"/>
              <a:ea typeface="+mn-ea"/>
            </a:endParaRPr>
          </a:p>
        </p:txBody>
      </p:sp>
      <p:pic>
        <p:nvPicPr>
          <p:cNvPr id="20484" name="Picture 4" descr="theorem"/>
          <p:cNvPicPr>
            <a:picLocks noChangeAspect="1"/>
          </p:cNvPicPr>
          <p:nvPr/>
        </p:nvPicPr>
        <p:blipFill>
          <a:blip r:embed="rId4"/>
          <a:stretch>
            <a:fillRect/>
          </a:stretch>
        </p:blipFill>
        <p:spPr>
          <a:xfrm>
            <a:off x="914400" y="3810000"/>
            <a:ext cx="504825" cy="3190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 calcmode="lin" valueType="num">
                                      <p:cBhvr additive="base">
                                        <p:cTn id="12"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20484"/>
                                        </p:tgtEl>
                                        <p:attrNameLst>
                                          <p:attrName>style.visibility</p:attrName>
                                        </p:attrNameLst>
                                      </p:cBhvr>
                                      <p:to>
                                        <p:strVal val="visible"/>
                                      </p:to>
                                    </p:set>
                                    <p:anim calcmode="lin" valueType="num">
                                      <p:cBhvr>
                                        <p:cTn id="18" dur="500" fill="hold"/>
                                        <p:tgtEl>
                                          <p:spTgt spid="20484"/>
                                        </p:tgtEl>
                                        <p:attrNameLst>
                                          <p:attrName>ppt_w</p:attrName>
                                        </p:attrNameLst>
                                      </p:cBhvr>
                                      <p:tavLst>
                                        <p:tav tm="0">
                                          <p:val>
                                            <p:fltVal val="0"/>
                                          </p:val>
                                        </p:tav>
                                        <p:tav tm="100000">
                                          <p:val>
                                            <p:strVal val="#ppt_w"/>
                                          </p:val>
                                        </p:tav>
                                      </p:tavLst>
                                    </p:anim>
                                    <p:anim calcmode="lin" valueType="num">
                                      <p:cBhvr>
                                        <p:cTn id="19" dur="500" fill="hold"/>
                                        <p:tgtEl>
                                          <p:spTgt spid="20484"/>
                                        </p:tgtEl>
                                        <p:attrNameLst>
                                          <p:attrName>ppt_h</p:attrName>
                                        </p:attrNameLst>
                                      </p:cBhvr>
                                      <p:tavLst>
                                        <p:tav tm="0">
                                          <p:val>
                                            <p:fltVal val="0"/>
                                          </p:val>
                                        </p:tav>
                                        <p:tav tm="100000">
                                          <p:val>
                                            <p:strVal val="#ppt_h"/>
                                          </p:val>
                                        </p:tav>
                                      </p:tavLst>
                                    </p:anim>
                                    <p:anim calcmode="lin" valueType="num">
                                      <p:cBhvr>
                                        <p:cTn id="20" dur="500" fill="hold"/>
                                        <p:tgtEl>
                                          <p:spTgt spid="20484"/>
                                        </p:tgtEl>
                                        <p:attrNameLst>
                                          <p:attrName>style.rotation</p:attrName>
                                        </p:attrNameLst>
                                      </p:cBhvr>
                                      <p:tavLst>
                                        <p:tav tm="0">
                                          <p:val>
                                            <p:fltVal val="360"/>
                                          </p:val>
                                        </p:tav>
                                        <p:tav tm="100000">
                                          <p:val>
                                            <p:fltVal val="0"/>
                                          </p:val>
                                        </p:tav>
                                      </p:tavLst>
                                    </p:anim>
                                    <p:animEffect transition="in" filter="fade">
                                      <p:cBhvr>
                                        <p:cTn id="21" dur="500"/>
                                        <p:tgtEl>
                                          <p:spTgt spid="20484"/>
                                        </p:tgtEl>
                                      </p:cBhvr>
                                    </p:animEffect>
                                  </p:childTnLst>
                                  <p:subTnLst>
                                    <p:audio>
                                      <p:cMediaNode>
                                        <p:cTn display="0" masterRel="sameClick">
                                          <p:stCondLst>
                                            <p:cond evt="begin" delay="0">
                                              <p:tn val="16"/>
                                            </p:cond>
                                          </p:stCondLst>
                                          <p:endCondLst>
                                            <p:cond evt="onStopAudio" delay="0">
                                              <p:tgtEl>
                                                <p:sldTgt/>
                                              </p:tgtEl>
                                            </p:cond>
                                          </p:endCondLst>
                                        </p:cTn>
                                        <p:tgtEl>
                                          <p:sndTgt r:embed="rId3" name="chimes.wav"/>
                                        </p:tgtEl>
                                      </p:cMediaNode>
                                    </p:audio>
                                  </p:subTnLst>
                                </p:cTn>
                              </p:par>
                              <p:par>
                                <p:cTn id="22" presetID="3" presetClass="entr" presetSubtype="10" fill="hold" nodeType="withEffect">
                                  <p:stCondLst>
                                    <p:cond delay="0"/>
                                  </p:stCondLst>
                                  <p:childTnLst>
                                    <p:set>
                                      <p:cBhvr>
                                        <p:cTn id="23"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24" dur="500"/>
                                        <p:tgtEl>
                                          <p:spTgt spid="2048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0483">
                                            <p:txEl>
                                              <p:pRg st="5" end="5"/>
                                            </p:txEl>
                                          </p:spTgt>
                                        </p:tgtEl>
                                        <p:attrNameLst>
                                          <p:attrName>style.visibility</p:attrName>
                                        </p:attrNameLst>
                                      </p:cBhvr>
                                      <p:to>
                                        <p:strVal val="visible"/>
                                      </p:to>
                                    </p:set>
                                    <p:anim calcmode="lin" valueType="num">
                                      <p:cBhvr additive="base">
                                        <p:cTn id="29" dur="500" fill="hold"/>
                                        <p:tgtEl>
                                          <p:spTgt spid="2048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04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3011" name="Rectangle 2"/>
          <p:cNvSpPr>
            <a:spLocks noGrp="1"/>
          </p:cNvSpPr>
          <p:nvPr>
            <p:ph type="title"/>
          </p:nvPr>
        </p:nvSpPr>
        <p:spPr>
          <a:ln/>
        </p:spPr>
        <p:txBody>
          <a:bodyPr vert="horz" wrap="square" lIns="91440" tIns="45720" rIns="91440" bIns="45720" anchor="ctr" anchorCtr="0"/>
          <a:lstStyle/>
          <a:p>
            <a:pPr eaLnBrk="1" hangingPunct="1"/>
            <a:r>
              <a:rPr lang="en-US" altLang="zh-CN" dirty="0"/>
              <a:t>7.2.2 NP</a:t>
            </a:r>
            <a:r>
              <a:rPr lang="zh-CN" altLang="en-US" dirty="0"/>
              <a:t>类</a:t>
            </a:r>
            <a:endParaRPr lang="en-US" altLang="zh-CN" dirty="0"/>
          </a:p>
        </p:txBody>
      </p:sp>
      <p:sp>
        <p:nvSpPr>
          <p:cNvPr id="21507" name="Rectangle 3"/>
          <p:cNvSpPr>
            <a:spLocks noGrp="1"/>
          </p:cNvSpPr>
          <p:nvPr>
            <p:ph idx="1"/>
          </p:nvPr>
        </p:nvSpPr>
        <p:spPr>
          <a:xfrm>
            <a:off x="900113" y="1676400"/>
            <a:ext cx="7710487" cy="2743200"/>
          </a:xfrm>
          <a:ln/>
        </p:spPr>
        <p:txBody>
          <a:bodyPr vert="horz" wrap="square" lIns="91440" tIns="45720" rIns="91440" bIns="45720" anchor="t" anchorCtr="0"/>
          <a:lstStyle/>
          <a:p>
            <a:pPr eaLnBrk="1" hangingPunct="1"/>
            <a:r>
              <a:rPr lang="en-US" altLang="zh-CN" dirty="0">
                <a:solidFill>
                  <a:srgbClr val="FF0000"/>
                </a:solidFill>
              </a:rPr>
              <a:t>NP</a:t>
            </a:r>
            <a:r>
              <a:rPr lang="zh-CN" altLang="en-US" dirty="0">
                <a:solidFill>
                  <a:srgbClr val="FF0000"/>
                </a:solidFill>
              </a:rPr>
              <a:t>类</a:t>
            </a:r>
            <a:r>
              <a:rPr lang="zh-CN" altLang="en-US" dirty="0"/>
              <a:t>由这样的问题</a:t>
            </a:r>
            <a:r>
              <a:rPr lang="en-US" altLang="zh-CN" dirty="0">
                <a:latin typeface="宋体" panose="02010600030101010101" pitchFamily="2" charset="-122"/>
              </a:rPr>
              <a:t>∏</a:t>
            </a:r>
            <a:r>
              <a:rPr lang="zh-CN" altLang="en-US" dirty="0"/>
              <a:t>组成，对于这些问题存在一个确定性算法</a:t>
            </a:r>
            <a:r>
              <a:rPr lang="en-US" altLang="zh-CN" dirty="0"/>
              <a:t>A</a:t>
            </a:r>
            <a:r>
              <a:rPr lang="zh-CN" altLang="en-US" dirty="0"/>
              <a:t>，该算法在对</a:t>
            </a:r>
            <a:r>
              <a:rPr lang="en-US" altLang="zh-CN" dirty="0">
                <a:latin typeface="宋体" panose="02010600030101010101" pitchFamily="2" charset="-122"/>
              </a:rPr>
              <a:t>∏</a:t>
            </a:r>
            <a:r>
              <a:rPr lang="zh-CN" altLang="en-US" dirty="0"/>
              <a:t>的一个实例展示一个断言解时，它能在</a:t>
            </a:r>
            <a:r>
              <a:rPr lang="zh-CN" altLang="en-US" dirty="0">
                <a:solidFill>
                  <a:srgbClr val="FF0000"/>
                </a:solidFill>
              </a:rPr>
              <a:t>多项式时间内验证解的正确性</a:t>
            </a:r>
            <a:r>
              <a:rPr lang="zh-CN" altLang="en-US" dirty="0"/>
              <a:t>。即如果断言解导致答案是</a:t>
            </a:r>
            <a:r>
              <a:rPr lang="en-US" altLang="zh-CN" dirty="0"/>
              <a:t>yes</a:t>
            </a:r>
            <a:r>
              <a:rPr lang="zh-CN" altLang="en-US" dirty="0"/>
              <a:t>，就存在一种方法可以在多项式时间内</a:t>
            </a:r>
            <a:r>
              <a:rPr lang="zh-CN" altLang="en-US" dirty="0">
                <a:solidFill>
                  <a:srgbClr val="FF0000"/>
                </a:solidFill>
              </a:rPr>
              <a:t>验证这个解</a:t>
            </a:r>
            <a:r>
              <a:rPr lang="zh-CN" altLang="en-US"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p:cTn id="7" dur="500" fill="hold"/>
                                        <p:tgtEl>
                                          <p:spTgt spid="2150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1507">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21507">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215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5299" name="Rectangle 2"/>
          <p:cNvSpPr>
            <a:spLocks noGrp="1"/>
          </p:cNvSpPr>
          <p:nvPr>
            <p:ph type="title"/>
          </p:nvPr>
        </p:nvSpPr>
        <p:spPr>
          <a:ln/>
        </p:spPr>
        <p:txBody>
          <a:bodyPr vert="horz" wrap="square" lIns="91440" tIns="45720" rIns="91440" bIns="45720" anchor="ctr" anchorCtr="0"/>
          <a:lstStyle/>
          <a:p>
            <a:pPr eaLnBrk="1" hangingPunct="1"/>
            <a:r>
              <a:rPr lang="en-US" altLang="zh-CN" dirty="0"/>
              <a:t>NP</a:t>
            </a:r>
            <a:r>
              <a:rPr lang="zh-CN" altLang="en-US" dirty="0"/>
              <a:t>类</a:t>
            </a:r>
            <a:endParaRPr lang="en-US" altLang="zh-CN" dirty="0"/>
          </a:p>
        </p:txBody>
      </p:sp>
      <p:sp>
        <p:nvSpPr>
          <p:cNvPr id="25603" name="Rectangle 3"/>
          <p:cNvSpPr>
            <a:spLocks noGrp="1" noChangeArrowheads="1"/>
          </p:cNvSpPr>
          <p:nvPr>
            <p:ph idx="1"/>
          </p:nvPr>
        </p:nvSpPr>
        <p:spPr>
          <a:xfrm>
            <a:off x="914400" y="1295400"/>
            <a:ext cx="7696200"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至于一个</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不确定性</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算法的</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运行时间</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，它仅仅是两个运行时间的和：一个是猜测阶段的时间，另一个是验证阶段的时间。因此它是</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O(</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n</a:t>
            </a:r>
            <a:r>
              <a:rPr kumimoji="0" lang="en-US" altLang="zh-CN" sz="2400" b="0" i="0" u="none" strike="noStrike" kern="0" cap="none" spc="0" normalizeH="0" baseline="30000" noProof="0" dirty="0" err="1">
                <a:ln>
                  <a:noFill/>
                </a:ln>
                <a:solidFill>
                  <a:schemeClr val="accent2"/>
                </a:solidFill>
                <a:effectLst/>
                <a:uLnTx/>
                <a:uFillTx/>
                <a:latin typeface="+mn-lt"/>
                <a:ea typeface="+mn-ea"/>
                <a:cs typeface="+mn-cs"/>
              </a:rPr>
              <a:t>i</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)+O(</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n</a:t>
            </a:r>
            <a:r>
              <a:rPr kumimoji="0" lang="en-US" altLang="zh-CN" sz="2400" b="0" i="0" u="none" strike="noStrike" kern="0" cap="none" spc="0" normalizeH="0" baseline="30000" noProof="0" dirty="0" err="1">
                <a:ln>
                  <a:noFill/>
                </a:ln>
                <a:solidFill>
                  <a:schemeClr val="accent2"/>
                </a:solidFill>
                <a:effectLst/>
                <a:uLnTx/>
                <a:uFillTx/>
                <a:latin typeface="+mn-lt"/>
                <a:ea typeface="+mn-ea"/>
                <a:cs typeface="+mn-cs"/>
              </a:rPr>
              <a:t>j</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)=O(</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n</a:t>
            </a:r>
            <a:r>
              <a:rPr kumimoji="0" lang="en-US" altLang="zh-CN" sz="2400" b="0" i="0" u="none" strike="noStrike" kern="0" cap="none" spc="0" normalizeH="0" baseline="30000" noProof="0" dirty="0" err="1">
                <a:ln>
                  <a:noFill/>
                </a:ln>
                <a:solidFill>
                  <a:schemeClr val="accent2"/>
                </a:solidFill>
                <a:effectLst/>
                <a:uLnTx/>
                <a:uFillTx/>
                <a:latin typeface="+mn-lt"/>
                <a:ea typeface="+mn-ea"/>
                <a:cs typeface="+mn-cs"/>
              </a:rPr>
              <a:t>k</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 </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k</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是某个非负整数。</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32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3200" b="0" i="0" u="none" strike="noStrike" kern="0" cap="none" spc="0" normalizeH="0" baseline="0" noProof="0" dirty="0">
                <a:ln>
                  <a:noFill/>
                </a:ln>
                <a:solidFill>
                  <a:schemeClr val="accent2"/>
                </a:solidFill>
                <a:effectLst/>
                <a:uLnTx/>
                <a:uFillTx/>
                <a:latin typeface="+mn-lt"/>
                <a:ea typeface="+mn-ea"/>
                <a:cs typeface="+mn-cs"/>
              </a:rPr>
              <a:t>定义</a:t>
            </a:r>
            <a:r>
              <a:rPr kumimoji="0" lang="en-US" altLang="zh-CN" sz="3200" b="0" i="0" u="none" strike="noStrike" kern="0" cap="none" spc="0" normalizeH="0" baseline="0" noProof="0" dirty="0">
                <a:ln>
                  <a:noFill/>
                </a:ln>
                <a:solidFill>
                  <a:schemeClr val="accent2"/>
                </a:solidFill>
                <a:effectLst/>
                <a:uLnTx/>
                <a:uFillTx/>
                <a:latin typeface="+mn-lt"/>
                <a:ea typeface="+mn-ea"/>
                <a:cs typeface="+mn-cs"/>
              </a:rPr>
              <a:t>  </a:t>
            </a: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32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accent2"/>
                </a:solidFill>
                <a:effectLst/>
                <a:uLnTx/>
                <a:uFillTx/>
                <a:latin typeface="+mn-lt"/>
                <a:ea typeface="+mn-ea"/>
              </a:rPr>
              <a:t>判定问题类</a:t>
            </a:r>
            <a:r>
              <a:rPr kumimoji="0" lang="en-US" altLang="zh-CN" sz="2800" b="0" i="0" u="none" strike="noStrike" kern="0" cap="none" spc="0" normalizeH="0" baseline="0" noProof="0" dirty="0">
                <a:ln>
                  <a:noFill/>
                </a:ln>
                <a:solidFill>
                  <a:schemeClr val="accent2"/>
                </a:solidFill>
                <a:effectLst/>
                <a:uLnTx/>
                <a:uFillTx/>
                <a:latin typeface="+mn-lt"/>
                <a:ea typeface="+mn-ea"/>
              </a:rPr>
              <a:t>NP</a:t>
            </a:r>
            <a:r>
              <a:rPr kumimoji="0" lang="zh-CN" altLang="en-US" sz="2800" b="0" i="0" u="none" strike="noStrike" kern="0" cap="none" spc="0" normalizeH="0" baseline="0" noProof="0" dirty="0">
                <a:ln>
                  <a:noFill/>
                </a:ln>
                <a:solidFill>
                  <a:schemeClr val="accent2"/>
                </a:solidFill>
                <a:effectLst/>
                <a:uLnTx/>
                <a:uFillTx/>
                <a:latin typeface="+mn-lt"/>
                <a:ea typeface="+mn-ea"/>
              </a:rPr>
              <a:t>由这样的判定问题组成</a:t>
            </a:r>
            <a:r>
              <a:rPr kumimoji="0" lang="en-US" altLang="zh-CN" sz="2800" b="0" i="0" u="none" strike="noStrike" kern="0" cap="none" spc="0" normalizeH="0" baseline="0" noProof="0" dirty="0">
                <a:ln>
                  <a:noFill/>
                </a:ln>
                <a:solidFill>
                  <a:schemeClr val="accent2"/>
                </a:solidFill>
                <a:effectLst/>
                <a:uLnTx/>
                <a:uFillTx/>
                <a:latin typeface="+mn-lt"/>
                <a:ea typeface="+mn-ea"/>
              </a:rPr>
              <a:t>:</a:t>
            </a:r>
            <a:r>
              <a:rPr kumimoji="0" lang="zh-CN" altLang="en-US" sz="2800" b="0" i="0" u="none" strike="noStrike" kern="0" cap="none" spc="0" normalizeH="0" baseline="0" noProof="0" dirty="0">
                <a:ln>
                  <a:noFill/>
                </a:ln>
                <a:solidFill>
                  <a:schemeClr val="accent2"/>
                </a:solidFill>
                <a:effectLst/>
                <a:uLnTx/>
                <a:uFillTx/>
                <a:latin typeface="+mn-lt"/>
                <a:ea typeface="+mn-ea"/>
              </a:rPr>
              <a:t>对于它们存在着多项式时间内运行的不确定性算法。</a:t>
            </a:r>
            <a:endParaRPr kumimoji="0" lang="en-US" altLang="zh-CN" sz="2800" b="0" i="0" u="none" strike="noStrike" kern="0" cap="none" spc="0" normalizeH="0" baseline="0" noProof="0" dirty="0">
              <a:ln>
                <a:noFill/>
              </a:ln>
              <a:solidFill>
                <a:schemeClr val="accent2"/>
              </a:solidFill>
              <a:effectLst/>
              <a:uLnTx/>
              <a:uFillTx/>
              <a:latin typeface="+mn-lt"/>
              <a:ea typeface="+mn-ea"/>
            </a:endParaRPr>
          </a:p>
        </p:txBody>
      </p:sp>
      <p:pic>
        <p:nvPicPr>
          <p:cNvPr id="25604" name="Picture 4" descr="def"/>
          <p:cNvPicPr>
            <a:picLocks noChangeAspect="1"/>
          </p:cNvPicPr>
          <p:nvPr/>
        </p:nvPicPr>
        <p:blipFill>
          <a:blip r:embed="rId4"/>
          <a:stretch>
            <a:fillRect/>
          </a:stretch>
        </p:blipFill>
        <p:spPr>
          <a:xfrm>
            <a:off x="762000" y="3048000"/>
            <a:ext cx="576263" cy="3984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25604"/>
                                        </p:tgtEl>
                                        <p:attrNameLst>
                                          <p:attrName>style.visibility</p:attrName>
                                        </p:attrNameLst>
                                      </p:cBhvr>
                                      <p:to>
                                        <p:strVal val="visible"/>
                                      </p:to>
                                    </p:set>
                                    <p:anim calcmode="lin" valueType="num">
                                      <p:cBhvr>
                                        <p:cTn id="12" dur="500" fill="hold"/>
                                        <p:tgtEl>
                                          <p:spTgt spid="25604"/>
                                        </p:tgtEl>
                                        <p:attrNameLst>
                                          <p:attrName>ppt_w</p:attrName>
                                        </p:attrNameLst>
                                      </p:cBhvr>
                                      <p:tavLst>
                                        <p:tav tm="0">
                                          <p:val>
                                            <p:fltVal val="0"/>
                                          </p:val>
                                        </p:tav>
                                        <p:tav tm="100000">
                                          <p:val>
                                            <p:strVal val="#ppt_w"/>
                                          </p:val>
                                        </p:tav>
                                      </p:tavLst>
                                    </p:anim>
                                    <p:anim calcmode="lin" valueType="num">
                                      <p:cBhvr>
                                        <p:cTn id="13" dur="500" fill="hold"/>
                                        <p:tgtEl>
                                          <p:spTgt spid="25604"/>
                                        </p:tgtEl>
                                        <p:attrNameLst>
                                          <p:attrName>ppt_h</p:attrName>
                                        </p:attrNameLst>
                                      </p:cBhvr>
                                      <p:tavLst>
                                        <p:tav tm="0">
                                          <p:val>
                                            <p:fltVal val="0"/>
                                          </p:val>
                                        </p:tav>
                                        <p:tav tm="100000">
                                          <p:val>
                                            <p:strVal val="#ppt_h"/>
                                          </p:val>
                                        </p:tav>
                                      </p:tavLst>
                                    </p:anim>
                                    <p:anim calcmode="lin" valueType="num">
                                      <p:cBhvr>
                                        <p:cTn id="14" dur="500" fill="hold"/>
                                        <p:tgtEl>
                                          <p:spTgt spid="25604"/>
                                        </p:tgtEl>
                                        <p:attrNameLst>
                                          <p:attrName>style.rotation</p:attrName>
                                        </p:attrNameLst>
                                      </p:cBhvr>
                                      <p:tavLst>
                                        <p:tav tm="0">
                                          <p:val>
                                            <p:fltVal val="360"/>
                                          </p:val>
                                        </p:tav>
                                        <p:tav tm="100000">
                                          <p:val>
                                            <p:fltVal val="0"/>
                                          </p:val>
                                        </p:tav>
                                      </p:tavLst>
                                    </p:anim>
                                    <p:animEffect transition="in" filter="fade">
                                      <p:cBhvr>
                                        <p:cTn id="15" dur="500"/>
                                        <p:tgtEl>
                                          <p:spTgt spid="25604"/>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par>
                                <p:cTn id="16" presetID="3" presetClass="entr" presetSubtype="10" fill="hold" nodeType="withEffect">
                                  <p:stCondLst>
                                    <p:cond delay="0"/>
                                  </p:stCondLst>
                                  <p:childTnLst>
                                    <p:set>
                                      <p:cBhvr>
                                        <p:cTn id="17"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8" dur="500"/>
                                        <p:tgtEl>
                                          <p:spTgt spid="2560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25603">
                                            <p:txEl>
                                              <p:pRg st="4" end="4"/>
                                            </p:txEl>
                                          </p:spTgt>
                                        </p:tgtEl>
                                        <p:attrNameLst>
                                          <p:attrName>style.visibility</p:attrName>
                                        </p:attrNameLst>
                                      </p:cBhvr>
                                      <p:to>
                                        <p:strVal val="visible"/>
                                      </p:to>
                                    </p:set>
                                    <p:anim calcmode="lin" valueType="num">
                                      <p:cBhvr>
                                        <p:cTn id="23" dur="500" fill="hold"/>
                                        <p:tgtEl>
                                          <p:spTgt spid="25603">
                                            <p:txEl>
                                              <p:pRg st="4" end="4"/>
                                            </p:txEl>
                                          </p:spTgt>
                                        </p:tgtEl>
                                        <p:attrNameLst>
                                          <p:attrName>ppt_w</p:attrName>
                                        </p:attrNameLst>
                                      </p:cBhvr>
                                      <p:tavLst>
                                        <p:tav tm="0">
                                          <p:val>
                                            <p:fltVal val="0"/>
                                          </p:val>
                                        </p:tav>
                                        <p:tav tm="100000">
                                          <p:val>
                                            <p:strVal val="#ppt_w"/>
                                          </p:val>
                                        </p:tav>
                                      </p:tavLst>
                                    </p:anim>
                                    <p:anim calcmode="lin" valueType="num">
                                      <p:cBhvr>
                                        <p:cTn id="24" dur="500" fill="hold"/>
                                        <p:tgtEl>
                                          <p:spTgt spid="25603">
                                            <p:txEl>
                                              <p:pRg st="4" end="4"/>
                                            </p:txEl>
                                          </p:spTgt>
                                        </p:tgtEl>
                                        <p:attrNameLst>
                                          <p:attrName>ppt_h</p:attrName>
                                        </p:attrNameLst>
                                      </p:cBhvr>
                                      <p:tavLst>
                                        <p:tav tm="0">
                                          <p:val>
                                            <p:fltVal val="0"/>
                                          </p:val>
                                        </p:tav>
                                        <p:tav tm="100000">
                                          <p:val>
                                            <p:strVal val="#ppt_h"/>
                                          </p:val>
                                        </p:tav>
                                      </p:tavLst>
                                    </p:anim>
                                    <p:anim calcmode="lin" valueType="num">
                                      <p:cBhvr>
                                        <p:cTn id="25" dur="500" fill="hold"/>
                                        <p:tgtEl>
                                          <p:spTgt spid="25603">
                                            <p:txEl>
                                              <p:pRg st="4" end="4"/>
                                            </p:txEl>
                                          </p:spTgt>
                                        </p:tgtEl>
                                        <p:attrNameLst>
                                          <p:attrName>style.rotation</p:attrName>
                                        </p:attrNameLst>
                                      </p:cBhvr>
                                      <p:tavLst>
                                        <p:tav tm="0">
                                          <p:val>
                                            <p:fltVal val="360"/>
                                          </p:val>
                                        </p:tav>
                                        <p:tav tm="100000">
                                          <p:val>
                                            <p:fltVal val="0"/>
                                          </p:val>
                                        </p:tav>
                                      </p:tavLst>
                                    </p:anim>
                                    <p:animEffect transition="in" filter="fade">
                                      <p:cBhvr>
                                        <p:cTn id="26"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3"/>
          <p:cNvSpPr txBox="1">
            <a:spLocks noGrp="1"/>
          </p:cNvSpPr>
          <p:nvPr>
            <p:ph type="ftr" sz="quarter" idx="10"/>
          </p:nvPr>
        </p:nvSpPr>
        <p:spPr>
          <a:ln/>
        </p:spPr>
        <p:txBody>
          <a:bodyPr/>
          <a:lstStyle/>
          <a:p>
            <a:pPr marL="0" indent="0" algn="ctr" eaLnBrk="1" hangingPunct="1">
              <a:spcBef>
                <a:spcPct val="0"/>
              </a:spcBef>
              <a:buNone/>
            </a:pPr>
            <a:r>
              <a:rPr lang="zh-CN" altLang="en-US" sz="1400" dirty="0">
                <a:solidFill>
                  <a:schemeClr val="tx1"/>
                </a:solidFill>
                <a:latin typeface="Arial" panose="020B0604020202020204" pitchFamily="34" charset="0"/>
                <a:ea typeface="宋体" panose="02010600030101010101" pitchFamily="2" charset="-122"/>
              </a:rPr>
              <a:t>南京理工大学</a:t>
            </a:r>
          </a:p>
        </p:txBody>
      </p:sp>
      <p:sp>
        <p:nvSpPr>
          <p:cNvPr id="57347" name="Rectangle 2"/>
          <p:cNvSpPr>
            <a:spLocks noGrp="1"/>
          </p:cNvSpPr>
          <p:nvPr>
            <p:ph type="title"/>
          </p:nvPr>
        </p:nvSpPr>
        <p:spPr>
          <a:ln/>
        </p:spPr>
        <p:txBody>
          <a:bodyPr vert="horz" wrap="square" lIns="91440" tIns="45720" rIns="91440" bIns="45720" anchor="ctr" anchorCtr="0"/>
          <a:lstStyle/>
          <a:p>
            <a:r>
              <a:rPr lang="en-US" altLang="zh-CN" dirty="0"/>
              <a:t>NP</a:t>
            </a:r>
            <a:r>
              <a:rPr lang="zh-CN" altLang="en-US" dirty="0"/>
              <a:t>类问题</a:t>
            </a:r>
          </a:p>
        </p:txBody>
      </p:sp>
      <p:sp>
        <p:nvSpPr>
          <p:cNvPr id="57348" name="Rectangle 3"/>
          <p:cNvSpPr>
            <a:spLocks noGrp="1"/>
          </p:cNvSpPr>
          <p:nvPr>
            <p:ph idx="1"/>
          </p:nvPr>
        </p:nvSpPr>
        <p:spPr>
          <a:xfrm>
            <a:off x="457200" y="1600200"/>
            <a:ext cx="8229600" cy="4267200"/>
          </a:xfrm>
          <a:ln/>
        </p:spPr>
        <p:txBody>
          <a:bodyPr vert="horz" wrap="square" lIns="91440" tIns="45720" rIns="91440" bIns="45720" anchor="t" anchorCtr="0"/>
          <a:lstStyle/>
          <a:p>
            <a:pPr>
              <a:lnSpc>
                <a:spcPct val="120000"/>
              </a:lnSpc>
            </a:pPr>
            <a:r>
              <a:rPr lang="zh-CN" altLang="en-US" sz="2400" dirty="0"/>
              <a:t>定义</a:t>
            </a:r>
            <a:r>
              <a:rPr lang="en-US" altLang="zh-CN" sz="2400" dirty="0"/>
              <a:t>(</a:t>
            </a:r>
            <a:r>
              <a:rPr lang="en-US" altLang="zh-CN" sz="2400" dirty="0">
                <a:solidFill>
                  <a:srgbClr val="FF0000"/>
                </a:solidFill>
              </a:rPr>
              <a:t>NP</a:t>
            </a:r>
            <a:r>
              <a:rPr lang="zh-CN" altLang="en-US" sz="2400" dirty="0">
                <a:solidFill>
                  <a:srgbClr val="FF0000"/>
                </a:solidFill>
              </a:rPr>
              <a:t>类问题</a:t>
            </a:r>
            <a:r>
              <a:rPr lang="en-US" altLang="zh-CN" sz="2400" dirty="0"/>
              <a:t>): </a:t>
            </a:r>
            <a:r>
              <a:rPr lang="zh-CN" altLang="en-US" sz="2400" dirty="0"/>
              <a:t>如果对于判定问题∏，存在一个非负整数</a:t>
            </a:r>
            <a:r>
              <a:rPr lang="en-US" altLang="zh-CN" sz="2400" dirty="0"/>
              <a:t>k</a:t>
            </a:r>
            <a:r>
              <a:rPr lang="zh-CN" altLang="en-US" sz="2400" dirty="0"/>
              <a:t>，对于输入规模为</a:t>
            </a:r>
            <a:r>
              <a:rPr lang="en-US" altLang="zh-CN" sz="2400" dirty="0"/>
              <a:t>n</a:t>
            </a:r>
            <a:r>
              <a:rPr lang="zh-CN" altLang="en-US" sz="2400" dirty="0"/>
              <a:t>的实例，能够</a:t>
            </a:r>
            <a:r>
              <a:rPr lang="zh-CN" altLang="en-US" sz="2400" dirty="0">
                <a:solidFill>
                  <a:srgbClr val="FF0000"/>
                </a:solidFill>
              </a:rPr>
              <a:t>以</a:t>
            </a:r>
            <a:r>
              <a:rPr lang="en-US" altLang="zh-CN" sz="2400" dirty="0">
                <a:solidFill>
                  <a:srgbClr val="FF0000"/>
                </a:solidFill>
              </a:rPr>
              <a:t>O(n</a:t>
            </a:r>
            <a:r>
              <a:rPr lang="en-US" altLang="zh-CN" sz="2400" baseline="30000" dirty="0">
                <a:solidFill>
                  <a:srgbClr val="FF0000"/>
                </a:solidFill>
              </a:rPr>
              <a:t>k</a:t>
            </a:r>
            <a:r>
              <a:rPr lang="en-US" altLang="zh-CN" sz="2400" dirty="0">
                <a:solidFill>
                  <a:srgbClr val="FF0000"/>
                </a:solidFill>
              </a:rPr>
              <a:t>)</a:t>
            </a:r>
            <a:r>
              <a:rPr lang="zh-CN" altLang="en-US" sz="2400" dirty="0">
                <a:solidFill>
                  <a:srgbClr val="FF0000"/>
                </a:solidFill>
              </a:rPr>
              <a:t>的时间</a:t>
            </a:r>
            <a:r>
              <a:rPr lang="zh-CN" altLang="en-US" sz="2400" dirty="0"/>
              <a:t>运行一个</a:t>
            </a:r>
            <a:r>
              <a:rPr lang="zh-CN" altLang="en-US" sz="2400" dirty="0">
                <a:solidFill>
                  <a:srgbClr val="FF0000"/>
                </a:solidFill>
              </a:rPr>
              <a:t>不确定性算法</a:t>
            </a:r>
            <a:r>
              <a:rPr lang="zh-CN" altLang="en-US" sz="2400" dirty="0"/>
              <a:t>，</a:t>
            </a:r>
            <a:r>
              <a:rPr lang="zh-CN" altLang="en-US" sz="2400" dirty="0">
                <a:solidFill>
                  <a:srgbClr val="FF0000"/>
                </a:solidFill>
              </a:rPr>
              <a:t>得到</a:t>
            </a:r>
            <a:r>
              <a:rPr lang="en-US" altLang="zh-CN" sz="2400" dirty="0">
                <a:solidFill>
                  <a:srgbClr val="FF0000"/>
                </a:solidFill>
              </a:rPr>
              <a:t>yes/no</a:t>
            </a:r>
            <a:r>
              <a:rPr lang="zh-CN" altLang="en-US" sz="2400" dirty="0">
                <a:solidFill>
                  <a:srgbClr val="FF0000"/>
                </a:solidFill>
              </a:rPr>
              <a:t>的答案</a:t>
            </a:r>
            <a:r>
              <a:rPr lang="zh-CN" altLang="en-US" sz="2400" dirty="0"/>
              <a:t>，则该判断问题∏是一个</a:t>
            </a:r>
            <a:r>
              <a:rPr lang="en-US" altLang="zh-CN" sz="2400" dirty="0"/>
              <a:t>NP(</a:t>
            </a:r>
            <a:r>
              <a:rPr lang="en-US" altLang="zh-CN" sz="2400" dirty="0">
                <a:solidFill>
                  <a:srgbClr val="FF0000"/>
                </a:solidFill>
              </a:rPr>
              <a:t>n</a:t>
            </a:r>
            <a:r>
              <a:rPr lang="en-US" altLang="zh-CN" sz="2400" dirty="0"/>
              <a:t>ondeterministic </a:t>
            </a:r>
            <a:r>
              <a:rPr lang="en-US" altLang="zh-CN" sz="2400" dirty="0">
                <a:solidFill>
                  <a:srgbClr val="FF0000"/>
                </a:solidFill>
              </a:rPr>
              <a:t>p</a:t>
            </a:r>
            <a:r>
              <a:rPr lang="en-US" altLang="zh-CN" sz="2400" dirty="0"/>
              <a:t>olynomial)</a:t>
            </a:r>
            <a:r>
              <a:rPr lang="zh-CN" altLang="en-US" sz="2400" dirty="0"/>
              <a:t>类问题。</a:t>
            </a:r>
          </a:p>
          <a:p>
            <a:pPr>
              <a:lnSpc>
                <a:spcPct val="120000"/>
              </a:lnSpc>
            </a:pPr>
            <a:endParaRPr lang="zh-CN" altLang="en-US" dirty="0"/>
          </a:p>
          <a:p>
            <a:pPr>
              <a:lnSpc>
                <a:spcPct val="120000"/>
              </a:lnSpc>
              <a:buNone/>
            </a:pPr>
            <a:r>
              <a:rPr lang="zh-CN" altLang="en-US" sz="2000" dirty="0"/>
              <a:t>     </a:t>
            </a:r>
            <a:r>
              <a:rPr lang="en-US" altLang="zh-CN" dirty="0"/>
              <a:t>※</a:t>
            </a:r>
            <a:r>
              <a:rPr lang="zh-CN" altLang="en-US" sz="2000" dirty="0"/>
              <a:t>注意：</a:t>
            </a:r>
            <a:r>
              <a:rPr lang="en-US" altLang="zh-CN" sz="2000" dirty="0"/>
              <a:t>NP</a:t>
            </a:r>
            <a:r>
              <a:rPr lang="zh-CN" altLang="en-US" sz="2000" dirty="0"/>
              <a:t>类问题是对于判定问题定义的，事实上，可以在多项式时间内应用非确定性算法解决的所有问题都属于</a:t>
            </a:r>
            <a:r>
              <a:rPr lang="en-US" altLang="zh-CN" sz="2000" dirty="0"/>
              <a:t>NP</a:t>
            </a:r>
            <a:r>
              <a:rPr lang="zh-CN" altLang="en-US" sz="2000" dirty="0"/>
              <a:t>类问题。</a:t>
            </a:r>
            <a:r>
              <a:rPr lang="zh-CN" altLang="en-US" dirty="0"/>
              <a:t>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ln/>
        </p:spPr>
        <p:txBody>
          <a:bodyPr vert="horz" wrap="square" lIns="91440" tIns="45720" rIns="91440" bIns="45720" anchor="ctr" anchorCtr="0"/>
          <a:lstStyle/>
          <a:p>
            <a:r>
              <a:rPr lang="zh-CN" altLang="en-US" dirty="0"/>
              <a:t>例子（图着色问题）</a:t>
            </a:r>
          </a:p>
        </p:txBody>
      </p:sp>
      <p:sp>
        <p:nvSpPr>
          <p:cNvPr id="58371" name="Rectangle 3"/>
          <p:cNvSpPr>
            <a:spLocks noGrp="1"/>
          </p:cNvSpPr>
          <p:nvPr>
            <p:ph idx="1"/>
          </p:nvPr>
        </p:nvSpPr>
        <p:spPr>
          <a:xfrm>
            <a:off x="468313" y="1196975"/>
            <a:ext cx="5265737" cy="4824413"/>
          </a:xfrm>
          <a:ln/>
        </p:spPr>
        <p:txBody>
          <a:bodyPr vert="horz" wrap="square" lIns="91440" tIns="45720" rIns="91440" bIns="45720" anchor="t" anchorCtr="0"/>
          <a:lstStyle/>
          <a:p>
            <a:pPr>
              <a:lnSpc>
                <a:spcPct val="80000"/>
              </a:lnSpc>
            </a:pPr>
            <a:r>
              <a:rPr lang="en-US" altLang="zh-CN" sz="2100" dirty="0"/>
              <a:t>Input:  (</a:t>
            </a:r>
            <a:r>
              <a:rPr lang="zh-CN" altLang="en-US" sz="2100" dirty="0"/>
              <a:t>着色数</a:t>
            </a:r>
            <a:r>
              <a:rPr lang="en-US" altLang="zh-CN" sz="2100" dirty="0"/>
              <a:t>)k, (</a:t>
            </a:r>
            <a:r>
              <a:rPr lang="zh-CN" altLang="en-US" sz="2100" dirty="0"/>
              <a:t>节点数</a:t>
            </a:r>
            <a:r>
              <a:rPr lang="en-US" altLang="zh-CN" sz="2100" dirty="0"/>
              <a:t>)5 ,(</a:t>
            </a:r>
            <a:r>
              <a:rPr lang="zh-CN" altLang="en-US" sz="2100" dirty="0"/>
              <a:t>图的边</a:t>
            </a:r>
            <a:r>
              <a:rPr lang="en-US" altLang="zh-CN" sz="2100" dirty="0"/>
              <a:t>) (1,2)(1,4)... </a:t>
            </a:r>
          </a:p>
          <a:p>
            <a:pPr>
              <a:lnSpc>
                <a:spcPct val="80000"/>
              </a:lnSpc>
            </a:pPr>
            <a:r>
              <a:rPr lang="en-US" altLang="zh-CN" sz="2100" dirty="0"/>
              <a:t>Guessing </a:t>
            </a:r>
            <a:r>
              <a:rPr lang="zh-CN" altLang="en-US" sz="2100" dirty="0"/>
              <a:t>指写出长度为</a:t>
            </a:r>
            <a:r>
              <a:rPr lang="en-US" altLang="zh-CN" sz="2100" dirty="0"/>
              <a:t>n(</a:t>
            </a:r>
            <a:r>
              <a:rPr lang="zh-CN" altLang="en-US" sz="2100" dirty="0"/>
              <a:t>节点数</a:t>
            </a:r>
            <a:r>
              <a:rPr lang="en-US" altLang="zh-CN" sz="2100" dirty="0"/>
              <a:t>)</a:t>
            </a:r>
            <a:r>
              <a:rPr lang="zh-CN" altLang="en-US" sz="2100" dirty="0"/>
              <a:t>的字符串</a:t>
            </a:r>
            <a:r>
              <a:rPr lang="en-US" altLang="zh-CN" sz="2100" dirty="0"/>
              <a:t>,</a:t>
            </a:r>
            <a:r>
              <a:rPr lang="zh-CN" altLang="en-US" sz="2100" dirty="0"/>
              <a:t>例如</a:t>
            </a:r>
            <a:r>
              <a:rPr lang="en-US" altLang="zh-CN" sz="2100" dirty="0"/>
              <a:t>,RGRBG, RGRB, RBYGO, RGRBY, R%*$@</a:t>
            </a:r>
            <a:r>
              <a:rPr lang="zh-CN" altLang="en-US" sz="2100" dirty="0"/>
              <a:t>等</a:t>
            </a:r>
            <a:r>
              <a:rPr lang="en-US" altLang="zh-CN" sz="2100" dirty="0"/>
              <a:t>.</a:t>
            </a:r>
            <a:r>
              <a:rPr lang="zh-CN" altLang="en-US" sz="2100" dirty="0"/>
              <a:t>至少有</a:t>
            </a:r>
            <a:r>
              <a:rPr lang="en-US" altLang="zh-CN" sz="2100" dirty="0"/>
              <a:t>k</a:t>
            </a:r>
            <a:r>
              <a:rPr lang="en-US" altLang="zh-CN" sz="2100" baseline="30000" dirty="0"/>
              <a:t>n</a:t>
            </a:r>
            <a:r>
              <a:rPr lang="zh-CN" altLang="en-US" sz="2100" dirty="0"/>
              <a:t>个“</a:t>
            </a:r>
            <a:r>
              <a:rPr lang="en-US" altLang="zh-CN" sz="2100" dirty="0"/>
              <a:t>guessings”</a:t>
            </a:r>
            <a:r>
              <a:rPr lang="zh-CN" altLang="en-US" sz="2100" dirty="0"/>
              <a:t>。</a:t>
            </a:r>
            <a:endParaRPr lang="en-US" altLang="zh-CN" sz="2100" dirty="0"/>
          </a:p>
          <a:p>
            <a:pPr>
              <a:lnSpc>
                <a:spcPct val="80000"/>
              </a:lnSpc>
            </a:pPr>
            <a:r>
              <a:rPr lang="en-US" altLang="zh-CN" sz="2100" dirty="0"/>
              <a:t>Checking </a:t>
            </a:r>
            <a:r>
              <a:rPr lang="zh-CN" altLang="en-US" sz="2100" dirty="0"/>
              <a:t>指检查一</a:t>
            </a:r>
            <a:r>
              <a:rPr lang="en-US" altLang="zh-CN" sz="2100" dirty="0"/>
              <a:t>guessed</a:t>
            </a:r>
            <a:r>
              <a:rPr lang="zh-CN" altLang="en-US" sz="2100" dirty="0"/>
              <a:t>字符串是否合法及是否是一个</a:t>
            </a:r>
            <a:r>
              <a:rPr lang="en-US" altLang="zh-CN" sz="2100" dirty="0"/>
              <a:t>k-</a:t>
            </a:r>
            <a:r>
              <a:rPr lang="zh-CN" altLang="en-US" sz="2100" dirty="0"/>
              <a:t>着色。</a:t>
            </a:r>
            <a:endParaRPr lang="en-US" altLang="zh-CN" sz="2100" dirty="0"/>
          </a:p>
          <a:p>
            <a:pPr>
              <a:lnSpc>
                <a:spcPct val="80000"/>
              </a:lnSpc>
            </a:pPr>
            <a:r>
              <a:rPr lang="zh-CN" altLang="en-US" sz="2100" dirty="0"/>
              <a:t>如果写字符串的时间是</a:t>
            </a:r>
            <a:r>
              <a:rPr lang="en-US" altLang="zh-CN" sz="2100" dirty="0"/>
              <a:t>O(p</a:t>
            </a:r>
            <a:r>
              <a:rPr lang="en-US" altLang="zh-CN" sz="2100" baseline="-25000" dirty="0"/>
              <a:t>1</a:t>
            </a:r>
            <a:r>
              <a:rPr lang="en-US" altLang="zh-CN" sz="2100" dirty="0"/>
              <a:t>(n)),checking</a:t>
            </a:r>
            <a:r>
              <a:rPr lang="zh-CN" altLang="en-US" sz="2100" dirty="0"/>
              <a:t>时间是</a:t>
            </a:r>
            <a:r>
              <a:rPr lang="en-US" altLang="zh-CN" sz="2100" dirty="0"/>
              <a:t>O(p</a:t>
            </a:r>
            <a:r>
              <a:rPr lang="en-US" altLang="zh-CN" sz="2100" baseline="-25000" dirty="0"/>
              <a:t>2</a:t>
            </a:r>
            <a:r>
              <a:rPr lang="en-US" altLang="zh-CN" sz="2100" dirty="0"/>
              <a:t>(n));</a:t>
            </a:r>
            <a:r>
              <a:rPr lang="zh-CN" altLang="en-US" sz="2100" dirty="0"/>
              <a:t>而且</a:t>
            </a:r>
            <a:r>
              <a:rPr lang="en-US" altLang="zh-CN" sz="2100" dirty="0"/>
              <a:t>p</a:t>
            </a:r>
            <a:r>
              <a:rPr lang="en-US" altLang="zh-CN" sz="2100" baseline="-25000" dirty="0"/>
              <a:t>1</a:t>
            </a:r>
            <a:r>
              <a:rPr lang="en-US" altLang="zh-CN" sz="2100" dirty="0"/>
              <a:t>(n), p</a:t>
            </a:r>
            <a:r>
              <a:rPr lang="en-US" altLang="zh-CN" sz="2100" baseline="-25000" dirty="0"/>
              <a:t>2</a:t>
            </a:r>
            <a:r>
              <a:rPr lang="en-US" altLang="zh-CN" sz="2100" dirty="0"/>
              <a:t>(n)</a:t>
            </a:r>
            <a:r>
              <a:rPr lang="zh-CN" altLang="en-US" sz="2100" dirty="0"/>
              <a:t>是</a:t>
            </a:r>
            <a:r>
              <a:rPr lang="en-US" altLang="zh-CN" sz="2100" dirty="0"/>
              <a:t>n</a:t>
            </a:r>
            <a:r>
              <a:rPr lang="zh-CN" altLang="en-US" sz="2100" dirty="0"/>
              <a:t>的多项式</a:t>
            </a:r>
            <a:r>
              <a:rPr lang="en-US" altLang="zh-CN" sz="2100" dirty="0"/>
              <a:t>(</a:t>
            </a:r>
            <a:r>
              <a:rPr lang="zh-CN" altLang="en-US" sz="2100" dirty="0"/>
              <a:t>从而也是输入长度的多项式</a:t>
            </a:r>
            <a:r>
              <a:rPr lang="en-US" altLang="zh-CN" sz="2100" dirty="0"/>
              <a:t>),</a:t>
            </a:r>
            <a:r>
              <a:rPr lang="zh-CN" altLang="en-US" sz="2100" dirty="0"/>
              <a:t>则该不确定算法有多项式时间。</a:t>
            </a:r>
            <a:endParaRPr lang="en-US" altLang="zh-CN" sz="2100" dirty="0"/>
          </a:p>
          <a:p>
            <a:pPr>
              <a:lnSpc>
                <a:spcPct val="80000"/>
              </a:lnSpc>
            </a:pPr>
            <a:r>
              <a:rPr lang="zh-CN" altLang="en-US" sz="2100" dirty="0"/>
              <a:t>如果输入的图能</a:t>
            </a:r>
            <a:r>
              <a:rPr lang="en-US" altLang="zh-CN" sz="2100" dirty="0"/>
              <a:t>k</a:t>
            </a:r>
            <a:r>
              <a:rPr lang="zh-CN" altLang="en-US" sz="2100" dirty="0"/>
              <a:t>着色则不确定算法停机并给出</a:t>
            </a:r>
            <a:r>
              <a:rPr lang="en-US" altLang="zh-CN" sz="2100" dirty="0"/>
              <a:t>yes</a:t>
            </a:r>
            <a:r>
              <a:rPr lang="zh-CN" altLang="en-US" sz="2100" dirty="0"/>
              <a:t>回答。</a:t>
            </a:r>
            <a:endParaRPr lang="en-US" altLang="zh-CN" sz="2100" dirty="0"/>
          </a:p>
          <a:p>
            <a:pPr>
              <a:lnSpc>
                <a:spcPct val="80000"/>
              </a:lnSpc>
            </a:pPr>
            <a:endParaRPr lang="en-US" altLang="zh-CN" sz="2100" dirty="0"/>
          </a:p>
        </p:txBody>
      </p:sp>
      <p:sp>
        <p:nvSpPr>
          <p:cNvPr id="58372" name="Oval 4"/>
          <p:cNvSpPr/>
          <p:nvPr/>
        </p:nvSpPr>
        <p:spPr>
          <a:xfrm>
            <a:off x="7092950" y="1268413"/>
            <a:ext cx="431800" cy="288925"/>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58373" name="Oval 5"/>
          <p:cNvSpPr/>
          <p:nvPr/>
        </p:nvSpPr>
        <p:spPr>
          <a:xfrm>
            <a:off x="6300788" y="3141663"/>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3</a:t>
            </a:r>
          </a:p>
        </p:txBody>
      </p:sp>
      <p:sp>
        <p:nvSpPr>
          <p:cNvPr id="58374" name="Oval 6"/>
          <p:cNvSpPr/>
          <p:nvPr/>
        </p:nvSpPr>
        <p:spPr>
          <a:xfrm>
            <a:off x="7235825" y="1125538"/>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1</a:t>
            </a:r>
          </a:p>
        </p:txBody>
      </p:sp>
      <p:sp>
        <p:nvSpPr>
          <p:cNvPr id="58375" name="Oval 7"/>
          <p:cNvSpPr/>
          <p:nvPr/>
        </p:nvSpPr>
        <p:spPr>
          <a:xfrm>
            <a:off x="6732588" y="2205038"/>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2</a:t>
            </a:r>
          </a:p>
        </p:txBody>
      </p:sp>
      <p:sp>
        <p:nvSpPr>
          <p:cNvPr id="58376" name="Oval 8"/>
          <p:cNvSpPr/>
          <p:nvPr/>
        </p:nvSpPr>
        <p:spPr>
          <a:xfrm>
            <a:off x="7812088" y="2205038"/>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4</a:t>
            </a:r>
          </a:p>
        </p:txBody>
      </p:sp>
      <p:sp>
        <p:nvSpPr>
          <p:cNvPr id="58377" name="Oval 10"/>
          <p:cNvSpPr/>
          <p:nvPr/>
        </p:nvSpPr>
        <p:spPr>
          <a:xfrm>
            <a:off x="8388350" y="3141663"/>
            <a:ext cx="358775" cy="3587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algn="ctr" eaLnBrk="1" hangingPunct="1">
              <a:buClr>
                <a:schemeClr val="folHlink"/>
              </a:buClr>
              <a:buSzPct val="60000"/>
              <a:buFont typeface="Wingdings" panose="05000000000000000000" pitchFamily="2" charset="2"/>
              <a:buNone/>
            </a:pPr>
            <a:r>
              <a:rPr lang="en-US" altLang="zh-CN" sz="2800" dirty="0">
                <a:solidFill>
                  <a:schemeClr val="tx1"/>
                </a:solidFill>
                <a:latin typeface="Tahoma" panose="020B0604030504040204" pitchFamily="34" charset="0"/>
                <a:ea typeface="宋体" panose="02010600030101010101" pitchFamily="2" charset="-122"/>
              </a:rPr>
              <a:t>5</a:t>
            </a:r>
          </a:p>
        </p:txBody>
      </p:sp>
      <p:cxnSp>
        <p:nvCxnSpPr>
          <p:cNvPr id="58378" name="AutoShape 11"/>
          <p:cNvCxnSpPr>
            <a:stCxn id="58374" idx="3"/>
            <a:endCxn id="58375" idx="0"/>
          </p:cNvCxnSpPr>
          <p:nvPr/>
        </p:nvCxnSpPr>
        <p:spPr>
          <a:xfrm flipH="1">
            <a:off x="6911975" y="1431925"/>
            <a:ext cx="376238" cy="773113"/>
          </a:xfrm>
          <a:prstGeom prst="straightConnector1">
            <a:avLst/>
          </a:prstGeom>
          <a:ln w="9525" cap="flat" cmpd="sng">
            <a:solidFill>
              <a:schemeClr val="tx1"/>
            </a:solidFill>
            <a:prstDash val="solid"/>
            <a:headEnd type="none" w="med" len="med"/>
            <a:tailEnd type="none" w="med" len="med"/>
          </a:ln>
        </p:spPr>
      </p:cxnSp>
      <p:cxnSp>
        <p:nvCxnSpPr>
          <p:cNvPr id="58379" name="AutoShape 12"/>
          <p:cNvCxnSpPr>
            <a:stCxn id="58374" idx="5"/>
            <a:endCxn id="58376" idx="0"/>
          </p:cNvCxnSpPr>
          <p:nvPr/>
        </p:nvCxnSpPr>
        <p:spPr>
          <a:xfrm>
            <a:off x="7542213" y="1431925"/>
            <a:ext cx="449262" cy="773113"/>
          </a:xfrm>
          <a:prstGeom prst="straightConnector1">
            <a:avLst/>
          </a:prstGeom>
          <a:ln w="9525" cap="flat" cmpd="sng">
            <a:solidFill>
              <a:schemeClr val="tx1"/>
            </a:solidFill>
            <a:prstDash val="solid"/>
            <a:headEnd type="none" w="med" len="med"/>
            <a:tailEnd type="none" w="med" len="med"/>
          </a:ln>
        </p:spPr>
      </p:cxnSp>
      <p:cxnSp>
        <p:nvCxnSpPr>
          <p:cNvPr id="58380" name="AutoShape 13"/>
          <p:cNvCxnSpPr>
            <a:stCxn id="58375" idx="6"/>
            <a:endCxn id="58376" idx="2"/>
          </p:cNvCxnSpPr>
          <p:nvPr/>
        </p:nvCxnSpPr>
        <p:spPr>
          <a:xfrm>
            <a:off x="7091363" y="2384425"/>
            <a:ext cx="720725" cy="0"/>
          </a:xfrm>
          <a:prstGeom prst="straightConnector1">
            <a:avLst/>
          </a:prstGeom>
          <a:ln w="9525" cap="flat" cmpd="sng">
            <a:solidFill>
              <a:schemeClr val="tx1"/>
            </a:solidFill>
            <a:prstDash val="solid"/>
            <a:headEnd type="none" w="med" len="med"/>
            <a:tailEnd type="none" w="med" len="med"/>
          </a:ln>
        </p:spPr>
      </p:cxnSp>
      <p:cxnSp>
        <p:nvCxnSpPr>
          <p:cNvPr id="58381" name="AutoShape 14"/>
          <p:cNvCxnSpPr>
            <a:stCxn id="58373" idx="6"/>
            <a:endCxn id="58377" idx="2"/>
          </p:cNvCxnSpPr>
          <p:nvPr/>
        </p:nvCxnSpPr>
        <p:spPr>
          <a:xfrm>
            <a:off x="6659563" y="3321050"/>
            <a:ext cx="1728787" cy="0"/>
          </a:xfrm>
          <a:prstGeom prst="straightConnector1">
            <a:avLst/>
          </a:prstGeom>
          <a:ln w="9525" cap="flat" cmpd="sng">
            <a:solidFill>
              <a:schemeClr val="tx1"/>
            </a:solidFill>
            <a:prstDash val="solid"/>
            <a:headEnd type="none" w="med" len="med"/>
            <a:tailEnd type="none" w="med" len="med"/>
          </a:ln>
        </p:spPr>
      </p:cxnSp>
      <p:cxnSp>
        <p:nvCxnSpPr>
          <p:cNvPr id="58382" name="AutoShape 15"/>
          <p:cNvCxnSpPr>
            <a:stCxn id="58375" idx="3"/>
            <a:endCxn id="58373" idx="0"/>
          </p:cNvCxnSpPr>
          <p:nvPr/>
        </p:nvCxnSpPr>
        <p:spPr>
          <a:xfrm flipH="1">
            <a:off x="6480175" y="2511425"/>
            <a:ext cx="304800" cy="630238"/>
          </a:xfrm>
          <a:prstGeom prst="straightConnector1">
            <a:avLst/>
          </a:prstGeom>
          <a:ln w="9525" cap="flat" cmpd="sng">
            <a:solidFill>
              <a:schemeClr val="tx1"/>
            </a:solidFill>
            <a:prstDash val="solid"/>
            <a:headEnd type="none" w="med" len="med"/>
            <a:tailEnd type="none" w="med" len="med"/>
          </a:ln>
        </p:spPr>
      </p:cxnSp>
      <p:cxnSp>
        <p:nvCxnSpPr>
          <p:cNvPr id="58383" name="AutoShape 16"/>
          <p:cNvCxnSpPr>
            <a:stCxn id="58376" idx="5"/>
            <a:endCxn id="58377" idx="0"/>
          </p:cNvCxnSpPr>
          <p:nvPr/>
        </p:nvCxnSpPr>
        <p:spPr>
          <a:xfrm>
            <a:off x="8118475" y="2511425"/>
            <a:ext cx="449263" cy="630238"/>
          </a:xfrm>
          <a:prstGeom prst="straightConnector1">
            <a:avLst/>
          </a:prstGeom>
          <a:ln w="9525" cap="flat" cmpd="sng">
            <a:solidFill>
              <a:schemeClr val="tx1"/>
            </a:solidFill>
            <a:prstDash val="solid"/>
            <a:headEnd type="none" w="med" len="med"/>
            <a:tailEnd type="none" w="med" len="med"/>
          </a:ln>
        </p:spPr>
      </p:cxnSp>
      <p:cxnSp>
        <p:nvCxnSpPr>
          <p:cNvPr id="58384" name="AutoShape 17"/>
          <p:cNvCxnSpPr>
            <a:stCxn id="58373" idx="7"/>
            <a:endCxn id="58376" idx="3"/>
          </p:cNvCxnSpPr>
          <p:nvPr/>
        </p:nvCxnSpPr>
        <p:spPr>
          <a:xfrm flipV="1">
            <a:off x="6607175" y="2511425"/>
            <a:ext cx="1257300" cy="682625"/>
          </a:xfrm>
          <a:prstGeom prst="straightConnector1">
            <a:avLst/>
          </a:prstGeom>
          <a:ln w="9525" cap="flat" cmpd="sng">
            <a:solidFill>
              <a:schemeClr val="tx1"/>
            </a:solidFill>
            <a:prstDash val="solid"/>
            <a:headEnd type="none" w="med" len="med"/>
            <a:tailEnd type="none" w="med" len="med"/>
          </a:ln>
        </p:spPr>
      </p:cxnSp>
      <p:cxnSp>
        <p:nvCxnSpPr>
          <p:cNvPr id="58385" name="AutoShape 18"/>
          <p:cNvCxnSpPr>
            <a:stCxn id="58375" idx="5"/>
            <a:endCxn id="58377" idx="1"/>
          </p:cNvCxnSpPr>
          <p:nvPr/>
        </p:nvCxnSpPr>
        <p:spPr>
          <a:xfrm>
            <a:off x="7038975" y="2511425"/>
            <a:ext cx="1401763" cy="682625"/>
          </a:xfrm>
          <a:prstGeom prst="straightConnector1">
            <a:avLst/>
          </a:prstGeom>
          <a:ln w="9525" cap="flat" cmpd="sng">
            <a:solidFill>
              <a:schemeClr val="tx1"/>
            </a:solidFill>
            <a:prstDash val="solid"/>
            <a:headEnd type="none" w="med" len="med"/>
            <a:tailEnd type="none" w="med" len="med"/>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0419" name="Rectangle 2"/>
          <p:cNvSpPr>
            <a:spLocks noGrp="1"/>
          </p:cNvSpPr>
          <p:nvPr>
            <p:ph type="title"/>
          </p:nvPr>
        </p:nvSpPr>
        <p:spPr>
          <a:ln/>
        </p:spPr>
        <p:txBody>
          <a:bodyPr vert="horz" wrap="square" lIns="91440" tIns="45720" rIns="91440" bIns="45720" anchor="ctr" anchorCtr="0"/>
          <a:lstStyle/>
          <a:p>
            <a:pPr eaLnBrk="1" hangingPunct="1"/>
            <a:r>
              <a:rPr lang="zh-CN" altLang="en-US" dirty="0"/>
              <a:t>例子</a:t>
            </a:r>
            <a:endParaRPr lang="en-US" altLang="zh-CN" dirty="0"/>
          </a:p>
        </p:txBody>
      </p:sp>
      <p:sp>
        <p:nvSpPr>
          <p:cNvPr id="26627" name="Rectangle 3"/>
          <p:cNvSpPr>
            <a:spLocks noGrp="1" noChangeArrowheads="1"/>
          </p:cNvSpPr>
          <p:nvPr>
            <p:ph idx="1"/>
          </p:nvPr>
        </p:nvSpPr>
        <p:spPr>
          <a:xfrm>
            <a:off x="990600" y="1295400"/>
            <a:ext cx="76962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300" b="0" i="0" u="none" strike="noStrike" kern="0" cap="none" spc="0" normalizeH="0" baseline="0" noProof="0" dirty="0">
                <a:ln>
                  <a:noFill/>
                </a:ln>
                <a:solidFill>
                  <a:schemeClr val="accent2"/>
                </a:solidFill>
                <a:effectLst/>
                <a:uLnTx/>
                <a:uFillTx/>
                <a:latin typeface="+mn-lt"/>
                <a:ea typeface="+mn-ea"/>
                <a:cs typeface="+mn-cs"/>
              </a:rPr>
              <a:t>考虑问题</a:t>
            </a:r>
            <a:r>
              <a:rPr kumimoji="0" lang="en-US" altLang="zh-CN" sz="2300" b="0" i="0" u="none" strike="noStrike" kern="0" cap="none" spc="0" normalizeH="0" baseline="0" noProof="0" dirty="0">
                <a:ln>
                  <a:noFill/>
                </a:ln>
                <a:solidFill>
                  <a:schemeClr val="accent2"/>
                </a:solidFill>
                <a:effectLst/>
                <a:uLnTx/>
                <a:uFillTx/>
                <a:latin typeface="+mn-lt"/>
                <a:ea typeface="+mn-ea"/>
                <a:cs typeface="+mn-cs"/>
              </a:rPr>
              <a:t>COLORING</a:t>
            </a:r>
            <a:r>
              <a:rPr kumimoji="0" lang="zh-CN" altLang="en-US" sz="2300" b="0" i="0" u="none" strike="noStrike" kern="0" cap="none" spc="0" normalizeH="0" baseline="0" noProof="0" dirty="0">
                <a:ln>
                  <a:noFill/>
                </a:ln>
                <a:solidFill>
                  <a:schemeClr val="accent2"/>
                </a:solidFill>
                <a:effectLst/>
                <a:uLnTx/>
                <a:uFillTx/>
                <a:latin typeface="+mn-lt"/>
                <a:ea typeface="+mn-ea"/>
                <a:cs typeface="+mn-cs"/>
              </a:rPr>
              <a:t>，我们用两种方法证明这个问题属于</a:t>
            </a:r>
            <a:r>
              <a:rPr kumimoji="0" lang="en-US" altLang="zh-CN" sz="23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300" b="0" i="0" u="none" strike="noStrike" kern="0" cap="none" spc="0" normalizeH="0" baseline="0" noProof="0" dirty="0">
                <a:ln>
                  <a:noFill/>
                </a:ln>
                <a:solidFill>
                  <a:schemeClr val="accent2"/>
                </a:solidFill>
                <a:effectLst/>
                <a:uLnTx/>
                <a:uFillTx/>
                <a:latin typeface="+mn-lt"/>
                <a:ea typeface="+mn-ea"/>
                <a:cs typeface="+mn-cs"/>
              </a:rPr>
              <a:t>类。</a:t>
            </a:r>
            <a:endParaRPr kumimoji="0" lang="en-US" altLang="zh-CN" sz="23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300" b="0" i="0" u="none" strike="noStrike" kern="0" cap="none" spc="0" normalizeH="0" baseline="0" noProof="0" dirty="0">
                <a:ln>
                  <a:noFill/>
                </a:ln>
                <a:solidFill>
                  <a:schemeClr val="accent2"/>
                </a:solidFill>
                <a:effectLst/>
                <a:uLnTx/>
                <a:uFillTx/>
                <a:latin typeface="+mn-lt"/>
                <a:ea typeface="+mn-ea"/>
                <a:cs typeface="+mn-cs"/>
              </a:rPr>
              <a:t>方法</a:t>
            </a:r>
            <a:r>
              <a:rPr kumimoji="0" lang="en-US" altLang="zh-CN" sz="2300" b="0" i="0" u="none" strike="noStrike" kern="0" cap="none" spc="0" normalizeH="0" baseline="0" noProof="0" dirty="0">
                <a:ln>
                  <a:noFill/>
                </a:ln>
                <a:solidFill>
                  <a:schemeClr val="accent2"/>
                </a:solidFill>
                <a:effectLst/>
                <a:uLnTx/>
                <a:uFillTx/>
                <a:latin typeface="+mn-lt"/>
                <a:ea typeface="+mn-ea"/>
                <a:cs typeface="+mn-cs"/>
              </a:rPr>
              <a:t>1:</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设</a:t>
            </a:r>
            <a:r>
              <a:rPr kumimoji="0" lang="en-US" altLang="zh-CN" sz="2200" b="0" i="0" u="none" strike="noStrike" kern="0" cap="none" spc="0" normalizeH="0" baseline="0" noProof="0" dirty="0">
                <a:ln>
                  <a:noFill/>
                </a:ln>
                <a:solidFill>
                  <a:schemeClr val="accent2"/>
                </a:solidFill>
                <a:effectLst/>
                <a:uLnTx/>
                <a:uFillTx/>
                <a:latin typeface="+mn-lt"/>
                <a:ea typeface="+mn-ea"/>
              </a:rPr>
              <a:t>I</a:t>
            </a:r>
            <a:r>
              <a:rPr kumimoji="0" lang="zh-CN" altLang="en-US" sz="2200" b="0" i="0" u="none" strike="noStrike" kern="0" cap="none" spc="0" normalizeH="0" baseline="0" noProof="0" dirty="0">
                <a:ln>
                  <a:noFill/>
                </a:ln>
                <a:solidFill>
                  <a:schemeClr val="accent2"/>
                </a:solidFill>
                <a:effectLst/>
                <a:uLnTx/>
                <a:uFillTx/>
                <a:latin typeface="+mn-lt"/>
                <a:ea typeface="+mn-ea"/>
              </a:rPr>
              <a:t>是</a:t>
            </a:r>
            <a:r>
              <a:rPr kumimoji="0" lang="en-US" altLang="zh-CN" sz="2200" b="0" i="0" u="none" strike="noStrike" kern="0" cap="none" spc="0" normalizeH="0" baseline="0" noProof="0" dirty="0">
                <a:ln>
                  <a:noFill/>
                </a:ln>
                <a:solidFill>
                  <a:schemeClr val="accent2"/>
                </a:solidFill>
                <a:effectLst/>
                <a:uLnTx/>
                <a:uFillTx/>
                <a:latin typeface="+mn-lt"/>
                <a:ea typeface="+mn-ea"/>
              </a:rPr>
              <a:t>COLORING</a:t>
            </a:r>
            <a:r>
              <a:rPr kumimoji="0" lang="zh-CN" altLang="en-US" sz="2200" b="0" i="0" u="none" strike="noStrike" kern="0" cap="none" spc="0" normalizeH="0" baseline="0" noProof="0" dirty="0">
                <a:ln>
                  <a:noFill/>
                </a:ln>
                <a:solidFill>
                  <a:schemeClr val="accent2"/>
                </a:solidFill>
                <a:effectLst/>
                <a:uLnTx/>
                <a:uFillTx/>
                <a:latin typeface="+mn-lt"/>
                <a:ea typeface="+mn-ea"/>
              </a:rPr>
              <a:t>问题的一个实例，</a:t>
            </a:r>
            <a:r>
              <a:rPr kumimoji="0" lang="en-US" altLang="zh-CN" sz="2200" b="0" i="0" u="none" strike="noStrike" kern="0" cap="none" spc="0" normalizeH="0" baseline="0" noProof="0" dirty="0">
                <a:ln>
                  <a:noFill/>
                </a:ln>
                <a:solidFill>
                  <a:schemeClr val="accent2"/>
                </a:solidFill>
                <a:effectLst/>
                <a:uLnTx/>
                <a:uFillTx/>
                <a:latin typeface="+mn-lt"/>
                <a:ea typeface="+mn-ea"/>
              </a:rPr>
              <a:t> s</a:t>
            </a:r>
            <a:r>
              <a:rPr kumimoji="0" lang="zh-CN" altLang="en-US" sz="2200" b="0" i="0" u="none" strike="noStrike" kern="0" cap="none" spc="0" normalizeH="0" baseline="0" noProof="0" dirty="0">
                <a:ln>
                  <a:noFill/>
                </a:ln>
                <a:solidFill>
                  <a:schemeClr val="accent2"/>
                </a:solidFill>
                <a:effectLst/>
                <a:uLnTx/>
                <a:uFillTx/>
                <a:latin typeface="+mn-lt"/>
                <a:ea typeface="+mn-ea"/>
              </a:rPr>
              <a:t>被宣称为</a:t>
            </a:r>
            <a:r>
              <a:rPr kumimoji="0" lang="en-US" altLang="zh-CN" sz="2200" b="0" i="0" u="none" strike="noStrike" kern="0" cap="none" spc="0" normalizeH="0" baseline="0" noProof="0" dirty="0">
                <a:ln>
                  <a:noFill/>
                </a:ln>
                <a:solidFill>
                  <a:schemeClr val="accent2"/>
                </a:solidFill>
                <a:effectLst/>
                <a:uLnTx/>
                <a:uFillTx/>
                <a:latin typeface="+mn-lt"/>
                <a:ea typeface="+mn-ea"/>
              </a:rPr>
              <a:t>I</a:t>
            </a:r>
            <a:r>
              <a:rPr kumimoji="0" lang="zh-CN" altLang="en-US" sz="2200" b="0" i="0" u="none" strike="noStrike" kern="0" cap="none" spc="0" normalizeH="0" baseline="0" noProof="0" dirty="0">
                <a:ln>
                  <a:noFill/>
                </a:ln>
                <a:solidFill>
                  <a:schemeClr val="accent2"/>
                </a:solidFill>
                <a:effectLst/>
                <a:uLnTx/>
                <a:uFillTx/>
                <a:latin typeface="+mn-lt"/>
                <a:ea typeface="+mn-ea"/>
              </a:rPr>
              <a:t>的解。</a:t>
            </a:r>
            <a:endParaRPr kumimoji="0" lang="en-US" altLang="zh-CN" sz="22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容易建立一个确定性算法来验证，是否确实是</a:t>
            </a:r>
            <a:r>
              <a:rPr kumimoji="0" lang="en-US" altLang="zh-CN" sz="2200" b="0" i="0" u="none" strike="noStrike" kern="0" cap="none" spc="0" normalizeH="0" baseline="0" noProof="0" dirty="0">
                <a:ln>
                  <a:noFill/>
                </a:ln>
                <a:solidFill>
                  <a:schemeClr val="accent2"/>
                </a:solidFill>
                <a:effectLst/>
                <a:uLnTx/>
                <a:uFillTx/>
                <a:latin typeface="+mn-lt"/>
                <a:ea typeface="+mn-ea"/>
              </a:rPr>
              <a:t>I</a:t>
            </a:r>
            <a:r>
              <a:rPr kumimoji="0" lang="zh-CN" altLang="en-US" sz="2200" b="0" i="0" u="none" strike="noStrike" kern="0" cap="none" spc="0" normalizeH="0" baseline="0" noProof="0" dirty="0">
                <a:ln>
                  <a:noFill/>
                </a:ln>
                <a:solidFill>
                  <a:schemeClr val="accent2"/>
                </a:solidFill>
                <a:effectLst/>
                <a:uLnTx/>
                <a:uFillTx/>
                <a:latin typeface="+mn-lt"/>
                <a:ea typeface="+mn-ea"/>
              </a:rPr>
              <a:t>的解。</a:t>
            </a:r>
            <a:endParaRPr kumimoji="0" lang="en-US" altLang="zh-CN" sz="22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从</a:t>
            </a:r>
            <a:r>
              <a:rPr kumimoji="0" lang="en-US" altLang="zh-CN" sz="2200" b="0" i="0" u="none" strike="noStrike" kern="0" cap="none" spc="0" normalizeH="0" baseline="0" noProof="0" dirty="0">
                <a:ln>
                  <a:noFill/>
                </a:ln>
                <a:solidFill>
                  <a:schemeClr val="accent2"/>
                </a:solidFill>
                <a:effectLst/>
                <a:uLnTx/>
                <a:uFillTx/>
                <a:latin typeface="+mn-lt"/>
                <a:ea typeface="+mn-ea"/>
              </a:rPr>
              <a:t>NP</a:t>
            </a:r>
            <a:r>
              <a:rPr kumimoji="0" lang="zh-CN" altLang="en-US" sz="2200" b="0" i="0" u="none" strike="noStrike" kern="0" cap="none" spc="0" normalizeH="0" baseline="0" noProof="0" dirty="0">
                <a:ln>
                  <a:noFill/>
                </a:ln>
                <a:solidFill>
                  <a:schemeClr val="accent2"/>
                </a:solidFill>
                <a:effectLst/>
                <a:uLnTx/>
                <a:uFillTx/>
                <a:latin typeface="+mn-lt"/>
                <a:ea typeface="+mn-ea"/>
              </a:rPr>
              <a:t>类的非形式定义可得</a:t>
            </a:r>
            <a:r>
              <a:rPr kumimoji="0" lang="en-US" altLang="zh-CN" sz="2200" b="0" i="0" u="none" strike="noStrike" kern="0" cap="none" spc="0" normalizeH="0" baseline="0" noProof="0" dirty="0">
                <a:ln>
                  <a:noFill/>
                </a:ln>
                <a:solidFill>
                  <a:schemeClr val="accent2"/>
                </a:solidFill>
                <a:effectLst/>
                <a:uLnTx/>
                <a:uFillTx/>
                <a:latin typeface="+mn-lt"/>
                <a:ea typeface="+mn-ea"/>
              </a:rPr>
              <a:t>COLORING</a:t>
            </a:r>
            <a:r>
              <a:rPr kumimoji="0" lang="zh-CN" altLang="en-US" sz="2200" b="0" i="0" u="none" strike="noStrike" kern="0" cap="none" spc="0" normalizeH="0" baseline="0" noProof="0" dirty="0">
                <a:ln>
                  <a:noFill/>
                </a:ln>
                <a:solidFill>
                  <a:schemeClr val="accent2"/>
                </a:solidFill>
                <a:effectLst/>
                <a:uLnTx/>
                <a:uFillTx/>
                <a:latin typeface="+mn-lt"/>
                <a:ea typeface="+mn-ea"/>
              </a:rPr>
              <a:t>问题属于</a:t>
            </a:r>
            <a:r>
              <a:rPr kumimoji="0" lang="en-US" altLang="zh-CN" sz="2200" b="0" i="0" u="none" strike="noStrike" kern="0" cap="none" spc="0" normalizeH="0" baseline="0" noProof="0" dirty="0">
                <a:ln>
                  <a:noFill/>
                </a:ln>
                <a:solidFill>
                  <a:schemeClr val="accent2"/>
                </a:solidFill>
                <a:effectLst/>
                <a:uLnTx/>
                <a:uFillTx/>
                <a:latin typeface="+mn-lt"/>
                <a:ea typeface="+mn-ea"/>
              </a:rPr>
              <a:t>NP</a:t>
            </a:r>
            <a:r>
              <a:rPr kumimoji="0" lang="zh-CN" altLang="en-US" sz="2200" b="0" i="0" u="none" strike="noStrike" kern="0" cap="none" spc="0" normalizeH="0" baseline="0" noProof="0" dirty="0">
                <a:ln>
                  <a:noFill/>
                </a:ln>
                <a:solidFill>
                  <a:schemeClr val="accent2"/>
                </a:solidFill>
                <a:effectLst/>
                <a:uLnTx/>
                <a:uFillTx/>
                <a:latin typeface="+mn-lt"/>
                <a:ea typeface="+mn-ea"/>
              </a:rPr>
              <a:t>类。</a:t>
            </a:r>
            <a:endParaRPr kumimoji="0" lang="en-US" altLang="zh-CN" sz="2200" b="0" i="0" u="none" strike="noStrike" kern="0" cap="none" spc="0" normalizeH="0" baseline="0" noProof="0" dirty="0">
              <a:ln>
                <a:noFill/>
              </a:ln>
              <a:solidFill>
                <a:schemeClr val="accent2"/>
              </a:solidFill>
              <a:effectLst/>
              <a:uLnTx/>
              <a:uFillTx/>
              <a:latin typeface="+mn-lt"/>
              <a:ea typeface="+mn-ea"/>
            </a:endParaRPr>
          </a:p>
        </p:txBody>
      </p:sp>
      <p:pic>
        <p:nvPicPr>
          <p:cNvPr id="60421" name="Picture 4" descr="example"/>
          <p:cNvPicPr>
            <a:picLocks noChangeAspect="1"/>
          </p:cNvPicPr>
          <p:nvPr/>
        </p:nvPicPr>
        <p:blipFill>
          <a:blip r:embed="rId3"/>
          <a:stretch>
            <a:fillRect/>
          </a:stretch>
        </p:blipFill>
        <p:spPr>
          <a:xfrm>
            <a:off x="990600" y="1295400"/>
            <a:ext cx="342900" cy="457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7" dur="500"/>
                                        <p:tgtEl>
                                          <p:spTgt spid="266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627">
                                            <p:txEl>
                                              <p:pRg st="2" end="2"/>
                                            </p:txEl>
                                          </p:spTgt>
                                        </p:tgtEl>
                                        <p:attrNameLst>
                                          <p:attrName>style.visibility</p:attrName>
                                        </p:attrNameLst>
                                      </p:cBhvr>
                                      <p:to>
                                        <p:strVal val="visible"/>
                                      </p:to>
                                    </p:set>
                                    <p:anim calcmode="lin" valueType="num">
                                      <p:cBhvr additive="base">
                                        <p:cTn id="12"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6627">
                                            <p:txEl>
                                              <p:pRg st="3" end="3"/>
                                            </p:txEl>
                                          </p:spTgt>
                                        </p:tgtEl>
                                        <p:attrNameLst>
                                          <p:attrName>style.visibility</p:attrName>
                                        </p:attrNameLst>
                                      </p:cBhvr>
                                      <p:to>
                                        <p:strVal val="visible"/>
                                      </p:to>
                                    </p:set>
                                    <p:anim calcmode="lin" valueType="num">
                                      <p:cBhvr additive="base">
                                        <p:cTn id="18"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6627">
                                            <p:txEl>
                                              <p:pRg st="4" end="4"/>
                                            </p:txEl>
                                          </p:spTgt>
                                        </p:tgtEl>
                                        <p:attrNameLst>
                                          <p:attrName>style.visibility</p:attrName>
                                        </p:attrNameLst>
                                      </p:cBhvr>
                                      <p:to>
                                        <p:strVal val="visible"/>
                                      </p:to>
                                    </p:set>
                                    <p:anim calcmode="lin" valueType="num">
                                      <p:cBhvr additive="base">
                                        <p:cTn id="24"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2467" name="Rectangle 2"/>
          <p:cNvSpPr>
            <a:spLocks noGrp="1"/>
          </p:cNvSpPr>
          <p:nvPr>
            <p:ph type="title"/>
          </p:nvPr>
        </p:nvSpPr>
        <p:spPr>
          <a:ln/>
        </p:spPr>
        <p:txBody>
          <a:bodyPr vert="horz" wrap="square" lIns="91440" tIns="45720" rIns="91440" bIns="45720" anchor="ctr" anchorCtr="0"/>
          <a:lstStyle/>
          <a:p>
            <a:pPr eaLnBrk="1" hangingPunct="1"/>
            <a:r>
              <a:rPr lang="zh-CN" altLang="en-US" sz="3600" dirty="0"/>
              <a:t>例子</a:t>
            </a:r>
            <a:endParaRPr lang="en-US" altLang="zh-CN" sz="3600" dirty="0"/>
          </a:p>
        </p:txBody>
      </p:sp>
      <p:sp>
        <p:nvSpPr>
          <p:cNvPr id="140291" name="Rectangle 3"/>
          <p:cNvSpPr>
            <a:spLocks noGrp="1" noChangeArrowheads="1"/>
          </p:cNvSpPr>
          <p:nvPr>
            <p:ph idx="1"/>
          </p:nvPr>
        </p:nvSpPr>
        <p:spPr>
          <a:xfrm>
            <a:off x="900113" y="1268413"/>
            <a:ext cx="7786688" cy="4979988"/>
          </a:xfrm>
        </p:spPr>
        <p:txBody>
          <a:bodyPr vert="horz" wrap="square" lIns="91440" tIns="45720" rIns="91440" bIns="45720" numCol="1" anchor="t" anchorCtr="0" compatLnSpc="1"/>
          <a:lstStyle/>
          <a:p>
            <a:pPr eaLnBrk="1" hangingPunct="1">
              <a:buNone/>
              <a:defRPr/>
            </a:pPr>
            <a:r>
              <a:rPr lang="zh-CN" altLang="en-US" sz="2300" dirty="0"/>
              <a:t>方法</a:t>
            </a:r>
            <a:r>
              <a:rPr lang="en-US" altLang="zh-CN" sz="2300" dirty="0"/>
              <a:t>2:</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300" b="0" i="0" u="none" strike="noStrike" kern="0" cap="none" spc="0" normalizeH="0" baseline="0" noProof="0" dirty="0">
                <a:ln>
                  <a:noFill/>
                </a:ln>
                <a:solidFill>
                  <a:schemeClr val="accent2"/>
                </a:solidFill>
                <a:effectLst/>
                <a:uLnTx/>
                <a:uFillTx/>
                <a:latin typeface="+mn-lt"/>
                <a:ea typeface="+mn-ea"/>
                <a:cs typeface="+mn-cs"/>
              </a:rPr>
              <a:t>建立不确定性算法</a:t>
            </a:r>
            <a:endParaRPr kumimoji="0" lang="en-US" altLang="zh-CN" sz="23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当图</a:t>
            </a:r>
            <a:r>
              <a:rPr kumimoji="0" lang="en-US" altLang="zh-CN" sz="2000" b="0" i="0" u="none" strike="noStrike" kern="0" cap="none" spc="0" normalizeH="0" baseline="0" noProof="0" dirty="0">
                <a:ln>
                  <a:noFill/>
                </a:ln>
                <a:solidFill>
                  <a:schemeClr val="accent2"/>
                </a:solidFill>
                <a:effectLst/>
                <a:uLnTx/>
                <a:uFillTx/>
                <a:latin typeface="+mn-lt"/>
                <a:ea typeface="+mn-ea"/>
              </a:rPr>
              <a:t>G</a:t>
            </a:r>
            <a:r>
              <a:rPr kumimoji="0" lang="zh-CN" altLang="en-US" sz="2000" b="0" i="0" u="none" strike="noStrike" kern="0" cap="none" spc="0" normalizeH="0" baseline="0" noProof="0" dirty="0">
                <a:ln>
                  <a:noFill/>
                </a:ln>
                <a:solidFill>
                  <a:schemeClr val="accent2"/>
                </a:solidFill>
                <a:effectLst/>
                <a:uLnTx/>
                <a:uFillTx/>
                <a:latin typeface="+mn-lt"/>
                <a:ea typeface="+mn-ea"/>
              </a:rPr>
              <a:t>用编码表示后，一个算法</a:t>
            </a:r>
            <a:r>
              <a:rPr kumimoji="0" lang="en-US" altLang="zh-CN" sz="2000" b="0" i="0" u="none" strike="noStrike" kern="0" cap="none" spc="0" normalizeH="0" baseline="0" noProof="0" dirty="0">
                <a:ln>
                  <a:noFill/>
                </a:ln>
                <a:solidFill>
                  <a:schemeClr val="accent2"/>
                </a:solidFill>
                <a:effectLst/>
                <a:uLnTx/>
                <a:uFillTx/>
                <a:latin typeface="+mn-lt"/>
                <a:ea typeface="+mn-ea"/>
              </a:rPr>
              <a:t>A</a:t>
            </a:r>
            <a:r>
              <a:rPr kumimoji="0" lang="zh-CN" altLang="en-US" sz="2000" b="0" i="0" u="none" strike="noStrike" kern="0" cap="none" spc="0" normalizeH="0" baseline="0" noProof="0" dirty="0">
                <a:ln>
                  <a:noFill/>
                </a:ln>
                <a:solidFill>
                  <a:schemeClr val="accent2"/>
                </a:solidFill>
                <a:effectLst/>
                <a:uLnTx/>
                <a:uFillTx/>
                <a:latin typeface="+mn-lt"/>
                <a:ea typeface="+mn-ea"/>
              </a:rPr>
              <a:t>可以很容易地构建并运作如下</a:t>
            </a:r>
            <a:endParaRPr kumimoji="0" lang="en-US" altLang="zh-CN" sz="20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首先通过对顶点集合产生一个任意的颜色指派以“猜测”一个解</a:t>
            </a:r>
            <a:r>
              <a:rPr kumimoji="0" lang="en-US" altLang="zh-CN" sz="2000" b="0" i="0" u="none" strike="noStrike" kern="0" cap="none" spc="0" normalizeH="0" baseline="0" noProof="0" dirty="0">
                <a:ln>
                  <a:noFill/>
                </a:ln>
                <a:solidFill>
                  <a:schemeClr val="accent2"/>
                </a:solidFill>
                <a:effectLst/>
                <a:uLnTx/>
                <a:uFillTx/>
                <a:latin typeface="+mn-lt"/>
                <a:ea typeface="+mn-ea"/>
              </a:rPr>
              <a:t>First</a:t>
            </a:r>
            <a:r>
              <a:rPr kumimoji="0" lang="zh-CN" altLang="en-US" sz="2000" b="0" i="0" u="none" strike="noStrike" kern="0" cap="none" spc="0" normalizeH="0" baseline="0" noProof="0" dirty="0">
                <a:ln>
                  <a:noFill/>
                </a:ln>
                <a:solidFill>
                  <a:schemeClr val="accent2"/>
                </a:solidFill>
                <a:effectLst/>
                <a:uLnTx/>
                <a:uFillTx/>
                <a:latin typeface="+mn-lt"/>
                <a:ea typeface="+mn-ea"/>
              </a:rPr>
              <a:t>。</a:t>
            </a:r>
            <a:endParaRPr kumimoji="0" lang="en-US" altLang="zh-CN" sz="20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接着，</a:t>
            </a:r>
            <a:r>
              <a:rPr kumimoji="0" lang="en-US" altLang="zh-CN" sz="2000" b="0" i="0" u="none" strike="noStrike" kern="0" cap="none" spc="0" normalizeH="0" baseline="0" noProof="0" dirty="0">
                <a:ln>
                  <a:noFill/>
                </a:ln>
                <a:solidFill>
                  <a:schemeClr val="accent2"/>
                </a:solidFill>
                <a:effectLst/>
                <a:uLnTx/>
                <a:uFillTx/>
                <a:latin typeface="+mn-lt"/>
                <a:ea typeface="+mn-ea"/>
              </a:rPr>
              <a:t>A</a:t>
            </a:r>
            <a:r>
              <a:rPr kumimoji="0" lang="zh-CN" altLang="en-US" sz="2000" b="0" i="0" u="none" strike="noStrike" kern="0" cap="none" spc="0" normalizeH="0" baseline="0" noProof="0" dirty="0">
                <a:ln>
                  <a:noFill/>
                </a:ln>
                <a:solidFill>
                  <a:schemeClr val="accent2"/>
                </a:solidFill>
                <a:effectLst/>
                <a:uLnTx/>
                <a:uFillTx/>
                <a:latin typeface="+mn-lt"/>
                <a:ea typeface="+mn-ea"/>
              </a:rPr>
              <a:t>验证这个指派是否是有效的指派，如果它是一个有效的指派，那么</a:t>
            </a:r>
            <a:r>
              <a:rPr kumimoji="0" lang="en-US" altLang="zh-CN" sz="2000" b="0" i="0" u="none" strike="noStrike" kern="0" cap="none" spc="0" normalizeH="0" baseline="0" noProof="0" dirty="0">
                <a:ln>
                  <a:noFill/>
                </a:ln>
                <a:solidFill>
                  <a:schemeClr val="accent2"/>
                </a:solidFill>
                <a:effectLst/>
                <a:uLnTx/>
                <a:uFillTx/>
                <a:latin typeface="+mn-lt"/>
                <a:ea typeface="+mn-ea"/>
              </a:rPr>
              <a:t>A</a:t>
            </a:r>
            <a:r>
              <a:rPr kumimoji="0" lang="zh-CN" altLang="en-US" sz="2000" b="0" i="0" u="none" strike="noStrike" kern="0" cap="none" spc="0" normalizeH="0" baseline="0" noProof="0" dirty="0">
                <a:ln>
                  <a:noFill/>
                </a:ln>
                <a:solidFill>
                  <a:schemeClr val="accent2"/>
                </a:solidFill>
                <a:effectLst/>
                <a:uLnTx/>
                <a:uFillTx/>
                <a:latin typeface="+mn-lt"/>
                <a:ea typeface="+mn-ea"/>
              </a:rPr>
              <a:t>停下并且回答</a:t>
            </a:r>
            <a:r>
              <a:rPr kumimoji="0" lang="en-US" altLang="zh-CN" sz="2000" b="0" i="0" u="none" strike="noStrike" kern="0" cap="none" spc="0" normalizeH="0" baseline="0" noProof="0" dirty="0">
                <a:ln>
                  <a:noFill/>
                </a:ln>
                <a:solidFill>
                  <a:schemeClr val="accent2"/>
                </a:solidFill>
                <a:effectLst/>
                <a:uLnTx/>
                <a:uFillTx/>
                <a:latin typeface="+mn-lt"/>
                <a:ea typeface="+mn-ea"/>
              </a:rPr>
              <a:t>yes</a:t>
            </a:r>
            <a:r>
              <a:rPr kumimoji="0" lang="zh-CN" altLang="en-US" sz="2000" b="0" i="0" u="none" strike="noStrike" kern="0" cap="none" spc="0" normalizeH="0" baseline="0" noProof="0" dirty="0">
                <a:ln>
                  <a:noFill/>
                </a:ln>
                <a:solidFill>
                  <a:schemeClr val="accent2"/>
                </a:solidFill>
                <a:effectLst/>
                <a:uLnTx/>
                <a:uFillTx/>
                <a:latin typeface="+mn-lt"/>
                <a:ea typeface="+mn-ea"/>
              </a:rPr>
              <a:t>，否则它停下并回答</a:t>
            </a:r>
            <a:r>
              <a:rPr kumimoji="0" lang="en-US" altLang="zh-CN" sz="2000" b="0" i="0" u="none" strike="noStrike" kern="0" cap="none" spc="0" normalizeH="0" baseline="0" noProof="0" dirty="0">
                <a:ln>
                  <a:noFill/>
                </a:ln>
                <a:solidFill>
                  <a:schemeClr val="accent2"/>
                </a:solidFill>
                <a:effectLst/>
                <a:uLnTx/>
                <a:uFillTx/>
                <a:latin typeface="+mn-lt"/>
                <a:ea typeface="+mn-ea"/>
              </a:rPr>
              <a:t>no</a:t>
            </a:r>
            <a:r>
              <a:rPr kumimoji="0" lang="zh-CN" altLang="en-US" sz="2000" b="0" i="0" u="none" strike="noStrike" kern="0" cap="none" spc="0" normalizeH="0" baseline="0" noProof="0" dirty="0">
                <a:ln>
                  <a:noFill/>
                </a:ln>
                <a:solidFill>
                  <a:schemeClr val="accent2"/>
                </a:solidFill>
                <a:effectLst/>
                <a:uLnTx/>
                <a:uFillTx/>
                <a:latin typeface="+mn-lt"/>
                <a:ea typeface="+mn-ea"/>
              </a:rPr>
              <a:t>。</a:t>
            </a:r>
            <a:endParaRPr kumimoji="0" lang="en-US" altLang="zh-CN" sz="2000" b="0" i="0" u="none" strike="noStrike" kern="0" cap="none" spc="0" normalizeH="0" baseline="0" noProof="0" dirty="0">
              <a:ln>
                <a:noFill/>
              </a:ln>
              <a:solidFill>
                <a:schemeClr val="accent2"/>
              </a:solidFill>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请注意，根据不确定性算法的定义，仅当对问题的实例回答是</a:t>
            </a:r>
            <a:r>
              <a:rPr kumimoji="0" lang="en-US" altLang="zh-CN" sz="2000" b="0" i="0" u="none" strike="noStrike" kern="0" cap="none" spc="0" normalizeH="0" baseline="0" noProof="0" dirty="0">
                <a:ln>
                  <a:noFill/>
                </a:ln>
                <a:solidFill>
                  <a:schemeClr val="accent2"/>
                </a:solidFill>
                <a:effectLst/>
                <a:uLnTx/>
                <a:uFillTx/>
                <a:latin typeface="+mn-lt"/>
                <a:ea typeface="+mn-ea"/>
              </a:rPr>
              <a:t>yes</a:t>
            </a:r>
            <a:r>
              <a:rPr kumimoji="0" lang="zh-CN" altLang="en-US" sz="2000" b="0" i="0" u="none" strike="noStrike" kern="0" cap="none" spc="0" normalizeH="0" baseline="0" noProof="0" dirty="0">
                <a:ln>
                  <a:noFill/>
                </a:ln>
                <a:solidFill>
                  <a:schemeClr val="accent2"/>
                </a:solidFill>
                <a:effectLst/>
                <a:uLnTx/>
                <a:uFillTx/>
                <a:latin typeface="+mn-lt"/>
                <a:ea typeface="+mn-ea"/>
              </a:rPr>
              <a:t>时，</a:t>
            </a:r>
            <a:r>
              <a:rPr kumimoji="0" lang="en-US" altLang="zh-CN" sz="2000" b="0" i="0" u="none" strike="noStrike" kern="0" cap="none" spc="0" normalizeH="0" baseline="0" noProof="0" dirty="0">
                <a:ln>
                  <a:noFill/>
                </a:ln>
                <a:solidFill>
                  <a:schemeClr val="accent2"/>
                </a:solidFill>
                <a:effectLst/>
                <a:uLnTx/>
                <a:uFillTx/>
                <a:latin typeface="+mn-lt"/>
                <a:ea typeface="+mn-ea"/>
              </a:rPr>
              <a:t>A</a:t>
            </a:r>
            <a:r>
              <a:rPr kumimoji="0" lang="zh-CN" altLang="en-US" sz="2000" b="0" i="0" u="none" strike="noStrike" kern="0" cap="none" spc="0" normalizeH="0" baseline="0" noProof="0" dirty="0">
                <a:ln>
                  <a:noFill/>
                </a:ln>
                <a:solidFill>
                  <a:schemeClr val="accent2"/>
                </a:solidFill>
                <a:effectLst/>
                <a:uLnTx/>
                <a:uFillTx/>
                <a:latin typeface="+mn-lt"/>
                <a:ea typeface="+mn-ea"/>
              </a:rPr>
              <a:t>回答</a:t>
            </a:r>
            <a:r>
              <a:rPr kumimoji="0" lang="en-US" altLang="zh-CN" sz="2000" b="0" i="0" u="none" strike="noStrike" kern="0" cap="none" spc="0" normalizeH="0" baseline="0" noProof="0" dirty="0">
                <a:ln>
                  <a:noFill/>
                </a:ln>
                <a:solidFill>
                  <a:schemeClr val="accent2"/>
                </a:solidFill>
                <a:effectLst/>
                <a:uLnTx/>
                <a:uFillTx/>
                <a:latin typeface="+mn-lt"/>
                <a:ea typeface="+mn-ea"/>
              </a:rPr>
              <a:t>yes</a:t>
            </a:r>
            <a:r>
              <a:rPr kumimoji="0" lang="zh-CN" altLang="en-US" sz="2000" b="0" i="0" u="none" strike="noStrike" kern="0" cap="none" spc="0" normalizeH="0" baseline="0" noProof="0" dirty="0">
                <a:ln>
                  <a:noFill/>
                </a:ln>
                <a:solidFill>
                  <a:schemeClr val="accent2"/>
                </a:solidFill>
                <a:effectLst/>
                <a:uLnTx/>
                <a:uFillTx/>
                <a:latin typeface="+mn-lt"/>
                <a:ea typeface="+mn-ea"/>
              </a:rPr>
              <a:t>。</a:t>
            </a:r>
            <a:endParaRPr kumimoji="0" lang="en-US" altLang="zh-CN" sz="2000" b="0" i="0" u="none" strike="noStrike" kern="0" cap="none" spc="0" normalizeH="0" baseline="0" noProof="0" dirty="0">
              <a:ln>
                <a:noFill/>
              </a:ln>
              <a:solidFill>
                <a:schemeClr val="accent2"/>
              </a:solidFill>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其次是关于需要的运行时间，</a:t>
            </a:r>
            <a:r>
              <a:rPr kumimoji="0" lang="en-US" altLang="zh-CN" sz="2000" b="0" i="0" u="none" strike="noStrike" kern="0" cap="none" spc="0" normalizeH="0" baseline="0" noProof="0" dirty="0">
                <a:ln>
                  <a:noFill/>
                </a:ln>
                <a:solidFill>
                  <a:schemeClr val="accent2"/>
                </a:solidFill>
                <a:effectLst/>
                <a:uLnTx/>
                <a:uFillTx/>
                <a:latin typeface="+mn-lt"/>
                <a:ea typeface="+mn-ea"/>
              </a:rPr>
              <a:t>A</a:t>
            </a:r>
            <a:r>
              <a:rPr kumimoji="0" lang="zh-CN" altLang="en-US" sz="2000" b="0" i="0" u="none" strike="noStrike" kern="0" cap="none" spc="0" normalizeH="0" baseline="0" noProof="0" dirty="0">
                <a:ln>
                  <a:noFill/>
                </a:ln>
                <a:solidFill>
                  <a:schemeClr val="accent2"/>
                </a:solidFill>
                <a:effectLst/>
                <a:uLnTx/>
                <a:uFillTx/>
                <a:latin typeface="+mn-lt"/>
                <a:ea typeface="+mn-ea"/>
              </a:rPr>
              <a:t>在猜测和验证两个阶段总共花费不多于多项式时间。</a:t>
            </a:r>
            <a:endParaRPr kumimoji="0" lang="en-US" altLang="zh-CN" sz="2000" b="0" i="0" u="none" strike="noStrike" kern="0" cap="none" spc="0" normalizeH="0" baseline="0" noProof="0" dirty="0">
              <a:ln>
                <a:noFill/>
              </a:ln>
              <a:solidFill>
                <a:schemeClr val="accent2"/>
              </a:solidFill>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 calcmode="lin" valueType="num">
                                      <p:cBhvr additive="base">
                                        <p:cTn id="7" dur="500" fill="hold"/>
                                        <p:tgtEl>
                                          <p:spTgt spid="140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291">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40291">
                                            <p:txEl>
                                              <p:pRg st="0" end="0"/>
                                            </p:txEl>
                                          </p:spTgt>
                                        </p:tgtEl>
                                        <p:attrNameLst>
                                          <p:attrName>ppt_c</p:attrName>
                                        </p:attrNameLst>
                                      </p:cBhvr>
                                      <p:to>
                                        <a:srgbClr val="FF0000"/>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40291">
                                            <p:txEl>
                                              <p:pRg st="1" end="1"/>
                                            </p:txEl>
                                          </p:spTgt>
                                        </p:tgtEl>
                                        <p:attrNameLst>
                                          <p:attrName>style.visibility</p:attrName>
                                        </p:attrNameLst>
                                      </p:cBhvr>
                                      <p:to>
                                        <p:strVal val="visible"/>
                                      </p:to>
                                    </p:set>
                                    <p:anim calcmode="lin" valueType="num">
                                      <p:cBhvr additive="base">
                                        <p:cTn id="13" dur="500" fill="hold"/>
                                        <p:tgtEl>
                                          <p:spTgt spid="1402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291">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140291">
                                            <p:txEl>
                                              <p:pRg st="1" end="1"/>
                                            </p:txEl>
                                          </p:spTgt>
                                        </p:tgtEl>
                                        <p:attrNameLst>
                                          <p:attrName>ppt_c</p:attrName>
                                        </p:attrNameLst>
                                      </p:cBhvr>
                                      <p:to>
                                        <a:srgbClr val="FF0000"/>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0291">
                                            <p:txEl>
                                              <p:pRg st="2" end="2"/>
                                            </p:txEl>
                                          </p:spTgt>
                                        </p:tgtEl>
                                        <p:attrNameLst>
                                          <p:attrName>style.visibility</p:attrName>
                                        </p:attrNameLst>
                                      </p:cBhvr>
                                      <p:to>
                                        <p:strVal val="visible"/>
                                      </p:to>
                                    </p:set>
                                    <p:anim calcmode="lin" valueType="num">
                                      <p:cBhvr additive="base">
                                        <p:cTn id="19" dur="500" fill="hold"/>
                                        <p:tgtEl>
                                          <p:spTgt spid="1402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0291">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140291">
                                            <p:txEl>
                                              <p:pRg st="2" end="2"/>
                                            </p:txEl>
                                          </p:spTgt>
                                        </p:tgtEl>
                                        <p:attrNameLst>
                                          <p:attrName>ppt_c</p:attrName>
                                        </p:attrNameLst>
                                      </p:cBhvr>
                                      <p:to>
                                        <a:schemeClr val="bg2"/>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40291">
                                            <p:txEl>
                                              <p:pRg st="3" end="3"/>
                                            </p:txEl>
                                          </p:spTgt>
                                        </p:tgtEl>
                                        <p:attrNameLst>
                                          <p:attrName>style.visibility</p:attrName>
                                        </p:attrNameLst>
                                      </p:cBhvr>
                                      <p:to>
                                        <p:strVal val="visible"/>
                                      </p:to>
                                    </p:set>
                                    <p:anim calcmode="lin" valueType="num">
                                      <p:cBhvr additive="base">
                                        <p:cTn id="25" dur="500" fill="hold"/>
                                        <p:tgtEl>
                                          <p:spTgt spid="1402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0291">
                                            <p:txEl>
                                              <p:pRg st="3" end="3"/>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140291">
                                            <p:txEl>
                                              <p:pRg st="3" end="3"/>
                                            </p:txEl>
                                          </p:spTgt>
                                        </p:tgtEl>
                                        <p:attrNameLst>
                                          <p:attrName>ppt_c</p:attrName>
                                        </p:attrNameLst>
                                      </p:cBhvr>
                                      <p:to>
                                        <a:schemeClr val="bg2"/>
                                      </p:to>
                                    </p:animClr>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40291">
                                            <p:txEl>
                                              <p:pRg st="4" end="4"/>
                                            </p:txEl>
                                          </p:spTgt>
                                        </p:tgtEl>
                                        <p:attrNameLst>
                                          <p:attrName>style.visibility</p:attrName>
                                        </p:attrNameLst>
                                      </p:cBhvr>
                                      <p:to>
                                        <p:strVal val="visible"/>
                                      </p:to>
                                    </p:set>
                                    <p:anim calcmode="lin" valueType="num">
                                      <p:cBhvr additive="base">
                                        <p:cTn id="31" dur="500" fill="hold"/>
                                        <p:tgtEl>
                                          <p:spTgt spid="14029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0291">
                                            <p:txEl>
                                              <p:pRg st="4" end="4"/>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140291">
                                            <p:txEl>
                                              <p:pRg st="4" end="4"/>
                                            </p:txEl>
                                          </p:spTgt>
                                        </p:tgtEl>
                                        <p:attrNameLst>
                                          <p:attrName>ppt_c</p:attrName>
                                        </p:attrNameLst>
                                      </p:cBhvr>
                                      <p:to>
                                        <a:schemeClr val="bg2"/>
                                      </p:to>
                                    </p:animClr>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0291">
                                            <p:txEl>
                                              <p:pRg st="5" end="5"/>
                                            </p:txEl>
                                          </p:spTgt>
                                        </p:tgtEl>
                                        <p:attrNameLst>
                                          <p:attrName>style.visibility</p:attrName>
                                        </p:attrNameLst>
                                      </p:cBhvr>
                                      <p:to>
                                        <p:strVal val="visible"/>
                                      </p:to>
                                    </p:set>
                                    <p:anim calcmode="lin" valueType="num">
                                      <p:cBhvr additive="base">
                                        <p:cTn id="37" dur="500" fill="hold"/>
                                        <p:tgtEl>
                                          <p:spTgt spid="14029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0291">
                                            <p:txEl>
                                              <p:pRg st="5" end="5"/>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40291">
                                            <p:txEl>
                                              <p:pRg st="5" end="5"/>
                                            </p:txEl>
                                          </p:spTgt>
                                        </p:tgtEl>
                                        <p:attrNameLst>
                                          <p:attrName>ppt_c</p:attrName>
                                        </p:attrNameLst>
                                      </p:cBhvr>
                                      <p:to>
                                        <a:schemeClr val="folHlink"/>
                                      </p:to>
                                    </p:animClr>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0291">
                                            <p:txEl>
                                              <p:pRg st="6" end="6"/>
                                            </p:txEl>
                                          </p:spTgt>
                                        </p:tgtEl>
                                        <p:attrNameLst>
                                          <p:attrName>style.visibility</p:attrName>
                                        </p:attrNameLst>
                                      </p:cBhvr>
                                      <p:to>
                                        <p:strVal val="visible"/>
                                      </p:to>
                                    </p:set>
                                    <p:anim calcmode="lin" valueType="num">
                                      <p:cBhvr additive="base">
                                        <p:cTn id="43" dur="500" fill="hold"/>
                                        <p:tgtEl>
                                          <p:spTgt spid="14029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0291">
                                            <p:txEl>
                                              <p:pRg st="6" end="6"/>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40291">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685800" y="228600"/>
            <a:ext cx="8229600" cy="1363663"/>
          </a:xfrm>
          <a:ln/>
        </p:spPr>
        <p:txBody>
          <a:bodyPr vert="horz" wrap="square" lIns="91440" tIns="45720" rIns="91440" bIns="45720" anchor="ctr" anchorCtr="0"/>
          <a:lstStyle/>
          <a:p>
            <a:pPr eaLnBrk="1" hangingPunct="1"/>
            <a:r>
              <a:rPr lang="en-US" altLang="zh-CN" dirty="0"/>
              <a:t>7.2</a:t>
            </a:r>
            <a:r>
              <a:rPr lang="zh-CN" altLang="en-US" dirty="0"/>
              <a:t>.3 P类和NP类的关系、COOK定理</a:t>
            </a:r>
          </a:p>
        </p:txBody>
      </p:sp>
      <p:sp>
        <p:nvSpPr>
          <p:cNvPr id="335875" name="Rectangle 3"/>
          <p:cNvSpPr>
            <a:spLocks noGrp="1"/>
          </p:cNvSpPr>
          <p:nvPr>
            <p:ph idx="1"/>
          </p:nvPr>
        </p:nvSpPr>
        <p:spPr>
          <a:xfrm>
            <a:off x="609600" y="1295400"/>
            <a:ext cx="8229600" cy="4419600"/>
          </a:xfrm>
          <a:ln/>
        </p:spPr>
        <p:txBody>
          <a:bodyPr vert="horz" wrap="square" lIns="91440" tIns="45720" rIns="91440" bIns="45720" anchor="t" anchorCtr="0"/>
          <a:lstStyle/>
          <a:p>
            <a:pPr>
              <a:lnSpc>
                <a:spcPct val="110000"/>
              </a:lnSpc>
              <a:buNone/>
            </a:pPr>
            <a:r>
              <a:rPr lang="en-US" altLang="zh-CN" sz="2400" dirty="0"/>
              <a:t>1) </a:t>
            </a:r>
            <a:r>
              <a:rPr lang="zh-CN" altLang="en-US" sz="2400" dirty="0"/>
              <a:t>若问题∏属于</a:t>
            </a:r>
            <a:r>
              <a:rPr lang="en-US" altLang="zh-CN" sz="2400" dirty="0"/>
              <a:t>P</a:t>
            </a:r>
            <a:r>
              <a:rPr lang="zh-CN" altLang="en-US" sz="2400" dirty="0"/>
              <a:t>类，则存在一个多项式时间的确定性算法，对它进行判定或求解；显然，也可以构造一个多项式时间的非确定性算法，来验证解的正确性，因此，问题也属</a:t>
            </a:r>
            <a:r>
              <a:rPr lang="en-US" altLang="zh-CN" sz="2400" dirty="0"/>
              <a:t>NP</a:t>
            </a:r>
            <a:r>
              <a:rPr lang="zh-CN" altLang="en-US" sz="2400" dirty="0"/>
              <a:t>类。因此，显然有</a:t>
            </a:r>
          </a:p>
          <a:p>
            <a:pPr algn="ctr">
              <a:lnSpc>
                <a:spcPct val="110000"/>
              </a:lnSpc>
              <a:buNone/>
            </a:pPr>
            <a:r>
              <a:rPr lang="zh-CN" altLang="en-US" sz="2400" dirty="0">
                <a:solidFill>
                  <a:srgbClr val="FF0000"/>
                </a:solidFill>
              </a:rPr>
              <a:t>    </a:t>
            </a:r>
            <a:r>
              <a:rPr lang="en-US" altLang="zh-CN" sz="2400" dirty="0">
                <a:solidFill>
                  <a:srgbClr val="FF0000"/>
                </a:solidFill>
              </a:rPr>
              <a:t>P</a:t>
            </a:r>
            <a:r>
              <a:rPr lang="en-US" altLang="zh-CN" sz="2400" dirty="0">
                <a:solidFill>
                  <a:srgbClr val="FF0000"/>
                </a:solidFill>
                <a:sym typeface="Symbol" panose="05050102010706020507" pitchFamily="18" charset="2"/>
              </a:rPr>
              <a:t></a:t>
            </a:r>
            <a:r>
              <a:rPr lang="en-US" altLang="zh-CN" sz="2400" dirty="0">
                <a:solidFill>
                  <a:srgbClr val="FF0000"/>
                </a:solidFill>
              </a:rPr>
              <a:t>NP</a:t>
            </a:r>
          </a:p>
          <a:p>
            <a:pPr>
              <a:lnSpc>
                <a:spcPct val="110000"/>
              </a:lnSpc>
              <a:buNone/>
            </a:pPr>
            <a:r>
              <a:rPr lang="en-US" altLang="zh-CN" sz="2400" dirty="0"/>
              <a:t>2) </a:t>
            </a:r>
            <a:r>
              <a:rPr lang="zh-CN" altLang="en-US" sz="2400" dirty="0"/>
              <a:t>若问题∏属于</a:t>
            </a:r>
            <a:r>
              <a:rPr lang="en-US" altLang="zh-CN" sz="2400" dirty="0"/>
              <a:t>NP</a:t>
            </a:r>
            <a:r>
              <a:rPr lang="zh-CN" altLang="en-US" sz="2400" dirty="0"/>
              <a:t>类，则存在一个多项式时间的非确定性算法，来猜测并验证它的解；但不一定能构造一个多项式时间的确定性算法，来对它进行求解或判定。</a:t>
            </a:r>
          </a:p>
          <a:p>
            <a:pPr lvl="1">
              <a:lnSpc>
                <a:spcPct val="110000"/>
              </a:lnSpc>
              <a:buFont typeface="Wingdings" panose="05000000000000000000" pitchFamily="2" charset="2"/>
              <a:buChar char="Ø"/>
            </a:pPr>
            <a:r>
              <a:rPr lang="zh-CN" altLang="en-US" dirty="0"/>
              <a:t>  </a:t>
            </a:r>
            <a:r>
              <a:rPr lang="zh-CN" altLang="en-US" sz="1800" dirty="0"/>
              <a:t>因此，人们</a:t>
            </a:r>
            <a:r>
              <a:rPr lang="zh-CN" altLang="en-US" sz="1800" dirty="0">
                <a:solidFill>
                  <a:srgbClr val="FF0000"/>
                </a:solidFill>
              </a:rPr>
              <a:t>猜测</a:t>
            </a:r>
            <a:r>
              <a:rPr lang="en-US" altLang="zh-CN" sz="1800" dirty="0">
                <a:solidFill>
                  <a:srgbClr val="FF0000"/>
                </a:solidFill>
              </a:rPr>
              <a:t>P ≠ NP</a:t>
            </a:r>
            <a:r>
              <a:rPr lang="zh-CN" altLang="en-US" sz="1800" dirty="0"/>
              <a:t>，但是否成立，至今未得到证明。</a:t>
            </a:r>
            <a:endParaRPr lang="en-US" altLang="zh-CN" sz="1800" dirty="0"/>
          </a:p>
          <a:p>
            <a:pPr lvl="1">
              <a:lnSpc>
                <a:spcPct val="110000"/>
              </a:lnSpc>
              <a:buFont typeface="Wingdings" panose="05000000000000000000" pitchFamily="2" charset="2"/>
              <a:buChar char="Ø"/>
            </a:pPr>
            <a:r>
              <a:rPr lang="en-US" altLang="zh-CN" sz="1800" b="1" dirty="0"/>
              <a:t>P</a:t>
            </a:r>
            <a:r>
              <a:rPr lang="en-US" altLang="zh-CN" sz="1800" dirty="0"/>
              <a:t>=</a:t>
            </a:r>
            <a:r>
              <a:rPr lang="en-US" altLang="zh-CN" sz="1800" b="1" dirty="0"/>
              <a:t>NP</a:t>
            </a:r>
            <a:r>
              <a:rPr lang="en-US" altLang="zh-CN" sz="1800" dirty="0"/>
              <a:t>?</a:t>
            </a:r>
            <a:r>
              <a:rPr lang="zh-CN" altLang="en-US" sz="1800" dirty="0"/>
              <a:t>是计算机科学中最大的问题之一</a:t>
            </a:r>
          </a:p>
          <a:p>
            <a:pPr lvl="1">
              <a:lnSpc>
                <a:spcPct val="110000"/>
              </a:lnSpc>
              <a:buFont typeface="Wingdings" panose="05000000000000000000" pitchFamily="2" charset="2"/>
              <a:buChar char="Ø"/>
            </a:pPr>
            <a:endParaRPr lang="zh-CN" altLang="en-US" sz="1800" dirty="0"/>
          </a:p>
        </p:txBody>
      </p:sp>
      <p:sp>
        <p:nvSpPr>
          <p:cNvPr id="6349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35875">
                                            <p:txEl>
                                              <p:pRg st="0" end="0"/>
                                            </p:txEl>
                                          </p:spTgt>
                                        </p:tgtEl>
                                        <p:attrNameLst>
                                          <p:attrName>style.visibility</p:attrName>
                                        </p:attrNameLst>
                                      </p:cBhvr>
                                      <p:to>
                                        <p:strVal val="visible"/>
                                      </p:to>
                                    </p:set>
                                    <p:anim to="" calcmode="lin" valueType="num">
                                      <p:cBhvr>
                                        <p:cTn id="7" dur="1" fill="hold"/>
                                        <p:tgtEl>
                                          <p:spTgt spid="335875">
                                            <p:txEl>
                                              <p:pRg st="0" end="0"/>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335875">
                                            <p:txEl>
                                              <p:pRg st="1" end="1"/>
                                            </p:txEl>
                                          </p:spTgt>
                                        </p:tgtEl>
                                        <p:attrNameLst>
                                          <p:attrName>style.visibility</p:attrName>
                                        </p:attrNameLst>
                                      </p:cBhvr>
                                      <p:to>
                                        <p:strVal val="visible"/>
                                      </p:to>
                                    </p:set>
                                    <p:anim calcmode="lin" valueType="num">
                                      <p:cBhvr>
                                        <p:cTn id="12" dur="1000" fill="hold"/>
                                        <p:tgtEl>
                                          <p:spTgt spid="335875">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335875">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33587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33587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24" presetClass="entr" presetSubtype="0" fill="hold" nodeType="clickEffect">
                                  <p:stCondLst>
                                    <p:cond delay="0"/>
                                  </p:stCondLst>
                                  <p:childTnLst>
                                    <p:set>
                                      <p:cBhvr>
                                        <p:cTn id="19" dur="1" fill="hold">
                                          <p:stCondLst>
                                            <p:cond delay="0"/>
                                          </p:stCondLst>
                                        </p:cTn>
                                        <p:tgtEl>
                                          <p:spTgt spid="335875">
                                            <p:txEl>
                                              <p:pRg st="2" end="2"/>
                                            </p:txEl>
                                          </p:spTgt>
                                        </p:tgtEl>
                                        <p:attrNameLst>
                                          <p:attrName>style.visibility</p:attrName>
                                        </p:attrNameLst>
                                      </p:cBhvr>
                                      <p:to>
                                        <p:strVal val="visible"/>
                                      </p:to>
                                    </p:set>
                                    <p:anim to="" calcmode="lin" valueType="num">
                                      <p:cBhvr>
                                        <p:cTn id="20" dur="1" fill="hold"/>
                                        <p:tgtEl>
                                          <p:spTgt spid="335875">
                                            <p:txEl>
                                              <p:pRg st="2" end="2"/>
                                            </p:txEl>
                                          </p:spTgt>
                                        </p:tgtEl>
                                        <p:attrNameLst>
                                          <p:attrName>style.visibility</p:attrName>
                                        </p:attrNameLst>
                                      </p:cBhvr>
                                    </p:anim>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nodeType="clickEffect">
                                  <p:stCondLst>
                                    <p:cond delay="0"/>
                                  </p:stCondLst>
                                  <p:childTnLst>
                                    <p:set>
                                      <p:cBhvr>
                                        <p:cTn id="24" dur="1" fill="hold">
                                          <p:stCondLst>
                                            <p:cond delay="0"/>
                                          </p:stCondLst>
                                        </p:cTn>
                                        <p:tgtEl>
                                          <p:spTgt spid="335875">
                                            <p:txEl>
                                              <p:pRg st="3" end="3"/>
                                            </p:txEl>
                                          </p:spTgt>
                                        </p:tgtEl>
                                        <p:attrNameLst>
                                          <p:attrName>style.visibility</p:attrName>
                                        </p:attrNameLst>
                                      </p:cBhvr>
                                      <p:to>
                                        <p:strVal val="visible"/>
                                      </p:to>
                                    </p:set>
                                    <p:anim to="" calcmode="lin" valueType="num">
                                      <p:cBhvr>
                                        <p:cTn id="25" dur="1" fill="hold"/>
                                        <p:tgtEl>
                                          <p:spTgt spid="335875">
                                            <p:txEl>
                                              <p:pRg st="3" end="3"/>
                                            </p:txEl>
                                          </p:spTgt>
                                        </p:tgtEl>
                                        <p:attrNameLst>
                                          <p:attrName>style.visibility</p:attrName>
                                        </p:attrNameLst>
                                      </p:cBhvr>
                                    </p:anim>
                                  </p:childTnLst>
                                </p:cTn>
                              </p:par>
                            </p:childTnLst>
                          </p:cTn>
                        </p:par>
                      </p:childTnLst>
                    </p:cTn>
                  </p:par>
                  <p:par>
                    <p:cTn id="26" fill="hold">
                      <p:stCondLst>
                        <p:cond delay="indefinite"/>
                      </p:stCondLst>
                      <p:childTnLst>
                        <p:par>
                          <p:cTn id="27" fill="hold">
                            <p:stCondLst>
                              <p:cond delay="0"/>
                            </p:stCondLst>
                            <p:childTnLst>
                              <p:par>
                                <p:cTn id="28" presetID="24" presetClass="entr" presetSubtype="0" fill="hold" nodeType="clickEffect">
                                  <p:stCondLst>
                                    <p:cond delay="0"/>
                                  </p:stCondLst>
                                  <p:childTnLst>
                                    <p:set>
                                      <p:cBhvr>
                                        <p:cTn id="29" dur="1" fill="hold">
                                          <p:stCondLst>
                                            <p:cond delay="0"/>
                                          </p:stCondLst>
                                        </p:cTn>
                                        <p:tgtEl>
                                          <p:spTgt spid="335875">
                                            <p:txEl>
                                              <p:pRg st="4" end="4"/>
                                            </p:txEl>
                                          </p:spTgt>
                                        </p:tgtEl>
                                        <p:attrNameLst>
                                          <p:attrName>style.visibility</p:attrName>
                                        </p:attrNameLst>
                                      </p:cBhvr>
                                      <p:to>
                                        <p:strVal val="visible"/>
                                      </p:to>
                                    </p:set>
                                    <p:anim to="" calcmode="lin" valueType="num">
                                      <p:cBhvr>
                                        <p:cTn id="30" dur="1" fill="hold"/>
                                        <p:tgtEl>
                                          <p:spTgt spid="335875">
                                            <p:txEl>
                                              <p:pRg st="4" end="4"/>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ln/>
        </p:spPr>
        <p:txBody>
          <a:bodyPr vert="horz" wrap="square" lIns="91440" tIns="45720" rIns="91440" bIns="45720" anchor="ctr" anchorCtr="0"/>
          <a:lstStyle/>
          <a:p>
            <a:r>
              <a:rPr lang="zh-CN" altLang="en-US" dirty="0"/>
              <a:t>世界七大数学难题</a:t>
            </a:r>
            <a:r>
              <a:rPr lang="en-US" altLang="zh-CN" dirty="0"/>
              <a:t>----NP</a:t>
            </a:r>
            <a:r>
              <a:rPr lang="zh-CN" altLang="en-US" dirty="0"/>
              <a:t>完全问题</a:t>
            </a:r>
          </a:p>
        </p:txBody>
      </p:sp>
      <p:sp>
        <p:nvSpPr>
          <p:cNvPr id="64515" name="内容占位符 2"/>
          <p:cNvSpPr>
            <a:spLocks noGrp="1"/>
          </p:cNvSpPr>
          <p:nvPr>
            <p:ph idx="1"/>
          </p:nvPr>
        </p:nvSpPr>
        <p:spPr>
          <a:ln/>
        </p:spPr>
        <p:txBody>
          <a:bodyPr vert="horz" wrap="square" lIns="91440" tIns="45720" rIns="91440" bIns="45720" anchor="t" anchorCtr="0"/>
          <a:lstStyle/>
          <a:p>
            <a:pPr>
              <a:buNone/>
            </a:pPr>
            <a:r>
              <a:rPr lang="zh-CN" altLang="en-US" sz="3200" dirty="0"/>
              <a:t>例</a:t>
            </a:r>
            <a:r>
              <a:rPr lang="en-US" altLang="zh-CN" sz="3200" dirty="0"/>
              <a:t>1</a:t>
            </a:r>
            <a:r>
              <a:rPr lang="zh-CN" altLang="en-US" sz="3200" dirty="0"/>
              <a:t>：</a:t>
            </a:r>
            <a:endParaRPr lang="en-US" altLang="zh-CN" sz="3200" dirty="0"/>
          </a:p>
          <a:p>
            <a:r>
              <a:rPr lang="zh-CN" altLang="en-US" dirty="0"/>
              <a:t>在一个周六的晚上，你参加了一个盛大的晚会。由于感到局促不安，你想知道这一大厅中是否有你已经认识的人。宴会的主人向你提议说，你一定认识那位正在甜点盘附近角落的女士罗丝。不费一秒钟，你就能向那里扫视，并且发现宴会的主人是正确的。然而，如果没有这样的暗示，你就必须环顾整个大厅，一个个地审视每一个人，看是否有你认识的人。</a:t>
            </a:r>
          </a:p>
          <a:p>
            <a:endParaRPr lang="zh-CN" altLang="en-US" dirty="0"/>
          </a:p>
        </p:txBody>
      </p:sp>
      <p:sp>
        <p:nvSpPr>
          <p:cNvPr id="64516"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ln/>
        </p:spPr>
        <p:txBody>
          <a:bodyPr vert="horz" wrap="square" lIns="91440" tIns="45720" rIns="91440" bIns="45720" anchor="ctr" anchorCtr="0"/>
          <a:lstStyle/>
          <a:p>
            <a:endParaRPr lang="zh-CN" altLang="en-US" dirty="0"/>
          </a:p>
        </p:txBody>
      </p:sp>
      <p:sp>
        <p:nvSpPr>
          <p:cNvPr id="65539" name="内容占位符 2"/>
          <p:cNvSpPr>
            <a:spLocks noGrp="1"/>
          </p:cNvSpPr>
          <p:nvPr>
            <p:ph idx="1"/>
          </p:nvPr>
        </p:nvSpPr>
        <p:spPr>
          <a:ln/>
        </p:spPr>
        <p:txBody>
          <a:bodyPr vert="horz" wrap="square" lIns="91440" tIns="45720" rIns="91440" bIns="45720" anchor="t" anchorCtr="0"/>
          <a:lstStyle/>
          <a:p>
            <a:pPr>
              <a:buNone/>
            </a:pPr>
            <a:r>
              <a:rPr lang="zh-CN" altLang="en-US" sz="3200" dirty="0"/>
              <a:t>例</a:t>
            </a:r>
            <a:r>
              <a:rPr lang="en-US" altLang="zh-CN" sz="3200" dirty="0"/>
              <a:t>2</a:t>
            </a:r>
            <a:r>
              <a:rPr lang="zh-CN" altLang="en-US" sz="3200" dirty="0"/>
              <a:t>：</a:t>
            </a:r>
            <a:endParaRPr lang="en-US" altLang="zh-CN" sz="3200" dirty="0"/>
          </a:p>
          <a:p>
            <a:r>
              <a:rPr lang="zh-CN" altLang="en-US" dirty="0"/>
              <a:t>如果某人告诉你，数</a:t>
            </a:r>
            <a:r>
              <a:rPr lang="en-US" altLang="zh-CN" dirty="0"/>
              <a:t>13717421</a:t>
            </a:r>
            <a:r>
              <a:rPr lang="zh-CN" altLang="en-US" dirty="0"/>
              <a:t>可以写成两个较小的数的乘积，你可能不知道是否应该相信他，但是如果他告诉你它可以分解为</a:t>
            </a:r>
            <a:r>
              <a:rPr lang="en-US" altLang="zh-CN" dirty="0"/>
              <a:t>3607</a:t>
            </a:r>
            <a:r>
              <a:rPr lang="zh-CN" altLang="en-US" dirty="0"/>
              <a:t>乘上</a:t>
            </a:r>
            <a:r>
              <a:rPr lang="en-US" altLang="zh-CN" dirty="0"/>
              <a:t>3803</a:t>
            </a:r>
            <a:r>
              <a:rPr lang="zh-CN" altLang="en-US" dirty="0"/>
              <a:t>，那么你就可以用一个袖珍计算器容易验证这是对的。</a:t>
            </a:r>
            <a:endParaRPr lang="en-US" altLang="zh-CN" dirty="0"/>
          </a:p>
          <a:p>
            <a:endParaRPr lang="en-US" altLang="zh-CN" dirty="0"/>
          </a:p>
          <a:p>
            <a:r>
              <a:rPr lang="zh-CN" altLang="en-US" dirty="0">
                <a:solidFill>
                  <a:srgbClr val="FF0000"/>
                </a:solidFill>
              </a:rPr>
              <a:t>生成问题的一个解通常比验证一个给定的解时间花费要多得多。</a:t>
            </a:r>
            <a:endParaRPr lang="en-US" altLang="zh-CN" dirty="0">
              <a:solidFill>
                <a:srgbClr val="FF0000"/>
              </a:solidFill>
            </a:endParaRPr>
          </a:p>
          <a:p>
            <a:endParaRPr lang="zh-CN" altLang="en-US" dirty="0"/>
          </a:p>
          <a:p>
            <a:endParaRPr lang="zh-CN" altLang="en-US" dirty="0"/>
          </a:p>
        </p:txBody>
      </p:sp>
      <p:sp>
        <p:nvSpPr>
          <p:cNvPr id="65540"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ln/>
        </p:spPr>
        <p:txBody>
          <a:bodyPr vert="horz" wrap="square" lIns="91440" tIns="45720" rIns="91440" bIns="45720" anchor="ctr" anchorCtr="0"/>
          <a:lstStyle/>
          <a:p>
            <a:r>
              <a:rPr lang="en-US" altLang="zh-CN" dirty="0"/>
              <a:t>NP=P</a:t>
            </a:r>
            <a:r>
              <a:rPr lang="zh-CN" altLang="en-US" dirty="0"/>
              <a:t>？的猜想</a:t>
            </a:r>
          </a:p>
        </p:txBody>
      </p:sp>
      <p:sp>
        <p:nvSpPr>
          <p:cNvPr id="66563" name="内容占位符 2"/>
          <p:cNvSpPr>
            <a:spLocks noGrp="1"/>
          </p:cNvSpPr>
          <p:nvPr>
            <p:ph idx="1"/>
          </p:nvPr>
        </p:nvSpPr>
        <p:spPr>
          <a:ln/>
        </p:spPr>
        <p:txBody>
          <a:bodyPr vert="horz" wrap="square" lIns="91440" tIns="45720" rIns="91440" bIns="45720" anchor="t" anchorCtr="0"/>
          <a:lstStyle/>
          <a:p>
            <a:r>
              <a:rPr lang="zh-CN" altLang="en-US" sz="2400" dirty="0"/>
              <a:t>人们发现，所有的完全多项式非确定性问题，都可以转换为一类叫做满足性问题的逻辑运算问题。既然这类问题的所有可能答案，都可以在多项式时间内计算，人们于是就猜想，是否这类问题，存在一个确定性算法，可以在多项式时间内，直接算出或是搜寻出正确的答案呢？这就是著名的</a:t>
            </a:r>
            <a:r>
              <a:rPr lang="en-US" altLang="zh-CN" sz="2400" dirty="0"/>
              <a:t>NP=P</a:t>
            </a:r>
            <a:r>
              <a:rPr lang="zh-CN" altLang="en-US" sz="2400" dirty="0"/>
              <a:t>？的猜想。</a:t>
            </a:r>
            <a:endParaRPr lang="en-US" altLang="zh-CN" sz="2400" dirty="0"/>
          </a:p>
          <a:p>
            <a:r>
              <a:rPr lang="zh-CN" altLang="en-US" sz="2400" dirty="0"/>
              <a:t>不管我们编写程序是否灵巧，判定一个答案是可以很快利用内部知识来验证，还是没有这样的提示而需要花费大量时间来求解，被看作逻辑和计算机科学中最突出的问题之一。它是斯蒂文</a:t>
            </a:r>
            <a:r>
              <a:rPr lang="en-US" altLang="zh-CN" sz="2400" dirty="0"/>
              <a:t>·</a:t>
            </a:r>
            <a:r>
              <a:rPr lang="zh-CN" altLang="en-US" sz="2400" dirty="0"/>
              <a:t>考克于</a:t>
            </a:r>
            <a:r>
              <a:rPr lang="en-US" altLang="zh-CN" sz="2400" dirty="0"/>
              <a:t>1971</a:t>
            </a:r>
            <a:r>
              <a:rPr lang="zh-CN" altLang="en-US" sz="2400" dirty="0"/>
              <a:t>年陈述的。</a:t>
            </a:r>
          </a:p>
          <a:p>
            <a:endParaRPr lang="zh-CN" altLang="en-US" dirty="0"/>
          </a:p>
        </p:txBody>
      </p:sp>
      <p:sp>
        <p:nvSpPr>
          <p:cNvPr id="6656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a:ln/>
        </p:spPr>
        <p:txBody>
          <a:bodyPr vert="horz" wrap="square" lIns="91440" tIns="45720" rIns="91440" bIns="45720" anchor="ctr" anchorCtr="0"/>
          <a:lstStyle/>
          <a:p>
            <a:r>
              <a:rPr lang="zh-CN" altLang="en-US" dirty="0"/>
              <a:t>可满足性问题</a:t>
            </a:r>
            <a:endParaRPr lang="zh-CN" altLang="en-US" b="1" dirty="0"/>
          </a:p>
        </p:txBody>
      </p:sp>
      <p:sp>
        <p:nvSpPr>
          <p:cNvPr id="79875" name="Rectangle 3"/>
          <p:cNvSpPr>
            <a:spLocks noGrp="1"/>
          </p:cNvSpPr>
          <p:nvPr>
            <p:ph type="body" sz="half" idx="1"/>
          </p:nvPr>
        </p:nvSpPr>
        <p:spPr>
          <a:xfrm>
            <a:off x="533400" y="1295400"/>
            <a:ext cx="8305800" cy="4525963"/>
          </a:xfrm>
          <a:ln/>
        </p:spPr>
        <p:txBody>
          <a:bodyPr vert="horz" wrap="square" lIns="91440" tIns="45720" rIns="91440" bIns="45720" anchor="t" anchorCtr="0"/>
          <a:lstStyle/>
          <a:p>
            <a:pPr>
              <a:lnSpc>
                <a:spcPct val="120000"/>
              </a:lnSpc>
              <a:buClrTx/>
              <a:buSzTx/>
              <a:buFontTx/>
            </a:pPr>
            <a:r>
              <a:rPr lang="zh-CN" altLang="en-US" sz="2400" dirty="0">
                <a:solidFill>
                  <a:srgbClr val="FF0000"/>
                </a:solidFill>
              </a:rPr>
              <a:t>可满足性问题</a:t>
            </a:r>
            <a:r>
              <a:rPr lang="zh-CN" altLang="en-US" sz="2400" dirty="0"/>
              <a:t>即</a:t>
            </a:r>
            <a:r>
              <a:rPr lang="zh-CN" altLang="en-US" sz="2400" dirty="0">
                <a:solidFill>
                  <a:srgbClr val="FF0000"/>
                </a:solidFill>
              </a:rPr>
              <a:t>合取范式</a:t>
            </a:r>
            <a:r>
              <a:rPr lang="zh-CN" altLang="en-US" sz="2400" dirty="0"/>
              <a:t>的可满足性问题，来源于许多实际的逻辑推理的应用。合取范式形如</a:t>
            </a:r>
            <a:r>
              <a:rPr lang="en-US" altLang="zh-CN" sz="2400" dirty="0"/>
              <a:t>A</a:t>
            </a:r>
            <a:r>
              <a:rPr lang="en-US" altLang="zh-CN" sz="2400" baseline="-25000" dirty="0"/>
              <a:t>1</a:t>
            </a:r>
            <a:r>
              <a:rPr lang="en-US" altLang="zh-CN" sz="2400" dirty="0">
                <a:sym typeface="Symbol" panose="05050102010706020507" pitchFamily="18" charset="2"/>
              </a:rPr>
              <a:t></a:t>
            </a:r>
            <a:r>
              <a:rPr lang="en-US" altLang="zh-CN" sz="2400" dirty="0"/>
              <a:t>A</a:t>
            </a:r>
            <a:r>
              <a:rPr lang="en-US" altLang="zh-CN" sz="2400" baseline="-25000" dirty="0"/>
              <a:t>2</a:t>
            </a:r>
            <a:r>
              <a:rPr lang="en-US" altLang="zh-CN" sz="2400" dirty="0">
                <a:sym typeface="Symbol" panose="05050102010706020507" pitchFamily="18" charset="2"/>
              </a:rPr>
              <a:t></a:t>
            </a:r>
            <a:r>
              <a:rPr lang="en-US" altLang="zh-CN" sz="2400" dirty="0"/>
              <a:t>...</a:t>
            </a:r>
            <a:r>
              <a:rPr lang="en-US" altLang="zh-CN" sz="2400" dirty="0">
                <a:sym typeface="Symbol" panose="05050102010706020507" pitchFamily="18" charset="2"/>
              </a:rPr>
              <a:t></a:t>
            </a:r>
            <a:r>
              <a:rPr lang="en-US" altLang="zh-CN" sz="2400" dirty="0"/>
              <a:t>A</a:t>
            </a:r>
            <a:r>
              <a:rPr lang="en-US" altLang="zh-CN" sz="2400" baseline="-25000" dirty="0"/>
              <a:t>n</a:t>
            </a:r>
            <a:r>
              <a:rPr lang="zh-CN" altLang="en-US" sz="2400" dirty="0"/>
              <a:t>，其中</a:t>
            </a:r>
            <a:r>
              <a:rPr lang="zh-CN" altLang="en-US" sz="2400" dirty="0">
                <a:solidFill>
                  <a:srgbClr val="FF0000"/>
                </a:solidFill>
              </a:rPr>
              <a:t>子句</a:t>
            </a:r>
            <a:r>
              <a:rPr lang="en-US" altLang="zh-CN" sz="2400" dirty="0"/>
              <a:t>A</a:t>
            </a:r>
            <a:r>
              <a:rPr lang="en-US" altLang="zh-CN" sz="2400" baseline="-25000" dirty="0"/>
              <a:t>i</a:t>
            </a:r>
            <a:r>
              <a:rPr lang="en-US" altLang="zh-CN" sz="2400" dirty="0"/>
              <a:t> (1≤i≤n)</a:t>
            </a:r>
            <a:r>
              <a:rPr lang="zh-CN" altLang="en-US" sz="2400" dirty="0"/>
              <a:t>形如：</a:t>
            </a:r>
            <a:r>
              <a:rPr lang="en-US" altLang="zh-CN" sz="2400" dirty="0"/>
              <a:t>a</a:t>
            </a:r>
            <a:r>
              <a:rPr lang="en-US" altLang="zh-CN" sz="2400" baseline="-25000" dirty="0"/>
              <a:t>1</a:t>
            </a:r>
            <a:r>
              <a:rPr lang="en-US" altLang="zh-CN" sz="2400" dirty="0">
                <a:sym typeface="Symbol" panose="05050102010706020507" pitchFamily="18" charset="2"/>
              </a:rPr>
              <a:t></a:t>
            </a:r>
            <a:r>
              <a:rPr lang="en-US" altLang="zh-CN" sz="2400" dirty="0"/>
              <a:t>a</a:t>
            </a:r>
            <a:r>
              <a:rPr lang="en-US" altLang="zh-CN" sz="2400" baseline="-25000" dirty="0"/>
              <a:t>2</a:t>
            </a:r>
            <a:r>
              <a:rPr lang="en-US" altLang="zh-CN" sz="2400" dirty="0">
                <a:sym typeface="Symbol" panose="05050102010706020507" pitchFamily="18" charset="2"/>
              </a:rPr>
              <a:t></a:t>
            </a:r>
            <a:r>
              <a:rPr lang="en-US" altLang="zh-CN" sz="2400" dirty="0"/>
              <a:t>...</a:t>
            </a:r>
            <a:r>
              <a:rPr lang="en-US" altLang="zh-CN" sz="2400" dirty="0">
                <a:sym typeface="Symbol" panose="05050102010706020507" pitchFamily="18" charset="2"/>
              </a:rPr>
              <a:t></a:t>
            </a:r>
            <a:r>
              <a:rPr lang="en-US" altLang="zh-CN" sz="2400" dirty="0"/>
              <a:t>a</a:t>
            </a:r>
            <a:r>
              <a:rPr lang="en-US" altLang="zh-CN" sz="2400" baseline="-25000" dirty="0"/>
              <a:t>k</a:t>
            </a:r>
            <a:r>
              <a:rPr lang="en-US" altLang="zh-CN" sz="2400" dirty="0"/>
              <a:t>, </a:t>
            </a:r>
            <a:r>
              <a:rPr lang="zh-CN" altLang="en-US" sz="2400" dirty="0"/>
              <a:t>其中</a:t>
            </a:r>
            <a:r>
              <a:rPr lang="en-US" altLang="zh-CN" sz="2400" dirty="0"/>
              <a:t>a</a:t>
            </a:r>
            <a:r>
              <a:rPr lang="en-US" altLang="zh-CN" sz="2400" baseline="-25000" dirty="0"/>
              <a:t>j</a:t>
            </a:r>
            <a:r>
              <a:rPr lang="zh-CN" altLang="en-US" sz="2400" dirty="0"/>
              <a:t>称为</a:t>
            </a:r>
            <a:r>
              <a:rPr lang="zh-CN" altLang="en-US" sz="2400" dirty="0">
                <a:solidFill>
                  <a:srgbClr val="FF0000"/>
                </a:solidFill>
              </a:rPr>
              <a:t>文字</a:t>
            </a:r>
            <a:r>
              <a:rPr lang="zh-CN" altLang="en-US" sz="2400" dirty="0"/>
              <a:t>，为布尔变量或它的否定。一个子句是文字的析取。</a:t>
            </a:r>
            <a:endParaRPr lang="en-US" altLang="zh-CN" sz="2400" dirty="0"/>
          </a:p>
          <a:p>
            <a:pPr>
              <a:lnSpc>
                <a:spcPct val="120000"/>
              </a:lnSpc>
              <a:buClrTx/>
              <a:buSzTx/>
              <a:buFontTx/>
            </a:pPr>
            <a:r>
              <a:rPr lang="en-US" altLang="zh-CN" sz="2400" dirty="0"/>
              <a:t>SAT</a:t>
            </a:r>
            <a:r>
              <a:rPr lang="zh-CN" altLang="en-US" sz="2400" dirty="0"/>
              <a:t>问题是指：是否存在一组对所有布尔变量的赋值，使得整个合取范式为真</a:t>
            </a:r>
            <a:r>
              <a:rPr lang="en-US" altLang="zh-CN" sz="2400" dirty="0"/>
              <a:t>? </a:t>
            </a:r>
            <a:r>
              <a:rPr lang="zh-CN" altLang="en-US" sz="2400" dirty="0"/>
              <a:t>例如</a:t>
            </a:r>
          </a:p>
          <a:p>
            <a:pPr>
              <a:lnSpc>
                <a:spcPct val="120000"/>
              </a:lnSpc>
              <a:buClrTx/>
              <a:buSzTx/>
              <a:buFontTx/>
              <a:buNone/>
            </a:pPr>
            <a:endParaRPr lang="zh-CN" altLang="en-US" sz="2400" dirty="0"/>
          </a:p>
          <a:p>
            <a:pPr>
              <a:lnSpc>
                <a:spcPct val="120000"/>
              </a:lnSpc>
              <a:buClrTx/>
              <a:buSzTx/>
              <a:buFontTx/>
              <a:buNone/>
            </a:pPr>
            <a:r>
              <a:rPr lang="zh-CN" altLang="en-US" sz="2400" dirty="0"/>
              <a:t>     当</a:t>
            </a:r>
            <a:r>
              <a:rPr lang="en-US" altLang="zh-CN" sz="2400" dirty="0"/>
              <a:t>x</a:t>
            </a:r>
            <a:r>
              <a:rPr lang="en-US" altLang="zh-CN" sz="2400" baseline="-25000" dirty="0"/>
              <a:t>1</a:t>
            </a:r>
            <a:r>
              <a:rPr lang="zh-CN" altLang="en-US" sz="2400" dirty="0"/>
              <a:t>和</a:t>
            </a:r>
            <a:r>
              <a:rPr lang="en-US" altLang="zh-CN" sz="2400" dirty="0"/>
              <a:t>x</a:t>
            </a:r>
            <a:r>
              <a:rPr lang="en-US" altLang="zh-CN" sz="2400" baseline="-25000" dirty="0"/>
              <a:t>3</a:t>
            </a:r>
            <a:r>
              <a:rPr lang="zh-CN" altLang="en-US" sz="2400" dirty="0"/>
              <a:t>都为真、其余文字任意赋值时，</a:t>
            </a:r>
            <a:r>
              <a:rPr lang="en-US" altLang="zh-CN" sz="2400" dirty="0"/>
              <a:t>f</a:t>
            </a:r>
            <a:r>
              <a:rPr lang="zh-CN" altLang="en-US" sz="2400" dirty="0"/>
              <a:t>值为真。</a:t>
            </a:r>
          </a:p>
        </p:txBody>
      </p:sp>
      <p:graphicFrame>
        <p:nvGraphicFramePr>
          <p:cNvPr id="79876" name="Object 2"/>
          <p:cNvGraphicFramePr>
            <a:graphicFrameLocks noGrp="1" noChangeAspect="1"/>
          </p:cNvGraphicFramePr>
          <p:nvPr>
            <p:ph sz="half" idx="2"/>
          </p:nvPr>
        </p:nvGraphicFramePr>
        <p:xfrm>
          <a:off x="1905000" y="4038600"/>
          <a:ext cx="5334000" cy="419100"/>
        </p:xfrm>
        <a:graphic>
          <a:graphicData uri="http://schemas.openxmlformats.org/presentationml/2006/ole">
            <mc:AlternateContent xmlns:mc="http://schemas.openxmlformats.org/markup-compatibility/2006">
              <mc:Choice xmlns:v="urn:schemas-microsoft-com:vml" Requires="v">
                <p:oleObj spid="_x0000_s2062" r:id="rId3" imgW="2908300" imgH="228600" progId="">
                  <p:embed/>
                </p:oleObj>
              </mc:Choice>
              <mc:Fallback>
                <p:oleObj r:id="rId3" imgW="2908300" imgH="228600" progId="">
                  <p:embed/>
                  <p:pic>
                    <p:nvPicPr>
                      <p:cNvPr id="79876" name="Object 2"/>
                      <p:cNvPicPr/>
                      <p:nvPr/>
                    </p:nvPicPr>
                    <p:blipFill>
                      <a:blip r:embed="rId4"/>
                      <a:srcRect/>
                      <a:stretch>
                        <a:fillRect/>
                      </a:stretch>
                    </p:blipFill>
                    <p:spPr>
                      <a:xfrm>
                        <a:off x="1905000" y="4038600"/>
                        <a:ext cx="5334000" cy="419100"/>
                      </a:xfrm>
                      <a:prstGeom prst="rect">
                        <a:avLst/>
                      </a:prstGeom>
                      <a:noFill/>
                      <a:ln w="38100">
                        <a:miter/>
                      </a:ln>
                    </p:spPr>
                  </p:pic>
                </p:oleObj>
              </mc:Fallback>
            </mc:AlternateContent>
          </a:graphicData>
        </a:graphic>
      </p:graphicFrame>
      <p:sp>
        <p:nvSpPr>
          <p:cNvPr id="79877"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7323750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8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0899" name="Rectangle 2"/>
          <p:cNvSpPr>
            <a:spLocks noGrp="1"/>
          </p:cNvSpPr>
          <p:nvPr>
            <p:ph type="title"/>
          </p:nvPr>
        </p:nvSpPr>
        <p:spPr>
          <a:ln/>
        </p:spPr>
        <p:txBody>
          <a:bodyPr vert="horz" wrap="square" lIns="91440" tIns="45720" rIns="91440" bIns="45720" anchor="ctr" anchorCtr="0"/>
          <a:lstStyle/>
          <a:p>
            <a:pPr eaLnBrk="1" hangingPunct="1"/>
            <a:r>
              <a:rPr lang="zh-CN" altLang="en-US" dirty="0"/>
              <a:t>可满足性问题</a:t>
            </a:r>
            <a:endParaRPr lang="en-US" altLang="zh-CN" dirty="0"/>
          </a:p>
        </p:txBody>
      </p:sp>
      <p:sp>
        <p:nvSpPr>
          <p:cNvPr id="31747" name="Rectangle 3"/>
          <p:cNvSpPr>
            <a:spLocks noGrp="1"/>
          </p:cNvSpPr>
          <p:nvPr>
            <p:ph idx="1"/>
          </p:nvPr>
        </p:nvSpPr>
        <p:spPr>
          <a:ln/>
        </p:spPr>
        <p:txBody>
          <a:bodyPr vert="horz" wrap="square" lIns="91440" tIns="45720" rIns="91440" bIns="45720" anchor="t" anchorCtr="0"/>
          <a:lstStyle/>
          <a:p>
            <a:pPr eaLnBrk="1" hangingPunct="1"/>
            <a:r>
              <a:rPr lang="zh-CN" altLang="en-US" dirty="0">
                <a:solidFill>
                  <a:srgbClr val="FF0000"/>
                </a:solidFill>
              </a:rPr>
              <a:t>判定问题</a:t>
            </a:r>
            <a:r>
              <a:rPr lang="en-US" altLang="zh-CN" dirty="0"/>
              <a:t>: SATISFIABILITY.</a:t>
            </a:r>
          </a:p>
          <a:p>
            <a:pPr eaLnBrk="1" hangingPunct="1">
              <a:buNone/>
            </a:pPr>
            <a:r>
              <a:rPr lang="zh-CN" altLang="en-US" dirty="0"/>
              <a:t>     输入</a:t>
            </a:r>
            <a:r>
              <a:rPr lang="en-US" altLang="zh-CN" dirty="0"/>
              <a:t>: </a:t>
            </a:r>
            <a:r>
              <a:rPr lang="zh-CN" altLang="en-US" dirty="0"/>
              <a:t>一个合取范式的布尔公式</a:t>
            </a:r>
            <a:r>
              <a:rPr lang="en-US" altLang="zh-CN" i="1" dirty="0"/>
              <a:t>f</a:t>
            </a:r>
            <a:r>
              <a:rPr lang="zh-CN" altLang="en-US" dirty="0"/>
              <a:t>。</a:t>
            </a:r>
            <a:endParaRPr lang="en-US" altLang="zh-CN" dirty="0"/>
          </a:p>
          <a:p>
            <a:pPr eaLnBrk="1" hangingPunct="1"/>
            <a:endParaRPr lang="en-US" altLang="zh-CN" dirty="0"/>
          </a:p>
          <a:p>
            <a:pPr eaLnBrk="1" hangingPunct="1">
              <a:buNone/>
            </a:pPr>
            <a:r>
              <a:rPr lang="zh-CN" altLang="en-US" dirty="0"/>
              <a:t>     问题</a:t>
            </a:r>
            <a:r>
              <a:rPr lang="en-US" altLang="zh-CN" dirty="0"/>
              <a:t>: </a:t>
            </a:r>
            <a:r>
              <a:rPr lang="en-US" altLang="zh-CN" i="1" dirty="0"/>
              <a:t>f</a:t>
            </a:r>
            <a:r>
              <a:rPr lang="zh-CN" altLang="en-US" dirty="0"/>
              <a:t>是可满足的吗</a:t>
            </a:r>
            <a:r>
              <a:rPr lang="en-US" altLang="zh-CN" dirty="0"/>
              <a:t>?</a:t>
            </a:r>
          </a:p>
          <a:p>
            <a:pPr eaLnBrk="1" hangingPunct="1"/>
            <a:endParaRPr lang="en-US" altLang="zh-CN" dirty="0"/>
          </a:p>
          <a:p>
            <a:pPr eaLnBrk="1" hangingPunct="1"/>
            <a:r>
              <a:rPr lang="en-US" altLang="zh-CN" dirty="0"/>
              <a:t> </a:t>
            </a:r>
            <a:r>
              <a:rPr lang="zh-CN" altLang="en-US" dirty="0"/>
              <a:t>定理</a:t>
            </a:r>
            <a:r>
              <a:rPr lang="en-US" altLang="zh-CN" dirty="0"/>
              <a:t> 10.2 </a:t>
            </a:r>
          </a:p>
          <a:p>
            <a:pPr lvl="1" eaLnBrk="1" hangingPunct="1"/>
            <a:r>
              <a:rPr lang="en-US" altLang="zh-CN" dirty="0"/>
              <a:t>SATISFIABILITY </a:t>
            </a:r>
            <a:r>
              <a:rPr lang="zh-CN" altLang="en-US" dirty="0"/>
              <a:t>问题是</a:t>
            </a:r>
            <a:r>
              <a:rPr lang="en-US" altLang="zh-CN" dirty="0"/>
              <a:t>NP</a:t>
            </a:r>
            <a:r>
              <a:rPr lang="zh-CN" altLang="en-US" dirty="0"/>
              <a:t>完全的</a:t>
            </a:r>
            <a:endParaRPr lang="en-US" altLang="zh-CN" dirty="0"/>
          </a:p>
          <a:p>
            <a:pPr lvl="1" eaLnBrk="1" hangingPunct="1"/>
            <a:endParaRPr lang="en-US" altLang="zh-CN" dirty="0"/>
          </a:p>
          <a:p>
            <a:pPr eaLnBrk="1" hangingPunct="1"/>
            <a:r>
              <a:rPr lang="zh-CN" altLang="en-US" dirty="0"/>
              <a:t>实际上，可满足性问题被证明是</a:t>
            </a:r>
            <a:r>
              <a:rPr lang="en-US" altLang="zh-CN" dirty="0"/>
              <a:t>NP</a:t>
            </a:r>
            <a:r>
              <a:rPr lang="zh-CN" altLang="en-US" dirty="0"/>
              <a:t>完全的第一个问题。</a:t>
            </a:r>
            <a:endParaRPr lang="en-US" altLang="zh-CN" dirty="0"/>
          </a:p>
        </p:txBody>
      </p:sp>
      <p:pic>
        <p:nvPicPr>
          <p:cNvPr id="31748" name="Picture 4" descr="theorem"/>
          <p:cNvPicPr>
            <a:picLocks noChangeAspect="1"/>
          </p:cNvPicPr>
          <p:nvPr/>
        </p:nvPicPr>
        <p:blipFill>
          <a:blip r:embed="rId4"/>
          <a:stretch>
            <a:fillRect/>
          </a:stretch>
        </p:blipFill>
        <p:spPr>
          <a:xfrm>
            <a:off x="914400" y="3581400"/>
            <a:ext cx="504825" cy="319088"/>
          </a:xfrm>
          <a:prstGeom prst="rect">
            <a:avLst/>
          </a:prstGeom>
          <a:noFill/>
          <a:ln w="9525">
            <a:noFill/>
          </a:ln>
        </p:spPr>
      </p:pic>
    </p:spTree>
    <p:extLst>
      <p:ext uri="{BB962C8B-B14F-4D97-AF65-F5344CB8AC3E}">
        <p14:creationId xmlns:p14="http://schemas.microsoft.com/office/powerpoint/2010/main" val="77791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iterate type="lt">
                                    <p:tmPct val="0"/>
                                  </p:iterate>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iterate type="lt">
                                    <p:tmPct val="0"/>
                                  </p:iterate>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iterate type="lt">
                                    <p:tmPct val="0"/>
                                  </p:iterate>
                                  <p:childTnLst>
                                    <p:set>
                                      <p:cBhvr>
                                        <p:cTn id="18" dur="1" fill="hold">
                                          <p:stCondLst>
                                            <p:cond delay="0"/>
                                          </p:stCondLst>
                                        </p:cTn>
                                        <p:tgtEl>
                                          <p:spTgt spid="31747">
                                            <p:txEl>
                                              <p:pRg st="3" end="3"/>
                                            </p:txEl>
                                          </p:spTgt>
                                        </p:tgtEl>
                                        <p:attrNameLst>
                                          <p:attrName>style.visibility</p:attrName>
                                        </p:attrNameLst>
                                      </p:cBhvr>
                                      <p:to>
                                        <p:strVal val="visible"/>
                                      </p:to>
                                    </p:set>
                                    <p:anim calcmode="lin" valueType="num">
                                      <p:cBhvr additive="base">
                                        <p:cTn id="19" dur="500" fill="hold"/>
                                        <p:tgtEl>
                                          <p:spTgt spid="3174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7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9" presetClass="entr" presetSubtype="0" decel="100000" fill="hold" nodeType="clickEffect">
                                  <p:stCondLst>
                                    <p:cond delay="0"/>
                                  </p:stCondLst>
                                  <p:childTnLst>
                                    <p:set>
                                      <p:cBhvr>
                                        <p:cTn id="24" dur="1" fill="hold">
                                          <p:stCondLst>
                                            <p:cond delay="0"/>
                                          </p:stCondLst>
                                        </p:cTn>
                                        <p:tgtEl>
                                          <p:spTgt spid="31748"/>
                                        </p:tgtEl>
                                        <p:attrNameLst>
                                          <p:attrName>style.visibility</p:attrName>
                                        </p:attrNameLst>
                                      </p:cBhvr>
                                      <p:to>
                                        <p:strVal val="visible"/>
                                      </p:to>
                                    </p:set>
                                    <p:anim calcmode="lin" valueType="num">
                                      <p:cBhvr>
                                        <p:cTn id="25" dur="500" fill="hold"/>
                                        <p:tgtEl>
                                          <p:spTgt spid="31748"/>
                                        </p:tgtEl>
                                        <p:attrNameLst>
                                          <p:attrName>ppt_w</p:attrName>
                                        </p:attrNameLst>
                                      </p:cBhvr>
                                      <p:tavLst>
                                        <p:tav tm="0">
                                          <p:val>
                                            <p:fltVal val="0"/>
                                          </p:val>
                                        </p:tav>
                                        <p:tav tm="100000">
                                          <p:val>
                                            <p:strVal val="#ppt_w"/>
                                          </p:val>
                                        </p:tav>
                                      </p:tavLst>
                                    </p:anim>
                                    <p:anim calcmode="lin" valueType="num">
                                      <p:cBhvr>
                                        <p:cTn id="26" dur="500" fill="hold"/>
                                        <p:tgtEl>
                                          <p:spTgt spid="31748"/>
                                        </p:tgtEl>
                                        <p:attrNameLst>
                                          <p:attrName>ppt_h</p:attrName>
                                        </p:attrNameLst>
                                      </p:cBhvr>
                                      <p:tavLst>
                                        <p:tav tm="0">
                                          <p:val>
                                            <p:fltVal val="0"/>
                                          </p:val>
                                        </p:tav>
                                        <p:tav tm="100000">
                                          <p:val>
                                            <p:strVal val="#ppt_h"/>
                                          </p:val>
                                        </p:tav>
                                      </p:tavLst>
                                    </p:anim>
                                    <p:anim calcmode="lin" valueType="num">
                                      <p:cBhvr>
                                        <p:cTn id="27" dur="500" fill="hold"/>
                                        <p:tgtEl>
                                          <p:spTgt spid="31748"/>
                                        </p:tgtEl>
                                        <p:attrNameLst>
                                          <p:attrName>style.rotation</p:attrName>
                                        </p:attrNameLst>
                                      </p:cBhvr>
                                      <p:tavLst>
                                        <p:tav tm="0">
                                          <p:val>
                                            <p:fltVal val="360"/>
                                          </p:val>
                                        </p:tav>
                                        <p:tav tm="100000">
                                          <p:val>
                                            <p:fltVal val="0"/>
                                          </p:val>
                                        </p:tav>
                                      </p:tavLst>
                                    </p:anim>
                                    <p:animEffect transition="in" filter="fade">
                                      <p:cBhvr>
                                        <p:cTn id="28" dur="500"/>
                                        <p:tgtEl>
                                          <p:spTgt spid="31748"/>
                                        </p:tgtEl>
                                      </p:cBhvr>
                                    </p:animEffect>
                                  </p:childTnLst>
                                  <p:subTnLst>
                                    <p:audio>
                                      <p:cMediaNode>
                                        <p:cTn display="0" masterRel="sameClick">
                                          <p:stCondLst>
                                            <p:cond evt="begin" delay="0">
                                              <p:tn val="23"/>
                                            </p:cond>
                                          </p:stCondLst>
                                          <p:endCondLst>
                                            <p:cond evt="onStopAudio" delay="0">
                                              <p:tgtEl>
                                                <p:sldTgt/>
                                              </p:tgtEl>
                                            </p:cond>
                                          </p:endCondLst>
                                        </p:cTn>
                                        <p:tgtEl>
                                          <p:sndTgt r:embed="rId3" name="chimes.wav"/>
                                        </p:tgtEl>
                                      </p:cMediaNode>
                                    </p:audio>
                                  </p:subTnLst>
                                </p:cTn>
                              </p:par>
                              <p:par>
                                <p:cTn id="29" presetID="3" presetClass="entr" presetSubtype="10" fill="hold" nodeType="withEffect">
                                  <p:stCondLst>
                                    <p:cond delay="0"/>
                                  </p:stCondLst>
                                  <p:iterate type="lt">
                                    <p:tmPct val="0"/>
                                  </p:iterate>
                                  <p:childTnLst>
                                    <p:set>
                                      <p:cBhvr>
                                        <p:cTn id="30"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31" dur="500"/>
                                        <p:tgtEl>
                                          <p:spTgt spid="31747">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nodeType="clickEffect">
                                  <p:stCondLst>
                                    <p:cond delay="0"/>
                                  </p:stCondLst>
                                  <p:iterate type="lt">
                                    <p:tmPct val="50000"/>
                                  </p:iterate>
                                  <p:childTnLst>
                                    <p:set>
                                      <p:cBhvr>
                                        <p:cTn id="35" dur="1" fill="hold">
                                          <p:stCondLst>
                                            <p:cond delay="0"/>
                                          </p:stCondLst>
                                        </p:cTn>
                                        <p:tgtEl>
                                          <p:spTgt spid="31747">
                                            <p:txEl>
                                              <p:pRg st="6" end="6"/>
                                            </p:txEl>
                                          </p:spTgt>
                                        </p:tgtEl>
                                        <p:attrNameLst>
                                          <p:attrName>style.visibility</p:attrName>
                                        </p:attrNameLst>
                                      </p:cBhvr>
                                      <p:to>
                                        <p:strVal val="visible"/>
                                      </p:to>
                                    </p:set>
                                    <p:anim calcmode="discrete" valueType="clr">
                                      <p:cBhvr override="childStyle">
                                        <p:cTn id="36" dur="80"/>
                                        <p:tgtEl>
                                          <p:spTgt spid="31747">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31747">
                                            <p:txEl>
                                              <p:pRg st="6" end="6"/>
                                            </p:txEl>
                                          </p:spTgt>
                                        </p:tgtEl>
                                        <p:attrNameLst>
                                          <p:attrName>fillcolor</p:attrName>
                                        </p:attrNameLst>
                                      </p:cBhvr>
                                      <p:tavLst>
                                        <p:tav tm="0">
                                          <p:val>
                                            <p:clrVal>
                                              <a:schemeClr val="accent2"/>
                                            </p:clrVal>
                                          </p:val>
                                        </p:tav>
                                        <p:tav tm="50000">
                                          <p:val>
                                            <p:clrVal>
                                              <a:schemeClr val="hlink"/>
                                            </p:clrVal>
                                          </p:val>
                                        </p:tav>
                                      </p:tavLst>
                                    </p:anim>
                                    <p:set>
                                      <p:cBhvr>
                                        <p:cTn id="38" dur="80"/>
                                        <p:tgtEl>
                                          <p:spTgt spid="31747">
                                            <p:txEl>
                                              <p:pRg st="6" end="6"/>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nodeType="clickEffect">
                                  <p:stCondLst>
                                    <p:cond delay="0"/>
                                  </p:stCondLst>
                                  <p:iterate type="lt">
                                    <p:tmPct val="50000"/>
                                  </p:iterate>
                                  <p:childTnLst>
                                    <p:set>
                                      <p:cBhvr>
                                        <p:cTn id="42" dur="1" fill="hold">
                                          <p:stCondLst>
                                            <p:cond delay="0"/>
                                          </p:stCondLst>
                                        </p:cTn>
                                        <p:tgtEl>
                                          <p:spTgt spid="31747">
                                            <p:txEl>
                                              <p:pRg st="8" end="8"/>
                                            </p:txEl>
                                          </p:spTgt>
                                        </p:tgtEl>
                                        <p:attrNameLst>
                                          <p:attrName>style.visibility</p:attrName>
                                        </p:attrNameLst>
                                      </p:cBhvr>
                                      <p:to>
                                        <p:strVal val="visible"/>
                                      </p:to>
                                    </p:set>
                                    <p:anim calcmode="discrete" valueType="clr">
                                      <p:cBhvr override="childStyle">
                                        <p:cTn id="43" dur="80"/>
                                        <p:tgtEl>
                                          <p:spTgt spid="31747">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31747">
                                            <p:txEl>
                                              <p:pRg st="8" end="8"/>
                                            </p:txEl>
                                          </p:spTgt>
                                        </p:tgtEl>
                                        <p:attrNameLst>
                                          <p:attrName>fillcolor</p:attrName>
                                        </p:attrNameLst>
                                      </p:cBhvr>
                                      <p:tavLst>
                                        <p:tav tm="0">
                                          <p:val>
                                            <p:clrVal>
                                              <a:schemeClr val="accent2"/>
                                            </p:clrVal>
                                          </p:val>
                                        </p:tav>
                                        <p:tav tm="50000">
                                          <p:val>
                                            <p:clrVal>
                                              <a:schemeClr val="hlink"/>
                                            </p:clrVal>
                                          </p:val>
                                        </p:tav>
                                      </p:tavLst>
                                    </p:anim>
                                    <p:set>
                                      <p:cBhvr>
                                        <p:cTn id="45" dur="80"/>
                                        <p:tgtEl>
                                          <p:spTgt spid="31747">
                                            <p:txEl>
                                              <p:pRg st="8" end="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2947" name="Rectangle 2"/>
          <p:cNvSpPr>
            <a:spLocks noGrp="1"/>
          </p:cNvSpPr>
          <p:nvPr>
            <p:ph type="title"/>
          </p:nvPr>
        </p:nvSpPr>
        <p:spPr>
          <a:ln/>
        </p:spPr>
        <p:txBody>
          <a:bodyPr vert="horz" wrap="square" lIns="91440" tIns="45720" rIns="91440" bIns="45720" anchor="ctr" anchorCtr="0"/>
          <a:lstStyle/>
          <a:p>
            <a:pPr eaLnBrk="1" hangingPunct="1"/>
            <a:r>
              <a:rPr lang="zh-CN" altLang="en-US" dirty="0"/>
              <a:t>可满足性问题</a:t>
            </a:r>
            <a:endParaRPr lang="en-US" altLang="zh-CN" dirty="0"/>
          </a:p>
        </p:txBody>
      </p:sp>
      <p:sp>
        <p:nvSpPr>
          <p:cNvPr id="30723" name="Rectangle 3"/>
          <p:cNvSpPr>
            <a:spLocks noGrp="1"/>
          </p:cNvSpPr>
          <p:nvPr>
            <p:ph type="body" sz="half" idx="1"/>
          </p:nvPr>
        </p:nvSpPr>
        <p:spPr>
          <a:xfrm>
            <a:off x="914400" y="1295400"/>
            <a:ext cx="7772400" cy="4648200"/>
          </a:xfrm>
          <a:ln/>
        </p:spPr>
        <p:txBody>
          <a:bodyPr vert="horz" wrap="square" lIns="91440" tIns="45720" rIns="91440" bIns="45720" anchor="t" anchorCtr="0"/>
          <a:lstStyle/>
          <a:p>
            <a:pPr eaLnBrk="1" hangingPunct="1">
              <a:lnSpc>
                <a:spcPct val="90000"/>
              </a:lnSpc>
              <a:buClrTx/>
              <a:buSzTx/>
              <a:buFontTx/>
            </a:pPr>
            <a:r>
              <a:rPr lang="zh-CN" altLang="zh-CN" sz="2400" b="1" dirty="0">
                <a:solidFill>
                  <a:srgbClr val="FF0000"/>
                </a:solidFill>
              </a:rPr>
              <a:t>可满足性</a:t>
            </a:r>
            <a:r>
              <a:rPr lang="zh-CN" altLang="zh-CN" sz="2400" dirty="0"/>
              <a:t>（英语：</a:t>
            </a:r>
            <a:r>
              <a:rPr lang="zh-CN" altLang="zh-CN" sz="2400" b="1" dirty="0"/>
              <a:t>Satisfiability</a:t>
            </a:r>
            <a:r>
              <a:rPr lang="zh-CN" altLang="zh-CN" sz="2400" dirty="0"/>
              <a:t>）</a:t>
            </a:r>
            <a:r>
              <a:rPr lang="zh-CN" altLang="en-US" sz="2400" dirty="0">
                <a:solidFill>
                  <a:schemeClr val="tx1"/>
                </a:solidFill>
              </a:rPr>
              <a:t>问题又叫</a:t>
            </a:r>
            <a:r>
              <a:rPr lang="zh-CN" altLang="zh-CN" sz="2400" dirty="0">
                <a:solidFill>
                  <a:schemeClr val="tx1"/>
                </a:solidFill>
              </a:rPr>
              <a:t>布林可满足性问题</a:t>
            </a:r>
            <a:r>
              <a:rPr lang="zh-CN" altLang="zh-CN" sz="2400" dirty="0"/>
              <a:t>（</a:t>
            </a:r>
            <a:r>
              <a:rPr lang="zh-CN" altLang="zh-CN" sz="2400" b="1" dirty="0"/>
              <a:t>Boolean satisfiability problem</a:t>
            </a:r>
            <a:r>
              <a:rPr lang="zh-CN" altLang="zh-CN" sz="2400" dirty="0"/>
              <a:t>；</a:t>
            </a:r>
            <a:r>
              <a:rPr lang="zh-CN" altLang="en-US" sz="2400" dirty="0"/>
              <a:t>简写</a:t>
            </a:r>
            <a:r>
              <a:rPr lang="zh-CN" altLang="zh-CN" sz="2400" b="1" dirty="0">
                <a:solidFill>
                  <a:srgbClr val="FF0000"/>
                </a:solidFill>
              </a:rPr>
              <a:t>SAT</a:t>
            </a:r>
            <a:r>
              <a:rPr lang="zh-CN" altLang="zh-CN" sz="2400" dirty="0"/>
              <a:t>）属于</a:t>
            </a:r>
            <a:r>
              <a:rPr lang="zh-CN" altLang="en-US" sz="2400" dirty="0"/>
              <a:t>判</a:t>
            </a:r>
            <a:r>
              <a:rPr lang="zh-CN" altLang="zh-CN" sz="2400" dirty="0"/>
              <a:t>定问题，</a:t>
            </a:r>
            <a:r>
              <a:rPr lang="zh-CN" altLang="en-US" sz="2400" dirty="0"/>
              <a:t>它</a:t>
            </a:r>
            <a:r>
              <a:rPr lang="zh-CN" altLang="zh-CN" sz="2400" dirty="0"/>
              <a:t>是</a:t>
            </a:r>
            <a:r>
              <a:rPr lang="zh-CN" altLang="en-US" sz="2400" dirty="0"/>
              <a:t>历史上</a:t>
            </a:r>
            <a:r>
              <a:rPr lang="zh-CN" altLang="zh-CN" sz="2400" dirty="0"/>
              <a:t>第一个被证明</a:t>
            </a:r>
            <a:r>
              <a:rPr lang="zh-CN" altLang="zh-CN" sz="2400" dirty="0">
                <a:solidFill>
                  <a:srgbClr val="FF0000"/>
                </a:solidFill>
              </a:rPr>
              <a:t>NP完全问题</a:t>
            </a:r>
            <a:r>
              <a:rPr lang="zh-CN" altLang="zh-CN" sz="2400" dirty="0"/>
              <a:t>。</a:t>
            </a:r>
            <a:endParaRPr lang="en-US" altLang="zh-CN" sz="2400" dirty="0"/>
          </a:p>
          <a:p>
            <a:pPr eaLnBrk="1" hangingPunct="1">
              <a:lnSpc>
                <a:spcPct val="90000"/>
              </a:lnSpc>
              <a:buClrTx/>
              <a:buSzTx/>
              <a:buFontTx/>
            </a:pPr>
            <a:endParaRPr lang="en-US" altLang="zh-CN" sz="2400" dirty="0"/>
          </a:p>
          <a:p>
            <a:pPr eaLnBrk="1" hangingPunct="1">
              <a:lnSpc>
                <a:spcPct val="90000"/>
              </a:lnSpc>
              <a:buClrTx/>
              <a:buSzTx/>
              <a:buFontTx/>
            </a:pPr>
            <a:r>
              <a:rPr lang="en-US" altLang="zh-CN" sz="2400" b="1" dirty="0"/>
              <a:t>1971</a:t>
            </a:r>
            <a:r>
              <a:rPr lang="zh-CN" altLang="en-US" sz="2400" b="1" dirty="0"/>
              <a:t>年，美国的</a:t>
            </a:r>
            <a:r>
              <a:rPr lang="en-US" altLang="zh-CN" sz="2400" b="1" dirty="0"/>
              <a:t>Cook</a:t>
            </a:r>
            <a:r>
              <a:rPr lang="zh-CN" altLang="en-US" sz="2400" b="1" dirty="0"/>
              <a:t>证明了</a:t>
            </a:r>
            <a:r>
              <a:rPr lang="en-US" altLang="zh-CN" sz="2400" b="1" dirty="0">
                <a:solidFill>
                  <a:srgbClr val="FF0000"/>
                </a:solidFill>
              </a:rPr>
              <a:t>Cook</a:t>
            </a:r>
            <a:r>
              <a:rPr lang="zh-CN" altLang="en-US" sz="2400" b="1" dirty="0">
                <a:solidFill>
                  <a:srgbClr val="FF0000"/>
                </a:solidFill>
              </a:rPr>
              <a:t>定理</a:t>
            </a:r>
            <a:r>
              <a:rPr lang="zh-CN" altLang="en-US" sz="2400" b="1" dirty="0"/>
              <a:t>：</a:t>
            </a:r>
            <a:r>
              <a:rPr lang="zh-CN" altLang="en-US" sz="2400" b="1" dirty="0">
                <a:solidFill>
                  <a:srgbClr val="FF0000"/>
                </a:solidFill>
              </a:rPr>
              <a:t>布尔表达式的可满足性</a:t>
            </a:r>
            <a:r>
              <a:rPr lang="en-US" altLang="zh-CN" sz="2400" b="1" dirty="0">
                <a:solidFill>
                  <a:srgbClr val="FF0000"/>
                </a:solidFill>
              </a:rPr>
              <a:t>(SAT)</a:t>
            </a:r>
            <a:r>
              <a:rPr lang="zh-CN" altLang="en-US" sz="2400" b="1" dirty="0">
                <a:solidFill>
                  <a:srgbClr val="FF0000"/>
                </a:solidFill>
              </a:rPr>
              <a:t>问题是</a:t>
            </a:r>
            <a:r>
              <a:rPr lang="en-US" altLang="zh-CN" sz="2400" b="1" dirty="0">
                <a:solidFill>
                  <a:srgbClr val="FF0000"/>
                </a:solidFill>
              </a:rPr>
              <a:t>NP</a:t>
            </a:r>
            <a:r>
              <a:rPr lang="zh-CN" altLang="en-US" sz="2400" b="1" dirty="0">
                <a:solidFill>
                  <a:srgbClr val="FF0000"/>
                </a:solidFill>
              </a:rPr>
              <a:t>完全的</a:t>
            </a:r>
            <a:r>
              <a:rPr lang="zh-CN" altLang="en-US" sz="2400" b="1" dirty="0"/>
              <a:t>。</a:t>
            </a:r>
            <a:r>
              <a:rPr lang="zh-CN" altLang="en-US" sz="2400" dirty="0"/>
              <a:t> </a:t>
            </a:r>
          </a:p>
          <a:p>
            <a:pPr eaLnBrk="1" hangingPunct="1">
              <a:lnSpc>
                <a:spcPct val="90000"/>
              </a:lnSpc>
              <a:buClrTx/>
              <a:buSzTx/>
              <a:buFontTx/>
            </a:pPr>
            <a:endParaRPr lang="en-US" altLang="zh-CN" sz="2400" dirty="0"/>
          </a:p>
          <a:p>
            <a:pPr eaLnBrk="1" hangingPunct="1">
              <a:lnSpc>
                <a:spcPct val="90000"/>
              </a:lnSpc>
              <a:buClrTx/>
              <a:buSzTx/>
              <a:buFontTx/>
            </a:pPr>
            <a:endParaRPr lang="en-US" altLang="zh-CN" sz="2400" dirty="0"/>
          </a:p>
        </p:txBody>
      </p:sp>
    </p:spTree>
    <p:extLst>
      <p:ext uri="{BB962C8B-B14F-4D97-AF65-F5344CB8AC3E}">
        <p14:creationId xmlns:p14="http://schemas.microsoft.com/office/powerpoint/2010/main" val="3104838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linds(horizontal)">
                                      <p:cBhvr>
                                        <p:cTn id="7" dur="500"/>
                                        <p:tgtEl>
                                          <p:spTgt spid="30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23">
                                            <p:txEl>
                                              <p:pRg st="2" end="2"/>
                                            </p:txEl>
                                          </p:spTgt>
                                        </p:tgtEl>
                                        <p:attrNameLst>
                                          <p:attrName>style.visibility</p:attrName>
                                        </p:attrNameLst>
                                      </p:cBhvr>
                                      <p:to>
                                        <p:strVal val="visible"/>
                                      </p:to>
                                    </p:set>
                                    <p:animEffect transition="in" filter="blinds(horizontal)">
                                      <p:cBhvr>
                                        <p:cTn id="12" dur="500"/>
                                        <p:tgtEl>
                                          <p:spTgt spid="307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990600" y="1295400"/>
            <a:ext cx="7696200" cy="2492375"/>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为了证明</a:t>
            </a:r>
            <a:r>
              <a:rPr kumimoji="0" lang="en-US" altLang="zh-CN" sz="2400" kern="1200" cap="none" spc="0" normalizeH="0" baseline="0" noProof="0" dirty="0">
                <a:solidFill>
                  <a:schemeClr val="accent2"/>
                </a:solidFill>
                <a:latin typeface="+mn-lt"/>
                <a:ea typeface="+mn-ea"/>
                <a:cs typeface="+mn-cs"/>
              </a:rPr>
              <a:t>SATISFIABILITY</a:t>
            </a:r>
            <a:r>
              <a:rPr kumimoji="0" lang="zh-CN" altLang="en-US" sz="2400" kern="1200" cap="none" spc="0" normalizeH="0" baseline="0" noProof="0" dirty="0">
                <a:solidFill>
                  <a:schemeClr val="accent2"/>
                </a:solidFill>
                <a:latin typeface="+mn-lt"/>
                <a:ea typeface="+mn-ea"/>
                <a:cs typeface="+mn-cs"/>
              </a:rPr>
              <a:t>是</a:t>
            </a:r>
            <a:r>
              <a:rPr kumimoji="0" lang="en-US" altLang="zh-CN" sz="2400" kern="1200" cap="none" spc="0" normalizeH="0" baseline="0" noProof="0" dirty="0">
                <a:solidFill>
                  <a:schemeClr val="accent2"/>
                </a:solidFill>
                <a:latin typeface="+mn-lt"/>
                <a:ea typeface="+mn-ea"/>
                <a:cs typeface="+mn-cs"/>
              </a:rPr>
              <a:t>NP</a:t>
            </a:r>
            <a:r>
              <a:rPr kumimoji="0" lang="zh-CN" altLang="en-US" sz="2400" kern="1200" cap="none" spc="0" normalizeH="0" baseline="0" noProof="0" dirty="0">
                <a:solidFill>
                  <a:schemeClr val="accent2"/>
                </a:solidFill>
                <a:latin typeface="+mn-lt"/>
                <a:ea typeface="+mn-ea"/>
                <a:cs typeface="+mn-cs"/>
              </a:rPr>
              <a:t>完全的，必须证明对</a:t>
            </a:r>
            <a:r>
              <a:rPr kumimoji="0" lang="en-US" altLang="zh-CN" sz="2400" kern="1200" cap="none" spc="0" normalizeH="0" baseline="0" noProof="0" dirty="0">
                <a:solidFill>
                  <a:schemeClr val="accent2"/>
                </a:solidFill>
                <a:latin typeface="+mn-lt"/>
                <a:ea typeface="+mn-ea"/>
                <a:cs typeface="+mn-cs"/>
              </a:rPr>
              <a:t>NP</a:t>
            </a:r>
            <a:r>
              <a:rPr kumimoji="0" lang="zh-CN" altLang="en-US" sz="2400" kern="1200" cap="none" spc="0" normalizeH="0" baseline="0" noProof="0" dirty="0">
                <a:solidFill>
                  <a:schemeClr val="accent2"/>
                </a:solidFill>
                <a:latin typeface="+mn-lt"/>
                <a:ea typeface="+mn-ea"/>
                <a:cs typeface="+mn-cs"/>
              </a:rPr>
              <a:t>中的任意问题</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a:t>
            </a:r>
            <a:r>
              <a:rPr kumimoji="0" lang="zh-CN" altLang="en-US" sz="2400" kern="1200" cap="none" spc="0" normalizeH="0" baseline="0" noProof="0" dirty="0">
                <a:solidFill>
                  <a:schemeClr val="accent2"/>
                </a:solidFill>
                <a:latin typeface="+mn-lt"/>
                <a:ea typeface="+mn-ea"/>
                <a:cs typeface="+mn-cs"/>
              </a:rPr>
              <a:t>，有</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 </a:t>
            </a:r>
            <a:r>
              <a:rPr kumimoji="0" lang="en-US" altLang="zh-CN" sz="2400" kern="1200" cap="none" spc="0" normalizeH="0" baseline="-25000" noProof="0" dirty="0">
                <a:solidFill>
                  <a:schemeClr val="accent2"/>
                </a:solidFill>
                <a:latin typeface="+mn-lt"/>
                <a:ea typeface="+mn-ea"/>
                <a:cs typeface="+mn-cs"/>
                <a:sym typeface="Symbol" panose="05050102010706020507" pitchFamily="18" charset="2"/>
              </a:rPr>
              <a:t>poly</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 </a:t>
            </a:r>
            <a:r>
              <a:rPr kumimoji="0" lang="en-US" altLang="zh-CN" sz="2400" kern="1200" cap="none" spc="0" normalizeH="0" baseline="0" noProof="0" dirty="0">
                <a:solidFill>
                  <a:schemeClr val="accent2"/>
                </a:solidFill>
                <a:latin typeface="+mn-lt"/>
                <a:ea typeface="+mn-ea"/>
                <a:cs typeface="+mn-cs"/>
              </a:rPr>
              <a:t>SATISFIABILITY。</a:t>
            </a:r>
            <a:r>
              <a:rPr kumimoji="0" lang="zh-CN" altLang="en-US" sz="2400" kern="1200" cap="none" spc="0" normalizeH="0" baseline="0" noProof="0" dirty="0">
                <a:solidFill>
                  <a:schemeClr val="accent2"/>
                </a:solidFill>
                <a:latin typeface="+mn-lt"/>
                <a:ea typeface="+mn-ea"/>
                <a:cs typeface="+mn-cs"/>
              </a:rPr>
              <a:t>假设</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的实例</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I</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的规模是</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n，</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在</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p(n)</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的判定时间里最多有</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cp(n)</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个动作，因此可以用</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cp(n)</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时间时间构造布尔表达式</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f</a:t>
            </a:r>
            <a:r>
              <a:rPr kumimoji="0" lang="en-US" altLang="zh-CN" sz="2400" kern="1200" cap="none" spc="0" normalizeH="0" baseline="0" noProof="0" dirty="0">
                <a:solidFill>
                  <a:schemeClr val="accent2"/>
                </a:solidFill>
                <a:latin typeface="+mn-lt"/>
                <a:ea typeface="+mn-ea"/>
                <a:cs typeface="+mn-cs"/>
              </a:rPr>
              <a:t>，</a:t>
            </a:r>
            <a:r>
              <a:rPr kumimoji="0" lang="zh-CN" altLang="en-US" sz="2400" kern="1200" cap="none" spc="0" normalizeH="0" baseline="0" noProof="0" dirty="0">
                <a:solidFill>
                  <a:schemeClr val="accent2"/>
                </a:solidFill>
                <a:latin typeface="+mn-lt"/>
                <a:ea typeface="+mn-ea"/>
                <a:cs typeface="+mn-cs"/>
              </a:rPr>
              <a:t>也就是说</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 </a:t>
            </a:r>
            <a:r>
              <a:rPr kumimoji="0" lang="en-US" altLang="zh-CN" sz="2400" kern="1200" cap="none" spc="0" normalizeH="0" baseline="-25000" noProof="0" dirty="0">
                <a:solidFill>
                  <a:schemeClr val="accent2"/>
                </a:solidFill>
                <a:latin typeface="+mn-lt"/>
                <a:ea typeface="+mn-ea"/>
                <a:cs typeface="+mn-cs"/>
                <a:sym typeface="Symbol" panose="05050102010706020507" pitchFamily="18" charset="2"/>
              </a:rPr>
              <a:t>poly</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 </a:t>
            </a:r>
            <a:r>
              <a:rPr kumimoji="0" lang="en-US" altLang="zh-CN" sz="2400" kern="1200" cap="none" spc="0" normalizeH="0" baseline="0" noProof="0" dirty="0">
                <a:solidFill>
                  <a:schemeClr val="accent2"/>
                </a:solidFill>
                <a:latin typeface="+mn-lt"/>
                <a:ea typeface="+mn-ea"/>
                <a:cs typeface="+mn-cs"/>
              </a:rPr>
              <a:t>SATISFIABILITY</a:t>
            </a:r>
          </a:p>
          <a:p>
            <a:pPr marR="0" defTabSz="914400" eaLnBrk="1" hangingPunct="1">
              <a:spcBef>
                <a:spcPct val="50000"/>
              </a:spcBef>
              <a:buClrTx/>
              <a:buSzTx/>
              <a:buFontTx/>
              <a:buNone/>
              <a:defRPr/>
            </a:pPr>
            <a:r>
              <a:rPr kumimoji="0" lang="zh-CN" altLang="en-US" sz="2400" kern="1200" cap="none" spc="0" normalizeH="0" baseline="0" noProof="0" dirty="0">
                <a:solidFill>
                  <a:schemeClr val="accent2"/>
                </a:solidFill>
                <a:latin typeface="+mn-lt"/>
                <a:ea typeface="+mn-ea"/>
                <a:cs typeface="+mn-cs"/>
              </a:rPr>
              <a:t>这就是著名的</a:t>
            </a:r>
            <a:r>
              <a:rPr kumimoji="0" lang="en-US" altLang="zh-CN" sz="2400" kern="1200" cap="none" spc="0" normalizeH="0" baseline="0" noProof="0" dirty="0">
                <a:solidFill>
                  <a:srgbClr val="FF0000"/>
                </a:solidFill>
                <a:latin typeface="+mn-lt"/>
                <a:ea typeface="+mn-ea"/>
                <a:cs typeface="+mn-cs"/>
              </a:rPr>
              <a:t>Cook</a:t>
            </a:r>
            <a:r>
              <a:rPr kumimoji="0" lang="zh-CN" altLang="en-US" sz="2400" kern="1200" cap="none" spc="0" normalizeH="0" baseline="0" noProof="0" dirty="0">
                <a:solidFill>
                  <a:srgbClr val="FF0000"/>
                </a:solidFill>
                <a:latin typeface="+mn-lt"/>
                <a:ea typeface="+mn-ea"/>
                <a:cs typeface="+mn-cs"/>
              </a:rPr>
              <a:t>定理</a:t>
            </a:r>
          </a:p>
        </p:txBody>
      </p:sp>
    </p:spTree>
    <p:extLst>
      <p:ext uri="{BB962C8B-B14F-4D97-AF65-F5344CB8AC3E}">
        <p14:creationId xmlns:p14="http://schemas.microsoft.com/office/powerpoint/2010/main" val="42633792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a:spLocks noGrp="1"/>
          </p:cNvSpPr>
          <p:nvPr>
            <p:ph idx="1"/>
          </p:nvPr>
        </p:nvSpPr>
        <p:spPr>
          <a:xfrm>
            <a:off x="685800" y="1066800"/>
            <a:ext cx="7867650" cy="4367213"/>
          </a:xfrm>
          <a:ln/>
        </p:spPr>
        <p:txBody>
          <a:bodyPr vert="horz" wrap="square" lIns="91440" tIns="45720" rIns="91440" bIns="45720" anchor="t" anchorCtr="0"/>
          <a:lstStyle/>
          <a:p>
            <a:r>
              <a:rPr lang="zh-CN" altLang="zh-CN" dirty="0"/>
              <a:t>对于一个确定的逻辑电路，是否存在一种输入使得输出为true，是第一个被证明的NPC问题。</a:t>
            </a:r>
            <a:r>
              <a:rPr lang="zh-CN" altLang="en-US" dirty="0"/>
              <a:t>其它的</a:t>
            </a:r>
            <a:r>
              <a:rPr lang="en-US" altLang="zh-CN" dirty="0"/>
              <a:t>NPC</a:t>
            </a:r>
            <a:r>
              <a:rPr lang="zh-CN" altLang="en-US" dirty="0"/>
              <a:t>问题都是由这个问题约化而来的。</a:t>
            </a:r>
          </a:p>
          <a:p>
            <a:r>
              <a:rPr lang="zh-CN" altLang="en-US" dirty="0"/>
              <a:t>我们知道，一个逻辑电路由若干个输入，一个输出，若干“逻辑门”和密密麻麻的线组成，如下图： </a:t>
            </a:r>
          </a:p>
          <a:p>
            <a:endParaRPr lang="zh-CN" altLang="en-US" dirty="0"/>
          </a:p>
          <a:p>
            <a:endParaRPr lang="zh-CN" altLang="en-US" b="1" dirty="0"/>
          </a:p>
          <a:p>
            <a:endParaRPr lang="zh-CN" altLang="en-US" b="1" dirty="0"/>
          </a:p>
        </p:txBody>
      </p:sp>
      <p:sp>
        <p:nvSpPr>
          <p:cNvPr id="5" name="Rectangle 2"/>
          <p:cNvSpPr txBox="1">
            <a:spLocks noChangeArrowheads="1"/>
          </p:cNvSpPr>
          <p:nvPr/>
        </p:nvSpPr>
        <p:spPr bwMode="auto">
          <a:xfrm>
            <a:off x="914400" y="228600"/>
            <a:ext cx="7869238" cy="927100"/>
          </a:xfrm>
          <a:prstGeom prst="rect">
            <a:avLst/>
          </a:prstGeom>
          <a:noFill/>
          <a:ln w="9525">
            <a:noFill/>
            <a:miter lim="800000"/>
          </a:ln>
        </p:spPr>
        <p:txBody>
          <a:bodyPr anchor="ctr"/>
          <a:lstStyle/>
          <a:p>
            <a:pPr marR="0" defTabSz="914400" eaLnBrk="1" hangingPunct="1">
              <a:buClrTx/>
              <a:buSzTx/>
              <a:buFontTx/>
              <a:buNone/>
              <a:defRPr/>
            </a:pPr>
            <a:r>
              <a:rPr kumimoji="0" lang="zh-CN" altLang="en-US" sz="3200" kern="0" cap="none" spc="0" normalizeH="0" baseline="0" noProof="0" dirty="0">
                <a:solidFill>
                  <a:schemeClr val="accent2"/>
                </a:solidFill>
                <a:latin typeface="+mj-lt"/>
                <a:ea typeface="+mj-ea"/>
                <a:cs typeface="+mj-cs"/>
              </a:rPr>
              <a:t>直观描述</a:t>
            </a:r>
            <a:endParaRPr kumimoji="0" lang="en-US" altLang="zh-CN" sz="3200" kern="0" cap="none" spc="0" normalizeH="0" baseline="0" noProof="0" dirty="0">
              <a:solidFill>
                <a:schemeClr val="accent2"/>
              </a:solidFill>
              <a:latin typeface="+mj-lt"/>
              <a:ea typeface="+mj-ea"/>
              <a:cs typeface="+mj-cs"/>
            </a:endParaRPr>
          </a:p>
        </p:txBody>
      </p:sp>
      <p:sp>
        <p:nvSpPr>
          <p:cNvPr id="8" name="矩形 7"/>
          <p:cNvSpPr/>
          <p:nvPr/>
        </p:nvSpPr>
        <p:spPr>
          <a:xfrm>
            <a:off x="5943600" y="3276600"/>
            <a:ext cx="2667000" cy="26924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这是个较简单的逻辑电路，当输入</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1</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、输入</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2</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、输入</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3</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分别为</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True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True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False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或</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False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True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False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时，输出为</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True</a:t>
            </a:r>
            <a:r>
              <a:rPr kumimoji="0" lang="zh-CN" altLang="en-US" sz="2500" b="0" i="0" u="none" strike="noStrike" kern="1200" cap="none" spc="0" normalizeH="0" baseline="0" noProof="0" dirty="0">
                <a:ln>
                  <a:noFill/>
                </a:ln>
                <a:solidFill>
                  <a:srgbClr val="FF0000"/>
                </a:solidFill>
                <a:effectLst/>
                <a:uLnTx/>
                <a:uFillTx/>
                <a:latin typeface="+mn-lt"/>
                <a:ea typeface="+mn-ea"/>
                <a:cs typeface="+mn-cs"/>
              </a:rPr>
              <a:t>。</a:t>
            </a:r>
          </a:p>
        </p:txBody>
      </p:sp>
      <p:sp>
        <p:nvSpPr>
          <p:cNvPr id="86021"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86022" name="Picture 2"/>
          <p:cNvPicPr>
            <a:picLocks noChangeAspect="1"/>
          </p:cNvPicPr>
          <p:nvPr/>
        </p:nvPicPr>
        <p:blipFill>
          <a:blip r:embed="rId2"/>
          <a:stretch>
            <a:fillRect/>
          </a:stretch>
        </p:blipFill>
        <p:spPr>
          <a:xfrm>
            <a:off x="1066800" y="3352800"/>
            <a:ext cx="4578350" cy="2514600"/>
          </a:xfrm>
          <a:prstGeom prst="rect">
            <a:avLst/>
          </a:prstGeom>
          <a:noFill/>
          <a:ln w="9525">
            <a:noFill/>
          </a:ln>
        </p:spPr>
      </p:pic>
    </p:spTree>
    <p:extLst>
      <p:ext uri="{BB962C8B-B14F-4D97-AF65-F5344CB8AC3E}">
        <p14:creationId xmlns:p14="http://schemas.microsoft.com/office/powerpoint/2010/main" val="41870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ln/>
        </p:spPr>
        <p:txBody>
          <a:bodyPr vert="horz" wrap="square" lIns="91440" tIns="45720" rIns="91440" bIns="45720" anchor="ctr" anchorCtr="0"/>
          <a:lstStyle/>
          <a:p>
            <a:r>
              <a:rPr lang="zh-CN" altLang="en-US" dirty="0"/>
              <a:t>直观描述</a:t>
            </a:r>
            <a:endParaRPr lang="en-US" altLang="zh-CN" dirty="0"/>
          </a:p>
        </p:txBody>
      </p:sp>
      <p:sp>
        <p:nvSpPr>
          <p:cNvPr id="87043" name="Rectangle 3"/>
          <p:cNvSpPr>
            <a:spLocks noGrp="1"/>
          </p:cNvSpPr>
          <p:nvPr>
            <p:ph idx="1"/>
          </p:nvPr>
        </p:nvSpPr>
        <p:spPr>
          <a:ln/>
        </p:spPr>
        <p:txBody>
          <a:bodyPr vert="horz" wrap="square" lIns="91440" tIns="45720" rIns="91440" bIns="45720" anchor="t" anchorCtr="0"/>
          <a:lstStyle/>
          <a:p>
            <a:r>
              <a:rPr lang="zh-CN" altLang="en-US" sz="2800" dirty="0"/>
              <a:t>有输出无论如何都不可能为</a:t>
            </a:r>
            <a:r>
              <a:rPr lang="en-US" altLang="zh-CN" sz="2800" dirty="0"/>
              <a:t>True</a:t>
            </a:r>
            <a:r>
              <a:rPr lang="zh-CN" altLang="en-US" sz="2800" dirty="0"/>
              <a:t>的逻辑电路吗？</a:t>
            </a:r>
            <a:r>
              <a:rPr lang="zh-CN" altLang="en-US" dirty="0"/>
              <a:t> </a:t>
            </a:r>
          </a:p>
          <a:p>
            <a:endParaRPr lang="zh-CN" altLang="en-US" dirty="0"/>
          </a:p>
        </p:txBody>
      </p:sp>
      <p:sp>
        <p:nvSpPr>
          <p:cNvPr id="8704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87045" name="Picture 2"/>
          <p:cNvPicPr>
            <a:picLocks noChangeAspect="1"/>
          </p:cNvPicPr>
          <p:nvPr/>
        </p:nvPicPr>
        <p:blipFill>
          <a:blip r:embed="rId2"/>
          <a:stretch>
            <a:fillRect/>
          </a:stretch>
        </p:blipFill>
        <p:spPr>
          <a:xfrm>
            <a:off x="1143000" y="2362200"/>
            <a:ext cx="4638675" cy="2743200"/>
          </a:xfrm>
          <a:prstGeom prst="rect">
            <a:avLst/>
          </a:prstGeom>
          <a:noFill/>
          <a:ln w="9525">
            <a:noFill/>
          </a:ln>
        </p:spPr>
      </p:pic>
      <p:sp>
        <p:nvSpPr>
          <p:cNvPr id="7" name="矩形 6"/>
          <p:cNvSpPr/>
          <p:nvPr/>
        </p:nvSpPr>
        <p:spPr>
          <a:xfrm>
            <a:off x="5943600" y="2590800"/>
            <a:ext cx="2438400" cy="2678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这个逻辑电路中，无论输入是什么，输出都是</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False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。因此，这个逻辑电路不存在使输出为</a:t>
            </a:r>
            <a:r>
              <a:rPr kumimoji="0" lang="en-US" altLang="en-US" sz="2400" b="0" i="0" u="none" strike="noStrike" kern="1200" cap="none" spc="0" normalizeH="0" baseline="0" noProof="0" dirty="0">
                <a:ln>
                  <a:noFill/>
                </a:ln>
                <a:solidFill>
                  <a:srgbClr val="FF0000"/>
                </a:solidFill>
                <a:effectLst/>
                <a:uLnTx/>
                <a:uFillTx/>
                <a:latin typeface="+mn-lt"/>
                <a:ea typeface="+mn-ea"/>
                <a:cs typeface="+mn-cs"/>
              </a:rPr>
              <a:t>True</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的一组输入。</a:t>
            </a:r>
          </a:p>
        </p:txBody>
      </p:sp>
    </p:spTree>
    <p:extLst>
      <p:ext uri="{BB962C8B-B14F-4D97-AF65-F5344CB8AC3E}">
        <p14:creationId xmlns:p14="http://schemas.microsoft.com/office/powerpoint/2010/main" val="224770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300" dirty="0">
                <a:solidFill>
                  <a:srgbClr val="FF0000"/>
                </a:solidFill>
                <a:latin typeface="+mn-ea"/>
                <a:ea typeface="+mn-ea"/>
                <a:cs typeface="+mn-ea"/>
              </a:rPr>
              <a:t>7.3</a:t>
            </a:r>
            <a:r>
              <a:rPr lang="zh-CN" altLang="en-US" sz="2300" dirty="0">
                <a:solidFill>
                  <a:srgbClr val="FF0000"/>
                </a:solidFill>
                <a:latin typeface="+mn-ea"/>
                <a:ea typeface="+mn-ea"/>
                <a:cs typeface="+mn-ea"/>
              </a:rPr>
              <a:t>.1 多项式归约定义</a:t>
            </a:r>
          </a:p>
          <a:p>
            <a:r>
              <a:rPr lang="en-US" altLang="zh-CN" sz="2300" dirty="0">
                <a:solidFill>
                  <a:srgbClr val="FF0000"/>
                </a:solidFill>
                <a:latin typeface="+mn-ea"/>
                <a:ea typeface="+mn-ea"/>
                <a:cs typeface="+mn-ea"/>
              </a:rPr>
              <a:t>7.3</a:t>
            </a:r>
            <a:r>
              <a:rPr lang="zh-CN" altLang="en-US" sz="2300" dirty="0">
                <a:solidFill>
                  <a:srgbClr val="FF0000"/>
                </a:solidFill>
                <a:latin typeface="+mn-ea"/>
                <a:ea typeface="+mn-ea"/>
                <a:cs typeface="+mn-ea"/>
              </a:rPr>
              <a:t>.2 多项式归约性质</a:t>
            </a:r>
          </a:p>
          <a:p>
            <a:r>
              <a:rPr lang="en-US" altLang="zh-CN" sz="2300" dirty="0">
                <a:solidFill>
                  <a:srgbClr val="FF0000"/>
                </a:solidFill>
                <a:latin typeface="+mn-ea"/>
                <a:ea typeface="+mn-ea"/>
                <a:cs typeface="+mn-ea"/>
              </a:rPr>
              <a:t>7.3</a:t>
            </a:r>
            <a:r>
              <a:rPr lang="zh-CN" altLang="en-US" sz="2300" dirty="0">
                <a:solidFill>
                  <a:srgbClr val="FF0000"/>
                </a:solidFill>
                <a:latin typeface="+mn-ea"/>
                <a:ea typeface="+mn-ea"/>
                <a:cs typeface="+mn-ea"/>
              </a:rPr>
              <a:t>.3 NP-难类、NP-完全类</a:t>
            </a:r>
          </a:p>
          <a:p>
            <a:r>
              <a:rPr lang="en-US" altLang="zh-CN" sz="2300" dirty="0">
                <a:solidFill>
                  <a:srgbClr val="FF0000"/>
                </a:solidFill>
                <a:latin typeface="+mn-ea"/>
                <a:ea typeface="+mn-ea"/>
                <a:cs typeface="+mn-ea"/>
              </a:rPr>
              <a:t>7.3</a:t>
            </a:r>
            <a:r>
              <a:rPr lang="zh-CN" altLang="en-US" sz="2300" dirty="0">
                <a:solidFill>
                  <a:srgbClr val="FF0000"/>
                </a:solidFill>
                <a:latin typeface="+mn-ea"/>
                <a:ea typeface="+mn-ea"/>
                <a:cs typeface="+mn-ea"/>
              </a:rPr>
              <a:t>.4 NP-完全性证明</a:t>
            </a:r>
          </a:p>
          <a:p>
            <a:r>
              <a:rPr lang="en-US" altLang="zh-CN" sz="2300" dirty="0">
                <a:solidFill>
                  <a:srgbClr val="FF0000"/>
                </a:solidFill>
                <a:latin typeface="+mn-ea"/>
                <a:ea typeface="+mn-ea"/>
                <a:cs typeface="+mn-ea"/>
              </a:rPr>
              <a:t>7.3</a:t>
            </a:r>
            <a:r>
              <a:rPr lang="zh-CN" altLang="en-US" sz="2300" dirty="0">
                <a:solidFill>
                  <a:srgbClr val="FF0000"/>
                </a:solidFill>
                <a:latin typeface="+mn-ea"/>
                <a:ea typeface="+mn-ea"/>
                <a:cs typeface="+mn-ea"/>
              </a:rPr>
              <a:t>.5 其他问题复杂性类</a:t>
            </a:r>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en-US" altLang="zh-CN" dirty="0"/>
              <a:t>7.3</a:t>
            </a:r>
            <a:r>
              <a:rPr lang="zh-CN" altLang="en-US" dirty="0"/>
              <a:t>. 多项式归约及NP-完全类</a:t>
            </a:r>
            <a:endParaRPr lang="en-US" altLang="zh-CN" b="1" dirty="0"/>
          </a:p>
        </p:txBody>
      </p:sp>
    </p:spTree>
    <p:extLst>
      <p:ext uri="{BB962C8B-B14F-4D97-AF65-F5344CB8AC3E}">
        <p14:creationId xmlns:p14="http://schemas.microsoft.com/office/powerpoint/2010/main" val="158016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ln/>
        </p:spPr>
        <p:txBody>
          <a:bodyPr vert="horz" wrap="square" lIns="91440" tIns="45720" rIns="91440" bIns="45720" anchor="ctr" anchorCtr="0"/>
          <a:lstStyle/>
          <a:p>
            <a:r>
              <a:rPr lang="en-US" altLang="zh-CN" dirty="0"/>
              <a:t>7.3.1</a:t>
            </a:r>
            <a:r>
              <a:rPr lang="zh-CN" altLang="en-US" dirty="0"/>
              <a:t>多项式归约</a:t>
            </a:r>
            <a:r>
              <a:rPr lang="en-US" altLang="zh-CN" dirty="0"/>
              <a:t>(Reduction)</a:t>
            </a:r>
            <a:r>
              <a:rPr lang="zh-CN" altLang="en-US" dirty="0"/>
              <a:t>定义</a:t>
            </a:r>
          </a:p>
        </p:txBody>
      </p:sp>
      <p:sp>
        <p:nvSpPr>
          <p:cNvPr id="69635" name="Rectangle 3"/>
          <p:cNvSpPr>
            <a:spLocks noGrp="1"/>
          </p:cNvSpPr>
          <p:nvPr>
            <p:ph type="body" sz="half" idx="1"/>
          </p:nvPr>
        </p:nvSpPr>
        <p:spPr>
          <a:xfrm>
            <a:off x="457200" y="1295400"/>
            <a:ext cx="8507413" cy="4525963"/>
          </a:xfrm>
          <a:ln/>
        </p:spPr>
        <p:txBody>
          <a:bodyPr vert="horz" wrap="square" lIns="91440" tIns="45720" rIns="91440" bIns="45720" anchor="t" anchorCtr="0"/>
          <a:lstStyle/>
          <a:p>
            <a:pPr>
              <a:buClrTx/>
              <a:buSzTx/>
              <a:buFontTx/>
            </a:pPr>
            <a:r>
              <a:rPr lang="zh-CN" altLang="en-US" sz="2000" b="1" dirty="0"/>
              <a:t>人们普遍认为，</a:t>
            </a:r>
            <a:r>
              <a:rPr lang="en-US" altLang="zh-CN" sz="2000" b="1" dirty="0"/>
              <a:t>P=NP</a:t>
            </a:r>
            <a:r>
              <a:rPr lang="zh-CN" altLang="en-US" sz="2000" b="1" dirty="0"/>
              <a:t>不成立                 多数人相信，存在至少一个不可能有多项式级复杂度的算法的</a:t>
            </a:r>
            <a:r>
              <a:rPr lang="en-US" altLang="zh-CN" sz="2000" b="1" dirty="0"/>
              <a:t>NP</a:t>
            </a:r>
            <a:r>
              <a:rPr lang="zh-CN" altLang="en-US" sz="2000" b="1" dirty="0"/>
              <a:t>问题。</a:t>
            </a:r>
            <a:endParaRPr lang="zh-CN" altLang="en-US" sz="2000" b="1" dirty="0">
              <a:solidFill>
                <a:srgbClr val="0033CC"/>
              </a:solidFill>
            </a:endParaRPr>
          </a:p>
          <a:p>
            <a:pPr>
              <a:buClrTx/>
              <a:buSzTx/>
              <a:buFontTx/>
            </a:pPr>
            <a:r>
              <a:rPr lang="en-US" altLang="zh-CN" sz="2000" b="1" dirty="0">
                <a:solidFill>
                  <a:srgbClr val="0033CC"/>
                </a:solidFill>
              </a:rPr>
              <a:t>Reduction( </a:t>
            </a:r>
            <a:r>
              <a:rPr lang="zh-CN" altLang="en-US" sz="2000" b="1" dirty="0">
                <a:solidFill>
                  <a:srgbClr val="0033CC"/>
                </a:solidFill>
              </a:rPr>
              <a:t>“归约”或</a:t>
            </a:r>
            <a:r>
              <a:rPr lang="en-US" altLang="zh-CN" sz="2000" b="1" dirty="0">
                <a:solidFill>
                  <a:srgbClr val="0033CC"/>
                </a:solidFill>
              </a:rPr>
              <a:t>“</a:t>
            </a:r>
            <a:r>
              <a:rPr lang="zh-CN" altLang="en-US" sz="2000" b="1" dirty="0">
                <a:solidFill>
                  <a:srgbClr val="0033CC"/>
                </a:solidFill>
              </a:rPr>
              <a:t>约化”</a:t>
            </a:r>
            <a:r>
              <a:rPr lang="en-US" altLang="zh-CN" sz="2000" b="1" dirty="0">
                <a:solidFill>
                  <a:srgbClr val="0033CC"/>
                </a:solidFill>
              </a:rPr>
              <a:t>)</a:t>
            </a:r>
            <a:r>
              <a:rPr lang="zh-CN" altLang="en-US" sz="2000" b="1" dirty="0">
                <a:solidFill>
                  <a:srgbClr val="0033CC"/>
                </a:solidFill>
              </a:rPr>
              <a:t>：</a:t>
            </a:r>
            <a:r>
              <a:rPr lang="zh-CN" altLang="en-US" sz="2000" b="1" dirty="0"/>
              <a:t>一个问题</a:t>
            </a:r>
            <a:r>
              <a:rPr lang="en-US" altLang="zh-CN" sz="2000" b="1" dirty="0"/>
              <a:t>A</a:t>
            </a:r>
            <a:r>
              <a:rPr lang="zh-CN" altLang="en-US" sz="2000" b="1" dirty="0"/>
              <a:t>可以归约为问题</a:t>
            </a:r>
            <a:r>
              <a:rPr lang="en-US" altLang="zh-CN" sz="2000" b="1" dirty="0"/>
              <a:t>B</a:t>
            </a:r>
            <a:r>
              <a:rPr lang="zh-CN" altLang="en-US" sz="2000" b="1" dirty="0"/>
              <a:t>的含义即是，可以用解决问题</a:t>
            </a:r>
            <a:r>
              <a:rPr lang="en-US" altLang="zh-CN" sz="2000" b="1" dirty="0"/>
              <a:t>B</a:t>
            </a:r>
            <a:r>
              <a:rPr lang="zh-CN" altLang="en-US" sz="2000" b="1" dirty="0"/>
              <a:t>的解法来解决问题</a:t>
            </a:r>
            <a:r>
              <a:rPr lang="en-US" altLang="zh-CN" sz="2000" b="1" dirty="0"/>
              <a:t>A</a:t>
            </a:r>
            <a:r>
              <a:rPr lang="zh-CN" altLang="en-US" sz="2000" b="1" dirty="0"/>
              <a:t>，或者说，问题</a:t>
            </a:r>
            <a:r>
              <a:rPr lang="en-US" altLang="zh-CN" sz="2000" b="1" dirty="0"/>
              <a:t>A</a:t>
            </a:r>
            <a:r>
              <a:rPr lang="zh-CN" altLang="en-US" sz="2000" b="1" dirty="0"/>
              <a:t>可以“变成”问题</a:t>
            </a:r>
            <a:r>
              <a:rPr lang="en-US" altLang="zh-CN" sz="2000" b="1" dirty="0"/>
              <a:t>B</a:t>
            </a:r>
            <a:r>
              <a:rPr lang="zh-CN" altLang="en-US" sz="2000" b="1" dirty="0"/>
              <a:t>。 </a:t>
            </a:r>
          </a:p>
          <a:p>
            <a:pPr>
              <a:buClrTx/>
              <a:buSzTx/>
              <a:buFontTx/>
            </a:pPr>
            <a:r>
              <a:rPr lang="zh-CN" altLang="en-US" sz="2000" b="1" dirty="0"/>
              <a:t>如：一元一次方程可以“归约”为一元二次方程。</a:t>
            </a:r>
            <a:endParaRPr lang="en-US" altLang="zh-CN" sz="2000" b="1" dirty="0"/>
          </a:p>
          <a:p>
            <a:pPr>
              <a:buClrTx/>
              <a:buSzTx/>
              <a:buFontTx/>
            </a:pPr>
            <a:r>
              <a:rPr lang="zh-CN" altLang="en-US" sz="2000" dirty="0"/>
              <a:t>求解一个一元一次方程和求解一个一元二次方程。那么我们说，前者可以归约为后者，意即知道如何解一个一元二次方程那么一定能解出一 元一次方程。</a:t>
            </a:r>
            <a:endParaRPr lang="en-US" altLang="zh-CN" sz="2000" dirty="0"/>
          </a:p>
          <a:p>
            <a:pPr>
              <a:buClrTx/>
              <a:buSzTx/>
              <a:buFontTx/>
            </a:pPr>
            <a:r>
              <a:rPr lang="zh-CN" altLang="en-US" sz="2000" dirty="0"/>
              <a:t>我们可以写出两个程序分别对应两个问题，那么我们能找到一个</a:t>
            </a:r>
            <a:r>
              <a:rPr lang="en-US" altLang="zh-CN" sz="2000" dirty="0"/>
              <a:t>“</a:t>
            </a:r>
            <a:r>
              <a:rPr lang="zh-CN" altLang="en-US" sz="2000" dirty="0"/>
              <a:t>规则</a:t>
            </a:r>
            <a:r>
              <a:rPr lang="en-US" altLang="zh-CN" sz="2000" dirty="0"/>
              <a:t>”</a:t>
            </a:r>
            <a:r>
              <a:rPr lang="zh-CN" altLang="en-US" sz="2000" dirty="0"/>
              <a:t>，按照这个规则把解一元一次方程程序的输入数据变一下，用在解一元二次方 程的程序上，两个程序总能得到一样的结果。这个规则即是：两个方程的对应项系数不变，一元二次方程的二次项系数为</a:t>
            </a:r>
            <a:r>
              <a:rPr lang="en-US" altLang="zh-CN" sz="2000" dirty="0"/>
              <a:t>0</a:t>
            </a:r>
            <a:r>
              <a:rPr lang="zh-CN" altLang="en-US" sz="2000" dirty="0"/>
              <a:t>。按照这个规则把前一个问题转换成后一个问题，两个问题就等价了。</a:t>
            </a:r>
            <a:endParaRPr lang="zh-CN" altLang="en-US" sz="2000" b="1" dirty="0"/>
          </a:p>
          <a:p>
            <a:pPr>
              <a:buClrTx/>
              <a:buSzTx/>
              <a:buFontTx/>
            </a:pPr>
            <a:endParaRPr lang="zh-CN" altLang="en-US" sz="2000" b="1" dirty="0"/>
          </a:p>
        </p:txBody>
      </p:sp>
      <p:graphicFrame>
        <p:nvGraphicFramePr>
          <p:cNvPr id="69636" name="Object 2"/>
          <p:cNvGraphicFramePr>
            <a:graphicFrameLocks noGrp="1" noChangeAspect="1"/>
          </p:cNvGraphicFramePr>
          <p:nvPr>
            <p:ph sz="half" idx="2"/>
          </p:nvPr>
        </p:nvGraphicFramePr>
        <p:xfrm>
          <a:off x="4265613" y="1219200"/>
          <a:ext cx="668337" cy="533400"/>
        </p:xfrm>
        <a:graphic>
          <a:graphicData uri="http://schemas.openxmlformats.org/presentationml/2006/ole">
            <mc:AlternateContent xmlns:mc="http://schemas.openxmlformats.org/markup-compatibility/2006">
              <mc:Choice xmlns:v="urn:schemas-microsoft-com:vml" Requires="v">
                <p:oleObj spid="_x0000_s3086" r:id="rId3" imgW="190500" imgH="152400" progId="">
                  <p:embed/>
                </p:oleObj>
              </mc:Choice>
              <mc:Fallback>
                <p:oleObj r:id="rId3" imgW="190500" imgH="152400" progId="">
                  <p:embed/>
                  <p:pic>
                    <p:nvPicPr>
                      <p:cNvPr id="69636" name="Object 2"/>
                      <p:cNvPicPr/>
                      <p:nvPr/>
                    </p:nvPicPr>
                    <p:blipFill>
                      <a:blip r:embed="rId4"/>
                      <a:srcRect/>
                      <a:stretch>
                        <a:fillRect/>
                      </a:stretch>
                    </p:blipFill>
                    <p:spPr>
                      <a:xfrm>
                        <a:off x="4265613" y="1219200"/>
                        <a:ext cx="668337" cy="533400"/>
                      </a:xfrm>
                      <a:prstGeom prst="rect">
                        <a:avLst/>
                      </a:prstGeom>
                      <a:noFill/>
                      <a:ln w="38100">
                        <a:miter/>
                      </a:ln>
                    </p:spPr>
                  </p:pic>
                </p:oleObj>
              </mc:Fallback>
            </mc:AlternateContent>
          </a:graphicData>
        </a:graphic>
      </p:graphicFrame>
      <p:sp>
        <p:nvSpPr>
          <p:cNvPr id="69637"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85512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96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70659" name="Rectangle 2"/>
          <p:cNvSpPr>
            <a:spLocks noGrp="1"/>
          </p:cNvSpPr>
          <p:nvPr>
            <p:ph type="title"/>
          </p:nvPr>
        </p:nvSpPr>
        <p:spPr>
          <a:ln/>
        </p:spPr>
        <p:txBody>
          <a:bodyPr vert="horz" wrap="square" lIns="91440" tIns="45720" rIns="91440" bIns="45720" anchor="ctr" anchorCtr="0"/>
          <a:lstStyle/>
          <a:p>
            <a:pPr eaLnBrk="1" hangingPunct="1"/>
            <a:r>
              <a:rPr lang="en-US" altLang="zh-CN" dirty="0"/>
              <a:t>7.3.2</a:t>
            </a:r>
            <a:r>
              <a:rPr lang="zh-CN" altLang="en-US" dirty="0"/>
              <a:t>多项式归约性质</a:t>
            </a:r>
            <a:r>
              <a:rPr lang="en-US" altLang="zh-CN" dirty="0"/>
              <a:t>(Reduction)</a:t>
            </a:r>
          </a:p>
        </p:txBody>
      </p:sp>
      <p:sp>
        <p:nvSpPr>
          <p:cNvPr id="28675" name="Rectangle 3"/>
          <p:cNvSpPr>
            <a:spLocks noGrp="1"/>
          </p:cNvSpPr>
          <p:nvPr>
            <p:ph type="body" sz="half" idx="1"/>
          </p:nvPr>
        </p:nvSpPr>
        <p:spPr>
          <a:xfrm>
            <a:off x="685800" y="1295400"/>
            <a:ext cx="8458200" cy="4572000"/>
          </a:xfrm>
          <a:ln/>
        </p:spPr>
        <p:txBody>
          <a:bodyPr vert="horz" wrap="square" lIns="91440" tIns="45720" rIns="91440" bIns="45720" anchor="t" anchorCtr="0"/>
          <a:lstStyle/>
          <a:p>
            <a:pPr>
              <a:buClrTx/>
              <a:buSzTx/>
              <a:buFontTx/>
            </a:pPr>
            <a:r>
              <a:rPr lang="zh-CN" altLang="en-US" sz="2400" dirty="0"/>
              <a:t>问题</a:t>
            </a:r>
            <a:r>
              <a:rPr lang="en-US" altLang="zh-CN" sz="2400" dirty="0"/>
              <a:t>A</a:t>
            </a:r>
            <a:r>
              <a:rPr lang="zh-CN" altLang="en-US" sz="2400" dirty="0"/>
              <a:t>可“归约”为问题</a:t>
            </a:r>
            <a:r>
              <a:rPr lang="en-US" altLang="zh-CN" sz="2400" dirty="0"/>
              <a:t>B</a:t>
            </a:r>
            <a:r>
              <a:rPr lang="zh-CN" altLang="en-US" sz="2400" dirty="0">
                <a:solidFill>
                  <a:srgbClr val="FF0000"/>
                </a:solidFill>
              </a:rPr>
              <a:t>直观意义</a:t>
            </a:r>
            <a:r>
              <a:rPr lang="zh-CN" altLang="en-US" sz="2400" dirty="0"/>
              <a:t>：</a:t>
            </a:r>
            <a:r>
              <a:rPr lang="en-US" altLang="zh-CN" sz="2400" dirty="0"/>
              <a:t>B</a:t>
            </a:r>
            <a:r>
              <a:rPr lang="zh-CN" altLang="en-US" sz="2400" dirty="0"/>
              <a:t>的时间复杂度高于或者等于</a:t>
            </a:r>
            <a:r>
              <a:rPr lang="en-US" altLang="zh-CN" sz="2400" dirty="0"/>
              <a:t>A</a:t>
            </a:r>
            <a:r>
              <a:rPr lang="zh-CN" altLang="en-US" sz="2400" dirty="0"/>
              <a:t>的时间复杂度。也就是说，问题</a:t>
            </a:r>
            <a:r>
              <a:rPr lang="en-US" altLang="zh-CN" sz="2400" dirty="0"/>
              <a:t>A</a:t>
            </a:r>
            <a:r>
              <a:rPr lang="zh-CN" altLang="en-US" sz="2400" dirty="0"/>
              <a:t>不比问题</a:t>
            </a:r>
            <a:r>
              <a:rPr lang="en-US" altLang="zh-CN" sz="2400" dirty="0"/>
              <a:t>B</a:t>
            </a:r>
            <a:r>
              <a:rPr lang="zh-CN" altLang="en-US" sz="2400" dirty="0"/>
              <a:t>难。 </a:t>
            </a:r>
          </a:p>
          <a:p>
            <a:pPr>
              <a:buClrTx/>
              <a:buSzTx/>
              <a:buFontTx/>
            </a:pPr>
            <a:r>
              <a:rPr lang="zh-CN" altLang="en-US" sz="2400" dirty="0"/>
              <a:t>很显然，归约具有一项重要的性质：</a:t>
            </a:r>
            <a:r>
              <a:rPr lang="zh-CN" altLang="en-US" sz="2400" dirty="0">
                <a:solidFill>
                  <a:srgbClr val="FF0000"/>
                </a:solidFill>
              </a:rPr>
              <a:t>归约具有传递性</a:t>
            </a:r>
            <a:r>
              <a:rPr lang="zh-CN" altLang="en-US" sz="2400" dirty="0"/>
              <a:t>。如果问题</a:t>
            </a:r>
            <a:r>
              <a:rPr lang="en-US" altLang="zh-CN" sz="2400" dirty="0"/>
              <a:t>A</a:t>
            </a:r>
            <a:r>
              <a:rPr lang="zh-CN" altLang="en-US" sz="2400" dirty="0"/>
              <a:t>可约化为问题</a:t>
            </a:r>
            <a:r>
              <a:rPr lang="en-US" altLang="zh-CN" sz="2400" dirty="0"/>
              <a:t>B</a:t>
            </a:r>
            <a:r>
              <a:rPr lang="zh-CN" altLang="en-US" sz="2400" dirty="0"/>
              <a:t>，问题</a:t>
            </a:r>
            <a:r>
              <a:rPr lang="en-US" altLang="zh-CN" sz="2400" dirty="0"/>
              <a:t>B</a:t>
            </a:r>
            <a:r>
              <a:rPr lang="zh-CN" altLang="en-US" sz="2400" dirty="0"/>
              <a:t>可约化为问题</a:t>
            </a:r>
            <a:r>
              <a:rPr lang="en-US" altLang="zh-CN" sz="2400" dirty="0"/>
              <a:t>C</a:t>
            </a:r>
            <a:r>
              <a:rPr lang="zh-CN" altLang="en-US" sz="2400" dirty="0"/>
              <a:t>，则问题</a:t>
            </a:r>
            <a:r>
              <a:rPr lang="en-US" altLang="zh-CN" sz="2400" dirty="0"/>
              <a:t>A</a:t>
            </a:r>
            <a:r>
              <a:rPr lang="zh-CN" altLang="en-US" sz="2400" dirty="0"/>
              <a:t>一定可约化为问题</a:t>
            </a:r>
            <a:r>
              <a:rPr lang="en-US" altLang="zh-CN" sz="2400" dirty="0"/>
              <a:t>C</a:t>
            </a:r>
            <a:r>
              <a:rPr lang="zh-CN" altLang="en-US" sz="2400" dirty="0"/>
              <a:t>。 </a:t>
            </a:r>
          </a:p>
          <a:p>
            <a:pPr eaLnBrk="1" hangingPunct="1">
              <a:buClrTx/>
              <a:buSzTx/>
              <a:buFontTx/>
            </a:pPr>
            <a:endParaRPr lang="en-US" altLang="zh-CN" dirty="0"/>
          </a:p>
          <a:p>
            <a:pPr eaLnBrk="1" hangingPunct="1">
              <a:buClrTx/>
              <a:buSzTx/>
              <a:buFontTx/>
            </a:pPr>
            <a:r>
              <a:rPr lang="zh-CN" altLang="en-US" dirty="0"/>
              <a:t>定义</a:t>
            </a:r>
            <a:endParaRPr lang="en-US" altLang="zh-CN" dirty="0"/>
          </a:p>
        </p:txBody>
      </p:sp>
      <p:pic>
        <p:nvPicPr>
          <p:cNvPr id="70662" name="Picture 1"/>
          <p:cNvPicPr>
            <a:picLocks noChangeAspect="1"/>
          </p:cNvPicPr>
          <p:nvPr/>
        </p:nvPicPr>
        <p:blipFill>
          <a:blip r:embed="rId3"/>
          <a:stretch>
            <a:fillRect/>
          </a:stretch>
        </p:blipFill>
        <p:spPr>
          <a:xfrm>
            <a:off x="957784" y="4495800"/>
            <a:ext cx="7914232" cy="1295400"/>
          </a:xfrm>
          <a:prstGeom prst="rect">
            <a:avLst/>
          </a:prstGeom>
          <a:noFill/>
          <a:ln w="9525">
            <a:noFill/>
          </a:ln>
        </p:spPr>
      </p:pic>
    </p:spTree>
    <p:extLst>
      <p:ext uri="{BB962C8B-B14F-4D97-AF65-F5344CB8AC3E}">
        <p14:creationId xmlns:p14="http://schemas.microsoft.com/office/powerpoint/2010/main" val="207048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7587" name="Rectangle 2"/>
          <p:cNvSpPr>
            <a:spLocks noGrp="1"/>
          </p:cNvSpPr>
          <p:nvPr>
            <p:ph type="title"/>
          </p:nvPr>
        </p:nvSpPr>
        <p:spPr>
          <a:ln/>
        </p:spPr>
        <p:txBody>
          <a:bodyPr vert="horz" wrap="square" lIns="91440" tIns="45720" rIns="91440" bIns="45720" anchor="ctr" anchorCtr="0"/>
          <a:lstStyle/>
          <a:p>
            <a:pPr eaLnBrk="1" hangingPunct="1"/>
            <a:r>
              <a:rPr lang="en-US" altLang="zh-CN" dirty="0"/>
              <a:t>7.3.3 NP</a:t>
            </a:r>
            <a:r>
              <a:rPr lang="zh-CN" altLang="en-US" dirty="0"/>
              <a:t>难类、</a:t>
            </a:r>
            <a:r>
              <a:rPr lang="en-US" altLang="zh-CN" dirty="0"/>
              <a:t>NP</a:t>
            </a:r>
            <a:r>
              <a:rPr lang="zh-CN" altLang="en-US" dirty="0"/>
              <a:t>完全类</a:t>
            </a:r>
            <a:endParaRPr lang="en-US" altLang="zh-CN" dirty="0"/>
          </a:p>
        </p:txBody>
      </p:sp>
      <p:sp>
        <p:nvSpPr>
          <p:cNvPr id="27651" name="Rectangle 3"/>
          <p:cNvSpPr>
            <a:spLocks noGrp="1"/>
          </p:cNvSpPr>
          <p:nvPr>
            <p:ph idx="1"/>
          </p:nvPr>
        </p:nvSpPr>
        <p:spPr>
          <a:ln/>
        </p:spPr>
        <p:txBody>
          <a:bodyPr vert="horz" wrap="square" lIns="91440" tIns="45720" rIns="91440" bIns="45720" anchor="t" anchorCtr="0"/>
          <a:lstStyle/>
          <a:p>
            <a:pPr eaLnBrk="1" hangingPunct="1"/>
            <a:r>
              <a:rPr lang="zh-CN" altLang="en-US" dirty="0"/>
              <a:t>术语“</a:t>
            </a:r>
            <a:r>
              <a:rPr lang="en-US" altLang="zh-CN" dirty="0"/>
              <a:t>NP</a:t>
            </a:r>
            <a:r>
              <a:rPr lang="zh-CN" altLang="en-US" dirty="0"/>
              <a:t>完全”表示</a:t>
            </a:r>
            <a:r>
              <a:rPr lang="en-US" altLang="zh-CN" dirty="0"/>
              <a:t>NP</a:t>
            </a:r>
            <a:r>
              <a:rPr lang="zh-CN" altLang="en-US" dirty="0"/>
              <a:t>判定问题的一个子类，它们在下述意义上是最难的，即如果它们中的一个被证明用多项式时间确定性算法可解，那么</a:t>
            </a:r>
            <a:r>
              <a:rPr lang="en-US" altLang="zh-CN" dirty="0"/>
              <a:t>NP</a:t>
            </a:r>
            <a:r>
              <a:rPr lang="zh-CN" altLang="en-US" dirty="0"/>
              <a:t>中的所有问题用多项式时间确定性算法可解，即</a:t>
            </a:r>
            <a:r>
              <a:rPr lang="en-US" altLang="zh-CN" dirty="0"/>
              <a:t>NP=P</a:t>
            </a:r>
            <a:r>
              <a:rPr lang="zh-CN" altLang="en-US" dirty="0"/>
              <a:t>。</a:t>
            </a:r>
            <a:endParaRPr lang="en-US" altLang="zh-CN" dirty="0"/>
          </a:p>
          <a:p>
            <a:pPr eaLnBrk="1" hangingPunct="1"/>
            <a:endParaRPr lang="en-US" altLang="zh-CN" dirty="0"/>
          </a:p>
          <a:p>
            <a:pPr eaLnBrk="1" hangingPunct="1"/>
            <a:r>
              <a:rPr lang="en-US" altLang="zh-CN" b="1" dirty="0"/>
              <a:t>NP</a:t>
            </a:r>
            <a:r>
              <a:rPr lang="zh-CN" altLang="en-US" b="1" dirty="0"/>
              <a:t>完全问题是</a:t>
            </a:r>
            <a:r>
              <a:rPr lang="en-US" altLang="zh-CN" b="1" dirty="0">
                <a:solidFill>
                  <a:srgbClr val="FF0000"/>
                </a:solidFill>
              </a:rPr>
              <a:t>NP</a:t>
            </a:r>
            <a:r>
              <a:rPr lang="zh-CN" altLang="en-US" b="1" dirty="0">
                <a:solidFill>
                  <a:srgbClr val="FF0000"/>
                </a:solidFill>
              </a:rPr>
              <a:t>类问题的子类</a:t>
            </a:r>
            <a:r>
              <a:rPr lang="zh-CN" altLang="en-US" b="1" dirty="0"/>
              <a:t>，一个具有特殊性质与特殊意义的子类。</a:t>
            </a:r>
            <a:r>
              <a:rPr lang="zh-CN" altLang="en-US" dirty="0"/>
              <a:t> </a:t>
            </a:r>
          </a:p>
          <a:p>
            <a:pPr eaLnBrk="1" hangingPunct="1"/>
            <a:endParaRPr lang="en-US" altLang="zh-CN" dirty="0"/>
          </a:p>
        </p:txBody>
      </p:sp>
    </p:spTree>
    <p:extLst>
      <p:ext uri="{BB962C8B-B14F-4D97-AF65-F5344CB8AC3E}">
        <p14:creationId xmlns:p14="http://schemas.microsoft.com/office/powerpoint/2010/main" val="137062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p:cTn id="7" dur="500" fill="hold"/>
                                        <p:tgtEl>
                                          <p:spTgt spid="2765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7651">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27651">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2765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anim calcmode="lin" valueType="num">
                                      <p:cBhvr>
                                        <p:cTn id="15" dur="500" fill="hold"/>
                                        <p:tgtEl>
                                          <p:spTgt spid="27651">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27651">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27651">
                                            <p:txEl>
                                              <p:pRg st="2" end="2"/>
                                            </p:txEl>
                                          </p:spTgt>
                                        </p:tgtEl>
                                        <p:attrNameLst>
                                          <p:attrName>style.rotation</p:attrName>
                                        </p:attrNameLst>
                                      </p:cBhvr>
                                      <p:tavLst>
                                        <p:tav tm="0">
                                          <p:val>
                                            <p:fltVal val="360"/>
                                          </p:val>
                                        </p:tav>
                                        <p:tav tm="100000">
                                          <p:val>
                                            <p:fltVal val="0"/>
                                          </p:val>
                                        </p:tav>
                                      </p:tavLst>
                                    </p:anim>
                                    <p:animEffect transition="in" filter="fade">
                                      <p:cBhvr>
                                        <p:cTn id="18" dur="500"/>
                                        <p:tgtEl>
                                          <p:spTgt spid="27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ln/>
        </p:spPr>
        <p:txBody>
          <a:bodyPr vert="horz" wrap="square" lIns="91440" tIns="45720" rIns="91440" bIns="45720" anchor="ctr" anchorCtr="0"/>
          <a:lstStyle/>
          <a:p>
            <a:r>
              <a:rPr lang="en-US" altLang="zh-CN" dirty="0"/>
              <a:t>NP</a:t>
            </a:r>
            <a:r>
              <a:rPr lang="zh-CN" altLang="en-US" dirty="0"/>
              <a:t>完全类</a:t>
            </a:r>
          </a:p>
        </p:txBody>
      </p:sp>
      <p:sp>
        <p:nvSpPr>
          <p:cNvPr id="342019" name="Rectangle 3"/>
          <p:cNvSpPr>
            <a:spLocks noGrp="1"/>
          </p:cNvSpPr>
          <p:nvPr>
            <p:ph idx="1"/>
          </p:nvPr>
        </p:nvSpPr>
        <p:spPr>
          <a:ln/>
        </p:spPr>
        <p:txBody>
          <a:bodyPr vert="horz" wrap="square" lIns="91440" tIns="45720" rIns="91440" bIns="45720" anchor="t" anchorCtr="0"/>
          <a:lstStyle/>
          <a:p>
            <a:pPr>
              <a:buNone/>
            </a:pPr>
            <a:r>
              <a:rPr lang="en-US" altLang="zh-CN" dirty="0"/>
              <a:t>NP</a:t>
            </a:r>
            <a:r>
              <a:rPr lang="zh-CN" altLang="en-US" dirty="0"/>
              <a:t>完全问题是一类具备如下特殊性质的</a:t>
            </a:r>
            <a:r>
              <a:rPr lang="en-US" altLang="zh-CN" dirty="0"/>
              <a:t>NP</a:t>
            </a:r>
            <a:r>
              <a:rPr lang="zh-CN" altLang="en-US" dirty="0"/>
              <a:t>类问题</a:t>
            </a:r>
            <a:endParaRPr lang="zh-CN" altLang="en-US" b="1" dirty="0"/>
          </a:p>
          <a:p>
            <a:endParaRPr lang="zh-CN" altLang="en-US" b="1" dirty="0"/>
          </a:p>
          <a:p>
            <a:endParaRPr lang="zh-CN" altLang="en-US" b="1" dirty="0"/>
          </a:p>
          <a:p>
            <a:endParaRPr lang="zh-CN" altLang="en-US" b="1" dirty="0"/>
          </a:p>
          <a:p>
            <a:endParaRPr lang="zh-CN" altLang="en-US" b="1" dirty="0"/>
          </a:p>
          <a:p>
            <a:endParaRPr lang="zh-CN" altLang="en-US" b="1" dirty="0"/>
          </a:p>
          <a:p>
            <a:endParaRPr lang="zh-CN" altLang="en-US" b="1" dirty="0"/>
          </a:p>
          <a:p>
            <a:r>
              <a:rPr lang="zh-CN" altLang="en-US" b="1" dirty="0"/>
              <a:t>∏（该问题本身）就是一个</a:t>
            </a:r>
            <a:r>
              <a:rPr lang="en-US" altLang="zh-CN" b="1" dirty="0"/>
              <a:t>NP</a:t>
            </a:r>
            <a:r>
              <a:rPr lang="zh-CN" altLang="en-US" b="1" dirty="0"/>
              <a:t>类问题</a:t>
            </a:r>
          </a:p>
          <a:p>
            <a:r>
              <a:rPr lang="zh-CN" altLang="en-US" b="1" dirty="0"/>
              <a:t>每一个</a:t>
            </a:r>
            <a:r>
              <a:rPr lang="en-US" altLang="zh-CN" b="1" dirty="0"/>
              <a:t>NP</a:t>
            </a:r>
            <a:r>
              <a:rPr lang="zh-CN" altLang="en-US" b="1" dirty="0"/>
              <a:t>类问题都可以通过多项式时间归约到∏</a:t>
            </a:r>
          </a:p>
        </p:txBody>
      </p:sp>
      <p:sp>
        <p:nvSpPr>
          <p:cNvPr id="72708" name="Oval 5"/>
          <p:cNvSpPr/>
          <p:nvPr/>
        </p:nvSpPr>
        <p:spPr>
          <a:xfrm>
            <a:off x="2209800" y="1828800"/>
            <a:ext cx="4191000" cy="2590800"/>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09" name="Rectangle 6"/>
          <p:cNvSpPr/>
          <p:nvPr/>
        </p:nvSpPr>
        <p:spPr>
          <a:xfrm>
            <a:off x="3490913" y="2154238"/>
            <a:ext cx="1514475" cy="51752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NP</a:t>
            </a:r>
            <a:r>
              <a:rPr lang="zh-CN" altLang="en-US" sz="2200" b="1" dirty="0">
                <a:solidFill>
                  <a:srgbClr val="000080"/>
                </a:solidFill>
                <a:latin typeface="华文中宋" panose="02010600040101010101" pitchFamily="2" charset="-122"/>
                <a:ea typeface="华文中宋" panose="02010600040101010101" pitchFamily="2" charset="-122"/>
              </a:rPr>
              <a:t>类问题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0" name="Rectangle 7"/>
          <p:cNvSpPr/>
          <p:nvPr/>
        </p:nvSpPr>
        <p:spPr>
          <a:xfrm>
            <a:off x="3956050" y="3362325"/>
            <a:ext cx="1744663" cy="519113"/>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NP</a:t>
            </a:r>
            <a:r>
              <a:rPr lang="zh-CN" altLang="en-US" sz="2200" b="1" dirty="0">
                <a:solidFill>
                  <a:srgbClr val="FF0000"/>
                </a:solidFill>
                <a:latin typeface="华文中宋" panose="02010600040101010101" pitchFamily="2" charset="-122"/>
                <a:ea typeface="华文中宋" panose="02010600040101010101" pitchFamily="2" charset="-122"/>
              </a:rPr>
              <a:t>完全问题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1" name="Oval 8"/>
          <p:cNvSpPr/>
          <p:nvPr/>
        </p:nvSpPr>
        <p:spPr>
          <a:xfrm>
            <a:off x="3025775" y="2671763"/>
            <a:ext cx="231775" cy="173037"/>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2" name="Oval 9"/>
          <p:cNvSpPr/>
          <p:nvPr/>
        </p:nvSpPr>
        <p:spPr>
          <a:xfrm>
            <a:off x="2559050" y="3276600"/>
            <a:ext cx="233363" cy="173038"/>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3" name="Oval 10"/>
          <p:cNvSpPr/>
          <p:nvPr/>
        </p:nvSpPr>
        <p:spPr>
          <a:xfrm>
            <a:off x="3025775" y="3881438"/>
            <a:ext cx="231775" cy="173037"/>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4" name="Oval 11"/>
          <p:cNvSpPr/>
          <p:nvPr/>
        </p:nvSpPr>
        <p:spPr>
          <a:xfrm>
            <a:off x="4770438" y="2930525"/>
            <a:ext cx="233362" cy="173038"/>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5" name="Oval 12"/>
          <p:cNvSpPr/>
          <p:nvPr/>
        </p:nvSpPr>
        <p:spPr>
          <a:xfrm>
            <a:off x="4071938" y="2671763"/>
            <a:ext cx="233362" cy="173037"/>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6" name="Oval 13"/>
          <p:cNvSpPr/>
          <p:nvPr/>
        </p:nvSpPr>
        <p:spPr>
          <a:xfrm>
            <a:off x="3956050" y="4140200"/>
            <a:ext cx="233363" cy="173038"/>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2717" name="Oval 14"/>
          <p:cNvSpPr/>
          <p:nvPr/>
        </p:nvSpPr>
        <p:spPr>
          <a:xfrm>
            <a:off x="3724275" y="3362325"/>
            <a:ext cx="231775" cy="173038"/>
          </a:xfrm>
          <a:prstGeom prst="ellipse">
            <a:avLst/>
          </a:prstGeom>
          <a:solidFill>
            <a:srgbClr val="FF000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grpSp>
        <p:nvGrpSpPr>
          <p:cNvPr id="2" name="Group 21"/>
          <p:cNvGrpSpPr/>
          <p:nvPr/>
        </p:nvGrpSpPr>
        <p:grpSpPr>
          <a:xfrm>
            <a:off x="2792413" y="2844800"/>
            <a:ext cx="1979612" cy="1295400"/>
            <a:chOff x="1759" y="1936"/>
            <a:chExt cx="1247" cy="816"/>
          </a:xfrm>
        </p:grpSpPr>
        <p:sp>
          <p:nvSpPr>
            <p:cNvPr id="72720" name="Line 15"/>
            <p:cNvSpPr/>
            <p:nvPr/>
          </p:nvSpPr>
          <p:spPr>
            <a:xfrm>
              <a:off x="2052" y="1936"/>
              <a:ext cx="294" cy="326"/>
            </a:xfrm>
            <a:prstGeom prst="line">
              <a:avLst/>
            </a:prstGeom>
            <a:ln w="28575" cap="flat" cmpd="sng">
              <a:solidFill>
                <a:srgbClr val="000000"/>
              </a:solidFill>
              <a:prstDash val="solid"/>
              <a:headEnd type="none" w="med" len="med"/>
              <a:tailEnd type="triangle" w="med" len="med"/>
            </a:ln>
          </p:spPr>
        </p:sp>
        <p:sp>
          <p:nvSpPr>
            <p:cNvPr id="72721" name="Line 16"/>
            <p:cNvSpPr/>
            <p:nvPr/>
          </p:nvSpPr>
          <p:spPr>
            <a:xfrm flipH="1">
              <a:off x="2419" y="1936"/>
              <a:ext cx="220" cy="326"/>
            </a:xfrm>
            <a:prstGeom prst="line">
              <a:avLst/>
            </a:prstGeom>
            <a:ln w="28575" cap="flat" cmpd="sng">
              <a:solidFill>
                <a:srgbClr val="000000"/>
              </a:solidFill>
              <a:prstDash val="solid"/>
              <a:headEnd type="none" w="med" len="med"/>
              <a:tailEnd type="triangle" w="med" len="med"/>
            </a:ln>
          </p:spPr>
        </p:sp>
        <p:sp>
          <p:nvSpPr>
            <p:cNvPr id="72722" name="Line 17"/>
            <p:cNvSpPr/>
            <p:nvPr/>
          </p:nvSpPr>
          <p:spPr>
            <a:xfrm flipH="1">
              <a:off x="2492" y="2099"/>
              <a:ext cx="514" cy="218"/>
            </a:xfrm>
            <a:prstGeom prst="line">
              <a:avLst/>
            </a:prstGeom>
            <a:ln w="28575" cap="flat" cmpd="sng">
              <a:solidFill>
                <a:srgbClr val="000000"/>
              </a:solidFill>
              <a:prstDash val="solid"/>
              <a:headEnd type="none" w="med" len="med"/>
              <a:tailEnd type="triangle" w="med" len="med"/>
            </a:ln>
          </p:spPr>
        </p:sp>
        <p:sp>
          <p:nvSpPr>
            <p:cNvPr id="72723" name="Line 18"/>
            <p:cNvSpPr/>
            <p:nvPr/>
          </p:nvSpPr>
          <p:spPr>
            <a:xfrm>
              <a:off x="1759" y="2262"/>
              <a:ext cx="587" cy="55"/>
            </a:xfrm>
            <a:prstGeom prst="line">
              <a:avLst/>
            </a:prstGeom>
            <a:ln w="28575" cap="flat" cmpd="sng">
              <a:solidFill>
                <a:srgbClr val="000000"/>
              </a:solidFill>
              <a:prstDash val="solid"/>
              <a:headEnd type="none" w="med" len="med"/>
              <a:tailEnd type="triangle" w="med" len="med"/>
            </a:ln>
          </p:spPr>
        </p:sp>
        <p:sp>
          <p:nvSpPr>
            <p:cNvPr id="72724" name="Line 19"/>
            <p:cNvSpPr/>
            <p:nvPr/>
          </p:nvSpPr>
          <p:spPr>
            <a:xfrm flipV="1">
              <a:off x="2052" y="2371"/>
              <a:ext cx="294" cy="218"/>
            </a:xfrm>
            <a:prstGeom prst="line">
              <a:avLst/>
            </a:prstGeom>
            <a:ln w="28575" cap="flat" cmpd="sng">
              <a:solidFill>
                <a:srgbClr val="000000"/>
              </a:solidFill>
              <a:prstDash val="solid"/>
              <a:headEnd type="none" w="med" len="med"/>
              <a:tailEnd type="triangle" w="med" len="med"/>
            </a:ln>
          </p:spPr>
        </p:sp>
        <p:sp>
          <p:nvSpPr>
            <p:cNvPr id="72725" name="Line 20"/>
            <p:cNvSpPr/>
            <p:nvPr/>
          </p:nvSpPr>
          <p:spPr>
            <a:xfrm flipH="1" flipV="1">
              <a:off x="2419" y="2371"/>
              <a:ext cx="146" cy="381"/>
            </a:xfrm>
            <a:prstGeom prst="line">
              <a:avLst/>
            </a:prstGeom>
            <a:ln w="28575" cap="flat" cmpd="sng">
              <a:solidFill>
                <a:srgbClr val="000000"/>
              </a:solidFill>
              <a:prstDash val="solid"/>
              <a:headEnd type="none" w="med" len="med"/>
              <a:tailEnd type="triangle" w="med" len="med"/>
            </a:ln>
          </p:spPr>
        </p:sp>
      </p:grpSp>
      <p:sp>
        <p:nvSpPr>
          <p:cNvPr id="72719"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27923514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42019">
                                            <p:txEl>
                                              <p:pRg st="7" end="7"/>
                                            </p:txEl>
                                          </p:spTgt>
                                        </p:tgtEl>
                                        <p:attrNameLst>
                                          <p:attrName>style.visibility</p:attrName>
                                        </p:attrNameLst>
                                      </p:cBhvr>
                                      <p:to>
                                        <p:strVal val="visible"/>
                                      </p:to>
                                    </p:set>
                                    <p:anim to="" calcmode="lin" valueType="num">
                                      <p:cBhvr>
                                        <p:cTn id="7" dur="1" fill="hold"/>
                                        <p:tgtEl>
                                          <p:spTgt spid="342019">
                                            <p:txEl>
                                              <p:pRg st="7" end="7"/>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42019">
                                            <p:txEl>
                                              <p:pRg st="8" end="8"/>
                                            </p:txEl>
                                          </p:spTgt>
                                        </p:tgtEl>
                                        <p:attrNameLst>
                                          <p:attrName>style.visibility</p:attrName>
                                        </p:attrNameLst>
                                      </p:cBhvr>
                                      <p:to>
                                        <p:strVal val="visible"/>
                                      </p:to>
                                    </p:set>
                                    <p:anim to="" calcmode="lin" valueType="num">
                                      <p:cBhvr>
                                        <p:cTn id="12" dur="1" fill="hold"/>
                                        <p:tgtEl>
                                          <p:spTgt spid="342019">
                                            <p:txEl>
                                              <p:pRg st="8" end="8"/>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50" presetClass="entr" presetSubtype="0" decel="10000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3"/>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a:ln/>
        </p:spPr>
        <p:txBody>
          <a:bodyPr vert="horz" wrap="square" lIns="91440" tIns="45720" rIns="91440" bIns="45720" anchor="ctr" anchorCtr="0"/>
          <a:lstStyle/>
          <a:p>
            <a:r>
              <a:rPr lang="en-US" altLang="zh-CN" b="1" dirty="0"/>
              <a:t>NP</a:t>
            </a:r>
            <a:r>
              <a:rPr lang="zh-CN" altLang="en-US" b="1" dirty="0"/>
              <a:t>完全问题的定义</a:t>
            </a:r>
          </a:p>
        </p:txBody>
      </p:sp>
      <p:sp>
        <p:nvSpPr>
          <p:cNvPr id="73731" name="Rectangle 3"/>
          <p:cNvSpPr>
            <a:spLocks noGrp="1"/>
          </p:cNvSpPr>
          <p:nvPr>
            <p:ph idx="1"/>
          </p:nvPr>
        </p:nvSpPr>
        <p:spPr>
          <a:ln/>
        </p:spPr>
        <p:txBody>
          <a:bodyPr vert="horz" wrap="square" lIns="91440" tIns="45720" rIns="91440" bIns="45720" anchor="t" anchorCtr="0"/>
          <a:lstStyle/>
          <a:p>
            <a:pPr>
              <a:lnSpc>
                <a:spcPct val="120000"/>
              </a:lnSpc>
            </a:pPr>
            <a:r>
              <a:rPr lang="zh-CN" altLang="en-US" b="1" dirty="0"/>
              <a:t>定义</a:t>
            </a:r>
            <a:r>
              <a:rPr lang="en-US" altLang="zh-CN" b="1" dirty="0"/>
              <a:t>9.7(</a:t>
            </a:r>
            <a:r>
              <a:rPr lang="en-US" altLang="zh-CN" b="1" dirty="0">
                <a:solidFill>
                  <a:srgbClr val="FF0000"/>
                </a:solidFill>
              </a:rPr>
              <a:t>NP</a:t>
            </a:r>
            <a:r>
              <a:rPr lang="zh-CN" altLang="en-US" b="1" dirty="0">
                <a:solidFill>
                  <a:srgbClr val="FF0000"/>
                </a:solidFill>
              </a:rPr>
              <a:t>完全问题</a:t>
            </a:r>
            <a:r>
              <a:rPr lang="en-US" altLang="zh-CN" b="1" dirty="0"/>
              <a:t>): </a:t>
            </a:r>
            <a:r>
              <a:rPr lang="zh-CN" altLang="en-US" b="1" dirty="0"/>
              <a:t>令∏是一个判定问题，如果问题∏属于</a:t>
            </a:r>
            <a:r>
              <a:rPr lang="en-US" altLang="zh-CN" b="1" dirty="0"/>
              <a:t>NP</a:t>
            </a:r>
            <a:r>
              <a:rPr lang="zh-CN" altLang="en-US" b="1" dirty="0"/>
              <a:t>类问题，并且对</a:t>
            </a:r>
            <a:r>
              <a:rPr lang="en-US" altLang="zh-CN" b="1" dirty="0"/>
              <a:t>NP</a:t>
            </a:r>
            <a:r>
              <a:rPr lang="zh-CN" altLang="en-US" b="1" dirty="0"/>
              <a:t>类问题中的每一个问题∏</a:t>
            </a:r>
            <a:r>
              <a:rPr lang="en-US" altLang="zh-CN" b="1" dirty="0"/>
              <a:t>′</a:t>
            </a:r>
            <a:r>
              <a:rPr lang="zh-CN" altLang="en-US" b="1" dirty="0"/>
              <a:t>，都有∏</a:t>
            </a:r>
            <a:r>
              <a:rPr lang="en-US" altLang="zh-CN" b="1" dirty="0"/>
              <a:t>′∝</a:t>
            </a:r>
            <a:r>
              <a:rPr lang="en-US" altLang="zh-CN" b="1" baseline="-25000" dirty="0">
                <a:solidFill>
                  <a:srgbClr val="FF0000"/>
                </a:solidFill>
              </a:rPr>
              <a:t>poly</a:t>
            </a:r>
            <a:r>
              <a:rPr lang="en-US" altLang="zh-CN" b="1" dirty="0"/>
              <a:t>∏</a:t>
            </a:r>
            <a:r>
              <a:rPr lang="zh-CN" altLang="en-US" b="1" dirty="0"/>
              <a:t>，则称判定问题∏是一个</a:t>
            </a:r>
            <a:r>
              <a:rPr lang="en-US" altLang="zh-CN" b="1" dirty="0"/>
              <a:t>NP</a:t>
            </a:r>
            <a:r>
              <a:rPr lang="zh-CN" altLang="en-US" b="1" dirty="0"/>
              <a:t>完全问题</a:t>
            </a:r>
            <a:r>
              <a:rPr lang="en-US" altLang="zh-CN" b="1" dirty="0"/>
              <a:t>(NP complete problem, NPC)</a:t>
            </a:r>
            <a:r>
              <a:rPr lang="zh-CN" altLang="en-US" b="1" dirty="0"/>
              <a:t>。</a:t>
            </a:r>
          </a:p>
        </p:txBody>
      </p:sp>
      <p:grpSp>
        <p:nvGrpSpPr>
          <p:cNvPr id="73732" name="Group 4"/>
          <p:cNvGrpSpPr/>
          <p:nvPr/>
        </p:nvGrpSpPr>
        <p:grpSpPr>
          <a:xfrm>
            <a:off x="2286000" y="3352800"/>
            <a:ext cx="4343400" cy="2590800"/>
            <a:chOff x="5765" y="1341"/>
            <a:chExt cx="3366" cy="2430"/>
          </a:xfrm>
        </p:grpSpPr>
        <p:sp>
          <p:nvSpPr>
            <p:cNvPr id="73734" name="Oval 5"/>
            <p:cNvSpPr/>
            <p:nvPr/>
          </p:nvSpPr>
          <p:spPr>
            <a:xfrm>
              <a:off x="5765" y="1341"/>
              <a:ext cx="3366" cy="2430"/>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35" name="Rectangle 6"/>
            <p:cNvSpPr/>
            <p:nvPr/>
          </p:nvSpPr>
          <p:spPr>
            <a:xfrm>
              <a:off x="6794" y="1503"/>
              <a:ext cx="1216" cy="48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NP</a:t>
              </a:r>
              <a:r>
                <a:rPr lang="zh-CN" altLang="en-US" sz="2200" b="1" dirty="0">
                  <a:solidFill>
                    <a:srgbClr val="000080"/>
                  </a:solidFill>
                  <a:latin typeface="华文中宋" panose="02010600040101010101" pitchFamily="2" charset="-122"/>
                  <a:ea typeface="华文中宋" panose="02010600040101010101" pitchFamily="2" charset="-122"/>
                </a:rPr>
                <a:t>类问题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36" name="Rectangle 7"/>
            <p:cNvSpPr/>
            <p:nvPr/>
          </p:nvSpPr>
          <p:spPr>
            <a:xfrm>
              <a:off x="7168" y="2637"/>
              <a:ext cx="1401" cy="48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NP</a:t>
              </a:r>
              <a:r>
                <a:rPr lang="zh-CN" altLang="en-US" sz="2200" b="1" dirty="0">
                  <a:solidFill>
                    <a:srgbClr val="FF0000"/>
                  </a:solidFill>
                  <a:latin typeface="华文中宋" panose="02010600040101010101" pitchFamily="2" charset="-122"/>
                  <a:ea typeface="华文中宋" panose="02010600040101010101" pitchFamily="2" charset="-122"/>
                </a:rPr>
                <a:t>完全问题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37" name="Oval 8"/>
            <p:cNvSpPr/>
            <p:nvPr/>
          </p:nvSpPr>
          <p:spPr>
            <a:xfrm>
              <a:off x="6420" y="1989"/>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38" name="Oval 9"/>
            <p:cNvSpPr/>
            <p:nvPr/>
          </p:nvSpPr>
          <p:spPr>
            <a:xfrm>
              <a:off x="6046" y="2556"/>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39" name="Oval 10"/>
            <p:cNvSpPr/>
            <p:nvPr/>
          </p:nvSpPr>
          <p:spPr>
            <a:xfrm>
              <a:off x="6420" y="3123"/>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40" name="Oval 11"/>
            <p:cNvSpPr/>
            <p:nvPr/>
          </p:nvSpPr>
          <p:spPr>
            <a:xfrm>
              <a:off x="7822" y="2232"/>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41" name="Oval 12"/>
            <p:cNvSpPr/>
            <p:nvPr/>
          </p:nvSpPr>
          <p:spPr>
            <a:xfrm>
              <a:off x="7261" y="1989"/>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42" name="Oval 13"/>
            <p:cNvSpPr/>
            <p:nvPr/>
          </p:nvSpPr>
          <p:spPr>
            <a:xfrm>
              <a:off x="7168" y="3366"/>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43" name="Oval 14"/>
            <p:cNvSpPr/>
            <p:nvPr/>
          </p:nvSpPr>
          <p:spPr>
            <a:xfrm>
              <a:off x="6981" y="2637"/>
              <a:ext cx="187" cy="162"/>
            </a:xfrm>
            <a:prstGeom prst="ellipse">
              <a:avLst/>
            </a:prstGeom>
            <a:solidFill>
              <a:srgbClr val="FF000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3744" name="Line 15"/>
            <p:cNvSpPr/>
            <p:nvPr/>
          </p:nvSpPr>
          <p:spPr>
            <a:xfrm>
              <a:off x="6607" y="2151"/>
              <a:ext cx="374" cy="486"/>
            </a:xfrm>
            <a:prstGeom prst="line">
              <a:avLst/>
            </a:prstGeom>
            <a:ln w="28575" cap="flat" cmpd="sng">
              <a:solidFill>
                <a:srgbClr val="000000"/>
              </a:solidFill>
              <a:prstDash val="solid"/>
              <a:headEnd type="none" w="med" len="med"/>
              <a:tailEnd type="triangle" w="med" len="med"/>
            </a:ln>
          </p:spPr>
        </p:sp>
        <p:sp>
          <p:nvSpPr>
            <p:cNvPr id="73745" name="Line 16"/>
            <p:cNvSpPr/>
            <p:nvPr/>
          </p:nvSpPr>
          <p:spPr>
            <a:xfrm flipH="1">
              <a:off x="7074" y="2151"/>
              <a:ext cx="281" cy="486"/>
            </a:xfrm>
            <a:prstGeom prst="line">
              <a:avLst/>
            </a:prstGeom>
            <a:ln w="28575" cap="flat" cmpd="sng">
              <a:solidFill>
                <a:srgbClr val="000000"/>
              </a:solidFill>
              <a:prstDash val="solid"/>
              <a:headEnd type="none" w="med" len="med"/>
              <a:tailEnd type="triangle" w="med" len="med"/>
            </a:ln>
          </p:spPr>
        </p:sp>
        <p:sp>
          <p:nvSpPr>
            <p:cNvPr id="73746" name="Line 17"/>
            <p:cNvSpPr/>
            <p:nvPr/>
          </p:nvSpPr>
          <p:spPr>
            <a:xfrm flipH="1">
              <a:off x="7168" y="2394"/>
              <a:ext cx="655" cy="324"/>
            </a:xfrm>
            <a:prstGeom prst="line">
              <a:avLst/>
            </a:prstGeom>
            <a:ln w="28575" cap="flat" cmpd="sng">
              <a:solidFill>
                <a:srgbClr val="000000"/>
              </a:solidFill>
              <a:prstDash val="solid"/>
              <a:headEnd type="none" w="med" len="med"/>
              <a:tailEnd type="triangle" w="med" len="med"/>
            </a:ln>
          </p:spPr>
        </p:sp>
        <p:sp>
          <p:nvSpPr>
            <p:cNvPr id="73747" name="Line 18"/>
            <p:cNvSpPr/>
            <p:nvPr/>
          </p:nvSpPr>
          <p:spPr>
            <a:xfrm>
              <a:off x="6233" y="2637"/>
              <a:ext cx="748" cy="81"/>
            </a:xfrm>
            <a:prstGeom prst="line">
              <a:avLst/>
            </a:prstGeom>
            <a:ln w="28575" cap="flat" cmpd="sng">
              <a:solidFill>
                <a:srgbClr val="000000"/>
              </a:solidFill>
              <a:prstDash val="solid"/>
              <a:headEnd type="none" w="med" len="med"/>
              <a:tailEnd type="triangle" w="med" len="med"/>
            </a:ln>
          </p:spPr>
        </p:sp>
        <p:sp>
          <p:nvSpPr>
            <p:cNvPr id="73748" name="Line 19"/>
            <p:cNvSpPr/>
            <p:nvPr/>
          </p:nvSpPr>
          <p:spPr>
            <a:xfrm flipV="1">
              <a:off x="6607" y="2799"/>
              <a:ext cx="374" cy="324"/>
            </a:xfrm>
            <a:prstGeom prst="line">
              <a:avLst/>
            </a:prstGeom>
            <a:ln w="28575" cap="flat" cmpd="sng">
              <a:solidFill>
                <a:srgbClr val="000000"/>
              </a:solidFill>
              <a:prstDash val="solid"/>
              <a:headEnd type="none" w="med" len="med"/>
              <a:tailEnd type="triangle" w="med" len="med"/>
            </a:ln>
          </p:spPr>
        </p:sp>
        <p:sp>
          <p:nvSpPr>
            <p:cNvPr id="73749" name="Line 20"/>
            <p:cNvSpPr/>
            <p:nvPr/>
          </p:nvSpPr>
          <p:spPr>
            <a:xfrm flipH="1" flipV="1">
              <a:off x="7074" y="2799"/>
              <a:ext cx="187" cy="567"/>
            </a:xfrm>
            <a:prstGeom prst="line">
              <a:avLst/>
            </a:prstGeom>
            <a:ln w="28575" cap="flat" cmpd="sng">
              <a:solidFill>
                <a:srgbClr val="000000"/>
              </a:solidFill>
              <a:prstDash val="solid"/>
              <a:headEnd type="none" w="med" len="med"/>
              <a:tailEnd type="triangle" w="med" len="med"/>
            </a:ln>
          </p:spPr>
        </p:sp>
      </p:grpSp>
      <p:sp>
        <p:nvSpPr>
          <p:cNvPr id="73733"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076047307"/>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a:ln/>
        </p:spPr>
        <p:txBody>
          <a:bodyPr vert="horz" wrap="square" lIns="91440" tIns="45720" rIns="91440" bIns="45720" anchor="ctr" anchorCtr="0"/>
          <a:lstStyle/>
          <a:p>
            <a:r>
              <a:rPr lang="zh-CN" altLang="en-US" b="1" dirty="0"/>
              <a:t>对“</a:t>
            </a:r>
            <a:r>
              <a:rPr lang="en-US" altLang="zh-CN" b="1" dirty="0"/>
              <a:t>NP</a:t>
            </a:r>
            <a:r>
              <a:rPr lang="zh-CN" altLang="en-US" b="1" dirty="0"/>
              <a:t>完全问题”的评述</a:t>
            </a:r>
          </a:p>
        </p:txBody>
      </p:sp>
      <p:sp>
        <p:nvSpPr>
          <p:cNvPr id="344067" name="Rectangle 3"/>
          <p:cNvSpPr>
            <a:spLocks noGrp="1"/>
          </p:cNvSpPr>
          <p:nvPr>
            <p:ph idx="1"/>
          </p:nvPr>
        </p:nvSpPr>
        <p:spPr>
          <a:xfrm>
            <a:off x="457200" y="1600200"/>
            <a:ext cx="8229600" cy="4495800"/>
          </a:xfrm>
          <a:ln/>
        </p:spPr>
        <p:txBody>
          <a:bodyPr vert="horz" wrap="square" lIns="91440" tIns="45720" rIns="91440" bIns="45720" anchor="t" anchorCtr="0"/>
          <a:lstStyle/>
          <a:p>
            <a:pPr>
              <a:lnSpc>
                <a:spcPct val="120000"/>
              </a:lnSpc>
            </a:pPr>
            <a:r>
              <a:rPr lang="en-US" altLang="zh-CN" sz="2400" b="1" dirty="0"/>
              <a:t>NP</a:t>
            </a:r>
            <a:r>
              <a:rPr lang="zh-CN" altLang="en-US" sz="2400" b="1" dirty="0"/>
              <a:t>完全问题是</a:t>
            </a:r>
            <a:r>
              <a:rPr lang="en-US" altLang="zh-CN" sz="2400" b="1" dirty="0"/>
              <a:t>NP</a:t>
            </a:r>
            <a:r>
              <a:rPr lang="zh-CN" altLang="en-US" sz="2400" b="1" dirty="0"/>
              <a:t>类问题中最难的</a:t>
            </a:r>
          </a:p>
          <a:p>
            <a:pPr>
              <a:lnSpc>
                <a:spcPct val="120000"/>
              </a:lnSpc>
              <a:buNone/>
            </a:pPr>
            <a:r>
              <a:rPr lang="zh-CN" altLang="en-US" sz="2400" b="1" dirty="0"/>
              <a:t>    一类问题，至今已经发现了几千个，</a:t>
            </a:r>
          </a:p>
          <a:p>
            <a:pPr>
              <a:lnSpc>
                <a:spcPct val="120000"/>
              </a:lnSpc>
              <a:buNone/>
            </a:pPr>
            <a:r>
              <a:rPr lang="zh-CN" altLang="en-US" sz="2400" b="1" dirty="0"/>
              <a:t>    但一个也没有找到多项式时间算法。</a:t>
            </a:r>
          </a:p>
          <a:p>
            <a:pPr>
              <a:lnSpc>
                <a:spcPct val="120000"/>
              </a:lnSpc>
            </a:pPr>
            <a:r>
              <a:rPr lang="zh-CN" altLang="en-US" sz="2400" b="1" dirty="0"/>
              <a:t>如果某一个</a:t>
            </a:r>
            <a:r>
              <a:rPr lang="en-US" altLang="zh-CN" sz="2400" b="1" dirty="0"/>
              <a:t>NP</a:t>
            </a:r>
            <a:r>
              <a:rPr lang="zh-CN" altLang="en-US" sz="2400" b="1" dirty="0"/>
              <a:t>完全问题能在多项式时间内解决，则每一个</a:t>
            </a:r>
            <a:r>
              <a:rPr lang="en-US" altLang="zh-CN" sz="2400" b="1" dirty="0"/>
              <a:t>NP</a:t>
            </a:r>
            <a:r>
              <a:rPr lang="zh-CN" altLang="en-US" sz="2400" b="1" dirty="0"/>
              <a:t>完全问题都能在多项式时间内解决。</a:t>
            </a:r>
          </a:p>
          <a:p>
            <a:pPr>
              <a:lnSpc>
                <a:spcPct val="120000"/>
              </a:lnSpc>
            </a:pPr>
            <a:r>
              <a:rPr lang="zh-CN" altLang="en-US" sz="2400" b="1" dirty="0">
                <a:solidFill>
                  <a:srgbClr val="FF0000"/>
                </a:solidFill>
              </a:rPr>
              <a:t>这些问题也许存在多项式时间算法</a:t>
            </a:r>
            <a:r>
              <a:rPr lang="zh-CN" altLang="en-US" sz="2400" b="1" dirty="0"/>
              <a:t>，因为计算机科学是相对新生的科学，肯定还有新的算法设计技术有待发现；</a:t>
            </a:r>
          </a:p>
          <a:p>
            <a:pPr>
              <a:lnSpc>
                <a:spcPct val="120000"/>
              </a:lnSpc>
            </a:pPr>
            <a:r>
              <a:rPr lang="zh-CN" altLang="en-US" sz="2400" b="1" dirty="0">
                <a:solidFill>
                  <a:srgbClr val="FF0000"/>
                </a:solidFill>
              </a:rPr>
              <a:t>这些问题也许不存在多项式时间算法</a:t>
            </a:r>
            <a:r>
              <a:rPr lang="zh-CN" altLang="en-US" sz="2400" b="1" dirty="0"/>
              <a:t>，但目前缺乏足够的依据来证明这一点。</a:t>
            </a:r>
          </a:p>
        </p:txBody>
      </p:sp>
      <p:pic>
        <p:nvPicPr>
          <p:cNvPr id="74756" name="Picture 4"/>
          <p:cNvPicPr>
            <a:picLocks noChangeAspect="1"/>
          </p:cNvPicPr>
          <p:nvPr/>
        </p:nvPicPr>
        <p:blipFill>
          <a:blip r:embed="rId2"/>
          <a:stretch>
            <a:fillRect/>
          </a:stretch>
        </p:blipFill>
        <p:spPr>
          <a:xfrm>
            <a:off x="5867400" y="609600"/>
            <a:ext cx="2438400" cy="2220913"/>
          </a:xfrm>
          <a:prstGeom prst="rect">
            <a:avLst/>
          </a:prstGeom>
          <a:noFill/>
          <a:ln w="9525">
            <a:noFill/>
          </a:ln>
        </p:spPr>
      </p:pic>
      <p:pic>
        <p:nvPicPr>
          <p:cNvPr id="344070" name="Picture 6" descr="2004127164334">
            <a:hlinkClick r:id="rId3"/>
          </p:cNvPr>
          <p:cNvPicPr>
            <a:picLocks noChangeAspect="1"/>
          </p:cNvPicPr>
          <p:nvPr/>
        </p:nvPicPr>
        <p:blipFill>
          <a:blip r:embed="rId4"/>
          <a:stretch>
            <a:fillRect/>
          </a:stretch>
        </p:blipFill>
        <p:spPr>
          <a:xfrm>
            <a:off x="3810000" y="5562600"/>
            <a:ext cx="762000" cy="838200"/>
          </a:xfrm>
          <a:prstGeom prst="rect">
            <a:avLst/>
          </a:prstGeom>
          <a:noFill/>
          <a:ln w="9525">
            <a:noFill/>
          </a:ln>
        </p:spPr>
      </p:pic>
      <p:sp>
        <p:nvSpPr>
          <p:cNvPr id="74758"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5789100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 to="" calcmode="lin" valueType="num">
                                      <p:cBhvr>
                                        <p:cTn id="7" dur="1" fill="hold"/>
                                        <p:tgtEl>
                                          <p:spTgt spid="344067">
                                            <p:txEl>
                                              <p:pRg st="0" end="0"/>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344067">
                                            <p:txEl>
                                              <p:pRg st="1" end="1"/>
                                            </p:txEl>
                                          </p:spTgt>
                                        </p:tgtEl>
                                        <p:attrNameLst>
                                          <p:attrName>style.visibility</p:attrName>
                                        </p:attrNameLst>
                                      </p:cBhvr>
                                      <p:to>
                                        <p:strVal val="visible"/>
                                      </p:to>
                                    </p:set>
                                    <p:anim to="" calcmode="lin" valueType="num">
                                      <p:cBhvr>
                                        <p:cTn id="10" dur="1" fill="hold"/>
                                        <p:tgtEl>
                                          <p:spTgt spid="344067">
                                            <p:txEl>
                                              <p:pRg st="1" end="1"/>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344067">
                                            <p:txEl>
                                              <p:pRg st="2" end="2"/>
                                            </p:txEl>
                                          </p:spTgt>
                                        </p:tgtEl>
                                        <p:attrNameLst>
                                          <p:attrName>style.visibility</p:attrName>
                                        </p:attrNameLst>
                                      </p:cBhvr>
                                      <p:to>
                                        <p:strVal val="visible"/>
                                      </p:to>
                                    </p:set>
                                    <p:anim to="" calcmode="lin" valueType="num">
                                      <p:cBhvr>
                                        <p:cTn id="13" dur="1" fill="hold"/>
                                        <p:tgtEl>
                                          <p:spTgt spid="344067">
                                            <p:txEl>
                                              <p:pRg st="2" end="2"/>
                                            </p:txEl>
                                          </p:spTgt>
                                        </p:tgtEl>
                                        <p:attrNameLst>
                                          <p:attrName>style.visibility</p:attrName>
                                        </p:attrNameLst>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0"/>
                                          </p:stCondLst>
                                        </p:cTn>
                                        <p:tgtEl>
                                          <p:spTgt spid="344067">
                                            <p:txEl>
                                              <p:pRg st="3" end="3"/>
                                            </p:txEl>
                                          </p:spTgt>
                                        </p:tgtEl>
                                        <p:attrNameLst>
                                          <p:attrName>style.visibility</p:attrName>
                                        </p:attrNameLst>
                                      </p:cBhvr>
                                      <p:to>
                                        <p:strVal val="visible"/>
                                      </p:to>
                                    </p:set>
                                    <p:anim to="" calcmode="lin" valueType="num">
                                      <p:cBhvr>
                                        <p:cTn id="18" dur="1" fill="hold"/>
                                        <p:tgtEl>
                                          <p:spTgt spid="344067">
                                            <p:txEl>
                                              <p:pRg st="3" end="3"/>
                                            </p:txEl>
                                          </p:spTgt>
                                        </p:tgtEl>
                                        <p:attrNameLst>
                                          <p:attrName>style.visibility</p:attrName>
                                        </p:attrNameLst>
                                      </p:cBhvr>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nodeType="clickEffect">
                                  <p:stCondLst>
                                    <p:cond delay="0"/>
                                  </p:stCondLst>
                                  <p:childTnLst>
                                    <p:set>
                                      <p:cBhvr>
                                        <p:cTn id="22" dur="1" fill="hold">
                                          <p:stCondLst>
                                            <p:cond delay="0"/>
                                          </p:stCondLst>
                                        </p:cTn>
                                        <p:tgtEl>
                                          <p:spTgt spid="344067">
                                            <p:txEl>
                                              <p:pRg st="4" end="4"/>
                                            </p:txEl>
                                          </p:spTgt>
                                        </p:tgtEl>
                                        <p:attrNameLst>
                                          <p:attrName>style.visibility</p:attrName>
                                        </p:attrNameLst>
                                      </p:cBhvr>
                                      <p:to>
                                        <p:strVal val="visible"/>
                                      </p:to>
                                    </p:set>
                                    <p:anim to="" calcmode="lin" valueType="num">
                                      <p:cBhvr>
                                        <p:cTn id="23" dur="1" fill="hold"/>
                                        <p:tgtEl>
                                          <p:spTgt spid="344067">
                                            <p:txEl>
                                              <p:pRg st="4" end="4"/>
                                            </p:txEl>
                                          </p:spTgt>
                                        </p:tgtEl>
                                        <p:attrNameLst>
                                          <p:attrName>style.visibility</p:attrName>
                                        </p:attrNameLst>
                                      </p:cBhvr>
                                    </p:anim>
                                  </p:childTnLst>
                                </p:cTn>
                              </p:par>
                            </p:childTnLst>
                          </p:cTn>
                        </p:par>
                      </p:childTnLst>
                    </p:cTn>
                  </p:par>
                  <p:par>
                    <p:cTn id="24" fill="hold">
                      <p:stCondLst>
                        <p:cond delay="indefinite"/>
                      </p:stCondLst>
                      <p:childTnLst>
                        <p:par>
                          <p:cTn id="25" fill="hold">
                            <p:stCondLst>
                              <p:cond delay="0"/>
                            </p:stCondLst>
                            <p:childTnLst>
                              <p:par>
                                <p:cTn id="26" presetID="24" presetClass="entr" presetSubtype="0" fill="hold" nodeType="clickEffect">
                                  <p:stCondLst>
                                    <p:cond delay="0"/>
                                  </p:stCondLst>
                                  <p:childTnLst>
                                    <p:set>
                                      <p:cBhvr>
                                        <p:cTn id="27" dur="1" fill="hold">
                                          <p:stCondLst>
                                            <p:cond delay="0"/>
                                          </p:stCondLst>
                                        </p:cTn>
                                        <p:tgtEl>
                                          <p:spTgt spid="344067">
                                            <p:txEl>
                                              <p:pRg st="5" end="5"/>
                                            </p:txEl>
                                          </p:spTgt>
                                        </p:tgtEl>
                                        <p:attrNameLst>
                                          <p:attrName>style.visibility</p:attrName>
                                        </p:attrNameLst>
                                      </p:cBhvr>
                                      <p:to>
                                        <p:strVal val="visible"/>
                                      </p:to>
                                    </p:set>
                                    <p:anim to="" calcmode="lin" valueType="num">
                                      <p:cBhvr>
                                        <p:cTn id="28" dur="1" fill="hold"/>
                                        <p:tgtEl>
                                          <p:spTgt spid="344067">
                                            <p:txEl>
                                              <p:pRg st="5" end="5"/>
                                            </p:txEl>
                                          </p:spTgt>
                                        </p:tgtEl>
                                        <p:attrNameLst>
                                          <p:attrName>style.visibility</p:attrName>
                                        </p:attrNameLst>
                                      </p:cBhvr>
                                    </p:anim>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nodeType="clickEffect">
                                  <p:stCondLst>
                                    <p:cond delay="0"/>
                                  </p:stCondLst>
                                  <p:childTnLst>
                                    <p:set>
                                      <p:cBhvr>
                                        <p:cTn id="32" dur="1" fill="hold">
                                          <p:stCondLst>
                                            <p:cond delay="0"/>
                                          </p:stCondLst>
                                        </p:cTn>
                                        <p:tgtEl>
                                          <p:spTgt spid="344070"/>
                                        </p:tgtEl>
                                        <p:attrNameLst>
                                          <p:attrName>style.visibility</p:attrName>
                                        </p:attrNameLst>
                                      </p:cBhvr>
                                      <p:to>
                                        <p:strVal val="visible"/>
                                      </p:to>
                                    </p:set>
                                    <p:anim calcmode="lin" valueType="num">
                                      <p:cBhvr>
                                        <p:cTn id="33" dur="1000" fill="hold"/>
                                        <p:tgtEl>
                                          <p:spTgt spid="344070"/>
                                        </p:tgtEl>
                                        <p:attrNameLst>
                                          <p:attrName>ppt_w</p:attrName>
                                        </p:attrNameLst>
                                      </p:cBhvr>
                                      <p:tavLst>
                                        <p:tav tm="0">
                                          <p:val>
                                            <p:fltVal val="0"/>
                                          </p:val>
                                        </p:tav>
                                        <p:tav tm="100000">
                                          <p:val>
                                            <p:strVal val="#ppt_w"/>
                                          </p:val>
                                        </p:tav>
                                      </p:tavLst>
                                    </p:anim>
                                    <p:anim calcmode="lin" valueType="num">
                                      <p:cBhvr>
                                        <p:cTn id="34" dur="1000" fill="hold"/>
                                        <p:tgtEl>
                                          <p:spTgt spid="344070"/>
                                        </p:tgtEl>
                                        <p:attrNameLst>
                                          <p:attrName>ppt_h</p:attrName>
                                        </p:attrNameLst>
                                      </p:cBhvr>
                                      <p:tavLst>
                                        <p:tav tm="0">
                                          <p:val>
                                            <p:fltVal val="0"/>
                                          </p:val>
                                        </p:tav>
                                        <p:tav tm="100000">
                                          <p:val>
                                            <p:strVal val="#ppt_h"/>
                                          </p:val>
                                        </p:tav>
                                      </p:tavLst>
                                    </p:anim>
                                    <p:anim calcmode="lin" valueType="num">
                                      <p:cBhvr>
                                        <p:cTn id="35" dur="1000" fill="hold"/>
                                        <p:tgtEl>
                                          <p:spTgt spid="344070"/>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34407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ln/>
        </p:spPr>
        <p:txBody>
          <a:bodyPr vert="horz" wrap="square" lIns="91440" tIns="45720" rIns="91440" bIns="45720" anchor="ctr" anchorCtr="0"/>
          <a:lstStyle/>
          <a:p>
            <a:r>
              <a:rPr lang="en-US" altLang="zh-CN" dirty="0"/>
              <a:t>P</a:t>
            </a:r>
            <a:r>
              <a:rPr lang="zh-CN" altLang="en-US" dirty="0"/>
              <a:t>类问题、</a:t>
            </a:r>
            <a:r>
              <a:rPr lang="en-US" altLang="zh-CN" dirty="0"/>
              <a:t>NP</a:t>
            </a:r>
            <a:r>
              <a:rPr lang="zh-CN" altLang="en-US" dirty="0"/>
              <a:t>类问题、</a:t>
            </a:r>
            <a:r>
              <a:rPr lang="en-US" altLang="zh-CN" dirty="0"/>
              <a:t>NP</a:t>
            </a:r>
            <a:r>
              <a:rPr lang="zh-CN" altLang="en-US" dirty="0"/>
              <a:t>完全问题的关系</a:t>
            </a:r>
          </a:p>
        </p:txBody>
      </p:sp>
      <p:grpSp>
        <p:nvGrpSpPr>
          <p:cNvPr id="75779" name="Group 4"/>
          <p:cNvGrpSpPr/>
          <p:nvPr/>
        </p:nvGrpSpPr>
        <p:grpSpPr>
          <a:xfrm>
            <a:off x="2286000" y="2057400"/>
            <a:ext cx="4113213" cy="2674938"/>
            <a:chOff x="8383" y="4178"/>
            <a:chExt cx="3365" cy="2187"/>
          </a:xfrm>
        </p:grpSpPr>
        <p:sp>
          <p:nvSpPr>
            <p:cNvPr id="75781" name="Oval 5"/>
            <p:cNvSpPr/>
            <p:nvPr/>
          </p:nvSpPr>
          <p:spPr>
            <a:xfrm>
              <a:off x="8383" y="4178"/>
              <a:ext cx="3365" cy="2187"/>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5782" name="Oval 6"/>
            <p:cNvSpPr/>
            <p:nvPr/>
          </p:nvSpPr>
          <p:spPr>
            <a:xfrm>
              <a:off x="8664" y="5474"/>
              <a:ext cx="1964" cy="64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NP</a:t>
              </a:r>
              <a:r>
                <a:rPr lang="zh-CN" altLang="en-US" sz="2200" b="1" dirty="0">
                  <a:solidFill>
                    <a:srgbClr val="FF0000"/>
                  </a:solidFill>
                  <a:ea typeface="华文中宋" panose="02010600040101010101" pitchFamily="2" charset="-122"/>
                </a:rPr>
                <a:t>完全</a:t>
              </a:r>
              <a:r>
                <a:rPr lang="zh-CN" altLang="en-US" sz="2200" b="1" dirty="0">
                  <a:solidFill>
                    <a:srgbClr val="FF000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75783" name="Rectangle 7"/>
            <p:cNvSpPr/>
            <p:nvPr/>
          </p:nvSpPr>
          <p:spPr>
            <a:xfrm>
              <a:off x="9225" y="4340"/>
              <a:ext cx="1215" cy="48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NP</a:t>
              </a:r>
              <a:r>
                <a:rPr lang="zh-CN" altLang="en-US" sz="2200" b="1" dirty="0">
                  <a:solidFill>
                    <a:srgbClr val="000080"/>
                  </a:solidFill>
                  <a:latin typeface="华文中宋" panose="02010600040101010101" pitchFamily="2" charset="-122"/>
                  <a:ea typeface="华文中宋" panose="02010600040101010101" pitchFamily="2" charset="-122"/>
                </a:rPr>
                <a:t>类问题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75784" name="Oval 8"/>
            <p:cNvSpPr/>
            <p:nvPr/>
          </p:nvSpPr>
          <p:spPr>
            <a:xfrm>
              <a:off x="10253" y="4664"/>
              <a:ext cx="1403" cy="64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P</a:t>
              </a:r>
              <a:r>
                <a:rPr lang="zh-CN" altLang="en-US" sz="2200" b="1" dirty="0">
                  <a:solidFill>
                    <a:srgbClr val="000080"/>
                  </a:solidFill>
                  <a:ea typeface="华文中宋" panose="02010600040101010101" pitchFamily="2" charset="-122"/>
                </a:rPr>
                <a:t>类</a:t>
              </a:r>
              <a:r>
                <a:rPr lang="zh-CN" altLang="en-US" sz="2200" b="1" dirty="0">
                  <a:solidFill>
                    <a:srgbClr val="00008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grpSp>
      <p:sp>
        <p:nvSpPr>
          <p:cNvPr id="75780"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85673766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ln/>
        </p:spPr>
        <p:txBody>
          <a:bodyPr vert="horz" wrap="square" lIns="91440" tIns="45720" rIns="91440" bIns="45720" anchor="ctr" anchorCtr="0"/>
          <a:lstStyle/>
          <a:p>
            <a:r>
              <a:rPr lang="en-US" altLang="zh-CN" dirty="0"/>
              <a:t>NP</a:t>
            </a:r>
            <a:r>
              <a:rPr lang="zh-CN" altLang="en-US" dirty="0"/>
              <a:t>困难问题</a:t>
            </a:r>
          </a:p>
        </p:txBody>
      </p:sp>
      <p:sp>
        <p:nvSpPr>
          <p:cNvPr id="76803" name="Rectangle 3"/>
          <p:cNvSpPr>
            <a:spLocks noGrp="1"/>
          </p:cNvSpPr>
          <p:nvPr>
            <p:ph idx="1"/>
          </p:nvPr>
        </p:nvSpPr>
        <p:spPr>
          <a:ln/>
        </p:spPr>
        <p:txBody>
          <a:bodyPr vert="horz" wrap="square" lIns="91440" tIns="45720" rIns="91440" bIns="45720" anchor="t" anchorCtr="0"/>
          <a:lstStyle/>
          <a:p>
            <a:pPr>
              <a:lnSpc>
                <a:spcPct val="120000"/>
              </a:lnSpc>
              <a:buNone/>
            </a:pPr>
            <a:r>
              <a:rPr lang="en-US" altLang="zh-CN" dirty="0"/>
              <a:t>    </a:t>
            </a:r>
            <a:r>
              <a:rPr lang="zh-CN" altLang="en-US" dirty="0"/>
              <a:t>难解问题中还有一类问题，虽然也能证明所有的</a:t>
            </a:r>
            <a:r>
              <a:rPr lang="en-US" altLang="zh-CN" dirty="0"/>
              <a:t>NP</a:t>
            </a:r>
            <a:r>
              <a:rPr lang="zh-CN" altLang="en-US" dirty="0"/>
              <a:t>类问题可以在多项式时间内变换到问题∏，</a:t>
            </a:r>
            <a:r>
              <a:rPr lang="zh-CN" altLang="en-US" dirty="0">
                <a:solidFill>
                  <a:srgbClr val="FF0000"/>
                </a:solidFill>
              </a:rPr>
              <a:t>但并不能证明∏也是</a:t>
            </a:r>
            <a:r>
              <a:rPr lang="en-US" altLang="zh-CN" dirty="0">
                <a:solidFill>
                  <a:srgbClr val="FF0000"/>
                </a:solidFill>
              </a:rPr>
              <a:t>NP</a:t>
            </a:r>
            <a:r>
              <a:rPr lang="zh-CN" altLang="en-US" dirty="0">
                <a:solidFill>
                  <a:srgbClr val="FF0000"/>
                </a:solidFill>
              </a:rPr>
              <a:t>类问题</a:t>
            </a:r>
            <a:r>
              <a:rPr lang="zh-CN" altLang="en-US" dirty="0"/>
              <a:t>，所以∏不是</a:t>
            </a:r>
            <a:r>
              <a:rPr lang="en-US" altLang="zh-CN" dirty="0"/>
              <a:t>NP</a:t>
            </a:r>
            <a:r>
              <a:rPr lang="zh-CN" altLang="en-US" dirty="0"/>
              <a:t>完全的。</a:t>
            </a:r>
            <a:endParaRPr lang="en-US" altLang="zh-CN" dirty="0"/>
          </a:p>
          <a:p>
            <a:pPr>
              <a:lnSpc>
                <a:spcPct val="120000"/>
              </a:lnSpc>
              <a:buNone/>
            </a:pPr>
            <a:r>
              <a:rPr lang="zh-CN" altLang="en-US" dirty="0"/>
              <a:t>但问题∏至少与任意</a:t>
            </a:r>
            <a:r>
              <a:rPr lang="en-US" altLang="zh-CN" dirty="0"/>
              <a:t>NP</a:t>
            </a:r>
            <a:r>
              <a:rPr lang="zh-CN" altLang="en-US" dirty="0"/>
              <a:t>类问题有同样的难度，这样的问题称为</a:t>
            </a:r>
            <a:r>
              <a:rPr lang="en-US" altLang="zh-CN" dirty="0"/>
              <a:t>NP</a:t>
            </a:r>
            <a:r>
              <a:rPr lang="zh-CN" altLang="en-US" dirty="0"/>
              <a:t>困难问题。 </a:t>
            </a:r>
          </a:p>
        </p:txBody>
      </p:sp>
      <p:grpSp>
        <p:nvGrpSpPr>
          <p:cNvPr id="76804" name="Group 4"/>
          <p:cNvGrpSpPr/>
          <p:nvPr/>
        </p:nvGrpSpPr>
        <p:grpSpPr>
          <a:xfrm>
            <a:off x="2438400" y="4038600"/>
            <a:ext cx="5459413" cy="2378075"/>
            <a:chOff x="5975" y="4584"/>
            <a:chExt cx="4466" cy="1944"/>
          </a:xfrm>
        </p:grpSpPr>
        <p:sp>
          <p:nvSpPr>
            <p:cNvPr id="76806" name="Oval 5"/>
            <p:cNvSpPr/>
            <p:nvPr/>
          </p:nvSpPr>
          <p:spPr>
            <a:xfrm>
              <a:off x="5975" y="4584"/>
              <a:ext cx="2595" cy="1863"/>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07" name="Rectangle 6"/>
            <p:cNvSpPr/>
            <p:nvPr/>
          </p:nvSpPr>
          <p:spPr>
            <a:xfrm>
              <a:off x="6420" y="4827"/>
              <a:ext cx="1216" cy="48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NP</a:t>
              </a:r>
              <a:r>
                <a:rPr lang="zh-CN" altLang="en-US" sz="2200" b="1" dirty="0">
                  <a:solidFill>
                    <a:srgbClr val="000080"/>
                  </a:solidFill>
                  <a:latin typeface="华文中宋" panose="02010600040101010101" pitchFamily="2" charset="-122"/>
                  <a:ea typeface="华文中宋" panose="02010600040101010101" pitchFamily="2" charset="-122"/>
                </a:rPr>
                <a:t>类问题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08" name="Rectangle 7"/>
            <p:cNvSpPr/>
            <p:nvPr/>
          </p:nvSpPr>
          <p:spPr>
            <a:xfrm>
              <a:off x="9225" y="6042"/>
              <a:ext cx="1216" cy="48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NP</a:t>
              </a:r>
              <a:r>
                <a:rPr lang="zh-CN" altLang="en-US" sz="2200" b="1" dirty="0">
                  <a:solidFill>
                    <a:srgbClr val="FF0000"/>
                  </a:solidFill>
                  <a:latin typeface="华文中宋" panose="02010600040101010101" pitchFamily="2" charset="-122"/>
                  <a:ea typeface="华文中宋" panose="02010600040101010101" pitchFamily="2" charset="-122"/>
                </a:rPr>
                <a:t>难问题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09" name="Oval 8"/>
            <p:cNvSpPr/>
            <p:nvPr/>
          </p:nvSpPr>
          <p:spPr>
            <a:xfrm>
              <a:off x="6420" y="5394"/>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10" name="Oval 9"/>
            <p:cNvSpPr/>
            <p:nvPr/>
          </p:nvSpPr>
          <p:spPr>
            <a:xfrm>
              <a:off x="6607" y="5718"/>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11" name="Oval 10"/>
            <p:cNvSpPr/>
            <p:nvPr/>
          </p:nvSpPr>
          <p:spPr>
            <a:xfrm>
              <a:off x="8009" y="4989"/>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12" name="Oval 11"/>
            <p:cNvSpPr/>
            <p:nvPr/>
          </p:nvSpPr>
          <p:spPr>
            <a:xfrm>
              <a:off x="7355" y="6042"/>
              <a:ext cx="187" cy="162"/>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13" name="Oval 12"/>
            <p:cNvSpPr/>
            <p:nvPr/>
          </p:nvSpPr>
          <p:spPr>
            <a:xfrm>
              <a:off x="9576" y="5880"/>
              <a:ext cx="187" cy="162"/>
            </a:xfrm>
            <a:prstGeom prst="ellipse">
              <a:avLst/>
            </a:prstGeom>
            <a:solidFill>
              <a:srgbClr val="FF000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76814" name="Line 13"/>
            <p:cNvSpPr/>
            <p:nvPr/>
          </p:nvSpPr>
          <p:spPr>
            <a:xfrm>
              <a:off x="8196" y="5070"/>
              <a:ext cx="1496" cy="810"/>
            </a:xfrm>
            <a:prstGeom prst="line">
              <a:avLst/>
            </a:prstGeom>
            <a:ln w="28575" cap="flat" cmpd="sng">
              <a:solidFill>
                <a:srgbClr val="000000"/>
              </a:solidFill>
              <a:prstDash val="solid"/>
              <a:headEnd type="none" w="med" len="med"/>
              <a:tailEnd type="triangle" w="med" len="med"/>
            </a:ln>
          </p:spPr>
        </p:sp>
        <p:sp>
          <p:nvSpPr>
            <p:cNvPr id="76815" name="Line 14"/>
            <p:cNvSpPr/>
            <p:nvPr/>
          </p:nvSpPr>
          <p:spPr>
            <a:xfrm>
              <a:off x="6607" y="5475"/>
              <a:ext cx="2992" cy="405"/>
            </a:xfrm>
            <a:prstGeom prst="line">
              <a:avLst/>
            </a:prstGeom>
            <a:ln w="28575" cap="flat" cmpd="sng">
              <a:solidFill>
                <a:srgbClr val="000000"/>
              </a:solidFill>
              <a:prstDash val="solid"/>
              <a:headEnd type="none" w="med" len="med"/>
              <a:tailEnd type="triangle" w="med" len="med"/>
            </a:ln>
          </p:spPr>
        </p:sp>
        <p:sp>
          <p:nvSpPr>
            <p:cNvPr id="76816" name="Line 15"/>
            <p:cNvSpPr/>
            <p:nvPr/>
          </p:nvSpPr>
          <p:spPr>
            <a:xfrm>
              <a:off x="6794" y="5799"/>
              <a:ext cx="2782" cy="162"/>
            </a:xfrm>
            <a:prstGeom prst="line">
              <a:avLst/>
            </a:prstGeom>
            <a:ln w="28575" cap="flat" cmpd="sng">
              <a:solidFill>
                <a:srgbClr val="000000"/>
              </a:solidFill>
              <a:prstDash val="solid"/>
              <a:headEnd type="none" w="med" len="med"/>
              <a:tailEnd type="triangle" w="med" len="med"/>
            </a:ln>
          </p:spPr>
        </p:sp>
        <p:sp>
          <p:nvSpPr>
            <p:cNvPr id="76817" name="Line 16"/>
            <p:cNvSpPr/>
            <p:nvPr/>
          </p:nvSpPr>
          <p:spPr>
            <a:xfrm flipV="1">
              <a:off x="7542" y="6042"/>
              <a:ext cx="2057" cy="82"/>
            </a:xfrm>
            <a:prstGeom prst="line">
              <a:avLst/>
            </a:prstGeom>
            <a:ln w="28575" cap="flat" cmpd="sng">
              <a:solidFill>
                <a:srgbClr val="000000"/>
              </a:solidFill>
              <a:prstDash val="solid"/>
              <a:headEnd type="none" w="med" len="med"/>
              <a:tailEnd type="triangle" w="med" len="med"/>
            </a:ln>
          </p:spPr>
        </p:sp>
      </p:grpSp>
      <p:sp>
        <p:nvSpPr>
          <p:cNvPr id="76805"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8720912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8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5"/>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77827" name="Rectangle 2"/>
          <p:cNvSpPr>
            <a:spLocks noGrp="1"/>
          </p:cNvSpPr>
          <p:nvPr>
            <p:ph type="title"/>
          </p:nvPr>
        </p:nvSpPr>
        <p:spPr>
          <a:ln/>
        </p:spPr>
        <p:txBody>
          <a:bodyPr vert="horz" wrap="square" lIns="91440" tIns="45720" rIns="91440" bIns="45720" anchor="ctr" anchorCtr="0"/>
          <a:lstStyle/>
          <a:p>
            <a:pPr eaLnBrk="1" hangingPunct="1"/>
            <a:r>
              <a:rPr lang="en-US" altLang="zh-CN" dirty="0"/>
              <a:t>NP-</a:t>
            </a:r>
            <a:r>
              <a:rPr lang="zh-CN" altLang="en-US" dirty="0"/>
              <a:t>困难的</a:t>
            </a:r>
            <a:r>
              <a:rPr lang="en-US" altLang="zh-CN" dirty="0"/>
              <a:t> </a:t>
            </a:r>
            <a:r>
              <a:rPr lang="zh-CN" altLang="en-US" dirty="0"/>
              <a:t>与</a:t>
            </a:r>
            <a:r>
              <a:rPr lang="en-US" altLang="zh-CN" dirty="0"/>
              <a:t> NP-</a:t>
            </a:r>
            <a:r>
              <a:rPr lang="zh-CN" altLang="en-US" dirty="0"/>
              <a:t>完全的</a:t>
            </a:r>
            <a:endParaRPr lang="en-US" altLang="zh-CN" dirty="0"/>
          </a:p>
        </p:txBody>
      </p:sp>
      <p:sp>
        <p:nvSpPr>
          <p:cNvPr id="29699" name="Rectangle 3"/>
          <p:cNvSpPr>
            <a:spLocks noGrp="1" noChangeArrowheads="1"/>
          </p:cNvSpPr>
          <p:nvPr>
            <p:ph type="body" sz="half" idx="1"/>
          </p:nvPr>
        </p:nvSpPr>
        <p:spPr>
          <a:xfrm>
            <a:off x="914400" y="1295400"/>
            <a:ext cx="8229600" cy="4572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定义</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10.5</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一个判定问题</a:t>
            </a:r>
            <a:r>
              <a:rPr kumimoji="0" lang="el-GR"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称为是</a:t>
            </a:r>
            <a:r>
              <a:rPr kumimoji="0" lang="en-US" altLang="zh-CN"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NP</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困难</a:t>
            </a: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的，如果对于</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NP</a:t>
            </a: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中的每一个问题</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存在</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poly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endParaRPr kumimoji="0" lang="el-GR"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  定义</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10.6</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一个判定问题</a:t>
            </a:r>
            <a:r>
              <a:rPr kumimoji="0" lang="el-GR"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rPr>
              <a:t>称为是</a:t>
            </a:r>
            <a:r>
              <a:rPr kumimoji="0" lang="en-US" altLang="zh-CN" sz="2400" b="0" i="0" u="none" strike="noStrike" kern="0" cap="none" spc="0" normalizeH="0" baseline="0" noProof="0" dirty="0">
                <a:ln>
                  <a:noFill/>
                </a:ln>
                <a:solidFill>
                  <a:srgbClr val="FF0000"/>
                </a:solidFill>
                <a:effectLst/>
                <a:uLnTx/>
                <a:uFillTx/>
                <a:latin typeface="+mn-lt"/>
                <a:ea typeface="+mn-ea"/>
              </a:rPr>
              <a:t>NP</a:t>
            </a:r>
            <a:r>
              <a:rPr kumimoji="0" lang="zh-CN" altLang="en-US" sz="2400" b="0" i="0" u="none" strike="noStrike" kern="0" cap="none" spc="0" normalizeH="0" baseline="0" noProof="0" dirty="0">
                <a:ln>
                  <a:noFill/>
                </a:ln>
                <a:solidFill>
                  <a:srgbClr val="FF0000"/>
                </a:solidFill>
                <a:effectLst/>
                <a:uLnTx/>
                <a:uFillTx/>
                <a:latin typeface="+mn-lt"/>
                <a:ea typeface="+mn-ea"/>
              </a:rPr>
              <a:t>完全的，</a:t>
            </a:r>
            <a:r>
              <a:rPr kumimoji="0" lang="zh-CN" altLang="en-US" sz="2400" b="0" i="0" u="none" strike="noStrike" kern="0" cap="none" spc="0" normalizeH="0" baseline="0" noProof="0" dirty="0">
                <a:ln>
                  <a:noFill/>
                </a:ln>
                <a:solidFill>
                  <a:schemeClr val="accent2"/>
                </a:solidFill>
                <a:effectLst/>
                <a:uLnTx/>
                <a:uFillTx/>
                <a:latin typeface="+mn-lt"/>
                <a:ea typeface="+mn-ea"/>
              </a:rPr>
              <a:t>如果下列两个条件同时成立。</a:t>
            </a:r>
            <a:endPar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(1)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在</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NP</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中，</a:t>
            </a:r>
            <a:endPar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(2)</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对于</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NP</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中的每一个问题</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poly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endPar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NP</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完全问题</a:t>
            </a:r>
            <a:r>
              <a:rPr kumimoji="0" lang="el-GR" altLang="zh-CN" sz="2400" b="0" i="0" u="none" strike="noStrike" kern="0" cap="none" spc="0" normalizeH="0" baseline="0" noProof="0" dirty="0">
                <a:ln>
                  <a:noFill/>
                </a:ln>
                <a:solidFill>
                  <a:srgbClr val="FF0000"/>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和</a:t>
            </a:r>
            <a:r>
              <a:rPr kumimoji="0" lang="en-US" altLang="zh-CN"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NP</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困难问题</a:t>
            </a:r>
            <a:r>
              <a:rPr kumimoji="0" lang="el-GR" altLang="zh-CN" sz="2400" b="0" i="0" u="none" strike="noStrike" kern="0" cap="none" spc="0" normalizeH="0" baseline="0" noProof="0" dirty="0">
                <a:ln>
                  <a:noFill/>
                </a:ln>
                <a:solidFill>
                  <a:srgbClr val="FF0000"/>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rgbClr val="FF0000"/>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间的差别是：</a:t>
            </a:r>
            <a:r>
              <a:rPr kumimoji="0" lang="el-GR" altLang="zh-CN" sz="2400" b="0" i="0" u="none" strike="noStrike" kern="0" cap="none" spc="0" normalizeH="0" baseline="0" noProof="0" dirty="0">
                <a:ln>
                  <a:noFill/>
                </a:ln>
                <a:solidFill>
                  <a:srgbClr val="FF0000"/>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必须是</a:t>
            </a:r>
            <a:r>
              <a:rPr kumimoji="0" lang="en-US" altLang="zh-CN"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NP</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类的而</a:t>
            </a:r>
            <a:r>
              <a:rPr kumimoji="0" lang="el-GR" altLang="zh-CN" sz="2400" b="0" i="0" u="none" strike="noStrike" kern="0" cap="none" spc="0" normalizeH="0" baseline="0" noProof="0" dirty="0">
                <a:ln>
                  <a:noFill/>
                </a:ln>
                <a:solidFill>
                  <a:srgbClr val="FF0000"/>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rgbClr val="FF0000"/>
                </a:solidFill>
                <a:effectLst/>
                <a:uLnTx/>
                <a:uFillTx/>
                <a:latin typeface="Arial" panose="020B0604020202020204" pitchFamily="34" charset="0"/>
                <a:ea typeface="华文行楷" panose="02010800040101010101" pitchFamily="2" charset="-122"/>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可能不在</a:t>
            </a:r>
            <a:r>
              <a:rPr kumimoji="0" lang="en-US" altLang="zh-CN"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NP</a:t>
            </a:r>
            <a:r>
              <a:rPr kumimoji="0" lang="zh-CN" altLang="en-US" sz="2400" b="0" i="0" u="none" strike="noStrike" kern="0" cap="none" spc="0" normalizeH="0" baseline="0" noProof="0" dirty="0">
                <a:ln>
                  <a:noFill/>
                </a:ln>
                <a:solidFill>
                  <a:srgbClr val="FF0000"/>
                </a:solidFill>
                <a:effectLst/>
                <a:uLnTx/>
                <a:uFillTx/>
                <a:latin typeface="+mn-lt"/>
                <a:ea typeface="+mn-ea"/>
                <a:cs typeface="Arial" panose="020B0604020202020204" pitchFamily="34" charset="0"/>
                <a:sym typeface="Symbol" panose="05050102010706020507" pitchFamily="18" charset="2"/>
              </a:rPr>
              <a:t>中。</a:t>
            </a: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endParaRPr>
          </a:p>
        </p:txBody>
      </p:sp>
      <p:pic>
        <p:nvPicPr>
          <p:cNvPr id="29705" name="Picture 9" descr="def"/>
          <p:cNvPicPr>
            <a:picLocks noChangeAspect="1"/>
          </p:cNvPicPr>
          <p:nvPr/>
        </p:nvPicPr>
        <p:blipFill>
          <a:blip r:embed="rId4"/>
          <a:stretch>
            <a:fillRect/>
          </a:stretch>
        </p:blipFill>
        <p:spPr>
          <a:xfrm>
            <a:off x="914400" y="1295400"/>
            <a:ext cx="576263" cy="398463"/>
          </a:xfrm>
          <a:prstGeom prst="rect">
            <a:avLst/>
          </a:prstGeom>
          <a:noFill/>
          <a:ln w="9525">
            <a:noFill/>
          </a:ln>
        </p:spPr>
      </p:pic>
      <p:pic>
        <p:nvPicPr>
          <p:cNvPr id="29706" name="Picture 10" descr="def"/>
          <p:cNvPicPr>
            <a:picLocks noChangeAspect="1"/>
          </p:cNvPicPr>
          <p:nvPr/>
        </p:nvPicPr>
        <p:blipFill>
          <a:blip r:embed="rId4"/>
          <a:stretch>
            <a:fillRect/>
          </a:stretch>
        </p:blipFill>
        <p:spPr>
          <a:xfrm>
            <a:off x="914400" y="2590800"/>
            <a:ext cx="576263" cy="398463"/>
          </a:xfrm>
          <a:prstGeom prst="rect">
            <a:avLst/>
          </a:prstGeom>
          <a:noFill/>
          <a:ln w="9525">
            <a:noFill/>
          </a:ln>
        </p:spPr>
      </p:pic>
    </p:spTree>
    <p:extLst>
      <p:ext uri="{BB962C8B-B14F-4D97-AF65-F5344CB8AC3E}">
        <p14:creationId xmlns:p14="http://schemas.microsoft.com/office/powerpoint/2010/main" val="257820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9705"/>
                                        </p:tgtEl>
                                        <p:attrNameLst>
                                          <p:attrName>style.visibility</p:attrName>
                                        </p:attrNameLst>
                                      </p:cBhvr>
                                      <p:to>
                                        <p:strVal val="visible"/>
                                      </p:to>
                                    </p:set>
                                    <p:anim calcmode="lin" valueType="num">
                                      <p:cBhvr>
                                        <p:cTn id="7" dur="500" fill="hold"/>
                                        <p:tgtEl>
                                          <p:spTgt spid="29705"/>
                                        </p:tgtEl>
                                        <p:attrNameLst>
                                          <p:attrName>ppt_w</p:attrName>
                                        </p:attrNameLst>
                                      </p:cBhvr>
                                      <p:tavLst>
                                        <p:tav tm="0">
                                          <p:val>
                                            <p:fltVal val="0"/>
                                          </p:val>
                                        </p:tav>
                                        <p:tav tm="100000">
                                          <p:val>
                                            <p:strVal val="#ppt_w"/>
                                          </p:val>
                                        </p:tav>
                                      </p:tavLst>
                                    </p:anim>
                                    <p:anim calcmode="lin" valueType="num">
                                      <p:cBhvr>
                                        <p:cTn id="8" dur="500" fill="hold"/>
                                        <p:tgtEl>
                                          <p:spTgt spid="29705"/>
                                        </p:tgtEl>
                                        <p:attrNameLst>
                                          <p:attrName>ppt_h</p:attrName>
                                        </p:attrNameLst>
                                      </p:cBhvr>
                                      <p:tavLst>
                                        <p:tav tm="0">
                                          <p:val>
                                            <p:fltVal val="0"/>
                                          </p:val>
                                        </p:tav>
                                        <p:tav tm="100000">
                                          <p:val>
                                            <p:strVal val="#ppt_h"/>
                                          </p:val>
                                        </p:tav>
                                      </p:tavLst>
                                    </p:anim>
                                    <p:anim calcmode="lin" valueType="num">
                                      <p:cBhvr>
                                        <p:cTn id="9" dur="500" fill="hold"/>
                                        <p:tgtEl>
                                          <p:spTgt spid="29705"/>
                                        </p:tgtEl>
                                        <p:attrNameLst>
                                          <p:attrName>style.rotation</p:attrName>
                                        </p:attrNameLst>
                                      </p:cBhvr>
                                      <p:tavLst>
                                        <p:tav tm="0">
                                          <p:val>
                                            <p:fltVal val="360"/>
                                          </p:val>
                                        </p:tav>
                                        <p:tav tm="100000">
                                          <p:val>
                                            <p:fltVal val="0"/>
                                          </p:val>
                                        </p:tav>
                                      </p:tavLst>
                                    </p:anim>
                                    <p:animEffect transition="in" filter="fade">
                                      <p:cBhvr>
                                        <p:cTn id="10" dur="500"/>
                                        <p:tgtEl>
                                          <p:spTgt spid="29705"/>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11" presetID="3" presetClass="entr" presetSubtype="10" fill="hold" nodeType="withEffect">
                                  <p:stCondLst>
                                    <p:cond delay="0"/>
                                  </p:stCondLst>
                                  <p:childTnLst>
                                    <p:set>
                                      <p:cBhvr>
                                        <p:cTn id="12"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13" dur="500"/>
                                        <p:tgtEl>
                                          <p:spTgt spid="2969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9699">
                                            <p:txEl>
                                              <p:pRg st="1" end="1"/>
                                            </p:txEl>
                                          </p:spTgt>
                                        </p:tgtEl>
                                        <p:attrNameLst>
                                          <p:attrName>style.visibility</p:attrName>
                                        </p:attrNameLst>
                                      </p:cBhvr>
                                      <p:to>
                                        <p:strVal val="visible"/>
                                      </p:to>
                                    </p:set>
                                    <p:anim calcmode="lin" valueType="num">
                                      <p:cBhvr additive="base">
                                        <p:cTn id="18"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nodeType="clickEffect">
                                  <p:stCondLst>
                                    <p:cond delay="0"/>
                                  </p:stCondLst>
                                  <p:childTnLst>
                                    <p:set>
                                      <p:cBhvr>
                                        <p:cTn id="23" dur="1" fill="hold">
                                          <p:stCondLst>
                                            <p:cond delay="0"/>
                                          </p:stCondLst>
                                        </p:cTn>
                                        <p:tgtEl>
                                          <p:spTgt spid="29706"/>
                                        </p:tgtEl>
                                        <p:attrNameLst>
                                          <p:attrName>style.visibility</p:attrName>
                                        </p:attrNameLst>
                                      </p:cBhvr>
                                      <p:to>
                                        <p:strVal val="visible"/>
                                      </p:to>
                                    </p:set>
                                    <p:anim calcmode="lin" valueType="num">
                                      <p:cBhvr>
                                        <p:cTn id="24" dur="500" fill="hold"/>
                                        <p:tgtEl>
                                          <p:spTgt spid="29706"/>
                                        </p:tgtEl>
                                        <p:attrNameLst>
                                          <p:attrName>ppt_w</p:attrName>
                                        </p:attrNameLst>
                                      </p:cBhvr>
                                      <p:tavLst>
                                        <p:tav tm="0">
                                          <p:val>
                                            <p:fltVal val="0"/>
                                          </p:val>
                                        </p:tav>
                                        <p:tav tm="100000">
                                          <p:val>
                                            <p:strVal val="#ppt_w"/>
                                          </p:val>
                                        </p:tav>
                                      </p:tavLst>
                                    </p:anim>
                                    <p:anim calcmode="lin" valueType="num">
                                      <p:cBhvr>
                                        <p:cTn id="25" dur="500" fill="hold"/>
                                        <p:tgtEl>
                                          <p:spTgt spid="29706"/>
                                        </p:tgtEl>
                                        <p:attrNameLst>
                                          <p:attrName>ppt_h</p:attrName>
                                        </p:attrNameLst>
                                      </p:cBhvr>
                                      <p:tavLst>
                                        <p:tav tm="0">
                                          <p:val>
                                            <p:fltVal val="0"/>
                                          </p:val>
                                        </p:tav>
                                        <p:tav tm="100000">
                                          <p:val>
                                            <p:strVal val="#ppt_h"/>
                                          </p:val>
                                        </p:tav>
                                      </p:tavLst>
                                    </p:anim>
                                    <p:anim calcmode="lin" valueType="num">
                                      <p:cBhvr>
                                        <p:cTn id="26" dur="500" fill="hold"/>
                                        <p:tgtEl>
                                          <p:spTgt spid="29706"/>
                                        </p:tgtEl>
                                        <p:attrNameLst>
                                          <p:attrName>style.rotation</p:attrName>
                                        </p:attrNameLst>
                                      </p:cBhvr>
                                      <p:tavLst>
                                        <p:tav tm="0">
                                          <p:val>
                                            <p:fltVal val="360"/>
                                          </p:val>
                                        </p:tav>
                                        <p:tav tm="100000">
                                          <p:val>
                                            <p:fltVal val="0"/>
                                          </p:val>
                                        </p:tav>
                                      </p:tavLst>
                                    </p:anim>
                                    <p:animEffect transition="in" filter="fade">
                                      <p:cBhvr>
                                        <p:cTn id="27" dur="500"/>
                                        <p:tgtEl>
                                          <p:spTgt spid="29706"/>
                                        </p:tgtEl>
                                      </p:cBhvr>
                                    </p:animEffect>
                                  </p:childTnLst>
                                  <p:subTnLst>
                                    <p:audio>
                                      <p:cMediaNode>
                                        <p:cTn display="0" masterRel="sameClick">
                                          <p:stCondLst>
                                            <p:cond evt="begin" delay="0">
                                              <p:tn val="22"/>
                                            </p:cond>
                                          </p:stCondLst>
                                          <p:endCondLst>
                                            <p:cond evt="onStopAudio" delay="0">
                                              <p:tgtEl>
                                                <p:sldTgt/>
                                              </p:tgtEl>
                                            </p:cond>
                                          </p:endCondLst>
                                        </p:cTn>
                                        <p:tgtEl>
                                          <p:sndTgt r:embed="rId3" name="chimes.wav"/>
                                        </p:tgtEl>
                                      </p:cMediaNode>
                                    </p:audio>
                                  </p:subTnLst>
                                </p:cTn>
                              </p:par>
                              <p:par>
                                <p:cTn id="28" presetID="3" presetClass="entr" presetSubtype="10" fill="hold" nodeType="withEffect">
                                  <p:stCondLst>
                                    <p:cond delay="0"/>
                                  </p:stCondLst>
                                  <p:childTnLst>
                                    <p:set>
                                      <p:cBhvr>
                                        <p:cTn id="29"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30" dur="500"/>
                                        <p:tgtEl>
                                          <p:spTgt spid="2969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29699">
                                            <p:txEl>
                                              <p:pRg st="3" end="3"/>
                                            </p:txEl>
                                          </p:spTgt>
                                        </p:tgtEl>
                                        <p:attrNameLst>
                                          <p:attrName>style.visibility</p:attrName>
                                        </p:attrNameLst>
                                      </p:cBhvr>
                                      <p:to>
                                        <p:strVal val="visible"/>
                                      </p:to>
                                    </p:set>
                                    <p:anim calcmode="lin" valueType="num">
                                      <p:cBhvr additive="base">
                                        <p:cTn id="35" dur="500" fill="hold"/>
                                        <p:tgtEl>
                                          <p:spTgt spid="29699">
                                            <p:txEl>
                                              <p:pRg st="3" end="3"/>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9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9699">
                                            <p:txEl>
                                              <p:pRg st="4" end="4"/>
                                            </p:txEl>
                                          </p:spTgt>
                                        </p:tgtEl>
                                        <p:attrNameLst>
                                          <p:attrName>style.visibility</p:attrName>
                                        </p:attrNameLst>
                                      </p:cBhvr>
                                      <p:to>
                                        <p:strVal val="visible"/>
                                      </p:to>
                                    </p:set>
                                    <p:anim calcmode="lin" valueType="num">
                                      <p:cBhvr additive="base">
                                        <p:cTn id="41"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96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9699">
                                            <p:txEl>
                                              <p:pRg st="5" end="5"/>
                                            </p:txEl>
                                          </p:spTgt>
                                        </p:tgtEl>
                                        <p:attrNameLst>
                                          <p:attrName>style.visibility</p:attrName>
                                        </p:attrNameLst>
                                      </p:cBhvr>
                                      <p:to>
                                        <p:strVal val="visible"/>
                                      </p:to>
                                    </p:set>
                                    <p:anim calcmode="lin" valueType="num">
                                      <p:cBhvr additive="base">
                                        <p:cTn id="47"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96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9699">
                                            <p:txEl>
                                              <p:pRg st="7" end="7"/>
                                            </p:txEl>
                                          </p:spTgt>
                                        </p:tgtEl>
                                        <p:attrNameLst>
                                          <p:attrName>style.visibility</p:attrName>
                                        </p:attrNameLst>
                                      </p:cBhvr>
                                      <p:to>
                                        <p:strVal val="visible"/>
                                      </p:to>
                                    </p:set>
                                    <p:anim calcmode="lin" valueType="num">
                                      <p:cBhvr additive="base">
                                        <p:cTn id="53"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969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ln/>
        </p:spPr>
        <p:txBody>
          <a:bodyPr vert="horz" wrap="square" lIns="91440" tIns="45720" rIns="91440" bIns="45720" anchor="ctr" anchorCtr="0"/>
          <a:lstStyle/>
          <a:p>
            <a:r>
              <a:rPr lang="en-US" altLang="zh-CN" dirty="0"/>
              <a:t>NP</a:t>
            </a:r>
            <a:r>
              <a:rPr lang="zh-CN" altLang="en-US" dirty="0"/>
              <a:t>完全问题（补充）</a:t>
            </a:r>
          </a:p>
        </p:txBody>
      </p:sp>
      <p:sp>
        <p:nvSpPr>
          <p:cNvPr id="1126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第一个</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完全问题（</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Cook</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   </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1971</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可满足性问题是</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NP</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完全问题</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1972</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年，</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Karp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证明了十几个问题都是</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完全的</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3SAT</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3DM</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VC</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，团，</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HC</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，划分</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更多的</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完全问题</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1979</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年：</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300</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多个</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1998</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年：</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2000</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多个</a:t>
            </a:r>
            <a:endPar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342900" marR="0" lvl="1" indent="-342900" algn="l" defTabSz="914400" rtl="0" eaLnBrk="0" fontAlgn="base" latinLnBrk="0" hangingPunct="0">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这些</a:t>
            </a:r>
            <a:r>
              <a:rPr kumimoji="0" lang="en-US" altLang="zh-CN" sz="2500" b="0" i="0" u="none" strike="noStrike" kern="0" cap="none" spc="0" normalizeH="0" baseline="0" noProof="0" dirty="0">
                <a:ln>
                  <a:noFill/>
                </a:ln>
                <a:solidFill>
                  <a:srgbClr val="FF0000"/>
                </a:solidFill>
                <a:effectLst/>
                <a:uLnTx/>
                <a:uFillTx/>
                <a:latin typeface="+mn-lt"/>
                <a:ea typeface="+mn-ea"/>
                <a:cs typeface="+mn-cs"/>
              </a:rPr>
              <a:t>NP</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完全问题的证明思想和技巧，以及利用他们证明的几千个</a:t>
            </a:r>
            <a:r>
              <a:rPr kumimoji="0" lang="en-US" altLang="zh-CN" sz="2500" b="0" i="0" u="none" strike="noStrike" kern="0" cap="none" spc="0" normalizeH="0" baseline="0" noProof="0" dirty="0">
                <a:ln>
                  <a:noFill/>
                </a:ln>
                <a:solidFill>
                  <a:srgbClr val="FF0000"/>
                </a:solidFill>
                <a:effectLst/>
                <a:uLnTx/>
                <a:uFillTx/>
                <a:latin typeface="+mn-lt"/>
                <a:ea typeface="+mn-ea"/>
                <a:cs typeface="+mn-cs"/>
              </a:rPr>
              <a:t>NP</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完全问题，极大地丰富了</a:t>
            </a:r>
            <a:r>
              <a:rPr kumimoji="0" lang="en-US" altLang="zh-CN" sz="2500" b="0" i="0" u="none" strike="noStrike" kern="0" cap="none" spc="0" normalizeH="0" baseline="0" noProof="0" dirty="0">
                <a:ln>
                  <a:noFill/>
                </a:ln>
                <a:solidFill>
                  <a:srgbClr val="FF0000"/>
                </a:solidFill>
                <a:effectLst/>
                <a:uLnTx/>
                <a:uFillTx/>
                <a:latin typeface="+mn-lt"/>
                <a:ea typeface="+mn-ea"/>
                <a:cs typeface="+mn-cs"/>
              </a:rPr>
              <a:t>NP</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完全理论。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12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2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12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26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126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12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页脚占位符 5"/>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2771" name="Rectangle 3"/>
          <p:cNvSpPr>
            <a:spLocks noGrp="1" noChangeArrowheads="1"/>
          </p:cNvSpPr>
          <p:nvPr>
            <p:ph type="body" sz="half" idx="1"/>
          </p:nvPr>
        </p:nvSpPr>
        <p:spPr>
          <a:xfrm>
            <a:off x="914400" y="1295400"/>
            <a:ext cx="7924800" cy="4572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归约关系的传递性</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设</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和</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en-US" altLang="zh-CN" sz="2400" b="0" i="0" u="none" strike="noStrike" kern="0" cap="none" spc="0" normalizeH="0" baseline="3000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是三个判定问题，有</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poly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rPr>
              <a:t>和</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poly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rPr>
              <a:t>，那么</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poly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19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推论（</a:t>
            </a:r>
            <a:r>
              <a:rPr kumimoji="0" lang="en-US" altLang="zh-CN" sz="2500" b="0" i="0" u="none" strike="noStrike" kern="0" cap="none" spc="0" normalizeH="0" baseline="0" noProof="0" dirty="0">
                <a:ln>
                  <a:noFill/>
                </a:ln>
                <a:solidFill>
                  <a:srgbClr val="FF0000"/>
                </a:solidFill>
                <a:effectLst/>
                <a:uLnTx/>
                <a:uFillTx/>
                <a:latin typeface="+mn-lt"/>
                <a:ea typeface="+mn-ea"/>
                <a:cs typeface="+mn-cs"/>
              </a:rPr>
              <a:t>NP</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完全性的传递性</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如果</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和</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en-US" altLang="zh-CN" sz="2400" b="0" i="0" u="none" strike="noStrike" kern="0" cap="none" spc="0" normalizeH="0" baseline="3000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是</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中的两个问题，若有</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poly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rPr>
              <a:t>，并且</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en-US" altLang="zh-CN" sz="2400" b="0" i="0" u="none" strike="noStrike" kern="0" cap="none" spc="0" normalizeH="0" baseline="3000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是</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完全的，则</a:t>
            </a:r>
            <a:r>
              <a:rPr kumimoji="0" lang="en-US" altLang="zh-CN" sz="2400" b="0" i="0" u="none" strike="noStrike" kern="0" cap="none" spc="0" normalizeH="0" baseline="0" noProof="0" dirty="0">
                <a:ln>
                  <a:noFill/>
                </a:ln>
                <a:solidFill>
                  <a:schemeClr val="accent2"/>
                </a:solidFill>
                <a:effectLst/>
                <a:uLnTx/>
                <a:uFillTx/>
                <a:latin typeface="+mn-lt"/>
                <a:ea typeface="华文行楷" panose="02010800040101010101" pitchFamily="2" charset="-122"/>
              </a:rPr>
              <a:t>∏</a:t>
            </a:r>
            <a:r>
              <a:rPr kumimoji="0" lang="zh-CN" altLang="en-US" sz="2400" b="0" i="0" u="none" strike="noStrike" kern="0" cap="none" spc="0" normalizeH="0" baseline="0" noProof="0" dirty="0">
                <a:ln>
                  <a:noFill/>
                </a:ln>
                <a:solidFill>
                  <a:schemeClr val="accent2"/>
                </a:solidFill>
                <a:effectLst/>
                <a:uLnTx/>
                <a:uFillTx/>
                <a:latin typeface="+mn-lt"/>
                <a:ea typeface="+mn-ea"/>
              </a:rPr>
              <a:t>是</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完全的。</a:t>
            </a:r>
          </a:p>
        </p:txBody>
      </p:sp>
      <p:graphicFrame>
        <p:nvGraphicFramePr>
          <p:cNvPr id="90116" name="Object 5"/>
          <p:cNvGraphicFramePr>
            <a:graphicFrameLocks noChangeAspect="1"/>
          </p:cNvGraphicFramePr>
          <p:nvPr/>
        </p:nvGraphicFramePr>
        <p:xfrm>
          <a:off x="4114800" y="3328988"/>
          <a:ext cx="914400" cy="198437"/>
        </p:xfrm>
        <a:graphic>
          <a:graphicData uri="http://schemas.openxmlformats.org/presentationml/2006/ole">
            <mc:AlternateContent xmlns:mc="http://schemas.openxmlformats.org/markup-compatibility/2006">
              <mc:Choice xmlns:v="urn:schemas-microsoft-com:vml" Requires="v">
                <p:oleObj spid="_x0000_s4110" r:id="rId5" imgW="434975" imgH="676910" progId="">
                  <p:embed/>
                </p:oleObj>
              </mc:Choice>
              <mc:Fallback>
                <p:oleObj r:id="rId5" imgW="434975" imgH="676910" progId="">
                  <p:embed/>
                  <p:pic>
                    <p:nvPicPr>
                      <p:cNvPr id="0" name="图片 3081"/>
                      <p:cNvPicPr/>
                      <p:nvPr/>
                    </p:nvPicPr>
                    <p:blipFill>
                      <a:blip r:embed="rId6"/>
                      <a:stretch>
                        <a:fillRect/>
                      </a:stretch>
                    </p:blipFill>
                    <p:spPr>
                      <a:xfrm>
                        <a:off x="4114800" y="3328988"/>
                        <a:ext cx="914400" cy="198437"/>
                      </a:xfrm>
                      <a:prstGeom prst="rect">
                        <a:avLst/>
                      </a:prstGeom>
                      <a:noFill/>
                      <a:ln w="38100">
                        <a:noFill/>
                        <a:miter/>
                      </a:ln>
                    </p:spPr>
                  </p:pic>
                </p:oleObj>
              </mc:Fallback>
            </mc:AlternateContent>
          </a:graphicData>
        </a:graphic>
      </p:graphicFrame>
      <p:pic>
        <p:nvPicPr>
          <p:cNvPr id="32779" name="Picture 11" descr="theorem"/>
          <p:cNvPicPr>
            <a:picLocks noChangeAspect="1"/>
          </p:cNvPicPr>
          <p:nvPr/>
        </p:nvPicPr>
        <p:blipFill>
          <a:blip r:embed="rId7"/>
          <a:stretch>
            <a:fillRect/>
          </a:stretch>
        </p:blipFill>
        <p:spPr>
          <a:xfrm>
            <a:off x="838200" y="1371600"/>
            <a:ext cx="504825" cy="319088"/>
          </a:xfrm>
          <a:prstGeom prst="rect">
            <a:avLst/>
          </a:prstGeom>
          <a:noFill/>
          <a:ln w="9525">
            <a:noFill/>
          </a:ln>
        </p:spPr>
      </p:pic>
      <p:pic>
        <p:nvPicPr>
          <p:cNvPr id="32780" name="Picture 12" descr="crollary"/>
          <p:cNvPicPr>
            <a:picLocks noChangeAspect="1"/>
          </p:cNvPicPr>
          <p:nvPr/>
        </p:nvPicPr>
        <p:blipFill>
          <a:blip r:embed="rId8"/>
          <a:stretch>
            <a:fillRect/>
          </a:stretch>
        </p:blipFill>
        <p:spPr>
          <a:xfrm flipH="1">
            <a:off x="942975" y="3305175"/>
            <a:ext cx="328613" cy="381000"/>
          </a:xfrm>
          <a:prstGeom prst="rect">
            <a:avLst/>
          </a:prstGeom>
          <a:noFill/>
          <a:ln w="9525">
            <a:noFill/>
          </a:ln>
        </p:spPr>
      </p:pic>
      <p:sp>
        <p:nvSpPr>
          <p:cNvPr id="90119" name="Rectangle 15"/>
          <p:cNvSpPr>
            <a:spLocks noGrp="1"/>
          </p:cNvSpPr>
          <p:nvPr>
            <p:ph type="title"/>
          </p:nvPr>
        </p:nvSpPr>
        <p:spPr>
          <a:ln/>
        </p:spPr>
        <p:txBody>
          <a:bodyPr vert="horz" wrap="square" lIns="91440" tIns="45720" rIns="91440" bIns="45720" anchor="ctr" anchorCtr="0"/>
          <a:lstStyle/>
          <a:p>
            <a:pPr eaLnBrk="1" hangingPunct="1"/>
            <a:r>
              <a:rPr lang="en-US" altLang="zh-CN" dirty="0"/>
              <a:t>7.3.4 NP</a:t>
            </a:r>
            <a:r>
              <a:rPr lang="zh-CN" altLang="en-US" dirty="0"/>
              <a:t>完全性证明</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2779"/>
                                        </p:tgtEl>
                                        <p:attrNameLst>
                                          <p:attrName>style.visibility</p:attrName>
                                        </p:attrNameLst>
                                      </p:cBhvr>
                                      <p:to>
                                        <p:strVal val="visible"/>
                                      </p:to>
                                    </p:set>
                                    <p:anim calcmode="lin" valueType="num">
                                      <p:cBhvr>
                                        <p:cTn id="7" dur="500" fill="hold"/>
                                        <p:tgtEl>
                                          <p:spTgt spid="32779"/>
                                        </p:tgtEl>
                                        <p:attrNameLst>
                                          <p:attrName>ppt_w</p:attrName>
                                        </p:attrNameLst>
                                      </p:cBhvr>
                                      <p:tavLst>
                                        <p:tav tm="0">
                                          <p:val>
                                            <p:fltVal val="0"/>
                                          </p:val>
                                        </p:tav>
                                        <p:tav tm="100000">
                                          <p:val>
                                            <p:strVal val="#ppt_w"/>
                                          </p:val>
                                        </p:tav>
                                      </p:tavLst>
                                    </p:anim>
                                    <p:anim calcmode="lin" valueType="num">
                                      <p:cBhvr>
                                        <p:cTn id="8" dur="500" fill="hold"/>
                                        <p:tgtEl>
                                          <p:spTgt spid="32779"/>
                                        </p:tgtEl>
                                        <p:attrNameLst>
                                          <p:attrName>ppt_h</p:attrName>
                                        </p:attrNameLst>
                                      </p:cBhvr>
                                      <p:tavLst>
                                        <p:tav tm="0">
                                          <p:val>
                                            <p:fltVal val="0"/>
                                          </p:val>
                                        </p:tav>
                                        <p:tav tm="100000">
                                          <p:val>
                                            <p:strVal val="#ppt_h"/>
                                          </p:val>
                                        </p:tav>
                                      </p:tavLst>
                                    </p:anim>
                                    <p:anim calcmode="lin" valueType="num">
                                      <p:cBhvr>
                                        <p:cTn id="9" dur="500" fill="hold"/>
                                        <p:tgtEl>
                                          <p:spTgt spid="32779"/>
                                        </p:tgtEl>
                                        <p:attrNameLst>
                                          <p:attrName>style.rotation</p:attrName>
                                        </p:attrNameLst>
                                      </p:cBhvr>
                                      <p:tavLst>
                                        <p:tav tm="0">
                                          <p:val>
                                            <p:fltVal val="360"/>
                                          </p:val>
                                        </p:tav>
                                        <p:tav tm="100000">
                                          <p:val>
                                            <p:fltVal val="0"/>
                                          </p:val>
                                        </p:tav>
                                      </p:tavLst>
                                    </p:anim>
                                    <p:animEffect transition="in" filter="fade">
                                      <p:cBhvr>
                                        <p:cTn id="10" dur="500"/>
                                        <p:tgtEl>
                                          <p:spTgt spid="32779"/>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par>
                                <p:cTn id="11" presetID="3" presetClass="entr" presetSubtype="10" fill="hold" nodeType="withEffect">
                                  <p:stCondLst>
                                    <p:cond delay="0"/>
                                  </p:stCondLst>
                                  <p:childTnLst>
                                    <p:set>
                                      <p:cBhvr>
                                        <p:cTn id="12"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13" dur="500"/>
                                        <p:tgtEl>
                                          <p:spTgt spid="3277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2771">
                                            <p:txEl>
                                              <p:pRg st="1" end="1"/>
                                            </p:txEl>
                                          </p:spTgt>
                                        </p:tgtEl>
                                        <p:attrNameLst>
                                          <p:attrName>style.visibility</p:attrName>
                                        </p:attrNameLst>
                                      </p:cBhvr>
                                      <p:to>
                                        <p:strVal val="visible"/>
                                      </p:to>
                                    </p:set>
                                    <p:anim calcmode="lin" valueType="num">
                                      <p:cBhvr additive="base">
                                        <p:cTn id="18" dur="500" fill="hold"/>
                                        <p:tgtEl>
                                          <p:spTgt spid="32771">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2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nodeType="clickEffect">
                                  <p:stCondLst>
                                    <p:cond delay="0"/>
                                  </p:stCondLst>
                                  <p:childTnLst>
                                    <p:set>
                                      <p:cBhvr>
                                        <p:cTn id="23" dur="1" fill="hold">
                                          <p:stCondLst>
                                            <p:cond delay="0"/>
                                          </p:stCondLst>
                                        </p:cTn>
                                        <p:tgtEl>
                                          <p:spTgt spid="32780"/>
                                        </p:tgtEl>
                                        <p:attrNameLst>
                                          <p:attrName>style.visibility</p:attrName>
                                        </p:attrNameLst>
                                      </p:cBhvr>
                                      <p:to>
                                        <p:strVal val="visible"/>
                                      </p:to>
                                    </p:set>
                                    <p:anim calcmode="lin" valueType="num">
                                      <p:cBhvr>
                                        <p:cTn id="24" dur="500" fill="hold"/>
                                        <p:tgtEl>
                                          <p:spTgt spid="32780"/>
                                        </p:tgtEl>
                                        <p:attrNameLst>
                                          <p:attrName>ppt_w</p:attrName>
                                        </p:attrNameLst>
                                      </p:cBhvr>
                                      <p:tavLst>
                                        <p:tav tm="0">
                                          <p:val>
                                            <p:fltVal val="0"/>
                                          </p:val>
                                        </p:tav>
                                        <p:tav tm="100000">
                                          <p:val>
                                            <p:strVal val="#ppt_w"/>
                                          </p:val>
                                        </p:tav>
                                      </p:tavLst>
                                    </p:anim>
                                    <p:anim calcmode="lin" valueType="num">
                                      <p:cBhvr>
                                        <p:cTn id="25" dur="500" fill="hold"/>
                                        <p:tgtEl>
                                          <p:spTgt spid="32780"/>
                                        </p:tgtEl>
                                        <p:attrNameLst>
                                          <p:attrName>ppt_h</p:attrName>
                                        </p:attrNameLst>
                                      </p:cBhvr>
                                      <p:tavLst>
                                        <p:tav tm="0">
                                          <p:val>
                                            <p:fltVal val="0"/>
                                          </p:val>
                                        </p:tav>
                                        <p:tav tm="100000">
                                          <p:val>
                                            <p:strVal val="#ppt_h"/>
                                          </p:val>
                                        </p:tav>
                                      </p:tavLst>
                                    </p:anim>
                                    <p:anim calcmode="lin" valueType="num">
                                      <p:cBhvr>
                                        <p:cTn id="26" dur="500" fill="hold"/>
                                        <p:tgtEl>
                                          <p:spTgt spid="32780"/>
                                        </p:tgtEl>
                                        <p:attrNameLst>
                                          <p:attrName>style.rotation</p:attrName>
                                        </p:attrNameLst>
                                      </p:cBhvr>
                                      <p:tavLst>
                                        <p:tav tm="0">
                                          <p:val>
                                            <p:fltVal val="360"/>
                                          </p:val>
                                        </p:tav>
                                        <p:tav tm="100000">
                                          <p:val>
                                            <p:fltVal val="0"/>
                                          </p:val>
                                        </p:tav>
                                      </p:tavLst>
                                    </p:anim>
                                    <p:animEffect transition="in" filter="fade">
                                      <p:cBhvr>
                                        <p:cTn id="27" dur="500"/>
                                        <p:tgtEl>
                                          <p:spTgt spid="32780"/>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par>
                                <p:cTn id="28" presetID="3" presetClass="entr" presetSubtype="10" fill="hold" nodeType="withEffect">
                                  <p:stCondLst>
                                    <p:cond delay="0"/>
                                  </p:stCondLst>
                                  <p:childTnLst>
                                    <p:set>
                                      <p:cBhvr>
                                        <p:cTn id="29" dur="1" fill="hold">
                                          <p:stCondLst>
                                            <p:cond delay="0"/>
                                          </p:stCondLst>
                                        </p:cTn>
                                        <p:tgtEl>
                                          <p:spTgt spid="32771">
                                            <p:txEl>
                                              <p:pRg st="3" end="3"/>
                                            </p:txEl>
                                          </p:spTgt>
                                        </p:tgtEl>
                                        <p:attrNameLst>
                                          <p:attrName>style.visibility</p:attrName>
                                        </p:attrNameLst>
                                      </p:cBhvr>
                                      <p:to>
                                        <p:strVal val="visible"/>
                                      </p:to>
                                    </p:set>
                                    <p:animEffect transition="in" filter="blinds(horizontal)">
                                      <p:cBhvr>
                                        <p:cTn id="30" dur="500"/>
                                        <p:tgtEl>
                                          <p:spTgt spid="3277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2771">
                                            <p:txEl>
                                              <p:pRg st="4" end="4"/>
                                            </p:txEl>
                                          </p:spTgt>
                                        </p:tgtEl>
                                        <p:attrNameLst>
                                          <p:attrName>style.visibility</p:attrName>
                                        </p:attrNameLst>
                                      </p:cBhvr>
                                      <p:to>
                                        <p:strVal val="visible"/>
                                      </p:to>
                                    </p:set>
                                    <p:anim calcmode="lin" valueType="num">
                                      <p:cBhvr additive="base">
                                        <p:cTn id="35"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27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3795" name="Rectangle 3"/>
          <p:cNvSpPr>
            <a:spLocks noGrp="1"/>
          </p:cNvSpPr>
          <p:nvPr>
            <p:ph idx="1"/>
          </p:nvPr>
        </p:nvSpPr>
        <p:spPr>
          <a:ln/>
        </p:spPr>
        <p:txBody>
          <a:bodyPr vert="horz" wrap="square" lIns="91440" tIns="45720" rIns="91440" bIns="45720" anchor="t" anchorCtr="0"/>
          <a:lstStyle/>
          <a:p>
            <a:pPr eaLnBrk="1" hangingPunct="1"/>
            <a:r>
              <a:rPr lang="zh-CN" altLang="en-US" dirty="0"/>
              <a:t>根据上面的推论，为了证明一个问题</a:t>
            </a:r>
            <a:r>
              <a:rPr lang="en-US" altLang="zh-CN" dirty="0">
                <a:latin typeface="宋体" panose="02010600030101010101" pitchFamily="2" charset="-122"/>
              </a:rPr>
              <a:t>∏</a:t>
            </a:r>
            <a:r>
              <a:rPr lang="zh-CN" altLang="en-US" dirty="0"/>
              <a:t>是</a:t>
            </a:r>
            <a:r>
              <a:rPr lang="en-US" altLang="zh-CN" dirty="0"/>
              <a:t>NP</a:t>
            </a:r>
            <a:r>
              <a:rPr lang="zh-CN" altLang="en-US" dirty="0"/>
              <a:t>完全的，仅需要证明以下两个条件同时成立</a:t>
            </a:r>
            <a:endParaRPr lang="en-US" altLang="zh-CN" dirty="0"/>
          </a:p>
          <a:p>
            <a:pPr eaLnBrk="1" hangingPunct="1"/>
            <a:endParaRPr lang="en-US" altLang="zh-CN" dirty="0"/>
          </a:p>
          <a:p>
            <a:pPr eaLnBrk="1" hangingPunct="1">
              <a:buNone/>
            </a:pPr>
            <a:r>
              <a:rPr lang="en-US" altLang="zh-CN" dirty="0"/>
              <a:t>(1) </a:t>
            </a:r>
            <a:r>
              <a:rPr lang="el-GR" altLang="zh-CN" sz="2900" dirty="0">
                <a:cs typeface="Arial" panose="020B0604020202020204" pitchFamily="34" charset="0"/>
                <a:sym typeface="Symbol" panose="05050102010706020507" pitchFamily="18" charset="2"/>
              </a:rPr>
              <a:t></a:t>
            </a:r>
            <a:r>
              <a:rPr lang="en-US" altLang="zh-CN" sz="2900" dirty="0">
                <a:cs typeface="Arial" panose="020B0604020202020204" pitchFamily="34" charset="0"/>
                <a:sym typeface="Symbol" panose="05050102010706020507" pitchFamily="18" charset="2"/>
              </a:rPr>
              <a:t>  NP</a:t>
            </a:r>
            <a:r>
              <a:rPr lang="zh-CN" altLang="en-US" sz="2900" dirty="0">
                <a:cs typeface="Arial" panose="020B0604020202020204" pitchFamily="34" charset="0"/>
                <a:sym typeface="Symbol" panose="05050102010706020507" pitchFamily="18" charset="2"/>
              </a:rPr>
              <a:t>；</a:t>
            </a:r>
            <a:endParaRPr lang="en-US" altLang="zh-CN" dirty="0"/>
          </a:p>
          <a:p>
            <a:pPr eaLnBrk="1" hangingPunct="1">
              <a:buNone/>
            </a:pPr>
            <a:r>
              <a:rPr lang="en-US" altLang="zh-CN" dirty="0"/>
              <a:t>(2)</a:t>
            </a:r>
            <a:r>
              <a:rPr lang="zh-CN" altLang="en-US" dirty="0"/>
              <a:t>存在着一个</a:t>
            </a:r>
            <a:r>
              <a:rPr lang="en-US" altLang="zh-CN" dirty="0"/>
              <a:t>NP</a:t>
            </a:r>
            <a:r>
              <a:rPr lang="zh-CN" altLang="en-US" dirty="0"/>
              <a:t>完全问题</a:t>
            </a:r>
            <a:r>
              <a:rPr lang="en-US" altLang="zh-CN" dirty="0">
                <a:latin typeface="宋体" panose="02010600030101010101" pitchFamily="2" charset="-122"/>
              </a:rPr>
              <a:t>∏</a:t>
            </a:r>
            <a:r>
              <a:rPr lang="en-US" altLang="zh-CN" baseline="30000" dirty="0">
                <a:latin typeface="宋体" panose="02010600030101010101" pitchFamily="2" charset="-122"/>
              </a:rPr>
              <a:t>’ </a:t>
            </a:r>
            <a:r>
              <a:rPr lang="zh-CN" altLang="en-US" dirty="0"/>
              <a:t>，使</a:t>
            </a:r>
            <a:r>
              <a:rPr lang="el-GR" altLang="zh-CN" sz="2800" dirty="0">
                <a:cs typeface="Arial" panose="020B0604020202020204" pitchFamily="34" charset="0"/>
                <a:sym typeface="Symbol" panose="05050102010706020507" pitchFamily="18" charset="2"/>
              </a:rPr>
              <a:t></a:t>
            </a:r>
            <a:r>
              <a:rPr lang="en-US" altLang="zh-CN" sz="2800" dirty="0">
                <a:cs typeface="Arial" panose="020B0604020202020204" pitchFamily="34" charset="0"/>
                <a:sym typeface="Symbol" panose="05050102010706020507" pitchFamily="18" charset="2"/>
              </a:rPr>
              <a:t>’ </a:t>
            </a:r>
            <a:r>
              <a:rPr lang="el-GR" altLang="zh-CN" sz="2800" dirty="0">
                <a:cs typeface="Arial" panose="020B0604020202020204" pitchFamily="34" charset="0"/>
                <a:sym typeface="Symbol" panose="05050102010706020507" pitchFamily="18" charset="2"/>
              </a:rPr>
              <a:t></a:t>
            </a:r>
            <a:r>
              <a:rPr lang="en-US" altLang="zh-CN" sz="2800" baseline="-25000" dirty="0">
                <a:cs typeface="Arial" panose="020B0604020202020204" pitchFamily="34" charset="0"/>
                <a:sym typeface="Symbol" panose="05050102010706020507" pitchFamily="18" charset="2"/>
              </a:rPr>
              <a:t>poly </a:t>
            </a:r>
            <a:r>
              <a:rPr lang="el-GR" altLang="zh-CN" sz="2800" dirty="0">
                <a:cs typeface="Arial" panose="020B0604020202020204" pitchFamily="34" charset="0"/>
                <a:sym typeface="Symbol" panose="05050102010706020507" pitchFamily="18" charset="2"/>
              </a:rPr>
              <a:t></a:t>
            </a:r>
            <a:r>
              <a:rPr lang="zh-CN" altLang="en-US" sz="2800" dirty="0">
                <a:cs typeface="Arial" panose="020B0604020202020204" pitchFamily="34" charset="0"/>
                <a:sym typeface="Symbol" panose="05050102010706020507" pitchFamily="18" charset="2"/>
              </a:rPr>
              <a:t>。</a:t>
            </a:r>
            <a:endParaRPr lang="en-US" altLang="zh-CN" sz="2800" dirty="0">
              <a:cs typeface="Arial" panose="020B0604020202020204" pitchFamily="34" charset="0"/>
              <a:sym typeface="Symbol" panose="05050102010706020507" pitchFamily="18" charset="2"/>
            </a:endParaRPr>
          </a:p>
          <a:p>
            <a:pPr eaLnBrk="1" hangingPunct="1">
              <a:buNone/>
            </a:pPr>
            <a:endParaRPr lang="en-US" altLang="zh-CN" sz="2800" dirty="0">
              <a:cs typeface="Arial" panose="020B0604020202020204" pitchFamily="34" charset="0"/>
              <a:sym typeface="Symbol" panose="05050102010706020507" pitchFamily="18" charset="2"/>
            </a:endParaRPr>
          </a:p>
          <a:p>
            <a:pPr eaLnBrk="1" hangingPunct="1">
              <a:buNone/>
            </a:pPr>
            <a:endParaRPr lang="en-US" altLang="zh-CN" sz="2800" dirty="0">
              <a:cs typeface="Arial" panose="020B0604020202020204" pitchFamily="34" charset="0"/>
              <a:sym typeface="Symbol" panose="05050102010706020507" pitchFamily="18" charset="2"/>
            </a:endParaRPr>
          </a:p>
        </p:txBody>
      </p:sp>
      <p:sp>
        <p:nvSpPr>
          <p:cNvPr id="92164" name="Rectangle 6"/>
          <p:cNvSpPr>
            <a:spLocks noGrp="1"/>
          </p:cNvSpPr>
          <p:nvPr>
            <p:ph type="title"/>
          </p:nvPr>
        </p:nvSpPr>
        <p:spPr>
          <a:ln/>
        </p:spPr>
        <p:txBody>
          <a:bodyPr vert="horz" wrap="square" lIns="91440" tIns="45720" rIns="91440" bIns="45720" anchor="ctr" anchorCtr="0"/>
          <a:lstStyle/>
          <a:p>
            <a:pPr eaLnBrk="1" hangingPunct="1"/>
            <a:r>
              <a:rPr lang="en-US" altLang="zh-CN" dirty="0"/>
              <a:t>7.3.4 NP</a:t>
            </a:r>
            <a:r>
              <a:rPr lang="zh-CN" altLang="en-US" dirty="0"/>
              <a:t>完全性证明</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 calcmode="lin" valueType="num">
                                      <p:cBhvr additive="base">
                                        <p:cTn id="12" dur="500" fill="hold"/>
                                        <p:tgtEl>
                                          <p:spTgt spid="33795">
                                            <p:txEl>
                                              <p:pRg st="2" end="2"/>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37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3795">
                                            <p:txEl>
                                              <p:pRg st="3" end="3"/>
                                            </p:txEl>
                                          </p:spTgt>
                                        </p:tgtEl>
                                        <p:attrNameLst>
                                          <p:attrName>style.visibility</p:attrName>
                                        </p:attrNameLst>
                                      </p:cBhvr>
                                      <p:to>
                                        <p:strVal val="visible"/>
                                      </p:to>
                                    </p:set>
                                    <p:anim calcmode="lin" valueType="num">
                                      <p:cBhvr additive="base">
                                        <p:cTn id="18" dur="500" fill="hold"/>
                                        <p:tgtEl>
                                          <p:spTgt spid="33795">
                                            <p:txEl>
                                              <p:pRg st="3" end="3"/>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379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idx="4294967295"/>
          </p:nvPr>
        </p:nvSpPr>
        <p:spPr>
          <a:ln/>
        </p:spPr>
        <p:txBody>
          <a:bodyPr vert="horz" wrap="square" lIns="91440" tIns="45720" rIns="91440" bIns="45720" anchor="ctr" anchorCtr="0"/>
          <a:lstStyle/>
          <a:p>
            <a:r>
              <a:rPr lang="en-US" altLang="zh-CN" dirty="0"/>
              <a:t>NP</a:t>
            </a:r>
            <a:r>
              <a:rPr lang="zh-CN" altLang="en-US" dirty="0"/>
              <a:t>完全性的传递性举例</a:t>
            </a:r>
          </a:p>
        </p:txBody>
      </p:sp>
      <p:sp>
        <p:nvSpPr>
          <p:cNvPr id="37891" name="Text Box 3"/>
          <p:cNvSpPr txBox="1">
            <a:spLocks noChangeArrowheads="1"/>
          </p:cNvSpPr>
          <p:nvPr/>
        </p:nvSpPr>
        <p:spPr bwMode="auto">
          <a:xfrm>
            <a:off x="609600" y="1295400"/>
            <a:ext cx="7696200" cy="4449763"/>
          </a:xfrm>
          <a:prstGeom prst="rect">
            <a:avLst/>
          </a:prstGeom>
          <a:noFill/>
          <a:ln w="9525">
            <a:noFill/>
            <a:miter lim="800000"/>
          </a:ln>
          <a:effectLst/>
        </p:spPr>
        <p:txBody>
          <a:bodyPr>
            <a:spAutoFit/>
          </a:bodyPr>
          <a:lstStyle/>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已知</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哈密顿回路问题</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是一个</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NP</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完全问题，证明</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旅行商问题</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也是一个</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NP</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完全问题</a:t>
            </a:r>
            <a:endParaRPr kumimoji="0" lang="en-US" altLang="zh-CN" sz="2400" b="0" i="0" u="none" strike="noStrike" kern="120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zh-CN" altLang="en-US" sz="2400" b="0" i="0" u="none" strike="noStrike" kern="120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哈密顿回路问题</a:t>
            </a:r>
            <a:r>
              <a:rPr kumimoji="0" lang="zh-CN" altLang="en-US" sz="2400" b="0" i="0" u="none" strike="noStrike" kern="1200" cap="none" spc="0" normalizeH="0" baseline="0" noProof="0" dirty="0">
                <a:ln>
                  <a:noFill/>
                </a:ln>
                <a:solidFill>
                  <a:srgbClr val="FF0000"/>
                </a:solidFill>
                <a:effectLst/>
                <a:uLnTx/>
                <a:uFillTx/>
                <a:latin typeface="+mn-lt"/>
                <a:ea typeface="+mn-ea"/>
                <a:cs typeface="+mn-cs"/>
                <a:sym typeface="Symbol" panose="05050102010706020507" pitchFamily="18" charset="2"/>
              </a:rPr>
              <a:t></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 </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：给定无向图</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G=(V,E)，</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是否存在一条回路，使得图中每个顶点在回路中出现且只出现一次</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旅行商问题</a:t>
            </a:r>
            <a:r>
              <a:rPr kumimoji="0" lang="zh-CN" altLang="en-US" sz="2400" b="0" i="0" u="none" strike="noStrike" kern="1200" cap="none" spc="0" normalizeH="0" baseline="0" noProof="0" dirty="0">
                <a:ln>
                  <a:noFill/>
                </a:ln>
                <a:solidFill>
                  <a:srgbClr val="FF0000"/>
                </a:solidFill>
                <a:effectLst/>
                <a:uLnTx/>
                <a:uFillTx/>
                <a:latin typeface="+mn-lt"/>
                <a:ea typeface="+mn-ea"/>
                <a:cs typeface="+mn-cs"/>
                <a:sym typeface="Symbol" panose="05050102010706020507" pitchFamily="18" charset="2"/>
              </a:rPr>
              <a:t></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：给定</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n</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个城市和它们的距离矩阵，以及距离</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L，</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是否存在从某个城市出发，经过每个城市一次且仅一次，最后回到出发城市且距离小于或等于</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L</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的路线</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后面是具体说明：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990600" y="76200"/>
            <a:ext cx="7848600" cy="1200150"/>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0" lang="zh-CN" altLang="en-US" sz="2400" kern="1200" cap="none" spc="0" normalizeH="0" baseline="0" noProof="0" dirty="0">
                <a:solidFill>
                  <a:schemeClr val="accent2"/>
                </a:solidFill>
                <a:latin typeface="+mn-lt"/>
                <a:ea typeface="+mn-ea"/>
                <a:cs typeface="+mn-cs"/>
              </a:rPr>
              <a:t>对于哈密顿回路问题</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a:t>
            </a:r>
            <a:r>
              <a:rPr kumimoji="0" lang="zh-CN" altLang="en-US" sz="2400" kern="1200" cap="none" spc="0" normalizeH="0" baseline="0" noProof="0" dirty="0">
                <a:solidFill>
                  <a:schemeClr val="accent2"/>
                </a:solidFill>
                <a:latin typeface="+mn-lt"/>
                <a:ea typeface="+mn-ea"/>
                <a:cs typeface="+mn-cs"/>
              </a:rPr>
              <a:t> 中的无向图</a:t>
            </a:r>
            <a:r>
              <a:rPr kumimoji="0" lang="en-US" altLang="zh-CN" sz="2400" kern="1200" cap="none" spc="0" normalizeH="0" baseline="0" noProof="0" dirty="0">
                <a:solidFill>
                  <a:schemeClr val="accent2"/>
                </a:solidFill>
                <a:latin typeface="+mn-lt"/>
                <a:ea typeface="+mn-ea"/>
                <a:cs typeface="+mn-cs"/>
              </a:rPr>
              <a:t>G=(V,E)</a:t>
            </a:r>
            <a:r>
              <a:rPr kumimoji="0" lang="zh-CN" altLang="en-US" sz="2400" kern="1200" cap="none" spc="0" normalizeH="0" baseline="0" noProof="0" dirty="0">
                <a:solidFill>
                  <a:schemeClr val="accent2"/>
                </a:solidFill>
                <a:latin typeface="+mn-lt"/>
                <a:ea typeface="+mn-ea"/>
                <a:cs typeface="+mn-cs"/>
              </a:rPr>
              <a:t> </a:t>
            </a:r>
            <a:r>
              <a:rPr kumimoji="0" lang="en-US" altLang="zh-CN" sz="2400" kern="1200" cap="none" spc="0" normalizeH="0" baseline="0" noProof="0" dirty="0">
                <a:solidFill>
                  <a:schemeClr val="accent2"/>
                </a:solidFill>
                <a:latin typeface="+mn-lt"/>
                <a:ea typeface="+mn-ea"/>
                <a:cs typeface="+mn-cs"/>
              </a:rPr>
              <a:t>，</a:t>
            </a:r>
            <a:r>
              <a:rPr kumimoji="0" lang="zh-CN" altLang="en-US" sz="2400" kern="1200" cap="none" spc="0" normalizeH="0" baseline="0" noProof="0" dirty="0">
                <a:solidFill>
                  <a:schemeClr val="accent2"/>
                </a:solidFill>
                <a:latin typeface="+mn-lt"/>
                <a:ea typeface="+mn-ea"/>
                <a:cs typeface="+mn-cs"/>
              </a:rPr>
              <a:t>可以用多项式时间构造新的无向图</a:t>
            </a:r>
            <a:r>
              <a:rPr kumimoji="0" lang="en-US" altLang="zh-CN" sz="2400" kern="1200" cap="none" spc="0" normalizeH="0" baseline="0" noProof="0" dirty="0">
                <a:solidFill>
                  <a:schemeClr val="accent2"/>
                </a:solidFill>
                <a:latin typeface="+mn-lt"/>
                <a:ea typeface="+mn-ea"/>
                <a:cs typeface="+mn-cs"/>
              </a:rPr>
              <a:t>G</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a:t>
            </a:r>
            <a:r>
              <a:rPr kumimoji="0" lang="en-US" altLang="zh-CN" sz="2400" kern="1200" cap="none" spc="0" normalizeH="0" baseline="0" noProof="0" dirty="0">
                <a:solidFill>
                  <a:schemeClr val="accent2"/>
                </a:solidFill>
                <a:latin typeface="+mn-lt"/>
                <a:ea typeface="+mn-ea"/>
                <a:cs typeface="+mn-cs"/>
              </a:rPr>
              <a:t>=(V</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a:t>
            </a:r>
            <a:r>
              <a:rPr kumimoji="0" lang="en-US" altLang="zh-CN" sz="2400" kern="1200" cap="none" spc="0" normalizeH="0" baseline="0" noProof="0" dirty="0">
                <a:solidFill>
                  <a:schemeClr val="accent2"/>
                </a:solidFill>
                <a:latin typeface="+mn-lt"/>
                <a:ea typeface="+mn-ea"/>
                <a:cs typeface="+mn-cs"/>
              </a:rPr>
              <a:t>,E</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a:t>
            </a:r>
            <a:r>
              <a:rPr kumimoji="0" lang="en-US" altLang="zh-CN" sz="2400" kern="1200" cap="none" spc="0" normalizeH="0" baseline="0" noProof="0" dirty="0">
                <a:solidFill>
                  <a:schemeClr val="accent2"/>
                </a:solidFill>
                <a:latin typeface="+mn-lt"/>
                <a:ea typeface="+mn-ea"/>
                <a:cs typeface="+mn-cs"/>
              </a:rPr>
              <a:t>)</a:t>
            </a:r>
            <a:r>
              <a:rPr kumimoji="0" lang="zh-CN" altLang="en-US" sz="2400" kern="1200" cap="none" spc="0" normalizeH="0" baseline="0" noProof="0" dirty="0">
                <a:solidFill>
                  <a:schemeClr val="accent2"/>
                </a:solidFill>
                <a:latin typeface="+mn-lt"/>
                <a:ea typeface="+mn-ea"/>
                <a:cs typeface="+mn-cs"/>
              </a:rPr>
              <a:t> </a:t>
            </a:r>
            <a:r>
              <a:rPr kumimoji="0" lang="en-US" altLang="zh-CN" sz="2400" kern="1200" cap="none" spc="0" normalizeH="0" baseline="0" noProof="0" dirty="0">
                <a:solidFill>
                  <a:schemeClr val="accent2"/>
                </a:solidFill>
                <a:latin typeface="+mn-lt"/>
                <a:ea typeface="+mn-ea"/>
                <a:cs typeface="+mn-cs"/>
              </a:rPr>
              <a:t>，</a:t>
            </a:r>
            <a:r>
              <a:rPr kumimoji="0" lang="zh-CN" altLang="en-US" sz="2400" kern="1200" cap="none" spc="0" normalizeH="0" baseline="0" noProof="0" dirty="0">
                <a:solidFill>
                  <a:schemeClr val="accent2"/>
                </a:solidFill>
                <a:latin typeface="+mn-lt"/>
                <a:ea typeface="+mn-ea"/>
                <a:cs typeface="+mn-cs"/>
              </a:rPr>
              <a:t>使得</a:t>
            </a:r>
            <a:r>
              <a:rPr kumimoji="0" lang="en-US" altLang="zh-CN" sz="2400" kern="1200" cap="none" spc="0" normalizeH="0" baseline="0" noProof="0" dirty="0">
                <a:solidFill>
                  <a:schemeClr val="accent2"/>
                </a:solidFill>
                <a:latin typeface="+mn-lt"/>
                <a:ea typeface="+mn-ea"/>
                <a:cs typeface="+mn-cs"/>
              </a:rPr>
              <a:t>V</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a:t>
            </a:r>
            <a:r>
              <a:rPr kumimoji="0" lang="zh-CN" altLang="en-US" sz="2400" kern="1200" cap="none" spc="0" normalizeH="0" baseline="0" noProof="0" dirty="0">
                <a:solidFill>
                  <a:schemeClr val="accent2"/>
                </a:solidFill>
                <a:latin typeface="+mn-lt"/>
                <a:ea typeface="+mn-ea"/>
                <a:cs typeface="+mn-cs"/>
              </a:rPr>
              <a:t>=</a:t>
            </a:r>
            <a:r>
              <a:rPr kumimoji="0" lang="en-US" altLang="zh-CN" sz="2400" kern="1200" cap="none" spc="0" normalizeH="0" baseline="0" noProof="0" dirty="0">
                <a:solidFill>
                  <a:schemeClr val="accent2"/>
                </a:solidFill>
                <a:latin typeface="+mn-lt"/>
                <a:ea typeface="+mn-ea"/>
                <a:cs typeface="+mn-cs"/>
              </a:rPr>
              <a:t>V，E</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a:t>
            </a:r>
            <a:r>
              <a:rPr kumimoji="0" lang="zh-CN" altLang="en-US" sz="2400" kern="1200" cap="none" spc="0" normalizeH="0" baseline="0" noProof="0" dirty="0">
                <a:solidFill>
                  <a:schemeClr val="accent2"/>
                </a:solidFill>
                <a:latin typeface="+mn-lt"/>
                <a:ea typeface="+mn-ea"/>
                <a:cs typeface="+mn-cs"/>
              </a:rPr>
              <a:t>=</a:t>
            </a:r>
            <a:r>
              <a:rPr kumimoji="0" lang="en-US" altLang="zh-CN" sz="2400" kern="1200" cap="none" spc="0" normalizeH="0" baseline="0" noProof="0" dirty="0">
                <a:solidFill>
                  <a:schemeClr val="accent2"/>
                </a:solidFill>
                <a:latin typeface="+mn-lt"/>
                <a:ea typeface="+mn-ea"/>
                <a:cs typeface="+mn-cs"/>
              </a:rPr>
              <a:t>E </a:t>
            </a:r>
            <a:r>
              <a:rPr kumimoji="0" lang="zh-CN" altLang="en-US" sz="2400" kern="1200" cap="none" spc="0" normalizeH="0" baseline="0" noProof="0" dirty="0">
                <a:solidFill>
                  <a:schemeClr val="accent2"/>
                </a:solidFill>
                <a:latin typeface="+mn-lt"/>
                <a:ea typeface="+mn-ea"/>
                <a:cs typeface="+mn-cs"/>
              </a:rPr>
              <a:t>。对于</a:t>
            </a:r>
            <a:r>
              <a:rPr kumimoji="0" lang="en-US" altLang="zh-CN" sz="2400" kern="1200" cap="none" spc="0" normalizeH="0" baseline="0" noProof="0" dirty="0">
                <a:solidFill>
                  <a:schemeClr val="accent2"/>
                </a:solidFill>
                <a:latin typeface="+mn-lt"/>
                <a:ea typeface="+mn-ea"/>
                <a:cs typeface="+mn-cs"/>
              </a:rPr>
              <a:t>E</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中的每条边(</a:t>
            </a:r>
            <a:r>
              <a:rPr kumimoji="0" lang="en-US" altLang="zh-CN" sz="2400" kern="1200" cap="none" spc="0" normalizeH="0" baseline="0" noProof="0" dirty="0">
                <a:solidFill>
                  <a:schemeClr val="accent2"/>
                </a:solidFill>
                <a:latin typeface="+mn-lt"/>
                <a:ea typeface="+mn-ea"/>
                <a:cs typeface="+mn-cs"/>
                <a:sym typeface="Symbol" panose="05050102010706020507" pitchFamily="18" charset="2"/>
              </a:rPr>
              <a:t>u, v)</a:t>
            </a:r>
            <a:r>
              <a:rPr kumimoji="0" lang="zh-CN" altLang="en-US" sz="2400" kern="1200" cap="none" spc="0" normalizeH="0" baseline="0" noProof="0" dirty="0">
                <a:solidFill>
                  <a:schemeClr val="accent2"/>
                </a:solidFill>
                <a:latin typeface="+mn-lt"/>
                <a:ea typeface="+mn-ea"/>
                <a:cs typeface="+mn-cs"/>
                <a:sym typeface="Symbol" panose="05050102010706020507" pitchFamily="18" charset="2"/>
              </a:rPr>
              <a:t>赋予如下权值</a:t>
            </a:r>
            <a:r>
              <a:rPr kumimoji="0" lang="zh-CN" altLang="en-US" kern="1200" cap="none" spc="0" normalizeH="0" baseline="0" noProof="0" dirty="0">
                <a:latin typeface="Arial" panose="020B0604020202020204" pitchFamily="34" charset="0"/>
                <a:ea typeface="宋体" panose="02010600030101010101" pitchFamily="2" charset="-122"/>
                <a:cs typeface="+mn-cs"/>
                <a:sym typeface="Symbol" panose="05050102010706020507" pitchFamily="18" charset="2"/>
              </a:rPr>
              <a:t>：</a:t>
            </a:r>
          </a:p>
        </p:txBody>
      </p:sp>
      <p:graphicFrame>
        <p:nvGraphicFramePr>
          <p:cNvPr id="95235" name="Object 2"/>
          <p:cNvGraphicFramePr>
            <a:graphicFrameLocks noChangeAspect="1"/>
          </p:cNvGraphicFramePr>
          <p:nvPr/>
        </p:nvGraphicFramePr>
        <p:xfrm>
          <a:off x="3048000" y="1447800"/>
          <a:ext cx="3124200" cy="946150"/>
        </p:xfrm>
        <a:graphic>
          <a:graphicData uri="http://schemas.openxmlformats.org/presentationml/2006/ole">
            <mc:AlternateContent xmlns:mc="http://schemas.openxmlformats.org/markup-compatibility/2006">
              <mc:Choice xmlns:v="urn:schemas-microsoft-com:vml" Requires="v">
                <p:oleObj spid="_x0000_s5134" r:id="rId3" imgW="1511300" imgH="457200" progId="Equation.3">
                  <p:embed/>
                </p:oleObj>
              </mc:Choice>
              <mc:Fallback>
                <p:oleObj r:id="rId3" imgW="1511300" imgH="457200" progId="Equation.3">
                  <p:embed/>
                  <p:pic>
                    <p:nvPicPr>
                      <p:cNvPr id="0" name="图片 3082"/>
                      <p:cNvPicPr/>
                      <p:nvPr/>
                    </p:nvPicPr>
                    <p:blipFill>
                      <a:blip r:embed="rId4"/>
                      <a:stretch>
                        <a:fillRect/>
                      </a:stretch>
                    </p:blipFill>
                    <p:spPr>
                      <a:xfrm>
                        <a:off x="3048000" y="1447800"/>
                        <a:ext cx="3124200" cy="946150"/>
                      </a:xfrm>
                      <a:prstGeom prst="rect">
                        <a:avLst/>
                      </a:prstGeom>
                      <a:noFill/>
                      <a:ln w="38100">
                        <a:noFill/>
                        <a:miter/>
                      </a:ln>
                    </p:spPr>
                  </p:pic>
                </p:oleObj>
              </mc:Fallback>
            </mc:AlternateContent>
          </a:graphicData>
        </a:graphic>
      </p:graphicFrame>
      <p:sp>
        <p:nvSpPr>
          <p:cNvPr id="39940" name="Text Box 4"/>
          <p:cNvSpPr txBox="1">
            <a:spLocks noChangeArrowheads="1"/>
          </p:cNvSpPr>
          <p:nvPr/>
        </p:nvSpPr>
        <p:spPr bwMode="auto">
          <a:xfrm>
            <a:off x="457200" y="2590800"/>
            <a:ext cx="8305800" cy="3268663"/>
          </a:xfrm>
          <a:prstGeom prst="rect">
            <a:avLst/>
          </a:prstGeom>
          <a:noFill/>
          <a:ln w="9525">
            <a:noFill/>
            <a:miter lim="800000"/>
          </a:ln>
          <a:effectLst/>
        </p:spPr>
        <p:txBody>
          <a:bodyPr>
            <a:spAutoFit/>
          </a:bodyPr>
          <a:lstStyle/>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通过上述转换， </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转换为旅行商问题</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a:t>
            </a:r>
            <a:endParaRPr kumimoji="0" lang="zh-CN" altLang="en-US" sz="2400" b="0" i="0" u="none" strike="noStrike" kern="120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可以证明两个问题等价：</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（1）</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G</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中包含一条哈密尔顿回路，则这条路径上的边共有</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n</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rPr>
              <a:t>条，每条边长度是1，则</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G</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中存在一条路径经过每个顶点且一次，并且长度不超过</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n</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altLang="zh-CN"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（2）</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如果</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rPr>
              <a:t>G</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中存在一条满足旅行商问题的路径，则这条路径经过</a:t>
            </a:r>
            <a:r>
              <a:rPr kumimoji="0" lang="en-US" altLang="zh-CN"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G</a:t>
            </a:r>
            <a:r>
              <a:rPr kumimoji="0" lang="zh-CN" altLang="en-US" sz="2400" b="0" i="0" u="none" strike="noStrike" kern="1200" cap="none" spc="0" normalizeH="0" baseline="0" noProof="0" dirty="0">
                <a:ln>
                  <a:noFill/>
                </a:ln>
                <a:solidFill>
                  <a:schemeClr val="accent2"/>
                </a:solidFill>
                <a:effectLst/>
                <a:uLnTx/>
                <a:uFillTx/>
                <a:latin typeface="+mn-lt"/>
                <a:ea typeface="+mn-ea"/>
                <a:cs typeface="+mn-cs"/>
                <a:sym typeface="Symbol" panose="05050102010706020507" pitchFamily="18" charset="2"/>
              </a:rPr>
              <a:t>中各个顶点一次，且仅一次，最后回到出发顶点，它肯定是一条哈密尔顿回路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4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9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页脚占位符 3"/>
          <p:cNvSpPr txBox="1">
            <a:spLocks noGrp="1"/>
          </p:cNvSpPr>
          <p:nvPr>
            <p:ph type="ftr" sz="quarter" idx="10"/>
          </p:nvPr>
        </p:nvSpPr>
        <p:spPr>
          <a:ln/>
        </p:spPr>
        <p:txBody>
          <a:bodyPr/>
          <a:lstStyle/>
          <a:p>
            <a:pPr marL="0" indent="0" algn="ctr" eaLnBrk="1" hangingPunct="1">
              <a:spcBef>
                <a:spcPct val="0"/>
              </a:spcBef>
              <a:buNone/>
            </a:pPr>
            <a:r>
              <a:rPr lang="zh-CN" altLang="en-US" sz="1400" dirty="0">
                <a:solidFill>
                  <a:schemeClr val="tx1"/>
                </a:solidFill>
                <a:latin typeface="Arial" panose="020B0604020202020204" pitchFamily="34" charset="0"/>
                <a:ea typeface="宋体" panose="02010600030101010101" pitchFamily="2" charset="-122"/>
              </a:rPr>
              <a:t>南京理工大学</a:t>
            </a:r>
          </a:p>
        </p:txBody>
      </p:sp>
      <p:sp>
        <p:nvSpPr>
          <p:cNvPr id="96259" name="Rectangle 2"/>
          <p:cNvSpPr>
            <a:spLocks noGrp="1"/>
          </p:cNvSpPr>
          <p:nvPr>
            <p:ph type="title"/>
          </p:nvPr>
        </p:nvSpPr>
        <p:spPr>
          <a:ln/>
        </p:spPr>
        <p:txBody>
          <a:bodyPr vert="horz" wrap="square" lIns="91440" tIns="45720" rIns="91440" bIns="45720" anchor="ctr" anchorCtr="0"/>
          <a:lstStyle/>
          <a:p>
            <a:r>
              <a:rPr lang="zh-CN" altLang="en-US" b="1" dirty="0"/>
              <a:t>如何证明一个问题是</a:t>
            </a:r>
            <a:r>
              <a:rPr lang="en-US" altLang="zh-CN" b="1" dirty="0"/>
              <a:t>NP</a:t>
            </a:r>
            <a:r>
              <a:rPr lang="zh-CN" altLang="en-US" b="1" dirty="0"/>
              <a:t>完全的？</a:t>
            </a:r>
          </a:p>
        </p:txBody>
      </p:sp>
      <p:sp>
        <p:nvSpPr>
          <p:cNvPr id="358403" name="Rectangle 3"/>
          <p:cNvSpPr>
            <a:spLocks noGrp="1" noChangeArrowheads="1"/>
          </p:cNvSpPr>
          <p:nvPr>
            <p:ph idx="1"/>
          </p:nvPr>
        </p:nvSpPr>
        <p:spPr>
          <a:xfrm>
            <a:off x="304800" y="1600200"/>
            <a:ext cx="8382000" cy="3124200"/>
          </a:xfrm>
        </p:spPr>
        <p:txBody>
          <a:bodyPr vert="horz" wrap="square" lIns="91440" tIns="45720" rIns="91440" bIns="45720" numCol="1" anchor="t" anchorCtr="0" compatLnSpc="1"/>
          <a:lstStyle/>
          <a:p>
            <a:pPr marL="495300" marR="0" lvl="0" indent="-495300" algn="l" defTabSz="914400" rtl="0" eaLnBrk="0" fontAlgn="base" latinLnBrk="0" hangingPunct="0">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根据</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完全问题的定义（满足的两个性质），显然地，证明需要分两个步骤进行：</a:t>
            </a:r>
          </a:p>
          <a:p>
            <a:pPr marL="876300" marR="0" lvl="1" indent="-419100" algn="l" defTabSz="914400" rtl="0" eaLnBrk="0" fontAlgn="base" latinLnBrk="0" hangingPunct="0">
              <a:lnSpc>
                <a:spcPct val="100000"/>
              </a:lnSpc>
              <a:spcBef>
                <a:spcPct val="20000"/>
              </a:spcBef>
              <a:spcAft>
                <a:spcPct val="0"/>
              </a:spcAft>
              <a:buClrTx/>
              <a:buSzTx/>
              <a:buFont typeface="Wingdings" panose="05000000000000000000" pitchFamily="2" charset="2"/>
              <a:buChar char="Ø"/>
              <a:defRPr/>
            </a:pPr>
            <a:r>
              <a:rPr kumimoji="0" lang="zh-CN" altLang="en-US" sz="2200" b="0" i="0" u="none" strike="noStrike" kern="0" cap="none" spc="0" normalizeH="0" baseline="0" noProof="0" dirty="0">
                <a:ln>
                  <a:noFill/>
                </a:ln>
                <a:solidFill>
                  <a:srgbClr val="FF0000"/>
                </a:solidFill>
                <a:effectLst/>
                <a:uLnTx/>
                <a:uFillTx/>
                <a:latin typeface="+mn-lt"/>
                <a:ea typeface="+mn-ea"/>
              </a:rPr>
              <a:t>证明问题∏是</a:t>
            </a:r>
            <a:r>
              <a:rPr kumimoji="0" lang="en-US" altLang="zh-CN" sz="2200" b="0" i="0" u="none" strike="noStrike" kern="0" cap="none" spc="0" normalizeH="0" baseline="0" noProof="0" dirty="0">
                <a:ln>
                  <a:noFill/>
                </a:ln>
                <a:solidFill>
                  <a:srgbClr val="FF0000"/>
                </a:solidFill>
                <a:effectLst/>
                <a:uLnTx/>
                <a:uFillTx/>
                <a:latin typeface="+mn-lt"/>
                <a:ea typeface="+mn-ea"/>
              </a:rPr>
              <a:t>NP</a:t>
            </a:r>
            <a:r>
              <a:rPr kumimoji="0" lang="zh-CN" altLang="en-US" sz="2200" b="0" i="0" u="none" strike="noStrike" kern="0" cap="none" spc="0" normalizeH="0" baseline="0" noProof="0" dirty="0">
                <a:ln>
                  <a:noFill/>
                </a:ln>
                <a:solidFill>
                  <a:srgbClr val="FF0000"/>
                </a:solidFill>
                <a:effectLst/>
                <a:uLnTx/>
                <a:uFillTx/>
                <a:latin typeface="+mn-lt"/>
                <a:ea typeface="+mn-ea"/>
              </a:rPr>
              <a:t>类问题</a:t>
            </a:r>
            <a:r>
              <a:rPr kumimoji="0" lang="zh-CN" altLang="en-US" sz="2200" b="0" i="0" u="none" strike="noStrike" kern="0" cap="none" spc="0" normalizeH="0" baseline="0" noProof="0" dirty="0">
                <a:ln>
                  <a:noFill/>
                </a:ln>
                <a:solidFill>
                  <a:schemeClr val="accent2"/>
                </a:solidFill>
                <a:effectLst/>
                <a:uLnTx/>
                <a:uFillTx/>
                <a:latin typeface="+mn-lt"/>
                <a:ea typeface="+mn-ea"/>
              </a:rPr>
              <a:t>；即可以在多项式时间内以确定性算法验证一个任意生成的串，以确定它是否为问题的一个解。</a:t>
            </a:r>
          </a:p>
          <a:p>
            <a:pPr marL="876300" marR="0" lvl="1" indent="-419100" algn="l" defTabSz="914400" rtl="0" eaLnBrk="0" fontAlgn="base" latinLnBrk="0" hangingPunct="0">
              <a:lnSpc>
                <a:spcPct val="100000"/>
              </a:lnSpc>
              <a:spcBef>
                <a:spcPct val="20000"/>
              </a:spcBef>
              <a:spcAft>
                <a:spcPct val="0"/>
              </a:spcAft>
              <a:buClrTx/>
              <a:buSzTx/>
              <a:buFont typeface="Wingdings" panose="05000000000000000000" pitchFamily="2" charset="2"/>
              <a:buChar char="Ø"/>
              <a:defRPr/>
            </a:pPr>
            <a:r>
              <a:rPr kumimoji="0" lang="zh-CN" altLang="en-US" sz="2200" b="0" i="0" u="none" strike="noStrike" kern="0" cap="none" spc="0" normalizeH="0" baseline="0" noProof="0" dirty="0">
                <a:ln>
                  <a:noFill/>
                </a:ln>
                <a:solidFill>
                  <a:srgbClr val="FF0000"/>
                </a:solidFill>
                <a:effectLst/>
                <a:uLnTx/>
                <a:uFillTx/>
                <a:latin typeface="+mn-lt"/>
                <a:ea typeface="+mn-ea"/>
              </a:rPr>
              <a:t>证明</a:t>
            </a:r>
            <a:r>
              <a:rPr kumimoji="0" lang="en-US" altLang="zh-CN" sz="2200" b="0" i="0" u="none" strike="noStrike" kern="0" cap="none" spc="0" normalizeH="0" baseline="0" noProof="0" dirty="0">
                <a:ln>
                  <a:noFill/>
                </a:ln>
                <a:solidFill>
                  <a:srgbClr val="FF0000"/>
                </a:solidFill>
                <a:effectLst/>
                <a:uLnTx/>
                <a:uFillTx/>
                <a:latin typeface="+mn-lt"/>
                <a:ea typeface="+mn-ea"/>
              </a:rPr>
              <a:t>NP</a:t>
            </a:r>
            <a:r>
              <a:rPr kumimoji="0" lang="zh-CN" altLang="en-US" sz="2200" b="0" i="0" u="none" strike="noStrike" kern="0" cap="none" spc="0" normalizeH="0" baseline="0" noProof="0" dirty="0">
                <a:ln>
                  <a:noFill/>
                </a:ln>
                <a:solidFill>
                  <a:srgbClr val="FF0000"/>
                </a:solidFill>
                <a:effectLst/>
                <a:uLnTx/>
                <a:uFillTx/>
                <a:latin typeface="+mn-lt"/>
                <a:ea typeface="+mn-ea"/>
              </a:rPr>
              <a:t>类问题中的每一个问题都能在多项式时间内变换为问题∏。</a:t>
            </a:r>
            <a:r>
              <a:rPr kumimoji="0" lang="zh-CN" altLang="en-US" sz="2200" b="0" i="0" u="none" strike="noStrike" kern="0" cap="none" spc="0" normalizeH="0" baseline="0" noProof="0" dirty="0">
                <a:ln>
                  <a:noFill/>
                </a:ln>
                <a:solidFill>
                  <a:schemeClr val="accent2"/>
                </a:solidFill>
                <a:effectLst/>
                <a:uLnTx/>
                <a:uFillTx/>
                <a:latin typeface="+mn-lt"/>
                <a:ea typeface="+mn-ea"/>
              </a:rPr>
              <a:t>由于多项式问题变换具有传递性，所以，只需证明一个已知的</a:t>
            </a:r>
            <a:r>
              <a:rPr kumimoji="0" lang="en-US" altLang="zh-CN" sz="2200" b="0" i="0" u="none" strike="noStrike" kern="0" cap="none" spc="0" normalizeH="0" baseline="0" noProof="0" dirty="0">
                <a:ln>
                  <a:noFill/>
                </a:ln>
                <a:solidFill>
                  <a:schemeClr val="accent2"/>
                </a:solidFill>
                <a:effectLst/>
                <a:uLnTx/>
                <a:uFillTx/>
                <a:latin typeface="+mn-lt"/>
                <a:ea typeface="+mn-ea"/>
              </a:rPr>
              <a:t>NP</a:t>
            </a:r>
            <a:r>
              <a:rPr kumimoji="0" lang="zh-CN" altLang="en-US" sz="2200" b="0" i="0" u="none" strike="noStrike" kern="0" cap="none" spc="0" normalizeH="0" baseline="0" noProof="0" dirty="0">
                <a:ln>
                  <a:noFill/>
                </a:ln>
                <a:solidFill>
                  <a:schemeClr val="accent2"/>
                </a:solidFill>
                <a:effectLst/>
                <a:uLnTx/>
                <a:uFillTx/>
                <a:latin typeface="+mn-lt"/>
                <a:ea typeface="+mn-ea"/>
              </a:rPr>
              <a:t>完全问题能够在多项式时间内变换为问题∏</a:t>
            </a:r>
            <a:r>
              <a:rPr kumimoji="0" lang="en-US" altLang="zh-CN" sz="2200" b="0" i="0" u="none" strike="noStrike" kern="0" cap="none" spc="0" normalizeH="0" baseline="0" noProof="0" dirty="0">
                <a:ln>
                  <a:noFill/>
                </a:ln>
                <a:solidFill>
                  <a:schemeClr val="accent2"/>
                </a:solidFill>
                <a:effectLst/>
                <a:uLnTx/>
                <a:uFillTx/>
                <a:latin typeface="+mn-lt"/>
                <a:ea typeface="+mn-ea"/>
              </a:rPr>
              <a:t>. </a:t>
            </a:r>
          </a:p>
        </p:txBody>
      </p:sp>
      <p:grpSp>
        <p:nvGrpSpPr>
          <p:cNvPr id="96261" name="Group 4"/>
          <p:cNvGrpSpPr/>
          <p:nvPr/>
        </p:nvGrpSpPr>
        <p:grpSpPr>
          <a:xfrm>
            <a:off x="1371600" y="4724400"/>
            <a:ext cx="5410200" cy="2133600"/>
            <a:chOff x="624" y="1776"/>
            <a:chExt cx="3408" cy="1344"/>
          </a:xfrm>
        </p:grpSpPr>
        <p:sp>
          <p:nvSpPr>
            <p:cNvPr id="96267" name="Oval 5"/>
            <p:cNvSpPr/>
            <p:nvPr/>
          </p:nvSpPr>
          <p:spPr>
            <a:xfrm>
              <a:off x="624" y="1776"/>
              <a:ext cx="3408" cy="134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68" name="Rectangle 6"/>
            <p:cNvSpPr/>
            <p:nvPr/>
          </p:nvSpPr>
          <p:spPr>
            <a:xfrm>
              <a:off x="2544" y="1968"/>
              <a:ext cx="936" cy="374"/>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NP</a:t>
              </a:r>
              <a:r>
                <a:rPr lang="zh-CN" altLang="en-US" sz="2200" b="1" dirty="0">
                  <a:solidFill>
                    <a:srgbClr val="000080"/>
                  </a:solidFill>
                  <a:latin typeface="华文中宋" panose="02010600040101010101" pitchFamily="2" charset="-122"/>
                  <a:ea typeface="华文中宋" panose="02010600040101010101" pitchFamily="2" charset="-122"/>
                </a:rPr>
                <a:t>类问题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69" name="Rectangle 7"/>
            <p:cNvSpPr/>
            <p:nvPr/>
          </p:nvSpPr>
          <p:spPr>
            <a:xfrm>
              <a:off x="2256" y="2544"/>
              <a:ext cx="889" cy="461"/>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zh-CN" altLang="en-US" sz="2200" b="1" dirty="0">
                  <a:solidFill>
                    <a:schemeClr val="tx1"/>
                  </a:solidFill>
                  <a:ea typeface="华文中宋" panose="02010600040101010101" pitchFamily="2" charset="-122"/>
                </a:rPr>
                <a:t>已知的</a:t>
              </a:r>
              <a:r>
                <a:rPr lang="en-US" altLang="zh-CN" sz="2200" b="1" dirty="0">
                  <a:solidFill>
                    <a:schemeClr val="tx1"/>
                  </a:solidFill>
                  <a:ea typeface="华文中宋" panose="02010600040101010101" pitchFamily="2" charset="-122"/>
                </a:rPr>
                <a:t>NP</a:t>
              </a:r>
            </a:p>
            <a:p>
              <a:pPr marL="0" lvl="0" indent="0" algn="just" eaLnBrk="1" hangingPunct="1">
                <a:spcBef>
                  <a:spcPct val="0"/>
                </a:spcBef>
                <a:buNone/>
              </a:pPr>
              <a:r>
                <a:rPr lang="zh-CN" altLang="en-US" sz="2200" b="1" dirty="0">
                  <a:solidFill>
                    <a:schemeClr val="tx1"/>
                  </a:solidFill>
                  <a:latin typeface="华文中宋" panose="02010600040101010101" pitchFamily="2" charset="-122"/>
                  <a:ea typeface="华文中宋" panose="02010600040101010101" pitchFamily="2" charset="-122"/>
                </a:rPr>
                <a:t>完全问题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0" name="Oval 8"/>
            <p:cNvSpPr/>
            <p:nvPr/>
          </p:nvSpPr>
          <p:spPr>
            <a:xfrm>
              <a:off x="1344" y="1968"/>
              <a:ext cx="144" cy="125"/>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1" name="Oval 9"/>
            <p:cNvSpPr/>
            <p:nvPr/>
          </p:nvSpPr>
          <p:spPr>
            <a:xfrm>
              <a:off x="936" y="2280"/>
              <a:ext cx="144" cy="125"/>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2" name="Oval 10"/>
            <p:cNvSpPr/>
            <p:nvPr/>
          </p:nvSpPr>
          <p:spPr>
            <a:xfrm>
              <a:off x="1224" y="2717"/>
              <a:ext cx="144" cy="125"/>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3" name="Oval 11"/>
            <p:cNvSpPr/>
            <p:nvPr/>
          </p:nvSpPr>
          <p:spPr>
            <a:xfrm>
              <a:off x="2304" y="2030"/>
              <a:ext cx="144" cy="125"/>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4" name="Oval 12"/>
            <p:cNvSpPr/>
            <p:nvPr/>
          </p:nvSpPr>
          <p:spPr>
            <a:xfrm>
              <a:off x="1871" y="1843"/>
              <a:ext cx="144" cy="125"/>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5" name="Oval 13"/>
            <p:cNvSpPr/>
            <p:nvPr/>
          </p:nvSpPr>
          <p:spPr>
            <a:xfrm>
              <a:off x="1800" y="2904"/>
              <a:ext cx="144" cy="125"/>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6" name="Oval 14"/>
            <p:cNvSpPr/>
            <p:nvPr/>
          </p:nvSpPr>
          <p:spPr>
            <a:xfrm>
              <a:off x="1656" y="2342"/>
              <a:ext cx="144" cy="125"/>
            </a:xfrm>
            <a:prstGeom prst="ellipse">
              <a:avLst/>
            </a:prstGeom>
            <a:solidFill>
              <a:srgbClr val="FFFFFF"/>
            </a:solidFill>
            <a:ln w="2857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77" name="Line 15"/>
            <p:cNvSpPr/>
            <p:nvPr/>
          </p:nvSpPr>
          <p:spPr>
            <a:xfrm>
              <a:off x="1440" y="2064"/>
              <a:ext cx="216" cy="278"/>
            </a:xfrm>
            <a:prstGeom prst="line">
              <a:avLst/>
            </a:prstGeom>
            <a:ln w="28575" cap="flat" cmpd="sng">
              <a:solidFill>
                <a:srgbClr val="000000"/>
              </a:solidFill>
              <a:prstDash val="solid"/>
              <a:headEnd type="none" w="med" len="med"/>
              <a:tailEnd type="triangle" w="med" len="med"/>
            </a:ln>
          </p:spPr>
        </p:sp>
        <p:sp>
          <p:nvSpPr>
            <p:cNvPr id="96278" name="Line 16"/>
            <p:cNvSpPr/>
            <p:nvPr/>
          </p:nvSpPr>
          <p:spPr>
            <a:xfrm flipH="1">
              <a:off x="1727" y="1968"/>
              <a:ext cx="217" cy="374"/>
            </a:xfrm>
            <a:prstGeom prst="line">
              <a:avLst/>
            </a:prstGeom>
            <a:ln w="28575" cap="flat" cmpd="sng">
              <a:solidFill>
                <a:srgbClr val="000000"/>
              </a:solidFill>
              <a:prstDash val="solid"/>
              <a:headEnd type="none" w="med" len="med"/>
              <a:tailEnd type="triangle" w="med" len="med"/>
            </a:ln>
          </p:spPr>
        </p:sp>
        <p:sp>
          <p:nvSpPr>
            <p:cNvPr id="96279" name="Line 17"/>
            <p:cNvSpPr/>
            <p:nvPr/>
          </p:nvSpPr>
          <p:spPr>
            <a:xfrm flipH="1">
              <a:off x="1800" y="2155"/>
              <a:ext cx="504" cy="250"/>
            </a:xfrm>
            <a:prstGeom prst="line">
              <a:avLst/>
            </a:prstGeom>
            <a:ln w="28575" cap="flat" cmpd="sng">
              <a:solidFill>
                <a:srgbClr val="000000"/>
              </a:solidFill>
              <a:prstDash val="solid"/>
              <a:headEnd type="none" w="med" len="med"/>
              <a:tailEnd type="triangle" w="med" len="med"/>
            </a:ln>
          </p:spPr>
        </p:sp>
        <p:sp>
          <p:nvSpPr>
            <p:cNvPr id="96280" name="Line 18"/>
            <p:cNvSpPr/>
            <p:nvPr/>
          </p:nvSpPr>
          <p:spPr>
            <a:xfrm>
              <a:off x="1080" y="2342"/>
              <a:ext cx="576" cy="63"/>
            </a:xfrm>
            <a:prstGeom prst="line">
              <a:avLst/>
            </a:prstGeom>
            <a:ln w="28575" cap="flat" cmpd="sng">
              <a:solidFill>
                <a:srgbClr val="000000"/>
              </a:solidFill>
              <a:prstDash val="solid"/>
              <a:headEnd type="none" w="med" len="med"/>
              <a:tailEnd type="triangle" w="med" len="med"/>
            </a:ln>
          </p:spPr>
        </p:sp>
        <p:sp>
          <p:nvSpPr>
            <p:cNvPr id="96281" name="Line 19"/>
            <p:cNvSpPr/>
            <p:nvPr/>
          </p:nvSpPr>
          <p:spPr>
            <a:xfrm flipV="1">
              <a:off x="1368" y="2467"/>
              <a:ext cx="288" cy="250"/>
            </a:xfrm>
            <a:prstGeom prst="line">
              <a:avLst/>
            </a:prstGeom>
            <a:ln w="28575" cap="flat" cmpd="sng">
              <a:solidFill>
                <a:srgbClr val="000000"/>
              </a:solidFill>
              <a:prstDash val="solid"/>
              <a:headEnd type="none" w="med" len="med"/>
              <a:tailEnd type="triangle" w="med" len="med"/>
            </a:ln>
          </p:spPr>
        </p:sp>
        <p:sp>
          <p:nvSpPr>
            <p:cNvPr id="96282" name="Line 20"/>
            <p:cNvSpPr/>
            <p:nvPr/>
          </p:nvSpPr>
          <p:spPr>
            <a:xfrm flipH="1" flipV="1">
              <a:off x="1727" y="2467"/>
              <a:ext cx="144" cy="437"/>
            </a:xfrm>
            <a:prstGeom prst="line">
              <a:avLst/>
            </a:prstGeom>
            <a:ln w="28575" cap="flat" cmpd="sng">
              <a:solidFill>
                <a:srgbClr val="000000"/>
              </a:solidFill>
              <a:prstDash val="solid"/>
              <a:headEnd type="none" w="med" len="med"/>
              <a:tailEnd type="triangle" w="med" len="med"/>
            </a:ln>
          </p:spPr>
        </p:sp>
        <p:sp>
          <p:nvSpPr>
            <p:cNvPr id="96283" name="Freeform 28"/>
            <p:cNvSpPr/>
            <p:nvPr/>
          </p:nvSpPr>
          <p:spPr>
            <a:xfrm flipV="1">
              <a:off x="1776" y="2448"/>
              <a:ext cx="528" cy="384"/>
            </a:xfrm>
            <a:custGeom>
              <a:avLst/>
              <a:gdLst>
                <a:gd name="txL" fmla="*/ 0 w 672"/>
                <a:gd name="txT" fmla="*/ 0 h 480"/>
                <a:gd name="txR" fmla="*/ 672 w 672"/>
                <a:gd name="txB" fmla="*/ 480 h 480"/>
              </a:gdLst>
              <a:ahLst/>
              <a:cxnLst>
                <a:cxn ang="0">
                  <a:pos x="76" y="0"/>
                </a:cxn>
                <a:cxn ang="0">
                  <a:pos x="22" y="32"/>
                </a:cxn>
                <a:cxn ang="0">
                  <a:pos x="55" y="32"/>
                </a:cxn>
                <a:cxn ang="0">
                  <a:pos x="0" y="65"/>
                </a:cxn>
              </a:cxnLst>
              <a:rect l="txL" t="txT" r="txR" b="tx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cap="flat" cmpd="sng">
              <a:solidFill>
                <a:srgbClr val="A50021">
                  <a:alpha val="100000"/>
                </a:srgbClr>
              </a:solidFill>
              <a:prstDash val="solid"/>
              <a:round/>
              <a:headEnd type="none" w="med" len="med"/>
              <a:tailEnd type="triangle" w="med" len="lg"/>
            </a:ln>
          </p:spPr>
          <p:txBody>
            <a:bodyPr/>
            <a:lstStyle/>
            <a:p>
              <a:endParaRPr lang="zh-CN" altLang="en-US"/>
            </a:p>
          </p:txBody>
        </p:sp>
      </p:grpSp>
      <p:grpSp>
        <p:nvGrpSpPr>
          <p:cNvPr id="3" name="Group 22"/>
          <p:cNvGrpSpPr/>
          <p:nvPr/>
        </p:nvGrpSpPr>
        <p:grpSpPr>
          <a:xfrm>
            <a:off x="6019800" y="5105400"/>
            <a:ext cx="2363788" cy="892175"/>
            <a:chOff x="3455" y="1968"/>
            <a:chExt cx="1489" cy="562"/>
          </a:xfrm>
        </p:grpSpPr>
        <p:sp>
          <p:nvSpPr>
            <p:cNvPr id="96264" name="Oval 23"/>
            <p:cNvSpPr/>
            <p:nvPr/>
          </p:nvSpPr>
          <p:spPr>
            <a:xfrm>
              <a:off x="3455" y="2405"/>
              <a:ext cx="144" cy="125"/>
            </a:xfrm>
            <a:prstGeom prst="ellipse">
              <a:avLst/>
            </a:prstGeom>
            <a:solidFill>
              <a:srgbClr val="00000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65" name="Rectangle 24"/>
            <p:cNvSpPr/>
            <p:nvPr/>
          </p:nvSpPr>
          <p:spPr>
            <a:xfrm>
              <a:off x="4080" y="1968"/>
              <a:ext cx="864" cy="44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zh-CN" altLang="en-US" sz="2200" b="1" dirty="0">
                  <a:solidFill>
                    <a:srgbClr val="FF0000"/>
                  </a:solidFill>
                  <a:ea typeface="华文中宋" panose="02010600040101010101" pitchFamily="2" charset="-122"/>
                </a:rPr>
                <a:t>要证明的</a:t>
              </a:r>
            </a:p>
            <a:p>
              <a:pPr marL="0" lvl="0" indent="0" algn="just" eaLnBrk="1" hangingPunct="1">
                <a:spcBef>
                  <a:spcPct val="0"/>
                </a:spcBef>
                <a:buNone/>
              </a:pPr>
              <a:r>
                <a:rPr lang="en-US" altLang="zh-CN" sz="2200" b="1" dirty="0">
                  <a:solidFill>
                    <a:srgbClr val="FF0000"/>
                  </a:solidFill>
                  <a:ea typeface="华文中宋" panose="02010600040101010101" pitchFamily="2" charset="-122"/>
                </a:rPr>
                <a:t>??</a:t>
              </a:r>
              <a:r>
                <a:rPr lang="zh-CN" altLang="en-US" sz="2200" b="1" dirty="0">
                  <a:solidFill>
                    <a:srgbClr val="FF0000"/>
                  </a:solidFill>
                  <a:latin typeface="华文中宋" panose="02010600040101010101" pitchFamily="2" charset="-122"/>
                  <a:ea typeface="华文中宋" panose="02010600040101010101" pitchFamily="2" charset="-122"/>
                </a:rPr>
                <a:t>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96266" name="Freeform 28"/>
            <p:cNvSpPr/>
            <p:nvPr/>
          </p:nvSpPr>
          <p:spPr>
            <a:xfrm>
              <a:off x="3600" y="2160"/>
              <a:ext cx="528" cy="240"/>
            </a:xfrm>
            <a:custGeom>
              <a:avLst/>
              <a:gdLst>
                <a:gd name="txL" fmla="*/ 0 w 672"/>
                <a:gd name="txT" fmla="*/ 0 h 480"/>
                <a:gd name="txR" fmla="*/ 672 w 672"/>
                <a:gd name="txB" fmla="*/ 480 h 480"/>
              </a:gdLst>
              <a:ahLst/>
              <a:cxnLst>
                <a:cxn ang="0">
                  <a:pos x="76" y="0"/>
                </a:cxn>
                <a:cxn ang="0">
                  <a:pos x="22" y="1"/>
                </a:cxn>
                <a:cxn ang="0">
                  <a:pos x="55" y="1"/>
                </a:cxn>
                <a:cxn ang="0">
                  <a:pos x="0" y="1"/>
                </a:cxn>
              </a:cxnLst>
              <a:rect l="txL" t="txT" r="txR" b="tx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cap="flat" cmpd="sng">
              <a:solidFill>
                <a:srgbClr val="A50021">
                  <a:alpha val="100000"/>
                </a:srgbClr>
              </a:solidFill>
              <a:prstDash val="solid"/>
              <a:round/>
              <a:headEnd type="none" w="med" len="med"/>
              <a:tailEnd type="triangle" w="med" len="lg"/>
            </a:ln>
          </p:spPr>
          <p:txBody>
            <a:bodyPr/>
            <a:lstStyle/>
            <a:p>
              <a:endParaRPr lang="zh-CN" altLang="en-US"/>
            </a:p>
          </p:txBody>
        </p:sp>
      </p:grpSp>
      <p:sp>
        <p:nvSpPr>
          <p:cNvPr id="358426" name="Line 26"/>
          <p:cNvSpPr/>
          <p:nvPr/>
        </p:nvSpPr>
        <p:spPr>
          <a:xfrm>
            <a:off x="3429000" y="5791200"/>
            <a:ext cx="2517775" cy="92075"/>
          </a:xfrm>
          <a:prstGeom prst="line">
            <a:avLst/>
          </a:prstGeom>
          <a:ln w="57150" cap="flat" cmpd="sng">
            <a:solidFill>
              <a:srgbClr val="0000FF"/>
            </a:solidFill>
            <a:prstDash val="soli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58403">
                                            <p:txEl>
                                              <p:pRg st="1" end="1"/>
                                            </p:txEl>
                                          </p:spTgt>
                                        </p:tgtEl>
                                        <p:attrNameLst>
                                          <p:attrName>style.visibility</p:attrName>
                                        </p:attrNameLst>
                                      </p:cBhvr>
                                      <p:to>
                                        <p:strVal val="visible"/>
                                      </p:to>
                                    </p:set>
                                    <p:anim to="" calcmode="lin" valueType="num">
                                      <p:cBhvr>
                                        <p:cTn id="7" dur="1" fill="hold"/>
                                        <p:tgtEl>
                                          <p:spTgt spid="358403">
                                            <p:txEl>
                                              <p:pRg st="1" end="1"/>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0"/>
                                          </p:stCondLst>
                                        </p:cTn>
                                        <p:tgtEl>
                                          <p:spTgt spid="358403">
                                            <p:txEl>
                                              <p:pRg st="2" end="2"/>
                                            </p:txEl>
                                          </p:spTgt>
                                        </p:tgtEl>
                                        <p:attrNameLst>
                                          <p:attrName>style.visibility</p:attrName>
                                        </p:attrNameLst>
                                      </p:cBhvr>
                                      <p:to>
                                        <p:strVal val="visible"/>
                                      </p:to>
                                    </p:set>
                                    <p:anim to="" calcmode="lin" valueType="num">
                                      <p:cBhvr>
                                        <p:cTn id="18" dur="1" fill="hold"/>
                                        <p:tgtEl>
                                          <p:spTgt spid="358403">
                                            <p:txEl>
                                              <p:pRg st="2" end="2"/>
                                            </p:txEl>
                                          </p:spTgt>
                                        </p:tgtEl>
                                        <p:attrNameLst>
                                          <p:attrName>style.visibility</p:attrName>
                                        </p:attrNameLst>
                                      </p:cBhvr>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358426"/>
                                        </p:tgtEl>
                                        <p:attrNameLst>
                                          <p:attrName>style.visibility</p:attrName>
                                        </p:attrNameLst>
                                      </p:cBhvr>
                                      <p:to>
                                        <p:strVal val="visible"/>
                                      </p:to>
                                    </p:set>
                                    <p:anim calcmode="lin" valueType="num">
                                      <p:cBhvr>
                                        <p:cTn id="23" dur="500" fill="hold"/>
                                        <p:tgtEl>
                                          <p:spTgt spid="358426"/>
                                        </p:tgtEl>
                                        <p:attrNameLst>
                                          <p:attrName>ppt_w</p:attrName>
                                        </p:attrNameLst>
                                      </p:cBhvr>
                                      <p:tavLst>
                                        <p:tav tm="0">
                                          <p:val>
                                            <p:fltVal val="0"/>
                                          </p:val>
                                        </p:tav>
                                        <p:tav tm="100000">
                                          <p:val>
                                            <p:strVal val="#ppt_w"/>
                                          </p:val>
                                        </p:tav>
                                      </p:tavLst>
                                    </p:anim>
                                    <p:anim calcmode="lin" valueType="num">
                                      <p:cBhvr>
                                        <p:cTn id="24" dur="500" fill="hold"/>
                                        <p:tgtEl>
                                          <p:spTgt spid="3584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页脚占位符 5"/>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97283" name="Rectangle 2"/>
          <p:cNvSpPr>
            <a:spLocks noGrp="1"/>
          </p:cNvSpPr>
          <p:nvPr>
            <p:ph type="title"/>
          </p:nvPr>
        </p:nvSpPr>
        <p:spPr>
          <a:xfrm>
            <a:off x="914400" y="76200"/>
            <a:ext cx="8229600" cy="1139825"/>
          </a:xfrm>
          <a:ln/>
        </p:spPr>
        <p:txBody>
          <a:bodyPr vert="horz" wrap="square" lIns="91440" tIns="45720" rIns="91440" bIns="45720" anchor="ctr" anchorCtr="0"/>
          <a:lstStyle/>
          <a:p>
            <a:pPr eaLnBrk="1" hangingPunct="1"/>
            <a:r>
              <a:rPr lang="zh-CN" altLang="en-US" dirty="0"/>
              <a:t>顶点覆盖、独立集和团集问题</a:t>
            </a:r>
            <a:endParaRPr lang="en-US" altLang="zh-CN" dirty="0"/>
          </a:p>
        </p:txBody>
      </p:sp>
      <p:sp>
        <p:nvSpPr>
          <p:cNvPr id="34819" name="Rectangle 3"/>
          <p:cNvSpPr>
            <a:spLocks noGrp="1" noChangeArrowheads="1"/>
          </p:cNvSpPr>
          <p:nvPr>
            <p:ph type="body" sz="half" idx="1"/>
          </p:nvPr>
        </p:nvSpPr>
        <p:spPr>
          <a:xfrm>
            <a:off x="838200" y="1371600"/>
            <a:ext cx="8229600" cy="4953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顶点覆盖</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给出一个无向图</a:t>
            </a:r>
            <a:r>
              <a:rPr kumimoji="0" lang="en-US" altLang="zh-CN" sz="2000" b="0" i="0" u="none" strike="noStrike" kern="0" cap="none" spc="0" normalizeH="0" baseline="0" noProof="0" dirty="0">
                <a:ln>
                  <a:noFill/>
                </a:ln>
                <a:solidFill>
                  <a:schemeClr val="accent2"/>
                </a:solidFill>
                <a:effectLst/>
                <a:uLnTx/>
                <a:uFillTx/>
                <a:latin typeface="+mn-lt"/>
                <a:ea typeface="+mn-ea"/>
              </a:rPr>
              <a:t>G=(V,E)</a:t>
            </a:r>
            <a:r>
              <a:rPr kumimoji="0" lang="zh-CN" altLang="en-US" sz="2000" b="0" i="0" u="none" strike="noStrike" kern="0" cap="none" spc="0" normalizeH="0" baseline="0" noProof="0" dirty="0">
                <a:ln>
                  <a:noFill/>
                </a:ln>
                <a:solidFill>
                  <a:schemeClr val="accent2"/>
                </a:solidFill>
                <a:effectLst/>
                <a:uLnTx/>
                <a:uFillTx/>
                <a:latin typeface="+mn-lt"/>
                <a:ea typeface="+mn-ea"/>
              </a:rPr>
              <a:t>和一个正整数</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，是否存在大小为</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的子集</a:t>
            </a:r>
            <a:r>
              <a:rPr kumimoji="0" lang="en-US" altLang="zh-CN" sz="2000" b="0" i="0" u="none" strike="noStrike" kern="0" cap="none" spc="0" normalizeH="0" baseline="0" noProof="0" dirty="0">
                <a:ln>
                  <a:noFill/>
                </a:ln>
                <a:solidFill>
                  <a:schemeClr val="accent2"/>
                </a:solidFill>
                <a:effectLst/>
                <a:uLnTx/>
                <a:uFillTx/>
                <a:latin typeface="+mn-lt"/>
                <a:ea typeface="+mn-ea"/>
              </a:rPr>
              <a:t>C </a:t>
            </a:r>
            <a:r>
              <a:rPr kumimoji="0" lang="en-US" altLang="zh-CN" sz="20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en-US" altLang="zh-CN" sz="2000" b="0" i="0" u="none" strike="noStrike" kern="0" cap="none" spc="0" normalizeH="0" baseline="0" noProof="0" dirty="0">
                <a:ln>
                  <a:noFill/>
                </a:ln>
                <a:solidFill>
                  <a:schemeClr val="accent2"/>
                </a:solidFill>
                <a:effectLst/>
                <a:uLnTx/>
                <a:uFillTx/>
                <a:latin typeface="+mn-lt"/>
                <a:ea typeface="+mn-ea"/>
              </a:rPr>
              <a:t> V,</a:t>
            </a:r>
            <a:r>
              <a:rPr kumimoji="0" lang="zh-CN" altLang="en-US" sz="2000" b="0" i="0" u="none" strike="noStrike" kern="0" cap="none" spc="0" normalizeH="0" baseline="0" noProof="0" dirty="0">
                <a:ln>
                  <a:noFill/>
                </a:ln>
                <a:solidFill>
                  <a:schemeClr val="accent2"/>
                </a:solidFill>
                <a:effectLst/>
                <a:uLnTx/>
                <a:uFillTx/>
                <a:latin typeface="+mn-lt"/>
                <a:ea typeface="+mn-ea"/>
              </a:rPr>
              <a:t>使</a:t>
            </a:r>
            <a:r>
              <a:rPr kumimoji="0" lang="en-US" altLang="zh-CN" sz="2000" b="0" i="0" u="none" strike="noStrike" kern="0" cap="none" spc="0" normalizeH="0" baseline="0" noProof="0" dirty="0">
                <a:ln>
                  <a:noFill/>
                </a:ln>
                <a:solidFill>
                  <a:schemeClr val="accent2"/>
                </a:solidFill>
                <a:effectLst/>
                <a:uLnTx/>
                <a:uFillTx/>
                <a:latin typeface="+mn-lt"/>
                <a:ea typeface="+mn-ea"/>
              </a:rPr>
              <a:t>E</a:t>
            </a:r>
            <a:r>
              <a:rPr kumimoji="0" lang="zh-CN" altLang="en-US" sz="2000" b="0" i="0" u="none" strike="noStrike" kern="0" cap="none" spc="0" normalizeH="0" baseline="0" noProof="0" dirty="0">
                <a:ln>
                  <a:noFill/>
                </a:ln>
                <a:solidFill>
                  <a:schemeClr val="accent2"/>
                </a:solidFill>
                <a:effectLst/>
                <a:uLnTx/>
                <a:uFillTx/>
                <a:latin typeface="+mn-lt"/>
                <a:ea typeface="+mn-ea"/>
              </a:rPr>
              <a:t>中的每条边至少和</a:t>
            </a:r>
            <a:r>
              <a:rPr kumimoji="0" lang="en-US" altLang="zh-CN" sz="2000" b="0" i="0" u="none" strike="noStrike" kern="0" cap="none" spc="0" normalizeH="0" baseline="0" noProof="0" dirty="0">
                <a:ln>
                  <a:noFill/>
                </a:ln>
                <a:solidFill>
                  <a:schemeClr val="accent2"/>
                </a:solidFill>
                <a:effectLst/>
                <a:uLnTx/>
                <a:uFillTx/>
                <a:latin typeface="+mn-lt"/>
                <a:ea typeface="+mn-ea"/>
              </a:rPr>
              <a:t>C</a:t>
            </a:r>
            <a:r>
              <a:rPr kumimoji="0" lang="zh-CN" altLang="en-US" sz="2000" b="0" i="0" u="none" strike="noStrike" kern="0" cap="none" spc="0" normalizeH="0" baseline="0" noProof="0" dirty="0">
                <a:ln>
                  <a:noFill/>
                </a:ln>
                <a:solidFill>
                  <a:schemeClr val="accent2"/>
                </a:solidFill>
                <a:effectLst/>
                <a:uLnTx/>
                <a:uFillTx/>
                <a:latin typeface="+mn-lt"/>
                <a:ea typeface="+mn-ea"/>
              </a:rPr>
              <a:t>中的一个顶点关联</a:t>
            </a:r>
            <a:r>
              <a:rPr kumimoji="0" lang="en-US" altLang="zh-CN" sz="2000" b="0" i="0" u="none" strike="noStrike" kern="0" cap="none" spc="0" normalizeH="0" baseline="0" noProof="0" dirty="0">
                <a:ln>
                  <a:noFill/>
                </a:ln>
                <a:solidFill>
                  <a:schemeClr val="accent2"/>
                </a:solidFill>
                <a:effectLst/>
                <a:uLnTx/>
                <a:uFillTx/>
                <a:latin typeface="+mn-lt"/>
                <a:ea typeface="+mn-ea"/>
              </a:rPr>
              <a:t>? </a:t>
            </a: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独立集</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独立集</a:t>
            </a:r>
            <a:r>
              <a:rPr kumimoji="0" lang="en-US" altLang="zh-CN" sz="2000" b="0" i="0" u="none" strike="noStrike" kern="0" cap="none" spc="0" normalizeH="0" baseline="0" noProof="0" dirty="0">
                <a:ln>
                  <a:noFill/>
                </a:ln>
                <a:solidFill>
                  <a:schemeClr val="accent2"/>
                </a:solidFill>
                <a:effectLst/>
                <a:uLnTx/>
                <a:uFillTx/>
                <a:latin typeface="+mn-lt"/>
                <a:ea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rPr>
              <a:t>给出一个无向图</a:t>
            </a:r>
            <a:r>
              <a:rPr kumimoji="0" lang="en-US" altLang="zh-CN" sz="2000" b="0" i="0" u="none" strike="noStrike" kern="0" cap="none" spc="0" normalizeH="0" baseline="0" noProof="0" dirty="0">
                <a:ln>
                  <a:noFill/>
                </a:ln>
                <a:solidFill>
                  <a:schemeClr val="accent2"/>
                </a:solidFill>
                <a:effectLst/>
                <a:uLnTx/>
                <a:uFillTx/>
                <a:latin typeface="+mn-lt"/>
                <a:ea typeface="+mn-ea"/>
              </a:rPr>
              <a:t>G=(V,E)</a:t>
            </a:r>
            <a:r>
              <a:rPr kumimoji="0" lang="zh-CN" altLang="en-US" sz="2000" b="0" i="0" u="none" strike="noStrike" kern="0" cap="none" spc="0" normalizeH="0" baseline="0" noProof="0" dirty="0">
                <a:ln>
                  <a:noFill/>
                </a:ln>
                <a:solidFill>
                  <a:schemeClr val="accent2"/>
                </a:solidFill>
                <a:effectLst/>
                <a:uLnTx/>
                <a:uFillTx/>
                <a:latin typeface="+mn-lt"/>
                <a:ea typeface="+mn-ea"/>
              </a:rPr>
              <a:t>和一个正整数</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，是否存在</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个顶点的子集</a:t>
            </a:r>
            <a:r>
              <a:rPr kumimoji="0" lang="en-US" altLang="zh-CN" sz="2000" b="0" i="0" u="none" strike="noStrike" kern="0" cap="none" spc="0" normalizeH="0" baseline="0" noProof="0" dirty="0">
                <a:ln>
                  <a:noFill/>
                </a:ln>
                <a:solidFill>
                  <a:schemeClr val="accent2"/>
                </a:solidFill>
                <a:effectLst/>
                <a:uLnTx/>
                <a:uFillTx/>
                <a:latin typeface="+mn-lt"/>
                <a:ea typeface="+mn-ea"/>
              </a:rPr>
              <a:t>S </a:t>
            </a:r>
            <a:r>
              <a:rPr kumimoji="0" lang="en-US" altLang="zh-CN" sz="20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en-US" altLang="zh-CN" sz="2000" b="0" i="0" u="none" strike="noStrike" kern="0" cap="none" spc="0" normalizeH="0" baseline="0" noProof="0" dirty="0">
                <a:ln>
                  <a:noFill/>
                </a:ln>
                <a:solidFill>
                  <a:schemeClr val="accent2"/>
                </a:solidFill>
                <a:effectLst/>
                <a:uLnTx/>
                <a:uFillTx/>
                <a:latin typeface="+mn-lt"/>
                <a:ea typeface="+mn-ea"/>
              </a:rPr>
              <a:t> V</a:t>
            </a:r>
            <a:r>
              <a:rPr kumimoji="0" lang="zh-CN" altLang="en-US" sz="2000" b="0" i="0" u="none" strike="noStrike" kern="0" cap="none" spc="0" normalizeH="0" baseline="0" noProof="0" dirty="0">
                <a:ln>
                  <a:noFill/>
                </a:ln>
                <a:solidFill>
                  <a:schemeClr val="accent2"/>
                </a:solidFill>
                <a:effectLst/>
                <a:uLnTx/>
                <a:uFillTx/>
                <a:latin typeface="+mn-lt"/>
                <a:ea typeface="+mn-ea"/>
              </a:rPr>
              <a:t>，使得对于每一对顶点</a:t>
            </a:r>
            <a:r>
              <a:rPr kumimoji="0" lang="en-US" altLang="zh-CN" sz="2000" b="0" i="0" u="none" strike="noStrike" kern="0" cap="none" spc="0" normalizeH="0" baseline="0" noProof="0" dirty="0">
                <a:ln>
                  <a:noFill/>
                </a:ln>
                <a:solidFill>
                  <a:schemeClr val="accent2"/>
                </a:solidFill>
                <a:effectLst/>
                <a:uLnTx/>
                <a:uFillTx/>
                <a:latin typeface="+mn-lt"/>
                <a:ea typeface="+mn-ea"/>
              </a:rPr>
              <a:t>u</a:t>
            </a:r>
            <a:r>
              <a:rPr kumimoji="0" lang="zh-CN" altLang="en-US" sz="2000" b="0" i="0" u="none" strike="noStrike" kern="0" cap="none" spc="0" normalizeH="0" baseline="0" noProof="0" dirty="0">
                <a:ln>
                  <a:noFill/>
                </a:ln>
                <a:solidFill>
                  <a:schemeClr val="accent2"/>
                </a:solidFill>
                <a:effectLst/>
                <a:uLnTx/>
                <a:uFillTx/>
                <a:latin typeface="+mn-lt"/>
                <a:ea typeface="+mn-ea"/>
              </a:rPr>
              <a:t>，</a:t>
            </a:r>
            <a:r>
              <a:rPr kumimoji="0" lang="en-US" altLang="zh-CN" sz="2000" b="0" i="0" u="none" strike="noStrike" kern="0" cap="none" spc="0" normalizeH="0" baseline="0" noProof="0" dirty="0" err="1">
                <a:ln>
                  <a:noFill/>
                </a:ln>
                <a:solidFill>
                  <a:schemeClr val="accent2"/>
                </a:solidFill>
                <a:effectLst/>
                <a:uLnTx/>
                <a:uFillTx/>
                <a:latin typeface="+mn-lt"/>
                <a:ea typeface="+mn-ea"/>
              </a:rPr>
              <a:t>w</a:t>
            </a:r>
            <a:r>
              <a:rPr kumimoji="0" lang="en-US" altLang="zh-CN" sz="2000" b="0" i="0" u="none" strike="noStrike" kern="0" cap="none" spc="0" normalizeH="0" baseline="0" noProof="0" dirty="0" err="1">
                <a:ln>
                  <a:noFill/>
                </a:ln>
                <a:solidFill>
                  <a:schemeClr val="accent2"/>
                </a:solidFill>
                <a:effectLst/>
                <a:uLnTx/>
                <a:uFillTx/>
                <a:latin typeface="+mn-lt"/>
                <a:ea typeface="+mn-ea"/>
                <a:sym typeface="Symbol" panose="05050102010706020507" pitchFamily="18" charset="2"/>
              </a:rPr>
              <a:t>∈S</a:t>
            </a:r>
            <a:r>
              <a:rPr kumimoji="0" lang="en-US" altLang="zh-CN" sz="20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 (</a:t>
            </a:r>
            <a:r>
              <a:rPr kumimoji="0" lang="en-US" altLang="zh-CN" sz="2000" b="0" i="0" u="none" strike="noStrike" kern="0" cap="none" spc="0" normalizeH="0" baseline="0" noProof="0" dirty="0" err="1">
                <a:ln>
                  <a:noFill/>
                </a:ln>
                <a:solidFill>
                  <a:schemeClr val="accent2"/>
                </a:solidFill>
                <a:effectLst/>
                <a:uLnTx/>
                <a:uFillTx/>
                <a:latin typeface="+mn-lt"/>
                <a:ea typeface="+mn-ea"/>
                <a:sym typeface="Symbol" panose="05050102010706020507" pitchFamily="18" charset="2"/>
              </a:rPr>
              <a:t>u,w</a:t>
            </a:r>
            <a:r>
              <a:rPr kumimoji="0" lang="en-US" altLang="zh-CN" sz="20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  E</a:t>
            </a:r>
            <a:r>
              <a:rPr kumimoji="0" lang="en-US" altLang="zh-CN" sz="2000" b="0" i="0" u="none" strike="noStrike" kern="0" cap="none" spc="0" normalizeH="0" baseline="0" noProof="0" dirty="0">
                <a:ln>
                  <a:noFill/>
                </a:ln>
                <a:solidFill>
                  <a:schemeClr val="accent2"/>
                </a:solidFill>
                <a:effectLst/>
                <a:uLnTx/>
                <a:uFillTx/>
                <a:latin typeface="+mn-lt"/>
                <a:ea typeface="+mn-ea"/>
              </a:rPr>
              <a:t>? </a:t>
            </a: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团集</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团集</a:t>
            </a:r>
            <a:r>
              <a:rPr kumimoji="0" lang="en-US" altLang="zh-CN" sz="2000" b="0" i="0" u="none" strike="noStrike" kern="0" cap="none" spc="0" normalizeH="0" baseline="0" noProof="0" dirty="0">
                <a:ln>
                  <a:noFill/>
                </a:ln>
                <a:solidFill>
                  <a:schemeClr val="accent2"/>
                </a:solidFill>
                <a:effectLst/>
                <a:uLnTx/>
                <a:uFillTx/>
                <a:latin typeface="+mn-lt"/>
                <a:ea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rPr>
              <a:t>给出一个无向图</a:t>
            </a:r>
            <a:r>
              <a:rPr kumimoji="0" lang="en-US" altLang="zh-CN" sz="2000" b="0" i="0" u="none" strike="noStrike" kern="0" cap="none" spc="0" normalizeH="0" baseline="0" noProof="0" dirty="0">
                <a:ln>
                  <a:noFill/>
                </a:ln>
                <a:solidFill>
                  <a:schemeClr val="accent2"/>
                </a:solidFill>
                <a:effectLst/>
                <a:uLnTx/>
                <a:uFillTx/>
                <a:latin typeface="+mn-lt"/>
                <a:ea typeface="+mn-ea"/>
              </a:rPr>
              <a:t>G=(V,E)</a:t>
            </a:r>
            <a:r>
              <a:rPr kumimoji="0" lang="zh-CN" altLang="en-US" sz="2000" b="0" i="0" u="none" strike="noStrike" kern="0" cap="none" spc="0" normalizeH="0" baseline="0" noProof="0" dirty="0">
                <a:ln>
                  <a:noFill/>
                </a:ln>
                <a:solidFill>
                  <a:schemeClr val="accent2"/>
                </a:solidFill>
                <a:effectLst/>
                <a:uLnTx/>
                <a:uFillTx/>
                <a:latin typeface="+mn-lt"/>
                <a:ea typeface="+mn-ea"/>
              </a:rPr>
              <a:t>和一个正整数</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a:t>
            </a:r>
            <a:r>
              <a:rPr kumimoji="0" lang="en-US" altLang="zh-CN" sz="2000" b="0" i="0" u="none" strike="noStrike" kern="0" cap="none" spc="0" normalizeH="0" baseline="0" noProof="0" dirty="0">
                <a:ln>
                  <a:noFill/>
                </a:ln>
                <a:solidFill>
                  <a:schemeClr val="accent2"/>
                </a:solidFill>
                <a:effectLst/>
                <a:uLnTx/>
                <a:uFillTx/>
                <a:latin typeface="+mn-lt"/>
                <a:ea typeface="+mn-ea"/>
              </a:rPr>
              <a:t> G</a:t>
            </a:r>
            <a:r>
              <a:rPr kumimoji="0" lang="zh-CN" altLang="en-US" sz="2000" b="0" i="0" u="none" strike="noStrike" kern="0" cap="none" spc="0" normalizeH="0" baseline="0" noProof="0" dirty="0">
                <a:ln>
                  <a:noFill/>
                </a:ln>
                <a:solidFill>
                  <a:schemeClr val="accent2"/>
                </a:solidFill>
                <a:effectLst/>
                <a:uLnTx/>
                <a:uFillTx/>
                <a:latin typeface="+mn-lt"/>
                <a:ea typeface="+mn-ea"/>
              </a:rPr>
              <a:t>包含一个大小为</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的团集吗</a:t>
            </a:r>
            <a:r>
              <a:rPr kumimoji="0" lang="en-US" altLang="zh-CN" sz="2000" b="0" i="0" u="none" strike="noStrike" kern="0" cap="none" spc="0" normalizeH="0" baseline="0" noProof="0" dirty="0">
                <a:ln>
                  <a:noFill/>
                </a:ln>
                <a:solidFill>
                  <a:schemeClr val="accent2"/>
                </a:solidFill>
                <a:effectLst/>
                <a:uLnTx/>
                <a:uFillTx/>
                <a:latin typeface="+mn-lt"/>
                <a:ea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rPr>
              <a:t>注意一个</a:t>
            </a:r>
            <a:r>
              <a:rPr kumimoji="0" lang="en-US" altLang="zh-CN" sz="2000" b="0" i="0" u="none" strike="noStrike" kern="0" cap="none" spc="0" normalizeH="0" baseline="0" noProof="0" dirty="0">
                <a:ln>
                  <a:noFill/>
                </a:ln>
                <a:solidFill>
                  <a:schemeClr val="accent2"/>
                </a:solidFill>
                <a:effectLst/>
                <a:uLnTx/>
                <a:uFillTx/>
                <a:latin typeface="+mn-lt"/>
                <a:ea typeface="+mn-ea"/>
              </a:rPr>
              <a:t>G</a:t>
            </a:r>
            <a:r>
              <a:rPr kumimoji="0" lang="zh-CN" altLang="en-US" sz="2000" b="0" i="0" u="none" strike="noStrike" kern="0" cap="none" spc="0" normalizeH="0" baseline="0" noProof="0" dirty="0">
                <a:ln>
                  <a:noFill/>
                </a:ln>
                <a:solidFill>
                  <a:schemeClr val="accent2"/>
                </a:solidFill>
                <a:effectLst/>
                <a:uLnTx/>
                <a:uFillTx/>
                <a:latin typeface="+mn-lt"/>
                <a:ea typeface="+mn-ea"/>
              </a:rPr>
              <a:t>中大小为</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的团集是</a:t>
            </a:r>
            <a:r>
              <a:rPr kumimoji="0" lang="en-US" altLang="zh-CN" sz="2000" b="0" i="0" u="none" strike="noStrike" kern="0" cap="none" spc="0" normalizeH="0" baseline="0" noProof="0" dirty="0">
                <a:ln>
                  <a:noFill/>
                </a:ln>
                <a:solidFill>
                  <a:schemeClr val="accent2"/>
                </a:solidFill>
                <a:effectLst/>
                <a:uLnTx/>
                <a:uFillTx/>
                <a:latin typeface="+mn-lt"/>
                <a:ea typeface="+mn-ea"/>
              </a:rPr>
              <a:t>G</a:t>
            </a:r>
            <a:r>
              <a:rPr kumimoji="0" lang="zh-CN" altLang="en-US" sz="2000" b="0" i="0" u="none" strike="noStrike" kern="0" cap="none" spc="0" normalizeH="0" baseline="0" noProof="0" dirty="0">
                <a:ln>
                  <a:noFill/>
                </a:ln>
                <a:solidFill>
                  <a:schemeClr val="accent2"/>
                </a:solidFill>
                <a:effectLst/>
                <a:uLnTx/>
                <a:uFillTx/>
                <a:latin typeface="+mn-lt"/>
                <a:ea typeface="+mn-ea"/>
              </a:rPr>
              <a:t>中</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个顶点的一个完全子图。</a:t>
            </a:r>
            <a:r>
              <a:rPr kumimoji="0" lang="en-US" altLang="zh-CN" sz="2000" b="0" i="0" u="none" strike="noStrike" kern="0" cap="none" spc="0" normalizeH="0" baseline="0" noProof="0" dirty="0">
                <a:ln>
                  <a:noFill/>
                </a:ln>
                <a:solidFill>
                  <a:schemeClr val="accent2"/>
                </a:solidFill>
                <a:effectLst/>
                <a:uLnTx/>
                <a:uFillTx/>
                <a:latin typeface="+mn-lt"/>
                <a:ea typeface="+mn-ea"/>
              </a:rPr>
              <a:t>)</a:t>
            </a: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容易证明所有这三个问题确实是</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的。</a:t>
            </a:r>
            <a:endParaRPr kumimoji="0" lang="en-US" altLang="zh-CN" sz="2000" b="0" i="0" u="none" strike="noStrike" kern="0" cap="none" spc="0" normalizeH="0" baseline="0" noProof="0" dirty="0">
              <a:ln>
                <a:noFill/>
              </a:ln>
              <a:solidFill>
                <a:schemeClr val="accent2"/>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subTnLst>
                                    <p:animClr clrSpc="rgb" dir="cw">
                                      <p:cBhvr override="childStyle">
                                        <p:cTn dur="1" fill="hold" display="0" masterRel="nextClick" afterEffect="1"/>
                                        <p:tgtEl>
                                          <p:spTgt spid="34819">
                                            <p:txEl>
                                              <p:pRg st="0" end="0"/>
                                            </p:txEl>
                                          </p:spTgt>
                                        </p:tgtEl>
                                        <p:attrNameLst>
                                          <p:attrName>ppt_c</p:attrName>
                                        </p:attrNameLst>
                                      </p:cBhvr>
                                      <p:to>
                                        <a:srgbClr val="FF0000"/>
                                      </p:to>
                                    </p:animClr>
                                  </p:sub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 calcmode="lin" valueType="num">
                                      <p:cBhvr>
                                        <p:cTn id="12" dur="1000" fill="hold"/>
                                        <p:tgtEl>
                                          <p:spTgt spid="34819">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34819">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3481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19" dur="500"/>
                                        <p:tgtEl>
                                          <p:spTgt spid="34819">
                                            <p:txEl>
                                              <p:pRg st="2" end="2"/>
                                            </p:txEl>
                                          </p:spTgt>
                                        </p:tgtEl>
                                      </p:cBhvr>
                                    </p:animEffect>
                                  </p:childTnLst>
                                  <p:subTnLst>
                                    <p:animClr clrSpc="rgb" dir="cw">
                                      <p:cBhvr override="childStyle">
                                        <p:cTn dur="1" fill="hold" display="0" masterRel="nextClick" afterEffect="1"/>
                                        <p:tgtEl>
                                          <p:spTgt spid="34819">
                                            <p:txEl>
                                              <p:pRg st="2" end="2"/>
                                            </p:txEl>
                                          </p:spTgt>
                                        </p:tgtEl>
                                        <p:attrNameLst>
                                          <p:attrName>ppt_c</p:attrName>
                                        </p:attrNameLst>
                                      </p:cBhvr>
                                      <p:to>
                                        <a:srgbClr val="FF0000"/>
                                      </p:to>
                                    </p:animClr>
                                  </p:sub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34819">
                                            <p:txEl>
                                              <p:pRg st="3" end="3"/>
                                            </p:txEl>
                                          </p:spTgt>
                                        </p:tgtEl>
                                        <p:attrNameLst>
                                          <p:attrName>style.visibility</p:attrName>
                                        </p:attrNameLst>
                                      </p:cBhvr>
                                      <p:to>
                                        <p:strVal val="visible"/>
                                      </p:to>
                                    </p:set>
                                    <p:anim calcmode="lin" valueType="num">
                                      <p:cBhvr>
                                        <p:cTn id="24" dur="1000" fill="hold"/>
                                        <p:tgtEl>
                                          <p:spTgt spid="34819">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34819">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3481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31" dur="500"/>
                                        <p:tgtEl>
                                          <p:spTgt spid="34819">
                                            <p:txEl>
                                              <p:pRg st="4" end="4"/>
                                            </p:txEl>
                                          </p:spTgt>
                                        </p:tgtEl>
                                      </p:cBhvr>
                                    </p:animEffect>
                                  </p:childTnLst>
                                  <p:subTnLst>
                                    <p:animClr clrSpc="rgb" dir="cw">
                                      <p:cBhvr override="childStyle">
                                        <p:cTn dur="1" fill="hold" display="0" masterRel="nextClick" afterEffect="1"/>
                                        <p:tgtEl>
                                          <p:spTgt spid="34819">
                                            <p:txEl>
                                              <p:pRg st="4" end="4"/>
                                            </p:txEl>
                                          </p:spTgt>
                                        </p:tgtEl>
                                        <p:attrNameLst>
                                          <p:attrName>ppt_c</p:attrName>
                                        </p:attrNameLst>
                                      </p:cBhvr>
                                      <p:to>
                                        <a:srgbClr val="FF0000"/>
                                      </p:to>
                                    </p:animClr>
                                  </p:sub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34819">
                                            <p:txEl>
                                              <p:pRg st="5" end="5"/>
                                            </p:txEl>
                                          </p:spTgt>
                                        </p:tgtEl>
                                        <p:attrNameLst>
                                          <p:attrName>style.visibility</p:attrName>
                                        </p:attrNameLst>
                                      </p:cBhvr>
                                      <p:to>
                                        <p:strVal val="visible"/>
                                      </p:to>
                                    </p:set>
                                    <p:anim calcmode="lin" valueType="num">
                                      <p:cBhvr>
                                        <p:cTn id="36" dur="1000" fill="hold"/>
                                        <p:tgtEl>
                                          <p:spTgt spid="34819">
                                            <p:txEl>
                                              <p:pRg st="5" end="5"/>
                                            </p:txEl>
                                          </p:spTgt>
                                        </p:tgtEl>
                                        <p:attrNameLst>
                                          <p:attrName>ppt_w</p:attrName>
                                        </p:attrNameLst>
                                      </p:cBhvr>
                                      <p:tavLst>
                                        <p:tav tm="0">
                                          <p:val>
                                            <p:strVal val="#ppt_w*0.70"/>
                                          </p:val>
                                        </p:tav>
                                        <p:tav tm="100000">
                                          <p:val>
                                            <p:strVal val="#ppt_w"/>
                                          </p:val>
                                        </p:tav>
                                      </p:tavLst>
                                    </p:anim>
                                    <p:anim calcmode="lin" valueType="num">
                                      <p:cBhvr>
                                        <p:cTn id="37" dur="1000" fill="hold"/>
                                        <p:tgtEl>
                                          <p:spTgt spid="34819">
                                            <p:txEl>
                                              <p:pRg st="5" end="5"/>
                                            </p:txEl>
                                          </p:spTgt>
                                        </p:tgtEl>
                                        <p:attrNameLst>
                                          <p:attrName>ppt_h</p:attrName>
                                        </p:attrNameLst>
                                      </p:cBhvr>
                                      <p:tavLst>
                                        <p:tav tm="0">
                                          <p:val>
                                            <p:strVal val="#ppt_h"/>
                                          </p:val>
                                        </p:tav>
                                        <p:tav tm="100000">
                                          <p:val>
                                            <p:strVal val="#ppt_h"/>
                                          </p:val>
                                        </p:tav>
                                      </p:tavLst>
                                    </p:anim>
                                    <p:animEffect transition="in" filter="fade">
                                      <p:cBhvr>
                                        <p:cTn id="38" dur="1000"/>
                                        <p:tgtEl>
                                          <p:spTgt spid="3481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34819">
                                            <p:txEl>
                                              <p:pRg st="6" end="6"/>
                                            </p:txEl>
                                          </p:spTgt>
                                        </p:tgtEl>
                                        <p:attrNameLst>
                                          <p:attrName>style.visibility</p:attrName>
                                        </p:attrNameLst>
                                      </p:cBhvr>
                                      <p:to>
                                        <p:strVal val="visible"/>
                                      </p:to>
                                    </p:set>
                                    <p:anim calcmode="lin" valueType="num">
                                      <p:cBhvr>
                                        <p:cTn id="43" dur="1000" fill="hold"/>
                                        <p:tgtEl>
                                          <p:spTgt spid="34819">
                                            <p:txEl>
                                              <p:pRg st="6" end="6"/>
                                            </p:txEl>
                                          </p:spTgt>
                                        </p:tgtEl>
                                        <p:attrNameLst>
                                          <p:attrName>ppt_w</p:attrName>
                                        </p:attrNameLst>
                                      </p:cBhvr>
                                      <p:tavLst>
                                        <p:tav tm="0">
                                          <p:val>
                                            <p:strVal val="#ppt_w*0.70"/>
                                          </p:val>
                                        </p:tav>
                                        <p:tav tm="100000">
                                          <p:val>
                                            <p:strVal val="#ppt_w"/>
                                          </p:val>
                                        </p:tav>
                                      </p:tavLst>
                                    </p:anim>
                                    <p:anim calcmode="lin" valueType="num">
                                      <p:cBhvr>
                                        <p:cTn id="44" dur="1000" fill="hold"/>
                                        <p:tgtEl>
                                          <p:spTgt spid="34819">
                                            <p:txEl>
                                              <p:pRg st="6" end="6"/>
                                            </p:txEl>
                                          </p:spTgt>
                                        </p:tgtEl>
                                        <p:attrNameLst>
                                          <p:attrName>ppt_h</p:attrName>
                                        </p:attrNameLst>
                                      </p:cBhvr>
                                      <p:tavLst>
                                        <p:tav tm="0">
                                          <p:val>
                                            <p:strVal val="#ppt_h"/>
                                          </p:val>
                                        </p:tav>
                                        <p:tav tm="100000">
                                          <p:val>
                                            <p:strVal val="#ppt_h"/>
                                          </p:val>
                                        </p:tav>
                                      </p:tavLst>
                                    </p:anim>
                                    <p:animEffect transition="in" filter="fade">
                                      <p:cBhvr>
                                        <p:cTn id="45" dur="1000"/>
                                        <p:tgtEl>
                                          <p:spTgt spid="34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页脚占位符 5"/>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99331" name="Rectangle 2"/>
          <p:cNvSpPr>
            <a:spLocks noGrp="1"/>
          </p:cNvSpPr>
          <p:nvPr>
            <p:ph type="title"/>
          </p:nvPr>
        </p:nvSpPr>
        <p:spPr>
          <a:xfrm>
            <a:off x="914400" y="76200"/>
            <a:ext cx="8229600" cy="1139825"/>
          </a:xfrm>
          <a:ln/>
        </p:spPr>
        <p:txBody>
          <a:bodyPr vert="horz" wrap="square" lIns="91440" tIns="45720" rIns="91440" bIns="45720" anchor="ctr" anchorCtr="0"/>
          <a:lstStyle/>
          <a:p>
            <a:pPr eaLnBrk="1" hangingPunct="1"/>
            <a:r>
              <a:rPr lang="zh-CN" altLang="en-US" dirty="0"/>
              <a:t>顶点覆盖、独立集和团集问题</a:t>
            </a:r>
            <a:endParaRPr lang="en-US" altLang="zh-CN" dirty="0"/>
          </a:p>
        </p:txBody>
      </p:sp>
      <p:sp>
        <p:nvSpPr>
          <p:cNvPr id="34819" name="Rectangle 3"/>
          <p:cNvSpPr>
            <a:spLocks noGrp="1" noChangeArrowheads="1"/>
          </p:cNvSpPr>
          <p:nvPr>
            <p:ph type="body" sz="half" idx="1"/>
          </p:nvPr>
        </p:nvSpPr>
        <p:spPr>
          <a:xfrm>
            <a:off x="609600" y="1185863"/>
            <a:ext cx="8229600" cy="4953000"/>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顶点覆盖：</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G</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中的任意边的至少一个端点属于</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C</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的顶点集合</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C⊆V</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独立集：在</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G</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中两两之间互不相连的点集合</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团集：顶点两两之间都有边的集合</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最大独立集</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a:t>
            </a:r>
            <a:r>
              <a:rPr kumimoji="0" lang="zh-CN" altLang="en-US"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最小点覆盖</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|=|V|</a:t>
            </a:r>
            <a:endParaRPr kumimoji="0" lang="en-US" altLang="zh-CN" sz="2000" b="0" i="0" u="none" strike="noStrike" kern="0" cap="none" spc="0" normalizeH="0" baseline="0" noProof="0" dirty="0">
              <a:ln>
                <a:noFill/>
              </a:ln>
              <a:solidFill>
                <a:schemeClr val="accent2"/>
              </a:solidFill>
              <a:effectLst/>
              <a:uLnTx/>
              <a:uFillTx/>
              <a:latin typeface="+mn-lt"/>
              <a:ea typeface="+mn-ea"/>
            </a:endParaRPr>
          </a:p>
        </p:txBody>
      </p:sp>
      <p:pic>
        <p:nvPicPr>
          <p:cNvPr id="99333" name="图片 1"/>
          <p:cNvPicPr>
            <a:picLocks noChangeAspect="1"/>
          </p:cNvPicPr>
          <p:nvPr/>
        </p:nvPicPr>
        <p:blipFill>
          <a:blip r:embed="rId3"/>
          <a:stretch>
            <a:fillRect/>
          </a:stretch>
        </p:blipFill>
        <p:spPr>
          <a:xfrm>
            <a:off x="1371600" y="3124200"/>
            <a:ext cx="2571750" cy="2362200"/>
          </a:xfrm>
          <a:prstGeom prst="rect">
            <a:avLst/>
          </a:prstGeom>
          <a:noFill/>
          <a:ln w="9525">
            <a:noFill/>
          </a:ln>
        </p:spPr>
      </p:pic>
      <p:sp>
        <p:nvSpPr>
          <p:cNvPr id="99334" name="矩形 2"/>
          <p:cNvSpPr/>
          <p:nvPr/>
        </p:nvSpPr>
        <p:spPr>
          <a:xfrm>
            <a:off x="4267200" y="3429000"/>
            <a:ext cx="4419600" cy="1477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285750" lvl="0" indent="-285750">
              <a:spcBef>
                <a:spcPct val="0"/>
              </a:spcBef>
              <a:buFont typeface="Arial" panose="020B0604020202020204" pitchFamily="34" charset="0"/>
              <a:buChar char="•"/>
            </a:pPr>
            <a:r>
              <a:rPr lang="zh-CN" altLang="en-US" sz="1800" dirty="0">
                <a:solidFill>
                  <a:schemeClr val="tx1"/>
                </a:solidFill>
                <a:latin typeface="Arial" panose="020B0604020202020204" pitchFamily="34" charset="0"/>
                <a:ea typeface="宋体" panose="02010600030101010101" pitchFamily="2" charset="-122"/>
              </a:rPr>
              <a:t>最小顶点覆盖为</a:t>
            </a:r>
            <a:r>
              <a:rPr lang="en-US" altLang="zh-CN" sz="1800" dirty="0">
                <a:solidFill>
                  <a:schemeClr val="tx1"/>
                </a:solidFill>
                <a:latin typeface="Arial" panose="020B0604020202020204" pitchFamily="34" charset="0"/>
                <a:ea typeface="宋体" panose="02010600030101010101" pitchFamily="2" charset="-122"/>
              </a:rPr>
              <a:t>{v1</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v3}</a:t>
            </a:r>
          </a:p>
          <a:p>
            <a:pPr marL="285750" lvl="0" indent="-285750">
              <a:spcBef>
                <a:spcPct val="0"/>
              </a:spcBef>
              <a:buFont typeface="Arial" panose="020B0604020202020204" pitchFamily="34" charset="0"/>
              <a:buChar char="•"/>
            </a:pPr>
            <a:endParaRPr lang="en-US" altLang="zh-CN" sz="1800" dirty="0">
              <a:solidFill>
                <a:schemeClr val="tx1"/>
              </a:solidFill>
              <a:latin typeface="Arial" panose="020B0604020202020204" pitchFamily="34" charset="0"/>
              <a:ea typeface="宋体" panose="02010600030101010101" pitchFamily="2" charset="-122"/>
            </a:endParaRPr>
          </a:p>
          <a:p>
            <a:pPr marL="285750" lvl="0" indent="-285750">
              <a:spcBef>
                <a:spcPct val="0"/>
              </a:spcBef>
              <a:buFont typeface="Arial" panose="020B0604020202020204" pitchFamily="34" charset="0"/>
              <a:buChar char="•"/>
            </a:pPr>
            <a:r>
              <a:rPr lang="zh-CN" altLang="en-US" sz="1800" dirty="0">
                <a:solidFill>
                  <a:schemeClr val="tx1"/>
                </a:solidFill>
                <a:latin typeface="Arial" panose="020B0604020202020204" pitchFamily="34" charset="0"/>
                <a:ea typeface="宋体" panose="02010600030101010101" pitchFamily="2" charset="-122"/>
              </a:rPr>
              <a:t>最大独立集</a:t>
            </a:r>
            <a:r>
              <a:rPr lang="en-US" altLang="zh-CN" sz="1800" dirty="0">
                <a:solidFill>
                  <a:schemeClr val="tx1"/>
                </a:solidFill>
                <a:latin typeface="Arial" panose="020B0604020202020204" pitchFamily="34" charset="0"/>
                <a:ea typeface="宋体" panose="02010600030101010101" pitchFamily="2" charset="-122"/>
              </a:rPr>
              <a:t>{v2</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v4</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v5}</a:t>
            </a:r>
          </a:p>
          <a:p>
            <a:pPr marL="285750" lvl="0" indent="-285750">
              <a:spcBef>
                <a:spcPct val="0"/>
              </a:spcBef>
              <a:buFont typeface="Arial" panose="020B0604020202020204" pitchFamily="34" charset="0"/>
              <a:buChar char="•"/>
            </a:pPr>
            <a:endParaRPr lang="en-US" altLang="zh-CN" sz="1800" dirty="0">
              <a:solidFill>
                <a:schemeClr val="tx1"/>
              </a:solidFill>
              <a:latin typeface="Arial" panose="020B0604020202020204" pitchFamily="34" charset="0"/>
              <a:ea typeface="宋体" panose="02010600030101010101" pitchFamily="2" charset="-122"/>
            </a:endParaRPr>
          </a:p>
          <a:p>
            <a:pPr marL="285750" lvl="0" indent="-285750">
              <a:spcBef>
                <a:spcPct val="0"/>
              </a:spcBef>
              <a:buFont typeface="Arial" panose="020B0604020202020204" pitchFamily="34" charset="0"/>
              <a:buChar char="•"/>
            </a:pPr>
            <a:r>
              <a:rPr lang="zh-CN" altLang="en-US" sz="1800" dirty="0">
                <a:solidFill>
                  <a:schemeClr val="tx1"/>
                </a:solidFill>
                <a:latin typeface="Arial" panose="020B0604020202020204" pitchFamily="34" charset="0"/>
                <a:ea typeface="宋体" panose="02010600030101010101" pitchFamily="2" charset="-122"/>
              </a:rPr>
              <a:t>最大团集</a:t>
            </a:r>
            <a:r>
              <a:rPr lang="en-US" altLang="zh-CN" sz="1800" dirty="0">
                <a:solidFill>
                  <a:schemeClr val="tx1"/>
                </a:solidFill>
                <a:latin typeface="Arial" panose="020B0604020202020204" pitchFamily="34" charset="0"/>
                <a:ea typeface="宋体" panose="02010600030101010101" pitchFamily="2" charset="-122"/>
              </a:rPr>
              <a:t>{v1</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v3</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v5}</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{v1</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v3</a:t>
            </a:r>
            <a:r>
              <a:rPr lang="zh-CN" altLang="en-US" sz="1800" dirty="0">
                <a:solidFill>
                  <a:schemeClr val="tx1"/>
                </a:solidFill>
                <a:latin typeface="Arial" panose="020B0604020202020204" pitchFamily="34" charset="0"/>
                <a:ea typeface="宋体" panose="02010600030101010101" pitchFamily="2" charset="-122"/>
              </a:rPr>
              <a:t>，</a:t>
            </a:r>
            <a:r>
              <a:rPr lang="en-US" altLang="zh-CN" sz="1800" dirty="0">
                <a:solidFill>
                  <a:schemeClr val="tx1"/>
                </a:solidFill>
                <a:latin typeface="Arial" panose="020B0604020202020204" pitchFamily="34" charset="0"/>
                <a:ea typeface="宋体" panose="02010600030101010101" pitchFamily="2" charset="-122"/>
              </a:rPr>
              <a:t>v2}</a:t>
            </a:r>
            <a:endParaRPr lang="zh-CN" altLang="en-US" sz="1800" dirty="0">
              <a:solidFill>
                <a:schemeClr val="tx1"/>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3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33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33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3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页脚占位符 3"/>
          <p:cNvSpPr txBox="1">
            <a:spLocks noGrp="1"/>
          </p:cNvSpPr>
          <p:nvPr>
            <p:ph type="ftr" sz="quarter" idx="10"/>
          </p:nvPr>
        </p:nvSpPr>
        <p:spPr>
          <a:ln/>
        </p:spPr>
        <p:txBody>
          <a:bodyPr/>
          <a:lstStyle/>
          <a:p>
            <a:pPr marL="0" indent="0" algn="ctr" eaLnBrk="1" hangingPunct="1">
              <a:spcBef>
                <a:spcPct val="0"/>
              </a:spcBef>
              <a:buNone/>
            </a:pPr>
            <a:r>
              <a:rPr lang="zh-CN" altLang="en-US" sz="1400" dirty="0">
                <a:solidFill>
                  <a:schemeClr val="tx1"/>
                </a:solidFill>
                <a:latin typeface="Arial" panose="020B0604020202020204" pitchFamily="34" charset="0"/>
                <a:ea typeface="宋体" panose="02010600030101010101" pitchFamily="2" charset="-122"/>
              </a:rPr>
              <a:t>南京理工大学</a:t>
            </a:r>
          </a:p>
        </p:txBody>
      </p:sp>
      <p:sp>
        <p:nvSpPr>
          <p:cNvPr id="101379" name="Rectangle 2"/>
          <p:cNvSpPr>
            <a:spLocks noGrp="1"/>
          </p:cNvSpPr>
          <p:nvPr>
            <p:ph type="title"/>
          </p:nvPr>
        </p:nvSpPr>
        <p:spPr>
          <a:xfrm>
            <a:off x="914400" y="152400"/>
            <a:ext cx="8229600" cy="1143000"/>
          </a:xfrm>
          <a:ln/>
        </p:spPr>
        <p:txBody>
          <a:bodyPr vert="horz" wrap="square" lIns="91440" tIns="45720" rIns="91440" bIns="45720" anchor="ctr" anchorCtr="0"/>
          <a:lstStyle/>
          <a:p>
            <a:r>
              <a:rPr lang="zh-CN" altLang="en-US" dirty="0"/>
              <a:t>证明最大团集问题是</a:t>
            </a:r>
            <a:r>
              <a:rPr lang="en-US" altLang="zh-CN" dirty="0"/>
              <a:t>NP</a:t>
            </a:r>
            <a:r>
              <a:rPr lang="zh-CN" altLang="en-US" dirty="0"/>
              <a:t>完全的</a:t>
            </a:r>
          </a:p>
        </p:txBody>
      </p:sp>
      <p:sp>
        <p:nvSpPr>
          <p:cNvPr id="357379" name="Rectangle 3"/>
          <p:cNvSpPr>
            <a:spLocks noGrp="1" noChangeArrowheads="1"/>
          </p:cNvSpPr>
          <p:nvPr>
            <p:ph idx="1"/>
          </p:nvPr>
        </p:nvSpPr>
        <p:spPr>
          <a:xfrm>
            <a:off x="762000" y="1303338"/>
            <a:ext cx="8229600" cy="4876800"/>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下面证明团问题属于</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完全问题，证明分两步：</a:t>
            </a:r>
          </a:p>
          <a:p>
            <a:pPr marL="742950" marR="0" lvl="1" indent="-285750" algn="l" defTabSz="914400" rtl="0" eaLnBrk="0" fontAlgn="base" latinLnBrk="0" hangingPunct="0">
              <a:lnSpc>
                <a:spcPct val="110000"/>
              </a:lnSpc>
              <a:spcBef>
                <a:spcPct val="20000"/>
              </a:spcBef>
              <a:spcAft>
                <a:spcPct val="0"/>
              </a:spcAft>
              <a:buClrTx/>
              <a:buSzTx/>
              <a:buFont typeface="Wingdings" panose="05000000000000000000" pitchFamily="2" charset="2"/>
              <a:buChar char="Ø"/>
              <a:defRPr/>
            </a:pPr>
            <a:r>
              <a:rPr kumimoji="0" lang="en-US" altLang="zh-CN" sz="2400" b="0" i="0" u="none" strike="noStrike" kern="0" cap="none" spc="0" normalizeH="0" baseline="0" noProof="0" dirty="0">
                <a:ln>
                  <a:noFill/>
                </a:ln>
                <a:solidFill>
                  <a:schemeClr val="accent2"/>
                </a:solidFill>
                <a:effectLst/>
                <a:uLnTx/>
                <a:uFillTx/>
                <a:latin typeface="+mn-lt"/>
                <a:ea typeface="+mn-ea"/>
              </a:rPr>
              <a:t>1) </a:t>
            </a:r>
            <a:r>
              <a:rPr kumimoji="0" lang="zh-CN" altLang="en-US" sz="2400" b="0" i="0" u="none" strike="noStrike" kern="0" cap="none" spc="0" normalizeH="0" baseline="0" noProof="0" dirty="0">
                <a:ln>
                  <a:noFill/>
                </a:ln>
                <a:solidFill>
                  <a:schemeClr val="accent2"/>
                </a:solidFill>
                <a:effectLst/>
                <a:uLnTx/>
                <a:uFillTx/>
                <a:latin typeface="+mn-lt"/>
                <a:ea typeface="+mn-ea"/>
              </a:rPr>
              <a:t>团集问题属于</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类问题</a:t>
            </a:r>
          </a:p>
          <a:p>
            <a:pPr marL="1143000" marR="0" lvl="2" indent="-228600" algn="l" defTabSz="914400" rtl="0" eaLnBrk="0" fontAlgn="base" latinLnBrk="0" hangingPunct="0">
              <a:lnSpc>
                <a:spcPct val="110000"/>
              </a:lnSpc>
              <a:spcBef>
                <a:spcPct val="20000"/>
              </a:spcBef>
              <a:spcAft>
                <a:spcPct val="0"/>
              </a:spcAft>
              <a:buClrTx/>
              <a:buSzTx/>
              <a:buFont typeface="Wingdings" panose="05000000000000000000" pitchFamily="2" charset="2"/>
              <a:buChar char="ü"/>
              <a:defRPr/>
            </a:pPr>
            <a:r>
              <a:rPr kumimoji="0" lang="zh-CN" altLang="en-US" sz="2400" b="0" i="0" u="none" strike="noStrike" kern="0" cap="none" spc="0" normalizeH="0" baseline="0" noProof="0" dirty="0">
                <a:ln>
                  <a:noFill/>
                </a:ln>
                <a:solidFill>
                  <a:schemeClr val="accent2"/>
                </a:solidFill>
                <a:effectLst/>
                <a:uLnTx/>
                <a:uFillTx/>
                <a:latin typeface="+mn-lt"/>
                <a:ea typeface="+mn-ea"/>
              </a:rPr>
              <a:t>显然，验证图</a:t>
            </a:r>
            <a:r>
              <a:rPr kumimoji="0" lang="en-US" altLang="zh-CN" sz="2400" b="0" i="0" u="none" strike="noStrike" kern="0" cap="none" spc="0" normalizeH="0" baseline="0" noProof="0" dirty="0">
                <a:ln>
                  <a:noFill/>
                </a:ln>
                <a:solidFill>
                  <a:schemeClr val="accent2"/>
                </a:solidFill>
                <a:effectLst/>
                <a:uLnTx/>
                <a:uFillTx/>
                <a:latin typeface="+mn-lt"/>
                <a:ea typeface="+mn-ea"/>
              </a:rPr>
              <a:t>G</a:t>
            </a:r>
            <a:r>
              <a:rPr kumimoji="0" lang="zh-CN" altLang="en-US" sz="2400" b="0" i="0" u="none" strike="noStrike" kern="0" cap="none" spc="0" normalizeH="0" baseline="0" noProof="0" dirty="0">
                <a:ln>
                  <a:noFill/>
                </a:ln>
                <a:solidFill>
                  <a:schemeClr val="accent2"/>
                </a:solidFill>
                <a:effectLst/>
                <a:uLnTx/>
                <a:uFillTx/>
                <a:latin typeface="+mn-lt"/>
                <a:ea typeface="+mn-ea"/>
              </a:rPr>
              <a:t>的一个子图是否构成团只需要多项式时间，所以团问题属于</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类问题。</a:t>
            </a:r>
          </a:p>
          <a:p>
            <a:pPr marL="742950" marR="0" lvl="1" indent="-285750" algn="l" defTabSz="914400" rtl="0" eaLnBrk="0" fontAlgn="base" latinLnBrk="0" hangingPunct="0">
              <a:lnSpc>
                <a:spcPct val="110000"/>
              </a:lnSpc>
              <a:spcBef>
                <a:spcPct val="20000"/>
              </a:spcBef>
              <a:spcAft>
                <a:spcPct val="0"/>
              </a:spcAft>
              <a:buClrTx/>
              <a:buSzTx/>
              <a:buFont typeface="Wingdings" panose="05000000000000000000" pitchFamily="2" charset="2"/>
              <a:buChar char="Ø"/>
              <a:defRPr/>
            </a:pPr>
            <a:r>
              <a:rPr kumimoji="0" lang="en-US" altLang="zh-CN" sz="2400" b="0" i="0" u="none" strike="noStrike" kern="0" cap="none" spc="0" normalizeH="0" baseline="0" noProof="0" dirty="0">
                <a:ln>
                  <a:noFill/>
                </a:ln>
                <a:solidFill>
                  <a:schemeClr val="accent2"/>
                </a:solidFill>
                <a:effectLst/>
                <a:uLnTx/>
                <a:uFillTx/>
                <a:latin typeface="+mn-lt"/>
                <a:ea typeface="+mn-ea"/>
              </a:rPr>
              <a:t>2) </a:t>
            </a:r>
            <a:r>
              <a:rPr kumimoji="0" lang="zh-CN" altLang="en-US" sz="2400" b="0" i="0" u="none" strike="noStrike" kern="0" cap="none" spc="0" normalizeH="0" baseline="0" noProof="0" dirty="0">
                <a:ln>
                  <a:noFill/>
                </a:ln>
                <a:solidFill>
                  <a:schemeClr val="accent2"/>
                </a:solidFill>
                <a:effectLst/>
                <a:uLnTx/>
                <a:uFillTx/>
                <a:latin typeface="+mn-lt"/>
                <a:ea typeface="+mn-ea"/>
              </a:rPr>
              <a:t>可满足性问题</a:t>
            </a:r>
            <a:r>
              <a:rPr kumimoji="0" lang="zh-CN" altLang="en-US" sz="2400" b="0" i="0" u="none" strike="noStrike" kern="0" cap="none" spc="0" normalizeH="0" baseline="0" noProof="0" dirty="0">
                <a:ln>
                  <a:noFill/>
                </a:ln>
                <a:solidFill>
                  <a:srgbClr val="FF0000"/>
                </a:solidFill>
                <a:effectLst/>
                <a:uLnTx/>
                <a:uFillTx/>
                <a:latin typeface="+mn-lt"/>
                <a:ea typeface="+mn-ea"/>
              </a:rPr>
              <a:t>∝</a:t>
            </a:r>
            <a:r>
              <a:rPr kumimoji="0" lang="en-US" altLang="zh-CN" sz="2400" b="0" i="0" u="none" strike="noStrike" kern="0" cap="none" spc="0" normalizeH="0" baseline="-25000" noProof="0" dirty="0">
                <a:ln>
                  <a:noFill/>
                </a:ln>
                <a:solidFill>
                  <a:srgbClr val="FF0000"/>
                </a:solidFill>
                <a:effectLst/>
                <a:uLnTx/>
                <a:uFillTx/>
                <a:latin typeface="+mn-lt"/>
                <a:ea typeface="+mn-ea"/>
              </a:rPr>
              <a:t>poly</a:t>
            </a:r>
            <a:r>
              <a:rPr kumimoji="0" lang="zh-CN" altLang="en-US" sz="2400" b="0" i="0" u="none" strike="noStrike" kern="0" cap="none" spc="0" normalizeH="0" baseline="0" noProof="0" dirty="0">
                <a:ln>
                  <a:noFill/>
                </a:ln>
                <a:solidFill>
                  <a:srgbClr val="FF0000"/>
                </a:solidFill>
                <a:effectLst/>
                <a:uLnTx/>
                <a:uFillTx/>
                <a:latin typeface="+mn-lt"/>
                <a:ea typeface="+mn-ea"/>
              </a:rPr>
              <a:t>团集问题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73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73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73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02403" name="Rectangle 2"/>
          <p:cNvSpPr>
            <a:spLocks noGrp="1"/>
          </p:cNvSpPr>
          <p:nvPr>
            <p:ph type="title"/>
          </p:nvPr>
        </p:nvSpPr>
        <p:spPr>
          <a:xfrm>
            <a:off x="914400" y="79375"/>
            <a:ext cx="8229600" cy="1139825"/>
          </a:xfrm>
          <a:ln/>
        </p:spPr>
        <p:txBody>
          <a:bodyPr vert="horz" wrap="square" lIns="91440" tIns="45720" rIns="91440" bIns="45720" anchor="ctr" anchorCtr="0"/>
          <a:lstStyle/>
          <a:p>
            <a:pPr eaLnBrk="1" hangingPunct="1"/>
            <a:r>
              <a:rPr lang="zh-CN" altLang="en-US" dirty="0"/>
              <a:t>可满足性</a:t>
            </a:r>
            <a:r>
              <a:rPr lang="el-GR" altLang="zh-CN" dirty="0">
                <a:cs typeface="Arial" panose="020B0604020202020204" pitchFamily="34" charset="0"/>
                <a:sym typeface="Symbol" panose="05050102010706020507" pitchFamily="18" charset="2"/>
              </a:rPr>
              <a:t></a:t>
            </a:r>
            <a:r>
              <a:rPr lang="en-US" altLang="zh-CN" baseline="-25000" dirty="0">
                <a:cs typeface="Arial" panose="020B0604020202020204" pitchFamily="34" charset="0"/>
                <a:sym typeface="Symbol" panose="05050102010706020507" pitchFamily="18" charset="2"/>
              </a:rPr>
              <a:t>poly</a:t>
            </a:r>
            <a:r>
              <a:rPr lang="zh-CN" altLang="en-US" dirty="0"/>
              <a:t>团集问题</a:t>
            </a:r>
            <a:endParaRPr lang="en-US" altLang="zh-CN" dirty="0"/>
          </a:p>
        </p:txBody>
      </p:sp>
      <p:sp>
        <p:nvSpPr>
          <p:cNvPr id="102404" name="Rectangle 3"/>
          <p:cNvSpPr>
            <a:spLocks noGrp="1"/>
          </p:cNvSpPr>
          <p:nvPr>
            <p:ph type="body" sz="half" idx="1"/>
          </p:nvPr>
        </p:nvSpPr>
        <p:spPr>
          <a:xfrm>
            <a:off x="838200" y="1371600"/>
            <a:ext cx="8229600" cy="4572000"/>
          </a:xfrm>
          <a:ln/>
        </p:spPr>
        <p:txBody>
          <a:bodyPr vert="horz" wrap="square" lIns="91440" tIns="45720" rIns="91440" bIns="45720" anchor="t" anchorCtr="0"/>
          <a:lstStyle/>
          <a:p>
            <a:pPr eaLnBrk="1" hangingPunct="1">
              <a:buClrTx/>
              <a:buSzTx/>
              <a:buFontTx/>
            </a:pPr>
            <a:r>
              <a:rPr lang="zh-CN" altLang="en-US" sz="2100" dirty="0"/>
              <a:t>给出一个有</a:t>
            </a:r>
            <a:r>
              <a:rPr lang="en-US" altLang="zh-CN" sz="2100" dirty="0"/>
              <a:t>m</a:t>
            </a:r>
            <a:r>
              <a:rPr lang="zh-CN" altLang="en-US" sz="2100" dirty="0"/>
              <a:t>个子句和</a:t>
            </a:r>
            <a:r>
              <a:rPr lang="en-US" altLang="zh-CN" sz="2100" dirty="0"/>
              <a:t>n</a:t>
            </a:r>
            <a:r>
              <a:rPr lang="zh-CN" altLang="en-US" sz="2100" dirty="0"/>
              <a:t>个布尔变元</a:t>
            </a:r>
            <a:r>
              <a:rPr lang="en-US" altLang="zh-CN" sz="2100" dirty="0"/>
              <a:t>x</a:t>
            </a:r>
            <a:r>
              <a:rPr lang="en-US" altLang="zh-CN" sz="2100" baseline="-25000" dirty="0"/>
              <a:t>1</a:t>
            </a:r>
            <a:r>
              <a:rPr lang="en-US" altLang="zh-CN" sz="2100" dirty="0"/>
              <a:t>,x</a:t>
            </a:r>
            <a:r>
              <a:rPr lang="en-US" altLang="zh-CN" sz="2100" baseline="-25000" dirty="0"/>
              <a:t>2</a:t>
            </a:r>
            <a:r>
              <a:rPr lang="en-US" altLang="zh-CN" sz="2100" dirty="0"/>
              <a:t>,..,x</a:t>
            </a:r>
            <a:r>
              <a:rPr lang="en-US" altLang="zh-CN" sz="2100" baseline="-25000" dirty="0"/>
              <a:t>n </a:t>
            </a:r>
            <a:r>
              <a:rPr lang="zh-CN" altLang="en-US" sz="2100" dirty="0"/>
              <a:t>的可满足性实例</a:t>
            </a:r>
            <a:r>
              <a:rPr lang="en-US" altLang="zh-CN" sz="2100" dirty="0"/>
              <a:t>f=C</a:t>
            </a:r>
            <a:r>
              <a:rPr lang="en-US" altLang="zh-CN" sz="2100" baseline="-25000" dirty="0"/>
              <a:t>1</a:t>
            </a:r>
            <a:r>
              <a:rPr lang="en-US" altLang="zh-CN" sz="2100" dirty="0">
                <a:sym typeface="Symbol" panose="05050102010706020507" pitchFamily="18" charset="2"/>
              </a:rPr>
              <a:t>C</a:t>
            </a:r>
            <a:r>
              <a:rPr lang="en-US" altLang="zh-CN" sz="2100" baseline="-25000" dirty="0">
                <a:sym typeface="Symbol" panose="05050102010706020507" pitchFamily="18" charset="2"/>
              </a:rPr>
              <a:t>2</a:t>
            </a:r>
            <a:r>
              <a:rPr lang="en-US" altLang="zh-CN" sz="2100" dirty="0">
                <a:sym typeface="Symbol" panose="05050102010706020507" pitchFamily="18" charset="2"/>
              </a:rPr>
              <a:t> … C</a:t>
            </a:r>
            <a:r>
              <a:rPr lang="en-US" altLang="zh-CN" sz="2100" baseline="-25000" dirty="0">
                <a:sym typeface="Symbol" panose="05050102010706020507" pitchFamily="18" charset="2"/>
              </a:rPr>
              <a:t>m </a:t>
            </a:r>
            <a:r>
              <a:rPr lang="zh-CN" altLang="en-US" sz="2100" dirty="0"/>
              <a:t>，我们构造一个图</a:t>
            </a:r>
            <a:r>
              <a:rPr lang="en-US" altLang="zh-CN" sz="2100" dirty="0"/>
              <a:t>G=(V,E)</a:t>
            </a:r>
            <a:r>
              <a:rPr lang="zh-CN" altLang="en-US" sz="2100" dirty="0"/>
              <a:t>，其中</a:t>
            </a:r>
            <a:r>
              <a:rPr lang="en-US" altLang="zh-CN" sz="2100" dirty="0"/>
              <a:t>V</a:t>
            </a:r>
            <a:r>
              <a:rPr lang="zh-CN" altLang="en-US" sz="2100" dirty="0"/>
              <a:t>是</a:t>
            </a:r>
            <a:r>
              <a:rPr lang="en-US" altLang="zh-CN" sz="2100" dirty="0"/>
              <a:t>2n</a:t>
            </a:r>
            <a:r>
              <a:rPr lang="zh-CN" altLang="en-US" sz="2100" dirty="0"/>
              <a:t>个文字的所有出现的集合</a:t>
            </a:r>
            <a:r>
              <a:rPr lang="en-US" altLang="zh-CN" sz="2100" dirty="0"/>
              <a:t>(</a:t>
            </a:r>
            <a:r>
              <a:rPr lang="zh-CN" altLang="en-US" sz="2100" dirty="0"/>
              <a:t>注意一个文字是一个布尔变元或它的否定</a:t>
            </a:r>
            <a:r>
              <a:rPr lang="en-US" altLang="zh-CN" sz="2100" dirty="0"/>
              <a:t>)</a:t>
            </a:r>
            <a:r>
              <a:rPr lang="zh-CN" altLang="en-US" sz="2100" dirty="0"/>
              <a:t>，并且</a:t>
            </a:r>
          </a:p>
          <a:p>
            <a:pPr eaLnBrk="1" hangingPunct="1">
              <a:buClrTx/>
              <a:buSzTx/>
              <a:buFontTx/>
              <a:buNone/>
            </a:pPr>
            <a:r>
              <a:rPr lang="en-US" altLang="zh-CN" sz="2100" dirty="0"/>
              <a:t>             E={(x</a:t>
            </a:r>
            <a:r>
              <a:rPr lang="en-US" altLang="zh-CN" sz="2100" baseline="-25000" dirty="0"/>
              <a:t>i</a:t>
            </a:r>
            <a:r>
              <a:rPr lang="en-US" altLang="zh-CN" sz="2100" dirty="0"/>
              <a:t>,x</a:t>
            </a:r>
            <a:r>
              <a:rPr lang="en-US" altLang="zh-CN" sz="2100" baseline="-25000" dirty="0"/>
              <a:t>j</a:t>
            </a:r>
            <a:r>
              <a:rPr lang="en-US" altLang="zh-CN" sz="2100" dirty="0"/>
              <a:t>)|x</a:t>
            </a:r>
            <a:r>
              <a:rPr lang="en-US" altLang="zh-CN" sz="2100" baseline="-25000" dirty="0"/>
              <a:t>i</a:t>
            </a:r>
            <a:r>
              <a:rPr lang="zh-CN" altLang="en-US" sz="2100" dirty="0"/>
              <a:t>和</a:t>
            </a:r>
            <a:r>
              <a:rPr lang="en-US" altLang="zh-CN" sz="2100" dirty="0"/>
              <a:t>x</a:t>
            </a:r>
            <a:r>
              <a:rPr lang="en-US" altLang="zh-CN" sz="2100" baseline="-25000" dirty="0"/>
              <a:t>j</a:t>
            </a:r>
            <a:r>
              <a:rPr lang="zh-CN" altLang="en-US" sz="2100" dirty="0"/>
              <a:t>位于两个不同的子句，并且</a:t>
            </a:r>
            <a:r>
              <a:rPr lang="en-US" altLang="zh-CN" sz="2100" dirty="0"/>
              <a:t>x</a:t>
            </a:r>
            <a:r>
              <a:rPr lang="en-US" altLang="zh-CN" sz="2100" baseline="-25000" dirty="0"/>
              <a:t>i</a:t>
            </a:r>
            <a:r>
              <a:rPr lang="en-US" altLang="zh-CN" sz="2100" dirty="0">
                <a:sym typeface="Symbol" panose="05050102010706020507" pitchFamily="18" charset="2"/>
              </a:rPr>
              <a:t>~</a:t>
            </a:r>
            <a:r>
              <a:rPr lang="en-US" altLang="zh-CN" sz="2100" dirty="0"/>
              <a:t>x</a:t>
            </a:r>
            <a:r>
              <a:rPr lang="en-US" altLang="zh-CN" sz="2100" baseline="-25000" dirty="0"/>
              <a:t>j</a:t>
            </a:r>
            <a:r>
              <a:rPr lang="en-US" altLang="zh-CN" sz="2100" dirty="0"/>
              <a:t>}</a:t>
            </a:r>
          </a:p>
          <a:p>
            <a:pPr eaLnBrk="1" hangingPunct="1">
              <a:buClrTx/>
              <a:buSzTx/>
              <a:buFontTx/>
              <a:buNone/>
            </a:pPr>
            <a:r>
              <a:rPr lang="en-US" altLang="zh-CN" sz="2100" dirty="0"/>
              <a:t> </a:t>
            </a:r>
          </a:p>
        </p:txBody>
      </p:sp>
      <p:graphicFrame>
        <p:nvGraphicFramePr>
          <p:cNvPr id="102405" name="Object 4"/>
          <p:cNvGraphicFramePr>
            <a:graphicFrameLocks noGrp="1" noChangeAspect="1"/>
          </p:cNvGraphicFramePr>
          <p:nvPr>
            <p:ph sz="half" idx="2"/>
          </p:nvPr>
        </p:nvGraphicFramePr>
        <p:xfrm>
          <a:off x="762000" y="3048000"/>
          <a:ext cx="3821113" cy="428625"/>
        </p:xfrm>
        <a:graphic>
          <a:graphicData uri="http://schemas.openxmlformats.org/presentationml/2006/ole">
            <mc:AlternateContent xmlns:mc="http://schemas.openxmlformats.org/markup-compatibility/2006">
              <mc:Choice xmlns:v="urn:schemas-microsoft-com:vml" Requires="v">
                <p:oleObj spid="_x0000_s6159" r:id="rId4" imgW="2273300" imgH="241300" progId="Equation.3">
                  <p:embed/>
                </p:oleObj>
              </mc:Choice>
              <mc:Fallback>
                <p:oleObj r:id="rId4" imgW="2273300" imgH="241300" progId="Equation.3">
                  <p:embed/>
                  <p:pic>
                    <p:nvPicPr>
                      <p:cNvPr id="0" name="图片 3083"/>
                      <p:cNvPicPr/>
                      <p:nvPr/>
                    </p:nvPicPr>
                    <p:blipFill>
                      <a:blip r:embed="rId5"/>
                      <a:srcRect/>
                      <a:stretch>
                        <a:fillRect/>
                      </a:stretch>
                    </p:blipFill>
                    <p:spPr>
                      <a:xfrm>
                        <a:off x="762000" y="3048000"/>
                        <a:ext cx="3821113" cy="428625"/>
                      </a:xfrm>
                      <a:prstGeom prst="rect">
                        <a:avLst/>
                      </a:prstGeom>
                      <a:noFill/>
                      <a:ln w="38100">
                        <a:miter/>
                      </a:ln>
                    </p:spPr>
                  </p:pic>
                </p:oleObj>
              </mc:Fallback>
            </mc:AlternateContent>
          </a:graphicData>
        </a:graphic>
      </p:graphicFrame>
      <p:grpSp>
        <p:nvGrpSpPr>
          <p:cNvPr id="102406" name="Group 56"/>
          <p:cNvGrpSpPr/>
          <p:nvPr/>
        </p:nvGrpSpPr>
        <p:grpSpPr>
          <a:xfrm>
            <a:off x="3144838" y="2819400"/>
            <a:ext cx="5999162" cy="2743200"/>
            <a:chOff x="832" y="1776"/>
            <a:chExt cx="3779" cy="1728"/>
          </a:xfrm>
        </p:grpSpPr>
        <p:sp>
          <p:nvSpPr>
            <p:cNvPr id="102407" name="Oval 51"/>
            <p:cNvSpPr/>
            <p:nvPr/>
          </p:nvSpPr>
          <p:spPr>
            <a:xfrm rot="-2900451">
              <a:off x="1312" y="2195"/>
              <a:ext cx="720" cy="1680"/>
            </a:xfrm>
            <a:prstGeom prst="ellipse">
              <a:avLst/>
            </a:prstGeom>
            <a:noFill/>
            <a:ln w="25400" cap="rnd" cmpd="sng">
              <a:solidFill>
                <a:schemeClr val="tx1"/>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08" name="Oval 8"/>
            <p:cNvSpPr/>
            <p:nvPr/>
          </p:nvSpPr>
          <p:spPr>
            <a:xfrm>
              <a:off x="2064" y="1968"/>
              <a:ext cx="288" cy="288"/>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09" name="Oval 9"/>
            <p:cNvSpPr/>
            <p:nvPr/>
          </p:nvSpPr>
          <p:spPr>
            <a:xfrm>
              <a:off x="1152" y="2448"/>
              <a:ext cx="288" cy="288"/>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10" name="Oval 10"/>
            <p:cNvSpPr/>
            <p:nvPr/>
          </p:nvSpPr>
          <p:spPr>
            <a:xfrm>
              <a:off x="2880" y="1940"/>
              <a:ext cx="288" cy="346"/>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u="sng" dirty="0">
                  <a:solidFill>
                    <a:srgbClr val="FF0000"/>
                  </a:solidFill>
                  <a:latin typeface="Arial" panose="020B0604020202020204" pitchFamily="34" charset="0"/>
                  <a:ea typeface="宋体" panose="02010600030101010101" pitchFamily="2" charset="-122"/>
                </a:rPr>
                <a:t>x</a:t>
              </a:r>
            </a:p>
          </p:txBody>
        </p:sp>
        <p:sp>
          <p:nvSpPr>
            <p:cNvPr id="102411" name="Oval 11"/>
            <p:cNvSpPr/>
            <p:nvPr/>
          </p:nvSpPr>
          <p:spPr>
            <a:xfrm>
              <a:off x="2880" y="3216"/>
              <a:ext cx="288" cy="288"/>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12" name="Oval 12"/>
            <p:cNvSpPr/>
            <p:nvPr/>
          </p:nvSpPr>
          <p:spPr>
            <a:xfrm>
              <a:off x="2016" y="3216"/>
              <a:ext cx="288" cy="288"/>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13" name="Oval 13"/>
            <p:cNvSpPr/>
            <p:nvPr/>
          </p:nvSpPr>
          <p:spPr>
            <a:xfrm>
              <a:off x="3792" y="2804"/>
              <a:ext cx="288" cy="346"/>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u="sng" dirty="0">
                  <a:solidFill>
                    <a:srgbClr val="FF0000"/>
                  </a:solidFill>
                  <a:latin typeface="Arial" panose="020B0604020202020204" pitchFamily="34" charset="0"/>
                  <a:ea typeface="宋体" panose="02010600030101010101" pitchFamily="2" charset="-122"/>
                </a:rPr>
                <a:t>y</a:t>
              </a:r>
            </a:p>
          </p:txBody>
        </p:sp>
        <p:sp>
          <p:nvSpPr>
            <p:cNvPr id="102414" name="Oval 14"/>
            <p:cNvSpPr/>
            <p:nvPr/>
          </p:nvSpPr>
          <p:spPr>
            <a:xfrm>
              <a:off x="3792" y="2400"/>
              <a:ext cx="288" cy="288"/>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15" name="Oval 15"/>
            <p:cNvSpPr/>
            <p:nvPr/>
          </p:nvSpPr>
          <p:spPr>
            <a:xfrm>
              <a:off x="1200" y="2832"/>
              <a:ext cx="288" cy="288"/>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16" name="Text Box 16"/>
            <p:cNvSpPr txBox="1"/>
            <p:nvPr/>
          </p:nvSpPr>
          <p:spPr>
            <a:xfrm>
              <a:off x="2102" y="1975"/>
              <a:ext cx="196" cy="25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y</a:t>
              </a:r>
            </a:p>
          </p:txBody>
        </p:sp>
        <p:sp>
          <p:nvSpPr>
            <p:cNvPr id="102417" name="Text Box 18"/>
            <p:cNvSpPr txBox="1"/>
            <p:nvPr/>
          </p:nvSpPr>
          <p:spPr>
            <a:xfrm>
              <a:off x="1190" y="2448"/>
              <a:ext cx="196" cy="25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x</a:t>
              </a:r>
            </a:p>
          </p:txBody>
        </p:sp>
        <p:sp>
          <p:nvSpPr>
            <p:cNvPr id="102418" name="Text Box 19"/>
            <p:cNvSpPr txBox="1"/>
            <p:nvPr/>
          </p:nvSpPr>
          <p:spPr>
            <a:xfrm>
              <a:off x="1238" y="2832"/>
              <a:ext cx="196" cy="25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u="sng" dirty="0">
                  <a:solidFill>
                    <a:srgbClr val="FF0000"/>
                  </a:solidFill>
                  <a:latin typeface="Arial" panose="020B0604020202020204" pitchFamily="34" charset="0"/>
                  <a:ea typeface="宋体" panose="02010600030101010101" pitchFamily="2" charset="-122"/>
                </a:rPr>
                <a:t>y</a:t>
              </a:r>
            </a:p>
          </p:txBody>
        </p:sp>
        <p:sp>
          <p:nvSpPr>
            <p:cNvPr id="102419" name="Text Box 20"/>
            <p:cNvSpPr txBox="1"/>
            <p:nvPr/>
          </p:nvSpPr>
          <p:spPr>
            <a:xfrm>
              <a:off x="3836" y="2407"/>
              <a:ext cx="196" cy="25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z</a:t>
              </a:r>
            </a:p>
          </p:txBody>
        </p:sp>
        <p:sp>
          <p:nvSpPr>
            <p:cNvPr id="102420" name="Text Box 21"/>
            <p:cNvSpPr txBox="1"/>
            <p:nvPr/>
          </p:nvSpPr>
          <p:spPr>
            <a:xfrm>
              <a:off x="2054" y="3216"/>
              <a:ext cx="196" cy="25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z</a:t>
              </a:r>
            </a:p>
          </p:txBody>
        </p:sp>
        <p:sp>
          <p:nvSpPr>
            <p:cNvPr id="102421" name="Text Box 22"/>
            <p:cNvSpPr txBox="1"/>
            <p:nvPr/>
          </p:nvSpPr>
          <p:spPr>
            <a:xfrm>
              <a:off x="2918" y="3223"/>
              <a:ext cx="196" cy="25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u="sng" dirty="0">
                  <a:solidFill>
                    <a:srgbClr val="FF0000"/>
                  </a:solidFill>
                  <a:latin typeface="Arial" panose="020B0604020202020204" pitchFamily="34" charset="0"/>
                  <a:ea typeface="宋体" panose="02010600030101010101" pitchFamily="2" charset="-122"/>
                </a:rPr>
                <a:t>x</a:t>
              </a:r>
            </a:p>
          </p:txBody>
        </p:sp>
        <p:sp>
          <p:nvSpPr>
            <p:cNvPr id="102422" name="Line 25"/>
            <p:cNvSpPr/>
            <p:nvPr/>
          </p:nvSpPr>
          <p:spPr>
            <a:xfrm flipH="1">
              <a:off x="1392" y="2160"/>
              <a:ext cx="672" cy="336"/>
            </a:xfrm>
            <a:prstGeom prst="line">
              <a:avLst/>
            </a:prstGeom>
            <a:ln w="25400" cap="flat" cmpd="sng">
              <a:solidFill>
                <a:schemeClr val="tx1"/>
              </a:solidFill>
              <a:prstDash val="solid"/>
              <a:headEnd type="none" w="med" len="med"/>
              <a:tailEnd type="none" w="med" len="med"/>
            </a:ln>
          </p:spPr>
        </p:sp>
        <p:sp>
          <p:nvSpPr>
            <p:cNvPr id="102423" name="Line 26"/>
            <p:cNvSpPr/>
            <p:nvPr/>
          </p:nvSpPr>
          <p:spPr>
            <a:xfrm flipV="1">
              <a:off x="1440" y="2544"/>
              <a:ext cx="2304" cy="48"/>
            </a:xfrm>
            <a:prstGeom prst="line">
              <a:avLst/>
            </a:prstGeom>
            <a:ln w="25400" cap="flat" cmpd="sng">
              <a:solidFill>
                <a:schemeClr val="tx1"/>
              </a:solidFill>
              <a:prstDash val="solid"/>
              <a:headEnd type="none" w="med" len="med"/>
              <a:tailEnd type="none" w="med" len="med"/>
            </a:ln>
          </p:spPr>
        </p:sp>
        <p:sp>
          <p:nvSpPr>
            <p:cNvPr id="102424" name="Line 27"/>
            <p:cNvSpPr/>
            <p:nvPr/>
          </p:nvSpPr>
          <p:spPr>
            <a:xfrm>
              <a:off x="1392" y="2640"/>
              <a:ext cx="2400" cy="384"/>
            </a:xfrm>
            <a:prstGeom prst="line">
              <a:avLst/>
            </a:prstGeom>
            <a:ln w="25400" cap="flat" cmpd="sng">
              <a:solidFill>
                <a:schemeClr val="tx1"/>
              </a:solidFill>
              <a:prstDash val="solid"/>
              <a:headEnd type="none" w="med" len="med"/>
              <a:tailEnd type="none" w="med" len="med"/>
            </a:ln>
          </p:spPr>
        </p:sp>
        <p:sp>
          <p:nvSpPr>
            <p:cNvPr id="102425" name="Text Box 28"/>
            <p:cNvSpPr txBox="1"/>
            <p:nvPr/>
          </p:nvSpPr>
          <p:spPr>
            <a:xfrm>
              <a:off x="3878" y="2700"/>
              <a:ext cx="116" cy="346"/>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zh-CN" sz="3000" dirty="0">
                <a:solidFill>
                  <a:schemeClr val="accent1"/>
                </a:solidFill>
                <a:latin typeface="Arial" panose="020B0604020202020204" pitchFamily="34" charset="0"/>
                <a:ea typeface="宋体" panose="02010600030101010101" pitchFamily="2" charset="-122"/>
              </a:endParaRPr>
            </a:p>
          </p:txBody>
        </p:sp>
        <p:sp>
          <p:nvSpPr>
            <p:cNvPr id="102426" name="Line 29"/>
            <p:cNvSpPr/>
            <p:nvPr/>
          </p:nvSpPr>
          <p:spPr>
            <a:xfrm flipV="1">
              <a:off x="1488" y="2160"/>
              <a:ext cx="1392" cy="768"/>
            </a:xfrm>
            <a:prstGeom prst="line">
              <a:avLst/>
            </a:prstGeom>
            <a:ln w="25400" cap="flat" cmpd="sng">
              <a:solidFill>
                <a:schemeClr val="tx1"/>
              </a:solidFill>
              <a:prstDash val="solid"/>
              <a:headEnd type="none" w="med" len="med"/>
              <a:tailEnd type="none" w="med" len="med"/>
            </a:ln>
          </p:spPr>
        </p:sp>
        <p:sp>
          <p:nvSpPr>
            <p:cNvPr id="102427" name="Line 30"/>
            <p:cNvSpPr/>
            <p:nvPr/>
          </p:nvSpPr>
          <p:spPr>
            <a:xfrm flipV="1">
              <a:off x="1488" y="2544"/>
              <a:ext cx="2304" cy="384"/>
            </a:xfrm>
            <a:prstGeom prst="line">
              <a:avLst/>
            </a:prstGeom>
            <a:ln w="25400" cap="flat" cmpd="sng">
              <a:solidFill>
                <a:schemeClr val="tx1"/>
              </a:solidFill>
              <a:prstDash val="solid"/>
              <a:headEnd type="none" w="med" len="med"/>
              <a:tailEnd type="none" w="med" len="med"/>
            </a:ln>
          </p:spPr>
        </p:sp>
        <p:sp>
          <p:nvSpPr>
            <p:cNvPr id="102428" name="Line 31"/>
            <p:cNvSpPr/>
            <p:nvPr/>
          </p:nvSpPr>
          <p:spPr>
            <a:xfrm>
              <a:off x="1488" y="2928"/>
              <a:ext cx="2256" cy="96"/>
            </a:xfrm>
            <a:prstGeom prst="line">
              <a:avLst/>
            </a:prstGeom>
            <a:ln w="25400" cap="flat" cmpd="sng">
              <a:solidFill>
                <a:schemeClr val="tx1"/>
              </a:solidFill>
              <a:prstDash val="solid"/>
              <a:headEnd type="none" w="med" len="med"/>
              <a:tailEnd type="none" w="med" len="med"/>
            </a:ln>
          </p:spPr>
        </p:sp>
        <p:sp>
          <p:nvSpPr>
            <p:cNvPr id="102429" name="Line 33"/>
            <p:cNvSpPr/>
            <p:nvPr/>
          </p:nvSpPr>
          <p:spPr>
            <a:xfrm>
              <a:off x="1488" y="2928"/>
              <a:ext cx="1440" cy="336"/>
            </a:xfrm>
            <a:prstGeom prst="line">
              <a:avLst/>
            </a:prstGeom>
            <a:ln w="25400" cap="flat" cmpd="sng">
              <a:solidFill>
                <a:schemeClr val="tx1"/>
              </a:solidFill>
              <a:prstDash val="solid"/>
              <a:headEnd type="none" w="med" len="med"/>
              <a:tailEnd type="none" w="med" len="med"/>
            </a:ln>
          </p:spPr>
        </p:sp>
        <p:sp>
          <p:nvSpPr>
            <p:cNvPr id="102430" name="Line 34"/>
            <p:cNvSpPr/>
            <p:nvPr/>
          </p:nvSpPr>
          <p:spPr>
            <a:xfrm flipV="1">
              <a:off x="2112" y="2256"/>
              <a:ext cx="48" cy="960"/>
            </a:xfrm>
            <a:prstGeom prst="line">
              <a:avLst/>
            </a:prstGeom>
            <a:ln w="25400" cap="flat" cmpd="sng">
              <a:solidFill>
                <a:schemeClr val="tx1"/>
              </a:solidFill>
              <a:prstDash val="solid"/>
              <a:headEnd type="none" w="med" len="med"/>
              <a:tailEnd type="none" w="med" len="med"/>
            </a:ln>
          </p:spPr>
        </p:sp>
        <p:sp>
          <p:nvSpPr>
            <p:cNvPr id="102431" name="Line 35"/>
            <p:cNvSpPr/>
            <p:nvPr/>
          </p:nvSpPr>
          <p:spPr>
            <a:xfrm flipV="1">
              <a:off x="2160" y="2160"/>
              <a:ext cx="720" cy="1056"/>
            </a:xfrm>
            <a:prstGeom prst="line">
              <a:avLst/>
            </a:prstGeom>
            <a:ln w="25400" cap="flat" cmpd="sng">
              <a:solidFill>
                <a:schemeClr val="tx1"/>
              </a:solidFill>
              <a:prstDash val="solid"/>
              <a:headEnd type="none" w="med" len="med"/>
              <a:tailEnd type="none" w="med" len="med"/>
            </a:ln>
          </p:spPr>
        </p:sp>
        <p:sp>
          <p:nvSpPr>
            <p:cNvPr id="102432" name="Line 37"/>
            <p:cNvSpPr/>
            <p:nvPr/>
          </p:nvSpPr>
          <p:spPr>
            <a:xfrm flipV="1">
              <a:off x="2208" y="2544"/>
              <a:ext cx="1584" cy="672"/>
            </a:xfrm>
            <a:prstGeom prst="line">
              <a:avLst/>
            </a:prstGeom>
            <a:ln w="25400" cap="flat" cmpd="sng">
              <a:solidFill>
                <a:schemeClr val="tx1"/>
              </a:solidFill>
              <a:prstDash val="solid"/>
              <a:headEnd type="none" w="med" len="med"/>
              <a:tailEnd type="none" w="med" len="med"/>
            </a:ln>
          </p:spPr>
        </p:sp>
        <p:sp>
          <p:nvSpPr>
            <p:cNvPr id="102433" name="Line 38"/>
            <p:cNvSpPr/>
            <p:nvPr/>
          </p:nvSpPr>
          <p:spPr>
            <a:xfrm flipV="1">
              <a:off x="2208" y="3024"/>
              <a:ext cx="1584" cy="192"/>
            </a:xfrm>
            <a:prstGeom prst="line">
              <a:avLst/>
            </a:prstGeom>
            <a:ln w="25400" cap="flat" cmpd="sng">
              <a:solidFill>
                <a:schemeClr val="tx1"/>
              </a:solidFill>
              <a:prstDash val="solid"/>
              <a:headEnd type="none" w="med" len="med"/>
              <a:tailEnd type="none" w="med" len="med"/>
            </a:ln>
          </p:spPr>
        </p:sp>
        <p:sp>
          <p:nvSpPr>
            <p:cNvPr id="102434" name="Line 40"/>
            <p:cNvSpPr/>
            <p:nvPr/>
          </p:nvSpPr>
          <p:spPr>
            <a:xfrm>
              <a:off x="2304" y="3360"/>
              <a:ext cx="576" cy="0"/>
            </a:xfrm>
            <a:prstGeom prst="line">
              <a:avLst/>
            </a:prstGeom>
            <a:ln w="25400" cap="flat" cmpd="sng">
              <a:solidFill>
                <a:schemeClr val="tx1"/>
              </a:solidFill>
              <a:prstDash val="solid"/>
              <a:headEnd type="none" w="med" len="med"/>
              <a:tailEnd type="none" w="med" len="med"/>
            </a:ln>
          </p:spPr>
        </p:sp>
        <p:sp>
          <p:nvSpPr>
            <p:cNvPr id="102435" name="Line 42"/>
            <p:cNvSpPr/>
            <p:nvPr/>
          </p:nvSpPr>
          <p:spPr>
            <a:xfrm flipH="1" flipV="1">
              <a:off x="2256" y="2256"/>
              <a:ext cx="720" cy="960"/>
            </a:xfrm>
            <a:prstGeom prst="line">
              <a:avLst/>
            </a:prstGeom>
            <a:ln w="25400" cap="flat" cmpd="sng">
              <a:solidFill>
                <a:schemeClr val="tx1"/>
              </a:solidFill>
              <a:prstDash val="solid"/>
              <a:headEnd type="none" w="med" len="med"/>
              <a:tailEnd type="none" w="med" len="med"/>
            </a:ln>
          </p:spPr>
        </p:sp>
        <p:sp>
          <p:nvSpPr>
            <p:cNvPr id="102436" name="Line 43"/>
            <p:cNvSpPr/>
            <p:nvPr/>
          </p:nvSpPr>
          <p:spPr>
            <a:xfrm flipV="1">
              <a:off x="3024" y="2256"/>
              <a:ext cx="48" cy="960"/>
            </a:xfrm>
            <a:prstGeom prst="line">
              <a:avLst/>
            </a:prstGeom>
            <a:ln w="25400" cap="flat" cmpd="sng">
              <a:solidFill>
                <a:schemeClr val="tx1"/>
              </a:solidFill>
              <a:prstDash val="solid"/>
              <a:headEnd type="none" w="med" len="med"/>
              <a:tailEnd type="none" w="med" len="med"/>
            </a:ln>
          </p:spPr>
        </p:sp>
        <p:sp>
          <p:nvSpPr>
            <p:cNvPr id="102437" name="Line 44"/>
            <p:cNvSpPr/>
            <p:nvPr/>
          </p:nvSpPr>
          <p:spPr>
            <a:xfrm>
              <a:off x="3120" y="2208"/>
              <a:ext cx="624" cy="768"/>
            </a:xfrm>
            <a:prstGeom prst="line">
              <a:avLst/>
            </a:prstGeom>
            <a:ln w="25400" cap="flat" cmpd="sng">
              <a:solidFill>
                <a:schemeClr val="tx1"/>
              </a:solidFill>
              <a:prstDash val="solid"/>
              <a:headEnd type="none" w="med" len="med"/>
              <a:tailEnd type="none" w="med" len="med"/>
            </a:ln>
          </p:spPr>
        </p:sp>
        <p:sp>
          <p:nvSpPr>
            <p:cNvPr id="102438" name="Line 46"/>
            <p:cNvSpPr/>
            <p:nvPr/>
          </p:nvSpPr>
          <p:spPr>
            <a:xfrm flipH="1" flipV="1">
              <a:off x="3168" y="2160"/>
              <a:ext cx="672" cy="288"/>
            </a:xfrm>
            <a:prstGeom prst="line">
              <a:avLst/>
            </a:prstGeom>
            <a:ln w="25400" cap="flat" cmpd="sng">
              <a:solidFill>
                <a:schemeClr val="tx1"/>
              </a:solidFill>
              <a:prstDash val="solid"/>
              <a:headEnd type="none" w="med" len="med"/>
              <a:tailEnd type="none" w="med" len="med"/>
            </a:ln>
          </p:spPr>
        </p:sp>
        <p:sp>
          <p:nvSpPr>
            <p:cNvPr id="102439" name="Line 48"/>
            <p:cNvSpPr/>
            <p:nvPr/>
          </p:nvSpPr>
          <p:spPr>
            <a:xfrm flipH="1" flipV="1">
              <a:off x="2352" y="2160"/>
              <a:ext cx="1440" cy="336"/>
            </a:xfrm>
            <a:prstGeom prst="line">
              <a:avLst/>
            </a:prstGeom>
            <a:ln w="25400" cap="flat" cmpd="sng">
              <a:solidFill>
                <a:schemeClr val="tx1"/>
              </a:solidFill>
              <a:prstDash val="solid"/>
              <a:headEnd type="none" w="med" len="med"/>
              <a:tailEnd type="none" w="med" len="med"/>
            </a:ln>
          </p:spPr>
        </p:sp>
        <p:sp>
          <p:nvSpPr>
            <p:cNvPr id="102440" name="Oval 53"/>
            <p:cNvSpPr/>
            <p:nvPr/>
          </p:nvSpPr>
          <p:spPr>
            <a:xfrm rot="3125792">
              <a:off x="3219" y="1935"/>
              <a:ext cx="768" cy="2016"/>
            </a:xfrm>
            <a:prstGeom prst="ellipse">
              <a:avLst/>
            </a:prstGeom>
            <a:noFill/>
            <a:ln w="25400" cap="rnd" cmpd="sng">
              <a:solidFill>
                <a:schemeClr val="tx1"/>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2441" name="Oval 54"/>
            <p:cNvSpPr/>
            <p:nvPr/>
          </p:nvSpPr>
          <p:spPr>
            <a:xfrm>
              <a:off x="1776" y="1776"/>
              <a:ext cx="1872" cy="576"/>
            </a:xfrm>
            <a:prstGeom prst="ellipse">
              <a:avLst/>
            </a:prstGeom>
            <a:noFill/>
            <a:ln w="25400" cap="rnd" cmpd="sng">
              <a:solidFill>
                <a:schemeClr val="tx1"/>
              </a:solidFill>
              <a:prstDash val="sysDot"/>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0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0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40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4275" name="Rectangle 3"/>
          <p:cNvSpPr>
            <a:spLocks noGrp="1" noChangeArrowheads="1"/>
          </p:cNvSpPr>
          <p:nvPr>
            <p:ph idx="1"/>
          </p:nvPr>
        </p:nvSpPr>
        <p:spPr>
          <a:xfrm>
            <a:off x="900113" y="1268413"/>
            <a:ext cx="7786688" cy="40655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引理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10.1</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mn-lt"/>
                <a:ea typeface="+mn-ea"/>
              </a:rPr>
              <a:t>f</a:t>
            </a:r>
            <a:r>
              <a:rPr kumimoji="0" lang="zh-CN" altLang="en-US" sz="2200" b="0" i="0" u="none" strike="noStrike" kern="0" cap="none" spc="0" normalizeH="0" baseline="0" noProof="0" dirty="0">
                <a:ln>
                  <a:noFill/>
                </a:ln>
                <a:solidFill>
                  <a:schemeClr val="accent2"/>
                </a:solidFill>
                <a:effectLst/>
                <a:uLnTx/>
                <a:uFillTx/>
                <a:latin typeface="+mn-lt"/>
                <a:ea typeface="+mn-ea"/>
              </a:rPr>
              <a:t>是可满足的当且仅当</a:t>
            </a:r>
            <a:r>
              <a:rPr kumimoji="0" lang="en-US" altLang="zh-CN" sz="2200" b="0" i="0" u="none" strike="noStrike" kern="0" cap="none" spc="0" normalizeH="0" baseline="0" noProof="0" dirty="0">
                <a:ln>
                  <a:noFill/>
                </a:ln>
                <a:solidFill>
                  <a:schemeClr val="accent2"/>
                </a:solidFill>
                <a:effectLst/>
                <a:uLnTx/>
                <a:uFillTx/>
                <a:latin typeface="+mn-lt"/>
                <a:ea typeface="+mn-ea"/>
              </a:rPr>
              <a:t>G </a:t>
            </a:r>
            <a:r>
              <a:rPr kumimoji="0" lang="zh-CN" altLang="en-US" sz="2200" b="0" i="0" u="none" strike="noStrike" kern="0" cap="none" spc="0" normalizeH="0" baseline="0" noProof="0" dirty="0">
                <a:ln>
                  <a:noFill/>
                </a:ln>
                <a:solidFill>
                  <a:schemeClr val="accent2"/>
                </a:solidFill>
                <a:effectLst/>
                <a:uLnTx/>
                <a:uFillTx/>
                <a:latin typeface="+mn-lt"/>
                <a:ea typeface="+mn-ea"/>
              </a:rPr>
              <a:t>有一个大小为</a:t>
            </a:r>
            <a:r>
              <a:rPr kumimoji="0" lang="en-US" altLang="zh-CN" sz="2200" b="0" i="0" u="none" strike="noStrike" kern="0" cap="none" spc="0" normalizeH="0" baseline="0" noProof="0" dirty="0">
                <a:ln>
                  <a:noFill/>
                </a:ln>
                <a:solidFill>
                  <a:schemeClr val="accent2"/>
                </a:solidFill>
                <a:effectLst/>
                <a:uLnTx/>
                <a:uFillTx/>
                <a:latin typeface="+mn-lt"/>
                <a:ea typeface="+mn-ea"/>
              </a:rPr>
              <a:t>m</a:t>
            </a:r>
            <a:r>
              <a:rPr kumimoji="0" lang="zh-CN" altLang="en-US" sz="2200" b="0" i="0" u="none" strike="noStrike" kern="0" cap="none" spc="0" normalizeH="0" baseline="0" noProof="0" dirty="0">
                <a:ln>
                  <a:noFill/>
                </a:ln>
                <a:solidFill>
                  <a:schemeClr val="accent2"/>
                </a:solidFill>
                <a:effectLst/>
                <a:uLnTx/>
                <a:uFillTx/>
                <a:latin typeface="+mn-lt"/>
                <a:ea typeface="+mn-ea"/>
              </a:rPr>
              <a:t>的团集。</a:t>
            </a:r>
            <a:endParaRPr kumimoji="0" lang="en-US" altLang="zh-CN" sz="2200" b="0" i="0" u="none" strike="noStrike" kern="0" cap="none" spc="0" normalizeH="0" baseline="0" noProof="0" dirty="0">
              <a:ln>
                <a:noFill/>
              </a:ln>
              <a:solidFill>
                <a:schemeClr val="accent2"/>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证明</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一个大小为</a:t>
            </a:r>
            <a:r>
              <a:rPr kumimoji="0" lang="en-US" altLang="zh-CN" sz="2200" b="0" i="0" u="none" strike="noStrike" kern="0" cap="none" spc="0" normalizeH="0" baseline="0" noProof="0" dirty="0">
                <a:ln>
                  <a:noFill/>
                </a:ln>
                <a:solidFill>
                  <a:schemeClr val="accent2"/>
                </a:solidFill>
                <a:effectLst/>
                <a:uLnTx/>
                <a:uFillTx/>
                <a:latin typeface="+mn-lt"/>
                <a:ea typeface="+mn-ea"/>
              </a:rPr>
              <a:t>m</a:t>
            </a:r>
            <a:r>
              <a:rPr kumimoji="0" lang="zh-CN" altLang="en-US" sz="2200" b="0" i="0" u="none" strike="noStrike" kern="0" cap="none" spc="0" normalizeH="0" baseline="0" noProof="0" dirty="0">
                <a:ln>
                  <a:noFill/>
                </a:ln>
                <a:solidFill>
                  <a:schemeClr val="accent2"/>
                </a:solidFill>
                <a:effectLst/>
                <a:uLnTx/>
                <a:uFillTx/>
                <a:latin typeface="+mn-lt"/>
                <a:ea typeface="+mn-ea"/>
              </a:rPr>
              <a:t>的团集对应于一个</a:t>
            </a:r>
            <a:r>
              <a:rPr kumimoji="0" lang="en-US" altLang="zh-CN" sz="2200" b="0" i="0" u="none" strike="noStrike" kern="0" cap="none" spc="0" normalizeH="0" baseline="0" noProof="0" dirty="0">
                <a:ln>
                  <a:noFill/>
                </a:ln>
                <a:solidFill>
                  <a:schemeClr val="accent2"/>
                </a:solidFill>
                <a:effectLst/>
                <a:uLnTx/>
                <a:uFillTx/>
                <a:latin typeface="+mn-lt"/>
                <a:ea typeface="+mn-ea"/>
              </a:rPr>
              <a:t>m</a:t>
            </a:r>
            <a:r>
              <a:rPr kumimoji="0" lang="zh-CN" altLang="en-US" sz="2200" b="0" i="0" u="none" strike="noStrike" kern="0" cap="none" spc="0" normalizeH="0" baseline="0" noProof="0" dirty="0">
                <a:ln>
                  <a:noFill/>
                </a:ln>
                <a:solidFill>
                  <a:schemeClr val="accent2"/>
                </a:solidFill>
                <a:effectLst/>
                <a:uLnTx/>
                <a:uFillTx/>
                <a:latin typeface="+mn-lt"/>
                <a:ea typeface="+mn-ea"/>
              </a:rPr>
              <a:t>个不同子句中对</a:t>
            </a:r>
            <a:r>
              <a:rPr kumimoji="0" lang="en-US" altLang="zh-CN" sz="2200" b="0" i="0" u="none" strike="noStrike" kern="0" cap="none" spc="0" normalizeH="0" baseline="0" noProof="0" dirty="0">
                <a:ln>
                  <a:noFill/>
                </a:ln>
                <a:solidFill>
                  <a:schemeClr val="accent2"/>
                </a:solidFill>
                <a:effectLst/>
                <a:uLnTx/>
                <a:uFillTx/>
                <a:latin typeface="+mn-lt"/>
                <a:ea typeface="+mn-ea"/>
              </a:rPr>
              <a:t>m</a:t>
            </a:r>
            <a:r>
              <a:rPr kumimoji="0" lang="zh-CN" altLang="en-US" sz="2200" b="0" i="0" u="none" strike="noStrike" kern="0" cap="none" spc="0" normalizeH="0" baseline="0" noProof="0" dirty="0">
                <a:ln>
                  <a:noFill/>
                </a:ln>
                <a:solidFill>
                  <a:schemeClr val="accent2"/>
                </a:solidFill>
                <a:effectLst/>
                <a:uLnTx/>
                <a:uFillTx/>
                <a:latin typeface="+mn-lt"/>
                <a:ea typeface="+mn-ea"/>
              </a:rPr>
              <a:t>个文字的真指派。在两个文字</a:t>
            </a:r>
            <a:r>
              <a:rPr kumimoji="0" lang="en-US" altLang="zh-CN" sz="2200" b="0" i="0" u="none" strike="noStrike" kern="0" cap="none" spc="0" normalizeH="0" baseline="0" noProof="0" dirty="0">
                <a:ln>
                  <a:noFill/>
                </a:ln>
                <a:solidFill>
                  <a:schemeClr val="accent2"/>
                </a:solidFill>
                <a:effectLst/>
                <a:uLnTx/>
                <a:uFillTx/>
                <a:latin typeface="+mn-lt"/>
                <a:ea typeface="+mn-ea"/>
              </a:rPr>
              <a:t>a</a:t>
            </a:r>
            <a:r>
              <a:rPr kumimoji="0" lang="zh-CN" altLang="en-US" sz="2200" b="0" i="0" u="none" strike="noStrike" kern="0" cap="none" spc="0" normalizeH="0" baseline="0" noProof="0" dirty="0">
                <a:ln>
                  <a:noFill/>
                </a:ln>
                <a:solidFill>
                  <a:schemeClr val="accent2"/>
                </a:solidFill>
                <a:effectLst/>
                <a:uLnTx/>
                <a:uFillTx/>
                <a:latin typeface="+mn-lt"/>
                <a:ea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rPr>
              <a:t>b</a:t>
            </a:r>
            <a:r>
              <a:rPr kumimoji="0" lang="zh-CN" altLang="en-US" sz="2200" b="0" i="0" u="none" strike="noStrike" kern="0" cap="none" spc="0" normalizeH="0" baseline="0" noProof="0" dirty="0">
                <a:ln>
                  <a:noFill/>
                </a:ln>
                <a:solidFill>
                  <a:schemeClr val="accent2"/>
                </a:solidFill>
                <a:effectLst/>
                <a:uLnTx/>
                <a:uFillTx/>
                <a:latin typeface="+mn-lt"/>
                <a:ea typeface="+mn-ea"/>
              </a:rPr>
              <a:t>间的边意味着当</a:t>
            </a:r>
            <a:r>
              <a:rPr kumimoji="0" lang="en-US" altLang="zh-CN" sz="2200" b="0" i="0" u="none" strike="noStrike" kern="0" cap="none" spc="0" normalizeH="0" baseline="0" noProof="0" dirty="0">
                <a:ln>
                  <a:noFill/>
                </a:ln>
                <a:solidFill>
                  <a:schemeClr val="accent2"/>
                </a:solidFill>
                <a:effectLst/>
                <a:uLnTx/>
                <a:uFillTx/>
                <a:latin typeface="+mn-lt"/>
                <a:ea typeface="+mn-ea"/>
              </a:rPr>
              <a:t>a</a:t>
            </a:r>
            <a:r>
              <a:rPr kumimoji="0" lang="zh-CN" altLang="en-US" sz="2200" b="0" i="0" u="none" strike="noStrike" kern="0" cap="none" spc="0" normalizeH="0" baseline="0" noProof="0" dirty="0">
                <a:ln>
                  <a:noFill/>
                </a:ln>
                <a:solidFill>
                  <a:schemeClr val="accent2"/>
                </a:solidFill>
                <a:effectLst/>
                <a:uLnTx/>
                <a:uFillTx/>
                <a:latin typeface="+mn-lt"/>
                <a:ea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rPr>
              <a:t>b</a:t>
            </a:r>
            <a:r>
              <a:rPr kumimoji="0" lang="zh-CN" altLang="en-US" sz="2200" b="0" i="0" u="none" strike="noStrike" kern="0" cap="none" spc="0" normalizeH="0" baseline="0" noProof="0" dirty="0">
                <a:ln>
                  <a:noFill/>
                </a:ln>
                <a:solidFill>
                  <a:schemeClr val="accent2"/>
                </a:solidFill>
                <a:effectLst/>
                <a:uLnTx/>
                <a:uFillTx/>
                <a:latin typeface="+mn-lt"/>
                <a:ea typeface="+mn-ea"/>
              </a:rPr>
              <a:t>同时指派真值时没有矛盾。这就得到</a:t>
            </a:r>
            <a:r>
              <a:rPr kumimoji="0" lang="en-US" altLang="zh-CN" sz="2200" b="0" i="0" u="none" strike="noStrike" kern="0" cap="none" spc="0" normalizeH="0" baseline="0" noProof="0" dirty="0">
                <a:ln>
                  <a:noFill/>
                </a:ln>
                <a:solidFill>
                  <a:schemeClr val="accent2"/>
                </a:solidFill>
                <a:effectLst/>
                <a:uLnTx/>
                <a:uFillTx/>
                <a:latin typeface="+mn-lt"/>
                <a:ea typeface="+mn-ea"/>
              </a:rPr>
              <a:t>f</a:t>
            </a:r>
            <a:r>
              <a:rPr kumimoji="0" lang="zh-CN" altLang="en-US" sz="2200" b="0" i="0" u="none" strike="noStrike" kern="0" cap="none" spc="0" normalizeH="0" baseline="0" noProof="0" dirty="0">
                <a:ln>
                  <a:noFill/>
                </a:ln>
                <a:solidFill>
                  <a:schemeClr val="accent2"/>
                </a:solidFill>
                <a:effectLst/>
                <a:uLnTx/>
                <a:uFillTx/>
                <a:latin typeface="+mn-lt"/>
                <a:ea typeface="+mn-ea"/>
              </a:rPr>
              <a:t>是可满足的当且仅当存在着一个对于</a:t>
            </a:r>
            <a:r>
              <a:rPr kumimoji="0" lang="en-US" altLang="zh-CN" sz="2200" b="0" i="0" u="none" strike="noStrike" kern="0" cap="none" spc="0" normalizeH="0" baseline="0" noProof="0" dirty="0">
                <a:ln>
                  <a:noFill/>
                </a:ln>
                <a:solidFill>
                  <a:schemeClr val="accent2"/>
                </a:solidFill>
                <a:effectLst/>
                <a:uLnTx/>
                <a:uFillTx/>
                <a:latin typeface="+mn-lt"/>
                <a:ea typeface="+mn-ea"/>
              </a:rPr>
              <a:t>m</a:t>
            </a:r>
            <a:r>
              <a:rPr kumimoji="0" lang="zh-CN" altLang="en-US" sz="2200" b="0" i="0" u="none" strike="noStrike" kern="0" cap="none" spc="0" normalizeH="0" baseline="0" noProof="0" dirty="0">
                <a:ln>
                  <a:noFill/>
                </a:ln>
                <a:solidFill>
                  <a:schemeClr val="accent2"/>
                </a:solidFill>
                <a:effectLst/>
                <a:uLnTx/>
                <a:uFillTx/>
                <a:latin typeface="+mn-lt"/>
                <a:ea typeface="+mn-ea"/>
              </a:rPr>
              <a:t>个不同子句中的</a:t>
            </a:r>
            <a:r>
              <a:rPr kumimoji="0" lang="en-US" altLang="zh-CN" sz="2200" b="0" i="0" u="none" strike="noStrike" kern="0" cap="none" spc="0" normalizeH="0" baseline="0" noProof="0" dirty="0">
                <a:ln>
                  <a:noFill/>
                </a:ln>
                <a:solidFill>
                  <a:schemeClr val="accent2"/>
                </a:solidFill>
                <a:effectLst/>
                <a:uLnTx/>
                <a:uFillTx/>
                <a:latin typeface="+mn-lt"/>
                <a:ea typeface="+mn-ea"/>
              </a:rPr>
              <a:t>m</a:t>
            </a:r>
            <a:r>
              <a:rPr kumimoji="0" lang="zh-CN" altLang="en-US" sz="2200" b="0" i="0" u="none" strike="noStrike" kern="0" cap="none" spc="0" normalizeH="0" baseline="0" noProof="0" dirty="0">
                <a:ln>
                  <a:noFill/>
                </a:ln>
                <a:solidFill>
                  <a:schemeClr val="accent2"/>
                </a:solidFill>
                <a:effectLst/>
                <a:uLnTx/>
                <a:uFillTx/>
                <a:latin typeface="+mn-lt"/>
                <a:ea typeface="+mn-ea"/>
              </a:rPr>
              <a:t>个文字的真指派，当且仅当</a:t>
            </a:r>
            <a:r>
              <a:rPr kumimoji="0" lang="en-US" altLang="zh-CN" sz="2200" b="0" i="0" u="none" strike="noStrike" kern="0" cap="none" spc="0" normalizeH="0" baseline="0" noProof="0" dirty="0">
                <a:ln>
                  <a:noFill/>
                </a:ln>
                <a:solidFill>
                  <a:schemeClr val="accent2"/>
                </a:solidFill>
                <a:effectLst/>
                <a:uLnTx/>
                <a:uFillTx/>
                <a:latin typeface="+mn-lt"/>
                <a:ea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rPr>
              <a:t>有一个大小为</a:t>
            </a:r>
            <a:r>
              <a:rPr kumimoji="0" lang="en-US" altLang="zh-CN" sz="2200" b="0" i="0" u="none" strike="noStrike" kern="0" cap="none" spc="0" normalizeH="0" baseline="0" noProof="0" dirty="0">
                <a:ln>
                  <a:noFill/>
                </a:ln>
                <a:solidFill>
                  <a:schemeClr val="accent2"/>
                </a:solidFill>
                <a:effectLst/>
                <a:uLnTx/>
                <a:uFillTx/>
                <a:latin typeface="+mn-lt"/>
                <a:ea typeface="+mn-ea"/>
              </a:rPr>
              <a:t>m</a:t>
            </a:r>
            <a:r>
              <a:rPr kumimoji="0" lang="zh-CN" altLang="en-US" sz="2200" b="0" i="0" u="none" strike="noStrike" kern="0" cap="none" spc="0" normalizeH="0" baseline="0" noProof="0" dirty="0">
                <a:ln>
                  <a:noFill/>
                </a:ln>
                <a:solidFill>
                  <a:schemeClr val="accent2"/>
                </a:solidFill>
                <a:effectLst/>
                <a:uLnTx/>
                <a:uFillTx/>
                <a:latin typeface="+mn-lt"/>
                <a:ea typeface="+mn-ea"/>
              </a:rPr>
              <a:t>的团集。</a:t>
            </a:r>
            <a:endParaRPr kumimoji="0" lang="en-US" altLang="zh-CN" sz="2200" b="0" i="0" u="none" strike="noStrike" kern="0" cap="none" spc="0" normalizeH="0" baseline="0" noProof="0" dirty="0">
              <a:ln>
                <a:noFill/>
              </a:ln>
              <a:solidFill>
                <a:schemeClr val="accent2"/>
              </a:solidFill>
              <a:effectLst/>
              <a:uLnTx/>
              <a:uFillTx/>
              <a:latin typeface="+mn-lt"/>
              <a:ea typeface="+mn-ea"/>
            </a:endParaRPr>
          </a:p>
        </p:txBody>
      </p:sp>
      <p:pic>
        <p:nvPicPr>
          <p:cNvPr id="54276" name="Picture 4" descr="lemma"/>
          <p:cNvPicPr>
            <a:picLocks noChangeAspect="1"/>
          </p:cNvPicPr>
          <p:nvPr/>
        </p:nvPicPr>
        <p:blipFill>
          <a:blip r:embed="rId4"/>
          <a:stretch>
            <a:fillRect/>
          </a:stretch>
        </p:blipFill>
        <p:spPr>
          <a:xfrm>
            <a:off x="936625" y="1270000"/>
            <a:ext cx="358775" cy="358775"/>
          </a:xfrm>
          <a:prstGeom prst="rect">
            <a:avLst/>
          </a:prstGeom>
          <a:noFill/>
          <a:ln w="9525">
            <a:noFill/>
          </a:ln>
        </p:spPr>
      </p:pic>
      <p:sp>
        <p:nvSpPr>
          <p:cNvPr id="104453" name="Rectangle 6"/>
          <p:cNvSpPr>
            <a:spLocks noGrp="1"/>
          </p:cNvSpPr>
          <p:nvPr>
            <p:ph type="title"/>
          </p:nvPr>
        </p:nvSpPr>
        <p:spPr>
          <a:ln/>
        </p:spPr>
        <p:txBody>
          <a:bodyPr vert="horz" wrap="square" lIns="91440" tIns="45720" rIns="91440" bIns="45720" anchor="ctr" anchorCtr="0"/>
          <a:lstStyle/>
          <a:p>
            <a:pPr eaLnBrk="1" hangingPunct="1"/>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54276"/>
                                        </p:tgtEl>
                                        <p:attrNameLst>
                                          <p:attrName>style.visibility</p:attrName>
                                        </p:attrNameLst>
                                      </p:cBhvr>
                                      <p:to>
                                        <p:strVal val="visible"/>
                                      </p:to>
                                    </p:set>
                                    <p:anim calcmode="lin" valueType="num">
                                      <p:cBhvr>
                                        <p:cTn id="7" dur="500" fill="hold"/>
                                        <p:tgtEl>
                                          <p:spTgt spid="54276"/>
                                        </p:tgtEl>
                                        <p:attrNameLst>
                                          <p:attrName>ppt_w</p:attrName>
                                        </p:attrNameLst>
                                      </p:cBhvr>
                                      <p:tavLst>
                                        <p:tav tm="0">
                                          <p:val>
                                            <p:fltVal val="0"/>
                                          </p:val>
                                        </p:tav>
                                        <p:tav tm="100000">
                                          <p:val>
                                            <p:strVal val="#ppt_w"/>
                                          </p:val>
                                        </p:tav>
                                      </p:tavLst>
                                    </p:anim>
                                    <p:anim calcmode="lin" valueType="num">
                                      <p:cBhvr>
                                        <p:cTn id="8" dur="500" fill="hold"/>
                                        <p:tgtEl>
                                          <p:spTgt spid="54276"/>
                                        </p:tgtEl>
                                        <p:attrNameLst>
                                          <p:attrName>ppt_h</p:attrName>
                                        </p:attrNameLst>
                                      </p:cBhvr>
                                      <p:tavLst>
                                        <p:tav tm="0">
                                          <p:val>
                                            <p:fltVal val="0"/>
                                          </p:val>
                                        </p:tav>
                                        <p:tav tm="100000">
                                          <p:val>
                                            <p:strVal val="#ppt_h"/>
                                          </p:val>
                                        </p:tav>
                                      </p:tavLst>
                                    </p:anim>
                                    <p:anim calcmode="lin" valueType="num">
                                      <p:cBhvr>
                                        <p:cTn id="9" dur="500" fill="hold"/>
                                        <p:tgtEl>
                                          <p:spTgt spid="54276"/>
                                        </p:tgtEl>
                                        <p:attrNameLst>
                                          <p:attrName>style.rotation</p:attrName>
                                        </p:attrNameLst>
                                      </p:cBhvr>
                                      <p:tavLst>
                                        <p:tav tm="0">
                                          <p:val>
                                            <p:fltVal val="360"/>
                                          </p:val>
                                        </p:tav>
                                        <p:tav tm="100000">
                                          <p:val>
                                            <p:fltVal val="0"/>
                                          </p:val>
                                        </p:tav>
                                      </p:tavLst>
                                    </p:anim>
                                    <p:animEffect transition="in" filter="fade">
                                      <p:cBhvr>
                                        <p:cTn id="10" dur="500"/>
                                        <p:tgtEl>
                                          <p:spTgt spid="54276"/>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11" presetID="3" presetClass="entr" presetSubtype="10" fill="hold" nodeType="withEffect">
                                  <p:stCondLst>
                                    <p:cond delay="0"/>
                                  </p:stCondLst>
                                  <p:childTnLst>
                                    <p:set>
                                      <p:cBhvr>
                                        <p:cTn id="12" dur="1" fill="hold">
                                          <p:stCondLst>
                                            <p:cond delay="0"/>
                                          </p:stCondLst>
                                        </p:cTn>
                                        <p:tgtEl>
                                          <p:spTgt spid="54275">
                                            <p:txEl>
                                              <p:pRg st="0" end="0"/>
                                            </p:txEl>
                                          </p:spTgt>
                                        </p:tgtEl>
                                        <p:attrNameLst>
                                          <p:attrName>style.visibility</p:attrName>
                                        </p:attrNameLst>
                                      </p:cBhvr>
                                      <p:to>
                                        <p:strVal val="visible"/>
                                      </p:to>
                                    </p:set>
                                    <p:animEffect transition="in" filter="blinds(horizontal)">
                                      <p:cBhvr>
                                        <p:cTn id="13" dur="500"/>
                                        <p:tgtEl>
                                          <p:spTgt spid="5427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nodeType="clickEffect">
                                  <p:stCondLst>
                                    <p:cond delay="0"/>
                                  </p:stCondLst>
                                  <p:iterate type="lt">
                                    <p:tmPct val="50000"/>
                                  </p:iterate>
                                  <p:childTnLst>
                                    <p:set>
                                      <p:cBhvr>
                                        <p:cTn id="17" dur="1" fill="hold">
                                          <p:stCondLst>
                                            <p:cond delay="0"/>
                                          </p:stCondLst>
                                        </p:cTn>
                                        <p:tgtEl>
                                          <p:spTgt spid="54275">
                                            <p:txEl>
                                              <p:pRg st="1" end="1"/>
                                            </p:txEl>
                                          </p:spTgt>
                                        </p:tgtEl>
                                        <p:attrNameLst>
                                          <p:attrName>style.visibility</p:attrName>
                                        </p:attrNameLst>
                                      </p:cBhvr>
                                      <p:to>
                                        <p:strVal val="visible"/>
                                      </p:to>
                                    </p:set>
                                    <p:anim calcmode="discrete" valueType="clr">
                                      <p:cBhvr override="childStyle">
                                        <p:cTn id="18" dur="80"/>
                                        <p:tgtEl>
                                          <p:spTgt spid="5427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54275">
                                            <p:txEl>
                                              <p:pRg st="1" end="1"/>
                                            </p:txEl>
                                          </p:spTgt>
                                        </p:tgtEl>
                                        <p:attrNameLst>
                                          <p:attrName>fillcolor</p:attrName>
                                        </p:attrNameLst>
                                      </p:cBhvr>
                                      <p:tavLst>
                                        <p:tav tm="0">
                                          <p:val>
                                            <p:clrVal>
                                              <a:schemeClr val="accent2"/>
                                            </p:clrVal>
                                          </p:val>
                                        </p:tav>
                                        <p:tav tm="50000">
                                          <p:val>
                                            <p:clrVal>
                                              <a:schemeClr val="hlink"/>
                                            </p:clrVal>
                                          </p:val>
                                        </p:tav>
                                      </p:tavLst>
                                    </p:anim>
                                    <p:set>
                                      <p:cBhvr>
                                        <p:cTn id="20" dur="80"/>
                                        <p:tgtEl>
                                          <p:spTgt spid="54275">
                                            <p:txEl>
                                              <p:pRg st="1" end="1"/>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54275">
                                            <p:txEl>
                                              <p:pRg st="2" end="2"/>
                                            </p:txEl>
                                          </p:spTgt>
                                        </p:tgtEl>
                                        <p:attrNameLst>
                                          <p:attrName>style.visibility</p:attrName>
                                        </p:attrNameLst>
                                      </p:cBhvr>
                                      <p:to>
                                        <p:strVal val="visible"/>
                                      </p:to>
                                    </p:set>
                                    <p:animEffect transition="in" filter="blinds(horizontal)">
                                      <p:cBhvr>
                                        <p:cTn id="25" dur="500"/>
                                        <p:tgtEl>
                                          <p:spTgt spid="5427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9" presetClass="entr" presetSubtype="0" decel="100000" fill="hold" nodeType="clickEffect">
                                  <p:stCondLst>
                                    <p:cond delay="0"/>
                                  </p:stCondLst>
                                  <p:childTnLst>
                                    <p:set>
                                      <p:cBhvr>
                                        <p:cTn id="29" dur="1" fill="hold">
                                          <p:stCondLst>
                                            <p:cond delay="0"/>
                                          </p:stCondLst>
                                        </p:cTn>
                                        <p:tgtEl>
                                          <p:spTgt spid="54275">
                                            <p:txEl>
                                              <p:pRg st="3" end="3"/>
                                            </p:txEl>
                                          </p:spTgt>
                                        </p:tgtEl>
                                        <p:attrNameLst>
                                          <p:attrName>style.visibility</p:attrName>
                                        </p:attrNameLst>
                                      </p:cBhvr>
                                      <p:to>
                                        <p:strVal val="visible"/>
                                      </p:to>
                                    </p:set>
                                    <p:anim calcmode="lin" valueType="num">
                                      <p:cBhvr>
                                        <p:cTn id="30" dur="500" fill="hold"/>
                                        <p:tgtEl>
                                          <p:spTgt spid="54275">
                                            <p:txEl>
                                              <p:pRg st="3" end="3"/>
                                            </p:txEl>
                                          </p:spTgt>
                                        </p:tgtEl>
                                        <p:attrNameLst>
                                          <p:attrName>ppt_w</p:attrName>
                                        </p:attrNameLst>
                                      </p:cBhvr>
                                      <p:tavLst>
                                        <p:tav tm="0">
                                          <p:val>
                                            <p:fltVal val="0"/>
                                          </p:val>
                                        </p:tav>
                                        <p:tav tm="100000">
                                          <p:val>
                                            <p:strVal val="#ppt_w"/>
                                          </p:val>
                                        </p:tav>
                                      </p:tavLst>
                                    </p:anim>
                                    <p:anim calcmode="lin" valueType="num">
                                      <p:cBhvr>
                                        <p:cTn id="31" dur="500" fill="hold"/>
                                        <p:tgtEl>
                                          <p:spTgt spid="54275">
                                            <p:txEl>
                                              <p:pRg st="3" end="3"/>
                                            </p:txEl>
                                          </p:spTgt>
                                        </p:tgtEl>
                                        <p:attrNameLst>
                                          <p:attrName>ppt_h</p:attrName>
                                        </p:attrNameLst>
                                      </p:cBhvr>
                                      <p:tavLst>
                                        <p:tav tm="0">
                                          <p:val>
                                            <p:fltVal val="0"/>
                                          </p:val>
                                        </p:tav>
                                        <p:tav tm="100000">
                                          <p:val>
                                            <p:strVal val="#ppt_h"/>
                                          </p:val>
                                        </p:tav>
                                      </p:tavLst>
                                    </p:anim>
                                    <p:anim calcmode="lin" valueType="num">
                                      <p:cBhvr>
                                        <p:cTn id="32" dur="500" fill="hold"/>
                                        <p:tgtEl>
                                          <p:spTgt spid="54275">
                                            <p:txEl>
                                              <p:pRg st="3" end="3"/>
                                            </p:txEl>
                                          </p:spTgt>
                                        </p:tgtEl>
                                        <p:attrNameLst>
                                          <p:attrName>style.rotation</p:attrName>
                                        </p:attrNameLst>
                                      </p:cBhvr>
                                      <p:tavLst>
                                        <p:tav tm="0">
                                          <p:val>
                                            <p:fltVal val="360"/>
                                          </p:val>
                                        </p:tav>
                                        <p:tav tm="100000">
                                          <p:val>
                                            <p:fltVal val="0"/>
                                          </p:val>
                                        </p:tav>
                                      </p:tavLst>
                                    </p:anim>
                                    <p:animEffect transition="in" filter="fade">
                                      <p:cBhvr>
                                        <p:cTn id="33" dur="500"/>
                                        <p:tgtEl>
                                          <p:spTgt spid="54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p:cNvSpPr>
          <p:nvPr>
            <p:ph type="title"/>
          </p:nvPr>
        </p:nvSpPr>
        <p:spPr>
          <a:ln/>
        </p:spPr>
        <p:txBody>
          <a:bodyPr vert="horz" wrap="square" lIns="91440" tIns="45720" rIns="91440" bIns="45720" anchor="ctr" anchorCtr="0"/>
          <a:lstStyle/>
          <a:p>
            <a:r>
              <a:rPr lang="zh-CN" altLang="en-US" dirty="0"/>
              <a:t>可满足性</a:t>
            </a:r>
            <a:r>
              <a:rPr lang="zh-CN" altLang="en-US" b="1" dirty="0">
                <a:solidFill>
                  <a:srgbClr val="FF0000"/>
                </a:solidFill>
              </a:rPr>
              <a:t>∝</a:t>
            </a:r>
            <a:r>
              <a:rPr lang="en-US" altLang="zh-CN" b="1" baseline="-25000" dirty="0">
                <a:solidFill>
                  <a:srgbClr val="FF0000"/>
                </a:solidFill>
              </a:rPr>
              <a:t>poly</a:t>
            </a:r>
            <a:r>
              <a:rPr lang="zh-CN" altLang="en-US" b="1" dirty="0">
                <a:solidFill>
                  <a:srgbClr val="FF0000"/>
                </a:solidFill>
              </a:rPr>
              <a:t>团集问题</a:t>
            </a:r>
          </a:p>
        </p:txBody>
      </p:sp>
      <p:sp>
        <p:nvSpPr>
          <p:cNvPr id="359427" name="Rectangle 3"/>
          <p:cNvSpPr>
            <a:spLocks noGrp="1" noChangeArrowheads="1"/>
          </p:cNvSpPr>
          <p:nvPr>
            <p:ph type="body" sz="half" idx="1"/>
          </p:nvPr>
        </p:nvSpPr>
        <p:spPr>
          <a:xfrm>
            <a:off x="457200" y="1600200"/>
            <a:ext cx="8686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500" b="1" i="0" u="none" strike="noStrike" kern="0" cap="none" spc="0" normalizeH="0" baseline="0" noProof="0" dirty="0">
                <a:ln>
                  <a:noFill/>
                </a:ln>
                <a:solidFill>
                  <a:schemeClr val="accent2"/>
                </a:solidFill>
                <a:effectLst/>
                <a:uLnTx/>
                <a:uFillTx/>
                <a:latin typeface="+mn-lt"/>
                <a:ea typeface="+mn-ea"/>
                <a:cs typeface="+mn-cs"/>
              </a:rPr>
              <a:t>对于任意一个合取范式，按照如下方式构造相应的图</a:t>
            </a:r>
            <a:r>
              <a:rPr kumimoji="0" lang="en-US" altLang="zh-CN" sz="2500" b="1" i="0" u="none" strike="noStrike" kern="0" cap="none" spc="0" normalizeH="0" baseline="0" noProof="0" dirty="0">
                <a:ln>
                  <a:noFill/>
                </a:ln>
                <a:solidFill>
                  <a:schemeClr val="accent2"/>
                </a:solidFill>
                <a:effectLst/>
                <a:uLnTx/>
                <a:uFillTx/>
                <a:latin typeface="+mn-lt"/>
                <a:ea typeface="+mn-ea"/>
                <a:cs typeface="+mn-cs"/>
              </a:rPr>
              <a:t>G</a:t>
            </a:r>
            <a:r>
              <a:rPr kumimoji="0" lang="zh-CN" altLang="en-US" sz="2500" b="1" i="0" u="none" strike="noStrike" kern="0" cap="none" spc="0" normalizeH="0" baseline="0" noProof="0" dirty="0">
                <a:ln>
                  <a:noFill/>
                </a:ln>
                <a:solidFill>
                  <a:schemeClr val="accent2"/>
                </a:solidFill>
                <a:effectLst/>
                <a:uLnTx/>
                <a:uFillTx/>
                <a:latin typeface="+mn-lt"/>
                <a:ea typeface="+mn-ea"/>
                <a:cs typeface="+mn-cs"/>
              </a:rPr>
              <a:t>：</a:t>
            </a:r>
          </a:p>
          <a:p>
            <a:pPr marL="342900" marR="0" lvl="0" indent="-342900" algn="l" defTabSz="914400" rtl="0" eaLnBrk="0" fontAlgn="base" latinLnBrk="0" hangingPunct="0">
              <a:lnSpc>
                <a:spcPct val="12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accent2"/>
                </a:solidFill>
                <a:effectLst/>
                <a:uLnTx/>
                <a:uFillTx/>
                <a:latin typeface="+mn-lt"/>
                <a:ea typeface="+mn-ea"/>
                <a:cs typeface="+mn-cs"/>
              </a:rPr>
              <a:t>例如</a:t>
            </a:r>
            <a:r>
              <a:rPr kumimoji="0" lang="zh-CN" altLang="en-US" sz="2000" b="1" i="0" u="none" strike="noStrike" kern="0" cap="none" spc="0" normalizeH="0" baseline="0" noProof="0" dirty="0">
                <a:ln>
                  <a:noFill/>
                </a:ln>
                <a:solidFill>
                  <a:schemeClr val="accent2"/>
                </a:solidFill>
                <a:effectLst/>
                <a:uLnTx/>
                <a:uFillTx/>
                <a:latin typeface="+mn-lt"/>
                <a:ea typeface="+mn-ea"/>
                <a:cs typeface="+mn-cs"/>
              </a:rPr>
              <a:t> </a:t>
            </a: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 </a:t>
            </a: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0" i="0" u="none" strike="noStrike" kern="0" cap="none" spc="0" normalizeH="0" baseline="0" noProof="0" dirty="0">
                <a:ln>
                  <a:noFill/>
                </a:ln>
                <a:solidFill>
                  <a:schemeClr val="accent2"/>
                </a:solidFill>
                <a:effectLst/>
                <a:uLnTx/>
                <a:uFillTx/>
                <a:latin typeface="+mn-lt"/>
                <a:ea typeface="+mn-ea"/>
              </a:rPr>
              <a:t>图</a:t>
            </a:r>
            <a:r>
              <a:rPr kumimoji="0" lang="en-US" altLang="zh-CN" sz="2200" b="0" i="0" u="none" strike="noStrike" kern="0" cap="none" spc="0" normalizeH="0" baseline="0" noProof="0" dirty="0">
                <a:ln>
                  <a:noFill/>
                </a:ln>
                <a:solidFill>
                  <a:schemeClr val="accent2"/>
                </a:solidFill>
                <a:effectLst/>
                <a:uLnTx/>
                <a:uFillTx/>
                <a:latin typeface="+mn-lt"/>
                <a:ea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rPr>
              <a:t>的每个顶点对应于</a:t>
            </a:r>
            <a:r>
              <a:rPr kumimoji="0" lang="en-US" altLang="zh-CN" sz="2200" b="0" i="0" u="none" strike="noStrike" kern="0" cap="none" spc="0" normalizeH="0" baseline="0" noProof="0" dirty="0">
                <a:ln>
                  <a:noFill/>
                </a:ln>
                <a:solidFill>
                  <a:schemeClr val="accent2"/>
                </a:solidFill>
                <a:effectLst/>
                <a:uLnTx/>
                <a:uFillTx/>
                <a:latin typeface="+mn-lt"/>
                <a:ea typeface="+mn-ea"/>
              </a:rPr>
              <a:t>f</a:t>
            </a:r>
            <a:r>
              <a:rPr kumimoji="0" lang="zh-CN" altLang="en-US" sz="2200" b="0" i="0" u="none" strike="noStrike" kern="0" cap="none" spc="0" normalizeH="0" baseline="0" noProof="0" dirty="0">
                <a:ln>
                  <a:noFill/>
                </a:ln>
                <a:solidFill>
                  <a:schemeClr val="accent2"/>
                </a:solidFill>
                <a:effectLst/>
                <a:uLnTx/>
                <a:uFillTx/>
                <a:latin typeface="+mn-lt"/>
                <a:ea typeface="+mn-ea"/>
              </a:rPr>
              <a:t>中的每个文字，多次出现的重复表示；</a:t>
            </a:r>
          </a:p>
          <a:p>
            <a:pPr marL="742950" marR="0" lvl="1" indent="-285750" algn="l" defTabSz="914400" rtl="0" eaLnBrk="0" fontAlgn="base" latinLnBrk="0" hangingPunct="0">
              <a:lnSpc>
                <a:spcPct val="120000"/>
              </a:lnSpc>
              <a:spcBef>
                <a:spcPct val="20000"/>
              </a:spcBef>
              <a:spcAft>
                <a:spcPct val="0"/>
              </a:spcAft>
              <a:buClrTx/>
              <a:buSzTx/>
              <a:buFont typeface="Wingdings" panose="05000000000000000000" pitchFamily="2" charset="2"/>
              <a:buChar char="Ø"/>
              <a:defRPr/>
            </a:pPr>
            <a:r>
              <a:rPr kumimoji="0" lang="zh-CN" altLang="en-US" sz="2200" b="0" i="0" u="none" strike="noStrike" kern="0" cap="none" spc="0" normalizeH="0" baseline="0" noProof="0" dirty="0">
                <a:ln>
                  <a:noFill/>
                </a:ln>
                <a:solidFill>
                  <a:schemeClr val="accent2"/>
                </a:solidFill>
                <a:effectLst/>
                <a:uLnTx/>
                <a:uFillTx/>
                <a:latin typeface="+mn-lt"/>
                <a:ea typeface="+mn-ea"/>
              </a:rPr>
              <a:t>若图</a:t>
            </a:r>
            <a:r>
              <a:rPr kumimoji="0" lang="en-US" altLang="zh-CN" sz="2200" b="0" i="0" u="none" strike="noStrike" kern="0" cap="none" spc="0" normalizeH="0" baseline="0" noProof="0" dirty="0">
                <a:ln>
                  <a:noFill/>
                </a:ln>
                <a:solidFill>
                  <a:schemeClr val="accent2"/>
                </a:solidFill>
                <a:effectLst/>
                <a:uLnTx/>
                <a:uFillTx/>
                <a:latin typeface="+mn-lt"/>
                <a:ea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rPr>
              <a:t>中两个顶点对应的</a:t>
            </a:r>
            <a:r>
              <a:rPr kumimoji="0" lang="zh-CN" altLang="en-US" sz="2200" b="0" i="0" u="none" strike="noStrike" kern="0" cap="none" spc="0" normalizeH="0" baseline="0" noProof="0" dirty="0">
                <a:ln>
                  <a:noFill/>
                </a:ln>
                <a:solidFill>
                  <a:srgbClr val="FF0000"/>
                </a:solidFill>
                <a:effectLst/>
                <a:uLnTx/>
                <a:uFillTx/>
                <a:latin typeface="+mn-lt"/>
                <a:ea typeface="+mn-ea"/>
              </a:rPr>
              <a:t>文字不互补，且不出现在同一子句中</a:t>
            </a:r>
            <a:r>
              <a:rPr kumimoji="0" lang="zh-CN" altLang="en-US" sz="2200" b="0" i="0" u="none" strike="noStrike" kern="0" cap="none" spc="0" normalizeH="0" baseline="0" noProof="0" dirty="0">
                <a:ln>
                  <a:noFill/>
                </a:ln>
                <a:solidFill>
                  <a:schemeClr val="accent2"/>
                </a:solidFill>
                <a:effectLst/>
                <a:uLnTx/>
                <a:uFillTx/>
                <a:latin typeface="+mn-lt"/>
                <a:ea typeface="+mn-ea"/>
              </a:rPr>
              <a:t>，则将其连线。（</a:t>
            </a:r>
            <a:r>
              <a:rPr kumimoji="0" lang="en-US" altLang="zh-CN" sz="2200" b="0" i="0" u="none" strike="noStrike" kern="0" cap="none" spc="0" normalizeH="0" baseline="0" noProof="0" dirty="0">
                <a:ln>
                  <a:noFill/>
                </a:ln>
                <a:solidFill>
                  <a:schemeClr val="accent2"/>
                </a:solidFill>
                <a:effectLst/>
                <a:uLnTx/>
                <a:uFillTx/>
                <a:latin typeface="+mn-lt"/>
                <a:ea typeface="+mn-ea"/>
              </a:rPr>
              <a:t>a-b</a:t>
            </a:r>
            <a:r>
              <a:rPr kumimoji="0" lang="zh-CN" altLang="en-US" sz="2200" b="0" i="0" u="none" strike="noStrike" kern="0" cap="none" spc="0" normalizeH="0" baseline="0" noProof="0" dirty="0">
                <a:ln>
                  <a:noFill/>
                </a:ln>
                <a:solidFill>
                  <a:schemeClr val="accent2"/>
                </a:solidFill>
                <a:effectLst/>
                <a:uLnTx/>
                <a:uFillTx/>
                <a:latin typeface="+mn-lt"/>
                <a:ea typeface="+mn-ea"/>
              </a:rPr>
              <a:t>连线意味着</a:t>
            </a:r>
            <a:r>
              <a:rPr kumimoji="0" lang="en-US" altLang="zh-CN" sz="2200" b="0" i="0" u="none" strike="noStrike" kern="0" cap="none" spc="0" normalizeH="0" baseline="0" noProof="0" dirty="0">
                <a:ln>
                  <a:noFill/>
                </a:ln>
                <a:solidFill>
                  <a:schemeClr val="accent2"/>
                </a:solidFill>
                <a:effectLst/>
                <a:uLnTx/>
                <a:uFillTx/>
                <a:latin typeface="+mn-lt"/>
                <a:ea typeface="+mn-ea"/>
              </a:rPr>
              <a:t>a</a:t>
            </a:r>
            <a:r>
              <a:rPr kumimoji="0" lang="zh-CN" altLang="en-US" sz="2200" b="0" i="0" u="none" strike="noStrike" kern="0" cap="none" spc="0" normalizeH="0" baseline="0" noProof="0" dirty="0">
                <a:ln>
                  <a:noFill/>
                </a:ln>
                <a:solidFill>
                  <a:schemeClr val="accent2"/>
                </a:solidFill>
                <a:effectLst/>
                <a:uLnTx/>
                <a:uFillTx/>
                <a:latin typeface="+mn-lt"/>
                <a:ea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rPr>
              <a:t>b</a:t>
            </a:r>
            <a:r>
              <a:rPr kumimoji="0" lang="zh-CN" altLang="en-US" sz="2200" b="0" i="0" u="none" strike="noStrike" kern="0" cap="none" spc="0" normalizeH="0" baseline="0" noProof="0" dirty="0">
                <a:ln>
                  <a:noFill/>
                </a:ln>
                <a:solidFill>
                  <a:schemeClr val="accent2"/>
                </a:solidFill>
                <a:effectLst/>
                <a:uLnTx/>
                <a:uFillTx/>
                <a:latin typeface="+mn-lt"/>
                <a:ea typeface="+mn-ea"/>
              </a:rPr>
              <a:t>同时为真）</a:t>
            </a: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cs"/>
            </a:endParaRPr>
          </a:p>
        </p:txBody>
      </p:sp>
      <p:graphicFrame>
        <p:nvGraphicFramePr>
          <p:cNvPr id="106500" name="Object 2"/>
          <p:cNvGraphicFramePr>
            <a:graphicFrameLocks noGrp="1" noChangeAspect="1"/>
          </p:cNvGraphicFramePr>
          <p:nvPr>
            <p:ph sz="half" idx="2"/>
          </p:nvPr>
        </p:nvGraphicFramePr>
        <p:xfrm>
          <a:off x="1219200" y="2209800"/>
          <a:ext cx="4038600" cy="504825"/>
        </p:xfrm>
        <a:graphic>
          <a:graphicData uri="http://schemas.openxmlformats.org/presentationml/2006/ole">
            <mc:AlternateContent xmlns:mc="http://schemas.openxmlformats.org/markup-compatibility/2006">
              <mc:Choice xmlns:v="urn:schemas-microsoft-com:vml" Requires="v">
                <p:oleObj spid="_x0000_s7182" r:id="rId4" imgW="1828800" imgH="228600" progId="Equation.DSMT4">
                  <p:embed/>
                </p:oleObj>
              </mc:Choice>
              <mc:Fallback>
                <p:oleObj r:id="rId4" imgW="1828800" imgH="228600" progId="Equation.DSMT4">
                  <p:embed/>
                  <p:pic>
                    <p:nvPicPr>
                      <p:cNvPr id="0" name="图片 3079"/>
                      <p:cNvPicPr/>
                      <p:nvPr/>
                    </p:nvPicPr>
                    <p:blipFill>
                      <a:blip r:embed="rId5"/>
                      <a:srcRect/>
                      <a:stretch>
                        <a:fillRect/>
                      </a:stretch>
                    </p:blipFill>
                    <p:spPr>
                      <a:xfrm>
                        <a:off x="1219200" y="2209800"/>
                        <a:ext cx="4038600" cy="504825"/>
                      </a:xfrm>
                      <a:prstGeom prst="rect">
                        <a:avLst/>
                      </a:prstGeom>
                      <a:noFill/>
                      <a:ln w="38100">
                        <a:miter/>
                      </a:ln>
                    </p:spPr>
                  </p:pic>
                </p:oleObj>
              </mc:Fallback>
            </mc:AlternateContent>
          </a:graphicData>
        </a:graphic>
      </p:graphicFrame>
      <p:pic>
        <p:nvPicPr>
          <p:cNvPr id="106501" name="Picture 30"/>
          <p:cNvPicPr>
            <a:picLocks noChangeAspect="1"/>
          </p:cNvPicPr>
          <p:nvPr/>
        </p:nvPicPr>
        <p:blipFill>
          <a:blip r:embed="rId6"/>
          <a:stretch>
            <a:fillRect/>
          </a:stretch>
        </p:blipFill>
        <p:spPr>
          <a:xfrm>
            <a:off x="2514600" y="4038600"/>
            <a:ext cx="4257675" cy="2066925"/>
          </a:xfrm>
          <a:prstGeom prst="rect">
            <a:avLst/>
          </a:prstGeom>
          <a:noFill/>
          <a:ln w="9525">
            <a:noFill/>
          </a:ln>
        </p:spPr>
      </p:pic>
      <p:sp>
        <p:nvSpPr>
          <p:cNvPr id="10650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5" name="Rectangle 3"/>
          <p:cNvSpPr>
            <a:spLocks noGrp="1"/>
          </p:cNvSpPr>
          <p:nvPr>
            <p:ph idx="1"/>
          </p:nvPr>
        </p:nvSpPr>
        <p:spPr>
          <a:xfrm>
            <a:off x="457200" y="1600200"/>
            <a:ext cx="8229600" cy="5029200"/>
          </a:xfrm>
          <a:ln/>
        </p:spPr>
        <p:txBody>
          <a:bodyPr vert="horz" wrap="square" lIns="91440" tIns="45720" rIns="91440" bIns="45720" anchor="t" anchorCtr="0"/>
          <a:lstStyle/>
          <a:p>
            <a:pPr>
              <a:lnSpc>
                <a:spcPct val="120000"/>
              </a:lnSpc>
              <a:buNone/>
            </a:pPr>
            <a:r>
              <a:rPr lang="zh-CN" altLang="en-US" dirty="0"/>
              <a:t>设</a:t>
            </a:r>
            <a:r>
              <a:rPr lang="en-US" altLang="zh-CN" dirty="0"/>
              <a:t>f</a:t>
            </a:r>
            <a:r>
              <a:rPr lang="zh-CN" altLang="en-US" dirty="0"/>
              <a:t>有</a:t>
            </a:r>
            <a:r>
              <a:rPr lang="en-US" altLang="zh-CN" dirty="0"/>
              <a:t>n</a:t>
            </a:r>
            <a:r>
              <a:rPr lang="zh-CN" altLang="en-US" dirty="0"/>
              <a:t>个子句，则：</a:t>
            </a:r>
            <a:r>
              <a:rPr lang="en-US" altLang="zh-CN" dirty="0"/>
              <a:t>f</a:t>
            </a:r>
            <a:r>
              <a:rPr lang="zh-CN" altLang="en-US" dirty="0"/>
              <a:t>可满足</a:t>
            </a:r>
            <a:endParaRPr lang="zh-CN" altLang="en-US" dirty="0">
              <a:sym typeface="Symbol" panose="05050102010706020507" pitchFamily="18" charset="2"/>
            </a:endParaRPr>
          </a:p>
          <a:p>
            <a:pPr>
              <a:lnSpc>
                <a:spcPct val="120000"/>
              </a:lnSpc>
            </a:pPr>
            <a:r>
              <a:rPr lang="zh-CN" altLang="en-US" dirty="0">
                <a:sym typeface="Symbol" panose="05050102010706020507" pitchFamily="18" charset="2"/>
              </a:rPr>
              <a:t></a:t>
            </a:r>
            <a:r>
              <a:rPr lang="zh-CN" altLang="en-US" dirty="0"/>
              <a:t> </a:t>
            </a:r>
            <a:r>
              <a:rPr lang="en-US" altLang="zh-CN" dirty="0"/>
              <a:t>n</a:t>
            </a:r>
            <a:r>
              <a:rPr lang="zh-CN" altLang="en-US" dirty="0"/>
              <a:t>个子句同时为真</a:t>
            </a:r>
            <a:endParaRPr lang="zh-CN" altLang="en-US" dirty="0">
              <a:sym typeface="Symbol" panose="05050102010706020507" pitchFamily="18" charset="2"/>
            </a:endParaRPr>
          </a:p>
          <a:p>
            <a:pPr>
              <a:lnSpc>
                <a:spcPct val="120000"/>
              </a:lnSpc>
            </a:pPr>
            <a:r>
              <a:rPr lang="zh-CN" altLang="en-US" dirty="0">
                <a:sym typeface="Symbol" panose="05050102010706020507" pitchFamily="18" charset="2"/>
              </a:rPr>
              <a:t></a:t>
            </a:r>
            <a:r>
              <a:rPr lang="zh-CN" altLang="en-US" dirty="0"/>
              <a:t>每个子句至少</a:t>
            </a:r>
            <a:r>
              <a:rPr lang="en-US" altLang="zh-CN" dirty="0"/>
              <a:t>1</a:t>
            </a:r>
            <a:r>
              <a:rPr lang="zh-CN" altLang="en-US" dirty="0"/>
              <a:t>个文字为真</a:t>
            </a:r>
            <a:endParaRPr lang="zh-CN" altLang="en-US" dirty="0">
              <a:sym typeface="Symbol" panose="05050102010706020507" pitchFamily="18" charset="2"/>
            </a:endParaRPr>
          </a:p>
          <a:p>
            <a:pPr>
              <a:lnSpc>
                <a:spcPct val="120000"/>
              </a:lnSpc>
            </a:pPr>
            <a:r>
              <a:rPr lang="zh-CN" altLang="en-US" dirty="0">
                <a:sym typeface="Symbol" panose="05050102010706020507" pitchFamily="18" charset="2"/>
              </a:rPr>
              <a:t></a:t>
            </a:r>
            <a:r>
              <a:rPr lang="en-US" altLang="zh-CN" dirty="0"/>
              <a:t>G</a:t>
            </a:r>
            <a:r>
              <a:rPr lang="zh-CN" altLang="en-US" dirty="0"/>
              <a:t>中有</a:t>
            </a:r>
            <a:r>
              <a:rPr lang="en-US" altLang="zh-CN" dirty="0"/>
              <a:t>n</a:t>
            </a:r>
            <a:r>
              <a:rPr lang="zh-CN" altLang="en-US" dirty="0"/>
              <a:t>个顶点之间彼此相连</a:t>
            </a:r>
            <a:endParaRPr lang="zh-CN" altLang="en-US" dirty="0">
              <a:sym typeface="Symbol" panose="05050102010706020507" pitchFamily="18" charset="2"/>
            </a:endParaRPr>
          </a:p>
          <a:p>
            <a:pPr>
              <a:lnSpc>
                <a:spcPct val="120000"/>
              </a:lnSpc>
            </a:pPr>
            <a:r>
              <a:rPr lang="zh-CN" altLang="en-US" dirty="0">
                <a:sym typeface="Symbol" panose="05050102010706020507" pitchFamily="18" charset="2"/>
              </a:rPr>
              <a:t></a:t>
            </a:r>
            <a:r>
              <a:rPr lang="en-US" altLang="zh-CN" dirty="0"/>
              <a:t>G</a:t>
            </a:r>
            <a:r>
              <a:rPr lang="zh-CN" altLang="en-US" dirty="0"/>
              <a:t>中有</a:t>
            </a:r>
            <a:r>
              <a:rPr lang="en-US" altLang="zh-CN" dirty="0"/>
              <a:t>n</a:t>
            </a:r>
            <a:r>
              <a:rPr lang="zh-CN" altLang="en-US" dirty="0"/>
              <a:t>个顶点的团</a:t>
            </a:r>
            <a:endParaRPr lang="en-US" altLang="zh-CN" dirty="0"/>
          </a:p>
          <a:p>
            <a:pPr>
              <a:lnSpc>
                <a:spcPct val="120000"/>
              </a:lnSpc>
            </a:pPr>
            <a:endParaRPr lang="zh-CN" altLang="en-US" dirty="0"/>
          </a:p>
          <a:p>
            <a:pPr>
              <a:buNone/>
            </a:pPr>
            <a:r>
              <a:rPr lang="zh-CN" altLang="en-US" dirty="0"/>
              <a:t>    显然，上述构造图</a:t>
            </a:r>
            <a:r>
              <a:rPr lang="en-US" altLang="zh-CN" dirty="0"/>
              <a:t>G</a:t>
            </a:r>
            <a:r>
              <a:rPr lang="zh-CN" altLang="en-US" dirty="0"/>
              <a:t>的方法可在多项式时间内完成，故有：</a:t>
            </a:r>
            <a:r>
              <a:rPr lang="en-US" altLang="zh-CN" dirty="0"/>
              <a:t>SAT∝</a:t>
            </a:r>
            <a:r>
              <a:rPr lang="en-US" altLang="zh-CN" baseline="-25000" dirty="0"/>
              <a:t>poly</a:t>
            </a:r>
            <a:r>
              <a:rPr lang="zh-CN" altLang="en-US" dirty="0"/>
              <a:t>团问题。</a:t>
            </a:r>
          </a:p>
          <a:p>
            <a:pPr>
              <a:buNone/>
            </a:pPr>
            <a:r>
              <a:rPr lang="zh-CN" altLang="en-US" dirty="0"/>
              <a:t>由以上证明可知，团问题是</a:t>
            </a:r>
            <a:r>
              <a:rPr lang="en-US" altLang="zh-CN" dirty="0"/>
              <a:t>NP</a:t>
            </a:r>
            <a:r>
              <a:rPr lang="zh-CN" altLang="en-US" dirty="0"/>
              <a:t>完全问题。</a:t>
            </a:r>
          </a:p>
        </p:txBody>
      </p:sp>
      <p:sp>
        <p:nvSpPr>
          <p:cNvPr id="108547" name="Rectangle 4"/>
          <p:cNvSpPr>
            <a:spLocks noGrp="1"/>
          </p:cNvSpPr>
          <p:nvPr>
            <p:ph type="title"/>
          </p:nvPr>
        </p:nvSpPr>
        <p:spPr>
          <a:ln/>
        </p:spPr>
        <p:txBody>
          <a:bodyPr vert="horz" wrap="square" lIns="91440" tIns="45720" rIns="91440" bIns="45720" anchor="ctr" anchorCtr="0"/>
          <a:lstStyle/>
          <a:p>
            <a:r>
              <a:rPr lang="en-US" altLang="zh-CN" b="1" dirty="0"/>
              <a:t>SAT</a:t>
            </a:r>
            <a:r>
              <a:rPr lang="zh-CN" altLang="en-US" b="1" dirty="0"/>
              <a:t>问题∝</a:t>
            </a:r>
            <a:r>
              <a:rPr lang="en-US" altLang="zh-CN" b="1" baseline="-25000" dirty="0">
                <a:solidFill>
                  <a:srgbClr val="FF0000"/>
                </a:solidFill>
              </a:rPr>
              <a:t>poly</a:t>
            </a:r>
            <a:r>
              <a:rPr lang="zh-CN" altLang="en-US" b="1" dirty="0">
                <a:solidFill>
                  <a:srgbClr val="FF0000"/>
                </a:solidFill>
              </a:rPr>
              <a:t>团问题</a:t>
            </a:r>
          </a:p>
        </p:txBody>
      </p:sp>
      <p:pic>
        <p:nvPicPr>
          <p:cNvPr id="108548" name="Picture 5"/>
          <p:cNvPicPr>
            <a:picLocks noChangeAspect="1"/>
          </p:cNvPicPr>
          <p:nvPr/>
        </p:nvPicPr>
        <p:blipFill>
          <a:blip r:embed="rId2"/>
          <a:stretch>
            <a:fillRect/>
          </a:stretch>
        </p:blipFill>
        <p:spPr>
          <a:xfrm>
            <a:off x="5181600" y="914400"/>
            <a:ext cx="3724275" cy="1806575"/>
          </a:xfrm>
          <a:prstGeom prst="rect">
            <a:avLst/>
          </a:prstGeom>
          <a:noFill/>
          <a:ln w="9525">
            <a:noFill/>
          </a:ln>
        </p:spPr>
      </p:pic>
      <p:grpSp>
        <p:nvGrpSpPr>
          <p:cNvPr id="2" name="Group 8"/>
          <p:cNvGrpSpPr/>
          <p:nvPr/>
        </p:nvGrpSpPr>
        <p:grpSpPr>
          <a:xfrm>
            <a:off x="5181600" y="2819400"/>
            <a:ext cx="3733800" cy="457200"/>
            <a:chOff x="3264" y="1776"/>
            <a:chExt cx="2352" cy="288"/>
          </a:xfrm>
        </p:grpSpPr>
        <p:sp>
          <p:nvSpPr>
            <p:cNvPr id="108551" name="AutoShape 6"/>
            <p:cNvSpPr/>
            <p:nvPr/>
          </p:nvSpPr>
          <p:spPr>
            <a:xfrm>
              <a:off x="3264" y="1824"/>
              <a:ext cx="288" cy="192"/>
            </a:xfrm>
            <a:prstGeom prst="leftArrow">
              <a:avLst>
                <a:gd name="adj1" fmla="val 50000"/>
                <a:gd name="adj2" fmla="val 37500"/>
              </a:avLst>
            </a:prstGeom>
            <a:solidFill>
              <a:srgbClr val="FF0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08552" name="Text Box 7"/>
            <p:cNvSpPr txBox="1"/>
            <p:nvPr/>
          </p:nvSpPr>
          <p:spPr>
            <a:xfrm>
              <a:off x="3648" y="1776"/>
              <a:ext cx="19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50000"/>
                </a:spcBef>
                <a:buNone/>
              </a:pPr>
              <a:r>
                <a:rPr lang="zh-CN" altLang="en-US" sz="2400" b="1" dirty="0">
                  <a:solidFill>
                    <a:srgbClr val="0000FF"/>
                  </a:solidFill>
                  <a:latin typeface="Arial" panose="020B0604020202020204" pitchFamily="34" charset="0"/>
                  <a:ea typeface="宋体" panose="02010600030101010101" pitchFamily="2" charset="-122"/>
                </a:rPr>
                <a:t>同时为真，则相连</a:t>
              </a:r>
            </a:p>
          </p:txBody>
        </p:sp>
      </p:grpSp>
      <p:sp>
        <p:nvSpPr>
          <p:cNvPr id="108550"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61475">
                                            <p:txEl>
                                              <p:pRg st="0" end="0"/>
                                            </p:txEl>
                                          </p:spTgt>
                                        </p:tgtEl>
                                        <p:attrNameLst>
                                          <p:attrName>style.visibility</p:attrName>
                                        </p:attrNameLst>
                                      </p:cBhvr>
                                      <p:to>
                                        <p:strVal val="visible"/>
                                      </p:to>
                                    </p:set>
                                    <p:anim to="" calcmode="lin" valueType="num">
                                      <p:cBhvr>
                                        <p:cTn id="7" dur="1" fill="hold"/>
                                        <p:tgtEl>
                                          <p:spTgt spid="361475">
                                            <p:txEl>
                                              <p:pRg st="0" end="0"/>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61475">
                                            <p:txEl>
                                              <p:pRg st="1" end="1"/>
                                            </p:txEl>
                                          </p:spTgt>
                                        </p:tgtEl>
                                        <p:attrNameLst>
                                          <p:attrName>style.visibility</p:attrName>
                                        </p:attrNameLst>
                                      </p:cBhvr>
                                      <p:to>
                                        <p:strVal val="visible"/>
                                      </p:to>
                                    </p:set>
                                    <p:anim to="" calcmode="lin" valueType="num">
                                      <p:cBhvr>
                                        <p:cTn id="12" dur="1" fill="hold"/>
                                        <p:tgtEl>
                                          <p:spTgt spid="361475">
                                            <p:txEl>
                                              <p:pRg st="1" end="1"/>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61475">
                                            <p:txEl>
                                              <p:pRg st="2" end="2"/>
                                            </p:txEl>
                                          </p:spTgt>
                                        </p:tgtEl>
                                        <p:attrNameLst>
                                          <p:attrName>style.visibility</p:attrName>
                                        </p:attrNameLst>
                                      </p:cBhvr>
                                      <p:to>
                                        <p:strVal val="visible"/>
                                      </p:to>
                                    </p:set>
                                    <p:anim to="" calcmode="lin" valueType="num">
                                      <p:cBhvr>
                                        <p:cTn id="17" dur="1" fill="hold"/>
                                        <p:tgtEl>
                                          <p:spTgt spid="361475">
                                            <p:txEl>
                                              <p:pRg st="2" end="2"/>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4" presetClass="entr" presetSubtype="0" fill="hold" nodeType="clickEffect">
                                  <p:stCondLst>
                                    <p:cond delay="0"/>
                                  </p:stCondLst>
                                  <p:childTnLst>
                                    <p:set>
                                      <p:cBhvr>
                                        <p:cTn id="27" dur="1" fill="hold">
                                          <p:stCondLst>
                                            <p:cond delay="0"/>
                                          </p:stCondLst>
                                        </p:cTn>
                                        <p:tgtEl>
                                          <p:spTgt spid="361475">
                                            <p:txEl>
                                              <p:pRg st="3" end="3"/>
                                            </p:txEl>
                                          </p:spTgt>
                                        </p:tgtEl>
                                        <p:attrNameLst>
                                          <p:attrName>style.visibility</p:attrName>
                                        </p:attrNameLst>
                                      </p:cBhvr>
                                      <p:to>
                                        <p:strVal val="visible"/>
                                      </p:to>
                                    </p:set>
                                    <p:anim to="" calcmode="lin" valueType="num">
                                      <p:cBhvr>
                                        <p:cTn id="28" dur="1" fill="hold"/>
                                        <p:tgtEl>
                                          <p:spTgt spid="361475">
                                            <p:txEl>
                                              <p:pRg st="3" end="3"/>
                                            </p:txEl>
                                          </p:spTgt>
                                        </p:tgtEl>
                                        <p:attrNameLst>
                                          <p:attrName>style.visibility</p:attrName>
                                        </p:attrNameLst>
                                      </p:cBhvr>
                                    </p:anim>
                                  </p:childTnLst>
                                </p:cTn>
                              </p:par>
                            </p:childTnLst>
                          </p:cTn>
                        </p:par>
                      </p:childTnLst>
                    </p:cTn>
                  </p:par>
                  <p:par>
                    <p:cTn id="29" fill="hold">
                      <p:stCondLst>
                        <p:cond delay="indefinite"/>
                      </p:stCondLst>
                      <p:childTnLst>
                        <p:par>
                          <p:cTn id="30" fill="hold">
                            <p:stCondLst>
                              <p:cond delay="0"/>
                            </p:stCondLst>
                            <p:childTnLst>
                              <p:par>
                                <p:cTn id="31" presetID="24" presetClass="entr" presetSubtype="0" fill="hold" nodeType="clickEffect">
                                  <p:stCondLst>
                                    <p:cond delay="0"/>
                                  </p:stCondLst>
                                  <p:childTnLst>
                                    <p:set>
                                      <p:cBhvr>
                                        <p:cTn id="32" dur="1" fill="hold">
                                          <p:stCondLst>
                                            <p:cond delay="0"/>
                                          </p:stCondLst>
                                        </p:cTn>
                                        <p:tgtEl>
                                          <p:spTgt spid="361475">
                                            <p:txEl>
                                              <p:pRg st="4" end="4"/>
                                            </p:txEl>
                                          </p:spTgt>
                                        </p:tgtEl>
                                        <p:attrNameLst>
                                          <p:attrName>style.visibility</p:attrName>
                                        </p:attrNameLst>
                                      </p:cBhvr>
                                      <p:to>
                                        <p:strVal val="visible"/>
                                      </p:to>
                                    </p:set>
                                    <p:anim to="" calcmode="lin" valueType="num">
                                      <p:cBhvr>
                                        <p:cTn id="33" dur="1" fill="hold"/>
                                        <p:tgtEl>
                                          <p:spTgt spid="361475">
                                            <p:txEl>
                                              <p:pRg st="4" end="4"/>
                                            </p:txEl>
                                          </p:spTgt>
                                        </p:tgtEl>
                                        <p:attrNameLst>
                                          <p:attrName>style.visibility</p:attrName>
                                        </p:attrNameLst>
                                      </p:cBhvr>
                                    </p:anim>
                                  </p:childTnLst>
                                </p:cTn>
                              </p:par>
                            </p:childTnLst>
                          </p:cTn>
                        </p:par>
                      </p:childTnLst>
                    </p:cTn>
                  </p:par>
                  <p:par>
                    <p:cTn id="34" fill="hold">
                      <p:stCondLst>
                        <p:cond delay="indefinite"/>
                      </p:stCondLst>
                      <p:childTnLst>
                        <p:par>
                          <p:cTn id="35" fill="hold">
                            <p:stCondLst>
                              <p:cond delay="0"/>
                            </p:stCondLst>
                            <p:childTnLst>
                              <p:par>
                                <p:cTn id="36" presetID="24" presetClass="entr" presetSubtype="0" fill="hold" nodeType="clickEffect">
                                  <p:stCondLst>
                                    <p:cond delay="0"/>
                                  </p:stCondLst>
                                  <p:childTnLst>
                                    <p:set>
                                      <p:cBhvr>
                                        <p:cTn id="37" dur="1" fill="hold">
                                          <p:stCondLst>
                                            <p:cond delay="0"/>
                                          </p:stCondLst>
                                        </p:cTn>
                                        <p:tgtEl>
                                          <p:spTgt spid="361475">
                                            <p:txEl>
                                              <p:pRg st="6" end="6"/>
                                            </p:txEl>
                                          </p:spTgt>
                                        </p:tgtEl>
                                        <p:attrNameLst>
                                          <p:attrName>style.visibility</p:attrName>
                                        </p:attrNameLst>
                                      </p:cBhvr>
                                      <p:to>
                                        <p:strVal val="visible"/>
                                      </p:to>
                                    </p:set>
                                    <p:anim to="" calcmode="lin" valueType="num">
                                      <p:cBhvr>
                                        <p:cTn id="38" dur="1" fill="hold"/>
                                        <p:tgtEl>
                                          <p:spTgt spid="361475">
                                            <p:txEl>
                                              <p:pRg st="6" end="6"/>
                                            </p:txEl>
                                          </p:spTgt>
                                        </p:tgtEl>
                                        <p:attrNameLst>
                                          <p:attrName>style.visibility</p:attrName>
                                        </p:attrNameLst>
                                      </p:cBhvr>
                                    </p:anim>
                                  </p:childTnLst>
                                </p:cTn>
                              </p:par>
                            </p:childTnLst>
                          </p:cTn>
                        </p:par>
                      </p:childTnLst>
                    </p:cTn>
                  </p:par>
                  <p:par>
                    <p:cTn id="39" fill="hold">
                      <p:stCondLst>
                        <p:cond delay="indefinite"/>
                      </p:stCondLst>
                      <p:childTnLst>
                        <p:par>
                          <p:cTn id="40" fill="hold">
                            <p:stCondLst>
                              <p:cond delay="0"/>
                            </p:stCondLst>
                            <p:childTnLst>
                              <p:par>
                                <p:cTn id="41" presetID="24" presetClass="entr" presetSubtype="0" fill="hold" nodeType="clickEffect">
                                  <p:stCondLst>
                                    <p:cond delay="0"/>
                                  </p:stCondLst>
                                  <p:childTnLst>
                                    <p:set>
                                      <p:cBhvr>
                                        <p:cTn id="42" dur="1" fill="hold">
                                          <p:stCondLst>
                                            <p:cond delay="0"/>
                                          </p:stCondLst>
                                        </p:cTn>
                                        <p:tgtEl>
                                          <p:spTgt spid="361475">
                                            <p:txEl>
                                              <p:pRg st="7" end="7"/>
                                            </p:txEl>
                                          </p:spTgt>
                                        </p:tgtEl>
                                        <p:attrNameLst>
                                          <p:attrName>style.visibility</p:attrName>
                                        </p:attrNameLst>
                                      </p:cBhvr>
                                      <p:to>
                                        <p:strVal val="visible"/>
                                      </p:to>
                                    </p:set>
                                    <p:anim to="" calcmode="lin" valueType="num">
                                      <p:cBhvr>
                                        <p:cTn id="43" dur="1" fill="hold"/>
                                        <p:tgtEl>
                                          <p:spTgt spid="361475">
                                            <p:txEl>
                                              <p:pRg st="7" end="7"/>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
          <p:cNvSpPr>
            <a:spLocks noGrp="1"/>
          </p:cNvSpPr>
          <p:nvPr>
            <p:ph idx="1"/>
          </p:nvPr>
        </p:nvSpPr>
        <p:spPr>
          <a:xfrm>
            <a:off x="838200" y="1295400"/>
            <a:ext cx="8001000" cy="4648200"/>
          </a:xfrm>
          <a:ln/>
        </p:spPr>
        <p:txBody>
          <a:bodyPr vert="horz" wrap="square" lIns="91440" tIns="45720" rIns="91440" bIns="45720" anchor="t" anchorCtr="0"/>
          <a:lstStyle/>
          <a:p>
            <a:pPr>
              <a:lnSpc>
                <a:spcPct val="150000"/>
              </a:lnSpc>
              <a:buNone/>
            </a:pPr>
            <a:r>
              <a:rPr lang="en-US" altLang="zh-CN" dirty="0"/>
              <a:t>co-NP</a:t>
            </a:r>
            <a:r>
              <a:rPr lang="zh-CN" altLang="en-US" dirty="0"/>
              <a:t>类由它们的</a:t>
            </a:r>
            <a:r>
              <a:rPr lang="zh-CN" altLang="en-US" dirty="0">
                <a:solidFill>
                  <a:srgbClr val="FF0000"/>
                </a:solidFill>
              </a:rPr>
              <a:t>补</a:t>
            </a:r>
            <a:r>
              <a:rPr lang="zh-CN" altLang="en-US" dirty="0"/>
              <a:t>属于</a:t>
            </a:r>
            <a:r>
              <a:rPr lang="en-US" altLang="zh-CN" dirty="0"/>
              <a:t>NP</a:t>
            </a:r>
            <a:r>
              <a:rPr lang="zh-CN" altLang="en-US" dirty="0"/>
              <a:t>类的那些问题组成。</a:t>
            </a:r>
            <a:endParaRPr lang="en-US" altLang="zh-CN" dirty="0"/>
          </a:p>
          <a:p>
            <a:pPr>
              <a:lnSpc>
                <a:spcPct val="150000"/>
              </a:lnSpc>
              <a:buNone/>
            </a:pPr>
            <a:r>
              <a:rPr lang="zh-CN" altLang="en-US" dirty="0"/>
              <a:t>例如：</a:t>
            </a:r>
          </a:p>
          <a:p>
            <a:pPr>
              <a:lnSpc>
                <a:spcPct val="150000"/>
              </a:lnSpc>
            </a:pPr>
            <a:r>
              <a:rPr lang="zh-CN" altLang="en-US" sz="2400" dirty="0"/>
              <a:t>旅行商问题的补：给出</a:t>
            </a:r>
            <a:r>
              <a:rPr lang="en-US" altLang="zh-CN" sz="2400" dirty="0"/>
              <a:t>n</a:t>
            </a:r>
            <a:r>
              <a:rPr lang="zh-CN" altLang="en-US" sz="2400" dirty="0"/>
              <a:t>个城市和它们之间的距离，不存在长度为</a:t>
            </a:r>
            <a:r>
              <a:rPr lang="en-US" altLang="zh-CN" sz="2400" dirty="0"/>
              <a:t>k</a:t>
            </a:r>
            <a:r>
              <a:rPr lang="zh-CN" altLang="en-US" sz="2400" dirty="0"/>
              <a:t>或更少的任何旅程，情况是那样吗</a:t>
            </a:r>
            <a:r>
              <a:rPr lang="en-US" altLang="zh-CN" sz="2400" dirty="0"/>
              <a:t>?</a:t>
            </a:r>
          </a:p>
          <a:p>
            <a:pPr>
              <a:lnSpc>
                <a:spcPct val="150000"/>
              </a:lnSpc>
            </a:pPr>
            <a:r>
              <a:rPr lang="zh-CN" altLang="en-US" sz="2400" dirty="0"/>
              <a:t>可满足性问题</a:t>
            </a:r>
            <a:r>
              <a:rPr lang="en-US" altLang="zh-CN" sz="2400" dirty="0"/>
              <a:t>(SAT)</a:t>
            </a:r>
            <a:r>
              <a:rPr lang="zh-CN" altLang="en-US" sz="2400" dirty="0"/>
              <a:t>的补：给出一个公式</a:t>
            </a:r>
            <a:r>
              <a:rPr lang="en-US" altLang="zh-CN" sz="2400" dirty="0"/>
              <a:t>f</a:t>
            </a:r>
            <a:r>
              <a:rPr lang="zh-CN" altLang="en-US" sz="2400" dirty="0"/>
              <a:t>，不存在使得</a:t>
            </a:r>
            <a:r>
              <a:rPr lang="en-US" altLang="zh-CN" sz="2400" dirty="0"/>
              <a:t>f</a:t>
            </a:r>
            <a:r>
              <a:rPr lang="zh-CN" altLang="en-US" sz="2400" dirty="0"/>
              <a:t>为真的布尔变量指派，是吗</a:t>
            </a:r>
            <a:r>
              <a:rPr lang="en-US" altLang="zh-CN" sz="2400" dirty="0"/>
              <a:t>? </a:t>
            </a:r>
            <a:r>
              <a:rPr lang="zh-CN" altLang="en-US" sz="2400" dirty="0"/>
              <a:t>换言之，</a:t>
            </a:r>
            <a:r>
              <a:rPr lang="en-US" altLang="zh-CN" sz="2400" dirty="0"/>
              <a:t>f</a:t>
            </a:r>
            <a:r>
              <a:rPr lang="zh-CN" altLang="en-US" sz="2400" dirty="0"/>
              <a:t>是不可满足的吗</a:t>
            </a:r>
            <a:r>
              <a:rPr lang="en-US" altLang="zh-CN" sz="2400" dirty="0"/>
              <a:t>? </a:t>
            </a:r>
          </a:p>
          <a:p>
            <a:pPr>
              <a:lnSpc>
                <a:spcPct val="150000"/>
              </a:lnSpc>
            </a:pPr>
            <a:endParaRPr lang="en-US" altLang="zh-CN" sz="2400" b="1" dirty="0"/>
          </a:p>
        </p:txBody>
      </p:sp>
      <p:sp>
        <p:nvSpPr>
          <p:cNvPr id="118787" name="Rectangle 4"/>
          <p:cNvSpPr>
            <a:spLocks noGrp="1"/>
          </p:cNvSpPr>
          <p:nvPr>
            <p:ph type="title"/>
          </p:nvPr>
        </p:nvSpPr>
        <p:spPr>
          <a:ln/>
        </p:spPr>
        <p:txBody>
          <a:bodyPr vert="horz" wrap="square" lIns="91440" tIns="45720" rIns="91440" bIns="45720" anchor="ctr" anchorCtr="0"/>
          <a:lstStyle/>
          <a:p>
            <a:r>
              <a:rPr lang="en-US" altLang="zh-CN" dirty="0"/>
              <a:t>7.3</a:t>
            </a:r>
            <a:r>
              <a:rPr lang="zh-CN" altLang="en-US" dirty="0"/>
              <a:t>.5 其他问题复杂性类</a:t>
            </a:r>
            <a:r>
              <a:rPr lang="en-US" altLang="zh-CN" dirty="0"/>
              <a:t>——co-NP</a:t>
            </a:r>
            <a:r>
              <a:rPr lang="zh-CN" altLang="en-US" dirty="0"/>
              <a:t>类</a:t>
            </a:r>
            <a:endParaRPr lang="zh-CN" altLang="en-US" b="1" dirty="0"/>
          </a:p>
        </p:txBody>
      </p:sp>
      <p:sp>
        <p:nvSpPr>
          <p:cNvPr id="118788"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8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78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19811" name="Rectangle 2"/>
          <p:cNvSpPr>
            <a:spLocks noGrp="1"/>
          </p:cNvSpPr>
          <p:nvPr>
            <p:ph type="title"/>
          </p:nvPr>
        </p:nvSpPr>
        <p:spPr>
          <a:ln/>
        </p:spPr>
        <p:txBody>
          <a:bodyPr vert="horz" wrap="square" lIns="91440" tIns="45720" rIns="91440" bIns="45720" anchor="ctr" anchorCtr="0"/>
          <a:lstStyle/>
          <a:p>
            <a:pPr eaLnBrk="1" hangingPunct="1"/>
            <a:r>
              <a:rPr lang="en-US" altLang="zh-CN" dirty="0"/>
              <a:t>7.3</a:t>
            </a:r>
            <a:r>
              <a:rPr lang="zh-CN" altLang="en-US" dirty="0"/>
              <a:t>.5 其他问题复杂性类</a:t>
            </a:r>
            <a:r>
              <a:rPr lang="en-US" altLang="zh-CN" dirty="0"/>
              <a:t>——co-NP</a:t>
            </a:r>
            <a:r>
              <a:rPr lang="zh-CN" altLang="en-US" dirty="0"/>
              <a:t>类</a:t>
            </a:r>
            <a:endParaRPr lang="en-US" altLang="zh-CN" dirty="0"/>
          </a:p>
        </p:txBody>
      </p:sp>
      <p:sp>
        <p:nvSpPr>
          <p:cNvPr id="35843" name="Rectangle 3"/>
          <p:cNvSpPr>
            <a:spLocks noGrp="1" noChangeArrowheads="1"/>
          </p:cNvSpPr>
          <p:nvPr>
            <p:ph type="body" sz="half" idx="1"/>
          </p:nvPr>
        </p:nvSpPr>
        <p:spPr>
          <a:xfrm>
            <a:off x="990600" y="1295400"/>
            <a:ext cx="8229600" cy="4572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co-NP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类由它们的补属于</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类的那些问题组成。</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定义</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10.7</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问题</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rPr>
              <a:t>对于</a:t>
            </a:r>
            <a:r>
              <a:rPr kumimoji="0" lang="en-US" altLang="zh-CN" sz="2400" b="0" i="0" u="none" strike="noStrike" kern="0" cap="none" spc="0" normalizeH="0" baseline="0" noProof="0" dirty="0">
                <a:ln>
                  <a:noFill/>
                </a:ln>
                <a:solidFill>
                  <a:schemeClr val="accent2"/>
                </a:solidFill>
                <a:effectLst/>
                <a:uLnTx/>
                <a:uFillTx/>
                <a:latin typeface="+mn-lt"/>
                <a:ea typeface="+mn-ea"/>
              </a:rPr>
              <a:t>co-NP</a:t>
            </a:r>
            <a:r>
              <a:rPr kumimoji="0" lang="zh-CN" altLang="en-US" sz="2400" b="0" i="0" u="none" strike="noStrike" kern="0" cap="none" spc="0" normalizeH="0" baseline="0" noProof="0" dirty="0">
                <a:ln>
                  <a:noFill/>
                </a:ln>
                <a:solidFill>
                  <a:schemeClr val="accent2"/>
                </a:solidFill>
                <a:effectLst/>
                <a:uLnTx/>
                <a:uFillTx/>
                <a:latin typeface="+mn-lt"/>
                <a:ea typeface="+mn-ea"/>
              </a:rPr>
              <a:t>类是完全的，如果</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lt"/>
                <a:ea typeface="+mn-ea"/>
              </a:rPr>
              <a:t>(1)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rPr>
              <a:t>在</a:t>
            </a:r>
            <a:r>
              <a:rPr kumimoji="0" lang="en-US" altLang="zh-CN" sz="2400" b="0" i="0" u="none" strike="noStrike" kern="0" cap="none" spc="0" normalizeH="0" baseline="0" noProof="0" dirty="0">
                <a:ln>
                  <a:noFill/>
                </a:ln>
                <a:solidFill>
                  <a:schemeClr val="accent2"/>
                </a:solidFill>
                <a:effectLst/>
                <a:uLnTx/>
                <a:uFillTx/>
                <a:latin typeface="+mn-lt"/>
                <a:ea typeface="+mn-ea"/>
              </a:rPr>
              <a:t> co-NP</a:t>
            </a:r>
            <a:r>
              <a:rPr kumimoji="0" lang="zh-CN" altLang="en-US" sz="2400" b="0" i="0" u="none" strike="noStrike" kern="0" cap="none" spc="0" normalizeH="0" baseline="0" noProof="0" dirty="0">
                <a:ln>
                  <a:noFill/>
                </a:ln>
                <a:solidFill>
                  <a:schemeClr val="accent2"/>
                </a:solidFill>
                <a:effectLst/>
                <a:uLnTx/>
                <a:uFillTx/>
                <a:latin typeface="+mn-lt"/>
                <a:ea typeface="+mn-ea"/>
              </a:rPr>
              <a:t>中</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lt"/>
                <a:ea typeface="+mn-ea"/>
              </a:rPr>
              <a:t>(2)</a:t>
            </a:r>
            <a:r>
              <a:rPr kumimoji="0" lang="zh-CN" altLang="en-US" sz="2400" b="0" i="0" u="none" strike="noStrike" kern="0" cap="none" spc="0" normalizeH="0" baseline="0" noProof="0" dirty="0">
                <a:ln>
                  <a:noFill/>
                </a:ln>
                <a:solidFill>
                  <a:schemeClr val="accent2"/>
                </a:solidFill>
                <a:effectLst/>
                <a:uLnTx/>
                <a:uFillTx/>
                <a:latin typeface="+mn-lt"/>
                <a:ea typeface="+mn-ea"/>
              </a:rPr>
              <a:t>对于</a:t>
            </a:r>
            <a:r>
              <a:rPr kumimoji="0" lang="en-US" altLang="zh-CN" sz="2400" b="0" i="0" u="none" strike="noStrike" kern="0" cap="none" spc="0" normalizeH="0" baseline="0" noProof="0" dirty="0">
                <a:ln>
                  <a:noFill/>
                </a:ln>
                <a:solidFill>
                  <a:schemeClr val="accent2"/>
                </a:solidFill>
                <a:effectLst/>
                <a:uLnTx/>
                <a:uFillTx/>
                <a:latin typeface="+mn-lt"/>
                <a:ea typeface="+mn-ea"/>
              </a:rPr>
              <a:t>co-NP</a:t>
            </a:r>
            <a:r>
              <a:rPr kumimoji="0" lang="zh-CN" altLang="en-US" sz="2400" b="0" i="0" u="none" strike="noStrike" kern="0" cap="none" spc="0" normalizeH="0" baseline="0" noProof="0" dirty="0">
                <a:ln>
                  <a:noFill/>
                </a:ln>
                <a:solidFill>
                  <a:schemeClr val="accent2"/>
                </a:solidFill>
                <a:effectLst/>
                <a:uLnTx/>
                <a:uFillTx/>
                <a:latin typeface="+mn-lt"/>
                <a:ea typeface="+mn-ea"/>
              </a:rPr>
              <a:t>中的每一个问题</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r>
              <a:rPr kumimoji="0" lang="en-US" altLang="zh-CN" sz="2400" b="0" i="0" u="none" strike="noStrike" kern="0" cap="none" spc="0" normalizeH="0" baseline="-2500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poly </a:t>
            </a:r>
            <a:r>
              <a:rPr kumimoji="0" lang="el-GR"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rPr>
              <a:t></a:t>
            </a:r>
            <a:endPar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sym typeface="Symbol" panose="05050102010706020507" pitchFamily="18" charset="2"/>
            </a:endParaRPr>
          </a:p>
        </p:txBody>
      </p:sp>
      <p:pic>
        <p:nvPicPr>
          <p:cNvPr id="35847" name="Picture 7" descr="def"/>
          <p:cNvPicPr>
            <a:picLocks noChangeAspect="1"/>
          </p:cNvPicPr>
          <p:nvPr/>
        </p:nvPicPr>
        <p:blipFill>
          <a:blip r:embed="rId4"/>
          <a:stretch>
            <a:fillRect/>
          </a:stretch>
        </p:blipFill>
        <p:spPr>
          <a:xfrm>
            <a:off x="701675" y="2292350"/>
            <a:ext cx="576263" cy="398463"/>
          </a:xfrm>
          <a:prstGeom prst="rect">
            <a:avLst/>
          </a:prstGeom>
          <a:noFill/>
          <a:ln w="9525">
            <a:noFill/>
          </a:ln>
        </p:spPr>
      </p:pic>
      <p:grpSp>
        <p:nvGrpSpPr>
          <p:cNvPr id="119814" name="Group 39"/>
          <p:cNvGrpSpPr/>
          <p:nvPr/>
        </p:nvGrpSpPr>
        <p:grpSpPr>
          <a:xfrm>
            <a:off x="1835150" y="4006850"/>
            <a:ext cx="4953000" cy="2590800"/>
            <a:chOff x="1584" y="2400"/>
            <a:chExt cx="3120" cy="1632"/>
          </a:xfrm>
        </p:grpSpPr>
        <p:sp>
          <p:nvSpPr>
            <p:cNvPr id="119815" name="Oval 5"/>
            <p:cNvSpPr/>
            <p:nvPr/>
          </p:nvSpPr>
          <p:spPr>
            <a:xfrm>
              <a:off x="1584" y="2400"/>
              <a:ext cx="3120" cy="1632"/>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16" name="Rectangle 6"/>
            <p:cNvSpPr/>
            <p:nvPr/>
          </p:nvSpPr>
          <p:spPr>
            <a:xfrm>
              <a:off x="2496" y="2496"/>
              <a:ext cx="1180" cy="32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co-NP</a:t>
              </a:r>
              <a:r>
                <a:rPr lang="zh-CN" altLang="en-US" sz="2200" b="1" dirty="0">
                  <a:solidFill>
                    <a:srgbClr val="000080"/>
                  </a:solidFill>
                  <a:latin typeface="华文中宋" panose="02010600040101010101" pitchFamily="2" charset="-122"/>
                  <a:ea typeface="华文中宋" panose="02010600040101010101" pitchFamily="2" charset="-122"/>
                </a:rPr>
                <a:t>类问题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17" name="Rectangle 7"/>
            <p:cNvSpPr/>
            <p:nvPr/>
          </p:nvSpPr>
          <p:spPr>
            <a:xfrm>
              <a:off x="2880" y="3360"/>
              <a:ext cx="1536" cy="32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co-NP</a:t>
              </a:r>
              <a:r>
                <a:rPr lang="zh-CN" altLang="en-US" sz="2200" b="1" dirty="0">
                  <a:solidFill>
                    <a:srgbClr val="FF0000"/>
                  </a:solidFill>
                  <a:latin typeface="华文中宋" panose="02010600040101010101" pitchFamily="2" charset="-122"/>
                  <a:ea typeface="华文中宋" panose="02010600040101010101" pitchFamily="2" charset="-122"/>
                </a:rPr>
                <a:t>完全问题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18" name="Oval 8"/>
            <p:cNvSpPr/>
            <p:nvPr/>
          </p:nvSpPr>
          <p:spPr>
            <a:xfrm>
              <a:off x="1972" y="2835"/>
              <a:ext cx="152" cy="109"/>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19" name="Oval 9"/>
            <p:cNvSpPr/>
            <p:nvPr/>
          </p:nvSpPr>
          <p:spPr>
            <a:xfrm>
              <a:off x="1668" y="3216"/>
              <a:ext cx="152" cy="109"/>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20" name="Oval 10"/>
            <p:cNvSpPr/>
            <p:nvPr/>
          </p:nvSpPr>
          <p:spPr>
            <a:xfrm>
              <a:off x="1972" y="3597"/>
              <a:ext cx="152" cy="109"/>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21" name="Oval 11"/>
            <p:cNvSpPr/>
            <p:nvPr/>
          </p:nvSpPr>
          <p:spPr>
            <a:xfrm>
              <a:off x="3112" y="2998"/>
              <a:ext cx="152" cy="109"/>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22" name="Oval 12"/>
            <p:cNvSpPr/>
            <p:nvPr/>
          </p:nvSpPr>
          <p:spPr>
            <a:xfrm>
              <a:off x="2656" y="2835"/>
              <a:ext cx="152" cy="109"/>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23" name="Oval 13"/>
            <p:cNvSpPr/>
            <p:nvPr/>
          </p:nvSpPr>
          <p:spPr>
            <a:xfrm>
              <a:off x="2580" y="3760"/>
              <a:ext cx="152" cy="109"/>
            </a:xfrm>
            <a:prstGeom prst="ellipse">
              <a:avLst/>
            </a:prstGeom>
            <a:solidFill>
              <a:srgbClr val="00808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24" name="Oval 14"/>
            <p:cNvSpPr/>
            <p:nvPr/>
          </p:nvSpPr>
          <p:spPr>
            <a:xfrm>
              <a:off x="2428" y="3270"/>
              <a:ext cx="152" cy="109"/>
            </a:xfrm>
            <a:prstGeom prst="ellipse">
              <a:avLst/>
            </a:prstGeom>
            <a:solidFill>
              <a:srgbClr val="FF0000"/>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19825" name="Line 15"/>
            <p:cNvSpPr/>
            <p:nvPr/>
          </p:nvSpPr>
          <p:spPr>
            <a:xfrm>
              <a:off x="2124" y="2944"/>
              <a:ext cx="304" cy="326"/>
            </a:xfrm>
            <a:prstGeom prst="line">
              <a:avLst/>
            </a:prstGeom>
            <a:ln w="28575" cap="flat" cmpd="sng">
              <a:solidFill>
                <a:srgbClr val="000000"/>
              </a:solidFill>
              <a:prstDash val="solid"/>
              <a:headEnd type="none" w="med" len="med"/>
              <a:tailEnd type="triangle" w="med" len="med"/>
            </a:ln>
          </p:spPr>
        </p:sp>
        <p:sp>
          <p:nvSpPr>
            <p:cNvPr id="119826" name="Line 16"/>
            <p:cNvSpPr/>
            <p:nvPr/>
          </p:nvSpPr>
          <p:spPr>
            <a:xfrm flipH="1">
              <a:off x="2504" y="2944"/>
              <a:ext cx="228" cy="326"/>
            </a:xfrm>
            <a:prstGeom prst="line">
              <a:avLst/>
            </a:prstGeom>
            <a:ln w="28575" cap="flat" cmpd="sng">
              <a:solidFill>
                <a:srgbClr val="000000"/>
              </a:solidFill>
              <a:prstDash val="solid"/>
              <a:headEnd type="none" w="med" len="med"/>
              <a:tailEnd type="triangle" w="med" len="med"/>
            </a:ln>
          </p:spPr>
        </p:sp>
        <p:sp>
          <p:nvSpPr>
            <p:cNvPr id="119827" name="Line 17"/>
            <p:cNvSpPr/>
            <p:nvPr/>
          </p:nvSpPr>
          <p:spPr>
            <a:xfrm flipH="1">
              <a:off x="2580" y="3107"/>
              <a:ext cx="533" cy="218"/>
            </a:xfrm>
            <a:prstGeom prst="line">
              <a:avLst/>
            </a:prstGeom>
            <a:ln w="28575" cap="flat" cmpd="sng">
              <a:solidFill>
                <a:srgbClr val="000000"/>
              </a:solidFill>
              <a:prstDash val="solid"/>
              <a:headEnd type="none" w="med" len="med"/>
              <a:tailEnd type="triangle" w="med" len="med"/>
            </a:ln>
          </p:spPr>
        </p:sp>
        <p:sp>
          <p:nvSpPr>
            <p:cNvPr id="119828" name="Line 18"/>
            <p:cNvSpPr/>
            <p:nvPr/>
          </p:nvSpPr>
          <p:spPr>
            <a:xfrm>
              <a:off x="1820" y="3270"/>
              <a:ext cx="608" cy="55"/>
            </a:xfrm>
            <a:prstGeom prst="line">
              <a:avLst/>
            </a:prstGeom>
            <a:ln w="28575" cap="flat" cmpd="sng">
              <a:solidFill>
                <a:srgbClr val="000000"/>
              </a:solidFill>
              <a:prstDash val="solid"/>
              <a:headEnd type="none" w="med" len="med"/>
              <a:tailEnd type="triangle" w="med" len="med"/>
            </a:ln>
          </p:spPr>
        </p:sp>
        <p:sp>
          <p:nvSpPr>
            <p:cNvPr id="119829" name="Line 19"/>
            <p:cNvSpPr/>
            <p:nvPr/>
          </p:nvSpPr>
          <p:spPr>
            <a:xfrm flipV="1">
              <a:off x="2124" y="3379"/>
              <a:ext cx="304" cy="218"/>
            </a:xfrm>
            <a:prstGeom prst="line">
              <a:avLst/>
            </a:prstGeom>
            <a:ln w="28575" cap="flat" cmpd="sng">
              <a:solidFill>
                <a:srgbClr val="000000"/>
              </a:solidFill>
              <a:prstDash val="solid"/>
              <a:headEnd type="none" w="med" len="med"/>
              <a:tailEnd type="triangle" w="med" len="med"/>
            </a:ln>
          </p:spPr>
        </p:sp>
        <p:sp>
          <p:nvSpPr>
            <p:cNvPr id="119830" name="Line 20"/>
            <p:cNvSpPr/>
            <p:nvPr/>
          </p:nvSpPr>
          <p:spPr>
            <a:xfrm flipH="1" flipV="1">
              <a:off x="2504" y="3379"/>
              <a:ext cx="152" cy="381"/>
            </a:xfrm>
            <a:prstGeom prst="line">
              <a:avLst/>
            </a:prstGeom>
            <a:ln w="28575" cap="flat" cmpd="sng">
              <a:solidFill>
                <a:srgbClr val="000000"/>
              </a:solidFill>
              <a:prstDash val="solid"/>
              <a:headEnd type="none" w="med" len="med"/>
              <a:tailEnd type="triangle" w="med" len="med"/>
            </a:ln>
          </p:spPr>
        </p:sp>
        <p:sp>
          <p:nvSpPr>
            <p:cNvPr id="119831" name="Freeform 28"/>
            <p:cNvSpPr/>
            <p:nvPr/>
          </p:nvSpPr>
          <p:spPr>
            <a:xfrm flipV="1">
              <a:off x="2592" y="3360"/>
              <a:ext cx="336" cy="192"/>
            </a:xfrm>
            <a:custGeom>
              <a:avLst/>
              <a:gdLst>
                <a:gd name="txL" fmla="*/ 0 w 672"/>
                <a:gd name="txT" fmla="*/ 0 h 480"/>
                <a:gd name="txR" fmla="*/ 672 w 672"/>
                <a:gd name="txB" fmla="*/ 480 h 480"/>
              </a:gdLst>
              <a:ahLst/>
              <a:cxnLst>
                <a:cxn ang="0">
                  <a:pos x="2" y="0"/>
                </a:cxn>
                <a:cxn ang="0">
                  <a:pos x="1" y="0"/>
                </a:cxn>
                <a:cxn ang="0">
                  <a:pos x="1" y="0"/>
                </a:cxn>
                <a:cxn ang="0">
                  <a:pos x="0" y="0"/>
                </a:cxn>
              </a:cxnLst>
              <a:rect l="txL" t="txT" r="txR" b="txB"/>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cap="flat" cmpd="sng">
              <a:solidFill>
                <a:srgbClr val="0000FF">
                  <a:alpha val="100000"/>
                </a:srgbClr>
              </a:solidFill>
              <a:prstDash val="solid"/>
              <a:round/>
              <a:headEnd type="none" w="med" len="med"/>
              <a:tailEnd type="triangle" w="med" len="lg"/>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p:cTn id="7" dur="500" fill="hold"/>
                                        <p:tgtEl>
                                          <p:spTgt spid="358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58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584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584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35847"/>
                                        </p:tgtEl>
                                        <p:attrNameLst>
                                          <p:attrName>style.visibility</p:attrName>
                                        </p:attrNameLst>
                                      </p:cBhvr>
                                      <p:to>
                                        <p:strVal val="visible"/>
                                      </p:to>
                                    </p:set>
                                    <p:anim calcmode="lin" valueType="num">
                                      <p:cBhvr>
                                        <p:cTn id="15" dur="500" fill="hold"/>
                                        <p:tgtEl>
                                          <p:spTgt spid="35847"/>
                                        </p:tgtEl>
                                        <p:attrNameLst>
                                          <p:attrName>ppt_w</p:attrName>
                                        </p:attrNameLst>
                                      </p:cBhvr>
                                      <p:tavLst>
                                        <p:tav tm="0">
                                          <p:val>
                                            <p:fltVal val="0"/>
                                          </p:val>
                                        </p:tav>
                                        <p:tav tm="100000">
                                          <p:val>
                                            <p:strVal val="#ppt_w"/>
                                          </p:val>
                                        </p:tav>
                                      </p:tavLst>
                                    </p:anim>
                                    <p:anim calcmode="lin" valueType="num">
                                      <p:cBhvr>
                                        <p:cTn id="16" dur="500" fill="hold"/>
                                        <p:tgtEl>
                                          <p:spTgt spid="35847"/>
                                        </p:tgtEl>
                                        <p:attrNameLst>
                                          <p:attrName>ppt_h</p:attrName>
                                        </p:attrNameLst>
                                      </p:cBhvr>
                                      <p:tavLst>
                                        <p:tav tm="0">
                                          <p:val>
                                            <p:fltVal val="0"/>
                                          </p:val>
                                        </p:tav>
                                        <p:tav tm="100000">
                                          <p:val>
                                            <p:strVal val="#ppt_h"/>
                                          </p:val>
                                        </p:tav>
                                      </p:tavLst>
                                    </p:anim>
                                    <p:anim calcmode="lin" valueType="num">
                                      <p:cBhvr>
                                        <p:cTn id="17" dur="500" fill="hold"/>
                                        <p:tgtEl>
                                          <p:spTgt spid="35847"/>
                                        </p:tgtEl>
                                        <p:attrNameLst>
                                          <p:attrName>style.rotation</p:attrName>
                                        </p:attrNameLst>
                                      </p:cBhvr>
                                      <p:tavLst>
                                        <p:tav tm="0">
                                          <p:val>
                                            <p:fltVal val="360"/>
                                          </p:val>
                                        </p:tav>
                                        <p:tav tm="100000">
                                          <p:val>
                                            <p:fltVal val="0"/>
                                          </p:val>
                                        </p:tav>
                                      </p:tavLst>
                                    </p:anim>
                                    <p:animEffect transition="in" filter="fade">
                                      <p:cBhvr>
                                        <p:cTn id="18" dur="500"/>
                                        <p:tgtEl>
                                          <p:spTgt spid="35847"/>
                                        </p:tgtEl>
                                      </p:cBhvr>
                                    </p:animEffect>
                                  </p:childTnLst>
                                  <p:subTnLst>
                                    <p:audio>
                                      <p:cMediaNode>
                                        <p:cTn display="0" masterRel="sameClick">
                                          <p:stCondLst>
                                            <p:cond evt="begin" delay="0">
                                              <p:tn val="13"/>
                                            </p:cond>
                                          </p:stCondLst>
                                          <p:endCondLst>
                                            <p:cond evt="onStopAudio" delay="0">
                                              <p:tgtEl>
                                                <p:sldTgt/>
                                              </p:tgtEl>
                                            </p:cond>
                                          </p:endCondLst>
                                        </p:cTn>
                                        <p:tgtEl>
                                          <p:sndTgt r:embed="rId3" name="chimes.wav"/>
                                        </p:tgtEl>
                                      </p:cMediaNode>
                                    </p:audio>
                                  </p:subTnLst>
                                </p:cTn>
                              </p:par>
                              <p:par>
                                <p:cTn id="19" presetID="3" presetClass="entr" presetSubtype="10" fill="hold" nodeType="withEffect">
                                  <p:stCondLst>
                                    <p:cond delay="0"/>
                                  </p:stCondLst>
                                  <p:childTnLst>
                                    <p:set>
                                      <p:cBhvr>
                                        <p:cTn id="20"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21" dur="500"/>
                                        <p:tgtEl>
                                          <p:spTgt spid="3584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35843">
                                            <p:txEl>
                                              <p:pRg st="3" end="3"/>
                                            </p:txEl>
                                          </p:spTgt>
                                        </p:tgtEl>
                                        <p:attrNameLst>
                                          <p:attrName>style.visibility</p:attrName>
                                        </p:attrNameLst>
                                      </p:cBhvr>
                                      <p:to>
                                        <p:strVal val="visible"/>
                                      </p:to>
                                    </p:set>
                                    <p:anim calcmode="discrete" valueType="clr">
                                      <p:cBhvr override="childStyle">
                                        <p:cTn id="26" dur="80"/>
                                        <p:tgtEl>
                                          <p:spTgt spid="3584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35843">
                                            <p:txEl>
                                              <p:pRg st="3" end="3"/>
                                            </p:txEl>
                                          </p:spTgt>
                                        </p:tgtEl>
                                        <p:attrNameLst>
                                          <p:attrName>fillcolor</p:attrName>
                                        </p:attrNameLst>
                                      </p:cBhvr>
                                      <p:tavLst>
                                        <p:tav tm="0">
                                          <p:val>
                                            <p:clrVal>
                                              <a:schemeClr val="accent2"/>
                                            </p:clrVal>
                                          </p:val>
                                        </p:tav>
                                        <p:tav tm="50000">
                                          <p:val>
                                            <p:clrVal>
                                              <a:schemeClr val="hlink"/>
                                            </p:clrVal>
                                          </p:val>
                                        </p:tav>
                                      </p:tavLst>
                                    </p:anim>
                                    <p:set>
                                      <p:cBhvr>
                                        <p:cTn id="28" dur="80"/>
                                        <p:tgtEl>
                                          <p:spTgt spid="35843">
                                            <p:txEl>
                                              <p:pRg st="3" end="3"/>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35843">
                                            <p:txEl>
                                              <p:pRg st="4" end="4"/>
                                            </p:txEl>
                                          </p:spTgt>
                                        </p:tgtEl>
                                        <p:attrNameLst>
                                          <p:attrName>style.visibility</p:attrName>
                                        </p:attrNameLst>
                                      </p:cBhvr>
                                      <p:to>
                                        <p:strVal val="visible"/>
                                      </p:to>
                                    </p:set>
                                    <p:anim calcmode="lin" valueType="num">
                                      <p:cBhvr additive="base">
                                        <p:cTn id="33" dur="500" fill="hold"/>
                                        <p:tgtEl>
                                          <p:spTgt spid="35843">
                                            <p:txEl>
                                              <p:pRg st="4" end="4"/>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58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35843">
                                            <p:txEl>
                                              <p:pRg st="5" end="5"/>
                                            </p:txEl>
                                          </p:spTgt>
                                        </p:tgtEl>
                                        <p:attrNameLst>
                                          <p:attrName>style.visibility</p:attrName>
                                        </p:attrNameLst>
                                      </p:cBhvr>
                                      <p:to>
                                        <p:strVal val="visible"/>
                                      </p:to>
                                    </p:set>
                                    <p:anim calcmode="lin" valueType="num">
                                      <p:cBhvr additive="base">
                                        <p:cTn id="39" dur="500" fill="hold"/>
                                        <p:tgtEl>
                                          <p:spTgt spid="35843">
                                            <p:txEl>
                                              <p:pRg st="5" end="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584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21859" name="Rectangle 2"/>
          <p:cNvSpPr>
            <a:spLocks noGrp="1"/>
          </p:cNvSpPr>
          <p:nvPr>
            <p:ph type="title"/>
          </p:nvPr>
        </p:nvSpPr>
        <p:spPr>
          <a:ln/>
        </p:spPr>
        <p:txBody>
          <a:bodyPr vert="horz" wrap="square" lIns="91440" tIns="45720" rIns="91440" bIns="45720" anchor="ctr" anchorCtr="0"/>
          <a:lstStyle/>
          <a:p>
            <a:pPr eaLnBrk="1" hangingPunct="1"/>
            <a:r>
              <a:rPr lang="en-US" altLang="zh-CN" dirty="0"/>
              <a:t>7.3</a:t>
            </a:r>
            <a:r>
              <a:rPr lang="zh-CN" altLang="en-US" dirty="0"/>
              <a:t>.5 其他问题复杂性类</a:t>
            </a:r>
            <a:r>
              <a:rPr lang="en-US" altLang="zh-CN" dirty="0"/>
              <a:t>——co-NP</a:t>
            </a:r>
            <a:r>
              <a:rPr lang="zh-CN" altLang="en-US" dirty="0"/>
              <a:t>类</a:t>
            </a:r>
            <a:endParaRPr lang="en-US" altLang="zh-CN" dirty="0"/>
          </a:p>
        </p:txBody>
      </p:sp>
      <p:sp>
        <p:nvSpPr>
          <p:cNvPr id="60419" name="Rectangle 3"/>
          <p:cNvSpPr>
            <a:spLocks noGrp="1" noChangeArrowheads="1"/>
          </p:cNvSpPr>
          <p:nvPr>
            <p:ph type="body" sz="half" idx="1"/>
          </p:nvPr>
        </p:nvSpPr>
        <p:spPr>
          <a:xfrm>
            <a:off x="900113" y="1268413"/>
            <a:ext cx="7786688" cy="4491038"/>
          </a:xfrm>
        </p:spPr>
        <p:txBody>
          <a:bodyPr vert="horz" wrap="square" lIns="91440" tIns="45720" rIns="91440" bIns="45720" numCol="1" anchor="t" anchorCtr="0" compatLnSpc="1"/>
          <a:lstStyle/>
          <a:p>
            <a:pPr marL="419100" marR="0" lvl="0" indent="-4191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10.5</a:t>
            </a:r>
          </a:p>
          <a:p>
            <a:pPr marL="687705" marR="0" lvl="1" indent="-230505"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问题</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是</a:t>
            </a:r>
            <a:r>
              <a:rPr kumimoji="0" lang="en-US" altLang="zh-CN" sz="2200" b="0" i="0" u="none" strike="noStrike" kern="0" cap="none" spc="0" normalizeH="0" baseline="0" noProof="0" dirty="0">
                <a:ln>
                  <a:noFill/>
                </a:ln>
                <a:solidFill>
                  <a:schemeClr val="accent2"/>
                </a:solidFill>
                <a:effectLst/>
                <a:uLnTx/>
                <a:uFillTx/>
                <a:latin typeface="+mn-lt"/>
                <a:ea typeface="+mn-ea"/>
              </a:rPr>
              <a:t>NP</a:t>
            </a:r>
            <a:r>
              <a:rPr kumimoji="0" lang="zh-CN" altLang="en-US" sz="2200" b="0" i="0" u="none" strike="noStrike" kern="0" cap="none" spc="0" normalizeH="0" baseline="0" noProof="0" dirty="0">
                <a:ln>
                  <a:noFill/>
                </a:ln>
                <a:solidFill>
                  <a:schemeClr val="accent2"/>
                </a:solidFill>
                <a:effectLst/>
                <a:uLnTx/>
                <a:uFillTx/>
                <a:latin typeface="+mn-lt"/>
                <a:ea typeface="+mn-ea"/>
              </a:rPr>
              <a:t>完全的，当且仅当它的补</a:t>
            </a:r>
            <a:r>
              <a:rPr kumimoji="0" lang="en-US" altLang="zh-CN" sz="2200" b="0" i="0" u="none" strike="noStrike" kern="0" cap="none" spc="0" normalizeH="0" baseline="0" noProof="0" dirty="0">
                <a:ln>
                  <a:noFill/>
                </a:ln>
                <a:solidFill>
                  <a:schemeClr val="accent2"/>
                </a:solidFill>
                <a:effectLst/>
                <a:uLnTx/>
                <a:uFillTx/>
                <a:latin typeface="+mn-lt"/>
                <a:ea typeface="+mn-ea"/>
              </a:rPr>
              <a:t>     </a:t>
            </a:r>
            <a:r>
              <a:rPr kumimoji="0" lang="zh-CN" altLang="en-US" sz="2200" b="0" i="0" u="none" strike="noStrike" kern="0" cap="none" spc="0" normalizeH="0" baseline="0" noProof="0" dirty="0">
                <a:ln>
                  <a:noFill/>
                </a:ln>
                <a:solidFill>
                  <a:schemeClr val="accent2"/>
                </a:solidFill>
                <a:effectLst/>
                <a:uLnTx/>
                <a:uFillTx/>
                <a:latin typeface="+mn-lt"/>
                <a:ea typeface="+mn-ea"/>
              </a:rPr>
              <a:t>对于类</a:t>
            </a:r>
            <a:r>
              <a:rPr kumimoji="0" lang="en-US" altLang="zh-CN" sz="2200" b="0" i="0" u="none" strike="noStrike" kern="0" cap="none" spc="0" normalizeH="0" baseline="0" noProof="0" dirty="0">
                <a:ln>
                  <a:noFill/>
                </a:ln>
                <a:solidFill>
                  <a:schemeClr val="accent2"/>
                </a:solidFill>
                <a:effectLst/>
                <a:uLnTx/>
                <a:uFillTx/>
                <a:latin typeface="+mn-lt"/>
                <a:ea typeface="+mn-ea"/>
              </a:rPr>
              <a:t>co-NP</a:t>
            </a:r>
            <a:r>
              <a:rPr kumimoji="0" lang="zh-CN" altLang="en-US" sz="2200" b="0" i="0" u="none" strike="noStrike" kern="0" cap="none" spc="0" normalizeH="0" baseline="0" noProof="0" dirty="0">
                <a:ln>
                  <a:noFill/>
                </a:ln>
                <a:solidFill>
                  <a:schemeClr val="accent2"/>
                </a:solidFill>
                <a:effectLst/>
                <a:uLnTx/>
                <a:uFillTx/>
                <a:latin typeface="+mn-lt"/>
                <a:ea typeface="+mn-ea"/>
              </a:rPr>
              <a:t>是完全的。</a:t>
            </a:r>
            <a:endParaRPr kumimoji="0" lang="en-US" altLang="zh-CN" sz="2200" b="0" i="0" u="none" strike="noStrike" kern="0" cap="none" spc="0" normalizeH="0" baseline="0" noProof="0" dirty="0">
              <a:ln>
                <a:noFill/>
              </a:ln>
              <a:solidFill>
                <a:schemeClr val="accent2"/>
              </a:solidFill>
              <a:effectLst/>
              <a:uLnTx/>
              <a:uFillTx/>
              <a:latin typeface="+mn-lt"/>
              <a:ea typeface="+mn-ea"/>
            </a:endParaRPr>
          </a:p>
          <a:p>
            <a:pPr marL="687705" marR="0" lvl="1" indent="-230505"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endParaRPr>
          </a:p>
          <a:p>
            <a:pPr marL="419100" marR="0" lvl="0" indent="-4191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10.6</a:t>
            </a:r>
          </a:p>
          <a:p>
            <a:pPr marL="687705" marR="0" lvl="1" indent="-230505"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重言式问题</a:t>
            </a:r>
            <a:r>
              <a:rPr kumimoji="0" lang="en-US" altLang="zh-CN" sz="2200" b="0" i="0" u="none" strike="noStrike" kern="0" cap="none" spc="0" normalizeH="0" baseline="0" noProof="0" dirty="0">
                <a:ln>
                  <a:noFill/>
                </a:ln>
                <a:solidFill>
                  <a:schemeClr val="accent2"/>
                </a:solidFill>
                <a:effectLst/>
                <a:uLnTx/>
                <a:uFillTx/>
                <a:latin typeface="+mn-lt"/>
                <a:ea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rPr>
              <a:t>给出一个</a:t>
            </a:r>
            <a:r>
              <a:rPr kumimoji="0" lang="en-US" altLang="zh-CN" sz="2200" b="0" i="0" u="none" strike="noStrike" kern="0" cap="none" spc="0" normalizeH="0" baseline="0" noProof="0" dirty="0">
                <a:ln>
                  <a:noFill/>
                </a:ln>
                <a:solidFill>
                  <a:schemeClr val="accent2"/>
                </a:solidFill>
                <a:effectLst/>
                <a:uLnTx/>
                <a:uFillTx/>
                <a:latin typeface="+mn-lt"/>
                <a:ea typeface="+mn-ea"/>
              </a:rPr>
              <a:t>DNF</a:t>
            </a:r>
            <a:r>
              <a:rPr kumimoji="0" lang="zh-CN" altLang="en-US" sz="2200" b="0" i="0" u="none" strike="noStrike" kern="0" cap="none" spc="0" normalizeH="0" baseline="0" noProof="0" dirty="0">
                <a:ln>
                  <a:noFill/>
                </a:ln>
                <a:solidFill>
                  <a:schemeClr val="accent2"/>
                </a:solidFill>
                <a:effectLst/>
                <a:uLnTx/>
                <a:uFillTx/>
                <a:latin typeface="+mn-lt"/>
                <a:ea typeface="+mn-ea"/>
              </a:rPr>
              <a:t>公式</a:t>
            </a:r>
            <a:r>
              <a:rPr kumimoji="0" lang="en-US" altLang="zh-CN" sz="2200" b="0" i="0" u="none" strike="noStrike" kern="0" cap="none" spc="0" normalizeH="0" baseline="0" noProof="0" dirty="0">
                <a:ln>
                  <a:noFill/>
                </a:ln>
                <a:solidFill>
                  <a:schemeClr val="accent2"/>
                </a:solidFill>
                <a:effectLst/>
                <a:uLnTx/>
                <a:uFillTx/>
                <a:latin typeface="+mn-lt"/>
                <a:ea typeface="+mn-ea"/>
              </a:rPr>
              <a:t>f</a:t>
            </a:r>
            <a:r>
              <a:rPr kumimoji="0" lang="zh-CN" altLang="en-US" sz="2200" b="0" i="0" u="none" strike="noStrike" kern="0" cap="none" spc="0" normalizeH="0" baseline="0" noProof="0" dirty="0">
                <a:ln>
                  <a:noFill/>
                </a:ln>
                <a:solidFill>
                  <a:schemeClr val="accent2"/>
                </a:solidFill>
                <a:effectLst/>
                <a:uLnTx/>
                <a:uFillTx/>
                <a:latin typeface="+mn-lt"/>
                <a:ea typeface="+mn-ea"/>
              </a:rPr>
              <a:t>，它是重言式吗</a:t>
            </a:r>
            <a:r>
              <a:rPr kumimoji="0" lang="en-US" altLang="zh-CN" sz="2200" b="0" i="0" u="none" strike="noStrike" kern="0" cap="none" spc="0" normalizeH="0" baseline="0" noProof="0" dirty="0">
                <a:ln>
                  <a:noFill/>
                </a:ln>
                <a:solidFill>
                  <a:schemeClr val="accent2"/>
                </a:solidFill>
                <a:effectLst/>
                <a:uLnTx/>
                <a:uFillTx/>
                <a:latin typeface="+mn-lt"/>
                <a:ea typeface="+mn-ea"/>
              </a:rPr>
              <a:t>? </a:t>
            </a:r>
            <a:r>
              <a:rPr kumimoji="0" lang="zh-CN" altLang="en-US" sz="2200" b="0" i="0" u="none" strike="noStrike" kern="0" cap="none" spc="0" normalizeH="0" baseline="0" noProof="0" dirty="0">
                <a:ln>
                  <a:noFill/>
                </a:ln>
                <a:solidFill>
                  <a:schemeClr val="accent2"/>
                </a:solidFill>
                <a:effectLst/>
                <a:uLnTx/>
                <a:uFillTx/>
                <a:latin typeface="+mn-lt"/>
                <a:ea typeface="+mn-ea"/>
              </a:rPr>
              <a:t>这个问题对于</a:t>
            </a:r>
            <a:r>
              <a:rPr kumimoji="0" lang="en-US" altLang="zh-CN" sz="2200" b="0" i="0" u="none" strike="noStrike" kern="0" cap="none" spc="0" normalizeH="0" baseline="0" noProof="0" dirty="0">
                <a:ln>
                  <a:noFill/>
                </a:ln>
                <a:solidFill>
                  <a:schemeClr val="accent2"/>
                </a:solidFill>
                <a:effectLst/>
                <a:uLnTx/>
                <a:uFillTx/>
                <a:latin typeface="+mn-lt"/>
                <a:ea typeface="+mn-ea"/>
              </a:rPr>
              <a:t>co-NP</a:t>
            </a:r>
            <a:r>
              <a:rPr kumimoji="0" lang="zh-CN" altLang="en-US" sz="2200" b="0" i="0" u="none" strike="noStrike" kern="0" cap="none" spc="0" normalizeH="0" baseline="0" noProof="0" dirty="0">
                <a:ln>
                  <a:noFill/>
                </a:ln>
                <a:solidFill>
                  <a:schemeClr val="accent2"/>
                </a:solidFill>
                <a:effectLst/>
                <a:uLnTx/>
                <a:uFillTx/>
                <a:latin typeface="+mn-lt"/>
                <a:ea typeface="+mn-ea"/>
              </a:rPr>
              <a:t>类是完全的</a:t>
            </a:r>
          </a:p>
          <a:p>
            <a:pPr marL="687705" marR="0" lvl="1" indent="-230505"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由此得出下列结论</a:t>
            </a:r>
            <a:r>
              <a:rPr kumimoji="0" lang="en-US" altLang="zh-CN" sz="2200" b="0" i="0" u="none" strike="noStrike" kern="0" cap="none" spc="0" normalizeH="0" baseline="0" noProof="0" dirty="0">
                <a:ln>
                  <a:noFill/>
                </a:ln>
                <a:solidFill>
                  <a:schemeClr val="accent2"/>
                </a:solidFill>
                <a:effectLst/>
                <a:uLnTx/>
                <a:uFillTx/>
                <a:latin typeface="+mn-lt"/>
                <a:ea typeface="+mn-ea"/>
              </a:rPr>
              <a:t>:</a:t>
            </a:r>
          </a:p>
          <a:p>
            <a:pPr marL="687705" marR="0" lvl="1" indent="-230505" algn="l" defTabSz="914400" rtl="0" eaLnBrk="1" fontAlgn="base" latinLnBrk="0" hangingPunct="1">
              <a:lnSpc>
                <a:spcPct val="100000"/>
              </a:lnSpc>
              <a:spcBef>
                <a:spcPct val="20000"/>
              </a:spcBef>
              <a:spcAft>
                <a:spcPct val="0"/>
              </a:spcAft>
              <a:buClrTx/>
              <a:buSzTx/>
              <a:buFont typeface="Wingdings" panose="05000000000000000000" pitchFamily="2" charset="2"/>
              <a:buAutoNum type="arabicParenBoth"/>
              <a:defRPr/>
            </a:pPr>
            <a:r>
              <a:rPr kumimoji="0" lang="zh-CN" altLang="en-US" sz="2200" b="0" i="0" u="none" strike="noStrike" kern="0" cap="none" spc="0" normalizeH="0" baseline="0" noProof="0" dirty="0">
                <a:ln>
                  <a:noFill/>
                </a:ln>
                <a:solidFill>
                  <a:schemeClr val="accent2"/>
                </a:solidFill>
                <a:effectLst/>
                <a:uLnTx/>
                <a:uFillTx/>
                <a:latin typeface="+mn-lt"/>
                <a:ea typeface="+mn-ea"/>
              </a:rPr>
              <a:t>重言式问题属于</a:t>
            </a:r>
            <a:r>
              <a:rPr kumimoji="0" lang="en-US" altLang="zh-CN" sz="2200" b="0" i="0" u="none" strike="noStrike" kern="0" cap="none" spc="0" normalizeH="0" baseline="0" noProof="0" dirty="0">
                <a:ln>
                  <a:noFill/>
                </a:ln>
                <a:solidFill>
                  <a:schemeClr val="accent2"/>
                </a:solidFill>
                <a:effectLst/>
                <a:uLnTx/>
                <a:uFillTx/>
                <a:latin typeface="+mn-lt"/>
                <a:ea typeface="+mn-ea"/>
              </a:rPr>
              <a:t>P</a:t>
            </a:r>
            <a:r>
              <a:rPr kumimoji="0" lang="zh-CN" altLang="en-US" sz="2200" b="0" i="0" u="none" strike="noStrike" kern="0" cap="none" spc="0" normalizeH="0" baseline="0" noProof="0" dirty="0">
                <a:ln>
                  <a:noFill/>
                </a:ln>
                <a:solidFill>
                  <a:schemeClr val="accent2"/>
                </a:solidFill>
                <a:effectLst/>
                <a:uLnTx/>
                <a:uFillTx/>
                <a:latin typeface="+mn-lt"/>
                <a:ea typeface="+mn-ea"/>
              </a:rPr>
              <a:t>当且仅当</a:t>
            </a:r>
            <a:r>
              <a:rPr kumimoji="0" lang="en-US" altLang="zh-CN" sz="2200" b="0" i="0" u="none" strike="noStrike" kern="0" cap="none" spc="0" normalizeH="0" baseline="0" noProof="0" dirty="0">
                <a:ln>
                  <a:noFill/>
                </a:ln>
                <a:solidFill>
                  <a:schemeClr val="accent2"/>
                </a:solidFill>
                <a:effectLst/>
                <a:uLnTx/>
                <a:uFillTx/>
                <a:latin typeface="+mn-lt"/>
                <a:ea typeface="+mn-ea"/>
              </a:rPr>
              <a:t>co-NP=P,</a:t>
            </a:r>
          </a:p>
          <a:p>
            <a:pPr marL="687705" marR="0" lvl="1" indent="-230505" algn="l" defTabSz="914400" rtl="0" eaLnBrk="1" fontAlgn="base" latinLnBrk="0" hangingPunct="1">
              <a:lnSpc>
                <a:spcPct val="100000"/>
              </a:lnSpc>
              <a:spcBef>
                <a:spcPct val="20000"/>
              </a:spcBef>
              <a:spcAft>
                <a:spcPct val="0"/>
              </a:spcAft>
              <a:buClrTx/>
              <a:buSzTx/>
              <a:buFont typeface="Wingdings" panose="05000000000000000000" pitchFamily="2" charset="2"/>
              <a:buAutoNum type="arabicParenBoth"/>
              <a:defRPr/>
            </a:pPr>
            <a:r>
              <a:rPr kumimoji="0" lang="zh-CN" altLang="en-US" sz="2200" b="0" i="0" u="none" strike="noStrike" kern="0" cap="none" spc="0" normalizeH="0" baseline="0" noProof="0" dirty="0">
                <a:ln>
                  <a:noFill/>
                </a:ln>
                <a:solidFill>
                  <a:schemeClr val="accent2"/>
                </a:solidFill>
                <a:effectLst/>
                <a:uLnTx/>
                <a:uFillTx/>
                <a:latin typeface="+mn-lt"/>
                <a:ea typeface="+mn-ea"/>
              </a:rPr>
              <a:t>重言式问题属于</a:t>
            </a:r>
            <a:r>
              <a:rPr kumimoji="0" lang="en-US" altLang="zh-CN" sz="2200" b="0" i="0" u="none" strike="noStrike" kern="0" cap="none" spc="0" normalizeH="0" baseline="0" noProof="0" dirty="0">
                <a:ln>
                  <a:noFill/>
                </a:ln>
                <a:solidFill>
                  <a:schemeClr val="accent2"/>
                </a:solidFill>
                <a:effectLst/>
                <a:uLnTx/>
                <a:uFillTx/>
                <a:latin typeface="+mn-lt"/>
                <a:ea typeface="+mn-ea"/>
              </a:rPr>
              <a:t>NP</a:t>
            </a:r>
            <a:r>
              <a:rPr kumimoji="0" lang="zh-CN" altLang="en-US" sz="2200" b="0" i="0" u="none" strike="noStrike" kern="0" cap="none" spc="0" normalizeH="0" baseline="0" noProof="0" dirty="0">
                <a:ln>
                  <a:noFill/>
                </a:ln>
                <a:solidFill>
                  <a:schemeClr val="accent2"/>
                </a:solidFill>
                <a:effectLst/>
                <a:uLnTx/>
                <a:uFillTx/>
                <a:latin typeface="+mn-lt"/>
                <a:ea typeface="+mn-ea"/>
              </a:rPr>
              <a:t>当且仅当</a:t>
            </a:r>
            <a:r>
              <a:rPr kumimoji="0" lang="en-US" altLang="zh-CN" sz="2200" b="0" i="0" u="none" strike="noStrike" kern="0" cap="none" spc="0" normalizeH="0" baseline="0" noProof="0" dirty="0">
                <a:ln>
                  <a:noFill/>
                </a:ln>
                <a:solidFill>
                  <a:schemeClr val="accent2"/>
                </a:solidFill>
                <a:effectLst/>
                <a:uLnTx/>
                <a:uFillTx/>
                <a:latin typeface="+mn-lt"/>
                <a:ea typeface="+mn-ea"/>
              </a:rPr>
              <a:t>co-NP=NP</a:t>
            </a:r>
            <a:r>
              <a:rPr kumimoji="0" lang="en-US" altLang="zh-CN" sz="2400" b="0" i="0" u="none" strike="noStrike" kern="0" cap="none" spc="0" normalizeH="0" baseline="0" noProof="0" dirty="0">
                <a:ln>
                  <a:noFill/>
                </a:ln>
                <a:solidFill>
                  <a:schemeClr val="accent2"/>
                </a:solidFill>
                <a:effectLst/>
                <a:uLnTx/>
                <a:uFillTx/>
                <a:latin typeface="+mn-lt"/>
                <a:ea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rPr>
              <a:t>。</a:t>
            </a:r>
            <a:endParaRPr kumimoji="0" lang="en-US" altLang="zh-CN" sz="2400" b="0" i="0" u="none" strike="noStrike" kern="0" cap="none" spc="0" normalizeH="0" baseline="0" noProof="0" dirty="0">
              <a:ln>
                <a:noFill/>
              </a:ln>
              <a:solidFill>
                <a:schemeClr val="accent2"/>
              </a:solidFill>
              <a:effectLst/>
              <a:uLnTx/>
              <a:uFillTx/>
              <a:latin typeface="+mn-lt"/>
              <a:ea typeface="+mn-ea"/>
            </a:endParaRPr>
          </a:p>
        </p:txBody>
      </p:sp>
      <p:graphicFrame>
        <p:nvGraphicFramePr>
          <p:cNvPr id="60420" name="Object 4"/>
          <p:cNvGraphicFramePr>
            <a:graphicFrameLocks noGrp="1" noChangeAspect="1"/>
          </p:cNvGraphicFramePr>
          <p:nvPr>
            <p:ph sz="half" idx="2"/>
          </p:nvPr>
        </p:nvGraphicFramePr>
        <p:xfrm>
          <a:off x="6248400" y="1752600"/>
          <a:ext cx="401638" cy="373063"/>
        </p:xfrm>
        <a:graphic>
          <a:graphicData uri="http://schemas.openxmlformats.org/presentationml/2006/ole">
            <mc:AlternateContent xmlns:mc="http://schemas.openxmlformats.org/markup-compatibility/2006">
              <mc:Choice xmlns:v="urn:schemas-microsoft-com:vml" Requires="v">
                <p:oleObj spid="_x0000_s8207" r:id="rId5" imgW="317500" imgH="279400" progId="Equation.3">
                  <p:embed/>
                </p:oleObj>
              </mc:Choice>
              <mc:Fallback>
                <p:oleObj r:id="rId5" imgW="317500" imgH="279400" progId="Equation.3">
                  <p:embed/>
                  <p:pic>
                    <p:nvPicPr>
                      <p:cNvPr id="0" name="图片 3076"/>
                      <p:cNvPicPr/>
                      <p:nvPr/>
                    </p:nvPicPr>
                    <p:blipFill>
                      <a:blip r:embed="rId6"/>
                      <a:srcRect/>
                      <a:stretch>
                        <a:fillRect/>
                      </a:stretch>
                    </p:blipFill>
                    <p:spPr>
                      <a:xfrm>
                        <a:off x="6248400" y="1752600"/>
                        <a:ext cx="401638" cy="373063"/>
                      </a:xfrm>
                      <a:prstGeom prst="rect">
                        <a:avLst/>
                      </a:prstGeom>
                      <a:noFill/>
                      <a:ln w="38100">
                        <a:miter/>
                      </a:ln>
                    </p:spPr>
                  </p:pic>
                </p:oleObj>
              </mc:Fallback>
            </mc:AlternateContent>
          </a:graphicData>
        </a:graphic>
      </p:graphicFrame>
      <p:pic>
        <p:nvPicPr>
          <p:cNvPr id="60422" name="Picture 6" descr="theorem"/>
          <p:cNvPicPr>
            <a:picLocks noChangeAspect="1"/>
          </p:cNvPicPr>
          <p:nvPr/>
        </p:nvPicPr>
        <p:blipFill>
          <a:blip r:embed="rId7"/>
          <a:stretch>
            <a:fillRect/>
          </a:stretch>
        </p:blipFill>
        <p:spPr>
          <a:xfrm>
            <a:off x="838200" y="1295400"/>
            <a:ext cx="504825" cy="319088"/>
          </a:xfrm>
          <a:prstGeom prst="rect">
            <a:avLst/>
          </a:prstGeom>
          <a:noFill/>
          <a:ln w="9525">
            <a:noFill/>
          </a:ln>
        </p:spPr>
      </p:pic>
      <p:pic>
        <p:nvPicPr>
          <p:cNvPr id="60423" name="Picture 7" descr="theorem"/>
          <p:cNvPicPr>
            <a:picLocks noChangeAspect="1"/>
          </p:cNvPicPr>
          <p:nvPr/>
        </p:nvPicPr>
        <p:blipFill>
          <a:blip r:embed="rId7"/>
          <a:stretch>
            <a:fillRect/>
          </a:stretch>
        </p:blipFill>
        <p:spPr>
          <a:xfrm>
            <a:off x="866775" y="2743200"/>
            <a:ext cx="504825" cy="3190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0422"/>
                                        </p:tgtEl>
                                        <p:attrNameLst>
                                          <p:attrName>style.visibility</p:attrName>
                                        </p:attrNameLst>
                                      </p:cBhvr>
                                      <p:to>
                                        <p:strVal val="visible"/>
                                      </p:to>
                                    </p:set>
                                    <p:anim calcmode="lin" valueType="num">
                                      <p:cBhvr>
                                        <p:cTn id="7" dur="500" fill="hold"/>
                                        <p:tgtEl>
                                          <p:spTgt spid="60422"/>
                                        </p:tgtEl>
                                        <p:attrNameLst>
                                          <p:attrName>ppt_w</p:attrName>
                                        </p:attrNameLst>
                                      </p:cBhvr>
                                      <p:tavLst>
                                        <p:tav tm="0">
                                          <p:val>
                                            <p:fltVal val="0"/>
                                          </p:val>
                                        </p:tav>
                                        <p:tav tm="100000">
                                          <p:val>
                                            <p:strVal val="#ppt_w"/>
                                          </p:val>
                                        </p:tav>
                                      </p:tavLst>
                                    </p:anim>
                                    <p:anim calcmode="lin" valueType="num">
                                      <p:cBhvr>
                                        <p:cTn id="8" dur="500" fill="hold"/>
                                        <p:tgtEl>
                                          <p:spTgt spid="60422"/>
                                        </p:tgtEl>
                                        <p:attrNameLst>
                                          <p:attrName>ppt_h</p:attrName>
                                        </p:attrNameLst>
                                      </p:cBhvr>
                                      <p:tavLst>
                                        <p:tav tm="0">
                                          <p:val>
                                            <p:fltVal val="0"/>
                                          </p:val>
                                        </p:tav>
                                        <p:tav tm="100000">
                                          <p:val>
                                            <p:strVal val="#ppt_h"/>
                                          </p:val>
                                        </p:tav>
                                      </p:tavLst>
                                    </p:anim>
                                    <p:anim calcmode="lin" valueType="num">
                                      <p:cBhvr>
                                        <p:cTn id="9" dur="500" fill="hold"/>
                                        <p:tgtEl>
                                          <p:spTgt spid="60422"/>
                                        </p:tgtEl>
                                        <p:attrNameLst>
                                          <p:attrName>style.rotation</p:attrName>
                                        </p:attrNameLst>
                                      </p:cBhvr>
                                      <p:tavLst>
                                        <p:tav tm="0">
                                          <p:val>
                                            <p:fltVal val="360"/>
                                          </p:val>
                                        </p:tav>
                                        <p:tav tm="100000">
                                          <p:val>
                                            <p:fltVal val="0"/>
                                          </p:val>
                                        </p:tav>
                                      </p:tavLst>
                                    </p:anim>
                                    <p:animEffect transition="in" filter="fade">
                                      <p:cBhvr>
                                        <p:cTn id="10" dur="500"/>
                                        <p:tgtEl>
                                          <p:spTgt spid="60422"/>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par>
                                <p:cTn id="11" presetID="3" presetClass="entr" presetSubtype="10" fill="hold" nodeType="withEffect">
                                  <p:stCondLst>
                                    <p:cond delay="0"/>
                                  </p:stCondLst>
                                  <p:childTnLst>
                                    <p:set>
                                      <p:cBhvr>
                                        <p:cTn id="12"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13" dur="500"/>
                                        <p:tgtEl>
                                          <p:spTgt spid="6041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8" dur="500"/>
                                        <p:tgtEl>
                                          <p:spTgt spid="60419">
                                            <p:txEl>
                                              <p:pRg st="1" end="1"/>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0420"/>
                                        </p:tgtEl>
                                        <p:attrNameLst>
                                          <p:attrName>style.visibility</p:attrName>
                                        </p:attrNameLst>
                                      </p:cBhvr>
                                      <p:to>
                                        <p:strVal val="visible"/>
                                      </p:to>
                                    </p:set>
                                    <p:animEffect transition="in" filter="blinds(horizontal)">
                                      <p:cBhvr>
                                        <p:cTn id="21" dur="500"/>
                                        <p:tgtEl>
                                          <p:spTgt spid="60420"/>
                                        </p:tgtEl>
                                      </p:cBhvr>
                                    </p:animEffect>
                                  </p:childTnLst>
                                </p:cTn>
                              </p:par>
                            </p:childTnLst>
                          </p:cTn>
                        </p:par>
                      </p:childTnLst>
                    </p:cTn>
                  </p:par>
                  <p:par>
                    <p:cTn id="22" fill="hold">
                      <p:stCondLst>
                        <p:cond delay="indefinite"/>
                      </p:stCondLst>
                      <p:childTnLst>
                        <p:par>
                          <p:cTn id="23" fill="hold">
                            <p:stCondLst>
                              <p:cond delay="0"/>
                            </p:stCondLst>
                            <p:childTnLst>
                              <p:par>
                                <p:cTn id="24" presetID="49" presetClass="entr" presetSubtype="0" decel="100000" fill="hold" nodeType="clickEffect">
                                  <p:stCondLst>
                                    <p:cond delay="0"/>
                                  </p:stCondLst>
                                  <p:childTnLst>
                                    <p:set>
                                      <p:cBhvr>
                                        <p:cTn id="25" dur="1" fill="hold">
                                          <p:stCondLst>
                                            <p:cond delay="0"/>
                                          </p:stCondLst>
                                        </p:cTn>
                                        <p:tgtEl>
                                          <p:spTgt spid="60423"/>
                                        </p:tgtEl>
                                        <p:attrNameLst>
                                          <p:attrName>style.visibility</p:attrName>
                                        </p:attrNameLst>
                                      </p:cBhvr>
                                      <p:to>
                                        <p:strVal val="visible"/>
                                      </p:to>
                                    </p:set>
                                    <p:anim calcmode="lin" valueType="num">
                                      <p:cBhvr>
                                        <p:cTn id="26" dur="500" fill="hold"/>
                                        <p:tgtEl>
                                          <p:spTgt spid="60423"/>
                                        </p:tgtEl>
                                        <p:attrNameLst>
                                          <p:attrName>ppt_w</p:attrName>
                                        </p:attrNameLst>
                                      </p:cBhvr>
                                      <p:tavLst>
                                        <p:tav tm="0">
                                          <p:val>
                                            <p:fltVal val="0"/>
                                          </p:val>
                                        </p:tav>
                                        <p:tav tm="100000">
                                          <p:val>
                                            <p:strVal val="#ppt_w"/>
                                          </p:val>
                                        </p:tav>
                                      </p:tavLst>
                                    </p:anim>
                                    <p:anim calcmode="lin" valueType="num">
                                      <p:cBhvr>
                                        <p:cTn id="27" dur="500" fill="hold"/>
                                        <p:tgtEl>
                                          <p:spTgt spid="60423"/>
                                        </p:tgtEl>
                                        <p:attrNameLst>
                                          <p:attrName>ppt_h</p:attrName>
                                        </p:attrNameLst>
                                      </p:cBhvr>
                                      <p:tavLst>
                                        <p:tav tm="0">
                                          <p:val>
                                            <p:fltVal val="0"/>
                                          </p:val>
                                        </p:tav>
                                        <p:tav tm="100000">
                                          <p:val>
                                            <p:strVal val="#ppt_h"/>
                                          </p:val>
                                        </p:tav>
                                      </p:tavLst>
                                    </p:anim>
                                    <p:anim calcmode="lin" valueType="num">
                                      <p:cBhvr>
                                        <p:cTn id="28" dur="500" fill="hold"/>
                                        <p:tgtEl>
                                          <p:spTgt spid="60423"/>
                                        </p:tgtEl>
                                        <p:attrNameLst>
                                          <p:attrName>style.rotation</p:attrName>
                                        </p:attrNameLst>
                                      </p:cBhvr>
                                      <p:tavLst>
                                        <p:tav tm="0">
                                          <p:val>
                                            <p:fltVal val="360"/>
                                          </p:val>
                                        </p:tav>
                                        <p:tav tm="100000">
                                          <p:val>
                                            <p:fltVal val="0"/>
                                          </p:val>
                                        </p:tav>
                                      </p:tavLst>
                                    </p:anim>
                                    <p:animEffect transition="in" filter="fade">
                                      <p:cBhvr>
                                        <p:cTn id="29" dur="500"/>
                                        <p:tgtEl>
                                          <p:spTgt spid="60423"/>
                                        </p:tgtEl>
                                      </p:cBhvr>
                                    </p:animEffect>
                                  </p:childTnLst>
                                  <p:subTnLst>
                                    <p:audio>
                                      <p:cMediaNode>
                                        <p:cTn display="0" masterRel="sameClick">
                                          <p:stCondLst>
                                            <p:cond evt="begin" delay="0">
                                              <p:tn val="24"/>
                                            </p:cond>
                                          </p:stCondLst>
                                          <p:endCondLst>
                                            <p:cond evt="onStopAudio" delay="0">
                                              <p:tgtEl>
                                                <p:sldTgt/>
                                              </p:tgtEl>
                                            </p:cond>
                                          </p:endCondLst>
                                        </p:cTn>
                                        <p:tgtEl>
                                          <p:sndTgt r:embed="rId4" name="chimes.wav"/>
                                        </p:tgtEl>
                                      </p:cMediaNode>
                                    </p:audio>
                                  </p:subTnLst>
                                </p:cTn>
                              </p:par>
                              <p:par>
                                <p:cTn id="30" presetID="3" presetClass="entr" presetSubtype="10" fill="hold" nodeType="withEffect">
                                  <p:stCondLst>
                                    <p:cond delay="0"/>
                                  </p:stCondLst>
                                  <p:childTnLst>
                                    <p:set>
                                      <p:cBhvr>
                                        <p:cTn id="31"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32" dur="500"/>
                                        <p:tgtEl>
                                          <p:spTgt spid="60419">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37" dur="500"/>
                                        <p:tgtEl>
                                          <p:spTgt spid="60419">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42" dur="500"/>
                                        <p:tgtEl>
                                          <p:spTgt spid="60419">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60419">
                                            <p:txEl>
                                              <p:pRg st="6" end="6"/>
                                            </p:txEl>
                                          </p:spTgt>
                                        </p:tgtEl>
                                        <p:attrNameLst>
                                          <p:attrName>style.visibility</p:attrName>
                                        </p:attrNameLst>
                                      </p:cBhvr>
                                      <p:to>
                                        <p:strVal val="visible"/>
                                      </p:to>
                                    </p:set>
                                    <p:anim calcmode="lin" valueType="num">
                                      <p:cBhvr additive="base">
                                        <p:cTn id="47" dur="500" fill="hold"/>
                                        <p:tgtEl>
                                          <p:spTgt spid="60419">
                                            <p:txEl>
                                              <p:pRg st="6" end="6"/>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04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60419">
                                            <p:txEl>
                                              <p:pRg st="7" end="7"/>
                                            </p:txEl>
                                          </p:spTgt>
                                        </p:tgtEl>
                                        <p:attrNameLst>
                                          <p:attrName>style.visibility</p:attrName>
                                        </p:attrNameLst>
                                      </p:cBhvr>
                                      <p:to>
                                        <p:strVal val="visible"/>
                                      </p:to>
                                    </p:set>
                                    <p:anim calcmode="lin" valueType="num">
                                      <p:cBhvr additive="base">
                                        <p:cTn id="53" dur="500" fill="hold"/>
                                        <p:tgtEl>
                                          <p:spTgt spid="60419">
                                            <p:txEl>
                                              <p:pRg st="7" end="7"/>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6041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23907" name="Rectangle 2"/>
          <p:cNvSpPr>
            <a:spLocks noGrp="1"/>
          </p:cNvSpPr>
          <p:nvPr>
            <p:ph type="title"/>
          </p:nvPr>
        </p:nvSpPr>
        <p:spPr>
          <a:ln/>
        </p:spPr>
        <p:txBody>
          <a:bodyPr vert="horz" wrap="square" lIns="91440" tIns="45720" rIns="91440" bIns="45720" anchor="ctr" anchorCtr="0"/>
          <a:lstStyle/>
          <a:p>
            <a:pPr eaLnBrk="1" hangingPunct="1"/>
            <a:r>
              <a:rPr lang="en-US" altLang="zh-CN" dirty="0"/>
              <a:t>7.3</a:t>
            </a:r>
            <a:r>
              <a:rPr lang="zh-CN" altLang="en-US" dirty="0"/>
              <a:t>.5 其他问题复杂性类</a:t>
            </a:r>
            <a:r>
              <a:rPr lang="en-US" altLang="zh-CN" dirty="0"/>
              <a:t>——co-NP</a:t>
            </a:r>
            <a:r>
              <a:rPr lang="zh-CN" altLang="en-US" dirty="0"/>
              <a:t>类</a:t>
            </a:r>
            <a:endParaRPr lang="en-US" altLang="zh-CN" dirty="0"/>
          </a:p>
        </p:txBody>
      </p:sp>
      <p:sp>
        <p:nvSpPr>
          <p:cNvPr id="60419" name="Rectangle 3"/>
          <p:cNvSpPr>
            <a:spLocks noGrp="1" noChangeArrowheads="1"/>
          </p:cNvSpPr>
          <p:nvPr>
            <p:ph type="body" sz="half" idx="1"/>
          </p:nvPr>
        </p:nvSpPr>
        <p:spPr>
          <a:xfrm>
            <a:off x="900113" y="1268413"/>
            <a:ext cx="7786688" cy="44910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如果一个复合命题，不管其原子命题取什么值，它</a:t>
            </a:r>
            <a:r>
              <a:rPr kumimoji="0" lang="zh-CN" altLang="en-US" sz="2000" b="0" i="0" u="none" strike="noStrike" kern="0" cap="none" spc="0" normalizeH="0" baseline="0" noProof="0" dirty="0">
                <a:ln>
                  <a:noFill/>
                </a:ln>
                <a:solidFill>
                  <a:srgbClr val="FF0000"/>
                </a:solidFill>
                <a:effectLst/>
                <a:uLnTx/>
                <a:uFillTx/>
                <a:latin typeface="+mn-lt"/>
                <a:ea typeface="+mn-ea"/>
                <a:cs typeface="+mn-cs"/>
              </a:rPr>
              <a:t>总是为真</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，则我们称之为</a:t>
            </a:r>
            <a:r>
              <a:rPr kumimoji="0" lang="zh-CN" altLang="en-US" sz="2000" b="0" i="0" u="none" strike="noStrike" kern="0" cap="none" spc="0" normalizeH="0" baseline="0" noProof="0" dirty="0">
                <a:ln>
                  <a:noFill/>
                </a:ln>
                <a:solidFill>
                  <a:srgbClr val="FF0000"/>
                </a:solidFill>
                <a:effectLst/>
                <a:uLnTx/>
                <a:uFillTx/>
                <a:latin typeface="+mn-lt"/>
                <a:ea typeface="+mn-ea"/>
                <a:cs typeface="+mn-cs"/>
              </a:rPr>
              <a:t>重言式</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0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要判断一个命题是不是重言式。列真值表，穷尽原子命题的所有可能取值，看看这个命题是不是总取真值，如果总是真则它就是重言式了。</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比如判断</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(p</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q)</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p</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q</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是不是重言式。</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mn-lt"/>
              <a:ea typeface="+mn-ea"/>
              <a:cs typeface="+mn-cs"/>
            </a:endParaRPr>
          </a:p>
          <a:p>
            <a:pPr marL="419100" marR="0" lvl="0" indent="-4191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p:txBody>
      </p:sp>
      <p:pic>
        <p:nvPicPr>
          <p:cNvPr id="123909" name="Picture 4" descr="http://image.sciencenet.cn/album/201702/26/2254194mmeqaoaqqqiqqqi.png"/>
          <p:cNvPicPr>
            <a:picLocks noChangeAspect="1"/>
          </p:cNvPicPr>
          <p:nvPr/>
        </p:nvPicPr>
        <p:blipFill>
          <a:blip r:embed="rId3"/>
          <a:stretch>
            <a:fillRect/>
          </a:stretch>
        </p:blipFill>
        <p:spPr>
          <a:xfrm>
            <a:off x="1503363" y="3535363"/>
            <a:ext cx="6137275" cy="16351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25955" name="Rectangle 2"/>
          <p:cNvSpPr>
            <a:spLocks noGrp="1"/>
          </p:cNvSpPr>
          <p:nvPr>
            <p:ph type="title"/>
          </p:nvPr>
        </p:nvSpPr>
        <p:spPr>
          <a:ln/>
        </p:spPr>
        <p:txBody>
          <a:bodyPr vert="horz" wrap="square" lIns="91440" tIns="45720" rIns="91440" bIns="45720" anchor="ctr" anchorCtr="0"/>
          <a:lstStyle/>
          <a:p>
            <a:pPr eaLnBrk="1" hangingPunct="1"/>
            <a:r>
              <a:rPr lang="en-US" altLang="zh-CN" dirty="0"/>
              <a:t>7.3</a:t>
            </a:r>
            <a:r>
              <a:rPr lang="zh-CN" altLang="en-US" dirty="0"/>
              <a:t>.5 其他问题复杂性类</a:t>
            </a:r>
            <a:r>
              <a:rPr lang="en-US" altLang="zh-CN" dirty="0"/>
              <a:t>——</a:t>
            </a:r>
            <a:r>
              <a:rPr lang="en-US" altLang="zh-CN" dirty="0" err="1"/>
              <a:t>NPI</a:t>
            </a:r>
            <a:r>
              <a:rPr lang="zh-CN" altLang="en-US" dirty="0"/>
              <a:t>类</a:t>
            </a:r>
            <a:endParaRPr lang="en-US" altLang="zh-CN" dirty="0"/>
          </a:p>
        </p:txBody>
      </p:sp>
      <p:sp>
        <p:nvSpPr>
          <p:cNvPr id="62467" name="Rectangle 3"/>
          <p:cNvSpPr>
            <a:spLocks noGrp="1" noChangeArrowheads="1"/>
          </p:cNvSpPr>
          <p:nvPr>
            <p:ph type="body" sz="half" idx="1"/>
          </p:nvPr>
        </p:nvSpPr>
        <p:spPr>
          <a:xfrm>
            <a:off x="914400" y="1219200"/>
            <a:ext cx="8153400" cy="4572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10.7</a:t>
            </a: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如果问题</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和它的补</a:t>
            </a:r>
            <a:r>
              <a:rPr kumimoji="0" lang="en-US" altLang="zh-CN" sz="2400" b="0" i="0" u="none" strike="noStrike" kern="0" cap="none" spc="0" normalizeH="0" baseline="0" noProof="0" dirty="0">
                <a:ln>
                  <a:noFill/>
                </a:ln>
                <a:solidFill>
                  <a:schemeClr val="accent2"/>
                </a:solidFill>
                <a:effectLst/>
                <a:uLnTx/>
                <a:uFillTx/>
                <a:latin typeface="+mn-lt"/>
                <a:ea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rPr>
              <a:t>  是</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完全的，那么</a:t>
            </a:r>
            <a:r>
              <a:rPr kumimoji="0" lang="en-US" altLang="zh-CN" sz="2400" b="0" i="0" u="none" strike="noStrike" kern="0" cap="none" spc="0" normalizeH="0" baseline="0" noProof="0" dirty="0">
                <a:ln>
                  <a:noFill/>
                </a:ln>
                <a:solidFill>
                  <a:schemeClr val="accent2"/>
                </a:solidFill>
                <a:effectLst/>
                <a:uLnTx/>
                <a:uFillTx/>
                <a:latin typeface="+mn-lt"/>
                <a:ea typeface="+mn-ea"/>
              </a:rPr>
              <a:t>co-NP=NP</a:t>
            </a:r>
            <a:r>
              <a:rPr kumimoji="0" lang="zh-CN" altLang="en-US" sz="2400" b="0" i="0" u="none" strike="noStrike" kern="0" cap="none" spc="0" normalizeH="0" baseline="0" noProof="0" dirty="0">
                <a:ln>
                  <a:noFill/>
                </a:ln>
                <a:solidFill>
                  <a:schemeClr val="accent2"/>
                </a:solidFill>
                <a:effectLst/>
                <a:uLnTx/>
                <a:uFillTx/>
                <a:latin typeface="+mn-lt"/>
                <a:ea typeface="+mn-ea"/>
              </a:rPr>
              <a:t>。</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换句话说，如果问题</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和它的补都是</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完全的，那么</a:t>
            </a:r>
            <a:r>
              <a:rPr kumimoji="0" lang="en-US" altLang="zh-CN" sz="2400" b="0" i="0" u="none" strike="noStrike" kern="0" cap="none" spc="0" normalizeH="0" baseline="0" noProof="0" dirty="0">
                <a:ln>
                  <a:noFill/>
                </a:ln>
                <a:solidFill>
                  <a:schemeClr val="accent2"/>
                </a:solidFill>
                <a:effectLst/>
                <a:uLnTx/>
                <a:uFillTx/>
                <a:latin typeface="+mn-lt"/>
                <a:ea typeface="+mn-ea"/>
              </a:rPr>
              <a:t>NP</a:t>
            </a:r>
            <a:r>
              <a:rPr kumimoji="0" lang="zh-CN" altLang="en-US" sz="2400" b="0" i="0" u="none" strike="noStrike" kern="0" cap="none" spc="0" normalizeH="0" baseline="0" noProof="0" dirty="0">
                <a:ln>
                  <a:noFill/>
                </a:ln>
                <a:solidFill>
                  <a:schemeClr val="accent2"/>
                </a:solidFill>
                <a:effectLst/>
                <a:uLnTx/>
                <a:uFillTx/>
                <a:latin typeface="+mn-lt"/>
                <a:ea typeface="+mn-ea"/>
              </a:rPr>
              <a:t>类在补运算下是封闭的。</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NPI class: the class of problems that they and their complementation are in NP, but are not NP-complete. </a:t>
            </a:r>
          </a:p>
        </p:txBody>
      </p:sp>
      <p:graphicFrame>
        <p:nvGraphicFramePr>
          <p:cNvPr id="62468" name="Object 4"/>
          <p:cNvGraphicFramePr>
            <a:graphicFrameLocks noGrp="1" noChangeAspect="1"/>
          </p:cNvGraphicFramePr>
          <p:nvPr>
            <p:ph sz="half" idx="2"/>
          </p:nvPr>
        </p:nvGraphicFramePr>
        <p:xfrm>
          <a:off x="4495800" y="1752600"/>
          <a:ext cx="411163" cy="381000"/>
        </p:xfrm>
        <a:graphic>
          <a:graphicData uri="http://schemas.openxmlformats.org/presentationml/2006/ole">
            <mc:AlternateContent xmlns:mc="http://schemas.openxmlformats.org/markup-compatibility/2006">
              <mc:Choice xmlns:v="urn:schemas-microsoft-com:vml" Requires="v">
                <p:oleObj spid="_x0000_s9230" r:id="rId5" imgW="317500" imgH="279400" progId="Equation.3">
                  <p:embed/>
                </p:oleObj>
              </mc:Choice>
              <mc:Fallback>
                <p:oleObj r:id="rId5" imgW="317500" imgH="279400" progId="Equation.3">
                  <p:embed/>
                  <p:pic>
                    <p:nvPicPr>
                      <p:cNvPr id="0" name="图片 3077"/>
                      <p:cNvPicPr/>
                      <p:nvPr/>
                    </p:nvPicPr>
                    <p:blipFill>
                      <a:blip r:embed="rId6"/>
                      <a:srcRect/>
                      <a:stretch>
                        <a:fillRect/>
                      </a:stretch>
                    </p:blipFill>
                    <p:spPr>
                      <a:xfrm>
                        <a:off x="4495800" y="1752600"/>
                        <a:ext cx="411163" cy="381000"/>
                      </a:xfrm>
                      <a:prstGeom prst="rect">
                        <a:avLst/>
                      </a:prstGeom>
                      <a:noFill/>
                      <a:ln w="38100">
                        <a:miter/>
                      </a:ln>
                    </p:spPr>
                  </p:pic>
                </p:oleObj>
              </mc:Fallback>
            </mc:AlternateContent>
          </a:graphicData>
        </a:graphic>
      </p:graphicFrame>
      <p:pic>
        <p:nvPicPr>
          <p:cNvPr id="62474" name="Picture 10" descr="theorem"/>
          <p:cNvPicPr>
            <a:picLocks noChangeAspect="1"/>
          </p:cNvPicPr>
          <p:nvPr/>
        </p:nvPicPr>
        <p:blipFill>
          <a:blip r:embed="rId7"/>
          <a:stretch>
            <a:fillRect/>
          </a:stretch>
        </p:blipFill>
        <p:spPr>
          <a:xfrm>
            <a:off x="914400" y="1295400"/>
            <a:ext cx="504825" cy="3190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2474"/>
                                        </p:tgtEl>
                                        <p:attrNameLst>
                                          <p:attrName>style.visibility</p:attrName>
                                        </p:attrNameLst>
                                      </p:cBhvr>
                                      <p:to>
                                        <p:strVal val="visible"/>
                                      </p:to>
                                    </p:set>
                                    <p:anim calcmode="lin" valueType="num">
                                      <p:cBhvr>
                                        <p:cTn id="7" dur="500" fill="hold"/>
                                        <p:tgtEl>
                                          <p:spTgt spid="62474"/>
                                        </p:tgtEl>
                                        <p:attrNameLst>
                                          <p:attrName>ppt_w</p:attrName>
                                        </p:attrNameLst>
                                      </p:cBhvr>
                                      <p:tavLst>
                                        <p:tav tm="0">
                                          <p:val>
                                            <p:fltVal val="0"/>
                                          </p:val>
                                        </p:tav>
                                        <p:tav tm="100000">
                                          <p:val>
                                            <p:strVal val="#ppt_w"/>
                                          </p:val>
                                        </p:tav>
                                      </p:tavLst>
                                    </p:anim>
                                    <p:anim calcmode="lin" valueType="num">
                                      <p:cBhvr>
                                        <p:cTn id="8" dur="500" fill="hold"/>
                                        <p:tgtEl>
                                          <p:spTgt spid="62474"/>
                                        </p:tgtEl>
                                        <p:attrNameLst>
                                          <p:attrName>ppt_h</p:attrName>
                                        </p:attrNameLst>
                                      </p:cBhvr>
                                      <p:tavLst>
                                        <p:tav tm="0">
                                          <p:val>
                                            <p:fltVal val="0"/>
                                          </p:val>
                                        </p:tav>
                                        <p:tav tm="100000">
                                          <p:val>
                                            <p:strVal val="#ppt_h"/>
                                          </p:val>
                                        </p:tav>
                                      </p:tavLst>
                                    </p:anim>
                                    <p:anim calcmode="lin" valueType="num">
                                      <p:cBhvr>
                                        <p:cTn id="9" dur="500" fill="hold"/>
                                        <p:tgtEl>
                                          <p:spTgt spid="62474"/>
                                        </p:tgtEl>
                                        <p:attrNameLst>
                                          <p:attrName>style.rotation</p:attrName>
                                        </p:attrNameLst>
                                      </p:cBhvr>
                                      <p:tavLst>
                                        <p:tav tm="0">
                                          <p:val>
                                            <p:fltVal val="360"/>
                                          </p:val>
                                        </p:tav>
                                        <p:tav tm="100000">
                                          <p:val>
                                            <p:fltVal val="0"/>
                                          </p:val>
                                        </p:tav>
                                      </p:tavLst>
                                    </p:anim>
                                    <p:animEffect transition="in" filter="fade">
                                      <p:cBhvr>
                                        <p:cTn id="10" dur="500"/>
                                        <p:tgtEl>
                                          <p:spTgt spid="62474"/>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par>
                                <p:cTn id="11" presetID="3" presetClass="entr" presetSubtype="10" fill="hold" nodeType="withEffect">
                                  <p:stCondLst>
                                    <p:cond delay="0"/>
                                  </p:stCondLst>
                                  <p:childTnLst>
                                    <p:set>
                                      <p:cBhvr>
                                        <p:cTn id="12" dur="1" fill="hold">
                                          <p:stCondLst>
                                            <p:cond delay="0"/>
                                          </p:stCondLst>
                                        </p:cTn>
                                        <p:tgtEl>
                                          <p:spTgt spid="62467">
                                            <p:txEl>
                                              <p:pRg st="0" end="0"/>
                                            </p:txEl>
                                          </p:spTgt>
                                        </p:tgtEl>
                                        <p:attrNameLst>
                                          <p:attrName>style.visibility</p:attrName>
                                        </p:attrNameLst>
                                      </p:cBhvr>
                                      <p:to>
                                        <p:strVal val="visible"/>
                                      </p:to>
                                    </p:set>
                                    <p:animEffect transition="in" filter="blinds(horizontal)">
                                      <p:cBhvr>
                                        <p:cTn id="13" dur="500"/>
                                        <p:tgtEl>
                                          <p:spTgt spid="6246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2467">
                                            <p:txEl>
                                              <p:pRg st="1" end="1"/>
                                            </p:txEl>
                                          </p:spTgt>
                                        </p:tgtEl>
                                        <p:attrNameLst>
                                          <p:attrName>style.visibility</p:attrName>
                                        </p:attrNameLst>
                                      </p:cBhvr>
                                      <p:to>
                                        <p:strVal val="visible"/>
                                      </p:to>
                                    </p:set>
                                    <p:anim calcmode="lin" valueType="num">
                                      <p:cBhvr additive="base">
                                        <p:cTn id="18" dur="5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2467">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62468"/>
                                        </p:tgtEl>
                                        <p:attrNameLst>
                                          <p:attrName>style.visibility</p:attrName>
                                        </p:attrNameLst>
                                      </p:cBhvr>
                                      <p:to>
                                        <p:strVal val="visible"/>
                                      </p:to>
                                    </p:set>
                                    <p:anim calcmode="lin" valueType="num">
                                      <p:cBhvr additive="base">
                                        <p:cTn id="22" dur="500" fill="hold"/>
                                        <p:tgtEl>
                                          <p:spTgt spid="62468"/>
                                        </p:tgtEl>
                                        <p:attrNameLst>
                                          <p:attrName>ppt_x</p:attrName>
                                        </p:attrNameLst>
                                      </p:cBhvr>
                                      <p:tavLst>
                                        <p:tav tm="0">
                                          <p:val>
                                            <p:strVal val="#ppt_x"/>
                                          </p:val>
                                        </p:tav>
                                        <p:tav tm="100000">
                                          <p:val>
                                            <p:strVal val="#ppt_x"/>
                                          </p:val>
                                        </p:tav>
                                      </p:tavLst>
                                    </p:anim>
                                    <p:anim calcmode="lin" valueType="num">
                                      <p:cBhvr additive="base">
                                        <p:cTn id="23"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2467">
                                            <p:txEl>
                                              <p:pRg st="3" end="3"/>
                                            </p:txEl>
                                          </p:spTgt>
                                        </p:tgtEl>
                                        <p:attrNameLst>
                                          <p:attrName>style.visibility</p:attrName>
                                        </p:attrNameLst>
                                      </p:cBhvr>
                                      <p:to>
                                        <p:strVal val="visible"/>
                                      </p:to>
                                    </p:set>
                                    <p:anim calcmode="lin" valueType="num">
                                      <p:cBhvr additive="base">
                                        <p:cTn id="28" dur="5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24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2467">
                                            <p:txEl>
                                              <p:pRg st="5" end="5"/>
                                            </p:txEl>
                                          </p:spTgt>
                                        </p:tgtEl>
                                        <p:attrNameLst>
                                          <p:attrName>style.visibility</p:attrName>
                                        </p:attrNameLst>
                                      </p:cBhvr>
                                      <p:to>
                                        <p:strVal val="visible"/>
                                      </p:to>
                                    </p:set>
                                    <p:anim calcmode="lin" valueType="num">
                                      <p:cBhvr additive="base">
                                        <p:cTn id="34" dur="500" fill="hold"/>
                                        <p:tgtEl>
                                          <p:spTgt spid="62467">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624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p:cNvSpPr>
          <p:nvPr>
            <p:ph type="title"/>
          </p:nvPr>
        </p:nvSpPr>
        <p:spPr>
          <a:ln/>
        </p:spPr>
        <p:txBody>
          <a:bodyPr vert="horz" wrap="square" lIns="91440" tIns="45720" rIns="91440" bIns="45720" anchor="ctr" anchorCtr="0"/>
          <a:lstStyle/>
          <a:p>
            <a:r>
              <a:rPr lang="en-US" altLang="zh-CN" dirty="0"/>
              <a:t>7.3</a:t>
            </a:r>
            <a:r>
              <a:rPr lang="zh-CN" altLang="en-US" dirty="0"/>
              <a:t>.5 其他问题复杂性类</a:t>
            </a:r>
            <a:r>
              <a:rPr lang="en-US" altLang="zh-CN" dirty="0"/>
              <a:t>—— </a:t>
            </a:r>
            <a:r>
              <a:rPr lang="en-US" altLang="zh-CN" dirty="0" err="1"/>
              <a:t>NPI</a:t>
            </a:r>
            <a:r>
              <a:rPr lang="zh-CN" altLang="en-US" dirty="0"/>
              <a:t>类</a:t>
            </a:r>
            <a:endParaRPr lang="zh-CN" altLang="en-US" b="1" dirty="0"/>
          </a:p>
        </p:txBody>
      </p:sp>
      <p:sp>
        <p:nvSpPr>
          <p:cNvPr id="128003" name="Rectangle 3"/>
          <p:cNvSpPr>
            <a:spLocks noGrp="1"/>
          </p:cNvSpPr>
          <p:nvPr>
            <p:ph idx="1"/>
          </p:nvPr>
        </p:nvSpPr>
        <p:spPr>
          <a:xfrm>
            <a:off x="700088" y="1404938"/>
            <a:ext cx="8229600" cy="4876800"/>
          </a:xfrm>
          <a:ln/>
        </p:spPr>
        <p:txBody>
          <a:bodyPr vert="horz" wrap="square" lIns="91440" tIns="45720" rIns="91440" bIns="45720" anchor="t" anchorCtr="0"/>
          <a:lstStyle/>
          <a:p>
            <a:pPr>
              <a:lnSpc>
                <a:spcPct val="120000"/>
              </a:lnSpc>
            </a:pPr>
            <a:r>
              <a:rPr lang="en-US" altLang="zh-CN" dirty="0"/>
              <a:t>NP</a:t>
            </a:r>
            <a:r>
              <a:rPr lang="zh-CN" altLang="en-US" dirty="0"/>
              <a:t>类问题中还有一些问题，人们不知道是属于</a:t>
            </a:r>
            <a:r>
              <a:rPr lang="en-US" altLang="zh-CN" dirty="0"/>
              <a:t>P</a:t>
            </a:r>
            <a:r>
              <a:rPr lang="zh-CN" altLang="en-US" dirty="0"/>
              <a:t>类还是属于</a:t>
            </a:r>
            <a:r>
              <a:rPr lang="en-US" altLang="zh-CN" dirty="0"/>
              <a:t>NP</a:t>
            </a:r>
            <a:r>
              <a:rPr lang="zh-CN" altLang="en-US" dirty="0"/>
              <a:t>完全问题，还</a:t>
            </a:r>
            <a:r>
              <a:rPr lang="zh-CN" altLang="en-US" dirty="0">
                <a:solidFill>
                  <a:srgbClr val="FF0000"/>
                </a:solidFill>
              </a:rPr>
              <a:t>有待于证明其归属</a:t>
            </a:r>
            <a:r>
              <a:rPr lang="zh-CN" altLang="en-US" dirty="0"/>
              <a:t>。</a:t>
            </a:r>
          </a:p>
          <a:p>
            <a:pPr>
              <a:lnSpc>
                <a:spcPct val="120000"/>
              </a:lnSpc>
            </a:pPr>
            <a:r>
              <a:rPr lang="zh-CN" altLang="en-US" dirty="0"/>
              <a:t>这些问题是</a:t>
            </a:r>
            <a:r>
              <a:rPr lang="en-US" altLang="zh-CN" dirty="0"/>
              <a:t>NP</a:t>
            </a:r>
            <a:r>
              <a:rPr lang="zh-CN" altLang="en-US" dirty="0"/>
              <a:t>完全问题的可能性非常小，也因为不相信他们在</a:t>
            </a:r>
            <a:r>
              <a:rPr lang="en-US" altLang="zh-CN" dirty="0"/>
              <a:t>P</a:t>
            </a:r>
            <a:r>
              <a:rPr lang="zh-CN" altLang="en-US" dirty="0"/>
              <a:t>中，我们</a:t>
            </a:r>
            <a:r>
              <a:rPr lang="zh-CN" altLang="en-US" dirty="0">
                <a:solidFill>
                  <a:srgbClr val="FF0000"/>
                </a:solidFill>
              </a:rPr>
              <a:t>人为地增加另一问题类</a:t>
            </a:r>
            <a:r>
              <a:rPr lang="zh-CN" altLang="en-US" dirty="0"/>
              <a:t>来接纳这类问题，这个类称为</a:t>
            </a:r>
            <a:r>
              <a:rPr lang="en-US" altLang="zh-CN" dirty="0">
                <a:solidFill>
                  <a:srgbClr val="FF0000"/>
                </a:solidFill>
              </a:rPr>
              <a:t>NPI</a:t>
            </a:r>
            <a:r>
              <a:rPr lang="en-US" altLang="zh-CN" dirty="0"/>
              <a:t>(NP-</a:t>
            </a:r>
            <a:r>
              <a:rPr lang="en-US" altLang="zh-CN" dirty="0">
                <a:solidFill>
                  <a:srgbClr val="FF0000"/>
                </a:solidFill>
              </a:rPr>
              <a:t>I</a:t>
            </a:r>
            <a:r>
              <a:rPr lang="en-US" altLang="zh-CN" dirty="0"/>
              <a:t>ntermediate)</a:t>
            </a:r>
            <a:r>
              <a:rPr lang="zh-CN" altLang="en-US" dirty="0">
                <a:solidFill>
                  <a:srgbClr val="FF0000"/>
                </a:solidFill>
              </a:rPr>
              <a:t>类</a:t>
            </a:r>
            <a:r>
              <a:rPr lang="zh-CN" altLang="en-US" dirty="0"/>
              <a:t>。 </a:t>
            </a:r>
          </a:p>
        </p:txBody>
      </p:sp>
      <p:grpSp>
        <p:nvGrpSpPr>
          <p:cNvPr id="128004" name="Group 4"/>
          <p:cNvGrpSpPr/>
          <p:nvPr/>
        </p:nvGrpSpPr>
        <p:grpSpPr>
          <a:xfrm>
            <a:off x="1905000" y="4038600"/>
            <a:ext cx="4113213" cy="2674938"/>
            <a:chOff x="7261" y="5318"/>
            <a:chExt cx="3365" cy="2187"/>
          </a:xfrm>
        </p:grpSpPr>
        <p:sp>
          <p:nvSpPr>
            <p:cNvPr id="128006" name="Oval 5"/>
            <p:cNvSpPr/>
            <p:nvPr/>
          </p:nvSpPr>
          <p:spPr>
            <a:xfrm>
              <a:off x="7261" y="5318"/>
              <a:ext cx="3365" cy="2187"/>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28007" name="Oval 6"/>
            <p:cNvSpPr/>
            <p:nvPr/>
          </p:nvSpPr>
          <p:spPr>
            <a:xfrm>
              <a:off x="7542" y="6614"/>
              <a:ext cx="1964" cy="648"/>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NP</a:t>
              </a:r>
              <a:r>
                <a:rPr lang="zh-CN" altLang="en-US" sz="2200" b="1" dirty="0">
                  <a:solidFill>
                    <a:srgbClr val="FF0000"/>
                  </a:solidFill>
                  <a:ea typeface="华文中宋" panose="02010600040101010101" pitchFamily="2" charset="-122"/>
                </a:rPr>
                <a:t>完全</a:t>
              </a:r>
              <a:r>
                <a:rPr lang="zh-CN" altLang="en-US" sz="2200" b="1" dirty="0">
                  <a:solidFill>
                    <a:srgbClr val="FF000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128008" name="Rectangle 7"/>
            <p:cNvSpPr/>
            <p:nvPr/>
          </p:nvSpPr>
          <p:spPr>
            <a:xfrm>
              <a:off x="8103" y="5480"/>
              <a:ext cx="1215" cy="486"/>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NP</a:t>
              </a:r>
              <a:r>
                <a:rPr lang="zh-CN" altLang="en-US" sz="2200" b="1" dirty="0">
                  <a:solidFill>
                    <a:srgbClr val="000080"/>
                  </a:solidFill>
                  <a:latin typeface="华文中宋" panose="02010600040101010101" pitchFamily="2" charset="-122"/>
                  <a:ea typeface="华文中宋" panose="02010600040101010101" pitchFamily="2" charset="-122"/>
                </a:rPr>
                <a:t>类问题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128009" name="Oval 8"/>
            <p:cNvSpPr/>
            <p:nvPr/>
          </p:nvSpPr>
          <p:spPr>
            <a:xfrm>
              <a:off x="9178" y="6006"/>
              <a:ext cx="1402" cy="64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P</a:t>
              </a:r>
              <a:r>
                <a:rPr lang="zh-CN" altLang="en-US" sz="2200" b="1" dirty="0">
                  <a:solidFill>
                    <a:srgbClr val="000080"/>
                  </a:solidFill>
                  <a:ea typeface="华文中宋" panose="02010600040101010101" pitchFamily="2" charset="-122"/>
                </a:rPr>
                <a:t>类</a:t>
              </a:r>
              <a:r>
                <a:rPr lang="zh-CN" altLang="en-US" sz="2200" b="1" dirty="0">
                  <a:solidFill>
                    <a:srgbClr val="00008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128010" name="Oval 9"/>
            <p:cNvSpPr/>
            <p:nvPr/>
          </p:nvSpPr>
          <p:spPr>
            <a:xfrm>
              <a:off x="8196" y="6047"/>
              <a:ext cx="187" cy="162"/>
            </a:xfrm>
            <a:prstGeom prst="ellipse">
              <a:avLst/>
            </a:prstGeom>
            <a:solidFill>
              <a:srgbClr val="333333"/>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28011" name="Line 10"/>
            <p:cNvSpPr/>
            <p:nvPr/>
          </p:nvSpPr>
          <p:spPr>
            <a:xfrm>
              <a:off x="8290" y="6209"/>
              <a:ext cx="93" cy="567"/>
            </a:xfrm>
            <a:prstGeom prst="line">
              <a:avLst/>
            </a:prstGeom>
            <a:ln w="28575" cap="flat" cmpd="sng">
              <a:solidFill>
                <a:srgbClr val="000000"/>
              </a:solidFill>
              <a:prstDash val="dash"/>
              <a:headEnd type="none" w="med" len="med"/>
              <a:tailEnd type="triangle" w="med" len="med"/>
            </a:ln>
          </p:spPr>
        </p:sp>
        <p:sp>
          <p:nvSpPr>
            <p:cNvPr id="128012" name="Rectangle 11"/>
            <p:cNvSpPr/>
            <p:nvPr/>
          </p:nvSpPr>
          <p:spPr>
            <a:xfrm>
              <a:off x="8009" y="6290"/>
              <a:ext cx="281" cy="324"/>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宋体" panose="02010600030101010101" pitchFamily="2" charset="-122"/>
                </a:rPr>
                <a:t>?</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128013" name="Line 12"/>
            <p:cNvSpPr/>
            <p:nvPr/>
          </p:nvSpPr>
          <p:spPr>
            <a:xfrm>
              <a:off x="8383" y="6128"/>
              <a:ext cx="935" cy="162"/>
            </a:xfrm>
            <a:prstGeom prst="line">
              <a:avLst/>
            </a:prstGeom>
            <a:ln w="28575" cap="flat" cmpd="sng">
              <a:solidFill>
                <a:srgbClr val="000000"/>
              </a:solidFill>
              <a:prstDash val="dash"/>
              <a:headEnd type="none" w="med" len="med"/>
              <a:tailEnd type="triangle" w="med" len="med"/>
            </a:ln>
          </p:spPr>
        </p:sp>
        <p:sp>
          <p:nvSpPr>
            <p:cNvPr id="128014" name="Rectangle 13"/>
            <p:cNvSpPr/>
            <p:nvPr/>
          </p:nvSpPr>
          <p:spPr>
            <a:xfrm>
              <a:off x="8944" y="5885"/>
              <a:ext cx="281" cy="324"/>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宋体" panose="02010600030101010101" pitchFamily="2" charset="-122"/>
                </a:rPr>
                <a:t>?</a:t>
              </a:r>
              <a:endParaRPr lang="en-US" altLang="zh-CN" sz="1800" dirty="0">
                <a:solidFill>
                  <a:schemeClr val="tx1"/>
                </a:solidFill>
                <a:latin typeface="Arial" panose="020B0604020202020204" pitchFamily="34" charset="0"/>
                <a:ea typeface="宋体" panose="02010600030101010101" pitchFamily="2" charset="-122"/>
              </a:endParaRPr>
            </a:p>
          </p:txBody>
        </p:sp>
      </p:grpSp>
      <p:sp>
        <p:nvSpPr>
          <p:cNvPr id="128005"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0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8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p:cNvSpPr>
          <p:nvPr>
            <p:ph type="title"/>
          </p:nvPr>
        </p:nvSpPr>
        <p:spPr>
          <a:ln/>
        </p:spPr>
        <p:txBody>
          <a:bodyPr vert="horz" wrap="square" lIns="91440" tIns="45720" rIns="91440" bIns="45720" anchor="ctr" anchorCtr="0"/>
          <a:lstStyle/>
          <a:p>
            <a:r>
              <a:rPr lang="en-US" altLang="zh-CN" dirty="0"/>
              <a:t>7.3</a:t>
            </a:r>
            <a:r>
              <a:rPr lang="zh-CN" altLang="en-US" dirty="0"/>
              <a:t>.5 其他问题复杂性类</a:t>
            </a:r>
            <a:r>
              <a:rPr lang="en-US" altLang="zh-CN" dirty="0"/>
              <a:t>—— </a:t>
            </a:r>
            <a:r>
              <a:rPr lang="en-US" altLang="zh-CN" dirty="0" err="1"/>
              <a:t>NPI</a:t>
            </a:r>
            <a:r>
              <a:rPr lang="zh-CN" altLang="en-US" dirty="0"/>
              <a:t>类</a:t>
            </a:r>
            <a:endParaRPr lang="zh-CN" altLang="en-US" b="1" dirty="0"/>
          </a:p>
        </p:txBody>
      </p:sp>
      <p:sp>
        <p:nvSpPr>
          <p:cNvPr id="36966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ea"/>
                <a:ea typeface="+mn-ea"/>
                <a:cs typeface="+mn-cs"/>
              </a:rPr>
              <a:t>NPI</a:t>
            </a:r>
            <a:r>
              <a:rPr kumimoji="0" lang="zh-CN" altLang="en-US" sz="2500" b="0" i="0" u="none" strike="noStrike" kern="0" cap="none" spc="0" normalizeH="0" baseline="0" noProof="0" dirty="0">
                <a:ln>
                  <a:noFill/>
                </a:ln>
                <a:solidFill>
                  <a:schemeClr val="accent2"/>
                </a:solidFill>
                <a:effectLst/>
                <a:uLnTx/>
                <a:uFillTx/>
                <a:latin typeface="+mn-ea"/>
                <a:ea typeface="+mn-ea"/>
                <a:cs typeface="+mn-cs"/>
              </a:rPr>
              <a:t>类是一个</a:t>
            </a:r>
            <a:r>
              <a:rPr kumimoji="0" lang="zh-CN" altLang="en-US" sz="2500" b="0" i="0" u="none" strike="noStrike" kern="0" cap="none" spc="0" normalizeH="0" baseline="0" noProof="0" dirty="0">
                <a:ln>
                  <a:noFill/>
                </a:ln>
                <a:solidFill>
                  <a:srgbClr val="FF0000"/>
                </a:solidFill>
                <a:effectLst/>
                <a:uLnTx/>
                <a:uFillTx/>
                <a:latin typeface="+mn-ea"/>
                <a:ea typeface="+mn-ea"/>
                <a:cs typeface="+mn-cs"/>
              </a:rPr>
              <a:t>人为定义的、动态的</a:t>
            </a:r>
            <a:r>
              <a:rPr kumimoji="0" lang="zh-CN" altLang="en-US" sz="2500" b="0" i="0" u="none" strike="noStrike" kern="0" cap="none" spc="0" normalizeH="0" baseline="0" noProof="0" dirty="0">
                <a:ln>
                  <a:noFill/>
                </a:ln>
                <a:solidFill>
                  <a:schemeClr val="accent2"/>
                </a:solidFill>
                <a:effectLst/>
                <a:uLnTx/>
                <a:uFillTx/>
                <a:latin typeface="+mn-ea"/>
                <a:ea typeface="+mn-ea"/>
                <a:cs typeface="+mn-cs"/>
              </a:rPr>
              <a:t>概念，随着人们对问题研究的深入，许多</a:t>
            </a:r>
            <a:r>
              <a:rPr kumimoji="0" lang="en-US" altLang="zh-CN" sz="2500" b="0" i="0" u="none" strike="noStrike" kern="0" cap="none" spc="0" normalizeH="0" baseline="0" noProof="0" dirty="0">
                <a:ln>
                  <a:noFill/>
                </a:ln>
                <a:solidFill>
                  <a:schemeClr val="accent2"/>
                </a:solidFill>
                <a:effectLst/>
                <a:uLnTx/>
                <a:uFillTx/>
                <a:latin typeface="+mn-ea"/>
                <a:ea typeface="+mn-ea"/>
                <a:cs typeface="+mn-cs"/>
              </a:rPr>
              <a:t>NPI</a:t>
            </a:r>
            <a:r>
              <a:rPr kumimoji="0" lang="zh-CN" altLang="en-US" sz="2500" b="0" i="0" u="none" strike="noStrike" kern="0" cap="none" spc="0" normalizeH="0" baseline="0" noProof="0" dirty="0">
                <a:ln>
                  <a:noFill/>
                </a:ln>
                <a:solidFill>
                  <a:schemeClr val="accent2"/>
                </a:solidFill>
                <a:effectLst/>
                <a:uLnTx/>
                <a:uFillTx/>
                <a:latin typeface="+mn-ea"/>
                <a:ea typeface="+mn-ea"/>
                <a:cs typeface="+mn-cs"/>
              </a:rPr>
              <a:t>类问题逐渐被明白无误地证明他们原本属于</a:t>
            </a:r>
            <a:r>
              <a:rPr kumimoji="0" lang="en-US" altLang="zh-CN" sz="2500" b="0" i="0" u="none" strike="noStrike" kern="0" cap="none" spc="0" normalizeH="0" baseline="0" noProof="0" dirty="0">
                <a:ln>
                  <a:noFill/>
                </a:ln>
                <a:solidFill>
                  <a:schemeClr val="accent2"/>
                </a:solidFill>
                <a:effectLst/>
                <a:uLnTx/>
                <a:uFillTx/>
                <a:latin typeface="+mn-ea"/>
                <a:ea typeface="+mn-ea"/>
                <a:cs typeface="+mn-cs"/>
              </a:rPr>
              <a:t>P</a:t>
            </a:r>
            <a:r>
              <a:rPr kumimoji="0" lang="zh-CN" altLang="en-US" sz="2500" b="0" i="0" u="none" strike="noStrike" kern="0" cap="none" spc="0" normalizeH="0" baseline="0" noProof="0" dirty="0">
                <a:ln>
                  <a:noFill/>
                </a:ln>
                <a:solidFill>
                  <a:schemeClr val="accent2"/>
                </a:solidFill>
                <a:effectLst/>
                <a:uLnTx/>
                <a:uFillTx/>
                <a:latin typeface="+mn-ea"/>
                <a:ea typeface="+mn-ea"/>
                <a:cs typeface="+mn-cs"/>
              </a:rPr>
              <a:t>类问题或</a:t>
            </a:r>
            <a:r>
              <a:rPr kumimoji="0" lang="en-US" altLang="zh-CN" sz="2500" b="0" i="0" u="none" strike="noStrike" kern="0" cap="none" spc="0" normalizeH="0" baseline="0" noProof="0" dirty="0">
                <a:ln>
                  <a:noFill/>
                </a:ln>
                <a:solidFill>
                  <a:schemeClr val="accent2"/>
                </a:solidFill>
                <a:effectLst/>
                <a:uLnTx/>
                <a:uFillTx/>
                <a:latin typeface="+mn-ea"/>
                <a:ea typeface="+mn-ea"/>
                <a:cs typeface="+mn-cs"/>
              </a:rPr>
              <a:t>NP</a:t>
            </a:r>
            <a:r>
              <a:rPr kumimoji="0" lang="zh-CN" altLang="en-US" sz="2500" b="0" i="0" u="none" strike="noStrike" kern="0" cap="none" spc="0" normalizeH="0" baseline="0" noProof="0" dirty="0">
                <a:ln>
                  <a:noFill/>
                </a:ln>
                <a:solidFill>
                  <a:schemeClr val="accent2"/>
                </a:solidFill>
                <a:effectLst/>
                <a:uLnTx/>
                <a:uFillTx/>
                <a:latin typeface="+mn-ea"/>
                <a:ea typeface="+mn-ea"/>
                <a:cs typeface="+mn-cs"/>
              </a:rPr>
              <a:t>完全问题。</a:t>
            </a:r>
          </a:p>
          <a:p>
            <a:pPr marL="342900" marR="0" lvl="0" indent="-342900" algn="l" defTabSz="914400" rtl="0" eaLnBrk="0" fontAlgn="base" latinLnBrk="0" hangingPunct="0">
              <a:lnSpc>
                <a:spcPct val="150000"/>
              </a:lnSpc>
              <a:spcBef>
                <a:spcPct val="20000"/>
              </a:spcBef>
              <a:spcAft>
                <a:spcPct val="0"/>
              </a:spcAft>
              <a:buClrTx/>
              <a:buSzTx/>
              <a:buFontTx/>
              <a:buChar char="•"/>
              <a:defRPr/>
            </a:pPr>
            <a:endParaRPr kumimoji="0" lang="zh-CN" altLang="en-US" sz="2500" b="0" i="0" u="none" strike="noStrike" kern="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例如：线性规划问题、素数判定问题等，在二者没有被证明他们均属于</a:t>
            </a:r>
            <a:r>
              <a:rPr kumimoji="0" lang="en-US" altLang="zh-CN" sz="2400" b="0" i="0" u="none" strike="noStrike" kern="0" cap="none" spc="0" normalizeH="0" baseline="0" noProof="0" dirty="0">
                <a:ln>
                  <a:noFill/>
                </a:ln>
                <a:solidFill>
                  <a:schemeClr val="accent2"/>
                </a:solidFill>
                <a:effectLst/>
                <a:uLnTx/>
                <a:uFillTx/>
                <a:latin typeface="+mn-ea"/>
                <a:ea typeface="+mn-ea"/>
                <a:cs typeface="+mn-cs"/>
              </a:rPr>
              <a:t>P</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类问题之前，人们一直将他们归于</a:t>
            </a:r>
            <a:r>
              <a:rPr kumimoji="0" lang="en-US" altLang="zh-CN" sz="2400" b="0" i="0" u="none" strike="noStrike" kern="0" cap="none" spc="0" normalizeH="0" baseline="0" noProof="0" dirty="0">
                <a:ln>
                  <a:noFill/>
                </a:ln>
                <a:solidFill>
                  <a:schemeClr val="accent2"/>
                </a:solidFill>
                <a:effectLst/>
                <a:uLnTx/>
                <a:uFillTx/>
                <a:latin typeface="+mn-ea"/>
                <a:ea typeface="+mn-ea"/>
                <a:cs typeface="+mn-cs"/>
              </a:rPr>
              <a:t>NPI</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类问题。</a:t>
            </a:r>
            <a:r>
              <a:rPr kumimoji="0" lang="zh-CN" altLang="en-US" sz="2500" b="0" i="0" u="none" strike="noStrike" kern="0" cap="none" spc="0" normalizeH="0" baseline="0" noProof="0" dirty="0">
                <a:ln>
                  <a:noFill/>
                </a:ln>
                <a:solidFill>
                  <a:schemeClr val="accent2"/>
                </a:solidFill>
                <a:effectLst/>
                <a:uLnTx/>
                <a:uFillTx/>
                <a:latin typeface="+mn-ea"/>
                <a:ea typeface="+mn-ea"/>
                <a:cs typeface="+mn-cs"/>
              </a:rPr>
              <a:t> </a:t>
            </a:r>
          </a:p>
        </p:txBody>
      </p:sp>
      <p:sp>
        <p:nvSpPr>
          <p:cNvPr id="129028"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9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type="title"/>
          </p:nvPr>
        </p:nvSpPr>
        <p:spPr>
          <a:ln/>
        </p:spPr>
        <p:txBody>
          <a:bodyPr vert="horz" wrap="square" lIns="91440" tIns="45720" rIns="91440" bIns="45720" anchor="ctr" anchorCtr="0"/>
          <a:lstStyle/>
          <a:p>
            <a:r>
              <a:rPr lang="zh-CN" altLang="en-US" b="1" dirty="0"/>
              <a:t>一个例子</a:t>
            </a:r>
          </a:p>
        </p:txBody>
      </p:sp>
      <p:sp>
        <p:nvSpPr>
          <p:cNvPr id="130051" name="Rectangle 3"/>
          <p:cNvSpPr>
            <a:spLocks noGrp="1"/>
          </p:cNvSpPr>
          <p:nvPr>
            <p:ph idx="1"/>
          </p:nvPr>
        </p:nvSpPr>
        <p:spPr>
          <a:xfrm>
            <a:off x="754063" y="1739900"/>
            <a:ext cx="7786687" cy="4525963"/>
          </a:xfrm>
          <a:ln/>
        </p:spPr>
        <p:txBody>
          <a:bodyPr vert="horz" wrap="square" lIns="91440" tIns="45720" rIns="91440" bIns="45720" anchor="t" anchorCtr="0"/>
          <a:lstStyle/>
          <a:p>
            <a:pPr>
              <a:lnSpc>
                <a:spcPct val="120000"/>
              </a:lnSpc>
            </a:pPr>
            <a:r>
              <a:rPr lang="zh-CN" altLang="en-US" b="1" dirty="0">
                <a:solidFill>
                  <a:srgbClr val="FF0000"/>
                </a:solidFill>
              </a:rPr>
              <a:t>线性规划问题</a:t>
            </a:r>
          </a:p>
          <a:p>
            <a:pPr>
              <a:lnSpc>
                <a:spcPct val="120000"/>
              </a:lnSpc>
              <a:buNone/>
            </a:pPr>
            <a:r>
              <a:rPr lang="zh-CN" altLang="en-US" dirty="0"/>
              <a:t>    设</a:t>
            </a:r>
            <a:r>
              <a:rPr lang="en-US" altLang="zh-CN" dirty="0"/>
              <a:t>A∈R</a:t>
            </a:r>
            <a:r>
              <a:rPr lang="en-US" altLang="zh-CN" baseline="30000" dirty="0"/>
              <a:t>m×n</a:t>
            </a:r>
            <a:r>
              <a:rPr lang="en-US" altLang="zh-CN" dirty="0"/>
              <a:t>, x∈R</a:t>
            </a:r>
            <a:r>
              <a:rPr lang="en-US" altLang="zh-CN" baseline="30000" dirty="0"/>
              <a:t>n</a:t>
            </a:r>
            <a:r>
              <a:rPr lang="en-US" altLang="zh-CN" dirty="0"/>
              <a:t>, b∈R</a:t>
            </a:r>
            <a:r>
              <a:rPr lang="en-US" altLang="zh-CN" baseline="30000" dirty="0"/>
              <a:t>m</a:t>
            </a:r>
            <a:r>
              <a:rPr lang="zh-CN" altLang="en-US" dirty="0"/>
              <a:t>，</a:t>
            </a:r>
          </a:p>
          <a:p>
            <a:pPr>
              <a:lnSpc>
                <a:spcPct val="120000"/>
              </a:lnSpc>
              <a:buNone/>
            </a:pPr>
            <a:r>
              <a:rPr lang="zh-CN" altLang="en-US" dirty="0"/>
              <a:t>    在满足</a:t>
            </a:r>
            <a:r>
              <a:rPr lang="en-US" altLang="zh-CN" dirty="0"/>
              <a:t>Ax=b</a:t>
            </a:r>
            <a:r>
              <a:rPr lang="zh-CN" altLang="en-US" dirty="0"/>
              <a:t>，</a:t>
            </a:r>
            <a:r>
              <a:rPr lang="en-US" altLang="zh-CN" dirty="0"/>
              <a:t>x≥0</a:t>
            </a:r>
            <a:r>
              <a:rPr lang="zh-CN" altLang="en-US" dirty="0"/>
              <a:t>约束下，</a:t>
            </a:r>
          </a:p>
          <a:p>
            <a:pPr>
              <a:lnSpc>
                <a:spcPct val="120000"/>
              </a:lnSpc>
              <a:buNone/>
            </a:pPr>
            <a:r>
              <a:rPr lang="zh-CN" altLang="en-US" dirty="0"/>
              <a:t>    使目标函数</a:t>
            </a:r>
            <a:r>
              <a:rPr lang="en-US" altLang="zh-CN" dirty="0"/>
              <a:t>c</a:t>
            </a:r>
            <a:r>
              <a:rPr lang="en-US" altLang="zh-CN" baseline="30000" dirty="0"/>
              <a:t>T</a:t>
            </a:r>
            <a:r>
              <a:rPr lang="en-US" altLang="zh-CN" dirty="0"/>
              <a:t>x</a:t>
            </a:r>
            <a:r>
              <a:rPr lang="zh-CN" altLang="en-US" dirty="0"/>
              <a:t>达到最大值，其中</a:t>
            </a:r>
            <a:r>
              <a:rPr lang="en-US" altLang="zh-CN" dirty="0"/>
              <a:t>c∈R</a:t>
            </a:r>
            <a:r>
              <a:rPr lang="en-US" altLang="zh-CN" baseline="30000" dirty="0"/>
              <a:t>n</a:t>
            </a:r>
            <a:r>
              <a:rPr lang="en-US" altLang="zh-CN" dirty="0"/>
              <a:t>.</a:t>
            </a:r>
          </a:p>
          <a:p>
            <a:pPr>
              <a:lnSpc>
                <a:spcPct val="120000"/>
              </a:lnSpc>
            </a:pPr>
            <a:r>
              <a:rPr lang="zh-CN" altLang="en-US" dirty="0"/>
              <a:t>长期以来，线性规划问题没有多项式时间解法，也无法证明它是</a:t>
            </a:r>
            <a:r>
              <a:rPr lang="en-US" altLang="zh-CN" dirty="0"/>
              <a:t>NP</a:t>
            </a:r>
            <a:r>
              <a:rPr lang="zh-CN" altLang="en-US" dirty="0"/>
              <a:t>完全问题。</a:t>
            </a:r>
          </a:p>
        </p:txBody>
      </p:sp>
      <p:sp>
        <p:nvSpPr>
          <p:cNvPr id="130052" name="Oval 4"/>
          <p:cNvSpPr/>
          <p:nvPr/>
        </p:nvSpPr>
        <p:spPr>
          <a:xfrm>
            <a:off x="4648200" y="304800"/>
            <a:ext cx="4113213" cy="2674938"/>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30053" name="Oval 5"/>
          <p:cNvSpPr/>
          <p:nvPr/>
        </p:nvSpPr>
        <p:spPr>
          <a:xfrm>
            <a:off x="4991100" y="1890713"/>
            <a:ext cx="2401888" cy="792162"/>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NP</a:t>
            </a:r>
            <a:r>
              <a:rPr lang="zh-CN" altLang="en-US" sz="2200" b="1" dirty="0">
                <a:solidFill>
                  <a:srgbClr val="FF0000"/>
                </a:solidFill>
                <a:ea typeface="华文中宋" panose="02010600040101010101" pitchFamily="2" charset="-122"/>
              </a:rPr>
              <a:t>完全</a:t>
            </a:r>
            <a:r>
              <a:rPr lang="zh-CN" altLang="en-US" sz="2200" b="1" dirty="0">
                <a:solidFill>
                  <a:srgbClr val="FF000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130054" name="Rectangle 6"/>
          <p:cNvSpPr/>
          <p:nvPr/>
        </p:nvSpPr>
        <p:spPr>
          <a:xfrm>
            <a:off x="5486400" y="609600"/>
            <a:ext cx="1866900" cy="59372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zh-CN" altLang="en-US" sz="2200" b="1" dirty="0">
                <a:solidFill>
                  <a:srgbClr val="000080"/>
                </a:solidFill>
                <a:ea typeface="华文中宋" panose="02010600040101010101" pitchFamily="2" charset="-122"/>
              </a:rPr>
              <a:t>线性规划</a:t>
            </a:r>
            <a:r>
              <a:rPr lang="zh-CN" altLang="en-US" sz="2200" b="1" dirty="0">
                <a:solidFill>
                  <a:srgbClr val="000080"/>
                </a:solidFill>
                <a:latin typeface="华文中宋" panose="02010600040101010101" pitchFamily="2" charset="-122"/>
                <a:ea typeface="华文中宋" panose="02010600040101010101" pitchFamily="2" charset="-122"/>
              </a:rPr>
              <a:t>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130055" name="Oval 7"/>
          <p:cNvSpPr/>
          <p:nvPr/>
        </p:nvSpPr>
        <p:spPr>
          <a:xfrm>
            <a:off x="6991350" y="1146175"/>
            <a:ext cx="1714500" cy="792163"/>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P</a:t>
            </a:r>
            <a:r>
              <a:rPr lang="zh-CN" altLang="en-US" sz="2200" b="1" dirty="0">
                <a:solidFill>
                  <a:srgbClr val="000080"/>
                </a:solidFill>
                <a:ea typeface="华文中宋" panose="02010600040101010101" pitchFamily="2" charset="-122"/>
              </a:rPr>
              <a:t>类</a:t>
            </a:r>
            <a:r>
              <a:rPr lang="zh-CN" altLang="en-US" sz="2200" b="1" dirty="0">
                <a:solidFill>
                  <a:srgbClr val="00008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130056" name="Oval 8"/>
          <p:cNvSpPr/>
          <p:nvPr/>
        </p:nvSpPr>
        <p:spPr>
          <a:xfrm>
            <a:off x="5791200" y="1196975"/>
            <a:ext cx="228600" cy="196850"/>
          </a:xfrm>
          <a:prstGeom prst="ellipse">
            <a:avLst/>
          </a:prstGeom>
          <a:solidFill>
            <a:srgbClr val="333333"/>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30057" name="Line 9"/>
          <p:cNvSpPr/>
          <p:nvPr/>
        </p:nvSpPr>
        <p:spPr>
          <a:xfrm>
            <a:off x="5905500" y="1393825"/>
            <a:ext cx="114300" cy="693738"/>
          </a:xfrm>
          <a:prstGeom prst="line">
            <a:avLst/>
          </a:prstGeom>
          <a:ln w="28575" cap="flat" cmpd="sng">
            <a:solidFill>
              <a:srgbClr val="000000"/>
            </a:solidFill>
            <a:prstDash val="dash"/>
            <a:headEnd type="none" w="med" len="med"/>
            <a:tailEnd type="triangle" w="med" len="med"/>
          </a:ln>
        </p:spPr>
      </p:sp>
      <p:sp>
        <p:nvSpPr>
          <p:cNvPr id="370698" name="Rectangle 10"/>
          <p:cNvSpPr/>
          <p:nvPr/>
        </p:nvSpPr>
        <p:spPr>
          <a:xfrm>
            <a:off x="5562600" y="1493838"/>
            <a:ext cx="342900" cy="39687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宋体" panose="02010600030101010101" pitchFamily="2" charset="-122"/>
              </a:rPr>
              <a:t>?</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130059" name="Line 11"/>
          <p:cNvSpPr/>
          <p:nvPr/>
        </p:nvSpPr>
        <p:spPr>
          <a:xfrm>
            <a:off x="6019800" y="1295400"/>
            <a:ext cx="1143000" cy="198438"/>
          </a:xfrm>
          <a:prstGeom prst="line">
            <a:avLst/>
          </a:prstGeom>
          <a:ln w="28575" cap="flat" cmpd="sng">
            <a:solidFill>
              <a:srgbClr val="000000"/>
            </a:solidFill>
            <a:prstDash val="dash"/>
            <a:headEnd type="none" w="med" len="med"/>
            <a:tailEnd type="triangle" w="med" len="med"/>
          </a:ln>
        </p:spPr>
      </p:sp>
      <p:sp>
        <p:nvSpPr>
          <p:cNvPr id="370700" name="Rectangle 12"/>
          <p:cNvSpPr/>
          <p:nvPr/>
        </p:nvSpPr>
        <p:spPr>
          <a:xfrm>
            <a:off x="6705600" y="998538"/>
            <a:ext cx="342900" cy="39528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宋体" panose="02010600030101010101" pitchFamily="2" charset="-122"/>
              </a:rPr>
              <a:t>?</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370701" name="Line 13"/>
          <p:cNvSpPr/>
          <p:nvPr/>
        </p:nvSpPr>
        <p:spPr>
          <a:xfrm>
            <a:off x="6019800" y="1295400"/>
            <a:ext cx="1143000" cy="198438"/>
          </a:xfrm>
          <a:prstGeom prst="line">
            <a:avLst/>
          </a:prstGeom>
          <a:ln w="38100" cap="flat" cmpd="sng">
            <a:solidFill>
              <a:srgbClr val="FF0000"/>
            </a:solidFill>
            <a:prstDash val="solid"/>
            <a:headEnd type="none" w="med" len="med"/>
            <a:tailEnd type="triangle" w="med" len="med"/>
          </a:ln>
        </p:spPr>
      </p:sp>
      <p:sp>
        <p:nvSpPr>
          <p:cNvPr id="130062"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xit" presetSubtype="0" fill="hold" grpId="0" nodeType="clickEffect">
                                  <p:stCondLst>
                                    <p:cond delay="0"/>
                                  </p:stCondLst>
                                  <p:childTnLst>
                                    <p:anim to="" calcmode="lin" valueType="num">
                                      <p:cBhvr>
                                        <p:cTn id="6" dur="1"/>
                                        <p:tgtEl>
                                          <p:spTgt spid="370698"/>
                                        </p:tgtEl>
                                        <p:attrNameLst>
                                          <p:attrName>style.visibility</p:attrName>
                                        </p:attrNameLst>
                                      </p:cBhvr>
                                    </p:anim>
                                    <p:set>
                                      <p:cBhvr>
                                        <p:cTn id="7" dur="1" fill="hold">
                                          <p:stCondLst>
                                            <p:cond delay="0"/>
                                          </p:stCondLst>
                                        </p:cTn>
                                        <p:tgtEl>
                                          <p:spTgt spid="370698"/>
                                        </p:tgtEl>
                                        <p:attrNameLst>
                                          <p:attrName>style.visibility</p:attrName>
                                        </p:attrNameLst>
                                      </p:cBhvr>
                                      <p:to>
                                        <p:strVal val="hidden"/>
                                      </p:to>
                                    </p:set>
                                  </p:childTnLst>
                                </p:cTn>
                              </p:par>
                              <p:par>
                                <p:cTn id="8" presetID="24" presetClass="exit" presetSubtype="0" fill="hold" grpId="0" nodeType="withEffect">
                                  <p:stCondLst>
                                    <p:cond delay="0"/>
                                  </p:stCondLst>
                                  <p:childTnLst>
                                    <p:anim to="" calcmode="lin" valueType="num">
                                      <p:cBhvr>
                                        <p:cTn id="9" dur="1"/>
                                        <p:tgtEl>
                                          <p:spTgt spid="370700"/>
                                        </p:tgtEl>
                                        <p:attrNameLst>
                                          <p:attrName>style.visibility</p:attrName>
                                        </p:attrNameLst>
                                      </p:cBhvr>
                                    </p:anim>
                                    <p:set>
                                      <p:cBhvr>
                                        <p:cTn id="10" dur="1" fill="hold">
                                          <p:stCondLst>
                                            <p:cond delay="0"/>
                                          </p:stCondLst>
                                        </p:cTn>
                                        <p:tgtEl>
                                          <p:spTgt spid="37070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370701"/>
                                        </p:tgtEl>
                                        <p:attrNameLst>
                                          <p:attrName>style.visibility</p:attrName>
                                        </p:attrNameLst>
                                      </p:cBhvr>
                                      <p:to>
                                        <p:strVal val="visible"/>
                                      </p:to>
                                    </p:set>
                                    <p:animEffect transition="in" filter="wipe(down)">
                                      <p:cBhvr>
                                        <p:cTn id="15" dur="580">
                                          <p:stCondLst>
                                            <p:cond delay="0"/>
                                          </p:stCondLst>
                                        </p:cTn>
                                        <p:tgtEl>
                                          <p:spTgt spid="370701"/>
                                        </p:tgtEl>
                                      </p:cBhvr>
                                    </p:animEffect>
                                    <p:anim calcmode="lin" valueType="num">
                                      <p:cBhvr>
                                        <p:cTn id="16" dur="1822" tmFilter="0,0; 0.14,0.36; 0.43,0.73; 0.71,0.91; 1.0,1.0">
                                          <p:stCondLst>
                                            <p:cond delay="0"/>
                                          </p:stCondLst>
                                        </p:cTn>
                                        <p:tgtEl>
                                          <p:spTgt spid="370701"/>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370701"/>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370701"/>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370701"/>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370701"/>
                                        </p:tgtEl>
                                        <p:attrNameLst>
                                          <p:attrName>ppt_y</p:attrName>
                                        </p:attrNameLst>
                                      </p:cBhvr>
                                      <p:tavLst>
                                        <p:tav tm="0" fmla="#ppt_y-sin(pi*$)/81">
                                          <p:val>
                                            <p:fltVal val="0"/>
                                          </p:val>
                                        </p:tav>
                                        <p:tav tm="100000">
                                          <p:val>
                                            <p:fltVal val="1"/>
                                          </p:val>
                                        </p:tav>
                                      </p:tavLst>
                                    </p:anim>
                                    <p:animScale>
                                      <p:cBhvr>
                                        <p:cTn id="21" dur="26">
                                          <p:stCondLst>
                                            <p:cond delay="650"/>
                                          </p:stCondLst>
                                        </p:cTn>
                                        <p:tgtEl>
                                          <p:spTgt spid="370701"/>
                                        </p:tgtEl>
                                      </p:cBhvr>
                                      <p:to x="100000" y="60000"/>
                                    </p:animScale>
                                    <p:animScale>
                                      <p:cBhvr>
                                        <p:cTn id="22" dur="166" decel="50000">
                                          <p:stCondLst>
                                            <p:cond delay="676"/>
                                          </p:stCondLst>
                                        </p:cTn>
                                        <p:tgtEl>
                                          <p:spTgt spid="370701"/>
                                        </p:tgtEl>
                                      </p:cBhvr>
                                      <p:to x="100000" y="100000"/>
                                    </p:animScale>
                                    <p:animScale>
                                      <p:cBhvr>
                                        <p:cTn id="23" dur="26">
                                          <p:stCondLst>
                                            <p:cond delay="1312"/>
                                          </p:stCondLst>
                                        </p:cTn>
                                        <p:tgtEl>
                                          <p:spTgt spid="370701"/>
                                        </p:tgtEl>
                                      </p:cBhvr>
                                      <p:to x="100000" y="80000"/>
                                    </p:animScale>
                                    <p:animScale>
                                      <p:cBhvr>
                                        <p:cTn id="24" dur="166" decel="50000">
                                          <p:stCondLst>
                                            <p:cond delay="1338"/>
                                          </p:stCondLst>
                                        </p:cTn>
                                        <p:tgtEl>
                                          <p:spTgt spid="370701"/>
                                        </p:tgtEl>
                                      </p:cBhvr>
                                      <p:to x="100000" y="100000"/>
                                    </p:animScale>
                                    <p:animScale>
                                      <p:cBhvr>
                                        <p:cTn id="25" dur="26">
                                          <p:stCondLst>
                                            <p:cond delay="1642"/>
                                          </p:stCondLst>
                                        </p:cTn>
                                        <p:tgtEl>
                                          <p:spTgt spid="370701"/>
                                        </p:tgtEl>
                                      </p:cBhvr>
                                      <p:to x="100000" y="90000"/>
                                    </p:animScale>
                                    <p:animScale>
                                      <p:cBhvr>
                                        <p:cTn id="26" dur="166" decel="50000">
                                          <p:stCondLst>
                                            <p:cond delay="1668"/>
                                          </p:stCondLst>
                                        </p:cTn>
                                        <p:tgtEl>
                                          <p:spTgt spid="370701"/>
                                        </p:tgtEl>
                                      </p:cBhvr>
                                      <p:to x="100000" y="100000"/>
                                    </p:animScale>
                                    <p:animScale>
                                      <p:cBhvr>
                                        <p:cTn id="27" dur="26">
                                          <p:stCondLst>
                                            <p:cond delay="1808"/>
                                          </p:stCondLst>
                                        </p:cTn>
                                        <p:tgtEl>
                                          <p:spTgt spid="370701"/>
                                        </p:tgtEl>
                                      </p:cBhvr>
                                      <p:to x="100000" y="95000"/>
                                    </p:animScale>
                                    <p:animScale>
                                      <p:cBhvr>
                                        <p:cTn id="28" dur="166" decel="50000">
                                          <p:stCondLst>
                                            <p:cond delay="1834"/>
                                          </p:stCondLst>
                                        </p:cTn>
                                        <p:tgtEl>
                                          <p:spTgt spid="37070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8" grpId="0" animBg="1"/>
      <p:bldP spid="37070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0" cap="none" spc="0" normalizeH="0" baseline="0" noProof="0" dirty="0">
                <a:ln>
                  <a:noFill/>
                </a:ln>
                <a:solidFill>
                  <a:schemeClr val="accent2"/>
                </a:solidFill>
                <a:effectLst/>
                <a:uLnTx/>
                <a:uFillTx/>
                <a:latin typeface="+mn-ea"/>
                <a:ea typeface="+mj-ea"/>
                <a:cs typeface="+mj-cs"/>
              </a:rPr>
              <a:t>线性规划问题</a:t>
            </a:r>
            <a:endParaRPr kumimoji="0" lang="zh-CN" altLang="en-US" sz="3200" b="0" i="0" u="none" strike="noStrike" kern="0" cap="none" spc="0" normalizeH="0" baseline="0" noProof="0" dirty="0">
              <a:ln>
                <a:noFill/>
              </a:ln>
              <a:solidFill>
                <a:schemeClr val="accent2"/>
              </a:solidFill>
              <a:effectLst/>
              <a:uLnTx/>
              <a:uFillTx/>
              <a:latin typeface="+mj-lt"/>
              <a:ea typeface="+mj-ea"/>
              <a:cs typeface="+mj-cs"/>
            </a:endParaRPr>
          </a:p>
        </p:txBody>
      </p:sp>
      <p:sp>
        <p:nvSpPr>
          <p:cNvPr id="132099" name="内容占位符 2"/>
          <p:cNvSpPr>
            <a:spLocks noGrp="1"/>
          </p:cNvSpPr>
          <p:nvPr>
            <p:ph idx="1"/>
          </p:nvPr>
        </p:nvSpPr>
        <p:spPr>
          <a:ln/>
        </p:spPr>
        <p:txBody>
          <a:bodyPr vert="horz" wrap="square" lIns="91440" tIns="45720" rIns="91440" bIns="45720" anchor="t" anchorCtr="0"/>
          <a:lstStyle/>
          <a:p>
            <a:r>
              <a:rPr lang="zh-CN" altLang="en-US" dirty="0"/>
              <a:t>直到</a:t>
            </a:r>
            <a:r>
              <a:rPr lang="en-US" altLang="zh-CN" dirty="0"/>
              <a:t>20</a:t>
            </a:r>
            <a:r>
              <a:rPr lang="zh-CN" altLang="en-US" dirty="0"/>
              <a:t>世纪</a:t>
            </a:r>
            <a:r>
              <a:rPr lang="en-US" altLang="zh-CN" dirty="0"/>
              <a:t>80</a:t>
            </a:r>
            <a:r>
              <a:rPr lang="zh-CN" altLang="en-US" dirty="0"/>
              <a:t>年代，这个问题得到解决，发现了多项式时间算法。 </a:t>
            </a:r>
            <a:endParaRPr lang="en-US" altLang="zh-CN" dirty="0"/>
          </a:p>
          <a:p>
            <a:r>
              <a:rPr lang="en-US" altLang="zh-CN" dirty="0"/>
              <a:t>1984</a:t>
            </a:r>
            <a:r>
              <a:rPr lang="zh-CN" altLang="en-US" dirty="0"/>
              <a:t>年，贝尔实验室印度裔数学家卡马卡（</a:t>
            </a:r>
            <a:r>
              <a:rPr lang="en-US" altLang="zh-CN" dirty="0"/>
              <a:t>Narendra Karmarkar</a:t>
            </a:r>
            <a:r>
              <a:rPr lang="zh-CN" altLang="en-US" dirty="0"/>
              <a:t>）提出了投影尺度法（又名</a:t>
            </a:r>
            <a:r>
              <a:rPr lang="en-US" altLang="zh-CN" dirty="0"/>
              <a:t>Karmarkar's algorithm</a:t>
            </a:r>
            <a:r>
              <a:rPr lang="zh-CN" altLang="en-US" dirty="0"/>
              <a:t>）。这是第一个在理论上和实际上都表现良好的算法：它的最坏情况仅为多项式时间，且在实际问题中它比单纯形算法有显著的效率提升。</a:t>
            </a:r>
            <a:endParaRPr lang="en-US" altLang="zh-CN" dirty="0"/>
          </a:p>
          <a:p>
            <a:r>
              <a:rPr lang="zh-CN" altLang="en-US" dirty="0"/>
              <a:t>线性规划的求解程式在各种各样的工业最优化问题里被广泛使用，例如运输网络的流量的最优化问题，其中很多都可以不太困难地被转换成线性规划问题。</a:t>
            </a:r>
          </a:p>
        </p:txBody>
      </p:sp>
      <p:sp>
        <p:nvSpPr>
          <p:cNvPr id="132100" name="页脚占位符 3"/>
          <p:cNvSpPr txBox="1">
            <a:spLocks noGrp="1"/>
          </p:cNvSpPr>
          <p:nvPr>
            <p:ph type="ftr"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dirty="0"/>
              <a:t>Algorithms Design Techniques and Analysis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0" cap="none" spc="0" normalizeH="0" baseline="0" noProof="0" dirty="0">
                <a:ln>
                  <a:noFill/>
                </a:ln>
                <a:solidFill>
                  <a:schemeClr val="accent2"/>
                </a:solidFill>
                <a:effectLst/>
                <a:uLnTx/>
                <a:uFillTx/>
                <a:latin typeface="+mn-ea"/>
                <a:ea typeface="+mj-ea"/>
                <a:cs typeface="+mj-cs"/>
              </a:rPr>
              <a:t>线性规划问题</a:t>
            </a:r>
            <a:endParaRPr kumimoji="0" lang="zh-CN" altLang="en-US" sz="3200" b="0" i="0" u="none" strike="noStrike" kern="0" cap="none" spc="0" normalizeH="0" baseline="0" noProof="0" dirty="0">
              <a:ln>
                <a:noFill/>
              </a:ln>
              <a:solidFill>
                <a:schemeClr val="accent2"/>
              </a:solidFill>
              <a:effectLst/>
              <a:uLnTx/>
              <a:uFillTx/>
              <a:latin typeface="+mj-lt"/>
              <a:ea typeface="+mj-ea"/>
              <a:cs typeface="+mj-cs"/>
            </a:endParaRPr>
          </a:p>
        </p:txBody>
      </p:sp>
      <p:sp>
        <p:nvSpPr>
          <p:cNvPr id="133123" name="页脚占位符 3"/>
          <p:cNvSpPr txBox="1">
            <a:spLocks noGrp="1"/>
          </p:cNvSpPr>
          <p:nvPr>
            <p:ph type="ftr" sz="quarter" idx="10"/>
          </p:nvPr>
        </p:nvSpPr>
        <p:spPr>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dirty="0"/>
              <a:t>Algorithms Design Techniques and Analysis</a:t>
            </a:r>
          </a:p>
        </p:txBody>
      </p:sp>
      <p:pic>
        <p:nvPicPr>
          <p:cNvPr id="133124" name="图片 4"/>
          <p:cNvPicPr>
            <a:picLocks noChangeAspect="1"/>
          </p:cNvPicPr>
          <p:nvPr/>
        </p:nvPicPr>
        <p:blipFill>
          <a:blip r:embed="rId2"/>
          <a:stretch>
            <a:fillRect/>
          </a:stretch>
        </p:blipFill>
        <p:spPr>
          <a:xfrm>
            <a:off x="130175" y="1727200"/>
            <a:ext cx="8883650" cy="3608388"/>
          </a:xfrm>
          <a:prstGeom prst="rect">
            <a:avLst/>
          </a:prstGeom>
          <a:noFill/>
          <a:ln w="9525">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p:cNvSpPr>
          <p:nvPr>
            <p:ph type="title"/>
          </p:nvPr>
        </p:nvSpPr>
        <p:spPr>
          <a:ln/>
        </p:spPr>
        <p:txBody>
          <a:bodyPr vert="horz" wrap="square" lIns="91440" tIns="45720" rIns="91440" bIns="45720" anchor="ctr" anchorCtr="0"/>
          <a:lstStyle/>
          <a:p>
            <a:r>
              <a:rPr lang="zh-CN" altLang="en-US" b="1" dirty="0"/>
              <a:t>另一个例子</a:t>
            </a:r>
          </a:p>
        </p:txBody>
      </p:sp>
      <p:sp>
        <p:nvSpPr>
          <p:cNvPr id="134147" name="Rectangle 3"/>
          <p:cNvSpPr>
            <a:spLocks noGrp="1"/>
          </p:cNvSpPr>
          <p:nvPr>
            <p:ph idx="1"/>
          </p:nvPr>
        </p:nvSpPr>
        <p:spPr>
          <a:xfrm>
            <a:off x="754063" y="1890713"/>
            <a:ext cx="7786687" cy="4525962"/>
          </a:xfrm>
          <a:ln/>
        </p:spPr>
        <p:txBody>
          <a:bodyPr vert="horz" wrap="square" lIns="91440" tIns="45720" rIns="91440" bIns="45720" anchor="t" anchorCtr="0"/>
          <a:lstStyle/>
          <a:p>
            <a:pPr>
              <a:lnSpc>
                <a:spcPct val="120000"/>
              </a:lnSpc>
              <a:buNone/>
            </a:pPr>
            <a:r>
              <a:rPr lang="zh-CN" altLang="en-US" b="1" dirty="0">
                <a:solidFill>
                  <a:srgbClr val="FF0000"/>
                </a:solidFill>
              </a:rPr>
              <a:t>素数判定问题</a:t>
            </a:r>
          </a:p>
          <a:p>
            <a:pPr>
              <a:lnSpc>
                <a:spcPct val="120000"/>
              </a:lnSpc>
            </a:pPr>
            <a:r>
              <a:rPr lang="zh-CN" altLang="en-US" dirty="0"/>
              <a:t>给一个整数，判定其是素数</a:t>
            </a:r>
          </a:p>
          <a:p>
            <a:pPr>
              <a:lnSpc>
                <a:spcPct val="120000"/>
              </a:lnSpc>
              <a:buNone/>
            </a:pPr>
            <a:r>
              <a:rPr lang="zh-CN" altLang="en-US" dirty="0"/>
              <a:t>    还是合数。</a:t>
            </a:r>
          </a:p>
          <a:p>
            <a:pPr>
              <a:lnSpc>
                <a:spcPct val="120000"/>
              </a:lnSpc>
            </a:pPr>
            <a:r>
              <a:rPr lang="zh-CN" altLang="en-US" dirty="0"/>
              <a:t>经过一个重要的理论突破，印度</a:t>
            </a:r>
            <a:r>
              <a:rPr lang="en-US" altLang="zh-CN" dirty="0"/>
              <a:t>M. Agrawal </a:t>
            </a:r>
            <a:r>
              <a:rPr lang="zh-CN" altLang="en-US" dirty="0"/>
              <a:t>教授和他的学生</a:t>
            </a:r>
            <a:r>
              <a:rPr lang="en-US" altLang="zh-CN" dirty="0"/>
              <a:t>N. Kayal </a:t>
            </a:r>
            <a:r>
              <a:rPr lang="zh-CN" altLang="en-US" dirty="0"/>
              <a:t>和</a:t>
            </a:r>
            <a:r>
              <a:rPr lang="en-US" altLang="zh-CN" dirty="0"/>
              <a:t>N. Saxena</a:t>
            </a:r>
            <a:r>
              <a:rPr lang="zh-CN" altLang="en-US" dirty="0"/>
              <a:t>于</a:t>
            </a:r>
            <a:r>
              <a:rPr lang="en-US" altLang="zh-CN" dirty="0"/>
              <a:t>2002</a:t>
            </a:r>
            <a:r>
              <a:rPr lang="zh-CN" altLang="en-US" dirty="0"/>
              <a:t>年宣布发现一个多项式时间算法。</a:t>
            </a:r>
            <a:r>
              <a:rPr lang="en-US" altLang="zh-CN" sz="1200" b="1" dirty="0">
                <a:solidFill>
                  <a:srgbClr val="CC3300"/>
                </a:solidFill>
              </a:rPr>
              <a:t>(PRIMES is in P, </a:t>
            </a:r>
            <a:r>
              <a:rPr lang="en-US" altLang="zh-CN" sz="1200" b="1" i="1" dirty="0">
                <a:solidFill>
                  <a:srgbClr val="CC3300"/>
                </a:solidFill>
              </a:rPr>
              <a:t>Annals of Mathematics</a:t>
            </a:r>
            <a:r>
              <a:rPr lang="en-US" altLang="zh-CN" sz="1200" b="1" dirty="0">
                <a:solidFill>
                  <a:srgbClr val="CC3300"/>
                </a:solidFill>
              </a:rPr>
              <a:t>, 160 (2004), 781–793)</a:t>
            </a:r>
            <a:r>
              <a:rPr lang="en-US" altLang="zh-CN" dirty="0"/>
              <a:t>  </a:t>
            </a:r>
          </a:p>
        </p:txBody>
      </p:sp>
      <p:sp>
        <p:nvSpPr>
          <p:cNvPr id="134148" name="Oval 4"/>
          <p:cNvSpPr/>
          <p:nvPr/>
        </p:nvSpPr>
        <p:spPr>
          <a:xfrm>
            <a:off x="4648200" y="304800"/>
            <a:ext cx="4113213" cy="2674938"/>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34149" name="Oval 5"/>
          <p:cNvSpPr/>
          <p:nvPr/>
        </p:nvSpPr>
        <p:spPr>
          <a:xfrm>
            <a:off x="4991100" y="1890713"/>
            <a:ext cx="2401888" cy="792162"/>
          </a:xfrm>
          <a:prstGeom prst="ellipse">
            <a:avLst/>
          </a:prstGeom>
          <a:no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华文中宋" panose="02010600040101010101" pitchFamily="2" charset="-122"/>
              </a:rPr>
              <a:t>NP</a:t>
            </a:r>
            <a:r>
              <a:rPr lang="zh-CN" altLang="en-US" sz="2200" b="1" dirty="0">
                <a:solidFill>
                  <a:srgbClr val="FF0000"/>
                </a:solidFill>
                <a:ea typeface="华文中宋" panose="02010600040101010101" pitchFamily="2" charset="-122"/>
              </a:rPr>
              <a:t>完全</a:t>
            </a:r>
            <a:r>
              <a:rPr lang="zh-CN" altLang="en-US" sz="2200" b="1" dirty="0">
                <a:solidFill>
                  <a:srgbClr val="FF000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134150" name="Rectangle 6"/>
          <p:cNvSpPr/>
          <p:nvPr/>
        </p:nvSpPr>
        <p:spPr>
          <a:xfrm>
            <a:off x="5486400" y="609600"/>
            <a:ext cx="1866900" cy="59372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zh-CN" altLang="en-US" sz="2200" b="1" dirty="0">
                <a:solidFill>
                  <a:srgbClr val="000080"/>
                </a:solidFill>
                <a:ea typeface="华文中宋" panose="02010600040101010101" pitchFamily="2" charset="-122"/>
              </a:rPr>
              <a:t>素数判定</a:t>
            </a:r>
            <a:r>
              <a:rPr lang="zh-CN" altLang="en-US" sz="2200" b="1" dirty="0">
                <a:solidFill>
                  <a:srgbClr val="000080"/>
                </a:solidFill>
                <a:latin typeface="华文中宋" panose="02010600040101010101" pitchFamily="2" charset="-122"/>
                <a:ea typeface="华文中宋" panose="02010600040101010101" pitchFamily="2" charset="-122"/>
              </a:rPr>
              <a:t>问题</a:t>
            </a:r>
            <a:endParaRPr lang="zh-CN" altLang="en-US" sz="1800" dirty="0">
              <a:solidFill>
                <a:schemeClr val="tx1"/>
              </a:solidFill>
              <a:latin typeface="Arial" panose="020B0604020202020204" pitchFamily="34" charset="0"/>
              <a:ea typeface="宋体" panose="02010600030101010101" pitchFamily="2" charset="-122"/>
            </a:endParaRPr>
          </a:p>
        </p:txBody>
      </p:sp>
      <p:sp>
        <p:nvSpPr>
          <p:cNvPr id="134151" name="Oval 7"/>
          <p:cNvSpPr/>
          <p:nvPr/>
        </p:nvSpPr>
        <p:spPr>
          <a:xfrm>
            <a:off x="6991350" y="1146175"/>
            <a:ext cx="1714500" cy="792163"/>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000080"/>
                </a:solidFill>
                <a:ea typeface="华文中宋" panose="02010600040101010101" pitchFamily="2" charset="-122"/>
              </a:rPr>
              <a:t>P</a:t>
            </a:r>
            <a:r>
              <a:rPr lang="zh-CN" altLang="en-US" sz="2200" b="1" dirty="0">
                <a:solidFill>
                  <a:srgbClr val="000080"/>
                </a:solidFill>
                <a:ea typeface="华文中宋" panose="02010600040101010101" pitchFamily="2" charset="-122"/>
              </a:rPr>
              <a:t>类</a:t>
            </a:r>
            <a:r>
              <a:rPr lang="zh-CN" altLang="en-US" sz="2200" b="1" dirty="0">
                <a:solidFill>
                  <a:srgbClr val="000080"/>
                </a:solidFill>
                <a:latin typeface="华文中宋" panose="02010600040101010101" pitchFamily="2" charset="-122"/>
                <a:ea typeface="华文中宋" panose="02010600040101010101" pitchFamily="2" charset="-122"/>
              </a:rPr>
              <a:t>问题</a:t>
            </a:r>
          </a:p>
          <a:p>
            <a:pPr marL="0" lvl="0" indent="0"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134152" name="Oval 8"/>
          <p:cNvSpPr/>
          <p:nvPr/>
        </p:nvSpPr>
        <p:spPr>
          <a:xfrm>
            <a:off x="5791200" y="1196975"/>
            <a:ext cx="228600" cy="196850"/>
          </a:xfrm>
          <a:prstGeom prst="ellipse">
            <a:avLst/>
          </a:prstGeom>
          <a:solidFill>
            <a:srgbClr val="333333"/>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134153" name="Line 9"/>
          <p:cNvSpPr/>
          <p:nvPr/>
        </p:nvSpPr>
        <p:spPr>
          <a:xfrm>
            <a:off x="5905500" y="1393825"/>
            <a:ext cx="114300" cy="693738"/>
          </a:xfrm>
          <a:prstGeom prst="line">
            <a:avLst/>
          </a:prstGeom>
          <a:ln w="28575" cap="flat" cmpd="sng">
            <a:solidFill>
              <a:srgbClr val="000000"/>
            </a:solidFill>
            <a:prstDash val="dash"/>
            <a:headEnd type="none" w="med" len="med"/>
            <a:tailEnd type="triangle" w="med" len="med"/>
          </a:ln>
        </p:spPr>
      </p:sp>
      <p:sp>
        <p:nvSpPr>
          <p:cNvPr id="371722" name="Rectangle 10"/>
          <p:cNvSpPr/>
          <p:nvPr/>
        </p:nvSpPr>
        <p:spPr>
          <a:xfrm>
            <a:off x="5562600" y="1493838"/>
            <a:ext cx="342900" cy="39687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宋体" panose="02010600030101010101" pitchFamily="2" charset="-122"/>
              </a:rPr>
              <a:t>?</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134155" name="Line 11"/>
          <p:cNvSpPr/>
          <p:nvPr/>
        </p:nvSpPr>
        <p:spPr>
          <a:xfrm>
            <a:off x="6019800" y="1295400"/>
            <a:ext cx="1143000" cy="198438"/>
          </a:xfrm>
          <a:prstGeom prst="line">
            <a:avLst/>
          </a:prstGeom>
          <a:ln w="28575" cap="flat" cmpd="sng">
            <a:solidFill>
              <a:srgbClr val="000000"/>
            </a:solidFill>
            <a:prstDash val="dash"/>
            <a:headEnd type="none" w="med" len="med"/>
            <a:tailEnd type="triangle" w="med" len="med"/>
          </a:ln>
        </p:spPr>
      </p:sp>
      <p:sp>
        <p:nvSpPr>
          <p:cNvPr id="371724" name="Rectangle 12"/>
          <p:cNvSpPr/>
          <p:nvPr/>
        </p:nvSpPr>
        <p:spPr>
          <a:xfrm>
            <a:off x="6705600" y="998538"/>
            <a:ext cx="342900" cy="39528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just" eaLnBrk="1" hangingPunct="1">
              <a:spcBef>
                <a:spcPct val="0"/>
              </a:spcBef>
              <a:buNone/>
            </a:pPr>
            <a:r>
              <a:rPr lang="en-US" altLang="zh-CN" sz="2200" b="1" dirty="0">
                <a:solidFill>
                  <a:srgbClr val="FF0000"/>
                </a:solidFill>
                <a:ea typeface="宋体" panose="02010600030101010101" pitchFamily="2" charset="-122"/>
              </a:rPr>
              <a:t>?</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371725" name="Line 13"/>
          <p:cNvSpPr/>
          <p:nvPr/>
        </p:nvSpPr>
        <p:spPr>
          <a:xfrm>
            <a:off x="6019800" y="1295400"/>
            <a:ext cx="1143000" cy="198438"/>
          </a:xfrm>
          <a:prstGeom prst="line">
            <a:avLst/>
          </a:prstGeom>
          <a:ln w="38100" cap="flat" cmpd="sng">
            <a:solidFill>
              <a:srgbClr val="FF0000"/>
            </a:solidFill>
            <a:prstDash val="solid"/>
            <a:headEnd type="none" w="med" len="med"/>
            <a:tailEnd type="triangle" w="med" len="med"/>
          </a:ln>
        </p:spPr>
      </p:sp>
      <p:sp>
        <p:nvSpPr>
          <p:cNvPr id="134158" name="页脚占位符 4"/>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xit" presetSubtype="0" fill="hold" grpId="0" nodeType="clickEffect">
                                  <p:stCondLst>
                                    <p:cond delay="0"/>
                                  </p:stCondLst>
                                  <p:childTnLst>
                                    <p:anim to="" calcmode="lin" valueType="num">
                                      <p:cBhvr>
                                        <p:cTn id="6" dur="1"/>
                                        <p:tgtEl>
                                          <p:spTgt spid="371722"/>
                                        </p:tgtEl>
                                        <p:attrNameLst>
                                          <p:attrName>style.visibility</p:attrName>
                                        </p:attrNameLst>
                                      </p:cBhvr>
                                    </p:anim>
                                    <p:set>
                                      <p:cBhvr>
                                        <p:cTn id="7" dur="1" fill="hold">
                                          <p:stCondLst>
                                            <p:cond delay="0"/>
                                          </p:stCondLst>
                                        </p:cTn>
                                        <p:tgtEl>
                                          <p:spTgt spid="371722"/>
                                        </p:tgtEl>
                                        <p:attrNameLst>
                                          <p:attrName>style.visibility</p:attrName>
                                        </p:attrNameLst>
                                      </p:cBhvr>
                                      <p:to>
                                        <p:strVal val="hidden"/>
                                      </p:to>
                                    </p:set>
                                  </p:childTnLst>
                                </p:cTn>
                              </p:par>
                              <p:par>
                                <p:cTn id="8" presetID="24" presetClass="exit" presetSubtype="0" fill="hold" grpId="0" nodeType="withEffect">
                                  <p:stCondLst>
                                    <p:cond delay="0"/>
                                  </p:stCondLst>
                                  <p:childTnLst>
                                    <p:anim to="" calcmode="lin" valueType="num">
                                      <p:cBhvr>
                                        <p:cTn id="9" dur="1"/>
                                        <p:tgtEl>
                                          <p:spTgt spid="371724"/>
                                        </p:tgtEl>
                                        <p:attrNameLst>
                                          <p:attrName>style.visibility</p:attrName>
                                        </p:attrNameLst>
                                      </p:cBhvr>
                                    </p:anim>
                                    <p:set>
                                      <p:cBhvr>
                                        <p:cTn id="10" dur="1" fill="hold">
                                          <p:stCondLst>
                                            <p:cond delay="0"/>
                                          </p:stCondLst>
                                        </p:cTn>
                                        <p:tgtEl>
                                          <p:spTgt spid="3717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nodeType="clickEffect">
                                  <p:stCondLst>
                                    <p:cond delay="0"/>
                                  </p:stCondLst>
                                  <p:childTnLst>
                                    <p:set>
                                      <p:cBhvr>
                                        <p:cTn id="14" dur="1" fill="hold">
                                          <p:stCondLst>
                                            <p:cond delay="0"/>
                                          </p:stCondLst>
                                        </p:cTn>
                                        <p:tgtEl>
                                          <p:spTgt spid="371725"/>
                                        </p:tgtEl>
                                        <p:attrNameLst>
                                          <p:attrName>style.visibility</p:attrName>
                                        </p:attrNameLst>
                                      </p:cBhvr>
                                      <p:to>
                                        <p:strVal val="visible"/>
                                      </p:to>
                                    </p:set>
                                    <p:anim to="" calcmode="lin" valueType="num">
                                      <p:cBhvr>
                                        <p:cTn id="15" dur="1" fill="hold"/>
                                        <p:tgtEl>
                                          <p:spTgt spid="371725"/>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22" grpId="0" animBg="1"/>
      <p:bldP spid="37172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36195" name="Rectangle 2"/>
          <p:cNvSpPr>
            <a:spLocks noGrp="1"/>
          </p:cNvSpPr>
          <p:nvPr>
            <p:ph type="title"/>
          </p:nvPr>
        </p:nvSpPr>
        <p:spPr>
          <a:xfrm>
            <a:off x="914400" y="76200"/>
            <a:ext cx="8229600" cy="1139825"/>
          </a:xfrm>
          <a:ln/>
        </p:spPr>
        <p:txBody>
          <a:bodyPr vert="horz" wrap="square" lIns="91440" tIns="45720" rIns="91440" bIns="45720" anchor="ctr" anchorCtr="0"/>
          <a:lstStyle/>
          <a:p>
            <a:pPr eaLnBrk="1" hangingPunct="1"/>
            <a:r>
              <a:rPr lang="zh-CN" altLang="en-US" dirty="0"/>
              <a:t>四种类之间的关系</a:t>
            </a:r>
            <a:endParaRPr lang="en-US" altLang="zh-CN" dirty="0"/>
          </a:p>
        </p:txBody>
      </p:sp>
      <p:sp>
        <p:nvSpPr>
          <p:cNvPr id="136196" name="Rectangle 3"/>
          <p:cNvSpPr>
            <a:spLocks noGrp="1"/>
          </p:cNvSpPr>
          <p:nvPr>
            <p:ph idx="1"/>
          </p:nvPr>
        </p:nvSpPr>
        <p:spPr>
          <a:ln/>
        </p:spPr>
        <p:txBody>
          <a:bodyPr vert="horz" wrap="square" lIns="91440" tIns="45720" rIns="91440" bIns="45720" anchor="t" anchorCtr="0"/>
          <a:lstStyle/>
          <a:p>
            <a:pPr eaLnBrk="1" hangingPunct="1"/>
            <a:r>
              <a:rPr lang="en-US" altLang="zh-CN" dirty="0"/>
              <a:t>P184</a:t>
            </a:r>
            <a:endParaRPr lang="zh-CN" altLang="zh-CN" dirty="0"/>
          </a:p>
        </p:txBody>
      </p:sp>
      <p:sp>
        <p:nvSpPr>
          <p:cNvPr id="66564" name="Oval 4"/>
          <p:cNvSpPr/>
          <p:nvPr/>
        </p:nvSpPr>
        <p:spPr>
          <a:xfrm>
            <a:off x="1143000" y="1828800"/>
            <a:ext cx="5029200" cy="3733800"/>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66566" name="Oval 6"/>
          <p:cNvSpPr/>
          <p:nvPr/>
        </p:nvSpPr>
        <p:spPr>
          <a:xfrm>
            <a:off x="3124200" y="1828800"/>
            <a:ext cx="5029200" cy="3733800"/>
          </a:xfrm>
          <a:prstGeom prst="ellipse">
            <a:avLst/>
          </a:prstGeom>
          <a:no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dirty="0">
              <a:solidFill>
                <a:schemeClr val="tx1"/>
              </a:solidFill>
              <a:latin typeface="Arial" panose="020B0604020202020204" pitchFamily="34" charset="0"/>
              <a:ea typeface="宋体" panose="02010600030101010101" pitchFamily="2" charset="-122"/>
            </a:endParaRPr>
          </a:p>
        </p:txBody>
      </p:sp>
      <p:sp>
        <p:nvSpPr>
          <p:cNvPr id="66567" name="Oval 7"/>
          <p:cNvSpPr/>
          <p:nvPr/>
        </p:nvSpPr>
        <p:spPr>
          <a:xfrm>
            <a:off x="1600200" y="3200400"/>
            <a:ext cx="1447800" cy="1371600"/>
          </a:xfrm>
          <a:prstGeom prst="ellipse">
            <a:avLst/>
          </a:prstGeom>
          <a:solidFill>
            <a:srgbClr val="CCFFFF"/>
          </a:solidFill>
          <a:ln w="25400" cap="flat" cmpd="sng">
            <a:solidFill>
              <a:schemeClr val="tx1"/>
            </a:solidFill>
            <a:prstDash val="solid"/>
            <a:headEnd type="none" w="med" len="med"/>
            <a:tailEnd type="none" w="med" len="med"/>
          </a:ln>
        </p:spPr>
        <p:txBody>
          <a:bodyPr wrap="square"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chemeClr val="tx1"/>
                </a:solidFill>
                <a:ea typeface="宋体" panose="02010600030101010101" pitchFamily="2" charset="-122"/>
              </a:rPr>
              <a:t>co-NP-</a:t>
            </a:r>
          </a:p>
          <a:p>
            <a:pPr marL="0" lvl="0" indent="0" algn="ctr" eaLnBrk="1" hangingPunct="1">
              <a:spcBef>
                <a:spcPct val="0"/>
              </a:spcBef>
              <a:buNone/>
            </a:pPr>
            <a:endParaRPr lang="en-US" altLang="zh-CN" sz="2000" dirty="0">
              <a:solidFill>
                <a:schemeClr val="tx1"/>
              </a:solidFill>
              <a:ea typeface="宋体" panose="02010600030101010101" pitchFamily="2" charset="-122"/>
            </a:endParaRPr>
          </a:p>
          <a:p>
            <a:pPr marL="0" lvl="0" indent="0" algn="ctr" eaLnBrk="1" hangingPunct="1">
              <a:spcBef>
                <a:spcPct val="0"/>
              </a:spcBef>
              <a:buNone/>
            </a:pPr>
            <a:r>
              <a:rPr lang="en-US" altLang="zh-CN" sz="1600" dirty="0">
                <a:solidFill>
                  <a:schemeClr val="tx1"/>
                </a:solidFill>
                <a:ea typeface="宋体" panose="02010600030101010101" pitchFamily="2" charset="-122"/>
              </a:rPr>
              <a:t>complete</a:t>
            </a:r>
          </a:p>
        </p:txBody>
      </p:sp>
      <p:sp>
        <p:nvSpPr>
          <p:cNvPr id="66568" name="Oval 8"/>
          <p:cNvSpPr/>
          <p:nvPr/>
        </p:nvSpPr>
        <p:spPr>
          <a:xfrm>
            <a:off x="6172200" y="3284548"/>
            <a:ext cx="1981199" cy="830252"/>
          </a:xfrm>
          <a:prstGeom prst="ellipse">
            <a:avLst/>
          </a:prstGeom>
          <a:solidFill>
            <a:srgbClr val="CCFFFF"/>
          </a:solidFill>
          <a:ln w="25400" cap="flat" cmpd="sng">
            <a:solidFill>
              <a:schemeClr val="tx1"/>
            </a:solidFill>
            <a:prstDash val="solid"/>
            <a:headEnd type="none" w="med" len="med"/>
            <a:tailEnd type="none" w="med" len="med"/>
          </a:ln>
        </p:spPr>
        <p:txBody>
          <a:bodyPr wrap="square"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1600" dirty="0">
                <a:solidFill>
                  <a:schemeClr val="tx1"/>
                </a:solidFill>
                <a:ea typeface="宋体" panose="02010600030101010101" pitchFamily="2" charset="-122"/>
              </a:rPr>
              <a:t>NP-comp</a:t>
            </a:r>
          </a:p>
          <a:p>
            <a:pPr marL="0" lvl="0" indent="0" algn="ctr" eaLnBrk="1" hangingPunct="1">
              <a:spcBef>
                <a:spcPct val="0"/>
              </a:spcBef>
              <a:buNone/>
            </a:pPr>
            <a:r>
              <a:rPr lang="en-US" altLang="zh-CN" sz="1600" dirty="0">
                <a:solidFill>
                  <a:schemeClr val="tx1"/>
                </a:solidFill>
                <a:ea typeface="宋体" panose="02010600030101010101" pitchFamily="2" charset="-122"/>
              </a:rPr>
              <a:t>lete</a:t>
            </a:r>
          </a:p>
        </p:txBody>
      </p:sp>
      <p:sp>
        <p:nvSpPr>
          <p:cNvPr id="66569" name="Oval 9"/>
          <p:cNvSpPr/>
          <p:nvPr/>
        </p:nvSpPr>
        <p:spPr>
          <a:xfrm>
            <a:off x="3429000" y="3427413"/>
            <a:ext cx="2438400" cy="763587"/>
          </a:xfrm>
          <a:prstGeom prst="ellipse">
            <a:avLst/>
          </a:prstGeom>
          <a:solidFill>
            <a:srgbClr val="CCFFFF"/>
          </a:solidFill>
          <a:ln w="25400"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endParaRPr lang="zh-CN" altLang="zh-CN" sz="3000" dirty="0">
              <a:solidFill>
                <a:schemeClr val="accent1"/>
              </a:solidFill>
              <a:latin typeface="Arial" panose="020B0604020202020204" pitchFamily="34" charset="0"/>
              <a:ea typeface="宋体" panose="02010600030101010101" pitchFamily="2" charset="-122"/>
            </a:endParaRPr>
          </a:p>
        </p:txBody>
      </p:sp>
      <p:sp>
        <p:nvSpPr>
          <p:cNvPr id="66570" name="Text Box 10"/>
          <p:cNvSpPr txBox="1"/>
          <p:nvPr/>
        </p:nvSpPr>
        <p:spPr>
          <a:xfrm>
            <a:off x="2481263" y="2144713"/>
            <a:ext cx="947737"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Co-NP</a:t>
            </a:r>
          </a:p>
        </p:txBody>
      </p:sp>
      <p:sp>
        <p:nvSpPr>
          <p:cNvPr id="66573" name="Text Box 13"/>
          <p:cNvSpPr txBox="1"/>
          <p:nvPr/>
        </p:nvSpPr>
        <p:spPr>
          <a:xfrm>
            <a:off x="4098925" y="2525713"/>
            <a:ext cx="608013"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NPI</a:t>
            </a:r>
          </a:p>
        </p:txBody>
      </p:sp>
      <p:sp>
        <p:nvSpPr>
          <p:cNvPr id="66575" name="Text Box 15"/>
          <p:cNvSpPr txBox="1"/>
          <p:nvPr/>
        </p:nvSpPr>
        <p:spPr>
          <a:xfrm>
            <a:off x="4362450" y="3565525"/>
            <a:ext cx="438150"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chemeClr val="tx1"/>
                </a:solidFill>
                <a:latin typeface="Arial" panose="020B0604020202020204" pitchFamily="34" charset="0"/>
                <a:ea typeface="宋体" panose="02010600030101010101" pitchFamily="2" charset="-122"/>
              </a:rPr>
              <a:t>P</a:t>
            </a:r>
          </a:p>
        </p:txBody>
      </p:sp>
      <p:sp>
        <p:nvSpPr>
          <p:cNvPr id="66579" name="Text Box 19"/>
          <p:cNvSpPr txBox="1"/>
          <p:nvPr/>
        </p:nvSpPr>
        <p:spPr>
          <a:xfrm>
            <a:off x="6232525" y="2297113"/>
            <a:ext cx="538163"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NP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blinds(horizontal)">
                                      <p:cBhvr>
                                        <p:cTn id="7" dur="500"/>
                                        <p:tgtEl>
                                          <p:spTgt spid="6656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6566"/>
                                        </p:tgtEl>
                                        <p:attrNameLst>
                                          <p:attrName>style.visibility</p:attrName>
                                        </p:attrNameLst>
                                      </p:cBhvr>
                                      <p:to>
                                        <p:strVal val="visible"/>
                                      </p:to>
                                    </p:set>
                                    <p:animEffect transition="in" filter="blinds(horizontal)">
                                      <p:cBhvr>
                                        <p:cTn id="10" dur="500"/>
                                        <p:tgtEl>
                                          <p:spTgt spid="6656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6567"/>
                                        </p:tgtEl>
                                        <p:attrNameLst>
                                          <p:attrName>style.visibility</p:attrName>
                                        </p:attrNameLst>
                                      </p:cBhvr>
                                      <p:to>
                                        <p:strVal val="visible"/>
                                      </p:to>
                                    </p:set>
                                    <p:animEffect transition="in" filter="blinds(horizontal)">
                                      <p:cBhvr>
                                        <p:cTn id="13" dur="500"/>
                                        <p:tgtEl>
                                          <p:spTgt spid="6656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6568"/>
                                        </p:tgtEl>
                                        <p:attrNameLst>
                                          <p:attrName>style.visibility</p:attrName>
                                        </p:attrNameLst>
                                      </p:cBhvr>
                                      <p:to>
                                        <p:strVal val="visible"/>
                                      </p:to>
                                    </p:set>
                                    <p:animEffect transition="in" filter="blinds(horizontal)">
                                      <p:cBhvr>
                                        <p:cTn id="16" dur="500"/>
                                        <p:tgtEl>
                                          <p:spTgt spid="6656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6569"/>
                                        </p:tgtEl>
                                        <p:attrNameLst>
                                          <p:attrName>style.visibility</p:attrName>
                                        </p:attrNameLst>
                                      </p:cBhvr>
                                      <p:to>
                                        <p:strVal val="visible"/>
                                      </p:to>
                                    </p:set>
                                    <p:animEffect transition="in" filter="blinds(horizontal)">
                                      <p:cBhvr>
                                        <p:cTn id="19" dur="500"/>
                                        <p:tgtEl>
                                          <p:spTgt spid="6656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6570"/>
                                        </p:tgtEl>
                                        <p:attrNameLst>
                                          <p:attrName>style.visibility</p:attrName>
                                        </p:attrNameLst>
                                      </p:cBhvr>
                                      <p:to>
                                        <p:strVal val="visible"/>
                                      </p:to>
                                    </p:set>
                                    <p:animEffect transition="in" filter="blinds(horizontal)">
                                      <p:cBhvr>
                                        <p:cTn id="22" dur="500"/>
                                        <p:tgtEl>
                                          <p:spTgt spid="6657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6573"/>
                                        </p:tgtEl>
                                        <p:attrNameLst>
                                          <p:attrName>style.visibility</p:attrName>
                                        </p:attrNameLst>
                                      </p:cBhvr>
                                      <p:to>
                                        <p:strVal val="visible"/>
                                      </p:to>
                                    </p:set>
                                    <p:animEffect transition="in" filter="blinds(horizontal)">
                                      <p:cBhvr>
                                        <p:cTn id="25" dur="500"/>
                                        <p:tgtEl>
                                          <p:spTgt spid="6657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6575"/>
                                        </p:tgtEl>
                                        <p:attrNameLst>
                                          <p:attrName>style.visibility</p:attrName>
                                        </p:attrNameLst>
                                      </p:cBhvr>
                                      <p:to>
                                        <p:strVal val="visible"/>
                                      </p:to>
                                    </p:set>
                                    <p:animEffect transition="in" filter="blinds(horizontal)">
                                      <p:cBhvr>
                                        <p:cTn id="28" dur="500"/>
                                        <p:tgtEl>
                                          <p:spTgt spid="66575"/>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6579"/>
                                        </p:tgtEl>
                                        <p:attrNameLst>
                                          <p:attrName>style.visibility</p:attrName>
                                        </p:attrNameLst>
                                      </p:cBhvr>
                                      <p:to>
                                        <p:strVal val="visible"/>
                                      </p:to>
                                    </p:set>
                                    <p:animEffect transition="in" filter="blinds(horizontal)">
                                      <p:cBhvr>
                                        <p:cTn id="31" dur="500"/>
                                        <p:tgtEl>
                                          <p:spTgt spid="66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nimBg="1"/>
      <p:bldP spid="66566" grpId="0" animBg="1"/>
      <p:bldP spid="66567" grpId="0" animBg="1"/>
      <p:bldP spid="66568" grpId="0" animBg="1"/>
      <p:bldP spid="66569" grpId="0" animBg="1"/>
      <p:bldP spid="66570" grpId="0"/>
      <p:bldP spid="66573" grpId="0"/>
      <p:bldP spid="66575" grpId="0"/>
      <p:bldP spid="6657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138243" name="Picture 4"/>
          <p:cNvPicPr>
            <a:picLocks noChangeAspect="1"/>
          </p:cNvPicPr>
          <p:nvPr/>
        </p:nvPicPr>
        <p:blipFill>
          <a:blip r:embed="rId2"/>
          <a:stretch>
            <a:fillRect/>
          </a:stretch>
        </p:blipFill>
        <p:spPr>
          <a:xfrm>
            <a:off x="914400" y="1295400"/>
            <a:ext cx="7793038" cy="4267200"/>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01fcf26-0ef5-4e0e-a4c4-bb47d7086ce4"/>
  <p:tag name="COMMONDATA" val="eyJoZGlkIjoiYTgzY2MxNGI5M2UyZmViNDA3YWY2YTEzOTdmM2JjNWIifQ=="/>
</p:tagLst>
</file>

<file path=ppt/theme/theme1.xml><?xml version="1.0" encoding="utf-8"?>
<a:theme xmlns:a="http://schemas.openxmlformats.org/drawingml/2006/main" name="1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模版</Template>
  <TotalTime>9267</TotalTime>
  <Words>9009</Words>
  <Application>Microsoft Office PowerPoint</Application>
  <PresentationFormat>全屏显示(4:3)</PresentationFormat>
  <Paragraphs>781</Paragraphs>
  <Slides>88</Slides>
  <Notes>45</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vt:i4>
      </vt:variant>
      <vt:variant>
        <vt:lpstr>幻灯片标题</vt:lpstr>
      </vt:variant>
      <vt:variant>
        <vt:i4>88</vt:i4>
      </vt:variant>
    </vt:vector>
  </HeadingPairs>
  <TitlesOfParts>
    <vt:vector size="101" baseType="lpstr">
      <vt:lpstr>黑体</vt:lpstr>
      <vt:lpstr>华文楷体</vt:lpstr>
      <vt:lpstr>华文中宋</vt:lpstr>
      <vt:lpstr>宋体</vt:lpstr>
      <vt:lpstr>Arial</vt:lpstr>
      <vt:lpstr>Garamond</vt:lpstr>
      <vt:lpstr>Tahoma</vt:lpstr>
      <vt:lpstr>Times New Roman</vt:lpstr>
      <vt:lpstr>Wingdings</vt:lpstr>
      <vt:lpstr>1_template</vt:lpstr>
      <vt:lpstr>2_template</vt:lpstr>
      <vt:lpstr>Equation.3</vt:lpstr>
      <vt:lpstr>Equation.DSMT4</vt:lpstr>
      <vt:lpstr>第 7讲</vt:lpstr>
      <vt:lpstr>本章内容</vt:lpstr>
      <vt:lpstr>本章内容</vt:lpstr>
      <vt:lpstr>7.1 引言</vt:lpstr>
      <vt:lpstr>7.1.1 问题复杂性类 </vt:lpstr>
      <vt:lpstr>易解问题与难解问题的主要区别</vt:lpstr>
      <vt:lpstr>PowerPoint 演示文稿</vt:lpstr>
      <vt:lpstr>PowerPoint 演示文稿</vt:lpstr>
      <vt:lpstr>难解问题</vt:lpstr>
      <vt:lpstr>7.1.2 算法复杂性与问题复杂性关系 </vt:lpstr>
      <vt:lpstr>7.1.3 可计算问题、判定问题 </vt:lpstr>
      <vt:lpstr>7.1.3 可计算问题、判定问题 </vt:lpstr>
      <vt:lpstr>判定问题和最优化问题</vt:lpstr>
      <vt:lpstr>例子 ELEMENT UNIQUENESS问题</vt:lpstr>
      <vt:lpstr>例子 COLORING问题（图着色问题）</vt:lpstr>
      <vt:lpstr>例子 COLORING问题（图着色问题）</vt:lpstr>
      <vt:lpstr>例子 2 (Continue)</vt:lpstr>
      <vt:lpstr>四色猜想</vt:lpstr>
      <vt:lpstr>四色猜想</vt:lpstr>
      <vt:lpstr>例子 3</vt:lpstr>
      <vt:lpstr> </vt:lpstr>
      <vt:lpstr>7.1.4 确定图灵机模型、确定算法</vt:lpstr>
      <vt:lpstr>确定图灵机模型</vt:lpstr>
      <vt:lpstr>确定算法</vt:lpstr>
      <vt:lpstr>7.1.5 不确定图灵机模型、不确定算法</vt:lpstr>
      <vt:lpstr>不确定性算法</vt:lpstr>
      <vt:lpstr>不确定性算法——猜测阶段</vt:lpstr>
      <vt:lpstr>不确定性算法——验证阶段</vt:lpstr>
      <vt:lpstr>PowerPoint 演示文稿</vt:lpstr>
      <vt:lpstr>不确定的算法——伪代码</vt:lpstr>
      <vt:lpstr>不确定性算法</vt:lpstr>
      <vt:lpstr>7.2 P类、NP类</vt:lpstr>
      <vt:lpstr>7.2.1 P类</vt:lpstr>
      <vt:lpstr>P类问题例子</vt:lpstr>
      <vt:lpstr>P类问题例子</vt:lpstr>
      <vt:lpstr>P类问题性质</vt:lpstr>
      <vt:lpstr>7.2.2 NP类</vt:lpstr>
      <vt:lpstr>NP类</vt:lpstr>
      <vt:lpstr>NP类问题</vt:lpstr>
      <vt:lpstr>例子（图着色问题）</vt:lpstr>
      <vt:lpstr>例子</vt:lpstr>
      <vt:lpstr>例子</vt:lpstr>
      <vt:lpstr>7.2.3 P类和NP类的关系、COOK定理</vt:lpstr>
      <vt:lpstr>世界七大数学难题----NP完全问题</vt:lpstr>
      <vt:lpstr>PowerPoint 演示文稿</vt:lpstr>
      <vt:lpstr>NP=P？的猜想</vt:lpstr>
      <vt:lpstr>可满足性问题</vt:lpstr>
      <vt:lpstr>可满足性问题</vt:lpstr>
      <vt:lpstr>可满足性问题</vt:lpstr>
      <vt:lpstr>PowerPoint 演示文稿</vt:lpstr>
      <vt:lpstr>PowerPoint 演示文稿</vt:lpstr>
      <vt:lpstr>直观描述</vt:lpstr>
      <vt:lpstr>7.3. 多项式归约及NP-完全类</vt:lpstr>
      <vt:lpstr>7.3.1多项式归约(Reduction)定义</vt:lpstr>
      <vt:lpstr>7.3.2多项式归约性质(Reduction)</vt:lpstr>
      <vt:lpstr>7.3.3 NP难类、NP完全类</vt:lpstr>
      <vt:lpstr>NP完全类</vt:lpstr>
      <vt:lpstr>NP完全问题的定义</vt:lpstr>
      <vt:lpstr>对“NP完全问题”的评述</vt:lpstr>
      <vt:lpstr>P类问题、NP类问题、NP完全问题的关系</vt:lpstr>
      <vt:lpstr>NP困难问题</vt:lpstr>
      <vt:lpstr>NP-困难的 与 NP-完全的</vt:lpstr>
      <vt:lpstr>NP完全问题（补充）</vt:lpstr>
      <vt:lpstr>7.3.4 NP完全性证明</vt:lpstr>
      <vt:lpstr>7.3.4 NP完全性证明</vt:lpstr>
      <vt:lpstr>NP完全性的传递性举例</vt:lpstr>
      <vt:lpstr>PowerPoint 演示文稿</vt:lpstr>
      <vt:lpstr>如何证明一个问题是NP完全的？</vt:lpstr>
      <vt:lpstr>顶点覆盖、独立集和团集问题</vt:lpstr>
      <vt:lpstr>顶点覆盖、独立集和团集问题</vt:lpstr>
      <vt:lpstr>证明最大团集问题是NP完全的</vt:lpstr>
      <vt:lpstr>可满足性poly团集问题</vt:lpstr>
      <vt:lpstr>PowerPoint 演示文稿</vt:lpstr>
      <vt:lpstr>可满足性∝poly团集问题</vt:lpstr>
      <vt:lpstr>SAT问题∝poly团问题</vt:lpstr>
      <vt:lpstr>7.3.5 其他问题复杂性类——co-NP类</vt:lpstr>
      <vt:lpstr>7.3.5 其他问题复杂性类——co-NP类</vt:lpstr>
      <vt:lpstr>7.3.5 其他问题复杂性类——co-NP类</vt:lpstr>
      <vt:lpstr>7.3.5 其他问题复杂性类——co-NP类</vt:lpstr>
      <vt:lpstr>7.3.5 其他问题复杂性类——NPI类</vt:lpstr>
      <vt:lpstr>7.3.5 其他问题复杂性类—— NPI类</vt:lpstr>
      <vt:lpstr>7.3.5 其他问题复杂性类—— NPI类</vt:lpstr>
      <vt:lpstr>一个例子</vt:lpstr>
      <vt:lpstr>线性规划问题</vt:lpstr>
      <vt:lpstr>线性规划问题</vt:lpstr>
      <vt:lpstr>另一个例子</vt:lpstr>
      <vt:lpstr>四种类之间的关系</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dong wenyong</cp:lastModifiedBy>
  <cp:revision>592</cp:revision>
  <dcterms:created xsi:type="dcterms:W3CDTF">2022-12-04T23:21:54Z</dcterms:created>
  <dcterms:modified xsi:type="dcterms:W3CDTF">2025-04-26T22:58:22Z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AD5AC751432248C8B5128CB17BB94C07</vt:lpwstr>
  </property>
  <property fmtid="{D5CDD505-2E9C-101B-9397-08002B2CF9AE}" pid="4" name="KSOProductBuildVer">
    <vt:lpwstr>2052-11.1.0.12763</vt:lpwstr>
  </property>
</Properties>
</file>