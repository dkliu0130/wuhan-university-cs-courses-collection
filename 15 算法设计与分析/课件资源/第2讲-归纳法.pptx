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wmf" ContentType="image/x-wmf"/>
  <Default Extension="gif" ContentType="image/gi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9"/>
  </p:handoutMasterIdLst>
  <p:sldIdLst>
    <p:sldId id="256" r:id="rId3"/>
    <p:sldId id="432" r:id="rId5"/>
    <p:sldId id="433" r:id="rId6"/>
    <p:sldId id="446" r:id="rId7"/>
    <p:sldId id="435" r:id="rId8"/>
    <p:sldId id="436" r:id="rId9"/>
    <p:sldId id="437" r:id="rId10"/>
    <p:sldId id="438" r:id="rId11"/>
    <p:sldId id="439" r:id="rId12"/>
    <p:sldId id="440" r:id="rId13"/>
    <p:sldId id="441" r:id="rId14"/>
    <p:sldId id="442" r:id="rId15"/>
    <p:sldId id="443" r:id="rId16"/>
    <p:sldId id="444" r:id="rId17"/>
    <p:sldId id="445" r:id="rId18"/>
    <p:sldId id="434" r:id="rId19"/>
    <p:sldId id="260" r:id="rId20"/>
    <p:sldId id="261" r:id="rId21"/>
    <p:sldId id="447" r:id="rId22"/>
    <p:sldId id="448" r:id="rId23"/>
    <p:sldId id="449" r:id="rId24"/>
    <p:sldId id="450" r:id="rId25"/>
    <p:sldId id="451" r:id="rId26"/>
    <p:sldId id="452" r:id="rId27"/>
    <p:sldId id="453" r:id="rId28"/>
    <p:sldId id="454" r:id="rId29"/>
    <p:sldId id="455" r:id="rId30"/>
    <p:sldId id="456" r:id="rId31"/>
    <p:sldId id="457" r:id="rId32"/>
    <p:sldId id="458" r:id="rId33"/>
    <p:sldId id="459" r:id="rId34"/>
    <p:sldId id="460" r:id="rId35"/>
    <p:sldId id="461" r:id="rId36"/>
    <p:sldId id="462" r:id="rId37"/>
    <p:sldId id="463" r:id="rId38"/>
    <p:sldId id="464" r:id="rId39"/>
    <p:sldId id="465" r:id="rId40"/>
    <p:sldId id="466" r:id="rId41"/>
    <p:sldId id="467" r:id="rId42"/>
    <p:sldId id="269" r:id="rId43"/>
    <p:sldId id="270" r:id="rId44"/>
    <p:sldId id="271" r:id="rId45"/>
    <p:sldId id="320" r:id="rId46"/>
    <p:sldId id="272" r:id="rId47"/>
    <p:sldId id="315" r:id="rId48"/>
    <p:sldId id="273" r:id="rId49"/>
    <p:sldId id="274" r:id="rId50"/>
    <p:sldId id="325" r:id="rId51"/>
    <p:sldId id="275" r:id="rId52"/>
    <p:sldId id="276" r:id="rId53"/>
    <p:sldId id="468" r:id="rId54"/>
    <p:sldId id="469" r:id="rId55"/>
    <p:sldId id="470" r:id="rId56"/>
    <p:sldId id="471" r:id="rId57"/>
    <p:sldId id="472" r:id="rId58"/>
    <p:sldId id="473" r:id="rId59"/>
    <p:sldId id="474" r:id="rId60"/>
    <p:sldId id="411" r:id="rId61"/>
    <p:sldId id="412" r:id="rId62"/>
    <p:sldId id="413" r:id="rId63"/>
    <p:sldId id="414" r:id="rId64"/>
    <p:sldId id="416" r:id="rId65"/>
    <p:sldId id="429" r:id="rId66"/>
    <p:sldId id="430" r:id="rId67"/>
    <p:sldId id="321" r:id="rId68"/>
  </p:sldIdLst>
  <p:sldSz cx="9144000" cy="6858000" type="screen4x3"/>
  <p:notesSz cx="6858000" cy="9144000"/>
  <p:custDataLst>
    <p:tags r:id="rId73"/>
  </p:custDataLst>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EA0000"/>
    <a:srgbClr val="FFFF00"/>
    <a:srgbClr val="006600"/>
    <a:srgbClr val="009900"/>
    <a:srgbClr val="9F11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216"/>
    <p:restoredTop sz="80524"/>
  </p:normalViewPr>
  <p:slideViewPr>
    <p:cSldViewPr showGuides="1">
      <p:cViewPr varScale="1">
        <p:scale>
          <a:sx n="69" d="100"/>
          <a:sy n="69" d="100"/>
        </p:scale>
        <p:origin x="2107" y="72"/>
      </p:cViewPr>
      <p:guideLst>
        <p:guide orient="horz" pos="2224"/>
        <p:guide pos="2919"/>
      </p:guideLst>
    </p:cSldViewPr>
  </p:slideViewPr>
  <p:notesTextViewPr>
    <p:cViewPr>
      <p:scale>
        <a:sx n="100" d="100"/>
        <a:sy n="100" d="100"/>
      </p:scale>
      <p:origin x="0" y="0"/>
    </p:cViewPr>
  </p:notesTextViewPr>
  <p:sorterViewPr showFormatting="0">
    <p:cViewPr>
      <p:scale>
        <a:sx n="66" d="100"/>
        <a:sy n="66" d="100"/>
      </p:scale>
      <p:origin x="0" y="169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handoutMaster" Target="handoutMasters/handoutMaster1.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45939CA-1411-40F0-8A7A-E51D46A90012}"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latin typeface="Arial" panose="020B0604020202020204" pitchFamily="34" charset="0"/>
              </a:rPr>
              <a:t>*</a:t>
            </a:r>
            <a:endParaRPr lang="en-US" altLang="zh-CN" sz="1200" dirty="0">
              <a:latin typeface="Arial" panose="020B0604020202020204" pitchFamily="34" charset="0"/>
            </a:endParaRPr>
          </a:p>
        </p:txBody>
      </p:sp>
      <p:sp>
        <p:nvSpPr>
          <p:cNvPr id="5122" name="Rectangle 2"/>
          <p:cNvSpPr>
            <a:spLocks noRot="1" noTextEdit="1"/>
          </p:cNvSpPr>
          <p:nvPr>
            <p:ph type="sldImg"/>
          </p:nvPr>
        </p:nvSpPr>
        <p:spPr/>
      </p:sp>
      <p:sp>
        <p:nvSpPr>
          <p:cNvPr id="512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170" name="Rectangle 2"/>
          <p:cNvSpPr>
            <a:spLocks noRot="1" noTextEdit="1"/>
          </p:cNvSpPr>
          <p:nvPr>
            <p:ph type="sldImg"/>
          </p:nvPr>
        </p:nvSpPr>
        <p:spPr/>
      </p:sp>
      <p:sp>
        <p:nvSpPr>
          <p:cNvPr id="717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170" name="Rectangle 2"/>
          <p:cNvSpPr>
            <a:spLocks noRot="1" noTextEdit="1"/>
          </p:cNvSpPr>
          <p:nvPr>
            <p:ph type="sldImg"/>
          </p:nvPr>
        </p:nvSpPr>
        <p:spPr/>
      </p:sp>
      <p:sp>
        <p:nvSpPr>
          <p:cNvPr id="717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8434" name="Rectangle 2"/>
          <p:cNvSpPr>
            <a:spLocks noRot="1" noTextEdit="1"/>
          </p:cNvSpPr>
          <p:nvPr>
            <p:ph type="sldImg"/>
          </p:nvPr>
        </p:nvSpPr>
        <p:spPr/>
      </p:sp>
      <p:sp>
        <p:nvSpPr>
          <p:cNvPr id="1843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20482" name="Rectangle 2"/>
          <p:cNvSpPr>
            <a:spLocks noRot="1" noTextEdit="1"/>
          </p:cNvSpPr>
          <p:nvPr>
            <p:ph type="sldImg"/>
          </p:nvPr>
        </p:nvSpPr>
        <p:spPr/>
      </p:sp>
      <p:sp>
        <p:nvSpPr>
          <p:cNvPr id="2048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22530" name="Rectangle 2"/>
          <p:cNvSpPr>
            <a:spLocks noRot="1" noTextEdit="1"/>
          </p:cNvSpPr>
          <p:nvPr>
            <p:ph type="sldImg"/>
          </p:nvPr>
        </p:nvSpPr>
        <p:spPr/>
      </p:sp>
      <p:sp>
        <p:nvSpPr>
          <p:cNvPr id="2253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24578" name="Rectangle 2"/>
          <p:cNvSpPr>
            <a:spLocks noRot="1" noTextEdit="1"/>
          </p:cNvSpPr>
          <p:nvPr>
            <p:ph type="sldImg"/>
          </p:nvPr>
        </p:nvSpPr>
        <p:spPr/>
      </p:sp>
      <p:sp>
        <p:nvSpPr>
          <p:cNvPr id="2457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26626" name="Rectangle 2"/>
          <p:cNvSpPr>
            <a:spLocks noRot="1" noTextEdit="1"/>
          </p:cNvSpPr>
          <p:nvPr>
            <p:ph type="sldImg"/>
          </p:nvPr>
        </p:nvSpPr>
        <p:spPr/>
      </p:sp>
      <p:sp>
        <p:nvSpPr>
          <p:cNvPr id="26627" name="Rectangle 3"/>
          <p:cNvSpPr>
            <a:spLocks noGrp="1"/>
          </p:cNvSpPr>
          <p:nvPr>
            <p:ph type="body"/>
          </p:nvPr>
        </p:nvSpPr>
        <p:spPr/>
        <p:txBody>
          <a:bodyPr wrap="square" lIns="91440" tIns="45720" rIns="91440" bIns="45720" anchor="t" anchorCtr="0"/>
          <a:p>
            <a:pPr lvl="0" eaLnBrk="1" hangingPunct="1"/>
            <a:r>
              <a:rPr lang="zh-CN" altLang="en-US" dirty="0"/>
              <a:t>第</a:t>
            </a:r>
            <a:r>
              <a:rPr lang="en-US" altLang="zh-CN" dirty="0"/>
              <a:t>3</a:t>
            </a:r>
            <a:r>
              <a:rPr lang="zh-CN" altLang="en-US" dirty="0"/>
              <a:t>步：将前面</a:t>
            </a:r>
            <a:r>
              <a:rPr lang="en-US" altLang="zh-CN" dirty="0"/>
              <a:t>i-1</a:t>
            </a:r>
            <a:r>
              <a:rPr lang="zh-CN" altLang="en-US" dirty="0"/>
              <a:t>个元素排好序；</a:t>
            </a:r>
            <a:endParaRPr lang="en-US" altLang="zh-CN" dirty="0"/>
          </a:p>
          <a:p>
            <a:pPr lvl="0" eaLnBrk="1" hangingPunct="1"/>
            <a:r>
              <a:rPr lang="zh-CN" altLang="en-US" dirty="0"/>
              <a:t>第</a:t>
            </a:r>
            <a:r>
              <a:rPr lang="en-US" altLang="zh-CN" dirty="0"/>
              <a:t>5</a:t>
            </a:r>
            <a:r>
              <a:rPr lang="zh-CN" altLang="en-US" dirty="0"/>
              <a:t>步</a:t>
            </a:r>
            <a:r>
              <a:rPr lang="en-US" altLang="zh-CN" dirty="0"/>
              <a:t>~</a:t>
            </a:r>
            <a:r>
              <a:rPr lang="zh-CN" altLang="en-US" dirty="0"/>
              <a:t>第</a:t>
            </a:r>
            <a:r>
              <a:rPr lang="en-US" altLang="zh-CN" dirty="0"/>
              <a:t>8</a:t>
            </a:r>
            <a:r>
              <a:rPr lang="zh-CN" altLang="en-US" dirty="0"/>
              <a:t>步：</a:t>
            </a:r>
            <a:r>
              <a:rPr lang="en-US" altLang="zh-CN" dirty="0"/>
              <a:t>while</a:t>
            </a:r>
            <a:r>
              <a:rPr lang="zh-CN" altLang="en-US" dirty="0"/>
              <a:t>循环进行移位处理</a:t>
            </a:r>
            <a:endParaRPr lang="en-US" altLang="zh-CN" dirty="0"/>
          </a:p>
          <a:p>
            <a:pPr lvl="0" eaLnBrk="1" hangingPunct="1"/>
            <a:r>
              <a:rPr lang="zh-CN" altLang="en-US" dirty="0"/>
              <a:t>第</a:t>
            </a:r>
            <a:r>
              <a:rPr lang="en-US" altLang="zh-CN" dirty="0"/>
              <a:t>9</a:t>
            </a:r>
            <a:r>
              <a:rPr lang="zh-CN" altLang="en-US" dirty="0"/>
              <a:t>步：元素</a:t>
            </a:r>
            <a:r>
              <a:rPr lang="en-US" altLang="zh-CN" dirty="0"/>
              <a:t>x</a:t>
            </a:r>
            <a:r>
              <a:rPr lang="zh-CN" altLang="en-US" dirty="0"/>
              <a:t>插入合适的位置</a:t>
            </a: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28674" name="Rectangle 2"/>
          <p:cNvSpPr>
            <a:spLocks noRot="1" noTextEdit="1"/>
          </p:cNvSpPr>
          <p:nvPr>
            <p:ph type="sldImg"/>
          </p:nvPr>
        </p:nvSpPr>
        <p:spPr/>
      </p:sp>
      <p:sp>
        <p:nvSpPr>
          <p:cNvPr id="2867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170" name="Rectangle 2"/>
          <p:cNvSpPr>
            <a:spLocks noRot="1" noTextEdit="1"/>
          </p:cNvSpPr>
          <p:nvPr>
            <p:ph type="sldImg"/>
          </p:nvPr>
        </p:nvSpPr>
        <p:spPr/>
      </p:sp>
      <p:sp>
        <p:nvSpPr>
          <p:cNvPr id="717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0242" name="Rectangle 2"/>
          <p:cNvSpPr>
            <a:spLocks noRot="1" noTextEdit="1"/>
          </p:cNvSpPr>
          <p:nvPr>
            <p:ph type="sldImg"/>
          </p:nvPr>
        </p:nvSpPr>
        <p:spPr/>
      </p:sp>
      <p:sp>
        <p:nvSpPr>
          <p:cNvPr id="1024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2290" name="Rectangle 2"/>
          <p:cNvSpPr>
            <a:spLocks noRot="1" noTextEdit="1"/>
          </p:cNvSpPr>
          <p:nvPr>
            <p:ph type="sldImg"/>
          </p:nvPr>
        </p:nvSpPr>
        <p:spPr/>
      </p:sp>
      <p:sp>
        <p:nvSpPr>
          <p:cNvPr id="1229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170" name="Rectangle 2"/>
          <p:cNvSpPr>
            <a:spLocks noRot="1" noTextEdit="1"/>
          </p:cNvSpPr>
          <p:nvPr>
            <p:ph type="sldImg"/>
          </p:nvPr>
        </p:nvSpPr>
        <p:spPr/>
      </p:sp>
      <p:sp>
        <p:nvSpPr>
          <p:cNvPr id="717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53250" name="Rectangle 2"/>
          <p:cNvSpPr>
            <a:spLocks noRot="1" noTextEdit="1"/>
          </p:cNvSpPr>
          <p:nvPr>
            <p:ph type="sldImg"/>
          </p:nvPr>
        </p:nvSpPr>
        <p:spPr/>
      </p:sp>
      <p:sp>
        <p:nvSpPr>
          <p:cNvPr id="5325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55298" name="Rectangle 2"/>
          <p:cNvSpPr>
            <a:spLocks noRot="1" noTextEdit="1"/>
          </p:cNvSpPr>
          <p:nvPr>
            <p:ph type="sldImg"/>
          </p:nvPr>
        </p:nvSpPr>
        <p:spPr/>
      </p:sp>
      <p:sp>
        <p:nvSpPr>
          <p:cNvPr id="5529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57346" name="Rectangle 2"/>
          <p:cNvSpPr>
            <a:spLocks noRot="1" noTextEdit="1"/>
          </p:cNvSpPr>
          <p:nvPr>
            <p:ph type="sldImg"/>
          </p:nvPr>
        </p:nvSpPr>
        <p:spPr/>
      </p:sp>
      <p:sp>
        <p:nvSpPr>
          <p:cNvPr id="5734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59394" name="Rectangle 2"/>
          <p:cNvSpPr>
            <a:spLocks noRot="1" noTextEdit="1"/>
          </p:cNvSpPr>
          <p:nvPr>
            <p:ph type="sldImg"/>
          </p:nvPr>
        </p:nvSpPr>
        <p:spPr/>
      </p:sp>
      <p:sp>
        <p:nvSpPr>
          <p:cNvPr id="59395" name="Rectangle 3"/>
          <p:cNvSpPr>
            <a:spLocks noGrp="1"/>
          </p:cNvSpPr>
          <p:nvPr>
            <p:ph type="body"/>
          </p:nvPr>
        </p:nvSpPr>
        <p:spPr/>
        <p:txBody>
          <a:bodyPr wrap="square" lIns="91440" tIns="45720" rIns="91440" bIns="45720" anchor="t" anchorCtr="0"/>
          <a:p>
            <a:pPr lvl="0" eaLnBrk="1" hangingPunct="1"/>
            <a:r>
              <a:rPr lang="zh-CN" altLang="en-US" dirty="0"/>
              <a:t>求</a:t>
            </a:r>
            <a:r>
              <a:rPr lang="en-US" altLang="zh-CN" dirty="0"/>
              <a:t>2</a:t>
            </a:r>
            <a:r>
              <a:rPr lang="zh-CN" altLang="en-US" dirty="0"/>
              <a:t>的</a:t>
            </a:r>
            <a:r>
              <a:rPr lang="en-US" altLang="zh-CN" dirty="0"/>
              <a:t>8</a:t>
            </a:r>
            <a:r>
              <a:rPr lang="zh-CN" altLang="en-US" dirty="0"/>
              <a:t>次方：</a:t>
            </a:r>
            <a:endParaRPr lang="en-US" altLang="zh-CN" dirty="0"/>
          </a:p>
          <a:p>
            <a:pPr lvl="0" eaLnBrk="1" hangingPunct="1"/>
            <a:r>
              <a:rPr lang="en-US" altLang="zh-CN" dirty="0"/>
              <a:t>N=8,  =0x1000</a:t>
            </a:r>
            <a:r>
              <a:rPr lang="zh-CN" altLang="en-US" dirty="0"/>
              <a:t>；</a:t>
            </a:r>
            <a:r>
              <a:rPr lang="en-US" altLang="zh-CN" dirty="0"/>
              <a:t>k=3</a:t>
            </a:r>
            <a:endParaRPr lang="en-US" altLang="zh-CN" dirty="0"/>
          </a:p>
          <a:p>
            <a:pPr lvl="0" eaLnBrk="1" hangingPunct="1"/>
            <a:r>
              <a:rPr lang="en-US" altLang="zh-CN" dirty="0"/>
              <a:t>X=2</a:t>
            </a:r>
            <a:endParaRPr lang="en-US" altLang="zh-CN" dirty="0"/>
          </a:p>
          <a:p>
            <a:pPr lvl="0" eaLnBrk="1" hangingPunct="1"/>
            <a:r>
              <a:rPr lang="zh-CN" altLang="en-US" dirty="0"/>
              <a:t>则：</a:t>
            </a:r>
            <a:endParaRPr lang="en-US" altLang="zh-CN" dirty="0"/>
          </a:p>
          <a:p>
            <a:pPr lvl="0" eaLnBrk="1" hangingPunct="1"/>
            <a:r>
              <a:rPr lang="en-US" altLang="zh-CN" dirty="0"/>
              <a:t>1)Y= XY=2*1</a:t>
            </a:r>
            <a:endParaRPr lang="en-US" altLang="zh-CN" dirty="0"/>
          </a:p>
          <a:p>
            <a:pPr lvl="0" eaLnBrk="1" hangingPunct="1"/>
            <a:r>
              <a:rPr lang="en-US" altLang="zh-CN" dirty="0"/>
              <a:t>2)y=y*y=2*2=4</a:t>
            </a:r>
            <a:endParaRPr lang="en-US" altLang="zh-CN" dirty="0"/>
          </a:p>
          <a:p>
            <a:pPr lvl="0" eaLnBrk="1" hangingPunct="1"/>
            <a:r>
              <a:rPr lang="en-US" altLang="zh-CN" dirty="0"/>
              <a:t>3)y=y*y=4*4=16</a:t>
            </a:r>
            <a:endParaRPr lang="en-US" altLang="zh-CN" dirty="0"/>
          </a:p>
          <a:p>
            <a:pPr lvl="0" eaLnBrk="1" hangingPunct="1"/>
            <a:r>
              <a:rPr lang="en-US" altLang="zh-CN" dirty="0"/>
              <a:t>4)y=y*y=16*16=</a:t>
            </a:r>
            <a:endParaRPr lang="en-US" altLang="zh-CN" dirty="0"/>
          </a:p>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61442" name="Rectangle 2"/>
          <p:cNvSpPr>
            <a:spLocks noRot="1" noTextEdit="1"/>
          </p:cNvSpPr>
          <p:nvPr>
            <p:ph type="sldImg"/>
          </p:nvPr>
        </p:nvSpPr>
        <p:spPr/>
      </p:sp>
      <p:sp>
        <p:nvSpPr>
          <p:cNvPr id="6144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63490" name="Rectangle 2"/>
          <p:cNvSpPr>
            <a:spLocks noRot="1" noTextEdit="1"/>
          </p:cNvSpPr>
          <p:nvPr>
            <p:ph type="sldImg"/>
          </p:nvPr>
        </p:nvSpPr>
        <p:spPr/>
      </p:sp>
      <p:sp>
        <p:nvSpPr>
          <p:cNvPr id="6349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65538" name="Rectangle 2"/>
          <p:cNvSpPr>
            <a:spLocks noRot="1" noTextEdit="1"/>
          </p:cNvSpPr>
          <p:nvPr>
            <p:ph type="sldImg"/>
          </p:nvPr>
        </p:nvSpPr>
        <p:spPr/>
      </p:sp>
      <p:sp>
        <p:nvSpPr>
          <p:cNvPr id="6553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67586" name="Rectangle 2"/>
          <p:cNvSpPr>
            <a:spLocks noRot="1" noTextEdit="1"/>
          </p:cNvSpPr>
          <p:nvPr>
            <p:ph type="sldImg"/>
          </p:nvPr>
        </p:nvSpPr>
        <p:spPr/>
      </p:sp>
      <p:sp>
        <p:nvSpPr>
          <p:cNvPr id="6758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69634" name="Rectangle 2"/>
          <p:cNvSpPr>
            <a:spLocks noRot="1" noTextEdit="1"/>
          </p:cNvSpPr>
          <p:nvPr>
            <p:ph type="sldImg"/>
          </p:nvPr>
        </p:nvSpPr>
        <p:spPr/>
      </p:sp>
      <p:sp>
        <p:nvSpPr>
          <p:cNvPr id="6963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1682" name="Rectangle 2"/>
          <p:cNvSpPr>
            <a:spLocks noRot="1" noTextEdit="1"/>
          </p:cNvSpPr>
          <p:nvPr>
            <p:ph type="sldImg"/>
          </p:nvPr>
        </p:nvSpPr>
        <p:spPr/>
      </p:sp>
      <p:sp>
        <p:nvSpPr>
          <p:cNvPr id="7168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3730" name="Rectangle 2"/>
          <p:cNvSpPr>
            <a:spLocks noRot="1" noTextEdit="1"/>
          </p:cNvSpPr>
          <p:nvPr>
            <p:ph type="sldImg"/>
          </p:nvPr>
        </p:nvSpPr>
        <p:spPr/>
      </p:sp>
      <p:sp>
        <p:nvSpPr>
          <p:cNvPr id="73731" name="Rectangle 3"/>
          <p:cNvSpPr>
            <a:spLocks noGrp="1"/>
          </p:cNvSpPr>
          <p:nvPr>
            <p:ph type="body"/>
          </p:nvPr>
        </p:nvSpPr>
        <p:spPr/>
        <p:txBody>
          <a:bodyPr wrap="square" lIns="91440" tIns="45720" rIns="91440" bIns="45720" anchor="t" anchorCtr="0"/>
          <a:p>
            <a:pPr lvl="0"/>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5778" name="Rectangle 2"/>
          <p:cNvSpPr>
            <a:spLocks noRot="1" noTextEdit="1"/>
          </p:cNvSpPr>
          <p:nvPr>
            <p:ph type="sldImg"/>
          </p:nvPr>
        </p:nvSpPr>
        <p:spPr/>
      </p:sp>
      <p:sp>
        <p:nvSpPr>
          <p:cNvPr id="75779" name="Rectangle 3"/>
          <p:cNvSpPr>
            <a:spLocks noGrp="1"/>
          </p:cNvSpPr>
          <p:nvPr>
            <p:ph type="body"/>
          </p:nvPr>
        </p:nvSpPr>
        <p:spPr/>
        <p:txBody>
          <a:bodyPr wrap="square" lIns="91440" tIns="45720" rIns="91440" bIns="45720" anchor="t" anchorCtr="0"/>
          <a:p>
            <a:pPr lvl="0" eaLnBrk="1" hangingPunct="1"/>
            <a:r>
              <a:rPr lang="en-US" altLang="zh-CN" dirty="0"/>
              <a:t>1,   2,   3</a:t>
            </a:r>
            <a:endParaRPr lang="en-US" altLang="zh-CN" dirty="0"/>
          </a:p>
          <a:p>
            <a:pPr lvl="0" eaLnBrk="1" hangingPunct="1"/>
            <a:r>
              <a:rPr lang="en-US" altLang="zh-CN" dirty="0"/>
              <a:t>————</a:t>
            </a:r>
            <a:endParaRPr lang="en-US" altLang="zh-CN" dirty="0"/>
          </a:p>
          <a:p>
            <a:pPr lvl="0" eaLnBrk="1" hangingPunct="1"/>
            <a:r>
              <a:rPr lang="en-US" altLang="zh-CN" b="1" dirty="0">
                <a:solidFill>
                  <a:srgbClr val="FF0000"/>
                </a:solidFill>
              </a:rPr>
              <a:t>1 </a:t>
            </a:r>
            <a:r>
              <a:rPr lang="en-US" altLang="zh-CN" b="1" dirty="0"/>
              <a:t> </a:t>
            </a:r>
            <a:r>
              <a:rPr lang="en-US" altLang="zh-CN" dirty="0"/>
              <a:t>  2    3</a:t>
            </a:r>
            <a:endParaRPr lang="en-US" altLang="zh-CN" dirty="0"/>
          </a:p>
          <a:p>
            <a:pPr lvl="0" eaLnBrk="1" hangingPunct="1"/>
            <a:r>
              <a:rPr lang="en-US" altLang="zh-CN" b="1" dirty="0">
                <a:solidFill>
                  <a:srgbClr val="FF0000"/>
                </a:solidFill>
              </a:rPr>
              <a:t>1 </a:t>
            </a:r>
            <a:r>
              <a:rPr lang="en-US" altLang="zh-CN" dirty="0"/>
              <a:t>   3    2</a:t>
            </a:r>
            <a:endParaRPr lang="en-US" altLang="zh-CN" dirty="0"/>
          </a:p>
          <a:p>
            <a:pPr lvl="0" eaLnBrk="1" hangingPunct="1"/>
            <a:r>
              <a:rPr lang="en-US" altLang="zh-CN" b="1" dirty="0"/>
              <a:t>2</a:t>
            </a:r>
            <a:r>
              <a:rPr lang="en-US" altLang="zh-CN" dirty="0"/>
              <a:t>    1    3</a:t>
            </a:r>
            <a:endParaRPr lang="en-US" altLang="zh-CN" dirty="0"/>
          </a:p>
          <a:p>
            <a:pPr lvl="0" eaLnBrk="1" hangingPunct="1"/>
            <a:r>
              <a:rPr lang="en-US" altLang="zh-CN" b="1" dirty="0"/>
              <a:t>2</a:t>
            </a:r>
            <a:r>
              <a:rPr lang="en-US" altLang="zh-CN" dirty="0"/>
              <a:t>    3    1</a:t>
            </a:r>
            <a:endParaRPr lang="en-US" altLang="zh-CN" dirty="0"/>
          </a:p>
          <a:p>
            <a:pPr lvl="0" eaLnBrk="1" hangingPunct="1"/>
            <a:r>
              <a:rPr lang="en-US" altLang="zh-CN" b="1" dirty="0"/>
              <a:t>3</a:t>
            </a:r>
            <a:r>
              <a:rPr lang="en-US" altLang="zh-CN" dirty="0"/>
              <a:t>    1    2</a:t>
            </a:r>
            <a:endParaRPr lang="en-US" altLang="zh-CN" dirty="0"/>
          </a:p>
          <a:p>
            <a:pPr lvl="0" eaLnBrk="1" hangingPunct="1"/>
            <a:r>
              <a:rPr lang="en-US" altLang="zh-CN" b="1" dirty="0"/>
              <a:t>3 </a:t>
            </a:r>
            <a:r>
              <a:rPr lang="en-US" altLang="zh-CN" dirty="0"/>
              <a:t>   2    1</a:t>
            </a:r>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7826" name="Rectangle 2"/>
          <p:cNvSpPr>
            <a:spLocks noRot="1" noTextEdit="1"/>
          </p:cNvSpPr>
          <p:nvPr>
            <p:ph type="sldImg"/>
          </p:nvPr>
        </p:nvSpPr>
        <p:spPr/>
      </p:sp>
      <p:sp>
        <p:nvSpPr>
          <p:cNvPr id="77827" name="Rectangle 3"/>
          <p:cNvSpPr>
            <a:spLocks noGrp="1"/>
          </p:cNvSpPr>
          <p:nvPr>
            <p:ph type="body"/>
          </p:nvPr>
        </p:nvSpPr>
        <p:spPr/>
        <p:txBody>
          <a:bodyPr wrap="square" lIns="91440" tIns="45720" rIns="91440" bIns="45720" anchor="t" anchorCtr="0"/>
          <a:p>
            <a:pPr lvl="0" eaLnBrk="1" hangingPunct="1"/>
            <a:r>
              <a:rPr lang="zh-CN" altLang="en-US" dirty="0"/>
              <a:t>第</a:t>
            </a:r>
            <a:r>
              <a:rPr lang="en-US" altLang="zh-CN" dirty="0"/>
              <a:t>4</a:t>
            </a:r>
            <a:r>
              <a:rPr lang="zh-CN" altLang="en-US" dirty="0"/>
              <a:t>句：将第</a:t>
            </a:r>
            <a:r>
              <a:rPr lang="en-US" altLang="zh-CN" dirty="0"/>
              <a:t>j</a:t>
            </a:r>
            <a:r>
              <a:rPr lang="zh-CN" altLang="en-US" dirty="0"/>
              <a:t>个元素与第</a:t>
            </a:r>
            <a:r>
              <a:rPr lang="en-US" altLang="zh-CN" dirty="0"/>
              <a:t>1</a:t>
            </a:r>
            <a:r>
              <a:rPr lang="zh-CN" altLang="en-US" dirty="0"/>
              <a:t>（</a:t>
            </a:r>
            <a:r>
              <a:rPr lang="en-US" altLang="zh-CN" dirty="0"/>
              <a:t>m</a:t>
            </a:r>
            <a:r>
              <a:rPr lang="zh-CN" altLang="en-US" dirty="0"/>
              <a:t>）个元素互换；</a:t>
            </a:r>
            <a:endParaRPr lang="en-US" altLang="zh-CN" dirty="0"/>
          </a:p>
          <a:p>
            <a:pPr lvl="0" eaLnBrk="1" hangingPunct="1"/>
            <a:r>
              <a:rPr lang="zh-CN" altLang="en-US" dirty="0"/>
              <a:t>第</a:t>
            </a:r>
            <a:r>
              <a:rPr lang="en-US" altLang="zh-CN" dirty="0"/>
              <a:t>5</a:t>
            </a:r>
            <a:r>
              <a:rPr lang="zh-CN" altLang="en-US" dirty="0"/>
              <a:t>句：后面</a:t>
            </a:r>
            <a:r>
              <a:rPr lang="en-US" altLang="zh-CN" dirty="0"/>
              <a:t>m-1</a:t>
            </a:r>
            <a:r>
              <a:rPr lang="zh-CN" altLang="en-US" dirty="0"/>
              <a:t>个元素进行生成排列，并</a:t>
            </a:r>
            <a:r>
              <a:rPr lang="en-US" altLang="zh-CN" dirty="0"/>
              <a:t>output</a:t>
            </a:r>
            <a:r>
              <a:rPr lang="zh-CN" altLang="en-US" dirty="0"/>
              <a:t>出来数组</a:t>
            </a:r>
            <a:r>
              <a:rPr lang="en-US" altLang="zh-CN" dirty="0"/>
              <a:t>P</a:t>
            </a:r>
            <a:r>
              <a:rPr lang="zh-CN" altLang="en-US" dirty="0"/>
              <a:t>中的所有排列元素；</a:t>
            </a:r>
            <a:endParaRPr lang="en-US" altLang="zh-CN" dirty="0"/>
          </a:p>
          <a:p>
            <a:pPr lvl="0" eaLnBrk="1" hangingPunct="1"/>
            <a:r>
              <a:rPr lang="zh-CN" altLang="en-US" dirty="0"/>
              <a:t>第</a:t>
            </a:r>
            <a:r>
              <a:rPr lang="en-US" altLang="zh-CN" dirty="0"/>
              <a:t>6</a:t>
            </a:r>
            <a:r>
              <a:rPr lang="zh-CN" altLang="en-US" dirty="0"/>
              <a:t>句：将第</a:t>
            </a:r>
            <a:r>
              <a:rPr lang="en-US" altLang="zh-CN" dirty="0"/>
              <a:t>j</a:t>
            </a:r>
            <a:r>
              <a:rPr lang="zh-CN" altLang="en-US" dirty="0"/>
              <a:t>个元素与第</a:t>
            </a:r>
            <a:r>
              <a:rPr lang="en-US" altLang="zh-CN" dirty="0"/>
              <a:t>1</a:t>
            </a:r>
            <a:r>
              <a:rPr lang="zh-CN" altLang="en-US" dirty="0"/>
              <a:t>（</a:t>
            </a:r>
            <a:r>
              <a:rPr lang="en-US" altLang="zh-CN" dirty="0"/>
              <a:t>m</a:t>
            </a:r>
            <a:r>
              <a:rPr lang="zh-CN" altLang="en-US" dirty="0"/>
              <a:t>）个元素互换回来，恢复原始数组；</a:t>
            </a:r>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79874" name="Rectangle 2"/>
          <p:cNvSpPr>
            <a:spLocks noRot="1" noTextEdit="1"/>
          </p:cNvSpPr>
          <p:nvPr>
            <p:ph type="sldImg"/>
          </p:nvPr>
        </p:nvSpPr>
        <p:spPr/>
      </p:sp>
      <p:sp>
        <p:nvSpPr>
          <p:cNvPr id="79875" name="Rectangle 3"/>
          <p:cNvSpPr>
            <a:spLocks noGrp="1"/>
          </p:cNvSpPr>
          <p:nvPr>
            <p:ph type="body"/>
          </p:nvPr>
        </p:nvSpPr>
        <p:spPr/>
        <p:txBody>
          <a:bodyPr wrap="square" lIns="91440" tIns="45720" rIns="91440" bIns="45720" anchor="t" anchorCtr="0"/>
          <a:p>
            <a:pPr lvl="0" eaLnBrk="1" hangingPunct="1"/>
            <a:r>
              <a:rPr lang="en-US" altLang="zh-CN" dirty="0"/>
              <a:t>+n</a:t>
            </a:r>
            <a:r>
              <a:rPr lang="zh-CN" altLang="en-US" dirty="0"/>
              <a:t>表示 </a:t>
            </a:r>
            <a:r>
              <a:rPr lang="zh-CN" altLang="en-US" dirty="0">
                <a:sym typeface="Wingdings" panose="05000000000000000000" pitchFamily="2" charset="2"/>
              </a:rPr>
              <a:t>互换  </a:t>
            </a:r>
            <a:r>
              <a:rPr lang="en-US" altLang="zh-CN" dirty="0">
                <a:sym typeface="Wingdings" panose="05000000000000000000" pitchFamily="2" charset="2"/>
              </a:rPr>
              <a:t>P[j] and P[m]</a:t>
            </a:r>
            <a:endParaRPr lang="en-US" altLang="zh-CN" dirty="0">
              <a:sym typeface="Wingdings" panose="05000000000000000000" pitchFamily="2" charset="2"/>
            </a:endParaRPr>
          </a:p>
          <a:p>
            <a:pPr lvl="0" eaLnBrk="1" hangingPunct="1"/>
            <a:r>
              <a:rPr lang="zh-CN" altLang="en-US" dirty="0"/>
              <a:t>的次数</a:t>
            </a:r>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81922" name="Rectangle 2"/>
          <p:cNvSpPr>
            <a:spLocks noRot="1" noTextEdit="1"/>
          </p:cNvSpPr>
          <p:nvPr>
            <p:ph type="sldImg"/>
          </p:nvPr>
        </p:nvSpPr>
        <p:spPr/>
      </p:sp>
      <p:sp>
        <p:nvSpPr>
          <p:cNvPr id="8192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83970" name="Rectangle 2"/>
          <p:cNvSpPr>
            <a:spLocks noRot="1" noTextEdit="1"/>
          </p:cNvSpPr>
          <p:nvPr>
            <p:ph type="sldImg"/>
          </p:nvPr>
        </p:nvSpPr>
        <p:spPr/>
      </p:sp>
      <p:sp>
        <p:nvSpPr>
          <p:cNvPr id="83971" name="Rectangle 3"/>
          <p:cNvSpPr>
            <a:spLocks noGrp="1"/>
          </p:cNvSpPr>
          <p:nvPr>
            <p:ph type="body"/>
          </p:nvPr>
        </p:nvSpPr>
        <p:spPr/>
        <p:txBody>
          <a:bodyPr wrap="square" lIns="91440" tIns="45720" rIns="91440" bIns="45720" anchor="t" anchorCtr="0"/>
          <a:p>
            <a:pPr lvl="0" eaLnBrk="1" hangingPunct="1"/>
            <a:r>
              <a:rPr lang="en-US" altLang="zh-CN" dirty="0"/>
              <a:t>1,   2,   3</a:t>
            </a:r>
            <a:endParaRPr lang="en-US" altLang="zh-CN" dirty="0"/>
          </a:p>
          <a:p>
            <a:pPr lvl="0" eaLnBrk="1" hangingPunct="1"/>
            <a:r>
              <a:rPr lang="en-US" altLang="zh-CN" dirty="0"/>
              <a:t>————</a:t>
            </a:r>
            <a:endParaRPr lang="en-US" altLang="zh-CN" dirty="0"/>
          </a:p>
          <a:p>
            <a:pPr lvl="0" eaLnBrk="1" hangingPunct="1"/>
            <a:r>
              <a:rPr lang="en-US" altLang="zh-CN" b="1" dirty="0"/>
              <a:t>3</a:t>
            </a:r>
            <a:r>
              <a:rPr lang="en-US" altLang="zh-CN" dirty="0"/>
              <a:t>    1    2</a:t>
            </a:r>
            <a:endParaRPr lang="en-US" altLang="zh-CN" dirty="0"/>
          </a:p>
          <a:p>
            <a:pPr lvl="0" eaLnBrk="1" hangingPunct="1"/>
            <a:r>
              <a:rPr lang="en-US" altLang="zh-CN" b="1" dirty="0"/>
              <a:t>3</a:t>
            </a:r>
            <a:r>
              <a:rPr lang="en-US" altLang="zh-CN" dirty="0"/>
              <a:t>    2    1</a:t>
            </a:r>
            <a:endParaRPr lang="en-US" altLang="zh-CN" dirty="0"/>
          </a:p>
          <a:p>
            <a:pPr lvl="0" eaLnBrk="1" hangingPunct="1"/>
            <a:r>
              <a:rPr lang="en-US" altLang="zh-CN" dirty="0"/>
              <a:t>1    </a:t>
            </a:r>
            <a:r>
              <a:rPr lang="en-US" altLang="zh-CN" b="1" dirty="0"/>
              <a:t>3</a:t>
            </a:r>
            <a:r>
              <a:rPr lang="en-US" altLang="zh-CN" dirty="0"/>
              <a:t>    2</a:t>
            </a:r>
            <a:endParaRPr lang="en-US" altLang="zh-CN" dirty="0"/>
          </a:p>
          <a:p>
            <a:pPr lvl="0" eaLnBrk="1" hangingPunct="1"/>
            <a:r>
              <a:rPr lang="en-US" altLang="zh-CN" dirty="0"/>
              <a:t>2    </a:t>
            </a:r>
            <a:r>
              <a:rPr lang="en-US" altLang="zh-CN" b="1" dirty="0"/>
              <a:t>3</a:t>
            </a:r>
            <a:r>
              <a:rPr lang="en-US" altLang="zh-CN" dirty="0"/>
              <a:t>    1</a:t>
            </a:r>
            <a:endParaRPr lang="en-US" altLang="zh-CN" dirty="0"/>
          </a:p>
          <a:p>
            <a:pPr lvl="0" eaLnBrk="1" hangingPunct="1"/>
            <a:r>
              <a:rPr lang="en-US" altLang="zh-CN" dirty="0"/>
              <a:t>1    2    </a:t>
            </a:r>
            <a:r>
              <a:rPr lang="en-US" altLang="zh-CN" b="1" dirty="0"/>
              <a:t>3</a:t>
            </a:r>
            <a:endParaRPr lang="en-US" altLang="zh-CN" b="1" dirty="0"/>
          </a:p>
          <a:p>
            <a:pPr lvl="0" eaLnBrk="1" hangingPunct="1"/>
            <a:r>
              <a:rPr lang="en-US" altLang="zh-CN" dirty="0"/>
              <a:t>2    1    </a:t>
            </a:r>
            <a:r>
              <a:rPr lang="en-US" altLang="zh-CN" b="1" dirty="0"/>
              <a:t>3</a:t>
            </a:r>
            <a:endParaRPr lang="zh-CN" altLang="zh-CN" b="1"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86018" name="Rectangle 2"/>
          <p:cNvSpPr>
            <a:spLocks noRot="1" noTextEdit="1"/>
          </p:cNvSpPr>
          <p:nvPr>
            <p:ph type="sldImg"/>
          </p:nvPr>
        </p:nvSpPr>
        <p:spPr/>
      </p:sp>
      <p:sp>
        <p:nvSpPr>
          <p:cNvPr id="86019" name="Rectangle 3"/>
          <p:cNvSpPr>
            <a:spLocks noGrp="1"/>
          </p:cNvSpPr>
          <p:nvPr>
            <p:ph type="body"/>
          </p:nvPr>
        </p:nvSpPr>
        <p:spPr/>
        <p:txBody>
          <a:bodyPr wrap="square" lIns="91440" tIns="45720" rIns="91440" bIns="45720" anchor="t" anchorCtr="0"/>
          <a:p>
            <a:pPr lvl="0" eaLnBrk="1" hangingPunct="1"/>
            <a:r>
              <a:rPr lang="en-US" altLang="zh-CN" dirty="0"/>
              <a:t>2.6.7</a:t>
            </a:r>
            <a:r>
              <a:rPr lang="zh-CN" altLang="en-US" dirty="0"/>
              <a:t>是将</a:t>
            </a:r>
            <a:r>
              <a:rPr lang="en-US" altLang="zh-CN" dirty="0"/>
              <a:t>m</a:t>
            </a:r>
            <a:r>
              <a:rPr lang="zh-CN" altLang="en-US" dirty="0"/>
              <a:t>放置在第</a:t>
            </a:r>
            <a:r>
              <a:rPr lang="en-US" altLang="zh-CN" dirty="0"/>
              <a:t>p[j]</a:t>
            </a:r>
            <a:r>
              <a:rPr lang="zh-CN" altLang="en-US" dirty="0"/>
              <a:t>的位置，然后剩余元素在其他空位置进行排列打印</a:t>
            </a:r>
            <a:endParaRPr lang="en-US" altLang="zh-CN" dirty="0"/>
          </a:p>
          <a:p>
            <a:pPr lvl="0" eaLnBrk="1" hangingPunct="1"/>
            <a:r>
              <a:rPr lang="en-US" altLang="zh-CN" dirty="0"/>
              <a:t>Perm2(m-1),</a:t>
            </a:r>
            <a:r>
              <a:rPr lang="zh-CN" altLang="en-US" dirty="0"/>
              <a:t>实际上是数组内第</a:t>
            </a:r>
            <a:r>
              <a:rPr lang="en-US" altLang="zh-CN" dirty="0"/>
              <a:t>j</a:t>
            </a:r>
            <a:r>
              <a:rPr lang="zh-CN" altLang="en-US" dirty="0"/>
              <a:t>位置外的其他元素，进行排列；</a:t>
            </a:r>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Grp="1" noRot="1" noChangeAspect="1" noTextEdit="1"/>
          </p:cNvSpPr>
          <p:nvPr>
            <p:ph type="sldImg"/>
          </p:nvPr>
        </p:nvSpPr>
        <p:spPr/>
      </p:sp>
      <p:sp>
        <p:nvSpPr>
          <p:cNvPr id="88066" name="备注占位符 2"/>
          <p:cNvSpPr>
            <a:spLocks noGrp="1"/>
          </p:cNvSpPr>
          <p:nvPr>
            <p:ph type="body"/>
          </p:nvPr>
        </p:nvSpPr>
        <p:spPr/>
        <p:txBody>
          <a:bodyPr wrap="square" lIns="91440" tIns="45720" rIns="91440" bIns="45720" anchor="t" anchorCtr="0"/>
          <a:p>
            <a:pPr lvl="0"/>
            <a:r>
              <a:rPr lang="zh-CN" altLang="en-US" dirty="0"/>
              <a:t>递归展开流程</a:t>
            </a:r>
            <a:endParaRPr lang="zh-CN" altLang="en-US" dirty="0"/>
          </a:p>
        </p:txBody>
      </p:sp>
      <p:sp>
        <p:nvSpPr>
          <p:cNvPr id="88067"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90114" name="Rectangle 2"/>
          <p:cNvSpPr>
            <a:spLocks noRot="1" noTextEdit="1"/>
          </p:cNvSpPr>
          <p:nvPr>
            <p:ph type="sldImg"/>
          </p:nvPr>
        </p:nvSpPr>
        <p:spPr/>
      </p:sp>
      <p:sp>
        <p:nvSpPr>
          <p:cNvPr id="90115" name="Rectangle 3"/>
          <p:cNvSpPr>
            <a:spLocks noGrp="1"/>
          </p:cNvSpPr>
          <p:nvPr>
            <p:ph type="body"/>
          </p:nvPr>
        </p:nvSpPr>
        <p:spPr/>
        <p:txBody>
          <a:bodyPr wrap="square" lIns="91440" tIns="45720" rIns="91440" bIns="45720" anchor="t" anchorCtr="0"/>
          <a:p>
            <a:pPr lvl="0" eaLnBrk="1" hangingPunct="1"/>
            <a:r>
              <a:rPr lang="en-US" altLang="zh-CN" dirty="0"/>
              <a:t>M</a:t>
            </a:r>
            <a:r>
              <a:rPr lang="zh-CN" altLang="en-US" dirty="0"/>
              <a:t>是根据函数中的</a:t>
            </a:r>
            <a:r>
              <a:rPr lang="en-US" altLang="zh-CN" dirty="0"/>
              <a:t>m</a:t>
            </a:r>
            <a:r>
              <a:rPr lang="zh-CN" altLang="en-US" dirty="0"/>
              <a:t>定义的，因为实际调用输入参数是</a:t>
            </a:r>
            <a:r>
              <a:rPr lang="en-US" altLang="zh-CN" dirty="0"/>
              <a:t>n</a:t>
            </a:r>
            <a:r>
              <a:rPr lang="zh-CN" altLang="en-US" dirty="0"/>
              <a:t>，所以实际上相当于，</a:t>
            </a:r>
            <a:r>
              <a:rPr lang="en-US" altLang="zh-CN" dirty="0"/>
              <a:t>f(n)=nf(n-1)+n</a:t>
            </a:r>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92162" name="Rectangle 2"/>
          <p:cNvSpPr>
            <a:spLocks noRot="1" noTextEdit="1"/>
          </p:cNvSpPr>
          <p:nvPr>
            <p:ph type="sldImg"/>
          </p:nvPr>
        </p:nvSpPr>
        <p:spPr/>
      </p:sp>
      <p:sp>
        <p:nvSpPr>
          <p:cNvPr id="9216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31746" name="Rectangle 2"/>
          <p:cNvSpPr>
            <a:spLocks noRot="1" noTextEdit="1"/>
          </p:cNvSpPr>
          <p:nvPr>
            <p:ph type="sldImg"/>
          </p:nvPr>
        </p:nvSpPr>
        <p:spPr/>
      </p:sp>
      <p:sp>
        <p:nvSpPr>
          <p:cNvPr id="3174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33794" name="Rectangle 2"/>
          <p:cNvSpPr>
            <a:spLocks noRot="1" noTextEdit="1"/>
          </p:cNvSpPr>
          <p:nvPr>
            <p:ph type="sldImg"/>
          </p:nvPr>
        </p:nvSpPr>
        <p:spPr/>
      </p:sp>
      <p:sp>
        <p:nvSpPr>
          <p:cNvPr id="3379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35842" name="Rectangle 2"/>
          <p:cNvSpPr>
            <a:spLocks noRot="1" noTextEdit="1"/>
          </p:cNvSpPr>
          <p:nvPr>
            <p:ph type="sldImg"/>
          </p:nvPr>
        </p:nvSpPr>
        <p:spPr/>
      </p:sp>
      <p:sp>
        <p:nvSpPr>
          <p:cNvPr id="3584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37890" name="Rectangle 2"/>
          <p:cNvSpPr>
            <a:spLocks noRot="1" noTextEdit="1"/>
          </p:cNvSpPr>
          <p:nvPr>
            <p:ph type="sldImg"/>
          </p:nvPr>
        </p:nvSpPr>
        <p:spPr/>
      </p:sp>
      <p:sp>
        <p:nvSpPr>
          <p:cNvPr id="3789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39938" name="Rectangle 2"/>
          <p:cNvSpPr>
            <a:spLocks noRot="1" noTextEdit="1"/>
          </p:cNvSpPr>
          <p:nvPr>
            <p:ph type="sldImg"/>
          </p:nvPr>
        </p:nvSpPr>
        <p:spPr/>
      </p:sp>
      <p:sp>
        <p:nvSpPr>
          <p:cNvPr id="3993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41986" name="Rectangle 2"/>
          <p:cNvSpPr>
            <a:spLocks noRot="1" noTextEdit="1"/>
          </p:cNvSpPr>
          <p:nvPr>
            <p:ph type="sldImg"/>
          </p:nvPr>
        </p:nvSpPr>
        <p:spPr/>
      </p:sp>
      <p:sp>
        <p:nvSpPr>
          <p:cNvPr id="4198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44034" name="Rectangle 2"/>
          <p:cNvSpPr>
            <a:spLocks noRot="1" noTextEdit="1"/>
          </p:cNvSpPr>
          <p:nvPr>
            <p:ph type="sldImg"/>
          </p:nvPr>
        </p:nvSpPr>
        <p:spPr/>
      </p:sp>
      <p:sp>
        <p:nvSpPr>
          <p:cNvPr id="4403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46082" name="Rectangle 2"/>
          <p:cNvSpPr>
            <a:spLocks noRot="1" noTextEdit="1"/>
          </p:cNvSpPr>
          <p:nvPr>
            <p:ph type="sldImg"/>
          </p:nvPr>
        </p:nvSpPr>
        <p:spPr/>
      </p:sp>
      <p:sp>
        <p:nvSpPr>
          <p:cNvPr id="46083" name="Rectangle 3"/>
          <p:cNvSpPr>
            <a:spLocks noGrp="1"/>
          </p:cNvSpPr>
          <p:nvPr>
            <p:ph type="body"/>
          </p:nvPr>
        </p:nvSpPr>
        <p:spPr/>
        <p:txBody>
          <a:bodyPr wrap="square" lIns="91440" tIns="45720" rIns="91440" bIns="45720" anchor="t" anchorCtr="0"/>
          <a:p>
            <a:pPr lvl="0" eaLnBrk="1" hangingPunct="1"/>
            <a:r>
              <a:rPr lang="zh-CN" altLang="en-US" dirty="0"/>
              <a:t>正向和反向是否一样可以排序？可以</a:t>
            </a:r>
            <a:endParaRPr lang="en-US" altLang="zh-CN" dirty="0"/>
          </a:p>
          <a:p>
            <a:pPr lvl="0" eaLnBrk="1" hangingPunct="1"/>
            <a:r>
              <a:rPr lang="zh-CN" altLang="en-US" dirty="0"/>
              <a:t>对于位数不同的数字是否可以进行排序？可以</a:t>
            </a:r>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49154" name="Rectangle 2"/>
          <p:cNvSpPr>
            <a:spLocks noRot="1" noTextEdit="1"/>
          </p:cNvSpPr>
          <p:nvPr>
            <p:ph type="sldImg"/>
          </p:nvPr>
        </p:nvSpPr>
        <p:spPr/>
      </p:sp>
      <p:sp>
        <p:nvSpPr>
          <p:cNvPr id="49155" name="Rectangle 3"/>
          <p:cNvSpPr>
            <a:spLocks noGrp="1"/>
          </p:cNvSpPr>
          <p:nvPr>
            <p:ph type="body"/>
          </p:nvPr>
        </p:nvSpPr>
        <p:spPr/>
        <p:txBody>
          <a:bodyPr wrap="square" lIns="91440" tIns="45720" rIns="91440" bIns="45720" anchor="t" anchorCtr="0"/>
          <a:p>
            <a:pPr lvl="0" eaLnBrk="1" hangingPunct="1"/>
            <a:r>
              <a:rPr lang="zh-CN" altLang="en-US" dirty="0"/>
              <a:t>第</a:t>
            </a:r>
            <a:r>
              <a:rPr lang="en-US" altLang="zh-CN" dirty="0"/>
              <a:t>1</a:t>
            </a:r>
            <a:r>
              <a:rPr lang="zh-CN" altLang="en-US" dirty="0"/>
              <a:t>步：</a:t>
            </a:r>
            <a:r>
              <a:rPr lang="en-US" altLang="zh-CN" dirty="0"/>
              <a:t>for</a:t>
            </a:r>
            <a:r>
              <a:rPr lang="zh-CN" altLang="en-US" dirty="0"/>
              <a:t>循环：从数组</a:t>
            </a:r>
            <a:r>
              <a:rPr lang="en-US" altLang="zh-CN" dirty="0"/>
              <a:t>L</a:t>
            </a:r>
            <a:r>
              <a:rPr lang="zh-CN" altLang="en-US" dirty="0"/>
              <a:t>中的每一个元素</a:t>
            </a:r>
            <a:r>
              <a:rPr lang="en-US" altLang="zh-CN" dirty="0"/>
              <a:t>a</a:t>
            </a:r>
            <a:r>
              <a:rPr lang="zh-CN" altLang="en-US" dirty="0"/>
              <a:t>的最后一位数字开始进行数组元素的分类；</a:t>
            </a:r>
            <a:endParaRPr lang="en-US" altLang="zh-CN" dirty="0"/>
          </a:p>
          <a:p>
            <a:pPr lvl="0" eaLnBrk="1" hangingPunct="1"/>
            <a:r>
              <a:rPr lang="zh-CN" altLang="en-US" dirty="0"/>
              <a:t>第</a:t>
            </a:r>
            <a:r>
              <a:rPr lang="en-US" altLang="zh-CN" dirty="0"/>
              <a:t>3~5</a:t>
            </a:r>
            <a:r>
              <a:rPr lang="zh-CN" altLang="en-US" dirty="0"/>
              <a:t>步，将</a:t>
            </a:r>
            <a:r>
              <a:rPr lang="en-US" altLang="zh-CN" dirty="0"/>
              <a:t>L</a:t>
            </a:r>
            <a:r>
              <a:rPr lang="zh-CN" altLang="en-US" dirty="0"/>
              <a:t>中的每个元素</a:t>
            </a:r>
            <a:r>
              <a:rPr lang="en-US" altLang="zh-CN" dirty="0"/>
              <a:t>a</a:t>
            </a:r>
            <a:r>
              <a:rPr lang="zh-CN" altLang="en-US" dirty="0"/>
              <a:t>，根据</a:t>
            </a:r>
            <a:r>
              <a:rPr lang="en-US" altLang="zh-CN" dirty="0"/>
              <a:t>a</a:t>
            </a:r>
            <a:r>
              <a:rPr lang="zh-CN" altLang="en-US" dirty="0"/>
              <a:t>的第</a:t>
            </a:r>
            <a:r>
              <a:rPr lang="en-US" altLang="zh-CN" dirty="0"/>
              <a:t>j</a:t>
            </a:r>
            <a:r>
              <a:rPr lang="zh-CN" altLang="en-US" dirty="0"/>
              <a:t>位数字判断放置哪张表</a:t>
            </a:r>
            <a:r>
              <a:rPr lang="en-US" altLang="zh-CN" dirty="0">
                <a:sym typeface="Wingdings" panose="05000000000000000000" pitchFamily="2" charset="2"/>
              </a:rPr>
              <a:t>L</a:t>
            </a:r>
            <a:r>
              <a:rPr lang="en-US" altLang="zh-CN" baseline="-25000" dirty="0">
                <a:sym typeface="Wingdings" panose="05000000000000000000" pitchFamily="2" charset="2"/>
              </a:rPr>
              <a:t>i</a:t>
            </a:r>
            <a:r>
              <a:rPr lang="zh-CN" altLang="en-US" dirty="0">
                <a:sym typeface="Wingdings" panose="05000000000000000000" pitchFamily="2" charset="2"/>
              </a:rPr>
              <a:t>中。</a:t>
            </a:r>
            <a:endParaRPr lang="en-US" altLang="zh-CN" dirty="0">
              <a:sym typeface="Wingdings" panose="05000000000000000000" pitchFamily="2" charset="2"/>
            </a:endParaRPr>
          </a:p>
          <a:p>
            <a:pPr lvl="0" eaLnBrk="1" hangingPunct="1"/>
            <a:r>
              <a:rPr lang="zh-CN" altLang="en-US" dirty="0">
                <a:sym typeface="Wingdings" panose="05000000000000000000" pitchFamily="2" charset="2"/>
              </a:rPr>
              <a:t>第</a:t>
            </a:r>
            <a:r>
              <a:rPr lang="en-US" altLang="zh-CN" dirty="0">
                <a:sym typeface="Wingdings" panose="05000000000000000000" pitchFamily="2" charset="2"/>
              </a:rPr>
              <a:t>7~9</a:t>
            </a:r>
            <a:r>
              <a:rPr lang="zh-CN" altLang="en-US" dirty="0">
                <a:sym typeface="Wingdings" panose="05000000000000000000" pitchFamily="2" charset="2"/>
              </a:rPr>
              <a:t>步，将</a:t>
            </a:r>
            <a:r>
              <a:rPr lang="en-US" altLang="zh-CN" dirty="0">
                <a:sym typeface="Wingdings" panose="05000000000000000000" pitchFamily="2" charset="2"/>
              </a:rPr>
              <a:t>L0~L9</a:t>
            </a:r>
            <a:r>
              <a:rPr lang="zh-CN" altLang="en-US" dirty="0">
                <a:sym typeface="Wingdings" panose="05000000000000000000" pitchFamily="2" charset="2"/>
              </a:rPr>
              <a:t>十张表按照顺序连接</a:t>
            </a:r>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51202" name="Rectangle 2"/>
          <p:cNvSpPr>
            <a:spLocks noRot="1" noTextEdit="1"/>
          </p:cNvSpPr>
          <p:nvPr>
            <p:ph type="sldImg"/>
          </p:nvPr>
        </p:nvSpPr>
        <p:spPr/>
      </p:sp>
      <p:sp>
        <p:nvSpPr>
          <p:cNvPr id="51203" name="Rectangle 3"/>
          <p:cNvSpPr>
            <a:spLocks noGrp="1"/>
          </p:cNvSpPr>
          <p:nvPr>
            <p:ph type="body"/>
          </p:nvPr>
        </p:nvSpPr>
        <p:spPr/>
        <p:txBody>
          <a:bodyPr wrap="square" lIns="91440" tIns="45720" rIns="91440" bIns="45720" anchor="t" anchorCtr="0"/>
          <a:p>
            <a:pPr lvl="0" eaLnBrk="1" hangingPunct="1"/>
            <a:r>
              <a:rPr lang="zh-CN" altLang="en-US" dirty="0"/>
              <a:t>特点：</a:t>
            </a:r>
            <a:endParaRPr lang="en-US" altLang="zh-CN" dirty="0"/>
          </a:p>
          <a:p>
            <a:pPr lvl="0" eaLnBrk="1" hangingPunct="1"/>
            <a:r>
              <a:rPr lang="en-US" altLang="zh-CN" dirty="0"/>
              <a:t>1</a:t>
            </a:r>
            <a:r>
              <a:rPr lang="zh-CN" altLang="en-US" dirty="0"/>
              <a:t>、空间换时间</a:t>
            </a:r>
            <a:endParaRPr lang="en-US" altLang="zh-CN" dirty="0"/>
          </a:p>
          <a:p>
            <a:pPr lvl="0" eaLnBrk="1" hangingPunct="1"/>
            <a:r>
              <a:rPr lang="en-US" altLang="zh-CN" dirty="0"/>
              <a:t>2</a:t>
            </a:r>
            <a:r>
              <a:rPr lang="zh-CN" altLang="en-US" dirty="0"/>
              <a:t>、通过数字自身的特点，构建</a:t>
            </a:r>
            <a:r>
              <a:rPr lang="en-US" altLang="zh-CN" dirty="0"/>
              <a:t>10</a:t>
            </a:r>
            <a:r>
              <a:rPr lang="zh-CN" altLang="en-US" dirty="0"/>
              <a:t>个链表，按照某种规则进行位置的存放，实现排序；效率高</a:t>
            </a:r>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94210" name="Rectangle 2"/>
          <p:cNvSpPr>
            <a:spLocks noRot="1" noTextEdit="1"/>
          </p:cNvSpPr>
          <p:nvPr>
            <p:ph type="sldImg"/>
          </p:nvPr>
        </p:nvSpPr>
        <p:spPr/>
      </p:sp>
      <p:sp>
        <p:nvSpPr>
          <p:cNvPr id="9421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96258" name="Rectangle 2"/>
          <p:cNvSpPr>
            <a:spLocks noRot="1" noTextEdit="1"/>
          </p:cNvSpPr>
          <p:nvPr>
            <p:ph type="sldImg"/>
          </p:nvPr>
        </p:nvSpPr>
        <p:spPr/>
      </p:sp>
      <p:sp>
        <p:nvSpPr>
          <p:cNvPr id="9625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98306" name="Rectangle 2"/>
          <p:cNvSpPr>
            <a:spLocks noRot="1" noTextEdit="1"/>
          </p:cNvSpPr>
          <p:nvPr>
            <p:ph type="sldImg"/>
          </p:nvPr>
        </p:nvSpPr>
        <p:spPr/>
      </p:sp>
      <p:sp>
        <p:nvSpPr>
          <p:cNvPr id="9830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00354" name="Rectangle 2"/>
          <p:cNvSpPr>
            <a:spLocks noRot="1" noTextEdit="1"/>
          </p:cNvSpPr>
          <p:nvPr>
            <p:ph type="sldImg"/>
          </p:nvPr>
        </p:nvSpPr>
        <p:spPr/>
      </p:sp>
      <p:sp>
        <p:nvSpPr>
          <p:cNvPr id="10035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02402" name="Rectangle 2"/>
          <p:cNvSpPr>
            <a:spLocks noRot="1" noTextEdit="1"/>
          </p:cNvSpPr>
          <p:nvPr>
            <p:ph type="sldImg"/>
          </p:nvPr>
        </p:nvSpPr>
        <p:spPr/>
      </p:sp>
      <p:sp>
        <p:nvSpPr>
          <p:cNvPr id="10240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04450" name="Rectangle 2"/>
          <p:cNvSpPr>
            <a:spLocks noRot="1" noTextEdit="1"/>
          </p:cNvSpPr>
          <p:nvPr>
            <p:ph type="sldImg"/>
          </p:nvPr>
        </p:nvSpPr>
        <p:spPr/>
      </p:sp>
      <p:sp>
        <p:nvSpPr>
          <p:cNvPr id="10445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indent="0" algn="r"/>
            <a:r>
              <a:rPr lang="en-US" altLang="zh-CN" sz="1200" dirty="0"/>
              <a:t>*</a:t>
            </a:r>
            <a:endParaRPr lang="en-US" altLang="zh-CN" sz="1200" dirty="0"/>
          </a:p>
        </p:txBody>
      </p:sp>
      <p:sp>
        <p:nvSpPr>
          <p:cNvPr id="106498" name="Rectangle 2"/>
          <p:cNvSpPr>
            <a:spLocks noRot="1" noTextEdit="1"/>
          </p:cNvSpPr>
          <p:nvPr>
            <p:ph type="sldImg"/>
          </p:nvPr>
        </p:nvSpPr>
        <p:spPr/>
      </p:sp>
      <p:sp>
        <p:nvSpPr>
          <p:cNvPr id="106499" name="Rectangle 3"/>
          <p:cNvSpPr>
            <a:spLocks noGrp="1"/>
          </p:cNvSpPr>
          <p:nvPr>
            <p:ph type="body"/>
          </p:nvPr>
        </p:nvSpPr>
        <p:spPr/>
        <p:txBody>
          <a:bodyPr wrap="square" lIns="91440" tIns="45720" rIns="91440" bIns="45720" anchor="t" anchorCtr="0"/>
          <a:p>
            <a:pPr lvl="0" eaLnBrk="1" hangingPunct="1"/>
            <a:r>
              <a:rPr lang="en-US" altLang="zh-CN" dirty="0"/>
              <a:t>{1</a:t>
            </a:r>
            <a:r>
              <a:rPr lang="zh-CN" altLang="en-US" dirty="0"/>
              <a:t>，</a:t>
            </a:r>
            <a:r>
              <a:rPr lang="en-US" altLang="zh-CN" dirty="0"/>
              <a:t>3</a:t>
            </a:r>
            <a:r>
              <a:rPr lang="zh-CN" altLang="en-US" dirty="0"/>
              <a:t>，</a:t>
            </a:r>
            <a:r>
              <a:rPr lang="en-US" altLang="zh-CN" dirty="0"/>
              <a:t>2,</a:t>
            </a:r>
            <a:r>
              <a:rPr lang="zh-CN" altLang="en-US" dirty="0"/>
              <a:t>  </a:t>
            </a:r>
            <a:r>
              <a:rPr lang="en-US" altLang="zh-CN" dirty="0"/>
              <a:t>3</a:t>
            </a:r>
            <a:r>
              <a:rPr lang="zh-CN" altLang="en-US" dirty="0"/>
              <a:t>，</a:t>
            </a:r>
            <a:r>
              <a:rPr lang="en-US" altLang="zh-CN" dirty="0"/>
              <a:t>4</a:t>
            </a:r>
            <a:r>
              <a:rPr lang="zh-CN" altLang="en-US" dirty="0"/>
              <a:t>，</a:t>
            </a:r>
            <a:r>
              <a:rPr lang="en-US" altLang="zh-CN" dirty="0"/>
              <a:t>3,  3}</a:t>
            </a:r>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2051"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235522"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pPr fontAlgn="base"/>
            <a:r>
              <a:rPr lang="zh-CN" altLang="en-US" strike="noStrike" noProof="1"/>
              <a:t>单击此处编辑母版标题样式</a:t>
            </a:r>
            <a:endParaRPr lang="zh-CN" altLang="en-US" strike="noStrike" noProof="1"/>
          </a:p>
        </p:txBody>
      </p:sp>
      <p:sp>
        <p:nvSpPr>
          <p:cNvPr id="235523"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pPr fontAlgn="base"/>
            <a:r>
              <a:rPr lang="zh-CN" altLang="en-US" strike="noStrike" noProof="1"/>
              <a:t>单击此处编辑母版副标题样式</a:t>
            </a:r>
            <a:endParaRPr lang="zh-CN" altLang="en-US" strike="noStrike" noProof="1"/>
          </a:p>
        </p:txBody>
      </p:sp>
      <p:sp>
        <p:nvSpPr>
          <p:cNvPr id="9" name="Rectangle 6"/>
          <p:cNvSpPr>
            <a:spLocks noGrp="1" noChangeArrowheads="1"/>
          </p:cNvSpPr>
          <p:nvPr>
            <p:ph type="ftr" sz="quarter" idx="3"/>
          </p:nvPr>
        </p:nvSpPr>
        <p:spPr bwMode="auto">
          <a:xfrm>
            <a:off x="3492500" y="6381750"/>
            <a:ext cx="3816350" cy="4318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879475" y="269875"/>
            <a:ext cx="5749925" cy="55245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900113" y="1268413"/>
            <a:ext cx="3816350" cy="45259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868863" y="1268413"/>
            <a:ext cx="3817937" cy="2185987"/>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4868863" y="3606800"/>
            <a:ext cx="3817937" cy="21875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900113" y="1268413"/>
            <a:ext cx="3816350" cy="45259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868863" y="1268413"/>
            <a:ext cx="3817937" cy="45259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jpeg"/><Relationship Id="rId15" Type="http://schemas.openxmlformats.org/officeDocument/2006/relationships/image" Target="../media/image2.jpe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900113" y="1268413"/>
            <a:ext cx="7786687" cy="4525962"/>
          </a:xfrm>
          <a:prstGeom prst="rect">
            <a:avLst/>
          </a:prstGeom>
          <a:noFill/>
          <a:ln w="9525">
            <a:noFill/>
          </a:ln>
        </p:spPr>
        <p:txBody>
          <a:bodyPr anchor="t" anchorCtr="0"/>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p:txBody>
      </p:sp>
      <p:pic>
        <p:nvPicPr>
          <p:cNvPr id="1028" name="Picture 4" descr="index_07"/>
          <p:cNvPicPr>
            <a:picLocks noChangeAspect="1"/>
          </p:cNvPicPr>
          <p:nvPr/>
        </p:nvPicPr>
        <p:blipFill>
          <a:blip r:embed="rId15"/>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6"/>
          <a:stretch>
            <a:fillRect/>
          </a:stretch>
        </p:blipFill>
        <p:spPr>
          <a:xfrm>
            <a:off x="7308850" y="6381750"/>
            <a:ext cx="1800225" cy="476250"/>
          </a:xfrm>
          <a:prstGeom prst="rect">
            <a:avLst/>
          </a:prstGeom>
          <a:noFill/>
          <a:ln w="9525">
            <a:noFill/>
          </a:ln>
        </p:spPr>
      </p:pic>
      <p:sp>
        <p:nvSpPr>
          <p:cNvPr id="234502" name="Rectangle 6"/>
          <p:cNvSpPr>
            <a:spLocks noGrp="1" noChangeArrowheads="1"/>
          </p:cNvSpPr>
          <p:nvPr>
            <p:ph type="ftr" sz="quarter" idx="3"/>
          </p:nvPr>
        </p:nvSpPr>
        <p:spPr bwMode="auto">
          <a:xfrm>
            <a:off x="3492500" y="6381750"/>
            <a:ext cx="3816350" cy="431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wmf"/></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3.vml"/><Relationship Id="rId7" Type="http://schemas.openxmlformats.org/officeDocument/2006/relationships/slideLayout" Target="../slideLayouts/slideLayout12.x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 Id="rId3" Type="http://schemas.openxmlformats.org/officeDocument/2006/relationships/oleObject" Target="../embeddings/oleObject4.bin"/><Relationship Id="rId2" Type="http://schemas.openxmlformats.org/officeDocument/2006/relationships/image" Target="../media/image8.w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4.vml"/><Relationship Id="rId5" Type="http://schemas.openxmlformats.org/officeDocument/2006/relationships/slideLayout" Target="../slideLayouts/slideLayout12.xml"/><Relationship Id="rId4" Type="http://schemas.openxmlformats.org/officeDocument/2006/relationships/image" Target="../media/image13.wmf"/><Relationship Id="rId3" Type="http://schemas.openxmlformats.org/officeDocument/2006/relationships/oleObject" Target="../embeddings/oleObject7.bin"/><Relationship Id="rId2" Type="http://schemas.openxmlformats.org/officeDocument/2006/relationships/image" Target="../media/image12.wmf"/><Relationship Id="rId1"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3.wmf"/><Relationship Id="rId3" Type="http://schemas.openxmlformats.org/officeDocument/2006/relationships/oleObject" Target="../embeddings/oleObject9.bin"/><Relationship Id="rId2" Type="http://schemas.openxmlformats.org/officeDocument/2006/relationships/image" Target="../media/image12.wmf"/><Relationship Id="rId1"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wmf"/></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image" Target="../media/image15.GIF"/></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vmlDrawing" Target="../drawings/vmlDrawing6.vml"/><Relationship Id="rId6"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17.wmf"/><Relationship Id="rId3" Type="http://schemas.openxmlformats.org/officeDocument/2006/relationships/oleObject" Target="../embeddings/oleObject11.bin"/><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vmlDrawing" Target="../drawings/vmlDrawing7.vml"/><Relationship Id="rId5" Type="http://schemas.openxmlformats.org/officeDocument/2006/relationships/slideLayout" Target="../slideLayouts/slideLayout13.xml"/><Relationship Id="rId4" Type="http://schemas.openxmlformats.org/officeDocument/2006/relationships/audio" Target="../media/audio2.wav"/><Relationship Id="rId3" Type="http://schemas.openxmlformats.org/officeDocument/2006/relationships/image" Target="../media/image15.GIF"/><Relationship Id="rId2" Type="http://schemas.openxmlformats.org/officeDocument/2006/relationships/image" Target="../media/image18.wmf"/><Relationship Id="rId1" Type="http://schemas.openxmlformats.org/officeDocument/2006/relationships/oleObject" Target="../embeddings/oleObject12.bin"/></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vmlDrawing" Target="../drawings/vmlDrawing8.vml"/><Relationship Id="rId7" Type="http://schemas.openxmlformats.org/officeDocument/2006/relationships/slideLayout" Target="../slideLayouts/slideLayout12.x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 Id="rId3" Type="http://schemas.openxmlformats.org/officeDocument/2006/relationships/oleObject" Target="../embeddings/oleObject14.bin"/><Relationship Id="rId2" Type="http://schemas.openxmlformats.org/officeDocument/2006/relationships/image" Target="../media/image19.wmf"/><Relationship Id="rId1"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9.vml"/><Relationship Id="rId3" Type="http://schemas.openxmlformats.org/officeDocument/2006/relationships/slideLayout" Target="../slideLayouts/slideLayout13.xml"/><Relationship Id="rId2" Type="http://schemas.openxmlformats.org/officeDocument/2006/relationships/image" Target="../media/image18.wmf"/><Relationship Id="rId1"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vmlDrawing" Target="../drawings/vmlDrawing10.vml"/><Relationship Id="rId3" Type="http://schemas.openxmlformats.org/officeDocument/2006/relationships/slideLayout" Target="../slideLayouts/slideLayout13.xml"/><Relationship Id="rId2" Type="http://schemas.openxmlformats.org/officeDocument/2006/relationships/image" Target="../media/image22.wmf"/><Relationship Id="rId1" Type="http://schemas.openxmlformats.org/officeDocument/2006/relationships/oleObject" Target="../embeddings/oleObject17.bin"/></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vmlDrawing" Target="../drawings/vmlDrawing11.vml"/><Relationship Id="rId7" Type="http://schemas.openxmlformats.org/officeDocument/2006/relationships/slideLayout" Target="../slideLayouts/slideLayout12.xml"/><Relationship Id="rId6" Type="http://schemas.openxmlformats.org/officeDocument/2006/relationships/image" Target="../media/image25.wmf"/><Relationship Id="rId5" Type="http://schemas.openxmlformats.org/officeDocument/2006/relationships/oleObject" Target="../embeddings/oleObject20.bin"/><Relationship Id="rId4" Type="http://schemas.openxmlformats.org/officeDocument/2006/relationships/image" Target="../media/image24.wmf"/><Relationship Id="rId3" Type="http://schemas.openxmlformats.org/officeDocument/2006/relationships/oleObject" Target="../embeddings/oleObject19.bin"/><Relationship Id="rId2" Type="http://schemas.openxmlformats.org/officeDocument/2006/relationships/image" Target="../media/image23.wmf"/><Relationship Id="rId1" Type="http://schemas.openxmlformats.org/officeDocument/2006/relationships/oleObject" Target="../embeddings/oleObject18.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vmlDrawing" Target="../drawings/vmlDrawing12.vml"/><Relationship Id="rId3" Type="http://schemas.openxmlformats.org/officeDocument/2006/relationships/slideLayout" Target="../slideLayouts/slideLayout13.xml"/><Relationship Id="rId2" Type="http://schemas.openxmlformats.org/officeDocument/2006/relationships/image" Target="../media/image28.wmf"/><Relationship Id="rId1" Type="http://schemas.openxmlformats.org/officeDocument/2006/relationships/oleObject" Target="../embeddings/oleObject21.bin"/></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2.wmf"/><Relationship Id="rId7" Type="http://schemas.openxmlformats.org/officeDocument/2006/relationships/oleObject" Target="../embeddings/oleObject25.bin"/><Relationship Id="rId6" Type="http://schemas.openxmlformats.org/officeDocument/2006/relationships/image" Target="../media/image31.wmf"/><Relationship Id="rId5" Type="http://schemas.openxmlformats.org/officeDocument/2006/relationships/oleObject" Target="../embeddings/oleObject24.bin"/><Relationship Id="rId4" Type="http://schemas.openxmlformats.org/officeDocument/2006/relationships/image" Target="../media/image30.wmf"/><Relationship Id="rId3" Type="http://schemas.openxmlformats.org/officeDocument/2006/relationships/oleObject" Target="../embeddings/oleObject23.bin"/><Relationship Id="rId2" Type="http://schemas.openxmlformats.org/officeDocument/2006/relationships/image" Target="../media/image29.wmf"/><Relationship Id="rId11" Type="http://schemas.openxmlformats.org/officeDocument/2006/relationships/notesSlide" Target="../notesSlides/notesSlide33.xml"/><Relationship Id="rId10" Type="http://schemas.openxmlformats.org/officeDocument/2006/relationships/vmlDrawing" Target="../drawings/vmlDrawing13.vml"/><Relationship Id="rId1" Type="http://schemas.openxmlformats.org/officeDocument/2006/relationships/oleObject" Target="../embeddings/oleObject22.bin"/></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image" Target="../media/image15.GIF"/></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image" Target="../media/image15.GI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image" Target="../media/image15.GI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image" Target="../media/image15.GIF"/></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vmlDrawing" Target="../drawings/vmlDrawing14.vml"/><Relationship Id="rId3" Type="http://schemas.openxmlformats.org/officeDocument/2006/relationships/slideLayout" Target="../slideLayouts/slideLayout13.xml"/><Relationship Id="rId2" Type="http://schemas.openxmlformats.org/officeDocument/2006/relationships/image" Target="../media/image36.wmf"/><Relationship Id="rId1" Type="http://schemas.openxmlformats.org/officeDocument/2006/relationships/oleObject" Target="../embeddings/oleObject26.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image" Target="../media/image15.GIF"/></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audio" Target="../media/audio3.wav"/><Relationship Id="rId1" Type="http://schemas.openxmlformats.org/officeDocument/2006/relationships/image" Target="../media/image37.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6"/>
          <p:cNvSpPr>
            <a:spLocks noGrp="1"/>
          </p:cNvSpPr>
          <p:nvPr>
            <p:ph type="ftr" sz="quarter" idx="3"/>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latin typeface="Arial" panose="020B0604020202020204" pitchFamily="34" charset="0"/>
              </a:rPr>
              <a:t>Algorithms Design Techniques and Analysis</a:t>
            </a:r>
            <a:endParaRPr lang="en-US" altLang="zh-CN" sz="1400" dirty="0">
              <a:latin typeface="Arial" panose="020B0604020202020204" pitchFamily="34" charset="0"/>
            </a:endParaRPr>
          </a:p>
        </p:txBody>
      </p:sp>
      <p:sp>
        <p:nvSpPr>
          <p:cNvPr id="4098" name="Rectangle 2"/>
          <p:cNvSpPr>
            <a:spLocks noGrp="1"/>
          </p:cNvSpPr>
          <p:nvPr>
            <p:ph type="ctrTitle"/>
          </p:nvPr>
        </p:nvSpPr>
        <p:spPr>
          <a:xfrm>
            <a:off x="685800" y="1628775"/>
            <a:ext cx="7772400" cy="1470025"/>
          </a:xfrm>
        </p:spPr>
        <p:txBody>
          <a:bodyPr vert="horz" wrap="square" lIns="91440" tIns="45720" rIns="91440" bIns="45720" anchor="ctr" anchorCtr="0"/>
          <a:p>
            <a:pPr algn="ctr" eaLnBrk="1" hangingPunct="1">
              <a:buClrTx/>
              <a:buSzTx/>
              <a:buFontTx/>
            </a:pPr>
            <a:r>
              <a:rPr lang="zh-CN" altLang="en-US" dirty="0">
                <a:solidFill>
                  <a:srgbClr val="0066CC"/>
                </a:solidFill>
                <a:latin typeface="Times New Roman" panose="02020603050405020304" pitchFamily="18" charset="0"/>
                <a:ea typeface="+mj-ea"/>
                <a:cs typeface="+mj-cs"/>
              </a:rPr>
              <a:t>第二</a:t>
            </a:r>
            <a:r>
              <a:rPr lang="zh-CN" altLang="en-US" dirty="0">
                <a:solidFill>
                  <a:srgbClr val="0066CC"/>
                </a:solidFill>
                <a:latin typeface="Times New Roman" panose="02020603050405020304" pitchFamily="18" charset="0"/>
                <a:ea typeface="+mj-ea"/>
                <a:cs typeface="+mj-cs"/>
              </a:rPr>
              <a:t>讲</a:t>
            </a:r>
            <a:endParaRPr lang="en-US" altLang="zh-CN" dirty="0">
              <a:solidFill>
                <a:srgbClr val="0066CC"/>
              </a:solidFill>
              <a:latin typeface="Times New Roman" panose="02020603050405020304" pitchFamily="18" charset="0"/>
              <a:ea typeface="+mj-ea"/>
              <a:cs typeface="+mj-cs"/>
            </a:endParaRPr>
          </a:p>
        </p:txBody>
      </p:sp>
      <p:sp>
        <p:nvSpPr>
          <p:cNvPr id="4099" name="Rectangle 3"/>
          <p:cNvSpPr>
            <a:spLocks noGrp="1"/>
          </p:cNvSpPr>
          <p:nvPr>
            <p:ph type="subTitle" idx="1"/>
          </p:nvPr>
        </p:nvSpPr>
        <p:spPr>
          <a:xfrm>
            <a:off x="1357313" y="3214688"/>
            <a:ext cx="6553200" cy="1752600"/>
          </a:xfrm>
        </p:spPr>
        <p:txBody>
          <a:bodyPr vert="horz" wrap="square" lIns="91440" tIns="45720" rIns="91440" bIns="45720" anchor="t" anchorCtr="0"/>
          <a:p>
            <a:pPr defTabSz="914400" eaLnBrk="1" latinLnBrk="0" hangingPunct="1">
              <a:lnSpc>
                <a:spcPct val="100000"/>
              </a:lnSpc>
              <a:buClrTx/>
              <a:buSzTx/>
            </a:pPr>
            <a:endParaRPr lang="en-US" altLang="zh-CN" sz="3000" baseline="0" dirty="0">
              <a:latin typeface="+mn-lt"/>
              <a:ea typeface="+mn-ea"/>
              <a:cs typeface="+mn-cs"/>
            </a:endParaRPr>
          </a:p>
          <a:p>
            <a:pPr defTabSz="914400" eaLnBrk="1" latinLnBrk="0" hangingPunct="1">
              <a:lnSpc>
                <a:spcPct val="100000"/>
              </a:lnSpc>
              <a:buClrTx/>
              <a:buSzTx/>
            </a:pPr>
            <a:r>
              <a:rPr lang="zh-CN" altLang="en-US" sz="3000" baseline="0" dirty="0">
                <a:latin typeface="+mn-lt"/>
                <a:ea typeface="+mn-ea"/>
                <a:cs typeface="+mn-cs"/>
              </a:rPr>
              <a:t>归纳法</a:t>
            </a:r>
            <a:endParaRPr lang="zh-CN" altLang="en-US" sz="3000" baseline="0"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146" name="Rectangle 2"/>
          <p:cNvSpPr>
            <a:spLocks noGrp="1"/>
          </p:cNvSpPr>
          <p:nvPr>
            <p:ph type="title"/>
          </p:nvPr>
        </p:nvSpPr>
        <p:spPr/>
        <p:txBody>
          <a:bodyPr vert="horz" wrap="square" lIns="91440" tIns="45720" rIns="91440" bIns="45720" anchor="ctr" anchorCtr="0"/>
          <a:p>
            <a:pPr eaLnBrk="1" hangingPunct="1"/>
            <a:r>
              <a:rPr lang="zh-CN" altLang="en-US" dirty="0"/>
              <a:t>主要内容</a:t>
            </a:r>
            <a:endParaRPr lang="en-US" altLang="zh-CN" dirty="0"/>
          </a:p>
        </p:txBody>
      </p:sp>
      <p:sp>
        <p:nvSpPr>
          <p:cNvPr id="239619" name="Rectangle 3"/>
          <p:cNvSpPr>
            <a:spLocks noGrp="1"/>
          </p:cNvSpPr>
          <p:nvPr>
            <p:ph idx="1"/>
          </p:nvPr>
        </p:nvSpPr>
        <p:spPr>
          <a:xfrm>
            <a:off x="900113" y="1196975"/>
            <a:ext cx="7786687" cy="4889500"/>
          </a:xfrm>
        </p:spPr>
        <p:txBody>
          <a:bodyPr vert="horz" wrap="square" lIns="91440" tIns="45720" rIns="91440" bIns="45720" anchor="t" anchorCtr="0"/>
          <a:p>
            <a:pPr marL="0" indent="0" eaLnBrk="1" hangingPunct="1">
              <a:lnSpc>
                <a:spcPct val="90000"/>
              </a:lnSpc>
              <a:buNone/>
            </a:pPr>
            <a:endParaRPr lang="zh-CN" altLang="en-US" dirty="0"/>
          </a:p>
          <a:p>
            <a:pPr marL="0" indent="0" eaLnBrk="1" hangingPunct="1">
              <a:lnSpc>
                <a:spcPct val="90000"/>
              </a:lnSpc>
              <a:buNone/>
            </a:pPr>
            <a:r>
              <a:rPr lang="zh-CN" altLang="en-US" dirty="0"/>
              <a:t>2.1 引言</a:t>
            </a:r>
            <a:endParaRPr lang="zh-CN" altLang="en-US" dirty="0"/>
          </a:p>
          <a:p>
            <a:pPr marL="0" indent="0" eaLnBrk="1" hangingPunct="1">
              <a:lnSpc>
                <a:spcPct val="90000"/>
              </a:lnSpc>
              <a:buNone/>
            </a:pPr>
            <a:r>
              <a:rPr lang="zh-CN" altLang="en-US" dirty="0"/>
              <a:t>2.2 归纳法策略的算法设计思想及分析方法</a:t>
            </a:r>
            <a:endParaRPr lang="zh-CN" altLang="en-US" dirty="0"/>
          </a:p>
          <a:p>
            <a:pPr marL="0" indent="0" eaLnBrk="1" hangingPunct="1">
              <a:lnSpc>
                <a:spcPct val="90000"/>
              </a:lnSpc>
              <a:buNone/>
            </a:pPr>
            <a:r>
              <a:rPr lang="zh-CN" altLang="en-US" dirty="0"/>
              <a:t>2.3. 归纳策略的经典应用（可选讲部分）</a:t>
            </a:r>
            <a:endParaRPr lang="zh-CN" altLang="en-US" dirty="0"/>
          </a:p>
          <a:p>
            <a:pPr marL="476250" indent="-476250" eaLnBrk="1" hangingPunct="1">
              <a:lnSpc>
                <a:spcPct val="90000"/>
              </a:lnSpc>
            </a:pPr>
            <a:endParaRPr lang="zh-CN" altLang="en-US" dirty="0"/>
          </a:p>
        </p:txBody>
      </p:sp>
      <p:pic>
        <p:nvPicPr>
          <p:cNvPr id="239620" name="Picture 4" descr="j0195384"/>
          <p:cNvPicPr>
            <a:picLocks noChangeAspect="1"/>
          </p:cNvPicPr>
          <p:nvPr/>
        </p:nvPicPr>
        <p:blipFill>
          <a:blip r:embed="rId1"/>
          <a:stretch>
            <a:fillRect/>
          </a:stretch>
        </p:blipFill>
        <p:spPr>
          <a:xfrm>
            <a:off x="5940425" y="260350"/>
            <a:ext cx="1231900" cy="12573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239620"/>
                                        </p:tgtEl>
                                      </p:cBhvr>
                                    </p:animEffect>
                                    <p:animScale>
                                      <p:cBhvr>
                                        <p:cTn id="7" dur="250" autoRev="1" fill="hold"/>
                                        <p:tgtEl>
                                          <p:spTgt spid="239620"/>
                                        </p:tgtEl>
                                      </p:cBhvr>
                                      <p:by x="105000" y="105000"/>
                                    </p:animScale>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239619">
                                            <p:txEl>
                                              <p:charRg st="0" end="5"/>
                                            </p:txEl>
                                          </p:spTgt>
                                        </p:tgtEl>
                                        <p:attrNameLst>
                                          <p:attrName>style.visibility</p:attrName>
                                        </p:attrNameLst>
                                      </p:cBhvr>
                                      <p:to>
                                        <p:strVal val="visible"/>
                                      </p:to>
                                    </p:set>
                                    <p:anim calcmode="lin" valueType="num">
                                      <p:cBhvr additive="base">
                                        <p:cTn id="12" dur="500" fill="hold"/>
                                        <p:tgtEl>
                                          <p:spTgt spid="239619">
                                            <p:txEl>
                                              <p:charRg st="0"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9619">
                                            <p:txEl>
                                              <p:charRg st="0" end="5"/>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0" end="5"/>
                                            </p:txEl>
                                          </p:spTgt>
                                        </p:tgtEl>
                                        <p:attrNameLst>
                                          <p:attrName>ppt_c</p:attrName>
                                        </p:attrNameLst>
                                      </p:cBhvr>
                                      <p:to>
                                        <a:schemeClr val="bg2"/>
                                      </p:to>
                                    </p:animClr>
                                  </p:subTnLst>
                                </p:cTn>
                              </p:par>
                              <p:par>
                                <p:cTn id="14" presetID="2" presetClass="entr" presetSubtype="1" fill="hold" grpId="0" nodeType="withEffect">
                                  <p:stCondLst>
                                    <p:cond delay="0"/>
                                  </p:stCondLst>
                                  <p:childTnLst>
                                    <p:set>
                                      <p:cBhvr>
                                        <p:cTn id="15" dur="1" fill="hold">
                                          <p:stCondLst>
                                            <p:cond delay="0"/>
                                          </p:stCondLst>
                                        </p:cTn>
                                        <p:tgtEl>
                                          <p:spTgt spid="239619">
                                            <p:txEl>
                                              <p:charRg st="3" end="3"/>
                                            </p:txEl>
                                          </p:spTgt>
                                        </p:tgtEl>
                                        <p:attrNameLst>
                                          <p:attrName>style.visibility</p:attrName>
                                        </p:attrNameLst>
                                      </p:cBhvr>
                                      <p:to>
                                        <p:strVal val="visible"/>
                                      </p:to>
                                    </p:set>
                                    <p:anim calcmode="lin" valueType="num">
                                      <p:cBhvr additive="base">
                                        <p:cTn id="16" dur="500" fill="hold"/>
                                        <p:tgtEl>
                                          <p:spTgt spid="239619">
                                            <p:txEl>
                                              <p:char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39619">
                                            <p:txEl>
                                              <p:charRg st="3" end="3"/>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3" end="3"/>
                                            </p:txEl>
                                          </p:spTgt>
                                        </p:tgtEl>
                                        <p:attrNameLst>
                                          <p:attrName>ppt_c</p:attrName>
                                        </p:attrNameLst>
                                      </p:cBhvr>
                                      <p:to>
                                        <a:schemeClr val="bg2"/>
                                      </p:to>
                                    </p:animClr>
                                  </p:subTnLst>
                                </p:cTn>
                              </p:par>
                              <p:par>
                                <p:cTn id="18" presetID="2" presetClass="entr" presetSubtype="1" fill="hold" grpId="0" nodeType="withEffect">
                                  <p:stCondLst>
                                    <p:cond delay="0"/>
                                  </p:stCondLst>
                                  <p:childTnLst>
                                    <p:set>
                                      <p:cBhvr>
                                        <p:cTn id="19" dur="1" fill="hold">
                                          <p:stCondLst>
                                            <p:cond delay="0"/>
                                          </p:stCondLst>
                                        </p:cTn>
                                        <p:tgtEl>
                                          <p:spTgt spid="239619">
                                            <p:txEl>
                                              <p:charRg st="6" end="6"/>
                                            </p:txEl>
                                          </p:spTgt>
                                        </p:tgtEl>
                                        <p:attrNameLst>
                                          <p:attrName>style.visibility</p:attrName>
                                        </p:attrNameLst>
                                      </p:cBhvr>
                                      <p:to>
                                        <p:strVal val="visible"/>
                                      </p:to>
                                    </p:set>
                                    <p:anim calcmode="lin" valueType="num">
                                      <p:cBhvr additive="base">
                                        <p:cTn id="20" dur="500" fill="hold"/>
                                        <p:tgtEl>
                                          <p:spTgt spid="239619">
                                            <p:txEl>
                                              <p:charRg st="6" end="6"/>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39619">
                                            <p:txEl>
                                              <p:charRg st="6" end="6"/>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6" end="6"/>
                                            </p:txEl>
                                          </p:spTgt>
                                        </p:tgtEl>
                                        <p:attrNameLst>
                                          <p:attrName>ppt_c</p:attrName>
                                        </p:attrNameLst>
                                      </p:cBhvr>
                                      <p:to>
                                        <a:schemeClr val="bg2"/>
                                      </p:to>
                                    </p:animClr>
                                  </p:subTnLst>
                                </p:cTn>
                              </p:par>
                            </p:childTnLst>
                          </p:cTn>
                        </p:par>
                      </p:childTnLst>
                    </p:cTn>
                  </p:par>
                  <p:par>
                    <p:cTn id="22" fill="hold">
                      <p:stCondLst>
                        <p:cond delay="indefinite"/>
                      </p:stCondLst>
                      <p:childTnLst>
                        <p:par>
                          <p:cTn id="23" fill="hold">
                            <p:stCondLst>
                              <p:cond delay="0"/>
                            </p:stCondLst>
                            <p:childTnLst>
                              <p:par>
                                <p:cTn id="24" presetID="2" presetClass="entr" presetSubtype="1" fill="hold" grpId="0" nodeType="clickEffect">
                                  <p:stCondLst>
                                    <p:cond delay="0"/>
                                  </p:stCondLst>
                                  <p:childTnLst>
                                    <p:set>
                                      <p:cBhvr>
                                        <p:cTn id="25" dur="1" fill="hold">
                                          <p:stCondLst>
                                            <p:cond delay="0"/>
                                          </p:stCondLst>
                                        </p:cTn>
                                        <p:tgtEl>
                                          <p:spTgt spid="239619">
                                            <p:txEl>
                                              <p:charRg st="247" end="248"/>
                                            </p:txEl>
                                          </p:spTgt>
                                        </p:tgtEl>
                                        <p:attrNameLst>
                                          <p:attrName>style.visibility</p:attrName>
                                        </p:attrNameLst>
                                      </p:cBhvr>
                                      <p:to>
                                        <p:strVal val="visible"/>
                                      </p:to>
                                    </p:set>
                                    <p:anim calcmode="lin" valueType="num">
                                      <p:cBhvr additive="base">
                                        <p:cTn id="26" dur="500" fill="hold"/>
                                        <p:tgtEl>
                                          <p:spTgt spid="239619">
                                            <p:txEl>
                                              <p:charRg st="247" end="24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39619">
                                            <p:txEl>
                                              <p:charRg st="247" end="248"/>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0" end="5"/>
                                            </p:txEl>
                                          </p:spTgt>
                                        </p:tgtEl>
                                        <p:attrNameLst>
                                          <p:attrName>ppt_c</p:attrName>
                                        </p:attrNameLst>
                                      </p:cBhvr>
                                      <p:to>
                                        <a:schemeClr val="bg2"/>
                                      </p:to>
                                    </p:animClr>
                                  </p:subTnLst>
                                </p:cTn>
                              </p:par>
                              <p:par>
                                <p:cTn id="28" presetID="2" presetClass="entr" presetSubtype="1" fill="hold" grpId="0" nodeType="withEffect">
                                  <p:stCondLst>
                                    <p:cond delay="0"/>
                                  </p:stCondLst>
                                  <p:childTnLst>
                                    <p:set>
                                      <p:cBhvr>
                                        <p:cTn id="29" dur="1" fill="hold">
                                          <p:stCondLst>
                                            <p:cond delay="0"/>
                                          </p:stCondLst>
                                        </p:cTn>
                                        <p:tgtEl>
                                          <p:spTgt spid="239619">
                                            <p:txEl>
                                              <p:charRg st="3" end="3"/>
                                            </p:txEl>
                                          </p:spTgt>
                                        </p:tgtEl>
                                        <p:attrNameLst>
                                          <p:attrName>style.visibility</p:attrName>
                                        </p:attrNameLst>
                                      </p:cBhvr>
                                      <p:to>
                                        <p:strVal val="visible"/>
                                      </p:to>
                                    </p:set>
                                    <p:anim calcmode="lin" valueType="num">
                                      <p:cBhvr additive="base">
                                        <p:cTn id="30" dur="500" fill="hold"/>
                                        <p:tgtEl>
                                          <p:spTgt spid="239619">
                                            <p:txEl>
                                              <p:char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39619">
                                            <p:txEl>
                                              <p:charRg st="3" end="3"/>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3" end="3"/>
                                            </p:txEl>
                                          </p:spTgt>
                                        </p:tgtEl>
                                        <p:attrNameLst>
                                          <p:attrName>ppt_c</p:attrName>
                                        </p:attrNameLst>
                                      </p:cBhvr>
                                      <p:to>
                                        <a:schemeClr val="bg2"/>
                                      </p:to>
                                    </p:animClr>
                                  </p:subTnLst>
                                </p:cTn>
                              </p:par>
                              <p:par>
                                <p:cTn id="32" presetID="2" presetClass="entr" presetSubtype="1" fill="hold" grpId="0" nodeType="withEffect">
                                  <p:stCondLst>
                                    <p:cond delay="0"/>
                                  </p:stCondLst>
                                  <p:childTnLst>
                                    <p:set>
                                      <p:cBhvr>
                                        <p:cTn id="33" dur="1" fill="hold">
                                          <p:stCondLst>
                                            <p:cond delay="0"/>
                                          </p:stCondLst>
                                        </p:cTn>
                                        <p:tgtEl>
                                          <p:spTgt spid="239619">
                                            <p:txEl>
                                              <p:charRg st="6" end="6"/>
                                            </p:txEl>
                                          </p:spTgt>
                                        </p:tgtEl>
                                        <p:attrNameLst>
                                          <p:attrName>style.visibility</p:attrName>
                                        </p:attrNameLst>
                                      </p:cBhvr>
                                      <p:to>
                                        <p:strVal val="visible"/>
                                      </p:to>
                                    </p:set>
                                    <p:anim calcmode="lin" valueType="num">
                                      <p:cBhvr additive="base">
                                        <p:cTn id="34" dur="500" fill="hold"/>
                                        <p:tgtEl>
                                          <p:spTgt spid="239619">
                                            <p:txEl>
                                              <p:char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39619">
                                            <p:txEl>
                                              <p:charRg st="6" end="6"/>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6" end="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146" name="Rectangle 2"/>
          <p:cNvSpPr>
            <a:spLocks noGrp="1"/>
          </p:cNvSpPr>
          <p:nvPr>
            <p:ph type="title"/>
          </p:nvPr>
        </p:nvSpPr>
        <p:spPr/>
        <p:txBody>
          <a:bodyPr vert="horz" wrap="square" lIns="91440" tIns="45720" rIns="91440" bIns="45720" anchor="ctr" anchorCtr="0"/>
          <a:p>
            <a:pPr eaLnBrk="1" hangingPunct="1"/>
            <a:r>
              <a:rPr lang="zh-CN" altLang="en-US" dirty="0"/>
              <a:t>主要内容</a:t>
            </a:r>
            <a:endParaRPr lang="en-US" altLang="zh-CN" dirty="0"/>
          </a:p>
        </p:txBody>
      </p:sp>
      <p:sp>
        <p:nvSpPr>
          <p:cNvPr id="239619" name="Rectangle 3"/>
          <p:cNvSpPr>
            <a:spLocks noGrp="1"/>
          </p:cNvSpPr>
          <p:nvPr>
            <p:ph idx="1"/>
          </p:nvPr>
        </p:nvSpPr>
        <p:spPr>
          <a:xfrm>
            <a:off x="900113" y="1196975"/>
            <a:ext cx="7786687" cy="4889500"/>
          </a:xfrm>
        </p:spPr>
        <p:txBody>
          <a:bodyPr vert="horz" wrap="square" lIns="91440" tIns="45720" rIns="91440" bIns="45720" anchor="t" anchorCtr="0"/>
          <a:p>
            <a:pPr marL="0" indent="0" eaLnBrk="1" hangingPunct="1">
              <a:lnSpc>
                <a:spcPct val="90000"/>
              </a:lnSpc>
              <a:buNone/>
            </a:pPr>
            <a:r>
              <a:rPr lang="en-US" altLang="zh-CN" sz="2400" dirty="0" smtClean="0">
                <a:latin typeface="+mn-ea"/>
                <a:cs typeface="+mn-ea"/>
              </a:rPr>
              <a:t>2.1 引言</a:t>
            </a:r>
            <a:endParaRPr lang="en-US" altLang="zh-CN" sz="2400" dirty="0" smtClean="0">
              <a:latin typeface="+mn-ea"/>
              <a:cs typeface="+mn-ea"/>
            </a:endParaRPr>
          </a:p>
          <a:p>
            <a:pPr marL="457200" lvl="1" indent="0" eaLnBrk="1" hangingPunct="1">
              <a:lnSpc>
                <a:spcPct val="90000"/>
              </a:lnSpc>
              <a:buNone/>
            </a:pPr>
            <a:r>
              <a:rPr lang="en-US" altLang="zh-CN" sz="2400" dirty="0" smtClean="0">
                <a:latin typeface="+mn-ea"/>
                <a:ea typeface="+mn-ea"/>
                <a:cs typeface="+mn-ea"/>
              </a:rPr>
              <a:t>2.1.1 简单问题例的算法描述（插入排序、选择排序）</a:t>
            </a:r>
            <a:endParaRPr lang="en-US" altLang="zh-CN" sz="2400" dirty="0" smtClean="0">
              <a:latin typeface="+mn-ea"/>
              <a:ea typeface="+mn-ea"/>
              <a:cs typeface="+mn-ea"/>
            </a:endParaRPr>
          </a:p>
          <a:p>
            <a:pPr marL="457200" lvl="1" indent="0" eaLnBrk="1" hangingPunct="1">
              <a:lnSpc>
                <a:spcPct val="90000"/>
              </a:lnSpc>
              <a:buNone/>
            </a:pPr>
            <a:r>
              <a:rPr lang="en-US" altLang="zh-CN" sz="2400" dirty="0" smtClean="0">
                <a:latin typeface="+mn-ea"/>
                <a:ea typeface="+mn-ea"/>
                <a:cs typeface="+mn-ea"/>
              </a:rPr>
              <a:t>2.1.2 简单问题例算法的分析</a:t>
            </a:r>
            <a:endParaRPr lang="en-US" altLang="zh-CN" sz="2400" dirty="0" smtClean="0">
              <a:latin typeface="+mn-ea"/>
              <a:ea typeface="+mn-ea"/>
              <a:cs typeface="+mn-ea"/>
            </a:endParaRPr>
          </a:p>
        </p:txBody>
      </p:sp>
      <p:pic>
        <p:nvPicPr>
          <p:cNvPr id="239620" name="Picture 4" descr="j0195384"/>
          <p:cNvPicPr>
            <a:picLocks noChangeAspect="1"/>
          </p:cNvPicPr>
          <p:nvPr/>
        </p:nvPicPr>
        <p:blipFill>
          <a:blip r:embed="rId1"/>
          <a:stretch>
            <a:fillRect/>
          </a:stretch>
        </p:blipFill>
        <p:spPr>
          <a:xfrm>
            <a:off x="5940425" y="260350"/>
            <a:ext cx="1231900" cy="12573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239620"/>
                                        </p:tgtEl>
                                      </p:cBhvr>
                                    </p:animEffect>
                                    <p:animScale>
                                      <p:cBhvr>
                                        <p:cTn id="7" dur="250" autoRev="1" fill="hold"/>
                                        <p:tgtEl>
                                          <p:spTgt spid="239620"/>
                                        </p:tgtEl>
                                      </p:cBhvr>
                                      <p:by x="105000" y="105000"/>
                                    </p:animScale>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239619">
                                            <p:txEl>
                                              <p:charRg st="0" end="5"/>
                                            </p:txEl>
                                          </p:spTgt>
                                        </p:tgtEl>
                                        <p:attrNameLst>
                                          <p:attrName>style.visibility</p:attrName>
                                        </p:attrNameLst>
                                      </p:cBhvr>
                                      <p:to>
                                        <p:strVal val="visible"/>
                                      </p:to>
                                    </p:set>
                                    <p:anim calcmode="lin" valueType="num">
                                      <p:cBhvr additive="base">
                                        <p:cTn id="12" dur="500" fill="hold"/>
                                        <p:tgtEl>
                                          <p:spTgt spid="239619">
                                            <p:txEl>
                                              <p:charRg st="0"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9619">
                                            <p:txEl>
                                              <p:charRg st="0" end="5"/>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0" end="5"/>
                                            </p:txEl>
                                          </p:spTgt>
                                        </p:tgtEl>
                                        <p:attrNameLst>
                                          <p:attrName>ppt_c</p:attrName>
                                        </p:attrNameLst>
                                      </p:cBhvr>
                                      <p:to>
                                        <a:schemeClr val="bg2"/>
                                      </p:to>
                                    </p:animClr>
                                  </p:subTnLst>
                                </p:cTn>
                              </p:par>
                              <p:par>
                                <p:cTn id="14" presetID="2" presetClass="entr" presetSubtype="1" fill="hold" grpId="0" nodeType="withEffect">
                                  <p:stCondLst>
                                    <p:cond delay="0"/>
                                  </p:stCondLst>
                                  <p:childTnLst>
                                    <p:set>
                                      <p:cBhvr>
                                        <p:cTn id="15" dur="1" fill="hold">
                                          <p:stCondLst>
                                            <p:cond delay="0"/>
                                          </p:stCondLst>
                                        </p:cTn>
                                        <p:tgtEl>
                                          <p:spTgt spid="239619">
                                            <p:txEl>
                                              <p:charRg st="1" end="1"/>
                                            </p:txEl>
                                          </p:spTgt>
                                        </p:tgtEl>
                                        <p:attrNameLst>
                                          <p:attrName>style.visibility</p:attrName>
                                        </p:attrNameLst>
                                      </p:cBhvr>
                                      <p:to>
                                        <p:strVal val="visible"/>
                                      </p:to>
                                    </p:set>
                                    <p:anim calcmode="lin" valueType="num">
                                      <p:cBhvr additive="base">
                                        <p:cTn id="16" dur="500" fill="hold"/>
                                        <p:tgtEl>
                                          <p:spTgt spid="239619">
                                            <p:txEl>
                                              <p:char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39619">
                                            <p:txEl>
                                              <p:charRg st="1" end="1"/>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1" end="1"/>
                                            </p:txEl>
                                          </p:spTgt>
                                        </p:tgtEl>
                                        <p:attrNameLst>
                                          <p:attrName>ppt_c</p:attrName>
                                        </p:attrNameLst>
                                      </p:cBhvr>
                                      <p:to>
                                        <a:schemeClr val="bg2"/>
                                      </p:to>
                                    </p:animClr>
                                  </p:subTnLst>
                                </p:cTn>
                              </p:par>
                              <p:par>
                                <p:cTn id="18" presetID="2" presetClass="entr" presetSubtype="1" fill="hold" grpId="0" nodeType="withEffect">
                                  <p:stCondLst>
                                    <p:cond delay="0"/>
                                  </p:stCondLst>
                                  <p:childTnLst>
                                    <p:set>
                                      <p:cBhvr>
                                        <p:cTn id="19" dur="1" fill="hold">
                                          <p:stCondLst>
                                            <p:cond delay="0"/>
                                          </p:stCondLst>
                                        </p:cTn>
                                        <p:tgtEl>
                                          <p:spTgt spid="239619">
                                            <p:txEl>
                                              <p:charRg st="2" end="2"/>
                                            </p:txEl>
                                          </p:spTgt>
                                        </p:tgtEl>
                                        <p:attrNameLst>
                                          <p:attrName>style.visibility</p:attrName>
                                        </p:attrNameLst>
                                      </p:cBhvr>
                                      <p:to>
                                        <p:strVal val="visible"/>
                                      </p:to>
                                    </p:set>
                                    <p:anim calcmode="lin" valueType="num">
                                      <p:cBhvr additive="base">
                                        <p:cTn id="20" dur="500" fill="hold"/>
                                        <p:tgtEl>
                                          <p:spTgt spid="239619">
                                            <p:txEl>
                                              <p:char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39619">
                                            <p:txEl>
                                              <p:charRg st="2" end="2"/>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8194" name="Rectangle 2"/>
          <p:cNvSpPr>
            <a:spLocks noGrp="1"/>
          </p:cNvSpPr>
          <p:nvPr>
            <p:ph type="title"/>
          </p:nvPr>
        </p:nvSpPr>
        <p:spPr/>
        <p:txBody>
          <a:bodyPr vert="horz" wrap="square" lIns="91440" tIns="45720" rIns="91440" bIns="45720" anchor="ctr" anchorCtr="0"/>
          <a:p>
            <a:pPr eaLnBrk="1" hangingPunct="1"/>
            <a:r>
              <a:rPr lang="en-US" altLang="zh-CN" dirty="0">
                <a:sym typeface="+mn-ea"/>
              </a:rPr>
              <a:t>2.1 </a:t>
            </a:r>
            <a:r>
              <a:rPr lang="zh-CN" altLang="en-US" dirty="0">
                <a:sym typeface="+mn-ea"/>
              </a:rPr>
              <a:t>引言</a:t>
            </a:r>
            <a:endParaRPr lang="en-US" altLang="zh-CN" dirty="0"/>
          </a:p>
        </p:txBody>
      </p:sp>
      <p:sp>
        <p:nvSpPr>
          <p:cNvPr id="8195" name="Rectangle 3"/>
          <p:cNvSpPr>
            <a:spLocks noGrp="1"/>
          </p:cNvSpPr>
          <p:nvPr>
            <p:ph idx="1"/>
          </p:nvPr>
        </p:nvSpPr>
        <p:spPr/>
        <p:txBody>
          <a:bodyPr vert="horz" wrap="square" lIns="91440" tIns="45720" rIns="91440" bIns="45720" anchor="t" anchorCtr="0"/>
          <a:p>
            <a:pPr marL="476250" indent="-476250" eaLnBrk="1" hangingPunct="1"/>
            <a:r>
              <a:rPr lang="zh-CN" altLang="zh-CN" dirty="0"/>
              <a:t>递归最简单的</a:t>
            </a:r>
            <a:r>
              <a:rPr lang="zh-CN" altLang="en-US" dirty="0"/>
              <a:t>描述是将一个问题</a:t>
            </a:r>
            <a:r>
              <a:rPr lang="zh-CN" altLang="zh-CN" dirty="0"/>
              <a:t>分割成一个或多个的子问题，这</a:t>
            </a:r>
            <a:r>
              <a:rPr lang="zh-CN" altLang="en-US" dirty="0"/>
              <a:t>些子问题与原问题具有</a:t>
            </a:r>
            <a:r>
              <a:rPr lang="zh-CN" altLang="zh-CN" dirty="0"/>
              <a:t>相同的结构，然后组合这些子问题的解决方案，以获得原来的问题的解决方案</a:t>
            </a:r>
            <a:r>
              <a:rPr lang="zh-CN" altLang="en-US" dirty="0"/>
              <a:t>的过程。</a:t>
            </a:r>
            <a:endParaRPr lang="en-US" altLang="zh-CN" dirty="0"/>
          </a:p>
          <a:p>
            <a:pPr marL="476250" indent="-476250" eaLnBrk="1" hangingPunct="1"/>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圆角矩形 13"/>
          <p:cNvSpPr/>
          <p:nvPr/>
        </p:nvSpPr>
        <p:spPr>
          <a:xfrm>
            <a:off x="2000250" y="2428875"/>
            <a:ext cx="4071938" cy="14287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314" name="标题 1"/>
          <p:cNvSpPr>
            <a:spLocks noGrp="1"/>
          </p:cNvSpPr>
          <p:nvPr>
            <p:ph type="title"/>
          </p:nvPr>
        </p:nvSpPr>
        <p:spPr/>
        <p:txBody>
          <a:bodyPr vert="horz" wrap="square" lIns="91440" tIns="45720" rIns="91440" bIns="45720" anchor="ctr" anchorCtr="0"/>
          <a:p>
            <a:r>
              <a:rPr lang="zh-CN" altLang="en-US" dirty="0"/>
              <a:t>例</a:t>
            </a:r>
            <a:r>
              <a:rPr lang="en-US" altLang="zh-CN" dirty="0"/>
              <a:t>1  </a:t>
            </a:r>
            <a:r>
              <a:rPr lang="zh-CN" altLang="en-US" dirty="0"/>
              <a:t>阶乘函数</a:t>
            </a:r>
            <a:endParaRPr lang="zh-CN" altLang="en-US" dirty="0"/>
          </a:p>
        </p:txBody>
      </p:sp>
      <p:sp>
        <p:nvSpPr>
          <p:cNvPr id="13315" name="内容占位符 2"/>
          <p:cNvSpPr>
            <a:spLocks noGrp="1"/>
          </p:cNvSpPr>
          <p:nvPr>
            <p:ph idx="1"/>
          </p:nvPr>
        </p:nvSpPr>
        <p:spPr/>
        <p:txBody>
          <a:bodyPr vert="horz" wrap="square" lIns="91440" tIns="45720" rIns="91440" bIns="45720" anchor="t" anchorCtr="0"/>
          <a:p>
            <a:pPr>
              <a:spcBef>
                <a:spcPct val="50000"/>
              </a:spcBef>
            </a:pPr>
            <a:r>
              <a:rPr lang="zh-CN" altLang="en-US" sz="2400" dirty="0"/>
              <a:t>阶乘函数可递归地定义为</a:t>
            </a:r>
            <a:endParaRPr lang="en-US" altLang="zh-CN" sz="2400" dirty="0"/>
          </a:p>
          <a:p>
            <a:pPr>
              <a:spcBef>
                <a:spcPct val="50000"/>
              </a:spcBef>
            </a:pPr>
            <a:endParaRPr lang="en-US" altLang="zh-CN" sz="2400" b="1" dirty="0">
              <a:solidFill>
                <a:schemeClr val="bg1"/>
              </a:solidFill>
              <a:latin typeface="楷体_GB2312" pitchFamily="49" charset="-122"/>
              <a:ea typeface="楷体_GB2312" pitchFamily="49" charset="-122"/>
            </a:endParaRPr>
          </a:p>
          <a:p>
            <a:pPr>
              <a:spcBef>
                <a:spcPct val="50000"/>
              </a:spcBef>
            </a:pPr>
            <a:endParaRPr lang="en-US" altLang="zh-CN" sz="2400" b="1" dirty="0">
              <a:solidFill>
                <a:schemeClr val="bg1"/>
              </a:solidFill>
              <a:latin typeface="楷体_GB2312" pitchFamily="49" charset="-122"/>
              <a:ea typeface="楷体_GB2312" pitchFamily="49" charset="-122"/>
            </a:endParaRPr>
          </a:p>
          <a:p>
            <a:pPr>
              <a:spcBef>
                <a:spcPct val="50000"/>
              </a:spcBef>
            </a:pPr>
            <a:endParaRPr lang="en-US" altLang="zh-CN" sz="2400" b="1" dirty="0">
              <a:solidFill>
                <a:schemeClr val="bg1"/>
              </a:solidFill>
              <a:latin typeface="楷体_GB2312" pitchFamily="49" charset="-122"/>
              <a:ea typeface="楷体_GB2312" pitchFamily="49" charset="-122"/>
            </a:endParaRPr>
          </a:p>
          <a:p>
            <a:pPr>
              <a:spcBef>
                <a:spcPct val="50000"/>
              </a:spcBef>
              <a:buNone/>
            </a:pPr>
            <a:endParaRPr lang="en-US" altLang="zh-CN" sz="2400" b="1" dirty="0">
              <a:solidFill>
                <a:schemeClr val="bg1"/>
              </a:solidFill>
              <a:latin typeface="楷体_GB2312" pitchFamily="49" charset="-122"/>
              <a:ea typeface="楷体_GB2312" pitchFamily="49" charset="-122"/>
            </a:endParaRPr>
          </a:p>
          <a:p>
            <a:pPr>
              <a:spcBef>
                <a:spcPct val="50000"/>
              </a:spcBef>
            </a:pPr>
            <a:r>
              <a:rPr lang="zh-CN" altLang="en-US" sz="2400" dirty="0"/>
              <a:t>    </a:t>
            </a:r>
            <a:r>
              <a:rPr lang="zh-CN" altLang="en-US" sz="2400" dirty="0">
                <a:solidFill>
                  <a:srgbClr val="FF0000"/>
                </a:solidFill>
              </a:rPr>
              <a:t>边界条件</a:t>
            </a:r>
            <a:r>
              <a:rPr lang="zh-CN" altLang="en-US" sz="2400" dirty="0"/>
              <a:t>与</a:t>
            </a:r>
            <a:r>
              <a:rPr lang="zh-CN" altLang="en-US" sz="2400" dirty="0">
                <a:solidFill>
                  <a:srgbClr val="FF0000"/>
                </a:solidFill>
              </a:rPr>
              <a:t>递归方程</a:t>
            </a:r>
            <a:r>
              <a:rPr lang="zh-CN" altLang="en-US" sz="2400" dirty="0"/>
              <a:t>是递归函数的二个要素，递归函数只有具备了这两个要素，才能在有限次计算后得出结果。</a:t>
            </a:r>
            <a:endParaRPr lang="zh-CN" altLang="en-US" sz="2400" dirty="0"/>
          </a:p>
          <a:p>
            <a:pPr>
              <a:spcBef>
                <a:spcPct val="50000"/>
              </a:spcBef>
              <a:buNone/>
            </a:pPr>
            <a:endParaRPr lang="zh-CN" altLang="en-US" dirty="0"/>
          </a:p>
        </p:txBody>
      </p:sp>
      <p:sp>
        <p:nvSpPr>
          <p:cNvPr id="13316"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graphicFrame>
        <p:nvGraphicFramePr>
          <p:cNvPr id="13317" name="Object 3"/>
          <p:cNvGraphicFramePr>
            <a:graphicFrameLocks noChangeAspect="1"/>
          </p:cNvGraphicFramePr>
          <p:nvPr/>
        </p:nvGraphicFramePr>
        <p:xfrm>
          <a:off x="2247900" y="2500313"/>
          <a:ext cx="3317875" cy="1204912"/>
        </p:xfrm>
        <a:graphic>
          <a:graphicData uri="http://schemas.openxmlformats.org/presentationml/2006/ole">
            <mc:AlternateContent xmlns:mc="http://schemas.openxmlformats.org/markup-compatibility/2006">
              <mc:Choice xmlns:v="urn:schemas-microsoft-com:vml" Requires="v">
                <p:oleObj spid="_x0000_s3076" name="" r:id="rId1" imgW="931545" imgH="323850" progId="Equation.3">
                  <p:embed/>
                </p:oleObj>
              </mc:Choice>
              <mc:Fallback>
                <p:oleObj name="" r:id="rId1" imgW="931545" imgH="323850" progId="Equation.3">
                  <p:embed/>
                  <p:pic>
                    <p:nvPicPr>
                      <p:cNvPr id="0" name="图片 3075"/>
                      <p:cNvPicPr/>
                      <p:nvPr/>
                    </p:nvPicPr>
                    <p:blipFill>
                      <a:blip r:embed="rId2">
                        <a:clrChange>
                          <a:clrFrom>
                            <a:srgbClr val="000000"/>
                          </a:clrFrom>
                          <a:clrTo>
                            <a:srgbClr val="FFFFFF"/>
                          </a:clrTo>
                        </a:clrChange>
                      </a:blip>
                      <a:stretch>
                        <a:fillRect/>
                      </a:stretch>
                    </p:blipFill>
                    <p:spPr>
                      <a:xfrm>
                        <a:off x="2247900" y="2500313"/>
                        <a:ext cx="3317875" cy="1204912"/>
                      </a:xfrm>
                      <a:prstGeom prst="rect">
                        <a:avLst/>
                      </a:prstGeom>
                      <a:noFill/>
                      <a:ln w="38100">
                        <a:noFill/>
                        <a:miter/>
                      </a:ln>
                    </p:spPr>
                  </p:pic>
                </p:oleObj>
              </mc:Fallback>
            </mc:AlternateContent>
          </a:graphicData>
        </a:graphic>
      </p:graphicFrame>
      <p:sp>
        <p:nvSpPr>
          <p:cNvPr id="11" name="AutoShape 19"/>
          <p:cNvSpPr/>
          <p:nvPr/>
        </p:nvSpPr>
        <p:spPr>
          <a:xfrm>
            <a:off x="5805488" y="1582738"/>
            <a:ext cx="1865312" cy="865187"/>
          </a:xfrm>
          <a:prstGeom prst="wedgeRoundRectCallout">
            <a:avLst>
              <a:gd name="adj1" fmla="val -50000"/>
              <a:gd name="adj2" fmla="val 98991"/>
              <a:gd name="adj3" fmla="val 16667"/>
            </a:avLst>
          </a:prstGeom>
          <a:solidFill>
            <a:schemeClr val="bg1"/>
          </a:solidFill>
          <a:ln w="28575" cap="flat" cmpd="sng">
            <a:solidFill>
              <a:srgbClr val="F8FC62"/>
            </a:solidFill>
            <a:prstDash val="solid"/>
            <a:miter/>
            <a:headEnd type="none" w="med" len="med"/>
            <a:tailEnd type="none" w="med" len="med"/>
          </a:ln>
        </p:spPr>
        <p:txBody>
          <a:bodyPr anchor="ctr" anchorCtr="0"/>
          <a:p>
            <a:pPr indent="0" algn="ctr"/>
            <a:r>
              <a:rPr lang="zh-CN" altLang="en-US" sz="1800" b="1" dirty="0">
                <a:solidFill>
                  <a:srgbClr val="111111"/>
                </a:solidFill>
                <a:latin typeface="Arial" panose="020B0604020202020204" pitchFamily="34" charset="0"/>
                <a:ea typeface="华文楷体" panose="02010600040101010101" pitchFamily="2" charset="-122"/>
              </a:rPr>
              <a:t>边界条件</a:t>
            </a:r>
            <a:endParaRPr lang="zh-CN" altLang="en-US" sz="1800" b="1" dirty="0">
              <a:solidFill>
                <a:srgbClr val="111111"/>
              </a:solidFill>
              <a:latin typeface="Arial" panose="020B0604020202020204" pitchFamily="34" charset="0"/>
              <a:ea typeface="华文楷体" panose="02010600040101010101" pitchFamily="2" charset="-122"/>
            </a:endParaRPr>
          </a:p>
        </p:txBody>
      </p:sp>
      <p:sp>
        <p:nvSpPr>
          <p:cNvPr id="12" name="AutoShape 20"/>
          <p:cNvSpPr/>
          <p:nvPr/>
        </p:nvSpPr>
        <p:spPr>
          <a:xfrm>
            <a:off x="6215063" y="2928938"/>
            <a:ext cx="1768475" cy="792162"/>
          </a:xfrm>
          <a:prstGeom prst="wedgeRoundRectCallout">
            <a:avLst>
              <a:gd name="adj1" fmla="val -50000"/>
              <a:gd name="adj2" fmla="val 20569"/>
              <a:gd name="adj3" fmla="val 16667"/>
            </a:avLst>
          </a:prstGeom>
          <a:solidFill>
            <a:schemeClr val="bg1"/>
          </a:solidFill>
          <a:ln w="28575" cap="flat" cmpd="sng">
            <a:solidFill>
              <a:srgbClr val="F8FC62"/>
            </a:solidFill>
            <a:prstDash val="solid"/>
            <a:miter/>
            <a:headEnd type="none" w="med" len="med"/>
            <a:tailEnd type="none" w="med" len="med"/>
          </a:ln>
        </p:spPr>
        <p:txBody>
          <a:bodyPr anchor="ctr" anchorCtr="0"/>
          <a:p>
            <a:pPr indent="0" algn="ctr"/>
            <a:r>
              <a:rPr lang="zh-CN" altLang="en-US" sz="1800" b="1" dirty="0">
                <a:solidFill>
                  <a:srgbClr val="111111"/>
                </a:solidFill>
                <a:latin typeface="Arial" panose="020B0604020202020204" pitchFamily="34" charset="0"/>
                <a:ea typeface="华文楷体" panose="02010600040101010101" pitchFamily="2" charset="-122"/>
              </a:rPr>
              <a:t>递归方程</a:t>
            </a:r>
            <a:endParaRPr lang="zh-CN" altLang="en-US" sz="1800" b="1" dirty="0">
              <a:solidFill>
                <a:srgbClr val="111111"/>
              </a:solidFill>
              <a:latin typeface="Arial" panose="020B0604020202020204" pitchFamily="34"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圆角矩形 7"/>
          <p:cNvSpPr/>
          <p:nvPr/>
        </p:nvSpPr>
        <p:spPr>
          <a:xfrm>
            <a:off x="1214438" y="2571750"/>
            <a:ext cx="5857875" cy="2428875"/>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338" name="标题 1"/>
          <p:cNvSpPr>
            <a:spLocks noGrp="1"/>
          </p:cNvSpPr>
          <p:nvPr>
            <p:ph type="title"/>
          </p:nvPr>
        </p:nvSpPr>
        <p:spPr/>
        <p:txBody>
          <a:bodyPr vert="horz" wrap="square" lIns="91440" tIns="45720" rIns="91440" bIns="45720" anchor="ctr" anchorCtr="0"/>
          <a:p>
            <a:r>
              <a:rPr lang="zh-CN" altLang="en-US" dirty="0"/>
              <a:t>例</a:t>
            </a:r>
            <a:r>
              <a:rPr lang="en-US" altLang="zh-CN" dirty="0"/>
              <a:t>2  Fibonacci</a:t>
            </a:r>
            <a:r>
              <a:rPr lang="zh-CN" altLang="en-US" dirty="0"/>
              <a:t>数列</a:t>
            </a:r>
            <a:endParaRPr lang="zh-CN" altLang="en-US" dirty="0"/>
          </a:p>
        </p:txBody>
      </p:sp>
      <p:sp>
        <p:nvSpPr>
          <p:cNvPr id="14339" name="内容占位符 2"/>
          <p:cNvSpPr>
            <a:spLocks noGrp="1"/>
          </p:cNvSpPr>
          <p:nvPr>
            <p:ph idx="1"/>
          </p:nvPr>
        </p:nvSpPr>
        <p:spPr/>
        <p:txBody>
          <a:bodyPr vert="horz" wrap="square" lIns="91440" tIns="45720" rIns="91440" bIns="45720" anchor="t" anchorCtr="0"/>
          <a:p>
            <a:r>
              <a:rPr lang="zh-CN" altLang="zh-CN" sz="2400" dirty="0"/>
              <a:t>无穷数列1，1，2，3，5，8，13，21，34，55，…，被称为Fibonacci数列。它可以递归地定义为：</a:t>
            </a:r>
            <a:endParaRPr lang="zh-CN" altLang="en-US" sz="2400" dirty="0"/>
          </a:p>
          <a:p>
            <a:endParaRPr lang="zh-CN" altLang="en-US" dirty="0"/>
          </a:p>
        </p:txBody>
      </p:sp>
      <p:sp>
        <p:nvSpPr>
          <p:cNvPr id="14340"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graphicFrame>
        <p:nvGraphicFramePr>
          <p:cNvPr id="14341" name="Object 2"/>
          <p:cNvGraphicFramePr>
            <a:graphicFrameLocks noChangeAspect="1"/>
          </p:cNvGraphicFramePr>
          <p:nvPr/>
        </p:nvGraphicFramePr>
        <p:xfrm>
          <a:off x="1285875" y="2857500"/>
          <a:ext cx="5302250" cy="1751013"/>
        </p:xfrm>
        <a:graphic>
          <a:graphicData uri="http://schemas.openxmlformats.org/presentationml/2006/ole">
            <mc:AlternateContent xmlns:mc="http://schemas.openxmlformats.org/markup-compatibility/2006">
              <mc:Choice xmlns:v="urn:schemas-microsoft-com:vml" Requires="v">
                <p:oleObj spid="_x0000_s3077" name="" r:id="rId1" imgW="1614805" imgH="514985" progId="Equation.3">
                  <p:embed/>
                </p:oleObj>
              </mc:Choice>
              <mc:Fallback>
                <p:oleObj name="" r:id="rId1" imgW="1614805" imgH="514985" progId="Equation.3">
                  <p:embed/>
                  <p:pic>
                    <p:nvPicPr>
                      <p:cNvPr id="0" name="图片 3076"/>
                      <p:cNvPicPr/>
                      <p:nvPr/>
                    </p:nvPicPr>
                    <p:blipFill>
                      <a:blip r:embed="rId2">
                        <a:clrChange>
                          <a:clrFrom>
                            <a:srgbClr val="000000"/>
                          </a:clrFrom>
                          <a:clrTo>
                            <a:srgbClr val="FFFFFF"/>
                          </a:clrTo>
                        </a:clrChange>
                      </a:blip>
                      <a:stretch>
                        <a:fillRect/>
                      </a:stretch>
                    </p:blipFill>
                    <p:spPr>
                      <a:xfrm>
                        <a:off x="1285875" y="2857500"/>
                        <a:ext cx="5302250" cy="1751013"/>
                      </a:xfrm>
                      <a:prstGeom prst="rect">
                        <a:avLst/>
                      </a:prstGeom>
                      <a:noFill/>
                      <a:ln w="38100">
                        <a:noFill/>
                        <a:miter/>
                      </a:ln>
                    </p:spPr>
                  </p:pic>
                </p:oleObj>
              </mc:Fallback>
            </mc:AlternateContent>
          </a:graphicData>
        </a:graphic>
      </p:graphicFrame>
      <p:sp>
        <p:nvSpPr>
          <p:cNvPr id="6" name="AutoShape 19"/>
          <p:cNvSpPr/>
          <p:nvPr/>
        </p:nvSpPr>
        <p:spPr>
          <a:xfrm>
            <a:off x="6643688" y="2786063"/>
            <a:ext cx="1865312" cy="865187"/>
          </a:xfrm>
          <a:prstGeom prst="wedgeRoundRectCallout">
            <a:avLst>
              <a:gd name="adj1" fmla="val -50000"/>
              <a:gd name="adj2" fmla="val 19727"/>
              <a:gd name="adj3" fmla="val 16667"/>
            </a:avLst>
          </a:prstGeom>
          <a:solidFill>
            <a:schemeClr val="bg1"/>
          </a:solidFill>
          <a:ln w="28575" cap="flat" cmpd="sng">
            <a:solidFill>
              <a:srgbClr val="F8FC62"/>
            </a:solidFill>
            <a:prstDash val="solid"/>
            <a:miter/>
            <a:headEnd type="none" w="med" len="med"/>
            <a:tailEnd type="none" w="med" len="med"/>
          </a:ln>
        </p:spPr>
        <p:txBody>
          <a:bodyPr anchor="ctr" anchorCtr="0"/>
          <a:p>
            <a:pPr indent="0" algn="ctr"/>
            <a:r>
              <a:rPr lang="zh-CN" altLang="en-US" sz="1800" b="1" dirty="0">
                <a:solidFill>
                  <a:srgbClr val="111111"/>
                </a:solidFill>
                <a:latin typeface="Arial" panose="020B0604020202020204" pitchFamily="34" charset="0"/>
                <a:ea typeface="楷体_GB2312" pitchFamily="49" charset="-122"/>
              </a:rPr>
              <a:t>边界条件</a:t>
            </a:r>
            <a:endParaRPr lang="zh-CN" altLang="en-US" sz="1800" b="1" dirty="0">
              <a:solidFill>
                <a:srgbClr val="111111"/>
              </a:solidFill>
              <a:latin typeface="Arial" panose="020B0604020202020204" pitchFamily="34" charset="0"/>
              <a:ea typeface="楷体_GB2312" pitchFamily="49" charset="-122"/>
            </a:endParaRPr>
          </a:p>
        </p:txBody>
      </p:sp>
      <p:sp>
        <p:nvSpPr>
          <p:cNvPr id="7" name="AutoShape 22"/>
          <p:cNvSpPr/>
          <p:nvPr/>
        </p:nvSpPr>
        <p:spPr>
          <a:xfrm>
            <a:off x="6572250" y="4643438"/>
            <a:ext cx="1768475" cy="792162"/>
          </a:xfrm>
          <a:prstGeom prst="wedgeRoundRectCallout">
            <a:avLst>
              <a:gd name="adj1" fmla="val -50000"/>
              <a:gd name="adj2" fmla="val -50000"/>
              <a:gd name="adj3" fmla="val 16667"/>
            </a:avLst>
          </a:prstGeom>
          <a:solidFill>
            <a:schemeClr val="bg1"/>
          </a:solidFill>
          <a:ln w="28575" cap="flat" cmpd="sng">
            <a:solidFill>
              <a:srgbClr val="F8FC62"/>
            </a:solidFill>
            <a:prstDash val="solid"/>
            <a:miter/>
            <a:headEnd type="none" w="med" len="med"/>
            <a:tailEnd type="none" w="med" len="med"/>
          </a:ln>
        </p:spPr>
        <p:txBody>
          <a:bodyPr anchor="ctr" anchorCtr="0"/>
          <a:p>
            <a:pPr indent="0" algn="ctr"/>
            <a:r>
              <a:rPr lang="zh-CN" altLang="en-US" sz="1800" b="1" dirty="0">
                <a:solidFill>
                  <a:srgbClr val="111111"/>
                </a:solidFill>
                <a:latin typeface="Arial" panose="020B0604020202020204" pitchFamily="34" charset="0"/>
                <a:ea typeface="楷体_GB2312" pitchFamily="49" charset="-122"/>
              </a:rPr>
              <a:t>递归方程</a:t>
            </a:r>
            <a:endParaRPr lang="zh-CN" altLang="en-US" sz="1800" b="1" dirty="0">
              <a:solidFill>
                <a:srgbClr val="111111"/>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p:txBody>
          <a:bodyPr vert="horz" wrap="square" lIns="91440" tIns="45720" rIns="91440" bIns="45720" anchor="ctr" anchorCtr="0"/>
          <a:p>
            <a:r>
              <a:rPr lang="en-US" altLang="zh-CN" dirty="0"/>
              <a:t>Fibonacci</a:t>
            </a:r>
            <a:r>
              <a:rPr lang="zh-CN" altLang="en-US" dirty="0"/>
              <a:t>数列递归算法</a:t>
            </a:r>
            <a:endParaRPr lang="zh-CN" altLang="en-US" dirty="0"/>
          </a:p>
        </p:txBody>
      </p:sp>
      <p:sp>
        <p:nvSpPr>
          <p:cNvPr id="15362" name="内容占位符 2"/>
          <p:cNvSpPr>
            <a:spLocks noGrp="1"/>
          </p:cNvSpPr>
          <p:nvPr>
            <p:ph idx="1"/>
          </p:nvPr>
        </p:nvSpPr>
        <p:spPr/>
        <p:txBody>
          <a:bodyPr vert="horz" wrap="square" lIns="91440" tIns="45720" rIns="91440" bIns="45720" anchor="t" anchorCtr="0"/>
          <a:p>
            <a:pPr>
              <a:spcBef>
                <a:spcPct val="50000"/>
              </a:spcBef>
              <a:buNone/>
            </a:pPr>
            <a:r>
              <a:rPr lang="zh-CN" altLang="en-US" sz="2400" dirty="0"/>
              <a:t>第</a:t>
            </a:r>
            <a:r>
              <a:rPr lang="en-US" altLang="zh-CN" sz="2400" dirty="0"/>
              <a:t>n</a:t>
            </a:r>
            <a:r>
              <a:rPr lang="zh-CN" altLang="en-US" sz="2400" dirty="0"/>
              <a:t>个</a:t>
            </a:r>
            <a:r>
              <a:rPr lang="en-US" altLang="zh-CN" sz="2400" dirty="0"/>
              <a:t>Fibonacci</a:t>
            </a:r>
            <a:r>
              <a:rPr lang="zh-CN" altLang="en-US" sz="2400" dirty="0"/>
              <a:t>数可递归地计算如下：</a:t>
            </a:r>
            <a:endParaRPr lang="zh-CN" altLang="en-US" sz="2400" dirty="0"/>
          </a:p>
          <a:p>
            <a:pPr>
              <a:spcBef>
                <a:spcPct val="50000"/>
              </a:spcBef>
              <a:buNone/>
            </a:pPr>
            <a:r>
              <a:rPr lang="zh-CN" altLang="en-US" sz="2400" dirty="0"/>
              <a:t>  </a:t>
            </a:r>
            <a:r>
              <a:rPr lang="en-US" altLang="zh-CN" sz="2400" dirty="0"/>
              <a:t>int fibonacci(int n)</a:t>
            </a:r>
            <a:endParaRPr lang="en-US" altLang="zh-CN" sz="2400" dirty="0"/>
          </a:p>
          <a:p>
            <a:pPr>
              <a:spcBef>
                <a:spcPct val="50000"/>
              </a:spcBef>
              <a:buNone/>
            </a:pPr>
            <a:r>
              <a:rPr lang="en-US" altLang="zh-CN" sz="2400" dirty="0"/>
              <a:t>   {</a:t>
            </a:r>
            <a:endParaRPr lang="en-US" altLang="zh-CN" sz="2400" dirty="0"/>
          </a:p>
          <a:p>
            <a:pPr>
              <a:spcBef>
                <a:spcPct val="50000"/>
              </a:spcBef>
              <a:buNone/>
            </a:pPr>
            <a:r>
              <a:rPr lang="en-US" altLang="zh-CN" sz="2400" dirty="0"/>
              <a:t>       if (n &lt;= 1) return 1;</a:t>
            </a:r>
            <a:endParaRPr lang="en-US" altLang="zh-CN" sz="2400" dirty="0"/>
          </a:p>
          <a:p>
            <a:pPr>
              <a:spcBef>
                <a:spcPct val="50000"/>
              </a:spcBef>
              <a:buNone/>
            </a:pPr>
            <a:r>
              <a:rPr lang="en-US" altLang="zh-CN" sz="2400" dirty="0"/>
              <a:t>       return fibonacci(n-1)+fibonacci(n-2);</a:t>
            </a:r>
            <a:endParaRPr lang="en-US" altLang="zh-CN" sz="2400" dirty="0"/>
          </a:p>
          <a:p>
            <a:pPr>
              <a:spcBef>
                <a:spcPct val="50000"/>
              </a:spcBef>
              <a:buNone/>
            </a:pPr>
            <a:r>
              <a:rPr lang="en-US" altLang="zh-CN" sz="2400" dirty="0"/>
              <a:t>   }</a:t>
            </a:r>
            <a:endParaRPr lang="en-US" altLang="zh-CN" sz="2400" dirty="0"/>
          </a:p>
          <a:p>
            <a:endParaRPr lang="zh-CN" altLang="en-US" dirty="0"/>
          </a:p>
        </p:txBody>
      </p:sp>
      <p:sp>
        <p:nvSpPr>
          <p:cNvPr id="15363"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6386" name="Rectangle 2"/>
          <p:cNvSpPr>
            <a:spLocks noGrp="1"/>
          </p:cNvSpPr>
          <p:nvPr>
            <p:ph type="title"/>
          </p:nvPr>
        </p:nvSpPr>
        <p:spPr/>
        <p:txBody>
          <a:bodyPr vert="horz" wrap="square" lIns="91440" tIns="45720" rIns="91440" bIns="45720" anchor="ctr" anchorCtr="0"/>
          <a:p>
            <a:pPr eaLnBrk="1" hangingPunct="1"/>
            <a:r>
              <a:rPr lang="en-US" altLang="zh-CN" dirty="0">
                <a:latin typeface="+mj-ea"/>
                <a:cs typeface="+mj-ea"/>
              </a:rPr>
              <a:t>2.1.1 </a:t>
            </a:r>
            <a:r>
              <a:rPr lang="en-US" altLang="zh-CN" dirty="0" smtClean="0">
                <a:latin typeface="+mj-ea"/>
                <a:cs typeface="+mj-ea"/>
                <a:sym typeface="+mn-ea"/>
              </a:rPr>
              <a:t>简单问题例的算法描述</a:t>
            </a:r>
            <a:endParaRPr lang="en-US" altLang="zh-CN" dirty="0">
              <a:latin typeface="+mj-ea"/>
              <a:cs typeface="+mj-ea"/>
            </a:endParaRPr>
          </a:p>
        </p:txBody>
      </p:sp>
      <p:sp>
        <p:nvSpPr>
          <p:cNvPr id="242691" name="Rectangle 3"/>
          <p:cNvSpPr>
            <a:spLocks noGrp="1"/>
          </p:cNvSpPr>
          <p:nvPr>
            <p:ph idx="1"/>
          </p:nvPr>
        </p:nvSpPr>
        <p:spPr/>
        <p:txBody>
          <a:bodyPr vert="horz" wrap="square" lIns="91440" tIns="45720" rIns="91440" bIns="45720" anchor="t" anchorCtr="0"/>
          <a:p>
            <a:pPr eaLnBrk="1" hangingPunct="1"/>
            <a:r>
              <a:rPr lang="zh-CN" altLang="en-US" sz="2800" dirty="0"/>
              <a:t>先用两个简单的例子来展示</a:t>
            </a:r>
            <a:r>
              <a:rPr lang="zh-CN" altLang="en-US" sz="2800" dirty="0">
                <a:solidFill>
                  <a:srgbClr val="FF0000"/>
                </a:solidFill>
              </a:rPr>
              <a:t>归纳法技术的本质</a:t>
            </a:r>
            <a:r>
              <a:rPr lang="zh-CN" altLang="en-US" sz="2800" dirty="0"/>
              <a:t>。</a:t>
            </a:r>
            <a:endParaRPr lang="zh-CN" altLang="en-US" sz="2800" dirty="0"/>
          </a:p>
          <a:p>
            <a:pPr eaLnBrk="1" hangingPunct="1"/>
            <a:endParaRPr lang="en-US" altLang="zh-CN" sz="2800" dirty="0"/>
          </a:p>
          <a:p>
            <a:pPr eaLnBrk="1" hangingPunct="1"/>
            <a:endParaRPr lang="en-US" altLang="zh-CN" sz="2800" dirty="0"/>
          </a:p>
          <a:p>
            <a:pPr lvl="1" eaLnBrk="1" hangingPunct="1"/>
            <a:r>
              <a:rPr lang="en-US" altLang="zh-CN" sz="2400" dirty="0"/>
              <a:t>Selection sort</a:t>
            </a:r>
            <a:r>
              <a:rPr lang="zh-CN" altLang="en-US" sz="2400" dirty="0"/>
              <a:t>（选择排序）</a:t>
            </a:r>
            <a:endParaRPr lang="en-US" altLang="zh-CN" sz="2400" dirty="0"/>
          </a:p>
          <a:p>
            <a:pPr lvl="1" eaLnBrk="1" hangingPunct="1"/>
            <a:endParaRPr lang="en-US" altLang="zh-CN" sz="2400" dirty="0"/>
          </a:p>
          <a:p>
            <a:pPr lvl="1" eaLnBrk="1" hangingPunct="1"/>
            <a:r>
              <a:rPr lang="en-US" altLang="zh-CN" sz="2400" dirty="0"/>
              <a:t>Insertion sort</a:t>
            </a:r>
            <a:r>
              <a:rPr lang="zh-CN" altLang="en-US" sz="2400" dirty="0"/>
              <a:t>（插入排序）</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2691">
                                            <p:txEl>
                                              <p:charRg st="0" end="22"/>
                                            </p:txEl>
                                          </p:spTgt>
                                        </p:tgtEl>
                                        <p:attrNameLst>
                                          <p:attrName>style.visibility</p:attrName>
                                        </p:attrNameLst>
                                      </p:cBhvr>
                                      <p:to>
                                        <p:strVal val="visible"/>
                                      </p:to>
                                    </p:set>
                                    <p:anim calcmode="lin" valueType="num">
                                      <p:cBhvr additive="base">
                                        <p:cTn id="7" dur="500" fill="hold"/>
                                        <p:tgtEl>
                                          <p:spTgt spid="242691">
                                            <p:txEl>
                                              <p:charRg st="0" end="2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2691">
                                            <p:txEl>
                                              <p:charRg st="0" end="2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2691">
                                            <p:txEl>
                                              <p:charRg st="24" end="45"/>
                                            </p:txEl>
                                          </p:spTgt>
                                        </p:tgtEl>
                                        <p:attrNameLst>
                                          <p:attrName>style.visibility</p:attrName>
                                        </p:attrNameLst>
                                      </p:cBhvr>
                                      <p:to>
                                        <p:strVal val="visible"/>
                                      </p:to>
                                    </p:set>
                                    <p:anim calcmode="lin" valueType="num">
                                      <p:cBhvr additive="base">
                                        <p:cTn id="13" dur="500" fill="hold"/>
                                        <p:tgtEl>
                                          <p:spTgt spid="242691">
                                            <p:txEl>
                                              <p:charRg st="24" end="4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2691">
                                            <p:txEl>
                                              <p:charRg st="24" end="4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2691">
                                            <p:txEl>
                                              <p:charRg st="46" end="67"/>
                                            </p:txEl>
                                          </p:spTgt>
                                        </p:tgtEl>
                                        <p:attrNameLst>
                                          <p:attrName>style.visibility</p:attrName>
                                        </p:attrNameLst>
                                      </p:cBhvr>
                                      <p:to>
                                        <p:strVal val="visible"/>
                                      </p:to>
                                    </p:set>
                                    <p:anim calcmode="lin" valueType="num">
                                      <p:cBhvr additive="base">
                                        <p:cTn id="19" dur="500" fill="hold"/>
                                        <p:tgtEl>
                                          <p:spTgt spid="242691">
                                            <p:txEl>
                                              <p:charRg st="46" end="6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2691">
                                            <p:txEl>
                                              <p:charRg st="46" end="6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7410" name="Rectangle 2"/>
          <p:cNvSpPr>
            <a:spLocks noGrp="1"/>
          </p:cNvSpPr>
          <p:nvPr>
            <p:ph type="title"/>
          </p:nvPr>
        </p:nvSpPr>
        <p:spPr/>
        <p:txBody>
          <a:bodyPr vert="horz" wrap="square" lIns="91440" tIns="45720" rIns="91440" bIns="45720" anchor="ctr" anchorCtr="0"/>
          <a:p>
            <a:pPr eaLnBrk="1" hangingPunct="1"/>
            <a:r>
              <a:rPr lang="en-US" altLang="zh-CN" dirty="0"/>
              <a:t>2.1.1 Selection sort</a:t>
            </a:r>
            <a:r>
              <a:rPr lang="zh-CN" altLang="en-US" dirty="0"/>
              <a:t>（选择排序）</a:t>
            </a:r>
            <a:endParaRPr lang="en-US" altLang="zh-CN" dirty="0"/>
          </a:p>
        </p:txBody>
      </p:sp>
      <p:sp>
        <p:nvSpPr>
          <p:cNvPr id="94211"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7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700" b="0" i="0" u="none" strike="noStrike" kern="0" cap="none" spc="0" normalizeH="0" baseline="0" noProof="0" dirty="0">
                <a:ln>
                  <a:noFill/>
                </a:ln>
                <a:solidFill>
                  <a:schemeClr val="tx1"/>
                </a:solidFill>
                <a:effectLst/>
                <a:uLnTx/>
                <a:uFillTx/>
                <a:latin typeface="+mn-lt"/>
                <a:ea typeface="+mn-ea"/>
                <a:cs typeface="+mn-cs"/>
              </a:rPr>
              <a:t>基本思想</a:t>
            </a:r>
            <a:endParaRPr kumimoji="0" lang="en-US" altLang="zh-CN" sz="27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1000" b="0" i="0" u="none" strike="noStrike" kern="0" cap="none" spc="0" normalizeH="0" baseline="0" noProof="0" dirty="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    令</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A[1..n,]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作为算法的输入，由</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归纳法假设</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我们知道如何对后</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个元素排序，即对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A[2..n]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排序。对某个</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j,1</a:t>
            </a:r>
            <a:r>
              <a:rPr kumimoji="0" lang="en-US" altLang="zh-CN" sz="20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j </a:t>
            </a:r>
            <a:r>
              <a:rPr kumimoji="0" lang="en-US" altLang="zh-CN" sz="20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，设</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A[j]</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是最小值。</a:t>
            </a:r>
            <a:endParaRPr kumimoji="0" lang="zh-CN" altLang="en-US"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首先，如果</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j</a:t>
            </a:r>
            <a:r>
              <a:rPr kumimoji="0" lang="en-US" altLang="zh-CN" sz="20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，我们交换</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A[1]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A[j] </a:t>
            </a:r>
            <a:endParaRPr kumimoji="0" lang="zh-CN" altLang="en-US"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然后由归纳法假设，我们已知如何对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A[2..n,]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排序，因此可对在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A[2..n].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中的元素</a:t>
            </a:r>
            <a:r>
              <a:rPr kumimoji="0" lang="zh-CN" altLang="en-US" sz="2000" b="0" i="0" u="none" strike="noStrike" kern="0" cap="none" spc="0" normalizeH="0" baseline="0" noProof="0" dirty="0">
                <a:ln>
                  <a:noFill/>
                </a:ln>
                <a:solidFill>
                  <a:srgbClr val="FF0000"/>
                </a:solidFill>
                <a:effectLst/>
                <a:uLnTx/>
                <a:uFillTx/>
                <a:latin typeface="+mn-lt"/>
                <a:ea typeface="+mn-ea"/>
                <a:cs typeface="+mn-ea"/>
              </a:rPr>
              <a:t>递归</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的排序</a:t>
            </a:r>
            <a:endParaRPr kumimoji="0" lang="zh-CN" altLang="en-US" sz="2000" b="0" i="0" u="none" strike="noStrike" kern="0" cap="none" spc="0" normalizeH="0" baseline="0" noProof="0" dirty="0">
              <a:ln>
                <a:noFill/>
              </a:ln>
              <a:solidFill>
                <a:schemeClr val="accent2"/>
              </a:solidFill>
              <a:effectLst/>
              <a:uLnTx/>
              <a:uFillTx/>
              <a:latin typeface="+mn-lt"/>
              <a:ea typeface="+mn-ea"/>
              <a:cs typeface="+mn-ea"/>
            </a:endParaRPr>
          </a:p>
        </p:txBody>
      </p:sp>
      <p:pic>
        <p:nvPicPr>
          <p:cNvPr id="17412" name="Picture 7" descr="basic idea"/>
          <p:cNvPicPr>
            <a:picLocks noChangeAspect="1"/>
          </p:cNvPicPr>
          <p:nvPr/>
        </p:nvPicPr>
        <p:blipFill>
          <a:blip r:embed="rId1"/>
          <a:stretch>
            <a:fillRect/>
          </a:stretch>
        </p:blipFill>
        <p:spPr>
          <a:xfrm>
            <a:off x="971550" y="1341438"/>
            <a:ext cx="431800" cy="4016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1">
                                            <p:txEl>
                                              <p:charRg st="0" end="7"/>
                                            </p:txEl>
                                          </p:spTgt>
                                        </p:tgtEl>
                                        <p:attrNameLst>
                                          <p:attrName>style.visibility</p:attrName>
                                        </p:attrNameLst>
                                      </p:cBhvr>
                                      <p:to>
                                        <p:strVal val="visible"/>
                                      </p:to>
                                    </p:set>
                                    <p:animEffect transition="in" filter="blinds(horizontal)">
                                      <p:cBhvr>
                                        <p:cTn id="7" dur="500"/>
                                        <p:tgtEl>
                                          <p:spTgt spid="94211">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4211">
                                            <p:txEl>
                                              <p:charRg st="8" end="90"/>
                                            </p:txEl>
                                          </p:spTgt>
                                        </p:tgtEl>
                                        <p:attrNameLst>
                                          <p:attrName>style.visibility</p:attrName>
                                        </p:attrNameLst>
                                      </p:cBhvr>
                                      <p:to>
                                        <p:strVal val="visible"/>
                                      </p:to>
                                    </p:set>
                                    <p:anim calcmode="lin" valueType="num">
                                      <p:cBhvr additive="base">
                                        <p:cTn id="12" dur="500" fill="hold"/>
                                        <p:tgtEl>
                                          <p:spTgt spid="94211">
                                            <p:txEl>
                                              <p:charRg st="8" end="9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4211">
                                            <p:txEl>
                                              <p:charRg st="8" end="9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4211">
                                            <p:txEl>
                                              <p:charRg st="92" end="117"/>
                                            </p:txEl>
                                          </p:spTgt>
                                        </p:tgtEl>
                                        <p:attrNameLst>
                                          <p:attrName>style.visibility</p:attrName>
                                        </p:attrNameLst>
                                      </p:cBhvr>
                                      <p:to>
                                        <p:strVal val="visible"/>
                                      </p:to>
                                    </p:set>
                                    <p:anim calcmode="lin" valueType="num">
                                      <p:cBhvr additive="base">
                                        <p:cTn id="18" dur="500" fill="hold"/>
                                        <p:tgtEl>
                                          <p:spTgt spid="94211">
                                            <p:txEl>
                                              <p:charRg st="92" end="117"/>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94211">
                                            <p:txEl>
                                              <p:charRg st="92" end="117"/>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4211">
                                            <p:txEl>
                                              <p:charRg st="118" end="168"/>
                                            </p:txEl>
                                          </p:spTgt>
                                        </p:tgtEl>
                                        <p:attrNameLst>
                                          <p:attrName>style.visibility</p:attrName>
                                        </p:attrNameLst>
                                      </p:cBhvr>
                                      <p:to>
                                        <p:strVal val="visible"/>
                                      </p:to>
                                    </p:set>
                                    <p:anim calcmode="lin" valueType="num">
                                      <p:cBhvr additive="base">
                                        <p:cTn id="24" dur="500" fill="hold"/>
                                        <p:tgtEl>
                                          <p:spTgt spid="94211">
                                            <p:txEl>
                                              <p:charRg st="118" end="168"/>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94211">
                                            <p:txEl>
                                              <p:charRg st="118" end="16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9458" name="Rectangle 3"/>
          <p:cNvSpPr>
            <a:spLocks noGrp="1"/>
          </p:cNvSpPr>
          <p:nvPr>
            <p:ph idx="1"/>
          </p:nvPr>
        </p:nvSpPr>
        <p:spPr>
          <a:xfrm>
            <a:off x="806450" y="692150"/>
            <a:ext cx="8229600" cy="5151438"/>
          </a:xfrm>
          <a:solidFill>
            <a:schemeClr val="bg1"/>
          </a:solidFill>
        </p:spPr>
        <p:txBody>
          <a:bodyPr vert="horz" wrap="square" lIns="91440" tIns="45720" rIns="91440" bIns="45720" anchor="t" anchorCtr="0"/>
          <a:p>
            <a:pPr eaLnBrk="1" hangingPunct="1">
              <a:buNone/>
            </a:pPr>
            <a:r>
              <a:rPr lang="zh-CN" altLang="en-US" b="1" dirty="0"/>
              <a:t>算法</a:t>
            </a:r>
            <a:r>
              <a:rPr lang="en-US" altLang="zh-CN" b="1" dirty="0"/>
              <a:t> 2.1 SELECTIONSORTREC</a:t>
            </a:r>
            <a:endParaRPr lang="en-US" altLang="zh-CN" b="1" dirty="0"/>
          </a:p>
          <a:p>
            <a:pPr lvl="1" eaLnBrk="1" hangingPunct="1">
              <a:buNone/>
            </a:pPr>
            <a:r>
              <a:rPr lang="zh-CN" altLang="en-US" sz="2000" b="1" dirty="0"/>
              <a:t>输入</a:t>
            </a:r>
            <a:r>
              <a:rPr lang="en-US" altLang="zh-CN" sz="2000" dirty="0"/>
              <a:t>: n</a:t>
            </a:r>
            <a:r>
              <a:rPr lang="zh-CN" altLang="en-US" sz="2000" dirty="0"/>
              <a:t>个元素的数组</a:t>
            </a:r>
            <a:r>
              <a:rPr lang="en-US" altLang="zh-CN" sz="2000" dirty="0"/>
              <a:t>A[</a:t>
            </a:r>
            <a:r>
              <a:rPr lang="en-US" altLang="zh-CN" sz="2000" i="1" dirty="0"/>
              <a:t>1…n</a:t>
            </a:r>
            <a:r>
              <a:rPr lang="en-US" altLang="zh-CN" sz="2000" dirty="0"/>
              <a:t>]</a:t>
            </a:r>
            <a:r>
              <a:rPr lang="zh-CN" altLang="en-US" sz="2000" dirty="0"/>
              <a:t>。</a:t>
            </a:r>
            <a:endParaRPr lang="en-US" altLang="zh-CN" sz="2000" dirty="0"/>
          </a:p>
          <a:p>
            <a:pPr lvl="1" eaLnBrk="1" hangingPunct="1">
              <a:buNone/>
            </a:pPr>
            <a:r>
              <a:rPr lang="zh-CN" altLang="en-US" sz="2000" b="1" dirty="0"/>
              <a:t>输出</a:t>
            </a:r>
            <a:r>
              <a:rPr lang="en-US" altLang="zh-CN" sz="2000" dirty="0"/>
              <a:t>:</a:t>
            </a:r>
            <a:r>
              <a:rPr lang="zh-CN" altLang="en-US" sz="2000" dirty="0"/>
              <a:t>按非降序排列的数组</a:t>
            </a:r>
            <a:r>
              <a:rPr lang="en-US" altLang="zh-CN" sz="2000" dirty="0"/>
              <a:t>A[</a:t>
            </a:r>
            <a:r>
              <a:rPr lang="en-US" altLang="zh-CN" sz="2000" i="1" dirty="0"/>
              <a:t>1…n</a:t>
            </a:r>
            <a:r>
              <a:rPr lang="en-US" altLang="zh-CN" sz="2000" dirty="0"/>
              <a:t>] </a:t>
            </a:r>
            <a:endParaRPr lang="en-US" altLang="zh-CN" sz="2000" dirty="0"/>
          </a:p>
          <a:p>
            <a:pPr lvl="1" eaLnBrk="1" hangingPunct="1">
              <a:buNone/>
            </a:pPr>
            <a:r>
              <a:rPr lang="en-US" altLang="zh-CN" sz="2000" dirty="0"/>
              <a:t>1.sort(1)</a:t>
            </a:r>
            <a:endParaRPr lang="en-US" altLang="zh-CN" sz="2000" dirty="0"/>
          </a:p>
          <a:p>
            <a:pPr lvl="1" eaLnBrk="1" hangingPunct="1">
              <a:buNone/>
            </a:pPr>
            <a:endParaRPr lang="en-US" altLang="zh-CN" sz="500" dirty="0"/>
          </a:p>
          <a:p>
            <a:pPr lvl="1" eaLnBrk="1" hangingPunct="1">
              <a:buNone/>
            </a:pPr>
            <a:r>
              <a:rPr lang="zh-CN" altLang="en-US" sz="2000" dirty="0"/>
              <a:t>过程 </a:t>
            </a:r>
            <a:r>
              <a:rPr lang="en-US" altLang="zh-CN" sz="2000" dirty="0"/>
              <a:t>sort(</a:t>
            </a:r>
            <a:r>
              <a:rPr lang="en-US" altLang="zh-CN" sz="2000" i="1" dirty="0"/>
              <a:t>i</a:t>
            </a:r>
            <a:r>
              <a:rPr lang="en-US" altLang="zh-CN" sz="2000" dirty="0"/>
              <a:t>)             {</a:t>
            </a:r>
            <a:r>
              <a:rPr lang="zh-CN" altLang="en-US" sz="2000" dirty="0"/>
              <a:t>对</a:t>
            </a:r>
            <a:r>
              <a:rPr lang="en-US" altLang="zh-CN" sz="2000" dirty="0"/>
              <a:t>A[i…n]</a:t>
            </a:r>
            <a:r>
              <a:rPr lang="zh-CN" altLang="en-US" sz="2000" dirty="0"/>
              <a:t>排序</a:t>
            </a:r>
            <a:r>
              <a:rPr lang="en-US" altLang="zh-CN" sz="2000" dirty="0"/>
              <a:t>}</a:t>
            </a:r>
            <a:endParaRPr lang="en-US" altLang="zh-CN" sz="2000" dirty="0"/>
          </a:p>
          <a:p>
            <a:pPr lvl="1" eaLnBrk="1" hangingPunct="1">
              <a:buNone/>
            </a:pPr>
            <a:r>
              <a:rPr lang="en-US" altLang="zh-CN" sz="2000" dirty="0"/>
              <a:t>     1. </a:t>
            </a:r>
            <a:r>
              <a:rPr lang="en-US" altLang="zh-CN" sz="2000" b="1" dirty="0"/>
              <a:t>if</a:t>
            </a:r>
            <a:r>
              <a:rPr lang="en-US" altLang="zh-CN" sz="2000" dirty="0"/>
              <a:t> </a:t>
            </a:r>
            <a:r>
              <a:rPr lang="en-US" altLang="zh-CN" sz="2000" i="1" dirty="0"/>
              <a:t>i&lt;n</a:t>
            </a:r>
            <a:r>
              <a:rPr lang="en-US" altLang="zh-CN" sz="2000" dirty="0"/>
              <a:t> </a:t>
            </a:r>
            <a:r>
              <a:rPr lang="en-US" altLang="zh-CN" sz="2000" b="1" dirty="0"/>
              <a:t>then</a:t>
            </a:r>
            <a:endParaRPr lang="en-US" altLang="zh-CN" sz="2000" b="1" dirty="0"/>
          </a:p>
          <a:p>
            <a:pPr lvl="1" eaLnBrk="1" hangingPunct="1">
              <a:buNone/>
            </a:pPr>
            <a:r>
              <a:rPr lang="en-US" altLang="zh-CN" sz="2000" dirty="0"/>
              <a:t>     2.    </a:t>
            </a:r>
            <a:r>
              <a:rPr lang="en-US" altLang="zh-CN" sz="2000" i="1" dirty="0"/>
              <a:t>k</a:t>
            </a:r>
            <a:r>
              <a:rPr lang="en-US" altLang="zh-CN" sz="2000" i="1" dirty="0">
                <a:sym typeface="Wingdings" panose="05000000000000000000" pitchFamily="2" charset="2"/>
              </a:rPr>
              <a:t>i</a:t>
            </a:r>
            <a:endParaRPr lang="en-US" altLang="zh-CN" sz="2000" i="1" dirty="0">
              <a:sym typeface="Wingdings" panose="05000000000000000000" pitchFamily="2" charset="2"/>
            </a:endParaRPr>
          </a:p>
          <a:p>
            <a:pPr lvl="1" eaLnBrk="1" hangingPunct="1">
              <a:buNone/>
            </a:pPr>
            <a:r>
              <a:rPr lang="en-US" altLang="zh-CN" sz="2000" dirty="0">
                <a:sym typeface="Wingdings" panose="05000000000000000000" pitchFamily="2" charset="2"/>
              </a:rPr>
              <a:t>     3.    </a:t>
            </a:r>
            <a:r>
              <a:rPr lang="en-US" altLang="zh-CN" sz="2000" b="1" dirty="0">
                <a:sym typeface="Wingdings" panose="05000000000000000000" pitchFamily="2" charset="2"/>
              </a:rPr>
              <a:t>for</a:t>
            </a:r>
            <a:r>
              <a:rPr lang="en-US" altLang="zh-CN" sz="2000" dirty="0">
                <a:sym typeface="Wingdings" panose="05000000000000000000" pitchFamily="2" charset="2"/>
              </a:rPr>
              <a:t> </a:t>
            </a:r>
            <a:r>
              <a:rPr lang="en-US" altLang="zh-CN" sz="2000" i="1" dirty="0">
                <a:sym typeface="Wingdings" panose="05000000000000000000" pitchFamily="2" charset="2"/>
              </a:rPr>
              <a:t>ji+1</a:t>
            </a:r>
            <a:r>
              <a:rPr lang="en-US" altLang="zh-CN" sz="2000" dirty="0">
                <a:sym typeface="Wingdings" panose="05000000000000000000" pitchFamily="2" charset="2"/>
              </a:rPr>
              <a:t> </a:t>
            </a:r>
            <a:r>
              <a:rPr lang="en-US" altLang="zh-CN" sz="2000" b="1" dirty="0">
                <a:sym typeface="Wingdings" panose="05000000000000000000" pitchFamily="2" charset="2"/>
              </a:rPr>
              <a:t>to</a:t>
            </a:r>
            <a:r>
              <a:rPr lang="en-US" altLang="zh-CN" sz="2000" dirty="0">
                <a:sym typeface="Wingdings" panose="05000000000000000000" pitchFamily="2" charset="2"/>
              </a:rPr>
              <a:t> </a:t>
            </a:r>
            <a:r>
              <a:rPr lang="en-US" altLang="zh-CN" sz="2000" i="1" dirty="0">
                <a:sym typeface="Wingdings" panose="05000000000000000000" pitchFamily="2" charset="2"/>
              </a:rPr>
              <a:t>n</a:t>
            </a:r>
            <a:endParaRPr lang="en-US" altLang="zh-CN" sz="2000" i="1" dirty="0">
              <a:sym typeface="Wingdings" panose="05000000000000000000" pitchFamily="2" charset="2"/>
            </a:endParaRPr>
          </a:p>
          <a:p>
            <a:pPr lvl="1" eaLnBrk="1" hangingPunct="1">
              <a:buNone/>
            </a:pPr>
            <a:r>
              <a:rPr lang="en-US" altLang="zh-CN" sz="2000" dirty="0">
                <a:sym typeface="Wingdings" panose="05000000000000000000" pitchFamily="2" charset="2"/>
              </a:rPr>
              <a:t>     4</a:t>
            </a:r>
            <a:r>
              <a:rPr lang="en-US" altLang="zh-CN" sz="2000" b="1" dirty="0">
                <a:sym typeface="Wingdings" panose="05000000000000000000" pitchFamily="2" charset="2"/>
              </a:rPr>
              <a:t>.       if</a:t>
            </a:r>
            <a:r>
              <a:rPr lang="en-US" altLang="zh-CN" sz="2000" dirty="0">
                <a:sym typeface="Wingdings" panose="05000000000000000000" pitchFamily="2" charset="2"/>
              </a:rPr>
              <a:t> </a:t>
            </a:r>
            <a:r>
              <a:rPr lang="en-US" altLang="zh-CN" sz="2000" i="1" dirty="0">
                <a:sym typeface="Wingdings" panose="05000000000000000000" pitchFamily="2" charset="2"/>
              </a:rPr>
              <a:t>A[j]&lt;A[k]</a:t>
            </a:r>
            <a:r>
              <a:rPr lang="en-US" altLang="zh-CN" sz="2000" dirty="0">
                <a:sym typeface="Wingdings" panose="05000000000000000000" pitchFamily="2" charset="2"/>
              </a:rPr>
              <a:t> </a:t>
            </a:r>
            <a:r>
              <a:rPr lang="en-US" altLang="zh-CN" sz="2000" b="1" dirty="0">
                <a:sym typeface="Wingdings" panose="05000000000000000000" pitchFamily="2" charset="2"/>
              </a:rPr>
              <a:t>then</a:t>
            </a:r>
            <a:r>
              <a:rPr lang="en-US" altLang="zh-CN" sz="2000" dirty="0">
                <a:sym typeface="Wingdings" panose="05000000000000000000" pitchFamily="2" charset="2"/>
              </a:rPr>
              <a:t> </a:t>
            </a:r>
            <a:r>
              <a:rPr lang="en-US" altLang="zh-CN" sz="2000" i="1" dirty="0">
                <a:sym typeface="Wingdings" panose="05000000000000000000" pitchFamily="2" charset="2"/>
              </a:rPr>
              <a:t>kj     //</a:t>
            </a:r>
            <a:r>
              <a:rPr lang="zh-CN" altLang="en-US" sz="2000" i="1" dirty="0">
                <a:sym typeface="Wingdings" panose="05000000000000000000" pitchFamily="2" charset="2"/>
              </a:rPr>
              <a:t>找到后面的最小元素</a:t>
            </a:r>
            <a:endParaRPr lang="en-US" altLang="zh-CN" sz="2000" i="1" dirty="0">
              <a:sym typeface="Wingdings" panose="05000000000000000000" pitchFamily="2" charset="2"/>
            </a:endParaRPr>
          </a:p>
          <a:p>
            <a:pPr lvl="1" eaLnBrk="1" hangingPunct="1">
              <a:buNone/>
            </a:pPr>
            <a:r>
              <a:rPr lang="en-US" altLang="zh-CN" sz="2000" dirty="0">
                <a:sym typeface="Wingdings" panose="05000000000000000000" pitchFamily="2" charset="2"/>
              </a:rPr>
              <a:t>     2.    </a:t>
            </a:r>
            <a:r>
              <a:rPr lang="en-US" altLang="zh-CN" sz="2000" b="1" dirty="0">
                <a:sym typeface="Wingdings" panose="05000000000000000000" pitchFamily="2" charset="2"/>
              </a:rPr>
              <a:t>end for</a:t>
            </a:r>
            <a:endParaRPr lang="en-US" altLang="zh-CN" sz="2000" b="1" dirty="0">
              <a:sym typeface="Wingdings" panose="05000000000000000000" pitchFamily="2" charset="2"/>
            </a:endParaRPr>
          </a:p>
          <a:p>
            <a:pPr lvl="1" eaLnBrk="1" hangingPunct="1">
              <a:buNone/>
            </a:pPr>
            <a:r>
              <a:rPr lang="en-US" altLang="zh-CN" sz="2000" dirty="0">
                <a:sym typeface="Wingdings" panose="05000000000000000000" pitchFamily="2" charset="2"/>
              </a:rPr>
              <a:t>     6.    </a:t>
            </a:r>
            <a:r>
              <a:rPr lang="en-US" altLang="zh-CN" sz="2000" b="1" dirty="0">
                <a:sym typeface="Wingdings" panose="05000000000000000000" pitchFamily="2" charset="2"/>
              </a:rPr>
              <a:t>if</a:t>
            </a:r>
            <a:r>
              <a:rPr lang="en-US" altLang="zh-CN" sz="2000" dirty="0">
                <a:sym typeface="Wingdings" panose="05000000000000000000" pitchFamily="2" charset="2"/>
              </a:rPr>
              <a:t> </a:t>
            </a:r>
            <a:r>
              <a:rPr lang="en-US" altLang="zh-CN" sz="2000" i="1" dirty="0">
                <a:sym typeface="Wingdings" panose="05000000000000000000" pitchFamily="2" charset="2"/>
              </a:rPr>
              <a:t>k </a:t>
            </a:r>
            <a:r>
              <a:rPr lang="en-US" altLang="zh-CN" sz="2000" i="1" dirty="0">
                <a:sym typeface="Symbol" panose="05050102010706020507" pitchFamily="18" charset="2"/>
              </a:rPr>
              <a:t>i</a:t>
            </a:r>
            <a:r>
              <a:rPr lang="en-US" altLang="zh-CN" sz="2000" dirty="0">
                <a:sym typeface="Symbol" panose="05050102010706020507" pitchFamily="18" charset="2"/>
              </a:rPr>
              <a:t>  </a:t>
            </a:r>
            <a:r>
              <a:rPr lang="en-US" altLang="zh-CN" sz="2000" b="1" dirty="0">
                <a:sym typeface="Symbol" panose="05050102010706020507" pitchFamily="18" charset="2"/>
              </a:rPr>
              <a:t>then</a:t>
            </a:r>
            <a:r>
              <a:rPr lang="en-US" altLang="zh-CN" sz="2000" dirty="0">
                <a:sym typeface="Symbol" panose="05050102010706020507" pitchFamily="18" charset="2"/>
              </a:rPr>
              <a:t> </a:t>
            </a:r>
            <a:r>
              <a:rPr lang="zh-CN" altLang="en-US" sz="2000" dirty="0">
                <a:sym typeface="Symbol" panose="05050102010706020507" pitchFamily="18" charset="2"/>
              </a:rPr>
              <a:t>互换 </a:t>
            </a:r>
            <a:r>
              <a:rPr lang="en-US" altLang="zh-CN" sz="2000" i="1" dirty="0">
                <a:sym typeface="Symbol" panose="05050102010706020507" pitchFamily="18" charset="2"/>
              </a:rPr>
              <a:t>A[i]</a:t>
            </a:r>
            <a:r>
              <a:rPr lang="en-US" altLang="zh-CN" sz="2000" dirty="0">
                <a:sym typeface="Symbol" panose="05050102010706020507" pitchFamily="18" charset="2"/>
              </a:rPr>
              <a:t> </a:t>
            </a:r>
            <a:r>
              <a:rPr lang="en-US" altLang="zh-CN" sz="2000" b="1" dirty="0">
                <a:sym typeface="Symbol" panose="05050102010706020507" pitchFamily="18" charset="2"/>
              </a:rPr>
              <a:t>and</a:t>
            </a:r>
            <a:r>
              <a:rPr lang="en-US" altLang="zh-CN" sz="2000" dirty="0">
                <a:sym typeface="Symbol" panose="05050102010706020507" pitchFamily="18" charset="2"/>
              </a:rPr>
              <a:t> </a:t>
            </a:r>
            <a:r>
              <a:rPr lang="en-US" altLang="zh-CN" sz="2000" i="1" dirty="0">
                <a:sym typeface="Symbol" panose="05050102010706020507" pitchFamily="18" charset="2"/>
              </a:rPr>
              <a:t>A[k]</a:t>
            </a:r>
            <a:endParaRPr lang="en-US" altLang="zh-CN" sz="2000" i="1" dirty="0">
              <a:sym typeface="Symbol" panose="05050102010706020507" pitchFamily="18" charset="2"/>
            </a:endParaRPr>
          </a:p>
          <a:p>
            <a:pPr lvl="1" eaLnBrk="1" hangingPunct="1">
              <a:buNone/>
            </a:pPr>
            <a:r>
              <a:rPr lang="en-US" altLang="zh-CN" sz="2000" dirty="0">
                <a:sym typeface="Symbol" panose="05050102010706020507" pitchFamily="18" charset="2"/>
              </a:rPr>
              <a:t>     7.    </a:t>
            </a:r>
            <a:r>
              <a:rPr lang="en-US" altLang="zh-CN" sz="2000" dirty="0">
                <a:solidFill>
                  <a:srgbClr val="FF0000"/>
                </a:solidFill>
                <a:sym typeface="Symbol" panose="05050102010706020507" pitchFamily="18" charset="2"/>
              </a:rPr>
              <a:t>sort(</a:t>
            </a:r>
            <a:r>
              <a:rPr lang="en-US" altLang="zh-CN" sz="2000" i="1" dirty="0">
                <a:solidFill>
                  <a:srgbClr val="FF0000"/>
                </a:solidFill>
                <a:sym typeface="Symbol" panose="05050102010706020507" pitchFamily="18" charset="2"/>
              </a:rPr>
              <a:t>i+1</a:t>
            </a:r>
            <a:r>
              <a:rPr lang="en-US" altLang="zh-CN" sz="2000" dirty="0">
                <a:solidFill>
                  <a:srgbClr val="FF0000"/>
                </a:solidFill>
                <a:sym typeface="Symbol" panose="05050102010706020507" pitchFamily="18" charset="2"/>
              </a:rPr>
              <a:t>)</a:t>
            </a:r>
            <a:endParaRPr lang="en-US" altLang="zh-CN" sz="2000" dirty="0">
              <a:solidFill>
                <a:srgbClr val="FF0000"/>
              </a:solidFill>
              <a:sym typeface="Symbol" panose="05050102010706020507" pitchFamily="18" charset="2"/>
            </a:endParaRPr>
          </a:p>
          <a:p>
            <a:pPr lvl="1" eaLnBrk="1" hangingPunct="1">
              <a:buNone/>
            </a:pPr>
            <a:r>
              <a:rPr lang="en-US" altLang="zh-CN" sz="2000" dirty="0">
                <a:sym typeface="Symbol" panose="05050102010706020507" pitchFamily="18" charset="2"/>
              </a:rPr>
              <a:t>     8. </a:t>
            </a:r>
            <a:r>
              <a:rPr lang="en-US" altLang="zh-CN" sz="2000" b="1" dirty="0">
                <a:sym typeface="Symbol" panose="05050102010706020507" pitchFamily="18" charset="2"/>
              </a:rPr>
              <a:t>end if</a:t>
            </a:r>
            <a:r>
              <a:rPr lang="en-US" altLang="zh-CN" sz="2000" dirty="0">
                <a:sym typeface="Symbol" panose="05050102010706020507" pitchFamily="18" charset="2"/>
              </a:rPr>
              <a:t>        </a:t>
            </a:r>
            <a:endParaRPr lang="en-US" altLang="zh-CN" sz="2000" dirty="0">
              <a:sym typeface="Symbol" panose="05050102010706020507" pitchFamily="18"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页脚占位符 5"/>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21506" name="Rectangle 2"/>
          <p:cNvSpPr>
            <a:spLocks noGrp="1"/>
          </p:cNvSpPr>
          <p:nvPr>
            <p:ph type="title"/>
          </p:nvPr>
        </p:nvSpPr>
        <p:spPr/>
        <p:txBody>
          <a:bodyPr vert="horz" wrap="square" lIns="91440" tIns="45720" rIns="91440" bIns="45720" anchor="ctr" anchorCtr="0"/>
          <a:p>
            <a:pPr eaLnBrk="1" hangingPunct="1"/>
            <a:r>
              <a:rPr lang="zh-CN" altLang="en-US" dirty="0"/>
              <a:t>时间复杂度</a:t>
            </a:r>
            <a:endParaRPr lang="en-US" altLang="zh-CN" dirty="0"/>
          </a:p>
        </p:txBody>
      </p:sp>
      <p:sp>
        <p:nvSpPr>
          <p:cNvPr id="96259" name="Rectangle 3"/>
          <p:cNvSpPr>
            <a:spLocks noGrp="1" noChangeArrowheads="1"/>
          </p:cNvSpPr>
          <p:nvPr>
            <p:ph type="body" sz="half" idx="1"/>
          </p:nvPr>
        </p:nvSpPr>
        <p:spPr>
          <a:xfrm>
            <a:off x="890588" y="1239838"/>
            <a:ext cx="7967663" cy="47815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令</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C(n)</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表示元素比较的次数</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显然</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C(1) = 0.</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过程</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sort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第一次被调用时</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i</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 1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，数组中有</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个元素，因此在这次调用中，元素比较的总次数由两部分元素比较次数之和组成，即</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次元素比较次数加上对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A[2..n]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排序比较次数，后一比较次数是所有对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sort ( </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i</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+ 1)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的递归调用的总和。而从递归调用得到的元素比较次数是</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C(n-1)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。把这些放在一起，有：</a:t>
            </a:r>
            <a:endParaRPr kumimoji="0" lang="zh-CN" altLang="en-US"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9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9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chemeClr val="accent2"/>
                </a:solidFill>
                <a:effectLst/>
                <a:uLnTx/>
                <a:uFillTx/>
                <a:latin typeface="+mn-ea"/>
                <a:ea typeface="+mn-ea"/>
                <a:cs typeface="+mn-ea"/>
              </a:rPr>
              <a:t>这个递推式的解是</a:t>
            </a:r>
            <a:endParaRPr kumimoji="0" lang="en-US" altLang="zh-CN"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rPr>
              <a:t>由于运行时间和元素的比较次数成线性关系，所以说它是</a:t>
            </a:r>
            <a:r>
              <a:rPr kumimoji="0" lang="en-US" altLang="zh-CN" sz="2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sym typeface="Symbol" panose="05050102010706020507" pitchFamily="18" charset="2"/>
              </a:rPr>
              <a:t>(n</a:t>
            </a:r>
            <a:r>
              <a:rPr kumimoji="0" lang="en-US" altLang="zh-CN" sz="2000" b="0" i="0" u="none" strike="noStrike" kern="0" cap="none" spc="0" normalizeH="0" baseline="30000" noProof="0" dirty="0">
                <a:ln>
                  <a:noFill/>
                </a:ln>
                <a:solidFill>
                  <a:srgbClr val="EA0000"/>
                </a:solidFill>
                <a:effectLst/>
                <a:uLnTx/>
                <a:uFillTx/>
                <a:latin typeface="Arial" panose="020B0604020202020204" pitchFamily="34" charset="0"/>
                <a:ea typeface="华文行楷" panose="02010800040101010101" pitchFamily="2" charset="-122"/>
                <a:cs typeface="+mn-ea"/>
                <a:sym typeface="Symbol" panose="05050102010706020507" pitchFamily="18" charset="2"/>
              </a:rPr>
              <a:t>2</a:t>
            </a:r>
            <a:r>
              <a:rPr kumimoji="0" lang="en-US" altLang="zh-CN" sz="2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sym typeface="Symbol" panose="05050102010706020507" pitchFamily="18" charset="2"/>
              </a:rPr>
              <a:t>)</a:t>
            </a:r>
            <a:r>
              <a:rPr kumimoji="0" lang="en-US" altLang="zh-CN" sz="2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rPr>
              <a:t> .</a:t>
            </a:r>
            <a:r>
              <a:rPr kumimoji="0" lang="zh-CN" altLang="en-US" sz="2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rPr>
              <a:t>的。</a:t>
            </a:r>
            <a:endParaRPr kumimoji="0" lang="en-US" altLang="zh-CN" sz="2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endParaRPr>
          </a:p>
        </p:txBody>
      </p:sp>
      <p:graphicFrame>
        <p:nvGraphicFramePr>
          <p:cNvPr id="21508" name="Object 6"/>
          <p:cNvGraphicFramePr>
            <a:graphicFrameLocks noGrp="1" noChangeAspect="1"/>
          </p:cNvGraphicFramePr>
          <p:nvPr>
            <p:ph sz="quarter" idx="3"/>
          </p:nvPr>
        </p:nvGraphicFramePr>
        <p:xfrm>
          <a:off x="6226175" y="3606800"/>
          <a:ext cx="1096963" cy="2187575"/>
        </p:xfrm>
        <a:graphic>
          <a:graphicData uri="http://schemas.openxmlformats.org/presentationml/2006/ole">
            <mc:AlternateContent xmlns:mc="http://schemas.openxmlformats.org/markup-compatibility/2006">
              <mc:Choice xmlns:v="urn:schemas-microsoft-com:vml" Requires="v">
                <p:oleObj spid="_x0000_s3087" name="" r:id="rId1" imgW="114300" imgH="215900" progId="Equation.3">
                  <p:embed/>
                </p:oleObj>
              </mc:Choice>
              <mc:Fallback>
                <p:oleObj name="" r:id="rId1" imgW="114300" imgH="215900" progId="Equation.3">
                  <p:embed/>
                  <p:pic>
                    <p:nvPicPr>
                      <p:cNvPr id="0" name="图片 3086"/>
                      <p:cNvPicPr/>
                      <p:nvPr/>
                    </p:nvPicPr>
                    <p:blipFill>
                      <a:blip r:embed="rId2"/>
                      <a:stretch>
                        <a:fillRect/>
                      </a:stretch>
                    </p:blipFill>
                    <p:spPr>
                      <a:xfrm>
                        <a:off x="6226175" y="3606800"/>
                        <a:ext cx="1096963" cy="2187575"/>
                      </a:xfrm>
                      <a:prstGeom prst="rect">
                        <a:avLst/>
                      </a:prstGeom>
                      <a:noFill/>
                      <a:ln w="38100">
                        <a:miter/>
                      </a:ln>
                    </p:spPr>
                  </p:pic>
                </p:oleObj>
              </mc:Fallback>
            </mc:AlternateContent>
          </a:graphicData>
        </a:graphic>
      </p:graphicFrame>
      <p:graphicFrame>
        <p:nvGraphicFramePr>
          <p:cNvPr id="96265" name="Object 9"/>
          <p:cNvGraphicFramePr>
            <a:graphicFrameLocks noChangeAspect="1"/>
          </p:cNvGraphicFramePr>
          <p:nvPr/>
        </p:nvGraphicFramePr>
        <p:xfrm>
          <a:off x="2786063" y="3500438"/>
          <a:ext cx="3671887" cy="738187"/>
        </p:xfrm>
        <a:graphic>
          <a:graphicData uri="http://schemas.openxmlformats.org/presentationml/2006/ole">
            <mc:AlternateContent xmlns:mc="http://schemas.openxmlformats.org/markup-compatibility/2006">
              <mc:Choice xmlns:v="urn:schemas-microsoft-com:vml" Requires="v">
                <p:oleObj spid="_x0000_s3085" name="" r:id="rId3" imgW="2336800" imgH="469900" progId="Equation.3">
                  <p:embed/>
                </p:oleObj>
              </mc:Choice>
              <mc:Fallback>
                <p:oleObj name="" r:id="rId3" imgW="2336800" imgH="469900" progId="Equation.3">
                  <p:embed/>
                  <p:pic>
                    <p:nvPicPr>
                      <p:cNvPr id="0" name="图片 3084"/>
                      <p:cNvPicPr/>
                      <p:nvPr/>
                    </p:nvPicPr>
                    <p:blipFill>
                      <a:blip r:embed="rId4"/>
                      <a:stretch>
                        <a:fillRect/>
                      </a:stretch>
                    </p:blipFill>
                    <p:spPr>
                      <a:xfrm>
                        <a:off x="2786063" y="3500438"/>
                        <a:ext cx="3671887" cy="738187"/>
                      </a:xfrm>
                      <a:prstGeom prst="rect">
                        <a:avLst/>
                      </a:prstGeom>
                      <a:noFill/>
                      <a:ln w="38100">
                        <a:noFill/>
                        <a:miter/>
                      </a:ln>
                    </p:spPr>
                  </p:pic>
                </p:oleObj>
              </mc:Fallback>
            </mc:AlternateContent>
          </a:graphicData>
        </a:graphic>
      </p:graphicFrame>
      <p:graphicFrame>
        <p:nvGraphicFramePr>
          <p:cNvPr id="96267" name="Object 11"/>
          <p:cNvGraphicFramePr>
            <a:graphicFrameLocks noGrp="1" noChangeAspect="1"/>
          </p:cNvGraphicFramePr>
          <p:nvPr>
            <p:ph sz="quarter" idx="2"/>
          </p:nvPr>
        </p:nvGraphicFramePr>
        <p:xfrm>
          <a:off x="4000500" y="4429125"/>
          <a:ext cx="2286000" cy="747713"/>
        </p:xfrm>
        <a:graphic>
          <a:graphicData uri="http://schemas.openxmlformats.org/presentationml/2006/ole">
            <mc:AlternateContent xmlns:mc="http://schemas.openxmlformats.org/markup-compatibility/2006">
              <mc:Choice xmlns:v="urn:schemas-microsoft-com:vml" Requires="v">
                <p:oleObj spid="_x0000_s3086" name="" r:id="rId5" imgW="1435100" imgH="444500" progId="Equation.3">
                  <p:embed/>
                </p:oleObj>
              </mc:Choice>
              <mc:Fallback>
                <p:oleObj name="" r:id="rId5" imgW="1435100" imgH="444500" progId="Equation.3">
                  <p:embed/>
                  <p:pic>
                    <p:nvPicPr>
                      <p:cNvPr id="0" name="图片 3085"/>
                      <p:cNvPicPr/>
                      <p:nvPr/>
                    </p:nvPicPr>
                    <p:blipFill>
                      <a:blip r:embed="rId6"/>
                      <a:stretch>
                        <a:fillRect/>
                      </a:stretch>
                    </p:blipFill>
                    <p:spPr>
                      <a:xfrm>
                        <a:off x="4000500" y="4429125"/>
                        <a:ext cx="2286000" cy="747713"/>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59">
                                            <p:txEl>
                                              <p:charRg st="15" end="29"/>
                                            </p:txEl>
                                          </p:spTgt>
                                        </p:tgtEl>
                                        <p:attrNameLst>
                                          <p:attrName>style.visibility</p:attrName>
                                        </p:attrNameLst>
                                      </p:cBhvr>
                                      <p:to>
                                        <p:strVal val="visible"/>
                                      </p:to>
                                    </p:set>
                                    <p:anim calcmode="lin" valueType="num">
                                      <p:cBhvr additive="base">
                                        <p:cTn id="7" dur="500" fill="hold"/>
                                        <p:tgtEl>
                                          <p:spTgt spid="96259">
                                            <p:txEl>
                                              <p:charRg st="15" end="2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charRg st="15" end="2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96259">
                                            <p:txEl>
                                              <p:charRg st="29" end="184"/>
                                            </p:txEl>
                                          </p:spTgt>
                                        </p:tgtEl>
                                        <p:attrNameLst>
                                          <p:attrName>style.visibility</p:attrName>
                                        </p:attrNameLst>
                                      </p:cBhvr>
                                      <p:to>
                                        <p:strVal val="visible"/>
                                      </p:to>
                                    </p:set>
                                    <p:anim calcmode="lin" valueType="num">
                                      <p:cBhvr>
                                        <p:cTn id="13" dur="1000" fill="hold"/>
                                        <p:tgtEl>
                                          <p:spTgt spid="96259">
                                            <p:txEl>
                                              <p:charRg st="29" end="184"/>
                                            </p:txEl>
                                          </p:spTgt>
                                        </p:tgtEl>
                                        <p:attrNameLst>
                                          <p:attrName>ppt_w</p:attrName>
                                        </p:attrNameLst>
                                      </p:cBhvr>
                                      <p:tavLst>
                                        <p:tav tm="0">
                                          <p:val>
                                            <p:strVal val="#ppt_w*0.70"/>
                                          </p:val>
                                        </p:tav>
                                        <p:tav tm="100000">
                                          <p:val>
                                            <p:strVal val="#ppt_w"/>
                                          </p:val>
                                        </p:tav>
                                      </p:tavLst>
                                    </p:anim>
                                    <p:anim calcmode="lin" valueType="num">
                                      <p:cBhvr>
                                        <p:cTn id="14" dur="1000" fill="hold"/>
                                        <p:tgtEl>
                                          <p:spTgt spid="96259">
                                            <p:txEl>
                                              <p:charRg st="29" end="184"/>
                                            </p:txEl>
                                          </p:spTgt>
                                        </p:tgtEl>
                                        <p:attrNameLst>
                                          <p:attrName>ppt_h</p:attrName>
                                        </p:attrNameLst>
                                      </p:cBhvr>
                                      <p:tavLst>
                                        <p:tav tm="0">
                                          <p:val>
                                            <p:strVal val="#ppt_h"/>
                                          </p:val>
                                        </p:tav>
                                        <p:tav tm="100000">
                                          <p:val>
                                            <p:strVal val="#ppt_h"/>
                                          </p:val>
                                        </p:tav>
                                      </p:tavLst>
                                    </p:anim>
                                    <p:animEffect transition="in" filter="fade">
                                      <p:cBhvr>
                                        <p:cTn id="15" dur="1000"/>
                                        <p:tgtEl>
                                          <p:spTgt spid="96259">
                                            <p:txEl>
                                              <p:charRg st="29" end="184"/>
                                            </p:txEl>
                                          </p:spTgt>
                                        </p:tgtEl>
                                      </p:cBhvr>
                                    </p:animEffect>
                                  </p:childTnLst>
                                </p:cTn>
                              </p:par>
                            </p:childTnLst>
                          </p:cTn>
                        </p:par>
                        <p:par>
                          <p:cTn id="16" fill="hold">
                            <p:stCondLst>
                              <p:cond delay="1000"/>
                            </p:stCondLst>
                            <p:childTnLst>
                              <p:par>
                                <p:cTn id="17" presetID="55" presetClass="entr" presetSubtype="0" fill="hold" nodeType="afterEffect">
                                  <p:stCondLst>
                                    <p:cond delay="0"/>
                                  </p:stCondLst>
                                  <p:childTnLst>
                                    <p:set>
                                      <p:cBhvr>
                                        <p:cTn id="18" dur="1" fill="hold">
                                          <p:stCondLst>
                                            <p:cond delay="0"/>
                                          </p:stCondLst>
                                        </p:cTn>
                                        <p:tgtEl>
                                          <p:spTgt spid="96265"/>
                                        </p:tgtEl>
                                        <p:attrNameLst>
                                          <p:attrName>style.visibility</p:attrName>
                                        </p:attrNameLst>
                                      </p:cBhvr>
                                      <p:to>
                                        <p:strVal val="visible"/>
                                      </p:to>
                                    </p:set>
                                    <p:anim calcmode="lin" valueType="num">
                                      <p:cBhvr>
                                        <p:cTn id="19" dur="1000" fill="hold"/>
                                        <p:tgtEl>
                                          <p:spTgt spid="96265"/>
                                        </p:tgtEl>
                                        <p:attrNameLst>
                                          <p:attrName>ppt_w</p:attrName>
                                        </p:attrNameLst>
                                      </p:cBhvr>
                                      <p:tavLst>
                                        <p:tav tm="0">
                                          <p:val>
                                            <p:strVal val="#ppt_w*0.70"/>
                                          </p:val>
                                        </p:tav>
                                        <p:tav tm="100000">
                                          <p:val>
                                            <p:strVal val="#ppt_w"/>
                                          </p:val>
                                        </p:tav>
                                      </p:tavLst>
                                    </p:anim>
                                    <p:anim calcmode="lin" valueType="num">
                                      <p:cBhvr>
                                        <p:cTn id="20" dur="1000" fill="hold"/>
                                        <p:tgtEl>
                                          <p:spTgt spid="96265"/>
                                        </p:tgtEl>
                                        <p:attrNameLst>
                                          <p:attrName>ppt_h</p:attrName>
                                        </p:attrNameLst>
                                      </p:cBhvr>
                                      <p:tavLst>
                                        <p:tav tm="0">
                                          <p:val>
                                            <p:strVal val="#ppt_h"/>
                                          </p:val>
                                        </p:tav>
                                        <p:tav tm="100000">
                                          <p:val>
                                            <p:strVal val="#ppt_h"/>
                                          </p:val>
                                        </p:tav>
                                      </p:tavLst>
                                    </p:anim>
                                    <p:animEffect transition="in" filter="fade">
                                      <p:cBhvr>
                                        <p:cTn id="21" dur="1000"/>
                                        <p:tgtEl>
                                          <p:spTgt spid="9626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96259">
                                            <p:txEl>
                                              <p:charRg st="188" end="197"/>
                                            </p:txEl>
                                          </p:spTgt>
                                        </p:tgtEl>
                                        <p:attrNameLst>
                                          <p:attrName>style.visibility</p:attrName>
                                        </p:attrNameLst>
                                      </p:cBhvr>
                                      <p:to>
                                        <p:strVal val="visible"/>
                                      </p:to>
                                    </p:set>
                                    <p:animEffect transition="in" filter="slide(fromBottom)">
                                      <p:cBhvr>
                                        <p:cTn id="26" dur="500"/>
                                        <p:tgtEl>
                                          <p:spTgt spid="96259">
                                            <p:txEl>
                                              <p:charRg st="188" end="197"/>
                                            </p:txEl>
                                          </p:spTgt>
                                        </p:tgtEl>
                                      </p:cBhvr>
                                    </p:animEffect>
                                  </p:childTnLst>
                                </p:cTn>
                              </p:par>
                            </p:childTnLst>
                          </p:cTn>
                        </p:par>
                        <p:par>
                          <p:cTn id="27" fill="hold">
                            <p:stCondLst>
                              <p:cond delay="500"/>
                            </p:stCondLst>
                            <p:childTnLst>
                              <p:par>
                                <p:cTn id="28" presetID="55" presetClass="entr" presetSubtype="0" fill="hold" nodeType="afterEffect">
                                  <p:stCondLst>
                                    <p:cond delay="0"/>
                                  </p:stCondLst>
                                  <p:childTnLst>
                                    <p:set>
                                      <p:cBhvr>
                                        <p:cTn id="29" dur="1" fill="hold">
                                          <p:stCondLst>
                                            <p:cond delay="0"/>
                                          </p:stCondLst>
                                        </p:cTn>
                                        <p:tgtEl>
                                          <p:spTgt spid="96267"/>
                                        </p:tgtEl>
                                        <p:attrNameLst>
                                          <p:attrName>style.visibility</p:attrName>
                                        </p:attrNameLst>
                                      </p:cBhvr>
                                      <p:to>
                                        <p:strVal val="visible"/>
                                      </p:to>
                                    </p:set>
                                    <p:anim calcmode="lin" valueType="num">
                                      <p:cBhvr>
                                        <p:cTn id="30" dur="1000" fill="hold"/>
                                        <p:tgtEl>
                                          <p:spTgt spid="96267"/>
                                        </p:tgtEl>
                                        <p:attrNameLst>
                                          <p:attrName>ppt_w</p:attrName>
                                        </p:attrNameLst>
                                      </p:cBhvr>
                                      <p:tavLst>
                                        <p:tav tm="0">
                                          <p:val>
                                            <p:strVal val="#ppt_w*0.70"/>
                                          </p:val>
                                        </p:tav>
                                        <p:tav tm="100000">
                                          <p:val>
                                            <p:strVal val="#ppt_w"/>
                                          </p:val>
                                        </p:tav>
                                      </p:tavLst>
                                    </p:anim>
                                    <p:anim calcmode="lin" valueType="num">
                                      <p:cBhvr>
                                        <p:cTn id="31" dur="1000" fill="hold"/>
                                        <p:tgtEl>
                                          <p:spTgt spid="96267"/>
                                        </p:tgtEl>
                                        <p:attrNameLst>
                                          <p:attrName>ppt_h</p:attrName>
                                        </p:attrNameLst>
                                      </p:cBhvr>
                                      <p:tavLst>
                                        <p:tav tm="0">
                                          <p:val>
                                            <p:strVal val="#ppt_h"/>
                                          </p:val>
                                        </p:tav>
                                        <p:tav tm="100000">
                                          <p:val>
                                            <p:strVal val="#ppt_h"/>
                                          </p:val>
                                        </p:tav>
                                      </p:tavLst>
                                    </p:anim>
                                    <p:animEffect transition="in" filter="fade">
                                      <p:cBhvr>
                                        <p:cTn id="32" dur="1000"/>
                                        <p:tgtEl>
                                          <p:spTgt spid="96267"/>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96259">
                                            <p:txEl>
                                              <p:charRg st="197" end="232"/>
                                            </p:txEl>
                                          </p:spTgt>
                                        </p:tgtEl>
                                        <p:attrNameLst>
                                          <p:attrName>style.visibility</p:attrName>
                                        </p:attrNameLst>
                                      </p:cBhvr>
                                      <p:to>
                                        <p:strVal val="visible"/>
                                      </p:to>
                                    </p:set>
                                    <p:animEffect transition="in" filter="diamond(in)">
                                      <p:cBhvr>
                                        <p:cTn id="37" dur="2000"/>
                                        <p:tgtEl>
                                          <p:spTgt spid="96259">
                                            <p:txEl>
                                              <p:charRg st="197" end="2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23554" name="Rectangle 2"/>
          <p:cNvSpPr>
            <a:spLocks noGrp="1"/>
          </p:cNvSpPr>
          <p:nvPr>
            <p:ph type="title"/>
          </p:nvPr>
        </p:nvSpPr>
        <p:spPr/>
        <p:txBody>
          <a:bodyPr vert="horz" wrap="square" lIns="91440" tIns="45720" rIns="91440" bIns="45720" anchor="ctr" anchorCtr="0"/>
          <a:p>
            <a:pPr eaLnBrk="1" hangingPunct="1"/>
            <a:r>
              <a:rPr lang="en-US" altLang="zh-CN" dirty="0"/>
              <a:t>2.1.2 Insertion sort</a:t>
            </a:r>
            <a:r>
              <a:rPr lang="zh-CN" altLang="en-US" dirty="0"/>
              <a:t>（插入排序）</a:t>
            </a:r>
            <a:endParaRPr lang="en-US" altLang="zh-CN" dirty="0"/>
          </a:p>
        </p:txBody>
      </p:sp>
      <p:sp>
        <p:nvSpPr>
          <p:cNvPr id="100355" name="Rectangle 3"/>
          <p:cNvSpPr>
            <a:spLocks noGrp="1"/>
          </p:cNvSpPr>
          <p:nvPr>
            <p:ph idx="1"/>
          </p:nvPr>
        </p:nvSpPr>
        <p:spPr/>
        <p:txBody>
          <a:bodyPr vert="horz" wrap="square" lIns="91440" tIns="45720" rIns="91440" bIns="45720" anchor="t" anchorCtr="0"/>
          <a:p>
            <a:pPr eaLnBrk="1" hangingPunct="1"/>
            <a:r>
              <a:rPr lang="en-US" altLang="zh-CN" sz="2900" dirty="0">
                <a:solidFill>
                  <a:schemeClr val="tx1"/>
                </a:solidFill>
              </a:rPr>
              <a:t>   </a:t>
            </a:r>
            <a:r>
              <a:rPr lang="zh-CN" altLang="en-US" sz="2900" dirty="0">
                <a:solidFill>
                  <a:schemeClr val="tx1"/>
                </a:solidFill>
              </a:rPr>
              <a:t>基本思想</a:t>
            </a:r>
            <a:endParaRPr lang="en-US" altLang="zh-CN" sz="2900" dirty="0">
              <a:solidFill>
                <a:schemeClr val="tx1"/>
              </a:solidFill>
            </a:endParaRPr>
          </a:p>
          <a:p>
            <a:pPr eaLnBrk="1" hangingPunct="1"/>
            <a:endParaRPr lang="en-US" altLang="zh-CN" sz="1000" dirty="0">
              <a:solidFill>
                <a:schemeClr val="tx1"/>
              </a:solidFill>
            </a:endParaRPr>
          </a:p>
          <a:p>
            <a:pPr lvl="1" eaLnBrk="1" hangingPunct="1"/>
            <a:r>
              <a:rPr lang="zh-CN" altLang="en-US" dirty="0"/>
              <a:t>假设我们知道如何对前</a:t>
            </a:r>
            <a:r>
              <a:rPr lang="en-US" altLang="zh-CN" dirty="0"/>
              <a:t>n-1</a:t>
            </a:r>
            <a:r>
              <a:rPr lang="zh-CN" altLang="en-US" dirty="0"/>
              <a:t>个元素，也就是数组</a:t>
            </a:r>
            <a:r>
              <a:rPr lang="en-US" altLang="zh-CN" dirty="0"/>
              <a:t>A[1..n-1]</a:t>
            </a:r>
            <a:r>
              <a:rPr lang="zh-CN" altLang="en-US" dirty="0"/>
              <a:t>排序。</a:t>
            </a:r>
            <a:endParaRPr lang="en-US" altLang="zh-CN" dirty="0"/>
          </a:p>
          <a:p>
            <a:pPr lvl="1" eaLnBrk="1" hangingPunct="1"/>
            <a:endParaRPr lang="en-US" altLang="zh-CN" sz="1000" dirty="0"/>
          </a:p>
          <a:p>
            <a:pPr lvl="1" eaLnBrk="1" hangingPunct="1"/>
            <a:r>
              <a:rPr lang="zh-CN" altLang="en-US" dirty="0"/>
              <a:t>那么在对</a:t>
            </a:r>
            <a:r>
              <a:rPr lang="en-US" altLang="zh-CN" dirty="0"/>
              <a:t>A[1..n-1],</a:t>
            </a:r>
            <a:r>
              <a:rPr lang="zh-CN" altLang="en-US" dirty="0"/>
              <a:t>排序后，我们只要把</a:t>
            </a:r>
            <a:r>
              <a:rPr lang="en-US" altLang="zh-CN" dirty="0"/>
              <a:t>A[n]</a:t>
            </a:r>
            <a:r>
              <a:rPr lang="zh-CN" altLang="en-US" dirty="0"/>
              <a:t>插人它的适当位置，假设是位置</a:t>
            </a:r>
            <a:r>
              <a:rPr lang="en-US" altLang="zh-CN" dirty="0"/>
              <a:t>j</a:t>
            </a:r>
            <a:r>
              <a:rPr lang="zh-CN" altLang="en-US" dirty="0"/>
              <a:t>，</a:t>
            </a:r>
            <a:r>
              <a:rPr lang="en-US" altLang="zh-CN" dirty="0"/>
              <a:t>1≤j ≤n</a:t>
            </a:r>
            <a:r>
              <a:rPr lang="zh-CN" altLang="en-US" dirty="0"/>
              <a:t>。</a:t>
            </a:r>
            <a:endParaRPr lang="en-US" altLang="zh-CN" dirty="0"/>
          </a:p>
          <a:p>
            <a:pPr lvl="1" eaLnBrk="1" hangingPunct="1"/>
            <a:endParaRPr lang="en-US" altLang="zh-CN" sz="1000" dirty="0"/>
          </a:p>
          <a:p>
            <a:pPr lvl="1" eaLnBrk="1" hangingPunct="1"/>
            <a:r>
              <a:rPr lang="zh-CN" altLang="en-US" dirty="0"/>
              <a:t>这个插人可能导致</a:t>
            </a:r>
            <a:r>
              <a:rPr lang="en-US" altLang="zh-CN" dirty="0"/>
              <a:t>A[j+1], A[j+2] ,… ,A[n-1]</a:t>
            </a:r>
            <a:r>
              <a:rPr lang="zh-CN" altLang="en-US" dirty="0"/>
              <a:t>移到位置</a:t>
            </a:r>
            <a:r>
              <a:rPr lang="en-US" altLang="zh-CN" dirty="0"/>
              <a:t>j+2</a:t>
            </a:r>
            <a:r>
              <a:rPr lang="zh-CN" altLang="en-US" dirty="0"/>
              <a:t>，</a:t>
            </a:r>
            <a:r>
              <a:rPr lang="en-US" altLang="zh-CN" dirty="0"/>
              <a:t>j+3</a:t>
            </a:r>
            <a:r>
              <a:rPr lang="zh-CN" altLang="en-US" dirty="0"/>
              <a:t>，</a:t>
            </a:r>
            <a:r>
              <a:rPr lang="en-US" altLang="zh-CN" dirty="0"/>
              <a:t>…</a:t>
            </a:r>
            <a:r>
              <a:rPr lang="zh-CN" altLang="en-US" dirty="0"/>
              <a:t>，</a:t>
            </a:r>
            <a:r>
              <a:rPr lang="en-US" altLang="zh-CN" dirty="0"/>
              <a:t>n. </a:t>
            </a:r>
            <a:endParaRPr lang="en-US" altLang="zh-CN" dirty="0"/>
          </a:p>
        </p:txBody>
      </p:sp>
      <p:pic>
        <p:nvPicPr>
          <p:cNvPr id="23556" name="Picture 6" descr="basic idea"/>
          <p:cNvPicPr>
            <a:picLocks noChangeAspect="1"/>
          </p:cNvPicPr>
          <p:nvPr/>
        </p:nvPicPr>
        <p:blipFill>
          <a:blip r:embed="rId1"/>
          <a:stretch>
            <a:fillRect/>
          </a:stretch>
        </p:blipFill>
        <p:spPr>
          <a:xfrm>
            <a:off x="900113" y="1268413"/>
            <a:ext cx="503237" cy="4683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0355">
                                            <p:txEl>
                                              <p:charRg st="0" end="8"/>
                                            </p:txEl>
                                          </p:spTgt>
                                        </p:tgtEl>
                                        <p:attrNameLst>
                                          <p:attrName>style.visibility</p:attrName>
                                        </p:attrNameLst>
                                      </p:cBhvr>
                                      <p:to>
                                        <p:strVal val="visible"/>
                                      </p:to>
                                    </p:set>
                                    <p:animEffect transition="in" filter="blinds(horizontal)">
                                      <p:cBhvr>
                                        <p:cTn id="7" dur="500"/>
                                        <p:tgtEl>
                                          <p:spTgt spid="100355">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00355">
                                            <p:txEl>
                                              <p:charRg st="9" end="44"/>
                                            </p:txEl>
                                          </p:spTgt>
                                        </p:tgtEl>
                                        <p:attrNameLst>
                                          <p:attrName>style.visibility</p:attrName>
                                        </p:attrNameLst>
                                      </p:cBhvr>
                                      <p:to>
                                        <p:strVal val="visible"/>
                                      </p:to>
                                    </p:set>
                                    <p:animEffect transition="in" filter="slide(fromBottom)">
                                      <p:cBhvr>
                                        <p:cTn id="12" dur="500"/>
                                        <p:tgtEl>
                                          <p:spTgt spid="100355">
                                            <p:txEl>
                                              <p:charRg st="9"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00355">
                                            <p:txEl>
                                              <p:charRg st="45" end="96"/>
                                            </p:txEl>
                                          </p:spTgt>
                                        </p:tgtEl>
                                        <p:attrNameLst>
                                          <p:attrName>style.visibility</p:attrName>
                                        </p:attrNameLst>
                                      </p:cBhvr>
                                      <p:to>
                                        <p:strVal val="visible"/>
                                      </p:to>
                                    </p:set>
                                    <p:animEffect transition="in" filter="slide(fromBottom)">
                                      <p:cBhvr>
                                        <p:cTn id="17" dur="500"/>
                                        <p:tgtEl>
                                          <p:spTgt spid="100355">
                                            <p:txEl>
                                              <p:charRg st="45" end="9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00355">
                                            <p:txEl>
                                              <p:charRg st="97" end="148"/>
                                            </p:txEl>
                                          </p:spTgt>
                                        </p:tgtEl>
                                        <p:attrNameLst>
                                          <p:attrName>style.visibility</p:attrName>
                                        </p:attrNameLst>
                                      </p:cBhvr>
                                      <p:to>
                                        <p:strVal val="visible"/>
                                      </p:to>
                                    </p:set>
                                    <p:animEffect transition="in" filter="slide(fromBottom)">
                                      <p:cBhvr>
                                        <p:cTn id="22" dur="500"/>
                                        <p:tgtEl>
                                          <p:spTgt spid="100355">
                                            <p:txEl>
                                              <p:charRg st="97" end="1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25602" name="Rectangle 3"/>
          <p:cNvSpPr>
            <a:spLocks noGrp="1"/>
          </p:cNvSpPr>
          <p:nvPr>
            <p:ph idx="1"/>
          </p:nvPr>
        </p:nvSpPr>
        <p:spPr>
          <a:xfrm>
            <a:off x="428625" y="404813"/>
            <a:ext cx="8607425" cy="5616575"/>
          </a:xfrm>
          <a:solidFill>
            <a:schemeClr val="bg1"/>
          </a:solidFill>
        </p:spPr>
        <p:txBody>
          <a:bodyPr vert="horz" wrap="square" lIns="91440" tIns="45720" rIns="91440" bIns="45720" anchor="t" anchorCtr="0"/>
          <a:p>
            <a:pPr eaLnBrk="1" hangingPunct="1">
              <a:lnSpc>
                <a:spcPct val="90000"/>
              </a:lnSpc>
              <a:buNone/>
            </a:pPr>
            <a:r>
              <a:rPr lang="zh-CN" altLang="en-US" b="1" dirty="0"/>
              <a:t>算法</a:t>
            </a:r>
            <a:r>
              <a:rPr lang="en-US" altLang="zh-CN" b="1" dirty="0"/>
              <a:t>2.1.</a:t>
            </a:r>
            <a:r>
              <a:rPr lang="en-US" altLang="zh-CN" b="1" dirty="0"/>
              <a:t>2 INSERTIONSORTREC</a:t>
            </a:r>
            <a:endParaRPr lang="en-US" altLang="zh-CN" b="1" dirty="0"/>
          </a:p>
          <a:p>
            <a:pPr lvl="1" eaLnBrk="1" hangingPunct="1">
              <a:lnSpc>
                <a:spcPct val="90000"/>
              </a:lnSpc>
              <a:buNone/>
            </a:pPr>
            <a:r>
              <a:rPr lang="zh-CN" altLang="en-US" sz="2000" dirty="0"/>
              <a:t>输入</a:t>
            </a:r>
            <a:r>
              <a:rPr lang="en-US" altLang="zh-CN" sz="2000" dirty="0"/>
              <a:t>: n</a:t>
            </a:r>
            <a:r>
              <a:rPr lang="zh-CN" altLang="en-US" sz="2000" dirty="0"/>
              <a:t>个元素的数组</a:t>
            </a:r>
            <a:r>
              <a:rPr lang="en-US" altLang="zh-CN" sz="2000" dirty="0"/>
              <a:t>A[1…n] </a:t>
            </a:r>
            <a:endParaRPr lang="en-US" altLang="zh-CN" sz="2000" dirty="0"/>
          </a:p>
          <a:p>
            <a:pPr lvl="1" eaLnBrk="1" hangingPunct="1">
              <a:lnSpc>
                <a:spcPct val="90000"/>
              </a:lnSpc>
              <a:buNone/>
            </a:pPr>
            <a:r>
              <a:rPr lang="zh-CN" altLang="en-US" sz="2000" dirty="0"/>
              <a:t>输出</a:t>
            </a:r>
            <a:r>
              <a:rPr lang="en-US" altLang="zh-CN" sz="2000" dirty="0"/>
              <a:t>:</a:t>
            </a:r>
            <a:r>
              <a:rPr lang="zh-CN" altLang="en-US" sz="2000" dirty="0"/>
              <a:t>按非降序排列的数组</a:t>
            </a:r>
            <a:r>
              <a:rPr lang="en-US" altLang="zh-CN" sz="2000" dirty="0"/>
              <a:t>A[1…n]</a:t>
            </a:r>
            <a:endParaRPr lang="en-US" altLang="zh-CN" sz="2000" dirty="0"/>
          </a:p>
          <a:p>
            <a:pPr lvl="1" eaLnBrk="1" hangingPunct="1">
              <a:lnSpc>
                <a:spcPct val="90000"/>
              </a:lnSpc>
              <a:buNone/>
            </a:pPr>
            <a:r>
              <a:rPr lang="en-US" altLang="zh-CN" sz="2000" dirty="0"/>
              <a:t>      1. </a:t>
            </a:r>
            <a:r>
              <a:rPr lang="en-US" altLang="zh-CN" sz="2000" i="1" dirty="0"/>
              <a:t>sort(n)</a:t>
            </a:r>
            <a:endParaRPr lang="en-US" altLang="zh-CN" sz="2000" i="1" dirty="0"/>
          </a:p>
          <a:p>
            <a:pPr lvl="1" eaLnBrk="1" hangingPunct="1">
              <a:lnSpc>
                <a:spcPct val="90000"/>
              </a:lnSpc>
              <a:buNone/>
            </a:pPr>
            <a:endParaRPr lang="en-US" altLang="zh-CN" sz="600" dirty="0"/>
          </a:p>
          <a:p>
            <a:pPr lvl="1" eaLnBrk="1" hangingPunct="1">
              <a:lnSpc>
                <a:spcPct val="90000"/>
              </a:lnSpc>
              <a:buNone/>
            </a:pPr>
            <a:r>
              <a:rPr lang="zh-CN" altLang="en-US" sz="2000" dirty="0"/>
              <a:t>流程 </a:t>
            </a:r>
            <a:r>
              <a:rPr lang="en-US" altLang="zh-CN" sz="2000" i="1" dirty="0"/>
              <a:t>sort(i)</a:t>
            </a:r>
            <a:r>
              <a:rPr lang="en-US" altLang="zh-CN" sz="2000" dirty="0"/>
              <a:t>           {</a:t>
            </a:r>
            <a:r>
              <a:rPr lang="zh-CN" altLang="en-US" sz="2000" dirty="0"/>
              <a:t>对</a:t>
            </a:r>
            <a:r>
              <a:rPr lang="en-US" altLang="zh-CN" sz="2000" i="1" dirty="0"/>
              <a:t>A[1…i</a:t>
            </a:r>
            <a:r>
              <a:rPr lang="en-US" altLang="zh-CN" sz="2000" dirty="0"/>
              <a:t>]</a:t>
            </a:r>
            <a:r>
              <a:rPr lang="zh-CN" altLang="en-US" sz="2000" dirty="0"/>
              <a:t>排序</a:t>
            </a:r>
            <a:r>
              <a:rPr lang="en-US" altLang="zh-CN" sz="2000" dirty="0"/>
              <a:t>}</a:t>
            </a:r>
            <a:endParaRPr lang="en-US" altLang="zh-CN" sz="2000" dirty="0"/>
          </a:p>
          <a:p>
            <a:pPr lvl="1" eaLnBrk="1" hangingPunct="1">
              <a:lnSpc>
                <a:spcPct val="90000"/>
              </a:lnSpc>
              <a:buNone/>
            </a:pPr>
            <a:r>
              <a:rPr lang="en-US" altLang="zh-CN" sz="2000" dirty="0"/>
              <a:t>      1.</a:t>
            </a:r>
            <a:r>
              <a:rPr lang="en-US" altLang="zh-CN" sz="2000" b="1" dirty="0"/>
              <a:t> if </a:t>
            </a:r>
            <a:r>
              <a:rPr lang="en-US" altLang="zh-CN" sz="2000" dirty="0"/>
              <a:t>i&gt;1 </a:t>
            </a:r>
            <a:r>
              <a:rPr lang="en-US" altLang="zh-CN" sz="2000" b="1" dirty="0"/>
              <a:t>then</a:t>
            </a:r>
            <a:endParaRPr lang="en-US" altLang="zh-CN" sz="2000" b="1" dirty="0"/>
          </a:p>
          <a:p>
            <a:pPr lvl="1" eaLnBrk="1" hangingPunct="1">
              <a:lnSpc>
                <a:spcPct val="90000"/>
              </a:lnSpc>
              <a:buNone/>
            </a:pPr>
            <a:r>
              <a:rPr lang="en-US" altLang="zh-CN" sz="2000" dirty="0"/>
              <a:t>      2.    x</a:t>
            </a:r>
            <a:r>
              <a:rPr lang="en-US" altLang="zh-CN" sz="2000" dirty="0">
                <a:sym typeface="Wingdings" panose="05000000000000000000" pitchFamily="2" charset="2"/>
              </a:rPr>
              <a:t>A[i] </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3.    </a:t>
            </a:r>
            <a:r>
              <a:rPr lang="en-US" altLang="zh-CN" sz="2000" i="1" dirty="0">
                <a:solidFill>
                  <a:srgbClr val="FF0000"/>
                </a:solidFill>
                <a:sym typeface="Wingdings" panose="05000000000000000000" pitchFamily="2" charset="2"/>
              </a:rPr>
              <a:t>sort(i-1)</a:t>
            </a:r>
            <a:endParaRPr lang="en-US" altLang="zh-CN" sz="2000" i="1" dirty="0">
              <a:solidFill>
                <a:srgbClr val="FF0000"/>
              </a:solidFill>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4.    </a:t>
            </a:r>
            <a:r>
              <a:rPr lang="en-US" altLang="zh-CN" sz="2000" i="1" dirty="0">
                <a:sym typeface="Wingdings" panose="05000000000000000000" pitchFamily="2" charset="2"/>
              </a:rPr>
              <a:t>ji-1</a:t>
            </a:r>
            <a:endParaRPr lang="en-US" altLang="zh-CN" sz="2000" i="1"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   </a:t>
            </a:r>
            <a:r>
              <a:rPr lang="en-US" altLang="zh-CN" sz="2000" b="1" dirty="0">
                <a:sym typeface="Wingdings" panose="05000000000000000000" pitchFamily="2" charset="2"/>
              </a:rPr>
              <a:t>while</a:t>
            </a:r>
            <a:r>
              <a:rPr lang="en-US" altLang="zh-CN" sz="2000" dirty="0">
                <a:sym typeface="Wingdings" panose="05000000000000000000" pitchFamily="2" charset="2"/>
              </a:rPr>
              <a:t> j&gt;0 </a:t>
            </a:r>
            <a:r>
              <a:rPr lang="en-US" altLang="zh-CN" sz="2000" b="1" dirty="0">
                <a:sym typeface="Wingdings" panose="05000000000000000000" pitchFamily="2" charset="2"/>
              </a:rPr>
              <a:t>and</a:t>
            </a:r>
            <a:r>
              <a:rPr lang="en-US" altLang="zh-CN" sz="2000" dirty="0">
                <a:sym typeface="Wingdings" panose="05000000000000000000" pitchFamily="2" charset="2"/>
              </a:rPr>
              <a:t> A[j]&gt;x</a:t>
            </a:r>
            <a:r>
              <a:rPr lang="en-US" altLang="zh-CN" sz="2000" dirty="0"/>
              <a:t>      //</a:t>
            </a:r>
            <a:r>
              <a:rPr lang="zh-CN" altLang="en-US" sz="2000" dirty="0"/>
              <a:t>如果当前值大于</a:t>
            </a:r>
            <a:r>
              <a:rPr lang="en-US" altLang="zh-CN" sz="2000" dirty="0"/>
              <a:t>x</a:t>
            </a:r>
            <a:r>
              <a:rPr lang="zh-CN" altLang="en-US" sz="2000" dirty="0"/>
              <a:t>，且不到第一个元素</a:t>
            </a:r>
            <a:endParaRPr lang="en-US" altLang="zh-CN" sz="2000" dirty="0"/>
          </a:p>
          <a:p>
            <a:pPr lvl="1" eaLnBrk="1" hangingPunct="1">
              <a:lnSpc>
                <a:spcPct val="90000"/>
              </a:lnSpc>
              <a:buNone/>
            </a:pPr>
            <a:r>
              <a:rPr lang="en-US" altLang="zh-CN" sz="2000" dirty="0"/>
              <a:t>      6.       A[j+1]</a:t>
            </a:r>
            <a:r>
              <a:rPr lang="en-US" altLang="zh-CN" sz="2000" dirty="0">
                <a:sym typeface="Wingdings" panose="05000000000000000000" pitchFamily="2" charset="2"/>
              </a:rPr>
              <a:t>A[j]    //</a:t>
            </a:r>
            <a:r>
              <a:rPr lang="zh-CN" altLang="en-US" sz="2000" dirty="0">
                <a:sym typeface="Wingdings" panose="05000000000000000000" pitchFamily="2" charset="2"/>
              </a:rPr>
              <a:t>当前值后移一位</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7.       j  j-1     </a:t>
            </a:r>
            <a:endParaRPr lang="en-US" altLang="zh-CN" sz="2000" dirty="0">
              <a:sym typeface="Wingdings" panose="05000000000000000000" pitchFamily="2" charset="2"/>
            </a:endParaRPr>
          </a:p>
          <a:p>
            <a:pPr lvl="1" eaLnBrk="1" hangingPunct="1">
              <a:lnSpc>
                <a:spcPct val="90000"/>
              </a:lnSpc>
              <a:buNone/>
            </a:pPr>
            <a:r>
              <a:rPr lang="en-US" altLang="zh-CN" sz="2000" dirty="0"/>
              <a:t>      8.   </a:t>
            </a:r>
            <a:r>
              <a:rPr lang="en-US" altLang="zh-CN" sz="2000" b="1" dirty="0"/>
              <a:t>end while</a:t>
            </a:r>
            <a:r>
              <a:rPr lang="en-US" altLang="zh-CN" sz="2000" dirty="0"/>
              <a:t> </a:t>
            </a:r>
            <a:endParaRPr lang="en-US" altLang="zh-CN" sz="2000" dirty="0"/>
          </a:p>
          <a:p>
            <a:pPr lvl="1" eaLnBrk="1" hangingPunct="1">
              <a:lnSpc>
                <a:spcPct val="90000"/>
              </a:lnSpc>
              <a:buNone/>
            </a:pPr>
            <a:r>
              <a:rPr lang="en-US" altLang="zh-CN" sz="2000" dirty="0"/>
              <a:t>      9.   A[j+1]</a:t>
            </a:r>
            <a:r>
              <a:rPr lang="en-US" altLang="zh-CN" sz="2000" dirty="0">
                <a:sym typeface="Wingdings" panose="05000000000000000000" pitchFamily="2" charset="2"/>
              </a:rPr>
              <a:t>x</a:t>
            </a:r>
            <a:endParaRPr lang="en-US" altLang="zh-CN" sz="2000" dirty="0">
              <a:sym typeface="Wingdings" panose="05000000000000000000" pitchFamily="2" charset="2"/>
            </a:endParaRPr>
          </a:p>
          <a:p>
            <a:pPr lvl="1" eaLnBrk="1" hangingPunct="1">
              <a:lnSpc>
                <a:spcPct val="90000"/>
              </a:lnSpc>
              <a:buNone/>
            </a:pPr>
            <a:r>
              <a:rPr lang="en-US" altLang="zh-CN" sz="2000" dirty="0"/>
              <a:t>      10. </a:t>
            </a:r>
            <a:r>
              <a:rPr lang="en-US" altLang="zh-CN" sz="2000" b="1" dirty="0"/>
              <a:t>end if</a:t>
            </a:r>
            <a:endParaRPr lang="en-US" altLang="zh-CN"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页脚占位符 5"/>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27650" name="Rectangle 2"/>
          <p:cNvSpPr>
            <a:spLocks noGrp="1"/>
          </p:cNvSpPr>
          <p:nvPr>
            <p:ph type="title"/>
          </p:nvPr>
        </p:nvSpPr>
        <p:spPr/>
        <p:txBody>
          <a:bodyPr vert="horz" wrap="square" lIns="91440" tIns="45720" rIns="91440" bIns="45720" anchor="ctr" anchorCtr="0"/>
          <a:p>
            <a:pPr eaLnBrk="1" hangingPunct="1"/>
            <a:r>
              <a:rPr lang="en-US" altLang="zh-CN" dirty="0"/>
              <a:t>Algorithm analysis</a:t>
            </a:r>
            <a:endParaRPr lang="en-US" altLang="zh-CN" dirty="0"/>
          </a:p>
        </p:txBody>
      </p:sp>
      <p:sp>
        <p:nvSpPr>
          <p:cNvPr id="102403" name="Rectangle 3"/>
          <p:cNvSpPr>
            <a:spLocks noGrp="1"/>
          </p:cNvSpPr>
          <p:nvPr>
            <p:ph type="body" sz="half" idx="1"/>
          </p:nvPr>
        </p:nvSpPr>
        <p:spPr>
          <a:xfrm>
            <a:off x="539750" y="1196975"/>
            <a:ext cx="8147050" cy="4565650"/>
          </a:xfrm>
        </p:spPr>
        <p:txBody>
          <a:bodyPr vert="horz" wrap="square" lIns="91440" tIns="45720" rIns="91440" bIns="45720" anchor="t" anchorCtr="0"/>
          <a:p>
            <a:pPr lvl="1" eaLnBrk="1" hangingPunct="1"/>
            <a:r>
              <a:rPr lang="en-US" altLang="zh-CN" sz="2000" dirty="0"/>
              <a:t>Clearly, C(1) = 0. </a:t>
            </a:r>
            <a:endParaRPr lang="en-US" altLang="zh-CN" sz="2000" dirty="0"/>
          </a:p>
          <a:p>
            <a:pPr lvl="1" eaLnBrk="1" hangingPunct="1"/>
            <a:r>
              <a:rPr lang="en-US" altLang="zh-CN" sz="2000" dirty="0"/>
              <a:t>The first time Procedure sort is invoked i = n, and hence there are n elements in the array.</a:t>
            </a:r>
            <a:endParaRPr lang="en-US" altLang="zh-CN" sz="2000" dirty="0"/>
          </a:p>
          <a:p>
            <a:pPr lvl="1" eaLnBrk="1" hangingPunct="1"/>
            <a:r>
              <a:rPr lang="en-US" altLang="zh-CN" sz="2000" dirty="0">
                <a:solidFill>
                  <a:srgbClr val="EA0000"/>
                </a:solidFill>
              </a:rPr>
              <a:t>In the best case</a:t>
            </a:r>
            <a:r>
              <a:rPr lang="en-US" altLang="zh-CN" sz="2000" dirty="0"/>
              <a:t> there are 1 elements comparisons plus the number of element comparisons that result from the recursive call sort(i-1) to sort the array A[1..n-1]. Hence, we have</a:t>
            </a:r>
            <a:endParaRPr lang="en-US" altLang="zh-CN" sz="2000" dirty="0"/>
          </a:p>
          <a:p>
            <a:pPr lvl="1" eaLnBrk="1" hangingPunct="1"/>
            <a:endParaRPr lang="en-US" altLang="zh-CN" sz="2000" dirty="0"/>
          </a:p>
          <a:p>
            <a:pPr lvl="1" eaLnBrk="1" hangingPunct="1"/>
            <a:endParaRPr lang="en-US" altLang="zh-CN" sz="2000" dirty="0"/>
          </a:p>
          <a:p>
            <a:pPr lvl="1" eaLnBrk="1" hangingPunct="1"/>
            <a:r>
              <a:rPr lang="en-US" altLang="zh-CN" sz="2000" dirty="0">
                <a:solidFill>
                  <a:srgbClr val="EA0000"/>
                </a:solidFill>
              </a:rPr>
              <a:t>In the worst case</a:t>
            </a:r>
            <a:r>
              <a:rPr lang="en-US" altLang="zh-CN" sz="2000" dirty="0"/>
              <a:t> there are n-1 elements comparisons plus the number of element comparisons that result from the recursive call sort(i-1) to sort the array A[1..n-1]. Hence, we have</a:t>
            </a:r>
            <a:endParaRPr lang="en-US" altLang="zh-CN" sz="2000" dirty="0"/>
          </a:p>
        </p:txBody>
      </p:sp>
      <p:graphicFrame>
        <p:nvGraphicFramePr>
          <p:cNvPr id="102404" name="Object 4"/>
          <p:cNvGraphicFramePr>
            <a:graphicFrameLocks noGrp="1" noChangeAspect="1"/>
          </p:cNvGraphicFramePr>
          <p:nvPr>
            <p:ph sz="quarter" idx="2"/>
          </p:nvPr>
        </p:nvGraphicFramePr>
        <p:xfrm>
          <a:off x="2339975" y="3284538"/>
          <a:ext cx="4176713" cy="741362"/>
        </p:xfrm>
        <a:graphic>
          <a:graphicData uri="http://schemas.openxmlformats.org/presentationml/2006/ole">
            <mc:AlternateContent xmlns:mc="http://schemas.openxmlformats.org/markup-compatibility/2006">
              <mc:Choice xmlns:v="urn:schemas-microsoft-com:vml" Requires="v">
                <p:oleObj spid="_x0000_s3082" name="" r:id="rId1" imgW="2717800" imgH="457200" progId="Equation.DSMT4">
                  <p:embed/>
                </p:oleObj>
              </mc:Choice>
              <mc:Fallback>
                <p:oleObj name="" r:id="rId1" imgW="2717800" imgH="457200" progId="Equation.DSMT4">
                  <p:embed/>
                  <p:pic>
                    <p:nvPicPr>
                      <p:cNvPr id="0" name="图片 3081"/>
                      <p:cNvPicPr/>
                      <p:nvPr/>
                    </p:nvPicPr>
                    <p:blipFill>
                      <a:blip r:embed="rId2"/>
                      <a:stretch>
                        <a:fillRect/>
                      </a:stretch>
                    </p:blipFill>
                    <p:spPr>
                      <a:xfrm>
                        <a:off x="2339975" y="3284538"/>
                        <a:ext cx="4176713" cy="741362"/>
                      </a:xfrm>
                      <a:prstGeom prst="rect">
                        <a:avLst/>
                      </a:prstGeom>
                      <a:noFill/>
                      <a:ln w="38100">
                        <a:miter/>
                      </a:ln>
                    </p:spPr>
                  </p:pic>
                </p:oleObj>
              </mc:Fallback>
            </mc:AlternateContent>
          </a:graphicData>
        </a:graphic>
      </p:graphicFrame>
      <p:graphicFrame>
        <p:nvGraphicFramePr>
          <p:cNvPr id="102406" name="Object 6"/>
          <p:cNvGraphicFramePr>
            <a:graphicFrameLocks noGrp="1" noChangeAspect="1"/>
          </p:cNvGraphicFramePr>
          <p:nvPr>
            <p:ph sz="quarter" idx="3"/>
          </p:nvPr>
        </p:nvGraphicFramePr>
        <p:xfrm>
          <a:off x="1763713" y="4981575"/>
          <a:ext cx="5688012" cy="752475"/>
        </p:xfrm>
        <a:graphic>
          <a:graphicData uri="http://schemas.openxmlformats.org/presentationml/2006/ole">
            <mc:AlternateContent xmlns:mc="http://schemas.openxmlformats.org/markup-compatibility/2006">
              <mc:Choice xmlns:v="urn:schemas-microsoft-com:vml" Requires="v">
                <p:oleObj spid="_x0000_s3081" name="" r:id="rId3" imgW="3657600" imgH="457200" progId="Equation.DSMT4">
                  <p:embed/>
                </p:oleObj>
              </mc:Choice>
              <mc:Fallback>
                <p:oleObj name="" r:id="rId3" imgW="3657600" imgH="457200" progId="Equation.DSMT4">
                  <p:embed/>
                  <p:pic>
                    <p:nvPicPr>
                      <p:cNvPr id="0" name="图片 3080"/>
                      <p:cNvPicPr/>
                      <p:nvPr/>
                    </p:nvPicPr>
                    <p:blipFill>
                      <a:blip r:embed="rId4"/>
                      <a:stretch>
                        <a:fillRect/>
                      </a:stretch>
                    </p:blipFill>
                    <p:spPr>
                      <a:xfrm>
                        <a:off x="1763713" y="4981575"/>
                        <a:ext cx="5688012" cy="75247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2403">
                                            <p:txEl>
                                              <p:charRg st="0" end="20"/>
                                            </p:txEl>
                                          </p:spTgt>
                                        </p:tgtEl>
                                        <p:attrNameLst>
                                          <p:attrName>style.visibility</p:attrName>
                                        </p:attrNameLst>
                                      </p:cBhvr>
                                      <p:to>
                                        <p:strVal val="visible"/>
                                      </p:to>
                                    </p:set>
                                    <p:animEffect transition="in" filter="slide(fromBottom)">
                                      <p:cBhvr>
                                        <p:cTn id="7" dur="500"/>
                                        <p:tgtEl>
                                          <p:spTgt spid="102403">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02403">
                                            <p:txEl>
                                              <p:charRg st="20" end="113"/>
                                            </p:txEl>
                                          </p:spTgt>
                                        </p:tgtEl>
                                        <p:attrNameLst>
                                          <p:attrName>style.visibility</p:attrName>
                                        </p:attrNameLst>
                                      </p:cBhvr>
                                      <p:to>
                                        <p:strVal val="visible"/>
                                      </p:to>
                                    </p:set>
                                    <p:animEffect transition="in" filter="slide(fromBottom)">
                                      <p:cBhvr>
                                        <p:cTn id="12" dur="500"/>
                                        <p:tgtEl>
                                          <p:spTgt spid="102403">
                                            <p:txEl>
                                              <p:charRg st="20" end="1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02403">
                                            <p:txEl>
                                              <p:charRg st="113" end="292"/>
                                            </p:txEl>
                                          </p:spTgt>
                                        </p:tgtEl>
                                        <p:attrNameLst>
                                          <p:attrName>style.visibility</p:attrName>
                                        </p:attrNameLst>
                                      </p:cBhvr>
                                      <p:to>
                                        <p:strVal val="visible"/>
                                      </p:to>
                                    </p:set>
                                    <p:animEffect transition="in" filter="slide(fromBottom)">
                                      <p:cBhvr>
                                        <p:cTn id="17" dur="500"/>
                                        <p:tgtEl>
                                          <p:spTgt spid="102403">
                                            <p:txEl>
                                              <p:charRg st="113" end="292"/>
                                            </p:txEl>
                                          </p:spTgt>
                                        </p:tgtEl>
                                      </p:cBhvr>
                                    </p:animEffect>
                                  </p:childTnLst>
                                </p:cTn>
                              </p:par>
                            </p:childTnLst>
                          </p:cTn>
                        </p:par>
                        <p:par>
                          <p:cTn id="18" fill="hold">
                            <p:stCondLst>
                              <p:cond delay="500"/>
                            </p:stCondLst>
                            <p:childTnLst>
                              <p:par>
                                <p:cTn id="19" presetID="12" presetClass="entr" presetSubtype="4" fill="hold" nodeType="afterEffect">
                                  <p:stCondLst>
                                    <p:cond delay="0"/>
                                  </p:stCondLst>
                                  <p:childTnLst>
                                    <p:set>
                                      <p:cBhvr>
                                        <p:cTn id="20" dur="1" fill="hold">
                                          <p:stCondLst>
                                            <p:cond delay="0"/>
                                          </p:stCondLst>
                                        </p:cTn>
                                        <p:tgtEl>
                                          <p:spTgt spid="102404"/>
                                        </p:tgtEl>
                                        <p:attrNameLst>
                                          <p:attrName>style.visibility</p:attrName>
                                        </p:attrNameLst>
                                      </p:cBhvr>
                                      <p:to>
                                        <p:strVal val="visible"/>
                                      </p:to>
                                    </p:set>
                                    <p:animEffect transition="in" filter="slide(fromBottom)">
                                      <p:cBhvr>
                                        <p:cTn id="21" dur="500"/>
                                        <p:tgtEl>
                                          <p:spTgt spid="102404"/>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02403">
                                            <p:txEl>
                                              <p:charRg st="294" end="476"/>
                                            </p:txEl>
                                          </p:spTgt>
                                        </p:tgtEl>
                                        <p:attrNameLst>
                                          <p:attrName>style.visibility</p:attrName>
                                        </p:attrNameLst>
                                      </p:cBhvr>
                                      <p:to>
                                        <p:strVal val="visible"/>
                                      </p:to>
                                    </p:set>
                                    <p:animEffect transition="in" filter="slide(fromBottom)">
                                      <p:cBhvr>
                                        <p:cTn id="26" dur="500"/>
                                        <p:tgtEl>
                                          <p:spTgt spid="102403">
                                            <p:txEl>
                                              <p:charRg st="294" end="476"/>
                                            </p:txEl>
                                          </p:spTgt>
                                        </p:tgtEl>
                                      </p:cBhvr>
                                    </p:animEffect>
                                  </p:childTnLst>
                                </p:cTn>
                              </p:par>
                            </p:childTnLst>
                          </p:cTn>
                        </p:par>
                        <p:par>
                          <p:cTn id="27" fill="hold">
                            <p:stCondLst>
                              <p:cond delay="500"/>
                            </p:stCondLst>
                            <p:childTnLst>
                              <p:par>
                                <p:cTn id="28" presetID="12" presetClass="entr" presetSubtype="4" fill="hold" nodeType="afterEffect">
                                  <p:stCondLst>
                                    <p:cond delay="0"/>
                                  </p:stCondLst>
                                  <p:childTnLst>
                                    <p:set>
                                      <p:cBhvr>
                                        <p:cTn id="29" dur="1" fill="hold">
                                          <p:stCondLst>
                                            <p:cond delay="0"/>
                                          </p:stCondLst>
                                        </p:cTn>
                                        <p:tgtEl>
                                          <p:spTgt spid="102406"/>
                                        </p:tgtEl>
                                        <p:attrNameLst>
                                          <p:attrName>style.visibility</p:attrName>
                                        </p:attrNameLst>
                                      </p:cBhvr>
                                      <p:to>
                                        <p:strVal val="visible"/>
                                      </p:to>
                                    </p:set>
                                    <p:animEffect transition="in" filter="slide(fromBottom)">
                                      <p:cBhvr>
                                        <p:cTn id="30" dur="500"/>
                                        <p:tgtEl>
                                          <p:spTgt spid="10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p:txBody>
          <a:bodyPr anchor="ctr" anchorCtr="0"/>
          <a:p>
            <a:r>
              <a:rPr lang="zh-CN" altLang="en-US"/>
              <a:t>算法分析</a:t>
            </a:r>
            <a:endParaRPr lang="zh-CN" altLang="en-US"/>
          </a:p>
        </p:txBody>
      </p:sp>
      <p:sp>
        <p:nvSpPr>
          <p:cNvPr id="29698" name="内容占位符 2"/>
          <p:cNvSpPr>
            <a:spLocks noGrp="1"/>
          </p:cNvSpPr>
          <p:nvPr>
            <p:ph idx="1"/>
          </p:nvPr>
        </p:nvSpPr>
        <p:spPr/>
        <p:txBody>
          <a:bodyPr anchor="t" anchorCtr="0"/>
          <a:p>
            <a:r>
              <a:rPr lang="en-US" altLang="zh-CN"/>
              <a:t>N=1,</a:t>
            </a:r>
            <a:r>
              <a:rPr lang="zh-CN" altLang="en-US"/>
              <a:t>显然</a:t>
            </a:r>
            <a:r>
              <a:rPr lang="en-US" altLang="zh-CN"/>
              <a:t>C(1)=0;</a:t>
            </a:r>
            <a:endParaRPr lang="en-US" altLang="zh-CN"/>
          </a:p>
          <a:p>
            <a:r>
              <a:rPr lang="en-US" altLang="zh-CN"/>
              <a:t>N=n-1</a:t>
            </a:r>
            <a:r>
              <a:rPr lang="zh-CN" altLang="en-US"/>
              <a:t>时的代价设为</a:t>
            </a:r>
            <a:r>
              <a:rPr lang="en-US" altLang="zh-CN"/>
              <a:t>C(n-1)</a:t>
            </a:r>
            <a:endParaRPr lang="en-US" altLang="zh-CN"/>
          </a:p>
          <a:p>
            <a:r>
              <a:rPr lang="en-US" altLang="zh-CN"/>
              <a:t>N =n</a:t>
            </a:r>
            <a:r>
              <a:rPr lang="zh-CN" altLang="en-US"/>
              <a:t>时，代价两部分：一部分是</a:t>
            </a:r>
            <a:r>
              <a:rPr lang="en-US" altLang="zh-CN"/>
              <a:t>C(n-1)</a:t>
            </a:r>
            <a:r>
              <a:rPr lang="zh-CN" altLang="en-US"/>
              <a:t>，另一部分是有</a:t>
            </a:r>
            <a:r>
              <a:rPr lang="en-US" altLang="zh-CN"/>
              <a:t>N=n-1</a:t>
            </a:r>
            <a:r>
              <a:rPr lang="zh-CN" altLang="en-US"/>
              <a:t>的解归纳出</a:t>
            </a:r>
            <a:r>
              <a:rPr lang="en-US" altLang="zh-CN"/>
              <a:t>N=n</a:t>
            </a:r>
            <a:r>
              <a:rPr lang="zh-CN" altLang="en-US"/>
              <a:t>的解</a:t>
            </a:r>
            <a:endParaRPr lang="en-US" altLang="zh-CN"/>
          </a:p>
          <a:p>
            <a:pPr lvl="1"/>
            <a:r>
              <a:rPr lang="zh-CN" altLang="en-US"/>
              <a:t>最好情况，当前值大于</a:t>
            </a:r>
            <a:r>
              <a:rPr lang="en-US" altLang="zh-CN"/>
              <a:t>A[j]&gt;x</a:t>
            </a:r>
            <a:endParaRPr lang="en-US" altLang="zh-CN"/>
          </a:p>
          <a:p>
            <a:pPr lvl="1"/>
            <a:endParaRPr lang="zh-CN" altLang="en-US"/>
          </a:p>
          <a:p>
            <a:endParaRPr lang="zh-CN" altLang="en-US"/>
          </a:p>
          <a:p>
            <a:pPr lvl="1"/>
            <a:r>
              <a:rPr lang="zh-CN" altLang="en-US"/>
              <a:t>最坏情况，需要</a:t>
            </a:r>
            <a:r>
              <a:rPr lang="en-US" altLang="zh-CN"/>
              <a:t>n-1</a:t>
            </a:r>
            <a:r>
              <a:rPr lang="zh-CN" altLang="en-US"/>
              <a:t>次比较（</a:t>
            </a:r>
            <a:r>
              <a:rPr lang="zh-CN" altLang="en-US">
                <a:solidFill>
                  <a:srgbClr val="FF0000"/>
                </a:solidFill>
              </a:rPr>
              <a:t>逆序</a:t>
            </a:r>
            <a:r>
              <a:rPr lang="zh-CN" altLang="en-US"/>
              <a:t>）</a:t>
            </a:r>
            <a:endParaRPr lang="zh-CN" altLang="en-US" b="1">
              <a:solidFill>
                <a:srgbClr val="3333FF"/>
              </a:solidFill>
            </a:endParaRPr>
          </a:p>
        </p:txBody>
      </p:sp>
      <p:graphicFrame>
        <p:nvGraphicFramePr>
          <p:cNvPr id="102404" name="Object 4"/>
          <p:cNvGraphicFramePr>
            <a:graphicFrameLocks noGrp="1" noChangeAspect="1"/>
          </p:cNvGraphicFramePr>
          <p:nvPr>
            <p:ph sz="quarter" idx="4294967295"/>
          </p:nvPr>
        </p:nvGraphicFramePr>
        <p:xfrm>
          <a:off x="2339975" y="3429000"/>
          <a:ext cx="4176713" cy="741363"/>
        </p:xfrm>
        <a:graphic>
          <a:graphicData uri="http://schemas.openxmlformats.org/presentationml/2006/ole">
            <mc:AlternateContent xmlns:mc="http://schemas.openxmlformats.org/markup-compatibility/2006">
              <mc:Choice xmlns:v="urn:schemas-microsoft-com:vml" Requires="v">
                <p:oleObj spid="_x0000_s3084" name="" r:id="rId1" imgW="2717800" imgH="457200" progId="Equation.DSMT4">
                  <p:embed/>
                </p:oleObj>
              </mc:Choice>
              <mc:Fallback>
                <p:oleObj name="" r:id="rId1" imgW="2717800" imgH="457200" progId="Equation.DSMT4">
                  <p:embed/>
                  <p:pic>
                    <p:nvPicPr>
                      <p:cNvPr id="0" name="图片 3083"/>
                      <p:cNvPicPr/>
                      <p:nvPr/>
                    </p:nvPicPr>
                    <p:blipFill>
                      <a:blip r:embed="rId2"/>
                      <a:stretch>
                        <a:fillRect/>
                      </a:stretch>
                    </p:blipFill>
                    <p:spPr>
                      <a:xfrm>
                        <a:off x="2339975" y="3429000"/>
                        <a:ext cx="4176713" cy="741363"/>
                      </a:xfrm>
                      <a:prstGeom prst="rect">
                        <a:avLst/>
                      </a:prstGeom>
                      <a:noFill/>
                      <a:ln w="38100">
                        <a:miter/>
                      </a:ln>
                    </p:spPr>
                  </p:pic>
                </p:oleObj>
              </mc:Fallback>
            </mc:AlternateContent>
          </a:graphicData>
        </a:graphic>
      </p:graphicFrame>
      <p:graphicFrame>
        <p:nvGraphicFramePr>
          <p:cNvPr id="102406" name="Object 6"/>
          <p:cNvGraphicFramePr>
            <a:graphicFrameLocks noGrp="1" noChangeAspect="1"/>
          </p:cNvGraphicFramePr>
          <p:nvPr>
            <p:ph sz="quarter" idx="4294967295"/>
          </p:nvPr>
        </p:nvGraphicFramePr>
        <p:xfrm>
          <a:off x="1728788" y="4797425"/>
          <a:ext cx="5688012" cy="752475"/>
        </p:xfrm>
        <a:graphic>
          <a:graphicData uri="http://schemas.openxmlformats.org/presentationml/2006/ole">
            <mc:AlternateContent xmlns:mc="http://schemas.openxmlformats.org/markup-compatibility/2006">
              <mc:Choice xmlns:v="urn:schemas-microsoft-com:vml" Requires="v">
                <p:oleObj spid="_x0000_s3083" name="" r:id="rId3" imgW="3657600" imgH="457200" progId="Equation.DSMT4">
                  <p:embed/>
                </p:oleObj>
              </mc:Choice>
              <mc:Fallback>
                <p:oleObj name="" r:id="rId3" imgW="3657600" imgH="457200" progId="Equation.DSMT4">
                  <p:embed/>
                  <p:pic>
                    <p:nvPicPr>
                      <p:cNvPr id="0" name="图片 3082"/>
                      <p:cNvPicPr/>
                      <p:nvPr/>
                    </p:nvPicPr>
                    <p:blipFill>
                      <a:blip r:embed="rId4"/>
                      <a:stretch>
                        <a:fillRect/>
                      </a:stretch>
                    </p:blipFill>
                    <p:spPr>
                      <a:xfrm>
                        <a:off x="1728788" y="4797425"/>
                        <a:ext cx="5688012" cy="75247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slide(fromBottom)">
                                      <p:cBhvr>
                                        <p:cTn id="7" dur="500"/>
                                        <p:tgtEl>
                                          <p:spTgt spid="102404"/>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02406"/>
                                        </p:tgtEl>
                                        <p:attrNameLst>
                                          <p:attrName>style.visibility</p:attrName>
                                        </p:attrNameLst>
                                      </p:cBhvr>
                                      <p:to>
                                        <p:strVal val="visible"/>
                                      </p:to>
                                    </p:set>
                                    <p:animEffect transition="in" filter="slide(fromBottom)">
                                      <p:cBhvr>
                                        <p:cTn id="11" dur="500"/>
                                        <p:tgtEl>
                                          <p:spTgt spid="10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146" name="Rectangle 2"/>
          <p:cNvSpPr>
            <a:spLocks noGrp="1"/>
          </p:cNvSpPr>
          <p:nvPr>
            <p:ph type="title"/>
          </p:nvPr>
        </p:nvSpPr>
        <p:spPr/>
        <p:txBody>
          <a:bodyPr vert="horz" wrap="square" lIns="91440" tIns="45720" rIns="91440" bIns="45720" anchor="ctr" anchorCtr="0"/>
          <a:p>
            <a:pPr eaLnBrk="1" hangingPunct="1"/>
            <a:r>
              <a:rPr lang="zh-CN" altLang="en-US" dirty="0"/>
              <a:t>主要内容</a:t>
            </a:r>
            <a:endParaRPr lang="en-US" altLang="zh-CN" dirty="0"/>
          </a:p>
        </p:txBody>
      </p:sp>
      <p:sp>
        <p:nvSpPr>
          <p:cNvPr id="239619" name="Rectangle 3"/>
          <p:cNvSpPr>
            <a:spLocks noGrp="1"/>
          </p:cNvSpPr>
          <p:nvPr>
            <p:ph idx="1"/>
          </p:nvPr>
        </p:nvSpPr>
        <p:spPr>
          <a:xfrm>
            <a:off x="900113" y="1196975"/>
            <a:ext cx="7786687" cy="4889500"/>
          </a:xfrm>
        </p:spPr>
        <p:txBody>
          <a:bodyPr vert="horz" wrap="square" lIns="91440" tIns="45720" rIns="91440" bIns="45720" anchor="t" anchorCtr="0"/>
          <a:p>
            <a:pPr marL="0" indent="0" eaLnBrk="1" hangingPunct="1">
              <a:lnSpc>
                <a:spcPct val="90000"/>
              </a:lnSpc>
              <a:buNone/>
            </a:pP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2.2 归纳法策略的算法设计思想及分析方法</a:t>
            </a:r>
            <a:endParaRPr lang="en-US" altLang="zh-CN" sz="2400" dirty="0" smtClean="0">
              <a:latin typeface="+mn-ea"/>
              <a:cs typeface="+mn-ea"/>
            </a:endParaRPr>
          </a:p>
          <a:p>
            <a:pPr marL="0" lvl="1" algn="l" eaLnBrk="1" hangingPunct="1">
              <a:lnSpc>
                <a:spcPct val="90000"/>
              </a:lnSpc>
              <a:buClrTx/>
              <a:buSzTx/>
              <a:buFontTx/>
              <a:buNone/>
            </a:pPr>
            <a:r>
              <a:rPr lang="en-US" altLang="zh-CN" sz="2400" dirty="0" smtClean="0">
                <a:latin typeface="+mn-ea"/>
                <a:ea typeface="+mn-ea"/>
                <a:cs typeface="+mn-ea"/>
              </a:rPr>
              <a:t>      2.2.1 归纳算法框架</a:t>
            </a:r>
            <a:endParaRPr lang="en-US" altLang="zh-CN" sz="2400" dirty="0" smtClean="0">
              <a:latin typeface="+mn-ea"/>
              <a:ea typeface="+mn-ea"/>
              <a:cs typeface="+mn-ea"/>
            </a:endParaRPr>
          </a:p>
          <a:p>
            <a:pPr marL="0" lvl="1" algn="l" eaLnBrk="1" hangingPunct="1">
              <a:lnSpc>
                <a:spcPct val="90000"/>
              </a:lnSpc>
              <a:buClrTx/>
              <a:buSzTx/>
              <a:buFontTx/>
              <a:buNone/>
            </a:pPr>
            <a:r>
              <a:rPr lang="en-US" altLang="zh-CN" sz="2400" dirty="0" smtClean="0">
                <a:latin typeface="+mn-ea"/>
                <a:ea typeface="+mn-ea"/>
                <a:cs typeface="+mn-ea"/>
              </a:rPr>
              <a:t>      2.2.2 归纳算法的一般分析方法</a:t>
            </a:r>
            <a:endParaRPr lang="en-US" altLang="zh-CN" sz="2400" dirty="0" smtClean="0">
              <a:latin typeface="+mn-ea"/>
              <a:ea typeface="+mn-ea"/>
              <a:cs typeface="+mn-ea"/>
            </a:endParaRPr>
          </a:p>
        </p:txBody>
      </p:sp>
      <p:pic>
        <p:nvPicPr>
          <p:cNvPr id="239620" name="Picture 4" descr="j0195384"/>
          <p:cNvPicPr>
            <a:picLocks noChangeAspect="1"/>
          </p:cNvPicPr>
          <p:nvPr/>
        </p:nvPicPr>
        <p:blipFill>
          <a:blip r:embed="rId1"/>
          <a:stretch>
            <a:fillRect/>
          </a:stretch>
        </p:blipFill>
        <p:spPr>
          <a:xfrm>
            <a:off x="5940425" y="260350"/>
            <a:ext cx="1231900" cy="12573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239620"/>
                                        </p:tgtEl>
                                      </p:cBhvr>
                                    </p:animEffect>
                                    <p:animScale>
                                      <p:cBhvr>
                                        <p:cTn id="7" dur="250" autoRev="1" fill="hold"/>
                                        <p:tgtEl>
                                          <p:spTgt spid="239620"/>
                                        </p:tgtEl>
                                      </p:cBhvr>
                                      <p:by x="105000" y="105000"/>
                                    </p:animScale>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239619">
                                            <p:txEl>
                                              <p:charRg st="0" end="5"/>
                                            </p:txEl>
                                          </p:spTgt>
                                        </p:tgtEl>
                                        <p:attrNameLst>
                                          <p:attrName>style.visibility</p:attrName>
                                        </p:attrNameLst>
                                      </p:cBhvr>
                                      <p:to>
                                        <p:strVal val="visible"/>
                                      </p:to>
                                    </p:set>
                                    <p:anim calcmode="lin" valueType="num">
                                      <p:cBhvr additive="base">
                                        <p:cTn id="12" dur="500" fill="hold"/>
                                        <p:tgtEl>
                                          <p:spTgt spid="239619">
                                            <p:txEl>
                                              <p:charRg st="0"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9619">
                                            <p:txEl>
                                              <p:charRg st="0" end="5"/>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0" end="5"/>
                                            </p:txEl>
                                          </p:spTgt>
                                        </p:tgtEl>
                                        <p:attrNameLst>
                                          <p:attrName>ppt_c</p:attrName>
                                        </p:attrNameLst>
                                      </p:cBhvr>
                                      <p:to>
                                        <a:schemeClr val="bg2"/>
                                      </p:to>
                                    </p:animClr>
                                  </p:subTnLst>
                                </p:cTn>
                              </p:par>
                              <p:par>
                                <p:cTn id="14" presetID="2" presetClass="entr" presetSubtype="1" fill="hold" grpId="0" nodeType="withEffect">
                                  <p:stCondLst>
                                    <p:cond delay="0"/>
                                  </p:stCondLst>
                                  <p:childTnLst>
                                    <p:set>
                                      <p:cBhvr>
                                        <p:cTn id="15" dur="1" fill="hold">
                                          <p:stCondLst>
                                            <p:cond delay="0"/>
                                          </p:stCondLst>
                                        </p:cTn>
                                        <p:tgtEl>
                                          <p:spTgt spid="239619">
                                            <p:txEl>
                                              <p:charRg st="1" end="1"/>
                                            </p:txEl>
                                          </p:spTgt>
                                        </p:tgtEl>
                                        <p:attrNameLst>
                                          <p:attrName>style.visibility</p:attrName>
                                        </p:attrNameLst>
                                      </p:cBhvr>
                                      <p:to>
                                        <p:strVal val="visible"/>
                                      </p:to>
                                    </p:set>
                                    <p:anim calcmode="lin" valueType="num">
                                      <p:cBhvr additive="base">
                                        <p:cTn id="16" dur="500" fill="hold"/>
                                        <p:tgtEl>
                                          <p:spTgt spid="239619">
                                            <p:txEl>
                                              <p:char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39619">
                                            <p:txEl>
                                              <p:charRg st="1" end="1"/>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1" end="1"/>
                                            </p:txEl>
                                          </p:spTgt>
                                        </p:tgtEl>
                                        <p:attrNameLst>
                                          <p:attrName>ppt_c</p:attrName>
                                        </p:attrNameLst>
                                      </p:cBhvr>
                                      <p:to>
                                        <a:schemeClr val="bg2"/>
                                      </p:to>
                                    </p:animClr>
                                  </p:subTnLst>
                                </p:cTn>
                              </p:par>
                              <p:par>
                                <p:cTn id="18" presetID="2" presetClass="entr" presetSubtype="1" fill="hold" grpId="0" nodeType="withEffect">
                                  <p:stCondLst>
                                    <p:cond delay="0"/>
                                  </p:stCondLst>
                                  <p:childTnLst>
                                    <p:set>
                                      <p:cBhvr>
                                        <p:cTn id="19" dur="1" fill="hold">
                                          <p:stCondLst>
                                            <p:cond delay="0"/>
                                          </p:stCondLst>
                                        </p:cTn>
                                        <p:tgtEl>
                                          <p:spTgt spid="239619">
                                            <p:txEl>
                                              <p:charRg st="2" end="2"/>
                                            </p:txEl>
                                          </p:spTgt>
                                        </p:tgtEl>
                                        <p:attrNameLst>
                                          <p:attrName>style.visibility</p:attrName>
                                        </p:attrNameLst>
                                      </p:cBhvr>
                                      <p:to>
                                        <p:strVal val="visible"/>
                                      </p:to>
                                    </p:set>
                                    <p:anim calcmode="lin" valueType="num">
                                      <p:cBhvr additive="base">
                                        <p:cTn id="20" dur="500" fill="hold"/>
                                        <p:tgtEl>
                                          <p:spTgt spid="239619">
                                            <p:txEl>
                                              <p:char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39619">
                                            <p:txEl>
                                              <p:charRg st="2" end="2"/>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8"/>
                                            </p:cond>
                                          </p:stCondLst>
                                          <p:endCondLst>
                                            <p:cond evt="onStopAudio" delay="0">
                                              <p:tgtEl>
                                                <p:sldTgt/>
                                              </p:tgtEl>
                                            </p:cond>
                                          </p:endCondLst>
                                        </p:cTn>
                                        <p:tgtEl>
                                          <p:sndTgt r:embed="rId2" name="type.wav"/>
                                        </p:tgtEl>
                                      </p:cMediaNode>
                                    </p:audio>
                                    <p:animClr clrSpc="rgb" dir="cw">
                                      <p:cBhvr override="childStyle">
                                        <p:cTn dur="1" fill="hold" display="0" masterRel="nextClick" afterEffect="1"/>
                                        <p:tgtEl>
                                          <p:spTgt spid="239619">
                                            <p:txEl>
                                              <p:char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9218" name="Rectangle 2"/>
          <p:cNvSpPr>
            <a:spLocks noGrp="1"/>
          </p:cNvSpPr>
          <p:nvPr>
            <p:ph type="title"/>
          </p:nvPr>
        </p:nvSpPr>
        <p:spPr/>
        <p:txBody>
          <a:bodyPr vert="horz" wrap="square" lIns="91440" tIns="45720" rIns="91440" bIns="45720" anchor="ctr" anchorCtr="0"/>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2.2.1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sym typeface="+mn-ea"/>
              </a:rPr>
              <a:t>归纳算法框架</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163" name="Rectangle 3"/>
          <p:cNvSpPr>
            <a:spLocks noGrp="1" noChangeArrowheads="1"/>
          </p:cNvSpPr>
          <p:nvPr>
            <p:ph idx="1"/>
          </p:nvPr>
        </p:nvSpPr>
        <p:spPr>
          <a:xfrm>
            <a:off x="889000"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数学方面</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考虑一个带有参数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的问题，在问题的实例中</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通常表示事物的数目。</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None/>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当我们寻找这类问题的解时，有时候从求解一个带有小一点参数的相同问题开始，例如参数是</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n-1, n/2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等，然后再把解推广到包含所有的</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个物体。</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这样，问题的解决会比较容易些。这种方法基于众所周知的数学归纳法证明技术。</a:t>
            </a:r>
            <a:endParaRPr kumimoji="0" lang="zh-CN" altLang="en-US" sz="24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92163">
                                            <p:txEl>
                                              <p:charRg st="0" end="5"/>
                                            </p:txEl>
                                          </p:spTgt>
                                        </p:tgtEl>
                                        <p:attrNameLst>
                                          <p:attrName>style.visibility</p:attrName>
                                        </p:attrNameLst>
                                      </p:cBhvr>
                                      <p:to>
                                        <p:strVal val="visible"/>
                                      </p:to>
                                    </p:set>
                                    <p:animEffect transition="in" filter="fade">
                                      <p:cBhvr>
                                        <p:cTn id="7" dur="1000"/>
                                        <p:tgtEl>
                                          <p:spTgt spid="92163">
                                            <p:txEl>
                                              <p:charRg st="0" end="5"/>
                                            </p:txEl>
                                          </p:spTgt>
                                        </p:tgtEl>
                                      </p:cBhvr>
                                    </p:animEffect>
                                    <p:anim calcmode="lin" valueType="num">
                                      <p:cBhvr>
                                        <p:cTn id="8" dur="1000" fill="hold"/>
                                        <p:tgtEl>
                                          <p:spTgt spid="92163">
                                            <p:txEl>
                                              <p:charRg st="0" end="5"/>
                                            </p:txEl>
                                          </p:spTgt>
                                        </p:tgtEl>
                                        <p:attrNameLst>
                                          <p:attrName>ppt_x</p:attrName>
                                        </p:attrNameLst>
                                      </p:cBhvr>
                                      <p:tavLst>
                                        <p:tav tm="0">
                                          <p:val>
                                            <p:strVal val="#ppt_x"/>
                                          </p:val>
                                        </p:tav>
                                        <p:tav tm="100000">
                                          <p:val>
                                            <p:strVal val="#ppt_x"/>
                                          </p:val>
                                        </p:tav>
                                      </p:tavLst>
                                    </p:anim>
                                    <p:anim calcmode="lin" valueType="num">
                                      <p:cBhvr>
                                        <p:cTn id="9" dur="1000" fill="hold"/>
                                        <p:tgtEl>
                                          <p:spTgt spid="92163">
                                            <p:txEl>
                                              <p:charRg st="0"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92163">
                                            <p:txEl>
                                              <p:charRg st="5" end="37"/>
                                            </p:txEl>
                                          </p:spTgt>
                                        </p:tgtEl>
                                        <p:attrNameLst>
                                          <p:attrName>style.visibility</p:attrName>
                                        </p:attrNameLst>
                                      </p:cBhvr>
                                      <p:to>
                                        <p:strVal val="visible"/>
                                      </p:to>
                                    </p:set>
                                    <p:animEffect transition="in" filter="fade">
                                      <p:cBhvr>
                                        <p:cTn id="14" dur="1000"/>
                                        <p:tgtEl>
                                          <p:spTgt spid="92163">
                                            <p:txEl>
                                              <p:charRg st="5" end="37"/>
                                            </p:txEl>
                                          </p:spTgt>
                                        </p:tgtEl>
                                      </p:cBhvr>
                                    </p:animEffect>
                                    <p:anim calcmode="lin" valueType="num">
                                      <p:cBhvr>
                                        <p:cTn id="15" dur="1000" fill="hold"/>
                                        <p:tgtEl>
                                          <p:spTgt spid="92163">
                                            <p:txEl>
                                              <p:charRg st="5" end="37"/>
                                            </p:txEl>
                                          </p:spTgt>
                                        </p:tgtEl>
                                        <p:attrNameLst>
                                          <p:attrName>ppt_x</p:attrName>
                                        </p:attrNameLst>
                                      </p:cBhvr>
                                      <p:tavLst>
                                        <p:tav tm="0">
                                          <p:val>
                                            <p:strVal val="#ppt_x"/>
                                          </p:val>
                                        </p:tav>
                                        <p:tav tm="100000">
                                          <p:val>
                                            <p:strVal val="#ppt_x"/>
                                          </p:val>
                                        </p:tav>
                                      </p:tavLst>
                                    </p:anim>
                                    <p:anim calcmode="lin" valueType="num">
                                      <p:cBhvr>
                                        <p:cTn id="16" dur="1000" fill="hold"/>
                                        <p:tgtEl>
                                          <p:spTgt spid="92163">
                                            <p:txEl>
                                              <p:charRg st="5" end="37"/>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92163">
                                            <p:txEl>
                                              <p:charRg st="38" end="108"/>
                                            </p:txEl>
                                          </p:spTgt>
                                        </p:tgtEl>
                                        <p:attrNameLst>
                                          <p:attrName>style.visibility</p:attrName>
                                        </p:attrNameLst>
                                      </p:cBhvr>
                                      <p:to>
                                        <p:strVal val="visible"/>
                                      </p:to>
                                    </p:set>
                                    <p:animEffect transition="in" filter="fade">
                                      <p:cBhvr>
                                        <p:cTn id="21" dur="1000"/>
                                        <p:tgtEl>
                                          <p:spTgt spid="92163">
                                            <p:txEl>
                                              <p:charRg st="38" end="108"/>
                                            </p:txEl>
                                          </p:spTgt>
                                        </p:tgtEl>
                                      </p:cBhvr>
                                    </p:animEffect>
                                    <p:anim calcmode="lin" valueType="num">
                                      <p:cBhvr>
                                        <p:cTn id="22" dur="1000" fill="hold"/>
                                        <p:tgtEl>
                                          <p:spTgt spid="92163">
                                            <p:txEl>
                                              <p:charRg st="38" end="108"/>
                                            </p:txEl>
                                          </p:spTgt>
                                        </p:tgtEl>
                                        <p:attrNameLst>
                                          <p:attrName>ppt_x</p:attrName>
                                        </p:attrNameLst>
                                      </p:cBhvr>
                                      <p:tavLst>
                                        <p:tav tm="0">
                                          <p:val>
                                            <p:strVal val="#ppt_x"/>
                                          </p:val>
                                        </p:tav>
                                        <p:tav tm="100000">
                                          <p:val>
                                            <p:strVal val="#ppt_x"/>
                                          </p:val>
                                        </p:tav>
                                      </p:tavLst>
                                    </p:anim>
                                    <p:anim calcmode="lin" valueType="num">
                                      <p:cBhvr>
                                        <p:cTn id="23" dur="1000" fill="hold"/>
                                        <p:tgtEl>
                                          <p:spTgt spid="92163">
                                            <p:txEl>
                                              <p:charRg st="38" end="108"/>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92163">
                                            <p:txEl>
                                              <p:charRg st="109" end="146"/>
                                            </p:txEl>
                                          </p:spTgt>
                                        </p:tgtEl>
                                        <p:attrNameLst>
                                          <p:attrName>style.visibility</p:attrName>
                                        </p:attrNameLst>
                                      </p:cBhvr>
                                      <p:to>
                                        <p:strVal val="visible"/>
                                      </p:to>
                                    </p:set>
                                    <p:animEffect transition="in" filter="fade">
                                      <p:cBhvr>
                                        <p:cTn id="28" dur="1000"/>
                                        <p:tgtEl>
                                          <p:spTgt spid="92163">
                                            <p:txEl>
                                              <p:charRg st="109" end="146"/>
                                            </p:txEl>
                                          </p:spTgt>
                                        </p:tgtEl>
                                      </p:cBhvr>
                                    </p:animEffect>
                                    <p:anim calcmode="lin" valueType="num">
                                      <p:cBhvr>
                                        <p:cTn id="29" dur="1000" fill="hold"/>
                                        <p:tgtEl>
                                          <p:spTgt spid="92163">
                                            <p:txEl>
                                              <p:charRg st="109" end="146"/>
                                            </p:txEl>
                                          </p:spTgt>
                                        </p:tgtEl>
                                        <p:attrNameLst>
                                          <p:attrName>ppt_x</p:attrName>
                                        </p:attrNameLst>
                                      </p:cBhvr>
                                      <p:tavLst>
                                        <p:tav tm="0">
                                          <p:val>
                                            <p:strVal val="#ppt_x"/>
                                          </p:val>
                                        </p:tav>
                                        <p:tav tm="100000">
                                          <p:val>
                                            <p:strVal val="#ppt_x"/>
                                          </p:val>
                                        </p:tav>
                                      </p:tavLst>
                                    </p:anim>
                                    <p:anim calcmode="lin" valueType="num">
                                      <p:cBhvr>
                                        <p:cTn id="30" dur="1000" fill="hold"/>
                                        <p:tgtEl>
                                          <p:spTgt spid="92163">
                                            <p:txEl>
                                              <p:charRg st="109" end="14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1266" name="Rectangle 2"/>
          <p:cNvSpPr>
            <a:spLocks noGrp="1"/>
          </p:cNvSpPr>
          <p:nvPr>
            <p:ph type="title"/>
          </p:nvPr>
        </p:nvSpPr>
        <p:spPr/>
        <p:txBody>
          <a:bodyPr vert="horz" wrap="square" lIns="91440" tIns="45720" rIns="91440" bIns="45720" anchor="ctr" anchorCtr="0"/>
          <a:p>
            <a:pPr eaLnBrk="1" hangingPunct="1"/>
            <a:r>
              <a:rPr lang="en-US" altLang="zh-CN" dirty="0">
                <a:latin typeface="+mn-lt"/>
                <a:ea typeface="宋体" panose="02010600030101010101" pitchFamily="2" charset="-122"/>
                <a:cs typeface="+mn-lt"/>
                <a:sym typeface="+mn-ea"/>
              </a:rPr>
              <a:t>2.2.2 </a:t>
            </a:r>
            <a:r>
              <a:rPr lang="en-US" altLang="zh-CN" dirty="0" smtClean="0">
                <a:latin typeface="+mn-lt"/>
                <a:ea typeface="宋体" panose="02010600030101010101" pitchFamily="2" charset="-122"/>
                <a:cs typeface="+mn-lt"/>
                <a:sym typeface="+mn-ea"/>
              </a:rPr>
              <a:t>归纳算法的一般分析方法</a:t>
            </a:r>
            <a:r>
              <a:rPr lang="en-US" altLang="zh-CN" dirty="0"/>
              <a:t> </a:t>
            </a:r>
            <a:endParaRPr lang="en-US" altLang="zh-CN" dirty="0"/>
          </a:p>
        </p:txBody>
      </p:sp>
      <p:sp>
        <p:nvSpPr>
          <p:cNvPr id="93187" name="Rectangle 3"/>
          <p:cNvSpPr>
            <a:spLocks noGrp="1" noChangeArrowheads="1"/>
          </p:cNvSpPr>
          <p:nvPr>
            <p:ph idx="1"/>
          </p:nvPr>
        </p:nvSpPr>
        <p:spPr>
          <a:xfrm>
            <a:off x="900113" y="1268413"/>
            <a:ext cx="7786688" cy="468153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递归思想</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从本质上说，给出一个带有参数</a:t>
            </a:r>
            <a:r>
              <a:rPr kumimoji="0" lang="en-US" altLang="zh-CN" sz="2200" b="0" i="0" u="none" strike="noStrike" kern="0" cap="none" spc="0" normalizeH="0" baseline="0" noProof="0" dirty="0">
                <a:ln>
                  <a:noFill/>
                </a:ln>
                <a:solidFill>
                  <a:schemeClr val="accent2"/>
                </a:solidFill>
                <a:effectLst/>
                <a:uLnTx/>
                <a:uFillTx/>
                <a:latin typeface="+mn-ea"/>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的问题，用归纳法设计一个算法是基于这样一个事实：如果我们知道如何求解带有</a:t>
            </a:r>
            <a:r>
              <a:rPr kumimoji="0" lang="zh-CN" altLang="en-US" sz="2200" b="0" i="0" u="none" strike="noStrike" kern="0" cap="none" spc="0" normalizeH="0" baseline="0" noProof="0" dirty="0">
                <a:ln>
                  <a:noFill/>
                </a:ln>
                <a:solidFill>
                  <a:srgbClr val="FF0000"/>
                </a:solidFill>
                <a:effectLst/>
                <a:uLnTx/>
                <a:uFillTx/>
                <a:latin typeface="+mn-ea"/>
                <a:ea typeface="+mn-ea"/>
                <a:cs typeface="+mn-ea"/>
              </a:rPr>
              <a:t>参数小于</a:t>
            </a:r>
            <a:r>
              <a:rPr kumimoji="0" lang="en-US" altLang="zh-CN" sz="2200" b="0" i="0" u="none" strike="noStrike" kern="0" cap="none" spc="0" normalizeH="0" baseline="0" noProof="0" dirty="0">
                <a:ln>
                  <a:noFill/>
                </a:ln>
                <a:solidFill>
                  <a:srgbClr val="FF0000"/>
                </a:solidFill>
                <a:effectLst/>
                <a:uLnTx/>
                <a:uFillTx/>
                <a:latin typeface="+mn-ea"/>
                <a:ea typeface="+mn-ea"/>
                <a:cs typeface="+mn-ea"/>
              </a:rPr>
              <a:t>n</a:t>
            </a:r>
            <a:r>
              <a:rPr kumimoji="0" lang="zh-CN" altLang="en-US" sz="2200" b="0" i="0" u="none" strike="noStrike" kern="0" cap="none" spc="0" normalizeH="0" baseline="0" noProof="0" dirty="0">
                <a:ln>
                  <a:noFill/>
                </a:ln>
                <a:solidFill>
                  <a:srgbClr val="FF0000"/>
                </a:solidFill>
                <a:effectLst/>
                <a:uLnTx/>
                <a:uFillTx/>
                <a:latin typeface="+mn-ea"/>
                <a:ea typeface="+mn-ea"/>
                <a:cs typeface="+mn-ea"/>
              </a:rPr>
              <a:t>的同样问题</a:t>
            </a:r>
            <a:r>
              <a:rPr kumimoji="0" lang="en-US" altLang="zh-CN" sz="2200" b="0" i="0" u="none" strike="noStrike" kern="0" cap="none" spc="0" normalizeH="0" baseline="0" noProof="0" dirty="0">
                <a:ln>
                  <a:noFill/>
                </a:ln>
                <a:solidFill>
                  <a:schemeClr val="accent2"/>
                </a:solidFill>
                <a:effectLst/>
                <a:uLnTx/>
                <a:uFillTx/>
                <a:latin typeface="+mn-ea"/>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它被称为归纳假设</a:t>
            </a:r>
            <a:r>
              <a:rPr kumimoji="0" lang="en-US" altLang="zh-CN" sz="2200" b="0" i="0" u="none" strike="noStrike" kern="0" cap="none" spc="0" normalizeH="0" baseline="0" noProof="0" dirty="0">
                <a:ln>
                  <a:noFill/>
                </a:ln>
                <a:solidFill>
                  <a:schemeClr val="accent2"/>
                </a:solidFill>
                <a:effectLst/>
                <a:uLnTx/>
                <a:uFillTx/>
                <a:latin typeface="+mn-ea"/>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，那么我们的任务就化为如何把解法</a:t>
            </a:r>
            <a:r>
              <a:rPr kumimoji="0" lang="zh-CN" altLang="en-US" sz="2200" b="0" i="0" u="none" strike="noStrike" kern="0" cap="none" spc="0" normalizeH="0" baseline="0" noProof="0" dirty="0">
                <a:ln>
                  <a:noFill/>
                </a:ln>
                <a:solidFill>
                  <a:srgbClr val="FF0000"/>
                </a:solidFill>
                <a:effectLst/>
                <a:uLnTx/>
                <a:uFillTx/>
                <a:latin typeface="+mn-ea"/>
                <a:ea typeface="+mn-ea"/>
                <a:cs typeface="+mn-ea"/>
              </a:rPr>
              <a:t>扩展到</a:t>
            </a: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带有</a:t>
            </a:r>
            <a:r>
              <a:rPr kumimoji="0" lang="zh-CN" altLang="en-US" sz="2200" b="0" i="0" u="none" strike="noStrike" kern="0" cap="none" spc="0" normalizeH="0" baseline="0" noProof="0" dirty="0">
                <a:ln>
                  <a:noFill/>
                </a:ln>
                <a:solidFill>
                  <a:srgbClr val="FF0000"/>
                </a:solidFill>
                <a:effectLst/>
                <a:uLnTx/>
                <a:uFillTx/>
                <a:latin typeface="+mn-ea"/>
                <a:ea typeface="+mn-ea"/>
                <a:cs typeface="+mn-ea"/>
              </a:rPr>
              <a:t>参数</a:t>
            </a:r>
            <a:r>
              <a:rPr kumimoji="0" lang="en-US" altLang="zh-CN" sz="2200" b="0" i="0" u="none" strike="noStrike" kern="0" cap="none" spc="0" normalizeH="0" baseline="0" noProof="0" dirty="0">
                <a:ln>
                  <a:noFill/>
                </a:ln>
                <a:solidFill>
                  <a:srgbClr val="FF0000"/>
                </a:solidFill>
                <a:effectLst/>
                <a:uLnTx/>
                <a:uFillTx/>
                <a:latin typeface="+mn-ea"/>
                <a:ea typeface="+mn-ea"/>
                <a:cs typeface="+mn-ea"/>
              </a:rPr>
              <a:t>n</a:t>
            </a:r>
            <a:r>
              <a:rPr kumimoji="0" lang="zh-CN" altLang="en-US" sz="2200" b="0" i="0" u="none" strike="noStrike" kern="0" cap="none" spc="0" normalizeH="0" baseline="0" noProof="0" dirty="0">
                <a:ln>
                  <a:noFill/>
                </a:ln>
                <a:solidFill>
                  <a:srgbClr val="FF0000"/>
                </a:solidFill>
                <a:effectLst/>
                <a:uLnTx/>
                <a:uFillTx/>
                <a:latin typeface="+mn-ea"/>
                <a:ea typeface="+mn-ea"/>
                <a:cs typeface="+mn-ea"/>
              </a:rPr>
              <a:t>的实例</a:t>
            </a: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a:t>
            </a:r>
            <a:endParaRPr kumimoji="0" lang="zh-CN" altLang="en-US" sz="22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None/>
              <a:defRPr/>
            </a:pPr>
            <a:endPar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这种设计技术的一个优点是</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一般地，对于所有的递归算法来说都是如此</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它所设计出的算法的正确性证明已自然地嵌入了算法的描述中了</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p:txBody>
      </p:sp>
      <p:pic>
        <p:nvPicPr>
          <p:cNvPr id="11268" name="Picture 7" descr="basic idea"/>
          <p:cNvPicPr>
            <a:picLocks noChangeAspect="1"/>
          </p:cNvPicPr>
          <p:nvPr/>
        </p:nvPicPr>
        <p:blipFill>
          <a:blip r:embed="rId1"/>
          <a:stretch>
            <a:fillRect/>
          </a:stretch>
        </p:blipFill>
        <p:spPr>
          <a:xfrm>
            <a:off x="900113" y="1268413"/>
            <a:ext cx="360362" cy="3349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xEl>
                                              <p:charRg st="0" end="7"/>
                                            </p:txEl>
                                          </p:spTgt>
                                        </p:tgtEl>
                                        <p:attrNameLst>
                                          <p:attrName>style.visibility</p:attrName>
                                        </p:attrNameLst>
                                      </p:cBhvr>
                                      <p:to>
                                        <p:strVal val="visible"/>
                                      </p:to>
                                    </p:set>
                                    <p:animEffect transition="in" filter="blinds(horizontal)">
                                      <p:cBhvr>
                                        <p:cTn id="7" dur="500"/>
                                        <p:tgtEl>
                                          <p:spTgt spid="93187">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3187">
                                            <p:txEl>
                                              <p:charRg st="7" end="107"/>
                                            </p:txEl>
                                          </p:spTgt>
                                        </p:tgtEl>
                                        <p:attrNameLst>
                                          <p:attrName>style.visibility</p:attrName>
                                        </p:attrNameLst>
                                      </p:cBhvr>
                                      <p:to>
                                        <p:strVal val="visible"/>
                                      </p:to>
                                    </p:set>
                                    <p:animEffect transition="in" filter="blinds(horizontal)">
                                      <p:cBhvr>
                                        <p:cTn id="12" dur="500"/>
                                        <p:tgtEl>
                                          <p:spTgt spid="93187">
                                            <p:txEl>
                                              <p:charRg st="7" end="10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3187">
                                            <p:txEl>
                                              <p:charRg st="108" end="172"/>
                                            </p:txEl>
                                          </p:spTgt>
                                        </p:tgtEl>
                                        <p:attrNameLst>
                                          <p:attrName>style.visibility</p:attrName>
                                        </p:attrNameLst>
                                      </p:cBhvr>
                                      <p:to>
                                        <p:strVal val="visible"/>
                                      </p:to>
                                    </p:set>
                                    <p:animEffect transition="in" filter="blinds(horizontal)">
                                      <p:cBhvr>
                                        <p:cTn id="17" dur="500"/>
                                        <p:tgtEl>
                                          <p:spTgt spid="93187">
                                            <p:txEl>
                                              <p:charRg st="108" end="1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146" name="Rectangle 2"/>
          <p:cNvSpPr>
            <a:spLocks noGrp="1"/>
          </p:cNvSpPr>
          <p:nvPr>
            <p:ph type="title"/>
          </p:nvPr>
        </p:nvSpPr>
        <p:spPr/>
        <p:txBody>
          <a:bodyPr vert="horz" wrap="square" lIns="91440" tIns="45720" rIns="91440" bIns="45720" anchor="ctr" anchorCtr="0"/>
          <a:p>
            <a:pPr eaLnBrk="1" hangingPunct="1"/>
            <a:r>
              <a:rPr lang="zh-CN" altLang="en-US" dirty="0"/>
              <a:t>主要内容</a:t>
            </a:r>
            <a:endParaRPr lang="en-US" altLang="zh-CN" dirty="0"/>
          </a:p>
        </p:txBody>
      </p:sp>
      <p:sp>
        <p:nvSpPr>
          <p:cNvPr id="239619" name="Rectangle 3"/>
          <p:cNvSpPr>
            <a:spLocks noGrp="1"/>
          </p:cNvSpPr>
          <p:nvPr>
            <p:ph idx="1"/>
          </p:nvPr>
        </p:nvSpPr>
        <p:spPr>
          <a:xfrm>
            <a:off x="900113" y="1196975"/>
            <a:ext cx="7786687" cy="4889500"/>
          </a:xfrm>
        </p:spPr>
        <p:txBody>
          <a:bodyPr vert="horz" wrap="square" lIns="91440" tIns="45720" rIns="91440" bIns="45720" anchor="t" anchorCtr="0"/>
          <a:p>
            <a:pPr marL="0" indent="0" eaLnBrk="1" hangingPunct="1">
              <a:lnSpc>
                <a:spcPct val="90000"/>
              </a:lnSpc>
              <a:buNone/>
            </a:pP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2.3. 归纳策略的经典应用（可选讲部分）</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2.3.1 求幂问题的算法</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2.3.2 多项式求值问题</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2.3.3 全排列问题</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2.3.4 基数排序问题</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2.3.5 多数元素问题</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2.3.6 汉诺塔问题</a:t>
            </a:r>
            <a:endParaRPr lang="en-US" altLang="zh-CN" sz="2400" dirty="0" smtClean="0">
              <a:latin typeface="+mn-ea"/>
              <a:cs typeface="+mn-ea"/>
            </a:endParaRPr>
          </a:p>
          <a:p>
            <a:pPr marL="0" indent="0" eaLnBrk="1" hangingPunct="1">
              <a:lnSpc>
                <a:spcPct val="90000"/>
              </a:lnSpc>
              <a:buNone/>
            </a:pPr>
            <a:r>
              <a:rPr lang="en-US" altLang="zh-CN" sz="2400" dirty="0" smtClean="0">
                <a:latin typeface="+mn-ea"/>
                <a:cs typeface="+mn-ea"/>
              </a:rPr>
              <a:t>     2.3.7 取棋子游戏问题</a:t>
            </a:r>
            <a:endParaRPr lang="en-US" altLang="zh-CN" sz="2400" dirty="0" smtClean="0">
              <a:latin typeface="+mn-ea"/>
              <a:cs typeface="+mn-ea"/>
            </a:endParaRPr>
          </a:p>
        </p:txBody>
      </p:sp>
      <p:pic>
        <p:nvPicPr>
          <p:cNvPr id="239620" name="Picture 4" descr="j0195384"/>
          <p:cNvPicPr>
            <a:picLocks noChangeAspect="1"/>
          </p:cNvPicPr>
          <p:nvPr/>
        </p:nvPicPr>
        <p:blipFill>
          <a:blip r:embed="rId1"/>
          <a:stretch>
            <a:fillRect/>
          </a:stretch>
        </p:blipFill>
        <p:spPr>
          <a:xfrm>
            <a:off x="5940425" y="260350"/>
            <a:ext cx="1231900" cy="12573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239620"/>
                                        </p:tgtEl>
                                      </p:cBhvr>
                                    </p:animEffect>
                                    <p:animScale>
                                      <p:cBhvr>
                                        <p:cTn id="7" dur="250" autoRev="1" fill="hold"/>
                                        <p:tgtEl>
                                          <p:spTgt spid="239620"/>
                                        </p:tgtEl>
                                      </p:cBhvr>
                                      <p:by x="105000" y="105000"/>
                                    </p:animScale>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52226" name="Rectangle 2"/>
          <p:cNvSpPr>
            <a:spLocks noGrp="1"/>
          </p:cNvSpPr>
          <p:nvPr>
            <p:ph type="title"/>
          </p:nvPr>
        </p:nvSpPr>
        <p:spPr/>
        <p:txBody>
          <a:bodyPr vert="horz" wrap="square" lIns="91440" tIns="45720" rIns="91440" bIns="45720" anchor="ctr" anchorCtr="0"/>
          <a:p>
            <a:pPr eaLnBrk="1" hangingPunct="1"/>
            <a:r>
              <a:rPr lang="en-US" altLang="zh-CN" dirty="0"/>
              <a:t>2.3.1 Integer exponentiation</a:t>
            </a:r>
            <a:r>
              <a:rPr lang="zh-CN" altLang="en-US" dirty="0"/>
              <a:t>（整数幂）</a:t>
            </a:r>
            <a:endParaRPr lang="en-US" altLang="zh-CN" dirty="0"/>
          </a:p>
        </p:txBody>
      </p:sp>
      <p:sp>
        <p:nvSpPr>
          <p:cNvPr id="11366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对求实数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次幂设计一个有效的算法</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直接的方法</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对</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用迭代方法自乘</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次，这种方法是十分低效的，因为它需要</a:t>
            </a:r>
            <a:r>
              <a:rPr kumimoji="0" lang="el-GR" altLang="zh-CN" sz="28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乘法。按输入的大小来说，它是指数的</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见</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1.14</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节</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600" b="0" i="0" u="none" strike="noStrike" kern="0" cap="none" spc="0" normalizeH="0" baseline="0" noProof="0" dirty="0">
              <a:ln>
                <a:noFill/>
              </a:ln>
              <a:solidFill>
                <a:schemeClr val="accent2"/>
              </a:solidFill>
              <a:effectLst/>
              <a:uLnTx/>
              <a:uFillTx/>
              <a:latin typeface="+mn-lt"/>
              <a:ea typeface="+mn-ea"/>
              <a:cs typeface="+mn-ea"/>
            </a:endParaRPr>
          </a:p>
        </p:txBody>
      </p:sp>
      <p:pic>
        <p:nvPicPr>
          <p:cNvPr id="113669" name="Picture 5" descr="question"/>
          <p:cNvPicPr>
            <a:picLocks noChangeAspect="1"/>
          </p:cNvPicPr>
          <p:nvPr/>
        </p:nvPicPr>
        <p:blipFill>
          <a:blip r:embed="rId1"/>
          <a:stretch>
            <a:fillRect/>
          </a:stretch>
        </p:blipFill>
        <p:spPr>
          <a:xfrm>
            <a:off x="971550" y="1268413"/>
            <a:ext cx="431800" cy="431800"/>
          </a:xfrm>
          <a:prstGeom prst="rect">
            <a:avLst/>
          </a:prstGeom>
          <a:noFill/>
          <a:ln w="9525">
            <a:noFill/>
          </a:ln>
        </p:spPr>
      </p:pic>
      <p:pic>
        <p:nvPicPr>
          <p:cNvPr id="113670" name="Picture 6" descr="question"/>
          <p:cNvPicPr>
            <a:picLocks noChangeAspect="1"/>
          </p:cNvPicPr>
          <p:nvPr/>
        </p:nvPicPr>
        <p:blipFill>
          <a:blip r:embed="rId1"/>
          <a:stretch>
            <a:fillRect/>
          </a:stretch>
        </p:blipFill>
        <p:spPr>
          <a:xfrm>
            <a:off x="1116013" y="5084763"/>
            <a:ext cx="431800" cy="431800"/>
          </a:xfrm>
          <a:prstGeom prst="rect">
            <a:avLst/>
          </a:prstGeom>
          <a:noFill/>
          <a:ln w="9525">
            <a:noFill/>
          </a:ln>
        </p:spPr>
      </p:pic>
      <p:sp>
        <p:nvSpPr>
          <p:cNvPr id="113671" name="Text Box 7"/>
          <p:cNvSpPr txBox="1"/>
          <p:nvPr/>
        </p:nvSpPr>
        <p:spPr>
          <a:xfrm>
            <a:off x="1655763" y="5059363"/>
            <a:ext cx="5653087" cy="457200"/>
          </a:xfrm>
          <a:prstGeom prst="rect">
            <a:avLst/>
          </a:prstGeom>
          <a:noFill/>
          <a:ln w="9525">
            <a:noFill/>
          </a:ln>
        </p:spPr>
        <p:txBody>
          <a:bodyPr wrap="none" anchor="t" anchorCtr="0">
            <a:spAutoFit/>
          </a:bodyPr>
          <a:p>
            <a:pPr indent="0"/>
            <a:r>
              <a:rPr lang="en-US" altLang="zh-CN" sz="2400" b="1" dirty="0">
                <a:solidFill>
                  <a:srgbClr val="EA0000"/>
                </a:solidFill>
                <a:latin typeface="Times New Roman" panose="02020603050405020304" pitchFamily="18" charset="0"/>
                <a:ea typeface="宋体" panose="02010600030101010101" pitchFamily="2" charset="-122"/>
              </a:rPr>
              <a:t>Can we find much more efficient method?</a:t>
            </a:r>
            <a:endParaRPr lang="en-US" altLang="zh-CN" sz="2400" b="1" dirty="0">
              <a:solidFill>
                <a:srgbClr val="EA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13669"/>
                                        </p:tgtEl>
                                        <p:attrNameLst>
                                          <p:attrName>style.visibility</p:attrName>
                                        </p:attrNameLst>
                                      </p:cBhvr>
                                      <p:to>
                                        <p:strVal val="visible"/>
                                      </p:to>
                                    </p:set>
                                    <p:anim calcmode="lin" valueType="num">
                                      <p:cBhvr>
                                        <p:cTn id="7" dur="5000" fill="hold"/>
                                        <p:tgtEl>
                                          <p:spTgt spid="113669"/>
                                        </p:tgtEl>
                                        <p:attrNameLst>
                                          <p:attrName>ppt_w</p:attrName>
                                        </p:attrNameLst>
                                      </p:cBhvr>
                                      <p:tavLst>
                                        <p:tav tm="0" fmla="#ppt_w*sin(2.5*pi*$)">
                                          <p:val>
                                            <p:fltVal val="0.000000"/>
                                          </p:val>
                                        </p:tav>
                                        <p:tav tm="100000">
                                          <p:val>
                                            <p:fltVal val="1.000000"/>
                                          </p:val>
                                        </p:tav>
                                      </p:tavLst>
                                    </p:anim>
                                    <p:anim calcmode="lin" valueType="num">
                                      <p:cBhvr>
                                        <p:cTn id="8" dur="5000" fill="hold"/>
                                        <p:tgtEl>
                                          <p:spTgt spid="11366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par>
                                <p:cTn id="9" presetID="23" presetClass="entr" presetSubtype="16" fill="hold" nodeType="withEffect">
                                  <p:stCondLst>
                                    <p:cond delay="0"/>
                                  </p:stCondLst>
                                  <p:childTnLst>
                                    <p:set>
                                      <p:cBhvr>
                                        <p:cTn id="10" dur="1" fill="hold">
                                          <p:stCondLst>
                                            <p:cond delay="0"/>
                                          </p:stCondLst>
                                        </p:cTn>
                                        <p:tgtEl>
                                          <p:spTgt spid="113667">
                                            <p:txEl>
                                              <p:charRg st="0" end="10"/>
                                            </p:txEl>
                                          </p:spTgt>
                                        </p:tgtEl>
                                        <p:attrNameLst>
                                          <p:attrName>style.visibility</p:attrName>
                                        </p:attrNameLst>
                                      </p:cBhvr>
                                      <p:to>
                                        <p:strVal val="visible"/>
                                      </p:to>
                                    </p:set>
                                    <p:anim calcmode="lin" valueType="num">
                                      <p:cBhvr>
                                        <p:cTn id="11" dur="500" fill="hold"/>
                                        <p:tgtEl>
                                          <p:spTgt spid="113667">
                                            <p:txEl>
                                              <p:charRg st="0" end="10"/>
                                            </p:txEl>
                                          </p:spTgt>
                                        </p:tgtEl>
                                        <p:attrNameLst>
                                          <p:attrName>ppt_w</p:attrName>
                                        </p:attrNameLst>
                                      </p:cBhvr>
                                      <p:tavLst>
                                        <p:tav tm="0">
                                          <p:val>
                                            <p:fltVal val="0.000000"/>
                                          </p:val>
                                        </p:tav>
                                        <p:tav tm="100000">
                                          <p:val>
                                            <p:strVal val="#ppt_w"/>
                                          </p:val>
                                        </p:tav>
                                      </p:tavLst>
                                    </p:anim>
                                    <p:anim calcmode="lin" valueType="num">
                                      <p:cBhvr>
                                        <p:cTn id="12" dur="500" fill="hold"/>
                                        <p:tgtEl>
                                          <p:spTgt spid="113667">
                                            <p:txEl>
                                              <p:charRg st="0" end="10"/>
                                            </p:txEl>
                                          </p:spTgt>
                                        </p:tgtEl>
                                        <p:attrNameLst>
                                          <p:attrName>ppt_h</p:attrName>
                                        </p:attrNameLst>
                                      </p:cBhvr>
                                      <p:tavLst>
                                        <p:tav tm="0">
                                          <p:val>
                                            <p:fltVal val="0.00000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13667">
                                            <p:txEl>
                                              <p:charRg st="11" end="30"/>
                                            </p:txEl>
                                          </p:spTgt>
                                        </p:tgtEl>
                                        <p:attrNameLst>
                                          <p:attrName>style.visibility</p:attrName>
                                        </p:attrNameLst>
                                      </p:cBhvr>
                                      <p:to>
                                        <p:strVal val="visible"/>
                                      </p:to>
                                    </p:set>
                                    <p:anim calcmode="lin" valueType="num">
                                      <p:cBhvr>
                                        <p:cTn id="17" dur="500" fill="hold"/>
                                        <p:tgtEl>
                                          <p:spTgt spid="113667">
                                            <p:txEl>
                                              <p:charRg st="11" end="30"/>
                                            </p:txEl>
                                          </p:spTgt>
                                        </p:tgtEl>
                                        <p:attrNameLst>
                                          <p:attrName>ppt_w</p:attrName>
                                        </p:attrNameLst>
                                      </p:cBhvr>
                                      <p:tavLst>
                                        <p:tav tm="0">
                                          <p:val>
                                            <p:fltVal val="0.000000"/>
                                          </p:val>
                                        </p:tav>
                                        <p:tav tm="100000">
                                          <p:val>
                                            <p:strVal val="#ppt_w"/>
                                          </p:val>
                                        </p:tav>
                                      </p:tavLst>
                                    </p:anim>
                                    <p:anim calcmode="lin" valueType="num">
                                      <p:cBhvr>
                                        <p:cTn id="18" dur="500" fill="hold"/>
                                        <p:tgtEl>
                                          <p:spTgt spid="113667">
                                            <p:txEl>
                                              <p:charRg st="11" end="30"/>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113667">
                                            <p:txEl>
                                              <p:charRg st="11" end="30"/>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27" presetClass="entr" presetSubtype="0" fill="hold" nodeType="clickEffect">
                                  <p:stCondLst>
                                    <p:cond delay="0"/>
                                  </p:stCondLst>
                                  <p:iterate type="lt">
                                    <p:tmPct val="50000"/>
                                  </p:iterate>
                                  <p:childTnLst>
                                    <p:set>
                                      <p:cBhvr>
                                        <p:cTn id="22" dur="1" fill="hold">
                                          <p:stCondLst>
                                            <p:cond delay="0"/>
                                          </p:stCondLst>
                                        </p:cTn>
                                        <p:tgtEl>
                                          <p:spTgt spid="113667">
                                            <p:txEl>
                                              <p:charRg st="31" end="37"/>
                                            </p:txEl>
                                          </p:spTgt>
                                        </p:tgtEl>
                                        <p:attrNameLst>
                                          <p:attrName>style.visibility</p:attrName>
                                        </p:attrNameLst>
                                      </p:cBhvr>
                                      <p:to>
                                        <p:strVal val="visible"/>
                                      </p:to>
                                    </p:set>
                                    <p:anim calcmode="discrete" valueType="clr">
                                      <p:cBhvr override="childStyle">
                                        <p:cTn id="23" dur="80"/>
                                        <p:tgtEl>
                                          <p:spTgt spid="113667">
                                            <p:txEl>
                                              <p:charRg st="31" end="3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13667">
                                            <p:txEl>
                                              <p:charRg st="31" end="37"/>
                                            </p:txEl>
                                          </p:spTgt>
                                        </p:tgtEl>
                                        <p:attrNameLst>
                                          <p:attrName>fillcolor</p:attrName>
                                        </p:attrNameLst>
                                      </p:cBhvr>
                                      <p:tavLst>
                                        <p:tav tm="0">
                                          <p:val>
                                            <p:clrVal>
                                              <a:schemeClr val="accent2"/>
                                            </p:clrVal>
                                          </p:val>
                                        </p:tav>
                                        <p:tav tm="50000">
                                          <p:val>
                                            <p:clrVal>
                                              <a:schemeClr val="hlink"/>
                                            </p:clrVal>
                                          </p:val>
                                        </p:tav>
                                      </p:tavLst>
                                    </p:anim>
                                    <p:set>
                                      <p:cBhvr>
                                        <p:cTn id="25" dur="80"/>
                                        <p:tgtEl>
                                          <p:spTgt spid="113667">
                                            <p:txEl>
                                              <p:charRg st="31" end="37"/>
                                            </p:txEl>
                                          </p:spTgt>
                                        </p:tgtEl>
                                        <p:attrNameLst>
                                          <p:attrName>fill.type</p:attrName>
                                        </p:attrNameLst>
                                      </p:cBhvr>
                                      <p:to>
                                        <p:strVal val="solid"/>
                                      </p:to>
                                    </p:se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113667">
                                            <p:txEl>
                                              <p:charRg st="37" end="95"/>
                                            </p:txEl>
                                          </p:spTgt>
                                        </p:tgtEl>
                                        <p:attrNameLst>
                                          <p:attrName>style.visibility</p:attrName>
                                        </p:attrNameLst>
                                      </p:cBhvr>
                                      <p:to>
                                        <p:strVal val="visible"/>
                                      </p:to>
                                    </p:set>
                                    <p:anim calcmode="lin" valueType="num">
                                      <p:cBhvr>
                                        <p:cTn id="30" dur="500" fill="hold"/>
                                        <p:tgtEl>
                                          <p:spTgt spid="113667">
                                            <p:txEl>
                                              <p:charRg st="37" end="95"/>
                                            </p:txEl>
                                          </p:spTgt>
                                        </p:tgtEl>
                                        <p:attrNameLst>
                                          <p:attrName>ppt_w</p:attrName>
                                        </p:attrNameLst>
                                      </p:cBhvr>
                                      <p:tavLst>
                                        <p:tav tm="0">
                                          <p:val>
                                            <p:fltVal val="0.000000"/>
                                          </p:val>
                                        </p:tav>
                                        <p:tav tm="100000">
                                          <p:val>
                                            <p:strVal val="#ppt_w"/>
                                          </p:val>
                                        </p:tav>
                                      </p:tavLst>
                                    </p:anim>
                                    <p:anim calcmode="lin" valueType="num">
                                      <p:cBhvr>
                                        <p:cTn id="31" dur="500" fill="hold"/>
                                        <p:tgtEl>
                                          <p:spTgt spid="113667">
                                            <p:txEl>
                                              <p:charRg st="37" end="95"/>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113667">
                                            <p:txEl>
                                              <p:charRg st="37" end="95"/>
                                            </p:txEl>
                                          </p:spTgt>
                                        </p:tgtEl>
                                        <p:attrNameLst>
                                          <p:attrName>ppt_c</p:attrName>
                                        </p:attrNameLst>
                                      </p:cBhvr>
                                      <p:to>
                                        <a:schemeClr val="bg2"/>
                                      </p:to>
                                    </p:animClr>
                                  </p:subTnLst>
                                </p:cTn>
                              </p:par>
                            </p:childTnLst>
                          </p:cTn>
                        </p:par>
                      </p:childTnLst>
                    </p:cTn>
                  </p:par>
                  <p:par>
                    <p:cTn id="32" fill="hold">
                      <p:stCondLst>
                        <p:cond delay="indefinite"/>
                      </p:stCondLst>
                      <p:childTnLst>
                        <p:par>
                          <p:cTn id="33" fill="hold">
                            <p:stCondLst>
                              <p:cond delay="0"/>
                            </p:stCondLst>
                            <p:childTnLst>
                              <p:par>
                                <p:cTn id="34" presetID="19" presetClass="entr" presetSubtype="10" fill="hold" nodeType="clickEffect">
                                  <p:stCondLst>
                                    <p:cond delay="0"/>
                                  </p:stCondLst>
                                  <p:childTnLst>
                                    <p:set>
                                      <p:cBhvr>
                                        <p:cTn id="35" dur="1" fill="hold">
                                          <p:stCondLst>
                                            <p:cond delay="0"/>
                                          </p:stCondLst>
                                        </p:cTn>
                                        <p:tgtEl>
                                          <p:spTgt spid="113670"/>
                                        </p:tgtEl>
                                        <p:attrNameLst>
                                          <p:attrName>style.visibility</p:attrName>
                                        </p:attrNameLst>
                                      </p:cBhvr>
                                      <p:to>
                                        <p:strVal val="visible"/>
                                      </p:to>
                                    </p:set>
                                    <p:anim calcmode="lin" valueType="num">
                                      <p:cBhvr>
                                        <p:cTn id="36" dur="5000" fill="hold"/>
                                        <p:tgtEl>
                                          <p:spTgt spid="113670"/>
                                        </p:tgtEl>
                                        <p:attrNameLst>
                                          <p:attrName>ppt_w</p:attrName>
                                        </p:attrNameLst>
                                      </p:cBhvr>
                                      <p:tavLst>
                                        <p:tav tm="0" fmla="#ppt_w*sin(2.5*pi*$)">
                                          <p:val>
                                            <p:fltVal val="0.000000"/>
                                          </p:val>
                                        </p:tav>
                                        <p:tav tm="100000">
                                          <p:val>
                                            <p:fltVal val="1.000000"/>
                                          </p:val>
                                        </p:tav>
                                      </p:tavLst>
                                    </p:anim>
                                    <p:anim calcmode="lin" valueType="num">
                                      <p:cBhvr>
                                        <p:cTn id="37" dur="5000" fill="hold"/>
                                        <p:tgtEl>
                                          <p:spTgt spid="11367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2" name="chimes.wav"/>
                                        </p:tgtEl>
                                      </p:cMediaNode>
                                    </p:audio>
                                  </p:subTnLst>
                                </p:cTn>
                              </p:par>
                              <p:par>
                                <p:cTn id="38" presetID="27" presetClass="entr" presetSubtype="0" fill="hold" grpId="0" nodeType="withEffect">
                                  <p:stCondLst>
                                    <p:cond delay="0"/>
                                  </p:stCondLst>
                                  <p:iterate type="lt">
                                    <p:tmPct val="50000"/>
                                  </p:iterate>
                                  <p:childTnLst>
                                    <p:set>
                                      <p:cBhvr>
                                        <p:cTn id="39" dur="1" fill="hold">
                                          <p:stCondLst>
                                            <p:cond delay="0"/>
                                          </p:stCondLst>
                                        </p:cTn>
                                        <p:tgtEl>
                                          <p:spTgt spid="113671"/>
                                        </p:tgtEl>
                                        <p:attrNameLst>
                                          <p:attrName>style.visibility</p:attrName>
                                        </p:attrNameLst>
                                      </p:cBhvr>
                                      <p:to>
                                        <p:strVal val="visible"/>
                                      </p:to>
                                    </p:set>
                                    <p:anim calcmode="discrete" valueType="clr">
                                      <p:cBhvr override="childStyle">
                                        <p:cTn id="40" dur="80"/>
                                        <p:tgtEl>
                                          <p:spTgt spid="113671"/>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113671"/>
                                        </p:tgtEl>
                                        <p:attrNameLst>
                                          <p:attrName>fillcolor</p:attrName>
                                        </p:attrNameLst>
                                      </p:cBhvr>
                                      <p:tavLst>
                                        <p:tav tm="0">
                                          <p:val>
                                            <p:clrVal>
                                              <a:schemeClr val="accent2"/>
                                            </p:clrVal>
                                          </p:val>
                                        </p:tav>
                                        <p:tav tm="50000">
                                          <p:val>
                                            <p:clrVal>
                                              <a:schemeClr val="hlink"/>
                                            </p:clrVal>
                                          </p:val>
                                        </p:tav>
                                      </p:tavLst>
                                    </p:anim>
                                    <p:set>
                                      <p:cBhvr>
                                        <p:cTn id="42" dur="80"/>
                                        <p:tgtEl>
                                          <p:spTgt spid="11367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页脚占位符 5"/>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54274" name="Rectangle 2"/>
          <p:cNvSpPr>
            <a:spLocks noGrp="1"/>
          </p:cNvSpPr>
          <p:nvPr>
            <p:ph type="title"/>
          </p:nvPr>
        </p:nvSpPr>
        <p:spPr/>
        <p:txBody>
          <a:bodyPr vert="horz" wrap="square" lIns="91440" tIns="45720" rIns="91440" bIns="45720" anchor="ctr" anchorCtr="0"/>
          <a:p>
            <a:pPr eaLnBrk="1" hangingPunct="1"/>
            <a:r>
              <a:rPr lang="zh-CN" altLang="en-US" sz="3600" dirty="0"/>
              <a:t>一种有效的方法</a:t>
            </a:r>
            <a:endParaRPr lang="en-US" altLang="zh-CN" sz="3600" dirty="0"/>
          </a:p>
        </p:txBody>
      </p:sp>
      <p:sp>
        <p:nvSpPr>
          <p:cNvPr id="202755" name="Rectangle 3"/>
          <p:cNvSpPr>
            <a:spLocks noGrp="1"/>
          </p:cNvSpPr>
          <p:nvPr>
            <p:ph type="body" sz="half" idx="1"/>
          </p:nvPr>
        </p:nvSpPr>
        <p:spPr>
          <a:xfrm>
            <a:off x="890588" y="1196975"/>
            <a:ext cx="7569200" cy="4565650"/>
          </a:xfrm>
        </p:spPr>
        <p:txBody>
          <a:bodyPr vert="horz" wrap="square" lIns="91440" tIns="45720" rIns="91440" bIns="45720" anchor="t" anchorCtr="0"/>
          <a:p>
            <a:pPr eaLnBrk="1" hangingPunct="1">
              <a:buClrTx/>
              <a:buSzTx/>
              <a:buFontTx/>
            </a:pPr>
            <a:r>
              <a:rPr lang="en-US" altLang="zh-CN" sz="2900" dirty="0">
                <a:solidFill>
                  <a:schemeClr val="tx1"/>
                </a:solidFill>
              </a:rPr>
              <a:t> </a:t>
            </a:r>
            <a:r>
              <a:rPr lang="zh-CN" altLang="en-US" sz="2900" dirty="0">
                <a:solidFill>
                  <a:schemeClr val="tx1"/>
                </a:solidFill>
              </a:rPr>
              <a:t>基本思路</a:t>
            </a:r>
            <a:endParaRPr lang="en-US" altLang="zh-CN" sz="2900" dirty="0">
              <a:solidFill>
                <a:schemeClr val="tx1"/>
              </a:solidFill>
            </a:endParaRPr>
          </a:p>
          <a:p>
            <a:pPr lvl="1" eaLnBrk="1" hangingPunct="1"/>
            <a:r>
              <a:rPr lang="zh-CN" altLang="en-US" sz="2600" dirty="0"/>
              <a:t>令</a:t>
            </a:r>
            <a:r>
              <a:rPr lang="en-US" altLang="zh-CN" sz="2600" dirty="0"/>
              <a:t>m= </a:t>
            </a:r>
            <a:r>
              <a:rPr lang="en-US" altLang="zh-CN" sz="2600" dirty="0">
                <a:sym typeface="Symbol" panose="05050102010706020507" pitchFamily="18" charset="2"/>
              </a:rPr>
              <a:t>n/2</a:t>
            </a:r>
            <a:r>
              <a:rPr lang="zh-CN" altLang="en-US" sz="2600" dirty="0"/>
              <a:t>，假设已经知道如何计算</a:t>
            </a:r>
            <a:r>
              <a:rPr lang="en-US" altLang="zh-CN" sz="2600" dirty="0"/>
              <a:t>x</a:t>
            </a:r>
            <a:r>
              <a:rPr lang="en-US" altLang="zh-CN" sz="2600" baseline="30000" dirty="0"/>
              <a:t>m </a:t>
            </a:r>
            <a:r>
              <a:rPr lang="zh-CN" altLang="en-US" sz="2600" dirty="0"/>
              <a:t>，那么有两种情况</a:t>
            </a:r>
            <a:r>
              <a:rPr lang="en-US" altLang="zh-CN" sz="2600" dirty="0"/>
              <a:t>:</a:t>
            </a:r>
            <a:endParaRPr lang="en-US" altLang="zh-CN" sz="2600" dirty="0"/>
          </a:p>
          <a:p>
            <a:pPr lvl="1" eaLnBrk="1" hangingPunct="1"/>
            <a:endParaRPr lang="en-US" altLang="zh-CN" sz="1000" dirty="0"/>
          </a:p>
          <a:p>
            <a:pPr lvl="2" eaLnBrk="1" hangingPunct="1"/>
            <a:r>
              <a:rPr lang="zh-CN" altLang="en-US" dirty="0"/>
              <a:t>如果</a:t>
            </a:r>
            <a:r>
              <a:rPr lang="en-US" altLang="zh-CN" dirty="0"/>
              <a:t>n</a:t>
            </a:r>
            <a:r>
              <a:rPr lang="zh-CN" altLang="en-US" dirty="0"/>
              <a:t>是偶数，那么</a:t>
            </a:r>
            <a:endParaRPr lang="en-US" altLang="zh-CN" dirty="0"/>
          </a:p>
          <a:p>
            <a:pPr lvl="2" eaLnBrk="1" hangingPunct="1"/>
            <a:endParaRPr lang="en-US" altLang="zh-CN" dirty="0"/>
          </a:p>
          <a:p>
            <a:pPr lvl="2" eaLnBrk="1" hangingPunct="1"/>
            <a:endParaRPr lang="en-US" altLang="zh-CN" dirty="0"/>
          </a:p>
          <a:p>
            <a:pPr lvl="2" eaLnBrk="1" hangingPunct="1"/>
            <a:r>
              <a:rPr lang="zh-CN" altLang="en-US" dirty="0"/>
              <a:t>否则</a:t>
            </a:r>
            <a:r>
              <a:rPr lang="en-US" altLang="zh-CN" dirty="0"/>
              <a:t>,</a:t>
            </a:r>
            <a:endParaRPr lang="en-US" altLang="zh-CN" dirty="0"/>
          </a:p>
        </p:txBody>
      </p:sp>
      <p:graphicFrame>
        <p:nvGraphicFramePr>
          <p:cNvPr id="202756" name="Object 4"/>
          <p:cNvGraphicFramePr>
            <a:graphicFrameLocks noGrp="1" noChangeAspect="1"/>
          </p:cNvGraphicFramePr>
          <p:nvPr>
            <p:ph sz="quarter" idx="2"/>
          </p:nvPr>
        </p:nvGraphicFramePr>
        <p:xfrm>
          <a:off x="2843213" y="3141663"/>
          <a:ext cx="1773237" cy="635000"/>
        </p:xfrm>
        <a:graphic>
          <a:graphicData uri="http://schemas.openxmlformats.org/presentationml/2006/ole">
            <mc:AlternateContent xmlns:mc="http://schemas.openxmlformats.org/markup-compatibility/2006">
              <mc:Choice xmlns:v="urn:schemas-microsoft-com:vml" Requires="v">
                <p:oleObj spid="_x0000_s3089" name="" r:id="rId1" imgW="673100" imgH="228600" progId="Equation.3">
                  <p:embed/>
                </p:oleObj>
              </mc:Choice>
              <mc:Fallback>
                <p:oleObj name="" r:id="rId1" imgW="673100" imgH="228600" progId="Equation.3">
                  <p:embed/>
                  <p:pic>
                    <p:nvPicPr>
                      <p:cNvPr id="0" name="图片 3088"/>
                      <p:cNvPicPr/>
                      <p:nvPr/>
                    </p:nvPicPr>
                    <p:blipFill>
                      <a:blip r:embed="rId2"/>
                      <a:stretch>
                        <a:fillRect/>
                      </a:stretch>
                    </p:blipFill>
                    <p:spPr>
                      <a:xfrm>
                        <a:off x="2843213" y="3141663"/>
                        <a:ext cx="1773237" cy="635000"/>
                      </a:xfrm>
                      <a:prstGeom prst="rect">
                        <a:avLst/>
                      </a:prstGeom>
                      <a:noFill/>
                      <a:ln w="38100">
                        <a:miter/>
                      </a:ln>
                    </p:spPr>
                  </p:pic>
                </p:oleObj>
              </mc:Fallback>
            </mc:AlternateContent>
          </a:graphicData>
        </a:graphic>
      </p:graphicFrame>
      <p:graphicFrame>
        <p:nvGraphicFramePr>
          <p:cNvPr id="202758" name="Object 6"/>
          <p:cNvGraphicFramePr>
            <a:graphicFrameLocks noGrp="1" noChangeAspect="1"/>
          </p:cNvGraphicFramePr>
          <p:nvPr>
            <p:ph sz="quarter" idx="3"/>
          </p:nvPr>
        </p:nvGraphicFramePr>
        <p:xfrm>
          <a:off x="2700338" y="4149725"/>
          <a:ext cx="1711325" cy="549275"/>
        </p:xfrm>
        <a:graphic>
          <a:graphicData uri="http://schemas.openxmlformats.org/presentationml/2006/ole">
            <mc:AlternateContent xmlns:mc="http://schemas.openxmlformats.org/markup-compatibility/2006">
              <mc:Choice xmlns:v="urn:schemas-microsoft-com:vml" Requires="v">
                <p:oleObj spid="_x0000_s3088" name="" r:id="rId3" imgW="749300" imgH="228600" progId="Equation.3">
                  <p:embed/>
                </p:oleObj>
              </mc:Choice>
              <mc:Fallback>
                <p:oleObj name="" r:id="rId3" imgW="749300" imgH="228600" progId="Equation.3">
                  <p:embed/>
                  <p:pic>
                    <p:nvPicPr>
                      <p:cNvPr id="0" name="图片 3087"/>
                      <p:cNvPicPr/>
                      <p:nvPr/>
                    </p:nvPicPr>
                    <p:blipFill>
                      <a:blip r:embed="rId4"/>
                      <a:stretch>
                        <a:fillRect/>
                      </a:stretch>
                    </p:blipFill>
                    <p:spPr>
                      <a:xfrm>
                        <a:off x="2700338" y="4149725"/>
                        <a:ext cx="1711325" cy="549275"/>
                      </a:xfrm>
                      <a:prstGeom prst="rect">
                        <a:avLst/>
                      </a:prstGeom>
                      <a:noFill/>
                      <a:ln w="38100">
                        <a:miter/>
                      </a:ln>
                    </p:spPr>
                  </p:pic>
                </p:oleObj>
              </mc:Fallback>
            </mc:AlternateContent>
          </a:graphicData>
        </a:graphic>
      </p:graphicFrame>
      <p:pic>
        <p:nvPicPr>
          <p:cNvPr id="54278" name="Picture 10" descr="basic idea"/>
          <p:cNvPicPr>
            <a:picLocks noChangeAspect="1"/>
          </p:cNvPicPr>
          <p:nvPr/>
        </p:nvPicPr>
        <p:blipFill>
          <a:blip r:embed="rId5"/>
          <a:stretch>
            <a:fillRect/>
          </a:stretch>
        </p:blipFill>
        <p:spPr>
          <a:xfrm>
            <a:off x="900113" y="1268413"/>
            <a:ext cx="431800" cy="4016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2755">
                                            <p:txEl>
                                              <p:charRg st="0" end="6"/>
                                            </p:txEl>
                                          </p:spTgt>
                                        </p:tgtEl>
                                        <p:attrNameLst>
                                          <p:attrName>style.visibility</p:attrName>
                                        </p:attrNameLst>
                                      </p:cBhvr>
                                      <p:to>
                                        <p:strVal val="visible"/>
                                      </p:to>
                                    </p:set>
                                    <p:anim calcmode="lin" valueType="num">
                                      <p:cBhvr additive="base">
                                        <p:cTn id="7" dur="500" fill="hold"/>
                                        <p:tgtEl>
                                          <p:spTgt spid="202755">
                                            <p:txEl>
                                              <p:charRg st="0"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2755">
                                            <p:txEl>
                                              <p:charRg st="0"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02755">
                                            <p:txEl>
                                              <p:charRg st="6" end="39"/>
                                            </p:txEl>
                                          </p:spTgt>
                                        </p:tgtEl>
                                        <p:attrNameLst>
                                          <p:attrName>style.visibility</p:attrName>
                                        </p:attrNameLst>
                                      </p:cBhvr>
                                      <p:to>
                                        <p:strVal val="visible"/>
                                      </p:to>
                                    </p:set>
                                    <p:animEffect transition="in" filter="blinds(horizontal)">
                                      <p:cBhvr>
                                        <p:cTn id="13" dur="500"/>
                                        <p:tgtEl>
                                          <p:spTgt spid="202755">
                                            <p:txEl>
                                              <p:charRg st="6" end="39"/>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02755">
                                            <p:txEl>
                                              <p:charRg st="40" end="50"/>
                                            </p:txEl>
                                          </p:spTgt>
                                        </p:tgtEl>
                                        <p:attrNameLst>
                                          <p:attrName>style.visibility</p:attrName>
                                        </p:attrNameLst>
                                      </p:cBhvr>
                                      <p:to>
                                        <p:strVal val="visible"/>
                                      </p:to>
                                    </p:set>
                                    <p:animEffect transition="in" filter="blinds(horizontal)">
                                      <p:cBhvr>
                                        <p:cTn id="18" dur="500"/>
                                        <p:tgtEl>
                                          <p:spTgt spid="202755">
                                            <p:txEl>
                                              <p:charRg st="40" end="50"/>
                                            </p:txEl>
                                          </p:spTgt>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202756"/>
                                        </p:tgtEl>
                                        <p:attrNameLst>
                                          <p:attrName>style.visibility</p:attrName>
                                        </p:attrNameLst>
                                      </p:cBhvr>
                                      <p:to>
                                        <p:strVal val="visible"/>
                                      </p:to>
                                    </p:set>
                                    <p:animEffect transition="in" filter="blinds(horizontal)">
                                      <p:cBhvr>
                                        <p:cTn id="22" dur="500"/>
                                        <p:tgtEl>
                                          <p:spTgt spid="202756"/>
                                        </p:tgtEl>
                                      </p:cBhvr>
                                    </p:animEffect>
                                  </p:childTnLst>
                                </p:cTn>
                              </p:par>
                            </p:childTnLst>
                          </p:cTn>
                        </p:par>
                        <p:par>
                          <p:cTn id="23" fill="hold">
                            <p:stCondLst>
                              <p:cond delay="1000"/>
                            </p:stCondLst>
                            <p:childTnLst>
                              <p:par>
                                <p:cTn id="24" presetID="3" presetClass="entr" presetSubtype="10" fill="hold" nodeType="afterEffect">
                                  <p:stCondLst>
                                    <p:cond delay="0"/>
                                  </p:stCondLst>
                                  <p:childTnLst>
                                    <p:set>
                                      <p:cBhvr>
                                        <p:cTn id="25" dur="1" fill="hold">
                                          <p:stCondLst>
                                            <p:cond delay="0"/>
                                          </p:stCondLst>
                                        </p:cTn>
                                        <p:tgtEl>
                                          <p:spTgt spid="202755">
                                            <p:txEl>
                                              <p:charRg st="52" end="56"/>
                                            </p:txEl>
                                          </p:spTgt>
                                        </p:tgtEl>
                                        <p:attrNameLst>
                                          <p:attrName>style.visibility</p:attrName>
                                        </p:attrNameLst>
                                      </p:cBhvr>
                                      <p:to>
                                        <p:strVal val="visible"/>
                                      </p:to>
                                    </p:set>
                                    <p:animEffect transition="in" filter="blinds(horizontal)">
                                      <p:cBhvr>
                                        <p:cTn id="26" dur="500"/>
                                        <p:tgtEl>
                                          <p:spTgt spid="202755">
                                            <p:txEl>
                                              <p:charRg st="52" end="56"/>
                                            </p:txEl>
                                          </p:spTgt>
                                        </p:tgtEl>
                                      </p:cBhvr>
                                    </p:animEffect>
                                  </p:childTnLst>
                                </p:cTn>
                              </p:par>
                            </p:childTnLst>
                          </p:cTn>
                        </p:par>
                        <p:par>
                          <p:cTn id="27" fill="hold">
                            <p:stCondLst>
                              <p:cond delay="1500"/>
                            </p:stCondLst>
                            <p:childTnLst>
                              <p:par>
                                <p:cTn id="28" presetID="3" presetClass="entr" presetSubtype="10" fill="hold" nodeType="afterEffect">
                                  <p:stCondLst>
                                    <p:cond delay="0"/>
                                  </p:stCondLst>
                                  <p:childTnLst>
                                    <p:set>
                                      <p:cBhvr>
                                        <p:cTn id="29" dur="1" fill="hold">
                                          <p:stCondLst>
                                            <p:cond delay="0"/>
                                          </p:stCondLst>
                                        </p:cTn>
                                        <p:tgtEl>
                                          <p:spTgt spid="202758"/>
                                        </p:tgtEl>
                                        <p:attrNameLst>
                                          <p:attrName>style.visibility</p:attrName>
                                        </p:attrNameLst>
                                      </p:cBhvr>
                                      <p:to>
                                        <p:strVal val="visible"/>
                                      </p:to>
                                    </p:set>
                                    <p:animEffect transition="in" filter="blinds(horizontal)">
                                      <p:cBhvr>
                                        <p:cTn id="30" dur="500"/>
                                        <p:tgtEl>
                                          <p:spTgt spid="202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56322" name="Rectangle 3"/>
          <p:cNvSpPr>
            <a:spLocks noGrp="1"/>
          </p:cNvSpPr>
          <p:nvPr>
            <p:ph idx="1"/>
          </p:nvPr>
        </p:nvSpPr>
        <p:spPr>
          <a:xfrm>
            <a:off x="900113" y="404813"/>
            <a:ext cx="7786687" cy="5389562"/>
          </a:xfrm>
          <a:solidFill>
            <a:schemeClr val="bg1"/>
          </a:solidFill>
        </p:spPr>
        <p:txBody>
          <a:bodyPr vert="horz" wrap="square" lIns="91440" tIns="45720" rIns="91440" bIns="45720" anchor="t" anchorCtr="0"/>
          <a:p>
            <a:pPr eaLnBrk="1" hangingPunct="1">
              <a:buNone/>
            </a:pPr>
            <a:r>
              <a:rPr lang="zh-CN" altLang="en-US" b="1" dirty="0"/>
              <a:t>算法</a:t>
            </a:r>
            <a:r>
              <a:rPr lang="en-US" altLang="zh-CN" b="1" dirty="0"/>
              <a:t>2.3.1-1</a:t>
            </a:r>
            <a:r>
              <a:rPr lang="en-US" altLang="zh-CN" b="1" dirty="0"/>
              <a:t> EXPREC</a:t>
            </a:r>
            <a:endParaRPr lang="en-US" altLang="zh-CN" b="1" dirty="0"/>
          </a:p>
          <a:p>
            <a:pPr lvl="1" eaLnBrk="1" hangingPunct="1">
              <a:buNone/>
            </a:pPr>
            <a:r>
              <a:rPr lang="en-US" altLang="zh-CN" b="1" dirty="0"/>
              <a:t>Input</a:t>
            </a:r>
            <a:r>
              <a:rPr lang="en-US" altLang="zh-CN" dirty="0"/>
              <a:t>:</a:t>
            </a:r>
            <a:r>
              <a:rPr lang="zh-CN" altLang="en-US" dirty="0"/>
              <a:t>实数</a:t>
            </a:r>
            <a:r>
              <a:rPr lang="en-US" altLang="zh-CN" dirty="0"/>
              <a:t>x</a:t>
            </a:r>
            <a:r>
              <a:rPr lang="zh-CN" altLang="en-US" dirty="0"/>
              <a:t>和非负整数</a:t>
            </a:r>
            <a:r>
              <a:rPr lang="en-US" altLang="zh-CN" dirty="0"/>
              <a:t>n</a:t>
            </a:r>
            <a:r>
              <a:rPr lang="zh-CN" altLang="en-US" dirty="0"/>
              <a:t>。</a:t>
            </a:r>
            <a:endParaRPr lang="en-US" altLang="zh-CN" dirty="0"/>
          </a:p>
          <a:p>
            <a:pPr lvl="1" eaLnBrk="1" hangingPunct="1">
              <a:buNone/>
            </a:pPr>
            <a:r>
              <a:rPr lang="en-US" altLang="zh-CN" b="1" dirty="0"/>
              <a:t>Outpu</a:t>
            </a:r>
            <a:r>
              <a:rPr lang="en-US" altLang="zh-CN" dirty="0"/>
              <a:t>t: x</a:t>
            </a:r>
            <a:r>
              <a:rPr lang="en-US" altLang="zh-CN" baseline="30000" dirty="0"/>
              <a:t>n</a:t>
            </a:r>
            <a:r>
              <a:rPr lang="en-US" altLang="zh-CN" dirty="0"/>
              <a:t>.</a:t>
            </a:r>
            <a:endParaRPr lang="en-US" altLang="zh-CN" dirty="0"/>
          </a:p>
          <a:p>
            <a:pPr lvl="1" eaLnBrk="1" hangingPunct="1">
              <a:buNone/>
            </a:pPr>
            <a:r>
              <a:rPr lang="en-US" altLang="zh-CN" dirty="0"/>
              <a:t>   1. power(x, n)</a:t>
            </a:r>
            <a:endParaRPr lang="en-US" altLang="zh-CN" dirty="0"/>
          </a:p>
          <a:p>
            <a:pPr lvl="1" eaLnBrk="1" hangingPunct="1">
              <a:buNone/>
            </a:pPr>
            <a:endParaRPr lang="en-US" altLang="zh-CN" dirty="0"/>
          </a:p>
          <a:p>
            <a:pPr lvl="1" eaLnBrk="1" hangingPunct="1">
              <a:buNone/>
            </a:pPr>
            <a:r>
              <a:rPr lang="zh-CN" altLang="en-US" dirty="0"/>
              <a:t>流程</a:t>
            </a:r>
            <a:r>
              <a:rPr lang="en-US" altLang="zh-CN" dirty="0"/>
              <a:t>power(x, m)      {</a:t>
            </a:r>
            <a:r>
              <a:rPr lang="zh-CN" altLang="en-US" dirty="0"/>
              <a:t>计算</a:t>
            </a:r>
            <a:r>
              <a:rPr lang="en-US" altLang="zh-CN" dirty="0"/>
              <a:t>x</a:t>
            </a:r>
            <a:r>
              <a:rPr lang="en-US" altLang="zh-CN" baseline="30000" dirty="0"/>
              <a:t>m</a:t>
            </a:r>
            <a:r>
              <a:rPr lang="en-US" altLang="zh-CN" dirty="0"/>
              <a:t>}</a:t>
            </a:r>
            <a:endParaRPr lang="en-US" altLang="zh-CN" dirty="0"/>
          </a:p>
          <a:p>
            <a:pPr lvl="1" eaLnBrk="1" hangingPunct="1">
              <a:buNone/>
            </a:pPr>
            <a:r>
              <a:rPr lang="en-US" altLang="zh-CN" dirty="0"/>
              <a:t>   1. </a:t>
            </a:r>
            <a:r>
              <a:rPr lang="en-US" altLang="zh-CN" b="1" dirty="0"/>
              <a:t>if </a:t>
            </a:r>
            <a:r>
              <a:rPr lang="en-US" altLang="zh-CN" dirty="0"/>
              <a:t>m=0 </a:t>
            </a:r>
            <a:r>
              <a:rPr lang="en-US" altLang="zh-CN" b="1" dirty="0"/>
              <a:t>then</a:t>
            </a:r>
            <a:r>
              <a:rPr lang="en-US" altLang="zh-CN" dirty="0"/>
              <a:t> y</a:t>
            </a:r>
            <a:r>
              <a:rPr lang="en-US" altLang="zh-CN" dirty="0">
                <a:sym typeface="Wingdings" panose="05000000000000000000" pitchFamily="2" charset="2"/>
              </a:rPr>
              <a:t>1</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2. </a:t>
            </a:r>
            <a:r>
              <a:rPr lang="en-US" altLang="zh-CN" b="1" dirty="0">
                <a:sym typeface="Wingdings" panose="05000000000000000000" pitchFamily="2" charset="2"/>
              </a:rPr>
              <a:t>else</a:t>
            </a:r>
            <a:endParaRPr lang="en-US" altLang="zh-CN" b="1" dirty="0">
              <a:sym typeface="Wingdings" panose="05000000000000000000" pitchFamily="2" charset="2"/>
            </a:endParaRPr>
          </a:p>
          <a:p>
            <a:pPr lvl="1" eaLnBrk="1" hangingPunct="1">
              <a:buNone/>
            </a:pPr>
            <a:r>
              <a:rPr lang="en-US" altLang="zh-CN" dirty="0">
                <a:sym typeface="Wingdings" panose="05000000000000000000" pitchFamily="2" charset="2"/>
              </a:rPr>
              <a:t>   3.    y</a:t>
            </a:r>
            <a:r>
              <a:rPr lang="en-US" altLang="zh-CN" dirty="0">
                <a:solidFill>
                  <a:srgbClr val="FF0000"/>
                </a:solidFill>
                <a:sym typeface="Wingdings" panose="05000000000000000000" pitchFamily="2" charset="2"/>
              </a:rPr>
              <a:t>power(x, </a:t>
            </a:r>
            <a:r>
              <a:rPr lang="en-US" altLang="zh-CN" sz="2400" dirty="0">
                <a:solidFill>
                  <a:srgbClr val="FF0000"/>
                </a:solidFill>
                <a:sym typeface="Symbol" panose="05050102010706020507" pitchFamily="18" charset="2"/>
              </a:rPr>
              <a:t>m/2 </a:t>
            </a:r>
            <a:r>
              <a:rPr lang="en-US" altLang="zh-CN" dirty="0">
                <a:solidFill>
                  <a:srgbClr val="FF0000"/>
                </a:solidFill>
                <a:sym typeface="Wingdings" panose="05000000000000000000" pitchFamily="2" charset="2"/>
              </a:rPr>
              <a:t>)</a:t>
            </a:r>
            <a:endParaRPr lang="en-US" altLang="zh-CN" dirty="0">
              <a:solidFill>
                <a:srgbClr val="FF0000"/>
              </a:solidFill>
              <a:sym typeface="Wingdings" panose="05000000000000000000" pitchFamily="2" charset="2"/>
            </a:endParaRPr>
          </a:p>
          <a:p>
            <a:pPr lvl="1" eaLnBrk="1" hangingPunct="1">
              <a:buNone/>
            </a:pPr>
            <a:r>
              <a:rPr lang="en-US" altLang="zh-CN" dirty="0">
                <a:sym typeface="Wingdings" panose="05000000000000000000" pitchFamily="2" charset="2"/>
              </a:rPr>
              <a:t>   4.    yy</a:t>
            </a:r>
            <a:r>
              <a:rPr lang="en-US" altLang="zh-CN" baseline="30000" dirty="0">
                <a:sym typeface="Wingdings" panose="05000000000000000000" pitchFamily="2" charset="2"/>
              </a:rPr>
              <a:t>2</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2.    </a:t>
            </a:r>
            <a:r>
              <a:rPr lang="en-US" altLang="zh-CN" b="1" dirty="0">
                <a:sym typeface="Wingdings" panose="05000000000000000000" pitchFamily="2" charset="2"/>
              </a:rPr>
              <a:t>if </a:t>
            </a:r>
            <a:r>
              <a:rPr lang="en-US" altLang="zh-CN" dirty="0">
                <a:sym typeface="Wingdings" panose="05000000000000000000" pitchFamily="2" charset="2"/>
              </a:rPr>
              <a:t>m </a:t>
            </a:r>
            <a:r>
              <a:rPr lang="zh-CN" altLang="en-US" dirty="0">
                <a:sym typeface="Wingdings" panose="05000000000000000000" pitchFamily="2" charset="2"/>
              </a:rPr>
              <a:t>是奇数 </a:t>
            </a:r>
            <a:r>
              <a:rPr lang="en-US" altLang="zh-CN" b="1" dirty="0">
                <a:sym typeface="Wingdings" panose="05000000000000000000" pitchFamily="2" charset="2"/>
              </a:rPr>
              <a:t>then</a:t>
            </a:r>
            <a:r>
              <a:rPr lang="en-US" altLang="zh-CN" dirty="0">
                <a:sym typeface="Wingdings" panose="05000000000000000000" pitchFamily="2" charset="2"/>
              </a:rPr>
              <a:t> yxy</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6. </a:t>
            </a:r>
            <a:r>
              <a:rPr lang="en-US" altLang="zh-CN" b="1" dirty="0">
                <a:sym typeface="Wingdings" panose="05000000000000000000" pitchFamily="2" charset="2"/>
              </a:rPr>
              <a:t>end if</a:t>
            </a:r>
            <a:r>
              <a:rPr lang="en-US" altLang="zh-CN" dirty="0">
                <a:sym typeface="Wingdings" panose="05000000000000000000" pitchFamily="2" charset="2"/>
              </a:rPr>
              <a:t> </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7. </a:t>
            </a:r>
            <a:r>
              <a:rPr lang="en-US" altLang="zh-CN" b="1" dirty="0">
                <a:sym typeface="Wingdings" panose="05000000000000000000" pitchFamily="2" charset="2"/>
              </a:rPr>
              <a:t>return</a:t>
            </a:r>
            <a:r>
              <a:rPr lang="en-US" altLang="zh-CN" dirty="0">
                <a:sym typeface="Wingdings" panose="05000000000000000000" pitchFamily="2" charset="2"/>
              </a:rPr>
              <a:t> y</a:t>
            </a:r>
            <a:endParaRPr lang="en-US" altLang="zh-CN" dirty="0">
              <a:sym typeface="Wingdings" panose="05000000000000000000" pitchFamily="2"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58370" name="Rectangle 3"/>
          <p:cNvSpPr>
            <a:spLocks noGrp="1"/>
          </p:cNvSpPr>
          <p:nvPr>
            <p:ph idx="1"/>
          </p:nvPr>
        </p:nvSpPr>
        <p:spPr>
          <a:xfrm>
            <a:off x="900113" y="550863"/>
            <a:ext cx="7786687" cy="5183187"/>
          </a:xfrm>
          <a:solidFill>
            <a:schemeClr val="bg1"/>
          </a:solidFill>
        </p:spPr>
        <p:txBody>
          <a:bodyPr vert="horz" wrap="square" lIns="91440" tIns="45720" rIns="91440" bIns="45720" anchor="t" anchorCtr="0"/>
          <a:p>
            <a:pPr eaLnBrk="1" hangingPunct="1">
              <a:buNone/>
            </a:pPr>
            <a:r>
              <a:rPr lang="zh-CN" altLang="en-US" b="1" dirty="0"/>
              <a:t>算法</a:t>
            </a:r>
            <a:r>
              <a:rPr lang="en-US" altLang="zh-CN" b="1" dirty="0"/>
              <a:t>2.3.1-2</a:t>
            </a:r>
            <a:r>
              <a:rPr lang="en-US" altLang="zh-CN" b="1" dirty="0"/>
              <a:t> EXP   </a:t>
            </a:r>
            <a:endParaRPr lang="en-US" altLang="zh-CN" b="1" dirty="0"/>
          </a:p>
          <a:p>
            <a:pPr lvl="1" eaLnBrk="1" hangingPunct="1">
              <a:buNone/>
            </a:pPr>
            <a:r>
              <a:rPr lang="en-US" altLang="zh-CN" b="1" dirty="0"/>
              <a:t>Input</a:t>
            </a:r>
            <a:r>
              <a:rPr lang="en-US" altLang="zh-CN" dirty="0"/>
              <a:t>:</a:t>
            </a:r>
            <a:r>
              <a:rPr lang="zh-CN" altLang="en-US" dirty="0"/>
              <a:t>实数</a:t>
            </a:r>
            <a:r>
              <a:rPr lang="en-US" altLang="zh-CN" dirty="0"/>
              <a:t>x</a:t>
            </a:r>
            <a:r>
              <a:rPr lang="zh-CN" altLang="en-US" dirty="0"/>
              <a:t>和非负整数</a:t>
            </a:r>
            <a:r>
              <a:rPr lang="en-US" altLang="zh-CN" dirty="0"/>
              <a:t>n</a:t>
            </a:r>
            <a:r>
              <a:rPr lang="zh-CN" altLang="en-US" dirty="0"/>
              <a:t>。</a:t>
            </a:r>
            <a:endParaRPr lang="en-US" altLang="zh-CN" dirty="0"/>
          </a:p>
          <a:p>
            <a:pPr lvl="1" eaLnBrk="1" hangingPunct="1">
              <a:buNone/>
            </a:pPr>
            <a:r>
              <a:rPr lang="en-US" altLang="zh-CN" b="1" dirty="0"/>
              <a:t>Outpu</a:t>
            </a:r>
            <a:r>
              <a:rPr lang="en-US" altLang="zh-CN" dirty="0"/>
              <a:t>t: x</a:t>
            </a:r>
            <a:r>
              <a:rPr lang="en-US" altLang="zh-CN" baseline="30000" dirty="0"/>
              <a:t>n</a:t>
            </a:r>
            <a:r>
              <a:rPr lang="en-US" altLang="zh-CN" dirty="0"/>
              <a:t>.</a:t>
            </a:r>
            <a:endParaRPr lang="en-US" altLang="zh-CN" baseline="30000" dirty="0"/>
          </a:p>
          <a:p>
            <a:pPr lvl="1" eaLnBrk="1" hangingPunct="1">
              <a:buNone/>
            </a:pPr>
            <a:r>
              <a:rPr lang="en-US" altLang="zh-CN" dirty="0"/>
              <a:t>     1. y</a:t>
            </a:r>
            <a:r>
              <a:rPr lang="en-US" altLang="zh-CN" dirty="0">
                <a:sym typeface="Wingdings" panose="05000000000000000000" pitchFamily="2" charset="2"/>
              </a:rPr>
              <a:t>1</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2. </a:t>
            </a:r>
            <a:r>
              <a:rPr lang="zh-CN" altLang="en-US" dirty="0">
                <a:sym typeface="Wingdings" panose="05000000000000000000" pitchFamily="2" charset="2"/>
              </a:rPr>
              <a:t>将</a:t>
            </a:r>
            <a:r>
              <a:rPr lang="en-US" altLang="zh-CN" dirty="0">
                <a:sym typeface="Wingdings" panose="05000000000000000000" pitchFamily="2" charset="2"/>
              </a:rPr>
              <a:t>n </a:t>
            </a:r>
            <a:r>
              <a:rPr lang="zh-CN" altLang="en-US" dirty="0">
                <a:sym typeface="Wingdings" panose="05000000000000000000" pitchFamily="2" charset="2"/>
              </a:rPr>
              <a:t>用二进制</a:t>
            </a:r>
            <a:r>
              <a:rPr lang="en-US" altLang="zh-CN" dirty="0">
                <a:sym typeface="Wingdings" panose="05000000000000000000" pitchFamily="2" charset="2"/>
              </a:rPr>
              <a:t> d</a:t>
            </a:r>
            <a:r>
              <a:rPr lang="en-US" altLang="zh-CN" baseline="-25000" dirty="0">
                <a:sym typeface="Wingdings" panose="05000000000000000000" pitchFamily="2" charset="2"/>
              </a:rPr>
              <a:t>k</a:t>
            </a:r>
            <a:r>
              <a:rPr lang="en-US" altLang="zh-CN" dirty="0">
                <a:sym typeface="Wingdings" panose="05000000000000000000" pitchFamily="2" charset="2"/>
              </a:rPr>
              <a:t>d</a:t>
            </a:r>
            <a:r>
              <a:rPr lang="en-US" altLang="zh-CN" baseline="-25000" dirty="0">
                <a:sym typeface="Wingdings" panose="05000000000000000000" pitchFamily="2" charset="2"/>
              </a:rPr>
              <a:t>k-1</a:t>
            </a:r>
            <a:r>
              <a:rPr lang="en-US" altLang="zh-CN" dirty="0">
                <a:sym typeface="Wingdings" panose="05000000000000000000" pitchFamily="2" charset="2"/>
              </a:rPr>
              <a:t>…d</a:t>
            </a:r>
            <a:r>
              <a:rPr lang="en-US" altLang="zh-CN" baseline="-25000" dirty="0">
                <a:sym typeface="Wingdings" panose="05000000000000000000" pitchFamily="2" charset="2"/>
              </a:rPr>
              <a:t>0</a:t>
            </a:r>
            <a:r>
              <a:rPr lang="en-US" altLang="zh-CN" dirty="0">
                <a:sym typeface="Wingdings" panose="05000000000000000000" pitchFamily="2" charset="2"/>
              </a:rPr>
              <a:t> </a:t>
            </a:r>
            <a:r>
              <a:rPr lang="zh-CN" altLang="en-US" dirty="0">
                <a:sym typeface="Wingdings" panose="05000000000000000000" pitchFamily="2" charset="2"/>
              </a:rPr>
              <a:t>表示</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3. </a:t>
            </a:r>
            <a:r>
              <a:rPr lang="en-US" altLang="zh-CN" b="1" dirty="0">
                <a:sym typeface="Wingdings" panose="05000000000000000000" pitchFamily="2" charset="2"/>
              </a:rPr>
              <a:t>for</a:t>
            </a:r>
            <a:r>
              <a:rPr lang="en-US" altLang="zh-CN" dirty="0">
                <a:sym typeface="Wingdings" panose="05000000000000000000" pitchFamily="2" charset="2"/>
              </a:rPr>
              <a:t> jk </a:t>
            </a:r>
            <a:r>
              <a:rPr lang="en-US" altLang="zh-CN" b="1" dirty="0">
                <a:sym typeface="Wingdings" panose="05000000000000000000" pitchFamily="2" charset="2"/>
              </a:rPr>
              <a:t>downto</a:t>
            </a:r>
            <a:r>
              <a:rPr lang="en-US" altLang="zh-CN" dirty="0">
                <a:sym typeface="Wingdings" panose="05000000000000000000" pitchFamily="2" charset="2"/>
              </a:rPr>
              <a:t> 0</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4.      yy</a:t>
            </a:r>
            <a:r>
              <a:rPr lang="en-US" altLang="zh-CN" baseline="30000" dirty="0">
                <a:sym typeface="Wingdings" panose="05000000000000000000" pitchFamily="2" charset="2"/>
              </a:rPr>
              <a:t>2</a:t>
            </a:r>
            <a:endParaRPr lang="en-US" altLang="zh-CN" baseline="30000" dirty="0">
              <a:sym typeface="Wingdings" panose="05000000000000000000" pitchFamily="2" charset="2"/>
            </a:endParaRPr>
          </a:p>
          <a:p>
            <a:pPr lvl="1" eaLnBrk="1" hangingPunct="1">
              <a:buNone/>
            </a:pPr>
            <a:r>
              <a:rPr lang="en-US" altLang="zh-CN" dirty="0">
                <a:sym typeface="Wingdings" panose="05000000000000000000" pitchFamily="2" charset="2"/>
              </a:rPr>
              <a:t>     2.      </a:t>
            </a:r>
            <a:r>
              <a:rPr lang="en-US" altLang="zh-CN" b="1" dirty="0">
                <a:sym typeface="Wingdings" panose="05000000000000000000" pitchFamily="2" charset="2"/>
              </a:rPr>
              <a:t>if</a:t>
            </a:r>
            <a:r>
              <a:rPr lang="en-US" altLang="zh-CN" dirty="0">
                <a:sym typeface="Wingdings" panose="05000000000000000000" pitchFamily="2" charset="2"/>
              </a:rPr>
              <a:t> d</a:t>
            </a:r>
            <a:r>
              <a:rPr lang="en-US" altLang="zh-CN" baseline="-25000" dirty="0">
                <a:sym typeface="Wingdings" panose="05000000000000000000" pitchFamily="2" charset="2"/>
              </a:rPr>
              <a:t>j</a:t>
            </a:r>
            <a:r>
              <a:rPr lang="en-US" altLang="zh-CN" dirty="0">
                <a:sym typeface="Wingdings" panose="05000000000000000000" pitchFamily="2" charset="2"/>
              </a:rPr>
              <a:t>=1 </a:t>
            </a:r>
            <a:r>
              <a:rPr lang="en-US" altLang="zh-CN" b="1" dirty="0">
                <a:sym typeface="Wingdings" panose="05000000000000000000" pitchFamily="2" charset="2"/>
              </a:rPr>
              <a:t>then</a:t>
            </a:r>
            <a:r>
              <a:rPr lang="en-US" altLang="zh-CN" dirty="0">
                <a:sym typeface="Wingdings" panose="05000000000000000000" pitchFamily="2" charset="2"/>
              </a:rPr>
              <a:t> yxy</a:t>
            </a: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     6. </a:t>
            </a:r>
            <a:r>
              <a:rPr lang="en-US" altLang="zh-CN" b="1" dirty="0">
                <a:sym typeface="Wingdings" panose="05000000000000000000" pitchFamily="2" charset="2"/>
              </a:rPr>
              <a:t>end for</a:t>
            </a:r>
            <a:endParaRPr lang="en-US" altLang="zh-CN" b="1" dirty="0">
              <a:sym typeface="Wingdings" panose="05000000000000000000" pitchFamily="2" charset="2"/>
            </a:endParaRPr>
          </a:p>
          <a:p>
            <a:pPr lvl="1" eaLnBrk="1" hangingPunct="1">
              <a:buNone/>
            </a:pPr>
            <a:r>
              <a:rPr lang="en-US" altLang="zh-CN" dirty="0">
                <a:sym typeface="Wingdings" panose="05000000000000000000" pitchFamily="2" charset="2"/>
              </a:rPr>
              <a:t>     7. </a:t>
            </a:r>
            <a:r>
              <a:rPr lang="en-US" altLang="zh-CN" b="1" dirty="0">
                <a:sym typeface="Wingdings" panose="05000000000000000000" pitchFamily="2" charset="2"/>
              </a:rPr>
              <a:t>return</a:t>
            </a:r>
            <a:r>
              <a:rPr lang="en-US" altLang="zh-CN" dirty="0">
                <a:sym typeface="Wingdings" panose="05000000000000000000" pitchFamily="2" charset="2"/>
              </a:rPr>
              <a:t> y </a:t>
            </a:r>
            <a:endParaRPr lang="en-US" altLang="zh-CN" dirty="0">
              <a:sym typeface="Wingdings" panose="05000000000000000000" pitchFamily="2" charset="2"/>
            </a:endParaRPr>
          </a:p>
          <a:p>
            <a:pPr lvl="1" eaLnBrk="1" hangingPunct="1">
              <a:buNone/>
            </a:pPr>
            <a:endParaRPr lang="en-US" altLang="zh-CN" dirty="0">
              <a:sym typeface="Wingdings" panose="05000000000000000000" pitchFamily="2" charset="2"/>
            </a:endParaRPr>
          </a:p>
          <a:p>
            <a:pPr lvl="1" eaLnBrk="1" hangingPunct="1">
              <a:buNone/>
            </a:pPr>
            <a:endParaRPr lang="en-US" altLang="zh-CN" dirty="0">
              <a:sym typeface="Wingdings" panose="05000000000000000000" pitchFamily="2" charset="2"/>
            </a:endParaRPr>
          </a:p>
          <a:p>
            <a:pPr lvl="1" eaLnBrk="1" hangingPunct="1">
              <a:buNone/>
            </a:pPr>
            <a:r>
              <a:rPr lang="en-US" altLang="zh-CN" dirty="0">
                <a:sym typeface="Wingdings" panose="05000000000000000000" pitchFamily="2" charset="2"/>
              </a:rPr>
              <a:t>p94</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0418" name="Rectangle 2"/>
          <p:cNvSpPr>
            <a:spLocks noGrp="1"/>
          </p:cNvSpPr>
          <p:nvPr>
            <p:ph type="title"/>
          </p:nvPr>
        </p:nvSpPr>
        <p:spPr/>
        <p:txBody>
          <a:bodyPr vert="horz" wrap="square" lIns="91440" tIns="45720" rIns="91440" bIns="45720" anchor="ctr" anchorCtr="0"/>
          <a:p>
            <a:pPr eaLnBrk="1" hangingPunct="1"/>
            <a:r>
              <a:rPr lang="zh-CN" altLang="en-US" dirty="0"/>
              <a:t>算法分析</a:t>
            </a:r>
            <a:endParaRPr lang="en-US" altLang="zh-CN" dirty="0"/>
          </a:p>
        </p:txBody>
      </p:sp>
      <p:sp>
        <p:nvSpPr>
          <p:cNvPr id="119811" name="Rectangle 3"/>
          <p:cNvSpPr>
            <a:spLocks noGrp="1"/>
          </p:cNvSpPr>
          <p:nvPr>
            <p:ph idx="1"/>
          </p:nvPr>
        </p:nvSpPr>
        <p:spPr>
          <a:xfrm>
            <a:off x="900113" y="1566863"/>
            <a:ext cx="7786687" cy="3949700"/>
          </a:xfrm>
        </p:spPr>
        <p:txBody>
          <a:bodyPr vert="horz" wrap="square" lIns="91440" tIns="45720" rIns="91440" bIns="45720" anchor="t" anchorCtr="0"/>
          <a:p>
            <a:pPr eaLnBrk="1" hangingPunct="1"/>
            <a:r>
              <a:rPr lang="zh-CN" altLang="en-US" dirty="0"/>
              <a:t>假定每次乘法的时间是常数，那么这两个版本的算法的运行时间是</a:t>
            </a:r>
            <a:r>
              <a:rPr lang="en-US" altLang="zh-CN" dirty="0">
                <a:sym typeface="Symbol" panose="05050102010706020507" pitchFamily="18" charset="2"/>
              </a:rPr>
              <a:t>(logn), </a:t>
            </a:r>
            <a:r>
              <a:rPr lang="zh-CN" altLang="en-US" dirty="0"/>
              <a:t>，它对于输入的大小来说是线性的。</a:t>
            </a:r>
            <a:endParaRPr lang="en-US" altLang="zh-CN"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811">
                                            <p:txEl>
                                              <p:charRg st="0" end="55"/>
                                            </p:txEl>
                                          </p:spTgt>
                                        </p:tgtEl>
                                        <p:attrNameLst>
                                          <p:attrName>style.visibility</p:attrName>
                                        </p:attrNameLst>
                                      </p:cBhvr>
                                      <p:to>
                                        <p:strVal val="visible"/>
                                      </p:to>
                                    </p:set>
                                    <p:anim calcmode="lin" valueType="num">
                                      <p:cBhvr additive="base">
                                        <p:cTn id="7" dur="500" fill="hold"/>
                                        <p:tgtEl>
                                          <p:spTgt spid="119811">
                                            <p:txEl>
                                              <p:charRg st="0" end="5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1">
                                            <p:txEl>
                                              <p:charRg st="0" end="5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页脚占位符 4"/>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2466" name="Rectangle 2"/>
          <p:cNvSpPr>
            <a:spLocks noGrp="1"/>
          </p:cNvSpPr>
          <p:nvPr>
            <p:ph type="title"/>
          </p:nvPr>
        </p:nvSpPr>
        <p:spPr/>
        <p:txBody>
          <a:bodyPr vert="horz" wrap="square" lIns="91440" tIns="45720" rIns="91440" bIns="45720" anchor="ctr" anchorCtr="0"/>
          <a:p>
            <a:pPr eaLnBrk="1" hangingPunct="1"/>
            <a:r>
              <a:rPr lang="en-US" altLang="zh-CN" dirty="0"/>
              <a:t>2.3.2</a:t>
            </a:r>
            <a:r>
              <a:rPr lang="zh-CN" altLang="en-US" dirty="0"/>
              <a:t>多项式求值</a:t>
            </a:r>
            <a:r>
              <a:rPr lang="en-US" altLang="zh-CN" dirty="0"/>
              <a:t>(Horner’s</a:t>
            </a:r>
            <a:r>
              <a:rPr lang="zh-CN" altLang="en-US" dirty="0"/>
              <a:t>规则</a:t>
            </a:r>
            <a:r>
              <a:rPr lang="en-US" altLang="zh-CN" dirty="0"/>
              <a:t>)</a:t>
            </a:r>
            <a:endParaRPr lang="en-US" altLang="zh-CN" dirty="0"/>
          </a:p>
        </p:txBody>
      </p:sp>
      <p:sp>
        <p:nvSpPr>
          <p:cNvPr id="120835" name="Rectangle 3"/>
          <p:cNvSpPr>
            <a:spLocks noGrp="1" noChangeArrowheads="1"/>
          </p:cNvSpPr>
          <p:nvPr>
            <p:ph type="body" sz="half" idx="1"/>
          </p:nvPr>
        </p:nvSpPr>
        <p:spPr>
          <a:xfrm>
            <a:off x="890588" y="1196975"/>
            <a:ext cx="8002588" cy="45656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7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700" b="0" i="0" u="none" strike="noStrike" kern="0" cap="none" spc="0" normalizeH="0" baseline="0" noProof="0" dirty="0">
                <a:ln>
                  <a:noFill/>
                </a:ln>
                <a:solidFill>
                  <a:schemeClr val="accent2"/>
                </a:solidFill>
                <a:effectLst/>
                <a:uLnTx/>
                <a:uFillTx/>
                <a:latin typeface="+mn-lt"/>
                <a:ea typeface="+mn-ea"/>
                <a:cs typeface="+mn-cs"/>
              </a:rPr>
              <a:t>问题描述</a:t>
            </a:r>
            <a:r>
              <a:rPr kumimoji="0" lang="en-US" altLang="zh-CN" sz="27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7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7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假设有</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n+2</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个实数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0</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的序列，要对如下多项式求值。</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直接的方法是对每一项分别求值。</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这种方法是十分低效的，因为它需要</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n+n-1+…+1=n(n+1)/2</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次乘法。</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p:txBody>
      </p:sp>
      <p:graphicFrame>
        <p:nvGraphicFramePr>
          <p:cNvPr id="120836" name="Object 4"/>
          <p:cNvGraphicFramePr>
            <a:graphicFrameLocks noGrp="1" noChangeAspect="1"/>
          </p:cNvGraphicFramePr>
          <p:nvPr>
            <p:ph sz="half" idx="2"/>
          </p:nvPr>
        </p:nvGraphicFramePr>
        <p:xfrm>
          <a:off x="2714625" y="2428875"/>
          <a:ext cx="5040313" cy="582613"/>
        </p:xfrm>
        <a:graphic>
          <a:graphicData uri="http://schemas.openxmlformats.org/presentationml/2006/ole">
            <mc:AlternateContent xmlns:mc="http://schemas.openxmlformats.org/markup-compatibility/2006">
              <mc:Choice xmlns:v="urn:schemas-microsoft-com:vml" Requires="v">
                <p:oleObj spid="_x0000_s3098" name="" r:id="rId1" imgW="2209800" imgH="241300" progId="Equation.3">
                  <p:embed/>
                </p:oleObj>
              </mc:Choice>
              <mc:Fallback>
                <p:oleObj name="" r:id="rId1" imgW="2209800" imgH="241300" progId="Equation.3">
                  <p:embed/>
                  <p:pic>
                    <p:nvPicPr>
                      <p:cNvPr id="0" name="图片 3097"/>
                      <p:cNvPicPr/>
                      <p:nvPr/>
                    </p:nvPicPr>
                    <p:blipFill>
                      <a:blip r:embed="rId2"/>
                      <a:stretch>
                        <a:fillRect/>
                      </a:stretch>
                    </p:blipFill>
                    <p:spPr>
                      <a:xfrm>
                        <a:off x="2714625" y="2428875"/>
                        <a:ext cx="5040313" cy="582613"/>
                      </a:xfrm>
                      <a:prstGeom prst="rect">
                        <a:avLst/>
                      </a:prstGeom>
                      <a:noFill/>
                      <a:ln w="38100">
                        <a:miter/>
                      </a:ln>
                    </p:spPr>
                  </p:pic>
                </p:oleObj>
              </mc:Fallback>
            </mc:AlternateContent>
          </a:graphicData>
        </a:graphic>
      </p:graphicFrame>
      <p:pic>
        <p:nvPicPr>
          <p:cNvPr id="120839" name="Picture 7" descr="question"/>
          <p:cNvPicPr>
            <a:picLocks noChangeAspect="1"/>
          </p:cNvPicPr>
          <p:nvPr/>
        </p:nvPicPr>
        <p:blipFill>
          <a:blip r:embed="rId3"/>
          <a:stretch>
            <a:fillRect/>
          </a:stretch>
        </p:blipFill>
        <p:spPr>
          <a:xfrm>
            <a:off x="971550" y="1268413"/>
            <a:ext cx="360363" cy="3603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20839"/>
                                        </p:tgtEl>
                                        <p:attrNameLst>
                                          <p:attrName>style.visibility</p:attrName>
                                        </p:attrNameLst>
                                      </p:cBhvr>
                                      <p:to>
                                        <p:strVal val="visible"/>
                                      </p:to>
                                    </p:set>
                                    <p:anim calcmode="lin" valueType="num">
                                      <p:cBhvr>
                                        <p:cTn id="7" dur="5000" fill="hold"/>
                                        <p:tgtEl>
                                          <p:spTgt spid="120839"/>
                                        </p:tgtEl>
                                        <p:attrNameLst>
                                          <p:attrName>ppt_w</p:attrName>
                                        </p:attrNameLst>
                                      </p:cBhvr>
                                      <p:tavLst>
                                        <p:tav tm="0" fmla="#ppt_w*sin(2.5*pi*$)">
                                          <p:val>
                                            <p:fltVal val="0.000000"/>
                                          </p:val>
                                        </p:tav>
                                        <p:tav tm="100000">
                                          <p:val>
                                            <p:fltVal val="1.000000"/>
                                          </p:val>
                                        </p:tav>
                                      </p:tavLst>
                                    </p:anim>
                                    <p:anim calcmode="lin" valueType="num">
                                      <p:cBhvr>
                                        <p:cTn id="8" dur="5000" fill="hold"/>
                                        <p:tgtEl>
                                          <p:spTgt spid="12083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120835">
                                            <p:txEl>
                                              <p:charRg st="0" end="11"/>
                                            </p:txEl>
                                          </p:spTgt>
                                        </p:tgtEl>
                                        <p:attrNameLst>
                                          <p:attrName>style.visibility</p:attrName>
                                        </p:attrNameLst>
                                      </p:cBhvr>
                                      <p:to>
                                        <p:strVal val="visible"/>
                                      </p:to>
                                    </p:set>
                                    <p:animEffect transition="in" filter="blinds(horizontal)">
                                      <p:cBhvr>
                                        <p:cTn id="11" dur="500"/>
                                        <p:tgtEl>
                                          <p:spTgt spid="120835">
                                            <p:txEl>
                                              <p:charRg st="0" end="1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120835">
                                            <p:txEl>
                                              <p:charRg st="11" end="48"/>
                                            </p:txEl>
                                          </p:spTgt>
                                        </p:tgtEl>
                                        <p:attrNameLst>
                                          <p:attrName>style.visibility</p:attrName>
                                        </p:attrNameLst>
                                      </p:cBhvr>
                                      <p:to>
                                        <p:strVal val="visible"/>
                                      </p:to>
                                    </p:set>
                                    <p:animEffect transition="in" filter="slide(fromBottom)">
                                      <p:cBhvr>
                                        <p:cTn id="16" dur="500"/>
                                        <p:tgtEl>
                                          <p:spTgt spid="120835">
                                            <p:txEl>
                                              <p:charRg st="11" end="48"/>
                                            </p:txEl>
                                          </p:spTgt>
                                        </p:tgtEl>
                                      </p:cBhvr>
                                    </p:animEffect>
                                  </p:childTnLst>
                                </p:cTn>
                              </p:par>
                            </p:childTnLst>
                          </p:cTn>
                        </p:par>
                        <p:par>
                          <p:cTn id="17" fill="hold">
                            <p:stCondLst>
                              <p:cond delay="500"/>
                            </p:stCondLst>
                            <p:childTnLst>
                              <p:par>
                                <p:cTn id="18" presetID="55" presetClass="entr" presetSubtype="0" fill="hold" nodeType="afterEffect">
                                  <p:stCondLst>
                                    <p:cond delay="0"/>
                                  </p:stCondLst>
                                  <p:childTnLst>
                                    <p:set>
                                      <p:cBhvr>
                                        <p:cTn id="19" dur="1" fill="hold">
                                          <p:stCondLst>
                                            <p:cond delay="0"/>
                                          </p:stCondLst>
                                        </p:cTn>
                                        <p:tgtEl>
                                          <p:spTgt spid="120836"/>
                                        </p:tgtEl>
                                        <p:attrNameLst>
                                          <p:attrName>style.visibility</p:attrName>
                                        </p:attrNameLst>
                                      </p:cBhvr>
                                      <p:to>
                                        <p:strVal val="visible"/>
                                      </p:to>
                                    </p:set>
                                    <p:anim calcmode="lin" valueType="num">
                                      <p:cBhvr>
                                        <p:cTn id="20" dur="1000" fill="hold"/>
                                        <p:tgtEl>
                                          <p:spTgt spid="120836"/>
                                        </p:tgtEl>
                                        <p:attrNameLst>
                                          <p:attrName>ppt_w</p:attrName>
                                        </p:attrNameLst>
                                      </p:cBhvr>
                                      <p:tavLst>
                                        <p:tav tm="0">
                                          <p:val>
                                            <p:strVal val="#ppt_w*0.70"/>
                                          </p:val>
                                        </p:tav>
                                        <p:tav tm="100000">
                                          <p:val>
                                            <p:strVal val="#ppt_w"/>
                                          </p:val>
                                        </p:tav>
                                      </p:tavLst>
                                    </p:anim>
                                    <p:anim calcmode="lin" valueType="num">
                                      <p:cBhvr>
                                        <p:cTn id="21" dur="1000" fill="hold"/>
                                        <p:tgtEl>
                                          <p:spTgt spid="120836"/>
                                        </p:tgtEl>
                                        <p:attrNameLst>
                                          <p:attrName>ppt_h</p:attrName>
                                        </p:attrNameLst>
                                      </p:cBhvr>
                                      <p:tavLst>
                                        <p:tav tm="0">
                                          <p:val>
                                            <p:strVal val="#ppt_h"/>
                                          </p:val>
                                        </p:tav>
                                        <p:tav tm="100000">
                                          <p:val>
                                            <p:strVal val="#ppt_h"/>
                                          </p:val>
                                        </p:tav>
                                      </p:tavLst>
                                    </p:anim>
                                    <p:animEffect transition="in" filter="fade">
                                      <p:cBhvr>
                                        <p:cTn id="22" dur="1000"/>
                                        <p:tgtEl>
                                          <p:spTgt spid="12083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20835">
                                            <p:txEl>
                                              <p:charRg st="50" end="66"/>
                                            </p:txEl>
                                          </p:spTgt>
                                        </p:tgtEl>
                                        <p:attrNameLst>
                                          <p:attrName>style.visibility</p:attrName>
                                        </p:attrNameLst>
                                      </p:cBhvr>
                                      <p:to>
                                        <p:strVal val="visible"/>
                                      </p:to>
                                    </p:set>
                                    <p:animEffect transition="in" filter="slide(fromBottom)">
                                      <p:cBhvr>
                                        <p:cTn id="27" dur="500"/>
                                        <p:tgtEl>
                                          <p:spTgt spid="120835">
                                            <p:txEl>
                                              <p:charRg st="50" end="6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120835">
                                            <p:txEl>
                                              <p:charRg st="67" end="106"/>
                                            </p:txEl>
                                          </p:spTgt>
                                        </p:tgtEl>
                                        <p:attrNameLst>
                                          <p:attrName>style.visibility</p:attrName>
                                        </p:attrNameLst>
                                      </p:cBhvr>
                                      <p:to>
                                        <p:strVal val="visible"/>
                                      </p:to>
                                    </p:set>
                                    <p:anim calcmode="lin" valueType="num">
                                      <p:cBhvr>
                                        <p:cTn id="32" dur="1000" fill="hold"/>
                                        <p:tgtEl>
                                          <p:spTgt spid="120835">
                                            <p:txEl>
                                              <p:charRg st="67" end="106"/>
                                            </p:txEl>
                                          </p:spTgt>
                                        </p:tgtEl>
                                        <p:attrNameLst>
                                          <p:attrName>ppt_w</p:attrName>
                                        </p:attrNameLst>
                                      </p:cBhvr>
                                      <p:tavLst>
                                        <p:tav tm="0">
                                          <p:val>
                                            <p:strVal val="#ppt_w*0.70"/>
                                          </p:val>
                                        </p:tav>
                                        <p:tav tm="100000">
                                          <p:val>
                                            <p:strVal val="#ppt_w"/>
                                          </p:val>
                                        </p:tav>
                                      </p:tavLst>
                                    </p:anim>
                                    <p:anim calcmode="lin" valueType="num">
                                      <p:cBhvr>
                                        <p:cTn id="33" dur="1000" fill="hold"/>
                                        <p:tgtEl>
                                          <p:spTgt spid="120835">
                                            <p:txEl>
                                              <p:charRg st="67" end="106"/>
                                            </p:txEl>
                                          </p:spTgt>
                                        </p:tgtEl>
                                        <p:attrNameLst>
                                          <p:attrName>ppt_h</p:attrName>
                                        </p:attrNameLst>
                                      </p:cBhvr>
                                      <p:tavLst>
                                        <p:tav tm="0">
                                          <p:val>
                                            <p:strVal val="#ppt_h"/>
                                          </p:val>
                                        </p:tav>
                                        <p:tav tm="100000">
                                          <p:val>
                                            <p:strVal val="#ppt_h"/>
                                          </p:val>
                                        </p:tav>
                                      </p:tavLst>
                                    </p:anim>
                                    <p:animEffect transition="in" filter="fade">
                                      <p:cBhvr>
                                        <p:cTn id="34" dur="1000"/>
                                        <p:tgtEl>
                                          <p:spTgt spid="120835">
                                            <p:txEl>
                                              <p:charRg st="67" end="1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页脚占位符 5"/>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4514" name="Rectangle 2"/>
          <p:cNvSpPr>
            <a:spLocks noGrp="1"/>
          </p:cNvSpPr>
          <p:nvPr>
            <p:ph type="title"/>
          </p:nvPr>
        </p:nvSpPr>
        <p:spPr/>
        <p:txBody>
          <a:bodyPr vert="horz" wrap="square" lIns="91440" tIns="45720" rIns="91440" bIns="45720" anchor="ctr" anchorCtr="0"/>
          <a:p>
            <a:pPr eaLnBrk="1" hangingPunct="1"/>
            <a:r>
              <a:rPr lang="zh-CN" altLang="en-US" dirty="0"/>
              <a:t>更快的方法</a:t>
            </a:r>
            <a:r>
              <a:rPr lang="en-US" altLang="zh-CN" dirty="0"/>
              <a:t>(Horner’s rule)</a:t>
            </a:r>
            <a:endParaRPr lang="en-US" altLang="zh-CN" dirty="0"/>
          </a:p>
        </p:txBody>
      </p:sp>
      <p:sp>
        <p:nvSpPr>
          <p:cNvPr id="122883" name="Rectangle 3"/>
          <p:cNvSpPr>
            <a:spLocks noGrp="1"/>
          </p:cNvSpPr>
          <p:nvPr>
            <p:ph type="body" sz="half" idx="1"/>
          </p:nvPr>
        </p:nvSpPr>
        <p:spPr>
          <a:xfrm>
            <a:off x="828675" y="1196975"/>
            <a:ext cx="8207375" cy="4537075"/>
          </a:xfrm>
        </p:spPr>
        <p:txBody>
          <a:bodyPr vert="horz" wrap="square" lIns="91440" tIns="45720" rIns="91440" bIns="45720" anchor="t" anchorCtr="0"/>
          <a:p>
            <a:pPr eaLnBrk="1" hangingPunct="1">
              <a:buClrTx/>
              <a:buSzTx/>
              <a:buFontTx/>
            </a:pPr>
            <a:r>
              <a:rPr lang="zh-CN" altLang="en-US" sz="2700" dirty="0">
                <a:solidFill>
                  <a:srgbClr val="EA0000"/>
                </a:solidFill>
              </a:rPr>
              <a:t>基本思想</a:t>
            </a:r>
            <a:endParaRPr lang="en-US" altLang="zh-CN" sz="2700" dirty="0">
              <a:solidFill>
                <a:srgbClr val="EA0000"/>
              </a:solidFill>
            </a:endParaRPr>
          </a:p>
          <a:p>
            <a:pPr lvl="1" eaLnBrk="1" hangingPunct="1">
              <a:buNone/>
            </a:pPr>
            <a:r>
              <a:rPr lang="zh-CN" altLang="en-US" sz="2400" dirty="0"/>
              <a:t>首先观察</a:t>
            </a:r>
            <a:endParaRPr lang="en-US" altLang="zh-CN" sz="2400" dirty="0"/>
          </a:p>
          <a:p>
            <a:pPr lvl="1" eaLnBrk="1" hangingPunct="1"/>
            <a:endParaRPr lang="en-US" altLang="zh-CN" sz="2400" dirty="0"/>
          </a:p>
          <a:p>
            <a:pPr lvl="1" eaLnBrk="1" hangingPunct="1">
              <a:buNone/>
            </a:pPr>
            <a:r>
              <a:rPr lang="en-US" altLang="zh-CN" sz="2400" dirty="0"/>
              <a:t> </a:t>
            </a:r>
            <a:endParaRPr lang="en-US" altLang="zh-CN" sz="2400" dirty="0"/>
          </a:p>
          <a:p>
            <a:pPr lvl="1" eaLnBrk="1" hangingPunct="1"/>
            <a:endParaRPr lang="en-US" altLang="zh-CN" sz="1000" dirty="0"/>
          </a:p>
          <a:p>
            <a:pPr lvl="1" eaLnBrk="1" hangingPunct="1">
              <a:buNone/>
            </a:pPr>
            <a:r>
              <a:rPr lang="zh-CN" altLang="en-US" sz="2400" dirty="0"/>
              <a:t>这种求值的安排称为</a:t>
            </a:r>
            <a:r>
              <a:rPr lang="en-US" altLang="zh-CN" sz="2400" dirty="0">
                <a:solidFill>
                  <a:srgbClr val="FF0000"/>
                </a:solidFill>
              </a:rPr>
              <a:t>Horner</a:t>
            </a:r>
            <a:r>
              <a:rPr lang="zh-CN" altLang="en-US" sz="2400" dirty="0">
                <a:solidFill>
                  <a:srgbClr val="FF0000"/>
                </a:solidFill>
              </a:rPr>
              <a:t>规则</a:t>
            </a:r>
            <a:r>
              <a:rPr lang="zh-CN" altLang="en-US" sz="2400" dirty="0"/>
              <a:t>。</a:t>
            </a:r>
            <a:endParaRPr lang="en-US" altLang="zh-CN" sz="2400" dirty="0"/>
          </a:p>
          <a:p>
            <a:pPr lvl="1" eaLnBrk="1" hangingPunct="1">
              <a:buNone/>
            </a:pPr>
            <a:endParaRPr lang="en-US" altLang="zh-CN" sz="2400" dirty="0"/>
          </a:p>
          <a:p>
            <a:pPr lvl="1" eaLnBrk="1" hangingPunct="1">
              <a:buNone/>
            </a:pPr>
            <a:r>
              <a:rPr lang="zh-CN" altLang="en-US" sz="2400" dirty="0"/>
              <a:t>导出</a:t>
            </a:r>
            <a:r>
              <a:rPr lang="en-US" altLang="zh-CN" sz="2400" dirty="0"/>
              <a:t>:</a:t>
            </a:r>
            <a:r>
              <a:rPr lang="en-US" altLang="zh-CN" sz="2000" dirty="0"/>
              <a:t> </a:t>
            </a:r>
            <a:endParaRPr lang="en-US" altLang="zh-CN" sz="2000" dirty="0"/>
          </a:p>
          <a:p>
            <a:pPr lvl="1" eaLnBrk="1" hangingPunct="1"/>
            <a:endParaRPr lang="en-US" altLang="zh-CN" sz="2000" dirty="0"/>
          </a:p>
          <a:p>
            <a:pPr lvl="1" eaLnBrk="1" hangingPunct="1"/>
            <a:endParaRPr lang="en-US" altLang="zh-CN" sz="1000" dirty="0"/>
          </a:p>
          <a:p>
            <a:pPr lvl="1" eaLnBrk="1" hangingPunct="1">
              <a:buNone/>
            </a:pPr>
            <a:r>
              <a:rPr lang="zh-CN" altLang="en-US" sz="2400" dirty="0"/>
              <a:t>得到以下更有效的方法</a:t>
            </a:r>
            <a:endParaRPr lang="en-US" altLang="zh-CN" sz="2400" dirty="0"/>
          </a:p>
          <a:p>
            <a:pPr lvl="1" eaLnBrk="1" hangingPunct="1"/>
            <a:endParaRPr lang="en-US" altLang="zh-CN" sz="1000" dirty="0"/>
          </a:p>
          <a:p>
            <a:pPr lvl="1" eaLnBrk="1" hangingPunct="1">
              <a:buNone/>
            </a:pPr>
            <a:endParaRPr lang="en-US" altLang="zh-CN" sz="2400" dirty="0"/>
          </a:p>
        </p:txBody>
      </p:sp>
      <p:graphicFrame>
        <p:nvGraphicFramePr>
          <p:cNvPr id="122884" name="Object 4"/>
          <p:cNvGraphicFramePr>
            <a:graphicFrameLocks noGrp="1" noChangeAspect="1"/>
          </p:cNvGraphicFramePr>
          <p:nvPr>
            <p:ph sz="quarter" idx="2"/>
          </p:nvPr>
        </p:nvGraphicFramePr>
        <p:xfrm>
          <a:off x="1187450" y="1989138"/>
          <a:ext cx="7416800" cy="1036637"/>
        </p:xfrm>
        <a:graphic>
          <a:graphicData uri="http://schemas.openxmlformats.org/presentationml/2006/ole">
            <mc:AlternateContent xmlns:mc="http://schemas.openxmlformats.org/markup-compatibility/2006">
              <mc:Choice xmlns:v="urn:schemas-microsoft-com:vml" Requires="v">
                <p:oleObj spid="_x0000_s3096" name="" r:id="rId1" imgW="3454400" imgH="482600" progId="Equation.3">
                  <p:embed/>
                </p:oleObj>
              </mc:Choice>
              <mc:Fallback>
                <p:oleObj name="" r:id="rId1" imgW="3454400" imgH="482600" progId="Equation.3">
                  <p:embed/>
                  <p:pic>
                    <p:nvPicPr>
                      <p:cNvPr id="0" name="图片 3095"/>
                      <p:cNvPicPr/>
                      <p:nvPr/>
                    </p:nvPicPr>
                    <p:blipFill>
                      <a:blip r:embed="rId2"/>
                      <a:stretch>
                        <a:fillRect/>
                      </a:stretch>
                    </p:blipFill>
                    <p:spPr>
                      <a:xfrm>
                        <a:off x="1187450" y="1989138"/>
                        <a:ext cx="7416800" cy="1036637"/>
                      </a:xfrm>
                      <a:prstGeom prst="rect">
                        <a:avLst/>
                      </a:prstGeom>
                      <a:noFill/>
                      <a:ln w="38100">
                        <a:miter/>
                      </a:ln>
                    </p:spPr>
                  </p:pic>
                </p:oleObj>
              </mc:Fallback>
            </mc:AlternateContent>
          </a:graphicData>
        </a:graphic>
      </p:graphicFrame>
      <p:graphicFrame>
        <p:nvGraphicFramePr>
          <p:cNvPr id="122886" name="Object 6"/>
          <p:cNvGraphicFramePr>
            <a:graphicFrameLocks noGrp="1" noChangeAspect="1"/>
          </p:cNvGraphicFramePr>
          <p:nvPr>
            <p:ph sz="quarter" idx="3"/>
          </p:nvPr>
        </p:nvGraphicFramePr>
        <p:xfrm>
          <a:off x="1547813" y="4437063"/>
          <a:ext cx="6064250" cy="622300"/>
        </p:xfrm>
        <a:graphic>
          <a:graphicData uri="http://schemas.openxmlformats.org/presentationml/2006/ole">
            <mc:AlternateContent xmlns:mc="http://schemas.openxmlformats.org/markup-compatibility/2006">
              <mc:Choice xmlns:v="urn:schemas-microsoft-com:vml" Requires="v">
                <p:oleObj spid="_x0000_s3095" name="" r:id="rId3" imgW="2489200" imgH="241300" progId="Equation.3">
                  <p:embed/>
                </p:oleObj>
              </mc:Choice>
              <mc:Fallback>
                <p:oleObj name="" r:id="rId3" imgW="2489200" imgH="241300" progId="Equation.3">
                  <p:embed/>
                  <p:pic>
                    <p:nvPicPr>
                      <p:cNvPr id="0" name="图片 3094"/>
                      <p:cNvPicPr/>
                      <p:nvPr/>
                    </p:nvPicPr>
                    <p:blipFill>
                      <a:blip r:embed="rId4"/>
                      <a:stretch>
                        <a:fillRect/>
                      </a:stretch>
                    </p:blipFill>
                    <p:spPr>
                      <a:xfrm>
                        <a:off x="1547813" y="4437063"/>
                        <a:ext cx="6064250" cy="622300"/>
                      </a:xfrm>
                      <a:prstGeom prst="rect">
                        <a:avLst/>
                      </a:prstGeom>
                      <a:noFill/>
                      <a:ln w="38100">
                        <a:miter/>
                      </a:ln>
                    </p:spPr>
                  </p:pic>
                </p:oleObj>
              </mc:Fallback>
            </mc:AlternateContent>
          </a:graphicData>
        </a:graphic>
      </p:graphicFrame>
      <p:graphicFrame>
        <p:nvGraphicFramePr>
          <p:cNvPr id="122888" name="Object 8"/>
          <p:cNvGraphicFramePr>
            <a:graphicFrameLocks noChangeAspect="1"/>
          </p:cNvGraphicFramePr>
          <p:nvPr/>
        </p:nvGraphicFramePr>
        <p:xfrm>
          <a:off x="1292225" y="5432425"/>
          <a:ext cx="6159500" cy="534988"/>
        </p:xfrm>
        <a:graphic>
          <a:graphicData uri="http://schemas.openxmlformats.org/presentationml/2006/ole">
            <mc:AlternateContent xmlns:mc="http://schemas.openxmlformats.org/markup-compatibility/2006">
              <mc:Choice xmlns:v="urn:schemas-microsoft-com:vml" Requires="v">
                <p:oleObj spid="_x0000_s3094" name="" r:id="rId5" imgW="2768600" imgH="241300" progId="Equation.3">
                  <p:embed/>
                </p:oleObj>
              </mc:Choice>
              <mc:Fallback>
                <p:oleObj name="" r:id="rId5" imgW="2768600" imgH="241300" progId="Equation.3">
                  <p:embed/>
                  <p:pic>
                    <p:nvPicPr>
                      <p:cNvPr id="0" name="图片 3093"/>
                      <p:cNvPicPr/>
                      <p:nvPr/>
                    </p:nvPicPr>
                    <p:blipFill>
                      <a:blip r:embed="rId6"/>
                      <a:stretch>
                        <a:fillRect/>
                      </a:stretch>
                    </p:blipFill>
                    <p:spPr>
                      <a:xfrm>
                        <a:off x="1292225" y="5432425"/>
                        <a:ext cx="6159500" cy="5349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2883">
                                            <p:txEl>
                                              <p:charRg st="0" end="5"/>
                                            </p:txEl>
                                          </p:spTgt>
                                        </p:tgtEl>
                                        <p:attrNameLst>
                                          <p:attrName>style.visibility</p:attrName>
                                        </p:attrNameLst>
                                      </p:cBhvr>
                                      <p:to>
                                        <p:strVal val="visible"/>
                                      </p:to>
                                    </p:set>
                                    <p:anim calcmode="lin" valueType="num">
                                      <p:cBhvr>
                                        <p:cTn id="7" dur="1000" fill="hold"/>
                                        <p:tgtEl>
                                          <p:spTgt spid="122883">
                                            <p:txEl>
                                              <p:charRg st="0" end="5"/>
                                            </p:txEl>
                                          </p:spTgt>
                                        </p:tgtEl>
                                        <p:attrNameLst>
                                          <p:attrName>ppt_w</p:attrName>
                                        </p:attrNameLst>
                                      </p:cBhvr>
                                      <p:tavLst>
                                        <p:tav tm="0">
                                          <p:val>
                                            <p:strVal val="#ppt_w*0.70"/>
                                          </p:val>
                                        </p:tav>
                                        <p:tav tm="100000">
                                          <p:val>
                                            <p:strVal val="#ppt_w"/>
                                          </p:val>
                                        </p:tav>
                                      </p:tavLst>
                                    </p:anim>
                                    <p:anim calcmode="lin" valueType="num">
                                      <p:cBhvr>
                                        <p:cTn id="8" dur="1000" fill="hold"/>
                                        <p:tgtEl>
                                          <p:spTgt spid="122883">
                                            <p:txEl>
                                              <p:charRg st="0" end="5"/>
                                            </p:txEl>
                                          </p:spTgt>
                                        </p:tgtEl>
                                        <p:attrNameLst>
                                          <p:attrName>ppt_h</p:attrName>
                                        </p:attrNameLst>
                                      </p:cBhvr>
                                      <p:tavLst>
                                        <p:tav tm="0">
                                          <p:val>
                                            <p:strVal val="#ppt_h"/>
                                          </p:val>
                                        </p:tav>
                                        <p:tav tm="100000">
                                          <p:val>
                                            <p:strVal val="#ppt_h"/>
                                          </p:val>
                                        </p:tav>
                                      </p:tavLst>
                                    </p:anim>
                                    <p:animEffect transition="in" filter="fade">
                                      <p:cBhvr>
                                        <p:cTn id="9" dur="1000"/>
                                        <p:tgtEl>
                                          <p:spTgt spid="122883">
                                            <p:txEl>
                                              <p:charRg st="0" end="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22883">
                                            <p:txEl>
                                              <p:charRg st="5" end="10"/>
                                            </p:txEl>
                                          </p:spTgt>
                                        </p:tgtEl>
                                        <p:attrNameLst>
                                          <p:attrName>style.visibility</p:attrName>
                                        </p:attrNameLst>
                                      </p:cBhvr>
                                      <p:to>
                                        <p:strVal val="visible"/>
                                      </p:to>
                                    </p:set>
                                    <p:anim calcmode="lin" valueType="num">
                                      <p:cBhvr>
                                        <p:cTn id="14" dur="1000" fill="hold"/>
                                        <p:tgtEl>
                                          <p:spTgt spid="122883">
                                            <p:txEl>
                                              <p:charRg st="5" end="10"/>
                                            </p:txEl>
                                          </p:spTgt>
                                        </p:tgtEl>
                                        <p:attrNameLst>
                                          <p:attrName>ppt_w</p:attrName>
                                        </p:attrNameLst>
                                      </p:cBhvr>
                                      <p:tavLst>
                                        <p:tav tm="0">
                                          <p:val>
                                            <p:strVal val="#ppt_w*0.70"/>
                                          </p:val>
                                        </p:tav>
                                        <p:tav tm="100000">
                                          <p:val>
                                            <p:strVal val="#ppt_w"/>
                                          </p:val>
                                        </p:tav>
                                      </p:tavLst>
                                    </p:anim>
                                    <p:anim calcmode="lin" valueType="num">
                                      <p:cBhvr>
                                        <p:cTn id="15" dur="1000" fill="hold"/>
                                        <p:tgtEl>
                                          <p:spTgt spid="122883">
                                            <p:txEl>
                                              <p:charRg st="5" end="10"/>
                                            </p:txEl>
                                          </p:spTgt>
                                        </p:tgtEl>
                                        <p:attrNameLst>
                                          <p:attrName>ppt_h</p:attrName>
                                        </p:attrNameLst>
                                      </p:cBhvr>
                                      <p:tavLst>
                                        <p:tav tm="0">
                                          <p:val>
                                            <p:strVal val="#ppt_h"/>
                                          </p:val>
                                        </p:tav>
                                        <p:tav tm="100000">
                                          <p:val>
                                            <p:strVal val="#ppt_h"/>
                                          </p:val>
                                        </p:tav>
                                      </p:tavLst>
                                    </p:anim>
                                    <p:animEffect transition="in" filter="fade">
                                      <p:cBhvr>
                                        <p:cTn id="16" dur="1000"/>
                                        <p:tgtEl>
                                          <p:spTgt spid="122883">
                                            <p:txEl>
                                              <p:charRg st="5" end="10"/>
                                            </p:txEl>
                                          </p:spTgt>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122884"/>
                                        </p:tgtEl>
                                        <p:attrNameLst>
                                          <p:attrName>style.visibility</p:attrName>
                                        </p:attrNameLst>
                                      </p:cBhvr>
                                      <p:to>
                                        <p:strVal val="visible"/>
                                      </p:to>
                                    </p:set>
                                    <p:anim calcmode="lin" valueType="num">
                                      <p:cBhvr>
                                        <p:cTn id="20" dur="1000" fill="hold"/>
                                        <p:tgtEl>
                                          <p:spTgt spid="122884"/>
                                        </p:tgtEl>
                                        <p:attrNameLst>
                                          <p:attrName>ppt_w</p:attrName>
                                        </p:attrNameLst>
                                      </p:cBhvr>
                                      <p:tavLst>
                                        <p:tav tm="0">
                                          <p:val>
                                            <p:strVal val="#ppt_w*0.70"/>
                                          </p:val>
                                        </p:tav>
                                        <p:tav tm="100000">
                                          <p:val>
                                            <p:strVal val="#ppt_w"/>
                                          </p:val>
                                        </p:tav>
                                      </p:tavLst>
                                    </p:anim>
                                    <p:anim calcmode="lin" valueType="num">
                                      <p:cBhvr>
                                        <p:cTn id="21" dur="1000" fill="hold"/>
                                        <p:tgtEl>
                                          <p:spTgt spid="122884"/>
                                        </p:tgtEl>
                                        <p:attrNameLst>
                                          <p:attrName>ppt_h</p:attrName>
                                        </p:attrNameLst>
                                      </p:cBhvr>
                                      <p:tavLst>
                                        <p:tav tm="0">
                                          <p:val>
                                            <p:strVal val="#ppt_h"/>
                                          </p:val>
                                        </p:tav>
                                        <p:tav tm="100000">
                                          <p:val>
                                            <p:strVal val="#ppt_h"/>
                                          </p:val>
                                        </p:tav>
                                      </p:tavLst>
                                    </p:anim>
                                    <p:animEffect transition="in" filter="fade">
                                      <p:cBhvr>
                                        <p:cTn id="22" dur="1000"/>
                                        <p:tgtEl>
                                          <p:spTgt spid="122884"/>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122883">
                                            <p:txEl>
                                              <p:charRg st="14" end="33"/>
                                            </p:txEl>
                                          </p:spTgt>
                                        </p:tgtEl>
                                        <p:attrNameLst>
                                          <p:attrName>style.visibility</p:attrName>
                                        </p:attrNameLst>
                                      </p:cBhvr>
                                      <p:to>
                                        <p:strVal val="visible"/>
                                      </p:to>
                                    </p:set>
                                    <p:anim calcmode="lin" valueType="num">
                                      <p:cBhvr>
                                        <p:cTn id="27" dur="500" fill="hold"/>
                                        <p:tgtEl>
                                          <p:spTgt spid="122883">
                                            <p:txEl>
                                              <p:charRg st="14" end="33"/>
                                            </p:txEl>
                                          </p:spTgt>
                                        </p:tgtEl>
                                        <p:attrNameLst>
                                          <p:attrName>ppt_w</p:attrName>
                                        </p:attrNameLst>
                                      </p:cBhvr>
                                      <p:tavLst>
                                        <p:tav tm="0">
                                          <p:val>
                                            <p:fltVal val="0.000000"/>
                                          </p:val>
                                        </p:tav>
                                        <p:tav tm="100000">
                                          <p:val>
                                            <p:strVal val="#ppt_w"/>
                                          </p:val>
                                        </p:tav>
                                      </p:tavLst>
                                    </p:anim>
                                    <p:anim calcmode="lin" valueType="num">
                                      <p:cBhvr>
                                        <p:cTn id="28" dur="500" fill="hold"/>
                                        <p:tgtEl>
                                          <p:spTgt spid="122883">
                                            <p:txEl>
                                              <p:charRg st="14" end="33"/>
                                            </p:txEl>
                                          </p:spTgt>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122883">
                                            <p:txEl>
                                              <p:charRg st="34" end="39"/>
                                            </p:txEl>
                                          </p:spTgt>
                                        </p:tgtEl>
                                        <p:attrNameLst>
                                          <p:attrName>style.visibility</p:attrName>
                                        </p:attrNameLst>
                                      </p:cBhvr>
                                      <p:to>
                                        <p:strVal val="visible"/>
                                      </p:to>
                                    </p:set>
                                    <p:anim calcmode="lin" valueType="num">
                                      <p:cBhvr>
                                        <p:cTn id="33" dur="1000" fill="hold"/>
                                        <p:tgtEl>
                                          <p:spTgt spid="122883">
                                            <p:txEl>
                                              <p:charRg st="34" end="39"/>
                                            </p:txEl>
                                          </p:spTgt>
                                        </p:tgtEl>
                                        <p:attrNameLst>
                                          <p:attrName>ppt_w</p:attrName>
                                        </p:attrNameLst>
                                      </p:cBhvr>
                                      <p:tavLst>
                                        <p:tav tm="0">
                                          <p:val>
                                            <p:strVal val="#ppt_w*0.70"/>
                                          </p:val>
                                        </p:tav>
                                        <p:tav tm="100000">
                                          <p:val>
                                            <p:strVal val="#ppt_w"/>
                                          </p:val>
                                        </p:tav>
                                      </p:tavLst>
                                    </p:anim>
                                    <p:anim calcmode="lin" valueType="num">
                                      <p:cBhvr>
                                        <p:cTn id="34" dur="1000" fill="hold"/>
                                        <p:tgtEl>
                                          <p:spTgt spid="122883">
                                            <p:txEl>
                                              <p:charRg st="34" end="39"/>
                                            </p:txEl>
                                          </p:spTgt>
                                        </p:tgtEl>
                                        <p:attrNameLst>
                                          <p:attrName>ppt_h</p:attrName>
                                        </p:attrNameLst>
                                      </p:cBhvr>
                                      <p:tavLst>
                                        <p:tav tm="0">
                                          <p:val>
                                            <p:strVal val="#ppt_h"/>
                                          </p:val>
                                        </p:tav>
                                        <p:tav tm="100000">
                                          <p:val>
                                            <p:strVal val="#ppt_h"/>
                                          </p:val>
                                        </p:tav>
                                      </p:tavLst>
                                    </p:anim>
                                    <p:animEffect transition="in" filter="fade">
                                      <p:cBhvr>
                                        <p:cTn id="35" dur="1000"/>
                                        <p:tgtEl>
                                          <p:spTgt spid="122883">
                                            <p:txEl>
                                              <p:charRg st="34" end="3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122883">
                                            <p:txEl>
                                              <p:charRg st="41" end="52"/>
                                            </p:txEl>
                                          </p:spTgt>
                                        </p:tgtEl>
                                        <p:attrNameLst>
                                          <p:attrName>style.visibility</p:attrName>
                                        </p:attrNameLst>
                                      </p:cBhvr>
                                      <p:to>
                                        <p:strVal val="visible"/>
                                      </p:to>
                                    </p:set>
                                    <p:anim calcmode="lin" valueType="num">
                                      <p:cBhvr>
                                        <p:cTn id="40" dur="1000" fill="hold"/>
                                        <p:tgtEl>
                                          <p:spTgt spid="122883">
                                            <p:txEl>
                                              <p:charRg st="41" end="52"/>
                                            </p:txEl>
                                          </p:spTgt>
                                        </p:tgtEl>
                                        <p:attrNameLst>
                                          <p:attrName>ppt_w</p:attrName>
                                        </p:attrNameLst>
                                      </p:cBhvr>
                                      <p:tavLst>
                                        <p:tav tm="0">
                                          <p:val>
                                            <p:strVal val="#ppt_w*0.70"/>
                                          </p:val>
                                        </p:tav>
                                        <p:tav tm="100000">
                                          <p:val>
                                            <p:strVal val="#ppt_w"/>
                                          </p:val>
                                        </p:tav>
                                      </p:tavLst>
                                    </p:anim>
                                    <p:anim calcmode="lin" valueType="num">
                                      <p:cBhvr>
                                        <p:cTn id="41" dur="1000" fill="hold"/>
                                        <p:tgtEl>
                                          <p:spTgt spid="122883">
                                            <p:txEl>
                                              <p:charRg st="41" end="52"/>
                                            </p:txEl>
                                          </p:spTgt>
                                        </p:tgtEl>
                                        <p:attrNameLst>
                                          <p:attrName>ppt_h</p:attrName>
                                        </p:attrNameLst>
                                      </p:cBhvr>
                                      <p:tavLst>
                                        <p:tav tm="0">
                                          <p:val>
                                            <p:strVal val="#ppt_h"/>
                                          </p:val>
                                        </p:tav>
                                        <p:tav tm="100000">
                                          <p:val>
                                            <p:strVal val="#ppt_h"/>
                                          </p:val>
                                        </p:tav>
                                      </p:tavLst>
                                    </p:anim>
                                    <p:animEffect transition="in" filter="fade">
                                      <p:cBhvr>
                                        <p:cTn id="42" dur="1000"/>
                                        <p:tgtEl>
                                          <p:spTgt spid="122883">
                                            <p:txEl>
                                              <p:charRg st="41" end="52"/>
                                            </p:txEl>
                                          </p:spTgt>
                                        </p:tgtEl>
                                      </p:cBhvr>
                                    </p:animEffect>
                                  </p:childTnLst>
                                </p:cTn>
                              </p:par>
                            </p:childTnLst>
                          </p:cTn>
                        </p:par>
                        <p:par>
                          <p:cTn id="43" fill="hold">
                            <p:stCondLst>
                              <p:cond delay="1000"/>
                            </p:stCondLst>
                            <p:childTnLst>
                              <p:par>
                                <p:cTn id="44" presetID="55" presetClass="entr" presetSubtype="0" fill="hold" nodeType="afterEffect">
                                  <p:stCondLst>
                                    <p:cond delay="0"/>
                                  </p:stCondLst>
                                  <p:childTnLst>
                                    <p:set>
                                      <p:cBhvr>
                                        <p:cTn id="45" dur="1" fill="hold">
                                          <p:stCondLst>
                                            <p:cond delay="0"/>
                                          </p:stCondLst>
                                        </p:cTn>
                                        <p:tgtEl>
                                          <p:spTgt spid="122886"/>
                                        </p:tgtEl>
                                        <p:attrNameLst>
                                          <p:attrName>style.visibility</p:attrName>
                                        </p:attrNameLst>
                                      </p:cBhvr>
                                      <p:to>
                                        <p:strVal val="visible"/>
                                      </p:to>
                                    </p:set>
                                    <p:anim calcmode="lin" valueType="num">
                                      <p:cBhvr>
                                        <p:cTn id="46" dur="1000" fill="hold"/>
                                        <p:tgtEl>
                                          <p:spTgt spid="122886"/>
                                        </p:tgtEl>
                                        <p:attrNameLst>
                                          <p:attrName>ppt_w</p:attrName>
                                        </p:attrNameLst>
                                      </p:cBhvr>
                                      <p:tavLst>
                                        <p:tav tm="0">
                                          <p:val>
                                            <p:strVal val="#ppt_w*0.70"/>
                                          </p:val>
                                        </p:tav>
                                        <p:tav tm="100000">
                                          <p:val>
                                            <p:strVal val="#ppt_w"/>
                                          </p:val>
                                        </p:tav>
                                      </p:tavLst>
                                    </p:anim>
                                    <p:anim calcmode="lin" valueType="num">
                                      <p:cBhvr>
                                        <p:cTn id="47" dur="1000" fill="hold"/>
                                        <p:tgtEl>
                                          <p:spTgt spid="122886"/>
                                        </p:tgtEl>
                                        <p:attrNameLst>
                                          <p:attrName>ppt_h</p:attrName>
                                        </p:attrNameLst>
                                      </p:cBhvr>
                                      <p:tavLst>
                                        <p:tav tm="0">
                                          <p:val>
                                            <p:strVal val="#ppt_h"/>
                                          </p:val>
                                        </p:tav>
                                        <p:tav tm="100000">
                                          <p:val>
                                            <p:strVal val="#ppt_h"/>
                                          </p:val>
                                        </p:tav>
                                      </p:tavLst>
                                    </p:anim>
                                    <p:animEffect transition="in" filter="fade">
                                      <p:cBhvr>
                                        <p:cTn id="48" dur="1000"/>
                                        <p:tgtEl>
                                          <p:spTgt spid="122886"/>
                                        </p:tgtEl>
                                      </p:cBhvr>
                                    </p:animEffect>
                                  </p:childTnLst>
                                </p:cTn>
                              </p:par>
                            </p:childTnLst>
                          </p:cTn>
                        </p:par>
                        <p:par>
                          <p:cTn id="49" fill="hold">
                            <p:stCondLst>
                              <p:cond delay="2000"/>
                            </p:stCondLst>
                            <p:childTnLst>
                              <p:par>
                                <p:cTn id="50" presetID="55" presetClass="entr" presetSubtype="0" fill="hold" nodeType="afterEffect">
                                  <p:stCondLst>
                                    <p:cond delay="0"/>
                                  </p:stCondLst>
                                  <p:childTnLst>
                                    <p:set>
                                      <p:cBhvr>
                                        <p:cTn id="51" dur="1" fill="hold">
                                          <p:stCondLst>
                                            <p:cond delay="0"/>
                                          </p:stCondLst>
                                        </p:cTn>
                                        <p:tgtEl>
                                          <p:spTgt spid="122888"/>
                                        </p:tgtEl>
                                        <p:attrNameLst>
                                          <p:attrName>style.visibility</p:attrName>
                                        </p:attrNameLst>
                                      </p:cBhvr>
                                      <p:to>
                                        <p:strVal val="visible"/>
                                      </p:to>
                                    </p:set>
                                    <p:anim calcmode="lin" valueType="num">
                                      <p:cBhvr>
                                        <p:cTn id="52" dur="1000" fill="hold"/>
                                        <p:tgtEl>
                                          <p:spTgt spid="122888"/>
                                        </p:tgtEl>
                                        <p:attrNameLst>
                                          <p:attrName>ppt_w</p:attrName>
                                        </p:attrNameLst>
                                      </p:cBhvr>
                                      <p:tavLst>
                                        <p:tav tm="0">
                                          <p:val>
                                            <p:strVal val="#ppt_w*0.70"/>
                                          </p:val>
                                        </p:tav>
                                        <p:tav tm="100000">
                                          <p:val>
                                            <p:strVal val="#ppt_w"/>
                                          </p:val>
                                        </p:tav>
                                      </p:tavLst>
                                    </p:anim>
                                    <p:anim calcmode="lin" valueType="num">
                                      <p:cBhvr>
                                        <p:cTn id="53" dur="1000" fill="hold"/>
                                        <p:tgtEl>
                                          <p:spTgt spid="122888"/>
                                        </p:tgtEl>
                                        <p:attrNameLst>
                                          <p:attrName>ppt_h</p:attrName>
                                        </p:attrNameLst>
                                      </p:cBhvr>
                                      <p:tavLst>
                                        <p:tav tm="0">
                                          <p:val>
                                            <p:strVal val="#ppt_h"/>
                                          </p:val>
                                        </p:tav>
                                        <p:tav tm="100000">
                                          <p:val>
                                            <p:strVal val="#ppt_h"/>
                                          </p:val>
                                        </p:tav>
                                      </p:tavLst>
                                    </p:anim>
                                    <p:animEffect transition="in" filter="fade">
                                      <p:cBhvr>
                                        <p:cTn id="54" dur="1000"/>
                                        <p:tgtEl>
                                          <p:spTgt spid="122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页脚占位符 4"/>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6562" name="Rectangle 3"/>
          <p:cNvSpPr>
            <a:spLocks noGrp="1"/>
          </p:cNvSpPr>
          <p:nvPr>
            <p:ph type="body" sz="half" idx="1"/>
          </p:nvPr>
        </p:nvSpPr>
        <p:spPr>
          <a:xfrm>
            <a:off x="890588" y="765175"/>
            <a:ext cx="8218487" cy="4997450"/>
          </a:xfrm>
          <a:solidFill>
            <a:schemeClr val="bg1"/>
          </a:solidFill>
        </p:spPr>
        <p:txBody>
          <a:bodyPr vert="horz" wrap="square" lIns="91440" tIns="45720" rIns="91440" bIns="45720" anchor="t" anchorCtr="0"/>
          <a:p>
            <a:pPr eaLnBrk="1" hangingPunct="1">
              <a:buClrTx/>
              <a:buSzTx/>
              <a:buFontTx/>
              <a:buNone/>
            </a:pPr>
            <a:r>
              <a:rPr lang="zh-CN" altLang="en-US" b="1" dirty="0"/>
              <a:t>算法</a:t>
            </a:r>
            <a:r>
              <a:rPr lang="en-US" altLang="zh-CN" b="1" dirty="0"/>
              <a:t>2.3.2</a:t>
            </a:r>
            <a:r>
              <a:rPr lang="en-US" altLang="zh-CN" b="1" dirty="0"/>
              <a:t> HORNER</a:t>
            </a:r>
            <a:endParaRPr lang="en-US" altLang="zh-CN" b="1" dirty="0"/>
          </a:p>
          <a:p>
            <a:pPr lvl="1" eaLnBrk="1" hangingPunct="1">
              <a:buNone/>
            </a:pPr>
            <a:r>
              <a:rPr lang="en-US" altLang="zh-CN" sz="2400" b="1" dirty="0"/>
              <a:t>Input:</a:t>
            </a:r>
            <a:r>
              <a:rPr lang="en-US" altLang="zh-CN" sz="2400" dirty="0"/>
              <a:t> </a:t>
            </a:r>
            <a:r>
              <a:rPr lang="en-US" altLang="zh-CN" sz="2400" i="1" dirty="0"/>
              <a:t>n+2 </a:t>
            </a:r>
            <a:r>
              <a:rPr lang="en-US" altLang="zh-CN" sz="2400" dirty="0"/>
              <a:t> </a:t>
            </a:r>
            <a:r>
              <a:rPr lang="zh-CN" altLang="en-US" sz="2400" dirty="0"/>
              <a:t>个实数</a:t>
            </a:r>
            <a:r>
              <a:rPr lang="en-US" altLang="zh-CN" sz="2400" i="1" dirty="0"/>
              <a:t>a</a:t>
            </a:r>
            <a:r>
              <a:rPr lang="en-US" altLang="zh-CN" sz="2400" i="1" baseline="-25000" dirty="0"/>
              <a:t>0</a:t>
            </a:r>
            <a:r>
              <a:rPr lang="en-US" altLang="zh-CN" sz="2400" i="1" dirty="0"/>
              <a:t>, a</a:t>
            </a:r>
            <a:r>
              <a:rPr lang="en-US" altLang="zh-CN" sz="2400" i="1" baseline="-25000" dirty="0"/>
              <a:t>1</a:t>
            </a:r>
            <a:r>
              <a:rPr lang="en-US" altLang="zh-CN" sz="2400" i="1" dirty="0"/>
              <a:t>,…,a</a:t>
            </a:r>
            <a:r>
              <a:rPr lang="en-US" altLang="zh-CN" sz="2400" i="1" baseline="-25000" dirty="0"/>
              <a:t>n</a:t>
            </a:r>
            <a:r>
              <a:rPr lang="en-US" altLang="zh-CN" sz="2400" dirty="0"/>
              <a:t> </a:t>
            </a:r>
            <a:r>
              <a:rPr lang="en-US" altLang="zh-CN" sz="2400" i="1" dirty="0"/>
              <a:t>x</a:t>
            </a:r>
            <a:r>
              <a:rPr lang="zh-CN" altLang="en-US" sz="2400" dirty="0"/>
              <a:t>的序列</a:t>
            </a:r>
            <a:endParaRPr lang="en-US" altLang="zh-CN" sz="2400" dirty="0"/>
          </a:p>
          <a:p>
            <a:pPr lvl="1" eaLnBrk="1" hangingPunct="1">
              <a:buNone/>
            </a:pPr>
            <a:r>
              <a:rPr lang="en-US" altLang="zh-CN" sz="2400" b="1" dirty="0"/>
              <a:t>Output:</a:t>
            </a:r>
            <a:r>
              <a:rPr lang="en-US" altLang="zh-CN" sz="2400" dirty="0"/>
              <a:t>                                            .</a:t>
            </a:r>
            <a:endParaRPr lang="en-US" altLang="zh-CN" sz="2400" dirty="0"/>
          </a:p>
          <a:p>
            <a:pPr lvl="1" eaLnBrk="1" hangingPunct="1">
              <a:buNone/>
            </a:pPr>
            <a:r>
              <a:rPr lang="en-US" altLang="zh-CN" sz="2400" dirty="0"/>
              <a:t>    1</a:t>
            </a:r>
            <a:r>
              <a:rPr lang="en-US" altLang="zh-CN" sz="2400" i="1" dirty="0"/>
              <a:t>. p</a:t>
            </a:r>
            <a:r>
              <a:rPr lang="en-US" altLang="zh-CN" sz="2400" i="1" dirty="0">
                <a:sym typeface="Wingdings" panose="05000000000000000000" pitchFamily="2" charset="2"/>
              </a:rPr>
              <a:t> </a:t>
            </a:r>
            <a:r>
              <a:rPr lang="en-US" altLang="zh-CN" sz="2400" i="1" dirty="0"/>
              <a:t>a</a:t>
            </a:r>
            <a:r>
              <a:rPr lang="en-US" altLang="zh-CN" sz="2400" i="1" baseline="-25000" dirty="0"/>
              <a:t>n</a:t>
            </a:r>
            <a:r>
              <a:rPr lang="en-US" altLang="zh-CN" sz="2400" dirty="0"/>
              <a:t> </a:t>
            </a:r>
            <a:endParaRPr lang="en-US" altLang="zh-CN" sz="2400" baseline="30000" dirty="0"/>
          </a:p>
          <a:p>
            <a:pPr lvl="1" eaLnBrk="1" hangingPunct="1">
              <a:buNone/>
            </a:pPr>
            <a:r>
              <a:rPr lang="en-US" altLang="zh-CN" sz="2400" dirty="0"/>
              <a:t>    2</a:t>
            </a:r>
            <a:r>
              <a:rPr lang="en-US" altLang="zh-CN" sz="2400" b="1" dirty="0"/>
              <a:t>. for</a:t>
            </a:r>
            <a:r>
              <a:rPr lang="en-US" altLang="zh-CN" sz="2400" dirty="0"/>
              <a:t> </a:t>
            </a:r>
            <a:r>
              <a:rPr lang="en-US" altLang="zh-CN" sz="2400" i="1" dirty="0"/>
              <a:t>j</a:t>
            </a:r>
            <a:r>
              <a:rPr lang="en-US" altLang="zh-CN" sz="2400" i="1" dirty="0">
                <a:sym typeface="Wingdings" panose="05000000000000000000" pitchFamily="2" charset="2"/>
              </a:rPr>
              <a:t>1</a:t>
            </a:r>
            <a:r>
              <a:rPr lang="en-US" altLang="zh-CN" sz="2400" dirty="0">
                <a:sym typeface="Wingdings" panose="05000000000000000000" pitchFamily="2" charset="2"/>
              </a:rPr>
              <a:t> </a:t>
            </a:r>
            <a:r>
              <a:rPr lang="en-US" altLang="zh-CN" sz="2400" b="1" dirty="0">
                <a:sym typeface="Wingdings" panose="05000000000000000000" pitchFamily="2" charset="2"/>
              </a:rPr>
              <a:t>to</a:t>
            </a:r>
            <a:r>
              <a:rPr lang="en-US" altLang="zh-CN" sz="2400" dirty="0">
                <a:sym typeface="Wingdings" panose="05000000000000000000" pitchFamily="2" charset="2"/>
              </a:rPr>
              <a:t> </a:t>
            </a:r>
            <a:r>
              <a:rPr lang="en-US" altLang="zh-CN" sz="2400" i="1" dirty="0">
                <a:sym typeface="Wingdings" panose="05000000000000000000" pitchFamily="2" charset="2"/>
              </a:rPr>
              <a:t>n</a:t>
            </a:r>
            <a:r>
              <a:rPr lang="en-US" altLang="zh-CN" sz="2400" dirty="0">
                <a:sym typeface="Wingdings" panose="05000000000000000000" pitchFamily="2" charset="2"/>
              </a:rPr>
              <a:t> </a:t>
            </a:r>
            <a:endParaRPr lang="en-US" altLang="zh-CN" sz="2400" dirty="0">
              <a:sym typeface="Wingdings" panose="05000000000000000000" pitchFamily="2" charset="2"/>
            </a:endParaRPr>
          </a:p>
          <a:p>
            <a:pPr lvl="1" eaLnBrk="1" hangingPunct="1">
              <a:buNone/>
            </a:pPr>
            <a:r>
              <a:rPr lang="en-US" altLang="zh-CN" sz="2400" dirty="0">
                <a:sym typeface="Wingdings" panose="05000000000000000000" pitchFamily="2" charset="2"/>
              </a:rPr>
              <a:t>    3.     </a:t>
            </a:r>
            <a:r>
              <a:rPr lang="en-US" altLang="zh-CN" sz="2400" i="1" dirty="0">
                <a:solidFill>
                  <a:srgbClr val="FF0000"/>
                </a:solidFill>
                <a:sym typeface="Wingdings" panose="05000000000000000000" pitchFamily="2" charset="2"/>
              </a:rPr>
              <a:t>pxp+ </a:t>
            </a:r>
            <a:r>
              <a:rPr lang="en-US" altLang="zh-CN" sz="2400" i="1" dirty="0">
                <a:solidFill>
                  <a:srgbClr val="FF0000"/>
                </a:solidFill>
              </a:rPr>
              <a:t>a</a:t>
            </a:r>
            <a:r>
              <a:rPr lang="en-US" altLang="zh-CN" sz="2400" i="1" baseline="-25000" dirty="0">
                <a:solidFill>
                  <a:srgbClr val="FF0000"/>
                </a:solidFill>
              </a:rPr>
              <a:t>n-j</a:t>
            </a:r>
            <a:endParaRPr lang="en-US" altLang="zh-CN" sz="2400" i="1" dirty="0">
              <a:solidFill>
                <a:srgbClr val="FF0000"/>
              </a:solidFill>
            </a:endParaRPr>
          </a:p>
          <a:p>
            <a:pPr lvl="1" eaLnBrk="1" hangingPunct="1">
              <a:buNone/>
            </a:pPr>
            <a:r>
              <a:rPr lang="en-US" altLang="zh-CN" sz="2400" dirty="0"/>
              <a:t>    4</a:t>
            </a:r>
            <a:r>
              <a:rPr lang="en-US" altLang="zh-CN" sz="2400" b="1" dirty="0"/>
              <a:t>. end for</a:t>
            </a:r>
            <a:endParaRPr lang="en-US" altLang="zh-CN" sz="2400" b="1" dirty="0"/>
          </a:p>
          <a:p>
            <a:pPr lvl="1" eaLnBrk="1" hangingPunct="1">
              <a:buNone/>
            </a:pPr>
            <a:r>
              <a:rPr lang="en-US" altLang="zh-CN" sz="2400" dirty="0"/>
              <a:t>    2. </a:t>
            </a:r>
            <a:r>
              <a:rPr lang="en-US" altLang="zh-CN" sz="2400" b="1" dirty="0"/>
              <a:t>return</a:t>
            </a:r>
            <a:r>
              <a:rPr lang="en-US" altLang="zh-CN" sz="2400" dirty="0"/>
              <a:t> </a:t>
            </a:r>
            <a:r>
              <a:rPr lang="en-US" altLang="zh-CN" sz="2400" i="1" dirty="0"/>
              <a:t>p</a:t>
            </a:r>
            <a:r>
              <a:rPr lang="en-US" altLang="zh-CN" sz="2400" dirty="0"/>
              <a:t> </a:t>
            </a:r>
            <a:endParaRPr lang="en-US" altLang="zh-CN" sz="2400" dirty="0"/>
          </a:p>
          <a:p>
            <a:pPr lvl="2" eaLnBrk="1" hangingPunct="1">
              <a:buNone/>
            </a:pPr>
            <a:endParaRPr lang="en-US" altLang="zh-CN" sz="2600" dirty="0"/>
          </a:p>
        </p:txBody>
      </p:sp>
      <p:graphicFrame>
        <p:nvGraphicFramePr>
          <p:cNvPr id="66563" name="Object 4"/>
          <p:cNvGraphicFramePr>
            <a:graphicFrameLocks noGrp="1" noChangeAspect="1"/>
          </p:cNvGraphicFramePr>
          <p:nvPr>
            <p:ph sz="half" idx="2"/>
          </p:nvPr>
        </p:nvGraphicFramePr>
        <p:xfrm>
          <a:off x="2714625" y="1571625"/>
          <a:ext cx="4967288" cy="571500"/>
        </p:xfrm>
        <a:graphic>
          <a:graphicData uri="http://schemas.openxmlformats.org/presentationml/2006/ole">
            <mc:AlternateContent xmlns:mc="http://schemas.openxmlformats.org/markup-compatibility/2006">
              <mc:Choice xmlns:v="urn:schemas-microsoft-com:vml" Requires="v">
                <p:oleObj spid="_x0000_s3097" name="" r:id="rId1" imgW="2209800" imgH="241300" progId="Equation.3">
                  <p:embed/>
                </p:oleObj>
              </mc:Choice>
              <mc:Fallback>
                <p:oleObj name="" r:id="rId1" imgW="2209800" imgH="241300" progId="Equation.3">
                  <p:embed/>
                  <p:pic>
                    <p:nvPicPr>
                      <p:cNvPr id="0" name="图片 3096"/>
                      <p:cNvPicPr/>
                      <p:nvPr/>
                    </p:nvPicPr>
                    <p:blipFill>
                      <a:blip r:embed="rId2"/>
                      <a:stretch>
                        <a:fillRect/>
                      </a:stretch>
                    </p:blipFill>
                    <p:spPr>
                      <a:xfrm>
                        <a:off x="2714625" y="1571625"/>
                        <a:ext cx="4967288" cy="571500"/>
                      </a:xfrm>
                      <a:prstGeom prst="rect">
                        <a:avLst/>
                      </a:prstGeom>
                      <a:noFill/>
                      <a:ln w="38100">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68610" name="Rectangle 2"/>
          <p:cNvSpPr>
            <a:spLocks noGrp="1"/>
          </p:cNvSpPr>
          <p:nvPr>
            <p:ph type="title"/>
          </p:nvPr>
        </p:nvSpPr>
        <p:spPr/>
        <p:txBody>
          <a:bodyPr vert="horz" wrap="square" lIns="91440" tIns="45720" rIns="91440" bIns="45720" anchor="ctr" anchorCtr="0"/>
          <a:p>
            <a:pPr eaLnBrk="1" hangingPunct="1"/>
            <a:r>
              <a:rPr lang="zh-CN" altLang="en-US" dirty="0"/>
              <a:t>算法分析</a:t>
            </a:r>
            <a:endParaRPr lang="en-US" altLang="zh-CN" dirty="0"/>
          </a:p>
        </p:txBody>
      </p:sp>
      <p:sp>
        <p:nvSpPr>
          <p:cNvPr id="206851" name="Rectangle 3"/>
          <p:cNvSpPr>
            <a:spLocks noGrp="1"/>
          </p:cNvSpPr>
          <p:nvPr>
            <p:ph idx="1"/>
          </p:nvPr>
        </p:nvSpPr>
        <p:spPr/>
        <p:txBody>
          <a:bodyPr vert="horz" wrap="square" lIns="91440" tIns="45720" rIns="91440" bIns="45720" anchor="t" anchorCtr="0"/>
          <a:p>
            <a:pPr lvl="1" eaLnBrk="1" hangingPunct="1"/>
            <a:endParaRPr lang="en-US" altLang="zh-CN" sz="2600" dirty="0"/>
          </a:p>
          <a:p>
            <a:pPr lvl="1" eaLnBrk="1" hangingPunct="1"/>
            <a:r>
              <a:rPr lang="zh-CN" altLang="en-US" sz="2600" dirty="0"/>
              <a:t>算法</a:t>
            </a:r>
            <a:r>
              <a:rPr lang="en-US" altLang="zh-CN" sz="2600" dirty="0"/>
              <a:t>HORNER</a:t>
            </a:r>
            <a:r>
              <a:rPr lang="zh-CN" altLang="en-US" sz="2600" dirty="0"/>
              <a:t>的复杂度代价是</a:t>
            </a:r>
            <a:r>
              <a:rPr lang="en-US" altLang="zh-CN" sz="2600" dirty="0"/>
              <a:t>n</a:t>
            </a:r>
            <a:r>
              <a:rPr lang="zh-CN" altLang="en-US" sz="2600" dirty="0"/>
              <a:t>次乘法和</a:t>
            </a:r>
            <a:r>
              <a:rPr lang="en-US" altLang="zh-CN" sz="2600" dirty="0"/>
              <a:t>n</a:t>
            </a:r>
            <a:r>
              <a:rPr lang="zh-CN" altLang="en-US" sz="2600" dirty="0"/>
              <a:t>次加法，</a:t>
            </a:r>
            <a:endParaRPr lang="en-US" altLang="zh-CN" sz="2600" dirty="0"/>
          </a:p>
          <a:p>
            <a:pPr lvl="1" eaLnBrk="1" hangingPunct="1">
              <a:buFont typeface="Wingdings" panose="05000000000000000000" pitchFamily="2" charset="2"/>
              <a:buChar char="n"/>
            </a:pPr>
            <a:endParaRPr lang="en-US" altLang="zh-CN" sz="2600" dirty="0"/>
          </a:p>
          <a:p>
            <a:pPr lvl="1" eaLnBrk="1" hangingPunct="1"/>
            <a:r>
              <a:rPr lang="zh-CN" altLang="en-US" sz="2600" dirty="0"/>
              <a:t>这是利用归纳假设的优点得到的令人瞩目的成绩。</a:t>
            </a:r>
            <a:endParaRPr lang="en-US" altLang="zh-CN" sz="2600" dirty="0"/>
          </a:p>
          <a:p>
            <a:pPr lvl="2"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06851">
                                            <p:txEl>
                                              <p:charRg st="1" end="27"/>
                                            </p:txEl>
                                          </p:spTgt>
                                        </p:tgtEl>
                                        <p:attrNameLst>
                                          <p:attrName>style.visibility</p:attrName>
                                        </p:attrNameLst>
                                      </p:cBhvr>
                                      <p:to>
                                        <p:strVal val="visible"/>
                                      </p:to>
                                    </p:set>
                                    <p:anim calcmode="lin" valueType="num">
                                      <p:cBhvr>
                                        <p:cTn id="7" dur="500" fill="hold"/>
                                        <p:tgtEl>
                                          <p:spTgt spid="206851">
                                            <p:txEl>
                                              <p:charRg st="1" end="27"/>
                                            </p:txEl>
                                          </p:spTgt>
                                        </p:tgtEl>
                                        <p:attrNameLst>
                                          <p:attrName>ppt_w</p:attrName>
                                        </p:attrNameLst>
                                      </p:cBhvr>
                                      <p:tavLst>
                                        <p:tav tm="0">
                                          <p:val>
                                            <p:fltVal val="0.000000"/>
                                          </p:val>
                                        </p:tav>
                                        <p:tav tm="100000">
                                          <p:val>
                                            <p:strVal val="#ppt_w"/>
                                          </p:val>
                                        </p:tav>
                                      </p:tavLst>
                                    </p:anim>
                                    <p:anim calcmode="lin" valueType="num">
                                      <p:cBhvr>
                                        <p:cTn id="8" dur="500" fill="hold"/>
                                        <p:tgtEl>
                                          <p:spTgt spid="206851">
                                            <p:txEl>
                                              <p:charRg st="1" end="27"/>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nodeType="clickEffect">
                                  <p:stCondLst>
                                    <p:cond delay="0"/>
                                  </p:stCondLst>
                                  <p:childTnLst>
                                    <p:set>
                                      <p:cBhvr>
                                        <p:cTn id="12" dur="1" fill="hold">
                                          <p:stCondLst>
                                            <p:cond delay="0"/>
                                          </p:stCondLst>
                                        </p:cTn>
                                        <p:tgtEl>
                                          <p:spTgt spid="206851">
                                            <p:txEl>
                                              <p:charRg st="28" end="51"/>
                                            </p:txEl>
                                          </p:spTgt>
                                        </p:tgtEl>
                                        <p:attrNameLst>
                                          <p:attrName>style.visibility</p:attrName>
                                        </p:attrNameLst>
                                      </p:cBhvr>
                                      <p:to>
                                        <p:strVal val="visible"/>
                                      </p:to>
                                    </p:set>
                                    <p:anim calcmode="lin" valueType="num">
                                      <p:cBhvr>
                                        <p:cTn id="13" dur="500" fill="hold"/>
                                        <p:tgtEl>
                                          <p:spTgt spid="206851">
                                            <p:txEl>
                                              <p:charRg st="28" end="51"/>
                                            </p:txEl>
                                          </p:spTgt>
                                        </p:tgtEl>
                                        <p:attrNameLst>
                                          <p:attrName>ppt_w</p:attrName>
                                        </p:attrNameLst>
                                      </p:cBhvr>
                                      <p:tavLst>
                                        <p:tav tm="0" fmla="#ppt_w*sin(2.5*pi*$)">
                                          <p:val>
                                            <p:fltVal val="0.000000"/>
                                          </p:val>
                                        </p:tav>
                                        <p:tav tm="100000">
                                          <p:val>
                                            <p:fltVal val="1.000000"/>
                                          </p:val>
                                        </p:tav>
                                      </p:tavLst>
                                    </p:anim>
                                    <p:anim calcmode="lin" valueType="num">
                                      <p:cBhvr>
                                        <p:cTn id="14" dur="500" fill="hold"/>
                                        <p:tgtEl>
                                          <p:spTgt spid="206851">
                                            <p:txEl>
                                              <p:charRg st="28" end="5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70658" name="Rectangle 2"/>
          <p:cNvSpPr>
            <a:spLocks noGrp="1"/>
          </p:cNvSpPr>
          <p:nvPr>
            <p:ph type="title"/>
          </p:nvPr>
        </p:nvSpPr>
        <p:spPr/>
        <p:txBody>
          <a:bodyPr vert="horz" wrap="square" lIns="91440" tIns="45720" rIns="91440" bIns="45720" anchor="ctr" anchorCtr="0"/>
          <a:p>
            <a:pPr eaLnBrk="1" hangingPunct="1"/>
            <a:r>
              <a:rPr lang="en-US" altLang="zh-CN" dirty="0"/>
              <a:t>2.3.3 Generating permutations</a:t>
            </a:r>
            <a:r>
              <a:rPr lang="zh-CN" altLang="en-US" dirty="0"/>
              <a:t>（生成排列）</a:t>
            </a:r>
            <a:endParaRPr lang="en-US" altLang="zh-CN" dirty="0"/>
          </a:p>
        </p:txBody>
      </p:sp>
      <p:sp>
        <p:nvSpPr>
          <p:cNvPr id="128003"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9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研究对于数</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2…n</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生成所有的排列问题，基于一个假设：我们可以生成</a:t>
            </a:r>
            <a:r>
              <a:rPr kumimoji="0" lang="en-US" altLang="zh-CN" sz="26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600" b="0" i="0" u="none" strike="noStrike" kern="0" cap="none" spc="0" normalizeH="0" baseline="0" noProof="0" dirty="0">
                <a:ln>
                  <a:noFill/>
                </a:ln>
                <a:solidFill>
                  <a:schemeClr val="accent2"/>
                </a:solidFill>
                <a:effectLst/>
                <a:uLnTx/>
                <a:uFillTx/>
                <a:latin typeface="+mn-lt"/>
                <a:ea typeface="+mn-ea"/>
                <a:cs typeface="+mn-ea"/>
              </a:rPr>
              <a:t>个数的所有排列。</a:t>
            </a:r>
            <a:endParaRPr kumimoji="0" lang="en-US" altLang="zh-CN" sz="26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6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28003">
                                            <p:txEl>
                                              <p:charRg st="6" end="51"/>
                                            </p:txEl>
                                          </p:spTgt>
                                        </p:tgtEl>
                                        <p:attrNameLst>
                                          <p:attrName>style.visibility</p:attrName>
                                        </p:attrNameLst>
                                      </p:cBhvr>
                                      <p:to>
                                        <p:strVal val="visible"/>
                                      </p:to>
                                    </p:set>
                                    <p:anim calcmode="discrete" valueType="clr">
                                      <p:cBhvr override="childStyle">
                                        <p:cTn id="7" dur="80"/>
                                        <p:tgtEl>
                                          <p:spTgt spid="128003">
                                            <p:txEl>
                                              <p:charRg st="6" end="5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28003">
                                            <p:txEl>
                                              <p:charRg st="6" end="51"/>
                                            </p:txEl>
                                          </p:spTgt>
                                        </p:tgtEl>
                                        <p:attrNameLst>
                                          <p:attrName>fillcolor</p:attrName>
                                        </p:attrNameLst>
                                      </p:cBhvr>
                                      <p:tavLst>
                                        <p:tav tm="0">
                                          <p:val>
                                            <p:clrVal>
                                              <a:schemeClr val="accent2"/>
                                            </p:clrVal>
                                          </p:val>
                                        </p:tav>
                                        <p:tav tm="50000">
                                          <p:val>
                                            <p:clrVal>
                                              <a:schemeClr val="hlink"/>
                                            </p:clrVal>
                                          </p:val>
                                        </p:tav>
                                      </p:tavLst>
                                    </p:anim>
                                    <p:set>
                                      <p:cBhvr>
                                        <p:cTn id="9" dur="80"/>
                                        <p:tgtEl>
                                          <p:spTgt spid="128003">
                                            <p:txEl>
                                              <p:charRg st="6" end="5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28003">
                                            <p:txEl>
                                              <p:charRg st="0" end="5"/>
                                            </p:txEl>
                                          </p:spTgt>
                                        </p:tgtEl>
                                        <p:attrNameLst>
                                          <p:attrName>style.visibility</p:attrName>
                                        </p:attrNameLst>
                                      </p:cBhvr>
                                      <p:to>
                                        <p:strVal val="visible"/>
                                      </p:to>
                                    </p:set>
                                    <p:anim calcmode="discrete" valueType="clr">
                                      <p:cBhvr override="childStyle">
                                        <p:cTn id="14" dur="80"/>
                                        <p:tgtEl>
                                          <p:spTgt spid="128003">
                                            <p:txEl>
                                              <p:charRg st="0"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28003">
                                            <p:txEl>
                                              <p:charRg st="0" end="5"/>
                                            </p:txEl>
                                          </p:spTgt>
                                        </p:tgtEl>
                                        <p:attrNameLst>
                                          <p:attrName>fillcolor</p:attrName>
                                        </p:attrNameLst>
                                      </p:cBhvr>
                                      <p:tavLst>
                                        <p:tav tm="0">
                                          <p:val>
                                            <p:clrVal>
                                              <a:schemeClr val="accent2"/>
                                            </p:clrVal>
                                          </p:val>
                                        </p:tav>
                                        <p:tav tm="50000">
                                          <p:val>
                                            <p:clrVal>
                                              <a:schemeClr val="hlink"/>
                                            </p:clrVal>
                                          </p:val>
                                        </p:tav>
                                      </p:tavLst>
                                    </p:anim>
                                    <p:set>
                                      <p:cBhvr>
                                        <p:cTn id="16" dur="80"/>
                                        <p:tgtEl>
                                          <p:spTgt spid="128003">
                                            <p:txEl>
                                              <p:charRg st="0"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灯片编号占位符 5"/>
          <p:cNvSpPr txBox="1">
            <a:spLocks noGrp="1"/>
          </p:cNvSpPr>
          <p:nvPr>
            <p:ph type="sldNum" sz="quarter"/>
          </p:nvPr>
        </p:nvSpPr>
        <p:spPr>
          <a:xfrm>
            <a:off x="6781800" y="6324600"/>
            <a:ext cx="1905000" cy="457200"/>
          </a:xfrm>
          <a:prstGeom prst="rect">
            <a:avLst/>
          </a:prstGeom>
          <a:noFill/>
          <a:ln w="9525">
            <a:noFill/>
          </a:ln>
        </p:spPr>
        <p:txBody>
          <a:bodyPr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r>
              <a:rPr lang="en-US" altLang="zh-CN" sz="1800" dirty="0"/>
              <a:t>*</a:t>
            </a:r>
            <a:endParaRPr lang="en-US" altLang="zh-CN" sz="1800" dirty="0"/>
          </a:p>
        </p:txBody>
      </p:sp>
      <p:sp>
        <p:nvSpPr>
          <p:cNvPr id="76803" name="Rectangle 3"/>
          <p:cNvSpPr>
            <a:spLocks noGrp="1" noChangeArrowheads="1"/>
          </p:cNvSpPr>
          <p:nvPr>
            <p:ph idx="1"/>
          </p:nvPr>
        </p:nvSpPr>
        <p:spPr>
          <a:xfrm>
            <a:off x="857250" y="1500188"/>
            <a:ext cx="8107363" cy="52054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Tx/>
              <a:buSzTx/>
              <a:buFontTx/>
              <a:buChar char="•"/>
              <a:defRPr/>
            </a:pPr>
            <a:r>
              <a:rPr kumimoji="0" lang="zh-CN" altLang="en-US" sz="2900" b="0" i="0" u="none" strike="noStrike" kern="0" cap="none" spc="0" normalizeH="0" baseline="0" noProof="0" dirty="0">
                <a:ln>
                  <a:noFill/>
                </a:ln>
                <a:solidFill>
                  <a:schemeClr val="accent2"/>
                </a:solidFill>
                <a:effectLst/>
                <a:uLnTx/>
                <a:uFillTx/>
                <a:latin typeface="+mn-lt"/>
                <a:ea typeface="+mn-ea"/>
                <a:cs typeface="+mn-cs"/>
                <a:sym typeface="Symbol" panose="05050102010706020507" pitchFamily="18" charset="2"/>
              </a:rPr>
              <a:t>要构造一个简单生成集合</a:t>
            </a:r>
            <a:r>
              <a:rPr kumimoji="0" lang="en-US" altLang="zh-CN" sz="2900" b="0" i="0" u="none" strike="noStrike" kern="0" cap="none" spc="0" normalizeH="0" baseline="0" noProof="0" dirty="0">
                <a:ln>
                  <a:noFill/>
                </a:ln>
                <a:solidFill>
                  <a:schemeClr val="accent2"/>
                </a:solidFill>
                <a:effectLst/>
                <a:uLnTx/>
                <a:uFillTx/>
                <a:latin typeface="+mn-lt"/>
                <a:ea typeface="+mn-ea"/>
                <a:cs typeface="+mn-cs"/>
                <a:sym typeface="Symbol" panose="05050102010706020507" pitchFamily="18" charset="2"/>
              </a:rPr>
              <a:t>{1,2,3,…,n}</a:t>
            </a:r>
            <a:r>
              <a:rPr kumimoji="0" lang="zh-CN" altLang="en-US" sz="2900" b="0" i="0" u="none" strike="noStrike" kern="0" cap="none" spc="0" normalizeH="0" baseline="0" noProof="0" dirty="0">
                <a:ln>
                  <a:noFill/>
                </a:ln>
                <a:solidFill>
                  <a:schemeClr val="accent2"/>
                </a:solidFill>
                <a:effectLst/>
                <a:uLnTx/>
                <a:uFillTx/>
                <a:latin typeface="+mn-lt"/>
                <a:ea typeface="+mn-ea"/>
                <a:cs typeface="+mn-cs"/>
                <a:sym typeface="Symbol" panose="05050102010706020507" pitchFamily="18" charset="2"/>
              </a:rPr>
              <a:t>的所有排列的算法。观察发现：</a:t>
            </a:r>
            <a:endParaRPr kumimoji="0" lang="zh-CN" altLang="en-US" sz="2900" b="0" i="0" u="none" strike="noStrike" kern="0" cap="none" spc="0" normalizeH="0" baseline="0" noProof="0" dirty="0">
              <a:ln>
                <a:noFill/>
              </a:ln>
              <a:solidFill>
                <a:schemeClr val="accent2"/>
              </a:solidFill>
              <a:effectLst/>
              <a:uLnTx/>
              <a:uFillTx/>
              <a:latin typeface="+mn-lt"/>
              <a:ea typeface="+mn-ea"/>
              <a:cs typeface="+mn-cs"/>
              <a:sym typeface="Symbol" panose="05050102010706020507" pitchFamily="18" charset="2"/>
            </a:endParaRPr>
          </a:p>
          <a:p>
            <a:pPr marL="742950" marR="0" lvl="1" indent="-285750" algn="l" defTabSz="914400" rtl="0" eaLnBrk="1" fontAlgn="base" latinLnBrk="0" hangingPunct="1">
              <a:lnSpc>
                <a:spcPct val="150000"/>
              </a:lnSpc>
              <a:spcBef>
                <a:spcPct val="20000"/>
              </a:spcBef>
              <a:spcAft>
                <a:spcPct val="0"/>
              </a:spcAft>
              <a:buClrTx/>
              <a:buSzTx/>
              <a:buFontTx/>
              <a:buChar char="•"/>
              <a:defRPr/>
            </a:pPr>
            <a:r>
              <a:rPr kumimoji="0" lang="zh-CN" altLang="en-US"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 如果整数</a:t>
            </a:r>
            <a:r>
              <a:rPr kumimoji="0" lang="en-US" altLang="zh-CN"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n</a:t>
            </a:r>
            <a:r>
              <a:rPr kumimoji="0" lang="zh-CN" altLang="en-US"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从</a:t>
            </a:r>
            <a:r>
              <a:rPr kumimoji="0" lang="en-US" altLang="zh-CN"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{1,2,3,…,n}</a:t>
            </a:r>
            <a:r>
              <a:rPr kumimoji="0" lang="zh-CN" altLang="en-US"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的一个排列中删除，那么结果则是</a:t>
            </a:r>
            <a:r>
              <a:rPr kumimoji="0" lang="en-US" altLang="zh-CN"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{1,2,3,…,n-1}</a:t>
            </a:r>
            <a:r>
              <a:rPr kumimoji="0" lang="zh-CN" altLang="en-US"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的一个排列。</a:t>
            </a:r>
            <a:endParaRPr kumimoji="0" lang="zh-CN" altLang="en-US" sz="26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endParaRPr>
          </a:p>
        </p:txBody>
      </p:sp>
      <p:sp>
        <p:nvSpPr>
          <p:cNvPr id="72707" name="Rectangle 2"/>
          <p:cNvSpPr>
            <a:spLocks noGrp="1"/>
          </p:cNvSpPr>
          <p:nvPr>
            <p:ph type="title"/>
          </p:nvPr>
        </p:nvSpPr>
        <p:spPr/>
        <p:txBody>
          <a:bodyPr vert="horz" wrap="square" lIns="91440" tIns="45720" rIns="91440" bIns="45720" anchor="ctr" anchorCtr="0"/>
          <a:p>
            <a:pPr eaLnBrk="1" hangingPunct="1"/>
            <a:r>
              <a:rPr lang="en-US" altLang="zh-CN" dirty="0"/>
              <a:t>2.3.3 Generating permutations</a:t>
            </a:r>
            <a:r>
              <a:rPr lang="zh-CN" altLang="en-US" dirty="0"/>
              <a:t>（生成排列）</a:t>
            </a:r>
            <a:endParaRPr lang="en-US" altLang="zh-CN"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74754" name="Rectangle 2"/>
          <p:cNvSpPr>
            <a:spLocks noGrp="1"/>
          </p:cNvSpPr>
          <p:nvPr>
            <p:ph type="title"/>
          </p:nvPr>
        </p:nvSpPr>
        <p:spPr/>
        <p:txBody>
          <a:bodyPr vert="horz" wrap="square" lIns="91440" tIns="45720" rIns="91440" bIns="45720" anchor="ctr" anchorCtr="0"/>
          <a:p>
            <a:pPr eaLnBrk="1" hangingPunct="1"/>
            <a:r>
              <a:rPr lang="en-US" altLang="zh-CN" dirty="0"/>
              <a:t>2.3.3.1 </a:t>
            </a:r>
            <a:r>
              <a:rPr lang="zh-CN" altLang="en-US" dirty="0"/>
              <a:t>第一种算法</a:t>
            </a:r>
            <a:endParaRPr lang="en-US" altLang="zh-CN" dirty="0"/>
          </a:p>
        </p:txBody>
      </p:sp>
      <p:sp>
        <p:nvSpPr>
          <p:cNvPr id="12902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600" b="0" i="0" u="none" strike="noStrike" kern="0" cap="none" spc="0" normalizeH="0" baseline="0" noProof="0" dirty="0">
                <a:ln>
                  <a:noFill/>
                </a:ln>
                <a:solidFill>
                  <a:srgbClr val="EA0000"/>
                </a:solidFill>
                <a:effectLst/>
                <a:uLnTx/>
                <a:uFillTx/>
                <a:latin typeface="+mn-lt"/>
                <a:ea typeface="+mn-ea"/>
                <a:cs typeface="+mn-cs"/>
              </a:rPr>
              <a:t>基本思想</a:t>
            </a:r>
            <a:endParaRPr kumimoji="0" lang="en-US" altLang="zh-CN" sz="2600" b="0" i="0" u="none" strike="noStrike" kern="0" cap="none" spc="0" normalizeH="0" baseline="0" noProof="0" dirty="0">
              <a:ln>
                <a:noFill/>
              </a:ln>
              <a:solidFill>
                <a:srgbClr val="EA0000"/>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假定可以生成</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个数的所有排列</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生成数</a:t>
            </a:r>
            <a:r>
              <a:rPr kumimoji="0" lang="en-US" altLang="zh-CN" sz="2400" b="0" i="0" u="none" strike="noStrike" kern="0" cap="none" spc="0" normalizeH="0" baseline="0" noProof="0" dirty="0">
                <a:ln>
                  <a:noFill/>
                </a:ln>
                <a:solidFill>
                  <a:srgbClr val="EA0000"/>
                </a:solidFill>
                <a:effectLst/>
                <a:uLnTx/>
                <a:uFillTx/>
                <a:latin typeface="+mn-lt"/>
                <a:ea typeface="+mn-ea"/>
                <a:cs typeface="+mn-ea"/>
              </a:rPr>
              <a:t>2,3,…,n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的所有排列，并且在每个排列的前面加上数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接下来，生成数</a:t>
            </a:r>
            <a:r>
              <a:rPr kumimoji="0" lang="en-US" altLang="zh-CN" sz="2400" b="0" i="0" u="none" strike="noStrike" kern="0" cap="none" spc="0" normalizeH="0" baseline="0" noProof="0" dirty="0">
                <a:ln>
                  <a:noFill/>
                </a:ln>
                <a:solidFill>
                  <a:srgbClr val="EA0000"/>
                </a:solidFill>
                <a:effectLst/>
                <a:uLnTx/>
                <a:uFillTx/>
                <a:latin typeface="+mn-lt"/>
                <a:ea typeface="+mn-ea"/>
                <a:cs typeface="+mn-ea"/>
              </a:rPr>
              <a:t>1,3,4,..,n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的所有排列，并且在每个排列的前面加上数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2</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rgbClr val="FF0000"/>
                </a:solidFill>
                <a:effectLst/>
                <a:uLnTx/>
                <a:uFillTx/>
                <a:latin typeface="+mn-lt"/>
                <a:ea typeface="+mn-ea"/>
                <a:cs typeface="+mn-ea"/>
              </a:rPr>
              <a:t>重复</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这个过程直到最后生成</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1,2,..,n-1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的所有排列，并且在每个排列的前面加上数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9027">
                                            <p:txEl>
                                              <p:charRg st="5" end="22"/>
                                            </p:txEl>
                                          </p:spTgt>
                                        </p:tgtEl>
                                        <p:attrNameLst>
                                          <p:attrName>style.visibility</p:attrName>
                                        </p:attrNameLst>
                                      </p:cBhvr>
                                      <p:to>
                                        <p:strVal val="visible"/>
                                      </p:to>
                                    </p:set>
                                    <p:anim calcmode="lin" valueType="num">
                                      <p:cBhvr>
                                        <p:cTn id="7" dur="1000" fill="hold"/>
                                        <p:tgtEl>
                                          <p:spTgt spid="129027">
                                            <p:txEl>
                                              <p:charRg st="5" end="22"/>
                                            </p:txEl>
                                          </p:spTgt>
                                        </p:tgtEl>
                                        <p:attrNameLst>
                                          <p:attrName>ppt_w</p:attrName>
                                        </p:attrNameLst>
                                      </p:cBhvr>
                                      <p:tavLst>
                                        <p:tav tm="0">
                                          <p:val>
                                            <p:strVal val="#ppt_w*0.70"/>
                                          </p:val>
                                        </p:tav>
                                        <p:tav tm="100000">
                                          <p:val>
                                            <p:strVal val="#ppt_w"/>
                                          </p:val>
                                        </p:tav>
                                      </p:tavLst>
                                    </p:anim>
                                    <p:anim calcmode="lin" valueType="num">
                                      <p:cBhvr>
                                        <p:cTn id="8" dur="1000" fill="hold"/>
                                        <p:tgtEl>
                                          <p:spTgt spid="129027">
                                            <p:txEl>
                                              <p:charRg st="5" end="22"/>
                                            </p:txEl>
                                          </p:spTgt>
                                        </p:tgtEl>
                                        <p:attrNameLst>
                                          <p:attrName>ppt_h</p:attrName>
                                        </p:attrNameLst>
                                      </p:cBhvr>
                                      <p:tavLst>
                                        <p:tav tm="0">
                                          <p:val>
                                            <p:strVal val="#ppt_h"/>
                                          </p:val>
                                        </p:tav>
                                        <p:tav tm="100000">
                                          <p:val>
                                            <p:strVal val="#ppt_h"/>
                                          </p:val>
                                        </p:tav>
                                      </p:tavLst>
                                    </p:anim>
                                    <p:animEffect transition="in" filter="fade">
                                      <p:cBhvr>
                                        <p:cTn id="9" dur="1000"/>
                                        <p:tgtEl>
                                          <p:spTgt spid="129027">
                                            <p:txEl>
                                              <p:charRg st="5" end="2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29027">
                                            <p:txEl>
                                              <p:charRg st="0" end="5"/>
                                            </p:txEl>
                                          </p:spTgt>
                                        </p:tgtEl>
                                        <p:attrNameLst>
                                          <p:attrName>style.visibility</p:attrName>
                                        </p:attrNameLst>
                                      </p:cBhvr>
                                      <p:to>
                                        <p:strVal val="visible"/>
                                      </p:to>
                                    </p:set>
                                    <p:anim calcmode="lin" valueType="num">
                                      <p:cBhvr>
                                        <p:cTn id="14" dur="1000" fill="hold"/>
                                        <p:tgtEl>
                                          <p:spTgt spid="129027">
                                            <p:txEl>
                                              <p:charRg st="0" end="5"/>
                                            </p:txEl>
                                          </p:spTgt>
                                        </p:tgtEl>
                                        <p:attrNameLst>
                                          <p:attrName>ppt_w</p:attrName>
                                        </p:attrNameLst>
                                      </p:cBhvr>
                                      <p:tavLst>
                                        <p:tav tm="0">
                                          <p:val>
                                            <p:strVal val="#ppt_w*0.70"/>
                                          </p:val>
                                        </p:tav>
                                        <p:tav tm="100000">
                                          <p:val>
                                            <p:strVal val="#ppt_w"/>
                                          </p:val>
                                        </p:tav>
                                      </p:tavLst>
                                    </p:anim>
                                    <p:anim calcmode="lin" valueType="num">
                                      <p:cBhvr>
                                        <p:cTn id="15" dur="1000" fill="hold"/>
                                        <p:tgtEl>
                                          <p:spTgt spid="129027">
                                            <p:txEl>
                                              <p:charRg st="0" end="5"/>
                                            </p:txEl>
                                          </p:spTgt>
                                        </p:tgtEl>
                                        <p:attrNameLst>
                                          <p:attrName>ppt_h</p:attrName>
                                        </p:attrNameLst>
                                      </p:cBhvr>
                                      <p:tavLst>
                                        <p:tav tm="0">
                                          <p:val>
                                            <p:strVal val="#ppt_h"/>
                                          </p:val>
                                        </p:tav>
                                        <p:tav tm="100000">
                                          <p:val>
                                            <p:strVal val="#ppt_h"/>
                                          </p:val>
                                        </p:tav>
                                      </p:tavLst>
                                    </p:anim>
                                    <p:animEffect transition="in" filter="fade">
                                      <p:cBhvr>
                                        <p:cTn id="16" dur="1000"/>
                                        <p:tgtEl>
                                          <p:spTgt spid="129027">
                                            <p:txEl>
                                              <p:charRg st="0"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1" fill="hold" nodeType="clickEffect">
                                  <p:stCondLst>
                                    <p:cond delay="0"/>
                                  </p:stCondLst>
                                  <p:childTnLst>
                                    <p:set>
                                      <p:cBhvr>
                                        <p:cTn id="20" dur="1" fill="hold">
                                          <p:stCondLst>
                                            <p:cond delay="0"/>
                                          </p:stCondLst>
                                        </p:cTn>
                                        <p:tgtEl>
                                          <p:spTgt spid="129027">
                                            <p:txEl>
                                              <p:charRg st="22" end="53"/>
                                            </p:txEl>
                                          </p:spTgt>
                                        </p:tgtEl>
                                        <p:attrNameLst>
                                          <p:attrName>style.visibility</p:attrName>
                                        </p:attrNameLst>
                                      </p:cBhvr>
                                      <p:to>
                                        <p:strVal val="visible"/>
                                      </p:to>
                                    </p:set>
                                    <p:animEffect transition="in" filter="slide(fromTop)">
                                      <p:cBhvr>
                                        <p:cTn id="21" dur="500"/>
                                        <p:tgtEl>
                                          <p:spTgt spid="129027">
                                            <p:txEl>
                                              <p:charRg st="22" end="53"/>
                                            </p:txEl>
                                          </p:spTgt>
                                        </p:tgtEl>
                                      </p:cBhvr>
                                    </p:animEffect>
                                  </p:childTnLst>
                                  <p:subTnLst>
                                    <p:animClr clrSpc="rgb" dir="cw">
                                      <p:cBhvr override="childStyle">
                                        <p:cTn dur="1" fill="hold" display="0" masterRel="nextClick" afterEffect="1"/>
                                        <p:tgtEl>
                                          <p:spTgt spid="129027">
                                            <p:txEl>
                                              <p:charRg st="22" end="53"/>
                                            </p:txEl>
                                          </p:spTgt>
                                        </p:tgtEl>
                                        <p:attrNameLst>
                                          <p:attrName>ppt_c</p:attrName>
                                        </p:attrNameLst>
                                      </p:cBhvr>
                                      <p:to>
                                        <a:schemeClr val="bg2"/>
                                      </p:to>
                                    </p:animClr>
                                  </p:subTnLst>
                                </p:cTn>
                              </p:par>
                            </p:childTnLst>
                          </p:cTn>
                        </p:par>
                      </p:childTnLst>
                    </p:cTn>
                  </p:par>
                  <p:par>
                    <p:cTn id="22" fill="hold">
                      <p:stCondLst>
                        <p:cond delay="indefinite"/>
                      </p:stCondLst>
                      <p:childTnLst>
                        <p:par>
                          <p:cTn id="23" fill="hold">
                            <p:stCondLst>
                              <p:cond delay="0"/>
                            </p:stCondLst>
                            <p:childTnLst>
                              <p:par>
                                <p:cTn id="24" presetID="12" presetClass="entr" presetSubtype="1" fill="hold" nodeType="clickEffect">
                                  <p:stCondLst>
                                    <p:cond delay="0"/>
                                  </p:stCondLst>
                                  <p:childTnLst>
                                    <p:set>
                                      <p:cBhvr>
                                        <p:cTn id="25" dur="1" fill="hold">
                                          <p:stCondLst>
                                            <p:cond delay="0"/>
                                          </p:stCondLst>
                                        </p:cTn>
                                        <p:tgtEl>
                                          <p:spTgt spid="129027">
                                            <p:txEl>
                                              <p:charRg st="54" end="93"/>
                                            </p:txEl>
                                          </p:spTgt>
                                        </p:tgtEl>
                                        <p:attrNameLst>
                                          <p:attrName>style.visibility</p:attrName>
                                        </p:attrNameLst>
                                      </p:cBhvr>
                                      <p:to>
                                        <p:strVal val="visible"/>
                                      </p:to>
                                    </p:set>
                                    <p:animEffect transition="in" filter="slide(fromTop)">
                                      <p:cBhvr>
                                        <p:cTn id="26" dur="500"/>
                                        <p:tgtEl>
                                          <p:spTgt spid="129027">
                                            <p:txEl>
                                              <p:charRg st="54" end="93"/>
                                            </p:txEl>
                                          </p:spTgt>
                                        </p:tgtEl>
                                      </p:cBhvr>
                                    </p:animEffect>
                                  </p:childTnLst>
                                  <p:subTnLst>
                                    <p:animClr clrSpc="rgb" dir="cw">
                                      <p:cBhvr override="childStyle">
                                        <p:cTn dur="1" fill="hold" display="0" masterRel="nextClick" afterEffect="1"/>
                                        <p:tgtEl>
                                          <p:spTgt spid="129027">
                                            <p:txEl>
                                              <p:charRg st="54" end="93"/>
                                            </p:txEl>
                                          </p:spTgt>
                                        </p:tgtEl>
                                        <p:attrNameLst>
                                          <p:attrName>ppt_c</p:attrName>
                                        </p:attrNameLst>
                                      </p:cBhvr>
                                      <p:to>
                                        <a:schemeClr val="bg2"/>
                                      </p:to>
                                    </p:animClr>
                                  </p:subTnLst>
                                </p:cTn>
                              </p:par>
                            </p:childTnLst>
                          </p:cTn>
                        </p:par>
                      </p:childTnLst>
                    </p:cTn>
                  </p:par>
                  <p:par>
                    <p:cTn id="27" fill="hold">
                      <p:stCondLst>
                        <p:cond delay="indefinite"/>
                      </p:stCondLst>
                      <p:childTnLst>
                        <p:par>
                          <p:cTn id="28" fill="hold">
                            <p:stCondLst>
                              <p:cond delay="0"/>
                            </p:stCondLst>
                            <p:childTnLst>
                              <p:par>
                                <p:cTn id="29" presetID="12" presetClass="entr" presetSubtype="1" fill="hold" nodeType="clickEffect">
                                  <p:stCondLst>
                                    <p:cond delay="0"/>
                                  </p:stCondLst>
                                  <p:childTnLst>
                                    <p:set>
                                      <p:cBhvr>
                                        <p:cTn id="30" dur="1" fill="hold">
                                          <p:stCondLst>
                                            <p:cond delay="0"/>
                                          </p:stCondLst>
                                        </p:cTn>
                                        <p:tgtEl>
                                          <p:spTgt spid="129027">
                                            <p:txEl>
                                              <p:charRg st="94" end="138"/>
                                            </p:txEl>
                                          </p:spTgt>
                                        </p:tgtEl>
                                        <p:attrNameLst>
                                          <p:attrName>style.visibility</p:attrName>
                                        </p:attrNameLst>
                                      </p:cBhvr>
                                      <p:to>
                                        <p:strVal val="visible"/>
                                      </p:to>
                                    </p:set>
                                    <p:animEffect transition="in" filter="slide(fromTop)">
                                      <p:cBhvr>
                                        <p:cTn id="31" dur="500"/>
                                        <p:tgtEl>
                                          <p:spTgt spid="129027">
                                            <p:txEl>
                                              <p:charRg st="94" end="138"/>
                                            </p:txEl>
                                          </p:spTgt>
                                        </p:tgtEl>
                                      </p:cBhvr>
                                    </p:animEffect>
                                  </p:childTnLst>
                                  <p:subTnLst>
                                    <p:animClr clrSpc="rgb" dir="cw">
                                      <p:cBhvr override="childStyle">
                                        <p:cTn dur="1" fill="hold" display="0" masterRel="nextClick" afterEffect="1"/>
                                        <p:tgtEl>
                                          <p:spTgt spid="129027">
                                            <p:txEl>
                                              <p:charRg st="94" end="138"/>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76802" name="Rectangle 3"/>
          <p:cNvSpPr>
            <a:spLocks noGrp="1"/>
          </p:cNvSpPr>
          <p:nvPr>
            <p:ph idx="1"/>
          </p:nvPr>
        </p:nvSpPr>
        <p:spPr>
          <a:xfrm>
            <a:off x="900113" y="74613"/>
            <a:ext cx="7869237" cy="6192837"/>
          </a:xfrm>
          <a:solidFill>
            <a:schemeClr val="bg1"/>
          </a:solidFill>
        </p:spPr>
        <p:txBody>
          <a:bodyPr vert="horz" wrap="square" lIns="91440" tIns="45720" rIns="91440" bIns="45720" anchor="t" anchorCtr="0"/>
          <a:p>
            <a:pPr eaLnBrk="1" hangingPunct="1">
              <a:lnSpc>
                <a:spcPct val="90000"/>
              </a:lnSpc>
              <a:buNone/>
            </a:pPr>
            <a:r>
              <a:rPr lang="zh-CN" altLang="en-US" b="1" dirty="0"/>
              <a:t>算法</a:t>
            </a:r>
            <a:r>
              <a:rPr lang="en-US" altLang="zh-CN" b="1" dirty="0"/>
              <a:t>2.3.3.1</a:t>
            </a:r>
            <a:r>
              <a:rPr lang="en-US" altLang="zh-CN" b="1" dirty="0"/>
              <a:t> PERMUTATIONS1</a:t>
            </a:r>
            <a:endParaRPr lang="en-US" altLang="zh-CN" b="1" dirty="0"/>
          </a:p>
          <a:p>
            <a:pPr lvl="1" eaLnBrk="1" hangingPunct="1">
              <a:lnSpc>
                <a:spcPct val="90000"/>
              </a:lnSpc>
              <a:buNone/>
            </a:pPr>
            <a:r>
              <a:rPr lang="en-US" altLang="zh-CN" sz="2000" b="1" dirty="0"/>
              <a:t>Input</a:t>
            </a:r>
            <a:r>
              <a:rPr lang="en-US" altLang="zh-CN" sz="2000" dirty="0"/>
              <a:t>: </a:t>
            </a:r>
            <a:r>
              <a:rPr lang="zh-CN" altLang="en-US" sz="2000" dirty="0"/>
              <a:t>正整数</a:t>
            </a:r>
            <a:r>
              <a:rPr lang="en-US" altLang="zh-CN" sz="2000" dirty="0"/>
              <a:t>n.</a:t>
            </a:r>
            <a:endParaRPr lang="en-US" altLang="zh-CN" sz="2000" dirty="0"/>
          </a:p>
          <a:p>
            <a:pPr lvl="1" eaLnBrk="1" hangingPunct="1">
              <a:lnSpc>
                <a:spcPct val="90000"/>
              </a:lnSpc>
              <a:buNone/>
            </a:pPr>
            <a:r>
              <a:rPr lang="en-US" altLang="zh-CN" sz="2000" b="1" dirty="0"/>
              <a:t>Output</a:t>
            </a:r>
            <a:r>
              <a:rPr lang="en-US" altLang="zh-CN" sz="2000" dirty="0"/>
              <a:t>: </a:t>
            </a:r>
            <a:r>
              <a:rPr lang="zh-CN" altLang="en-US" sz="2000" dirty="0"/>
              <a:t>数</a:t>
            </a:r>
            <a:r>
              <a:rPr lang="en-US" altLang="zh-CN" sz="2000" dirty="0"/>
              <a:t>1,2,…,n.</a:t>
            </a:r>
            <a:r>
              <a:rPr lang="zh-CN" altLang="en-US" sz="2000" dirty="0"/>
              <a:t>的所有可能排列</a:t>
            </a:r>
            <a:endParaRPr lang="zh-CN" altLang="en-US" sz="2000" dirty="0"/>
          </a:p>
          <a:p>
            <a:pPr lvl="1" eaLnBrk="1" hangingPunct="1">
              <a:lnSpc>
                <a:spcPct val="90000"/>
              </a:lnSpc>
              <a:buNone/>
            </a:pPr>
            <a:r>
              <a:rPr lang="en-US" altLang="zh-CN" sz="2000" dirty="0"/>
              <a:t>      1</a:t>
            </a:r>
            <a:r>
              <a:rPr lang="en-US" altLang="zh-CN" sz="2000" b="1" dirty="0"/>
              <a:t>. for</a:t>
            </a:r>
            <a:r>
              <a:rPr lang="en-US" altLang="zh-CN" sz="2000" dirty="0"/>
              <a:t> j</a:t>
            </a:r>
            <a:r>
              <a:rPr lang="en-US" altLang="zh-CN" sz="2000" dirty="0">
                <a:sym typeface="Wingdings" panose="05000000000000000000" pitchFamily="2" charset="2"/>
              </a:rPr>
              <a:t>1 </a:t>
            </a:r>
            <a:r>
              <a:rPr lang="en-US" altLang="zh-CN" sz="2000" b="1" dirty="0">
                <a:sym typeface="Wingdings" panose="05000000000000000000" pitchFamily="2" charset="2"/>
              </a:rPr>
              <a:t>to</a:t>
            </a:r>
            <a:r>
              <a:rPr lang="en-US" altLang="zh-CN" sz="2000" dirty="0">
                <a:sym typeface="Wingdings" panose="05000000000000000000" pitchFamily="2" charset="2"/>
              </a:rPr>
              <a:t> n      //</a:t>
            </a:r>
            <a:r>
              <a:rPr lang="zh-CN" altLang="en-US" sz="2000" dirty="0">
                <a:sym typeface="Wingdings" panose="05000000000000000000" pitchFamily="2" charset="2"/>
              </a:rPr>
              <a:t>生成数组</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    P[j]j</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3. </a:t>
            </a:r>
            <a:r>
              <a:rPr lang="en-US" altLang="zh-CN" sz="2000" b="1" dirty="0">
                <a:sym typeface="Wingdings" panose="05000000000000000000" pitchFamily="2" charset="2"/>
              </a:rPr>
              <a:t>end</a:t>
            </a:r>
            <a:r>
              <a:rPr lang="en-US" altLang="zh-CN" sz="2000" dirty="0">
                <a:sym typeface="Wingdings" panose="05000000000000000000" pitchFamily="2" charset="2"/>
              </a:rPr>
              <a:t> </a:t>
            </a:r>
            <a:r>
              <a:rPr lang="en-US" altLang="zh-CN" sz="2000" b="1" dirty="0">
                <a:sym typeface="Wingdings" panose="05000000000000000000" pitchFamily="2" charset="2"/>
              </a:rPr>
              <a:t>for</a:t>
            </a:r>
            <a:endParaRPr lang="en-US" altLang="zh-CN" sz="2000" b="1"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4. perm1(1)   </a:t>
            </a:r>
            <a:endParaRPr lang="en-US" altLang="zh-CN" sz="2000" dirty="0">
              <a:sym typeface="Wingdings" panose="05000000000000000000" pitchFamily="2" charset="2"/>
            </a:endParaRPr>
          </a:p>
          <a:p>
            <a:pPr lvl="1" eaLnBrk="1" hangingPunct="1">
              <a:lnSpc>
                <a:spcPct val="90000"/>
              </a:lnSpc>
              <a:buNone/>
            </a:pPr>
            <a:endParaRPr lang="en-US" altLang="zh-CN" sz="2000" dirty="0">
              <a:sym typeface="Wingdings" panose="05000000000000000000" pitchFamily="2" charset="2"/>
            </a:endParaRPr>
          </a:p>
          <a:p>
            <a:pPr lvl="1" eaLnBrk="1" hangingPunct="1">
              <a:lnSpc>
                <a:spcPct val="90000"/>
              </a:lnSpc>
              <a:buNone/>
            </a:pPr>
            <a:r>
              <a:rPr lang="zh-CN" altLang="en-US" sz="2000" b="1" dirty="0">
                <a:sym typeface="Wingdings" panose="05000000000000000000" pitchFamily="2" charset="2"/>
              </a:rPr>
              <a:t>过程 </a:t>
            </a:r>
            <a:r>
              <a:rPr lang="en-US" altLang="zh-CN" sz="2000" b="1" dirty="0">
                <a:sym typeface="Wingdings" panose="05000000000000000000" pitchFamily="2" charset="2"/>
              </a:rPr>
              <a:t>perm1(m)</a:t>
            </a:r>
            <a:endParaRPr lang="en-US" altLang="zh-CN" sz="2000" b="1"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 </a:t>
            </a:r>
            <a:r>
              <a:rPr lang="en-US" altLang="zh-CN" sz="2000" b="1" dirty="0">
                <a:sym typeface="Wingdings" panose="05000000000000000000" pitchFamily="2" charset="2"/>
              </a:rPr>
              <a:t>if</a:t>
            </a:r>
            <a:r>
              <a:rPr lang="en-US" altLang="zh-CN" sz="2000" dirty="0">
                <a:sym typeface="Wingdings" panose="05000000000000000000" pitchFamily="2" charset="2"/>
              </a:rPr>
              <a:t> m=n </a:t>
            </a:r>
            <a:r>
              <a:rPr lang="en-US" altLang="zh-CN" sz="2000" b="1" dirty="0">
                <a:sym typeface="Wingdings" panose="05000000000000000000" pitchFamily="2" charset="2"/>
              </a:rPr>
              <a:t>then</a:t>
            </a:r>
            <a:r>
              <a:rPr lang="en-US" altLang="zh-CN" sz="2000" dirty="0">
                <a:sym typeface="Wingdings" panose="05000000000000000000" pitchFamily="2" charset="2"/>
              </a:rPr>
              <a:t> </a:t>
            </a:r>
            <a:r>
              <a:rPr lang="en-US" altLang="zh-CN" sz="2000" b="1" dirty="0">
                <a:sym typeface="Wingdings" panose="05000000000000000000" pitchFamily="2" charset="2"/>
              </a:rPr>
              <a:t>output</a:t>
            </a:r>
            <a:r>
              <a:rPr lang="en-US" altLang="zh-CN" sz="2000" dirty="0">
                <a:sym typeface="Wingdings" panose="05000000000000000000" pitchFamily="2" charset="2"/>
              </a:rPr>
              <a:t> P[1…n]</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 </a:t>
            </a:r>
            <a:r>
              <a:rPr lang="en-US" altLang="zh-CN" sz="2000" b="1" dirty="0">
                <a:sym typeface="Wingdings" panose="05000000000000000000" pitchFamily="2" charset="2"/>
              </a:rPr>
              <a:t>else</a:t>
            </a:r>
            <a:r>
              <a:rPr lang="en-US" altLang="zh-CN" sz="2000" dirty="0">
                <a:sym typeface="Wingdings" panose="05000000000000000000" pitchFamily="2" charset="2"/>
              </a:rPr>
              <a:t> </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3.  </a:t>
            </a:r>
            <a:r>
              <a:rPr lang="en-US" altLang="zh-CN" sz="2000" b="1" dirty="0">
                <a:sym typeface="Wingdings" panose="05000000000000000000" pitchFamily="2" charset="2"/>
              </a:rPr>
              <a:t>for</a:t>
            </a:r>
            <a:r>
              <a:rPr lang="en-US" altLang="zh-CN" sz="2000" dirty="0">
                <a:sym typeface="Wingdings" panose="05000000000000000000" pitchFamily="2" charset="2"/>
              </a:rPr>
              <a:t> jm </a:t>
            </a:r>
            <a:r>
              <a:rPr lang="en-US" altLang="zh-CN" sz="2000" b="1" dirty="0">
                <a:sym typeface="Wingdings" panose="05000000000000000000" pitchFamily="2" charset="2"/>
              </a:rPr>
              <a:t>to</a:t>
            </a:r>
            <a:r>
              <a:rPr lang="en-US" altLang="zh-CN" sz="2000" dirty="0">
                <a:sym typeface="Wingdings" panose="05000000000000000000" pitchFamily="2" charset="2"/>
              </a:rPr>
              <a:t> n</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4.    </a:t>
            </a:r>
            <a:r>
              <a:rPr lang="zh-CN" altLang="en-US" sz="2000" dirty="0">
                <a:sym typeface="Wingdings" panose="05000000000000000000" pitchFamily="2" charset="2"/>
              </a:rPr>
              <a:t>互换  </a:t>
            </a:r>
            <a:r>
              <a:rPr lang="en-US" altLang="zh-CN" sz="2000" dirty="0">
                <a:sym typeface="Wingdings" panose="05000000000000000000" pitchFamily="2" charset="2"/>
              </a:rPr>
              <a:t>P[j] and P[m]</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    </a:t>
            </a:r>
            <a:r>
              <a:rPr lang="en-US" altLang="zh-CN" sz="2000" dirty="0">
                <a:solidFill>
                  <a:srgbClr val="FF0000"/>
                </a:solidFill>
                <a:sym typeface="Wingdings" panose="05000000000000000000" pitchFamily="2" charset="2"/>
              </a:rPr>
              <a:t>perm1(m+1)</a:t>
            </a:r>
            <a:endParaRPr lang="en-US" altLang="zh-CN" sz="2000" dirty="0">
              <a:solidFill>
                <a:srgbClr val="FF0000"/>
              </a:solidFill>
              <a:sym typeface="Wingdings" panose="05000000000000000000" pitchFamily="2" charset="2"/>
            </a:endParaRPr>
          </a:p>
          <a:p>
            <a:pPr lvl="1" eaLnBrk="1" hangingPunct="1">
              <a:lnSpc>
                <a:spcPct val="90000"/>
              </a:lnSpc>
              <a:buNone/>
            </a:pPr>
            <a:r>
              <a:rPr lang="en-US" altLang="zh-CN" sz="2000" dirty="0"/>
              <a:t>      6.    </a:t>
            </a:r>
            <a:r>
              <a:rPr lang="zh-CN" altLang="en-US" sz="2000" dirty="0"/>
              <a:t>互换  </a:t>
            </a:r>
            <a:r>
              <a:rPr lang="en-US" altLang="zh-CN" sz="2000" dirty="0"/>
              <a:t>P[j] and P[m]</a:t>
            </a:r>
            <a:endParaRPr lang="en-US" altLang="zh-CN" sz="2000" dirty="0"/>
          </a:p>
          <a:p>
            <a:pPr lvl="1" eaLnBrk="1" hangingPunct="1">
              <a:lnSpc>
                <a:spcPct val="90000"/>
              </a:lnSpc>
              <a:buNone/>
            </a:pPr>
            <a:r>
              <a:rPr lang="en-US" altLang="zh-CN" sz="2000" dirty="0"/>
              <a:t>      7.    </a:t>
            </a:r>
            <a:r>
              <a:rPr lang="en-US" altLang="zh-CN" sz="2000" b="1" dirty="0"/>
              <a:t>comment</a:t>
            </a:r>
            <a:r>
              <a:rPr lang="en-US" altLang="zh-CN" sz="2000" dirty="0"/>
              <a:t>: at this point P[m..n]=m, m+1, …, n</a:t>
            </a:r>
            <a:endParaRPr lang="en-US" altLang="zh-CN" sz="2000" dirty="0"/>
          </a:p>
          <a:p>
            <a:pPr lvl="1" eaLnBrk="1" hangingPunct="1">
              <a:lnSpc>
                <a:spcPct val="90000"/>
              </a:lnSpc>
              <a:buNone/>
            </a:pPr>
            <a:r>
              <a:rPr lang="en-US" altLang="zh-CN" sz="2000" dirty="0"/>
              <a:t>      8.  </a:t>
            </a:r>
            <a:r>
              <a:rPr lang="en-US" altLang="zh-CN" sz="2000" b="1" dirty="0"/>
              <a:t>end for</a:t>
            </a:r>
            <a:endParaRPr lang="en-US" altLang="zh-CN" sz="2000" b="1" dirty="0"/>
          </a:p>
          <a:p>
            <a:pPr lvl="1" eaLnBrk="1" hangingPunct="1">
              <a:lnSpc>
                <a:spcPct val="90000"/>
              </a:lnSpc>
              <a:buNone/>
            </a:pPr>
            <a:r>
              <a:rPr lang="en-US" altLang="zh-CN" sz="2000" dirty="0"/>
              <a:t>      9. </a:t>
            </a:r>
            <a:r>
              <a:rPr lang="en-US" altLang="zh-CN" sz="2000" b="1" dirty="0"/>
              <a:t>end if</a:t>
            </a:r>
            <a:endParaRPr lang="en-US" altLang="zh-CN" sz="20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页脚占位符 4"/>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78850" name="Rectangle 2"/>
          <p:cNvSpPr>
            <a:spLocks noGrp="1"/>
          </p:cNvSpPr>
          <p:nvPr>
            <p:ph type="title"/>
          </p:nvPr>
        </p:nvSpPr>
        <p:spPr/>
        <p:txBody>
          <a:bodyPr vert="horz" wrap="square" lIns="91440" tIns="45720" rIns="91440" bIns="45720" anchor="ctr" anchorCtr="0"/>
          <a:p>
            <a:pPr eaLnBrk="1" hangingPunct="1"/>
            <a:r>
              <a:rPr lang="zh-CN" altLang="en-US" dirty="0"/>
              <a:t>算法分析</a:t>
            </a:r>
            <a:endParaRPr lang="en-US" altLang="zh-CN" dirty="0"/>
          </a:p>
        </p:txBody>
      </p:sp>
      <p:sp>
        <p:nvSpPr>
          <p:cNvPr id="9221" name="Rectangle 3"/>
          <p:cNvSpPr>
            <a:spLocks noGrp="1" noChangeArrowheads="1"/>
          </p:cNvSpPr>
          <p:nvPr>
            <p:ph type="body" sz="half" idx="1"/>
          </p:nvPr>
        </p:nvSpPr>
        <p:spPr>
          <a:xfrm>
            <a:off x="757238" y="1125538"/>
            <a:ext cx="8135938" cy="45370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由于存在有</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个排列，过程</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perml</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的第</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步共有</a:t>
            </a:r>
            <a:r>
              <a:rPr kumimoji="0" lang="en-US" altLang="zh-CN" sz="2400" b="0" i="1" u="none" strike="noStrike" kern="0" cap="none" spc="0" normalizeH="0" baseline="0" noProof="0" dirty="0" err="1">
                <a:ln>
                  <a:noFill/>
                </a:ln>
                <a:solidFill>
                  <a:schemeClr val="accent2"/>
                </a:solidFill>
                <a:effectLst/>
                <a:uLnTx/>
                <a:uFillTx/>
                <a:latin typeface="+mn-lt"/>
                <a:ea typeface="+mn-ea"/>
                <a:cs typeface="+mn-cs"/>
              </a:rPr>
              <a:t>nn</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次来</a:t>
            </a:r>
            <a:endParaRPr kumimoji="0" lang="zh-CN" altLang="en-US"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输出所有的排列。 </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现在计算</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for</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循环的循环次数。</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在第一次调用过程</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perm1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时，</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m = 1 </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，因此</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for</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循环执行</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次加上递归调用</a:t>
            </a:r>
            <a:r>
              <a:rPr kumimoji="0" lang="en-US" altLang="zh-CN" sz="2400" b="0" i="0" u="none" strike="noStrike" kern="0" cap="none" spc="0" normalizeH="0" baseline="0" noProof="0" dirty="0" err="1">
                <a:ln>
                  <a:noFill/>
                </a:ln>
                <a:solidFill>
                  <a:schemeClr val="accent2"/>
                </a:solidFill>
                <a:effectLst/>
                <a:uLnTx/>
                <a:uFillTx/>
                <a:latin typeface="+mn-lt"/>
                <a:ea typeface="+mn-ea"/>
                <a:cs typeface="+mn-ea"/>
              </a:rPr>
              <a:t>perml</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(2)</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的执行次数。</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由于当</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时反复次数是</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，因此反复次数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f( 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能够用以下递推式表示</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rPr>
              <a:t>(</a:t>
            </a:r>
            <a:r>
              <a:rPr kumimoji="0" lang="zh-CN" altLang="en-US"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rPr>
              <a:t>书本</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rPr>
              <a:t>p96)</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p:txBody>
      </p:sp>
      <p:graphicFrame>
        <p:nvGraphicFramePr>
          <p:cNvPr id="78852" name="Object 4"/>
          <p:cNvGraphicFramePr>
            <a:graphicFrameLocks noGrp="1" noChangeAspect="1"/>
          </p:cNvGraphicFramePr>
          <p:nvPr>
            <p:ph sz="half" idx="2"/>
          </p:nvPr>
        </p:nvGraphicFramePr>
        <p:xfrm>
          <a:off x="3132138" y="4365625"/>
          <a:ext cx="3821112" cy="620713"/>
        </p:xfrm>
        <a:graphic>
          <a:graphicData uri="http://schemas.openxmlformats.org/presentationml/2006/ole">
            <mc:AlternateContent xmlns:mc="http://schemas.openxmlformats.org/markup-compatibility/2006">
              <mc:Choice xmlns:v="urn:schemas-microsoft-com:vml" Requires="v">
                <p:oleObj spid="_x0000_s3090" name="" r:id="rId1" imgW="1651000" imgH="254000" progId="Equation.3">
                  <p:embed/>
                </p:oleObj>
              </mc:Choice>
              <mc:Fallback>
                <p:oleObj name="" r:id="rId1" imgW="1651000" imgH="254000" progId="Equation.3">
                  <p:embed/>
                  <p:pic>
                    <p:nvPicPr>
                      <p:cNvPr id="0" name="图片 3089"/>
                      <p:cNvPicPr/>
                      <p:nvPr/>
                    </p:nvPicPr>
                    <p:blipFill>
                      <a:blip r:embed="rId2"/>
                      <a:stretch>
                        <a:fillRect/>
                      </a:stretch>
                    </p:blipFill>
                    <p:spPr>
                      <a:xfrm>
                        <a:off x="3132138" y="4365625"/>
                        <a:ext cx="3821112" cy="620713"/>
                      </a:xfrm>
                      <a:prstGeom prst="rect">
                        <a:avLst/>
                      </a:prstGeom>
                      <a:noFill/>
                      <a:ln w="38100">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页脚占位符 5"/>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80898" name="Rectangle 2"/>
          <p:cNvSpPr>
            <a:spLocks noGrp="1"/>
          </p:cNvSpPr>
          <p:nvPr>
            <p:ph type="title"/>
          </p:nvPr>
        </p:nvSpPr>
        <p:spPr/>
        <p:txBody>
          <a:bodyPr vert="horz" wrap="square" lIns="91440" tIns="45720" rIns="91440" bIns="45720" anchor="ctr" anchorCtr="0"/>
          <a:p>
            <a:pPr eaLnBrk="1" hangingPunct="1"/>
            <a:r>
              <a:rPr lang="zh-CN" altLang="en-US" dirty="0"/>
              <a:t>算法分析（继续）</a:t>
            </a:r>
            <a:endParaRPr lang="en-US" altLang="zh-CN" dirty="0"/>
          </a:p>
        </p:txBody>
      </p:sp>
      <p:sp>
        <p:nvSpPr>
          <p:cNvPr id="133123" name="Rectangle 3"/>
          <p:cNvSpPr>
            <a:spLocks noGrp="1"/>
          </p:cNvSpPr>
          <p:nvPr>
            <p:ph type="body" sz="half" idx="1"/>
          </p:nvPr>
        </p:nvSpPr>
        <p:spPr>
          <a:xfrm>
            <a:off x="817563" y="1125538"/>
            <a:ext cx="8218487" cy="4565650"/>
          </a:xfrm>
        </p:spPr>
        <p:txBody>
          <a:bodyPr vert="horz" wrap="square" lIns="91440" tIns="45720" rIns="91440" bIns="45720" anchor="t" anchorCtr="0"/>
          <a:p>
            <a:pPr eaLnBrk="1" hangingPunct="1">
              <a:lnSpc>
                <a:spcPct val="90000"/>
              </a:lnSpc>
              <a:buClrTx/>
              <a:buSzTx/>
              <a:buFontTx/>
              <a:buNone/>
            </a:pPr>
            <a:r>
              <a:rPr lang="zh-CN" altLang="en-US" sz="2100" dirty="0"/>
              <a:t>令 </a:t>
            </a:r>
            <a:r>
              <a:rPr lang="en-US" altLang="zh-CN" sz="2100" dirty="0"/>
              <a:t>n!h(n)=f(n) (</a:t>
            </a:r>
            <a:r>
              <a:rPr lang="zh-CN" altLang="en-US" sz="2100" dirty="0"/>
              <a:t>注意 </a:t>
            </a:r>
            <a:r>
              <a:rPr lang="en-US" altLang="zh-CN" sz="2100" dirty="0"/>
              <a:t>h(1)=0).   (</a:t>
            </a:r>
            <a:r>
              <a:rPr lang="zh-CN" altLang="en-US" sz="2100" dirty="0"/>
              <a:t>书本</a:t>
            </a:r>
            <a:r>
              <a:rPr lang="en-US" altLang="zh-CN" sz="2100" dirty="0"/>
              <a:t>p96)</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r>
              <a:rPr lang="zh-CN" altLang="en-US" sz="2100" dirty="0"/>
              <a:t>那么</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r>
              <a:rPr lang="zh-CN" altLang="en-US" sz="2100" dirty="0"/>
              <a:t>这个递推式的解是</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r>
              <a:rPr lang="zh-CN" altLang="en-US" sz="2100" dirty="0"/>
              <a:t>这里</a:t>
            </a:r>
            <a:r>
              <a:rPr lang="en-US" altLang="zh-CN" sz="2100" dirty="0"/>
              <a:t>e=2.7182818…. </a:t>
            </a:r>
            <a:r>
              <a:rPr lang="zh-CN" altLang="en-US" sz="2100" dirty="0"/>
              <a:t>因此</a:t>
            </a:r>
            <a:r>
              <a:rPr lang="en-US" altLang="zh-CN" sz="2100" dirty="0"/>
              <a:t>, </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pPr>
            <a:r>
              <a:rPr lang="zh-CN" altLang="en-US" sz="2100" dirty="0">
                <a:solidFill>
                  <a:srgbClr val="EA0000"/>
                </a:solidFill>
              </a:rPr>
              <a:t>所以，算法的运行时间由输出语句来决定，也就是</a:t>
            </a:r>
            <a:r>
              <a:rPr lang="en-US" altLang="zh-CN" sz="2100" dirty="0">
                <a:solidFill>
                  <a:srgbClr val="EA0000"/>
                </a:solidFill>
                <a:sym typeface="Symbol" panose="05050102010706020507" pitchFamily="18" charset="2"/>
              </a:rPr>
              <a:t>(nn!)</a:t>
            </a:r>
            <a:r>
              <a:rPr lang="zh-CN" altLang="en-US" sz="2100" dirty="0">
                <a:solidFill>
                  <a:srgbClr val="EA0000"/>
                </a:solidFill>
                <a:sym typeface="Symbol" panose="05050102010706020507" pitchFamily="18" charset="2"/>
              </a:rPr>
              <a:t>。</a:t>
            </a:r>
            <a:r>
              <a:rPr lang="en-US" altLang="zh-CN" sz="2100" dirty="0">
                <a:solidFill>
                  <a:srgbClr val="EA0000"/>
                </a:solidFill>
              </a:rPr>
              <a:t> </a:t>
            </a:r>
            <a:endParaRPr lang="en-US" altLang="zh-CN" sz="2100" dirty="0">
              <a:solidFill>
                <a:srgbClr val="EA0000"/>
              </a:solidFill>
            </a:endParaRPr>
          </a:p>
        </p:txBody>
      </p:sp>
      <p:graphicFrame>
        <p:nvGraphicFramePr>
          <p:cNvPr id="133124" name="Object 4"/>
          <p:cNvGraphicFramePr>
            <a:graphicFrameLocks noGrp="1" noChangeAspect="1"/>
          </p:cNvGraphicFramePr>
          <p:nvPr>
            <p:ph sz="quarter" idx="2"/>
          </p:nvPr>
        </p:nvGraphicFramePr>
        <p:xfrm>
          <a:off x="1835150" y="1844675"/>
          <a:ext cx="3587750" cy="412750"/>
        </p:xfrm>
        <a:graphic>
          <a:graphicData uri="http://schemas.openxmlformats.org/presentationml/2006/ole">
            <mc:AlternateContent xmlns:mc="http://schemas.openxmlformats.org/markup-compatibility/2006">
              <mc:Choice xmlns:v="urn:schemas-microsoft-com:vml" Requires="v">
                <p:oleObj spid="_x0000_s3092" name="" r:id="rId1" imgW="1866265" imgH="203200" progId="Equation.3">
                  <p:embed/>
                </p:oleObj>
              </mc:Choice>
              <mc:Fallback>
                <p:oleObj name="" r:id="rId1" imgW="1866265" imgH="203200" progId="Equation.3">
                  <p:embed/>
                  <p:pic>
                    <p:nvPicPr>
                      <p:cNvPr id="0" name="图片 3091"/>
                      <p:cNvPicPr/>
                      <p:nvPr/>
                    </p:nvPicPr>
                    <p:blipFill>
                      <a:blip r:embed="rId2"/>
                      <a:stretch>
                        <a:fillRect/>
                      </a:stretch>
                    </p:blipFill>
                    <p:spPr>
                      <a:xfrm>
                        <a:off x="1835150" y="1844675"/>
                        <a:ext cx="3587750" cy="412750"/>
                      </a:xfrm>
                      <a:prstGeom prst="rect">
                        <a:avLst/>
                      </a:prstGeom>
                      <a:noFill/>
                      <a:ln w="38100">
                        <a:miter/>
                      </a:ln>
                    </p:spPr>
                  </p:pic>
                </p:oleObj>
              </mc:Fallback>
            </mc:AlternateContent>
          </a:graphicData>
        </a:graphic>
      </p:graphicFrame>
      <p:graphicFrame>
        <p:nvGraphicFramePr>
          <p:cNvPr id="133126" name="Object 6"/>
          <p:cNvGraphicFramePr>
            <a:graphicFrameLocks noGrp="1" noChangeAspect="1"/>
          </p:cNvGraphicFramePr>
          <p:nvPr>
            <p:ph sz="quarter" idx="3"/>
          </p:nvPr>
        </p:nvGraphicFramePr>
        <p:xfrm>
          <a:off x="2700338" y="2924175"/>
          <a:ext cx="4567237" cy="722313"/>
        </p:xfrm>
        <a:graphic>
          <a:graphicData uri="http://schemas.openxmlformats.org/presentationml/2006/ole">
            <mc:AlternateContent xmlns:mc="http://schemas.openxmlformats.org/markup-compatibility/2006">
              <mc:Choice xmlns:v="urn:schemas-microsoft-com:vml" Requires="v">
                <p:oleObj spid="_x0000_s3093" name="" r:id="rId3" imgW="2971800" imgH="444500" progId="Equation.3">
                  <p:embed/>
                </p:oleObj>
              </mc:Choice>
              <mc:Fallback>
                <p:oleObj name="" r:id="rId3" imgW="2971800" imgH="444500" progId="Equation.3">
                  <p:embed/>
                  <p:pic>
                    <p:nvPicPr>
                      <p:cNvPr id="0" name="图片 3092"/>
                      <p:cNvPicPr/>
                      <p:nvPr/>
                    </p:nvPicPr>
                    <p:blipFill>
                      <a:blip r:embed="rId4"/>
                      <a:stretch>
                        <a:fillRect/>
                      </a:stretch>
                    </p:blipFill>
                    <p:spPr>
                      <a:xfrm>
                        <a:off x="2700338" y="2924175"/>
                        <a:ext cx="4567237" cy="722313"/>
                      </a:xfrm>
                      <a:prstGeom prst="rect">
                        <a:avLst/>
                      </a:prstGeom>
                      <a:noFill/>
                      <a:ln w="38100">
                        <a:miter/>
                      </a:ln>
                    </p:spPr>
                  </p:pic>
                </p:oleObj>
              </mc:Fallback>
            </mc:AlternateContent>
          </a:graphicData>
        </a:graphic>
      </p:graphicFrame>
      <p:graphicFrame>
        <p:nvGraphicFramePr>
          <p:cNvPr id="133128" name="Object 8"/>
          <p:cNvGraphicFramePr>
            <a:graphicFrameLocks noChangeAspect="1"/>
          </p:cNvGraphicFramePr>
          <p:nvPr/>
        </p:nvGraphicFramePr>
        <p:xfrm>
          <a:off x="2555875" y="3860800"/>
          <a:ext cx="3446463" cy="804863"/>
        </p:xfrm>
        <a:graphic>
          <a:graphicData uri="http://schemas.openxmlformats.org/presentationml/2006/ole">
            <mc:AlternateContent xmlns:mc="http://schemas.openxmlformats.org/markup-compatibility/2006">
              <mc:Choice xmlns:v="urn:schemas-microsoft-com:vml" Requires="v">
                <p:oleObj spid="_x0000_s3091" name="" r:id="rId5" imgW="1905000" imgH="444500" progId="Equation.3">
                  <p:embed/>
                </p:oleObj>
              </mc:Choice>
              <mc:Fallback>
                <p:oleObj name="" r:id="rId5" imgW="1905000" imgH="444500" progId="Equation.3">
                  <p:embed/>
                  <p:pic>
                    <p:nvPicPr>
                      <p:cNvPr id="0" name="图片 3090"/>
                      <p:cNvPicPr/>
                      <p:nvPr/>
                    </p:nvPicPr>
                    <p:blipFill>
                      <a:blip r:embed="rId6"/>
                      <a:stretch>
                        <a:fillRect/>
                      </a:stretch>
                    </p:blipFill>
                    <p:spPr>
                      <a:xfrm>
                        <a:off x="2555875" y="3860800"/>
                        <a:ext cx="3446463" cy="8048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3124"/>
                                        </p:tgtEl>
                                        <p:attrNameLst>
                                          <p:attrName>style.visibility</p:attrName>
                                        </p:attrNameLst>
                                      </p:cBhvr>
                                      <p:to>
                                        <p:strVal val="visible"/>
                                      </p:to>
                                    </p:set>
                                    <p:anim calcmode="lin" valueType="num">
                                      <p:cBhvr>
                                        <p:cTn id="7" dur="1000" fill="hold"/>
                                        <p:tgtEl>
                                          <p:spTgt spid="133124"/>
                                        </p:tgtEl>
                                        <p:attrNameLst>
                                          <p:attrName>ppt_w</p:attrName>
                                        </p:attrNameLst>
                                      </p:cBhvr>
                                      <p:tavLst>
                                        <p:tav tm="0">
                                          <p:val>
                                            <p:strVal val="#ppt_w*0.70"/>
                                          </p:val>
                                        </p:tav>
                                        <p:tav tm="100000">
                                          <p:val>
                                            <p:strVal val="#ppt_w"/>
                                          </p:val>
                                        </p:tav>
                                      </p:tavLst>
                                    </p:anim>
                                    <p:anim calcmode="lin" valueType="num">
                                      <p:cBhvr>
                                        <p:cTn id="8" dur="1000" fill="hold"/>
                                        <p:tgtEl>
                                          <p:spTgt spid="133124"/>
                                        </p:tgtEl>
                                        <p:attrNameLst>
                                          <p:attrName>ppt_h</p:attrName>
                                        </p:attrNameLst>
                                      </p:cBhvr>
                                      <p:tavLst>
                                        <p:tav tm="0">
                                          <p:val>
                                            <p:strVal val="#ppt_h"/>
                                          </p:val>
                                        </p:tav>
                                        <p:tav tm="100000">
                                          <p:val>
                                            <p:strVal val="#ppt_h"/>
                                          </p:val>
                                        </p:tav>
                                      </p:tavLst>
                                    </p:anim>
                                    <p:animEffect transition="in" filter="fade">
                                      <p:cBhvr>
                                        <p:cTn id="9" dur="1000"/>
                                        <p:tgtEl>
                                          <p:spTgt spid="13312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33126"/>
                                        </p:tgtEl>
                                        <p:attrNameLst>
                                          <p:attrName>style.visibility</p:attrName>
                                        </p:attrNameLst>
                                      </p:cBhvr>
                                      <p:to>
                                        <p:strVal val="visible"/>
                                      </p:to>
                                    </p:set>
                                    <p:anim calcmode="lin" valueType="num">
                                      <p:cBhvr>
                                        <p:cTn id="13" dur="1000" fill="hold"/>
                                        <p:tgtEl>
                                          <p:spTgt spid="133126"/>
                                        </p:tgtEl>
                                        <p:attrNameLst>
                                          <p:attrName>ppt_w</p:attrName>
                                        </p:attrNameLst>
                                      </p:cBhvr>
                                      <p:tavLst>
                                        <p:tav tm="0">
                                          <p:val>
                                            <p:strVal val="#ppt_w*0.70"/>
                                          </p:val>
                                        </p:tav>
                                        <p:tav tm="100000">
                                          <p:val>
                                            <p:strVal val="#ppt_w"/>
                                          </p:val>
                                        </p:tav>
                                      </p:tavLst>
                                    </p:anim>
                                    <p:anim calcmode="lin" valueType="num">
                                      <p:cBhvr>
                                        <p:cTn id="14" dur="1000" fill="hold"/>
                                        <p:tgtEl>
                                          <p:spTgt spid="133126"/>
                                        </p:tgtEl>
                                        <p:attrNameLst>
                                          <p:attrName>ppt_h</p:attrName>
                                        </p:attrNameLst>
                                      </p:cBhvr>
                                      <p:tavLst>
                                        <p:tav tm="0">
                                          <p:val>
                                            <p:strVal val="#ppt_h"/>
                                          </p:val>
                                        </p:tav>
                                        <p:tav tm="100000">
                                          <p:val>
                                            <p:strVal val="#ppt_h"/>
                                          </p:val>
                                        </p:tav>
                                      </p:tavLst>
                                    </p:anim>
                                    <p:animEffect transition="in" filter="fade">
                                      <p:cBhvr>
                                        <p:cTn id="15" dur="1000"/>
                                        <p:tgtEl>
                                          <p:spTgt spid="133126"/>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33123">
                                            <p:txEl>
                                              <p:charRg st="53" end="74"/>
                                            </p:txEl>
                                          </p:spTgt>
                                        </p:tgtEl>
                                        <p:attrNameLst>
                                          <p:attrName>style.visibility</p:attrName>
                                        </p:attrNameLst>
                                      </p:cBhvr>
                                      <p:to>
                                        <p:strVal val="visible"/>
                                      </p:to>
                                    </p:set>
                                    <p:anim calcmode="lin" valueType="num">
                                      <p:cBhvr>
                                        <p:cTn id="19" dur="1000" fill="hold"/>
                                        <p:tgtEl>
                                          <p:spTgt spid="133123">
                                            <p:txEl>
                                              <p:charRg st="53" end="74"/>
                                            </p:txEl>
                                          </p:spTgt>
                                        </p:tgtEl>
                                        <p:attrNameLst>
                                          <p:attrName>ppt_w</p:attrName>
                                        </p:attrNameLst>
                                      </p:cBhvr>
                                      <p:tavLst>
                                        <p:tav tm="0">
                                          <p:val>
                                            <p:strVal val="#ppt_w*0.70"/>
                                          </p:val>
                                        </p:tav>
                                        <p:tav tm="100000">
                                          <p:val>
                                            <p:strVal val="#ppt_w"/>
                                          </p:val>
                                        </p:tav>
                                      </p:tavLst>
                                    </p:anim>
                                    <p:anim calcmode="lin" valueType="num">
                                      <p:cBhvr>
                                        <p:cTn id="20" dur="1000" fill="hold"/>
                                        <p:tgtEl>
                                          <p:spTgt spid="133123">
                                            <p:txEl>
                                              <p:charRg st="53" end="74"/>
                                            </p:txEl>
                                          </p:spTgt>
                                        </p:tgtEl>
                                        <p:attrNameLst>
                                          <p:attrName>ppt_h</p:attrName>
                                        </p:attrNameLst>
                                      </p:cBhvr>
                                      <p:tavLst>
                                        <p:tav tm="0">
                                          <p:val>
                                            <p:strVal val="#ppt_h"/>
                                          </p:val>
                                        </p:tav>
                                        <p:tav tm="100000">
                                          <p:val>
                                            <p:strVal val="#ppt_h"/>
                                          </p:val>
                                        </p:tav>
                                      </p:tavLst>
                                    </p:anim>
                                    <p:animEffect transition="in" filter="fade">
                                      <p:cBhvr>
                                        <p:cTn id="21" dur="1000"/>
                                        <p:tgtEl>
                                          <p:spTgt spid="133123">
                                            <p:txEl>
                                              <p:charRg st="53" end="74"/>
                                            </p:txEl>
                                          </p:spTgt>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133128"/>
                                        </p:tgtEl>
                                        <p:attrNameLst>
                                          <p:attrName>style.visibility</p:attrName>
                                        </p:attrNameLst>
                                      </p:cBhvr>
                                      <p:to>
                                        <p:strVal val="visible"/>
                                      </p:to>
                                    </p:set>
                                    <p:anim calcmode="lin" valueType="num">
                                      <p:cBhvr>
                                        <p:cTn id="25" dur="1000" fill="hold"/>
                                        <p:tgtEl>
                                          <p:spTgt spid="133128"/>
                                        </p:tgtEl>
                                        <p:attrNameLst>
                                          <p:attrName>ppt_w</p:attrName>
                                        </p:attrNameLst>
                                      </p:cBhvr>
                                      <p:tavLst>
                                        <p:tav tm="0">
                                          <p:val>
                                            <p:strVal val="#ppt_w*0.70"/>
                                          </p:val>
                                        </p:tav>
                                        <p:tav tm="100000">
                                          <p:val>
                                            <p:strVal val="#ppt_w"/>
                                          </p:val>
                                        </p:tav>
                                      </p:tavLst>
                                    </p:anim>
                                    <p:anim calcmode="lin" valueType="num">
                                      <p:cBhvr>
                                        <p:cTn id="26" dur="1000" fill="hold"/>
                                        <p:tgtEl>
                                          <p:spTgt spid="133128"/>
                                        </p:tgtEl>
                                        <p:attrNameLst>
                                          <p:attrName>ppt_h</p:attrName>
                                        </p:attrNameLst>
                                      </p:cBhvr>
                                      <p:tavLst>
                                        <p:tav tm="0">
                                          <p:val>
                                            <p:strVal val="#ppt_h"/>
                                          </p:val>
                                        </p:tav>
                                        <p:tav tm="100000">
                                          <p:val>
                                            <p:strVal val="#ppt_h"/>
                                          </p:val>
                                        </p:tav>
                                      </p:tavLst>
                                    </p:anim>
                                    <p:animEffect transition="in" filter="fade">
                                      <p:cBhvr>
                                        <p:cTn id="27" dur="1000"/>
                                        <p:tgtEl>
                                          <p:spTgt spid="133128"/>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133123">
                                            <p:txEl>
                                              <p:charRg st="76" end="107"/>
                                            </p:txEl>
                                          </p:spTgt>
                                        </p:tgtEl>
                                        <p:attrNameLst>
                                          <p:attrName>style.visibility</p:attrName>
                                        </p:attrNameLst>
                                      </p:cBhvr>
                                      <p:to>
                                        <p:strVal val="visible"/>
                                      </p:to>
                                    </p:set>
                                    <p:animEffect transition="in" filter="diamond(in)">
                                      <p:cBhvr>
                                        <p:cTn id="32" dur="1000"/>
                                        <p:tgtEl>
                                          <p:spTgt spid="133123">
                                            <p:txEl>
                                              <p:charRg st="76" end="10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82946" name="Rectangle 2"/>
          <p:cNvSpPr>
            <a:spLocks noGrp="1"/>
          </p:cNvSpPr>
          <p:nvPr>
            <p:ph type="title"/>
          </p:nvPr>
        </p:nvSpPr>
        <p:spPr/>
        <p:txBody>
          <a:bodyPr vert="horz" wrap="square" lIns="91440" tIns="45720" rIns="91440" bIns="45720" anchor="ctr" anchorCtr="0"/>
          <a:p>
            <a:pPr eaLnBrk="1" hangingPunct="1"/>
            <a:r>
              <a:rPr lang="en-US" altLang="zh-CN" dirty="0"/>
              <a:t>2.3.3.2 </a:t>
            </a:r>
            <a:r>
              <a:rPr lang="zh-CN" altLang="en-US" dirty="0"/>
              <a:t>第二种算法</a:t>
            </a:r>
            <a:endParaRPr lang="en-US" altLang="zh-CN" dirty="0"/>
          </a:p>
        </p:txBody>
      </p:sp>
      <p:sp>
        <p:nvSpPr>
          <p:cNvPr id="22937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300" b="0" i="0" u="none" strike="noStrike" kern="0" cap="none" spc="0" normalizeH="0" baseline="0" noProof="0" dirty="0">
                <a:ln>
                  <a:noFill/>
                </a:ln>
                <a:solidFill>
                  <a:srgbClr val="EA0000"/>
                </a:solidFill>
                <a:effectLst/>
                <a:uLnTx/>
                <a:uFillTx/>
                <a:latin typeface="+mn-lt"/>
                <a:ea typeface="+mn-ea"/>
                <a:cs typeface="+mn-cs"/>
              </a:rPr>
              <a:t>基本思想</a:t>
            </a:r>
            <a:r>
              <a:rPr kumimoji="0" lang="en-US" altLang="zh-CN" sz="2300" b="0" i="0" u="none" strike="noStrike" kern="0" cap="none" spc="0" normalizeH="0" baseline="0" noProof="0" dirty="0">
                <a:ln>
                  <a:noFill/>
                </a:ln>
                <a:solidFill>
                  <a:srgbClr val="EA0000"/>
                </a:solidFill>
                <a:effectLst/>
                <a:uLnTx/>
                <a:uFillTx/>
                <a:latin typeface="+mn-lt"/>
                <a:ea typeface="+mn-ea"/>
                <a:cs typeface="+mn-cs"/>
              </a:rPr>
              <a:t> </a:t>
            </a:r>
            <a:endParaRPr kumimoji="0" lang="en-US" altLang="zh-CN" sz="2300" b="0" i="0" u="none" strike="noStrike" kern="0" cap="none" spc="0" normalizeH="0" baseline="0" noProof="0" dirty="0">
              <a:ln>
                <a:noFill/>
              </a:ln>
              <a:solidFill>
                <a:srgbClr val="EA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首先把</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放入</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，并且在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P[2..n]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子数组中生成前</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个数的所有排列。</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接下来把</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放人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P[2]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，并且在子数组</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P[3..n]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中生成前</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个数的所有排列。</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然后把</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放入</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P[3]</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，并且在子数组</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P[1,2]</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P[4..n-1]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中生成前</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个数的所有排列。</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这样继续下去，直到最后把</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放到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中，并且在子数组</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P[1..n-1]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中生成</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个数的所有排列。</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初始的时候，</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P[1..n]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个项为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9379">
                                            <p:txEl>
                                              <p:charRg st="0" end="6"/>
                                            </p:txEl>
                                          </p:spTgt>
                                        </p:tgtEl>
                                        <p:attrNameLst>
                                          <p:attrName>style.visibility</p:attrName>
                                        </p:attrNameLst>
                                      </p:cBhvr>
                                      <p:to>
                                        <p:strVal val="visible"/>
                                      </p:to>
                                    </p:set>
                                    <p:animEffect transition="in" filter="blinds(horizontal)">
                                      <p:cBhvr>
                                        <p:cTn id="7" dur="500"/>
                                        <p:tgtEl>
                                          <p:spTgt spid="229379">
                                            <p:txEl>
                                              <p:charRg st="0" end="6"/>
                                            </p:txEl>
                                          </p:spTgt>
                                        </p:tgtEl>
                                      </p:cBhvr>
                                    </p:animEffect>
                                  </p:childTnLst>
                                  <p:subTnLst>
                                    <p:animClr clrSpc="rgb" dir="cw">
                                      <p:cBhvr override="childStyle">
                                        <p:cTn dur="1" fill="hold" display="0" masterRel="nextClick" afterEffect="1"/>
                                        <p:tgtEl>
                                          <p:spTgt spid="229379">
                                            <p:txEl>
                                              <p:charRg st="0" end="6"/>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9379">
                                            <p:txEl>
                                              <p:charRg st="6" end="47"/>
                                            </p:txEl>
                                          </p:spTgt>
                                        </p:tgtEl>
                                        <p:attrNameLst>
                                          <p:attrName>style.visibility</p:attrName>
                                        </p:attrNameLst>
                                      </p:cBhvr>
                                      <p:to>
                                        <p:strVal val="visible"/>
                                      </p:to>
                                    </p:set>
                                    <p:animEffect transition="in" filter="blinds(horizontal)">
                                      <p:cBhvr>
                                        <p:cTn id="12" dur="500"/>
                                        <p:tgtEl>
                                          <p:spTgt spid="229379">
                                            <p:txEl>
                                              <p:charRg st="6" end="47"/>
                                            </p:txEl>
                                          </p:spTgt>
                                        </p:tgtEl>
                                      </p:cBhvr>
                                    </p:animEffect>
                                  </p:childTnLst>
                                  <p:subTnLst>
                                    <p:animClr clrSpc="rgb" dir="cw">
                                      <p:cBhvr override="childStyle">
                                        <p:cTn dur="1" fill="hold" display="0" masterRel="nextClick" afterEffect="1"/>
                                        <p:tgtEl>
                                          <p:spTgt spid="229379">
                                            <p:txEl>
                                              <p:charRg st="6" end="47"/>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9379">
                                            <p:txEl>
                                              <p:charRg st="47" end="94"/>
                                            </p:txEl>
                                          </p:spTgt>
                                        </p:tgtEl>
                                        <p:attrNameLst>
                                          <p:attrName>style.visibility</p:attrName>
                                        </p:attrNameLst>
                                      </p:cBhvr>
                                      <p:to>
                                        <p:strVal val="visible"/>
                                      </p:to>
                                    </p:set>
                                    <p:animEffect transition="in" filter="blinds(horizontal)">
                                      <p:cBhvr>
                                        <p:cTn id="17" dur="500"/>
                                        <p:tgtEl>
                                          <p:spTgt spid="229379">
                                            <p:txEl>
                                              <p:charRg st="47" end="94"/>
                                            </p:txEl>
                                          </p:spTgt>
                                        </p:tgtEl>
                                      </p:cBhvr>
                                    </p:animEffect>
                                  </p:childTnLst>
                                  <p:subTnLst>
                                    <p:animClr clrSpc="rgb" dir="cw">
                                      <p:cBhvr override="childStyle">
                                        <p:cTn dur="1" fill="hold" display="0" masterRel="nextClick" afterEffect="1"/>
                                        <p:tgtEl>
                                          <p:spTgt spid="229379">
                                            <p:txEl>
                                              <p:charRg st="47" end="94"/>
                                            </p:txEl>
                                          </p:spTgt>
                                        </p:tgtEl>
                                        <p:attrNameLst>
                                          <p:attrName>ppt_c</p:attrName>
                                        </p:attrNameLst>
                                      </p:cBhvr>
                                      <p:to>
                                        <a:schemeClr val="bg2"/>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9379">
                                            <p:txEl>
                                              <p:charRg st="94" end="143"/>
                                            </p:txEl>
                                          </p:spTgt>
                                        </p:tgtEl>
                                        <p:attrNameLst>
                                          <p:attrName>style.visibility</p:attrName>
                                        </p:attrNameLst>
                                      </p:cBhvr>
                                      <p:to>
                                        <p:strVal val="visible"/>
                                      </p:to>
                                    </p:set>
                                    <p:animEffect transition="in" filter="blinds(horizontal)">
                                      <p:cBhvr>
                                        <p:cTn id="22" dur="500"/>
                                        <p:tgtEl>
                                          <p:spTgt spid="229379">
                                            <p:txEl>
                                              <p:charRg st="94" end="143"/>
                                            </p:txEl>
                                          </p:spTgt>
                                        </p:tgtEl>
                                      </p:cBhvr>
                                    </p:animEffect>
                                  </p:childTnLst>
                                  <p:subTnLst>
                                    <p:animClr clrSpc="rgb" dir="cw">
                                      <p:cBhvr override="childStyle">
                                        <p:cTn dur="1" fill="hold" display="0" masterRel="nextClick" afterEffect="1"/>
                                        <p:tgtEl>
                                          <p:spTgt spid="229379">
                                            <p:txEl>
                                              <p:charRg st="94" end="143"/>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9379">
                                            <p:txEl>
                                              <p:charRg st="143" end="194"/>
                                            </p:txEl>
                                          </p:spTgt>
                                        </p:tgtEl>
                                        <p:attrNameLst>
                                          <p:attrName>style.visibility</p:attrName>
                                        </p:attrNameLst>
                                      </p:cBhvr>
                                      <p:to>
                                        <p:strVal val="visible"/>
                                      </p:to>
                                    </p:set>
                                    <p:animEffect transition="in" filter="blinds(horizontal)">
                                      <p:cBhvr>
                                        <p:cTn id="27" dur="500"/>
                                        <p:tgtEl>
                                          <p:spTgt spid="229379">
                                            <p:txEl>
                                              <p:charRg st="143" end="194"/>
                                            </p:txEl>
                                          </p:spTgt>
                                        </p:tgtEl>
                                      </p:cBhvr>
                                    </p:animEffect>
                                  </p:childTnLst>
                                  <p:subTnLst>
                                    <p:animClr clrSpc="rgb" dir="cw">
                                      <p:cBhvr override="childStyle">
                                        <p:cTn dur="1" fill="hold" display="0" masterRel="nextClick" afterEffect="1"/>
                                        <p:tgtEl>
                                          <p:spTgt spid="229379">
                                            <p:txEl>
                                              <p:charRg st="143" end="194"/>
                                            </p:txEl>
                                          </p:spTgt>
                                        </p:tgtEl>
                                        <p:attrNameLst>
                                          <p:attrName>ppt_c</p:attrName>
                                        </p:attrNameLst>
                                      </p:cBhvr>
                                      <p:to>
                                        <a:schemeClr val="bg2"/>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29379">
                                            <p:txEl>
                                              <p:charRg st="194" end="216"/>
                                            </p:txEl>
                                          </p:spTgt>
                                        </p:tgtEl>
                                        <p:attrNameLst>
                                          <p:attrName>style.visibility</p:attrName>
                                        </p:attrNameLst>
                                      </p:cBhvr>
                                      <p:to>
                                        <p:strVal val="visible"/>
                                      </p:to>
                                    </p:set>
                                    <p:animEffect transition="in" filter="blinds(horizontal)">
                                      <p:cBhvr>
                                        <p:cTn id="32" dur="500"/>
                                        <p:tgtEl>
                                          <p:spTgt spid="229379">
                                            <p:txEl>
                                              <p:charRg st="194" end="216"/>
                                            </p:txEl>
                                          </p:spTgt>
                                        </p:tgtEl>
                                      </p:cBhvr>
                                    </p:animEffect>
                                  </p:childTnLst>
                                  <p:subTnLst>
                                    <p:animClr clrSpc="rgb" dir="cw">
                                      <p:cBhvr override="childStyle">
                                        <p:cTn dur="1" fill="hold" display="0" masterRel="nextClick" afterEffect="1"/>
                                        <p:tgtEl>
                                          <p:spTgt spid="229379">
                                            <p:txEl>
                                              <p:charRg st="194" end="21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84994" name="Rectangle 3"/>
          <p:cNvSpPr>
            <a:spLocks noGrp="1"/>
          </p:cNvSpPr>
          <p:nvPr>
            <p:ph idx="1"/>
          </p:nvPr>
        </p:nvSpPr>
        <p:spPr>
          <a:xfrm>
            <a:off x="684213" y="138113"/>
            <a:ext cx="8229600" cy="6264275"/>
          </a:xfrm>
          <a:solidFill>
            <a:schemeClr val="bg1"/>
          </a:solidFill>
        </p:spPr>
        <p:txBody>
          <a:bodyPr vert="horz" wrap="square" lIns="91440" tIns="45720" rIns="91440" bIns="45720" anchor="t" anchorCtr="0"/>
          <a:p>
            <a:pPr eaLnBrk="1" hangingPunct="1">
              <a:lnSpc>
                <a:spcPct val="80000"/>
              </a:lnSpc>
              <a:buNone/>
            </a:pPr>
            <a:r>
              <a:rPr lang="zh-CN" altLang="en-US" sz="2200" b="1" dirty="0"/>
              <a:t>算法</a:t>
            </a:r>
            <a:r>
              <a:rPr lang="en-US" altLang="zh-CN" sz="2200" b="1" dirty="0"/>
              <a:t>2.3.3.2</a:t>
            </a:r>
            <a:r>
              <a:rPr lang="en-US" altLang="zh-CN" sz="2200" b="1" dirty="0"/>
              <a:t> PERMUTATIONS2</a:t>
            </a:r>
            <a:endParaRPr lang="en-US" altLang="zh-CN" sz="2200" b="1" dirty="0"/>
          </a:p>
          <a:p>
            <a:pPr lvl="1" eaLnBrk="1" hangingPunct="1">
              <a:lnSpc>
                <a:spcPct val="80000"/>
              </a:lnSpc>
              <a:buNone/>
            </a:pPr>
            <a:r>
              <a:rPr lang="en-US" altLang="zh-CN" sz="2000" b="1" dirty="0"/>
              <a:t>Input:  </a:t>
            </a:r>
            <a:r>
              <a:rPr lang="zh-CN" altLang="en-US" sz="2000" dirty="0"/>
              <a:t>正整数</a:t>
            </a:r>
            <a:r>
              <a:rPr lang="en-US" altLang="zh-CN" sz="2000" dirty="0"/>
              <a:t>n</a:t>
            </a:r>
            <a:r>
              <a:rPr lang="zh-CN" altLang="en-US" sz="2000" dirty="0"/>
              <a:t>。</a:t>
            </a:r>
            <a:endParaRPr lang="en-US" altLang="zh-CN" sz="2000" dirty="0"/>
          </a:p>
          <a:p>
            <a:pPr lvl="1" eaLnBrk="1" hangingPunct="1">
              <a:lnSpc>
                <a:spcPct val="80000"/>
              </a:lnSpc>
              <a:buNone/>
            </a:pPr>
            <a:r>
              <a:rPr lang="en-US" altLang="zh-CN" sz="2000" b="1" dirty="0"/>
              <a:t>Output</a:t>
            </a:r>
            <a:r>
              <a:rPr lang="en-US" altLang="zh-CN" sz="2000" dirty="0"/>
              <a:t>: </a:t>
            </a:r>
            <a:r>
              <a:rPr lang="zh-CN" altLang="en-US" sz="2000" dirty="0"/>
              <a:t>数</a:t>
            </a:r>
            <a:r>
              <a:rPr lang="en-US" altLang="zh-CN" sz="2000" dirty="0"/>
              <a:t>1,2,…,n</a:t>
            </a:r>
            <a:r>
              <a:rPr lang="zh-CN" altLang="en-US" sz="2000" dirty="0"/>
              <a:t>的所有可能排列。</a:t>
            </a:r>
            <a:endParaRPr lang="en-US" altLang="zh-CN" sz="2000" dirty="0"/>
          </a:p>
          <a:p>
            <a:pPr lvl="1" eaLnBrk="1" hangingPunct="1">
              <a:lnSpc>
                <a:spcPct val="80000"/>
              </a:lnSpc>
              <a:buNone/>
            </a:pPr>
            <a:r>
              <a:rPr lang="en-US" altLang="zh-CN" sz="2000" dirty="0"/>
              <a:t>    1</a:t>
            </a:r>
            <a:r>
              <a:rPr lang="en-US" altLang="zh-CN" sz="2000" b="1" dirty="0"/>
              <a:t>. for</a:t>
            </a:r>
            <a:r>
              <a:rPr lang="en-US" altLang="zh-CN" sz="2000" dirty="0"/>
              <a:t> j</a:t>
            </a:r>
            <a:r>
              <a:rPr lang="en-US" altLang="zh-CN" sz="2000" dirty="0">
                <a:sym typeface="Wingdings" panose="05000000000000000000" pitchFamily="2" charset="2"/>
              </a:rPr>
              <a:t>1 </a:t>
            </a:r>
            <a:r>
              <a:rPr lang="en-US" altLang="zh-CN" sz="2000" b="1" dirty="0">
                <a:sym typeface="Wingdings" panose="05000000000000000000" pitchFamily="2" charset="2"/>
              </a:rPr>
              <a:t>to</a:t>
            </a:r>
            <a:r>
              <a:rPr lang="en-US" altLang="zh-CN" sz="2000" dirty="0">
                <a:sym typeface="Wingdings" panose="05000000000000000000" pitchFamily="2" charset="2"/>
              </a:rPr>
              <a:t> n</a:t>
            </a:r>
            <a:endParaRPr lang="en-US" altLang="zh-CN" sz="2000"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2.    P[j]0</a:t>
            </a:r>
            <a:endParaRPr lang="en-US" altLang="zh-CN" sz="2000"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3</a:t>
            </a:r>
            <a:r>
              <a:rPr lang="en-US" altLang="zh-CN" sz="2000" b="1" dirty="0">
                <a:sym typeface="Wingdings" panose="05000000000000000000" pitchFamily="2" charset="2"/>
              </a:rPr>
              <a:t>. end for</a:t>
            </a:r>
            <a:endParaRPr lang="en-US" altLang="zh-CN" sz="2000" b="1"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4. perm2(n)</a:t>
            </a:r>
            <a:endParaRPr lang="en-US" altLang="zh-CN" sz="2000" dirty="0">
              <a:sym typeface="Wingdings" panose="05000000000000000000" pitchFamily="2" charset="2"/>
            </a:endParaRPr>
          </a:p>
          <a:p>
            <a:pPr lvl="1" eaLnBrk="1" hangingPunct="1">
              <a:lnSpc>
                <a:spcPct val="80000"/>
              </a:lnSpc>
              <a:buNone/>
            </a:pPr>
            <a:endParaRPr lang="en-US" altLang="zh-CN" sz="2000" dirty="0">
              <a:sym typeface="Wingdings" panose="05000000000000000000" pitchFamily="2" charset="2"/>
            </a:endParaRPr>
          </a:p>
          <a:p>
            <a:pPr lvl="1" eaLnBrk="1" hangingPunct="1">
              <a:lnSpc>
                <a:spcPct val="80000"/>
              </a:lnSpc>
              <a:buNone/>
            </a:pPr>
            <a:r>
              <a:rPr lang="zh-CN" altLang="en-US" dirty="0">
                <a:sym typeface="Wingdings" panose="05000000000000000000" pitchFamily="2" charset="2"/>
              </a:rPr>
              <a:t>过程 </a:t>
            </a:r>
            <a:r>
              <a:rPr lang="en-US" altLang="zh-CN" dirty="0">
                <a:sym typeface="Wingdings" panose="05000000000000000000" pitchFamily="2" charset="2"/>
              </a:rPr>
              <a:t>perm2(m)</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1. </a:t>
            </a:r>
            <a:r>
              <a:rPr lang="en-US" altLang="zh-CN" b="1" dirty="0">
                <a:sym typeface="Wingdings" panose="05000000000000000000" pitchFamily="2" charset="2"/>
              </a:rPr>
              <a:t>if</a:t>
            </a:r>
            <a:r>
              <a:rPr lang="en-US" altLang="zh-CN" dirty="0">
                <a:sym typeface="Wingdings" panose="05000000000000000000" pitchFamily="2" charset="2"/>
              </a:rPr>
              <a:t> m=0 </a:t>
            </a:r>
            <a:r>
              <a:rPr lang="en-US" altLang="zh-CN" b="1" dirty="0">
                <a:sym typeface="Wingdings" panose="05000000000000000000" pitchFamily="2" charset="2"/>
              </a:rPr>
              <a:t>then</a:t>
            </a:r>
            <a:r>
              <a:rPr lang="en-US" altLang="zh-CN" dirty="0">
                <a:sym typeface="Wingdings" panose="05000000000000000000" pitchFamily="2" charset="2"/>
              </a:rPr>
              <a:t> </a:t>
            </a:r>
            <a:r>
              <a:rPr lang="en-US" altLang="zh-CN" b="1" dirty="0">
                <a:sym typeface="Wingdings" panose="05000000000000000000" pitchFamily="2" charset="2"/>
              </a:rPr>
              <a:t>output</a:t>
            </a:r>
            <a:r>
              <a:rPr lang="en-US" altLang="zh-CN" dirty="0">
                <a:sym typeface="Wingdings" panose="05000000000000000000" pitchFamily="2" charset="2"/>
              </a:rPr>
              <a:t> P[1..n]</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2. </a:t>
            </a:r>
            <a:r>
              <a:rPr lang="en-US" altLang="zh-CN" b="1" dirty="0">
                <a:sym typeface="Wingdings" panose="05000000000000000000" pitchFamily="2" charset="2"/>
              </a:rPr>
              <a:t>else</a:t>
            </a:r>
            <a:endParaRPr lang="en-US" altLang="zh-CN" b="1"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3.     </a:t>
            </a:r>
            <a:r>
              <a:rPr lang="en-US" altLang="zh-CN" b="1" dirty="0">
                <a:sym typeface="Wingdings" panose="05000000000000000000" pitchFamily="2" charset="2"/>
              </a:rPr>
              <a:t>for</a:t>
            </a:r>
            <a:r>
              <a:rPr lang="en-US" altLang="zh-CN" dirty="0">
                <a:sym typeface="Wingdings" panose="05000000000000000000" pitchFamily="2" charset="2"/>
              </a:rPr>
              <a:t> j1 </a:t>
            </a:r>
            <a:r>
              <a:rPr lang="en-US" altLang="zh-CN" b="1" dirty="0">
                <a:sym typeface="Wingdings" panose="05000000000000000000" pitchFamily="2" charset="2"/>
              </a:rPr>
              <a:t>to</a:t>
            </a:r>
            <a:r>
              <a:rPr lang="en-US" altLang="zh-CN" dirty="0">
                <a:sym typeface="Wingdings" panose="05000000000000000000" pitchFamily="2" charset="2"/>
              </a:rPr>
              <a:t> n</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4.       </a:t>
            </a:r>
            <a:r>
              <a:rPr lang="en-US" altLang="zh-CN" b="1" dirty="0">
                <a:sym typeface="Wingdings" panose="05000000000000000000" pitchFamily="2" charset="2"/>
              </a:rPr>
              <a:t>if</a:t>
            </a:r>
            <a:r>
              <a:rPr lang="en-US" altLang="zh-CN" dirty="0">
                <a:sym typeface="Wingdings" panose="05000000000000000000" pitchFamily="2" charset="2"/>
              </a:rPr>
              <a:t> P[j]=0 </a:t>
            </a:r>
            <a:r>
              <a:rPr lang="en-US" altLang="zh-CN" b="1" dirty="0">
                <a:sym typeface="Wingdings" panose="05000000000000000000" pitchFamily="2" charset="2"/>
              </a:rPr>
              <a:t>then</a:t>
            </a:r>
            <a:r>
              <a:rPr lang="en-US" altLang="zh-CN" dirty="0">
                <a:sym typeface="Wingdings" panose="05000000000000000000" pitchFamily="2" charset="2"/>
              </a:rPr>
              <a:t> </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2.         P[j]m</a:t>
            </a:r>
            <a:endParaRPr lang="en-US" altLang="zh-CN" dirty="0">
              <a:sym typeface="Wingdings" panose="05000000000000000000" pitchFamily="2" charset="2"/>
            </a:endParaRPr>
          </a:p>
          <a:p>
            <a:pPr lvl="1" eaLnBrk="1" hangingPunct="1">
              <a:lnSpc>
                <a:spcPct val="80000"/>
              </a:lnSpc>
              <a:buNone/>
            </a:pPr>
            <a:r>
              <a:rPr lang="en-US" altLang="zh-CN" dirty="0"/>
              <a:t>    6.         </a:t>
            </a:r>
            <a:r>
              <a:rPr lang="en-US" altLang="zh-CN" dirty="0">
                <a:solidFill>
                  <a:srgbClr val="FF0000"/>
                </a:solidFill>
              </a:rPr>
              <a:t>perm2(m-1)</a:t>
            </a:r>
            <a:endParaRPr lang="en-US" altLang="zh-CN" dirty="0">
              <a:solidFill>
                <a:srgbClr val="FF0000"/>
              </a:solidFill>
            </a:endParaRPr>
          </a:p>
          <a:p>
            <a:pPr lvl="1" eaLnBrk="1" hangingPunct="1">
              <a:lnSpc>
                <a:spcPct val="80000"/>
              </a:lnSpc>
              <a:buNone/>
            </a:pPr>
            <a:r>
              <a:rPr lang="en-US" altLang="zh-CN" dirty="0"/>
              <a:t>    7.         P[j]</a:t>
            </a:r>
            <a:r>
              <a:rPr lang="en-US" altLang="zh-CN" dirty="0">
                <a:sym typeface="Wingdings" panose="05000000000000000000" pitchFamily="2" charset="2"/>
              </a:rPr>
              <a:t>0</a:t>
            </a:r>
            <a:endParaRPr lang="en-US" altLang="zh-CN" dirty="0">
              <a:sym typeface="Wingdings" panose="05000000000000000000" pitchFamily="2" charset="2"/>
            </a:endParaRPr>
          </a:p>
          <a:p>
            <a:pPr lvl="1" eaLnBrk="1" hangingPunct="1">
              <a:lnSpc>
                <a:spcPct val="80000"/>
              </a:lnSpc>
              <a:buNone/>
            </a:pPr>
            <a:r>
              <a:rPr lang="en-US" altLang="zh-CN" dirty="0"/>
              <a:t>    8.       </a:t>
            </a:r>
            <a:r>
              <a:rPr lang="en-US" altLang="zh-CN" b="1" dirty="0"/>
              <a:t>end</a:t>
            </a:r>
            <a:r>
              <a:rPr lang="en-US" altLang="zh-CN" dirty="0"/>
              <a:t> </a:t>
            </a:r>
            <a:r>
              <a:rPr lang="en-US" altLang="zh-CN" b="1" dirty="0"/>
              <a:t>if</a:t>
            </a:r>
            <a:endParaRPr lang="en-US" altLang="zh-CN" b="1" dirty="0"/>
          </a:p>
          <a:p>
            <a:pPr lvl="1" eaLnBrk="1" hangingPunct="1">
              <a:lnSpc>
                <a:spcPct val="80000"/>
              </a:lnSpc>
              <a:buNone/>
            </a:pPr>
            <a:r>
              <a:rPr lang="en-US" altLang="zh-CN" dirty="0"/>
              <a:t>    9.    </a:t>
            </a:r>
            <a:r>
              <a:rPr lang="en-US" altLang="zh-CN" b="1" dirty="0"/>
              <a:t>end for</a:t>
            </a:r>
            <a:endParaRPr lang="en-US" altLang="zh-CN" b="1" dirty="0"/>
          </a:p>
          <a:p>
            <a:pPr lvl="1" eaLnBrk="1" hangingPunct="1">
              <a:lnSpc>
                <a:spcPct val="80000"/>
              </a:lnSpc>
              <a:buNone/>
            </a:pPr>
            <a:r>
              <a:rPr lang="en-US" altLang="zh-CN" dirty="0"/>
              <a:t>    10. </a:t>
            </a:r>
            <a:r>
              <a:rPr lang="en-US" altLang="zh-CN" b="1" dirty="0"/>
              <a:t>end if</a:t>
            </a:r>
            <a:r>
              <a:rPr lang="en-US" altLang="zh-CN" sz="2000" dirty="0">
                <a:sym typeface="Wingdings" panose="05000000000000000000" pitchFamily="2" charset="2"/>
              </a:rPr>
              <a:t>                                                            </a:t>
            </a:r>
            <a:endParaRPr lang="en-US" altLang="zh-CN" sz="2000" dirty="0">
              <a:sym typeface="Wingdings" panose="05000000000000000000" pitchFamily="2"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页脚占位符 3"/>
          <p:cNvSpPr>
            <a:spLocks noGrp="1"/>
          </p:cNvSpPr>
          <p:nvPr>
            <p:ph type="ftr" sz="quarter" idx="10"/>
          </p:nvPr>
        </p:nvSpPr>
        <p:spPr>
          <a:xfrm>
            <a:off x="2916238" y="6381750"/>
            <a:ext cx="3816350" cy="431800"/>
          </a:xfrm>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87042" name="矩形 5"/>
          <p:cNvSpPr/>
          <p:nvPr/>
        </p:nvSpPr>
        <p:spPr>
          <a:xfrm>
            <a:off x="1295400" y="2047875"/>
            <a:ext cx="1152525" cy="923925"/>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P[1] =3</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perm2(2)</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P[1] =0</a:t>
            </a:r>
            <a:endParaRPr lang="zh-CN" altLang="en-US" sz="1800" dirty="0">
              <a:latin typeface="Arial" panose="020B0604020202020204" pitchFamily="34" charset="0"/>
              <a:ea typeface="宋体" panose="02010600030101010101" pitchFamily="2" charset="-122"/>
            </a:endParaRPr>
          </a:p>
        </p:txBody>
      </p:sp>
      <p:sp>
        <p:nvSpPr>
          <p:cNvPr id="87043" name="矩形 6"/>
          <p:cNvSpPr/>
          <p:nvPr/>
        </p:nvSpPr>
        <p:spPr>
          <a:xfrm>
            <a:off x="3095625" y="1565275"/>
            <a:ext cx="1152525" cy="922338"/>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2</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a:t>
            </a:r>
            <a:r>
              <a:rPr lang="en-US" altLang="zh-CN" sz="1800" dirty="0">
                <a:solidFill>
                  <a:srgbClr val="FF0000"/>
                </a:solidFill>
                <a:latin typeface="Arial" panose="020B0604020202020204" pitchFamily="34" charset="0"/>
                <a:ea typeface="宋体" panose="02010600030101010101" pitchFamily="2" charset="-122"/>
              </a:rPr>
              <a:t>1</a:t>
            </a:r>
            <a:r>
              <a:rPr lang="zh-CN" altLang="en-US" sz="1800" dirty="0">
                <a:solidFill>
                  <a:srgbClr val="FF0000"/>
                </a:solidFill>
                <a:latin typeface="Arial" panose="020B0604020202020204" pitchFamily="34" charset="0"/>
                <a:ea typeface="宋体" panose="02010600030101010101" pitchFamily="2" charset="-122"/>
              </a:rPr>
              <a:t>)</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 =0</a:t>
            </a:r>
            <a:endParaRPr lang="zh-CN" altLang="en-US" sz="1800" dirty="0">
              <a:latin typeface="Arial" panose="020B0604020202020204" pitchFamily="34" charset="0"/>
              <a:ea typeface="宋体" panose="02010600030101010101" pitchFamily="2" charset="-122"/>
            </a:endParaRPr>
          </a:p>
        </p:txBody>
      </p:sp>
      <p:sp>
        <p:nvSpPr>
          <p:cNvPr id="87044" name="矩形 7"/>
          <p:cNvSpPr/>
          <p:nvPr/>
        </p:nvSpPr>
        <p:spPr>
          <a:xfrm>
            <a:off x="3095625" y="2695575"/>
            <a:ext cx="1152525" cy="923925"/>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3</a:t>
            </a:r>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2</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a:t>
            </a:r>
            <a:r>
              <a:rPr lang="en-US" altLang="zh-CN" sz="1800" dirty="0">
                <a:solidFill>
                  <a:srgbClr val="FF0000"/>
                </a:solidFill>
                <a:latin typeface="Arial" panose="020B0604020202020204" pitchFamily="34" charset="0"/>
                <a:ea typeface="宋体" panose="02010600030101010101" pitchFamily="2" charset="-122"/>
              </a:rPr>
              <a:t>1</a:t>
            </a:r>
            <a:r>
              <a:rPr lang="zh-CN" altLang="en-US" sz="1800" dirty="0">
                <a:solidFill>
                  <a:srgbClr val="FF0000"/>
                </a:solidFill>
                <a:latin typeface="Arial" panose="020B0604020202020204" pitchFamily="34" charset="0"/>
                <a:ea typeface="宋体" panose="02010600030101010101" pitchFamily="2" charset="-122"/>
              </a:rPr>
              <a:t>)</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3</a:t>
            </a:r>
            <a:r>
              <a:rPr lang="zh-CN" altLang="en-US" sz="1800" dirty="0">
                <a:latin typeface="Arial" panose="020B0604020202020204" pitchFamily="34" charset="0"/>
                <a:ea typeface="宋体" panose="02010600030101010101" pitchFamily="2" charset="-122"/>
              </a:rPr>
              <a:t>] =0</a:t>
            </a:r>
            <a:endParaRPr lang="zh-CN" altLang="en-US" sz="1800" dirty="0">
              <a:latin typeface="Arial" panose="020B0604020202020204" pitchFamily="34" charset="0"/>
              <a:ea typeface="宋体" panose="02010600030101010101" pitchFamily="2" charset="-122"/>
            </a:endParaRPr>
          </a:p>
        </p:txBody>
      </p:sp>
      <p:cxnSp>
        <p:nvCxnSpPr>
          <p:cNvPr id="11" name="直接箭头连接符 10"/>
          <p:cNvCxnSpPr/>
          <p:nvPr/>
        </p:nvCxnSpPr>
        <p:spPr>
          <a:xfrm flipV="1">
            <a:off x="2339975" y="2047875"/>
            <a:ext cx="503238" cy="4841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2339975" y="2509838"/>
            <a:ext cx="503238" cy="647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047" name="矩形 16"/>
          <p:cNvSpPr/>
          <p:nvPr/>
        </p:nvSpPr>
        <p:spPr>
          <a:xfrm>
            <a:off x="4895850" y="1557338"/>
            <a:ext cx="1152525" cy="922337"/>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3</a:t>
            </a:r>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a:t>
            </a:r>
            <a:r>
              <a:rPr lang="en-US" altLang="zh-CN" sz="1800" dirty="0">
                <a:solidFill>
                  <a:srgbClr val="FF0000"/>
                </a:solidFill>
                <a:latin typeface="Arial" panose="020B0604020202020204" pitchFamily="34" charset="0"/>
                <a:ea typeface="宋体" panose="02010600030101010101" pitchFamily="2" charset="-122"/>
              </a:rPr>
              <a:t>0</a:t>
            </a:r>
            <a:r>
              <a:rPr lang="zh-CN" altLang="en-US" sz="1800" dirty="0">
                <a:solidFill>
                  <a:srgbClr val="FF0000"/>
                </a:solidFill>
                <a:latin typeface="Arial" panose="020B0604020202020204" pitchFamily="34" charset="0"/>
                <a:ea typeface="宋体" panose="02010600030101010101" pitchFamily="2" charset="-122"/>
              </a:rPr>
              <a:t>)</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3</a:t>
            </a:r>
            <a:r>
              <a:rPr lang="zh-CN" altLang="en-US" sz="1800" dirty="0">
                <a:latin typeface="Arial" panose="020B0604020202020204" pitchFamily="34" charset="0"/>
                <a:ea typeface="宋体" panose="02010600030101010101" pitchFamily="2" charset="-122"/>
              </a:rPr>
              <a:t>] =0</a:t>
            </a:r>
            <a:endParaRPr lang="zh-CN" altLang="en-US" sz="1800" dirty="0">
              <a:latin typeface="Arial" panose="020B0604020202020204" pitchFamily="34" charset="0"/>
              <a:ea typeface="宋体" panose="02010600030101010101" pitchFamily="2" charset="-122"/>
            </a:endParaRPr>
          </a:p>
        </p:txBody>
      </p:sp>
      <p:cxnSp>
        <p:nvCxnSpPr>
          <p:cNvPr id="19" name="直接箭头连接符 18"/>
          <p:cNvCxnSpPr>
            <a:stCxn id="87043" idx="3"/>
            <a:endCxn id="87047" idx="1"/>
          </p:cNvCxnSpPr>
          <p:nvPr/>
        </p:nvCxnSpPr>
        <p:spPr>
          <a:xfrm flipV="1">
            <a:off x="4248150" y="2017713"/>
            <a:ext cx="647700" cy="79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049" name="矩形 19"/>
          <p:cNvSpPr/>
          <p:nvPr/>
        </p:nvSpPr>
        <p:spPr>
          <a:xfrm>
            <a:off x="4932363" y="2695575"/>
            <a:ext cx="1152525" cy="923925"/>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a:t>
            </a:r>
            <a:r>
              <a:rPr lang="en-US" altLang="zh-CN" sz="1800" dirty="0">
                <a:solidFill>
                  <a:srgbClr val="FF0000"/>
                </a:solidFill>
                <a:latin typeface="Arial" panose="020B0604020202020204" pitchFamily="34" charset="0"/>
                <a:ea typeface="宋体" panose="02010600030101010101" pitchFamily="2" charset="-122"/>
              </a:rPr>
              <a:t>0</a:t>
            </a:r>
            <a:r>
              <a:rPr lang="zh-CN" altLang="en-US" sz="1800" dirty="0">
                <a:solidFill>
                  <a:srgbClr val="FF0000"/>
                </a:solidFill>
                <a:latin typeface="Arial" panose="020B0604020202020204" pitchFamily="34" charset="0"/>
                <a:ea typeface="宋体" panose="02010600030101010101" pitchFamily="2" charset="-122"/>
              </a:rPr>
              <a:t>)</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 =0</a:t>
            </a:r>
            <a:endParaRPr lang="zh-CN" altLang="en-US" sz="1800" dirty="0">
              <a:latin typeface="Arial" panose="020B0604020202020204" pitchFamily="34" charset="0"/>
              <a:ea typeface="宋体" panose="02010600030101010101" pitchFamily="2" charset="-122"/>
            </a:endParaRPr>
          </a:p>
        </p:txBody>
      </p:sp>
      <p:cxnSp>
        <p:nvCxnSpPr>
          <p:cNvPr id="22" name="直接箭头连接符 21"/>
          <p:cNvCxnSpPr>
            <a:stCxn id="87044" idx="3"/>
            <a:endCxn id="87049" idx="1"/>
          </p:cNvCxnSpPr>
          <p:nvPr/>
        </p:nvCxnSpPr>
        <p:spPr>
          <a:xfrm>
            <a:off x="4248150" y="3157538"/>
            <a:ext cx="6842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左大括号 23"/>
          <p:cNvSpPr/>
          <p:nvPr/>
        </p:nvSpPr>
        <p:spPr>
          <a:xfrm>
            <a:off x="2987675" y="1638300"/>
            <a:ext cx="179388" cy="80803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5" name="左大括号 24"/>
          <p:cNvSpPr/>
          <p:nvPr/>
        </p:nvSpPr>
        <p:spPr>
          <a:xfrm>
            <a:off x="2951163" y="2768600"/>
            <a:ext cx="180975" cy="80803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6" name="左大括号 25"/>
          <p:cNvSpPr/>
          <p:nvPr/>
        </p:nvSpPr>
        <p:spPr>
          <a:xfrm>
            <a:off x="4824413" y="1624013"/>
            <a:ext cx="179388" cy="80803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7" name="左大括号 26"/>
          <p:cNvSpPr/>
          <p:nvPr/>
        </p:nvSpPr>
        <p:spPr>
          <a:xfrm>
            <a:off x="4824413" y="2752725"/>
            <a:ext cx="179388" cy="80803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30" name="左大括号 29"/>
          <p:cNvSpPr/>
          <p:nvPr/>
        </p:nvSpPr>
        <p:spPr>
          <a:xfrm>
            <a:off x="1150938" y="2105025"/>
            <a:ext cx="180975" cy="80645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7056" name="矩形 30"/>
          <p:cNvSpPr/>
          <p:nvPr/>
        </p:nvSpPr>
        <p:spPr>
          <a:xfrm>
            <a:off x="1223963" y="3500438"/>
            <a:ext cx="1152525" cy="923925"/>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 =3</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perm2(2)</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2</a:t>
            </a:r>
            <a:r>
              <a:rPr lang="zh-CN" altLang="en-US" sz="1800" dirty="0">
                <a:latin typeface="Arial" panose="020B0604020202020204" pitchFamily="34" charset="0"/>
                <a:ea typeface="宋体" panose="02010600030101010101" pitchFamily="2" charset="-122"/>
              </a:rPr>
              <a:t>] =0</a:t>
            </a:r>
            <a:endParaRPr lang="zh-CN" altLang="en-US" sz="1800" dirty="0">
              <a:latin typeface="Arial" panose="020B0604020202020204" pitchFamily="34" charset="0"/>
              <a:ea typeface="宋体" panose="02010600030101010101" pitchFamily="2" charset="-122"/>
            </a:endParaRPr>
          </a:p>
        </p:txBody>
      </p:sp>
      <p:sp>
        <p:nvSpPr>
          <p:cNvPr id="32" name="左大括号 31"/>
          <p:cNvSpPr/>
          <p:nvPr/>
        </p:nvSpPr>
        <p:spPr>
          <a:xfrm>
            <a:off x="1079500" y="3557588"/>
            <a:ext cx="179388" cy="80803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7058" name="矩形 32"/>
          <p:cNvSpPr/>
          <p:nvPr/>
        </p:nvSpPr>
        <p:spPr>
          <a:xfrm>
            <a:off x="1223963" y="4868863"/>
            <a:ext cx="1152525" cy="923925"/>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3</a:t>
            </a:r>
            <a:r>
              <a:rPr lang="zh-CN" altLang="en-US" sz="1800" dirty="0">
                <a:latin typeface="Arial" panose="020B0604020202020204" pitchFamily="34" charset="0"/>
                <a:ea typeface="宋体" panose="02010600030101010101" pitchFamily="2" charset="-122"/>
              </a:rPr>
              <a:t>] =3</a:t>
            </a:r>
            <a:endParaRPr lang="zh-CN" altLang="en-US" sz="1800" dirty="0">
              <a:latin typeface="Arial" panose="020B0604020202020204" pitchFamily="34" charset="0"/>
              <a:ea typeface="宋体" panose="02010600030101010101" pitchFamily="2" charset="-122"/>
            </a:endParaRPr>
          </a:p>
          <a:p>
            <a:pPr indent="0"/>
            <a:r>
              <a:rPr lang="zh-CN" altLang="en-US" sz="1800" dirty="0">
                <a:solidFill>
                  <a:srgbClr val="FF0000"/>
                </a:solidFill>
                <a:latin typeface="Arial" panose="020B0604020202020204" pitchFamily="34" charset="0"/>
                <a:ea typeface="宋体" panose="02010600030101010101" pitchFamily="2" charset="-122"/>
              </a:rPr>
              <a:t>perm2(2)</a:t>
            </a:r>
            <a:endParaRPr lang="zh-CN" altLang="en-US" sz="1800" dirty="0">
              <a:solidFill>
                <a:srgbClr val="FF0000"/>
              </a:solidFill>
              <a:latin typeface="Arial" panose="020B0604020202020204" pitchFamily="34" charset="0"/>
              <a:ea typeface="宋体" panose="02010600030101010101" pitchFamily="2" charset="-122"/>
            </a:endParaRPr>
          </a:p>
          <a:p>
            <a:pPr indent="0"/>
            <a:r>
              <a:rPr lang="zh-CN" altLang="en-US" sz="1800" dirty="0">
                <a:latin typeface="Arial" panose="020B0604020202020204" pitchFamily="34" charset="0"/>
                <a:ea typeface="宋体" panose="02010600030101010101" pitchFamily="2" charset="-122"/>
              </a:rPr>
              <a:t>P[</a:t>
            </a:r>
            <a:r>
              <a:rPr lang="en-US" altLang="zh-CN" sz="1800" dirty="0">
                <a:latin typeface="Arial" panose="020B0604020202020204" pitchFamily="34" charset="0"/>
                <a:ea typeface="宋体" panose="02010600030101010101" pitchFamily="2" charset="-122"/>
              </a:rPr>
              <a:t>3</a:t>
            </a:r>
            <a:r>
              <a:rPr lang="zh-CN" altLang="en-US" sz="1800" dirty="0">
                <a:latin typeface="Arial" panose="020B0604020202020204" pitchFamily="34" charset="0"/>
                <a:ea typeface="宋体" panose="02010600030101010101" pitchFamily="2" charset="-122"/>
              </a:rPr>
              <a:t>] =0</a:t>
            </a:r>
            <a:endParaRPr lang="zh-CN" altLang="en-US" sz="1800" dirty="0">
              <a:latin typeface="Arial" panose="020B0604020202020204" pitchFamily="34" charset="0"/>
              <a:ea typeface="宋体" panose="02010600030101010101" pitchFamily="2" charset="-122"/>
            </a:endParaRPr>
          </a:p>
        </p:txBody>
      </p:sp>
      <p:sp>
        <p:nvSpPr>
          <p:cNvPr id="34" name="左大括号 33"/>
          <p:cNvSpPr/>
          <p:nvPr/>
        </p:nvSpPr>
        <p:spPr>
          <a:xfrm>
            <a:off x="1079500" y="4926013"/>
            <a:ext cx="179388" cy="80645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7060" name="矩形 34"/>
          <p:cNvSpPr/>
          <p:nvPr/>
        </p:nvSpPr>
        <p:spPr>
          <a:xfrm>
            <a:off x="1106488" y="712788"/>
            <a:ext cx="2484437" cy="369887"/>
          </a:xfrm>
          <a:prstGeom prst="rect">
            <a:avLst/>
          </a:prstGeom>
          <a:noFill/>
          <a:ln w="9525">
            <a:noFill/>
          </a:ln>
        </p:spPr>
        <p:txBody>
          <a:bodyPr anchor="t" anchorCtr="0">
            <a:spAutoFit/>
          </a:bodyPr>
          <a:p>
            <a:pPr indent="0"/>
            <a:r>
              <a:rPr lang="zh-CN" altLang="en-US" sz="1800" dirty="0">
                <a:latin typeface="Arial" panose="020B0604020202020204" pitchFamily="34" charset="0"/>
                <a:ea typeface="宋体" panose="02010600030101010101" pitchFamily="2" charset="-122"/>
              </a:rPr>
              <a:t>初始：P[1</a:t>
            </a:r>
            <a:r>
              <a:rPr lang="en-US" altLang="zh-CN" sz="1800" dirty="0">
                <a:latin typeface="Arial" panose="020B0604020202020204" pitchFamily="34" charset="0"/>
                <a:ea typeface="宋体" panose="02010600030101010101" pitchFamily="2" charset="-122"/>
              </a:rPr>
              <a:t>,2,3</a:t>
            </a:r>
            <a:r>
              <a:rPr lang="zh-CN" altLang="en-US" sz="1800" dirty="0">
                <a:latin typeface="Arial" panose="020B0604020202020204" pitchFamily="34" charset="0"/>
                <a:ea typeface="宋体" panose="02010600030101010101" pitchFamily="2" charset="-122"/>
              </a:rPr>
              <a:t>] =</a:t>
            </a:r>
            <a:r>
              <a:rPr lang="en-US" altLang="zh-CN" sz="1800" dirty="0">
                <a:latin typeface="Arial" panose="020B0604020202020204" pitchFamily="34" charset="0"/>
                <a:ea typeface="宋体" panose="02010600030101010101" pitchFamily="2" charset="-122"/>
              </a:rPr>
              <a:t>{0,0,0}</a:t>
            </a:r>
            <a:endParaRPr lang="zh-CN" altLang="en-US" sz="1800" dirty="0">
              <a:latin typeface="Arial" panose="020B0604020202020204" pitchFamily="34" charset="0"/>
              <a:ea typeface="宋体" panose="02010600030101010101" pitchFamily="2" charset="-122"/>
            </a:endParaRPr>
          </a:p>
        </p:txBody>
      </p:sp>
      <p:cxnSp>
        <p:nvCxnSpPr>
          <p:cNvPr id="37" name="直接箭头连接符 36"/>
          <p:cNvCxnSpPr>
            <a:stCxn id="87044" idx="3"/>
            <a:endCxn id="87049" idx="1"/>
          </p:cNvCxnSpPr>
          <p:nvPr/>
        </p:nvCxnSpPr>
        <p:spPr>
          <a:xfrm flipV="1">
            <a:off x="304800" y="2503488"/>
            <a:ext cx="649288" cy="79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87044" idx="3"/>
            <a:endCxn id="87049" idx="1"/>
          </p:cNvCxnSpPr>
          <p:nvPr/>
        </p:nvCxnSpPr>
        <p:spPr>
          <a:xfrm flipV="1">
            <a:off x="250825" y="3948113"/>
            <a:ext cx="649288" cy="79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87044" idx="3"/>
            <a:endCxn id="87049" idx="1"/>
          </p:cNvCxnSpPr>
          <p:nvPr/>
        </p:nvCxnSpPr>
        <p:spPr>
          <a:xfrm flipV="1">
            <a:off x="250825" y="5329238"/>
            <a:ext cx="649288" cy="79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064" name="矩形 39"/>
          <p:cNvSpPr/>
          <p:nvPr/>
        </p:nvSpPr>
        <p:spPr>
          <a:xfrm>
            <a:off x="3097213" y="3716338"/>
            <a:ext cx="538162" cy="369887"/>
          </a:xfrm>
          <a:prstGeom prst="rect">
            <a:avLst/>
          </a:prstGeom>
          <a:noFill/>
          <a:ln w="9525">
            <a:noFill/>
          </a:ln>
        </p:spPr>
        <p:txBody>
          <a:bodyPr anchor="t" anchorCtr="0">
            <a:spAutoFit/>
          </a:bodyPr>
          <a:p>
            <a:pPr indent="0"/>
            <a:r>
              <a:rPr lang="en-US" altLang="zh-CN" sz="1800" b="1" dirty="0">
                <a:latin typeface="Arial" panose="020B0604020202020204" pitchFamily="34" charset="0"/>
                <a:ea typeface="宋体" panose="02010600030101010101" pitchFamily="2" charset="-122"/>
              </a:rPr>
              <a:t>…</a:t>
            </a:r>
            <a:endParaRPr lang="zh-CN" altLang="en-US" sz="1800" b="1" dirty="0">
              <a:latin typeface="Arial" panose="020B0604020202020204" pitchFamily="34" charset="0"/>
              <a:ea typeface="宋体" panose="02010600030101010101" pitchFamily="2" charset="-122"/>
            </a:endParaRPr>
          </a:p>
        </p:txBody>
      </p:sp>
      <p:cxnSp>
        <p:nvCxnSpPr>
          <p:cNvPr id="41" name="直接箭头连接符 40"/>
          <p:cNvCxnSpPr>
            <a:stCxn id="87044" idx="3"/>
            <a:endCxn id="87049" idx="1"/>
          </p:cNvCxnSpPr>
          <p:nvPr/>
        </p:nvCxnSpPr>
        <p:spPr>
          <a:xfrm flipV="1">
            <a:off x="2349500" y="3963988"/>
            <a:ext cx="647700" cy="79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066" name="矩形 41"/>
          <p:cNvSpPr/>
          <p:nvPr/>
        </p:nvSpPr>
        <p:spPr>
          <a:xfrm>
            <a:off x="3076575" y="5145088"/>
            <a:ext cx="538163" cy="368300"/>
          </a:xfrm>
          <a:prstGeom prst="rect">
            <a:avLst/>
          </a:prstGeom>
          <a:noFill/>
          <a:ln w="9525">
            <a:noFill/>
          </a:ln>
        </p:spPr>
        <p:txBody>
          <a:bodyPr anchor="t" anchorCtr="0">
            <a:spAutoFit/>
          </a:bodyPr>
          <a:p>
            <a:pPr indent="0"/>
            <a:r>
              <a:rPr lang="en-US" altLang="zh-CN" sz="1800" b="1" dirty="0">
                <a:latin typeface="Arial" panose="020B0604020202020204" pitchFamily="34" charset="0"/>
                <a:ea typeface="宋体" panose="02010600030101010101" pitchFamily="2" charset="-122"/>
              </a:rPr>
              <a:t>…</a:t>
            </a:r>
            <a:endParaRPr lang="zh-CN" altLang="en-US" sz="1800" b="1" dirty="0">
              <a:latin typeface="Arial" panose="020B0604020202020204" pitchFamily="34" charset="0"/>
              <a:ea typeface="宋体" panose="02010600030101010101" pitchFamily="2" charset="-122"/>
            </a:endParaRPr>
          </a:p>
        </p:txBody>
      </p:sp>
      <p:cxnSp>
        <p:nvCxnSpPr>
          <p:cNvPr id="43" name="直接箭头连接符 42"/>
          <p:cNvCxnSpPr>
            <a:stCxn id="87044" idx="3"/>
            <a:endCxn id="87049" idx="1"/>
          </p:cNvCxnSpPr>
          <p:nvPr/>
        </p:nvCxnSpPr>
        <p:spPr>
          <a:xfrm flipV="1">
            <a:off x="2327275" y="5391150"/>
            <a:ext cx="647700" cy="79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7068" name="图片 45"/>
          <p:cNvPicPr>
            <a:picLocks noChangeAspect="1"/>
          </p:cNvPicPr>
          <p:nvPr/>
        </p:nvPicPr>
        <p:blipFill>
          <a:blip r:embed="rId1"/>
          <a:stretch>
            <a:fillRect/>
          </a:stretch>
        </p:blipFill>
        <p:spPr>
          <a:xfrm>
            <a:off x="6062663" y="207963"/>
            <a:ext cx="2362200" cy="1200150"/>
          </a:xfrm>
          <a:prstGeom prst="rect">
            <a:avLst/>
          </a:prstGeom>
          <a:noFill/>
          <a:ln w="9525">
            <a:noFill/>
          </a:ln>
        </p:spPr>
      </p:pic>
      <p:pic>
        <p:nvPicPr>
          <p:cNvPr id="87069" name="图片 46"/>
          <p:cNvPicPr>
            <a:picLocks noChangeAspect="1"/>
          </p:cNvPicPr>
          <p:nvPr/>
        </p:nvPicPr>
        <p:blipFill>
          <a:blip r:embed="rId2"/>
          <a:stretch>
            <a:fillRect/>
          </a:stretch>
        </p:blipFill>
        <p:spPr>
          <a:xfrm>
            <a:off x="6084888" y="1938338"/>
            <a:ext cx="3043237" cy="28321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页脚占位符 4"/>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89090" name="Rectangle 2"/>
          <p:cNvSpPr>
            <a:spLocks noGrp="1"/>
          </p:cNvSpPr>
          <p:nvPr>
            <p:ph type="title"/>
          </p:nvPr>
        </p:nvSpPr>
        <p:spPr/>
        <p:txBody>
          <a:bodyPr vert="horz" wrap="square" lIns="91440" tIns="45720" rIns="91440" bIns="45720" anchor="ctr" anchorCtr="0"/>
          <a:p>
            <a:pPr eaLnBrk="1" hangingPunct="1"/>
            <a:r>
              <a:rPr lang="zh-CN" altLang="en-US" dirty="0"/>
              <a:t>算法分析</a:t>
            </a:r>
            <a:endParaRPr lang="en-US" altLang="zh-CN" dirty="0"/>
          </a:p>
        </p:txBody>
      </p:sp>
      <p:sp>
        <p:nvSpPr>
          <p:cNvPr id="139267" name="Rectangle 3"/>
          <p:cNvSpPr>
            <a:spLocks noGrp="1" noChangeArrowheads="1"/>
          </p:cNvSpPr>
          <p:nvPr>
            <p:ph type="body" sz="half" idx="1"/>
          </p:nvPr>
        </p:nvSpPr>
        <p:spPr>
          <a:xfrm>
            <a:off x="817563" y="1125538"/>
            <a:ext cx="8218488" cy="45656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由于存在有</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n!</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个排列，过程</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perm2</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的第</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步总共有</a:t>
            </a:r>
            <a:r>
              <a:rPr kumimoji="0" lang="en-US" altLang="zh-CN" sz="2100" b="0" i="0" u="none" strike="noStrike" kern="0" cap="none" spc="0" normalizeH="0" baseline="0" noProof="0" dirty="0" err="1">
                <a:ln>
                  <a:noFill/>
                </a:ln>
                <a:solidFill>
                  <a:schemeClr val="accent2"/>
                </a:solidFill>
                <a:effectLst/>
                <a:uLnTx/>
                <a:uFillTx/>
                <a:latin typeface="+mn-lt"/>
                <a:ea typeface="+mn-ea"/>
                <a:cs typeface="+mn-cs"/>
              </a:rPr>
              <a:t>nn</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个排列输出。</a:t>
            </a:r>
            <a:endParaRPr kumimoji="0" lang="en-US" altLang="zh-CN" sz="21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7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现在计算</a:t>
            </a:r>
            <a:r>
              <a:rPr kumimoji="0" lang="en-US" altLang="zh-CN" sz="2100" b="0" i="0" u="none" strike="noStrike" kern="0" cap="none" spc="0" normalizeH="0" baseline="0" noProof="0" dirty="0">
                <a:ln>
                  <a:noFill/>
                </a:ln>
                <a:solidFill>
                  <a:schemeClr val="accent2"/>
                </a:solidFill>
                <a:effectLst/>
                <a:uLnTx/>
                <a:uFillTx/>
                <a:latin typeface="+mn-lt"/>
                <a:ea typeface="+mn-ea"/>
                <a:cs typeface="+mn-cs"/>
              </a:rPr>
              <a:t>for</a:t>
            </a:r>
            <a:r>
              <a:rPr kumimoji="0" lang="zh-CN" altLang="en-US" sz="2100" b="0" i="0" u="none" strike="noStrike" kern="0" cap="none" spc="0" normalizeH="0" baseline="0" noProof="0" dirty="0">
                <a:ln>
                  <a:noFill/>
                </a:ln>
                <a:solidFill>
                  <a:schemeClr val="accent2"/>
                </a:solidFill>
                <a:effectLst/>
                <a:uLnTx/>
                <a:uFillTx/>
                <a:latin typeface="+mn-lt"/>
                <a:ea typeface="+mn-ea"/>
                <a:cs typeface="+mn-cs"/>
              </a:rPr>
              <a:t>循环的迭代次数</a:t>
            </a:r>
            <a:endParaRPr kumimoji="0" lang="en-US" altLang="zh-CN" sz="21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for</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循环在每一个调用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perm2(m)</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中被执行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次，再加上递归调用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perm2(m-1)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中执行的次数。</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当过程</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perm2</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以调用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perm2 (m)(m&gt;0)</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形式调用时，数组</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恰好包含</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，并且由于递归调用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perm2 ( m-1)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将被执行恰好</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次。因为在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m=0</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时，迭代次数是</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，所以迭代的次数可以用递推式表示如下</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graphicFrame>
        <p:nvGraphicFramePr>
          <p:cNvPr id="139268" name="Object 4"/>
          <p:cNvGraphicFramePr>
            <a:graphicFrameLocks noGrp="1" noChangeAspect="1"/>
          </p:cNvGraphicFramePr>
          <p:nvPr>
            <p:ph sz="half" idx="2"/>
          </p:nvPr>
        </p:nvGraphicFramePr>
        <p:xfrm>
          <a:off x="2571750" y="4572000"/>
          <a:ext cx="3821113" cy="641350"/>
        </p:xfrm>
        <a:graphic>
          <a:graphicData uri="http://schemas.openxmlformats.org/presentationml/2006/ole">
            <mc:AlternateContent xmlns:mc="http://schemas.openxmlformats.org/markup-compatibility/2006">
              <mc:Choice xmlns:v="urn:schemas-microsoft-com:vml" Requires="v">
                <p:oleObj spid="_x0000_s3099" name="" r:id="rId1" imgW="1600200" imgH="254000" progId="Equation.3">
                  <p:embed/>
                </p:oleObj>
              </mc:Choice>
              <mc:Fallback>
                <p:oleObj name="" r:id="rId1" imgW="1600200" imgH="254000" progId="Equation.3">
                  <p:embed/>
                  <p:pic>
                    <p:nvPicPr>
                      <p:cNvPr id="0" name="图片 3098"/>
                      <p:cNvPicPr/>
                      <p:nvPr/>
                    </p:nvPicPr>
                    <p:blipFill>
                      <a:blip r:embed="rId2"/>
                      <a:stretch>
                        <a:fillRect/>
                      </a:stretch>
                    </p:blipFill>
                    <p:spPr>
                      <a:xfrm>
                        <a:off x="2571750" y="4572000"/>
                        <a:ext cx="3821113" cy="64135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9267">
                                            <p:txEl>
                                              <p:charRg st="0" end="35"/>
                                            </p:txEl>
                                          </p:spTgt>
                                        </p:tgtEl>
                                        <p:attrNameLst>
                                          <p:attrName>style.visibility</p:attrName>
                                        </p:attrNameLst>
                                      </p:cBhvr>
                                      <p:to>
                                        <p:strVal val="visible"/>
                                      </p:to>
                                    </p:set>
                                    <p:anim calcmode="lin" valueType="num">
                                      <p:cBhvr>
                                        <p:cTn id="7" dur="500" fill="hold"/>
                                        <p:tgtEl>
                                          <p:spTgt spid="139267">
                                            <p:txEl>
                                              <p:charRg st="0" end="35"/>
                                            </p:txEl>
                                          </p:spTgt>
                                        </p:tgtEl>
                                        <p:attrNameLst>
                                          <p:attrName>ppt_w</p:attrName>
                                        </p:attrNameLst>
                                      </p:cBhvr>
                                      <p:tavLst>
                                        <p:tav tm="0">
                                          <p:val>
                                            <p:fltVal val="0.000000"/>
                                          </p:val>
                                        </p:tav>
                                        <p:tav tm="100000">
                                          <p:val>
                                            <p:strVal val="#ppt_w"/>
                                          </p:val>
                                        </p:tav>
                                      </p:tavLst>
                                    </p:anim>
                                    <p:anim calcmode="lin" valueType="num">
                                      <p:cBhvr>
                                        <p:cTn id="8" dur="500" fill="hold"/>
                                        <p:tgtEl>
                                          <p:spTgt spid="139267">
                                            <p:txEl>
                                              <p:charRg st="0" end="35"/>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139267">
                                            <p:txEl>
                                              <p:charRg st="0" end="35"/>
                                            </p:txEl>
                                          </p:spTgt>
                                        </p:tgtEl>
                                        <p:attrNameLst>
                                          <p:attrName>ppt_c</p:attrName>
                                        </p:attrNameLst>
                                      </p:cBhvr>
                                      <p:to>
                                        <a:schemeClr val="bg2"/>
                                      </p:to>
                                    </p:animClr>
                                  </p:subTnLst>
                                </p:cTn>
                              </p:par>
                            </p:childTnLst>
                          </p:cTn>
                        </p:par>
                      </p:childTnLst>
                    </p:cTn>
                  </p:par>
                  <p:par>
                    <p:cTn id="9" fill="hold">
                      <p:stCondLst>
                        <p:cond delay="indefinite"/>
                      </p:stCondLst>
                      <p:childTnLst>
                        <p:par>
                          <p:cTn id="10" fill="hold">
                            <p:stCondLst>
                              <p:cond delay="0"/>
                            </p:stCondLst>
                            <p:childTnLst>
                              <p:par>
                                <p:cTn id="11" presetID="27" presetClass="entr" presetSubtype="0" fill="hold" nodeType="clickEffect">
                                  <p:stCondLst>
                                    <p:cond delay="0"/>
                                  </p:stCondLst>
                                  <p:iterate type="lt">
                                    <p:tmPct val="50000"/>
                                  </p:iterate>
                                  <p:childTnLst>
                                    <p:set>
                                      <p:cBhvr>
                                        <p:cTn id="12" dur="1" fill="hold">
                                          <p:stCondLst>
                                            <p:cond delay="0"/>
                                          </p:stCondLst>
                                        </p:cTn>
                                        <p:tgtEl>
                                          <p:spTgt spid="139267">
                                            <p:txEl>
                                              <p:charRg st="36" end="51"/>
                                            </p:txEl>
                                          </p:spTgt>
                                        </p:tgtEl>
                                        <p:attrNameLst>
                                          <p:attrName>style.visibility</p:attrName>
                                        </p:attrNameLst>
                                      </p:cBhvr>
                                      <p:to>
                                        <p:strVal val="visible"/>
                                      </p:to>
                                    </p:set>
                                    <p:anim calcmode="discrete" valueType="clr">
                                      <p:cBhvr override="childStyle">
                                        <p:cTn id="13" dur="80"/>
                                        <p:tgtEl>
                                          <p:spTgt spid="139267">
                                            <p:txEl>
                                              <p:charRg st="36" end="5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39267">
                                            <p:txEl>
                                              <p:charRg st="36" end="51"/>
                                            </p:txEl>
                                          </p:spTgt>
                                        </p:tgtEl>
                                        <p:attrNameLst>
                                          <p:attrName>fillcolor</p:attrName>
                                        </p:attrNameLst>
                                      </p:cBhvr>
                                      <p:tavLst>
                                        <p:tav tm="0">
                                          <p:val>
                                            <p:clrVal>
                                              <a:schemeClr val="accent2"/>
                                            </p:clrVal>
                                          </p:val>
                                        </p:tav>
                                        <p:tav tm="50000">
                                          <p:val>
                                            <p:clrVal>
                                              <a:schemeClr val="hlink"/>
                                            </p:clrVal>
                                          </p:val>
                                        </p:tav>
                                      </p:tavLst>
                                    </p:anim>
                                    <p:set>
                                      <p:cBhvr>
                                        <p:cTn id="15" dur="80"/>
                                        <p:tgtEl>
                                          <p:spTgt spid="139267">
                                            <p:txEl>
                                              <p:charRg st="36" end="51"/>
                                            </p:txEl>
                                          </p:spTgt>
                                        </p:tgtEl>
                                        <p:attrNameLst>
                                          <p:attrName>fill.type</p:attrName>
                                        </p:attrNameLst>
                                      </p:cBhvr>
                                      <p:to>
                                        <p:strVal val="solid"/>
                                      </p:to>
                                    </p:set>
                                  </p:childTnLst>
                                  <p:subTnLst>
                                    <p:animClr clrSpc="rgb" dir="cw">
                                      <p:cBhvr override="childStyle">
                                        <p:cTn dur="1" fill="hold" display="0" masterRel="nextClick" afterEffect="1"/>
                                        <p:tgtEl>
                                          <p:spTgt spid="139267">
                                            <p:txEl>
                                              <p:charRg st="36" end="51"/>
                                            </p:txEl>
                                          </p:spTgt>
                                        </p:tgtEl>
                                        <p:attrNameLst>
                                          <p:attrName>ppt_c</p:attrName>
                                        </p:attrNameLst>
                                      </p:cBhvr>
                                      <p:to>
                                        <a:srgbClr val="EA0000"/>
                                      </p:to>
                                    </p:animClr>
                                  </p:sub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139267">
                                            <p:txEl>
                                              <p:charRg st="51" end="102"/>
                                            </p:txEl>
                                          </p:spTgt>
                                        </p:tgtEl>
                                        <p:attrNameLst>
                                          <p:attrName>style.visibility</p:attrName>
                                        </p:attrNameLst>
                                      </p:cBhvr>
                                      <p:to>
                                        <p:strVal val="visible"/>
                                      </p:to>
                                    </p:set>
                                    <p:anim calcmode="lin" valueType="num">
                                      <p:cBhvr>
                                        <p:cTn id="20" dur="500" fill="hold"/>
                                        <p:tgtEl>
                                          <p:spTgt spid="139267">
                                            <p:txEl>
                                              <p:charRg st="51" end="102"/>
                                            </p:txEl>
                                          </p:spTgt>
                                        </p:tgtEl>
                                        <p:attrNameLst>
                                          <p:attrName>ppt_w</p:attrName>
                                        </p:attrNameLst>
                                      </p:cBhvr>
                                      <p:tavLst>
                                        <p:tav tm="0">
                                          <p:val>
                                            <p:fltVal val="0.000000"/>
                                          </p:val>
                                        </p:tav>
                                        <p:tav tm="100000">
                                          <p:val>
                                            <p:strVal val="#ppt_w"/>
                                          </p:val>
                                        </p:tav>
                                      </p:tavLst>
                                    </p:anim>
                                    <p:anim calcmode="lin" valueType="num">
                                      <p:cBhvr>
                                        <p:cTn id="21" dur="500" fill="hold"/>
                                        <p:tgtEl>
                                          <p:spTgt spid="139267">
                                            <p:txEl>
                                              <p:charRg st="51" end="102"/>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139267">
                                            <p:txEl>
                                              <p:charRg st="51" end="102"/>
                                            </p:txEl>
                                          </p:spTgt>
                                        </p:tgtEl>
                                        <p:attrNameLst>
                                          <p:attrName>ppt_c</p:attrName>
                                        </p:attrNameLst>
                                      </p:cBhvr>
                                      <p:to>
                                        <a:schemeClr val="bg2"/>
                                      </p:to>
                                    </p:animClr>
                                  </p:sub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139267">
                                            <p:txEl>
                                              <p:charRg st="103" end="208"/>
                                            </p:txEl>
                                          </p:spTgt>
                                        </p:tgtEl>
                                        <p:attrNameLst>
                                          <p:attrName>style.visibility</p:attrName>
                                        </p:attrNameLst>
                                      </p:cBhvr>
                                      <p:to>
                                        <p:strVal val="visible"/>
                                      </p:to>
                                    </p:set>
                                    <p:anim calcmode="lin" valueType="num">
                                      <p:cBhvr>
                                        <p:cTn id="26" dur="500" fill="hold"/>
                                        <p:tgtEl>
                                          <p:spTgt spid="139267">
                                            <p:txEl>
                                              <p:charRg st="103" end="208"/>
                                            </p:txEl>
                                          </p:spTgt>
                                        </p:tgtEl>
                                        <p:attrNameLst>
                                          <p:attrName>ppt_w</p:attrName>
                                        </p:attrNameLst>
                                      </p:cBhvr>
                                      <p:tavLst>
                                        <p:tav tm="0">
                                          <p:val>
                                            <p:fltVal val="0.000000"/>
                                          </p:val>
                                        </p:tav>
                                        <p:tav tm="100000">
                                          <p:val>
                                            <p:strVal val="#ppt_w"/>
                                          </p:val>
                                        </p:tav>
                                      </p:tavLst>
                                    </p:anim>
                                    <p:anim calcmode="lin" valueType="num">
                                      <p:cBhvr>
                                        <p:cTn id="27" dur="500" fill="hold"/>
                                        <p:tgtEl>
                                          <p:spTgt spid="139267">
                                            <p:txEl>
                                              <p:charRg st="103" end="208"/>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139267">
                                            <p:txEl>
                                              <p:charRg st="103" end="208"/>
                                            </p:txEl>
                                          </p:spTgt>
                                        </p:tgtEl>
                                        <p:attrNameLst>
                                          <p:attrName>ppt_c</p:attrName>
                                        </p:attrNameLst>
                                      </p:cBhvr>
                                      <p:to>
                                        <a:schemeClr val="bg2"/>
                                      </p:to>
                                    </p:animClr>
                                  </p:sub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139268"/>
                                        </p:tgtEl>
                                        <p:attrNameLst>
                                          <p:attrName>style.visibility</p:attrName>
                                        </p:attrNameLst>
                                      </p:cBhvr>
                                      <p:to>
                                        <p:strVal val="visible"/>
                                      </p:to>
                                    </p:set>
                                    <p:anim calcmode="lin" valueType="num">
                                      <p:cBhvr>
                                        <p:cTn id="32" dur="500" fill="hold"/>
                                        <p:tgtEl>
                                          <p:spTgt spid="139268"/>
                                        </p:tgtEl>
                                        <p:attrNameLst>
                                          <p:attrName>ppt_w</p:attrName>
                                        </p:attrNameLst>
                                      </p:cBhvr>
                                      <p:tavLst>
                                        <p:tav tm="0">
                                          <p:val>
                                            <p:fltVal val="0.000000"/>
                                          </p:val>
                                        </p:tav>
                                        <p:tav tm="100000">
                                          <p:val>
                                            <p:strVal val="#ppt_w"/>
                                          </p:val>
                                        </p:tav>
                                      </p:tavLst>
                                    </p:anim>
                                    <p:anim calcmode="lin" valueType="num">
                                      <p:cBhvr>
                                        <p:cTn id="33" dur="500" fill="hold"/>
                                        <p:tgtEl>
                                          <p:spTgt spid="13926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页脚占位符 5"/>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91138" name="Rectangle 2"/>
          <p:cNvSpPr>
            <a:spLocks noGrp="1"/>
          </p:cNvSpPr>
          <p:nvPr>
            <p:ph type="title"/>
          </p:nvPr>
        </p:nvSpPr>
        <p:spPr/>
        <p:txBody>
          <a:bodyPr vert="horz" wrap="square" lIns="91440" tIns="45720" rIns="91440" bIns="45720" anchor="ctr" anchorCtr="0"/>
          <a:p>
            <a:pPr eaLnBrk="1" hangingPunct="1"/>
            <a:r>
              <a:rPr lang="zh-CN" altLang="en-US" dirty="0"/>
              <a:t>算法分析</a:t>
            </a:r>
            <a:r>
              <a:rPr lang="en-US" altLang="zh-CN" dirty="0"/>
              <a:t>(Continue)</a:t>
            </a:r>
            <a:endParaRPr lang="en-US" altLang="zh-CN" dirty="0"/>
          </a:p>
        </p:txBody>
      </p:sp>
      <p:sp>
        <p:nvSpPr>
          <p:cNvPr id="141315" name="Rectangle 3"/>
          <p:cNvSpPr>
            <a:spLocks noGrp="1"/>
          </p:cNvSpPr>
          <p:nvPr>
            <p:ph type="body" sz="half" idx="1"/>
          </p:nvPr>
        </p:nvSpPr>
        <p:spPr>
          <a:xfrm>
            <a:off x="962025" y="1239838"/>
            <a:ext cx="8218488" cy="4565650"/>
          </a:xfrm>
        </p:spPr>
        <p:txBody>
          <a:bodyPr vert="horz" wrap="square" lIns="91440" tIns="45720" rIns="91440" bIns="45720" anchor="t" anchorCtr="0"/>
          <a:p>
            <a:pPr eaLnBrk="1" hangingPunct="1">
              <a:lnSpc>
                <a:spcPct val="90000"/>
              </a:lnSpc>
              <a:buClrTx/>
              <a:buSzTx/>
              <a:buFontTx/>
              <a:buNone/>
            </a:pPr>
            <a:r>
              <a:rPr lang="zh-CN" altLang="en-US" sz="2100" dirty="0"/>
              <a:t>令</a:t>
            </a:r>
            <a:r>
              <a:rPr lang="en-US" altLang="zh-CN" sz="2100" dirty="0"/>
              <a:t>m!h(m)=f(m) (</a:t>
            </a:r>
            <a:r>
              <a:rPr lang="zh-CN" altLang="en-US" sz="2100" dirty="0"/>
              <a:t>注意</a:t>
            </a:r>
            <a:r>
              <a:rPr lang="en-US" altLang="zh-CN" sz="2100" dirty="0"/>
              <a:t>h(0)=0). </a:t>
            </a:r>
            <a:r>
              <a:rPr lang="zh-CN" altLang="en-US" sz="2100" dirty="0"/>
              <a:t>那么</a:t>
            </a:r>
            <a:r>
              <a:rPr lang="en-US" altLang="zh-CN" sz="2100" dirty="0"/>
              <a:t>,</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r>
              <a:rPr lang="zh-CN" altLang="en-US" sz="2100" dirty="0"/>
              <a:t>这个递推式的解是</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r>
              <a:rPr lang="zh-CN" altLang="en-US" sz="2100" dirty="0"/>
              <a:t>这里</a:t>
            </a:r>
            <a:r>
              <a:rPr lang="en-US" altLang="zh-CN" sz="2100" dirty="0"/>
              <a:t>e=2.7182818…</a:t>
            </a:r>
            <a:endParaRPr lang="en-US" altLang="zh-CN" sz="2100" dirty="0"/>
          </a:p>
          <a:p>
            <a:pPr eaLnBrk="1" hangingPunct="1">
              <a:lnSpc>
                <a:spcPct val="90000"/>
              </a:lnSpc>
              <a:buClrTx/>
              <a:buSzTx/>
              <a:buFontTx/>
              <a:buNone/>
            </a:pPr>
            <a:r>
              <a:rPr lang="zh-CN" altLang="en-US" sz="2100" dirty="0"/>
              <a:t>因此</a:t>
            </a:r>
            <a:endParaRPr lang="en-US" altLang="zh-CN" sz="2100" dirty="0"/>
          </a:p>
          <a:p>
            <a:pPr eaLnBrk="1" hangingPunct="1">
              <a:lnSpc>
                <a:spcPct val="90000"/>
              </a:lnSpc>
              <a:buClrTx/>
              <a:buSzTx/>
              <a:buFontTx/>
              <a:buNone/>
            </a:pPr>
            <a:endParaRPr lang="en-US" altLang="zh-CN" sz="1500" dirty="0"/>
          </a:p>
          <a:p>
            <a:pPr eaLnBrk="1" hangingPunct="1">
              <a:lnSpc>
                <a:spcPct val="90000"/>
              </a:lnSpc>
              <a:buClrTx/>
              <a:buSzTx/>
              <a:buFontTx/>
              <a:buNone/>
            </a:pPr>
            <a:endParaRPr lang="en-US" altLang="zh-CN" sz="2100" dirty="0"/>
          </a:p>
          <a:p>
            <a:pPr eaLnBrk="1" hangingPunct="1">
              <a:lnSpc>
                <a:spcPct val="90000"/>
              </a:lnSpc>
              <a:buClrTx/>
              <a:buSzTx/>
              <a:buFontTx/>
              <a:buNone/>
            </a:pPr>
            <a:r>
              <a:rPr lang="zh-CN" altLang="en-US" sz="2100" dirty="0"/>
              <a:t>用</a:t>
            </a:r>
            <a:r>
              <a:rPr lang="en-US" altLang="zh-CN" sz="2100" dirty="0"/>
              <a:t>n</a:t>
            </a:r>
            <a:r>
              <a:rPr lang="zh-CN" altLang="en-US" sz="2100" dirty="0"/>
              <a:t>代入，迭代的次数就变成</a:t>
            </a:r>
            <a:endParaRPr lang="en-US" altLang="zh-CN" sz="2100" dirty="0"/>
          </a:p>
          <a:p>
            <a:pPr eaLnBrk="1" hangingPunct="1">
              <a:lnSpc>
                <a:spcPct val="90000"/>
              </a:lnSpc>
              <a:buClrTx/>
              <a:buSzTx/>
              <a:buFontTx/>
              <a:buNone/>
            </a:pPr>
            <a:endParaRPr lang="en-US" altLang="zh-CN" sz="2100" dirty="0"/>
          </a:p>
          <a:p>
            <a:pPr eaLnBrk="1" hangingPunct="1">
              <a:lnSpc>
                <a:spcPct val="90000"/>
              </a:lnSpc>
              <a:buClrTx/>
              <a:buSzTx/>
              <a:buFontTx/>
              <a:buNone/>
            </a:pPr>
            <a:endParaRPr lang="en-US" altLang="zh-CN" sz="2100" dirty="0">
              <a:solidFill>
                <a:srgbClr val="EA0000"/>
              </a:solidFill>
            </a:endParaRPr>
          </a:p>
          <a:p>
            <a:pPr eaLnBrk="1" hangingPunct="1">
              <a:lnSpc>
                <a:spcPct val="90000"/>
              </a:lnSpc>
              <a:buClrTx/>
              <a:buSzTx/>
              <a:buFontTx/>
              <a:buNone/>
            </a:pPr>
            <a:r>
              <a:rPr lang="zh-CN" altLang="en-US" sz="2100" dirty="0">
                <a:solidFill>
                  <a:srgbClr val="EA0000"/>
                </a:solidFill>
              </a:rPr>
              <a:t>因此，算法的运行时间是</a:t>
            </a:r>
            <a:r>
              <a:rPr lang="en-US" altLang="zh-CN" sz="2100" dirty="0">
                <a:solidFill>
                  <a:srgbClr val="EA0000"/>
                </a:solidFill>
                <a:sym typeface="Symbol" panose="05050102010706020507" pitchFamily="18" charset="2"/>
              </a:rPr>
              <a:t>(nn!).</a:t>
            </a:r>
            <a:endParaRPr lang="en-US" altLang="zh-CN" sz="2100" dirty="0">
              <a:solidFill>
                <a:srgbClr val="EA0000"/>
              </a:solidFill>
              <a:sym typeface="Symbol" panose="05050102010706020507" pitchFamily="18" charset="2"/>
            </a:endParaRPr>
          </a:p>
        </p:txBody>
      </p:sp>
      <p:graphicFrame>
        <p:nvGraphicFramePr>
          <p:cNvPr id="141316" name="Object 4"/>
          <p:cNvGraphicFramePr>
            <a:graphicFrameLocks noGrp="1" noChangeAspect="1"/>
          </p:cNvGraphicFramePr>
          <p:nvPr>
            <p:ph sz="quarter" idx="2"/>
          </p:nvPr>
        </p:nvGraphicFramePr>
        <p:xfrm>
          <a:off x="2068513" y="1728788"/>
          <a:ext cx="3244850" cy="336550"/>
        </p:xfrm>
        <a:graphic>
          <a:graphicData uri="http://schemas.openxmlformats.org/presentationml/2006/ole">
            <mc:AlternateContent xmlns:mc="http://schemas.openxmlformats.org/markup-compatibility/2006">
              <mc:Choice xmlns:v="urn:schemas-microsoft-com:vml" Requires="v">
                <p:oleObj spid="_x0000_s3080" name="" r:id="rId1" imgW="2070100" imgH="203200" progId="Equation.3">
                  <p:embed/>
                </p:oleObj>
              </mc:Choice>
              <mc:Fallback>
                <p:oleObj name="" r:id="rId1" imgW="2070100" imgH="203200" progId="Equation.3">
                  <p:embed/>
                  <p:pic>
                    <p:nvPicPr>
                      <p:cNvPr id="0" name="图片 3079"/>
                      <p:cNvPicPr/>
                      <p:nvPr/>
                    </p:nvPicPr>
                    <p:blipFill>
                      <a:blip r:embed="rId2"/>
                      <a:stretch>
                        <a:fillRect/>
                      </a:stretch>
                    </p:blipFill>
                    <p:spPr>
                      <a:xfrm>
                        <a:off x="2068513" y="1728788"/>
                        <a:ext cx="3244850" cy="336550"/>
                      </a:xfrm>
                      <a:prstGeom prst="rect">
                        <a:avLst/>
                      </a:prstGeom>
                      <a:noFill/>
                      <a:ln w="38100">
                        <a:miter/>
                      </a:ln>
                    </p:spPr>
                  </p:pic>
                </p:oleObj>
              </mc:Fallback>
            </mc:AlternateContent>
          </a:graphicData>
        </a:graphic>
      </p:graphicFrame>
      <p:graphicFrame>
        <p:nvGraphicFramePr>
          <p:cNvPr id="141318" name="Object 6"/>
          <p:cNvGraphicFramePr>
            <a:graphicFrameLocks noGrp="1" noChangeAspect="1"/>
          </p:cNvGraphicFramePr>
          <p:nvPr>
            <p:ph sz="quarter" idx="3"/>
          </p:nvPr>
        </p:nvGraphicFramePr>
        <p:xfrm>
          <a:off x="1727200" y="2349500"/>
          <a:ext cx="4021138" cy="666750"/>
        </p:xfrm>
        <a:graphic>
          <a:graphicData uri="http://schemas.openxmlformats.org/presentationml/2006/ole">
            <mc:AlternateContent xmlns:mc="http://schemas.openxmlformats.org/markup-compatibility/2006">
              <mc:Choice xmlns:v="urn:schemas-microsoft-com:vml" Requires="v">
                <p:oleObj spid="_x0000_s3076" name="" r:id="rId3" imgW="2832100" imgH="444500" progId="Equation.3">
                  <p:embed/>
                </p:oleObj>
              </mc:Choice>
              <mc:Fallback>
                <p:oleObj name="" r:id="rId3" imgW="2832100" imgH="444500" progId="Equation.3">
                  <p:embed/>
                  <p:pic>
                    <p:nvPicPr>
                      <p:cNvPr id="0" name="图片 3075"/>
                      <p:cNvPicPr/>
                      <p:nvPr/>
                    </p:nvPicPr>
                    <p:blipFill>
                      <a:blip r:embed="rId4"/>
                      <a:stretch>
                        <a:fillRect/>
                      </a:stretch>
                    </p:blipFill>
                    <p:spPr>
                      <a:xfrm>
                        <a:off x="1727200" y="2349500"/>
                        <a:ext cx="4021138" cy="666750"/>
                      </a:xfrm>
                      <a:prstGeom prst="rect">
                        <a:avLst/>
                      </a:prstGeom>
                      <a:noFill/>
                      <a:ln w="38100">
                        <a:miter/>
                      </a:ln>
                    </p:spPr>
                  </p:pic>
                </p:oleObj>
              </mc:Fallback>
            </mc:AlternateContent>
          </a:graphicData>
        </a:graphic>
      </p:graphicFrame>
      <p:graphicFrame>
        <p:nvGraphicFramePr>
          <p:cNvPr id="141320" name="Object 8"/>
          <p:cNvGraphicFramePr>
            <a:graphicFrameLocks noChangeAspect="1"/>
          </p:cNvGraphicFramePr>
          <p:nvPr/>
        </p:nvGraphicFramePr>
        <p:xfrm>
          <a:off x="1571625" y="3541713"/>
          <a:ext cx="3527425" cy="744537"/>
        </p:xfrm>
        <a:graphic>
          <a:graphicData uri="http://schemas.openxmlformats.org/presentationml/2006/ole">
            <mc:AlternateContent xmlns:mc="http://schemas.openxmlformats.org/markup-compatibility/2006">
              <mc:Choice xmlns:v="urn:schemas-microsoft-com:vml" Requires="v">
                <p:oleObj spid="_x0000_s3078" name="" r:id="rId5" imgW="2108200" imgH="444500" progId="Equation.3">
                  <p:embed/>
                </p:oleObj>
              </mc:Choice>
              <mc:Fallback>
                <p:oleObj name="" r:id="rId5" imgW="2108200" imgH="444500" progId="Equation.3">
                  <p:embed/>
                  <p:pic>
                    <p:nvPicPr>
                      <p:cNvPr id="0" name="图片 3077"/>
                      <p:cNvPicPr/>
                      <p:nvPr/>
                    </p:nvPicPr>
                    <p:blipFill>
                      <a:blip r:embed="rId6"/>
                      <a:stretch>
                        <a:fillRect/>
                      </a:stretch>
                    </p:blipFill>
                    <p:spPr>
                      <a:xfrm>
                        <a:off x="1571625" y="3541713"/>
                        <a:ext cx="3527425" cy="744537"/>
                      </a:xfrm>
                      <a:prstGeom prst="rect">
                        <a:avLst/>
                      </a:prstGeom>
                      <a:noFill/>
                      <a:ln w="38100">
                        <a:noFill/>
                        <a:miter/>
                      </a:ln>
                    </p:spPr>
                  </p:pic>
                </p:oleObj>
              </mc:Fallback>
            </mc:AlternateContent>
          </a:graphicData>
        </a:graphic>
      </p:graphicFrame>
      <p:graphicFrame>
        <p:nvGraphicFramePr>
          <p:cNvPr id="141321" name="Object 9"/>
          <p:cNvGraphicFramePr>
            <a:graphicFrameLocks noChangeAspect="1"/>
          </p:cNvGraphicFramePr>
          <p:nvPr/>
        </p:nvGraphicFramePr>
        <p:xfrm>
          <a:off x="2000250" y="4572000"/>
          <a:ext cx="2605088" cy="773113"/>
        </p:xfrm>
        <a:graphic>
          <a:graphicData uri="http://schemas.openxmlformats.org/presentationml/2006/ole">
            <mc:AlternateContent xmlns:mc="http://schemas.openxmlformats.org/markup-compatibility/2006">
              <mc:Choice xmlns:v="urn:schemas-microsoft-com:vml" Requires="v">
                <p:oleObj spid="_x0000_s3077" name="" r:id="rId7" imgW="1497965" imgH="444500" progId="Equation.3">
                  <p:embed/>
                </p:oleObj>
              </mc:Choice>
              <mc:Fallback>
                <p:oleObj name="" r:id="rId7" imgW="1497965" imgH="444500" progId="Equation.3">
                  <p:embed/>
                  <p:pic>
                    <p:nvPicPr>
                      <p:cNvPr id="0" name="图片 3076"/>
                      <p:cNvPicPr/>
                      <p:nvPr/>
                    </p:nvPicPr>
                    <p:blipFill>
                      <a:blip r:embed="rId8"/>
                      <a:stretch>
                        <a:fillRect/>
                      </a:stretch>
                    </p:blipFill>
                    <p:spPr>
                      <a:xfrm>
                        <a:off x="2000250" y="4572000"/>
                        <a:ext cx="2605088" cy="7731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41316"/>
                                        </p:tgtEl>
                                        <p:attrNameLst>
                                          <p:attrName>style.visibility</p:attrName>
                                        </p:attrNameLst>
                                      </p:cBhvr>
                                      <p:to>
                                        <p:strVal val="visible"/>
                                      </p:to>
                                    </p:set>
                                    <p:anim calcmode="lin" valueType="num">
                                      <p:cBhvr>
                                        <p:cTn id="7" dur="1000" fill="hold"/>
                                        <p:tgtEl>
                                          <p:spTgt spid="141316"/>
                                        </p:tgtEl>
                                        <p:attrNameLst>
                                          <p:attrName>ppt_w</p:attrName>
                                        </p:attrNameLst>
                                      </p:cBhvr>
                                      <p:tavLst>
                                        <p:tav tm="0">
                                          <p:val>
                                            <p:strVal val="#ppt_w*0.70"/>
                                          </p:val>
                                        </p:tav>
                                        <p:tav tm="100000">
                                          <p:val>
                                            <p:strVal val="#ppt_w"/>
                                          </p:val>
                                        </p:tav>
                                      </p:tavLst>
                                    </p:anim>
                                    <p:anim calcmode="lin" valueType="num">
                                      <p:cBhvr>
                                        <p:cTn id="8" dur="1000" fill="hold"/>
                                        <p:tgtEl>
                                          <p:spTgt spid="141316"/>
                                        </p:tgtEl>
                                        <p:attrNameLst>
                                          <p:attrName>ppt_h</p:attrName>
                                        </p:attrNameLst>
                                      </p:cBhvr>
                                      <p:tavLst>
                                        <p:tav tm="0">
                                          <p:val>
                                            <p:strVal val="#ppt_h"/>
                                          </p:val>
                                        </p:tav>
                                        <p:tav tm="100000">
                                          <p:val>
                                            <p:strVal val="#ppt_h"/>
                                          </p:val>
                                        </p:tav>
                                      </p:tavLst>
                                    </p:anim>
                                    <p:animEffect transition="in" filter="fade">
                                      <p:cBhvr>
                                        <p:cTn id="9" dur="1000"/>
                                        <p:tgtEl>
                                          <p:spTgt spid="141316"/>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41318"/>
                                        </p:tgtEl>
                                        <p:attrNameLst>
                                          <p:attrName>style.visibility</p:attrName>
                                        </p:attrNameLst>
                                      </p:cBhvr>
                                      <p:to>
                                        <p:strVal val="visible"/>
                                      </p:to>
                                    </p:set>
                                    <p:anim calcmode="lin" valueType="num">
                                      <p:cBhvr>
                                        <p:cTn id="13" dur="1000" fill="hold"/>
                                        <p:tgtEl>
                                          <p:spTgt spid="141318"/>
                                        </p:tgtEl>
                                        <p:attrNameLst>
                                          <p:attrName>ppt_w</p:attrName>
                                        </p:attrNameLst>
                                      </p:cBhvr>
                                      <p:tavLst>
                                        <p:tav tm="0">
                                          <p:val>
                                            <p:strVal val="#ppt_w*0.70"/>
                                          </p:val>
                                        </p:tav>
                                        <p:tav tm="100000">
                                          <p:val>
                                            <p:strVal val="#ppt_w"/>
                                          </p:val>
                                        </p:tav>
                                      </p:tavLst>
                                    </p:anim>
                                    <p:anim calcmode="lin" valueType="num">
                                      <p:cBhvr>
                                        <p:cTn id="14" dur="1000" fill="hold"/>
                                        <p:tgtEl>
                                          <p:spTgt spid="141318"/>
                                        </p:tgtEl>
                                        <p:attrNameLst>
                                          <p:attrName>ppt_h</p:attrName>
                                        </p:attrNameLst>
                                      </p:cBhvr>
                                      <p:tavLst>
                                        <p:tav tm="0">
                                          <p:val>
                                            <p:strVal val="#ppt_h"/>
                                          </p:val>
                                        </p:tav>
                                        <p:tav tm="100000">
                                          <p:val>
                                            <p:strVal val="#ppt_h"/>
                                          </p:val>
                                        </p:tav>
                                      </p:tavLst>
                                    </p:anim>
                                    <p:animEffect transition="in" filter="fade">
                                      <p:cBhvr>
                                        <p:cTn id="15" dur="1000"/>
                                        <p:tgtEl>
                                          <p:spTgt spid="141318"/>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41315">
                                            <p:txEl>
                                              <p:charRg st="41" end="56"/>
                                            </p:txEl>
                                          </p:spTgt>
                                        </p:tgtEl>
                                        <p:attrNameLst>
                                          <p:attrName>style.visibility</p:attrName>
                                        </p:attrNameLst>
                                      </p:cBhvr>
                                      <p:to>
                                        <p:strVal val="visible"/>
                                      </p:to>
                                    </p:set>
                                    <p:anim calcmode="lin" valueType="num">
                                      <p:cBhvr>
                                        <p:cTn id="19" dur="1000" fill="hold"/>
                                        <p:tgtEl>
                                          <p:spTgt spid="141315">
                                            <p:txEl>
                                              <p:charRg st="41" end="56"/>
                                            </p:txEl>
                                          </p:spTgt>
                                        </p:tgtEl>
                                        <p:attrNameLst>
                                          <p:attrName>ppt_w</p:attrName>
                                        </p:attrNameLst>
                                      </p:cBhvr>
                                      <p:tavLst>
                                        <p:tav tm="0">
                                          <p:val>
                                            <p:strVal val="#ppt_w*0.70"/>
                                          </p:val>
                                        </p:tav>
                                        <p:tav tm="100000">
                                          <p:val>
                                            <p:strVal val="#ppt_w"/>
                                          </p:val>
                                        </p:tav>
                                      </p:tavLst>
                                    </p:anim>
                                    <p:anim calcmode="lin" valueType="num">
                                      <p:cBhvr>
                                        <p:cTn id="20" dur="1000" fill="hold"/>
                                        <p:tgtEl>
                                          <p:spTgt spid="141315">
                                            <p:txEl>
                                              <p:charRg st="41" end="56"/>
                                            </p:txEl>
                                          </p:spTgt>
                                        </p:tgtEl>
                                        <p:attrNameLst>
                                          <p:attrName>ppt_h</p:attrName>
                                        </p:attrNameLst>
                                      </p:cBhvr>
                                      <p:tavLst>
                                        <p:tav tm="0">
                                          <p:val>
                                            <p:strVal val="#ppt_h"/>
                                          </p:val>
                                        </p:tav>
                                        <p:tav tm="100000">
                                          <p:val>
                                            <p:strVal val="#ppt_h"/>
                                          </p:val>
                                        </p:tav>
                                      </p:tavLst>
                                    </p:anim>
                                    <p:animEffect transition="in" filter="fade">
                                      <p:cBhvr>
                                        <p:cTn id="21" dur="1000"/>
                                        <p:tgtEl>
                                          <p:spTgt spid="141315">
                                            <p:txEl>
                                              <p:charRg st="41" end="56"/>
                                            </p:txEl>
                                          </p:spTgt>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141315">
                                            <p:txEl>
                                              <p:charRg st="56" end="59"/>
                                            </p:txEl>
                                          </p:spTgt>
                                        </p:tgtEl>
                                        <p:attrNameLst>
                                          <p:attrName>style.visibility</p:attrName>
                                        </p:attrNameLst>
                                      </p:cBhvr>
                                      <p:to>
                                        <p:strVal val="visible"/>
                                      </p:to>
                                    </p:set>
                                    <p:anim calcmode="lin" valueType="num">
                                      <p:cBhvr>
                                        <p:cTn id="25" dur="1000" fill="hold"/>
                                        <p:tgtEl>
                                          <p:spTgt spid="141315">
                                            <p:txEl>
                                              <p:charRg st="56" end="59"/>
                                            </p:txEl>
                                          </p:spTgt>
                                        </p:tgtEl>
                                        <p:attrNameLst>
                                          <p:attrName>ppt_w</p:attrName>
                                        </p:attrNameLst>
                                      </p:cBhvr>
                                      <p:tavLst>
                                        <p:tav tm="0">
                                          <p:val>
                                            <p:strVal val="#ppt_w*0.70"/>
                                          </p:val>
                                        </p:tav>
                                        <p:tav tm="100000">
                                          <p:val>
                                            <p:strVal val="#ppt_w"/>
                                          </p:val>
                                        </p:tav>
                                      </p:tavLst>
                                    </p:anim>
                                    <p:anim calcmode="lin" valueType="num">
                                      <p:cBhvr>
                                        <p:cTn id="26" dur="1000" fill="hold"/>
                                        <p:tgtEl>
                                          <p:spTgt spid="141315">
                                            <p:txEl>
                                              <p:charRg st="56" end="59"/>
                                            </p:txEl>
                                          </p:spTgt>
                                        </p:tgtEl>
                                        <p:attrNameLst>
                                          <p:attrName>ppt_h</p:attrName>
                                        </p:attrNameLst>
                                      </p:cBhvr>
                                      <p:tavLst>
                                        <p:tav tm="0">
                                          <p:val>
                                            <p:strVal val="#ppt_h"/>
                                          </p:val>
                                        </p:tav>
                                        <p:tav tm="100000">
                                          <p:val>
                                            <p:strVal val="#ppt_h"/>
                                          </p:val>
                                        </p:tav>
                                      </p:tavLst>
                                    </p:anim>
                                    <p:animEffect transition="in" filter="fade">
                                      <p:cBhvr>
                                        <p:cTn id="27" dur="1000"/>
                                        <p:tgtEl>
                                          <p:spTgt spid="141315">
                                            <p:txEl>
                                              <p:charRg st="56" end="59"/>
                                            </p:txEl>
                                          </p:spTgt>
                                        </p:tgtEl>
                                      </p:cBhvr>
                                    </p:animEffect>
                                  </p:childTnLst>
                                </p:cTn>
                              </p:par>
                            </p:childTnLst>
                          </p:cTn>
                        </p:par>
                        <p:par>
                          <p:cTn id="28" fill="hold">
                            <p:stCondLst>
                              <p:cond delay="4000"/>
                            </p:stCondLst>
                            <p:childTnLst>
                              <p:par>
                                <p:cTn id="29" presetID="55" presetClass="entr" presetSubtype="0" fill="hold" nodeType="afterEffect">
                                  <p:stCondLst>
                                    <p:cond delay="0"/>
                                  </p:stCondLst>
                                  <p:childTnLst>
                                    <p:set>
                                      <p:cBhvr>
                                        <p:cTn id="30" dur="1" fill="hold">
                                          <p:stCondLst>
                                            <p:cond delay="0"/>
                                          </p:stCondLst>
                                        </p:cTn>
                                        <p:tgtEl>
                                          <p:spTgt spid="141320"/>
                                        </p:tgtEl>
                                        <p:attrNameLst>
                                          <p:attrName>style.visibility</p:attrName>
                                        </p:attrNameLst>
                                      </p:cBhvr>
                                      <p:to>
                                        <p:strVal val="visible"/>
                                      </p:to>
                                    </p:set>
                                    <p:anim calcmode="lin" valueType="num">
                                      <p:cBhvr>
                                        <p:cTn id="31" dur="1000" fill="hold"/>
                                        <p:tgtEl>
                                          <p:spTgt spid="141320"/>
                                        </p:tgtEl>
                                        <p:attrNameLst>
                                          <p:attrName>ppt_w</p:attrName>
                                        </p:attrNameLst>
                                      </p:cBhvr>
                                      <p:tavLst>
                                        <p:tav tm="0">
                                          <p:val>
                                            <p:strVal val="#ppt_w*0.70"/>
                                          </p:val>
                                        </p:tav>
                                        <p:tav tm="100000">
                                          <p:val>
                                            <p:strVal val="#ppt_w"/>
                                          </p:val>
                                        </p:tav>
                                      </p:tavLst>
                                    </p:anim>
                                    <p:anim calcmode="lin" valueType="num">
                                      <p:cBhvr>
                                        <p:cTn id="32" dur="1000" fill="hold"/>
                                        <p:tgtEl>
                                          <p:spTgt spid="141320"/>
                                        </p:tgtEl>
                                        <p:attrNameLst>
                                          <p:attrName>ppt_h</p:attrName>
                                        </p:attrNameLst>
                                      </p:cBhvr>
                                      <p:tavLst>
                                        <p:tav tm="0">
                                          <p:val>
                                            <p:strVal val="#ppt_h"/>
                                          </p:val>
                                        </p:tav>
                                        <p:tav tm="100000">
                                          <p:val>
                                            <p:strVal val="#ppt_h"/>
                                          </p:val>
                                        </p:tav>
                                      </p:tavLst>
                                    </p:anim>
                                    <p:animEffect transition="in" filter="fade">
                                      <p:cBhvr>
                                        <p:cTn id="33" dur="1000"/>
                                        <p:tgtEl>
                                          <p:spTgt spid="141320"/>
                                        </p:tgtEl>
                                      </p:cBhvr>
                                    </p:animEffect>
                                  </p:childTnLst>
                                </p:cTn>
                              </p:par>
                            </p:childTnLst>
                          </p:cTn>
                        </p:par>
                        <p:par>
                          <p:cTn id="34" fill="hold">
                            <p:stCondLst>
                              <p:cond delay="5000"/>
                            </p:stCondLst>
                            <p:childTnLst>
                              <p:par>
                                <p:cTn id="35" presetID="55" presetClass="entr" presetSubtype="0" fill="hold" nodeType="afterEffect">
                                  <p:stCondLst>
                                    <p:cond delay="0"/>
                                  </p:stCondLst>
                                  <p:childTnLst>
                                    <p:set>
                                      <p:cBhvr>
                                        <p:cTn id="36" dur="1" fill="hold">
                                          <p:stCondLst>
                                            <p:cond delay="0"/>
                                          </p:stCondLst>
                                        </p:cTn>
                                        <p:tgtEl>
                                          <p:spTgt spid="141321"/>
                                        </p:tgtEl>
                                        <p:attrNameLst>
                                          <p:attrName>style.visibility</p:attrName>
                                        </p:attrNameLst>
                                      </p:cBhvr>
                                      <p:to>
                                        <p:strVal val="visible"/>
                                      </p:to>
                                    </p:set>
                                    <p:anim calcmode="lin" valueType="num">
                                      <p:cBhvr>
                                        <p:cTn id="37" dur="1000" fill="hold"/>
                                        <p:tgtEl>
                                          <p:spTgt spid="141321"/>
                                        </p:tgtEl>
                                        <p:attrNameLst>
                                          <p:attrName>ppt_w</p:attrName>
                                        </p:attrNameLst>
                                      </p:cBhvr>
                                      <p:tavLst>
                                        <p:tav tm="0">
                                          <p:val>
                                            <p:strVal val="#ppt_w*0.70"/>
                                          </p:val>
                                        </p:tav>
                                        <p:tav tm="100000">
                                          <p:val>
                                            <p:strVal val="#ppt_w"/>
                                          </p:val>
                                        </p:tav>
                                      </p:tavLst>
                                    </p:anim>
                                    <p:anim calcmode="lin" valueType="num">
                                      <p:cBhvr>
                                        <p:cTn id="38" dur="1000" fill="hold"/>
                                        <p:tgtEl>
                                          <p:spTgt spid="141321"/>
                                        </p:tgtEl>
                                        <p:attrNameLst>
                                          <p:attrName>ppt_h</p:attrName>
                                        </p:attrNameLst>
                                      </p:cBhvr>
                                      <p:tavLst>
                                        <p:tav tm="0">
                                          <p:val>
                                            <p:strVal val="#ppt_h"/>
                                          </p:val>
                                        </p:tav>
                                        <p:tav tm="100000">
                                          <p:val>
                                            <p:strVal val="#ppt_h"/>
                                          </p:val>
                                        </p:tav>
                                      </p:tavLst>
                                    </p:anim>
                                    <p:animEffect transition="in" filter="fade">
                                      <p:cBhvr>
                                        <p:cTn id="39" dur="1000"/>
                                        <p:tgtEl>
                                          <p:spTgt spid="1413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41315">
                                            <p:txEl>
                                              <p:charRg st="77" end="96"/>
                                            </p:txEl>
                                          </p:spTgt>
                                        </p:tgtEl>
                                        <p:attrNameLst>
                                          <p:attrName>style.visibility</p:attrName>
                                        </p:attrNameLst>
                                      </p:cBhvr>
                                      <p:to>
                                        <p:strVal val="visible"/>
                                      </p:to>
                                    </p:set>
                                    <p:animEffect transition="in" filter="wipe(down)">
                                      <p:cBhvr>
                                        <p:cTn id="44" dur="500"/>
                                        <p:tgtEl>
                                          <p:spTgt spid="141315">
                                            <p:txEl>
                                              <p:charRg st="77" end="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30722" name="Rectangle 2"/>
          <p:cNvSpPr>
            <a:spLocks noGrp="1"/>
          </p:cNvSpPr>
          <p:nvPr>
            <p:ph type="title"/>
          </p:nvPr>
        </p:nvSpPr>
        <p:spPr/>
        <p:txBody>
          <a:bodyPr vert="horz" wrap="square" lIns="91440" tIns="45720" rIns="91440" bIns="45720" anchor="ctr" anchorCtr="0"/>
          <a:p>
            <a:pPr eaLnBrk="1" hangingPunct="1"/>
            <a:r>
              <a:rPr lang="en-US" altLang="zh-CN" dirty="0"/>
              <a:t>2.3.4 Radix sort</a:t>
            </a:r>
            <a:r>
              <a:rPr lang="zh-CN" altLang="en-US" dirty="0"/>
              <a:t>（基数排序）</a:t>
            </a:r>
            <a:endParaRPr lang="en-US" altLang="zh-CN" dirty="0"/>
          </a:p>
        </p:txBody>
      </p:sp>
      <p:sp>
        <p:nvSpPr>
          <p:cNvPr id="105475"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令</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L={a</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n</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是一张有</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个数的集合，其中每个数恰好有</a:t>
            </a:r>
            <a:r>
              <a:rPr kumimoji="0" lang="en-US" altLang="zh-CN" sz="2200" b="0" i="0" u="none" strike="noStrike" kern="0" cap="none" spc="0" normalizeH="0" baseline="0" noProof="0" dirty="0">
                <a:ln>
                  <a:noFill/>
                </a:ln>
                <a:solidFill>
                  <a:srgbClr val="FF0000"/>
                </a:solidFill>
                <a:effectLst/>
                <a:uLnTx/>
                <a:uFillTx/>
                <a:latin typeface="+mn-lt"/>
                <a:ea typeface="+mn-ea"/>
                <a:cs typeface="+mn-ea"/>
              </a:rPr>
              <a:t>k</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位数字</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，就是说每个数具有</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k</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k-1</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200" b="0" i="0" u="none" strike="noStrike" kern="0" cap="none" spc="0" normalizeH="0" baseline="-25000" noProof="0" dirty="0">
                <a:ln>
                  <a:noFill/>
                </a:ln>
                <a:solidFill>
                  <a:schemeClr val="accent2"/>
                </a:solidFill>
                <a:effectLst/>
                <a:uLnTx/>
                <a:uFillTx/>
                <a:latin typeface="+mn-lt"/>
                <a:ea typeface="+mn-ea"/>
                <a:cs typeface="+mn-ea"/>
              </a:rPr>
              <a:t>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形式，这里</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d</a:t>
            </a:r>
            <a:r>
              <a:rPr kumimoji="0" lang="en-US" altLang="zh-CN" sz="2200" b="0" i="0" u="none" strike="noStrike" kern="0" cap="none" spc="0" normalizeH="0" baseline="-25000" noProof="0" dirty="0" err="1">
                <a:ln>
                  <a:noFill/>
                </a:ln>
                <a:solidFill>
                  <a:schemeClr val="accent2"/>
                </a:solidFill>
                <a:effectLst/>
                <a:uLnTx/>
                <a:uFillTx/>
                <a:latin typeface="+mn-lt"/>
                <a:ea typeface="+mn-ea"/>
                <a:cs typeface="+mn-ea"/>
              </a:rPr>
              <a:t>i</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是</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9</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中的一个数字。</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1143000" marR="0" lvl="2" indent="-228600" algn="l" defTabSz="914400" rtl="0" eaLnBrk="1" fontAlgn="base" latinLnBrk="0" hangingPunct="1">
              <a:lnSpc>
                <a:spcPct val="100000"/>
              </a:lnSpc>
              <a:spcBef>
                <a:spcPct val="20000"/>
              </a:spcBef>
              <a:spcAft>
                <a:spcPct val="0"/>
              </a:spcAft>
              <a:buClrTx/>
              <a:buSzTx/>
              <a:buFontTx/>
              <a:buNone/>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我们研究一种排序算法对</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L</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进行非降序排列，使算法在几乎所有的实际应用中都以线性时间运行。</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在这个问题中，我们</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对整数的大小</a:t>
            </a:r>
            <a:r>
              <a:rPr kumimoji="0" lang="en-US" altLang="zh-CN" sz="2200" b="0" i="0" u="none" strike="noStrike" kern="0" cap="none" spc="0" normalizeH="0" baseline="0" noProof="0" dirty="0">
                <a:ln>
                  <a:noFill/>
                </a:ln>
                <a:solidFill>
                  <a:srgbClr val="FF0000"/>
                </a:solidFill>
                <a:effectLst/>
                <a:uLnTx/>
                <a:uFillTx/>
                <a:latin typeface="+mn-lt"/>
                <a:ea typeface="+mn-ea"/>
                <a:cs typeface="+mn-ea"/>
              </a:rPr>
              <a:t>k</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施行归纳</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，而不是对数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这个对象来用归纳法。</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pic>
        <p:nvPicPr>
          <p:cNvPr id="105477" name="Picture 5" descr="question"/>
          <p:cNvPicPr>
            <a:picLocks noChangeAspect="1"/>
          </p:cNvPicPr>
          <p:nvPr/>
        </p:nvPicPr>
        <p:blipFill>
          <a:blip r:embed="rId1"/>
          <a:stretch>
            <a:fillRect/>
          </a:stretch>
        </p:blipFill>
        <p:spPr>
          <a:xfrm>
            <a:off x="900113" y="1341438"/>
            <a:ext cx="360362" cy="3603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05477"/>
                                        </p:tgtEl>
                                        <p:attrNameLst>
                                          <p:attrName>style.visibility</p:attrName>
                                        </p:attrNameLst>
                                      </p:cBhvr>
                                      <p:to>
                                        <p:strVal val="visible"/>
                                      </p:to>
                                    </p:set>
                                    <p:anim calcmode="lin" valueType="num">
                                      <p:cBhvr>
                                        <p:cTn id="7" dur="5000" fill="hold"/>
                                        <p:tgtEl>
                                          <p:spTgt spid="105477"/>
                                        </p:tgtEl>
                                        <p:attrNameLst>
                                          <p:attrName>ppt_w</p:attrName>
                                        </p:attrNameLst>
                                      </p:cBhvr>
                                      <p:tavLst>
                                        <p:tav tm="0" fmla="#ppt_w*sin(2.5*pi*$)">
                                          <p:val>
                                            <p:fltVal val="0.000000"/>
                                          </p:val>
                                        </p:tav>
                                        <p:tav tm="100000">
                                          <p:val>
                                            <p:fltVal val="1.000000"/>
                                          </p:val>
                                        </p:tav>
                                      </p:tavLst>
                                    </p:anim>
                                    <p:anim calcmode="lin" valueType="num">
                                      <p:cBhvr>
                                        <p:cTn id="8" dur="5000" fill="hold"/>
                                        <p:tgtEl>
                                          <p:spTgt spid="1054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par>
                                <p:cTn id="9" presetID="23" presetClass="entr" presetSubtype="16" fill="hold" nodeType="withEffect">
                                  <p:stCondLst>
                                    <p:cond delay="0"/>
                                  </p:stCondLst>
                                  <p:childTnLst>
                                    <p:set>
                                      <p:cBhvr>
                                        <p:cTn id="10" dur="1" fill="hold">
                                          <p:stCondLst>
                                            <p:cond delay="0"/>
                                          </p:stCondLst>
                                        </p:cTn>
                                        <p:tgtEl>
                                          <p:spTgt spid="105475">
                                            <p:txEl>
                                              <p:charRg st="0" end="9"/>
                                            </p:txEl>
                                          </p:spTgt>
                                        </p:tgtEl>
                                        <p:attrNameLst>
                                          <p:attrName>style.visibility</p:attrName>
                                        </p:attrNameLst>
                                      </p:cBhvr>
                                      <p:to>
                                        <p:strVal val="visible"/>
                                      </p:to>
                                    </p:set>
                                    <p:anim calcmode="lin" valueType="num">
                                      <p:cBhvr>
                                        <p:cTn id="11" dur="500" fill="hold"/>
                                        <p:tgtEl>
                                          <p:spTgt spid="105475">
                                            <p:txEl>
                                              <p:charRg st="0" end="9"/>
                                            </p:txEl>
                                          </p:spTgt>
                                        </p:tgtEl>
                                        <p:attrNameLst>
                                          <p:attrName>ppt_w</p:attrName>
                                        </p:attrNameLst>
                                      </p:cBhvr>
                                      <p:tavLst>
                                        <p:tav tm="0">
                                          <p:val>
                                            <p:fltVal val="0.000000"/>
                                          </p:val>
                                        </p:tav>
                                        <p:tav tm="100000">
                                          <p:val>
                                            <p:strVal val="#ppt_w"/>
                                          </p:val>
                                        </p:tav>
                                      </p:tavLst>
                                    </p:anim>
                                    <p:anim calcmode="lin" valueType="num">
                                      <p:cBhvr>
                                        <p:cTn id="12" dur="500" fill="hold"/>
                                        <p:tgtEl>
                                          <p:spTgt spid="105475">
                                            <p:txEl>
                                              <p:charRg st="0" end="9"/>
                                            </p:txEl>
                                          </p:spTgt>
                                        </p:tgtEl>
                                        <p:attrNameLst>
                                          <p:attrName>ppt_h</p:attrName>
                                        </p:attrNameLst>
                                      </p:cBhvr>
                                      <p:tavLst>
                                        <p:tav tm="0">
                                          <p:val>
                                            <p:fltVal val="0.00000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5475">
                                            <p:txEl>
                                              <p:charRg st="10" end="85"/>
                                            </p:txEl>
                                          </p:spTgt>
                                        </p:tgtEl>
                                        <p:attrNameLst>
                                          <p:attrName>style.visibility</p:attrName>
                                        </p:attrNameLst>
                                      </p:cBhvr>
                                      <p:to>
                                        <p:strVal val="visible"/>
                                      </p:to>
                                    </p:set>
                                    <p:anim calcmode="lin" valueType="num">
                                      <p:cBhvr additive="base">
                                        <p:cTn id="17" dur="500" fill="hold"/>
                                        <p:tgtEl>
                                          <p:spTgt spid="105475">
                                            <p:txEl>
                                              <p:charRg st="10" end="8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5475">
                                            <p:txEl>
                                              <p:charRg st="10" end="8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7" presetClass="entr" presetSubtype="0" fill="hold" nodeType="clickEffect">
                                  <p:stCondLst>
                                    <p:cond delay="0"/>
                                  </p:stCondLst>
                                  <p:iterate type="lt">
                                    <p:tmPct val="50000"/>
                                  </p:iterate>
                                  <p:childTnLst>
                                    <p:set>
                                      <p:cBhvr>
                                        <p:cTn id="22" dur="1" fill="hold">
                                          <p:stCondLst>
                                            <p:cond delay="0"/>
                                          </p:stCondLst>
                                        </p:cTn>
                                        <p:tgtEl>
                                          <p:spTgt spid="105475">
                                            <p:txEl>
                                              <p:charRg st="86" end="130"/>
                                            </p:txEl>
                                          </p:spTgt>
                                        </p:tgtEl>
                                        <p:attrNameLst>
                                          <p:attrName>style.visibility</p:attrName>
                                        </p:attrNameLst>
                                      </p:cBhvr>
                                      <p:to>
                                        <p:strVal val="visible"/>
                                      </p:to>
                                    </p:set>
                                    <p:anim calcmode="discrete" valueType="clr">
                                      <p:cBhvr override="childStyle">
                                        <p:cTn id="23" dur="80"/>
                                        <p:tgtEl>
                                          <p:spTgt spid="105475">
                                            <p:txEl>
                                              <p:charRg st="86" end="13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05475">
                                            <p:txEl>
                                              <p:charRg st="86" end="130"/>
                                            </p:txEl>
                                          </p:spTgt>
                                        </p:tgtEl>
                                        <p:attrNameLst>
                                          <p:attrName>fillcolor</p:attrName>
                                        </p:attrNameLst>
                                      </p:cBhvr>
                                      <p:tavLst>
                                        <p:tav tm="0">
                                          <p:val>
                                            <p:clrVal>
                                              <a:schemeClr val="accent2"/>
                                            </p:clrVal>
                                          </p:val>
                                        </p:tav>
                                        <p:tav tm="50000">
                                          <p:val>
                                            <p:clrVal>
                                              <a:schemeClr val="hlink"/>
                                            </p:clrVal>
                                          </p:val>
                                        </p:tav>
                                      </p:tavLst>
                                    </p:anim>
                                    <p:set>
                                      <p:cBhvr>
                                        <p:cTn id="25" dur="80"/>
                                        <p:tgtEl>
                                          <p:spTgt spid="105475">
                                            <p:txEl>
                                              <p:charRg st="86" end="130"/>
                                            </p:txEl>
                                          </p:spTgt>
                                        </p:tgtEl>
                                        <p:attrNameLst>
                                          <p:attrName>fill.type</p:attrName>
                                        </p:attrNameLst>
                                      </p:cBhvr>
                                      <p:to>
                                        <p:strVal val="solid"/>
                                      </p:to>
                                    </p:set>
                                  </p:childTnLst>
                                  <p:subTnLst>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childTnLst>
                          </p:cTn>
                        </p:par>
                      </p:childTnLst>
                    </p:cTn>
                  </p:par>
                  <p:par>
                    <p:cTn id="26" fill="hold">
                      <p:stCondLst>
                        <p:cond delay="indefinite"/>
                      </p:stCondLst>
                      <p:childTnLst>
                        <p:par>
                          <p:cTn id="27" fill="hold">
                            <p:stCondLst>
                              <p:cond delay="0"/>
                            </p:stCondLst>
                            <p:childTnLst>
                              <p:par>
                                <p:cTn id="28" presetID="27" presetClass="entr" presetSubtype="0" fill="hold" nodeType="clickEffect">
                                  <p:stCondLst>
                                    <p:cond delay="0"/>
                                  </p:stCondLst>
                                  <p:iterate type="lt">
                                    <p:tmPct val="50000"/>
                                  </p:iterate>
                                  <p:childTnLst>
                                    <p:set>
                                      <p:cBhvr>
                                        <p:cTn id="29" dur="1" fill="hold">
                                          <p:stCondLst>
                                            <p:cond delay="0"/>
                                          </p:stCondLst>
                                        </p:cTn>
                                        <p:tgtEl>
                                          <p:spTgt spid="105475">
                                            <p:txEl>
                                              <p:charRg st="131" end="169"/>
                                            </p:txEl>
                                          </p:spTgt>
                                        </p:tgtEl>
                                        <p:attrNameLst>
                                          <p:attrName>style.visibility</p:attrName>
                                        </p:attrNameLst>
                                      </p:cBhvr>
                                      <p:to>
                                        <p:strVal val="visible"/>
                                      </p:to>
                                    </p:set>
                                    <p:anim calcmode="discrete" valueType="clr">
                                      <p:cBhvr override="childStyle">
                                        <p:cTn id="30" dur="80"/>
                                        <p:tgtEl>
                                          <p:spTgt spid="105475">
                                            <p:txEl>
                                              <p:charRg st="131" end="16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105475">
                                            <p:txEl>
                                              <p:charRg st="131" end="169"/>
                                            </p:txEl>
                                          </p:spTgt>
                                        </p:tgtEl>
                                        <p:attrNameLst>
                                          <p:attrName>fillcolor</p:attrName>
                                        </p:attrNameLst>
                                      </p:cBhvr>
                                      <p:tavLst>
                                        <p:tav tm="0">
                                          <p:val>
                                            <p:clrVal>
                                              <a:schemeClr val="accent2"/>
                                            </p:clrVal>
                                          </p:val>
                                        </p:tav>
                                        <p:tav tm="50000">
                                          <p:val>
                                            <p:clrVal>
                                              <a:schemeClr val="hlink"/>
                                            </p:clrVal>
                                          </p:val>
                                        </p:tav>
                                      </p:tavLst>
                                    </p:anim>
                                    <p:set>
                                      <p:cBhvr>
                                        <p:cTn id="32" dur="80"/>
                                        <p:tgtEl>
                                          <p:spTgt spid="105475">
                                            <p:txEl>
                                              <p:charRg st="131" end="169"/>
                                            </p:txEl>
                                          </p:spTgt>
                                        </p:tgtEl>
                                        <p:attrNameLst>
                                          <p:attrName>fill.type</p:attrName>
                                        </p:attrNameLst>
                                      </p:cBhvr>
                                      <p:to>
                                        <p:strVal val="solid"/>
                                      </p:to>
                                    </p:set>
                                  </p:childTnLst>
                                  <p:subTnLst>
                                    <p:audio>
                                      <p:cMediaNode>
                                        <p:cTn display="0" masterRel="sameClick">
                                          <p:stCondLst>
                                            <p:cond evt="begin" delay="0">
                                              <p:tn val="28"/>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32770" name="Rectangle 2"/>
          <p:cNvSpPr>
            <a:spLocks noGrp="1"/>
          </p:cNvSpPr>
          <p:nvPr>
            <p:ph type="title"/>
          </p:nvPr>
        </p:nvSpPr>
        <p:spPr/>
        <p:txBody>
          <a:bodyPr vert="horz" wrap="square" lIns="91440" tIns="45720" rIns="91440" bIns="45720" anchor="ctr" anchorCtr="0"/>
          <a:p>
            <a:pPr eaLnBrk="1" hangingPunct="1"/>
            <a:r>
              <a:rPr lang="zh-CN" altLang="en-US" dirty="0"/>
              <a:t>方法一</a:t>
            </a:r>
            <a:endParaRPr lang="zh-CN" altLang="en-US" dirty="0"/>
          </a:p>
        </p:txBody>
      </p:sp>
      <p:sp>
        <p:nvSpPr>
          <p:cNvPr id="106499" name="Rectangle 3"/>
          <p:cNvSpPr>
            <a:spLocks noGrp="1"/>
          </p:cNvSpPr>
          <p:nvPr>
            <p:ph idx="1"/>
          </p:nvPr>
        </p:nvSpPr>
        <p:spPr>
          <a:xfrm>
            <a:off x="900113" y="1268413"/>
            <a:ext cx="7786688" cy="4525963"/>
          </a:xfrm>
        </p:spPr>
        <p:txBody>
          <a:bodyPr vert="horz" wrap="square" lIns="91440" tIns="45720" rIns="91440" bIns="45720" anchor="t"/>
          <a:p>
            <a:pPr eaLnBrk="1" fontAlgn="base" hangingPunct="1"/>
            <a:r>
              <a:rPr lang="zh-CN" altLang="en-US" strike="noStrike" noProof="1" dirty="0"/>
              <a:t>根据它们的最高位把它们分类到</a:t>
            </a:r>
            <a:r>
              <a:rPr lang="en-US" altLang="zh-CN" strike="noStrike" noProof="1" dirty="0"/>
              <a:t>10</a:t>
            </a:r>
            <a:r>
              <a:rPr lang="zh-CN" altLang="en-US" strike="noStrike" noProof="1" dirty="0"/>
              <a:t>个表</a:t>
            </a:r>
            <a:r>
              <a:rPr lang="en-US" altLang="zh-CN" strike="noStrike" noProof="1" dirty="0"/>
              <a:t>L</a:t>
            </a:r>
            <a:r>
              <a:rPr lang="en-US" altLang="zh-CN" strike="noStrike" baseline="-25000" noProof="1" dirty="0"/>
              <a:t>0</a:t>
            </a:r>
            <a:r>
              <a:rPr lang="en-US" altLang="zh-CN" strike="noStrike" noProof="1" dirty="0"/>
              <a:t>,L</a:t>
            </a:r>
            <a:r>
              <a:rPr lang="en-US" altLang="zh-CN" strike="noStrike" baseline="-25000" noProof="1" dirty="0"/>
              <a:t>1</a:t>
            </a:r>
            <a:r>
              <a:rPr lang="en-US" altLang="zh-CN" strike="noStrike" noProof="1" dirty="0"/>
              <a:t>,...,L</a:t>
            </a:r>
            <a:r>
              <a:rPr lang="en-US" altLang="zh-CN" strike="noStrike" baseline="-25000" noProof="1" dirty="0"/>
              <a:t>9</a:t>
            </a:r>
            <a:r>
              <a:rPr lang="en-US" altLang="zh-CN" strike="noStrike" noProof="1" dirty="0"/>
              <a:t> </a:t>
            </a:r>
            <a:r>
              <a:rPr lang="zh-CN" altLang="en-US" strike="noStrike" noProof="1" dirty="0"/>
              <a:t>中去，因此</a:t>
            </a:r>
            <a:r>
              <a:rPr lang="en-US" altLang="zh-CN" strike="noStrike" noProof="1" dirty="0"/>
              <a:t>d</a:t>
            </a:r>
            <a:r>
              <a:rPr lang="en-US" altLang="zh-CN" strike="noStrike" baseline="-25000" noProof="1" dirty="0"/>
              <a:t>k</a:t>
            </a:r>
            <a:r>
              <a:rPr lang="en-US" altLang="zh-CN" strike="noStrike" noProof="1" dirty="0"/>
              <a:t> = 0</a:t>
            </a:r>
            <a:r>
              <a:rPr lang="zh-CN" altLang="en-US" strike="noStrike" noProof="1" dirty="0"/>
              <a:t>的那些数就分到表</a:t>
            </a:r>
            <a:r>
              <a:rPr lang="en-US" altLang="zh-CN" strike="noStrike" noProof="1" dirty="0"/>
              <a:t>L</a:t>
            </a:r>
            <a:r>
              <a:rPr lang="en-US" altLang="zh-CN" strike="noStrike" baseline="-25000" noProof="1" dirty="0"/>
              <a:t>0</a:t>
            </a:r>
            <a:r>
              <a:rPr lang="zh-CN" altLang="en-US" strike="noStrike" noProof="1" dirty="0"/>
              <a:t>中，</a:t>
            </a:r>
            <a:r>
              <a:rPr lang="en-US" altLang="zh-CN" strike="noStrike" noProof="1" dirty="0"/>
              <a:t> d</a:t>
            </a:r>
            <a:r>
              <a:rPr lang="en-US" altLang="zh-CN" strike="noStrike" baseline="-25000" noProof="1" dirty="0"/>
              <a:t>k</a:t>
            </a:r>
            <a:r>
              <a:rPr lang="en-US" altLang="zh-CN" strike="noStrike" noProof="1" dirty="0"/>
              <a:t> = 1</a:t>
            </a:r>
            <a:r>
              <a:rPr lang="zh-CN" altLang="en-US" strike="noStrike" noProof="1" dirty="0"/>
              <a:t>的那些数就分到表</a:t>
            </a:r>
            <a:r>
              <a:rPr lang="en-US" altLang="zh-CN" strike="noStrike" noProof="1" dirty="0"/>
              <a:t>L</a:t>
            </a:r>
            <a:r>
              <a:rPr lang="en-US" altLang="zh-CN" strike="noStrike" baseline="-25000" noProof="1" dirty="0"/>
              <a:t>1</a:t>
            </a:r>
            <a:r>
              <a:rPr lang="zh-CN" altLang="en-US" strike="noStrike" noProof="1" dirty="0"/>
              <a:t>中，</a:t>
            </a:r>
            <a:r>
              <a:rPr lang="en-US" altLang="zh-CN" strike="noStrike" noProof="1" dirty="0"/>
              <a:t>….</a:t>
            </a:r>
            <a:r>
              <a:rPr lang="zh-CN" altLang="en-US" strike="noStrike" noProof="1" dirty="0"/>
              <a:t>。</a:t>
            </a:r>
            <a:endParaRPr lang="zh-CN" altLang="en-US" strike="noStrike" noProof="1" dirty="0"/>
          </a:p>
          <a:p>
            <a:pPr eaLnBrk="1" fontAlgn="base" hangingPunct="1">
              <a:buNone/>
            </a:pPr>
            <a:endParaRPr lang="en-US" altLang="zh-CN" strike="noStrike" noProof="1" dirty="0"/>
          </a:p>
          <a:p>
            <a:pPr eaLnBrk="1" fontAlgn="base" hangingPunct="1"/>
            <a:r>
              <a:rPr lang="zh-CN" altLang="en-US" strike="noStrike" noProof="1" dirty="0"/>
              <a:t>这一步完成后，对于每个</a:t>
            </a:r>
            <a:r>
              <a:rPr lang="en-US" altLang="zh-CN" strike="noStrike" noProof="1" dirty="0">
                <a:sym typeface="+mn-ea"/>
              </a:rPr>
              <a:t>L</a:t>
            </a:r>
            <a:r>
              <a:rPr lang="en-US" altLang="zh-CN" strike="noStrike" baseline="-25000" noProof="1" dirty="0">
                <a:solidFill>
                  <a:schemeClr val="accent2"/>
                </a:solidFill>
                <a:uFillTx/>
                <a:sym typeface="+mn-ea"/>
              </a:rPr>
              <a:t>i</a:t>
            </a:r>
            <a:r>
              <a:rPr lang="en-US" altLang="zh-CN" strike="noStrike" noProof="1" dirty="0"/>
              <a:t> ( 0≤i≤9)</a:t>
            </a:r>
            <a:r>
              <a:rPr lang="zh-CN" altLang="en-US" strike="noStrike" noProof="1" dirty="0"/>
              <a:t>，包含最高位是</a:t>
            </a:r>
            <a:r>
              <a:rPr lang="en-US" altLang="zh-CN" strike="noStrike" noProof="1" dirty="0"/>
              <a:t>i</a:t>
            </a:r>
            <a:r>
              <a:rPr lang="zh-CN" altLang="en-US" strike="noStrike" noProof="1" dirty="0"/>
              <a:t>的那些数。</a:t>
            </a:r>
            <a:endParaRPr lang="zh-CN" altLang="en-US" strike="noStrike" noProof="1" dirty="0"/>
          </a:p>
          <a:p>
            <a:pPr eaLnBrk="1" fontAlgn="base" hangingPunct="1"/>
            <a:endParaRPr lang="en-US" altLang="zh-CN" strike="noStrike" noProof="1" dirty="0"/>
          </a:p>
          <a:p>
            <a:pPr eaLnBrk="1" fontAlgn="base" hangingPunct="1">
              <a:buNone/>
            </a:pPr>
            <a:r>
              <a:rPr lang="en-US" altLang="zh-CN" strike="noStrike" noProof="1" dirty="0"/>
              <a:t>      How to do next?</a:t>
            </a:r>
            <a:endParaRPr lang="en-US" altLang="zh-CN" strike="noStrike" noProof="1" dirty="0"/>
          </a:p>
        </p:txBody>
      </p:sp>
      <p:pic>
        <p:nvPicPr>
          <p:cNvPr id="106500" name="Picture 4" descr="question"/>
          <p:cNvPicPr>
            <a:picLocks noChangeAspect="1"/>
          </p:cNvPicPr>
          <p:nvPr/>
        </p:nvPicPr>
        <p:blipFill>
          <a:blip r:embed="rId1"/>
          <a:stretch>
            <a:fillRect/>
          </a:stretch>
        </p:blipFill>
        <p:spPr>
          <a:xfrm>
            <a:off x="1000125" y="4357688"/>
            <a:ext cx="360363" cy="360362"/>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499">
                                            <p:txEl>
                                              <p:charRg st="0" end="77"/>
                                            </p:txEl>
                                          </p:spTgt>
                                        </p:tgtEl>
                                        <p:attrNameLst>
                                          <p:attrName>style.visibility</p:attrName>
                                        </p:attrNameLst>
                                      </p:cBhvr>
                                      <p:to>
                                        <p:strVal val="visible"/>
                                      </p:to>
                                    </p:set>
                                    <p:animEffect transition="in" filter="blinds(horizontal)">
                                      <p:cBhvr>
                                        <p:cTn id="7" dur="500"/>
                                        <p:tgtEl>
                                          <p:spTgt spid="106499">
                                            <p:txEl>
                                              <p:charRg st="0" end="77"/>
                                            </p:txEl>
                                          </p:spTgt>
                                        </p:tgtEl>
                                      </p:cBhvr>
                                    </p:animEffect>
                                  </p:childTnLst>
                                  <p:subTnLst>
                                    <p:animClr clrSpc="rgb" dir="cw">
                                      <p:cBhvr override="childStyle">
                                        <p:cTn dur="1" fill="hold" display="0" masterRel="nextClick" afterEffect="1"/>
                                        <p:tgtEl>
                                          <p:spTgt spid="106499">
                                            <p:txEl>
                                              <p:charRg st="0" end="77"/>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6499">
                                            <p:txEl>
                                              <p:charRg st="78" end="113"/>
                                            </p:txEl>
                                          </p:spTgt>
                                        </p:tgtEl>
                                        <p:attrNameLst>
                                          <p:attrName>style.visibility</p:attrName>
                                        </p:attrNameLst>
                                      </p:cBhvr>
                                      <p:to>
                                        <p:strVal val="visible"/>
                                      </p:to>
                                    </p:set>
                                    <p:animEffect transition="in" filter="blinds(horizontal)">
                                      <p:cBhvr>
                                        <p:cTn id="12" dur="500"/>
                                        <p:tgtEl>
                                          <p:spTgt spid="106499">
                                            <p:txEl>
                                              <p:charRg st="78" end="113"/>
                                            </p:txEl>
                                          </p:spTgt>
                                        </p:tgtEl>
                                      </p:cBhvr>
                                    </p:animEffect>
                                  </p:childTnLst>
                                  <p:subTnLst>
                                    <p:animClr clrSpc="rgb" dir="cw">
                                      <p:cBhvr override="childStyle">
                                        <p:cTn dur="1" fill="hold" display="0" masterRel="nextClick" afterEffect="1"/>
                                        <p:tgtEl>
                                          <p:spTgt spid="106499">
                                            <p:txEl>
                                              <p:charRg st="78" end="113"/>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19" presetClass="entr" presetSubtype="10" fill="hold" nodeType="clickEffect">
                                  <p:stCondLst>
                                    <p:cond delay="0"/>
                                  </p:stCondLst>
                                  <p:childTnLst>
                                    <p:set>
                                      <p:cBhvr>
                                        <p:cTn id="16" dur="1" fill="hold">
                                          <p:stCondLst>
                                            <p:cond delay="0"/>
                                          </p:stCondLst>
                                        </p:cTn>
                                        <p:tgtEl>
                                          <p:spTgt spid="106500"/>
                                        </p:tgtEl>
                                        <p:attrNameLst>
                                          <p:attrName>style.visibility</p:attrName>
                                        </p:attrNameLst>
                                      </p:cBhvr>
                                      <p:to>
                                        <p:strVal val="visible"/>
                                      </p:to>
                                    </p:set>
                                    <p:anim calcmode="lin" valueType="num">
                                      <p:cBhvr>
                                        <p:cTn id="17" dur="5000" fill="hold"/>
                                        <p:tgtEl>
                                          <p:spTgt spid="106500"/>
                                        </p:tgtEl>
                                        <p:attrNameLst>
                                          <p:attrName>ppt_w</p:attrName>
                                        </p:attrNameLst>
                                      </p:cBhvr>
                                      <p:tavLst>
                                        <p:tav tm="0" fmla="#ppt_w*sin(2.5*pi*$)">
                                          <p:val>
                                            <p:fltVal val="0.000000"/>
                                          </p:val>
                                        </p:tav>
                                        <p:tav tm="100000">
                                          <p:val>
                                            <p:fltVal val="1.000000"/>
                                          </p:val>
                                        </p:tav>
                                      </p:tavLst>
                                    </p:anim>
                                    <p:anim calcmode="lin" valueType="num">
                                      <p:cBhvr>
                                        <p:cTn id="18" dur="5000" fill="hold"/>
                                        <p:tgtEl>
                                          <p:spTgt spid="1065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5"/>
                                            </p:cond>
                                          </p:stCondLst>
                                          <p:endCondLst>
                                            <p:cond evt="onStopAudio" delay="0">
                                              <p:tgtEl>
                                                <p:sldTgt/>
                                              </p:tgtEl>
                                            </p:cond>
                                          </p:endCondLst>
                                        </p:cTn>
                                        <p:tgtEl>
                                          <p:sndTgt r:embed="rId2" name="chimes.wav"/>
                                        </p:tgtEl>
                                      </p:cMediaNode>
                                    </p:audio>
                                  </p:subTnLst>
                                </p:cTn>
                              </p:par>
                            </p:childTnLst>
                          </p:cTn>
                        </p:par>
                      </p:childTnLst>
                    </p:cTn>
                  </p:par>
                  <p:par>
                    <p:cTn id="19" fill="hold">
                      <p:stCondLst>
                        <p:cond delay="indefinite"/>
                      </p:stCondLst>
                      <p:childTnLst>
                        <p:par>
                          <p:cTn id="20" fill="hold">
                            <p:stCondLst>
                              <p:cond delay="0"/>
                            </p:stCondLst>
                            <p:childTnLst>
                              <p:par>
                                <p:cTn id="21" presetID="27" presetClass="entr" presetSubtype="0" fill="hold" nodeType="clickEffect">
                                  <p:stCondLst>
                                    <p:cond delay="0"/>
                                  </p:stCondLst>
                                  <p:iterate type="lt">
                                    <p:tmPct val="50000"/>
                                  </p:iterate>
                                  <p:childTnLst>
                                    <p:set>
                                      <p:cBhvr>
                                        <p:cTn id="22" dur="1" fill="hold">
                                          <p:stCondLst>
                                            <p:cond delay="0"/>
                                          </p:stCondLst>
                                        </p:cTn>
                                        <p:tgtEl>
                                          <p:spTgt spid="106499">
                                            <p:txEl>
                                              <p:charRg st="114" end="136"/>
                                            </p:txEl>
                                          </p:spTgt>
                                        </p:tgtEl>
                                        <p:attrNameLst>
                                          <p:attrName>style.visibility</p:attrName>
                                        </p:attrNameLst>
                                      </p:cBhvr>
                                      <p:to>
                                        <p:strVal val="visible"/>
                                      </p:to>
                                    </p:set>
                                    <p:anim calcmode="discrete" valueType="clr">
                                      <p:cBhvr override="childStyle">
                                        <p:cTn id="23" dur="80"/>
                                        <p:tgtEl>
                                          <p:spTgt spid="106499">
                                            <p:txEl>
                                              <p:charRg st="114" end="13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06499">
                                            <p:txEl>
                                              <p:charRg st="114" end="136"/>
                                            </p:txEl>
                                          </p:spTgt>
                                        </p:tgtEl>
                                        <p:attrNameLst>
                                          <p:attrName>fillcolor</p:attrName>
                                        </p:attrNameLst>
                                      </p:cBhvr>
                                      <p:tavLst>
                                        <p:tav tm="0">
                                          <p:val>
                                            <p:clrVal>
                                              <a:schemeClr val="accent2"/>
                                            </p:clrVal>
                                          </p:val>
                                        </p:tav>
                                        <p:tav tm="50000">
                                          <p:val>
                                            <p:clrVal>
                                              <a:schemeClr val="hlink"/>
                                            </p:clrVal>
                                          </p:val>
                                        </p:tav>
                                      </p:tavLst>
                                    </p:anim>
                                    <p:set>
                                      <p:cBhvr>
                                        <p:cTn id="25" dur="80"/>
                                        <p:tgtEl>
                                          <p:spTgt spid="106499">
                                            <p:txEl>
                                              <p:charRg st="114" end="13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34818" name="Rectangle 2"/>
          <p:cNvSpPr>
            <a:spLocks noGrp="1"/>
          </p:cNvSpPr>
          <p:nvPr>
            <p:ph type="title"/>
          </p:nvPr>
        </p:nvSpPr>
        <p:spPr/>
        <p:txBody>
          <a:bodyPr vert="horz" wrap="square" lIns="91440" tIns="45720" rIns="91440" bIns="45720" anchor="ctr" anchorCtr="0"/>
          <a:p>
            <a:pPr eaLnBrk="1" hangingPunct="1"/>
            <a:r>
              <a:rPr lang="zh-CN" altLang="en-US" dirty="0"/>
              <a:t>第一种选择</a:t>
            </a:r>
            <a:r>
              <a:rPr lang="en-US" altLang="zh-CN" dirty="0"/>
              <a:t>…</a:t>
            </a:r>
            <a:endParaRPr lang="en-US" altLang="zh-CN" dirty="0"/>
          </a:p>
        </p:txBody>
      </p:sp>
      <p:sp>
        <p:nvSpPr>
          <p:cNvPr id="107523"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用</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一种</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排序算法</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对每一张表排序</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，然后把排序得到的这些表</a:t>
            </a:r>
            <a:r>
              <a:rPr kumimoji="0" lang="zh-CN" altLang="en-US" sz="2500" b="0" i="0" u="none" strike="noStrike" kern="0" cap="none" spc="0" normalizeH="0" baseline="0" noProof="0" dirty="0">
                <a:ln>
                  <a:noFill/>
                </a:ln>
                <a:solidFill>
                  <a:srgbClr val="FF0000"/>
                </a:solidFill>
                <a:effectLst/>
                <a:uLnTx/>
                <a:uFillTx/>
                <a:latin typeface="+mn-lt"/>
                <a:ea typeface="+mn-ea"/>
                <a:cs typeface="+mn-cs"/>
              </a:rPr>
              <a:t>连接成一张排序表</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在最坏的情况下，所有的数字可能有相同的最高位，这就意味着它们都在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张表中，而其余的</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9</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张表是空的。</a:t>
            </a:r>
            <a:endParaRPr kumimoji="0" lang="zh-CN" altLang="en-US"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因此如果表内排序用的算法需要</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400" b="0" i="0" u="none" strike="noStrike" kern="0" cap="none" spc="0" normalizeH="0" baseline="0" noProof="0" dirty="0" err="1">
                <a:ln>
                  <a:noFill/>
                </a:ln>
                <a:solidFill>
                  <a:schemeClr val="accent2"/>
                </a:solidFill>
                <a:effectLst/>
                <a:uLnTx/>
                <a:uFillTx/>
                <a:latin typeface="+mn-lt"/>
                <a:ea typeface="+mn-ea"/>
                <a:cs typeface="+mn-ea"/>
              </a:rPr>
              <a:t>nlog</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时间，则这种方法的运行时间将是</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400" b="0" i="0" u="none" strike="noStrike" kern="0" cap="none" spc="0" normalizeH="0" baseline="0" noProof="0" dirty="0" err="1">
                <a:ln>
                  <a:noFill/>
                </a:ln>
                <a:solidFill>
                  <a:schemeClr val="accent2"/>
                </a:solidFill>
                <a:effectLst/>
                <a:uLnTx/>
                <a:uFillTx/>
                <a:latin typeface="+mn-lt"/>
                <a:ea typeface="+mn-ea"/>
                <a:cs typeface="+mn-ea"/>
              </a:rPr>
              <a:t>nlog</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a:t>
            </a:r>
            <a:endParaRPr kumimoji="0" lang="zh-CN" altLang="en-US"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7523">
                                            <p:txEl>
                                              <p:charRg st="0" end="36"/>
                                            </p:txEl>
                                          </p:spTgt>
                                        </p:tgtEl>
                                        <p:attrNameLst>
                                          <p:attrName>style.visibility</p:attrName>
                                        </p:attrNameLst>
                                      </p:cBhvr>
                                      <p:to>
                                        <p:strVal val="visible"/>
                                      </p:to>
                                    </p:set>
                                    <p:anim calcmode="lin" valueType="num">
                                      <p:cBhvr>
                                        <p:cTn id="7" dur="500" fill="hold"/>
                                        <p:tgtEl>
                                          <p:spTgt spid="107523">
                                            <p:txEl>
                                              <p:charRg st="0" end="36"/>
                                            </p:txEl>
                                          </p:spTgt>
                                        </p:tgtEl>
                                        <p:attrNameLst>
                                          <p:attrName>ppt_w</p:attrName>
                                        </p:attrNameLst>
                                      </p:cBhvr>
                                      <p:tavLst>
                                        <p:tav tm="0">
                                          <p:val>
                                            <p:fltVal val="0.000000"/>
                                          </p:val>
                                        </p:tav>
                                        <p:tav tm="100000">
                                          <p:val>
                                            <p:strVal val="#ppt_w"/>
                                          </p:val>
                                        </p:tav>
                                      </p:tavLst>
                                    </p:anim>
                                    <p:anim calcmode="lin" valueType="num">
                                      <p:cBhvr>
                                        <p:cTn id="8" dur="500" fill="hold"/>
                                        <p:tgtEl>
                                          <p:spTgt spid="107523">
                                            <p:txEl>
                                              <p:charRg st="0" end="36"/>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107523">
                                            <p:txEl>
                                              <p:charRg st="0" end="36"/>
                                            </p:txEl>
                                          </p:spTgt>
                                        </p:tgtEl>
                                        <p:attrNameLst>
                                          <p:attrName>ppt_c</p:attrName>
                                        </p:attrNameLst>
                                      </p:cBhvr>
                                      <p:to>
                                        <a:srgbClr val="EA0000"/>
                                      </p:to>
                                    </p:animClr>
                                  </p:sub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107523">
                                            <p:txEl>
                                              <p:charRg st="37" end="86"/>
                                            </p:txEl>
                                          </p:spTgt>
                                        </p:tgtEl>
                                        <p:attrNameLst>
                                          <p:attrName>style.visibility</p:attrName>
                                        </p:attrNameLst>
                                      </p:cBhvr>
                                      <p:to>
                                        <p:strVal val="visible"/>
                                      </p:to>
                                    </p:set>
                                    <p:animEffect transition="in" filter="randombar(horizontal)">
                                      <p:cBhvr>
                                        <p:cTn id="13" dur="500"/>
                                        <p:tgtEl>
                                          <p:spTgt spid="107523">
                                            <p:txEl>
                                              <p:charRg st="37" end="86"/>
                                            </p:txEl>
                                          </p:spTgt>
                                        </p:tgtEl>
                                      </p:cBhvr>
                                    </p:animEffect>
                                  </p:childTnLst>
                                  <p:subTnLst>
                                    <p:animClr clrSpc="rgb" dir="cw">
                                      <p:cBhvr override="childStyle">
                                        <p:cTn dur="1" fill="hold" display="0" masterRel="nextClick" afterEffect="1"/>
                                        <p:tgtEl>
                                          <p:spTgt spid="107523">
                                            <p:txEl>
                                              <p:charRg st="37" end="86"/>
                                            </p:txEl>
                                          </p:spTgt>
                                        </p:tgtEl>
                                        <p:attrNameLst>
                                          <p:attrName>ppt_c</p:attrName>
                                        </p:attrNameLst>
                                      </p:cBhvr>
                                      <p:to>
                                        <a:schemeClr val="bg2"/>
                                      </p:to>
                                    </p:animClr>
                                  </p:sub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07523">
                                            <p:txEl>
                                              <p:charRg st="87" end="137"/>
                                            </p:txEl>
                                          </p:spTgt>
                                        </p:tgtEl>
                                        <p:attrNameLst>
                                          <p:attrName>style.visibility</p:attrName>
                                        </p:attrNameLst>
                                      </p:cBhvr>
                                      <p:to>
                                        <p:strVal val="visible"/>
                                      </p:to>
                                    </p:set>
                                    <p:animEffect transition="in" filter="randombar(horizontal)">
                                      <p:cBhvr>
                                        <p:cTn id="18" dur="500"/>
                                        <p:tgtEl>
                                          <p:spTgt spid="107523">
                                            <p:txEl>
                                              <p:charRg st="87" end="137"/>
                                            </p:txEl>
                                          </p:spTgt>
                                        </p:tgtEl>
                                      </p:cBhvr>
                                    </p:animEffect>
                                  </p:childTnLst>
                                  <p:subTnLst>
                                    <p:animClr clrSpc="rgb" dir="cw">
                                      <p:cBhvr override="childStyle">
                                        <p:cTn dur="1" fill="hold" display="0" masterRel="nextClick" afterEffect="1"/>
                                        <p:tgtEl>
                                          <p:spTgt spid="107523">
                                            <p:txEl>
                                              <p:charRg st="87" end="137"/>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36866" name="Rectangle 2"/>
          <p:cNvSpPr>
            <a:spLocks noGrp="1"/>
          </p:cNvSpPr>
          <p:nvPr>
            <p:ph type="title"/>
          </p:nvPr>
        </p:nvSpPr>
        <p:spPr/>
        <p:txBody>
          <a:bodyPr vert="horz" wrap="square" lIns="91440" tIns="45720" rIns="91440" bIns="45720" anchor="ctr" anchorCtr="0"/>
          <a:p>
            <a:pPr eaLnBrk="1" hangingPunct="1"/>
            <a:r>
              <a:rPr lang="zh-CN" altLang="en-US" dirty="0"/>
              <a:t>第二种选择</a:t>
            </a:r>
            <a:r>
              <a:rPr lang="en-US" altLang="zh-CN" dirty="0"/>
              <a:t>…</a:t>
            </a:r>
            <a:endParaRPr lang="en-US" altLang="zh-CN" dirty="0"/>
          </a:p>
        </p:txBody>
      </p:sp>
      <p:sp>
        <p:nvSpPr>
          <p:cNvPr id="25190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另一种可能性是对</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d</a:t>
            </a:r>
            <a:r>
              <a:rPr kumimoji="0" lang="en-US" altLang="zh-CN" sz="2800" b="0" i="0" u="none" strike="noStrike" kern="0" cap="none" spc="0" normalizeH="0" baseline="-25000" noProof="0" dirty="0">
                <a:ln>
                  <a:noFill/>
                </a:ln>
                <a:solidFill>
                  <a:schemeClr val="accent2"/>
                </a:solidFill>
                <a:effectLst/>
                <a:uLnTx/>
                <a:uFillTx/>
                <a:latin typeface="+mn-lt"/>
                <a:ea typeface="+mn-ea"/>
                <a:cs typeface="+mn-cs"/>
              </a:rPr>
              <a:t>k-1</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位上每张表递归排序。</a:t>
            </a:r>
            <a:endParaRPr kumimoji="0" lang="zh-CN" altLang="en-US"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但这种方法将导致越来越多的附加表，这是很不方便的。</a:t>
            </a:r>
            <a:endParaRPr kumimoji="0" lang="en-US" altLang="zh-CN" sz="2400" b="0" i="0" u="none" strike="noStrike" kern="0" cap="none" spc="0" normalizeH="0" baseline="0" noProof="0" dirty="0">
              <a:ln>
                <a:noFill/>
              </a:ln>
              <a:solidFill>
                <a:schemeClr val="accent2"/>
              </a:solidFill>
              <a:effectLst/>
              <a:uLnTx/>
              <a:uFillTx/>
              <a:latin typeface="+mn-ea"/>
              <a:ea typeface="+mn-ea"/>
              <a:cs typeface="+mn-ea"/>
            </a:endParaRPr>
          </a:p>
        </p:txBody>
      </p:sp>
      <p:pic>
        <p:nvPicPr>
          <p:cNvPr id="251908" name="Picture 4" descr="question"/>
          <p:cNvPicPr>
            <a:picLocks noChangeAspect="1"/>
          </p:cNvPicPr>
          <p:nvPr/>
        </p:nvPicPr>
        <p:blipFill>
          <a:blip r:embed="rId1"/>
          <a:stretch>
            <a:fillRect/>
          </a:stretch>
        </p:blipFill>
        <p:spPr>
          <a:xfrm>
            <a:off x="1187450" y="4652963"/>
            <a:ext cx="360363" cy="360362"/>
          </a:xfrm>
          <a:prstGeom prst="rect">
            <a:avLst/>
          </a:prstGeom>
          <a:noFill/>
          <a:ln w="9525">
            <a:noFill/>
          </a:ln>
        </p:spPr>
      </p:pic>
      <p:sp>
        <p:nvSpPr>
          <p:cNvPr id="251909" name="Text Box 5"/>
          <p:cNvSpPr txBox="1"/>
          <p:nvPr/>
        </p:nvSpPr>
        <p:spPr>
          <a:xfrm>
            <a:off x="1692275" y="4581525"/>
            <a:ext cx="5021263" cy="457200"/>
          </a:xfrm>
          <a:prstGeom prst="rect">
            <a:avLst/>
          </a:prstGeom>
          <a:noFill/>
          <a:ln w="9525">
            <a:noFill/>
          </a:ln>
        </p:spPr>
        <p:txBody>
          <a:bodyPr wrap="none" anchor="t" anchorCtr="0">
            <a:spAutoFit/>
          </a:bodyPr>
          <a:p>
            <a:pPr indent="0"/>
            <a:r>
              <a:rPr lang="en-US" altLang="zh-CN" sz="2400" dirty="0">
                <a:solidFill>
                  <a:srgbClr val="EA0000"/>
                </a:solidFill>
                <a:latin typeface="Times New Roman" panose="02020603050405020304" pitchFamily="18" charset="0"/>
                <a:ea typeface="宋体" panose="02010600030101010101" pitchFamily="2" charset="-122"/>
              </a:rPr>
              <a:t>Can we figure out more useful method?</a:t>
            </a:r>
            <a:endParaRPr lang="en-US" altLang="zh-CN" sz="2400" dirty="0">
              <a:solidFill>
                <a:srgbClr val="EA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1907">
                                            <p:txEl>
                                              <p:charRg st="0" end="23"/>
                                            </p:txEl>
                                          </p:spTgt>
                                        </p:tgtEl>
                                        <p:attrNameLst>
                                          <p:attrName>style.visibility</p:attrName>
                                        </p:attrNameLst>
                                      </p:cBhvr>
                                      <p:to>
                                        <p:strVal val="visible"/>
                                      </p:to>
                                    </p:set>
                                    <p:anim calcmode="lin" valueType="num">
                                      <p:cBhvr>
                                        <p:cTn id="7" dur="500" fill="hold"/>
                                        <p:tgtEl>
                                          <p:spTgt spid="251907">
                                            <p:txEl>
                                              <p:charRg st="0" end="23"/>
                                            </p:txEl>
                                          </p:spTgt>
                                        </p:tgtEl>
                                        <p:attrNameLst>
                                          <p:attrName>ppt_w</p:attrName>
                                        </p:attrNameLst>
                                      </p:cBhvr>
                                      <p:tavLst>
                                        <p:tav tm="0">
                                          <p:val>
                                            <p:fltVal val="0.000000"/>
                                          </p:val>
                                        </p:tav>
                                        <p:tav tm="100000">
                                          <p:val>
                                            <p:strVal val="#ppt_w"/>
                                          </p:val>
                                        </p:tav>
                                      </p:tavLst>
                                    </p:anim>
                                    <p:anim calcmode="lin" valueType="num">
                                      <p:cBhvr>
                                        <p:cTn id="8" dur="500" fill="hold"/>
                                        <p:tgtEl>
                                          <p:spTgt spid="251907">
                                            <p:txEl>
                                              <p:charRg st="0" end="23"/>
                                            </p:txEl>
                                          </p:spTgt>
                                        </p:tgtEl>
                                        <p:attrNameLst>
                                          <p:attrName>ppt_h</p:attrName>
                                        </p:attrNameLst>
                                      </p:cBhvr>
                                      <p:tavLst>
                                        <p:tav tm="0">
                                          <p:val>
                                            <p:fltVal val="0.000000"/>
                                          </p:val>
                                        </p:tav>
                                        <p:tav tm="100000">
                                          <p:val>
                                            <p:strVal val="#ppt_h"/>
                                          </p:val>
                                        </p:tav>
                                      </p:tavLst>
                                    </p:anim>
                                  </p:childTnLst>
                                  <p:subTnLst>
                                    <p:animClr clrSpc="rgb" dir="cw">
                                      <p:cBhvr override="childStyle">
                                        <p:cTn dur="1" fill="hold" display="0" masterRel="nextClick" afterEffect="1"/>
                                        <p:tgtEl>
                                          <p:spTgt spid="251907">
                                            <p:txEl>
                                              <p:charRg st="0" end="23"/>
                                            </p:txEl>
                                          </p:spTgt>
                                        </p:tgtEl>
                                        <p:attrNameLst>
                                          <p:attrName>ppt_c</p:attrName>
                                        </p:attrNameLst>
                                      </p:cBhvr>
                                      <p:to>
                                        <a:srgbClr val="EA0000"/>
                                      </p:to>
                                    </p:animClr>
                                  </p:sub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51907">
                                            <p:txEl>
                                              <p:charRg st="25" end="51"/>
                                            </p:txEl>
                                          </p:spTgt>
                                        </p:tgtEl>
                                        <p:attrNameLst>
                                          <p:attrName>style.visibility</p:attrName>
                                        </p:attrNameLst>
                                      </p:cBhvr>
                                      <p:to>
                                        <p:strVal val="visible"/>
                                      </p:to>
                                    </p:set>
                                    <p:animEffect transition="in" filter="randombar(horizontal)">
                                      <p:cBhvr>
                                        <p:cTn id="13" dur="500"/>
                                        <p:tgtEl>
                                          <p:spTgt spid="251907">
                                            <p:txEl>
                                              <p:charRg st="25" end="51"/>
                                            </p:txEl>
                                          </p:spTgt>
                                        </p:tgtEl>
                                      </p:cBhvr>
                                    </p:animEffect>
                                  </p:childTnLst>
                                  <p:subTnLst>
                                    <p:animClr clrSpc="rgb" dir="cw">
                                      <p:cBhvr override="childStyle">
                                        <p:cTn dur="1" fill="hold" display="0" masterRel="nextClick" afterEffect="1"/>
                                        <p:tgtEl>
                                          <p:spTgt spid="251907">
                                            <p:txEl>
                                              <p:charRg st="25" end="51"/>
                                            </p:txEl>
                                          </p:spTgt>
                                        </p:tgtEl>
                                        <p:attrNameLst>
                                          <p:attrName>ppt_c</p:attrName>
                                        </p:attrNameLst>
                                      </p:cBhvr>
                                      <p:to>
                                        <a:schemeClr val="bg2"/>
                                      </p:to>
                                    </p:animClr>
                                  </p:subTnLst>
                                </p:cTn>
                              </p:par>
                            </p:childTnLst>
                          </p:cTn>
                        </p:par>
                      </p:childTnLst>
                    </p:cTn>
                  </p:par>
                  <p:par>
                    <p:cTn id="14" fill="hold">
                      <p:stCondLst>
                        <p:cond delay="indefinite"/>
                      </p:stCondLst>
                      <p:childTnLst>
                        <p:par>
                          <p:cTn id="15" fill="hold">
                            <p:stCondLst>
                              <p:cond delay="0"/>
                            </p:stCondLst>
                            <p:childTnLst>
                              <p:par>
                                <p:cTn id="16" presetID="19" presetClass="entr" presetSubtype="10" fill="hold" nodeType="clickEffect">
                                  <p:stCondLst>
                                    <p:cond delay="0"/>
                                  </p:stCondLst>
                                  <p:childTnLst>
                                    <p:set>
                                      <p:cBhvr>
                                        <p:cTn id="17" dur="1" fill="hold">
                                          <p:stCondLst>
                                            <p:cond delay="0"/>
                                          </p:stCondLst>
                                        </p:cTn>
                                        <p:tgtEl>
                                          <p:spTgt spid="251908"/>
                                        </p:tgtEl>
                                        <p:attrNameLst>
                                          <p:attrName>style.visibility</p:attrName>
                                        </p:attrNameLst>
                                      </p:cBhvr>
                                      <p:to>
                                        <p:strVal val="visible"/>
                                      </p:to>
                                    </p:set>
                                    <p:anim calcmode="lin" valueType="num">
                                      <p:cBhvr>
                                        <p:cTn id="18" dur="5000" fill="hold"/>
                                        <p:tgtEl>
                                          <p:spTgt spid="251908"/>
                                        </p:tgtEl>
                                        <p:attrNameLst>
                                          <p:attrName>ppt_w</p:attrName>
                                        </p:attrNameLst>
                                      </p:cBhvr>
                                      <p:tavLst>
                                        <p:tav tm="0" fmla="#ppt_w*sin(2.5*pi*$)">
                                          <p:val>
                                            <p:fltVal val="0.000000"/>
                                          </p:val>
                                        </p:tav>
                                        <p:tav tm="100000">
                                          <p:val>
                                            <p:fltVal val="1.000000"/>
                                          </p:val>
                                        </p:tav>
                                      </p:tavLst>
                                    </p:anim>
                                    <p:anim calcmode="lin" valueType="num">
                                      <p:cBhvr>
                                        <p:cTn id="19" dur="5000" fill="hold"/>
                                        <p:tgtEl>
                                          <p:spTgt spid="25190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2" name="chimes.wav"/>
                                        </p:tgtEl>
                                      </p:cMediaNode>
                                    </p:audio>
                                  </p:subTnLst>
                                </p:cTn>
                              </p:par>
                            </p:childTnLst>
                          </p:cTn>
                        </p:par>
                      </p:childTnLst>
                    </p:cTn>
                  </p:par>
                  <p:par>
                    <p:cTn id="20" fill="hold">
                      <p:stCondLst>
                        <p:cond delay="indefinite"/>
                      </p:stCondLst>
                      <p:childTnLst>
                        <p:par>
                          <p:cTn id="21" fill="hold">
                            <p:stCondLst>
                              <p:cond delay="0"/>
                            </p:stCondLst>
                            <p:childTnLst>
                              <p:par>
                                <p:cTn id="22" presetID="27" presetClass="entr" presetSubtype="0" fill="hold" grpId="0" nodeType="clickEffect">
                                  <p:stCondLst>
                                    <p:cond delay="0"/>
                                  </p:stCondLst>
                                  <p:iterate type="lt">
                                    <p:tmPct val="50000"/>
                                  </p:iterate>
                                  <p:childTnLst>
                                    <p:set>
                                      <p:cBhvr>
                                        <p:cTn id="23" dur="1" fill="hold">
                                          <p:stCondLst>
                                            <p:cond delay="0"/>
                                          </p:stCondLst>
                                        </p:cTn>
                                        <p:tgtEl>
                                          <p:spTgt spid="251909"/>
                                        </p:tgtEl>
                                        <p:attrNameLst>
                                          <p:attrName>style.visibility</p:attrName>
                                        </p:attrNameLst>
                                      </p:cBhvr>
                                      <p:to>
                                        <p:strVal val="visible"/>
                                      </p:to>
                                    </p:set>
                                    <p:anim calcmode="discrete" valueType="clr">
                                      <p:cBhvr override="childStyle">
                                        <p:cTn id="24" dur="80"/>
                                        <p:tgtEl>
                                          <p:spTgt spid="251909"/>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251909"/>
                                        </p:tgtEl>
                                        <p:attrNameLst>
                                          <p:attrName>fillcolor</p:attrName>
                                        </p:attrNameLst>
                                      </p:cBhvr>
                                      <p:tavLst>
                                        <p:tav tm="0">
                                          <p:val>
                                            <p:clrVal>
                                              <a:schemeClr val="accent2"/>
                                            </p:clrVal>
                                          </p:val>
                                        </p:tav>
                                        <p:tav tm="50000">
                                          <p:val>
                                            <p:clrVal>
                                              <a:schemeClr val="hlink"/>
                                            </p:clrVal>
                                          </p:val>
                                        </p:tav>
                                      </p:tavLst>
                                    </p:anim>
                                    <p:set>
                                      <p:cBhvr>
                                        <p:cTn id="26" dur="80"/>
                                        <p:tgtEl>
                                          <p:spTgt spid="251909"/>
                                        </p:tgtEl>
                                        <p:attrNameLst>
                                          <p:attrName>fill.type</p:attrName>
                                        </p:attrNameLst>
                                      </p:cBhvr>
                                      <p:to>
                                        <p:strVal val="solid"/>
                                      </p:to>
                                    </p:set>
                                  </p:childTnLst>
                                  <p:subTnLst>
                                    <p:audio>
                                      <p:cMediaNode>
                                        <p:cTn display="0" masterRel="sameClick">
                                          <p:stCondLst>
                                            <p:cond evt="begin" delay="0">
                                              <p:tn val="22"/>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08594" name="Text Box 50"/>
          <p:cNvSpPr txBox="1"/>
          <p:nvPr/>
        </p:nvSpPr>
        <p:spPr>
          <a:xfrm>
            <a:off x="6162675" y="1849438"/>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8</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108593" name="Text Box 49"/>
          <p:cNvSpPr txBox="1"/>
          <p:nvPr/>
        </p:nvSpPr>
        <p:spPr>
          <a:xfrm>
            <a:off x="4792663" y="1854200"/>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5</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108590" name="Text Box 46"/>
          <p:cNvSpPr txBox="1"/>
          <p:nvPr/>
        </p:nvSpPr>
        <p:spPr>
          <a:xfrm>
            <a:off x="4135438" y="1849438"/>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4</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108591" name="Text Box 47"/>
          <p:cNvSpPr txBox="1"/>
          <p:nvPr/>
        </p:nvSpPr>
        <p:spPr>
          <a:xfrm>
            <a:off x="3952875" y="18446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89" name="Text Box 45"/>
          <p:cNvSpPr txBox="1"/>
          <p:nvPr/>
        </p:nvSpPr>
        <p:spPr>
          <a:xfrm>
            <a:off x="2747963" y="1868488"/>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3</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108586" name="Text Box 42"/>
          <p:cNvSpPr txBox="1"/>
          <p:nvPr/>
        </p:nvSpPr>
        <p:spPr>
          <a:xfrm>
            <a:off x="3527425" y="1863725"/>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2</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108584" name="Text Box 40"/>
          <p:cNvSpPr txBox="1"/>
          <p:nvPr/>
        </p:nvSpPr>
        <p:spPr>
          <a:xfrm>
            <a:off x="5573713" y="1844675"/>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1</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108553" name="Text Box 9"/>
          <p:cNvSpPr txBox="1"/>
          <p:nvPr/>
        </p:nvSpPr>
        <p:spPr>
          <a:xfrm>
            <a:off x="3525838" y="1868488"/>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78" name="Text Box 34"/>
          <p:cNvSpPr txBox="1"/>
          <p:nvPr/>
        </p:nvSpPr>
        <p:spPr>
          <a:xfrm>
            <a:off x="5561013" y="1849438"/>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1</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38923" name="Rectangle 2"/>
          <p:cNvSpPr>
            <a:spLocks noGrp="1"/>
          </p:cNvSpPr>
          <p:nvPr>
            <p:ph type="title"/>
          </p:nvPr>
        </p:nvSpPr>
        <p:spPr/>
        <p:txBody>
          <a:bodyPr vert="horz" wrap="square" lIns="91440" tIns="45720" rIns="91440" bIns="45720" anchor="ctr" anchorCtr="0"/>
          <a:p>
            <a:pPr eaLnBrk="1" hangingPunct="1"/>
            <a:r>
              <a:rPr lang="en-US" altLang="zh-CN" dirty="0"/>
              <a:t>         </a:t>
            </a:r>
            <a:r>
              <a:rPr lang="zh-CN" altLang="en-US" dirty="0"/>
              <a:t>惊奇的发现</a:t>
            </a:r>
            <a:endParaRPr lang="en-US" altLang="zh-CN" dirty="0"/>
          </a:p>
        </p:txBody>
      </p:sp>
      <p:sp>
        <p:nvSpPr>
          <p:cNvPr id="38924" name="Rectangle 3"/>
          <p:cNvSpPr>
            <a:spLocks noGrp="1"/>
          </p:cNvSpPr>
          <p:nvPr>
            <p:ph idx="1"/>
          </p:nvPr>
        </p:nvSpPr>
        <p:spPr/>
        <p:txBody>
          <a:bodyPr vert="horz" wrap="square" lIns="91440" tIns="45720" rIns="91440" bIns="45720" anchor="t" anchorCtr="0"/>
          <a:p>
            <a:pPr eaLnBrk="1" hangingPunct="1"/>
            <a:r>
              <a:rPr lang="en-US" altLang="zh-CN" dirty="0"/>
              <a:t>Given: A={23,32,34,45,61,78}</a:t>
            </a:r>
            <a:endParaRPr lang="en-US" altLang="zh-CN" dirty="0"/>
          </a:p>
        </p:txBody>
      </p:sp>
      <p:sp>
        <p:nvSpPr>
          <p:cNvPr id="38925" name="Text Box 7"/>
          <p:cNvSpPr txBox="1"/>
          <p:nvPr/>
        </p:nvSpPr>
        <p:spPr>
          <a:xfrm>
            <a:off x="2554288" y="186372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52" name="Text Box 8"/>
          <p:cNvSpPr txBox="1"/>
          <p:nvPr/>
        </p:nvSpPr>
        <p:spPr>
          <a:xfrm>
            <a:off x="2746375" y="1873250"/>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38927" name="Text Box 10"/>
          <p:cNvSpPr txBox="1"/>
          <p:nvPr/>
        </p:nvSpPr>
        <p:spPr>
          <a:xfrm>
            <a:off x="3343275" y="186372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55" name="Text Box 11"/>
          <p:cNvSpPr txBox="1"/>
          <p:nvPr/>
        </p:nvSpPr>
        <p:spPr>
          <a:xfrm>
            <a:off x="4125913" y="1849438"/>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38929" name="Text Box 12"/>
          <p:cNvSpPr txBox="1"/>
          <p:nvPr/>
        </p:nvSpPr>
        <p:spPr>
          <a:xfrm>
            <a:off x="3943350" y="18446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38930" name="Text Box 13"/>
          <p:cNvSpPr txBox="1"/>
          <p:nvPr/>
        </p:nvSpPr>
        <p:spPr>
          <a:xfrm>
            <a:off x="4591050" y="186372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58" name="Text Box 14"/>
          <p:cNvSpPr txBox="1"/>
          <p:nvPr/>
        </p:nvSpPr>
        <p:spPr>
          <a:xfrm>
            <a:off x="4783138" y="1873250"/>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5</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38932" name="Text Box 16"/>
          <p:cNvSpPr txBox="1"/>
          <p:nvPr/>
        </p:nvSpPr>
        <p:spPr>
          <a:xfrm>
            <a:off x="5380038" y="186372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6</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61" name="Text Box 17"/>
          <p:cNvSpPr txBox="1"/>
          <p:nvPr/>
        </p:nvSpPr>
        <p:spPr>
          <a:xfrm>
            <a:off x="6162675" y="1849438"/>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8</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38934" name="Text Box 18"/>
          <p:cNvSpPr txBox="1"/>
          <p:nvPr/>
        </p:nvSpPr>
        <p:spPr>
          <a:xfrm>
            <a:off x="5980113" y="184467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7</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63" name="Text Box 19"/>
          <p:cNvSpPr txBox="1"/>
          <p:nvPr/>
        </p:nvSpPr>
        <p:spPr>
          <a:xfrm>
            <a:off x="1692275" y="5229225"/>
            <a:ext cx="598170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Sort A according to the </a:t>
            </a:r>
            <a:r>
              <a:rPr lang="en-US" altLang="zh-CN" sz="2400" b="1" dirty="0">
                <a:solidFill>
                  <a:srgbClr val="EA0000"/>
                </a:solidFill>
                <a:latin typeface="Times New Roman" panose="02020603050405020304" pitchFamily="18" charset="0"/>
                <a:ea typeface="宋体" panose="02010600030101010101" pitchFamily="2" charset="-122"/>
              </a:rPr>
              <a:t>least</a:t>
            </a:r>
            <a:r>
              <a:rPr lang="en-US" altLang="zh-CN" sz="2400" b="1" dirty="0">
                <a:latin typeface="Times New Roman" panose="02020603050405020304" pitchFamily="18" charset="0"/>
                <a:ea typeface="宋体" panose="02010600030101010101" pitchFamily="2" charset="-122"/>
              </a:rPr>
              <a:t> significant digit</a:t>
            </a:r>
            <a:endParaRPr lang="en-US" altLang="zh-CN" sz="2400" b="1" dirty="0">
              <a:latin typeface="Times New Roman" panose="02020603050405020304" pitchFamily="18" charset="0"/>
              <a:ea typeface="宋体" panose="02010600030101010101" pitchFamily="2" charset="-122"/>
            </a:endParaRPr>
          </a:p>
        </p:txBody>
      </p:sp>
      <p:sp>
        <p:nvSpPr>
          <p:cNvPr id="108585" name="Text Box 41"/>
          <p:cNvSpPr txBox="1"/>
          <p:nvPr/>
        </p:nvSpPr>
        <p:spPr>
          <a:xfrm>
            <a:off x="5392738" y="1873250"/>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6</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87" name="Text Box 43"/>
          <p:cNvSpPr txBox="1"/>
          <p:nvPr/>
        </p:nvSpPr>
        <p:spPr>
          <a:xfrm>
            <a:off x="3344863" y="1858963"/>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88" name="Text Box 44"/>
          <p:cNvSpPr txBox="1"/>
          <p:nvPr/>
        </p:nvSpPr>
        <p:spPr>
          <a:xfrm>
            <a:off x="2555875" y="1858963"/>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92" name="Text Box 48"/>
          <p:cNvSpPr txBox="1"/>
          <p:nvPr/>
        </p:nvSpPr>
        <p:spPr>
          <a:xfrm>
            <a:off x="4600575" y="18446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108595" name="Text Box 51"/>
          <p:cNvSpPr txBox="1"/>
          <p:nvPr/>
        </p:nvSpPr>
        <p:spPr>
          <a:xfrm>
            <a:off x="5980113" y="184467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7</a:t>
            </a:r>
            <a:endParaRPr lang="en-US" altLang="zh-CN" sz="2400" b="1" dirty="0">
              <a:solidFill>
                <a:srgbClr val="EA0000"/>
              </a:solidFill>
              <a:latin typeface="Arial" panose="020B0604020202020204" pitchFamily="34" charset="0"/>
              <a:ea typeface="宋体" panose="02010600030101010101" pitchFamily="2" charset="-122"/>
            </a:endParaRPr>
          </a:p>
        </p:txBody>
      </p:sp>
      <p:pic>
        <p:nvPicPr>
          <p:cNvPr id="38941" name="Picture 52" descr="observation1"/>
          <p:cNvPicPr>
            <a:picLocks noChangeAspect="1"/>
          </p:cNvPicPr>
          <p:nvPr/>
        </p:nvPicPr>
        <p:blipFill>
          <a:blip r:embed="rId1"/>
          <a:stretch>
            <a:fillRect/>
          </a:stretch>
        </p:blipFill>
        <p:spPr>
          <a:xfrm>
            <a:off x="971550" y="404813"/>
            <a:ext cx="708025" cy="7080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8563"/>
                                        </p:tgtEl>
                                        <p:attrNameLst>
                                          <p:attrName>style.visibility</p:attrName>
                                        </p:attrNameLst>
                                      </p:cBhvr>
                                      <p:to>
                                        <p:strVal val="visible"/>
                                      </p:to>
                                    </p:set>
                                    <p:anim calcmode="discrete" valueType="clr">
                                      <p:cBhvr override="childStyle">
                                        <p:cTn id="7" dur="80"/>
                                        <p:tgtEl>
                                          <p:spTgt spid="10856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8563"/>
                                        </p:tgtEl>
                                        <p:attrNameLst>
                                          <p:attrName>fillcolor</p:attrName>
                                        </p:attrNameLst>
                                      </p:cBhvr>
                                      <p:tavLst>
                                        <p:tav tm="0">
                                          <p:val>
                                            <p:clrVal>
                                              <a:schemeClr val="accent2"/>
                                            </p:clrVal>
                                          </p:val>
                                        </p:tav>
                                        <p:tav tm="50000">
                                          <p:val>
                                            <p:clrVal>
                                              <a:schemeClr val="hlink"/>
                                            </p:clrVal>
                                          </p:val>
                                        </p:tav>
                                      </p:tavLst>
                                    </p:anim>
                                    <p:set>
                                      <p:cBhvr>
                                        <p:cTn id="9" dur="80"/>
                                        <p:tgtEl>
                                          <p:spTgt spid="10856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mph" presetSubtype="2" fill="hold" grpId="0" nodeType="clickEffect">
                                  <p:stCondLst>
                                    <p:cond delay="0"/>
                                  </p:stCondLst>
                                  <p:childTnLst>
                                    <p:animClr clrSpc="rgb" dir="cw">
                                      <p:cBhvr override="childStyle">
                                        <p:cTn id="13" dur="2000" fill="hold"/>
                                        <p:tgtEl>
                                          <p:spTgt spid="108552"/>
                                        </p:tgtEl>
                                        <p:attrNameLst>
                                          <p:attrName>style.color</p:attrName>
                                        </p:attrNameLst>
                                      </p:cBhvr>
                                      <p:to>
                                        <a:schemeClr val="accent2"/>
                                      </p:to>
                                    </p:animClr>
                                  </p:childTnLst>
                                </p:cTn>
                              </p:par>
                              <p:par>
                                <p:cTn id="14" presetID="3" presetClass="emph" presetSubtype="2" fill="hold" grpId="0" nodeType="withEffect">
                                  <p:stCondLst>
                                    <p:cond delay="0"/>
                                  </p:stCondLst>
                                  <p:childTnLst>
                                    <p:animClr clrSpc="rgb" dir="cw">
                                      <p:cBhvr override="childStyle">
                                        <p:cTn id="15" dur="2000" fill="hold"/>
                                        <p:tgtEl>
                                          <p:spTgt spid="108553"/>
                                        </p:tgtEl>
                                        <p:attrNameLst>
                                          <p:attrName>style.color</p:attrName>
                                        </p:attrNameLst>
                                      </p:cBhvr>
                                      <p:to>
                                        <a:schemeClr val="accent2"/>
                                      </p:to>
                                    </p:animClr>
                                  </p:childTnLst>
                                </p:cTn>
                              </p:par>
                              <p:par>
                                <p:cTn id="16" presetID="3" presetClass="emph" presetSubtype="2" fill="hold" grpId="0" nodeType="withEffect">
                                  <p:stCondLst>
                                    <p:cond delay="0"/>
                                  </p:stCondLst>
                                  <p:childTnLst>
                                    <p:animClr clrSpc="rgb" dir="cw">
                                      <p:cBhvr override="childStyle">
                                        <p:cTn id="17" dur="2000" fill="hold"/>
                                        <p:tgtEl>
                                          <p:spTgt spid="108555"/>
                                        </p:tgtEl>
                                        <p:attrNameLst>
                                          <p:attrName>style.color</p:attrName>
                                        </p:attrNameLst>
                                      </p:cBhvr>
                                      <p:to>
                                        <a:schemeClr val="accent2"/>
                                      </p:to>
                                    </p:animClr>
                                  </p:childTnLst>
                                </p:cTn>
                              </p:par>
                              <p:par>
                                <p:cTn id="18" presetID="3" presetClass="emph" presetSubtype="2" fill="hold" grpId="0" nodeType="withEffect">
                                  <p:stCondLst>
                                    <p:cond delay="0"/>
                                  </p:stCondLst>
                                  <p:childTnLst>
                                    <p:animClr clrSpc="rgb" dir="cw">
                                      <p:cBhvr override="childStyle">
                                        <p:cTn id="19" dur="2000" fill="hold"/>
                                        <p:tgtEl>
                                          <p:spTgt spid="108558"/>
                                        </p:tgtEl>
                                        <p:attrNameLst>
                                          <p:attrName>style.color</p:attrName>
                                        </p:attrNameLst>
                                      </p:cBhvr>
                                      <p:to>
                                        <a:schemeClr val="accent2"/>
                                      </p:to>
                                    </p:animClr>
                                  </p:childTnLst>
                                </p:cTn>
                              </p:par>
                              <p:par>
                                <p:cTn id="20" presetID="3" presetClass="emph" presetSubtype="2" fill="hold" grpId="0" nodeType="withEffect">
                                  <p:stCondLst>
                                    <p:cond delay="0"/>
                                  </p:stCondLst>
                                  <p:childTnLst>
                                    <p:animClr clrSpc="rgb" dir="cw">
                                      <p:cBhvr override="childStyle">
                                        <p:cTn id="21" dur="2000" fill="hold"/>
                                        <p:tgtEl>
                                          <p:spTgt spid="108561"/>
                                        </p:tgtEl>
                                        <p:attrNameLst>
                                          <p:attrName>style.color</p:attrName>
                                        </p:attrNameLst>
                                      </p:cBhvr>
                                      <p:to>
                                        <a:schemeClr val="accent2"/>
                                      </p:to>
                                    </p:animClr>
                                  </p:childTnLst>
                                </p:cTn>
                              </p:par>
                              <p:par>
                                <p:cTn id="22" presetID="3" presetClass="emph" presetSubtype="2" fill="hold" grpId="0" nodeType="withEffect">
                                  <p:stCondLst>
                                    <p:cond delay="0"/>
                                  </p:stCondLst>
                                  <p:childTnLst>
                                    <p:animClr clrSpc="rgb" dir="cw">
                                      <p:cBhvr override="childStyle">
                                        <p:cTn id="23" dur="2000" fill="hold"/>
                                        <p:tgtEl>
                                          <p:spTgt spid="108578"/>
                                        </p:tgtEl>
                                        <p:attrNameLst>
                                          <p:attrName>style.color</p:attrName>
                                        </p:attrNameLst>
                                      </p:cBhvr>
                                      <p:to>
                                        <a:schemeClr val="accent2"/>
                                      </p:to>
                                    </p:animClr>
                                  </p:childTnLst>
                                </p:cTn>
                              </p:par>
                              <p:par>
                                <p:cTn id="24" presetID="26" presetClass="emph" presetSubtype="0" fill="hold" grpId="1" nodeType="withEffect">
                                  <p:stCondLst>
                                    <p:cond delay="0"/>
                                  </p:stCondLst>
                                  <p:childTnLst>
                                    <p:animEffect transition="out" filter="fade">
                                      <p:cBhvr>
                                        <p:cTn id="25" dur="500" tmFilter="0, 0; .2, .5; .8, .5; 1, 0"/>
                                        <p:tgtEl>
                                          <p:spTgt spid="108578"/>
                                        </p:tgtEl>
                                      </p:cBhvr>
                                    </p:animEffect>
                                    <p:animScale>
                                      <p:cBhvr>
                                        <p:cTn id="26" dur="250" autoRev="1" fill="hold"/>
                                        <p:tgtEl>
                                          <p:spTgt spid="108578"/>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0" nodeType="clickEffect">
                                  <p:stCondLst>
                                    <p:cond delay="0"/>
                                  </p:stCondLst>
                                  <p:childTnLst>
                                    <p:animMotion origin="layout" path="M 0 0 L -0.31493 0.08371 " pathEditMode="relative" ptsTypes="AA">
                                      <p:cBhvr>
                                        <p:cTn id="30" dur="2000" fill="hold"/>
                                        <p:tgtEl>
                                          <p:spTgt spid="108584"/>
                                        </p:tgtEl>
                                        <p:attrNameLst>
                                          <p:attrName>ppt_x</p:attrName>
                                          <p:attrName>ppt_y</p:attrName>
                                        </p:attrNameLst>
                                      </p:cBhvr>
                                    </p:animMotion>
                                  </p:childTnLst>
                                </p:cTn>
                              </p:par>
                              <p:par>
                                <p:cTn id="31" presetID="0" presetClass="path" presetSubtype="0" accel="50000" decel="50000" fill="hold" grpId="0" nodeType="withEffect">
                                  <p:stCondLst>
                                    <p:cond delay="0"/>
                                  </p:stCondLst>
                                  <p:childTnLst>
                                    <p:animMotion origin="layout" path="M 0 0 L -0.31493 0.08371 " pathEditMode="relative" ptsTypes="AA">
                                      <p:cBhvr>
                                        <p:cTn id="32" dur="2000" fill="hold"/>
                                        <p:tgtEl>
                                          <p:spTgt spid="108585"/>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0" nodeType="clickEffect">
                                  <p:stCondLst>
                                    <p:cond delay="0"/>
                                  </p:stCondLst>
                                  <p:childTnLst>
                                    <p:animMotion origin="layout" path="M 0 0 L 0 0.08372 " pathEditMode="relative" ptsTypes="AA">
                                      <p:cBhvr>
                                        <p:cTn id="36" dur="2000" fill="hold"/>
                                        <p:tgtEl>
                                          <p:spTgt spid="108586"/>
                                        </p:tgtEl>
                                        <p:attrNameLst>
                                          <p:attrName>ppt_x</p:attrName>
                                          <p:attrName>ppt_y</p:attrName>
                                        </p:attrNameLst>
                                      </p:cBhvr>
                                    </p:animMotion>
                                  </p:childTnLst>
                                </p:cTn>
                              </p:par>
                              <p:par>
                                <p:cTn id="37" presetID="0" presetClass="path" presetSubtype="0" accel="50000" decel="50000" fill="hold" grpId="0" nodeType="withEffect">
                                  <p:stCondLst>
                                    <p:cond delay="0"/>
                                  </p:stCondLst>
                                  <p:childTnLst>
                                    <p:animMotion origin="layout" path="M 0 0 L 0 0.08372 " pathEditMode="relative" ptsTypes="AA">
                                      <p:cBhvr>
                                        <p:cTn id="38" dur="2000" fill="hold"/>
                                        <p:tgtEl>
                                          <p:spTgt spid="10858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0" nodeType="clickEffect">
                                  <p:stCondLst>
                                    <p:cond delay="0"/>
                                  </p:stCondLst>
                                  <p:childTnLst>
                                    <p:animMotion origin="layout" path="M -1.66667E-6 -4.16281E-6 L 0.1566 0.08904 " pathEditMode="relative" rAng="0" ptsTypes="AA">
                                      <p:cBhvr>
                                        <p:cTn id="42" dur="2000" fill="hold"/>
                                        <p:tgtEl>
                                          <p:spTgt spid="108589"/>
                                        </p:tgtEl>
                                        <p:attrNameLst>
                                          <p:attrName>ppt_x</p:attrName>
                                          <p:attrName>ppt_y</p:attrName>
                                        </p:attrNameLst>
                                      </p:cBhvr>
                                      <p:rCtr x="7800" y="4400"/>
                                    </p:animMotion>
                                  </p:childTnLst>
                                </p:cTn>
                              </p:par>
                              <p:par>
                                <p:cTn id="43" presetID="0" presetClass="path" presetSubtype="0" accel="50000" decel="50000" fill="hold" grpId="0" nodeType="withEffect">
                                  <p:stCondLst>
                                    <p:cond delay="0"/>
                                  </p:stCondLst>
                                  <p:childTnLst>
                                    <p:animMotion origin="layout" path="M -4.72222E-6 3.44126E-6 L 0.16181 0.09042 " pathEditMode="relative" rAng="0" ptsTypes="AA">
                                      <p:cBhvr>
                                        <p:cTn id="44" dur="2000" fill="hold"/>
                                        <p:tgtEl>
                                          <p:spTgt spid="108588"/>
                                        </p:tgtEl>
                                        <p:attrNameLst>
                                          <p:attrName>ppt_x</p:attrName>
                                          <p:attrName>ppt_y</p:attrName>
                                        </p:attrNameLst>
                                      </p:cBhvr>
                                      <p:rCtr x="8100" y="4500"/>
                                    </p:animMotion>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0" nodeType="clickEffect">
                                  <p:stCondLst>
                                    <p:cond delay="0"/>
                                  </p:stCondLst>
                                  <p:childTnLst>
                                    <p:animMotion origin="layout" path="M 0 0 L 0.07882 0.09435 " pathEditMode="relative" ptsTypes="AA">
                                      <p:cBhvr>
                                        <p:cTn id="48" dur="2000" fill="hold"/>
                                        <p:tgtEl>
                                          <p:spTgt spid="108590"/>
                                        </p:tgtEl>
                                        <p:attrNameLst>
                                          <p:attrName>ppt_x</p:attrName>
                                          <p:attrName>ppt_y</p:attrName>
                                        </p:attrNameLst>
                                      </p:cBhvr>
                                    </p:animMotion>
                                  </p:childTnLst>
                                </p:cTn>
                              </p:par>
                              <p:par>
                                <p:cTn id="49" presetID="0" presetClass="path" presetSubtype="0" accel="50000" decel="50000" fill="hold" grpId="0" nodeType="withEffect">
                                  <p:stCondLst>
                                    <p:cond delay="0"/>
                                  </p:stCondLst>
                                  <p:childTnLst>
                                    <p:animMotion origin="layout" path="M 0 0 L 0.07882 0.09435 " pathEditMode="relative" ptsTypes="AA">
                                      <p:cBhvr>
                                        <p:cTn id="50" dur="2000" fill="hold"/>
                                        <p:tgtEl>
                                          <p:spTgt spid="108591"/>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grpId="0" nodeType="clickEffect">
                                  <p:stCondLst>
                                    <p:cond delay="0"/>
                                  </p:stCondLst>
                                  <p:childTnLst>
                                    <p:animMotion origin="layout" path="M -2.77778E-6 -2.75671E-6 L 0.08264 0.09112 " pathEditMode="relative" rAng="0" ptsTypes="AA">
                                      <p:cBhvr>
                                        <p:cTn id="54" dur="2000" fill="hold"/>
                                        <p:tgtEl>
                                          <p:spTgt spid="108593"/>
                                        </p:tgtEl>
                                        <p:attrNameLst>
                                          <p:attrName>ppt_x</p:attrName>
                                          <p:attrName>ppt_y</p:attrName>
                                        </p:attrNameLst>
                                      </p:cBhvr>
                                      <p:rCtr x="4100" y="4600"/>
                                    </p:animMotion>
                                  </p:childTnLst>
                                </p:cTn>
                              </p:par>
                              <p:par>
                                <p:cTn id="55" presetID="0" presetClass="path" presetSubtype="0" accel="50000" decel="50000" fill="hold" grpId="0" nodeType="withEffect">
                                  <p:stCondLst>
                                    <p:cond delay="0"/>
                                  </p:stCondLst>
                                  <p:childTnLst>
                                    <p:animMotion origin="layout" path="M 4.16667E-6 4.84736E-6 L 0.08003 0.0925 " pathEditMode="relative" rAng="0" ptsTypes="AA">
                                      <p:cBhvr>
                                        <p:cTn id="56" dur="2000" fill="hold"/>
                                        <p:tgtEl>
                                          <p:spTgt spid="108592"/>
                                        </p:tgtEl>
                                        <p:attrNameLst>
                                          <p:attrName>ppt_x</p:attrName>
                                          <p:attrName>ppt_y</p:attrName>
                                        </p:attrNameLst>
                                      </p:cBhvr>
                                      <p:rCtr x="4000" y="4600"/>
                                    </p:animMotion>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0" nodeType="clickEffect">
                                  <p:stCondLst>
                                    <p:cond delay="0"/>
                                  </p:stCondLst>
                                  <p:childTnLst>
                                    <p:animMotion origin="layout" path="M 0 0 L 0 0.08395 " pathEditMode="relative" ptsTypes="AA">
                                      <p:cBhvr>
                                        <p:cTn id="60" dur="2000" fill="hold"/>
                                        <p:tgtEl>
                                          <p:spTgt spid="108594"/>
                                        </p:tgtEl>
                                        <p:attrNameLst>
                                          <p:attrName>ppt_x</p:attrName>
                                          <p:attrName>ppt_y</p:attrName>
                                        </p:attrNameLst>
                                      </p:cBhvr>
                                    </p:animMotion>
                                  </p:childTnLst>
                                </p:cTn>
                              </p:par>
                              <p:par>
                                <p:cTn id="61" presetID="0" presetClass="path" presetSubtype="0" accel="50000" decel="50000" fill="hold" grpId="0" nodeType="withEffect">
                                  <p:stCondLst>
                                    <p:cond delay="0"/>
                                  </p:stCondLst>
                                  <p:childTnLst>
                                    <p:animMotion origin="layout" path="M 0 0 L 0 0.08395 " pathEditMode="relative" ptsTypes="AA">
                                      <p:cBhvr>
                                        <p:cTn id="62" dur="2000" fill="hold"/>
                                        <p:tgtEl>
                                          <p:spTgt spid="10859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94" grpId="0"/>
      <p:bldP spid="108593" grpId="0"/>
      <p:bldP spid="108590" grpId="0"/>
      <p:bldP spid="108591" grpId="0"/>
      <p:bldP spid="108589" grpId="0"/>
      <p:bldP spid="108586" grpId="0"/>
      <p:bldP spid="108584" grpId="0"/>
      <p:bldP spid="108553" grpId="0"/>
      <p:bldP spid="108578" grpId="0"/>
      <p:bldP spid="108578" grpId="1"/>
      <p:bldP spid="108552" grpId="0"/>
      <p:bldP spid="108555" grpId="0"/>
      <p:bldP spid="108558" grpId="0"/>
      <p:bldP spid="108561" grpId="0"/>
      <p:bldP spid="108563" grpId="0"/>
      <p:bldP spid="108585" grpId="0"/>
      <p:bldP spid="108587" grpId="0"/>
      <p:bldP spid="108588" grpId="0"/>
      <p:bldP spid="108592" grpId="0"/>
      <p:bldP spid="10859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243749" name="Text Box 37"/>
          <p:cNvSpPr txBox="1"/>
          <p:nvPr/>
        </p:nvSpPr>
        <p:spPr>
          <a:xfrm>
            <a:off x="2765425" y="2497138"/>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1</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63" name="Text Box 36"/>
          <p:cNvSpPr txBox="1"/>
          <p:nvPr/>
        </p:nvSpPr>
        <p:spPr>
          <a:xfrm>
            <a:off x="3527425" y="2520950"/>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2</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51" name="Text Box 39"/>
          <p:cNvSpPr txBox="1"/>
          <p:nvPr/>
        </p:nvSpPr>
        <p:spPr>
          <a:xfrm>
            <a:off x="4144963" y="2520950"/>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3</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53" name="Text Box 41"/>
          <p:cNvSpPr txBox="1"/>
          <p:nvPr/>
        </p:nvSpPr>
        <p:spPr>
          <a:xfrm>
            <a:off x="4846638" y="2497138"/>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4</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56" name="Text Box 44"/>
          <p:cNvSpPr txBox="1"/>
          <p:nvPr/>
        </p:nvSpPr>
        <p:spPr>
          <a:xfrm>
            <a:off x="5503863" y="2520950"/>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5</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58" name="Text Box 46"/>
          <p:cNvSpPr txBox="1"/>
          <p:nvPr/>
        </p:nvSpPr>
        <p:spPr>
          <a:xfrm>
            <a:off x="6164263" y="2497138"/>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8</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68" name="Text Box 21"/>
          <p:cNvSpPr txBox="1"/>
          <p:nvPr/>
        </p:nvSpPr>
        <p:spPr>
          <a:xfrm>
            <a:off x="6162675" y="1849438"/>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8</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69" name="Text Box 10"/>
          <p:cNvSpPr txBox="1"/>
          <p:nvPr/>
        </p:nvSpPr>
        <p:spPr>
          <a:xfrm>
            <a:off x="5561013" y="1849438"/>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1</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70" name="Text Box 19"/>
          <p:cNvSpPr txBox="1"/>
          <p:nvPr/>
        </p:nvSpPr>
        <p:spPr>
          <a:xfrm>
            <a:off x="4783138" y="1873250"/>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5</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71" name="Text Box 16"/>
          <p:cNvSpPr txBox="1"/>
          <p:nvPr/>
        </p:nvSpPr>
        <p:spPr>
          <a:xfrm>
            <a:off x="4125913" y="1849438"/>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72" name="Text Box 9"/>
          <p:cNvSpPr txBox="1"/>
          <p:nvPr/>
        </p:nvSpPr>
        <p:spPr>
          <a:xfrm>
            <a:off x="3525838" y="1868488"/>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73" name="Text Box 14"/>
          <p:cNvSpPr txBox="1"/>
          <p:nvPr/>
        </p:nvSpPr>
        <p:spPr>
          <a:xfrm>
            <a:off x="2746375" y="1873250"/>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74" name="Text Box 2"/>
          <p:cNvSpPr txBox="1"/>
          <p:nvPr/>
        </p:nvSpPr>
        <p:spPr>
          <a:xfrm>
            <a:off x="6162675" y="1849438"/>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8</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75" name="Text Box 3"/>
          <p:cNvSpPr txBox="1"/>
          <p:nvPr/>
        </p:nvSpPr>
        <p:spPr>
          <a:xfrm>
            <a:off x="4792663" y="1854200"/>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5</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76" name="Text Box 4"/>
          <p:cNvSpPr txBox="1"/>
          <p:nvPr/>
        </p:nvSpPr>
        <p:spPr>
          <a:xfrm>
            <a:off x="4135438" y="1849438"/>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4</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77" name="Text Box 5"/>
          <p:cNvSpPr txBox="1"/>
          <p:nvPr/>
        </p:nvSpPr>
        <p:spPr>
          <a:xfrm>
            <a:off x="3952875" y="18446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78" name="Text Box 6"/>
          <p:cNvSpPr txBox="1"/>
          <p:nvPr/>
        </p:nvSpPr>
        <p:spPr>
          <a:xfrm>
            <a:off x="2747963" y="1868488"/>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3</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79" name="Text Box 7"/>
          <p:cNvSpPr txBox="1"/>
          <p:nvPr/>
        </p:nvSpPr>
        <p:spPr>
          <a:xfrm>
            <a:off x="3527425" y="1863725"/>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2</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80" name="Text Box 8"/>
          <p:cNvSpPr txBox="1"/>
          <p:nvPr/>
        </p:nvSpPr>
        <p:spPr>
          <a:xfrm>
            <a:off x="5573713" y="1844675"/>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1</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81" name="Rectangle 11"/>
          <p:cNvSpPr>
            <a:spLocks noGrp="1"/>
          </p:cNvSpPr>
          <p:nvPr>
            <p:ph type="title"/>
          </p:nvPr>
        </p:nvSpPr>
        <p:spPr/>
        <p:txBody>
          <a:bodyPr vert="horz" wrap="square" lIns="91440" tIns="45720" rIns="91440" bIns="45720" anchor="ctr" anchorCtr="0"/>
          <a:p>
            <a:pPr eaLnBrk="1" hangingPunct="1"/>
            <a:r>
              <a:rPr lang="zh-CN" altLang="en-US" dirty="0"/>
              <a:t>         惊奇的发现</a:t>
            </a:r>
            <a:endParaRPr lang="en-US" altLang="zh-CN" dirty="0"/>
          </a:p>
        </p:txBody>
      </p:sp>
      <p:sp>
        <p:nvSpPr>
          <p:cNvPr id="40982" name="Rectangle 12"/>
          <p:cNvSpPr>
            <a:spLocks noGrp="1"/>
          </p:cNvSpPr>
          <p:nvPr>
            <p:ph idx="1"/>
          </p:nvPr>
        </p:nvSpPr>
        <p:spPr/>
        <p:txBody>
          <a:bodyPr vert="horz" wrap="square" lIns="91440" tIns="45720" rIns="91440" bIns="45720" anchor="t" anchorCtr="0"/>
          <a:p>
            <a:pPr eaLnBrk="1" hangingPunct="1"/>
            <a:r>
              <a:rPr lang="en-US" altLang="zh-CN" dirty="0"/>
              <a:t>Given: A={23,32,34,45,61,78}</a:t>
            </a:r>
            <a:endParaRPr lang="en-US" altLang="zh-CN" dirty="0"/>
          </a:p>
        </p:txBody>
      </p:sp>
      <p:sp>
        <p:nvSpPr>
          <p:cNvPr id="40983" name="Text Box 13"/>
          <p:cNvSpPr txBox="1"/>
          <p:nvPr/>
        </p:nvSpPr>
        <p:spPr>
          <a:xfrm>
            <a:off x="2554288" y="186372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84" name="Text Box 15"/>
          <p:cNvSpPr txBox="1"/>
          <p:nvPr/>
        </p:nvSpPr>
        <p:spPr>
          <a:xfrm>
            <a:off x="3343275" y="186372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85" name="Text Box 17"/>
          <p:cNvSpPr txBox="1"/>
          <p:nvPr/>
        </p:nvSpPr>
        <p:spPr>
          <a:xfrm>
            <a:off x="3943350" y="18446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86" name="Text Box 18"/>
          <p:cNvSpPr txBox="1"/>
          <p:nvPr/>
        </p:nvSpPr>
        <p:spPr>
          <a:xfrm>
            <a:off x="4591050" y="186372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87" name="Text Box 20"/>
          <p:cNvSpPr txBox="1"/>
          <p:nvPr/>
        </p:nvSpPr>
        <p:spPr>
          <a:xfrm>
            <a:off x="5380038" y="186372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6</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88" name="Text Box 22"/>
          <p:cNvSpPr txBox="1"/>
          <p:nvPr/>
        </p:nvSpPr>
        <p:spPr>
          <a:xfrm>
            <a:off x="5980113" y="184467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7</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35" name="Text Box 23"/>
          <p:cNvSpPr txBox="1"/>
          <p:nvPr/>
        </p:nvSpPr>
        <p:spPr>
          <a:xfrm>
            <a:off x="1692275" y="5229225"/>
            <a:ext cx="6016625"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Sort A according to the </a:t>
            </a:r>
            <a:r>
              <a:rPr lang="en-US" altLang="zh-CN" sz="2400" b="1" dirty="0">
                <a:solidFill>
                  <a:srgbClr val="EA0000"/>
                </a:solidFill>
                <a:latin typeface="Times New Roman" panose="02020603050405020304" pitchFamily="18" charset="0"/>
                <a:ea typeface="宋体" panose="02010600030101010101" pitchFamily="2" charset="-122"/>
              </a:rPr>
              <a:t>most</a:t>
            </a:r>
            <a:r>
              <a:rPr lang="en-US" altLang="zh-CN" sz="2400" b="1" dirty="0">
                <a:latin typeface="Times New Roman" panose="02020603050405020304" pitchFamily="18" charset="0"/>
                <a:ea typeface="宋体" panose="02010600030101010101" pitchFamily="2" charset="-122"/>
              </a:rPr>
              <a:t> significant digit</a:t>
            </a:r>
            <a:endParaRPr lang="en-US" altLang="zh-CN" sz="2400" b="1" dirty="0">
              <a:latin typeface="Times New Roman" panose="02020603050405020304" pitchFamily="18" charset="0"/>
              <a:ea typeface="宋体" panose="02010600030101010101" pitchFamily="2" charset="-122"/>
            </a:endParaRPr>
          </a:p>
        </p:txBody>
      </p:sp>
      <p:sp>
        <p:nvSpPr>
          <p:cNvPr id="40990" name="Text Box 24"/>
          <p:cNvSpPr txBox="1"/>
          <p:nvPr/>
        </p:nvSpPr>
        <p:spPr>
          <a:xfrm>
            <a:off x="5392738" y="1873250"/>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6</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91" name="Text Box 25"/>
          <p:cNvSpPr txBox="1"/>
          <p:nvPr/>
        </p:nvSpPr>
        <p:spPr>
          <a:xfrm>
            <a:off x="3344863" y="1858963"/>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92" name="Text Box 26"/>
          <p:cNvSpPr txBox="1"/>
          <p:nvPr/>
        </p:nvSpPr>
        <p:spPr>
          <a:xfrm>
            <a:off x="2555875" y="1858963"/>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93" name="Text Box 27"/>
          <p:cNvSpPr txBox="1"/>
          <p:nvPr/>
        </p:nvSpPr>
        <p:spPr>
          <a:xfrm>
            <a:off x="4600575" y="18446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94" name="Text Box 28"/>
          <p:cNvSpPr txBox="1"/>
          <p:nvPr/>
        </p:nvSpPr>
        <p:spPr>
          <a:xfrm>
            <a:off x="5980113" y="184467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7</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40995" name="Text Box 29"/>
          <p:cNvSpPr txBox="1"/>
          <p:nvPr/>
        </p:nvSpPr>
        <p:spPr>
          <a:xfrm>
            <a:off x="6164263" y="2495550"/>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8</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96" name="Text Box 30"/>
          <p:cNvSpPr txBox="1"/>
          <p:nvPr/>
        </p:nvSpPr>
        <p:spPr>
          <a:xfrm>
            <a:off x="5513388" y="2525713"/>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5</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0997" name="Text Box 31"/>
          <p:cNvSpPr txBox="1"/>
          <p:nvPr/>
        </p:nvSpPr>
        <p:spPr>
          <a:xfrm>
            <a:off x="4841875" y="2495550"/>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4</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44" name="Text Box 32"/>
          <p:cNvSpPr txBox="1"/>
          <p:nvPr/>
        </p:nvSpPr>
        <p:spPr>
          <a:xfrm>
            <a:off x="4673600" y="2492375"/>
            <a:ext cx="354013" cy="457200"/>
          </a:xfrm>
          <a:prstGeom prst="rect">
            <a:avLst/>
          </a:prstGeom>
          <a:noFill/>
          <a:ln w="9525">
            <a:noFill/>
          </a:ln>
        </p:spPr>
        <p:txBody>
          <a:bodyPr wrap="none" anchor="t" anchorCtr="0">
            <a:spAutoFit/>
          </a:bodyPr>
          <a:p>
            <a:pPr indent="0"/>
            <a:r>
              <a:rPr lang="en-US" altLang="zh-CN" sz="2400" b="1" dirty="0">
                <a:solidFill>
                  <a:srgbClr val="006600"/>
                </a:solidFill>
                <a:latin typeface="Arial" panose="020B0604020202020204" pitchFamily="34" charset="0"/>
                <a:ea typeface="宋体" panose="02010600030101010101" pitchFamily="2" charset="-122"/>
              </a:rPr>
              <a:t>3</a:t>
            </a:r>
            <a:endParaRPr lang="en-US" altLang="zh-CN" sz="2400" b="1" dirty="0">
              <a:solidFill>
                <a:srgbClr val="006600"/>
              </a:solidFill>
              <a:latin typeface="Arial" panose="020B0604020202020204" pitchFamily="34" charset="0"/>
              <a:ea typeface="宋体" panose="02010600030101010101" pitchFamily="2" charset="-122"/>
            </a:endParaRPr>
          </a:p>
        </p:txBody>
      </p:sp>
      <p:sp>
        <p:nvSpPr>
          <p:cNvPr id="40999" name="Text Box 33"/>
          <p:cNvSpPr txBox="1"/>
          <p:nvPr/>
        </p:nvSpPr>
        <p:spPr>
          <a:xfrm>
            <a:off x="4146550" y="2511425"/>
            <a:ext cx="354013"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3</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46" name="Text Box 34"/>
          <p:cNvSpPr txBox="1"/>
          <p:nvPr/>
        </p:nvSpPr>
        <p:spPr>
          <a:xfrm>
            <a:off x="3529013" y="2511425"/>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2</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41001" name="Text Box 35"/>
          <p:cNvSpPr txBox="1"/>
          <p:nvPr/>
        </p:nvSpPr>
        <p:spPr>
          <a:xfrm>
            <a:off x="2763838" y="2492375"/>
            <a:ext cx="354012" cy="457200"/>
          </a:xfrm>
          <a:prstGeom prst="rect">
            <a:avLst/>
          </a:prstGeom>
          <a:noFill/>
          <a:ln w="9525">
            <a:noFill/>
          </a:ln>
        </p:spPr>
        <p:txBody>
          <a:bodyPr wrap="none" anchor="t" anchorCtr="0">
            <a:spAutoFit/>
          </a:bodyPr>
          <a:p>
            <a:pPr indent="0"/>
            <a:r>
              <a:rPr lang="en-US" altLang="zh-CN" sz="2400" b="1" dirty="0">
                <a:solidFill>
                  <a:schemeClr val="accent2"/>
                </a:solidFill>
                <a:latin typeface="Arial" panose="020B0604020202020204" pitchFamily="34" charset="0"/>
                <a:ea typeface="宋体" panose="02010600030101010101" pitchFamily="2" charset="-122"/>
              </a:rPr>
              <a:t>1</a:t>
            </a:r>
            <a:endParaRPr lang="en-US" altLang="zh-CN" sz="2400" b="1" dirty="0">
              <a:solidFill>
                <a:schemeClr val="accent2"/>
              </a:solidFill>
              <a:latin typeface="Arial" panose="020B0604020202020204" pitchFamily="34" charset="0"/>
              <a:ea typeface="宋体" panose="02010600030101010101" pitchFamily="2" charset="-122"/>
            </a:endParaRPr>
          </a:p>
        </p:txBody>
      </p:sp>
      <p:sp>
        <p:nvSpPr>
          <p:cNvPr id="243750" name="Text Box 38"/>
          <p:cNvSpPr txBox="1"/>
          <p:nvPr/>
        </p:nvSpPr>
        <p:spPr>
          <a:xfrm>
            <a:off x="3952875" y="2511425"/>
            <a:ext cx="354013" cy="457200"/>
          </a:xfrm>
          <a:prstGeom prst="rect">
            <a:avLst/>
          </a:prstGeom>
          <a:noFill/>
          <a:ln w="9525">
            <a:noFill/>
          </a:ln>
        </p:spPr>
        <p:txBody>
          <a:bodyPr wrap="none" anchor="t" anchorCtr="0">
            <a:spAutoFit/>
          </a:bodyPr>
          <a:p>
            <a:pPr indent="0"/>
            <a:r>
              <a:rPr lang="en-US" altLang="zh-CN" sz="2400" b="1" dirty="0">
                <a:solidFill>
                  <a:srgbClr val="006600"/>
                </a:solidFill>
                <a:latin typeface="Arial" panose="020B0604020202020204" pitchFamily="34" charset="0"/>
                <a:ea typeface="宋体" panose="02010600030101010101" pitchFamily="2" charset="-122"/>
              </a:rPr>
              <a:t>2</a:t>
            </a:r>
            <a:endParaRPr lang="en-US" altLang="zh-CN" sz="2400" b="1" dirty="0">
              <a:solidFill>
                <a:srgbClr val="006600"/>
              </a:solidFill>
              <a:latin typeface="Arial" panose="020B0604020202020204" pitchFamily="34" charset="0"/>
              <a:ea typeface="宋体" panose="02010600030101010101" pitchFamily="2" charset="-122"/>
            </a:endParaRPr>
          </a:p>
        </p:txBody>
      </p:sp>
      <p:sp>
        <p:nvSpPr>
          <p:cNvPr id="243752" name="Text Box 40"/>
          <p:cNvSpPr txBox="1"/>
          <p:nvPr/>
        </p:nvSpPr>
        <p:spPr>
          <a:xfrm>
            <a:off x="3344863" y="2511425"/>
            <a:ext cx="354012" cy="457200"/>
          </a:xfrm>
          <a:prstGeom prst="rect">
            <a:avLst/>
          </a:prstGeom>
          <a:noFill/>
          <a:ln w="9525">
            <a:noFill/>
          </a:ln>
        </p:spPr>
        <p:txBody>
          <a:bodyPr wrap="none" anchor="t" anchorCtr="0">
            <a:spAutoFit/>
          </a:bodyPr>
          <a:p>
            <a:pPr indent="0"/>
            <a:r>
              <a:rPr lang="en-US" altLang="zh-CN" sz="2400" b="1" dirty="0">
                <a:solidFill>
                  <a:srgbClr val="006600"/>
                </a:solidFill>
                <a:latin typeface="Arial" panose="020B0604020202020204" pitchFamily="34" charset="0"/>
                <a:ea typeface="宋体" panose="02010600030101010101" pitchFamily="2" charset="-122"/>
              </a:rPr>
              <a:t>3</a:t>
            </a:r>
            <a:endParaRPr lang="en-US" altLang="zh-CN" sz="2400" b="1" dirty="0">
              <a:solidFill>
                <a:srgbClr val="006600"/>
              </a:solidFill>
              <a:latin typeface="Arial" panose="020B0604020202020204" pitchFamily="34" charset="0"/>
              <a:ea typeface="宋体" panose="02010600030101010101" pitchFamily="2" charset="-122"/>
            </a:endParaRPr>
          </a:p>
        </p:txBody>
      </p:sp>
      <p:sp>
        <p:nvSpPr>
          <p:cNvPr id="243754" name="Text Box 42"/>
          <p:cNvSpPr txBox="1"/>
          <p:nvPr/>
        </p:nvSpPr>
        <p:spPr>
          <a:xfrm>
            <a:off x="4672013" y="249237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57" name="Text Box 45"/>
          <p:cNvSpPr txBox="1"/>
          <p:nvPr/>
        </p:nvSpPr>
        <p:spPr>
          <a:xfrm>
            <a:off x="2584450" y="2511425"/>
            <a:ext cx="354013" cy="457200"/>
          </a:xfrm>
          <a:prstGeom prst="rect">
            <a:avLst/>
          </a:prstGeom>
          <a:noFill/>
          <a:ln w="9525">
            <a:noFill/>
          </a:ln>
        </p:spPr>
        <p:txBody>
          <a:bodyPr wrap="none" anchor="t" anchorCtr="0">
            <a:spAutoFit/>
          </a:bodyPr>
          <a:p>
            <a:pPr indent="0"/>
            <a:r>
              <a:rPr lang="en-US" altLang="zh-CN" sz="2400" b="1" dirty="0">
                <a:solidFill>
                  <a:srgbClr val="006600"/>
                </a:solidFill>
                <a:latin typeface="Arial" panose="020B0604020202020204" pitchFamily="34" charset="0"/>
                <a:ea typeface="宋体" panose="02010600030101010101" pitchFamily="2" charset="-122"/>
              </a:rPr>
              <a:t>6</a:t>
            </a:r>
            <a:endParaRPr lang="en-US" altLang="zh-CN" sz="2400" b="1" dirty="0">
              <a:solidFill>
                <a:srgbClr val="006600"/>
              </a:solidFill>
              <a:latin typeface="Arial" panose="020B0604020202020204" pitchFamily="34" charset="0"/>
              <a:ea typeface="宋体" panose="02010600030101010101" pitchFamily="2" charset="-122"/>
            </a:endParaRPr>
          </a:p>
        </p:txBody>
      </p:sp>
      <p:sp>
        <p:nvSpPr>
          <p:cNvPr id="243759" name="Text Box 47"/>
          <p:cNvSpPr txBox="1"/>
          <p:nvPr/>
        </p:nvSpPr>
        <p:spPr>
          <a:xfrm>
            <a:off x="5981700" y="2492375"/>
            <a:ext cx="354013" cy="457200"/>
          </a:xfrm>
          <a:prstGeom prst="rect">
            <a:avLst/>
          </a:prstGeom>
          <a:noFill/>
          <a:ln w="9525">
            <a:noFill/>
          </a:ln>
        </p:spPr>
        <p:txBody>
          <a:bodyPr wrap="none" anchor="t" anchorCtr="0">
            <a:spAutoFit/>
          </a:bodyPr>
          <a:p>
            <a:pPr indent="0"/>
            <a:r>
              <a:rPr lang="en-US" altLang="zh-CN" sz="2400" b="1" dirty="0">
                <a:solidFill>
                  <a:srgbClr val="006600"/>
                </a:solidFill>
                <a:latin typeface="Arial" panose="020B0604020202020204" pitchFamily="34" charset="0"/>
                <a:ea typeface="宋体" panose="02010600030101010101" pitchFamily="2" charset="-122"/>
              </a:rPr>
              <a:t>7</a:t>
            </a:r>
            <a:endParaRPr lang="en-US" altLang="zh-CN" sz="2400" b="1" dirty="0">
              <a:solidFill>
                <a:srgbClr val="006600"/>
              </a:solidFill>
              <a:latin typeface="Arial" panose="020B0604020202020204" pitchFamily="34" charset="0"/>
              <a:ea typeface="宋体" panose="02010600030101010101" pitchFamily="2" charset="-122"/>
            </a:endParaRPr>
          </a:p>
        </p:txBody>
      </p:sp>
      <p:sp>
        <p:nvSpPr>
          <p:cNvPr id="243760" name="Text Box 48"/>
          <p:cNvSpPr txBox="1"/>
          <p:nvPr/>
        </p:nvSpPr>
        <p:spPr>
          <a:xfrm>
            <a:off x="2576513" y="2520950"/>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6</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61" name="Text Box 49"/>
          <p:cNvSpPr txBox="1"/>
          <p:nvPr/>
        </p:nvSpPr>
        <p:spPr>
          <a:xfrm>
            <a:off x="3340100" y="2520950"/>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3</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62" name="Text Box 50"/>
          <p:cNvSpPr txBox="1"/>
          <p:nvPr/>
        </p:nvSpPr>
        <p:spPr>
          <a:xfrm>
            <a:off x="3959225" y="2520950"/>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2</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63" name="Text Box 51"/>
          <p:cNvSpPr txBox="1"/>
          <p:nvPr/>
        </p:nvSpPr>
        <p:spPr>
          <a:xfrm>
            <a:off x="5321300" y="2492375"/>
            <a:ext cx="354013" cy="457200"/>
          </a:xfrm>
          <a:prstGeom prst="rect">
            <a:avLst/>
          </a:prstGeom>
          <a:noFill/>
          <a:ln w="9525">
            <a:noFill/>
          </a:ln>
        </p:spPr>
        <p:txBody>
          <a:bodyPr wrap="none" anchor="t" anchorCtr="0">
            <a:spAutoFit/>
          </a:bodyPr>
          <a:p>
            <a:pPr indent="0"/>
            <a:r>
              <a:rPr lang="en-US" altLang="zh-CN" sz="2400" b="1" dirty="0">
                <a:solidFill>
                  <a:srgbClr val="006600"/>
                </a:solidFill>
                <a:latin typeface="Arial" panose="020B0604020202020204" pitchFamily="34" charset="0"/>
                <a:ea typeface="宋体" panose="02010600030101010101" pitchFamily="2" charset="-122"/>
              </a:rPr>
              <a:t>4</a:t>
            </a:r>
            <a:endParaRPr lang="en-US" altLang="zh-CN" sz="2400" b="1" dirty="0">
              <a:solidFill>
                <a:srgbClr val="006600"/>
              </a:solidFill>
              <a:latin typeface="Arial" panose="020B0604020202020204" pitchFamily="34" charset="0"/>
              <a:ea typeface="宋体" panose="02010600030101010101" pitchFamily="2" charset="-122"/>
            </a:endParaRPr>
          </a:p>
        </p:txBody>
      </p:sp>
      <p:sp>
        <p:nvSpPr>
          <p:cNvPr id="243764" name="Text Box 52"/>
          <p:cNvSpPr txBox="1"/>
          <p:nvPr/>
        </p:nvSpPr>
        <p:spPr>
          <a:xfrm>
            <a:off x="5983288" y="2492375"/>
            <a:ext cx="354012"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7</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55" name="Text Box 43"/>
          <p:cNvSpPr txBox="1"/>
          <p:nvPr/>
        </p:nvSpPr>
        <p:spPr>
          <a:xfrm>
            <a:off x="5321300" y="2492375"/>
            <a:ext cx="354013" cy="457200"/>
          </a:xfrm>
          <a:prstGeom prst="rect">
            <a:avLst/>
          </a:prstGeom>
          <a:noFill/>
          <a:ln w="9525">
            <a:noFill/>
          </a:ln>
        </p:spPr>
        <p:txBody>
          <a:bodyPr wrap="none" anchor="t" anchorCtr="0">
            <a:spAutoFit/>
          </a:bodyPr>
          <a:p>
            <a:pPr indent="0"/>
            <a:r>
              <a:rPr lang="en-US" altLang="zh-CN" sz="2400" b="1" dirty="0">
                <a:solidFill>
                  <a:srgbClr val="EA0000"/>
                </a:solidFill>
                <a:latin typeface="Arial" panose="020B0604020202020204" pitchFamily="34" charset="0"/>
                <a:ea typeface="宋体" panose="02010600030101010101" pitchFamily="2" charset="-122"/>
              </a:rPr>
              <a:t>4</a:t>
            </a:r>
            <a:endParaRPr lang="en-US" altLang="zh-CN" sz="2400" b="1" dirty="0">
              <a:solidFill>
                <a:srgbClr val="EA0000"/>
              </a:solidFill>
              <a:latin typeface="Arial" panose="020B0604020202020204" pitchFamily="34" charset="0"/>
              <a:ea typeface="宋体" panose="02010600030101010101" pitchFamily="2" charset="-122"/>
            </a:endParaRPr>
          </a:p>
        </p:txBody>
      </p:sp>
      <p:sp>
        <p:nvSpPr>
          <p:cNvPr id="243765" name="Rectangle 53"/>
          <p:cNvSpPr/>
          <p:nvPr/>
        </p:nvSpPr>
        <p:spPr>
          <a:xfrm>
            <a:off x="7667625" y="5013325"/>
            <a:ext cx="1296988" cy="647700"/>
          </a:xfrm>
          <a:prstGeom prst="rect">
            <a:avLst/>
          </a:prstGeom>
          <a:solidFill>
            <a:srgbClr val="EA0000"/>
          </a:solidFill>
          <a:ln w="9525" cap="flat" cmpd="sng">
            <a:solidFill>
              <a:schemeClr val="tx1"/>
            </a:solidFill>
            <a:prstDash val="solid"/>
            <a:miter/>
            <a:headEnd type="none" w="med" len="med"/>
            <a:tailEnd type="none" w="med" len="med"/>
          </a:ln>
        </p:spPr>
        <p:txBody>
          <a:bodyPr wrap="none" anchor="ctr" anchorCtr="0"/>
          <a:p>
            <a:pPr indent="0" algn="ctr"/>
            <a:r>
              <a:rPr lang="en-US" altLang="zh-CN" sz="2400" b="1" dirty="0">
                <a:solidFill>
                  <a:schemeClr val="accent2"/>
                </a:solidFill>
                <a:latin typeface="Arial" panose="020B0604020202020204" pitchFamily="34" charset="0"/>
                <a:ea typeface="宋体" panose="02010600030101010101" pitchFamily="2" charset="-122"/>
              </a:rPr>
              <a:t>Success!</a:t>
            </a:r>
            <a:endParaRPr lang="en-US" altLang="zh-CN" sz="2400" b="1" dirty="0">
              <a:solidFill>
                <a:schemeClr val="accent2"/>
              </a:solidFill>
              <a:latin typeface="Arial" panose="020B0604020202020204" pitchFamily="34" charset="0"/>
              <a:ea typeface="宋体" panose="02010600030101010101" pitchFamily="2" charset="-122"/>
            </a:endParaRPr>
          </a:p>
        </p:txBody>
      </p:sp>
      <p:pic>
        <p:nvPicPr>
          <p:cNvPr id="41014" name="Picture 54" descr="observation1"/>
          <p:cNvPicPr>
            <a:picLocks noChangeAspect="1"/>
          </p:cNvPicPr>
          <p:nvPr/>
        </p:nvPicPr>
        <p:blipFill>
          <a:blip r:embed="rId1"/>
          <a:stretch>
            <a:fillRect/>
          </a:stretch>
        </p:blipFill>
        <p:spPr>
          <a:xfrm>
            <a:off x="971550" y="404813"/>
            <a:ext cx="708025" cy="7080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43735"/>
                                        </p:tgtEl>
                                        <p:attrNameLst>
                                          <p:attrName>style.visibility</p:attrName>
                                        </p:attrNameLst>
                                      </p:cBhvr>
                                      <p:to>
                                        <p:strVal val="visible"/>
                                      </p:to>
                                    </p:set>
                                    <p:anim calcmode="discrete" valueType="clr">
                                      <p:cBhvr override="childStyle">
                                        <p:cTn id="7" dur="80"/>
                                        <p:tgtEl>
                                          <p:spTgt spid="24373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43735"/>
                                        </p:tgtEl>
                                        <p:attrNameLst>
                                          <p:attrName>fillcolor</p:attrName>
                                        </p:attrNameLst>
                                      </p:cBhvr>
                                      <p:tavLst>
                                        <p:tav tm="0">
                                          <p:val>
                                            <p:clrVal>
                                              <a:schemeClr val="accent2"/>
                                            </p:clrVal>
                                          </p:val>
                                        </p:tav>
                                        <p:tav tm="50000">
                                          <p:val>
                                            <p:clrVal>
                                              <a:schemeClr val="hlink"/>
                                            </p:clrVal>
                                          </p:val>
                                        </p:tav>
                                      </p:tavLst>
                                    </p:anim>
                                    <p:set>
                                      <p:cBhvr>
                                        <p:cTn id="9" dur="80"/>
                                        <p:tgtEl>
                                          <p:spTgt spid="243735"/>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 presetClass="emph" presetSubtype="2" fill="hold" grpId="0" nodeType="clickEffect">
                                  <p:stCondLst>
                                    <p:cond delay="0"/>
                                  </p:stCondLst>
                                  <p:childTnLst>
                                    <p:animClr clrSpc="rgb" dir="cw">
                                      <p:cBhvr override="childStyle">
                                        <p:cTn id="13" dur="2000" fill="hold"/>
                                        <p:tgtEl>
                                          <p:spTgt spid="243760"/>
                                        </p:tgtEl>
                                        <p:attrNameLst>
                                          <p:attrName>style.color</p:attrName>
                                        </p:attrNameLst>
                                      </p:cBhvr>
                                      <p:to>
                                        <a:srgbClr val="006600"/>
                                      </p:to>
                                    </p:animClr>
                                  </p:childTnLst>
                                </p:cTn>
                              </p:par>
                              <p:par>
                                <p:cTn id="14" presetID="3" presetClass="emph" presetSubtype="2" fill="hold" grpId="0" nodeType="withEffect">
                                  <p:stCondLst>
                                    <p:cond delay="0"/>
                                  </p:stCondLst>
                                  <p:childTnLst>
                                    <p:animClr clrSpc="rgb" dir="cw">
                                      <p:cBhvr override="childStyle">
                                        <p:cTn id="15" dur="2000" fill="hold"/>
                                        <p:tgtEl>
                                          <p:spTgt spid="243761"/>
                                        </p:tgtEl>
                                        <p:attrNameLst>
                                          <p:attrName>style.color</p:attrName>
                                        </p:attrNameLst>
                                      </p:cBhvr>
                                      <p:to>
                                        <a:srgbClr val="006600"/>
                                      </p:to>
                                    </p:animClr>
                                  </p:childTnLst>
                                </p:cTn>
                              </p:par>
                              <p:par>
                                <p:cTn id="16" presetID="3" presetClass="emph" presetSubtype="2" fill="hold" grpId="0" nodeType="withEffect">
                                  <p:stCondLst>
                                    <p:cond delay="0"/>
                                  </p:stCondLst>
                                  <p:childTnLst>
                                    <p:animClr clrSpc="rgb" dir="cw">
                                      <p:cBhvr override="childStyle">
                                        <p:cTn id="17" dur="2000" fill="hold"/>
                                        <p:tgtEl>
                                          <p:spTgt spid="243762"/>
                                        </p:tgtEl>
                                        <p:attrNameLst>
                                          <p:attrName>style.color</p:attrName>
                                        </p:attrNameLst>
                                      </p:cBhvr>
                                      <p:to>
                                        <a:srgbClr val="006600"/>
                                      </p:to>
                                    </p:animClr>
                                  </p:childTnLst>
                                </p:cTn>
                              </p:par>
                              <p:par>
                                <p:cTn id="18" presetID="3" presetClass="emph" presetSubtype="2" fill="hold" grpId="0" nodeType="withEffect">
                                  <p:stCondLst>
                                    <p:cond delay="0"/>
                                  </p:stCondLst>
                                  <p:childTnLst>
                                    <p:animClr clrSpc="rgb" dir="cw">
                                      <p:cBhvr override="childStyle">
                                        <p:cTn id="19" dur="2000" fill="hold"/>
                                        <p:tgtEl>
                                          <p:spTgt spid="243754"/>
                                        </p:tgtEl>
                                        <p:attrNameLst>
                                          <p:attrName>style.color</p:attrName>
                                        </p:attrNameLst>
                                      </p:cBhvr>
                                      <p:to>
                                        <a:srgbClr val="006600"/>
                                      </p:to>
                                    </p:animClr>
                                  </p:childTnLst>
                                </p:cTn>
                              </p:par>
                              <p:par>
                                <p:cTn id="20" presetID="3" presetClass="emph" presetSubtype="2" fill="hold" grpId="0" nodeType="withEffect">
                                  <p:stCondLst>
                                    <p:cond delay="0"/>
                                  </p:stCondLst>
                                  <p:childTnLst>
                                    <p:animClr clrSpc="rgb" dir="cw">
                                      <p:cBhvr override="childStyle">
                                        <p:cTn id="21" dur="2000" fill="hold"/>
                                        <p:tgtEl>
                                          <p:spTgt spid="243763"/>
                                        </p:tgtEl>
                                        <p:attrNameLst>
                                          <p:attrName>style.color</p:attrName>
                                        </p:attrNameLst>
                                      </p:cBhvr>
                                      <p:to>
                                        <a:srgbClr val="006600"/>
                                      </p:to>
                                    </p:animClr>
                                  </p:childTnLst>
                                </p:cTn>
                              </p:par>
                              <p:par>
                                <p:cTn id="22" presetID="3" presetClass="emph" presetSubtype="2" fill="hold" grpId="0" nodeType="withEffect">
                                  <p:stCondLst>
                                    <p:cond delay="0"/>
                                  </p:stCondLst>
                                  <p:childTnLst>
                                    <p:animClr clrSpc="rgb" dir="cw">
                                      <p:cBhvr override="childStyle">
                                        <p:cTn id="23" dur="2000" fill="hold"/>
                                        <p:tgtEl>
                                          <p:spTgt spid="243755"/>
                                        </p:tgtEl>
                                        <p:attrNameLst>
                                          <p:attrName>style.color</p:attrName>
                                        </p:attrNameLst>
                                      </p:cBhvr>
                                      <p:to>
                                        <a:srgbClr val="006600"/>
                                      </p:to>
                                    </p:animClr>
                                  </p:childTnLst>
                                </p:cTn>
                              </p:par>
                              <p:par>
                                <p:cTn id="24" presetID="3" presetClass="emph" presetSubtype="2" fill="hold" grpId="0" nodeType="withEffect">
                                  <p:stCondLst>
                                    <p:cond delay="0"/>
                                  </p:stCondLst>
                                  <p:childTnLst>
                                    <p:animClr clrSpc="rgb" dir="cw">
                                      <p:cBhvr override="childStyle">
                                        <p:cTn id="25" dur="2000" fill="hold"/>
                                        <p:tgtEl>
                                          <p:spTgt spid="243764"/>
                                        </p:tgtEl>
                                        <p:attrNameLst>
                                          <p:attrName>style.color</p:attrName>
                                        </p:attrNameLst>
                                      </p:cBhvr>
                                      <p:to>
                                        <a:srgbClr val="006600"/>
                                      </p:to>
                                    </p:animClr>
                                  </p:childTnLst>
                                </p:cTn>
                              </p:par>
                              <p:par>
                                <p:cTn id="26" presetID="26" presetClass="emph" presetSubtype="0" fill="hold" grpId="1" nodeType="withEffect">
                                  <p:stCondLst>
                                    <p:cond delay="0"/>
                                  </p:stCondLst>
                                  <p:childTnLst>
                                    <p:animEffect transition="out" filter="fade">
                                      <p:cBhvr>
                                        <p:cTn id="27" dur="500" tmFilter="0, 0; .2, .5; .8, .5; 1, 0"/>
                                        <p:tgtEl>
                                          <p:spTgt spid="243760"/>
                                        </p:tgtEl>
                                      </p:cBhvr>
                                    </p:animEffect>
                                    <p:animScale>
                                      <p:cBhvr>
                                        <p:cTn id="28" dur="250" autoRev="1" fill="hold"/>
                                        <p:tgtEl>
                                          <p:spTgt spid="243760"/>
                                        </p:tgtEl>
                                      </p:cBhvr>
                                      <p:by x="105000" y="105000"/>
                                    </p:animScale>
                                  </p:childTnLst>
                                </p:cTn>
                              </p:par>
                              <p:par>
                                <p:cTn id="29" presetID="26" presetClass="emph" presetSubtype="0" fill="hold" grpId="1" nodeType="withEffect">
                                  <p:stCondLst>
                                    <p:cond delay="0"/>
                                  </p:stCondLst>
                                  <p:childTnLst>
                                    <p:animEffect transition="out" filter="fade">
                                      <p:cBhvr>
                                        <p:cTn id="30" dur="500" tmFilter="0, 0; .2, .5; .8, .5; 1, 0"/>
                                        <p:tgtEl>
                                          <p:spTgt spid="243761"/>
                                        </p:tgtEl>
                                      </p:cBhvr>
                                    </p:animEffect>
                                    <p:animScale>
                                      <p:cBhvr>
                                        <p:cTn id="31" dur="250" autoRev="1" fill="hold"/>
                                        <p:tgtEl>
                                          <p:spTgt spid="243761"/>
                                        </p:tgtEl>
                                      </p:cBhvr>
                                      <p:by x="105000" y="105000"/>
                                    </p:animScale>
                                  </p:childTnLst>
                                </p:cTn>
                              </p:par>
                              <p:par>
                                <p:cTn id="32" presetID="26" presetClass="emph" presetSubtype="0" fill="hold" grpId="1" nodeType="withEffect">
                                  <p:stCondLst>
                                    <p:cond delay="0"/>
                                  </p:stCondLst>
                                  <p:childTnLst>
                                    <p:animEffect transition="out" filter="fade">
                                      <p:cBhvr>
                                        <p:cTn id="33" dur="500" tmFilter="0, 0; .2, .5; .8, .5; 1, 0"/>
                                        <p:tgtEl>
                                          <p:spTgt spid="243762"/>
                                        </p:tgtEl>
                                      </p:cBhvr>
                                    </p:animEffect>
                                    <p:animScale>
                                      <p:cBhvr>
                                        <p:cTn id="34" dur="250" autoRev="1" fill="hold"/>
                                        <p:tgtEl>
                                          <p:spTgt spid="243762"/>
                                        </p:tgtEl>
                                      </p:cBhvr>
                                      <p:by x="105000" y="105000"/>
                                    </p:animScale>
                                  </p:childTnLst>
                                </p:cTn>
                              </p:par>
                              <p:par>
                                <p:cTn id="35" presetID="26" presetClass="emph" presetSubtype="0" fill="hold" grpId="1" nodeType="withEffect">
                                  <p:stCondLst>
                                    <p:cond delay="0"/>
                                  </p:stCondLst>
                                  <p:childTnLst>
                                    <p:animEffect transition="out" filter="fade">
                                      <p:cBhvr>
                                        <p:cTn id="36" dur="500" tmFilter="0, 0; .2, .5; .8, .5; 1, 0"/>
                                        <p:tgtEl>
                                          <p:spTgt spid="243754"/>
                                        </p:tgtEl>
                                      </p:cBhvr>
                                    </p:animEffect>
                                    <p:animScale>
                                      <p:cBhvr>
                                        <p:cTn id="37" dur="250" autoRev="1" fill="hold"/>
                                        <p:tgtEl>
                                          <p:spTgt spid="243754"/>
                                        </p:tgtEl>
                                      </p:cBhvr>
                                      <p:by x="105000" y="105000"/>
                                    </p:animScale>
                                  </p:childTnLst>
                                </p:cTn>
                              </p:par>
                              <p:par>
                                <p:cTn id="38" presetID="26" presetClass="emph" presetSubtype="0" fill="hold" grpId="1" nodeType="withEffect">
                                  <p:stCondLst>
                                    <p:cond delay="0"/>
                                  </p:stCondLst>
                                  <p:childTnLst>
                                    <p:animEffect transition="out" filter="fade">
                                      <p:cBhvr>
                                        <p:cTn id="39" dur="500" tmFilter="0, 0; .2, .5; .8, .5; 1, 0"/>
                                        <p:tgtEl>
                                          <p:spTgt spid="243763"/>
                                        </p:tgtEl>
                                      </p:cBhvr>
                                    </p:animEffect>
                                    <p:animScale>
                                      <p:cBhvr>
                                        <p:cTn id="40" dur="250" autoRev="1" fill="hold"/>
                                        <p:tgtEl>
                                          <p:spTgt spid="243763"/>
                                        </p:tgtEl>
                                      </p:cBhvr>
                                      <p:by x="105000" y="105000"/>
                                    </p:animScale>
                                  </p:childTnLst>
                                </p:cTn>
                              </p:par>
                              <p:par>
                                <p:cTn id="41" presetID="26" presetClass="emph" presetSubtype="0" fill="hold" grpId="1" nodeType="withEffect">
                                  <p:stCondLst>
                                    <p:cond delay="0"/>
                                  </p:stCondLst>
                                  <p:childTnLst>
                                    <p:animEffect transition="out" filter="fade">
                                      <p:cBhvr>
                                        <p:cTn id="42" dur="500" tmFilter="0, 0; .2, .5; .8, .5; 1, 0"/>
                                        <p:tgtEl>
                                          <p:spTgt spid="243764"/>
                                        </p:tgtEl>
                                      </p:cBhvr>
                                    </p:animEffect>
                                    <p:animScale>
                                      <p:cBhvr>
                                        <p:cTn id="43" dur="250" autoRev="1" fill="hold"/>
                                        <p:tgtEl>
                                          <p:spTgt spid="243764"/>
                                        </p:tgtEl>
                                      </p:cBhvr>
                                      <p:by x="105000" y="105000"/>
                                    </p:animScale>
                                  </p:childTnLst>
                                </p:cTn>
                              </p:par>
                              <p:par>
                                <p:cTn id="44" presetID="26" presetClass="emph" presetSubtype="0" fill="hold" grpId="1" nodeType="withEffect">
                                  <p:stCondLst>
                                    <p:cond delay="0"/>
                                  </p:stCondLst>
                                  <p:childTnLst>
                                    <p:animEffect transition="out" filter="fade">
                                      <p:cBhvr>
                                        <p:cTn id="45" dur="500" tmFilter="0, 0; .2, .5; .8, .5; 1, 0"/>
                                        <p:tgtEl>
                                          <p:spTgt spid="243755"/>
                                        </p:tgtEl>
                                      </p:cBhvr>
                                    </p:animEffect>
                                    <p:animScale>
                                      <p:cBhvr>
                                        <p:cTn id="46" dur="250" autoRev="1" fill="hold"/>
                                        <p:tgtEl>
                                          <p:spTgt spid="243755"/>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0" nodeType="clickEffect">
                                  <p:stCondLst>
                                    <p:cond delay="0"/>
                                  </p:stCondLst>
                                  <p:childTnLst>
                                    <p:animMotion origin="layout" path="M 5.55556E-7 -2.42775E-6 L -0.14583 0.12 " pathEditMode="relative" rAng="0" ptsTypes="AA">
                                      <p:cBhvr>
                                        <p:cTn id="50" dur="2000" fill="hold"/>
                                        <p:tgtEl>
                                          <p:spTgt spid="243751"/>
                                        </p:tgtEl>
                                        <p:attrNameLst>
                                          <p:attrName>ppt_x</p:attrName>
                                          <p:attrName>ppt_y</p:attrName>
                                        </p:attrNameLst>
                                      </p:cBhvr>
                                      <p:rCtr x="-7300" y="6000"/>
                                    </p:animMotion>
                                  </p:childTnLst>
                                </p:cTn>
                              </p:par>
                              <p:par>
                                <p:cTn id="51" presetID="0" presetClass="path" presetSubtype="0" accel="50000" decel="50000" fill="hold" grpId="0" nodeType="withEffect">
                                  <p:stCondLst>
                                    <p:cond delay="0"/>
                                  </p:stCondLst>
                                  <p:childTnLst>
                                    <p:animMotion origin="layout" path="M -2.5E-6 4.85549E-6 L -0.14843 0.12138 " pathEditMode="relative" rAng="0" ptsTypes="AA">
                                      <p:cBhvr>
                                        <p:cTn id="52" dur="2000" fill="hold"/>
                                        <p:tgtEl>
                                          <p:spTgt spid="243750"/>
                                        </p:tgtEl>
                                        <p:attrNameLst>
                                          <p:attrName>ppt_x</p:attrName>
                                          <p:attrName>ppt_y</p:attrName>
                                        </p:attrNameLst>
                                      </p:cBhvr>
                                      <p:rCtr x="-7400" y="6100"/>
                                    </p:animMotion>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grpId="0" nodeType="clickEffect">
                                  <p:stCondLst>
                                    <p:cond delay="0"/>
                                  </p:stCondLst>
                                  <p:childTnLst>
                                    <p:animMotion origin="layout" path="M 1.66667E-6 4.85549E-6 L -0.00764 0.12138 " pathEditMode="relative" rAng="0" ptsTypes="AA">
                                      <p:cBhvr>
                                        <p:cTn id="56" dur="2000" fill="hold"/>
                                        <p:tgtEl>
                                          <p:spTgt spid="243746"/>
                                        </p:tgtEl>
                                        <p:attrNameLst>
                                          <p:attrName>ppt_x</p:attrName>
                                          <p:attrName>ppt_y</p:attrName>
                                        </p:attrNameLst>
                                      </p:cBhvr>
                                      <p:rCtr x="-400" y="6100"/>
                                    </p:animMotion>
                                  </p:childTnLst>
                                </p:cTn>
                              </p:par>
                              <p:par>
                                <p:cTn id="57" presetID="0" presetClass="path" presetSubtype="0" accel="50000" decel="50000" fill="hold" grpId="0" nodeType="withEffect">
                                  <p:stCondLst>
                                    <p:cond delay="0"/>
                                  </p:stCondLst>
                                  <p:childTnLst>
                                    <p:animMotion origin="layout" path="M 5.55556E-7 4.85549E-6 L -0.00313 0.12138 " pathEditMode="relative" rAng="0" ptsTypes="AA">
                                      <p:cBhvr>
                                        <p:cTn id="58" dur="2000" fill="hold"/>
                                        <p:tgtEl>
                                          <p:spTgt spid="243752"/>
                                        </p:tgtEl>
                                        <p:attrNameLst>
                                          <p:attrName>ppt_x</p:attrName>
                                          <p:attrName>ppt_y</p:attrName>
                                        </p:attrNameLst>
                                      </p:cBhvr>
                                      <p:rCtr x="-200" y="6100"/>
                                    </p:animMotion>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grpId="0" nodeType="clickEffect">
                                  <p:stCondLst>
                                    <p:cond delay="0"/>
                                  </p:stCondLst>
                                  <p:childTnLst>
                                    <p:animMotion origin="layout" path="M 4.44444E-6 -4.21965E-6 L -0.07292 0.12347 " pathEditMode="relative" rAng="0" ptsTypes="AA">
                                      <p:cBhvr>
                                        <p:cTn id="62" dur="2000" fill="hold"/>
                                        <p:tgtEl>
                                          <p:spTgt spid="243753"/>
                                        </p:tgtEl>
                                        <p:attrNameLst>
                                          <p:attrName>ppt_x</p:attrName>
                                          <p:attrName>ppt_y</p:attrName>
                                        </p:attrNameLst>
                                      </p:cBhvr>
                                      <p:rCtr x="-3600" y="6200"/>
                                    </p:animMotion>
                                  </p:childTnLst>
                                </p:cTn>
                              </p:par>
                              <p:par>
                                <p:cTn id="63" presetID="0" presetClass="path" presetSubtype="0" accel="50000" decel="50000" fill="hold" grpId="0" nodeType="withEffect">
                                  <p:stCondLst>
                                    <p:cond delay="0"/>
                                  </p:stCondLst>
                                  <p:childTnLst>
                                    <p:animMotion origin="layout" path="M -1.94444E-6 -5.78035E-7 L -0.06979 0.12416 " pathEditMode="relative" rAng="0" ptsTypes="AA">
                                      <p:cBhvr>
                                        <p:cTn id="64" dur="2000" fill="hold"/>
                                        <p:tgtEl>
                                          <p:spTgt spid="243744"/>
                                        </p:tgtEl>
                                        <p:attrNameLst>
                                          <p:attrName>ppt_x</p:attrName>
                                          <p:attrName>ppt_y</p:attrName>
                                        </p:attrNameLst>
                                      </p:cBhvr>
                                      <p:rCtr x="-3500" y="6200"/>
                                    </p:animMotion>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grpId="0" nodeType="clickEffect">
                                  <p:stCondLst>
                                    <p:cond delay="0"/>
                                  </p:stCondLst>
                                  <p:childTnLst>
                                    <p:animMotion origin="layout" path="M 0.01267 0.00462 L -0.06597 0.12002 " pathEditMode="relative" rAng="0" ptsTypes="AA">
                                      <p:cBhvr>
                                        <p:cTn id="68" dur="2000" fill="hold"/>
                                        <p:tgtEl>
                                          <p:spTgt spid="243756"/>
                                        </p:tgtEl>
                                        <p:attrNameLst>
                                          <p:attrName>ppt_x</p:attrName>
                                          <p:attrName>ppt_y</p:attrName>
                                        </p:attrNameLst>
                                      </p:cBhvr>
                                      <p:rCtr x="-3900" y="5800"/>
                                    </p:animMotion>
                                  </p:childTnLst>
                                </p:cTn>
                              </p:par>
                              <p:par>
                                <p:cTn id="69" presetID="0" presetClass="path" presetSubtype="0" accel="50000" decel="50000" fill="hold" grpId="2" nodeType="withEffect">
                                  <p:stCondLst>
                                    <p:cond delay="0"/>
                                  </p:stCondLst>
                                  <p:childTnLst>
                                    <p:animMotion origin="layout" path="M 0.00885 0.00879 L -0.0698 0.12419 " pathEditMode="relative" rAng="0" ptsTypes="AA">
                                      <p:cBhvr>
                                        <p:cTn id="70" dur="2000" fill="hold"/>
                                        <p:tgtEl>
                                          <p:spTgt spid="243763"/>
                                        </p:tgtEl>
                                        <p:attrNameLst>
                                          <p:attrName>ppt_x</p:attrName>
                                          <p:attrName>ppt_y</p:attrName>
                                        </p:attrNameLst>
                                      </p:cBhvr>
                                      <p:rCtr x="-3900" y="5800"/>
                                    </p:animMotion>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grpId="0" nodeType="clickEffect">
                                  <p:stCondLst>
                                    <p:cond delay="0"/>
                                  </p:stCondLst>
                                  <p:childTnLst>
                                    <p:animMotion origin="layout" path="M 0 0 L 0.30712 0.1154 " pathEditMode="relative" ptsTypes="AA">
                                      <p:cBhvr>
                                        <p:cTn id="74" dur="2000" fill="hold"/>
                                        <p:tgtEl>
                                          <p:spTgt spid="243749"/>
                                        </p:tgtEl>
                                        <p:attrNameLst>
                                          <p:attrName>ppt_x</p:attrName>
                                          <p:attrName>ppt_y</p:attrName>
                                        </p:attrNameLst>
                                      </p:cBhvr>
                                    </p:animMotion>
                                  </p:childTnLst>
                                </p:cTn>
                              </p:par>
                              <p:par>
                                <p:cTn id="75" presetID="0" presetClass="path" presetSubtype="0" accel="50000" decel="50000" fill="hold" grpId="0" nodeType="withEffect">
                                  <p:stCondLst>
                                    <p:cond delay="0"/>
                                  </p:stCondLst>
                                  <p:childTnLst>
                                    <p:animMotion origin="layout" path="M 0.00122 0.00601 L 0.30712 0.1154 " pathEditMode="relative" rAng="0" ptsTypes="AA">
                                      <p:cBhvr>
                                        <p:cTn id="76" dur="2000" fill="hold"/>
                                        <p:tgtEl>
                                          <p:spTgt spid="243757"/>
                                        </p:tgtEl>
                                        <p:attrNameLst>
                                          <p:attrName>ppt_x</p:attrName>
                                          <p:attrName>ppt_y</p:attrName>
                                        </p:attrNameLst>
                                      </p:cBhvr>
                                      <p:rCtr x="15300" y="5500"/>
                                    </p:animMotion>
                                  </p:childTnLst>
                                </p:cTn>
                              </p:par>
                            </p:childTnLst>
                          </p:cTn>
                        </p:par>
                      </p:childTnLst>
                    </p:cTn>
                  </p:par>
                  <p:par>
                    <p:cTn id="77" fill="hold">
                      <p:stCondLst>
                        <p:cond delay="indefinite"/>
                      </p:stCondLst>
                      <p:childTnLst>
                        <p:par>
                          <p:cTn id="78" fill="hold">
                            <p:stCondLst>
                              <p:cond delay="0"/>
                            </p:stCondLst>
                            <p:childTnLst>
                              <p:par>
                                <p:cTn id="79" presetID="0" presetClass="path" presetSubtype="0" accel="50000" decel="50000" fill="hold" grpId="0" nodeType="clickEffect">
                                  <p:stCondLst>
                                    <p:cond delay="0"/>
                                  </p:stCondLst>
                                  <p:childTnLst>
                                    <p:animMotion origin="layout" path="M 0 0 L 0 0.12604 " pathEditMode="relative" ptsTypes="AA">
                                      <p:cBhvr>
                                        <p:cTn id="80" dur="2000" fill="hold"/>
                                        <p:tgtEl>
                                          <p:spTgt spid="243758"/>
                                        </p:tgtEl>
                                        <p:attrNameLst>
                                          <p:attrName>ppt_x</p:attrName>
                                          <p:attrName>ppt_y</p:attrName>
                                        </p:attrNameLst>
                                      </p:cBhvr>
                                    </p:animMotion>
                                  </p:childTnLst>
                                </p:cTn>
                              </p:par>
                              <p:par>
                                <p:cTn id="81" presetID="0" presetClass="path" presetSubtype="0" accel="50000" decel="50000" fill="hold" grpId="0" nodeType="withEffect">
                                  <p:stCondLst>
                                    <p:cond delay="0"/>
                                  </p:stCondLst>
                                  <p:childTnLst>
                                    <p:animMotion origin="layout" path="M 0 0 L 0 0.12604 " pathEditMode="relative" ptsTypes="AA">
                                      <p:cBhvr>
                                        <p:cTn id="82" dur="2000" fill="hold"/>
                                        <p:tgtEl>
                                          <p:spTgt spid="243759"/>
                                        </p:tgtEl>
                                        <p:attrNameLst>
                                          <p:attrName>ppt_x</p:attrName>
                                          <p:attrName>ppt_y</p:attrName>
                                        </p:attrNameLst>
                                      </p:cBhvr>
                                    </p:animMotion>
                                  </p:childTnLst>
                                </p:cTn>
                              </p:par>
                            </p:childTnLst>
                          </p:cTn>
                        </p:par>
                      </p:childTnLst>
                    </p:cTn>
                  </p:par>
                  <p:par>
                    <p:cTn id="83" fill="hold">
                      <p:stCondLst>
                        <p:cond delay="indefinite"/>
                      </p:stCondLst>
                      <p:childTnLst>
                        <p:par>
                          <p:cTn id="84" fill="hold">
                            <p:stCondLst>
                              <p:cond delay="0"/>
                            </p:stCondLst>
                            <p:childTnLst>
                              <p:par>
                                <p:cTn id="85" presetID="27" presetClass="exit" presetSubtype="0" fill="hold" grpId="1" nodeType="clickEffect">
                                  <p:stCondLst>
                                    <p:cond delay="0"/>
                                  </p:stCondLst>
                                  <p:iterate type="lt">
                                    <p:tmPct val="50000"/>
                                  </p:iterate>
                                  <p:childTnLst>
                                    <p:anim calcmode="discrete" valueType="clr">
                                      <p:cBhvr override="childStyle">
                                        <p:cTn id="86" dur="80"/>
                                        <p:tgtEl>
                                          <p:spTgt spid="243735"/>
                                        </p:tgtEl>
                                        <p:attrNameLst>
                                          <p:attrName>style.color</p:attrName>
                                        </p:attrNameLst>
                                      </p:cBhvr>
                                      <p:tavLst>
                                        <p:tav tm="0">
                                          <p:val>
                                            <p:clrVal>
                                              <a:schemeClr val="hlink"/>
                                            </p:clrVal>
                                          </p:val>
                                        </p:tav>
                                        <p:tav tm="50000">
                                          <p:val>
                                            <p:clrVal>
                                              <a:schemeClr val="accent2"/>
                                            </p:clrVal>
                                          </p:val>
                                        </p:tav>
                                      </p:tavLst>
                                    </p:anim>
                                    <p:anim calcmode="discrete" valueType="clr">
                                      <p:cBhvr>
                                        <p:cTn id="87" dur="80"/>
                                        <p:tgtEl>
                                          <p:spTgt spid="243735"/>
                                        </p:tgtEl>
                                        <p:attrNameLst>
                                          <p:attrName>fillcolor</p:attrName>
                                        </p:attrNameLst>
                                      </p:cBhvr>
                                      <p:tavLst>
                                        <p:tav tm="0">
                                          <p:val>
                                            <p:clrVal>
                                              <a:schemeClr val="hlink"/>
                                            </p:clrVal>
                                          </p:val>
                                        </p:tav>
                                        <p:tav tm="50000">
                                          <p:val>
                                            <p:clrVal>
                                              <a:schemeClr val="accent2"/>
                                            </p:clrVal>
                                          </p:val>
                                        </p:tav>
                                      </p:tavLst>
                                    </p:anim>
                                    <p:set>
                                      <p:cBhvr>
                                        <p:cTn id="88" dur="80"/>
                                        <p:tgtEl>
                                          <p:spTgt spid="243735"/>
                                        </p:tgtEl>
                                        <p:attrNameLst>
                                          <p:attrName>fill.type</p:attrName>
                                        </p:attrNameLst>
                                      </p:cBhvr>
                                      <p:to>
                                        <p:strVal val="solid"/>
                                      </p:to>
                                    </p:set>
                                    <p:set>
                                      <p:cBhvr>
                                        <p:cTn id="89" dur="1" fill="hold">
                                          <p:stCondLst>
                                            <p:cond delay="79"/>
                                          </p:stCondLst>
                                        </p:cTn>
                                        <p:tgtEl>
                                          <p:spTgt spid="243735"/>
                                        </p:tgtEl>
                                        <p:attrNameLst>
                                          <p:attrName>style.visibility</p:attrName>
                                        </p:attrNameLst>
                                      </p:cBhvr>
                                      <p:to>
                                        <p:strVal val="hidden"/>
                                      </p:to>
                                    </p:set>
                                  </p:childTnLst>
                                </p:cTn>
                              </p:par>
                            </p:childTnLst>
                          </p:cTn>
                        </p:par>
                        <p:par>
                          <p:cTn id="90" fill="hold">
                            <p:stCondLst>
                              <p:cond delay="1879"/>
                            </p:stCondLst>
                            <p:childTnLst>
                              <p:par>
                                <p:cTn id="91" presetID="23" presetClass="entr" presetSubtype="16" fill="hold" grpId="0" nodeType="afterEffect">
                                  <p:stCondLst>
                                    <p:cond delay="0"/>
                                  </p:stCondLst>
                                  <p:childTnLst>
                                    <p:set>
                                      <p:cBhvr>
                                        <p:cTn id="92" dur="1" fill="hold">
                                          <p:stCondLst>
                                            <p:cond delay="0"/>
                                          </p:stCondLst>
                                        </p:cTn>
                                        <p:tgtEl>
                                          <p:spTgt spid="243765"/>
                                        </p:tgtEl>
                                        <p:attrNameLst>
                                          <p:attrName>style.visibility</p:attrName>
                                        </p:attrNameLst>
                                      </p:cBhvr>
                                      <p:to>
                                        <p:strVal val="visible"/>
                                      </p:to>
                                    </p:set>
                                    <p:anim calcmode="lin" valueType="num">
                                      <p:cBhvr>
                                        <p:cTn id="93" dur="500" fill="hold"/>
                                        <p:tgtEl>
                                          <p:spTgt spid="243765"/>
                                        </p:tgtEl>
                                        <p:attrNameLst>
                                          <p:attrName>ppt_w</p:attrName>
                                        </p:attrNameLst>
                                      </p:cBhvr>
                                      <p:tavLst>
                                        <p:tav tm="0">
                                          <p:val>
                                            <p:fltVal val="0.000000"/>
                                          </p:val>
                                        </p:tav>
                                        <p:tav tm="100000">
                                          <p:val>
                                            <p:strVal val="#ppt_w"/>
                                          </p:val>
                                        </p:tav>
                                      </p:tavLst>
                                    </p:anim>
                                    <p:anim calcmode="lin" valueType="num">
                                      <p:cBhvr>
                                        <p:cTn id="94" dur="500" fill="hold"/>
                                        <p:tgtEl>
                                          <p:spTgt spid="24376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49" grpId="0"/>
      <p:bldP spid="243751" grpId="0"/>
      <p:bldP spid="243753" grpId="0"/>
      <p:bldP spid="243756" grpId="0"/>
      <p:bldP spid="243758" grpId="0"/>
      <p:bldP spid="243735" grpId="0"/>
      <p:bldP spid="243735" grpId="1"/>
      <p:bldP spid="243744" grpId="0"/>
      <p:bldP spid="243746" grpId="0"/>
      <p:bldP spid="243750" grpId="0"/>
      <p:bldP spid="243752" grpId="0"/>
      <p:bldP spid="243754" grpId="0"/>
      <p:bldP spid="243754" grpId="1"/>
      <p:bldP spid="243757" grpId="0"/>
      <p:bldP spid="243759" grpId="0"/>
      <p:bldP spid="243760" grpId="0"/>
      <p:bldP spid="243760" grpId="1"/>
      <p:bldP spid="243761" grpId="0"/>
      <p:bldP spid="243761" grpId="1"/>
      <p:bldP spid="243762" grpId="0"/>
      <p:bldP spid="243762" grpId="1"/>
      <p:bldP spid="243763" grpId="0"/>
      <p:bldP spid="243763" grpId="1"/>
      <p:bldP spid="243763" grpId="2"/>
      <p:bldP spid="243764" grpId="0"/>
      <p:bldP spid="243764" grpId="1"/>
      <p:bldP spid="243755" grpId="0"/>
      <p:bldP spid="243755" grpId="1"/>
      <p:bldP spid="24376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43010" name="Rectangle 2"/>
          <p:cNvSpPr>
            <a:spLocks noGrp="1"/>
          </p:cNvSpPr>
          <p:nvPr>
            <p:ph type="title"/>
          </p:nvPr>
        </p:nvSpPr>
        <p:spPr/>
        <p:txBody>
          <a:bodyPr vert="horz" wrap="square" lIns="91440" tIns="45720" rIns="91440" bIns="45720" anchor="ctr" anchorCtr="0"/>
          <a:p>
            <a:pPr eaLnBrk="1" hangingPunct="1"/>
            <a:r>
              <a:rPr lang="en-US" altLang="zh-CN" dirty="0"/>
              <a:t>     Example</a:t>
            </a:r>
            <a:endParaRPr lang="en-US" altLang="zh-CN" dirty="0"/>
          </a:p>
        </p:txBody>
      </p:sp>
      <p:sp>
        <p:nvSpPr>
          <p:cNvPr id="43011" name="Rectangle 5"/>
          <p:cNvSpPr>
            <a:spLocks noGrp="1"/>
          </p:cNvSpPr>
          <p:nvPr>
            <p:ph idx="1"/>
          </p:nvPr>
        </p:nvSpPr>
        <p:spPr>
          <a:xfrm>
            <a:off x="900113" y="1268413"/>
            <a:ext cx="7786687" cy="792162"/>
          </a:xfrm>
        </p:spPr>
        <p:txBody>
          <a:bodyPr vert="horz" wrap="square" lIns="91440" tIns="45720" rIns="91440" bIns="45720" anchor="t" anchorCtr="0"/>
          <a:p>
            <a:pPr eaLnBrk="1" hangingPunct="1">
              <a:lnSpc>
                <a:spcPct val="90000"/>
              </a:lnSpc>
            </a:pPr>
            <a:r>
              <a:rPr lang="en-US" altLang="zh-CN" dirty="0"/>
              <a:t>Given: A={7467, 1247, 3275, 6792, 9187, 9134, 4675, 1239}.</a:t>
            </a:r>
            <a:endParaRPr lang="en-US" altLang="zh-CN" dirty="0"/>
          </a:p>
        </p:txBody>
      </p:sp>
      <p:pic>
        <p:nvPicPr>
          <p:cNvPr id="43012" name="Picture 7" descr="example"/>
          <p:cNvPicPr>
            <a:picLocks noChangeAspect="1"/>
          </p:cNvPicPr>
          <p:nvPr/>
        </p:nvPicPr>
        <p:blipFill>
          <a:blip r:embed="rId1"/>
          <a:stretch>
            <a:fillRect/>
          </a:stretch>
        </p:blipFill>
        <p:spPr>
          <a:xfrm>
            <a:off x="971550" y="549275"/>
            <a:ext cx="342900" cy="457200"/>
          </a:xfrm>
          <a:prstGeom prst="rect">
            <a:avLst/>
          </a:prstGeom>
          <a:noFill/>
          <a:ln w="9525">
            <a:noFill/>
          </a:ln>
        </p:spPr>
      </p:pic>
      <p:sp>
        <p:nvSpPr>
          <p:cNvPr id="43013" name="Text Box 10"/>
          <p:cNvSpPr txBox="1"/>
          <p:nvPr/>
        </p:nvSpPr>
        <p:spPr>
          <a:xfrm>
            <a:off x="1257300"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7467</a:t>
            </a:r>
            <a:endParaRPr lang="en-US" altLang="zh-CN" sz="2400" b="1" dirty="0">
              <a:latin typeface="Times New Roman" panose="02020603050405020304" pitchFamily="18" charset="0"/>
              <a:ea typeface="宋体" panose="02010600030101010101" pitchFamily="2" charset="-122"/>
            </a:endParaRPr>
          </a:p>
        </p:txBody>
      </p:sp>
      <p:sp>
        <p:nvSpPr>
          <p:cNvPr id="43014" name="Text Box 11"/>
          <p:cNvSpPr txBox="1"/>
          <p:nvPr/>
        </p:nvSpPr>
        <p:spPr>
          <a:xfrm>
            <a:off x="1257300"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1247</a:t>
            </a:r>
            <a:endParaRPr lang="en-US" altLang="zh-CN" sz="2400" b="1" dirty="0">
              <a:latin typeface="Times New Roman" panose="02020603050405020304" pitchFamily="18" charset="0"/>
              <a:ea typeface="宋体" panose="02010600030101010101" pitchFamily="2" charset="-122"/>
            </a:endParaRPr>
          </a:p>
        </p:txBody>
      </p:sp>
      <p:sp>
        <p:nvSpPr>
          <p:cNvPr id="43015" name="Text Box 12"/>
          <p:cNvSpPr txBox="1"/>
          <p:nvPr/>
        </p:nvSpPr>
        <p:spPr>
          <a:xfrm>
            <a:off x="1258888"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3275</a:t>
            </a:r>
            <a:endParaRPr lang="en-US" altLang="zh-CN" sz="2400" b="1" dirty="0">
              <a:latin typeface="Times New Roman" panose="02020603050405020304" pitchFamily="18" charset="0"/>
              <a:ea typeface="宋体" panose="02010600030101010101" pitchFamily="2" charset="-122"/>
            </a:endParaRPr>
          </a:p>
        </p:txBody>
      </p:sp>
      <p:sp>
        <p:nvSpPr>
          <p:cNvPr id="43016" name="Text Box 13"/>
          <p:cNvSpPr txBox="1"/>
          <p:nvPr/>
        </p:nvSpPr>
        <p:spPr>
          <a:xfrm>
            <a:off x="1258888"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6792</a:t>
            </a:r>
            <a:endParaRPr lang="en-US" altLang="zh-CN" sz="2400" b="1" dirty="0">
              <a:latin typeface="Times New Roman" panose="02020603050405020304" pitchFamily="18" charset="0"/>
              <a:ea typeface="宋体" panose="02010600030101010101" pitchFamily="2" charset="-122"/>
            </a:endParaRPr>
          </a:p>
        </p:txBody>
      </p:sp>
      <p:sp>
        <p:nvSpPr>
          <p:cNvPr id="43017" name="Text Box 14"/>
          <p:cNvSpPr txBox="1"/>
          <p:nvPr/>
        </p:nvSpPr>
        <p:spPr>
          <a:xfrm>
            <a:off x="1258888"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9187</a:t>
            </a:r>
            <a:endParaRPr lang="en-US" altLang="zh-CN" sz="2400" b="1" dirty="0">
              <a:latin typeface="Times New Roman" panose="02020603050405020304" pitchFamily="18" charset="0"/>
              <a:ea typeface="宋体" panose="02010600030101010101" pitchFamily="2" charset="-122"/>
            </a:endParaRPr>
          </a:p>
        </p:txBody>
      </p:sp>
      <p:sp>
        <p:nvSpPr>
          <p:cNvPr id="43018" name="Text Box 15"/>
          <p:cNvSpPr txBox="1"/>
          <p:nvPr/>
        </p:nvSpPr>
        <p:spPr>
          <a:xfrm>
            <a:off x="1258888"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9134</a:t>
            </a:r>
            <a:endParaRPr lang="en-US" altLang="zh-CN" sz="2400" b="1" dirty="0">
              <a:latin typeface="Times New Roman" panose="02020603050405020304" pitchFamily="18" charset="0"/>
              <a:ea typeface="宋体" panose="02010600030101010101" pitchFamily="2" charset="-122"/>
            </a:endParaRPr>
          </a:p>
        </p:txBody>
      </p:sp>
      <p:sp>
        <p:nvSpPr>
          <p:cNvPr id="43019" name="Text Box 16"/>
          <p:cNvSpPr txBox="1"/>
          <p:nvPr/>
        </p:nvSpPr>
        <p:spPr>
          <a:xfrm>
            <a:off x="1260475"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4675</a:t>
            </a:r>
            <a:endParaRPr lang="en-US" altLang="zh-CN" sz="2400" b="1" dirty="0">
              <a:latin typeface="Times New Roman" panose="02020603050405020304" pitchFamily="18" charset="0"/>
              <a:ea typeface="宋体" panose="02010600030101010101" pitchFamily="2" charset="-122"/>
            </a:endParaRPr>
          </a:p>
        </p:txBody>
      </p:sp>
      <p:sp>
        <p:nvSpPr>
          <p:cNvPr id="43020" name="Text Box 17"/>
          <p:cNvSpPr txBox="1"/>
          <p:nvPr/>
        </p:nvSpPr>
        <p:spPr>
          <a:xfrm>
            <a:off x="1260475"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1239</a:t>
            </a:r>
            <a:endParaRPr lang="en-US" altLang="zh-CN" sz="2400" b="1" dirty="0">
              <a:latin typeface="Times New Roman" panose="02020603050405020304" pitchFamily="18" charset="0"/>
              <a:ea typeface="宋体" panose="02010600030101010101" pitchFamily="2" charset="-122"/>
            </a:endParaRPr>
          </a:p>
        </p:txBody>
      </p:sp>
      <p:sp>
        <p:nvSpPr>
          <p:cNvPr id="109586" name="Text Box 18"/>
          <p:cNvSpPr txBox="1"/>
          <p:nvPr/>
        </p:nvSpPr>
        <p:spPr>
          <a:xfrm>
            <a:off x="1258888"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746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87" name="Text Box 19"/>
          <p:cNvSpPr txBox="1"/>
          <p:nvPr/>
        </p:nvSpPr>
        <p:spPr>
          <a:xfrm>
            <a:off x="1258888"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88" name="Text Box 20"/>
          <p:cNvSpPr txBox="1"/>
          <p:nvPr/>
        </p:nvSpPr>
        <p:spPr>
          <a:xfrm>
            <a:off x="1260475"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327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89" name="Text Box 21"/>
          <p:cNvSpPr txBox="1"/>
          <p:nvPr/>
        </p:nvSpPr>
        <p:spPr>
          <a:xfrm>
            <a:off x="1260475"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679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0" name="Text Box 22"/>
          <p:cNvSpPr txBox="1"/>
          <p:nvPr/>
        </p:nvSpPr>
        <p:spPr>
          <a:xfrm>
            <a:off x="1260475"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1" name="Text Box 23"/>
          <p:cNvSpPr txBox="1"/>
          <p:nvPr/>
        </p:nvSpPr>
        <p:spPr>
          <a:xfrm>
            <a:off x="1260475"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2" name="Text Box 24"/>
          <p:cNvSpPr txBox="1"/>
          <p:nvPr/>
        </p:nvSpPr>
        <p:spPr>
          <a:xfrm>
            <a:off x="1262063"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467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3" name="Text Box 25"/>
          <p:cNvSpPr txBox="1"/>
          <p:nvPr/>
        </p:nvSpPr>
        <p:spPr>
          <a:xfrm>
            <a:off x="1262063"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4" name="Text Box 26"/>
          <p:cNvSpPr txBox="1"/>
          <p:nvPr/>
        </p:nvSpPr>
        <p:spPr>
          <a:xfrm>
            <a:off x="2484438"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679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5" name="Text Box 27"/>
          <p:cNvSpPr txBox="1"/>
          <p:nvPr/>
        </p:nvSpPr>
        <p:spPr>
          <a:xfrm>
            <a:off x="2484438"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6" name="Text Box 28"/>
          <p:cNvSpPr txBox="1"/>
          <p:nvPr/>
        </p:nvSpPr>
        <p:spPr>
          <a:xfrm>
            <a:off x="2486025"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327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7" name="Text Box 29"/>
          <p:cNvSpPr txBox="1"/>
          <p:nvPr/>
        </p:nvSpPr>
        <p:spPr>
          <a:xfrm>
            <a:off x="2486025"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467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8" name="Text Box 30"/>
          <p:cNvSpPr txBox="1"/>
          <p:nvPr/>
        </p:nvSpPr>
        <p:spPr>
          <a:xfrm>
            <a:off x="2486025"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746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599" name="Text Box 31"/>
          <p:cNvSpPr txBox="1"/>
          <p:nvPr/>
        </p:nvSpPr>
        <p:spPr>
          <a:xfrm>
            <a:off x="2486025"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0" name="Text Box 32"/>
          <p:cNvSpPr txBox="1"/>
          <p:nvPr/>
        </p:nvSpPr>
        <p:spPr>
          <a:xfrm>
            <a:off x="2487613"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1" name="Text Box 33"/>
          <p:cNvSpPr txBox="1"/>
          <p:nvPr/>
        </p:nvSpPr>
        <p:spPr>
          <a:xfrm>
            <a:off x="2487613"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2" name="Text Box 34"/>
          <p:cNvSpPr txBox="1"/>
          <p:nvPr/>
        </p:nvSpPr>
        <p:spPr>
          <a:xfrm>
            <a:off x="2479675"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67</a:t>
            </a:r>
            <a:r>
              <a:rPr lang="en-US" altLang="zh-CN" sz="2400" b="1" dirty="0">
                <a:solidFill>
                  <a:srgbClr val="009900"/>
                </a:solidFill>
                <a:latin typeface="Times New Roman" panose="02020603050405020304" pitchFamily="18" charset="0"/>
                <a:ea typeface="宋体" panose="02010600030101010101" pitchFamily="2" charset="-122"/>
              </a:rPr>
              <a:t>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3" name="Text Box 35"/>
          <p:cNvSpPr txBox="1"/>
          <p:nvPr/>
        </p:nvSpPr>
        <p:spPr>
          <a:xfrm>
            <a:off x="2479675"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4" name="Text Box 36"/>
          <p:cNvSpPr txBox="1"/>
          <p:nvPr/>
        </p:nvSpPr>
        <p:spPr>
          <a:xfrm>
            <a:off x="2481263"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32</a:t>
            </a:r>
            <a:r>
              <a:rPr lang="en-US" altLang="zh-CN" sz="2400" b="1" dirty="0">
                <a:solidFill>
                  <a:srgbClr val="0099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5" name="Text Box 37"/>
          <p:cNvSpPr txBox="1"/>
          <p:nvPr/>
        </p:nvSpPr>
        <p:spPr>
          <a:xfrm>
            <a:off x="2481263"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46</a:t>
            </a:r>
            <a:r>
              <a:rPr lang="en-US" altLang="zh-CN" sz="2400" b="1" dirty="0">
                <a:solidFill>
                  <a:srgbClr val="0099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6" name="Text Box 38"/>
          <p:cNvSpPr txBox="1"/>
          <p:nvPr/>
        </p:nvSpPr>
        <p:spPr>
          <a:xfrm>
            <a:off x="2481263"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74</a:t>
            </a:r>
            <a:r>
              <a:rPr lang="en-US" altLang="zh-CN" sz="2400" b="1" dirty="0">
                <a:solidFill>
                  <a:srgbClr val="009900"/>
                </a:solidFill>
                <a:latin typeface="Times New Roman" panose="02020603050405020304" pitchFamily="18" charset="0"/>
                <a:ea typeface="宋体" panose="02010600030101010101" pitchFamily="2" charset="-122"/>
              </a:rPr>
              <a:t>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7" name="Text Box 39"/>
          <p:cNvSpPr txBox="1"/>
          <p:nvPr/>
        </p:nvSpPr>
        <p:spPr>
          <a:xfrm>
            <a:off x="2481263"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a:t>
            </a:r>
            <a:r>
              <a:rPr lang="en-US" altLang="zh-CN" sz="2400" b="1" dirty="0">
                <a:solidFill>
                  <a:srgbClr val="009900"/>
                </a:solidFill>
                <a:latin typeface="Times New Roman" panose="02020603050405020304" pitchFamily="18" charset="0"/>
                <a:ea typeface="宋体" panose="02010600030101010101" pitchFamily="2" charset="-122"/>
              </a:rPr>
              <a:t>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8" name="Text Box 40"/>
          <p:cNvSpPr txBox="1"/>
          <p:nvPr/>
        </p:nvSpPr>
        <p:spPr>
          <a:xfrm>
            <a:off x="2482850"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a:t>
            </a:r>
            <a:r>
              <a:rPr lang="en-US" altLang="zh-CN" sz="2400" b="1" dirty="0">
                <a:solidFill>
                  <a:srgbClr val="009900"/>
                </a:solidFill>
                <a:latin typeface="Times New Roman" panose="02020603050405020304" pitchFamily="18" charset="0"/>
                <a:ea typeface="宋体" panose="02010600030101010101" pitchFamily="2" charset="-122"/>
              </a:rPr>
              <a:t>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09" name="Text Box 41"/>
          <p:cNvSpPr txBox="1"/>
          <p:nvPr/>
        </p:nvSpPr>
        <p:spPr>
          <a:xfrm>
            <a:off x="2482850"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0" name="Text Box 42"/>
          <p:cNvSpPr txBox="1"/>
          <p:nvPr/>
        </p:nvSpPr>
        <p:spPr>
          <a:xfrm>
            <a:off x="3919538"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1" name="Text Box 43"/>
          <p:cNvSpPr txBox="1"/>
          <p:nvPr/>
        </p:nvSpPr>
        <p:spPr>
          <a:xfrm>
            <a:off x="3919538"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2" name="Text Box 44"/>
          <p:cNvSpPr txBox="1"/>
          <p:nvPr/>
        </p:nvSpPr>
        <p:spPr>
          <a:xfrm>
            <a:off x="3921125"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12</a:t>
            </a:r>
            <a:r>
              <a:rPr lang="en-US" altLang="zh-CN" sz="2400" b="1" dirty="0">
                <a:solidFill>
                  <a:srgbClr val="009900"/>
                </a:solidFill>
                <a:latin typeface="Times New Roman" panose="02020603050405020304" pitchFamily="18" charset="0"/>
                <a:ea typeface="宋体" panose="02010600030101010101" pitchFamily="2" charset="-122"/>
              </a:rPr>
              <a:t>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3" name="Text Box 45"/>
          <p:cNvSpPr txBox="1"/>
          <p:nvPr/>
        </p:nvSpPr>
        <p:spPr>
          <a:xfrm>
            <a:off x="3921125"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74</a:t>
            </a:r>
            <a:r>
              <a:rPr lang="en-US" altLang="zh-CN" sz="2400" b="1" dirty="0">
                <a:solidFill>
                  <a:srgbClr val="009900"/>
                </a:solidFill>
                <a:latin typeface="Times New Roman" panose="02020603050405020304" pitchFamily="18" charset="0"/>
                <a:ea typeface="宋体" panose="02010600030101010101" pitchFamily="2" charset="-122"/>
              </a:rPr>
              <a:t>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4" name="Text Box 46"/>
          <p:cNvSpPr txBox="1"/>
          <p:nvPr/>
        </p:nvSpPr>
        <p:spPr>
          <a:xfrm>
            <a:off x="3921125"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32</a:t>
            </a:r>
            <a:r>
              <a:rPr lang="en-US" altLang="zh-CN" sz="2400" b="1" dirty="0">
                <a:solidFill>
                  <a:srgbClr val="0099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5" name="Text Box 47"/>
          <p:cNvSpPr txBox="1"/>
          <p:nvPr/>
        </p:nvSpPr>
        <p:spPr>
          <a:xfrm>
            <a:off x="3921125"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46</a:t>
            </a:r>
            <a:r>
              <a:rPr lang="en-US" altLang="zh-CN" sz="2400" b="1" dirty="0">
                <a:solidFill>
                  <a:srgbClr val="0099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6" name="Text Box 48"/>
          <p:cNvSpPr txBox="1"/>
          <p:nvPr/>
        </p:nvSpPr>
        <p:spPr>
          <a:xfrm>
            <a:off x="3922713"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91</a:t>
            </a:r>
            <a:r>
              <a:rPr lang="en-US" altLang="zh-CN" sz="2400" b="1" dirty="0">
                <a:solidFill>
                  <a:srgbClr val="009900"/>
                </a:solidFill>
                <a:latin typeface="Times New Roman" panose="02020603050405020304" pitchFamily="18" charset="0"/>
                <a:ea typeface="宋体" panose="02010600030101010101" pitchFamily="2" charset="-122"/>
              </a:rPr>
              <a:t>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7" name="Text Box 49"/>
          <p:cNvSpPr txBox="1"/>
          <p:nvPr/>
        </p:nvSpPr>
        <p:spPr>
          <a:xfrm>
            <a:off x="3922713"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67</a:t>
            </a:r>
            <a:r>
              <a:rPr lang="en-US" altLang="zh-CN" sz="2400" b="1" dirty="0">
                <a:solidFill>
                  <a:srgbClr val="009900"/>
                </a:solidFill>
                <a:latin typeface="Times New Roman" panose="02020603050405020304" pitchFamily="18" charset="0"/>
                <a:ea typeface="宋体" panose="02010600030101010101" pitchFamily="2" charset="-122"/>
              </a:rPr>
              <a:t>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8" name="Text Box 50"/>
          <p:cNvSpPr txBox="1"/>
          <p:nvPr/>
        </p:nvSpPr>
        <p:spPr>
          <a:xfrm>
            <a:off x="3919538"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a:t>
            </a:r>
            <a:r>
              <a:rPr lang="en-US" altLang="zh-CN" sz="2400" b="1" dirty="0">
                <a:solidFill>
                  <a:srgbClr val="3333FF"/>
                </a:solidFill>
                <a:latin typeface="Times New Roman" panose="02020603050405020304" pitchFamily="18" charset="0"/>
                <a:ea typeface="宋体" panose="02010600030101010101" pitchFamily="2" charset="-122"/>
              </a:rPr>
              <a:t>1</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19" name="Text Box 51"/>
          <p:cNvSpPr txBox="1"/>
          <p:nvPr/>
        </p:nvSpPr>
        <p:spPr>
          <a:xfrm>
            <a:off x="3919538"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0" name="Text Box 52"/>
          <p:cNvSpPr txBox="1"/>
          <p:nvPr/>
        </p:nvSpPr>
        <p:spPr>
          <a:xfrm>
            <a:off x="3921125"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9900"/>
                </a:solidFill>
                <a:latin typeface="Times New Roman" panose="02020603050405020304" pitchFamily="18" charset="0"/>
                <a:ea typeface="宋体" panose="02010600030101010101" pitchFamily="2" charset="-122"/>
              </a:rPr>
              <a:t>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1" name="Text Box 53"/>
          <p:cNvSpPr txBox="1"/>
          <p:nvPr/>
        </p:nvSpPr>
        <p:spPr>
          <a:xfrm>
            <a:off x="3921125"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a:t>
            </a:r>
            <a:r>
              <a:rPr lang="en-US" altLang="zh-CN" sz="2400" b="1" dirty="0">
                <a:solidFill>
                  <a:srgbClr val="3333FF"/>
                </a:solidFill>
                <a:latin typeface="Times New Roman" panose="02020603050405020304" pitchFamily="18" charset="0"/>
                <a:ea typeface="宋体" panose="02010600030101010101" pitchFamily="2" charset="-122"/>
              </a:rPr>
              <a:t>4</a:t>
            </a:r>
            <a:r>
              <a:rPr lang="en-US" altLang="zh-CN" sz="2400" b="1" dirty="0">
                <a:solidFill>
                  <a:srgbClr val="009900"/>
                </a:solidFill>
                <a:latin typeface="Times New Roman" panose="02020603050405020304" pitchFamily="18" charset="0"/>
                <a:ea typeface="宋体" panose="02010600030101010101" pitchFamily="2" charset="-122"/>
              </a:rPr>
              <a:t>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2" name="Text Box 54"/>
          <p:cNvSpPr txBox="1"/>
          <p:nvPr/>
        </p:nvSpPr>
        <p:spPr>
          <a:xfrm>
            <a:off x="3921125"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99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3" name="Text Box 55"/>
          <p:cNvSpPr txBox="1"/>
          <p:nvPr/>
        </p:nvSpPr>
        <p:spPr>
          <a:xfrm>
            <a:off x="3921125"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a:t>
            </a:r>
            <a:r>
              <a:rPr lang="en-US" altLang="zh-CN" sz="2400" b="1" dirty="0">
                <a:solidFill>
                  <a:srgbClr val="3333FF"/>
                </a:solidFill>
                <a:latin typeface="Times New Roman" panose="02020603050405020304" pitchFamily="18" charset="0"/>
                <a:ea typeface="宋体" panose="02010600030101010101" pitchFamily="2" charset="-122"/>
              </a:rPr>
              <a:t>6</a:t>
            </a:r>
            <a:r>
              <a:rPr lang="en-US" altLang="zh-CN" sz="2400" b="1" dirty="0">
                <a:solidFill>
                  <a:srgbClr val="0099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4" name="Text Box 56"/>
          <p:cNvSpPr txBox="1"/>
          <p:nvPr/>
        </p:nvSpPr>
        <p:spPr>
          <a:xfrm>
            <a:off x="3922713"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a:t>
            </a:r>
            <a:r>
              <a:rPr lang="en-US" altLang="zh-CN" sz="2400" b="1" dirty="0">
                <a:solidFill>
                  <a:srgbClr val="3333FF"/>
                </a:solidFill>
                <a:latin typeface="Times New Roman" panose="02020603050405020304" pitchFamily="18" charset="0"/>
                <a:ea typeface="宋体" panose="02010600030101010101" pitchFamily="2" charset="-122"/>
              </a:rPr>
              <a:t>1</a:t>
            </a:r>
            <a:r>
              <a:rPr lang="en-US" altLang="zh-CN" sz="2400" b="1" dirty="0">
                <a:solidFill>
                  <a:srgbClr val="009900"/>
                </a:solidFill>
                <a:latin typeface="Times New Roman" panose="02020603050405020304" pitchFamily="18" charset="0"/>
                <a:ea typeface="宋体" panose="02010600030101010101" pitchFamily="2" charset="-122"/>
              </a:rPr>
              <a:t>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5" name="Text Box 57"/>
          <p:cNvSpPr txBox="1"/>
          <p:nvPr/>
        </p:nvSpPr>
        <p:spPr>
          <a:xfrm>
            <a:off x="3922713"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a:t>
            </a:r>
            <a:r>
              <a:rPr lang="en-US" altLang="zh-CN" sz="2400" b="1" dirty="0">
                <a:solidFill>
                  <a:srgbClr val="3333FF"/>
                </a:solidFill>
                <a:latin typeface="Times New Roman" panose="02020603050405020304" pitchFamily="18" charset="0"/>
                <a:ea typeface="宋体" panose="02010600030101010101" pitchFamily="2" charset="-122"/>
              </a:rPr>
              <a:t>7</a:t>
            </a:r>
            <a:r>
              <a:rPr lang="en-US" altLang="zh-CN" sz="2400" b="1" dirty="0">
                <a:solidFill>
                  <a:srgbClr val="009900"/>
                </a:solidFill>
                <a:latin typeface="Times New Roman" panose="02020603050405020304" pitchFamily="18" charset="0"/>
                <a:ea typeface="宋体" panose="02010600030101010101" pitchFamily="2" charset="-122"/>
              </a:rPr>
              <a:t>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6" name="Text Box 58"/>
          <p:cNvSpPr txBox="1"/>
          <p:nvPr/>
        </p:nvSpPr>
        <p:spPr>
          <a:xfrm>
            <a:off x="5287963" y="21336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a:t>
            </a:r>
            <a:r>
              <a:rPr lang="en-US" altLang="zh-CN" sz="2400" b="1" dirty="0">
                <a:solidFill>
                  <a:srgbClr val="3333FF"/>
                </a:solidFill>
                <a:latin typeface="Times New Roman" panose="02020603050405020304" pitchFamily="18" charset="0"/>
                <a:ea typeface="宋体" panose="02010600030101010101" pitchFamily="2" charset="-122"/>
              </a:rPr>
              <a:t>1</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7" name="Text Box 59"/>
          <p:cNvSpPr txBox="1"/>
          <p:nvPr/>
        </p:nvSpPr>
        <p:spPr>
          <a:xfrm>
            <a:off x="5287963"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a:t>
            </a:r>
            <a:r>
              <a:rPr lang="en-US" altLang="zh-CN" sz="2400" b="1" dirty="0">
                <a:solidFill>
                  <a:srgbClr val="3333FF"/>
                </a:solidFill>
                <a:latin typeface="Times New Roman" panose="02020603050405020304" pitchFamily="18" charset="0"/>
                <a:ea typeface="宋体" panose="02010600030101010101" pitchFamily="2" charset="-122"/>
              </a:rPr>
              <a:t>1</a:t>
            </a:r>
            <a:r>
              <a:rPr lang="en-US" altLang="zh-CN" sz="2400" b="1" dirty="0">
                <a:solidFill>
                  <a:srgbClr val="006600"/>
                </a:solidFill>
                <a:latin typeface="Times New Roman" panose="02020603050405020304" pitchFamily="18" charset="0"/>
                <a:ea typeface="宋体" panose="02010600030101010101" pitchFamily="2" charset="-122"/>
              </a:rPr>
              <a:t>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8" name="Text Box 60"/>
          <p:cNvSpPr txBox="1"/>
          <p:nvPr/>
        </p:nvSpPr>
        <p:spPr>
          <a:xfrm>
            <a:off x="5289550" y="29257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66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29" name="Text Box 61"/>
          <p:cNvSpPr txBox="1"/>
          <p:nvPr/>
        </p:nvSpPr>
        <p:spPr>
          <a:xfrm>
            <a:off x="5289550"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6600"/>
                </a:solidFill>
                <a:latin typeface="Times New Roman" panose="02020603050405020304" pitchFamily="18" charset="0"/>
                <a:ea typeface="宋体" panose="02010600030101010101" pitchFamily="2" charset="-122"/>
              </a:rPr>
              <a:t>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30" name="Text Box 62"/>
          <p:cNvSpPr txBox="1"/>
          <p:nvPr/>
        </p:nvSpPr>
        <p:spPr>
          <a:xfrm>
            <a:off x="5289550" y="37179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66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31" name="Text Box 63"/>
          <p:cNvSpPr txBox="1"/>
          <p:nvPr/>
        </p:nvSpPr>
        <p:spPr>
          <a:xfrm>
            <a:off x="5289550" y="41243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a:t>
            </a:r>
            <a:r>
              <a:rPr lang="en-US" altLang="zh-CN" sz="2400" b="1" dirty="0">
                <a:solidFill>
                  <a:srgbClr val="3333FF"/>
                </a:solidFill>
                <a:latin typeface="Times New Roman" panose="02020603050405020304" pitchFamily="18" charset="0"/>
                <a:ea typeface="宋体" panose="02010600030101010101" pitchFamily="2" charset="-122"/>
              </a:rPr>
              <a:t>4</a:t>
            </a:r>
            <a:r>
              <a:rPr lang="en-US" altLang="zh-CN" sz="2400" b="1" dirty="0">
                <a:solidFill>
                  <a:srgbClr val="006600"/>
                </a:solidFill>
                <a:latin typeface="Times New Roman" panose="02020603050405020304" pitchFamily="18" charset="0"/>
                <a:ea typeface="宋体" panose="02010600030101010101" pitchFamily="2" charset="-122"/>
              </a:rPr>
              <a:t>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32" name="Text Box 64"/>
          <p:cNvSpPr txBox="1"/>
          <p:nvPr/>
        </p:nvSpPr>
        <p:spPr>
          <a:xfrm>
            <a:off x="5291138" y="45100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a:t>
            </a:r>
            <a:r>
              <a:rPr lang="en-US" altLang="zh-CN" sz="2400" b="1" dirty="0">
                <a:solidFill>
                  <a:srgbClr val="3333FF"/>
                </a:solidFill>
                <a:latin typeface="Times New Roman" panose="02020603050405020304" pitchFamily="18" charset="0"/>
                <a:ea typeface="宋体" panose="02010600030101010101" pitchFamily="2" charset="-122"/>
              </a:rPr>
              <a:t>6</a:t>
            </a:r>
            <a:r>
              <a:rPr lang="en-US" altLang="zh-CN" sz="2400" b="1" dirty="0">
                <a:solidFill>
                  <a:srgbClr val="0066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33" name="Text Box 65"/>
          <p:cNvSpPr txBox="1"/>
          <p:nvPr/>
        </p:nvSpPr>
        <p:spPr>
          <a:xfrm>
            <a:off x="5291138" y="4916488"/>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a:t>
            </a:r>
            <a:r>
              <a:rPr lang="en-US" altLang="zh-CN" sz="2400" b="1" dirty="0">
                <a:solidFill>
                  <a:srgbClr val="3333FF"/>
                </a:solidFill>
                <a:latin typeface="Times New Roman" panose="02020603050405020304" pitchFamily="18" charset="0"/>
                <a:ea typeface="宋体" panose="02010600030101010101" pitchFamily="2" charset="-122"/>
              </a:rPr>
              <a:t>7</a:t>
            </a:r>
            <a:r>
              <a:rPr lang="en-US" altLang="zh-CN" sz="2400" b="1" dirty="0">
                <a:solidFill>
                  <a:srgbClr val="009900"/>
                </a:solidFill>
                <a:latin typeface="Times New Roman" panose="02020603050405020304" pitchFamily="18" charset="0"/>
                <a:ea typeface="宋体" panose="02010600030101010101" pitchFamily="2" charset="-122"/>
              </a:rPr>
              <a:t>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2" name="Text Box 74"/>
          <p:cNvSpPr txBox="1"/>
          <p:nvPr/>
        </p:nvSpPr>
        <p:spPr>
          <a:xfrm>
            <a:off x="6586538" y="21082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66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9</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3" name="Text Box 75"/>
          <p:cNvSpPr txBox="1"/>
          <p:nvPr/>
        </p:nvSpPr>
        <p:spPr>
          <a:xfrm>
            <a:off x="6588125" y="25400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6600"/>
                </a:solidFill>
                <a:latin typeface="Times New Roman" panose="02020603050405020304" pitchFamily="18" charset="0"/>
                <a:ea typeface="宋体" panose="02010600030101010101" pitchFamily="2" charset="-122"/>
              </a:rPr>
              <a:t>4</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4" name="Text Box 76"/>
          <p:cNvSpPr txBox="1"/>
          <p:nvPr/>
        </p:nvSpPr>
        <p:spPr>
          <a:xfrm>
            <a:off x="6586538" y="292417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3</a:t>
            </a:r>
            <a:r>
              <a:rPr lang="en-US" altLang="zh-CN" sz="2400" b="1" dirty="0">
                <a:solidFill>
                  <a:srgbClr val="3333FF"/>
                </a:solidFill>
                <a:latin typeface="Times New Roman" panose="02020603050405020304" pitchFamily="18" charset="0"/>
                <a:ea typeface="宋体" panose="02010600030101010101" pitchFamily="2" charset="-122"/>
              </a:rPr>
              <a:t>2</a:t>
            </a:r>
            <a:r>
              <a:rPr lang="en-US" altLang="zh-CN" sz="2400" b="1" dirty="0">
                <a:solidFill>
                  <a:srgbClr val="0066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5" name="Text Box 77"/>
          <p:cNvSpPr txBox="1"/>
          <p:nvPr/>
        </p:nvSpPr>
        <p:spPr>
          <a:xfrm>
            <a:off x="6586538" y="33321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4</a:t>
            </a:r>
            <a:r>
              <a:rPr lang="en-US" altLang="zh-CN" sz="2400" b="1" dirty="0">
                <a:solidFill>
                  <a:srgbClr val="3333FF"/>
                </a:solidFill>
                <a:latin typeface="Times New Roman" panose="02020603050405020304" pitchFamily="18" charset="0"/>
                <a:ea typeface="宋体" panose="02010600030101010101" pitchFamily="2" charset="-122"/>
              </a:rPr>
              <a:t>6</a:t>
            </a:r>
            <a:r>
              <a:rPr lang="en-US" altLang="zh-CN" sz="2400" b="1" dirty="0">
                <a:solidFill>
                  <a:srgbClr val="006600"/>
                </a:solidFill>
                <a:latin typeface="Times New Roman" panose="02020603050405020304" pitchFamily="18" charset="0"/>
                <a:ea typeface="宋体" panose="02010600030101010101" pitchFamily="2" charset="-122"/>
              </a:rPr>
              <a:t>7</a:t>
            </a:r>
            <a:r>
              <a:rPr lang="en-US" altLang="zh-CN" sz="2400" b="1" dirty="0">
                <a:solidFill>
                  <a:srgbClr val="EA0000"/>
                </a:solidFill>
                <a:latin typeface="Times New Roman" panose="02020603050405020304" pitchFamily="18" charset="0"/>
                <a:ea typeface="宋体" panose="02010600030101010101" pitchFamily="2" charset="-122"/>
              </a:rPr>
              <a:t>5</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6" name="Text Box 78"/>
          <p:cNvSpPr txBox="1"/>
          <p:nvPr/>
        </p:nvSpPr>
        <p:spPr>
          <a:xfrm>
            <a:off x="6588125" y="3730625"/>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6</a:t>
            </a:r>
            <a:r>
              <a:rPr lang="en-US" altLang="zh-CN" sz="2400" b="1" dirty="0">
                <a:solidFill>
                  <a:srgbClr val="3333FF"/>
                </a:solidFill>
                <a:latin typeface="Times New Roman" panose="02020603050405020304" pitchFamily="18" charset="0"/>
                <a:ea typeface="宋体" panose="02010600030101010101" pitchFamily="2" charset="-122"/>
              </a:rPr>
              <a:t>7</a:t>
            </a:r>
            <a:r>
              <a:rPr lang="en-US" altLang="zh-CN" sz="2400" b="1" dirty="0">
                <a:solidFill>
                  <a:srgbClr val="009900"/>
                </a:solidFill>
                <a:latin typeface="Times New Roman" panose="02020603050405020304" pitchFamily="18" charset="0"/>
                <a:ea typeface="宋体" panose="02010600030101010101" pitchFamily="2" charset="-122"/>
              </a:rPr>
              <a:t>9</a:t>
            </a:r>
            <a:r>
              <a:rPr lang="en-US" altLang="zh-CN" sz="2400" b="1" dirty="0">
                <a:solidFill>
                  <a:srgbClr val="EA0000"/>
                </a:solidFill>
                <a:latin typeface="Times New Roman" panose="02020603050405020304" pitchFamily="18" charset="0"/>
                <a:ea typeface="宋体" panose="02010600030101010101" pitchFamily="2" charset="-122"/>
              </a:rPr>
              <a:t>2</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7" name="Text Box 79"/>
          <p:cNvSpPr txBox="1"/>
          <p:nvPr/>
        </p:nvSpPr>
        <p:spPr>
          <a:xfrm>
            <a:off x="6586538" y="4119563"/>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7</a:t>
            </a:r>
            <a:r>
              <a:rPr lang="en-US" altLang="zh-CN" sz="2400" b="1" dirty="0">
                <a:solidFill>
                  <a:srgbClr val="3333FF"/>
                </a:solidFill>
                <a:latin typeface="Times New Roman" panose="02020603050405020304" pitchFamily="18" charset="0"/>
                <a:ea typeface="宋体" panose="02010600030101010101" pitchFamily="2" charset="-122"/>
              </a:rPr>
              <a:t>4</a:t>
            </a:r>
            <a:r>
              <a:rPr lang="en-US" altLang="zh-CN" sz="2400" b="1" dirty="0">
                <a:solidFill>
                  <a:srgbClr val="006600"/>
                </a:solidFill>
                <a:latin typeface="Times New Roman" panose="02020603050405020304" pitchFamily="18" charset="0"/>
                <a:ea typeface="宋体" panose="02010600030101010101" pitchFamily="2" charset="-122"/>
              </a:rPr>
              <a:t>6</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8" name="Text Box 80"/>
          <p:cNvSpPr txBox="1"/>
          <p:nvPr/>
        </p:nvSpPr>
        <p:spPr>
          <a:xfrm>
            <a:off x="6586538" y="45085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a:t>
            </a:r>
            <a:r>
              <a:rPr lang="en-US" altLang="zh-CN" sz="2400" b="1" dirty="0">
                <a:solidFill>
                  <a:srgbClr val="3333FF"/>
                </a:solidFill>
                <a:latin typeface="Times New Roman" panose="02020603050405020304" pitchFamily="18" charset="0"/>
                <a:ea typeface="宋体" panose="02010600030101010101" pitchFamily="2" charset="-122"/>
              </a:rPr>
              <a:t>1</a:t>
            </a:r>
            <a:r>
              <a:rPr lang="en-US" altLang="zh-CN" sz="2400" b="1" dirty="0">
                <a:solidFill>
                  <a:srgbClr val="009900"/>
                </a:solidFill>
                <a:latin typeface="Times New Roman" panose="02020603050405020304" pitchFamily="18" charset="0"/>
                <a:ea typeface="宋体" panose="02010600030101010101" pitchFamily="2" charset="-122"/>
              </a:rPr>
              <a:t>3</a:t>
            </a:r>
            <a:r>
              <a:rPr lang="en-US" altLang="zh-CN" sz="2400" b="1" dirty="0">
                <a:solidFill>
                  <a:srgbClr val="EA0000"/>
                </a:solidFill>
                <a:latin typeface="Times New Roman" panose="02020603050405020304" pitchFamily="18" charset="0"/>
                <a:ea typeface="宋体" panose="02010600030101010101" pitchFamily="2" charset="-122"/>
              </a:rPr>
              <a:t>4</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49" name="Text Box 81"/>
          <p:cNvSpPr txBox="1"/>
          <p:nvPr/>
        </p:nvSpPr>
        <p:spPr>
          <a:xfrm>
            <a:off x="6586538" y="4914900"/>
            <a:ext cx="793750" cy="457200"/>
          </a:xfrm>
          <a:prstGeom prst="rect">
            <a:avLst/>
          </a:prstGeom>
          <a:noFill/>
          <a:ln w="9525">
            <a:noFill/>
          </a:ln>
        </p:spPr>
        <p:txBody>
          <a:bodyPr wrap="none" anchor="t" anchorCtr="0">
            <a:spAutoFit/>
          </a:bodyPr>
          <a:p>
            <a:pPr indent="0"/>
            <a:r>
              <a:rPr lang="en-US" altLang="zh-CN" sz="2400" b="1" dirty="0">
                <a:latin typeface="Times New Roman" panose="02020603050405020304" pitchFamily="18" charset="0"/>
                <a:ea typeface="宋体" panose="02010600030101010101" pitchFamily="2" charset="-122"/>
              </a:rPr>
              <a:t>9</a:t>
            </a:r>
            <a:r>
              <a:rPr lang="en-US" altLang="zh-CN" sz="2400" b="1" dirty="0">
                <a:solidFill>
                  <a:srgbClr val="3333FF"/>
                </a:solidFill>
                <a:latin typeface="Times New Roman" panose="02020603050405020304" pitchFamily="18" charset="0"/>
                <a:ea typeface="宋体" panose="02010600030101010101" pitchFamily="2" charset="-122"/>
              </a:rPr>
              <a:t>1</a:t>
            </a:r>
            <a:r>
              <a:rPr lang="en-US" altLang="zh-CN" sz="2400" b="1" dirty="0">
                <a:solidFill>
                  <a:srgbClr val="006600"/>
                </a:solidFill>
                <a:latin typeface="Times New Roman" panose="02020603050405020304" pitchFamily="18" charset="0"/>
                <a:ea typeface="宋体" panose="02010600030101010101" pitchFamily="2" charset="-122"/>
              </a:rPr>
              <a:t>8</a:t>
            </a:r>
            <a:r>
              <a:rPr lang="en-US" altLang="zh-CN" sz="2400" b="1" dirty="0">
                <a:solidFill>
                  <a:srgbClr val="EA0000"/>
                </a:solidFill>
                <a:latin typeface="Times New Roman" panose="02020603050405020304" pitchFamily="18" charset="0"/>
                <a:ea typeface="宋体" panose="02010600030101010101" pitchFamily="2" charset="-122"/>
              </a:rPr>
              <a:t>7</a:t>
            </a:r>
            <a:endParaRPr lang="en-US" altLang="zh-CN" sz="2400" b="1" dirty="0">
              <a:solidFill>
                <a:srgbClr val="EA0000"/>
              </a:solidFill>
              <a:latin typeface="Times New Roman" panose="02020603050405020304" pitchFamily="18" charset="0"/>
              <a:ea typeface="宋体" panose="02010600030101010101" pitchFamily="2" charset="-122"/>
            </a:endParaRPr>
          </a:p>
        </p:txBody>
      </p:sp>
      <p:sp>
        <p:nvSpPr>
          <p:cNvPr id="109650" name="Rectangle 82"/>
          <p:cNvSpPr/>
          <p:nvPr/>
        </p:nvSpPr>
        <p:spPr>
          <a:xfrm>
            <a:off x="7667625" y="5013325"/>
            <a:ext cx="1296988" cy="647700"/>
          </a:xfrm>
          <a:prstGeom prst="rect">
            <a:avLst/>
          </a:prstGeom>
          <a:solidFill>
            <a:srgbClr val="EA0000"/>
          </a:solidFill>
          <a:ln w="9525" cap="flat" cmpd="sng">
            <a:solidFill>
              <a:schemeClr val="tx1"/>
            </a:solidFill>
            <a:prstDash val="solid"/>
            <a:miter/>
            <a:headEnd type="none" w="med" len="med"/>
            <a:tailEnd type="none" w="med" len="med"/>
          </a:ln>
        </p:spPr>
        <p:txBody>
          <a:bodyPr wrap="none" anchor="ctr" anchorCtr="0"/>
          <a:p>
            <a:pPr indent="0" algn="ctr"/>
            <a:r>
              <a:rPr lang="en-US" altLang="zh-CN" sz="2400" b="1" dirty="0">
                <a:solidFill>
                  <a:schemeClr val="accent2"/>
                </a:solidFill>
                <a:latin typeface="Arial" panose="020B0604020202020204" pitchFamily="34" charset="0"/>
                <a:ea typeface="宋体" panose="02010600030101010101" pitchFamily="2" charset="-122"/>
              </a:rPr>
              <a:t>Success!</a:t>
            </a:r>
            <a:endParaRPr lang="en-US" altLang="zh-CN" sz="2400" b="1" dirty="0">
              <a:solidFill>
                <a:schemeClr val="accent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9586"/>
                                        </p:tgtEl>
                                        <p:attrNameLst>
                                          <p:attrName>style.visibility</p:attrName>
                                        </p:attrNameLst>
                                      </p:cBhvr>
                                      <p:to>
                                        <p:strVal val="visible"/>
                                      </p:to>
                                    </p:set>
                                    <p:animEffect transition="in" filter="randombar(horizontal)">
                                      <p:cBhvr>
                                        <p:cTn id="7" dur="500"/>
                                        <p:tgtEl>
                                          <p:spTgt spid="10958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9587"/>
                                        </p:tgtEl>
                                        <p:attrNameLst>
                                          <p:attrName>style.visibility</p:attrName>
                                        </p:attrNameLst>
                                      </p:cBhvr>
                                      <p:to>
                                        <p:strVal val="visible"/>
                                      </p:to>
                                    </p:set>
                                    <p:animEffect transition="in" filter="randombar(horizontal)">
                                      <p:cBhvr>
                                        <p:cTn id="10" dur="500"/>
                                        <p:tgtEl>
                                          <p:spTgt spid="109587"/>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9588"/>
                                        </p:tgtEl>
                                        <p:attrNameLst>
                                          <p:attrName>style.visibility</p:attrName>
                                        </p:attrNameLst>
                                      </p:cBhvr>
                                      <p:to>
                                        <p:strVal val="visible"/>
                                      </p:to>
                                    </p:set>
                                    <p:animEffect transition="in" filter="randombar(horizontal)">
                                      <p:cBhvr>
                                        <p:cTn id="13" dur="500"/>
                                        <p:tgtEl>
                                          <p:spTgt spid="109588"/>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09589"/>
                                        </p:tgtEl>
                                        <p:attrNameLst>
                                          <p:attrName>style.visibility</p:attrName>
                                        </p:attrNameLst>
                                      </p:cBhvr>
                                      <p:to>
                                        <p:strVal val="visible"/>
                                      </p:to>
                                    </p:set>
                                    <p:animEffect transition="in" filter="randombar(horizontal)">
                                      <p:cBhvr>
                                        <p:cTn id="16" dur="500"/>
                                        <p:tgtEl>
                                          <p:spTgt spid="109589"/>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09590"/>
                                        </p:tgtEl>
                                        <p:attrNameLst>
                                          <p:attrName>style.visibility</p:attrName>
                                        </p:attrNameLst>
                                      </p:cBhvr>
                                      <p:to>
                                        <p:strVal val="visible"/>
                                      </p:to>
                                    </p:set>
                                    <p:animEffect transition="in" filter="randombar(horizontal)">
                                      <p:cBhvr>
                                        <p:cTn id="19" dur="500"/>
                                        <p:tgtEl>
                                          <p:spTgt spid="109590"/>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09591"/>
                                        </p:tgtEl>
                                        <p:attrNameLst>
                                          <p:attrName>style.visibility</p:attrName>
                                        </p:attrNameLst>
                                      </p:cBhvr>
                                      <p:to>
                                        <p:strVal val="visible"/>
                                      </p:to>
                                    </p:set>
                                    <p:animEffect transition="in" filter="randombar(horizontal)">
                                      <p:cBhvr>
                                        <p:cTn id="22" dur="500"/>
                                        <p:tgtEl>
                                          <p:spTgt spid="109591"/>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09592"/>
                                        </p:tgtEl>
                                        <p:attrNameLst>
                                          <p:attrName>style.visibility</p:attrName>
                                        </p:attrNameLst>
                                      </p:cBhvr>
                                      <p:to>
                                        <p:strVal val="visible"/>
                                      </p:to>
                                    </p:set>
                                    <p:animEffect transition="in" filter="randombar(horizontal)">
                                      <p:cBhvr>
                                        <p:cTn id="25" dur="500"/>
                                        <p:tgtEl>
                                          <p:spTgt spid="109592"/>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09593"/>
                                        </p:tgtEl>
                                        <p:attrNameLst>
                                          <p:attrName>style.visibility</p:attrName>
                                        </p:attrNameLst>
                                      </p:cBhvr>
                                      <p:to>
                                        <p:strVal val="visible"/>
                                      </p:to>
                                    </p:set>
                                    <p:animEffect transition="in" filter="randombar(horizontal)">
                                      <p:cBhvr>
                                        <p:cTn id="28" dur="500"/>
                                        <p:tgtEl>
                                          <p:spTgt spid="109593"/>
                                        </p:tgtEl>
                                      </p:cBhvr>
                                    </p:animEffect>
                                  </p:childTnLst>
                                </p:cTn>
                              </p:par>
                              <p:par>
                                <p:cTn id="29" presetID="26" presetClass="emph" presetSubtype="0" fill="hold" grpId="1" nodeType="withEffect">
                                  <p:stCondLst>
                                    <p:cond delay="0"/>
                                  </p:stCondLst>
                                  <p:childTnLst>
                                    <p:animEffect transition="out" filter="fade">
                                      <p:cBhvr>
                                        <p:cTn id="30" dur="500" tmFilter="0, 0; .2, .5; .8, .5; 1, 0"/>
                                        <p:tgtEl>
                                          <p:spTgt spid="109586"/>
                                        </p:tgtEl>
                                      </p:cBhvr>
                                    </p:animEffect>
                                    <p:animScale>
                                      <p:cBhvr>
                                        <p:cTn id="31" dur="250" autoRev="1" fill="hold"/>
                                        <p:tgtEl>
                                          <p:spTgt spid="109586"/>
                                        </p:tgtEl>
                                      </p:cBhvr>
                                      <p:by x="105000" y="105000"/>
                                    </p:animScale>
                                  </p:childTnLst>
                                </p:cTn>
                              </p:par>
                              <p:par>
                                <p:cTn id="32" presetID="26" presetClass="emph" presetSubtype="0" fill="hold" grpId="1" nodeType="withEffect">
                                  <p:stCondLst>
                                    <p:cond delay="0"/>
                                  </p:stCondLst>
                                  <p:childTnLst>
                                    <p:animEffect transition="out" filter="fade">
                                      <p:cBhvr>
                                        <p:cTn id="33" dur="500" tmFilter="0, 0; .2, .5; .8, .5; 1, 0"/>
                                        <p:tgtEl>
                                          <p:spTgt spid="109587"/>
                                        </p:tgtEl>
                                      </p:cBhvr>
                                    </p:animEffect>
                                    <p:animScale>
                                      <p:cBhvr>
                                        <p:cTn id="34" dur="250" autoRev="1" fill="hold"/>
                                        <p:tgtEl>
                                          <p:spTgt spid="109587"/>
                                        </p:tgtEl>
                                      </p:cBhvr>
                                      <p:by x="105000" y="105000"/>
                                    </p:animScale>
                                  </p:childTnLst>
                                </p:cTn>
                              </p:par>
                              <p:par>
                                <p:cTn id="35" presetID="26" presetClass="emph" presetSubtype="0" fill="hold" grpId="1" nodeType="withEffect">
                                  <p:stCondLst>
                                    <p:cond delay="0"/>
                                  </p:stCondLst>
                                  <p:childTnLst>
                                    <p:animEffect transition="out" filter="fade">
                                      <p:cBhvr>
                                        <p:cTn id="36" dur="500" tmFilter="0, 0; .2, .5; .8, .5; 1, 0"/>
                                        <p:tgtEl>
                                          <p:spTgt spid="109588"/>
                                        </p:tgtEl>
                                      </p:cBhvr>
                                    </p:animEffect>
                                    <p:animScale>
                                      <p:cBhvr>
                                        <p:cTn id="37" dur="250" autoRev="1" fill="hold"/>
                                        <p:tgtEl>
                                          <p:spTgt spid="109588"/>
                                        </p:tgtEl>
                                      </p:cBhvr>
                                      <p:by x="105000" y="105000"/>
                                    </p:animScale>
                                  </p:childTnLst>
                                </p:cTn>
                              </p:par>
                              <p:par>
                                <p:cTn id="38" presetID="26" presetClass="emph" presetSubtype="0" fill="hold" grpId="1" nodeType="withEffect">
                                  <p:stCondLst>
                                    <p:cond delay="0"/>
                                  </p:stCondLst>
                                  <p:childTnLst>
                                    <p:animEffect transition="out" filter="fade">
                                      <p:cBhvr>
                                        <p:cTn id="39" dur="500" tmFilter="0, 0; .2, .5; .8, .5; 1, 0"/>
                                        <p:tgtEl>
                                          <p:spTgt spid="109589"/>
                                        </p:tgtEl>
                                      </p:cBhvr>
                                    </p:animEffect>
                                    <p:animScale>
                                      <p:cBhvr>
                                        <p:cTn id="40" dur="250" autoRev="1" fill="hold"/>
                                        <p:tgtEl>
                                          <p:spTgt spid="109589"/>
                                        </p:tgtEl>
                                      </p:cBhvr>
                                      <p:by x="105000" y="105000"/>
                                    </p:animScale>
                                  </p:childTnLst>
                                </p:cTn>
                              </p:par>
                              <p:par>
                                <p:cTn id="41" presetID="26" presetClass="emph" presetSubtype="0" fill="hold" grpId="1" nodeType="withEffect">
                                  <p:stCondLst>
                                    <p:cond delay="0"/>
                                  </p:stCondLst>
                                  <p:childTnLst>
                                    <p:animEffect transition="out" filter="fade">
                                      <p:cBhvr>
                                        <p:cTn id="42" dur="500" tmFilter="0, 0; .2, .5; .8, .5; 1, 0"/>
                                        <p:tgtEl>
                                          <p:spTgt spid="109590"/>
                                        </p:tgtEl>
                                      </p:cBhvr>
                                    </p:animEffect>
                                    <p:animScale>
                                      <p:cBhvr>
                                        <p:cTn id="43" dur="250" autoRev="1" fill="hold"/>
                                        <p:tgtEl>
                                          <p:spTgt spid="109590"/>
                                        </p:tgtEl>
                                      </p:cBhvr>
                                      <p:by x="105000" y="105000"/>
                                    </p:animScale>
                                  </p:childTnLst>
                                </p:cTn>
                              </p:par>
                              <p:par>
                                <p:cTn id="44" presetID="26" presetClass="emph" presetSubtype="0" fill="hold" grpId="1" nodeType="withEffect">
                                  <p:stCondLst>
                                    <p:cond delay="0"/>
                                  </p:stCondLst>
                                  <p:childTnLst>
                                    <p:animEffect transition="out" filter="fade">
                                      <p:cBhvr>
                                        <p:cTn id="45" dur="500" tmFilter="0, 0; .2, .5; .8, .5; 1, 0"/>
                                        <p:tgtEl>
                                          <p:spTgt spid="109591"/>
                                        </p:tgtEl>
                                      </p:cBhvr>
                                    </p:animEffect>
                                    <p:animScale>
                                      <p:cBhvr>
                                        <p:cTn id="46" dur="250" autoRev="1" fill="hold"/>
                                        <p:tgtEl>
                                          <p:spTgt spid="109591"/>
                                        </p:tgtEl>
                                      </p:cBhvr>
                                      <p:by x="105000" y="105000"/>
                                    </p:animScale>
                                  </p:childTnLst>
                                </p:cTn>
                              </p:par>
                              <p:par>
                                <p:cTn id="47" presetID="26" presetClass="emph" presetSubtype="0" fill="hold" grpId="1" nodeType="withEffect">
                                  <p:stCondLst>
                                    <p:cond delay="0"/>
                                  </p:stCondLst>
                                  <p:childTnLst>
                                    <p:animEffect transition="out" filter="fade">
                                      <p:cBhvr>
                                        <p:cTn id="48" dur="500" tmFilter="0, 0; .2, .5; .8, .5; 1, 0"/>
                                        <p:tgtEl>
                                          <p:spTgt spid="109592"/>
                                        </p:tgtEl>
                                      </p:cBhvr>
                                    </p:animEffect>
                                    <p:animScale>
                                      <p:cBhvr>
                                        <p:cTn id="49" dur="250" autoRev="1" fill="hold"/>
                                        <p:tgtEl>
                                          <p:spTgt spid="109592"/>
                                        </p:tgtEl>
                                      </p:cBhvr>
                                      <p:by x="105000" y="105000"/>
                                    </p:animScale>
                                  </p:childTnLst>
                                </p:cTn>
                              </p:par>
                              <p:par>
                                <p:cTn id="50" presetID="26" presetClass="emph" presetSubtype="0" fill="hold" grpId="1" nodeType="withEffect">
                                  <p:stCondLst>
                                    <p:cond delay="0"/>
                                  </p:stCondLst>
                                  <p:childTnLst>
                                    <p:animEffect transition="out" filter="fade">
                                      <p:cBhvr>
                                        <p:cTn id="51" dur="500" tmFilter="0, 0; .2, .5; .8, .5; 1, 0"/>
                                        <p:tgtEl>
                                          <p:spTgt spid="109593"/>
                                        </p:tgtEl>
                                      </p:cBhvr>
                                    </p:animEffect>
                                    <p:animScale>
                                      <p:cBhvr>
                                        <p:cTn id="52" dur="250" autoRev="1" fill="hold"/>
                                        <p:tgtEl>
                                          <p:spTgt spid="109593"/>
                                        </p:tgtEl>
                                      </p:cBhvr>
                                      <p:by x="105000" y="105000"/>
                                    </p:animScale>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9594"/>
                                        </p:tgtEl>
                                        <p:attrNameLst>
                                          <p:attrName>style.visibility</p:attrName>
                                        </p:attrNameLst>
                                      </p:cBhvr>
                                      <p:to>
                                        <p:strVal val="visible"/>
                                      </p:to>
                                    </p:set>
                                    <p:animEffect transition="in" filter="wipe(left)">
                                      <p:cBhvr>
                                        <p:cTn id="57" dur="500"/>
                                        <p:tgtEl>
                                          <p:spTgt spid="109594"/>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09595"/>
                                        </p:tgtEl>
                                        <p:attrNameLst>
                                          <p:attrName>style.visibility</p:attrName>
                                        </p:attrNameLst>
                                      </p:cBhvr>
                                      <p:to>
                                        <p:strVal val="visible"/>
                                      </p:to>
                                    </p:set>
                                    <p:animEffect transition="in" filter="wipe(left)">
                                      <p:cBhvr>
                                        <p:cTn id="60" dur="500"/>
                                        <p:tgtEl>
                                          <p:spTgt spid="109595"/>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09596"/>
                                        </p:tgtEl>
                                        <p:attrNameLst>
                                          <p:attrName>style.visibility</p:attrName>
                                        </p:attrNameLst>
                                      </p:cBhvr>
                                      <p:to>
                                        <p:strVal val="visible"/>
                                      </p:to>
                                    </p:set>
                                    <p:animEffect transition="in" filter="wipe(left)">
                                      <p:cBhvr>
                                        <p:cTn id="63" dur="500"/>
                                        <p:tgtEl>
                                          <p:spTgt spid="109596"/>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109597"/>
                                        </p:tgtEl>
                                        <p:attrNameLst>
                                          <p:attrName>style.visibility</p:attrName>
                                        </p:attrNameLst>
                                      </p:cBhvr>
                                      <p:to>
                                        <p:strVal val="visible"/>
                                      </p:to>
                                    </p:set>
                                    <p:animEffect transition="in" filter="wipe(left)">
                                      <p:cBhvr>
                                        <p:cTn id="66" dur="500"/>
                                        <p:tgtEl>
                                          <p:spTgt spid="109597"/>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109598"/>
                                        </p:tgtEl>
                                        <p:attrNameLst>
                                          <p:attrName>style.visibility</p:attrName>
                                        </p:attrNameLst>
                                      </p:cBhvr>
                                      <p:to>
                                        <p:strVal val="visible"/>
                                      </p:to>
                                    </p:set>
                                    <p:animEffect transition="in" filter="wipe(left)">
                                      <p:cBhvr>
                                        <p:cTn id="69" dur="500"/>
                                        <p:tgtEl>
                                          <p:spTgt spid="109598"/>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109599"/>
                                        </p:tgtEl>
                                        <p:attrNameLst>
                                          <p:attrName>style.visibility</p:attrName>
                                        </p:attrNameLst>
                                      </p:cBhvr>
                                      <p:to>
                                        <p:strVal val="visible"/>
                                      </p:to>
                                    </p:set>
                                    <p:animEffect transition="in" filter="wipe(left)">
                                      <p:cBhvr>
                                        <p:cTn id="72" dur="500"/>
                                        <p:tgtEl>
                                          <p:spTgt spid="109599"/>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09600"/>
                                        </p:tgtEl>
                                        <p:attrNameLst>
                                          <p:attrName>style.visibility</p:attrName>
                                        </p:attrNameLst>
                                      </p:cBhvr>
                                      <p:to>
                                        <p:strVal val="visible"/>
                                      </p:to>
                                    </p:set>
                                    <p:animEffect transition="in" filter="wipe(left)">
                                      <p:cBhvr>
                                        <p:cTn id="75" dur="500"/>
                                        <p:tgtEl>
                                          <p:spTgt spid="109600"/>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109601"/>
                                        </p:tgtEl>
                                        <p:attrNameLst>
                                          <p:attrName>style.visibility</p:attrName>
                                        </p:attrNameLst>
                                      </p:cBhvr>
                                      <p:to>
                                        <p:strVal val="visible"/>
                                      </p:to>
                                    </p:set>
                                    <p:animEffect transition="in" filter="wipe(left)">
                                      <p:cBhvr>
                                        <p:cTn id="78" dur="500"/>
                                        <p:tgtEl>
                                          <p:spTgt spid="10960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09602"/>
                                        </p:tgtEl>
                                        <p:attrNameLst>
                                          <p:attrName>style.visibility</p:attrName>
                                        </p:attrNameLst>
                                      </p:cBhvr>
                                      <p:to>
                                        <p:strVal val="visible"/>
                                      </p:to>
                                    </p:set>
                                    <p:animEffect transition="in" filter="wipe(left)">
                                      <p:cBhvr>
                                        <p:cTn id="83" dur="500"/>
                                        <p:tgtEl>
                                          <p:spTgt spid="109602"/>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109603"/>
                                        </p:tgtEl>
                                        <p:attrNameLst>
                                          <p:attrName>style.visibility</p:attrName>
                                        </p:attrNameLst>
                                      </p:cBhvr>
                                      <p:to>
                                        <p:strVal val="visible"/>
                                      </p:to>
                                    </p:set>
                                    <p:animEffect transition="in" filter="wipe(left)">
                                      <p:cBhvr>
                                        <p:cTn id="86" dur="500"/>
                                        <p:tgtEl>
                                          <p:spTgt spid="109603"/>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109604"/>
                                        </p:tgtEl>
                                        <p:attrNameLst>
                                          <p:attrName>style.visibility</p:attrName>
                                        </p:attrNameLst>
                                      </p:cBhvr>
                                      <p:to>
                                        <p:strVal val="visible"/>
                                      </p:to>
                                    </p:set>
                                    <p:animEffect transition="in" filter="wipe(left)">
                                      <p:cBhvr>
                                        <p:cTn id="89" dur="500"/>
                                        <p:tgtEl>
                                          <p:spTgt spid="109604"/>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109605"/>
                                        </p:tgtEl>
                                        <p:attrNameLst>
                                          <p:attrName>style.visibility</p:attrName>
                                        </p:attrNameLst>
                                      </p:cBhvr>
                                      <p:to>
                                        <p:strVal val="visible"/>
                                      </p:to>
                                    </p:set>
                                    <p:animEffect transition="in" filter="wipe(left)">
                                      <p:cBhvr>
                                        <p:cTn id="92" dur="500"/>
                                        <p:tgtEl>
                                          <p:spTgt spid="109605"/>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109606"/>
                                        </p:tgtEl>
                                        <p:attrNameLst>
                                          <p:attrName>style.visibility</p:attrName>
                                        </p:attrNameLst>
                                      </p:cBhvr>
                                      <p:to>
                                        <p:strVal val="visible"/>
                                      </p:to>
                                    </p:set>
                                    <p:animEffect transition="in" filter="wipe(left)">
                                      <p:cBhvr>
                                        <p:cTn id="95" dur="500"/>
                                        <p:tgtEl>
                                          <p:spTgt spid="109606"/>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109607"/>
                                        </p:tgtEl>
                                        <p:attrNameLst>
                                          <p:attrName>style.visibility</p:attrName>
                                        </p:attrNameLst>
                                      </p:cBhvr>
                                      <p:to>
                                        <p:strVal val="visible"/>
                                      </p:to>
                                    </p:set>
                                    <p:animEffect transition="in" filter="wipe(left)">
                                      <p:cBhvr>
                                        <p:cTn id="98" dur="500"/>
                                        <p:tgtEl>
                                          <p:spTgt spid="109607"/>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109608"/>
                                        </p:tgtEl>
                                        <p:attrNameLst>
                                          <p:attrName>style.visibility</p:attrName>
                                        </p:attrNameLst>
                                      </p:cBhvr>
                                      <p:to>
                                        <p:strVal val="visible"/>
                                      </p:to>
                                    </p:set>
                                    <p:animEffect transition="in" filter="wipe(left)">
                                      <p:cBhvr>
                                        <p:cTn id="101" dur="500"/>
                                        <p:tgtEl>
                                          <p:spTgt spid="109608"/>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109609"/>
                                        </p:tgtEl>
                                        <p:attrNameLst>
                                          <p:attrName>style.visibility</p:attrName>
                                        </p:attrNameLst>
                                      </p:cBhvr>
                                      <p:to>
                                        <p:strVal val="visible"/>
                                      </p:to>
                                    </p:set>
                                    <p:animEffect transition="in" filter="wipe(left)">
                                      <p:cBhvr>
                                        <p:cTn id="104" dur="500"/>
                                        <p:tgtEl>
                                          <p:spTgt spid="109609"/>
                                        </p:tgtEl>
                                      </p:cBhvr>
                                    </p:animEffect>
                                  </p:childTnLst>
                                </p:cTn>
                              </p:par>
                              <p:par>
                                <p:cTn id="105" presetID="26" presetClass="emph" presetSubtype="0" fill="hold" grpId="1" nodeType="withEffect">
                                  <p:stCondLst>
                                    <p:cond delay="0"/>
                                  </p:stCondLst>
                                  <p:childTnLst>
                                    <p:animEffect transition="out" filter="fade">
                                      <p:cBhvr>
                                        <p:cTn id="106" dur="500" tmFilter="0, 0; .2, .5; .8, .5; 1, 0"/>
                                        <p:tgtEl>
                                          <p:spTgt spid="109602"/>
                                        </p:tgtEl>
                                      </p:cBhvr>
                                    </p:animEffect>
                                    <p:animScale>
                                      <p:cBhvr>
                                        <p:cTn id="107" dur="250" autoRev="1" fill="hold"/>
                                        <p:tgtEl>
                                          <p:spTgt spid="109602"/>
                                        </p:tgtEl>
                                      </p:cBhvr>
                                      <p:by x="105000" y="105000"/>
                                    </p:animScale>
                                  </p:childTnLst>
                                </p:cTn>
                              </p:par>
                              <p:par>
                                <p:cTn id="108" presetID="26" presetClass="emph" presetSubtype="0" fill="hold" grpId="1" nodeType="withEffect">
                                  <p:stCondLst>
                                    <p:cond delay="0"/>
                                  </p:stCondLst>
                                  <p:childTnLst>
                                    <p:animEffect transition="out" filter="fade">
                                      <p:cBhvr>
                                        <p:cTn id="109" dur="500" tmFilter="0, 0; .2, .5; .8, .5; 1, 0"/>
                                        <p:tgtEl>
                                          <p:spTgt spid="109603"/>
                                        </p:tgtEl>
                                      </p:cBhvr>
                                    </p:animEffect>
                                    <p:animScale>
                                      <p:cBhvr>
                                        <p:cTn id="110" dur="250" autoRev="1" fill="hold"/>
                                        <p:tgtEl>
                                          <p:spTgt spid="109603"/>
                                        </p:tgtEl>
                                      </p:cBhvr>
                                      <p:by x="105000" y="105000"/>
                                    </p:animScale>
                                  </p:childTnLst>
                                </p:cTn>
                              </p:par>
                              <p:par>
                                <p:cTn id="111" presetID="26" presetClass="emph" presetSubtype="0" fill="hold" grpId="1" nodeType="withEffect">
                                  <p:stCondLst>
                                    <p:cond delay="0"/>
                                  </p:stCondLst>
                                  <p:childTnLst>
                                    <p:animEffect transition="out" filter="fade">
                                      <p:cBhvr>
                                        <p:cTn id="112" dur="500" tmFilter="0, 0; .2, .5; .8, .5; 1, 0"/>
                                        <p:tgtEl>
                                          <p:spTgt spid="109604"/>
                                        </p:tgtEl>
                                      </p:cBhvr>
                                    </p:animEffect>
                                    <p:animScale>
                                      <p:cBhvr>
                                        <p:cTn id="113" dur="250" autoRev="1" fill="hold"/>
                                        <p:tgtEl>
                                          <p:spTgt spid="109604"/>
                                        </p:tgtEl>
                                      </p:cBhvr>
                                      <p:by x="105000" y="105000"/>
                                    </p:animScale>
                                  </p:childTnLst>
                                </p:cTn>
                              </p:par>
                              <p:par>
                                <p:cTn id="114" presetID="26" presetClass="emph" presetSubtype="0" fill="hold" grpId="1" nodeType="withEffect">
                                  <p:stCondLst>
                                    <p:cond delay="0"/>
                                  </p:stCondLst>
                                  <p:childTnLst>
                                    <p:animEffect transition="out" filter="fade">
                                      <p:cBhvr>
                                        <p:cTn id="115" dur="500" tmFilter="0, 0; .2, .5; .8, .5; 1, 0"/>
                                        <p:tgtEl>
                                          <p:spTgt spid="109605"/>
                                        </p:tgtEl>
                                      </p:cBhvr>
                                    </p:animEffect>
                                    <p:animScale>
                                      <p:cBhvr>
                                        <p:cTn id="116" dur="250" autoRev="1" fill="hold"/>
                                        <p:tgtEl>
                                          <p:spTgt spid="109605"/>
                                        </p:tgtEl>
                                      </p:cBhvr>
                                      <p:by x="105000" y="105000"/>
                                    </p:animScale>
                                  </p:childTnLst>
                                </p:cTn>
                              </p:par>
                              <p:par>
                                <p:cTn id="117" presetID="26" presetClass="emph" presetSubtype="0" fill="hold" grpId="1" nodeType="withEffect">
                                  <p:stCondLst>
                                    <p:cond delay="0"/>
                                  </p:stCondLst>
                                  <p:childTnLst>
                                    <p:animEffect transition="out" filter="fade">
                                      <p:cBhvr>
                                        <p:cTn id="118" dur="500" tmFilter="0, 0; .2, .5; .8, .5; 1, 0"/>
                                        <p:tgtEl>
                                          <p:spTgt spid="109606"/>
                                        </p:tgtEl>
                                      </p:cBhvr>
                                    </p:animEffect>
                                    <p:animScale>
                                      <p:cBhvr>
                                        <p:cTn id="119" dur="250" autoRev="1" fill="hold"/>
                                        <p:tgtEl>
                                          <p:spTgt spid="109606"/>
                                        </p:tgtEl>
                                      </p:cBhvr>
                                      <p:by x="105000" y="105000"/>
                                    </p:animScale>
                                  </p:childTnLst>
                                </p:cTn>
                              </p:par>
                              <p:par>
                                <p:cTn id="120" presetID="26" presetClass="emph" presetSubtype="0" fill="hold" grpId="1" nodeType="withEffect">
                                  <p:stCondLst>
                                    <p:cond delay="0"/>
                                  </p:stCondLst>
                                  <p:childTnLst>
                                    <p:animEffect transition="out" filter="fade">
                                      <p:cBhvr>
                                        <p:cTn id="121" dur="500" tmFilter="0, 0; .2, .5; .8, .5; 1, 0"/>
                                        <p:tgtEl>
                                          <p:spTgt spid="109607"/>
                                        </p:tgtEl>
                                      </p:cBhvr>
                                    </p:animEffect>
                                    <p:animScale>
                                      <p:cBhvr>
                                        <p:cTn id="122" dur="250" autoRev="1" fill="hold"/>
                                        <p:tgtEl>
                                          <p:spTgt spid="109607"/>
                                        </p:tgtEl>
                                      </p:cBhvr>
                                      <p:by x="105000" y="105000"/>
                                    </p:animScale>
                                  </p:childTnLst>
                                </p:cTn>
                              </p:par>
                              <p:par>
                                <p:cTn id="123" presetID="26" presetClass="emph" presetSubtype="0" fill="hold" grpId="1" nodeType="withEffect">
                                  <p:stCondLst>
                                    <p:cond delay="0"/>
                                  </p:stCondLst>
                                  <p:childTnLst>
                                    <p:animEffect transition="out" filter="fade">
                                      <p:cBhvr>
                                        <p:cTn id="124" dur="500" tmFilter="0, 0; .2, .5; .8, .5; 1, 0"/>
                                        <p:tgtEl>
                                          <p:spTgt spid="109608"/>
                                        </p:tgtEl>
                                      </p:cBhvr>
                                    </p:animEffect>
                                    <p:animScale>
                                      <p:cBhvr>
                                        <p:cTn id="125" dur="250" autoRev="1" fill="hold"/>
                                        <p:tgtEl>
                                          <p:spTgt spid="109608"/>
                                        </p:tgtEl>
                                      </p:cBhvr>
                                      <p:by x="105000" y="105000"/>
                                    </p:animScale>
                                  </p:childTnLst>
                                </p:cTn>
                              </p:par>
                              <p:par>
                                <p:cTn id="126" presetID="26" presetClass="emph" presetSubtype="0" fill="hold" grpId="1" nodeType="withEffect">
                                  <p:stCondLst>
                                    <p:cond delay="0"/>
                                  </p:stCondLst>
                                  <p:childTnLst>
                                    <p:animEffect transition="out" filter="fade">
                                      <p:cBhvr>
                                        <p:cTn id="127" dur="500" tmFilter="0, 0; .2, .5; .8, .5; 1, 0"/>
                                        <p:tgtEl>
                                          <p:spTgt spid="109609"/>
                                        </p:tgtEl>
                                      </p:cBhvr>
                                    </p:animEffect>
                                    <p:animScale>
                                      <p:cBhvr>
                                        <p:cTn id="128" dur="250" autoRev="1" fill="hold"/>
                                        <p:tgtEl>
                                          <p:spTgt spid="109609"/>
                                        </p:tgtEl>
                                      </p:cBhvr>
                                      <p:by x="105000" y="105000"/>
                                    </p:animScale>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09610"/>
                                        </p:tgtEl>
                                        <p:attrNameLst>
                                          <p:attrName>style.visibility</p:attrName>
                                        </p:attrNameLst>
                                      </p:cBhvr>
                                      <p:to>
                                        <p:strVal val="visible"/>
                                      </p:to>
                                    </p:set>
                                    <p:animEffect transition="in" filter="wipe(left)">
                                      <p:cBhvr>
                                        <p:cTn id="133" dur="500"/>
                                        <p:tgtEl>
                                          <p:spTgt spid="109610"/>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109611"/>
                                        </p:tgtEl>
                                        <p:attrNameLst>
                                          <p:attrName>style.visibility</p:attrName>
                                        </p:attrNameLst>
                                      </p:cBhvr>
                                      <p:to>
                                        <p:strVal val="visible"/>
                                      </p:to>
                                    </p:set>
                                    <p:animEffect transition="in" filter="wipe(left)">
                                      <p:cBhvr>
                                        <p:cTn id="136" dur="500"/>
                                        <p:tgtEl>
                                          <p:spTgt spid="109611"/>
                                        </p:tgtEl>
                                      </p:cBhvr>
                                    </p:animEffect>
                                  </p:childTnLst>
                                </p:cTn>
                              </p:par>
                              <p:par>
                                <p:cTn id="137" presetID="22" presetClass="entr" presetSubtype="8" fill="hold" grpId="0" nodeType="withEffect">
                                  <p:stCondLst>
                                    <p:cond delay="0"/>
                                  </p:stCondLst>
                                  <p:childTnLst>
                                    <p:set>
                                      <p:cBhvr>
                                        <p:cTn id="138" dur="1" fill="hold">
                                          <p:stCondLst>
                                            <p:cond delay="0"/>
                                          </p:stCondLst>
                                        </p:cTn>
                                        <p:tgtEl>
                                          <p:spTgt spid="109612"/>
                                        </p:tgtEl>
                                        <p:attrNameLst>
                                          <p:attrName>style.visibility</p:attrName>
                                        </p:attrNameLst>
                                      </p:cBhvr>
                                      <p:to>
                                        <p:strVal val="visible"/>
                                      </p:to>
                                    </p:set>
                                    <p:animEffect transition="in" filter="wipe(left)">
                                      <p:cBhvr>
                                        <p:cTn id="139" dur="500"/>
                                        <p:tgtEl>
                                          <p:spTgt spid="109612"/>
                                        </p:tgtEl>
                                      </p:cBhvr>
                                    </p:animEffect>
                                  </p:childTnLst>
                                </p:cTn>
                              </p:par>
                              <p:par>
                                <p:cTn id="140" presetID="22" presetClass="entr" presetSubtype="8" fill="hold" grpId="0" nodeType="withEffect">
                                  <p:stCondLst>
                                    <p:cond delay="0"/>
                                  </p:stCondLst>
                                  <p:childTnLst>
                                    <p:set>
                                      <p:cBhvr>
                                        <p:cTn id="141" dur="1" fill="hold">
                                          <p:stCondLst>
                                            <p:cond delay="0"/>
                                          </p:stCondLst>
                                        </p:cTn>
                                        <p:tgtEl>
                                          <p:spTgt spid="109613"/>
                                        </p:tgtEl>
                                        <p:attrNameLst>
                                          <p:attrName>style.visibility</p:attrName>
                                        </p:attrNameLst>
                                      </p:cBhvr>
                                      <p:to>
                                        <p:strVal val="visible"/>
                                      </p:to>
                                    </p:set>
                                    <p:animEffect transition="in" filter="wipe(left)">
                                      <p:cBhvr>
                                        <p:cTn id="142" dur="500"/>
                                        <p:tgtEl>
                                          <p:spTgt spid="109613"/>
                                        </p:tgtEl>
                                      </p:cBhvr>
                                    </p:animEffect>
                                  </p:childTnLst>
                                </p:cTn>
                              </p:par>
                              <p:par>
                                <p:cTn id="143" presetID="22" presetClass="entr" presetSubtype="8" fill="hold" grpId="0" nodeType="withEffect">
                                  <p:stCondLst>
                                    <p:cond delay="0"/>
                                  </p:stCondLst>
                                  <p:childTnLst>
                                    <p:set>
                                      <p:cBhvr>
                                        <p:cTn id="144" dur="1" fill="hold">
                                          <p:stCondLst>
                                            <p:cond delay="0"/>
                                          </p:stCondLst>
                                        </p:cTn>
                                        <p:tgtEl>
                                          <p:spTgt spid="109614"/>
                                        </p:tgtEl>
                                        <p:attrNameLst>
                                          <p:attrName>style.visibility</p:attrName>
                                        </p:attrNameLst>
                                      </p:cBhvr>
                                      <p:to>
                                        <p:strVal val="visible"/>
                                      </p:to>
                                    </p:set>
                                    <p:animEffect transition="in" filter="wipe(left)">
                                      <p:cBhvr>
                                        <p:cTn id="145" dur="500"/>
                                        <p:tgtEl>
                                          <p:spTgt spid="109614"/>
                                        </p:tgtEl>
                                      </p:cBhvr>
                                    </p:animEffect>
                                  </p:childTnLst>
                                </p:cTn>
                              </p:par>
                              <p:par>
                                <p:cTn id="146" presetID="22" presetClass="entr" presetSubtype="8" fill="hold" grpId="0" nodeType="withEffect">
                                  <p:stCondLst>
                                    <p:cond delay="0"/>
                                  </p:stCondLst>
                                  <p:childTnLst>
                                    <p:set>
                                      <p:cBhvr>
                                        <p:cTn id="147" dur="1" fill="hold">
                                          <p:stCondLst>
                                            <p:cond delay="0"/>
                                          </p:stCondLst>
                                        </p:cTn>
                                        <p:tgtEl>
                                          <p:spTgt spid="109615"/>
                                        </p:tgtEl>
                                        <p:attrNameLst>
                                          <p:attrName>style.visibility</p:attrName>
                                        </p:attrNameLst>
                                      </p:cBhvr>
                                      <p:to>
                                        <p:strVal val="visible"/>
                                      </p:to>
                                    </p:set>
                                    <p:animEffect transition="in" filter="wipe(left)">
                                      <p:cBhvr>
                                        <p:cTn id="148" dur="500"/>
                                        <p:tgtEl>
                                          <p:spTgt spid="109615"/>
                                        </p:tgtEl>
                                      </p:cBhvr>
                                    </p:animEffect>
                                  </p:childTnLst>
                                </p:cTn>
                              </p:par>
                              <p:par>
                                <p:cTn id="149" presetID="22" presetClass="entr" presetSubtype="8" fill="hold" grpId="0" nodeType="withEffect">
                                  <p:stCondLst>
                                    <p:cond delay="0"/>
                                  </p:stCondLst>
                                  <p:childTnLst>
                                    <p:set>
                                      <p:cBhvr>
                                        <p:cTn id="150" dur="1" fill="hold">
                                          <p:stCondLst>
                                            <p:cond delay="0"/>
                                          </p:stCondLst>
                                        </p:cTn>
                                        <p:tgtEl>
                                          <p:spTgt spid="109616"/>
                                        </p:tgtEl>
                                        <p:attrNameLst>
                                          <p:attrName>style.visibility</p:attrName>
                                        </p:attrNameLst>
                                      </p:cBhvr>
                                      <p:to>
                                        <p:strVal val="visible"/>
                                      </p:to>
                                    </p:set>
                                    <p:animEffect transition="in" filter="wipe(left)">
                                      <p:cBhvr>
                                        <p:cTn id="151" dur="500"/>
                                        <p:tgtEl>
                                          <p:spTgt spid="109616"/>
                                        </p:tgtEl>
                                      </p:cBhvr>
                                    </p:animEffect>
                                  </p:childTnLst>
                                </p:cTn>
                              </p:par>
                              <p:par>
                                <p:cTn id="152" presetID="22" presetClass="entr" presetSubtype="8" fill="hold" grpId="0" nodeType="withEffect">
                                  <p:stCondLst>
                                    <p:cond delay="0"/>
                                  </p:stCondLst>
                                  <p:childTnLst>
                                    <p:set>
                                      <p:cBhvr>
                                        <p:cTn id="153" dur="1" fill="hold">
                                          <p:stCondLst>
                                            <p:cond delay="0"/>
                                          </p:stCondLst>
                                        </p:cTn>
                                        <p:tgtEl>
                                          <p:spTgt spid="109617"/>
                                        </p:tgtEl>
                                        <p:attrNameLst>
                                          <p:attrName>style.visibility</p:attrName>
                                        </p:attrNameLst>
                                      </p:cBhvr>
                                      <p:to>
                                        <p:strVal val="visible"/>
                                      </p:to>
                                    </p:set>
                                    <p:animEffect transition="in" filter="wipe(left)">
                                      <p:cBhvr>
                                        <p:cTn id="154" dur="500"/>
                                        <p:tgtEl>
                                          <p:spTgt spid="109617"/>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09618"/>
                                        </p:tgtEl>
                                        <p:attrNameLst>
                                          <p:attrName>style.visibility</p:attrName>
                                        </p:attrNameLst>
                                      </p:cBhvr>
                                      <p:to>
                                        <p:strVal val="visible"/>
                                      </p:to>
                                    </p:set>
                                    <p:animEffect transition="in" filter="wipe(left)">
                                      <p:cBhvr>
                                        <p:cTn id="159" dur="500"/>
                                        <p:tgtEl>
                                          <p:spTgt spid="109618"/>
                                        </p:tgtEl>
                                      </p:cBhvr>
                                    </p:animEffect>
                                  </p:childTnLst>
                                </p:cTn>
                              </p:par>
                              <p:par>
                                <p:cTn id="160" presetID="22" presetClass="entr" presetSubtype="8" fill="hold" grpId="0" nodeType="withEffect">
                                  <p:stCondLst>
                                    <p:cond delay="0"/>
                                  </p:stCondLst>
                                  <p:childTnLst>
                                    <p:set>
                                      <p:cBhvr>
                                        <p:cTn id="161" dur="1" fill="hold">
                                          <p:stCondLst>
                                            <p:cond delay="0"/>
                                          </p:stCondLst>
                                        </p:cTn>
                                        <p:tgtEl>
                                          <p:spTgt spid="109619"/>
                                        </p:tgtEl>
                                        <p:attrNameLst>
                                          <p:attrName>style.visibility</p:attrName>
                                        </p:attrNameLst>
                                      </p:cBhvr>
                                      <p:to>
                                        <p:strVal val="visible"/>
                                      </p:to>
                                    </p:set>
                                    <p:animEffect transition="in" filter="wipe(left)">
                                      <p:cBhvr>
                                        <p:cTn id="162" dur="500"/>
                                        <p:tgtEl>
                                          <p:spTgt spid="109619"/>
                                        </p:tgtEl>
                                      </p:cBhvr>
                                    </p:animEffect>
                                  </p:childTnLst>
                                </p:cTn>
                              </p:par>
                              <p:par>
                                <p:cTn id="163" presetID="22" presetClass="entr" presetSubtype="8" fill="hold" grpId="0" nodeType="withEffect">
                                  <p:stCondLst>
                                    <p:cond delay="0"/>
                                  </p:stCondLst>
                                  <p:childTnLst>
                                    <p:set>
                                      <p:cBhvr>
                                        <p:cTn id="164" dur="1" fill="hold">
                                          <p:stCondLst>
                                            <p:cond delay="0"/>
                                          </p:stCondLst>
                                        </p:cTn>
                                        <p:tgtEl>
                                          <p:spTgt spid="109620"/>
                                        </p:tgtEl>
                                        <p:attrNameLst>
                                          <p:attrName>style.visibility</p:attrName>
                                        </p:attrNameLst>
                                      </p:cBhvr>
                                      <p:to>
                                        <p:strVal val="visible"/>
                                      </p:to>
                                    </p:set>
                                    <p:animEffect transition="in" filter="wipe(left)">
                                      <p:cBhvr>
                                        <p:cTn id="165" dur="500"/>
                                        <p:tgtEl>
                                          <p:spTgt spid="109620"/>
                                        </p:tgtEl>
                                      </p:cBhvr>
                                    </p:animEffect>
                                  </p:childTnLst>
                                </p:cTn>
                              </p:par>
                              <p:par>
                                <p:cTn id="166" presetID="22" presetClass="entr" presetSubtype="8" fill="hold" grpId="0" nodeType="withEffect">
                                  <p:stCondLst>
                                    <p:cond delay="0"/>
                                  </p:stCondLst>
                                  <p:childTnLst>
                                    <p:set>
                                      <p:cBhvr>
                                        <p:cTn id="167" dur="1" fill="hold">
                                          <p:stCondLst>
                                            <p:cond delay="0"/>
                                          </p:stCondLst>
                                        </p:cTn>
                                        <p:tgtEl>
                                          <p:spTgt spid="109621"/>
                                        </p:tgtEl>
                                        <p:attrNameLst>
                                          <p:attrName>style.visibility</p:attrName>
                                        </p:attrNameLst>
                                      </p:cBhvr>
                                      <p:to>
                                        <p:strVal val="visible"/>
                                      </p:to>
                                    </p:set>
                                    <p:animEffect transition="in" filter="wipe(left)">
                                      <p:cBhvr>
                                        <p:cTn id="168" dur="500"/>
                                        <p:tgtEl>
                                          <p:spTgt spid="109621"/>
                                        </p:tgtEl>
                                      </p:cBhvr>
                                    </p:animEffect>
                                  </p:childTnLst>
                                </p:cTn>
                              </p:par>
                              <p:par>
                                <p:cTn id="169" presetID="22" presetClass="entr" presetSubtype="8" fill="hold" grpId="0" nodeType="withEffect">
                                  <p:stCondLst>
                                    <p:cond delay="0"/>
                                  </p:stCondLst>
                                  <p:childTnLst>
                                    <p:set>
                                      <p:cBhvr>
                                        <p:cTn id="170" dur="1" fill="hold">
                                          <p:stCondLst>
                                            <p:cond delay="0"/>
                                          </p:stCondLst>
                                        </p:cTn>
                                        <p:tgtEl>
                                          <p:spTgt spid="109622"/>
                                        </p:tgtEl>
                                        <p:attrNameLst>
                                          <p:attrName>style.visibility</p:attrName>
                                        </p:attrNameLst>
                                      </p:cBhvr>
                                      <p:to>
                                        <p:strVal val="visible"/>
                                      </p:to>
                                    </p:set>
                                    <p:animEffect transition="in" filter="wipe(left)">
                                      <p:cBhvr>
                                        <p:cTn id="171" dur="500"/>
                                        <p:tgtEl>
                                          <p:spTgt spid="109622"/>
                                        </p:tgtEl>
                                      </p:cBhvr>
                                    </p:animEffect>
                                  </p:childTnLst>
                                </p:cTn>
                              </p:par>
                              <p:par>
                                <p:cTn id="172" presetID="22" presetClass="entr" presetSubtype="8" fill="hold" grpId="0" nodeType="withEffect">
                                  <p:stCondLst>
                                    <p:cond delay="0"/>
                                  </p:stCondLst>
                                  <p:childTnLst>
                                    <p:set>
                                      <p:cBhvr>
                                        <p:cTn id="173" dur="1" fill="hold">
                                          <p:stCondLst>
                                            <p:cond delay="0"/>
                                          </p:stCondLst>
                                        </p:cTn>
                                        <p:tgtEl>
                                          <p:spTgt spid="109623"/>
                                        </p:tgtEl>
                                        <p:attrNameLst>
                                          <p:attrName>style.visibility</p:attrName>
                                        </p:attrNameLst>
                                      </p:cBhvr>
                                      <p:to>
                                        <p:strVal val="visible"/>
                                      </p:to>
                                    </p:set>
                                    <p:animEffect transition="in" filter="wipe(left)">
                                      <p:cBhvr>
                                        <p:cTn id="174" dur="500"/>
                                        <p:tgtEl>
                                          <p:spTgt spid="109623"/>
                                        </p:tgtEl>
                                      </p:cBhvr>
                                    </p:animEffect>
                                  </p:childTnLst>
                                </p:cTn>
                              </p:par>
                              <p:par>
                                <p:cTn id="175" presetID="22" presetClass="entr" presetSubtype="8" fill="hold" grpId="0" nodeType="withEffect">
                                  <p:stCondLst>
                                    <p:cond delay="0"/>
                                  </p:stCondLst>
                                  <p:childTnLst>
                                    <p:set>
                                      <p:cBhvr>
                                        <p:cTn id="176" dur="1" fill="hold">
                                          <p:stCondLst>
                                            <p:cond delay="0"/>
                                          </p:stCondLst>
                                        </p:cTn>
                                        <p:tgtEl>
                                          <p:spTgt spid="109624"/>
                                        </p:tgtEl>
                                        <p:attrNameLst>
                                          <p:attrName>style.visibility</p:attrName>
                                        </p:attrNameLst>
                                      </p:cBhvr>
                                      <p:to>
                                        <p:strVal val="visible"/>
                                      </p:to>
                                    </p:set>
                                    <p:animEffect transition="in" filter="wipe(left)">
                                      <p:cBhvr>
                                        <p:cTn id="177" dur="500"/>
                                        <p:tgtEl>
                                          <p:spTgt spid="109624"/>
                                        </p:tgtEl>
                                      </p:cBhvr>
                                    </p:animEffect>
                                  </p:childTnLst>
                                </p:cTn>
                              </p:par>
                              <p:par>
                                <p:cTn id="178" presetID="22" presetClass="entr" presetSubtype="8" fill="hold" grpId="0" nodeType="withEffect">
                                  <p:stCondLst>
                                    <p:cond delay="0"/>
                                  </p:stCondLst>
                                  <p:childTnLst>
                                    <p:set>
                                      <p:cBhvr>
                                        <p:cTn id="179" dur="1" fill="hold">
                                          <p:stCondLst>
                                            <p:cond delay="0"/>
                                          </p:stCondLst>
                                        </p:cTn>
                                        <p:tgtEl>
                                          <p:spTgt spid="109625"/>
                                        </p:tgtEl>
                                        <p:attrNameLst>
                                          <p:attrName>style.visibility</p:attrName>
                                        </p:attrNameLst>
                                      </p:cBhvr>
                                      <p:to>
                                        <p:strVal val="visible"/>
                                      </p:to>
                                    </p:set>
                                    <p:animEffect transition="in" filter="wipe(left)">
                                      <p:cBhvr>
                                        <p:cTn id="180" dur="500"/>
                                        <p:tgtEl>
                                          <p:spTgt spid="109625"/>
                                        </p:tgtEl>
                                      </p:cBhvr>
                                    </p:animEffect>
                                  </p:childTnLst>
                                </p:cTn>
                              </p:par>
                              <p:par>
                                <p:cTn id="181" presetID="26" presetClass="emph" presetSubtype="0" fill="hold" grpId="1" nodeType="withEffect">
                                  <p:stCondLst>
                                    <p:cond delay="0"/>
                                  </p:stCondLst>
                                  <p:childTnLst>
                                    <p:animEffect transition="out" filter="fade">
                                      <p:cBhvr>
                                        <p:cTn id="182" dur="500" tmFilter="0, 0; .2, .5; .8, .5; 1, 0"/>
                                        <p:tgtEl>
                                          <p:spTgt spid="109618"/>
                                        </p:tgtEl>
                                      </p:cBhvr>
                                    </p:animEffect>
                                    <p:animScale>
                                      <p:cBhvr>
                                        <p:cTn id="183" dur="250" autoRev="1" fill="hold"/>
                                        <p:tgtEl>
                                          <p:spTgt spid="109618"/>
                                        </p:tgtEl>
                                      </p:cBhvr>
                                      <p:by x="105000" y="105000"/>
                                    </p:animScale>
                                  </p:childTnLst>
                                </p:cTn>
                              </p:par>
                              <p:par>
                                <p:cTn id="184" presetID="26" presetClass="emph" presetSubtype="0" fill="hold" grpId="1" nodeType="withEffect">
                                  <p:stCondLst>
                                    <p:cond delay="0"/>
                                  </p:stCondLst>
                                  <p:childTnLst>
                                    <p:animEffect transition="out" filter="fade">
                                      <p:cBhvr>
                                        <p:cTn id="185" dur="500" tmFilter="0, 0; .2, .5; .8, .5; 1, 0"/>
                                        <p:tgtEl>
                                          <p:spTgt spid="109619"/>
                                        </p:tgtEl>
                                      </p:cBhvr>
                                    </p:animEffect>
                                    <p:animScale>
                                      <p:cBhvr>
                                        <p:cTn id="186" dur="250" autoRev="1" fill="hold"/>
                                        <p:tgtEl>
                                          <p:spTgt spid="109619"/>
                                        </p:tgtEl>
                                      </p:cBhvr>
                                      <p:by x="105000" y="105000"/>
                                    </p:animScale>
                                  </p:childTnLst>
                                </p:cTn>
                              </p:par>
                              <p:par>
                                <p:cTn id="187" presetID="26" presetClass="emph" presetSubtype="0" fill="hold" grpId="1" nodeType="withEffect">
                                  <p:stCondLst>
                                    <p:cond delay="0"/>
                                  </p:stCondLst>
                                  <p:childTnLst>
                                    <p:animEffect transition="out" filter="fade">
                                      <p:cBhvr>
                                        <p:cTn id="188" dur="500" tmFilter="0, 0; .2, .5; .8, .5; 1, 0"/>
                                        <p:tgtEl>
                                          <p:spTgt spid="109620"/>
                                        </p:tgtEl>
                                      </p:cBhvr>
                                    </p:animEffect>
                                    <p:animScale>
                                      <p:cBhvr>
                                        <p:cTn id="189" dur="250" autoRev="1" fill="hold"/>
                                        <p:tgtEl>
                                          <p:spTgt spid="109620"/>
                                        </p:tgtEl>
                                      </p:cBhvr>
                                      <p:by x="105000" y="105000"/>
                                    </p:animScale>
                                  </p:childTnLst>
                                </p:cTn>
                              </p:par>
                              <p:par>
                                <p:cTn id="190" presetID="26" presetClass="emph" presetSubtype="0" fill="hold" grpId="1" nodeType="withEffect">
                                  <p:stCondLst>
                                    <p:cond delay="0"/>
                                  </p:stCondLst>
                                  <p:childTnLst>
                                    <p:animEffect transition="out" filter="fade">
                                      <p:cBhvr>
                                        <p:cTn id="191" dur="500" tmFilter="0, 0; .2, .5; .8, .5; 1, 0"/>
                                        <p:tgtEl>
                                          <p:spTgt spid="109621"/>
                                        </p:tgtEl>
                                      </p:cBhvr>
                                    </p:animEffect>
                                    <p:animScale>
                                      <p:cBhvr>
                                        <p:cTn id="192" dur="250" autoRev="1" fill="hold"/>
                                        <p:tgtEl>
                                          <p:spTgt spid="109621"/>
                                        </p:tgtEl>
                                      </p:cBhvr>
                                      <p:by x="105000" y="105000"/>
                                    </p:animScale>
                                  </p:childTnLst>
                                </p:cTn>
                              </p:par>
                              <p:par>
                                <p:cTn id="193" presetID="26" presetClass="emph" presetSubtype="0" fill="hold" grpId="1" nodeType="withEffect">
                                  <p:stCondLst>
                                    <p:cond delay="0"/>
                                  </p:stCondLst>
                                  <p:childTnLst>
                                    <p:animEffect transition="out" filter="fade">
                                      <p:cBhvr>
                                        <p:cTn id="194" dur="500" tmFilter="0, 0; .2, .5; .8, .5; 1, 0"/>
                                        <p:tgtEl>
                                          <p:spTgt spid="109622"/>
                                        </p:tgtEl>
                                      </p:cBhvr>
                                    </p:animEffect>
                                    <p:animScale>
                                      <p:cBhvr>
                                        <p:cTn id="195" dur="250" autoRev="1" fill="hold"/>
                                        <p:tgtEl>
                                          <p:spTgt spid="109622"/>
                                        </p:tgtEl>
                                      </p:cBhvr>
                                      <p:by x="105000" y="105000"/>
                                    </p:animScale>
                                  </p:childTnLst>
                                </p:cTn>
                              </p:par>
                              <p:par>
                                <p:cTn id="196" presetID="26" presetClass="emph" presetSubtype="0" fill="hold" grpId="1" nodeType="withEffect">
                                  <p:stCondLst>
                                    <p:cond delay="0"/>
                                  </p:stCondLst>
                                  <p:childTnLst>
                                    <p:animEffect transition="out" filter="fade">
                                      <p:cBhvr>
                                        <p:cTn id="197" dur="500" tmFilter="0, 0; .2, .5; .8, .5; 1, 0"/>
                                        <p:tgtEl>
                                          <p:spTgt spid="109623"/>
                                        </p:tgtEl>
                                      </p:cBhvr>
                                    </p:animEffect>
                                    <p:animScale>
                                      <p:cBhvr>
                                        <p:cTn id="198" dur="250" autoRev="1" fill="hold"/>
                                        <p:tgtEl>
                                          <p:spTgt spid="109623"/>
                                        </p:tgtEl>
                                      </p:cBhvr>
                                      <p:by x="105000" y="105000"/>
                                    </p:animScale>
                                  </p:childTnLst>
                                </p:cTn>
                              </p:par>
                              <p:par>
                                <p:cTn id="199" presetID="26" presetClass="emph" presetSubtype="0" fill="hold" grpId="1" nodeType="withEffect">
                                  <p:stCondLst>
                                    <p:cond delay="0"/>
                                  </p:stCondLst>
                                  <p:childTnLst>
                                    <p:animEffect transition="out" filter="fade">
                                      <p:cBhvr>
                                        <p:cTn id="200" dur="500" tmFilter="0, 0; .2, .5; .8, .5; 1, 0"/>
                                        <p:tgtEl>
                                          <p:spTgt spid="109624"/>
                                        </p:tgtEl>
                                      </p:cBhvr>
                                    </p:animEffect>
                                    <p:animScale>
                                      <p:cBhvr>
                                        <p:cTn id="201" dur="250" autoRev="1" fill="hold"/>
                                        <p:tgtEl>
                                          <p:spTgt spid="109624"/>
                                        </p:tgtEl>
                                      </p:cBhvr>
                                      <p:by x="105000" y="105000"/>
                                    </p:animScale>
                                  </p:childTnLst>
                                </p:cTn>
                              </p:par>
                              <p:par>
                                <p:cTn id="202" presetID="26" presetClass="emph" presetSubtype="0" fill="hold" grpId="1" nodeType="withEffect">
                                  <p:stCondLst>
                                    <p:cond delay="0"/>
                                  </p:stCondLst>
                                  <p:childTnLst>
                                    <p:animEffect transition="out" filter="fade">
                                      <p:cBhvr>
                                        <p:cTn id="203" dur="500" tmFilter="0, 0; .2, .5; .8, .5; 1, 0"/>
                                        <p:tgtEl>
                                          <p:spTgt spid="109625"/>
                                        </p:tgtEl>
                                      </p:cBhvr>
                                    </p:animEffect>
                                    <p:animScale>
                                      <p:cBhvr>
                                        <p:cTn id="204" dur="250" autoRev="1" fill="hold"/>
                                        <p:tgtEl>
                                          <p:spTgt spid="109625"/>
                                        </p:tgtEl>
                                      </p:cBhvr>
                                      <p:by x="105000" y="105000"/>
                                    </p:animScale>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grpId="0" nodeType="clickEffect">
                                  <p:stCondLst>
                                    <p:cond delay="0"/>
                                  </p:stCondLst>
                                  <p:childTnLst>
                                    <p:set>
                                      <p:cBhvr>
                                        <p:cTn id="208" dur="1" fill="hold">
                                          <p:stCondLst>
                                            <p:cond delay="0"/>
                                          </p:stCondLst>
                                        </p:cTn>
                                        <p:tgtEl>
                                          <p:spTgt spid="109626"/>
                                        </p:tgtEl>
                                        <p:attrNameLst>
                                          <p:attrName>style.visibility</p:attrName>
                                        </p:attrNameLst>
                                      </p:cBhvr>
                                      <p:to>
                                        <p:strVal val="visible"/>
                                      </p:to>
                                    </p:set>
                                    <p:animEffect transition="in" filter="wipe(left)">
                                      <p:cBhvr>
                                        <p:cTn id="209" dur="500"/>
                                        <p:tgtEl>
                                          <p:spTgt spid="109626"/>
                                        </p:tgtEl>
                                      </p:cBhvr>
                                    </p:animEffect>
                                  </p:childTnLst>
                                </p:cTn>
                              </p:par>
                              <p:par>
                                <p:cTn id="210" presetID="22" presetClass="entr" presetSubtype="8" fill="hold" grpId="0" nodeType="withEffect">
                                  <p:stCondLst>
                                    <p:cond delay="0"/>
                                  </p:stCondLst>
                                  <p:childTnLst>
                                    <p:set>
                                      <p:cBhvr>
                                        <p:cTn id="211" dur="1" fill="hold">
                                          <p:stCondLst>
                                            <p:cond delay="0"/>
                                          </p:stCondLst>
                                        </p:cTn>
                                        <p:tgtEl>
                                          <p:spTgt spid="109627"/>
                                        </p:tgtEl>
                                        <p:attrNameLst>
                                          <p:attrName>style.visibility</p:attrName>
                                        </p:attrNameLst>
                                      </p:cBhvr>
                                      <p:to>
                                        <p:strVal val="visible"/>
                                      </p:to>
                                    </p:set>
                                    <p:animEffect transition="in" filter="wipe(left)">
                                      <p:cBhvr>
                                        <p:cTn id="212" dur="500"/>
                                        <p:tgtEl>
                                          <p:spTgt spid="109627"/>
                                        </p:tgtEl>
                                      </p:cBhvr>
                                    </p:animEffect>
                                  </p:childTnLst>
                                </p:cTn>
                              </p:par>
                              <p:par>
                                <p:cTn id="213" presetID="22" presetClass="entr" presetSubtype="8" fill="hold" grpId="0" nodeType="withEffect">
                                  <p:stCondLst>
                                    <p:cond delay="0"/>
                                  </p:stCondLst>
                                  <p:childTnLst>
                                    <p:set>
                                      <p:cBhvr>
                                        <p:cTn id="214" dur="1" fill="hold">
                                          <p:stCondLst>
                                            <p:cond delay="0"/>
                                          </p:stCondLst>
                                        </p:cTn>
                                        <p:tgtEl>
                                          <p:spTgt spid="109628"/>
                                        </p:tgtEl>
                                        <p:attrNameLst>
                                          <p:attrName>style.visibility</p:attrName>
                                        </p:attrNameLst>
                                      </p:cBhvr>
                                      <p:to>
                                        <p:strVal val="visible"/>
                                      </p:to>
                                    </p:set>
                                    <p:animEffect transition="in" filter="wipe(left)">
                                      <p:cBhvr>
                                        <p:cTn id="215" dur="500"/>
                                        <p:tgtEl>
                                          <p:spTgt spid="109628"/>
                                        </p:tgtEl>
                                      </p:cBhvr>
                                    </p:animEffect>
                                  </p:childTnLst>
                                </p:cTn>
                              </p:par>
                              <p:par>
                                <p:cTn id="216" presetID="22" presetClass="entr" presetSubtype="8" fill="hold" grpId="0" nodeType="withEffect">
                                  <p:stCondLst>
                                    <p:cond delay="0"/>
                                  </p:stCondLst>
                                  <p:childTnLst>
                                    <p:set>
                                      <p:cBhvr>
                                        <p:cTn id="217" dur="1" fill="hold">
                                          <p:stCondLst>
                                            <p:cond delay="0"/>
                                          </p:stCondLst>
                                        </p:cTn>
                                        <p:tgtEl>
                                          <p:spTgt spid="109629"/>
                                        </p:tgtEl>
                                        <p:attrNameLst>
                                          <p:attrName>style.visibility</p:attrName>
                                        </p:attrNameLst>
                                      </p:cBhvr>
                                      <p:to>
                                        <p:strVal val="visible"/>
                                      </p:to>
                                    </p:set>
                                    <p:animEffect transition="in" filter="wipe(left)">
                                      <p:cBhvr>
                                        <p:cTn id="218" dur="500"/>
                                        <p:tgtEl>
                                          <p:spTgt spid="109629"/>
                                        </p:tgtEl>
                                      </p:cBhvr>
                                    </p:animEffect>
                                  </p:childTnLst>
                                </p:cTn>
                              </p:par>
                              <p:par>
                                <p:cTn id="219" presetID="22" presetClass="entr" presetSubtype="8" fill="hold" grpId="0" nodeType="withEffect">
                                  <p:stCondLst>
                                    <p:cond delay="0"/>
                                  </p:stCondLst>
                                  <p:childTnLst>
                                    <p:set>
                                      <p:cBhvr>
                                        <p:cTn id="220" dur="1" fill="hold">
                                          <p:stCondLst>
                                            <p:cond delay="0"/>
                                          </p:stCondLst>
                                        </p:cTn>
                                        <p:tgtEl>
                                          <p:spTgt spid="109630"/>
                                        </p:tgtEl>
                                        <p:attrNameLst>
                                          <p:attrName>style.visibility</p:attrName>
                                        </p:attrNameLst>
                                      </p:cBhvr>
                                      <p:to>
                                        <p:strVal val="visible"/>
                                      </p:to>
                                    </p:set>
                                    <p:animEffect transition="in" filter="wipe(left)">
                                      <p:cBhvr>
                                        <p:cTn id="221" dur="500"/>
                                        <p:tgtEl>
                                          <p:spTgt spid="109630"/>
                                        </p:tgtEl>
                                      </p:cBhvr>
                                    </p:animEffect>
                                  </p:childTnLst>
                                </p:cTn>
                              </p:par>
                              <p:par>
                                <p:cTn id="222" presetID="22" presetClass="entr" presetSubtype="8" fill="hold" grpId="0" nodeType="withEffect">
                                  <p:stCondLst>
                                    <p:cond delay="0"/>
                                  </p:stCondLst>
                                  <p:childTnLst>
                                    <p:set>
                                      <p:cBhvr>
                                        <p:cTn id="223" dur="1" fill="hold">
                                          <p:stCondLst>
                                            <p:cond delay="0"/>
                                          </p:stCondLst>
                                        </p:cTn>
                                        <p:tgtEl>
                                          <p:spTgt spid="109631"/>
                                        </p:tgtEl>
                                        <p:attrNameLst>
                                          <p:attrName>style.visibility</p:attrName>
                                        </p:attrNameLst>
                                      </p:cBhvr>
                                      <p:to>
                                        <p:strVal val="visible"/>
                                      </p:to>
                                    </p:set>
                                    <p:animEffect transition="in" filter="wipe(left)">
                                      <p:cBhvr>
                                        <p:cTn id="224" dur="500"/>
                                        <p:tgtEl>
                                          <p:spTgt spid="109631"/>
                                        </p:tgtEl>
                                      </p:cBhvr>
                                    </p:animEffect>
                                  </p:childTnLst>
                                </p:cTn>
                              </p:par>
                              <p:par>
                                <p:cTn id="225" presetID="22" presetClass="entr" presetSubtype="8" fill="hold" grpId="0" nodeType="withEffect">
                                  <p:stCondLst>
                                    <p:cond delay="0"/>
                                  </p:stCondLst>
                                  <p:childTnLst>
                                    <p:set>
                                      <p:cBhvr>
                                        <p:cTn id="226" dur="1" fill="hold">
                                          <p:stCondLst>
                                            <p:cond delay="0"/>
                                          </p:stCondLst>
                                        </p:cTn>
                                        <p:tgtEl>
                                          <p:spTgt spid="109632"/>
                                        </p:tgtEl>
                                        <p:attrNameLst>
                                          <p:attrName>style.visibility</p:attrName>
                                        </p:attrNameLst>
                                      </p:cBhvr>
                                      <p:to>
                                        <p:strVal val="visible"/>
                                      </p:to>
                                    </p:set>
                                    <p:animEffect transition="in" filter="wipe(left)">
                                      <p:cBhvr>
                                        <p:cTn id="227" dur="500"/>
                                        <p:tgtEl>
                                          <p:spTgt spid="109632"/>
                                        </p:tgtEl>
                                      </p:cBhvr>
                                    </p:animEffect>
                                  </p:childTnLst>
                                </p:cTn>
                              </p:par>
                              <p:par>
                                <p:cTn id="228" presetID="22" presetClass="entr" presetSubtype="8" fill="hold" grpId="0" nodeType="withEffect">
                                  <p:stCondLst>
                                    <p:cond delay="0"/>
                                  </p:stCondLst>
                                  <p:childTnLst>
                                    <p:set>
                                      <p:cBhvr>
                                        <p:cTn id="229" dur="1" fill="hold">
                                          <p:stCondLst>
                                            <p:cond delay="0"/>
                                          </p:stCondLst>
                                        </p:cTn>
                                        <p:tgtEl>
                                          <p:spTgt spid="109633"/>
                                        </p:tgtEl>
                                        <p:attrNameLst>
                                          <p:attrName>style.visibility</p:attrName>
                                        </p:attrNameLst>
                                      </p:cBhvr>
                                      <p:to>
                                        <p:strVal val="visible"/>
                                      </p:to>
                                    </p:set>
                                    <p:animEffect transition="in" filter="wipe(left)">
                                      <p:cBhvr>
                                        <p:cTn id="230" dur="500"/>
                                        <p:tgtEl>
                                          <p:spTgt spid="109633"/>
                                        </p:tgtEl>
                                      </p:cBhvr>
                                    </p:animEffect>
                                  </p:childTnLst>
                                </p:cTn>
                              </p:par>
                            </p:childTnLst>
                          </p:cTn>
                        </p:par>
                      </p:childTnLst>
                    </p:cTn>
                  </p:par>
                  <p:par>
                    <p:cTn id="231" fill="hold">
                      <p:stCondLst>
                        <p:cond delay="indefinite"/>
                      </p:stCondLst>
                      <p:childTnLst>
                        <p:par>
                          <p:cTn id="232" fill="hold">
                            <p:stCondLst>
                              <p:cond delay="0"/>
                            </p:stCondLst>
                            <p:childTnLst>
                              <p:par>
                                <p:cTn id="233" presetID="26" presetClass="emph" presetSubtype="0" fill="hold" grpId="1" nodeType="clickEffect">
                                  <p:stCondLst>
                                    <p:cond delay="0"/>
                                  </p:stCondLst>
                                  <p:childTnLst>
                                    <p:animEffect transition="out" filter="fade">
                                      <p:cBhvr>
                                        <p:cTn id="234" dur="500" tmFilter="0, 0; .2, .5; .8, .5; 1, 0"/>
                                        <p:tgtEl>
                                          <p:spTgt spid="109626"/>
                                        </p:tgtEl>
                                      </p:cBhvr>
                                    </p:animEffect>
                                    <p:animScale>
                                      <p:cBhvr>
                                        <p:cTn id="235" dur="250" autoRev="1" fill="hold"/>
                                        <p:tgtEl>
                                          <p:spTgt spid="109626"/>
                                        </p:tgtEl>
                                      </p:cBhvr>
                                      <p:by x="105000" y="105000"/>
                                    </p:animScale>
                                  </p:childTnLst>
                                </p:cTn>
                              </p:par>
                              <p:par>
                                <p:cTn id="236" presetID="26" presetClass="emph" presetSubtype="0" fill="hold" grpId="1" nodeType="withEffect">
                                  <p:stCondLst>
                                    <p:cond delay="0"/>
                                  </p:stCondLst>
                                  <p:childTnLst>
                                    <p:animEffect transition="out" filter="fade">
                                      <p:cBhvr>
                                        <p:cTn id="237" dur="500" tmFilter="0, 0; .2, .5; .8, .5; 1, 0"/>
                                        <p:tgtEl>
                                          <p:spTgt spid="109627"/>
                                        </p:tgtEl>
                                      </p:cBhvr>
                                    </p:animEffect>
                                    <p:animScale>
                                      <p:cBhvr>
                                        <p:cTn id="238" dur="250" autoRev="1" fill="hold"/>
                                        <p:tgtEl>
                                          <p:spTgt spid="109627"/>
                                        </p:tgtEl>
                                      </p:cBhvr>
                                      <p:by x="105000" y="105000"/>
                                    </p:animScale>
                                  </p:childTnLst>
                                </p:cTn>
                              </p:par>
                              <p:par>
                                <p:cTn id="239" presetID="26" presetClass="emph" presetSubtype="0" fill="hold" grpId="1" nodeType="withEffect">
                                  <p:stCondLst>
                                    <p:cond delay="0"/>
                                  </p:stCondLst>
                                  <p:childTnLst>
                                    <p:animEffect transition="out" filter="fade">
                                      <p:cBhvr>
                                        <p:cTn id="240" dur="500" tmFilter="0, 0; .2, .5; .8, .5; 1, 0"/>
                                        <p:tgtEl>
                                          <p:spTgt spid="109628"/>
                                        </p:tgtEl>
                                      </p:cBhvr>
                                    </p:animEffect>
                                    <p:animScale>
                                      <p:cBhvr>
                                        <p:cTn id="241" dur="250" autoRev="1" fill="hold"/>
                                        <p:tgtEl>
                                          <p:spTgt spid="109628"/>
                                        </p:tgtEl>
                                      </p:cBhvr>
                                      <p:by x="105000" y="105000"/>
                                    </p:animScale>
                                  </p:childTnLst>
                                </p:cTn>
                              </p:par>
                              <p:par>
                                <p:cTn id="242" presetID="26" presetClass="emph" presetSubtype="0" fill="hold" grpId="1" nodeType="withEffect">
                                  <p:stCondLst>
                                    <p:cond delay="0"/>
                                  </p:stCondLst>
                                  <p:childTnLst>
                                    <p:animEffect transition="out" filter="fade">
                                      <p:cBhvr>
                                        <p:cTn id="243" dur="500" tmFilter="0, 0; .2, .5; .8, .5; 1, 0"/>
                                        <p:tgtEl>
                                          <p:spTgt spid="109629"/>
                                        </p:tgtEl>
                                      </p:cBhvr>
                                    </p:animEffect>
                                    <p:animScale>
                                      <p:cBhvr>
                                        <p:cTn id="244" dur="250" autoRev="1" fill="hold"/>
                                        <p:tgtEl>
                                          <p:spTgt spid="109629"/>
                                        </p:tgtEl>
                                      </p:cBhvr>
                                      <p:by x="105000" y="105000"/>
                                    </p:animScale>
                                  </p:childTnLst>
                                </p:cTn>
                              </p:par>
                              <p:par>
                                <p:cTn id="245" presetID="26" presetClass="emph" presetSubtype="0" fill="hold" grpId="1" nodeType="withEffect">
                                  <p:stCondLst>
                                    <p:cond delay="0"/>
                                  </p:stCondLst>
                                  <p:childTnLst>
                                    <p:animEffect transition="out" filter="fade">
                                      <p:cBhvr>
                                        <p:cTn id="246" dur="500" tmFilter="0, 0; .2, .5; .8, .5; 1, 0"/>
                                        <p:tgtEl>
                                          <p:spTgt spid="109630"/>
                                        </p:tgtEl>
                                      </p:cBhvr>
                                    </p:animEffect>
                                    <p:animScale>
                                      <p:cBhvr>
                                        <p:cTn id="247" dur="250" autoRev="1" fill="hold"/>
                                        <p:tgtEl>
                                          <p:spTgt spid="109630"/>
                                        </p:tgtEl>
                                      </p:cBhvr>
                                      <p:by x="105000" y="105000"/>
                                    </p:animScale>
                                  </p:childTnLst>
                                </p:cTn>
                              </p:par>
                              <p:par>
                                <p:cTn id="248" presetID="26" presetClass="emph" presetSubtype="0" fill="hold" grpId="1" nodeType="withEffect">
                                  <p:stCondLst>
                                    <p:cond delay="0"/>
                                  </p:stCondLst>
                                  <p:childTnLst>
                                    <p:animEffect transition="out" filter="fade">
                                      <p:cBhvr>
                                        <p:cTn id="249" dur="500" tmFilter="0, 0; .2, .5; .8, .5; 1, 0"/>
                                        <p:tgtEl>
                                          <p:spTgt spid="109631"/>
                                        </p:tgtEl>
                                      </p:cBhvr>
                                    </p:animEffect>
                                    <p:animScale>
                                      <p:cBhvr>
                                        <p:cTn id="250" dur="250" autoRev="1" fill="hold"/>
                                        <p:tgtEl>
                                          <p:spTgt spid="109631"/>
                                        </p:tgtEl>
                                      </p:cBhvr>
                                      <p:by x="105000" y="105000"/>
                                    </p:animScale>
                                  </p:childTnLst>
                                </p:cTn>
                              </p:par>
                              <p:par>
                                <p:cTn id="251" presetID="26" presetClass="emph" presetSubtype="0" fill="hold" grpId="1" nodeType="withEffect">
                                  <p:stCondLst>
                                    <p:cond delay="0"/>
                                  </p:stCondLst>
                                  <p:childTnLst>
                                    <p:animEffect transition="out" filter="fade">
                                      <p:cBhvr>
                                        <p:cTn id="252" dur="500" tmFilter="0, 0; .2, .5; .8, .5; 1, 0"/>
                                        <p:tgtEl>
                                          <p:spTgt spid="109632"/>
                                        </p:tgtEl>
                                      </p:cBhvr>
                                    </p:animEffect>
                                    <p:animScale>
                                      <p:cBhvr>
                                        <p:cTn id="253" dur="250" autoRev="1" fill="hold"/>
                                        <p:tgtEl>
                                          <p:spTgt spid="109632"/>
                                        </p:tgtEl>
                                      </p:cBhvr>
                                      <p:by x="105000" y="105000"/>
                                    </p:animScale>
                                  </p:childTnLst>
                                </p:cTn>
                              </p:par>
                              <p:par>
                                <p:cTn id="254" presetID="26" presetClass="emph" presetSubtype="0" fill="hold" grpId="1" nodeType="withEffect">
                                  <p:stCondLst>
                                    <p:cond delay="0"/>
                                  </p:stCondLst>
                                  <p:childTnLst>
                                    <p:animEffect transition="out" filter="fade">
                                      <p:cBhvr>
                                        <p:cTn id="255" dur="500" tmFilter="0, 0; .2, .5; .8, .5; 1, 0"/>
                                        <p:tgtEl>
                                          <p:spTgt spid="109633"/>
                                        </p:tgtEl>
                                      </p:cBhvr>
                                    </p:animEffect>
                                    <p:animScale>
                                      <p:cBhvr>
                                        <p:cTn id="256" dur="250" autoRev="1" fill="hold"/>
                                        <p:tgtEl>
                                          <p:spTgt spid="109633"/>
                                        </p:tgtEl>
                                      </p:cBhvr>
                                      <p:by x="105000" y="105000"/>
                                    </p:animScale>
                                  </p:childTnLst>
                                </p:cTn>
                              </p:par>
                            </p:childTnLst>
                          </p:cTn>
                        </p:par>
                      </p:childTnLst>
                    </p:cTn>
                  </p:par>
                  <p:par>
                    <p:cTn id="257" fill="hold">
                      <p:stCondLst>
                        <p:cond delay="indefinite"/>
                      </p:stCondLst>
                      <p:childTnLst>
                        <p:par>
                          <p:cTn id="258" fill="hold">
                            <p:stCondLst>
                              <p:cond delay="0"/>
                            </p:stCondLst>
                            <p:childTnLst>
                              <p:par>
                                <p:cTn id="259" presetID="22" presetClass="entr" presetSubtype="8" fill="hold" grpId="0" nodeType="clickEffect">
                                  <p:stCondLst>
                                    <p:cond delay="0"/>
                                  </p:stCondLst>
                                  <p:childTnLst>
                                    <p:set>
                                      <p:cBhvr>
                                        <p:cTn id="260" dur="1" fill="hold">
                                          <p:stCondLst>
                                            <p:cond delay="0"/>
                                          </p:stCondLst>
                                        </p:cTn>
                                        <p:tgtEl>
                                          <p:spTgt spid="109642"/>
                                        </p:tgtEl>
                                        <p:attrNameLst>
                                          <p:attrName>style.visibility</p:attrName>
                                        </p:attrNameLst>
                                      </p:cBhvr>
                                      <p:to>
                                        <p:strVal val="visible"/>
                                      </p:to>
                                    </p:set>
                                    <p:animEffect transition="in" filter="wipe(left)">
                                      <p:cBhvr>
                                        <p:cTn id="261" dur="500"/>
                                        <p:tgtEl>
                                          <p:spTgt spid="109642"/>
                                        </p:tgtEl>
                                      </p:cBhvr>
                                    </p:animEffect>
                                  </p:childTnLst>
                                </p:cTn>
                              </p:par>
                              <p:par>
                                <p:cTn id="262" presetID="22" presetClass="entr" presetSubtype="8" fill="hold" grpId="0" nodeType="withEffect">
                                  <p:stCondLst>
                                    <p:cond delay="0"/>
                                  </p:stCondLst>
                                  <p:childTnLst>
                                    <p:set>
                                      <p:cBhvr>
                                        <p:cTn id="263" dur="1" fill="hold">
                                          <p:stCondLst>
                                            <p:cond delay="0"/>
                                          </p:stCondLst>
                                        </p:cTn>
                                        <p:tgtEl>
                                          <p:spTgt spid="109643"/>
                                        </p:tgtEl>
                                        <p:attrNameLst>
                                          <p:attrName>style.visibility</p:attrName>
                                        </p:attrNameLst>
                                      </p:cBhvr>
                                      <p:to>
                                        <p:strVal val="visible"/>
                                      </p:to>
                                    </p:set>
                                    <p:animEffect transition="in" filter="wipe(left)">
                                      <p:cBhvr>
                                        <p:cTn id="264" dur="500"/>
                                        <p:tgtEl>
                                          <p:spTgt spid="109643"/>
                                        </p:tgtEl>
                                      </p:cBhvr>
                                    </p:animEffect>
                                  </p:childTnLst>
                                </p:cTn>
                              </p:par>
                              <p:par>
                                <p:cTn id="265" presetID="22" presetClass="entr" presetSubtype="8" fill="hold" grpId="0" nodeType="withEffect">
                                  <p:stCondLst>
                                    <p:cond delay="0"/>
                                  </p:stCondLst>
                                  <p:childTnLst>
                                    <p:set>
                                      <p:cBhvr>
                                        <p:cTn id="266" dur="1" fill="hold">
                                          <p:stCondLst>
                                            <p:cond delay="0"/>
                                          </p:stCondLst>
                                        </p:cTn>
                                        <p:tgtEl>
                                          <p:spTgt spid="109644"/>
                                        </p:tgtEl>
                                        <p:attrNameLst>
                                          <p:attrName>style.visibility</p:attrName>
                                        </p:attrNameLst>
                                      </p:cBhvr>
                                      <p:to>
                                        <p:strVal val="visible"/>
                                      </p:to>
                                    </p:set>
                                    <p:animEffect transition="in" filter="wipe(left)">
                                      <p:cBhvr>
                                        <p:cTn id="267" dur="500"/>
                                        <p:tgtEl>
                                          <p:spTgt spid="109644"/>
                                        </p:tgtEl>
                                      </p:cBhvr>
                                    </p:animEffect>
                                  </p:childTnLst>
                                </p:cTn>
                              </p:par>
                              <p:par>
                                <p:cTn id="268" presetID="22" presetClass="entr" presetSubtype="8" fill="hold" grpId="0" nodeType="withEffect">
                                  <p:stCondLst>
                                    <p:cond delay="0"/>
                                  </p:stCondLst>
                                  <p:childTnLst>
                                    <p:set>
                                      <p:cBhvr>
                                        <p:cTn id="269" dur="1" fill="hold">
                                          <p:stCondLst>
                                            <p:cond delay="0"/>
                                          </p:stCondLst>
                                        </p:cTn>
                                        <p:tgtEl>
                                          <p:spTgt spid="109645"/>
                                        </p:tgtEl>
                                        <p:attrNameLst>
                                          <p:attrName>style.visibility</p:attrName>
                                        </p:attrNameLst>
                                      </p:cBhvr>
                                      <p:to>
                                        <p:strVal val="visible"/>
                                      </p:to>
                                    </p:set>
                                    <p:animEffect transition="in" filter="wipe(left)">
                                      <p:cBhvr>
                                        <p:cTn id="270" dur="500"/>
                                        <p:tgtEl>
                                          <p:spTgt spid="109645"/>
                                        </p:tgtEl>
                                      </p:cBhvr>
                                    </p:animEffect>
                                  </p:childTnLst>
                                </p:cTn>
                              </p:par>
                              <p:par>
                                <p:cTn id="271" presetID="22" presetClass="entr" presetSubtype="8" fill="hold" grpId="0" nodeType="withEffect">
                                  <p:stCondLst>
                                    <p:cond delay="0"/>
                                  </p:stCondLst>
                                  <p:childTnLst>
                                    <p:set>
                                      <p:cBhvr>
                                        <p:cTn id="272" dur="1" fill="hold">
                                          <p:stCondLst>
                                            <p:cond delay="0"/>
                                          </p:stCondLst>
                                        </p:cTn>
                                        <p:tgtEl>
                                          <p:spTgt spid="109646"/>
                                        </p:tgtEl>
                                        <p:attrNameLst>
                                          <p:attrName>style.visibility</p:attrName>
                                        </p:attrNameLst>
                                      </p:cBhvr>
                                      <p:to>
                                        <p:strVal val="visible"/>
                                      </p:to>
                                    </p:set>
                                    <p:animEffect transition="in" filter="wipe(left)">
                                      <p:cBhvr>
                                        <p:cTn id="273" dur="500"/>
                                        <p:tgtEl>
                                          <p:spTgt spid="109646"/>
                                        </p:tgtEl>
                                      </p:cBhvr>
                                    </p:animEffect>
                                  </p:childTnLst>
                                </p:cTn>
                              </p:par>
                              <p:par>
                                <p:cTn id="274" presetID="22" presetClass="entr" presetSubtype="8" fill="hold" grpId="0" nodeType="withEffect">
                                  <p:stCondLst>
                                    <p:cond delay="0"/>
                                  </p:stCondLst>
                                  <p:childTnLst>
                                    <p:set>
                                      <p:cBhvr>
                                        <p:cTn id="275" dur="1" fill="hold">
                                          <p:stCondLst>
                                            <p:cond delay="0"/>
                                          </p:stCondLst>
                                        </p:cTn>
                                        <p:tgtEl>
                                          <p:spTgt spid="109647"/>
                                        </p:tgtEl>
                                        <p:attrNameLst>
                                          <p:attrName>style.visibility</p:attrName>
                                        </p:attrNameLst>
                                      </p:cBhvr>
                                      <p:to>
                                        <p:strVal val="visible"/>
                                      </p:to>
                                    </p:set>
                                    <p:animEffect transition="in" filter="wipe(left)">
                                      <p:cBhvr>
                                        <p:cTn id="276" dur="500"/>
                                        <p:tgtEl>
                                          <p:spTgt spid="109647"/>
                                        </p:tgtEl>
                                      </p:cBhvr>
                                    </p:animEffect>
                                  </p:childTnLst>
                                </p:cTn>
                              </p:par>
                              <p:par>
                                <p:cTn id="277" presetID="22" presetClass="entr" presetSubtype="8" fill="hold" grpId="0" nodeType="withEffect">
                                  <p:stCondLst>
                                    <p:cond delay="0"/>
                                  </p:stCondLst>
                                  <p:childTnLst>
                                    <p:set>
                                      <p:cBhvr>
                                        <p:cTn id="278" dur="1" fill="hold">
                                          <p:stCondLst>
                                            <p:cond delay="0"/>
                                          </p:stCondLst>
                                        </p:cTn>
                                        <p:tgtEl>
                                          <p:spTgt spid="109648"/>
                                        </p:tgtEl>
                                        <p:attrNameLst>
                                          <p:attrName>style.visibility</p:attrName>
                                        </p:attrNameLst>
                                      </p:cBhvr>
                                      <p:to>
                                        <p:strVal val="visible"/>
                                      </p:to>
                                    </p:set>
                                    <p:animEffect transition="in" filter="wipe(left)">
                                      <p:cBhvr>
                                        <p:cTn id="279" dur="500"/>
                                        <p:tgtEl>
                                          <p:spTgt spid="109648"/>
                                        </p:tgtEl>
                                      </p:cBhvr>
                                    </p:animEffect>
                                  </p:childTnLst>
                                </p:cTn>
                              </p:par>
                              <p:par>
                                <p:cTn id="280" presetID="22" presetClass="entr" presetSubtype="8" fill="hold" grpId="0" nodeType="withEffect">
                                  <p:stCondLst>
                                    <p:cond delay="0"/>
                                  </p:stCondLst>
                                  <p:childTnLst>
                                    <p:set>
                                      <p:cBhvr>
                                        <p:cTn id="281" dur="1" fill="hold">
                                          <p:stCondLst>
                                            <p:cond delay="0"/>
                                          </p:stCondLst>
                                        </p:cTn>
                                        <p:tgtEl>
                                          <p:spTgt spid="109649"/>
                                        </p:tgtEl>
                                        <p:attrNameLst>
                                          <p:attrName>style.visibility</p:attrName>
                                        </p:attrNameLst>
                                      </p:cBhvr>
                                      <p:to>
                                        <p:strVal val="visible"/>
                                      </p:to>
                                    </p:set>
                                    <p:animEffect transition="in" filter="wipe(left)">
                                      <p:cBhvr>
                                        <p:cTn id="282" dur="500"/>
                                        <p:tgtEl>
                                          <p:spTgt spid="109649"/>
                                        </p:tgtEl>
                                      </p:cBhvr>
                                    </p:animEffect>
                                  </p:childTnLst>
                                </p:cTn>
                              </p:par>
                            </p:childTnLst>
                          </p:cTn>
                        </p:par>
                      </p:childTnLst>
                    </p:cTn>
                  </p:par>
                  <p:par>
                    <p:cTn id="283" fill="hold">
                      <p:stCondLst>
                        <p:cond delay="indefinite"/>
                      </p:stCondLst>
                      <p:childTnLst>
                        <p:par>
                          <p:cTn id="284" fill="hold">
                            <p:stCondLst>
                              <p:cond delay="0"/>
                            </p:stCondLst>
                            <p:childTnLst>
                              <p:par>
                                <p:cTn id="285" presetID="23" presetClass="entr" presetSubtype="16" fill="hold" grpId="0" nodeType="clickEffect">
                                  <p:stCondLst>
                                    <p:cond delay="0"/>
                                  </p:stCondLst>
                                  <p:childTnLst>
                                    <p:set>
                                      <p:cBhvr>
                                        <p:cTn id="286" dur="1" fill="hold">
                                          <p:stCondLst>
                                            <p:cond delay="0"/>
                                          </p:stCondLst>
                                        </p:cTn>
                                        <p:tgtEl>
                                          <p:spTgt spid="109650"/>
                                        </p:tgtEl>
                                        <p:attrNameLst>
                                          <p:attrName>style.visibility</p:attrName>
                                        </p:attrNameLst>
                                      </p:cBhvr>
                                      <p:to>
                                        <p:strVal val="visible"/>
                                      </p:to>
                                    </p:set>
                                    <p:anim calcmode="lin" valueType="num">
                                      <p:cBhvr>
                                        <p:cTn id="287" dur="500" fill="hold"/>
                                        <p:tgtEl>
                                          <p:spTgt spid="109650"/>
                                        </p:tgtEl>
                                        <p:attrNameLst>
                                          <p:attrName>ppt_w</p:attrName>
                                        </p:attrNameLst>
                                      </p:cBhvr>
                                      <p:tavLst>
                                        <p:tav tm="0">
                                          <p:val>
                                            <p:fltVal val="0.000000"/>
                                          </p:val>
                                        </p:tav>
                                        <p:tav tm="100000">
                                          <p:val>
                                            <p:strVal val="#ppt_w"/>
                                          </p:val>
                                        </p:tav>
                                      </p:tavLst>
                                    </p:anim>
                                    <p:anim calcmode="lin" valueType="num">
                                      <p:cBhvr>
                                        <p:cTn id="288" dur="500" fill="hold"/>
                                        <p:tgtEl>
                                          <p:spTgt spid="109650"/>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86" grpId="0"/>
      <p:bldP spid="109586" grpId="1"/>
      <p:bldP spid="109587" grpId="0"/>
      <p:bldP spid="109587" grpId="1"/>
      <p:bldP spid="109588" grpId="0"/>
      <p:bldP spid="109588" grpId="1"/>
      <p:bldP spid="109589" grpId="0"/>
      <p:bldP spid="109589" grpId="1"/>
      <p:bldP spid="109590" grpId="0"/>
      <p:bldP spid="109590" grpId="1"/>
      <p:bldP spid="109591" grpId="0"/>
      <p:bldP spid="109591" grpId="1"/>
      <p:bldP spid="109592" grpId="0"/>
      <p:bldP spid="109592" grpId="1"/>
      <p:bldP spid="109593" grpId="0"/>
      <p:bldP spid="109593" grpId="1"/>
      <p:bldP spid="109594" grpId="0"/>
      <p:bldP spid="109595" grpId="0"/>
      <p:bldP spid="109596" grpId="0"/>
      <p:bldP spid="109597" grpId="0"/>
      <p:bldP spid="109598" grpId="0"/>
      <p:bldP spid="109599" grpId="0"/>
      <p:bldP spid="109600" grpId="0"/>
      <p:bldP spid="109601" grpId="0"/>
      <p:bldP spid="109602" grpId="0"/>
      <p:bldP spid="109602" grpId="1"/>
      <p:bldP spid="109603" grpId="0"/>
      <p:bldP spid="109603" grpId="1"/>
      <p:bldP spid="109604" grpId="0"/>
      <p:bldP spid="109604" grpId="1"/>
      <p:bldP spid="109605" grpId="0"/>
      <p:bldP spid="109605" grpId="1"/>
      <p:bldP spid="109606" grpId="0"/>
      <p:bldP spid="109606" grpId="1"/>
      <p:bldP spid="109607" grpId="0"/>
      <p:bldP spid="109607" grpId="1"/>
      <p:bldP spid="109608" grpId="0"/>
      <p:bldP spid="109608" grpId="1"/>
      <p:bldP spid="109609" grpId="0"/>
      <p:bldP spid="109609" grpId="1"/>
      <p:bldP spid="109610" grpId="0"/>
      <p:bldP spid="109611" grpId="0"/>
      <p:bldP spid="109612" grpId="0"/>
      <p:bldP spid="109613" grpId="0"/>
      <p:bldP spid="109614" grpId="0"/>
      <p:bldP spid="109615" grpId="0"/>
      <p:bldP spid="109616" grpId="0"/>
      <p:bldP spid="109617" grpId="0"/>
      <p:bldP spid="109618" grpId="0"/>
      <p:bldP spid="109618" grpId="1"/>
      <p:bldP spid="109619" grpId="0"/>
      <p:bldP spid="109619" grpId="1"/>
      <p:bldP spid="109620" grpId="0"/>
      <p:bldP spid="109620" grpId="1"/>
      <p:bldP spid="109621" grpId="0"/>
      <p:bldP spid="109621" grpId="1"/>
      <p:bldP spid="109622" grpId="0"/>
      <p:bldP spid="109622" grpId="1"/>
      <p:bldP spid="109623" grpId="0"/>
      <p:bldP spid="109623" grpId="1"/>
      <p:bldP spid="109624" grpId="0"/>
      <p:bldP spid="109624" grpId="1"/>
      <p:bldP spid="109625" grpId="0"/>
      <p:bldP spid="109625" grpId="1"/>
      <p:bldP spid="109626" grpId="0"/>
      <p:bldP spid="109626" grpId="1"/>
      <p:bldP spid="109627" grpId="0"/>
      <p:bldP spid="109627" grpId="1"/>
      <p:bldP spid="109628" grpId="0"/>
      <p:bldP spid="109628" grpId="1"/>
      <p:bldP spid="109629" grpId="0"/>
      <p:bldP spid="109629" grpId="1"/>
      <p:bldP spid="109630" grpId="0"/>
      <p:bldP spid="109630" grpId="1"/>
      <p:bldP spid="109631" grpId="0"/>
      <p:bldP spid="109631" grpId="1"/>
      <p:bldP spid="109632" grpId="0"/>
      <p:bldP spid="109632" grpId="1"/>
      <p:bldP spid="109633" grpId="0"/>
      <p:bldP spid="109633" grpId="1"/>
      <p:bldP spid="109642" grpId="0"/>
      <p:bldP spid="109643" grpId="0"/>
      <p:bldP spid="109644" grpId="0"/>
      <p:bldP spid="109645" grpId="0"/>
      <p:bldP spid="109646" grpId="0"/>
      <p:bldP spid="109647" grpId="0"/>
      <p:bldP spid="109648" grpId="0"/>
      <p:bldP spid="109649" grpId="0"/>
      <p:bldP spid="10965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45058" name="Rectangle 2"/>
          <p:cNvSpPr>
            <a:spLocks noGrp="1"/>
          </p:cNvSpPr>
          <p:nvPr>
            <p:ph type="title"/>
          </p:nvPr>
        </p:nvSpPr>
        <p:spPr/>
        <p:txBody>
          <a:bodyPr vert="horz" wrap="square" lIns="91440" tIns="45720" rIns="91440" bIns="45720" anchor="ctr" anchorCtr="0"/>
          <a:p>
            <a:pPr eaLnBrk="1" hangingPunct="1"/>
            <a:r>
              <a:rPr lang="en-US" altLang="zh-CN" dirty="0"/>
              <a:t>Radix sort</a:t>
            </a:r>
            <a:r>
              <a:rPr lang="zh-CN" altLang="en-US" dirty="0"/>
              <a:t>（基数排序）</a:t>
            </a:r>
            <a:endParaRPr lang="en-US" altLang="zh-CN" dirty="0"/>
          </a:p>
        </p:txBody>
      </p:sp>
      <p:sp>
        <p:nvSpPr>
          <p:cNvPr id="110599" name="Rectangle 7"/>
          <p:cNvSpPr>
            <a:spLocks noGrp="1" noChangeArrowheads="1"/>
          </p:cNvSpPr>
          <p:nvPr>
            <p:ph idx="1"/>
          </p:nvPr>
        </p:nvSpPr>
        <p:spPr>
          <a:xfrm>
            <a:off x="785813" y="1214438"/>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7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700" b="0" i="0" u="none" strike="noStrike" kern="0" cap="none" spc="0" normalizeH="0" baseline="0" noProof="0" dirty="0">
                <a:ln>
                  <a:noFill/>
                </a:ln>
                <a:solidFill>
                  <a:schemeClr val="accent2"/>
                </a:solidFill>
                <a:effectLst/>
                <a:uLnTx/>
                <a:uFillTx/>
                <a:latin typeface="+mn-lt"/>
                <a:ea typeface="+mn-ea"/>
                <a:cs typeface="+mn-cs"/>
              </a:rPr>
              <a:t>基本思想</a:t>
            </a:r>
            <a:r>
              <a:rPr kumimoji="0" lang="en-US" altLang="zh-CN" sz="27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7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首先根据</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位，把数分到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10</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个表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0</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9</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中，这样，那些</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的数分到表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0</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中，那些</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的数分到表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中，等等。</a:t>
            </a:r>
            <a:endParaRPr kumimoji="0" lang="zh-CN" altLang="en-US"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接下来，表被用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0</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,..,L</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9.</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的顺序接起来。</a:t>
            </a:r>
            <a:endParaRPr kumimoji="0" lang="zh-CN" altLang="en-US"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再后来，把它们按照</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d</a:t>
            </a:r>
            <a:r>
              <a:rPr kumimoji="0" lang="en-US" altLang="zh-CN" sz="2400" b="0" i="0" u="none" strike="noStrike" kern="0" cap="none" spc="0" normalizeH="0" baseline="-25000" noProof="0" dirty="0">
                <a:ln>
                  <a:noFill/>
                </a:ln>
                <a:solidFill>
                  <a:schemeClr val="accent2"/>
                </a:solidFill>
                <a:effectLst/>
                <a:uLnTx/>
                <a:uFillTx/>
                <a:latin typeface="+mn-lt"/>
                <a:ea typeface="+mn-ea"/>
                <a:cs typeface="+mn-ea"/>
              </a:rPr>
              <a:t>2</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分到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10</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张表中，按顺序接起来。</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再把它们按</a:t>
            </a:r>
            <a:r>
              <a:rPr kumimoji="0" lang="en-US" altLang="zh-CN" sz="2400" b="0" i="0" u="none" strike="noStrike" kern="0" cap="none" spc="0" normalizeH="0" baseline="0" noProof="0" dirty="0" err="1">
                <a:ln>
                  <a:noFill/>
                </a:ln>
                <a:solidFill>
                  <a:schemeClr val="accent2"/>
                </a:solidFill>
                <a:effectLst/>
                <a:uLnTx/>
                <a:uFillTx/>
                <a:latin typeface="+mn-lt"/>
                <a:ea typeface="+mn-ea"/>
                <a:cs typeface="+mn-ea"/>
              </a:rPr>
              <a:t>d</a:t>
            </a:r>
            <a:r>
              <a:rPr kumimoji="0" lang="en-US" altLang="zh-CN" sz="2400" b="0" i="0" u="none" strike="noStrike" kern="0" cap="none" spc="0" normalizeH="0" baseline="-25000" noProof="0" dirty="0" err="1">
                <a:ln>
                  <a:noFill/>
                </a:ln>
                <a:solidFill>
                  <a:schemeClr val="accent2"/>
                </a:solidFill>
                <a:effectLst/>
                <a:uLnTx/>
                <a:uFillTx/>
                <a:latin typeface="+mn-lt"/>
                <a:ea typeface="+mn-ea"/>
                <a:cs typeface="+mn-ea"/>
              </a:rPr>
              <a:t>k</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分到表中并按顺序接起来后，所有的数就排好了序。</a:t>
            </a:r>
            <a:endParaRPr kumimoji="0" lang="zh-CN" altLang="en-US" sz="2400" b="0" i="0" u="none" strike="noStrike" kern="0" cap="none" spc="0" normalizeH="0" baseline="0" noProof="0" dirty="0">
              <a:ln>
                <a:noFill/>
              </a:ln>
              <a:solidFill>
                <a:schemeClr val="accent2"/>
              </a:solidFill>
              <a:effectLst/>
              <a:uLnTx/>
              <a:uFillTx/>
              <a:latin typeface="+mn-lt"/>
              <a:ea typeface="+mn-ea"/>
              <a:cs typeface="+mn-ea"/>
            </a:endParaRPr>
          </a:p>
        </p:txBody>
      </p:sp>
      <p:pic>
        <p:nvPicPr>
          <p:cNvPr id="45060" name="Picture 9" descr="basic idea"/>
          <p:cNvPicPr>
            <a:picLocks noChangeAspect="1"/>
          </p:cNvPicPr>
          <p:nvPr/>
        </p:nvPicPr>
        <p:blipFill>
          <a:blip r:embed="rId1"/>
          <a:stretch>
            <a:fillRect/>
          </a:stretch>
        </p:blipFill>
        <p:spPr>
          <a:xfrm>
            <a:off x="900113" y="1268413"/>
            <a:ext cx="431800" cy="4016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599">
                                            <p:txEl>
                                              <p:charRg st="0" end="7"/>
                                            </p:txEl>
                                          </p:spTgt>
                                        </p:tgtEl>
                                        <p:attrNameLst>
                                          <p:attrName>style.visibility</p:attrName>
                                        </p:attrNameLst>
                                      </p:cBhvr>
                                      <p:to>
                                        <p:strVal val="visible"/>
                                      </p:to>
                                    </p:set>
                                    <p:anim calcmode="lin" valueType="num">
                                      <p:cBhvr additive="base">
                                        <p:cTn id="7" dur="500" fill="hold"/>
                                        <p:tgtEl>
                                          <p:spTgt spid="110599">
                                            <p:txEl>
                                              <p:charRg st="0"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9">
                                            <p:txEl>
                                              <p:charRg st="0" end="7"/>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0599">
                                            <p:txEl>
                                              <p:charRg st="0" end="7"/>
                                            </p:txEl>
                                          </p:spTgt>
                                        </p:tgtEl>
                                        <p:attrNameLst>
                                          <p:attrName>ppt_c</p:attrName>
                                        </p:attrNameLst>
                                      </p:cBhvr>
                                      <p:to>
                                        <a:schemeClr val="bg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0599">
                                            <p:txEl>
                                              <p:charRg st="7" end="74"/>
                                            </p:txEl>
                                          </p:spTgt>
                                        </p:tgtEl>
                                        <p:attrNameLst>
                                          <p:attrName>style.visibility</p:attrName>
                                        </p:attrNameLst>
                                      </p:cBhvr>
                                      <p:to>
                                        <p:strVal val="visible"/>
                                      </p:to>
                                    </p:set>
                                    <p:anim calcmode="lin" valueType="num">
                                      <p:cBhvr additive="base">
                                        <p:cTn id="13" dur="500" fill="hold"/>
                                        <p:tgtEl>
                                          <p:spTgt spid="110599">
                                            <p:txEl>
                                              <p:charRg st="7" end="7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0599">
                                            <p:txEl>
                                              <p:charRg st="7" end="7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0599">
                                            <p:txEl>
                                              <p:charRg st="7" end="74"/>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0599">
                                            <p:txEl>
                                              <p:charRg st="74" end="102"/>
                                            </p:txEl>
                                          </p:spTgt>
                                        </p:tgtEl>
                                        <p:attrNameLst>
                                          <p:attrName>style.visibility</p:attrName>
                                        </p:attrNameLst>
                                      </p:cBhvr>
                                      <p:to>
                                        <p:strVal val="visible"/>
                                      </p:to>
                                    </p:set>
                                    <p:anim calcmode="lin" valueType="num">
                                      <p:cBhvr additive="base">
                                        <p:cTn id="19" dur="500" fill="hold"/>
                                        <p:tgtEl>
                                          <p:spTgt spid="110599">
                                            <p:txEl>
                                              <p:charRg st="74" end="10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599">
                                            <p:txEl>
                                              <p:charRg st="74" end="10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0599">
                                            <p:txEl>
                                              <p:charRg st="74" end="102"/>
                                            </p:txEl>
                                          </p:spTgt>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0599">
                                            <p:txEl>
                                              <p:charRg st="102" end="129"/>
                                            </p:txEl>
                                          </p:spTgt>
                                        </p:tgtEl>
                                        <p:attrNameLst>
                                          <p:attrName>style.visibility</p:attrName>
                                        </p:attrNameLst>
                                      </p:cBhvr>
                                      <p:to>
                                        <p:strVal val="visible"/>
                                      </p:to>
                                    </p:set>
                                    <p:anim calcmode="lin" valueType="num">
                                      <p:cBhvr additive="base">
                                        <p:cTn id="25" dur="500" fill="hold"/>
                                        <p:tgtEl>
                                          <p:spTgt spid="110599">
                                            <p:txEl>
                                              <p:charRg st="102" end="12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0599">
                                            <p:txEl>
                                              <p:charRg st="102" end="129"/>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0599">
                                            <p:txEl>
                                              <p:charRg st="102" end="129"/>
                                            </p:txEl>
                                          </p:spTgt>
                                        </p:tgtEl>
                                        <p:attrNameLst>
                                          <p:attrName>ppt_c</p:attrName>
                                        </p:attrNameLst>
                                      </p:cBhvr>
                                      <p:to>
                                        <a:schemeClr val="bg2"/>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0599">
                                            <p:txEl>
                                              <p:charRg st="129" end="160"/>
                                            </p:txEl>
                                          </p:spTgt>
                                        </p:tgtEl>
                                        <p:attrNameLst>
                                          <p:attrName>style.visibility</p:attrName>
                                        </p:attrNameLst>
                                      </p:cBhvr>
                                      <p:to>
                                        <p:strVal val="visible"/>
                                      </p:to>
                                    </p:set>
                                    <p:anim calcmode="lin" valueType="num">
                                      <p:cBhvr additive="base">
                                        <p:cTn id="31" dur="500" fill="hold"/>
                                        <p:tgtEl>
                                          <p:spTgt spid="110599">
                                            <p:txEl>
                                              <p:charRg st="129" end="16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0599">
                                            <p:txEl>
                                              <p:charRg st="129" end="16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0599">
                                            <p:txEl>
                                              <p:charRg st="129" end="16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内容占位符 2"/>
          <p:cNvSpPr>
            <a:spLocks noGrp="1"/>
          </p:cNvSpPr>
          <p:nvPr>
            <p:ph idx="1"/>
          </p:nvPr>
        </p:nvSpPr>
        <p:spPr>
          <a:xfrm>
            <a:off x="7715250" y="1268413"/>
            <a:ext cx="971550" cy="4525962"/>
          </a:xfrm>
        </p:spPr>
        <p:txBody>
          <a:bodyPr vert="horz" wrap="square" lIns="91440" tIns="45720" rIns="91440" bIns="45720" anchor="t" anchorCtr="0"/>
          <a:p>
            <a:pPr>
              <a:buNone/>
            </a:pPr>
            <a:r>
              <a:rPr lang="zh-CN" altLang="en-US" dirty="0"/>
              <a:t>基</a:t>
            </a:r>
            <a:endParaRPr lang="en-US" altLang="zh-CN" dirty="0"/>
          </a:p>
          <a:p>
            <a:pPr>
              <a:buNone/>
            </a:pPr>
            <a:r>
              <a:rPr lang="zh-CN" altLang="en-US" dirty="0"/>
              <a:t>数</a:t>
            </a:r>
            <a:endParaRPr lang="en-US" altLang="zh-CN" dirty="0"/>
          </a:p>
          <a:p>
            <a:pPr>
              <a:buNone/>
            </a:pPr>
            <a:r>
              <a:rPr lang="zh-CN" altLang="en-US" dirty="0"/>
              <a:t>排</a:t>
            </a:r>
            <a:endParaRPr lang="en-US" altLang="zh-CN" dirty="0"/>
          </a:p>
          <a:p>
            <a:pPr>
              <a:buNone/>
            </a:pPr>
            <a:r>
              <a:rPr lang="zh-CN" altLang="en-US" dirty="0"/>
              <a:t>序</a:t>
            </a:r>
            <a:endParaRPr lang="en-US" altLang="zh-CN" dirty="0"/>
          </a:p>
          <a:p>
            <a:pPr>
              <a:buNone/>
            </a:pPr>
            <a:r>
              <a:rPr lang="zh-CN" altLang="en-US" dirty="0"/>
              <a:t>示</a:t>
            </a:r>
            <a:endParaRPr lang="en-US" altLang="zh-CN" dirty="0"/>
          </a:p>
          <a:p>
            <a:pPr>
              <a:buNone/>
            </a:pPr>
            <a:r>
              <a:rPr lang="zh-CN" altLang="en-US" dirty="0"/>
              <a:t>意</a:t>
            </a:r>
            <a:endParaRPr lang="en-US" altLang="zh-CN" dirty="0"/>
          </a:p>
          <a:p>
            <a:pPr>
              <a:buNone/>
            </a:pPr>
            <a:r>
              <a:rPr lang="zh-CN" altLang="en-US" dirty="0"/>
              <a:t>图</a:t>
            </a:r>
            <a:endParaRPr lang="zh-CN" altLang="en-US" dirty="0"/>
          </a:p>
        </p:txBody>
      </p:sp>
      <p:sp>
        <p:nvSpPr>
          <p:cNvPr id="47106"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pic>
        <p:nvPicPr>
          <p:cNvPr id="47107" name="Picture 2"/>
          <p:cNvPicPr>
            <a:picLocks noChangeAspect="1"/>
          </p:cNvPicPr>
          <p:nvPr/>
        </p:nvPicPr>
        <p:blipFill>
          <a:blip r:embed="rId1"/>
          <a:stretch>
            <a:fillRect/>
          </a:stretch>
        </p:blipFill>
        <p:spPr>
          <a:xfrm>
            <a:off x="571500" y="-1684337"/>
            <a:ext cx="7143750" cy="8720137"/>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48130" name="Rectangle 3"/>
          <p:cNvSpPr>
            <a:spLocks noGrp="1"/>
          </p:cNvSpPr>
          <p:nvPr>
            <p:ph idx="1"/>
          </p:nvPr>
        </p:nvSpPr>
        <p:spPr>
          <a:xfrm>
            <a:off x="900113" y="404813"/>
            <a:ext cx="7786687" cy="5688012"/>
          </a:xfrm>
          <a:solidFill>
            <a:schemeClr val="bg1"/>
          </a:solidFill>
        </p:spPr>
        <p:txBody>
          <a:bodyPr vert="horz" wrap="square" lIns="91440" tIns="45720" rIns="91440" bIns="45720" anchor="t" anchorCtr="0"/>
          <a:p>
            <a:pPr eaLnBrk="1" hangingPunct="1">
              <a:lnSpc>
                <a:spcPct val="80000"/>
              </a:lnSpc>
              <a:buNone/>
            </a:pPr>
            <a:r>
              <a:rPr lang="zh-CN" altLang="en-US" sz="2400" dirty="0"/>
              <a:t>算法</a:t>
            </a:r>
            <a:r>
              <a:rPr lang="en-US" altLang="zh-CN" sz="2400" dirty="0"/>
              <a:t> 2.3.4 RADIXSORT</a:t>
            </a:r>
            <a:endParaRPr lang="en-US" altLang="zh-CN" sz="2400" dirty="0"/>
          </a:p>
          <a:p>
            <a:pPr lvl="1" eaLnBrk="1" hangingPunct="1">
              <a:lnSpc>
                <a:spcPct val="80000"/>
              </a:lnSpc>
              <a:buNone/>
            </a:pPr>
            <a:r>
              <a:rPr lang="zh-CN" altLang="en-US" dirty="0"/>
              <a:t>输入</a:t>
            </a:r>
            <a:r>
              <a:rPr lang="en-US" altLang="zh-CN" dirty="0"/>
              <a:t>: </a:t>
            </a:r>
            <a:r>
              <a:rPr lang="zh-CN" altLang="en-US" dirty="0"/>
              <a:t>一张有</a:t>
            </a:r>
            <a:r>
              <a:rPr lang="en-US" altLang="zh-CN" dirty="0"/>
              <a:t>n</a:t>
            </a:r>
            <a:r>
              <a:rPr lang="zh-CN" altLang="en-US" dirty="0"/>
              <a:t>个数的表</a:t>
            </a:r>
            <a:r>
              <a:rPr lang="en-US" altLang="zh-CN" dirty="0"/>
              <a:t>L={</a:t>
            </a:r>
            <a:r>
              <a:rPr lang="en-US" altLang="zh-CN" i="1" dirty="0"/>
              <a:t>a</a:t>
            </a:r>
            <a:r>
              <a:rPr lang="en-US" altLang="zh-CN" i="1" baseline="-25000" dirty="0"/>
              <a:t>1</a:t>
            </a:r>
            <a:r>
              <a:rPr lang="en-US" altLang="zh-CN" i="1" dirty="0"/>
              <a:t>…a</a:t>
            </a:r>
            <a:r>
              <a:rPr lang="en-US" altLang="zh-CN" i="1" baseline="-25000" dirty="0"/>
              <a:t>n</a:t>
            </a:r>
            <a:r>
              <a:rPr lang="en-US" altLang="zh-CN" dirty="0"/>
              <a:t>}</a:t>
            </a:r>
            <a:r>
              <a:rPr lang="zh-CN" altLang="en-US" dirty="0"/>
              <a:t>和</a:t>
            </a:r>
            <a:r>
              <a:rPr lang="en-US" altLang="zh-CN" dirty="0"/>
              <a:t>k</a:t>
            </a:r>
            <a:r>
              <a:rPr lang="zh-CN" altLang="en-US" dirty="0"/>
              <a:t>位数字。</a:t>
            </a:r>
            <a:endParaRPr lang="en-US" altLang="zh-CN" dirty="0"/>
          </a:p>
          <a:p>
            <a:pPr lvl="1" eaLnBrk="1" hangingPunct="1">
              <a:lnSpc>
                <a:spcPct val="80000"/>
              </a:lnSpc>
              <a:buNone/>
            </a:pPr>
            <a:r>
              <a:rPr lang="zh-CN" altLang="en-US" b="1" dirty="0"/>
              <a:t>输出</a:t>
            </a:r>
            <a:r>
              <a:rPr lang="en-US" altLang="zh-CN" b="1" dirty="0"/>
              <a:t>:</a:t>
            </a:r>
            <a:r>
              <a:rPr lang="en-US" altLang="zh-CN" dirty="0"/>
              <a:t> </a:t>
            </a:r>
            <a:r>
              <a:rPr lang="zh-CN" altLang="en-US" dirty="0"/>
              <a:t>按非降序排列的</a:t>
            </a:r>
            <a:r>
              <a:rPr lang="en-US" altLang="zh-CN" dirty="0"/>
              <a:t>L</a:t>
            </a:r>
            <a:r>
              <a:rPr lang="zh-CN" altLang="en-US" dirty="0"/>
              <a:t>。</a:t>
            </a:r>
            <a:endParaRPr lang="en-US" altLang="zh-CN" dirty="0"/>
          </a:p>
          <a:p>
            <a:pPr lvl="1" eaLnBrk="1" hangingPunct="1">
              <a:lnSpc>
                <a:spcPct val="80000"/>
              </a:lnSpc>
              <a:buNone/>
            </a:pPr>
            <a:endParaRPr lang="en-US" altLang="zh-CN" dirty="0"/>
          </a:p>
          <a:p>
            <a:pPr lvl="1" eaLnBrk="1" hangingPunct="1">
              <a:lnSpc>
                <a:spcPct val="80000"/>
              </a:lnSpc>
              <a:buNone/>
            </a:pPr>
            <a:r>
              <a:rPr lang="en-US" altLang="zh-CN" dirty="0"/>
              <a:t>    1. </a:t>
            </a:r>
            <a:r>
              <a:rPr lang="en-US" altLang="zh-CN" b="1" dirty="0"/>
              <a:t>for</a:t>
            </a:r>
            <a:r>
              <a:rPr lang="en-US" altLang="zh-CN" dirty="0"/>
              <a:t> </a:t>
            </a:r>
            <a:r>
              <a:rPr lang="en-US" altLang="zh-CN" i="1" dirty="0"/>
              <a:t>j</a:t>
            </a:r>
            <a:r>
              <a:rPr lang="en-US" altLang="zh-CN" i="1" dirty="0">
                <a:sym typeface="Wingdings" panose="05000000000000000000" pitchFamily="2" charset="2"/>
              </a:rPr>
              <a:t>1</a:t>
            </a:r>
            <a:r>
              <a:rPr lang="en-US" altLang="zh-CN" dirty="0">
                <a:sym typeface="Wingdings" panose="05000000000000000000" pitchFamily="2" charset="2"/>
              </a:rPr>
              <a:t> </a:t>
            </a:r>
            <a:r>
              <a:rPr lang="en-US" altLang="zh-CN" b="1" dirty="0">
                <a:sym typeface="Wingdings" panose="05000000000000000000" pitchFamily="2" charset="2"/>
              </a:rPr>
              <a:t>to</a:t>
            </a:r>
            <a:r>
              <a:rPr lang="en-US" altLang="zh-CN" dirty="0">
                <a:sym typeface="Wingdings" panose="05000000000000000000" pitchFamily="2" charset="2"/>
              </a:rPr>
              <a:t> </a:t>
            </a:r>
            <a:r>
              <a:rPr lang="en-US" altLang="zh-CN" i="1" dirty="0">
                <a:sym typeface="Wingdings" panose="05000000000000000000" pitchFamily="2" charset="2"/>
              </a:rPr>
              <a:t>k</a:t>
            </a:r>
            <a:endParaRPr lang="en-US" altLang="zh-CN" i="1"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2.    </a:t>
            </a:r>
            <a:r>
              <a:rPr lang="zh-CN" altLang="en-US" dirty="0">
                <a:sym typeface="Wingdings" panose="05000000000000000000" pitchFamily="2" charset="2"/>
              </a:rPr>
              <a:t>准备</a:t>
            </a:r>
            <a:r>
              <a:rPr lang="en-US" altLang="zh-CN" dirty="0">
                <a:sym typeface="Wingdings" panose="05000000000000000000" pitchFamily="2" charset="2"/>
              </a:rPr>
              <a:t>10 </a:t>
            </a:r>
            <a:r>
              <a:rPr lang="zh-CN" altLang="en-US" dirty="0">
                <a:sym typeface="Wingdings" panose="05000000000000000000" pitchFamily="2" charset="2"/>
              </a:rPr>
              <a:t>个空表</a:t>
            </a:r>
            <a:r>
              <a:rPr lang="en-US" altLang="zh-CN" dirty="0">
                <a:sym typeface="Wingdings" panose="05000000000000000000" pitchFamily="2" charset="2"/>
              </a:rPr>
              <a:t> L0,L1,…,L9.</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3.   </a:t>
            </a:r>
            <a:r>
              <a:rPr lang="en-US" altLang="zh-CN" b="1" dirty="0">
                <a:sym typeface="Wingdings" panose="05000000000000000000" pitchFamily="2" charset="2"/>
              </a:rPr>
              <a:t> while</a:t>
            </a:r>
            <a:r>
              <a:rPr lang="en-US" altLang="zh-CN" dirty="0">
                <a:sym typeface="Wingdings" panose="05000000000000000000" pitchFamily="2" charset="2"/>
              </a:rPr>
              <a:t> L </a:t>
            </a:r>
            <a:r>
              <a:rPr lang="zh-CN" altLang="en-US" dirty="0">
                <a:sym typeface="Wingdings" panose="05000000000000000000" pitchFamily="2" charset="2"/>
              </a:rPr>
              <a:t>非空</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4.        aL</a:t>
            </a:r>
            <a:r>
              <a:rPr lang="zh-CN" altLang="en-US" dirty="0">
                <a:sym typeface="Wingdings" panose="05000000000000000000" pitchFamily="2" charset="2"/>
              </a:rPr>
              <a:t>中的下一元素；删除</a:t>
            </a:r>
            <a:r>
              <a:rPr lang="en-US" altLang="zh-CN" dirty="0">
                <a:sym typeface="Wingdings" panose="05000000000000000000" pitchFamily="2" charset="2"/>
              </a:rPr>
              <a:t>L</a:t>
            </a:r>
            <a:r>
              <a:rPr lang="zh-CN" altLang="en-US" dirty="0">
                <a:sym typeface="Wingdings" panose="05000000000000000000" pitchFamily="2" charset="2"/>
              </a:rPr>
              <a:t>中的</a:t>
            </a:r>
            <a:r>
              <a:rPr lang="en-US" altLang="zh-CN" dirty="0">
                <a:sym typeface="Wingdings" panose="05000000000000000000" pitchFamily="2" charset="2"/>
              </a:rPr>
              <a:t>a</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2.         ia</a:t>
            </a:r>
            <a:r>
              <a:rPr lang="zh-CN" altLang="en-US" dirty="0">
                <a:sym typeface="Wingdings" panose="05000000000000000000" pitchFamily="2" charset="2"/>
              </a:rPr>
              <a:t>中的第</a:t>
            </a:r>
            <a:r>
              <a:rPr lang="en-US" altLang="zh-CN" dirty="0">
                <a:sym typeface="Wingdings" panose="05000000000000000000" pitchFamily="2" charset="2"/>
              </a:rPr>
              <a:t>j</a:t>
            </a:r>
            <a:r>
              <a:rPr lang="zh-CN" altLang="en-US" dirty="0">
                <a:sym typeface="Wingdings" panose="05000000000000000000" pitchFamily="2" charset="2"/>
              </a:rPr>
              <a:t>位数字；将</a:t>
            </a:r>
            <a:r>
              <a:rPr lang="en-US" altLang="zh-CN" dirty="0">
                <a:sym typeface="Wingdings" panose="05000000000000000000" pitchFamily="2" charset="2"/>
              </a:rPr>
              <a:t>a</a:t>
            </a:r>
            <a:r>
              <a:rPr lang="zh-CN" altLang="en-US" dirty="0">
                <a:sym typeface="Wingdings" panose="05000000000000000000" pitchFamily="2" charset="2"/>
              </a:rPr>
              <a:t>加入表</a:t>
            </a:r>
            <a:r>
              <a:rPr lang="en-US" altLang="zh-CN" dirty="0">
                <a:sym typeface="Wingdings" panose="05000000000000000000" pitchFamily="2" charset="2"/>
              </a:rPr>
              <a:t>L</a:t>
            </a:r>
            <a:r>
              <a:rPr lang="en-US" altLang="zh-CN" baseline="-25000" dirty="0">
                <a:sym typeface="Wingdings" panose="05000000000000000000" pitchFamily="2" charset="2"/>
              </a:rPr>
              <a:t>i</a:t>
            </a:r>
            <a:r>
              <a:rPr lang="zh-CN" altLang="en-US" dirty="0">
                <a:sym typeface="Wingdings" panose="05000000000000000000" pitchFamily="2" charset="2"/>
              </a:rPr>
              <a:t>中</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6.     </a:t>
            </a:r>
            <a:r>
              <a:rPr lang="en-US" altLang="zh-CN" b="1" dirty="0">
                <a:sym typeface="Wingdings" panose="05000000000000000000" pitchFamily="2" charset="2"/>
              </a:rPr>
              <a:t>end while </a:t>
            </a:r>
            <a:endParaRPr lang="en-US" altLang="zh-CN" b="1"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7.     LL</a:t>
            </a:r>
            <a:r>
              <a:rPr lang="en-US" altLang="zh-CN" baseline="-25000" dirty="0">
                <a:sym typeface="Wingdings" panose="05000000000000000000" pitchFamily="2" charset="2"/>
              </a:rPr>
              <a:t>0</a:t>
            </a:r>
            <a:endParaRPr lang="en-US" altLang="zh-CN" baseline="-25000"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8</a:t>
            </a:r>
            <a:r>
              <a:rPr lang="en-US" altLang="zh-CN" b="1" dirty="0">
                <a:sym typeface="Wingdings" panose="05000000000000000000" pitchFamily="2" charset="2"/>
              </a:rPr>
              <a:t>.     for</a:t>
            </a:r>
            <a:r>
              <a:rPr lang="en-US" altLang="zh-CN" dirty="0">
                <a:sym typeface="Wingdings" panose="05000000000000000000" pitchFamily="2" charset="2"/>
              </a:rPr>
              <a:t> i1 </a:t>
            </a:r>
            <a:r>
              <a:rPr lang="en-US" altLang="zh-CN" b="1" dirty="0">
                <a:sym typeface="Wingdings" panose="05000000000000000000" pitchFamily="2" charset="2"/>
              </a:rPr>
              <a:t>to</a:t>
            </a:r>
            <a:r>
              <a:rPr lang="en-US" altLang="zh-CN" dirty="0">
                <a:sym typeface="Wingdings" panose="05000000000000000000" pitchFamily="2" charset="2"/>
              </a:rPr>
              <a:t> 9</a:t>
            </a:r>
            <a:endParaRPr lang="en-US" altLang="zh-CN" dirty="0">
              <a:sym typeface="Wingdings" panose="05000000000000000000" pitchFamily="2" charset="2"/>
            </a:endParaRPr>
          </a:p>
          <a:p>
            <a:pPr lvl="1" eaLnBrk="1" hangingPunct="1">
              <a:lnSpc>
                <a:spcPct val="80000"/>
              </a:lnSpc>
              <a:buNone/>
            </a:pPr>
            <a:r>
              <a:rPr lang="en-US" altLang="zh-CN" dirty="0">
                <a:sym typeface="Wingdings" panose="05000000000000000000" pitchFamily="2" charset="2"/>
              </a:rPr>
              <a:t>    9.          LL,Li          {</a:t>
            </a:r>
            <a:r>
              <a:rPr lang="zh-CN" altLang="en-US" dirty="0">
                <a:sym typeface="Wingdings" panose="05000000000000000000" pitchFamily="2" charset="2"/>
              </a:rPr>
              <a:t>将表</a:t>
            </a:r>
            <a:r>
              <a:rPr lang="en-US" altLang="zh-CN" dirty="0">
                <a:sym typeface="Wingdings" panose="05000000000000000000" pitchFamily="2" charset="2"/>
              </a:rPr>
              <a:t>Li </a:t>
            </a:r>
            <a:r>
              <a:rPr lang="zh-CN" altLang="en-US" dirty="0">
                <a:sym typeface="Wingdings" panose="05000000000000000000" pitchFamily="2" charset="2"/>
              </a:rPr>
              <a:t>加入表</a:t>
            </a:r>
            <a:r>
              <a:rPr lang="en-US" altLang="zh-CN" dirty="0">
                <a:sym typeface="Wingdings" panose="05000000000000000000" pitchFamily="2" charset="2"/>
              </a:rPr>
              <a:t> L</a:t>
            </a:r>
            <a:r>
              <a:rPr lang="zh-CN" altLang="en-US" dirty="0">
                <a:sym typeface="Wingdings" panose="05000000000000000000" pitchFamily="2" charset="2"/>
              </a:rPr>
              <a:t>中</a:t>
            </a:r>
            <a:r>
              <a:rPr lang="en-US" altLang="zh-CN" dirty="0">
                <a:sym typeface="Wingdings" panose="05000000000000000000" pitchFamily="2" charset="2"/>
              </a:rPr>
              <a:t>}</a:t>
            </a:r>
            <a:endParaRPr lang="en-US" altLang="zh-CN" dirty="0">
              <a:sym typeface="Wingdings" panose="05000000000000000000" pitchFamily="2" charset="2"/>
            </a:endParaRPr>
          </a:p>
          <a:p>
            <a:pPr lvl="1" eaLnBrk="1" hangingPunct="1">
              <a:lnSpc>
                <a:spcPct val="80000"/>
              </a:lnSpc>
              <a:buNone/>
            </a:pPr>
            <a:r>
              <a:rPr lang="en-US" altLang="zh-CN" dirty="0"/>
              <a:t>    10.   </a:t>
            </a:r>
            <a:r>
              <a:rPr lang="en-US" altLang="zh-CN" b="1" dirty="0"/>
              <a:t>end for</a:t>
            </a:r>
            <a:endParaRPr lang="en-US" altLang="zh-CN" b="1" dirty="0"/>
          </a:p>
          <a:p>
            <a:pPr lvl="1" eaLnBrk="1" hangingPunct="1">
              <a:lnSpc>
                <a:spcPct val="80000"/>
              </a:lnSpc>
              <a:buNone/>
            </a:pPr>
            <a:r>
              <a:rPr lang="en-US" altLang="zh-CN" dirty="0"/>
              <a:t>    11. </a:t>
            </a:r>
            <a:r>
              <a:rPr lang="en-US" altLang="zh-CN" b="1" dirty="0"/>
              <a:t>end for</a:t>
            </a:r>
            <a:endParaRPr lang="en-US" altLang="zh-CN" b="1" dirty="0"/>
          </a:p>
          <a:p>
            <a:pPr lvl="1" eaLnBrk="1" hangingPunct="1">
              <a:lnSpc>
                <a:spcPct val="80000"/>
              </a:lnSpc>
              <a:buNone/>
            </a:pPr>
            <a:r>
              <a:rPr lang="en-US" altLang="zh-CN" dirty="0"/>
              <a:t>    12. </a:t>
            </a:r>
            <a:r>
              <a:rPr lang="en-US" altLang="zh-CN" b="1" dirty="0"/>
              <a:t>return </a:t>
            </a:r>
            <a:r>
              <a:rPr lang="en-US" altLang="zh-CN" dirty="0"/>
              <a:t>L</a:t>
            </a: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50178" name="Rectangle 2"/>
          <p:cNvSpPr>
            <a:spLocks noGrp="1"/>
          </p:cNvSpPr>
          <p:nvPr>
            <p:ph type="title"/>
          </p:nvPr>
        </p:nvSpPr>
        <p:spPr/>
        <p:txBody>
          <a:bodyPr vert="horz" wrap="square" lIns="91440" tIns="45720" rIns="91440" bIns="45720" anchor="ctr" anchorCtr="0"/>
          <a:p>
            <a:pPr eaLnBrk="1" hangingPunct="1"/>
            <a:r>
              <a:rPr lang="zh-CN" altLang="en-US" dirty="0"/>
              <a:t>算法分析</a:t>
            </a:r>
            <a:endParaRPr lang="en-US" altLang="zh-CN" dirty="0"/>
          </a:p>
        </p:txBody>
      </p:sp>
      <p:sp>
        <p:nvSpPr>
          <p:cNvPr id="112643" name="Rectangle 3"/>
          <p:cNvSpPr>
            <a:spLocks noGrp="1"/>
          </p:cNvSpPr>
          <p:nvPr>
            <p:ph idx="1"/>
          </p:nvPr>
        </p:nvSpPr>
        <p:spPr/>
        <p:txBody>
          <a:bodyPr vert="horz" wrap="square" lIns="91440" tIns="45720" rIns="91440" bIns="45720" anchor="t" anchorCtr="0"/>
          <a:p>
            <a:pPr eaLnBrk="1" hangingPunct="1"/>
            <a:r>
              <a:rPr lang="zh-CN" altLang="en-US" dirty="0"/>
              <a:t>根据某一位数字把数分到表中去的方法做了</a:t>
            </a:r>
            <a:r>
              <a:rPr lang="en-US" altLang="zh-CN" dirty="0"/>
              <a:t>k</a:t>
            </a:r>
            <a:r>
              <a:rPr lang="zh-CN" altLang="en-US" dirty="0"/>
              <a:t>遍，每一遍的代价是</a:t>
            </a:r>
            <a:r>
              <a:rPr lang="el-GR" altLang="zh-CN" dirty="0">
                <a:latin typeface="宋体" panose="02010600030101010101" pitchFamily="2" charset="-122"/>
              </a:rPr>
              <a:t>Θ</a:t>
            </a:r>
            <a:r>
              <a:rPr lang="en-US" altLang="zh-CN" dirty="0"/>
              <a:t>(n)</a:t>
            </a:r>
            <a:r>
              <a:rPr lang="zh-CN" altLang="en-US" dirty="0"/>
              <a:t>时间，这样算法的时间是</a:t>
            </a:r>
            <a:r>
              <a:rPr lang="el-GR" altLang="zh-CN" dirty="0">
                <a:latin typeface="宋体" panose="02010600030101010101" pitchFamily="2" charset="-122"/>
              </a:rPr>
              <a:t>Θ</a:t>
            </a:r>
            <a:r>
              <a:rPr lang="en-US" altLang="zh-CN" dirty="0"/>
              <a:t>(kn)</a:t>
            </a:r>
            <a:r>
              <a:rPr lang="zh-CN" altLang="en-US" dirty="0"/>
              <a:t>。如果</a:t>
            </a:r>
            <a:r>
              <a:rPr lang="en-US" altLang="zh-CN" dirty="0"/>
              <a:t>k</a:t>
            </a:r>
            <a:r>
              <a:rPr lang="zh-CN" altLang="en-US" dirty="0"/>
              <a:t>是常数，运行时间就是</a:t>
            </a:r>
            <a:r>
              <a:rPr lang="el-GR" altLang="zh-CN" dirty="0">
                <a:latin typeface="宋体" panose="02010600030101010101" pitchFamily="2" charset="-122"/>
              </a:rPr>
              <a:t>Θ</a:t>
            </a:r>
            <a:r>
              <a:rPr lang="en-US" altLang="zh-CN" dirty="0"/>
              <a:t>(n)</a:t>
            </a:r>
            <a:r>
              <a:rPr lang="zh-CN" altLang="en-US" dirty="0"/>
              <a:t>。</a:t>
            </a:r>
            <a:endParaRPr lang="zh-CN" altLang="en-US" dirty="0"/>
          </a:p>
          <a:p>
            <a:pPr lvl="1" eaLnBrk="1" hangingPunct="1"/>
            <a:endParaRPr lang="en-US" altLang="zh-CN" dirty="0"/>
          </a:p>
          <a:p>
            <a:pPr eaLnBrk="1" hangingPunct="1"/>
            <a:r>
              <a:rPr lang="zh-CN" altLang="en-US" dirty="0"/>
              <a:t>算法用了</a:t>
            </a:r>
            <a:r>
              <a:rPr lang="el-GR" altLang="zh-CN" dirty="0">
                <a:latin typeface="宋体" panose="02010600030101010101" pitchFamily="2" charset="-122"/>
              </a:rPr>
              <a:t>Θ</a:t>
            </a:r>
            <a:r>
              <a:rPr lang="en-US" altLang="zh-CN" dirty="0"/>
              <a:t>(n)</a:t>
            </a:r>
            <a:r>
              <a:rPr lang="zh-CN" altLang="en-US" dirty="0"/>
              <a:t>空间，因为需要</a:t>
            </a:r>
            <a:r>
              <a:rPr lang="en-US" altLang="zh-CN" dirty="0"/>
              <a:t>10</a:t>
            </a:r>
            <a:r>
              <a:rPr lang="zh-CN" altLang="en-US" dirty="0"/>
              <a:t>个表，这些表全部的大小是</a:t>
            </a:r>
            <a:r>
              <a:rPr lang="el-GR" altLang="zh-CN" dirty="0">
                <a:latin typeface="宋体" panose="02010600030101010101" pitchFamily="2" charset="-122"/>
              </a:rPr>
              <a:t>Θ</a:t>
            </a:r>
            <a:r>
              <a:rPr lang="en-US" altLang="zh-CN" dirty="0"/>
              <a:t>(n)</a:t>
            </a:r>
            <a:r>
              <a:rPr lang="zh-CN" altLang="en-US"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2643">
                                            <p:txEl>
                                              <p:charRg st="0" end="69"/>
                                            </p:txEl>
                                          </p:spTgt>
                                        </p:tgtEl>
                                        <p:attrNameLst>
                                          <p:attrName>style.visibility</p:attrName>
                                        </p:attrNameLst>
                                      </p:cBhvr>
                                      <p:to>
                                        <p:strVal val="visible"/>
                                      </p:to>
                                    </p:set>
                                    <p:anim calcmode="lin" valueType="num">
                                      <p:cBhvr>
                                        <p:cTn id="7" dur="500" fill="hold"/>
                                        <p:tgtEl>
                                          <p:spTgt spid="112643">
                                            <p:txEl>
                                              <p:charRg st="0" end="69"/>
                                            </p:txEl>
                                          </p:spTgt>
                                        </p:tgtEl>
                                        <p:attrNameLst>
                                          <p:attrName>ppt_w</p:attrName>
                                        </p:attrNameLst>
                                      </p:cBhvr>
                                      <p:tavLst>
                                        <p:tav tm="0">
                                          <p:val>
                                            <p:fltVal val="0.000000"/>
                                          </p:val>
                                        </p:tav>
                                        <p:tav tm="100000">
                                          <p:val>
                                            <p:strVal val="#ppt_w"/>
                                          </p:val>
                                        </p:tav>
                                      </p:tavLst>
                                    </p:anim>
                                    <p:anim calcmode="lin" valueType="num">
                                      <p:cBhvr>
                                        <p:cTn id="8" dur="500" fill="hold"/>
                                        <p:tgtEl>
                                          <p:spTgt spid="112643">
                                            <p:txEl>
                                              <p:charRg st="0" end="69"/>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12643">
                                            <p:txEl>
                                              <p:charRg st="70" end="105"/>
                                            </p:txEl>
                                          </p:spTgt>
                                        </p:tgtEl>
                                        <p:attrNameLst>
                                          <p:attrName>style.visibility</p:attrName>
                                        </p:attrNameLst>
                                      </p:cBhvr>
                                      <p:to>
                                        <p:strVal val="visible"/>
                                      </p:to>
                                    </p:set>
                                    <p:anim calcmode="lin" valueType="num">
                                      <p:cBhvr>
                                        <p:cTn id="13" dur="500" fill="hold"/>
                                        <p:tgtEl>
                                          <p:spTgt spid="112643">
                                            <p:txEl>
                                              <p:charRg st="70" end="105"/>
                                            </p:txEl>
                                          </p:spTgt>
                                        </p:tgtEl>
                                        <p:attrNameLst>
                                          <p:attrName>ppt_w</p:attrName>
                                        </p:attrNameLst>
                                      </p:cBhvr>
                                      <p:tavLst>
                                        <p:tav tm="0">
                                          <p:val>
                                            <p:fltVal val="0.000000"/>
                                          </p:val>
                                        </p:tav>
                                        <p:tav tm="100000">
                                          <p:val>
                                            <p:strVal val="#ppt_w"/>
                                          </p:val>
                                        </p:tav>
                                      </p:tavLst>
                                    </p:anim>
                                    <p:anim calcmode="lin" valueType="num">
                                      <p:cBhvr>
                                        <p:cTn id="14" dur="500" fill="hold"/>
                                        <p:tgtEl>
                                          <p:spTgt spid="112643">
                                            <p:txEl>
                                              <p:charRg st="70" end="105"/>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93186" name="Rectangle 2"/>
          <p:cNvSpPr>
            <a:spLocks noGrp="1"/>
          </p:cNvSpPr>
          <p:nvPr>
            <p:ph type="title"/>
          </p:nvPr>
        </p:nvSpPr>
        <p:spPr/>
        <p:txBody>
          <a:bodyPr vert="horz" wrap="square" lIns="91440" tIns="45720" rIns="91440" bIns="45720" anchor="ctr" anchorCtr="0"/>
          <a:p>
            <a:pPr eaLnBrk="1" hangingPunct="1"/>
            <a:r>
              <a:rPr lang="en-US" altLang="zh-CN" dirty="0"/>
              <a:t>2.3.5 Finding the majority element</a:t>
            </a:r>
            <a:r>
              <a:rPr lang="zh-CN" altLang="en-US" dirty="0"/>
              <a:t>（寻找多数元素）</a:t>
            </a:r>
            <a:endParaRPr lang="en-US" altLang="zh-CN" dirty="0"/>
          </a:p>
        </p:txBody>
      </p:sp>
      <p:sp>
        <p:nvSpPr>
          <p:cNvPr id="144387" name="Rectangle 3"/>
          <p:cNvSpPr>
            <a:spLocks noGrp="1" noChangeArrowheads="1"/>
          </p:cNvSpPr>
          <p:nvPr>
            <p:ph idx="1"/>
          </p:nvPr>
        </p:nvSpPr>
        <p:spPr>
          <a:xfrm>
            <a:off x="889000" y="1196975"/>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令</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A[1..n]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是一个整数序列，</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中的整数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如果在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中出现的次数多于</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n/2</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，那么</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称为多数元素。</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例如，在序列</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1,3,2,3,3,4,3</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中，</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3</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是多数元素，因为</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7</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个元素中它出现</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4</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次。</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p:txBody>
      </p:sp>
      <p:pic>
        <p:nvPicPr>
          <p:cNvPr id="144389" name="Picture 5" descr="question"/>
          <p:cNvPicPr>
            <a:picLocks noChangeAspect="1"/>
          </p:cNvPicPr>
          <p:nvPr/>
        </p:nvPicPr>
        <p:blipFill>
          <a:blip r:embed="rId1"/>
          <a:stretch>
            <a:fillRect/>
          </a:stretch>
        </p:blipFill>
        <p:spPr>
          <a:xfrm>
            <a:off x="971550" y="1268413"/>
            <a:ext cx="360363" cy="3603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44389"/>
                                        </p:tgtEl>
                                        <p:attrNameLst>
                                          <p:attrName>style.visibility</p:attrName>
                                        </p:attrNameLst>
                                      </p:cBhvr>
                                      <p:to>
                                        <p:strVal val="visible"/>
                                      </p:to>
                                    </p:set>
                                    <p:anim calcmode="lin" valueType="num">
                                      <p:cBhvr>
                                        <p:cTn id="7" dur="5000" fill="hold"/>
                                        <p:tgtEl>
                                          <p:spTgt spid="144389"/>
                                        </p:tgtEl>
                                        <p:attrNameLst>
                                          <p:attrName>ppt_w</p:attrName>
                                        </p:attrNameLst>
                                      </p:cBhvr>
                                      <p:tavLst>
                                        <p:tav tm="0" fmla="#ppt_w*sin(2.5*pi*$)">
                                          <p:val>
                                            <p:fltVal val="0.000000"/>
                                          </p:val>
                                        </p:tav>
                                        <p:tav tm="100000">
                                          <p:val>
                                            <p:fltVal val="1.000000"/>
                                          </p:val>
                                        </p:tav>
                                      </p:tavLst>
                                    </p:anim>
                                    <p:anim calcmode="lin" valueType="num">
                                      <p:cBhvr>
                                        <p:cTn id="8" dur="5000" fill="hold"/>
                                        <p:tgtEl>
                                          <p:spTgt spid="1443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144387">
                                            <p:txEl>
                                              <p:charRg st="0" end="10"/>
                                            </p:txEl>
                                          </p:spTgt>
                                        </p:tgtEl>
                                        <p:attrNameLst>
                                          <p:attrName>style.visibility</p:attrName>
                                        </p:attrNameLst>
                                      </p:cBhvr>
                                      <p:to>
                                        <p:strVal val="visible"/>
                                      </p:to>
                                    </p:set>
                                    <p:animEffect transition="in" filter="blinds(horizontal)">
                                      <p:cBhvr>
                                        <p:cTn id="11" dur="500"/>
                                        <p:tgtEl>
                                          <p:spTgt spid="144387">
                                            <p:txEl>
                                              <p:charRg st="0" end="1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nodeType="clickEffect">
                                  <p:stCondLst>
                                    <p:cond delay="0"/>
                                  </p:stCondLst>
                                  <p:childTnLst>
                                    <p:set>
                                      <p:cBhvr>
                                        <p:cTn id="15" dur="1" fill="hold">
                                          <p:stCondLst>
                                            <p:cond delay="0"/>
                                          </p:stCondLst>
                                        </p:cTn>
                                        <p:tgtEl>
                                          <p:spTgt spid="144387">
                                            <p:txEl>
                                              <p:charRg st="11" end="63"/>
                                            </p:txEl>
                                          </p:spTgt>
                                        </p:tgtEl>
                                        <p:attrNameLst>
                                          <p:attrName>style.visibility</p:attrName>
                                        </p:attrNameLst>
                                      </p:cBhvr>
                                      <p:to>
                                        <p:strVal val="visible"/>
                                      </p:to>
                                    </p:set>
                                    <p:anim calcmode="lin" valueType="num">
                                      <p:cBhvr>
                                        <p:cTn id="16" dur="500" fill="hold"/>
                                        <p:tgtEl>
                                          <p:spTgt spid="144387">
                                            <p:txEl>
                                              <p:charRg st="11" end="63"/>
                                            </p:txEl>
                                          </p:spTgt>
                                        </p:tgtEl>
                                        <p:attrNameLst>
                                          <p:attrName>ppt_w</p:attrName>
                                        </p:attrNameLst>
                                      </p:cBhvr>
                                      <p:tavLst>
                                        <p:tav tm="0">
                                          <p:val>
                                            <p:fltVal val="0.000000"/>
                                          </p:val>
                                        </p:tav>
                                        <p:tav tm="100000">
                                          <p:val>
                                            <p:strVal val="#ppt_w"/>
                                          </p:val>
                                        </p:tav>
                                      </p:tavLst>
                                    </p:anim>
                                    <p:anim calcmode="lin" valueType="num">
                                      <p:cBhvr>
                                        <p:cTn id="17" dur="500" fill="hold"/>
                                        <p:tgtEl>
                                          <p:spTgt spid="144387">
                                            <p:txEl>
                                              <p:charRg st="11" end="63"/>
                                            </p:txEl>
                                          </p:spTgt>
                                        </p:tgtEl>
                                        <p:attrNameLst>
                                          <p:attrName>ppt_h</p:attrName>
                                        </p:attrNameLst>
                                      </p:cBhvr>
                                      <p:tavLst>
                                        <p:tav tm="0">
                                          <p:val>
                                            <p:fltVal val="0.00000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44387">
                                            <p:txEl>
                                              <p:charRg st="64" end="106"/>
                                            </p:txEl>
                                          </p:spTgt>
                                        </p:tgtEl>
                                        <p:attrNameLst>
                                          <p:attrName>style.visibility</p:attrName>
                                        </p:attrNameLst>
                                      </p:cBhvr>
                                      <p:to>
                                        <p:strVal val="visible"/>
                                      </p:to>
                                    </p:set>
                                    <p:anim calcmode="lin" valueType="num">
                                      <p:cBhvr>
                                        <p:cTn id="22" dur="500" fill="hold"/>
                                        <p:tgtEl>
                                          <p:spTgt spid="144387">
                                            <p:txEl>
                                              <p:charRg st="64" end="106"/>
                                            </p:txEl>
                                          </p:spTgt>
                                        </p:tgtEl>
                                        <p:attrNameLst>
                                          <p:attrName>ppt_w</p:attrName>
                                        </p:attrNameLst>
                                      </p:cBhvr>
                                      <p:tavLst>
                                        <p:tav tm="0">
                                          <p:val>
                                            <p:fltVal val="0.000000"/>
                                          </p:val>
                                        </p:tav>
                                        <p:tav tm="100000">
                                          <p:val>
                                            <p:strVal val="#ppt_w"/>
                                          </p:val>
                                        </p:tav>
                                      </p:tavLst>
                                    </p:anim>
                                    <p:anim calcmode="lin" valueType="num">
                                      <p:cBhvr>
                                        <p:cTn id="23" dur="500" fill="hold"/>
                                        <p:tgtEl>
                                          <p:spTgt spid="144387">
                                            <p:txEl>
                                              <p:charRg st="64" end="106"/>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页脚占位符 4"/>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95234" name="Rectangle 2"/>
          <p:cNvSpPr>
            <a:spLocks noGrp="1"/>
          </p:cNvSpPr>
          <p:nvPr>
            <p:ph type="title"/>
          </p:nvPr>
        </p:nvSpPr>
        <p:spPr/>
        <p:txBody>
          <a:bodyPr vert="horz" wrap="square" lIns="91440" tIns="45720" rIns="91440" bIns="45720" anchor="ctr" anchorCtr="0"/>
          <a:p>
            <a:pPr eaLnBrk="1" hangingPunct="1"/>
            <a:r>
              <a:rPr lang="zh-CN" altLang="en-US" dirty="0"/>
              <a:t>方法</a:t>
            </a:r>
            <a:r>
              <a:rPr lang="en-US" altLang="zh-CN" dirty="0"/>
              <a:t>1(brute-force method ) </a:t>
            </a:r>
            <a:endParaRPr lang="en-US" altLang="zh-CN" dirty="0"/>
          </a:p>
        </p:txBody>
      </p:sp>
      <p:sp>
        <p:nvSpPr>
          <p:cNvPr id="145411" name="Rectangle 3"/>
          <p:cNvSpPr>
            <a:spLocks noGrp="1" noChangeArrowheads="1"/>
          </p:cNvSpPr>
          <p:nvPr>
            <p:ph type="body" sz="half" idx="1"/>
          </p:nvPr>
        </p:nvSpPr>
        <p:spPr>
          <a:xfrm>
            <a:off x="900113" y="1239838"/>
            <a:ext cx="7704138" cy="45656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900" b="0" i="0" u="none" strike="noStrike" kern="0" cap="none" spc="0" normalizeH="0" baseline="0" noProof="0" dirty="0">
                <a:ln>
                  <a:noFill/>
                </a:ln>
                <a:solidFill>
                  <a:srgbClr val="EA0000"/>
                </a:solidFill>
                <a:effectLst/>
                <a:uLnTx/>
                <a:uFillTx/>
                <a:latin typeface="+mn-lt"/>
                <a:ea typeface="+mn-ea"/>
                <a:cs typeface="+mn-cs"/>
              </a:rPr>
              <a:t>基本思想</a:t>
            </a:r>
            <a:endParaRPr kumimoji="0" lang="en-US" altLang="zh-CN" sz="2900" b="0" i="0" u="none" strike="noStrike" kern="0" cap="none" spc="0" normalizeH="0" baseline="0" noProof="0" dirty="0">
              <a:ln>
                <a:noFill/>
              </a:ln>
              <a:solidFill>
                <a:srgbClr val="EA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蛮力方法是把每个元素和其他每个元素比较，并且对每个元素计数。</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如果某个元素的计数大于</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n/2</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，就可以断言它是多数元素</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否则，在序列中就没有多数元素。</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但是这样的比较次数是</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1143000" marR="0" lvl="2" indent="-2286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mj-ea"/>
              <a:cs typeface="+mn-ea"/>
            </a:endParaRPr>
          </a:p>
        </p:txBody>
      </p:sp>
      <p:graphicFrame>
        <p:nvGraphicFramePr>
          <p:cNvPr id="145412" name="Object 4"/>
          <p:cNvGraphicFramePr>
            <a:graphicFrameLocks noGrp="1" noChangeAspect="1"/>
          </p:cNvGraphicFramePr>
          <p:nvPr>
            <p:ph sz="half" idx="2"/>
          </p:nvPr>
        </p:nvGraphicFramePr>
        <p:xfrm>
          <a:off x="3071813" y="5000625"/>
          <a:ext cx="2179637" cy="427038"/>
        </p:xfrm>
        <a:graphic>
          <a:graphicData uri="http://schemas.openxmlformats.org/presentationml/2006/ole">
            <mc:AlternateContent xmlns:mc="http://schemas.openxmlformats.org/markup-compatibility/2006">
              <mc:Choice xmlns:v="urn:schemas-microsoft-com:vml" Requires="v">
                <p:oleObj spid="_x0000_s3079" name="" r:id="rId1" imgW="1231265" imgH="228600" progId="Equation.3">
                  <p:embed/>
                </p:oleObj>
              </mc:Choice>
              <mc:Fallback>
                <p:oleObj name="" r:id="rId1" imgW="1231265" imgH="228600" progId="Equation.3">
                  <p:embed/>
                  <p:pic>
                    <p:nvPicPr>
                      <p:cNvPr id="0" name="图片 3078"/>
                      <p:cNvPicPr/>
                      <p:nvPr/>
                    </p:nvPicPr>
                    <p:blipFill>
                      <a:blip r:embed="rId2"/>
                      <a:stretch>
                        <a:fillRect/>
                      </a:stretch>
                    </p:blipFill>
                    <p:spPr>
                      <a:xfrm>
                        <a:off x="3071813" y="5000625"/>
                        <a:ext cx="2179637" cy="427038"/>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45411">
                                            <p:txEl>
                                              <p:charRg st="0" end="5"/>
                                            </p:txEl>
                                          </p:spTgt>
                                        </p:tgtEl>
                                        <p:attrNameLst>
                                          <p:attrName>style.visibility</p:attrName>
                                        </p:attrNameLst>
                                      </p:cBhvr>
                                      <p:to>
                                        <p:strVal val="visible"/>
                                      </p:to>
                                    </p:set>
                                    <p:animEffect transition="in" filter="slide(fromBottom)">
                                      <p:cBhvr>
                                        <p:cTn id="7" dur="500"/>
                                        <p:tgtEl>
                                          <p:spTgt spid="145411">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45411">
                                            <p:txEl>
                                              <p:charRg st="6" end="37"/>
                                            </p:txEl>
                                          </p:spTgt>
                                        </p:tgtEl>
                                        <p:attrNameLst>
                                          <p:attrName>style.visibility</p:attrName>
                                        </p:attrNameLst>
                                      </p:cBhvr>
                                      <p:to>
                                        <p:strVal val="visible"/>
                                      </p:to>
                                    </p:set>
                                    <p:animEffect transition="in" filter="slide(fromBottom)">
                                      <p:cBhvr>
                                        <p:cTn id="12" dur="500"/>
                                        <p:tgtEl>
                                          <p:spTgt spid="145411">
                                            <p:txEl>
                                              <p:charRg st="6"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45411">
                                            <p:txEl>
                                              <p:charRg st="38" end="84"/>
                                            </p:txEl>
                                          </p:spTgt>
                                        </p:tgtEl>
                                        <p:attrNameLst>
                                          <p:attrName>style.visibility</p:attrName>
                                        </p:attrNameLst>
                                      </p:cBhvr>
                                      <p:to>
                                        <p:strVal val="visible"/>
                                      </p:to>
                                    </p:set>
                                    <p:animEffect transition="in" filter="slide(fromBottom)">
                                      <p:cBhvr>
                                        <p:cTn id="17" dur="500"/>
                                        <p:tgtEl>
                                          <p:spTgt spid="145411">
                                            <p:txEl>
                                              <p:charRg st="38" end="8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45411">
                                            <p:txEl>
                                              <p:charRg st="85" end="96"/>
                                            </p:txEl>
                                          </p:spTgt>
                                        </p:tgtEl>
                                        <p:attrNameLst>
                                          <p:attrName>style.visibility</p:attrName>
                                        </p:attrNameLst>
                                      </p:cBhvr>
                                      <p:to>
                                        <p:strVal val="visible"/>
                                      </p:to>
                                    </p:set>
                                    <p:animEffect transition="in" filter="slide(fromBottom)">
                                      <p:cBhvr>
                                        <p:cTn id="22" dur="500"/>
                                        <p:tgtEl>
                                          <p:spTgt spid="145411">
                                            <p:txEl>
                                              <p:charRg st="85" end="96"/>
                                            </p:txEl>
                                          </p:spTgt>
                                        </p:tgtEl>
                                      </p:cBhvr>
                                    </p:animEffect>
                                  </p:childTnLst>
                                </p:cTn>
                              </p:par>
                            </p:childTnLst>
                          </p:cTn>
                        </p:par>
                        <p:par>
                          <p:cTn id="23" fill="hold">
                            <p:stCondLst>
                              <p:cond delay="500"/>
                            </p:stCondLst>
                            <p:childTnLst>
                              <p:par>
                                <p:cTn id="24" presetID="55" presetClass="entr" presetSubtype="0" fill="hold" nodeType="afterEffect">
                                  <p:stCondLst>
                                    <p:cond delay="0"/>
                                  </p:stCondLst>
                                  <p:childTnLst>
                                    <p:set>
                                      <p:cBhvr>
                                        <p:cTn id="25" dur="1" fill="hold">
                                          <p:stCondLst>
                                            <p:cond delay="0"/>
                                          </p:stCondLst>
                                        </p:cTn>
                                        <p:tgtEl>
                                          <p:spTgt spid="145412"/>
                                        </p:tgtEl>
                                        <p:attrNameLst>
                                          <p:attrName>style.visibility</p:attrName>
                                        </p:attrNameLst>
                                      </p:cBhvr>
                                      <p:to>
                                        <p:strVal val="visible"/>
                                      </p:to>
                                    </p:set>
                                    <p:anim calcmode="lin" valueType="num">
                                      <p:cBhvr>
                                        <p:cTn id="26" dur="1000" fill="hold"/>
                                        <p:tgtEl>
                                          <p:spTgt spid="145412"/>
                                        </p:tgtEl>
                                        <p:attrNameLst>
                                          <p:attrName>ppt_w</p:attrName>
                                        </p:attrNameLst>
                                      </p:cBhvr>
                                      <p:tavLst>
                                        <p:tav tm="0">
                                          <p:val>
                                            <p:strVal val="#ppt_w*0.70"/>
                                          </p:val>
                                        </p:tav>
                                        <p:tav tm="100000">
                                          <p:val>
                                            <p:strVal val="#ppt_w"/>
                                          </p:val>
                                        </p:tav>
                                      </p:tavLst>
                                    </p:anim>
                                    <p:anim calcmode="lin" valueType="num">
                                      <p:cBhvr>
                                        <p:cTn id="27" dur="1000" fill="hold"/>
                                        <p:tgtEl>
                                          <p:spTgt spid="145412"/>
                                        </p:tgtEl>
                                        <p:attrNameLst>
                                          <p:attrName>ppt_h</p:attrName>
                                        </p:attrNameLst>
                                      </p:cBhvr>
                                      <p:tavLst>
                                        <p:tav tm="0">
                                          <p:val>
                                            <p:strVal val="#ppt_h"/>
                                          </p:val>
                                        </p:tav>
                                        <p:tav tm="100000">
                                          <p:val>
                                            <p:strVal val="#ppt_h"/>
                                          </p:val>
                                        </p:tav>
                                      </p:tavLst>
                                    </p:anim>
                                    <p:animEffect transition="in" filter="fade">
                                      <p:cBhvr>
                                        <p:cTn id="28" dur="1000"/>
                                        <p:tgtEl>
                                          <p:spTgt spid="145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97282" name="Rectangle 2"/>
          <p:cNvSpPr>
            <a:spLocks noGrp="1"/>
          </p:cNvSpPr>
          <p:nvPr>
            <p:ph type="title"/>
          </p:nvPr>
        </p:nvSpPr>
        <p:spPr/>
        <p:txBody>
          <a:bodyPr vert="horz" wrap="square" lIns="91440" tIns="45720" rIns="91440" bIns="45720" anchor="ctr" anchorCtr="0"/>
          <a:p>
            <a:pPr eaLnBrk="1" hangingPunct="1"/>
            <a:r>
              <a:rPr lang="zh-CN" altLang="en-US" dirty="0"/>
              <a:t>方法</a:t>
            </a:r>
            <a:r>
              <a:rPr lang="en-US" altLang="zh-CN" dirty="0"/>
              <a:t>2 </a:t>
            </a:r>
            <a:endParaRPr lang="en-US" altLang="zh-CN" dirty="0"/>
          </a:p>
        </p:txBody>
      </p:sp>
      <p:sp>
        <p:nvSpPr>
          <p:cNvPr id="14745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900" b="0" i="0" u="none" strike="noStrike" kern="0" cap="none" spc="0" normalizeH="0" baseline="0" noProof="0" dirty="0">
                <a:ln>
                  <a:noFill/>
                </a:ln>
                <a:solidFill>
                  <a:srgbClr val="EA0000"/>
                </a:solidFill>
                <a:effectLst/>
                <a:uLnTx/>
                <a:uFillTx/>
                <a:latin typeface="+mn-lt"/>
                <a:ea typeface="+mn-ea"/>
                <a:cs typeface="+mn-cs"/>
              </a:rPr>
              <a:t>基本思想</a:t>
            </a:r>
            <a:endParaRPr kumimoji="0" lang="en-US" altLang="zh-CN" sz="2900" b="0" i="0" u="none" strike="noStrike" kern="0" cap="none" spc="0" normalizeH="0" baseline="0" noProof="0" dirty="0">
              <a:ln>
                <a:noFill/>
              </a:ln>
              <a:solidFill>
                <a:srgbClr val="EA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比较有效的算法是对这些元素排序，并且计算每个元素在序列中出现多少次。</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这在最坏情况下的代价是</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 log n)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。因为在最坏情况下，排序这一步需要</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nlogn</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次比较</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定理</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12.2)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7459">
                                            <p:txEl>
                                              <p:charRg st="0" end="5"/>
                                            </p:txEl>
                                          </p:spTgt>
                                        </p:tgtEl>
                                        <p:attrNameLst>
                                          <p:attrName>style.visibility</p:attrName>
                                        </p:attrNameLst>
                                      </p:cBhvr>
                                      <p:to>
                                        <p:strVal val="visible"/>
                                      </p:to>
                                    </p:set>
                                    <p:anim calcmode="lin" valueType="num">
                                      <p:cBhvr>
                                        <p:cTn id="7" dur="500" fill="hold"/>
                                        <p:tgtEl>
                                          <p:spTgt spid="147459">
                                            <p:txEl>
                                              <p:charRg st="0" end="5"/>
                                            </p:txEl>
                                          </p:spTgt>
                                        </p:tgtEl>
                                        <p:attrNameLst>
                                          <p:attrName>ppt_w</p:attrName>
                                        </p:attrNameLst>
                                      </p:cBhvr>
                                      <p:tavLst>
                                        <p:tav tm="0">
                                          <p:val>
                                            <p:fltVal val="0.000000"/>
                                          </p:val>
                                        </p:tav>
                                        <p:tav tm="100000">
                                          <p:val>
                                            <p:strVal val="#ppt_w"/>
                                          </p:val>
                                        </p:tav>
                                      </p:tavLst>
                                    </p:anim>
                                    <p:anim calcmode="lin" valueType="num">
                                      <p:cBhvr>
                                        <p:cTn id="8" dur="500" fill="hold"/>
                                        <p:tgtEl>
                                          <p:spTgt spid="147459">
                                            <p:txEl>
                                              <p:charRg st="0" end="5"/>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47459">
                                            <p:txEl>
                                              <p:charRg st="6" end="41"/>
                                            </p:txEl>
                                          </p:spTgt>
                                        </p:tgtEl>
                                        <p:attrNameLst>
                                          <p:attrName>style.visibility</p:attrName>
                                        </p:attrNameLst>
                                      </p:cBhvr>
                                      <p:to>
                                        <p:strVal val="visible"/>
                                      </p:to>
                                    </p:set>
                                    <p:anim calcmode="lin" valueType="num">
                                      <p:cBhvr>
                                        <p:cTn id="13" dur="500" fill="hold"/>
                                        <p:tgtEl>
                                          <p:spTgt spid="147459">
                                            <p:txEl>
                                              <p:charRg st="6" end="41"/>
                                            </p:txEl>
                                          </p:spTgt>
                                        </p:tgtEl>
                                        <p:attrNameLst>
                                          <p:attrName>ppt_w</p:attrName>
                                        </p:attrNameLst>
                                      </p:cBhvr>
                                      <p:tavLst>
                                        <p:tav tm="0">
                                          <p:val>
                                            <p:fltVal val="0.000000"/>
                                          </p:val>
                                        </p:tav>
                                        <p:tav tm="100000">
                                          <p:val>
                                            <p:strVal val="#ppt_w"/>
                                          </p:val>
                                        </p:tav>
                                      </p:tavLst>
                                    </p:anim>
                                    <p:anim calcmode="lin" valueType="num">
                                      <p:cBhvr>
                                        <p:cTn id="14" dur="500" fill="hold"/>
                                        <p:tgtEl>
                                          <p:spTgt spid="147459">
                                            <p:txEl>
                                              <p:charRg st="6" end="41"/>
                                            </p:txEl>
                                          </p:spTgt>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47459">
                                            <p:txEl>
                                              <p:charRg st="42" end="102"/>
                                            </p:txEl>
                                          </p:spTgt>
                                        </p:tgtEl>
                                        <p:attrNameLst>
                                          <p:attrName>style.visibility</p:attrName>
                                        </p:attrNameLst>
                                      </p:cBhvr>
                                      <p:to>
                                        <p:strVal val="visible"/>
                                      </p:to>
                                    </p:set>
                                    <p:anim calcmode="lin" valueType="num">
                                      <p:cBhvr>
                                        <p:cTn id="19" dur="500" fill="hold"/>
                                        <p:tgtEl>
                                          <p:spTgt spid="147459">
                                            <p:txEl>
                                              <p:charRg st="42" end="102"/>
                                            </p:txEl>
                                          </p:spTgt>
                                        </p:tgtEl>
                                        <p:attrNameLst>
                                          <p:attrName>ppt_w</p:attrName>
                                        </p:attrNameLst>
                                      </p:cBhvr>
                                      <p:tavLst>
                                        <p:tav tm="0">
                                          <p:val>
                                            <p:fltVal val="0.000000"/>
                                          </p:val>
                                        </p:tav>
                                        <p:tav tm="100000">
                                          <p:val>
                                            <p:strVal val="#ppt_w"/>
                                          </p:val>
                                        </p:tav>
                                      </p:tavLst>
                                    </p:anim>
                                    <p:anim calcmode="lin" valueType="num">
                                      <p:cBhvr>
                                        <p:cTn id="20" dur="500" fill="hold"/>
                                        <p:tgtEl>
                                          <p:spTgt spid="147459">
                                            <p:txEl>
                                              <p:charRg st="42" end="102"/>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99330" name="Rectangle 2"/>
          <p:cNvSpPr>
            <a:spLocks noGrp="1"/>
          </p:cNvSpPr>
          <p:nvPr>
            <p:ph type="title"/>
          </p:nvPr>
        </p:nvSpPr>
        <p:spPr/>
        <p:txBody>
          <a:bodyPr vert="horz" wrap="square" lIns="91440" tIns="45720" rIns="91440" bIns="45720" anchor="ctr" anchorCtr="0"/>
          <a:p>
            <a:pPr eaLnBrk="1" hangingPunct="1"/>
            <a:r>
              <a:rPr lang="zh-CN" altLang="en-US" dirty="0"/>
              <a:t>方法</a:t>
            </a:r>
            <a:r>
              <a:rPr lang="en-US" altLang="zh-CN" dirty="0"/>
              <a:t> 3 			</a:t>
            </a:r>
            <a:endParaRPr lang="en-US" altLang="zh-CN" dirty="0"/>
          </a:p>
        </p:txBody>
      </p:sp>
      <p:sp>
        <p:nvSpPr>
          <p:cNvPr id="148483"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900" b="0" i="0" u="none" strike="noStrike" kern="0" cap="none" spc="0" normalizeH="0" baseline="0" noProof="0" dirty="0">
                <a:ln>
                  <a:noFill/>
                </a:ln>
                <a:solidFill>
                  <a:srgbClr val="EA0000"/>
                </a:solidFill>
                <a:effectLst/>
                <a:uLnTx/>
                <a:uFillTx/>
                <a:latin typeface="+mn-lt"/>
                <a:ea typeface="+mn-ea"/>
                <a:cs typeface="+mn-cs"/>
              </a:rPr>
              <a:t>基本思想</a:t>
            </a:r>
            <a:endParaRPr kumimoji="0" lang="en-US" altLang="zh-CN" sz="2900" b="0" i="0" u="none" strike="noStrike" kern="0" cap="none" spc="0" normalizeH="0" baseline="0" noProof="0" dirty="0">
              <a:ln>
                <a:noFill/>
              </a:ln>
              <a:solidFill>
                <a:srgbClr val="EA0000"/>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rgbClr val="EA0000"/>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寻找中间元素，就是第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n/2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元素。因为多数元素，在排序的序列中一定是中间元素，可以扫描这个序列来测试中间元素是否确实是多数元素。由于中间元素可以在</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时间内找到，这个方法要花费</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看到在中项寻找算法的时间复杂性中隐藏的常数太大，并且算法是相当复杂的。</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p:txBody>
      </p:sp>
      <p:pic>
        <p:nvPicPr>
          <p:cNvPr id="148486" name="Picture 6" descr="question"/>
          <p:cNvPicPr>
            <a:picLocks noChangeAspect="1"/>
          </p:cNvPicPr>
          <p:nvPr/>
        </p:nvPicPr>
        <p:blipFill>
          <a:blip r:embed="rId1"/>
          <a:stretch>
            <a:fillRect/>
          </a:stretch>
        </p:blipFill>
        <p:spPr>
          <a:xfrm>
            <a:off x="971550" y="4797425"/>
            <a:ext cx="504825" cy="504825"/>
          </a:xfrm>
          <a:prstGeom prst="rect">
            <a:avLst/>
          </a:prstGeom>
          <a:noFill/>
          <a:ln w="9525">
            <a:noFill/>
          </a:ln>
        </p:spPr>
      </p:pic>
      <p:sp>
        <p:nvSpPr>
          <p:cNvPr id="148487" name="Text Box 7"/>
          <p:cNvSpPr txBox="1"/>
          <p:nvPr/>
        </p:nvSpPr>
        <p:spPr>
          <a:xfrm>
            <a:off x="1671638" y="4960938"/>
            <a:ext cx="5067300" cy="457200"/>
          </a:xfrm>
          <a:prstGeom prst="rect">
            <a:avLst/>
          </a:prstGeom>
          <a:noFill/>
          <a:ln w="9525">
            <a:noFill/>
          </a:ln>
        </p:spPr>
        <p:txBody>
          <a:bodyPr wrap="none" anchor="t" anchorCtr="0">
            <a:spAutoFit/>
          </a:bodyPr>
          <a:p>
            <a:pPr indent="0"/>
            <a:r>
              <a:rPr lang="en-US" altLang="zh-CN" sz="2400" b="1" dirty="0">
                <a:solidFill>
                  <a:srgbClr val="EA0000"/>
                </a:solidFill>
                <a:latin typeface="Times New Roman" panose="02020603050405020304" pitchFamily="18" charset="0"/>
                <a:ea typeface="宋体" panose="02010600030101010101" pitchFamily="2" charset="-122"/>
              </a:rPr>
              <a:t>Is there much more efficient method?</a:t>
            </a:r>
            <a:endParaRPr lang="en-US" altLang="zh-CN" sz="2400" b="1" dirty="0">
              <a:solidFill>
                <a:srgbClr val="EA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8483">
                                            <p:txEl>
                                              <p:charRg st="0" end="5"/>
                                            </p:txEl>
                                          </p:spTgt>
                                        </p:tgtEl>
                                        <p:attrNameLst>
                                          <p:attrName>style.visibility</p:attrName>
                                        </p:attrNameLst>
                                      </p:cBhvr>
                                      <p:to>
                                        <p:strVal val="visible"/>
                                      </p:to>
                                    </p:set>
                                    <p:anim calcmode="lin" valueType="num">
                                      <p:cBhvr>
                                        <p:cTn id="7" dur="500" fill="hold"/>
                                        <p:tgtEl>
                                          <p:spTgt spid="148483">
                                            <p:txEl>
                                              <p:charRg st="0" end="5"/>
                                            </p:txEl>
                                          </p:spTgt>
                                        </p:tgtEl>
                                        <p:attrNameLst>
                                          <p:attrName>ppt_w</p:attrName>
                                        </p:attrNameLst>
                                      </p:cBhvr>
                                      <p:tavLst>
                                        <p:tav tm="0">
                                          <p:val>
                                            <p:fltVal val="0.000000"/>
                                          </p:val>
                                        </p:tav>
                                        <p:tav tm="100000">
                                          <p:val>
                                            <p:strVal val="#ppt_w"/>
                                          </p:val>
                                        </p:tav>
                                      </p:tavLst>
                                    </p:anim>
                                    <p:anim calcmode="lin" valueType="num">
                                      <p:cBhvr>
                                        <p:cTn id="8" dur="500" fill="hold"/>
                                        <p:tgtEl>
                                          <p:spTgt spid="148483">
                                            <p:txEl>
                                              <p:charRg st="0" end="5"/>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48483">
                                            <p:txEl>
                                              <p:charRg st="6" end="105"/>
                                            </p:txEl>
                                          </p:spTgt>
                                        </p:tgtEl>
                                        <p:attrNameLst>
                                          <p:attrName>style.visibility</p:attrName>
                                        </p:attrNameLst>
                                      </p:cBhvr>
                                      <p:to>
                                        <p:strVal val="visible"/>
                                      </p:to>
                                    </p:set>
                                    <p:anim calcmode="lin" valueType="num">
                                      <p:cBhvr>
                                        <p:cTn id="13" dur="500" fill="hold"/>
                                        <p:tgtEl>
                                          <p:spTgt spid="148483">
                                            <p:txEl>
                                              <p:charRg st="6" end="105"/>
                                            </p:txEl>
                                          </p:spTgt>
                                        </p:tgtEl>
                                        <p:attrNameLst>
                                          <p:attrName>ppt_w</p:attrName>
                                        </p:attrNameLst>
                                      </p:cBhvr>
                                      <p:tavLst>
                                        <p:tav tm="0">
                                          <p:val>
                                            <p:fltVal val="0.000000"/>
                                          </p:val>
                                        </p:tav>
                                        <p:tav tm="100000">
                                          <p:val>
                                            <p:strVal val="#ppt_w"/>
                                          </p:val>
                                        </p:tav>
                                      </p:tavLst>
                                    </p:anim>
                                    <p:anim calcmode="lin" valueType="num">
                                      <p:cBhvr>
                                        <p:cTn id="14" dur="500" fill="hold"/>
                                        <p:tgtEl>
                                          <p:spTgt spid="148483">
                                            <p:txEl>
                                              <p:charRg st="6" end="105"/>
                                            </p:txEl>
                                          </p:spTgt>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48483">
                                            <p:txEl>
                                              <p:charRg st="106" end="142"/>
                                            </p:txEl>
                                          </p:spTgt>
                                        </p:tgtEl>
                                        <p:attrNameLst>
                                          <p:attrName>style.visibility</p:attrName>
                                        </p:attrNameLst>
                                      </p:cBhvr>
                                      <p:to>
                                        <p:strVal val="visible"/>
                                      </p:to>
                                    </p:set>
                                    <p:anim calcmode="lin" valueType="num">
                                      <p:cBhvr>
                                        <p:cTn id="19" dur="500" fill="hold"/>
                                        <p:tgtEl>
                                          <p:spTgt spid="148483">
                                            <p:txEl>
                                              <p:charRg st="106" end="142"/>
                                            </p:txEl>
                                          </p:spTgt>
                                        </p:tgtEl>
                                        <p:attrNameLst>
                                          <p:attrName>ppt_w</p:attrName>
                                        </p:attrNameLst>
                                      </p:cBhvr>
                                      <p:tavLst>
                                        <p:tav tm="0">
                                          <p:val>
                                            <p:fltVal val="0.000000"/>
                                          </p:val>
                                        </p:tav>
                                        <p:tav tm="100000">
                                          <p:val>
                                            <p:strVal val="#ppt_w"/>
                                          </p:val>
                                        </p:tav>
                                      </p:tavLst>
                                    </p:anim>
                                    <p:anim calcmode="lin" valueType="num">
                                      <p:cBhvr>
                                        <p:cTn id="20" dur="500" fill="hold"/>
                                        <p:tgtEl>
                                          <p:spTgt spid="148483">
                                            <p:txEl>
                                              <p:charRg st="106" end="142"/>
                                            </p:txEl>
                                          </p:spTgt>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nodeType="clickEffect">
                                  <p:stCondLst>
                                    <p:cond delay="0"/>
                                  </p:stCondLst>
                                  <p:childTnLst>
                                    <p:set>
                                      <p:cBhvr>
                                        <p:cTn id="24" dur="1" fill="hold">
                                          <p:stCondLst>
                                            <p:cond delay="0"/>
                                          </p:stCondLst>
                                        </p:cTn>
                                        <p:tgtEl>
                                          <p:spTgt spid="148486"/>
                                        </p:tgtEl>
                                        <p:attrNameLst>
                                          <p:attrName>style.visibility</p:attrName>
                                        </p:attrNameLst>
                                      </p:cBhvr>
                                      <p:to>
                                        <p:strVal val="visible"/>
                                      </p:to>
                                    </p:set>
                                    <p:anim calcmode="lin" valueType="num">
                                      <p:cBhvr>
                                        <p:cTn id="25" dur="5000" fill="hold"/>
                                        <p:tgtEl>
                                          <p:spTgt spid="148486"/>
                                        </p:tgtEl>
                                        <p:attrNameLst>
                                          <p:attrName>ppt_w</p:attrName>
                                        </p:attrNameLst>
                                      </p:cBhvr>
                                      <p:tavLst>
                                        <p:tav tm="0" fmla="#ppt_w*sin(2.5*pi*$)">
                                          <p:val>
                                            <p:fltVal val="0.000000"/>
                                          </p:val>
                                        </p:tav>
                                        <p:tav tm="100000">
                                          <p:val>
                                            <p:fltVal val="1.000000"/>
                                          </p:val>
                                        </p:tav>
                                      </p:tavLst>
                                    </p:anim>
                                    <p:anim calcmode="lin" valueType="num">
                                      <p:cBhvr>
                                        <p:cTn id="26" dur="5000" fill="hold"/>
                                        <p:tgtEl>
                                          <p:spTgt spid="14848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
                                            </p:cond>
                                          </p:stCondLst>
                                          <p:endCondLst>
                                            <p:cond evt="onStopAudio" delay="0">
                                              <p:tgtEl>
                                                <p:sldTgt/>
                                              </p:tgtEl>
                                            </p:cond>
                                          </p:endCondLst>
                                        </p:cTn>
                                        <p:tgtEl>
                                          <p:sndTgt r:embed="rId2" name="chimes.wav"/>
                                        </p:tgtEl>
                                      </p:cMediaNode>
                                    </p:audio>
                                  </p:sub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148487"/>
                                        </p:tgtEl>
                                        <p:attrNameLst>
                                          <p:attrName>style.visibility</p:attrName>
                                        </p:attrNameLst>
                                      </p:cBhvr>
                                      <p:to>
                                        <p:strVal val="visible"/>
                                      </p:to>
                                    </p:set>
                                    <p:anim calcmode="discrete" valueType="clr">
                                      <p:cBhvr override="childStyle">
                                        <p:cTn id="31" dur="80"/>
                                        <p:tgtEl>
                                          <p:spTgt spid="148487"/>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48487"/>
                                        </p:tgtEl>
                                        <p:attrNameLst>
                                          <p:attrName>fillcolor</p:attrName>
                                        </p:attrNameLst>
                                      </p:cBhvr>
                                      <p:tavLst>
                                        <p:tav tm="0">
                                          <p:val>
                                            <p:clrVal>
                                              <a:schemeClr val="accent2"/>
                                            </p:clrVal>
                                          </p:val>
                                        </p:tav>
                                        <p:tav tm="50000">
                                          <p:val>
                                            <p:clrVal>
                                              <a:schemeClr val="hlink"/>
                                            </p:clrVal>
                                          </p:val>
                                        </p:tav>
                                      </p:tavLst>
                                    </p:anim>
                                    <p:set>
                                      <p:cBhvr>
                                        <p:cTn id="33" dur="80"/>
                                        <p:tgtEl>
                                          <p:spTgt spid="148487"/>
                                        </p:tgtEl>
                                        <p:attrNameLst>
                                          <p:attrName>fill.type</p:attrName>
                                        </p:attrNameLst>
                                      </p:cBhvr>
                                      <p:to>
                                        <p:strVal val="solid"/>
                                      </p:to>
                                    </p:set>
                                  </p:childTnLst>
                                  <p:subTnLst>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01378" name="Rectangle 2"/>
          <p:cNvSpPr>
            <a:spLocks noGrp="1"/>
          </p:cNvSpPr>
          <p:nvPr>
            <p:ph type="title"/>
          </p:nvPr>
        </p:nvSpPr>
        <p:spPr/>
        <p:txBody>
          <a:bodyPr vert="horz" wrap="square" lIns="91440" tIns="45720" rIns="91440" bIns="45720" anchor="ctr" anchorCtr="0"/>
          <a:p>
            <a:pPr eaLnBrk="1" hangingPunct="1"/>
            <a:r>
              <a:rPr lang="zh-CN" altLang="en-US" dirty="0"/>
              <a:t>更有效算法</a:t>
            </a:r>
            <a:endParaRPr lang="en-US" altLang="zh-CN" dirty="0"/>
          </a:p>
        </p:txBody>
      </p:sp>
      <p:sp>
        <p:nvSpPr>
          <p:cNvPr id="14950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观察结论 </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2.</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11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rPr>
              <a:t>       </a:t>
            </a:r>
            <a:endParaRPr kumimoji="0" lang="en-US" altLang="zh-CN" sz="11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ea"/>
                <a:ea typeface="+mn-ea"/>
                <a:cs typeface="+mn-ea"/>
              </a:rPr>
              <a:t>在原序列中去除两个不同的元素后，那么在原序列中的多数元素在新序列中还是多数元素。</a:t>
            </a:r>
            <a:endParaRPr kumimoji="0" lang="en-US" altLang="zh-CN" sz="22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cs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这个观察结论支持下述寻找多数元素候选者的过程。</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p:txBody>
      </p:sp>
      <p:pic>
        <p:nvPicPr>
          <p:cNvPr id="149511" name="Picture 7" descr="observation1"/>
          <p:cNvPicPr>
            <a:picLocks noChangeAspect="1"/>
          </p:cNvPicPr>
          <p:nvPr/>
        </p:nvPicPr>
        <p:blipFill>
          <a:blip r:embed="rId1"/>
          <a:stretch>
            <a:fillRect/>
          </a:stretch>
        </p:blipFill>
        <p:spPr>
          <a:xfrm>
            <a:off x="971550" y="1341438"/>
            <a:ext cx="360363" cy="3603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49511"/>
                                        </p:tgtEl>
                                        <p:attrNameLst>
                                          <p:attrName>style.visibility</p:attrName>
                                        </p:attrNameLst>
                                      </p:cBhvr>
                                      <p:to>
                                        <p:strVal val="visible"/>
                                      </p:to>
                                    </p:set>
                                    <p:anim calcmode="lin" valueType="num">
                                      <p:cBhvr>
                                        <p:cTn id="7" dur="5000" fill="hold"/>
                                        <p:tgtEl>
                                          <p:spTgt spid="149511"/>
                                        </p:tgtEl>
                                        <p:attrNameLst>
                                          <p:attrName>ppt_w</p:attrName>
                                        </p:attrNameLst>
                                      </p:cBhvr>
                                      <p:tavLst>
                                        <p:tav tm="0" fmla="#ppt_w*sin(2.5*pi*$)">
                                          <p:val>
                                            <p:fltVal val="0.000000"/>
                                          </p:val>
                                        </p:tav>
                                        <p:tav tm="100000">
                                          <p:val>
                                            <p:fltVal val="1.000000"/>
                                          </p:val>
                                        </p:tav>
                                      </p:tavLst>
                                    </p:anim>
                                    <p:anim calcmode="lin" valueType="num">
                                      <p:cBhvr>
                                        <p:cTn id="8" dur="5000" fill="hold"/>
                                        <p:tgtEl>
                                          <p:spTgt spid="1495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breeze.wav"/>
                                        </p:tgtEl>
                                      </p:cMediaNode>
                                    </p:audio>
                                  </p:subTnLst>
                                </p:cTn>
                              </p:par>
                              <p:par>
                                <p:cTn id="9" presetID="3" presetClass="entr" presetSubtype="10" fill="hold" nodeType="withEffect">
                                  <p:stCondLst>
                                    <p:cond delay="0"/>
                                  </p:stCondLst>
                                  <p:childTnLst>
                                    <p:set>
                                      <p:cBhvr>
                                        <p:cTn id="10" dur="1" fill="hold">
                                          <p:stCondLst>
                                            <p:cond delay="0"/>
                                          </p:stCondLst>
                                        </p:cTn>
                                        <p:tgtEl>
                                          <p:spTgt spid="149507">
                                            <p:txEl>
                                              <p:charRg st="0" end="14"/>
                                            </p:txEl>
                                          </p:spTgt>
                                        </p:tgtEl>
                                        <p:attrNameLst>
                                          <p:attrName>style.visibility</p:attrName>
                                        </p:attrNameLst>
                                      </p:cBhvr>
                                      <p:to>
                                        <p:strVal val="visible"/>
                                      </p:to>
                                    </p:set>
                                    <p:animEffect transition="in" filter="blinds(horizontal)">
                                      <p:cBhvr>
                                        <p:cTn id="11" dur="500"/>
                                        <p:tgtEl>
                                          <p:spTgt spid="149507">
                                            <p:txEl>
                                              <p:charRg st="0" end="1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nodeType="clickEffect">
                                  <p:stCondLst>
                                    <p:cond delay="0"/>
                                  </p:stCondLst>
                                  <p:childTnLst>
                                    <p:set>
                                      <p:cBhvr>
                                        <p:cTn id="15" dur="1" fill="hold">
                                          <p:stCondLst>
                                            <p:cond delay="0"/>
                                          </p:stCondLst>
                                        </p:cTn>
                                        <p:tgtEl>
                                          <p:spTgt spid="149507">
                                            <p:txEl>
                                              <p:charRg st="22" end="63"/>
                                            </p:txEl>
                                          </p:spTgt>
                                        </p:tgtEl>
                                        <p:attrNameLst>
                                          <p:attrName>style.visibility</p:attrName>
                                        </p:attrNameLst>
                                      </p:cBhvr>
                                      <p:to>
                                        <p:strVal val="visible"/>
                                      </p:to>
                                    </p:set>
                                    <p:anim calcmode="lin" valueType="num">
                                      <p:cBhvr>
                                        <p:cTn id="16" dur="500" fill="hold"/>
                                        <p:tgtEl>
                                          <p:spTgt spid="149507">
                                            <p:txEl>
                                              <p:charRg st="22" end="63"/>
                                            </p:txEl>
                                          </p:spTgt>
                                        </p:tgtEl>
                                        <p:attrNameLst>
                                          <p:attrName>ppt_w</p:attrName>
                                        </p:attrNameLst>
                                      </p:cBhvr>
                                      <p:tavLst>
                                        <p:tav tm="0">
                                          <p:val>
                                            <p:fltVal val="0.000000"/>
                                          </p:val>
                                        </p:tav>
                                        <p:tav tm="100000">
                                          <p:val>
                                            <p:strVal val="#ppt_w"/>
                                          </p:val>
                                        </p:tav>
                                      </p:tavLst>
                                    </p:anim>
                                    <p:anim calcmode="lin" valueType="num">
                                      <p:cBhvr>
                                        <p:cTn id="17" dur="500" fill="hold"/>
                                        <p:tgtEl>
                                          <p:spTgt spid="149507">
                                            <p:txEl>
                                              <p:charRg st="22" end="63"/>
                                            </p:txEl>
                                          </p:spTgt>
                                        </p:tgtEl>
                                        <p:attrNameLst>
                                          <p:attrName>ppt_h</p:attrName>
                                        </p:attrNameLst>
                                      </p:cBhvr>
                                      <p:tavLst>
                                        <p:tav tm="0">
                                          <p:val>
                                            <p:fltVal val="0.00000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9507">
                                            <p:txEl>
                                              <p:charRg st="64" end="88"/>
                                            </p:txEl>
                                          </p:spTgt>
                                        </p:tgtEl>
                                        <p:attrNameLst>
                                          <p:attrName>style.visibility</p:attrName>
                                        </p:attrNameLst>
                                      </p:cBhvr>
                                      <p:to>
                                        <p:strVal val="visible"/>
                                      </p:to>
                                    </p:set>
                                    <p:animEffect transition="in" filter="blinds(horizontal)">
                                      <p:cBhvr>
                                        <p:cTn id="22" dur="500"/>
                                        <p:tgtEl>
                                          <p:spTgt spid="149507">
                                            <p:txEl>
                                              <p:charRg st="64" end="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03426" name="Rectangle 2"/>
          <p:cNvSpPr>
            <a:spLocks noGrp="1"/>
          </p:cNvSpPr>
          <p:nvPr>
            <p:ph type="title"/>
          </p:nvPr>
        </p:nvSpPr>
        <p:spPr/>
        <p:txBody>
          <a:bodyPr vert="horz" wrap="square" lIns="91440" tIns="45720" rIns="91440" bIns="45720" anchor="ctr" anchorCtr="0"/>
          <a:p>
            <a:pPr eaLnBrk="1" hangingPunct="1"/>
            <a:r>
              <a:rPr lang="zh-CN" altLang="en-US" dirty="0"/>
              <a:t>基本思想</a:t>
            </a:r>
            <a:endParaRPr lang="en-US" altLang="zh-CN" dirty="0"/>
          </a:p>
        </p:txBody>
      </p:sp>
      <p:sp>
        <p:nvSpPr>
          <p:cNvPr id="231427"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将计数器置</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，并令</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c=A[1]</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从</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开始，逐个地扫描元素，如果被扫描的元素和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c</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相等，则计数器加</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；如果元素不等于</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c</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，则计数器减</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如果所有的元素都已经扫描完毕并且计数器大于</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，那么返回。作为多数元素的候选者。</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如果在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c</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A[j](1&lt;j&lt;n)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比较时计数器为</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0</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，那么对于</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A[j+1..n]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上的元素递归调用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candidate</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过程。</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注意减少计数器就是观察结论</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中所述去除两个不同元素的思想的实现。</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1427">
                                            <p:txEl>
                                              <p:charRg st="0" end="16"/>
                                            </p:txEl>
                                          </p:spTgt>
                                        </p:tgtEl>
                                        <p:attrNameLst>
                                          <p:attrName>style.visibility</p:attrName>
                                        </p:attrNameLst>
                                      </p:cBhvr>
                                      <p:to>
                                        <p:strVal val="visible"/>
                                      </p:to>
                                    </p:set>
                                    <p:animEffect transition="in" filter="dissolve">
                                      <p:cBhvr>
                                        <p:cTn id="7" dur="500"/>
                                        <p:tgtEl>
                                          <p:spTgt spid="231427">
                                            <p:txEl>
                                              <p:charRg st="0" end="16"/>
                                            </p:txEl>
                                          </p:spTgt>
                                        </p:tgtEl>
                                      </p:cBhvr>
                                    </p:animEffect>
                                  </p:childTnLst>
                                  <p:subTnLst>
                                    <p:animClr clrSpc="rgb" dir="cw">
                                      <p:cBhvr override="childStyle">
                                        <p:cTn dur="1" fill="hold" display="0" masterRel="nextClick" afterEffect="1"/>
                                        <p:tgtEl>
                                          <p:spTgt spid="231427">
                                            <p:txEl>
                                              <p:charRg st="0" end="16"/>
                                            </p:txEl>
                                          </p:spTgt>
                                        </p:tgtEl>
                                        <p:attrNameLst>
                                          <p:attrName>ppt_c</p:attrName>
                                        </p:attrNameLst>
                                      </p:cBhvr>
                                      <p:to>
                                        <a:srgbClr val="EA0000"/>
                                      </p:to>
                                    </p:animClr>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1427">
                                            <p:txEl>
                                              <p:charRg st="16" end="69"/>
                                            </p:txEl>
                                          </p:spTgt>
                                        </p:tgtEl>
                                        <p:attrNameLst>
                                          <p:attrName>style.visibility</p:attrName>
                                        </p:attrNameLst>
                                      </p:cBhvr>
                                      <p:to>
                                        <p:strVal val="visible"/>
                                      </p:to>
                                    </p:set>
                                    <p:animEffect transition="in" filter="dissolve">
                                      <p:cBhvr>
                                        <p:cTn id="12" dur="500"/>
                                        <p:tgtEl>
                                          <p:spTgt spid="231427">
                                            <p:txEl>
                                              <p:charRg st="16" end="69"/>
                                            </p:txEl>
                                          </p:spTgt>
                                        </p:tgtEl>
                                      </p:cBhvr>
                                    </p:animEffect>
                                  </p:childTnLst>
                                  <p:subTnLst>
                                    <p:animClr clrSpc="rgb" dir="cw">
                                      <p:cBhvr override="childStyle">
                                        <p:cTn dur="1" fill="hold" display="0" masterRel="nextClick" afterEffect="1"/>
                                        <p:tgtEl>
                                          <p:spTgt spid="231427">
                                            <p:txEl>
                                              <p:charRg st="16" end="69"/>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31427">
                                            <p:txEl>
                                              <p:charRg st="70" end="110"/>
                                            </p:txEl>
                                          </p:spTgt>
                                        </p:tgtEl>
                                        <p:attrNameLst>
                                          <p:attrName>style.visibility</p:attrName>
                                        </p:attrNameLst>
                                      </p:cBhvr>
                                      <p:to>
                                        <p:strVal val="visible"/>
                                      </p:to>
                                    </p:set>
                                    <p:animEffect transition="in" filter="dissolve">
                                      <p:cBhvr>
                                        <p:cTn id="17" dur="500"/>
                                        <p:tgtEl>
                                          <p:spTgt spid="231427">
                                            <p:txEl>
                                              <p:charRg st="70" end="110"/>
                                            </p:txEl>
                                          </p:spTgt>
                                        </p:tgtEl>
                                      </p:cBhvr>
                                    </p:animEffect>
                                  </p:childTnLst>
                                  <p:subTnLst>
                                    <p:animClr clrSpc="rgb" dir="cw">
                                      <p:cBhvr override="childStyle">
                                        <p:cTn dur="1" fill="hold" display="0" masterRel="nextClick" afterEffect="1"/>
                                        <p:tgtEl>
                                          <p:spTgt spid="231427">
                                            <p:txEl>
                                              <p:charRg st="70" end="110"/>
                                            </p:txEl>
                                          </p:spTgt>
                                        </p:tgtEl>
                                        <p:attrNameLst>
                                          <p:attrName>ppt_c</p:attrName>
                                        </p:attrNameLst>
                                      </p:cBhvr>
                                      <p:to>
                                        <a:schemeClr val="bg2"/>
                                      </p:to>
                                    </p:animClr>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31427">
                                            <p:txEl>
                                              <p:charRg st="111" end="170"/>
                                            </p:txEl>
                                          </p:spTgt>
                                        </p:tgtEl>
                                        <p:attrNameLst>
                                          <p:attrName>style.visibility</p:attrName>
                                        </p:attrNameLst>
                                      </p:cBhvr>
                                      <p:to>
                                        <p:strVal val="visible"/>
                                      </p:to>
                                    </p:set>
                                    <p:animEffect transition="in" filter="dissolve">
                                      <p:cBhvr>
                                        <p:cTn id="22" dur="500"/>
                                        <p:tgtEl>
                                          <p:spTgt spid="231427">
                                            <p:txEl>
                                              <p:charRg st="111" end="170"/>
                                            </p:txEl>
                                          </p:spTgt>
                                        </p:tgtEl>
                                      </p:cBhvr>
                                    </p:animEffect>
                                  </p:childTnLst>
                                  <p:subTnLst>
                                    <p:animClr clrSpc="rgb" dir="cw">
                                      <p:cBhvr override="childStyle">
                                        <p:cTn dur="1" fill="hold" display="0" masterRel="nextClick" afterEffect="1"/>
                                        <p:tgtEl>
                                          <p:spTgt spid="231427">
                                            <p:txEl>
                                              <p:charRg st="111" end="170"/>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31427">
                                            <p:txEl>
                                              <p:charRg st="171" end="206"/>
                                            </p:txEl>
                                          </p:spTgt>
                                        </p:tgtEl>
                                        <p:attrNameLst>
                                          <p:attrName>style.visibility</p:attrName>
                                        </p:attrNameLst>
                                      </p:cBhvr>
                                      <p:to>
                                        <p:strVal val="visible"/>
                                      </p:to>
                                    </p:set>
                                    <p:animEffect transition="in" filter="dissolve">
                                      <p:cBhvr>
                                        <p:cTn id="27" dur="500"/>
                                        <p:tgtEl>
                                          <p:spTgt spid="231427">
                                            <p:txEl>
                                              <p:charRg st="171" end="206"/>
                                            </p:txEl>
                                          </p:spTgt>
                                        </p:tgtEl>
                                      </p:cBhvr>
                                    </p:animEffect>
                                  </p:childTnLst>
                                  <p:subTnLst>
                                    <p:animClr clrSpc="rgb" dir="cw">
                                      <p:cBhvr override="childStyle">
                                        <p:cTn dur="1" fill="hold" display="0" masterRel="nextClick" afterEffect="1"/>
                                        <p:tgtEl>
                                          <p:spTgt spid="231427">
                                            <p:txEl>
                                              <p:charRg st="171" end="20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页脚占位符 4"/>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51555" name="Rectangle 3"/>
          <p:cNvSpPr>
            <a:spLocks noGrp="1"/>
          </p:cNvSpPr>
          <p:nvPr>
            <p:ph sz="half" idx="1"/>
          </p:nvPr>
        </p:nvSpPr>
        <p:spPr>
          <a:xfrm>
            <a:off x="900113" y="188913"/>
            <a:ext cx="7343775" cy="3382962"/>
          </a:xfrm>
          <a:solidFill>
            <a:schemeClr val="bg1"/>
          </a:solidFill>
        </p:spPr>
        <p:txBody>
          <a:bodyPr vert="horz" wrap="square" lIns="91440" tIns="45720" rIns="91440" bIns="45720" anchor="t" anchorCtr="0"/>
          <a:p>
            <a:pPr eaLnBrk="1" hangingPunct="1">
              <a:lnSpc>
                <a:spcPct val="90000"/>
              </a:lnSpc>
              <a:buClrTx/>
              <a:buSzTx/>
              <a:buFontTx/>
              <a:buNone/>
            </a:pPr>
            <a:r>
              <a:rPr lang="zh-CN" altLang="en-US" sz="2100" b="1" dirty="0">
                <a:latin typeface="+mn-lt"/>
                <a:ea typeface="+mn-ea"/>
                <a:cs typeface="+mn-cs"/>
              </a:rPr>
              <a:t>算法</a:t>
            </a:r>
            <a:r>
              <a:rPr lang="en-US" altLang="zh-CN" sz="2100" b="1" dirty="0">
                <a:latin typeface="+mn-lt"/>
                <a:ea typeface="+mn-ea"/>
                <a:cs typeface="+mn-cs"/>
              </a:rPr>
              <a:t>2.3.5</a:t>
            </a:r>
            <a:r>
              <a:rPr lang="en-US" altLang="zh-CN" sz="2100" b="1" dirty="0">
                <a:latin typeface="+mn-lt"/>
                <a:ea typeface="+mn-ea"/>
                <a:cs typeface="+mn-cs"/>
              </a:rPr>
              <a:t> MAJORITY</a:t>
            </a:r>
            <a:endParaRPr lang="en-US" altLang="zh-CN" sz="2100" b="1" dirty="0">
              <a:latin typeface="+mn-lt"/>
              <a:ea typeface="+mn-ea"/>
              <a:cs typeface="+mn-cs"/>
            </a:endParaRPr>
          </a:p>
          <a:p>
            <a:pPr lvl="1" eaLnBrk="1" hangingPunct="1">
              <a:lnSpc>
                <a:spcPct val="90000"/>
              </a:lnSpc>
              <a:buNone/>
            </a:pPr>
            <a:r>
              <a:rPr lang="en-US" altLang="zh-CN" sz="2000" b="1" dirty="0">
                <a:latin typeface="Arial" panose="020B0604020202020204" pitchFamily="34" charset="0"/>
                <a:ea typeface="华文行楷" panose="02010800040101010101" pitchFamily="2" charset="-122"/>
              </a:rPr>
              <a:t>Input</a:t>
            </a:r>
            <a:r>
              <a:rPr lang="en-US" altLang="zh-CN" sz="2000" dirty="0">
                <a:latin typeface="Arial" panose="020B0604020202020204" pitchFamily="34" charset="0"/>
                <a:ea typeface="华文行楷" panose="02010800040101010101" pitchFamily="2" charset="-122"/>
              </a:rPr>
              <a:t>: n</a:t>
            </a:r>
            <a:r>
              <a:rPr lang="zh-CN" altLang="en-US" sz="2000" dirty="0">
                <a:latin typeface="Arial" panose="020B0604020202020204" pitchFamily="34" charset="0"/>
                <a:ea typeface="华文行楷" panose="02010800040101010101" pitchFamily="2" charset="-122"/>
              </a:rPr>
              <a:t>个元素的数组</a:t>
            </a:r>
            <a:r>
              <a:rPr lang="en-US" altLang="zh-CN" sz="2000" dirty="0">
                <a:latin typeface="Arial" panose="020B0604020202020204" pitchFamily="34" charset="0"/>
                <a:ea typeface="华文行楷" panose="02010800040101010101" pitchFamily="2" charset="-122"/>
              </a:rPr>
              <a:t>A </a:t>
            </a:r>
            <a:r>
              <a:rPr lang="en-US" altLang="zh-CN" sz="2000" i="1" dirty="0">
                <a:latin typeface="Garamond" panose="02020404030301010803" pitchFamily="18" charset="0"/>
                <a:ea typeface="华文行楷" panose="02010800040101010101" pitchFamily="2" charset="-122"/>
              </a:rPr>
              <a:t>A[1..n]</a:t>
            </a:r>
            <a:endParaRPr lang="en-US" altLang="zh-CN" sz="2000" dirty="0">
              <a:latin typeface="Arial" panose="020B0604020202020204" pitchFamily="34" charset="0"/>
              <a:ea typeface="华文行楷" panose="02010800040101010101" pitchFamily="2" charset="-122"/>
            </a:endParaRPr>
          </a:p>
          <a:p>
            <a:pPr lvl="1" eaLnBrk="1" hangingPunct="1">
              <a:lnSpc>
                <a:spcPct val="90000"/>
              </a:lnSpc>
              <a:buNone/>
            </a:pPr>
            <a:r>
              <a:rPr lang="en-US" altLang="zh-CN" sz="2000" b="1" dirty="0">
                <a:latin typeface="Arial" panose="020B0604020202020204" pitchFamily="34" charset="0"/>
                <a:ea typeface="华文行楷" panose="02010800040101010101" pitchFamily="2" charset="-122"/>
              </a:rPr>
              <a:t>Output</a:t>
            </a:r>
            <a:r>
              <a:rPr lang="en-US" altLang="zh-CN" sz="2000" dirty="0">
                <a:latin typeface="Arial" panose="020B0604020202020204" pitchFamily="34" charset="0"/>
                <a:ea typeface="华文行楷" panose="02010800040101010101" pitchFamily="2" charset="-122"/>
              </a:rPr>
              <a:t>: </a:t>
            </a:r>
            <a:r>
              <a:rPr lang="zh-CN" altLang="en-US" sz="2000" dirty="0">
                <a:latin typeface="Arial" panose="020B0604020202020204" pitchFamily="34" charset="0"/>
                <a:ea typeface="华文行楷" panose="02010800040101010101" pitchFamily="2" charset="-122"/>
              </a:rPr>
              <a:t>若存在则输出多数元素，</a:t>
            </a:r>
            <a:r>
              <a:rPr lang="en-US" altLang="zh-CN" sz="2000" dirty="0">
                <a:latin typeface="Arial" panose="020B0604020202020204" pitchFamily="34" charset="0"/>
                <a:ea typeface="华文行楷" panose="02010800040101010101" pitchFamily="2" charset="-122"/>
              </a:rPr>
              <a:t>;</a:t>
            </a:r>
            <a:r>
              <a:rPr lang="zh-CN" altLang="en-US" sz="2000" dirty="0">
                <a:latin typeface="Arial" panose="020B0604020202020204" pitchFamily="34" charset="0"/>
                <a:ea typeface="华文行楷" panose="02010800040101010101" pitchFamily="2" charset="-122"/>
              </a:rPr>
              <a:t>否则输出</a:t>
            </a:r>
            <a:r>
              <a:rPr lang="en-US" altLang="zh-CN" sz="2000" dirty="0">
                <a:latin typeface="Arial" panose="020B0604020202020204" pitchFamily="34" charset="0"/>
                <a:ea typeface="华文行楷" panose="02010800040101010101" pitchFamily="2" charset="-122"/>
              </a:rPr>
              <a:t>none</a:t>
            </a:r>
            <a:r>
              <a:rPr lang="zh-CN" altLang="en-US" sz="2000" dirty="0">
                <a:latin typeface="Arial" panose="020B0604020202020204" pitchFamily="34" charset="0"/>
                <a:ea typeface="华文行楷" panose="02010800040101010101" pitchFamily="2" charset="-122"/>
              </a:rPr>
              <a:t>。</a:t>
            </a:r>
            <a:endParaRPr lang="en-US" altLang="zh-CN" sz="2000" dirty="0">
              <a:latin typeface="Arial" panose="020B0604020202020204" pitchFamily="34" charset="0"/>
              <a:ea typeface="华文行楷" panose="02010800040101010101" pitchFamily="2" charset="-12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rPr>
              <a:t>    1. c</a:t>
            </a:r>
            <a:r>
              <a:rPr lang="en-US" altLang="zh-CN" sz="2000" dirty="0">
                <a:latin typeface="Arial" panose="020B0604020202020204" pitchFamily="34" charset="0"/>
                <a:ea typeface="华文行楷" panose="02010800040101010101" pitchFamily="2" charset="-122"/>
                <a:sym typeface="Wingdings" panose="05000000000000000000" pitchFamily="2" charset="2"/>
              </a:rPr>
              <a:t>candidate(1)  //</a:t>
            </a:r>
            <a:r>
              <a:rPr lang="zh-CN" altLang="en-US" sz="2000" dirty="0">
                <a:latin typeface="Arial" panose="020B0604020202020204" pitchFamily="34" charset="0"/>
                <a:ea typeface="华文行楷" panose="02010800040101010101" pitchFamily="2" charset="-122"/>
                <a:sym typeface="Wingdings" panose="05000000000000000000" pitchFamily="2" charset="2"/>
              </a:rPr>
              <a:t>获取候选者</a:t>
            </a:r>
            <a:endParaRPr lang="en-US" altLang="zh-CN" sz="2000" dirty="0">
              <a:latin typeface="Arial" panose="020B0604020202020204" pitchFamily="34" charset="0"/>
              <a:ea typeface="华文行楷" panose="02010800040101010101" pitchFamily="2" charset="-122"/>
              <a:sym typeface="Wingdings" panose="05000000000000000000" pitchFamily="2" charset="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sym typeface="Wingdings" panose="05000000000000000000" pitchFamily="2" charset="2"/>
              </a:rPr>
              <a:t>    2. </a:t>
            </a:r>
            <a:r>
              <a:rPr lang="en-US" altLang="zh-CN" sz="2000" i="1" dirty="0">
                <a:latin typeface="Arial" panose="020B0604020202020204" pitchFamily="34" charset="0"/>
                <a:ea typeface="华文行楷" panose="02010800040101010101" pitchFamily="2" charset="-122"/>
                <a:sym typeface="Wingdings" panose="05000000000000000000" pitchFamily="2" charset="2"/>
              </a:rPr>
              <a:t>count</a:t>
            </a:r>
            <a:r>
              <a:rPr lang="en-US" altLang="zh-CN" sz="2000" dirty="0">
                <a:latin typeface="Arial" panose="020B0604020202020204" pitchFamily="34" charset="0"/>
                <a:ea typeface="华文行楷" panose="02010800040101010101" pitchFamily="2" charset="-122"/>
                <a:sym typeface="Wingdings" panose="05000000000000000000" pitchFamily="2" charset="2"/>
              </a:rPr>
              <a:t>0</a:t>
            </a:r>
            <a:endParaRPr lang="en-US" altLang="zh-CN" sz="2000" dirty="0">
              <a:latin typeface="Arial" panose="020B0604020202020204" pitchFamily="34" charset="0"/>
              <a:ea typeface="华文行楷" panose="02010800040101010101" pitchFamily="2" charset="-122"/>
              <a:sym typeface="Wingdings" panose="05000000000000000000" pitchFamily="2" charset="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sym typeface="Wingdings" panose="05000000000000000000" pitchFamily="2" charset="2"/>
              </a:rPr>
              <a:t>    3</a:t>
            </a:r>
            <a:r>
              <a:rPr lang="en-US" altLang="zh-CN" sz="2000" b="1" dirty="0">
                <a:latin typeface="Arial" panose="020B0604020202020204" pitchFamily="34" charset="0"/>
                <a:ea typeface="华文行楷" panose="02010800040101010101" pitchFamily="2" charset="-122"/>
                <a:sym typeface="Wingdings" panose="05000000000000000000" pitchFamily="2" charset="2"/>
              </a:rPr>
              <a:t>. for</a:t>
            </a:r>
            <a:r>
              <a:rPr lang="en-US" altLang="zh-CN" sz="2000" dirty="0">
                <a:latin typeface="Arial" panose="020B0604020202020204" pitchFamily="34" charset="0"/>
                <a:ea typeface="华文行楷" panose="02010800040101010101" pitchFamily="2" charset="-122"/>
                <a:sym typeface="Wingdings" panose="05000000000000000000" pitchFamily="2" charset="2"/>
              </a:rPr>
              <a:t> </a:t>
            </a:r>
            <a:r>
              <a:rPr lang="en-US" altLang="zh-CN" sz="2000" i="1" dirty="0">
                <a:latin typeface="Arial" panose="020B0604020202020204" pitchFamily="34" charset="0"/>
                <a:ea typeface="华文行楷" panose="02010800040101010101" pitchFamily="2" charset="-122"/>
                <a:sym typeface="Wingdings" panose="05000000000000000000" pitchFamily="2" charset="2"/>
              </a:rPr>
              <a:t>j1</a:t>
            </a:r>
            <a:r>
              <a:rPr lang="en-US" altLang="zh-CN" sz="2000" dirty="0">
                <a:latin typeface="Arial" panose="020B0604020202020204" pitchFamily="34" charset="0"/>
                <a:ea typeface="华文行楷" panose="02010800040101010101" pitchFamily="2" charset="-122"/>
                <a:sym typeface="Wingdings" panose="05000000000000000000" pitchFamily="2" charset="2"/>
              </a:rPr>
              <a:t> </a:t>
            </a:r>
            <a:r>
              <a:rPr lang="en-US" altLang="zh-CN" sz="2000" b="1" dirty="0">
                <a:latin typeface="Arial" panose="020B0604020202020204" pitchFamily="34" charset="0"/>
                <a:ea typeface="华文行楷" panose="02010800040101010101" pitchFamily="2" charset="-122"/>
                <a:sym typeface="Wingdings" panose="05000000000000000000" pitchFamily="2" charset="2"/>
              </a:rPr>
              <a:t>to</a:t>
            </a:r>
            <a:r>
              <a:rPr lang="en-US" altLang="zh-CN" sz="2000" dirty="0">
                <a:latin typeface="Arial" panose="020B0604020202020204" pitchFamily="34" charset="0"/>
                <a:ea typeface="华文行楷" panose="02010800040101010101" pitchFamily="2" charset="-122"/>
                <a:sym typeface="Wingdings" panose="05000000000000000000" pitchFamily="2" charset="2"/>
              </a:rPr>
              <a:t> </a:t>
            </a:r>
            <a:r>
              <a:rPr lang="en-US" altLang="zh-CN" sz="2000" i="1" dirty="0">
                <a:latin typeface="Arial" panose="020B0604020202020204" pitchFamily="34" charset="0"/>
                <a:ea typeface="华文行楷" panose="02010800040101010101" pitchFamily="2" charset="-122"/>
                <a:sym typeface="Wingdings" panose="05000000000000000000" pitchFamily="2" charset="2"/>
              </a:rPr>
              <a:t>n</a:t>
            </a:r>
            <a:endParaRPr lang="en-US" altLang="zh-CN" sz="2000" i="1" dirty="0">
              <a:latin typeface="Arial" panose="020B0604020202020204" pitchFamily="34" charset="0"/>
              <a:ea typeface="华文行楷" panose="02010800040101010101" pitchFamily="2" charset="-122"/>
              <a:sym typeface="Wingdings" panose="05000000000000000000" pitchFamily="2" charset="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sym typeface="Wingdings" panose="05000000000000000000" pitchFamily="2" charset="2"/>
              </a:rPr>
              <a:t>    4.    </a:t>
            </a:r>
            <a:r>
              <a:rPr lang="en-US" altLang="zh-CN" sz="2000" b="1" dirty="0">
                <a:latin typeface="Arial" panose="020B0604020202020204" pitchFamily="34" charset="0"/>
                <a:ea typeface="华文行楷" panose="02010800040101010101" pitchFamily="2" charset="-122"/>
                <a:sym typeface="Wingdings" panose="05000000000000000000" pitchFamily="2" charset="2"/>
              </a:rPr>
              <a:t>if </a:t>
            </a:r>
            <a:r>
              <a:rPr lang="en-US" altLang="zh-CN" sz="2000" i="1" dirty="0">
                <a:latin typeface="Arial" panose="020B0604020202020204" pitchFamily="34" charset="0"/>
                <a:ea typeface="华文行楷" panose="02010800040101010101" pitchFamily="2" charset="-122"/>
                <a:sym typeface="Wingdings" panose="05000000000000000000" pitchFamily="2" charset="2"/>
              </a:rPr>
              <a:t>A[j]=c</a:t>
            </a:r>
            <a:r>
              <a:rPr lang="en-US" altLang="zh-CN" sz="2000" dirty="0">
                <a:latin typeface="Arial" panose="020B0604020202020204" pitchFamily="34" charset="0"/>
                <a:ea typeface="华文行楷" panose="02010800040101010101" pitchFamily="2" charset="-122"/>
                <a:sym typeface="Wingdings" panose="05000000000000000000" pitchFamily="2" charset="2"/>
              </a:rPr>
              <a:t> </a:t>
            </a:r>
            <a:r>
              <a:rPr lang="en-US" altLang="zh-CN" sz="2000" b="1" dirty="0">
                <a:latin typeface="Arial" panose="020B0604020202020204" pitchFamily="34" charset="0"/>
                <a:ea typeface="华文行楷" panose="02010800040101010101" pitchFamily="2" charset="-122"/>
                <a:sym typeface="Wingdings" panose="05000000000000000000" pitchFamily="2" charset="2"/>
              </a:rPr>
              <a:t>then</a:t>
            </a:r>
            <a:r>
              <a:rPr lang="en-US" altLang="zh-CN" sz="2000" dirty="0">
                <a:latin typeface="Arial" panose="020B0604020202020204" pitchFamily="34" charset="0"/>
                <a:ea typeface="华文行楷" panose="02010800040101010101" pitchFamily="2" charset="-122"/>
                <a:sym typeface="Wingdings" panose="05000000000000000000" pitchFamily="2" charset="2"/>
              </a:rPr>
              <a:t> </a:t>
            </a:r>
            <a:r>
              <a:rPr lang="en-US" altLang="zh-CN" sz="2000" i="1" dirty="0">
                <a:latin typeface="Arial" panose="020B0604020202020204" pitchFamily="34" charset="0"/>
                <a:ea typeface="华文行楷" panose="02010800040101010101" pitchFamily="2" charset="-122"/>
                <a:sym typeface="Wingdings" panose="05000000000000000000" pitchFamily="2" charset="2"/>
              </a:rPr>
              <a:t>countcount+1  //</a:t>
            </a:r>
            <a:r>
              <a:rPr lang="zh-CN" altLang="en-US" sz="2000" dirty="0">
                <a:latin typeface="Arial" panose="020B0604020202020204" pitchFamily="34" charset="0"/>
                <a:ea typeface="华文行楷" panose="02010800040101010101" pitchFamily="2" charset="-122"/>
                <a:sym typeface="Wingdings" panose="05000000000000000000" pitchFamily="2" charset="2"/>
              </a:rPr>
              <a:t>候选者进行计数</a:t>
            </a:r>
            <a:endParaRPr lang="en-US" altLang="zh-CN" sz="2000" dirty="0">
              <a:latin typeface="Arial" panose="020B0604020202020204" pitchFamily="34" charset="0"/>
              <a:ea typeface="华文行楷" panose="02010800040101010101" pitchFamily="2" charset="-122"/>
              <a:sym typeface="Wingdings" panose="05000000000000000000" pitchFamily="2" charset="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sym typeface="Wingdings" panose="05000000000000000000" pitchFamily="2" charset="2"/>
              </a:rPr>
              <a:t>    2. </a:t>
            </a:r>
            <a:r>
              <a:rPr lang="en-US" altLang="zh-CN" sz="2000" b="1" dirty="0">
                <a:latin typeface="Arial" panose="020B0604020202020204" pitchFamily="34" charset="0"/>
                <a:ea typeface="华文行楷" panose="02010800040101010101" pitchFamily="2" charset="-122"/>
                <a:sym typeface="Wingdings" panose="05000000000000000000" pitchFamily="2" charset="2"/>
              </a:rPr>
              <a:t>end for</a:t>
            </a:r>
            <a:endParaRPr lang="en-US" altLang="zh-CN" sz="2000" b="1" dirty="0">
              <a:latin typeface="Arial" panose="020B0604020202020204" pitchFamily="34" charset="0"/>
              <a:ea typeface="华文行楷" panose="02010800040101010101" pitchFamily="2" charset="-122"/>
              <a:sym typeface="Wingdings" panose="05000000000000000000" pitchFamily="2" charset="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sym typeface="Wingdings" panose="05000000000000000000" pitchFamily="2" charset="2"/>
              </a:rPr>
              <a:t>    6. </a:t>
            </a:r>
            <a:r>
              <a:rPr lang="en-US" altLang="zh-CN" sz="2000" b="1" dirty="0">
                <a:latin typeface="Arial" panose="020B0604020202020204" pitchFamily="34" charset="0"/>
                <a:ea typeface="华文行楷" panose="02010800040101010101" pitchFamily="2" charset="-122"/>
                <a:sym typeface="Wingdings" panose="05000000000000000000" pitchFamily="2" charset="2"/>
              </a:rPr>
              <a:t>if</a:t>
            </a:r>
            <a:r>
              <a:rPr lang="en-US" altLang="zh-CN" sz="2000" dirty="0">
                <a:latin typeface="Arial" panose="020B0604020202020204" pitchFamily="34" charset="0"/>
                <a:ea typeface="华文行楷" panose="02010800040101010101" pitchFamily="2" charset="-122"/>
                <a:sym typeface="Wingdings" panose="05000000000000000000" pitchFamily="2" charset="2"/>
              </a:rPr>
              <a:t> </a:t>
            </a:r>
            <a:r>
              <a:rPr lang="en-US" altLang="zh-CN" sz="2000" i="1" dirty="0">
                <a:latin typeface="Arial" panose="020B0604020202020204" pitchFamily="34" charset="0"/>
                <a:ea typeface="华文行楷" panose="02010800040101010101" pitchFamily="2" charset="-122"/>
                <a:sym typeface="Wingdings" panose="05000000000000000000" pitchFamily="2" charset="2"/>
              </a:rPr>
              <a:t>count&gt; </a:t>
            </a:r>
            <a:r>
              <a:rPr lang="en-US" altLang="zh-CN" sz="2000" i="1" dirty="0">
                <a:latin typeface="Arial" panose="020B0604020202020204" pitchFamily="34" charset="0"/>
                <a:ea typeface="华文行楷" panose="02010800040101010101" pitchFamily="2" charset="-122"/>
                <a:sym typeface="Symbol" panose="05050102010706020507" pitchFamily="18" charset="2"/>
              </a:rPr>
              <a:t>n/2</a:t>
            </a:r>
            <a:r>
              <a:rPr lang="en-US" altLang="zh-CN" sz="2000" dirty="0">
                <a:latin typeface="Arial" panose="020B0604020202020204" pitchFamily="34" charset="0"/>
                <a:ea typeface="华文行楷" panose="02010800040101010101" pitchFamily="2" charset="-122"/>
                <a:sym typeface="Symbol" panose="05050102010706020507" pitchFamily="18" charset="2"/>
              </a:rPr>
              <a:t> </a:t>
            </a:r>
            <a:r>
              <a:rPr lang="en-US" altLang="zh-CN" sz="2000" b="1" dirty="0">
                <a:latin typeface="Arial" panose="020B0604020202020204" pitchFamily="34" charset="0"/>
                <a:ea typeface="华文行楷" panose="02010800040101010101" pitchFamily="2" charset="-122"/>
                <a:sym typeface="Symbol" panose="05050102010706020507" pitchFamily="18" charset="2"/>
              </a:rPr>
              <a:t>then return</a:t>
            </a:r>
            <a:r>
              <a:rPr lang="en-US" altLang="zh-CN" sz="2000" dirty="0">
                <a:latin typeface="Arial" panose="020B0604020202020204" pitchFamily="34" charset="0"/>
                <a:ea typeface="华文行楷" panose="02010800040101010101" pitchFamily="2" charset="-122"/>
                <a:sym typeface="Symbol" panose="05050102010706020507" pitchFamily="18" charset="2"/>
              </a:rPr>
              <a:t> c</a:t>
            </a:r>
            <a:endParaRPr lang="en-US" altLang="zh-CN" sz="2000" dirty="0">
              <a:latin typeface="Arial" panose="020B0604020202020204" pitchFamily="34" charset="0"/>
              <a:ea typeface="华文行楷" panose="02010800040101010101" pitchFamily="2" charset="-122"/>
              <a:sym typeface="Symbol" panose="05050102010706020507" pitchFamily="18" charset="2"/>
            </a:endParaRPr>
          </a:p>
          <a:p>
            <a:pPr lvl="1" eaLnBrk="1" hangingPunct="1">
              <a:lnSpc>
                <a:spcPct val="90000"/>
              </a:lnSpc>
              <a:buNone/>
            </a:pPr>
            <a:r>
              <a:rPr lang="en-US" altLang="zh-CN" sz="2000" dirty="0">
                <a:latin typeface="Arial" panose="020B0604020202020204" pitchFamily="34" charset="0"/>
                <a:ea typeface="华文行楷" panose="02010800040101010101" pitchFamily="2" charset="-122"/>
                <a:sym typeface="Symbol" panose="05050102010706020507" pitchFamily="18" charset="2"/>
              </a:rPr>
              <a:t>   7. </a:t>
            </a:r>
            <a:r>
              <a:rPr lang="en-US" altLang="zh-CN" sz="2000" b="1" dirty="0">
                <a:latin typeface="Arial" panose="020B0604020202020204" pitchFamily="34" charset="0"/>
                <a:ea typeface="华文行楷" panose="02010800040101010101" pitchFamily="2" charset="-122"/>
                <a:sym typeface="Symbol" panose="05050102010706020507" pitchFamily="18" charset="2"/>
              </a:rPr>
              <a:t>else return</a:t>
            </a:r>
            <a:r>
              <a:rPr lang="en-US" altLang="zh-CN" sz="2000" dirty="0">
                <a:latin typeface="Arial" panose="020B0604020202020204" pitchFamily="34" charset="0"/>
                <a:ea typeface="华文行楷" panose="02010800040101010101" pitchFamily="2" charset="-122"/>
                <a:sym typeface="Symbol" panose="05050102010706020507" pitchFamily="18" charset="2"/>
              </a:rPr>
              <a:t> none</a:t>
            </a:r>
            <a:endParaRPr lang="en-US" altLang="zh-CN" sz="2000" dirty="0">
              <a:solidFill>
                <a:srgbClr val="EA0000"/>
              </a:solidFill>
              <a:latin typeface="Arial" panose="020B0604020202020204" pitchFamily="34" charset="0"/>
              <a:ea typeface="华文行楷" panose="02010800040101010101" pitchFamily="2" charset="-122"/>
              <a:sym typeface="Symbol" panose="05050102010706020507" pitchFamily="18" charset="2"/>
            </a:endParaRPr>
          </a:p>
        </p:txBody>
      </p:sp>
      <p:sp>
        <p:nvSpPr>
          <p:cNvPr id="151559" name="Text Box 7"/>
          <p:cNvSpPr txBox="1"/>
          <p:nvPr/>
        </p:nvSpPr>
        <p:spPr>
          <a:xfrm>
            <a:off x="900113" y="3673475"/>
            <a:ext cx="7343775" cy="3138170"/>
          </a:xfrm>
          <a:prstGeom prst="rect">
            <a:avLst/>
          </a:prstGeom>
          <a:solidFill>
            <a:schemeClr val="bg1"/>
          </a:solidFill>
          <a:ln w="9525">
            <a:noFill/>
          </a:ln>
        </p:spPr>
        <p:txBody>
          <a:bodyPr anchor="t" anchorCtr="0">
            <a:spAutoFit/>
          </a:bodyPr>
          <a:p>
            <a:pPr lvl="1" indent="0" algn="l" eaLnBrk="1" fontAlgn="base" hangingPunct="1">
              <a:spcBef>
                <a:spcPct val="0"/>
              </a:spcBef>
              <a:spcAft>
                <a:spcPct val="0"/>
              </a:spcAft>
              <a:buNone/>
            </a:pPr>
            <a:r>
              <a:rPr lang="zh-CN" altLang="en-US"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过程</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candidate(m)</a:t>
            </a:r>
            <a:endPar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1.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j</a:t>
            </a:r>
            <a:r>
              <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rPr>
              <a:t>m; cA[m]; count1</a:t>
            </a:r>
            <a:endPar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2.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while</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j&lt;n</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and</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count&gt;0  </a:t>
            </a:r>
            <a:endParaRPr lang="zh-CN" altLang="en-US" sz="1800" dirty="0">
              <a:solidFill>
                <a:schemeClr val="tx1"/>
              </a:solidFill>
              <a:latin typeface="Arial" panose="020B0604020202020204" pitchFamily="34" charset="0"/>
              <a:ea typeface="宋体" panose="02010600030101010101" pitchFamily="2" charset="-122"/>
            </a:endParaRPr>
          </a:p>
          <a:p>
            <a:pPr lvl="1" indent="0" algn="l" eaLnBrk="1" fontAlgn="base" hangingPunct="1">
              <a:spcBef>
                <a:spcPct val="0"/>
              </a:spcBef>
              <a:spcAft>
                <a:spcPct val="0"/>
              </a:spcAft>
              <a:buNone/>
            </a:pPr>
            <a:endPar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3</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     j</a:t>
            </a:r>
            <a:r>
              <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rPr>
              <a:t>j+1</a:t>
            </a:r>
            <a:endPar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4.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if</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A[j]=c</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then</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count</a:t>
            </a:r>
            <a:r>
              <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rPr>
              <a:t>count+1</a:t>
            </a:r>
            <a:endPar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2.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else</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count</a:t>
            </a:r>
            <a:r>
              <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rPr>
              <a:t>count-1</a:t>
            </a:r>
            <a:endParaRPr lang="en-US" altLang="zh-CN" sz="1800" i="1" dirty="0">
              <a:solidFill>
                <a:schemeClr val="accent2"/>
              </a:solidFill>
              <a:latin typeface="Arial" panose="020B0604020202020204" pitchFamily="34" charset="0"/>
              <a:ea typeface="宋体" panose="02010600030101010101" pitchFamily="2" charset="-122"/>
              <a:sym typeface="Wingdings" panose="05000000000000000000" pitchFamily="2"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6.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end while</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endPar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7.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if</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chemeClr val="accent2"/>
                </a:solidFill>
                <a:latin typeface="Arial" panose="020B0604020202020204" pitchFamily="34" charset="0"/>
                <a:ea typeface="宋体" panose="02010600030101010101" pitchFamily="2" charset="-122"/>
                <a:sym typeface="Symbol" panose="05050102010706020507" pitchFamily="18" charset="2"/>
              </a:rPr>
              <a:t>j=n</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then return</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c       //</a:t>
            </a:r>
            <a:r>
              <a:rPr lang="zh-CN" altLang="en-US" sz="1800" dirty="0">
                <a:solidFill>
                  <a:schemeClr val="accent2"/>
                </a:solidFill>
                <a:latin typeface="Arial" panose="020B0604020202020204" pitchFamily="34" charset="0"/>
                <a:ea typeface="宋体" panose="02010600030101010101" pitchFamily="2" charset="-122"/>
                <a:sym typeface="Symbol" panose="05050102010706020507" pitchFamily="18" charset="2"/>
              </a:rPr>
              <a:t>获取候选者</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endPar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endParaRPr>
          </a:p>
          <a:p>
            <a:pPr lvl="1" indent="0" algn="l" eaLnBrk="1" fontAlgn="base" hangingPunct="1">
              <a:spcBef>
                <a:spcPct val="0"/>
              </a:spcBef>
              <a:spcAft>
                <a:spcPct val="0"/>
              </a:spcAft>
              <a:buNone/>
            </a:pP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8. </a:t>
            </a:r>
            <a:r>
              <a:rPr lang="en-US" altLang="zh-CN" sz="1800" b="1" dirty="0">
                <a:solidFill>
                  <a:schemeClr val="accent2"/>
                </a:solidFill>
                <a:latin typeface="Arial" panose="020B0604020202020204" pitchFamily="34" charset="0"/>
                <a:ea typeface="宋体" panose="02010600030101010101" pitchFamily="2" charset="-122"/>
                <a:sym typeface="Symbol" panose="05050102010706020507" pitchFamily="18" charset="2"/>
              </a:rPr>
              <a:t>else return</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 </a:t>
            </a:r>
            <a:r>
              <a:rPr lang="en-US" altLang="zh-CN" sz="1800" i="1" dirty="0">
                <a:solidFill>
                  <a:srgbClr val="FF0000"/>
                </a:solidFill>
                <a:latin typeface="Arial" panose="020B0604020202020204" pitchFamily="34" charset="0"/>
                <a:ea typeface="宋体" panose="02010600030101010101" pitchFamily="2" charset="-122"/>
                <a:sym typeface="Symbol" panose="05050102010706020507" pitchFamily="18" charset="2"/>
              </a:rPr>
              <a:t>candidate(j+1)</a:t>
            </a:r>
            <a:r>
              <a:rPr lang="en-US" altLang="zh-CN" sz="1800" dirty="0">
                <a:solidFill>
                  <a:srgbClr val="FF0000"/>
                </a:solidFill>
                <a:latin typeface="Arial" panose="020B0604020202020204" pitchFamily="34" charset="0"/>
                <a:ea typeface="宋体" panose="02010600030101010101" pitchFamily="2" charset="-122"/>
                <a:sym typeface="Symbol" panose="05050102010706020507" pitchFamily="18" charset="2"/>
              </a:rPr>
              <a:t> </a:t>
            </a:r>
            <a:endParaRPr lang="en-US" altLang="zh-CN" sz="1800" dirty="0">
              <a:solidFill>
                <a:srgbClr val="FF0000"/>
              </a:solidFill>
              <a:latin typeface="Arial" panose="020B0604020202020204" pitchFamily="34" charset="0"/>
              <a:ea typeface="宋体" panose="02010600030101010101" pitchFamily="2" charset="-122"/>
            </a:endParaRPr>
          </a:p>
          <a:p>
            <a:pPr indent="0"/>
            <a:endParaRPr lang="en-US" altLang="zh-CN" sz="1800" dirty="0">
              <a:latin typeface="Arial" panose="020B0604020202020204" pitchFamily="34" charset="0"/>
              <a:ea typeface="宋体" panose="02010600030101010101" pitchFamily="2" charset="-122"/>
            </a:endParaRPr>
          </a:p>
        </p:txBody>
      </p:sp>
      <p:sp>
        <p:nvSpPr>
          <p:cNvPr id="55301" name="矩形 4"/>
          <p:cNvSpPr/>
          <p:nvPr/>
        </p:nvSpPr>
        <p:spPr>
          <a:xfrm>
            <a:off x="4714875" y="4143375"/>
            <a:ext cx="3643313" cy="646113"/>
          </a:xfrm>
          <a:prstGeom prst="rect">
            <a:avLst/>
          </a:prstGeom>
          <a:noFill/>
          <a:ln w="9525">
            <a:noFill/>
          </a:ln>
        </p:spPr>
        <p:txBody>
          <a:bodyPr anchor="t" anchorCtr="0">
            <a:spAutoFit/>
          </a:bodyPr>
          <a:p>
            <a:pPr indent="0"/>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a:t>
            </a:r>
            <a:r>
              <a:rPr lang="zh-CN" altLang="en-US" sz="1800" dirty="0">
                <a:solidFill>
                  <a:schemeClr val="accent2"/>
                </a:solidFill>
                <a:latin typeface="Arial" panose="020B0604020202020204" pitchFamily="34" charset="0"/>
                <a:ea typeface="宋体" panose="02010600030101010101" pitchFamily="2" charset="-122"/>
                <a:sym typeface="Symbol" panose="05050102010706020507" pitchFamily="18" charset="2"/>
              </a:rPr>
              <a:t>当</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count ==0</a:t>
            </a:r>
            <a:r>
              <a:rPr lang="zh-CN" altLang="en-US" sz="1800" dirty="0">
                <a:solidFill>
                  <a:schemeClr val="accent2"/>
                </a:solidFill>
                <a:latin typeface="Arial" panose="020B0604020202020204" pitchFamily="34" charset="0"/>
                <a:ea typeface="宋体" panose="02010600030101010101" pitchFamily="2" charset="-122"/>
                <a:sym typeface="Symbol" panose="05050102010706020507" pitchFamily="18" charset="2"/>
              </a:rPr>
              <a:t>时，循环退出，相当于除去</a:t>
            </a:r>
            <a:r>
              <a:rPr lang="en-US" altLang="zh-CN" sz="1800" dirty="0">
                <a:solidFill>
                  <a:schemeClr val="accent2"/>
                </a:solidFill>
                <a:latin typeface="Arial" panose="020B0604020202020204" pitchFamily="34" charset="0"/>
                <a:ea typeface="宋体" panose="02010600030101010101" pitchFamily="2" charset="-122"/>
                <a:sym typeface="Symbol" panose="05050102010706020507" pitchFamily="18" charset="2"/>
              </a:rPr>
              <a:t>2</a:t>
            </a:r>
            <a:r>
              <a:rPr lang="zh-CN" altLang="en-US" sz="1800" dirty="0">
                <a:solidFill>
                  <a:schemeClr val="accent2"/>
                </a:solidFill>
                <a:latin typeface="Arial" panose="020B0604020202020204" pitchFamily="34" charset="0"/>
                <a:ea typeface="宋体" panose="02010600030101010101" pitchFamily="2" charset="-122"/>
                <a:sym typeface="Symbol" panose="05050102010706020507" pitchFamily="18" charset="2"/>
              </a:rPr>
              <a:t>个不同元素。</a:t>
            </a:r>
            <a:endParaRPr lang="zh-CN" altLang="en-US" sz="18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1555"/>
                                        </p:tgtEl>
                                        <p:attrNameLst>
                                          <p:attrName>style.visibility</p:attrName>
                                        </p:attrNameLst>
                                      </p:cBhvr>
                                      <p:to>
                                        <p:strVal val="visible"/>
                                      </p:to>
                                    </p:set>
                                    <p:anim calcmode="lin" valueType="num">
                                      <p:cBhvr>
                                        <p:cTn id="7" dur="500" fill="hold"/>
                                        <p:tgtEl>
                                          <p:spTgt spid="151555"/>
                                        </p:tgtEl>
                                        <p:attrNameLst>
                                          <p:attrName>ppt_w</p:attrName>
                                        </p:attrNameLst>
                                      </p:cBhvr>
                                      <p:tavLst>
                                        <p:tav tm="0">
                                          <p:val>
                                            <p:fltVal val="0.000000"/>
                                          </p:val>
                                        </p:tav>
                                        <p:tav tm="100000">
                                          <p:val>
                                            <p:strVal val="#ppt_w"/>
                                          </p:val>
                                        </p:tav>
                                      </p:tavLst>
                                    </p:anim>
                                    <p:anim calcmode="lin" valueType="num">
                                      <p:cBhvr>
                                        <p:cTn id="8" dur="500" fill="hold"/>
                                        <p:tgtEl>
                                          <p:spTgt spid="151555"/>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51555">
                                            <p:txEl>
                                              <p:charRg st="0" end="15"/>
                                            </p:txEl>
                                          </p:spTgt>
                                        </p:tgtEl>
                                        <p:attrNameLst>
                                          <p:attrName>style.visibility</p:attrName>
                                        </p:attrNameLst>
                                      </p:cBhvr>
                                      <p:to>
                                        <p:strVal val="visible"/>
                                      </p:to>
                                    </p:set>
                                    <p:anim calcmode="lin" valueType="num">
                                      <p:cBhvr>
                                        <p:cTn id="13" dur="500" fill="hold"/>
                                        <p:tgtEl>
                                          <p:spTgt spid="151555">
                                            <p:txEl>
                                              <p:charRg st="0" end="15"/>
                                            </p:txEl>
                                          </p:spTgt>
                                        </p:tgtEl>
                                        <p:attrNameLst>
                                          <p:attrName>ppt_w</p:attrName>
                                        </p:attrNameLst>
                                      </p:cBhvr>
                                      <p:tavLst>
                                        <p:tav tm="0">
                                          <p:val>
                                            <p:fltVal val="0.000000"/>
                                          </p:val>
                                        </p:tav>
                                        <p:tav tm="100000">
                                          <p:val>
                                            <p:strVal val="#ppt_w"/>
                                          </p:val>
                                        </p:tav>
                                      </p:tavLst>
                                    </p:anim>
                                    <p:anim calcmode="lin" valueType="num">
                                      <p:cBhvr>
                                        <p:cTn id="14" dur="500" fill="hold"/>
                                        <p:tgtEl>
                                          <p:spTgt spid="151555">
                                            <p:txEl>
                                              <p:charRg st="0" end="15"/>
                                            </p:txEl>
                                          </p:spTgt>
                                        </p:tgtEl>
                                        <p:attrNameLst>
                                          <p:attrName>ppt_h</p:attrName>
                                        </p:attrNameLst>
                                      </p:cBhvr>
                                      <p:tavLst>
                                        <p:tav tm="0">
                                          <p:val>
                                            <p:fltVal val="0.00000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151555">
                                            <p:txEl>
                                              <p:charRg st="15" end="39"/>
                                            </p:txEl>
                                          </p:spTgt>
                                        </p:tgtEl>
                                        <p:attrNameLst>
                                          <p:attrName>style.visibility</p:attrName>
                                        </p:attrNameLst>
                                      </p:cBhvr>
                                      <p:to>
                                        <p:strVal val="visible"/>
                                      </p:to>
                                    </p:set>
                                    <p:anim calcmode="lin" valueType="num">
                                      <p:cBhvr>
                                        <p:cTn id="17" dur="500" fill="hold"/>
                                        <p:tgtEl>
                                          <p:spTgt spid="151555">
                                            <p:txEl>
                                              <p:charRg st="15" end="39"/>
                                            </p:txEl>
                                          </p:spTgt>
                                        </p:tgtEl>
                                        <p:attrNameLst>
                                          <p:attrName>ppt_w</p:attrName>
                                        </p:attrNameLst>
                                      </p:cBhvr>
                                      <p:tavLst>
                                        <p:tav tm="0">
                                          <p:val>
                                            <p:fltVal val="0.000000"/>
                                          </p:val>
                                        </p:tav>
                                        <p:tav tm="100000">
                                          <p:val>
                                            <p:strVal val="#ppt_w"/>
                                          </p:val>
                                        </p:tav>
                                      </p:tavLst>
                                    </p:anim>
                                    <p:anim calcmode="lin" valueType="num">
                                      <p:cBhvr>
                                        <p:cTn id="18" dur="500" fill="hold"/>
                                        <p:tgtEl>
                                          <p:spTgt spid="151555">
                                            <p:txEl>
                                              <p:charRg st="15" end="39"/>
                                            </p:txEl>
                                          </p:spTgt>
                                        </p:tgtEl>
                                        <p:attrNameLst>
                                          <p:attrName>ppt_h</p:attrName>
                                        </p:attrNameLst>
                                      </p:cBhvr>
                                      <p:tavLst>
                                        <p:tav tm="0">
                                          <p:val>
                                            <p:fltVal val="0.00000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151555">
                                            <p:txEl>
                                              <p:charRg st="39" end="69"/>
                                            </p:txEl>
                                          </p:spTgt>
                                        </p:tgtEl>
                                        <p:attrNameLst>
                                          <p:attrName>style.visibility</p:attrName>
                                        </p:attrNameLst>
                                      </p:cBhvr>
                                      <p:to>
                                        <p:strVal val="visible"/>
                                      </p:to>
                                    </p:set>
                                    <p:anim calcmode="lin" valueType="num">
                                      <p:cBhvr>
                                        <p:cTn id="21" dur="500" fill="hold"/>
                                        <p:tgtEl>
                                          <p:spTgt spid="151555">
                                            <p:txEl>
                                              <p:charRg st="39" end="69"/>
                                            </p:txEl>
                                          </p:spTgt>
                                        </p:tgtEl>
                                        <p:attrNameLst>
                                          <p:attrName>ppt_w</p:attrName>
                                        </p:attrNameLst>
                                      </p:cBhvr>
                                      <p:tavLst>
                                        <p:tav tm="0">
                                          <p:val>
                                            <p:fltVal val="0.000000"/>
                                          </p:val>
                                        </p:tav>
                                        <p:tav tm="100000">
                                          <p:val>
                                            <p:strVal val="#ppt_w"/>
                                          </p:val>
                                        </p:tav>
                                      </p:tavLst>
                                    </p:anim>
                                    <p:anim calcmode="lin" valueType="num">
                                      <p:cBhvr>
                                        <p:cTn id="22" dur="500" fill="hold"/>
                                        <p:tgtEl>
                                          <p:spTgt spid="151555">
                                            <p:txEl>
                                              <p:charRg st="39" end="69"/>
                                            </p:txEl>
                                          </p:spTgt>
                                        </p:tgtEl>
                                        <p:attrNameLst>
                                          <p:attrName>ppt_h</p:attrName>
                                        </p:attrNameLst>
                                      </p:cBhvr>
                                      <p:tavLst>
                                        <p:tav tm="0">
                                          <p:val>
                                            <p:fltVal val="0.00000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151555">
                                            <p:txEl>
                                              <p:charRg st="69" end="100"/>
                                            </p:txEl>
                                          </p:spTgt>
                                        </p:tgtEl>
                                        <p:attrNameLst>
                                          <p:attrName>style.visibility</p:attrName>
                                        </p:attrNameLst>
                                      </p:cBhvr>
                                      <p:to>
                                        <p:strVal val="visible"/>
                                      </p:to>
                                    </p:set>
                                    <p:anim calcmode="lin" valueType="num">
                                      <p:cBhvr>
                                        <p:cTn id="25" dur="500" fill="hold"/>
                                        <p:tgtEl>
                                          <p:spTgt spid="151555">
                                            <p:txEl>
                                              <p:charRg st="69" end="100"/>
                                            </p:txEl>
                                          </p:spTgt>
                                        </p:tgtEl>
                                        <p:attrNameLst>
                                          <p:attrName>ppt_w</p:attrName>
                                        </p:attrNameLst>
                                      </p:cBhvr>
                                      <p:tavLst>
                                        <p:tav tm="0">
                                          <p:val>
                                            <p:fltVal val="0.000000"/>
                                          </p:val>
                                        </p:tav>
                                        <p:tav tm="100000">
                                          <p:val>
                                            <p:strVal val="#ppt_w"/>
                                          </p:val>
                                        </p:tav>
                                      </p:tavLst>
                                    </p:anim>
                                    <p:anim calcmode="lin" valueType="num">
                                      <p:cBhvr>
                                        <p:cTn id="26" dur="500" fill="hold"/>
                                        <p:tgtEl>
                                          <p:spTgt spid="151555">
                                            <p:txEl>
                                              <p:charRg st="69" end="100"/>
                                            </p:txEl>
                                          </p:spTgt>
                                        </p:tgtEl>
                                        <p:attrNameLst>
                                          <p:attrName>ppt_h</p:attrName>
                                        </p:attrNameLst>
                                      </p:cBhvr>
                                      <p:tavLst>
                                        <p:tav tm="0">
                                          <p:val>
                                            <p:fltVal val="0.00000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151555">
                                            <p:txEl>
                                              <p:charRg st="100" end="115"/>
                                            </p:txEl>
                                          </p:spTgt>
                                        </p:tgtEl>
                                        <p:attrNameLst>
                                          <p:attrName>style.visibility</p:attrName>
                                        </p:attrNameLst>
                                      </p:cBhvr>
                                      <p:to>
                                        <p:strVal val="visible"/>
                                      </p:to>
                                    </p:set>
                                    <p:anim calcmode="lin" valueType="num">
                                      <p:cBhvr>
                                        <p:cTn id="29" dur="500" fill="hold"/>
                                        <p:tgtEl>
                                          <p:spTgt spid="151555">
                                            <p:txEl>
                                              <p:charRg st="100" end="115"/>
                                            </p:txEl>
                                          </p:spTgt>
                                        </p:tgtEl>
                                        <p:attrNameLst>
                                          <p:attrName>ppt_w</p:attrName>
                                        </p:attrNameLst>
                                      </p:cBhvr>
                                      <p:tavLst>
                                        <p:tav tm="0">
                                          <p:val>
                                            <p:fltVal val="0.000000"/>
                                          </p:val>
                                        </p:tav>
                                        <p:tav tm="100000">
                                          <p:val>
                                            <p:strVal val="#ppt_w"/>
                                          </p:val>
                                        </p:tav>
                                      </p:tavLst>
                                    </p:anim>
                                    <p:anim calcmode="lin" valueType="num">
                                      <p:cBhvr>
                                        <p:cTn id="30" dur="500" fill="hold"/>
                                        <p:tgtEl>
                                          <p:spTgt spid="151555">
                                            <p:txEl>
                                              <p:charRg st="100" end="115"/>
                                            </p:txEl>
                                          </p:spTgt>
                                        </p:tgtEl>
                                        <p:attrNameLst>
                                          <p:attrName>ppt_h</p:attrName>
                                        </p:attrNameLst>
                                      </p:cBhvr>
                                      <p:tavLst>
                                        <p:tav tm="0">
                                          <p:val>
                                            <p:fltVal val="0.000000"/>
                                          </p:val>
                                        </p:tav>
                                        <p:tav tm="100000">
                                          <p:val>
                                            <p:strVal val="#ppt_h"/>
                                          </p:val>
                                        </p:tav>
                                      </p:tavLst>
                                    </p:anim>
                                  </p:childTnLst>
                                </p:cTn>
                              </p:par>
                              <p:par>
                                <p:cTn id="31" presetID="23" presetClass="entr" presetSubtype="16" fill="hold" grpId="0" nodeType="withEffect">
                                  <p:stCondLst>
                                    <p:cond delay="0"/>
                                  </p:stCondLst>
                                  <p:childTnLst>
                                    <p:set>
                                      <p:cBhvr>
                                        <p:cTn id="32" dur="1" fill="hold">
                                          <p:stCondLst>
                                            <p:cond delay="0"/>
                                          </p:stCondLst>
                                        </p:cTn>
                                        <p:tgtEl>
                                          <p:spTgt spid="151555">
                                            <p:txEl>
                                              <p:charRg st="115" end="135"/>
                                            </p:txEl>
                                          </p:spTgt>
                                        </p:tgtEl>
                                        <p:attrNameLst>
                                          <p:attrName>style.visibility</p:attrName>
                                        </p:attrNameLst>
                                      </p:cBhvr>
                                      <p:to>
                                        <p:strVal val="visible"/>
                                      </p:to>
                                    </p:set>
                                    <p:anim calcmode="lin" valueType="num">
                                      <p:cBhvr>
                                        <p:cTn id="33" dur="500" fill="hold"/>
                                        <p:tgtEl>
                                          <p:spTgt spid="151555">
                                            <p:txEl>
                                              <p:charRg st="115" end="135"/>
                                            </p:txEl>
                                          </p:spTgt>
                                        </p:tgtEl>
                                        <p:attrNameLst>
                                          <p:attrName>ppt_w</p:attrName>
                                        </p:attrNameLst>
                                      </p:cBhvr>
                                      <p:tavLst>
                                        <p:tav tm="0">
                                          <p:val>
                                            <p:fltVal val="0.000000"/>
                                          </p:val>
                                        </p:tav>
                                        <p:tav tm="100000">
                                          <p:val>
                                            <p:strVal val="#ppt_w"/>
                                          </p:val>
                                        </p:tav>
                                      </p:tavLst>
                                    </p:anim>
                                    <p:anim calcmode="lin" valueType="num">
                                      <p:cBhvr>
                                        <p:cTn id="34" dur="500" fill="hold"/>
                                        <p:tgtEl>
                                          <p:spTgt spid="151555">
                                            <p:txEl>
                                              <p:charRg st="115" end="135"/>
                                            </p:txEl>
                                          </p:spTgt>
                                        </p:tgtEl>
                                        <p:attrNameLst>
                                          <p:attrName>ppt_h</p:attrName>
                                        </p:attrNameLst>
                                      </p:cBhvr>
                                      <p:tavLst>
                                        <p:tav tm="0">
                                          <p:val>
                                            <p:fltVal val="0.000000"/>
                                          </p:val>
                                        </p:tav>
                                        <p:tav tm="100000">
                                          <p:val>
                                            <p:strVal val="#ppt_h"/>
                                          </p:val>
                                        </p:tav>
                                      </p:tavLst>
                                    </p:anim>
                                  </p:childTnLst>
                                </p:cTn>
                              </p:par>
                              <p:par>
                                <p:cTn id="35" presetID="23" presetClass="entr" presetSubtype="16" fill="hold" grpId="0" nodeType="withEffect">
                                  <p:stCondLst>
                                    <p:cond delay="0"/>
                                  </p:stCondLst>
                                  <p:childTnLst>
                                    <p:set>
                                      <p:cBhvr>
                                        <p:cTn id="36" dur="1" fill="hold">
                                          <p:stCondLst>
                                            <p:cond delay="0"/>
                                          </p:stCondLst>
                                        </p:cTn>
                                        <p:tgtEl>
                                          <p:spTgt spid="151555">
                                            <p:txEl>
                                              <p:charRg st="135" end="185"/>
                                            </p:txEl>
                                          </p:spTgt>
                                        </p:tgtEl>
                                        <p:attrNameLst>
                                          <p:attrName>style.visibility</p:attrName>
                                        </p:attrNameLst>
                                      </p:cBhvr>
                                      <p:to>
                                        <p:strVal val="visible"/>
                                      </p:to>
                                    </p:set>
                                    <p:anim calcmode="lin" valueType="num">
                                      <p:cBhvr>
                                        <p:cTn id="37" dur="500" fill="hold"/>
                                        <p:tgtEl>
                                          <p:spTgt spid="151555">
                                            <p:txEl>
                                              <p:charRg st="135" end="185"/>
                                            </p:txEl>
                                          </p:spTgt>
                                        </p:tgtEl>
                                        <p:attrNameLst>
                                          <p:attrName>ppt_w</p:attrName>
                                        </p:attrNameLst>
                                      </p:cBhvr>
                                      <p:tavLst>
                                        <p:tav tm="0">
                                          <p:val>
                                            <p:fltVal val="0.000000"/>
                                          </p:val>
                                        </p:tav>
                                        <p:tav tm="100000">
                                          <p:val>
                                            <p:strVal val="#ppt_w"/>
                                          </p:val>
                                        </p:tav>
                                      </p:tavLst>
                                    </p:anim>
                                    <p:anim calcmode="lin" valueType="num">
                                      <p:cBhvr>
                                        <p:cTn id="38" dur="500" fill="hold"/>
                                        <p:tgtEl>
                                          <p:spTgt spid="151555">
                                            <p:txEl>
                                              <p:charRg st="135" end="185"/>
                                            </p:txEl>
                                          </p:spTgt>
                                        </p:tgtEl>
                                        <p:attrNameLst>
                                          <p:attrName>ppt_h</p:attrName>
                                        </p:attrNameLst>
                                      </p:cBhvr>
                                      <p:tavLst>
                                        <p:tav tm="0">
                                          <p:val>
                                            <p:fltVal val="0.000000"/>
                                          </p:val>
                                        </p:tav>
                                        <p:tav tm="100000">
                                          <p:val>
                                            <p:strVal val="#ppt_h"/>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151555">
                                            <p:txEl>
                                              <p:charRg st="185" end="200"/>
                                            </p:txEl>
                                          </p:spTgt>
                                        </p:tgtEl>
                                        <p:attrNameLst>
                                          <p:attrName>style.visibility</p:attrName>
                                        </p:attrNameLst>
                                      </p:cBhvr>
                                      <p:to>
                                        <p:strVal val="visible"/>
                                      </p:to>
                                    </p:set>
                                    <p:anim calcmode="lin" valueType="num">
                                      <p:cBhvr>
                                        <p:cTn id="41" dur="500" fill="hold"/>
                                        <p:tgtEl>
                                          <p:spTgt spid="151555">
                                            <p:txEl>
                                              <p:charRg st="185" end="200"/>
                                            </p:txEl>
                                          </p:spTgt>
                                        </p:tgtEl>
                                        <p:attrNameLst>
                                          <p:attrName>ppt_w</p:attrName>
                                        </p:attrNameLst>
                                      </p:cBhvr>
                                      <p:tavLst>
                                        <p:tav tm="0">
                                          <p:val>
                                            <p:fltVal val="0.000000"/>
                                          </p:val>
                                        </p:tav>
                                        <p:tav tm="100000">
                                          <p:val>
                                            <p:strVal val="#ppt_w"/>
                                          </p:val>
                                        </p:tav>
                                      </p:tavLst>
                                    </p:anim>
                                    <p:anim calcmode="lin" valueType="num">
                                      <p:cBhvr>
                                        <p:cTn id="42" dur="500" fill="hold"/>
                                        <p:tgtEl>
                                          <p:spTgt spid="151555">
                                            <p:txEl>
                                              <p:charRg st="185" end="200"/>
                                            </p:txEl>
                                          </p:spTgt>
                                        </p:tgtEl>
                                        <p:attrNameLst>
                                          <p:attrName>ppt_h</p:attrName>
                                        </p:attrNameLst>
                                      </p:cBhvr>
                                      <p:tavLst>
                                        <p:tav tm="0">
                                          <p:val>
                                            <p:fltVal val="0.000000"/>
                                          </p:val>
                                        </p:tav>
                                        <p:tav tm="100000">
                                          <p:val>
                                            <p:strVal val="#ppt_h"/>
                                          </p:val>
                                        </p:tav>
                                      </p:tavLst>
                                    </p:anim>
                                  </p:childTnLst>
                                </p:cTn>
                              </p:par>
                              <p:par>
                                <p:cTn id="43" presetID="23" presetClass="entr" presetSubtype="16" fill="hold" grpId="0" nodeType="withEffect">
                                  <p:stCondLst>
                                    <p:cond delay="0"/>
                                  </p:stCondLst>
                                  <p:childTnLst>
                                    <p:set>
                                      <p:cBhvr>
                                        <p:cTn id="44" dur="1" fill="hold">
                                          <p:stCondLst>
                                            <p:cond delay="0"/>
                                          </p:stCondLst>
                                        </p:cTn>
                                        <p:tgtEl>
                                          <p:spTgt spid="151555">
                                            <p:txEl>
                                              <p:charRg st="200" end="237"/>
                                            </p:txEl>
                                          </p:spTgt>
                                        </p:tgtEl>
                                        <p:attrNameLst>
                                          <p:attrName>style.visibility</p:attrName>
                                        </p:attrNameLst>
                                      </p:cBhvr>
                                      <p:to>
                                        <p:strVal val="visible"/>
                                      </p:to>
                                    </p:set>
                                    <p:anim calcmode="lin" valueType="num">
                                      <p:cBhvr>
                                        <p:cTn id="45" dur="500" fill="hold"/>
                                        <p:tgtEl>
                                          <p:spTgt spid="151555">
                                            <p:txEl>
                                              <p:charRg st="200" end="237"/>
                                            </p:txEl>
                                          </p:spTgt>
                                        </p:tgtEl>
                                        <p:attrNameLst>
                                          <p:attrName>ppt_w</p:attrName>
                                        </p:attrNameLst>
                                      </p:cBhvr>
                                      <p:tavLst>
                                        <p:tav tm="0">
                                          <p:val>
                                            <p:fltVal val="0.000000"/>
                                          </p:val>
                                        </p:tav>
                                        <p:tav tm="100000">
                                          <p:val>
                                            <p:strVal val="#ppt_w"/>
                                          </p:val>
                                        </p:tav>
                                      </p:tavLst>
                                    </p:anim>
                                    <p:anim calcmode="lin" valueType="num">
                                      <p:cBhvr>
                                        <p:cTn id="46" dur="500" fill="hold"/>
                                        <p:tgtEl>
                                          <p:spTgt spid="151555">
                                            <p:txEl>
                                              <p:charRg st="200" end="237"/>
                                            </p:txEl>
                                          </p:spTgt>
                                        </p:tgtEl>
                                        <p:attrNameLst>
                                          <p:attrName>ppt_h</p:attrName>
                                        </p:attrNameLst>
                                      </p:cBhvr>
                                      <p:tavLst>
                                        <p:tav tm="0">
                                          <p:val>
                                            <p:fltVal val="0.000000"/>
                                          </p:val>
                                        </p:tav>
                                        <p:tav tm="100000">
                                          <p:val>
                                            <p:strVal val="#ppt_h"/>
                                          </p:val>
                                        </p:tav>
                                      </p:tavLst>
                                    </p:anim>
                                  </p:childTnLst>
                                </p:cTn>
                              </p:par>
                              <p:par>
                                <p:cTn id="47" presetID="23" presetClass="entr" presetSubtype="16" fill="hold" grpId="0" nodeType="withEffect">
                                  <p:stCondLst>
                                    <p:cond delay="0"/>
                                  </p:stCondLst>
                                  <p:childTnLst>
                                    <p:set>
                                      <p:cBhvr>
                                        <p:cTn id="48" dur="1" fill="hold">
                                          <p:stCondLst>
                                            <p:cond delay="0"/>
                                          </p:stCondLst>
                                        </p:cTn>
                                        <p:tgtEl>
                                          <p:spTgt spid="151555">
                                            <p:txEl>
                                              <p:charRg st="237" end="260"/>
                                            </p:txEl>
                                          </p:spTgt>
                                        </p:tgtEl>
                                        <p:attrNameLst>
                                          <p:attrName>style.visibility</p:attrName>
                                        </p:attrNameLst>
                                      </p:cBhvr>
                                      <p:to>
                                        <p:strVal val="visible"/>
                                      </p:to>
                                    </p:set>
                                    <p:anim calcmode="lin" valueType="num">
                                      <p:cBhvr>
                                        <p:cTn id="49" dur="500" fill="hold"/>
                                        <p:tgtEl>
                                          <p:spTgt spid="151555">
                                            <p:txEl>
                                              <p:charRg st="237" end="260"/>
                                            </p:txEl>
                                          </p:spTgt>
                                        </p:tgtEl>
                                        <p:attrNameLst>
                                          <p:attrName>ppt_w</p:attrName>
                                        </p:attrNameLst>
                                      </p:cBhvr>
                                      <p:tavLst>
                                        <p:tav tm="0">
                                          <p:val>
                                            <p:fltVal val="0.000000"/>
                                          </p:val>
                                        </p:tav>
                                        <p:tav tm="100000">
                                          <p:val>
                                            <p:strVal val="#ppt_w"/>
                                          </p:val>
                                        </p:tav>
                                      </p:tavLst>
                                    </p:anim>
                                    <p:anim calcmode="lin" valueType="num">
                                      <p:cBhvr>
                                        <p:cTn id="50" dur="500" fill="hold"/>
                                        <p:tgtEl>
                                          <p:spTgt spid="151555">
                                            <p:txEl>
                                              <p:charRg st="237" end="260"/>
                                            </p:txEl>
                                          </p:spTgt>
                                        </p:tgtEl>
                                        <p:attrNameLst>
                                          <p:attrName>ppt_h</p:attrName>
                                        </p:attrNameLst>
                                      </p:cBhvr>
                                      <p:tavLst>
                                        <p:tav tm="0">
                                          <p:val>
                                            <p:fltVal val="0.00000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51559"/>
                                        </p:tgtEl>
                                        <p:attrNameLst>
                                          <p:attrName>style.visibility</p:attrName>
                                        </p:attrNameLst>
                                      </p:cBhvr>
                                      <p:to>
                                        <p:strVal val="visible"/>
                                      </p:to>
                                    </p:set>
                                    <p:animEffect transition="in" filter="blinds(horizontal)">
                                      <p:cBhvr>
                                        <p:cTn id="55" dur="500"/>
                                        <p:tgtEl>
                                          <p:spTgt spid="151559"/>
                                        </p:tgtEl>
                                      </p:cBhvr>
                                    </p:animEffect>
                                  </p:childTnLst>
                                </p:cTn>
                              </p:par>
                            </p:childTnLst>
                          </p:cTn>
                        </p:par>
                        <p:par>
                          <p:cTn id="56" fill="hold">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55301"/>
                                        </p:tgtEl>
                                        <p:attrNameLst>
                                          <p:attrName>style.visibility</p:attrName>
                                        </p:attrNameLst>
                                      </p:cBhvr>
                                      <p:to>
                                        <p:strVal val="visible"/>
                                      </p:to>
                                    </p:set>
                                    <p:animEffect transition="in" filter="blinds(horizontal)">
                                      <p:cBhvr>
                                        <p:cTn id="59" dur="500"/>
                                        <p:tgtEl>
                                          <p:spTgt spid="55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animBg="1" build="p"/>
      <p:bldP spid="151559" grpId="0" bldLvl="0" animBg="1"/>
      <p:bldP spid="5530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标题 1"/>
          <p:cNvSpPr>
            <a:spLocks noGrp="1"/>
          </p:cNvSpPr>
          <p:nvPr>
            <p:ph type="title"/>
          </p:nvPr>
        </p:nvSpPr>
        <p:spPr/>
        <p:txBody>
          <a:bodyPr anchor="ctr" anchorCtr="0"/>
          <a:p>
            <a:r>
              <a:rPr lang="en-US" altLang="zh-CN"/>
              <a:t>2.3.6 </a:t>
            </a:r>
            <a:r>
              <a:rPr lang="zh-CN" altLang="en-US"/>
              <a:t>汉诺塔</a:t>
            </a:r>
            <a:endParaRPr lang="zh-CN" altLang="en-US"/>
          </a:p>
        </p:txBody>
      </p:sp>
      <p:sp>
        <p:nvSpPr>
          <p:cNvPr id="107522" name="内容占位符 2"/>
          <p:cNvSpPr>
            <a:spLocks noGrp="1"/>
          </p:cNvSpPr>
          <p:nvPr>
            <p:ph idx="1"/>
          </p:nvPr>
        </p:nvSpPr>
        <p:spPr/>
        <p:txBody>
          <a:bodyPr anchor="t" anchorCtr="0"/>
          <a:p>
            <a:r>
              <a:rPr lang="zh-CN" altLang="zh-CN"/>
              <a:t>大梵天创造世界的时候做了三根金刚石柱子，在一根柱子上从下往上按照大小顺序摞着64片黄金圆盘。大梵天命令婆罗门把圆盘从下面开始按大小顺序重新摆放在另一根柱子上。并且规定，在小圆盘上不能放大圆盘，在三根柱子之间一次只能移动一个圆盘。</a:t>
            </a:r>
            <a:endParaRPr lang="zh-CN" altLang="zh-CN"/>
          </a:p>
        </p:txBody>
      </p:sp>
      <p:pic>
        <p:nvPicPr>
          <p:cNvPr id="107523" name="Picture 1"/>
          <p:cNvPicPr>
            <a:picLocks noChangeAspect="1"/>
          </p:cNvPicPr>
          <p:nvPr/>
        </p:nvPicPr>
        <p:blipFill>
          <a:blip r:embed="rId1"/>
          <a:stretch>
            <a:fillRect/>
          </a:stretch>
        </p:blipFill>
        <p:spPr>
          <a:xfrm>
            <a:off x="5646738" y="3533775"/>
            <a:ext cx="2190750" cy="2147888"/>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1"/>
          <p:cNvSpPr>
            <a:spLocks noGrp="1"/>
          </p:cNvSpPr>
          <p:nvPr>
            <p:ph type="title"/>
          </p:nvPr>
        </p:nvSpPr>
        <p:spPr/>
        <p:txBody>
          <a:bodyPr anchor="ctr" anchorCtr="0"/>
          <a:p>
            <a:r>
              <a:rPr lang="zh-CN" altLang="en-US"/>
              <a:t>操作示例</a:t>
            </a:r>
            <a:endParaRPr lang="zh-CN" altLang="en-US"/>
          </a:p>
        </p:txBody>
      </p:sp>
      <p:sp>
        <p:nvSpPr>
          <p:cNvPr id="108546" name="内容占位符 2"/>
          <p:cNvSpPr>
            <a:spLocks noGrp="1"/>
          </p:cNvSpPr>
          <p:nvPr>
            <p:ph idx="1"/>
          </p:nvPr>
        </p:nvSpPr>
        <p:spPr/>
        <p:txBody>
          <a:bodyPr anchor="t" anchorCtr="0"/>
          <a:p>
            <a:r>
              <a:rPr lang="zh-CN" altLang="en-US">
                <a:solidFill>
                  <a:schemeClr val="tx1"/>
                </a:solidFill>
              </a:rPr>
              <a:t>只有一个圆盘，直接从</a:t>
            </a:r>
            <a:r>
              <a:rPr lang="en-US" altLang="zh-CN">
                <a:solidFill>
                  <a:schemeClr val="tx1"/>
                </a:solidFill>
              </a:rPr>
              <a:t>a-&gt;c</a:t>
            </a:r>
            <a:endParaRPr lang="en-US" altLang="zh-CN">
              <a:solidFill>
                <a:schemeClr val="tx1"/>
              </a:solidFill>
            </a:endParaRPr>
          </a:p>
          <a:p>
            <a:r>
              <a:rPr lang="zh-CN" altLang="en-US">
                <a:solidFill>
                  <a:schemeClr val="tx1"/>
                </a:solidFill>
              </a:rPr>
              <a:t>如果两个圆盘，a-&gt;b,a-&gt;</a:t>
            </a:r>
            <a:r>
              <a:rPr lang="en-US" altLang="zh-CN">
                <a:solidFill>
                  <a:schemeClr val="tx1"/>
                </a:solidFill>
              </a:rPr>
              <a:t>c,b-&gt;c</a:t>
            </a:r>
            <a:endParaRPr lang="en-US" altLang="zh-CN">
              <a:solidFill>
                <a:schemeClr val="tx1"/>
              </a:solidFill>
            </a:endParaRPr>
          </a:p>
          <a:p>
            <a:r>
              <a:rPr lang="zh-CN" altLang="en-US">
                <a:solidFill>
                  <a:schemeClr val="tx1"/>
                </a:solidFill>
              </a:rPr>
              <a:t>如果三个圆盘，</a:t>
            </a:r>
            <a:r>
              <a:rPr lang="en-US" altLang="zh-CN">
                <a:solidFill>
                  <a:schemeClr val="tx1"/>
                </a:solidFill>
              </a:rPr>
              <a:t>a-&gt;c, a-&gt;b, c-&gt;b,a-&gt;c,b-&gt;a,b-&gt;c,a-&gt;c</a:t>
            </a:r>
            <a:endParaRPr lang="en-US" altLang="zh-CN">
              <a:solidFill>
                <a:schemeClr val="tx1"/>
              </a:solidFill>
            </a:endParaRPr>
          </a:p>
          <a:p>
            <a:r>
              <a:rPr lang="zh-CN" altLang="en-US">
                <a:solidFill>
                  <a:schemeClr val="tx1"/>
                </a:solidFill>
              </a:rPr>
              <a:t>如果四个圆盘</a:t>
            </a:r>
            <a:r>
              <a:rPr lang="en-US" altLang="zh-CN">
                <a:solidFill>
                  <a:schemeClr val="tx1"/>
                </a:solidFill>
              </a:rPr>
              <a:t>:</a:t>
            </a:r>
            <a:endParaRPr lang="en-US" altLang="zh-CN">
              <a:solidFill>
                <a:schemeClr val="tx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标题 1"/>
          <p:cNvSpPr>
            <a:spLocks noGrp="1"/>
          </p:cNvSpPr>
          <p:nvPr>
            <p:ph type="title"/>
          </p:nvPr>
        </p:nvSpPr>
        <p:spPr/>
        <p:txBody>
          <a:bodyPr anchor="ctr" anchorCtr="0"/>
          <a:p>
            <a:r>
              <a:rPr lang="zh-CN" altLang="en-US"/>
              <a:t>算法分析</a:t>
            </a:r>
            <a:endParaRPr lang="zh-CN" altLang="en-US"/>
          </a:p>
        </p:txBody>
      </p:sp>
      <p:sp>
        <p:nvSpPr>
          <p:cNvPr id="109570" name="内容占位符 2"/>
          <p:cNvSpPr>
            <a:spLocks noGrp="1"/>
          </p:cNvSpPr>
          <p:nvPr>
            <p:ph idx="1"/>
          </p:nvPr>
        </p:nvSpPr>
        <p:spPr/>
        <p:txBody>
          <a:bodyPr anchor="t" anchorCtr="0"/>
          <a:p>
            <a:r>
              <a:rPr lang="zh-CN" altLang="en-US"/>
              <a:t>假设一共有</a:t>
            </a:r>
            <a:r>
              <a:rPr lang="en-US" altLang="zh-CN"/>
              <a:t>n</a:t>
            </a:r>
            <a:r>
              <a:rPr lang="zh-CN" altLang="en-US"/>
              <a:t>个盘子</a:t>
            </a:r>
            <a:endParaRPr lang="zh-CN" altLang="en-US"/>
          </a:p>
          <a:p>
            <a:r>
              <a:rPr lang="zh-CN" altLang="en-US"/>
              <a:t>首先借助于</a:t>
            </a:r>
            <a:r>
              <a:rPr lang="en-US" altLang="zh-CN"/>
              <a:t>c</a:t>
            </a:r>
            <a:r>
              <a:rPr lang="zh-CN" altLang="en-US"/>
              <a:t>将</a:t>
            </a:r>
            <a:r>
              <a:rPr lang="en-US" altLang="zh-CN"/>
              <a:t>n-1</a:t>
            </a:r>
            <a:r>
              <a:rPr lang="zh-CN" altLang="en-US"/>
              <a:t>个盘子从</a:t>
            </a:r>
            <a:r>
              <a:rPr lang="en-US" altLang="zh-CN"/>
              <a:t>a-&gt;b</a:t>
            </a:r>
            <a:endParaRPr lang="en-US" altLang="zh-CN"/>
          </a:p>
          <a:p>
            <a:r>
              <a:rPr lang="zh-CN" altLang="en-US"/>
              <a:t>最后将第</a:t>
            </a:r>
            <a:r>
              <a:rPr lang="en-US" altLang="zh-CN"/>
              <a:t>n</a:t>
            </a:r>
            <a:r>
              <a:rPr lang="zh-CN" altLang="en-US"/>
              <a:t>个盘子从</a:t>
            </a:r>
            <a:r>
              <a:rPr lang="en-US" altLang="zh-CN"/>
              <a:t>a-&gt;c</a:t>
            </a:r>
            <a:endParaRPr lang="en-US" altLang="zh-CN"/>
          </a:p>
          <a:p>
            <a:r>
              <a:rPr lang="zh-CN" altLang="en-US"/>
              <a:t>此时，</a:t>
            </a:r>
            <a:r>
              <a:rPr lang="zh-CN" altLang="en-US">
                <a:solidFill>
                  <a:srgbClr val="FF0000"/>
                </a:solidFill>
              </a:rPr>
              <a:t>问题是将</a:t>
            </a:r>
            <a:r>
              <a:rPr lang="en-US" altLang="zh-CN">
                <a:solidFill>
                  <a:srgbClr val="FF0000"/>
                </a:solidFill>
              </a:rPr>
              <a:t>b</a:t>
            </a:r>
            <a:r>
              <a:rPr lang="zh-CN" altLang="en-US">
                <a:solidFill>
                  <a:srgbClr val="FF0000"/>
                </a:solidFill>
              </a:rPr>
              <a:t>上的</a:t>
            </a:r>
            <a:r>
              <a:rPr lang="en-US" altLang="zh-CN">
                <a:solidFill>
                  <a:srgbClr val="FF0000"/>
                </a:solidFill>
              </a:rPr>
              <a:t>n-1</a:t>
            </a:r>
            <a:r>
              <a:rPr lang="zh-CN" altLang="en-US">
                <a:solidFill>
                  <a:srgbClr val="FF0000"/>
                </a:solidFill>
              </a:rPr>
              <a:t>个盘子移动到</a:t>
            </a:r>
            <a:r>
              <a:rPr lang="en-US" altLang="zh-CN">
                <a:solidFill>
                  <a:srgbClr val="FF0000"/>
                </a:solidFill>
              </a:rPr>
              <a:t>c</a:t>
            </a:r>
            <a:endParaRPr lang="en-US" altLang="zh-CN">
              <a:solidFill>
                <a:srgbClr val="FF0000"/>
              </a:solidFill>
            </a:endParaRPr>
          </a:p>
        </p:txBody>
      </p:sp>
      <p:grpSp>
        <p:nvGrpSpPr>
          <p:cNvPr id="109571" name="组合 3"/>
          <p:cNvGrpSpPr/>
          <p:nvPr/>
        </p:nvGrpSpPr>
        <p:grpSpPr>
          <a:xfrm>
            <a:off x="542925" y="3213100"/>
            <a:ext cx="8143875" cy="2416175"/>
            <a:chOff x="450" y="3685"/>
            <a:chExt cx="12824" cy="3804"/>
          </a:xfrm>
        </p:grpSpPr>
        <p:sp>
          <p:nvSpPr>
            <p:cNvPr id="24578" name="Rectangle 2"/>
            <p:cNvSpPr>
              <a:spLocks noChangeArrowheads="1"/>
            </p:cNvSpPr>
            <p:nvPr/>
          </p:nvSpPr>
          <p:spPr bwMode="auto">
            <a:xfrm>
              <a:off x="450" y="4405"/>
              <a:ext cx="3870" cy="960"/>
            </a:xfrm>
            <a:prstGeom prst="rect">
              <a:avLst/>
            </a:prstGeom>
          </p:spPr>
          <p:style>
            <a:lnRef idx="1">
              <a:schemeClr val="accent5"/>
            </a:lnRef>
            <a:fillRef idx="2">
              <a:schemeClr val="accent5"/>
            </a:fillRef>
            <a:effectRef idx="1">
              <a:schemeClr val="accent5"/>
            </a:effectRef>
            <a:fontRef idx="minor">
              <a:schemeClr val="dk1"/>
            </a:fontRef>
          </p:style>
          <p:txBody>
            <a:bodyPr/>
            <a:p>
              <a:pPr algn="ctr" eaLnBrk="0" fontAlgn="base" hangingPunct="0">
                <a:lnSpc>
                  <a:spcPct val="160000"/>
                </a:lnSpc>
              </a:pP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Hanoi(n</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z)</a:t>
              </a:r>
              <a:endPar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4579" name="Rectangle 3"/>
            <p:cNvSpPr>
              <a:spLocks noChangeArrowheads="1"/>
            </p:cNvSpPr>
            <p:nvPr/>
          </p:nvSpPr>
          <p:spPr bwMode="auto">
            <a:xfrm>
              <a:off x="6312" y="3685"/>
              <a:ext cx="6963" cy="2040"/>
            </a:xfrm>
            <a:prstGeom prst="rect">
              <a:avLst/>
            </a:prstGeom>
          </p:spPr>
          <p:style>
            <a:lnRef idx="1">
              <a:schemeClr val="accent5"/>
            </a:lnRef>
            <a:fillRef idx="2">
              <a:schemeClr val="accent5"/>
            </a:fillRef>
            <a:effectRef idx="1">
              <a:schemeClr val="accent5"/>
            </a:effectRef>
            <a:fontRef idx="minor">
              <a:schemeClr val="dk1"/>
            </a:fontRef>
          </p:style>
          <p:txBody>
            <a:bodyPr/>
            <a:p>
              <a:pPr algn="just" eaLnBrk="0" fontAlgn="base" hangingPunct="0">
                <a:lnSpc>
                  <a:spcPct val="140000"/>
                </a:lnSpc>
              </a:pP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Hanoi(n-1</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z</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eaLnBrk="0" fontAlgn="base" hangingPunct="0">
                <a:lnSpc>
                  <a:spcPct val="140000"/>
                </a:lnSpc>
              </a:pP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move(n</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z):</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将第</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个圆盘从</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移到</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z</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eaLnBrk="0" fontAlgn="base" hangingPunct="0">
                <a:lnSpc>
                  <a:spcPct val="140000"/>
                </a:lnSpc>
              </a:pP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Hanoi(n-1</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zh-CN" altLang="en-US"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rPr>
                <a:t>z)</a:t>
              </a:r>
              <a:endParaRPr lang="en-US" altLang="zh-CN" sz="1800" strike="noStrike" noProof="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9574" name="AutoShape 4"/>
            <p:cNvSpPr/>
            <p:nvPr/>
          </p:nvSpPr>
          <p:spPr>
            <a:xfrm>
              <a:off x="4535" y="4598"/>
              <a:ext cx="1475" cy="452"/>
            </a:xfrm>
            <a:prstGeom prst="rightArrow">
              <a:avLst>
                <a:gd name="adj1" fmla="val 50000"/>
                <a:gd name="adj2" fmla="val 81476"/>
              </a:avLst>
            </a:prstGeom>
            <a:solidFill>
              <a:schemeClr val="accent1"/>
            </a:solidFill>
            <a:ln w="9525" cap="flat" cmpd="sng">
              <a:solidFill>
                <a:schemeClr val="tx1"/>
              </a:solidFill>
              <a:prstDash val="solid"/>
              <a:miter/>
              <a:headEnd type="none" w="med" len="med"/>
              <a:tailEnd type="none" w="med" len="med"/>
            </a:ln>
          </p:spPr>
          <p:txBody>
            <a:bodyPr wrap="none" anchor="ctr" anchorCtr="0"/>
            <a:p>
              <a:pPr indent="0"/>
              <a:endParaRPr lang="zh-CN" altLang="en-US">
                <a:latin typeface="Arial" panose="020B0604020202020204" pitchFamily="34" charset="0"/>
                <a:ea typeface="宋体" panose="02010600030101010101" pitchFamily="2" charset="-122"/>
              </a:endParaRPr>
            </a:p>
          </p:txBody>
        </p:sp>
        <p:grpSp>
          <p:nvGrpSpPr>
            <p:cNvPr id="109575" name="Group 5"/>
            <p:cNvGrpSpPr/>
            <p:nvPr/>
          </p:nvGrpSpPr>
          <p:grpSpPr>
            <a:xfrm>
              <a:off x="907" y="4275"/>
              <a:ext cx="9865" cy="3215"/>
              <a:chOff x="431" y="808"/>
              <a:chExt cx="3946" cy="1286"/>
            </a:xfrm>
          </p:grpSpPr>
          <p:sp>
            <p:nvSpPr>
              <p:cNvPr id="109576" name="Text Box 6"/>
              <p:cNvSpPr txBox="1"/>
              <p:nvPr/>
            </p:nvSpPr>
            <p:spPr>
              <a:xfrm>
                <a:off x="431" y="1842"/>
                <a:ext cx="3946" cy="252"/>
              </a:xfrm>
              <a:prstGeom prst="rect">
                <a:avLst/>
              </a:prstGeom>
              <a:noFill/>
              <a:ln w="9525">
                <a:noFill/>
              </a:ln>
            </p:spPr>
            <p:txBody>
              <a:bodyPr anchor="t" anchorCtr="0">
                <a:spAutoFit/>
              </a:bodyPr>
              <a:p>
                <a:pPr indent="0" algn="ctr">
                  <a:spcBef>
                    <a:spcPct val="50000"/>
                  </a:spcBef>
                </a:pPr>
                <a:r>
                  <a:rPr lang="en-US" altLang="zh-CN" sz="2000" dirty="0">
                    <a:solidFill>
                      <a:srgbClr val="0000FF"/>
                    </a:solidFill>
                    <a:latin typeface="Consolas" panose="020B0609020204030204" pitchFamily="49" charset="0"/>
                    <a:ea typeface="楷体" panose="02010609060101010101" pitchFamily="49" charset="-122"/>
                  </a:rPr>
                  <a:t>“</a:t>
                </a:r>
                <a:r>
                  <a:rPr lang="zh-CN" altLang="en-US" sz="2000" dirty="0">
                    <a:solidFill>
                      <a:srgbClr val="0000FF"/>
                    </a:solidFill>
                    <a:latin typeface="Consolas" panose="020B0609020204030204" pitchFamily="49" charset="0"/>
                    <a:ea typeface="楷体" panose="02010609060101010101" pitchFamily="49" charset="-122"/>
                  </a:rPr>
                  <a:t>大问题”转化为若干个“小问题”求解</a:t>
                </a:r>
                <a:endParaRPr lang="zh-CN" altLang="en-US" sz="2000" dirty="0">
                  <a:solidFill>
                    <a:srgbClr val="0000FF"/>
                  </a:solidFill>
                  <a:latin typeface="Consolas" panose="020B0609020204030204" pitchFamily="49" charset="0"/>
                  <a:ea typeface="楷体" panose="02010609060101010101" pitchFamily="49" charset="-122"/>
                </a:endParaRPr>
              </a:p>
            </p:txBody>
          </p:sp>
          <p:sp>
            <p:nvSpPr>
              <p:cNvPr id="109577" name="Freeform 7"/>
              <p:cNvSpPr/>
              <p:nvPr/>
            </p:nvSpPr>
            <p:spPr>
              <a:xfrm>
                <a:off x="1016" y="1248"/>
                <a:ext cx="232" cy="641"/>
              </a:xfrm>
              <a:custGeom>
                <a:avLst/>
                <a:gdLst/>
                <a:ahLst/>
                <a:cxnLst>
                  <a:cxn ang="0">
                    <a:pos x="232" y="641"/>
                  </a:cxn>
                  <a:cxn ang="0">
                    <a:pos x="0" y="0"/>
                  </a:cxn>
                </a:cxnLst>
                <a:pathLst>
                  <a:path w="232" h="641">
                    <a:moveTo>
                      <a:pt x="232" y="641"/>
                    </a:moveTo>
                    <a:lnTo>
                      <a:pt x="0" y="0"/>
                    </a:lnTo>
                  </a:path>
                </a:pathLst>
              </a:custGeom>
              <a:noFill/>
              <a:ln w="38100" cap="flat" cmpd="sng">
                <a:solidFill>
                  <a:srgbClr val="FF00FF"/>
                </a:solidFill>
                <a:prstDash val="dash"/>
                <a:miter/>
                <a:headEnd type="none" w="med" len="med"/>
                <a:tailEnd type="stealth" w="lg" len="lg"/>
              </a:ln>
            </p:spPr>
            <p:txBody>
              <a:bodyPr/>
              <a:p>
                <a:endParaRPr lang="zh-CN" altLang="en-US"/>
              </a:p>
            </p:txBody>
          </p:sp>
          <p:sp>
            <p:nvSpPr>
              <p:cNvPr id="109578" name="Freeform 8"/>
              <p:cNvSpPr/>
              <p:nvPr/>
            </p:nvSpPr>
            <p:spPr>
              <a:xfrm>
                <a:off x="2813" y="808"/>
                <a:ext cx="340" cy="1081"/>
              </a:xfrm>
              <a:custGeom>
                <a:avLst/>
                <a:gdLst/>
                <a:ahLst/>
                <a:cxnLst>
                  <a:cxn ang="0">
                    <a:pos x="340" y="1081"/>
                  </a:cxn>
                  <a:cxn ang="0">
                    <a:pos x="0" y="0"/>
                  </a:cxn>
                </a:cxnLst>
                <a:pathLst>
                  <a:path w="241" h="1065">
                    <a:moveTo>
                      <a:pt x="241" y="1065"/>
                    </a:moveTo>
                    <a:lnTo>
                      <a:pt x="0" y="0"/>
                    </a:lnTo>
                  </a:path>
                </a:pathLst>
              </a:custGeom>
              <a:noFill/>
              <a:ln w="38100" cap="flat" cmpd="sng">
                <a:solidFill>
                  <a:srgbClr val="FF00FF"/>
                </a:solidFill>
                <a:prstDash val="dash"/>
                <a:round/>
                <a:headEnd type="none" w="med" len="med"/>
                <a:tailEnd type="stealth" w="lg" len="lg"/>
              </a:ln>
            </p:spPr>
            <p:txBody>
              <a:bodyPr/>
              <a:p>
                <a:endParaRPr lang="zh-CN" altLang="en-US"/>
              </a:p>
            </p:txBody>
          </p:sp>
          <p:sp>
            <p:nvSpPr>
              <p:cNvPr id="109579" name="Freeform 9"/>
              <p:cNvSpPr/>
              <p:nvPr/>
            </p:nvSpPr>
            <p:spPr>
              <a:xfrm>
                <a:off x="3304" y="1298"/>
                <a:ext cx="256" cy="582"/>
              </a:xfrm>
              <a:custGeom>
                <a:avLst/>
                <a:gdLst/>
                <a:ahLst/>
                <a:cxnLst>
                  <a:cxn ang="0">
                    <a:pos x="0" y="582"/>
                  </a:cxn>
                  <a:cxn ang="0">
                    <a:pos x="256" y="0"/>
                  </a:cxn>
                </a:cxnLst>
                <a:pathLst>
                  <a:path w="256" h="582">
                    <a:moveTo>
                      <a:pt x="0" y="582"/>
                    </a:moveTo>
                    <a:lnTo>
                      <a:pt x="256" y="0"/>
                    </a:lnTo>
                  </a:path>
                </a:pathLst>
              </a:custGeom>
              <a:noFill/>
              <a:ln w="38100" cap="flat" cmpd="sng">
                <a:solidFill>
                  <a:srgbClr val="FF00FF"/>
                </a:solidFill>
                <a:prstDash val="dash"/>
                <a:round/>
                <a:headEnd type="none" w="med" len="med"/>
                <a:tailEnd type="stealth" w="lg" len="lg"/>
              </a:ln>
            </p:spPr>
            <p:txBody>
              <a:bodyPr/>
              <a:p>
                <a:endParaRPr lang="zh-CN" altLang="en-US"/>
              </a:p>
            </p:txBody>
          </p:sp>
        </p:gr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标题 1"/>
          <p:cNvSpPr>
            <a:spLocks noGrp="1"/>
          </p:cNvSpPr>
          <p:nvPr>
            <p:ph type="title"/>
          </p:nvPr>
        </p:nvSpPr>
        <p:spPr/>
        <p:txBody>
          <a:bodyPr anchor="ctr" anchorCtr="0"/>
          <a:p>
            <a:r>
              <a:rPr lang="zh-CN" altLang="en-US"/>
              <a:t>算法分析</a:t>
            </a:r>
            <a:endParaRPr lang="zh-CN" altLang="en-US"/>
          </a:p>
        </p:txBody>
      </p:sp>
      <p:sp>
        <p:nvSpPr>
          <p:cNvPr id="110594" name="内容占位符 2"/>
          <p:cNvSpPr>
            <a:spLocks noGrp="1"/>
          </p:cNvSpPr>
          <p:nvPr>
            <p:ph idx="1"/>
          </p:nvPr>
        </p:nvSpPr>
        <p:spPr>
          <a:xfrm>
            <a:off x="900113" y="1268413"/>
            <a:ext cx="7786688" cy="4525963"/>
          </a:xfrm>
        </p:spPr>
        <p:txBody>
          <a:bodyPr anchor="t"/>
          <a:p>
            <a:pPr fontAlgn="base"/>
            <a:r>
              <a:rPr lang="zh-CN" altLang="en-US" strike="noStrike" noProof="1"/>
              <a:t>设移动</a:t>
            </a:r>
            <a:r>
              <a:rPr lang="en-US" altLang="zh-CN" strike="noStrike" noProof="1"/>
              <a:t>n</a:t>
            </a:r>
            <a:r>
              <a:rPr lang="zh-CN" altLang="en-US" strike="noStrike" noProof="1"/>
              <a:t>个盘子的代价是</a:t>
            </a:r>
            <a:r>
              <a:rPr lang="en-US" altLang="zh-CN" strike="noStrike" noProof="1"/>
              <a:t>C(n)</a:t>
            </a:r>
            <a:endParaRPr lang="en-US" altLang="zh-CN" strike="noStrike" noProof="1"/>
          </a:p>
          <a:p>
            <a:pPr fontAlgn="base"/>
            <a:r>
              <a:rPr lang="zh-CN" altLang="en-US" strike="noStrike" noProof="1"/>
              <a:t>将一个盘子从</a:t>
            </a:r>
            <a:r>
              <a:rPr lang="en-US" altLang="zh-CN" strike="noStrike" noProof="1"/>
              <a:t>a</a:t>
            </a:r>
            <a:r>
              <a:rPr lang="zh-CN" altLang="en-US" strike="noStrike" noProof="1"/>
              <a:t>移动到</a:t>
            </a:r>
            <a:r>
              <a:rPr lang="en-US" altLang="zh-CN" strike="noStrike" noProof="1"/>
              <a:t>c</a:t>
            </a:r>
            <a:r>
              <a:rPr lang="zh-CN" altLang="en-US" strike="noStrike" noProof="1"/>
              <a:t>的代价是</a:t>
            </a:r>
            <a:r>
              <a:rPr lang="en-US" altLang="zh-CN" strike="noStrike" noProof="1"/>
              <a:t>1</a:t>
            </a:r>
            <a:endParaRPr lang="en-US" altLang="zh-CN" strike="noStrike" noProof="1"/>
          </a:p>
          <a:p>
            <a:pPr fontAlgn="base"/>
            <a:r>
              <a:rPr lang="en-US" altLang="zh-CN" strike="noStrike" noProof="1"/>
              <a:t>C(n)=2C(n-1)+1</a:t>
            </a:r>
            <a:endParaRPr lang="en-US" altLang="zh-CN" strike="noStrike" noProof="1"/>
          </a:p>
          <a:p>
            <a:pPr fontAlgn="base"/>
            <a:r>
              <a:rPr lang="en-US" altLang="zh-CN" strike="noStrike" noProof="1"/>
              <a:t>C(n)=2(2C(n-2)+1)=2</a:t>
            </a:r>
            <a:r>
              <a:rPr lang="en-US" altLang="zh-CN" strike="noStrike" baseline="30000" noProof="1">
                <a:solidFill>
                  <a:schemeClr val="accent2"/>
                </a:solidFill>
                <a:uFillTx/>
              </a:rPr>
              <a:t>2</a:t>
            </a:r>
            <a:r>
              <a:rPr lang="en-US" altLang="zh-CN" strike="noStrike" noProof="1"/>
              <a:t>C(n-2)+2</a:t>
            </a:r>
            <a:endParaRPr lang="en-US" altLang="zh-CN" strike="noStrike" noProof="1"/>
          </a:p>
          <a:p>
            <a:pPr marL="914400" lvl="2" indent="0" fontAlgn="base">
              <a:buNone/>
            </a:pPr>
            <a:r>
              <a:rPr lang="en-US" altLang="zh-CN" sz="2500" strike="noStrike" noProof="1">
                <a:latin typeface="+mn-lt"/>
                <a:ea typeface="+mn-ea"/>
                <a:cs typeface="+mn-cs"/>
              </a:rPr>
              <a:t>=</a:t>
            </a:r>
            <a:r>
              <a:rPr lang="en-US" altLang="zh-CN" sz="2500" strike="noStrike" noProof="1">
                <a:latin typeface="+mn-lt"/>
                <a:ea typeface="+mn-ea"/>
                <a:cs typeface="+mn-cs"/>
                <a:sym typeface="+mn-ea"/>
              </a:rPr>
              <a:t>2</a:t>
            </a:r>
            <a:r>
              <a:rPr lang="en-US" altLang="zh-CN" sz="2500" strike="noStrike" baseline="30000" noProof="1">
                <a:solidFill>
                  <a:schemeClr val="accent2"/>
                </a:solidFill>
                <a:uFillTx/>
                <a:latin typeface="+mn-lt"/>
                <a:ea typeface="+mn-ea"/>
                <a:cs typeface="+mn-cs"/>
                <a:sym typeface="+mn-ea"/>
              </a:rPr>
              <a:t>3</a:t>
            </a:r>
            <a:r>
              <a:rPr lang="en-US" altLang="zh-CN" sz="2500" strike="noStrike" noProof="1">
                <a:latin typeface="+mn-lt"/>
                <a:ea typeface="+mn-ea"/>
                <a:cs typeface="+mn-cs"/>
                <a:sym typeface="+mn-ea"/>
              </a:rPr>
              <a:t>C(n-3)+2</a:t>
            </a:r>
            <a:r>
              <a:rPr lang="en-US" altLang="zh-CN" sz="2500" strike="noStrike" baseline="30000" noProof="1">
                <a:solidFill>
                  <a:schemeClr val="accent2"/>
                </a:solidFill>
                <a:uFillTx/>
                <a:latin typeface="+mn-lt"/>
                <a:ea typeface="+mn-ea"/>
                <a:cs typeface="+mn-cs"/>
                <a:sym typeface="+mn-ea"/>
              </a:rPr>
              <a:t>2</a:t>
            </a:r>
            <a:r>
              <a:rPr lang="en-US" altLang="zh-CN" sz="2500" strike="noStrike" noProof="1">
                <a:latin typeface="+mn-lt"/>
                <a:ea typeface="+mn-ea"/>
                <a:cs typeface="+mn-cs"/>
                <a:sym typeface="+mn-ea"/>
              </a:rPr>
              <a:t>+2</a:t>
            </a:r>
            <a:endParaRPr lang="en-US" altLang="zh-CN" sz="2500" strike="noStrike" noProof="1">
              <a:latin typeface="+mn-lt"/>
              <a:ea typeface="+mn-ea"/>
              <a:cs typeface="+mn-cs"/>
              <a:sym typeface="+mn-ea"/>
            </a:endParaRPr>
          </a:p>
          <a:p>
            <a:pPr marL="914400" lvl="2" indent="0" fontAlgn="base">
              <a:buNone/>
            </a:pPr>
            <a:r>
              <a:rPr lang="en-US" altLang="zh-CN" sz="2500" strike="noStrike" noProof="1">
                <a:latin typeface="+mn-lt"/>
                <a:ea typeface="+mn-ea"/>
                <a:cs typeface="+mn-cs"/>
                <a:sym typeface="+mn-ea"/>
              </a:rPr>
              <a:t>=。。。</a:t>
            </a:r>
            <a:endParaRPr lang="en-US" altLang="zh-CN" sz="2500" strike="noStrike" noProof="1">
              <a:latin typeface="+mn-lt"/>
              <a:ea typeface="+mn-ea"/>
              <a:cs typeface="+mn-cs"/>
              <a:sym typeface="+mn-ea"/>
            </a:endParaRPr>
          </a:p>
          <a:p>
            <a:pPr marL="914400" lvl="2" indent="0" fontAlgn="base">
              <a:buNone/>
            </a:pPr>
            <a:r>
              <a:rPr lang="en-US" altLang="zh-CN" sz="2500" strike="noStrike" noProof="1">
                <a:latin typeface="+mn-lt"/>
                <a:ea typeface="+mn-ea"/>
                <a:cs typeface="+mn-cs"/>
                <a:sym typeface="+mn-ea"/>
              </a:rPr>
              <a:t>=</a:t>
            </a:r>
            <a:r>
              <a:rPr lang="en-US" altLang="zh-CN" sz="2500" strike="noStrike" noProof="1">
                <a:latin typeface="+mn-lt"/>
                <a:ea typeface="+mn-ea"/>
                <a:cs typeface="+mn-cs"/>
                <a:sym typeface="+mn-ea"/>
              </a:rPr>
              <a:t>2</a:t>
            </a:r>
            <a:r>
              <a:rPr lang="en-US" altLang="zh-CN" sz="2500" strike="noStrike" baseline="30000" noProof="1">
                <a:solidFill>
                  <a:schemeClr val="accent2"/>
                </a:solidFill>
                <a:uFillTx/>
                <a:latin typeface="+mn-lt"/>
                <a:ea typeface="+mn-ea"/>
                <a:cs typeface="+mn-cs"/>
                <a:sym typeface="+mn-ea"/>
              </a:rPr>
              <a:t>n-1</a:t>
            </a:r>
            <a:r>
              <a:rPr lang="en-US" altLang="zh-CN" sz="2500" strike="noStrike" noProof="1">
                <a:latin typeface="+mn-lt"/>
                <a:ea typeface="+mn-ea"/>
                <a:cs typeface="+mn-cs"/>
                <a:sym typeface="+mn-ea"/>
              </a:rPr>
              <a:t>+2</a:t>
            </a:r>
            <a:r>
              <a:rPr lang="en-US" altLang="zh-CN" sz="2500" strike="noStrike" baseline="30000" noProof="1">
                <a:solidFill>
                  <a:schemeClr val="accent2"/>
                </a:solidFill>
                <a:uFillTx/>
                <a:latin typeface="+mn-lt"/>
                <a:ea typeface="+mn-ea"/>
                <a:cs typeface="+mn-cs"/>
                <a:sym typeface="+mn-ea"/>
              </a:rPr>
              <a:t>n-2</a:t>
            </a:r>
            <a:r>
              <a:rPr lang="en-US" altLang="zh-CN" sz="2500" strike="noStrike" noProof="1">
                <a:latin typeface="+mn-lt"/>
                <a:ea typeface="+mn-ea"/>
                <a:cs typeface="+mn-cs"/>
                <a:sym typeface="+mn-ea"/>
              </a:rPr>
              <a:t>+…2</a:t>
            </a:r>
            <a:endParaRPr lang="en-US" altLang="zh-CN" sz="2500" strike="noStrike" noProof="1">
              <a:latin typeface="+mn-lt"/>
              <a:ea typeface="+mn-ea"/>
              <a:cs typeface="+mn-cs"/>
              <a:sym typeface="+mn-ea"/>
            </a:endParaRPr>
          </a:p>
          <a:p>
            <a:pPr marL="914400" lvl="2" indent="0" fontAlgn="base">
              <a:buNone/>
            </a:pPr>
            <a:r>
              <a:rPr lang="en-US" altLang="zh-CN" sz="2500" strike="noStrike" noProof="1">
                <a:latin typeface="+mn-lt"/>
                <a:ea typeface="+mn-ea"/>
                <a:cs typeface="+mn-cs"/>
                <a:sym typeface="+mn-ea"/>
              </a:rPr>
              <a:t>=2</a:t>
            </a:r>
            <a:r>
              <a:rPr lang="en-US" altLang="zh-CN" sz="2500" strike="noStrike" baseline="30000" noProof="1">
                <a:solidFill>
                  <a:schemeClr val="accent2"/>
                </a:solidFill>
                <a:uFillTx/>
                <a:latin typeface="+mn-lt"/>
                <a:ea typeface="+mn-ea"/>
                <a:cs typeface="+mn-cs"/>
                <a:sym typeface="+mn-ea"/>
              </a:rPr>
              <a:t>n</a:t>
            </a:r>
            <a:r>
              <a:rPr lang="en-US" altLang="zh-CN" sz="2500" strike="noStrike" noProof="1">
                <a:latin typeface="+mn-lt"/>
                <a:ea typeface="+mn-ea"/>
                <a:cs typeface="+mn-cs"/>
                <a:sym typeface="+mn-ea"/>
              </a:rPr>
              <a:t>-1</a:t>
            </a:r>
            <a:endParaRPr lang="en-US" altLang="zh-CN" sz="2500" strike="noStrike" noProof="1">
              <a:latin typeface="+mn-lt"/>
              <a:ea typeface="+mn-ea"/>
              <a:cs typeface="+mn-cs"/>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标题 1"/>
          <p:cNvSpPr>
            <a:spLocks noGrp="1"/>
          </p:cNvSpPr>
          <p:nvPr>
            <p:ph type="title"/>
          </p:nvPr>
        </p:nvSpPr>
        <p:spPr/>
        <p:txBody>
          <a:bodyPr anchor="ctr" anchorCtr="0"/>
          <a:p>
            <a:r>
              <a:rPr lang="en-US" altLang="zh-CN"/>
              <a:t>2.3.7</a:t>
            </a:r>
            <a:r>
              <a:rPr lang="zh-CN" altLang="en-US"/>
              <a:t>取棋子游戏</a:t>
            </a:r>
            <a:endParaRPr lang="zh-CN" altLang="en-US"/>
          </a:p>
        </p:txBody>
      </p:sp>
      <p:sp>
        <p:nvSpPr>
          <p:cNvPr id="111618" name="内容占位符 2"/>
          <p:cNvSpPr>
            <a:spLocks noGrp="1"/>
          </p:cNvSpPr>
          <p:nvPr>
            <p:ph idx="1"/>
          </p:nvPr>
        </p:nvSpPr>
        <p:spPr/>
        <p:txBody>
          <a:bodyPr anchor="t" anchorCtr="0"/>
          <a:p>
            <a:r>
              <a:rPr lang="zh-CN" altLang="en-US"/>
              <a:t>有2n个棋子（n≥4）排成一行，开始位置为白子全部在左边，黑子全部在右边，如下图为n=5的情形：</a:t>
            </a:r>
            <a:endParaRPr lang="zh-CN" altLang="en-US"/>
          </a:p>
          <a:p>
            <a:pPr marL="0" indent="0">
              <a:buNone/>
            </a:pPr>
            <a:r>
              <a:rPr lang="en-US" altLang="zh-CN"/>
              <a:t>     </a:t>
            </a:r>
            <a:r>
              <a:rPr lang="zh-CN" altLang="en-US"/>
              <a:t>○○○○○●●●●●</a:t>
            </a:r>
            <a:endParaRPr lang="zh-CN" altLang="en-US"/>
          </a:p>
          <a:p>
            <a:r>
              <a:rPr lang="zh-CN" altLang="en-US"/>
              <a:t>移动棋子的规则是：每次必须同时移动相邻的两个棋子，颜色不限，可以左移也可以右移到空位上去，但不能调换两个棋子的左右位置。每次移动必须跳过若干个棋子（不能平移），要求最后能移成黑白相间的一行棋子。如n=5时，成为：</a:t>
            </a:r>
            <a:endParaRPr lang="zh-CN" altLang="en-US"/>
          </a:p>
          <a:p>
            <a:r>
              <a:rPr lang="zh-CN" altLang="en-US"/>
              <a:t>○●○●○●○●○●</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686435" y="1250950"/>
            <a:ext cx="3738880" cy="521970"/>
          </a:xfrm>
          <a:prstGeom prst="rect">
            <a:avLst/>
          </a:prstGeom>
          <a:noFill/>
        </p:spPr>
        <p:txBody>
          <a:bodyPr wrap="none" rtlCol="0" anchor="t">
            <a:spAutoFit/>
          </a:bodyPr>
          <a:p>
            <a:pPr marL="0" indent="0">
              <a:buNone/>
            </a:pPr>
            <a:r>
              <a:rPr lang="zh-CN" altLang="en-US" sz="2800">
                <a:sym typeface="+mn-ea"/>
              </a:rPr>
              <a:t>○○○○○●●●●●</a:t>
            </a:r>
            <a:endParaRPr lang="zh-CN" altLang="en-US" sz="2800">
              <a:sym typeface="+mn-ea"/>
            </a:endParaRPr>
          </a:p>
        </p:txBody>
      </p:sp>
      <p:sp>
        <p:nvSpPr>
          <p:cNvPr id="4" name="圆角矩形 3"/>
          <p:cNvSpPr/>
          <p:nvPr/>
        </p:nvSpPr>
        <p:spPr>
          <a:xfrm>
            <a:off x="2188845" y="1323340"/>
            <a:ext cx="733425" cy="39560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标题 1"/>
          <p:cNvSpPr>
            <a:spLocks noGrp="1"/>
          </p:cNvSpPr>
          <p:nvPr>
            <p:ph type="title"/>
          </p:nvPr>
        </p:nvSpPr>
        <p:spPr/>
        <p:txBody>
          <a:bodyPr/>
          <a:p>
            <a:r>
              <a:rPr lang="zh-CN" altLang="en-US">
                <a:sym typeface="+mn-ea"/>
              </a:rPr>
              <a:t>操作示例</a:t>
            </a:r>
            <a:endParaRPr lang="zh-CN" altLang="en-US"/>
          </a:p>
        </p:txBody>
      </p:sp>
      <p:sp>
        <p:nvSpPr>
          <p:cNvPr id="8" name="文本框 7"/>
          <p:cNvSpPr txBox="1"/>
          <p:nvPr/>
        </p:nvSpPr>
        <p:spPr>
          <a:xfrm>
            <a:off x="686435" y="1977390"/>
            <a:ext cx="3738880" cy="521970"/>
          </a:xfrm>
          <a:prstGeom prst="rect">
            <a:avLst/>
          </a:prstGeom>
          <a:noFill/>
        </p:spPr>
        <p:txBody>
          <a:bodyPr wrap="none" rtlCol="0" anchor="t">
            <a:spAutoFit/>
          </a:bodyPr>
          <a:p>
            <a:pPr marL="0" indent="0" algn="l">
              <a:buNone/>
            </a:pPr>
            <a:r>
              <a:rPr lang="zh-CN" altLang="en-US" sz="2800">
                <a:sym typeface="+mn-ea"/>
              </a:rPr>
              <a:t>○○○○</a:t>
            </a:r>
            <a:r>
              <a:rPr lang="zh-CN" altLang="en-US" sz="2800">
                <a:sym typeface="+mn-ea"/>
              </a:rPr>
              <a:t>●</a:t>
            </a:r>
            <a:r>
              <a:rPr lang="zh-CN" altLang="en-US" sz="2800">
                <a:sym typeface="+mn-ea"/>
              </a:rPr>
              <a:t>●●●</a:t>
            </a:r>
            <a:r>
              <a:rPr lang="zh-CN" altLang="en-US" sz="2800">
                <a:sym typeface="+mn-ea"/>
              </a:rPr>
              <a:t>○●</a:t>
            </a:r>
            <a:endParaRPr lang="zh-CN" altLang="en-US" sz="2800">
              <a:sym typeface="+mn-ea"/>
            </a:endParaRPr>
          </a:p>
        </p:txBody>
      </p:sp>
      <p:sp>
        <p:nvSpPr>
          <p:cNvPr id="10" name="文本框 9"/>
          <p:cNvSpPr txBox="1"/>
          <p:nvPr/>
        </p:nvSpPr>
        <p:spPr>
          <a:xfrm>
            <a:off x="686435" y="2812415"/>
            <a:ext cx="3738880" cy="521970"/>
          </a:xfrm>
          <a:prstGeom prst="rect">
            <a:avLst/>
          </a:prstGeom>
          <a:noFill/>
        </p:spPr>
        <p:txBody>
          <a:bodyPr wrap="none" rtlCol="0" anchor="t">
            <a:spAutoFit/>
          </a:bodyPr>
          <a:p>
            <a:pPr marL="0" indent="0" algn="l">
              <a:buNone/>
            </a:pPr>
            <a:r>
              <a:rPr lang="zh-CN" altLang="en-US" sz="2800">
                <a:sym typeface="+mn-ea"/>
              </a:rPr>
              <a:t>○○○</a:t>
            </a:r>
            <a:r>
              <a:rPr lang="zh-CN" altLang="en-US" sz="2800">
                <a:sym typeface="+mn-ea"/>
              </a:rPr>
              <a:t>●●</a:t>
            </a:r>
            <a:r>
              <a:rPr lang="zh-CN" altLang="en-US" sz="2800">
                <a:sym typeface="+mn-ea"/>
              </a:rPr>
              <a:t>●</a:t>
            </a:r>
            <a:r>
              <a:rPr lang="zh-CN" altLang="en-US" sz="2800">
                <a:sym typeface="+mn-ea"/>
              </a:rPr>
              <a:t>○</a:t>
            </a:r>
            <a:r>
              <a:rPr lang="zh-CN" altLang="en-US" sz="2800">
                <a:sym typeface="+mn-ea"/>
              </a:rPr>
              <a:t>●○</a:t>
            </a:r>
            <a:r>
              <a:rPr lang="zh-CN" altLang="en-US" sz="2800">
                <a:sym typeface="+mn-ea"/>
              </a:rPr>
              <a:t>●</a:t>
            </a:r>
            <a:endParaRPr lang="zh-CN" altLang="en-US" sz="2800">
              <a:sym typeface="+mn-ea"/>
            </a:endParaRPr>
          </a:p>
        </p:txBody>
      </p:sp>
      <p:sp>
        <p:nvSpPr>
          <p:cNvPr id="11" name="文本框 10"/>
          <p:cNvSpPr txBox="1"/>
          <p:nvPr/>
        </p:nvSpPr>
        <p:spPr>
          <a:xfrm>
            <a:off x="686435" y="3597275"/>
            <a:ext cx="3738880" cy="521970"/>
          </a:xfrm>
          <a:prstGeom prst="rect">
            <a:avLst/>
          </a:prstGeom>
          <a:noFill/>
        </p:spPr>
        <p:txBody>
          <a:bodyPr wrap="none" rtlCol="0" anchor="t">
            <a:spAutoFit/>
          </a:bodyPr>
          <a:p>
            <a:pPr marL="0" indent="0" algn="l">
              <a:buNone/>
            </a:pPr>
            <a:r>
              <a:rPr lang="zh-CN" altLang="en-US" sz="2800">
                <a:sym typeface="+mn-ea"/>
              </a:rPr>
              <a:t>○○</a:t>
            </a:r>
            <a:r>
              <a:rPr lang="zh-CN" altLang="en-US" sz="2800">
                <a:sym typeface="+mn-ea"/>
              </a:rPr>
              <a:t>●●</a:t>
            </a:r>
            <a:r>
              <a:rPr lang="zh-CN" altLang="en-US" sz="2800">
                <a:sym typeface="+mn-ea"/>
              </a:rPr>
              <a:t>○●</a:t>
            </a:r>
            <a:r>
              <a:rPr lang="zh-CN" altLang="en-US" sz="2800">
                <a:sym typeface="+mn-ea"/>
              </a:rPr>
              <a:t>○●○●</a:t>
            </a:r>
            <a:endParaRPr lang="zh-CN" altLang="en-US" sz="2800">
              <a:sym typeface="+mn-ea"/>
            </a:endParaRPr>
          </a:p>
        </p:txBody>
      </p:sp>
      <p:sp>
        <p:nvSpPr>
          <p:cNvPr id="12" name="文本框 11"/>
          <p:cNvSpPr txBox="1"/>
          <p:nvPr/>
        </p:nvSpPr>
        <p:spPr>
          <a:xfrm>
            <a:off x="686435" y="4373880"/>
            <a:ext cx="4051935" cy="521970"/>
          </a:xfrm>
          <a:prstGeom prst="rect">
            <a:avLst/>
          </a:prstGeom>
          <a:noFill/>
        </p:spPr>
        <p:txBody>
          <a:bodyPr wrap="square" rtlCol="0" anchor="t">
            <a:spAutoFit/>
          </a:bodyPr>
          <a:p>
            <a:pPr marL="0" indent="0" algn="l">
              <a:buNone/>
            </a:pPr>
            <a:r>
              <a:rPr lang="en-US" altLang="zh-CN" sz="2800">
                <a:sym typeface="+mn-ea"/>
              </a:rPr>
              <a:t> </a:t>
            </a:r>
            <a:r>
              <a:rPr lang="zh-CN" altLang="en-US" sz="2800">
                <a:sym typeface="+mn-ea"/>
              </a:rPr>
              <a:t>○●</a:t>
            </a:r>
            <a:r>
              <a:rPr lang="zh-CN" altLang="en-US" sz="2800">
                <a:sym typeface="+mn-ea"/>
              </a:rPr>
              <a:t>○●</a:t>
            </a:r>
            <a:r>
              <a:rPr lang="zh-CN" altLang="en-US" sz="2800">
                <a:sym typeface="+mn-ea"/>
              </a:rPr>
              <a:t>○●○●○●</a:t>
            </a:r>
            <a:endParaRPr lang="zh-CN" altLang="en-US" sz="2800">
              <a:sym typeface="+mn-ea"/>
            </a:endParaRPr>
          </a:p>
        </p:txBody>
      </p:sp>
      <p:sp>
        <p:nvSpPr>
          <p:cNvPr id="13" name="圆角矩形 12"/>
          <p:cNvSpPr/>
          <p:nvPr/>
        </p:nvSpPr>
        <p:spPr>
          <a:xfrm>
            <a:off x="3592830" y="2049145"/>
            <a:ext cx="733425" cy="39560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算法</a:t>
            </a:r>
            <a:r>
              <a:rPr lang="zh-CN" altLang="en-US"/>
              <a:t>分析</a:t>
            </a:r>
            <a:endParaRPr lang="zh-CN" altLang="en-US"/>
          </a:p>
        </p:txBody>
      </p:sp>
      <p:sp>
        <p:nvSpPr>
          <p:cNvPr id="3" name="内容占位符 2"/>
          <p:cNvSpPr>
            <a:spLocks noGrp="1"/>
          </p:cNvSpPr>
          <p:nvPr>
            <p:ph idx="1"/>
          </p:nvPr>
        </p:nvSpPr>
        <p:spPr/>
        <p:txBody>
          <a:bodyPr/>
          <a:p>
            <a:r>
              <a:rPr lang="zh-CN" altLang="en-US"/>
              <a:t>假设一共有</a:t>
            </a:r>
            <a:r>
              <a:rPr lang="en-US" altLang="zh-CN"/>
              <a:t>2n</a:t>
            </a:r>
            <a:r>
              <a:rPr lang="zh-CN" altLang="en-US"/>
              <a:t>个</a:t>
            </a:r>
            <a:r>
              <a:rPr lang="zh-CN" altLang="en-US"/>
              <a:t>棋子</a:t>
            </a:r>
            <a:endParaRPr lang="zh-CN" altLang="en-US"/>
          </a:p>
          <a:p>
            <a:r>
              <a:rPr lang="zh-CN" altLang="en-US"/>
              <a:t>第一步，将中间的一黑一白两个棋子移动到</a:t>
            </a:r>
            <a:r>
              <a:rPr lang="zh-CN" altLang="en-US"/>
              <a:t>最后</a:t>
            </a:r>
            <a:endParaRPr lang="zh-CN" altLang="en-US"/>
          </a:p>
          <a:p>
            <a:r>
              <a:rPr lang="zh-CN" altLang="en-US"/>
              <a:t>此时不满足要求的有</a:t>
            </a:r>
            <a:r>
              <a:rPr lang="en-US" altLang="zh-CN"/>
              <a:t>2(n-1)</a:t>
            </a:r>
            <a:r>
              <a:rPr lang="zh-CN" altLang="en-US"/>
              <a:t>个棋子，其中前</a:t>
            </a:r>
            <a:r>
              <a:rPr lang="en-US" altLang="zh-CN"/>
              <a:t>n-1</a:t>
            </a:r>
            <a:r>
              <a:rPr lang="zh-CN" altLang="en-US"/>
              <a:t>个是白色棋子，从</a:t>
            </a:r>
            <a:r>
              <a:rPr lang="en-US" altLang="zh-CN"/>
              <a:t>n</a:t>
            </a:r>
            <a:r>
              <a:rPr lang="zh-CN" altLang="en-US"/>
              <a:t>到</a:t>
            </a:r>
            <a:r>
              <a:rPr lang="en-US" altLang="zh-CN"/>
              <a:t>2n-2</a:t>
            </a:r>
            <a:r>
              <a:rPr lang="zh-CN" altLang="en-US"/>
              <a:t>是黑色</a:t>
            </a:r>
            <a:r>
              <a:rPr lang="zh-CN" altLang="en-US"/>
              <a:t>棋子；</a:t>
            </a:r>
            <a:endParaRPr lang="zh-CN" altLang="en-US"/>
          </a:p>
          <a:p>
            <a:r>
              <a:rPr lang="zh-CN" altLang="en-US"/>
              <a:t>可以重复第一步的</a:t>
            </a:r>
            <a:r>
              <a:rPr lang="zh-CN" altLang="en-US"/>
              <a:t>操作</a:t>
            </a:r>
            <a:endParaRPr lang="zh-CN" altLang="en-US"/>
          </a:p>
          <a:p>
            <a:r>
              <a:rPr lang="zh-CN" altLang="en-US"/>
              <a:t>总共的移动次数是</a:t>
            </a:r>
            <a:r>
              <a:rPr lang="en-US" altLang="zh-CN"/>
              <a:t>2(n-1)</a:t>
            </a:r>
            <a:r>
              <a:rPr lang="zh-CN" altLang="en-US"/>
              <a:t>次</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页脚占位符 3"/>
          <p:cNvSpPr>
            <a:spLocks noGrp="1"/>
          </p:cNvSpPr>
          <p:nvPr>
            <p:ph type="ftr"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FontTx/>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ctr"/>
            <a:r>
              <a:rPr lang="en-US" altLang="zh-CN" sz="1400" dirty="0"/>
              <a:t>Algorithms Design Techniques and Analysis</a:t>
            </a:r>
            <a:endParaRPr lang="en-US" altLang="zh-CN" sz="1400" dirty="0"/>
          </a:p>
        </p:txBody>
      </p:sp>
      <p:sp>
        <p:nvSpPr>
          <p:cNvPr id="112642" name="Rectangle 2"/>
          <p:cNvSpPr>
            <a:spLocks noGrp="1"/>
          </p:cNvSpPr>
          <p:nvPr>
            <p:ph type="title"/>
          </p:nvPr>
        </p:nvSpPr>
        <p:spPr/>
        <p:txBody>
          <a:bodyPr vert="horz" wrap="square" lIns="91440" tIns="45720" rIns="91440" bIns="45720" anchor="ctr" anchorCtr="0"/>
          <a:p>
            <a:pPr eaLnBrk="1" hangingPunct="1"/>
            <a:r>
              <a:rPr lang="en-US" altLang="zh-CN" dirty="0"/>
              <a:t>Exercises </a:t>
            </a:r>
            <a:endParaRPr lang="en-US" altLang="zh-CN" dirty="0"/>
          </a:p>
        </p:txBody>
      </p:sp>
      <p:sp>
        <p:nvSpPr>
          <p:cNvPr id="112643" name="Rectangle 3"/>
          <p:cNvSpPr>
            <a:spLocks noGrp="1"/>
          </p:cNvSpPr>
          <p:nvPr>
            <p:ph idx="1"/>
          </p:nvPr>
        </p:nvSpPr>
        <p:spPr>
          <a:xfrm>
            <a:off x="928688" y="1285875"/>
            <a:ext cx="7786687" cy="4525963"/>
          </a:xfrm>
        </p:spPr>
        <p:txBody>
          <a:bodyPr vert="horz" wrap="square" lIns="91440" tIns="45720" rIns="91440" bIns="45720" anchor="t" anchorCtr="0"/>
          <a:p>
            <a:pPr eaLnBrk="1" hangingPunct="1"/>
            <a:r>
              <a:rPr lang="en-US" altLang="zh-CN" dirty="0"/>
              <a:t>2.7</a:t>
            </a:r>
            <a:endParaRPr lang="en-US" altLang="zh-CN" dirty="0"/>
          </a:p>
          <a:p>
            <a:pPr eaLnBrk="1" hangingPunct="1"/>
            <a:r>
              <a:rPr lang="en-US" altLang="zh-CN" dirty="0"/>
              <a:t>2.12</a:t>
            </a:r>
            <a:endParaRPr lang="en-US" altLang="zh-CN" dirty="0"/>
          </a:p>
          <a:p>
            <a:pPr eaLnBrk="1" hangingPunct="1"/>
            <a:r>
              <a:rPr lang="en-US" altLang="zh-CN" dirty="0"/>
              <a:t>2.29</a:t>
            </a:r>
            <a:endParaRPr lang="en-US" altLang="zh-CN" dirty="0"/>
          </a:p>
          <a:p>
            <a:pPr eaLnBrk="1" hangingPunct="1"/>
            <a:r>
              <a:rPr lang="en-US" altLang="zh-CN" dirty="0"/>
              <a:t>2.31</a:t>
            </a:r>
            <a:endParaRPr lang="en-US" altLang="zh-CN" dirty="0"/>
          </a:p>
          <a:p>
            <a:pPr eaLnBrk="1" hangingPunct="1"/>
            <a:r>
              <a:rPr lang="zh-CN" altLang="zh-CN" dirty="0"/>
              <a:t>一个数列的首项</a:t>
            </a:r>
            <a:r>
              <a:rPr lang="en-US" altLang="zh-CN" i="1" dirty="0"/>
              <a:t>a</a:t>
            </a:r>
            <a:r>
              <a:rPr lang="en-US" altLang="zh-CN" baseline="-25000" dirty="0"/>
              <a:t>1</a:t>
            </a:r>
            <a:r>
              <a:rPr lang="en-US" altLang="zh-CN" dirty="0"/>
              <a:t>=0</a:t>
            </a:r>
            <a:r>
              <a:rPr lang="zh-CN" altLang="zh-CN" dirty="0"/>
              <a:t>，后续奇数项和偶数项的计算公式分别为</a:t>
            </a:r>
            <a:r>
              <a:rPr lang="en-US" altLang="zh-CN" i="1" dirty="0"/>
              <a:t>a</a:t>
            </a:r>
            <a:r>
              <a:rPr lang="en-US" altLang="zh-CN" baseline="-25000" dirty="0"/>
              <a:t>2</a:t>
            </a:r>
            <a:r>
              <a:rPr lang="en-US" altLang="zh-CN" i="1" baseline="-25000" dirty="0"/>
              <a:t>n</a:t>
            </a:r>
            <a:r>
              <a:rPr lang="en-US" altLang="zh-CN" dirty="0"/>
              <a:t>=</a:t>
            </a:r>
            <a:r>
              <a:rPr lang="en-US" altLang="zh-CN" i="1" dirty="0"/>
              <a:t>a</a:t>
            </a:r>
            <a:r>
              <a:rPr lang="en-US" altLang="zh-CN" baseline="-25000" dirty="0"/>
              <a:t>2</a:t>
            </a:r>
            <a:r>
              <a:rPr lang="en-US" altLang="zh-CN" i="1" baseline="-25000" dirty="0"/>
              <a:t>n</a:t>
            </a:r>
            <a:r>
              <a:rPr lang="en-US" altLang="zh-CN" baseline="-25000" dirty="0"/>
              <a:t>-1</a:t>
            </a:r>
            <a:r>
              <a:rPr lang="en-US" altLang="zh-CN" dirty="0"/>
              <a:t>+2</a:t>
            </a:r>
            <a:r>
              <a:rPr lang="zh-CN" altLang="zh-CN" dirty="0"/>
              <a:t>，</a:t>
            </a:r>
            <a:r>
              <a:rPr lang="en-US" altLang="zh-CN" i="1" dirty="0"/>
              <a:t>a</a:t>
            </a:r>
            <a:r>
              <a:rPr lang="en-US" altLang="zh-CN" baseline="-25000" dirty="0"/>
              <a:t>2</a:t>
            </a:r>
            <a:r>
              <a:rPr lang="en-US" altLang="zh-CN" i="1" baseline="-25000" dirty="0"/>
              <a:t>n</a:t>
            </a:r>
            <a:r>
              <a:rPr lang="en-US" altLang="zh-CN" baseline="-25000" dirty="0"/>
              <a:t>+1</a:t>
            </a:r>
            <a:r>
              <a:rPr lang="en-US" altLang="zh-CN" dirty="0"/>
              <a:t>=</a:t>
            </a:r>
            <a:r>
              <a:rPr lang="en-US" altLang="zh-CN" i="1" dirty="0"/>
              <a:t>a</a:t>
            </a:r>
            <a:r>
              <a:rPr lang="en-US" altLang="zh-CN" baseline="-25000" dirty="0"/>
              <a:t>2</a:t>
            </a:r>
            <a:r>
              <a:rPr lang="en-US" altLang="zh-CN" i="1" baseline="-25000" dirty="0"/>
              <a:t>n</a:t>
            </a:r>
            <a:r>
              <a:rPr lang="en-US" altLang="zh-CN" baseline="-25000" dirty="0"/>
              <a:t>-1</a:t>
            </a:r>
            <a:r>
              <a:rPr lang="en-US" altLang="zh-CN" dirty="0"/>
              <a:t>+</a:t>
            </a:r>
            <a:r>
              <a:rPr lang="en-US" altLang="zh-CN" i="1" dirty="0"/>
              <a:t>a</a:t>
            </a:r>
            <a:r>
              <a:rPr lang="en-US" altLang="zh-CN" baseline="-25000" dirty="0"/>
              <a:t>2</a:t>
            </a:r>
            <a:r>
              <a:rPr lang="en-US" altLang="zh-CN" i="1" baseline="-25000" dirty="0"/>
              <a:t>n</a:t>
            </a:r>
            <a:r>
              <a:rPr lang="en-US" altLang="zh-CN" dirty="0"/>
              <a:t>-1</a:t>
            </a:r>
            <a:r>
              <a:rPr lang="zh-CN" altLang="zh-CN" dirty="0"/>
              <a:t>，设计一个递归算法求数列第</a:t>
            </a:r>
            <a:r>
              <a:rPr lang="en-US" altLang="zh-CN" i="1" dirty="0"/>
              <a:t>n</a:t>
            </a:r>
            <a:r>
              <a:rPr lang="zh-CN" altLang="zh-CN" dirty="0"/>
              <a:t>项。</a:t>
            </a:r>
            <a:endParaRPr lang="en-US" altLang="zh-CN" dirty="0"/>
          </a:p>
        </p:txBody>
      </p:sp>
    </p:spTree>
  </p:cSld>
  <p:clrMapOvr>
    <a:masterClrMapping/>
  </p:clrMapOvr>
</p:sld>
</file>

<file path=ppt/tags/tag1.xml><?xml version="1.0" encoding="utf-8"?>
<p:tagLst xmlns:p="http://schemas.openxmlformats.org/presentationml/2006/main">
  <p:tag name="KSO_WPP_MARK_KEY" val="bd02da6c-2393-4e49-a68b-aba0ea0b637c"/>
  <p:tag name="COMMONDATA" val="eyJoZGlkIjoiYTgzY2MxNGI5M2UyZmViNDA3YWY2YTEzOTdmM2JjNWIifQ=="/>
</p:tagLst>
</file>

<file path=ppt/theme/theme1.xml><?xml version="1.0" encoding="utf-8"?>
<a:theme xmlns:a="http://schemas.openxmlformats.org/drawingml/2006/main" name="1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多媒体</Template>
  <TotalTime>0</TotalTime>
  <Words>12524</Words>
  <Application>WPS 演示</Application>
  <PresentationFormat>全屏显示(4:3)</PresentationFormat>
  <Paragraphs>1069</Paragraphs>
  <Slides>65</Slides>
  <Notes>47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26</vt:i4>
      </vt:variant>
      <vt:variant>
        <vt:lpstr>幻灯片标题</vt:lpstr>
      </vt:variant>
      <vt:variant>
        <vt:i4>65</vt:i4>
      </vt:variant>
    </vt:vector>
  </HeadingPairs>
  <TitlesOfParts>
    <vt:vector size="106" baseType="lpstr">
      <vt:lpstr>Arial</vt:lpstr>
      <vt:lpstr>宋体</vt:lpstr>
      <vt:lpstr>Wingdings</vt:lpstr>
      <vt:lpstr>Garamond</vt:lpstr>
      <vt:lpstr>华文行楷</vt:lpstr>
      <vt:lpstr>Times New Roman</vt:lpstr>
      <vt:lpstr>楷体_GB2312</vt:lpstr>
      <vt:lpstr>华文楷体</vt:lpstr>
      <vt:lpstr>新宋体</vt:lpstr>
      <vt:lpstr>微软雅黑</vt:lpstr>
      <vt:lpstr>Arial Unicode MS</vt:lpstr>
      <vt:lpstr>Symbol</vt:lpstr>
      <vt:lpstr>Consolas</vt:lpstr>
      <vt:lpstr>楷体</vt:lpstr>
      <vt:lpstr>1_template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第二讲</vt:lpstr>
      <vt:lpstr>本章内容</vt:lpstr>
      <vt:lpstr>主要内容</vt:lpstr>
      <vt:lpstr>2.1 引言</vt:lpstr>
      <vt:lpstr>例1  阶乘函数</vt:lpstr>
      <vt:lpstr>例2  Fibonacci数列</vt:lpstr>
      <vt:lpstr>Fibonacci数列递归算法</vt:lpstr>
      <vt:lpstr>2.1.1 简单问题例的算法描述</vt:lpstr>
      <vt:lpstr>2.1.1 Selection sort（选择排序）</vt:lpstr>
      <vt:lpstr>PowerPoint 演示文稿</vt:lpstr>
      <vt:lpstr>时间复杂度</vt:lpstr>
      <vt:lpstr>2.1.2 Insertion sort（插入排序）</vt:lpstr>
      <vt:lpstr>PowerPoint 演示文稿</vt:lpstr>
      <vt:lpstr>Algorithm analysis</vt:lpstr>
      <vt:lpstr>算法分析</vt:lpstr>
      <vt:lpstr>主要内容</vt:lpstr>
      <vt:lpstr>2.1 引言</vt:lpstr>
      <vt:lpstr>   引言 </vt:lpstr>
      <vt:lpstr>主要内容</vt:lpstr>
      <vt:lpstr>2.3.1 Integer exponentiation（整数幂）</vt:lpstr>
      <vt:lpstr>一种有效的方法</vt:lpstr>
      <vt:lpstr>PowerPoint 演示文稿</vt:lpstr>
      <vt:lpstr>PowerPoint 演示文稿</vt:lpstr>
      <vt:lpstr>算法分析</vt:lpstr>
      <vt:lpstr>2.3.2多项式求值(Horner’s规则)</vt:lpstr>
      <vt:lpstr>更快的方法(Horner’s rule)</vt:lpstr>
      <vt:lpstr>PowerPoint 演示文稿</vt:lpstr>
      <vt:lpstr>算法分析</vt:lpstr>
      <vt:lpstr>2.3.3 Generating permutations（生成排列）</vt:lpstr>
      <vt:lpstr>2.3.3 Generating permutations（生成排列）</vt:lpstr>
      <vt:lpstr>2.3.3.1 第一种算法</vt:lpstr>
      <vt:lpstr>PowerPoint 演示文稿</vt:lpstr>
      <vt:lpstr>算法分析</vt:lpstr>
      <vt:lpstr>算法分析（继续）</vt:lpstr>
      <vt:lpstr>2.3.3.2 第二种算法</vt:lpstr>
      <vt:lpstr>PowerPoint 演示文稿</vt:lpstr>
      <vt:lpstr>PowerPoint 演示文稿</vt:lpstr>
      <vt:lpstr>算法分析</vt:lpstr>
      <vt:lpstr>算法分析(Continue)</vt:lpstr>
      <vt:lpstr>2.3 Radix sort（基数排序）</vt:lpstr>
      <vt:lpstr>方法一</vt:lpstr>
      <vt:lpstr>第一种选择…</vt:lpstr>
      <vt:lpstr>第二种选择…</vt:lpstr>
      <vt:lpstr>         惊奇的发现</vt:lpstr>
      <vt:lpstr>         惊奇的发现</vt:lpstr>
      <vt:lpstr>     Example</vt:lpstr>
      <vt:lpstr>Radix sort（基数排序）</vt:lpstr>
      <vt:lpstr>PowerPoint 演示文稿</vt:lpstr>
      <vt:lpstr>PowerPoint 演示文稿</vt:lpstr>
      <vt:lpstr>算法分析</vt:lpstr>
      <vt:lpstr>2.3.5 Finding the majority element（寻找多数元素）</vt:lpstr>
      <vt:lpstr>方法1(brute-force method ) </vt:lpstr>
      <vt:lpstr>方法2 </vt:lpstr>
      <vt:lpstr>方法 3 			</vt:lpstr>
      <vt:lpstr>更有效算法</vt:lpstr>
      <vt:lpstr>基本思想</vt:lpstr>
      <vt:lpstr>PowerPoint 演示文稿</vt:lpstr>
      <vt:lpstr>2.8 汉诺塔</vt:lpstr>
      <vt:lpstr>操作示例</vt:lpstr>
      <vt:lpstr>算法分析</vt:lpstr>
      <vt:lpstr>算法分析</vt:lpstr>
      <vt:lpstr>取棋子游戏</vt:lpstr>
      <vt:lpstr>操作示例</vt:lpstr>
      <vt:lpstr>算法分析</vt:lpstr>
      <vt:lpstr>Exercises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mirror</dc:creator>
  <cp:lastModifiedBy>田纲</cp:lastModifiedBy>
  <cp:revision>855</cp:revision>
  <dcterms:created xsi:type="dcterms:W3CDTF">2023-11-24T12:07:00Z</dcterms:created>
  <dcterms:modified xsi:type="dcterms:W3CDTF">2023-11-28T03:22:51Z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80170CA0583EEFA8F7878863C72F11CC</vt:lpwstr>
  </property>
  <property fmtid="{D5CDD505-2E9C-101B-9397-08002B2CF9AE}" pid="3" name="KSOProductBuildVer">
    <vt:lpwstr>2052-11.1.0.12650</vt:lpwstr>
  </property>
</Properties>
</file>