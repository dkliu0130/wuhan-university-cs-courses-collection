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59"/>
  </p:notesMasterIdLst>
  <p:sldIdLst>
    <p:sldId id="256" r:id="rId2"/>
    <p:sldId id="377" r:id="rId3"/>
    <p:sldId id="346" r:id="rId4"/>
    <p:sldId id="376" r:id="rId5"/>
    <p:sldId id="372" r:id="rId6"/>
    <p:sldId id="373" r:id="rId7"/>
    <p:sldId id="374" r:id="rId8"/>
    <p:sldId id="375" r:id="rId9"/>
    <p:sldId id="379" r:id="rId10"/>
    <p:sldId id="38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3" r:id="rId24"/>
    <p:sldId id="434" r:id="rId25"/>
    <p:sldId id="435" r:id="rId26"/>
    <p:sldId id="436" r:id="rId27"/>
    <p:sldId id="437" r:id="rId28"/>
    <p:sldId id="438" r:id="rId29"/>
    <p:sldId id="439" r:id="rId30"/>
    <p:sldId id="440" r:id="rId31"/>
    <p:sldId id="441" r:id="rId32"/>
    <p:sldId id="442" r:id="rId33"/>
    <p:sldId id="443" r:id="rId34"/>
    <p:sldId id="444" r:id="rId35"/>
    <p:sldId id="445" r:id="rId36"/>
    <p:sldId id="446" r:id="rId37"/>
    <p:sldId id="447" r:id="rId38"/>
    <p:sldId id="448" r:id="rId39"/>
    <p:sldId id="449" r:id="rId40"/>
    <p:sldId id="450" r:id="rId41"/>
    <p:sldId id="357" r:id="rId42"/>
    <p:sldId id="358" r:id="rId43"/>
    <p:sldId id="359" r:id="rId44"/>
    <p:sldId id="360" r:id="rId45"/>
    <p:sldId id="361" r:id="rId46"/>
    <p:sldId id="362" r:id="rId47"/>
    <p:sldId id="363" r:id="rId48"/>
    <p:sldId id="364" r:id="rId49"/>
    <p:sldId id="371" r:id="rId50"/>
    <p:sldId id="451" r:id="rId51"/>
    <p:sldId id="452" r:id="rId52"/>
    <p:sldId id="453" r:id="rId53"/>
    <p:sldId id="454" r:id="rId54"/>
    <p:sldId id="455" r:id="rId55"/>
    <p:sldId id="456" r:id="rId56"/>
    <p:sldId id="457" r:id="rId57"/>
    <p:sldId id="458" r:id="rId58"/>
  </p:sldIdLst>
  <p:sldSz cx="9144000" cy="6858000" type="screen4x3"/>
  <p:notesSz cx="6858000" cy="9144000"/>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3399"/>
    <a:srgbClr val="FDF1B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49" autoAdjust="0"/>
  </p:normalViewPr>
  <p:slideViewPr>
    <p:cSldViewPr>
      <p:cViewPr varScale="1">
        <p:scale>
          <a:sx n="72" d="100"/>
          <a:sy n="72" d="100"/>
        </p:scale>
        <p:origin x="1335" y="4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120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727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120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247A74B9-975E-4772-8237-E16BFCDDDDF9}"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3D0711D-55A3-429A-8C21-5DB91CB6DF32}" type="slidenum">
              <a:rPr lang="en-US" altLang="zh-CN" sz="1200"/>
              <a:pPr/>
              <a:t>1</a:t>
            </a:fld>
            <a:endParaRPr lang="en-US" altLang="zh-CN"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47A74B9-975E-4772-8237-E16BFCDDDDF9}" type="slidenum">
              <a:rPr lang="en-US" altLang="zh-CN" smtClean="0"/>
              <a:pPr/>
              <a:t>2</a:t>
            </a:fld>
            <a:endParaRPr lang="en-US" altLang="zh-CN"/>
          </a:p>
        </p:txBody>
      </p:sp>
    </p:spTree>
    <p:extLst>
      <p:ext uri="{BB962C8B-B14F-4D97-AF65-F5344CB8AC3E}">
        <p14:creationId xmlns:p14="http://schemas.microsoft.com/office/powerpoint/2010/main" val="3934488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47A74B9-975E-4772-8237-E16BFCDDDDF9}" type="slidenum">
              <a:rPr lang="en-US" altLang="zh-CN" smtClean="0"/>
              <a:pPr/>
              <a:t>5</a:t>
            </a:fld>
            <a:endParaRPr lang="en-US" altLang="zh-CN"/>
          </a:p>
        </p:txBody>
      </p:sp>
    </p:spTree>
    <p:extLst>
      <p:ext uri="{BB962C8B-B14F-4D97-AF65-F5344CB8AC3E}">
        <p14:creationId xmlns:p14="http://schemas.microsoft.com/office/powerpoint/2010/main" val="1412345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47A74B9-975E-4772-8237-E16BFCDDDDF9}" type="slidenum">
              <a:rPr lang="en-US" altLang="zh-CN" smtClean="0"/>
              <a:pPr/>
              <a:t>6</a:t>
            </a:fld>
            <a:endParaRPr lang="en-US" altLang="zh-CN"/>
          </a:p>
        </p:txBody>
      </p:sp>
    </p:spTree>
    <p:extLst>
      <p:ext uri="{BB962C8B-B14F-4D97-AF65-F5344CB8AC3E}">
        <p14:creationId xmlns:p14="http://schemas.microsoft.com/office/powerpoint/2010/main" val="4111549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7754C754-CB90-4817-82F4-EFC6F4336771}" type="slidenum">
              <a:rPr lang="en-US" altLang="zh-CN" sz="1200" smtClean="0"/>
              <a:pPr/>
              <a:t>9</a:t>
            </a:fld>
            <a:endParaRPr lang="en-US" altLang="zh-CN" sz="120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304096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A4A05950-F49B-4C71-9224-8243184E7608}" type="slidenum">
              <a:rPr lang="en-US" altLang="zh-CN" sz="1200" smtClean="0"/>
              <a:pPr/>
              <a:t>10</a:t>
            </a:fld>
            <a:endParaRPr lang="en-US" altLang="zh-CN" sz="120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242243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9474063-73C8-4170-9A4E-45446F1E157C}" type="slidenum">
              <a:rPr lang="en-US" altLang="zh-CN" sz="1200" smtClean="0"/>
              <a:pPr/>
              <a:t>11</a:t>
            </a:fld>
            <a:endParaRPr lang="en-US" altLang="zh-CN" sz="120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56280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AE22D6AE-FE26-4A49-ACEF-18985B8270A2}" type="slidenum">
              <a:rPr lang="en-US" altLang="zh-CN" sz="1200" smtClean="0"/>
              <a:pPr/>
              <a:t>12</a:t>
            </a:fld>
            <a:endParaRPr lang="en-US" altLang="zh-CN" sz="120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138236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5D9A1D9-E979-445B-8873-7AA886ECF424}" type="slidenum">
              <a:rPr lang="en-US" altLang="zh-CN" sz="1200" smtClean="0"/>
              <a:pPr/>
              <a:t>13</a:t>
            </a:fld>
            <a:endParaRPr lang="en-US" altLang="zh-CN" sz="1200"/>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89389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48A6F97-9654-4928-A013-8E319F8B551C}" type="slidenum">
              <a:rPr lang="en-US" altLang="zh-CN" sz="1200" smtClean="0"/>
              <a:pPr/>
              <a:t>14</a:t>
            </a:fld>
            <a:endParaRPr lang="en-US" altLang="zh-CN" sz="1200"/>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80242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AFF940BC-5A02-4AE9-BACD-A5B4422ADCC0}" type="slidenum">
              <a:rPr lang="en-US" altLang="zh-CN" sz="1200" smtClean="0"/>
              <a:pPr/>
              <a:t>15</a:t>
            </a:fld>
            <a:endParaRPr lang="en-US" altLang="zh-CN" sz="12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659388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75F811DD-06C4-4DEE-A17A-767C687C5FAB}" type="slidenum">
              <a:rPr lang="en-US" altLang="zh-CN" sz="1200" smtClean="0"/>
              <a:pPr/>
              <a:t>16</a:t>
            </a:fld>
            <a:endParaRPr lang="en-US" altLang="zh-CN" sz="12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622800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792215A-001A-4A22-9A98-70C6622C0B53}" type="slidenum">
              <a:rPr lang="en-US" altLang="zh-CN" sz="1200" smtClean="0"/>
              <a:pPr/>
              <a:t>17</a:t>
            </a:fld>
            <a:endParaRPr lang="en-US" altLang="zh-CN"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908777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71A364FB-D16C-4334-BCA9-EE4A1285CC89}" type="slidenum">
              <a:rPr lang="en-US" altLang="zh-CN" sz="1200" smtClean="0"/>
              <a:pPr/>
              <a:t>18</a:t>
            </a:fld>
            <a:endParaRPr lang="en-US" altLang="zh-CN" sz="12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778385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2FF68FE8-AD38-41EE-80FE-9E2194A4C74A}" type="slidenum">
              <a:rPr lang="en-US" altLang="zh-CN" sz="1200" smtClean="0"/>
              <a:pPr/>
              <a:t>19</a:t>
            </a:fld>
            <a:endParaRPr lang="en-US" altLang="zh-CN" sz="12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990684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A82D81B5-FB8D-4337-90FC-0527B3098923}" type="slidenum">
              <a:rPr lang="en-US" altLang="zh-CN" sz="1200" smtClean="0"/>
              <a:pPr/>
              <a:t>20</a:t>
            </a:fld>
            <a:endParaRPr lang="en-US" altLang="zh-CN" sz="120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73338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176D898E-6EBF-4187-926B-1820D92FCABA}" type="slidenum">
              <a:rPr lang="en-US" altLang="zh-CN" sz="1200" smtClean="0"/>
              <a:pPr/>
              <a:t>21</a:t>
            </a:fld>
            <a:endParaRPr lang="en-US" altLang="zh-CN" sz="120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235635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5BE47A7-09DB-4699-A04A-5326C49CCE93}" type="slidenum">
              <a:rPr lang="en-US" altLang="zh-CN" sz="1200" smtClean="0"/>
              <a:pPr/>
              <a:t>22</a:t>
            </a:fld>
            <a:endParaRPr lang="en-US" altLang="zh-CN" sz="120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64373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702490E1-813C-483F-BCBC-4DAD8A3E67A0}" type="slidenum">
              <a:rPr lang="en-US" altLang="zh-CN" sz="1200" smtClean="0"/>
              <a:pPr/>
              <a:t>23</a:t>
            </a:fld>
            <a:endParaRPr lang="en-US" altLang="zh-CN" sz="12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65519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6275448-35E3-4C6B-AADA-0671C8D26C2F}" type="slidenum">
              <a:rPr lang="en-US" altLang="zh-CN" sz="1200" smtClean="0"/>
              <a:pPr/>
              <a:t>24</a:t>
            </a:fld>
            <a:endParaRPr lang="en-US" altLang="zh-CN" sz="12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1840941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33C4224-5E0F-4834-99D3-B809411C90FB}" type="slidenum">
              <a:rPr lang="en-US" altLang="zh-CN" sz="1200" smtClean="0"/>
              <a:pPr/>
              <a:t>25</a:t>
            </a:fld>
            <a:endParaRPr lang="en-US" altLang="zh-CN" sz="12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16133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3B60B3DC-682E-41C5-8A80-F325B1E0535E}" type="slidenum">
              <a:rPr lang="en-US" altLang="zh-CN" sz="1200" smtClean="0"/>
              <a:pPr/>
              <a:t>26</a:t>
            </a:fld>
            <a:endParaRPr lang="en-US" altLang="zh-CN" sz="120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02971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2AFBAAE3-8EF4-4548-A982-0F908A26B805}" type="slidenum">
              <a:rPr lang="en-US" altLang="zh-CN" sz="1200" smtClean="0"/>
              <a:pPr/>
              <a:t>27</a:t>
            </a:fld>
            <a:endParaRPr lang="en-US" altLang="zh-CN" sz="120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6951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5781BC3A-5B7E-46ED-8E29-AE5441C7D564}" type="slidenum">
              <a:rPr lang="en-US" altLang="zh-CN" sz="1200" smtClean="0"/>
              <a:pPr/>
              <a:t>28</a:t>
            </a:fld>
            <a:endParaRPr lang="en-US" altLang="zh-CN"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50365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64EF708-9757-41AA-958C-BBBD2DC05967}" type="slidenum">
              <a:rPr lang="en-US" altLang="zh-CN" sz="1200" smtClean="0"/>
              <a:pPr/>
              <a:t>29</a:t>
            </a:fld>
            <a:endParaRPr lang="en-US" altLang="zh-CN" sz="120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268145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604DA15F-0C49-474E-950B-831D254B60A2}" type="slidenum">
              <a:rPr lang="en-US" altLang="zh-CN" sz="1200" smtClean="0"/>
              <a:pPr/>
              <a:t>30</a:t>
            </a:fld>
            <a:endParaRPr lang="en-US" altLang="zh-CN" sz="120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79991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5F7F7526-18E9-45E8-8ED4-E2450A54E65C}" type="slidenum">
              <a:rPr lang="en-US" altLang="zh-CN" sz="1200" smtClean="0"/>
              <a:pPr/>
              <a:t>31</a:t>
            </a:fld>
            <a:endParaRPr lang="en-US" altLang="zh-CN" sz="120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859425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2FB351CD-B911-4042-BC50-C387C3AC3DBD}" type="slidenum">
              <a:rPr lang="en-US" altLang="zh-CN" sz="1200" smtClean="0"/>
              <a:pPr/>
              <a:t>32</a:t>
            </a:fld>
            <a:endParaRPr lang="en-US" altLang="zh-CN"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0897746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C7D75C15-74D9-4B2C-8E2D-EAECB55791DC}" type="slidenum">
              <a:rPr lang="en-US" altLang="zh-CN" sz="1200" smtClean="0"/>
              <a:pPr/>
              <a:t>33</a:t>
            </a:fld>
            <a:endParaRPr lang="en-US" altLang="zh-CN" sz="12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85137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DC1C12C-707D-4AA8-9724-C8EAC4A9C753}" type="slidenum">
              <a:rPr lang="en-US" altLang="zh-CN" sz="1200" smtClean="0"/>
              <a:pPr/>
              <a:t>34</a:t>
            </a:fld>
            <a:endParaRPr lang="en-US" altLang="zh-CN"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7492935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C746BB4-62A4-445D-8C3C-8F66362ABCB9}" type="slidenum">
              <a:rPr lang="en-US" altLang="zh-CN" sz="1200" smtClean="0"/>
              <a:pPr/>
              <a:t>35</a:t>
            </a:fld>
            <a:endParaRPr lang="en-US" altLang="zh-CN"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655893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E20E33BB-2508-4725-84FF-E532C8FDB164}" type="slidenum">
              <a:rPr lang="en-US" altLang="zh-CN" sz="1200" smtClean="0"/>
              <a:pPr/>
              <a:t>36</a:t>
            </a:fld>
            <a:endParaRPr lang="en-US" altLang="zh-CN" sz="12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6108898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6A8E4B7-8FB3-4CD6-AB7A-DCF9E6F96B63}" type="slidenum">
              <a:rPr lang="en-US" altLang="zh-CN" sz="1200" smtClean="0"/>
              <a:pPr/>
              <a:t>37</a:t>
            </a:fld>
            <a:endParaRPr lang="en-US" altLang="zh-CN"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1053367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0B1C9451-CE67-4AFB-AE84-570D4E1880A9}" type="slidenum">
              <a:rPr lang="en-US" altLang="zh-CN" sz="1200" smtClean="0"/>
              <a:pPr/>
              <a:t>38</a:t>
            </a:fld>
            <a:endParaRPr lang="en-US" altLang="zh-CN" sz="12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003648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5E91CC9A-0444-4C9E-BC7B-0210D542859C}" type="slidenum">
              <a:rPr lang="en-US" altLang="zh-CN" sz="1200" smtClean="0"/>
              <a:pPr/>
              <a:t>39</a:t>
            </a:fld>
            <a:endParaRPr lang="en-US" altLang="zh-CN" sz="12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793545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7A175A1A-20B9-4FC5-B7F8-4B1B69BC59A9}" type="slidenum">
              <a:rPr lang="en-US" altLang="zh-CN" sz="1200" smtClean="0"/>
              <a:pPr/>
              <a:t>40</a:t>
            </a:fld>
            <a:endParaRPr lang="en-US" altLang="zh-CN"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144548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47A74B9-975E-4772-8237-E16BFCDDDDF9}" type="slidenum">
              <a:rPr lang="en-US" altLang="zh-CN" smtClean="0"/>
              <a:pPr/>
              <a:t>43</a:t>
            </a:fld>
            <a:endParaRPr lang="en-US" altLang="zh-CN"/>
          </a:p>
        </p:txBody>
      </p:sp>
    </p:spTree>
    <p:extLst>
      <p:ext uri="{BB962C8B-B14F-4D97-AF65-F5344CB8AC3E}">
        <p14:creationId xmlns:p14="http://schemas.microsoft.com/office/powerpoint/2010/main" val="4239064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89BE0F7-1131-4D3B-B096-CF9793C79324}" type="slidenum">
              <a:rPr lang="en-US" altLang="zh-CN" sz="1200" smtClean="0"/>
              <a:pPr/>
              <a:t>50</a:t>
            </a:fld>
            <a:endParaRPr lang="en-US" altLang="zh-CN"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6109901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08F1CAA-B74D-4842-A25D-355132166A07}" type="slidenum">
              <a:rPr lang="en-US" altLang="zh-CN" sz="1200" smtClean="0"/>
              <a:pPr/>
              <a:t>51</a:t>
            </a:fld>
            <a:endParaRPr lang="en-US" altLang="zh-CN"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29353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07A883D-FE8A-45DD-9E56-825A12A68E75}" type="slidenum">
              <a:rPr lang="en-US" altLang="zh-CN" sz="1200" smtClean="0"/>
              <a:pPr/>
              <a:t>52</a:t>
            </a:fld>
            <a:endParaRPr lang="en-US" altLang="zh-CN"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942202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07A883D-FE8A-45DD-9E56-825A12A68E75}" type="slidenum">
              <a:rPr lang="en-US" altLang="zh-CN" sz="1200" smtClean="0"/>
              <a:pPr/>
              <a:t>53</a:t>
            </a:fld>
            <a:endParaRPr lang="en-US" altLang="zh-CN"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2812528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D07A883D-FE8A-45DD-9E56-825A12A68E75}" type="slidenum">
              <a:rPr lang="en-US" altLang="zh-CN" sz="1200" smtClean="0"/>
              <a:pPr/>
              <a:t>54</a:t>
            </a:fld>
            <a:endParaRPr lang="en-US" altLang="zh-CN"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707472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214C0247-865E-4794-8DD0-B36B97A9EE08}" type="slidenum">
              <a:rPr lang="en-US" altLang="zh-CN" sz="1200" smtClean="0"/>
              <a:pPr/>
              <a:t>55</a:t>
            </a:fld>
            <a:endParaRPr lang="en-US" altLang="zh-CN"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593687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65A0E4ED-B9D0-4033-A609-13712959FE0A}" type="slidenum">
              <a:rPr lang="en-US" altLang="zh-CN" sz="1200" smtClean="0"/>
              <a:pPr/>
              <a:t>56</a:t>
            </a:fld>
            <a:endParaRPr lang="en-US" altLang="zh-CN"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719799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B2E8568-3125-4103-A78D-68842A787701}" type="slidenum">
              <a:rPr lang="en-US" altLang="zh-CN" sz="1200" smtClean="0"/>
              <a:pPr/>
              <a:t>57</a:t>
            </a:fld>
            <a:endParaRPr lang="en-US" altLang="zh-CN"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0011979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descr="index_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81750"/>
            <a:ext cx="82438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200311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6381750"/>
            <a:ext cx="18002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6"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itchFamily="18" charset="0"/>
              </a:defRPr>
            </a:lvl1pPr>
          </a:lstStyle>
          <a:p>
            <a:pPr lvl="0"/>
            <a:r>
              <a:rPr lang="zh-CN" altLang="en-US" noProof="0"/>
              <a:t>单击此处编辑母版标题样式</a:t>
            </a:r>
          </a:p>
        </p:txBody>
      </p:sp>
      <p:sp>
        <p:nvSpPr>
          <p:cNvPr id="118787"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a:r>
              <a:rPr lang="zh-CN" altLang="en-US" noProof="0"/>
              <a:t>单击此处编辑母版副标题样式</a:t>
            </a:r>
          </a:p>
        </p:txBody>
      </p:sp>
      <p:sp>
        <p:nvSpPr>
          <p:cNvPr id="6" name="Rectangle 6"/>
          <p:cNvSpPr>
            <a:spLocks noGrp="1" noChangeArrowheads="1"/>
          </p:cNvSpPr>
          <p:nvPr>
            <p:ph type="ftr" sz="quarter" idx="10"/>
          </p:nvPr>
        </p:nvSpPr>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86159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233349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576004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074774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155216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540564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69803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35747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425331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497446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240155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343162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712966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900113" y="1268413"/>
            <a:ext cx="7786687"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pic>
        <p:nvPicPr>
          <p:cNvPr id="4100" name="Picture 4" descr="index_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381750"/>
            <a:ext cx="82438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5" descr="200311_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08850" y="6381750"/>
            <a:ext cx="18002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6"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en-US" altLang="zh-CN"/>
              <a:t>Algorithms Design Techniques and Analysis</a:t>
            </a:r>
          </a:p>
        </p:txBody>
      </p:sp>
    </p:spTree>
  </p:cSld>
  <p:clrMap bg1="lt1" tx1="dk1" bg2="lt2" tx2="dk2" accent1="accent1" accent2="accent2" accent3="accent3" accent4="accent4" accent5="accent5" accent6="accent6" hlink="hlink" folHlink="folHlink"/>
  <p:sldLayoutIdLst>
    <p:sldLayoutId id="2147484026"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Lst>
  <p:hf sldNum="0" hd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charset="0"/>
          <a:ea typeface="华文行楷" pitchFamily="2" charset="-122"/>
        </a:defRPr>
      </a:lvl2pPr>
      <a:lvl3pPr marL="1143000" indent="-228600" algn="l" rtl="0" eaLnBrk="0" fontAlgn="base" hangingPunct="0">
        <a:spcBef>
          <a:spcPct val="20000"/>
        </a:spcBef>
        <a:spcAft>
          <a:spcPct val="0"/>
        </a:spcAft>
        <a:buChar char="•"/>
        <a:defRPr sz="2000">
          <a:solidFill>
            <a:schemeClr val="accent2"/>
          </a:solidFill>
          <a:latin typeface="Arial" charset="0"/>
          <a:ea typeface="+mj-ea"/>
        </a:defRPr>
      </a:lvl3pPr>
      <a:lvl4pPr marL="1600200" indent="-228600" algn="l" rtl="0" eaLnBrk="0" fontAlgn="base" hangingPunct="0">
        <a:spcBef>
          <a:spcPct val="20000"/>
        </a:spcBef>
        <a:spcAft>
          <a:spcPct val="0"/>
        </a:spcAft>
        <a:buChar char="•"/>
        <a:defRPr sz="2000">
          <a:solidFill>
            <a:schemeClr val="tx1"/>
          </a:solidFill>
          <a:latin typeface="Arial" charset="0"/>
          <a:ea typeface="+mj-ea"/>
        </a:defRPr>
      </a:lvl4pPr>
      <a:lvl5pPr marL="2057400" indent="-228600" algn="l" rtl="0" eaLnBrk="0" fontAlgn="base" hangingPunct="0">
        <a:spcBef>
          <a:spcPct val="20000"/>
        </a:spcBef>
        <a:spcAft>
          <a:spcPct val="0"/>
        </a:spcAft>
        <a:buChar char="•"/>
        <a:defRPr sz="2000">
          <a:solidFill>
            <a:schemeClr val="tx1"/>
          </a:solidFill>
          <a:latin typeface="Arial" charset="0"/>
          <a:ea typeface="+mj-ea"/>
        </a:defRPr>
      </a:lvl5pPr>
      <a:lvl6pPr marL="2514600" indent="-228600" algn="l" rtl="0" fontAlgn="base">
        <a:spcBef>
          <a:spcPct val="20000"/>
        </a:spcBef>
        <a:spcAft>
          <a:spcPct val="0"/>
        </a:spcAft>
        <a:buChar char="•"/>
        <a:defRPr sz="2000">
          <a:solidFill>
            <a:schemeClr val="tx1"/>
          </a:solidFill>
          <a:latin typeface="Arial" charset="0"/>
          <a:ea typeface="+mj-ea"/>
        </a:defRPr>
      </a:lvl6pPr>
      <a:lvl7pPr marL="2971800" indent="-228600" algn="l" rtl="0" fontAlgn="base">
        <a:spcBef>
          <a:spcPct val="20000"/>
        </a:spcBef>
        <a:spcAft>
          <a:spcPct val="0"/>
        </a:spcAft>
        <a:buChar char="•"/>
        <a:defRPr sz="2000">
          <a:solidFill>
            <a:schemeClr val="tx1"/>
          </a:solidFill>
          <a:latin typeface="Arial" charset="0"/>
          <a:ea typeface="+mj-ea"/>
        </a:defRPr>
      </a:lvl7pPr>
      <a:lvl8pPr marL="3429000" indent="-228600" algn="l" rtl="0" fontAlgn="base">
        <a:spcBef>
          <a:spcPct val="20000"/>
        </a:spcBef>
        <a:spcAft>
          <a:spcPct val="0"/>
        </a:spcAft>
        <a:buChar char="•"/>
        <a:defRPr sz="2000">
          <a:solidFill>
            <a:schemeClr val="tx1"/>
          </a:solidFill>
          <a:latin typeface="Arial" charset="0"/>
          <a:ea typeface="+mj-ea"/>
        </a:defRPr>
      </a:lvl8pPr>
      <a:lvl9pPr marL="3886200" indent="-228600" algn="l" rtl="0" fontAlgn="base">
        <a:spcBef>
          <a:spcPct val="20000"/>
        </a:spcBef>
        <a:spcAft>
          <a:spcPct val="0"/>
        </a:spcAft>
        <a:buChar char="•"/>
        <a:defRPr sz="2000">
          <a:solidFill>
            <a:schemeClr val="tx1"/>
          </a:solidFill>
          <a:latin typeface="Arial"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6147" name="Rectangle 2"/>
          <p:cNvSpPr>
            <a:spLocks noGrp="1" noChangeArrowheads="1"/>
          </p:cNvSpPr>
          <p:nvPr>
            <p:ph type="ctrTitle"/>
          </p:nvPr>
        </p:nvSpPr>
        <p:spPr>
          <a:xfrm>
            <a:off x="539552" y="1556792"/>
            <a:ext cx="7772400" cy="1470025"/>
          </a:xfrm>
        </p:spPr>
        <p:txBody>
          <a:bodyPr/>
          <a:lstStyle/>
          <a:p>
            <a:pPr algn="ctr" eaLnBrk="1" hangingPunct="1"/>
            <a:r>
              <a:rPr lang="zh-CN" altLang="en-US" dirty="0"/>
              <a:t>第</a:t>
            </a:r>
            <a:r>
              <a:rPr lang="en-US" altLang="zh-CN" dirty="0"/>
              <a:t>10</a:t>
            </a:r>
            <a:r>
              <a:rPr lang="zh-CN" altLang="en-US" dirty="0"/>
              <a:t>讲</a:t>
            </a:r>
            <a:endParaRPr lang="en-US" altLang="zh-CN" dirty="0"/>
          </a:p>
        </p:txBody>
      </p:sp>
      <p:sp>
        <p:nvSpPr>
          <p:cNvPr id="6148" name="Rectangle 3"/>
          <p:cNvSpPr>
            <a:spLocks noGrp="1" noChangeArrowheads="1"/>
          </p:cNvSpPr>
          <p:nvPr>
            <p:ph type="subTitle" idx="1"/>
          </p:nvPr>
        </p:nvSpPr>
        <p:spPr>
          <a:xfrm>
            <a:off x="1043608" y="2951683"/>
            <a:ext cx="6400800" cy="1752600"/>
          </a:xfrm>
        </p:spPr>
        <p:txBody>
          <a:bodyPr/>
          <a:lstStyle/>
          <a:p>
            <a:pPr eaLnBrk="1" hangingPunct="1"/>
            <a:r>
              <a:rPr lang="zh-CN" altLang="en-US" sz="3200" dirty="0">
                <a:solidFill>
                  <a:srgbClr val="002060"/>
                </a:solidFill>
              </a:rPr>
              <a:t>随机算法</a:t>
            </a:r>
            <a:endParaRPr lang="en-US" altLang="zh-CN" sz="1000" dirty="0">
              <a:solidFill>
                <a:srgbClr val="002060"/>
              </a:solidFill>
            </a:endParaRPr>
          </a:p>
          <a:p>
            <a:pPr eaLnBrk="1" hangingPunct="1"/>
            <a:r>
              <a:rPr lang="en-US" altLang="zh-CN" sz="2400" dirty="0">
                <a:solidFill>
                  <a:srgbClr val="002060"/>
                </a:solidFill>
              </a:rPr>
              <a:t>     </a:t>
            </a:r>
            <a:r>
              <a:rPr lang="en-US" altLang="zh-CN" sz="1900" dirty="0">
                <a:solidFill>
                  <a:srgbClr val="002060"/>
                </a:solidFill>
              </a:rPr>
              <a:t>       </a:t>
            </a:r>
            <a:r>
              <a:rPr lang="en-US" altLang="zh-CN" sz="2400" dirty="0">
                <a:solidFill>
                  <a:srgbClr val="002060"/>
                </a:solidFill>
              </a:rPr>
              <a:t>—Randomized 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2" name="内容占位符 1"/>
          <p:cNvSpPr>
            <a:spLocks noGrp="1"/>
          </p:cNvSpPr>
          <p:nvPr>
            <p:ph idx="1"/>
          </p:nvPr>
        </p:nvSpPr>
        <p:spPr>
          <a:xfrm>
            <a:off x="1043609" y="1268760"/>
            <a:ext cx="5904656" cy="4608512"/>
          </a:xfrm>
        </p:spPr>
        <p:txBody>
          <a:bodyPr/>
          <a:lstStyle/>
          <a:p>
            <a:r>
              <a:rPr lang="en-US" altLang="zh-CN" sz="2400" dirty="0"/>
              <a:t>10.1 </a:t>
            </a:r>
            <a:r>
              <a:rPr lang="zh-CN" altLang="en-US" sz="2400" dirty="0"/>
              <a:t>引言</a:t>
            </a:r>
          </a:p>
          <a:p>
            <a:pPr marL="0" indent="0">
              <a:buNone/>
            </a:pPr>
            <a:r>
              <a:rPr lang="en-US" altLang="zh-CN" sz="2400" dirty="0"/>
              <a:t>	10.1.1 </a:t>
            </a:r>
            <a:r>
              <a:rPr lang="zh-CN" altLang="en-US" sz="2400" dirty="0"/>
              <a:t>随机化算法</a:t>
            </a:r>
            <a:endParaRPr lang="en-US" altLang="zh-CN" sz="2400" dirty="0"/>
          </a:p>
          <a:p>
            <a:pPr marL="0" indent="0">
              <a:buNone/>
            </a:pPr>
            <a:r>
              <a:rPr lang="en-US" altLang="zh-CN" sz="2400" dirty="0"/>
              <a:t>	10.1.2 </a:t>
            </a:r>
            <a:r>
              <a:rPr lang="zh-CN" altLang="en-US" sz="2400" dirty="0"/>
              <a:t>两类随机算法及其关系</a:t>
            </a:r>
          </a:p>
          <a:p>
            <a:pPr marL="0" indent="0">
              <a:buNone/>
            </a:pPr>
            <a:r>
              <a:rPr lang="en-US" altLang="zh-CN" sz="2400" dirty="0"/>
              <a:t>	10.1.3 </a:t>
            </a:r>
            <a:r>
              <a:rPr lang="zh-CN" altLang="en-US" sz="2400" dirty="0"/>
              <a:t>随机算法的时间复杂度分析</a:t>
            </a:r>
          </a:p>
          <a:p>
            <a:r>
              <a:rPr lang="en-US" altLang="zh-CN" sz="2400" dirty="0"/>
              <a:t>10.2. </a:t>
            </a:r>
            <a:r>
              <a:rPr lang="zh-CN" altLang="en-US" sz="2400" dirty="0"/>
              <a:t>随机算法举例</a:t>
            </a:r>
          </a:p>
          <a:p>
            <a:pPr marL="0" indent="0">
              <a:buNone/>
            </a:pPr>
            <a:r>
              <a:rPr lang="en-US" altLang="zh-CN" sz="2400" dirty="0"/>
              <a:t>	10.2.1 </a:t>
            </a:r>
            <a:r>
              <a:rPr lang="zh-CN" altLang="en-US" sz="2400" dirty="0"/>
              <a:t>素数测试的随机算法</a:t>
            </a:r>
            <a:endParaRPr lang="en-US" altLang="zh-CN" sz="2400" dirty="0"/>
          </a:p>
          <a:p>
            <a:pPr marL="0" indent="0">
              <a:buNone/>
            </a:pPr>
            <a:r>
              <a:rPr lang="en-US" altLang="zh-CN" sz="2400" dirty="0"/>
              <a:t>	10.2.2 </a:t>
            </a:r>
            <a:r>
              <a:rPr lang="zh-CN" altLang="en-US" sz="2400" dirty="0"/>
              <a:t>测试串的相等性的随机算法</a:t>
            </a:r>
            <a:endParaRPr lang="en-US" altLang="zh-CN" sz="2400" dirty="0"/>
          </a:p>
          <a:p>
            <a:pPr marL="0" indent="0">
              <a:buNone/>
            </a:pPr>
            <a:r>
              <a:rPr lang="en-US" altLang="zh-CN" sz="2400" dirty="0"/>
              <a:t>	10.2.3 </a:t>
            </a:r>
            <a:r>
              <a:rPr lang="zh-CN" altLang="en-US" sz="2400" dirty="0"/>
              <a:t>模式匹配的随机算法</a:t>
            </a:r>
            <a:endParaRPr lang="en-US" altLang="zh-CN" sz="2400" dirty="0"/>
          </a:p>
          <a:p>
            <a:pPr marL="0" indent="0">
              <a:buNone/>
            </a:pPr>
            <a:r>
              <a:rPr lang="en-US" altLang="zh-CN" sz="2400" dirty="0"/>
              <a:t>	10.2.4 </a:t>
            </a:r>
            <a:r>
              <a:rPr lang="zh-CN" altLang="en-US" sz="2400" dirty="0"/>
              <a:t>货郎担问题随机算法</a:t>
            </a:r>
            <a:endParaRPr lang="en-US" altLang="zh-CN" sz="2400" dirty="0"/>
          </a:p>
          <a:p>
            <a:pPr marL="0" indent="0">
              <a:buNone/>
            </a:pPr>
            <a:r>
              <a:rPr lang="en-US" altLang="zh-CN" sz="2400" dirty="0"/>
              <a:t>	10.2.5 </a:t>
            </a:r>
            <a:r>
              <a:rPr lang="zh-CN" altLang="en-US" sz="2400" dirty="0"/>
              <a:t>随机游走算法及应用举例</a:t>
            </a:r>
          </a:p>
        </p:txBody>
      </p:sp>
      <p:sp>
        <p:nvSpPr>
          <p:cNvPr id="3" name="标题 2"/>
          <p:cNvSpPr>
            <a:spLocks noGrp="1"/>
          </p:cNvSpPr>
          <p:nvPr>
            <p:ph type="title"/>
          </p:nvPr>
        </p:nvSpPr>
        <p:spPr/>
        <p:txBody>
          <a:bodyPr/>
          <a:lstStyle/>
          <a:p>
            <a:r>
              <a:rPr lang="zh-CN" altLang="en-US" dirty="0"/>
              <a:t>本章内容</a:t>
            </a:r>
          </a:p>
        </p:txBody>
      </p:sp>
    </p:spTree>
    <p:extLst>
      <p:ext uri="{BB962C8B-B14F-4D97-AF65-F5344CB8AC3E}">
        <p14:creationId xmlns:p14="http://schemas.microsoft.com/office/powerpoint/2010/main" val="981884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2" name="内容占位符 1"/>
          <p:cNvSpPr>
            <a:spLocks noGrp="1"/>
          </p:cNvSpPr>
          <p:nvPr>
            <p:ph idx="1"/>
          </p:nvPr>
        </p:nvSpPr>
        <p:spPr>
          <a:xfrm>
            <a:off x="900113" y="1268413"/>
            <a:ext cx="7560319" cy="4525962"/>
          </a:xfrm>
        </p:spPr>
        <p:txBody>
          <a:bodyPr/>
          <a:lstStyle/>
          <a:p>
            <a:r>
              <a:rPr lang="zh-CN" altLang="en-US" dirty="0"/>
              <a:t>随机化算法把“对于所有合理的输入都必须给出正确的输出”这一求解问题的条件放宽，</a:t>
            </a:r>
            <a:r>
              <a:rPr lang="zh-CN" altLang="en-US" b="1" dirty="0"/>
              <a:t>把随机性的选择注入到算法中</a:t>
            </a:r>
            <a:r>
              <a:rPr lang="zh-CN" altLang="en-US" dirty="0"/>
              <a:t>，在算法执行某些步骤时，可以</a:t>
            </a:r>
            <a:r>
              <a:rPr lang="zh-CN" altLang="en-US" b="1" dirty="0"/>
              <a:t>随机地选择下一步该如何进展</a:t>
            </a:r>
            <a:r>
              <a:rPr lang="zh-CN" altLang="en-US" dirty="0"/>
              <a:t>，同时允许结果以较小的概率出现错误，并以此为代价，获得算法运行时间的大幅度减少。</a:t>
            </a:r>
            <a:endParaRPr lang="en-US" altLang="zh-CN" dirty="0"/>
          </a:p>
          <a:p>
            <a:pPr marL="0" indent="0">
              <a:buNone/>
            </a:pPr>
            <a:endParaRPr lang="en-US" altLang="zh-CN" sz="1100" dirty="0"/>
          </a:p>
          <a:p>
            <a:r>
              <a:rPr lang="zh-CN" altLang="en-US" dirty="0"/>
              <a:t>随机化算法优点</a:t>
            </a:r>
            <a:endParaRPr lang="en-US" altLang="zh-CN" dirty="0"/>
          </a:p>
          <a:p>
            <a:pPr marL="612000" indent="-288000" algn="just">
              <a:spcBef>
                <a:spcPts val="480"/>
              </a:spcBef>
              <a:buFont typeface="+mj-lt"/>
              <a:buAutoNum type="alphaLcParenR"/>
            </a:pPr>
            <a:r>
              <a:rPr lang="zh-CN" altLang="en-US" sz="2200" dirty="0"/>
              <a:t>与确定性算法相比，随机算法所需运行时间或空间通常较小；</a:t>
            </a:r>
            <a:endParaRPr lang="en-US" altLang="zh-CN" sz="2200" dirty="0"/>
          </a:p>
          <a:p>
            <a:pPr marL="612000" indent="-288000" algn="just">
              <a:spcBef>
                <a:spcPts val="480"/>
              </a:spcBef>
              <a:buFont typeface="+mj-lt"/>
              <a:buAutoNum type="alphaLcParenR"/>
            </a:pPr>
            <a:r>
              <a:rPr lang="zh-CN" altLang="en-US" sz="2200" dirty="0"/>
              <a:t>随机算法易于理解和实现。</a:t>
            </a:r>
            <a:endParaRPr lang="en-US" altLang="zh-CN" sz="2200" dirty="0"/>
          </a:p>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10.1.1 </a:t>
            </a:r>
            <a:r>
              <a:rPr lang="zh-CN" altLang="en-US" dirty="0"/>
              <a:t>随机化算法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900113" y="1268413"/>
                <a:ext cx="7992367" cy="4525962"/>
              </a:xfrm>
            </p:spPr>
            <p:txBody>
              <a:bodyPr/>
              <a:lstStyle/>
              <a:p>
                <a:pPr marL="180000" indent="-180000" algn="just"/>
                <a:r>
                  <a:rPr lang="zh-CN" altLang="en-US" sz="2400" dirty="0"/>
                  <a:t>假定某包含</a:t>
                </a:r>
                <a:r>
                  <a:rPr lang="en-US" altLang="zh-CN" sz="2400" dirty="0"/>
                  <a:t>n</a:t>
                </a:r>
                <a:r>
                  <a:rPr lang="zh-CN" altLang="en-US" sz="2400" dirty="0"/>
                  <a:t>个变量的多项式表达式</a:t>
                </a:r>
                <a14:m>
                  <m:oMath xmlns:m="http://schemas.openxmlformats.org/officeDocument/2006/math">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oMath>
                </a14:m>
                <a:r>
                  <a:rPr lang="zh-CN" altLang="en-US" sz="2400" dirty="0"/>
                  <a:t>，我们要核查</a:t>
                </a:r>
                <a:r>
                  <a:rPr lang="en-US" altLang="zh-CN" sz="2400" i="1" dirty="0">
                    <a:latin typeface="Cambria Math" panose="02040503050406030204" pitchFamily="18" charset="0"/>
                  </a:rPr>
                  <a:t>f</a:t>
                </a:r>
                <a:r>
                  <a:rPr lang="zh-CN" altLang="en-US" sz="2400" dirty="0"/>
                  <a:t>是否恒等于</a:t>
                </a:r>
                <a:r>
                  <a:rPr lang="en-US" altLang="zh-CN" sz="2400" dirty="0"/>
                  <a:t>0</a:t>
                </a:r>
                <a:r>
                  <a:rPr lang="zh-CN" altLang="en-US" sz="2400" dirty="0"/>
                  <a:t>。用分析的方法来做这件事可能是一项可怕的工作。</a:t>
                </a:r>
                <a:endParaRPr lang="en-US" altLang="zh-CN" sz="2400" dirty="0"/>
              </a:p>
              <a:p>
                <a:pPr marL="0" indent="0" algn="just">
                  <a:buNone/>
                </a:pPr>
                <a:endParaRPr lang="en-US" altLang="zh-CN" sz="2400" dirty="0"/>
              </a:p>
              <a:p>
                <a:pPr marL="180000" indent="-180000" algn="just"/>
                <a:r>
                  <a:rPr lang="zh-CN" altLang="en-US" sz="2400" dirty="0"/>
                  <a:t>假设生成一个随机</a:t>
                </a:r>
                <a:r>
                  <a:rPr lang="en-US" altLang="zh-CN" sz="2400" dirty="0"/>
                  <a:t>n</a:t>
                </a:r>
                <a:r>
                  <a:rPr lang="zh-CN" altLang="en-US" sz="2400" dirty="0"/>
                  <a:t>实变量</a:t>
                </a: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m:t>
                        </m:r>
                      </m:e>
                    </m:d>
                  </m:oMath>
                </a14:m>
                <a:r>
                  <a:rPr lang="zh-CN" altLang="en-US" sz="2400" dirty="0"/>
                  <a:t>，并计算</a:t>
                </a:r>
                <a14:m>
                  <m:oMath xmlns:m="http://schemas.openxmlformats.org/officeDocument/2006/math">
                    <m:r>
                      <a:rPr lang="en-US" altLang="zh-CN" sz="2400" i="1" dirty="0">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𝑛</m:t>
                            </m:r>
                          </m:sub>
                        </m:sSub>
                      </m:e>
                    </m:d>
                    <m:r>
                      <a:rPr lang="zh-CN" altLang="en-US" sz="2400" i="1">
                        <a:latin typeface="Cambria Math" panose="02040503050406030204" pitchFamily="18" charset="0"/>
                      </a:rPr>
                      <m:t>的值</m:t>
                    </m:r>
                  </m:oMath>
                </a14:m>
                <a:r>
                  <a:rPr lang="zh-CN" altLang="en-US" sz="2400" dirty="0"/>
                  <a:t>。</a:t>
                </a:r>
                <a:endParaRPr lang="en-US" altLang="zh-CN" sz="2400" dirty="0"/>
              </a:p>
              <a:p>
                <a:pPr marL="180000" indent="-180000" algn="just"/>
                <a:r>
                  <a:rPr lang="zh-CN" altLang="en-US" sz="2400" dirty="0"/>
                  <a:t>如果</a:t>
                </a:r>
                <a14:m>
                  <m:oMath xmlns:m="http://schemas.openxmlformats.org/officeDocument/2006/math">
                    <m:r>
                      <a:rPr lang="en-US" altLang="zh-CN" sz="2400" i="1" dirty="0">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𝑛</m:t>
                            </m:r>
                          </m:sub>
                        </m:sSub>
                      </m:e>
                    </m:d>
                    <m:r>
                      <a:rPr lang="en-US" altLang="zh-CN" sz="2400" i="0" smtClean="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0</m:t>
                    </m:r>
                    <m:r>
                      <a:rPr lang="zh-CN" altLang="en-US" sz="2400" i="0">
                        <a:latin typeface="Cambria Math" panose="02040503050406030204" pitchFamily="18" charset="0"/>
                        <a:ea typeface="Cambria Math" panose="02040503050406030204" pitchFamily="18" charset="0"/>
                      </a:rPr>
                      <m:t>，</m:t>
                    </m:r>
                  </m:oMath>
                </a14:m>
                <a:r>
                  <a:rPr lang="zh-CN" altLang="en-US" sz="2400" dirty="0"/>
                  <a:t>那么</a:t>
                </a:r>
                <a:r>
                  <a:rPr lang="en-US" altLang="zh-CN" sz="2400" i="1" dirty="0"/>
                  <a:t>f</a:t>
                </a:r>
                <a:r>
                  <a:rPr lang="en-US" altLang="zh-CN" sz="2400" i="1" dirty="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i="1" dirty="0"/>
                  <a:t>0</a:t>
                </a:r>
                <a:r>
                  <a:rPr lang="zh-CN" altLang="en-US" sz="2400" dirty="0"/>
                  <a:t>，假定失败</a:t>
                </a:r>
                <a:r>
                  <a:rPr lang="en-US" altLang="zh-CN" sz="2400" dirty="0"/>
                  <a:t>;</a:t>
                </a:r>
              </a:p>
              <a:p>
                <a:pPr marL="180000" indent="-180000" algn="just"/>
                <a:r>
                  <a:rPr lang="zh-CN" altLang="en-US" sz="2400" dirty="0"/>
                  <a:t>如果</a:t>
                </a:r>
                <a14:m>
                  <m:oMath xmlns:m="http://schemas.openxmlformats.org/officeDocument/2006/math">
                    <m:r>
                      <a:rPr lang="en-US" altLang="zh-CN" sz="2400" b="0" i="1" dirty="0">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𝑟</m:t>
                            </m:r>
                          </m:e>
                          <m:sub>
                            <m:r>
                              <a:rPr lang="en-US" altLang="zh-CN" sz="2400" b="0" i="1">
                                <a:latin typeface="Cambria Math" panose="02040503050406030204" pitchFamily="18" charset="0"/>
                              </a:rPr>
                              <m:t>1</m:t>
                            </m:r>
                          </m:sub>
                        </m:sSub>
                        <m:r>
                          <a:rPr lang="en-US" altLang="zh-CN" sz="2400" b="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𝑟</m:t>
                            </m:r>
                          </m:e>
                          <m:sub>
                            <m:r>
                              <a:rPr lang="en-US" altLang="zh-CN" sz="2400" b="0" i="1">
                                <a:latin typeface="Cambria Math" panose="02040503050406030204" pitchFamily="18" charset="0"/>
                              </a:rPr>
                              <m:t>2</m:t>
                            </m:r>
                          </m:sub>
                        </m:sSub>
                        <m:r>
                          <a:rPr lang="en-US" altLang="zh-CN" sz="2400" b="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𝑟</m:t>
                            </m:r>
                          </m:e>
                          <m:sub>
                            <m:r>
                              <a:rPr lang="en-US" altLang="zh-CN" sz="2400" b="0" i="1">
                                <a:latin typeface="Cambria Math" panose="02040503050406030204" pitchFamily="18" charset="0"/>
                              </a:rPr>
                              <m:t>𝑛</m:t>
                            </m:r>
                          </m:sub>
                        </m:sSub>
                        <m:r>
                          <a:rPr lang="en-US" altLang="zh-CN" sz="2400" b="0" i="1">
                            <a:latin typeface="Cambria Math" panose="02040503050406030204" pitchFamily="18" charset="0"/>
                          </a:rPr>
                          <m:t>,</m:t>
                        </m:r>
                      </m:e>
                    </m:d>
                    <m:r>
                      <a:rPr lang="en-US" altLang="zh-CN" sz="2400" b="0" i="1" smtClean="0">
                        <a:latin typeface="Cambria Math" panose="02040503050406030204" pitchFamily="18" charset="0"/>
                      </a:rPr>
                      <m:t>=</m:t>
                    </m:r>
                    <m:r>
                      <a:rPr lang="en-US" altLang="zh-CN" sz="2400" b="0" i="1">
                        <a:latin typeface="Cambria Math" panose="02040503050406030204" pitchFamily="18" charset="0"/>
                        <a:ea typeface="Cambria Math" panose="02040503050406030204" pitchFamily="18" charset="0"/>
                      </a:rPr>
                      <m:t>0</m:t>
                    </m:r>
                    <m:r>
                      <a:rPr lang="zh-CN" altLang="en-US" sz="2400" i="1" smtClean="0">
                        <a:latin typeface="Cambria Math" panose="02040503050406030204" pitchFamily="18" charset="0"/>
                        <a:ea typeface="Cambria Math" panose="02040503050406030204" pitchFamily="18" charset="0"/>
                      </a:rPr>
                      <m:t>，</m:t>
                    </m:r>
                  </m:oMath>
                </a14:m>
                <a:r>
                  <a:rPr lang="zh-CN" altLang="en-US" sz="2400" dirty="0"/>
                  <a:t>那么</a:t>
                </a:r>
                <a:r>
                  <a:rPr lang="en-US" altLang="zh-CN" sz="2400" i="1" dirty="0"/>
                  <a:t>f</a:t>
                </a:r>
                <a:r>
                  <a:rPr lang="zh-CN" altLang="en-US" sz="2400" dirty="0"/>
                  <a:t>或是恒等于</a:t>
                </a:r>
                <a:r>
                  <a:rPr lang="en-US" altLang="zh-CN" sz="2400" dirty="0"/>
                  <a:t>0</a:t>
                </a:r>
                <a:r>
                  <a:rPr lang="zh-CN" altLang="en-US" sz="2400" dirty="0"/>
                  <a:t>，或是</a:t>
                </a: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𝑛</m:t>
                            </m:r>
                          </m:sub>
                        </m:sSub>
                      </m:e>
                    </m:d>
                  </m:oMath>
                </a14:m>
                <a:r>
                  <a:rPr lang="zh-CN" altLang="en-US" sz="2400" dirty="0"/>
                  <a:t>非常幸运。重复计算几次，继续得到</a:t>
                </a:r>
                <a:r>
                  <a:rPr lang="en-US" altLang="zh-CN" sz="2400" i="1" dirty="0"/>
                  <a:t>f=0</a:t>
                </a:r>
                <a:r>
                  <a:rPr lang="zh-CN" altLang="en-US" sz="2400" dirty="0"/>
                  <a:t>，那么可以得出</a:t>
                </a:r>
                <a:r>
                  <a:rPr lang="en-US" altLang="zh-CN" sz="2400" i="1" dirty="0"/>
                  <a:t>f</a:t>
                </a:r>
                <a:r>
                  <a:rPr lang="zh-CN" altLang="en-US" sz="2400" dirty="0"/>
                  <a:t>恒等于</a:t>
                </a:r>
                <a:r>
                  <a:rPr lang="en-US" altLang="zh-CN" sz="2400" dirty="0"/>
                  <a:t>0</a:t>
                </a:r>
                <a:r>
                  <a:rPr lang="zh-CN" altLang="en-US" sz="2400" dirty="0"/>
                  <a:t>的结论，而且出错的可能性就很小。</a:t>
                </a:r>
                <a:endParaRPr lang="en-US" altLang="zh-CN" sz="24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900113" y="1268413"/>
                <a:ext cx="7992367" cy="4525962"/>
              </a:xfrm>
              <a:blipFill>
                <a:blip r:embed="rId2"/>
                <a:stretch>
                  <a:fillRect l="-1068" t="-1211" r="-114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举例 </a:t>
            </a:r>
          </a:p>
        </p:txBody>
      </p:sp>
    </p:spTree>
    <p:extLst>
      <p:ext uri="{BB962C8B-B14F-4D97-AF65-F5344CB8AC3E}">
        <p14:creationId xmlns:p14="http://schemas.microsoft.com/office/powerpoint/2010/main" val="383849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2" name="内容占位符 1"/>
          <p:cNvSpPr>
            <a:spLocks noGrp="1"/>
          </p:cNvSpPr>
          <p:nvPr>
            <p:ph idx="1"/>
          </p:nvPr>
        </p:nvSpPr>
        <p:spPr>
          <a:xfrm>
            <a:off x="900113" y="1268413"/>
            <a:ext cx="8243887" cy="4525962"/>
          </a:xfrm>
        </p:spPr>
        <p:txBody>
          <a:bodyPr/>
          <a:lstStyle/>
          <a:p>
            <a:pPr marL="0" indent="0">
              <a:buNone/>
            </a:pPr>
            <a:r>
              <a:rPr lang="en-US" altLang="zh-CN" sz="2800" dirty="0"/>
              <a:t>1) Las Vegas</a:t>
            </a:r>
            <a:r>
              <a:rPr lang="zh-CN" altLang="en-US" sz="2800" dirty="0"/>
              <a:t>算法，即拉斯维加斯算法</a:t>
            </a:r>
            <a:endParaRPr lang="en-US" altLang="zh-CN" sz="2800" dirty="0"/>
          </a:p>
          <a:p>
            <a:pPr marL="540000" indent="-180000" algn="just">
              <a:spcBef>
                <a:spcPts val="480"/>
              </a:spcBef>
            </a:pPr>
            <a:r>
              <a:rPr lang="zh-CN" altLang="en-US" dirty="0"/>
              <a:t>总是给出正确的解，或者无解。</a:t>
            </a:r>
            <a:endParaRPr lang="en-US" altLang="zh-CN" dirty="0"/>
          </a:p>
          <a:p>
            <a:pPr marL="360000" indent="0" algn="just">
              <a:spcBef>
                <a:spcPts val="480"/>
              </a:spcBef>
              <a:buNone/>
            </a:pPr>
            <a:endParaRPr lang="en-US" altLang="zh-CN" dirty="0"/>
          </a:p>
          <a:p>
            <a:pPr marL="0" indent="0">
              <a:buNone/>
            </a:pPr>
            <a:r>
              <a:rPr lang="en-US" altLang="zh-CN" sz="2800" dirty="0"/>
              <a:t>2) Monte Carlo</a:t>
            </a:r>
            <a:r>
              <a:rPr lang="zh-CN" altLang="en-US" sz="2800" dirty="0"/>
              <a:t>算法，即蒙特卡罗算法</a:t>
            </a:r>
            <a:endParaRPr lang="en-US" altLang="zh-CN" sz="2800" dirty="0"/>
          </a:p>
          <a:p>
            <a:pPr marL="540000" indent="-180000" algn="just">
              <a:spcBef>
                <a:spcPts val="480"/>
              </a:spcBef>
            </a:pPr>
            <a:r>
              <a:rPr lang="zh-CN" altLang="en-US" sz="2400" dirty="0"/>
              <a:t>总是给出解，但偶尔可能是错误解</a:t>
            </a:r>
            <a:endParaRPr lang="en-US" altLang="zh-CN" sz="2400" dirty="0"/>
          </a:p>
          <a:p>
            <a:pPr marL="540000" indent="-180000" algn="just">
              <a:spcBef>
                <a:spcPts val="480"/>
              </a:spcBef>
            </a:pPr>
            <a:r>
              <a:rPr lang="zh-CN" altLang="en-US" sz="2400" dirty="0"/>
              <a:t>可以通过多次运行原算法，且满足每次运行时随机选择都相互独立，使产生错误解的概率减到任意小。</a:t>
            </a:r>
            <a:endParaRPr lang="en-US" altLang="zh-CN" sz="2400" dirty="0"/>
          </a:p>
          <a:p>
            <a:pPr marL="360000" indent="0" algn="just">
              <a:spcBef>
                <a:spcPts val="480"/>
              </a:spcBef>
              <a:buNone/>
            </a:pPr>
            <a:endParaRPr lang="en-US" altLang="zh-CN" sz="2400" dirty="0"/>
          </a:p>
          <a:p>
            <a:pPr marL="0" indent="0" algn="just">
              <a:spcBef>
                <a:spcPts val="480"/>
              </a:spcBef>
              <a:buNone/>
            </a:pPr>
            <a:r>
              <a:rPr lang="zh-CN" altLang="en-US" dirty="0">
                <a:solidFill>
                  <a:srgbClr val="FF0000"/>
                </a:solidFill>
              </a:rPr>
              <a:t>注意：</a:t>
            </a:r>
            <a:r>
              <a:rPr lang="en-US" altLang="zh-CN" dirty="0">
                <a:solidFill>
                  <a:srgbClr val="FF0000"/>
                </a:solidFill>
              </a:rPr>
              <a:t>Las Vegas</a:t>
            </a:r>
            <a:r>
              <a:rPr lang="zh-CN" altLang="en-US" dirty="0">
                <a:solidFill>
                  <a:srgbClr val="FF0000"/>
                </a:solidFill>
              </a:rPr>
              <a:t>和</a:t>
            </a:r>
            <a:r>
              <a:rPr lang="en-US" altLang="zh-CN" dirty="0">
                <a:solidFill>
                  <a:srgbClr val="FF0000"/>
                </a:solidFill>
              </a:rPr>
              <a:t>Monte Carlo</a:t>
            </a:r>
            <a:r>
              <a:rPr lang="zh-CN" altLang="en-US" dirty="0">
                <a:solidFill>
                  <a:srgbClr val="FF0000"/>
                </a:solidFill>
              </a:rPr>
              <a:t>不是一种算法的名称，而是对一类随机算法的特性的概括。</a:t>
            </a:r>
            <a:endParaRPr lang="zh-CN" altLang="en-US" sz="2400" dirty="0">
              <a:solidFill>
                <a:srgbClr val="FF0000"/>
              </a:solidFill>
            </a:endParaRPr>
          </a:p>
        </p:txBody>
      </p:sp>
      <p:sp>
        <p:nvSpPr>
          <p:cNvPr id="3" name="标题 2"/>
          <p:cNvSpPr>
            <a:spLocks noGrp="1"/>
          </p:cNvSpPr>
          <p:nvPr>
            <p:ph type="title"/>
          </p:nvPr>
        </p:nvSpPr>
        <p:spPr/>
        <p:txBody>
          <a:bodyPr/>
          <a:lstStyle/>
          <a:p>
            <a:r>
              <a:rPr lang="en-US" altLang="zh-CN" dirty="0"/>
              <a:t>10.1.2 </a:t>
            </a:r>
            <a:r>
              <a:rPr lang="zh-CN" altLang="en-US" dirty="0"/>
              <a:t>两类随机算法及其关系</a:t>
            </a:r>
          </a:p>
        </p:txBody>
      </p:sp>
    </p:spTree>
    <p:extLst>
      <p:ext uri="{BB962C8B-B14F-4D97-AF65-F5344CB8AC3E}">
        <p14:creationId xmlns:p14="http://schemas.microsoft.com/office/powerpoint/2010/main" val="2855837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2" name="内容占位符 1"/>
          <p:cNvSpPr>
            <a:spLocks noGrp="1"/>
          </p:cNvSpPr>
          <p:nvPr>
            <p:ph idx="1"/>
          </p:nvPr>
        </p:nvSpPr>
        <p:spPr/>
        <p:txBody>
          <a:bodyPr/>
          <a:lstStyle/>
          <a:p>
            <a:pPr algn="just"/>
            <a:r>
              <a:rPr lang="zh-CN" altLang="en-US" dirty="0"/>
              <a:t>对于拉斯维加斯算法，通常需要分析算法的</a:t>
            </a:r>
            <a:r>
              <a:rPr lang="zh-CN" altLang="en-US" b="1" dirty="0"/>
              <a:t>平均运 行时间</a:t>
            </a:r>
            <a:r>
              <a:rPr lang="zh-CN" altLang="en-US" dirty="0"/>
              <a:t>。运行时间本身是⼀个随机变量。</a:t>
            </a:r>
            <a:endParaRPr lang="en-US" altLang="zh-CN" dirty="0"/>
          </a:p>
          <a:p>
            <a:pPr algn="just"/>
            <a:endParaRPr lang="en-US" altLang="zh-CN" dirty="0"/>
          </a:p>
          <a:p>
            <a:pPr algn="just"/>
            <a:r>
              <a:rPr lang="zh-CN" altLang="en-US" dirty="0"/>
              <a:t>期望运行时间是输入规模的多项式且总能给出正确 答案的随机随机算法称为有效的拉斯维加斯算法。</a:t>
            </a:r>
            <a:endParaRPr lang="en-US" altLang="zh-CN" dirty="0"/>
          </a:p>
          <a:p>
            <a:pPr marL="0" indent="0" algn="just">
              <a:buNone/>
            </a:pPr>
            <a:endParaRPr lang="en-US" altLang="zh-CN" dirty="0"/>
          </a:p>
          <a:p>
            <a:pPr algn="just"/>
            <a:r>
              <a:rPr lang="zh-CN" altLang="en-US" dirty="0"/>
              <a:t>有效的拉斯维加斯算法也称为</a:t>
            </a:r>
            <a:r>
              <a:rPr lang="en-US" altLang="zh-CN" dirty="0" err="1"/>
              <a:t>ZPP</a:t>
            </a:r>
            <a:r>
              <a:rPr lang="zh-CN" altLang="en-US" dirty="0"/>
              <a:t>类（</a:t>
            </a:r>
            <a:r>
              <a:rPr lang="en-US" altLang="zh-CN" dirty="0"/>
              <a:t>zero-error probabilistic polynomial time</a:t>
            </a:r>
            <a:r>
              <a:rPr lang="zh-CN" altLang="en-US" dirty="0"/>
              <a:t>）算法，即零错误概率多 项式时间随机算法。</a:t>
            </a:r>
          </a:p>
        </p:txBody>
      </p:sp>
      <p:sp>
        <p:nvSpPr>
          <p:cNvPr id="3" name="标题 2"/>
          <p:cNvSpPr>
            <a:spLocks noGrp="1"/>
          </p:cNvSpPr>
          <p:nvPr>
            <p:ph type="title"/>
          </p:nvPr>
        </p:nvSpPr>
        <p:spPr/>
        <p:txBody>
          <a:bodyPr/>
          <a:lstStyle/>
          <a:p>
            <a:r>
              <a:rPr lang="en-US" altLang="zh-CN" sz="2800" dirty="0">
                <a:latin typeface="+mn-lt"/>
                <a:ea typeface="+mn-ea"/>
                <a:cs typeface="+mn-cs"/>
              </a:rPr>
              <a:t>Las Vegas</a:t>
            </a:r>
            <a:r>
              <a:rPr lang="zh-CN" altLang="en-US" dirty="0"/>
              <a:t>算法</a:t>
            </a:r>
          </a:p>
        </p:txBody>
      </p:sp>
    </p:spTree>
    <p:extLst>
      <p:ext uri="{BB962C8B-B14F-4D97-AF65-F5344CB8AC3E}">
        <p14:creationId xmlns:p14="http://schemas.microsoft.com/office/powerpoint/2010/main" val="344828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2" name="内容占位符 1"/>
          <p:cNvSpPr>
            <a:spLocks noGrp="1"/>
          </p:cNvSpPr>
          <p:nvPr>
            <p:ph idx="1"/>
          </p:nvPr>
        </p:nvSpPr>
        <p:spPr/>
        <p:txBody>
          <a:bodyPr/>
          <a:lstStyle/>
          <a:p>
            <a:pPr algn="just"/>
            <a:r>
              <a:rPr lang="zh-CN" altLang="en-US" dirty="0"/>
              <a:t>对于蒙特卡洛型随机算法，通常需要分析算法的</a:t>
            </a:r>
            <a:r>
              <a:rPr lang="zh-CN" altLang="en-US" b="1" dirty="0"/>
              <a:t>出 错概率</a:t>
            </a:r>
            <a:r>
              <a:rPr lang="zh-CN" altLang="en-US" dirty="0"/>
              <a:t>。蒙特卡洛型随机算法的运行时间和出错概 率都是随机变量。</a:t>
            </a:r>
            <a:endParaRPr lang="en-US" altLang="zh-CN" dirty="0"/>
          </a:p>
          <a:p>
            <a:pPr algn="just"/>
            <a:r>
              <a:rPr lang="zh-CN" altLang="en-US" dirty="0"/>
              <a:t>总是在多项式时间内运行且出错概率不超过</a:t>
            </a:r>
            <a:r>
              <a:rPr lang="en-US" altLang="zh-CN" dirty="0"/>
              <a:t>1/3</a:t>
            </a:r>
            <a:r>
              <a:rPr lang="zh-CN" altLang="en-US" dirty="0"/>
              <a:t>（可 以任意小）的随机算法称为有效的蒙塔卡洛型随机 算法。</a:t>
            </a:r>
            <a:endParaRPr lang="en-US" altLang="zh-CN" dirty="0"/>
          </a:p>
          <a:p>
            <a:pPr algn="just"/>
            <a:r>
              <a:rPr lang="zh-CN" altLang="en-US" dirty="0"/>
              <a:t> 有效的蒙特卡洛型随机按算法也称为</a:t>
            </a:r>
            <a:r>
              <a:rPr lang="en-US" altLang="zh-CN" dirty="0" err="1"/>
              <a:t>BPP</a:t>
            </a:r>
            <a:r>
              <a:rPr lang="zh-CN" altLang="en-US" dirty="0"/>
              <a:t>类算法</a:t>
            </a:r>
            <a:endParaRPr lang="en-US" altLang="zh-CN" dirty="0"/>
          </a:p>
          <a:p>
            <a:pPr marL="0" indent="0" algn="just">
              <a:buNone/>
            </a:pPr>
            <a:r>
              <a:rPr lang="zh-CN" altLang="en-US" dirty="0"/>
              <a:t>（ </a:t>
            </a:r>
            <a:r>
              <a:rPr lang="en-US" altLang="zh-CN" dirty="0"/>
              <a:t>bounded-error probabilistic polynomial time</a:t>
            </a:r>
            <a:r>
              <a:rPr lang="zh-CN" altLang="en-US" dirty="0"/>
              <a:t>），即错误概率有限的多项式时间随机算法。</a:t>
            </a:r>
          </a:p>
        </p:txBody>
      </p:sp>
      <p:sp>
        <p:nvSpPr>
          <p:cNvPr id="3" name="标题 2"/>
          <p:cNvSpPr>
            <a:spLocks noGrp="1"/>
          </p:cNvSpPr>
          <p:nvPr>
            <p:ph type="title"/>
          </p:nvPr>
        </p:nvSpPr>
        <p:spPr/>
        <p:txBody>
          <a:bodyPr/>
          <a:lstStyle/>
          <a:p>
            <a:r>
              <a:rPr lang="en-US" altLang="zh-CN" sz="2800" dirty="0">
                <a:latin typeface="+mn-lt"/>
                <a:ea typeface="+mn-ea"/>
                <a:cs typeface="+mn-cs"/>
              </a:rPr>
              <a:t>Monte Carlo</a:t>
            </a:r>
            <a:r>
              <a:rPr lang="zh-CN" altLang="en-US" dirty="0"/>
              <a:t>算法</a:t>
            </a:r>
          </a:p>
        </p:txBody>
      </p:sp>
    </p:spTree>
    <p:extLst>
      <p:ext uri="{BB962C8B-B14F-4D97-AF65-F5344CB8AC3E}">
        <p14:creationId xmlns:p14="http://schemas.microsoft.com/office/powerpoint/2010/main" val="950067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Las Vegas</a:t>
            </a:r>
            <a:r>
              <a:rPr lang="zh-CN" altLang="en-US" dirty="0"/>
              <a:t>与</a:t>
            </a:r>
            <a:r>
              <a:rPr lang="en-US" altLang="zh-CN" dirty="0"/>
              <a:t>Monte Carlo</a:t>
            </a:r>
            <a:r>
              <a:rPr lang="zh-CN" altLang="en-US" dirty="0"/>
              <a:t>比较</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959143479"/>
              </p:ext>
            </p:extLst>
          </p:nvPr>
        </p:nvGraphicFramePr>
        <p:xfrm>
          <a:off x="925662" y="1340768"/>
          <a:ext cx="7776864" cy="4142715"/>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790566441"/>
                    </a:ext>
                  </a:extLst>
                </a:gridCol>
                <a:gridCol w="3240360">
                  <a:extLst>
                    <a:ext uri="{9D8B030D-6E8A-4147-A177-3AD203B41FA5}">
                      <a16:colId xmlns:a16="http://schemas.microsoft.com/office/drawing/2014/main" val="1345615494"/>
                    </a:ext>
                  </a:extLst>
                </a:gridCol>
                <a:gridCol w="3168352">
                  <a:extLst>
                    <a:ext uri="{9D8B030D-6E8A-4147-A177-3AD203B41FA5}">
                      <a16:colId xmlns:a16="http://schemas.microsoft.com/office/drawing/2014/main" val="1606504551"/>
                    </a:ext>
                  </a:extLst>
                </a:gridCol>
              </a:tblGrid>
              <a:tr h="812775">
                <a:tc>
                  <a:txBody>
                    <a:bodyPr/>
                    <a:lstStyle/>
                    <a:p>
                      <a:pPr algn="ctr" fontAlgn="ctr"/>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比较项目</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拉斯维加斯算法</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蒙特卡罗算法</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869458"/>
                  </a:ext>
                </a:extLst>
              </a:tr>
              <a:tr h="676543">
                <a:tc>
                  <a:txBody>
                    <a:bodyPr/>
                    <a:lstStyle/>
                    <a:p>
                      <a:pPr algn="ctr" fontAlgn="ctr"/>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规律</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采样越多，越有可能找到最优解</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采样越多，越逼近最优解</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648423"/>
                  </a:ext>
                </a:extLst>
              </a:tr>
              <a:tr h="676543">
                <a:tc>
                  <a:txBody>
                    <a:bodyPr/>
                    <a:lstStyle/>
                    <a:p>
                      <a:pPr algn="ctr" fontAlgn="ctr"/>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例子</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从一串钥匙中试出能开锁的钥匙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从不透明的苹果筐中挑最大的苹果</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0884988"/>
                  </a:ext>
                </a:extLst>
              </a:tr>
              <a:tr h="676543">
                <a:tc>
                  <a:txBody>
                    <a:bodyPr/>
                    <a:lstStyle/>
                    <a:p>
                      <a:pPr algn="ctr" fontAlgn="ctr"/>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策略</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尽量找最好的，但不保证能找到（除非全枚举）</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尽量找好的，但不保证是最好的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2359659"/>
                  </a:ext>
                </a:extLst>
              </a:tr>
              <a:tr h="1009611">
                <a:tc>
                  <a:txBody>
                    <a:bodyPr/>
                    <a:lstStyle/>
                    <a:p>
                      <a:pPr algn="ctr" fontAlgn="ctr"/>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适用情景</a:t>
                      </a:r>
                      <a:r>
                        <a:rPr lang="zh-CN" altLang="en-US" sz="2000" b="0" i="0" u="none" strike="noStrike" baseline="0" dirty="0">
                          <a:solidFill>
                            <a:srgbClr val="FF0000"/>
                          </a:solidFill>
                          <a:effectLst/>
                          <a:latin typeface="华文楷体" panose="02010600040101010101" pitchFamily="2" charset="-122"/>
                          <a:ea typeface="华文楷体" panose="02010600040101010101" pitchFamily="2" charset="-122"/>
                        </a:rPr>
                        <a:t>（依问题而定）</a:t>
                      </a:r>
                      <a:endParaRPr lang="zh-CN" altLang="en-US" sz="2400" b="0" i="0" u="none" strike="noStrike" baseline="0" dirty="0">
                        <a:solidFill>
                          <a:srgbClr val="FF0000"/>
                        </a:solidFill>
                        <a:effectLst/>
                        <a:latin typeface="华文楷体" panose="02010600040101010101" pitchFamily="2" charset="-122"/>
                        <a:ea typeface="华文楷体" panose="0201060004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对采样要求没有限制，要求必须给出最优解</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zh-CN" altLang="en-US" sz="2400" b="0" i="0" u="none" strike="noStrike" baseline="0" dirty="0">
                          <a:solidFill>
                            <a:srgbClr val="333399"/>
                          </a:solidFill>
                          <a:effectLst/>
                          <a:latin typeface="华文楷体" panose="02010600040101010101" pitchFamily="2" charset="-122"/>
                          <a:ea typeface="华文楷体" panose="02010600040101010101" pitchFamily="2" charset="-122"/>
                        </a:rPr>
                        <a:t>要求在有限采样内，必须给出一个解，但不要求是最优解</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585190"/>
                  </a:ext>
                </a:extLst>
              </a:tr>
            </a:tbl>
          </a:graphicData>
        </a:graphic>
      </p:graphicFrame>
      <p:sp>
        <p:nvSpPr>
          <p:cNvPr id="4" name="页脚占位符 3"/>
          <p:cNvSpPr>
            <a:spLocks noGrp="1"/>
          </p:cNvSpPr>
          <p:nvPr>
            <p:ph type="ftr" sz="quarter" idx="10"/>
          </p:nvPr>
        </p:nvSpPr>
        <p:spPr/>
        <p:txBody>
          <a:bodyPr/>
          <a:lstStyle/>
          <a:p>
            <a:pPr>
              <a:defRPr/>
            </a:pPr>
            <a:r>
              <a:rPr lang="en-US" altLang="zh-CN"/>
              <a:t>Algorithms Design Techniques and Analysis</a:t>
            </a:r>
          </a:p>
        </p:txBody>
      </p:sp>
    </p:spTree>
    <p:extLst>
      <p:ext uri="{BB962C8B-B14F-4D97-AF65-F5344CB8AC3E}">
        <p14:creationId xmlns:p14="http://schemas.microsoft.com/office/powerpoint/2010/main" val="4071913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099" name="Rectangle 2"/>
          <p:cNvSpPr>
            <a:spLocks noGrp="1" noChangeArrowheads="1"/>
          </p:cNvSpPr>
          <p:nvPr>
            <p:ph type="title"/>
          </p:nvPr>
        </p:nvSpPr>
        <p:spPr/>
        <p:txBody>
          <a:bodyPr/>
          <a:lstStyle/>
          <a:p>
            <a:pPr eaLnBrk="1" hangingPunct="1"/>
            <a:r>
              <a:rPr lang="en-US" altLang="zh-CN" dirty="0"/>
              <a:t>10.1.3 </a:t>
            </a:r>
            <a:r>
              <a:rPr lang="zh-CN" altLang="en-US" dirty="0"/>
              <a:t>随机算法的时间复杂度分析</a:t>
            </a:r>
            <a:endParaRPr lang="en-US" altLang="zh-CN" dirty="0"/>
          </a:p>
        </p:txBody>
      </p:sp>
      <p:sp>
        <p:nvSpPr>
          <p:cNvPr id="4100" name="文本占位符 3"/>
          <p:cNvSpPr>
            <a:spLocks noGrp="1" noChangeArrowheads="1"/>
          </p:cNvSpPr>
          <p:nvPr>
            <p:ph type="body" sz="half" idx="1"/>
          </p:nvPr>
        </p:nvSpPr>
        <p:spPr>
          <a:xfrm>
            <a:off x="900113" y="1268413"/>
            <a:ext cx="7869237" cy="4525962"/>
          </a:xfrm>
        </p:spPr>
        <p:txBody>
          <a:bodyPr/>
          <a:lstStyle/>
          <a:p>
            <a:r>
              <a:rPr lang="zh-CN" altLang="en-US" dirty="0"/>
              <a:t>设</a:t>
            </a:r>
            <a:r>
              <a:rPr lang="en-US" altLang="zh-CN" dirty="0"/>
              <a:t>A</a:t>
            </a:r>
            <a:r>
              <a:rPr lang="zh-CN" altLang="en-US" dirty="0"/>
              <a:t>是一个算法，如果</a:t>
            </a:r>
            <a:r>
              <a:rPr lang="en-US" altLang="zh-CN" dirty="0"/>
              <a:t>A</a:t>
            </a:r>
            <a:r>
              <a:rPr lang="zh-CN" altLang="en-US" dirty="0"/>
              <a:t>是确定性的，则算法时间复杂性的一种测度是它的平均运行时间：是指对于每个大小为</a:t>
            </a:r>
            <a:r>
              <a:rPr lang="en-US" altLang="zh-CN" dirty="0"/>
              <a:t>n</a:t>
            </a:r>
            <a:r>
              <a:rPr lang="zh-CN" altLang="en-US" dirty="0"/>
              <a:t>的输入，</a:t>
            </a:r>
            <a:r>
              <a:rPr lang="en-US" altLang="zh-CN" dirty="0"/>
              <a:t>A</a:t>
            </a:r>
            <a:r>
              <a:rPr lang="zh-CN" altLang="en-US" dirty="0"/>
              <a:t>所取的平均时间。也就是假设所有的输入呈均匀分布。由于输入的分布可能不是均匀分布的，可能造成误导。</a:t>
            </a:r>
            <a:endParaRPr lang="en-US" altLang="zh-CN" dirty="0"/>
          </a:p>
          <a:p>
            <a:r>
              <a:rPr lang="zh-CN" altLang="en-US" dirty="0"/>
              <a:t>如果</a:t>
            </a:r>
            <a:r>
              <a:rPr lang="en-US" altLang="zh-CN" dirty="0"/>
              <a:t>A</a:t>
            </a:r>
            <a:r>
              <a:rPr lang="zh-CN" altLang="en-US" dirty="0"/>
              <a:t>是一个随机算法，那么在一个大小为</a:t>
            </a:r>
            <a:r>
              <a:rPr lang="en-US" altLang="zh-CN" dirty="0"/>
              <a:t>n</a:t>
            </a:r>
            <a:r>
              <a:rPr lang="zh-CN" altLang="en-US" dirty="0"/>
              <a:t>的固定的实例</a:t>
            </a:r>
            <a:r>
              <a:rPr lang="en-US" altLang="zh-CN" dirty="0"/>
              <a:t>I</a:t>
            </a:r>
            <a:r>
              <a:rPr lang="zh-CN" altLang="en-US" dirty="0"/>
              <a:t>上的运行时间，一次和另一次的运行时间是可能不相同的。因此，一种更加自然的运行的测度是</a:t>
            </a:r>
            <a:r>
              <a:rPr lang="en-US" altLang="zh-CN" dirty="0"/>
              <a:t>A</a:t>
            </a:r>
            <a:r>
              <a:rPr lang="zh-CN" altLang="en-US" dirty="0"/>
              <a:t>上固定实例</a:t>
            </a:r>
            <a:r>
              <a:rPr lang="en-US" altLang="zh-CN" dirty="0"/>
              <a:t>I</a:t>
            </a:r>
            <a:r>
              <a:rPr lang="zh-CN" altLang="en-US" dirty="0"/>
              <a:t>上的期望运行时间，这是用算法</a:t>
            </a:r>
            <a:r>
              <a:rPr lang="en-US" altLang="zh-CN" dirty="0"/>
              <a:t>A</a:t>
            </a:r>
            <a:r>
              <a:rPr lang="zh-CN" altLang="en-US" dirty="0"/>
              <a:t>反复求解实例</a:t>
            </a:r>
            <a:r>
              <a:rPr lang="en-US" altLang="zh-CN" dirty="0"/>
              <a:t>I</a:t>
            </a:r>
            <a:r>
              <a:rPr lang="zh-CN" altLang="en-US" dirty="0"/>
              <a:t>的平均时间。</a:t>
            </a:r>
            <a:endParaRPr lang="en-US" altLang="zh-CN" dirty="0"/>
          </a:p>
          <a:p>
            <a:endParaRPr lang="zh-CN" altLang="en-US" dirty="0"/>
          </a:p>
        </p:txBody>
      </p:sp>
    </p:spTree>
    <p:extLst>
      <p:ext uri="{BB962C8B-B14F-4D97-AF65-F5344CB8AC3E}">
        <p14:creationId xmlns:p14="http://schemas.microsoft.com/office/powerpoint/2010/main" val="602390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147" name="Rectangle 2"/>
          <p:cNvSpPr>
            <a:spLocks noGrp="1" noChangeArrowheads="1"/>
          </p:cNvSpPr>
          <p:nvPr>
            <p:ph type="title"/>
          </p:nvPr>
        </p:nvSpPr>
        <p:spPr/>
        <p:txBody>
          <a:bodyPr/>
          <a:lstStyle/>
          <a:p>
            <a:pPr eaLnBrk="1" hangingPunct="1"/>
            <a:r>
              <a:rPr lang="en-US" altLang="zh-CN" dirty="0"/>
              <a:t>10.1.3</a:t>
            </a:r>
            <a:r>
              <a:rPr lang="zh-CN" altLang="en-US" dirty="0"/>
              <a:t> 随机算法的时间复杂度分析</a:t>
            </a:r>
            <a:endParaRPr lang="en-US" altLang="zh-CN" dirty="0"/>
          </a:p>
        </p:txBody>
      </p:sp>
      <p:sp>
        <p:nvSpPr>
          <p:cNvPr id="6148" name="文本占位符 3"/>
          <p:cNvSpPr>
            <a:spLocks noGrp="1" noChangeArrowheads="1"/>
          </p:cNvSpPr>
          <p:nvPr>
            <p:ph type="body" sz="half" idx="1"/>
          </p:nvPr>
        </p:nvSpPr>
        <p:spPr>
          <a:xfrm>
            <a:off x="900113" y="1268413"/>
            <a:ext cx="7869237" cy="4525962"/>
          </a:xfrm>
        </p:spPr>
        <p:txBody>
          <a:bodyPr/>
          <a:lstStyle/>
          <a:p>
            <a:r>
              <a:rPr lang="zh-CN" altLang="en-US" dirty="0"/>
              <a:t>预期时间：对于某些特定的大小为</a:t>
            </a:r>
            <a:r>
              <a:rPr lang="en-US" altLang="zh-CN" dirty="0"/>
              <a:t>n</a:t>
            </a:r>
            <a:r>
              <a:rPr lang="zh-CN" altLang="en-US" dirty="0"/>
              <a:t>的输入</a:t>
            </a:r>
            <a:r>
              <a:rPr lang="en-US" altLang="zh-CN" dirty="0"/>
              <a:t>I</a:t>
            </a:r>
            <a:r>
              <a:rPr lang="zh-CN" altLang="en-US" dirty="0"/>
              <a:t>，算法的预期时间就是在不同随机数字序列上得到的平均时间</a:t>
            </a:r>
            <a:endParaRPr lang="en-US" altLang="zh-CN" dirty="0"/>
          </a:p>
          <a:p>
            <a:endParaRPr lang="en-US" altLang="zh-CN" dirty="0"/>
          </a:p>
          <a:p>
            <a:endParaRPr lang="en-US" altLang="zh-CN" dirty="0"/>
          </a:p>
          <a:p>
            <a:r>
              <a:rPr lang="zh-CN" altLang="en-US" dirty="0"/>
              <a:t>最坏情况下的预期时间：算法的最坏情况预期时间是所有长度为</a:t>
            </a:r>
            <a:r>
              <a:rPr lang="en-US" altLang="zh-CN" dirty="0"/>
              <a:t>n</a:t>
            </a:r>
            <a:r>
              <a:rPr lang="zh-CN" altLang="en-US" dirty="0"/>
              <a:t>的输入的预期时间的最大值。</a:t>
            </a:r>
          </a:p>
        </p:txBody>
      </p:sp>
      <p:pic>
        <p:nvPicPr>
          <p:cNvPr id="6149"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9575" y="2290763"/>
            <a:ext cx="6310313"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图片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5113" y="4057650"/>
            <a:ext cx="721360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2321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8036622" cy="4525962"/>
              </a:xfrm>
            </p:spPr>
            <p:txBody>
              <a:bodyPr/>
              <a:lstStyle/>
              <a:p>
                <a:r>
                  <a:rPr lang="zh-CN" altLang="en-US" dirty="0"/>
                  <a:t>问题描述</a:t>
                </a:r>
                <a:r>
                  <a:rPr lang="en-US" altLang="zh-CN" dirty="0"/>
                  <a:t>: </a:t>
                </a:r>
                <a:r>
                  <a:rPr lang="zh-CN" altLang="en-US" dirty="0"/>
                  <a:t>给定一个正整数</a:t>
                </a:r>
                <a:r>
                  <a:rPr lang="en-US" altLang="zh-CN" dirty="0"/>
                  <a:t>n</a:t>
                </a:r>
                <a:r>
                  <a:rPr lang="zh-CN" altLang="en-US" dirty="0"/>
                  <a:t>，判断</a:t>
                </a:r>
                <a:r>
                  <a:rPr lang="en-US" altLang="zh-CN" dirty="0"/>
                  <a:t>n</a:t>
                </a:r>
                <a:r>
                  <a:rPr lang="zh-CN" altLang="en-US" dirty="0"/>
                  <a:t>是否为素数。</a:t>
                </a:r>
                <a:endParaRPr lang="en-US" altLang="zh-CN" dirty="0"/>
              </a:p>
              <a:p>
                <a:r>
                  <a:rPr lang="zh-CN" altLang="en-US" b="1" dirty="0"/>
                  <a:t>简单的方法</a:t>
                </a:r>
                <a:r>
                  <a:rPr lang="zh-CN" altLang="en-US" dirty="0"/>
                  <a:t>：给定一个输入数</a:t>
                </a:r>
                <a:r>
                  <a:rPr lang="en-US" altLang="zh-CN" dirty="0"/>
                  <a:t>n</a:t>
                </a:r>
                <a:r>
                  <a:rPr lang="zh-CN" altLang="en-US" dirty="0"/>
                  <a:t>，检查</a:t>
                </a:r>
                <a:r>
                  <a:rPr lang="en-US" altLang="zh-CN" dirty="0"/>
                  <a:t>2</a:t>
                </a:r>
                <a:r>
                  <a:rPr lang="zh-CN" altLang="en-US" dirty="0"/>
                  <a:t>到</a:t>
                </a:r>
                <a:r>
                  <a:rPr lang="en-US" altLang="zh-CN" dirty="0"/>
                  <a:t>n-1</a:t>
                </a:r>
                <a:r>
                  <a:rPr lang="zh-CN" altLang="en-US" dirty="0"/>
                  <a:t>中的任何一个整数</a:t>
                </a:r>
                <a:r>
                  <a:rPr lang="en-US" altLang="zh-CN" dirty="0"/>
                  <a:t>m</a:t>
                </a:r>
                <a:r>
                  <a:rPr lang="zh-CN" altLang="en-US" dirty="0"/>
                  <a:t>是否被</a:t>
                </a:r>
                <a:r>
                  <a:rPr lang="en-US" altLang="zh-CN" dirty="0"/>
                  <a:t>n</a:t>
                </a:r>
                <a:r>
                  <a:rPr lang="zh-CN" altLang="en-US" dirty="0"/>
                  <a:t>整除。如果</a:t>
                </a:r>
                <a:r>
                  <a:rPr lang="en-US" altLang="zh-CN" dirty="0"/>
                  <a:t>n</a:t>
                </a:r>
                <a:r>
                  <a:rPr lang="zh-CN" altLang="en-US" dirty="0"/>
                  <a:t>能被任何一个</a:t>
                </a:r>
                <a:r>
                  <a:rPr lang="en-US" altLang="zh-CN" dirty="0"/>
                  <a:t>m</a:t>
                </a:r>
                <a:r>
                  <a:rPr lang="zh-CN" altLang="en-US" dirty="0"/>
                  <a:t>整除，那么</a:t>
                </a:r>
                <a:r>
                  <a:rPr lang="en-US" altLang="zh-CN" dirty="0"/>
                  <a:t>n</a:t>
                </a:r>
                <a:r>
                  <a:rPr lang="zh-CN" altLang="en-US" dirty="0"/>
                  <a:t>就是合数，否则它就是素数。</a:t>
                </a:r>
                <a:endParaRPr lang="en-US" altLang="zh-CN" dirty="0"/>
              </a:p>
              <a:p>
                <a:endParaRPr lang="en-US" altLang="zh-CN" dirty="0"/>
              </a:p>
              <a:p>
                <a:r>
                  <a:rPr lang="zh-CN" altLang="en-US" b="1" dirty="0"/>
                  <a:t>提升方法一</a:t>
                </a:r>
                <a:r>
                  <a:rPr lang="zh-CN" altLang="en-US" dirty="0"/>
                  <a:t>：若</a:t>
                </a:r>
                <a:r>
                  <a:rPr lang="en-US" altLang="zh-CN" dirty="0"/>
                  <a:t>n</a:t>
                </a:r>
                <a:r>
                  <a:rPr lang="zh-CN" altLang="en-US" dirty="0"/>
                  <a:t>是合数，那么它可以被分解为两个数的乘积，其中至少有一个必须小于或等于</a:t>
                </a:r>
                <a14:m>
                  <m:oMath xmlns:m="http://schemas.openxmlformats.org/officeDocument/2006/math">
                    <m:rad>
                      <m:radPr>
                        <m:degHide m:val="on"/>
                        <m:ctrlPr>
                          <a:rPr lang="zh-CN" altLang="en-US"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zh-CN" altLang="en-US" i="1">
                        <a:latin typeface="Cambria Math" panose="02040503050406030204" pitchFamily="18" charset="0"/>
                      </a:rPr>
                      <m:t>。</m:t>
                    </m:r>
                  </m:oMath>
                </a14:m>
                <a:r>
                  <a:rPr lang="zh-CN" altLang="en-US" dirty="0"/>
                  <a:t>则一个有效的方法是测试</a:t>
                </a:r>
                <a:r>
                  <a:rPr lang="en-US" altLang="zh-CN" dirty="0"/>
                  <a:t>n</a:t>
                </a:r>
                <a:r>
                  <a:rPr lang="zh-CN" altLang="en-US" dirty="0"/>
                  <a:t>能否被</a:t>
                </a:r>
                <a:r>
                  <a:rPr lang="en-US" altLang="zh-CN" dirty="0"/>
                  <a:t>2</a:t>
                </a:r>
                <a:r>
                  <a:rPr lang="zh-CN" altLang="en-US" dirty="0"/>
                  <a:t>到</a:t>
                </a:r>
                <a14:m>
                  <m:oMath xmlns:m="http://schemas.openxmlformats.org/officeDocument/2006/math">
                    <m:rad>
                      <m:radPr>
                        <m:degHide m:val="on"/>
                        <m:ctrlPr>
                          <a:rPr lang="zh-CN" altLang="en-US"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 </m:t>
                    </m:r>
                  </m:oMath>
                </a14:m>
                <a:r>
                  <a:rPr lang="zh-CN" altLang="en-US" dirty="0"/>
                  <a:t>的数整除，如果存在整除</a:t>
                </a:r>
                <a:r>
                  <a:rPr lang="en-US" altLang="zh-CN" dirty="0"/>
                  <a:t>n</a:t>
                </a:r>
                <a:r>
                  <a:rPr lang="zh-CN" altLang="en-US" dirty="0"/>
                  <a:t>的数，那么</a:t>
                </a:r>
                <a:r>
                  <a:rPr lang="en-US" altLang="zh-CN" dirty="0"/>
                  <a:t>n</a:t>
                </a:r>
                <a:r>
                  <a:rPr lang="zh-CN" altLang="en-US" dirty="0"/>
                  <a:t>就是合数，否则它就是素数。（见下页伪码）</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8036622" cy="4525962"/>
              </a:xfrm>
              <a:blipFill>
                <a:blip r:embed="rId3"/>
                <a:stretch>
                  <a:fillRect l="-1062" t="-1211" r="-6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91959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pic>
        <p:nvPicPr>
          <p:cNvPr id="10244"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75" y="1270000"/>
            <a:ext cx="809625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606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2291"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848600" cy="2511107"/>
              </a:xfrm>
            </p:spPr>
            <p:txBody>
              <a:bodyPr/>
              <a:lstStyle/>
              <a:p>
                <a:r>
                  <a:rPr lang="zh-CN" altLang="en-US" b="1" dirty="0"/>
                  <a:t>提升方法二</a:t>
                </a:r>
                <a:r>
                  <a:rPr lang="en-US" altLang="zh-CN" dirty="0"/>
                  <a:t>: </a:t>
                </a:r>
                <a:r>
                  <a:rPr lang="zh-CN" altLang="en-US" dirty="0"/>
                  <a:t>所有的素数都是 </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𝑘</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r>
                  <a:rPr lang="zh-CN" altLang="en-US" dirty="0"/>
                  <a:t>的形式，只有</a:t>
                </a:r>
                <a:r>
                  <a:rPr lang="en-US" altLang="zh-CN" dirty="0"/>
                  <a:t>2</a:t>
                </a:r>
                <a:r>
                  <a:rPr lang="zh-CN" altLang="en-US" dirty="0"/>
                  <a:t>和</a:t>
                </a:r>
                <a:r>
                  <a:rPr lang="en-US" altLang="zh-CN" dirty="0"/>
                  <a:t>3</a:t>
                </a:r>
                <a:r>
                  <a:rPr lang="zh-CN" altLang="en-US" dirty="0"/>
                  <a:t>是例外。则一个更有效的方法是先测试</a:t>
                </a:r>
                <a:r>
                  <a:rPr lang="en-US" altLang="zh-CN" dirty="0"/>
                  <a:t>n</a:t>
                </a:r>
                <a:r>
                  <a:rPr lang="zh-CN" altLang="en-US" dirty="0"/>
                  <a:t>是否能被</a:t>
                </a:r>
                <a:r>
                  <a:rPr lang="en-US" altLang="zh-CN" dirty="0"/>
                  <a:t>2</a:t>
                </a:r>
                <a:r>
                  <a:rPr lang="zh-CN" altLang="en-US" dirty="0"/>
                  <a:t>或</a:t>
                </a:r>
                <a:r>
                  <a:rPr lang="en-US" altLang="zh-CN" dirty="0"/>
                  <a:t>3</a:t>
                </a:r>
                <a:r>
                  <a:rPr lang="zh-CN" altLang="en-US" dirty="0"/>
                  <a:t>整除</a:t>
                </a:r>
                <a:r>
                  <a:rPr lang="en-US" altLang="zh-CN" dirty="0"/>
                  <a:t>; </a:t>
                </a:r>
                <a:r>
                  <a:rPr lang="zh-CN" altLang="en-US" dirty="0"/>
                  <a:t>然后测试 </a:t>
                </a:r>
                <a:r>
                  <a:rPr lang="en-US" altLang="zh-CN" dirty="0"/>
                  <a:t>n </a:t>
                </a:r>
                <a:r>
                  <a:rPr lang="zh-CN" altLang="en-US" dirty="0"/>
                  <a:t>能否被所有形式为</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𝑘</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ad>
                      <m:radPr>
                        <m:degHide m:val="on"/>
                        <m:ctrlPr>
                          <a:rPr lang="en-US" altLang="zh-CN" b="0" i="1" smtClean="0">
                            <a:latin typeface="Cambria Math" panose="02040503050406030204" pitchFamily="18" charset="0"/>
                            <a:ea typeface="Cambria Math" panose="02040503050406030204" pitchFamily="18" charset="0"/>
                          </a:rPr>
                        </m:ctrlPr>
                      </m:radPr>
                      <m:deg/>
                      <m:e>
                        <m:r>
                          <a:rPr lang="en-US" altLang="zh-CN" b="0" i="1" smtClean="0">
                            <a:latin typeface="Cambria Math" panose="02040503050406030204" pitchFamily="18" charset="0"/>
                            <a:ea typeface="Cambria Math" panose="02040503050406030204" pitchFamily="18" charset="0"/>
                          </a:rPr>
                          <m:t>𝑛</m:t>
                        </m:r>
                      </m:e>
                    </m:rad>
                  </m:oMath>
                </a14:m>
                <a:r>
                  <a:rPr lang="zh-CN" altLang="en-US" dirty="0"/>
                  <a:t>的数字整除。如果存在整除</a:t>
                </a:r>
                <a:r>
                  <a:rPr lang="en-US" altLang="zh-CN" dirty="0"/>
                  <a:t>n</a:t>
                </a:r>
                <a:r>
                  <a:rPr lang="zh-CN" altLang="en-US" dirty="0"/>
                  <a:t>的数，那么</a:t>
                </a:r>
                <a:r>
                  <a:rPr lang="en-US" altLang="zh-CN" dirty="0"/>
                  <a:t>n</a:t>
                </a:r>
                <a:r>
                  <a:rPr lang="zh-CN" altLang="en-US" dirty="0"/>
                  <a:t>就是合数，否则它就是素数。这样做的速度是测试</a:t>
                </a:r>
                <a:r>
                  <a:rPr lang="en-US" altLang="zh-CN" dirty="0"/>
                  <a:t>2</a:t>
                </a:r>
                <a:r>
                  <a:rPr lang="zh-CN" altLang="en-US" dirty="0"/>
                  <a:t>到</a:t>
                </a:r>
                <a:r>
                  <a:rPr lang="en-US" altLang="zh-CN" dirty="0"/>
                  <a:t>n-1</a:t>
                </a:r>
                <a:r>
                  <a:rPr lang="zh-CN" altLang="en-US" dirty="0"/>
                  <a:t>所有数的</a:t>
                </a:r>
                <a:r>
                  <a:rPr lang="en-US" altLang="zh-CN" dirty="0"/>
                  <a:t>3</a:t>
                </a:r>
                <a:r>
                  <a:rPr lang="zh-CN" altLang="en-US" dirty="0"/>
                  <a:t>倍。</a:t>
                </a:r>
                <a:endParaRPr lang="en-US" altLang="zh-CN" dirty="0"/>
              </a:p>
              <a:p>
                <a:pPr marL="0" indent="0">
                  <a:buNone/>
                </a:pPr>
                <a:endParaRPr lang="en-US" altLang="zh-CN"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848600" cy="2511107"/>
              </a:xfrm>
              <a:blipFill>
                <a:blip r:embed="rId3"/>
                <a:stretch>
                  <a:fillRect l="-1088" t="-2184" r="-855" b="-9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170432" y="4413504"/>
                <a:ext cx="7485888" cy="1634678"/>
              </a:xfrm>
              <a:prstGeom prst="rect">
                <a:avLst/>
              </a:prstGeom>
              <a:noFill/>
            </p:spPr>
            <p:txBody>
              <a:bodyPr wrap="square" rtlCol="0">
                <a:spAutoFit/>
              </a:bodyPr>
              <a:lstStyle/>
              <a:p>
                <a:r>
                  <a:rPr lang="zh-CN" altLang="en-US" sz="2000" b="1" dirty="0"/>
                  <a:t>方法二有效性</a:t>
                </a:r>
                <a:r>
                  <a:rPr lang="zh-CN" altLang="en-US" sz="2000" dirty="0"/>
                  <a:t>：因为所有的整数都可以表示为</a:t>
                </a:r>
                <a:r>
                  <a:rPr lang="en-US" altLang="zh-CN" sz="2000" dirty="0"/>
                  <a:t>6</a:t>
                </a:r>
                <a:r>
                  <a:rPr lang="zh-CN" altLang="en-US" sz="2000" dirty="0"/>
                  <a:t>𝑘</a:t>
                </a:r>
                <a:r>
                  <a:rPr lang="en-US" altLang="zh-CN" sz="2000" dirty="0"/>
                  <a:t>+</a:t>
                </a:r>
                <a:r>
                  <a:rPr lang="zh-CN" altLang="en-US" sz="2000" dirty="0"/>
                  <a:t>𝑖，其中 </a:t>
                </a:r>
                <a:r>
                  <a:rPr lang="en-US" altLang="zh-CN" sz="2000" dirty="0"/>
                  <a:t>k</a:t>
                </a:r>
                <a:r>
                  <a:rPr lang="zh-CN" altLang="en-US" sz="2000" dirty="0"/>
                  <a:t>为任意整数， </a:t>
                </a:r>
                <a:r>
                  <a:rPr lang="en-US" altLang="zh-CN" sz="2000" dirty="0" err="1"/>
                  <a:t>i</a:t>
                </a:r>
                <a:r>
                  <a:rPr lang="en-US" altLang="zh-CN" sz="2000" dirty="0"/>
                  <a:t> = -1</a:t>
                </a:r>
                <a:r>
                  <a:rPr lang="zh-CN" altLang="en-US" sz="2000" dirty="0"/>
                  <a:t>、</a:t>
                </a:r>
                <a:r>
                  <a:rPr lang="en-US" altLang="zh-CN" sz="2000" dirty="0"/>
                  <a:t>0</a:t>
                </a:r>
                <a:r>
                  <a:rPr lang="zh-CN" altLang="en-US" sz="2000" dirty="0"/>
                  <a:t>、</a:t>
                </a:r>
                <a:r>
                  <a:rPr lang="en-US" altLang="zh-CN" sz="2000" dirty="0"/>
                  <a:t>1</a:t>
                </a:r>
                <a:r>
                  <a:rPr lang="zh-CN" altLang="en-US" sz="2000" dirty="0"/>
                  <a:t>、</a:t>
                </a:r>
                <a:r>
                  <a:rPr lang="en-US" altLang="zh-CN" sz="2000" dirty="0"/>
                  <a:t>2</a:t>
                </a:r>
                <a:r>
                  <a:rPr lang="zh-CN" altLang="en-US" sz="2000" dirty="0"/>
                  <a:t>、</a:t>
                </a:r>
                <a:r>
                  <a:rPr lang="en-US" altLang="zh-CN" sz="2000" dirty="0"/>
                  <a:t>3</a:t>
                </a:r>
                <a:r>
                  <a:rPr lang="zh-CN" altLang="en-US" sz="2000" dirty="0"/>
                  <a:t>、</a:t>
                </a:r>
                <a:r>
                  <a:rPr lang="en-US" altLang="zh-CN" sz="2000" dirty="0"/>
                  <a:t>4</a:t>
                </a:r>
                <a:r>
                  <a:rPr lang="zh-CN" altLang="en-US" sz="2000" dirty="0"/>
                  <a:t>；其中</a:t>
                </a:r>
                <a:r>
                  <a:rPr lang="en-US" altLang="zh-CN" sz="2000" dirty="0"/>
                  <a:t>(</a:t>
                </a:r>
                <a:r>
                  <a:rPr lang="en-US" altLang="zh-CN" sz="2000" dirty="0" err="1"/>
                  <a:t>6k+0</a:t>
                </a:r>
                <a:r>
                  <a:rPr lang="en-US" altLang="zh-CN" sz="2000" dirty="0"/>
                  <a:t>)</a:t>
                </a:r>
                <a:r>
                  <a:rPr lang="zh-CN" altLang="en-US" sz="2000" dirty="0"/>
                  <a:t>，</a:t>
                </a:r>
                <a:r>
                  <a:rPr lang="en-US" altLang="zh-CN" sz="2000" dirty="0"/>
                  <a:t>(</a:t>
                </a:r>
                <a:r>
                  <a:rPr lang="en-US" altLang="zh-CN" sz="2000" dirty="0" err="1"/>
                  <a:t>6k+2</a:t>
                </a:r>
                <a:r>
                  <a:rPr lang="en-US" altLang="zh-CN" sz="2000" dirty="0"/>
                  <a:t>)</a:t>
                </a:r>
                <a:r>
                  <a:rPr lang="zh-CN" altLang="en-US" sz="2000" dirty="0"/>
                  <a:t>，</a:t>
                </a:r>
                <a:r>
                  <a:rPr lang="en-US" altLang="zh-CN" sz="2000" dirty="0"/>
                  <a:t>(</a:t>
                </a:r>
                <a:r>
                  <a:rPr lang="en-US" altLang="zh-CN" sz="2000" dirty="0" err="1"/>
                  <a:t>6k+4</a:t>
                </a:r>
                <a:r>
                  <a:rPr lang="en-US" altLang="zh-CN" sz="2000" dirty="0"/>
                  <a:t>)</a:t>
                </a:r>
                <a:r>
                  <a:rPr lang="zh-CN" altLang="en-US" sz="2000" dirty="0"/>
                  <a:t>可以被</a:t>
                </a:r>
                <a:r>
                  <a:rPr lang="en-US" altLang="zh-CN" sz="2000" dirty="0"/>
                  <a:t>2</a:t>
                </a:r>
                <a:r>
                  <a:rPr lang="zh-CN" altLang="en-US" sz="2000" dirty="0"/>
                  <a:t>整除；</a:t>
                </a:r>
                <a:r>
                  <a:rPr lang="en-US" altLang="zh-CN" sz="2000" dirty="0"/>
                  <a:t>(</a:t>
                </a:r>
                <a:r>
                  <a:rPr lang="en-US" altLang="zh-CN" sz="2000" dirty="0" err="1"/>
                  <a:t>6k+3</a:t>
                </a:r>
                <a:r>
                  <a:rPr lang="en-US" altLang="zh-CN" sz="2000" dirty="0"/>
                  <a:t>)</a:t>
                </a:r>
                <a:r>
                  <a:rPr lang="zh-CN" altLang="en-US" sz="2000" dirty="0"/>
                  <a:t>可以被</a:t>
                </a:r>
                <a:r>
                  <a:rPr lang="en-US" altLang="zh-CN" sz="2000" dirty="0"/>
                  <a:t>3</a:t>
                </a:r>
                <a:r>
                  <a:rPr lang="zh-CN" altLang="en-US" sz="2000" dirty="0"/>
                  <a:t>整除，只剩下</a:t>
                </a:r>
                <a14:m>
                  <m:oMath xmlns:m="http://schemas.openxmlformats.org/officeDocument/2006/math">
                    <m:r>
                      <a:rPr lang="en-US" altLang="zh-CN" sz="2000">
                        <a:latin typeface="Cambria Math" panose="02040503050406030204" pitchFamily="18" charset="0"/>
                      </a:rPr>
                      <m:t>6</m:t>
                    </m:r>
                    <m:r>
                      <a:rPr lang="en-US" altLang="zh-CN" sz="2000">
                        <a:latin typeface="Cambria Math" panose="02040503050406030204" pitchFamily="18" charset="0"/>
                      </a:rPr>
                      <m:t>𝑘</m:t>
                    </m:r>
                    <m:r>
                      <a:rPr lang="en-US" altLang="zh-CN" sz="2000">
                        <a:latin typeface="Cambria Math" panose="02040503050406030204" pitchFamily="18" charset="0"/>
                      </a:rPr>
                      <m:t>±1</m:t>
                    </m:r>
                    <m:r>
                      <a:rPr lang="zh-CN" altLang="en-US" sz="2000">
                        <a:latin typeface="Cambria Math" panose="02040503050406030204" pitchFamily="18" charset="0"/>
                      </a:rPr>
                      <m:t>。</m:t>
                    </m:r>
                  </m:oMath>
                </a14:m>
                <a:r>
                  <a:rPr lang="zh-CN" altLang="en-US" sz="2000" dirty="0"/>
                  <a:t>所以判断</a:t>
                </a:r>
                <a:r>
                  <a:rPr lang="en-US" altLang="zh-CN" sz="2000" dirty="0"/>
                  <a:t>n</a:t>
                </a:r>
                <a:r>
                  <a:rPr lang="zh-CN" altLang="en-US" sz="2000" dirty="0"/>
                  <a:t>是否是素数，要单独判断</a:t>
                </a:r>
                <a:r>
                  <a:rPr lang="en-US" altLang="zh-CN" sz="2000" dirty="0"/>
                  <a:t>2</a:t>
                </a:r>
                <a:r>
                  <a:rPr lang="zh-CN" altLang="en-US" sz="2000" dirty="0"/>
                  <a:t>、</a:t>
                </a:r>
                <a:r>
                  <a:rPr lang="en-US" altLang="zh-CN" sz="2000" dirty="0"/>
                  <a:t>3</a:t>
                </a:r>
                <a:r>
                  <a:rPr lang="zh-CN" altLang="en-US" sz="2000" dirty="0"/>
                  <a:t>，再判断</a:t>
                </a:r>
                <a14:m>
                  <m:oMath xmlns:m="http://schemas.openxmlformats.org/officeDocument/2006/math">
                    <m:r>
                      <a:rPr lang="en-US" altLang="zh-CN" sz="2000">
                        <a:latin typeface="Cambria Math" panose="02040503050406030204" pitchFamily="18" charset="0"/>
                      </a:rPr>
                      <m:t>6</m:t>
                    </m:r>
                    <m:r>
                      <a:rPr lang="en-US" altLang="zh-CN" sz="2000">
                        <a:latin typeface="Cambria Math" panose="02040503050406030204" pitchFamily="18" charset="0"/>
                      </a:rPr>
                      <m:t>𝑘</m:t>
                    </m:r>
                    <m:r>
                      <a:rPr lang="en-US" altLang="zh-CN" sz="2000">
                        <a:latin typeface="Cambria Math" panose="02040503050406030204" pitchFamily="18" charset="0"/>
                      </a:rPr>
                      <m:t>±1≤</m:t>
                    </m:r>
                    <m:rad>
                      <m:radPr>
                        <m:degHide m:val="on"/>
                        <m:ctrlPr>
                          <a:rPr lang="en-US" altLang="zh-CN" sz="2000" i="1">
                            <a:latin typeface="Cambria Math" panose="02040503050406030204" pitchFamily="18" charset="0"/>
                          </a:rPr>
                        </m:ctrlPr>
                      </m:radPr>
                      <m:deg/>
                      <m:e>
                        <m:r>
                          <a:rPr lang="en-US" altLang="zh-CN" sz="2000">
                            <a:latin typeface="Cambria Math" panose="02040503050406030204" pitchFamily="18" charset="0"/>
                          </a:rPr>
                          <m:t>𝑛</m:t>
                        </m:r>
                      </m:e>
                    </m:rad>
                  </m:oMath>
                </a14:m>
                <a:r>
                  <a:rPr lang="zh-CN" altLang="en-US" sz="2000" dirty="0"/>
                  <a:t>的数。</a:t>
                </a:r>
              </a:p>
              <a:p>
                <a:endParaRPr lang="zh-CN" altLang="en-US" sz="2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170432" y="4413504"/>
                <a:ext cx="7485888" cy="1634678"/>
              </a:xfrm>
              <a:prstGeom prst="rect">
                <a:avLst/>
              </a:prstGeom>
              <a:blipFill>
                <a:blip r:embed="rId4"/>
                <a:stretch>
                  <a:fillRect l="-814" t="-2612" r="-6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5135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4339"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4" name="文本占位符 3">
            <a:extLst>
              <a:ext uri="{FF2B5EF4-FFF2-40B4-BE49-F238E27FC236}">
                <a16:creationId xmlns:a16="http://schemas.microsoft.com/office/drawing/2014/main" id="{9E84063E-F587-49FE-8B74-05A124DD7736}"/>
              </a:ext>
            </a:extLst>
          </p:cNvPr>
          <p:cNvSpPr>
            <a:spLocks noGrp="1"/>
          </p:cNvSpPr>
          <p:nvPr>
            <p:ph type="body" sz="half" idx="1"/>
          </p:nvPr>
        </p:nvSpPr>
        <p:spPr>
          <a:xfrm>
            <a:off x="900113" y="1268413"/>
            <a:ext cx="7869237" cy="4525962"/>
          </a:xfrm>
        </p:spPr>
        <p:txBody>
          <a:bodyPr/>
          <a:lstStyle/>
          <a:p>
            <a:pPr>
              <a:defRPr/>
            </a:pPr>
            <a:r>
              <a:rPr lang="zh-CN" altLang="en-US" dirty="0"/>
              <a:t>尽管提升方法相较于简单方法降低了复杂度，但算法的时间复杂度仍然是指数级的！！</a:t>
            </a:r>
            <a:endParaRPr lang="en-US" altLang="zh-CN" dirty="0"/>
          </a:p>
          <a:p>
            <a:pPr>
              <a:defRPr/>
            </a:pPr>
            <a:endParaRPr lang="en-US" altLang="zh-CN" dirty="0"/>
          </a:p>
          <a:p>
            <a:pPr>
              <a:defRPr/>
            </a:pPr>
            <a:r>
              <a:rPr lang="zh-CN" altLang="en-US" dirty="0"/>
              <a:t>上述测试方法是反复地 除以数字的方法是低效的：</a:t>
            </a:r>
            <a:endParaRPr lang="en-US" altLang="zh-CN" dirty="0"/>
          </a:p>
          <a:p>
            <a:pPr marL="720000" indent="-180000" algn="just">
              <a:buFont typeface="+mj-lt"/>
              <a:buAutoNum type="alphaLcParenR"/>
              <a:defRPr/>
            </a:pPr>
            <a:r>
              <a:rPr lang="zh-CN" altLang="en-US" dirty="0"/>
              <a:t>事实证明，一个整数的因式分解相对仅仅测试它是否是素数或是合数而言是一个更难的问题。</a:t>
            </a:r>
          </a:p>
          <a:p>
            <a:pPr marL="720000" indent="-180000" algn="just">
              <a:buFont typeface="+mj-lt"/>
              <a:buAutoNum type="alphaLcParenR"/>
              <a:defRPr/>
            </a:pPr>
            <a:r>
              <a:rPr lang="zh-CN" altLang="en-US" dirty="0"/>
              <a:t>由于我们只需要做初等性检验，所以我们采用了 找到证据，也就是证明一个数字是合数的证明。很明显，找到一个</a:t>
            </a:r>
            <a:r>
              <a:rPr lang="en-US" altLang="zh-CN" dirty="0"/>
              <a:t>n</a:t>
            </a:r>
            <a:r>
              <a:rPr lang="zh-CN" altLang="en-US" dirty="0"/>
              <a:t>的因子就是证明它是合数的。</a:t>
            </a:r>
            <a:endParaRPr lang="en-US" altLang="zh-CN" dirty="0"/>
          </a:p>
        </p:txBody>
      </p:sp>
    </p:spTree>
    <p:extLst>
      <p:ext uri="{BB962C8B-B14F-4D97-AF65-F5344CB8AC3E}">
        <p14:creationId xmlns:p14="http://schemas.microsoft.com/office/powerpoint/2010/main" val="2710743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6387"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16388" name="文本占位符 3"/>
          <p:cNvSpPr>
            <a:spLocks noGrp="1" noChangeArrowheads="1"/>
          </p:cNvSpPr>
          <p:nvPr>
            <p:ph type="body" sz="half" idx="1"/>
          </p:nvPr>
        </p:nvSpPr>
        <p:spPr>
          <a:xfrm>
            <a:off x="900113" y="1268413"/>
            <a:ext cx="7646479" cy="4525962"/>
          </a:xfrm>
        </p:spPr>
        <p:txBody>
          <a:bodyPr/>
          <a:lstStyle/>
          <a:p>
            <a:r>
              <a:rPr lang="zh-CN" altLang="en-US" dirty="0"/>
              <a:t>找到一个</a:t>
            </a:r>
            <a:r>
              <a:rPr lang="en-US" altLang="zh-CN" dirty="0"/>
              <a:t>n</a:t>
            </a:r>
            <a:r>
              <a:rPr lang="zh-CN" altLang="en-US" dirty="0"/>
              <a:t>的因子就证明它是复合的。但这样的证据非常少。</a:t>
            </a:r>
            <a:endParaRPr lang="en-US" altLang="zh-CN" dirty="0"/>
          </a:p>
          <a:p>
            <a:r>
              <a:rPr lang="zh-CN" altLang="en-US" dirty="0"/>
              <a:t>事实上，如果我们采取一个相当大的数字</a:t>
            </a:r>
            <a:r>
              <a:rPr lang="en-US" altLang="zh-CN" dirty="0"/>
              <a:t>n</a:t>
            </a:r>
            <a:r>
              <a:rPr lang="zh-CN" altLang="en-US" dirty="0"/>
              <a:t>，它的质数除数的数量与</a:t>
            </a:r>
            <a:r>
              <a:rPr lang="en-US" altLang="zh-CN" dirty="0"/>
              <a:t>1</a:t>
            </a:r>
            <a:r>
              <a:rPr lang="zh-CN" altLang="en-US" dirty="0"/>
              <a:t>到</a:t>
            </a:r>
            <a:r>
              <a:rPr lang="en-US" altLang="zh-CN" dirty="0"/>
              <a:t>n</a:t>
            </a:r>
            <a:r>
              <a:rPr lang="zh-CN" altLang="en-US" dirty="0"/>
              <a:t>之间的整数数量相比是非常小的。</a:t>
            </a:r>
            <a:endParaRPr lang="en-US" altLang="zh-CN" dirty="0"/>
          </a:p>
          <a:p>
            <a:r>
              <a:rPr lang="zh-CN" altLang="en-US" dirty="0"/>
              <a:t>众所周知，如果</a:t>
            </a:r>
            <a:r>
              <a:rPr lang="en-US" altLang="zh-CN" dirty="0"/>
              <a:t>n&lt;</a:t>
            </a:r>
            <a:r>
              <a:rPr lang="en-US" altLang="zh-CN" dirty="0" err="1"/>
              <a:t>2k</a:t>
            </a:r>
            <a:r>
              <a:rPr lang="zh-CN" altLang="en-US" dirty="0"/>
              <a:t>，除非</a:t>
            </a:r>
            <a:r>
              <a:rPr lang="en-US" altLang="zh-CN" dirty="0"/>
              <a:t>k</a:t>
            </a:r>
            <a:r>
              <a:rPr lang="zh-CN" altLang="en-US" dirty="0"/>
              <a:t>非常小，那么除以</a:t>
            </a:r>
            <a:r>
              <a:rPr lang="en-US" altLang="zh-CN" dirty="0"/>
              <a:t>n</a:t>
            </a:r>
            <a:r>
              <a:rPr lang="zh-CN" altLang="en-US" dirty="0"/>
              <a:t>的不同素数的数量小于                             。</a:t>
            </a:r>
            <a:endParaRPr lang="en-US" altLang="zh-CN" dirty="0"/>
          </a:p>
          <a:p>
            <a:endParaRPr lang="en-US" altLang="zh-CN" dirty="0"/>
          </a:p>
        </p:txBody>
      </p:sp>
      <p:pic>
        <p:nvPicPr>
          <p:cNvPr id="16389"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9425" y="3769868"/>
            <a:ext cx="2222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3937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8435"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18436" name="文本占位符 3"/>
          <p:cNvSpPr>
            <a:spLocks noGrp="1" noChangeArrowheads="1"/>
          </p:cNvSpPr>
          <p:nvPr>
            <p:ph type="body" sz="half" idx="1"/>
          </p:nvPr>
        </p:nvSpPr>
        <p:spPr>
          <a:xfrm>
            <a:off x="879475" y="1196975"/>
            <a:ext cx="7691501" cy="4525962"/>
          </a:xfrm>
        </p:spPr>
        <p:txBody>
          <a:bodyPr/>
          <a:lstStyle/>
          <a:p>
            <a:r>
              <a:rPr lang="zh-CN" altLang="en-US" dirty="0"/>
              <a:t>大多数流行的素数初等性测试是概率性测试。这些测试除了使用被测试的数字</a:t>
            </a:r>
            <a:r>
              <a:rPr lang="en-US" altLang="zh-CN" dirty="0"/>
              <a:t>n</a:t>
            </a:r>
            <a:r>
              <a:rPr lang="zh-CN" altLang="en-US" dirty="0"/>
              <a:t>之外，还使用一些其他数字</a:t>
            </a:r>
            <a:r>
              <a:rPr lang="en-US" altLang="zh-CN" dirty="0"/>
              <a:t>a</a:t>
            </a:r>
            <a:r>
              <a:rPr lang="zh-CN" altLang="en-US" dirty="0"/>
              <a:t>，这些数字是从一些采样空间中随机选择的。</a:t>
            </a:r>
            <a:endParaRPr lang="en-US" altLang="zh-CN" dirty="0"/>
          </a:p>
          <a:p>
            <a:r>
              <a:rPr lang="zh-CN" altLang="en-US" dirty="0"/>
              <a:t>通常的随机初等性测试从来不会将一个素数判断为合数，但合数有可能被判断为为素数。</a:t>
            </a:r>
            <a:endParaRPr lang="en-US" altLang="zh-CN" dirty="0"/>
          </a:p>
          <a:p>
            <a:r>
              <a:rPr lang="zh-CN" altLang="en-US" dirty="0"/>
              <a:t>误差的概率可以通过重复测试并且独立选择</a:t>
            </a:r>
            <a:r>
              <a:rPr lang="en-US" altLang="zh-CN" dirty="0"/>
              <a:t>a</a:t>
            </a:r>
            <a:r>
              <a:rPr lang="zh-CN" altLang="en-US" dirty="0"/>
              <a:t>的值来减少误差。</a:t>
            </a:r>
            <a:endParaRPr lang="en-US" altLang="zh-CN" dirty="0"/>
          </a:p>
        </p:txBody>
      </p:sp>
    </p:spTree>
    <p:extLst>
      <p:ext uri="{BB962C8B-B14F-4D97-AF65-F5344CB8AC3E}">
        <p14:creationId xmlns:p14="http://schemas.microsoft.com/office/powerpoint/2010/main" val="1101062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20483"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4" name="文本占位符 3">
            <a:extLst>
              <a:ext uri="{FF2B5EF4-FFF2-40B4-BE49-F238E27FC236}">
                <a16:creationId xmlns:a16="http://schemas.microsoft.com/office/drawing/2014/main" id="{9E84063E-F587-49FE-8B74-05A124DD7736}"/>
              </a:ext>
            </a:extLst>
          </p:cNvPr>
          <p:cNvSpPr>
            <a:spLocks noGrp="1"/>
          </p:cNvSpPr>
          <p:nvPr>
            <p:ph type="body" sz="half" idx="1"/>
          </p:nvPr>
        </p:nvSpPr>
        <p:spPr>
          <a:xfrm>
            <a:off x="879475" y="1211263"/>
            <a:ext cx="7869238" cy="4525962"/>
          </a:xfrm>
        </p:spPr>
        <p:txBody>
          <a:bodyPr/>
          <a:lstStyle/>
          <a:p>
            <a:pPr>
              <a:defRPr/>
            </a:pPr>
            <a:r>
              <a:rPr lang="zh-CN" altLang="en-US" dirty="0"/>
              <a:t>随机素数的简单测试流程</a:t>
            </a:r>
            <a:endParaRPr lang="en-US" altLang="zh-CN" dirty="0"/>
          </a:p>
          <a:p>
            <a:pPr marL="0" indent="0">
              <a:buFontTx/>
              <a:buNone/>
              <a:defRPr/>
            </a:pPr>
            <a:r>
              <a:rPr lang="en-US" altLang="zh-CN" dirty="0"/>
              <a:t>      1. </a:t>
            </a:r>
            <a:r>
              <a:rPr lang="zh-CN" altLang="en-US" dirty="0"/>
              <a:t>随机抽取一个数字</a:t>
            </a:r>
            <a:r>
              <a:rPr lang="en-US" altLang="zh-CN" dirty="0"/>
              <a:t>a</a:t>
            </a:r>
            <a:r>
              <a:rPr lang="zh-CN" altLang="en-US" dirty="0"/>
              <a:t>。</a:t>
            </a:r>
          </a:p>
          <a:p>
            <a:pPr marL="0" indent="0">
              <a:buFontTx/>
              <a:buNone/>
              <a:defRPr/>
            </a:pPr>
            <a:r>
              <a:rPr lang="en-US" altLang="zh-CN" dirty="0"/>
              <a:t>      2. </a:t>
            </a:r>
            <a:r>
              <a:rPr lang="zh-CN" altLang="en-US" dirty="0"/>
              <a:t>检查一些涉及</a:t>
            </a:r>
            <a:r>
              <a:rPr lang="en-US" altLang="zh-CN" dirty="0"/>
              <a:t>a</a:t>
            </a:r>
            <a:r>
              <a:rPr lang="zh-CN" altLang="en-US" dirty="0"/>
              <a:t>和给定数字</a:t>
            </a:r>
            <a:r>
              <a:rPr lang="en-US" altLang="zh-CN" dirty="0"/>
              <a:t>n</a:t>
            </a:r>
            <a:r>
              <a:rPr lang="zh-CN" altLang="en-US" dirty="0"/>
              <a:t>的之间关系（与所选        </a:t>
            </a:r>
            <a:r>
              <a:rPr lang="en-US" altLang="zh-CN" dirty="0"/>
              <a:t>	</a:t>
            </a:r>
            <a:r>
              <a:rPr lang="zh-CN" altLang="en-US" dirty="0"/>
              <a:t>测试相对应），这里为除法关系。如果该等式不</a:t>
            </a:r>
            <a:r>
              <a:rPr lang="en-US" altLang="zh-CN" dirty="0"/>
              <a:t>	</a:t>
            </a:r>
            <a:r>
              <a:rPr lang="zh-CN" altLang="en-US" dirty="0"/>
              <a:t>能成立，那么</a:t>
            </a:r>
            <a:r>
              <a:rPr lang="en-US" altLang="zh-CN" dirty="0"/>
              <a:t>n</a:t>
            </a:r>
            <a:r>
              <a:rPr lang="zh-CN" altLang="en-US" dirty="0"/>
              <a:t>是一个复合数，</a:t>
            </a:r>
            <a:r>
              <a:rPr lang="en-US" altLang="zh-CN" dirty="0"/>
              <a:t>a</a:t>
            </a:r>
            <a:r>
              <a:rPr lang="zh-CN" altLang="en-US" dirty="0"/>
              <a:t>被称为合数的</a:t>
            </a:r>
            <a:r>
              <a:rPr lang="en-US" altLang="zh-CN" dirty="0"/>
              <a:t>	</a:t>
            </a:r>
            <a:r>
              <a:rPr lang="zh-CN" altLang="en-US" dirty="0"/>
              <a:t>证</a:t>
            </a:r>
            <a:r>
              <a:rPr lang="en-US" altLang="zh-CN" dirty="0"/>
              <a:t>	</a:t>
            </a:r>
            <a:r>
              <a:rPr lang="zh-CN" altLang="en-US" dirty="0"/>
              <a:t>据（见证者），测试停止。</a:t>
            </a:r>
          </a:p>
          <a:p>
            <a:pPr marL="0" indent="0">
              <a:buFontTx/>
              <a:buNone/>
              <a:defRPr/>
            </a:pPr>
            <a:r>
              <a:rPr lang="en-US" altLang="zh-CN" dirty="0"/>
              <a:t>       3. </a:t>
            </a:r>
            <a:r>
              <a:rPr lang="zh-CN" altLang="en-US" dirty="0"/>
              <a:t>从第</a:t>
            </a:r>
            <a:r>
              <a:rPr lang="en-US" altLang="zh-CN" dirty="0"/>
              <a:t>1</a:t>
            </a:r>
            <a:r>
              <a:rPr lang="zh-CN" altLang="en-US" dirty="0"/>
              <a:t>步开始重复，直到达到所需的确定性。</a:t>
            </a:r>
            <a:endParaRPr lang="en-US" altLang="zh-CN" dirty="0"/>
          </a:p>
          <a:p>
            <a:pPr marL="0" indent="0">
              <a:buFontTx/>
              <a:buNone/>
              <a:defRPr/>
            </a:pPr>
            <a:endParaRPr lang="en-US" altLang="zh-CN" dirty="0"/>
          </a:p>
          <a:p>
            <a:pPr marL="0" indent="0">
              <a:buFontTx/>
              <a:buNone/>
              <a:defRPr/>
            </a:pPr>
            <a:r>
              <a:rPr lang="zh-CN" altLang="en-US" dirty="0"/>
              <a:t>经过</a:t>
            </a:r>
            <a:r>
              <a:rPr lang="en-US" altLang="zh-CN" dirty="0"/>
              <a:t>n</a:t>
            </a:r>
            <a:r>
              <a:rPr lang="zh-CN" altLang="en-US" dirty="0"/>
              <a:t>次迭代，如果没有发现</a:t>
            </a:r>
            <a:r>
              <a:rPr lang="en-US" altLang="zh-CN" dirty="0"/>
              <a:t>n</a:t>
            </a:r>
            <a:r>
              <a:rPr lang="zh-CN" altLang="en-US" dirty="0"/>
              <a:t>是一个合数。那么就可以认为它是一个素数。</a:t>
            </a:r>
            <a:endParaRPr lang="en-US" altLang="zh-CN" dirty="0"/>
          </a:p>
        </p:txBody>
      </p:sp>
    </p:spTree>
    <p:extLst>
      <p:ext uri="{BB962C8B-B14F-4D97-AF65-F5344CB8AC3E}">
        <p14:creationId xmlns:p14="http://schemas.microsoft.com/office/powerpoint/2010/main" val="100737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22531"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22532" name="文本占位符 3"/>
          <p:cNvSpPr>
            <a:spLocks noGrp="1" noChangeArrowheads="1"/>
          </p:cNvSpPr>
          <p:nvPr>
            <p:ph type="body" sz="half" idx="1"/>
          </p:nvPr>
        </p:nvSpPr>
        <p:spPr>
          <a:xfrm>
            <a:off x="879475" y="1211263"/>
            <a:ext cx="7869238" cy="4525962"/>
          </a:xfrm>
        </p:spPr>
        <p:txBody>
          <a:bodyPr/>
          <a:lstStyle/>
          <a:p>
            <a:pPr marL="0" indent="0">
              <a:buFontTx/>
              <a:buNone/>
            </a:pPr>
            <a:r>
              <a:rPr lang="zh-CN" altLang="en-US" dirty="0"/>
              <a:t>首先看一个简单的例子：求</a:t>
            </a:r>
            <a:r>
              <a:rPr lang="en-US" altLang="zh-CN" dirty="0"/>
              <a:t>a</a:t>
            </a:r>
            <a:r>
              <a:rPr lang="zh-CN" altLang="en-US" dirty="0"/>
              <a:t>的</a:t>
            </a:r>
            <a:r>
              <a:rPr lang="en-US" altLang="zh-CN" dirty="0"/>
              <a:t>m</a:t>
            </a:r>
            <a:r>
              <a:rPr lang="zh-CN" altLang="en-US" dirty="0"/>
              <a:t>次幂</a:t>
            </a:r>
            <a:endParaRPr lang="en-US" altLang="zh-CN" dirty="0"/>
          </a:p>
        </p:txBody>
      </p:sp>
      <p:pic>
        <p:nvPicPr>
          <p:cNvPr id="2253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363" y="1841500"/>
            <a:ext cx="6875462"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8448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24579"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4580" name="文本占位符 3"/>
              <p:cNvSpPr>
                <a:spLocks noGrp="1" noChangeArrowheads="1"/>
              </p:cNvSpPr>
              <p:nvPr>
                <p:ph type="body" sz="half" idx="1"/>
              </p:nvPr>
            </p:nvSpPr>
            <p:spPr>
              <a:xfrm>
                <a:off x="879475" y="1211263"/>
                <a:ext cx="7869238" cy="4525962"/>
              </a:xfrm>
            </p:spPr>
            <p:txBody>
              <a:bodyPr/>
              <a:lstStyle/>
              <a:p>
                <a:pPr marL="0" indent="0">
                  <a:buFontTx/>
                  <a:buNone/>
                </a:pPr>
                <a:r>
                  <a:rPr lang="zh-CN" altLang="en-US" dirty="0"/>
                  <a:t>输入：</a:t>
                </a:r>
                <a:r>
                  <a:rPr lang="en-US" altLang="zh-CN" b="1" i="1" dirty="0"/>
                  <a:t>x</a:t>
                </a:r>
                <a:r>
                  <a:rPr lang="zh-CN" altLang="en-US" dirty="0"/>
                  <a:t>为实数 </a:t>
                </a:r>
                <a:r>
                  <a:rPr lang="en-US" altLang="zh-CN" sz="2800" i="1" dirty="0"/>
                  <a:t>m </a:t>
                </a:r>
                <a:r>
                  <a:rPr lang="en-US" altLang="zh-CN" sz="2800" dirty="0"/>
                  <a:t>= </a:t>
                </a:r>
                <a:r>
                  <a:rPr lang="en-US" altLang="zh-CN" sz="2800" i="1" dirty="0" err="1"/>
                  <a:t>d</a:t>
                </a:r>
                <a:r>
                  <a:rPr lang="en-US" altLang="zh-CN" sz="1600" i="1" dirty="0" err="1"/>
                  <a:t>k</a:t>
                </a:r>
                <a:r>
                  <a:rPr lang="en-US" altLang="zh-CN" sz="1600" i="1" dirty="0"/>
                  <a:t> </a:t>
                </a:r>
                <a:r>
                  <a:rPr lang="en-US" altLang="zh-CN" sz="2800" i="1" dirty="0" err="1"/>
                  <a:t>d</a:t>
                </a:r>
                <a:r>
                  <a:rPr lang="en-US" altLang="zh-CN" sz="1600" i="1" dirty="0" err="1"/>
                  <a:t>k</a:t>
                </a:r>
                <a:r>
                  <a:rPr lang="en-US" altLang="zh-CN" sz="1600" dirty="0"/>
                  <a:t>-1</a:t>
                </a:r>
                <a:r>
                  <a:rPr lang="en-US" altLang="zh-CN" sz="2800" dirty="0"/>
                  <a:t>…</a:t>
                </a:r>
                <a:r>
                  <a:rPr lang="en-US" altLang="zh-CN" sz="2800" i="1" dirty="0" err="1"/>
                  <a:t>d</a:t>
                </a:r>
                <a:r>
                  <a:rPr lang="en-US" altLang="zh-CN" sz="1600" dirty="0" err="1"/>
                  <a:t>1</a:t>
                </a:r>
                <a:r>
                  <a:rPr lang="en-US" altLang="zh-CN" sz="1600" dirty="0"/>
                  <a:t> </a:t>
                </a:r>
                <a:r>
                  <a:rPr lang="en-US" altLang="zh-CN" sz="2800" i="1" dirty="0" err="1"/>
                  <a:t>d</a:t>
                </a:r>
                <a:r>
                  <a:rPr lang="en-US" altLang="zh-CN" sz="1800" dirty="0" err="1"/>
                  <a:t>0</a:t>
                </a:r>
                <a:r>
                  <a:rPr lang="en-US" altLang="zh-CN" sz="2800" dirty="0"/>
                  <a:t> </a:t>
                </a:r>
                <a:r>
                  <a:rPr lang="zh-CN" altLang="en-US" dirty="0"/>
                  <a:t>为二进制自然数。</a:t>
                </a:r>
              </a:p>
              <a:p>
                <a:pPr marL="0" indent="0">
                  <a:buFontTx/>
                  <a:buNone/>
                </a:pPr>
                <a:r>
                  <a:rPr lang="zh-CN" altLang="en-US" dirty="0"/>
                  <a:t>输出：</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𝑚</m:t>
                        </m:r>
                      </m:sup>
                    </m:sSup>
                  </m:oMath>
                </a14:m>
                <a:endParaRPr lang="en-US" altLang="zh-CN" dirty="0"/>
              </a:p>
            </p:txBody>
          </p:sp>
        </mc:Choice>
        <mc:Fallback xmlns="">
          <p:sp>
            <p:nvSpPr>
              <p:cNvPr id="24580" name="文本占位符 3"/>
              <p:cNvSpPr>
                <a:spLocks noGrp="1" noRot="1" noChangeAspect="1" noMove="1" noResize="1" noEditPoints="1" noAdjustHandles="1" noChangeArrowheads="1" noChangeShapeType="1" noTextEdit="1"/>
              </p:cNvSpPr>
              <p:nvPr>
                <p:ph type="body" sz="half" idx="1"/>
              </p:nvPr>
            </p:nvSpPr>
            <p:spPr>
              <a:xfrm>
                <a:off x="879475" y="1211263"/>
                <a:ext cx="7869238" cy="4525962"/>
              </a:xfrm>
              <a:blipFill>
                <a:blip r:embed="rId3"/>
                <a:stretch>
                  <a:fillRect l="-1239" t="-1482"/>
                </a:stretch>
              </a:blipFill>
            </p:spPr>
            <p:txBody>
              <a:bodyPr/>
              <a:lstStyle/>
              <a:p>
                <a:r>
                  <a:rPr lang="zh-CN" altLang="en-US">
                    <a:noFill/>
                  </a:rPr>
                  <a:t> </a:t>
                </a:r>
              </a:p>
            </p:txBody>
          </p:sp>
        </mc:Fallback>
      </mc:AlternateContent>
      <p:pic>
        <p:nvPicPr>
          <p:cNvPr id="24581"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565400"/>
            <a:ext cx="4321175"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9400" y="2525713"/>
            <a:ext cx="3373438"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6396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26627"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8134158" cy="1718627"/>
              </a:xfrm>
            </p:spPr>
            <p:txBody>
              <a:bodyPr/>
              <a:lstStyle/>
              <a:p>
                <a:r>
                  <a:rPr lang="zh-CN" altLang="en-US" b="1" dirty="0"/>
                  <a:t>费马定理</a:t>
                </a:r>
                <a:r>
                  <a:rPr lang="zh-CN" altLang="en-US" dirty="0"/>
                  <a:t>：如果</a:t>
                </a:r>
                <a:r>
                  <a:rPr lang="en-US" altLang="zh-CN" dirty="0"/>
                  <a:t>n</a:t>
                </a:r>
                <a:r>
                  <a:rPr lang="zh-CN" altLang="en-US" dirty="0"/>
                  <a:t>是素数，那么对于所有的</a:t>
                </a:r>
                <a14:m>
                  <m:oMath xmlns:m="http://schemas.openxmlformats.org/officeDocument/2006/math">
                    <m:r>
                      <a:rPr lang="en-US" altLang="zh-CN" sz="2400" b="0" i="1" smtClean="0">
                        <a:latin typeface="Cambria Math" panose="02040503050406030204" pitchFamily="18" charset="0"/>
                      </a:rPr>
                      <m:t>𝑎</m:t>
                    </m:r>
                    <m:r>
                      <a:rPr lang="en-US" altLang="zh-CN" sz="2400" b="0" i="1" smtClean="0">
                        <a:latin typeface="Cambria Math" panose="02040503050406030204" pitchFamily="18" charset="0"/>
                        <a:ea typeface="Cambria Math" panose="02040503050406030204" pitchFamily="18" charset="0"/>
                      </a:rPr>
                      <m:t>≢0(</m:t>
                    </m:r>
                    <m:r>
                      <a:rPr lang="en-US" altLang="zh-CN" sz="2400" b="0" i="1" smtClean="0">
                        <a:latin typeface="Cambria Math" panose="02040503050406030204" pitchFamily="18" charset="0"/>
                        <a:ea typeface="Cambria Math" panose="02040503050406030204" pitchFamily="18" charset="0"/>
                      </a:rPr>
                      <m:t>𝑚𝑜𝑑</m:t>
                    </m:r>
                    <m:r>
                      <a:rPr lang="en-US" altLang="zh-CN" sz="2400" b="0" i="1" smtClean="0">
                        <a:latin typeface="Cambria Math" panose="02040503050406030204" pitchFamily="18" charset="0"/>
                        <a:ea typeface="Cambria Math" panose="02040503050406030204" pitchFamily="18" charset="0"/>
                      </a:rPr>
                      <m:t> </m:t>
                    </m:r>
                    <m:r>
                      <a:rPr lang="en-US" altLang="zh-CN" sz="2400" b="0" i="1" smtClean="0">
                        <a:latin typeface="Cambria Math" panose="02040503050406030204" pitchFamily="18" charset="0"/>
                        <a:ea typeface="Cambria Math" panose="02040503050406030204" pitchFamily="18" charset="0"/>
                      </a:rPr>
                      <m:t>𝑛</m:t>
                    </m:r>
                    <m:r>
                      <a:rPr lang="en-US" altLang="zh-CN" sz="2400" b="0" i="1" smtClean="0">
                        <a:latin typeface="Cambria Math" panose="02040503050406030204" pitchFamily="18" charset="0"/>
                        <a:ea typeface="Cambria Math" panose="02040503050406030204" pitchFamily="18" charset="0"/>
                      </a:rPr>
                      <m:t>)</m:t>
                    </m:r>
                  </m:oMath>
                </a14:m>
                <a:r>
                  <a:rPr lang="zh-CN" altLang="en-US" dirty="0"/>
                  <a:t>，都有</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𝑎</m:t>
                        </m:r>
                      </m:e>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sSup>
                    <m:r>
                      <a:rPr lang="en-US" altLang="zh-CN" b="0" i="1" smtClean="0">
                        <a:latin typeface="Cambria Math" panose="02040503050406030204" pitchFamily="18" charset="0"/>
                      </a:rPr>
                      <m:t>=1(</m:t>
                    </m:r>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altLang="zh-CN" dirty="0"/>
              </a:p>
              <a:p>
                <a:r>
                  <a:rPr lang="zh-CN" altLang="en-US" b="1" dirty="0"/>
                  <a:t>素数测试原理</a:t>
                </a:r>
                <a:r>
                  <a:rPr lang="zh-CN" altLang="en-US" dirty="0"/>
                  <a:t>：检测</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sSup>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oMath>
                </a14:m>
                <a:r>
                  <a:rPr lang="zh-CN" altLang="en-US" dirty="0"/>
                  <a:t>。如是，输出“素数”；否则输出“合数”。</a:t>
                </a:r>
                <a:endParaRPr lang="en-US" altLang="zh-CN"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8134158" cy="1718627"/>
              </a:xfrm>
              <a:blipFill>
                <a:blip r:embed="rId3"/>
                <a:stretch>
                  <a:fillRect l="-1049" t="-3191" b="-7447"/>
                </a:stretch>
              </a:blipFill>
            </p:spPr>
            <p:txBody>
              <a:bodyPr/>
              <a:lstStyle/>
              <a:p>
                <a:r>
                  <a:rPr lang="zh-CN" altLang="en-US">
                    <a:noFill/>
                  </a:rPr>
                  <a:t> </a:t>
                </a:r>
              </a:p>
            </p:txBody>
          </p:sp>
        </mc:Fallback>
      </mc:AlternateContent>
      <p:pic>
        <p:nvPicPr>
          <p:cNvPr id="8"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924" y="3156014"/>
            <a:ext cx="7466012" cy="22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6689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28675"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28676" name="文本占位符 3"/>
          <p:cNvSpPr>
            <a:spLocks noGrp="1" noChangeArrowheads="1"/>
          </p:cNvSpPr>
          <p:nvPr>
            <p:ph type="body" sz="half" idx="1"/>
          </p:nvPr>
        </p:nvSpPr>
        <p:spPr>
          <a:xfrm>
            <a:off x="879475" y="1211263"/>
            <a:ext cx="7869238" cy="4525962"/>
          </a:xfrm>
        </p:spPr>
        <p:txBody>
          <a:bodyPr/>
          <a:lstStyle/>
          <a:p>
            <a:r>
              <a:rPr lang="zh-CN" altLang="en-US" dirty="0"/>
              <a:t>问题：算法</a:t>
            </a:r>
            <a:r>
              <a:rPr lang="en-US" altLang="zh-CN" b="1" dirty="0" err="1"/>
              <a:t>PTEST1</a:t>
            </a:r>
            <a:r>
              <a:rPr lang="zh-CN" altLang="en-US" dirty="0"/>
              <a:t>只对</a:t>
            </a:r>
            <a:r>
              <a:rPr lang="en-US" altLang="zh-CN" b="1" i="1" dirty="0"/>
              <a:t>a</a:t>
            </a:r>
            <a:r>
              <a:rPr lang="en-US" altLang="zh-CN" b="1" dirty="0"/>
              <a:t>=2</a:t>
            </a:r>
            <a:r>
              <a:rPr lang="zh-CN" altLang="en-US" dirty="0"/>
              <a:t>进行测试</a:t>
            </a:r>
            <a:r>
              <a:rPr lang="zh-CN" altLang="en-US" b="1" dirty="0"/>
              <a:t>。</a:t>
            </a:r>
            <a:r>
              <a:rPr lang="zh-CN" altLang="en-US" dirty="0"/>
              <a:t>如果</a:t>
            </a:r>
            <a:r>
              <a:rPr lang="en-US" altLang="zh-CN" b="1" i="1" dirty="0"/>
              <a:t>n</a:t>
            </a:r>
            <a:r>
              <a:rPr lang="zh-CN" altLang="en-US" dirty="0"/>
              <a:t>为合数且算法输出</a:t>
            </a:r>
            <a:r>
              <a:rPr lang="zh-CN" altLang="en-US" b="1" dirty="0"/>
              <a:t>“</a:t>
            </a:r>
            <a:r>
              <a:rPr lang="zh-CN" altLang="en-US" dirty="0"/>
              <a:t>素数</a:t>
            </a:r>
            <a:r>
              <a:rPr lang="zh-CN" altLang="en-US" b="1" dirty="0"/>
              <a:t>”，</a:t>
            </a:r>
            <a:r>
              <a:rPr lang="zh-CN" altLang="en-US" dirty="0"/>
              <a:t>则称 </a:t>
            </a:r>
            <a:r>
              <a:rPr lang="en-US" altLang="zh-CN" b="1" i="1" dirty="0"/>
              <a:t>n </a:t>
            </a:r>
            <a:r>
              <a:rPr lang="zh-CN" altLang="en-US" dirty="0"/>
              <a:t>为基</a:t>
            </a:r>
            <a:r>
              <a:rPr lang="en-US" altLang="zh-CN" b="1" dirty="0"/>
              <a:t>2</a:t>
            </a:r>
            <a:r>
              <a:rPr lang="zh-CN" altLang="en-US" dirty="0"/>
              <a:t>的伪素数</a:t>
            </a:r>
            <a:r>
              <a:rPr lang="zh-CN" altLang="en-US" b="1" dirty="0"/>
              <a:t>。</a:t>
            </a:r>
            <a:r>
              <a:rPr lang="zh-CN" altLang="en-US" dirty="0"/>
              <a:t>例如</a:t>
            </a:r>
            <a:r>
              <a:rPr lang="en-US" altLang="zh-CN" dirty="0"/>
              <a:t>341</a:t>
            </a:r>
            <a:r>
              <a:rPr lang="zh-CN" altLang="en-US" dirty="0"/>
              <a:t>。</a:t>
            </a:r>
            <a:endParaRPr lang="en-US" altLang="zh-CN" dirty="0"/>
          </a:p>
          <a:p>
            <a:r>
              <a:rPr lang="zh-CN" altLang="en-US" dirty="0"/>
              <a:t>算法</a:t>
            </a:r>
            <a:r>
              <a:rPr lang="en-US" altLang="zh-CN" dirty="0" err="1"/>
              <a:t>PTEST1</a:t>
            </a:r>
            <a:r>
              <a:rPr lang="zh-CN" altLang="en-US" dirty="0"/>
              <a:t>很少给出错误的结果。</a:t>
            </a:r>
            <a:endParaRPr lang="en-US" altLang="zh-CN" dirty="0"/>
          </a:p>
          <a:p>
            <a:r>
              <a:rPr lang="zh-CN" altLang="en-US" dirty="0"/>
              <a:t>例如：对于</a:t>
            </a:r>
            <a:r>
              <a:rPr lang="en-US" altLang="zh-CN" dirty="0"/>
              <a:t>4</a:t>
            </a:r>
            <a:r>
              <a:rPr lang="zh-CN" altLang="en-US" dirty="0"/>
              <a:t>到</a:t>
            </a:r>
            <a:r>
              <a:rPr lang="en-US" altLang="zh-CN" dirty="0"/>
              <a:t>2000</a:t>
            </a:r>
            <a:r>
              <a:rPr lang="zh-CN" altLang="en-US" dirty="0"/>
              <a:t>之间所有的合数，算法仅对</a:t>
            </a:r>
            <a:r>
              <a:rPr lang="en-US" altLang="zh-CN" dirty="0"/>
              <a:t>341</a:t>
            </a:r>
            <a:r>
              <a:rPr lang="zh-CN" altLang="en-US" dirty="0"/>
              <a:t>，</a:t>
            </a:r>
            <a:r>
              <a:rPr lang="en-US" altLang="zh-CN" dirty="0"/>
              <a:t>561</a:t>
            </a:r>
            <a:r>
              <a:rPr lang="zh-CN" altLang="en-US" dirty="0"/>
              <a:t>，</a:t>
            </a:r>
            <a:r>
              <a:rPr lang="en-US" altLang="zh-CN" dirty="0"/>
              <a:t>645</a:t>
            </a:r>
            <a:r>
              <a:rPr lang="zh-CN" altLang="en-US" dirty="0"/>
              <a:t>，</a:t>
            </a:r>
            <a:r>
              <a:rPr lang="en-US" altLang="zh-CN" dirty="0"/>
              <a:t>1105</a:t>
            </a:r>
            <a:r>
              <a:rPr lang="zh-CN" altLang="en-US" dirty="0"/>
              <a:t>，</a:t>
            </a:r>
            <a:r>
              <a:rPr lang="en-US" altLang="zh-CN" dirty="0"/>
              <a:t>1387</a:t>
            </a:r>
            <a:r>
              <a:rPr lang="zh-CN" altLang="en-US" dirty="0"/>
              <a:t>，</a:t>
            </a:r>
            <a:r>
              <a:rPr lang="en-US" altLang="zh-CN" dirty="0"/>
              <a:t>1729</a:t>
            </a:r>
            <a:r>
              <a:rPr lang="zh-CN" altLang="en-US" dirty="0"/>
              <a:t>和</a:t>
            </a:r>
            <a:r>
              <a:rPr lang="en-US" altLang="zh-CN" dirty="0"/>
              <a:t>1905</a:t>
            </a:r>
            <a:r>
              <a:rPr lang="zh-CN" altLang="en-US" dirty="0"/>
              <a:t>这样几个数返回素数，此外，在小于</a:t>
            </a:r>
            <a:r>
              <a:rPr lang="en-US" altLang="zh-CN" dirty="0"/>
              <a:t>100000</a:t>
            </a:r>
            <a:r>
              <a:rPr lang="zh-CN" altLang="en-US" dirty="0"/>
              <a:t>的数中仅有</a:t>
            </a:r>
            <a:r>
              <a:rPr lang="en-US" altLang="zh-CN" dirty="0"/>
              <a:t>78</a:t>
            </a:r>
            <a:r>
              <a:rPr lang="zh-CN" altLang="en-US" dirty="0"/>
              <a:t>个值测试出错，他们中最大的是</a:t>
            </a:r>
            <a:r>
              <a:rPr lang="en-US" altLang="zh-CN" dirty="0"/>
              <a:t>93961=7*31*433</a:t>
            </a:r>
            <a:r>
              <a:rPr lang="zh-CN" altLang="en-US" dirty="0"/>
              <a:t>。</a:t>
            </a:r>
            <a:endParaRPr lang="en-US" altLang="zh-CN" dirty="0"/>
          </a:p>
        </p:txBody>
      </p:sp>
    </p:spTree>
    <p:extLst>
      <p:ext uri="{BB962C8B-B14F-4D97-AF65-F5344CB8AC3E}">
        <p14:creationId xmlns:p14="http://schemas.microsoft.com/office/powerpoint/2010/main" val="84105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30723"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3" name="文本占位符 2"/>
              <p:cNvSpPr>
                <a:spLocks noGrp="1"/>
              </p:cNvSpPr>
              <p:nvPr>
                <p:ph type="body" sz="half" idx="1"/>
              </p:nvPr>
            </p:nvSpPr>
            <p:spPr>
              <a:xfrm>
                <a:off x="879476" y="1196975"/>
                <a:ext cx="7869238" cy="4525962"/>
              </a:xfrm>
            </p:spPr>
            <p:txBody>
              <a:bodyPr/>
              <a:lstStyle/>
              <a:p>
                <a:r>
                  <a:rPr lang="zh-CN" altLang="en-US" dirty="0"/>
                  <a:t>但是，许多合数 </a:t>
                </a:r>
                <a:r>
                  <a:rPr lang="en-US" altLang="zh-CN" dirty="0"/>
                  <a:t>n </a:t>
                </a:r>
                <a:r>
                  <a:rPr lang="zh-CN" altLang="en-US" dirty="0"/>
                  <a:t>存在一个整数</a:t>
                </a:r>
                <a14:m>
                  <m:oMath xmlns:m="http://schemas.openxmlformats.org/officeDocument/2006/math">
                    <m:r>
                      <a:rPr lang="en-US" altLang="zh-CN" b="0" i="1" smtClean="0">
                        <a:latin typeface="Cambria Math" panose="02040503050406030204" pitchFamily="18" charset="0"/>
                      </a:rPr>
                      <m:t>𝑎</m:t>
                    </m:r>
                  </m:oMath>
                </a14:m>
                <a:r>
                  <a:rPr lang="zh-CN" altLang="en-US" dirty="0"/>
                  <a:t>满足</a:t>
                </a:r>
                <a14:m>
                  <m:oMath xmlns:m="http://schemas.openxmlformats.org/officeDocument/2006/math">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𝑎</m:t>
                        </m:r>
                      </m:e>
                      <m:sup>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−1</m:t>
                        </m:r>
                      </m:sup>
                    </m:sSup>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1(</m:t>
                    </m:r>
                    <m:r>
                      <a:rPr lang="en-US" altLang="zh-CN" b="0" i="1" dirty="0" smtClean="0">
                        <a:latin typeface="Cambria Math" panose="02040503050406030204" pitchFamily="18" charset="0"/>
                        <a:ea typeface="Cambria Math" panose="02040503050406030204" pitchFamily="18" charset="0"/>
                      </a:rPr>
                      <m:t>𝑚𝑜𝑑</m:t>
                    </m:r>
                    <m:r>
                      <a:rPr lang="en-US" altLang="zh-CN" b="0" i="1" dirty="0" smtClean="0">
                        <a:latin typeface="Cambria Math" panose="02040503050406030204" pitchFamily="18" charset="0"/>
                        <a:ea typeface="Cambria Math" panose="02040503050406030204" pitchFamily="18" charset="0"/>
                      </a:rPr>
                      <m:t> </m:t>
                    </m:r>
                    <m:r>
                      <a:rPr lang="en-US" altLang="zh-CN" b="0" i="1" dirty="0" smtClean="0">
                        <a:latin typeface="Cambria Math" panose="02040503050406030204" pitchFamily="18" charset="0"/>
                        <a:ea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m:t>
                    </m:r>
                  </m:oMath>
                </a14:m>
                <a:r>
                  <a:rPr lang="zh-CN" altLang="en-US" dirty="0"/>
                  <a:t>。换句话说，</a:t>
                </a:r>
                <a:r>
                  <a:rPr lang="en-US" altLang="zh-CN" dirty="0"/>
                  <a:t>Fermat</a:t>
                </a:r>
                <a:r>
                  <a:rPr lang="zh-CN" altLang="en-US" dirty="0"/>
                  <a:t>定理的逆是不正确的。</a:t>
                </a:r>
                <a:endParaRPr lang="en-US" altLang="zh-CN" dirty="0"/>
              </a:p>
              <a:p>
                <a:endParaRPr lang="en-US" altLang="zh-CN" sz="1050" dirty="0"/>
              </a:p>
              <a:p>
                <a:pPr marL="1080000"/>
                <a:r>
                  <a:rPr lang="zh-CN" altLang="en-US" sz="2200" dirty="0"/>
                  <a:t>的确有被称为</a:t>
                </a:r>
                <a:r>
                  <a:rPr lang="en-US" altLang="zh-CN" sz="2200" dirty="0"/>
                  <a:t>Carmichael</a:t>
                </a:r>
                <a:r>
                  <a:rPr lang="zh-CN" altLang="en-US" sz="2200" dirty="0"/>
                  <a:t>数的合数</a:t>
                </a:r>
                <a:r>
                  <a:rPr lang="en-US" altLang="zh-CN" sz="2200" dirty="0"/>
                  <a:t>n</a:t>
                </a:r>
                <a:r>
                  <a:rPr lang="zh-CN" altLang="en-US" sz="2200" dirty="0"/>
                  <a:t>，它对于所有相对于</a:t>
                </a:r>
                <a:r>
                  <a:rPr lang="en-US" altLang="zh-CN" sz="2200" dirty="0"/>
                  <a:t>n</a:t>
                </a:r>
                <a:r>
                  <a:rPr lang="zh-CN" altLang="en-US" sz="2200" dirty="0"/>
                  <a:t>互素的正整数</a:t>
                </a:r>
                <a:r>
                  <a:rPr lang="en-US" altLang="zh-CN" sz="2200" dirty="0"/>
                  <a:t>a</a:t>
                </a:r>
                <a:r>
                  <a:rPr lang="zh-CN" altLang="en-US" sz="2200" dirty="0"/>
                  <a:t>，满足</a:t>
                </a:r>
                <a:r>
                  <a:rPr lang="en-US" altLang="zh-CN" sz="2200" dirty="0"/>
                  <a:t>Fermat</a:t>
                </a:r>
                <a:r>
                  <a:rPr lang="zh-CN" altLang="en-US" sz="2200" dirty="0"/>
                  <a:t>定理。</a:t>
                </a:r>
                <a:endParaRPr lang="en-US" altLang="zh-CN" sz="2200" dirty="0"/>
              </a:p>
              <a:p>
                <a:pPr marL="1080000"/>
                <a:r>
                  <a:rPr lang="en-US" altLang="zh-CN" sz="2200" dirty="0"/>
                  <a:t>Carmichael</a:t>
                </a:r>
                <a:r>
                  <a:rPr lang="zh-CN" altLang="en-US" sz="2200" dirty="0"/>
                  <a:t>数相当少，比如在小于</a:t>
                </a:r>
                <a:r>
                  <a:rPr lang="en-US" altLang="zh-CN" sz="2200" dirty="0"/>
                  <a:t>108</a:t>
                </a:r>
                <a:r>
                  <a:rPr lang="zh-CN" altLang="en-US" sz="2200" dirty="0"/>
                  <a:t>的范围内仅有</a:t>
                </a:r>
                <a:r>
                  <a:rPr lang="en-US" altLang="zh-CN" sz="2200" dirty="0"/>
                  <a:t>255</a:t>
                </a:r>
                <a:r>
                  <a:rPr lang="zh-CN" altLang="en-US" sz="2200" dirty="0"/>
                  <a:t>个</a:t>
                </a:r>
                <a:endParaRPr lang="en-US" altLang="zh-CN" sz="2200" dirty="0"/>
              </a:p>
              <a:p>
                <a:pPr marL="0"/>
                <a:r>
                  <a:rPr lang="zh-CN" altLang="en-US" dirty="0"/>
                  <a:t>当一个合数</a:t>
                </a:r>
                <a:r>
                  <a:rPr lang="en-US" altLang="zh-CN" dirty="0"/>
                  <a:t>n</a:t>
                </a:r>
                <a:r>
                  <a:rPr lang="zh-CN" altLang="en-US" dirty="0"/>
                  <a:t>对于底</a:t>
                </a:r>
                <a:r>
                  <a:rPr lang="en-US" altLang="zh-CN" dirty="0"/>
                  <a:t>a</a:t>
                </a:r>
                <a:r>
                  <a:rPr lang="zh-CN" altLang="en-US" dirty="0"/>
                  <a:t>满足</a:t>
                </a:r>
                <a:r>
                  <a:rPr lang="en-US" altLang="zh-CN" dirty="0"/>
                  <a:t>Fermat</a:t>
                </a:r>
                <a:r>
                  <a:rPr lang="zh-CN" altLang="en-US" dirty="0"/>
                  <a:t>定理时，</a:t>
                </a:r>
                <a:r>
                  <a:rPr lang="en-US" altLang="zh-CN" dirty="0"/>
                  <a:t>n</a:t>
                </a:r>
                <a:r>
                  <a:rPr lang="zh-CN" altLang="en-US" dirty="0"/>
                  <a:t>被称为底</a:t>
                </a:r>
                <a:r>
                  <a:rPr lang="en-US" altLang="zh-CN" dirty="0"/>
                  <a:t>a</a:t>
                </a:r>
                <a:r>
                  <a:rPr lang="zh-CN" altLang="en-US" dirty="0"/>
                  <a:t>的伪素数。于是，算法</a:t>
                </a:r>
                <a:r>
                  <a:rPr lang="en-US" altLang="zh-CN" dirty="0" err="1"/>
                  <a:t>PTEST1</a:t>
                </a:r>
                <a:r>
                  <a:rPr lang="zh-CN" altLang="en-US" dirty="0"/>
                  <a:t>在</a:t>
                </a:r>
                <a:r>
                  <a:rPr lang="en-US" altLang="zh-CN" dirty="0"/>
                  <a:t>n</a:t>
                </a:r>
                <a:r>
                  <a:rPr lang="zh-CN" altLang="en-US" dirty="0"/>
                  <a:t>是素数或者是底</a:t>
                </a:r>
                <a:r>
                  <a:rPr lang="en-US" altLang="zh-CN" dirty="0"/>
                  <a:t>2</a:t>
                </a:r>
                <a:r>
                  <a:rPr lang="zh-CN" altLang="en-US" dirty="0"/>
                  <a:t>的伪素数时返回素数。</a:t>
                </a:r>
                <a:endParaRPr lang="en-US" altLang="zh-CN" dirty="0"/>
              </a:p>
            </p:txBody>
          </p:sp>
        </mc:Choice>
        <mc:Fallback xmlns="">
          <p:sp>
            <p:nvSpPr>
              <p:cNvPr id="3" name="文本占位符 2"/>
              <p:cNvSpPr>
                <a:spLocks noGrp="1" noRot="1" noChangeAspect="1" noMove="1" noResize="1" noEditPoints="1" noAdjustHandles="1" noChangeArrowheads="1" noChangeShapeType="1" noTextEdit="1"/>
              </p:cNvSpPr>
              <p:nvPr>
                <p:ph type="body" sz="half" idx="1"/>
              </p:nvPr>
            </p:nvSpPr>
            <p:spPr>
              <a:xfrm>
                <a:off x="879476" y="1196975"/>
                <a:ext cx="7869238" cy="4525962"/>
              </a:xfrm>
              <a:blipFill>
                <a:blip r:embed="rId3"/>
                <a:stretch>
                  <a:fillRect l="-1239" t="-1211" r="-8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1893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32771"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32772" name="文本占位符 3"/>
          <p:cNvSpPr>
            <a:spLocks noGrp="1" noChangeArrowheads="1"/>
          </p:cNvSpPr>
          <p:nvPr>
            <p:ph type="body" sz="half" idx="1"/>
          </p:nvPr>
        </p:nvSpPr>
        <p:spPr>
          <a:xfrm>
            <a:off x="879475" y="1342708"/>
            <a:ext cx="7869238" cy="4525962"/>
          </a:xfrm>
        </p:spPr>
        <p:txBody>
          <a:bodyPr/>
          <a:lstStyle/>
          <a:p>
            <a:r>
              <a:rPr lang="zh-CN" altLang="en-US" b="1" dirty="0"/>
              <a:t>改进算法</a:t>
            </a:r>
            <a:r>
              <a:rPr lang="en-US" altLang="zh-CN" b="1" dirty="0" err="1"/>
              <a:t>PTEST1</a:t>
            </a:r>
            <a:r>
              <a:rPr lang="zh-CN" altLang="en-US" b="1" dirty="0"/>
              <a:t>的一种方法是在</a:t>
            </a:r>
            <a:r>
              <a:rPr lang="en-US" altLang="zh-CN" b="1" dirty="0"/>
              <a:t>2</a:t>
            </a:r>
            <a:r>
              <a:rPr lang="zh-CN" altLang="en-US" b="1" dirty="0"/>
              <a:t>和</a:t>
            </a:r>
            <a:r>
              <a:rPr lang="en-US" altLang="zh-CN" b="1" dirty="0"/>
              <a:t>n-2</a:t>
            </a:r>
            <a:r>
              <a:rPr lang="zh-CN" altLang="en-US" b="1" dirty="0"/>
              <a:t>之间随机地选择底，这产生了算法</a:t>
            </a:r>
            <a:r>
              <a:rPr lang="en-US" altLang="zh-CN" b="1" dirty="0" err="1"/>
              <a:t>PTEST2</a:t>
            </a:r>
            <a:r>
              <a:rPr lang="zh-CN" altLang="en-US" b="1" dirty="0"/>
              <a:t>。</a:t>
            </a:r>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r>
              <a:rPr lang="zh-CN" altLang="en-US" b="1" dirty="0"/>
              <a:t>如果（复合）</a:t>
            </a:r>
            <a:r>
              <a:rPr lang="en-US" altLang="zh-CN" b="1" dirty="0"/>
              <a:t>n</a:t>
            </a:r>
            <a:r>
              <a:rPr lang="zh-CN" altLang="en-US" b="1" dirty="0"/>
              <a:t>不是一个卡迈克尔数 数，那么算法</a:t>
            </a:r>
            <a:r>
              <a:rPr lang="en-US" altLang="zh-CN" b="1" dirty="0" err="1"/>
              <a:t>PTEST2</a:t>
            </a:r>
            <a:r>
              <a:rPr lang="zh-CN" altLang="en-US" b="1" dirty="0"/>
              <a:t>将检测出</a:t>
            </a:r>
            <a:r>
              <a:rPr lang="en-US" altLang="zh-CN" b="1" dirty="0"/>
              <a:t>n</a:t>
            </a:r>
            <a:r>
              <a:rPr lang="zh-CN" altLang="en-US" b="1" dirty="0"/>
              <a:t>为复合数，概率至少为</a:t>
            </a:r>
            <a:r>
              <a:rPr lang="en-US" altLang="zh-CN" b="1" dirty="0"/>
              <a:t>½</a:t>
            </a:r>
            <a:r>
              <a:rPr lang="zh-CN" altLang="en-US" b="1" dirty="0"/>
              <a:t>。</a:t>
            </a:r>
            <a:endParaRPr lang="en-US" altLang="zh-CN" b="1" dirty="0"/>
          </a:p>
        </p:txBody>
      </p:sp>
      <p:pic>
        <p:nvPicPr>
          <p:cNvPr id="32773"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058" y="2154428"/>
            <a:ext cx="68072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55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34819"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34820" name="文本占位符 3"/>
          <p:cNvSpPr>
            <a:spLocks noGrp="1" noChangeArrowheads="1"/>
          </p:cNvSpPr>
          <p:nvPr>
            <p:ph type="body" sz="half" idx="1"/>
          </p:nvPr>
        </p:nvSpPr>
        <p:spPr>
          <a:xfrm>
            <a:off x="879475" y="1525588"/>
            <a:ext cx="7869238" cy="4525962"/>
          </a:xfrm>
        </p:spPr>
        <p:txBody>
          <a:bodyPr/>
          <a:lstStyle/>
          <a:p>
            <a:r>
              <a:rPr lang="zh-CN" altLang="en-US" b="1" dirty="0"/>
              <a:t>遗憾的是，最近已经证明了实际上有无穷多的</a:t>
            </a:r>
            <a:r>
              <a:rPr lang="en-US" altLang="zh-CN" b="1" dirty="0" err="1"/>
              <a:t>Camichael</a:t>
            </a:r>
            <a:r>
              <a:rPr lang="zh-CN" altLang="en-US" b="1" dirty="0"/>
              <a:t>数。</a:t>
            </a:r>
            <a:endParaRPr lang="en-US" altLang="zh-CN" b="1" dirty="0"/>
          </a:p>
          <a:p>
            <a:endParaRPr lang="en-US" altLang="zh-CN" b="1" dirty="0"/>
          </a:p>
          <a:p>
            <a:endParaRPr lang="en-US" altLang="zh-CN" b="1" dirty="0"/>
          </a:p>
          <a:p>
            <a:r>
              <a:rPr lang="zh-CN" altLang="en-US" b="1" dirty="0"/>
              <a:t>设计一个更强大的随机化素性测试算法，可以绕过存在的无穷多的</a:t>
            </a:r>
            <a:r>
              <a:rPr lang="en-US" altLang="zh-CN" b="1" dirty="0" err="1"/>
              <a:t>Camichael</a:t>
            </a:r>
            <a:r>
              <a:rPr lang="zh-CN" altLang="en-US" b="1" dirty="0"/>
              <a:t>数带来的困难。</a:t>
            </a:r>
            <a:endParaRPr lang="en-US" altLang="zh-CN" b="1" dirty="0"/>
          </a:p>
          <a:p>
            <a:endParaRPr lang="en-US" altLang="zh-CN" b="1" dirty="0"/>
          </a:p>
        </p:txBody>
      </p:sp>
    </p:spTree>
    <p:extLst>
      <p:ext uri="{BB962C8B-B14F-4D97-AF65-F5344CB8AC3E}">
        <p14:creationId xmlns:p14="http://schemas.microsoft.com/office/powerpoint/2010/main" val="1130863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36867"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196975"/>
                <a:ext cx="7848599" cy="4525962"/>
              </a:xfrm>
            </p:spPr>
            <p:txBody>
              <a:bodyPr/>
              <a:lstStyle/>
              <a:p>
                <a:r>
                  <a:rPr lang="zh-CN" altLang="en-US" dirty="0"/>
                  <a:t>定理如果</a:t>
                </a:r>
                <a:r>
                  <a:rPr lang="en-US" altLang="zh-CN" dirty="0"/>
                  <a:t>n</a:t>
                </a:r>
                <a:r>
                  <a:rPr lang="zh-CN" altLang="en-US" dirty="0"/>
                  <a:t>为素数，则方程</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x</m:t>
                        </m:r>
                      </m:e>
                      <m:sup>
                        <m:r>
                          <a:rPr lang="en-US" altLang="zh-CN" b="0" i="1" smtClean="0">
                            <a:latin typeface="Cambria Math" panose="02040503050406030204" pitchFamily="18" charset="0"/>
                          </a:rPr>
                          <m:t>2</m:t>
                        </m:r>
                      </m:sup>
                    </m:sSup>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𝑚𝑜𝑑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a14:m>
                <a:r>
                  <a:rPr lang="zh-CN" altLang="en-US" dirty="0"/>
                  <a:t>的根只有两个，即</a:t>
                </a:r>
                <a:r>
                  <a:rPr lang="en-US" altLang="zh-CN" dirty="0"/>
                  <a:t>x=1</a:t>
                </a:r>
                <a:r>
                  <a:rPr lang="zh-CN" altLang="en-US" dirty="0"/>
                  <a:t>，</a:t>
                </a:r>
                <a:r>
                  <a:rPr lang="en-US" altLang="zh-CN" dirty="0"/>
                  <a:t>x= -1 (</a:t>
                </a:r>
                <a:r>
                  <a:rPr lang="zh-CN" altLang="en-US" dirty="0"/>
                  <a:t>或</a:t>
                </a:r>
                <a:r>
                  <a:rPr lang="en-US" altLang="zh-CN" dirty="0"/>
                  <a:t>x = n-1)</a:t>
                </a:r>
                <a:r>
                  <a:rPr lang="zh-CN" altLang="en-US" dirty="0"/>
                  <a:t>。</a:t>
                </a:r>
                <a:endParaRPr lang="en-US" altLang="zh-CN" dirty="0"/>
              </a:p>
              <a:p>
                <a:r>
                  <a:rPr lang="zh-CN" altLang="en-US" dirty="0"/>
                  <a:t>证明：</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x</m:t>
                        </m:r>
                      </m:e>
                      <m:sup>
                        <m:r>
                          <a:rPr lang="en-US" altLang="zh-CN" b="0" i="1" smtClean="0">
                            <a:latin typeface="Cambria Math" panose="02040503050406030204" pitchFamily="18" charset="0"/>
                          </a:rPr>
                          <m:t>2</m:t>
                        </m:r>
                      </m:sup>
                    </m:sSup>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𝑚𝑜𝑑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a14:m>
                <a:endParaRPr lang="en-US" altLang="zh-CN" dirty="0"/>
              </a:p>
              <a:p>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x</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−1</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𝑚𝑜𝑑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𝑛</m:t>
                        </m:r>
                      </m:e>
                    </m:d>
                  </m:oMath>
                </a14:m>
                <a:endParaRPr lang="en-US" altLang="zh-CN" b="0" dirty="0">
                  <a:ea typeface="Cambria Math" panose="02040503050406030204" pitchFamily="18" charset="0"/>
                </a:endParaRPr>
              </a:p>
              <a:p>
                <a14:m>
                  <m:oMath xmlns:m="http://schemas.openxmlformats.org/officeDocument/2006/math">
                    <m:r>
                      <a:rPr lang="en-US" altLang="zh-CN" i="1" smtClean="0">
                        <a:latin typeface="Cambria Math" panose="02040503050406030204" pitchFamily="18" charset="0"/>
                        <a:ea typeface="Cambria Math" panose="02040503050406030204" pitchFamily="18" charset="0"/>
                      </a:rPr>
                      <m:t>⟺ </m:t>
                    </m:r>
                    <m:d>
                      <m:dPr>
                        <m:begChr m:val="（"/>
                        <m:endChr m:val="）"/>
                        <m:ctrlPr>
                          <a:rPr lang="zh-CN" altLang="en-US" i="1" smtClean="0">
                            <a:latin typeface="Cambria Math" panose="02040503050406030204" pitchFamily="18" charset="0"/>
                          </a:rPr>
                        </m:ctrlPr>
                      </m:dPr>
                      <m:e>
                        <m:r>
                          <m:rPr>
                            <m:sty m:val="p"/>
                          </m:rPr>
                          <a:rPr lang="en-US" altLang="zh-CN" i="1" smtClean="0">
                            <a:latin typeface="Cambria Math" panose="02040503050406030204" pitchFamily="18" charset="0"/>
                          </a:rPr>
                          <m:t>x</m:t>
                        </m:r>
                        <m:r>
                          <a:rPr lang="en-US" altLang="zh-CN" b="0" i="1" smtClean="0">
                            <a:latin typeface="Cambria Math" panose="02040503050406030204" pitchFamily="18" charset="0"/>
                          </a:rPr>
                          <m:t>−1</m:t>
                        </m:r>
                      </m:e>
                    </m:d>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𝑚𝑜𝑑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𝑛</m:t>
                        </m:r>
                      </m:e>
                    </m:d>
                  </m:oMath>
                </a14:m>
                <a:endParaRPr lang="en-US" altLang="zh-CN" b="0" dirty="0">
                  <a:ea typeface="Cambria Math" panose="02040503050406030204" pitchFamily="18" charset="0"/>
                </a:endParaRPr>
              </a:p>
              <a:p>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+1≡0 </m:t>
                    </m:r>
                    <m:r>
                      <a:rPr lang="zh-CN" altLang="en-US" i="1" smtClean="0">
                        <a:latin typeface="Cambria Math" panose="02040503050406030204" pitchFamily="18" charset="0"/>
                      </a:rPr>
                      <m:t>或</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−1≡0</m:t>
                    </m:r>
                    <m:r>
                      <a:rPr lang="zh-CN" altLang="en-US" i="1">
                        <a:latin typeface="Cambria Math" panose="02040503050406030204" pitchFamily="18" charset="0"/>
                      </a:rPr>
                      <m:t>（</m:t>
                    </m:r>
                    <m:r>
                      <a:rPr lang="zh-CN" altLang="en-US" i="1" smtClean="0">
                        <a:latin typeface="Cambria Math" panose="02040503050406030204" pitchFamily="18" charset="0"/>
                      </a:rPr>
                      <m:t>域中</m:t>
                    </m:r>
                  </m:oMath>
                </a14:m>
                <a:r>
                  <a:rPr lang="zh-CN" altLang="en-US" dirty="0"/>
                  <a:t>没有零因子）</a:t>
                </a:r>
                <a:endParaRPr lang="en-US" altLang="zh-CN" dirty="0"/>
              </a:p>
              <a:p>
                <a14:m>
                  <m:oMath xmlns:m="http://schemas.openxmlformats.org/officeDocument/2006/math">
                    <m:r>
                      <a:rPr lang="en-US" altLang="zh-CN"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m:rPr>
                        <m:sty m:val="p"/>
                      </m:rPr>
                      <a:rPr lang="en-US" altLang="zh-CN" i="1">
                        <a:latin typeface="Cambria Math" panose="02040503050406030204" pitchFamily="18" charset="0"/>
                      </a:rPr>
                      <m:t>n</m:t>
                    </m:r>
                    <m:r>
                      <a:rPr lang="en-US" altLang="zh-CN" b="0" i="1" smtClean="0">
                        <a:latin typeface="Cambria Math" panose="02040503050406030204" pitchFamily="18" charset="0"/>
                      </a:rPr>
                      <m:t>−1 </m:t>
                    </m:r>
                    <m:r>
                      <a:rPr lang="zh-CN" altLang="en-US" i="1">
                        <a:latin typeface="Cambria Math" panose="02040503050406030204" pitchFamily="18" charset="0"/>
                      </a:rPr>
                      <m:t>或</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r>
                      <a:rPr lang="en-US" altLang="zh-CN" b="0" i="1" smtClean="0">
                        <a:latin typeface="Cambria Math" panose="02040503050406030204" pitchFamily="18" charset="0"/>
                      </a:rPr>
                      <m:t>=1</m:t>
                    </m:r>
                  </m:oMath>
                </a14:m>
                <a:endParaRPr lang="en-US" altLang="zh-CN" dirty="0"/>
              </a:p>
              <a:p>
                <a14:m>
                  <m:oMath xmlns:m="http://schemas.openxmlformats.org/officeDocument/2006/math">
                    <m:r>
                      <m:rPr>
                        <m:nor/>
                      </m:rPr>
                      <a:rPr lang="zh-CN" altLang="en-US" dirty="0" smtClean="0"/>
                      <m:t>称</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≠±1</m:t>
                    </m:r>
                    <m:r>
                      <m:rPr>
                        <m:nor/>
                      </m:rPr>
                      <a:rPr lang="zh-CN" altLang="en-US" dirty="0" smtClean="0"/>
                      <m:t>的根为非平凡的</m:t>
                    </m:r>
                    <m:r>
                      <a:rPr lang="zh-CN" altLang="en-US" i="1" dirty="0">
                        <a:latin typeface="Cambria Math" panose="02040503050406030204" pitchFamily="18" charset="0"/>
                      </a:rPr>
                      <m:t>。</m:t>
                    </m:r>
                  </m:oMath>
                </a14:m>
                <a:endParaRPr lang="en-US" altLang="zh-CN" dirty="0"/>
              </a:p>
              <a:p>
                <a:r>
                  <a:rPr lang="zh-CN" altLang="en-US" dirty="0"/>
                  <a:t>判别方法</a:t>
                </a:r>
                <a:r>
                  <a:rPr lang="en-US" altLang="zh-CN" dirty="0"/>
                  <a:t>: </a:t>
                </a:r>
                <a:r>
                  <a:rPr lang="zh-CN" altLang="en-US" dirty="0"/>
                  <a:t>如果方程有非平凡的根，则 </a:t>
                </a:r>
                <a:r>
                  <a:rPr lang="en-US" altLang="zh-CN" dirty="0"/>
                  <a:t>n </a:t>
                </a:r>
                <a:r>
                  <a:rPr lang="zh-CN" altLang="en-US" dirty="0"/>
                  <a:t>为合数。</a:t>
                </a:r>
                <a:endParaRPr lang="en-US" altLang="zh-CN" dirty="0"/>
              </a:p>
              <a:p>
                <a:r>
                  <a:rPr lang="zh-CN" altLang="en-US" dirty="0"/>
                  <a:t>例如</a:t>
                </a:r>
                <a:r>
                  <a:rPr lang="en-US" altLang="zh-CN" dirty="0"/>
                  <a:t>: </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x</m:t>
                        </m:r>
                      </m:e>
                      <m:sup>
                        <m:r>
                          <a:rPr lang="en-US" altLang="zh-CN" b="0" i="1" smtClean="0">
                            <a:latin typeface="Cambria Math" panose="02040503050406030204" pitchFamily="18" charset="0"/>
                          </a:rPr>
                          <m:t>2</m:t>
                        </m:r>
                      </m:sup>
                    </m:sSup>
                    <m:d>
                      <m:dPr>
                        <m:ctrlPr>
                          <a:rPr lang="en-US" altLang="zh-CN" b="0" i="1" smtClean="0">
                            <a:latin typeface="Cambria Math" panose="02040503050406030204" pitchFamily="18" charset="0"/>
                          </a:rPr>
                        </m:ctrlPr>
                      </m:dPr>
                      <m:e>
                        <m:r>
                          <m:rPr>
                            <m:sty m:val="p"/>
                          </m:rPr>
                          <a:rPr lang="en-US" altLang="zh-CN" i="1" smtClean="0">
                            <a:latin typeface="Cambria Math" panose="02040503050406030204" pitchFamily="18" charset="0"/>
                          </a:rPr>
                          <m:t>mod</m:t>
                        </m:r>
                        <m:r>
                          <a:rPr lang="en-US" altLang="zh-CN" b="0" i="1" smtClean="0">
                            <a:latin typeface="Cambria Math" panose="02040503050406030204" pitchFamily="18" charset="0"/>
                          </a:rPr>
                          <m:t> 12</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x=1</a:t>
                </a:r>
                <a:r>
                  <a:rPr lang="zh-CN" altLang="en-US" dirty="0"/>
                  <a:t>或 </a:t>
                </a:r>
                <a:r>
                  <a:rPr lang="en-US" altLang="zh-CN" dirty="0"/>
                  <a:t>x=11</a:t>
                </a:r>
                <a:r>
                  <a:rPr lang="zh-CN" altLang="en-US" dirty="0"/>
                  <a:t>或 </a:t>
                </a:r>
                <a:r>
                  <a:rPr lang="en-US" altLang="zh-CN" dirty="0"/>
                  <a:t>x = 5</a:t>
                </a:r>
                <a:r>
                  <a:rPr lang="zh-CN" altLang="en-US" dirty="0"/>
                  <a:t>或 </a:t>
                </a:r>
                <a:r>
                  <a:rPr lang="en-US" altLang="zh-CN" dirty="0"/>
                  <a:t>x=7</a:t>
                </a:r>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196975"/>
                <a:ext cx="7848599" cy="4525962"/>
              </a:xfrm>
              <a:blipFill>
                <a:blip r:embed="rId3"/>
                <a:stretch>
                  <a:fillRect l="-1243" t="-1211" r="-777" b="-2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47255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38915"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3" y="1268413"/>
                <a:ext cx="7848599" cy="4525962"/>
              </a:xfrm>
            </p:spPr>
            <p:txBody>
              <a:bodyPr/>
              <a:lstStyle/>
              <a:p>
                <a:r>
                  <a:rPr lang="zh-CN" altLang="en-US" dirty="0"/>
                  <a:t>设</a:t>
                </a:r>
                <a:r>
                  <a:rPr lang="en-US" altLang="zh-CN" dirty="0"/>
                  <a:t>n</a:t>
                </a:r>
                <a:r>
                  <a:rPr lang="zh-CN" altLang="en-US" dirty="0"/>
                  <a:t>为奇素数，存在</a:t>
                </a:r>
                <a:r>
                  <a:rPr lang="en-US" altLang="zh-CN" dirty="0"/>
                  <a:t>q, m</a:t>
                </a:r>
                <a:r>
                  <a:rPr lang="zh-CN" altLang="en-US" dirty="0"/>
                  <a:t>使得</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𝑞</m:t>
                        </m:r>
                      </m:sup>
                    </m:sSup>
                    <m:r>
                      <a:rPr lang="en-US" altLang="zh-CN" b="0" i="1" smtClean="0">
                        <a:latin typeface="Cambria Math" panose="02040503050406030204" pitchFamily="18" charset="0"/>
                      </a:rPr>
                      <m:t>𝑚</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𝑞</m:t>
                        </m:r>
                        <m:r>
                          <a:rPr lang="en-US" altLang="zh-CN" b="0" i="1" smtClean="0">
                            <a:latin typeface="Cambria Math" panose="02040503050406030204" pitchFamily="18" charset="0"/>
                            <a:ea typeface="Cambria Math" panose="02040503050406030204" pitchFamily="18" charset="0"/>
                          </a:rPr>
                          <m:t>≥1</m:t>
                        </m:r>
                      </m:e>
                    </m:d>
                    <m:r>
                      <a:rPr lang="zh-CN" altLang="en-US" i="1">
                        <a:latin typeface="Cambria Math" panose="02040503050406030204" pitchFamily="18" charset="0"/>
                        <a:ea typeface="Cambria Math" panose="02040503050406030204" pitchFamily="18" charset="0"/>
                      </a:rPr>
                      <m:t>。</m:t>
                    </m:r>
                  </m:oMath>
                </a14:m>
                <a:endParaRPr lang="en-US" altLang="zh-CN" dirty="0"/>
              </a:p>
              <a:p>
                <a:r>
                  <a:rPr lang="zh-CN" altLang="en-US" b="1" dirty="0"/>
                  <a:t>构造序列</a:t>
                </a:r>
                <a:r>
                  <a:rPr lang="en-US" altLang="zh-CN" dirty="0"/>
                  <a:t>:</a:t>
                </a:r>
              </a:p>
              <a:p>
                <a:pPr marL="0" indent="0">
                  <a:buNone/>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𝑎</m:t>
                          </m:r>
                        </m:e>
                        <m:sup>
                          <m:r>
                            <m:rPr>
                              <m:sty m:val="p"/>
                            </m:rPr>
                            <a:rPr lang="en-US" altLang="zh-CN" i="1">
                              <a:latin typeface="Cambria Math" panose="02040503050406030204" pitchFamily="18" charset="0"/>
                            </a:rPr>
                            <m:t>m</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𝑎</m:t>
                          </m:r>
                        </m:e>
                        <m:sup>
                          <m:r>
                            <a:rPr lang="en-US" altLang="zh-CN" b="0" i="1" smtClean="0">
                              <a:latin typeface="Cambria Math" panose="02040503050406030204" pitchFamily="18" charset="0"/>
                            </a:rPr>
                            <m:t>2</m:t>
                          </m:r>
                          <m:r>
                            <m:rPr>
                              <m:sty m:val="p"/>
                            </m:rPr>
                            <a:rPr lang="en-US" altLang="zh-CN" i="1">
                              <a:latin typeface="Cambria Math" panose="02040503050406030204" pitchFamily="18" charset="0"/>
                            </a:rPr>
                            <m:t>m</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i="1">
                          <a:latin typeface="Cambria Math" panose="02040503050406030204" pitchFamily="18" charset="0"/>
                        </a:rPr>
                        <m:t>……</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𝑎</m:t>
                          </m:r>
                        </m:e>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𝑞</m:t>
                              </m:r>
                            </m:sup>
                          </m:sSup>
                          <m:r>
                            <m:rPr>
                              <m:sty m:val="p"/>
                            </m:rPr>
                            <a:rPr lang="en-US" altLang="zh-CN" i="1">
                              <a:latin typeface="Cambria Math" panose="02040503050406030204" pitchFamily="18" charset="0"/>
                            </a:rPr>
                            <m:t>m</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oMath>
                  </m:oMathPara>
                </a14:m>
                <a:endParaRPr lang="en-US" altLang="zh-CN" dirty="0"/>
              </a:p>
              <a:p>
                <a:r>
                  <a:rPr lang="zh-CN" altLang="en-US" dirty="0"/>
                  <a:t>其最后一项为</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𝑎</m:t>
                        </m:r>
                      </m:e>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oMath>
                </a14:m>
                <a:r>
                  <a:rPr lang="zh-CN" altLang="en-US" dirty="0"/>
                  <a:t>，而且每一项是前面一项的平方。</a:t>
                </a:r>
                <a:endParaRPr lang="en-US" altLang="zh-CN" dirty="0"/>
              </a:p>
              <a:p>
                <a:r>
                  <a:rPr lang="zh-CN" altLang="en-US" b="1" dirty="0"/>
                  <a:t>测试方法</a:t>
                </a:r>
                <a:r>
                  <a:rPr lang="en-US" altLang="zh-CN" dirty="0"/>
                  <a:t>:</a:t>
                </a:r>
              </a:p>
              <a:p>
                <a:pPr marL="720000" indent="-457200">
                  <a:buFont typeface="+mj-lt"/>
                  <a:buAutoNum type="arabicPeriod"/>
                </a:pPr>
                <a:r>
                  <a:rPr lang="zh-CN" altLang="en-US" dirty="0"/>
                  <a:t>对于任意 </a:t>
                </a:r>
                <a:r>
                  <a:rPr lang="en-US" altLang="zh-CN" dirty="0" err="1"/>
                  <a:t>i</a:t>
                </a:r>
                <a:r>
                  <a:rPr lang="en-US" altLang="zh-CN" dirty="0"/>
                  <a:t> (</a:t>
                </a:r>
                <a:r>
                  <a:rPr lang="en-US" altLang="zh-CN" dirty="0" err="1"/>
                  <a:t>i</a:t>
                </a:r>
                <a:r>
                  <a:rPr lang="en-US" altLang="zh-CN" dirty="0"/>
                  <a:t> = 0,1,..., q-1)</a:t>
                </a:r>
                <a:r>
                  <a:rPr lang="zh-CN" altLang="en-US" dirty="0"/>
                  <a:t>，判断</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𝑎</m:t>
                        </m:r>
                      </m:e>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𝑖</m:t>
                            </m:r>
                          </m:sup>
                        </m:sSup>
                        <m:r>
                          <m:rPr>
                            <m:sty m:val="p"/>
                          </m:rPr>
                          <a:rPr lang="en-US" altLang="zh-CN" i="1">
                            <a:latin typeface="Cambria Math" panose="02040503050406030204" pitchFamily="18" charset="0"/>
                          </a:rPr>
                          <m:t>m</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e>
                    </m:d>
                  </m:oMath>
                </a14:m>
                <a:r>
                  <a:rPr lang="zh-CN" altLang="en-US" dirty="0"/>
                  <a:t>是否为</a:t>
                </a:r>
                <a:r>
                  <a:rPr lang="en-US" altLang="zh-CN" dirty="0"/>
                  <a:t>1</a:t>
                </a:r>
                <a:r>
                  <a:rPr lang="zh-CN" altLang="en-US" dirty="0"/>
                  <a:t>或 </a:t>
                </a:r>
                <a:r>
                  <a:rPr lang="en-US" altLang="zh-CN" dirty="0"/>
                  <a:t>n-1</a:t>
                </a:r>
                <a:r>
                  <a:rPr lang="zh-CN" altLang="en-US" dirty="0"/>
                  <a:t>，且它的后一项是否为</a:t>
                </a:r>
                <a:r>
                  <a:rPr lang="en-US" altLang="zh-CN" dirty="0"/>
                  <a:t>1</a:t>
                </a:r>
                <a:r>
                  <a:rPr lang="zh-CN" altLang="en-US" dirty="0"/>
                  <a:t>。</a:t>
                </a:r>
                <a:endParaRPr lang="en-US" altLang="zh-CN" dirty="0"/>
              </a:p>
              <a:p>
                <a:pPr marL="720000" indent="-457200">
                  <a:buFont typeface="+mj-lt"/>
                  <a:buAutoNum type="arabicPeriod"/>
                </a:pPr>
                <a:r>
                  <a:rPr lang="zh-CN" altLang="en-US" dirty="0"/>
                  <a:t>如果其后项为</a:t>
                </a:r>
                <a:r>
                  <a:rPr lang="en-US" altLang="zh-CN" dirty="0"/>
                  <a:t>1</a:t>
                </a:r>
                <a:r>
                  <a:rPr lang="zh-CN" altLang="en-US" dirty="0"/>
                  <a:t>，但本项不等于</a:t>
                </a:r>
                <a:r>
                  <a:rPr lang="en-US" altLang="zh-CN" dirty="0"/>
                  <a:t>1</a:t>
                </a:r>
                <a:r>
                  <a:rPr lang="zh-CN" altLang="en-US" dirty="0"/>
                  <a:t>或 </a:t>
                </a:r>
                <a:r>
                  <a:rPr lang="en-US" altLang="zh-CN" dirty="0"/>
                  <a:t>n-1</a:t>
                </a:r>
                <a:r>
                  <a:rPr lang="zh-CN" altLang="en-US" dirty="0"/>
                  <a:t>，则它就是非平凡的根，从而知道</a:t>
                </a:r>
                <a:r>
                  <a:rPr lang="en-US" altLang="zh-CN" dirty="0"/>
                  <a:t>n</a:t>
                </a:r>
                <a:r>
                  <a:rPr lang="zh-CN" altLang="en-US" dirty="0"/>
                  <a:t>不是素数。</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3" y="1268413"/>
                <a:ext cx="7848599" cy="4525962"/>
              </a:xfrm>
              <a:blipFill>
                <a:blip r:embed="rId3"/>
                <a:stretch>
                  <a:fillRect l="-1088" t="-1211" b="-6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9372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0963"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p:sp>
        <p:nvSpPr>
          <p:cNvPr id="22532" name="文本占位符 3">
            <a:extLst>
              <a:ext uri="{FF2B5EF4-FFF2-40B4-BE49-F238E27FC236}">
                <a16:creationId xmlns:a16="http://schemas.microsoft.com/office/drawing/2014/main" id="{47208094-8AA2-4F1C-91DD-9FC45CC49770}"/>
              </a:ext>
            </a:extLst>
          </p:cNvPr>
          <p:cNvSpPr>
            <a:spLocks noGrp="1" noChangeArrowheads="1"/>
          </p:cNvSpPr>
          <p:nvPr>
            <p:ph type="body" sz="half" idx="1"/>
          </p:nvPr>
        </p:nvSpPr>
        <p:spPr>
          <a:xfrm>
            <a:off x="886371" y="1229767"/>
            <a:ext cx="7869238" cy="4525962"/>
          </a:xfrm>
        </p:spPr>
        <p:txBody>
          <a:bodyPr/>
          <a:lstStyle/>
          <a:p>
            <a:pPr marL="0" indent="0">
              <a:buFontTx/>
              <a:buNone/>
              <a:defRPr/>
            </a:pPr>
            <a:r>
              <a:rPr lang="zh-CN" altLang="en-US" b="1" dirty="0"/>
              <a:t>算子过程</a:t>
            </a:r>
            <a:r>
              <a:rPr lang="en-US" altLang="zh-CN" b="1" dirty="0"/>
              <a:t>1</a:t>
            </a:r>
          </a:p>
          <a:p>
            <a:pPr>
              <a:defRPr/>
            </a:pPr>
            <a:endParaRPr lang="en-US" altLang="zh-CN" b="1" dirty="0"/>
          </a:p>
          <a:p>
            <a:pPr>
              <a:defRPr/>
            </a:pPr>
            <a:endParaRPr lang="en-US" altLang="zh-CN" b="1" dirty="0"/>
          </a:p>
          <a:p>
            <a:pPr>
              <a:defRPr/>
            </a:pPr>
            <a:endParaRPr lang="en-US" altLang="zh-CN" b="1" dirty="0"/>
          </a:p>
        </p:txBody>
      </p:sp>
      <p:pic>
        <p:nvPicPr>
          <p:cNvPr id="40965"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2003425"/>
            <a:ext cx="7408862"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9342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3011"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3" y="1268413"/>
                <a:ext cx="7848599" cy="4525962"/>
              </a:xfrm>
            </p:spPr>
            <p:txBody>
              <a:bodyPr/>
              <a:lstStyle/>
              <a:p>
                <a:r>
                  <a:rPr lang="zh-CN" altLang="en-US" dirty="0"/>
                  <a:t>算子过程</a:t>
                </a:r>
                <a:r>
                  <a:rPr lang="en-US" altLang="zh-CN" dirty="0"/>
                  <a:t>2</a:t>
                </a:r>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r>
                  <a:rPr lang="zh-CN" altLang="en-US" b="1" dirty="0"/>
                  <a:t>性能分析</a:t>
                </a:r>
                <a:r>
                  <a:rPr lang="en-US" altLang="zh-CN" b="1" dirty="0"/>
                  <a:t>:  </a:t>
                </a:r>
                <a:r>
                  <a:rPr lang="en-US" altLang="zh-CN" dirty="0"/>
                  <a:t>1</a:t>
                </a:r>
                <a:r>
                  <a:rPr lang="zh-CN" altLang="en-US" dirty="0"/>
                  <a:t>次测试运行时间</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𝑙𝑜𝑔</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；可证明</a:t>
                </a:r>
                <a:r>
                  <a:rPr lang="en-US" altLang="zh-CN" dirty="0"/>
                  <a:t>1</a:t>
                </a:r>
                <a:r>
                  <a:rPr lang="zh-CN" altLang="en-US" dirty="0"/>
                  <a:t>次测试出错的概率至多</a:t>
                </a:r>
                <a:r>
                  <a:rPr lang="en-US" altLang="zh-CN" dirty="0"/>
                  <a:t>1/2</a:t>
                </a:r>
                <a:r>
                  <a:rPr lang="zh-CN" altLang="en-US" dirty="0"/>
                  <a:t>。重复运行 </a:t>
                </a:r>
                <a:r>
                  <a:rPr lang="en-US" altLang="zh-CN" dirty="0"/>
                  <a:t>k </a:t>
                </a:r>
                <a:r>
                  <a:rPr lang="zh-CN" altLang="en-US" dirty="0"/>
                  <a:t>次，可将出错概率降到至多</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m:t>
                        </m:r>
                        <m:r>
                          <m:rPr>
                            <m:sty m:val="p"/>
                          </m:rPr>
                          <a:rPr lang="en-US" altLang="zh-CN" i="1">
                            <a:latin typeface="Cambria Math" panose="02040503050406030204" pitchFamily="18" charset="0"/>
                          </a:rPr>
                          <m:t>k</m:t>
                        </m:r>
                      </m:sup>
                    </m:sSup>
                  </m:oMath>
                </a14:m>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3" y="1268413"/>
                <a:ext cx="7848599" cy="4525962"/>
              </a:xfrm>
              <a:blipFill>
                <a:blip r:embed="rId3"/>
                <a:stretch>
                  <a:fillRect l="-1088" t="-1211" r="-466" b="-1615"/>
                </a:stretch>
              </a:blipFill>
            </p:spPr>
            <p:txBody>
              <a:bodyPr/>
              <a:lstStyle/>
              <a:p>
                <a:r>
                  <a:rPr lang="zh-CN" altLang="en-US">
                    <a:noFill/>
                  </a:rPr>
                  <a:t> </a:t>
                </a:r>
              </a:p>
            </p:txBody>
          </p:sp>
        </mc:Fallback>
      </mc:AlternateContent>
      <p:pic>
        <p:nvPicPr>
          <p:cNvPr id="7"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287" y="1471994"/>
            <a:ext cx="5920542" cy="29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8524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5059"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879475" y="1196975"/>
                <a:ext cx="8000046" cy="4525962"/>
              </a:xfrm>
            </p:spPr>
            <p:txBody>
              <a:bodyPr/>
              <a:lstStyle/>
              <a:p>
                <a:pPr marL="0" indent="0">
                  <a:buNone/>
                </a:pPr>
                <a:r>
                  <a:rPr lang="en-US" altLang="zh-CN" b="1" dirty="0"/>
                  <a:t>PTEST3</a:t>
                </a:r>
                <a:r>
                  <a:rPr lang="zh-CN" altLang="en-US" b="1" dirty="0"/>
                  <a:t>的分析</a:t>
                </a:r>
                <a:endParaRPr lang="en-US" altLang="zh-CN" b="1" dirty="0"/>
              </a:p>
              <a:p>
                <a:r>
                  <a:rPr lang="zh-CN" altLang="en-US" dirty="0"/>
                  <a:t>如果算法</a:t>
                </a:r>
                <a:r>
                  <a:rPr lang="en-US" altLang="zh-CN" dirty="0" err="1"/>
                  <a:t>PTEST3</a:t>
                </a:r>
                <a:r>
                  <a:rPr lang="zh-CN" altLang="en-US" dirty="0"/>
                  <a:t>返回</a:t>
                </a:r>
                <a:r>
                  <a:rPr lang="en-US" altLang="zh-CN" dirty="0"/>
                  <a:t>composite</a:t>
                </a:r>
                <a:r>
                  <a:rPr lang="zh-CN" altLang="en-US" dirty="0"/>
                  <a:t>，那么</a:t>
                </a:r>
                <a:r>
                  <a:rPr lang="en-US" altLang="zh-CN" dirty="0"/>
                  <a:t>n</a:t>
                </a:r>
                <a:r>
                  <a:rPr lang="zh-CN" altLang="en-US" dirty="0"/>
                  <a:t>是合数。</a:t>
                </a:r>
                <a:endParaRPr lang="en-US" altLang="zh-CN" dirty="0"/>
              </a:p>
              <a:p>
                <a:r>
                  <a:rPr lang="zh-CN" altLang="en-US" dirty="0"/>
                  <a:t>注意上述定理的逆否命题是：如果</a:t>
                </a:r>
                <a:r>
                  <a:rPr lang="en-US" altLang="zh-CN" dirty="0"/>
                  <a:t>n</a:t>
                </a:r>
                <a:r>
                  <a:rPr lang="zh-CN" altLang="en-US" dirty="0"/>
                  <a:t>是素数，那么算法</a:t>
                </a:r>
                <a:r>
                  <a:rPr lang="en-US" altLang="zh-CN" dirty="0" err="1"/>
                  <a:t>PTEST3</a:t>
                </a:r>
                <a:r>
                  <a:rPr lang="zh-CN" altLang="en-US" dirty="0"/>
                  <a:t>返回</a:t>
                </a:r>
                <a:r>
                  <a:rPr lang="en-US" altLang="zh-CN" dirty="0"/>
                  <a:t>prime</a:t>
                </a:r>
                <a:r>
                  <a:rPr lang="zh-CN" altLang="en-US" dirty="0"/>
                  <a:t>，这表示算法在</a:t>
                </a:r>
                <a:r>
                  <a:rPr lang="en-US" altLang="zh-CN" dirty="0"/>
                  <a:t>n</a:t>
                </a:r>
                <a:r>
                  <a:rPr lang="zh-CN" altLang="en-US" dirty="0"/>
                  <a:t>是素数的时候从不会出错。</a:t>
                </a:r>
                <a:endParaRPr lang="en-US" altLang="zh-CN" dirty="0"/>
              </a:p>
              <a:p>
                <a:r>
                  <a:rPr lang="zh-CN" altLang="en-US" dirty="0"/>
                  <a:t>可以证明算法</a:t>
                </a:r>
                <a:r>
                  <a:rPr lang="en-US" altLang="zh-CN" dirty="0" err="1"/>
                  <a:t>PTEST3</a:t>
                </a:r>
                <a:r>
                  <a:rPr lang="zh-CN" altLang="en-US" dirty="0"/>
                  <a:t>在处理一个</a:t>
                </a:r>
                <a:r>
                  <a:rPr lang="en-US" altLang="zh-CN" dirty="0"/>
                  <a:t>Carmichael</a:t>
                </a:r>
                <a:r>
                  <a:rPr lang="zh-CN" altLang="en-US" dirty="0"/>
                  <a:t>数时出错的概率最大为</a:t>
                </a:r>
                <a:r>
                  <a:rPr lang="en-US" altLang="zh-CN" dirty="0"/>
                  <a:t>1/2</a:t>
                </a:r>
                <a:r>
                  <a:rPr lang="zh-CN" altLang="en-US" dirty="0"/>
                  <a:t>，所以算法对于任意合数出错的可能性最大是</a:t>
                </a:r>
                <a:r>
                  <a:rPr lang="en-US" altLang="zh-CN" dirty="0"/>
                  <a:t>1/2</a:t>
                </a:r>
                <a:r>
                  <a:rPr lang="zh-CN" altLang="en-US" dirty="0"/>
                  <a:t>。</a:t>
                </a:r>
                <a:endParaRPr lang="en-US" altLang="zh-CN" dirty="0"/>
              </a:p>
              <a:p>
                <a:r>
                  <a:rPr lang="zh-CN" altLang="en-US" dirty="0"/>
                  <a:t>这样，通过反复测试</a:t>
                </a:r>
                <a:r>
                  <a:rPr lang="en-US" altLang="zh-CN" dirty="0"/>
                  <a:t>k</a:t>
                </a:r>
                <a:r>
                  <a:rPr lang="zh-CN" altLang="en-US" dirty="0"/>
                  <a:t>次，出错的概率最多是</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𝑘</m:t>
                        </m:r>
                      </m:sup>
                    </m:sSup>
                  </m:oMath>
                </a14:m>
                <a:r>
                  <a:rPr lang="zh-CN" altLang="en-US" dirty="0"/>
                  <a:t>。如果</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𝑛</m:t>
                            </m:r>
                          </m:e>
                        </m:func>
                      </m:e>
                    </m:d>
                  </m:oMath>
                </a14:m>
                <a:r>
                  <a:rPr lang="zh-CN" altLang="en-US" dirty="0"/>
                  <a:t>，失败的概率变成</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𝑛</m:t>
                                </m:r>
                              </m:e>
                            </m:func>
                          </m:e>
                        </m:d>
                      </m:sup>
                    </m:sSup>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𝑛</m:t>
                    </m:r>
                    <m:r>
                      <a:rPr lang="zh-CN" altLang="en-US" i="1">
                        <a:latin typeface="Cambria Math" panose="02040503050406030204" pitchFamily="18" charset="0"/>
                        <a:ea typeface="Cambria Math" panose="02040503050406030204" pitchFamily="18" charset="0"/>
                      </a:rPr>
                      <m:t>。</m:t>
                    </m:r>
                  </m:oMath>
                </a14:m>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879475" y="1196975"/>
                <a:ext cx="8000046" cy="4525962"/>
              </a:xfrm>
              <a:blipFill>
                <a:blip r:embed="rId3"/>
                <a:stretch>
                  <a:fillRect l="-1219" t="-1211" r="-9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8520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7107"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963470" cy="4525962"/>
              </a:xfrm>
            </p:spPr>
            <p:txBody>
              <a:bodyPr/>
              <a:lstStyle/>
              <a:p>
                <a:pPr marL="0" indent="0">
                  <a:buNone/>
                </a:pPr>
                <a:r>
                  <a:rPr lang="en-US" altLang="zh-CN" b="1" dirty="0"/>
                  <a:t>Miller-Rabin</a:t>
                </a:r>
                <a:r>
                  <a:rPr lang="zh-CN" altLang="en-US" dirty="0"/>
                  <a:t>算法</a:t>
                </a:r>
                <a:r>
                  <a:rPr lang="en-US" altLang="zh-CN" dirty="0"/>
                  <a:t>:</a:t>
                </a:r>
              </a:p>
              <a:p>
                <a:pPr marL="0" indent="0">
                  <a:buNone/>
                </a:pPr>
                <a:r>
                  <a:rPr lang="zh-CN" altLang="en-US" dirty="0"/>
                  <a:t>令</a:t>
                </a:r>
                <a14:m>
                  <m:oMath xmlns:m="http://schemas.openxmlformats.org/officeDocument/2006/math">
                    <m:r>
                      <m:rPr>
                        <m:sty m:val="p"/>
                      </m:rPr>
                      <a:rPr lang="en-US" altLang="zh-CN" b="0" i="0" smtClean="0">
                        <a:latin typeface="Cambria Math" panose="02040503050406030204" pitchFamily="18" charset="0"/>
                      </a:rPr>
                      <m:t>K</m:t>
                    </m:r>
                    <m:r>
                      <a:rPr lang="en-US" altLang="zh-CN" b="0" i="0" smtClean="0">
                        <a:latin typeface="Cambria Math" panose="02040503050406030204" pitchFamily="18" charset="0"/>
                      </a:rPr>
                      <m:t>=</m:t>
                    </m:r>
                    <m:d>
                      <m:dPr>
                        <m:begChr m:val="⌈"/>
                        <m:endChr m:val="⌉"/>
                        <m:ctrlPr>
                          <a:rPr lang="en-US" altLang="zh-CN" i="1">
                            <a:latin typeface="Cambria Math" panose="02040503050406030204" pitchFamily="18" charset="0"/>
                          </a:rPr>
                        </m:ctrlPr>
                      </m:dPr>
                      <m:e>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e>
                    </m:d>
                  </m:oMath>
                </a14:m>
                <a:r>
                  <a:rPr lang="zh-CN" altLang="en-US" dirty="0"/>
                  <a:t>，失败的概率变成</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e>
                        </m:d>
                      </m:sup>
                    </m:sSup>
                    <m:r>
                      <a:rPr lang="en-US" altLang="zh-CN" i="1">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𝑛</m:t>
                    </m:r>
                  </m:oMath>
                </a14:m>
                <a:r>
                  <a:rPr lang="zh-CN" altLang="en-US" dirty="0"/>
                  <a:t>，即算法给出正确答案的概率为</a:t>
                </a:r>
                <a14:m>
                  <m:oMath xmlns:m="http://schemas.openxmlformats.org/officeDocument/2006/math">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m:rPr>
                            <m:sty m:val="p"/>
                          </m:rPr>
                          <a:rPr lang="en-US" altLang="zh-CN" i="1">
                            <a:latin typeface="Cambria Math" panose="02040503050406030204" pitchFamily="18" charset="0"/>
                          </a:rPr>
                          <m:t>n</m:t>
                        </m:r>
                      </m:den>
                    </m:f>
                    <m:r>
                      <a:rPr lang="zh-CN" altLang="en-US" i="1">
                        <a:latin typeface="Cambria Math" panose="02040503050406030204" pitchFamily="18" charset="0"/>
                      </a:rPr>
                      <m:t>，</m:t>
                    </m:r>
                  </m:oMath>
                </a14:m>
                <a:r>
                  <a:rPr lang="zh-CN" altLang="en-US" dirty="0"/>
                  <a:t>换句话说，如果</a:t>
                </a:r>
                <a:r>
                  <a:rPr lang="en-US" altLang="zh-CN" dirty="0"/>
                  <a:t>n</a:t>
                </a:r>
                <a:r>
                  <a:rPr lang="zh-CN" altLang="en-US" dirty="0"/>
                  <a:t>为素数，则算法输出素数。如果</a:t>
                </a:r>
                <a:r>
                  <a:rPr lang="en-US" altLang="zh-CN" dirty="0"/>
                  <a:t>n</a:t>
                </a:r>
                <a:r>
                  <a:rPr lang="zh-CN" altLang="en-US" dirty="0"/>
                  <a:t>为合数，则算法以</a:t>
                </a:r>
                <a14:m>
                  <m:oMath xmlns:m="http://schemas.openxmlformats.org/officeDocument/2006/math">
                    <m:r>
                      <a:rPr lang="en-US" altLang="zh-CN" i="1">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m:rPr>
                            <m:sty m:val="p"/>
                          </m:rPr>
                          <a:rPr lang="en-US" altLang="zh-CN" i="1">
                            <a:latin typeface="Cambria Math" panose="02040503050406030204" pitchFamily="18" charset="0"/>
                          </a:rPr>
                          <m:t>n</m:t>
                        </m:r>
                      </m:den>
                    </m:f>
                  </m:oMath>
                </a14:m>
                <a:r>
                  <a:rPr lang="zh-CN" altLang="en-US" dirty="0"/>
                  <a:t>的概率输出“合数”。</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963470" cy="4525962"/>
              </a:xfrm>
              <a:blipFill>
                <a:blip r:embed="rId3"/>
                <a:stretch>
                  <a:fillRect l="-1302" t="-1211"/>
                </a:stretch>
              </a:blipFill>
            </p:spPr>
            <p:txBody>
              <a:bodyPr/>
              <a:lstStyle/>
              <a:p>
                <a:r>
                  <a:rPr lang="zh-CN" altLang="en-US">
                    <a:noFill/>
                  </a:rPr>
                  <a:t> </a:t>
                </a:r>
              </a:p>
            </p:txBody>
          </p:sp>
        </mc:Fallback>
      </mc:AlternateContent>
      <p:pic>
        <p:nvPicPr>
          <p:cNvPr id="7"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863" y="3365500"/>
            <a:ext cx="56610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8909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49155" name="Rectangle 2"/>
          <p:cNvSpPr>
            <a:spLocks noGrp="1" noChangeArrowheads="1"/>
          </p:cNvSpPr>
          <p:nvPr>
            <p:ph type="title"/>
          </p:nvPr>
        </p:nvSpPr>
        <p:spPr/>
        <p:txBody>
          <a:bodyPr/>
          <a:lstStyle/>
          <a:p>
            <a:pPr eaLnBrk="1" hangingPunct="1"/>
            <a:r>
              <a:rPr lang="en-US" altLang="zh-CN" dirty="0"/>
              <a:t>10.2.1 </a:t>
            </a:r>
            <a:r>
              <a:rPr lang="zh-CN" altLang="en-US" dirty="0"/>
              <a:t>素数测试的随机算法</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695246" cy="4525962"/>
              </a:xfrm>
            </p:spPr>
            <p:txBody>
              <a:bodyPr/>
              <a:lstStyle/>
              <a:p>
                <a:r>
                  <a:rPr lang="zh-CN" altLang="en-US" dirty="0"/>
                  <a:t>在处理一个奇整数</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≥5</m:t>
                    </m:r>
                  </m:oMath>
                </a14:m>
                <a:r>
                  <a:rPr lang="zh-CN" altLang="en-US" dirty="0"/>
                  <a:t>时，在时间</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𝑙𝑜𝑔</m:t>
                        </m:r>
                      </m:e>
                      <m:sup>
                        <m:r>
                          <a:rPr lang="en-US" altLang="zh-CN" b="0" i="1" smtClean="0">
                            <a:latin typeface="Cambria Math" panose="02040503050406030204" pitchFamily="18" charset="0"/>
                          </a:rPr>
                          <m:t>4</m:t>
                        </m:r>
                      </m:sup>
                    </m:sSup>
                    <m:r>
                      <a:rPr lang="en-US" altLang="zh-CN" i="1">
                        <a:latin typeface="Cambria Math" panose="02040503050406030204" pitchFamily="18" charset="0"/>
                      </a:rPr>
                      <m:t>𝑛</m:t>
                    </m:r>
                    <m:r>
                      <a:rPr lang="en-US" altLang="zh-CN" i="1">
                        <a:latin typeface="Cambria Math" panose="02040503050406030204" pitchFamily="18" charset="0"/>
                      </a:rPr>
                      <m:t>)</m:t>
                    </m:r>
                    <m:r>
                      <m:rPr>
                        <m:nor/>
                      </m:rPr>
                      <a:rPr lang="zh-CN" altLang="en-US" dirty="0"/>
                      <m:t>内</m:t>
                    </m:r>
                  </m:oMath>
                </a14:m>
                <a:r>
                  <a:rPr lang="zh-CN" altLang="en-US" dirty="0"/>
                  <a:t>，算法</a:t>
                </a:r>
                <a:r>
                  <a:rPr lang="en-US" altLang="zh-CN" dirty="0" err="1"/>
                  <a:t>PRIMALITYTEST</a:t>
                </a:r>
                <a:r>
                  <a:rPr lang="zh-CN" altLang="en-US" dirty="0"/>
                  <a:t>运作如下：</a:t>
                </a:r>
                <a:endParaRPr lang="en-US" altLang="zh-CN" dirty="0"/>
              </a:p>
              <a:p>
                <a:pPr marL="0" indent="0">
                  <a:buNone/>
                </a:pPr>
                <a:r>
                  <a:rPr lang="en-US" altLang="zh-CN" dirty="0"/>
                  <a:t>	(1) </a:t>
                </a:r>
                <a:r>
                  <a:rPr lang="zh-CN" altLang="en-US" dirty="0"/>
                  <a:t>如果</a:t>
                </a:r>
                <a:r>
                  <a:rPr lang="en-US" altLang="zh-CN" dirty="0"/>
                  <a:t>n</a:t>
                </a:r>
                <a:r>
                  <a:rPr lang="zh-CN" altLang="en-US" dirty="0"/>
                  <a:t>是素数，那么它输出</a:t>
                </a:r>
                <a:r>
                  <a:rPr lang="en-US" altLang="zh-CN" dirty="0"/>
                  <a:t>prime</a:t>
                </a:r>
                <a:r>
                  <a:rPr lang="zh-CN" altLang="en-US" dirty="0"/>
                  <a:t>；</a:t>
                </a:r>
                <a:endParaRPr lang="en-US" altLang="zh-CN" dirty="0"/>
              </a:p>
              <a:p>
                <a:pPr marL="0" indent="0">
                  <a:buNone/>
                </a:pPr>
                <a:r>
                  <a:rPr lang="en-US" altLang="zh-CN" dirty="0"/>
                  <a:t>	(2) </a:t>
                </a:r>
                <a:r>
                  <a:rPr lang="zh-CN" altLang="en-US" dirty="0"/>
                  <a:t>如果</a:t>
                </a:r>
                <a:r>
                  <a:rPr lang="en-US" altLang="zh-CN" dirty="0"/>
                  <a:t>n</a:t>
                </a:r>
                <a:r>
                  <a:rPr lang="zh-CN" altLang="en-US" dirty="0"/>
                  <a:t>是合数，那么它至少以</a:t>
                </a:r>
                <a14:m>
                  <m:oMath xmlns:m="http://schemas.openxmlformats.org/officeDocument/2006/math">
                    <m:r>
                      <a:rPr lang="en-US" altLang="zh-CN" i="1">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m:rPr>
                            <m:sty m:val="p"/>
                          </m:rPr>
                          <a:rPr lang="en-US" altLang="zh-CN" i="1">
                            <a:latin typeface="Cambria Math" panose="02040503050406030204" pitchFamily="18" charset="0"/>
                          </a:rPr>
                          <m:t>n</m:t>
                        </m:r>
                      </m:den>
                    </m:f>
                  </m:oMath>
                </a14:m>
                <a:r>
                  <a:rPr lang="zh-CN" altLang="en-US" dirty="0"/>
                  <a:t>的概率输   </a:t>
                </a:r>
                <a:endParaRPr lang="en-US" altLang="zh-CN" dirty="0"/>
              </a:p>
              <a:p>
                <a:pPr marL="0" indent="0">
                  <a:buNone/>
                </a:pPr>
                <a:r>
                  <a:rPr lang="en-US" altLang="zh-CN" dirty="0"/>
                  <a:t>                 </a:t>
                </a:r>
                <a:r>
                  <a:rPr lang="zh-CN" altLang="en-US" dirty="0"/>
                  <a:t>出</a:t>
                </a:r>
                <a:r>
                  <a:rPr lang="en-US" altLang="zh-CN" dirty="0"/>
                  <a:t>composite</a:t>
                </a:r>
                <a:r>
                  <a:rPr lang="zh-CN" altLang="en-US" dirty="0"/>
                  <a:t>。</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695246" cy="4525962"/>
              </a:xfrm>
              <a:blipFill>
                <a:blip r:embed="rId3"/>
                <a:stretch>
                  <a:fillRect l="-1109" t="-808" r="-9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2958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51203"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3" y="1268413"/>
                <a:ext cx="7848599" cy="3876611"/>
              </a:xfrm>
            </p:spPr>
            <p:txBody>
              <a:bodyPr/>
              <a:lstStyle/>
              <a:p>
                <a:pPr algn="just"/>
                <a:r>
                  <a:rPr lang="zh-CN" altLang="en-US" dirty="0"/>
                  <a:t>问题描述 </a:t>
                </a:r>
                <a:r>
                  <a:rPr lang="en-US" altLang="zh-CN" dirty="0"/>
                  <a:t>:</a:t>
                </a:r>
              </a:p>
              <a:p>
                <a:pPr marL="720000" algn="just"/>
                <a:r>
                  <a:rPr lang="zh-CN" altLang="en-US" sz="2400" dirty="0"/>
                  <a:t>假定</a:t>
                </a:r>
                <a:r>
                  <a:rPr lang="en-US" altLang="zh-CN" sz="2400" dirty="0"/>
                  <a:t>A</a:t>
                </a:r>
                <a:r>
                  <a:rPr lang="zh-CN" altLang="en-US" sz="2400" dirty="0"/>
                  <a:t>和</a:t>
                </a:r>
                <a:r>
                  <a:rPr lang="en-US" altLang="zh-CN" sz="2400" dirty="0"/>
                  <a:t>B</a:t>
                </a:r>
                <a:r>
                  <a:rPr lang="zh-CN" altLang="en-US" sz="2400" dirty="0"/>
                  <a:t>两个组能够通过一条信道来通信，并且假定信道非常可靠；</a:t>
                </a:r>
                <a:endParaRPr lang="en-US" altLang="zh-CN" sz="2400" dirty="0"/>
              </a:p>
              <a:p>
                <a:pPr marL="720000" algn="just"/>
                <a:r>
                  <a:rPr lang="en-US" altLang="zh-CN" sz="2400" dirty="0"/>
                  <a:t>A</a:t>
                </a:r>
                <a:r>
                  <a:rPr lang="zh-CN" altLang="en-US" sz="2400" dirty="0"/>
                  <a:t>有一个很长的串</a:t>
                </a:r>
                <a14:m>
                  <m:oMath xmlns:m="http://schemas.openxmlformats.org/officeDocument/2006/math">
                    <m:r>
                      <a:rPr lang="en-US" altLang="zh-CN" sz="2400" b="0" i="1" smtClean="0">
                        <a:latin typeface="Cambria Math" panose="02040503050406030204" pitchFamily="18" charset="0"/>
                      </a:rPr>
                      <m:t>𝑥</m:t>
                    </m:r>
                  </m:oMath>
                </a14:m>
                <a:r>
                  <a:rPr lang="zh-CN" altLang="en-US" sz="2400" dirty="0"/>
                  <a:t>，</a:t>
                </a:r>
                <a:r>
                  <a:rPr lang="en-US" altLang="zh-CN" sz="2400" dirty="0"/>
                  <a:t>B</a:t>
                </a:r>
                <a:r>
                  <a:rPr lang="zh-CN" altLang="en-US" sz="2400" dirty="0"/>
                  <a:t>有一个很长的串</a:t>
                </a:r>
                <a14:m>
                  <m:oMath xmlns:m="http://schemas.openxmlformats.org/officeDocument/2006/math">
                    <m:r>
                      <m:rPr>
                        <m:sty m:val="p"/>
                      </m:rPr>
                      <a:rPr lang="en-US" altLang="zh-CN" sz="2400" i="1" dirty="0">
                        <a:latin typeface="Cambria Math" panose="02040503050406030204" pitchFamily="18" charset="0"/>
                      </a:rPr>
                      <m:t>y</m:t>
                    </m:r>
                  </m:oMath>
                </a14:m>
                <a:r>
                  <a:rPr lang="zh-CN" altLang="en-US" sz="2400" dirty="0"/>
                  <a:t>；</a:t>
                </a:r>
                <a:endParaRPr lang="en-US" altLang="zh-CN" sz="2400" dirty="0"/>
              </a:p>
              <a:p>
                <a:pPr marL="720000" algn="just"/>
                <a:r>
                  <a:rPr lang="zh-CN" altLang="en-US" sz="2400" dirty="0"/>
                  <a:t>现在要确定是否</a:t>
                </a:r>
                <a14:m>
                  <m:oMath xmlns:m="http://schemas.openxmlformats.org/officeDocument/2006/math">
                    <m:r>
                      <a:rPr lang="en-US" altLang="zh-CN" sz="2400" i="1">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oMath>
                </a14:m>
                <a:r>
                  <a:rPr lang="zh-CN" altLang="en-US" sz="2400" dirty="0"/>
                  <a:t>。</a:t>
                </a:r>
                <a:endParaRPr lang="en-US" altLang="zh-CN" sz="2400" dirty="0"/>
              </a:p>
              <a:p>
                <a:pPr algn="just"/>
                <a:r>
                  <a:rPr lang="zh-CN" altLang="en-US" dirty="0"/>
                  <a:t>显然，</a:t>
                </a:r>
                <a:r>
                  <a:rPr lang="en-US" altLang="zh-CN" dirty="0"/>
                  <a:t>A</a:t>
                </a:r>
                <a:r>
                  <a:rPr lang="zh-CN" altLang="en-US" dirty="0"/>
                  <a:t>可以把</a:t>
                </a:r>
                <a14:m>
                  <m:oMath xmlns:m="http://schemas.openxmlformats.org/officeDocument/2006/math">
                    <m:r>
                      <a:rPr lang="en-US" altLang="zh-CN" sz="2800" i="1">
                        <a:latin typeface="Cambria Math" panose="02040503050406030204" pitchFamily="18" charset="0"/>
                      </a:rPr>
                      <m:t>𝑥</m:t>
                    </m:r>
                  </m:oMath>
                </a14:m>
                <a:r>
                  <a:rPr lang="zh-CN" altLang="en-US" dirty="0"/>
                  <a:t>发送给</a:t>
                </a:r>
                <a:r>
                  <a:rPr lang="en-US" altLang="zh-CN" dirty="0"/>
                  <a:t>B</a:t>
                </a:r>
                <a:r>
                  <a:rPr lang="zh-CN" altLang="en-US" dirty="0"/>
                  <a:t>，</a:t>
                </a:r>
                <a:r>
                  <a:rPr lang="en-US" altLang="zh-CN" dirty="0"/>
                  <a:t>B</a:t>
                </a:r>
                <a:r>
                  <a:rPr lang="zh-CN" altLang="en-US" dirty="0"/>
                  <a:t>可以接着立刻判断是否</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oMath>
                </a14:m>
                <a:r>
                  <a:rPr lang="zh-CN" altLang="en-US" dirty="0"/>
                  <a:t>。</a:t>
                </a:r>
                <a:endParaRPr lang="en-US" altLang="zh-CN" dirty="0"/>
              </a:p>
              <a:p>
                <a:pPr algn="just"/>
                <a:r>
                  <a:rPr lang="zh-CN" altLang="en-US" dirty="0"/>
                  <a:t>在信道的利用率来看，这种方法是十分浪费的。</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3" y="1268413"/>
                <a:ext cx="7848599" cy="3876611"/>
              </a:xfrm>
              <a:blipFill>
                <a:blip r:embed="rId3"/>
                <a:stretch>
                  <a:fillRect l="-1088" t="-1415" r="-1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3125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53251"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p:sp>
        <p:nvSpPr>
          <p:cNvPr id="53252" name="文本占位符 3"/>
          <p:cNvSpPr>
            <a:spLocks noGrp="1" noChangeArrowheads="1"/>
          </p:cNvSpPr>
          <p:nvPr>
            <p:ph type="body" sz="half" idx="1"/>
          </p:nvPr>
        </p:nvSpPr>
        <p:spPr>
          <a:xfrm>
            <a:off x="879475" y="1211263"/>
            <a:ext cx="7459853" cy="4525962"/>
          </a:xfrm>
        </p:spPr>
        <p:txBody>
          <a:bodyPr/>
          <a:lstStyle/>
          <a:p>
            <a:r>
              <a:rPr lang="zh-CN" altLang="en-US" dirty="0"/>
              <a:t>基本思想</a:t>
            </a:r>
            <a:endParaRPr lang="en-US" altLang="zh-CN" dirty="0"/>
          </a:p>
          <a:p>
            <a:pPr marL="720000" algn="just"/>
            <a:r>
              <a:rPr lang="en-US" altLang="zh-CN" dirty="0"/>
              <a:t>A</a:t>
            </a:r>
            <a:r>
              <a:rPr lang="zh-CN" altLang="en-US" dirty="0"/>
              <a:t>可以从</a:t>
            </a:r>
            <a:r>
              <a:rPr lang="en-US" altLang="zh-CN" dirty="0"/>
              <a:t>x</a:t>
            </a:r>
            <a:r>
              <a:rPr lang="zh-CN" altLang="en-US" dirty="0"/>
              <a:t>中取出一个短得多的串作为</a:t>
            </a:r>
            <a:r>
              <a:rPr lang="en-US" altLang="zh-CN" dirty="0"/>
              <a:t>x</a:t>
            </a:r>
            <a:r>
              <a:rPr lang="zh-CN" altLang="en-US" dirty="0"/>
              <a:t>的“指纹”，并且把指纹发送给</a:t>
            </a:r>
            <a:r>
              <a:rPr lang="en-US" altLang="zh-CN" dirty="0"/>
              <a:t>B</a:t>
            </a:r>
            <a:r>
              <a:rPr lang="zh-CN" altLang="en-US" dirty="0"/>
              <a:t>；</a:t>
            </a:r>
            <a:endParaRPr lang="en-US" altLang="zh-CN" dirty="0"/>
          </a:p>
          <a:p>
            <a:pPr marL="720000" algn="just"/>
            <a:r>
              <a:rPr lang="en-US" altLang="zh-CN" dirty="0"/>
              <a:t>B</a:t>
            </a:r>
            <a:r>
              <a:rPr lang="zh-CN" altLang="en-US" dirty="0"/>
              <a:t>用同样的方法获得</a:t>
            </a:r>
            <a:r>
              <a:rPr lang="en-US" altLang="zh-CN" dirty="0"/>
              <a:t>y</a:t>
            </a:r>
            <a:r>
              <a:rPr lang="zh-CN" altLang="en-US" dirty="0"/>
              <a:t>的“指纹”；</a:t>
            </a:r>
            <a:endParaRPr lang="en-US" altLang="zh-CN" dirty="0"/>
          </a:p>
          <a:p>
            <a:pPr marL="720000" algn="just"/>
            <a:r>
              <a:rPr lang="zh-CN" altLang="en-US" dirty="0"/>
              <a:t>如果这两个指纹相等，则</a:t>
            </a:r>
            <a:r>
              <a:rPr lang="en-US" altLang="zh-CN" dirty="0"/>
              <a:t>B</a:t>
            </a:r>
            <a:r>
              <a:rPr lang="zh-CN" altLang="en-US" dirty="0"/>
              <a:t>就假定</a:t>
            </a:r>
            <a:r>
              <a:rPr lang="en-US" altLang="zh-CN" dirty="0"/>
              <a:t>x=y</a:t>
            </a:r>
            <a:r>
              <a:rPr lang="zh-CN" altLang="en-US" dirty="0"/>
              <a:t>，否则</a:t>
            </a:r>
            <a:r>
              <a:rPr lang="en-US" altLang="zh-CN" dirty="0"/>
              <a:t>B</a:t>
            </a:r>
            <a:r>
              <a:rPr lang="zh-CN" altLang="en-US" dirty="0"/>
              <a:t>就得出</a:t>
            </a:r>
            <a:r>
              <a:rPr lang="en-US" altLang="zh-CN" dirty="0"/>
              <a:t>x ≠ y</a:t>
            </a:r>
            <a:r>
              <a:rPr lang="zh-CN" altLang="en-US" dirty="0"/>
              <a:t>的结论。</a:t>
            </a:r>
            <a:endParaRPr lang="en-US" altLang="zh-CN" dirty="0"/>
          </a:p>
          <a:p>
            <a:pPr marL="720000" algn="just"/>
            <a:endParaRPr lang="en-US" altLang="zh-CN" dirty="0"/>
          </a:p>
          <a:p>
            <a:r>
              <a:rPr lang="zh-CN" altLang="en-US" dirty="0"/>
              <a:t>优点：只需要在信道上传输一个很短的串。</a:t>
            </a:r>
            <a:endParaRPr lang="en-US" altLang="zh-CN" dirty="0"/>
          </a:p>
        </p:txBody>
      </p:sp>
    </p:spTree>
    <p:extLst>
      <p:ext uri="{BB962C8B-B14F-4D97-AF65-F5344CB8AC3E}">
        <p14:creationId xmlns:p14="http://schemas.microsoft.com/office/powerpoint/2010/main" val="1963101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55299"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b="1"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3" y="1268413"/>
                <a:ext cx="7597711" cy="4525962"/>
              </a:xfrm>
            </p:spPr>
            <p:txBody>
              <a:bodyPr/>
              <a:lstStyle/>
              <a:p>
                <a:r>
                  <a:rPr lang="zh-CN" altLang="en-US" dirty="0"/>
                  <a:t>对于一个串</a:t>
                </a:r>
                <a:r>
                  <a:rPr lang="en-US" altLang="zh-CN" dirty="0"/>
                  <a:t>w</a:t>
                </a:r>
                <a:r>
                  <a:rPr lang="zh-CN" altLang="en-US" dirty="0"/>
                  <a:t>，设</a:t>
                </a:r>
                <a:r>
                  <a:rPr lang="en-US" altLang="zh-CN" dirty="0"/>
                  <a:t>I(w)</a:t>
                </a:r>
                <a:r>
                  <a:rPr lang="zh-CN" altLang="en-US" dirty="0"/>
                  <a:t>是比特串</a:t>
                </a:r>
                <a:r>
                  <a:rPr lang="en-US" altLang="zh-CN" dirty="0"/>
                  <a:t>w</a:t>
                </a:r>
                <a:r>
                  <a:rPr lang="zh-CN" altLang="en-US" dirty="0"/>
                  <a:t>表示的一个整数。</a:t>
                </a:r>
                <a:endParaRPr lang="en-US" altLang="zh-CN" dirty="0"/>
              </a:p>
              <a:p>
                <a:r>
                  <a:rPr lang="zh-CN" altLang="en-US" dirty="0"/>
                  <a:t>一种收集指纹的方法是选一个素数</a:t>
                </a:r>
                <a:r>
                  <a:rPr lang="en-US" altLang="zh-CN" dirty="0"/>
                  <a:t>p</a:t>
                </a:r>
                <a:r>
                  <a:rPr lang="zh-CN" altLang="en-US" dirty="0"/>
                  <a:t>，然后使用指纹函数：</a:t>
                </a:r>
                <a:endParaRPr lang="en-US" altLang="zh-CN" dirty="0"/>
              </a:p>
              <a:p>
                <a:endParaRPr lang="en-US" altLang="zh-CN" dirty="0"/>
              </a:p>
              <a:p>
                <a:endParaRPr lang="en-US" altLang="zh-CN" dirty="0"/>
              </a:p>
              <a:p>
                <a:endParaRPr lang="en-US" altLang="zh-CN" dirty="0"/>
              </a:p>
              <a:p>
                <a:r>
                  <a:rPr lang="zh-CN" altLang="en-US" dirty="0"/>
                  <a:t>如果</a:t>
                </a:r>
                <a:r>
                  <a:rPr lang="en-US" altLang="zh-CN" dirty="0"/>
                  <a:t>p</a:t>
                </a:r>
                <a:r>
                  <a:rPr lang="zh-CN" altLang="en-US" dirty="0"/>
                  <a:t>不是太大的话，则指纹</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r>
                  <a:rPr lang="zh-CN" altLang="en-US" dirty="0"/>
                  <a:t> 可以作为一个短传发送，传送的比特数是</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i="0" smtClean="0">
                            <a:latin typeface="Cambria Math" panose="02040503050406030204" pitchFamily="18" charset="0"/>
                          </a:rPr>
                          <m:t>log</m:t>
                        </m:r>
                      </m:fName>
                      <m:e>
                        <m:r>
                          <a:rPr lang="en-US" altLang="zh-CN" b="0" i="1" smtClean="0">
                            <a:latin typeface="Cambria Math" panose="02040503050406030204" pitchFamily="18" charset="0"/>
                          </a:rPr>
                          <m:t>𝑛</m:t>
                        </m:r>
                      </m:e>
                    </m:func>
                    <m:r>
                      <a:rPr lang="en-US" altLang="zh-CN" i="1">
                        <a:latin typeface="Cambria Math" panose="02040503050406030204" pitchFamily="18" charset="0"/>
                      </a:rPr>
                      <m:t>)</m:t>
                    </m:r>
                    <m:r>
                      <a:rPr lang="zh-CN" altLang="en-US" i="1">
                        <a:latin typeface="Cambria Math" panose="02040503050406030204" pitchFamily="18" charset="0"/>
                      </a:rPr>
                      <m:t>。</m:t>
                    </m:r>
                  </m:oMath>
                </a14:m>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3" y="1268413"/>
                <a:ext cx="7597711" cy="4525962"/>
              </a:xfrm>
              <a:blipFill>
                <a:blip r:embed="rId3"/>
                <a:stretch>
                  <a:fillRect l="-1124" t="-1211" r="-722"/>
                </a:stretch>
              </a:blipFill>
            </p:spPr>
            <p:txBody>
              <a:bodyPr/>
              <a:lstStyle/>
              <a:p>
                <a:r>
                  <a:rPr lang="zh-CN" altLang="en-US">
                    <a:noFill/>
                  </a:rPr>
                  <a:t> </a:t>
                </a:r>
              </a:p>
            </p:txBody>
          </p:sp>
        </mc:Fallback>
      </mc:AlternateContent>
      <p:pic>
        <p:nvPicPr>
          <p:cNvPr id="7"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565" y="2759107"/>
            <a:ext cx="3868737"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280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57347"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744014" cy="4525962"/>
              </a:xfrm>
            </p:spPr>
            <p:txBody>
              <a:bodyPr/>
              <a:lstStyle/>
              <a:p>
                <a:r>
                  <a:rPr lang="zh-CN" altLang="en-US" dirty="0"/>
                  <a:t>如果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m:rPr>
                            <m:sty m:val="p"/>
                          </m:rPr>
                          <a:rPr lang="en-US" altLang="zh-CN" i="1">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p</m:t>
                        </m:r>
                      </m:sub>
                    </m:sSub>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t>，那么显然</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oMath>
                </a14:m>
                <a:r>
                  <a:rPr lang="zh-CN" altLang="en-US" dirty="0"/>
                  <a:t>。但是逆否命题不成立。即如果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p</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p</m:t>
                        </m:r>
                      </m:sub>
                    </m:sSub>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t>，不一定有</a:t>
                </a:r>
                <a14:m>
                  <m:oMath xmlns:m="http://schemas.openxmlformats.org/officeDocument/2006/math">
                    <m:r>
                      <a:rPr lang="en-US" altLang="zh-CN" i="1">
                        <a:latin typeface="Cambria Math" panose="02040503050406030204" pitchFamily="18" charset="0"/>
                      </a:rPr>
                      <m:t>𝑥</m:t>
                    </m:r>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oMath>
                </a14:m>
                <a:r>
                  <a:rPr lang="zh-CN" altLang="en-US" dirty="0"/>
                  <a:t>的结果。我们称这种现象为假匹配。</a:t>
                </a:r>
                <a:endParaRPr lang="en-US" altLang="zh-CN" dirty="0"/>
              </a:p>
              <a:p>
                <a:endParaRPr lang="en-US" altLang="zh-CN" dirty="0"/>
              </a:p>
              <a:p>
                <a:r>
                  <a:rPr lang="zh-CN" altLang="en-US" dirty="0"/>
                  <a:t>一般地，如果</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 </m:t>
                    </m:r>
                  </m:oMath>
                </a14:m>
                <a:r>
                  <a:rPr lang="zh-CN" altLang="en-US" dirty="0"/>
                  <a:t>，但是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p</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i="1">
                            <a:latin typeface="Cambria Math" panose="02040503050406030204" pitchFamily="18" charset="0"/>
                          </a:rPr>
                          <m:t>p</m:t>
                        </m:r>
                      </m:sub>
                    </m:sSub>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t>，即</a:t>
                </a:r>
                <a:r>
                  <a:rPr lang="en-US" altLang="zh-CN" dirty="0"/>
                  <a:t>p</a:t>
                </a:r>
                <a:r>
                  <a:rPr lang="zh-CN" altLang="en-US" dirty="0"/>
                  <a:t>整除</a:t>
                </a:r>
                <a14:m>
                  <m:oMath xmlns:m="http://schemas.openxmlformats.org/officeDocument/2006/math">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i="1">
                        <a:latin typeface="Cambria Math" panose="02040503050406030204" pitchFamily="18" charset="0"/>
                      </a:rPr>
                      <m:t>𝐼</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𝑦</m:t>
                        </m:r>
                      </m:e>
                    </m:d>
                  </m:oMath>
                </a14:m>
                <a:r>
                  <a:rPr lang="zh-CN" altLang="en-US" dirty="0"/>
                  <a:t>时就发生了假匹配。</a:t>
                </a:r>
                <a:endParaRPr lang="en-US" altLang="zh-CN" dirty="0"/>
              </a:p>
              <a:p>
                <a:endParaRPr lang="en-US" altLang="zh-CN" dirty="0"/>
              </a:p>
              <a:p>
                <a:r>
                  <a:rPr lang="zh-CN" altLang="en-US" dirty="0"/>
                  <a:t>对于固定的</a:t>
                </a:r>
                <a:r>
                  <a:rPr lang="en-US" altLang="zh-CN" dirty="0"/>
                  <a:t>p</a:t>
                </a:r>
                <a:r>
                  <a:rPr lang="zh-CN" altLang="en-US" dirty="0"/>
                  <a:t>，存在一定的串</a:t>
                </a:r>
                <a:r>
                  <a:rPr lang="en-US" altLang="zh-CN" dirty="0"/>
                  <a:t>x </a:t>
                </a:r>
                <a:r>
                  <a:rPr lang="zh-CN" altLang="en-US" dirty="0"/>
                  <a:t>和 </a:t>
                </a:r>
                <a:r>
                  <a:rPr lang="en-US" altLang="zh-CN" dirty="0"/>
                  <a:t>y </a:t>
                </a:r>
                <a:r>
                  <a:rPr lang="zh-CN" altLang="en-US" dirty="0"/>
                  <a:t>偶对，对于它们这种方法总是要失败的。</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744014" cy="4525962"/>
              </a:xfrm>
              <a:blipFill>
                <a:blip r:embed="rId3"/>
                <a:stretch>
                  <a:fillRect l="-1102" t="-6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9894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59395"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414830" cy="4525962"/>
              </a:xfrm>
            </p:spPr>
            <p:txBody>
              <a:bodyPr/>
              <a:lstStyle/>
              <a:p>
                <a:pPr algn="just"/>
                <a:r>
                  <a:rPr lang="zh-CN" altLang="en-US" dirty="0"/>
                  <a:t>我们在每次检查两个串的相等性时随机地选择</a:t>
                </a:r>
                <a:r>
                  <a:rPr lang="en-US" altLang="zh-CN" dirty="0"/>
                  <a:t>p</a:t>
                </a:r>
                <a:r>
                  <a:rPr lang="zh-CN" altLang="en-US" dirty="0"/>
                  <a:t>，而不是预先选好，这样可以避开存在的这些偶对</a:t>
                </a:r>
                <a:r>
                  <a:rPr lang="en-US" altLang="zh-CN" dirty="0"/>
                  <a:t>x </a:t>
                </a:r>
                <a:r>
                  <a:rPr lang="zh-CN" altLang="en-US" dirty="0"/>
                  <a:t>和</a:t>
                </a:r>
                <a:r>
                  <a:rPr lang="en-US" altLang="zh-CN" dirty="0"/>
                  <a:t>y</a:t>
                </a:r>
                <a:r>
                  <a:rPr lang="zh-CN" altLang="en-US" dirty="0"/>
                  <a:t>的问题。</a:t>
                </a:r>
                <a:endParaRPr lang="en-US" altLang="zh-CN" dirty="0"/>
              </a:p>
              <a:p>
                <a:pPr algn="just"/>
                <a:endParaRPr lang="en-US" altLang="zh-CN" dirty="0"/>
              </a:p>
              <a:p>
                <a:pPr algn="just"/>
                <a:r>
                  <a:rPr lang="zh-CN" altLang="en-US" dirty="0"/>
                  <a:t>而且，随机选择</a:t>
                </a:r>
                <a:r>
                  <a:rPr lang="en-US" altLang="zh-CN" dirty="0"/>
                  <a:t>p</a:t>
                </a:r>
                <a:r>
                  <a:rPr lang="zh-CN" altLang="en-US" dirty="0"/>
                  <a:t>也允许重传另一个指纹，这样在</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oMath>
                </a14:m>
                <a:r>
                  <a:rPr lang="zh-CN" altLang="en-US" dirty="0"/>
                  <a:t>的情况增加了可信度。</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414830" cy="4525962"/>
              </a:xfrm>
              <a:blipFill>
                <a:blip r:embed="rId3"/>
                <a:stretch>
                  <a:fillRect l="-1151" t="-1211" r="-13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18017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1443"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p:pic>
        <p:nvPicPr>
          <p:cNvPr id="61444"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8" y="1951038"/>
            <a:ext cx="8080375"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0324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3491"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3" y="1268413"/>
                <a:ext cx="7536751" cy="4525962"/>
              </a:xfrm>
            </p:spPr>
            <p:txBody>
              <a:bodyPr/>
              <a:lstStyle/>
              <a:p>
                <a:pPr marL="0" indent="0" algn="just">
                  <a:buNone/>
                </a:pPr>
                <a:r>
                  <a:rPr lang="zh-CN" altLang="en-US" sz="2800" b="1" dirty="0"/>
                  <a:t>假匹配的概率</a:t>
                </a:r>
                <a:r>
                  <a:rPr lang="zh-CN" altLang="en-US" dirty="0"/>
                  <a:t>：</a:t>
                </a:r>
                <a:endParaRPr lang="en-US" altLang="zh-CN" dirty="0"/>
              </a:p>
              <a:p>
                <a:pPr algn="just"/>
                <a:r>
                  <a:rPr lang="zh-CN" altLang="en-US" dirty="0"/>
                  <a:t>设</a:t>
                </a:r>
                <a:r>
                  <a:rPr lang="en-US" altLang="zh-CN" dirty="0"/>
                  <a:t>n</a:t>
                </a:r>
                <a:r>
                  <a:rPr lang="zh-CN" altLang="en-US" dirty="0"/>
                  <a:t>是串</a:t>
                </a:r>
                <a:r>
                  <a:rPr lang="en-US" altLang="zh-CN" dirty="0"/>
                  <a:t>x</a:t>
                </a:r>
                <a:r>
                  <a:rPr lang="zh-CN" altLang="en-US" dirty="0"/>
                  <a:t>的二进制表示形式的位数，当然，</a:t>
                </a:r>
                <a:r>
                  <a:rPr lang="en-US" altLang="zh-CN" dirty="0"/>
                  <a:t>n</a:t>
                </a:r>
                <a:r>
                  <a:rPr lang="zh-CN" altLang="en-US" dirty="0"/>
                  <a:t>也等于串</a:t>
                </a:r>
                <a:r>
                  <a:rPr lang="en-US" altLang="zh-CN" dirty="0"/>
                  <a:t>y</a:t>
                </a:r>
                <a:r>
                  <a:rPr lang="zh-CN" altLang="en-US" dirty="0"/>
                  <a:t>的二进制表示形式的为主，否则问题就是平凡的。</a:t>
                </a:r>
                <a:endParaRPr lang="en-US" altLang="zh-CN" dirty="0"/>
              </a:p>
              <a:p>
                <a:pPr algn="just"/>
                <a:r>
                  <a:rPr lang="zh-CN" altLang="en-US" dirty="0"/>
                  <a:t>设</a:t>
                </a:r>
                <a14:m>
                  <m:oMath xmlns:m="http://schemas.openxmlformats.org/officeDocument/2006/math">
                    <m:r>
                      <a:rPr lang="zh-CN" altLang="en-US" i="1" smtClean="0">
                        <a:latin typeface="Cambria Math" panose="02040503050406030204" pitchFamily="18" charset="0"/>
                      </a:rPr>
                      <m:t>𝜋</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是小于</a:t>
                </a:r>
                <a:r>
                  <a:rPr lang="en-US" altLang="zh-CN" dirty="0"/>
                  <a:t>n</a:t>
                </a:r>
                <a:r>
                  <a:rPr lang="zh-CN" altLang="en-US" dirty="0"/>
                  <a:t>的不同素数的个数，众所周知，</a:t>
                </a:r>
                <a14:m>
                  <m:oMath xmlns:m="http://schemas.openxmlformats.org/officeDocument/2006/math">
                    <m:r>
                      <a:rPr lang="zh-CN" altLang="en-US" i="1">
                        <a:latin typeface="Cambria Math" panose="02040503050406030204" pitchFamily="18" charset="0"/>
                      </a:rPr>
                      <m:t>𝜋</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en-US" dirty="0"/>
                  <a:t>趋近于</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r>
                          <a:rPr lang="en-US" altLang="zh-CN" b="0" i="1" smtClean="0">
                            <a:latin typeface="Cambria Math" panose="02040503050406030204" pitchFamily="18" charset="0"/>
                          </a:rPr>
                          <m:t>𝑛</m:t>
                        </m:r>
                      </m:e>
                    </m:func>
                  </m:oMath>
                </a14:m>
                <a:r>
                  <a:rPr lang="zh-CN" altLang="en-US" dirty="0"/>
                  <a:t>。</a:t>
                </a:r>
                <a:r>
                  <a:rPr lang="en-US" altLang="zh-CN" dirty="0"/>
                  <a:t>(</a:t>
                </a:r>
                <a:r>
                  <a:rPr lang="zh-CN" altLang="en-US" dirty="0"/>
                  <a:t>素数定理</a:t>
                </a:r>
                <a:r>
                  <a:rPr lang="en-US" altLang="zh-CN" dirty="0"/>
                  <a:t>)</a:t>
                </a:r>
              </a:p>
              <a:p>
                <a:pPr algn="just"/>
                <a:r>
                  <a:rPr lang="zh-CN" altLang="en-US" dirty="0"/>
                  <a:t>又知道如果</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𝑛</m:t>
                        </m:r>
                      </m:sup>
                    </m:sSup>
                  </m:oMath>
                </a14:m>
                <a:r>
                  <a:rPr lang="zh-CN" altLang="en-US" dirty="0"/>
                  <a:t>，则除非</a:t>
                </a:r>
                <a:r>
                  <a:rPr lang="en-US" altLang="zh-CN" dirty="0"/>
                  <a:t>n</a:t>
                </a:r>
                <a:r>
                  <a:rPr lang="zh-CN" altLang="en-US" dirty="0"/>
                  <a:t>非常小，否则能够整除</a:t>
                </a:r>
                <a:r>
                  <a:rPr lang="en-US" altLang="zh-CN" dirty="0"/>
                  <a:t>k</a:t>
                </a:r>
                <a:r>
                  <a:rPr lang="zh-CN" altLang="en-US" dirty="0"/>
                  <a:t>的不同质数的个数小于</a:t>
                </a:r>
                <a14:m>
                  <m:oMath xmlns:m="http://schemas.openxmlformats.org/officeDocument/2006/math">
                    <m:r>
                      <a:rPr lang="zh-CN" altLang="en-US" i="1">
                        <a:latin typeface="Cambria Math" panose="02040503050406030204" pitchFamily="18" charset="0"/>
                      </a:rPr>
                      <m:t>𝜋</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 </m:t>
                    </m:r>
                  </m:oMath>
                </a14:m>
                <a:r>
                  <a:rPr lang="zh-CN" altLang="en-US" dirty="0"/>
                  <a:t>。</a:t>
                </a:r>
                <a:endParaRPr lang="en-US" altLang="zh-CN" dirty="0"/>
              </a:p>
              <a:p>
                <a:pPr algn="just"/>
                <a:r>
                  <a:rPr lang="zh-CN" altLang="en-US" dirty="0"/>
                  <a:t>由于失败仅在假匹配的情况下发生，即</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zh-CN" altLang="en-US" i="1">
                        <a:latin typeface="Cambria Math" panose="02040503050406030204" pitchFamily="18" charset="0"/>
                        <a:ea typeface="Cambria Math" panose="02040503050406030204" pitchFamily="18" charset="0"/>
                      </a:rPr>
                      <m:t>但</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a:rPr lang="en-US" altLang="zh-CN" b="0" i="1" smtClean="0">
                            <a:latin typeface="Cambria Math" panose="02040503050406030204" pitchFamily="18" charset="0"/>
                            <a:ea typeface="Cambria Math" panose="02040503050406030204" pitchFamily="18" charset="0"/>
                          </a:rPr>
                          <m:t>𝑝</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𝑝</m:t>
                        </m:r>
                      </m:sub>
                    </m:sSub>
                    <m:d>
                      <m:dPr>
                        <m:ctrlPr>
                          <a:rPr lang="en-US" altLang="zh-CN" i="1">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𝑦</m:t>
                        </m:r>
                      </m:e>
                    </m:d>
                  </m:oMath>
                </a14:m>
                <a:r>
                  <a:rPr lang="zh-CN" altLang="en-US" dirty="0"/>
                  <a:t>时，而这只有在</a:t>
                </a:r>
                <a:r>
                  <a:rPr lang="en-US" altLang="zh-CN" dirty="0"/>
                  <a:t>p</a:t>
                </a:r>
                <a:r>
                  <a:rPr lang="zh-CN" altLang="en-US" dirty="0"/>
                  <a:t>整除</a:t>
                </a:r>
                <a14:m>
                  <m:oMath xmlns:m="http://schemas.openxmlformats.org/officeDocument/2006/math">
                    <m:r>
                      <m:rPr>
                        <m:sty m:val="p"/>
                      </m:rPr>
                      <a:rPr lang="en-US" altLang="zh-CN" b="0" i="0" smtClean="0">
                        <a:latin typeface="Cambria Math" panose="02040503050406030204" pitchFamily="18" charset="0"/>
                      </a:rPr>
                      <m:t>I</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x</m:t>
                        </m:r>
                      </m:e>
                    </m:d>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I</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y</m:t>
                    </m:r>
                    <m:r>
                      <a:rPr lang="en-US" altLang="zh-CN" b="0" i="0" smtClean="0">
                        <a:latin typeface="Cambria Math" panose="02040503050406030204" pitchFamily="18" charset="0"/>
                      </a:rPr>
                      <m:t>)</m:t>
                    </m:r>
                    <m:r>
                      <a:rPr lang="zh-CN" altLang="en-US" i="1" smtClean="0">
                        <a:latin typeface="Cambria Math" panose="02040503050406030204" pitchFamily="18" charset="0"/>
                      </a:rPr>
                      <m:t> </m:t>
                    </m:r>
                  </m:oMath>
                </a14:m>
                <a:r>
                  <a:rPr lang="zh-CN" altLang="en-US" dirty="0"/>
                  <a:t>时可能发生。</a:t>
                </a:r>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3" y="1268413"/>
                <a:ext cx="7536751" cy="4525962"/>
              </a:xfrm>
              <a:blipFill>
                <a:blip r:embed="rId3"/>
                <a:stretch>
                  <a:fillRect l="-1699" t="-1346" r="-1294" b="-63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9968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5539"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2" name="文本占位符 1"/>
              <p:cNvSpPr>
                <a:spLocks noGrp="1"/>
              </p:cNvSpPr>
              <p:nvPr>
                <p:ph type="body" sz="half" idx="1"/>
              </p:nvPr>
            </p:nvSpPr>
            <p:spPr>
              <a:xfrm>
                <a:off x="900114" y="1268413"/>
                <a:ext cx="7622094" cy="4525962"/>
              </a:xfrm>
            </p:spPr>
            <p:txBody>
              <a:bodyPr/>
              <a:lstStyle/>
              <a:p>
                <a:pPr marL="0" lvl="0" indent="0" algn="just">
                  <a:buNone/>
                </a:pPr>
                <a:r>
                  <a:rPr lang="zh-CN" altLang="en-US" sz="2800" b="1" dirty="0">
                    <a:solidFill>
                      <a:srgbClr val="333399"/>
                    </a:solidFill>
                  </a:rPr>
                  <a:t>假匹配的概率</a:t>
                </a:r>
                <a:r>
                  <a:rPr lang="zh-CN" altLang="en-US" dirty="0">
                    <a:solidFill>
                      <a:srgbClr val="333399"/>
                    </a:solidFill>
                  </a:rPr>
                  <a:t>：</a:t>
                </a:r>
                <a:endParaRPr lang="en-US" altLang="zh-CN" dirty="0">
                  <a:solidFill>
                    <a:srgbClr val="333399"/>
                  </a:solidFill>
                </a:endParaRPr>
              </a:p>
              <a:p>
                <a:r>
                  <a:rPr lang="zh-CN" altLang="en-US" dirty="0"/>
                  <a:t>因此，对于两个</a:t>
                </a:r>
                <a:r>
                  <a:rPr lang="en-US" altLang="zh-CN" dirty="0"/>
                  <a:t>n</a:t>
                </a:r>
                <a:r>
                  <a:rPr lang="zh-CN" altLang="en-US" dirty="0"/>
                  <a:t>为串</a:t>
                </a:r>
                <a:r>
                  <a:rPr lang="en-US" altLang="zh-CN" dirty="0"/>
                  <a:t>x</a:t>
                </a:r>
                <a:r>
                  <a:rPr lang="zh-CN" altLang="en-US" dirty="0"/>
                  <a:t>和</a:t>
                </a:r>
                <a:r>
                  <a:rPr lang="en-US" altLang="zh-CN" dirty="0"/>
                  <a:t>y</a:t>
                </a:r>
                <a:r>
                  <a:rPr lang="zh-CN" altLang="en-US" dirty="0"/>
                  <a:t>，失败的概率是</a:t>
                </a:r>
                <a:endParaRPr lang="en-US" altLang="zh-CN" dirty="0"/>
              </a:p>
              <a:p>
                <a:endParaRPr lang="en-US" altLang="zh-CN" dirty="0"/>
              </a:p>
              <a:p>
                <a:endParaRPr lang="en-US" altLang="zh-CN" dirty="0"/>
              </a:p>
              <a:p>
                <a:r>
                  <a:rPr lang="zh-CN" altLang="en-US" dirty="0"/>
                  <a:t>如果选择</a:t>
                </a:r>
                <a14:m>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rPr>
                      <m:t>=2</m:t>
                    </m:r>
                    <m:sSup>
                      <m:sSupPr>
                        <m:ctrlPr>
                          <a:rPr lang="en-US" altLang="zh-CN" b="0" i="1" smtClean="0">
                            <a:latin typeface="Cambria Math" panose="02040503050406030204" pitchFamily="18" charset="0"/>
                          </a:rPr>
                        </m:ctrlPr>
                      </m:sSupPr>
                      <m:e>
                        <m:r>
                          <m:rPr>
                            <m:sty m:val="p"/>
                          </m:rPr>
                          <a:rPr lang="en-US" altLang="zh-CN" i="1">
                            <a:latin typeface="Cambria Math" panose="02040503050406030204" pitchFamily="18" charset="0"/>
                          </a:rPr>
                          <m:t>n</m:t>
                        </m:r>
                      </m:e>
                      <m:sup>
                        <m:r>
                          <a:rPr lang="en-US" altLang="zh-CN" b="0" i="1" smtClean="0">
                            <a:latin typeface="Cambria Math" panose="02040503050406030204" pitchFamily="18" charset="0"/>
                          </a:rPr>
                          <m:t>2</m:t>
                        </m:r>
                      </m:sup>
                    </m:sSup>
                  </m:oMath>
                </a14:m>
                <a:r>
                  <a:rPr lang="en-US" altLang="zh-CN" dirty="0"/>
                  <a:t>,</a:t>
                </a:r>
                <a:r>
                  <a:rPr lang="zh-CN" altLang="en-US" dirty="0"/>
                  <a:t>则可以得到</a:t>
                </a:r>
                <a:endParaRPr lang="en-US" altLang="zh-CN" dirty="0"/>
              </a:p>
              <a:p>
                <a:endParaRPr lang="en-US" altLang="zh-CN" dirty="0"/>
              </a:p>
              <a:p>
                <a:pPr marL="0" indent="0">
                  <a:buNone/>
                </a:pPr>
                <a:endParaRPr lang="en-US" altLang="zh-CN" dirty="0"/>
              </a:p>
              <a:p>
                <a:r>
                  <a:rPr lang="zh-CN" altLang="en-US" dirty="0"/>
                  <a:t>更进一步，如果重复执行算法</a:t>
                </a:r>
                <a:r>
                  <a:rPr lang="en-US" altLang="zh-CN" dirty="0"/>
                  <a:t>k</a:t>
                </a:r>
                <a:r>
                  <a:rPr lang="zh-CN" altLang="en-US" dirty="0"/>
                  <a:t>次，每次随机选择一个小于</a:t>
                </a:r>
                <a:r>
                  <a:rPr lang="en-US" altLang="zh-CN" dirty="0"/>
                  <a:t>M</a:t>
                </a:r>
                <a:r>
                  <a:rPr lang="zh-CN" altLang="en-US" dirty="0"/>
                  <a:t>的素数，则概率变成最大是</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(1/</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𝑘</m:t>
                        </m:r>
                      </m:sup>
                    </m:sSup>
                  </m:oMath>
                </a14:m>
                <a:r>
                  <a:rPr lang="zh-CN" altLang="en-US" dirty="0"/>
                  <a:t>。</a:t>
                </a:r>
                <a:endParaRPr lang="en-US" altLang="zh-CN" dirty="0"/>
              </a:p>
              <a:p>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half" idx="1"/>
              </p:nvPr>
            </p:nvSpPr>
            <p:spPr>
              <a:xfrm>
                <a:off x="900114" y="1268413"/>
                <a:ext cx="7622094" cy="4525962"/>
              </a:xfrm>
              <a:blipFill>
                <a:blip r:embed="rId3"/>
                <a:stretch>
                  <a:fillRect l="-1680" t="-1346"/>
                </a:stretch>
              </a:blipFill>
            </p:spPr>
            <p:txBody>
              <a:bodyPr/>
              <a:lstStyle/>
              <a:p>
                <a:r>
                  <a:rPr lang="zh-CN" altLang="en-US">
                    <a:noFill/>
                  </a:rPr>
                  <a:t> </a:t>
                </a:r>
              </a:p>
            </p:txBody>
          </p:sp>
        </mc:Fallback>
      </mc:AlternateContent>
      <p:pic>
        <p:nvPicPr>
          <p:cNvPr id="8"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618" y="2224569"/>
            <a:ext cx="6443663"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618" y="3715231"/>
            <a:ext cx="6486525"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8794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7587" name="Rectangle 2"/>
          <p:cNvSpPr>
            <a:spLocks noGrp="1" noChangeArrowheads="1"/>
          </p:cNvSpPr>
          <p:nvPr>
            <p:ph type="title"/>
          </p:nvPr>
        </p:nvSpPr>
        <p:spPr/>
        <p:txBody>
          <a:bodyPr/>
          <a:lstStyle/>
          <a:p>
            <a:pPr eaLnBrk="1" hangingPunct="1"/>
            <a:r>
              <a:rPr lang="en-US" altLang="zh-CN" dirty="0"/>
              <a:t>10.2.2 </a:t>
            </a:r>
            <a:r>
              <a:rPr lang="zh-CN" altLang="en-US" dirty="0"/>
              <a:t>测试串的相等性</a:t>
            </a:r>
            <a:endParaRPr lang="en-US" altLang="zh-CN" dirty="0"/>
          </a:p>
        </p:txBody>
      </p:sp>
      <mc:AlternateContent xmlns:mc="http://schemas.openxmlformats.org/markup-compatibility/2006" xmlns:a14="http://schemas.microsoft.com/office/drawing/2010/main">
        <mc:Choice Requires="a14">
          <p:sp>
            <p:nvSpPr>
              <p:cNvPr id="7" name="文本占位符 3"/>
              <p:cNvSpPr>
                <a:spLocks noGrp="1" noChangeArrowheads="1"/>
              </p:cNvSpPr>
              <p:nvPr>
                <p:ph type="body" sz="half" idx="1"/>
              </p:nvPr>
            </p:nvSpPr>
            <p:spPr>
              <a:xfrm>
                <a:off x="879475" y="1211263"/>
                <a:ext cx="7869238" cy="4525962"/>
              </a:xfrm>
            </p:spPr>
            <p:txBody>
              <a:bodyPr/>
              <a:lstStyle/>
              <a:p>
                <a:r>
                  <a:rPr lang="zh-CN" altLang="en-US" dirty="0"/>
                  <a:t>一个例子</a:t>
                </a:r>
                <a:r>
                  <a:rPr lang="en-US" altLang="zh-CN" dirty="0"/>
                  <a:t>:</a:t>
                </a:r>
              </a:p>
              <a:p>
                <a:r>
                  <a:rPr lang="zh-CN" altLang="en-US" dirty="0"/>
                  <a:t>假定</a:t>
                </a:r>
                <a:r>
                  <a:rPr lang="en-US" altLang="zh-CN" dirty="0"/>
                  <a:t>x</a:t>
                </a:r>
                <a:r>
                  <a:rPr lang="zh-CN" altLang="en-US" dirty="0"/>
                  <a:t>和</a:t>
                </a:r>
                <a:r>
                  <a:rPr lang="en-US" altLang="zh-CN" dirty="0"/>
                  <a:t>y</a:t>
                </a:r>
                <a:r>
                  <a:rPr lang="zh-CN" altLang="en-US" dirty="0"/>
                  <a:t>每个是</a:t>
                </a:r>
                <a:r>
                  <a:rPr lang="en-US" altLang="zh-CN" dirty="0"/>
                  <a:t>100</a:t>
                </a:r>
                <a:r>
                  <a:rPr lang="zh-CN" altLang="en-US" dirty="0"/>
                  <a:t>万比特串，即</a:t>
                </a:r>
                <a:r>
                  <a:rPr lang="en-US" altLang="zh-CN" dirty="0"/>
                  <a:t>n=1 000 000</a:t>
                </a:r>
                <a:r>
                  <a:rPr lang="zh-CN" altLang="en-US" dirty="0"/>
                  <a:t>，则</a:t>
                </a:r>
                <a:r>
                  <a:rPr lang="en-US" altLang="zh-CN" dirty="0"/>
                  <a:t>M=2×</a:t>
                </a:r>
                <a14:m>
                  <m:oMath xmlns:m="http://schemas.openxmlformats.org/officeDocument/2006/math">
                    <m:sSup>
                      <m:sSupPr>
                        <m:ctrlPr>
                          <a:rPr lang="en-US" altLang="zh-CN" i="1" dirty="0" smtClean="0">
                            <a:latin typeface="Cambria Math" panose="02040503050406030204" pitchFamily="18" charset="0"/>
                          </a:rPr>
                        </m:ctrlPr>
                      </m:sSupPr>
                      <m:e>
                        <m:r>
                          <a:rPr lang="en-US" altLang="zh-CN" dirty="0">
                            <a:latin typeface="Cambria Math" panose="02040503050406030204" pitchFamily="18" charset="0"/>
                          </a:rPr>
                          <m:t>10</m:t>
                        </m:r>
                      </m:e>
                      <m:sup>
                        <m:r>
                          <a:rPr lang="en-US" altLang="zh-CN" i="0" dirty="0">
                            <a:latin typeface="Cambria Math" panose="02040503050406030204" pitchFamily="18" charset="0"/>
                          </a:rPr>
                          <m:t>12</m:t>
                        </m:r>
                      </m:sup>
                    </m:sSup>
                  </m:oMath>
                </a14:m>
                <a:r>
                  <a:rPr lang="en-US" altLang="zh-CN" dirty="0"/>
                  <a:t> = </a:t>
                </a:r>
                <a14:m>
                  <m:oMath xmlns:m="http://schemas.openxmlformats.org/officeDocument/2006/math">
                    <m:sSup>
                      <m:sSupPr>
                        <m:ctrlPr>
                          <a:rPr lang="en-US" altLang="zh-CN" i="1" dirty="0" smtClean="0">
                            <a:latin typeface="Cambria Math" panose="02040503050406030204" pitchFamily="18" charset="0"/>
                          </a:rPr>
                        </m:ctrlPr>
                      </m:sSupPr>
                      <m:e>
                        <m:r>
                          <a:rPr lang="en-US" altLang="zh-CN" b="0" i="0" dirty="0" smtClean="0">
                            <a:latin typeface="Cambria Math" panose="02040503050406030204" pitchFamily="18" charset="0"/>
                          </a:rPr>
                          <m:t>2</m:t>
                        </m:r>
                      </m:e>
                      <m:sup>
                        <m:r>
                          <m:rPr>
                            <m:nor/>
                          </m:rPr>
                          <a:rPr lang="en-US" altLang="zh-CN" dirty="0"/>
                          <m:t>40.8631</m:t>
                        </m:r>
                      </m:sup>
                    </m:sSup>
                  </m:oMath>
                </a14:m>
                <a:r>
                  <a:rPr lang="en-US" altLang="zh-CN" dirty="0"/>
                  <a:t> </a:t>
                </a:r>
                <a:r>
                  <a:rPr lang="zh-CN" altLang="en-US" dirty="0"/>
                  <a:t>。在这种情况下，需要传输</a:t>
                </a:r>
                <a:r>
                  <a:rPr lang="en-US" altLang="zh-CN" dirty="0"/>
                  <a:t>p</a:t>
                </a:r>
                <a:r>
                  <a:rPr lang="zh-CN" altLang="en-US" dirty="0"/>
                  <a:t>的比特数最多是</a:t>
                </a:r>
                <a14:m>
                  <m:oMath xmlns:m="http://schemas.openxmlformats.org/officeDocument/2006/math">
                    <m:d>
                      <m:dPr>
                        <m:begChr m:val="⌊"/>
                        <m:endChr m:val="⌋"/>
                        <m:ctrlPr>
                          <a:rPr lang="zh-CN" altLang="en-US" i="1" smtClean="0">
                            <a:latin typeface="Cambria Math" panose="02040503050406030204" pitchFamily="18" charset="0"/>
                          </a:rPr>
                        </m:ctrlPr>
                      </m:dPr>
                      <m:e>
                        <m:func>
                          <m:funcPr>
                            <m:ctrlPr>
                              <a:rPr lang="zh-CN" altLang="en-US" i="1" smtClean="0">
                                <a:latin typeface="Cambria Math" panose="02040503050406030204" pitchFamily="18" charset="0"/>
                              </a:rPr>
                            </m:ctrlPr>
                          </m:funcPr>
                          <m:fName>
                            <m:r>
                              <m:rPr>
                                <m:sty m:val="p"/>
                              </m:rPr>
                              <a:rPr lang="zh-CN" altLang="en-US" smtClean="0">
                                <a:latin typeface="Cambria Math" panose="02040503050406030204" pitchFamily="18" charset="0"/>
                              </a:rPr>
                              <m:t>log</m:t>
                            </m:r>
                          </m:fName>
                          <m:e>
                            <m:r>
                              <a:rPr lang="en-US" altLang="zh-CN" b="0" i="1" smtClean="0">
                                <a:latin typeface="Cambria Math" panose="02040503050406030204" pitchFamily="18" charset="0"/>
                              </a:rPr>
                              <m:t>𝑀</m:t>
                            </m:r>
                          </m:e>
                        </m:func>
                      </m:e>
                    </m:d>
                  </m:oMath>
                </a14:m>
                <a:r>
                  <a:rPr lang="zh-CN" altLang="en-US" dirty="0"/>
                  <a:t>＋</a:t>
                </a:r>
                <a:r>
                  <a:rPr lang="en-US" altLang="zh-CN" dirty="0"/>
                  <a:t>1 = 40</a:t>
                </a:r>
                <a:r>
                  <a:rPr lang="zh-CN" altLang="en-US" dirty="0"/>
                  <a:t>＋</a:t>
                </a:r>
                <a:r>
                  <a:rPr lang="en-US" altLang="zh-CN" dirty="0"/>
                  <a:t>1 = 41</a:t>
                </a:r>
                <a:r>
                  <a:rPr lang="zh-CN" altLang="en-US" dirty="0"/>
                  <a:t>，需要传输的</a:t>
                </a:r>
                <a:r>
                  <a:rPr lang="en-US" altLang="zh-CN" dirty="0"/>
                  <a:t>x</a:t>
                </a:r>
                <a:r>
                  <a:rPr lang="zh-CN" altLang="en-US" dirty="0"/>
                  <a:t>的指纹位数最多是</a:t>
                </a:r>
                <a14:m>
                  <m:oMath xmlns:m="http://schemas.openxmlformats.org/officeDocument/2006/math">
                    <m:d>
                      <m:dPr>
                        <m:begChr m:val="⌊"/>
                        <m:endChr m:val="⌋"/>
                        <m:ctrlPr>
                          <a:rPr lang="zh-CN" altLang="en-US" i="1">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a:latin typeface="Cambria Math" panose="02040503050406030204" pitchFamily="18" charset="0"/>
                              </a:rPr>
                              <m:t>log</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−1)</m:t>
                            </m:r>
                          </m:e>
                        </m:func>
                      </m:e>
                    </m:d>
                    <m:r>
                      <a:rPr lang="en-US" altLang="zh-CN" b="0" i="1" smtClean="0">
                        <a:latin typeface="Cambria Math" panose="02040503050406030204" pitchFamily="18" charset="0"/>
                      </a:rPr>
                      <m:t>+</m:t>
                    </m:r>
                  </m:oMath>
                </a14:m>
                <a:r>
                  <a:rPr lang="en-US" altLang="zh-CN" dirty="0"/>
                  <a:t>1≤</a:t>
                </a:r>
                <a:r>
                  <a:rPr lang="zh-CN" altLang="en-US" dirty="0"/>
                  <a:t> </a:t>
                </a:r>
                <a14:m>
                  <m:oMath xmlns:m="http://schemas.openxmlformats.org/officeDocument/2006/math">
                    <m:d>
                      <m:dPr>
                        <m:begChr m:val="⌊"/>
                        <m:endChr m:val="⌋"/>
                        <m:ctrlPr>
                          <a:rPr lang="zh-CN" altLang="en-US" i="1">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a:latin typeface="Cambria Math" panose="02040503050406030204" pitchFamily="18" charset="0"/>
                              </a:rPr>
                              <m:t>log</m:t>
                            </m:r>
                          </m:fName>
                          <m:e>
                            <m:r>
                              <a:rPr lang="en-US" altLang="zh-CN" b="0" i="1" smtClean="0">
                                <a:latin typeface="Cambria Math" panose="02040503050406030204" pitchFamily="18" charset="0"/>
                              </a:rPr>
                              <m:t>𝑀</m:t>
                            </m:r>
                          </m:e>
                        </m:func>
                      </m:e>
                    </m:d>
                    <m:r>
                      <a:rPr lang="en-US" altLang="zh-CN" b="0" i="1" smtClean="0">
                        <a:latin typeface="Cambria Math" panose="02040503050406030204" pitchFamily="18" charset="0"/>
                      </a:rPr>
                      <m:t>+</m:t>
                    </m:r>
                  </m:oMath>
                </a14:m>
                <a:r>
                  <a:rPr lang="en-US" altLang="zh-CN" dirty="0"/>
                  <a:t>1 = 41</a:t>
                </a:r>
                <a:r>
                  <a:rPr lang="zh-CN" altLang="en-US" dirty="0"/>
                  <a:t>。这样，传输比特总数最多是</a:t>
                </a:r>
                <a:r>
                  <a:rPr lang="en-US" altLang="zh-CN" dirty="0"/>
                  <a:t>82</a:t>
                </a:r>
                <a:r>
                  <a:rPr lang="zh-CN" altLang="en-US" dirty="0"/>
                  <a:t>。</a:t>
                </a:r>
                <a:endParaRPr lang="en-US" altLang="zh-CN" dirty="0"/>
              </a:p>
              <a:p>
                <a:r>
                  <a:rPr lang="zh-CN" altLang="en-US" dirty="0"/>
                  <a:t>一次传输失败的概率最多是</a:t>
                </a:r>
                <a:r>
                  <a:rPr lang="en-US" altLang="zh-CN" dirty="0"/>
                  <a:t>1/n = 1 000 000</a:t>
                </a:r>
                <a:r>
                  <a:rPr lang="zh-CN" altLang="en-US" dirty="0"/>
                  <a:t>。因为</a:t>
                </a:r>
                <a14:m>
                  <m:oMath xmlns:m="http://schemas.openxmlformats.org/officeDocument/2006/math">
                    <m:d>
                      <m:dPr>
                        <m:begChr m:val="⌈"/>
                        <m:endChr m:val="⌉"/>
                        <m:ctrlPr>
                          <a:rPr lang="zh-CN" altLang="en-US" i="1" smtClean="0">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i="1">
                                <a:latin typeface="Cambria Math" panose="02040503050406030204" pitchFamily="18" charset="0"/>
                              </a:rPr>
                              <m:t>log</m:t>
                            </m:r>
                            <m:r>
                              <a:rPr lang="en-US" altLang="zh-CN" b="0" i="1" smtClean="0">
                                <a:latin typeface="Cambria Math" panose="02040503050406030204" pitchFamily="18" charset="0"/>
                              </a:rPr>
                              <m:t> </m:t>
                            </m:r>
                            <m:r>
                              <m:rPr>
                                <m:sty m:val="p"/>
                              </m:rPr>
                              <a:rPr lang="zh-CN" altLang="en-US" i="1">
                                <a:latin typeface="Cambria Math" panose="02040503050406030204" pitchFamily="18" charset="0"/>
                              </a:rPr>
                              <m:t>log</m:t>
                            </m:r>
                          </m:fName>
                          <m:e>
                            <m:r>
                              <a:rPr lang="zh-CN" altLang="en-US" i="1">
                                <a:latin typeface="Cambria Math" panose="02040503050406030204" pitchFamily="18" charset="0"/>
                              </a:rPr>
                              <m:t>𝑛</m:t>
                            </m:r>
                          </m:e>
                        </m:func>
                      </m:e>
                    </m:d>
                  </m:oMath>
                </a14:m>
                <a:r>
                  <a:rPr lang="en-US" altLang="zh-CN" dirty="0"/>
                  <a:t>= 5</a:t>
                </a:r>
                <a:r>
                  <a:rPr lang="zh-CN" altLang="en-US" dirty="0"/>
                  <a:t>，重复算法</a:t>
                </a:r>
                <a:r>
                  <a:rPr lang="en-US" altLang="zh-CN" dirty="0"/>
                  <a:t>5</a:t>
                </a:r>
                <a:r>
                  <a:rPr lang="zh-CN" altLang="en-US" dirty="0"/>
                  <a:t>次将假匹配的概率减小到</a:t>
                </a:r>
                <a14:m>
                  <m:oMath xmlns:m="http://schemas.openxmlformats.org/officeDocument/2006/math">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𝑛</m:t>
                        </m:r>
                      </m:e>
                      <m:sup>
                        <m:r>
                          <a:rPr lang="en-US" altLang="zh-CN" i="0" smtClean="0">
                            <a:latin typeface="Cambria Math" panose="02040503050406030204" pitchFamily="18" charset="0"/>
                          </a:rPr>
                          <m:t>−</m:t>
                        </m:r>
                        <m:d>
                          <m:dPr>
                            <m:begChr m:val="⌈"/>
                            <m:endChr m:val="⌉"/>
                            <m:ctrlPr>
                              <a:rPr lang="zh-CN" altLang="en-US" i="1">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i="1">
                                    <a:latin typeface="Cambria Math" panose="02040503050406030204" pitchFamily="18" charset="0"/>
                                  </a:rPr>
                                  <m:t>loglog</m:t>
                                </m:r>
                              </m:fName>
                              <m:e>
                                <m:r>
                                  <a:rPr lang="zh-CN" altLang="en-US" i="1">
                                    <a:latin typeface="Cambria Math" panose="02040503050406030204" pitchFamily="18" charset="0"/>
                                  </a:rPr>
                                  <m:t>𝑛</m:t>
                                </m:r>
                              </m:e>
                            </m:func>
                          </m:e>
                        </m:d>
                      </m:sup>
                    </m:sSup>
                  </m:oMath>
                </a14:m>
                <a:r>
                  <a:rPr lang="en-US" altLang="zh-CN" dirty="0"/>
                  <a:t>= </a:t>
                </a:r>
                <a14:m>
                  <m:oMath xmlns:m="http://schemas.openxmlformats.org/officeDocument/2006/math">
                    <m:sSup>
                      <m:sSupPr>
                        <m:ctrlPr>
                          <a:rPr lang="en-US" altLang="zh-CN" i="1" dirty="0" smtClean="0">
                            <a:latin typeface="Cambria Math" panose="02040503050406030204" pitchFamily="18" charset="0"/>
                          </a:rPr>
                        </m:ctrlPr>
                      </m:sSupPr>
                      <m:e>
                        <m:r>
                          <a:rPr lang="en-US" altLang="zh-CN" b="0" i="0"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dirty="0">
                                <a:latin typeface="Cambria Math" panose="02040503050406030204" pitchFamily="18" charset="0"/>
                              </a:rPr>
                              <m:t>10</m:t>
                            </m:r>
                          </m:e>
                          <m:sup>
                            <m:r>
                              <a:rPr lang="en-US" altLang="zh-CN" b="0" i="0" dirty="0" smtClean="0">
                                <a:latin typeface="Cambria Math" panose="02040503050406030204" pitchFamily="18" charset="0"/>
                              </a:rPr>
                              <m:t>6</m:t>
                            </m:r>
                          </m:sup>
                        </m:sSup>
                        <m:r>
                          <a:rPr lang="en-US" altLang="zh-CN" b="0" i="1" dirty="0" smtClean="0">
                            <a:latin typeface="Cambria Math" panose="02040503050406030204" pitchFamily="18" charset="0"/>
                          </a:rPr>
                          <m:t>)</m:t>
                        </m:r>
                      </m:e>
                      <m:sup>
                        <m:r>
                          <a:rPr lang="en-US" altLang="zh-CN" i="0" dirty="0">
                            <a:latin typeface="Cambria Math" panose="02040503050406030204" pitchFamily="18" charset="0"/>
                          </a:rPr>
                          <m:t>−</m:t>
                        </m:r>
                        <m:r>
                          <a:rPr lang="en-US" altLang="zh-CN" b="0" i="1" dirty="0" smtClean="0">
                            <a:latin typeface="Cambria Math" panose="02040503050406030204" pitchFamily="18" charset="0"/>
                          </a:rPr>
                          <m:t>5</m:t>
                        </m:r>
                      </m:sup>
                    </m:sSup>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dirty="0">
                            <a:latin typeface="Cambria Math" panose="02040503050406030204" pitchFamily="18" charset="0"/>
                          </a:rPr>
                          <m:t>10</m:t>
                        </m:r>
                      </m:e>
                      <m:sup>
                        <m:r>
                          <a:rPr lang="en-US" altLang="zh-CN" b="0" i="0" dirty="0" smtClean="0">
                            <a:latin typeface="Cambria Math" panose="02040503050406030204" pitchFamily="18" charset="0"/>
                          </a:rPr>
                          <m:t>−30</m:t>
                        </m:r>
                      </m:sup>
                    </m:sSup>
                    <m:r>
                      <a:rPr lang="en-US" altLang="zh-CN" i="1" dirty="0">
                        <a:latin typeface="Cambria Math" panose="02040503050406030204" pitchFamily="18" charset="0"/>
                      </a:rPr>
                      <m:t> </m:t>
                    </m:r>
                  </m:oMath>
                </a14:m>
                <a:r>
                  <a:rPr lang="zh-CN" altLang="en-US" dirty="0"/>
                  <a:t>，它是很少的了。</a:t>
                </a:r>
                <a:endParaRPr lang="en-US" altLang="zh-CN" dirty="0"/>
              </a:p>
            </p:txBody>
          </p:sp>
        </mc:Choice>
        <mc:Fallback xmlns="">
          <p:sp>
            <p:nvSpPr>
              <p:cNvPr id="7" name="文本占位符 3"/>
              <p:cNvSpPr>
                <a:spLocks noGrp="1" noRot="1" noChangeAspect="1" noMove="1" noResize="1" noEditPoints="1" noAdjustHandles="1" noChangeArrowheads="1" noChangeShapeType="1" noTextEdit="1"/>
              </p:cNvSpPr>
              <p:nvPr>
                <p:ph type="body" sz="half" idx="1"/>
              </p:nvPr>
            </p:nvSpPr>
            <p:spPr>
              <a:xfrm>
                <a:off x="879475" y="1211263"/>
                <a:ext cx="7869238" cy="4525962"/>
              </a:xfrm>
              <a:blipFill>
                <a:blip r:embed="rId3"/>
                <a:stretch>
                  <a:fillRect l="-1084" t="-13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74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10.2.3 </a:t>
            </a:r>
            <a:r>
              <a:rPr lang="zh-CN" altLang="en-US" dirty="0"/>
              <a:t>模式匹配</a:t>
            </a:r>
            <a:endParaRPr lang="en-US" altLang="zh-CN" dirty="0"/>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798340" y="1164590"/>
                <a:ext cx="7950373" cy="4525962"/>
              </a:xfrm>
            </p:spPr>
            <p:txBody>
              <a:bodyPr/>
              <a:lstStyle/>
              <a:p>
                <a:pPr marL="0" indent="0" eaLnBrk="1" hangingPunct="1">
                  <a:buNone/>
                </a:pPr>
                <a:r>
                  <a:rPr lang="en-US" altLang="zh-CN" sz="2400" dirty="0"/>
                  <a:t>1) </a:t>
                </a:r>
                <a:r>
                  <a:rPr lang="zh-CN" altLang="en-US" sz="2400" dirty="0"/>
                  <a:t>问题描述</a:t>
                </a:r>
                <a:endParaRPr lang="en-US" altLang="zh-CN" sz="2400" dirty="0"/>
              </a:p>
              <a:p>
                <a:pPr marL="540000" indent="-180000" algn="just" eaLnBrk="1" hangingPunct="1"/>
                <a:r>
                  <a:rPr lang="zh-CN" altLang="en-US" sz="2200" dirty="0"/>
                  <a:t>给出一个文本串</a:t>
                </a:r>
                <a14:m>
                  <m:oMath xmlns:m="http://schemas.openxmlformats.org/officeDocument/2006/math">
                    <m:r>
                      <a:rPr lang="en-US" altLang="zh-CN" sz="2200" b="0" i="1" smtClean="0">
                        <a:latin typeface="Cambria Math" panose="02040503050406030204" pitchFamily="18" charset="0"/>
                      </a:rPr>
                      <m:t>𝑋</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1</m:t>
                        </m:r>
                      </m:sub>
                    </m:sSub>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2</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𝑛</m:t>
                        </m:r>
                      </m:sub>
                    </m:sSub>
                    <m:r>
                      <a:rPr lang="zh-CN" altLang="en-US" sz="2200" i="1">
                        <a:latin typeface="Cambria Math" panose="02040503050406030204" pitchFamily="18" charset="0"/>
                      </a:rPr>
                      <m:t>和</m:t>
                    </m:r>
                    <m:r>
                      <a:rPr lang="zh-CN" altLang="en-US" sz="2200" i="1" smtClean="0">
                        <a:latin typeface="Cambria Math" panose="02040503050406030204" pitchFamily="18" charset="0"/>
                      </a:rPr>
                      <m:t>模式</m:t>
                    </m:r>
                    <m:r>
                      <a:rPr lang="en-US" altLang="zh-CN" sz="2200" b="0" i="1" smtClean="0">
                        <a:latin typeface="Cambria Math" panose="02040503050406030204" pitchFamily="18" charset="0"/>
                      </a:rPr>
                      <m:t>𝑌</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m:rPr>
                            <m:sty m:val="p"/>
                          </m:rPr>
                          <a:rPr lang="en-US" altLang="zh-CN" sz="2200" i="1">
                            <a:latin typeface="Cambria Math" panose="02040503050406030204" pitchFamily="18" charset="0"/>
                          </a:rPr>
                          <m:t>y</m:t>
                        </m:r>
                      </m:e>
                      <m:sub>
                        <m:r>
                          <a:rPr lang="en-US" altLang="zh-CN" sz="2200" b="0" i="1" smtClean="0">
                            <a:latin typeface="Cambria Math" panose="02040503050406030204" pitchFamily="18" charset="0"/>
                          </a:rPr>
                          <m:t>1</m:t>
                        </m:r>
                      </m:sub>
                    </m:sSub>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𝑦</m:t>
                        </m:r>
                      </m:e>
                      <m:sub>
                        <m:r>
                          <a:rPr lang="en-US" altLang="zh-CN" sz="2200" b="0" i="1" smtClean="0">
                            <a:latin typeface="Cambria Math" panose="02040503050406030204" pitchFamily="18" charset="0"/>
                          </a:rPr>
                          <m:t>2</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𝑦</m:t>
                        </m:r>
                      </m:e>
                      <m:sub>
                        <m:r>
                          <a:rPr lang="en-US" altLang="zh-CN" sz="2200" b="0" i="1" smtClean="0">
                            <a:latin typeface="Cambria Math" panose="02040503050406030204" pitchFamily="18" charset="0"/>
                          </a:rPr>
                          <m:t>𝑚</m:t>
                        </m:r>
                      </m:sub>
                    </m:sSub>
                  </m:oMath>
                </a14:m>
                <a:r>
                  <a:rPr lang="en-US" altLang="zh-CN" sz="2200" dirty="0"/>
                  <a:t>,</a:t>
                </a:r>
                <a:r>
                  <a:rPr lang="zh-CN" altLang="en-US" sz="2200" dirty="0"/>
                  <a:t>其中</a:t>
                </a:r>
                <a14:m>
                  <m:oMath xmlns:m="http://schemas.openxmlformats.org/officeDocument/2006/math">
                    <m:r>
                      <m:rPr>
                        <m:sty m:val="p"/>
                      </m:rPr>
                      <a:rPr lang="en-US" altLang="zh-CN" sz="2200" i="1" dirty="0" smtClean="0">
                        <a:latin typeface="Cambria Math" panose="02040503050406030204" pitchFamily="18" charset="0"/>
                      </a:rPr>
                      <m:t>m</m:t>
                    </m:r>
                    <m:r>
                      <a:rPr lang="en-US" altLang="zh-CN" sz="2200" b="0" i="1" dirty="0" smtClean="0">
                        <a:latin typeface="Cambria Math" panose="02040503050406030204" pitchFamily="18" charset="0"/>
                        <a:ea typeface="Cambria Math" panose="02040503050406030204" pitchFamily="18" charset="0"/>
                      </a:rPr>
                      <m:t>≤</m:t>
                    </m:r>
                    <m:r>
                      <a:rPr lang="en-US" altLang="zh-CN" sz="2200" b="0" i="1" dirty="0" smtClean="0">
                        <a:latin typeface="Cambria Math" panose="02040503050406030204" pitchFamily="18" charset="0"/>
                        <a:ea typeface="Cambria Math" panose="02040503050406030204" pitchFamily="18" charset="0"/>
                      </a:rPr>
                      <m:t>𝑛</m:t>
                    </m:r>
                    <m:r>
                      <a:rPr lang="zh-CN" altLang="en-US" sz="2200" i="1" dirty="0">
                        <a:latin typeface="Cambria Math" panose="02040503050406030204" pitchFamily="18" charset="0"/>
                        <a:ea typeface="Cambria Math" panose="02040503050406030204" pitchFamily="18" charset="0"/>
                      </a:rPr>
                      <m:t>。</m:t>
                    </m:r>
                  </m:oMath>
                </a14:m>
                <a:r>
                  <a:rPr lang="zh-CN" altLang="en-US" sz="2200" dirty="0"/>
                  <a:t>不失一般性，假定文本字母表是</a:t>
                </a:r>
                <a14:m>
                  <m:oMath xmlns:m="http://schemas.openxmlformats.org/officeDocument/2006/math">
                    <m:nary>
                      <m:naryPr>
                        <m:chr m:val="∑"/>
                        <m:subHide m:val="on"/>
                        <m:supHide m:val="on"/>
                        <m:ctrlPr>
                          <a:rPr lang="en-US" altLang="zh-CN" sz="2200" b="0" i="1" dirty="0" smtClean="0">
                            <a:latin typeface="Cambria Math" panose="02040503050406030204" pitchFamily="18" charset="0"/>
                            <a:ea typeface="Cambria Math" panose="02040503050406030204" pitchFamily="18" charset="0"/>
                          </a:rPr>
                        </m:ctrlPr>
                      </m:naryPr>
                      <m:sub/>
                      <m:sup/>
                      <m:e>
                        <m:r>
                          <a:rPr lang="en-US" altLang="zh-CN" sz="2200" b="0" i="1" dirty="0" smtClean="0">
                            <a:latin typeface="Cambria Math" panose="02040503050406030204" pitchFamily="18" charset="0"/>
                            <a:ea typeface="Cambria Math" panose="02040503050406030204" pitchFamily="18" charset="0"/>
                          </a:rPr>
                          <m:t>={0</m:t>
                        </m:r>
                        <m:r>
                          <a:rPr lang="zh-CN" altLang="en-US" sz="2200" i="1" dirty="0">
                            <a:latin typeface="Cambria Math" panose="02040503050406030204" pitchFamily="18" charset="0"/>
                            <a:ea typeface="Cambria Math" panose="02040503050406030204" pitchFamily="18" charset="0"/>
                          </a:rPr>
                          <m:t>，</m:t>
                        </m:r>
                        <m:r>
                          <a:rPr lang="en-US" altLang="zh-CN" sz="2200" b="0" i="1" dirty="0" smtClean="0">
                            <a:latin typeface="Cambria Math" panose="02040503050406030204" pitchFamily="18" charset="0"/>
                            <a:ea typeface="Cambria Math" panose="02040503050406030204" pitchFamily="18" charset="0"/>
                          </a:rPr>
                          <m:t>1}</m:t>
                        </m:r>
                      </m:e>
                    </m:nary>
                    <m:r>
                      <a:rPr lang="zh-CN" altLang="en-US" sz="2200" i="1" dirty="0">
                        <a:latin typeface="Cambria Math" panose="02040503050406030204" pitchFamily="18" charset="0"/>
                        <a:ea typeface="Cambria Math" panose="02040503050406030204" pitchFamily="18" charset="0"/>
                      </a:rPr>
                      <m:t>。</m:t>
                    </m:r>
                  </m:oMath>
                </a14:m>
                <a:endParaRPr lang="en-US" altLang="zh-CN" sz="2200" dirty="0"/>
              </a:p>
              <a:p>
                <a:pPr marL="540000" indent="-180000" algn="just" eaLnBrk="1" hangingPunct="1"/>
                <a:r>
                  <a:rPr lang="zh-CN" altLang="en-US" sz="2200" dirty="0"/>
                  <a:t>确定该 模式</a:t>
                </a:r>
                <a:r>
                  <a:rPr lang="en-US" altLang="zh-CN" sz="2200" dirty="0"/>
                  <a:t>Y </a:t>
                </a:r>
                <a:r>
                  <a:rPr lang="zh-CN" altLang="en-US" sz="2200" dirty="0"/>
                  <a:t>是否出现在 文本串</a:t>
                </a:r>
                <a:r>
                  <a:rPr lang="en-US" altLang="zh-CN" sz="2200" dirty="0"/>
                  <a:t>X </a:t>
                </a:r>
                <a:r>
                  <a:rPr lang="zh-CN" altLang="en-US" sz="2200" dirty="0"/>
                  <a:t>中。</a:t>
                </a:r>
                <a:endParaRPr lang="en-US" altLang="zh-CN" sz="2200" dirty="0"/>
              </a:p>
              <a:p>
                <a:pPr marL="0" indent="0" eaLnBrk="1" hangingPunct="1">
                  <a:buNone/>
                </a:pPr>
                <a:r>
                  <a:rPr lang="en-US" altLang="zh-CN" sz="2400" dirty="0"/>
                  <a:t>2) </a:t>
                </a:r>
                <a:r>
                  <a:rPr lang="zh-CN" altLang="en-US" sz="2400" dirty="0"/>
                  <a:t>直接方法</a:t>
                </a:r>
                <a:endParaRPr lang="en-US" altLang="zh-CN" sz="2400" dirty="0"/>
              </a:p>
              <a:p>
                <a:pPr marL="540000" indent="-180000" algn="just" eaLnBrk="1" hangingPunct="1"/>
                <a:r>
                  <a:rPr lang="zh-CN" altLang="en-US" sz="2200" dirty="0"/>
                  <a:t>简单地移动模式经过整个文本，在每个位置将长度为</a:t>
                </a:r>
                <a:r>
                  <a:rPr lang="en-US" altLang="zh-CN" sz="2200" dirty="0"/>
                  <a:t>m</a:t>
                </a:r>
                <a:r>
                  <a:rPr lang="zh-CN" altLang="en-US" sz="2200" dirty="0"/>
                  <a:t>的部分文本串和模式作比较。</a:t>
                </a:r>
                <a:endParaRPr lang="en-US" altLang="zh-CN" sz="2200" dirty="0"/>
              </a:p>
              <a:p>
                <a:pPr marL="540000" indent="-180000" algn="just" eaLnBrk="1" hangingPunct="1"/>
                <a:r>
                  <a:rPr lang="zh-CN" altLang="en-US" sz="2200" dirty="0"/>
                  <a:t>最坏情况下，每次移动比较</a:t>
                </a:r>
                <a:r>
                  <a:rPr lang="en-US" altLang="zh-CN" sz="2200" dirty="0"/>
                  <a:t>m</a:t>
                </a:r>
                <a:r>
                  <a:rPr lang="zh-CN" altLang="en-US" sz="2200" dirty="0"/>
                  <a:t>次，需移动</a:t>
                </a:r>
                <a:r>
                  <a:rPr lang="en-US" altLang="zh-CN" sz="2200" dirty="0"/>
                  <a:t>( n-m+1 )</a:t>
                </a:r>
                <a:r>
                  <a:rPr lang="zh-CN" altLang="en-US" sz="2200" dirty="0"/>
                  <a:t>次，运行时间是</a:t>
                </a:r>
                <a14:m>
                  <m:oMath xmlns:m="http://schemas.openxmlformats.org/officeDocument/2006/math">
                    <m:r>
                      <a:rPr lang="en-US" altLang="zh-CN" sz="2200" dirty="0">
                        <a:latin typeface="Cambria Math" panose="02040503050406030204" pitchFamily="18" charset="0"/>
                      </a:rPr>
                      <m:t>𝑂</m:t>
                    </m:r>
                    <m:r>
                      <a:rPr lang="en-US" altLang="zh-CN" sz="2200" dirty="0">
                        <a:latin typeface="Cambria Math" panose="02040503050406030204" pitchFamily="18" charset="0"/>
                      </a:rPr>
                      <m:t>(</m:t>
                    </m:r>
                    <m:r>
                      <a:rPr lang="en-US" altLang="zh-CN" sz="2200" dirty="0">
                        <a:latin typeface="Cambria Math" panose="02040503050406030204" pitchFamily="18" charset="0"/>
                      </a:rPr>
                      <m:t>𝑛𝑚</m:t>
                    </m:r>
                    <m:r>
                      <a:rPr lang="en-US" altLang="zh-CN" sz="2200" dirty="0">
                        <a:latin typeface="Cambria Math" panose="02040503050406030204" pitchFamily="18" charset="0"/>
                      </a:rPr>
                      <m:t>)</m:t>
                    </m:r>
                  </m:oMath>
                </a14:m>
                <a:r>
                  <a:rPr lang="zh-CN" altLang="en-US" sz="2200" dirty="0"/>
                  <a:t>。</a:t>
                </a:r>
                <a:endParaRPr lang="en-US" altLang="zh-CN" sz="2200" dirty="0"/>
              </a:p>
              <a:p>
                <a:pPr marL="0" indent="0" eaLnBrk="1" hangingPunct="1">
                  <a:buNone/>
                </a:pPr>
                <a:r>
                  <a:rPr lang="en-US" altLang="zh-CN" sz="2400" dirty="0"/>
                  <a:t>3</a:t>
                </a:r>
                <a:r>
                  <a:rPr lang="zh-CN" altLang="en-US" sz="2400" dirty="0"/>
                  <a:t>）基于随机算法的模式匹配</a:t>
                </a:r>
                <a:endParaRPr lang="en-US" altLang="zh-CN" sz="2400" dirty="0"/>
              </a:p>
              <a:p>
                <a:pPr marL="540000" indent="-180000" algn="just" eaLnBrk="1" hangingPunct="1"/>
                <a:r>
                  <a:rPr lang="zh-CN" altLang="en-US" sz="2200" dirty="0"/>
                  <a:t>介绍一种简单有效且运行时间能够达到</a:t>
                </a:r>
                <a14:m>
                  <m:oMath xmlns:m="http://schemas.openxmlformats.org/officeDocument/2006/math">
                    <m:r>
                      <a:rPr lang="en-US" altLang="zh-CN" sz="2200" dirty="0">
                        <a:latin typeface="Cambria Math" panose="02040503050406030204" pitchFamily="18" charset="0"/>
                      </a:rPr>
                      <m:t>𝑂</m:t>
                    </m:r>
                    <m:r>
                      <a:rPr lang="en-US" altLang="zh-CN" sz="2200" dirty="0">
                        <a:latin typeface="Cambria Math" panose="02040503050406030204" pitchFamily="18" charset="0"/>
                      </a:rPr>
                      <m:t>(</m:t>
                    </m:r>
                    <m:r>
                      <a:rPr lang="en-US" altLang="zh-CN" sz="2200" dirty="0">
                        <a:latin typeface="Cambria Math" panose="02040503050406030204" pitchFamily="18" charset="0"/>
                      </a:rPr>
                      <m:t>𝑛</m:t>
                    </m:r>
                    <m:r>
                      <a:rPr lang="en-US" altLang="zh-CN" sz="2200" dirty="0">
                        <a:latin typeface="Cambria Math" panose="02040503050406030204" pitchFamily="18" charset="0"/>
                      </a:rPr>
                      <m:t>+</m:t>
                    </m:r>
                    <m:r>
                      <a:rPr lang="en-US" altLang="zh-CN" sz="2200" dirty="0">
                        <a:latin typeface="Cambria Math" panose="02040503050406030204" pitchFamily="18" charset="0"/>
                      </a:rPr>
                      <m:t>𝑚</m:t>
                    </m:r>
                    <m:r>
                      <a:rPr lang="en-US" altLang="zh-CN" sz="2200" dirty="0">
                        <a:latin typeface="Cambria Math" panose="02040503050406030204" pitchFamily="18" charset="0"/>
                      </a:rPr>
                      <m:t>)</m:t>
                    </m:r>
                  </m:oMath>
                </a14:m>
                <a:r>
                  <a:rPr lang="zh-CN" altLang="en-US" sz="2200" dirty="0"/>
                  <a:t>的蒙特卡罗算法，即一定有解，但可能是错解。稍后会计算错误率。</a:t>
                </a:r>
                <a:endParaRPr lang="en-US" altLang="zh-CN" sz="2200" dirty="0"/>
              </a:p>
              <a:p>
                <a:pPr eaLnBrk="1" hangingPunct="1"/>
                <a:endParaRPr lang="en-US" altLang="zh-CN" sz="2000" dirty="0"/>
              </a:p>
              <a:p>
                <a:pPr marL="0" indent="0" eaLnBrk="1" hangingPunct="1">
                  <a:buNone/>
                </a:pPr>
                <a:endParaRPr lang="en-US" altLang="zh-CN" sz="2000" dirty="0"/>
              </a:p>
              <a:p>
                <a:pPr marL="0" indent="0" eaLnBrk="1" hangingPunct="1">
                  <a:buNone/>
                </a:pPr>
                <a:endParaRPr lang="en-US" altLang="zh-CN" sz="2000" dirty="0"/>
              </a:p>
              <a:p>
                <a:pPr marL="0" indent="0" eaLnBrk="1" hangingPunct="1">
                  <a:buNone/>
                </a:pPr>
                <a:endParaRPr lang="en-US" altLang="zh-CN" sz="2000" dirty="0"/>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798340" y="1164590"/>
                <a:ext cx="7950373" cy="4525962"/>
              </a:xfrm>
              <a:blipFill>
                <a:blip r:embed="rId2"/>
                <a:stretch>
                  <a:fillRect l="-1227" t="-1213" r="-4448" b="-66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6857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10.2.3 </a:t>
            </a:r>
            <a:r>
              <a:rPr lang="zh-CN" altLang="en-US" dirty="0"/>
              <a:t>模式匹配</a:t>
            </a:r>
            <a:endParaRPr lang="en-US" altLang="zh-CN" dirty="0"/>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994372" y="1268760"/>
                <a:ext cx="7639443" cy="4525962"/>
              </a:xfrm>
            </p:spPr>
            <p:txBody>
              <a:bodyPr/>
              <a:lstStyle/>
              <a:p>
                <a:pPr marL="0" indent="0" eaLnBrk="1" hangingPunct="1">
                  <a:buNone/>
                </a:pPr>
                <a:r>
                  <a:rPr lang="en-US" altLang="zh-CN" dirty="0"/>
                  <a:t>1</a:t>
                </a:r>
                <a:r>
                  <a:rPr lang="zh-CN" altLang="en-US" sz="2400" dirty="0"/>
                  <a:t>）随机算法与直接方法相比</a:t>
                </a:r>
                <a:endParaRPr lang="en-US" altLang="zh-CN" sz="2400" dirty="0"/>
              </a:p>
              <a:p>
                <a:pPr marL="540000" indent="-180000" algn="just" eaLnBrk="1" hangingPunct="1"/>
                <a:r>
                  <a:rPr lang="zh-CN" altLang="en-US" sz="2200" dirty="0"/>
                  <a:t>相同之处是按照同样的蛮力计算方法，把模式</a:t>
                </a:r>
                <a:r>
                  <a:rPr lang="en-US" altLang="zh-CN" sz="2200" dirty="0"/>
                  <a:t>Y</a:t>
                </a:r>
                <a:r>
                  <a:rPr lang="zh-CN" altLang="en-US" sz="2200" dirty="0"/>
                  <a:t>划过整个文本串</a:t>
                </a:r>
                <a:r>
                  <a:rPr lang="en-US" altLang="zh-CN" sz="2200" dirty="0"/>
                  <a:t>X</a:t>
                </a:r>
                <a:r>
                  <a:rPr lang="zh-CN" altLang="en-US" sz="2200" dirty="0"/>
                  <a:t>；</a:t>
                </a:r>
                <a:endParaRPr lang="en-US" altLang="zh-CN" sz="2200" dirty="0"/>
              </a:p>
              <a:p>
                <a:pPr marL="540000" indent="-180000" algn="just" eaLnBrk="1" hangingPunct="1"/>
                <a:r>
                  <a:rPr lang="zh-CN" altLang="en-US" sz="2200" dirty="0"/>
                  <a:t>不同之处是</a:t>
                </a:r>
                <a:r>
                  <a:rPr lang="zh-CN" altLang="en-US" sz="2200" dirty="0">
                    <a:solidFill>
                      <a:srgbClr val="333399"/>
                    </a:solidFill>
                  </a:rPr>
                  <a:t>直接方法比较</a:t>
                </a:r>
                <a:r>
                  <a:rPr lang="zh-CN" altLang="en-US" sz="2200" dirty="0"/>
                  <a:t>模式</a:t>
                </a:r>
                <a:r>
                  <a:rPr lang="en-US" altLang="zh-CN" sz="2200" dirty="0"/>
                  <a:t>Y</a:t>
                </a:r>
                <a:r>
                  <a:rPr lang="zh-CN" altLang="en-US" sz="2200" dirty="0"/>
                  <a:t>与</a:t>
                </a:r>
                <a14:m>
                  <m:oMath xmlns:m="http://schemas.openxmlformats.org/officeDocument/2006/math">
                    <m:r>
                      <a:rPr lang="en-US" altLang="zh-CN" sz="2200">
                        <a:latin typeface="Cambria Math" panose="02040503050406030204" pitchFamily="18" charset="0"/>
                      </a:rPr>
                      <m:t>𝑋</m:t>
                    </m:r>
                    <m:d>
                      <m:dPr>
                        <m:ctrlPr>
                          <a:rPr lang="en-US" altLang="zh-CN" sz="2200" i="1">
                            <a:latin typeface="Cambria Math" panose="02040503050406030204" pitchFamily="18" charset="0"/>
                          </a:rPr>
                        </m:ctrlPr>
                      </m:dPr>
                      <m:e>
                        <m:r>
                          <a:rPr lang="en-US" altLang="zh-CN" sz="2200">
                            <a:latin typeface="Cambria Math" panose="02040503050406030204" pitchFamily="18" charset="0"/>
                          </a:rPr>
                          <m:t>𝑗</m:t>
                        </m:r>
                      </m:e>
                    </m:d>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𝑥</m:t>
                        </m:r>
                      </m:e>
                      <m:sub>
                        <m:r>
                          <a:rPr lang="en-US" altLang="zh-CN" sz="2200">
                            <a:latin typeface="Cambria Math" panose="02040503050406030204" pitchFamily="18" charset="0"/>
                          </a:rPr>
                          <m:t>𝑗</m:t>
                        </m:r>
                      </m:sub>
                    </m:sSub>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𝑥</m:t>
                        </m:r>
                      </m:e>
                      <m:sub>
                        <m:r>
                          <a:rPr lang="en-US" altLang="zh-CN" sz="2200">
                            <a:latin typeface="Cambria Math" panose="02040503050406030204" pitchFamily="18" charset="0"/>
                          </a:rPr>
                          <m:t>𝑗</m:t>
                        </m:r>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𝑥</m:t>
                        </m:r>
                      </m:e>
                      <m:sub>
                        <m:r>
                          <a:rPr lang="en-US" altLang="zh-CN" sz="2200">
                            <a:latin typeface="Cambria Math" panose="02040503050406030204" pitchFamily="18" charset="0"/>
                          </a:rPr>
                          <m:t>𝑗</m:t>
                        </m:r>
                        <m:r>
                          <a:rPr lang="en-US" altLang="zh-CN" sz="2200">
                            <a:latin typeface="Cambria Math" panose="02040503050406030204" pitchFamily="18" charset="0"/>
                          </a:rPr>
                          <m:t>+</m:t>
                        </m:r>
                        <m:r>
                          <a:rPr lang="en-US" altLang="zh-CN" sz="2200">
                            <a:latin typeface="Cambria Math" panose="02040503050406030204" pitchFamily="18" charset="0"/>
                          </a:rPr>
                          <m:t>𝑚</m:t>
                        </m:r>
                        <m:r>
                          <a:rPr lang="en-US" altLang="zh-CN" sz="2200">
                            <a:latin typeface="Cambria Math" panose="02040503050406030204" pitchFamily="18" charset="0"/>
                          </a:rPr>
                          <m:t>−1</m:t>
                        </m:r>
                      </m:sub>
                    </m:sSub>
                  </m:oMath>
                </a14:m>
                <a:r>
                  <a:rPr lang="zh-CN" altLang="en-US" sz="2200" dirty="0"/>
                  <a:t>，随机算法比较模式指纹</a:t>
                </a:r>
                <a14:m>
                  <m:oMath xmlns:m="http://schemas.openxmlformats.org/officeDocument/2006/math">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𝐼</m:t>
                        </m:r>
                      </m:e>
                      <m:sub>
                        <m:r>
                          <a:rPr lang="en-US" altLang="zh-CN" sz="2200" b="0" i="1" smtClean="0">
                            <a:latin typeface="Cambria Math" panose="02040503050406030204" pitchFamily="18" charset="0"/>
                          </a:rPr>
                          <m:t>𝑝</m:t>
                        </m:r>
                      </m:sub>
                    </m:sSub>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𝑌</m:t>
                    </m:r>
                    <m:r>
                      <a:rPr lang="en-US" altLang="zh-CN" sz="2200" b="0" i="1" smtClean="0">
                        <a:latin typeface="Cambria Math" panose="02040503050406030204" pitchFamily="18" charset="0"/>
                      </a:rPr>
                      <m:t>)</m:t>
                    </m:r>
                    <m:r>
                      <a:rPr lang="zh-CN" altLang="en-US" sz="2200" i="1">
                        <a:latin typeface="Cambria Math" panose="02040503050406030204" pitchFamily="18" charset="0"/>
                      </a:rPr>
                      <m:t>和</m:t>
                    </m:r>
                  </m:oMath>
                </a14:m>
                <a:r>
                  <a:rPr lang="zh-CN" altLang="en-US" sz="2200" dirty="0"/>
                  <a:t>文本块指纹</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𝐼</m:t>
                        </m:r>
                      </m:e>
                      <m:sub>
                        <m:r>
                          <a:rPr lang="en-US" altLang="zh-CN" sz="2200" i="1">
                            <a:latin typeface="Cambria Math" panose="02040503050406030204" pitchFamily="18" charset="0"/>
                          </a:rPr>
                          <m:t>𝑝</m:t>
                        </m:r>
                      </m:sub>
                    </m:sSub>
                    <m:r>
                      <a:rPr lang="en-US" altLang="zh-CN" sz="2200" i="1">
                        <a:latin typeface="Cambria Math" panose="02040503050406030204" pitchFamily="18" charset="0"/>
                      </a:rPr>
                      <m:t>(</m:t>
                    </m:r>
                    <m:r>
                      <a:rPr lang="en-US" altLang="zh-CN" sz="2200" b="0" i="1" smtClean="0">
                        <a:latin typeface="Cambria Math" panose="02040503050406030204" pitchFamily="18" charset="0"/>
                      </a:rPr>
                      <m:t> </m:t>
                    </m:r>
                    <m:r>
                      <a:rPr lang="en-US" altLang="zh-CN" sz="2200" b="0" i="1" smtClean="0">
                        <a:latin typeface="Cambria Math" panose="02040503050406030204" pitchFamily="18" charset="0"/>
                      </a:rPr>
                      <m:t>𝑋</m:t>
                    </m:r>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𝑗</m:t>
                        </m:r>
                      </m:e>
                    </m:d>
                    <m:r>
                      <a:rPr lang="en-US" altLang="zh-CN" sz="2200" b="0" i="1" smtClean="0">
                        <a:latin typeface="Cambria Math" panose="02040503050406030204" pitchFamily="18" charset="0"/>
                      </a:rPr>
                      <m:t> </m:t>
                    </m:r>
                    <m:r>
                      <a:rPr lang="en-US" altLang="zh-CN" sz="2200" i="1">
                        <a:latin typeface="Cambria Math" panose="02040503050406030204" pitchFamily="18" charset="0"/>
                      </a:rPr>
                      <m:t>)</m:t>
                    </m:r>
                  </m:oMath>
                </a14:m>
                <a:r>
                  <a:rPr lang="en-US" altLang="zh-CN" sz="2200" dirty="0"/>
                  <a:t> </a:t>
                </a:r>
                <a:r>
                  <a:rPr lang="zh-CN" altLang="en-US" sz="2200" dirty="0"/>
                  <a:t>。</a:t>
                </a:r>
                <a:endParaRPr lang="en-US" altLang="zh-CN" sz="2200" dirty="0"/>
              </a:p>
              <a:p>
                <a:pPr marL="540000" indent="-180000" algn="just" eaLnBrk="1" hangingPunct="1"/>
                <a:endParaRPr lang="en-US" altLang="zh-CN" sz="2000" dirty="0"/>
              </a:p>
              <a:p>
                <a:pPr marL="0" indent="0" eaLnBrk="1" hangingPunct="1">
                  <a:buNone/>
                </a:pPr>
                <a:r>
                  <a:rPr lang="en-US" altLang="zh-CN" dirty="0"/>
                  <a:t>2</a:t>
                </a:r>
                <a:r>
                  <a:rPr lang="zh-CN" altLang="en-US" dirty="0"/>
                  <a:t>）</a:t>
                </a:r>
                <a:r>
                  <a:rPr lang="zh-CN" altLang="en-US" sz="2400" dirty="0"/>
                  <a:t>实践表明，文本块的指纹易于计算，新块</a:t>
                </a:r>
                <a14:m>
                  <m:oMath xmlns:m="http://schemas.openxmlformats.org/officeDocument/2006/math">
                    <m:r>
                      <a:rPr lang="en-US" altLang="zh-CN" sz="2400">
                        <a:latin typeface="Cambria Math" panose="02040503050406030204" pitchFamily="18" charset="0"/>
                      </a:rPr>
                      <m:t>𝑋</m:t>
                    </m:r>
                    <m:d>
                      <m:dPr>
                        <m:ctrlPr>
                          <a:rPr lang="en-US" altLang="zh-CN" sz="2400" i="1">
                            <a:latin typeface="Cambria Math" panose="02040503050406030204" pitchFamily="18" charset="0"/>
                          </a:rPr>
                        </m:ctrlPr>
                      </m:dPr>
                      <m:e>
                        <m:r>
                          <a:rPr lang="en-US" altLang="zh-CN" sz="2400">
                            <a:latin typeface="Cambria Math" panose="02040503050406030204" pitchFamily="18" charset="0"/>
                          </a:rPr>
                          <m:t>𝑗</m:t>
                        </m:r>
                        <m:r>
                          <a:rPr lang="en-US" altLang="zh-CN" sz="2400">
                            <a:latin typeface="Cambria Math" panose="02040503050406030204" pitchFamily="18" charset="0"/>
                          </a:rPr>
                          <m:t>+1</m:t>
                        </m:r>
                      </m:e>
                    </m:d>
                  </m:oMath>
                </a14:m>
                <a:r>
                  <a:rPr lang="zh-CN" altLang="en-US" sz="2400" dirty="0"/>
                  <a:t>的指纹可以从</a:t>
                </a:r>
                <a14:m>
                  <m:oMath xmlns:m="http://schemas.openxmlformats.org/officeDocument/2006/math">
                    <m:r>
                      <a:rPr lang="en-US" altLang="zh-CN" sz="2400">
                        <a:latin typeface="Cambria Math" panose="02040503050406030204" pitchFamily="18" charset="0"/>
                      </a:rPr>
                      <m:t>𝑋</m:t>
                    </m:r>
                    <m:d>
                      <m:dPr>
                        <m:ctrlPr>
                          <a:rPr lang="en-US" altLang="zh-CN" sz="2400" i="1">
                            <a:latin typeface="Cambria Math" panose="02040503050406030204" pitchFamily="18" charset="0"/>
                          </a:rPr>
                        </m:ctrlPr>
                      </m:dPr>
                      <m:e>
                        <m:r>
                          <a:rPr lang="en-US" altLang="zh-CN" sz="2400">
                            <a:latin typeface="Cambria Math" panose="02040503050406030204" pitchFamily="18" charset="0"/>
                          </a:rPr>
                          <m:t>𝑗</m:t>
                        </m:r>
                      </m:e>
                    </m:d>
                  </m:oMath>
                </a14:m>
                <a:r>
                  <a:rPr lang="zh-CN" altLang="en-US" sz="2400" dirty="0"/>
                  <a:t>的指纹计算出来。</a:t>
                </a:r>
                <a:endParaRPr lang="en-US" altLang="zh-CN" sz="2400" dirty="0"/>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994372" y="1268760"/>
                <a:ext cx="7639443" cy="4525962"/>
              </a:xfrm>
              <a:blipFill>
                <a:blip r:embed="rId2"/>
                <a:stretch>
                  <a:fillRect l="-1277" t="-1211" r="-47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3005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10.2.3 </a:t>
            </a:r>
            <a:r>
              <a:rPr lang="zh-CN" altLang="en-US" dirty="0"/>
              <a:t>模式匹配</a:t>
            </a:r>
            <a:endParaRPr lang="en-US" altLang="zh-CN"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590665E-4767-3255-316E-390EB4B552DC}"/>
                  </a:ext>
                </a:extLst>
              </p:cNvPr>
              <p:cNvSpPr txBox="1"/>
              <p:nvPr/>
            </p:nvSpPr>
            <p:spPr>
              <a:xfrm>
                <a:off x="1043608" y="1196975"/>
                <a:ext cx="8043737" cy="4896533"/>
              </a:xfrm>
              <a:prstGeom prst="rect">
                <a:avLst/>
              </a:prstGeom>
              <a:noFill/>
            </p:spPr>
            <p:txBody>
              <a:bodyPr wrap="square">
                <a:spAutoFit/>
              </a:bodyPr>
              <a:lstStyle/>
              <a:p>
                <a:pPr marL="0" indent="0" eaLnBrk="1" hangingPunct="1">
                  <a:buNone/>
                </a:pPr>
                <a:r>
                  <a:rPr lang="zh-CN" altLang="en-US" sz="2800" b="1" dirty="0">
                    <a:solidFill>
                      <a:schemeClr val="accent2"/>
                    </a:solidFill>
                    <a:latin typeface="+mn-lt"/>
                    <a:ea typeface="+mn-ea"/>
                  </a:rPr>
                  <a:t>指纹计算</a:t>
                </a:r>
                <a:endParaRPr lang="en-US" altLang="zh-CN" sz="2800" b="1" dirty="0">
                  <a:solidFill>
                    <a:schemeClr val="accent2"/>
                  </a:solidFill>
                  <a:latin typeface="+mn-lt"/>
                  <a:ea typeface="+mn-ea"/>
                </a:endParaRPr>
              </a:p>
              <a:p>
                <a:pPr marL="0" indent="0" eaLnBrk="1" hangingPunct="1">
                  <a:buNone/>
                </a:pPr>
                <a14:m>
                  <m:oMathPara xmlns:m="http://schemas.openxmlformats.org/officeDocument/2006/math">
                    <m:oMathParaPr>
                      <m:jc m:val="left"/>
                    </m:oMathParaPr>
                    <m:oMath xmlns:m="http://schemas.openxmlformats.org/officeDocument/2006/math">
                      <m:sSub>
                        <m:sSubPr>
                          <m:ctrlPr>
                            <a:rPr lang="en-US" altLang="zh-CN" sz="2400" i="1" smtClean="0">
                              <a:solidFill>
                                <a:srgbClr val="333399"/>
                              </a:solidFill>
                              <a:latin typeface="Cambria Math" panose="02040503050406030204" pitchFamily="18" charset="0"/>
                            </a:rPr>
                          </m:ctrlPr>
                        </m:sSubPr>
                        <m:e>
                          <m:r>
                            <a:rPr lang="en-US" altLang="zh-CN" sz="2400" b="0" i="1" smtClean="0">
                              <a:solidFill>
                                <a:srgbClr val="333399"/>
                              </a:solidFill>
                              <a:latin typeface="Cambria Math" panose="02040503050406030204" pitchFamily="18" charset="0"/>
                            </a:rPr>
                            <m:t>𝐼</m:t>
                          </m:r>
                        </m:e>
                        <m:sub>
                          <m:r>
                            <m:rPr>
                              <m:sty m:val="p"/>
                            </m:rPr>
                            <a:rPr lang="en-US" altLang="zh-CN" sz="2400" i="1">
                              <a:solidFill>
                                <a:srgbClr val="333399"/>
                              </a:solidFill>
                              <a:latin typeface="Cambria Math" panose="02040503050406030204" pitchFamily="18" charset="0"/>
                            </a:rPr>
                            <m:t>p</m:t>
                          </m:r>
                        </m:sub>
                      </m:sSub>
                      <m:d>
                        <m:dPr>
                          <m:ctrlPr>
                            <a:rPr lang="en-US" altLang="zh-CN" sz="2400" b="0" i="1" smtClean="0">
                              <a:solidFill>
                                <a:srgbClr val="333399"/>
                              </a:solidFill>
                              <a:latin typeface="Cambria Math" panose="02040503050406030204" pitchFamily="18" charset="0"/>
                            </a:rPr>
                          </m:ctrlPr>
                        </m:dPr>
                        <m:e>
                          <m:r>
                            <a:rPr lang="en-US" altLang="zh-CN" sz="2400" b="0" i="1" smtClean="0">
                              <a:solidFill>
                                <a:srgbClr val="333399"/>
                              </a:solidFill>
                              <a:latin typeface="Cambria Math" panose="02040503050406030204" pitchFamily="18" charset="0"/>
                            </a:rPr>
                            <m:t> </m:t>
                          </m:r>
                          <m:r>
                            <a:rPr lang="en-US" altLang="zh-CN" sz="2400" b="0" i="1" smtClean="0">
                              <a:solidFill>
                                <a:srgbClr val="333399"/>
                              </a:solidFill>
                              <a:latin typeface="Cambria Math" panose="02040503050406030204" pitchFamily="18" charset="0"/>
                            </a:rPr>
                            <m:t>𝑋</m:t>
                          </m:r>
                          <m:d>
                            <m:dPr>
                              <m:ctrlPr>
                                <a:rPr lang="en-US" altLang="zh-CN" sz="2400" b="0" i="1" smtClean="0">
                                  <a:solidFill>
                                    <a:srgbClr val="333399"/>
                                  </a:solidFill>
                                  <a:latin typeface="Cambria Math" panose="02040503050406030204" pitchFamily="18" charset="0"/>
                                </a:rPr>
                              </m:ctrlPr>
                            </m:dPr>
                            <m:e>
                              <m:r>
                                <a:rPr lang="en-US" altLang="zh-CN" sz="2400" b="0" i="1" smtClean="0">
                                  <a:solidFill>
                                    <a:srgbClr val="333399"/>
                                  </a:solidFill>
                                  <a:latin typeface="Cambria Math" panose="02040503050406030204" pitchFamily="18" charset="0"/>
                                </a:rPr>
                                <m:t>𝑗</m:t>
                              </m:r>
                            </m:e>
                          </m:d>
                          <m:r>
                            <a:rPr lang="en-US" altLang="zh-CN" sz="2400" b="0" i="1" smtClean="0">
                              <a:solidFill>
                                <a:srgbClr val="333399"/>
                              </a:solidFill>
                              <a:latin typeface="Cambria Math" panose="02040503050406030204" pitchFamily="18" charset="0"/>
                            </a:rPr>
                            <m:t> </m:t>
                          </m:r>
                        </m:e>
                      </m:d>
                      <m:r>
                        <a:rPr lang="en-US" altLang="zh-CN" sz="2400" b="0" i="1" smtClean="0">
                          <a:solidFill>
                            <a:srgbClr val="333399"/>
                          </a:solidFill>
                          <a:latin typeface="Cambria Math" panose="02040503050406030204" pitchFamily="18" charset="0"/>
                        </a:rPr>
                        <m:t>=</m:t>
                      </m:r>
                      <m:d>
                        <m:dPr>
                          <m:ctrlPr>
                            <a:rPr lang="en-US" altLang="zh-CN" sz="2400" b="0" i="1" smtClean="0">
                              <a:solidFill>
                                <a:srgbClr val="333399"/>
                              </a:solidFill>
                              <a:latin typeface="Cambria Math" panose="02040503050406030204" pitchFamily="18" charset="0"/>
                            </a:rPr>
                          </m:ctrlPr>
                        </m:dPr>
                        <m:e>
                          <m:r>
                            <a:rPr lang="en-US" altLang="zh-CN" sz="2400" b="0" i="1" smtClean="0">
                              <a:solidFill>
                                <a:srgbClr val="333399"/>
                              </a:solidFill>
                              <a:latin typeface="Cambria Math" panose="02040503050406030204" pitchFamily="18" charset="0"/>
                            </a:rPr>
                            <m:t> </m:t>
                          </m:r>
                          <m:sSup>
                            <m:sSupPr>
                              <m:ctrlPr>
                                <a:rPr lang="en-US" altLang="zh-CN" sz="2400" b="0" i="1" smtClean="0">
                                  <a:solidFill>
                                    <a:srgbClr val="333399"/>
                                  </a:solidFill>
                                  <a:latin typeface="Cambria Math" panose="02040503050406030204" pitchFamily="18" charset="0"/>
                                </a:rPr>
                              </m:ctrlPr>
                            </m:sSupPr>
                            <m:e>
                              <m:r>
                                <a:rPr lang="en-US" altLang="zh-CN" sz="2400" b="0" i="1" smtClean="0">
                                  <a:solidFill>
                                    <a:srgbClr val="333399"/>
                                  </a:solidFill>
                                  <a:latin typeface="Cambria Math" panose="02040503050406030204" pitchFamily="18" charset="0"/>
                                </a:rPr>
                                <m:t>2</m:t>
                              </m:r>
                            </m:e>
                            <m:sup>
                              <m:r>
                                <a:rPr lang="en-US" altLang="zh-CN" sz="2400" b="0" i="1" smtClean="0">
                                  <a:solidFill>
                                    <a:srgbClr val="333399"/>
                                  </a:solidFill>
                                  <a:latin typeface="Cambria Math" panose="02040503050406030204" pitchFamily="18" charset="0"/>
                                </a:rPr>
                                <m:t>𝑚</m:t>
                              </m:r>
                              <m:r>
                                <a:rPr lang="en-US" altLang="zh-CN" sz="2400" b="0" i="1" smtClean="0">
                                  <a:solidFill>
                                    <a:srgbClr val="333399"/>
                                  </a:solidFill>
                                  <a:latin typeface="Cambria Math" panose="02040503050406030204" pitchFamily="18" charset="0"/>
                                </a:rPr>
                                <m:t>−1</m:t>
                              </m:r>
                            </m:sup>
                          </m:sSup>
                          <m:sSub>
                            <m:sSubPr>
                              <m:ctrlPr>
                                <a:rPr lang="en-US" altLang="zh-CN" sz="2400" b="0" i="1" smtClean="0">
                                  <a:solidFill>
                                    <a:srgbClr val="333399"/>
                                  </a:solidFill>
                                  <a:latin typeface="Cambria Math" panose="02040503050406030204" pitchFamily="18" charset="0"/>
                                </a:rPr>
                              </m:ctrlPr>
                            </m:sSubPr>
                            <m:e>
                              <m:r>
                                <a:rPr lang="en-US" altLang="zh-CN" sz="2400" b="0" i="1" smtClean="0">
                                  <a:solidFill>
                                    <a:srgbClr val="333399"/>
                                  </a:solidFill>
                                  <a:latin typeface="Cambria Math" panose="02040503050406030204" pitchFamily="18" charset="0"/>
                                </a:rPr>
                                <m:t>𝑥</m:t>
                              </m:r>
                            </m:e>
                            <m:sub>
                              <m:r>
                                <a:rPr lang="en-US" altLang="zh-CN" sz="2400" b="0" i="1" smtClean="0">
                                  <a:solidFill>
                                    <a:srgbClr val="333399"/>
                                  </a:solidFill>
                                  <a:latin typeface="Cambria Math" panose="02040503050406030204" pitchFamily="18" charset="0"/>
                                </a:rPr>
                                <m:t>𝑗</m:t>
                              </m:r>
                            </m:sub>
                          </m:sSub>
                          <m:r>
                            <a:rPr lang="en-US" altLang="zh-CN" sz="2400" b="0" i="1" smtClean="0">
                              <a:solidFill>
                                <a:srgbClr val="333399"/>
                              </a:solidFill>
                              <a:latin typeface="Cambria Math" panose="02040503050406030204" pitchFamily="18" charset="0"/>
                            </a:rPr>
                            <m:t>+</m:t>
                          </m:r>
                          <m:sSup>
                            <m:sSupPr>
                              <m:ctrlPr>
                                <a:rPr lang="en-US" altLang="zh-CN" sz="2400" i="1">
                                  <a:solidFill>
                                    <a:srgbClr val="333399"/>
                                  </a:solidFill>
                                  <a:latin typeface="Cambria Math" panose="02040503050406030204" pitchFamily="18" charset="0"/>
                                </a:rPr>
                              </m:ctrlPr>
                            </m:sSupPr>
                            <m:e>
                              <m:r>
                                <a:rPr lang="en-US" altLang="zh-CN" sz="2400" i="1">
                                  <a:solidFill>
                                    <a:srgbClr val="333399"/>
                                  </a:solidFill>
                                  <a:latin typeface="Cambria Math" panose="02040503050406030204" pitchFamily="18" charset="0"/>
                                </a:rPr>
                                <m:t>2</m:t>
                              </m:r>
                            </m:e>
                            <m:sup>
                              <m:r>
                                <a:rPr lang="en-US" altLang="zh-CN" sz="2400" i="1">
                                  <a:solidFill>
                                    <a:srgbClr val="333399"/>
                                  </a:solidFill>
                                  <a:latin typeface="Cambria Math" panose="02040503050406030204" pitchFamily="18" charset="0"/>
                                </a:rPr>
                                <m:t>𝑚</m:t>
                              </m:r>
                              <m:r>
                                <a:rPr lang="en-US" altLang="zh-CN" sz="2400" i="1">
                                  <a:solidFill>
                                    <a:srgbClr val="333399"/>
                                  </a:solidFill>
                                  <a:latin typeface="Cambria Math" panose="02040503050406030204" pitchFamily="18" charset="0"/>
                                </a:rPr>
                                <m:t>−2</m:t>
                              </m:r>
                            </m:sup>
                          </m:sSup>
                          <m:sSub>
                            <m:sSubPr>
                              <m:ctrlPr>
                                <a:rPr lang="en-US" altLang="zh-CN" sz="2400" i="1">
                                  <a:solidFill>
                                    <a:srgbClr val="333399"/>
                                  </a:solidFill>
                                  <a:latin typeface="Cambria Math" panose="02040503050406030204" pitchFamily="18" charset="0"/>
                                </a:rPr>
                              </m:ctrlPr>
                            </m:sSubPr>
                            <m:e>
                              <m:r>
                                <a:rPr lang="en-US" altLang="zh-CN" sz="2400" i="1">
                                  <a:solidFill>
                                    <a:srgbClr val="333399"/>
                                  </a:solidFill>
                                  <a:latin typeface="Cambria Math" panose="02040503050406030204" pitchFamily="18" charset="0"/>
                                </a:rPr>
                                <m:t>𝑥</m:t>
                              </m:r>
                            </m:e>
                            <m:sub>
                              <m:r>
                                <a:rPr lang="en-US" altLang="zh-CN" sz="2400" i="1">
                                  <a:solidFill>
                                    <a:srgbClr val="333399"/>
                                  </a:solidFill>
                                  <a:latin typeface="Cambria Math" panose="02040503050406030204" pitchFamily="18" charset="0"/>
                                </a:rPr>
                                <m:t>𝑗</m:t>
                              </m:r>
                              <m:r>
                                <a:rPr lang="en-US" altLang="zh-CN" sz="2400" b="0" i="1" smtClean="0">
                                  <a:solidFill>
                                    <a:srgbClr val="333399"/>
                                  </a:solidFill>
                                  <a:latin typeface="Cambria Math" panose="02040503050406030204" pitchFamily="18" charset="0"/>
                                </a:rPr>
                                <m:t>+1</m:t>
                              </m:r>
                            </m:sub>
                          </m:sSub>
                          <m:r>
                            <a:rPr lang="en-US" altLang="zh-CN" sz="2400" b="0" i="1" smtClean="0">
                              <a:solidFill>
                                <a:srgbClr val="333399"/>
                              </a:solidFill>
                              <a:latin typeface="Cambria Math" panose="02040503050406030204" pitchFamily="18" charset="0"/>
                            </a:rPr>
                            <m:t>+…+</m:t>
                          </m:r>
                          <m:sSup>
                            <m:sSupPr>
                              <m:ctrlPr>
                                <a:rPr lang="en-US" altLang="zh-CN" sz="2400" i="1">
                                  <a:solidFill>
                                    <a:srgbClr val="333399"/>
                                  </a:solidFill>
                                  <a:latin typeface="Cambria Math" panose="02040503050406030204" pitchFamily="18" charset="0"/>
                                </a:rPr>
                              </m:ctrlPr>
                            </m:sSupPr>
                            <m:e>
                              <m:r>
                                <a:rPr lang="en-US" altLang="zh-CN" sz="2400" i="1">
                                  <a:solidFill>
                                    <a:srgbClr val="333399"/>
                                  </a:solidFill>
                                  <a:latin typeface="Cambria Math" panose="02040503050406030204" pitchFamily="18" charset="0"/>
                                </a:rPr>
                                <m:t>2</m:t>
                              </m:r>
                            </m:e>
                            <m:sup>
                              <m:r>
                                <a:rPr lang="en-US" altLang="zh-CN" sz="2400" i="1">
                                  <a:solidFill>
                                    <a:srgbClr val="333399"/>
                                  </a:solidFill>
                                  <a:latin typeface="Cambria Math" panose="02040503050406030204" pitchFamily="18" charset="0"/>
                                </a:rPr>
                                <m:t>𝑚</m:t>
                              </m:r>
                              <m:r>
                                <a:rPr lang="en-US" altLang="zh-CN" sz="2400" i="1">
                                  <a:solidFill>
                                    <a:srgbClr val="333399"/>
                                  </a:solidFill>
                                  <a:latin typeface="Cambria Math" panose="02040503050406030204" pitchFamily="18" charset="0"/>
                                </a:rPr>
                                <m:t>−</m:t>
                              </m:r>
                              <m:r>
                                <a:rPr lang="en-US" altLang="zh-CN" sz="2400" b="0" i="1" smtClean="0">
                                  <a:solidFill>
                                    <a:srgbClr val="333399"/>
                                  </a:solidFill>
                                  <a:latin typeface="Cambria Math" panose="02040503050406030204" pitchFamily="18" charset="0"/>
                                </a:rPr>
                                <m:t>𝑚</m:t>
                              </m:r>
                            </m:sup>
                          </m:sSup>
                          <m:sSub>
                            <m:sSubPr>
                              <m:ctrlPr>
                                <a:rPr lang="en-US" altLang="zh-CN" sz="2400" i="1">
                                  <a:solidFill>
                                    <a:srgbClr val="333399"/>
                                  </a:solidFill>
                                  <a:latin typeface="Cambria Math" panose="02040503050406030204" pitchFamily="18" charset="0"/>
                                </a:rPr>
                              </m:ctrlPr>
                            </m:sSubPr>
                            <m:e>
                              <m:r>
                                <a:rPr lang="en-US" altLang="zh-CN" sz="2400" i="1">
                                  <a:solidFill>
                                    <a:srgbClr val="333399"/>
                                  </a:solidFill>
                                  <a:latin typeface="Cambria Math" panose="02040503050406030204" pitchFamily="18" charset="0"/>
                                </a:rPr>
                                <m:t>𝑥</m:t>
                              </m:r>
                            </m:e>
                            <m:sub>
                              <m:r>
                                <a:rPr lang="en-US" altLang="zh-CN" sz="2400" i="1">
                                  <a:solidFill>
                                    <a:srgbClr val="333399"/>
                                  </a:solidFill>
                                  <a:latin typeface="Cambria Math" panose="02040503050406030204" pitchFamily="18" charset="0"/>
                                </a:rPr>
                                <m:t>𝑗</m:t>
                              </m:r>
                              <m:r>
                                <a:rPr lang="en-US" altLang="zh-CN" sz="2400" b="0" i="1" smtClean="0">
                                  <a:solidFill>
                                    <a:srgbClr val="333399"/>
                                  </a:solidFill>
                                  <a:latin typeface="Cambria Math" panose="02040503050406030204" pitchFamily="18" charset="0"/>
                                </a:rPr>
                                <m:t>+</m:t>
                              </m:r>
                              <m:r>
                                <a:rPr lang="en-US" altLang="zh-CN" sz="2400" b="0" i="1" smtClean="0">
                                  <a:solidFill>
                                    <a:srgbClr val="333399"/>
                                  </a:solidFill>
                                  <a:latin typeface="Cambria Math" panose="02040503050406030204" pitchFamily="18" charset="0"/>
                                </a:rPr>
                                <m:t>𝑚</m:t>
                              </m:r>
                              <m:r>
                                <a:rPr lang="en-US" altLang="zh-CN" sz="2400" b="0" i="1" smtClean="0">
                                  <a:solidFill>
                                    <a:srgbClr val="333399"/>
                                  </a:solidFill>
                                  <a:latin typeface="Cambria Math" panose="02040503050406030204" pitchFamily="18" charset="0"/>
                                </a:rPr>
                                <m:t>−1</m:t>
                              </m:r>
                            </m:sub>
                          </m:sSub>
                        </m:e>
                      </m:d>
                      <m:d>
                        <m:dPr>
                          <m:ctrlPr>
                            <a:rPr lang="en-US" altLang="zh-CN" sz="2400" b="0" i="1" smtClean="0">
                              <a:solidFill>
                                <a:srgbClr val="333399"/>
                              </a:solidFill>
                              <a:latin typeface="Cambria Math" panose="02040503050406030204" pitchFamily="18" charset="0"/>
                            </a:rPr>
                          </m:ctrlPr>
                        </m:dPr>
                        <m:e>
                          <m:r>
                            <a:rPr lang="en-US" altLang="zh-CN" sz="2400" b="0" i="1" smtClean="0">
                              <a:solidFill>
                                <a:srgbClr val="333399"/>
                              </a:solidFill>
                              <a:latin typeface="Cambria Math" panose="02040503050406030204" pitchFamily="18" charset="0"/>
                            </a:rPr>
                            <m:t>𝑚𝑜𝑑</m:t>
                          </m:r>
                          <m:r>
                            <a:rPr lang="en-US" altLang="zh-CN" sz="2400" b="0" i="1" smtClean="0">
                              <a:solidFill>
                                <a:srgbClr val="333399"/>
                              </a:solidFill>
                              <a:latin typeface="Cambria Math" panose="02040503050406030204" pitchFamily="18" charset="0"/>
                            </a:rPr>
                            <m:t> </m:t>
                          </m:r>
                          <m:r>
                            <a:rPr lang="en-US" altLang="zh-CN" sz="2400" b="0" i="1" smtClean="0">
                              <a:solidFill>
                                <a:srgbClr val="333399"/>
                              </a:solidFill>
                              <a:latin typeface="Cambria Math" panose="02040503050406030204" pitchFamily="18" charset="0"/>
                            </a:rPr>
                            <m:t>𝑝</m:t>
                          </m:r>
                        </m:e>
                      </m:d>
                    </m:oMath>
                  </m:oMathPara>
                </a14:m>
                <a:endParaRPr lang="en-US" altLang="zh-CN" sz="2400" dirty="0">
                  <a:solidFill>
                    <a:srgbClr val="333399"/>
                  </a:solidFill>
                </a:endParaRPr>
              </a:p>
              <a:p>
                <a:pPr marL="0" indent="0" eaLnBrk="1" hangingPunct="1">
                  <a:buNone/>
                </a:pPr>
                <a:endParaRPr lang="en-US" altLang="zh-CN" sz="2400" dirty="0">
                  <a:solidFill>
                    <a:srgbClr val="333399"/>
                  </a:solidFill>
                </a:endParaRPr>
              </a:p>
              <a:p>
                <a:pPr marL="0" indent="0" eaLnBrk="1" hangingPunct="1">
                  <a:buNone/>
                </a:pPr>
                <a14:m>
                  <m:oMathPara xmlns:m="http://schemas.openxmlformats.org/officeDocument/2006/math">
                    <m:oMathParaPr>
                      <m:jc m:val="left"/>
                    </m:oMathParaPr>
                    <m:oMath xmlns:m="http://schemas.openxmlformats.org/officeDocument/2006/math">
                      <m:sSub>
                        <m:sSub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𝐼</m:t>
                          </m:r>
                        </m:e>
                        <m:sub>
                          <m:r>
                            <m:rPr>
                              <m:sty m:val="p"/>
                            </m:r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p</m:t>
                          </m:r>
                        </m:sub>
                      </m:sSub>
                      <m:d>
                        <m:d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𝑋</m:t>
                          </m:r>
                          <m:d>
                            <m:d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+1</m:t>
                              </m:r>
                            </m:e>
                          </m:d>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e>
                      </m:d>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sSup>
                        <m:sSup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sSup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2</m:t>
                          </m:r>
                        </m:e>
                        <m:sup>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−1</m:t>
                          </m:r>
                        </m:sup>
                      </m:sSup>
                      <m:sSub>
                        <m:sSub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𝑥</m:t>
                          </m:r>
                        </m:e>
                        <m:sub>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+1</m:t>
                          </m:r>
                        </m:sub>
                      </m:sSub>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sSup>
                        <m:sSupPr>
                          <m:ctrl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ctrlPr>
                        </m:sSupPr>
                        <m:e>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2</m:t>
                          </m:r>
                        </m:e>
                        <m:sup>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𝑚</m:t>
                          </m:r>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−2</m:t>
                          </m:r>
                        </m:sup>
                      </m:sSup>
                      <m:sSub>
                        <m:sSubPr>
                          <m:ctrl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𝑥</m:t>
                          </m:r>
                        </m:e>
                        <m:sub>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+2</m:t>
                          </m:r>
                        </m:sub>
                      </m:sSub>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sSup>
                        <m:sSupPr>
                          <m:ctrl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ctrlPr>
                        </m:sSupPr>
                        <m:e>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2</m:t>
                          </m:r>
                        </m:e>
                        <m:sup>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𝑚</m:t>
                          </m:r>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m:t>
                          </m:r>
                        </m:sup>
                      </m:sSup>
                      <m:sSub>
                        <m:sSubPr>
                          <m:ctrl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𝑥</m:t>
                          </m:r>
                        </m:e>
                        <m:sub>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m:t>
                          </m:r>
                        </m:sub>
                      </m:sSub>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𝑚𝑜𝑑</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𝑝</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oMath>
                  </m:oMathPara>
                </a14:m>
                <a:endParaRPr lang="en-US" altLang="zh-CN" sz="2400" dirty="0">
                  <a:solidFill>
                    <a:srgbClr val="333399"/>
                  </a:solidFill>
                </a:endParaRPr>
              </a:p>
              <a:p>
                <a:pPr marL="0" indent="0" eaLnBrk="1" hangingPunct="1">
                  <a:buNone/>
                </a:pPr>
                <a:endParaRPr lang="en-US" altLang="zh-CN" sz="2400" dirty="0">
                  <a:solidFill>
                    <a:srgbClr val="333399"/>
                  </a:solidFill>
                </a:endParaRPr>
              </a:p>
              <a:p>
                <a:pPr marL="0" indent="0" eaLnBrk="1" hangingPunct="1">
                  <a:buNone/>
                </a:pPr>
                <a:r>
                  <a:rPr lang="zh-CN" altLang="en-US" sz="2400" dirty="0">
                    <a:solidFill>
                      <a:srgbClr val="333399"/>
                    </a:solidFill>
                  </a:rPr>
                  <a:t>得：</a:t>
                </a:r>
                <a14:m>
                  <m:oMath xmlns:m="http://schemas.openxmlformats.org/officeDocument/2006/math">
                    <m:sSub>
                      <m:sSub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𝐼</m:t>
                        </m:r>
                      </m:e>
                      <m:sub>
                        <m:r>
                          <m:rPr>
                            <m:sty m:val="p"/>
                          </m:r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p</m:t>
                        </m:r>
                      </m:sub>
                    </m:sSub>
                    <m:d>
                      <m:d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𝑋</m:t>
                        </m:r>
                        <m:d>
                          <m:dPr>
                            <m:ctrlP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+1</m:t>
                            </m:r>
                          </m:e>
                        </m:d>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e>
                    </m:d>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sSub>
                      <m:sSubPr>
                        <m:ctrlPr>
                          <a:rPr lang="en-US" altLang="zh-CN" sz="2400" i="1" kern="0">
                            <a:solidFill>
                              <a:srgbClr val="333399"/>
                            </a:solidFill>
                            <a:latin typeface="Cambria Math" panose="02040503050406030204" pitchFamily="18" charset="0"/>
                          </a:rPr>
                        </m:ctrlPr>
                      </m:sSubPr>
                      <m:e>
                        <m:r>
                          <a:rPr lang="en-US" altLang="zh-CN" sz="2400" b="0" i="1" kern="0" smtClean="0">
                            <a:solidFill>
                              <a:srgbClr val="333399"/>
                            </a:solidFill>
                            <a:latin typeface="Cambria Math" panose="02040503050406030204" pitchFamily="18" charset="0"/>
                          </a:rPr>
                          <m:t> 2</m:t>
                        </m:r>
                        <m:r>
                          <a:rPr lang="en-US" altLang="zh-CN" sz="2400" i="1" kern="0">
                            <a:solidFill>
                              <a:srgbClr val="333399"/>
                            </a:solidFill>
                            <a:latin typeface="Cambria Math" panose="02040503050406030204" pitchFamily="18" charset="0"/>
                          </a:rPr>
                          <m:t>𝐼</m:t>
                        </m:r>
                      </m:e>
                      <m:sub>
                        <m:r>
                          <m:rPr>
                            <m:sty m:val="p"/>
                          </m:rPr>
                          <a:rPr lang="en-US" altLang="zh-CN" sz="2400" i="1" kern="0">
                            <a:solidFill>
                              <a:srgbClr val="333399"/>
                            </a:solidFill>
                            <a:latin typeface="Cambria Math" panose="02040503050406030204" pitchFamily="18" charset="0"/>
                          </a:rPr>
                          <m:t>p</m:t>
                        </m:r>
                      </m:sub>
                    </m:sSub>
                    <m:d>
                      <m:dPr>
                        <m:ctrlPr>
                          <a:rPr lang="en-US" altLang="zh-CN" sz="2400" i="1" kern="0">
                            <a:solidFill>
                              <a:srgbClr val="333399"/>
                            </a:solidFill>
                            <a:latin typeface="Cambria Math" panose="02040503050406030204" pitchFamily="18" charset="0"/>
                          </a:rPr>
                        </m:ctrlPr>
                      </m:dPr>
                      <m:e>
                        <m:r>
                          <a:rPr lang="en-US" altLang="zh-CN" sz="2400" b="0" i="1" kern="0" smtClean="0">
                            <a:solidFill>
                              <a:srgbClr val="333399"/>
                            </a:solidFill>
                            <a:latin typeface="Cambria Math" panose="02040503050406030204" pitchFamily="18" charset="0"/>
                          </a:rPr>
                          <m:t> </m:t>
                        </m:r>
                        <m:r>
                          <a:rPr lang="en-US" altLang="zh-CN" sz="2400" i="1" kern="0">
                            <a:solidFill>
                              <a:srgbClr val="333399"/>
                            </a:solidFill>
                            <a:latin typeface="Cambria Math" panose="02040503050406030204" pitchFamily="18" charset="0"/>
                          </a:rPr>
                          <m:t>𝑋</m:t>
                        </m:r>
                        <m:d>
                          <m:dPr>
                            <m:ctrlPr>
                              <a:rPr lang="en-US" altLang="zh-CN" sz="2400" i="1" kern="0">
                                <a:solidFill>
                                  <a:srgbClr val="333399"/>
                                </a:solidFill>
                                <a:latin typeface="Cambria Math" panose="02040503050406030204" pitchFamily="18" charset="0"/>
                              </a:rPr>
                            </m:ctrlPr>
                          </m:dPr>
                          <m:e>
                            <m:r>
                              <a:rPr lang="en-US" altLang="zh-CN" sz="2400" i="1" kern="0">
                                <a:solidFill>
                                  <a:srgbClr val="333399"/>
                                </a:solidFill>
                                <a:latin typeface="Cambria Math" panose="02040503050406030204" pitchFamily="18" charset="0"/>
                              </a:rPr>
                              <m:t>𝑗</m:t>
                            </m:r>
                          </m:e>
                        </m:d>
                      </m:e>
                    </m:d>
                    <m:r>
                      <a:rPr lang="en-US" altLang="zh-CN" sz="2400" b="0" i="1" kern="0" smtClean="0">
                        <a:solidFill>
                          <a:srgbClr val="333399"/>
                        </a:solidFill>
                        <a:latin typeface="Cambria Math" panose="02040503050406030204" pitchFamily="18" charset="0"/>
                      </a:rPr>
                      <m:t>−</m:t>
                    </m:r>
                    <m:sSup>
                      <m:sSupPr>
                        <m:ctrlPr>
                          <a:rPr lang="en-US" altLang="zh-CN" sz="2400" b="0" i="1" kern="0" smtClean="0">
                            <a:solidFill>
                              <a:srgbClr val="333399"/>
                            </a:solidFill>
                            <a:latin typeface="Cambria Math" panose="02040503050406030204" pitchFamily="18" charset="0"/>
                          </a:rPr>
                        </m:ctrlPr>
                      </m:sSupPr>
                      <m:e>
                        <m:r>
                          <a:rPr lang="en-US" altLang="zh-CN" sz="2400" b="0" i="1" kern="0" smtClean="0">
                            <a:solidFill>
                              <a:srgbClr val="333399"/>
                            </a:solidFill>
                            <a:latin typeface="Cambria Math" panose="02040503050406030204" pitchFamily="18" charset="0"/>
                          </a:rPr>
                          <m:t>2</m:t>
                        </m:r>
                      </m:e>
                      <m:sup>
                        <m:r>
                          <a:rPr lang="en-US" altLang="zh-CN" sz="2400" b="0" i="1" kern="0" smtClean="0">
                            <a:solidFill>
                              <a:srgbClr val="333399"/>
                            </a:solidFill>
                            <a:latin typeface="Cambria Math" panose="02040503050406030204" pitchFamily="18" charset="0"/>
                          </a:rPr>
                          <m:t>𝑚</m:t>
                        </m:r>
                      </m:sup>
                    </m:sSup>
                    <m:sSub>
                      <m:sSubPr>
                        <m:ctrlPr>
                          <a:rPr lang="en-US" altLang="zh-CN" sz="2400" i="1" kern="0">
                            <a:solidFill>
                              <a:srgbClr val="333399"/>
                            </a:solidFill>
                            <a:latin typeface="Cambria Math" panose="02040503050406030204" pitchFamily="18" charset="0"/>
                          </a:rPr>
                        </m:ctrlPr>
                      </m:sSubPr>
                      <m:e>
                        <m:r>
                          <a:rPr lang="en-US" altLang="zh-CN" sz="2400" b="0" i="1" kern="0" smtClean="0">
                            <a:solidFill>
                              <a:srgbClr val="333399"/>
                            </a:solidFill>
                            <a:latin typeface="Cambria Math" panose="02040503050406030204" pitchFamily="18" charset="0"/>
                          </a:rPr>
                          <m:t>𝑥</m:t>
                        </m:r>
                      </m:e>
                      <m:sub>
                        <m:r>
                          <a:rPr lang="en-US" altLang="zh-CN" sz="2400" b="0" i="1" kern="0" smtClean="0">
                            <a:solidFill>
                              <a:srgbClr val="333399"/>
                            </a:solidFill>
                            <a:latin typeface="Cambria Math" panose="02040503050406030204" pitchFamily="18" charset="0"/>
                          </a:rPr>
                          <m:t>𝑗</m:t>
                        </m:r>
                      </m:sub>
                    </m:sSub>
                    <m:r>
                      <a:rPr lang="en-US" altLang="zh-CN" sz="2400" b="0" i="1" kern="0" smtClean="0">
                        <a:solidFill>
                          <a:srgbClr val="333399"/>
                        </a:solidFill>
                        <a:latin typeface="Cambria Math" panose="02040503050406030204" pitchFamily="18" charset="0"/>
                      </a:rPr>
                      <m:t>+</m:t>
                    </m:r>
                    <m:sSub>
                      <m:sSubPr>
                        <m:ctrlP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ctrlPr>
                      </m:sSubPr>
                      <m:e>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𝑥</m:t>
                        </m:r>
                      </m:e>
                      <m:sub>
                        <m:r>
                          <a:rPr kumimoji="0" lang="en-US" altLang="zh-CN" sz="2400" b="0" i="1" u="none" strike="noStrike" kern="0" cap="none" spc="0" normalizeH="0" baseline="0" noProof="0">
                            <a:ln>
                              <a:noFill/>
                            </a:ln>
                            <a:solidFill>
                              <a:srgbClr val="333399"/>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m:t>
                        </m:r>
                      </m:sub>
                    </m:sSub>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𝑚𝑜𝑑</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𝑝</m:t>
                    </m:r>
                    <m:r>
                      <a:rPr kumimoji="0" lang="en-US" altLang="zh-CN" sz="2400" b="0" i="1" u="none" strike="noStrike" kern="0" cap="none" spc="0" normalizeH="0" baseline="0" noProof="0" smtClean="0">
                        <a:ln>
                          <a:noFill/>
                        </a:ln>
                        <a:solidFill>
                          <a:srgbClr val="333399"/>
                        </a:solidFill>
                        <a:effectLst/>
                        <a:uLnTx/>
                        <a:uFillTx/>
                        <a:latin typeface="Cambria Math" panose="02040503050406030204" pitchFamily="18" charset="0"/>
                      </a:rPr>
                      <m:t>)</m:t>
                    </m:r>
                  </m:oMath>
                </a14:m>
                <a:endParaRPr lang="en-US" altLang="zh-CN" sz="2400" dirty="0">
                  <a:solidFill>
                    <a:srgbClr val="333399"/>
                  </a:solidFill>
                </a:endParaRPr>
              </a:p>
              <a:p>
                <a:pPr marL="0" indent="0" eaLnBrk="1" hangingPunct="1">
                  <a:buNone/>
                </a:pPr>
                <a:endParaRPr lang="en-US" altLang="zh-CN" sz="2400" dirty="0">
                  <a:solidFill>
                    <a:srgbClr val="333399"/>
                  </a:solidFill>
                </a:endParaRPr>
              </a:p>
              <a:p>
                <a:pPr marL="0" indent="0" eaLnBrk="1" hangingPunct="1">
                  <a:buNone/>
                </a:pPr>
                <a:r>
                  <a:rPr lang="zh-CN" altLang="en-US" sz="2400" dirty="0">
                    <a:solidFill>
                      <a:srgbClr val="333399"/>
                    </a:solidFill>
                  </a:rPr>
                  <a:t>设</a:t>
                </a:r>
                <a14:m>
                  <m:oMath xmlns:m="http://schemas.openxmlformats.org/officeDocument/2006/math">
                    <m:sSub>
                      <m:sSubPr>
                        <m:ctrlPr>
                          <a:rPr lang="en-US" altLang="zh-CN" sz="2400" i="1" smtClean="0">
                            <a:solidFill>
                              <a:srgbClr val="333399"/>
                            </a:solidFill>
                            <a:latin typeface="Cambria Math" panose="02040503050406030204" pitchFamily="18" charset="0"/>
                          </a:rPr>
                        </m:ctrlPr>
                      </m:sSubPr>
                      <m:e>
                        <m:r>
                          <a:rPr lang="en-US" altLang="zh-CN" sz="2400" b="0" i="1" smtClean="0">
                            <a:solidFill>
                              <a:srgbClr val="333399"/>
                            </a:solidFill>
                            <a:latin typeface="Cambria Math" panose="02040503050406030204" pitchFamily="18" charset="0"/>
                          </a:rPr>
                          <m:t>𝑊</m:t>
                        </m:r>
                      </m:e>
                      <m:sub>
                        <m:r>
                          <m:rPr>
                            <m:sty m:val="p"/>
                          </m:rPr>
                          <a:rPr lang="en-US" altLang="zh-CN" sz="2400" i="1">
                            <a:solidFill>
                              <a:srgbClr val="333399"/>
                            </a:solidFill>
                            <a:latin typeface="Cambria Math" panose="02040503050406030204" pitchFamily="18" charset="0"/>
                          </a:rPr>
                          <m:t>p</m:t>
                        </m:r>
                      </m:sub>
                    </m:sSub>
                    <m:r>
                      <a:rPr lang="en-US" altLang="zh-CN" sz="2400" b="0" i="1" smtClean="0">
                        <a:solidFill>
                          <a:srgbClr val="333399"/>
                        </a:solidFill>
                        <a:latin typeface="Cambria Math" panose="02040503050406030204" pitchFamily="18" charset="0"/>
                      </a:rPr>
                      <m:t>=</m:t>
                    </m:r>
                    <m:sSup>
                      <m:sSupPr>
                        <m:ctrlPr>
                          <a:rPr lang="en-US" altLang="zh-CN" sz="2400" i="1" smtClean="0">
                            <a:solidFill>
                              <a:srgbClr val="333399"/>
                            </a:solidFill>
                            <a:latin typeface="Cambria Math" panose="02040503050406030204" pitchFamily="18" charset="0"/>
                          </a:rPr>
                        </m:ctrlPr>
                      </m:sSupPr>
                      <m:e>
                        <m:r>
                          <a:rPr lang="en-US" altLang="zh-CN" sz="2400" b="0" i="1" smtClean="0">
                            <a:solidFill>
                              <a:srgbClr val="333399"/>
                            </a:solidFill>
                            <a:latin typeface="Cambria Math" panose="02040503050406030204" pitchFamily="18" charset="0"/>
                          </a:rPr>
                          <m:t>2</m:t>
                        </m:r>
                      </m:e>
                      <m:sup>
                        <m:r>
                          <a:rPr lang="en-US" altLang="zh-CN" sz="2400" b="0" i="1" smtClean="0">
                            <a:solidFill>
                              <a:srgbClr val="333399"/>
                            </a:solidFill>
                            <a:latin typeface="Cambria Math" panose="02040503050406030204" pitchFamily="18" charset="0"/>
                          </a:rPr>
                          <m:t>𝑚</m:t>
                        </m:r>
                      </m:sup>
                    </m:sSup>
                    <m:r>
                      <a:rPr lang="en-US" altLang="zh-CN" sz="2400" b="0" i="1" smtClean="0">
                        <a:solidFill>
                          <a:srgbClr val="333399"/>
                        </a:solidFill>
                        <a:latin typeface="Cambria Math" panose="02040503050406030204" pitchFamily="18" charset="0"/>
                      </a:rPr>
                      <m:t>(</m:t>
                    </m:r>
                    <m:r>
                      <a:rPr lang="en-US" altLang="zh-CN" sz="2400" b="0" i="1" smtClean="0">
                        <a:solidFill>
                          <a:srgbClr val="333399"/>
                        </a:solidFill>
                        <a:latin typeface="Cambria Math" panose="02040503050406030204" pitchFamily="18" charset="0"/>
                      </a:rPr>
                      <m:t>𝑚𝑜𝑑</m:t>
                    </m:r>
                    <m:r>
                      <a:rPr lang="en-US" altLang="zh-CN" sz="2400" b="0" i="1" smtClean="0">
                        <a:solidFill>
                          <a:srgbClr val="333399"/>
                        </a:solidFill>
                        <a:latin typeface="Cambria Math" panose="02040503050406030204" pitchFamily="18" charset="0"/>
                      </a:rPr>
                      <m:t> </m:t>
                    </m:r>
                    <m:r>
                      <a:rPr lang="en-US" altLang="zh-CN" sz="2400" b="0" i="1" smtClean="0">
                        <a:solidFill>
                          <a:srgbClr val="333399"/>
                        </a:solidFill>
                        <a:latin typeface="Cambria Math" panose="02040503050406030204" pitchFamily="18" charset="0"/>
                      </a:rPr>
                      <m:t>𝑝</m:t>
                    </m:r>
                    <m:r>
                      <a:rPr lang="en-US" altLang="zh-CN" sz="2400" b="0" i="1" smtClean="0">
                        <a:solidFill>
                          <a:srgbClr val="333399"/>
                        </a:solidFill>
                        <a:latin typeface="Cambria Math" panose="02040503050406030204" pitchFamily="18" charset="0"/>
                      </a:rPr>
                      <m:t>)</m:t>
                    </m:r>
                  </m:oMath>
                </a14:m>
                <a:endParaRPr lang="en-US" altLang="zh-CN" sz="2400" dirty="0">
                  <a:solidFill>
                    <a:srgbClr val="333399"/>
                  </a:solidFill>
                </a:endParaRPr>
              </a:p>
              <a:p>
                <a:pPr eaLnBrk="1" hangingPunct="1"/>
                <a14:m>
                  <m:oMathPara xmlns:m="http://schemas.openxmlformats.org/officeDocument/2006/math">
                    <m:oMathParaPr>
                      <m:jc m:val="left"/>
                    </m:oMathParaPr>
                    <m:oMath xmlns:m="http://schemas.openxmlformats.org/officeDocument/2006/math">
                      <m:r>
                        <a:rPr kumimoji="0" lang="zh-CN" altLang="en-US" sz="2400" b="0" i="1" u="none" strike="noStrike" kern="0" cap="none" spc="0" normalizeH="0" baseline="0" noProof="0" dirty="0">
                          <a:ln>
                            <a:noFill/>
                          </a:ln>
                          <a:solidFill>
                            <a:srgbClr val="333399"/>
                          </a:solidFill>
                          <a:effectLst/>
                          <a:uLnTx/>
                          <a:uFillTx/>
                          <a:latin typeface="Cambria Math" panose="02040503050406030204" pitchFamily="18" charset="0"/>
                        </a:rPr>
                        <m:t>得</m:t>
                      </m:r>
                      <m:r>
                        <a:rPr lang="zh-CN" altLang="en-US" sz="2400" i="1" kern="0" dirty="0" smtClean="0">
                          <a:solidFill>
                            <a:srgbClr val="333399"/>
                          </a:solidFill>
                          <a:latin typeface="Cambria Math" panose="02040503050406030204" pitchFamily="18" charset="0"/>
                        </a:rPr>
                        <m:t>：</m:t>
                      </m:r>
                      <m:sSub>
                        <m:sSubPr>
                          <m:ctrlP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𝐼</m:t>
                          </m:r>
                        </m:e>
                        <m:sub>
                          <m:r>
                            <m:rPr>
                              <m:sty m:val="p"/>
                            </m:rPr>
                            <a:rPr kumimoji="0" lang="en-US" altLang="zh-CN" sz="2400" b="0" i="1" u="none" strike="noStrike" kern="0" cap="none" spc="0" normalizeH="0" baseline="0" noProof="0">
                              <a:ln>
                                <a:noFill/>
                              </a:ln>
                              <a:solidFill>
                                <a:srgbClr val="FF0000"/>
                              </a:solidFill>
                              <a:effectLst/>
                              <a:uLnTx/>
                              <a:uFillTx/>
                              <a:latin typeface="Cambria Math" panose="02040503050406030204" pitchFamily="18" charset="0"/>
                            </a:rPr>
                            <m:t>p</m:t>
                          </m:r>
                        </m:sub>
                      </m:sSub>
                      <m:d>
                        <m:dPr>
                          <m:ctrlP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𝑋</m:t>
                          </m:r>
                          <m:d>
                            <m:dPr>
                              <m:ctrlP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+1</m:t>
                              </m:r>
                            </m:e>
                          </m:d>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 </m:t>
                          </m:r>
                        </m:e>
                      </m:d>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m:t>
                      </m:r>
                      <m:sSub>
                        <m:sSubPr>
                          <m:ctrlPr>
                            <a:rPr lang="en-US" altLang="zh-CN" sz="2400" i="1" kern="0">
                              <a:solidFill>
                                <a:srgbClr val="FF0000"/>
                              </a:solidFill>
                              <a:latin typeface="Cambria Math" panose="02040503050406030204" pitchFamily="18" charset="0"/>
                            </a:rPr>
                          </m:ctrlPr>
                        </m:sSubPr>
                        <m:e>
                          <m:r>
                            <a:rPr lang="en-US" altLang="zh-CN" sz="2400" b="0" i="1" kern="0" smtClean="0">
                              <a:solidFill>
                                <a:srgbClr val="FF0000"/>
                              </a:solidFill>
                              <a:latin typeface="Cambria Math" panose="02040503050406030204" pitchFamily="18" charset="0"/>
                            </a:rPr>
                            <m:t> 2</m:t>
                          </m:r>
                          <m:r>
                            <a:rPr lang="en-US" altLang="zh-CN" sz="2400" i="1" kern="0">
                              <a:solidFill>
                                <a:srgbClr val="FF0000"/>
                              </a:solidFill>
                              <a:latin typeface="Cambria Math" panose="02040503050406030204" pitchFamily="18" charset="0"/>
                            </a:rPr>
                            <m:t>𝐼</m:t>
                          </m:r>
                        </m:e>
                        <m:sub>
                          <m:r>
                            <m:rPr>
                              <m:sty m:val="p"/>
                            </m:rPr>
                            <a:rPr lang="en-US" altLang="zh-CN" sz="2400" i="1" kern="0">
                              <a:solidFill>
                                <a:srgbClr val="FF0000"/>
                              </a:solidFill>
                              <a:latin typeface="Cambria Math" panose="02040503050406030204" pitchFamily="18" charset="0"/>
                            </a:rPr>
                            <m:t>p</m:t>
                          </m:r>
                        </m:sub>
                      </m:sSub>
                      <m:d>
                        <m:dPr>
                          <m:ctrlPr>
                            <a:rPr lang="en-US" altLang="zh-CN" sz="2400" i="1" kern="0">
                              <a:solidFill>
                                <a:srgbClr val="FF0000"/>
                              </a:solidFill>
                              <a:latin typeface="Cambria Math" panose="02040503050406030204" pitchFamily="18" charset="0"/>
                            </a:rPr>
                          </m:ctrlPr>
                        </m:dPr>
                        <m:e>
                          <m:r>
                            <a:rPr lang="en-US" altLang="zh-CN" sz="2400" b="0" i="1" kern="0" smtClean="0">
                              <a:solidFill>
                                <a:srgbClr val="FF0000"/>
                              </a:solidFill>
                              <a:latin typeface="Cambria Math" panose="02040503050406030204" pitchFamily="18" charset="0"/>
                            </a:rPr>
                            <m:t> </m:t>
                          </m:r>
                          <m:r>
                            <a:rPr lang="en-US" altLang="zh-CN" sz="2400" i="1" kern="0">
                              <a:solidFill>
                                <a:srgbClr val="FF0000"/>
                              </a:solidFill>
                              <a:latin typeface="Cambria Math" panose="02040503050406030204" pitchFamily="18" charset="0"/>
                            </a:rPr>
                            <m:t>𝑋</m:t>
                          </m:r>
                          <m:d>
                            <m:dPr>
                              <m:ctrlPr>
                                <a:rPr lang="en-US" altLang="zh-CN" sz="2400" i="1" kern="0">
                                  <a:solidFill>
                                    <a:srgbClr val="FF0000"/>
                                  </a:solidFill>
                                  <a:latin typeface="Cambria Math" panose="02040503050406030204" pitchFamily="18" charset="0"/>
                                </a:rPr>
                              </m:ctrlPr>
                            </m:dPr>
                            <m:e>
                              <m:r>
                                <a:rPr lang="en-US" altLang="zh-CN" sz="2400" i="1" kern="0">
                                  <a:solidFill>
                                    <a:srgbClr val="FF0000"/>
                                  </a:solidFill>
                                  <a:latin typeface="Cambria Math" panose="02040503050406030204" pitchFamily="18" charset="0"/>
                                </a:rPr>
                                <m:t>𝑗</m:t>
                              </m:r>
                            </m:e>
                          </m:d>
                        </m:e>
                      </m:d>
                      <m:r>
                        <a:rPr lang="en-US" altLang="zh-CN" sz="2400" b="0" i="1" kern="0" smtClean="0">
                          <a:solidFill>
                            <a:srgbClr val="FF0000"/>
                          </a:solidFill>
                          <a:latin typeface="Cambria Math" panose="02040503050406030204" pitchFamily="18" charset="0"/>
                        </a:rPr>
                        <m:t>−</m:t>
                      </m:r>
                      <m:sSub>
                        <m:sSubPr>
                          <m:ctrlPr>
                            <a:rPr lang="en-US" altLang="zh-CN" sz="2400" b="0" i="1" kern="0" smtClean="0">
                              <a:solidFill>
                                <a:srgbClr val="FF0000"/>
                              </a:solidFill>
                              <a:latin typeface="Cambria Math" panose="02040503050406030204" pitchFamily="18" charset="0"/>
                            </a:rPr>
                          </m:ctrlPr>
                        </m:sSubPr>
                        <m:e>
                          <m:r>
                            <a:rPr lang="en-US" altLang="zh-CN" sz="2400" b="0" i="1" kern="0" smtClean="0">
                              <a:solidFill>
                                <a:srgbClr val="FF0000"/>
                              </a:solidFill>
                              <a:latin typeface="Cambria Math" panose="02040503050406030204" pitchFamily="18" charset="0"/>
                            </a:rPr>
                            <m:t>𝑊</m:t>
                          </m:r>
                        </m:e>
                        <m:sub>
                          <m:r>
                            <m:rPr>
                              <m:sty m:val="p"/>
                            </m:rPr>
                            <a:rPr lang="en-US" altLang="zh-CN" sz="2400" i="1" kern="0">
                              <a:solidFill>
                                <a:srgbClr val="FF0000"/>
                              </a:solidFill>
                              <a:latin typeface="Cambria Math" panose="02040503050406030204" pitchFamily="18" charset="0"/>
                            </a:rPr>
                            <m:t>p</m:t>
                          </m:r>
                        </m:sub>
                      </m:sSub>
                      <m:sSub>
                        <m:sSubPr>
                          <m:ctrlPr>
                            <a:rPr lang="en-US" altLang="zh-CN" sz="2400" i="1" kern="0">
                              <a:solidFill>
                                <a:srgbClr val="FF0000"/>
                              </a:solidFill>
                              <a:latin typeface="Cambria Math" panose="02040503050406030204" pitchFamily="18" charset="0"/>
                            </a:rPr>
                          </m:ctrlPr>
                        </m:sSubPr>
                        <m:e>
                          <m:r>
                            <a:rPr lang="en-US" altLang="zh-CN" sz="2400" b="0" i="1" kern="0" smtClean="0">
                              <a:solidFill>
                                <a:srgbClr val="FF0000"/>
                              </a:solidFill>
                              <a:latin typeface="Cambria Math" panose="02040503050406030204" pitchFamily="18" charset="0"/>
                            </a:rPr>
                            <m:t>𝑥</m:t>
                          </m:r>
                        </m:e>
                        <m:sub>
                          <m:r>
                            <a:rPr lang="en-US" altLang="zh-CN" sz="2400" b="0" i="1" kern="0" smtClean="0">
                              <a:solidFill>
                                <a:srgbClr val="FF0000"/>
                              </a:solidFill>
                              <a:latin typeface="Cambria Math" panose="02040503050406030204" pitchFamily="18" charset="0"/>
                            </a:rPr>
                            <m:t>𝑗</m:t>
                          </m:r>
                        </m:sub>
                      </m:sSub>
                      <m:r>
                        <a:rPr lang="en-US" altLang="zh-CN" sz="2400" b="0" i="1" kern="0" smtClean="0">
                          <a:solidFill>
                            <a:srgbClr val="FF0000"/>
                          </a:solidFill>
                          <a:latin typeface="Cambria Math" panose="02040503050406030204" pitchFamily="18" charset="0"/>
                        </a:rPr>
                        <m:t>+</m:t>
                      </m:r>
                      <m:sSub>
                        <m:sSubPr>
                          <m:ctrlPr>
                            <a:rPr kumimoji="0" lang="en-US" altLang="zh-CN" sz="2400" b="0" i="1" u="none" strike="noStrike" kern="0" cap="none" spc="0" normalizeH="0" baseline="0" noProof="0">
                              <a:ln>
                                <a:noFill/>
                              </a:ln>
                              <a:solidFill>
                                <a:srgbClr val="FF0000"/>
                              </a:solidFill>
                              <a:effectLst/>
                              <a:uLnTx/>
                              <a:uFillTx/>
                              <a:latin typeface="Cambria Math" panose="02040503050406030204" pitchFamily="18" charset="0"/>
                            </a:rPr>
                          </m:ctrlPr>
                        </m:sSubPr>
                        <m:e>
                          <m:r>
                            <a:rPr kumimoji="0" lang="en-US" altLang="zh-CN" sz="2400" b="0" i="1" u="none" strike="noStrike" kern="0" cap="none" spc="0" normalizeH="0" baseline="0" noProof="0">
                              <a:ln>
                                <a:noFill/>
                              </a:ln>
                              <a:solidFill>
                                <a:srgbClr val="FF0000"/>
                              </a:solidFill>
                              <a:effectLst/>
                              <a:uLnTx/>
                              <a:uFillTx/>
                              <a:latin typeface="Cambria Math" panose="02040503050406030204" pitchFamily="18" charset="0"/>
                            </a:rPr>
                            <m:t>𝑥</m:t>
                          </m:r>
                        </m:e>
                        <m:sub>
                          <m:r>
                            <a:rPr kumimoji="0" lang="en-US" altLang="zh-CN" sz="2400" b="0" i="1" u="none" strike="noStrike" kern="0" cap="none" spc="0" normalizeH="0" baseline="0" noProof="0">
                              <a:ln>
                                <a:noFill/>
                              </a:ln>
                              <a:solidFill>
                                <a:srgbClr val="FF0000"/>
                              </a:solidFill>
                              <a:effectLst/>
                              <a:uLnTx/>
                              <a:uFillTx/>
                              <a:latin typeface="Cambria Math" panose="02040503050406030204" pitchFamily="18" charset="0"/>
                            </a:rPr>
                            <m:t>𝑗</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𝑚</m:t>
                          </m:r>
                        </m:sub>
                      </m:sSub>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𝑚𝑜𝑑</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 </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𝑝</m:t>
                      </m:r>
                      <m:r>
                        <a:rPr kumimoji="0" lang="en-US" altLang="zh-CN" sz="2400" b="0" i="1" u="none" strike="noStrike" kern="0" cap="none" spc="0" normalizeH="0" baseline="0" noProof="0" smtClean="0">
                          <a:ln>
                            <a:noFill/>
                          </a:ln>
                          <a:solidFill>
                            <a:srgbClr val="FF0000"/>
                          </a:solidFill>
                          <a:effectLst/>
                          <a:uLnTx/>
                          <a:uFillTx/>
                          <a:latin typeface="Cambria Math" panose="02040503050406030204" pitchFamily="18" charset="0"/>
                        </a:rPr>
                        <m:t>)</m:t>
                      </m:r>
                    </m:oMath>
                  </m:oMathPara>
                </a14:m>
                <a:endParaRPr lang="en-US" altLang="zh-CN" sz="2400" dirty="0">
                  <a:solidFill>
                    <a:srgbClr val="FF0000"/>
                  </a:solidFill>
                </a:endParaRPr>
              </a:p>
              <a:p>
                <a:pPr marL="0" indent="0" eaLnBrk="1" hangingPunct="1">
                  <a:buNone/>
                </a:pPr>
                <a:endParaRPr lang="en-US" altLang="zh-CN" sz="2400" dirty="0"/>
              </a:p>
            </p:txBody>
          </p:sp>
        </mc:Choice>
        <mc:Fallback xmlns="">
          <p:sp>
            <p:nvSpPr>
              <p:cNvPr id="3" name="文本框 2">
                <a:extLst>
                  <a:ext uri="{FF2B5EF4-FFF2-40B4-BE49-F238E27FC236}">
                    <a16:creationId xmlns:a16="http://schemas.microsoft.com/office/drawing/2014/main" id="{7590665E-4767-3255-316E-390EB4B552DC}"/>
                  </a:ext>
                </a:extLst>
              </p:cNvPr>
              <p:cNvSpPr txBox="1">
                <a:spLocks noRot="1" noChangeAspect="1" noMove="1" noResize="1" noEditPoints="1" noAdjustHandles="1" noChangeArrowheads="1" noChangeShapeType="1" noTextEdit="1"/>
              </p:cNvSpPr>
              <p:nvPr/>
            </p:nvSpPr>
            <p:spPr>
              <a:xfrm>
                <a:off x="1043608" y="1196975"/>
                <a:ext cx="8043737" cy="4896533"/>
              </a:xfrm>
              <a:prstGeom prst="rect">
                <a:avLst/>
              </a:prstGeom>
              <a:blipFill>
                <a:blip r:embed="rId3"/>
                <a:stretch>
                  <a:fillRect l="-1515" t="-1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6313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4EFF462-2738-12C7-803F-C7496BC59467}"/>
                  </a:ext>
                </a:extLst>
              </p:cNvPr>
              <p:cNvSpPr/>
              <p:nvPr/>
            </p:nvSpPr>
            <p:spPr bwMode="auto">
              <a:xfrm>
                <a:off x="879475" y="1052736"/>
                <a:ext cx="7869238" cy="5368714"/>
              </a:xfrm>
              <a:prstGeom prst="rect">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110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zh-CN" altLang="en-US"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rPr>
                  <a:t>算法</a:t>
                </a:r>
                <a:r>
                  <a:rPr kumimoji="0" lang="en-US" altLang="zh-CN"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rPr>
                  <a:t> 14.4 - </a:t>
                </a:r>
                <a:r>
                  <a:rPr lang="en-US" altLang="zh-CN" sz="3200" b="1" kern="0" dirty="0">
                    <a:solidFill>
                      <a:srgbClr val="333399"/>
                    </a:solidFill>
                    <a:latin typeface="华文楷体" panose="02010600040101010101" pitchFamily="2" charset="-122"/>
                    <a:ea typeface="华文楷体" panose="02010600040101010101" pitchFamily="2" charset="-122"/>
                  </a:rPr>
                  <a:t>P</a:t>
                </a:r>
                <a:r>
                  <a:rPr kumimoji="0" lang="en-US" altLang="zh-CN" sz="3200" b="1" u="none" strike="noStrike" kern="0" cap="none" spc="0" normalizeH="0" baseline="0" noProof="0" dirty="0" err="1">
                    <a:ln>
                      <a:noFill/>
                    </a:ln>
                    <a:solidFill>
                      <a:srgbClr val="333399"/>
                    </a:solidFill>
                    <a:effectLst/>
                    <a:uLnTx/>
                    <a:uFillTx/>
                    <a:latin typeface="华文楷体" panose="02010600040101010101" pitchFamily="2" charset="-122"/>
                    <a:ea typeface="华文楷体" panose="02010600040101010101" pitchFamily="2" charset="-122"/>
                  </a:rPr>
                  <a:t>atternMatching</a:t>
                </a:r>
                <a:endParaRPr kumimoji="0" lang="en-US" altLang="zh-CN"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endParaRPr kumimoji="0" lang="en-US" altLang="zh-CN" sz="2100" u="none" strike="noStrike" kern="0" cap="none" spc="0" normalizeH="0" baseline="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r>
                  <a:rPr kumimoji="0" lang="zh-CN" altLang="en-US" sz="2100"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输入</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a:t>
                </a: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长度为</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n</a:t>
                </a:r>
                <a:r>
                  <a:rPr lang="zh-CN" altLang="en-US" sz="2100" kern="0" dirty="0">
                    <a:solidFill>
                      <a:srgbClr val="333399"/>
                    </a:solidFill>
                    <a:latin typeface="Arial Unicode MS" panose="020B0604020202020204" pitchFamily="34" charset="-122"/>
                    <a:ea typeface="华文楷体" panose="02010600040101010101" pitchFamily="2" charset="-122"/>
                  </a:rPr>
                  <a:t>的文本串</a:t>
                </a:r>
                <a:r>
                  <a:rPr lang="en-US" altLang="zh-CN" sz="2100" kern="0" dirty="0">
                    <a:solidFill>
                      <a:srgbClr val="333399"/>
                    </a:solidFill>
                    <a:latin typeface="Arial Unicode MS" panose="020B0604020202020204" pitchFamily="34" charset="-122"/>
                    <a:ea typeface="华文楷体" panose="02010600040101010101" pitchFamily="2" charset="-122"/>
                  </a:rPr>
                  <a:t>X</a:t>
                </a:r>
                <a:r>
                  <a:rPr lang="zh-CN" altLang="en-US" sz="2100" kern="0" dirty="0">
                    <a:solidFill>
                      <a:srgbClr val="333399"/>
                    </a:solidFill>
                    <a:latin typeface="Arial Unicode MS" panose="020B0604020202020204" pitchFamily="34" charset="-122"/>
                    <a:ea typeface="华文楷体" panose="02010600040101010101" pitchFamily="2" charset="-122"/>
                  </a:rPr>
                  <a:t>和长度为</a:t>
                </a:r>
                <a:r>
                  <a:rPr lang="en-US" altLang="zh-CN" sz="2100" kern="0" dirty="0">
                    <a:solidFill>
                      <a:srgbClr val="333399"/>
                    </a:solidFill>
                    <a:latin typeface="Arial Unicode MS" panose="020B0604020202020204" pitchFamily="34" charset="-122"/>
                    <a:ea typeface="华文楷体" panose="02010600040101010101" pitchFamily="2" charset="-122"/>
                  </a:rPr>
                  <a:t>m</a:t>
                </a:r>
                <a:r>
                  <a:rPr lang="zh-CN" altLang="en-US" sz="2100" kern="0" dirty="0">
                    <a:solidFill>
                      <a:srgbClr val="333399"/>
                    </a:solidFill>
                    <a:latin typeface="Arial Unicode MS" panose="020B0604020202020204" pitchFamily="34" charset="-122"/>
                    <a:ea typeface="华文楷体" panose="02010600040101010101" pitchFamily="2" charset="-122"/>
                  </a:rPr>
                  <a:t>的模式</a:t>
                </a:r>
                <a:r>
                  <a:rPr lang="en-US" altLang="zh-CN" sz="2100" kern="0" dirty="0">
                    <a:solidFill>
                      <a:srgbClr val="333399"/>
                    </a:solidFill>
                    <a:latin typeface="Arial Unicode MS" panose="020B0604020202020204" pitchFamily="34" charset="-122"/>
                    <a:ea typeface="华文楷体" panose="02010600040101010101" pitchFamily="2" charset="-122"/>
                  </a:rPr>
                  <a:t>Y.</a:t>
                </a:r>
                <a:endPar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r>
                  <a:rPr kumimoji="0" lang="zh-CN" altLang="en-US" sz="2100"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输出</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a:t>
                </a: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如果</a:t>
                </a:r>
                <a:r>
                  <a:rPr lang="en-US" altLang="zh-CN" sz="2100" kern="0" dirty="0">
                    <a:solidFill>
                      <a:srgbClr val="333399"/>
                    </a:solidFill>
                    <a:latin typeface="Arial Unicode MS" panose="020B0604020202020204" pitchFamily="34" charset="-122"/>
                    <a:ea typeface="华文楷体" panose="02010600040101010101" pitchFamily="2" charset="-122"/>
                  </a:rPr>
                  <a:t>Y</a:t>
                </a:r>
                <a:r>
                  <a:rPr lang="zh-CN" altLang="en-US" sz="2100" kern="0" dirty="0">
                    <a:solidFill>
                      <a:srgbClr val="333399"/>
                    </a:solidFill>
                    <a:latin typeface="Arial Unicode MS" panose="020B0604020202020204" pitchFamily="34" charset="-122"/>
                    <a:ea typeface="华文楷体" panose="02010600040101010101" pitchFamily="2" charset="-122"/>
                  </a:rPr>
                  <a:t>在</a:t>
                </a:r>
                <a:r>
                  <a:rPr lang="en-US" altLang="zh-CN" sz="2100" kern="0" dirty="0">
                    <a:solidFill>
                      <a:srgbClr val="333399"/>
                    </a:solidFill>
                    <a:latin typeface="Arial Unicode MS" panose="020B0604020202020204" pitchFamily="34" charset="-122"/>
                    <a:ea typeface="华文楷体" panose="02010600040101010101" pitchFamily="2" charset="-122"/>
                  </a:rPr>
                  <a:t>X</a:t>
                </a:r>
                <a:r>
                  <a:rPr lang="zh-CN" altLang="en-US" sz="2100" kern="0" dirty="0">
                    <a:solidFill>
                      <a:srgbClr val="333399"/>
                    </a:solidFill>
                    <a:latin typeface="Arial Unicode MS" panose="020B0604020202020204" pitchFamily="34" charset="-122"/>
                    <a:ea typeface="华文楷体" panose="02010600040101010101" pitchFamily="2" charset="-122"/>
                  </a:rPr>
                  <a:t>中，则返回</a:t>
                </a:r>
                <a:r>
                  <a:rPr lang="en-US" altLang="zh-CN" sz="2100" kern="0" dirty="0">
                    <a:solidFill>
                      <a:srgbClr val="333399"/>
                    </a:solidFill>
                    <a:latin typeface="Arial Unicode MS" panose="020B0604020202020204" pitchFamily="34" charset="-122"/>
                    <a:ea typeface="华文楷体" panose="02010600040101010101" pitchFamily="2" charset="-122"/>
                  </a:rPr>
                  <a:t>Y</a:t>
                </a:r>
                <a:r>
                  <a:rPr lang="zh-CN" altLang="en-US" sz="2100" kern="0" dirty="0">
                    <a:solidFill>
                      <a:srgbClr val="333399"/>
                    </a:solidFill>
                    <a:latin typeface="Arial Unicode MS" panose="020B0604020202020204" pitchFamily="34" charset="-122"/>
                    <a:ea typeface="华文楷体" panose="02010600040101010101" pitchFamily="2" charset="-122"/>
                  </a:rPr>
                  <a:t>在</a:t>
                </a:r>
                <a:r>
                  <a:rPr lang="en-US" altLang="zh-CN" sz="2100" kern="0" dirty="0">
                    <a:solidFill>
                      <a:srgbClr val="333399"/>
                    </a:solidFill>
                    <a:latin typeface="Arial Unicode MS" panose="020B0604020202020204" pitchFamily="34" charset="-122"/>
                    <a:ea typeface="华文楷体" panose="02010600040101010101" pitchFamily="2" charset="-122"/>
                  </a:rPr>
                  <a:t>X</a:t>
                </a:r>
                <a:r>
                  <a:rPr lang="zh-CN" altLang="en-US" sz="2100" kern="0" dirty="0">
                    <a:solidFill>
                      <a:srgbClr val="333399"/>
                    </a:solidFill>
                    <a:latin typeface="Arial Unicode MS" panose="020B0604020202020204" pitchFamily="34" charset="-122"/>
                    <a:ea typeface="华文楷体" panose="02010600040101010101" pitchFamily="2" charset="-122"/>
                  </a:rPr>
                  <a:t>中的第一个位置；否则返回</a:t>
                </a:r>
                <a:r>
                  <a:rPr lang="en-US" altLang="zh-CN" sz="2100" kern="0" dirty="0">
                    <a:solidFill>
                      <a:srgbClr val="333399"/>
                    </a:solidFill>
                    <a:latin typeface="Arial Unicode MS" panose="020B0604020202020204" pitchFamily="34" charset="-122"/>
                    <a:ea typeface="华文楷体" panose="02010600040101010101" pitchFamily="2" charset="-122"/>
                  </a:rPr>
                  <a:t>0.</a:t>
                </a:r>
              </a:p>
              <a:p>
                <a:pPr marL="742950" marR="0" lvl="1" indent="-285750" algn="l" defTabSz="914400" rtl="0" eaLnBrk="1" fontAlgn="base" latinLnBrk="0" hangingPunct="1">
                  <a:lnSpc>
                    <a:spcPct val="80000"/>
                  </a:lnSpc>
                  <a:spcBef>
                    <a:spcPct val="20000"/>
                  </a:spcBef>
                  <a:spcAft>
                    <a:spcPct val="0"/>
                  </a:spcAft>
                  <a:buClrTx/>
                  <a:buSzTx/>
                  <a:buFontTx/>
                  <a:buNone/>
                  <a:tabLst/>
                  <a:defRPr/>
                </a:pPr>
                <a:endPar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914400" marR="0" lvl="1" indent="-457200" algn="l" defTabSz="914400" rtl="0" eaLnBrk="1" fontAlgn="base" latinLnBrk="0" hangingPunct="1">
                  <a:lnSpc>
                    <a:spcPct val="80000"/>
                  </a:lnSpc>
                  <a:spcBef>
                    <a:spcPct val="20000"/>
                  </a:spcBef>
                  <a:spcAft>
                    <a:spcPct val="0"/>
                  </a:spcAft>
                  <a:buClrTx/>
                  <a:buSzTx/>
                  <a:buFontTx/>
                  <a:buAutoNum type="arabicPeriod"/>
                  <a:tabLst/>
                  <a:defRPr/>
                </a:pP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从小于</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M</a:t>
                </a: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的素数集中随机选择素数</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p</a:t>
                </a:r>
              </a:p>
              <a:p>
                <a:pPr marL="914400" marR="0" lvl="1" indent="-457200" algn="l" defTabSz="914400" rtl="0" eaLnBrk="1" fontAlgn="base" latinLnBrk="0" hangingPunct="1">
                  <a:lnSpc>
                    <a:spcPct val="80000"/>
                  </a:lnSpc>
                  <a:spcBef>
                    <a:spcPct val="20000"/>
                  </a:spcBef>
                  <a:spcAft>
                    <a:spcPct val="0"/>
                  </a:spcAft>
                  <a:buClrTx/>
                  <a:buSzTx/>
                  <a:buFontTx/>
                  <a:buAutoNum type="arabicPeriod"/>
                  <a:tabLst/>
                  <a:defRPr/>
                </a:pPr>
                <a:r>
                  <a:rPr lang="en-US" altLang="zh-CN" sz="2100" i="1" kern="0" dirty="0">
                    <a:solidFill>
                      <a:srgbClr val="333399"/>
                    </a:solidFill>
                    <a:latin typeface="Arial Unicode MS" panose="020B0604020202020204" pitchFamily="34" charset="-122"/>
                    <a:ea typeface="华文楷体" panose="02010600040101010101" pitchFamily="2" charset="-122"/>
                  </a:rPr>
                  <a:t> j </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sym typeface="Wingdings" pitchFamily="2" charset="2"/>
                  </a:rPr>
                  <a:t></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1</a:t>
                </a:r>
              </a:p>
              <a:p>
                <a:pPr marL="914400" marR="0" lvl="1" indent="-457200" algn="l" defTabSz="914400" rtl="0" eaLnBrk="1" fontAlgn="base" latinLnBrk="0" hangingPunct="1">
                  <a:lnSpc>
                    <a:spcPct val="80000"/>
                  </a:lnSpc>
                  <a:spcBef>
                    <a:spcPct val="20000"/>
                  </a:spcBef>
                  <a:spcAft>
                    <a:spcPct val="0"/>
                  </a:spcAft>
                  <a:buClrTx/>
                  <a:buSzTx/>
                  <a:buFontTx/>
                  <a:buAutoNum type="arabicPeriod"/>
                  <a:tabLst/>
                  <a:defRPr/>
                </a:pP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计算 </a:t>
                </a:r>
                <a14:m>
                  <m:oMath xmlns:m="http://schemas.openxmlformats.org/officeDocument/2006/math">
                    <m:sSub>
                      <m:sSub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sSub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𝑊</m:t>
                        </m:r>
                      </m:e>
                      <m: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𝑝</m:t>
                        </m:r>
                      </m:sub>
                    </m:s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m:t>
                    </m:r>
                    <m:sSup>
                      <m:sSup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sSup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2</m:t>
                        </m:r>
                      </m:e>
                      <m:sup>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𝑚</m:t>
                        </m:r>
                      </m:sup>
                    </m:sSup>
                    <m:d>
                      <m:d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d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𝑚𝑜𝑑</m:t>
                        </m:r>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 </m:t>
                        </m:r>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𝑝</m:t>
                        </m:r>
                      </m:e>
                    </m:d>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  </m:t>
                    </m:r>
                    <m:sSub>
                      <m:sSub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sSub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𝐼</m:t>
                        </m:r>
                      </m:e>
                      <m: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𝑃</m:t>
                        </m:r>
                      </m:sub>
                    </m:sSub>
                    <m:d>
                      <m:d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d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𝑌</m:t>
                        </m:r>
                      </m:e>
                    </m:d>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  </m:t>
                    </m:r>
                    <m:sSub>
                      <m:sSub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sSub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𝐼</m:t>
                        </m:r>
                      </m:e>
                      <m: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𝑝</m:t>
                        </m:r>
                      </m:sub>
                    </m:s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m:t>
                    </m:r>
                    <m:sSub>
                      <m:sSubPr>
                        <m:ctrlPr>
                          <a:rPr kumimoji="0" lang="en-US" altLang="zh-CN" sz="210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ctrlPr>
                      </m:sSubPr>
                      <m:e>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𝑋</m:t>
                        </m:r>
                      </m:e>
                      <m: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𝑗</m:t>
                        </m:r>
                      </m:sub>
                    </m:sSub>
                    <m:r>
                      <a:rPr kumimoji="0" lang="en-US" altLang="zh-CN" sz="2100" b="0" i="1" u="none" strike="noStrike" kern="0" cap="none" spc="0" noProof="0" smtClean="0">
                        <a:ln>
                          <a:noFill/>
                        </a:ln>
                        <a:solidFill>
                          <a:srgbClr val="333399"/>
                        </a:solidFill>
                        <a:effectLst/>
                        <a:uLnTx/>
                        <a:uFillTx/>
                        <a:latin typeface="Cambria Math" panose="02040503050406030204" pitchFamily="18" charset="0"/>
                        <a:ea typeface="华文行楷" pitchFamily="2" charset="-122"/>
                      </a:rPr>
                      <m:t>)</m:t>
                    </m:r>
                  </m:oMath>
                </a14:m>
                <a:endParaRPr kumimoji="0" lang="en-US" altLang="zh-CN" sz="2100" i="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914400" marR="0" lvl="1" indent="-457200" algn="l" defTabSz="914400" rtl="0" eaLnBrk="1" fontAlgn="base" latinLnBrk="0" hangingPunct="1">
                  <a:lnSpc>
                    <a:spcPct val="80000"/>
                  </a:lnSpc>
                  <a:spcBef>
                    <a:spcPct val="20000"/>
                  </a:spcBef>
                  <a:spcAft>
                    <a:spcPct val="0"/>
                  </a:spcAft>
                  <a:buClrTx/>
                  <a:buSzTx/>
                  <a:buFontTx/>
                  <a:buAutoNum type="arabicPeriod"/>
                  <a:tabLst/>
                  <a:defRPr/>
                </a:pPr>
                <a:r>
                  <a:rPr lang="en-US" altLang="zh-CN" sz="2100" kern="0" dirty="0">
                    <a:solidFill>
                      <a:srgbClr val="333399"/>
                    </a:solidFill>
                    <a:latin typeface="Arial Unicode MS" panose="020B0604020202020204" pitchFamily="34" charset="-122"/>
                    <a:ea typeface="华文楷体" panose="02010600040101010101" pitchFamily="2" charset="-122"/>
                  </a:rPr>
                  <a:t> </a:t>
                </a:r>
                <a:r>
                  <a:rPr lang="en-US" altLang="zh-CN" sz="2100" b="1" kern="0" dirty="0">
                    <a:solidFill>
                      <a:srgbClr val="333399"/>
                    </a:solidFill>
                    <a:latin typeface="Arial Unicode MS" panose="020B0604020202020204" pitchFamily="34" charset="-122"/>
                    <a:ea typeface="华文楷体" panose="02010600040101010101" pitchFamily="2" charset="-122"/>
                  </a:rPr>
                  <a:t>while</a:t>
                </a:r>
                <a:r>
                  <a:rPr lang="en-US" altLang="zh-CN" sz="2100"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r>
                      <a:rPr lang="en-US" altLang="zh-CN" sz="2100" b="0" i="1" kern="0" smtClean="0">
                        <a:solidFill>
                          <a:srgbClr val="333399"/>
                        </a:solidFill>
                        <a:latin typeface="Cambria Math" panose="02040503050406030204" pitchFamily="18" charset="0"/>
                        <a:ea typeface="华文行楷" pitchFamily="2" charset="-122"/>
                      </a:rPr>
                      <m:t>𝑗</m:t>
                    </m:r>
                    <m:r>
                      <a:rPr lang="en-US" altLang="zh-CN" sz="2100" b="0" i="1" kern="0" smtClean="0">
                        <a:solidFill>
                          <a:srgbClr val="333399"/>
                        </a:solidFill>
                        <a:latin typeface="Cambria Math" panose="02040503050406030204" pitchFamily="18" charset="0"/>
                        <a:ea typeface="Cambria Math" panose="02040503050406030204" pitchFamily="18" charset="0"/>
                      </a:rPr>
                      <m:t>≤</m:t>
                    </m:r>
                    <m:r>
                      <a:rPr lang="en-US" altLang="zh-CN" sz="2100" b="0" i="1" kern="0" smtClean="0">
                        <a:solidFill>
                          <a:srgbClr val="333399"/>
                        </a:solidFill>
                        <a:latin typeface="Cambria Math" panose="02040503050406030204" pitchFamily="18" charset="0"/>
                        <a:ea typeface="Cambria Math" panose="02040503050406030204" pitchFamily="18" charset="0"/>
                      </a:rPr>
                      <m:t>𝑛</m:t>
                    </m:r>
                    <m:r>
                      <a:rPr lang="en-US" altLang="zh-CN" sz="2100" b="0" i="1" kern="0" smtClean="0">
                        <a:solidFill>
                          <a:srgbClr val="333399"/>
                        </a:solidFill>
                        <a:latin typeface="Cambria Math" panose="02040503050406030204" pitchFamily="18" charset="0"/>
                        <a:ea typeface="Cambria Math" panose="02040503050406030204" pitchFamily="18" charset="0"/>
                      </a:rPr>
                      <m:t>−</m:t>
                    </m:r>
                    <m:r>
                      <a:rPr lang="en-US" altLang="zh-CN" sz="2100" b="0" i="1" kern="0" smtClean="0">
                        <a:solidFill>
                          <a:srgbClr val="333399"/>
                        </a:solidFill>
                        <a:latin typeface="Cambria Math" panose="02040503050406030204" pitchFamily="18" charset="0"/>
                        <a:ea typeface="Cambria Math" panose="02040503050406030204" pitchFamily="18" charset="0"/>
                      </a:rPr>
                      <m:t>𝑚</m:t>
                    </m:r>
                    <m:r>
                      <a:rPr lang="en-US" altLang="zh-CN" sz="2100" b="0" i="1" kern="0" smtClean="0">
                        <a:solidFill>
                          <a:srgbClr val="333399"/>
                        </a:solidFill>
                        <a:latin typeface="Cambria Math" panose="02040503050406030204" pitchFamily="18" charset="0"/>
                        <a:ea typeface="Cambria Math" panose="02040503050406030204" pitchFamily="18" charset="0"/>
                      </a:rPr>
                      <m:t>+1</m:t>
                    </m:r>
                  </m:oMath>
                </a14:m>
                <a:endParaRPr lang="en-US" altLang="zh-CN" sz="2100" i="1"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sz="2100" kern="0" dirty="0">
                    <a:solidFill>
                      <a:srgbClr val="333399"/>
                    </a:solidFill>
                    <a:latin typeface="Arial Unicode MS" panose="020B0604020202020204" pitchFamily="34" charset="-122"/>
                    <a:ea typeface="华文楷体" panose="02010600040101010101" pitchFamily="2" charset="-122"/>
                  </a:rPr>
                  <a:t>      </a:t>
                </a:r>
                <a:r>
                  <a:rPr lang="en-US" altLang="zh-CN" sz="2100" b="1" kern="0" dirty="0">
                    <a:solidFill>
                      <a:srgbClr val="333399"/>
                    </a:solidFill>
                    <a:latin typeface="Arial Unicode MS" panose="020B0604020202020204" pitchFamily="34" charset="-122"/>
                    <a:ea typeface="华文楷体" panose="02010600040101010101" pitchFamily="2" charset="-122"/>
                  </a:rPr>
                  <a:t>if</a:t>
                </a:r>
                <a:r>
                  <a:rPr lang="en-US" altLang="zh-CN" sz="2100"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i="1" kern="0">
                            <a:solidFill>
                              <a:srgbClr val="333399"/>
                            </a:solidFill>
                            <a:latin typeface="Cambria Math" panose="02040503050406030204" pitchFamily="18" charset="0"/>
                            <a:ea typeface="华文行楷" pitchFamily="2" charset="-122"/>
                          </a:rPr>
                          <m:t>𝐼</m:t>
                        </m:r>
                      </m:e>
                      <m:sub>
                        <m:r>
                          <a:rPr lang="en-US" altLang="zh-CN" sz="2100" i="1" kern="0">
                            <a:solidFill>
                              <a:srgbClr val="333399"/>
                            </a:solidFill>
                            <a:latin typeface="Cambria Math" panose="02040503050406030204" pitchFamily="18" charset="0"/>
                            <a:ea typeface="华文行楷" pitchFamily="2" charset="-122"/>
                          </a:rPr>
                          <m:t>𝑝</m:t>
                        </m:r>
                      </m:sub>
                    </m:sSub>
                    <m:d>
                      <m:dPr>
                        <m:ctrlPr>
                          <a:rPr lang="en-US" altLang="zh-CN" sz="2100" i="1" kern="0">
                            <a:solidFill>
                              <a:srgbClr val="333399"/>
                            </a:solidFill>
                            <a:latin typeface="Cambria Math" panose="02040503050406030204" pitchFamily="18" charset="0"/>
                            <a:ea typeface="华文行楷" pitchFamily="2" charset="-122"/>
                          </a:rPr>
                        </m:ctrlPr>
                      </m:dPr>
                      <m:e>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i="1" kern="0">
                                <a:solidFill>
                                  <a:srgbClr val="333399"/>
                                </a:solidFill>
                                <a:latin typeface="Cambria Math" panose="02040503050406030204" pitchFamily="18" charset="0"/>
                                <a:ea typeface="华文行楷" pitchFamily="2" charset="-122"/>
                              </a:rPr>
                              <m:t>𝑋</m:t>
                            </m:r>
                          </m:e>
                          <m:sub>
                            <m:r>
                              <a:rPr lang="en-US" altLang="zh-CN" sz="2100" i="1" kern="0">
                                <a:solidFill>
                                  <a:srgbClr val="333399"/>
                                </a:solidFill>
                                <a:latin typeface="Cambria Math" panose="02040503050406030204" pitchFamily="18" charset="0"/>
                                <a:ea typeface="华文行楷" pitchFamily="2" charset="-122"/>
                              </a:rPr>
                              <m:t>𝑗</m:t>
                            </m:r>
                          </m:sub>
                        </m:sSub>
                      </m:e>
                    </m:d>
                    <m:r>
                      <a:rPr lang="en-US" altLang="zh-CN" sz="2100" i="1" kern="0">
                        <a:solidFill>
                          <a:srgbClr val="333399"/>
                        </a:solidFill>
                        <a:latin typeface="Cambria Math" panose="02040503050406030204" pitchFamily="18" charset="0"/>
                        <a:ea typeface="华文行楷" pitchFamily="2" charset="-122"/>
                      </a:rPr>
                      <m:t>=</m:t>
                    </m:r>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i="1" kern="0">
                            <a:solidFill>
                              <a:srgbClr val="333399"/>
                            </a:solidFill>
                            <a:latin typeface="Cambria Math" panose="02040503050406030204" pitchFamily="18" charset="0"/>
                            <a:ea typeface="华文行楷" pitchFamily="2" charset="-122"/>
                          </a:rPr>
                          <m:t>𝐼</m:t>
                        </m:r>
                      </m:e>
                      <m:sub>
                        <m:r>
                          <a:rPr lang="en-US" altLang="zh-CN" sz="2100" i="1" kern="0">
                            <a:solidFill>
                              <a:srgbClr val="333399"/>
                            </a:solidFill>
                            <a:latin typeface="Cambria Math" panose="02040503050406030204" pitchFamily="18" charset="0"/>
                            <a:ea typeface="华文行楷" pitchFamily="2" charset="-122"/>
                          </a:rPr>
                          <m:t>𝑝</m:t>
                        </m:r>
                      </m:sub>
                    </m:sSub>
                    <m:r>
                      <a:rPr lang="en-US" altLang="zh-CN" sz="2100" i="1" kern="0">
                        <a:solidFill>
                          <a:srgbClr val="333399"/>
                        </a:solidFill>
                        <a:latin typeface="Cambria Math" panose="02040503050406030204" pitchFamily="18" charset="0"/>
                        <a:ea typeface="华文行楷" pitchFamily="2" charset="-122"/>
                      </a:rPr>
                      <m:t>(</m:t>
                    </m:r>
                    <m:r>
                      <a:rPr lang="en-US" altLang="zh-CN" sz="2100" i="1" kern="0">
                        <a:solidFill>
                          <a:srgbClr val="333399"/>
                        </a:solidFill>
                        <a:latin typeface="Cambria Math" panose="02040503050406030204" pitchFamily="18" charset="0"/>
                        <a:ea typeface="华文行楷" pitchFamily="2" charset="-122"/>
                      </a:rPr>
                      <m:t>𝑌</m:t>
                    </m:r>
                    <m:r>
                      <a:rPr lang="en-US" altLang="zh-CN" sz="2100" i="1" kern="0">
                        <a:solidFill>
                          <a:srgbClr val="333399"/>
                        </a:solidFill>
                        <a:latin typeface="Cambria Math" panose="02040503050406030204" pitchFamily="18" charset="0"/>
                        <a:ea typeface="华文行楷" pitchFamily="2" charset="-122"/>
                      </a:rPr>
                      <m:t>)</m:t>
                    </m:r>
                  </m:oMath>
                </a14:m>
                <a:r>
                  <a:rPr lang="en-US" altLang="zh-CN" sz="2100" i="1" kern="0" dirty="0">
                    <a:solidFill>
                      <a:srgbClr val="333399"/>
                    </a:solidFill>
                    <a:latin typeface="Cambria Math" panose="02040503050406030204" pitchFamily="18" charset="0"/>
                    <a:ea typeface="华文行楷" pitchFamily="2" charset="-122"/>
                  </a:rPr>
                  <a:t>  </a:t>
                </a:r>
                <a:r>
                  <a:rPr lang="en-US" altLang="zh-CN" sz="2100" b="1" kern="0" dirty="0">
                    <a:solidFill>
                      <a:srgbClr val="333399"/>
                    </a:solidFill>
                    <a:latin typeface="Arial Unicode MS" panose="020B0604020202020204" pitchFamily="34" charset="-122"/>
                    <a:ea typeface="华文楷体" panose="02010600040101010101" pitchFamily="2" charset="-122"/>
                  </a:rPr>
                  <a:t>then return  </a:t>
                </a:r>
                <a14:m>
                  <m:oMath xmlns:m="http://schemas.openxmlformats.org/officeDocument/2006/math">
                    <m:r>
                      <m:rPr>
                        <m:sty m:val="p"/>
                      </m:rPr>
                      <a:rPr lang="en-US" altLang="zh-CN" sz="2100" b="0" i="0" kern="0" smtClean="0">
                        <a:solidFill>
                          <a:srgbClr val="333399"/>
                        </a:solidFill>
                        <a:latin typeface="Cambria Math" panose="02040503050406030204" pitchFamily="18" charset="0"/>
                        <a:ea typeface="华文行楷" pitchFamily="2" charset="-122"/>
                      </a:rPr>
                      <m:t>j</m:t>
                    </m:r>
                  </m:oMath>
                </a14:m>
                <a:r>
                  <a:rPr lang="en-US" altLang="zh-CN" sz="2100" kern="0" dirty="0">
                    <a:solidFill>
                      <a:srgbClr val="333399"/>
                    </a:solidFill>
                    <a:latin typeface="Arial Unicode MS" panose="020B0604020202020204" pitchFamily="34" charset="-122"/>
                    <a:ea typeface="华文楷体" panose="02010600040101010101" pitchFamily="2" charset="-122"/>
                  </a:rPr>
                  <a:t>    // (</a:t>
                </a:r>
                <a:r>
                  <a:rPr lang="zh-CN" altLang="en-US" sz="2100" kern="0" dirty="0">
                    <a:solidFill>
                      <a:srgbClr val="333399"/>
                    </a:solidFill>
                    <a:latin typeface="Arial Unicode MS" panose="020B0604020202020204" pitchFamily="34" charset="-122"/>
                    <a:ea typeface="华文楷体" panose="02010600040101010101" pitchFamily="2" charset="-122"/>
                  </a:rPr>
                  <a:t>可能</a:t>
                </a:r>
                <a:r>
                  <a:rPr lang="en-US" altLang="zh-CN" sz="2100" kern="0" dirty="0">
                    <a:solidFill>
                      <a:srgbClr val="333399"/>
                    </a:solidFill>
                    <a:latin typeface="Arial Unicode MS" panose="020B0604020202020204" pitchFamily="34" charset="-122"/>
                    <a:ea typeface="华文楷体" panose="02010600040101010101" pitchFamily="2" charset="-122"/>
                  </a:rPr>
                  <a:t>)</a:t>
                </a:r>
                <a:r>
                  <a:rPr lang="zh-CN" altLang="en-US" sz="2100" kern="0" dirty="0">
                    <a:solidFill>
                      <a:srgbClr val="333399"/>
                    </a:solidFill>
                    <a:latin typeface="Arial Unicode MS" panose="020B0604020202020204" pitchFamily="34" charset="-122"/>
                    <a:ea typeface="华文楷体" panose="02010600040101010101" pitchFamily="2" charset="-122"/>
                  </a:rPr>
                  <a:t>找到了匹配</a:t>
                </a:r>
                <a:endParaRPr lang="en-US" altLang="zh-CN" sz="2100"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sz="2100"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b="0" i="1" kern="0" smtClean="0">
                            <a:solidFill>
                              <a:srgbClr val="333399"/>
                            </a:solidFill>
                            <a:latin typeface="Cambria Math" panose="02040503050406030204" pitchFamily="18" charset="0"/>
                            <a:ea typeface="华文行楷" pitchFamily="2" charset="-122"/>
                          </a:rPr>
                          <m:t>𝐼</m:t>
                        </m:r>
                      </m:e>
                      <m:sub>
                        <m:r>
                          <a:rPr lang="en-US" altLang="zh-CN" sz="2100" b="0" i="1" kern="0" smtClean="0">
                            <a:solidFill>
                              <a:srgbClr val="333399"/>
                            </a:solidFill>
                            <a:latin typeface="Cambria Math" panose="02040503050406030204" pitchFamily="18" charset="0"/>
                            <a:ea typeface="华文行楷" pitchFamily="2" charset="-122"/>
                          </a:rPr>
                          <m:t>𝑝</m:t>
                        </m:r>
                      </m:sub>
                    </m:sSub>
                    <m:d>
                      <m:dPr>
                        <m:ctrlPr>
                          <a:rPr lang="en-US" altLang="zh-CN" sz="2100" i="1" kern="0">
                            <a:solidFill>
                              <a:srgbClr val="333399"/>
                            </a:solidFill>
                            <a:latin typeface="Cambria Math" panose="02040503050406030204" pitchFamily="18" charset="0"/>
                            <a:ea typeface="华文行楷" pitchFamily="2" charset="-122"/>
                          </a:rPr>
                        </m:ctrlPr>
                      </m:dPr>
                      <m:e>
                        <m:r>
                          <a:rPr lang="en-US" altLang="zh-CN" sz="2100" b="0" i="1" kern="0" smtClean="0">
                            <a:solidFill>
                              <a:srgbClr val="333399"/>
                            </a:solidFill>
                            <a:latin typeface="Cambria Math" panose="02040503050406030204" pitchFamily="18" charset="0"/>
                            <a:ea typeface="华文行楷" pitchFamily="2" charset="-122"/>
                          </a:rPr>
                          <m:t>𝑋</m:t>
                        </m:r>
                        <m:d>
                          <m:dPr>
                            <m:ctrlPr>
                              <a:rPr lang="en-US" altLang="zh-CN" sz="2100" i="1" kern="0">
                                <a:solidFill>
                                  <a:srgbClr val="333399"/>
                                </a:solidFill>
                                <a:latin typeface="Cambria Math" panose="02040503050406030204" pitchFamily="18" charset="0"/>
                                <a:ea typeface="华文行楷" pitchFamily="2" charset="-122"/>
                              </a:rPr>
                            </m:ctrlPr>
                          </m:dPr>
                          <m:e>
                            <m:r>
                              <a:rPr lang="en-US" altLang="zh-CN" sz="2100" b="0" i="1" kern="0" smtClean="0">
                                <a:solidFill>
                                  <a:srgbClr val="333399"/>
                                </a:solidFill>
                                <a:latin typeface="Cambria Math" panose="02040503050406030204" pitchFamily="18" charset="0"/>
                                <a:ea typeface="华文行楷" pitchFamily="2" charset="-122"/>
                              </a:rPr>
                              <m:t>𝑗</m:t>
                            </m:r>
                            <m:r>
                              <a:rPr lang="en-US" altLang="zh-CN" sz="2100" b="0" i="1" kern="0" smtClean="0">
                                <a:solidFill>
                                  <a:srgbClr val="333399"/>
                                </a:solidFill>
                                <a:latin typeface="Cambria Math" panose="02040503050406030204" pitchFamily="18" charset="0"/>
                                <a:ea typeface="华文行楷" pitchFamily="2" charset="-122"/>
                              </a:rPr>
                              <m:t>+1</m:t>
                            </m:r>
                          </m:e>
                        </m:d>
                      </m:e>
                    </m:d>
                    <m:r>
                      <m:rPr>
                        <m:nor/>
                      </m:rPr>
                      <a:rPr lang="en-US" altLang="zh-CN" sz="2100" b="0" i="0" kern="0" smtClean="0">
                        <a:solidFill>
                          <a:srgbClr val="333399"/>
                        </a:solidFill>
                        <a:latin typeface="Arial" charset="0"/>
                        <a:ea typeface="华文行楷" pitchFamily="2" charset="-122"/>
                      </a:rPr>
                      <m:t> </m:t>
                    </m:r>
                    <m:r>
                      <m:rPr>
                        <m:nor/>
                      </m:rPr>
                      <a:rPr lang="en-US" altLang="zh-CN" sz="2100" kern="0" dirty="0">
                        <a:solidFill>
                          <a:srgbClr val="333399"/>
                        </a:solidFill>
                        <a:latin typeface="Arial Unicode MS" panose="020B0604020202020204" pitchFamily="34" charset="-122"/>
                        <a:ea typeface="华文楷体" panose="02010600040101010101" pitchFamily="2" charset="-122"/>
                        <a:sym typeface="Wingdings" pitchFamily="2" charset="2"/>
                      </a:rPr>
                      <m:t></m:t>
                    </m:r>
                    <m:r>
                      <a:rPr lang="en-US" altLang="zh-CN" sz="2100" b="0" i="1" kern="0" dirty="0" smtClean="0">
                        <a:solidFill>
                          <a:srgbClr val="333399"/>
                        </a:solidFill>
                        <a:latin typeface="Cambria Math" panose="02040503050406030204" pitchFamily="18" charset="0"/>
                        <a:ea typeface="华文楷体" panose="02010600040101010101" pitchFamily="2" charset="-122"/>
                        <a:sym typeface="Wingdings" pitchFamily="2" charset="2"/>
                      </a:rPr>
                      <m:t> </m:t>
                    </m:r>
                    <m:r>
                      <a:rPr lang="en-US" altLang="zh-CN" sz="2100" b="0" i="1" kern="0" smtClean="0">
                        <a:solidFill>
                          <a:srgbClr val="333399"/>
                        </a:solidFill>
                        <a:latin typeface="Cambria Math" panose="02040503050406030204" pitchFamily="18" charset="0"/>
                        <a:ea typeface="华文行楷" pitchFamily="2" charset="-122"/>
                      </a:rPr>
                      <m:t>(</m:t>
                    </m:r>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b="0" i="1" kern="0" smtClean="0">
                            <a:solidFill>
                              <a:srgbClr val="333399"/>
                            </a:solidFill>
                            <a:latin typeface="Cambria Math" panose="02040503050406030204" pitchFamily="18" charset="0"/>
                            <a:ea typeface="华文行楷" pitchFamily="2" charset="-122"/>
                          </a:rPr>
                          <m:t>2</m:t>
                        </m:r>
                        <m:r>
                          <a:rPr lang="en-US" altLang="zh-CN" sz="2100" b="0" i="1" kern="0" smtClean="0">
                            <a:solidFill>
                              <a:srgbClr val="333399"/>
                            </a:solidFill>
                            <a:latin typeface="Cambria Math" panose="02040503050406030204" pitchFamily="18" charset="0"/>
                            <a:ea typeface="华文行楷" pitchFamily="2" charset="-122"/>
                          </a:rPr>
                          <m:t>𝐼</m:t>
                        </m:r>
                      </m:e>
                      <m:sub>
                        <m:r>
                          <a:rPr lang="en-US" altLang="zh-CN" sz="2100" b="0" i="1" kern="0" smtClean="0">
                            <a:solidFill>
                              <a:srgbClr val="333399"/>
                            </a:solidFill>
                            <a:latin typeface="Cambria Math" panose="02040503050406030204" pitchFamily="18" charset="0"/>
                            <a:ea typeface="华文行楷" pitchFamily="2" charset="-122"/>
                          </a:rPr>
                          <m:t>𝑝</m:t>
                        </m:r>
                      </m:sub>
                    </m:sSub>
                    <m:d>
                      <m:dPr>
                        <m:ctrlPr>
                          <a:rPr lang="en-US" altLang="zh-CN" sz="2100" i="1" kern="0">
                            <a:solidFill>
                              <a:srgbClr val="333399"/>
                            </a:solidFill>
                            <a:latin typeface="Cambria Math" panose="02040503050406030204" pitchFamily="18" charset="0"/>
                            <a:ea typeface="华文行楷" pitchFamily="2" charset="-122"/>
                          </a:rPr>
                        </m:ctrlPr>
                      </m:dPr>
                      <m:e>
                        <m:r>
                          <a:rPr lang="en-US" altLang="zh-CN" sz="2100" b="0" i="1" kern="0" smtClean="0">
                            <a:solidFill>
                              <a:srgbClr val="333399"/>
                            </a:solidFill>
                            <a:latin typeface="Cambria Math" panose="02040503050406030204" pitchFamily="18" charset="0"/>
                            <a:ea typeface="华文行楷" pitchFamily="2" charset="-122"/>
                          </a:rPr>
                          <m:t> </m:t>
                        </m:r>
                        <m:r>
                          <a:rPr lang="en-US" altLang="zh-CN" sz="2100" b="0" i="1" kern="0" smtClean="0">
                            <a:solidFill>
                              <a:srgbClr val="333399"/>
                            </a:solidFill>
                            <a:latin typeface="Cambria Math" panose="02040503050406030204" pitchFamily="18" charset="0"/>
                            <a:ea typeface="华文行楷" pitchFamily="2" charset="-122"/>
                          </a:rPr>
                          <m:t>𝑋</m:t>
                        </m:r>
                        <m:d>
                          <m:dPr>
                            <m:ctrlPr>
                              <a:rPr lang="en-US" altLang="zh-CN" sz="2100" i="1" kern="0">
                                <a:solidFill>
                                  <a:srgbClr val="333399"/>
                                </a:solidFill>
                                <a:latin typeface="Cambria Math" panose="02040503050406030204" pitchFamily="18" charset="0"/>
                                <a:ea typeface="华文行楷" pitchFamily="2" charset="-122"/>
                              </a:rPr>
                            </m:ctrlPr>
                          </m:dPr>
                          <m:e>
                            <m:r>
                              <a:rPr lang="en-US" altLang="zh-CN" sz="2100" b="0" i="1" kern="0" smtClean="0">
                                <a:solidFill>
                                  <a:srgbClr val="333399"/>
                                </a:solidFill>
                                <a:latin typeface="Cambria Math" panose="02040503050406030204" pitchFamily="18" charset="0"/>
                                <a:ea typeface="华文行楷" pitchFamily="2" charset="-122"/>
                              </a:rPr>
                              <m:t>𝑗</m:t>
                            </m:r>
                          </m:e>
                        </m:d>
                      </m:e>
                    </m:d>
                    <m:r>
                      <a:rPr lang="en-US" altLang="zh-CN" sz="2100" b="0" i="1" kern="0" smtClean="0">
                        <a:solidFill>
                          <a:srgbClr val="333399"/>
                        </a:solidFill>
                        <a:latin typeface="Cambria Math" panose="02040503050406030204" pitchFamily="18" charset="0"/>
                        <a:ea typeface="华文行楷" pitchFamily="2" charset="-122"/>
                      </a:rPr>
                      <m:t>−</m:t>
                    </m:r>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b="0" i="1" kern="0" smtClean="0">
                            <a:solidFill>
                              <a:srgbClr val="333399"/>
                            </a:solidFill>
                            <a:latin typeface="Cambria Math" panose="02040503050406030204" pitchFamily="18" charset="0"/>
                            <a:ea typeface="华文行楷" pitchFamily="2" charset="-122"/>
                          </a:rPr>
                          <m:t>𝑊</m:t>
                        </m:r>
                      </m:e>
                      <m:sub>
                        <m:r>
                          <a:rPr lang="en-US" altLang="zh-CN" sz="2100" b="0" i="1" kern="0" smtClean="0">
                            <a:solidFill>
                              <a:srgbClr val="333399"/>
                            </a:solidFill>
                            <a:latin typeface="Cambria Math" panose="02040503050406030204" pitchFamily="18" charset="0"/>
                            <a:ea typeface="华文行楷" pitchFamily="2" charset="-122"/>
                          </a:rPr>
                          <m:t>𝑝</m:t>
                        </m:r>
                      </m:sub>
                    </m:sSub>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b="0" i="1" kern="0" smtClean="0">
                            <a:solidFill>
                              <a:srgbClr val="333399"/>
                            </a:solidFill>
                            <a:latin typeface="Cambria Math" panose="02040503050406030204" pitchFamily="18" charset="0"/>
                            <a:ea typeface="华文行楷" pitchFamily="2" charset="-122"/>
                          </a:rPr>
                          <m:t>𝑥</m:t>
                        </m:r>
                      </m:e>
                      <m:sub>
                        <m:r>
                          <a:rPr lang="en-US" altLang="zh-CN" sz="2100" b="0" i="1" kern="0" smtClean="0">
                            <a:solidFill>
                              <a:srgbClr val="333399"/>
                            </a:solidFill>
                            <a:latin typeface="Cambria Math" panose="02040503050406030204" pitchFamily="18" charset="0"/>
                            <a:ea typeface="华文行楷" pitchFamily="2" charset="-122"/>
                          </a:rPr>
                          <m:t>𝑗</m:t>
                        </m:r>
                      </m:sub>
                    </m:sSub>
                    <m:r>
                      <a:rPr lang="en-US" altLang="zh-CN" sz="2100" b="0" i="1" kern="0" smtClean="0">
                        <a:solidFill>
                          <a:srgbClr val="333399"/>
                        </a:solidFill>
                        <a:latin typeface="Cambria Math" panose="02040503050406030204" pitchFamily="18" charset="0"/>
                        <a:ea typeface="华文行楷" pitchFamily="2" charset="-122"/>
                      </a:rPr>
                      <m:t>+</m:t>
                    </m:r>
                    <m:sSub>
                      <m:sSubPr>
                        <m:ctrlPr>
                          <a:rPr lang="en-US" altLang="zh-CN" sz="2100" i="1" kern="0">
                            <a:solidFill>
                              <a:srgbClr val="333399"/>
                            </a:solidFill>
                            <a:latin typeface="Cambria Math" panose="02040503050406030204" pitchFamily="18" charset="0"/>
                            <a:ea typeface="华文行楷" pitchFamily="2" charset="-122"/>
                          </a:rPr>
                        </m:ctrlPr>
                      </m:sSubPr>
                      <m:e>
                        <m:r>
                          <a:rPr lang="en-US" altLang="zh-CN" sz="2100" b="0" i="1" kern="0" smtClean="0">
                            <a:solidFill>
                              <a:srgbClr val="333399"/>
                            </a:solidFill>
                            <a:latin typeface="Cambria Math" panose="02040503050406030204" pitchFamily="18" charset="0"/>
                            <a:ea typeface="华文行楷" pitchFamily="2" charset="-122"/>
                          </a:rPr>
                          <m:t>𝑥</m:t>
                        </m:r>
                      </m:e>
                      <m:sub>
                        <m:r>
                          <a:rPr lang="en-US" altLang="zh-CN" sz="2100" b="0" i="1" kern="0" smtClean="0">
                            <a:solidFill>
                              <a:srgbClr val="333399"/>
                            </a:solidFill>
                            <a:latin typeface="Cambria Math" panose="02040503050406030204" pitchFamily="18" charset="0"/>
                            <a:ea typeface="华文行楷" pitchFamily="2" charset="-122"/>
                          </a:rPr>
                          <m:t>𝑗</m:t>
                        </m:r>
                        <m:r>
                          <a:rPr lang="en-US" altLang="zh-CN" sz="2100" b="0" i="1" kern="0" smtClean="0">
                            <a:solidFill>
                              <a:srgbClr val="333399"/>
                            </a:solidFill>
                            <a:latin typeface="Cambria Math" panose="02040503050406030204" pitchFamily="18" charset="0"/>
                            <a:ea typeface="华文行楷" pitchFamily="2" charset="-122"/>
                          </a:rPr>
                          <m:t>+</m:t>
                        </m:r>
                        <m:r>
                          <a:rPr lang="en-US" altLang="zh-CN" sz="2100" b="0" i="1" kern="0" smtClean="0">
                            <a:solidFill>
                              <a:srgbClr val="333399"/>
                            </a:solidFill>
                            <a:latin typeface="Cambria Math" panose="02040503050406030204" pitchFamily="18" charset="0"/>
                            <a:ea typeface="华文行楷" pitchFamily="2" charset="-122"/>
                          </a:rPr>
                          <m:t>𝑚</m:t>
                        </m:r>
                      </m:sub>
                    </m:sSub>
                    <m:r>
                      <a:rPr lang="en-US" altLang="zh-CN" sz="2100" b="0" i="1" kern="0" smtClean="0">
                        <a:solidFill>
                          <a:srgbClr val="333399"/>
                        </a:solidFill>
                        <a:latin typeface="Cambria Math" panose="02040503050406030204" pitchFamily="18" charset="0"/>
                        <a:ea typeface="华文行楷" pitchFamily="2" charset="-122"/>
                      </a:rPr>
                      <m:t>)(</m:t>
                    </m:r>
                    <m:r>
                      <a:rPr lang="en-US" altLang="zh-CN" sz="2100" b="0" i="1" kern="0" smtClean="0">
                        <a:solidFill>
                          <a:srgbClr val="333399"/>
                        </a:solidFill>
                        <a:latin typeface="Cambria Math" panose="02040503050406030204" pitchFamily="18" charset="0"/>
                        <a:ea typeface="华文行楷" pitchFamily="2" charset="-122"/>
                      </a:rPr>
                      <m:t>𝑚𝑜𝑑</m:t>
                    </m:r>
                    <m:r>
                      <a:rPr lang="en-US" altLang="zh-CN" sz="2100" b="0" i="1" kern="0" smtClean="0">
                        <a:solidFill>
                          <a:srgbClr val="333399"/>
                        </a:solidFill>
                        <a:latin typeface="Cambria Math" panose="02040503050406030204" pitchFamily="18" charset="0"/>
                        <a:ea typeface="华文行楷" pitchFamily="2" charset="-122"/>
                      </a:rPr>
                      <m:t> </m:t>
                    </m:r>
                    <m:r>
                      <a:rPr lang="en-US" altLang="zh-CN" sz="2100" b="0" i="1" kern="0" smtClean="0">
                        <a:solidFill>
                          <a:srgbClr val="333399"/>
                        </a:solidFill>
                        <a:latin typeface="Cambria Math" panose="02040503050406030204" pitchFamily="18" charset="0"/>
                        <a:ea typeface="华文行楷" pitchFamily="2" charset="-122"/>
                      </a:rPr>
                      <m:t>𝑝</m:t>
                    </m:r>
                    <m:r>
                      <a:rPr lang="en-US" altLang="zh-CN" sz="2100" b="0" i="1" kern="0" smtClean="0">
                        <a:solidFill>
                          <a:srgbClr val="333399"/>
                        </a:solidFill>
                        <a:latin typeface="Cambria Math" panose="02040503050406030204" pitchFamily="18" charset="0"/>
                        <a:ea typeface="华文行楷" pitchFamily="2" charset="-122"/>
                      </a:rPr>
                      <m:t>)</m:t>
                    </m:r>
                  </m:oMath>
                </a14:m>
                <a:endParaRPr lang="en-US" altLang="zh-CN" sz="2100" i="1"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sz="2100"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r>
                      <a:rPr lang="en-US" altLang="zh-CN" sz="2100" b="0" i="1" kern="0" smtClean="0">
                        <a:solidFill>
                          <a:srgbClr val="333399"/>
                        </a:solidFill>
                        <a:latin typeface="Cambria Math" panose="02040503050406030204" pitchFamily="18" charset="0"/>
                        <a:ea typeface="华文行楷" pitchFamily="2" charset="-122"/>
                      </a:rPr>
                      <m:t>𝑗</m:t>
                    </m:r>
                    <m:r>
                      <a:rPr lang="en-US" altLang="zh-CN" sz="2100" b="0" i="1" kern="0" smtClean="0">
                        <a:solidFill>
                          <a:srgbClr val="333399"/>
                        </a:solidFill>
                        <a:latin typeface="Cambria Math" panose="02040503050406030204" pitchFamily="18" charset="0"/>
                        <a:ea typeface="华文行楷" pitchFamily="2" charset="-122"/>
                      </a:rPr>
                      <m:t> </m:t>
                    </m:r>
                    <m:r>
                      <m:rPr>
                        <m:nor/>
                      </m:rPr>
                      <a:rPr lang="en-US" altLang="zh-CN" sz="2100" kern="0" dirty="0">
                        <a:solidFill>
                          <a:srgbClr val="333399"/>
                        </a:solidFill>
                        <a:latin typeface="Arial Unicode MS" panose="020B0604020202020204" pitchFamily="34" charset="-122"/>
                        <a:ea typeface="华文楷体" panose="02010600040101010101" pitchFamily="2" charset="-122"/>
                        <a:sym typeface="Wingdings" pitchFamily="2" charset="2"/>
                      </a:rPr>
                      <m:t></m:t>
                    </m:r>
                    <m:r>
                      <a:rPr lang="en-US" altLang="zh-CN" sz="2100" b="0" i="1" kern="0" dirty="0" smtClean="0">
                        <a:solidFill>
                          <a:srgbClr val="333399"/>
                        </a:solidFill>
                        <a:latin typeface="Cambria Math" panose="02040503050406030204" pitchFamily="18" charset="0"/>
                        <a:ea typeface="华文行楷" pitchFamily="2" charset="-122"/>
                        <a:sym typeface="Wingdings" pitchFamily="2" charset="2"/>
                      </a:rPr>
                      <m:t> </m:t>
                    </m:r>
                    <m:r>
                      <a:rPr lang="en-US" altLang="zh-CN" sz="2100" b="0" i="1" kern="0" smtClean="0">
                        <a:solidFill>
                          <a:srgbClr val="333399"/>
                        </a:solidFill>
                        <a:latin typeface="Cambria Math" panose="02040503050406030204" pitchFamily="18" charset="0"/>
                        <a:ea typeface="华文行楷" pitchFamily="2" charset="-122"/>
                      </a:rPr>
                      <m:t>𝑗</m:t>
                    </m:r>
                    <m:r>
                      <a:rPr lang="en-US" altLang="zh-CN" sz="2100" b="0" i="1" kern="0" smtClean="0">
                        <a:solidFill>
                          <a:srgbClr val="333399"/>
                        </a:solidFill>
                        <a:latin typeface="Cambria Math" panose="02040503050406030204" pitchFamily="18" charset="0"/>
                        <a:ea typeface="华文行楷" pitchFamily="2" charset="-122"/>
                      </a:rPr>
                      <m:t>+1</m:t>
                    </m:r>
                  </m:oMath>
                </a14:m>
                <a:endParaRPr kumimoji="0" lang="en-US" altLang="zh-CN" sz="2100" i="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sz="2100" kern="0" dirty="0">
                    <a:solidFill>
                      <a:srgbClr val="333399"/>
                    </a:solidFill>
                    <a:latin typeface="Arial Unicode MS" panose="020B0604020202020204" pitchFamily="34" charset="-122"/>
                    <a:ea typeface="华文楷体" panose="02010600040101010101" pitchFamily="2" charset="-122"/>
                  </a:rPr>
                  <a:t> </a:t>
                </a:r>
                <a:r>
                  <a:rPr lang="en-US" altLang="zh-CN" sz="2100" b="1" kern="0" dirty="0">
                    <a:solidFill>
                      <a:srgbClr val="333399"/>
                    </a:solidFill>
                    <a:latin typeface="Arial Unicode MS" panose="020B0604020202020204" pitchFamily="34" charset="-122"/>
                    <a:ea typeface="华文楷体" panose="02010600040101010101" pitchFamily="2" charset="-122"/>
                  </a:rPr>
                  <a:t>end while</a:t>
                </a:r>
              </a:p>
              <a:p>
                <a:pPr marL="914400" lvl="1" indent="-457200" eaLnBrk="1" hangingPunct="1">
                  <a:lnSpc>
                    <a:spcPct val="80000"/>
                  </a:lnSpc>
                  <a:spcBef>
                    <a:spcPct val="20000"/>
                  </a:spcBef>
                  <a:buFontTx/>
                  <a:buAutoNum type="arabicPeriod"/>
                  <a:defRPr/>
                </a:pP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a:t>
                </a:r>
                <a:r>
                  <a:rPr kumimoji="0" lang="en-US" altLang="zh-CN" sz="2100"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return</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0        </a:t>
                </a:r>
                <a:r>
                  <a:rPr lang="en-US" altLang="zh-CN" sz="2100" kern="0" dirty="0">
                    <a:solidFill>
                      <a:srgbClr val="333399"/>
                    </a:solidFill>
                    <a:latin typeface="Arial Unicode MS" panose="020B0604020202020204" pitchFamily="34" charset="-122"/>
                    <a:ea typeface="华文楷体" panose="02010600040101010101" pitchFamily="2" charset="-122"/>
                  </a:rPr>
                  <a:t> // Y(</a:t>
                </a:r>
                <a:r>
                  <a:rPr lang="zh-CN" altLang="en-US" sz="2100" kern="0" dirty="0">
                    <a:solidFill>
                      <a:srgbClr val="333399"/>
                    </a:solidFill>
                    <a:latin typeface="Arial Unicode MS" panose="020B0604020202020204" pitchFamily="34" charset="-122"/>
                    <a:ea typeface="华文楷体" panose="02010600040101010101" pitchFamily="2" charset="-122"/>
                  </a:rPr>
                  <a:t>肯定</a:t>
                </a:r>
                <a:r>
                  <a:rPr lang="en-US" altLang="zh-CN" sz="2100" kern="0" dirty="0">
                    <a:solidFill>
                      <a:srgbClr val="333399"/>
                    </a:solidFill>
                    <a:latin typeface="Arial Unicode MS" panose="020B0604020202020204" pitchFamily="34" charset="-122"/>
                    <a:ea typeface="华文楷体" panose="02010600040101010101" pitchFamily="2" charset="-122"/>
                  </a:rPr>
                  <a:t>)</a:t>
                </a:r>
                <a:r>
                  <a:rPr lang="zh-CN" altLang="en-US" sz="2100" kern="0" dirty="0">
                    <a:solidFill>
                      <a:srgbClr val="333399"/>
                    </a:solidFill>
                    <a:latin typeface="Arial Unicode MS" panose="020B0604020202020204" pitchFamily="34" charset="-122"/>
                    <a:ea typeface="华文楷体" panose="02010600040101010101" pitchFamily="2" charset="-122"/>
                  </a:rPr>
                  <a:t>不在</a:t>
                </a:r>
                <a:r>
                  <a:rPr lang="en-US" altLang="zh-CN" sz="2100" kern="0" dirty="0">
                    <a:solidFill>
                      <a:srgbClr val="333399"/>
                    </a:solidFill>
                    <a:latin typeface="Arial Unicode MS" panose="020B0604020202020204" pitchFamily="34" charset="-122"/>
                    <a:ea typeface="华文楷体" panose="02010600040101010101" pitchFamily="2" charset="-122"/>
                  </a:rPr>
                  <a:t>X</a:t>
                </a:r>
                <a:r>
                  <a:rPr lang="zh-CN" altLang="en-US" sz="2100" kern="0" dirty="0">
                    <a:solidFill>
                      <a:srgbClr val="333399"/>
                    </a:solidFill>
                    <a:latin typeface="Arial Unicode MS" panose="020B0604020202020204" pitchFamily="34" charset="-122"/>
                    <a:ea typeface="华文楷体" panose="02010600040101010101" pitchFamily="2" charset="-122"/>
                  </a:rPr>
                  <a:t>中</a:t>
                </a:r>
                <a:endParaRPr lang="en-US" altLang="zh-CN" sz="2100" kern="0" dirty="0">
                  <a:solidFill>
                    <a:srgbClr val="333399"/>
                  </a:solidFill>
                  <a:latin typeface="Arial Unicode MS" panose="020B0604020202020204" pitchFamily="34" charset="-122"/>
                  <a:ea typeface="华文楷体" panose="02010600040101010101" pitchFamily="2" charset="-122"/>
                </a:endParaRPr>
              </a:p>
              <a:p>
                <a:pPr lvl="1" eaLnBrk="1" hangingPunct="1">
                  <a:lnSpc>
                    <a:spcPct val="80000"/>
                  </a:lnSpc>
                  <a:spcBef>
                    <a:spcPct val="20000"/>
                  </a:spcBef>
                  <a:defRPr/>
                </a:pPr>
                <a:endParaRPr lang="zh-CN" altLang="en-US" sz="2100" kern="0" dirty="0">
                  <a:solidFill>
                    <a:srgbClr val="333399"/>
                  </a:solidFill>
                  <a:latin typeface="Arial Unicode MS" panose="020B0604020202020204" pitchFamily="34" charset="-122"/>
                  <a:ea typeface="华文楷体" panose="02010600040101010101" pitchFamily="2" charset="-122"/>
                </a:endParaRPr>
              </a:p>
            </p:txBody>
          </p:sp>
        </mc:Choice>
        <mc:Fallback xmlns="">
          <p:sp>
            <p:nvSpPr>
              <p:cNvPr id="5" name="矩形 4">
                <a:extLst>
                  <a:ext uri="{FF2B5EF4-FFF2-40B4-BE49-F238E27FC236}">
                    <a16:creationId xmlns:a16="http://schemas.microsoft.com/office/drawing/2014/main" id="{C4EFF462-2738-12C7-803F-C7496BC59467}"/>
                  </a:ext>
                </a:extLst>
              </p:cNvPr>
              <p:cNvSpPr>
                <a:spLocks noRot="1" noChangeAspect="1" noMove="1" noResize="1" noEditPoints="1" noAdjustHandles="1" noChangeArrowheads="1" noChangeShapeType="1" noTextEdit="1"/>
              </p:cNvSpPr>
              <p:nvPr/>
            </p:nvSpPr>
            <p:spPr bwMode="auto">
              <a:xfrm>
                <a:off x="879475" y="1052736"/>
                <a:ext cx="7869238" cy="5368714"/>
              </a:xfrm>
              <a:prstGeom prst="rect">
                <a:avLst/>
              </a:prstGeom>
              <a:blipFill>
                <a:blip r:embed="rId2"/>
                <a:stretch>
                  <a:fillRect l="-1776" r="-772"/>
                </a:stretch>
              </a:blipFill>
              <a:ln w="25400"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sp>
        <p:nvSpPr>
          <p:cNvPr id="4" name="Rectangle 2"/>
          <p:cNvSpPr>
            <a:spLocks noGrp="1" noChangeArrowheads="1"/>
          </p:cNvSpPr>
          <p:nvPr>
            <p:ph type="title"/>
          </p:nvPr>
        </p:nvSpPr>
        <p:spPr>
          <a:xfrm>
            <a:off x="879475" y="269875"/>
            <a:ext cx="7869238" cy="927100"/>
          </a:xfrm>
        </p:spPr>
        <p:txBody>
          <a:bodyPr/>
          <a:lstStyle/>
          <a:p>
            <a:pPr eaLnBrk="1" hangingPunct="1"/>
            <a:r>
              <a:rPr lang="en-US" altLang="zh-CN" dirty="0"/>
              <a:t>10.2.3 </a:t>
            </a:r>
            <a:r>
              <a:rPr lang="zh-CN" altLang="en-US" dirty="0"/>
              <a:t>模式匹配</a:t>
            </a:r>
            <a:endParaRPr lang="en-US" altLang="zh-CN" dirty="0"/>
          </a:p>
        </p:txBody>
      </p:sp>
    </p:spTree>
    <p:extLst>
      <p:ext uri="{BB962C8B-B14F-4D97-AF65-F5344CB8AC3E}">
        <p14:creationId xmlns:p14="http://schemas.microsoft.com/office/powerpoint/2010/main" val="26200185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10.2.3 </a:t>
            </a:r>
            <a:r>
              <a:rPr lang="zh-CN" altLang="en-US" dirty="0"/>
              <a:t>模式匹配</a:t>
            </a:r>
            <a:endParaRPr lang="en-US" altLang="zh-CN" dirty="0"/>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856615" y="1166019"/>
                <a:ext cx="7786687" cy="4525962"/>
              </a:xfrm>
            </p:spPr>
            <p:txBody>
              <a:bodyPr/>
              <a:lstStyle/>
              <a:p>
                <a:pPr marL="74250" lvl="1" indent="0" eaLnBrk="1" hangingPunct="1">
                  <a:lnSpc>
                    <a:spcPct val="200000"/>
                  </a:lnSpc>
                  <a:spcBef>
                    <a:spcPts val="0"/>
                  </a:spcBef>
                  <a:buNone/>
                  <a:defRPr/>
                </a:pPr>
                <a:r>
                  <a:rPr lang="zh-CN" altLang="en-US" sz="2800" b="1" dirty="0">
                    <a:latin typeface="+mn-lt"/>
                    <a:ea typeface="+mn-ea"/>
                    <a:cs typeface="+mn-cs"/>
                  </a:rPr>
                  <a:t>算法分析：</a:t>
                </a:r>
                <a:endParaRPr lang="en-US" altLang="zh-CN" sz="2800" b="1" dirty="0">
                  <a:latin typeface="+mn-lt"/>
                  <a:ea typeface="+mn-ea"/>
                  <a:cs typeface="+mn-cs"/>
                </a:endParaRPr>
              </a:p>
              <a:p>
                <a:pPr marL="360000" lvl="1" eaLnBrk="1" hangingPunct="1">
                  <a:lnSpc>
                    <a:spcPct val="200000"/>
                  </a:lnSpc>
                  <a:spcBef>
                    <a:spcPts val="0"/>
                  </a:spcBef>
                  <a:defRPr/>
                </a:pPr>
                <a:r>
                  <a:rPr lang="zh-CN" altLang="en-US" sz="2400" dirty="0">
                    <a:latin typeface="+mn-lt"/>
                    <a:ea typeface="+mn-ea"/>
                    <a:cs typeface="+mn-cs"/>
                  </a:rPr>
                  <a:t>每个</a:t>
                </a:r>
                <a14:m>
                  <m:oMath xmlns:m="http://schemas.openxmlformats.org/officeDocument/2006/math">
                    <m:sSub>
                      <m:sSubPr>
                        <m:ctrlPr>
                          <a:rPr lang="en-US" altLang="zh-CN" sz="2400" i="1">
                            <a:latin typeface="Cambria Math" panose="02040503050406030204" pitchFamily="18" charset="0"/>
                            <a:ea typeface="+mn-ea"/>
                            <a:cs typeface="+mn-cs"/>
                          </a:rPr>
                        </m:ctrlPr>
                      </m:sSubPr>
                      <m:e>
                        <m:r>
                          <a:rPr lang="en-US" altLang="zh-CN" sz="2400" i="1">
                            <a:latin typeface="Cambria Math" panose="02040503050406030204" pitchFamily="18" charset="0"/>
                            <a:ea typeface="+mn-ea"/>
                            <a:cs typeface="+mn-cs"/>
                          </a:rPr>
                          <m:t>𝑊</m:t>
                        </m:r>
                      </m:e>
                      <m:sub>
                        <m:r>
                          <a:rPr lang="en-US" altLang="zh-CN" sz="2400" i="1">
                            <a:latin typeface="Cambria Math" panose="02040503050406030204" pitchFamily="18" charset="0"/>
                            <a:ea typeface="+mn-ea"/>
                            <a:cs typeface="+mn-cs"/>
                          </a:rPr>
                          <m:t>𝑝</m:t>
                        </m:r>
                      </m:sub>
                    </m:sSub>
                    <m:r>
                      <a:rPr lang="en-US" altLang="zh-CN" sz="2400" i="1">
                        <a:latin typeface="Cambria Math" panose="02040503050406030204" pitchFamily="18" charset="0"/>
                        <a:ea typeface="+mn-ea"/>
                        <a:cs typeface="+mn-cs"/>
                      </a:rPr>
                      <m:t>,  </m:t>
                    </m:r>
                    <m:sSub>
                      <m:sSubPr>
                        <m:ctrlPr>
                          <a:rPr lang="en-US" altLang="zh-CN" sz="2400" i="1">
                            <a:latin typeface="Cambria Math" panose="02040503050406030204" pitchFamily="18" charset="0"/>
                            <a:ea typeface="+mn-ea"/>
                            <a:cs typeface="+mn-cs"/>
                          </a:rPr>
                        </m:ctrlPr>
                      </m:sSubPr>
                      <m:e>
                        <m:r>
                          <a:rPr lang="en-US" altLang="zh-CN" sz="2400" i="1">
                            <a:latin typeface="Cambria Math" panose="02040503050406030204" pitchFamily="18" charset="0"/>
                            <a:ea typeface="+mn-ea"/>
                            <a:cs typeface="+mn-cs"/>
                          </a:rPr>
                          <m:t>𝐼</m:t>
                        </m:r>
                      </m:e>
                      <m:sub>
                        <m:r>
                          <a:rPr lang="en-US" altLang="zh-CN" sz="2400" i="1">
                            <a:latin typeface="Cambria Math" panose="02040503050406030204" pitchFamily="18" charset="0"/>
                            <a:ea typeface="+mn-ea"/>
                            <a:cs typeface="+mn-cs"/>
                          </a:rPr>
                          <m:t>𝑃</m:t>
                        </m:r>
                      </m:sub>
                    </m:sSub>
                    <m:d>
                      <m:dPr>
                        <m:ctrlPr>
                          <a:rPr lang="en-US" altLang="zh-CN" sz="2400" i="1">
                            <a:latin typeface="Cambria Math" panose="02040503050406030204" pitchFamily="18" charset="0"/>
                            <a:ea typeface="+mn-ea"/>
                            <a:cs typeface="+mn-cs"/>
                          </a:rPr>
                        </m:ctrlPr>
                      </m:dPr>
                      <m:e>
                        <m:r>
                          <a:rPr lang="en-US" altLang="zh-CN" sz="2400" i="1">
                            <a:latin typeface="Cambria Math" panose="02040503050406030204" pitchFamily="18" charset="0"/>
                            <a:ea typeface="+mn-ea"/>
                            <a:cs typeface="+mn-cs"/>
                          </a:rPr>
                          <m:t>𝑌</m:t>
                        </m:r>
                      </m:e>
                    </m:d>
                    <m:r>
                      <a:rPr lang="en-US" altLang="zh-CN" sz="2400" i="1">
                        <a:latin typeface="Cambria Math" panose="02040503050406030204" pitchFamily="18" charset="0"/>
                        <a:ea typeface="+mn-ea"/>
                        <a:cs typeface="+mn-cs"/>
                      </a:rPr>
                      <m:t>,  </m:t>
                    </m:r>
                    <m:sSub>
                      <m:sSubPr>
                        <m:ctrlPr>
                          <a:rPr lang="en-US" altLang="zh-CN" sz="2400" i="1">
                            <a:latin typeface="Cambria Math" panose="02040503050406030204" pitchFamily="18" charset="0"/>
                            <a:ea typeface="+mn-ea"/>
                            <a:cs typeface="+mn-cs"/>
                          </a:rPr>
                        </m:ctrlPr>
                      </m:sSubPr>
                      <m:e>
                        <m:r>
                          <a:rPr lang="en-US" altLang="zh-CN" sz="2400" i="1">
                            <a:latin typeface="Cambria Math" panose="02040503050406030204" pitchFamily="18" charset="0"/>
                            <a:ea typeface="+mn-ea"/>
                            <a:cs typeface="+mn-cs"/>
                          </a:rPr>
                          <m:t>𝐼</m:t>
                        </m:r>
                      </m:e>
                      <m:sub>
                        <m:r>
                          <a:rPr lang="en-US" altLang="zh-CN" sz="2400" i="1">
                            <a:latin typeface="Cambria Math" panose="02040503050406030204" pitchFamily="18" charset="0"/>
                            <a:ea typeface="+mn-ea"/>
                            <a:cs typeface="+mn-cs"/>
                          </a:rPr>
                          <m:t>𝑝</m:t>
                        </m:r>
                      </m:sub>
                    </m:sSub>
                    <m:r>
                      <a:rPr lang="en-US" altLang="zh-CN" sz="2400" i="1">
                        <a:latin typeface="Cambria Math" panose="02040503050406030204" pitchFamily="18" charset="0"/>
                        <a:ea typeface="+mn-ea"/>
                        <a:cs typeface="+mn-cs"/>
                      </a:rPr>
                      <m:t>(</m:t>
                    </m:r>
                    <m:r>
                      <a:rPr lang="en-US" altLang="zh-CN" sz="2400" i="1">
                        <a:latin typeface="Cambria Math" panose="02040503050406030204" pitchFamily="18" charset="0"/>
                        <a:ea typeface="+mn-ea"/>
                        <a:cs typeface="+mn-cs"/>
                      </a:rPr>
                      <m:t>𝑋</m:t>
                    </m:r>
                    <m:r>
                      <a:rPr lang="en-US" altLang="zh-CN" sz="2400" i="1">
                        <a:latin typeface="Cambria Math" panose="02040503050406030204" pitchFamily="18" charset="0"/>
                        <a:ea typeface="+mn-ea"/>
                        <a:cs typeface="+mn-cs"/>
                      </a:rPr>
                      <m:t>(1))</m:t>
                    </m:r>
                    <m:r>
                      <a:rPr lang="zh-CN" altLang="en-US" sz="2400">
                        <a:latin typeface="Cambria Math" panose="02040503050406030204" pitchFamily="18" charset="0"/>
                        <a:ea typeface="+mn-ea"/>
                        <a:cs typeface="+mn-cs"/>
                      </a:rPr>
                      <m:t>的</m:t>
                    </m:r>
                  </m:oMath>
                </a14:m>
                <a:r>
                  <a:rPr lang="zh-CN" altLang="en-US" sz="2400" dirty="0">
                    <a:latin typeface="+mn-lt"/>
                    <a:ea typeface="+mn-ea"/>
                    <a:cs typeface="+mn-cs"/>
                  </a:rPr>
                  <a:t>计算，耗费</a:t>
                </a:r>
                <a:r>
                  <a:rPr lang="en-US" altLang="zh-CN" sz="2400" dirty="0">
                    <a:latin typeface="+mn-lt"/>
                    <a:ea typeface="+mn-ea"/>
                    <a:cs typeface="+mn-cs"/>
                  </a:rPr>
                  <a:t>O(m)</a:t>
                </a:r>
                <a:r>
                  <a:rPr lang="zh-CN" altLang="en-US" sz="2400" dirty="0">
                    <a:latin typeface="+mn-lt"/>
                    <a:ea typeface="+mn-ea"/>
                    <a:cs typeface="+mn-cs"/>
                  </a:rPr>
                  <a:t>的时间；</a:t>
                </a:r>
                <a:endParaRPr lang="en-US" altLang="zh-CN" sz="2400" dirty="0">
                  <a:latin typeface="+mn-lt"/>
                  <a:ea typeface="+mn-ea"/>
                  <a:cs typeface="+mn-cs"/>
                </a:endParaRPr>
              </a:p>
              <a:p>
                <a:pPr marL="360000" lvl="1" eaLnBrk="1" hangingPunct="1">
                  <a:lnSpc>
                    <a:spcPct val="200000"/>
                  </a:lnSpc>
                  <a:spcBef>
                    <a:spcPts val="0"/>
                  </a:spcBef>
                  <a:defRPr/>
                </a:pPr>
                <a:r>
                  <a:rPr lang="zh-CN" altLang="en-US" sz="2400" dirty="0">
                    <a:latin typeface="+mn-lt"/>
                    <a:ea typeface="+mn-ea"/>
                    <a:cs typeface="+mn-cs"/>
                  </a:rPr>
                  <a:t>对于</a:t>
                </a:r>
                <a14:m>
                  <m:oMath xmlns:m="http://schemas.openxmlformats.org/officeDocument/2006/math">
                    <m:r>
                      <a:rPr lang="en-US" altLang="zh-CN" sz="2400" i="1">
                        <a:latin typeface="Cambria Math" panose="02040503050406030204" pitchFamily="18" charset="0"/>
                        <a:ea typeface="+mn-ea"/>
                        <a:cs typeface="+mn-cs"/>
                      </a:rPr>
                      <m:t>2≤</m:t>
                    </m:r>
                    <m:r>
                      <a:rPr lang="en-US" altLang="zh-CN" sz="2400" i="1">
                        <a:latin typeface="Cambria Math" panose="02040503050406030204" pitchFamily="18" charset="0"/>
                        <a:ea typeface="+mn-ea"/>
                        <a:cs typeface="+mn-cs"/>
                      </a:rPr>
                      <m:t>𝑗</m:t>
                    </m:r>
                    <m:r>
                      <a:rPr lang="en-US" altLang="zh-CN" sz="2400" i="1">
                        <a:latin typeface="Cambria Math" panose="02040503050406030204" pitchFamily="18" charset="0"/>
                        <a:ea typeface="+mn-ea"/>
                        <a:cs typeface="+mn-cs"/>
                      </a:rPr>
                      <m:t>≤</m:t>
                    </m:r>
                    <m:r>
                      <a:rPr lang="en-US" altLang="zh-CN" sz="2400" i="1">
                        <a:latin typeface="Cambria Math" panose="02040503050406030204" pitchFamily="18" charset="0"/>
                        <a:ea typeface="+mn-ea"/>
                        <a:cs typeface="+mn-cs"/>
                      </a:rPr>
                      <m:t>𝑛</m:t>
                    </m:r>
                    <m:r>
                      <a:rPr lang="en-US" altLang="zh-CN" sz="2400" i="1">
                        <a:latin typeface="Cambria Math" panose="02040503050406030204" pitchFamily="18" charset="0"/>
                        <a:ea typeface="+mn-ea"/>
                        <a:cs typeface="+mn-cs"/>
                      </a:rPr>
                      <m:t>−</m:t>
                    </m:r>
                    <m:r>
                      <a:rPr lang="en-US" altLang="zh-CN" sz="2400" i="1">
                        <a:latin typeface="Cambria Math" panose="02040503050406030204" pitchFamily="18" charset="0"/>
                        <a:ea typeface="+mn-ea"/>
                        <a:cs typeface="+mn-cs"/>
                      </a:rPr>
                      <m:t>𝑚</m:t>
                    </m:r>
                  </m:oMath>
                </a14:m>
                <a:r>
                  <a:rPr lang="en-US" altLang="zh-CN" sz="2400" i="1" dirty="0">
                    <a:latin typeface="+mn-lt"/>
                    <a:ea typeface="+mn-ea"/>
                    <a:cs typeface="+mn-cs"/>
                  </a:rPr>
                  <a:t>+1 </a:t>
                </a:r>
                <a:r>
                  <a:rPr lang="en-US" altLang="zh-CN" sz="2400" dirty="0">
                    <a:latin typeface="+mn-lt"/>
                    <a:ea typeface="+mn-ea"/>
                    <a:cs typeface="+mn-cs"/>
                  </a:rPr>
                  <a:t>,</a:t>
                </a:r>
                <a:r>
                  <a:rPr lang="zh-CN" altLang="en-US" sz="2400" dirty="0">
                    <a:latin typeface="+mn-lt"/>
                    <a:ea typeface="+mn-ea"/>
                    <a:cs typeface="+mn-cs"/>
                  </a:rPr>
                  <a:t>每个</a:t>
                </a:r>
                <a14:m>
                  <m:oMath xmlns:m="http://schemas.openxmlformats.org/officeDocument/2006/math">
                    <m:sSub>
                      <m:sSubPr>
                        <m:ctrlPr>
                          <a:rPr lang="en-US" altLang="zh-CN" sz="2400" i="1">
                            <a:latin typeface="Cambria Math" panose="02040503050406030204" pitchFamily="18" charset="0"/>
                            <a:ea typeface="+mn-ea"/>
                            <a:cs typeface="+mn-cs"/>
                          </a:rPr>
                        </m:ctrlPr>
                      </m:sSubPr>
                      <m:e>
                        <m:r>
                          <a:rPr lang="en-US" altLang="zh-CN" sz="2400" i="1">
                            <a:latin typeface="Cambria Math" panose="02040503050406030204" pitchFamily="18" charset="0"/>
                            <a:ea typeface="+mn-ea"/>
                            <a:cs typeface="+mn-cs"/>
                          </a:rPr>
                          <m:t>𝐼</m:t>
                        </m:r>
                      </m:e>
                      <m:sub>
                        <m:r>
                          <a:rPr lang="en-US" altLang="zh-CN" sz="2400" i="1">
                            <a:latin typeface="Cambria Math" panose="02040503050406030204" pitchFamily="18" charset="0"/>
                            <a:ea typeface="+mn-ea"/>
                            <a:cs typeface="+mn-cs"/>
                          </a:rPr>
                          <m:t>𝑝</m:t>
                        </m:r>
                      </m:sub>
                    </m:sSub>
                    <m:r>
                      <a:rPr lang="en-US" altLang="zh-CN" sz="2400" i="1">
                        <a:latin typeface="Cambria Math" panose="02040503050406030204" pitchFamily="18" charset="0"/>
                        <a:ea typeface="+mn-ea"/>
                        <a:cs typeface="+mn-cs"/>
                      </a:rPr>
                      <m:t>(</m:t>
                    </m:r>
                    <m:r>
                      <a:rPr lang="en-US" altLang="zh-CN" sz="2400" i="1">
                        <a:latin typeface="Cambria Math" panose="02040503050406030204" pitchFamily="18" charset="0"/>
                        <a:ea typeface="+mn-ea"/>
                        <a:cs typeface="+mn-cs"/>
                      </a:rPr>
                      <m:t>𝑋</m:t>
                    </m:r>
                    <m:r>
                      <a:rPr lang="en-US" altLang="zh-CN" sz="2400" i="1">
                        <a:latin typeface="Cambria Math" panose="02040503050406030204" pitchFamily="18" charset="0"/>
                        <a:ea typeface="+mn-ea"/>
                        <a:cs typeface="+mn-cs"/>
                      </a:rPr>
                      <m:t>(</m:t>
                    </m:r>
                    <m:r>
                      <a:rPr lang="en-US" altLang="zh-CN" sz="2400" i="1">
                        <a:latin typeface="Cambria Math" panose="02040503050406030204" pitchFamily="18" charset="0"/>
                        <a:ea typeface="+mn-ea"/>
                        <a:cs typeface="+mn-cs"/>
                      </a:rPr>
                      <m:t>𝑗</m:t>
                    </m:r>
                    <m:r>
                      <a:rPr lang="en-US" altLang="zh-CN" sz="2400" i="1">
                        <a:latin typeface="Cambria Math" panose="02040503050406030204" pitchFamily="18" charset="0"/>
                        <a:ea typeface="+mn-ea"/>
                        <a:cs typeface="+mn-cs"/>
                      </a:rPr>
                      <m:t>))</m:t>
                    </m:r>
                    <m:r>
                      <a:rPr lang="zh-CN" altLang="en-US" sz="2400">
                        <a:latin typeface="Cambria Math" panose="02040503050406030204" pitchFamily="18" charset="0"/>
                        <a:ea typeface="+mn-ea"/>
                        <a:cs typeface="+mn-cs"/>
                      </a:rPr>
                      <m:t>的</m:t>
                    </m:r>
                  </m:oMath>
                </a14:m>
                <a:r>
                  <a:rPr lang="zh-CN" altLang="en-US" sz="2400" dirty="0">
                    <a:latin typeface="+mn-lt"/>
                    <a:ea typeface="+mn-ea"/>
                    <a:cs typeface="+mn-cs"/>
                  </a:rPr>
                  <a:t>计算仅需</a:t>
                </a:r>
                <a:r>
                  <a:rPr lang="en-US" altLang="zh-CN" sz="2400" i="1" dirty="0">
                    <a:latin typeface="+mn-lt"/>
                    <a:ea typeface="+mn-ea"/>
                    <a:cs typeface="+mn-cs"/>
                  </a:rPr>
                  <a:t>O(1)</a:t>
                </a:r>
                <a:r>
                  <a:rPr lang="zh-CN" altLang="en-US" sz="2400" dirty="0">
                    <a:latin typeface="+mn-lt"/>
                    <a:ea typeface="+mn-ea"/>
                    <a:cs typeface="+mn-cs"/>
                  </a:rPr>
                  <a:t>的时间，总共需要</a:t>
                </a:r>
                <a:r>
                  <a:rPr lang="en-US" altLang="zh-CN" sz="2400" i="1" dirty="0">
                    <a:latin typeface="+mn-lt"/>
                    <a:ea typeface="+mn-ea"/>
                    <a:cs typeface="+mn-cs"/>
                  </a:rPr>
                  <a:t>O(n)</a:t>
                </a:r>
                <a:r>
                  <a:rPr lang="zh-CN" altLang="en-US" sz="2400" dirty="0">
                    <a:latin typeface="+mn-lt"/>
                    <a:ea typeface="+mn-ea"/>
                    <a:cs typeface="+mn-cs"/>
                  </a:rPr>
                  <a:t>的时间；</a:t>
                </a:r>
                <a:endParaRPr lang="en-US" altLang="zh-CN" sz="2400" dirty="0">
                  <a:latin typeface="+mn-lt"/>
                  <a:ea typeface="+mn-ea"/>
                  <a:cs typeface="+mn-cs"/>
                </a:endParaRPr>
              </a:p>
              <a:p>
                <a:pPr marL="360000" lvl="1" eaLnBrk="1" hangingPunct="1">
                  <a:lnSpc>
                    <a:spcPct val="200000"/>
                  </a:lnSpc>
                  <a:spcBef>
                    <a:spcPts val="0"/>
                  </a:spcBef>
                  <a:defRPr/>
                </a:pPr>
                <a:r>
                  <a:rPr lang="zh-CN" altLang="en-US" sz="2400" dirty="0">
                    <a:latin typeface="+mn-lt"/>
                    <a:ea typeface="+mn-ea"/>
                    <a:cs typeface="+mn-cs"/>
                  </a:rPr>
                  <a:t>整体运行时间是</a:t>
                </a:r>
                <a:r>
                  <a:rPr lang="en-US" altLang="zh-CN" sz="2400" i="1" dirty="0">
                    <a:latin typeface="+mn-lt"/>
                    <a:ea typeface="+mn-ea"/>
                    <a:cs typeface="+mn-cs"/>
                  </a:rPr>
                  <a:t>O(</a:t>
                </a:r>
                <a:r>
                  <a:rPr lang="en-US" altLang="zh-CN" sz="2400" i="1" dirty="0" err="1">
                    <a:latin typeface="+mn-lt"/>
                    <a:ea typeface="+mn-ea"/>
                    <a:cs typeface="+mn-cs"/>
                  </a:rPr>
                  <a:t>n+m</a:t>
                </a:r>
                <a:r>
                  <a:rPr lang="en-US" altLang="zh-CN" sz="2400" i="1" dirty="0">
                    <a:latin typeface="+mn-lt"/>
                    <a:ea typeface="+mn-ea"/>
                    <a:cs typeface="+mn-cs"/>
                  </a:rPr>
                  <a:t>)</a:t>
                </a:r>
                <a:r>
                  <a:rPr lang="zh-CN" altLang="en-US" sz="2400" dirty="0">
                    <a:latin typeface="+mn-lt"/>
                    <a:ea typeface="+mn-ea"/>
                    <a:cs typeface="+mn-cs"/>
                  </a:rPr>
                  <a:t>。</a:t>
                </a:r>
                <a:endParaRPr lang="en-US" altLang="zh-CN" sz="2400" dirty="0">
                  <a:latin typeface="+mn-lt"/>
                  <a:ea typeface="+mn-ea"/>
                  <a:cs typeface="+mn-cs"/>
                </a:endParaRPr>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856615" y="1166019"/>
                <a:ext cx="7786687" cy="4525962"/>
              </a:xfrm>
              <a:blipFill>
                <a:blip r:embed="rId2"/>
                <a:stretch>
                  <a:fillRect l="-7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00458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10.2.3 </a:t>
            </a:r>
            <a:r>
              <a:rPr lang="zh-CN" altLang="en-US" dirty="0"/>
              <a:t>模式匹配</a:t>
            </a:r>
            <a:endParaRPr lang="en-US" altLang="zh-CN" dirty="0"/>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879475" y="1144270"/>
                <a:ext cx="8243887" cy="4158656"/>
              </a:xfrm>
            </p:spPr>
            <p:txBody>
              <a:bodyPr/>
              <a:lstStyle/>
              <a:p>
                <a:pPr eaLnBrk="1" hangingPunct="1"/>
                <a:r>
                  <a:rPr lang="zh-CN" altLang="en-US" dirty="0"/>
                  <a:t>假匹配：仅当对于某个 </a:t>
                </a:r>
                <a:r>
                  <a:rPr lang="en-US" altLang="zh-CN" i="1" dirty="0"/>
                  <a:t>j</a:t>
                </a:r>
                <a:r>
                  <a:rPr lang="zh-CN" altLang="en-US" dirty="0"/>
                  <a:t>，</a:t>
                </a:r>
                <a:endParaRPr lang="en-US" altLang="zh-CN" dirty="0"/>
              </a:p>
              <a:p>
                <a:pPr marL="0" indent="0" eaLnBrk="1" hangingPunct="1">
                  <a:buNone/>
                </a:pPr>
                <a:r>
                  <a:rPr lang="zh-CN" altLang="en-US" dirty="0"/>
                  <a:t>                     有</a:t>
                </a:r>
                <a14:m>
                  <m:oMath xmlns:m="http://schemas.openxmlformats.org/officeDocument/2006/math">
                    <m:r>
                      <a:rPr lang="en-US" altLang="zh-CN" b="0" i="1" smtClean="0">
                        <a:latin typeface="Cambria Math" panose="02040503050406030204" pitchFamily="18" charset="0"/>
                      </a:rPr>
                      <m:t>𝑌</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𝑗</m:t>
                        </m:r>
                      </m:e>
                    </m:d>
                    <m:r>
                      <a:rPr lang="en-US" altLang="zh-CN" b="0" i="1" smtClean="0">
                        <a:latin typeface="Cambria Math" panose="02040503050406030204" pitchFamily="18" charset="0"/>
                        <a:ea typeface="Cambria Math" panose="02040503050406030204" pitchFamily="18" charset="0"/>
                      </a:rPr>
                      <m:t> </m:t>
                    </m:r>
                    <m:r>
                      <a:rPr lang="zh-CN" altLang="en-US" i="1">
                        <a:latin typeface="Cambria Math" panose="02040503050406030204" pitchFamily="18" charset="0"/>
                        <a:ea typeface="Cambria Math" panose="02040503050406030204" pitchFamily="18" charset="0"/>
                      </a:rPr>
                      <m:t>但</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m:rPr>
                            <m:sty m:val="p"/>
                          </m:rPr>
                          <a:rPr lang="en-US" altLang="zh-CN" i="1">
                            <a:latin typeface="Cambria Math" panose="02040503050406030204" pitchFamily="18" charset="0"/>
                            <a:ea typeface="Cambria Math" panose="02040503050406030204" pitchFamily="18" charset="0"/>
                          </a:rPr>
                          <m:t>p</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𝑌</m:t>
                        </m:r>
                      </m:e>
                    </m:d>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a:rPr lang="en-US" altLang="zh-CN" b="0" i="1" smtClean="0">
                            <a:latin typeface="Cambria Math" panose="02040503050406030204" pitchFamily="18" charset="0"/>
                            <a:ea typeface="Cambria Math" panose="02040503050406030204" pitchFamily="18" charset="0"/>
                          </a:rPr>
                          <m:t>𝑝</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oMath>
                </a14:m>
                <a:r>
                  <a:rPr lang="en-US" altLang="zh-CN" dirty="0"/>
                  <a:t> ;</a:t>
                </a:r>
              </a:p>
              <a:p>
                <a:pPr eaLnBrk="1" hangingPunct="1"/>
                <a:r>
                  <a:rPr lang="zh-CN" altLang="en-US" dirty="0"/>
                  <a:t>如果被选的素数</a:t>
                </a:r>
                <a:r>
                  <a:rPr lang="en-US" altLang="zh-CN" dirty="0"/>
                  <a:t>p</a:t>
                </a:r>
                <a:r>
                  <a:rPr lang="zh-CN" altLang="en-US" dirty="0"/>
                  <a:t>整除</a:t>
                </a:r>
                <a:endParaRPr lang="en-US" altLang="zh-CN" dirty="0"/>
              </a:p>
              <a:p>
                <a:pPr marL="0" indent="0" eaLnBrk="1" hangingPunct="1">
                  <a:buNone/>
                </a:pPr>
                <a14:m>
                  <m:oMathPara xmlns:m="http://schemas.openxmlformats.org/officeDocument/2006/math">
                    <m:oMathParaPr>
                      <m:jc m:val="centerGroup"/>
                    </m:oMathParaPr>
                    <m:oMath xmlns:m="http://schemas.openxmlformats.org/officeDocument/2006/math">
                      <m:nary>
                        <m:naryPr>
                          <m:chr m:val="∏"/>
                          <m:supHide m:val="on"/>
                          <m:ctrlPr>
                            <a:rPr lang="en-US" altLang="zh-CN" sz="2400" i="1" smtClean="0">
                              <a:latin typeface="Cambria Math" panose="02040503050406030204" pitchFamily="18" charset="0"/>
                              <a:ea typeface="Cambria Math" panose="02040503050406030204" pitchFamily="18" charset="0"/>
                            </a:rPr>
                          </m:ctrlPr>
                        </m:naryPr>
                        <m:sub>
                          <m:r>
                            <m:rPr>
                              <m:brk m:alnAt="7"/>
                            </m:rP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𝑗</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𝑌</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𝑋</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𝑗</m:t>
                          </m:r>
                          <m:r>
                            <a:rPr lang="en-US" altLang="zh-CN" sz="2400" b="0" i="1" smtClean="0">
                              <a:latin typeface="Cambria Math" panose="02040503050406030204" pitchFamily="18" charset="0"/>
                              <a:ea typeface="Cambria Math" panose="02040503050406030204" pitchFamily="18" charset="0"/>
                            </a:rPr>
                            <m:t>)}</m:t>
                          </m:r>
                        </m:sub>
                        <m:sup/>
                        <m:e>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𝐼</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𝑌</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𝐼</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𝑋</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𝑗</m:t>
                          </m:r>
                          <m:r>
                            <a:rPr lang="en-US" altLang="zh-CN" sz="2400" b="0" i="1" smtClean="0">
                              <a:latin typeface="Cambria Math" panose="02040503050406030204" pitchFamily="18" charset="0"/>
                              <a:ea typeface="Cambria Math" panose="02040503050406030204" pitchFamily="18" charset="0"/>
                            </a:rPr>
                            <m:t>))|</m:t>
                          </m:r>
                        </m:e>
                      </m:nary>
                    </m:oMath>
                  </m:oMathPara>
                </a14:m>
                <a:endParaRPr lang="en-US" altLang="zh-CN" sz="2400" dirty="0">
                  <a:ea typeface="Cambria Math" panose="02040503050406030204" pitchFamily="18" charset="0"/>
                </a:endParaRPr>
              </a:p>
              <a:p>
                <a:pPr eaLnBrk="1" hangingPunct="1"/>
                <a:r>
                  <a:rPr lang="zh-CN" altLang="en-US" dirty="0"/>
                  <a:t>这个乘积不可能超过</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𝑚𝑛</m:t>
                        </m:r>
                      </m:sup>
                    </m:sSup>
                  </m:oMath>
                </a14:m>
                <a:r>
                  <a:rPr lang="zh-CN" altLang="en-US" dirty="0"/>
                  <a:t>，因此整除它的素数个数不可能超过</a:t>
                </a:r>
                <a14:m>
                  <m:oMath xmlns:m="http://schemas.openxmlformats.org/officeDocument/2006/math">
                    <m:r>
                      <a:rPr lang="zh-CN" altLang="en-US" i="1" smtClean="0">
                        <a:latin typeface="Cambria Math" panose="02040503050406030204" pitchFamily="18" charset="0"/>
                      </a:rPr>
                      <m:t>𝜋</m:t>
                    </m:r>
                    <m:r>
                      <a:rPr lang="en-US" altLang="zh-CN" b="0" i="1" smtClean="0">
                        <a:latin typeface="Cambria Math" panose="02040503050406030204" pitchFamily="18" charset="0"/>
                      </a:rPr>
                      <m:t>(</m:t>
                    </m:r>
                    <m:r>
                      <a:rPr lang="en-US" altLang="zh-CN" b="0" i="1" smtClean="0">
                        <a:latin typeface="Cambria Math" panose="02040503050406030204" pitchFamily="18" charset="0"/>
                      </a:rPr>
                      <m:t>𝑚𝑛</m:t>
                    </m:r>
                    <m:r>
                      <a:rPr lang="en-US" altLang="zh-CN" b="0" i="0" smtClean="0">
                        <a:latin typeface="Cambria Math" panose="02040503050406030204" pitchFamily="18" charset="0"/>
                      </a:rPr>
                      <m:t>)</m:t>
                    </m:r>
                  </m:oMath>
                </a14:m>
                <a:r>
                  <a:rPr lang="en-US" altLang="zh-CN" dirty="0"/>
                  <a:t> </a:t>
                </a:r>
                <a:r>
                  <a:rPr lang="zh-CN" altLang="en-US" dirty="0"/>
                  <a:t>。令 </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𝑀</m:t>
                        </m:r>
                        <m:r>
                          <a:rPr lang="en-US" altLang="zh-CN" b="0" i="1" smtClean="0">
                            <a:latin typeface="Cambria Math" panose="02040503050406030204" pitchFamily="18" charset="0"/>
                          </a:rPr>
                          <m:t>=2</m:t>
                        </m:r>
                        <m:r>
                          <m:rPr>
                            <m:sty m:val="p"/>
                          </m:rPr>
                          <a:rPr lang="en-US" altLang="zh-CN" i="1" smtClean="0">
                            <a:latin typeface="Cambria Math" panose="02040503050406030204" pitchFamily="18" charset="0"/>
                          </a:rPr>
                          <m:t>mn</m:t>
                        </m:r>
                      </m:e>
                      <m:sup>
                        <m:r>
                          <a:rPr lang="en-US" altLang="zh-CN" b="0" i="1" smtClean="0">
                            <a:latin typeface="Cambria Math" panose="02040503050406030204" pitchFamily="18" charset="0"/>
                          </a:rPr>
                          <m:t>2</m:t>
                        </m:r>
                      </m:sup>
                    </m:sSup>
                  </m:oMath>
                </a14:m>
                <a:r>
                  <a:rPr lang="zh-CN" altLang="en-US" dirty="0"/>
                  <a:t>，假匹配概率不可能超过</a:t>
                </a:r>
                <a:endParaRPr lang="en-US" altLang="zh-CN" dirty="0"/>
              </a:p>
              <a:p>
                <a:pPr marL="0" indent="0" eaLnBrk="1" hangingPunct="1">
                  <a:buNone/>
                </a:pPr>
                <a:endParaRPr lang="en-US" altLang="zh-CN" dirty="0"/>
              </a:p>
              <a:p>
                <a:pPr marL="0" indent="0" eaLnBrk="1" hangingPunct="1">
                  <a:buNone/>
                </a:pPr>
                <a:endParaRPr lang="en-US" altLang="zh-CN" dirty="0"/>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879475" y="1144270"/>
                <a:ext cx="8243887" cy="4158656"/>
              </a:xfrm>
              <a:blipFill>
                <a:blip r:embed="rId2"/>
                <a:stretch>
                  <a:fillRect l="-1035" t="-1466"/>
                </a:stretch>
              </a:blipFill>
            </p:spPr>
            <p:txBody>
              <a:bodyPr/>
              <a:lstStyle/>
              <a:p>
                <a:r>
                  <a:rPr lang="zh-CN" altLang="en-US">
                    <a:noFill/>
                  </a:rPr>
                  <a:t> </a:t>
                </a:r>
              </a:p>
            </p:txBody>
          </p:sp>
        </mc:Fallback>
      </mc:AlternateContent>
      <p:sp>
        <p:nvSpPr>
          <p:cNvPr id="5" name="文本框 4"/>
          <p:cNvSpPr txBox="1"/>
          <p:nvPr/>
        </p:nvSpPr>
        <p:spPr>
          <a:xfrm>
            <a:off x="874931" y="5281774"/>
            <a:ext cx="8085014" cy="477054"/>
          </a:xfrm>
          <a:prstGeom prst="rect">
            <a:avLst/>
          </a:prstGeom>
          <a:noFill/>
        </p:spPr>
        <p:txBody>
          <a:bodyPr wrap="square" rtlCol="0">
            <a:spAutoFit/>
          </a:bodyPr>
          <a:lstStyle/>
          <a:p>
            <a:pPr marL="342900" indent="-342900">
              <a:buFont typeface="Arial" panose="020B0604020202020204" pitchFamily="34" charset="0"/>
              <a:buChar char="•"/>
            </a:pPr>
            <a:r>
              <a:rPr lang="zh-CN" altLang="en-US" sz="2500" b="1" dirty="0">
                <a:solidFill>
                  <a:srgbClr val="FF0000"/>
                </a:solidFill>
                <a:latin typeface="+mn-lt"/>
                <a:ea typeface="+mn-ea"/>
              </a:rPr>
              <a:t>假匹配概率</a:t>
            </a:r>
            <a:r>
              <a:rPr lang="zh-CN" altLang="en-US" sz="2500" dirty="0">
                <a:solidFill>
                  <a:srgbClr val="FF0000"/>
                </a:solidFill>
                <a:latin typeface="+mn-lt"/>
                <a:ea typeface="+mn-ea"/>
              </a:rPr>
              <a:t>只和文本串长度</a:t>
            </a:r>
            <a:r>
              <a:rPr lang="en-US" altLang="zh-CN" sz="2500" dirty="0">
                <a:solidFill>
                  <a:srgbClr val="FF0000"/>
                </a:solidFill>
                <a:latin typeface="+mn-lt"/>
                <a:ea typeface="+mn-ea"/>
              </a:rPr>
              <a:t>n</a:t>
            </a:r>
            <a:r>
              <a:rPr lang="zh-CN" altLang="en-US" sz="2500" dirty="0">
                <a:solidFill>
                  <a:srgbClr val="FF0000"/>
                </a:solidFill>
                <a:latin typeface="+mn-lt"/>
                <a:ea typeface="+mn-ea"/>
              </a:rPr>
              <a:t>有关，而模式长度无关。</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9672" y="4241864"/>
            <a:ext cx="6876256" cy="918584"/>
          </a:xfrm>
          <a:prstGeom prst="rect">
            <a:avLst/>
          </a:prstGeom>
        </p:spPr>
      </p:pic>
    </p:spTree>
    <p:extLst>
      <p:ext uri="{BB962C8B-B14F-4D97-AF65-F5344CB8AC3E}">
        <p14:creationId xmlns:p14="http://schemas.microsoft.com/office/powerpoint/2010/main" val="2001681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10.2.4 </a:t>
            </a:r>
            <a:r>
              <a:rPr lang="zh-CN" altLang="en-US" dirty="0"/>
              <a:t>货郎担问题</a:t>
            </a:r>
            <a:endParaRPr lang="en-US" altLang="zh-CN" dirty="0"/>
          </a:p>
        </p:txBody>
      </p:sp>
      <p:sp>
        <p:nvSpPr>
          <p:cNvPr id="71684" name="Rectangle 3"/>
          <p:cNvSpPr>
            <a:spLocks noGrp="1" noChangeArrowheads="1"/>
          </p:cNvSpPr>
          <p:nvPr>
            <p:ph type="body" idx="1"/>
          </p:nvPr>
        </p:nvSpPr>
        <p:spPr/>
        <p:txBody>
          <a:bodyPr/>
          <a:lstStyle/>
          <a:p>
            <a:pPr marL="0" lvl="0" indent="0" eaLnBrk="1" hangingPunct="1">
              <a:buNone/>
            </a:pPr>
            <a:r>
              <a:rPr lang="en-US" altLang="zh-CN" sz="2400" dirty="0">
                <a:solidFill>
                  <a:srgbClr val="333399"/>
                </a:solidFill>
              </a:rPr>
              <a:t>1) </a:t>
            </a:r>
            <a:r>
              <a:rPr lang="zh-CN" altLang="en-US" sz="2400" dirty="0">
                <a:solidFill>
                  <a:srgbClr val="333399"/>
                </a:solidFill>
              </a:rPr>
              <a:t>问题描述</a:t>
            </a:r>
            <a:endParaRPr lang="en-US" altLang="zh-CN" sz="2400" dirty="0">
              <a:solidFill>
                <a:srgbClr val="333399"/>
              </a:solidFill>
            </a:endParaRPr>
          </a:p>
          <a:p>
            <a:pPr marL="540000" indent="-180000" algn="just" eaLnBrk="1" hangingPunct="1"/>
            <a:r>
              <a:rPr lang="zh-CN" altLang="en-US" sz="2200" dirty="0">
                <a:latin typeface="+mn-ea"/>
              </a:rPr>
              <a:t>货郎担问题，又译为旅行商问题</a:t>
            </a:r>
            <a:r>
              <a:rPr lang="en-US" altLang="zh-CN" sz="2200" dirty="0">
                <a:latin typeface="+mn-ea"/>
              </a:rPr>
              <a:t>(TSP)</a:t>
            </a:r>
            <a:r>
              <a:rPr lang="zh-CN" altLang="en-US" sz="2200" dirty="0">
                <a:latin typeface="+mn-ea"/>
              </a:rPr>
              <a:t>、旅行推销员问题 ，是数学领域中著名问题之一。</a:t>
            </a:r>
            <a:endParaRPr lang="en-US" altLang="zh-CN" sz="2200" dirty="0">
              <a:latin typeface="+mn-ea"/>
            </a:endParaRPr>
          </a:p>
          <a:p>
            <a:pPr marL="540000" indent="-180000" algn="just" eaLnBrk="1" hangingPunct="1"/>
            <a:r>
              <a:rPr lang="zh-CN" altLang="en-US" sz="2200" dirty="0">
                <a:latin typeface="+mn-ea"/>
              </a:rPr>
              <a:t>假设有一个旅行商人要拜访</a:t>
            </a:r>
            <a:r>
              <a:rPr lang="en-US" altLang="zh-CN" sz="2200" dirty="0">
                <a:latin typeface="+mn-ea"/>
              </a:rPr>
              <a:t>n</a:t>
            </a:r>
            <a:r>
              <a:rPr lang="zh-CN" altLang="en-US" sz="2200" dirty="0">
                <a:latin typeface="+mn-ea"/>
              </a:rPr>
              <a:t>个城市，选择路径的限制是每个城市只能拜访一次，而且最后要回到原来出发的城市。</a:t>
            </a:r>
            <a:endParaRPr lang="en-US" altLang="zh-CN" sz="2200" dirty="0">
              <a:latin typeface="+mn-ea"/>
            </a:endParaRPr>
          </a:p>
          <a:p>
            <a:pPr marL="540000" indent="-180000" algn="just" eaLnBrk="1" hangingPunct="1"/>
            <a:r>
              <a:rPr lang="zh-CN" altLang="en-US" sz="2200" dirty="0">
                <a:latin typeface="+mn-ea"/>
              </a:rPr>
              <a:t>路径的选择目标是 路径总路程为所有路径之中的最小值。</a:t>
            </a:r>
            <a:endParaRPr lang="en-US" altLang="zh-CN" sz="2200" dirty="0">
              <a:latin typeface="+mn-ea"/>
            </a:endParaRPr>
          </a:p>
          <a:p>
            <a:pPr marL="0" lvl="0" indent="0" eaLnBrk="1" hangingPunct="1">
              <a:buNone/>
            </a:pPr>
            <a:endParaRPr lang="en-US" altLang="zh-CN" sz="2400" dirty="0">
              <a:solidFill>
                <a:srgbClr val="333399"/>
              </a:solidFill>
            </a:endParaRPr>
          </a:p>
          <a:p>
            <a:pPr marL="0" lvl="0" indent="0" eaLnBrk="1" hangingPunct="1">
              <a:buNone/>
            </a:pPr>
            <a:r>
              <a:rPr lang="en-US" altLang="zh-CN" sz="2400" dirty="0">
                <a:solidFill>
                  <a:srgbClr val="333399"/>
                </a:solidFill>
              </a:rPr>
              <a:t>2) </a:t>
            </a:r>
            <a:r>
              <a:rPr lang="zh-CN" altLang="en-US" sz="2400" dirty="0">
                <a:solidFill>
                  <a:srgbClr val="333399"/>
                </a:solidFill>
              </a:rPr>
              <a:t>传统方法</a:t>
            </a:r>
            <a:endParaRPr lang="en-US" altLang="zh-CN" sz="2400" dirty="0">
              <a:solidFill>
                <a:srgbClr val="333399"/>
              </a:solidFill>
            </a:endParaRPr>
          </a:p>
          <a:p>
            <a:pPr marL="0" lvl="0" indent="0" eaLnBrk="1" hangingPunct="1">
              <a:buNone/>
            </a:pPr>
            <a:r>
              <a:rPr lang="en-US" altLang="zh-CN" sz="2200" dirty="0">
                <a:solidFill>
                  <a:srgbClr val="333399"/>
                </a:solidFill>
              </a:rPr>
              <a:t>     </a:t>
            </a:r>
            <a:r>
              <a:rPr lang="zh-CN" altLang="en-US" sz="2200" dirty="0">
                <a:solidFill>
                  <a:srgbClr val="333399"/>
                </a:solidFill>
                <a:latin typeface="+mn-ea"/>
              </a:rPr>
              <a:t>贪心算法、蛮力算法、动态规划法、回溯法、分支定界法</a:t>
            </a:r>
            <a:endParaRPr lang="en-US" altLang="zh-CN" sz="2200" dirty="0">
              <a:solidFill>
                <a:srgbClr val="333399"/>
              </a:solidFill>
              <a:latin typeface="+mn-ea"/>
            </a:endParaRPr>
          </a:p>
          <a:p>
            <a:pPr marL="360000" indent="0" algn="just" eaLnBrk="1" hangingPunct="1">
              <a:buNone/>
            </a:pPr>
            <a:endParaRPr lang="en-US" altLang="zh-CN" sz="2000" dirty="0">
              <a:latin typeface="+mn-ea"/>
            </a:endParaRPr>
          </a:p>
          <a:p>
            <a:pPr marL="360000" indent="0" algn="just" eaLnBrk="1" hangingPunct="1">
              <a:buNone/>
            </a:pPr>
            <a:endParaRPr lang="en-US" altLang="zh-CN" sz="2000" dirty="0">
              <a:latin typeface="+mn-ea"/>
            </a:endParaRPr>
          </a:p>
          <a:p>
            <a:pPr marL="540000" indent="-180000" algn="just" eaLnBrk="1" hangingPunct="1"/>
            <a:endParaRPr lang="en-US" altLang="zh-CN" sz="2000" dirty="0">
              <a:solidFill>
                <a:srgbClr val="333399"/>
              </a:solidFill>
              <a:latin typeface="+mn-ea"/>
            </a:endParaRPr>
          </a:p>
          <a:p>
            <a:pPr marL="360000" indent="0" algn="just" eaLnBrk="1" hangingPunct="1">
              <a:buNone/>
            </a:pPr>
            <a:endParaRPr lang="en-US" altLang="zh-CN" sz="2000" dirty="0">
              <a:solidFill>
                <a:srgbClr val="333399"/>
              </a:solidFill>
              <a:latin typeface="+mn-ea"/>
            </a:endParaRPr>
          </a:p>
          <a:p>
            <a:pPr marL="0" indent="0" eaLnBrk="1" hangingPunct="1">
              <a:buNone/>
            </a:pPr>
            <a:endParaRPr lang="en-US" altLang="zh-CN" dirty="0"/>
          </a:p>
        </p:txBody>
      </p:sp>
    </p:spTree>
    <p:extLst>
      <p:ext uri="{BB962C8B-B14F-4D97-AF65-F5344CB8AC3E}">
        <p14:creationId xmlns:p14="http://schemas.microsoft.com/office/powerpoint/2010/main" val="4695941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10.2.4 </a:t>
            </a:r>
            <a:r>
              <a:rPr lang="zh-CN" altLang="en-US" dirty="0"/>
              <a:t>货郎担问题</a:t>
            </a:r>
            <a:endParaRPr lang="en-US" altLang="zh-CN" dirty="0"/>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900113" y="1268413"/>
                <a:ext cx="7560319" cy="4525962"/>
              </a:xfrm>
            </p:spPr>
            <p:txBody>
              <a:bodyPr/>
              <a:lstStyle/>
              <a:p>
                <a:pPr marL="0" indent="0" eaLnBrk="1" hangingPunct="1">
                  <a:buNone/>
                </a:pPr>
                <a:r>
                  <a:rPr lang="zh-CN" altLang="en-US" sz="2400" b="1" dirty="0">
                    <a:latin typeface="+mn-ea"/>
                  </a:rPr>
                  <a:t>随机算法：</a:t>
                </a:r>
                <a:endParaRPr lang="en-US" altLang="zh-CN" sz="2400" b="1" dirty="0">
                  <a:latin typeface="+mn-ea"/>
                </a:endParaRPr>
              </a:p>
              <a:p>
                <a:pPr eaLnBrk="1" hangingPunct="1"/>
                <a:r>
                  <a:rPr lang="zh-CN" altLang="en-US" sz="2200" dirty="0">
                    <a:latin typeface="+mn-ea"/>
                  </a:rPr>
                  <a:t>设已知城市数</a:t>
                </a:r>
                <a:r>
                  <a:rPr lang="en-US" altLang="zh-CN" sz="2200" dirty="0">
                    <a:latin typeface="+mn-ea"/>
                  </a:rPr>
                  <a:t>n</a:t>
                </a:r>
                <a:r>
                  <a:rPr lang="zh-CN" altLang="en-US" sz="2200" dirty="0">
                    <a:latin typeface="+mn-ea"/>
                  </a:rPr>
                  <a:t>、每两城之间距离，若两城不直接相通，两者距离为</a:t>
                </a:r>
                <a14:m>
                  <m:oMath xmlns:m="http://schemas.openxmlformats.org/officeDocument/2006/math">
                    <m:r>
                      <a:rPr lang="en-US" altLang="zh-CN" sz="2200" dirty="0" smtClean="0">
                        <a:latin typeface="Cambria Math" panose="02040503050406030204" pitchFamily="18" charset="0"/>
                      </a:rPr>
                      <m:t>∞</m:t>
                    </m:r>
                    <m:r>
                      <a:rPr lang="zh-CN" altLang="en-US" sz="2200" i="1" dirty="0">
                        <a:latin typeface="Cambria Math" panose="02040503050406030204" pitchFamily="18" charset="0"/>
                      </a:rPr>
                      <m:t>；</m:t>
                    </m:r>
                  </m:oMath>
                </a14:m>
                <a:endParaRPr lang="en-US" altLang="zh-CN" sz="2200" dirty="0">
                  <a:latin typeface="+mn-ea"/>
                </a:endParaRPr>
              </a:p>
              <a:p>
                <a:pPr eaLnBrk="1" hangingPunct="1"/>
                <a:r>
                  <a:rPr lang="zh-CN" altLang="en-US" sz="2200" dirty="0">
                    <a:latin typeface="+mn-ea"/>
                  </a:rPr>
                  <a:t>生成符合限制的随机路径，计算路径总路程，更新目前最优的随机路径；</a:t>
                </a:r>
                <a:endParaRPr lang="en-US" altLang="zh-CN" sz="2200" dirty="0">
                  <a:latin typeface="+mn-ea"/>
                </a:endParaRPr>
              </a:p>
              <a:p>
                <a:pPr eaLnBrk="1" hangingPunct="1"/>
                <a:r>
                  <a:rPr lang="zh-CN" altLang="en-US" sz="2200" dirty="0">
                    <a:latin typeface="+mn-ea"/>
                  </a:rPr>
                  <a:t>经过大量计算，</a:t>
                </a:r>
                <a:r>
                  <a:rPr lang="zh-CN" altLang="en-US" sz="2200" b="1" u="sng" dirty="0">
                    <a:latin typeface="+mn-ea"/>
                  </a:rPr>
                  <a:t>很有可能</a:t>
                </a:r>
                <a:r>
                  <a:rPr lang="zh-CN" altLang="en-US" sz="2200" dirty="0">
                    <a:latin typeface="+mn-ea"/>
                  </a:rPr>
                  <a:t>得到最优的随机路径。</a:t>
                </a:r>
                <a:endParaRPr lang="en-US" altLang="zh-CN" sz="2200" dirty="0">
                  <a:latin typeface="+mn-ea"/>
                </a:endParaRPr>
              </a:p>
              <a:p>
                <a:pPr marL="0" indent="0" eaLnBrk="1" hangingPunct="1">
                  <a:buNone/>
                </a:pPr>
                <a:endParaRPr lang="en-US" altLang="zh-CN" sz="2100" dirty="0">
                  <a:latin typeface="+mn-ea"/>
                </a:endParaRPr>
              </a:p>
              <a:p>
                <a:pPr marL="0" indent="0" eaLnBrk="1" hangingPunct="1">
                  <a:buNone/>
                </a:pPr>
                <a:r>
                  <a:rPr lang="zh-CN" altLang="en-US" sz="2100" b="1" dirty="0">
                    <a:latin typeface="+mn-ea"/>
                  </a:rPr>
                  <a:t>注意：</a:t>
                </a:r>
                <a:endParaRPr lang="en-US" altLang="zh-CN" sz="2100" b="1" dirty="0">
                  <a:latin typeface="+mn-ea"/>
                </a:endParaRPr>
              </a:p>
              <a:p>
                <a:pPr eaLnBrk="1" hangingPunct="1"/>
                <a:r>
                  <a:rPr lang="zh-CN" altLang="en-US" sz="2200" dirty="0">
                    <a:latin typeface="+mn-ea"/>
                  </a:rPr>
                  <a:t>解决</a:t>
                </a:r>
                <a:r>
                  <a:rPr lang="en-US" altLang="zh-CN" sz="2200" dirty="0">
                    <a:latin typeface="+mn-ea"/>
                  </a:rPr>
                  <a:t>TSP</a:t>
                </a:r>
                <a:r>
                  <a:rPr lang="zh-CN" altLang="en-US" sz="2200" dirty="0">
                    <a:latin typeface="+mn-ea"/>
                  </a:rPr>
                  <a:t>问题的随机算法属于</a:t>
                </a:r>
                <a:r>
                  <a:rPr lang="zh-CN" altLang="en-US" sz="2200" b="1" dirty="0">
                    <a:solidFill>
                      <a:srgbClr val="333399"/>
                    </a:solidFill>
                    <a:latin typeface="+mn-ea"/>
                  </a:rPr>
                  <a:t>蒙特卡罗算法，</a:t>
                </a:r>
                <a:r>
                  <a:rPr lang="zh-CN" altLang="en-US" sz="2200" dirty="0">
                    <a:solidFill>
                      <a:srgbClr val="333399"/>
                    </a:solidFill>
                    <a:latin typeface="+mn-ea"/>
                  </a:rPr>
                  <a:t>即</a:t>
                </a:r>
                <a:r>
                  <a:rPr lang="zh-CN" altLang="en-US" sz="2200" dirty="0">
                    <a:latin typeface="+mn-ea"/>
                  </a:rPr>
                  <a:t>一定有解，但有可能是错解。</a:t>
                </a:r>
                <a:endParaRPr lang="en-US" altLang="zh-CN" sz="2200" dirty="0">
                  <a:latin typeface="+mn-ea"/>
                </a:endParaRPr>
              </a:p>
              <a:p>
                <a:pPr eaLnBrk="1" hangingPunct="1"/>
                <a:r>
                  <a:rPr lang="zh-CN" altLang="en-US" sz="2200" dirty="0">
                    <a:latin typeface="+mn-ea"/>
                  </a:rPr>
                  <a:t>因为由于路径是随机的，也有可能每次随机生成都错过了最优解。</a:t>
                </a:r>
                <a:endParaRPr lang="en-US" altLang="zh-CN" sz="2200" dirty="0">
                  <a:latin typeface="+mn-ea"/>
                </a:endParaRPr>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900113" y="1268413"/>
                <a:ext cx="7560319" cy="4525962"/>
              </a:xfrm>
              <a:blipFill>
                <a:blip r:embed="rId2"/>
                <a:stretch>
                  <a:fillRect l="-1290" t="-1077" r="-2742" b="-39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47140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1400"/>
              <a:t>Algorithms Design Techniques and Analysis</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4EFF462-2738-12C7-803F-C7496BC59467}"/>
                  </a:ext>
                </a:extLst>
              </p:cNvPr>
              <p:cNvSpPr/>
              <p:nvPr/>
            </p:nvSpPr>
            <p:spPr bwMode="auto">
              <a:xfrm>
                <a:off x="611560" y="260648"/>
                <a:ext cx="8244408" cy="5712846"/>
              </a:xfrm>
              <a:prstGeom prst="rect">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altLang="zh-CN" sz="1100" u="none" strike="noStrike" kern="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zh-CN" altLang="en-US"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rPr>
                  <a:t>算法</a:t>
                </a:r>
                <a:r>
                  <a:rPr kumimoji="0" lang="en-US" altLang="zh-CN"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rPr>
                  <a:t> 14.4 - </a:t>
                </a:r>
                <a:r>
                  <a:rPr lang="en-US" altLang="zh-CN" sz="3200" b="1" kern="0" dirty="0" err="1">
                    <a:solidFill>
                      <a:srgbClr val="333399"/>
                    </a:solidFill>
                    <a:latin typeface="华文楷体" panose="02010600040101010101" pitchFamily="2" charset="-122"/>
                    <a:ea typeface="华文楷体" panose="02010600040101010101" pitchFamily="2" charset="-122"/>
                  </a:rPr>
                  <a:t>RandomTSP</a:t>
                </a:r>
                <a:endParaRPr kumimoji="0" lang="en-US" altLang="zh-CN" sz="3200" b="1" u="none" strike="noStrike" kern="0" cap="none" spc="0" normalizeH="0" baseline="0" noProof="0" dirty="0">
                  <a:ln>
                    <a:noFill/>
                  </a:ln>
                  <a:solidFill>
                    <a:srgbClr val="333399"/>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endParaRPr kumimoji="0" lang="en-US" altLang="zh-CN" sz="2100" u="none" strike="noStrike" kern="0" cap="none" spc="0" normalizeH="0" baseline="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r>
                  <a:rPr kumimoji="0" lang="zh-CN" altLang="en-US" sz="2100"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输入</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a:t>
                </a:r>
                <a:r>
                  <a:rPr lang="zh-CN" altLang="en-US" sz="2100" kern="0" dirty="0">
                    <a:solidFill>
                      <a:srgbClr val="333399"/>
                    </a:solidFill>
                    <a:latin typeface="Arial Unicode MS" panose="020B0604020202020204" pitchFamily="34" charset="-122"/>
                    <a:ea typeface="华文楷体" panose="02010600040101010101" pitchFamily="2" charset="-122"/>
                  </a:rPr>
                  <a:t>城市数</a:t>
                </a:r>
                <a:r>
                  <a:rPr lang="en-US" altLang="zh-CN" sz="2100" kern="0" dirty="0">
                    <a:solidFill>
                      <a:srgbClr val="333399"/>
                    </a:solidFill>
                    <a:latin typeface="Arial Unicode MS" panose="020B0604020202020204" pitchFamily="34" charset="-122"/>
                    <a:ea typeface="华文楷体" panose="02010600040101010101" pitchFamily="2" charset="-122"/>
                  </a:rPr>
                  <a:t>n</a:t>
                </a:r>
                <a:r>
                  <a:rPr lang="zh-CN" altLang="en-US" sz="2100" kern="0" dirty="0">
                    <a:solidFill>
                      <a:srgbClr val="333399"/>
                    </a:solidFill>
                    <a:latin typeface="Arial Unicode MS" panose="020B0604020202020204" pitchFamily="34" charset="-122"/>
                    <a:ea typeface="华文楷体" panose="02010600040101010101" pitchFamily="2" charset="-122"/>
                  </a:rPr>
                  <a:t>、每两城市间距离</a:t>
                </a:r>
                <a:r>
                  <a:rPr lang="en-US" altLang="zh-CN" sz="2100" kern="0" dirty="0">
                    <a:solidFill>
                      <a:srgbClr val="333399"/>
                    </a:solidFill>
                    <a:latin typeface="Arial Unicode MS" panose="020B0604020202020204" pitchFamily="34" charset="-122"/>
                    <a:ea typeface="华文楷体" panose="02010600040101010101" pitchFamily="2" charset="-122"/>
                  </a:rPr>
                  <a:t>.</a:t>
                </a:r>
                <a:endPar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r>
                  <a:rPr kumimoji="0" lang="zh-CN" altLang="en-US" sz="2100"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输出</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a:t>
                </a:r>
                <a:r>
                  <a:rPr kumimoji="0" lang="zh-CN" altLang="en-US"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解决</a:t>
                </a:r>
                <a:r>
                  <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TSP</a:t>
                </a:r>
                <a:r>
                  <a:rPr lang="zh-CN" altLang="en-US" sz="2100" kern="0" dirty="0">
                    <a:solidFill>
                      <a:srgbClr val="333399"/>
                    </a:solidFill>
                    <a:latin typeface="Arial Unicode MS" panose="020B0604020202020204" pitchFamily="34" charset="-122"/>
                    <a:ea typeface="华文楷体" panose="02010600040101010101" pitchFamily="2" charset="-122"/>
                  </a:rPr>
                  <a:t>问题的最优路径和路径总长</a:t>
                </a:r>
                <a:endParaRPr lang="en-US" altLang="zh-CN" sz="2100" kern="0" dirty="0">
                  <a:solidFill>
                    <a:srgbClr val="333399"/>
                  </a:solidFill>
                  <a:latin typeface="Arial Unicode MS" panose="020B0604020202020204" pitchFamily="34" charset="-122"/>
                  <a:ea typeface="华文楷体" panose="020106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tabLst/>
                  <a:defRPr/>
                </a:pPr>
                <a:endParaRPr kumimoji="0" lang="en-US" altLang="zh-CN" sz="2100"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i="1" kern="0" dirty="0" err="1">
                    <a:solidFill>
                      <a:srgbClr val="333399"/>
                    </a:solidFill>
                    <a:latin typeface="Cambria Math" panose="02040503050406030204" pitchFamily="18" charset="0"/>
                    <a:ea typeface="华文行楷" pitchFamily="2" charset="-122"/>
                  </a:rPr>
                  <a:t>bestPath</a:t>
                </a:r>
                <a:r>
                  <a:rPr lang="en-US" altLang="zh-CN" i="1" kern="0" dirty="0">
                    <a:solidFill>
                      <a:srgbClr val="333399"/>
                    </a:solidFill>
                    <a:latin typeface="Arial Unicode MS" panose="020B0604020202020204" pitchFamily="34" charset="-122"/>
                    <a:ea typeface="华文楷体" panose="02010600040101010101" pitchFamily="2" charset="-122"/>
                  </a:rPr>
                  <a:t> </a:t>
                </a:r>
                <a:r>
                  <a:rPr kumimoji="0" lang="en-US" altLang="zh-CN"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sym typeface="Wingdings" pitchFamily="2" charset="2"/>
                  </a:rPr>
                  <a:t></a:t>
                </a:r>
                <a:r>
                  <a:rPr kumimoji="0" lang="en-US" altLang="zh-CN"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 ]</a:t>
                </a:r>
                <a:r>
                  <a:rPr lang="zh-CN" altLang="en-US" kern="0" dirty="0">
                    <a:solidFill>
                      <a:srgbClr val="333399"/>
                    </a:solidFill>
                    <a:latin typeface="Arial Unicode MS" panose="020B0604020202020204" pitchFamily="34" charset="-122"/>
                    <a:ea typeface="华文楷体" panose="02010600040101010101" pitchFamily="2" charset="-122"/>
                  </a:rPr>
                  <a:t>，</a:t>
                </a:r>
                <a:r>
                  <a:rPr lang="en-US" altLang="zh-CN" i="1" kern="0" dirty="0" err="1">
                    <a:solidFill>
                      <a:srgbClr val="333399"/>
                    </a:solidFill>
                    <a:latin typeface="Cambria Math" panose="02040503050406030204" pitchFamily="18" charset="0"/>
                    <a:ea typeface="华文行楷" pitchFamily="2" charset="-122"/>
                  </a:rPr>
                  <a:t>bestDistance</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a:t>
                </a:r>
                <a:r>
                  <a:rPr lang="en-US" altLang="zh-CN" dirty="0"/>
                  <a:t> </a:t>
                </a:r>
                <a14:m>
                  <m:oMath xmlns:m="http://schemas.openxmlformats.org/officeDocument/2006/math">
                    <m:r>
                      <a:rPr lang="en-US" altLang="zh-CN" kern="0" dirty="0">
                        <a:solidFill>
                          <a:srgbClr val="333399"/>
                        </a:solidFill>
                        <a:latin typeface="Cambria Math" panose="02040503050406030204" pitchFamily="18" charset="0"/>
                        <a:ea typeface="华文楷体" panose="02010600040101010101" pitchFamily="2" charset="-122"/>
                      </a:rPr>
                      <m:t>∞</m:t>
                    </m:r>
                  </m:oMath>
                </a14:m>
                <a:r>
                  <a:rPr lang="zh-CN" altLang="en-US" kern="0" dirty="0">
                    <a:solidFill>
                      <a:srgbClr val="333399"/>
                    </a:solidFill>
                    <a:latin typeface="Arial Unicode MS" panose="020B0604020202020204" pitchFamily="34" charset="-122"/>
                    <a:ea typeface="华文楷体" panose="02010600040101010101" pitchFamily="2" charset="-122"/>
                  </a:rPr>
                  <a:t>，</a:t>
                </a:r>
                <a:r>
                  <a:rPr lang="en-US" altLang="zh-CN" i="1" kern="0" dirty="0">
                    <a:solidFill>
                      <a:srgbClr val="333399"/>
                    </a:solidFill>
                    <a:latin typeface="Cambria Math" panose="02040503050406030204" pitchFamily="18" charset="0"/>
                    <a:ea typeface="华文行楷" pitchFamily="2" charset="-122"/>
                  </a:rPr>
                  <a:t>iteration</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a:t>
                </a:r>
                <a:r>
                  <a:rPr lang="en-US" altLang="zh-CN" dirty="0"/>
                  <a:t> 100000</a:t>
                </a:r>
                <a:endParaRPr lang="en-US" altLang="zh-CN"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zh-CN" altLang="en-US" kern="0" dirty="0">
                    <a:solidFill>
                      <a:srgbClr val="333399"/>
                    </a:solidFill>
                    <a:latin typeface="Arial Unicode MS" panose="020B0604020202020204" pitchFamily="34" charset="-122"/>
                    <a:ea typeface="华文楷体" panose="02010600040101010101" pitchFamily="2" charset="-122"/>
                  </a:rPr>
                  <a:t>初始化随机路径</a:t>
                </a:r>
                <a:r>
                  <a:rPr lang="en-US" altLang="zh-CN" kern="0" dirty="0">
                    <a:solidFill>
                      <a:srgbClr val="333399"/>
                    </a:solidFill>
                    <a:latin typeface="Arial Unicode MS" panose="020B0604020202020204" pitchFamily="34" charset="-122"/>
                    <a:ea typeface="华文楷体" panose="02010600040101010101" pitchFamily="2" charset="-122"/>
                  </a:rPr>
                  <a:t>path </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[1,2,…,n]</a:t>
                </a:r>
              </a:p>
              <a:p>
                <a:pPr marL="914400" lvl="1" indent="-457200" eaLnBrk="1" hangingPunct="1">
                  <a:lnSpc>
                    <a:spcPct val="80000"/>
                  </a:lnSpc>
                  <a:spcBef>
                    <a:spcPct val="20000"/>
                  </a:spcBef>
                  <a:buFontTx/>
                  <a:buAutoNum type="arabicPeriod"/>
                  <a:defRPr/>
                </a:pPr>
                <a:r>
                  <a:rPr lang="en-US" altLang="zh-CN" i="1" kern="0" dirty="0">
                    <a:solidFill>
                      <a:srgbClr val="333399"/>
                    </a:solidFill>
                    <a:latin typeface="Cambria Math" panose="02040503050406030204" pitchFamily="18" charset="0"/>
                    <a:ea typeface="华文行楷" pitchFamily="2" charset="-122"/>
                    <a:sym typeface="Wingdings" pitchFamily="2" charset="2"/>
                  </a:rPr>
                  <a:t>distance</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 </a:t>
                </a:r>
                <a:r>
                  <a:rPr lang="zh-CN" altLang="en-US" kern="0" dirty="0">
                    <a:solidFill>
                      <a:srgbClr val="333399"/>
                    </a:solidFill>
                    <a:latin typeface="Arial Unicode MS" panose="020B0604020202020204" pitchFamily="34" charset="-122"/>
                    <a:ea typeface="华文楷体" panose="02010600040101010101" pitchFamily="2" charset="-122"/>
                    <a:sym typeface="Wingdings" pitchFamily="2" charset="2"/>
                  </a:rPr>
                  <a:t>计算</a:t>
                </a:r>
                <a:r>
                  <a:rPr lang="zh-CN" altLang="en-US" kern="0" dirty="0">
                    <a:solidFill>
                      <a:srgbClr val="333399"/>
                    </a:solidFill>
                    <a:latin typeface="Arial Unicode MS" panose="020B0604020202020204" pitchFamily="34" charset="-122"/>
                    <a:ea typeface="华文楷体" panose="02010600040101010101" pitchFamily="2" charset="-122"/>
                  </a:rPr>
                  <a:t>随机路径</a:t>
                </a:r>
                <a:r>
                  <a:rPr lang="en-US" altLang="zh-CN" kern="0" dirty="0">
                    <a:solidFill>
                      <a:srgbClr val="333399"/>
                    </a:solidFill>
                    <a:latin typeface="Arial Unicode MS" panose="020B0604020202020204" pitchFamily="34" charset="-122"/>
                    <a:ea typeface="华文楷体" panose="02010600040101010101" pitchFamily="2" charset="-122"/>
                  </a:rPr>
                  <a:t>path</a:t>
                </a:r>
                <a:r>
                  <a:rPr lang="zh-CN" altLang="en-US" kern="0" dirty="0">
                    <a:solidFill>
                      <a:srgbClr val="333399"/>
                    </a:solidFill>
                    <a:latin typeface="Arial Unicode MS" panose="020B0604020202020204" pitchFamily="34" charset="-122"/>
                    <a:ea typeface="华文楷体" panose="02010600040101010101" pitchFamily="2" charset="-122"/>
                  </a:rPr>
                  <a:t>的总长度</a:t>
                </a:r>
                <a:endParaRPr lang="en-US" altLang="zh-CN" kern="0" dirty="0">
                  <a:solidFill>
                    <a:srgbClr val="333399"/>
                  </a:solidFill>
                  <a:latin typeface="Arial Unicode MS" panose="020B0604020202020204" pitchFamily="34" charset="-122"/>
                  <a:ea typeface="华文楷体" panose="02010600040101010101" pitchFamily="2" charset="-122"/>
                </a:endParaRPr>
              </a:p>
              <a:p>
                <a:pPr marL="914400" marR="0" lvl="1" indent="-457200" algn="l" defTabSz="914400" rtl="0" eaLnBrk="1" fontAlgn="base" latinLnBrk="0" hangingPunct="1">
                  <a:lnSpc>
                    <a:spcPct val="80000"/>
                  </a:lnSpc>
                  <a:spcBef>
                    <a:spcPct val="20000"/>
                  </a:spcBef>
                  <a:spcAft>
                    <a:spcPct val="0"/>
                  </a:spcAft>
                  <a:buClrTx/>
                  <a:buSzTx/>
                  <a:buFontTx/>
                  <a:buAutoNum type="arabicPeriod"/>
                  <a:tabLst/>
                  <a:defRPr/>
                </a:pPr>
                <a:r>
                  <a:rPr lang="en-US" altLang="zh-CN" b="1" kern="0" dirty="0">
                    <a:solidFill>
                      <a:srgbClr val="333399"/>
                    </a:solidFill>
                    <a:latin typeface="Arial Unicode MS" panose="020B0604020202020204" pitchFamily="34" charset="-122"/>
                    <a:ea typeface="华文楷体" panose="02010600040101010101" pitchFamily="2" charset="-122"/>
                  </a:rPr>
                  <a:t>while</a:t>
                </a:r>
                <a:r>
                  <a:rPr lang="en-US" altLang="zh-CN"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r>
                      <a:rPr lang="en-US" altLang="zh-CN" b="0" i="1" kern="0" smtClean="0">
                        <a:solidFill>
                          <a:srgbClr val="333399"/>
                        </a:solidFill>
                        <a:latin typeface="Cambria Math" panose="02040503050406030204" pitchFamily="18" charset="0"/>
                        <a:ea typeface="华文行楷" pitchFamily="2" charset="-122"/>
                      </a:rPr>
                      <m:t>𝑗</m:t>
                    </m:r>
                    <m:r>
                      <a:rPr lang="en-US" altLang="zh-CN" b="0" i="1" kern="0" smtClean="0">
                        <a:solidFill>
                          <a:srgbClr val="333399"/>
                        </a:solidFill>
                        <a:latin typeface="Cambria Math" panose="02040503050406030204" pitchFamily="18" charset="0"/>
                        <a:ea typeface="华文行楷" pitchFamily="2" charset="-122"/>
                      </a:rPr>
                      <m:t>&lt;</m:t>
                    </m:r>
                    <m:r>
                      <a:rPr lang="en-US" altLang="zh-CN" b="0" i="1" kern="0" smtClean="0">
                        <a:solidFill>
                          <a:srgbClr val="333399"/>
                        </a:solidFill>
                        <a:latin typeface="Cambria Math" panose="02040503050406030204" pitchFamily="18" charset="0"/>
                        <a:ea typeface="华文行楷" pitchFamily="2" charset="-122"/>
                      </a:rPr>
                      <m:t>𝑖𝑡𝑒𝑟𝑎𝑡𝑖𝑜𝑛</m:t>
                    </m:r>
                  </m:oMath>
                </a14:m>
                <a:endParaRPr lang="en-US" altLang="zh-CN" b="0" kern="0" dirty="0">
                  <a:solidFill>
                    <a:srgbClr val="333399"/>
                  </a:solidFill>
                  <a:latin typeface="Arial Unicode MS" panose="020B0604020202020204" pitchFamily="34" charset="-122"/>
                  <a:ea typeface="华文行楷" pitchFamily="2" charset="-122"/>
                </a:endParaRPr>
              </a:p>
              <a:p>
                <a:pPr marL="914400" lvl="1" indent="-457200" eaLnBrk="1" hangingPunct="1">
                  <a:lnSpc>
                    <a:spcPct val="80000"/>
                  </a:lnSpc>
                  <a:spcBef>
                    <a:spcPct val="20000"/>
                  </a:spcBef>
                  <a:buFontTx/>
                  <a:buAutoNum type="arabicPeriod"/>
                  <a:defRPr/>
                </a:pPr>
                <a:r>
                  <a:rPr lang="en-US" altLang="zh-CN" kern="0" dirty="0">
                    <a:solidFill>
                      <a:srgbClr val="333399"/>
                    </a:solidFill>
                    <a:latin typeface="Arial Unicode MS" panose="020B0604020202020204" pitchFamily="34" charset="-122"/>
                    <a:ea typeface="华文楷体" panose="02010600040101010101" pitchFamily="2" charset="-122"/>
                  </a:rPr>
                  <a:t>      </a:t>
                </a:r>
                <a:r>
                  <a:rPr lang="en-US" altLang="zh-CN" b="1" kern="0" dirty="0">
                    <a:solidFill>
                      <a:srgbClr val="333399"/>
                    </a:solidFill>
                    <a:latin typeface="Arial Unicode MS" panose="020B0604020202020204" pitchFamily="34" charset="-122"/>
                    <a:ea typeface="华文楷体" panose="02010600040101010101" pitchFamily="2" charset="-122"/>
                  </a:rPr>
                  <a:t>if</a:t>
                </a:r>
                <a:r>
                  <a:rPr lang="en-US" altLang="zh-CN"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r>
                      <a:rPr lang="en-US" altLang="zh-CN" b="0" i="1" kern="0" smtClean="0">
                        <a:solidFill>
                          <a:srgbClr val="333399"/>
                        </a:solidFill>
                        <a:latin typeface="Cambria Math" panose="02040503050406030204" pitchFamily="18" charset="0"/>
                        <a:ea typeface="华文行楷" pitchFamily="2" charset="-122"/>
                      </a:rPr>
                      <m:t>𝑑𝑖𝑠𝑡𝑎𝑛𝑐𝑒</m:t>
                    </m:r>
                    <m:r>
                      <a:rPr lang="en-US" altLang="zh-CN" b="0" i="1" kern="0" smtClean="0">
                        <a:solidFill>
                          <a:srgbClr val="333399"/>
                        </a:solidFill>
                        <a:latin typeface="Cambria Math" panose="02040503050406030204" pitchFamily="18" charset="0"/>
                        <a:ea typeface="Cambria Math" panose="02040503050406030204" pitchFamily="18" charset="0"/>
                      </a:rPr>
                      <m:t>&lt;</m:t>
                    </m:r>
                    <m:r>
                      <a:rPr lang="en-US" altLang="zh-CN" b="0" i="1" kern="0" smtClean="0">
                        <a:solidFill>
                          <a:srgbClr val="333399"/>
                        </a:solidFill>
                        <a:latin typeface="Cambria Math" panose="02040503050406030204" pitchFamily="18" charset="0"/>
                        <a:ea typeface="Cambria Math" panose="02040503050406030204" pitchFamily="18" charset="0"/>
                      </a:rPr>
                      <m:t>𝑏𝑒𝑠𝑡𝐷𝑖𝑠𝑡𝑎𝑛𝑐𝑒</m:t>
                    </m:r>
                  </m:oMath>
                </a14:m>
                <a:r>
                  <a:rPr lang="en-US" altLang="zh-CN" i="1" kern="0" dirty="0">
                    <a:solidFill>
                      <a:srgbClr val="333399"/>
                    </a:solidFill>
                    <a:latin typeface="Cambria Math" panose="02040503050406030204" pitchFamily="18" charset="0"/>
                    <a:ea typeface="华文行楷" pitchFamily="2" charset="-122"/>
                  </a:rPr>
                  <a:t>  </a:t>
                </a:r>
              </a:p>
              <a:p>
                <a:pPr marL="914400" lvl="1" indent="-457200" eaLnBrk="1" hangingPunct="1">
                  <a:lnSpc>
                    <a:spcPct val="80000"/>
                  </a:lnSpc>
                  <a:spcBef>
                    <a:spcPct val="20000"/>
                  </a:spcBef>
                  <a:buFontTx/>
                  <a:buAutoNum type="arabicPeriod"/>
                  <a:defRPr/>
                </a:pPr>
                <a:r>
                  <a:rPr lang="en-US" altLang="zh-CN" b="1" kern="0" dirty="0">
                    <a:solidFill>
                      <a:srgbClr val="333399"/>
                    </a:solidFill>
                    <a:latin typeface="Arial Unicode MS" panose="020B0604020202020204" pitchFamily="34" charset="-122"/>
                    <a:ea typeface="华文楷体" panose="02010600040101010101" pitchFamily="2" charset="-122"/>
                  </a:rPr>
                  <a:t>           then </a:t>
                </a:r>
                <a14:m>
                  <m:oMath xmlns:m="http://schemas.openxmlformats.org/officeDocument/2006/math">
                    <m:r>
                      <a:rPr lang="en-US" altLang="zh-CN" b="0" i="1" kern="0" smtClean="0">
                        <a:solidFill>
                          <a:srgbClr val="333399"/>
                        </a:solidFill>
                        <a:latin typeface="Cambria Math" panose="02040503050406030204" pitchFamily="18" charset="0"/>
                        <a:ea typeface="华文行楷" pitchFamily="2" charset="-122"/>
                      </a:rPr>
                      <m:t>𝑏𝑒𝑠𝑡𝑃𝑎𝑡h</m:t>
                    </m:r>
                    <m:r>
                      <m:rPr>
                        <m:nor/>
                      </m:rPr>
                      <a:rPr lang="en-US" altLang="zh-CN" b="0" i="0" kern="0" smtClean="0">
                        <a:solidFill>
                          <a:srgbClr val="333399"/>
                        </a:solidFill>
                        <a:latin typeface="Cambria Math" panose="02040503050406030204" pitchFamily="18" charset="0"/>
                        <a:ea typeface="华文行楷" pitchFamily="2" charset="-122"/>
                      </a:rPr>
                      <m:t> </m:t>
                    </m:r>
                    <m:r>
                      <m:rPr>
                        <m:nor/>
                      </m:rP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m:t></m:t>
                    </m:r>
                    <m:r>
                      <a:rPr lang="en-US" altLang="zh-CN" b="0" i="1" kern="0" dirty="0" smtClean="0">
                        <a:solidFill>
                          <a:srgbClr val="333399"/>
                        </a:solidFill>
                        <a:latin typeface="Cambria Math" panose="02040503050406030204" pitchFamily="18" charset="0"/>
                        <a:ea typeface="华文楷体" panose="02010600040101010101" pitchFamily="2" charset="-122"/>
                        <a:sym typeface="Wingdings" pitchFamily="2" charset="2"/>
                      </a:rPr>
                      <m:t> </m:t>
                    </m:r>
                    <m:r>
                      <a:rPr lang="en-US" altLang="zh-CN" b="0" i="1" kern="0" dirty="0" smtClean="0">
                        <a:solidFill>
                          <a:srgbClr val="333399"/>
                        </a:solidFill>
                        <a:latin typeface="Cambria Math" panose="02040503050406030204" pitchFamily="18" charset="0"/>
                        <a:ea typeface="华文楷体" panose="02010600040101010101" pitchFamily="2" charset="-122"/>
                        <a:sym typeface="Wingdings" pitchFamily="2" charset="2"/>
                      </a:rPr>
                      <m:t>𝑝𝑎𝑡h</m:t>
                    </m:r>
                  </m:oMath>
                </a14:m>
                <a:r>
                  <a:rPr lang="en-US" altLang="zh-CN" kern="0" dirty="0">
                    <a:solidFill>
                      <a:srgbClr val="333399"/>
                    </a:solidFill>
                    <a:latin typeface="Arial Unicode MS" panose="020B0604020202020204" pitchFamily="34" charset="-122"/>
                    <a:ea typeface="华文楷体" panose="02010600040101010101" pitchFamily="2" charset="-122"/>
                  </a:rPr>
                  <a:t>   // </a:t>
                </a:r>
                <a:r>
                  <a:rPr lang="zh-CN" altLang="en-US" kern="0" dirty="0">
                    <a:solidFill>
                      <a:srgbClr val="333399"/>
                    </a:solidFill>
                    <a:latin typeface="Arial Unicode MS" panose="020B0604020202020204" pitchFamily="34" charset="-122"/>
                    <a:ea typeface="华文楷体" panose="02010600040101010101" pitchFamily="2" charset="-122"/>
                  </a:rPr>
                  <a:t>更新最优解</a:t>
                </a:r>
                <a:endParaRPr lang="en-US" altLang="zh-CN"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kern="0" dirty="0">
                    <a:solidFill>
                      <a:srgbClr val="333399"/>
                    </a:solidFill>
                    <a:latin typeface="Arial Unicode MS" panose="020B0604020202020204" pitchFamily="34" charset="-122"/>
                    <a:ea typeface="华文楷体" panose="02010600040101010101" pitchFamily="2" charset="-122"/>
                  </a:rPr>
                  <a:t>                   </a:t>
                </a:r>
                <a14:m>
                  <m:oMath xmlns:m="http://schemas.openxmlformats.org/officeDocument/2006/math">
                    <m:r>
                      <a:rPr lang="en-US" altLang="zh-CN" i="1" kern="0">
                        <a:solidFill>
                          <a:srgbClr val="333399"/>
                        </a:solidFill>
                        <a:latin typeface="Cambria Math" panose="02040503050406030204" pitchFamily="18" charset="0"/>
                        <a:ea typeface="华文行楷" pitchFamily="2" charset="-122"/>
                      </a:rPr>
                      <m:t>𝑑𝑖𝑠𝑡𝑎𝑛𝑐𝑒</m:t>
                    </m:r>
                    <m:r>
                      <m:rPr>
                        <m:nor/>
                      </m:rPr>
                      <a:rPr lang="en-US" altLang="zh-CN" b="0" i="0" kern="0" smtClean="0">
                        <a:solidFill>
                          <a:srgbClr val="333399"/>
                        </a:solidFill>
                        <a:latin typeface="Cambria Math" panose="02040503050406030204" pitchFamily="18" charset="0"/>
                        <a:ea typeface="华文行楷" pitchFamily="2" charset="-122"/>
                      </a:rPr>
                      <m:t> </m:t>
                    </m:r>
                    <m:r>
                      <m:rPr>
                        <m:nor/>
                      </m:rPr>
                      <a:rPr lang="en-US" altLang="zh-CN" kern="0" dirty="0" smtClean="0">
                        <a:solidFill>
                          <a:srgbClr val="333399"/>
                        </a:solidFill>
                        <a:latin typeface="Arial Unicode MS" panose="020B0604020202020204" pitchFamily="34" charset="-122"/>
                        <a:ea typeface="华文楷体" panose="02010600040101010101" pitchFamily="2" charset="-122"/>
                        <a:sym typeface="Wingdings" pitchFamily="2" charset="2"/>
                      </a:rPr>
                      <m:t></m:t>
                    </m:r>
                    <m:r>
                      <m:rPr>
                        <m:nor/>
                      </m:rPr>
                      <a:rPr lang="en-US" altLang="zh-CN" b="0" i="0" kern="0" dirty="0" smtClean="0">
                        <a:solidFill>
                          <a:srgbClr val="333399"/>
                        </a:solidFill>
                        <a:latin typeface="Arial Unicode MS" panose="020B0604020202020204" pitchFamily="34" charset="-122"/>
                        <a:ea typeface="华文楷体" panose="02010600040101010101" pitchFamily="2" charset="-122"/>
                        <a:sym typeface="Wingdings" pitchFamily="2" charset="2"/>
                      </a:rPr>
                      <m:t> </m:t>
                    </m:r>
                    <m:r>
                      <a:rPr lang="en-US" altLang="zh-CN" i="1" kern="0">
                        <a:solidFill>
                          <a:srgbClr val="333399"/>
                        </a:solidFill>
                        <a:latin typeface="Cambria Math" panose="02040503050406030204" pitchFamily="18" charset="0"/>
                        <a:ea typeface="Cambria Math" panose="02040503050406030204" pitchFamily="18" charset="0"/>
                      </a:rPr>
                      <m:t>𝑏𝑒𝑠𝑡𝐷𝑖𝑠𝑡𝑎𝑛𝑐𝑒</m:t>
                    </m:r>
                  </m:oMath>
                </a14:m>
                <a:endParaRPr lang="en-US" altLang="zh-CN" i="1" kern="0" dirty="0">
                  <a:solidFill>
                    <a:srgbClr val="333399"/>
                  </a:solidFill>
                  <a:latin typeface="Cambria Math" panose="02040503050406030204" pitchFamily="18" charset="0"/>
                  <a:ea typeface="华文行楷" pitchFamily="2" charset="-122"/>
                </a:endParaRPr>
              </a:p>
              <a:p>
                <a:pPr marL="914400" lvl="1" indent="-457200" eaLnBrk="1" hangingPunct="1">
                  <a:lnSpc>
                    <a:spcPct val="80000"/>
                  </a:lnSpc>
                  <a:spcBef>
                    <a:spcPct val="20000"/>
                  </a:spcBef>
                  <a:buFontTx/>
                  <a:buAutoNum type="arabicPeriod"/>
                  <a:defRPr/>
                </a:pPr>
                <a:r>
                  <a:rPr lang="en-US" altLang="zh-CN" kern="0" dirty="0">
                    <a:solidFill>
                      <a:srgbClr val="333399"/>
                    </a:solidFill>
                    <a:latin typeface="Arial Unicode MS" panose="020B0604020202020204" pitchFamily="34" charset="-122"/>
                    <a:ea typeface="华文楷体" panose="02010600040101010101" pitchFamily="2" charset="-122"/>
                  </a:rPr>
                  <a:t>      </a:t>
                </a:r>
                <a:r>
                  <a:rPr lang="en-US" altLang="zh-CN" i="1" kern="0" dirty="0">
                    <a:solidFill>
                      <a:srgbClr val="333399"/>
                    </a:solidFill>
                    <a:latin typeface="Cambria Math" panose="02040503050406030204" pitchFamily="18" charset="0"/>
                    <a:ea typeface="华文行楷" pitchFamily="2" charset="-122"/>
                  </a:rPr>
                  <a:t>path</a:t>
                </a:r>
                <a:r>
                  <a:rPr lang="en-US" altLang="zh-CN" kern="0" dirty="0">
                    <a:solidFill>
                      <a:srgbClr val="333399"/>
                    </a:solidFill>
                    <a:latin typeface="Arial Unicode MS" panose="020B0604020202020204" pitchFamily="34" charset="-122"/>
                    <a:ea typeface="华文楷体" panose="02010600040101010101" pitchFamily="2" charset="-122"/>
                  </a:rPr>
                  <a:t> </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a:t>
                </a:r>
                <a:r>
                  <a:rPr lang="zh-CN" altLang="en-US" kern="0" dirty="0">
                    <a:solidFill>
                      <a:srgbClr val="333399"/>
                    </a:solidFill>
                    <a:latin typeface="Arial Unicode MS" panose="020B0604020202020204" pitchFamily="34" charset="-122"/>
                    <a:ea typeface="华文楷体" panose="02010600040101010101" pitchFamily="2" charset="-122"/>
                    <a:sym typeface="Wingdings" pitchFamily="2" charset="2"/>
                  </a:rPr>
                  <a:t>生成新的随机路径</a:t>
                </a:r>
                <a:endPar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endParaRPr>
              </a:p>
              <a:p>
                <a:pPr marL="914400" lvl="1" indent="-457200" eaLnBrk="1" hangingPunct="1">
                  <a:lnSpc>
                    <a:spcPct val="80000"/>
                  </a:lnSpc>
                  <a:spcBef>
                    <a:spcPct val="20000"/>
                  </a:spcBef>
                  <a:buFontTx/>
                  <a:buAutoNum type="arabicPeriod"/>
                  <a:defRPr/>
                </a:pP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a:t>
                </a:r>
                <a:r>
                  <a:rPr lang="en-US" altLang="zh-CN" i="1" kern="0" dirty="0">
                    <a:solidFill>
                      <a:srgbClr val="333399"/>
                    </a:solidFill>
                    <a:latin typeface="Cambria Math" panose="02040503050406030204" pitchFamily="18" charset="0"/>
                    <a:ea typeface="华文行楷" pitchFamily="2" charset="-122"/>
                    <a:sym typeface="Wingdings" pitchFamily="2" charset="2"/>
                  </a:rPr>
                  <a:t>distance </a:t>
                </a:r>
                <a: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a:t> </a:t>
                </a:r>
                <a:r>
                  <a:rPr lang="zh-CN" altLang="en-US" kern="0" dirty="0">
                    <a:solidFill>
                      <a:srgbClr val="333399"/>
                    </a:solidFill>
                    <a:latin typeface="Arial Unicode MS" panose="020B0604020202020204" pitchFamily="34" charset="-122"/>
                    <a:ea typeface="华文楷体" panose="02010600040101010101" pitchFamily="2" charset="-122"/>
                    <a:sym typeface="Wingdings" pitchFamily="2" charset="2"/>
                  </a:rPr>
                  <a:t>计算</a:t>
                </a:r>
                <a:r>
                  <a:rPr lang="zh-CN" altLang="en-US" kern="0" dirty="0">
                    <a:solidFill>
                      <a:srgbClr val="333399"/>
                    </a:solidFill>
                    <a:latin typeface="Arial Unicode MS" panose="020B0604020202020204" pitchFamily="34" charset="-122"/>
                    <a:ea typeface="华文楷体" panose="02010600040101010101" pitchFamily="2" charset="-122"/>
                  </a:rPr>
                  <a:t>随机路径</a:t>
                </a:r>
                <a:r>
                  <a:rPr lang="en-US" altLang="zh-CN" kern="0" dirty="0">
                    <a:solidFill>
                      <a:srgbClr val="333399"/>
                    </a:solidFill>
                    <a:latin typeface="Arial Unicode MS" panose="020B0604020202020204" pitchFamily="34" charset="-122"/>
                    <a:ea typeface="华文楷体" panose="02010600040101010101" pitchFamily="2" charset="-122"/>
                  </a:rPr>
                  <a:t>path</a:t>
                </a:r>
                <a:r>
                  <a:rPr lang="zh-CN" altLang="en-US" kern="0" dirty="0">
                    <a:solidFill>
                      <a:srgbClr val="333399"/>
                    </a:solidFill>
                    <a:latin typeface="Arial Unicode MS" panose="020B0604020202020204" pitchFamily="34" charset="-122"/>
                    <a:ea typeface="华文楷体" panose="02010600040101010101" pitchFamily="2" charset="-122"/>
                  </a:rPr>
                  <a:t>的总长度</a:t>
                </a:r>
                <a:endParaRPr lang="en-US" altLang="zh-CN" kern="0" dirty="0">
                  <a:solidFill>
                    <a:srgbClr val="333399"/>
                  </a:solidFill>
                  <a:latin typeface="Arial Unicode MS" panose="020B0604020202020204" pitchFamily="34" charset="-122"/>
                  <a:ea typeface="华文楷体" panose="02010600040101010101" pitchFamily="2" charset="-122"/>
                </a:endParaRPr>
              </a:p>
              <a:p>
                <a:pPr marL="914400" lvl="1" indent="-457200" eaLnBrk="1" hangingPunct="1">
                  <a:lnSpc>
                    <a:spcPct val="80000"/>
                  </a:lnSpc>
                  <a:spcBef>
                    <a:spcPct val="20000"/>
                  </a:spcBef>
                  <a:buFontTx/>
                  <a:buAutoNum type="arabicPeriod"/>
                  <a:defRPr/>
                </a:pPr>
                <a:r>
                  <a:rPr lang="en-US" altLang="zh-CN" kern="0" dirty="0">
                    <a:solidFill>
                      <a:srgbClr val="333399"/>
                    </a:solidFill>
                    <a:ea typeface="华文行楷" pitchFamily="2" charset="-122"/>
                  </a:rPr>
                  <a:t>      </a:t>
                </a:r>
                <a14:m>
                  <m:oMath xmlns:m="http://schemas.openxmlformats.org/officeDocument/2006/math">
                    <m:r>
                      <m:rPr>
                        <m:nor/>
                      </m:rPr>
                      <a:rPr lang="en-US" altLang="zh-CN" i="1" kern="0" smtClean="0">
                        <a:solidFill>
                          <a:srgbClr val="333399"/>
                        </a:solidFill>
                        <a:latin typeface="Cambria Math" panose="02040503050406030204" pitchFamily="18" charset="0"/>
                        <a:ea typeface="华文行楷" pitchFamily="2" charset="-122"/>
                      </a:rPr>
                      <m:t>j</m:t>
                    </m:r>
                    <m:r>
                      <m:rPr>
                        <m:nor/>
                      </m:rPr>
                      <a:rPr lang="en-US" altLang="zh-CN" b="0" i="1" kern="0" smtClean="0">
                        <a:solidFill>
                          <a:srgbClr val="333399"/>
                        </a:solidFill>
                        <a:latin typeface="Cambria Math" panose="02040503050406030204" pitchFamily="18" charset="0"/>
                        <a:ea typeface="华文行楷" pitchFamily="2" charset="-122"/>
                      </a:rPr>
                      <m:t> </m:t>
                    </m:r>
                    <m:r>
                      <m:rPr>
                        <m:nor/>
                      </m:rPr>
                      <a:rPr lang="en-US" altLang="zh-CN" kern="0" dirty="0">
                        <a:solidFill>
                          <a:srgbClr val="333399"/>
                        </a:solidFill>
                        <a:latin typeface="Arial Unicode MS" panose="020B0604020202020204" pitchFamily="34" charset="-122"/>
                        <a:ea typeface="华文楷体" panose="02010600040101010101" pitchFamily="2" charset="-122"/>
                        <a:sym typeface="Wingdings" pitchFamily="2" charset="2"/>
                      </a:rPr>
                      <m:t></m:t>
                    </m:r>
                    <m:r>
                      <m:rPr>
                        <m:nor/>
                      </m:rPr>
                      <a:rPr lang="en-US" altLang="zh-CN" b="0" kern="0" dirty="0" smtClean="0">
                        <a:solidFill>
                          <a:srgbClr val="333399"/>
                        </a:solidFill>
                        <a:latin typeface="Arial Unicode MS" panose="020B0604020202020204" pitchFamily="34" charset="-122"/>
                        <a:ea typeface="华文楷体" panose="02010600040101010101" pitchFamily="2" charset="-122"/>
                        <a:sym typeface="Wingdings" pitchFamily="2" charset="2"/>
                      </a:rPr>
                      <m:t> </m:t>
                    </m:r>
                    <m:r>
                      <a:rPr lang="en-US" altLang="zh-CN" b="0" i="1" kern="0" dirty="0">
                        <a:solidFill>
                          <a:srgbClr val="333399"/>
                        </a:solidFill>
                        <a:latin typeface="Cambria Math" panose="02040503050406030204" pitchFamily="18" charset="0"/>
                        <a:ea typeface="华文楷体" panose="02010600040101010101" pitchFamily="2" charset="-122"/>
                        <a:sym typeface="Wingdings" pitchFamily="2" charset="2"/>
                      </a:rPr>
                      <m:t> </m:t>
                    </m:r>
                    <m:r>
                      <a:rPr lang="en-US" altLang="zh-CN" b="0" i="1" kern="0" dirty="0" smtClean="0">
                        <a:solidFill>
                          <a:srgbClr val="333399"/>
                        </a:solidFill>
                        <a:latin typeface="Cambria Math" panose="02040503050406030204" pitchFamily="18" charset="0"/>
                        <a:ea typeface="华文楷体" panose="02010600040101010101" pitchFamily="2" charset="-122"/>
                        <a:sym typeface="Wingdings" pitchFamily="2" charset="2"/>
                      </a:rPr>
                      <m:t>𝑗</m:t>
                    </m:r>
                    <m:r>
                      <a:rPr lang="en-US" altLang="zh-CN" b="0" i="1" kern="0" dirty="0" smtClean="0">
                        <a:solidFill>
                          <a:srgbClr val="333399"/>
                        </a:solidFill>
                        <a:latin typeface="Cambria Math" panose="02040503050406030204" pitchFamily="18" charset="0"/>
                        <a:ea typeface="华文楷体" panose="02010600040101010101" pitchFamily="2" charset="-122"/>
                        <a:sym typeface="Wingdings" pitchFamily="2" charset="2"/>
                      </a:rPr>
                      <m:t>+1</m:t>
                    </m:r>
                  </m:oMath>
                </a14:m>
                <a:endParaRPr lang="en-US" altLang="zh-CN" i="1" kern="0" dirty="0">
                  <a:solidFill>
                    <a:srgbClr val="333399"/>
                  </a:solidFill>
                  <a:latin typeface="Cambria Math" panose="02040503050406030204" pitchFamily="18" charset="0"/>
                  <a:ea typeface="华文行楷" pitchFamily="2" charset="-122"/>
                </a:endParaRPr>
              </a:p>
              <a:p>
                <a:pPr marL="914400" lvl="1" indent="-457200" eaLnBrk="1" hangingPunct="1">
                  <a:lnSpc>
                    <a:spcPct val="80000"/>
                  </a:lnSpc>
                  <a:spcBef>
                    <a:spcPct val="20000"/>
                  </a:spcBef>
                  <a:buFontTx/>
                  <a:buAutoNum type="arabicPeriod"/>
                  <a:defRPr/>
                </a:pPr>
                <a:r>
                  <a:rPr lang="en-US" altLang="zh-CN" b="1" kern="0" dirty="0">
                    <a:solidFill>
                      <a:srgbClr val="333399"/>
                    </a:solidFill>
                    <a:latin typeface="Arial Unicode MS" panose="020B0604020202020204" pitchFamily="34" charset="-122"/>
                    <a:ea typeface="华文楷体" panose="02010600040101010101" pitchFamily="2" charset="-122"/>
                  </a:rPr>
                  <a:t>end while</a:t>
                </a:r>
              </a:p>
              <a:p>
                <a:pPr marL="914400" lvl="1" indent="-457200" eaLnBrk="1" hangingPunct="1">
                  <a:lnSpc>
                    <a:spcPct val="80000"/>
                  </a:lnSpc>
                  <a:spcBef>
                    <a:spcPct val="20000"/>
                  </a:spcBef>
                  <a:buFontTx/>
                  <a:buAutoNum type="arabicPeriod"/>
                  <a:defRPr/>
                </a:pPr>
                <a:r>
                  <a:rPr kumimoji="0" lang="en-US" altLang="zh-CN" b="1"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return</a:t>
                </a:r>
                <a:r>
                  <a:rPr kumimoji="0" lang="en-US" altLang="zh-CN" u="none" strike="noStrike" kern="0" cap="none" spc="0" noProof="0" dirty="0">
                    <a:ln>
                      <a:noFill/>
                    </a:ln>
                    <a:solidFill>
                      <a:srgbClr val="333399"/>
                    </a:solidFill>
                    <a:effectLst/>
                    <a:uLnTx/>
                    <a:uFillTx/>
                    <a:latin typeface="Arial Unicode MS" panose="020B0604020202020204" pitchFamily="34" charset="-122"/>
                    <a:ea typeface="华文楷体" panose="02010600040101010101" pitchFamily="2" charset="-122"/>
                  </a:rPr>
                  <a:t>   </a:t>
                </a:r>
                <a14:m>
                  <m:oMath xmlns:m="http://schemas.openxmlformats.org/officeDocument/2006/math">
                    <m:r>
                      <a:rPr lang="en-US" altLang="zh-CN" b="0" i="1" kern="0" smtClean="0">
                        <a:solidFill>
                          <a:srgbClr val="333399"/>
                        </a:solidFill>
                        <a:latin typeface="Cambria Math" panose="02040503050406030204" pitchFamily="18" charset="0"/>
                        <a:ea typeface="Cambria Math" panose="02040503050406030204" pitchFamily="18" charset="0"/>
                      </a:rPr>
                      <m:t>𝑏𝑒𝑠𝑡𝑃𝑎𝑡h</m:t>
                    </m:r>
                    <m:r>
                      <a:rPr lang="en-US" altLang="zh-CN" b="0" i="1" kern="0" smtClean="0">
                        <a:solidFill>
                          <a:srgbClr val="333399"/>
                        </a:solidFill>
                        <a:latin typeface="Cambria Math" panose="02040503050406030204" pitchFamily="18" charset="0"/>
                        <a:ea typeface="Cambria Math" panose="02040503050406030204" pitchFamily="18" charset="0"/>
                      </a:rPr>
                      <m:t>,</m:t>
                    </m:r>
                    <m:r>
                      <a:rPr lang="en-US" altLang="zh-CN" b="0" i="1" kern="0">
                        <a:solidFill>
                          <a:srgbClr val="333399"/>
                        </a:solidFill>
                        <a:latin typeface="Cambria Math" panose="02040503050406030204" pitchFamily="18" charset="0"/>
                        <a:ea typeface="Cambria Math" panose="02040503050406030204" pitchFamily="18" charset="0"/>
                      </a:rPr>
                      <m:t>𝑏𝑒𝑠𝑡𝐷𝑖𝑠𝑡𝑎𝑛𝑐𝑒</m:t>
                    </m:r>
                  </m:oMath>
                </a14:m>
                <a:r>
                  <a:rPr lang="en-US" altLang="zh-CN" i="1" kern="0" dirty="0">
                    <a:solidFill>
                      <a:srgbClr val="333399"/>
                    </a:solidFill>
                    <a:latin typeface="Cambria Math" panose="02040503050406030204" pitchFamily="18" charset="0"/>
                    <a:ea typeface="华文行楷" pitchFamily="2" charset="-122"/>
                  </a:rPr>
                  <a:t>     </a:t>
                </a:r>
                <a:r>
                  <a:rPr lang="en-US" altLang="zh-CN" kern="0" dirty="0">
                    <a:solidFill>
                      <a:srgbClr val="333399"/>
                    </a:solidFill>
                    <a:latin typeface="Arial Unicode MS" panose="020B0604020202020204" pitchFamily="34" charset="-122"/>
                    <a:ea typeface="华文楷体" panose="02010600040101010101" pitchFamily="2" charset="-122"/>
                  </a:rPr>
                  <a:t>//(</a:t>
                </a:r>
                <a:r>
                  <a:rPr lang="zh-CN" altLang="en-US" kern="0" dirty="0">
                    <a:solidFill>
                      <a:srgbClr val="333399"/>
                    </a:solidFill>
                    <a:latin typeface="Arial Unicode MS" panose="020B0604020202020204" pitchFamily="34" charset="-122"/>
                    <a:ea typeface="华文楷体" panose="02010600040101010101" pitchFamily="2" charset="-122"/>
                  </a:rPr>
                  <a:t>可能</a:t>
                </a:r>
                <a:r>
                  <a:rPr lang="en-US" altLang="zh-CN" kern="0" dirty="0">
                    <a:solidFill>
                      <a:srgbClr val="333399"/>
                    </a:solidFill>
                    <a:latin typeface="Arial Unicode MS" panose="020B0604020202020204" pitchFamily="34" charset="-122"/>
                    <a:ea typeface="华文楷体" panose="02010600040101010101" pitchFamily="2" charset="-122"/>
                  </a:rPr>
                  <a:t>)</a:t>
                </a:r>
                <a:r>
                  <a:rPr lang="zh-CN" altLang="en-US" kern="0" dirty="0">
                    <a:solidFill>
                      <a:srgbClr val="333399"/>
                    </a:solidFill>
                    <a:latin typeface="Arial Unicode MS" panose="020B0604020202020204" pitchFamily="34" charset="-122"/>
                    <a:ea typeface="华文楷体" panose="02010600040101010101" pitchFamily="2" charset="-122"/>
                  </a:rPr>
                  <a:t>找到了最优解</a:t>
                </a:r>
                <a:endParaRPr lang="en-US" altLang="zh-CN" kern="0" dirty="0">
                  <a:solidFill>
                    <a:srgbClr val="333399"/>
                  </a:solidFill>
                  <a:latin typeface="Arial Unicode MS" panose="020B0604020202020204" pitchFamily="34" charset="-122"/>
                  <a:ea typeface="华文楷体" panose="02010600040101010101" pitchFamily="2" charset="-122"/>
                </a:endParaRPr>
              </a:p>
            </p:txBody>
          </p:sp>
        </mc:Choice>
        <mc:Fallback xmlns="">
          <p:sp>
            <p:nvSpPr>
              <p:cNvPr id="5" name="矩形 4">
                <a:extLst>
                  <a:ext uri="{FF2B5EF4-FFF2-40B4-BE49-F238E27FC236}">
                    <a16:creationId xmlns:a16="http://schemas.microsoft.com/office/drawing/2014/main" id="{C4EFF462-2738-12C7-803F-C7496BC59467}"/>
                  </a:ext>
                </a:extLst>
              </p:cNvPr>
              <p:cNvSpPr>
                <a:spLocks noRot="1" noChangeAspect="1" noMove="1" noResize="1" noEditPoints="1" noAdjustHandles="1" noChangeArrowheads="1" noChangeShapeType="1" noTextEdit="1"/>
              </p:cNvSpPr>
              <p:nvPr/>
            </p:nvSpPr>
            <p:spPr bwMode="auto">
              <a:xfrm>
                <a:off x="611560" y="260648"/>
                <a:ext cx="8244408" cy="5712846"/>
              </a:xfrm>
              <a:prstGeom prst="rect">
                <a:avLst/>
              </a:prstGeom>
              <a:blipFill>
                <a:blip r:embed="rId2"/>
                <a:stretch>
                  <a:fillRect l="-1695" b="-850"/>
                </a:stretch>
              </a:blipFill>
              <a:ln w="25400"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spTree>
    <p:extLst>
      <p:ext uri="{BB962C8B-B14F-4D97-AF65-F5344CB8AC3E}">
        <p14:creationId xmlns:p14="http://schemas.microsoft.com/office/powerpoint/2010/main" val="2282951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69635"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p:sp>
        <p:nvSpPr>
          <p:cNvPr id="69636" name="文本占位符 3"/>
          <p:cNvSpPr>
            <a:spLocks noGrp="1" noChangeArrowheads="1"/>
          </p:cNvSpPr>
          <p:nvPr>
            <p:ph type="body" sz="half" idx="1"/>
          </p:nvPr>
        </p:nvSpPr>
        <p:spPr>
          <a:xfrm>
            <a:off x="879475" y="1211263"/>
            <a:ext cx="7869238" cy="4525962"/>
          </a:xfrm>
        </p:spPr>
        <p:txBody>
          <a:bodyPr/>
          <a:lstStyle/>
          <a:p>
            <a:r>
              <a:rPr lang="zh-CN" altLang="en-US" dirty="0"/>
              <a:t>随机游走这一名称由</a:t>
            </a:r>
            <a:r>
              <a:rPr lang="en-US" altLang="zh-CN" dirty="0"/>
              <a:t>Karl Pearson</a:t>
            </a:r>
            <a:r>
              <a:rPr lang="zh-CN" altLang="en-US" dirty="0"/>
              <a:t>在</a:t>
            </a:r>
            <a:r>
              <a:rPr lang="en-US" altLang="zh-CN" dirty="0"/>
              <a:t>1905</a:t>
            </a:r>
            <a:r>
              <a:rPr lang="zh-CN" altLang="en-US" dirty="0"/>
              <a:t>年提出，本来是基于物理中</a:t>
            </a:r>
            <a:r>
              <a:rPr lang="en-US" altLang="zh-CN" dirty="0"/>
              <a:t>“</a:t>
            </a:r>
            <a:r>
              <a:rPr lang="zh-CN" altLang="en-US" dirty="0"/>
              <a:t>布朗运动</a:t>
            </a:r>
            <a:r>
              <a:rPr lang="en-US" altLang="zh-CN" dirty="0"/>
              <a:t>”</a:t>
            </a:r>
            <a:r>
              <a:rPr lang="zh-CN" altLang="en-US" dirty="0"/>
              <a:t>相关的微观粒子的运动形成的一个模型。</a:t>
            </a:r>
            <a:endParaRPr lang="en-US" altLang="zh-CN" dirty="0"/>
          </a:p>
          <a:p>
            <a:r>
              <a:rPr lang="zh-CN" altLang="en-US" dirty="0"/>
              <a:t>后来这一模型作为数理金融中的重要的假设，指的是证券价格的时间序列将呈现随机状态，不会表现出某种可观测或统计的确定趋势，即证券价格的变动是不可预测的。</a:t>
            </a:r>
            <a:endParaRPr lang="en-US" altLang="zh-CN" dirty="0"/>
          </a:p>
          <a:p>
            <a:r>
              <a:rPr lang="zh-CN" altLang="en-US" dirty="0"/>
              <a:t>在计算机领域，随机游走则主要用来进行一种关系的传递分析。</a:t>
            </a:r>
            <a:endParaRPr lang="en-US" altLang="zh-CN" dirty="0"/>
          </a:p>
        </p:txBody>
      </p:sp>
    </p:spTree>
    <p:extLst>
      <p:ext uri="{BB962C8B-B14F-4D97-AF65-F5344CB8AC3E}">
        <p14:creationId xmlns:p14="http://schemas.microsoft.com/office/powerpoint/2010/main" val="31533503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p:sp>
        <p:nvSpPr>
          <p:cNvPr id="71684" name="文本占位符 3"/>
          <p:cNvSpPr>
            <a:spLocks noGrp="1" noChangeArrowheads="1"/>
          </p:cNvSpPr>
          <p:nvPr>
            <p:ph type="body" sz="half" idx="1"/>
          </p:nvPr>
        </p:nvSpPr>
        <p:spPr>
          <a:xfrm>
            <a:off x="879475" y="1211263"/>
            <a:ext cx="7869238" cy="4525962"/>
          </a:xfrm>
        </p:spPr>
        <p:txBody>
          <a:bodyPr/>
          <a:lstStyle/>
          <a:p>
            <a:pPr marL="0" indent="0">
              <a:buFontTx/>
              <a:buNone/>
            </a:pPr>
            <a:r>
              <a:rPr lang="zh-CN" altLang="en-US" sz="3200" dirty="0"/>
              <a:t>随机游走算法的基本思想是</a:t>
            </a:r>
            <a:r>
              <a:rPr lang="en-US" altLang="zh-CN" sz="3200" dirty="0"/>
              <a:t>:</a:t>
            </a:r>
            <a:r>
              <a:rPr lang="zh-CN" altLang="en-US" dirty="0"/>
              <a:t>从一个或一系列顶点开始遍历一张图。在任意一个顶点，遍历者将以概率</a:t>
            </a:r>
            <a:r>
              <a:rPr lang="en-US" altLang="zh-CN" dirty="0"/>
              <a:t>1-a</a:t>
            </a:r>
            <a:r>
              <a:rPr lang="zh-CN" altLang="en-US" dirty="0"/>
              <a:t>游走到这个顶点的邻居顶点，以概率</a:t>
            </a:r>
            <a:r>
              <a:rPr lang="en-US" altLang="zh-CN" dirty="0"/>
              <a:t>a</a:t>
            </a:r>
            <a:r>
              <a:rPr lang="zh-CN" altLang="en-US" dirty="0"/>
              <a:t>随机跳跃到图中的任何一个顶点，称</a:t>
            </a:r>
            <a:r>
              <a:rPr lang="en-US" altLang="zh-CN" dirty="0"/>
              <a:t>a</a:t>
            </a:r>
            <a:r>
              <a:rPr lang="zh-CN" altLang="en-US" dirty="0"/>
              <a:t>为跳转发生概率，每次游走后得出一个概率分布，该概率分布刻画了图中每一个顶点被访问到的概率。用这个概率分布作为下一次游走的输入并反复迭代这一过程。当满足一定前提条件时，这个概率分布会趋于收敛。收敛后，即可以得到一个平稳的概率分布。</a:t>
            </a:r>
          </a:p>
        </p:txBody>
      </p:sp>
    </p:spTree>
    <p:extLst>
      <p:ext uri="{BB962C8B-B14F-4D97-AF65-F5344CB8AC3E}">
        <p14:creationId xmlns:p14="http://schemas.microsoft.com/office/powerpoint/2010/main" val="2562892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75779"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mc:AlternateContent xmlns:mc="http://schemas.openxmlformats.org/markup-compatibility/2006" xmlns:a14="http://schemas.microsoft.com/office/drawing/2010/main">
        <mc:Choice Requires="a14">
          <p:sp>
            <p:nvSpPr>
              <p:cNvPr id="22532" name="文本占位符 3">
                <a:extLst>
                  <a:ext uri="{FF2B5EF4-FFF2-40B4-BE49-F238E27FC236}">
                    <a16:creationId xmlns:a16="http://schemas.microsoft.com/office/drawing/2014/main" id="{47208094-8AA2-4F1C-91DD-9FC45CC49770}"/>
                  </a:ext>
                </a:extLst>
              </p:cNvPr>
              <p:cNvSpPr>
                <a:spLocks noGrp="1" noChangeArrowheads="1"/>
              </p:cNvSpPr>
              <p:nvPr>
                <p:ph type="body" sz="half" idx="1"/>
              </p:nvPr>
            </p:nvSpPr>
            <p:spPr>
              <a:xfrm>
                <a:off x="879475" y="1211263"/>
                <a:ext cx="7869238" cy="4525962"/>
              </a:xfrm>
            </p:spPr>
            <p:txBody>
              <a:bodyPr/>
              <a:lstStyle/>
              <a:p>
                <a:pPr marL="0" indent="0">
                  <a:buFontTx/>
                  <a:buNone/>
                  <a:defRPr/>
                </a:pPr>
                <a:r>
                  <a:rPr lang="zh-CN" altLang="en-US" dirty="0"/>
                  <a:t>随机游走过程</a:t>
                </a:r>
                <a:r>
                  <a:rPr lang="en-US" altLang="zh-CN" dirty="0"/>
                  <a:t>:·</a:t>
                </a:r>
              </a:p>
              <a:p>
                <a:pPr marL="0" indent="0">
                  <a:buFontTx/>
                  <a:buNone/>
                  <a:defRPr/>
                </a:pPr>
                <a:r>
                  <a:rPr lang="zh-CN" altLang="en-US" dirty="0"/>
                  <a:t>一维的随机游走可定义如下</a:t>
                </a:r>
                <a:r>
                  <a:rPr lang="en-US" altLang="zh-CN" dirty="0"/>
                  <a:t>:</a:t>
                </a:r>
                <a:r>
                  <a:rPr lang="zh-CN" altLang="en-US" dirty="0"/>
                  <a:t>每过一个单位时间，游走者从数轴位置</a:t>
                </a:r>
                <a:r>
                  <a:rPr lang="en-US" altLang="zh-CN" dirty="0"/>
                  <a:t>x</a:t>
                </a:r>
                <a:r>
                  <a:rPr lang="zh-CN" altLang="en-US" dirty="0"/>
                  <a:t>出发以固定概率随机向左或向右移动一个单位</a:t>
                </a:r>
                <a:r>
                  <a:rPr lang="en-US" altLang="zh-CN" dirty="0"/>
                  <a:t>.</a:t>
                </a:r>
                <a:r>
                  <a:rPr lang="zh-CN" altLang="en-US" dirty="0"/>
                  <a:t>不妨将</a:t>
                </a:r>
                <a:r>
                  <a:rPr lang="en-US" altLang="zh-CN" dirty="0"/>
                  <a:t>n</a:t>
                </a:r>
                <a:r>
                  <a:rPr lang="zh-CN" altLang="en-US" dirty="0"/>
                  <a:t>时刻游走者的位置记为</a:t>
                </a:r>
                <a:r>
                  <a:rPr lang="en-US" altLang="zh-CN" dirty="0"/>
                  <a:t>Ln,</a:t>
                </a:r>
                <a:r>
                  <a:rPr lang="zh-CN" altLang="en-US" dirty="0"/>
                  <a:t>则有</a:t>
                </a:r>
                <a:endParaRPr lang="en-US" altLang="zh-CN" dirty="0"/>
              </a:p>
              <a:p>
                <a:pPr marL="0" indent="0">
                  <a:buFontTx/>
                  <a:buNone/>
                  <a:defRPr/>
                </a:pP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𝑙</m:t>
                        </m:r>
                      </m:e>
                      <m:sub>
                        <m:r>
                          <a:rPr lang="en-US" altLang="zh-CN" i="1" dirty="0" smtClean="0">
                            <a:latin typeface="Cambria Math" panose="02040503050406030204" pitchFamily="18" charset="0"/>
                          </a:rPr>
                          <m:t>𝑛</m:t>
                        </m:r>
                      </m:sub>
                    </m:sSub>
                    <m:r>
                      <a:rPr lang="en-US" altLang="zh-CN" i="0"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0"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i="0" dirty="0" smtClean="0">
                            <a:latin typeface="Cambria Math" panose="02040503050406030204" pitchFamily="18" charset="0"/>
                          </a:rPr>
                          <m:t>1</m:t>
                        </m:r>
                      </m:sub>
                    </m:sSub>
                    <m:r>
                      <a:rPr lang="en-US" altLang="zh-CN" b="0" i="1" dirty="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m:rPr>
                            <m:sty m:val="p"/>
                          </m:rPr>
                          <a:rPr lang="en-US" altLang="zh-CN" b="0" i="0" dirty="0" smtClean="0">
                            <a:latin typeface="Cambria Math" panose="02040503050406030204" pitchFamily="18" charset="0"/>
                          </a:rPr>
                          <m:t>n</m:t>
                        </m:r>
                      </m:sub>
                    </m:sSub>
                  </m:oMath>
                </a14:m>
                <a:endParaRPr lang="en-US" altLang="zh-CN" dirty="0"/>
              </a:p>
              <a:p>
                <a:pPr marL="0" indent="0">
                  <a:buFontTx/>
                  <a:buNone/>
                  <a:defRPr/>
                </a:pPr>
                <a:r>
                  <a:rPr lang="zh-CN" altLang="en-US" dirty="0"/>
                  <a:t>其中</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dirty="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0"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1" dirty="0" smtClean="0">
                            <a:latin typeface="Cambria Math" panose="02040503050406030204" pitchFamily="18" charset="0"/>
                          </a:rPr>
                          <m:t>𝑛</m:t>
                        </m:r>
                      </m:sub>
                    </m:sSub>
                  </m:oMath>
                </a14:m>
                <a:r>
                  <a:rPr lang="zh-CN" altLang="en-US" dirty="0"/>
                  <a:t>为相互独立的随机变量，满足</a:t>
                </a:r>
                <a:endParaRPr lang="en-US" altLang="zh-CN" dirty="0"/>
              </a:p>
              <a:p>
                <a:pPr marL="0" indent="0">
                  <a:buFontTx/>
                  <a:buNone/>
                  <a:defRPr/>
                </a:pPr>
                <a:r>
                  <a:rPr lang="en-US" altLang="zh-CN" dirty="0"/>
                  <a:t>               P(</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 </m:t>
                    </m:r>
                  </m:oMath>
                </a14:m>
                <a:r>
                  <a:rPr lang="en-US" altLang="zh-CN" dirty="0"/>
                  <a:t>= 1) = p = 1 - P(</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1" dirty="0" smtClean="0">
                            <a:latin typeface="Cambria Math" panose="02040503050406030204" pitchFamily="18" charset="0"/>
                          </a:rPr>
                          <m:t>𝑖</m:t>
                        </m:r>
                      </m:sub>
                    </m:sSub>
                  </m:oMath>
                </a14:m>
                <a:r>
                  <a:rPr lang="en-US" altLang="zh-CN" dirty="0"/>
                  <a:t> = -1)</a:t>
                </a:r>
                <a:endParaRPr lang="zh-CN" altLang="en-US" dirty="0"/>
              </a:p>
            </p:txBody>
          </p:sp>
        </mc:Choice>
        <mc:Fallback xmlns="">
          <p:sp>
            <p:nvSpPr>
              <p:cNvPr id="22532" name="文本占位符 3">
                <a:extLst>
                  <a:ext uri="{FF2B5EF4-FFF2-40B4-BE49-F238E27FC236}">
                    <a16:creationId xmlns:a16="http://schemas.microsoft.com/office/drawing/2014/main" id="{47208094-8AA2-4F1C-91DD-9FC45CC49770}"/>
                  </a:ext>
                </a:extLst>
              </p:cNvPr>
              <p:cNvSpPr>
                <a:spLocks noGrp="1" noRot="1" noChangeAspect="1" noMove="1" noResize="1" noEditPoints="1" noAdjustHandles="1" noChangeArrowheads="1" noChangeShapeType="1" noTextEdit="1"/>
              </p:cNvSpPr>
              <p:nvPr>
                <p:ph type="body" sz="half" idx="1"/>
              </p:nvPr>
            </p:nvSpPr>
            <p:spPr>
              <a:xfrm>
                <a:off x="879475" y="1211263"/>
                <a:ext cx="7869238" cy="4525962"/>
              </a:xfrm>
              <a:blipFill>
                <a:blip r:embed="rId3"/>
                <a:stretch>
                  <a:fillRect l="-1239" t="-13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5400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75779"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p:sp>
        <p:nvSpPr>
          <p:cNvPr id="22532" name="文本占位符 3">
            <a:extLst>
              <a:ext uri="{FF2B5EF4-FFF2-40B4-BE49-F238E27FC236}">
                <a16:creationId xmlns:a16="http://schemas.microsoft.com/office/drawing/2014/main" id="{47208094-8AA2-4F1C-91DD-9FC45CC49770}"/>
              </a:ext>
            </a:extLst>
          </p:cNvPr>
          <p:cNvSpPr>
            <a:spLocks noGrp="1" noChangeArrowheads="1"/>
          </p:cNvSpPr>
          <p:nvPr>
            <p:ph type="body" sz="half" idx="1"/>
          </p:nvPr>
        </p:nvSpPr>
        <p:spPr>
          <a:xfrm>
            <a:off x="879475" y="1211263"/>
            <a:ext cx="7869238" cy="4525962"/>
          </a:xfrm>
        </p:spPr>
        <p:txBody>
          <a:bodyPr/>
          <a:lstStyle/>
          <a:p>
            <a:pPr marL="0" indent="0">
              <a:buFontTx/>
              <a:buNone/>
              <a:defRPr/>
            </a:pPr>
            <a:r>
              <a:rPr lang="zh-CN" altLang="en-US" dirty="0"/>
              <a:t>最经典的一维随机游走问题有</a:t>
            </a:r>
            <a:r>
              <a:rPr lang="zh-CN" altLang="en-US" b="1" dirty="0"/>
              <a:t>赌徒输光问题</a:t>
            </a:r>
            <a:r>
              <a:rPr lang="zh-CN" altLang="en-US" dirty="0"/>
              <a:t>和</a:t>
            </a:r>
            <a:r>
              <a:rPr lang="zh-CN" altLang="en-US" b="1" dirty="0"/>
              <a:t>酒鬼失足</a:t>
            </a:r>
            <a:r>
              <a:rPr lang="zh-CN" altLang="en-US" dirty="0"/>
              <a:t>问题</a:t>
            </a:r>
            <a:endParaRPr lang="en-US" altLang="zh-CN" dirty="0"/>
          </a:p>
          <a:p>
            <a:pPr marL="457200" indent="-457200">
              <a:buFont typeface="+mj-lt"/>
              <a:buAutoNum type="arabicPeriod"/>
              <a:defRPr/>
            </a:pPr>
            <a:r>
              <a:rPr lang="zh-CN" altLang="en-US" dirty="0"/>
              <a:t>赌徒在赌场赌博，赢的概率是</a:t>
            </a:r>
            <a:r>
              <a:rPr lang="en-US" altLang="zh-CN" dirty="0"/>
              <a:t>p</a:t>
            </a:r>
            <a:r>
              <a:rPr lang="zh-CN" altLang="en-US" dirty="0"/>
              <a:t>，输的概率</a:t>
            </a:r>
            <a:r>
              <a:rPr lang="en-US" altLang="zh-CN" dirty="0"/>
              <a:t>1-p</a:t>
            </a:r>
            <a:r>
              <a:rPr lang="zh-CN" altLang="en-US" dirty="0"/>
              <a:t>，每次的赌注为</a:t>
            </a:r>
            <a:r>
              <a:rPr lang="en-US" altLang="zh-CN" dirty="0"/>
              <a:t>1</a:t>
            </a:r>
            <a:r>
              <a:rPr lang="zh-CN" altLang="en-US" dirty="0"/>
              <a:t>元，假设赌徒最开始时有赌金</a:t>
            </a:r>
            <a:r>
              <a:rPr lang="en-US" altLang="zh-CN" dirty="0"/>
              <a:t>1</a:t>
            </a:r>
            <a:r>
              <a:rPr lang="zh-CN" altLang="en-US" dirty="0"/>
              <a:t>元，赢了赌金加</a:t>
            </a:r>
            <a:r>
              <a:rPr lang="en-US" altLang="zh-CN" dirty="0"/>
              <a:t>1</a:t>
            </a:r>
            <a:r>
              <a:rPr lang="zh-CN" altLang="en-US" dirty="0"/>
              <a:t>元，输了赌金减</a:t>
            </a:r>
            <a:r>
              <a:rPr lang="en-US" altLang="zh-CN" dirty="0"/>
              <a:t>1</a:t>
            </a:r>
            <a:r>
              <a:rPr lang="zh-CN" altLang="en-US" dirty="0"/>
              <a:t>元。问赌徒输光的概率是多少？</a:t>
            </a:r>
            <a:endParaRPr lang="en-US" altLang="zh-CN" dirty="0"/>
          </a:p>
          <a:p>
            <a:pPr marL="457200" indent="-457200">
              <a:buFont typeface="+mj-lt"/>
              <a:buAutoNum type="arabicPeriod"/>
              <a:defRPr/>
            </a:pPr>
            <a:r>
              <a:rPr lang="zh-CN" altLang="en-US" dirty="0"/>
              <a:t>一个醉鬼行走在一头是悬崖的道路上，酒鬼从距离悬崖仅一步之遥的位置出发，向前一步或向后退一步的概率皆为</a:t>
            </a:r>
            <a:r>
              <a:rPr lang="en-US" altLang="zh-CN" dirty="0"/>
              <a:t>1/2</a:t>
            </a:r>
            <a:r>
              <a:rPr lang="zh-CN" altLang="en-US" dirty="0"/>
              <a:t>，问酒鬼失足掉入悬崖的概率是多少？</a:t>
            </a:r>
          </a:p>
        </p:txBody>
      </p:sp>
    </p:spTree>
    <p:extLst>
      <p:ext uri="{BB962C8B-B14F-4D97-AF65-F5344CB8AC3E}">
        <p14:creationId xmlns:p14="http://schemas.microsoft.com/office/powerpoint/2010/main" val="37760255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75779"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mc:AlternateContent xmlns:mc="http://schemas.openxmlformats.org/markup-compatibility/2006" xmlns:a14="http://schemas.microsoft.com/office/drawing/2010/main">
        <mc:Choice Requires="a14">
          <p:sp>
            <p:nvSpPr>
              <p:cNvPr id="22532" name="文本占位符 3">
                <a:extLst>
                  <a:ext uri="{FF2B5EF4-FFF2-40B4-BE49-F238E27FC236}">
                    <a16:creationId xmlns:a16="http://schemas.microsoft.com/office/drawing/2014/main" id="{47208094-8AA2-4F1C-91DD-9FC45CC49770}"/>
                  </a:ext>
                </a:extLst>
              </p:cNvPr>
              <p:cNvSpPr>
                <a:spLocks noGrp="1" noChangeArrowheads="1"/>
              </p:cNvSpPr>
              <p:nvPr>
                <p:ph type="body" sz="half" idx="1"/>
              </p:nvPr>
            </p:nvSpPr>
            <p:spPr>
              <a:xfrm>
                <a:off x="879475" y="1211263"/>
                <a:ext cx="8121650" cy="4525962"/>
              </a:xfrm>
            </p:spPr>
            <p:txBody>
              <a:bodyPr/>
              <a:lstStyle/>
              <a:p>
                <a:pPr marL="0" indent="0">
                  <a:buFontTx/>
                  <a:buNone/>
                  <a:defRPr/>
                </a:pPr>
                <a:r>
                  <a:rPr lang="zh-CN" altLang="en-US" dirty="0"/>
                  <a:t>一维有边界的随机游走问题</a:t>
                </a:r>
                <a:r>
                  <a:rPr lang="en-US" altLang="zh-CN" dirty="0"/>
                  <a:t>:</a:t>
                </a:r>
              </a:p>
              <a:p>
                <a:pPr marL="0" indent="0">
                  <a:buFontTx/>
                  <a:buNone/>
                  <a:defRPr/>
                </a:pPr>
                <a:r>
                  <a:rPr lang="zh-CN" altLang="en-US" dirty="0"/>
                  <a:t>一维有边界的随机游走问题</a:t>
                </a:r>
                <a:r>
                  <a:rPr lang="en-US" altLang="zh-CN" dirty="0"/>
                  <a:t>:</a:t>
                </a:r>
                <a:r>
                  <a:rPr lang="zh-CN" altLang="en-US" dirty="0"/>
                  <a:t>设初始位置为</a:t>
                </a:r>
                <a:r>
                  <a:rPr lang="en-US" altLang="zh-CN" dirty="0"/>
                  <a:t>x=n</a:t>
                </a:r>
                <a:r>
                  <a:rPr lang="zh-CN" altLang="en-US" dirty="0"/>
                  <a:t>，边界为</a:t>
                </a:r>
                <a:r>
                  <a:rPr lang="en-US" altLang="zh-CN" dirty="0"/>
                  <a:t>x=0</a:t>
                </a:r>
                <a:r>
                  <a:rPr lang="zh-CN" altLang="en-US" dirty="0"/>
                  <a:t>和</a:t>
                </a:r>
                <a:r>
                  <a:rPr lang="en-US" altLang="zh-CN" dirty="0"/>
                  <a:t>x =w</a:t>
                </a:r>
                <a:r>
                  <a:rPr lang="zh-CN" altLang="en-US" dirty="0"/>
                  <a:t>，其中</a:t>
                </a:r>
                <a14:m>
                  <m:oMath xmlns:m="http://schemas.openxmlformats.org/officeDocument/2006/math">
                    <m:r>
                      <a:rPr lang="zh-CN" altLang="en-US" smtClean="0">
                        <a:latin typeface="Cambria Math" panose="02040503050406030204" pitchFamily="18" charset="0"/>
                      </a:rPr>
                      <m:t>0</m:t>
                    </m:r>
                    <m:r>
                      <a:rPr lang="zh-CN" altLang="en-US" i="0" smtClean="0">
                        <a:latin typeface="Cambria Math" panose="02040503050406030204" pitchFamily="18" charset="0"/>
                      </a:rPr>
                      <m:t>≤</m:t>
                    </m:r>
                    <m:r>
                      <m:rPr>
                        <m:sty m:val="p"/>
                      </m:rPr>
                      <a:rPr lang="en-US" altLang="zh-CN" b="0" i="0" smtClean="0">
                        <a:latin typeface="Cambria Math" panose="02040503050406030204" pitchFamily="18" charset="0"/>
                      </a:rPr>
                      <m:t>n</m:t>
                    </m:r>
                    <m:r>
                      <a:rPr lang="zh-CN" altLang="en-US" i="0" smtClean="0">
                        <a:latin typeface="Cambria Math" panose="02040503050406030204" pitchFamily="18" charset="0"/>
                      </a:rPr>
                      <m:t>≤</m:t>
                    </m:r>
                    <m:r>
                      <m:rPr>
                        <m:sty m:val="p"/>
                      </m:rPr>
                      <a:rPr lang="en-US" altLang="zh-CN" b="0" i="0" smtClean="0">
                        <a:latin typeface="Cambria Math" panose="02040503050406030204" pitchFamily="18" charset="0"/>
                      </a:rPr>
                      <m:t>w</m:t>
                    </m:r>
                    <m:r>
                      <a:rPr lang="zh-CN" altLang="en-US" i="1">
                        <a:latin typeface="Cambria Math" panose="02040503050406030204" pitchFamily="18" charset="0"/>
                      </a:rPr>
                      <m:t>，</m:t>
                    </m:r>
                    <m:r>
                      <m:rPr>
                        <m:sty m:val="p"/>
                      </m:rPr>
                      <a:rPr lang="en-US" altLang="zh-CN" i="1" smtClean="0">
                        <a:latin typeface="Cambria Math" panose="02040503050406030204" pitchFamily="18" charset="0"/>
                      </a:rPr>
                      <m:t>n</m:t>
                    </m:r>
                  </m:oMath>
                </a14:m>
                <a:r>
                  <a:rPr lang="zh-CN" altLang="en-US" dirty="0"/>
                  <a:t>、</a:t>
                </a:r>
                <a:r>
                  <a:rPr lang="en-US" altLang="zh-CN" dirty="0"/>
                  <a:t>w</a:t>
                </a:r>
                <a:r>
                  <a:rPr lang="zh-CN" altLang="en-US" dirty="0"/>
                  <a:t>为整数。游走者每个单位时间移动一次，向左、向右移动的概率都为</a:t>
                </a:r>
                <a:r>
                  <a:rPr lang="en-US" altLang="zh-CN" dirty="0"/>
                  <a:t>1/2</a:t>
                </a:r>
                <a:r>
                  <a:rPr lang="zh-CN" altLang="en-US" dirty="0"/>
                  <a:t>，达到边界后停止移动。</a:t>
                </a:r>
                <a:endParaRPr lang="en-US" altLang="zh-CN" dirty="0"/>
              </a:p>
              <a:p>
                <a:pPr marL="0" indent="0">
                  <a:buFontTx/>
                  <a:buNone/>
                  <a:defRPr/>
                </a:pPr>
                <a:r>
                  <a:rPr lang="zh-CN" altLang="en-US" dirty="0"/>
                  <a:t>若用</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zh-CN" altLang="en-US" dirty="0"/>
                  <a:t> 表示初始位置为</a:t>
                </a:r>
                <a:r>
                  <a:rPr lang="en-US" altLang="zh-CN" dirty="0"/>
                  <a:t>x=n</a:t>
                </a:r>
                <a:r>
                  <a:rPr lang="zh-CN" altLang="en-US" dirty="0"/>
                  <a:t>时最终落入边界</a:t>
                </a:r>
                <a:r>
                  <a:rPr lang="en-US" altLang="zh-CN" dirty="0"/>
                  <a:t>x=O</a:t>
                </a:r>
                <a:r>
                  <a:rPr lang="zh-CN" altLang="en-US" dirty="0"/>
                  <a:t>的概率。显然我们会有</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b="0" i="1" smtClean="0">
                            <a:latin typeface="Cambria Math" panose="02040503050406030204" pitchFamily="18" charset="0"/>
                          </a:rPr>
                          <m:t>0</m:t>
                        </m:r>
                      </m:sub>
                    </m:sSub>
                    <m:r>
                      <a:rPr lang="zh-CN" altLang="en-US" i="1">
                        <a:latin typeface="Cambria Math" panose="02040503050406030204" pitchFamily="18" charset="0"/>
                      </a:rPr>
                      <m:t> </m:t>
                    </m:r>
                  </m:oMath>
                </a14:m>
                <a:r>
                  <a:rPr lang="en-US" altLang="zh-CN" dirty="0"/>
                  <a:t>=1</a:t>
                </a:r>
                <a:r>
                  <a:rPr lang="zh-CN" altLang="en-US" dirty="0"/>
                  <a:t>和</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m:rPr>
                            <m:sty m:val="p"/>
                          </m:rPr>
                          <a:rPr lang="en-US" altLang="zh-CN" i="1">
                            <a:latin typeface="Cambria Math" panose="02040503050406030204" pitchFamily="18" charset="0"/>
                          </a:rPr>
                          <m:t>w</m:t>
                        </m:r>
                      </m:sub>
                    </m:sSub>
                    <m:r>
                      <a:rPr lang="zh-CN" altLang="en-US" i="1">
                        <a:latin typeface="Cambria Math" panose="02040503050406030204" pitchFamily="18" charset="0"/>
                      </a:rPr>
                      <m:t> </m:t>
                    </m:r>
                  </m:oMath>
                </a14:m>
                <a:r>
                  <a:rPr lang="en-US" altLang="zh-CN" dirty="0"/>
                  <a:t>=0</a:t>
                </a:r>
                <a:r>
                  <a:rPr lang="zh-CN" altLang="en-US" dirty="0"/>
                  <a:t>，即初始位置为边界的情况。</a:t>
                </a:r>
                <a:endParaRPr lang="en-US" altLang="zh-CN" dirty="0"/>
              </a:p>
              <a:p>
                <a:pPr marL="0" indent="0">
                  <a:buFontTx/>
                  <a:buNone/>
                  <a:defRPr/>
                </a:pPr>
                <a:r>
                  <a:rPr lang="zh-CN" altLang="en-US" dirty="0"/>
                  <a:t>若</a:t>
                </a:r>
                <a:r>
                  <a:rPr lang="en-US" altLang="zh-CN" dirty="0"/>
                  <a:t>0&lt;n&lt;w</a:t>
                </a:r>
                <a:r>
                  <a:rPr lang="zh-CN" altLang="en-US" dirty="0"/>
                  <a:t>，则考虑其下一次移动。有</a:t>
                </a:r>
                <a:r>
                  <a:rPr lang="en-US" altLang="zh-CN" dirty="0"/>
                  <a:t>1/2</a:t>
                </a:r>
                <a:r>
                  <a:rPr lang="zh-CN" altLang="en-US" dirty="0"/>
                  <a:t>的概率向左到达</a:t>
                </a:r>
                <a:r>
                  <a:rPr lang="en-US" altLang="zh-CN" dirty="0"/>
                  <a:t>n-1</a:t>
                </a:r>
                <a:r>
                  <a:rPr lang="zh-CN" altLang="en-US" dirty="0"/>
                  <a:t>，有</a:t>
                </a:r>
                <a:r>
                  <a:rPr lang="en-US" altLang="zh-CN" dirty="0"/>
                  <a:t>1/2</a:t>
                </a:r>
                <a:r>
                  <a:rPr lang="zh-CN" altLang="en-US" dirty="0"/>
                  <a:t>的概率向右到达</a:t>
                </a:r>
                <a:r>
                  <a:rPr lang="en-US" altLang="zh-CN" dirty="0"/>
                  <a:t>n+1</a:t>
                </a:r>
                <a:r>
                  <a:rPr lang="zh-CN" altLang="en-US" dirty="0"/>
                  <a:t>。则由全概率公式可得</a:t>
                </a:r>
                <a:r>
                  <a:rPr lang="en-US" altLang="zh-CN" dirty="0"/>
                  <a:t>:</a:t>
                </a:r>
              </a:p>
              <a:p>
                <a:pPr marL="0" indent="0">
                  <a:buFontTx/>
                  <a:buNone/>
                  <a:defRPr/>
                </a:pP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en-US" altLang="zh-CN" dirty="0"/>
                  <a:t>=</a:t>
                </a:r>
                <a:r>
                  <a:rPr lang="zh-CN" altLang="en-US" dirty="0"/>
                  <a:t> </a:t>
                </a:r>
                <a14:m>
                  <m:oMath xmlns:m="http://schemas.openxmlformats.org/officeDocument/2006/math">
                    <m:sSub>
                      <m:sSubPr>
                        <m:ctrlPr>
                          <a:rPr lang="zh-CN" altLang="en-US" i="1">
                            <a:latin typeface="Cambria Math" panose="02040503050406030204" pitchFamily="18" charset="0"/>
                          </a:rPr>
                        </m:ctrlPr>
                      </m:sSubPr>
                      <m:e>
                        <m:f>
                          <m:fPr>
                            <m:ctrlPr>
                              <a:rPr lang="zh-CN" altLang="en-US" i="1" smtClean="0">
                                <a:latin typeface="Cambria Math" panose="02040503050406030204" pitchFamily="18" charset="0"/>
                              </a:rPr>
                            </m:ctrlPr>
                          </m:fPr>
                          <m:num>
                            <m:r>
                              <a:rPr lang="zh-CN" altLang="en-US" i="1">
                                <a:latin typeface="Cambria Math" panose="02040503050406030204" pitchFamily="18" charset="0"/>
                              </a:rPr>
                              <m:t>1</m:t>
                            </m:r>
                          </m:num>
                          <m:den>
                            <m:r>
                              <a:rPr lang="zh-CN" altLang="en-US" i="1">
                                <a:latin typeface="Cambria Math" panose="02040503050406030204" pitchFamily="18" charset="0"/>
                              </a:rPr>
                              <m:t>2</m:t>
                            </m:r>
                          </m:den>
                        </m:f>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zh-CN" altLang="en-US" i="1">
                            <a:latin typeface="Cambria Math" panose="02040503050406030204" pitchFamily="18" charset="0"/>
                          </a:rPr>
                        </m:ctrlPr>
                      </m:sSubPr>
                      <m:e>
                        <m:f>
                          <m:fPr>
                            <m:ctrlPr>
                              <a:rPr lang="zh-CN" altLang="en-US" i="1">
                                <a:latin typeface="Cambria Math" panose="02040503050406030204" pitchFamily="18" charset="0"/>
                              </a:rPr>
                            </m:ctrlPr>
                          </m:fPr>
                          <m:num>
                            <m:r>
                              <a:rPr lang="zh-CN" altLang="en-US" i="1">
                                <a:latin typeface="Cambria Math" panose="02040503050406030204" pitchFamily="18" charset="0"/>
                              </a:rPr>
                              <m:t>1</m:t>
                            </m:r>
                          </m:num>
                          <m:den>
                            <m:r>
                              <a:rPr lang="zh-CN" altLang="en-US" i="1">
                                <a:latin typeface="Cambria Math" panose="02040503050406030204" pitchFamily="18" charset="0"/>
                              </a:rPr>
                              <m:t>2</m:t>
                            </m:r>
                          </m:den>
                        </m:f>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b="0" i="1" smtClean="0">
                            <a:latin typeface="Cambria Math" panose="02040503050406030204" pitchFamily="18" charset="0"/>
                          </a:rPr>
                          <m:t>+1</m:t>
                        </m:r>
                      </m:sub>
                    </m:sSub>
                  </m:oMath>
                </a14:m>
                <a:endParaRPr lang="zh-CN" altLang="en-US" dirty="0"/>
              </a:p>
            </p:txBody>
          </p:sp>
        </mc:Choice>
        <mc:Fallback xmlns="">
          <p:sp>
            <p:nvSpPr>
              <p:cNvPr id="22532" name="文本占位符 3">
                <a:extLst>
                  <a:ext uri="{FF2B5EF4-FFF2-40B4-BE49-F238E27FC236}">
                    <a16:creationId xmlns:a16="http://schemas.microsoft.com/office/drawing/2014/main" id="{47208094-8AA2-4F1C-91DD-9FC45CC49770}"/>
                  </a:ext>
                </a:extLst>
              </p:cNvPr>
              <p:cNvSpPr>
                <a:spLocks noGrp="1" noRot="1" noChangeAspect="1" noMove="1" noResize="1" noEditPoints="1" noAdjustHandles="1" noChangeArrowheads="1" noChangeShapeType="1" noTextEdit="1"/>
              </p:cNvSpPr>
              <p:nvPr>
                <p:ph type="body" sz="half" idx="1"/>
              </p:nvPr>
            </p:nvSpPr>
            <p:spPr>
              <a:xfrm>
                <a:off x="879475" y="1211263"/>
                <a:ext cx="8121650" cy="4525962"/>
              </a:xfrm>
              <a:blipFill>
                <a:blip r:embed="rId3"/>
                <a:stretch>
                  <a:fillRect l="-1200" t="-1348" r="-8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41559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79875"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mc:AlternateContent xmlns:mc="http://schemas.openxmlformats.org/markup-compatibility/2006" xmlns:a14="http://schemas.microsoft.com/office/drawing/2010/main">
        <mc:Choice Requires="a14">
          <p:sp>
            <p:nvSpPr>
              <p:cNvPr id="6" name="文本占位符 3">
                <a:extLst>
                  <a:ext uri="{FF2B5EF4-FFF2-40B4-BE49-F238E27FC236}">
                    <a16:creationId xmlns:a16="http://schemas.microsoft.com/office/drawing/2014/main" id="{47208094-8AA2-4F1C-91DD-9FC45CC49770}"/>
                  </a:ext>
                </a:extLst>
              </p:cNvPr>
              <p:cNvSpPr>
                <a:spLocks noGrp="1" noChangeArrowheads="1"/>
              </p:cNvSpPr>
              <p:nvPr>
                <p:ph type="body" sz="half" idx="1"/>
              </p:nvPr>
            </p:nvSpPr>
            <p:spPr>
              <a:xfrm>
                <a:off x="879475" y="1211263"/>
                <a:ext cx="7869238" cy="4525962"/>
              </a:xfrm>
            </p:spPr>
            <p:txBody>
              <a:bodyPr/>
              <a:lstStyle/>
              <a:p>
                <a:pPr marL="0" indent="0">
                  <a:buFontTx/>
                  <a:buNone/>
                  <a:defRPr/>
                </a:pPr>
                <a:r>
                  <a:rPr lang="zh-CN" altLang="en-US" dirty="0"/>
                  <a:t>由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r>
                      <a:rPr lang="zh-CN" altLang="en-US" i="1">
                        <a:latin typeface="Cambria Math" panose="02040503050406030204" pitchFamily="18" charset="0"/>
                      </a:rPr>
                      <m:t> </m:t>
                    </m:r>
                  </m:oMath>
                </a14:m>
                <a:r>
                  <a:rPr lang="en-US" altLang="zh-CN" dirty="0"/>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b="0" i="1" smtClean="0">
                            <a:latin typeface="Cambria Math" panose="02040503050406030204" pitchFamily="18" charset="0"/>
                          </a:rPr>
                          <m:t>−1</m:t>
                        </m:r>
                      </m:sub>
                    </m:sSub>
                  </m:oMath>
                </a14:m>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b="0" i="1" smtClean="0">
                            <a:latin typeface="Cambria Math" panose="02040503050406030204" pitchFamily="18" charset="0"/>
                          </a:rPr>
                          <m:t>+</m:t>
                        </m:r>
                        <m:r>
                          <a:rPr lang="en-US" altLang="zh-CN" i="1">
                            <a:latin typeface="Cambria Math" panose="02040503050406030204" pitchFamily="18" charset="0"/>
                          </a:rPr>
                          <m:t>1</m:t>
                        </m:r>
                      </m:sub>
                    </m:sSub>
                  </m:oMath>
                </a14:m>
                <a:r>
                  <a:rPr lang="zh-CN" altLang="en-US" dirty="0"/>
                  <a:t>可以得到</a:t>
                </a:r>
                <a:r>
                  <a:rPr lang="en-US" altLang="zh-CN" dirty="0"/>
                  <a:t>:</a:t>
                </a:r>
              </a:p>
              <a:p>
                <a:pPr marL="0" indent="0">
                  <a:buFontTx/>
                  <a:buNone/>
                  <a:defRPr/>
                </a:pPr>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 </m:t>
                    </m:r>
                  </m:oMath>
                </a14:m>
                <a:r>
                  <a:rPr lang="en-US" altLang="zh-CN" dirty="0"/>
                  <a:t>= 2</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zh-CN" altLang="en-US" dirty="0"/>
                  <a:t> </a:t>
                </a:r>
                <a:r>
                  <a:rPr lang="en-US" altLang="zh-CN" dirty="0"/>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oMath>
                </a14:m>
                <a:endParaRPr lang="en-US" altLang="zh-CN" dirty="0"/>
              </a:p>
              <a:p>
                <a:pPr marL="0" indent="0">
                  <a:buFontTx/>
                  <a:buNone/>
                  <a:defRPr/>
                </a:pPr>
                <a:r>
                  <a:rPr lang="zh-CN" altLang="en-US" dirty="0"/>
                  <a:t>又</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 </m:t>
                    </m:r>
                  </m:oMath>
                </a14:m>
                <a:r>
                  <a:rPr lang="en-US" altLang="zh-CN"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r>
                      <a:rPr lang="zh-CN" altLang="en-US" i="1">
                        <a:latin typeface="Cambria Math" panose="02040503050406030204" pitchFamily="18" charset="0"/>
                      </a:rPr>
                      <m:t> </m:t>
                    </m:r>
                  </m:oMath>
                </a14:m>
                <a:r>
                  <a:rPr lang="en-US" altLang="zh-CN"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r>
                      <a:rPr lang="zh-CN" altLang="en-US" i="1">
                        <a:latin typeface="Cambria Math" panose="02040503050406030204" pitchFamily="18" charset="0"/>
                      </a:rPr>
                      <m:t> </m:t>
                    </m:r>
                  </m:oMath>
                </a14:m>
                <a:r>
                  <a:rPr lang="en-US" altLang="zh-CN"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oMath>
                </a14:m>
                <a:r>
                  <a:rPr lang="zh-CN" altLang="en-US" dirty="0"/>
                  <a:t>可以得到</a:t>
                </a:r>
                <a:endParaRPr lang="en-US" altLang="zh-CN" dirty="0"/>
              </a:p>
              <a:p>
                <a:pPr marL="0" indent="0">
                  <a:buFontTx/>
                  <a:buNone/>
                  <a:defRPr/>
                </a:pP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r>
                      <a:rPr lang="zh-CN" altLang="en-US" i="1">
                        <a:latin typeface="Cambria Math" panose="02040503050406030204" pitchFamily="18" charset="0"/>
                      </a:rPr>
                      <m:t> </m:t>
                    </m:r>
                  </m:oMath>
                </a14:m>
                <a:r>
                  <a:rPr lang="en-US" altLang="zh-CN" dirty="0"/>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r>
                          <a:rPr lang="en-US" altLang="zh-CN" i="1">
                            <a:latin typeface="Cambria Math" panose="02040503050406030204" pitchFamily="18" charset="0"/>
                          </a:rPr>
                          <m:t>−1</m:t>
                        </m:r>
                      </m:sub>
                    </m:sSub>
                  </m:oMath>
                </a14:m>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i="1">
                            <a:latin typeface="Cambria Math" panose="02040503050406030204" pitchFamily="18" charset="0"/>
                          </a:rPr>
                          <m:t>1</m:t>
                        </m:r>
                      </m:sub>
                    </m:sSub>
                  </m:oMath>
                </a14:m>
                <a:r>
                  <a:rPr lang="en-US" altLang="zh-CN" dirty="0"/>
                  <a:t> -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b="0" i="1" smtClean="0">
                            <a:latin typeface="Cambria Math" panose="02040503050406030204" pitchFamily="18" charset="0"/>
                          </a:rPr>
                          <m:t>0</m:t>
                        </m:r>
                      </m:sub>
                    </m:sSub>
                  </m:oMath>
                </a14:m>
                <a:r>
                  <a:rPr lang="en-US" altLang="zh-CN" dirty="0"/>
                  <a:t> =k</a:t>
                </a:r>
              </a:p>
              <a:p>
                <a:pPr marL="0" indent="0">
                  <a:buFontTx/>
                  <a:buNone/>
                  <a:defRPr/>
                </a:pPr>
                <a:r>
                  <a:rPr lang="zh-CN" altLang="en-US" dirty="0"/>
                  <a:t>由累加法可得</a:t>
                </a:r>
                <a:endParaRPr lang="en-US" altLang="zh-CN" dirty="0"/>
              </a:p>
              <a:p>
                <a:pPr marL="0" indent="0">
                  <a:buFontTx/>
                  <a:buNone/>
                  <a:defRPr/>
                </a:pP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en-US" altLang="zh-CN" dirty="0"/>
                  <a:t> = </a:t>
                </a:r>
                <a:r>
                  <a:rPr lang="en-US" altLang="zh-CN" dirty="0" err="1"/>
                  <a:t>kn</a:t>
                </a:r>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i="1">
                            <a:latin typeface="Cambria Math" panose="02040503050406030204" pitchFamily="18" charset="0"/>
                          </a:rPr>
                          <m:t>0</m:t>
                        </m:r>
                      </m:sub>
                    </m:sSub>
                  </m:oMath>
                </a14:m>
                <a:r>
                  <a:rPr lang="zh-CN" altLang="en-US" dirty="0"/>
                  <a:t>又</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i="1">
                            <a:latin typeface="Cambria Math" panose="02040503050406030204" pitchFamily="18" charset="0"/>
                          </a:rPr>
                          <m:t>0</m:t>
                        </m:r>
                      </m:sub>
                    </m:sSub>
                  </m:oMath>
                </a14:m>
                <a:r>
                  <a:rPr lang="en-US" altLang="zh-CN" dirty="0"/>
                  <a:t> =1;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b="0" i="1" smtClean="0">
                            <a:latin typeface="Cambria Math" panose="02040503050406030204" pitchFamily="18" charset="0"/>
                          </a:rPr>
                          <m:t>𝑊</m:t>
                        </m:r>
                      </m:sub>
                    </m:sSub>
                  </m:oMath>
                </a14:m>
                <a:r>
                  <a:rPr lang="en-US" altLang="zh-CN" dirty="0"/>
                  <a:t> =0</a:t>
                </a:r>
                <a:r>
                  <a:rPr lang="zh-CN" altLang="en-US" dirty="0"/>
                  <a:t>可得</a:t>
                </a:r>
                <a:endParaRPr lang="en-US" altLang="zh-CN" i="1" dirty="0">
                  <a:latin typeface="Cambria Math" panose="02040503050406030204" pitchFamily="18" charset="0"/>
                </a:endParaRPr>
              </a:p>
              <a:p>
                <a:pPr marL="0" indent="0">
                  <a:buFontTx/>
                  <a:buNone/>
                  <a:defRPr/>
                </a:pP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en-US" altLang="zh-CN" dirty="0"/>
                  <a:t> =</a:t>
                </a:r>
                <a14:m>
                  <m:oMath xmlns:m="http://schemas.openxmlformats.org/officeDocument/2006/math">
                    <m:r>
                      <a:rPr lang="en-US" altLang="zh-CN" dirty="0" smtClean="0">
                        <a:latin typeface="Cambria Math" panose="02040503050406030204" pitchFamily="18" charset="0"/>
                      </a:rPr>
                      <m:t>1</m:t>
                    </m:r>
                    <m:r>
                      <a:rPr lang="en-US" altLang="zh-CN" i="0" dirty="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i="0" dirty="0">
                            <a:latin typeface="Cambria Math" panose="02040503050406030204" pitchFamily="18" charset="0"/>
                          </a:rPr>
                          <m:t>1</m:t>
                        </m:r>
                      </m:num>
                      <m:den>
                        <m:r>
                          <a:rPr lang="en-US" altLang="zh-CN" i="1" dirty="0">
                            <a:latin typeface="Cambria Math" panose="02040503050406030204" pitchFamily="18" charset="0"/>
                          </a:rPr>
                          <m:t>𝑤</m:t>
                        </m:r>
                      </m:den>
                    </m:f>
                    <m:r>
                      <a:rPr lang="en-US" altLang="zh-CN" i="1" dirty="0">
                        <a:latin typeface="Cambria Math" panose="02040503050406030204" pitchFamily="18" charset="0"/>
                      </a:rPr>
                      <m:t>𝑛</m:t>
                    </m:r>
                  </m:oMath>
                </a14:m>
                <a:r>
                  <a:rPr lang="en-US" altLang="zh-CN" dirty="0"/>
                  <a:t>= </a:t>
                </a:r>
                <a14:m>
                  <m:oMath xmlns:m="http://schemas.openxmlformats.org/officeDocument/2006/math">
                    <m:f>
                      <m:fPr>
                        <m:ctrlPr>
                          <a:rPr lang="en-US" altLang="zh-CN" i="1" dirty="0">
                            <a:latin typeface="Cambria Math" panose="02040503050406030204" pitchFamily="18" charset="0"/>
                          </a:rPr>
                        </m:ctrlPr>
                      </m:fPr>
                      <m:num>
                        <m:r>
                          <m:rPr>
                            <m:sty m:val="p"/>
                          </m:rPr>
                          <a:rPr lang="en-US" altLang="zh-CN" i="1" dirty="0">
                            <a:latin typeface="Cambria Math" panose="02040503050406030204" pitchFamily="18" charset="0"/>
                          </a:rPr>
                          <m:t>w</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N</m:t>
                        </m:r>
                      </m:num>
                      <m:den>
                        <m:r>
                          <a:rPr lang="en-US" altLang="zh-CN" i="1" dirty="0">
                            <a:latin typeface="Cambria Math" panose="02040503050406030204" pitchFamily="18" charset="0"/>
                          </a:rPr>
                          <m:t>𝑤</m:t>
                        </m:r>
                      </m:den>
                    </m:f>
                  </m:oMath>
                </a14:m>
                <a:endParaRPr lang="en-US" altLang="zh-CN" dirty="0"/>
              </a:p>
              <a:p>
                <a:pPr marL="0" indent="0">
                  <a:buFontTx/>
                  <a:buNone/>
                  <a:defRPr/>
                </a:pPr>
                <a:r>
                  <a:rPr lang="zh-CN" altLang="en-US" dirty="0"/>
                  <a:t>同理可得</a:t>
                </a:r>
                <a14:m>
                  <m:oMath xmlns:m="http://schemas.openxmlformats.org/officeDocument/2006/math">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𝑇</m:t>
                        </m:r>
                      </m:e>
                      <m:sub>
                        <m:r>
                          <a:rPr lang="zh-CN" altLang="en-US" i="1">
                            <a:latin typeface="Cambria Math" panose="02040503050406030204" pitchFamily="18" charset="0"/>
                          </a:rPr>
                          <m:t>𝑛</m:t>
                        </m:r>
                      </m:sub>
                    </m:sSub>
                  </m:oMath>
                </a14:m>
                <a:r>
                  <a:rPr lang="en-US" altLang="zh-CN" dirty="0"/>
                  <a:t> = </a:t>
                </a:r>
                <a14:m>
                  <m:oMath xmlns:m="http://schemas.openxmlformats.org/officeDocument/2006/math">
                    <m:f>
                      <m:fPr>
                        <m:ctrlPr>
                          <a:rPr lang="en-US" altLang="zh-CN" i="1" dirty="0">
                            <a:latin typeface="Cambria Math" panose="02040503050406030204" pitchFamily="18" charset="0"/>
                          </a:rPr>
                        </m:ctrlPr>
                      </m:fPr>
                      <m:num>
                        <m:r>
                          <m:rPr>
                            <m:sty m:val="p"/>
                          </m:rPr>
                          <a:rPr lang="en-US" altLang="zh-CN" b="0" i="0" dirty="0" smtClean="0">
                            <a:latin typeface="Cambria Math" panose="02040503050406030204" pitchFamily="18" charset="0"/>
                          </a:rPr>
                          <m:t>n</m:t>
                        </m:r>
                      </m:num>
                      <m:den>
                        <m:r>
                          <a:rPr lang="en-US" altLang="zh-CN" i="1" dirty="0">
                            <a:latin typeface="Cambria Math" panose="02040503050406030204" pitchFamily="18" charset="0"/>
                          </a:rPr>
                          <m:t>𝑤</m:t>
                        </m:r>
                      </m:den>
                    </m:f>
                  </m:oMath>
                </a14:m>
                <a:r>
                  <a:rPr lang="zh-CN" altLang="en-US" dirty="0"/>
                  <a:t>对于单边界情况，可以令</a:t>
                </a:r>
                <a:r>
                  <a:rPr lang="en-US" altLang="zh-CN" dirty="0"/>
                  <a:t>w→</a:t>
                </a:r>
                <a14:m>
                  <m:oMath xmlns:m="http://schemas.openxmlformats.org/officeDocument/2006/math">
                    <m:r>
                      <a:rPr lang="zh-CN" altLang="en-US" smtClean="0">
                        <a:latin typeface="Cambria Math" panose="02040503050406030204" pitchFamily="18" charset="0"/>
                      </a:rPr>
                      <m:t>+</m:t>
                    </m:r>
                    <m:r>
                      <a:rPr lang="zh-CN" altLang="en-US" i="0" smtClean="0">
                        <a:latin typeface="Cambria Math" panose="02040503050406030204" pitchFamily="18" charset="0"/>
                      </a:rPr>
                      <m:t>∞</m:t>
                    </m:r>
                  </m:oMath>
                </a14:m>
                <a:r>
                  <a:rPr lang="zh-CN" altLang="en-US" dirty="0"/>
                  <a:t>得到</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𝑛</m:t>
                        </m:r>
                      </m:sub>
                    </m:sSub>
                  </m:oMath>
                </a14:m>
                <a:r>
                  <a:rPr lang="en-US" altLang="zh-CN" dirty="0"/>
                  <a:t> =1,</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𝑇</m:t>
                        </m:r>
                      </m:e>
                      <m:sub>
                        <m:r>
                          <a:rPr lang="zh-CN" altLang="en-US" i="1">
                            <a:latin typeface="Cambria Math" panose="02040503050406030204" pitchFamily="18" charset="0"/>
                          </a:rPr>
                          <m:t>𝑛</m:t>
                        </m:r>
                      </m:sub>
                    </m:sSub>
                  </m:oMath>
                </a14:m>
                <a:r>
                  <a:rPr lang="en-US" altLang="zh-CN" dirty="0"/>
                  <a:t> =0</a:t>
                </a:r>
                <a:r>
                  <a:rPr lang="zh-CN" altLang="en-US" dirty="0"/>
                  <a:t>。所以酒鬼必定会掉下悬崖、赌徒一定会破产</a:t>
                </a:r>
              </a:p>
            </p:txBody>
          </p:sp>
        </mc:Choice>
        <mc:Fallback xmlns="">
          <p:sp>
            <p:nvSpPr>
              <p:cNvPr id="6" name="文本占位符 3">
                <a:extLst>
                  <a:ext uri="{FF2B5EF4-FFF2-40B4-BE49-F238E27FC236}">
                    <a16:creationId xmlns:a16="http://schemas.microsoft.com/office/drawing/2014/main" id="{47208094-8AA2-4F1C-91DD-9FC45CC49770}"/>
                  </a:ext>
                </a:extLst>
              </p:cNvPr>
              <p:cNvSpPr>
                <a:spLocks noGrp="1" noRot="1" noChangeAspect="1" noMove="1" noResize="1" noEditPoints="1" noAdjustHandles="1" noChangeArrowheads="1" noChangeShapeType="1" noTextEdit="1"/>
              </p:cNvSpPr>
              <p:nvPr>
                <p:ph type="body" sz="half" idx="1"/>
              </p:nvPr>
            </p:nvSpPr>
            <p:spPr>
              <a:xfrm>
                <a:off x="879475" y="1211263"/>
                <a:ext cx="7869238" cy="4525962"/>
              </a:xfrm>
              <a:blipFill>
                <a:blip r:embed="rId3"/>
                <a:stretch>
                  <a:fillRect l="-1239" t="-1348" b="-8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6463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81923"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p:sp>
        <p:nvSpPr>
          <p:cNvPr id="81924" name="文本占位符 3"/>
          <p:cNvSpPr>
            <a:spLocks noGrp="1" noChangeArrowheads="1"/>
          </p:cNvSpPr>
          <p:nvPr>
            <p:ph type="body" sz="half" idx="1"/>
          </p:nvPr>
        </p:nvSpPr>
        <p:spPr>
          <a:xfrm>
            <a:off x="879475" y="1211263"/>
            <a:ext cx="7869238" cy="4525962"/>
          </a:xfrm>
        </p:spPr>
        <p:txBody>
          <a:bodyPr/>
          <a:lstStyle/>
          <a:p>
            <a:pPr marL="0" indent="0">
              <a:buFontTx/>
              <a:buNone/>
            </a:pPr>
            <a:r>
              <a:rPr lang="zh-CN" altLang="en-US" dirty="0"/>
              <a:t>用随机游走算法求解函数全局最优</a:t>
            </a:r>
            <a:endParaRPr lang="en-US" altLang="zh-CN" dirty="0"/>
          </a:p>
        </p:txBody>
      </p:sp>
      <p:sp>
        <p:nvSpPr>
          <p:cNvPr id="81925" name="文本框 2"/>
          <p:cNvSpPr txBox="1">
            <a:spLocks noChangeArrowheads="1"/>
          </p:cNvSpPr>
          <p:nvPr/>
        </p:nvSpPr>
        <p:spPr bwMode="auto">
          <a:xfrm>
            <a:off x="1692275" y="2205038"/>
            <a:ext cx="28797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000">
              <a:solidFill>
                <a:schemeClr val="tx1"/>
              </a:solidFill>
              <a:latin typeface="Arial" panose="020B0604020202020204" pitchFamily="34" charset="0"/>
              <a:ea typeface="宋体" panose="02010600030101010101" pitchFamily="2" charset="-122"/>
            </a:endParaRPr>
          </a:p>
        </p:txBody>
      </p:sp>
      <p:pic>
        <p:nvPicPr>
          <p:cNvPr id="81926"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812925"/>
            <a:ext cx="7216775" cy="353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0859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83971" name="Rectangle 2"/>
          <p:cNvSpPr>
            <a:spLocks noGrp="1" noChangeArrowheads="1"/>
          </p:cNvSpPr>
          <p:nvPr>
            <p:ph type="title"/>
          </p:nvPr>
        </p:nvSpPr>
        <p:spPr/>
        <p:txBody>
          <a:bodyPr/>
          <a:lstStyle/>
          <a:p>
            <a:pPr eaLnBrk="1" hangingPunct="1"/>
            <a:r>
              <a:rPr lang="en-US" altLang="zh-CN" dirty="0"/>
              <a:t>10.2.5 </a:t>
            </a:r>
            <a:r>
              <a:rPr lang="zh-CN" altLang="en-US" dirty="0"/>
              <a:t>随机游走算法</a:t>
            </a:r>
            <a:endParaRPr lang="en-US" altLang="zh-CN" dirty="0"/>
          </a:p>
        </p:txBody>
      </p:sp>
      <p:sp>
        <p:nvSpPr>
          <p:cNvPr id="83972" name="文本占位符 3"/>
          <p:cNvSpPr>
            <a:spLocks noGrp="1" noChangeArrowheads="1"/>
          </p:cNvSpPr>
          <p:nvPr>
            <p:ph type="body" sz="half" idx="1"/>
          </p:nvPr>
        </p:nvSpPr>
        <p:spPr>
          <a:xfrm>
            <a:off x="879475" y="1211263"/>
            <a:ext cx="7869238" cy="4525962"/>
          </a:xfrm>
        </p:spPr>
        <p:txBody>
          <a:bodyPr/>
          <a:lstStyle/>
          <a:p>
            <a:pPr marL="0" indent="0">
              <a:buFontTx/>
              <a:buNone/>
            </a:pPr>
            <a:r>
              <a:rPr lang="zh-CN" altLang="en-US" dirty="0"/>
              <a:t>用随机游走算法求解函数全局最优</a:t>
            </a:r>
            <a:endParaRPr lang="en-US" altLang="zh-CN" dirty="0"/>
          </a:p>
        </p:txBody>
      </p:sp>
      <p:sp>
        <p:nvSpPr>
          <p:cNvPr id="83973" name="文本框 2"/>
          <p:cNvSpPr txBox="1">
            <a:spLocks noChangeArrowheads="1"/>
          </p:cNvSpPr>
          <p:nvPr/>
        </p:nvSpPr>
        <p:spPr bwMode="auto">
          <a:xfrm>
            <a:off x="1692275" y="2205038"/>
            <a:ext cx="28797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000">
              <a:solidFill>
                <a:schemeClr val="tx1"/>
              </a:solidFill>
              <a:latin typeface="Arial" panose="020B0604020202020204" pitchFamily="34" charset="0"/>
              <a:ea typeface="宋体" panose="02010600030101010101" pitchFamily="2" charset="-122"/>
            </a:endParaRPr>
          </a:p>
        </p:txBody>
      </p:sp>
      <p:pic>
        <p:nvPicPr>
          <p:cNvPr id="83974"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841500"/>
            <a:ext cx="6234112"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9063" y="3476625"/>
            <a:ext cx="3829050" cy="203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2998680"/>
      </p:ext>
    </p:extLst>
  </p:cSld>
  <p:clrMapOvr>
    <a:masterClrMapping/>
  </p:clrMapOvr>
</p:sld>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模版</Template>
  <TotalTime>13508</TotalTime>
  <Words>5371</Words>
  <Application>Microsoft Office PowerPoint</Application>
  <PresentationFormat>全屏显示(4:3)</PresentationFormat>
  <Paragraphs>456</Paragraphs>
  <Slides>57</Slides>
  <Notes>45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57</vt:i4>
      </vt:variant>
    </vt:vector>
  </HeadingPairs>
  <TitlesOfParts>
    <vt:vector size="66" baseType="lpstr">
      <vt:lpstr>Arial Unicode MS</vt:lpstr>
      <vt:lpstr>黑体</vt:lpstr>
      <vt:lpstr>华文楷体</vt:lpstr>
      <vt:lpstr>华文行楷</vt:lpstr>
      <vt:lpstr>Arial</vt:lpstr>
      <vt:lpstr>Cambria Math</vt:lpstr>
      <vt:lpstr>Garamond</vt:lpstr>
      <vt:lpstr>Times New Roman</vt:lpstr>
      <vt:lpstr>1_template</vt:lpstr>
      <vt:lpstr>第10讲</vt:lpstr>
      <vt:lpstr>本章内容</vt:lpstr>
      <vt:lpstr>10.1.1 随机化算法</vt:lpstr>
      <vt:lpstr>举例 </vt:lpstr>
      <vt:lpstr>10.1.2 两类随机算法及其关系</vt:lpstr>
      <vt:lpstr>Las Vegas算法</vt:lpstr>
      <vt:lpstr>Monte Carlo算法</vt:lpstr>
      <vt:lpstr>Las Vegas与Monte Carlo比较</vt:lpstr>
      <vt:lpstr>10.1.3 随机算法的时间复杂度分析</vt:lpstr>
      <vt:lpstr>10.1.3 随机算法的时间复杂度分析</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10.2.1 素数测试的随机算法</vt:lpstr>
      <vt:lpstr>10.2.2 测试串的相等性</vt:lpstr>
      <vt:lpstr>10.2.2 测试串的相等性</vt:lpstr>
      <vt:lpstr>10.2.2 测试串的相等性</vt:lpstr>
      <vt:lpstr>10.2.2 测试串的相等性</vt:lpstr>
      <vt:lpstr>10.2.2 测试串的相等性</vt:lpstr>
      <vt:lpstr>10.2.2 测试串的相等性</vt:lpstr>
      <vt:lpstr>10.2.2 测试串的相等性</vt:lpstr>
      <vt:lpstr>10.2.2 测试串的相等性</vt:lpstr>
      <vt:lpstr>10.2.2 测试串的相等性</vt:lpstr>
      <vt:lpstr>10.2.3 模式匹配</vt:lpstr>
      <vt:lpstr>10.2.3 模式匹配</vt:lpstr>
      <vt:lpstr>10.2.3 模式匹配</vt:lpstr>
      <vt:lpstr>10.2.3 模式匹配</vt:lpstr>
      <vt:lpstr>10.2.3 模式匹配</vt:lpstr>
      <vt:lpstr>10.2.3 模式匹配</vt:lpstr>
      <vt:lpstr>10.2.4 货郎担问题</vt:lpstr>
      <vt:lpstr>10.2.4 货郎担问题</vt:lpstr>
      <vt:lpstr>PowerPoint 演示文稿</vt:lpstr>
      <vt:lpstr>10.2.5 随机游走算法</vt:lpstr>
      <vt:lpstr>10.2.5 随机游走算法</vt:lpstr>
      <vt:lpstr>10.2.5 随机游走算法</vt:lpstr>
      <vt:lpstr>10.2.5 随机游走算法</vt:lpstr>
      <vt:lpstr>10.2.5 随机游走算法</vt:lpstr>
      <vt:lpstr>10.2.5 随机游走算法</vt:lpstr>
      <vt:lpstr>10.2.5 随机游走算法</vt:lpstr>
      <vt:lpstr>10.2.5 随机游走算法</vt:lpstr>
    </vt:vector>
  </TitlesOfParts>
  <Company>dd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BackTracing</dc:title>
  <dc:creator>dwy</dc:creator>
  <cp:lastModifiedBy>651359657@qq.com</cp:lastModifiedBy>
  <cp:revision>1097</cp:revision>
  <dcterms:created xsi:type="dcterms:W3CDTF">2006-04-16T08:43:44Z</dcterms:created>
  <dcterms:modified xsi:type="dcterms:W3CDTF">2024-12-12T01:35:56Z</dcterms:modified>
</cp:coreProperties>
</file>